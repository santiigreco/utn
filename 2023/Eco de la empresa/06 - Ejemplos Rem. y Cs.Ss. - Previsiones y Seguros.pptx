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65" r:id="rId2"/>
    <p:sldId id="266" r:id="rId3"/>
    <p:sldId id="270" r:id="rId4"/>
    <p:sldId id="271" r:id="rId5"/>
    <p:sldId id="263" r:id="rId6"/>
    <p:sldId id="267" r:id="rId7"/>
    <p:sldId id="272" r:id="rId8"/>
    <p:sldId id="273" r:id="rId9"/>
    <p:sldId id="274" r:id="rId10"/>
    <p:sldId id="275" r:id="rId11"/>
  </p:sldIdLst>
  <p:sldSz cx="9144000" cy="6858000" type="screen4x3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588" autoAdjust="0"/>
    <p:restoredTop sz="63345" autoAdjust="0"/>
  </p:normalViewPr>
  <p:slideViewPr>
    <p:cSldViewPr>
      <p:cViewPr>
        <p:scale>
          <a:sx n="80" d="100"/>
          <a:sy n="80" d="100"/>
        </p:scale>
        <p:origin x="-1086" y="1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3" d="100"/>
          <a:sy n="53" d="100"/>
        </p:scale>
        <p:origin x="-2868" y="-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2 Marcador de fecha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596EA2-158A-4026-8DF1-5CB991FD7ADE}" type="datetimeFigureOut">
              <a:rPr lang="es-AR" smtClean="0"/>
              <a:t>14/3/2023</a:t>
            </a:fld>
            <a:endParaRPr lang="es-AR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B499CF-01CF-400A-BD7B-75692009777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30800207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B59593-A6AD-4A48-96BB-2CDEA4ACF7B6}" type="datetimeFigureOut">
              <a:rPr lang="es-AR" smtClean="0"/>
              <a:t>14/3/2023</a:t>
            </a:fld>
            <a:endParaRPr lang="es-AR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AR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ED6FA4-71C8-4E3E-8DE0-8C9D375D2A5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5240092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ED6FA4-71C8-4E3E-8DE0-8C9D375D2A59}" type="slidenum">
              <a:rPr lang="es-AR" smtClean="0">
                <a:solidFill>
                  <a:prstClr val="black"/>
                </a:solidFill>
              </a:rPr>
              <a:pPr/>
              <a:t>2</a:t>
            </a:fld>
            <a:endParaRPr lang="es-A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430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ED6FA4-71C8-4E3E-8DE0-8C9D375D2A59}" type="slidenum">
              <a:rPr lang="es-AR" smtClean="0">
                <a:solidFill>
                  <a:prstClr val="black"/>
                </a:solidFill>
              </a:rPr>
              <a:pPr/>
              <a:t>3</a:t>
            </a:fld>
            <a:endParaRPr lang="es-A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430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ED6FA4-71C8-4E3E-8DE0-8C9D375D2A59}" type="slidenum">
              <a:rPr lang="es-AR" smtClean="0">
                <a:solidFill>
                  <a:prstClr val="black"/>
                </a:solidFill>
              </a:rPr>
              <a:pPr/>
              <a:t>4</a:t>
            </a:fld>
            <a:endParaRPr lang="es-A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430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ED6FA4-71C8-4E3E-8DE0-8C9D375D2A59}" type="slidenum">
              <a:rPr lang="es-AR" smtClean="0"/>
              <a:t>5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59430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ED6FA4-71C8-4E3E-8DE0-8C9D375D2A59}" type="slidenum">
              <a:rPr lang="es-AR" smtClean="0">
                <a:solidFill>
                  <a:prstClr val="black"/>
                </a:solidFill>
              </a:rPr>
              <a:pPr/>
              <a:t>6</a:t>
            </a:fld>
            <a:endParaRPr lang="es-A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430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ED6FA4-71C8-4E3E-8DE0-8C9D375D2A59}" type="slidenum">
              <a:rPr lang="es-AR" smtClean="0"/>
              <a:t>7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59430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ED6FA4-71C8-4E3E-8DE0-8C9D375D2A59}" type="slidenum">
              <a:rPr lang="es-AR" smtClean="0"/>
              <a:t>8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59430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ED6FA4-71C8-4E3E-8DE0-8C9D375D2A59}" type="slidenum">
              <a:rPr lang="es-AR" smtClean="0">
                <a:solidFill>
                  <a:prstClr val="black"/>
                </a:solidFill>
              </a:rPr>
              <a:pPr/>
              <a:t>9</a:t>
            </a:fld>
            <a:endParaRPr lang="es-A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430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ED6FA4-71C8-4E3E-8DE0-8C9D375D2A59}" type="slidenum">
              <a:rPr lang="es-AR" smtClean="0"/>
              <a:t>10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59430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036CB-51D0-402E-B421-A0C7DE9F474E}" type="datetimeFigureOut">
              <a:rPr lang="es-AR" smtClean="0"/>
              <a:t>14/3/2023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1B5CF1-EADA-45B7-9722-4850CA4FE8F3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3974171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036CB-51D0-402E-B421-A0C7DE9F474E}" type="datetimeFigureOut">
              <a:rPr lang="es-AR" smtClean="0"/>
              <a:t>14/3/2023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1B5CF1-EADA-45B7-9722-4850CA4FE8F3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7690916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036CB-51D0-402E-B421-A0C7DE9F474E}" type="datetimeFigureOut">
              <a:rPr lang="es-AR" smtClean="0"/>
              <a:t>14/3/2023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1B5CF1-EADA-45B7-9722-4850CA4FE8F3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3094512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036CB-51D0-402E-B421-A0C7DE9F474E}" type="datetimeFigureOut">
              <a:rPr lang="es-AR" smtClean="0"/>
              <a:t>14/3/2023</a:t>
            </a:fld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1B5CF1-EADA-45B7-9722-4850CA4FE8F3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3724094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036CB-51D0-402E-B421-A0C7DE9F474E}" type="datetimeFigureOut">
              <a:rPr lang="es-AR" smtClean="0"/>
              <a:t>14/3/2023</a:t>
            </a:fld>
            <a:endParaRPr lang="es-AR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1B5CF1-EADA-45B7-9722-4850CA4FE8F3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4070438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036CB-51D0-402E-B421-A0C7DE9F474E}" type="datetimeFigureOut">
              <a:rPr lang="es-AR" smtClean="0"/>
              <a:t>14/3/2023</a:t>
            </a:fld>
            <a:endParaRPr lang="es-AR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1B5CF1-EADA-45B7-9722-4850CA4FE8F3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552858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036CB-51D0-402E-B421-A0C7DE9F474E}" type="datetimeFigureOut">
              <a:rPr lang="es-AR" smtClean="0"/>
              <a:t>14/3/2023</a:t>
            </a:fld>
            <a:endParaRPr lang="es-AR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1B5CF1-EADA-45B7-9722-4850CA4FE8F3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279875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036CB-51D0-402E-B421-A0C7DE9F474E}" type="datetimeFigureOut">
              <a:rPr lang="es-AR" smtClean="0"/>
              <a:t>14/3/2023</a:t>
            </a:fld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1B5CF1-EADA-45B7-9722-4850CA4FE8F3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62342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036CB-51D0-402E-B421-A0C7DE9F474E}" type="datetimeFigureOut">
              <a:rPr lang="es-AR" smtClean="0"/>
              <a:t>14/3/2023</a:t>
            </a:fld>
            <a:endParaRPr lang="es-AR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1B5CF1-EADA-45B7-9722-4850CA4FE8F3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0018032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036CB-51D0-402E-B421-A0C7DE9F474E}" type="datetimeFigureOut">
              <a:rPr lang="es-AR" smtClean="0"/>
              <a:t>14/3/2023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1B5CF1-EADA-45B7-9722-4850CA4FE8F3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8132659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8036CB-51D0-402E-B421-A0C7DE9F474E}" type="datetimeFigureOut">
              <a:rPr lang="es-AR" smtClean="0"/>
              <a:t>14/3/2023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1B5CF1-EADA-45B7-9722-4850CA4FE8F3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73598071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AR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AR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8036CB-51D0-402E-B421-A0C7DE9F474E}" type="datetimeFigureOut">
              <a:rPr lang="es-AR" smtClean="0"/>
              <a:t>14/3/2023</a:t>
            </a:fld>
            <a:endParaRPr lang="es-AR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1B5CF1-EADA-45B7-9722-4850CA4FE8F3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6604165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4 CuadroTexto"/>
          <p:cNvSpPr txBox="1"/>
          <p:nvPr/>
        </p:nvSpPr>
        <p:spPr>
          <a:xfrm>
            <a:off x="755576" y="260648"/>
            <a:ext cx="76328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sz="2800" b="1" u="sng" dirty="0" smtClean="0"/>
              <a:t>Remuneraciones y Cargas Sociales</a:t>
            </a:r>
            <a:endParaRPr lang="es-AR" sz="2800" b="1" u="sng" dirty="0"/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AR"/>
          </a:p>
        </p:txBody>
      </p:sp>
      <p:sp>
        <p:nvSpPr>
          <p:cNvPr id="2" name="1 Cerrar llave"/>
          <p:cNvSpPr/>
          <p:nvPr/>
        </p:nvSpPr>
        <p:spPr>
          <a:xfrm>
            <a:off x="3941806" y="1374549"/>
            <a:ext cx="772839" cy="929188"/>
          </a:xfrm>
          <a:prstGeom prst="rightBrac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" name="2 CuadroTexto"/>
          <p:cNvSpPr txBox="1"/>
          <p:nvPr/>
        </p:nvSpPr>
        <p:spPr>
          <a:xfrm>
            <a:off x="425770" y="2021646"/>
            <a:ext cx="152659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b="1" dirty="0" smtClean="0"/>
              <a:t>Empleado Sueldo Bruto</a:t>
            </a:r>
          </a:p>
          <a:p>
            <a:pPr algn="ctr"/>
            <a:endParaRPr lang="es-AR" b="1" dirty="0"/>
          </a:p>
        </p:txBody>
      </p:sp>
      <p:sp>
        <p:nvSpPr>
          <p:cNvPr id="6" name="5 Abrir llave"/>
          <p:cNvSpPr/>
          <p:nvPr/>
        </p:nvSpPr>
        <p:spPr>
          <a:xfrm>
            <a:off x="1767016" y="1412775"/>
            <a:ext cx="584168" cy="1874121"/>
          </a:xfrm>
          <a:prstGeom prst="leftBrac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4" name="13 CuadroTexto"/>
          <p:cNvSpPr txBox="1"/>
          <p:nvPr/>
        </p:nvSpPr>
        <p:spPr>
          <a:xfrm>
            <a:off x="2153476" y="2291380"/>
            <a:ext cx="218374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b="1" dirty="0" smtClean="0"/>
              <a:t>Retenciones</a:t>
            </a:r>
          </a:p>
          <a:p>
            <a:r>
              <a:rPr lang="es-AR" b="1" dirty="0" smtClean="0"/>
              <a:t>(Aportes Personales)</a:t>
            </a:r>
          </a:p>
          <a:p>
            <a:endParaRPr lang="es-AR" dirty="0"/>
          </a:p>
        </p:txBody>
      </p:sp>
      <p:sp>
        <p:nvSpPr>
          <p:cNvPr id="16" name="15 CuadroTexto"/>
          <p:cNvSpPr txBox="1"/>
          <p:nvPr/>
        </p:nvSpPr>
        <p:spPr>
          <a:xfrm>
            <a:off x="2534657" y="1585040"/>
            <a:ext cx="15265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 smtClean="0"/>
              <a:t>Sueldo Neto</a:t>
            </a:r>
            <a:endParaRPr lang="es-AR" b="1" dirty="0"/>
          </a:p>
        </p:txBody>
      </p:sp>
      <p:sp>
        <p:nvSpPr>
          <p:cNvPr id="17" name="16 Cerrar llave"/>
          <p:cNvSpPr/>
          <p:nvPr/>
        </p:nvSpPr>
        <p:spPr>
          <a:xfrm>
            <a:off x="3945925" y="2376617"/>
            <a:ext cx="772839" cy="1972962"/>
          </a:xfrm>
          <a:prstGeom prst="rightBrac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9" name="18 Abrir llave"/>
          <p:cNvSpPr/>
          <p:nvPr/>
        </p:nvSpPr>
        <p:spPr>
          <a:xfrm>
            <a:off x="1758778" y="3393975"/>
            <a:ext cx="584168" cy="943247"/>
          </a:xfrm>
          <a:prstGeom prst="leftBrac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0" name="19 CuadroTexto"/>
          <p:cNvSpPr txBox="1"/>
          <p:nvPr/>
        </p:nvSpPr>
        <p:spPr>
          <a:xfrm>
            <a:off x="345989" y="3545645"/>
            <a:ext cx="16558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b="1" dirty="0" smtClean="0"/>
              <a:t>Empleador Cargas Sociales</a:t>
            </a:r>
            <a:endParaRPr lang="es-AR" b="1" dirty="0"/>
          </a:p>
        </p:txBody>
      </p:sp>
      <p:sp>
        <p:nvSpPr>
          <p:cNvPr id="21" name="20 CuadroTexto"/>
          <p:cNvSpPr txBox="1"/>
          <p:nvPr/>
        </p:nvSpPr>
        <p:spPr>
          <a:xfrm>
            <a:off x="2318233" y="3422116"/>
            <a:ext cx="218374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b="1" dirty="0" smtClean="0"/>
              <a:t>Contribuciones Patronales</a:t>
            </a:r>
          </a:p>
          <a:p>
            <a:endParaRPr lang="es-AR" dirty="0"/>
          </a:p>
        </p:txBody>
      </p:sp>
      <p:sp>
        <p:nvSpPr>
          <p:cNvPr id="22" name="21 CuadroTexto"/>
          <p:cNvSpPr txBox="1"/>
          <p:nvPr/>
        </p:nvSpPr>
        <p:spPr>
          <a:xfrm>
            <a:off x="4350746" y="3073975"/>
            <a:ext cx="218374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b="1" dirty="0" smtClean="0"/>
              <a:t>Cargas Sociales</a:t>
            </a:r>
          </a:p>
          <a:p>
            <a:pPr algn="ctr"/>
            <a:r>
              <a:rPr lang="es-AR" b="1" dirty="0" smtClean="0"/>
              <a:t>(ANSES)</a:t>
            </a:r>
          </a:p>
          <a:p>
            <a:endParaRPr lang="es-AR" dirty="0"/>
          </a:p>
        </p:txBody>
      </p:sp>
      <p:sp>
        <p:nvSpPr>
          <p:cNvPr id="23" name="22 CuadroTexto"/>
          <p:cNvSpPr txBox="1"/>
          <p:nvPr/>
        </p:nvSpPr>
        <p:spPr>
          <a:xfrm>
            <a:off x="4360418" y="1412776"/>
            <a:ext cx="218374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b="1" dirty="0" smtClean="0"/>
              <a:t>Sueldo Bolsillo</a:t>
            </a:r>
          </a:p>
          <a:p>
            <a:pPr algn="ctr"/>
            <a:r>
              <a:rPr lang="es-AR" b="1" dirty="0" smtClean="0"/>
              <a:t>(Empleado)</a:t>
            </a:r>
          </a:p>
          <a:p>
            <a:endParaRPr lang="es-AR" dirty="0"/>
          </a:p>
        </p:txBody>
      </p:sp>
      <p:sp>
        <p:nvSpPr>
          <p:cNvPr id="7" name="6 Flecha derecha"/>
          <p:cNvSpPr/>
          <p:nvPr/>
        </p:nvSpPr>
        <p:spPr>
          <a:xfrm>
            <a:off x="6246062" y="1425132"/>
            <a:ext cx="489204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4" name="23 Flecha derecha"/>
          <p:cNvSpPr/>
          <p:nvPr/>
        </p:nvSpPr>
        <p:spPr>
          <a:xfrm>
            <a:off x="6246062" y="2984751"/>
            <a:ext cx="489204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7" name="26 Cerrar llave"/>
          <p:cNvSpPr/>
          <p:nvPr/>
        </p:nvSpPr>
        <p:spPr>
          <a:xfrm rot="5400000">
            <a:off x="740855" y="4054246"/>
            <a:ext cx="772839" cy="1403010"/>
          </a:xfrm>
          <a:prstGeom prst="rightBrac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8" name="27 CuadroTexto"/>
          <p:cNvSpPr txBox="1"/>
          <p:nvPr/>
        </p:nvSpPr>
        <p:spPr>
          <a:xfrm>
            <a:off x="6861827" y="3102230"/>
            <a:ext cx="17426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 smtClean="0"/>
              <a:t>Cargas Sociales a Pagar (Pasivo)</a:t>
            </a:r>
            <a:endParaRPr lang="es-AR" b="1" dirty="0"/>
          </a:p>
        </p:txBody>
      </p:sp>
      <p:sp>
        <p:nvSpPr>
          <p:cNvPr id="29" name="28 CuadroTexto"/>
          <p:cNvSpPr txBox="1"/>
          <p:nvPr/>
        </p:nvSpPr>
        <p:spPr>
          <a:xfrm>
            <a:off x="6861827" y="1136179"/>
            <a:ext cx="18866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 smtClean="0"/>
              <a:t>Remuneraciones a Pagar (Pasivo)</a:t>
            </a:r>
            <a:endParaRPr lang="es-AR" b="1" dirty="0"/>
          </a:p>
        </p:txBody>
      </p:sp>
      <p:sp>
        <p:nvSpPr>
          <p:cNvPr id="30" name="29 CuadroTexto"/>
          <p:cNvSpPr txBox="1"/>
          <p:nvPr/>
        </p:nvSpPr>
        <p:spPr>
          <a:xfrm>
            <a:off x="6735266" y="5188922"/>
            <a:ext cx="18691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 smtClean="0"/>
              <a:t>Hecho Financiero</a:t>
            </a:r>
            <a:endParaRPr lang="es-AR" b="1" dirty="0"/>
          </a:p>
        </p:txBody>
      </p:sp>
      <p:sp>
        <p:nvSpPr>
          <p:cNvPr id="31" name="30 CuadroTexto"/>
          <p:cNvSpPr txBox="1"/>
          <p:nvPr/>
        </p:nvSpPr>
        <p:spPr>
          <a:xfrm>
            <a:off x="318677" y="5238521"/>
            <a:ext cx="19995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 smtClean="0"/>
              <a:t>Hecho Económico</a:t>
            </a:r>
            <a:endParaRPr lang="es-AR" b="1" dirty="0"/>
          </a:p>
        </p:txBody>
      </p:sp>
      <p:sp>
        <p:nvSpPr>
          <p:cNvPr id="32" name="31 Cerrar llave"/>
          <p:cNvSpPr/>
          <p:nvPr/>
        </p:nvSpPr>
        <p:spPr>
          <a:xfrm rot="5400000">
            <a:off x="7305109" y="3983469"/>
            <a:ext cx="772839" cy="1403010"/>
          </a:xfrm>
          <a:prstGeom prst="rightBrac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4" name="33 CuadroTexto"/>
          <p:cNvSpPr txBox="1"/>
          <p:nvPr/>
        </p:nvSpPr>
        <p:spPr>
          <a:xfrm>
            <a:off x="6861828" y="1787313"/>
            <a:ext cx="18146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AR" b="1" dirty="0" smtClean="0"/>
              <a:t>Disponibilidades</a:t>
            </a:r>
          </a:p>
          <a:p>
            <a:pPr algn="ctr"/>
            <a:r>
              <a:rPr lang="es-AR" b="1" dirty="0" smtClean="0"/>
              <a:t>(Activo)</a:t>
            </a:r>
            <a:endParaRPr lang="es-AR" b="1" dirty="0"/>
          </a:p>
        </p:txBody>
      </p:sp>
    </p:spTree>
    <p:extLst>
      <p:ext uri="{BB962C8B-B14F-4D97-AF65-F5344CB8AC3E}">
        <p14:creationId xmlns:p14="http://schemas.microsoft.com/office/powerpoint/2010/main" val="2035720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" grpId="0" animBg="1"/>
      <p:bldP spid="3" grpId="0"/>
      <p:bldP spid="6" grpId="0" animBg="1"/>
      <p:bldP spid="14" grpId="0"/>
      <p:bldP spid="16" grpId="0"/>
      <p:bldP spid="17" grpId="0" animBg="1"/>
      <p:bldP spid="19" grpId="0" animBg="1"/>
      <p:bldP spid="20" grpId="0"/>
      <p:bldP spid="21" grpId="0"/>
      <p:bldP spid="22" grpId="0"/>
      <p:bldP spid="23" grpId="0"/>
      <p:bldP spid="7" grpId="0" animBg="1"/>
      <p:bldP spid="24" grpId="0" animBg="1"/>
      <p:bldP spid="27" grpId="0" animBg="1"/>
      <p:bldP spid="28" grpId="0"/>
      <p:bldP spid="29" grpId="0"/>
      <p:bldP spid="30" grpId="0"/>
      <p:bldP spid="31" grpId="0"/>
      <p:bldP spid="32" grpId="0" animBg="1"/>
      <p:bldP spid="3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xmlns="" id="{DD7C5540-AFA9-409E-B061-E3CEA4BDABDC}"/>
              </a:ext>
            </a:extLst>
          </p:cNvPr>
          <p:cNvSpPr/>
          <p:nvPr/>
        </p:nvSpPr>
        <p:spPr>
          <a:xfrm>
            <a:off x="605048" y="185960"/>
            <a:ext cx="804971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i="1" u="sng" dirty="0"/>
              <a:t>Ejemplo 4.8.1</a:t>
            </a:r>
            <a:r>
              <a:rPr lang="es-AR" i="1" dirty="0"/>
              <a:t>: </a:t>
            </a:r>
            <a:endParaRPr lang="es-AR" dirty="0"/>
          </a:p>
          <a:p>
            <a:r>
              <a:rPr lang="es-AR" i="1" dirty="0"/>
              <a:t>El 31-4-XX se devengan los sueldos del mes en $83.000 brutos; Cargas Sociales = 60%; Retenciones = 11%.</a:t>
            </a:r>
            <a:endParaRPr lang="es-AR" dirty="0"/>
          </a:p>
        </p:txBody>
      </p:sp>
      <p:sp>
        <p:nvSpPr>
          <p:cNvPr id="17" name="23 Elipse">
            <a:extLst>
              <a:ext uri="{FF2B5EF4-FFF2-40B4-BE49-F238E27FC236}">
                <a16:creationId xmlns:a16="http://schemas.microsoft.com/office/drawing/2014/main" xmlns="" id="{00000000-0008-0000-0200-000018000000}"/>
              </a:ext>
            </a:extLst>
          </p:cNvPr>
          <p:cNvSpPr/>
          <p:nvPr/>
        </p:nvSpPr>
        <p:spPr>
          <a:xfrm>
            <a:off x="2947252" y="2332873"/>
            <a:ext cx="78413" cy="8958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AR" sz="1800">
              <a:solidFill>
                <a:prstClr val="white"/>
              </a:solidFill>
            </a:endParaRPr>
          </a:p>
        </p:txBody>
      </p:sp>
      <p:cxnSp>
        <p:nvCxnSpPr>
          <p:cNvPr id="18" name="24 Conector recto de flecha">
            <a:extLst>
              <a:ext uri="{FF2B5EF4-FFF2-40B4-BE49-F238E27FC236}">
                <a16:creationId xmlns:a16="http://schemas.microsoft.com/office/drawing/2014/main" xmlns="" id="{00000000-0008-0000-0200-000019000000}"/>
              </a:ext>
            </a:extLst>
          </p:cNvPr>
          <p:cNvCxnSpPr>
            <a:stCxn id="39" idx="3"/>
            <a:endCxn id="17" idx="2"/>
          </p:cNvCxnSpPr>
          <p:nvPr/>
        </p:nvCxnSpPr>
        <p:spPr>
          <a:xfrm>
            <a:off x="1659623" y="2377665"/>
            <a:ext cx="1287629" cy="1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26 Conector recto de flecha">
            <a:extLst>
              <a:ext uri="{FF2B5EF4-FFF2-40B4-BE49-F238E27FC236}">
                <a16:creationId xmlns:a16="http://schemas.microsoft.com/office/drawing/2014/main" xmlns="" id="{00000000-0008-0000-0200-00001B000000}"/>
              </a:ext>
            </a:extLst>
          </p:cNvPr>
          <p:cNvCxnSpPr>
            <a:stCxn id="17" idx="6"/>
            <a:endCxn id="37" idx="2"/>
          </p:cNvCxnSpPr>
          <p:nvPr/>
        </p:nvCxnSpPr>
        <p:spPr>
          <a:xfrm flipV="1">
            <a:off x="3025665" y="2377665"/>
            <a:ext cx="1696666" cy="1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44 Conector recto de flecha">
            <a:extLst>
              <a:ext uri="{FF2B5EF4-FFF2-40B4-BE49-F238E27FC236}">
                <a16:creationId xmlns:a16="http://schemas.microsoft.com/office/drawing/2014/main" xmlns="" id="{00000000-0008-0000-0200-00002D000000}"/>
              </a:ext>
            </a:extLst>
          </p:cNvPr>
          <p:cNvCxnSpPr>
            <a:cxnSpLocks/>
            <a:stCxn id="47" idx="0"/>
            <a:endCxn id="17" idx="3"/>
          </p:cNvCxnSpPr>
          <p:nvPr/>
        </p:nvCxnSpPr>
        <p:spPr>
          <a:xfrm flipH="1" flipV="1">
            <a:off x="2958735" y="2409339"/>
            <a:ext cx="9016" cy="2282832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ángulo 14">
            <a:extLst>
              <a:ext uri="{FF2B5EF4-FFF2-40B4-BE49-F238E27FC236}">
                <a16:creationId xmlns:a16="http://schemas.microsoft.com/office/drawing/2014/main" xmlns="" id="{28F8C3CF-63F2-4545-B1D3-82F1B8EE9285}"/>
              </a:ext>
            </a:extLst>
          </p:cNvPr>
          <p:cNvSpPr/>
          <p:nvPr/>
        </p:nvSpPr>
        <p:spPr>
          <a:xfrm>
            <a:off x="3131840" y="3295785"/>
            <a:ext cx="8803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solidFill>
                  <a:srgbClr val="000000"/>
                </a:solidFill>
              </a:rPr>
              <a:t>$ </a:t>
            </a:r>
            <a:r>
              <a:rPr lang="es-AR" dirty="0" smtClean="0">
                <a:solidFill>
                  <a:srgbClr val="000000"/>
                </a:solidFill>
              </a:rPr>
              <a:t>9.130</a:t>
            </a:r>
            <a:endParaRPr lang="es-AR" dirty="0">
              <a:solidFill>
                <a:prstClr val="black"/>
              </a:solidFill>
            </a:endParaRPr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xmlns="" id="{0AF4FDF9-540A-4780-B27D-8B2DAA2B17D4}"/>
              </a:ext>
            </a:extLst>
          </p:cNvPr>
          <p:cNvSpPr/>
          <p:nvPr/>
        </p:nvSpPr>
        <p:spPr>
          <a:xfrm>
            <a:off x="1775088" y="1963541"/>
            <a:ext cx="1050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solidFill>
                  <a:srgbClr val="000000"/>
                </a:solidFill>
              </a:rPr>
              <a:t>$ </a:t>
            </a:r>
            <a:r>
              <a:rPr lang="es-AR" dirty="0" smtClean="0">
                <a:solidFill>
                  <a:srgbClr val="000000"/>
                </a:solidFill>
              </a:rPr>
              <a:t>73.870</a:t>
            </a:r>
            <a:r>
              <a:rPr lang="es-AR" dirty="0" smtClean="0">
                <a:solidFill>
                  <a:prstClr val="black"/>
                </a:solidFill>
              </a:rPr>
              <a:t> </a:t>
            </a:r>
            <a:endParaRPr lang="es-AR" dirty="0">
              <a:solidFill>
                <a:prstClr val="black"/>
              </a:solidFill>
            </a:endParaRPr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xmlns="" id="{17704CB6-0361-496C-8BE8-0E849F2FB5A5}"/>
              </a:ext>
            </a:extLst>
          </p:cNvPr>
          <p:cNvSpPr/>
          <p:nvPr/>
        </p:nvSpPr>
        <p:spPr>
          <a:xfrm>
            <a:off x="3281497" y="1944084"/>
            <a:ext cx="9973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solidFill>
                  <a:srgbClr val="000000"/>
                </a:solidFill>
              </a:rPr>
              <a:t>$ </a:t>
            </a:r>
            <a:r>
              <a:rPr lang="es-AR" dirty="0" smtClean="0">
                <a:solidFill>
                  <a:srgbClr val="000000"/>
                </a:solidFill>
              </a:rPr>
              <a:t>83.000</a:t>
            </a:r>
            <a:endParaRPr lang="es-AR" dirty="0">
              <a:solidFill>
                <a:prstClr val="black"/>
              </a:solidFill>
            </a:endParaRPr>
          </a:p>
        </p:txBody>
      </p:sp>
      <p:cxnSp>
        <p:nvCxnSpPr>
          <p:cNvPr id="43" name="53 Conector recto de flecha">
            <a:extLst>
              <a:ext uri="{FF2B5EF4-FFF2-40B4-BE49-F238E27FC236}">
                <a16:creationId xmlns:a16="http://schemas.microsoft.com/office/drawing/2014/main" xmlns="" id="{00000000-0008-0000-0200-000036000000}"/>
              </a:ext>
            </a:extLst>
          </p:cNvPr>
          <p:cNvCxnSpPr>
            <a:stCxn id="36" idx="3"/>
            <a:endCxn id="47" idx="2"/>
          </p:cNvCxnSpPr>
          <p:nvPr/>
        </p:nvCxnSpPr>
        <p:spPr>
          <a:xfrm>
            <a:off x="1664225" y="4736964"/>
            <a:ext cx="1264319" cy="0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3" name="Tabla 52">
            <a:extLst>
              <a:ext uri="{FF2B5EF4-FFF2-40B4-BE49-F238E27FC236}">
                <a16:creationId xmlns:a16="http://schemas.microsoft.com/office/drawing/2014/main" xmlns="" id="{F090687D-0AE3-4ECE-997C-E3CF2668BB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3148959"/>
              </p:ext>
            </p:extLst>
          </p:nvPr>
        </p:nvGraphicFramePr>
        <p:xfrm>
          <a:off x="5940152" y="2547483"/>
          <a:ext cx="2976215" cy="112263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95243">
                  <a:extLst>
                    <a:ext uri="{9D8B030D-6E8A-4147-A177-3AD203B41FA5}">
                      <a16:colId xmlns:a16="http://schemas.microsoft.com/office/drawing/2014/main" xmlns="" val="609204336"/>
                    </a:ext>
                  </a:extLst>
                </a:gridCol>
                <a:gridCol w="595243">
                  <a:extLst>
                    <a:ext uri="{9D8B030D-6E8A-4147-A177-3AD203B41FA5}">
                      <a16:colId xmlns:a16="http://schemas.microsoft.com/office/drawing/2014/main" xmlns="" val="2193348770"/>
                    </a:ext>
                  </a:extLst>
                </a:gridCol>
                <a:gridCol w="595243">
                  <a:extLst>
                    <a:ext uri="{9D8B030D-6E8A-4147-A177-3AD203B41FA5}">
                      <a16:colId xmlns:a16="http://schemas.microsoft.com/office/drawing/2014/main" xmlns="" val="4092774877"/>
                    </a:ext>
                  </a:extLst>
                </a:gridCol>
                <a:gridCol w="595243">
                  <a:extLst>
                    <a:ext uri="{9D8B030D-6E8A-4147-A177-3AD203B41FA5}">
                      <a16:colId xmlns:a16="http://schemas.microsoft.com/office/drawing/2014/main" xmlns="" val="3501325627"/>
                    </a:ext>
                  </a:extLst>
                </a:gridCol>
                <a:gridCol w="595243">
                  <a:extLst>
                    <a:ext uri="{9D8B030D-6E8A-4147-A177-3AD203B41FA5}">
                      <a16:colId xmlns:a16="http://schemas.microsoft.com/office/drawing/2014/main" xmlns="" val="1946522016"/>
                    </a:ext>
                  </a:extLst>
                </a:gridCol>
              </a:tblGrid>
              <a:tr h="302761"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s-AR" sz="1100" u="none" strike="noStrike" dirty="0">
                          <a:effectLst/>
                        </a:rPr>
                        <a:t>Cuentas</a:t>
                      </a:r>
                      <a:endParaRPr lang="es-A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u="none" strike="noStrike">
                          <a:effectLst/>
                        </a:rPr>
                        <a:t>DEBE</a:t>
                      </a:r>
                      <a:endParaRPr lang="es-AR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u="none" strike="noStrike">
                          <a:effectLst/>
                        </a:rPr>
                        <a:t>HABER</a:t>
                      </a:r>
                      <a:endParaRPr lang="es-AR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xmlns="" val="2942187959"/>
                  </a:ext>
                </a:extLst>
              </a:tr>
              <a:tr h="217700">
                <a:tc gridSpan="2">
                  <a:txBody>
                    <a:bodyPr/>
                    <a:lstStyle/>
                    <a:p>
                      <a:pPr algn="l" fontAlgn="b"/>
                      <a:r>
                        <a:rPr lang="es-A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Sueldos  (R-)</a:t>
                      </a:r>
                      <a:endParaRPr lang="es-A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AR" sz="1100" u="none" strike="noStrike" dirty="0">
                          <a:effectLst/>
                        </a:rPr>
                        <a:t> </a:t>
                      </a:r>
                      <a:endParaRPr lang="es-A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AR" sz="1100" u="none" strike="noStrike" dirty="0">
                          <a:effectLst/>
                        </a:rPr>
                        <a:t>$ </a:t>
                      </a:r>
                      <a:r>
                        <a:rPr lang="es-AR" sz="1100" u="none" strike="noStrike" dirty="0" smtClean="0">
                          <a:effectLst/>
                        </a:rPr>
                        <a:t>83.000</a:t>
                      </a:r>
                      <a:endParaRPr lang="es-A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AR" sz="1100" u="none" strike="noStrike" dirty="0">
                          <a:effectLst/>
                        </a:rPr>
                        <a:t> </a:t>
                      </a:r>
                      <a:endParaRPr lang="es-A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xmlns="" val="470263938"/>
                  </a:ext>
                </a:extLst>
              </a:tr>
              <a:tr h="202971">
                <a:tc gridSpan="2">
                  <a:txBody>
                    <a:bodyPr/>
                    <a:lstStyle/>
                    <a:p>
                      <a:pPr algn="l" fontAlgn="b"/>
                      <a:r>
                        <a:rPr lang="es-AR" sz="1100" b="0" u="none" strike="noStrike" dirty="0" smtClean="0">
                          <a:effectLst/>
                        </a:rPr>
                        <a:t>Cargas Sociales (R-)</a:t>
                      </a:r>
                      <a:endParaRPr lang="es-A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AR" sz="1100" u="none" strike="noStrike" dirty="0">
                          <a:effectLst/>
                        </a:rPr>
                        <a:t> </a:t>
                      </a:r>
                      <a:endParaRPr lang="es-A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AR" sz="1100" u="none" strike="noStrike" dirty="0">
                          <a:effectLst/>
                        </a:rPr>
                        <a:t>$ </a:t>
                      </a:r>
                      <a:r>
                        <a:rPr lang="es-AR" sz="1100" u="none" strike="noStrike" dirty="0" smtClean="0">
                          <a:effectLst/>
                        </a:rPr>
                        <a:t>49.800</a:t>
                      </a:r>
                      <a:endParaRPr lang="es-A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AR" sz="1100" u="none" strike="noStrike" dirty="0">
                          <a:effectLst/>
                        </a:rPr>
                        <a:t> </a:t>
                      </a:r>
                      <a:endParaRPr lang="es-A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xmlns="" val="2959398699"/>
                  </a:ext>
                </a:extLst>
              </a:tr>
              <a:tr h="183175">
                <a:tc>
                  <a:txBody>
                    <a:bodyPr/>
                    <a:lstStyle/>
                    <a:p>
                      <a:pPr algn="l" fontAlgn="b"/>
                      <a:r>
                        <a:rPr lang="es-AR" sz="1100" u="none" strike="noStrike" dirty="0">
                          <a:effectLst/>
                        </a:rPr>
                        <a:t> </a:t>
                      </a:r>
                      <a:endParaRPr lang="es-A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s-AR" sz="1100" u="none" strike="noStrike" baseline="0" dirty="0" smtClean="0">
                          <a:effectLst/>
                        </a:rPr>
                        <a:t> a Rem. A Pagar (P)</a:t>
                      </a:r>
                      <a:endParaRPr lang="es-A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AR" sz="1100" u="none" strike="noStrike" dirty="0">
                          <a:effectLst/>
                        </a:rPr>
                        <a:t> </a:t>
                      </a:r>
                      <a:endParaRPr lang="es-A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AR" sz="1100" u="none" strike="noStrike" dirty="0">
                          <a:effectLst/>
                        </a:rPr>
                        <a:t>$ </a:t>
                      </a:r>
                      <a:r>
                        <a:rPr lang="es-AR" sz="1100" u="none" strike="noStrike" dirty="0" smtClean="0">
                          <a:effectLst/>
                        </a:rPr>
                        <a:t>73.870</a:t>
                      </a:r>
                      <a:endParaRPr lang="es-A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xmlns="" val="348706304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algn="l" fontAlgn="b"/>
                      <a:r>
                        <a:rPr lang="es-AR" sz="1100" u="none" strike="noStrike" dirty="0">
                          <a:effectLst/>
                        </a:rPr>
                        <a:t> </a:t>
                      </a:r>
                      <a:endParaRPr lang="es-A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s-AR" sz="1100" u="none" strike="noStrike" baseline="0" dirty="0" smtClean="0">
                          <a:effectLst/>
                        </a:rPr>
                        <a:t> a </a:t>
                      </a:r>
                      <a:r>
                        <a:rPr lang="es-AR" sz="1100" u="none" strike="noStrike" baseline="0" dirty="0" err="1" smtClean="0">
                          <a:effectLst/>
                        </a:rPr>
                        <a:t>Cs.Ss</a:t>
                      </a:r>
                      <a:r>
                        <a:rPr lang="es-AR" sz="1100" u="none" strike="noStrike" baseline="0" dirty="0" smtClean="0">
                          <a:effectLst/>
                        </a:rPr>
                        <a:t>. A Pagar (P)</a:t>
                      </a:r>
                      <a:endParaRPr lang="es-A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AR" sz="1100" u="none" strike="noStrike" dirty="0">
                          <a:effectLst/>
                        </a:rPr>
                        <a:t> </a:t>
                      </a:r>
                      <a:endParaRPr lang="es-A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AR" sz="1100" u="none" strike="noStrike" dirty="0">
                          <a:effectLst/>
                        </a:rPr>
                        <a:t>$ </a:t>
                      </a:r>
                      <a:r>
                        <a:rPr lang="es-AR" sz="1100" u="none" strike="noStrike" dirty="0" smtClean="0">
                          <a:effectLst/>
                        </a:rPr>
                        <a:t>58.930</a:t>
                      </a:r>
                      <a:endParaRPr lang="es-A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xmlns="" val="1866453939"/>
                  </a:ext>
                </a:extLst>
              </a:tr>
            </a:tbl>
          </a:graphicData>
        </a:graphic>
      </p:graphicFrame>
      <p:sp>
        <p:nvSpPr>
          <p:cNvPr id="48" name="Rectángulo 13">
            <a:extLst>
              <a:ext uri="{FF2B5EF4-FFF2-40B4-BE49-F238E27FC236}">
                <a16:creationId xmlns:a16="http://schemas.microsoft.com/office/drawing/2014/main" xmlns="" id="{0F053224-57B6-4424-99E8-036B94CE3A3B}"/>
              </a:ext>
            </a:extLst>
          </p:cNvPr>
          <p:cNvSpPr/>
          <p:nvPr/>
        </p:nvSpPr>
        <p:spPr>
          <a:xfrm>
            <a:off x="5036593" y="2159077"/>
            <a:ext cx="138040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dirty="0" smtClean="0">
                <a:solidFill>
                  <a:srgbClr val="000000"/>
                </a:solidFill>
              </a:rPr>
              <a:t>Sueldos </a:t>
            </a:r>
            <a:endParaRPr lang="es-AR" dirty="0">
              <a:solidFill>
                <a:prstClr val="black"/>
              </a:solidFill>
            </a:endParaRPr>
          </a:p>
        </p:txBody>
      </p:sp>
      <p:sp>
        <p:nvSpPr>
          <p:cNvPr id="50" name="Rectángulo 13">
            <a:extLst>
              <a:ext uri="{FF2B5EF4-FFF2-40B4-BE49-F238E27FC236}">
                <a16:creationId xmlns:a16="http://schemas.microsoft.com/office/drawing/2014/main" xmlns="" id="{0F053224-57B6-4424-99E8-036B94CE3A3B}"/>
              </a:ext>
            </a:extLst>
          </p:cNvPr>
          <p:cNvSpPr/>
          <p:nvPr/>
        </p:nvSpPr>
        <p:spPr>
          <a:xfrm>
            <a:off x="1858055" y="4321117"/>
            <a:ext cx="9973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solidFill>
                  <a:srgbClr val="000000"/>
                </a:solidFill>
              </a:rPr>
              <a:t>$ </a:t>
            </a:r>
            <a:r>
              <a:rPr lang="es-AR" dirty="0" smtClean="0">
                <a:solidFill>
                  <a:srgbClr val="000000"/>
                </a:solidFill>
              </a:rPr>
              <a:t>58.930</a:t>
            </a:r>
            <a:endParaRPr lang="es-AR" dirty="0">
              <a:solidFill>
                <a:prstClr val="black"/>
              </a:solidFill>
            </a:endParaRPr>
          </a:p>
        </p:txBody>
      </p:sp>
      <p:sp>
        <p:nvSpPr>
          <p:cNvPr id="51" name="Rectángulo 13">
            <a:extLst>
              <a:ext uri="{FF2B5EF4-FFF2-40B4-BE49-F238E27FC236}">
                <a16:creationId xmlns:a16="http://schemas.microsoft.com/office/drawing/2014/main" xmlns="" id="{0F053224-57B6-4424-99E8-036B94CE3A3B}"/>
              </a:ext>
            </a:extLst>
          </p:cNvPr>
          <p:cNvSpPr/>
          <p:nvPr/>
        </p:nvSpPr>
        <p:spPr>
          <a:xfrm>
            <a:off x="3343888" y="4280583"/>
            <a:ext cx="9973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solidFill>
                  <a:srgbClr val="000000"/>
                </a:solidFill>
              </a:rPr>
              <a:t>$ </a:t>
            </a:r>
            <a:r>
              <a:rPr lang="es-AR" dirty="0" smtClean="0">
                <a:solidFill>
                  <a:srgbClr val="000000"/>
                </a:solidFill>
              </a:rPr>
              <a:t>49.800</a:t>
            </a:r>
            <a:endParaRPr lang="es-AR" dirty="0">
              <a:solidFill>
                <a:prstClr val="black"/>
              </a:solidFill>
            </a:endParaRPr>
          </a:p>
        </p:txBody>
      </p:sp>
      <p:sp>
        <p:nvSpPr>
          <p:cNvPr id="57" name="Rectángulo 13">
            <a:extLst>
              <a:ext uri="{FF2B5EF4-FFF2-40B4-BE49-F238E27FC236}">
                <a16:creationId xmlns:a16="http://schemas.microsoft.com/office/drawing/2014/main" xmlns="" id="{0F053224-57B6-4424-99E8-036B94CE3A3B}"/>
              </a:ext>
            </a:extLst>
          </p:cNvPr>
          <p:cNvSpPr/>
          <p:nvPr/>
        </p:nvSpPr>
        <p:spPr>
          <a:xfrm>
            <a:off x="4293394" y="4905308"/>
            <a:ext cx="13260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solidFill>
                  <a:srgbClr val="000000"/>
                </a:solidFill>
              </a:rPr>
              <a:t>$ </a:t>
            </a:r>
            <a:r>
              <a:rPr lang="es-AR" sz="1400" dirty="0" smtClean="0">
                <a:solidFill>
                  <a:srgbClr val="000000"/>
                </a:solidFill>
              </a:rPr>
              <a:t>83.000 x 60%</a:t>
            </a:r>
            <a:endParaRPr lang="es-AR" sz="1400" dirty="0">
              <a:solidFill>
                <a:prstClr val="black"/>
              </a:solidFill>
            </a:endParaRPr>
          </a:p>
        </p:txBody>
      </p:sp>
      <p:sp>
        <p:nvSpPr>
          <p:cNvPr id="61" name="Rectángulo 13">
            <a:extLst>
              <a:ext uri="{FF2B5EF4-FFF2-40B4-BE49-F238E27FC236}">
                <a16:creationId xmlns:a16="http://schemas.microsoft.com/office/drawing/2014/main" xmlns="" id="{0F053224-57B6-4424-99E8-036B94CE3A3B}"/>
              </a:ext>
            </a:extLst>
          </p:cNvPr>
          <p:cNvSpPr/>
          <p:nvPr/>
        </p:nvSpPr>
        <p:spPr>
          <a:xfrm>
            <a:off x="492685" y="1073290"/>
            <a:ext cx="16209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solidFill>
                  <a:srgbClr val="000000"/>
                </a:solidFill>
              </a:rPr>
              <a:t>$ </a:t>
            </a:r>
            <a:r>
              <a:rPr lang="es-AR" sz="1400" dirty="0" smtClean="0">
                <a:solidFill>
                  <a:srgbClr val="000000"/>
                </a:solidFill>
              </a:rPr>
              <a:t>83.000 x  (1-11%)</a:t>
            </a:r>
            <a:endParaRPr lang="es-AR" sz="1400" dirty="0">
              <a:solidFill>
                <a:prstClr val="black"/>
              </a:solidFill>
            </a:endParaRPr>
          </a:p>
        </p:txBody>
      </p:sp>
      <p:sp>
        <p:nvSpPr>
          <p:cNvPr id="36" name="39 Rectángulo">
            <a:extLst>
              <a:ext uri="{FF2B5EF4-FFF2-40B4-BE49-F238E27FC236}">
                <a16:creationId xmlns:a16="http://schemas.microsoft.com/office/drawing/2014/main" xmlns="" id="{00000000-0008-0000-0200-000028000000}"/>
              </a:ext>
            </a:extLst>
          </p:cNvPr>
          <p:cNvSpPr/>
          <p:nvPr/>
        </p:nvSpPr>
        <p:spPr>
          <a:xfrm>
            <a:off x="792970" y="3802859"/>
            <a:ext cx="871255" cy="1868210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AR" sz="1600" b="1" dirty="0" err="1" smtClean="0">
                <a:solidFill>
                  <a:sysClr val="windowText" lastClr="000000"/>
                </a:solidFill>
              </a:rPr>
              <a:t>Cs.Ss</a:t>
            </a:r>
            <a:r>
              <a:rPr lang="es-AR" sz="1600" b="1" dirty="0" smtClean="0">
                <a:solidFill>
                  <a:sysClr val="windowText" lastClr="000000"/>
                </a:solidFill>
              </a:rPr>
              <a:t>.</a:t>
            </a:r>
          </a:p>
          <a:p>
            <a:pPr algn="ctr"/>
            <a:r>
              <a:rPr lang="es-AR" sz="1600" b="1" dirty="0" smtClean="0">
                <a:solidFill>
                  <a:sysClr val="windowText" lastClr="000000"/>
                </a:solidFill>
              </a:rPr>
              <a:t>a</a:t>
            </a:r>
          </a:p>
          <a:p>
            <a:pPr algn="ctr"/>
            <a:r>
              <a:rPr lang="es-AR" sz="1600" b="1" dirty="0" smtClean="0">
                <a:solidFill>
                  <a:sysClr val="windowText" lastClr="000000"/>
                </a:solidFill>
              </a:rPr>
              <a:t>Pagar</a:t>
            </a:r>
          </a:p>
        </p:txBody>
      </p:sp>
      <p:sp>
        <p:nvSpPr>
          <p:cNvPr id="37" name="52 Elipse">
            <a:extLst>
              <a:ext uri="{FF2B5EF4-FFF2-40B4-BE49-F238E27FC236}">
                <a16:creationId xmlns:a16="http://schemas.microsoft.com/office/drawing/2014/main" xmlns="" id="{00000000-0008-0000-0200-000035000000}"/>
              </a:ext>
            </a:extLst>
          </p:cNvPr>
          <p:cNvSpPr/>
          <p:nvPr/>
        </p:nvSpPr>
        <p:spPr>
          <a:xfrm>
            <a:off x="4722331" y="2226921"/>
            <a:ext cx="234065" cy="301488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AR" sz="1800"/>
          </a:p>
        </p:txBody>
      </p:sp>
      <p:sp>
        <p:nvSpPr>
          <p:cNvPr id="39" name="39 Rectángulo">
            <a:extLst>
              <a:ext uri="{FF2B5EF4-FFF2-40B4-BE49-F238E27FC236}">
                <a16:creationId xmlns:a16="http://schemas.microsoft.com/office/drawing/2014/main" xmlns="" id="{00000000-0008-0000-0200-000028000000}"/>
              </a:ext>
            </a:extLst>
          </p:cNvPr>
          <p:cNvSpPr/>
          <p:nvPr/>
        </p:nvSpPr>
        <p:spPr>
          <a:xfrm>
            <a:off x="788368" y="1443560"/>
            <a:ext cx="871255" cy="1868210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AR" sz="1600" b="1" dirty="0" smtClean="0">
                <a:solidFill>
                  <a:sysClr val="windowText" lastClr="000000"/>
                </a:solidFill>
              </a:rPr>
              <a:t>Rem. </a:t>
            </a:r>
          </a:p>
          <a:p>
            <a:pPr algn="ctr"/>
            <a:r>
              <a:rPr lang="es-AR" sz="1600" b="1" dirty="0">
                <a:solidFill>
                  <a:sysClr val="windowText" lastClr="000000"/>
                </a:solidFill>
              </a:rPr>
              <a:t>a</a:t>
            </a:r>
            <a:r>
              <a:rPr lang="es-AR" sz="1600" b="1" dirty="0" smtClean="0">
                <a:solidFill>
                  <a:sysClr val="windowText" lastClr="000000"/>
                </a:solidFill>
              </a:rPr>
              <a:t> </a:t>
            </a:r>
          </a:p>
          <a:p>
            <a:pPr algn="ctr"/>
            <a:r>
              <a:rPr lang="es-AR" sz="1600" b="1" dirty="0" smtClean="0">
                <a:solidFill>
                  <a:sysClr val="windowText" lastClr="000000"/>
                </a:solidFill>
              </a:rPr>
              <a:t>Pagar</a:t>
            </a:r>
            <a:endParaRPr lang="es-AR" sz="1600" b="1" dirty="0">
              <a:solidFill>
                <a:sysClr val="windowText" lastClr="000000"/>
              </a:solidFill>
            </a:endParaRPr>
          </a:p>
        </p:txBody>
      </p:sp>
      <p:sp>
        <p:nvSpPr>
          <p:cNvPr id="47" name="23 Elipse">
            <a:extLst>
              <a:ext uri="{FF2B5EF4-FFF2-40B4-BE49-F238E27FC236}">
                <a16:creationId xmlns:a16="http://schemas.microsoft.com/office/drawing/2014/main" xmlns="" id="{00000000-0008-0000-0200-000018000000}"/>
              </a:ext>
            </a:extLst>
          </p:cNvPr>
          <p:cNvSpPr/>
          <p:nvPr/>
        </p:nvSpPr>
        <p:spPr>
          <a:xfrm>
            <a:off x="2928544" y="4692171"/>
            <a:ext cx="78413" cy="8958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AR" sz="1800">
              <a:solidFill>
                <a:prstClr val="white"/>
              </a:solidFill>
            </a:endParaRPr>
          </a:p>
        </p:txBody>
      </p:sp>
      <p:cxnSp>
        <p:nvCxnSpPr>
          <p:cNvPr id="52" name="26 Conector recto de flecha">
            <a:extLst>
              <a:ext uri="{FF2B5EF4-FFF2-40B4-BE49-F238E27FC236}">
                <a16:creationId xmlns:a16="http://schemas.microsoft.com/office/drawing/2014/main" xmlns="" id="{00000000-0008-0000-0200-00001B000000}"/>
              </a:ext>
            </a:extLst>
          </p:cNvPr>
          <p:cNvCxnSpPr>
            <a:stCxn id="47" idx="6"/>
            <a:endCxn id="55" idx="2"/>
          </p:cNvCxnSpPr>
          <p:nvPr/>
        </p:nvCxnSpPr>
        <p:spPr>
          <a:xfrm flipV="1">
            <a:off x="3006957" y="4736963"/>
            <a:ext cx="1671253" cy="1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52 Elipse">
            <a:extLst>
              <a:ext uri="{FF2B5EF4-FFF2-40B4-BE49-F238E27FC236}">
                <a16:creationId xmlns:a16="http://schemas.microsoft.com/office/drawing/2014/main" xmlns="" id="{00000000-0008-0000-0200-000035000000}"/>
              </a:ext>
            </a:extLst>
          </p:cNvPr>
          <p:cNvSpPr/>
          <p:nvPr/>
        </p:nvSpPr>
        <p:spPr>
          <a:xfrm>
            <a:off x="4678210" y="4586219"/>
            <a:ext cx="234065" cy="301488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AR" sz="1800"/>
          </a:p>
        </p:txBody>
      </p:sp>
      <p:sp>
        <p:nvSpPr>
          <p:cNvPr id="67" name="Rectángulo 13">
            <a:extLst>
              <a:ext uri="{FF2B5EF4-FFF2-40B4-BE49-F238E27FC236}">
                <a16:creationId xmlns:a16="http://schemas.microsoft.com/office/drawing/2014/main" xmlns="" id="{0F053224-57B6-4424-99E8-036B94CE3A3B}"/>
              </a:ext>
            </a:extLst>
          </p:cNvPr>
          <p:cNvSpPr/>
          <p:nvPr/>
        </p:nvSpPr>
        <p:spPr>
          <a:xfrm>
            <a:off x="4976413" y="4459835"/>
            <a:ext cx="169562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dirty="0" smtClean="0">
                <a:solidFill>
                  <a:srgbClr val="000000"/>
                </a:solidFill>
              </a:rPr>
              <a:t>Cargas Sociales</a:t>
            </a:r>
            <a:endParaRPr lang="es-AR" dirty="0">
              <a:solidFill>
                <a:prstClr val="black"/>
              </a:solidFill>
            </a:endParaRPr>
          </a:p>
        </p:txBody>
      </p:sp>
      <p:sp>
        <p:nvSpPr>
          <p:cNvPr id="68" name="Rectángulo 13">
            <a:extLst>
              <a:ext uri="{FF2B5EF4-FFF2-40B4-BE49-F238E27FC236}">
                <a16:creationId xmlns:a16="http://schemas.microsoft.com/office/drawing/2014/main" xmlns="" id="{0F053224-57B6-4424-99E8-036B94CE3A3B}"/>
              </a:ext>
            </a:extLst>
          </p:cNvPr>
          <p:cNvSpPr/>
          <p:nvPr/>
        </p:nvSpPr>
        <p:spPr>
          <a:xfrm>
            <a:off x="545085" y="5805264"/>
            <a:ext cx="19159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solidFill>
                  <a:srgbClr val="000000"/>
                </a:solidFill>
              </a:rPr>
              <a:t>$ </a:t>
            </a:r>
            <a:r>
              <a:rPr lang="es-AR" sz="1400" dirty="0" smtClean="0">
                <a:solidFill>
                  <a:srgbClr val="000000"/>
                </a:solidFill>
              </a:rPr>
              <a:t>83.000 x (60% + 11%)</a:t>
            </a:r>
            <a:endParaRPr lang="es-AR" sz="14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7746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7" grpId="0" animBg="1"/>
      <p:bldP spid="15" grpId="0"/>
      <p:bldP spid="33" grpId="0"/>
      <p:bldP spid="34" grpId="0"/>
      <p:bldP spid="48" grpId="0"/>
      <p:bldP spid="50" grpId="0"/>
      <p:bldP spid="51" grpId="0"/>
      <p:bldP spid="57" grpId="0"/>
      <p:bldP spid="61" grpId="0"/>
      <p:bldP spid="36" grpId="0" animBg="1"/>
      <p:bldP spid="37" grpId="0" animBg="1"/>
      <p:bldP spid="39" grpId="0" animBg="1"/>
      <p:bldP spid="47" grpId="0" animBg="1"/>
      <p:bldP spid="55" grpId="0" animBg="1"/>
      <p:bldP spid="67" grpId="0"/>
      <p:bldP spid="6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xmlns="" id="{DD7C5540-AFA9-409E-B061-E3CEA4BDABDC}"/>
              </a:ext>
            </a:extLst>
          </p:cNvPr>
          <p:cNvSpPr/>
          <p:nvPr/>
        </p:nvSpPr>
        <p:spPr>
          <a:xfrm>
            <a:off x="598703" y="29775"/>
            <a:ext cx="8049718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600" i="1" u="sng" dirty="0"/>
              <a:t>Ejemplo 4.8.2</a:t>
            </a:r>
            <a:r>
              <a:rPr lang="es-AR" sz="1600" i="1" dirty="0"/>
              <a:t>: </a:t>
            </a:r>
            <a:endParaRPr lang="es-AR" sz="1600" dirty="0"/>
          </a:p>
          <a:p>
            <a:r>
              <a:rPr lang="es-AR" sz="1600" i="1" dirty="0"/>
              <a:t>El 1-4-XX se pagan $58.000 en concepto de sueldos correspondientes al mes de marzo pasado, quedando pendiente el pago a la AFIP en concepto de Cargas Sociales.</a:t>
            </a:r>
            <a:endParaRPr lang="es-AR" sz="1600" dirty="0"/>
          </a:p>
          <a:p>
            <a:r>
              <a:rPr lang="es-AR" sz="1600" i="1" dirty="0"/>
              <a:t>El 5-4-XX un empleado recibe un préstamo de $30.000 y se acuerda su devolución en 3 cuotas a descontarse del sueldo a partir de este mes.</a:t>
            </a:r>
            <a:endParaRPr lang="es-AR" sz="1600" dirty="0"/>
          </a:p>
          <a:p>
            <a:r>
              <a:rPr lang="es-AR" sz="1600" i="1" dirty="0"/>
              <a:t>El 16-4-XX un empleado recibe un adelanto de $6.000 a descontar de la liquidación del mes.</a:t>
            </a:r>
            <a:endParaRPr lang="es-AR" sz="1600" dirty="0"/>
          </a:p>
          <a:p>
            <a:r>
              <a:rPr lang="es-AR" sz="1600" i="1" dirty="0"/>
              <a:t>El 30-4-XX se devengan los sueldos del mes en $83.000 brutos; Cargas Sociales = 60%; Retenciones = 11%. </a:t>
            </a:r>
            <a:endParaRPr lang="es-AR" sz="1600" dirty="0"/>
          </a:p>
        </p:txBody>
      </p:sp>
      <p:sp>
        <p:nvSpPr>
          <p:cNvPr id="30" name="2 Rectángulo">
            <a:extLst>
              <a:ext uri="{FF2B5EF4-FFF2-40B4-BE49-F238E27FC236}">
                <a16:creationId xmlns:a16="http://schemas.microsoft.com/office/drawing/2014/main" xmlns="" id="{00000000-0008-0000-0200-000003000000}"/>
              </a:ext>
            </a:extLst>
          </p:cNvPr>
          <p:cNvSpPr/>
          <p:nvPr/>
        </p:nvSpPr>
        <p:spPr>
          <a:xfrm>
            <a:off x="3347864" y="2163899"/>
            <a:ext cx="924910" cy="1097021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AR" sz="1400" b="1" dirty="0" smtClean="0">
                <a:solidFill>
                  <a:sysClr val="windowText" lastClr="000000"/>
                </a:solidFill>
              </a:rPr>
              <a:t>Rem. </a:t>
            </a:r>
          </a:p>
          <a:p>
            <a:pPr algn="ctr"/>
            <a:r>
              <a:rPr lang="es-AR" sz="1400" b="1" dirty="0">
                <a:solidFill>
                  <a:sysClr val="windowText" lastClr="000000"/>
                </a:solidFill>
              </a:rPr>
              <a:t>a</a:t>
            </a:r>
          </a:p>
          <a:p>
            <a:pPr algn="ctr"/>
            <a:r>
              <a:rPr lang="es-AR" sz="1400" b="1" dirty="0">
                <a:solidFill>
                  <a:sysClr val="windowText" lastClr="000000"/>
                </a:solidFill>
              </a:rPr>
              <a:t>Pagar</a:t>
            </a:r>
          </a:p>
        </p:txBody>
      </p:sp>
      <p:sp>
        <p:nvSpPr>
          <p:cNvPr id="35" name="5 Elipse">
            <a:extLst>
              <a:ext uri="{FF2B5EF4-FFF2-40B4-BE49-F238E27FC236}">
                <a16:creationId xmlns:a16="http://schemas.microsoft.com/office/drawing/2014/main" xmlns="" id="{00000000-0008-0000-0200-000006000000}"/>
              </a:ext>
            </a:extLst>
          </p:cNvPr>
          <p:cNvSpPr/>
          <p:nvPr/>
        </p:nvSpPr>
        <p:spPr>
          <a:xfrm>
            <a:off x="751966" y="2089194"/>
            <a:ext cx="1183885" cy="1246432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AR" sz="1400" b="1" dirty="0" smtClean="0">
                <a:solidFill>
                  <a:sysClr val="windowText" lastClr="000000"/>
                </a:solidFill>
              </a:rPr>
              <a:t>Disp.</a:t>
            </a:r>
            <a:endParaRPr lang="es-AR" sz="1400" b="1" dirty="0">
              <a:solidFill>
                <a:sysClr val="windowText" lastClr="000000"/>
              </a:solidFill>
            </a:endParaRPr>
          </a:p>
        </p:txBody>
      </p:sp>
      <p:cxnSp>
        <p:nvCxnSpPr>
          <p:cNvPr id="38" name="8 Conector recto de flecha">
            <a:extLst>
              <a:ext uri="{FF2B5EF4-FFF2-40B4-BE49-F238E27FC236}">
                <a16:creationId xmlns:a16="http://schemas.microsoft.com/office/drawing/2014/main" xmlns="" id="{00000000-0008-0000-0200-000009000000}"/>
              </a:ext>
            </a:extLst>
          </p:cNvPr>
          <p:cNvCxnSpPr>
            <a:stCxn id="35" idx="6"/>
            <a:endCxn id="30" idx="1"/>
          </p:cNvCxnSpPr>
          <p:nvPr/>
        </p:nvCxnSpPr>
        <p:spPr>
          <a:xfrm>
            <a:off x="1935851" y="2712410"/>
            <a:ext cx="1412013" cy="0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ángulo 20">
            <a:extLst>
              <a:ext uri="{FF2B5EF4-FFF2-40B4-BE49-F238E27FC236}">
                <a16:creationId xmlns:a16="http://schemas.microsoft.com/office/drawing/2014/main" xmlns="" id="{0D71CD10-47BB-44FE-BE1A-9731464CAA91}"/>
              </a:ext>
            </a:extLst>
          </p:cNvPr>
          <p:cNvSpPr/>
          <p:nvPr/>
        </p:nvSpPr>
        <p:spPr>
          <a:xfrm>
            <a:off x="2152813" y="2380754"/>
            <a:ext cx="1050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solidFill>
                  <a:srgbClr val="000000"/>
                </a:solidFill>
                <a:latin typeface="Calibri" panose="020F0502020204030204" pitchFamily="34" charset="0"/>
              </a:rPr>
              <a:t>$ </a:t>
            </a:r>
            <a:r>
              <a:rPr lang="es-AR" dirty="0" smtClean="0">
                <a:solidFill>
                  <a:srgbClr val="000000"/>
                </a:solidFill>
                <a:latin typeface="Calibri" panose="020F0502020204030204" pitchFamily="34" charset="0"/>
              </a:rPr>
              <a:t>58.000</a:t>
            </a:r>
            <a:r>
              <a:rPr lang="es-AR" dirty="0" smtClean="0"/>
              <a:t> </a:t>
            </a:r>
            <a:endParaRPr lang="es-AR" dirty="0"/>
          </a:p>
        </p:txBody>
      </p:sp>
      <p:graphicFrame>
        <p:nvGraphicFramePr>
          <p:cNvPr id="41" name="Tabla 52">
            <a:extLst>
              <a:ext uri="{FF2B5EF4-FFF2-40B4-BE49-F238E27FC236}">
                <a16:creationId xmlns="" xmlns:a16="http://schemas.microsoft.com/office/drawing/2014/main" id="{F090687D-0AE3-4ECE-997C-E3CF2668BB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24793"/>
              </p:ext>
            </p:extLst>
          </p:nvPr>
        </p:nvGraphicFramePr>
        <p:xfrm>
          <a:off x="5220072" y="2380754"/>
          <a:ext cx="3583500" cy="72948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1196">
                  <a:extLst>
                    <a:ext uri="{9D8B030D-6E8A-4147-A177-3AD203B41FA5}">
                      <a16:colId xmlns="" xmlns:a16="http://schemas.microsoft.com/office/drawing/2014/main" val="609204336"/>
                    </a:ext>
                  </a:extLst>
                </a:gridCol>
                <a:gridCol w="783076">
                  <a:extLst>
                    <a:ext uri="{9D8B030D-6E8A-4147-A177-3AD203B41FA5}">
                      <a16:colId xmlns="" xmlns:a16="http://schemas.microsoft.com/office/drawing/2014/main" val="2193348770"/>
                    </a:ext>
                  </a:extLst>
                </a:gridCol>
                <a:gridCol w="783076">
                  <a:extLst>
                    <a:ext uri="{9D8B030D-6E8A-4147-A177-3AD203B41FA5}">
                      <a16:colId xmlns="" xmlns:a16="http://schemas.microsoft.com/office/drawing/2014/main" val="4092774877"/>
                    </a:ext>
                  </a:extLst>
                </a:gridCol>
                <a:gridCol w="783076">
                  <a:extLst>
                    <a:ext uri="{9D8B030D-6E8A-4147-A177-3AD203B41FA5}">
                      <a16:colId xmlns="" xmlns:a16="http://schemas.microsoft.com/office/drawing/2014/main" val="3501325627"/>
                    </a:ext>
                  </a:extLst>
                </a:gridCol>
                <a:gridCol w="783076">
                  <a:extLst>
                    <a:ext uri="{9D8B030D-6E8A-4147-A177-3AD203B41FA5}">
                      <a16:colId xmlns="" xmlns:a16="http://schemas.microsoft.com/office/drawing/2014/main" val="1946522016"/>
                    </a:ext>
                  </a:extLst>
                </a:gridCol>
              </a:tblGrid>
              <a:tr h="302761"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s-AR" sz="1400" u="none" strike="noStrike" dirty="0">
                          <a:effectLst/>
                        </a:rPr>
                        <a:t>Cuentas</a:t>
                      </a:r>
                      <a:endParaRPr lang="es-AR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400" u="none" strike="noStrike">
                          <a:effectLst/>
                        </a:rPr>
                        <a:t>DEBE</a:t>
                      </a:r>
                      <a:endParaRPr lang="es-AR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400" u="none" strike="noStrike">
                          <a:effectLst/>
                        </a:rPr>
                        <a:t>HABER</a:t>
                      </a:r>
                      <a:endParaRPr lang="es-AR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="" xmlns:a16="http://schemas.microsoft.com/office/drawing/2014/main" val="2942187959"/>
                  </a:ext>
                </a:extLst>
              </a:tr>
              <a:tr h="202971">
                <a:tc gridSpan="2">
                  <a:txBody>
                    <a:bodyPr/>
                    <a:lstStyle/>
                    <a:p>
                      <a:pPr algn="l" fontAlgn="b"/>
                      <a:r>
                        <a:rPr lang="es-AR" sz="1400" b="0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Rem. A Pagar</a:t>
                      </a:r>
                      <a:r>
                        <a:rPr lang="es-AR" sz="1400" b="0" i="0" u="none" strike="noStrike" baseline="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 (P)</a:t>
                      </a:r>
                      <a:endParaRPr lang="es-AR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AR" sz="1400" u="none" strike="noStrike" dirty="0">
                          <a:effectLst/>
                        </a:rPr>
                        <a:t> </a:t>
                      </a:r>
                      <a:endParaRPr lang="es-AR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AR" sz="1400" u="none" strike="noStrike" dirty="0">
                          <a:effectLst/>
                        </a:rPr>
                        <a:t>$ </a:t>
                      </a:r>
                      <a:r>
                        <a:rPr lang="es-AR" sz="1400" u="none" strike="noStrike" dirty="0" smtClean="0">
                          <a:effectLst/>
                        </a:rPr>
                        <a:t>58.000</a:t>
                      </a:r>
                      <a:endParaRPr lang="es-A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AR" sz="1400" u="none" strike="noStrike" dirty="0">
                          <a:effectLst/>
                        </a:rPr>
                        <a:t> </a:t>
                      </a:r>
                      <a:endParaRPr lang="es-A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="" xmlns:a16="http://schemas.microsoft.com/office/drawing/2014/main" val="2959398699"/>
                  </a:ext>
                </a:extLst>
              </a:tr>
              <a:tr h="202971">
                <a:tc>
                  <a:txBody>
                    <a:bodyPr/>
                    <a:lstStyle/>
                    <a:p>
                      <a:pPr algn="l" fontAlgn="b"/>
                      <a:r>
                        <a:rPr lang="es-AR" sz="1400" u="none" strike="noStrike" dirty="0">
                          <a:effectLst/>
                        </a:rPr>
                        <a:t> </a:t>
                      </a:r>
                      <a:endParaRPr lang="es-AR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s-AR" sz="1400" u="none" strike="noStrike" dirty="0">
                          <a:effectLst/>
                        </a:rPr>
                        <a:t>a </a:t>
                      </a:r>
                      <a:r>
                        <a:rPr lang="es-AR" sz="1400" u="none" strike="noStrike" dirty="0" err="1" smtClean="0">
                          <a:effectLst/>
                        </a:rPr>
                        <a:t>Disp</a:t>
                      </a:r>
                      <a:r>
                        <a:rPr lang="es-AR" sz="1400" u="none" strike="noStrike" dirty="0" smtClean="0">
                          <a:effectLst/>
                        </a:rPr>
                        <a:t> (A)</a:t>
                      </a:r>
                      <a:endParaRPr lang="es-AR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AR" sz="1400" u="none" strike="noStrike" dirty="0">
                          <a:effectLst/>
                        </a:rPr>
                        <a:t> </a:t>
                      </a:r>
                      <a:endParaRPr lang="es-A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AR" sz="1400" u="none" strike="noStrike" dirty="0">
                          <a:effectLst/>
                        </a:rPr>
                        <a:t>$ </a:t>
                      </a:r>
                      <a:r>
                        <a:rPr lang="es-AR" sz="1400" u="none" strike="noStrike" dirty="0" smtClean="0">
                          <a:effectLst/>
                        </a:rPr>
                        <a:t>58.000</a:t>
                      </a:r>
                      <a:endParaRPr lang="es-A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</a:tr>
            </a:tbl>
          </a:graphicData>
        </a:graphic>
      </p:graphicFrame>
      <p:sp>
        <p:nvSpPr>
          <p:cNvPr id="49" name="Rectángulo 20">
            <a:extLst>
              <a:ext uri="{FF2B5EF4-FFF2-40B4-BE49-F238E27FC236}">
                <a16:creationId xmlns:a16="http://schemas.microsoft.com/office/drawing/2014/main" xmlns="" id="{0D71CD10-47BB-44FE-BE1A-9731464CAA91}"/>
              </a:ext>
            </a:extLst>
          </p:cNvPr>
          <p:cNvSpPr/>
          <p:nvPr/>
        </p:nvSpPr>
        <p:spPr>
          <a:xfrm>
            <a:off x="38120" y="2011422"/>
            <a:ext cx="8002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 smtClean="0">
                <a:solidFill>
                  <a:srgbClr val="000000"/>
                </a:solidFill>
                <a:latin typeface="Calibri" panose="020F0502020204030204" pitchFamily="34" charset="0"/>
              </a:rPr>
              <a:t>1-4-XX</a:t>
            </a:r>
            <a:endParaRPr lang="es-AR" dirty="0"/>
          </a:p>
        </p:txBody>
      </p:sp>
      <p:sp>
        <p:nvSpPr>
          <p:cNvPr id="56" name="5 Elipse">
            <a:extLst>
              <a:ext uri="{FF2B5EF4-FFF2-40B4-BE49-F238E27FC236}">
                <a16:creationId xmlns:a16="http://schemas.microsoft.com/office/drawing/2014/main" xmlns="" id="{00000000-0008-0000-0200-000006000000}"/>
              </a:ext>
            </a:extLst>
          </p:cNvPr>
          <p:cNvSpPr/>
          <p:nvPr/>
        </p:nvSpPr>
        <p:spPr>
          <a:xfrm>
            <a:off x="768771" y="3586334"/>
            <a:ext cx="1183885" cy="1246432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AR" sz="1400" b="1" dirty="0" smtClean="0">
                <a:solidFill>
                  <a:sysClr val="windowText" lastClr="000000"/>
                </a:solidFill>
              </a:rPr>
              <a:t>Disp.</a:t>
            </a:r>
            <a:endParaRPr lang="es-AR" sz="1400" b="1" dirty="0">
              <a:solidFill>
                <a:sysClr val="windowText" lastClr="000000"/>
              </a:solidFill>
            </a:endParaRPr>
          </a:p>
        </p:txBody>
      </p:sp>
      <p:cxnSp>
        <p:nvCxnSpPr>
          <p:cNvPr id="58" name="8 Conector recto de flecha">
            <a:extLst>
              <a:ext uri="{FF2B5EF4-FFF2-40B4-BE49-F238E27FC236}">
                <a16:creationId xmlns:a16="http://schemas.microsoft.com/office/drawing/2014/main" xmlns="" id="{00000000-0008-0000-0200-000009000000}"/>
              </a:ext>
            </a:extLst>
          </p:cNvPr>
          <p:cNvCxnSpPr>
            <a:stCxn id="56" idx="6"/>
            <a:endCxn id="62" idx="2"/>
          </p:cNvCxnSpPr>
          <p:nvPr/>
        </p:nvCxnSpPr>
        <p:spPr>
          <a:xfrm>
            <a:off x="1952656" y="4209550"/>
            <a:ext cx="1410477" cy="0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Rectángulo 20">
            <a:extLst>
              <a:ext uri="{FF2B5EF4-FFF2-40B4-BE49-F238E27FC236}">
                <a16:creationId xmlns:a16="http://schemas.microsoft.com/office/drawing/2014/main" xmlns="" id="{0D71CD10-47BB-44FE-BE1A-9731464CAA91}"/>
              </a:ext>
            </a:extLst>
          </p:cNvPr>
          <p:cNvSpPr/>
          <p:nvPr/>
        </p:nvSpPr>
        <p:spPr>
          <a:xfrm>
            <a:off x="2169618" y="3877895"/>
            <a:ext cx="1050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solidFill>
                  <a:srgbClr val="000000"/>
                </a:solidFill>
                <a:latin typeface="Calibri" panose="020F0502020204030204" pitchFamily="34" charset="0"/>
              </a:rPr>
              <a:t>$ </a:t>
            </a:r>
            <a:r>
              <a:rPr lang="es-AR" dirty="0" smtClean="0">
                <a:solidFill>
                  <a:srgbClr val="000000"/>
                </a:solidFill>
                <a:latin typeface="Calibri" panose="020F0502020204030204" pitchFamily="34" charset="0"/>
              </a:rPr>
              <a:t>30.000</a:t>
            </a:r>
            <a:r>
              <a:rPr lang="es-AR" dirty="0" smtClean="0"/>
              <a:t> </a:t>
            </a:r>
            <a:endParaRPr lang="es-AR" dirty="0"/>
          </a:p>
        </p:txBody>
      </p:sp>
      <p:graphicFrame>
        <p:nvGraphicFramePr>
          <p:cNvPr id="60" name="Tabla 52">
            <a:extLst>
              <a:ext uri="{FF2B5EF4-FFF2-40B4-BE49-F238E27FC236}">
                <a16:creationId xmlns="" xmlns:a16="http://schemas.microsoft.com/office/drawing/2014/main" id="{F090687D-0AE3-4ECE-997C-E3CF2668BB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7925210"/>
              </p:ext>
            </p:extLst>
          </p:nvPr>
        </p:nvGraphicFramePr>
        <p:xfrm>
          <a:off x="5236877" y="3877895"/>
          <a:ext cx="3583500" cy="72948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1196">
                  <a:extLst>
                    <a:ext uri="{9D8B030D-6E8A-4147-A177-3AD203B41FA5}">
                      <a16:colId xmlns="" xmlns:a16="http://schemas.microsoft.com/office/drawing/2014/main" val="609204336"/>
                    </a:ext>
                  </a:extLst>
                </a:gridCol>
                <a:gridCol w="1332199">
                  <a:extLst>
                    <a:ext uri="{9D8B030D-6E8A-4147-A177-3AD203B41FA5}">
                      <a16:colId xmlns="" xmlns:a16="http://schemas.microsoft.com/office/drawing/2014/main" val="2193348770"/>
                    </a:ext>
                  </a:extLst>
                </a:gridCol>
                <a:gridCol w="233953">
                  <a:extLst>
                    <a:ext uri="{9D8B030D-6E8A-4147-A177-3AD203B41FA5}">
                      <a16:colId xmlns="" xmlns:a16="http://schemas.microsoft.com/office/drawing/2014/main" val="4092774877"/>
                    </a:ext>
                  </a:extLst>
                </a:gridCol>
                <a:gridCol w="783076">
                  <a:extLst>
                    <a:ext uri="{9D8B030D-6E8A-4147-A177-3AD203B41FA5}">
                      <a16:colId xmlns="" xmlns:a16="http://schemas.microsoft.com/office/drawing/2014/main" val="3501325627"/>
                    </a:ext>
                  </a:extLst>
                </a:gridCol>
                <a:gridCol w="783076">
                  <a:extLst>
                    <a:ext uri="{9D8B030D-6E8A-4147-A177-3AD203B41FA5}">
                      <a16:colId xmlns="" xmlns:a16="http://schemas.microsoft.com/office/drawing/2014/main" val="1946522016"/>
                    </a:ext>
                  </a:extLst>
                </a:gridCol>
              </a:tblGrid>
              <a:tr h="302761"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s-AR" sz="1400" u="none" strike="noStrike" dirty="0">
                          <a:effectLst/>
                        </a:rPr>
                        <a:t>Cuentas</a:t>
                      </a:r>
                      <a:endParaRPr lang="es-AR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400" u="none" strike="noStrike">
                          <a:effectLst/>
                        </a:rPr>
                        <a:t>DEBE</a:t>
                      </a:r>
                      <a:endParaRPr lang="es-AR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400" u="none" strike="noStrike" dirty="0">
                          <a:effectLst/>
                        </a:rPr>
                        <a:t>HABER</a:t>
                      </a:r>
                      <a:endParaRPr lang="es-AR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="" xmlns:a16="http://schemas.microsoft.com/office/drawing/2014/main" val="2942187959"/>
                  </a:ext>
                </a:extLst>
              </a:tr>
              <a:tr h="202971">
                <a:tc gridSpan="2">
                  <a:txBody>
                    <a:bodyPr/>
                    <a:lstStyle/>
                    <a:p>
                      <a:pPr algn="l" fontAlgn="b"/>
                      <a:r>
                        <a:rPr lang="es-AR" sz="1400" b="0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Prest. Al Personal</a:t>
                      </a:r>
                      <a:r>
                        <a:rPr lang="es-AR" sz="1400" b="0" i="0" u="none" strike="noStrike" baseline="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 (A)</a:t>
                      </a:r>
                      <a:endParaRPr lang="es-AR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AR" sz="1400" u="none" strike="noStrike" dirty="0">
                          <a:effectLst/>
                        </a:rPr>
                        <a:t> </a:t>
                      </a:r>
                      <a:endParaRPr lang="es-AR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AR" sz="1400" u="none" strike="noStrike" dirty="0">
                          <a:effectLst/>
                        </a:rPr>
                        <a:t>$ </a:t>
                      </a:r>
                      <a:r>
                        <a:rPr lang="es-AR" sz="1400" u="none" strike="noStrike" dirty="0" smtClean="0">
                          <a:effectLst/>
                        </a:rPr>
                        <a:t>30.000</a:t>
                      </a:r>
                      <a:endParaRPr lang="es-A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AR" sz="1400" u="none" strike="noStrike" dirty="0">
                          <a:effectLst/>
                        </a:rPr>
                        <a:t> </a:t>
                      </a:r>
                      <a:endParaRPr lang="es-A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="" xmlns:a16="http://schemas.microsoft.com/office/drawing/2014/main" val="2959398699"/>
                  </a:ext>
                </a:extLst>
              </a:tr>
              <a:tr h="202971">
                <a:tc>
                  <a:txBody>
                    <a:bodyPr/>
                    <a:lstStyle/>
                    <a:p>
                      <a:pPr algn="l" fontAlgn="b"/>
                      <a:r>
                        <a:rPr lang="es-AR" sz="1400" u="none" strike="noStrike" dirty="0">
                          <a:effectLst/>
                        </a:rPr>
                        <a:t> </a:t>
                      </a:r>
                      <a:endParaRPr lang="es-AR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s-AR" sz="1400" u="none" strike="noStrike" dirty="0">
                          <a:effectLst/>
                        </a:rPr>
                        <a:t>a </a:t>
                      </a:r>
                      <a:r>
                        <a:rPr lang="es-AR" sz="1400" u="none" strike="noStrike" dirty="0" err="1" smtClean="0">
                          <a:effectLst/>
                        </a:rPr>
                        <a:t>Disp</a:t>
                      </a:r>
                      <a:r>
                        <a:rPr lang="es-AR" sz="1400" u="none" strike="noStrike" dirty="0" smtClean="0">
                          <a:effectLst/>
                        </a:rPr>
                        <a:t> (A)</a:t>
                      </a:r>
                      <a:endParaRPr lang="es-AR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AR" sz="1400" u="none" strike="noStrike" dirty="0">
                          <a:effectLst/>
                        </a:rPr>
                        <a:t> </a:t>
                      </a:r>
                      <a:endParaRPr lang="es-A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AR" sz="1400" u="none" strike="noStrike" dirty="0">
                          <a:effectLst/>
                        </a:rPr>
                        <a:t>$ </a:t>
                      </a:r>
                      <a:r>
                        <a:rPr lang="es-AR" sz="1400" u="none" strike="noStrike" dirty="0" smtClean="0">
                          <a:effectLst/>
                        </a:rPr>
                        <a:t>30.000</a:t>
                      </a:r>
                      <a:endParaRPr lang="es-A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</a:tr>
            </a:tbl>
          </a:graphicData>
        </a:graphic>
      </p:graphicFrame>
      <p:sp>
        <p:nvSpPr>
          <p:cNvPr id="62" name="5 Elipse">
            <a:extLst>
              <a:ext uri="{FF2B5EF4-FFF2-40B4-BE49-F238E27FC236}">
                <a16:creationId xmlns:a16="http://schemas.microsoft.com/office/drawing/2014/main" xmlns="" id="{00000000-0008-0000-0200-000006000000}"/>
              </a:ext>
            </a:extLst>
          </p:cNvPr>
          <p:cNvSpPr/>
          <p:nvPr/>
        </p:nvSpPr>
        <p:spPr>
          <a:xfrm>
            <a:off x="3363133" y="3586334"/>
            <a:ext cx="1183885" cy="1246432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AR" sz="1400" b="1" dirty="0" smtClean="0">
                <a:solidFill>
                  <a:sysClr val="windowText" lastClr="000000"/>
                </a:solidFill>
              </a:rPr>
              <a:t>Prest.</a:t>
            </a:r>
          </a:p>
          <a:p>
            <a:pPr algn="ctr"/>
            <a:r>
              <a:rPr lang="es-AR" sz="1400" b="1" dirty="0" smtClean="0">
                <a:solidFill>
                  <a:sysClr val="windowText" lastClr="000000"/>
                </a:solidFill>
              </a:rPr>
              <a:t>Al</a:t>
            </a:r>
          </a:p>
          <a:p>
            <a:pPr algn="ctr"/>
            <a:r>
              <a:rPr lang="es-AR" sz="1400" b="1" dirty="0" smtClean="0">
                <a:solidFill>
                  <a:sysClr val="windowText" lastClr="000000"/>
                </a:solidFill>
              </a:rPr>
              <a:t>Personal</a:t>
            </a:r>
            <a:endParaRPr lang="es-AR" sz="1400" b="1" dirty="0">
              <a:solidFill>
                <a:sysClr val="windowText" lastClr="000000"/>
              </a:solidFill>
            </a:endParaRPr>
          </a:p>
        </p:txBody>
      </p:sp>
      <p:sp>
        <p:nvSpPr>
          <p:cNvPr id="63" name="Rectángulo 20">
            <a:extLst>
              <a:ext uri="{FF2B5EF4-FFF2-40B4-BE49-F238E27FC236}">
                <a16:creationId xmlns:a16="http://schemas.microsoft.com/office/drawing/2014/main" xmlns="" id="{0D71CD10-47BB-44FE-BE1A-9731464CAA91}"/>
              </a:ext>
            </a:extLst>
          </p:cNvPr>
          <p:cNvSpPr/>
          <p:nvPr/>
        </p:nvSpPr>
        <p:spPr>
          <a:xfrm>
            <a:off x="28274" y="3506861"/>
            <a:ext cx="80021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solidFill>
                  <a:srgbClr val="000000"/>
                </a:solidFill>
                <a:latin typeface="Calibri" panose="020F0502020204030204" pitchFamily="34" charset="0"/>
              </a:rPr>
              <a:t>5</a:t>
            </a:r>
            <a:r>
              <a:rPr lang="es-AR" dirty="0" smtClean="0">
                <a:solidFill>
                  <a:srgbClr val="000000"/>
                </a:solidFill>
                <a:latin typeface="Calibri" panose="020F0502020204030204" pitchFamily="34" charset="0"/>
              </a:rPr>
              <a:t>-4-XX</a:t>
            </a:r>
            <a:endParaRPr lang="es-AR" dirty="0"/>
          </a:p>
        </p:txBody>
      </p:sp>
      <p:sp>
        <p:nvSpPr>
          <p:cNvPr id="64" name="5 Elipse">
            <a:extLst>
              <a:ext uri="{FF2B5EF4-FFF2-40B4-BE49-F238E27FC236}">
                <a16:creationId xmlns:a16="http://schemas.microsoft.com/office/drawing/2014/main" xmlns="" id="{00000000-0008-0000-0200-000006000000}"/>
              </a:ext>
            </a:extLst>
          </p:cNvPr>
          <p:cNvSpPr/>
          <p:nvPr/>
        </p:nvSpPr>
        <p:spPr>
          <a:xfrm>
            <a:off x="749999" y="5076325"/>
            <a:ext cx="1183885" cy="1246432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AR" sz="1400" b="1" dirty="0" smtClean="0">
                <a:solidFill>
                  <a:sysClr val="windowText" lastClr="000000"/>
                </a:solidFill>
              </a:rPr>
              <a:t>Disp.</a:t>
            </a:r>
            <a:endParaRPr lang="es-AR" sz="1400" b="1" dirty="0">
              <a:solidFill>
                <a:sysClr val="windowText" lastClr="000000"/>
              </a:solidFill>
            </a:endParaRPr>
          </a:p>
        </p:txBody>
      </p:sp>
      <p:cxnSp>
        <p:nvCxnSpPr>
          <p:cNvPr id="65" name="8 Conector recto de flecha">
            <a:extLst>
              <a:ext uri="{FF2B5EF4-FFF2-40B4-BE49-F238E27FC236}">
                <a16:creationId xmlns:a16="http://schemas.microsoft.com/office/drawing/2014/main" xmlns="" id="{00000000-0008-0000-0200-000009000000}"/>
              </a:ext>
            </a:extLst>
          </p:cNvPr>
          <p:cNvCxnSpPr>
            <a:stCxn id="64" idx="6"/>
            <a:endCxn id="70" idx="2"/>
          </p:cNvCxnSpPr>
          <p:nvPr/>
        </p:nvCxnSpPr>
        <p:spPr>
          <a:xfrm>
            <a:off x="1933884" y="5699541"/>
            <a:ext cx="1410477" cy="0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Rectángulo 20">
            <a:extLst>
              <a:ext uri="{FF2B5EF4-FFF2-40B4-BE49-F238E27FC236}">
                <a16:creationId xmlns:a16="http://schemas.microsoft.com/office/drawing/2014/main" xmlns="" id="{0D71CD10-47BB-44FE-BE1A-9731464CAA91}"/>
              </a:ext>
            </a:extLst>
          </p:cNvPr>
          <p:cNvSpPr/>
          <p:nvPr/>
        </p:nvSpPr>
        <p:spPr>
          <a:xfrm>
            <a:off x="2150846" y="5367886"/>
            <a:ext cx="9332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solidFill>
                  <a:srgbClr val="000000"/>
                </a:solidFill>
                <a:latin typeface="Calibri" panose="020F0502020204030204" pitchFamily="34" charset="0"/>
              </a:rPr>
              <a:t>$ 6</a:t>
            </a:r>
            <a:r>
              <a:rPr lang="es-AR" dirty="0" smtClean="0">
                <a:solidFill>
                  <a:srgbClr val="000000"/>
                </a:solidFill>
                <a:latin typeface="Calibri" panose="020F0502020204030204" pitchFamily="34" charset="0"/>
              </a:rPr>
              <a:t>.000</a:t>
            </a:r>
            <a:r>
              <a:rPr lang="es-AR" dirty="0" smtClean="0"/>
              <a:t> </a:t>
            </a:r>
            <a:endParaRPr lang="es-AR" dirty="0"/>
          </a:p>
        </p:txBody>
      </p:sp>
      <p:graphicFrame>
        <p:nvGraphicFramePr>
          <p:cNvPr id="69" name="Tabla 52">
            <a:extLst>
              <a:ext uri="{FF2B5EF4-FFF2-40B4-BE49-F238E27FC236}">
                <a16:creationId xmlns="" xmlns:a16="http://schemas.microsoft.com/office/drawing/2014/main" id="{F090687D-0AE3-4ECE-997C-E3CF2668BB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8764966"/>
              </p:ext>
            </p:extLst>
          </p:nvPr>
        </p:nvGraphicFramePr>
        <p:xfrm>
          <a:off x="5218105" y="5367886"/>
          <a:ext cx="3583500" cy="72948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1196">
                  <a:extLst>
                    <a:ext uri="{9D8B030D-6E8A-4147-A177-3AD203B41FA5}">
                      <a16:colId xmlns="" xmlns:a16="http://schemas.microsoft.com/office/drawing/2014/main" val="609204336"/>
                    </a:ext>
                  </a:extLst>
                </a:gridCol>
                <a:gridCol w="1332199">
                  <a:extLst>
                    <a:ext uri="{9D8B030D-6E8A-4147-A177-3AD203B41FA5}">
                      <a16:colId xmlns="" xmlns:a16="http://schemas.microsoft.com/office/drawing/2014/main" val="2193348770"/>
                    </a:ext>
                  </a:extLst>
                </a:gridCol>
                <a:gridCol w="233953">
                  <a:extLst>
                    <a:ext uri="{9D8B030D-6E8A-4147-A177-3AD203B41FA5}">
                      <a16:colId xmlns="" xmlns:a16="http://schemas.microsoft.com/office/drawing/2014/main" val="4092774877"/>
                    </a:ext>
                  </a:extLst>
                </a:gridCol>
                <a:gridCol w="783076">
                  <a:extLst>
                    <a:ext uri="{9D8B030D-6E8A-4147-A177-3AD203B41FA5}">
                      <a16:colId xmlns="" xmlns:a16="http://schemas.microsoft.com/office/drawing/2014/main" val="3501325627"/>
                    </a:ext>
                  </a:extLst>
                </a:gridCol>
                <a:gridCol w="783076">
                  <a:extLst>
                    <a:ext uri="{9D8B030D-6E8A-4147-A177-3AD203B41FA5}">
                      <a16:colId xmlns="" xmlns:a16="http://schemas.microsoft.com/office/drawing/2014/main" val="1946522016"/>
                    </a:ext>
                  </a:extLst>
                </a:gridCol>
              </a:tblGrid>
              <a:tr h="302761"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s-AR" sz="1400" u="none" strike="noStrike" dirty="0">
                          <a:effectLst/>
                        </a:rPr>
                        <a:t>Cuentas</a:t>
                      </a:r>
                      <a:endParaRPr lang="es-AR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400" u="none" strike="noStrike">
                          <a:effectLst/>
                        </a:rPr>
                        <a:t>DEBE</a:t>
                      </a:r>
                      <a:endParaRPr lang="es-AR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400" u="none" strike="noStrike" dirty="0">
                          <a:effectLst/>
                        </a:rPr>
                        <a:t>HABER</a:t>
                      </a:r>
                      <a:endParaRPr lang="es-AR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="" xmlns:a16="http://schemas.microsoft.com/office/drawing/2014/main" val="2942187959"/>
                  </a:ext>
                </a:extLst>
              </a:tr>
              <a:tr h="202971">
                <a:tc gridSpan="2">
                  <a:txBody>
                    <a:bodyPr/>
                    <a:lstStyle/>
                    <a:p>
                      <a:pPr algn="l" fontAlgn="b"/>
                      <a:r>
                        <a:rPr lang="es-AR" sz="1400" b="0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Adelanto al Personal</a:t>
                      </a:r>
                      <a:r>
                        <a:rPr lang="es-AR" sz="1400" b="0" i="0" u="none" strike="noStrike" baseline="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 (A)</a:t>
                      </a:r>
                      <a:endParaRPr lang="es-AR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AR" sz="1400" u="none" strike="noStrike" dirty="0">
                          <a:effectLst/>
                        </a:rPr>
                        <a:t> </a:t>
                      </a:r>
                      <a:endParaRPr lang="es-AR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AR" sz="1400" u="none" strike="noStrike" dirty="0">
                          <a:effectLst/>
                        </a:rPr>
                        <a:t>$ </a:t>
                      </a:r>
                      <a:r>
                        <a:rPr lang="es-AR" sz="1400" u="none" strike="noStrike" dirty="0" smtClean="0">
                          <a:effectLst/>
                        </a:rPr>
                        <a:t>6.000</a:t>
                      </a:r>
                      <a:endParaRPr lang="es-A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AR" sz="1400" u="none" strike="noStrike" dirty="0">
                          <a:effectLst/>
                        </a:rPr>
                        <a:t> </a:t>
                      </a:r>
                      <a:endParaRPr lang="es-A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="" xmlns:a16="http://schemas.microsoft.com/office/drawing/2014/main" val="2959398699"/>
                  </a:ext>
                </a:extLst>
              </a:tr>
              <a:tr h="202971">
                <a:tc>
                  <a:txBody>
                    <a:bodyPr/>
                    <a:lstStyle/>
                    <a:p>
                      <a:pPr algn="l" fontAlgn="b"/>
                      <a:r>
                        <a:rPr lang="es-AR" sz="1400" u="none" strike="noStrike" dirty="0">
                          <a:effectLst/>
                        </a:rPr>
                        <a:t> </a:t>
                      </a:r>
                      <a:endParaRPr lang="es-AR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s-AR" sz="1400" u="none" strike="noStrike" dirty="0">
                          <a:effectLst/>
                        </a:rPr>
                        <a:t>a </a:t>
                      </a:r>
                      <a:r>
                        <a:rPr lang="es-AR" sz="1400" u="none" strike="noStrike" dirty="0" err="1" smtClean="0">
                          <a:effectLst/>
                        </a:rPr>
                        <a:t>Disp</a:t>
                      </a:r>
                      <a:r>
                        <a:rPr lang="es-AR" sz="1400" u="none" strike="noStrike" dirty="0" smtClean="0">
                          <a:effectLst/>
                        </a:rPr>
                        <a:t> (A)</a:t>
                      </a:r>
                      <a:endParaRPr lang="es-AR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AR" sz="1400" u="none" strike="noStrike" dirty="0">
                          <a:effectLst/>
                        </a:rPr>
                        <a:t> </a:t>
                      </a:r>
                      <a:endParaRPr lang="es-A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AR" sz="1400" u="none" strike="noStrike" dirty="0">
                          <a:effectLst/>
                        </a:rPr>
                        <a:t>$ </a:t>
                      </a:r>
                      <a:r>
                        <a:rPr lang="es-AR" sz="1400" u="none" strike="noStrike" dirty="0" smtClean="0">
                          <a:effectLst/>
                        </a:rPr>
                        <a:t>6.000</a:t>
                      </a:r>
                      <a:endParaRPr lang="es-A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</a:tr>
            </a:tbl>
          </a:graphicData>
        </a:graphic>
      </p:graphicFrame>
      <p:sp>
        <p:nvSpPr>
          <p:cNvPr id="70" name="5 Elipse">
            <a:extLst>
              <a:ext uri="{FF2B5EF4-FFF2-40B4-BE49-F238E27FC236}">
                <a16:creationId xmlns:a16="http://schemas.microsoft.com/office/drawing/2014/main" xmlns="" id="{00000000-0008-0000-0200-000006000000}"/>
              </a:ext>
            </a:extLst>
          </p:cNvPr>
          <p:cNvSpPr/>
          <p:nvPr/>
        </p:nvSpPr>
        <p:spPr>
          <a:xfrm>
            <a:off x="3344361" y="5076325"/>
            <a:ext cx="1279201" cy="1246432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AR" sz="1400" b="1" dirty="0" smtClean="0">
                <a:solidFill>
                  <a:sysClr val="windowText" lastClr="000000"/>
                </a:solidFill>
              </a:rPr>
              <a:t>Adelanto</a:t>
            </a:r>
          </a:p>
          <a:p>
            <a:pPr algn="ctr"/>
            <a:r>
              <a:rPr lang="es-AR" sz="1400" b="1" dirty="0" smtClean="0">
                <a:solidFill>
                  <a:sysClr val="windowText" lastClr="000000"/>
                </a:solidFill>
              </a:rPr>
              <a:t>Al</a:t>
            </a:r>
          </a:p>
          <a:p>
            <a:pPr algn="ctr"/>
            <a:r>
              <a:rPr lang="es-AR" sz="1400" b="1" dirty="0" smtClean="0">
                <a:solidFill>
                  <a:sysClr val="windowText" lastClr="000000"/>
                </a:solidFill>
              </a:rPr>
              <a:t>Personal</a:t>
            </a:r>
            <a:endParaRPr lang="es-AR" sz="1400" b="1" dirty="0">
              <a:solidFill>
                <a:sysClr val="windowText" lastClr="000000"/>
              </a:solidFill>
            </a:endParaRPr>
          </a:p>
        </p:txBody>
      </p:sp>
      <p:sp>
        <p:nvSpPr>
          <p:cNvPr id="71" name="Rectángulo 20">
            <a:extLst>
              <a:ext uri="{FF2B5EF4-FFF2-40B4-BE49-F238E27FC236}">
                <a16:creationId xmlns:a16="http://schemas.microsoft.com/office/drawing/2014/main" xmlns="" id="{0D71CD10-47BB-44FE-BE1A-9731464CAA91}"/>
              </a:ext>
            </a:extLst>
          </p:cNvPr>
          <p:cNvSpPr/>
          <p:nvPr/>
        </p:nvSpPr>
        <p:spPr>
          <a:xfrm>
            <a:off x="9502" y="4996852"/>
            <a:ext cx="91723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 smtClean="0">
                <a:solidFill>
                  <a:srgbClr val="000000"/>
                </a:solidFill>
                <a:latin typeface="Calibri" panose="020F0502020204030204" pitchFamily="34" charset="0"/>
              </a:rPr>
              <a:t>16-4-XX</a:t>
            </a:r>
            <a:endParaRPr lang="es-AR" dirty="0"/>
          </a:p>
        </p:txBody>
      </p:sp>
      <p:sp>
        <p:nvSpPr>
          <p:cNvPr id="73" name="Rectángulo 11">
            <a:extLst>
              <a:ext uri="{FF2B5EF4-FFF2-40B4-BE49-F238E27FC236}">
                <a16:creationId xmlns:a16="http://schemas.microsoft.com/office/drawing/2014/main" xmlns="" id="{7C2A06E2-7006-405B-ABBD-F875D962070E}"/>
              </a:ext>
            </a:extLst>
          </p:cNvPr>
          <p:cNvSpPr/>
          <p:nvPr/>
        </p:nvSpPr>
        <p:spPr>
          <a:xfrm>
            <a:off x="6228184" y="6148042"/>
            <a:ext cx="196813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dirty="0" smtClean="0">
                <a:solidFill>
                  <a:srgbClr val="000000"/>
                </a:solidFill>
                <a:latin typeface="Calibri" panose="020F0502020204030204" pitchFamily="34" charset="0"/>
              </a:rPr>
              <a:t>Sigue </a:t>
            </a:r>
            <a:r>
              <a:rPr lang="es-AR" dirty="0" smtClean="0">
                <a:solidFill>
                  <a:srgbClr val="00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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162397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0" grpId="0" animBg="1"/>
      <p:bldP spid="35" grpId="0" animBg="1"/>
      <p:bldP spid="40" grpId="0"/>
      <p:bldP spid="49" grpId="0"/>
      <p:bldP spid="56" grpId="0" animBg="1"/>
      <p:bldP spid="59" grpId="0"/>
      <p:bldP spid="62" grpId="0" animBg="1"/>
      <p:bldP spid="63" grpId="0"/>
      <p:bldP spid="64" grpId="0" animBg="1"/>
      <p:bldP spid="66" grpId="0"/>
      <p:bldP spid="70" grpId="0" animBg="1"/>
      <p:bldP spid="71" grpId="0"/>
      <p:bldP spid="7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xmlns="" id="{DD7C5540-AFA9-409E-B061-E3CEA4BDABDC}"/>
              </a:ext>
            </a:extLst>
          </p:cNvPr>
          <p:cNvSpPr/>
          <p:nvPr/>
        </p:nvSpPr>
        <p:spPr>
          <a:xfrm>
            <a:off x="605048" y="185960"/>
            <a:ext cx="804971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i="1" dirty="0"/>
              <a:t>El 30-4-XX se devengan los sueldos del mes en $83.000 brutos; Cargas Sociales = 60%; Retenciones = 11%. </a:t>
            </a:r>
            <a:endParaRPr lang="es-AR" dirty="0"/>
          </a:p>
        </p:txBody>
      </p:sp>
      <p:sp>
        <p:nvSpPr>
          <p:cNvPr id="17" name="23 Elipse">
            <a:extLst>
              <a:ext uri="{FF2B5EF4-FFF2-40B4-BE49-F238E27FC236}">
                <a16:creationId xmlns:a16="http://schemas.microsoft.com/office/drawing/2014/main" xmlns="" id="{00000000-0008-0000-0200-000018000000}"/>
              </a:ext>
            </a:extLst>
          </p:cNvPr>
          <p:cNvSpPr/>
          <p:nvPr/>
        </p:nvSpPr>
        <p:spPr>
          <a:xfrm>
            <a:off x="2935676" y="3140968"/>
            <a:ext cx="78413" cy="8958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AR" sz="1800">
              <a:solidFill>
                <a:prstClr val="white"/>
              </a:solidFill>
            </a:endParaRPr>
          </a:p>
        </p:txBody>
      </p:sp>
      <p:cxnSp>
        <p:nvCxnSpPr>
          <p:cNvPr id="18" name="24 Conector recto de flecha">
            <a:extLst>
              <a:ext uri="{FF2B5EF4-FFF2-40B4-BE49-F238E27FC236}">
                <a16:creationId xmlns:a16="http://schemas.microsoft.com/office/drawing/2014/main" xmlns="" id="{00000000-0008-0000-0200-000019000000}"/>
              </a:ext>
            </a:extLst>
          </p:cNvPr>
          <p:cNvCxnSpPr>
            <a:stCxn id="39" idx="3"/>
            <a:endCxn id="17" idx="2"/>
          </p:cNvCxnSpPr>
          <p:nvPr/>
        </p:nvCxnSpPr>
        <p:spPr>
          <a:xfrm flipV="1">
            <a:off x="1641503" y="3185761"/>
            <a:ext cx="1294173" cy="7581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26 Conector recto de flecha">
            <a:extLst>
              <a:ext uri="{FF2B5EF4-FFF2-40B4-BE49-F238E27FC236}">
                <a16:creationId xmlns:a16="http://schemas.microsoft.com/office/drawing/2014/main" xmlns="" id="{00000000-0008-0000-0200-00001B000000}"/>
              </a:ext>
            </a:extLst>
          </p:cNvPr>
          <p:cNvCxnSpPr>
            <a:stCxn id="17" idx="6"/>
            <a:endCxn id="37" idx="2"/>
          </p:cNvCxnSpPr>
          <p:nvPr/>
        </p:nvCxnSpPr>
        <p:spPr>
          <a:xfrm flipV="1">
            <a:off x="3014089" y="3180842"/>
            <a:ext cx="1579633" cy="4919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44 Conector recto de flecha">
            <a:extLst>
              <a:ext uri="{FF2B5EF4-FFF2-40B4-BE49-F238E27FC236}">
                <a16:creationId xmlns:a16="http://schemas.microsoft.com/office/drawing/2014/main" xmlns="" id="{00000000-0008-0000-0200-00002D000000}"/>
              </a:ext>
            </a:extLst>
          </p:cNvPr>
          <p:cNvCxnSpPr>
            <a:cxnSpLocks/>
            <a:stCxn id="47" idx="0"/>
            <a:endCxn id="17" idx="3"/>
          </p:cNvCxnSpPr>
          <p:nvPr/>
        </p:nvCxnSpPr>
        <p:spPr>
          <a:xfrm flipH="1" flipV="1">
            <a:off x="2947159" y="3217434"/>
            <a:ext cx="9017" cy="1984023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ángulo 14">
            <a:extLst>
              <a:ext uri="{FF2B5EF4-FFF2-40B4-BE49-F238E27FC236}">
                <a16:creationId xmlns:a16="http://schemas.microsoft.com/office/drawing/2014/main" xmlns="" id="{28F8C3CF-63F2-4545-B1D3-82F1B8EE9285}"/>
              </a:ext>
            </a:extLst>
          </p:cNvPr>
          <p:cNvSpPr/>
          <p:nvPr/>
        </p:nvSpPr>
        <p:spPr>
          <a:xfrm>
            <a:off x="3120265" y="3805071"/>
            <a:ext cx="8803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solidFill>
                  <a:srgbClr val="000000"/>
                </a:solidFill>
              </a:rPr>
              <a:t>$ </a:t>
            </a:r>
            <a:r>
              <a:rPr lang="es-AR" dirty="0" smtClean="0">
                <a:solidFill>
                  <a:srgbClr val="000000"/>
                </a:solidFill>
              </a:rPr>
              <a:t>9.130</a:t>
            </a:r>
            <a:endParaRPr lang="es-AR" dirty="0">
              <a:solidFill>
                <a:prstClr val="black"/>
              </a:solidFill>
            </a:endParaRPr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xmlns="" id="{0AF4FDF9-540A-4780-B27D-8B2DAA2B17D4}"/>
              </a:ext>
            </a:extLst>
          </p:cNvPr>
          <p:cNvSpPr/>
          <p:nvPr/>
        </p:nvSpPr>
        <p:spPr>
          <a:xfrm>
            <a:off x="1710664" y="2771572"/>
            <a:ext cx="1050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solidFill>
                  <a:srgbClr val="000000"/>
                </a:solidFill>
              </a:rPr>
              <a:t>$ </a:t>
            </a:r>
            <a:r>
              <a:rPr lang="es-AR" dirty="0" smtClean="0">
                <a:solidFill>
                  <a:srgbClr val="000000"/>
                </a:solidFill>
              </a:rPr>
              <a:t>57.870</a:t>
            </a:r>
            <a:r>
              <a:rPr lang="es-AR" dirty="0" smtClean="0">
                <a:solidFill>
                  <a:prstClr val="black"/>
                </a:solidFill>
              </a:rPr>
              <a:t> </a:t>
            </a:r>
            <a:endParaRPr lang="es-AR" dirty="0">
              <a:solidFill>
                <a:prstClr val="black"/>
              </a:solidFill>
            </a:endParaRPr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xmlns="" id="{17704CB6-0361-496C-8BE8-0E849F2FB5A5}"/>
              </a:ext>
            </a:extLst>
          </p:cNvPr>
          <p:cNvSpPr/>
          <p:nvPr/>
        </p:nvSpPr>
        <p:spPr>
          <a:xfrm>
            <a:off x="3261101" y="2817999"/>
            <a:ext cx="9973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solidFill>
                  <a:srgbClr val="000000"/>
                </a:solidFill>
              </a:rPr>
              <a:t>$ </a:t>
            </a:r>
            <a:r>
              <a:rPr lang="es-AR" dirty="0" smtClean="0">
                <a:solidFill>
                  <a:srgbClr val="000000"/>
                </a:solidFill>
              </a:rPr>
              <a:t>83.000</a:t>
            </a:r>
            <a:endParaRPr lang="es-AR" dirty="0">
              <a:solidFill>
                <a:prstClr val="black"/>
              </a:solidFill>
            </a:endParaRPr>
          </a:p>
        </p:txBody>
      </p:sp>
      <p:cxnSp>
        <p:nvCxnSpPr>
          <p:cNvPr id="43" name="53 Conector recto de flecha">
            <a:extLst>
              <a:ext uri="{FF2B5EF4-FFF2-40B4-BE49-F238E27FC236}">
                <a16:creationId xmlns:a16="http://schemas.microsoft.com/office/drawing/2014/main" xmlns="" id="{00000000-0008-0000-0200-000036000000}"/>
              </a:ext>
            </a:extLst>
          </p:cNvPr>
          <p:cNvCxnSpPr>
            <a:stCxn id="36" idx="3"/>
            <a:endCxn id="47" idx="2"/>
          </p:cNvCxnSpPr>
          <p:nvPr/>
        </p:nvCxnSpPr>
        <p:spPr>
          <a:xfrm>
            <a:off x="1652650" y="5246250"/>
            <a:ext cx="1264319" cy="0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3" name="Tabla 52">
            <a:extLst>
              <a:ext uri="{FF2B5EF4-FFF2-40B4-BE49-F238E27FC236}">
                <a16:creationId xmlns:a16="http://schemas.microsoft.com/office/drawing/2014/main" xmlns="" id="{F090687D-0AE3-4ECE-997C-E3CF2668BB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1731815"/>
              </p:ext>
            </p:extLst>
          </p:nvPr>
        </p:nvGraphicFramePr>
        <p:xfrm>
          <a:off x="5812649" y="3045723"/>
          <a:ext cx="3308142" cy="155467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95243">
                  <a:extLst>
                    <a:ext uri="{9D8B030D-6E8A-4147-A177-3AD203B41FA5}">
                      <a16:colId xmlns:a16="http://schemas.microsoft.com/office/drawing/2014/main" xmlns="" val="609204336"/>
                    </a:ext>
                  </a:extLst>
                </a:gridCol>
                <a:gridCol w="595243">
                  <a:extLst>
                    <a:ext uri="{9D8B030D-6E8A-4147-A177-3AD203B41FA5}">
                      <a16:colId xmlns:a16="http://schemas.microsoft.com/office/drawing/2014/main" xmlns="" val="2193348770"/>
                    </a:ext>
                  </a:extLst>
                </a:gridCol>
                <a:gridCol w="927170">
                  <a:extLst>
                    <a:ext uri="{9D8B030D-6E8A-4147-A177-3AD203B41FA5}">
                      <a16:colId xmlns:a16="http://schemas.microsoft.com/office/drawing/2014/main" xmlns="" val="4092774877"/>
                    </a:ext>
                  </a:extLst>
                </a:gridCol>
                <a:gridCol w="595243">
                  <a:extLst>
                    <a:ext uri="{9D8B030D-6E8A-4147-A177-3AD203B41FA5}">
                      <a16:colId xmlns:a16="http://schemas.microsoft.com/office/drawing/2014/main" xmlns="" val="3501325627"/>
                    </a:ext>
                  </a:extLst>
                </a:gridCol>
                <a:gridCol w="595243">
                  <a:extLst>
                    <a:ext uri="{9D8B030D-6E8A-4147-A177-3AD203B41FA5}">
                      <a16:colId xmlns:a16="http://schemas.microsoft.com/office/drawing/2014/main" xmlns="" val="1946522016"/>
                    </a:ext>
                  </a:extLst>
                </a:gridCol>
              </a:tblGrid>
              <a:tr h="302761"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s-AR" sz="1100" u="none" strike="noStrike" dirty="0">
                          <a:effectLst/>
                        </a:rPr>
                        <a:t>Cuentas</a:t>
                      </a:r>
                      <a:endParaRPr lang="es-A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u="none" strike="noStrike">
                          <a:effectLst/>
                        </a:rPr>
                        <a:t>DEBE</a:t>
                      </a:r>
                      <a:endParaRPr lang="es-AR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u="none" strike="noStrike">
                          <a:effectLst/>
                        </a:rPr>
                        <a:t>HABER</a:t>
                      </a:r>
                      <a:endParaRPr lang="es-AR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xmlns="" val="2942187959"/>
                  </a:ext>
                </a:extLst>
              </a:tr>
              <a:tr h="217700">
                <a:tc gridSpan="2">
                  <a:txBody>
                    <a:bodyPr/>
                    <a:lstStyle/>
                    <a:p>
                      <a:pPr algn="l" fontAlgn="b"/>
                      <a:r>
                        <a:rPr lang="es-A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Sueldos  (R-)</a:t>
                      </a:r>
                      <a:endParaRPr lang="es-A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AR" sz="1100" u="none" strike="noStrike" dirty="0">
                          <a:effectLst/>
                        </a:rPr>
                        <a:t> </a:t>
                      </a:r>
                      <a:endParaRPr lang="es-A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AR" sz="1100" u="none" strike="noStrike" dirty="0">
                          <a:effectLst/>
                        </a:rPr>
                        <a:t>$ </a:t>
                      </a:r>
                      <a:r>
                        <a:rPr lang="es-AR" sz="1100" u="none" strike="noStrike" dirty="0" smtClean="0">
                          <a:effectLst/>
                        </a:rPr>
                        <a:t>83.000</a:t>
                      </a:r>
                      <a:endParaRPr lang="es-A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AR" sz="1100" u="none" strike="noStrike" dirty="0">
                          <a:effectLst/>
                        </a:rPr>
                        <a:t> </a:t>
                      </a:r>
                      <a:endParaRPr lang="es-A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xmlns="" val="470263938"/>
                  </a:ext>
                </a:extLst>
              </a:tr>
              <a:tr h="202971">
                <a:tc gridSpan="2">
                  <a:txBody>
                    <a:bodyPr/>
                    <a:lstStyle/>
                    <a:p>
                      <a:pPr algn="l" fontAlgn="b"/>
                      <a:r>
                        <a:rPr lang="es-AR" sz="1100" b="0" u="none" strike="noStrike" dirty="0" smtClean="0">
                          <a:effectLst/>
                        </a:rPr>
                        <a:t>Cargas Sociales (R-)</a:t>
                      </a:r>
                      <a:endParaRPr lang="es-A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AR" sz="1100" u="none" strike="noStrike" dirty="0">
                          <a:effectLst/>
                        </a:rPr>
                        <a:t> </a:t>
                      </a:r>
                      <a:endParaRPr lang="es-A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AR" sz="1100" u="none" strike="noStrike" dirty="0">
                          <a:effectLst/>
                        </a:rPr>
                        <a:t>$ </a:t>
                      </a:r>
                      <a:r>
                        <a:rPr lang="es-AR" sz="1100" u="none" strike="noStrike" dirty="0" smtClean="0">
                          <a:effectLst/>
                        </a:rPr>
                        <a:t>49.800</a:t>
                      </a:r>
                      <a:endParaRPr lang="es-A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AR" sz="1100" u="none" strike="noStrike" dirty="0">
                          <a:effectLst/>
                        </a:rPr>
                        <a:t> </a:t>
                      </a:r>
                      <a:endParaRPr lang="es-A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xmlns="" val="2959398699"/>
                  </a:ext>
                </a:extLst>
              </a:tr>
              <a:tr h="183175">
                <a:tc>
                  <a:txBody>
                    <a:bodyPr/>
                    <a:lstStyle/>
                    <a:p>
                      <a:pPr algn="l" fontAlgn="b"/>
                      <a:r>
                        <a:rPr lang="es-AR" sz="1100" u="none" strike="noStrike" dirty="0">
                          <a:effectLst/>
                        </a:rPr>
                        <a:t> </a:t>
                      </a:r>
                      <a:endParaRPr lang="es-A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s-AR" sz="1100" u="none" strike="noStrike" baseline="0" dirty="0" smtClean="0">
                          <a:effectLst/>
                        </a:rPr>
                        <a:t> a Rem. A Pagar (P)</a:t>
                      </a:r>
                      <a:endParaRPr lang="es-A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AR" sz="1100" u="none" strike="noStrike" dirty="0">
                          <a:effectLst/>
                        </a:rPr>
                        <a:t> </a:t>
                      </a:r>
                      <a:endParaRPr lang="es-A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AR" sz="1100" u="none" strike="noStrike" dirty="0" smtClean="0">
                          <a:effectLst/>
                        </a:rPr>
                        <a:t>$ 57.870</a:t>
                      </a:r>
                      <a:endParaRPr lang="es-A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xmlns="" val="3487063041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algn="l" fontAlgn="b"/>
                      <a:r>
                        <a:rPr lang="es-AR" sz="1100" u="none" strike="noStrike" dirty="0">
                          <a:effectLst/>
                        </a:rPr>
                        <a:t> </a:t>
                      </a:r>
                      <a:endParaRPr lang="es-A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s-AR" sz="1100" u="none" strike="noStrike" baseline="0" dirty="0" smtClean="0">
                          <a:effectLst/>
                        </a:rPr>
                        <a:t>    </a:t>
                      </a:r>
                      <a:r>
                        <a:rPr lang="es-AR" sz="1100" u="none" strike="noStrike" baseline="0" dirty="0" err="1" smtClean="0">
                          <a:effectLst/>
                        </a:rPr>
                        <a:t>Cs.Ss</a:t>
                      </a:r>
                      <a:r>
                        <a:rPr lang="es-AR" sz="1100" u="none" strike="noStrike" baseline="0" dirty="0" smtClean="0">
                          <a:effectLst/>
                        </a:rPr>
                        <a:t>. A Pagar (P)</a:t>
                      </a:r>
                      <a:endParaRPr lang="es-A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AR" sz="1100" u="none" strike="noStrike" dirty="0">
                          <a:effectLst/>
                        </a:rPr>
                        <a:t> </a:t>
                      </a:r>
                      <a:endParaRPr lang="es-A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AR" sz="1100" u="none" strike="noStrike" dirty="0">
                          <a:effectLst/>
                        </a:rPr>
                        <a:t>$ </a:t>
                      </a:r>
                      <a:r>
                        <a:rPr lang="es-AR" sz="1100" u="none" strike="noStrike" dirty="0" smtClean="0">
                          <a:effectLst/>
                        </a:rPr>
                        <a:t>58.930</a:t>
                      </a:r>
                      <a:endParaRPr lang="es-A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xmlns="" val="1866453939"/>
                  </a:ext>
                </a:extLst>
              </a:tr>
              <a:tr h="216024">
                <a:tc>
                  <a:txBody>
                    <a:bodyPr/>
                    <a:lstStyle/>
                    <a:p>
                      <a:pPr algn="l" fontAlgn="b"/>
                      <a:r>
                        <a:rPr lang="es-AR" sz="1100" u="none" strike="noStrike" dirty="0">
                          <a:effectLst/>
                        </a:rPr>
                        <a:t> </a:t>
                      </a:r>
                      <a:endParaRPr lang="es-A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s-AR" sz="1100" u="none" strike="noStrike" baseline="0" dirty="0" smtClean="0">
                          <a:effectLst/>
                        </a:rPr>
                        <a:t>    Adelanto al Personal (A)</a:t>
                      </a:r>
                      <a:endParaRPr lang="es-A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AR" sz="1100" u="none" strike="noStrike" dirty="0">
                          <a:effectLst/>
                        </a:rPr>
                        <a:t> </a:t>
                      </a:r>
                      <a:endParaRPr lang="es-A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AR" sz="1100" u="none" strike="noStrike" dirty="0">
                          <a:effectLst/>
                        </a:rPr>
                        <a:t>$ </a:t>
                      </a:r>
                      <a:r>
                        <a:rPr lang="es-AR" sz="1100" u="none" strike="noStrike" dirty="0" smtClean="0">
                          <a:effectLst/>
                        </a:rPr>
                        <a:t>6.000</a:t>
                      </a:r>
                      <a:endParaRPr lang="es-A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</a:tr>
              <a:tr h="216024">
                <a:tc>
                  <a:txBody>
                    <a:bodyPr/>
                    <a:lstStyle/>
                    <a:p>
                      <a:pPr algn="l" fontAlgn="b"/>
                      <a:r>
                        <a:rPr lang="es-AR" sz="1100" u="none" strike="noStrike" dirty="0">
                          <a:effectLst/>
                        </a:rPr>
                        <a:t> </a:t>
                      </a:r>
                      <a:endParaRPr lang="es-A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s-AR" sz="1100" u="none" strike="noStrike" baseline="0" dirty="0" smtClean="0">
                          <a:effectLst/>
                        </a:rPr>
                        <a:t>    </a:t>
                      </a:r>
                      <a:r>
                        <a:rPr lang="es-AR" sz="1100" u="none" strike="noStrike" baseline="0" dirty="0" err="1" smtClean="0">
                          <a:effectLst/>
                        </a:rPr>
                        <a:t>Prest.al</a:t>
                      </a:r>
                      <a:r>
                        <a:rPr lang="es-AR" sz="1100" u="none" strike="noStrike" baseline="0" dirty="0" smtClean="0">
                          <a:effectLst/>
                        </a:rPr>
                        <a:t> Personal (A)</a:t>
                      </a:r>
                      <a:endParaRPr lang="es-A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AR" sz="1100" u="none" strike="noStrike" dirty="0">
                          <a:effectLst/>
                        </a:rPr>
                        <a:t> </a:t>
                      </a:r>
                      <a:endParaRPr lang="es-A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AR" sz="1100" u="none" strike="noStrike" dirty="0">
                          <a:effectLst/>
                        </a:rPr>
                        <a:t>$ </a:t>
                      </a:r>
                      <a:r>
                        <a:rPr lang="es-AR" sz="1100" u="none" strike="noStrike" dirty="0" smtClean="0">
                          <a:effectLst/>
                        </a:rPr>
                        <a:t>10.000</a:t>
                      </a:r>
                      <a:endParaRPr lang="es-A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</a:tr>
            </a:tbl>
          </a:graphicData>
        </a:graphic>
      </p:graphicFrame>
      <p:sp>
        <p:nvSpPr>
          <p:cNvPr id="48" name="Rectángulo 13">
            <a:extLst>
              <a:ext uri="{FF2B5EF4-FFF2-40B4-BE49-F238E27FC236}">
                <a16:creationId xmlns:a16="http://schemas.microsoft.com/office/drawing/2014/main" xmlns="" id="{0F053224-57B6-4424-99E8-036B94CE3A3B}"/>
              </a:ext>
            </a:extLst>
          </p:cNvPr>
          <p:cNvSpPr/>
          <p:nvPr/>
        </p:nvSpPr>
        <p:spPr>
          <a:xfrm>
            <a:off x="4846944" y="2969421"/>
            <a:ext cx="100682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dirty="0" smtClean="0">
                <a:solidFill>
                  <a:srgbClr val="000000"/>
                </a:solidFill>
              </a:rPr>
              <a:t>Sueldos </a:t>
            </a:r>
            <a:endParaRPr lang="es-AR" dirty="0">
              <a:solidFill>
                <a:prstClr val="black"/>
              </a:solidFill>
            </a:endParaRPr>
          </a:p>
        </p:txBody>
      </p:sp>
      <p:sp>
        <p:nvSpPr>
          <p:cNvPr id="50" name="Rectángulo 13">
            <a:extLst>
              <a:ext uri="{FF2B5EF4-FFF2-40B4-BE49-F238E27FC236}">
                <a16:creationId xmlns:a16="http://schemas.microsoft.com/office/drawing/2014/main" xmlns="" id="{0F053224-57B6-4424-99E8-036B94CE3A3B}"/>
              </a:ext>
            </a:extLst>
          </p:cNvPr>
          <p:cNvSpPr/>
          <p:nvPr/>
        </p:nvSpPr>
        <p:spPr>
          <a:xfrm>
            <a:off x="1846480" y="4830403"/>
            <a:ext cx="9973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solidFill>
                  <a:srgbClr val="000000"/>
                </a:solidFill>
              </a:rPr>
              <a:t>$ </a:t>
            </a:r>
            <a:r>
              <a:rPr lang="es-AR" dirty="0" smtClean="0">
                <a:solidFill>
                  <a:srgbClr val="000000"/>
                </a:solidFill>
              </a:rPr>
              <a:t>58.930</a:t>
            </a:r>
            <a:endParaRPr lang="es-AR" dirty="0">
              <a:solidFill>
                <a:prstClr val="black"/>
              </a:solidFill>
            </a:endParaRPr>
          </a:p>
        </p:txBody>
      </p:sp>
      <p:sp>
        <p:nvSpPr>
          <p:cNvPr id="51" name="Rectángulo 13">
            <a:extLst>
              <a:ext uri="{FF2B5EF4-FFF2-40B4-BE49-F238E27FC236}">
                <a16:creationId xmlns:a16="http://schemas.microsoft.com/office/drawing/2014/main" xmlns="" id="{0F053224-57B6-4424-99E8-036B94CE3A3B}"/>
              </a:ext>
            </a:extLst>
          </p:cNvPr>
          <p:cNvSpPr/>
          <p:nvPr/>
        </p:nvSpPr>
        <p:spPr>
          <a:xfrm>
            <a:off x="3332313" y="4789869"/>
            <a:ext cx="9973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solidFill>
                  <a:srgbClr val="000000"/>
                </a:solidFill>
              </a:rPr>
              <a:t>$ </a:t>
            </a:r>
            <a:r>
              <a:rPr lang="es-AR" dirty="0" smtClean="0">
                <a:solidFill>
                  <a:srgbClr val="000000"/>
                </a:solidFill>
              </a:rPr>
              <a:t>49.800</a:t>
            </a:r>
            <a:endParaRPr lang="es-AR" dirty="0">
              <a:solidFill>
                <a:prstClr val="black"/>
              </a:solidFill>
            </a:endParaRPr>
          </a:p>
        </p:txBody>
      </p:sp>
      <p:sp>
        <p:nvSpPr>
          <p:cNvPr id="57" name="Rectángulo 13">
            <a:extLst>
              <a:ext uri="{FF2B5EF4-FFF2-40B4-BE49-F238E27FC236}">
                <a16:creationId xmlns:a16="http://schemas.microsoft.com/office/drawing/2014/main" xmlns="" id="{0F053224-57B6-4424-99E8-036B94CE3A3B}"/>
              </a:ext>
            </a:extLst>
          </p:cNvPr>
          <p:cNvSpPr/>
          <p:nvPr/>
        </p:nvSpPr>
        <p:spPr>
          <a:xfrm>
            <a:off x="4281819" y="5414594"/>
            <a:ext cx="13260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solidFill>
                  <a:srgbClr val="000000"/>
                </a:solidFill>
              </a:rPr>
              <a:t>$ </a:t>
            </a:r>
            <a:r>
              <a:rPr lang="es-AR" sz="1400" dirty="0" smtClean="0">
                <a:solidFill>
                  <a:srgbClr val="000000"/>
                </a:solidFill>
              </a:rPr>
              <a:t>83.000 x 60%</a:t>
            </a:r>
            <a:endParaRPr lang="es-AR" sz="1400" dirty="0">
              <a:solidFill>
                <a:prstClr val="black"/>
              </a:solidFill>
            </a:endParaRPr>
          </a:p>
        </p:txBody>
      </p:sp>
      <p:sp>
        <p:nvSpPr>
          <p:cNvPr id="61" name="Rectángulo 13">
            <a:extLst>
              <a:ext uri="{FF2B5EF4-FFF2-40B4-BE49-F238E27FC236}">
                <a16:creationId xmlns:a16="http://schemas.microsoft.com/office/drawing/2014/main" xmlns="" id="{0F053224-57B6-4424-99E8-036B94CE3A3B}"/>
              </a:ext>
            </a:extLst>
          </p:cNvPr>
          <p:cNvSpPr/>
          <p:nvPr/>
        </p:nvSpPr>
        <p:spPr>
          <a:xfrm>
            <a:off x="0" y="1705827"/>
            <a:ext cx="221246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solidFill>
                  <a:srgbClr val="000000"/>
                </a:solidFill>
              </a:rPr>
              <a:t>$ </a:t>
            </a:r>
            <a:r>
              <a:rPr lang="es-AR" sz="1400" dirty="0" smtClean="0">
                <a:solidFill>
                  <a:srgbClr val="000000"/>
                </a:solidFill>
              </a:rPr>
              <a:t>83.000 x  (1-11%) - 16000</a:t>
            </a:r>
            <a:endParaRPr lang="es-AR" sz="1400" dirty="0">
              <a:solidFill>
                <a:prstClr val="black"/>
              </a:solidFill>
            </a:endParaRPr>
          </a:p>
        </p:txBody>
      </p:sp>
      <p:sp>
        <p:nvSpPr>
          <p:cNvPr id="36" name="39 Rectángulo">
            <a:extLst>
              <a:ext uri="{FF2B5EF4-FFF2-40B4-BE49-F238E27FC236}">
                <a16:creationId xmlns:a16="http://schemas.microsoft.com/office/drawing/2014/main" xmlns="" id="{00000000-0008-0000-0200-000028000000}"/>
              </a:ext>
            </a:extLst>
          </p:cNvPr>
          <p:cNvSpPr/>
          <p:nvPr/>
        </p:nvSpPr>
        <p:spPr>
          <a:xfrm>
            <a:off x="781395" y="4312145"/>
            <a:ext cx="871255" cy="1868210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AR" sz="1600" b="1" dirty="0" err="1" smtClean="0">
                <a:solidFill>
                  <a:sysClr val="windowText" lastClr="000000"/>
                </a:solidFill>
              </a:rPr>
              <a:t>Cs.Ss</a:t>
            </a:r>
            <a:r>
              <a:rPr lang="es-AR" sz="1600" b="1" dirty="0" smtClean="0">
                <a:solidFill>
                  <a:sysClr val="windowText" lastClr="000000"/>
                </a:solidFill>
              </a:rPr>
              <a:t>.</a:t>
            </a:r>
          </a:p>
          <a:p>
            <a:pPr algn="ctr"/>
            <a:r>
              <a:rPr lang="es-AR" sz="1600" b="1" dirty="0" smtClean="0">
                <a:solidFill>
                  <a:sysClr val="windowText" lastClr="000000"/>
                </a:solidFill>
              </a:rPr>
              <a:t>a</a:t>
            </a:r>
          </a:p>
          <a:p>
            <a:pPr algn="ctr"/>
            <a:r>
              <a:rPr lang="es-AR" sz="1600" b="1" dirty="0" smtClean="0">
                <a:solidFill>
                  <a:sysClr val="windowText" lastClr="000000"/>
                </a:solidFill>
              </a:rPr>
              <a:t>Pagar</a:t>
            </a:r>
          </a:p>
        </p:txBody>
      </p:sp>
      <p:sp>
        <p:nvSpPr>
          <p:cNvPr id="37" name="52 Elipse">
            <a:extLst>
              <a:ext uri="{FF2B5EF4-FFF2-40B4-BE49-F238E27FC236}">
                <a16:creationId xmlns:a16="http://schemas.microsoft.com/office/drawing/2014/main" xmlns="" id="{00000000-0008-0000-0200-000035000000}"/>
              </a:ext>
            </a:extLst>
          </p:cNvPr>
          <p:cNvSpPr/>
          <p:nvPr/>
        </p:nvSpPr>
        <p:spPr>
          <a:xfrm>
            <a:off x="4593722" y="3030098"/>
            <a:ext cx="234065" cy="301488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AR" sz="1800"/>
          </a:p>
        </p:txBody>
      </p:sp>
      <p:sp>
        <p:nvSpPr>
          <p:cNvPr id="39" name="39 Rectángulo">
            <a:extLst>
              <a:ext uri="{FF2B5EF4-FFF2-40B4-BE49-F238E27FC236}">
                <a16:creationId xmlns:a16="http://schemas.microsoft.com/office/drawing/2014/main" xmlns="" id="{00000000-0008-0000-0200-000028000000}"/>
              </a:ext>
            </a:extLst>
          </p:cNvPr>
          <p:cNvSpPr/>
          <p:nvPr/>
        </p:nvSpPr>
        <p:spPr>
          <a:xfrm>
            <a:off x="770248" y="2259237"/>
            <a:ext cx="871255" cy="1868210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AR" sz="1600" b="1" dirty="0" smtClean="0">
                <a:solidFill>
                  <a:sysClr val="windowText" lastClr="000000"/>
                </a:solidFill>
              </a:rPr>
              <a:t>Rem. </a:t>
            </a:r>
          </a:p>
          <a:p>
            <a:pPr algn="ctr"/>
            <a:r>
              <a:rPr lang="es-AR" sz="1600" b="1" dirty="0">
                <a:solidFill>
                  <a:sysClr val="windowText" lastClr="000000"/>
                </a:solidFill>
              </a:rPr>
              <a:t>a</a:t>
            </a:r>
            <a:r>
              <a:rPr lang="es-AR" sz="1600" b="1" dirty="0" smtClean="0">
                <a:solidFill>
                  <a:sysClr val="windowText" lastClr="000000"/>
                </a:solidFill>
              </a:rPr>
              <a:t> </a:t>
            </a:r>
          </a:p>
          <a:p>
            <a:pPr algn="ctr"/>
            <a:r>
              <a:rPr lang="es-AR" sz="1600" b="1" dirty="0" smtClean="0">
                <a:solidFill>
                  <a:sysClr val="windowText" lastClr="000000"/>
                </a:solidFill>
              </a:rPr>
              <a:t>Pagar</a:t>
            </a:r>
            <a:endParaRPr lang="es-AR" sz="1600" b="1" dirty="0">
              <a:solidFill>
                <a:sysClr val="windowText" lastClr="000000"/>
              </a:solidFill>
            </a:endParaRPr>
          </a:p>
        </p:txBody>
      </p:sp>
      <p:sp>
        <p:nvSpPr>
          <p:cNvPr id="47" name="23 Elipse">
            <a:extLst>
              <a:ext uri="{FF2B5EF4-FFF2-40B4-BE49-F238E27FC236}">
                <a16:creationId xmlns:a16="http://schemas.microsoft.com/office/drawing/2014/main" xmlns="" id="{00000000-0008-0000-0200-000018000000}"/>
              </a:ext>
            </a:extLst>
          </p:cNvPr>
          <p:cNvSpPr/>
          <p:nvPr/>
        </p:nvSpPr>
        <p:spPr>
          <a:xfrm>
            <a:off x="2916969" y="5201457"/>
            <a:ext cx="78413" cy="8958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AR" sz="1800">
              <a:solidFill>
                <a:prstClr val="white"/>
              </a:solidFill>
            </a:endParaRPr>
          </a:p>
        </p:txBody>
      </p:sp>
      <p:cxnSp>
        <p:nvCxnSpPr>
          <p:cNvPr id="52" name="26 Conector recto de flecha">
            <a:extLst>
              <a:ext uri="{FF2B5EF4-FFF2-40B4-BE49-F238E27FC236}">
                <a16:creationId xmlns:a16="http://schemas.microsoft.com/office/drawing/2014/main" xmlns="" id="{00000000-0008-0000-0200-00001B000000}"/>
              </a:ext>
            </a:extLst>
          </p:cNvPr>
          <p:cNvCxnSpPr>
            <a:stCxn id="47" idx="6"/>
            <a:endCxn id="55" idx="2"/>
          </p:cNvCxnSpPr>
          <p:nvPr/>
        </p:nvCxnSpPr>
        <p:spPr>
          <a:xfrm flipV="1">
            <a:off x="2995382" y="5246249"/>
            <a:ext cx="1671253" cy="1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52 Elipse">
            <a:extLst>
              <a:ext uri="{FF2B5EF4-FFF2-40B4-BE49-F238E27FC236}">
                <a16:creationId xmlns:a16="http://schemas.microsoft.com/office/drawing/2014/main" xmlns="" id="{00000000-0008-0000-0200-000035000000}"/>
              </a:ext>
            </a:extLst>
          </p:cNvPr>
          <p:cNvSpPr/>
          <p:nvPr/>
        </p:nvSpPr>
        <p:spPr>
          <a:xfrm>
            <a:off x="4666635" y="5095505"/>
            <a:ext cx="234065" cy="301488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AR" sz="1800"/>
          </a:p>
        </p:txBody>
      </p:sp>
      <p:sp>
        <p:nvSpPr>
          <p:cNvPr id="67" name="Rectángulo 13">
            <a:extLst>
              <a:ext uri="{FF2B5EF4-FFF2-40B4-BE49-F238E27FC236}">
                <a16:creationId xmlns:a16="http://schemas.microsoft.com/office/drawing/2014/main" xmlns="" id="{0F053224-57B6-4424-99E8-036B94CE3A3B}"/>
              </a:ext>
            </a:extLst>
          </p:cNvPr>
          <p:cNvSpPr/>
          <p:nvPr/>
        </p:nvSpPr>
        <p:spPr>
          <a:xfrm>
            <a:off x="4964838" y="4969121"/>
            <a:ext cx="169562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dirty="0" smtClean="0">
                <a:solidFill>
                  <a:srgbClr val="000000"/>
                </a:solidFill>
              </a:rPr>
              <a:t>Cargas Sociales</a:t>
            </a:r>
            <a:endParaRPr lang="es-AR" dirty="0">
              <a:solidFill>
                <a:prstClr val="black"/>
              </a:solidFill>
            </a:endParaRPr>
          </a:p>
        </p:txBody>
      </p:sp>
      <p:sp>
        <p:nvSpPr>
          <p:cNvPr id="68" name="Rectángulo 13">
            <a:extLst>
              <a:ext uri="{FF2B5EF4-FFF2-40B4-BE49-F238E27FC236}">
                <a16:creationId xmlns:a16="http://schemas.microsoft.com/office/drawing/2014/main" xmlns="" id="{0F053224-57B6-4424-99E8-036B94CE3A3B}"/>
              </a:ext>
            </a:extLst>
          </p:cNvPr>
          <p:cNvSpPr/>
          <p:nvPr/>
        </p:nvSpPr>
        <p:spPr>
          <a:xfrm>
            <a:off x="533510" y="6314550"/>
            <a:ext cx="19159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solidFill>
                  <a:srgbClr val="000000"/>
                </a:solidFill>
              </a:rPr>
              <a:t>$ </a:t>
            </a:r>
            <a:r>
              <a:rPr lang="es-AR" sz="1400" dirty="0" smtClean="0">
                <a:solidFill>
                  <a:srgbClr val="000000"/>
                </a:solidFill>
              </a:rPr>
              <a:t>83.000 x (60% + 11%)</a:t>
            </a:r>
            <a:endParaRPr lang="es-AR" sz="1400" dirty="0">
              <a:solidFill>
                <a:prstClr val="black"/>
              </a:solidFill>
            </a:endParaRPr>
          </a:p>
        </p:txBody>
      </p:sp>
      <p:cxnSp>
        <p:nvCxnSpPr>
          <p:cNvPr id="26" name="8 Conector recto de flecha">
            <a:extLst>
              <a:ext uri="{FF2B5EF4-FFF2-40B4-BE49-F238E27FC236}">
                <a16:creationId xmlns:a16="http://schemas.microsoft.com/office/drawing/2014/main" xmlns="" id="{00000000-0008-0000-0200-000009000000}"/>
              </a:ext>
            </a:extLst>
          </p:cNvPr>
          <p:cNvCxnSpPr>
            <a:stCxn id="28" idx="4"/>
            <a:endCxn id="17" idx="1"/>
          </p:cNvCxnSpPr>
          <p:nvPr/>
        </p:nvCxnSpPr>
        <p:spPr>
          <a:xfrm>
            <a:off x="2528323" y="2006595"/>
            <a:ext cx="418836" cy="1147492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ángulo 20">
            <a:extLst>
              <a:ext uri="{FF2B5EF4-FFF2-40B4-BE49-F238E27FC236}">
                <a16:creationId xmlns:a16="http://schemas.microsoft.com/office/drawing/2014/main" xmlns="" id="{0D71CD10-47BB-44FE-BE1A-9731464CAA91}"/>
              </a:ext>
            </a:extLst>
          </p:cNvPr>
          <p:cNvSpPr/>
          <p:nvPr/>
        </p:nvSpPr>
        <p:spPr>
          <a:xfrm>
            <a:off x="3924814" y="2210912"/>
            <a:ext cx="1050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solidFill>
                  <a:srgbClr val="000000"/>
                </a:solidFill>
                <a:latin typeface="Calibri" panose="020F0502020204030204" pitchFamily="34" charset="0"/>
              </a:rPr>
              <a:t>$ 1</a:t>
            </a:r>
            <a:r>
              <a:rPr lang="es-AR" dirty="0" smtClean="0">
                <a:solidFill>
                  <a:srgbClr val="000000"/>
                </a:solidFill>
                <a:latin typeface="Calibri" panose="020F0502020204030204" pitchFamily="34" charset="0"/>
              </a:rPr>
              <a:t>0.000</a:t>
            </a:r>
            <a:r>
              <a:rPr lang="es-AR" dirty="0" smtClean="0"/>
              <a:t> </a:t>
            </a:r>
            <a:endParaRPr lang="es-AR" dirty="0"/>
          </a:p>
        </p:txBody>
      </p:sp>
      <p:sp>
        <p:nvSpPr>
          <p:cNvPr id="28" name="5 Elipse">
            <a:extLst>
              <a:ext uri="{FF2B5EF4-FFF2-40B4-BE49-F238E27FC236}">
                <a16:creationId xmlns:a16="http://schemas.microsoft.com/office/drawing/2014/main" xmlns="" id="{00000000-0008-0000-0200-000006000000}"/>
              </a:ext>
            </a:extLst>
          </p:cNvPr>
          <p:cNvSpPr/>
          <p:nvPr/>
        </p:nvSpPr>
        <p:spPr>
          <a:xfrm>
            <a:off x="1936380" y="760163"/>
            <a:ext cx="1183885" cy="1246432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AR" sz="1400" b="1" dirty="0" smtClean="0">
                <a:solidFill>
                  <a:sysClr val="windowText" lastClr="000000"/>
                </a:solidFill>
              </a:rPr>
              <a:t>Adelanto</a:t>
            </a:r>
          </a:p>
          <a:p>
            <a:pPr algn="ctr"/>
            <a:r>
              <a:rPr lang="es-AR" sz="1400" b="1" dirty="0" smtClean="0">
                <a:solidFill>
                  <a:sysClr val="windowText" lastClr="000000"/>
                </a:solidFill>
              </a:rPr>
              <a:t>Al</a:t>
            </a:r>
          </a:p>
          <a:p>
            <a:pPr algn="ctr"/>
            <a:r>
              <a:rPr lang="es-AR" sz="1400" b="1" dirty="0" smtClean="0">
                <a:solidFill>
                  <a:sysClr val="windowText" lastClr="000000"/>
                </a:solidFill>
              </a:rPr>
              <a:t>Personal</a:t>
            </a:r>
            <a:endParaRPr lang="es-AR" sz="1400" b="1" dirty="0">
              <a:solidFill>
                <a:sysClr val="windowText" lastClr="000000"/>
              </a:solidFill>
            </a:endParaRPr>
          </a:p>
        </p:txBody>
      </p:sp>
      <p:cxnSp>
        <p:nvCxnSpPr>
          <p:cNvPr id="29" name="8 Conector recto de flecha">
            <a:extLst>
              <a:ext uri="{FF2B5EF4-FFF2-40B4-BE49-F238E27FC236}">
                <a16:creationId xmlns:a16="http://schemas.microsoft.com/office/drawing/2014/main" xmlns="" id="{00000000-0008-0000-0200-000009000000}"/>
              </a:ext>
            </a:extLst>
          </p:cNvPr>
          <p:cNvCxnSpPr>
            <a:stCxn id="35" idx="3"/>
            <a:endCxn id="17" idx="2"/>
          </p:cNvCxnSpPr>
          <p:nvPr/>
        </p:nvCxnSpPr>
        <p:spPr>
          <a:xfrm flipH="1">
            <a:off x="2935676" y="1824059"/>
            <a:ext cx="1322814" cy="1361702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ángulo 20">
            <a:extLst>
              <a:ext uri="{FF2B5EF4-FFF2-40B4-BE49-F238E27FC236}">
                <a16:creationId xmlns:a16="http://schemas.microsoft.com/office/drawing/2014/main" xmlns="" id="{0D71CD10-47BB-44FE-BE1A-9731464CAA91}"/>
              </a:ext>
            </a:extLst>
          </p:cNvPr>
          <p:cNvSpPr/>
          <p:nvPr/>
        </p:nvSpPr>
        <p:spPr>
          <a:xfrm>
            <a:off x="2650838" y="2074571"/>
            <a:ext cx="9332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solidFill>
                  <a:srgbClr val="000000"/>
                </a:solidFill>
                <a:latin typeface="Calibri" panose="020F0502020204030204" pitchFamily="34" charset="0"/>
              </a:rPr>
              <a:t>$ 6</a:t>
            </a:r>
            <a:r>
              <a:rPr lang="es-AR" dirty="0" smtClean="0">
                <a:solidFill>
                  <a:srgbClr val="000000"/>
                </a:solidFill>
                <a:latin typeface="Calibri" panose="020F0502020204030204" pitchFamily="34" charset="0"/>
              </a:rPr>
              <a:t>.000</a:t>
            </a:r>
            <a:r>
              <a:rPr lang="es-AR" dirty="0" smtClean="0"/>
              <a:t> </a:t>
            </a:r>
            <a:endParaRPr lang="es-AR" dirty="0"/>
          </a:p>
        </p:txBody>
      </p:sp>
      <p:sp>
        <p:nvSpPr>
          <p:cNvPr id="35" name="5 Elipse">
            <a:extLst>
              <a:ext uri="{FF2B5EF4-FFF2-40B4-BE49-F238E27FC236}">
                <a16:creationId xmlns:a16="http://schemas.microsoft.com/office/drawing/2014/main" xmlns="" id="{00000000-0008-0000-0200-000006000000}"/>
              </a:ext>
            </a:extLst>
          </p:cNvPr>
          <p:cNvSpPr/>
          <p:nvPr/>
        </p:nvSpPr>
        <p:spPr>
          <a:xfrm>
            <a:off x="4071155" y="760163"/>
            <a:ext cx="1279201" cy="1246432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AR" sz="1400" b="1" dirty="0" err="1" smtClean="0">
                <a:solidFill>
                  <a:sysClr val="windowText" lastClr="000000"/>
                </a:solidFill>
              </a:rPr>
              <a:t>Prestamo</a:t>
            </a:r>
            <a:endParaRPr lang="es-AR" sz="1400" b="1" dirty="0" smtClean="0">
              <a:solidFill>
                <a:sysClr val="windowText" lastClr="000000"/>
              </a:solidFill>
            </a:endParaRPr>
          </a:p>
          <a:p>
            <a:pPr algn="ctr"/>
            <a:r>
              <a:rPr lang="es-AR" sz="1400" b="1" dirty="0" smtClean="0">
                <a:solidFill>
                  <a:sysClr val="windowText" lastClr="000000"/>
                </a:solidFill>
              </a:rPr>
              <a:t>Al</a:t>
            </a:r>
          </a:p>
          <a:p>
            <a:pPr algn="ctr"/>
            <a:r>
              <a:rPr lang="es-AR" sz="1400" b="1" dirty="0" smtClean="0">
                <a:solidFill>
                  <a:sysClr val="windowText" lastClr="000000"/>
                </a:solidFill>
              </a:rPr>
              <a:t>Personal</a:t>
            </a:r>
            <a:endParaRPr lang="es-AR" sz="1400" b="1" dirty="0">
              <a:solidFill>
                <a:sysClr val="windowText" lastClr="000000"/>
              </a:solidFill>
            </a:endParaRPr>
          </a:p>
        </p:txBody>
      </p:sp>
      <p:sp>
        <p:nvSpPr>
          <p:cNvPr id="54" name="Rectángulo 13">
            <a:extLst>
              <a:ext uri="{FF2B5EF4-FFF2-40B4-BE49-F238E27FC236}">
                <a16:creationId xmlns:a16="http://schemas.microsoft.com/office/drawing/2014/main" xmlns="" id="{0F053224-57B6-4424-99E8-036B94CE3A3B}"/>
              </a:ext>
            </a:extLst>
          </p:cNvPr>
          <p:cNvSpPr/>
          <p:nvPr/>
        </p:nvSpPr>
        <p:spPr>
          <a:xfrm>
            <a:off x="5350356" y="760163"/>
            <a:ext cx="17325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solidFill>
                  <a:srgbClr val="000000"/>
                </a:solidFill>
              </a:rPr>
              <a:t>$ </a:t>
            </a:r>
            <a:r>
              <a:rPr lang="es-AR" sz="1400" dirty="0" smtClean="0">
                <a:solidFill>
                  <a:srgbClr val="000000"/>
                </a:solidFill>
              </a:rPr>
              <a:t>30.000 en 3 cuotas</a:t>
            </a:r>
            <a:endParaRPr lang="es-AR" sz="14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1309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7" grpId="0" animBg="1"/>
      <p:bldP spid="15" grpId="0"/>
      <p:bldP spid="33" grpId="0"/>
      <p:bldP spid="34" grpId="0"/>
      <p:bldP spid="48" grpId="0"/>
      <p:bldP spid="50" grpId="0"/>
      <p:bldP spid="51" grpId="0"/>
      <p:bldP spid="57" grpId="0"/>
      <p:bldP spid="61" grpId="0"/>
      <p:bldP spid="36" grpId="0" animBg="1"/>
      <p:bldP spid="37" grpId="0" animBg="1"/>
      <p:bldP spid="39" grpId="0" animBg="1"/>
      <p:bldP spid="47" grpId="0" animBg="1"/>
      <p:bldP spid="55" grpId="0" animBg="1"/>
      <p:bldP spid="67" grpId="0"/>
      <p:bldP spid="68" grpId="0"/>
      <p:bldP spid="27" grpId="0"/>
      <p:bldP spid="28" grpId="0" animBg="1"/>
      <p:bldP spid="30" grpId="0"/>
      <p:bldP spid="35" grpId="0" animBg="1"/>
      <p:bldP spid="5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xmlns="" id="{DD7C5540-AFA9-409E-B061-E3CEA4BDABDC}"/>
              </a:ext>
            </a:extLst>
          </p:cNvPr>
          <p:cNvSpPr/>
          <p:nvPr/>
        </p:nvSpPr>
        <p:spPr>
          <a:xfrm>
            <a:off x="605048" y="185960"/>
            <a:ext cx="8049718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600" i="1" u="sng" dirty="0"/>
              <a:t>Ejemplo 4.9.1</a:t>
            </a:r>
            <a:r>
              <a:rPr lang="es-AR" sz="1600" i="1" dirty="0"/>
              <a:t>: </a:t>
            </a:r>
            <a:endParaRPr lang="es-AR" sz="1600" dirty="0"/>
          </a:p>
          <a:p>
            <a:r>
              <a:rPr lang="es-AR" sz="1600" i="1" dirty="0"/>
              <a:t>Una empresa analiza cuidadosamente su cartera de créditos y verifica un grado de incobrabilidad de su cartera de clientes equivalente a $85.000. Decide constituir una previsión por incobrables con ese monto.</a:t>
            </a:r>
            <a:endParaRPr lang="es-AR" sz="1600" dirty="0"/>
          </a:p>
          <a:p>
            <a:r>
              <a:rPr lang="es-AR" sz="1600" i="1" dirty="0"/>
              <a:t>Tres meses después la empresa determina $87.000 de facturas de clientes como definitivamente incobrables, los que carga contra la Previsión constituida a tales efectos. El saldo de la Previsión no será utilizado en el futuro por considerarse excesivo.</a:t>
            </a:r>
            <a:endParaRPr lang="es-AR" sz="1600" dirty="0"/>
          </a:p>
        </p:txBody>
      </p:sp>
      <p:graphicFrame>
        <p:nvGraphicFramePr>
          <p:cNvPr id="53" name="Tabla 52">
            <a:extLst>
              <a:ext uri="{FF2B5EF4-FFF2-40B4-BE49-F238E27FC236}">
                <a16:creationId xmlns:a16="http://schemas.microsoft.com/office/drawing/2014/main" xmlns="" id="{F090687D-0AE3-4ECE-997C-E3CF2668BB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5132870"/>
              </p:ext>
            </p:extLst>
          </p:nvPr>
        </p:nvGraphicFramePr>
        <p:xfrm>
          <a:off x="5071266" y="2409652"/>
          <a:ext cx="3583500" cy="72948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1196">
                  <a:extLst>
                    <a:ext uri="{9D8B030D-6E8A-4147-A177-3AD203B41FA5}">
                      <a16:colId xmlns:a16="http://schemas.microsoft.com/office/drawing/2014/main" xmlns="" val="609204336"/>
                    </a:ext>
                  </a:extLst>
                </a:gridCol>
                <a:gridCol w="783076">
                  <a:extLst>
                    <a:ext uri="{9D8B030D-6E8A-4147-A177-3AD203B41FA5}">
                      <a16:colId xmlns:a16="http://schemas.microsoft.com/office/drawing/2014/main" xmlns="" val="2193348770"/>
                    </a:ext>
                  </a:extLst>
                </a:gridCol>
                <a:gridCol w="783076">
                  <a:extLst>
                    <a:ext uri="{9D8B030D-6E8A-4147-A177-3AD203B41FA5}">
                      <a16:colId xmlns:a16="http://schemas.microsoft.com/office/drawing/2014/main" xmlns="" val="4092774877"/>
                    </a:ext>
                  </a:extLst>
                </a:gridCol>
                <a:gridCol w="783076">
                  <a:extLst>
                    <a:ext uri="{9D8B030D-6E8A-4147-A177-3AD203B41FA5}">
                      <a16:colId xmlns:a16="http://schemas.microsoft.com/office/drawing/2014/main" xmlns="" val="3501325627"/>
                    </a:ext>
                  </a:extLst>
                </a:gridCol>
                <a:gridCol w="783076">
                  <a:extLst>
                    <a:ext uri="{9D8B030D-6E8A-4147-A177-3AD203B41FA5}">
                      <a16:colId xmlns:a16="http://schemas.microsoft.com/office/drawing/2014/main" xmlns="" val="1946522016"/>
                    </a:ext>
                  </a:extLst>
                </a:gridCol>
              </a:tblGrid>
              <a:tr h="302761"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s-AR" sz="1400" u="none" strike="noStrike" dirty="0">
                          <a:effectLst/>
                        </a:rPr>
                        <a:t>Cuentas</a:t>
                      </a:r>
                      <a:endParaRPr lang="es-AR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400" u="none" strike="noStrike">
                          <a:effectLst/>
                        </a:rPr>
                        <a:t>DEBE</a:t>
                      </a:r>
                      <a:endParaRPr lang="es-AR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400" u="none" strike="noStrike">
                          <a:effectLst/>
                        </a:rPr>
                        <a:t>HABER</a:t>
                      </a:r>
                      <a:endParaRPr lang="es-AR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xmlns="" val="2942187959"/>
                  </a:ext>
                </a:extLst>
              </a:tr>
              <a:tr h="202971">
                <a:tc gridSpan="2">
                  <a:txBody>
                    <a:bodyPr/>
                    <a:lstStyle/>
                    <a:p>
                      <a:pPr algn="l" fontAlgn="b"/>
                      <a:r>
                        <a:rPr lang="es-AR" sz="1400" b="0" i="0" u="none" strike="noStrike" baseline="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Quebrantos(R-)</a:t>
                      </a:r>
                    </a:p>
                  </a:txBody>
                  <a:tcPr marL="0" marR="0" marT="0" marB="0" anchor="b"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AR" sz="1400" u="none" strike="noStrike" dirty="0">
                          <a:effectLst/>
                        </a:rPr>
                        <a:t> </a:t>
                      </a:r>
                      <a:endParaRPr lang="es-AR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AR" sz="1400" u="none" strike="noStrike" dirty="0" smtClean="0">
                          <a:effectLst/>
                        </a:rPr>
                        <a:t>$ 85.000</a:t>
                      </a:r>
                      <a:endParaRPr lang="es-A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AR" sz="1400" u="none" strike="noStrike" dirty="0">
                          <a:effectLst/>
                        </a:rPr>
                        <a:t> </a:t>
                      </a:r>
                      <a:endParaRPr lang="es-A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xmlns="" val="2959398699"/>
                  </a:ext>
                </a:extLst>
              </a:tr>
              <a:tr h="202971">
                <a:tc>
                  <a:txBody>
                    <a:bodyPr/>
                    <a:lstStyle/>
                    <a:p>
                      <a:pPr algn="l" fontAlgn="b"/>
                      <a:r>
                        <a:rPr lang="es-AR" sz="1400" u="none" strike="noStrike" dirty="0">
                          <a:effectLst/>
                        </a:rPr>
                        <a:t> </a:t>
                      </a:r>
                      <a:endParaRPr lang="es-AR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s-AR" sz="1400" u="none" strike="noStrike" dirty="0">
                          <a:effectLst/>
                        </a:rPr>
                        <a:t>a </a:t>
                      </a:r>
                      <a:r>
                        <a:rPr lang="es-AR" sz="1400" u="none" strike="noStrike" dirty="0" err="1" smtClean="0">
                          <a:effectLst/>
                        </a:rPr>
                        <a:t>Prev</a:t>
                      </a:r>
                      <a:r>
                        <a:rPr lang="es-AR" sz="1400" u="none" strike="noStrike" dirty="0" smtClean="0">
                          <a:effectLst/>
                        </a:rPr>
                        <a:t>.</a:t>
                      </a:r>
                      <a:r>
                        <a:rPr lang="es-AR" sz="1400" u="none" strike="noStrike" baseline="0" dirty="0" smtClean="0">
                          <a:effectLst/>
                        </a:rPr>
                        <a:t> Inc. (P)</a:t>
                      </a:r>
                      <a:endParaRPr lang="es-AR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AR" sz="1400" u="none" strike="noStrike" dirty="0">
                          <a:effectLst/>
                        </a:rPr>
                        <a:t> </a:t>
                      </a:r>
                      <a:endParaRPr lang="es-A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AR" sz="1400" u="none" strike="noStrike" dirty="0" smtClean="0">
                          <a:effectLst/>
                        </a:rPr>
                        <a:t>$ 85.000</a:t>
                      </a:r>
                      <a:endParaRPr lang="es-A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</a:tr>
            </a:tbl>
          </a:graphicData>
        </a:graphic>
      </p:graphicFrame>
      <p:sp>
        <p:nvSpPr>
          <p:cNvPr id="42" name="28 Rectángulo">
            <a:extLst>
              <a:ext uri="{FF2B5EF4-FFF2-40B4-BE49-F238E27FC236}">
                <a16:creationId xmlns:a16="http://schemas.microsoft.com/office/drawing/2014/main" xmlns="" id="{00000000-0008-0000-0200-00001D000000}"/>
              </a:ext>
            </a:extLst>
          </p:cNvPr>
          <p:cNvSpPr/>
          <p:nvPr/>
        </p:nvSpPr>
        <p:spPr>
          <a:xfrm>
            <a:off x="1809400" y="2286063"/>
            <a:ext cx="885347" cy="1440261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AR" sz="1600" b="1" dirty="0" err="1" smtClean="0">
                <a:solidFill>
                  <a:sysClr val="windowText" lastClr="000000"/>
                </a:solidFill>
              </a:rPr>
              <a:t>Prev</a:t>
            </a:r>
            <a:r>
              <a:rPr lang="es-AR" sz="1600" b="1" dirty="0" smtClean="0">
                <a:solidFill>
                  <a:sysClr val="windowText" lastClr="000000"/>
                </a:solidFill>
              </a:rPr>
              <a:t>. Inc.</a:t>
            </a:r>
            <a:endParaRPr lang="es-AR" sz="1600" b="1" dirty="0">
              <a:solidFill>
                <a:sysClr val="windowText" lastClr="000000"/>
              </a:solidFill>
            </a:endParaRPr>
          </a:p>
        </p:txBody>
      </p:sp>
      <p:sp>
        <p:nvSpPr>
          <p:cNvPr id="44" name="36 Elipse">
            <a:extLst>
              <a:ext uri="{FF2B5EF4-FFF2-40B4-BE49-F238E27FC236}">
                <a16:creationId xmlns:a16="http://schemas.microsoft.com/office/drawing/2014/main" xmlns="" id="{00000000-0008-0000-0200-000025000000}"/>
              </a:ext>
            </a:extLst>
          </p:cNvPr>
          <p:cNvSpPr/>
          <p:nvPr/>
        </p:nvSpPr>
        <p:spPr>
          <a:xfrm>
            <a:off x="4667979" y="2848474"/>
            <a:ext cx="288032" cy="315438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AR" sz="1600" b="1" dirty="0">
              <a:solidFill>
                <a:sysClr val="windowText" lastClr="000000"/>
              </a:solidFill>
            </a:endParaRPr>
          </a:p>
        </p:txBody>
      </p:sp>
      <p:cxnSp>
        <p:nvCxnSpPr>
          <p:cNvPr id="46" name="40 Conector recto de flecha">
            <a:extLst>
              <a:ext uri="{FF2B5EF4-FFF2-40B4-BE49-F238E27FC236}">
                <a16:creationId xmlns:a16="http://schemas.microsoft.com/office/drawing/2014/main" xmlns="" id="{00000000-0008-0000-0200-000029000000}"/>
              </a:ext>
            </a:extLst>
          </p:cNvPr>
          <p:cNvCxnSpPr>
            <a:stCxn id="42" idx="3"/>
            <a:endCxn id="44" idx="2"/>
          </p:cNvCxnSpPr>
          <p:nvPr/>
        </p:nvCxnSpPr>
        <p:spPr>
          <a:xfrm flipV="1">
            <a:off x="2694747" y="3006193"/>
            <a:ext cx="1973232" cy="1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Rectángulo 11">
            <a:extLst>
              <a:ext uri="{FF2B5EF4-FFF2-40B4-BE49-F238E27FC236}">
                <a16:creationId xmlns:a16="http://schemas.microsoft.com/office/drawing/2014/main" xmlns="" id="{7C2A06E2-7006-405B-ABBD-F875D962070E}"/>
              </a:ext>
            </a:extLst>
          </p:cNvPr>
          <p:cNvSpPr/>
          <p:nvPr/>
        </p:nvSpPr>
        <p:spPr>
          <a:xfrm>
            <a:off x="3090707" y="2487520"/>
            <a:ext cx="9973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solidFill>
                  <a:srgbClr val="000000"/>
                </a:solidFill>
                <a:latin typeface="Calibri" panose="020F0502020204030204" pitchFamily="34" charset="0"/>
              </a:rPr>
              <a:t>$ </a:t>
            </a:r>
            <a:r>
              <a:rPr lang="es-AR" dirty="0" smtClean="0">
                <a:solidFill>
                  <a:srgbClr val="000000"/>
                </a:solidFill>
                <a:latin typeface="Calibri" panose="020F0502020204030204" pitchFamily="34" charset="0"/>
              </a:rPr>
              <a:t>85.000</a:t>
            </a:r>
            <a:endParaRPr lang="es-AR" dirty="0"/>
          </a:p>
        </p:txBody>
      </p:sp>
      <p:sp>
        <p:nvSpPr>
          <p:cNvPr id="19" name="Rectángulo 13">
            <a:extLst>
              <a:ext uri="{FF2B5EF4-FFF2-40B4-BE49-F238E27FC236}">
                <a16:creationId xmlns:a16="http://schemas.microsoft.com/office/drawing/2014/main" xmlns="" id="{0F053224-57B6-4424-99E8-036B94CE3A3B}"/>
              </a:ext>
            </a:extLst>
          </p:cNvPr>
          <p:cNvSpPr/>
          <p:nvPr/>
        </p:nvSpPr>
        <p:spPr>
          <a:xfrm>
            <a:off x="3580485" y="2954093"/>
            <a:ext cx="1383070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500" dirty="0" smtClean="0">
                <a:solidFill>
                  <a:srgbClr val="000000"/>
                </a:solidFill>
                <a:latin typeface="Calibri" panose="020F0502020204030204" pitchFamily="34" charset="0"/>
              </a:rPr>
              <a:t>Quebrantos</a:t>
            </a:r>
            <a:endParaRPr lang="es-AR" sz="1500" dirty="0"/>
          </a:p>
        </p:txBody>
      </p:sp>
      <p:sp>
        <p:nvSpPr>
          <p:cNvPr id="21" name="Rectángulo 11">
            <a:extLst>
              <a:ext uri="{FF2B5EF4-FFF2-40B4-BE49-F238E27FC236}">
                <a16:creationId xmlns:a16="http://schemas.microsoft.com/office/drawing/2014/main" xmlns="" id="{7C2A06E2-7006-405B-ABBD-F875D962070E}"/>
              </a:ext>
            </a:extLst>
          </p:cNvPr>
          <p:cNvSpPr/>
          <p:nvPr/>
        </p:nvSpPr>
        <p:spPr>
          <a:xfrm>
            <a:off x="-53091" y="1946479"/>
            <a:ext cx="27747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 smtClean="0">
                <a:solidFill>
                  <a:srgbClr val="000000"/>
                </a:solidFill>
                <a:latin typeface="Calibri" panose="020F0502020204030204" pitchFamily="34" charset="0"/>
              </a:rPr>
              <a:t>Constitución de la Previsión</a:t>
            </a:r>
            <a:endParaRPr lang="es-AR" dirty="0"/>
          </a:p>
        </p:txBody>
      </p:sp>
      <p:sp>
        <p:nvSpPr>
          <p:cNvPr id="27" name="Rectángulo 11">
            <a:extLst>
              <a:ext uri="{FF2B5EF4-FFF2-40B4-BE49-F238E27FC236}">
                <a16:creationId xmlns:a16="http://schemas.microsoft.com/office/drawing/2014/main" xmlns="" id="{7C2A06E2-7006-405B-ABBD-F875D962070E}"/>
              </a:ext>
            </a:extLst>
          </p:cNvPr>
          <p:cNvSpPr/>
          <p:nvPr/>
        </p:nvSpPr>
        <p:spPr>
          <a:xfrm>
            <a:off x="31349" y="3348992"/>
            <a:ext cx="17780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 smtClean="0">
                <a:solidFill>
                  <a:srgbClr val="000000"/>
                </a:solidFill>
                <a:latin typeface="Calibri" panose="020F0502020204030204" pitchFamily="34" charset="0"/>
              </a:rPr>
              <a:t>3 meses </a:t>
            </a:r>
            <a:r>
              <a:rPr lang="es-AR" dirty="0" err="1" smtClean="0">
                <a:solidFill>
                  <a:srgbClr val="000000"/>
                </a:solidFill>
                <a:latin typeface="Calibri" panose="020F0502020204030204" pitchFamily="34" charset="0"/>
              </a:rPr>
              <a:t>despues</a:t>
            </a:r>
            <a:endParaRPr lang="es-AR" dirty="0"/>
          </a:p>
        </p:txBody>
      </p:sp>
      <p:sp>
        <p:nvSpPr>
          <p:cNvPr id="29" name="23 Elipse">
            <a:extLst>
              <a:ext uri="{FF2B5EF4-FFF2-40B4-BE49-F238E27FC236}">
                <a16:creationId xmlns:a16="http://schemas.microsoft.com/office/drawing/2014/main" xmlns="" id="{00000000-0008-0000-0200-000018000000}"/>
              </a:ext>
            </a:extLst>
          </p:cNvPr>
          <p:cNvSpPr/>
          <p:nvPr/>
        </p:nvSpPr>
        <p:spPr>
          <a:xfrm>
            <a:off x="3352880" y="4318440"/>
            <a:ext cx="78413" cy="8958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AR" sz="1800"/>
          </a:p>
        </p:txBody>
      </p:sp>
      <p:cxnSp>
        <p:nvCxnSpPr>
          <p:cNvPr id="30" name="24 Conector recto de flecha">
            <a:extLst>
              <a:ext uri="{FF2B5EF4-FFF2-40B4-BE49-F238E27FC236}">
                <a16:creationId xmlns:a16="http://schemas.microsoft.com/office/drawing/2014/main" xmlns="" id="{00000000-0008-0000-0200-000019000000}"/>
              </a:ext>
            </a:extLst>
          </p:cNvPr>
          <p:cNvCxnSpPr>
            <a:stCxn id="29" idx="3"/>
            <a:endCxn id="67" idx="1"/>
          </p:cNvCxnSpPr>
          <p:nvPr/>
        </p:nvCxnSpPr>
        <p:spPr>
          <a:xfrm flipV="1">
            <a:off x="3364363" y="3978347"/>
            <a:ext cx="1422890" cy="416559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43 Rectángulo">
            <a:extLst>
              <a:ext uri="{FF2B5EF4-FFF2-40B4-BE49-F238E27FC236}">
                <a16:creationId xmlns:a16="http://schemas.microsoft.com/office/drawing/2014/main" xmlns="" id="{00000000-0008-0000-0200-00002C000000}"/>
              </a:ext>
            </a:extLst>
          </p:cNvPr>
          <p:cNvSpPr/>
          <p:nvPr/>
        </p:nvSpPr>
        <p:spPr>
          <a:xfrm>
            <a:off x="3805978" y="5974485"/>
            <a:ext cx="226526" cy="284055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AR" sz="1600" b="1">
              <a:solidFill>
                <a:sysClr val="windowText" lastClr="000000"/>
              </a:solidFill>
            </a:endParaRPr>
          </a:p>
        </p:txBody>
      </p:sp>
      <p:cxnSp>
        <p:nvCxnSpPr>
          <p:cNvPr id="37" name="44 Conector recto de flecha">
            <a:extLst>
              <a:ext uri="{FF2B5EF4-FFF2-40B4-BE49-F238E27FC236}">
                <a16:creationId xmlns:a16="http://schemas.microsoft.com/office/drawing/2014/main" xmlns="" id="{00000000-0008-0000-0200-00002D000000}"/>
              </a:ext>
            </a:extLst>
          </p:cNvPr>
          <p:cNvCxnSpPr>
            <a:cxnSpLocks/>
            <a:stCxn id="36" idx="1"/>
            <a:endCxn id="56" idx="3"/>
          </p:cNvCxnSpPr>
          <p:nvPr/>
        </p:nvCxnSpPr>
        <p:spPr>
          <a:xfrm flipH="1">
            <a:off x="1767160" y="6116513"/>
            <a:ext cx="2038818" cy="9529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ángulo 32">
            <a:extLst>
              <a:ext uri="{FF2B5EF4-FFF2-40B4-BE49-F238E27FC236}">
                <a16:creationId xmlns:a16="http://schemas.microsoft.com/office/drawing/2014/main" xmlns="" id="{0AF4FDF9-540A-4780-B27D-8B2DAA2B17D4}"/>
              </a:ext>
            </a:extLst>
          </p:cNvPr>
          <p:cNvSpPr/>
          <p:nvPr/>
        </p:nvSpPr>
        <p:spPr>
          <a:xfrm>
            <a:off x="1979486" y="4052787"/>
            <a:ext cx="1050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solidFill>
                  <a:srgbClr val="000000"/>
                </a:solidFill>
                <a:latin typeface="Calibri" panose="020F0502020204030204" pitchFamily="34" charset="0"/>
              </a:rPr>
              <a:t>$ </a:t>
            </a:r>
            <a:r>
              <a:rPr lang="es-AR" dirty="0" smtClean="0">
                <a:solidFill>
                  <a:srgbClr val="000000"/>
                </a:solidFill>
                <a:latin typeface="Calibri" panose="020F0502020204030204" pitchFamily="34" charset="0"/>
              </a:rPr>
              <a:t>87.000</a:t>
            </a:r>
            <a:r>
              <a:rPr lang="es-AR" dirty="0" smtClean="0"/>
              <a:t> </a:t>
            </a:r>
            <a:endParaRPr lang="es-AR" dirty="0"/>
          </a:p>
        </p:txBody>
      </p:sp>
      <p:sp>
        <p:nvSpPr>
          <p:cNvPr id="40" name="Rectángulo 33">
            <a:extLst>
              <a:ext uri="{FF2B5EF4-FFF2-40B4-BE49-F238E27FC236}">
                <a16:creationId xmlns:a16="http://schemas.microsoft.com/office/drawing/2014/main" xmlns="" id="{17704CB6-0361-496C-8BE8-0E849F2FB5A5}"/>
              </a:ext>
            </a:extLst>
          </p:cNvPr>
          <p:cNvSpPr/>
          <p:nvPr/>
        </p:nvSpPr>
        <p:spPr>
          <a:xfrm>
            <a:off x="3400938" y="3726324"/>
            <a:ext cx="12891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solidFill>
                  <a:srgbClr val="000000"/>
                </a:solidFill>
                <a:latin typeface="Calibri" panose="020F0502020204030204" pitchFamily="34" charset="0"/>
              </a:rPr>
              <a:t>$ </a:t>
            </a:r>
            <a:r>
              <a:rPr lang="es-AR" dirty="0" smtClean="0">
                <a:solidFill>
                  <a:srgbClr val="000000"/>
                </a:solidFill>
                <a:latin typeface="Calibri" panose="020F0502020204030204" pitchFamily="34" charset="0"/>
              </a:rPr>
              <a:t>71.900,83</a:t>
            </a:r>
            <a:endParaRPr lang="es-AR" dirty="0"/>
          </a:p>
        </p:txBody>
      </p:sp>
      <p:sp>
        <p:nvSpPr>
          <p:cNvPr id="41" name="51 Elipse">
            <a:extLst>
              <a:ext uri="{FF2B5EF4-FFF2-40B4-BE49-F238E27FC236}">
                <a16:creationId xmlns:a16="http://schemas.microsoft.com/office/drawing/2014/main" xmlns="" id="{00000000-0008-0000-0200-000034000000}"/>
              </a:ext>
            </a:extLst>
          </p:cNvPr>
          <p:cNvSpPr/>
          <p:nvPr/>
        </p:nvSpPr>
        <p:spPr>
          <a:xfrm>
            <a:off x="415329" y="3819769"/>
            <a:ext cx="1368151" cy="1264032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AR" sz="1600" b="1" dirty="0" err="1" smtClean="0">
                <a:solidFill>
                  <a:sysClr val="windowText" lastClr="000000"/>
                </a:solidFill>
              </a:rPr>
              <a:t>CxC</a:t>
            </a:r>
            <a:endParaRPr lang="es-AR" sz="1600" b="1" dirty="0">
              <a:solidFill>
                <a:sysClr val="windowText" lastClr="000000"/>
              </a:solidFill>
            </a:endParaRPr>
          </a:p>
        </p:txBody>
      </p:sp>
      <p:graphicFrame>
        <p:nvGraphicFramePr>
          <p:cNvPr id="43" name="Tabla 52">
            <a:extLst>
              <a:ext uri="{FF2B5EF4-FFF2-40B4-BE49-F238E27FC236}">
                <a16:creationId xmlns:a16="http://schemas.microsoft.com/office/drawing/2014/main" xmlns="" id="{F090687D-0AE3-4ECE-997C-E3CF2668BB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4582387"/>
              </p:ext>
            </p:extLst>
          </p:nvPr>
        </p:nvGraphicFramePr>
        <p:xfrm>
          <a:off x="5837097" y="3898843"/>
          <a:ext cx="3253375" cy="94718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39880">
                  <a:extLst>
                    <a:ext uri="{9D8B030D-6E8A-4147-A177-3AD203B41FA5}">
                      <a16:colId xmlns:a16="http://schemas.microsoft.com/office/drawing/2014/main" xmlns="" val="609204336"/>
                    </a:ext>
                  </a:extLst>
                </a:gridCol>
                <a:gridCol w="759319">
                  <a:extLst>
                    <a:ext uri="{9D8B030D-6E8A-4147-A177-3AD203B41FA5}">
                      <a16:colId xmlns:a16="http://schemas.microsoft.com/office/drawing/2014/main" xmlns="" val="2193348770"/>
                    </a:ext>
                  </a:extLst>
                </a:gridCol>
                <a:gridCol w="144016"/>
                <a:gridCol w="936104">
                  <a:extLst>
                    <a:ext uri="{9D8B030D-6E8A-4147-A177-3AD203B41FA5}">
                      <a16:colId xmlns:a16="http://schemas.microsoft.com/office/drawing/2014/main" xmlns="" val="3501325627"/>
                    </a:ext>
                  </a:extLst>
                </a:gridCol>
                <a:gridCol w="774056">
                  <a:extLst>
                    <a:ext uri="{9D8B030D-6E8A-4147-A177-3AD203B41FA5}">
                      <a16:colId xmlns:a16="http://schemas.microsoft.com/office/drawing/2014/main" xmlns="" val="1946522016"/>
                    </a:ext>
                  </a:extLst>
                </a:gridCol>
              </a:tblGrid>
              <a:tr h="302761"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s-AR" sz="1400" u="none" strike="noStrike" dirty="0" smtClean="0">
                          <a:effectLst/>
                        </a:rPr>
                        <a:t>Cuentas</a:t>
                      </a:r>
                      <a:endParaRPr lang="es-AR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400" u="none" strike="noStrike" dirty="0">
                          <a:effectLst/>
                        </a:rPr>
                        <a:t>DEBE</a:t>
                      </a:r>
                      <a:endParaRPr lang="es-AR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400" u="none" strike="noStrike">
                          <a:effectLst/>
                        </a:rPr>
                        <a:t>HABER</a:t>
                      </a:r>
                      <a:endParaRPr lang="es-AR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xmlns="" val="2942187959"/>
                  </a:ext>
                </a:extLst>
              </a:tr>
              <a:tr h="217700">
                <a:tc gridSpan="2">
                  <a:txBody>
                    <a:bodyPr/>
                    <a:lstStyle/>
                    <a:p>
                      <a:pPr algn="l" fontAlgn="b"/>
                      <a:r>
                        <a:rPr lang="es-AR" sz="1400" u="none" strike="noStrike" dirty="0" err="1" smtClean="0">
                          <a:effectLst/>
                        </a:rPr>
                        <a:t>Prev</a:t>
                      </a:r>
                      <a:r>
                        <a:rPr lang="es-AR" sz="1400" u="none" strike="noStrike" dirty="0" smtClean="0">
                          <a:effectLst/>
                        </a:rPr>
                        <a:t>. Inc. (P)</a:t>
                      </a:r>
                      <a:endParaRPr lang="es-AR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AR" sz="1400" u="none" strike="noStrike" dirty="0">
                          <a:effectLst/>
                        </a:rPr>
                        <a:t> </a:t>
                      </a:r>
                      <a:endParaRPr lang="es-AR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AR" sz="1400" u="none" strike="noStrike" dirty="0">
                          <a:effectLst/>
                        </a:rPr>
                        <a:t>$ </a:t>
                      </a:r>
                      <a:r>
                        <a:rPr lang="es-AR" sz="1400" u="none" strike="noStrike" dirty="0" smtClean="0">
                          <a:effectLst/>
                        </a:rPr>
                        <a:t>71.900,83</a:t>
                      </a:r>
                      <a:endParaRPr lang="es-A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AR" sz="1400" u="none" strike="noStrike" dirty="0">
                          <a:effectLst/>
                        </a:rPr>
                        <a:t> </a:t>
                      </a:r>
                      <a:endParaRPr lang="es-A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xmlns="" val="470263938"/>
                  </a:ext>
                </a:extLst>
              </a:tr>
              <a:tr h="202971">
                <a:tc gridSpan="2">
                  <a:txBody>
                    <a:bodyPr/>
                    <a:lstStyle/>
                    <a:p>
                      <a:pPr marL="0" marR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400" b="0" i="0" u="none" strike="noStrike" baseline="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IVA DF (P)</a:t>
                      </a:r>
                    </a:p>
                  </a:txBody>
                  <a:tcPr marL="0" marR="0" marT="0" marB="0" anchor="b"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AR" sz="1400" u="none" strike="noStrike" dirty="0">
                          <a:effectLst/>
                        </a:rPr>
                        <a:t> </a:t>
                      </a:r>
                      <a:endParaRPr lang="es-AR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400" u="none" strike="noStrike" dirty="0" smtClean="0">
                          <a:effectLst/>
                        </a:rPr>
                        <a:t>$ 15.099,27</a:t>
                      </a:r>
                      <a:endParaRPr lang="es-A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AR" sz="1400" u="none" strike="noStrike" dirty="0">
                          <a:effectLst/>
                        </a:rPr>
                        <a:t> </a:t>
                      </a:r>
                      <a:endParaRPr lang="es-A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xmlns="" val="2959398699"/>
                  </a:ext>
                </a:extLst>
              </a:tr>
              <a:tr h="183175">
                <a:tc>
                  <a:txBody>
                    <a:bodyPr/>
                    <a:lstStyle/>
                    <a:p>
                      <a:pPr algn="l" fontAlgn="b"/>
                      <a:r>
                        <a:rPr lang="es-AR" sz="1400" u="none" strike="noStrike" dirty="0">
                          <a:effectLst/>
                        </a:rPr>
                        <a:t> </a:t>
                      </a:r>
                      <a:endParaRPr lang="es-AR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AR" sz="1400" u="none" strike="noStrike" dirty="0">
                          <a:effectLst/>
                        </a:rPr>
                        <a:t> </a:t>
                      </a:r>
                      <a:r>
                        <a:rPr lang="es-AR" sz="1400" u="none" strike="noStrike" dirty="0" smtClean="0">
                          <a:effectLst/>
                        </a:rPr>
                        <a:t>a </a:t>
                      </a:r>
                      <a:r>
                        <a:rPr lang="es-AR" sz="1400" u="none" strike="noStrike" dirty="0" err="1" smtClean="0">
                          <a:effectLst/>
                        </a:rPr>
                        <a:t>CxC</a:t>
                      </a:r>
                      <a:r>
                        <a:rPr lang="es-AR" sz="1400" u="none" strike="noStrike" dirty="0" smtClean="0">
                          <a:effectLst/>
                        </a:rPr>
                        <a:t> (A)</a:t>
                      </a:r>
                      <a:endParaRPr lang="es-AR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AR" sz="1400" u="none" strike="noStrike" dirty="0">
                          <a:effectLst/>
                        </a:rPr>
                        <a:t> </a:t>
                      </a:r>
                      <a:endParaRPr lang="es-AR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AR" sz="1400" u="none" strike="noStrike" dirty="0">
                          <a:effectLst/>
                        </a:rPr>
                        <a:t> </a:t>
                      </a:r>
                      <a:endParaRPr lang="es-A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AR" sz="1400" u="none" strike="noStrike" dirty="0">
                          <a:effectLst/>
                        </a:rPr>
                        <a:t>$ </a:t>
                      </a:r>
                      <a:r>
                        <a:rPr lang="es-AR" sz="1400" u="none" strike="noStrike" dirty="0" smtClean="0">
                          <a:effectLst/>
                        </a:rPr>
                        <a:t>87.000</a:t>
                      </a:r>
                      <a:endParaRPr lang="es-A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xmlns="" val="3487063041"/>
                  </a:ext>
                </a:extLst>
              </a:tr>
            </a:tbl>
          </a:graphicData>
        </a:graphic>
      </p:graphicFrame>
      <p:sp>
        <p:nvSpPr>
          <p:cNvPr id="45" name="Rectángulo 13">
            <a:extLst>
              <a:ext uri="{FF2B5EF4-FFF2-40B4-BE49-F238E27FC236}">
                <a16:creationId xmlns:a16="http://schemas.microsoft.com/office/drawing/2014/main" xmlns="" id="{0F053224-57B6-4424-99E8-036B94CE3A3B}"/>
              </a:ext>
            </a:extLst>
          </p:cNvPr>
          <p:cNvSpPr/>
          <p:nvPr/>
        </p:nvSpPr>
        <p:spPr>
          <a:xfrm>
            <a:off x="2170202" y="5695373"/>
            <a:ext cx="12891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solidFill>
                  <a:srgbClr val="000000"/>
                </a:solidFill>
                <a:latin typeface="Calibri" panose="020F0502020204030204" pitchFamily="34" charset="0"/>
              </a:rPr>
              <a:t>$ </a:t>
            </a:r>
            <a:r>
              <a:rPr lang="es-AR" dirty="0" smtClean="0">
                <a:solidFill>
                  <a:srgbClr val="000000"/>
                </a:solidFill>
                <a:latin typeface="Calibri" panose="020F0502020204030204" pitchFamily="34" charset="0"/>
              </a:rPr>
              <a:t>13.099,27</a:t>
            </a:r>
            <a:endParaRPr lang="es-AR" dirty="0"/>
          </a:p>
        </p:txBody>
      </p:sp>
      <p:cxnSp>
        <p:nvCxnSpPr>
          <p:cNvPr id="48" name="47 Conector recto de flecha">
            <a:extLst>
              <a:ext uri="{FF2B5EF4-FFF2-40B4-BE49-F238E27FC236}">
                <a16:creationId xmlns:a16="http://schemas.microsoft.com/office/drawing/2014/main" xmlns="" id="{00000000-0008-0000-0200-000036000000}"/>
              </a:ext>
            </a:extLst>
          </p:cNvPr>
          <p:cNvCxnSpPr>
            <a:stCxn id="41" idx="6"/>
            <a:endCxn id="29" idx="2"/>
          </p:cNvCxnSpPr>
          <p:nvPr/>
        </p:nvCxnSpPr>
        <p:spPr>
          <a:xfrm flipV="1">
            <a:off x="1783480" y="4363233"/>
            <a:ext cx="1569400" cy="88552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ectángulo 13">
            <a:extLst>
              <a:ext uri="{FF2B5EF4-FFF2-40B4-BE49-F238E27FC236}">
                <a16:creationId xmlns:a16="http://schemas.microsoft.com/office/drawing/2014/main" xmlns="" id="{0F053224-57B6-4424-99E8-036B94CE3A3B}"/>
              </a:ext>
            </a:extLst>
          </p:cNvPr>
          <p:cNvSpPr/>
          <p:nvPr/>
        </p:nvSpPr>
        <p:spPr>
          <a:xfrm>
            <a:off x="5821897" y="3410547"/>
            <a:ext cx="124585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1400" dirty="0" smtClean="0">
                <a:solidFill>
                  <a:srgbClr val="000000"/>
                </a:solidFill>
                <a:latin typeface="Calibri" panose="020F0502020204030204" pitchFamily="34" charset="0"/>
              </a:rPr>
              <a:t>$87.000 / 1,21</a:t>
            </a:r>
            <a:endParaRPr lang="es-AR" sz="1400" dirty="0"/>
          </a:p>
        </p:txBody>
      </p:sp>
      <p:sp>
        <p:nvSpPr>
          <p:cNvPr id="67" name="39 Rectángulo">
            <a:extLst>
              <a:ext uri="{FF2B5EF4-FFF2-40B4-BE49-F238E27FC236}">
                <a16:creationId xmlns:a16="http://schemas.microsoft.com/office/drawing/2014/main" xmlns="" id="{00000000-0008-0000-0200-000028000000}"/>
              </a:ext>
            </a:extLst>
          </p:cNvPr>
          <p:cNvSpPr/>
          <p:nvPr/>
        </p:nvSpPr>
        <p:spPr>
          <a:xfrm>
            <a:off x="4787253" y="3369568"/>
            <a:ext cx="871255" cy="1217558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AR" sz="1600" b="1" dirty="0" err="1">
                <a:solidFill>
                  <a:sysClr val="windowText" lastClr="000000"/>
                </a:solidFill>
              </a:rPr>
              <a:t>Prev</a:t>
            </a:r>
            <a:r>
              <a:rPr lang="es-AR" sz="1600" b="1" dirty="0">
                <a:solidFill>
                  <a:sysClr val="windowText" lastClr="000000"/>
                </a:solidFill>
              </a:rPr>
              <a:t>. Inc.</a:t>
            </a:r>
          </a:p>
        </p:txBody>
      </p:sp>
      <p:sp>
        <p:nvSpPr>
          <p:cNvPr id="73" name="Rectángulo 13">
            <a:extLst>
              <a:ext uri="{FF2B5EF4-FFF2-40B4-BE49-F238E27FC236}">
                <a16:creationId xmlns:a16="http://schemas.microsoft.com/office/drawing/2014/main" xmlns="" id="{0F053224-57B6-4424-99E8-036B94CE3A3B}"/>
              </a:ext>
            </a:extLst>
          </p:cNvPr>
          <p:cNvSpPr/>
          <p:nvPr/>
        </p:nvSpPr>
        <p:spPr>
          <a:xfrm>
            <a:off x="3173604" y="6135105"/>
            <a:ext cx="929928" cy="5539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500" dirty="0" smtClean="0">
                <a:solidFill>
                  <a:srgbClr val="000000"/>
                </a:solidFill>
                <a:latin typeface="Calibri" panose="020F0502020204030204" pitchFamily="34" charset="0"/>
              </a:rPr>
              <a:t>Ajuste Previsión</a:t>
            </a:r>
            <a:endParaRPr lang="es-AR" sz="1500" dirty="0"/>
          </a:p>
        </p:txBody>
      </p:sp>
      <p:sp>
        <p:nvSpPr>
          <p:cNvPr id="90" name="Rectángulo 13">
            <a:extLst>
              <a:ext uri="{FF2B5EF4-FFF2-40B4-BE49-F238E27FC236}">
                <a16:creationId xmlns:a16="http://schemas.microsoft.com/office/drawing/2014/main" xmlns="" id="{0F053224-57B6-4424-99E8-036B94CE3A3B}"/>
              </a:ext>
            </a:extLst>
          </p:cNvPr>
          <p:cNvSpPr/>
          <p:nvPr/>
        </p:nvSpPr>
        <p:spPr>
          <a:xfrm>
            <a:off x="5690849" y="5209486"/>
            <a:ext cx="147508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1400" dirty="0" smtClean="0">
                <a:solidFill>
                  <a:srgbClr val="000000"/>
                </a:solidFill>
                <a:latin typeface="Calibri" panose="020F0502020204030204" pitchFamily="34" charset="0"/>
              </a:rPr>
              <a:t>$71,900,83 x 21%</a:t>
            </a:r>
            <a:endParaRPr lang="es-AR" sz="1400" dirty="0"/>
          </a:p>
        </p:txBody>
      </p:sp>
      <p:sp>
        <p:nvSpPr>
          <p:cNvPr id="50" name="Rectángulo 33">
            <a:extLst>
              <a:ext uri="{FF2B5EF4-FFF2-40B4-BE49-F238E27FC236}">
                <a16:creationId xmlns:a16="http://schemas.microsoft.com/office/drawing/2014/main" xmlns="" id="{17704CB6-0361-496C-8BE8-0E849F2FB5A5}"/>
              </a:ext>
            </a:extLst>
          </p:cNvPr>
          <p:cNvSpPr/>
          <p:nvPr/>
        </p:nvSpPr>
        <p:spPr>
          <a:xfrm>
            <a:off x="3173604" y="5027610"/>
            <a:ext cx="12891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solidFill>
                  <a:srgbClr val="000000"/>
                </a:solidFill>
                <a:latin typeface="Calibri" panose="020F0502020204030204" pitchFamily="34" charset="0"/>
              </a:rPr>
              <a:t>$ </a:t>
            </a:r>
            <a:r>
              <a:rPr lang="es-AR" dirty="0" smtClean="0">
                <a:solidFill>
                  <a:srgbClr val="000000"/>
                </a:solidFill>
                <a:latin typeface="Calibri" panose="020F0502020204030204" pitchFamily="34" charset="0"/>
              </a:rPr>
              <a:t>15.099,27</a:t>
            </a:r>
            <a:endParaRPr lang="es-AR" dirty="0"/>
          </a:p>
        </p:txBody>
      </p:sp>
      <p:cxnSp>
        <p:nvCxnSpPr>
          <p:cNvPr id="54" name="53 Conector recto de flecha">
            <a:extLst>
              <a:ext uri="{FF2B5EF4-FFF2-40B4-BE49-F238E27FC236}">
                <a16:creationId xmlns:a16="http://schemas.microsoft.com/office/drawing/2014/main" xmlns="" id="{00000000-0008-0000-0200-000036000000}"/>
              </a:ext>
            </a:extLst>
          </p:cNvPr>
          <p:cNvCxnSpPr>
            <a:stCxn id="29" idx="5"/>
            <a:endCxn id="55" idx="1"/>
          </p:cNvCxnSpPr>
          <p:nvPr/>
        </p:nvCxnSpPr>
        <p:spPr>
          <a:xfrm>
            <a:off x="3419810" y="4394906"/>
            <a:ext cx="1367444" cy="983119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39 Rectángulo">
            <a:extLst>
              <a:ext uri="{FF2B5EF4-FFF2-40B4-BE49-F238E27FC236}">
                <a16:creationId xmlns:a16="http://schemas.microsoft.com/office/drawing/2014/main" xmlns="" id="{00000000-0008-0000-0200-000028000000}"/>
              </a:ext>
            </a:extLst>
          </p:cNvPr>
          <p:cNvSpPr/>
          <p:nvPr/>
        </p:nvSpPr>
        <p:spPr>
          <a:xfrm>
            <a:off x="4787254" y="4769246"/>
            <a:ext cx="871255" cy="1217558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AR" sz="1600" b="1" dirty="0" smtClean="0">
                <a:solidFill>
                  <a:sysClr val="windowText" lastClr="000000"/>
                </a:solidFill>
              </a:rPr>
              <a:t>IVA DF</a:t>
            </a:r>
            <a:endParaRPr lang="es-AR" sz="1600" b="1" dirty="0">
              <a:solidFill>
                <a:sysClr val="windowText" lastClr="000000"/>
              </a:solidFill>
            </a:endParaRPr>
          </a:p>
        </p:txBody>
      </p:sp>
      <p:sp>
        <p:nvSpPr>
          <p:cNvPr id="56" name="39 Rectángulo">
            <a:extLst>
              <a:ext uri="{FF2B5EF4-FFF2-40B4-BE49-F238E27FC236}">
                <a16:creationId xmlns:a16="http://schemas.microsoft.com/office/drawing/2014/main" xmlns="" id="{00000000-0008-0000-0200-000028000000}"/>
              </a:ext>
            </a:extLst>
          </p:cNvPr>
          <p:cNvSpPr/>
          <p:nvPr/>
        </p:nvSpPr>
        <p:spPr>
          <a:xfrm>
            <a:off x="895905" y="5517263"/>
            <a:ext cx="871255" cy="1217558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AR" sz="1600" b="1" dirty="0" err="1">
                <a:solidFill>
                  <a:sysClr val="windowText" lastClr="000000"/>
                </a:solidFill>
              </a:rPr>
              <a:t>Prev</a:t>
            </a:r>
            <a:r>
              <a:rPr lang="es-AR" sz="1600" b="1" dirty="0">
                <a:solidFill>
                  <a:sysClr val="windowText" lastClr="000000"/>
                </a:solidFill>
              </a:rPr>
              <a:t>. Inc.</a:t>
            </a:r>
          </a:p>
        </p:txBody>
      </p:sp>
      <p:graphicFrame>
        <p:nvGraphicFramePr>
          <p:cNvPr id="59" name="Tabla 52">
            <a:extLst>
              <a:ext uri="{FF2B5EF4-FFF2-40B4-BE49-F238E27FC236}">
                <a16:creationId xmlns:a16="http://schemas.microsoft.com/office/drawing/2014/main" xmlns="" id="{F090687D-0AE3-4ECE-997C-E3CF2668BB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162832"/>
              </p:ext>
            </p:extLst>
          </p:nvPr>
        </p:nvGraphicFramePr>
        <p:xfrm>
          <a:off x="5870393" y="5718232"/>
          <a:ext cx="3253375" cy="73382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85783">
                  <a:extLst>
                    <a:ext uri="{9D8B030D-6E8A-4147-A177-3AD203B41FA5}">
                      <a16:colId xmlns:a16="http://schemas.microsoft.com/office/drawing/2014/main" xmlns="" val="609204336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xmlns="" val="2193348770"/>
                    </a:ext>
                  </a:extLst>
                </a:gridCol>
                <a:gridCol w="72008"/>
                <a:gridCol w="936104">
                  <a:extLst>
                    <a:ext uri="{9D8B030D-6E8A-4147-A177-3AD203B41FA5}">
                      <a16:colId xmlns:a16="http://schemas.microsoft.com/office/drawing/2014/main" xmlns="" val="3501325627"/>
                    </a:ext>
                  </a:extLst>
                </a:gridCol>
                <a:gridCol w="879360">
                  <a:extLst>
                    <a:ext uri="{9D8B030D-6E8A-4147-A177-3AD203B41FA5}">
                      <a16:colId xmlns:a16="http://schemas.microsoft.com/office/drawing/2014/main" xmlns="" val="1946522016"/>
                    </a:ext>
                  </a:extLst>
                </a:gridCol>
              </a:tblGrid>
              <a:tr h="302761"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s-AR" sz="1400" u="none" strike="noStrike" dirty="0" smtClean="0">
                          <a:effectLst/>
                        </a:rPr>
                        <a:t>Cuentas</a:t>
                      </a:r>
                      <a:endParaRPr lang="es-AR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400" u="none" strike="noStrike" dirty="0">
                          <a:effectLst/>
                        </a:rPr>
                        <a:t>DEBE</a:t>
                      </a:r>
                      <a:endParaRPr lang="es-AR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400" u="none" strike="noStrike">
                          <a:effectLst/>
                        </a:rPr>
                        <a:t>HABER</a:t>
                      </a:r>
                      <a:endParaRPr lang="es-AR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xmlns="" val="2942187959"/>
                  </a:ext>
                </a:extLst>
              </a:tr>
              <a:tr h="217700">
                <a:tc gridSpan="2">
                  <a:txBody>
                    <a:bodyPr/>
                    <a:lstStyle/>
                    <a:p>
                      <a:pPr algn="l" fontAlgn="b"/>
                      <a:r>
                        <a:rPr lang="es-AR" sz="1400" u="none" strike="noStrike" dirty="0" err="1" smtClean="0">
                          <a:effectLst/>
                        </a:rPr>
                        <a:t>Prev</a:t>
                      </a:r>
                      <a:r>
                        <a:rPr lang="es-AR" sz="1400" u="none" strike="noStrike" dirty="0" smtClean="0">
                          <a:effectLst/>
                        </a:rPr>
                        <a:t>. Inc. (P)</a:t>
                      </a:r>
                      <a:endParaRPr lang="es-AR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AR" sz="1400" u="none" strike="noStrike" dirty="0">
                          <a:effectLst/>
                        </a:rPr>
                        <a:t> </a:t>
                      </a:r>
                      <a:endParaRPr lang="es-AR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AR" sz="1400" u="none" strike="noStrike" dirty="0">
                          <a:effectLst/>
                        </a:rPr>
                        <a:t>$ </a:t>
                      </a:r>
                      <a:r>
                        <a:rPr lang="es-AR" sz="1400" u="none" strike="noStrike" dirty="0" smtClean="0">
                          <a:effectLst/>
                        </a:rPr>
                        <a:t>13.099,27</a:t>
                      </a:r>
                      <a:endParaRPr lang="es-A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AR" sz="1400" u="none" strike="noStrike" dirty="0">
                          <a:effectLst/>
                        </a:rPr>
                        <a:t> </a:t>
                      </a:r>
                      <a:endParaRPr lang="es-A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xmlns="" val="470263938"/>
                  </a:ext>
                </a:extLst>
              </a:tr>
              <a:tr h="183175">
                <a:tc>
                  <a:txBody>
                    <a:bodyPr/>
                    <a:lstStyle/>
                    <a:p>
                      <a:pPr algn="l" fontAlgn="b"/>
                      <a:r>
                        <a:rPr lang="es-AR" sz="1400" u="none" strike="noStrike" dirty="0">
                          <a:effectLst/>
                        </a:rPr>
                        <a:t> </a:t>
                      </a:r>
                      <a:endParaRPr lang="es-AR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AR" sz="1400" u="none" strike="noStrike" dirty="0">
                          <a:effectLst/>
                        </a:rPr>
                        <a:t> </a:t>
                      </a:r>
                      <a:r>
                        <a:rPr lang="es-AR" sz="1400" u="none" strike="noStrike" dirty="0" smtClean="0">
                          <a:effectLst/>
                        </a:rPr>
                        <a:t>a </a:t>
                      </a:r>
                      <a:r>
                        <a:rPr lang="es-AR" sz="1400" u="none" strike="noStrike" dirty="0" err="1" smtClean="0">
                          <a:effectLst/>
                        </a:rPr>
                        <a:t>Aj.Prev</a:t>
                      </a:r>
                      <a:r>
                        <a:rPr lang="es-AR" sz="1400" u="none" strike="noStrike" dirty="0" smtClean="0">
                          <a:effectLst/>
                        </a:rPr>
                        <a:t> (R+)</a:t>
                      </a:r>
                      <a:endParaRPr lang="es-AR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AR" sz="1400" u="none" strike="noStrike" dirty="0">
                          <a:effectLst/>
                        </a:rPr>
                        <a:t> </a:t>
                      </a:r>
                      <a:endParaRPr lang="es-AR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AR" sz="1400" u="none" strike="noStrike" dirty="0">
                          <a:effectLst/>
                        </a:rPr>
                        <a:t> </a:t>
                      </a:r>
                      <a:endParaRPr lang="es-A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AR" sz="1400" u="none" strike="noStrike" dirty="0">
                          <a:effectLst/>
                        </a:rPr>
                        <a:t>$ </a:t>
                      </a:r>
                      <a:r>
                        <a:rPr lang="es-AR" sz="1400" u="none" strike="noStrike" dirty="0" smtClean="0">
                          <a:effectLst/>
                        </a:rPr>
                        <a:t>13.099,27</a:t>
                      </a:r>
                      <a:endParaRPr lang="es-A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xmlns="" val="3487063041"/>
                  </a:ext>
                </a:extLst>
              </a:tr>
            </a:tbl>
          </a:graphicData>
        </a:graphic>
      </p:graphicFrame>
      <p:sp>
        <p:nvSpPr>
          <p:cNvPr id="60" name="Rectángulo 11">
            <a:extLst>
              <a:ext uri="{FF2B5EF4-FFF2-40B4-BE49-F238E27FC236}">
                <a16:creationId xmlns:a16="http://schemas.microsoft.com/office/drawing/2014/main" xmlns="" id="{7C2A06E2-7006-405B-ABBD-F875D962070E}"/>
              </a:ext>
            </a:extLst>
          </p:cNvPr>
          <p:cNvSpPr/>
          <p:nvPr/>
        </p:nvSpPr>
        <p:spPr>
          <a:xfrm>
            <a:off x="31349" y="5127220"/>
            <a:ext cx="22435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 smtClean="0">
                <a:solidFill>
                  <a:srgbClr val="000000"/>
                </a:solidFill>
                <a:latin typeface="Calibri" panose="020F0502020204030204" pitchFamily="34" charset="0"/>
              </a:rPr>
              <a:t>Anulamos la Previsión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561171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2" grpId="0" animBg="1"/>
      <p:bldP spid="44" grpId="0" animBg="1"/>
      <p:bldP spid="58" grpId="0"/>
      <p:bldP spid="19" grpId="0"/>
      <p:bldP spid="21" grpId="0"/>
      <p:bldP spid="27" grpId="0"/>
      <p:bldP spid="29" grpId="0" animBg="1"/>
      <p:bldP spid="36" grpId="0" animBg="1"/>
      <p:bldP spid="39" grpId="0"/>
      <p:bldP spid="40" grpId="0"/>
      <p:bldP spid="41" grpId="0" animBg="1"/>
      <p:bldP spid="45" grpId="0"/>
      <p:bldP spid="52" grpId="0"/>
      <p:bldP spid="67" grpId="0" animBg="1"/>
      <p:bldP spid="73" grpId="0"/>
      <p:bldP spid="90" grpId="0"/>
      <p:bldP spid="50" grpId="0"/>
      <p:bldP spid="55" grpId="0" animBg="1"/>
      <p:bldP spid="56" grpId="0" animBg="1"/>
      <p:bldP spid="6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xmlns="" id="{DD7C5540-AFA9-409E-B061-E3CEA4BDABDC}"/>
              </a:ext>
            </a:extLst>
          </p:cNvPr>
          <p:cNvSpPr/>
          <p:nvPr/>
        </p:nvSpPr>
        <p:spPr>
          <a:xfrm>
            <a:off x="605048" y="185960"/>
            <a:ext cx="8049718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i="1" u="sng" dirty="0"/>
              <a:t>Ejemplo 4.9.2</a:t>
            </a:r>
            <a:r>
              <a:rPr lang="es-AR" i="1" dirty="0"/>
              <a:t>: </a:t>
            </a:r>
            <a:endParaRPr lang="es-AR" dirty="0"/>
          </a:p>
          <a:p>
            <a:r>
              <a:rPr lang="es-AR" i="1" dirty="0"/>
              <a:t>Se desvincula a un empleado. La liquidación final indica: Sueldo del mes: $6.000. </a:t>
            </a:r>
            <a:endParaRPr lang="es-AR" dirty="0"/>
          </a:p>
          <a:p>
            <a:r>
              <a:rPr lang="es-AR" i="1" dirty="0"/>
              <a:t>Indemnización: $35.000. Cargas Sociales: 60%. Retenciones al Personal: 10%. El saldo a favor del empleado se abona al contado. El saldo de la Previsión por Despidos es de $60.000.</a:t>
            </a:r>
            <a:endParaRPr lang="es-AR" dirty="0"/>
          </a:p>
        </p:txBody>
      </p:sp>
      <p:sp>
        <p:nvSpPr>
          <p:cNvPr id="16" name="22 Elipse">
            <a:extLst>
              <a:ext uri="{FF2B5EF4-FFF2-40B4-BE49-F238E27FC236}">
                <a16:creationId xmlns:a16="http://schemas.microsoft.com/office/drawing/2014/main" xmlns="" id="{00000000-0008-0000-0200-000017000000}"/>
              </a:ext>
            </a:extLst>
          </p:cNvPr>
          <p:cNvSpPr/>
          <p:nvPr/>
        </p:nvSpPr>
        <p:spPr>
          <a:xfrm>
            <a:off x="4870554" y="1742089"/>
            <a:ext cx="1238004" cy="1263863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AR" sz="1600" b="1" dirty="0" smtClean="0">
                <a:solidFill>
                  <a:sysClr val="windowText" lastClr="000000"/>
                </a:solidFill>
              </a:rPr>
              <a:t>Disp.</a:t>
            </a:r>
            <a:endParaRPr lang="es-AR" sz="1600" b="1" dirty="0">
              <a:solidFill>
                <a:sysClr val="windowText" lastClr="000000"/>
              </a:solidFill>
            </a:endParaRPr>
          </a:p>
        </p:txBody>
      </p:sp>
      <p:sp>
        <p:nvSpPr>
          <p:cNvPr id="17" name="23 Elipse">
            <a:extLst>
              <a:ext uri="{FF2B5EF4-FFF2-40B4-BE49-F238E27FC236}">
                <a16:creationId xmlns:a16="http://schemas.microsoft.com/office/drawing/2014/main" xmlns="" id="{00000000-0008-0000-0200-000018000000}"/>
              </a:ext>
            </a:extLst>
          </p:cNvPr>
          <p:cNvSpPr/>
          <p:nvPr/>
        </p:nvSpPr>
        <p:spPr>
          <a:xfrm>
            <a:off x="3129572" y="2288080"/>
            <a:ext cx="78413" cy="8958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AR" sz="1800">
              <a:solidFill>
                <a:prstClr val="white"/>
              </a:solidFill>
            </a:endParaRPr>
          </a:p>
        </p:txBody>
      </p:sp>
      <p:cxnSp>
        <p:nvCxnSpPr>
          <p:cNvPr id="19" name="25 Conector recto de flecha">
            <a:extLst>
              <a:ext uri="{FF2B5EF4-FFF2-40B4-BE49-F238E27FC236}">
                <a16:creationId xmlns:a16="http://schemas.microsoft.com/office/drawing/2014/main" xmlns="" id="{00000000-0008-0000-0200-00001A000000}"/>
              </a:ext>
            </a:extLst>
          </p:cNvPr>
          <p:cNvCxnSpPr>
            <a:stCxn id="23" idx="1"/>
            <a:endCxn id="17" idx="5"/>
          </p:cNvCxnSpPr>
          <p:nvPr/>
        </p:nvCxnSpPr>
        <p:spPr>
          <a:xfrm flipH="1" flipV="1">
            <a:off x="3196502" y="2364546"/>
            <a:ext cx="1580799" cy="2027733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26 Conector recto de flecha">
            <a:extLst>
              <a:ext uri="{FF2B5EF4-FFF2-40B4-BE49-F238E27FC236}">
                <a16:creationId xmlns:a16="http://schemas.microsoft.com/office/drawing/2014/main" xmlns="" id="{00000000-0008-0000-0200-00001B000000}"/>
              </a:ext>
            </a:extLst>
          </p:cNvPr>
          <p:cNvCxnSpPr>
            <a:stCxn id="16" idx="2"/>
            <a:endCxn id="17" idx="6"/>
          </p:cNvCxnSpPr>
          <p:nvPr/>
        </p:nvCxnSpPr>
        <p:spPr>
          <a:xfrm flipH="1" flipV="1">
            <a:off x="3207985" y="2332873"/>
            <a:ext cx="1662569" cy="41148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39 Rectángulo">
            <a:extLst>
              <a:ext uri="{FF2B5EF4-FFF2-40B4-BE49-F238E27FC236}">
                <a16:creationId xmlns:a16="http://schemas.microsoft.com/office/drawing/2014/main" xmlns="" id="{00000000-0008-0000-0200-000028000000}"/>
              </a:ext>
            </a:extLst>
          </p:cNvPr>
          <p:cNvSpPr/>
          <p:nvPr/>
        </p:nvSpPr>
        <p:spPr>
          <a:xfrm>
            <a:off x="4777301" y="3458174"/>
            <a:ext cx="871255" cy="1868210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AR" sz="1600" b="1" dirty="0" err="1" smtClean="0">
                <a:solidFill>
                  <a:sysClr val="windowText" lastClr="000000"/>
                </a:solidFill>
              </a:rPr>
              <a:t>Cs.Ss</a:t>
            </a:r>
            <a:r>
              <a:rPr lang="es-AR" sz="1600" b="1" dirty="0" smtClean="0">
                <a:solidFill>
                  <a:sysClr val="windowText" lastClr="000000"/>
                </a:solidFill>
              </a:rPr>
              <a:t>. </a:t>
            </a:r>
          </a:p>
          <a:p>
            <a:pPr algn="ctr"/>
            <a:r>
              <a:rPr lang="es-AR" sz="1600" b="1" dirty="0" smtClean="0">
                <a:solidFill>
                  <a:sysClr val="windowText" lastClr="000000"/>
                </a:solidFill>
              </a:rPr>
              <a:t>A</a:t>
            </a:r>
          </a:p>
          <a:p>
            <a:pPr algn="ctr"/>
            <a:r>
              <a:rPr lang="es-AR" sz="1600" b="1" dirty="0" smtClean="0">
                <a:solidFill>
                  <a:sysClr val="windowText" lastClr="000000"/>
                </a:solidFill>
              </a:rPr>
              <a:t>Pagar</a:t>
            </a:r>
            <a:endParaRPr lang="es-AR" sz="1600" b="1" dirty="0">
              <a:solidFill>
                <a:sysClr val="windowText" lastClr="000000"/>
              </a:solidFill>
            </a:endParaRPr>
          </a:p>
        </p:txBody>
      </p:sp>
      <p:cxnSp>
        <p:nvCxnSpPr>
          <p:cNvPr id="31" name="44 Conector recto de flecha">
            <a:extLst>
              <a:ext uri="{FF2B5EF4-FFF2-40B4-BE49-F238E27FC236}">
                <a16:creationId xmlns:a16="http://schemas.microsoft.com/office/drawing/2014/main" xmlns="" id="{00000000-0008-0000-0200-00002D000000}"/>
              </a:ext>
            </a:extLst>
          </p:cNvPr>
          <p:cNvCxnSpPr>
            <a:cxnSpLocks/>
            <a:stCxn id="17" idx="2"/>
            <a:endCxn id="35" idx="6"/>
          </p:cNvCxnSpPr>
          <p:nvPr/>
        </p:nvCxnSpPr>
        <p:spPr>
          <a:xfrm flipH="1" flipV="1">
            <a:off x="1377105" y="2181265"/>
            <a:ext cx="1752467" cy="151608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ángulo 13">
            <a:extLst>
              <a:ext uri="{FF2B5EF4-FFF2-40B4-BE49-F238E27FC236}">
                <a16:creationId xmlns:a16="http://schemas.microsoft.com/office/drawing/2014/main" xmlns="" id="{0F053224-57B6-4424-99E8-036B94CE3A3B}"/>
              </a:ext>
            </a:extLst>
          </p:cNvPr>
          <p:cNvSpPr/>
          <p:nvPr/>
        </p:nvSpPr>
        <p:spPr>
          <a:xfrm>
            <a:off x="1697246" y="1845855"/>
            <a:ext cx="8803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 smtClean="0">
                <a:solidFill>
                  <a:srgbClr val="000000"/>
                </a:solidFill>
              </a:rPr>
              <a:t>$</a:t>
            </a:r>
            <a:r>
              <a:rPr lang="es-AR" dirty="0">
                <a:solidFill>
                  <a:srgbClr val="000000"/>
                </a:solidFill>
              </a:rPr>
              <a:t>6</a:t>
            </a:r>
            <a:r>
              <a:rPr lang="es-AR" dirty="0" smtClean="0">
                <a:solidFill>
                  <a:srgbClr val="000000"/>
                </a:solidFill>
              </a:rPr>
              <a:t>.000</a:t>
            </a:r>
            <a:r>
              <a:rPr lang="es-AR" dirty="0" smtClean="0">
                <a:solidFill>
                  <a:prstClr val="black"/>
                </a:solidFill>
              </a:rPr>
              <a:t> </a:t>
            </a:r>
            <a:endParaRPr lang="es-AR" dirty="0">
              <a:solidFill>
                <a:prstClr val="black"/>
              </a:solidFill>
            </a:endParaRP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xmlns="" id="{28F8C3CF-63F2-4545-B1D3-82F1B8EE9285}"/>
              </a:ext>
            </a:extLst>
          </p:cNvPr>
          <p:cNvSpPr/>
          <p:nvPr/>
        </p:nvSpPr>
        <p:spPr>
          <a:xfrm>
            <a:off x="3959281" y="2993676"/>
            <a:ext cx="8803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solidFill>
                  <a:srgbClr val="000000"/>
                </a:solidFill>
              </a:rPr>
              <a:t>$ 4</a:t>
            </a:r>
            <a:r>
              <a:rPr lang="es-AR" dirty="0" smtClean="0">
                <a:solidFill>
                  <a:srgbClr val="000000"/>
                </a:solidFill>
              </a:rPr>
              <a:t>.200</a:t>
            </a:r>
            <a:endParaRPr lang="es-AR" dirty="0">
              <a:solidFill>
                <a:prstClr val="black"/>
              </a:solidFill>
            </a:endParaRPr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xmlns="" id="{17704CB6-0361-496C-8BE8-0E849F2FB5A5}"/>
              </a:ext>
            </a:extLst>
          </p:cNvPr>
          <p:cNvSpPr/>
          <p:nvPr/>
        </p:nvSpPr>
        <p:spPr>
          <a:xfrm>
            <a:off x="3779912" y="1963541"/>
            <a:ext cx="9973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solidFill>
                  <a:srgbClr val="000000"/>
                </a:solidFill>
              </a:rPr>
              <a:t>$ </a:t>
            </a:r>
            <a:r>
              <a:rPr lang="es-AR" dirty="0" smtClean="0">
                <a:solidFill>
                  <a:srgbClr val="000000"/>
                </a:solidFill>
              </a:rPr>
              <a:t>40.400</a:t>
            </a:r>
            <a:endParaRPr lang="es-AR" dirty="0">
              <a:solidFill>
                <a:prstClr val="black"/>
              </a:solidFill>
            </a:endParaRPr>
          </a:p>
        </p:txBody>
      </p:sp>
      <p:cxnSp>
        <p:nvCxnSpPr>
          <p:cNvPr id="43" name="53 Conector recto de flecha">
            <a:extLst>
              <a:ext uri="{FF2B5EF4-FFF2-40B4-BE49-F238E27FC236}">
                <a16:creationId xmlns:a16="http://schemas.microsoft.com/office/drawing/2014/main" xmlns="" id="{00000000-0008-0000-0200-000036000000}"/>
              </a:ext>
            </a:extLst>
          </p:cNvPr>
          <p:cNvCxnSpPr>
            <a:stCxn id="17" idx="3"/>
            <a:endCxn id="36" idx="3"/>
          </p:cNvCxnSpPr>
          <p:nvPr/>
        </p:nvCxnSpPr>
        <p:spPr>
          <a:xfrm flipH="1">
            <a:off x="1578668" y="2364546"/>
            <a:ext cx="1562387" cy="2774144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3" name="Tabla 52">
            <a:extLst>
              <a:ext uri="{FF2B5EF4-FFF2-40B4-BE49-F238E27FC236}">
                <a16:creationId xmlns:a16="http://schemas.microsoft.com/office/drawing/2014/main" xmlns="" id="{F090687D-0AE3-4ECE-997C-E3CF2668BB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4464897"/>
              </p:ext>
            </p:extLst>
          </p:nvPr>
        </p:nvGraphicFramePr>
        <p:xfrm>
          <a:off x="5940152" y="3078919"/>
          <a:ext cx="3087410" cy="134539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06438">
                  <a:extLst>
                    <a:ext uri="{9D8B030D-6E8A-4147-A177-3AD203B41FA5}">
                      <a16:colId xmlns:a16="http://schemas.microsoft.com/office/drawing/2014/main" xmlns="" val="609204336"/>
                    </a:ext>
                  </a:extLst>
                </a:gridCol>
                <a:gridCol w="595243">
                  <a:extLst>
                    <a:ext uri="{9D8B030D-6E8A-4147-A177-3AD203B41FA5}">
                      <a16:colId xmlns:a16="http://schemas.microsoft.com/office/drawing/2014/main" xmlns="" val="2193348770"/>
                    </a:ext>
                  </a:extLst>
                </a:gridCol>
                <a:gridCol w="569843">
                  <a:extLst>
                    <a:ext uri="{9D8B030D-6E8A-4147-A177-3AD203B41FA5}">
                      <a16:colId xmlns:a16="http://schemas.microsoft.com/office/drawing/2014/main" xmlns="" val="4092774877"/>
                    </a:ext>
                  </a:extLst>
                </a:gridCol>
                <a:gridCol w="25400"/>
                <a:gridCol w="595243">
                  <a:extLst>
                    <a:ext uri="{9D8B030D-6E8A-4147-A177-3AD203B41FA5}">
                      <a16:colId xmlns:a16="http://schemas.microsoft.com/office/drawing/2014/main" xmlns="" val="3501325627"/>
                    </a:ext>
                  </a:extLst>
                </a:gridCol>
                <a:gridCol w="595243">
                  <a:extLst>
                    <a:ext uri="{9D8B030D-6E8A-4147-A177-3AD203B41FA5}">
                      <a16:colId xmlns:a16="http://schemas.microsoft.com/office/drawing/2014/main" xmlns="" val="1946522016"/>
                    </a:ext>
                  </a:extLst>
                </a:gridCol>
              </a:tblGrid>
              <a:tr h="302761">
                <a:tc gridSpan="4">
                  <a:txBody>
                    <a:bodyPr/>
                    <a:lstStyle/>
                    <a:p>
                      <a:pPr algn="ctr" fontAlgn="b"/>
                      <a:r>
                        <a:rPr lang="es-AR" sz="1100" u="none" strike="noStrike" dirty="0">
                          <a:effectLst/>
                        </a:rPr>
                        <a:t>Cuentas</a:t>
                      </a:r>
                      <a:endParaRPr lang="es-A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u="none" strike="noStrike">
                          <a:effectLst/>
                        </a:rPr>
                        <a:t>DEBE</a:t>
                      </a:r>
                      <a:endParaRPr lang="es-AR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u="none" strike="noStrike">
                          <a:effectLst/>
                        </a:rPr>
                        <a:t>HABER</a:t>
                      </a:r>
                      <a:endParaRPr lang="es-AR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xmlns="" val="2942187959"/>
                  </a:ext>
                </a:extLst>
              </a:tr>
              <a:tr h="217700">
                <a:tc>
                  <a:txBody>
                    <a:bodyPr/>
                    <a:lstStyle/>
                    <a:p>
                      <a:pPr algn="l" fontAlgn="b"/>
                      <a:r>
                        <a:rPr lang="es-AR" sz="1100" b="0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Sueldos</a:t>
                      </a:r>
                      <a:r>
                        <a:rPr lang="es-AR" sz="1100" b="0" i="0" u="none" strike="noStrike" baseline="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 (R-)</a:t>
                      </a:r>
                      <a:endParaRPr lang="es-A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AR" sz="1100" u="none" strike="noStrike" dirty="0">
                          <a:effectLst/>
                        </a:rPr>
                        <a:t> </a:t>
                      </a:r>
                      <a:endParaRPr lang="es-A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s-AR" sz="1100" u="none" strike="noStrike" dirty="0">
                          <a:effectLst/>
                        </a:rPr>
                        <a:t> </a:t>
                      </a:r>
                      <a:endParaRPr lang="es-A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AR" sz="1100" u="none" strike="noStrike" dirty="0">
                          <a:effectLst/>
                        </a:rPr>
                        <a:t>$ </a:t>
                      </a:r>
                      <a:r>
                        <a:rPr lang="es-AR" sz="1100" u="none" strike="noStrike" dirty="0" smtClean="0">
                          <a:effectLst/>
                        </a:rPr>
                        <a:t>6.000</a:t>
                      </a:r>
                      <a:endParaRPr lang="es-A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AR" sz="1100" u="none" strike="noStrike" dirty="0">
                          <a:effectLst/>
                        </a:rPr>
                        <a:t> </a:t>
                      </a:r>
                      <a:endParaRPr lang="es-A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xmlns="" val="470263938"/>
                  </a:ext>
                </a:extLst>
              </a:tr>
              <a:tr h="202971">
                <a:tc gridSpan="2">
                  <a:txBody>
                    <a:bodyPr/>
                    <a:lstStyle/>
                    <a:p>
                      <a:pPr marL="0" marR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100" b="0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Cs. Ss. (R-)</a:t>
                      </a:r>
                      <a:endParaRPr lang="es-AR" sz="1100" b="1" i="0" u="none" strike="noStrike" dirty="0" smtClean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s-AR" sz="1100" u="none" strike="noStrike" dirty="0">
                          <a:effectLst/>
                        </a:rPr>
                        <a:t> </a:t>
                      </a:r>
                      <a:endParaRPr lang="es-A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AR" sz="1100" u="none" strike="noStrike" dirty="0">
                          <a:effectLst/>
                        </a:rPr>
                        <a:t>$ </a:t>
                      </a:r>
                      <a:r>
                        <a:rPr lang="es-AR" sz="1100" u="none" strike="noStrike" dirty="0" smtClean="0">
                          <a:effectLst/>
                        </a:rPr>
                        <a:t>3.500</a:t>
                      </a:r>
                      <a:endParaRPr lang="es-A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AR" sz="1100" u="none" strike="noStrike" dirty="0">
                          <a:effectLst/>
                        </a:rPr>
                        <a:t> </a:t>
                      </a:r>
                      <a:endParaRPr lang="es-A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xmlns="" val="2959398699"/>
                  </a:ext>
                </a:extLst>
              </a:tr>
              <a:tr h="202971">
                <a:tc gridSpan="2">
                  <a:txBody>
                    <a:bodyPr/>
                    <a:lstStyle/>
                    <a:p>
                      <a:pPr marL="0" marR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100" u="none" strike="noStrike" baseline="0" dirty="0" err="1" smtClean="0">
                          <a:effectLst/>
                        </a:rPr>
                        <a:t>Prev.Desp</a:t>
                      </a:r>
                      <a:r>
                        <a:rPr lang="es-AR" sz="1100" u="none" strike="noStrike" baseline="0" dirty="0" smtClean="0">
                          <a:effectLst/>
                        </a:rPr>
                        <a:t>. (P)</a:t>
                      </a:r>
                      <a:endParaRPr lang="es-AR" sz="1100" b="1" i="0" u="none" strike="noStrike" dirty="0" smtClean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fontAlgn="b"/>
                      <a:endParaRPr lang="es-A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A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$35.000</a:t>
                      </a:r>
                      <a:endParaRPr lang="es-A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s-A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</a:tr>
              <a:tr h="202971">
                <a:tc>
                  <a:txBody>
                    <a:bodyPr/>
                    <a:lstStyle/>
                    <a:p>
                      <a:pPr algn="l" fontAlgn="b"/>
                      <a:r>
                        <a:rPr lang="es-AR" sz="1100" u="none" strike="noStrike" dirty="0">
                          <a:effectLst/>
                        </a:rPr>
                        <a:t> </a:t>
                      </a:r>
                      <a:endParaRPr lang="es-A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 gridSpan="3">
                  <a:txBody>
                    <a:bodyPr/>
                    <a:lstStyle/>
                    <a:p>
                      <a:pPr algn="l" fontAlgn="b"/>
                      <a:r>
                        <a:rPr lang="es-AR" sz="1100" u="none" strike="noStrike" dirty="0">
                          <a:effectLst/>
                        </a:rPr>
                        <a:t>a </a:t>
                      </a:r>
                      <a:r>
                        <a:rPr lang="es-AR" sz="1100" u="none" strike="noStrike" dirty="0" smtClean="0">
                          <a:effectLst/>
                        </a:rPr>
                        <a:t>Disp.(A)</a:t>
                      </a:r>
                      <a:endParaRPr lang="es-A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AR" sz="1100" u="none" strike="noStrike" dirty="0">
                          <a:effectLst/>
                        </a:rPr>
                        <a:t> </a:t>
                      </a:r>
                      <a:endParaRPr lang="es-A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AR" sz="1100" u="none" strike="noStrike" dirty="0">
                          <a:effectLst/>
                        </a:rPr>
                        <a:t>$ </a:t>
                      </a:r>
                      <a:r>
                        <a:rPr lang="es-AR" sz="1100" u="none" strike="noStrike" dirty="0" smtClean="0">
                          <a:effectLst/>
                        </a:rPr>
                        <a:t>40.400</a:t>
                      </a:r>
                      <a:endParaRPr lang="es-A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</a:tr>
              <a:tr h="216024">
                <a:tc>
                  <a:txBody>
                    <a:bodyPr/>
                    <a:lstStyle/>
                    <a:p>
                      <a:pPr algn="l" fontAlgn="b"/>
                      <a:r>
                        <a:rPr lang="es-AR" sz="1100" u="none" strike="noStrike" dirty="0">
                          <a:effectLst/>
                        </a:rPr>
                        <a:t> </a:t>
                      </a:r>
                      <a:endParaRPr lang="es-A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s-AR" sz="1100" u="none" strike="noStrike" dirty="0">
                          <a:effectLst/>
                        </a:rPr>
                        <a:t>   </a:t>
                      </a:r>
                      <a:r>
                        <a:rPr lang="es-AR" sz="1100" u="none" strike="noStrike" dirty="0" err="1" smtClean="0">
                          <a:effectLst/>
                        </a:rPr>
                        <a:t>Cs.Ss</a:t>
                      </a:r>
                      <a:r>
                        <a:rPr lang="es-AR" sz="1100" u="none" strike="noStrike" dirty="0" smtClean="0">
                          <a:effectLst/>
                        </a:rPr>
                        <a:t>.</a:t>
                      </a:r>
                      <a:r>
                        <a:rPr lang="es-AR" sz="1100" u="none" strike="noStrike" baseline="0" dirty="0" smtClean="0">
                          <a:effectLst/>
                        </a:rPr>
                        <a:t> A Pagar (P)</a:t>
                      </a:r>
                      <a:endParaRPr lang="es-A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 hMerge="1">
                  <a:txBody>
                    <a:bodyPr/>
                    <a:lstStyle/>
                    <a:p>
                      <a:pPr algn="l" fontAlgn="b"/>
                      <a:endParaRPr lang="es-AR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AR" sz="1100" u="none" strike="noStrike" dirty="0">
                          <a:effectLst/>
                        </a:rPr>
                        <a:t> </a:t>
                      </a:r>
                      <a:endParaRPr lang="es-A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AR" sz="1100" u="none" strike="noStrike" dirty="0">
                          <a:effectLst/>
                        </a:rPr>
                        <a:t> </a:t>
                      </a:r>
                      <a:endParaRPr lang="es-A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AR" sz="1100" u="none" strike="noStrike" dirty="0">
                          <a:effectLst/>
                        </a:rPr>
                        <a:t>$ </a:t>
                      </a:r>
                      <a:r>
                        <a:rPr lang="es-AR" sz="1100" u="none" strike="noStrike" dirty="0" smtClean="0">
                          <a:effectLst/>
                        </a:rPr>
                        <a:t>4.200</a:t>
                      </a:r>
                      <a:endParaRPr lang="es-A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:a16="http://schemas.microsoft.com/office/drawing/2014/main" xmlns="" val="1866453939"/>
                  </a:ext>
                </a:extLst>
              </a:tr>
            </a:tbl>
          </a:graphicData>
        </a:graphic>
      </p:graphicFrame>
      <p:sp>
        <p:nvSpPr>
          <p:cNvPr id="48" name="Rectángulo 13">
            <a:extLst>
              <a:ext uri="{FF2B5EF4-FFF2-40B4-BE49-F238E27FC236}">
                <a16:creationId xmlns:a16="http://schemas.microsoft.com/office/drawing/2014/main" xmlns="" id="{0F053224-57B6-4424-99E8-036B94CE3A3B}"/>
              </a:ext>
            </a:extLst>
          </p:cNvPr>
          <p:cNvSpPr/>
          <p:nvPr/>
        </p:nvSpPr>
        <p:spPr>
          <a:xfrm>
            <a:off x="46616" y="1879777"/>
            <a:ext cx="138040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dirty="0" smtClean="0">
                <a:solidFill>
                  <a:srgbClr val="000000"/>
                </a:solidFill>
              </a:rPr>
              <a:t>Sueldos</a:t>
            </a:r>
            <a:endParaRPr lang="es-AR" dirty="0">
              <a:solidFill>
                <a:prstClr val="black"/>
              </a:solidFill>
            </a:endParaRPr>
          </a:p>
        </p:txBody>
      </p:sp>
      <p:sp>
        <p:nvSpPr>
          <p:cNvPr id="50" name="Rectángulo 13">
            <a:extLst>
              <a:ext uri="{FF2B5EF4-FFF2-40B4-BE49-F238E27FC236}">
                <a16:creationId xmlns:a16="http://schemas.microsoft.com/office/drawing/2014/main" xmlns="" id="{0F053224-57B6-4424-99E8-036B94CE3A3B}"/>
              </a:ext>
            </a:extLst>
          </p:cNvPr>
          <p:cNvSpPr/>
          <p:nvPr/>
        </p:nvSpPr>
        <p:spPr>
          <a:xfrm>
            <a:off x="1756238" y="4525240"/>
            <a:ext cx="9973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solidFill>
                  <a:srgbClr val="000000"/>
                </a:solidFill>
              </a:rPr>
              <a:t>$ </a:t>
            </a:r>
            <a:r>
              <a:rPr lang="es-AR" dirty="0" smtClean="0">
                <a:solidFill>
                  <a:srgbClr val="000000"/>
                </a:solidFill>
              </a:rPr>
              <a:t>35.000</a:t>
            </a:r>
            <a:endParaRPr lang="es-AR" dirty="0">
              <a:solidFill>
                <a:prstClr val="black"/>
              </a:solidFill>
            </a:endParaRPr>
          </a:p>
        </p:txBody>
      </p:sp>
      <p:sp>
        <p:nvSpPr>
          <p:cNvPr id="57" name="Rectángulo 13">
            <a:extLst>
              <a:ext uri="{FF2B5EF4-FFF2-40B4-BE49-F238E27FC236}">
                <a16:creationId xmlns:a16="http://schemas.microsoft.com/office/drawing/2014/main" xmlns="" id="{0F053224-57B6-4424-99E8-036B94CE3A3B}"/>
              </a:ext>
            </a:extLst>
          </p:cNvPr>
          <p:cNvSpPr/>
          <p:nvPr/>
        </p:nvSpPr>
        <p:spPr>
          <a:xfrm>
            <a:off x="338861" y="3705377"/>
            <a:ext cx="123463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solidFill>
                  <a:srgbClr val="000000"/>
                </a:solidFill>
              </a:rPr>
              <a:t>$ </a:t>
            </a:r>
            <a:r>
              <a:rPr lang="es-AR" sz="1400" dirty="0" smtClean="0">
                <a:solidFill>
                  <a:srgbClr val="000000"/>
                </a:solidFill>
              </a:rPr>
              <a:t>6.000 x 60%</a:t>
            </a:r>
            <a:endParaRPr lang="es-AR" sz="1400" dirty="0">
              <a:solidFill>
                <a:prstClr val="black"/>
              </a:solidFill>
            </a:endParaRPr>
          </a:p>
        </p:txBody>
      </p:sp>
      <p:sp>
        <p:nvSpPr>
          <p:cNvPr id="36" name="39 Rectángulo">
            <a:extLst>
              <a:ext uri="{FF2B5EF4-FFF2-40B4-BE49-F238E27FC236}">
                <a16:creationId xmlns:a16="http://schemas.microsoft.com/office/drawing/2014/main" xmlns="" id="{00000000-0008-0000-0200-000028000000}"/>
              </a:ext>
            </a:extLst>
          </p:cNvPr>
          <p:cNvSpPr/>
          <p:nvPr/>
        </p:nvSpPr>
        <p:spPr>
          <a:xfrm>
            <a:off x="707413" y="4204585"/>
            <a:ext cx="871255" cy="1868210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AR" sz="1600" b="1" dirty="0" err="1" smtClean="0">
                <a:solidFill>
                  <a:sysClr val="windowText" lastClr="000000"/>
                </a:solidFill>
              </a:rPr>
              <a:t>Prev</a:t>
            </a:r>
            <a:r>
              <a:rPr lang="es-AR" sz="1600" b="1" dirty="0" smtClean="0">
                <a:solidFill>
                  <a:sysClr val="windowText" lastClr="000000"/>
                </a:solidFill>
              </a:rPr>
              <a:t>. </a:t>
            </a:r>
            <a:r>
              <a:rPr lang="es-AR" sz="1600" b="1" dirty="0" err="1" smtClean="0">
                <a:solidFill>
                  <a:sysClr val="windowText" lastClr="000000"/>
                </a:solidFill>
              </a:rPr>
              <a:t>Desp</a:t>
            </a:r>
            <a:r>
              <a:rPr lang="es-AR" sz="1600" b="1" dirty="0" smtClean="0">
                <a:solidFill>
                  <a:sysClr val="windowText" lastClr="000000"/>
                </a:solidFill>
              </a:rPr>
              <a:t>.</a:t>
            </a:r>
            <a:endParaRPr lang="es-AR" sz="1600" b="1" dirty="0">
              <a:solidFill>
                <a:sysClr val="windowText" lastClr="000000"/>
              </a:solidFill>
            </a:endParaRPr>
          </a:p>
        </p:txBody>
      </p:sp>
      <p:sp>
        <p:nvSpPr>
          <p:cNvPr id="35" name="52 Elipse">
            <a:extLst>
              <a:ext uri="{FF2B5EF4-FFF2-40B4-BE49-F238E27FC236}">
                <a16:creationId xmlns:a16="http://schemas.microsoft.com/office/drawing/2014/main" xmlns="" id="{00000000-0008-0000-0200-000035000000}"/>
              </a:ext>
            </a:extLst>
          </p:cNvPr>
          <p:cNvSpPr/>
          <p:nvPr/>
        </p:nvSpPr>
        <p:spPr>
          <a:xfrm>
            <a:off x="1143040" y="2030521"/>
            <a:ext cx="234065" cy="301488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AR" sz="1800"/>
          </a:p>
        </p:txBody>
      </p:sp>
      <p:cxnSp>
        <p:nvCxnSpPr>
          <p:cNvPr id="33" name="44 Conector recto de flecha">
            <a:extLst>
              <a:ext uri="{FF2B5EF4-FFF2-40B4-BE49-F238E27FC236}">
                <a16:creationId xmlns:a16="http://schemas.microsoft.com/office/drawing/2014/main" xmlns="" id="{00000000-0008-0000-0200-00002D000000}"/>
              </a:ext>
            </a:extLst>
          </p:cNvPr>
          <p:cNvCxnSpPr>
            <a:cxnSpLocks/>
            <a:stCxn id="17" idx="4"/>
            <a:endCxn id="40" idx="6"/>
          </p:cNvCxnSpPr>
          <p:nvPr/>
        </p:nvCxnSpPr>
        <p:spPr>
          <a:xfrm flipH="1">
            <a:off x="1529505" y="2377665"/>
            <a:ext cx="1639274" cy="1151491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ángulo 13">
            <a:extLst>
              <a:ext uri="{FF2B5EF4-FFF2-40B4-BE49-F238E27FC236}">
                <a16:creationId xmlns:a16="http://schemas.microsoft.com/office/drawing/2014/main" xmlns="" id="{0F053224-57B6-4424-99E8-036B94CE3A3B}"/>
              </a:ext>
            </a:extLst>
          </p:cNvPr>
          <p:cNvSpPr/>
          <p:nvPr/>
        </p:nvSpPr>
        <p:spPr>
          <a:xfrm>
            <a:off x="1316053" y="2858336"/>
            <a:ext cx="8803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 smtClean="0">
                <a:solidFill>
                  <a:srgbClr val="000000"/>
                </a:solidFill>
              </a:rPr>
              <a:t>$3.600</a:t>
            </a:r>
            <a:r>
              <a:rPr lang="es-AR" dirty="0" smtClean="0">
                <a:solidFill>
                  <a:prstClr val="black"/>
                </a:solidFill>
              </a:rPr>
              <a:t> </a:t>
            </a:r>
            <a:endParaRPr lang="es-AR" dirty="0">
              <a:solidFill>
                <a:prstClr val="black"/>
              </a:solidFill>
            </a:endParaRPr>
          </a:p>
        </p:txBody>
      </p:sp>
      <p:sp>
        <p:nvSpPr>
          <p:cNvPr id="39" name="Rectángulo 13">
            <a:extLst>
              <a:ext uri="{FF2B5EF4-FFF2-40B4-BE49-F238E27FC236}">
                <a16:creationId xmlns:a16="http://schemas.microsoft.com/office/drawing/2014/main" xmlns="" id="{0F053224-57B6-4424-99E8-036B94CE3A3B}"/>
              </a:ext>
            </a:extLst>
          </p:cNvPr>
          <p:cNvSpPr/>
          <p:nvPr/>
        </p:nvSpPr>
        <p:spPr>
          <a:xfrm>
            <a:off x="199016" y="3227668"/>
            <a:ext cx="138040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dirty="0" smtClean="0">
                <a:solidFill>
                  <a:srgbClr val="000000"/>
                </a:solidFill>
              </a:rPr>
              <a:t>Cs. Ss.</a:t>
            </a:r>
            <a:endParaRPr lang="es-AR" dirty="0">
              <a:solidFill>
                <a:prstClr val="black"/>
              </a:solidFill>
            </a:endParaRPr>
          </a:p>
        </p:txBody>
      </p:sp>
      <p:sp>
        <p:nvSpPr>
          <p:cNvPr id="40" name="52 Elipse">
            <a:extLst>
              <a:ext uri="{FF2B5EF4-FFF2-40B4-BE49-F238E27FC236}">
                <a16:creationId xmlns:a16="http://schemas.microsoft.com/office/drawing/2014/main" xmlns="" id="{00000000-0008-0000-0200-000035000000}"/>
              </a:ext>
            </a:extLst>
          </p:cNvPr>
          <p:cNvSpPr/>
          <p:nvPr/>
        </p:nvSpPr>
        <p:spPr>
          <a:xfrm>
            <a:off x="1295440" y="3378412"/>
            <a:ext cx="234065" cy="301488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AR" sz="1800"/>
          </a:p>
        </p:txBody>
      </p:sp>
      <p:sp>
        <p:nvSpPr>
          <p:cNvPr id="44" name="Rectángulo 13">
            <a:extLst>
              <a:ext uri="{FF2B5EF4-FFF2-40B4-BE49-F238E27FC236}">
                <a16:creationId xmlns:a16="http://schemas.microsoft.com/office/drawing/2014/main" xmlns="" id="{0F053224-57B6-4424-99E8-036B94CE3A3B}"/>
              </a:ext>
            </a:extLst>
          </p:cNvPr>
          <p:cNvSpPr/>
          <p:nvPr/>
        </p:nvSpPr>
        <p:spPr>
          <a:xfrm>
            <a:off x="4595611" y="5445224"/>
            <a:ext cx="17443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solidFill>
                  <a:srgbClr val="000000"/>
                </a:solidFill>
              </a:rPr>
              <a:t>$ </a:t>
            </a:r>
            <a:r>
              <a:rPr lang="es-AR" sz="1400" dirty="0" smtClean="0">
                <a:solidFill>
                  <a:srgbClr val="000000"/>
                </a:solidFill>
              </a:rPr>
              <a:t>6.000 x (60%+10%)</a:t>
            </a:r>
            <a:endParaRPr lang="es-AR" sz="1400" dirty="0">
              <a:solidFill>
                <a:prstClr val="black"/>
              </a:solidFill>
            </a:endParaRPr>
          </a:p>
        </p:txBody>
      </p:sp>
      <p:sp>
        <p:nvSpPr>
          <p:cNvPr id="45" name="Rectángulo 13">
            <a:extLst>
              <a:ext uri="{FF2B5EF4-FFF2-40B4-BE49-F238E27FC236}">
                <a16:creationId xmlns:a16="http://schemas.microsoft.com/office/drawing/2014/main" xmlns="" id="{0F053224-57B6-4424-99E8-036B94CE3A3B}"/>
              </a:ext>
            </a:extLst>
          </p:cNvPr>
          <p:cNvSpPr/>
          <p:nvPr/>
        </p:nvSpPr>
        <p:spPr>
          <a:xfrm>
            <a:off x="6108558" y="1647138"/>
            <a:ext cx="19976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solidFill>
                  <a:srgbClr val="000000"/>
                </a:solidFill>
              </a:rPr>
              <a:t>$ </a:t>
            </a:r>
            <a:r>
              <a:rPr lang="es-AR" sz="1400" dirty="0" smtClean="0">
                <a:solidFill>
                  <a:srgbClr val="000000"/>
                </a:solidFill>
              </a:rPr>
              <a:t>35.000 + $6.000 x 90%</a:t>
            </a:r>
            <a:endParaRPr lang="es-AR" sz="14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60600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6" grpId="0" animBg="1"/>
      <p:bldP spid="17" grpId="0" animBg="1"/>
      <p:bldP spid="23" grpId="0" animBg="1"/>
      <p:bldP spid="14" grpId="0"/>
      <p:bldP spid="15" grpId="0"/>
      <p:bldP spid="34" grpId="0"/>
      <p:bldP spid="48" grpId="0"/>
      <p:bldP spid="50" grpId="0"/>
      <p:bldP spid="57" grpId="0"/>
      <p:bldP spid="36" grpId="0" animBg="1"/>
      <p:bldP spid="35" grpId="0" animBg="1"/>
      <p:bldP spid="37" grpId="0"/>
      <p:bldP spid="39" grpId="0"/>
      <p:bldP spid="40" grpId="0" animBg="1"/>
      <p:bldP spid="44" grpId="0"/>
      <p:bldP spid="4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="" xmlns:a16="http://schemas.microsoft.com/office/drawing/2014/main" id="{DD7C5540-AFA9-409E-B061-E3CEA4BDABDC}"/>
              </a:ext>
            </a:extLst>
          </p:cNvPr>
          <p:cNvSpPr/>
          <p:nvPr/>
        </p:nvSpPr>
        <p:spPr>
          <a:xfrm>
            <a:off x="547141" y="389745"/>
            <a:ext cx="8049718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600" i="1" u="sng" dirty="0"/>
              <a:t>Ejemplo 4.10.1</a:t>
            </a:r>
            <a:r>
              <a:rPr lang="es-AR" sz="1600" i="1" dirty="0"/>
              <a:t>: </a:t>
            </a:r>
            <a:endParaRPr lang="es-AR" sz="1600" dirty="0"/>
          </a:p>
          <a:p>
            <a:r>
              <a:rPr lang="es-AR" sz="1600" i="1" dirty="0"/>
              <a:t>Una empresa contrata el 1-1-2013 para la planta industrial un seguro por incendio cuya cobertura anual supone el pago de una prima de $84.000 + IVA. La cobertura la concreta con el pago ese día de un anticipo de $10.000 +IVA.</a:t>
            </a:r>
            <a:endParaRPr lang="es-AR" sz="1600" dirty="0"/>
          </a:p>
          <a:p>
            <a:r>
              <a:rPr lang="es-AR" sz="1600" i="1" dirty="0"/>
              <a:t>El 3-3-2013 paga la prima anual a la compañía de seguro descontando el anticipo pagado el 1-1. </a:t>
            </a:r>
            <a:endParaRPr lang="es-AR" sz="1600" dirty="0"/>
          </a:p>
          <a:p>
            <a:r>
              <a:rPr lang="es-AR" sz="1600" i="1" dirty="0"/>
              <a:t>El día 16-6-2013 se produce un incendio en la planta industrial, se evalúan los daños y se determina que se destruyeron Instalaciones por $146.000 de Valor de Origen, Valor Residual de $88.000, Vida Útil 15 años y que tenían al momento del siniestro 12 años de antigüedad. También se destruyen Máquinas por $238.000 de VO, $135.000 de VR, VU 10 años y antigüedad 6 años. Se hace la denuncia a la compañía aseguradora y se espera su contestación para la registración contable.</a:t>
            </a:r>
            <a:endParaRPr lang="es-AR" sz="1600" dirty="0"/>
          </a:p>
          <a:p>
            <a:r>
              <a:rPr lang="es-AR" sz="1600" i="1" dirty="0"/>
              <a:t>El día 30-6-2013 la compañía de seguros ofrece $80.000+IVA por las instalaciones y $190.000+IVA por las máquinas. Se acepta la propuesta y se hace la registración.</a:t>
            </a:r>
            <a:endParaRPr lang="es-AR" sz="1600" dirty="0"/>
          </a:p>
          <a:p>
            <a:r>
              <a:rPr lang="es-AR" sz="1600" i="1" dirty="0"/>
              <a:t>Registrar todas las transacciones involucradas durante el año 2013.  </a:t>
            </a:r>
            <a:endParaRPr lang="es-AR" sz="1600" dirty="0"/>
          </a:p>
        </p:txBody>
      </p:sp>
      <p:sp>
        <p:nvSpPr>
          <p:cNvPr id="41" name="51 Elipse">
            <a:extLst>
              <a:ext uri="{FF2B5EF4-FFF2-40B4-BE49-F238E27FC236}">
                <a16:creationId xmlns="" xmlns:a16="http://schemas.microsoft.com/office/drawing/2014/main" id="{00000000-0008-0000-0200-000034000000}"/>
              </a:ext>
            </a:extLst>
          </p:cNvPr>
          <p:cNvSpPr/>
          <p:nvPr/>
        </p:nvSpPr>
        <p:spPr>
          <a:xfrm>
            <a:off x="262374" y="4651957"/>
            <a:ext cx="1217218" cy="1265311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AR" sz="1600" b="1" dirty="0" smtClean="0">
                <a:solidFill>
                  <a:sysClr val="windowText" lastClr="000000"/>
                </a:solidFill>
              </a:rPr>
              <a:t>Disp.</a:t>
            </a:r>
            <a:endParaRPr lang="es-AR" sz="1600" b="1" dirty="0">
              <a:solidFill>
                <a:sysClr val="windowText" lastClr="000000"/>
              </a:solidFill>
            </a:endParaRPr>
          </a:p>
        </p:txBody>
      </p:sp>
      <p:sp>
        <p:nvSpPr>
          <p:cNvPr id="52" name="Rectángulo 51">
            <a:extLst>
              <a:ext uri="{FF2B5EF4-FFF2-40B4-BE49-F238E27FC236}">
                <a16:creationId xmlns="" xmlns:a16="http://schemas.microsoft.com/office/drawing/2014/main" id="{A6145E73-EE9E-48DD-9626-CDD45C550135}"/>
              </a:ext>
            </a:extLst>
          </p:cNvPr>
          <p:cNvSpPr/>
          <p:nvPr/>
        </p:nvSpPr>
        <p:spPr>
          <a:xfrm>
            <a:off x="1619672" y="4838414"/>
            <a:ext cx="9973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solidFill>
                  <a:srgbClr val="000000"/>
                </a:solidFill>
                <a:latin typeface="Calibri" panose="020F0502020204030204" pitchFamily="34" charset="0"/>
              </a:rPr>
              <a:t>$ </a:t>
            </a:r>
            <a:r>
              <a:rPr lang="es-AR" dirty="0" smtClean="0">
                <a:solidFill>
                  <a:srgbClr val="000000"/>
                </a:solidFill>
                <a:latin typeface="Calibri" panose="020F0502020204030204" pitchFamily="34" charset="0"/>
              </a:rPr>
              <a:t>12.100</a:t>
            </a:r>
            <a:endParaRPr lang="es-AR" dirty="0"/>
          </a:p>
        </p:txBody>
      </p:sp>
      <p:sp>
        <p:nvSpPr>
          <p:cNvPr id="25" name="23 Elipse">
            <a:extLst>
              <a:ext uri="{FF2B5EF4-FFF2-40B4-BE49-F238E27FC236}">
                <a16:creationId xmlns="" xmlns:a16="http://schemas.microsoft.com/office/drawing/2014/main" id="{00000000-0008-0000-0200-000018000000}"/>
              </a:ext>
            </a:extLst>
          </p:cNvPr>
          <p:cNvSpPr/>
          <p:nvPr/>
        </p:nvSpPr>
        <p:spPr>
          <a:xfrm>
            <a:off x="3026354" y="5256447"/>
            <a:ext cx="78413" cy="8958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AR" sz="1800"/>
          </a:p>
        </p:txBody>
      </p:sp>
      <p:cxnSp>
        <p:nvCxnSpPr>
          <p:cNvPr id="28" name="26 Conector recto de flecha">
            <a:extLst>
              <a:ext uri="{FF2B5EF4-FFF2-40B4-BE49-F238E27FC236}">
                <a16:creationId xmlns="" xmlns:a16="http://schemas.microsoft.com/office/drawing/2014/main" id="{00000000-0008-0000-0200-00001B000000}"/>
              </a:ext>
            </a:extLst>
          </p:cNvPr>
          <p:cNvCxnSpPr>
            <a:stCxn id="25" idx="6"/>
          </p:cNvCxnSpPr>
          <p:nvPr/>
        </p:nvCxnSpPr>
        <p:spPr>
          <a:xfrm flipV="1">
            <a:off x="3104767" y="4903742"/>
            <a:ext cx="1322216" cy="397498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44 Conector recto de flecha">
            <a:extLst>
              <a:ext uri="{FF2B5EF4-FFF2-40B4-BE49-F238E27FC236}">
                <a16:creationId xmlns="" xmlns:a16="http://schemas.microsoft.com/office/drawing/2014/main" id="{00000000-0008-0000-0200-00002D000000}"/>
              </a:ext>
            </a:extLst>
          </p:cNvPr>
          <p:cNvCxnSpPr>
            <a:cxnSpLocks/>
            <a:stCxn id="41" idx="6"/>
            <a:endCxn id="25" idx="2"/>
          </p:cNvCxnSpPr>
          <p:nvPr/>
        </p:nvCxnSpPr>
        <p:spPr>
          <a:xfrm>
            <a:off x="1479592" y="5284613"/>
            <a:ext cx="1546762" cy="16627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ángulo 14">
            <a:extLst>
              <a:ext uri="{FF2B5EF4-FFF2-40B4-BE49-F238E27FC236}">
                <a16:creationId xmlns="" xmlns:a16="http://schemas.microsoft.com/office/drawing/2014/main" id="{28F8C3CF-63F2-4545-B1D3-82F1B8EE9285}"/>
              </a:ext>
            </a:extLst>
          </p:cNvPr>
          <p:cNvSpPr/>
          <p:nvPr/>
        </p:nvSpPr>
        <p:spPr>
          <a:xfrm>
            <a:off x="3329821" y="4651957"/>
            <a:ext cx="9973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solidFill>
                  <a:srgbClr val="000000"/>
                </a:solidFill>
                <a:latin typeface="Calibri" panose="020F0502020204030204" pitchFamily="34" charset="0"/>
              </a:rPr>
              <a:t>$ </a:t>
            </a:r>
            <a:r>
              <a:rPr lang="es-AR" dirty="0" smtClean="0">
                <a:solidFill>
                  <a:srgbClr val="000000"/>
                </a:solidFill>
                <a:latin typeface="Calibri" panose="020F0502020204030204" pitchFamily="34" charset="0"/>
              </a:rPr>
              <a:t>10.000</a:t>
            </a:r>
            <a:endParaRPr lang="es-AR" dirty="0"/>
          </a:p>
        </p:txBody>
      </p:sp>
      <p:sp>
        <p:nvSpPr>
          <p:cNvPr id="36" name="51 Elipse">
            <a:extLst>
              <a:ext uri="{FF2B5EF4-FFF2-40B4-BE49-F238E27FC236}">
                <a16:creationId xmlns="" xmlns:a16="http://schemas.microsoft.com/office/drawing/2014/main" id="{00000000-0008-0000-0200-000034000000}"/>
              </a:ext>
            </a:extLst>
          </p:cNvPr>
          <p:cNvSpPr/>
          <p:nvPr/>
        </p:nvSpPr>
        <p:spPr>
          <a:xfrm>
            <a:off x="4426983" y="5541787"/>
            <a:ext cx="1165286" cy="1196962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AR" sz="1600" b="1" dirty="0" smtClean="0">
                <a:solidFill>
                  <a:sysClr val="windowText" lastClr="000000"/>
                </a:solidFill>
              </a:rPr>
              <a:t>IVA CF</a:t>
            </a:r>
            <a:endParaRPr lang="es-AR" sz="1600" b="1" dirty="0">
              <a:solidFill>
                <a:sysClr val="windowText" lastClr="000000"/>
              </a:solidFill>
            </a:endParaRPr>
          </a:p>
        </p:txBody>
      </p:sp>
      <p:cxnSp>
        <p:nvCxnSpPr>
          <p:cNvPr id="38" name="37 Conector recto de flecha">
            <a:extLst>
              <a:ext uri="{FF2B5EF4-FFF2-40B4-BE49-F238E27FC236}">
                <a16:creationId xmlns="" xmlns:a16="http://schemas.microsoft.com/office/drawing/2014/main" id="{00000000-0008-0000-0200-000036000000}"/>
              </a:ext>
            </a:extLst>
          </p:cNvPr>
          <p:cNvCxnSpPr>
            <a:stCxn id="25" idx="5"/>
            <a:endCxn id="36" idx="1"/>
          </p:cNvCxnSpPr>
          <p:nvPr/>
        </p:nvCxnSpPr>
        <p:spPr>
          <a:xfrm>
            <a:off x="3093284" y="5332913"/>
            <a:ext cx="1504351" cy="384165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ángulo 13">
            <a:extLst>
              <a:ext uri="{FF2B5EF4-FFF2-40B4-BE49-F238E27FC236}">
                <a16:creationId xmlns="" xmlns:a16="http://schemas.microsoft.com/office/drawing/2014/main" id="{0F053224-57B6-4424-99E8-036B94CE3A3B}"/>
              </a:ext>
            </a:extLst>
          </p:cNvPr>
          <p:cNvSpPr/>
          <p:nvPr/>
        </p:nvSpPr>
        <p:spPr>
          <a:xfrm>
            <a:off x="3162800" y="5589240"/>
            <a:ext cx="9332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solidFill>
                  <a:srgbClr val="000000"/>
                </a:solidFill>
                <a:latin typeface="Calibri" panose="020F0502020204030204" pitchFamily="34" charset="0"/>
              </a:rPr>
              <a:t>$ </a:t>
            </a:r>
            <a:r>
              <a:rPr lang="es-AR" dirty="0" smtClean="0">
                <a:solidFill>
                  <a:srgbClr val="000000"/>
                </a:solidFill>
                <a:latin typeface="Calibri" panose="020F0502020204030204" pitchFamily="34" charset="0"/>
              </a:rPr>
              <a:t>2.100</a:t>
            </a:r>
            <a:r>
              <a:rPr lang="es-AR" dirty="0" smtClean="0"/>
              <a:t> </a:t>
            </a:r>
            <a:endParaRPr lang="es-AR" dirty="0"/>
          </a:p>
        </p:txBody>
      </p:sp>
      <p:sp>
        <p:nvSpPr>
          <p:cNvPr id="47" name="Rectángulo 13">
            <a:extLst>
              <a:ext uri="{FF2B5EF4-FFF2-40B4-BE49-F238E27FC236}">
                <a16:creationId xmlns="" xmlns:a16="http://schemas.microsoft.com/office/drawing/2014/main" id="{0F053224-57B6-4424-99E8-036B94CE3A3B}"/>
              </a:ext>
            </a:extLst>
          </p:cNvPr>
          <p:cNvSpPr/>
          <p:nvPr/>
        </p:nvSpPr>
        <p:spPr>
          <a:xfrm>
            <a:off x="262374" y="4183585"/>
            <a:ext cx="10278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u="sng" dirty="0" smtClean="0">
                <a:solidFill>
                  <a:srgbClr val="000000"/>
                </a:solidFill>
                <a:latin typeface="Calibri" panose="020F0502020204030204" pitchFamily="34" charset="0"/>
              </a:rPr>
              <a:t>1-1-2013</a:t>
            </a:r>
            <a:endParaRPr lang="es-AR" sz="1400" u="sng" dirty="0"/>
          </a:p>
        </p:txBody>
      </p:sp>
      <p:graphicFrame>
        <p:nvGraphicFramePr>
          <p:cNvPr id="55" name="Tabla 52">
            <a:extLst>
              <a:ext uri="{FF2B5EF4-FFF2-40B4-BE49-F238E27FC236}">
                <a16:creationId xmlns="" xmlns:a16="http://schemas.microsoft.com/office/drawing/2014/main" id="{F090687D-0AE3-4ECE-997C-E3CF2668BB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7112260"/>
              </p:ext>
            </p:extLst>
          </p:nvPr>
        </p:nvGraphicFramePr>
        <p:xfrm>
          <a:off x="5796136" y="4635643"/>
          <a:ext cx="2976215" cy="91167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95243">
                  <a:extLst>
                    <a:ext uri="{9D8B030D-6E8A-4147-A177-3AD203B41FA5}">
                      <a16:colId xmlns="" xmlns:a16="http://schemas.microsoft.com/office/drawing/2014/main" val="609204336"/>
                    </a:ext>
                  </a:extLst>
                </a:gridCol>
                <a:gridCol w="595243">
                  <a:extLst>
                    <a:ext uri="{9D8B030D-6E8A-4147-A177-3AD203B41FA5}">
                      <a16:colId xmlns="" xmlns:a16="http://schemas.microsoft.com/office/drawing/2014/main" val="2193348770"/>
                    </a:ext>
                  </a:extLst>
                </a:gridCol>
                <a:gridCol w="595243">
                  <a:extLst>
                    <a:ext uri="{9D8B030D-6E8A-4147-A177-3AD203B41FA5}">
                      <a16:colId xmlns="" xmlns:a16="http://schemas.microsoft.com/office/drawing/2014/main" val="4092774877"/>
                    </a:ext>
                  </a:extLst>
                </a:gridCol>
                <a:gridCol w="595243">
                  <a:extLst>
                    <a:ext uri="{9D8B030D-6E8A-4147-A177-3AD203B41FA5}">
                      <a16:colId xmlns="" xmlns:a16="http://schemas.microsoft.com/office/drawing/2014/main" val="3501325627"/>
                    </a:ext>
                  </a:extLst>
                </a:gridCol>
                <a:gridCol w="595243">
                  <a:extLst>
                    <a:ext uri="{9D8B030D-6E8A-4147-A177-3AD203B41FA5}">
                      <a16:colId xmlns="" xmlns:a16="http://schemas.microsoft.com/office/drawing/2014/main" val="1946522016"/>
                    </a:ext>
                  </a:extLst>
                </a:gridCol>
              </a:tblGrid>
              <a:tr h="302761"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s-AR" sz="1100" u="none" strike="noStrike" dirty="0">
                          <a:effectLst/>
                        </a:rPr>
                        <a:t>Cuentas</a:t>
                      </a:r>
                      <a:endParaRPr lang="es-A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u="none" strike="noStrike">
                          <a:effectLst/>
                        </a:rPr>
                        <a:t>DEBE</a:t>
                      </a:r>
                      <a:endParaRPr lang="es-AR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u="none" strike="noStrike">
                          <a:effectLst/>
                        </a:rPr>
                        <a:t>HABER</a:t>
                      </a:r>
                      <a:endParaRPr lang="es-AR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="" xmlns:a16="http://schemas.microsoft.com/office/drawing/2014/main" val="2942187959"/>
                  </a:ext>
                </a:extLst>
              </a:tr>
              <a:tr h="202971">
                <a:tc gridSpan="2">
                  <a:txBody>
                    <a:bodyPr/>
                    <a:lstStyle/>
                    <a:p>
                      <a:pPr marL="0" marR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100" b="0" i="0" u="none" strike="noStrike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Ant.Proveedores</a:t>
                      </a:r>
                      <a:r>
                        <a:rPr lang="es-AR" sz="1100" b="0" i="0" u="none" strike="noStrike" baseline="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 (A)</a:t>
                      </a:r>
                      <a:endParaRPr lang="es-AR" sz="1100" b="1" i="0" u="none" strike="noStrike" dirty="0" smtClean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s-A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A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$10.000</a:t>
                      </a:r>
                      <a:endParaRPr lang="es-A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s-A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="" xmlns:a16="http://schemas.microsoft.com/office/drawing/2014/main" val="2959398699"/>
                  </a:ext>
                </a:extLst>
              </a:tr>
              <a:tr h="202971">
                <a:tc gridSpan="2">
                  <a:txBody>
                    <a:bodyPr/>
                    <a:lstStyle/>
                    <a:p>
                      <a:pPr marL="0" marR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100" b="0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IVA</a:t>
                      </a:r>
                      <a:r>
                        <a:rPr lang="es-AR" sz="1100" b="0" i="0" u="none" strike="noStrike" baseline="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 CF (A)</a:t>
                      </a:r>
                      <a:endParaRPr lang="es-AR" sz="1100" b="1" i="0" u="none" strike="noStrike" dirty="0" smtClean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s-A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A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$2.100</a:t>
                      </a:r>
                      <a:endParaRPr lang="es-A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s-A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</a:tr>
              <a:tr h="202971">
                <a:tc>
                  <a:txBody>
                    <a:bodyPr/>
                    <a:lstStyle/>
                    <a:p>
                      <a:pPr algn="l" fontAlgn="b"/>
                      <a:r>
                        <a:rPr lang="es-AR" sz="1100" u="none" strike="noStrike" dirty="0">
                          <a:effectLst/>
                        </a:rPr>
                        <a:t> </a:t>
                      </a:r>
                      <a:endParaRPr lang="es-A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s-AR" sz="1100" u="none" strike="noStrike" dirty="0">
                          <a:effectLst/>
                        </a:rPr>
                        <a:t>a </a:t>
                      </a:r>
                      <a:r>
                        <a:rPr lang="es-AR" sz="1100" u="none" strike="noStrike" dirty="0" err="1" smtClean="0">
                          <a:effectLst/>
                        </a:rPr>
                        <a:t>Disp</a:t>
                      </a:r>
                      <a:r>
                        <a:rPr lang="es-AR" sz="1100" u="none" strike="noStrike" dirty="0" smtClean="0">
                          <a:effectLst/>
                        </a:rPr>
                        <a:t> (A)</a:t>
                      </a:r>
                      <a:endParaRPr lang="es-A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AR" sz="1100" u="none" strike="noStrike" dirty="0">
                          <a:effectLst/>
                        </a:rPr>
                        <a:t> </a:t>
                      </a:r>
                      <a:endParaRPr lang="es-A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AR" sz="1100" u="none" strike="noStrike" dirty="0">
                          <a:effectLst/>
                        </a:rPr>
                        <a:t>$ </a:t>
                      </a:r>
                      <a:r>
                        <a:rPr lang="es-AR" sz="1100" u="none" strike="noStrike" dirty="0" smtClean="0">
                          <a:effectLst/>
                        </a:rPr>
                        <a:t>12.100</a:t>
                      </a:r>
                      <a:endParaRPr lang="es-A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</a:tr>
            </a:tbl>
          </a:graphicData>
        </a:graphic>
      </p:graphicFrame>
      <p:sp>
        <p:nvSpPr>
          <p:cNvPr id="42" name="51 Elipse">
            <a:extLst>
              <a:ext uri="{FF2B5EF4-FFF2-40B4-BE49-F238E27FC236}">
                <a16:creationId xmlns="" xmlns:a16="http://schemas.microsoft.com/office/drawing/2014/main" id="{00000000-0008-0000-0200-000034000000}"/>
              </a:ext>
            </a:extLst>
          </p:cNvPr>
          <p:cNvSpPr/>
          <p:nvPr/>
        </p:nvSpPr>
        <p:spPr>
          <a:xfrm>
            <a:off x="4426983" y="4288986"/>
            <a:ext cx="1165286" cy="1196962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AR" sz="1600" b="1" dirty="0" err="1" smtClean="0">
                <a:solidFill>
                  <a:sysClr val="windowText" lastClr="000000"/>
                </a:solidFill>
              </a:rPr>
              <a:t>Ant</a:t>
            </a:r>
            <a:r>
              <a:rPr lang="es-AR" sz="1600" b="1" dirty="0" smtClean="0">
                <a:solidFill>
                  <a:sysClr val="windowText" lastClr="000000"/>
                </a:solidFill>
              </a:rPr>
              <a:t>.</a:t>
            </a:r>
          </a:p>
          <a:p>
            <a:pPr algn="ctr"/>
            <a:r>
              <a:rPr lang="es-AR" sz="1600" b="1" dirty="0" smtClean="0">
                <a:solidFill>
                  <a:sysClr val="windowText" lastClr="000000"/>
                </a:solidFill>
              </a:rPr>
              <a:t>Prov.</a:t>
            </a:r>
            <a:endParaRPr lang="es-AR" sz="1600" b="1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7478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1" grpId="0" animBg="1"/>
      <p:bldP spid="52" grpId="0"/>
      <p:bldP spid="25" grpId="0" animBg="1"/>
      <p:bldP spid="34" grpId="0"/>
      <p:bldP spid="36" grpId="0" animBg="1"/>
      <p:bldP spid="46" grpId="0"/>
      <p:bldP spid="47" grpId="0"/>
      <p:bldP spid="4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ángulo 13">
            <a:extLst>
              <a:ext uri="{FF2B5EF4-FFF2-40B4-BE49-F238E27FC236}">
                <a16:creationId xmlns="" xmlns:a16="http://schemas.microsoft.com/office/drawing/2014/main" id="{0F053224-57B6-4424-99E8-036B94CE3A3B}"/>
              </a:ext>
            </a:extLst>
          </p:cNvPr>
          <p:cNvSpPr/>
          <p:nvPr/>
        </p:nvSpPr>
        <p:spPr>
          <a:xfrm>
            <a:off x="123488" y="188640"/>
            <a:ext cx="9108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 smtClean="0">
                <a:solidFill>
                  <a:srgbClr val="000000"/>
                </a:solidFill>
                <a:latin typeface="Calibri" panose="020F0502020204030204" pitchFamily="34" charset="0"/>
              </a:rPr>
              <a:t>31-1-13</a:t>
            </a:r>
            <a:endParaRPr lang="es-AR" dirty="0"/>
          </a:p>
        </p:txBody>
      </p:sp>
      <p:sp>
        <p:nvSpPr>
          <p:cNvPr id="74" name="Rectángulo 13">
            <a:extLst>
              <a:ext uri="{FF2B5EF4-FFF2-40B4-BE49-F238E27FC236}">
                <a16:creationId xmlns="" xmlns:a16="http://schemas.microsoft.com/office/drawing/2014/main" id="{0F053224-57B6-4424-99E8-036B94CE3A3B}"/>
              </a:ext>
            </a:extLst>
          </p:cNvPr>
          <p:cNvSpPr/>
          <p:nvPr/>
        </p:nvSpPr>
        <p:spPr>
          <a:xfrm>
            <a:off x="94777" y="1775290"/>
            <a:ext cx="8573539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600" i="1" dirty="0"/>
              <a:t>El 3-3-2013 paga la prima anual a la compañía de seguro descontando el anticipo pagado el 1-1. </a:t>
            </a:r>
            <a:endParaRPr lang="es-AR" sz="1600" dirty="0"/>
          </a:p>
          <a:p>
            <a:r>
              <a:rPr lang="es-AR" dirty="0" smtClean="0"/>
              <a:t> </a:t>
            </a:r>
            <a:endParaRPr lang="es-AR" dirty="0"/>
          </a:p>
        </p:txBody>
      </p:sp>
      <p:graphicFrame>
        <p:nvGraphicFramePr>
          <p:cNvPr id="41" name="Tabla 52">
            <a:extLst>
              <a:ext uri="{FF2B5EF4-FFF2-40B4-BE49-F238E27FC236}">
                <a16:creationId xmlns="" xmlns:a16="http://schemas.microsoft.com/office/drawing/2014/main" id="{F090687D-0AE3-4ECE-997C-E3CF2668BB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3809584"/>
              </p:ext>
            </p:extLst>
          </p:nvPr>
        </p:nvGraphicFramePr>
        <p:xfrm>
          <a:off x="5235160" y="193231"/>
          <a:ext cx="3583500" cy="72948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1196">
                  <a:extLst>
                    <a:ext uri="{9D8B030D-6E8A-4147-A177-3AD203B41FA5}">
                      <a16:colId xmlns="" xmlns:a16="http://schemas.microsoft.com/office/drawing/2014/main" val="609204336"/>
                    </a:ext>
                  </a:extLst>
                </a:gridCol>
                <a:gridCol w="783076">
                  <a:extLst>
                    <a:ext uri="{9D8B030D-6E8A-4147-A177-3AD203B41FA5}">
                      <a16:colId xmlns="" xmlns:a16="http://schemas.microsoft.com/office/drawing/2014/main" val="2193348770"/>
                    </a:ext>
                  </a:extLst>
                </a:gridCol>
                <a:gridCol w="783076">
                  <a:extLst>
                    <a:ext uri="{9D8B030D-6E8A-4147-A177-3AD203B41FA5}">
                      <a16:colId xmlns="" xmlns:a16="http://schemas.microsoft.com/office/drawing/2014/main" val="4092774877"/>
                    </a:ext>
                  </a:extLst>
                </a:gridCol>
                <a:gridCol w="783076">
                  <a:extLst>
                    <a:ext uri="{9D8B030D-6E8A-4147-A177-3AD203B41FA5}">
                      <a16:colId xmlns="" xmlns:a16="http://schemas.microsoft.com/office/drawing/2014/main" val="3501325627"/>
                    </a:ext>
                  </a:extLst>
                </a:gridCol>
                <a:gridCol w="783076">
                  <a:extLst>
                    <a:ext uri="{9D8B030D-6E8A-4147-A177-3AD203B41FA5}">
                      <a16:colId xmlns="" xmlns:a16="http://schemas.microsoft.com/office/drawing/2014/main" val="1946522016"/>
                    </a:ext>
                  </a:extLst>
                </a:gridCol>
              </a:tblGrid>
              <a:tr h="302761"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s-AR" sz="1400" u="none" strike="noStrike" dirty="0">
                          <a:effectLst/>
                        </a:rPr>
                        <a:t>Cuentas</a:t>
                      </a:r>
                      <a:endParaRPr lang="es-AR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400" u="none" strike="noStrike">
                          <a:effectLst/>
                        </a:rPr>
                        <a:t>DEBE</a:t>
                      </a:r>
                      <a:endParaRPr lang="es-AR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400" u="none" strike="noStrike">
                          <a:effectLst/>
                        </a:rPr>
                        <a:t>HABER</a:t>
                      </a:r>
                      <a:endParaRPr lang="es-AR" sz="1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="" xmlns:a16="http://schemas.microsoft.com/office/drawing/2014/main" val="2942187959"/>
                  </a:ext>
                </a:extLst>
              </a:tr>
              <a:tr h="202971">
                <a:tc gridSpan="2">
                  <a:txBody>
                    <a:bodyPr/>
                    <a:lstStyle/>
                    <a:p>
                      <a:pPr algn="l" fontAlgn="b"/>
                      <a:r>
                        <a:rPr lang="es-AR" sz="1400" b="0" i="0" u="none" strike="noStrike" baseline="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Seguros (R-)</a:t>
                      </a:r>
                    </a:p>
                  </a:txBody>
                  <a:tcPr marL="0" marR="0" marT="0" marB="0" anchor="b"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AR" sz="1400" u="none" strike="noStrike" dirty="0">
                          <a:effectLst/>
                        </a:rPr>
                        <a:t> </a:t>
                      </a:r>
                      <a:endParaRPr lang="es-AR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AR" sz="1400" u="none" strike="noStrike" dirty="0" smtClean="0">
                          <a:effectLst/>
                        </a:rPr>
                        <a:t>$ 7.000</a:t>
                      </a:r>
                      <a:endParaRPr lang="es-A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AR" sz="1400" u="none" strike="noStrike" dirty="0">
                          <a:effectLst/>
                        </a:rPr>
                        <a:t> </a:t>
                      </a:r>
                      <a:endParaRPr lang="es-A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="" xmlns:a16="http://schemas.microsoft.com/office/drawing/2014/main" val="2959398699"/>
                  </a:ext>
                </a:extLst>
              </a:tr>
              <a:tr h="202971">
                <a:tc>
                  <a:txBody>
                    <a:bodyPr/>
                    <a:lstStyle/>
                    <a:p>
                      <a:pPr algn="l" fontAlgn="b"/>
                      <a:r>
                        <a:rPr lang="es-AR" sz="1400" u="none" strike="noStrike" dirty="0">
                          <a:effectLst/>
                        </a:rPr>
                        <a:t> </a:t>
                      </a:r>
                      <a:endParaRPr lang="es-AR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s-AR" sz="1400" u="none" strike="noStrike" dirty="0">
                          <a:effectLst/>
                        </a:rPr>
                        <a:t>a </a:t>
                      </a:r>
                      <a:r>
                        <a:rPr lang="es-AR" sz="1400" u="none" strike="noStrike" dirty="0" smtClean="0">
                          <a:effectLst/>
                        </a:rPr>
                        <a:t>Prov.</a:t>
                      </a:r>
                      <a:r>
                        <a:rPr lang="es-AR" sz="1400" u="none" strike="noStrike" baseline="0" dirty="0" smtClean="0">
                          <a:effectLst/>
                        </a:rPr>
                        <a:t> Seguros (P)</a:t>
                      </a:r>
                      <a:endParaRPr lang="es-AR" sz="1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AR" sz="1400" u="none" strike="noStrike" dirty="0">
                          <a:effectLst/>
                        </a:rPr>
                        <a:t> </a:t>
                      </a:r>
                      <a:endParaRPr lang="es-A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AR" sz="1400" u="none" strike="noStrike" dirty="0" smtClean="0">
                          <a:effectLst/>
                        </a:rPr>
                        <a:t>$ 7.000</a:t>
                      </a:r>
                      <a:endParaRPr lang="es-A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</a:tr>
            </a:tbl>
          </a:graphicData>
        </a:graphic>
      </p:graphicFrame>
      <p:sp>
        <p:nvSpPr>
          <p:cNvPr id="42" name="36 Elipse">
            <a:extLst>
              <a:ext uri="{FF2B5EF4-FFF2-40B4-BE49-F238E27FC236}">
                <a16:creationId xmlns="" xmlns:a16="http://schemas.microsoft.com/office/drawing/2014/main" id="{00000000-0008-0000-0200-000025000000}"/>
              </a:ext>
            </a:extLst>
          </p:cNvPr>
          <p:cNvSpPr/>
          <p:nvPr/>
        </p:nvSpPr>
        <p:spPr>
          <a:xfrm>
            <a:off x="4237531" y="815034"/>
            <a:ext cx="288032" cy="315438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AR" sz="1600" b="1" dirty="0">
              <a:solidFill>
                <a:sysClr val="windowText" lastClr="000000"/>
              </a:solidFill>
            </a:endParaRPr>
          </a:p>
        </p:txBody>
      </p:sp>
      <p:cxnSp>
        <p:nvCxnSpPr>
          <p:cNvPr id="43" name="40 Conector recto de flecha">
            <a:extLst>
              <a:ext uri="{FF2B5EF4-FFF2-40B4-BE49-F238E27FC236}">
                <a16:creationId xmlns="" xmlns:a16="http://schemas.microsoft.com/office/drawing/2014/main" id="{00000000-0008-0000-0200-000029000000}"/>
              </a:ext>
            </a:extLst>
          </p:cNvPr>
          <p:cNvCxnSpPr>
            <a:stCxn id="23" idx="3"/>
            <a:endCxn id="42" idx="2"/>
          </p:cNvCxnSpPr>
          <p:nvPr/>
        </p:nvCxnSpPr>
        <p:spPr>
          <a:xfrm>
            <a:off x="2150347" y="972753"/>
            <a:ext cx="2087184" cy="0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ctángulo 11">
            <a:extLst>
              <a:ext uri="{FF2B5EF4-FFF2-40B4-BE49-F238E27FC236}">
                <a16:creationId xmlns="" xmlns:a16="http://schemas.microsoft.com/office/drawing/2014/main" id="{7C2A06E2-7006-405B-ABBD-F875D962070E}"/>
              </a:ext>
            </a:extLst>
          </p:cNvPr>
          <p:cNvSpPr/>
          <p:nvPr/>
        </p:nvSpPr>
        <p:spPr>
          <a:xfrm>
            <a:off x="2739543" y="539388"/>
            <a:ext cx="8803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solidFill>
                  <a:srgbClr val="000000"/>
                </a:solidFill>
                <a:latin typeface="Calibri" panose="020F0502020204030204" pitchFamily="34" charset="0"/>
              </a:rPr>
              <a:t>$ </a:t>
            </a:r>
            <a:r>
              <a:rPr lang="es-AR" dirty="0" smtClean="0">
                <a:solidFill>
                  <a:srgbClr val="000000"/>
                </a:solidFill>
                <a:latin typeface="Calibri" panose="020F0502020204030204" pitchFamily="34" charset="0"/>
              </a:rPr>
              <a:t>7.000</a:t>
            </a:r>
            <a:endParaRPr lang="es-AR" dirty="0"/>
          </a:p>
        </p:txBody>
      </p:sp>
      <p:sp>
        <p:nvSpPr>
          <p:cNvPr id="46" name="Rectángulo 13">
            <a:extLst>
              <a:ext uri="{FF2B5EF4-FFF2-40B4-BE49-F238E27FC236}">
                <a16:creationId xmlns="" xmlns:a16="http://schemas.microsoft.com/office/drawing/2014/main" id="{0F053224-57B6-4424-99E8-036B94CE3A3B}"/>
              </a:ext>
            </a:extLst>
          </p:cNvPr>
          <p:cNvSpPr/>
          <p:nvPr/>
        </p:nvSpPr>
        <p:spPr>
          <a:xfrm>
            <a:off x="3638315" y="1201118"/>
            <a:ext cx="1383070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500" dirty="0" smtClean="0">
                <a:solidFill>
                  <a:srgbClr val="000000"/>
                </a:solidFill>
                <a:latin typeface="Calibri" panose="020F0502020204030204" pitchFamily="34" charset="0"/>
              </a:rPr>
              <a:t>Seguros</a:t>
            </a:r>
            <a:endParaRPr lang="es-AR" sz="1500" dirty="0"/>
          </a:p>
        </p:txBody>
      </p:sp>
      <p:sp>
        <p:nvSpPr>
          <p:cNvPr id="23" name="28 Rectángulo">
            <a:extLst>
              <a:ext uri="{FF2B5EF4-FFF2-40B4-BE49-F238E27FC236}">
                <a16:creationId xmlns="" xmlns:a16="http://schemas.microsoft.com/office/drawing/2014/main" id="{00000000-0008-0000-0200-00001D000000}"/>
              </a:ext>
            </a:extLst>
          </p:cNvPr>
          <p:cNvSpPr/>
          <p:nvPr/>
        </p:nvSpPr>
        <p:spPr>
          <a:xfrm>
            <a:off x="1265000" y="252622"/>
            <a:ext cx="885347" cy="1440261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AR" sz="1600" b="1" dirty="0" smtClean="0">
                <a:solidFill>
                  <a:sysClr val="windowText" lastClr="000000"/>
                </a:solidFill>
              </a:rPr>
              <a:t>Prov.</a:t>
            </a:r>
          </a:p>
          <a:p>
            <a:pPr algn="ctr"/>
            <a:r>
              <a:rPr lang="es-AR" sz="1600" b="1" dirty="0" smtClean="0">
                <a:solidFill>
                  <a:sysClr val="windowText" lastClr="000000"/>
                </a:solidFill>
              </a:rPr>
              <a:t>Seguros</a:t>
            </a:r>
            <a:endParaRPr lang="es-AR" sz="1600" b="1" dirty="0">
              <a:solidFill>
                <a:sysClr val="windowText" lastClr="000000"/>
              </a:solidFill>
            </a:endParaRPr>
          </a:p>
        </p:txBody>
      </p:sp>
      <p:sp>
        <p:nvSpPr>
          <p:cNvPr id="27" name="Rectángulo 13">
            <a:extLst>
              <a:ext uri="{FF2B5EF4-FFF2-40B4-BE49-F238E27FC236}">
                <a16:creationId xmlns="" xmlns:a16="http://schemas.microsoft.com/office/drawing/2014/main" id="{0F053224-57B6-4424-99E8-036B94CE3A3B}"/>
              </a:ext>
            </a:extLst>
          </p:cNvPr>
          <p:cNvSpPr/>
          <p:nvPr/>
        </p:nvSpPr>
        <p:spPr>
          <a:xfrm>
            <a:off x="2686411" y="188640"/>
            <a:ext cx="110959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1400" dirty="0" smtClean="0">
                <a:solidFill>
                  <a:srgbClr val="000000"/>
                </a:solidFill>
                <a:latin typeface="Calibri" panose="020F0502020204030204" pitchFamily="34" charset="0"/>
              </a:rPr>
              <a:t>$84.000 / 12</a:t>
            </a:r>
            <a:endParaRPr lang="es-AR" sz="1400" dirty="0"/>
          </a:p>
        </p:txBody>
      </p:sp>
      <p:sp>
        <p:nvSpPr>
          <p:cNvPr id="28" name="Rectángulo 13">
            <a:extLst>
              <a:ext uri="{FF2B5EF4-FFF2-40B4-BE49-F238E27FC236}">
                <a16:creationId xmlns="" xmlns:a16="http://schemas.microsoft.com/office/drawing/2014/main" id="{0F053224-57B6-4424-99E8-036B94CE3A3B}"/>
              </a:ext>
            </a:extLst>
          </p:cNvPr>
          <p:cNvSpPr/>
          <p:nvPr/>
        </p:nvSpPr>
        <p:spPr>
          <a:xfrm>
            <a:off x="5368491" y="1130268"/>
            <a:ext cx="144302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 err="1" smtClean="0">
                <a:solidFill>
                  <a:srgbClr val="000000"/>
                </a:solidFill>
                <a:latin typeface="Calibri" panose="020F0502020204030204" pitchFamily="34" charset="0"/>
              </a:rPr>
              <a:t>Idem</a:t>
            </a:r>
            <a:r>
              <a:rPr lang="es-AR" dirty="0" smtClean="0">
                <a:solidFill>
                  <a:srgbClr val="000000"/>
                </a:solidFill>
                <a:latin typeface="Calibri" panose="020F0502020204030204" pitchFamily="34" charset="0"/>
              </a:rPr>
              <a:t> 28-2-13</a:t>
            </a:r>
            <a:endParaRPr lang="es-AR" dirty="0"/>
          </a:p>
        </p:txBody>
      </p:sp>
      <p:sp>
        <p:nvSpPr>
          <p:cNvPr id="29" name="22 Elipse">
            <a:extLst>
              <a:ext uri="{FF2B5EF4-FFF2-40B4-BE49-F238E27FC236}">
                <a16:creationId xmlns="" xmlns:a16="http://schemas.microsoft.com/office/drawing/2014/main" id="{00000000-0008-0000-0200-000017000000}"/>
              </a:ext>
            </a:extLst>
          </p:cNvPr>
          <p:cNvSpPr/>
          <p:nvPr/>
        </p:nvSpPr>
        <p:spPr>
          <a:xfrm>
            <a:off x="4575999" y="2359206"/>
            <a:ext cx="1238004" cy="1263863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AR" sz="1600" b="1" dirty="0" err="1" smtClean="0">
                <a:solidFill>
                  <a:sysClr val="windowText" lastClr="000000"/>
                </a:solidFill>
              </a:rPr>
              <a:t>Ant</a:t>
            </a:r>
            <a:r>
              <a:rPr lang="es-AR" sz="1600" b="1" dirty="0" smtClean="0">
                <a:solidFill>
                  <a:sysClr val="windowText" lastClr="000000"/>
                </a:solidFill>
              </a:rPr>
              <a:t>.</a:t>
            </a:r>
          </a:p>
          <a:p>
            <a:pPr algn="ctr"/>
            <a:r>
              <a:rPr lang="es-AR" sz="1600" b="1" dirty="0" smtClean="0">
                <a:solidFill>
                  <a:sysClr val="windowText" lastClr="000000"/>
                </a:solidFill>
              </a:rPr>
              <a:t>Prov.</a:t>
            </a:r>
            <a:endParaRPr lang="es-AR" sz="1600" b="1" dirty="0">
              <a:solidFill>
                <a:sysClr val="windowText" lastClr="000000"/>
              </a:solidFill>
            </a:endParaRPr>
          </a:p>
        </p:txBody>
      </p:sp>
      <p:sp>
        <p:nvSpPr>
          <p:cNvPr id="30" name="23 Elipse">
            <a:extLst>
              <a:ext uri="{FF2B5EF4-FFF2-40B4-BE49-F238E27FC236}">
                <a16:creationId xmlns="" xmlns:a16="http://schemas.microsoft.com/office/drawing/2014/main" id="{00000000-0008-0000-0200-000018000000}"/>
              </a:ext>
            </a:extLst>
          </p:cNvPr>
          <p:cNvSpPr/>
          <p:nvPr/>
        </p:nvSpPr>
        <p:spPr>
          <a:xfrm>
            <a:off x="2967476" y="2946346"/>
            <a:ext cx="78413" cy="8958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AR" sz="1800">
              <a:solidFill>
                <a:prstClr val="white"/>
              </a:solidFill>
            </a:endParaRPr>
          </a:p>
        </p:txBody>
      </p:sp>
      <p:cxnSp>
        <p:nvCxnSpPr>
          <p:cNvPr id="31" name="24 Conector recto de flecha">
            <a:extLst>
              <a:ext uri="{FF2B5EF4-FFF2-40B4-BE49-F238E27FC236}">
                <a16:creationId xmlns="" xmlns:a16="http://schemas.microsoft.com/office/drawing/2014/main" id="{00000000-0008-0000-0200-000019000000}"/>
              </a:ext>
            </a:extLst>
          </p:cNvPr>
          <p:cNvCxnSpPr>
            <a:stCxn id="35" idx="6"/>
            <a:endCxn id="30" idx="2"/>
          </p:cNvCxnSpPr>
          <p:nvPr/>
        </p:nvCxnSpPr>
        <p:spPr>
          <a:xfrm flipV="1">
            <a:off x="1228339" y="2991139"/>
            <a:ext cx="1739137" cy="14625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25 Conector recto de flecha">
            <a:extLst>
              <a:ext uri="{FF2B5EF4-FFF2-40B4-BE49-F238E27FC236}">
                <a16:creationId xmlns="" xmlns:a16="http://schemas.microsoft.com/office/drawing/2014/main" id="{00000000-0008-0000-0200-00001A000000}"/>
              </a:ext>
            </a:extLst>
          </p:cNvPr>
          <p:cNvCxnSpPr>
            <a:stCxn id="30" idx="4"/>
            <a:endCxn id="36" idx="0"/>
          </p:cNvCxnSpPr>
          <p:nvPr/>
        </p:nvCxnSpPr>
        <p:spPr>
          <a:xfrm>
            <a:off x="3006683" y="3035931"/>
            <a:ext cx="9151" cy="956470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26 Conector recto de flecha">
            <a:extLst>
              <a:ext uri="{FF2B5EF4-FFF2-40B4-BE49-F238E27FC236}">
                <a16:creationId xmlns="" xmlns:a16="http://schemas.microsoft.com/office/drawing/2014/main" id="{00000000-0008-0000-0200-00001B000000}"/>
              </a:ext>
            </a:extLst>
          </p:cNvPr>
          <p:cNvCxnSpPr>
            <a:stCxn id="29" idx="2"/>
            <a:endCxn id="30" idx="6"/>
          </p:cNvCxnSpPr>
          <p:nvPr/>
        </p:nvCxnSpPr>
        <p:spPr>
          <a:xfrm flipH="1">
            <a:off x="3045889" y="2991138"/>
            <a:ext cx="1530110" cy="1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27 Elipse">
            <a:extLst>
              <a:ext uri="{FF2B5EF4-FFF2-40B4-BE49-F238E27FC236}">
                <a16:creationId xmlns="" xmlns:a16="http://schemas.microsoft.com/office/drawing/2014/main" id="{00000000-0008-0000-0200-00001C000000}"/>
              </a:ext>
            </a:extLst>
          </p:cNvPr>
          <p:cNvSpPr/>
          <p:nvPr/>
        </p:nvSpPr>
        <p:spPr>
          <a:xfrm>
            <a:off x="113133" y="2432308"/>
            <a:ext cx="1115206" cy="1146911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AR" sz="1400" b="1" dirty="0" smtClean="0">
                <a:solidFill>
                  <a:sysClr val="windowText" lastClr="000000"/>
                </a:solidFill>
              </a:rPr>
              <a:t>Disp.</a:t>
            </a:r>
            <a:endParaRPr lang="es-AR" sz="1600" b="1" dirty="0">
              <a:solidFill>
                <a:sysClr val="windowText" lastClr="000000"/>
              </a:solidFill>
            </a:endParaRPr>
          </a:p>
        </p:txBody>
      </p:sp>
      <p:sp>
        <p:nvSpPr>
          <p:cNvPr id="36" name="39 Rectángulo">
            <a:extLst>
              <a:ext uri="{FF2B5EF4-FFF2-40B4-BE49-F238E27FC236}">
                <a16:creationId xmlns="" xmlns:a16="http://schemas.microsoft.com/office/drawing/2014/main" id="{00000000-0008-0000-0200-000028000000}"/>
              </a:ext>
            </a:extLst>
          </p:cNvPr>
          <p:cNvSpPr/>
          <p:nvPr/>
        </p:nvSpPr>
        <p:spPr>
          <a:xfrm>
            <a:off x="2580206" y="3992401"/>
            <a:ext cx="871255" cy="1154606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AR" sz="1600" b="1" dirty="0" smtClean="0">
                <a:solidFill>
                  <a:sysClr val="windowText" lastClr="000000"/>
                </a:solidFill>
              </a:rPr>
              <a:t>Prov.</a:t>
            </a:r>
          </a:p>
          <a:p>
            <a:pPr algn="ctr"/>
            <a:r>
              <a:rPr lang="es-AR" sz="1600" b="1" dirty="0" smtClean="0">
                <a:solidFill>
                  <a:sysClr val="windowText" lastClr="000000"/>
                </a:solidFill>
              </a:rPr>
              <a:t>Seguros</a:t>
            </a:r>
            <a:endParaRPr lang="es-AR" sz="1600" b="1" dirty="0">
              <a:solidFill>
                <a:sysClr val="windowText" lastClr="000000"/>
              </a:solidFill>
            </a:endParaRPr>
          </a:p>
        </p:txBody>
      </p:sp>
      <p:sp>
        <p:nvSpPr>
          <p:cNvPr id="40" name="Rectángulo 14">
            <a:extLst>
              <a:ext uri="{FF2B5EF4-FFF2-40B4-BE49-F238E27FC236}">
                <a16:creationId xmlns="" xmlns:a16="http://schemas.microsoft.com/office/drawing/2014/main" id="{28F8C3CF-63F2-4545-B1D3-82F1B8EE9285}"/>
              </a:ext>
            </a:extLst>
          </p:cNvPr>
          <p:cNvSpPr/>
          <p:nvPr/>
        </p:nvSpPr>
        <p:spPr>
          <a:xfrm>
            <a:off x="3810944" y="3655978"/>
            <a:ext cx="9973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solidFill>
                  <a:srgbClr val="000000"/>
                </a:solidFill>
              </a:rPr>
              <a:t>$ </a:t>
            </a:r>
            <a:r>
              <a:rPr lang="es-AR" dirty="0" smtClean="0">
                <a:solidFill>
                  <a:srgbClr val="000000"/>
                </a:solidFill>
              </a:rPr>
              <a:t>70.000</a:t>
            </a:r>
            <a:endParaRPr lang="es-AR" dirty="0">
              <a:solidFill>
                <a:prstClr val="black"/>
              </a:solidFill>
            </a:endParaRPr>
          </a:p>
        </p:txBody>
      </p:sp>
      <p:sp>
        <p:nvSpPr>
          <p:cNvPr id="44" name="Rectángulo 32">
            <a:extLst>
              <a:ext uri="{FF2B5EF4-FFF2-40B4-BE49-F238E27FC236}">
                <a16:creationId xmlns="" xmlns:a16="http://schemas.microsoft.com/office/drawing/2014/main" id="{0AF4FDF9-540A-4780-B27D-8B2DAA2B17D4}"/>
              </a:ext>
            </a:extLst>
          </p:cNvPr>
          <p:cNvSpPr/>
          <p:nvPr/>
        </p:nvSpPr>
        <p:spPr>
          <a:xfrm>
            <a:off x="1478815" y="2580985"/>
            <a:ext cx="10502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solidFill>
                  <a:srgbClr val="000000"/>
                </a:solidFill>
              </a:rPr>
              <a:t>$ </a:t>
            </a:r>
            <a:r>
              <a:rPr lang="es-AR" dirty="0" smtClean="0">
                <a:solidFill>
                  <a:srgbClr val="000000"/>
                </a:solidFill>
              </a:rPr>
              <a:t>89.540</a:t>
            </a:r>
            <a:r>
              <a:rPr lang="es-AR" dirty="0" smtClean="0">
                <a:solidFill>
                  <a:prstClr val="black"/>
                </a:solidFill>
              </a:rPr>
              <a:t> </a:t>
            </a:r>
            <a:endParaRPr lang="es-AR" dirty="0">
              <a:solidFill>
                <a:prstClr val="black"/>
              </a:solidFill>
            </a:endParaRPr>
          </a:p>
        </p:txBody>
      </p:sp>
      <p:sp>
        <p:nvSpPr>
          <p:cNvPr id="47" name="Rectángulo 33">
            <a:extLst>
              <a:ext uri="{FF2B5EF4-FFF2-40B4-BE49-F238E27FC236}">
                <a16:creationId xmlns="" xmlns:a16="http://schemas.microsoft.com/office/drawing/2014/main" id="{17704CB6-0361-496C-8BE8-0E849F2FB5A5}"/>
              </a:ext>
            </a:extLst>
          </p:cNvPr>
          <p:cNvSpPr/>
          <p:nvPr/>
        </p:nvSpPr>
        <p:spPr>
          <a:xfrm>
            <a:off x="3578610" y="2636432"/>
            <a:ext cx="9973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solidFill>
                  <a:srgbClr val="000000"/>
                </a:solidFill>
              </a:rPr>
              <a:t>$ </a:t>
            </a:r>
            <a:r>
              <a:rPr lang="es-AR" dirty="0" smtClean="0">
                <a:solidFill>
                  <a:srgbClr val="000000"/>
                </a:solidFill>
              </a:rPr>
              <a:t>10.000</a:t>
            </a:r>
            <a:endParaRPr lang="es-AR" dirty="0">
              <a:solidFill>
                <a:prstClr val="black"/>
              </a:solidFill>
            </a:endParaRPr>
          </a:p>
        </p:txBody>
      </p:sp>
      <p:sp>
        <p:nvSpPr>
          <p:cNvPr id="48" name="51 Elipse">
            <a:extLst>
              <a:ext uri="{FF2B5EF4-FFF2-40B4-BE49-F238E27FC236}">
                <a16:creationId xmlns="" xmlns:a16="http://schemas.microsoft.com/office/drawing/2014/main" id="{00000000-0008-0000-0200-000034000000}"/>
              </a:ext>
            </a:extLst>
          </p:cNvPr>
          <p:cNvSpPr/>
          <p:nvPr/>
        </p:nvSpPr>
        <p:spPr>
          <a:xfrm>
            <a:off x="4496720" y="3683616"/>
            <a:ext cx="1406582" cy="1420524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AR" sz="1600" b="1" dirty="0" smtClean="0">
                <a:solidFill>
                  <a:sysClr val="windowText" lastClr="000000"/>
                </a:solidFill>
              </a:rPr>
              <a:t>Seguros a </a:t>
            </a:r>
          </a:p>
          <a:p>
            <a:pPr algn="ctr"/>
            <a:r>
              <a:rPr lang="es-AR" sz="1600" b="1" dirty="0" smtClean="0">
                <a:solidFill>
                  <a:sysClr val="windowText" lastClr="000000"/>
                </a:solidFill>
              </a:rPr>
              <a:t>Devengar</a:t>
            </a:r>
            <a:endParaRPr lang="es-AR" sz="1600" b="1" dirty="0">
              <a:solidFill>
                <a:sysClr val="windowText" lastClr="000000"/>
              </a:solidFill>
            </a:endParaRPr>
          </a:p>
        </p:txBody>
      </p:sp>
      <p:sp>
        <p:nvSpPr>
          <p:cNvPr id="52" name="Rectángulo 13">
            <a:extLst>
              <a:ext uri="{FF2B5EF4-FFF2-40B4-BE49-F238E27FC236}">
                <a16:creationId xmlns="" xmlns:a16="http://schemas.microsoft.com/office/drawing/2014/main" id="{0F053224-57B6-4424-99E8-036B94CE3A3B}"/>
              </a:ext>
            </a:extLst>
          </p:cNvPr>
          <p:cNvSpPr/>
          <p:nvPr/>
        </p:nvSpPr>
        <p:spPr>
          <a:xfrm>
            <a:off x="966976" y="3487821"/>
            <a:ext cx="9973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solidFill>
                  <a:srgbClr val="000000"/>
                </a:solidFill>
              </a:rPr>
              <a:t>$ </a:t>
            </a:r>
            <a:r>
              <a:rPr lang="es-AR" dirty="0" smtClean="0">
                <a:solidFill>
                  <a:srgbClr val="000000"/>
                </a:solidFill>
              </a:rPr>
              <a:t>15.540</a:t>
            </a:r>
            <a:endParaRPr lang="es-AR" dirty="0">
              <a:solidFill>
                <a:prstClr val="black"/>
              </a:solidFill>
            </a:endParaRPr>
          </a:p>
        </p:txBody>
      </p:sp>
      <p:sp>
        <p:nvSpPr>
          <p:cNvPr id="53" name="Rectángulo 13">
            <a:extLst>
              <a:ext uri="{FF2B5EF4-FFF2-40B4-BE49-F238E27FC236}">
                <a16:creationId xmlns="" xmlns:a16="http://schemas.microsoft.com/office/drawing/2014/main" id="{0F053224-57B6-4424-99E8-036B94CE3A3B}"/>
              </a:ext>
            </a:extLst>
          </p:cNvPr>
          <p:cNvSpPr/>
          <p:nvPr/>
        </p:nvSpPr>
        <p:spPr>
          <a:xfrm>
            <a:off x="2243821" y="3438403"/>
            <a:ext cx="9973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solidFill>
                  <a:srgbClr val="000000"/>
                </a:solidFill>
              </a:rPr>
              <a:t>$ </a:t>
            </a:r>
            <a:r>
              <a:rPr lang="es-AR" dirty="0" smtClean="0">
                <a:solidFill>
                  <a:srgbClr val="000000"/>
                </a:solidFill>
              </a:rPr>
              <a:t>14.000</a:t>
            </a:r>
            <a:endParaRPr lang="es-AR" dirty="0">
              <a:solidFill>
                <a:prstClr val="black"/>
              </a:solidFill>
            </a:endParaRPr>
          </a:p>
        </p:txBody>
      </p:sp>
      <p:cxnSp>
        <p:nvCxnSpPr>
          <p:cNvPr id="55" name="54 Conector recto de flecha">
            <a:extLst>
              <a:ext uri="{FF2B5EF4-FFF2-40B4-BE49-F238E27FC236}">
                <a16:creationId xmlns="" xmlns:a16="http://schemas.microsoft.com/office/drawing/2014/main" id="{00000000-0008-0000-0200-000036000000}"/>
              </a:ext>
            </a:extLst>
          </p:cNvPr>
          <p:cNvCxnSpPr>
            <a:stCxn id="30" idx="5"/>
            <a:endCxn id="48" idx="2"/>
          </p:cNvCxnSpPr>
          <p:nvPr/>
        </p:nvCxnSpPr>
        <p:spPr>
          <a:xfrm>
            <a:off x="3034406" y="3022812"/>
            <a:ext cx="1462314" cy="1371066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ectángulo 13">
            <a:extLst>
              <a:ext uri="{FF2B5EF4-FFF2-40B4-BE49-F238E27FC236}">
                <a16:creationId xmlns="" xmlns:a16="http://schemas.microsoft.com/office/drawing/2014/main" id="{0F053224-57B6-4424-99E8-036B94CE3A3B}"/>
              </a:ext>
            </a:extLst>
          </p:cNvPr>
          <p:cNvSpPr/>
          <p:nvPr/>
        </p:nvSpPr>
        <p:spPr>
          <a:xfrm>
            <a:off x="4641804" y="5124606"/>
            <a:ext cx="11063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solidFill>
                  <a:srgbClr val="000000"/>
                </a:solidFill>
              </a:rPr>
              <a:t>$ </a:t>
            </a:r>
            <a:r>
              <a:rPr lang="es-AR" sz="1400" dirty="0" smtClean="0">
                <a:solidFill>
                  <a:srgbClr val="000000"/>
                </a:solidFill>
              </a:rPr>
              <a:t>7.000 x 10</a:t>
            </a:r>
            <a:endParaRPr lang="es-AR" sz="1400" dirty="0">
              <a:solidFill>
                <a:prstClr val="black"/>
              </a:solidFill>
            </a:endParaRPr>
          </a:p>
        </p:txBody>
      </p:sp>
      <p:sp>
        <p:nvSpPr>
          <p:cNvPr id="69" name="Rectángulo 13">
            <a:extLst>
              <a:ext uri="{FF2B5EF4-FFF2-40B4-BE49-F238E27FC236}">
                <a16:creationId xmlns="" xmlns:a16="http://schemas.microsoft.com/office/drawing/2014/main" id="{0F053224-57B6-4424-99E8-036B94CE3A3B}"/>
              </a:ext>
            </a:extLst>
          </p:cNvPr>
          <p:cNvSpPr/>
          <p:nvPr/>
        </p:nvSpPr>
        <p:spPr>
          <a:xfrm>
            <a:off x="124325" y="2088924"/>
            <a:ext cx="201208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1400" dirty="0" smtClean="0">
                <a:solidFill>
                  <a:srgbClr val="000000"/>
                </a:solidFill>
              </a:rPr>
              <a:t>($84.000-$10.000) x 1,21</a:t>
            </a:r>
            <a:endParaRPr lang="es-AR" sz="1400" dirty="0">
              <a:solidFill>
                <a:prstClr val="black"/>
              </a:solidFill>
            </a:endParaRPr>
          </a:p>
        </p:txBody>
      </p:sp>
      <p:graphicFrame>
        <p:nvGraphicFramePr>
          <p:cNvPr id="71" name="Tabla 52">
            <a:extLst>
              <a:ext uri="{FF2B5EF4-FFF2-40B4-BE49-F238E27FC236}">
                <a16:creationId xmlns="" xmlns:a16="http://schemas.microsoft.com/office/drawing/2014/main" id="{F090687D-0AE3-4ECE-997C-E3CF2668BB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7439741"/>
              </p:ext>
            </p:extLst>
          </p:nvPr>
        </p:nvGraphicFramePr>
        <p:xfrm>
          <a:off x="6004020" y="2928453"/>
          <a:ext cx="2976215" cy="12978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95243">
                  <a:extLst>
                    <a:ext uri="{9D8B030D-6E8A-4147-A177-3AD203B41FA5}">
                      <a16:colId xmlns="" xmlns:a16="http://schemas.microsoft.com/office/drawing/2014/main" val="609204336"/>
                    </a:ext>
                  </a:extLst>
                </a:gridCol>
                <a:gridCol w="595243">
                  <a:extLst>
                    <a:ext uri="{9D8B030D-6E8A-4147-A177-3AD203B41FA5}">
                      <a16:colId xmlns="" xmlns:a16="http://schemas.microsoft.com/office/drawing/2014/main" val="2193348770"/>
                    </a:ext>
                  </a:extLst>
                </a:gridCol>
                <a:gridCol w="595243">
                  <a:extLst>
                    <a:ext uri="{9D8B030D-6E8A-4147-A177-3AD203B41FA5}">
                      <a16:colId xmlns="" xmlns:a16="http://schemas.microsoft.com/office/drawing/2014/main" val="4092774877"/>
                    </a:ext>
                  </a:extLst>
                </a:gridCol>
                <a:gridCol w="595243">
                  <a:extLst>
                    <a:ext uri="{9D8B030D-6E8A-4147-A177-3AD203B41FA5}">
                      <a16:colId xmlns="" xmlns:a16="http://schemas.microsoft.com/office/drawing/2014/main" val="3501325627"/>
                    </a:ext>
                  </a:extLst>
                </a:gridCol>
                <a:gridCol w="595243">
                  <a:extLst>
                    <a:ext uri="{9D8B030D-6E8A-4147-A177-3AD203B41FA5}">
                      <a16:colId xmlns="" xmlns:a16="http://schemas.microsoft.com/office/drawing/2014/main" val="1946522016"/>
                    </a:ext>
                  </a:extLst>
                </a:gridCol>
              </a:tblGrid>
              <a:tr h="302761"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s-AR" sz="1100" u="none" strike="noStrike" dirty="0">
                          <a:effectLst/>
                        </a:rPr>
                        <a:t>Cuentas</a:t>
                      </a:r>
                      <a:endParaRPr lang="es-A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u="none" strike="noStrike">
                          <a:effectLst/>
                        </a:rPr>
                        <a:t>DEBE</a:t>
                      </a:r>
                      <a:endParaRPr lang="es-AR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u="none" strike="noStrike">
                          <a:effectLst/>
                        </a:rPr>
                        <a:t>HABER</a:t>
                      </a:r>
                      <a:endParaRPr lang="es-AR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="" xmlns:a16="http://schemas.microsoft.com/office/drawing/2014/main" val="2942187959"/>
                  </a:ext>
                </a:extLst>
              </a:tr>
              <a:tr h="202971">
                <a:tc gridSpan="2">
                  <a:txBody>
                    <a:bodyPr/>
                    <a:lstStyle/>
                    <a:p>
                      <a:pPr algn="l" fontAlgn="b"/>
                      <a:r>
                        <a:rPr lang="es-AR" sz="11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Seg</a:t>
                      </a:r>
                      <a:r>
                        <a:rPr lang="es-A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.</a:t>
                      </a:r>
                      <a:r>
                        <a:rPr lang="es-AR" sz="11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es-A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 Devengar (A)</a:t>
                      </a:r>
                      <a:endParaRPr lang="es-A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s-A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A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$</a:t>
                      </a:r>
                      <a:r>
                        <a:rPr lang="es-AR" sz="11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70.000</a:t>
                      </a:r>
                      <a:endParaRPr lang="es-A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s-A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</a:tr>
              <a:tr h="202971">
                <a:tc gridSpan="2">
                  <a:txBody>
                    <a:bodyPr/>
                    <a:lstStyle/>
                    <a:p>
                      <a:pPr algn="l" fontAlgn="b"/>
                      <a:r>
                        <a:rPr lang="es-AR" sz="1100" u="none" strike="noStrike" dirty="0" smtClean="0">
                          <a:effectLst/>
                        </a:rPr>
                        <a:t>IVA</a:t>
                      </a:r>
                      <a:r>
                        <a:rPr lang="es-AR" sz="1100" u="none" strike="noStrike" baseline="0" dirty="0" smtClean="0">
                          <a:effectLst/>
                        </a:rPr>
                        <a:t> C</a:t>
                      </a:r>
                      <a:r>
                        <a:rPr lang="es-AR" sz="1100" u="none" strike="noStrike" dirty="0" smtClean="0">
                          <a:effectLst/>
                        </a:rPr>
                        <a:t>F(A</a:t>
                      </a:r>
                      <a:r>
                        <a:rPr lang="es-AR" sz="1100" u="none" strike="noStrike" dirty="0">
                          <a:effectLst/>
                        </a:rPr>
                        <a:t>)</a:t>
                      </a:r>
                      <a:endParaRPr lang="es-A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AR" sz="1100" u="none" strike="noStrike" dirty="0">
                          <a:effectLst/>
                        </a:rPr>
                        <a:t> </a:t>
                      </a:r>
                      <a:endParaRPr lang="es-A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AR" sz="1100" u="none" strike="noStrike" dirty="0">
                          <a:effectLst/>
                        </a:rPr>
                        <a:t>$ </a:t>
                      </a:r>
                      <a:r>
                        <a:rPr lang="es-AR" sz="1100" u="none" strike="noStrike" dirty="0" smtClean="0">
                          <a:effectLst/>
                        </a:rPr>
                        <a:t>15.540</a:t>
                      </a:r>
                      <a:endParaRPr lang="es-A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AR" sz="1100" u="none" strike="noStrike" dirty="0">
                          <a:effectLst/>
                        </a:rPr>
                        <a:t> </a:t>
                      </a:r>
                      <a:endParaRPr lang="es-A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="" xmlns:a16="http://schemas.microsoft.com/office/drawing/2014/main" val="2959398699"/>
                  </a:ext>
                </a:extLst>
              </a:tr>
              <a:tr h="202971">
                <a:tc gridSpan="2">
                  <a:txBody>
                    <a:bodyPr/>
                    <a:lstStyle/>
                    <a:p>
                      <a:pPr marL="0" marR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100" b="0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Prov.</a:t>
                      </a:r>
                      <a:r>
                        <a:rPr lang="es-AR" sz="1100" b="0" i="0" u="none" strike="noStrike" baseline="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 Seguros </a:t>
                      </a:r>
                      <a:r>
                        <a:rPr lang="es-AR" sz="1100" b="0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(P)</a:t>
                      </a:r>
                      <a:endParaRPr lang="es-AR" sz="1100" b="1" i="0" u="none" strike="noStrike" dirty="0" smtClean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s-A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A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$14.000</a:t>
                      </a:r>
                      <a:endParaRPr lang="es-A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s-A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</a:tr>
              <a:tr h="202971">
                <a:tc>
                  <a:txBody>
                    <a:bodyPr/>
                    <a:lstStyle/>
                    <a:p>
                      <a:pPr algn="l" fontAlgn="b"/>
                      <a:r>
                        <a:rPr lang="es-AR" sz="1100" u="none" strike="noStrike" dirty="0">
                          <a:effectLst/>
                        </a:rPr>
                        <a:t> </a:t>
                      </a:r>
                      <a:endParaRPr lang="es-A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s-AR" sz="1100" u="none" strike="noStrike" dirty="0">
                          <a:effectLst/>
                        </a:rPr>
                        <a:t>a </a:t>
                      </a:r>
                      <a:r>
                        <a:rPr lang="es-AR" sz="1100" u="none" strike="noStrike" dirty="0" err="1" smtClean="0">
                          <a:effectLst/>
                        </a:rPr>
                        <a:t>Disp</a:t>
                      </a:r>
                      <a:r>
                        <a:rPr lang="es-AR" sz="1100" u="none" strike="noStrike" dirty="0" smtClean="0">
                          <a:effectLst/>
                        </a:rPr>
                        <a:t>(A)</a:t>
                      </a:r>
                      <a:endParaRPr lang="es-A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AR" sz="1100" u="none" strike="noStrike" dirty="0">
                          <a:effectLst/>
                        </a:rPr>
                        <a:t> </a:t>
                      </a:r>
                      <a:endParaRPr lang="es-A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AR" sz="1100" u="none" strike="noStrike" dirty="0" smtClean="0">
                          <a:effectLst/>
                        </a:rPr>
                        <a:t>$ 89.540</a:t>
                      </a:r>
                      <a:endParaRPr lang="es-A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</a:tr>
              <a:tr h="183175">
                <a:tc>
                  <a:txBody>
                    <a:bodyPr/>
                    <a:lstStyle/>
                    <a:p>
                      <a:pPr algn="l" fontAlgn="b"/>
                      <a:r>
                        <a:rPr lang="es-AR" sz="1100" u="none" strike="noStrike" dirty="0">
                          <a:effectLst/>
                        </a:rPr>
                        <a:t> </a:t>
                      </a:r>
                      <a:endParaRPr lang="es-A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s-AR" sz="1100" u="none" strike="noStrike" baseline="0" dirty="0" smtClean="0">
                          <a:effectLst/>
                        </a:rPr>
                        <a:t>    </a:t>
                      </a:r>
                      <a:r>
                        <a:rPr lang="es-AR" sz="1100" u="none" strike="noStrike" baseline="0" dirty="0" err="1" smtClean="0">
                          <a:effectLst/>
                        </a:rPr>
                        <a:t>Ant.Prov</a:t>
                      </a:r>
                      <a:r>
                        <a:rPr lang="es-AR" sz="1100" u="none" strike="noStrike" baseline="0" dirty="0" smtClean="0">
                          <a:effectLst/>
                        </a:rPr>
                        <a:t>. (A)</a:t>
                      </a:r>
                      <a:endParaRPr lang="es-A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AR" sz="1100" u="none" strike="noStrike" dirty="0">
                          <a:effectLst/>
                        </a:rPr>
                        <a:t> </a:t>
                      </a:r>
                      <a:endParaRPr lang="es-A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AR" sz="1100" u="none" strike="noStrike" dirty="0">
                          <a:effectLst/>
                        </a:rPr>
                        <a:t>$ </a:t>
                      </a:r>
                      <a:r>
                        <a:rPr lang="es-AR" sz="1100" u="none" strike="noStrike" dirty="0" smtClean="0">
                          <a:effectLst/>
                        </a:rPr>
                        <a:t>10.000</a:t>
                      </a:r>
                      <a:endParaRPr lang="es-A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="" xmlns:a16="http://schemas.microsoft.com/office/drawing/2014/main" val="3487063041"/>
                  </a:ext>
                </a:extLst>
              </a:tr>
            </a:tbl>
          </a:graphicData>
        </a:graphic>
      </p:graphicFrame>
      <p:sp>
        <p:nvSpPr>
          <p:cNvPr id="72" name="51 Elipse">
            <a:extLst>
              <a:ext uri="{FF2B5EF4-FFF2-40B4-BE49-F238E27FC236}">
                <a16:creationId xmlns="" xmlns:a16="http://schemas.microsoft.com/office/drawing/2014/main" id="{00000000-0008-0000-0200-000034000000}"/>
              </a:ext>
            </a:extLst>
          </p:cNvPr>
          <p:cNvSpPr/>
          <p:nvPr/>
        </p:nvSpPr>
        <p:spPr>
          <a:xfrm>
            <a:off x="94777" y="3623069"/>
            <a:ext cx="1165286" cy="1196962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AR" sz="1600" b="1" dirty="0" smtClean="0">
                <a:solidFill>
                  <a:sysClr val="windowText" lastClr="000000"/>
                </a:solidFill>
              </a:rPr>
              <a:t>IVA CF</a:t>
            </a:r>
            <a:endParaRPr lang="es-AR" sz="1600" b="1" dirty="0">
              <a:solidFill>
                <a:sysClr val="windowText" lastClr="000000"/>
              </a:solidFill>
            </a:endParaRPr>
          </a:p>
        </p:txBody>
      </p:sp>
      <p:cxnSp>
        <p:nvCxnSpPr>
          <p:cNvPr id="73" name="72 Conector recto de flecha">
            <a:extLst>
              <a:ext uri="{FF2B5EF4-FFF2-40B4-BE49-F238E27FC236}">
                <a16:creationId xmlns="" xmlns:a16="http://schemas.microsoft.com/office/drawing/2014/main" id="{00000000-0008-0000-0200-000036000000}"/>
              </a:ext>
            </a:extLst>
          </p:cNvPr>
          <p:cNvCxnSpPr>
            <a:stCxn id="30" idx="3"/>
            <a:endCxn id="72" idx="6"/>
          </p:cNvCxnSpPr>
          <p:nvPr/>
        </p:nvCxnSpPr>
        <p:spPr>
          <a:xfrm flipH="1">
            <a:off x="1260063" y="3022812"/>
            <a:ext cx="1718896" cy="1198738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Rectángulo 13">
            <a:extLst>
              <a:ext uri="{FF2B5EF4-FFF2-40B4-BE49-F238E27FC236}">
                <a16:creationId xmlns="" xmlns:a16="http://schemas.microsoft.com/office/drawing/2014/main" id="{0F053224-57B6-4424-99E8-036B94CE3A3B}"/>
              </a:ext>
            </a:extLst>
          </p:cNvPr>
          <p:cNvSpPr/>
          <p:nvPr/>
        </p:nvSpPr>
        <p:spPr>
          <a:xfrm>
            <a:off x="138089" y="4823933"/>
            <a:ext cx="200407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sz="1400" dirty="0" smtClean="0">
                <a:solidFill>
                  <a:srgbClr val="000000"/>
                </a:solidFill>
              </a:rPr>
              <a:t>($84.000-$10.000) x 21%</a:t>
            </a:r>
            <a:endParaRPr lang="es-AR" sz="1400" dirty="0">
              <a:solidFill>
                <a:prstClr val="black"/>
              </a:solidFill>
            </a:endParaRPr>
          </a:p>
        </p:txBody>
      </p:sp>
      <p:sp>
        <p:nvSpPr>
          <p:cNvPr id="97" name="52 Elipse">
            <a:extLst>
              <a:ext uri="{FF2B5EF4-FFF2-40B4-BE49-F238E27FC236}">
                <a16:creationId xmlns="" xmlns:a16="http://schemas.microsoft.com/office/drawing/2014/main" id="{00000000-0008-0000-0200-000035000000}"/>
              </a:ext>
            </a:extLst>
          </p:cNvPr>
          <p:cNvSpPr/>
          <p:nvPr/>
        </p:nvSpPr>
        <p:spPr>
          <a:xfrm>
            <a:off x="4258013" y="5883355"/>
            <a:ext cx="217404" cy="301488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AR" sz="1800"/>
          </a:p>
        </p:txBody>
      </p:sp>
      <p:cxnSp>
        <p:nvCxnSpPr>
          <p:cNvPr id="98" name="53 Conector recto de flecha">
            <a:extLst>
              <a:ext uri="{FF2B5EF4-FFF2-40B4-BE49-F238E27FC236}">
                <a16:creationId xmlns="" xmlns:a16="http://schemas.microsoft.com/office/drawing/2014/main" id="{00000000-0008-0000-0200-000036000000}"/>
              </a:ext>
            </a:extLst>
          </p:cNvPr>
          <p:cNvCxnSpPr>
            <a:stCxn id="105" idx="6"/>
            <a:endCxn id="97" idx="2"/>
          </p:cNvCxnSpPr>
          <p:nvPr/>
        </p:nvCxnSpPr>
        <p:spPr>
          <a:xfrm>
            <a:off x="1683511" y="6025828"/>
            <a:ext cx="2574502" cy="8271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Rectángulo 13">
            <a:extLst>
              <a:ext uri="{FF2B5EF4-FFF2-40B4-BE49-F238E27FC236}">
                <a16:creationId xmlns="" xmlns:a16="http://schemas.microsoft.com/office/drawing/2014/main" id="{0F053224-57B6-4424-99E8-036B94CE3A3B}"/>
              </a:ext>
            </a:extLst>
          </p:cNvPr>
          <p:cNvSpPr/>
          <p:nvPr/>
        </p:nvSpPr>
        <p:spPr>
          <a:xfrm>
            <a:off x="77542" y="5124606"/>
            <a:ext cx="6062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u="sng" dirty="0" smtClean="0">
                <a:solidFill>
                  <a:srgbClr val="000000"/>
                </a:solidFill>
                <a:latin typeface="Calibri" panose="020F0502020204030204" pitchFamily="34" charset="0"/>
              </a:rPr>
              <a:t>31-3</a:t>
            </a:r>
            <a:endParaRPr lang="es-AR" sz="1400" u="sng" dirty="0"/>
          </a:p>
        </p:txBody>
      </p:sp>
      <p:sp>
        <p:nvSpPr>
          <p:cNvPr id="101" name="Rectángulo 13">
            <a:extLst>
              <a:ext uri="{FF2B5EF4-FFF2-40B4-BE49-F238E27FC236}">
                <a16:creationId xmlns="" xmlns:a16="http://schemas.microsoft.com/office/drawing/2014/main" id="{0F053224-57B6-4424-99E8-036B94CE3A3B}"/>
              </a:ext>
            </a:extLst>
          </p:cNvPr>
          <p:cNvSpPr/>
          <p:nvPr/>
        </p:nvSpPr>
        <p:spPr>
          <a:xfrm>
            <a:off x="4528004" y="5872038"/>
            <a:ext cx="1042754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500" dirty="0" smtClean="0">
                <a:solidFill>
                  <a:srgbClr val="000000"/>
                </a:solidFill>
                <a:latin typeface="Calibri" panose="020F0502020204030204" pitchFamily="34" charset="0"/>
              </a:rPr>
              <a:t>Seguros</a:t>
            </a:r>
            <a:endParaRPr lang="es-AR" sz="1500" dirty="0"/>
          </a:p>
        </p:txBody>
      </p:sp>
      <p:sp>
        <p:nvSpPr>
          <p:cNvPr id="102" name="Rectángulo 13">
            <a:extLst>
              <a:ext uri="{FF2B5EF4-FFF2-40B4-BE49-F238E27FC236}">
                <a16:creationId xmlns="" xmlns:a16="http://schemas.microsoft.com/office/drawing/2014/main" id="{0F053224-57B6-4424-99E8-036B94CE3A3B}"/>
              </a:ext>
            </a:extLst>
          </p:cNvPr>
          <p:cNvSpPr/>
          <p:nvPr/>
        </p:nvSpPr>
        <p:spPr>
          <a:xfrm>
            <a:off x="2403620" y="5687372"/>
            <a:ext cx="8803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solidFill>
                  <a:srgbClr val="000000"/>
                </a:solidFill>
                <a:latin typeface="Calibri" panose="020F0502020204030204" pitchFamily="34" charset="0"/>
              </a:rPr>
              <a:t>$ 7</a:t>
            </a:r>
            <a:r>
              <a:rPr lang="es-AR" dirty="0" smtClean="0">
                <a:solidFill>
                  <a:srgbClr val="000000"/>
                </a:solidFill>
                <a:latin typeface="Calibri" panose="020F0502020204030204" pitchFamily="34" charset="0"/>
              </a:rPr>
              <a:t>.000</a:t>
            </a:r>
            <a:endParaRPr lang="es-AR" dirty="0"/>
          </a:p>
        </p:txBody>
      </p:sp>
      <p:graphicFrame>
        <p:nvGraphicFramePr>
          <p:cNvPr id="103" name="Tabla 52">
            <a:extLst>
              <a:ext uri="{FF2B5EF4-FFF2-40B4-BE49-F238E27FC236}">
                <a16:creationId xmlns="" xmlns:a16="http://schemas.microsoft.com/office/drawing/2014/main" id="{F090687D-0AE3-4ECE-997C-E3CF2668BB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10591711"/>
              </p:ext>
            </p:extLst>
          </p:nvPr>
        </p:nvGraphicFramePr>
        <p:xfrm>
          <a:off x="6040172" y="5482092"/>
          <a:ext cx="2976215" cy="7234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95243">
                  <a:extLst>
                    <a:ext uri="{9D8B030D-6E8A-4147-A177-3AD203B41FA5}">
                      <a16:colId xmlns="" xmlns:a16="http://schemas.microsoft.com/office/drawing/2014/main" val="609204336"/>
                    </a:ext>
                  </a:extLst>
                </a:gridCol>
                <a:gridCol w="595243">
                  <a:extLst>
                    <a:ext uri="{9D8B030D-6E8A-4147-A177-3AD203B41FA5}">
                      <a16:colId xmlns="" xmlns:a16="http://schemas.microsoft.com/office/drawing/2014/main" val="2193348770"/>
                    </a:ext>
                  </a:extLst>
                </a:gridCol>
                <a:gridCol w="595243">
                  <a:extLst>
                    <a:ext uri="{9D8B030D-6E8A-4147-A177-3AD203B41FA5}">
                      <a16:colId xmlns="" xmlns:a16="http://schemas.microsoft.com/office/drawing/2014/main" val="4092774877"/>
                    </a:ext>
                  </a:extLst>
                </a:gridCol>
                <a:gridCol w="595243">
                  <a:extLst>
                    <a:ext uri="{9D8B030D-6E8A-4147-A177-3AD203B41FA5}">
                      <a16:colId xmlns="" xmlns:a16="http://schemas.microsoft.com/office/drawing/2014/main" val="3501325627"/>
                    </a:ext>
                  </a:extLst>
                </a:gridCol>
                <a:gridCol w="595243">
                  <a:extLst>
                    <a:ext uri="{9D8B030D-6E8A-4147-A177-3AD203B41FA5}">
                      <a16:colId xmlns="" xmlns:a16="http://schemas.microsoft.com/office/drawing/2014/main" val="1946522016"/>
                    </a:ext>
                  </a:extLst>
                </a:gridCol>
              </a:tblGrid>
              <a:tr h="302761"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s-AR" sz="1100" u="none" strike="noStrike" dirty="0">
                          <a:effectLst/>
                        </a:rPr>
                        <a:t>Cuentas</a:t>
                      </a:r>
                      <a:endParaRPr lang="es-A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u="none" strike="noStrike">
                          <a:effectLst/>
                        </a:rPr>
                        <a:t>DEBE</a:t>
                      </a:r>
                      <a:endParaRPr lang="es-AR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u="none" strike="noStrike">
                          <a:effectLst/>
                        </a:rPr>
                        <a:t>HABER</a:t>
                      </a:r>
                      <a:endParaRPr lang="es-AR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="" xmlns:a16="http://schemas.microsoft.com/office/drawing/2014/main" val="2942187959"/>
                  </a:ext>
                </a:extLst>
              </a:tr>
              <a:tr h="217700">
                <a:tc gridSpan="2">
                  <a:txBody>
                    <a:bodyPr/>
                    <a:lstStyle/>
                    <a:p>
                      <a:pPr marL="0" marR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100" b="0" i="0" u="none" strike="noStrike" baseline="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Seguros (R-)</a:t>
                      </a:r>
                      <a:endParaRPr lang="es-AR" sz="1100" b="1" i="0" u="none" strike="noStrike" dirty="0" smtClean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s-A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A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$7.000</a:t>
                      </a:r>
                      <a:endParaRPr lang="es-A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s-A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="" xmlns:a16="http://schemas.microsoft.com/office/drawing/2014/main" val="470263938"/>
                  </a:ext>
                </a:extLst>
              </a:tr>
              <a:tr h="202971">
                <a:tc>
                  <a:txBody>
                    <a:bodyPr/>
                    <a:lstStyle/>
                    <a:p>
                      <a:pPr algn="l" fontAlgn="b"/>
                      <a:r>
                        <a:rPr lang="es-AR" sz="1100" u="none" strike="noStrike" dirty="0">
                          <a:effectLst/>
                        </a:rPr>
                        <a:t> </a:t>
                      </a:r>
                      <a:endParaRPr lang="es-A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s-AR" sz="1100" u="none" strike="noStrike" dirty="0">
                          <a:effectLst/>
                        </a:rPr>
                        <a:t>a </a:t>
                      </a:r>
                      <a:r>
                        <a:rPr lang="es-AR" sz="1100" u="none" strike="noStrike" dirty="0" err="1" smtClean="0">
                          <a:effectLst/>
                        </a:rPr>
                        <a:t>Seg</a:t>
                      </a:r>
                      <a:r>
                        <a:rPr lang="es-AR" sz="1100" u="none" strike="noStrike" dirty="0" smtClean="0">
                          <a:effectLst/>
                        </a:rPr>
                        <a:t>. A </a:t>
                      </a:r>
                      <a:r>
                        <a:rPr lang="es-AR" sz="1100" u="none" strike="noStrike" dirty="0" err="1" smtClean="0">
                          <a:effectLst/>
                        </a:rPr>
                        <a:t>Dev</a:t>
                      </a:r>
                      <a:r>
                        <a:rPr lang="es-AR" sz="1100" u="none" strike="noStrike" dirty="0" smtClean="0">
                          <a:effectLst/>
                        </a:rPr>
                        <a:t>. (A)</a:t>
                      </a:r>
                      <a:endParaRPr lang="es-A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AR" sz="1100" u="none" strike="noStrike" dirty="0">
                          <a:effectLst/>
                        </a:rPr>
                        <a:t> </a:t>
                      </a:r>
                      <a:endParaRPr lang="es-A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AR" sz="1100" u="none" strike="noStrike" dirty="0" smtClean="0">
                          <a:effectLst/>
                        </a:rPr>
                        <a:t>$ 7.000</a:t>
                      </a:r>
                      <a:endParaRPr lang="es-A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</a:tr>
            </a:tbl>
          </a:graphicData>
        </a:graphic>
      </p:graphicFrame>
      <p:sp>
        <p:nvSpPr>
          <p:cNvPr id="105" name="51 Elipse">
            <a:extLst>
              <a:ext uri="{FF2B5EF4-FFF2-40B4-BE49-F238E27FC236}">
                <a16:creationId xmlns="" xmlns:a16="http://schemas.microsoft.com/office/drawing/2014/main" id="{00000000-0008-0000-0200-000034000000}"/>
              </a:ext>
            </a:extLst>
          </p:cNvPr>
          <p:cNvSpPr/>
          <p:nvPr/>
        </p:nvSpPr>
        <p:spPr>
          <a:xfrm>
            <a:off x="276929" y="5315566"/>
            <a:ext cx="1406582" cy="1420524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AR" sz="1600" b="1" dirty="0" smtClean="0">
                <a:solidFill>
                  <a:sysClr val="windowText" lastClr="000000"/>
                </a:solidFill>
              </a:rPr>
              <a:t>Seguros a </a:t>
            </a:r>
          </a:p>
          <a:p>
            <a:pPr algn="ctr"/>
            <a:r>
              <a:rPr lang="es-AR" sz="1600" b="1" dirty="0" smtClean="0">
                <a:solidFill>
                  <a:sysClr val="windowText" lastClr="000000"/>
                </a:solidFill>
              </a:rPr>
              <a:t>Devengar</a:t>
            </a:r>
            <a:endParaRPr lang="es-AR" sz="1600" b="1" dirty="0">
              <a:solidFill>
                <a:sysClr val="windowText" lastClr="000000"/>
              </a:solidFill>
            </a:endParaRPr>
          </a:p>
        </p:txBody>
      </p:sp>
      <p:sp>
        <p:nvSpPr>
          <p:cNvPr id="109" name="Rectángulo 13">
            <a:extLst>
              <a:ext uri="{FF2B5EF4-FFF2-40B4-BE49-F238E27FC236}">
                <a16:creationId xmlns="" xmlns:a16="http://schemas.microsoft.com/office/drawing/2014/main" id="{0F053224-57B6-4424-99E8-036B94CE3A3B}"/>
              </a:ext>
            </a:extLst>
          </p:cNvPr>
          <p:cNvSpPr/>
          <p:nvPr/>
        </p:nvSpPr>
        <p:spPr>
          <a:xfrm>
            <a:off x="2324377" y="6208462"/>
            <a:ext cx="17700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 err="1" smtClean="0">
                <a:solidFill>
                  <a:srgbClr val="000000"/>
                </a:solidFill>
                <a:latin typeface="Calibri" panose="020F0502020204030204" pitchFamily="34" charset="0"/>
              </a:rPr>
              <a:t>Idem</a:t>
            </a:r>
            <a:r>
              <a:rPr lang="es-AR" dirty="0" smtClean="0">
                <a:solidFill>
                  <a:srgbClr val="000000"/>
                </a:solidFill>
                <a:latin typeface="Calibri" panose="020F0502020204030204" pitchFamily="34" charset="0"/>
              </a:rPr>
              <a:t> 30-4 y 31-5</a:t>
            </a:r>
            <a:endParaRPr lang="es-AR" dirty="0"/>
          </a:p>
        </p:txBody>
      </p:sp>
      <p:sp>
        <p:nvSpPr>
          <p:cNvPr id="110" name="Rectángulo 11">
            <a:extLst>
              <a:ext uri="{FF2B5EF4-FFF2-40B4-BE49-F238E27FC236}">
                <a16:creationId xmlns="" xmlns:a16="http://schemas.microsoft.com/office/drawing/2014/main" id="{7C2A06E2-7006-405B-ABBD-F875D962070E}"/>
              </a:ext>
            </a:extLst>
          </p:cNvPr>
          <p:cNvSpPr/>
          <p:nvPr/>
        </p:nvSpPr>
        <p:spPr>
          <a:xfrm>
            <a:off x="6380584" y="6300442"/>
            <a:ext cx="196813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dirty="0" smtClean="0">
                <a:solidFill>
                  <a:srgbClr val="000000"/>
                </a:solidFill>
                <a:latin typeface="Calibri" panose="020F0502020204030204" pitchFamily="34" charset="0"/>
              </a:rPr>
              <a:t>Sigue </a:t>
            </a:r>
            <a:r>
              <a:rPr lang="es-AR" dirty="0" smtClean="0">
                <a:solidFill>
                  <a:srgbClr val="00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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750523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/>
      <p:bldP spid="74" grpId="0"/>
      <p:bldP spid="42" grpId="0" animBg="1"/>
      <p:bldP spid="45" grpId="0"/>
      <p:bldP spid="46" grpId="0"/>
      <p:bldP spid="23" grpId="0" animBg="1"/>
      <p:bldP spid="27" grpId="0"/>
      <p:bldP spid="28" grpId="0"/>
      <p:bldP spid="29" grpId="0" animBg="1"/>
      <p:bldP spid="30" grpId="0" animBg="1"/>
      <p:bldP spid="35" grpId="0" animBg="1"/>
      <p:bldP spid="36" grpId="0" animBg="1"/>
      <p:bldP spid="40" grpId="0"/>
      <p:bldP spid="44" grpId="0"/>
      <p:bldP spid="47" grpId="0"/>
      <p:bldP spid="48" grpId="0" animBg="1"/>
      <p:bldP spid="52" grpId="0"/>
      <p:bldP spid="53" grpId="0"/>
      <p:bldP spid="56" grpId="0"/>
      <p:bldP spid="69" grpId="0"/>
      <p:bldP spid="72" grpId="0" animBg="1"/>
      <p:bldP spid="75" grpId="0"/>
      <p:bldP spid="97" grpId="0" animBg="1"/>
      <p:bldP spid="100" grpId="0"/>
      <p:bldP spid="101" grpId="0"/>
      <p:bldP spid="102" grpId="0"/>
      <p:bldP spid="105" grpId="0" animBg="1"/>
      <p:bldP spid="109" grpId="0"/>
      <p:bldP spid="11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="" xmlns:a16="http://schemas.microsoft.com/office/drawing/2014/main" id="{DD7C5540-AFA9-409E-B061-E3CEA4BDABDC}"/>
              </a:ext>
            </a:extLst>
          </p:cNvPr>
          <p:cNvSpPr/>
          <p:nvPr/>
        </p:nvSpPr>
        <p:spPr>
          <a:xfrm>
            <a:off x="605048" y="185960"/>
            <a:ext cx="8049718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600" i="1" dirty="0"/>
              <a:t>El día 16-6-2013 se produce un incendio en la planta industrial, se evalúan los daños y se determina que se destruyeron Instalaciones por $146.000 de Valor de Origen, Valor Residual de $88.000, Vida Útil 15 años y que tenían al momento del siniestro 12 años de antigüedad. También se destruyen Máquinas por $238.000 de VO, $135.000 de VR, VU 10 años y antigüedad 6 años. Se hace la denuncia a la compañía aseguradora y se espera su contestación para la registración contable.</a:t>
            </a:r>
            <a:endParaRPr lang="es-AR" sz="1600" dirty="0"/>
          </a:p>
          <a:p>
            <a:r>
              <a:rPr lang="es-AR" sz="1600" i="1" dirty="0"/>
              <a:t>El día 30-6-2013 la compañía de seguros ofrece $80.000+IVA por las instalaciones y $190.000+IVA por las máquinas. Se acepta la propuesta y se hace la registración.</a:t>
            </a:r>
            <a:endParaRPr lang="es-AR" sz="1600" dirty="0"/>
          </a:p>
          <a:p>
            <a:r>
              <a:rPr lang="es-AR" sz="1600" i="1" dirty="0"/>
              <a:t>Registrar todas las transacciones involucradas durante el año 2013.  </a:t>
            </a:r>
            <a:endParaRPr lang="es-AR" sz="1600" dirty="0"/>
          </a:p>
        </p:txBody>
      </p:sp>
      <p:sp>
        <p:nvSpPr>
          <p:cNvPr id="16" name="22 Elipse">
            <a:extLst>
              <a:ext uri="{FF2B5EF4-FFF2-40B4-BE49-F238E27FC236}">
                <a16:creationId xmlns="" xmlns:a16="http://schemas.microsoft.com/office/drawing/2014/main" id="{00000000-0008-0000-0200-000017000000}"/>
              </a:ext>
            </a:extLst>
          </p:cNvPr>
          <p:cNvSpPr/>
          <p:nvPr/>
        </p:nvSpPr>
        <p:spPr>
          <a:xfrm>
            <a:off x="4459488" y="3203906"/>
            <a:ext cx="1238004" cy="1263863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AR" sz="1600" b="1" dirty="0" err="1" smtClean="0">
                <a:solidFill>
                  <a:sysClr val="windowText" lastClr="000000"/>
                </a:solidFill>
              </a:rPr>
              <a:t>CxC</a:t>
            </a:r>
            <a:endParaRPr lang="es-AR" sz="1600" b="1" dirty="0">
              <a:solidFill>
                <a:sysClr val="windowText" lastClr="000000"/>
              </a:solidFill>
            </a:endParaRPr>
          </a:p>
        </p:txBody>
      </p:sp>
      <p:sp>
        <p:nvSpPr>
          <p:cNvPr id="17" name="23 Elipse">
            <a:extLst>
              <a:ext uri="{FF2B5EF4-FFF2-40B4-BE49-F238E27FC236}">
                <a16:creationId xmlns="" xmlns:a16="http://schemas.microsoft.com/office/drawing/2014/main" id="{00000000-0008-0000-0200-000018000000}"/>
              </a:ext>
            </a:extLst>
          </p:cNvPr>
          <p:cNvSpPr/>
          <p:nvPr/>
        </p:nvSpPr>
        <p:spPr>
          <a:xfrm>
            <a:off x="3050293" y="3791045"/>
            <a:ext cx="78413" cy="8958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AR" sz="1800">
              <a:solidFill>
                <a:prstClr val="white"/>
              </a:solidFill>
            </a:endParaRPr>
          </a:p>
        </p:txBody>
      </p:sp>
      <p:cxnSp>
        <p:nvCxnSpPr>
          <p:cNvPr id="19" name="25 Conector recto de flecha">
            <a:extLst>
              <a:ext uri="{FF2B5EF4-FFF2-40B4-BE49-F238E27FC236}">
                <a16:creationId xmlns="" xmlns:a16="http://schemas.microsoft.com/office/drawing/2014/main" id="{00000000-0008-0000-0200-00001A000000}"/>
              </a:ext>
            </a:extLst>
          </p:cNvPr>
          <p:cNvCxnSpPr>
            <a:stCxn id="23" idx="1"/>
            <a:endCxn id="17" idx="5"/>
          </p:cNvCxnSpPr>
          <p:nvPr/>
        </p:nvCxnSpPr>
        <p:spPr>
          <a:xfrm flipH="1" flipV="1">
            <a:off x="3117223" y="3867511"/>
            <a:ext cx="1581530" cy="1349311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26 Conector recto de flecha">
            <a:extLst>
              <a:ext uri="{FF2B5EF4-FFF2-40B4-BE49-F238E27FC236}">
                <a16:creationId xmlns="" xmlns:a16="http://schemas.microsoft.com/office/drawing/2014/main" id="{00000000-0008-0000-0200-00001B000000}"/>
              </a:ext>
            </a:extLst>
          </p:cNvPr>
          <p:cNvCxnSpPr>
            <a:stCxn id="17" idx="6"/>
            <a:endCxn id="16" idx="2"/>
          </p:cNvCxnSpPr>
          <p:nvPr/>
        </p:nvCxnSpPr>
        <p:spPr>
          <a:xfrm>
            <a:off x="3128706" y="3835838"/>
            <a:ext cx="1330782" cy="0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39 Rectángulo">
            <a:extLst>
              <a:ext uri="{FF2B5EF4-FFF2-40B4-BE49-F238E27FC236}">
                <a16:creationId xmlns="" xmlns:a16="http://schemas.microsoft.com/office/drawing/2014/main" id="{00000000-0008-0000-0200-000028000000}"/>
              </a:ext>
            </a:extLst>
          </p:cNvPr>
          <p:cNvSpPr/>
          <p:nvPr/>
        </p:nvSpPr>
        <p:spPr>
          <a:xfrm>
            <a:off x="4698753" y="4522828"/>
            <a:ext cx="871255" cy="1387987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AR" sz="1600" b="1">
                <a:solidFill>
                  <a:sysClr val="windowText" lastClr="000000"/>
                </a:solidFill>
              </a:rPr>
              <a:t>IVA</a:t>
            </a:r>
          </a:p>
          <a:p>
            <a:pPr algn="ctr"/>
            <a:r>
              <a:rPr lang="es-AR" sz="1600" b="1">
                <a:solidFill>
                  <a:sysClr val="windowText" lastClr="000000"/>
                </a:solidFill>
              </a:rPr>
              <a:t>DF</a:t>
            </a:r>
          </a:p>
        </p:txBody>
      </p:sp>
      <p:cxnSp>
        <p:nvCxnSpPr>
          <p:cNvPr id="31" name="44 Conector recto de flecha">
            <a:extLst>
              <a:ext uri="{FF2B5EF4-FFF2-40B4-BE49-F238E27FC236}">
                <a16:creationId xmlns="" xmlns:a16="http://schemas.microsoft.com/office/drawing/2014/main" id="{00000000-0008-0000-0200-00002D000000}"/>
              </a:ext>
            </a:extLst>
          </p:cNvPr>
          <p:cNvCxnSpPr>
            <a:cxnSpLocks/>
            <a:stCxn id="17" idx="4"/>
            <a:endCxn id="65" idx="0"/>
          </p:cNvCxnSpPr>
          <p:nvPr/>
        </p:nvCxnSpPr>
        <p:spPr>
          <a:xfrm flipH="1">
            <a:off x="3056157" y="3880630"/>
            <a:ext cx="33343" cy="2118294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ángulo 13">
            <a:extLst>
              <a:ext uri="{FF2B5EF4-FFF2-40B4-BE49-F238E27FC236}">
                <a16:creationId xmlns="" xmlns:a16="http://schemas.microsoft.com/office/drawing/2014/main" id="{0F053224-57B6-4424-99E8-036B94CE3A3B}"/>
              </a:ext>
            </a:extLst>
          </p:cNvPr>
          <p:cNvSpPr/>
          <p:nvPr/>
        </p:nvSpPr>
        <p:spPr>
          <a:xfrm>
            <a:off x="2205223" y="5506883"/>
            <a:ext cx="8803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 smtClean="0">
                <a:solidFill>
                  <a:srgbClr val="000000"/>
                </a:solidFill>
              </a:rPr>
              <a:t>$5.800</a:t>
            </a:r>
            <a:r>
              <a:rPr lang="es-AR" dirty="0" smtClean="0">
                <a:solidFill>
                  <a:prstClr val="black"/>
                </a:solidFill>
              </a:rPr>
              <a:t> </a:t>
            </a:r>
            <a:endParaRPr lang="es-AR" dirty="0">
              <a:solidFill>
                <a:prstClr val="black"/>
              </a:solidFill>
            </a:endParaRPr>
          </a:p>
        </p:txBody>
      </p:sp>
      <p:sp>
        <p:nvSpPr>
          <p:cNvPr id="15" name="Rectángulo 14">
            <a:extLst>
              <a:ext uri="{FF2B5EF4-FFF2-40B4-BE49-F238E27FC236}">
                <a16:creationId xmlns="" xmlns:a16="http://schemas.microsoft.com/office/drawing/2014/main" id="{28F8C3CF-63F2-4545-B1D3-82F1B8EE9285}"/>
              </a:ext>
            </a:extLst>
          </p:cNvPr>
          <p:cNvSpPr/>
          <p:nvPr/>
        </p:nvSpPr>
        <p:spPr>
          <a:xfrm>
            <a:off x="3621354" y="4921417"/>
            <a:ext cx="99738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solidFill>
                  <a:srgbClr val="000000"/>
                </a:solidFill>
              </a:rPr>
              <a:t>$ </a:t>
            </a:r>
            <a:r>
              <a:rPr lang="es-AR" dirty="0" smtClean="0">
                <a:solidFill>
                  <a:srgbClr val="000000"/>
                </a:solidFill>
              </a:rPr>
              <a:t>56.700</a:t>
            </a:r>
            <a:endParaRPr lang="es-AR" dirty="0">
              <a:solidFill>
                <a:prstClr val="black"/>
              </a:solidFill>
            </a:endParaRPr>
          </a:p>
        </p:txBody>
      </p:sp>
      <p:sp>
        <p:nvSpPr>
          <p:cNvPr id="34" name="Rectángulo 33">
            <a:extLst>
              <a:ext uri="{FF2B5EF4-FFF2-40B4-BE49-F238E27FC236}">
                <a16:creationId xmlns="" xmlns:a16="http://schemas.microsoft.com/office/drawing/2014/main" id="{17704CB6-0361-496C-8BE8-0E849F2FB5A5}"/>
              </a:ext>
            </a:extLst>
          </p:cNvPr>
          <p:cNvSpPr/>
          <p:nvPr/>
        </p:nvSpPr>
        <p:spPr>
          <a:xfrm>
            <a:off x="3375781" y="3421713"/>
            <a:ext cx="11144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solidFill>
                  <a:srgbClr val="000000"/>
                </a:solidFill>
              </a:rPr>
              <a:t>$ </a:t>
            </a:r>
            <a:r>
              <a:rPr lang="es-AR" dirty="0" smtClean="0">
                <a:solidFill>
                  <a:srgbClr val="000000"/>
                </a:solidFill>
              </a:rPr>
              <a:t>326.700</a:t>
            </a:r>
            <a:endParaRPr lang="es-AR" dirty="0">
              <a:solidFill>
                <a:prstClr val="black"/>
              </a:solidFill>
            </a:endParaRPr>
          </a:p>
        </p:txBody>
      </p:sp>
      <p:sp>
        <p:nvSpPr>
          <p:cNvPr id="41" name="51 Elipse">
            <a:extLst>
              <a:ext uri="{FF2B5EF4-FFF2-40B4-BE49-F238E27FC236}">
                <a16:creationId xmlns="" xmlns:a16="http://schemas.microsoft.com/office/drawing/2014/main" id="{00000000-0008-0000-0200-000034000000}"/>
              </a:ext>
            </a:extLst>
          </p:cNvPr>
          <p:cNvSpPr/>
          <p:nvPr/>
        </p:nvSpPr>
        <p:spPr>
          <a:xfrm>
            <a:off x="226541" y="3237357"/>
            <a:ext cx="1165286" cy="1196962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AR" sz="1600" b="1" dirty="0" smtClean="0">
                <a:solidFill>
                  <a:sysClr val="windowText" lastClr="000000"/>
                </a:solidFill>
              </a:rPr>
              <a:t>BU</a:t>
            </a:r>
            <a:endParaRPr lang="es-AR" sz="1600" b="1" dirty="0">
              <a:solidFill>
                <a:sysClr val="windowText" lastClr="000000"/>
              </a:solidFill>
            </a:endParaRPr>
          </a:p>
        </p:txBody>
      </p:sp>
      <p:cxnSp>
        <p:nvCxnSpPr>
          <p:cNvPr id="43" name="53 Conector recto de flecha">
            <a:extLst>
              <a:ext uri="{FF2B5EF4-FFF2-40B4-BE49-F238E27FC236}">
                <a16:creationId xmlns="" xmlns:a16="http://schemas.microsoft.com/office/drawing/2014/main" id="{00000000-0008-0000-0200-000036000000}"/>
              </a:ext>
            </a:extLst>
          </p:cNvPr>
          <p:cNvCxnSpPr>
            <a:stCxn id="17" idx="3"/>
            <a:endCxn id="36" idx="3"/>
          </p:cNvCxnSpPr>
          <p:nvPr/>
        </p:nvCxnSpPr>
        <p:spPr>
          <a:xfrm flipH="1">
            <a:off x="1244811" y="3867511"/>
            <a:ext cx="1816965" cy="1320479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ángulo 13">
            <a:extLst>
              <a:ext uri="{FF2B5EF4-FFF2-40B4-BE49-F238E27FC236}">
                <a16:creationId xmlns="" xmlns:a16="http://schemas.microsoft.com/office/drawing/2014/main" id="{0F053224-57B6-4424-99E8-036B94CE3A3B}"/>
              </a:ext>
            </a:extLst>
          </p:cNvPr>
          <p:cNvSpPr/>
          <p:nvPr/>
        </p:nvSpPr>
        <p:spPr>
          <a:xfrm>
            <a:off x="53929" y="2494279"/>
            <a:ext cx="2591478" cy="36933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s-AR" dirty="0" smtClean="0">
                <a:solidFill>
                  <a:srgbClr val="000000"/>
                </a:solidFill>
              </a:rPr>
              <a:t>16-6 No se Registra Nada</a:t>
            </a:r>
            <a:endParaRPr lang="es-AR" dirty="0">
              <a:solidFill>
                <a:prstClr val="black"/>
              </a:solidFill>
            </a:endParaRPr>
          </a:p>
        </p:txBody>
      </p:sp>
      <p:sp>
        <p:nvSpPr>
          <p:cNvPr id="50" name="Rectángulo 13">
            <a:extLst>
              <a:ext uri="{FF2B5EF4-FFF2-40B4-BE49-F238E27FC236}">
                <a16:creationId xmlns="" xmlns:a16="http://schemas.microsoft.com/office/drawing/2014/main" id="{0F053224-57B6-4424-99E8-036B94CE3A3B}"/>
              </a:ext>
            </a:extLst>
          </p:cNvPr>
          <p:cNvSpPr/>
          <p:nvPr/>
        </p:nvSpPr>
        <p:spPr>
          <a:xfrm>
            <a:off x="1223671" y="4522828"/>
            <a:ext cx="11144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solidFill>
                  <a:srgbClr val="000000"/>
                </a:solidFill>
              </a:rPr>
              <a:t>$ </a:t>
            </a:r>
            <a:r>
              <a:rPr lang="es-AR" dirty="0" smtClean="0">
                <a:solidFill>
                  <a:srgbClr val="000000"/>
                </a:solidFill>
              </a:rPr>
              <a:t>108.200</a:t>
            </a:r>
            <a:endParaRPr lang="es-AR" dirty="0">
              <a:solidFill>
                <a:prstClr val="black"/>
              </a:solidFill>
            </a:endParaRPr>
          </a:p>
        </p:txBody>
      </p:sp>
      <p:sp>
        <p:nvSpPr>
          <p:cNvPr id="51" name="Rectángulo 13">
            <a:extLst>
              <a:ext uri="{FF2B5EF4-FFF2-40B4-BE49-F238E27FC236}">
                <a16:creationId xmlns="" xmlns:a16="http://schemas.microsoft.com/office/drawing/2014/main" id="{0F053224-57B6-4424-99E8-036B94CE3A3B}"/>
              </a:ext>
            </a:extLst>
          </p:cNvPr>
          <p:cNvSpPr/>
          <p:nvPr/>
        </p:nvSpPr>
        <p:spPr>
          <a:xfrm>
            <a:off x="1723378" y="3378252"/>
            <a:ext cx="11144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solidFill>
                  <a:srgbClr val="000000"/>
                </a:solidFill>
              </a:rPr>
              <a:t>$ </a:t>
            </a:r>
            <a:r>
              <a:rPr lang="es-AR" dirty="0" smtClean="0">
                <a:solidFill>
                  <a:srgbClr val="000000"/>
                </a:solidFill>
              </a:rPr>
              <a:t>384.000</a:t>
            </a:r>
            <a:endParaRPr lang="es-AR" dirty="0">
              <a:solidFill>
                <a:prstClr val="black"/>
              </a:solidFill>
            </a:endParaRPr>
          </a:p>
        </p:txBody>
      </p:sp>
      <p:cxnSp>
        <p:nvCxnSpPr>
          <p:cNvPr id="54" name="53 Conector recto de flecha">
            <a:extLst>
              <a:ext uri="{FF2B5EF4-FFF2-40B4-BE49-F238E27FC236}">
                <a16:creationId xmlns="" xmlns:a16="http://schemas.microsoft.com/office/drawing/2014/main" id="{00000000-0008-0000-0200-000036000000}"/>
              </a:ext>
            </a:extLst>
          </p:cNvPr>
          <p:cNvCxnSpPr>
            <a:stCxn id="41" idx="6"/>
            <a:endCxn id="17" idx="2"/>
          </p:cNvCxnSpPr>
          <p:nvPr/>
        </p:nvCxnSpPr>
        <p:spPr>
          <a:xfrm>
            <a:off x="1391827" y="3835838"/>
            <a:ext cx="1658466" cy="0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Rectángulo 13">
            <a:extLst>
              <a:ext uri="{FF2B5EF4-FFF2-40B4-BE49-F238E27FC236}">
                <a16:creationId xmlns="" xmlns:a16="http://schemas.microsoft.com/office/drawing/2014/main" id="{0F053224-57B6-4424-99E8-036B94CE3A3B}"/>
              </a:ext>
            </a:extLst>
          </p:cNvPr>
          <p:cNvSpPr/>
          <p:nvPr/>
        </p:nvSpPr>
        <p:spPr>
          <a:xfrm>
            <a:off x="3502731" y="2926155"/>
            <a:ext cx="14253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solidFill>
                  <a:srgbClr val="000000"/>
                </a:solidFill>
              </a:rPr>
              <a:t>$ </a:t>
            </a:r>
            <a:r>
              <a:rPr lang="es-AR" sz="1400" dirty="0" smtClean="0">
                <a:solidFill>
                  <a:srgbClr val="000000"/>
                </a:solidFill>
              </a:rPr>
              <a:t>270.000 x 1,21</a:t>
            </a:r>
            <a:endParaRPr lang="es-AR" sz="1400" dirty="0">
              <a:solidFill>
                <a:prstClr val="black"/>
              </a:solidFill>
            </a:endParaRPr>
          </a:p>
        </p:txBody>
      </p:sp>
      <p:sp>
        <p:nvSpPr>
          <p:cNvPr id="36" name="39 Rectángulo">
            <a:extLst>
              <a:ext uri="{FF2B5EF4-FFF2-40B4-BE49-F238E27FC236}">
                <a16:creationId xmlns="" xmlns:a16="http://schemas.microsoft.com/office/drawing/2014/main" id="{00000000-0008-0000-0200-000028000000}"/>
              </a:ext>
            </a:extLst>
          </p:cNvPr>
          <p:cNvSpPr/>
          <p:nvPr/>
        </p:nvSpPr>
        <p:spPr>
          <a:xfrm>
            <a:off x="373556" y="4522828"/>
            <a:ext cx="871255" cy="1330324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AR" sz="1600" b="1" dirty="0" smtClean="0">
                <a:solidFill>
                  <a:sysClr val="windowText" lastClr="000000"/>
                </a:solidFill>
              </a:rPr>
              <a:t>AA</a:t>
            </a:r>
            <a:endParaRPr lang="es-AR" sz="1600" b="1" dirty="0">
              <a:solidFill>
                <a:sysClr val="windowText" lastClr="000000"/>
              </a:solidFill>
            </a:endParaRPr>
          </a:p>
        </p:txBody>
      </p:sp>
      <p:sp>
        <p:nvSpPr>
          <p:cNvPr id="6" name="5 CuadroTexto"/>
          <p:cNvSpPr txBox="1"/>
          <p:nvPr/>
        </p:nvSpPr>
        <p:spPr>
          <a:xfrm>
            <a:off x="6220913" y="2401946"/>
            <a:ext cx="266429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400" dirty="0" smtClean="0"/>
              <a:t>Instalaciones: VO = $146.000</a:t>
            </a:r>
          </a:p>
          <a:p>
            <a:r>
              <a:rPr lang="es-AR" sz="1400" dirty="0" smtClean="0"/>
              <a:t>VR = $88.000 VU = 15 años</a:t>
            </a:r>
          </a:p>
          <a:p>
            <a:r>
              <a:rPr lang="es-AR" sz="1400" dirty="0" smtClean="0"/>
              <a:t>Antigüedad = 12 años</a:t>
            </a:r>
          </a:p>
        </p:txBody>
      </p:sp>
      <p:sp>
        <p:nvSpPr>
          <p:cNvPr id="7" name="6 CuadroTexto"/>
          <p:cNvSpPr txBox="1"/>
          <p:nvPr/>
        </p:nvSpPr>
        <p:spPr>
          <a:xfrm>
            <a:off x="5947571" y="5746414"/>
            <a:ext cx="270831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400" dirty="0" smtClean="0"/>
              <a:t>VV = $270.000 + IVA</a:t>
            </a:r>
          </a:p>
          <a:p>
            <a:r>
              <a:rPr lang="es-AR" sz="1400" dirty="0" smtClean="0"/>
              <a:t>VL </a:t>
            </a:r>
            <a:r>
              <a:rPr lang="es-AR" sz="1400" dirty="0"/>
              <a:t>= VO-AA </a:t>
            </a:r>
            <a:r>
              <a:rPr lang="es-AR" sz="1400" dirty="0" smtClean="0"/>
              <a:t>=$384.000 - $108.200</a:t>
            </a:r>
            <a:endParaRPr lang="es-AR" sz="1400" dirty="0"/>
          </a:p>
          <a:p>
            <a:r>
              <a:rPr lang="es-AR" sz="1400" dirty="0" smtClean="0"/>
              <a:t>UT= VV – VL =$270.000 - $275.800</a:t>
            </a:r>
            <a:endParaRPr lang="es-AR" sz="1400" dirty="0"/>
          </a:p>
        </p:txBody>
      </p:sp>
      <p:sp>
        <p:nvSpPr>
          <p:cNvPr id="38" name="37 CuadroTexto"/>
          <p:cNvSpPr txBox="1"/>
          <p:nvPr/>
        </p:nvSpPr>
        <p:spPr>
          <a:xfrm>
            <a:off x="6220913" y="3110821"/>
            <a:ext cx="266429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400" dirty="0" err="1" smtClean="0"/>
              <a:t>Amort</a:t>
            </a:r>
            <a:r>
              <a:rPr lang="es-AR" sz="1400" dirty="0" smtClean="0"/>
              <a:t>.  = VO-VR / VU</a:t>
            </a:r>
          </a:p>
          <a:p>
            <a:r>
              <a:rPr lang="es-AR" sz="1400" dirty="0" smtClean="0"/>
              <a:t>AA  =  </a:t>
            </a:r>
            <a:r>
              <a:rPr lang="es-AR" sz="1400" dirty="0" err="1" smtClean="0"/>
              <a:t>Amort</a:t>
            </a:r>
            <a:r>
              <a:rPr lang="es-AR" sz="1400" dirty="0" smtClean="0"/>
              <a:t>/año x </a:t>
            </a:r>
            <a:r>
              <a:rPr lang="es-AR" sz="1400" dirty="0" err="1" smtClean="0"/>
              <a:t>Ant</a:t>
            </a:r>
            <a:r>
              <a:rPr lang="es-AR" sz="1400" dirty="0" smtClean="0"/>
              <a:t>.</a:t>
            </a:r>
          </a:p>
          <a:p>
            <a:r>
              <a:rPr lang="es-AR" sz="1400" dirty="0" smtClean="0"/>
              <a:t>= ($146.000-$88.000)/15 x 12</a:t>
            </a:r>
          </a:p>
          <a:p>
            <a:r>
              <a:rPr lang="es-AR" sz="1400" dirty="0" smtClean="0"/>
              <a:t> AA Inst. = $46.400</a:t>
            </a:r>
            <a:endParaRPr lang="es-AR" sz="1400" dirty="0"/>
          </a:p>
        </p:txBody>
      </p:sp>
      <p:sp>
        <p:nvSpPr>
          <p:cNvPr id="35" name="Rectángulo 13">
            <a:extLst>
              <a:ext uri="{FF2B5EF4-FFF2-40B4-BE49-F238E27FC236}">
                <a16:creationId xmlns="" xmlns:a16="http://schemas.microsoft.com/office/drawing/2014/main" id="{0F053224-57B6-4424-99E8-036B94CE3A3B}"/>
              </a:ext>
            </a:extLst>
          </p:cNvPr>
          <p:cNvSpPr/>
          <p:nvPr/>
        </p:nvSpPr>
        <p:spPr>
          <a:xfrm>
            <a:off x="2371817" y="6300412"/>
            <a:ext cx="138040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dirty="0" err="1" smtClean="0">
                <a:solidFill>
                  <a:srgbClr val="000000"/>
                </a:solidFill>
              </a:rPr>
              <a:t>Ut.x</a:t>
            </a:r>
            <a:r>
              <a:rPr lang="es-AR" dirty="0" smtClean="0">
                <a:solidFill>
                  <a:srgbClr val="000000"/>
                </a:solidFill>
              </a:rPr>
              <a:t> </a:t>
            </a:r>
            <a:r>
              <a:rPr lang="es-AR" dirty="0" err="1" smtClean="0">
                <a:solidFill>
                  <a:srgbClr val="000000"/>
                </a:solidFill>
              </a:rPr>
              <a:t>Vta</a:t>
            </a:r>
            <a:r>
              <a:rPr lang="es-AR" dirty="0" smtClean="0">
                <a:solidFill>
                  <a:srgbClr val="000000"/>
                </a:solidFill>
              </a:rPr>
              <a:t> BU</a:t>
            </a:r>
            <a:endParaRPr lang="es-AR" dirty="0">
              <a:solidFill>
                <a:prstClr val="black"/>
              </a:solidFill>
            </a:endParaRPr>
          </a:p>
        </p:txBody>
      </p:sp>
      <p:sp>
        <p:nvSpPr>
          <p:cNvPr id="37" name="Rectángulo 13">
            <a:extLst>
              <a:ext uri="{FF2B5EF4-FFF2-40B4-BE49-F238E27FC236}">
                <a16:creationId xmlns="" xmlns:a16="http://schemas.microsoft.com/office/drawing/2014/main" id="{0F053224-57B6-4424-99E8-036B94CE3A3B}"/>
              </a:ext>
            </a:extLst>
          </p:cNvPr>
          <p:cNvSpPr/>
          <p:nvPr/>
        </p:nvSpPr>
        <p:spPr>
          <a:xfrm>
            <a:off x="118980" y="2863611"/>
            <a:ext cx="690203" cy="369332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s-AR" dirty="0" smtClean="0">
                <a:solidFill>
                  <a:srgbClr val="000000"/>
                </a:solidFill>
              </a:rPr>
              <a:t>30-6</a:t>
            </a:r>
            <a:endParaRPr lang="es-AR" dirty="0">
              <a:solidFill>
                <a:prstClr val="black"/>
              </a:solidFill>
            </a:endParaRPr>
          </a:p>
        </p:txBody>
      </p:sp>
      <p:sp>
        <p:nvSpPr>
          <p:cNvPr id="45" name="44 CuadroTexto"/>
          <p:cNvSpPr txBox="1"/>
          <p:nvPr/>
        </p:nvSpPr>
        <p:spPr>
          <a:xfrm>
            <a:off x="6187352" y="4093168"/>
            <a:ext cx="266429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400" dirty="0" smtClean="0"/>
              <a:t>Máquinas: VO = $238.000</a:t>
            </a:r>
          </a:p>
          <a:p>
            <a:r>
              <a:rPr lang="es-AR" sz="1400" dirty="0" smtClean="0"/>
              <a:t>VR = $135.000 VU = 10 años</a:t>
            </a:r>
          </a:p>
          <a:p>
            <a:r>
              <a:rPr lang="es-AR" sz="1400" dirty="0" smtClean="0"/>
              <a:t>Antigüedad = </a:t>
            </a:r>
            <a:r>
              <a:rPr lang="es-AR" sz="1400" dirty="0"/>
              <a:t>6</a:t>
            </a:r>
            <a:r>
              <a:rPr lang="es-AR" sz="1400" dirty="0" smtClean="0"/>
              <a:t> años</a:t>
            </a:r>
          </a:p>
        </p:txBody>
      </p:sp>
      <p:sp>
        <p:nvSpPr>
          <p:cNvPr id="46" name="45 CuadroTexto"/>
          <p:cNvSpPr txBox="1"/>
          <p:nvPr/>
        </p:nvSpPr>
        <p:spPr>
          <a:xfrm>
            <a:off x="6187352" y="4802043"/>
            <a:ext cx="266429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1400" dirty="0" err="1" smtClean="0"/>
              <a:t>Amort</a:t>
            </a:r>
            <a:r>
              <a:rPr lang="es-AR" sz="1400" dirty="0" smtClean="0"/>
              <a:t>.  = VO-VR / VU</a:t>
            </a:r>
          </a:p>
          <a:p>
            <a:r>
              <a:rPr lang="es-AR" sz="1400" dirty="0" smtClean="0"/>
              <a:t>AA  =  </a:t>
            </a:r>
            <a:r>
              <a:rPr lang="es-AR" sz="1400" dirty="0" err="1" smtClean="0"/>
              <a:t>Amort</a:t>
            </a:r>
            <a:r>
              <a:rPr lang="es-AR" sz="1400" dirty="0" smtClean="0"/>
              <a:t>/año x </a:t>
            </a:r>
            <a:r>
              <a:rPr lang="es-AR" sz="1400" dirty="0" err="1" smtClean="0"/>
              <a:t>Ant</a:t>
            </a:r>
            <a:r>
              <a:rPr lang="es-AR" sz="1400" dirty="0" smtClean="0"/>
              <a:t>.</a:t>
            </a:r>
          </a:p>
          <a:p>
            <a:r>
              <a:rPr lang="es-AR" sz="1400" dirty="0" smtClean="0"/>
              <a:t>= ($238.000-$135.000)/10 x 6</a:t>
            </a:r>
          </a:p>
          <a:p>
            <a:r>
              <a:rPr lang="es-AR" sz="1400" dirty="0" smtClean="0"/>
              <a:t> AA </a:t>
            </a:r>
            <a:r>
              <a:rPr lang="es-AR" sz="1400" dirty="0" err="1" smtClean="0"/>
              <a:t>Maq</a:t>
            </a:r>
            <a:r>
              <a:rPr lang="es-AR" sz="1400" dirty="0" smtClean="0"/>
              <a:t>. = $ 61.800</a:t>
            </a:r>
            <a:endParaRPr lang="es-AR" sz="1400" dirty="0"/>
          </a:p>
        </p:txBody>
      </p:sp>
      <p:sp>
        <p:nvSpPr>
          <p:cNvPr id="55" name="Rectángulo 13">
            <a:extLst>
              <a:ext uri="{FF2B5EF4-FFF2-40B4-BE49-F238E27FC236}">
                <a16:creationId xmlns="" xmlns:a16="http://schemas.microsoft.com/office/drawing/2014/main" id="{0F053224-57B6-4424-99E8-036B94CE3A3B}"/>
              </a:ext>
            </a:extLst>
          </p:cNvPr>
          <p:cNvSpPr/>
          <p:nvPr/>
        </p:nvSpPr>
        <p:spPr>
          <a:xfrm>
            <a:off x="104024" y="5910815"/>
            <a:ext cx="16193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solidFill>
                  <a:srgbClr val="000000"/>
                </a:solidFill>
              </a:rPr>
              <a:t>$ </a:t>
            </a:r>
            <a:r>
              <a:rPr lang="es-AR" sz="1400" dirty="0" smtClean="0">
                <a:solidFill>
                  <a:srgbClr val="000000"/>
                </a:solidFill>
              </a:rPr>
              <a:t>46.400 + $61.800</a:t>
            </a:r>
            <a:endParaRPr lang="es-AR" sz="1400" dirty="0">
              <a:solidFill>
                <a:prstClr val="black"/>
              </a:solidFill>
            </a:endParaRPr>
          </a:p>
        </p:txBody>
      </p:sp>
      <p:sp>
        <p:nvSpPr>
          <p:cNvPr id="62" name="Rectángulo 13">
            <a:extLst>
              <a:ext uri="{FF2B5EF4-FFF2-40B4-BE49-F238E27FC236}">
                <a16:creationId xmlns="" xmlns:a16="http://schemas.microsoft.com/office/drawing/2014/main" id="{0F053224-57B6-4424-99E8-036B94CE3A3B}"/>
              </a:ext>
            </a:extLst>
          </p:cNvPr>
          <p:cNvSpPr/>
          <p:nvPr/>
        </p:nvSpPr>
        <p:spPr>
          <a:xfrm>
            <a:off x="4120048" y="5953453"/>
            <a:ext cx="141737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solidFill>
                  <a:srgbClr val="000000"/>
                </a:solidFill>
              </a:rPr>
              <a:t>$ </a:t>
            </a:r>
            <a:r>
              <a:rPr lang="es-AR" sz="1400" dirty="0" smtClean="0">
                <a:solidFill>
                  <a:srgbClr val="000000"/>
                </a:solidFill>
              </a:rPr>
              <a:t>270.000 x 21%</a:t>
            </a:r>
            <a:endParaRPr lang="es-AR" sz="1400" dirty="0">
              <a:solidFill>
                <a:prstClr val="black"/>
              </a:solidFill>
            </a:endParaRPr>
          </a:p>
        </p:txBody>
      </p:sp>
      <p:sp>
        <p:nvSpPr>
          <p:cNvPr id="63" name="Rectángulo 13">
            <a:extLst>
              <a:ext uri="{FF2B5EF4-FFF2-40B4-BE49-F238E27FC236}">
                <a16:creationId xmlns="" xmlns:a16="http://schemas.microsoft.com/office/drawing/2014/main" id="{0F053224-57B6-4424-99E8-036B94CE3A3B}"/>
              </a:ext>
            </a:extLst>
          </p:cNvPr>
          <p:cNvSpPr/>
          <p:nvPr/>
        </p:nvSpPr>
        <p:spPr>
          <a:xfrm>
            <a:off x="1203971" y="2995185"/>
            <a:ext cx="18020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solidFill>
                  <a:srgbClr val="000000"/>
                </a:solidFill>
              </a:rPr>
              <a:t>$ </a:t>
            </a:r>
            <a:r>
              <a:rPr lang="es-AR" sz="1400" dirty="0" smtClean="0">
                <a:solidFill>
                  <a:srgbClr val="000000"/>
                </a:solidFill>
              </a:rPr>
              <a:t>146.000 + $238.000</a:t>
            </a:r>
            <a:endParaRPr lang="es-AR" sz="1400" dirty="0">
              <a:solidFill>
                <a:prstClr val="black"/>
              </a:solidFill>
            </a:endParaRPr>
          </a:p>
        </p:txBody>
      </p:sp>
      <p:sp>
        <p:nvSpPr>
          <p:cNvPr id="64" name="Rectángulo 11">
            <a:extLst>
              <a:ext uri="{FF2B5EF4-FFF2-40B4-BE49-F238E27FC236}">
                <a16:creationId xmlns="" xmlns:a16="http://schemas.microsoft.com/office/drawing/2014/main" id="{7C2A06E2-7006-405B-ABBD-F875D962070E}"/>
              </a:ext>
            </a:extLst>
          </p:cNvPr>
          <p:cNvSpPr/>
          <p:nvPr/>
        </p:nvSpPr>
        <p:spPr>
          <a:xfrm>
            <a:off x="4094422" y="6478725"/>
            <a:ext cx="196813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dirty="0" smtClean="0">
                <a:solidFill>
                  <a:srgbClr val="000000"/>
                </a:solidFill>
                <a:latin typeface="Calibri" panose="020F0502020204030204" pitchFamily="34" charset="0"/>
              </a:rPr>
              <a:t>Sigue </a:t>
            </a:r>
            <a:r>
              <a:rPr lang="es-AR" dirty="0" smtClean="0">
                <a:solidFill>
                  <a:srgbClr val="00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</a:t>
            </a:r>
            <a:endParaRPr lang="es-AR" dirty="0"/>
          </a:p>
        </p:txBody>
      </p:sp>
      <p:sp>
        <p:nvSpPr>
          <p:cNvPr id="65" name="52 Elipse">
            <a:extLst>
              <a:ext uri="{FF2B5EF4-FFF2-40B4-BE49-F238E27FC236}">
                <a16:creationId xmlns="" xmlns:a16="http://schemas.microsoft.com/office/drawing/2014/main" id="{00000000-0008-0000-0200-000035000000}"/>
              </a:ext>
            </a:extLst>
          </p:cNvPr>
          <p:cNvSpPr/>
          <p:nvPr/>
        </p:nvSpPr>
        <p:spPr>
          <a:xfrm>
            <a:off x="2947455" y="5998924"/>
            <a:ext cx="217404" cy="301488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AR" sz="1800"/>
          </a:p>
        </p:txBody>
      </p:sp>
    </p:spTree>
    <p:extLst>
      <p:ext uri="{BB962C8B-B14F-4D97-AF65-F5344CB8AC3E}">
        <p14:creationId xmlns:p14="http://schemas.microsoft.com/office/powerpoint/2010/main" val="15435488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6" grpId="0" animBg="1"/>
      <p:bldP spid="17" grpId="0" animBg="1"/>
      <p:bldP spid="23" grpId="0" animBg="1"/>
      <p:bldP spid="14" grpId="0"/>
      <p:bldP spid="15" grpId="0"/>
      <p:bldP spid="34" grpId="0"/>
      <p:bldP spid="41" grpId="0" animBg="1"/>
      <p:bldP spid="48" grpId="0" animBg="1"/>
      <p:bldP spid="50" grpId="0"/>
      <p:bldP spid="51" grpId="0"/>
      <p:bldP spid="60" grpId="0"/>
      <p:bldP spid="36" grpId="0" animBg="1"/>
      <p:bldP spid="6" grpId="0" build="p"/>
      <p:bldP spid="7" grpId="0" build="p"/>
      <p:bldP spid="38" grpId="0" build="p"/>
      <p:bldP spid="35" grpId="0"/>
      <p:bldP spid="37" grpId="0" animBg="1"/>
      <p:bldP spid="45" grpId="0" build="p"/>
      <p:bldP spid="46" grpId="0" build="p"/>
      <p:bldP spid="55" grpId="0"/>
      <p:bldP spid="62" grpId="0"/>
      <p:bldP spid="63" grpId="0"/>
      <p:bldP spid="64" grpId="0"/>
      <p:bldP spid="6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ángulo 13">
            <a:extLst>
              <a:ext uri="{FF2B5EF4-FFF2-40B4-BE49-F238E27FC236}">
                <a16:creationId xmlns="" xmlns:a16="http://schemas.microsoft.com/office/drawing/2014/main" id="{0F053224-57B6-4424-99E8-036B94CE3A3B}"/>
              </a:ext>
            </a:extLst>
          </p:cNvPr>
          <p:cNvSpPr/>
          <p:nvPr/>
        </p:nvSpPr>
        <p:spPr>
          <a:xfrm>
            <a:off x="45178" y="1556792"/>
            <a:ext cx="46602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u="sng" dirty="0" smtClean="0">
                <a:solidFill>
                  <a:srgbClr val="000000"/>
                </a:solidFill>
                <a:latin typeface="Calibri" panose="020F0502020204030204" pitchFamily="34" charset="0"/>
              </a:rPr>
              <a:t>30-6 / 31-7 / 31-8 / 30-9 / 31-10 / 30-11 / 31-12</a:t>
            </a:r>
            <a:endParaRPr lang="es-AR" sz="1400" u="sng" dirty="0"/>
          </a:p>
        </p:txBody>
      </p:sp>
      <p:graphicFrame>
        <p:nvGraphicFramePr>
          <p:cNvPr id="33" name="Tabla 52">
            <a:extLst>
              <a:ext uri="{FF2B5EF4-FFF2-40B4-BE49-F238E27FC236}">
                <a16:creationId xmlns="" xmlns:a16="http://schemas.microsoft.com/office/drawing/2014/main" id="{F090687D-0AE3-4ECE-997C-E3CF2668BB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7590654"/>
              </p:ext>
            </p:extLst>
          </p:nvPr>
        </p:nvGraphicFramePr>
        <p:xfrm>
          <a:off x="5749271" y="116632"/>
          <a:ext cx="2976215" cy="134539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95243">
                  <a:extLst>
                    <a:ext uri="{9D8B030D-6E8A-4147-A177-3AD203B41FA5}">
                      <a16:colId xmlns="" xmlns:a16="http://schemas.microsoft.com/office/drawing/2014/main" val="609204336"/>
                    </a:ext>
                  </a:extLst>
                </a:gridCol>
                <a:gridCol w="595243">
                  <a:extLst>
                    <a:ext uri="{9D8B030D-6E8A-4147-A177-3AD203B41FA5}">
                      <a16:colId xmlns="" xmlns:a16="http://schemas.microsoft.com/office/drawing/2014/main" val="2193348770"/>
                    </a:ext>
                  </a:extLst>
                </a:gridCol>
                <a:gridCol w="198977">
                  <a:extLst>
                    <a:ext uri="{9D8B030D-6E8A-4147-A177-3AD203B41FA5}">
                      <a16:colId xmlns="" xmlns:a16="http://schemas.microsoft.com/office/drawing/2014/main" val="4092774877"/>
                    </a:ext>
                  </a:extLst>
                </a:gridCol>
                <a:gridCol w="396266"/>
                <a:gridCol w="595243">
                  <a:extLst>
                    <a:ext uri="{9D8B030D-6E8A-4147-A177-3AD203B41FA5}">
                      <a16:colId xmlns="" xmlns:a16="http://schemas.microsoft.com/office/drawing/2014/main" val="3501325627"/>
                    </a:ext>
                  </a:extLst>
                </a:gridCol>
                <a:gridCol w="595243">
                  <a:extLst>
                    <a:ext uri="{9D8B030D-6E8A-4147-A177-3AD203B41FA5}">
                      <a16:colId xmlns="" xmlns:a16="http://schemas.microsoft.com/office/drawing/2014/main" val="1946522016"/>
                    </a:ext>
                  </a:extLst>
                </a:gridCol>
              </a:tblGrid>
              <a:tr h="302761">
                <a:tc gridSpan="4">
                  <a:txBody>
                    <a:bodyPr/>
                    <a:lstStyle/>
                    <a:p>
                      <a:pPr algn="ctr" fontAlgn="b"/>
                      <a:r>
                        <a:rPr lang="es-AR" sz="1100" u="none" strike="noStrike" dirty="0">
                          <a:effectLst/>
                        </a:rPr>
                        <a:t>Cuentas</a:t>
                      </a:r>
                      <a:endParaRPr lang="es-A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u="none" strike="noStrike">
                          <a:effectLst/>
                        </a:rPr>
                        <a:t>DEBE</a:t>
                      </a:r>
                      <a:endParaRPr lang="es-AR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u="none" strike="noStrike">
                          <a:effectLst/>
                        </a:rPr>
                        <a:t>HABER</a:t>
                      </a:r>
                      <a:endParaRPr lang="es-AR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="" xmlns:a16="http://schemas.microsoft.com/office/drawing/2014/main" val="2942187959"/>
                  </a:ext>
                </a:extLst>
              </a:tr>
              <a:tr h="217700">
                <a:tc gridSpan="2">
                  <a:txBody>
                    <a:bodyPr/>
                    <a:lstStyle/>
                    <a:p>
                      <a:pPr algn="l" fontAlgn="b"/>
                      <a:r>
                        <a:rPr lang="es-AR" sz="1100" u="none" strike="noStrike" dirty="0" err="1" smtClean="0">
                          <a:effectLst/>
                        </a:rPr>
                        <a:t>CxC</a:t>
                      </a:r>
                      <a:r>
                        <a:rPr lang="es-AR" sz="1100" u="none" strike="noStrike" dirty="0" smtClean="0">
                          <a:effectLst/>
                        </a:rPr>
                        <a:t>(A</a:t>
                      </a:r>
                      <a:r>
                        <a:rPr lang="es-AR" sz="1100" u="none" strike="noStrike" dirty="0">
                          <a:effectLst/>
                        </a:rPr>
                        <a:t>)</a:t>
                      </a:r>
                      <a:endParaRPr lang="es-A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s-AR" sz="1100" u="none" strike="noStrike" dirty="0">
                          <a:effectLst/>
                        </a:rPr>
                        <a:t> </a:t>
                      </a:r>
                      <a:endParaRPr lang="es-A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AR" sz="1100" u="none" strike="noStrike" dirty="0">
                          <a:effectLst/>
                        </a:rPr>
                        <a:t>$ </a:t>
                      </a:r>
                      <a:r>
                        <a:rPr lang="es-AR" sz="1100" u="none" strike="noStrike" dirty="0" smtClean="0">
                          <a:effectLst/>
                        </a:rPr>
                        <a:t>326.700</a:t>
                      </a:r>
                      <a:endParaRPr lang="es-A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AR" sz="1100" u="none" strike="noStrike" dirty="0">
                          <a:effectLst/>
                        </a:rPr>
                        <a:t> </a:t>
                      </a:r>
                      <a:endParaRPr lang="es-A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="" xmlns:a16="http://schemas.microsoft.com/office/drawing/2014/main" val="470263938"/>
                  </a:ext>
                </a:extLst>
              </a:tr>
              <a:tr h="202971">
                <a:tc gridSpan="2">
                  <a:txBody>
                    <a:bodyPr/>
                    <a:lstStyle/>
                    <a:p>
                      <a:pPr marL="0" marR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100" b="0" i="0" u="none" strike="noStrike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Amort.Acum</a:t>
                      </a:r>
                      <a:r>
                        <a:rPr lang="es-AR" sz="1100" b="0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.(P)</a:t>
                      </a:r>
                      <a:endParaRPr lang="es-AR" sz="1100" b="1" i="0" u="none" strike="noStrike" dirty="0" smtClean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fontAlgn="b"/>
                      <a:endParaRPr lang="es-A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A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$ 106.400</a:t>
                      </a:r>
                      <a:endParaRPr lang="es-A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s-A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="" xmlns:a16="http://schemas.microsoft.com/office/drawing/2014/main" val="2959398699"/>
                  </a:ext>
                </a:extLst>
              </a:tr>
              <a:tr h="202971">
                <a:tc gridSpan="2">
                  <a:txBody>
                    <a:bodyPr/>
                    <a:lstStyle/>
                    <a:p>
                      <a:pPr marL="0" marR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100" u="none" strike="noStrike" baseline="0" dirty="0" smtClean="0">
                          <a:effectLst/>
                        </a:rPr>
                        <a:t>Ut. X Vta. BU </a:t>
                      </a:r>
                      <a:r>
                        <a:rPr lang="es-AR" sz="1100" u="none" strike="noStrike" dirty="0" smtClean="0">
                          <a:effectLst/>
                        </a:rPr>
                        <a:t>(R-)</a:t>
                      </a:r>
                      <a:endParaRPr lang="es-AR" sz="1100" b="1" i="0" u="none" strike="noStrike" dirty="0" smtClean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l" fontAlgn="b"/>
                      <a:endParaRPr lang="es-A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A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$7.600</a:t>
                      </a:r>
                      <a:endParaRPr lang="es-A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s-A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</a:tr>
              <a:tr h="202971">
                <a:tc>
                  <a:txBody>
                    <a:bodyPr/>
                    <a:lstStyle/>
                    <a:p>
                      <a:pPr algn="l" fontAlgn="b"/>
                      <a:r>
                        <a:rPr lang="es-AR" sz="1100" u="none" strike="noStrike" dirty="0">
                          <a:effectLst/>
                        </a:rPr>
                        <a:t> </a:t>
                      </a:r>
                      <a:endParaRPr lang="es-A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 gridSpan="3">
                  <a:txBody>
                    <a:bodyPr/>
                    <a:lstStyle/>
                    <a:p>
                      <a:pPr algn="l" fontAlgn="b"/>
                      <a:r>
                        <a:rPr lang="es-AR" sz="1100" u="none" strike="noStrike" dirty="0">
                          <a:effectLst/>
                        </a:rPr>
                        <a:t>a </a:t>
                      </a:r>
                      <a:r>
                        <a:rPr lang="es-AR" sz="1100" u="none" strike="noStrike" dirty="0" smtClean="0">
                          <a:effectLst/>
                        </a:rPr>
                        <a:t>BU(A)</a:t>
                      </a:r>
                      <a:endParaRPr lang="es-A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AR" sz="1100" u="none" strike="noStrike" dirty="0">
                          <a:effectLst/>
                        </a:rPr>
                        <a:t> </a:t>
                      </a:r>
                      <a:endParaRPr lang="es-A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AR" sz="1100" u="none" strike="noStrike" dirty="0">
                          <a:effectLst/>
                        </a:rPr>
                        <a:t>$ </a:t>
                      </a:r>
                      <a:r>
                        <a:rPr lang="es-AR" sz="1100" u="none" strike="noStrike" dirty="0" smtClean="0">
                          <a:effectLst/>
                        </a:rPr>
                        <a:t>384.000</a:t>
                      </a:r>
                      <a:endParaRPr lang="es-A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</a:tr>
              <a:tr h="216024">
                <a:tc>
                  <a:txBody>
                    <a:bodyPr/>
                    <a:lstStyle/>
                    <a:p>
                      <a:pPr algn="l" fontAlgn="b"/>
                      <a:r>
                        <a:rPr lang="es-AR" sz="1100" u="none" strike="noStrike" dirty="0">
                          <a:effectLst/>
                        </a:rPr>
                        <a:t> </a:t>
                      </a:r>
                      <a:endParaRPr lang="es-A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s-AR" sz="1100" u="none" strike="noStrike" dirty="0">
                          <a:effectLst/>
                        </a:rPr>
                        <a:t>   IVA DF(P)</a:t>
                      </a:r>
                      <a:endParaRPr lang="es-A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 hMerge="1">
                  <a:txBody>
                    <a:bodyPr/>
                    <a:lstStyle/>
                    <a:p>
                      <a:pPr algn="l" fontAlgn="b"/>
                      <a:endParaRPr lang="es-AR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AR" sz="1100" u="none" strike="noStrike" dirty="0">
                          <a:effectLst/>
                        </a:rPr>
                        <a:t> </a:t>
                      </a:r>
                      <a:endParaRPr lang="es-A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AR" sz="1100" u="none" strike="noStrike" dirty="0">
                          <a:effectLst/>
                        </a:rPr>
                        <a:t> </a:t>
                      </a:r>
                      <a:endParaRPr lang="es-A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AR" sz="1100" u="none" strike="noStrike" dirty="0">
                          <a:effectLst/>
                        </a:rPr>
                        <a:t>$ </a:t>
                      </a:r>
                      <a:r>
                        <a:rPr lang="es-AR" sz="1100" u="none" strike="noStrike" dirty="0" smtClean="0">
                          <a:effectLst/>
                        </a:rPr>
                        <a:t>56.700</a:t>
                      </a:r>
                      <a:endParaRPr lang="es-A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="" xmlns:a16="http://schemas.microsoft.com/office/drawing/2014/main" val="1866453939"/>
                  </a:ext>
                </a:extLst>
              </a:tr>
            </a:tbl>
          </a:graphicData>
        </a:graphic>
      </p:graphicFrame>
      <p:sp>
        <p:nvSpPr>
          <p:cNvPr id="35" name="Rectángulo 11">
            <a:extLst>
              <a:ext uri="{FF2B5EF4-FFF2-40B4-BE49-F238E27FC236}">
                <a16:creationId xmlns="" xmlns:a16="http://schemas.microsoft.com/office/drawing/2014/main" id="{7C2A06E2-7006-405B-ABBD-F875D962070E}"/>
              </a:ext>
            </a:extLst>
          </p:cNvPr>
          <p:cNvSpPr/>
          <p:nvPr/>
        </p:nvSpPr>
        <p:spPr>
          <a:xfrm>
            <a:off x="1878019" y="404664"/>
            <a:ext cx="311982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dirty="0" smtClean="0">
                <a:solidFill>
                  <a:srgbClr val="000000"/>
                </a:solidFill>
                <a:latin typeface="Calibri" panose="020F0502020204030204" pitchFamily="34" charset="0"/>
              </a:rPr>
              <a:t>Viene de Pagina Anterior </a:t>
            </a:r>
            <a:r>
              <a:rPr lang="es-AR" dirty="0" smtClean="0">
                <a:solidFill>
                  <a:srgbClr val="000000"/>
                </a:solidFill>
                <a:latin typeface="Calibri" panose="020F0502020204030204" pitchFamily="34" charset="0"/>
                <a:sym typeface="Wingdings" panose="05000000000000000000" pitchFamily="2" charset="2"/>
              </a:rPr>
              <a:t></a:t>
            </a:r>
            <a:endParaRPr lang="es-AR" dirty="0"/>
          </a:p>
        </p:txBody>
      </p:sp>
      <p:cxnSp>
        <p:nvCxnSpPr>
          <p:cNvPr id="42" name="53 Conector recto de flecha">
            <a:extLst>
              <a:ext uri="{FF2B5EF4-FFF2-40B4-BE49-F238E27FC236}">
                <a16:creationId xmlns="" xmlns:a16="http://schemas.microsoft.com/office/drawing/2014/main" id="{00000000-0008-0000-0200-000036000000}"/>
              </a:ext>
            </a:extLst>
          </p:cNvPr>
          <p:cNvCxnSpPr>
            <a:stCxn id="53" idx="6"/>
          </p:cNvCxnSpPr>
          <p:nvPr/>
        </p:nvCxnSpPr>
        <p:spPr>
          <a:xfrm>
            <a:off x="1484140" y="2759344"/>
            <a:ext cx="2574502" cy="8271"/>
          </a:xfrm>
          <a:prstGeom prst="straightConnector1">
            <a:avLst/>
          </a:prstGeom>
          <a:ln w="63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ángulo 13">
            <a:extLst>
              <a:ext uri="{FF2B5EF4-FFF2-40B4-BE49-F238E27FC236}">
                <a16:creationId xmlns="" xmlns:a16="http://schemas.microsoft.com/office/drawing/2014/main" id="{0F053224-57B6-4424-99E8-036B94CE3A3B}"/>
              </a:ext>
            </a:extLst>
          </p:cNvPr>
          <p:cNvSpPr/>
          <p:nvPr/>
        </p:nvSpPr>
        <p:spPr>
          <a:xfrm>
            <a:off x="4328633" y="2605554"/>
            <a:ext cx="1042754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AR" sz="1500" dirty="0" smtClean="0">
                <a:solidFill>
                  <a:srgbClr val="000000"/>
                </a:solidFill>
                <a:latin typeface="Calibri" panose="020F0502020204030204" pitchFamily="34" charset="0"/>
              </a:rPr>
              <a:t>Seguros</a:t>
            </a:r>
            <a:endParaRPr lang="es-AR" sz="1500" dirty="0"/>
          </a:p>
        </p:txBody>
      </p:sp>
      <p:sp>
        <p:nvSpPr>
          <p:cNvPr id="44" name="Rectángulo 13">
            <a:extLst>
              <a:ext uri="{FF2B5EF4-FFF2-40B4-BE49-F238E27FC236}">
                <a16:creationId xmlns="" xmlns:a16="http://schemas.microsoft.com/office/drawing/2014/main" id="{0F053224-57B6-4424-99E8-036B94CE3A3B}"/>
              </a:ext>
            </a:extLst>
          </p:cNvPr>
          <p:cNvSpPr/>
          <p:nvPr/>
        </p:nvSpPr>
        <p:spPr>
          <a:xfrm>
            <a:off x="2204249" y="2420888"/>
            <a:ext cx="88036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AR" dirty="0">
                <a:solidFill>
                  <a:srgbClr val="000000"/>
                </a:solidFill>
                <a:latin typeface="Calibri" panose="020F0502020204030204" pitchFamily="34" charset="0"/>
              </a:rPr>
              <a:t>$ 7</a:t>
            </a:r>
            <a:r>
              <a:rPr lang="es-AR" dirty="0" smtClean="0">
                <a:solidFill>
                  <a:srgbClr val="000000"/>
                </a:solidFill>
                <a:latin typeface="Calibri" panose="020F0502020204030204" pitchFamily="34" charset="0"/>
              </a:rPr>
              <a:t>.000</a:t>
            </a:r>
            <a:endParaRPr lang="es-AR" dirty="0"/>
          </a:p>
        </p:txBody>
      </p:sp>
      <p:graphicFrame>
        <p:nvGraphicFramePr>
          <p:cNvPr id="45" name="Tabla 52">
            <a:extLst>
              <a:ext uri="{FF2B5EF4-FFF2-40B4-BE49-F238E27FC236}">
                <a16:creationId xmlns="" xmlns:a16="http://schemas.microsoft.com/office/drawing/2014/main" id="{F090687D-0AE3-4ECE-997C-E3CF2668BB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6768954"/>
              </p:ext>
            </p:extLst>
          </p:nvPr>
        </p:nvGraphicFramePr>
        <p:xfrm>
          <a:off x="5840801" y="2215608"/>
          <a:ext cx="2976215" cy="7234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95243">
                  <a:extLst>
                    <a:ext uri="{9D8B030D-6E8A-4147-A177-3AD203B41FA5}">
                      <a16:colId xmlns="" xmlns:a16="http://schemas.microsoft.com/office/drawing/2014/main" val="609204336"/>
                    </a:ext>
                  </a:extLst>
                </a:gridCol>
                <a:gridCol w="595243">
                  <a:extLst>
                    <a:ext uri="{9D8B030D-6E8A-4147-A177-3AD203B41FA5}">
                      <a16:colId xmlns="" xmlns:a16="http://schemas.microsoft.com/office/drawing/2014/main" val="2193348770"/>
                    </a:ext>
                  </a:extLst>
                </a:gridCol>
                <a:gridCol w="595243">
                  <a:extLst>
                    <a:ext uri="{9D8B030D-6E8A-4147-A177-3AD203B41FA5}">
                      <a16:colId xmlns="" xmlns:a16="http://schemas.microsoft.com/office/drawing/2014/main" val="4092774877"/>
                    </a:ext>
                  </a:extLst>
                </a:gridCol>
                <a:gridCol w="595243">
                  <a:extLst>
                    <a:ext uri="{9D8B030D-6E8A-4147-A177-3AD203B41FA5}">
                      <a16:colId xmlns="" xmlns:a16="http://schemas.microsoft.com/office/drawing/2014/main" val="3501325627"/>
                    </a:ext>
                  </a:extLst>
                </a:gridCol>
                <a:gridCol w="595243">
                  <a:extLst>
                    <a:ext uri="{9D8B030D-6E8A-4147-A177-3AD203B41FA5}">
                      <a16:colId xmlns="" xmlns:a16="http://schemas.microsoft.com/office/drawing/2014/main" val="1946522016"/>
                    </a:ext>
                  </a:extLst>
                </a:gridCol>
              </a:tblGrid>
              <a:tr h="302761"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s-AR" sz="1100" u="none" strike="noStrike" dirty="0">
                          <a:effectLst/>
                        </a:rPr>
                        <a:t>Cuentas</a:t>
                      </a:r>
                      <a:endParaRPr lang="es-A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u="none" strike="noStrike">
                          <a:effectLst/>
                        </a:rPr>
                        <a:t>DEBE</a:t>
                      </a:r>
                      <a:endParaRPr lang="es-AR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AR" sz="1100" u="none" strike="noStrike">
                          <a:effectLst/>
                        </a:rPr>
                        <a:t>HABER</a:t>
                      </a:r>
                      <a:endParaRPr lang="es-AR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="" xmlns:a16="http://schemas.microsoft.com/office/drawing/2014/main" val="2942187959"/>
                  </a:ext>
                </a:extLst>
              </a:tr>
              <a:tr h="217700">
                <a:tc gridSpan="2">
                  <a:txBody>
                    <a:bodyPr/>
                    <a:lstStyle/>
                    <a:p>
                      <a:pPr marL="0" marR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AR" sz="1100" b="0" i="0" u="none" strike="noStrike" baseline="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Seguros (R-)</a:t>
                      </a:r>
                      <a:endParaRPr lang="es-AR" sz="1100" b="1" i="0" u="none" strike="noStrike" dirty="0" smtClean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s-A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A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$7.000</a:t>
                      </a:r>
                      <a:endParaRPr lang="es-A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s-A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extLst>
                  <a:ext uri="{0D108BD9-81ED-4DB2-BD59-A6C34878D82A}">
                    <a16:rowId xmlns="" xmlns:a16="http://schemas.microsoft.com/office/drawing/2014/main" val="470263938"/>
                  </a:ext>
                </a:extLst>
              </a:tr>
              <a:tr h="202971">
                <a:tc>
                  <a:txBody>
                    <a:bodyPr/>
                    <a:lstStyle/>
                    <a:p>
                      <a:pPr algn="l" fontAlgn="b"/>
                      <a:r>
                        <a:rPr lang="es-AR" sz="1100" u="none" strike="noStrike" dirty="0">
                          <a:effectLst/>
                        </a:rPr>
                        <a:t> </a:t>
                      </a:r>
                      <a:endParaRPr lang="es-A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 gridSpan="2">
                  <a:txBody>
                    <a:bodyPr/>
                    <a:lstStyle/>
                    <a:p>
                      <a:pPr algn="l" fontAlgn="b"/>
                      <a:r>
                        <a:rPr lang="es-AR" sz="1100" u="none" strike="noStrike" dirty="0">
                          <a:effectLst/>
                        </a:rPr>
                        <a:t>a </a:t>
                      </a:r>
                      <a:r>
                        <a:rPr lang="es-AR" sz="1100" u="none" strike="noStrike" dirty="0" err="1" smtClean="0">
                          <a:effectLst/>
                        </a:rPr>
                        <a:t>Seg</a:t>
                      </a:r>
                      <a:r>
                        <a:rPr lang="es-AR" sz="1100" u="none" strike="noStrike" dirty="0" smtClean="0">
                          <a:effectLst/>
                        </a:rPr>
                        <a:t>. A </a:t>
                      </a:r>
                      <a:r>
                        <a:rPr lang="es-AR" sz="1100" u="none" strike="noStrike" dirty="0" err="1" smtClean="0">
                          <a:effectLst/>
                        </a:rPr>
                        <a:t>Dev</a:t>
                      </a:r>
                      <a:r>
                        <a:rPr lang="es-AR" sz="1100" u="none" strike="noStrike" dirty="0" smtClean="0">
                          <a:effectLst/>
                        </a:rPr>
                        <a:t>. (A)</a:t>
                      </a:r>
                      <a:endParaRPr lang="es-AR" sz="11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 hMerge="1">
                  <a:txBody>
                    <a:bodyPr/>
                    <a:lstStyle/>
                    <a:p>
                      <a:endParaRPr lang="es-A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AR" sz="1100" u="none" strike="noStrike" dirty="0">
                          <a:effectLst/>
                        </a:rPr>
                        <a:t> </a:t>
                      </a:r>
                      <a:endParaRPr lang="es-A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s-AR" sz="1100" u="none" strike="noStrike" dirty="0" smtClean="0">
                          <a:effectLst/>
                        </a:rPr>
                        <a:t>$ 7.000</a:t>
                      </a:r>
                      <a:endParaRPr lang="es-AR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b"/>
                </a:tc>
              </a:tr>
            </a:tbl>
          </a:graphicData>
        </a:graphic>
      </p:graphicFrame>
      <p:sp>
        <p:nvSpPr>
          <p:cNvPr id="53" name="51 Elipse">
            <a:extLst>
              <a:ext uri="{FF2B5EF4-FFF2-40B4-BE49-F238E27FC236}">
                <a16:creationId xmlns="" xmlns:a16="http://schemas.microsoft.com/office/drawing/2014/main" id="{00000000-0008-0000-0200-000034000000}"/>
              </a:ext>
            </a:extLst>
          </p:cNvPr>
          <p:cNvSpPr/>
          <p:nvPr/>
        </p:nvSpPr>
        <p:spPr>
          <a:xfrm>
            <a:off x="77558" y="2049082"/>
            <a:ext cx="1406582" cy="1420524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AR" sz="1600" b="1" dirty="0" smtClean="0">
                <a:solidFill>
                  <a:sysClr val="windowText" lastClr="000000"/>
                </a:solidFill>
              </a:rPr>
              <a:t>Seguros a </a:t>
            </a:r>
          </a:p>
          <a:p>
            <a:pPr algn="ctr"/>
            <a:r>
              <a:rPr lang="es-AR" sz="1600" b="1" dirty="0" smtClean="0">
                <a:solidFill>
                  <a:sysClr val="windowText" lastClr="000000"/>
                </a:solidFill>
              </a:rPr>
              <a:t>Devengar</a:t>
            </a:r>
            <a:endParaRPr lang="es-AR" sz="1600" b="1" dirty="0">
              <a:solidFill>
                <a:sysClr val="windowText" lastClr="000000"/>
              </a:solidFill>
            </a:endParaRPr>
          </a:p>
        </p:txBody>
      </p:sp>
      <p:sp>
        <p:nvSpPr>
          <p:cNvPr id="58" name="52 Elipse">
            <a:extLst>
              <a:ext uri="{FF2B5EF4-FFF2-40B4-BE49-F238E27FC236}">
                <a16:creationId xmlns="" xmlns:a16="http://schemas.microsoft.com/office/drawing/2014/main" id="{00000000-0008-0000-0200-000035000000}"/>
              </a:ext>
            </a:extLst>
          </p:cNvPr>
          <p:cNvSpPr/>
          <p:nvPr/>
        </p:nvSpPr>
        <p:spPr>
          <a:xfrm>
            <a:off x="4058642" y="2639476"/>
            <a:ext cx="217404" cy="301488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AR" sz="1800"/>
          </a:p>
        </p:txBody>
      </p:sp>
    </p:spTree>
    <p:extLst>
      <p:ext uri="{BB962C8B-B14F-4D97-AF65-F5344CB8AC3E}">
        <p14:creationId xmlns:p14="http://schemas.microsoft.com/office/powerpoint/2010/main" val="3708391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/>
      <p:bldP spid="35" grpId="0"/>
      <p:bldP spid="43" grpId="0"/>
      <p:bldP spid="44" grpId="0"/>
      <p:bldP spid="53" grpId="0" animBg="1"/>
      <p:bldP spid="58" grpId="0" animBg="1"/>
    </p:bld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12804</TotalTime>
  <Words>1597</Words>
  <Application>Microsoft Office PowerPoint</Application>
  <PresentationFormat>Presentación en pantalla (4:3)</PresentationFormat>
  <Paragraphs>442</Paragraphs>
  <Slides>10</Slides>
  <Notes>9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1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Leandro Solarz</dc:creator>
  <cp:lastModifiedBy>Leandro Solarz</cp:lastModifiedBy>
  <cp:revision>88</cp:revision>
  <cp:lastPrinted>2021-05-17T16:29:03Z</cp:lastPrinted>
  <dcterms:created xsi:type="dcterms:W3CDTF">2020-04-21T20:33:29Z</dcterms:created>
  <dcterms:modified xsi:type="dcterms:W3CDTF">2023-03-14T15:45:16Z</dcterms:modified>
</cp:coreProperties>
</file>