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5" r:id="rId2"/>
    <p:sldId id="269" r:id="rId3"/>
    <p:sldId id="267" r:id="rId4"/>
    <p:sldId id="268" r:id="rId5"/>
    <p:sldId id="259" r:id="rId6"/>
    <p:sldId id="263" r:id="rId7"/>
    <p:sldId id="260" r:id="rId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2" autoAdjust="0"/>
  </p:normalViewPr>
  <p:slideViewPr>
    <p:cSldViewPr>
      <p:cViewPr>
        <p:scale>
          <a:sx n="70" d="100"/>
          <a:sy n="70" d="100"/>
        </p:scale>
        <p:origin x="-13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96EA2-158A-4026-8DF1-5CB991FD7AD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499CF-01CF-400A-BD7B-7569200977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8002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59593-A6AD-4A48-96BB-2CDEA4ACF7B6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D6FA4-71C8-4E3E-8DE0-8C9D375D2A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00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3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4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741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09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945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240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704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285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987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34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180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326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5980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041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755576" y="260648"/>
            <a:ext cx="7632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u="sng" dirty="0" smtClean="0"/>
              <a:t>TRANSACCIONES CON BIENES DE USO</a:t>
            </a:r>
            <a:endParaRPr lang="es-AR" sz="2800" b="1" u="sng" dirty="0"/>
          </a:p>
        </p:txBody>
      </p:sp>
      <p:sp>
        <p:nvSpPr>
          <p:cNvPr id="8" name="7 CuadroTexto"/>
          <p:cNvSpPr txBox="1"/>
          <p:nvPr/>
        </p:nvSpPr>
        <p:spPr>
          <a:xfrm>
            <a:off x="450994" y="783868"/>
            <a:ext cx="7361366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s-AR" sz="2400" b="1" dirty="0" smtClean="0"/>
              <a:t>Valor de Origen (VO) 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s-AR" sz="2400" b="1" dirty="0" smtClean="0"/>
              <a:t>Vida Útil (VU)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s-AR" sz="2400" b="1" dirty="0" smtClean="0"/>
              <a:t>Valor Residual (VR)</a:t>
            </a: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s-AR" sz="2400" b="1" dirty="0" smtClean="0"/>
              <a:t>Amortización  </a:t>
            </a: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 smtClean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 smtClean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 smtClean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s-AR" sz="2400" b="1" dirty="0" smtClean="0"/>
              <a:t>Amortización Acumulada (Amortización x Antigüedad)</a:t>
            </a:r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 smtClean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s-AR" sz="2400" b="1" dirty="0"/>
          </a:p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s-AR" sz="2400" b="1" dirty="0" smtClean="0"/>
              <a:t>Valor de Libros (VL) : VL = VO - AA</a:t>
            </a:r>
            <a:endParaRPr lang="es-AR" sz="2400" b="1" dirty="0"/>
          </a:p>
          <a:p>
            <a:pPr marL="285750" indent="-2857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endParaRPr lang="es-AR" sz="2400" b="1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0" name="9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053769"/>
              </p:ext>
            </p:extLst>
          </p:nvPr>
        </p:nvGraphicFramePr>
        <p:xfrm>
          <a:off x="4755570" y="908720"/>
          <a:ext cx="3632854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r:id="rId3" imgW="1892300" imgH="673100" progId="Equation.3">
                  <p:embed/>
                </p:oleObj>
              </mc:Choice>
              <mc:Fallback>
                <p:oleObj r:id="rId3" imgW="1892300" imgH="673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5570" y="908720"/>
                        <a:ext cx="3632854" cy="12961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10 Imagen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9440" y="2330137"/>
            <a:ext cx="6624736" cy="1431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12 Conector recto"/>
          <p:cNvCxnSpPr/>
          <p:nvPr/>
        </p:nvCxnSpPr>
        <p:spPr>
          <a:xfrm>
            <a:off x="513347" y="2331425"/>
            <a:ext cx="7283116" cy="159889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V="1">
            <a:off x="497305" y="2326105"/>
            <a:ext cx="7764379" cy="1604211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17 Imagen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58034" y="4509120"/>
            <a:ext cx="7042920" cy="157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57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251520" y="260648"/>
            <a:ext cx="8280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 smtClean="0"/>
              <a:t>Ejemplo</a:t>
            </a:r>
            <a:r>
              <a:rPr lang="es-AR" i="1" dirty="0" smtClean="0"/>
              <a:t>: </a:t>
            </a:r>
            <a:r>
              <a:rPr lang="es-AR" i="1" dirty="0"/>
              <a:t>Se </a:t>
            </a:r>
            <a:r>
              <a:rPr lang="es-AR" i="1" dirty="0" smtClean="0"/>
              <a:t>compra </a:t>
            </a:r>
            <a:r>
              <a:rPr lang="es-AR" i="1" dirty="0"/>
              <a:t>una grúa en $550000 + IVA, Vida Útil = 10 años, VR = $100000.</a:t>
            </a:r>
            <a:endParaRPr lang="es-AR" dirty="0"/>
          </a:p>
          <a:p>
            <a:r>
              <a:rPr lang="es-AR" i="1" dirty="0" smtClean="0"/>
              <a:t>a pagar </a:t>
            </a:r>
            <a:r>
              <a:rPr lang="es-AR" i="1" dirty="0"/>
              <a:t>en 60 días. </a:t>
            </a:r>
            <a:endParaRPr lang="es-AR" dirty="0"/>
          </a:p>
        </p:txBody>
      </p:sp>
      <p:sp>
        <p:nvSpPr>
          <p:cNvPr id="5" name="22 Elipse">
            <a:extLst>
              <a:ext uri="{FF2B5EF4-FFF2-40B4-BE49-F238E27FC236}">
                <a16:creationId xmlns:a16="http://schemas.microsoft.com/office/drawing/2014/main" xmlns="" id="{00000000-0008-0000-0200-000017000000}"/>
              </a:ext>
            </a:extLst>
          </p:cNvPr>
          <p:cNvSpPr/>
          <p:nvPr/>
        </p:nvSpPr>
        <p:spPr>
          <a:xfrm>
            <a:off x="683568" y="2395505"/>
            <a:ext cx="1238004" cy="126386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IVA CF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6" name="25 Conector recto de flecha">
            <a:extLst>
              <a:ext uri="{FF2B5EF4-FFF2-40B4-BE49-F238E27FC236}">
                <a16:creationId xmlns:a16="http://schemas.microsoft.com/office/drawing/2014/main" xmlns="" id="{00000000-0008-0000-0200-00001A000000}"/>
              </a:ext>
            </a:extLst>
          </p:cNvPr>
          <p:cNvCxnSpPr>
            <a:stCxn id="8" idx="1"/>
            <a:endCxn id="13" idx="7"/>
          </p:cNvCxnSpPr>
          <p:nvPr/>
        </p:nvCxnSpPr>
        <p:spPr>
          <a:xfrm flipH="1">
            <a:off x="4301532" y="1517918"/>
            <a:ext cx="1542749" cy="72611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13" idx="6"/>
            <a:endCxn id="5" idx="6"/>
          </p:cNvCxnSpPr>
          <p:nvPr/>
        </p:nvCxnSpPr>
        <p:spPr>
          <a:xfrm flipH="1">
            <a:off x="1921572" y="2275704"/>
            <a:ext cx="2391443" cy="75173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5844281" y="583813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CxP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2945570" y="279093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115.500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10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2411760" y="142332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550.000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1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683568" y="1112140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BU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11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13" idx="7"/>
            <a:endCxn id="11" idx="6"/>
          </p:cNvCxnSpPr>
          <p:nvPr/>
        </p:nvCxnSpPr>
        <p:spPr>
          <a:xfrm flipH="1" flipV="1">
            <a:off x="1848854" y="1710621"/>
            <a:ext cx="2452678" cy="53340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4234602" y="2230911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sp>
        <p:nvSpPr>
          <p:cNvPr id="20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4513136" y="1260577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665.500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25" name="24 Rectángulo"/>
          <p:cNvSpPr/>
          <p:nvPr/>
        </p:nvSpPr>
        <p:spPr>
          <a:xfrm>
            <a:off x="133349" y="3789040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 smtClean="0"/>
              <a:t>A fin de mes registro la amortización:</a:t>
            </a:r>
            <a:endParaRPr lang="es-AR" dirty="0"/>
          </a:p>
        </p:txBody>
      </p:sp>
      <p:sp>
        <p:nvSpPr>
          <p:cNvPr id="2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3838180" y="4535478"/>
            <a:ext cx="1309884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Amortizacion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 Acumulada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26" idx="1"/>
            <a:endCxn id="29" idx="6"/>
          </p:cNvCxnSpPr>
          <p:nvPr/>
        </p:nvCxnSpPr>
        <p:spPr>
          <a:xfrm flipH="1">
            <a:off x="1716906" y="5469583"/>
            <a:ext cx="212127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278848" y="5038192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$3.750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29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1482841" y="5318839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graphicFrame>
        <p:nvGraphicFramePr>
          <p:cNvPr id="32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056009"/>
              </p:ext>
            </p:extLst>
          </p:nvPr>
        </p:nvGraphicFramePr>
        <p:xfrm>
          <a:off x="6012160" y="2620317"/>
          <a:ext cx="2976215" cy="926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249674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43967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 dirty="0">
                          <a:effectLst/>
                        </a:rPr>
                        <a:t>Cuentas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>
                          <a:effectLst/>
                        </a:rPr>
                        <a:t>DEBE</a:t>
                      </a:r>
                      <a:endParaRPr lang="es-A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>
                          <a:effectLst/>
                        </a:rPr>
                        <a:t>HABER</a:t>
                      </a:r>
                      <a:endParaRPr lang="es-A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BU (A)</a:t>
                      </a:r>
                      <a:endParaRPr lang="es-AR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  <a:r>
                        <a:rPr lang="es-A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550.000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IVA CF </a:t>
                      </a:r>
                      <a:r>
                        <a:rPr lang="es-AR" sz="12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(A)</a:t>
                      </a:r>
                      <a:endParaRPr lang="es-AR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$115.500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200" u="none" strike="noStrike" dirty="0">
                          <a:effectLst/>
                        </a:rPr>
                        <a:t> 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200" u="none" strike="noStrike" dirty="0">
                          <a:effectLst/>
                        </a:rPr>
                        <a:t>a </a:t>
                      </a:r>
                      <a:r>
                        <a:rPr lang="es-AR" sz="1200" u="none" strike="noStrike" dirty="0" err="1" smtClean="0">
                          <a:effectLst/>
                        </a:rPr>
                        <a:t>CxP</a:t>
                      </a:r>
                      <a:r>
                        <a:rPr lang="es-AR" sz="1200" u="none" strike="noStrike" dirty="0" smtClean="0">
                          <a:effectLst/>
                        </a:rPr>
                        <a:t> (P)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200" u="none" strike="noStrike" dirty="0">
                          <a:effectLst/>
                        </a:rPr>
                        <a:t> 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200" u="none" strike="noStrike" dirty="0">
                          <a:effectLst/>
                        </a:rPr>
                        <a:t>$ </a:t>
                      </a:r>
                      <a:r>
                        <a:rPr lang="es-AR" sz="1200" u="none" strike="noStrike" dirty="0" smtClean="0">
                          <a:effectLst/>
                        </a:rPr>
                        <a:t>665.500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33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33349" y="5130525"/>
            <a:ext cx="146652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Amortización del Ejercicio(R-)</a:t>
            </a:r>
            <a:endParaRPr lang="es-AR" sz="1500" dirty="0"/>
          </a:p>
        </p:txBody>
      </p:sp>
      <p:graphicFrame>
        <p:nvGraphicFramePr>
          <p:cNvPr id="34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39312"/>
              </p:ext>
            </p:extLst>
          </p:nvPr>
        </p:nvGraphicFramePr>
        <p:xfrm>
          <a:off x="5627543" y="5270772"/>
          <a:ext cx="3432840" cy="894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6568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686568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686568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686568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686568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7436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 dirty="0">
                          <a:effectLst/>
                        </a:rPr>
                        <a:t>Cuentas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>
                          <a:effectLst/>
                        </a:rPr>
                        <a:t>DEBE</a:t>
                      </a:r>
                      <a:endParaRPr lang="es-A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200" u="none" strike="noStrike">
                          <a:effectLst/>
                        </a:rPr>
                        <a:t>HABER</a:t>
                      </a:r>
                      <a:endParaRPr lang="es-A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69188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2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Amort</a:t>
                      </a:r>
                      <a:r>
                        <a:rPr lang="es-AR" sz="12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s-AR" sz="12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(R-)</a:t>
                      </a:r>
                      <a:endParaRPr lang="es-AR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$3.750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50976">
                <a:tc>
                  <a:txBody>
                    <a:bodyPr/>
                    <a:lstStyle/>
                    <a:p>
                      <a:pPr algn="l" fontAlgn="b"/>
                      <a:r>
                        <a:rPr lang="es-AR" sz="1200" u="none" strike="noStrike" dirty="0">
                          <a:effectLst/>
                        </a:rPr>
                        <a:t> 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200" u="none" strike="noStrike" dirty="0">
                          <a:effectLst/>
                        </a:rPr>
                        <a:t>a </a:t>
                      </a:r>
                      <a:r>
                        <a:rPr lang="es-AR" sz="1200" u="none" strike="noStrike" dirty="0" err="1" smtClean="0">
                          <a:effectLst/>
                        </a:rPr>
                        <a:t>Amort</a:t>
                      </a:r>
                      <a:r>
                        <a:rPr lang="es-AR" sz="1200" u="none" strike="noStrike" dirty="0" smtClean="0">
                          <a:effectLst/>
                        </a:rPr>
                        <a:t>.</a:t>
                      </a:r>
                      <a:r>
                        <a:rPr lang="es-AR" sz="1200" u="none" strike="noStrike" baseline="0" dirty="0" smtClean="0">
                          <a:effectLst/>
                        </a:rPr>
                        <a:t> </a:t>
                      </a:r>
                      <a:r>
                        <a:rPr lang="es-AR" sz="1200" u="none" strike="noStrike" baseline="0" dirty="0" err="1" smtClean="0">
                          <a:effectLst/>
                        </a:rPr>
                        <a:t>Acum</a:t>
                      </a:r>
                      <a:r>
                        <a:rPr lang="es-AR" sz="1200" u="none" strike="noStrike" baseline="0" dirty="0" smtClean="0">
                          <a:effectLst/>
                        </a:rPr>
                        <a:t>.</a:t>
                      </a:r>
                      <a:r>
                        <a:rPr lang="es-AR" sz="1200" u="none" strike="noStrike" dirty="0" smtClean="0">
                          <a:effectLst/>
                        </a:rPr>
                        <a:t>  (A)</a:t>
                      </a:r>
                      <a:endParaRPr lang="es-A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200" u="none" strike="noStrike" dirty="0">
                          <a:effectLst/>
                        </a:rPr>
                        <a:t> 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200" u="none" strike="noStrike" dirty="0" smtClean="0">
                          <a:effectLst/>
                        </a:rPr>
                        <a:t>$ 3.750</a:t>
                      </a:r>
                      <a:endParaRPr lang="es-A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36" name="35 Rectángulo"/>
          <p:cNvSpPr/>
          <p:nvPr/>
        </p:nvSpPr>
        <p:spPr>
          <a:xfrm>
            <a:off x="5292080" y="4038117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dirty="0" err="1"/>
              <a:t>Amort</a:t>
            </a:r>
            <a:r>
              <a:rPr lang="es-AR" dirty="0"/>
              <a:t>.  = VO-VR / VU</a:t>
            </a:r>
          </a:p>
          <a:p>
            <a:r>
              <a:rPr lang="es-AR" dirty="0"/>
              <a:t> </a:t>
            </a:r>
            <a:r>
              <a:rPr lang="es-AR" dirty="0" smtClean="0"/>
              <a:t>= ($550.000 – $100.000) </a:t>
            </a:r>
            <a:r>
              <a:rPr lang="es-AR" dirty="0"/>
              <a:t>/ </a:t>
            </a:r>
            <a:r>
              <a:rPr lang="es-AR" dirty="0" smtClean="0"/>
              <a:t>10 </a:t>
            </a:r>
            <a:r>
              <a:rPr lang="es-AR" dirty="0"/>
              <a:t>años</a:t>
            </a:r>
          </a:p>
          <a:p>
            <a:r>
              <a:rPr lang="es-AR" dirty="0"/>
              <a:t> </a:t>
            </a:r>
            <a:r>
              <a:rPr lang="es-AR" dirty="0" smtClean="0"/>
              <a:t>= $45.000 </a:t>
            </a:r>
            <a:r>
              <a:rPr lang="es-AR" dirty="0"/>
              <a:t>/ </a:t>
            </a:r>
            <a:r>
              <a:rPr lang="es-AR" dirty="0" smtClean="0"/>
              <a:t>año = $3.750 / mes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3672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  <p:bldP spid="9" grpId="0"/>
      <p:bldP spid="10" grpId="0"/>
      <p:bldP spid="11" grpId="0" animBg="1"/>
      <p:bldP spid="13" grpId="0" animBg="1"/>
      <p:bldP spid="20" grpId="0"/>
      <p:bldP spid="25" grpId="0"/>
      <p:bldP spid="26" grpId="0" animBg="1"/>
      <p:bldP spid="28" grpId="0"/>
      <p:bldP spid="29" grpId="0" animBg="1"/>
      <p:bldP spid="33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/>
              <a:t>Ejemplo 4.6.2</a:t>
            </a:r>
            <a:r>
              <a:rPr lang="es-AR" i="1" dirty="0"/>
              <a:t>: Se vende una grúa a $121000 (IVA incluido) a cobrar en 60 días. Hace 8 años se había comprado en $550000 + IVA, Vida Útil = 10 años, VR = $100000.</a:t>
            </a:r>
            <a:endParaRPr lang="es-AR" dirty="0"/>
          </a:p>
        </p:txBody>
      </p:sp>
      <p:sp>
        <p:nvSpPr>
          <p:cNvPr id="16" name="22 Elipse">
            <a:extLst>
              <a:ext uri="{FF2B5EF4-FFF2-40B4-BE49-F238E27FC236}">
                <a16:creationId xmlns:a16="http://schemas.microsoft.com/office/drawing/2014/main" xmlns="" id="{00000000-0008-0000-0200-000017000000}"/>
              </a:ext>
            </a:extLst>
          </p:cNvPr>
          <p:cNvSpPr/>
          <p:nvPr/>
        </p:nvSpPr>
        <p:spPr>
          <a:xfrm>
            <a:off x="2655913" y="978558"/>
            <a:ext cx="1238004" cy="126386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>
                <a:solidFill>
                  <a:sysClr val="windowText" lastClr="000000"/>
                </a:solidFill>
              </a:rPr>
              <a:t>Cuentas por Cobrar</a:t>
            </a:r>
          </a:p>
        </p:txBody>
      </p:sp>
      <p:sp>
        <p:nvSpPr>
          <p:cNvPr id="1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3196502" y="3188994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19" name="25 Conector recto de flecha">
            <a:extLst>
              <a:ext uri="{FF2B5EF4-FFF2-40B4-BE49-F238E27FC236}">
                <a16:creationId xmlns:a16="http://schemas.microsoft.com/office/drawing/2014/main" xmlns="" id="{00000000-0008-0000-0200-00001A000000}"/>
              </a:ext>
            </a:extLst>
          </p:cNvPr>
          <p:cNvCxnSpPr>
            <a:stCxn id="23" idx="1"/>
            <a:endCxn id="17" idx="5"/>
          </p:cNvCxnSpPr>
          <p:nvPr/>
        </p:nvCxnSpPr>
        <p:spPr>
          <a:xfrm flipH="1" flipV="1">
            <a:off x="3263432" y="3265460"/>
            <a:ext cx="1513869" cy="11268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17" idx="6"/>
            <a:endCxn id="16" idx="4"/>
          </p:cNvCxnSpPr>
          <p:nvPr/>
        </p:nvCxnSpPr>
        <p:spPr>
          <a:xfrm flipV="1">
            <a:off x="3274915" y="2242421"/>
            <a:ext cx="0" cy="99136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4777301" y="3458174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>
                <a:solidFill>
                  <a:sysClr val="windowText" lastClr="000000"/>
                </a:solidFill>
              </a:rPr>
              <a:t>IVA</a:t>
            </a:r>
          </a:p>
          <a:p>
            <a:pPr algn="ctr"/>
            <a:r>
              <a:rPr lang="es-AR" sz="1600" b="1">
                <a:solidFill>
                  <a:sysClr val="windowText" lastClr="000000"/>
                </a:solidFill>
              </a:rPr>
              <a:t>DF</a:t>
            </a:r>
          </a:p>
        </p:txBody>
      </p:sp>
      <p:cxnSp>
        <p:nvCxnSpPr>
          <p:cNvPr id="31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17" idx="2"/>
            <a:endCxn id="35" idx="6"/>
          </p:cNvCxnSpPr>
          <p:nvPr/>
        </p:nvCxnSpPr>
        <p:spPr>
          <a:xfrm flipH="1">
            <a:off x="1716906" y="3233787"/>
            <a:ext cx="1479596" cy="60042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429641" y="3237047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$90.000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3700633" y="3278579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21.000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369452" y="2553438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121.000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2654956" y="4864628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BU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3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17" idx="3"/>
            <a:endCxn id="36" idx="3"/>
          </p:cNvCxnSpPr>
          <p:nvPr/>
        </p:nvCxnSpPr>
        <p:spPr>
          <a:xfrm flipH="1">
            <a:off x="1578668" y="3265460"/>
            <a:ext cx="1629317" cy="187323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87539"/>
              </p:ext>
            </p:extLst>
          </p:nvPr>
        </p:nvGraphicFramePr>
        <p:xfrm>
          <a:off x="6078506" y="5063317"/>
          <a:ext cx="2976215" cy="1345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198977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396266"/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 err="1" smtClean="0">
                          <a:effectLst/>
                        </a:rPr>
                        <a:t>CxC</a:t>
                      </a:r>
                      <a:r>
                        <a:rPr lang="es-AR" sz="1100" u="none" strike="noStrike" dirty="0" smtClean="0">
                          <a:effectLst/>
                        </a:rPr>
                        <a:t>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>
                          <a:effectLst/>
                        </a:rPr>
                        <a:t> 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121.000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Amort.Acum</a:t>
                      </a: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.(P)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360.000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u="none" strike="noStrike" baseline="0" dirty="0" smtClean="0">
                          <a:effectLst/>
                        </a:rPr>
                        <a:t>Ut. X Vta. BU </a:t>
                      </a:r>
                      <a:r>
                        <a:rPr lang="es-AR" sz="1100" u="none" strike="noStrike" dirty="0" smtClean="0">
                          <a:effectLst/>
                        </a:rPr>
                        <a:t>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$90.000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smtClean="0">
                          <a:effectLst/>
                        </a:rPr>
                        <a:t>BU(A)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550.000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>
                          <a:effectLst/>
                        </a:rPr>
                        <a:t>   IVA DF(P)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21.000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866453939"/>
                  </a:ext>
                </a:extLst>
              </a:tr>
            </a:tbl>
          </a:graphicData>
        </a:graphic>
      </p:graphicFrame>
      <p:sp>
        <p:nvSpPr>
          <p:cNvPr id="4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1393" y="3685352"/>
            <a:ext cx="138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 smtClean="0">
                <a:solidFill>
                  <a:srgbClr val="000000"/>
                </a:solidFill>
              </a:rPr>
              <a:t>Ut.x</a:t>
            </a:r>
            <a:r>
              <a:rPr lang="es-AR" dirty="0" smtClean="0">
                <a:solidFill>
                  <a:srgbClr val="000000"/>
                </a:solidFill>
              </a:rPr>
              <a:t> </a:t>
            </a:r>
            <a:r>
              <a:rPr lang="es-AR" dirty="0" err="1" smtClean="0">
                <a:solidFill>
                  <a:srgbClr val="000000"/>
                </a:solidFill>
              </a:rPr>
              <a:t>Vta</a:t>
            </a:r>
            <a:r>
              <a:rPr lang="es-AR" dirty="0" smtClean="0">
                <a:solidFill>
                  <a:srgbClr val="000000"/>
                </a:solidFill>
              </a:rPr>
              <a:t> BU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756238" y="4525240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360.000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274915" y="4469021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550.000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54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41" idx="0"/>
            <a:endCxn id="17" idx="4"/>
          </p:cNvCxnSpPr>
          <p:nvPr/>
        </p:nvCxnSpPr>
        <p:spPr>
          <a:xfrm flipH="1" flipV="1">
            <a:off x="3235709" y="3278579"/>
            <a:ext cx="1890" cy="158604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483860" y="5463109"/>
            <a:ext cx="1417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100.000 x 21%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07413" y="4204585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AA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6300192" y="1087860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 de Origen = $550.000</a:t>
            </a:r>
          </a:p>
          <a:p>
            <a:r>
              <a:rPr lang="es-AR" dirty="0" smtClean="0"/>
              <a:t>Valor Residual = $100.000</a:t>
            </a:r>
          </a:p>
          <a:p>
            <a:r>
              <a:rPr lang="es-AR" dirty="0" smtClean="0"/>
              <a:t>VU = 10 años</a:t>
            </a:r>
          </a:p>
          <a:p>
            <a:r>
              <a:rPr lang="es-AR" dirty="0" smtClean="0"/>
              <a:t>Antigüedad = 8 años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256178" y="4016254"/>
            <a:ext cx="2708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VV = $100.000</a:t>
            </a:r>
          </a:p>
          <a:p>
            <a:r>
              <a:rPr lang="es-AR" dirty="0" smtClean="0"/>
              <a:t>VL </a:t>
            </a:r>
            <a:r>
              <a:rPr lang="es-AR" dirty="0"/>
              <a:t>= VO-AA </a:t>
            </a:r>
            <a:r>
              <a:rPr lang="es-AR" dirty="0" smtClean="0"/>
              <a:t>=$190.000</a:t>
            </a:r>
            <a:endParaRPr lang="es-AR" dirty="0"/>
          </a:p>
          <a:p>
            <a:r>
              <a:rPr lang="es-AR" dirty="0" smtClean="0"/>
              <a:t>UT= VV – VL =($90.000)</a:t>
            </a:r>
            <a:endParaRPr lang="es-AR" dirty="0"/>
          </a:p>
        </p:txBody>
      </p:sp>
      <p:sp>
        <p:nvSpPr>
          <p:cNvPr id="38" name="37 CuadroTexto"/>
          <p:cNvSpPr txBox="1"/>
          <p:nvPr/>
        </p:nvSpPr>
        <p:spPr>
          <a:xfrm>
            <a:off x="6307160" y="2294456"/>
            <a:ext cx="2664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 smtClean="0"/>
              <a:t>Amort</a:t>
            </a:r>
            <a:r>
              <a:rPr lang="es-AR" dirty="0" smtClean="0"/>
              <a:t>.  = VO-VR / VU</a:t>
            </a:r>
          </a:p>
          <a:p>
            <a:r>
              <a:rPr lang="es-AR" dirty="0" smtClean="0"/>
              <a:t>=($550.000-$100,000) /10 </a:t>
            </a:r>
          </a:p>
          <a:p>
            <a:r>
              <a:rPr lang="es-AR" dirty="0" smtClean="0"/>
              <a:t>= $45.000 / año</a:t>
            </a:r>
          </a:p>
          <a:p>
            <a:r>
              <a:rPr lang="es-AR" dirty="0" smtClean="0"/>
              <a:t>AA  =  </a:t>
            </a:r>
            <a:r>
              <a:rPr lang="es-AR" dirty="0" err="1" smtClean="0"/>
              <a:t>Amort</a:t>
            </a:r>
            <a:r>
              <a:rPr lang="es-AR" dirty="0" smtClean="0"/>
              <a:t>/año x </a:t>
            </a:r>
            <a:r>
              <a:rPr lang="es-AR" dirty="0" err="1" smtClean="0"/>
              <a:t>Ant</a:t>
            </a:r>
            <a:r>
              <a:rPr lang="es-AR" dirty="0" smtClean="0"/>
              <a:t>.</a:t>
            </a:r>
          </a:p>
          <a:p>
            <a:r>
              <a:rPr lang="es-AR" dirty="0"/>
              <a:t> </a:t>
            </a:r>
            <a:r>
              <a:rPr lang="es-AR" dirty="0" smtClean="0"/>
              <a:t>      =$45.000/año x 8 años</a:t>
            </a:r>
          </a:p>
          <a:p>
            <a:r>
              <a:rPr lang="es-AR" dirty="0" smtClean="0"/>
              <a:t>       = $360.000</a:t>
            </a:r>
            <a:endParaRPr lang="es-AR" dirty="0"/>
          </a:p>
        </p:txBody>
      </p:sp>
      <p:sp>
        <p:nvSpPr>
          <p:cNvPr id="35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1482841" y="3683466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25360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17" grpId="0" animBg="1"/>
      <p:bldP spid="23" grpId="0" animBg="1"/>
      <p:bldP spid="14" grpId="0"/>
      <p:bldP spid="15" grpId="0"/>
      <p:bldP spid="34" grpId="0"/>
      <p:bldP spid="41" grpId="0" animBg="1"/>
      <p:bldP spid="48" grpId="0"/>
      <p:bldP spid="50" grpId="0"/>
      <p:bldP spid="51" grpId="0"/>
      <p:bldP spid="57" grpId="0"/>
      <p:bldP spid="36" grpId="0" animBg="1"/>
      <p:bldP spid="6" grpId="0" build="p"/>
      <p:bldP spid="7" grpId="0" build="p"/>
      <p:bldP spid="38" grpId="0" build="p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/>
              <a:t>Ejemplo 4.6.3</a:t>
            </a:r>
            <a:r>
              <a:rPr lang="es-AR" i="1" dirty="0"/>
              <a:t>: Compra un equipo de transporte en $21.000 + IVA dando como parte de pago el que posee actualmente a un valor de $8.000 +IVA, el que había sido comprado hace 4 años en $14.000 + IVA con una vida útil de 5 años y sin valor residual. La diferencia la paga a 30 días.</a:t>
            </a:r>
            <a:endParaRPr lang="es-AR" dirty="0"/>
          </a:p>
        </p:txBody>
      </p:sp>
      <p:sp>
        <p:nvSpPr>
          <p:cNvPr id="1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3196502" y="3188994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18" name="24 Conector recto de flecha">
            <a:extLst>
              <a:ext uri="{FF2B5EF4-FFF2-40B4-BE49-F238E27FC236}">
                <a16:creationId xmlns:a16="http://schemas.microsoft.com/office/drawing/2014/main" xmlns="" id="{00000000-0008-0000-0200-000019000000}"/>
              </a:ext>
            </a:extLst>
          </p:cNvPr>
          <p:cNvCxnSpPr>
            <a:stCxn id="17" idx="0"/>
            <a:endCxn id="22" idx="6"/>
          </p:cNvCxnSpPr>
          <p:nvPr/>
        </p:nvCxnSpPr>
        <p:spPr>
          <a:xfrm flipH="1" flipV="1">
            <a:off x="1935851" y="2536997"/>
            <a:ext cx="1299858" cy="65199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25 Conector recto de flecha">
            <a:extLst>
              <a:ext uri="{FF2B5EF4-FFF2-40B4-BE49-F238E27FC236}">
                <a16:creationId xmlns:a16="http://schemas.microsoft.com/office/drawing/2014/main" xmlns="" id="{00000000-0008-0000-0200-00001A000000}"/>
              </a:ext>
            </a:extLst>
          </p:cNvPr>
          <p:cNvCxnSpPr>
            <a:stCxn id="23" idx="1"/>
            <a:endCxn id="17" idx="5"/>
          </p:cNvCxnSpPr>
          <p:nvPr/>
        </p:nvCxnSpPr>
        <p:spPr>
          <a:xfrm flipH="1" flipV="1">
            <a:off x="3263432" y="3265460"/>
            <a:ext cx="1513869" cy="131655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35" idx="1"/>
            <a:endCxn id="17" idx="6"/>
          </p:cNvCxnSpPr>
          <p:nvPr/>
        </p:nvCxnSpPr>
        <p:spPr>
          <a:xfrm flipH="1">
            <a:off x="3274915" y="2621403"/>
            <a:ext cx="1497662" cy="61238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7 Elipse">
            <a:extLst>
              <a:ext uri="{FF2B5EF4-FFF2-40B4-BE49-F238E27FC236}">
                <a16:creationId xmlns:a16="http://schemas.microsoft.com/office/drawing/2014/main" xmlns="" id="{00000000-0008-0000-0200-00001C000000}"/>
              </a:ext>
            </a:extLst>
          </p:cNvPr>
          <p:cNvSpPr/>
          <p:nvPr/>
        </p:nvSpPr>
        <p:spPr>
          <a:xfrm>
            <a:off x="820645" y="1963541"/>
            <a:ext cx="1115206" cy="114691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IVA CF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3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4777301" y="3647911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>
                <a:solidFill>
                  <a:sysClr val="windowText" lastClr="000000"/>
                </a:solidFill>
              </a:rPr>
              <a:t>IVA</a:t>
            </a:r>
          </a:p>
          <a:p>
            <a:pPr algn="ctr"/>
            <a:r>
              <a:rPr lang="es-AR" sz="1600" b="1">
                <a:solidFill>
                  <a:sysClr val="windowText" lastClr="000000"/>
                </a:solidFill>
              </a:rPr>
              <a:t>DF</a:t>
            </a:r>
          </a:p>
        </p:txBody>
      </p:sp>
      <p:sp>
        <p:nvSpPr>
          <p:cNvPr id="24" name="43 Rectángulo">
            <a:extLst>
              <a:ext uri="{FF2B5EF4-FFF2-40B4-BE49-F238E27FC236}">
                <a16:creationId xmlns:a16="http://schemas.microsoft.com/office/drawing/2014/main" xmlns="" id="{00000000-0008-0000-0200-00002C000000}"/>
              </a:ext>
            </a:extLst>
          </p:cNvPr>
          <p:cNvSpPr/>
          <p:nvPr/>
        </p:nvSpPr>
        <p:spPr>
          <a:xfrm>
            <a:off x="1488794" y="3673915"/>
            <a:ext cx="226526" cy="2840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>
              <a:solidFill>
                <a:sysClr val="windowText" lastClr="000000"/>
              </a:solidFill>
            </a:endParaRPr>
          </a:p>
        </p:txBody>
      </p:sp>
      <p:cxnSp>
        <p:nvCxnSpPr>
          <p:cNvPr id="31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24" idx="3"/>
            <a:endCxn id="17" idx="2"/>
          </p:cNvCxnSpPr>
          <p:nvPr/>
        </p:nvCxnSpPr>
        <p:spPr>
          <a:xfrm flipV="1">
            <a:off x="1715320" y="3233787"/>
            <a:ext cx="1481182" cy="58215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429641" y="3237047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$5.200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3700633" y="3278579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1.680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xmlns="" id="{0AF4FDF9-540A-4780-B27D-8B2DAA2B17D4}"/>
              </a:ext>
            </a:extLst>
          </p:cNvPr>
          <p:cNvSpPr/>
          <p:nvPr/>
        </p:nvSpPr>
        <p:spPr>
          <a:xfrm>
            <a:off x="2051316" y="2167664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4.410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779912" y="1963541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15.730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2654956" y="4864628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BU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3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17" idx="3"/>
            <a:endCxn id="36" idx="3"/>
          </p:cNvCxnSpPr>
          <p:nvPr/>
        </p:nvCxnSpPr>
        <p:spPr>
          <a:xfrm flipH="1">
            <a:off x="1578668" y="3265460"/>
            <a:ext cx="1629317" cy="187323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8299"/>
              </p:ext>
            </p:extLst>
          </p:nvPr>
        </p:nvGraphicFramePr>
        <p:xfrm>
          <a:off x="6117688" y="4937948"/>
          <a:ext cx="2976215" cy="1528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198977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396266"/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 smtClean="0">
                          <a:effectLst/>
                        </a:rPr>
                        <a:t>BU(A</a:t>
                      </a:r>
                      <a:r>
                        <a:rPr lang="es-AR" sz="1100" u="none" strike="noStrike" dirty="0">
                          <a:effectLst/>
                        </a:rPr>
                        <a:t>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7.000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>
                          <a:effectLst/>
                        </a:rPr>
                        <a:t> </a:t>
                      </a:r>
                      <a:endParaRPr lang="es-A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 smtClean="0">
                          <a:effectLst/>
                        </a:rPr>
                        <a:t>IVA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 CF</a:t>
                      </a:r>
                      <a:r>
                        <a:rPr lang="es-AR" sz="1100" u="none" strike="noStrike" dirty="0" smtClean="0">
                          <a:effectLst/>
                        </a:rPr>
                        <a:t>(A</a:t>
                      </a:r>
                      <a:r>
                        <a:rPr lang="es-AR" sz="1100" u="none" strike="noStrike" dirty="0">
                          <a:effectLst/>
                        </a:rPr>
                        <a:t>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4.410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Amort.Acum</a:t>
                      </a: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.(P)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$11.200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CxP</a:t>
                      </a:r>
                      <a:r>
                        <a:rPr lang="es-AR" sz="1100" u="none" strike="noStrike" dirty="0" smtClean="0">
                          <a:effectLst/>
                        </a:rPr>
                        <a:t> 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15.730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   Ut. X Vta. BU </a:t>
                      </a:r>
                      <a:r>
                        <a:rPr lang="es-AR" sz="1100" u="none" strike="noStrike" dirty="0" smtClean="0">
                          <a:effectLst/>
                        </a:rPr>
                        <a:t>(R</a:t>
                      </a:r>
                      <a:r>
                        <a:rPr lang="es-AR" sz="1100" u="none" strike="noStrike" dirty="0">
                          <a:effectLst/>
                        </a:rPr>
                        <a:t>+)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5.200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348706304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>
                          <a:effectLst/>
                        </a:rPr>
                        <a:t> 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>
                          <a:effectLst/>
                        </a:rPr>
                        <a:t>   IVA DF(P)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1.680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866453939"/>
                  </a:ext>
                </a:extLst>
              </a:tr>
            </a:tbl>
          </a:graphicData>
        </a:graphic>
      </p:graphicFrame>
      <p:sp>
        <p:nvSpPr>
          <p:cNvPr id="4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1393" y="3685352"/>
            <a:ext cx="138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 smtClean="0">
                <a:solidFill>
                  <a:srgbClr val="000000"/>
                </a:solidFill>
              </a:rPr>
              <a:t>Ut.x</a:t>
            </a:r>
            <a:r>
              <a:rPr lang="es-AR" dirty="0" smtClean="0">
                <a:solidFill>
                  <a:srgbClr val="000000"/>
                </a:solidFill>
              </a:rPr>
              <a:t> </a:t>
            </a:r>
            <a:r>
              <a:rPr lang="es-AR" dirty="0" err="1" smtClean="0">
                <a:solidFill>
                  <a:srgbClr val="000000"/>
                </a:solidFill>
              </a:rPr>
              <a:t>Vta</a:t>
            </a:r>
            <a:r>
              <a:rPr lang="es-AR" dirty="0" smtClean="0">
                <a:solidFill>
                  <a:srgbClr val="000000"/>
                </a:solidFill>
              </a:rPr>
              <a:t> BU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756238" y="4525240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11.200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347864" y="4495296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14.000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54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41" idx="7"/>
            <a:endCxn id="17" idx="4"/>
          </p:cNvCxnSpPr>
          <p:nvPr/>
        </p:nvCxnSpPr>
        <p:spPr>
          <a:xfrm flipH="1" flipV="1">
            <a:off x="3235709" y="3278579"/>
            <a:ext cx="413881" cy="176134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483860" y="5463109"/>
            <a:ext cx="123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>
                <a:solidFill>
                  <a:srgbClr val="000000"/>
                </a:solidFill>
              </a:rPr>
              <a:t>8</a:t>
            </a:r>
            <a:r>
              <a:rPr lang="es-AR" sz="1400" dirty="0" smtClean="0">
                <a:solidFill>
                  <a:srgbClr val="000000"/>
                </a:solidFill>
              </a:rPr>
              <a:t>.000 x 21%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020366" y="1372757"/>
            <a:ext cx="1907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(21.000-8.000) x 1,21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766639" y="1542770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21.000 x 21%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07413" y="4204585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AA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6300192" y="1358104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 de Origen = $14.000</a:t>
            </a:r>
          </a:p>
          <a:p>
            <a:r>
              <a:rPr lang="es-AR" dirty="0" smtClean="0"/>
              <a:t>VU = 5 años</a:t>
            </a:r>
          </a:p>
          <a:p>
            <a:r>
              <a:rPr lang="es-AR" dirty="0" smtClean="0"/>
              <a:t>Antigüedad = 4 años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256178" y="4016254"/>
            <a:ext cx="2708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VV = $8.000</a:t>
            </a:r>
          </a:p>
          <a:p>
            <a:r>
              <a:rPr lang="es-AR" dirty="0" smtClean="0"/>
              <a:t>VL </a:t>
            </a:r>
            <a:r>
              <a:rPr lang="es-AR" dirty="0"/>
              <a:t>= VO-AA =$</a:t>
            </a:r>
            <a:r>
              <a:rPr lang="es-AR" dirty="0" smtClean="0"/>
              <a:t>2.800</a:t>
            </a:r>
            <a:endParaRPr lang="es-AR" dirty="0"/>
          </a:p>
          <a:p>
            <a:r>
              <a:rPr lang="es-AR" dirty="0" smtClean="0"/>
              <a:t>UT= VV – VL =5.200</a:t>
            </a:r>
            <a:endParaRPr lang="es-AR" dirty="0"/>
          </a:p>
        </p:txBody>
      </p:sp>
      <p:sp>
        <p:nvSpPr>
          <p:cNvPr id="38" name="37 CuadroTexto"/>
          <p:cNvSpPr txBox="1"/>
          <p:nvPr/>
        </p:nvSpPr>
        <p:spPr>
          <a:xfrm>
            <a:off x="6307160" y="2294456"/>
            <a:ext cx="2664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 smtClean="0"/>
              <a:t>Amort</a:t>
            </a:r>
            <a:r>
              <a:rPr lang="es-AR" dirty="0" smtClean="0"/>
              <a:t>.  = VO-VR / VU</a:t>
            </a:r>
          </a:p>
          <a:p>
            <a:r>
              <a:rPr lang="es-AR" dirty="0" smtClean="0"/>
              <a:t>              = $14.000 </a:t>
            </a:r>
            <a:r>
              <a:rPr lang="es-AR" dirty="0"/>
              <a:t>/ </a:t>
            </a:r>
            <a:r>
              <a:rPr lang="es-AR" dirty="0" smtClean="0"/>
              <a:t>5 años</a:t>
            </a:r>
          </a:p>
          <a:p>
            <a:r>
              <a:rPr lang="es-AR" dirty="0"/>
              <a:t> </a:t>
            </a:r>
            <a:r>
              <a:rPr lang="es-AR" dirty="0" smtClean="0"/>
              <a:t>             = $2.800 / año</a:t>
            </a:r>
          </a:p>
          <a:p>
            <a:r>
              <a:rPr lang="es-AR" dirty="0" smtClean="0"/>
              <a:t>AA  =  </a:t>
            </a:r>
            <a:r>
              <a:rPr lang="es-AR" dirty="0" err="1" smtClean="0"/>
              <a:t>Amort</a:t>
            </a:r>
            <a:r>
              <a:rPr lang="es-AR" dirty="0" smtClean="0"/>
              <a:t>/año x </a:t>
            </a:r>
            <a:r>
              <a:rPr lang="es-AR" dirty="0" err="1" smtClean="0"/>
              <a:t>Ant</a:t>
            </a:r>
            <a:r>
              <a:rPr lang="es-AR" dirty="0" smtClean="0"/>
              <a:t>.</a:t>
            </a:r>
          </a:p>
          <a:p>
            <a:r>
              <a:rPr lang="es-AR" dirty="0"/>
              <a:t> </a:t>
            </a:r>
            <a:r>
              <a:rPr lang="es-AR" dirty="0" smtClean="0"/>
              <a:t>      = $2.800/año x 4 años</a:t>
            </a:r>
          </a:p>
          <a:p>
            <a:r>
              <a:rPr lang="es-AR" dirty="0" smtClean="0"/>
              <a:t>       = $11.200</a:t>
            </a:r>
            <a:endParaRPr lang="es-AR" dirty="0"/>
          </a:p>
        </p:txBody>
      </p:sp>
      <p:sp>
        <p:nvSpPr>
          <p:cNvPr id="35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4772577" y="1687298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CxP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0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17" idx="3"/>
            <a:endCxn id="41" idx="1"/>
          </p:cNvCxnSpPr>
          <p:nvPr/>
        </p:nvCxnSpPr>
        <p:spPr>
          <a:xfrm flipH="1">
            <a:off x="2825608" y="3265460"/>
            <a:ext cx="382377" cy="177445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455911" y="4108587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21.000</a:t>
            </a:r>
            <a:endParaRPr lang="es-A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89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22" grpId="0" animBg="1"/>
      <p:bldP spid="23" grpId="0" animBg="1"/>
      <p:bldP spid="24" grpId="0" animBg="1"/>
      <p:bldP spid="14" grpId="0"/>
      <p:bldP spid="15" grpId="0"/>
      <p:bldP spid="33" grpId="0"/>
      <p:bldP spid="34" grpId="0"/>
      <p:bldP spid="41" grpId="0" animBg="1"/>
      <p:bldP spid="48" grpId="0"/>
      <p:bldP spid="50" grpId="0"/>
      <p:bldP spid="51" grpId="0"/>
      <p:bldP spid="57" grpId="0"/>
      <p:bldP spid="60" grpId="0"/>
      <p:bldP spid="61" grpId="0"/>
      <p:bldP spid="36" grpId="0" animBg="1"/>
      <p:bldP spid="6" grpId="0" build="p"/>
      <p:bldP spid="7" grpId="0" build="p"/>
      <p:bldP spid="38" grpId="0" build="p"/>
      <p:bldP spid="35" grpId="0" animBg="1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547141" y="389745"/>
            <a:ext cx="80497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/>
              <a:t>Ejemplo 4.7.1</a:t>
            </a:r>
            <a:r>
              <a:rPr lang="es-AR" i="1" dirty="0"/>
              <a:t>: En el mes de marzo, se pagan los alquileres del período marzo a junio por un total de $3000 + IVA mensuales. El pago se realiza en efectivo y la empresa realiza cierres mensuales. Indicar los asientos que genera esta transacción.</a:t>
            </a:r>
            <a:endParaRPr lang="es-AR" dirty="0"/>
          </a:p>
        </p:txBody>
      </p:sp>
      <p:sp>
        <p:nvSpPr>
          <p:cNvPr id="4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570002" y="2739753"/>
            <a:ext cx="1217218" cy="126531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Disp.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xmlns="" id="{A6145E73-EE9E-48DD-9626-CDD45C550135}"/>
              </a:ext>
            </a:extLst>
          </p:cNvPr>
          <p:cNvSpPr/>
          <p:nvPr/>
        </p:nvSpPr>
        <p:spPr>
          <a:xfrm>
            <a:off x="1878019" y="3406858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14.520</a:t>
            </a:r>
            <a:endParaRPr lang="es-AR" dirty="0"/>
          </a:p>
        </p:txBody>
      </p:sp>
      <p:sp>
        <p:nvSpPr>
          <p:cNvPr id="22" name="22 Elipse">
            <a:extLst>
              <a:ext uri="{FF2B5EF4-FFF2-40B4-BE49-F238E27FC236}">
                <a16:creationId xmlns:a16="http://schemas.microsoft.com/office/drawing/2014/main" xmlns="" id="{00000000-0008-0000-0200-000017000000}"/>
              </a:ext>
            </a:extLst>
          </p:cNvPr>
          <p:cNvSpPr/>
          <p:nvPr/>
        </p:nvSpPr>
        <p:spPr>
          <a:xfrm>
            <a:off x="4695220" y="1717959"/>
            <a:ext cx="1388948" cy="139688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>
                <a:solidFill>
                  <a:sysClr val="windowText" lastClr="000000"/>
                </a:solidFill>
              </a:rPr>
              <a:t>Alq</a:t>
            </a:r>
            <a:r>
              <a:rPr lang="es-AR" sz="1600" b="1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s-AR" sz="1600" b="1" dirty="0">
                <a:solidFill>
                  <a:sysClr val="windowText" lastClr="000000"/>
                </a:solidFill>
              </a:rPr>
              <a:t>Diferidos</a:t>
            </a:r>
            <a:endParaRPr lang="es-AR" sz="1800" b="1" dirty="0">
              <a:solidFill>
                <a:sysClr val="windowText" lastClr="000000"/>
              </a:solidFill>
            </a:endParaRPr>
          </a:p>
        </p:txBody>
      </p:sp>
      <p:sp>
        <p:nvSpPr>
          <p:cNvPr id="25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3293577" y="2438115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26" name="24 Conector recto de flecha">
            <a:extLst>
              <a:ext uri="{FF2B5EF4-FFF2-40B4-BE49-F238E27FC236}">
                <a16:creationId xmlns:a16="http://schemas.microsoft.com/office/drawing/2014/main" xmlns="" id="{00000000-0008-0000-0200-000019000000}"/>
              </a:ext>
            </a:extLst>
          </p:cNvPr>
          <p:cNvCxnSpPr>
            <a:stCxn id="25" idx="7"/>
            <a:endCxn id="29" idx="6"/>
          </p:cNvCxnSpPr>
          <p:nvPr/>
        </p:nvCxnSpPr>
        <p:spPr>
          <a:xfrm flipH="1" flipV="1">
            <a:off x="1410430" y="2047345"/>
            <a:ext cx="1950077" cy="40388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25" idx="6"/>
            <a:endCxn id="22" idx="2"/>
          </p:cNvCxnSpPr>
          <p:nvPr/>
        </p:nvCxnSpPr>
        <p:spPr>
          <a:xfrm flipV="1">
            <a:off x="3371990" y="2416400"/>
            <a:ext cx="1323230" cy="6650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7 Elipse">
            <a:extLst>
              <a:ext uri="{FF2B5EF4-FFF2-40B4-BE49-F238E27FC236}">
                <a16:creationId xmlns:a16="http://schemas.microsoft.com/office/drawing/2014/main" xmlns="" id="{00000000-0008-0000-0200-00001C000000}"/>
              </a:ext>
            </a:extLst>
          </p:cNvPr>
          <p:cNvSpPr/>
          <p:nvPr/>
        </p:nvSpPr>
        <p:spPr>
          <a:xfrm>
            <a:off x="1160734" y="1916948"/>
            <a:ext cx="249696" cy="26079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30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41" idx="6"/>
            <a:endCxn id="25" idx="2"/>
          </p:cNvCxnSpPr>
          <p:nvPr/>
        </p:nvCxnSpPr>
        <p:spPr>
          <a:xfrm flipV="1">
            <a:off x="1787220" y="2482908"/>
            <a:ext cx="1506357" cy="8895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3652501" y="2068783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9.000</a:t>
            </a:r>
            <a:endParaRPr lang="es-AR" dirty="0"/>
          </a:p>
        </p:txBody>
      </p:sp>
      <p:sp>
        <p:nvSpPr>
          <p:cNvPr id="36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3996589" y="2993043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IVA CF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001165" y="1940479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3.000</a:t>
            </a:r>
            <a:endParaRPr lang="es-AR" dirty="0"/>
          </a:p>
        </p:txBody>
      </p:sp>
      <p:cxnSp>
        <p:nvCxnSpPr>
          <p:cNvPr id="38" name="37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25" idx="5"/>
            <a:endCxn id="36" idx="1"/>
          </p:cNvCxnSpPr>
          <p:nvPr/>
        </p:nvCxnSpPr>
        <p:spPr>
          <a:xfrm>
            <a:off x="3360507" y="2514581"/>
            <a:ext cx="806734" cy="65375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016246" y="4250398"/>
            <a:ext cx="13276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$ 12.000 x  21%</a:t>
            </a:r>
            <a:endParaRPr lang="es-AR" sz="1400" dirty="0"/>
          </a:p>
        </p:txBody>
      </p:sp>
      <p:sp>
        <p:nvSpPr>
          <p:cNvPr id="4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845985" y="1429968"/>
            <a:ext cx="936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$3.000 x 3</a:t>
            </a:r>
            <a:endParaRPr lang="es-AR" sz="1400" dirty="0"/>
          </a:p>
        </p:txBody>
      </p:sp>
      <p:sp>
        <p:nvSpPr>
          <p:cNvPr id="46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948056" y="2889089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2.520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4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44869" y="1348626"/>
            <a:ext cx="780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Marzo</a:t>
            </a:r>
            <a:endParaRPr lang="es-AR" sz="1400" u="sng" dirty="0"/>
          </a:p>
        </p:txBody>
      </p:sp>
      <p:sp>
        <p:nvSpPr>
          <p:cNvPr id="48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4302009" y="5767488"/>
            <a:ext cx="217404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49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50" idx="6"/>
            <a:endCxn id="48" idx="2"/>
          </p:cNvCxnSpPr>
          <p:nvPr/>
        </p:nvCxnSpPr>
        <p:spPr>
          <a:xfrm>
            <a:off x="1736790" y="5918232"/>
            <a:ext cx="256521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27 Elipse">
            <a:extLst>
              <a:ext uri="{FF2B5EF4-FFF2-40B4-BE49-F238E27FC236}">
                <a16:creationId xmlns:a16="http://schemas.microsoft.com/office/drawing/2014/main" xmlns="" id="{00000000-0008-0000-0200-00001C000000}"/>
              </a:ext>
            </a:extLst>
          </p:cNvPr>
          <p:cNvSpPr/>
          <p:nvPr/>
        </p:nvSpPr>
        <p:spPr>
          <a:xfrm>
            <a:off x="395536" y="5239111"/>
            <a:ext cx="1341254" cy="13582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>
                <a:solidFill>
                  <a:sysClr val="windowText" lastClr="000000"/>
                </a:solidFill>
              </a:rPr>
              <a:t>Alq</a:t>
            </a:r>
            <a:r>
              <a:rPr lang="es-AR" sz="1600" b="1" dirty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s-AR" sz="1600" b="1" dirty="0">
                <a:solidFill>
                  <a:sysClr val="windowText" lastClr="000000"/>
                </a:solidFill>
              </a:rPr>
              <a:t>Diferidos</a:t>
            </a:r>
          </a:p>
        </p:txBody>
      </p:sp>
      <p:sp>
        <p:nvSpPr>
          <p:cNvPr id="5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18173" y="1916948"/>
            <a:ext cx="104275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Alquileres</a:t>
            </a:r>
            <a:endParaRPr lang="es-AR" sz="1500" dirty="0"/>
          </a:p>
        </p:txBody>
      </p:sp>
      <p:sp>
        <p:nvSpPr>
          <p:cNvPr id="5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96930" y="4095021"/>
            <a:ext cx="13356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$ 12.000 x  1,21</a:t>
            </a:r>
            <a:endParaRPr lang="es-AR" sz="1400" dirty="0"/>
          </a:p>
        </p:txBody>
      </p:sp>
      <p:graphicFrame>
        <p:nvGraphicFramePr>
          <p:cNvPr id="55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761680"/>
              </p:ext>
            </p:extLst>
          </p:nvPr>
        </p:nvGraphicFramePr>
        <p:xfrm>
          <a:off x="6041488" y="2869662"/>
          <a:ext cx="2976215" cy="11293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Alquileres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Alq</a:t>
                      </a: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 Diferidos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(A)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$9.000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IVA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CF (A)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$2.520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Disp</a:t>
                      </a:r>
                      <a:r>
                        <a:rPr lang="es-AR" sz="1100" u="none" strike="noStrike" dirty="0" smtClean="0">
                          <a:effectLst/>
                        </a:rPr>
                        <a:t>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14.520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56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29328" y="4797152"/>
            <a:ext cx="2041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Abril – Mayo - Junio</a:t>
            </a:r>
            <a:endParaRPr lang="es-AR" sz="1400" u="sng" dirty="0"/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572000" y="5640145"/>
            <a:ext cx="104275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Alquileres</a:t>
            </a:r>
            <a:endParaRPr lang="es-AR" sz="1500" dirty="0"/>
          </a:p>
        </p:txBody>
      </p:sp>
      <p:sp>
        <p:nvSpPr>
          <p:cNvPr id="59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447616" y="5539355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3.000</a:t>
            </a:r>
            <a:endParaRPr lang="es-AR" dirty="0"/>
          </a:p>
        </p:txBody>
      </p:sp>
      <p:graphicFrame>
        <p:nvGraphicFramePr>
          <p:cNvPr id="61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12685"/>
              </p:ext>
            </p:extLst>
          </p:nvPr>
        </p:nvGraphicFramePr>
        <p:xfrm>
          <a:off x="6084168" y="5270773"/>
          <a:ext cx="2976215" cy="723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Alquileres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Alq.Diferidos</a:t>
                      </a:r>
                      <a:r>
                        <a:rPr lang="es-AR" sz="1100" u="none" strike="noStrike" dirty="0" smtClean="0">
                          <a:effectLst/>
                        </a:rPr>
                        <a:t> 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 smtClean="0">
                          <a:effectLst/>
                        </a:rPr>
                        <a:t>$ 3.000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21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52" grpId="0"/>
      <p:bldP spid="22" grpId="0" animBg="1"/>
      <p:bldP spid="25" grpId="0" animBg="1"/>
      <p:bldP spid="29" grpId="0" animBg="1"/>
      <p:bldP spid="34" grpId="0"/>
      <p:bldP spid="36" grpId="0" animBg="1"/>
      <p:bldP spid="37" grpId="0"/>
      <p:bldP spid="39" grpId="0"/>
      <p:bldP spid="40" grpId="0"/>
      <p:bldP spid="46" grpId="0"/>
      <p:bldP spid="47" grpId="0"/>
      <p:bldP spid="48" grpId="0" animBg="1"/>
      <p:bldP spid="50" grpId="0" animBg="1"/>
      <p:bldP spid="51" grpId="0"/>
      <p:bldP spid="54" grpId="0"/>
      <p:bldP spid="56" grpId="0"/>
      <p:bldP spid="57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/>
              <a:t>Ejemplo 4.7.2</a:t>
            </a:r>
            <a:r>
              <a:rPr lang="es-AR" i="1" dirty="0"/>
              <a:t>: Al iniciar el año, una empresa que cierra ejercicios mensuales estima el importe del impuesto inmobiliario anual en $ 12.000 con vencimiento en agosto. El 1 de julio le llega la factura por un  importe de $ 9.600 que se abona el 24 de agosto en efectivo. Reflejar todos los asientos que se generan.</a:t>
            </a:r>
            <a:endParaRPr lang="es-AR" dirty="0"/>
          </a:p>
        </p:txBody>
      </p: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153960"/>
              </p:ext>
            </p:extLst>
          </p:nvPr>
        </p:nvGraphicFramePr>
        <p:xfrm>
          <a:off x="5071266" y="1710879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Imp.Inmob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.(R-)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$ 1.000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smtClean="0">
                          <a:effectLst/>
                        </a:rPr>
                        <a:t>Prov.</a:t>
                      </a:r>
                      <a:r>
                        <a:rPr lang="es-AR" sz="1400" u="none" strike="noStrike" baseline="0" dirty="0" smtClean="0">
                          <a:effectLst/>
                        </a:rPr>
                        <a:t> Imp.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$ 1.000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2" name="28 Rectángulo">
            <a:extLst>
              <a:ext uri="{FF2B5EF4-FFF2-40B4-BE49-F238E27FC236}">
                <a16:creationId xmlns:a16="http://schemas.microsoft.com/office/drawing/2014/main" xmlns="" id="{00000000-0008-0000-0200-00001D000000}"/>
              </a:ext>
            </a:extLst>
          </p:cNvPr>
          <p:cNvSpPr/>
          <p:nvPr/>
        </p:nvSpPr>
        <p:spPr>
          <a:xfrm>
            <a:off x="755576" y="1597800"/>
            <a:ext cx="885347" cy="144026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Prov. Imp.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4" name="36 Elipse">
            <a:extLst>
              <a:ext uri="{FF2B5EF4-FFF2-40B4-BE49-F238E27FC236}">
                <a16:creationId xmlns:a16="http://schemas.microsoft.com/office/drawing/2014/main" xmlns="" id="{00000000-0008-0000-0200-000025000000}"/>
              </a:ext>
            </a:extLst>
          </p:cNvPr>
          <p:cNvSpPr/>
          <p:nvPr/>
        </p:nvSpPr>
        <p:spPr>
          <a:xfrm>
            <a:off x="3614155" y="2160211"/>
            <a:ext cx="288032" cy="31543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40 Conector recto de flecha">
            <a:extLst>
              <a:ext uri="{FF2B5EF4-FFF2-40B4-BE49-F238E27FC236}">
                <a16:creationId xmlns:a16="http://schemas.microsoft.com/office/drawing/2014/main" xmlns="" id="{00000000-0008-0000-0200-000029000000}"/>
              </a:ext>
            </a:extLst>
          </p:cNvPr>
          <p:cNvCxnSpPr>
            <a:stCxn id="42" idx="3"/>
            <a:endCxn id="44" idx="2"/>
          </p:cNvCxnSpPr>
          <p:nvPr/>
        </p:nvCxnSpPr>
        <p:spPr>
          <a:xfrm flipV="1">
            <a:off x="1640923" y="2317930"/>
            <a:ext cx="1973232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2036883" y="1799257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1.000</a:t>
            </a:r>
            <a:endParaRPr lang="es-AR" dirty="0"/>
          </a:p>
        </p:txBody>
      </p:sp>
      <p:sp>
        <p:nvSpPr>
          <p:cNvPr id="19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421315" y="2485108"/>
            <a:ext cx="13830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Imp.Inmob</a:t>
            </a:r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s-AR" sz="1500" dirty="0"/>
          </a:p>
        </p:txBody>
      </p:sp>
      <p:sp>
        <p:nvSpPr>
          <p:cNvPr id="21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-53091" y="1247706"/>
            <a:ext cx="919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1-Enero</a:t>
            </a:r>
            <a:endParaRPr lang="es-AR" dirty="0"/>
          </a:p>
        </p:txBody>
      </p:sp>
      <p:sp>
        <p:nvSpPr>
          <p:cNvPr id="2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877861" y="1432372"/>
            <a:ext cx="11897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$ 12.000 /  12</a:t>
            </a:r>
            <a:endParaRPr lang="es-AR" sz="1400" dirty="0"/>
          </a:p>
        </p:txBody>
      </p:sp>
      <p:sp>
        <p:nvSpPr>
          <p:cNvPr id="25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2339752" y="2873582"/>
            <a:ext cx="57688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Idem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 Febrero, Marzo, Abril, Mayo, Junio</a:t>
            </a:r>
            <a:endParaRPr lang="es-AR" dirty="0"/>
          </a:p>
        </p:txBody>
      </p:sp>
      <p:sp>
        <p:nvSpPr>
          <p:cNvPr id="27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119335" y="3356992"/>
            <a:ext cx="795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1-Julio</a:t>
            </a:r>
            <a:endParaRPr lang="es-AR" dirty="0"/>
          </a:p>
        </p:txBody>
      </p:sp>
      <p:sp>
        <p:nvSpPr>
          <p:cNvPr id="29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3352880" y="4318440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30" name="24 Conector recto de flecha">
            <a:extLst>
              <a:ext uri="{FF2B5EF4-FFF2-40B4-BE49-F238E27FC236}">
                <a16:creationId xmlns:a16="http://schemas.microsoft.com/office/drawing/2014/main" xmlns="" id="{00000000-0008-0000-0200-000019000000}"/>
              </a:ext>
            </a:extLst>
          </p:cNvPr>
          <p:cNvCxnSpPr>
            <a:stCxn id="29" idx="3"/>
            <a:endCxn id="67" idx="3"/>
          </p:cNvCxnSpPr>
          <p:nvPr/>
        </p:nvCxnSpPr>
        <p:spPr>
          <a:xfrm flipH="1">
            <a:off x="1608612" y="4394906"/>
            <a:ext cx="1755751" cy="9206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25 Conector recto de flecha">
            <a:extLst>
              <a:ext uri="{FF2B5EF4-FFF2-40B4-BE49-F238E27FC236}">
                <a16:creationId xmlns:a16="http://schemas.microsoft.com/office/drawing/2014/main" xmlns="" id="{00000000-0008-0000-0200-00001A000000}"/>
              </a:ext>
            </a:extLst>
          </p:cNvPr>
          <p:cNvCxnSpPr>
            <a:stCxn id="35" idx="0"/>
            <a:endCxn id="29" idx="5"/>
          </p:cNvCxnSpPr>
          <p:nvPr/>
        </p:nvCxnSpPr>
        <p:spPr>
          <a:xfrm flipV="1">
            <a:off x="3352880" y="4394906"/>
            <a:ext cx="66930" cy="97831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29" idx="6"/>
            <a:endCxn id="74" idx="2"/>
          </p:cNvCxnSpPr>
          <p:nvPr/>
        </p:nvCxnSpPr>
        <p:spPr>
          <a:xfrm flipV="1">
            <a:off x="3431293" y="4056187"/>
            <a:ext cx="1475625" cy="30704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2917252" y="5373216"/>
            <a:ext cx="871255" cy="13161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CxP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6" name="43 Rectángulo">
            <a:extLst>
              <a:ext uri="{FF2B5EF4-FFF2-40B4-BE49-F238E27FC236}">
                <a16:creationId xmlns:a16="http://schemas.microsoft.com/office/drawing/2014/main" xmlns="" id="{00000000-0008-0000-0200-00002C000000}"/>
              </a:ext>
            </a:extLst>
          </p:cNvPr>
          <p:cNvSpPr/>
          <p:nvPr/>
        </p:nvSpPr>
        <p:spPr>
          <a:xfrm>
            <a:off x="946458" y="5541255"/>
            <a:ext cx="226526" cy="2840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>
              <a:solidFill>
                <a:sysClr val="windowText" lastClr="000000"/>
              </a:solidFill>
            </a:endParaRPr>
          </a:p>
        </p:txBody>
      </p:sp>
      <p:cxnSp>
        <p:nvCxnSpPr>
          <p:cNvPr id="37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36" idx="3"/>
            <a:endCxn id="29" idx="3"/>
          </p:cNvCxnSpPr>
          <p:nvPr/>
        </p:nvCxnSpPr>
        <p:spPr>
          <a:xfrm flipV="1">
            <a:off x="1172984" y="4394906"/>
            <a:ext cx="2191379" cy="128837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4093546" y="4561343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4.000</a:t>
            </a:r>
            <a:endParaRPr lang="es-AR" dirty="0"/>
          </a:p>
        </p:txBody>
      </p:sp>
      <p:sp>
        <p:nvSpPr>
          <p:cNvPr id="39" name="Rectángulo 32">
            <a:extLst>
              <a:ext uri="{FF2B5EF4-FFF2-40B4-BE49-F238E27FC236}">
                <a16:creationId xmlns:a16="http://schemas.microsoft.com/office/drawing/2014/main" xmlns="" id="{0AF4FDF9-540A-4780-B27D-8B2DAA2B17D4}"/>
              </a:ext>
            </a:extLst>
          </p:cNvPr>
          <p:cNvSpPr/>
          <p:nvPr/>
        </p:nvSpPr>
        <p:spPr>
          <a:xfrm>
            <a:off x="1979486" y="4052787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6.000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40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689977" y="3907405"/>
            <a:ext cx="7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800</a:t>
            </a:r>
            <a:endParaRPr lang="es-AR" dirty="0"/>
          </a:p>
        </p:txBody>
      </p:sp>
      <p:sp>
        <p:nvSpPr>
          <p:cNvPr id="4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4510874" y="4909239"/>
            <a:ext cx="1368151" cy="12640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Imp. Diferidos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4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370555"/>
              </p:ext>
            </p:extLst>
          </p:nvPr>
        </p:nvGraphicFramePr>
        <p:xfrm>
          <a:off x="6037196" y="3961467"/>
          <a:ext cx="2976215" cy="1376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1165086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25400"/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 smtClean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 smtClean="0">
                          <a:effectLst/>
                        </a:rPr>
                        <a:t>Prov. Impuestos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6.000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b="0" i="0" u="none" strike="noStrike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Imp.Inmob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.(R-)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800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 err="1" smtClean="0">
                          <a:effectLst/>
                        </a:rPr>
                        <a:t>Imp.Diferidos</a:t>
                      </a:r>
                      <a:r>
                        <a:rPr lang="es-AR" sz="1400" u="none" strike="noStrike" dirty="0" smtClean="0">
                          <a:effectLst/>
                        </a:rPr>
                        <a:t> A</a:t>
                      </a:r>
                      <a:r>
                        <a:rPr lang="es-AR" sz="1400" u="none" strike="noStrike" dirty="0">
                          <a:effectLst/>
                        </a:rPr>
                        <a:t>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4.000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 </a:t>
                      </a:r>
                      <a:r>
                        <a:rPr lang="es-AR" sz="1400" u="none" strike="noStrike" dirty="0" smtClean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CxP</a:t>
                      </a:r>
                      <a:r>
                        <a:rPr lang="es-AR" sz="1400" u="none" strike="noStrike" dirty="0" smtClean="0">
                          <a:effectLst/>
                        </a:rPr>
                        <a:t> (P</a:t>
                      </a:r>
                      <a:r>
                        <a:rPr lang="es-AR" sz="1400" u="none" strike="noStrike" dirty="0">
                          <a:effectLst/>
                        </a:rPr>
                        <a:t>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9.600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348706304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 err="1" smtClean="0">
                          <a:effectLst/>
                        </a:rPr>
                        <a:t>Aj.Ej.Ant</a:t>
                      </a:r>
                      <a:r>
                        <a:rPr lang="es-AR" sz="1400" u="none" strike="noStrike" dirty="0" smtClean="0">
                          <a:effectLst/>
                        </a:rPr>
                        <a:t> (R+)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1.200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866453939"/>
                  </a:ext>
                </a:extLst>
              </a:tr>
            </a:tbl>
          </a:graphicData>
        </a:graphic>
      </p:graphicFrame>
      <p:sp>
        <p:nvSpPr>
          <p:cNvPr id="45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417870" y="5418453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1.200</a:t>
            </a:r>
            <a:endParaRPr lang="es-AR" dirty="0"/>
          </a:p>
        </p:txBody>
      </p:sp>
      <p:sp>
        <p:nvSpPr>
          <p:cNvPr id="4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550924" y="4884061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9.600</a:t>
            </a:r>
            <a:endParaRPr lang="es-AR" dirty="0"/>
          </a:p>
        </p:txBody>
      </p:sp>
      <p:cxnSp>
        <p:nvCxnSpPr>
          <p:cNvPr id="48" name="47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29" idx="5"/>
            <a:endCxn id="41" idx="1"/>
          </p:cNvCxnSpPr>
          <p:nvPr/>
        </p:nvCxnSpPr>
        <p:spPr>
          <a:xfrm>
            <a:off x="3419810" y="4394906"/>
            <a:ext cx="1291425" cy="69944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09499" y="6031282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$200 x 6</a:t>
            </a:r>
            <a:endParaRPr lang="es-AR" sz="1400" dirty="0"/>
          </a:p>
        </p:txBody>
      </p:sp>
      <p:sp>
        <p:nvSpPr>
          <p:cNvPr id="52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935851" y="3726324"/>
            <a:ext cx="936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$1.000 x 6</a:t>
            </a:r>
            <a:endParaRPr lang="es-AR" sz="1400" dirty="0"/>
          </a:p>
        </p:txBody>
      </p:sp>
      <p:sp>
        <p:nvSpPr>
          <p:cNvPr id="67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37357" y="3878187"/>
            <a:ext cx="871255" cy="1217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Prov. Imp.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73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83153" y="5493107"/>
            <a:ext cx="83159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Ajuste Ej. </a:t>
            </a:r>
            <a:r>
              <a:rPr lang="es-AR" sz="15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Ant</a:t>
            </a:r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s-AR" sz="1500" dirty="0"/>
          </a:p>
        </p:txBody>
      </p:sp>
      <p:sp>
        <p:nvSpPr>
          <p:cNvPr id="74" name="36 Elipse">
            <a:extLst>
              <a:ext uri="{FF2B5EF4-FFF2-40B4-BE49-F238E27FC236}">
                <a16:creationId xmlns:a16="http://schemas.microsoft.com/office/drawing/2014/main" xmlns="" id="{00000000-0008-0000-0200-000025000000}"/>
              </a:ext>
            </a:extLst>
          </p:cNvPr>
          <p:cNvSpPr/>
          <p:nvPr/>
        </p:nvSpPr>
        <p:spPr>
          <a:xfrm>
            <a:off x="4906918" y="3898468"/>
            <a:ext cx="288032" cy="31543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714078" y="4223365"/>
            <a:ext cx="13830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Imp.Inmob</a:t>
            </a:r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s-AR" sz="1500" dirty="0"/>
          </a:p>
        </p:txBody>
      </p:sp>
      <p:sp>
        <p:nvSpPr>
          <p:cNvPr id="9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787254" y="6185170"/>
            <a:ext cx="8002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$800 x 5</a:t>
            </a:r>
            <a:endParaRPr lang="es-AR" sz="1400" dirty="0"/>
          </a:p>
        </p:txBody>
      </p:sp>
      <p:sp>
        <p:nvSpPr>
          <p:cNvPr id="91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6804248" y="5950440"/>
            <a:ext cx="1968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Sigue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6117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 animBg="1"/>
      <p:bldP spid="44" grpId="0" animBg="1"/>
      <p:bldP spid="58" grpId="0"/>
      <p:bldP spid="19" grpId="0"/>
      <p:bldP spid="21" grpId="0"/>
      <p:bldP spid="24" grpId="0"/>
      <p:bldP spid="25" grpId="0"/>
      <p:bldP spid="27" grpId="0"/>
      <p:bldP spid="29" grpId="0" animBg="1"/>
      <p:bldP spid="35" grpId="0" animBg="1"/>
      <p:bldP spid="36" grpId="0" animBg="1"/>
      <p:bldP spid="38" grpId="0"/>
      <p:bldP spid="39" grpId="0"/>
      <p:bldP spid="40" grpId="0"/>
      <p:bldP spid="41" grpId="0" animBg="1"/>
      <p:bldP spid="45" grpId="0"/>
      <p:bldP spid="47" grpId="0"/>
      <p:bldP spid="49" grpId="0"/>
      <p:bldP spid="52" grpId="0"/>
      <p:bldP spid="67" grpId="0" animBg="1"/>
      <p:bldP spid="73" grpId="0"/>
      <p:bldP spid="74" grpId="0" animBg="1"/>
      <p:bldP spid="75" grpId="0"/>
      <p:bldP spid="90" grpId="0"/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23488" y="188640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1-Agosto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7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02917" y="2348880"/>
            <a:ext cx="795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24/08</a:t>
            </a:r>
            <a:r>
              <a:rPr lang="es-AR" dirty="0" smtClean="0"/>
              <a:t> </a:t>
            </a:r>
            <a:endParaRPr lang="es-AR" dirty="0"/>
          </a:p>
        </p:txBody>
      </p:sp>
      <p:graphicFrame>
        <p:nvGraphicFramePr>
          <p:cNvPr id="41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084432"/>
              </p:ext>
            </p:extLst>
          </p:nvPr>
        </p:nvGraphicFramePr>
        <p:xfrm>
          <a:off x="5313929" y="884375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Imp.Inmob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.(R-)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$ 800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smtClean="0">
                          <a:effectLst/>
                        </a:rPr>
                        <a:t>Imp. Diferidos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$ 800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2" name="36 Elipse">
            <a:extLst>
              <a:ext uri="{FF2B5EF4-FFF2-40B4-BE49-F238E27FC236}">
                <a16:creationId xmlns:a16="http://schemas.microsoft.com/office/drawing/2014/main" xmlns="" id="{00000000-0008-0000-0200-000025000000}"/>
              </a:ext>
            </a:extLst>
          </p:cNvPr>
          <p:cNvSpPr/>
          <p:nvPr/>
        </p:nvSpPr>
        <p:spPr>
          <a:xfrm>
            <a:off x="3856818" y="1309685"/>
            <a:ext cx="288032" cy="31543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3" name="40 Conector recto de flecha">
            <a:extLst>
              <a:ext uri="{FF2B5EF4-FFF2-40B4-BE49-F238E27FC236}">
                <a16:creationId xmlns:a16="http://schemas.microsoft.com/office/drawing/2014/main" xmlns="" id="{00000000-0008-0000-0200-000029000000}"/>
              </a:ext>
            </a:extLst>
          </p:cNvPr>
          <p:cNvCxnSpPr>
            <a:stCxn id="50" idx="6"/>
            <a:endCxn id="42" idx="2"/>
          </p:cNvCxnSpPr>
          <p:nvPr/>
        </p:nvCxnSpPr>
        <p:spPr>
          <a:xfrm>
            <a:off x="1858055" y="1467404"/>
            <a:ext cx="199876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2279546" y="972753"/>
            <a:ext cx="7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$ 8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00</a:t>
            </a:r>
            <a:endParaRPr lang="es-AR" dirty="0"/>
          </a:p>
        </p:txBody>
      </p:sp>
      <p:sp>
        <p:nvSpPr>
          <p:cNvPr id="46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663978" y="1658604"/>
            <a:ext cx="13830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Imp.Inmob</a:t>
            </a:r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s-AR" sz="1500" dirty="0"/>
          </a:p>
        </p:txBody>
      </p:sp>
      <p:sp>
        <p:nvSpPr>
          <p:cNvPr id="50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489904" y="835388"/>
            <a:ext cx="1368151" cy="12640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Imp. Diferidos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54" name="28 Rectángulo">
            <a:extLst>
              <a:ext uri="{FF2B5EF4-FFF2-40B4-BE49-F238E27FC236}">
                <a16:creationId xmlns:a16="http://schemas.microsoft.com/office/drawing/2014/main" xmlns="" id="{00000000-0008-0000-0200-00001D000000}"/>
              </a:ext>
            </a:extLst>
          </p:cNvPr>
          <p:cNvSpPr/>
          <p:nvPr/>
        </p:nvSpPr>
        <p:spPr>
          <a:xfrm>
            <a:off x="3558160" y="2652278"/>
            <a:ext cx="885347" cy="144026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CxP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57" name="40 Conector recto de flecha">
            <a:extLst>
              <a:ext uri="{FF2B5EF4-FFF2-40B4-BE49-F238E27FC236}">
                <a16:creationId xmlns:a16="http://schemas.microsoft.com/office/drawing/2014/main" xmlns="" id="{00000000-0008-0000-0200-000029000000}"/>
              </a:ext>
            </a:extLst>
          </p:cNvPr>
          <p:cNvCxnSpPr>
            <a:stCxn id="61" idx="6"/>
            <a:endCxn id="54" idx="1"/>
          </p:cNvCxnSpPr>
          <p:nvPr/>
        </p:nvCxnSpPr>
        <p:spPr>
          <a:xfrm>
            <a:off x="1787220" y="3372409"/>
            <a:ext cx="1770940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1952462" y="2939242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9.600</a:t>
            </a:r>
            <a:endParaRPr lang="es-AR" dirty="0"/>
          </a:p>
        </p:txBody>
      </p:sp>
      <p:graphicFrame>
        <p:nvGraphicFramePr>
          <p:cNvPr id="60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29918"/>
              </p:ext>
            </p:extLst>
          </p:nvPr>
        </p:nvGraphicFramePr>
        <p:xfrm>
          <a:off x="5436096" y="3083407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CxP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(P)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$ 9.600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baseline="0" dirty="0" smtClean="0">
                          <a:effectLst/>
                        </a:rPr>
                        <a:t> Disp.</a:t>
                      </a:r>
                      <a:r>
                        <a:rPr lang="es-AR" sz="1400" u="none" strike="noStrike" dirty="0" smtClean="0">
                          <a:effectLst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$ 9.600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6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570002" y="2739753"/>
            <a:ext cx="1217218" cy="126531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Disp.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62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44123" y="4222412"/>
            <a:ext cx="4715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1-Septiembre, Octubre, Noviembre, Diciembre</a:t>
            </a:r>
            <a:r>
              <a:rPr lang="es-AR" dirty="0" smtClean="0"/>
              <a:t> </a:t>
            </a:r>
            <a:endParaRPr lang="es-AR" dirty="0"/>
          </a:p>
        </p:txBody>
      </p:sp>
      <p:graphicFrame>
        <p:nvGraphicFramePr>
          <p:cNvPr id="6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47171"/>
              </p:ext>
            </p:extLst>
          </p:nvPr>
        </p:nvGraphicFramePr>
        <p:xfrm>
          <a:off x="5334564" y="4918147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Imp.Inmob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.(R-)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$ 800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smtClean="0">
                          <a:effectLst/>
                        </a:rPr>
                        <a:t>Imp. Diferidos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$ 800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64" name="36 Elipse">
            <a:extLst>
              <a:ext uri="{FF2B5EF4-FFF2-40B4-BE49-F238E27FC236}">
                <a16:creationId xmlns:a16="http://schemas.microsoft.com/office/drawing/2014/main" xmlns="" id="{00000000-0008-0000-0200-000025000000}"/>
              </a:ext>
            </a:extLst>
          </p:cNvPr>
          <p:cNvSpPr/>
          <p:nvPr/>
        </p:nvSpPr>
        <p:spPr>
          <a:xfrm>
            <a:off x="3877453" y="5343457"/>
            <a:ext cx="288032" cy="31543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65" name="40 Conector recto de flecha">
            <a:extLst>
              <a:ext uri="{FF2B5EF4-FFF2-40B4-BE49-F238E27FC236}">
                <a16:creationId xmlns:a16="http://schemas.microsoft.com/office/drawing/2014/main" xmlns="" id="{00000000-0008-0000-0200-000029000000}"/>
              </a:ext>
            </a:extLst>
          </p:cNvPr>
          <p:cNvCxnSpPr>
            <a:stCxn id="68" idx="6"/>
            <a:endCxn id="64" idx="2"/>
          </p:cNvCxnSpPr>
          <p:nvPr/>
        </p:nvCxnSpPr>
        <p:spPr>
          <a:xfrm>
            <a:off x="1878690" y="5501176"/>
            <a:ext cx="199876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2300181" y="5006525"/>
            <a:ext cx="7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$ 8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00</a:t>
            </a:r>
            <a:endParaRPr lang="es-AR" dirty="0"/>
          </a:p>
        </p:txBody>
      </p:sp>
      <p:sp>
        <p:nvSpPr>
          <p:cNvPr id="6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684613" y="5692376"/>
            <a:ext cx="13830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Imp.Inmob</a:t>
            </a:r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s-AR" sz="1500" dirty="0"/>
          </a:p>
        </p:txBody>
      </p:sp>
      <p:sp>
        <p:nvSpPr>
          <p:cNvPr id="68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510539" y="4869160"/>
            <a:ext cx="1368151" cy="12640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Imp. Diferidos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63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74" grpId="0"/>
      <p:bldP spid="42" grpId="0" animBg="1"/>
      <p:bldP spid="45" grpId="0"/>
      <p:bldP spid="46" grpId="0"/>
      <p:bldP spid="50" grpId="0" animBg="1"/>
      <p:bldP spid="54" grpId="0" animBg="1"/>
      <p:bldP spid="59" grpId="0"/>
      <p:bldP spid="61" grpId="0" animBg="1"/>
      <p:bldP spid="62" grpId="0"/>
      <p:bldP spid="64" grpId="0" animBg="1"/>
      <p:bldP spid="66" grpId="0"/>
      <p:bldP spid="67" grpId="0"/>
      <p:bldP spid="68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3665</TotalTime>
  <Words>955</Words>
  <Application>Microsoft Office PowerPoint</Application>
  <PresentationFormat>Presentación en pantalla (4:3)</PresentationFormat>
  <Paragraphs>307</Paragraphs>
  <Slides>7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Tema de Office</vt:lpstr>
      <vt:lpstr>Equation.3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Leandro Solarz</dc:creator>
  <cp:lastModifiedBy>Leandro Solarz</cp:lastModifiedBy>
  <cp:revision>59</cp:revision>
  <dcterms:created xsi:type="dcterms:W3CDTF">2020-04-21T20:33:29Z</dcterms:created>
  <dcterms:modified xsi:type="dcterms:W3CDTF">2023-03-14T15:45:12Z</dcterms:modified>
</cp:coreProperties>
</file>