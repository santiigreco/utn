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5"/>
  </p:notesMasterIdLst>
  <p:sldIdLst>
    <p:sldId id="356" r:id="rId2"/>
    <p:sldId id="355" r:id="rId3"/>
    <p:sldId id="261" r:id="rId4"/>
    <p:sldId id="304" r:id="rId5"/>
    <p:sldId id="260" r:id="rId6"/>
    <p:sldId id="358" r:id="rId7"/>
    <p:sldId id="381" r:id="rId8"/>
    <p:sldId id="354" r:id="rId9"/>
    <p:sldId id="360" r:id="rId10"/>
    <p:sldId id="361" r:id="rId11"/>
    <p:sldId id="362" r:id="rId12"/>
    <p:sldId id="363" r:id="rId13"/>
    <p:sldId id="364" r:id="rId14"/>
    <p:sldId id="365" r:id="rId15"/>
    <p:sldId id="371" r:id="rId16"/>
    <p:sldId id="366" r:id="rId17"/>
    <p:sldId id="367" r:id="rId18"/>
    <p:sldId id="368" r:id="rId19"/>
    <p:sldId id="369" r:id="rId20"/>
    <p:sldId id="370" r:id="rId21"/>
    <p:sldId id="258" r:id="rId22"/>
    <p:sldId id="372" r:id="rId23"/>
    <p:sldId id="373" r:id="rId24"/>
    <p:sldId id="374" r:id="rId25"/>
    <p:sldId id="375" r:id="rId26"/>
    <p:sldId id="376" r:id="rId27"/>
    <p:sldId id="377" r:id="rId28"/>
    <p:sldId id="378" r:id="rId29"/>
    <p:sldId id="379" r:id="rId30"/>
    <p:sldId id="380" r:id="rId31"/>
    <p:sldId id="262" r:id="rId32"/>
    <p:sldId id="263" r:id="rId33"/>
    <p:sldId id="264"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stavo massucco" initials="gm" lastIdx="1" clrIdx="0">
    <p:extLst>
      <p:ext uri="{19B8F6BF-5375-455C-9EA6-DF929625EA0E}">
        <p15:presenceInfo xmlns:p15="http://schemas.microsoft.com/office/powerpoint/2012/main" userId="S::gmassucco@frba.utn.edu.ar::1271f782-c2a0-484f-8edc-abfea8ad4a0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434" autoAdjust="0"/>
    <p:restoredTop sz="94678" autoAdjust="0"/>
  </p:normalViewPr>
  <p:slideViewPr>
    <p:cSldViewPr snapToGrid="0">
      <p:cViewPr varScale="1">
        <p:scale>
          <a:sx n="56" d="100"/>
          <a:sy n="56" d="100"/>
        </p:scale>
        <p:origin x="48" y="5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FA441F-8982-4902-B1FE-08DF82218E62}" type="datetimeFigureOut">
              <a:rPr lang="es-AR" smtClean="0"/>
              <a:t>13/8/2023</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57D551-39DC-4B61-9B7A-D9ED28759857}" type="slidenum">
              <a:rPr lang="es-AR" smtClean="0"/>
              <a:t>‹Nº›</a:t>
            </a:fld>
            <a:endParaRPr lang="es-AR"/>
          </a:p>
        </p:txBody>
      </p:sp>
    </p:spTree>
    <p:extLst>
      <p:ext uri="{BB962C8B-B14F-4D97-AF65-F5344CB8AC3E}">
        <p14:creationId xmlns:p14="http://schemas.microsoft.com/office/powerpoint/2010/main" val="2440336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61ADDDEC-CEAE-4958-AF2E-A652973227D6}" type="datetime1">
              <a:rPr lang="en-US" smtClean="0"/>
              <a:t>8/13/2023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6C466B5-F1D3-4CBE-B5B5-01B599D3FAC5}" type="datetime1">
              <a:rPr lang="en-US" smtClean="0"/>
              <a:t>8/13/2023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64F4789-420A-46E0-AB53-49CBE2935B98}" type="datetime1">
              <a:rPr lang="en-US" smtClean="0"/>
              <a:t>8/13/2023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344F6BC-7072-4A02-BE22-7E83DC50EFDC}" type="datetime1">
              <a:rPr lang="en-US" smtClean="0"/>
              <a:t>8/13/2023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77A943D-2488-409C-B820-8258EF09B248}" type="datetime1">
              <a:rPr lang="en-US" smtClean="0"/>
              <a:t>8/13/2023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ED2CF09C-31FA-44C5-AE21-A50FDA215DD7}" type="datetime1">
              <a:rPr lang="en-US" smtClean="0"/>
              <a:t>8/13/2023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D8F211-FE31-49C8-B2E3-3047AE8F24D4}" type="datetime1">
              <a:rPr lang="en-US" smtClean="0"/>
              <a:t>8/13/2023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6F4A178-C823-4382-927E-8DCB4F492089}" type="datetime1">
              <a:rPr lang="en-US" smtClean="0"/>
              <a:t>8/13/2023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D251A94-9B78-4D71-91E6-CDBD7C98F74F}" type="datetime1">
              <a:rPr lang="en-US" smtClean="0"/>
              <a:t>8/13/2023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27527EC-E532-4095-A280-31F8C1DD719D}" type="datetime1">
              <a:rPr lang="en-US" smtClean="0"/>
              <a:t>8/13/2023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EC97BDFC-AF62-446D-8E4A-A9D1CC387A79}" type="datetime1">
              <a:rPr lang="en-US" smtClean="0"/>
              <a:t>8/13/2023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29197C3F-8E24-461F-8D73-3809773E44B4}" type="datetime1">
              <a:rPr lang="en-US" smtClean="0"/>
              <a:t>8/13/2023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5576EEFB-637E-4367-9839-D6758327E771}" type="datetime1">
              <a:rPr lang="en-US" smtClean="0"/>
              <a:t>8/13/2023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F1C1C82A-F915-4F81-93E7-D4BB6A0DDAD8}" type="datetime1">
              <a:rPr lang="en-US" smtClean="0"/>
              <a:t>8/13/2023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AF6C466-A9D9-41F6-B6C1-EC3971E7BC36}" type="datetime1">
              <a:rPr lang="en-US" smtClean="0"/>
              <a:t>8/13/2023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2D256F9-E7F5-4AFF-8BC8-E1B462B27233}" type="datetime1">
              <a:rPr lang="en-US" smtClean="0"/>
              <a:t>8/13/2023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CC3B5AB-643F-4A09-BBE6-61447B2CF303}" type="datetime1">
              <a:rPr lang="en-US" smtClean="0"/>
              <a:t>8/13/2023</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5">
            <a:extLst>
              <a:ext uri="{FF2B5EF4-FFF2-40B4-BE49-F238E27FC236}">
                <a16:creationId xmlns:a16="http://schemas.microsoft.com/office/drawing/2014/main" id="{F5642E8C-FD90-47FB-9533-A90C5141EDEF}"/>
              </a:ext>
            </a:extLst>
          </p:cNvPr>
          <p:cNvSpPr txBox="1">
            <a:spLocks noGrp="1" noChangeArrowheads="1"/>
          </p:cNvSpPr>
          <p:nvPr>
            <p:ph type="ctrTitle"/>
          </p:nvPr>
        </p:nvSpPr>
        <p:spPr bwMode="auto">
          <a:xfrm>
            <a:off x="2589213" y="1619547"/>
            <a:ext cx="89154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s-MX" altLang="es-AR" dirty="0">
                <a:effectLst>
                  <a:outerShdw blurRad="38100" dist="38100" dir="2700000" algn="tl">
                    <a:srgbClr val="C0C0C0"/>
                  </a:outerShdw>
                </a:effectLst>
                <a:latin typeface="Tahoma" pitchFamily="34" charset="0"/>
                <a:cs typeface="Arial" charset="0"/>
              </a:rPr>
              <a:t>COSTOS Y PRESUPUESTOS</a:t>
            </a:r>
          </a:p>
        </p:txBody>
      </p:sp>
      <p:sp>
        <p:nvSpPr>
          <p:cNvPr id="5" name="Text Box 26">
            <a:extLst>
              <a:ext uri="{FF2B5EF4-FFF2-40B4-BE49-F238E27FC236}">
                <a16:creationId xmlns:a16="http://schemas.microsoft.com/office/drawing/2014/main" id="{27735A57-3B03-42B6-BDFC-E5E8B31EF7BE}"/>
              </a:ext>
            </a:extLst>
          </p:cNvPr>
          <p:cNvSpPr txBox="1">
            <a:spLocks noGrp="1" noChangeArrowheads="1"/>
          </p:cNvSpPr>
          <p:nvPr>
            <p:ph type="subTitle" idx="1"/>
          </p:nvPr>
        </p:nvSpPr>
        <p:spPr bwMode="auto">
          <a:xfrm>
            <a:off x="2589213" y="4776788"/>
            <a:ext cx="89154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s-MX" altLang="es-AR" sz="4400" dirty="0">
                <a:effectLst>
                  <a:outerShdw blurRad="38100" dist="38100" dir="2700000" algn="tl">
                    <a:srgbClr val="C0C0C0"/>
                  </a:outerShdw>
                </a:effectLst>
                <a:latin typeface="Tahoma" pitchFamily="34" charset="0"/>
                <a:cs typeface="Arial" charset="0"/>
              </a:rPr>
              <a:t>SISTEMAS DE COSTEO</a:t>
            </a:r>
          </a:p>
        </p:txBody>
      </p:sp>
      <p:sp>
        <p:nvSpPr>
          <p:cNvPr id="6" name="CuadroTexto 5">
            <a:extLst>
              <a:ext uri="{FF2B5EF4-FFF2-40B4-BE49-F238E27FC236}">
                <a16:creationId xmlns:a16="http://schemas.microsoft.com/office/drawing/2014/main" id="{D9FA0E92-5CE1-472E-A758-7CE737D9664B}"/>
              </a:ext>
            </a:extLst>
          </p:cNvPr>
          <p:cNvSpPr txBox="1"/>
          <p:nvPr/>
        </p:nvSpPr>
        <p:spPr>
          <a:xfrm>
            <a:off x="3108035" y="3023361"/>
            <a:ext cx="8396578" cy="400110"/>
          </a:xfrm>
          <a:prstGeom prst="rect">
            <a:avLst/>
          </a:prstGeom>
          <a:noFill/>
        </p:spPr>
        <p:txBody>
          <a:bodyPr wrap="square" rtlCol="0">
            <a:spAutoFit/>
          </a:bodyPr>
          <a:lstStyle/>
          <a:p>
            <a:r>
              <a:rPr lang="es-AR" sz="2000" dirty="0"/>
              <a:t>Ingeniero Gustavo Massucco</a:t>
            </a:r>
          </a:p>
        </p:txBody>
      </p:sp>
      <p:sp>
        <p:nvSpPr>
          <p:cNvPr id="7" name="Marcador de número de diapositiva 6">
            <a:extLst>
              <a:ext uri="{FF2B5EF4-FFF2-40B4-BE49-F238E27FC236}">
                <a16:creationId xmlns:a16="http://schemas.microsoft.com/office/drawing/2014/main" id="{33674575-47D4-476C-8772-8197234BCF0D}"/>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3435892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5">
            <a:extLst>
              <a:ext uri="{FF2B5EF4-FFF2-40B4-BE49-F238E27FC236}">
                <a16:creationId xmlns:a16="http://schemas.microsoft.com/office/drawing/2014/main" id="{F5642E8C-FD90-47FB-9533-A90C5141EDEF}"/>
              </a:ext>
            </a:extLst>
          </p:cNvPr>
          <p:cNvSpPr txBox="1">
            <a:spLocks noGrp="1" noChangeArrowheads="1"/>
          </p:cNvSpPr>
          <p:nvPr>
            <p:ph type="ctrTitle"/>
          </p:nvPr>
        </p:nvSpPr>
        <p:spPr bwMode="auto">
          <a:xfrm>
            <a:off x="2589213" y="1619547"/>
            <a:ext cx="89154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s-MX" altLang="es-AR" dirty="0">
                <a:effectLst>
                  <a:outerShdw blurRad="38100" dist="38100" dir="2700000" algn="tl">
                    <a:srgbClr val="C0C0C0"/>
                  </a:outerShdw>
                </a:effectLst>
                <a:latin typeface="Tahoma" pitchFamily="34" charset="0"/>
                <a:cs typeface="Arial" charset="0"/>
              </a:rPr>
              <a:t>SISTEMAS DE COSTEO</a:t>
            </a:r>
          </a:p>
        </p:txBody>
      </p:sp>
      <p:sp>
        <p:nvSpPr>
          <p:cNvPr id="5" name="Text Box 26">
            <a:extLst>
              <a:ext uri="{FF2B5EF4-FFF2-40B4-BE49-F238E27FC236}">
                <a16:creationId xmlns:a16="http://schemas.microsoft.com/office/drawing/2014/main" id="{27735A57-3B03-42B6-BDFC-E5E8B31EF7BE}"/>
              </a:ext>
            </a:extLst>
          </p:cNvPr>
          <p:cNvSpPr txBox="1">
            <a:spLocks noGrp="1" noChangeArrowheads="1"/>
          </p:cNvSpPr>
          <p:nvPr>
            <p:ph type="subTitle" idx="1"/>
          </p:nvPr>
        </p:nvSpPr>
        <p:spPr bwMode="auto">
          <a:xfrm>
            <a:off x="2581141" y="4125224"/>
            <a:ext cx="89154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s-MX" altLang="es-AR" sz="4400" dirty="0">
                <a:effectLst>
                  <a:outerShdw blurRad="38100" dist="38100" dir="2700000" algn="tl">
                    <a:srgbClr val="C0C0C0"/>
                  </a:outerShdw>
                </a:effectLst>
                <a:latin typeface="Tahoma" pitchFamily="34" charset="0"/>
                <a:cs typeface="Arial" charset="0"/>
              </a:rPr>
              <a:t>Clasificación</a:t>
            </a:r>
          </a:p>
        </p:txBody>
      </p:sp>
      <p:sp>
        <p:nvSpPr>
          <p:cNvPr id="7" name="Marcador de número de diapositiva 6">
            <a:extLst>
              <a:ext uri="{FF2B5EF4-FFF2-40B4-BE49-F238E27FC236}">
                <a16:creationId xmlns:a16="http://schemas.microsoft.com/office/drawing/2014/main" id="{33674575-47D4-476C-8772-8197234BCF0D}"/>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3456877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Text Box 5">
            <a:extLst>
              <a:ext uri="{FF2B5EF4-FFF2-40B4-BE49-F238E27FC236}">
                <a16:creationId xmlns:a16="http://schemas.microsoft.com/office/drawing/2014/main" id="{B07BBF3A-9DE6-43F6-A4D9-04BB009091C2}"/>
              </a:ext>
            </a:extLst>
          </p:cNvPr>
          <p:cNvSpPr txBox="1">
            <a:spLocks noChangeArrowheads="1"/>
          </p:cNvSpPr>
          <p:nvPr/>
        </p:nvSpPr>
        <p:spPr bwMode="auto">
          <a:xfrm>
            <a:off x="1387476" y="257175"/>
            <a:ext cx="7516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latin typeface="+mj-lt"/>
                <a:cs typeface="Arial" charset="0"/>
              </a:rPr>
              <a:t>SISTEMAS</a:t>
            </a:r>
            <a:r>
              <a:rPr lang="es-MX" altLang="es-AR" sz="3600" b="1" dirty="0">
                <a:solidFill>
                  <a:schemeClr val="tx1">
                    <a:lumMod val="85000"/>
                    <a:lumOff val="15000"/>
                  </a:schemeClr>
                </a:solidFill>
                <a:latin typeface="+mj-lt"/>
                <a:cs typeface="Arial" charset="0"/>
              </a:rPr>
              <a:t> DE COSTEO</a:t>
            </a:r>
          </a:p>
        </p:txBody>
      </p:sp>
      <p:sp>
        <p:nvSpPr>
          <p:cNvPr id="8199" name="Rectangle 7">
            <a:extLst>
              <a:ext uri="{FF2B5EF4-FFF2-40B4-BE49-F238E27FC236}">
                <a16:creationId xmlns:a16="http://schemas.microsoft.com/office/drawing/2014/main" id="{9DBF1203-1D9D-4EA6-BF86-FF735D0FF252}"/>
              </a:ext>
            </a:extLst>
          </p:cNvPr>
          <p:cNvSpPr>
            <a:spLocks noChangeArrowheads="1"/>
          </p:cNvSpPr>
          <p:nvPr/>
        </p:nvSpPr>
        <p:spPr bwMode="auto">
          <a:xfrm>
            <a:off x="1143000" y="1341437"/>
            <a:ext cx="9906000" cy="93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r>
              <a:rPr lang="es-AR" altLang="es-AR" sz="2000" dirty="0">
                <a:latin typeface="+mj-lt"/>
              </a:rPr>
              <a:t>Se denomina </a:t>
            </a:r>
            <a:r>
              <a:rPr lang="es-AR" altLang="es-AR" sz="2000" b="1" dirty="0">
                <a:solidFill>
                  <a:schemeClr val="tx1">
                    <a:lumMod val="85000"/>
                    <a:lumOff val="15000"/>
                  </a:schemeClr>
                </a:solidFill>
                <a:latin typeface="+mj-lt"/>
              </a:rPr>
              <a:t>Sistema de Costeo </a:t>
            </a:r>
            <a:r>
              <a:rPr lang="es-AR" altLang="es-AR" sz="2000" dirty="0">
                <a:latin typeface="+mj-lt"/>
              </a:rPr>
              <a:t>al “registro ordenado de los valores del costo a medida que se van produciendo”</a:t>
            </a:r>
            <a:endParaRPr lang="es-ES" altLang="es-AR" sz="2000" dirty="0">
              <a:latin typeface="+mj-lt"/>
            </a:endParaRPr>
          </a:p>
        </p:txBody>
      </p:sp>
      <p:sp>
        <p:nvSpPr>
          <p:cNvPr id="8200" name="Rectangle 8">
            <a:extLst>
              <a:ext uri="{FF2B5EF4-FFF2-40B4-BE49-F238E27FC236}">
                <a16:creationId xmlns:a16="http://schemas.microsoft.com/office/drawing/2014/main" id="{1964B4BE-3F24-40A6-AE7B-382AF276AC33}"/>
              </a:ext>
            </a:extLst>
          </p:cNvPr>
          <p:cNvSpPr>
            <a:spLocks noChangeArrowheads="1"/>
          </p:cNvSpPr>
          <p:nvPr/>
        </p:nvSpPr>
        <p:spPr bwMode="auto">
          <a:xfrm>
            <a:off x="1127125" y="2492375"/>
            <a:ext cx="9906000" cy="187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latin typeface="+mj-lt"/>
              </a:rPr>
              <a:t>El objetivo es determinar el costo de la mercadería vendida y la valuación del inventario y mantener el control para la corrección de los desvíos</a:t>
            </a:r>
            <a:endParaRPr lang="es-ES" altLang="es-AR" sz="2000" dirty="0">
              <a:latin typeface="+mj-lt"/>
            </a:endParaRPr>
          </a:p>
        </p:txBody>
      </p:sp>
      <p:sp>
        <p:nvSpPr>
          <p:cNvPr id="8201" name="Rectangle 9">
            <a:extLst>
              <a:ext uri="{FF2B5EF4-FFF2-40B4-BE49-F238E27FC236}">
                <a16:creationId xmlns:a16="http://schemas.microsoft.com/office/drawing/2014/main" id="{EE84D9CB-0804-4338-8F3D-B07E8545296C}"/>
              </a:ext>
            </a:extLst>
          </p:cNvPr>
          <p:cNvSpPr>
            <a:spLocks noChangeArrowheads="1"/>
          </p:cNvSpPr>
          <p:nvPr/>
        </p:nvSpPr>
        <p:spPr bwMode="auto">
          <a:xfrm>
            <a:off x="1143000" y="3769468"/>
            <a:ext cx="9906000" cy="810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latin typeface="+mj-lt"/>
              </a:rPr>
              <a:t>Permite a la Dirección, actuando por excepción, mantener los costos dentro de los presupuestos establecidos.</a:t>
            </a:r>
            <a:endParaRPr lang="es-ES" altLang="es-AR" sz="2000" dirty="0">
              <a:latin typeface="+mj-lt"/>
            </a:endParaRPr>
          </a:p>
        </p:txBody>
      </p:sp>
      <p:sp>
        <p:nvSpPr>
          <p:cNvPr id="2" name="Marcador de número de diapositiva 1">
            <a:extLst>
              <a:ext uri="{FF2B5EF4-FFF2-40B4-BE49-F238E27FC236}">
                <a16:creationId xmlns:a16="http://schemas.microsoft.com/office/drawing/2014/main" id="{2ACAACF1-F24D-417C-B894-9FBE3EABDDA3}"/>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Rectangle 9">
            <a:extLst>
              <a:ext uri="{FF2B5EF4-FFF2-40B4-BE49-F238E27FC236}">
                <a16:creationId xmlns:a16="http://schemas.microsoft.com/office/drawing/2014/main" id="{8BAD75AA-2C39-4D46-9657-D193D7C867AC}"/>
              </a:ext>
            </a:extLst>
          </p:cNvPr>
          <p:cNvSpPr>
            <a:spLocks noChangeArrowheads="1"/>
          </p:cNvSpPr>
          <p:nvPr/>
        </p:nvSpPr>
        <p:spPr bwMode="auto">
          <a:xfrm>
            <a:off x="1160800" y="4893036"/>
            <a:ext cx="9906000" cy="810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latin typeface="+mj-lt"/>
              </a:rPr>
              <a:t>Para esto se fijan estándares que son comparados con lo que ocurre realmente en producción</a:t>
            </a:r>
            <a:endParaRPr lang="es-ES" altLang="es-AR" sz="2000"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0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20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9" grpId="0"/>
      <p:bldP spid="8200" grpId="0"/>
      <p:bldP spid="8201"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Text Box 4">
            <a:extLst>
              <a:ext uri="{FF2B5EF4-FFF2-40B4-BE49-F238E27FC236}">
                <a16:creationId xmlns:a16="http://schemas.microsoft.com/office/drawing/2014/main" id="{1DFE23D4-0060-4D59-9153-DD628C1FAF53}"/>
              </a:ext>
            </a:extLst>
          </p:cNvPr>
          <p:cNvSpPr txBox="1">
            <a:spLocks noChangeArrowheads="1"/>
          </p:cNvSpPr>
          <p:nvPr/>
        </p:nvSpPr>
        <p:spPr bwMode="auto">
          <a:xfrm>
            <a:off x="1200150" y="188913"/>
            <a:ext cx="94186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latin typeface="+mj-lt"/>
              </a:rPr>
              <a:t>CIRCUITO DE CONTROL</a:t>
            </a:r>
          </a:p>
        </p:txBody>
      </p:sp>
      <p:grpSp>
        <p:nvGrpSpPr>
          <p:cNvPr id="46083" name="Group 5">
            <a:extLst>
              <a:ext uri="{FF2B5EF4-FFF2-40B4-BE49-F238E27FC236}">
                <a16:creationId xmlns:a16="http://schemas.microsoft.com/office/drawing/2014/main" id="{5E633C61-F38F-45EF-9EF5-BF1AB6AB9F20}"/>
              </a:ext>
            </a:extLst>
          </p:cNvPr>
          <p:cNvGrpSpPr>
            <a:grpSpLocks noChangeAspect="1"/>
          </p:cNvGrpSpPr>
          <p:nvPr/>
        </p:nvGrpSpPr>
        <p:grpSpPr bwMode="auto">
          <a:xfrm>
            <a:off x="1847851" y="1204975"/>
            <a:ext cx="8569325" cy="4895850"/>
            <a:chOff x="1701" y="1703"/>
            <a:chExt cx="8460" cy="6120"/>
          </a:xfrm>
        </p:grpSpPr>
        <p:sp>
          <p:nvSpPr>
            <p:cNvPr id="46086" name="AutoShape 6">
              <a:extLst>
                <a:ext uri="{FF2B5EF4-FFF2-40B4-BE49-F238E27FC236}">
                  <a16:creationId xmlns:a16="http://schemas.microsoft.com/office/drawing/2014/main" id="{67957BF4-B8B9-40C3-AAB8-AE7CA9DFDAEF}"/>
                </a:ext>
              </a:extLst>
            </p:cNvPr>
            <p:cNvSpPr>
              <a:spLocks noChangeAspect="1" noChangeArrowheads="1"/>
            </p:cNvSpPr>
            <p:nvPr/>
          </p:nvSpPr>
          <p:spPr bwMode="auto">
            <a:xfrm>
              <a:off x="1701" y="1703"/>
              <a:ext cx="8460" cy="6120"/>
            </a:xfrm>
            <a:prstGeom prst="rect">
              <a:avLst/>
            </a:prstGeom>
            <a:solidFill>
              <a:srgbClr val="CCFFFF"/>
            </a:solid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46087" name="AutoShape 7">
              <a:extLst>
                <a:ext uri="{FF2B5EF4-FFF2-40B4-BE49-F238E27FC236}">
                  <a16:creationId xmlns:a16="http://schemas.microsoft.com/office/drawing/2014/main" id="{310DDB09-6CA3-4BEE-BB72-03558478B0D9}"/>
                </a:ext>
              </a:extLst>
            </p:cNvPr>
            <p:cNvSpPr>
              <a:spLocks noChangeArrowheads="1"/>
            </p:cNvSpPr>
            <p:nvPr/>
          </p:nvSpPr>
          <p:spPr bwMode="auto">
            <a:xfrm>
              <a:off x="4581" y="2953"/>
              <a:ext cx="1440" cy="720"/>
            </a:xfrm>
            <a:prstGeom prst="flowChartProcess">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_tradnl" altLang="es-AR" sz="1700" b="1" dirty="0">
                  <a:latin typeface="+mj-lt"/>
                </a:rPr>
                <a:t>Estándar (Patrón)</a:t>
              </a:r>
              <a:endParaRPr lang="es-ES" altLang="es-AR" sz="1700" dirty="0">
                <a:latin typeface="+mj-lt"/>
              </a:endParaRPr>
            </a:p>
          </p:txBody>
        </p:sp>
        <p:sp>
          <p:nvSpPr>
            <p:cNvPr id="46088" name="AutoShape 8">
              <a:extLst>
                <a:ext uri="{FF2B5EF4-FFF2-40B4-BE49-F238E27FC236}">
                  <a16:creationId xmlns:a16="http://schemas.microsoft.com/office/drawing/2014/main" id="{162C116B-891E-47EB-A863-E4110CDA9A51}"/>
                </a:ext>
              </a:extLst>
            </p:cNvPr>
            <p:cNvSpPr>
              <a:spLocks noChangeArrowheads="1"/>
            </p:cNvSpPr>
            <p:nvPr/>
          </p:nvSpPr>
          <p:spPr bwMode="auto">
            <a:xfrm>
              <a:off x="2241" y="4393"/>
              <a:ext cx="1440" cy="1080"/>
            </a:xfrm>
            <a:prstGeom prst="flowChartProcess">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_tradnl" altLang="es-AR" sz="1700" b="1" dirty="0">
                  <a:latin typeface="+mj-lt"/>
                </a:rPr>
                <a:t>Empresa </a:t>
              </a:r>
            </a:p>
            <a:p>
              <a:pPr algn="ctr" eaLnBrk="1" hangingPunct="1"/>
              <a:r>
                <a:rPr lang="es-ES_tradnl" altLang="es-AR" sz="1700" b="1" dirty="0">
                  <a:latin typeface="+mj-lt"/>
                </a:rPr>
                <a:t>o </a:t>
              </a:r>
            </a:p>
            <a:p>
              <a:pPr algn="ctr" eaLnBrk="1" hangingPunct="1"/>
              <a:r>
                <a:rPr lang="es-ES_tradnl" altLang="es-AR" sz="1700" b="1" dirty="0">
                  <a:latin typeface="+mj-lt"/>
                </a:rPr>
                <a:t>Sección</a:t>
              </a:r>
              <a:endParaRPr lang="es-ES" altLang="es-AR" sz="1700" dirty="0">
                <a:latin typeface="+mj-lt"/>
              </a:endParaRPr>
            </a:p>
          </p:txBody>
        </p:sp>
        <p:sp>
          <p:nvSpPr>
            <p:cNvPr id="46089" name="AutoShape 9">
              <a:extLst>
                <a:ext uri="{FF2B5EF4-FFF2-40B4-BE49-F238E27FC236}">
                  <a16:creationId xmlns:a16="http://schemas.microsoft.com/office/drawing/2014/main" id="{DABBE67E-1F77-42E5-A046-605FD4D1EAE8}"/>
                </a:ext>
              </a:extLst>
            </p:cNvPr>
            <p:cNvSpPr>
              <a:spLocks noChangeArrowheads="1"/>
            </p:cNvSpPr>
            <p:nvPr/>
          </p:nvSpPr>
          <p:spPr bwMode="auto">
            <a:xfrm>
              <a:off x="4401" y="4393"/>
              <a:ext cx="1440" cy="1080"/>
            </a:xfrm>
            <a:prstGeom prst="flowChartProcess">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_tradnl" altLang="es-AR" sz="1700" b="1" dirty="0">
                  <a:latin typeface="+mj-lt"/>
                </a:rPr>
                <a:t>Informe de operación</a:t>
              </a:r>
              <a:endParaRPr lang="es-ES" altLang="es-AR" sz="1700" dirty="0">
                <a:latin typeface="+mj-lt"/>
              </a:endParaRPr>
            </a:p>
          </p:txBody>
        </p:sp>
        <p:sp>
          <p:nvSpPr>
            <p:cNvPr id="46090" name="AutoShape 10">
              <a:extLst>
                <a:ext uri="{FF2B5EF4-FFF2-40B4-BE49-F238E27FC236}">
                  <a16:creationId xmlns:a16="http://schemas.microsoft.com/office/drawing/2014/main" id="{39D5E775-FAB1-43E5-A746-7D9F92DC390E}"/>
                </a:ext>
              </a:extLst>
            </p:cNvPr>
            <p:cNvSpPr>
              <a:spLocks noChangeArrowheads="1"/>
            </p:cNvSpPr>
            <p:nvPr/>
          </p:nvSpPr>
          <p:spPr bwMode="auto">
            <a:xfrm>
              <a:off x="6561" y="4393"/>
              <a:ext cx="3337" cy="1440"/>
            </a:xfrm>
            <a:prstGeom prst="flowChartDecision">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_tradnl" altLang="es-AR" sz="1700" b="1" dirty="0">
                  <a:latin typeface="+mj-lt"/>
                </a:rPr>
                <a:t>Comparación (Control)</a:t>
              </a:r>
              <a:endParaRPr lang="es-ES" altLang="es-AR" sz="1700" dirty="0">
                <a:latin typeface="+mj-lt"/>
              </a:endParaRPr>
            </a:p>
          </p:txBody>
        </p:sp>
        <p:sp>
          <p:nvSpPr>
            <p:cNvPr id="46091" name="AutoShape 11">
              <a:extLst>
                <a:ext uri="{FF2B5EF4-FFF2-40B4-BE49-F238E27FC236}">
                  <a16:creationId xmlns:a16="http://schemas.microsoft.com/office/drawing/2014/main" id="{D102BC65-A906-4829-9E24-521CC81B103A}"/>
                </a:ext>
              </a:extLst>
            </p:cNvPr>
            <p:cNvSpPr>
              <a:spLocks noChangeArrowheads="1"/>
            </p:cNvSpPr>
            <p:nvPr/>
          </p:nvSpPr>
          <p:spPr bwMode="auto">
            <a:xfrm>
              <a:off x="7281" y="6373"/>
              <a:ext cx="1800" cy="1080"/>
            </a:xfrm>
            <a:prstGeom prst="flowChartProcess">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_tradnl" altLang="es-AR" sz="1700" b="1" dirty="0">
                  <a:latin typeface="+mj-lt"/>
                </a:rPr>
                <a:t>Informe sobre Variaciones</a:t>
              </a:r>
              <a:endParaRPr lang="es-ES" altLang="es-AR" sz="1700" dirty="0">
                <a:latin typeface="+mj-lt"/>
              </a:endParaRPr>
            </a:p>
          </p:txBody>
        </p:sp>
        <p:sp>
          <p:nvSpPr>
            <p:cNvPr id="46092" name="AutoShape 12">
              <a:extLst>
                <a:ext uri="{FF2B5EF4-FFF2-40B4-BE49-F238E27FC236}">
                  <a16:creationId xmlns:a16="http://schemas.microsoft.com/office/drawing/2014/main" id="{5050804D-9B3E-4F1F-AB19-69A2149EE491}"/>
                </a:ext>
              </a:extLst>
            </p:cNvPr>
            <p:cNvSpPr>
              <a:spLocks noChangeArrowheads="1"/>
            </p:cNvSpPr>
            <p:nvPr/>
          </p:nvSpPr>
          <p:spPr bwMode="auto">
            <a:xfrm>
              <a:off x="4401" y="6373"/>
              <a:ext cx="1440" cy="1080"/>
            </a:xfrm>
            <a:prstGeom prst="flowChartProcess">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_tradnl" altLang="es-AR" sz="1600" b="1" dirty="0">
                  <a:latin typeface="+mj-lt"/>
                </a:rPr>
                <a:t>Decisión para la corrección</a:t>
              </a:r>
              <a:endParaRPr lang="es-ES" altLang="es-AR" sz="1600" dirty="0">
                <a:latin typeface="+mj-lt"/>
              </a:endParaRPr>
            </a:p>
          </p:txBody>
        </p:sp>
        <p:sp>
          <p:nvSpPr>
            <p:cNvPr id="46093" name="Line 13">
              <a:extLst>
                <a:ext uri="{FF2B5EF4-FFF2-40B4-BE49-F238E27FC236}">
                  <a16:creationId xmlns:a16="http://schemas.microsoft.com/office/drawing/2014/main" id="{2553BC70-8EDD-442D-9BAD-A2BE2FB2F0A0}"/>
                </a:ext>
              </a:extLst>
            </p:cNvPr>
            <p:cNvSpPr>
              <a:spLocks noChangeShapeType="1"/>
            </p:cNvSpPr>
            <p:nvPr/>
          </p:nvSpPr>
          <p:spPr bwMode="auto">
            <a:xfrm>
              <a:off x="3681" y="5113"/>
              <a:ext cx="720" cy="1"/>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46094" name="Line 14">
              <a:extLst>
                <a:ext uri="{FF2B5EF4-FFF2-40B4-BE49-F238E27FC236}">
                  <a16:creationId xmlns:a16="http://schemas.microsoft.com/office/drawing/2014/main" id="{37A7B5A5-A4C5-48A0-9B1E-448EEBBCA6FD}"/>
                </a:ext>
              </a:extLst>
            </p:cNvPr>
            <p:cNvSpPr>
              <a:spLocks noChangeShapeType="1"/>
            </p:cNvSpPr>
            <p:nvPr/>
          </p:nvSpPr>
          <p:spPr bwMode="auto">
            <a:xfrm>
              <a:off x="5841" y="5113"/>
              <a:ext cx="720" cy="1"/>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46095" name="Line 15">
              <a:extLst>
                <a:ext uri="{FF2B5EF4-FFF2-40B4-BE49-F238E27FC236}">
                  <a16:creationId xmlns:a16="http://schemas.microsoft.com/office/drawing/2014/main" id="{3B691E3B-937B-4E22-BF16-9A36A4786A90}"/>
                </a:ext>
              </a:extLst>
            </p:cNvPr>
            <p:cNvSpPr>
              <a:spLocks noChangeShapeType="1"/>
            </p:cNvSpPr>
            <p:nvPr/>
          </p:nvSpPr>
          <p:spPr bwMode="auto">
            <a:xfrm>
              <a:off x="8229" y="5833"/>
              <a:ext cx="1" cy="54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46096" name="Line 16">
              <a:extLst>
                <a:ext uri="{FF2B5EF4-FFF2-40B4-BE49-F238E27FC236}">
                  <a16:creationId xmlns:a16="http://schemas.microsoft.com/office/drawing/2014/main" id="{B52CDD20-D6EC-4719-9114-EE1847B3367B}"/>
                </a:ext>
              </a:extLst>
            </p:cNvPr>
            <p:cNvSpPr>
              <a:spLocks noChangeShapeType="1"/>
            </p:cNvSpPr>
            <p:nvPr/>
          </p:nvSpPr>
          <p:spPr bwMode="auto">
            <a:xfrm flipH="1">
              <a:off x="5841" y="6913"/>
              <a:ext cx="144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46097" name="Line 17">
              <a:extLst>
                <a:ext uri="{FF2B5EF4-FFF2-40B4-BE49-F238E27FC236}">
                  <a16:creationId xmlns:a16="http://schemas.microsoft.com/office/drawing/2014/main" id="{E22E21E2-EDCE-4CE8-B9B3-11A14577FBE1}"/>
                </a:ext>
              </a:extLst>
            </p:cNvPr>
            <p:cNvSpPr>
              <a:spLocks noChangeShapeType="1"/>
            </p:cNvSpPr>
            <p:nvPr/>
          </p:nvSpPr>
          <p:spPr bwMode="auto">
            <a:xfrm flipH="1">
              <a:off x="1881" y="6913"/>
              <a:ext cx="252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46098" name="Line 18">
              <a:extLst>
                <a:ext uri="{FF2B5EF4-FFF2-40B4-BE49-F238E27FC236}">
                  <a16:creationId xmlns:a16="http://schemas.microsoft.com/office/drawing/2014/main" id="{4A5360DD-E6DC-48AF-A62D-FC66CE7A273B}"/>
                </a:ext>
              </a:extLst>
            </p:cNvPr>
            <p:cNvSpPr>
              <a:spLocks noChangeShapeType="1"/>
            </p:cNvSpPr>
            <p:nvPr/>
          </p:nvSpPr>
          <p:spPr bwMode="auto">
            <a:xfrm flipV="1">
              <a:off x="1881" y="3313"/>
              <a:ext cx="1" cy="180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s-AR"/>
            </a:p>
          </p:txBody>
        </p:sp>
        <p:sp>
          <p:nvSpPr>
            <p:cNvPr id="46099" name="Line 19">
              <a:extLst>
                <a:ext uri="{FF2B5EF4-FFF2-40B4-BE49-F238E27FC236}">
                  <a16:creationId xmlns:a16="http://schemas.microsoft.com/office/drawing/2014/main" id="{EEC9247E-F6F4-43F6-AF5F-238072D21323}"/>
                </a:ext>
              </a:extLst>
            </p:cNvPr>
            <p:cNvSpPr>
              <a:spLocks noChangeShapeType="1"/>
            </p:cNvSpPr>
            <p:nvPr/>
          </p:nvSpPr>
          <p:spPr bwMode="auto">
            <a:xfrm>
              <a:off x="1881" y="3313"/>
              <a:ext cx="2700" cy="0"/>
            </a:xfrm>
            <a:prstGeom prst="line">
              <a:avLst/>
            </a:prstGeom>
            <a:noFill/>
            <a:ln w="25400">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46100" name="Line 20">
              <a:extLst>
                <a:ext uri="{FF2B5EF4-FFF2-40B4-BE49-F238E27FC236}">
                  <a16:creationId xmlns:a16="http://schemas.microsoft.com/office/drawing/2014/main" id="{923FD895-0104-4CD5-B221-7D7A8B3D71A0}"/>
                </a:ext>
              </a:extLst>
            </p:cNvPr>
            <p:cNvSpPr>
              <a:spLocks noChangeShapeType="1"/>
            </p:cNvSpPr>
            <p:nvPr/>
          </p:nvSpPr>
          <p:spPr bwMode="auto">
            <a:xfrm flipV="1">
              <a:off x="1881" y="5113"/>
              <a:ext cx="0" cy="180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46101" name="Line 21">
              <a:extLst>
                <a:ext uri="{FF2B5EF4-FFF2-40B4-BE49-F238E27FC236}">
                  <a16:creationId xmlns:a16="http://schemas.microsoft.com/office/drawing/2014/main" id="{F828C3D6-68E8-452F-92D3-898EDCE08AF3}"/>
                </a:ext>
              </a:extLst>
            </p:cNvPr>
            <p:cNvSpPr>
              <a:spLocks noChangeShapeType="1"/>
            </p:cNvSpPr>
            <p:nvPr/>
          </p:nvSpPr>
          <p:spPr bwMode="auto">
            <a:xfrm>
              <a:off x="1881" y="5113"/>
              <a:ext cx="36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46102" name="Line 22">
              <a:extLst>
                <a:ext uri="{FF2B5EF4-FFF2-40B4-BE49-F238E27FC236}">
                  <a16:creationId xmlns:a16="http://schemas.microsoft.com/office/drawing/2014/main" id="{3C3A5C2E-A4CA-485A-AA41-801C8FE49D34}"/>
                </a:ext>
              </a:extLst>
            </p:cNvPr>
            <p:cNvSpPr>
              <a:spLocks noChangeShapeType="1"/>
            </p:cNvSpPr>
            <p:nvPr/>
          </p:nvSpPr>
          <p:spPr bwMode="auto">
            <a:xfrm flipV="1">
              <a:off x="6030" y="3320"/>
              <a:ext cx="2205" cy="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46103" name="Line 23">
              <a:extLst>
                <a:ext uri="{FF2B5EF4-FFF2-40B4-BE49-F238E27FC236}">
                  <a16:creationId xmlns:a16="http://schemas.microsoft.com/office/drawing/2014/main" id="{1CC81768-E14D-4724-9D83-22AFA5814FFF}"/>
                </a:ext>
              </a:extLst>
            </p:cNvPr>
            <p:cNvSpPr>
              <a:spLocks noChangeShapeType="1"/>
            </p:cNvSpPr>
            <p:nvPr/>
          </p:nvSpPr>
          <p:spPr bwMode="auto">
            <a:xfrm>
              <a:off x="8229" y="3313"/>
              <a:ext cx="1" cy="108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grpSp>
      <p:sp>
        <p:nvSpPr>
          <p:cNvPr id="46084" name="Text Box 24">
            <a:extLst>
              <a:ext uri="{FF2B5EF4-FFF2-40B4-BE49-F238E27FC236}">
                <a16:creationId xmlns:a16="http://schemas.microsoft.com/office/drawing/2014/main" id="{43618188-872B-4B87-AA1C-439834AD808E}"/>
              </a:ext>
            </a:extLst>
          </p:cNvPr>
          <p:cNvSpPr txBox="1">
            <a:spLocks noChangeArrowheads="1"/>
          </p:cNvSpPr>
          <p:nvPr/>
        </p:nvSpPr>
        <p:spPr bwMode="auto">
          <a:xfrm>
            <a:off x="2336801" y="4519614"/>
            <a:ext cx="1800225" cy="877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700" b="1" dirty="0">
                <a:latin typeface="+mj-lt"/>
              </a:rPr>
              <a:t>Control Retroalimentado (</a:t>
            </a:r>
            <a:r>
              <a:rPr lang="es-AR" altLang="es-AR" sz="1700" b="1" dirty="0" err="1">
                <a:latin typeface="+mj-lt"/>
              </a:rPr>
              <a:t>Feed</a:t>
            </a:r>
            <a:r>
              <a:rPr lang="es-AR" altLang="es-AR" sz="1700" b="1" dirty="0">
                <a:latin typeface="+mj-lt"/>
              </a:rPr>
              <a:t> back)</a:t>
            </a:r>
            <a:endParaRPr lang="es-ES" altLang="es-AR" sz="1700" b="1" dirty="0">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Text Box 5">
            <a:extLst>
              <a:ext uri="{FF2B5EF4-FFF2-40B4-BE49-F238E27FC236}">
                <a16:creationId xmlns:a16="http://schemas.microsoft.com/office/drawing/2014/main" id="{A032F0E3-5600-443F-B99D-8CBFACF7D2B4}"/>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PRINCIPALES SISTEMAS DE COSTEO</a:t>
            </a:r>
          </a:p>
        </p:txBody>
      </p:sp>
      <p:sp>
        <p:nvSpPr>
          <p:cNvPr id="7175" name="Rectangle 7">
            <a:extLst>
              <a:ext uri="{FF2B5EF4-FFF2-40B4-BE49-F238E27FC236}">
                <a16:creationId xmlns:a16="http://schemas.microsoft.com/office/drawing/2014/main" id="{C88FFE47-04D6-4F57-A1E4-354D83C0C470}"/>
              </a:ext>
            </a:extLst>
          </p:cNvPr>
          <p:cNvSpPr>
            <a:spLocks noChangeArrowheads="1"/>
          </p:cNvSpPr>
          <p:nvPr/>
        </p:nvSpPr>
        <p:spPr bwMode="auto">
          <a:xfrm>
            <a:off x="1216025" y="3140869"/>
            <a:ext cx="200025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eaLnBrk="1" hangingPunct="1">
              <a:defRPr/>
            </a:pPr>
            <a:r>
              <a:rPr lang="es-AR" altLang="es-AR" sz="2000" b="1" dirty="0">
                <a:latin typeface="+mj-lt"/>
              </a:rPr>
              <a:t>Sistemas de Costeo</a:t>
            </a:r>
            <a:endParaRPr lang="es-ES" altLang="es-AR" sz="2000" b="1" dirty="0">
              <a:latin typeface="+mj-lt"/>
            </a:endParaRPr>
          </a:p>
        </p:txBody>
      </p:sp>
      <p:sp>
        <p:nvSpPr>
          <p:cNvPr id="7176" name="Rectangle 8">
            <a:extLst>
              <a:ext uri="{FF2B5EF4-FFF2-40B4-BE49-F238E27FC236}">
                <a16:creationId xmlns:a16="http://schemas.microsoft.com/office/drawing/2014/main" id="{62D72D04-326A-4D15-9207-44A0DFA4BD61}"/>
              </a:ext>
            </a:extLst>
          </p:cNvPr>
          <p:cNvSpPr>
            <a:spLocks noChangeArrowheads="1"/>
          </p:cNvSpPr>
          <p:nvPr/>
        </p:nvSpPr>
        <p:spPr bwMode="auto">
          <a:xfrm>
            <a:off x="3216276" y="1845469"/>
            <a:ext cx="1326541"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latin typeface="+mj-lt"/>
              </a:rPr>
              <a:t>Costos</a:t>
            </a:r>
          </a:p>
          <a:p>
            <a:pPr algn="l" eaLnBrk="1" hangingPunct="1">
              <a:defRPr/>
            </a:pPr>
            <a:r>
              <a:rPr lang="es-AR" altLang="es-AR" sz="2000" dirty="0">
                <a:latin typeface="+mj-lt"/>
              </a:rPr>
              <a:t>Históricos</a:t>
            </a:r>
            <a:endParaRPr lang="es-ES" altLang="es-AR" sz="2000" dirty="0">
              <a:latin typeface="+mj-lt"/>
            </a:endParaRPr>
          </a:p>
        </p:txBody>
      </p:sp>
      <p:sp>
        <p:nvSpPr>
          <p:cNvPr id="7177" name="Rectangle 9">
            <a:extLst>
              <a:ext uri="{FF2B5EF4-FFF2-40B4-BE49-F238E27FC236}">
                <a16:creationId xmlns:a16="http://schemas.microsoft.com/office/drawing/2014/main" id="{48A3CFC2-EBC6-49B3-BCB5-B299D5A88F26}"/>
              </a:ext>
            </a:extLst>
          </p:cNvPr>
          <p:cNvSpPr>
            <a:spLocks noChangeArrowheads="1"/>
          </p:cNvSpPr>
          <p:nvPr/>
        </p:nvSpPr>
        <p:spPr bwMode="auto">
          <a:xfrm>
            <a:off x="4872039" y="1555750"/>
            <a:ext cx="5196089"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latin typeface="+mj-lt"/>
              </a:rPr>
              <a:t>Costeo Integral o por Absorción</a:t>
            </a:r>
            <a:endParaRPr lang="es-ES" altLang="es-AR" sz="2000" dirty="0">
              <a:latin typeface="+mj-lt"/>
            </a:endParaRPr>
          </a:p>
        </p:txBody>
      </p:sp>
      <p:sp>
        <p:nvSpPr>
          <p:cNvPr id="7178" name="Rectangle 10">
            <a:extLst>
              <a:ext uri="{FF2B5EF4-FFF2-40B4-BE49-F238E27FC236}">
                <a16:creationId xmlns:a16="http://schemas.microsoft.com/office/drawing/2014/main" id="{E9EF6C70-9D57-4E99-A57E-581AAE550BF1}"/>
              </a:ext>
            </a:extLst>
          </p:cNvPr>
          <p:cNvSpPr>
            <a:spLocks noChangeArrowheads="1"/>
          </p:cNvSpPr>
          <p:nvPr/>
        </p:nvSpPr>
        <p:spPr bwMode="auto">
          <a:xfrm>
            <a:off x="9340922" y="1141709"/>
            <a:ext cx="2195748"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latin typeface="+mj-lt"/>
              </a:rPr>
              <a:t>Por órdenes</a:t>
            </a:r>
            <a:endParaRPr lang="es-ES" altLang="es-AR" sz="2000" dirty="0">
              <a:latin typeface="+mj-lt"/>
            </a:endParaRPr>
          </a:p>
        </p:txBody>
      </p:sp>
      <p:sp>
        <p:nvSpPr>
          <p:cNvPr id="7179" name="Rectangle 11">
            <a:extLst>
              <a:ext uri="{FF2B5EF4-FFF2-40B4-BE49-F238E27FC236}">
                <a16:creationId xmlns:a16="http://schemas.microsoft.com/office/drawing/2014/main" id="{56A4D9EA-7A7A-4323-AFF9-8F6AD6B08709}"/>
              </a:ext>
            </a:extLst>
          </p:cNvPr>
          <p:cNvSpPr>
            <a:spLocks noChangeArrowheads="1"/>
          </p:cNvSpPr>
          <p:nvPr/>
        </p:nvSpPr>
        <p:spPr bwMode="auto">
          <a:xfrm>
            <a:off x="9356797" y="1933871"/>
            <a:ext cx="185886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latin typeface="+mj-lt"/>
              </a:rPr>
              <a:t>Por proceso</a:t>
            </a:r>
            <a:endParaRPr lang="es-ES" altLang="es-AR" sz="2000" dirty="0">
              <a:latin typeface="+mj-lt"/>
            </a:endParaRPr>
          </a:p>
        </p:txBody>
      </p:sp>
      <p:sp>
        <p:nvSpPr>
          <p:cNvPr id="7180" name="Rectangle 12">
            <a:extLst>
              <a:ext uri="{FF2B5EF4-FFF2-40B4-BE49-F238E27FC236}">
                <a16:creationId xmlns:a16="http://schemas.microsoft.com/office/drawing/2014/main" id="{B63FD84B-130F-4EBF-B54C-6BF3899A0485}"/>
              </a:ext>
            </a:extLst>
          </p:cNvPr>
          <p:cNvSpPr>
            <a:spLocks noChangeArrowheads="1"/>
          </p:cNvSpPr>
          <p:nvPr/>
        </p:nvSpPr>
        <p:spPr bwMode="auto">
          <a:xfrm>
            <a:off x="4872038" y="2563812"/>
            <a:ext cx="4537076"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latin typeface="+mj-lt"/>
              </a:rPr>
              <a:t>Costeo Directo o Variable</a:t>
            </a:r>
            <a:endParaRPr lang="es-ES" altLang="es-AR" sz="2000" dirty="0">
              <a:latin typeface="+mj-lt"/>
            </a:endParaRPr>
          </a:p>
        </p:txBody>
      </p:sp>
      <p:sp>
        <p:nvSpPr>
          <p:cNvPr id="7181" name="Rectangle 13">
            <a:extLst>
              <a:ext uri="{FF2B5EF4-FFF2-40B4-BE49-F238E27FC236}">
                <a16:creationId xmlns:a16="http://schemas.microsoft.com/office/drawing/2014/main" id="{DFB439FD-0511-46D3-9A51-B1165E252787}"/>
              </a:ext>
            </a:extLst>
          </p:cNvPr>
          <p:cNvSpPr>
            <a:spLocks noChangeArrowheads="1"/>
          </p:cNvSpPr>
          <p:nvPr/>
        </p:nvSpPr>
        <p:spPr bwMode="auto">
          <a:xfrm>
            <a:off x="3169799" y="3402511"/>
            <a:ext cx="2411109"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latin typeface="+mj-lt"/>
              </a:rPr>
              <a:t>Costos</a:t>
            </a:r>
          </a:p>
          <a:p>
            <a:pPr algn="l" eaLnBrk="1" hangingPunct="1">
              <a:defRPr/>
            </a:pPr>
            <a:r>
              <a:rPr lang="es-AR" altLang="es-AR" sz="2000" dirty="0">
                <a:latin typeface="+mj-lt"/>
              </a:rPr>
              <a:t>Predeterminados</a:t>
            </a:r>
            <a:endParaRPr lang="es-ES" altLang="es-AR" sz="2000" dirty="0">
              <a:latin typeface="+mj-lt"/>
            </a:endParaRPr>
          </a:p>
        </p:txBody>
      </p:sp>
      <p:sp>
        <p:nvSpPr>
          <p:cNvPr id="7182" name="Rectangle 14">
            <a:extLst>
              <a:ext uri="{FF2B5EF4-FFF2-40B4-BE49-F238E27FC236}">
                <a16:creationId xmlns:a16="http://schemas.microsoft.com/office/drawing/2014/main" id="{4D78B60A-A4A7-423C-B1F4-44E277258D43}"/>
              </a:ext>
            </a:extLst>
          </p:cNvPr>
          <p:cNvSpPr>
            <a:spLocks noChangeArrowheads="1"/>
          </p:cNvSpPr>
          <p:nvPr/>
        </p:nvSpPr>
        <p:spPr bwMode="auto">
          <a:xfrm>
            <a:off x="5915669" y="3392486"/>
            <a:ext cx="28797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latin typeface="+mj-lt"/>
              </a:rPr>
              <a:t>Costos Estimados</a:t>
            </a:r>
            <a:endParaRPr lang="es-ES" altLang="es-AR" sz="2000" dirty="0">
              <a:latin typeface="+mj-lt"/>
            </a:endParaRPr>
          </a:p>
        </p:txBody>
      </p:sp>
      <p:sp>
        <p:nvSpPr>
          <p:cNvPr id="7183" name="Rectangle 15">
            <a:extLst>
              <a:ext uri="{FF2B5EF4-FFF2-40B4-BE49-F238E27FC236}">
                <a16:creationId xmlns:a16="http://schemas.microsoft.com/office/drawing/2014/main" id="{BC931A03-C037-402C-A715-BA480795F562}"/>
              </a:ext>
            </a:extLst>
          </p:cNvPr>
          <p:cNvSpPr>
            <a:spLocks noChangeArrowheads="1"/>
          </p:cNvSpPr>
          <p:nvPr/>
        </p:nvSpPr>
        <p:spPr bwMode="auto">
          <a:xfrm>
            <a:off x="5915669" y="4040186"/>
            <a:ext cx="299723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latin typeface="+mj-lt"/>
              </a:rPr>
              <a:t>Costos Standard</a:t>
            </a:r>
            <a:endParaRPr lang="es-ES" altLang="es-AR" sz="2000" dirty="0">
              <a:latin typeface="+mj-lt"/>
            </a:endParaRPr>
          </a:p>
        </p:txBody>
      </p:sp>
      <p:sp>
        <p:nvSpPr>
          <p:cNvPr id="7184" name="Rectangle 16">
            <a:extLst>
              <a:ext uri="{FF2B5EF4-FFF2-40B4-BE49-F238E27FC236}">
                <a16:creationId xmlns:a16="http://schemas.microsoft.com/office/drawing/2014/main" id="{EF704A12-B692-4536-BF74-DE6BEED71E83}"/>
              </a:ext>
            </a:extLst>
          </p:cNvPr>
          <p:cNvSpPr>
            <a:spLocks noChangeArrowheads="1"/>
          </p:cNvSpPr>
          <p:nvPr/>
        </p:nvSpPr>
        <p:spPr bwMode="auto">
          <a:xfrm>
            <a:off x="3216274" y="4941094"/>
            <a:ext cx="762476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latin typeface="+mj-lt"/>
              </a:rPr>
              <a:t>Sistema de Costeo Basado en Actividades (ABC)</a:t>
            </a:r>
            <a:endParaRPr lang="es-ES" altLang="es-AR" sz="2000" dirty="0">
              <a:latin typeface="+mj-lt"/>
            </a:endParaRPr>
          </a:p>
        </p:txBody>
      </p:sp>
      <p:sp>
        <p:nvSpPr>
          <p:cNvPr id="7185" name="AutoShape 17">
            <a:extLst>
              <a:ext uri="{FF2B5EF4-FFF2-40B4-BE49-F238E27FC236}">
                <a16:creationId xmlns:a16="http://schemas.microsoft.com/office/drawing/2014/main" id="{D347BADA-5352-4D3C-B095-3919A020B59C}"/>
              </a:ext>
            </a:extLst>
          </p:cNvPr>
          <p:cNvSpPr>
            <a:spLocks/>
          </p:cNvSpPr>
          <p:nvPr/>
        </p:nvSpPr>
        <p:spPr bwMode="auto">
          <a:xfrm>
            <a:off x="3143251" y="1266826"/>
            <a:ext cx="73025" cy="4681537"/>
          </a:xfrm>
          <a:prstGeom prst="leftBrace">
            <a:avLst>
              <a:gd name="adj1" fmla="val 534239"/>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latin typeface="+mj-lt"/>
            </a:endParaRPr>
          </a:p>
        </p:txBody>
      </p:sp>
      <p:sp>
        <p:nvSpPr>
          <p:cNvPr id="7186" name="AutoShape 18">
            <a:extLst>
              <a:ext uri="{FF2B5EF4-FFF2-40B4-BE49-F238E27FC236}">
                <a16:creationId xmlns:a16="http://schemas.microsoft.com/office/drawing/2014/main" id="{C4EA63D3-893C-4000-B188-D888C7DAAB36}"/>
              </a:ext>
            </a:extLst>
          </p:cNvPr>
          <p:cNvSpPr>
            <a:spLocks/>
          </p:cNvSpPr>
          <p:nvPr/>
        </p:nvSpPr>
        <p:spPr bwMode="auto">
          <a:xfrm>
            <a:off x="4800600" y="1482725"/>
            <a:ext cx="71438" cy="1511300"/>
          </a:xfrm>
          <a:prstGeom prst="leftBrace">
            <a:avLst>
              <a:gd name="adj1" fmla="val 176295"/>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latin typeface="+mj-lt"/>
            </a:endParaRPr>
          </a:p>
        </p:txBody>
      </p:sp>
      <p:sp>
        <p:nvSpPr>
          <p:cNvPr id="7187" name="AutoShape 19">
            <a:extLst>
              <a:ext uri="{FF2B5EF4-FFF2-40B4-BE49-F238E27FC236}">
                <a16:creationId xmlns:a16="http://schemas.microsoft.com/office/drawing/2014/main" id="{148EBE66-0325-475F-B40A-A7D56B2E122A}"/>
              </a:ext>
            </a:extLst>
          </p:cNvPr>
          <p:cNvSpPr>
            <a:spLocks/>
          </p:cNvSpPr>
          <p:nvPr/>
        </p:nvSpPr>
        <p:spPr bwMode="auto">
          <a:xfrm>
            <a:off x="5814069" y="3321049"/>
            <a:ext cx="73025" cy="1223963"/>
          </a:xfrm>
          <a:prstGeom prst="leftBrace">
            <a:avLst>
              <a:gd name="adj1" fmla="val 13967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latin typeface="+mj-lt"/>
            </a:endParaRPr>
          </a:p>
        </p:txBody>
      </p:sp>
      <p:sp>
        <p:nvSpPr>
          <p:cNvPr id="7188" name="AutoShape 20">
            <a:extLst>
              <a:ext uri="{FF2B5EF4-FFF2-40B4-BE49-F238E27FC236}">
                <a16:creationId xmlns:a16="http://schemas.microsoft.com/office/drawing/2014/main" id="{D3CFAAB8-3C06-433C-BBB2-FDAD796FECBF}"/>
              </a:ext>
            </a:extLst>
          </p:cNvPr>
          <p:cNvSpPr>
            <a:spLocks/>
          </p:cNvSpPr>
          <p:nvPr/>
        </p:nvSpPr>
        <p:spPr bwMode="auto">
          <a:xfrm>
            <a:off x="9340921" y="1060747"/>
            <a:ext cx="87313" cy="1296987"/>
          </a:xfrm>
          <a:prstGeom prst="leftBrace">
            <a:avLst>
              <a:gd name="adj1" fmla="val 12378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latin typeface="+mj-lt"/>
            </a:endParaRPr>
          </a:p>
        </p:txBody>
      </p:sp>
      <p:sp>
        <p:nvSpPr>
          <p:cNvPr id="7192" name="Rectangle 24">
            <a:extLst>
              <a:ext uri="{FF2B5EF4-FFF2-40B4-BE49-F238E27FC236}">
                <a16:creationId xmlns:a16="http://schemas.microsoft.com/office/drawing/2014/main" id="{F56AE51D-6DC9-47AC-A722-8E6D954E0696}"/>
              </a:ext>
            </a:extLst>
          </p:cNvPr>
          <p:cNvSpPr>
            <a:spLocks noChangeArrowheads="1"/>
          </p:cNvSpPr>
          <p:nvPr/>
        </p:nvSpPr>
        <p:spPr bwMode="auto">
          <a:xfrm>
            <a:off x="3216275" y="5516563"/>
            <a:ext cx="6408738"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latin typeface="+mj-lt"/>
              </a:rPr>
              <a:t>Producción Conjunta</a:t>
            </a:r>
            <a:endParaRPr lang="es-ES" altLang="es-AR" sz="2000" dirty="0">
              <a:latin typeface="+mj-lt"/>
            </a:endParaRPr>
          </a:p>
        </p:txBody>
      </p:sp>
      <p:sp>
        <p:nvSpPr>
          <p:cNvPr id="2" name="Marcador de número de diapositiva 1">
            <a:extLst>
              <a:ext uri="{FF2B5EF4-FFF2-40B4-BE49-F238E27FC236}">
                <a16:creationId xmlns:a16="http://schemas.microsoft.com/office/drawing/2014/main" id="{245599A9-5AFE-45D0-A441-DC3E10A27208}"/>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8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7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18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18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18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17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18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178"/>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179"/>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180"/>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18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182"/>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183"/>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1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5" grpId="0"/>
      <p:bldP spid="7176" grpId="0"/>
      <p:bldP spid="7177" grpId="0"/>
      <p:bldP spid="7178" grpId="0"/>
      <p:bldP spid="7179" grpId="0"/>
      <p:bldP spid="7180" grpId="0"/>
      <p:bldP spid="7181" grpId="0"/>
      <p:bldP spid="7182" grpId="0"/>
      <p:bldP spid="7183" grpId="0"/>
      <p:bldP spid="7184" grpId="0"/>
      <p:bldP spid="7185" grpId="0" animBg="1"/>
      <p:bldP spid="7186" grpId="0" animBg="1"/>
      <p:bldP spid="7187" grpId="0" animBg="1"/>
      <p:bldP spid="7188" grpId="0" animBg="1"/>
      <p:bldP spid="719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Text Box 5">
            <a:extLst>
              <a:ext uri="{FF2B5EF4-FFF2-40B4-BE49-F238E27FC236}">
                <a16:creationId xmlns:a16="http://schemas.microsoft.com/office/drawing/2014/main" id="{B07BBF3A-9DE6-43F6-A4D9-04BB009091C2}"/>
              </a:ext>
            </a:extLst>
          </p:cNvPr>
          <p:cNvSpPr txBox="1">
            <a:spLocks noChangeArrowheads="1"/>
          </p:cNvSpPr>
          <p:nvPr/>
        </p:nvSpPr>
        <p:spPr bwMode="auto">
          <a:xfrm>
            <a:off x="1387476" y="257175"/>
            <a:ext cx="78343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85000"/>
                    <a:lumOff val="15000"/>
                  </a:schemeClr>
                </a:solidFill>
                <a:latin typeface="+mj-lt"/>
                <a:cs typeface="Arial" charset="0"/>
              </a:rPr>
              <a:t>SISTEMAS DE COSTEO HISTORICOS</a:t>
            </a:r>
          </a:p>
        </p:txBody>
      </p:sp>
      <p:sp>
        <p:nvSpPr>
          <p:cNvPr id="8200" name="Rectangle 8">
            <a:extLst>
              <a:ext uri="{FF2B5EF4-FFF2-40B4-BE49-F238E27FC236}">
                <a16:creationId xmlns:a16="http://schemas.microsoft.com/office/drawing/2014/main" id="{1964B4BE-3F24-40A6-AE7B-382AF276AC33}"/>
              </a:ext>
            </a:extLst>
          </p:cNvPr>
          <p:cNvSpPr>
            <a:spLocks noChangeArrowheads="1"/>
          </p:cNvSpPr>
          <p:nvPr/>
        </p:nvSpPr>
        <p:spPr bwMode="auto">
          <a:xfrm>
            <a:off x="1127125" y="3584642"/>
            <a:ext cx="9906000" cy="1386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endParaRPr lang="es-ES" altLang="es-AR" sz="2000" dirty="0">
              <a:latin typeface="+mj-lt"/>
            </a:endParaRPr>
          </a:p>
        </p:txBody>
      </p:sp>
      <p:sp>
        <p:nvSpPr>
          <p:cNvPr id="8201" name="Rectangle 9">
            <a:extLst>
              <a:ext uri="{FF2B5EF4-FFF2-40B4-BE49-F238E27FC236}">
                <a16:creationId xmlns:a16="http://schemas.microsoft.com/office/drawing/2014/main" id="{EE84D9CB-0804-4338-8F3D-B07E8545296C}"/>
              </a:ext>
            </a:extLst>
          </p:cNvPr>
          <p:cNvSpPr>
            <a:spLocks noChangeArrowheads="1"/>
          </p:cNvSpPr>
          <p:nvPr/>
        </p:nvSpPr>
        <p:spPr bwMode="auto">
          <a:xfrm>
            <a:off x="1387476" y="1949050"/>
            <a:ext cx="9906000" cy="1386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latin typeface="+mj-lt"/>
              </a:rPr>
              <a:t>Nos ocuparemos de los </a:t>
            </a:r>
            <a:r>
              <a:rPr lang="es-AR" altLang="es-AR" sz="2000" b="1" dirty="0">
                <a:solidFill>
                  <a:schemeClr val="tx1">
                    <a:lumMod val="85000"/>
                    <a:lumOff val="15000"/>
                  </a:schemeClr>
                </a:solidFill>
                <a:latin typeface="+mj-lt"/>
              </a:rPr>
              <a:t>Costos Históricos</a:t>
            </a:r>
            <a:r>
              <a:rPr lang="es-AR" altLang="es-AR" sz="2000" b="1" dirty="0">
                <a:latin typeface="+mj-lt"/>
              </a:rPr>
              <a:t>, </a:t>
            </a:r>
            <a:r>
              <a:rPr lang="es-AR" altLang="es-AR" sz="2000" dirty="0">
                <a:latin typeface="+mj-lt"/>
              </a:rPr>
              <a:t>estos</a:t>
            </a:r>
            <a:r>
              <a:rPr lang="es-AR" altLang="es-AR" sz="2000" b="1" dirty="0">
                <a:latin typeface="+mj-lt"/>
              </a:rPr>
              <a:t> </a:t>
            </a:r>
            <a:r>
              <a:rPr lang="es-AR" altLang="es-AR" sz="2000" dirty="0">
                <a:latin typeface="+mj-lt"/>
              </a:rPr>
              <a:t>se basan en Costos Reales, dado que se determinan luego de que las operaciones tuvieron lugar, en base a cantidades y precios conocidos.</a:t>
            </a:r>
          </a:p>
          <a:p>
            <a:pPr algn="just" eaLnBrk="1" hangingPunct="1">
              <a:spcBef>
                <a:spcPct val="20000"/>
              </a:spcBef>
            </a:pPr>
            <a:r>
              <a:rPr lang="es-AR" altLang="es-AR" sz="2000" dirty="0">
                <a:latin typeface="+mj-lt"/>
              </a:rPr>
              <a:t>Son dos:</a:t>
            </a:r>
            <a:endParaRPr lang="es-ES" altLang="es-AR" sz="2000" dirty="0">
              <a:latin typeface="+mj-lt"/>
            </a:endParaRPr>
          </a:p>
        </p:txBody>
      </p:sp>
      <p:sp>
        <p:nvSpPr>
          <p:cNvPr id="2" name="Marcador de número de diapositiva 1">
            <a:extLst>
              <a:ext uri="{FF2B5EF4-FFF2-40B4-BE49-F238E27FC236}">
                <a16:creationId xmlns:a16="http://schemas.microsoft.com/office/drawing/2014/main" id="{2ACAACF1-F24D-417C-B894-9FBE3EABDDA3}"/>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
        <p:nvSpPr>
          <p:cNvPr id="3" name="CuadroTexto 2">
            <a:extLst>
              <a:ext uri="{FF2B5EF4-FFF2-40B4-BE49-F238E27FC236}">
                <a16:creationId xmlns:a16="http://schemas.microsoft.com/office/drawing/2014/main" id="{B300B11A-7797-48C9-9D27-947F8A415480}"/>
              </a:ext>
            </a:extLst>
          </p:cNvPr>
          <p:cNvSpPr txBox="1"/>
          <p:nvPr/>
        </p:nvSpPr>
        <p:spPr>
          <a:xfrm>
            <a:off x="2830664" y="3734454"/>
            <a:ext cx="6742706" cy="1015663"/>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sz="2000" b="1" dirty="0"/>
              <a:t>Integral o por absorción</a:t>
            </a:r>
          </a:p>
          <a:p>
            <a:pPr>
              <a:buClr>
                <a:srgbClr val="92D050"/>
              </a:buClr>
            </a:pPr>
            <a:endParaRPr lang="es-AR" sz="2000" b="1" dirty="0"/>
          </a:p>
          <a:p>
            <a:pPr marL="285750" indent="-285750">
              <a:buClr>
                <a:srgbClr val="92D050"/>
              </a:buClr>
              <a:buFont typeface="Arial" panose="020B0604020202020204" pitchFamily="34" charset="0"/>
              <a:buChar char="•"/>
            </a:pPr>
            <a:r>
              <a:rPr lang="es-AR" sz="2000" b="1" dirty="0"/>
              <a:t>Directo o variable</a:t>
            </a:r>
          </a:p>
        </p:txBody>
      </p:sp>
    </p:spTree>
    <p:extLst>
      <p:ext uri="{BB962C8B-B14F-4D97-AF65-F5344CB8AC3E}">
        <p14:creationId xmlns:p14="http://schemas.microsoft.com/office/powerpoint/2010/main" val="339265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820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0" grpId="0"/>
      <p:bldP spid="820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Text Box 5">
            <a:extLst>
              <a:ext uri="{FF2B5EF4-FFF2-40B4-BE49-F238E27FC236}">
                <a16:creationId xmlns:a16="http://schemas.microsoft.com/office/drawing/2014/main" id="{FC14D97E-B05B-40A4-9F7D-F390F2E5470E}"/>
              </a:ext>
            </a:extLst>
          </p:cNvPr>
          <p:cNvSpPr txBox="1">
            <a:spLocks noChangeArrowheads="1"/>
          </p:cNvSpPr>
          <p:nvPr/>
        </p:nvSpPr>
        <p:spPr bwMode="auto">
          <a:xfrm>
            <a:off x="1387476" y="257175"/>
            <a:ext cx="7516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COSTOS HISTÓRICOS</a:t>
            </a:r>
          </a:p>
        </p:txBody>
      </p:sp>
      <p:sp>
        <p:nvSpPr>
          <p:cNvPr id="6151" name="Rectangle 7">
            <a:extLst>
              <a:ext uri="{FF2B5EF4-FFF2-40B4-BE49-F238E27FC236}">
                <a16:creationId xmlns:a16="http://schemas.microsoft.com/office/drawing/2014/main" id="{1F55DB7F-5A7E-4D2C-8166-490773959246}"/>
              </a:ext>
            </a:extLst>
          </p:cNvPr>
          <p:cNvSpPr>
            <a:spLocks noChangeArrowheads="1"/>
          </p:cNvSpPr>
          <p:nvPr/>
        </p:nvSpPr>
        <p:spPr bwMode="auto">
          <a:xfrm>
            <a:off x="1143000" y="1125537"/>
            <a:ext cx="9906000"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r>
              <a:rPr lang="es-AR" altLang="es-AR" sz="2000" b="1" dirty="0">
                <a:latin typeface="+mj-lt"/>
              </a:rPr>
              <a:t>Sistema de Costeo Integral o por Absorción</a:t>
            </a:r>
            <a:r>
              <a:rPr lang="es-AR" altLang="es-AR" sz="2000" dirty="0">
                <a:latin typeface="+mj-lt"/>
              </a:rPr>
              <a:t>: </a:t>
            </a:r>
          </a:p>
          <a:p>
            <a:pPr algn="just" eaLnBrk="1" hangingPunct="1">
              <a:defRPr/>
            </a:pPr>
            <a:r>
              <a:rPr lang="es-AR" altLang="es-AR" sz="2000" dirty="0">
                <a:latin typeface="+mj-lt"/>
              </a:rPr>
              <a:t>registra todos los elementos del costo del lote de producción, no se sustrae nada, todos los cargos son absorbidos por el costeo total. De acuerdo a la recolección de datos este sistema de costeo se puede dividir en:</a:t>
            </a:r>
            <a:endParaRPr lang="es-ES" altLang="es-AR" sz="2000" dirty="0">
              <a:latin typeface="+mj-lt"/>
            </a:endParaRPr>
          </a:p>
        </p:txBody>
      </p:sp>
      <p:sp>
        <p:nvSpPr>
          <p:cNvPr id="6152" name="Rectangle 8">
            <a:extLst>
              <a:ext uri="{FF2B5EF4-FFF2-40B4-BE49-F238E27FC236}">
                <a16:creationId xmlns:a16="http://schemas.microsoft.com/office/drawing/2014/main" id="{7247664E-36A5-40A4-AA5E-526D055EC257}"/>
              </a:ext>
            </a:extLst>
          </p:cNvPr>
          <p:cNvSpPr>
            <a:spLocks noChangeArrowheads="1"/>
          </p:cNvSpPr>
          <p:nvPr/>
        </p:nvSpPr>
        <p:spPr bwMode="auto">
          <a:xfrm>
            <a:off x="1143000" y="2600324"/>
            <a:ext cx="9906000" cy="136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819150" indent="-457200" algn="just" eaLnBrk="1" hangingPunct="1">
              <a:spcBef>
                <a:spcPct val="20000"/>
              </a:spcBef>
              <a:buClr>
                <a:srgbClr val="92D050"/>
              </a:buClr>
              <a:buFont typeface="Arial" panose="020B0604020202020204" pitchFamily="34" charset="0"/>
              <a:buChar char="•"/>
            </a:pPr>
            <a:r>
              <a:rPr lang="es-AR" altLang="es-AR" sz="2000" dirty="0">
                <a:latin typeface="+mj-lt"/>
              </a:rPr>
              <a:t>Sistema de Costeo por Ordenes: utilizado para  industrias de ensamblaje, es decir, aquellas industrias de producción no repetitiva (automotriz, electrodomésticos, etc.)</a:t>
            </a:r>
            <a:endParaRPr lang="es-ES" altLang="es-AR" sz="2000" dirty="0">
              <a:latin typeface="+mj-lt"/>
            </a:endParaRPr>
          </a:p>
        </p:txBody>
      </p:sp>
      <p:sp>
        <p:nvSpPr>
          <p:cNvPr id="6153" name="Rectangle 9">
            <a:extLst>
              <a:ext uri="{FF2B5EF4-FFF2-40B4-BE49-F238E27FC236}">
                <a16:creationId xmlns:a16="http://schemas.microsoft.com/office/drawing/2014/main" id="{0FEAD528-C6A0-4CAB-B7BA-9D043B764F2A}"/>
              </a:ext>
            </a:extLst>
          </p:cNvPr>
          <p:cNvSpPr>
            <a:spLocks noChangeArrowheads="1"/>
          </p:cNvSpPr>
          <p:nvPr/>
        </p:nvSpPr>
        <p:spPr bwMode="auto">
          <a:xfrm>
            <a:off x="1099226" y="3749674"/>
            <a:ext cx="9906000" cy="744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819150" indent="-457200" algn="just" eaLnBrk="1" hangingPunct="1">
              <a:spcBef>
                <a:spcPct val="20000"/>
              </a:spcBef>
              <a:buClr>
                <a:srgbClr val="92D050"/>
              </a:buClr>
              <a:buFont typeface="Arial" panose="020B0604020202020204" pitchFamily="34" charset="0"/>
              <a:buChar char="•"/>
            </a:pPr>
            <a:r>
              <a:rPr lang="es-AR" altLang="es-AR" sz="2000" dirty="0">
                <a:latin typeface="+mj-lt"/>
              </a:rPr>
              <a:t>Sistema de Costeo por Proceso: utilizado para  industrias de proceso continuo (cementera, papelera, aceitera, etc.)</a:t>
            </a:r>
            <a:endParaRPr lang="es-ES" altLang="es-AR" sz="2000" dirty="0">
              <a:latin typeface="+mj-lt"/>
            </a:endParaRPr>
          </a:p>
        </p:txBody>
      </p:sp>
      <p:sp>
        <p:nvSpPr>
          <p:cNvPr id="6154" name="Rectangle 10">
            <a:extLst>
              <a:ext uri="{FF2B5EF4-FFF2-40B4-BE49-F238E27FC236}">
                <a16:creationId xmlns:a16="http://schemas.microsoft.com/office/drawing/2014/main" id="{9793FE4A-8B62-4E58-B5B5-813E9522AAEA}"/>
              </a:ext>
            </a:extLst>
          </p:cNvPr>
          <p:cNvSpPr>
            <a:spLocks noChangeArrowheads="1"/>
          </p:cNvSpPr>
          <p:nvPr/>
        </p:nvSpPr>
        <p:spPr bwMode="auto">
          <a:xfrm>
            <a:off x="1311579" y="4868863"/>
            <a:ext cx="10001318"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just" eaLnBrk="1" hangingPunct="1">
              <a:buClr>
                <a:srgbClr val="92D050"/>
              </a:buClr>
              <a:defRPr/>
            </a:pPr>
            <a:r>
              <a:rPr lang="es-AR" altLang="es-AR" sz="2000" b="1" dirty="0">
                <a:effectLst>
                  <a:outerShdw blurRad="38100" dist="38100" dir="2700000" algn="tl">
                    <a:srgbClr val="C0C0C0"/>
                  </a:outerShdw>
                </a:effectLst>
                <a:latin typeface="+mj-lt"/>
              </a:rPr>
              <a:t>Sistema de Costeo Directo o Variable</a:t>
            </a:r>
            <a:r>
              <a:rPr lang="es-AR" altLang="es-AR" sz="2000" b="1" dirty="0">
                <a:latin typeface="+mj-lt"/>
              </a:rPr>
              <a:t>:</a:t>
            </a:r>
            <a:r>
              <a:rPr lang="es-AR" altLang="es-AR" sz="2000" dirty="0">
                <a:latin typeface="+mj-lt"/>
              </a:rPr>
              <a:t> </a:t>
            </a:r>
          </a:p>
          <a:p>
            <a:pPr marL="517525" indent="-342900" algn="just" eaLnBrk="1" hangingPunct="1">
              <a:buClr>
                <a:srgbClr val="92D050"/>
              </a:buClr>
              <a:buFont typeface="Arial" panose="020B0604020202020204" pitchFamily="34" charset="0"/>
              <a:buChar char="•"/>
              <a:defRPr/>
            </a:pPr>
            <a:r>
              <a:rPr lang="es-AR" altLang="es-AR" sz="2000" dirty="0">
                <a:latin typeface="+mj-lt"/>
              </a:rPr>
              <a:t>sólo registra el costo directo o variable de producción</a:t>
            </a:r>
            <a:endParaRPr lang="es-ES" altLang="es-AR" sz="2000" dirty="0">
              <a:latin typeface="+mj-lt"/>
            </a:endParaRPr>
          </a:p>
        </p:txBody>
      </p:sp>
      <p:sp>
        <p:nvSpPr>
          <p:cNvPr id="2" name="Marcador de número de diapositiva 1">
            <a:extLst>
              <a:ext uri="{FF2B5EF4-FFF2-40B4-BE49-F238E27FC236}">
                <a16:creationId xmlns:a16="http://schemas.microsoft.com/office/drawing/2014/main" id="{4133B5BE-5567-4366-9C9D-4F8CADA57D79}"/>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5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5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p:bldP spid="6152" grpId="0"/>
      <p:bldP spid="6153" grpId="0"/>
      <p:bldP spid="615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Text Box 5">
            <a:extLst>
              <a:ext uri="{FF2B5EF4-FFF2-40B4-BE49-F238E27FC236}">
                <a16:creationId xmlns:a16="http://schemas.microsoft.com/office/drawing/2014/main" id="{FC14D97E-B05B-40A4-9F7D-F390F2E5470E}"/>
              </a:ext>
            </a:extLst>
          </p:cNvPr>
          <p:cNvSpPr txBox="1">
            <a:spLocks noChangeArrowheads="1"/>
          </p:cNvSpPr>
          <p:nvPr/>
        </p:nvSpPr>
        <p:spPr bwMode="auto">
          <a:xfrm>
            <a:off x="690664" y="158855"/>
            <a:ext cx="115013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85000"/>
                    <a:lumOff val="15000"/>
                  </a:schemeClr>
                </a:solidFill>
                <a:latin typeface="+mj-lt"/>
                <a:cs typeface="Arial" charset="0"/>
              </a:rPr>
              <a:t>SISTEMA DE COSTEO INTEGRAL O POR ABSORCION</a:t>
            </a:r>
          </a:p>
        </p:txBody>
      </p:sp>
      <p:sp>
        <p:nvSpPr>
          <p:cNvPr id="6151" name="Rectangle 7">
            <a:extLst>
              <a:ext uri="{FF2B5EF4-FFF2-40B4-BE49-F238E27FC236}">
                <a16:creationId xmlns:a16="http://schemas.microsoft.com/office/drawing/2014/main" id="{1F55DB7F-5A7E-4D2C-8166-490773959246}"/>
              </a:ext>
            </a:extLst>
          </p:cNvPr>
          <p:cNvSpPr>
            <a:spLocks noChangeArrowheads="1"/>
          </p:cNvSpPr>
          <p:nvPr/>
        </p:nvSpPr>
        <p:spPr bwMode="auto">
          <a:xfrm>
            <a:off x="1143000" y="1517072"/>
            <a:ext cx="9906000" cy="1451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r>
              <a:rPr lang="es-AR" altLang="es-AR" sz="2000" dirty="0">
                <a:latin typeface="+mj-lt"/>
              </a:rPr>
              <a:t>Registra todos los elementos del costo del lote de producción, no se sustrae nada, todos los cargos fijos y variables son absorbidos por el costeo total. </a:t>
            </a:r>
          </a:p>
          <a:p>
            <a:pPr algn="just" eaLnBrk="1" hangingPunct="1">
              <a:defRPr/>
            </a:pPr>
            <a:r>
              <a:rPr lang="es-AR" altLang="es-AR" sz="2000" dirty="0">
                <a:latin typeface="+mj-lt"/>
              </a:rPr>
              <a:t>Este sistema de costeo se puede dividir en:</a:t>
            </a:r>
            <a:endParaRPr lang="es-ES" altLang="es-AR" sz="2000" dirty="0">
              <a:latin typeface="+mj-lt"/>
            </a:endParaRPr>
          </a:p>
        </p:txBody>
      </p:sp>
      <p:sp>
        <p:nvSpPr>
          <p:cNvPr id="6152" name="Rectangle 8">
            <a:extLst>
              <a:ext uri="{FF2B5EF4-FFF2-40B4-BE49-F238E27FC236}">
                <a16:creationId xmlns:a16="http://schemas.microsoft.com/office/drawing/2014/main" id="{7247664E-36A5-40A4-AA5E-526D055EC257}"/>
              </a:ext>
            </a:extLst>
          </p:cNvPr>
          <p:cNvSpPr>
            <a:spLocks noChangeArrowheads="1"/>
          </p:cNvSpPr>
          <p:nvPr/>
        </p:nvSpPr>
        <p:spPr bwMode="auto">
          <a:xfrm>
            <a:off x="1037562" y="3284537"/>
            <a:ext cx="9906000" cy="136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819150" indent="-457200" algn="just" eaLnBrk="1" hangingPunct="1">
              <a:spcBef>
                <a:spcPct val="20000"/>
              </a:spcBef>
              <a:buClr>
                <a:srgbClr val="92D050"/>
              </a:buClr>
              <a:buFont typeface="Arial" panose="020B0604020202020204" pitchFamily="34" charset="0"/>
              <a:buChar char="•"/>
            </a:pPr>
            <a:r>
              <a:rPr lang="es-AR" altLang="es-AR" sz="2000" dirty="0">
                <a:latin typeface="+mj-lt"/>
              </a:rPr>
              <a:t>Sistema de Costeo por Ordenes: utilizado para  industrias de ensamblaje, es decir, aquellas industrias de producción no repetitiva (automotriz, electrodomésticos, etc.)</a:t>
            </a:r>
            <a:endParaRPr lang="es-ES" altLang="es-AR" sz="2000" dirty="0">
              <a:latin typeface="+mj-lt"/>
            </a:endParaRPr>
          </a:p>
        </p:txBody>
      </p:sp>
      <p:sp>
        <p:nvSpPr>
          <p:cNvPr id="6153" name="Rectangle 9">
            <a:extLst>
              <a:ext uri="{FF2B5EF4-FFF2-40B4-BE49-F238E27FC236}">
                <a16:creationId xmlns:a16="http://schemas.microsoft.com/office/drawing/2014/main" id="{0FEAD528-C6A0-4CAB-B7BA-9D043B764F2A}"/>
              </a:ext>
            </a:extLst>
          </p:cNvPr>
          <p:cNvSpPr>
            <a:spLocks noChangeArrowheads="1"/>
          </p:cNvSpPr>
          <p:nvPr/>
        </p:nvSpPr>
        <p:spPr bwMode="auto">
          <a:xfrm>
            <a:off x="1067421" y="4840295"/>
            <a:ext cx="9906000" cy="744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819150" indent="-457200" algn="just" eaLnBrk="1" hangingPunct="1">
              <a:spcBef>
                <a:spcPct val="20000"/>
              </a:spcBef>
              <a:buClr>
                <a:srgbClr val="92D050"/>
              </a:buClr>
              <a:buFont typeface="Arial" panose="020B0604020202020204" pitchFamily="34" charset="0"/>
              <a:buChar char="•"/>
            </a:pPr>
            <a:r>
              <a:rPr lang="es-AR" altLang="es-AR" sz="2000" dirty="0">
                <a:latin typeface="+mj-lt"/>
              </a:rPr>
              <a:t>Sistema de Costeo por Proceso: utilizado para  industrias de proceso continuo (cementera, papelera, aceitera, etc.)</a:t>
            </a:r>
            <a:endParaRPr lang="es-ES" altLang="es-AR" sz="2000" dirty="0">
              <a:latin typeface="+mj-lt"/>
            </a:endParaRPr>
          </a:p>
        </p:txBody>
      </p:sp>
      <p:sp>
        <p:nvSpPr>
          <p:cNvPr id="2" name="Marcador de número de diapositiva 1">
            <a:extLst>
              <a:ext uri="{FF2B5EF4-FFF2-40B4-BE49-F238E27FC236}">
                <a16:creationId xmlns:a16="http://schemas.microsoft.com/office/drawing/2014/main" id="{4133B5BE-5567-4366-9C9D-4F8CADA57D79}"/>
              </a:ext>
            </a:extLst>
          </p:cNvPr>
          <p:cNvSpPr>
            <a:spLocks noGrp="1"/>
          </p:cNvSpPr>
          <p:nvPr>
            <p:ph type="sldNum" sz="quarter" idx="12"/>
          </p:nvPr>
        </p:nvSpPr>
        <p:spPr>
          <a:xfrm>
            <a:off x="387170" y="849308"/>
            <a:ext cx="779767" cy="365125"/>
          </a:xfrm>
        </p:spPr>
        <p:txBody>
          <a:bodyPr/>
          <a:lstStyle/>
          <a:p>
            <a:fld id="{D57F1E4F-1CFF-5643-939E-217C01CDF565}" type="slidenum">
              <a:rPr lang="en-US" smtClean="0"/>
              <a:pPr/>
              <a:t>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5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p:bldP spid="6152" grpId="0"/>
      <p:bldP spid="615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Text Box 5">
            <a:extLst>
              <a:ext uri="{FF2B5EF4-FFF2-40B4-BE49-F238E27FC236}">
                <a16:creationId xmlns:a16="http://schemas.microsoft.com/office/drawing/2014/main" id="{FC14D97E-B05B-40A4-9F7D-F390F2E5470E}"/>
              </a:ext>
            </a:extLst>
          </p:cNvPr>
          <p:cNvSpPr txBox="1">
            <a:spLocks noChangeArrowheads="1"/>
          </p:cNvSpPr>
          <p:nvPr/>
        </p:nvSpPr>
        <p:spPr bwMode="auto">
          <a:xfrm>
            <a:off x="690664" y="158855"/>
            <a:ext cx="115013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85000"/>
                    <a:lumOff val="15000"/>
                  </a:schemeClr>
                </a:solidFill>
                <a:latin typeface="+mj-lt"/>
                <a:cs typeface="Arial" charset="0"/>
              </a:rPr>
              <a:t>SISTEMA DE COSTEO INTEGRAL O POR ABSORCION</a:t>
            </a:r>
          </a:p>
        </p:txBody>
      </p:sp>
      <p:sp>
        <p:nvSpPr>
          <p:cNvPr id="6151" name="Rectangle 7">
            <a:extLst>
              <a:ext uri="{FF2B5EF4-FFF2-40B4-BE49-F238E27FC236}">
                <a16:creationId xmlns:a16="http://schemas.microsoft.com/office/drawing/2014/main" id="{1F55DB7F-5A7E-4D2C-8166-490773959246}"/>
              </a:ext>
            </a:extLst>
          </p:cNvPr>
          <p:cNvSpPr>
            <a:spLocks noChangeArrowheads="1"/>
          </p:cNvSpPr>
          <p:nvPr/>
        </p:nvSpPr>
        <p:spPr bwMode="auto">
          <a:xfrm>
            <a:off x="1143000" y="1517072"/>
            <a:ext cx="9906000" cy="3453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r>
              <a:rPr lang="es-AR" altLang="es-AR" sz="2400" b="1" dirty="0">
                <a:latin typeface="+mj-lt"/>
              </a:rPr>
              <a:t>SISTEMA DE COSTEO POR ORDENES</a:t>
            </a:r>
          </a:p>
          <a:p>
            <a:pPr algn="just" eaLnBrk="1" hangingPunct="1">
              <a:defRPr/>
            </a:pPr>
            <a:endParaRPr lang="es-AR" altLang="es-AR" sz="2000" dirty="0">
              <a:latin typeface="+mj-lt"/>
            </a:endParaRPr>
          </a:p>
          <a:p>
            <a:pPr marL="517525" indent="-342900" algn="just" eaLnBrk="1" hangingPunct="1">
              <a:buClr>
                <a:srgbClr val="92D050"/>
              </a:buClr>
              <a:buFont typeface="Arial" panose="020B0604020202020204" pitchFamily="34" charset="0"/>
              <a:buChar char="•"/>
              <a:defRPr/>
            </a:pPr>
            <a:r>
              <a:rPr lang="es-AR" altLang="es-AR" sz="2000" dirty="0">
                <a:latin typeface="+mj-lt"/>
              </a:rPr>
              <a:t>Se utiliza en métodos de manufactura en base a ordenes específicas de producción</a:t>
            </a:r>
          </a:p>
          <a:p>
            <a:pPr marL="517525" indent="-342900" algn="just" eaLnBrk="1" hangingPunct="1">
              <a:buClr>
                <a:srgbClr val="92D050"/>
              </a:buClr>
              <a:buFont typeface="Arial" panose="020B0604020202020204" pitchFamily="34" charset="0"/>
              <a:buChar char="•"/>
              <a:defRPr/>
            </a:pPr>
            <a:endParaRPr lang="es-AR" altLang="es-AR" sz="2000" dirty="0">
              <a:latin typeface="+mj-lt"/>
            </a:endParaRPr>
          </a:p>
          <a:p>
            <a:pPr marL="517525" indent="-342900" algn="just" eaLnBrk="1" hangingPunct="1">
              <a:buClr>
                <a:srgbClr val="92D050"/>
              </a:buClr>
              <a:buFont typeface="Arial" panose="020B0604020202020204" pitchFamily="34" charset="0"/>
              <a:buChar char="•"/>
              <a:defRPr/>
            </a:pPr>
            <a:r>
              <a:rPr lang="es-AR" altLang="es-AR" sz="2000" dirty="0">
                <a:latin typeface="+mj-lt"/>
              </a:rPr>
              <a:t>Es necesario poder identificar los lotes durante todo el proceso productivo</a:t>
            </a:r>
          </a:p>
          <a:p>
            <a:pPr marL="517525" indent="-342900" algn="just" eaLnBrk="1" hangingPunct="1">
              <a:buClr>
                <a:srgbClr val="92D050"/>
              </a:buClr>
              <a:buFont typeface="Arial" panose="020B0604020202020204" pitchFamily="34" charset="0"/>
              <a:buChar char="•"/>
              <a:defRPr/>
            </a:pPr>
            <a:endParaRPr lang="es-AR" altLang="es-AR" sz="2000" dirty="0">
              <a:latin typeface="+mj-lt"/>
            </a:endParaRPr>
          </a:p>
          <a:p>
            <a:pPr marL="517525" indent="-342900" algn="just">
              <a:buClr>
                <a:srgbClr val="92D050"/>
              </a:buClr>
              <a:buFont typeface="Arial" panose="020B0604020202020204" pitchFamily="34" charset="0"/>
              <a:buChar char="•"/>
              <a:defRPr/>
            </a:pPr>
            <a:r>
              <a:rPr lang="es-AR" altLang="es-AR" sz="2000" dirty="0">
                <a:latin typeface="+mj-lt"/>
              </a:rPr>
              <a:t>Mediante la emisión de esta orden de fabricación se  irán registrando todos los gastos</a:t>
            </a:r>
          </a:p>
          <a:p>
            <a:pPr algn="just" eaLnBrk="1" hangingPunct="1">
              <a:defRPr/>
            </a:pPr>
            <a:endParaRPr lang="es-AR" altLang="es-AR" sz="2000" dirty="0">
              <a:latin typeface="+mj-lt"/>
            </a:endParaRPr>
          </a:p>
          <a:p>
            <a:pPr algn="just" eaLnBrk="1" hangingPunct="1">
              <a:defRPr/>
            </a:pPr>
            <a:endParaRPr lang="es-AR" altLang="es-AR" sz="2000" dirty="0">
              <a:latin typeface="+mj-lt"/>
            </a:endParaRPr>
          </a:p>
        </p:txBody>
      </p:sp>
      <p:sp>
        <p:nvSpPr>
          <p:cNvPr id="2" name="Marcador de número de diapositiva 1">
            <a:extLst>
              <a:ext uri="{FF2B5EF4-FFF2-40B4-BE49-F238E27FC236}">
                <a16:creationId xmlns:a16="http://schemas.microsoft.com/office/drawing/2014/main" id="{4133B5BE-5567-4366-9C9D-4F8CADA57D79}"/>
              </a:ext>
            </a:extLst>
          </p:cNvPr>
          <p:cNvSpPr>
            <a:spLocks noGrp="1"/>
          </p:cNvSpPr>
          <p:nvPr>
            <p:ph type="sldNum" sz="quarter" idx="12"/>
          </p:nvPr>
        </p:nvSpPr>
        <p:spPr>
          <a:xfrm>
            <a:off x="387170" y="849308"/>
            <a:ext cx="779767" cy="365125"/>
          </a:xfrm>
        </p:spPr>
        <p:txBody>
          <a:bodyPr/>
          <a:lstStyle/>
          <a:p>
            <a:fld id="{D57F1E4F-1CFF-5643-939E-217C01CDF565}" type="slidenum">
              <a:rPr lang="en-US" smtClean="0"/>
              <a:pPr/>
              <a:t>9</a:t>
            </a:fld>
            <a:endParaRPr lang="en-US" dirty="0"/>
          </a:p>
        </p:txBody>
      </p:sp>
    </p:spTree>
    <p:extLst>
      <p:ext uri="{BB962C8B-B14F-4D97-AF65-F5344CB8AC3E}">
        <p14:creationId xmlns:p14="http://schemas.microsoft.com/office/powerpoint/2010/main" val="20341954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Text Box 5">
            <a:extLst>
              <a:ext uri="{FF2B5EF4-FFF2-40B4-BE49-F238E27FC236}">
                <a16:creationId xmlns:a16="http://schemas.microsoft.com/office/drawing/2014/main" id="{FC14D97E-B05B-40A4-9F7D-F390F2E5470E}"/>
              </a:ext>
            </a:extLst>
          </p:cNvPr>
          <p:cNvSpPr txBox="1">
            <a:spLocks noChangeArrowheads="1"/>
          </p:cNvSpPr>
          <p:nvPr/>
        </p:nvSpPr>
        <p:spPr bwMode="auto">
          <a:xfrm>
            <a:off x="690664" y="158855"/>
            <a:ext cx="115013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85000"/>
                    <a:lumOff val="15000"/>
                  </a:schemeClr>
                </a:solidFill>
                <a:latin typeface="+mj-lt"/>
                <a:cs typeface="Arial" charset="0"/>
              </a:rPr>
              <a:t>SISTEMA DE COSTEO INTEGRAL O POR ABSORCION</a:t>
            </a:r>
          </a:p>
        </p:txBody>
      </p:sp>
      <p:sp>
        <p:nvSpPr>
          <p:cNvPr id="6151" name="Rectangle 7">
            <a:extLst>
              <a:ext uri="{FF2B5EF4-FFF2-40B4-BE49-F238E27FC236}">
                <a16:creationId xmlns:a16="http://schemas.microsoft.com/office/drawing/2014/main" id="{1F55DB7F-5A7E-4D2C-8166-490773959246}"/>
              </a:ext>
            </a:extLst>
          </p:cNvPr>
          <p:cNvSpPr>
            <a:spLocks noChangeArrowheads="1"/>
          </p:cNvSpPr>
          <p:nvPr/>
        </p:nvSpPr>
        <p:spPr bwMode="auto">
          <a:xfrm>
            <a:off x="2120630" y="1478673"/>
            <a:ext cx="3317132" cy="441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r>
              <a:rPr lang="es-AR" altLang="es-AR" sz="1800" b="1" dirty="0">
                <a:latin typeface="+mj-lt"/>
              </a:rPr>
              <a:t>INDUSTRIA DE ENSAMBLAJE</a:t>
            </a:r>
          </a:p>
          <a:p>
            <a:pPr algn="just" eaLnBrk="1" hangingPunct="1">
              <a:defRPr/>
            </a:pPr>
            <a:endParaRPr lang="es-AR" altLang="es-AR" sz="2000" dirty="0">
              <a:latin typeface="+mj-lt"/>
            </a:endParaRPr>
          </a:p>
          <a:p>
            <a:pPr algn="just" eaLnBrk="1" hangingPunct="1">
              <a:defRPr/>
            </a:pPr>
            <a:endParaRPr lang="es-AR" altLang="es-AR" sz="2000" dirty="0">
              <a:latin typeface="+mj-lt"/>
            </a:endParaRPr>
          </a:p>
        </p:txBody>
      </p:sp>
      <p:sp>
        <p:nvSpPr>
          <p:cNvPr id="2" name="Marcador de número de diapositiva 1">
            <a:extLst>
              <a:ext uri="{FF2B5EF4-FFF2-40B4-BE49-F238E27FC236}">
                <a16:creationId xmlns:a16="http://schemas.microsoft.com/office/drawing/2014/main" id="{4133B5BE-5567-4366-9C9D-4F8CADA57D79}"/>
              </a:ext>
            </a:extLst>
          </p:cNvPr>
          <p:cNvSpPr>
            <a:spLocks noGrp="1"/>
          </p:cNvSpPr>
          <p:nvPr>
            <p:ph type="sldNum" sz="quarter" idx="12"/>
          </p:nvPr>
        </p:nvSpPr>
        <p:spPr>
          <a:xfrm>
            <a:off x="387170" y="849308"/>
            <a:ext cx="779767" cy="365125"/>
          </a:xfrm>
        </p:spPr>
        <p:txBody>
          <a:bodyPr/>
          <a:lstStyle/>
          <a:p>
            <a:fld id="{D57F1E4F-1CFF-5643-939E-217C01CDF565}" type="slidenum">
              <a:rPr lang="en-US" smtClean="0"/>
              <a:pPr/>
              <a:t>10</a:t>
            </a:fld>
            <a:endParaRPr lang="en-US" dirty="0"/>
          </a:p>
        </p:txBody>
      </p:sp>
      <p:sp>
        <p:nvSpPr>
          <p:cNvPr id="3" name="Rectángulo 2">
            <a:extLst>
              <a:ext uri="{FF2B5EF4-FFF2-40B4-BE49-F238E27FC236}">
                <a16:creationId xmlns:a16="http://schemas.microsoft.com/office/drawing/2014/main" id="{EB0F3E38-6A17-4FE8-BB59-D9A718DB5FAE}"/>
              </a:ext>
            </a:extLst>
          </p:cNvPr>
          <p:cNvSpPr/>
          <p:nvPr/>
        </p:nvSpPr>
        <p:spPr>
          <a:xfrm>
            <a:off x="2305456" y="2310870"/>
            <a:ext cx="1303506" cy="44747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PP</a:t>
            </a:r>
          </a:p>
        </p:txBody>
      </p:sp>
      <p:sp>
        <p:nvSpPr>
          <p:cNvPr id="6" name="Rectángulo 5">
            <a:extLst>
              <a:ext uri="{FF2B5EF4-FFF2-40B4-BE49-F238E27FC236}">
                <a16:creationId xmlns:a16="http://schemas.microsoft.com/office/drawing/2014/main" id="{657E0F7A-AB8F-4B7F-92BC-46AC5321ED3A}"/>
              </a:ext>
            </a:extLst>
          </p:cNvPr>
          <p:cNvSpPr/>
          <p:nvPr/>
        </p:nvSpPr>
        <p:spPr>
          <a:xfrm>
            <a:off x="2305456" y="2962347"/>
            <a:ext cx="1303506" cy="44747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Rectángulo 6">
            <a:extLst>
              <a:ext uri="{FF2B5EF4-FFF2-40B4-BE49-F238E27FC236}">
                <a16:creationId xmlns:a16="http://schemas.microsoft.com/office/drawing/2014/main" id="{7229C14A-FDB5-46CA-B211-1E39130BE09F}"/>
              </a:ext>
            </a:extLst>
          </p:cNvPr>
          <p:cNvSpPr/>
          <p:nvPr/>
        </p:nvSpPr>
        <p:spPr>
          <a:xfrm>
            <a:off x="2305456" y="3837560"/>
            <a:ext cx="1303506" cy="44747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Rectángulo 7">
            <a:extLst>
              <a:ext uri="{FF2B5EF4-FFF2-40B4-BE49-F238E27FC236}">
                <a16:creationId xmlns:a16="http://schemas.microsoft.com/office/drawing/2014/main" id="{5B863566-949A-419C-A20A-1E21422D9990}"/>
              </a:ext>
            </a:extLst>
          </p:cNvPr>
          <p:cNvSpPr/>
          <p:nvPr/>
        </p:nvSpPr>
        <p:spPr>
          <a:xfrm>
            <a:off x="2305456" y="4483591"/>
            <a:ext cx="1303506" cy="44747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Rectángulo 8">
            <a:extLst>
              <a:ext uri="{FF2B5EF4-FFF2-40B4-BE49-F238E27FC236}">
                <a16:creationId xmlns:a16="http://schemas.microsoft.com/office/drawing/2014/main" id="{0C3A6BB7-FFE1-4ADD-9CE2-0603DE352F9B}"/>
              </a:ext>
            </a:extLst>
          </p:cNvPr>
          <p:cNvSpPr/>
          <p:nvPr/>
        </p:nvSpPr>
        <p:spPr>
          <a:xfrm>
            <a:off x="2305456" y="5440247"/>
            <a:ext cx="1303506" cy="44747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Rectángulo 9">
            <a:extLst>
              <a:ext uri="{FF2B5EF4-FFF2-40B4-BE49-F238E27FC236}">
                <a16:creationId xmlns:a16="http://schemas.microsoft.com/office/drawing/2014/main" id="{12E9094C-8908-4600-929D-BCCE85AA5720}"/>
              </a:ext>
            </a:extLst>
          </p:cNvPr>
          <p:cNvSpPr/>
          <p:nvPr/>
        </p:nvSpPr>
        <p:spPr>
          <a:xfrm>
            <a:off x="2305456" y="6092000"/>
            <a:ext cx="1303506" cy="44747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 name="Cerrar llave 3">
            <a:extLst>
              <a:ext uri="{FF2B5EF4-FFF2-40B4-BE49-F238E27FC236}">
                <a16:creationId xmlns:a16="http://schemas.microsoft.com/office/drawing/2014/main" id="{9C3D0D29-D51C-4CBB-A481-0B96726E9BE1}"/>
              </a:ext>
            </a:extLst>
          </p:cNvPr>
          <p:cNvSpPr/>
          <p:nvPr/>
        </p:nvSpPr>
        <p:spPr>
          <a:xfrm>
            <a:off x="3764603" y="2554610"/>
            <a:ext cx="175099" cy="675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12" name="Cerrar llave 11">
            <a:extLst>
              <a:ext uri="{FF2B5EF4-FFF2-40B4-BE49-F238E27FC236}">
                <a16:creationId xmlns:a16="http://schemas.microsoft.com/office/drawing/2014/main" id="{24ED890A-B061-4BAD-B0F1-1E9D4F98FA3C}"/>
              </a:ext>
            </a:extLst>
          </p:cNvPr>
          <p:cNvSpPr/>
          <p:nvPr/>
        </p:nvSpPr>
        <p:spPr>
          <a:xfrm>
            <a:off x="3764603" y="3947272"/>
            <a:ext cx="175099" cy="675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13" name="Cerrar llave 12">
            <a:extLst>
              <a:ext uri="{FF2B5EF4-FFF2-40B4-BE49-F238E27FC236}">
                <a16:creationId xmlns:a16="http://schemas.microsoft.com/office/drawing/2014/main" id="{D6BE7FC7-4FC7-4A05-9EB6-F4E04C3AA32C}"/>
              </a:ext>
            </a:extLst>
          </p:cNvPr>
          <p:cNvSpPr/>
          <p:nvPr/>
        </p:nvSpPr>
        <p:spPr>
          <a:xfrm>
            <a:off x="3764603" y="5663983"/>
            <a:ext cx="175099" cy="675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14" name="Rectángulo 13">
            <a:extLst>
              <a:ext uri="{FF2B5EF4-FFF2-40B4-BE49-F238E27FC236}">
                <a16:creationId xmlns:a16="http://schemas.microsoft.com/office/drawing/2014/main" id="{F284BB2A-E4A5-4355-88CD-4B66861C388E}"/>
              </a:ext>
            </a:extLst>
          </p:cNvPr>
          <p:cNvSpPr/>
          <p:nvPr/>
        </p:nvSpPr>
        <p:spPr>
          <a:xfrm>
            <a:off x="4095342" y="2573982"/>
            <a:ext cx="1549939" cy="6713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5" name="Rectángulo 14">
            <a:extLst>
              <a:ext uri="{FF2B5EF4-FFF2-40B4-BE49-F238E27FC236}">
                <a16:creationId xmlns:a16="http://schemas.microsoft.com/office/drawing/2014/main" id="{B05F846B-3679-4779-998E-2B39999527A1}"/>
              </a:ext>
            </a:extLst>
          </p:cNvPr>
          <p:cNvSpPr/>
          <p:nvPr/>
        </p:nvSpPr>
        <p:spPr>
          <a:xfrm>
            <a:off x="4095343" y="3937129"/>
            <a:ext cx="1549938" cy="68734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6" name="Rectángulo 15">
            <a:extLst>
              <a:ext uri="{FF2B5EF4-FFF2-40B4-BE49-F238E27FC236}">
                <a16:creationId xmlns:a16="http://schemas.microsoft.com/office/drawing/2014/main" id="{E769EDA7-2F08-433D-8ECE-B41BEDA9CD8E}"/>
              </a:ext>
            </a:extLst>
          </p:cNvPr>
          <p:cNvSpPr/>
          <p:nvPr/>
        </p:nvSpPr>
        <p:spPr>
          <a:xfrm>
            <a:off x="4095343" y="5680056"/>
            <a:ext cx="1549938" cy="67552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7" name="Cerrar llave 16">
            <a:extLst>
              <a:ext uri="{FF2B5EF4-FFF2-40B4-BE49-F238E27FC236}">
                <a16:creationId xmlns:a16="http://schemas.microsoft.com/office/drawing/2014/main" id="{57164281-B383-485B-A267-54A4D74CC864}"/>
              </a:ext>
            </a:extLst>
          </p:cNvPr>
          <p:cNvSpPr/>
          <p:nvPr/>
        </p:nvSpPr>
        <p:spPr>
          <a:xfrm>
            <a:off x="5645282" y="2876538"/>
            <a:ext cx="557720" cy="131121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18" name="Rectángulo 17">
            <a:extLst>
              <a:ext uri="{FF2B5EF4-FFF2-40B4-BE49-F238E27FC236}">
                <a16:creationId xmlns:a16="http://schemas.microsoft.com/office/drawing/2014/main" id="{B099C2EF-532E-46E4-8BDF-801588BAD775}"/>
              </a:ext>
            </a:extLst>
          </p:cNvPr>
          <p:cNvSpPr/>
          <p:nvPr/>
        </p:nvSpPr>
        <p:spPr>
          <a:xfrm>
            <a:off x="6358643" y="3162038"/>
            <a:ext cx="1394298" cy="67552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9" name="Cerrar llave 18">
            <a:extLst>
              <a:ext uri="{FF2B5EF4-FFF2-40B4-BE49-F238E27FC236}">
                <a16:creationId xmlns:a16="http://schemas.microsoft.com/office/drawing/2014/main" id="{230164EE-B6E5-4700-B870-B989AFBB8099}"/>
              </a:ext>
            </a:extLst>
          </p:cNvPr>
          <p:cNvSpPr/>
          <p:nvPr/>
        </p:nvSpPr>
        <p:spPr>
          <a:xfrm>
            <a:off x="5645282" y="2873302"/>
            <a:ext cx="557720" cy="131121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20" name="Rectángulo 19">
            <a:extLst>
              <a:ext uri="{FF2B5EF4-FFF2-40B4-BE49-F238E27FC236}">
                <a16:creationId xmlns:a16="http://schemas.microsoft.com/office/drawing/2014/main" id="{BCA2E2C7-4526-4ED6-B7BE-F34753C7DC1C}"/>
              </a:ext>
            </a:extLst>
          </p:cNvPr>
          <p:cNvSpPr/>
          <p:nvPr/>
        </p:nvSpPr>
        <p:spPr>
          <a:xfrm>
            <a:off x="8894322" y="4300282"/>
            <a:ext cx="1971474" cy="1040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1" name="Cerrar llave 20">
            <a:extLst>
              <a:ext uri="{FF2B5EF4-FFF2-40B4-BE49-F238E27FC236}">
                <a16:creationId xmlns:a16="http://schemas.microsoft.com/office/drawing/2014/main" id="{7B87E23F-F2FD-4466-B6DD-1387D7C497ED}"/>
              </a:ext>
            </a:extLst>
          </p:cNvPr>
          <p:cNvSpPr/>
          <p:nvPr/>
        </p:nvSpPr>
        <p:spPr>
          <a:xfrm>
            <a:off x="5645282" y="2873302"/>
            <a:ext cx="557720" cy="131121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23" name="Cerrar llave 22">
            <a:extLst>
              <a:ext uri="{FF2B5EF4-FFF2-40B4-BE49-F238E27FC236}">
                <a16:creationId xmlns:a16="http://schemas.microsoft.com/office/drawing/2014/main" id="{ADC78F5A-562F-4233-83B6-95A5C53C1834}"/>
              </a:ext>
            </a:extLst>
          </p:cNvPr>
          <p:cNvSpPr/>
          <p:nvPr/>
        </p:nvSpPr>
        <p:spPr>
          <a:xfrm>
            <a:off x="7908582" y="3528910"/>
            <a:ext cx="674458" cy="2482784"/>
          </a:xfrm>
          <a:prstGeom prst="rightBrace">
            <a:avLst>
              <a:gd name="adj1" fmla="val 41506"/>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5" name="CuadroTexto 4">
            <a:extLst>
              <a:ext uri="{FF2B5EF4-FFF2-40B4-BE49-F238E27FC236}">
                <a16:creationId xmlns:a16="http://schemas.microsoft.com/office/drawing/2014/main" id="{886C1907-01DF-47B7-A508-5AF0C866E0B0}"/>
              </a:ext>
            </a:extLst>
          </p:cNvPr>
          <p:cNvSpPr txBox="1"/>
          <p:nvPr/>
        </p:nvSpPr>
        <p:spPr>
          <a:xfrm>
            <a:off x="2441643" y="2368091"/>
            <a:ext cx="1011676" cy="338554"/>
          </a:xfrm>
          <a:prstGeom prst="rect">
            <a:avLst/>
          </a:prstGeom>
          <a:noFill/>
        </p:spPr>
        <p:txBody>
          <a:bodyPr wrap="square" rtlCol="0">
            <a:spAutoFit/>
          </a:bodyPr>
          <a:lstStyle/>
          <a:p>
            <a:r>
              <a:rPr lang="es-AR" sz="1600" dirty="0"/>
              <a:t>PIEZA 1</a:t>
            </a:r>
          </a:p>
        </p:txBody>
      </p:sp>
      <p:sp>
        <p:nvSpPr>
          <p:cNvPr id="24" name="CuadroTexto 23">
            <a:extLst>
              <a:ext uri="{FF2B5EF4-FFF2-40B4-BE49-F238E27FC236}">
                <a16:creationId xmlns:a16="http://schemas.microsoft.com/office/drawing/2014/main" id="{E3AE58C3-CAD6-4504-A4C1-A1711C72CA73}"/>
              </a:ext>
            </a:extLst>
          </p:cNvPr>
          <p:cNvSpPr txBox="1"/>
          <p:nvPr/>
        </p:nvSpPr>
        <p:spPr>
          <a:xfrm>
            <a:off x="2454614" y="2977372"/>
            <a:ext cx="1011676" cy="338554"/>
          </a:xfrm>
          <a:prstGeom prst="rect">
            <a:avLst/>
          </a:prstGeom>
          <a:noFill/>
        </p:spPr>
        <p:txBody>
          <a:bodyPr wrap="square" rtlCol="0">
            <a:spAutoFit/>
          </a:bodyPr>
          <a:lstStyle/>
          <a:p>
            <a:r>
              <a:rPr lang="es-AR" sz="1600" dirty="0"/>
              <a:t>PIEZA 2</a:t>
            </a:r>
          </a:p>
        </p:txBody>
      </p:sp>
      <p:sp>
        <p:nvSpPr>
          <p:cNvPr id="25" name="CuadroTexto 24">
            <a:extLst>
              <a:ext uri="{FF2B5EF4-FFF2-40B4-BE49-F238E27FC236}">
                <a16:creationId xmlns:a16="http://schemas.microsoft.com/office/drawing/2014/main" id="{ABABE243-A2C9-4571-8512-A9AE3519DE05}"/>
              </a:ext>
            </a:extLst>
          </p:cNvPr>
          <p:cNvSpPr txBox="1"/>
          <p:nvPr/>
        </p:nvSpPr>
        <p:spPr>
          <a:xfrm>
            <a:off x="2454614" y="3859668"/>
            <a:ext cx="1011676" cy="338554"/>
          </a:xfrm>
          <a:prstGeom prst="rect">
            <a:avLst/>
          </a:prstGeom>
          <a:noFill/>
        </p:spPr>
        <p:txBody>
          <a:bodyPr wrap="square" rtlCol="0">
            <a:spAutoFit/>
          </a:bodyPr>
          <a:lstStyle/>
          <a:p>
            <a:r>
              <a:rPr lang="es-AR" sz="1600" dirty="0"/>
              <a:t>PIEZA 3</a:t>
            </a:r>
          </a:p>
        </p:txBody>
      </p:sp>
      <p:sp>
        <p:nvSpPr>
          <p:cNvPr id="26" name="CuadroTexto 25">
            <a:extLst>
              <a:ext uri="{FF2B5EF4-FFF2-40B4-BE49-F238E27FC236}">
                <a16:creationId xmlns:a16="http://schemas.microsoft.com/office/drawing/2014/main" id="{AFE8456C-04A9-40B3-9EAB-A173AA6CFB11}"/>
              </a:ext>
            </a:extLst>
          </p:cNvPr>
          <p:cNvSpPr txBox="1"/>
          <p:nvPr/>
        </p:nvSpPr>
        <p:spPr>
          <a:xfrm>
            <a:off x="2474069" y="4522661"/>
            <a:ext cx="1011676" cy="338554"/>
          </a:xfrm>
          <a:prstGeom prst="rect">
            <a:avLst/>
          </a:prstGeom>
          <a:noFill/>
        </p:spPr>
        <p:txBody>
          <a:bodyPr wrap="square" rtlCol="0">
            <a:spAutoFit/>
          </a:bodyPr>
          <a:lstStyle/>
          <a:p>
            <a:r>
              <a:rPr lang="es-AR" sz="1600" dirty="0"/>
              <a:t>PIEZA 4</a:t>
            </a:r>
          </a:p>
        </p:txBody>
      </p:sp>
      <p:sp>
        <p:nvSpPr>
          <p:cNvPr id="27" name="CuadroTexto 26">
            <a:extLst>
              <a:ext uri="{FF2B5EF4-FFF2-40B4-BE49-F238E27FC236}">
                <a16:creationId xmlns:a16="http://schemas.microsoft.com/office/drawing/2014/main" id="{16C75D26-A0DA-4103-919A-4BA3CDCDDB33}"/>
              </a:ext>
            </a:extLst>
          </p:cNvPr>
          <p:cNvSpPr txBox="1"/>
          <p:nvPr/>
        </p:nvSpPr>
        <p:spPr>
          <a:xfrm>
            <a:off x="2451371" y="5479317"/>
            <a:ext cx="1011676" cy="338554"/>
          </a:xfrm>
          <a:prstGeom prst="rect">
            <a:avLst/>
          </a:prstGeom>
          <a:noFill/>
        </p:spPr>
        <p:txBody>
          <a:bodyPr wrap="square" rtlCol="0">
            <a:spAutoFit/>
          </a:bodyPr>
          <a:lstStyle/>
          <a:p>
            <a:r>
              <a:rPr lang="es-AR" sz="1600" dirty="0"/>
              <a:t>PIEZA 5</a:t>
            </a:r>
          </a:p>
        </p:txBody>
      </p:sp>
      <p:sp>
        <p:nvSpPr>
          <p:cNvPr id="28" name="CuadroTexto 27">
            <a:extLst>
              <a:ext uri="{FF2B5EF4-FFF2-40B4-BE49-F238E27FC236}">
                <a16:creationId xmlns:a16="http://schemas.microsoft.com/office/drawing/2014/main" id="{B5630D67-57DE-409E-B920-808886F89B4F}"/>
              </a:ext>
            </a:extLst>
          </p:cNvPr>
          <p:cNvSpPr txBox="1"/>
          <p:nvPr/>
        </p:nvSpPr>
        <p:spPr>
          <a:xfrm>
            <a:off x="2474069" y="6131070"/>
            <a:ext cx="1011676" cy="338554"/>
          </a:xfrm>
          <a:prstGeom prst="rect">
            <a:avLst/>
          </a:prstGeom>
          <a:noFill/>
        </p:spPr>
        <p:txBody>
          <a:bodyPr wrap="square" rtlCol="0">
            <a:spAutoFit/>
          </a:bodyPr>
          <a:lstStyle/>
          <a:p>
            <a:r>
              <a:rPr lang="es-AR" sz="1600" dirty="0"/>
              <a:t>PIEZA 6</a:t>
            </a:r>
          </a:p>
        </p:txBody>
      </p:sp>
      <p:sp>
        <p:nvSpPr>
          <p:cNvPr id="29" name="CuadroTexto 28">
            <a:extLst>
              <a:ext uri="{FF2B5EF4-FFF2-40B4-BE49-F238E27FC236}">
                <a16:creationId xmlns:a16="http://schemas.microsoft.com/office/drawing/2014/main" id="{0426BA05-E450-43B8-813D-5A0A25F7C264}"/>
              </a:ext>
            </a:extLst>
          </p:cNvPr>
          <p:cNvSpPr txBox="1"/>
          <p:nvPr/>
        </p:nvSpPr>
        <p:spPr>
          <a:xfrm>
            <a:off x="3938081" y="2610836"/>
            <a:ext cx="1793130" cy="646331"/>
          </a:xfrm>
          <a:prstGeom prst="rect">
            <a:avLst/>
          </a:prstGeom>
          <a:noFill/>
        </p:spPr>
        <p:txBody>
          <a:bodyPr wrap="square" rtlCol="0">
            <a:spAutoFit/>
          </a:bodyPr>
          <a:lstStyle/>
          <a:p>
            <a:pPr algn="ctr"/>
            <a:r>
              <a:rPr lang="es-AR" dirty="0"/>
              <a:t> </a:t>
            </a:r>
            <a:r>
              <a:rPr lang="es-AR" sz="1600" dirty="0"/>
              <a:t>SUBCONJUNTO</a:t>
            </a:r>
            <a:r>
              <a:rPr lang="es-AR" dirty="0"/>
              <a:t> 1</a:t>
            </a:r>
          </a:p>
        </p:txBody>
      </p:sp>
      <p:sp>
        <p:nvSpPr>
          <p:cNvPr id="30" name="CuadroTexto 29">
            <a:extLst>
              <a:ext uri="{FF2B5EF4-FFF2-40B4-BE49-F238E27FC236}">
                <a16:creationId xmlns:a16="http://schemas.microsoft.com/office/drawing/2014/main" id="{D36ED830-F548-4680-BEA3-2CCA5D371F3A}"/>
              </a:ext>
            </a:extLst>
          </p:cNvPr>
          <p:cNvSpPr txBox="1"/>
          <p:nvPr/>
        </p:nvSpPr>
        <p:spPr>
          <a:xfrm>
            <a:off x="3942945" y="5700887"/>
            <a:ext cx="1793130" cy="646331"/>
          </a:xfrm>
          <a:prstGeom prst="rect">
            <a:avLst/>
          </a:prstGeom>
          <a:noFill/>
        </p:spPr>
        <p:txBody>
          <a:bodyPr wrap="square" rtlCol="0">
            <a:spAutoFit/>
          </a:bodyPr>
          <a:lstStyle/>
          <a:p>
            <a:pPr algn="ctr"/>
            <a:r>
              <a:rPr lang="es-AR" dirty="0"/>
              <a:t> </a:t>
            </a:r>
            <a:r>
              <a:rPr lang="es-AR" sz="1600" dirty="0"/>
              <a:t>SUBCONJUNTO</a:t>
            </a:r>
            <a:r>
              <a:rPr lang="es-AR" dirty="0"/>
              <a:t> 3</a:t>
            </a:r>
          </a:p>
        </p:txBody>
      </p:sp>
      <p:sp>
        <p:nvSpPr>
          <p:cNvPr id="31" name="CuadroTexto 30">
            <a:extLst>
              <a:ext uri="{FF2B5EF4-FFF2-40B4-BE49-F238E27FC236}">
                <a16:creationId xmlns:a16="http://schemas.microsoft.com/office/drawing/2014/main" id="{F3FDA0DC-823C-44EE-A1A8-C53E2A6F5A5F}"/>
              </a:ext>
            </a:extLst>
          </p:cNvPr>
          <p:cNvSpPr txBox="1"/>
          <p:nvPr/>
        </p:nvSpPr>
        <p:spPr>
          <a:xfrm>
            <a:off x="3938081" y="3989584"/>
            <a:ext cx="1793130" cy="646331"/>
          </a:xfrm>
          <a:prstGeom prst="rect">
            <a:avLst/>
          </a:prstGeom>
          <a:noFill/>
        </p:spPr>
        <p:txBody>
          <a:bodyPr wrap="square" rtlCol="0">
            <a:spAutoFit/>
          </a:bodyPr>
          <a:lstStyle/>
          <a:p>
            <a:pPr algn="ctr"/>
            <a:r>
              <a:rPr lang="es-AR" dirty="0"/>
              <a:t> </a:t>
            </a:r>
            <a:r>
              <a:rPr lang="es-AR" sz="1600" dirty="0"/>
              <a:t>SUBCONJUNTO</a:t>
            </a:r>
            <a:r>
              <a:rPr lang="es-AR" dirty="0"/>
              <a:t> 2</a:t>
            </a:r>
          </a:p>
        </p:txBody>
      </p:sp>
      <p:sp>
        <p:nvSpPr>
          <p:cNvPr id="32" name="Rectángulo 31">
            <a:extLst>
              <a:ext uri="{FF2B5EF4-FFF2-40B4-BE49-F238E27FC236}">
                <a16:creationId xmlns:a16="http://schemas.microsoft.com/office/drawing/2014/main" id="{B560412E-6390-4563-8403-A2FC1144A3F0}"/>
              </a:ext>
            </a:extLst>
          </p:cNvPr>
          <p:cNvSpPr/>
          <p:nvPr/>
        </p:nvSpPr>
        <p:spPr>
          <a:xfrm>
            <a:off x="6371612" y="3162038"/>
            <a:ext cx="1394298" cy="67552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3" name="CuadroTexto 32">
            <a:extLst>
              <a:ext uri="{FF2B5EF4-FFF2-40B4-BE49-F238E27FC236}">
                <a16:creationId xmlns:a16="http://schemas.microsoft.com/office/drawing/2014/main" id="{DD71543D-21AA-404D-9E46-1B1E51A0C953}"/>
              </a:ext>
            </a:extLst>
          </p:cNvPr>
          <p:cNvSpPr txBox="1"/>
          <p:nvPr/>
        </p:nvSpPr>
        <p:spPr>
          <a:xfrm>
            <a:off x="6248398" y="3162038"/>
            <a:ext cx="1517512" cy="646331"/>
          </a:xfrm>
          <a:prstGeom prst="rect">
            <a:avLst/>
          </a:prstGeom>
          <a:noFill/>
        </p:spPr>
        <p:txBody>
          <a:bodyPr wrap="square" rtlCol="0">
            <a:spAutoFit/>
          </a:bodyPr>
          <a:lstStyle/>
          <a:p>
            <a:pPr algn="ctr"/>
            <a:r>
              <a:rPr lang="es-AR" dirty="0"/>
              <a:t> </a:t>
            </a:r>
            <a:r>
              <a:rPr lang="es-AR" sz="1600" dirty="0"/>
              <a:t>CONJUNTO</a:t>
            </a:r>
            <a:r>
              <a:rPr lang="es-AR" dirty="0"/>
              <a:t> 1</a:t>
            </a:r>
          </a:p>
        </p:txBody>
      </p:sp>
      <p:sp>
        <p:nvSpPr>
          <p:cNvPr id="34" name="CuadroTexto 33">
            <a:extLst>
              <a:ext uri="{FF2B5EF4-FFF2-40B4-BE49-F238E27FC236}">
                <a16:creationId xmlns:a16="http://schemas.microsoft.com/office/drawing/2014/main" id="{728592F4-F129-45CD-ACFC-0C36D4A0278A}"/>
              </a:ext>
            </a:extLst>
          </p:cNvPr>
          <p:cNvSpPr txBox="1"/>
          <p:nvPr/>
        </p:nvSpPr>
        <p:spPr>
          <a:xfrm>
            <a:off x="9036994" y="4497439"/>
            <a:ext cx="1517512" cy="646331"/>
          </a:xfrm>
          <a:prstGeom prst="rect">
            <a:avLst/>
          </a:prstGeom>
          <a:noFill/>
        </p:spPr>
        <p:txBody>
          <a:bodyPr wrap="square" rtlCol="0">
            <a:spAutoFit/>
          </a:bodyPr>
          <a:lstStyle/>
          <a:p>
            <a:pPr algn="ctr"/>
            <a:r>
              <a:rPr lang="es-AR" dirty="0"/>
              <a:t> </a:t>
            </a:r>
            <a:r>
              <a:rPr lang="es-AR" sz="1600" b="1" dirty="0"/>
              <a:t>PRODUCTO TERMINADO</a:t>
            </a:r>
            <a:r>
              <a:rPr lang="es-AR" b="1" dirty="0"/>
              <a:t> </a:t>
            </a:r>
          </a:p>
        </p:txBody>
      </p:sp>
      <p:sp>
        <p:nvSpPr>
          <p:cNvPr id="11" name="CuadroTexto 10">
            <a:extLst>
              <a:ext uri="{FF2B5EF4-FFF2-40B4-BE49-F238E27FC236}">
                <a16:creationId xmlns:a16="http://schemas.microsoft.com/office/drawing/2014/main" id="{6C1EF089-99DA-4B3E-9D28-C15530D94B07}"/>
              </a:ext>
            </a:extLst>
          </p:cNvPr>
          <p:cNvSpPr txBox="1"/>
          <p:nvPr/>
        </p:nvSpPr>
        <p:spPr>
          <a:xfrm>
            <a:off x="3608962" y="906492"/>
            <a:ext cx="5097294" cy="400110"/>
          </a:xfrm>
          <a:prstGeom prst="rect">
            <a:avLst/>
          </a:prstGeom>
          <a:noFill/>
        </p:spPr>
        <p:txBody>
          <a:bodyPr wrap="square" rtlCol="0">
            <a:spAutoFit/>
          </a:bodyPr>
          <a:lstStyle/>
          <a:p>
            <a:r>
              <a:rPr lang="es-AR" sz="2000" b="1" dirty="0"/>
              <a:t>SISTEMA DE COSTEO POR ORDENES</a:t>
            </a:r>
          </a:p>
        </p:txBody>
      </p:sp>
    </p:spTree>
    <p:extLst>
      <p:ext uri="{BB962C8B-B14F-4D97-AF65-F5344CB8AC3E}">
        <p14:creationId xmlns:p14="http://schemas.microsoft.com/office/powerpoint/2010/main" val="26145434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Text Box 5">
            <a:extLst>
              <a:ext uri="{FF2B5EF4-FFF2-40B4-BE49-F238E27FC236}">
                <a16:creationId xmlns:a16="http://schemas.microsoft.com/office/drawing/2014/main" id="{FC14D97E-B05B-40A4-9F7D-F390F2E5470E}"/>
              </a:ext>
            </a:extLst>
          </p:cNvPr>
          <p:cNvSpPr txBox="1">
            <a:spLocks noChangeArrowheads="1"/>
          </p:cNvSpPr>
          <p:nvPr/>
        </p:nvSpPr>
        <p:spPr bwMode="auto">
          <a:xfrm>
            <a:off x="690664" y="158855"/>
            <a:ext cx="115013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85000"/>
                    <a:lumOff val="15000"/>
                  </a:schemeClr>
                </a:solidFill>
                <a:latin typeface="+mj-lt"/>
                <a:cs typeface="Arial" charset="0"/>
              </a:rPr>
              <a:t>SISTEMA DE COSTEO INTEGRAL O POR ABSORCION</a:t>
            </a:r>
          </a:p>
        </p:txBody>
      </p:sp>
      <p:sp>
        <p:nvSpPr>
          <p:cNvPr id="6151" name="Rectangle 7">
            <a:extLst>
              <a:ext uri="{FF2B5EF4-FFF2-40B4-BE49-F238E27FC236}">
                <a16:creationId xmlns:a16="http://schemas.microsoft.com/office/drawing/2014/main" id="{1F55DB7F-5A7E-4D2C-8166-490773959246}"/>
              </a:ext>
            </a:extLst>
          </p:cNvPr>
          <p:cNvSpPr>
            <a:spLocks noChangeArrowheads="1"/>
          </p:cNvSpPr>
          <p:nvPr/>
        </p:nvSpPr>
        <p:spPr bwMode="auto">
          <a:xfrm>
            <a:off x="4095342" y="1099226"/>
            <a:ext cx="6953657" cy="782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r>
              <a:rPr lang="es-AR" altLang="es-AR" sz="2000" b="1" dirty="0">
                <a:latin typeface="+mj-lt"/>
              </a:rPr>
              <a:t>INDUSTRIA DE ENSAMBLAJE</a:t>
            </a:r>
          </a:p>
          <a:p>
            <a:pPr algn="just" eaLnBrk="1" hangingPunct="1">
              <a:defRPr/>
            </a:pPr>
            <a:endParaRPr lang="es-AR" altLang="es-AR" sz="2000" dirty="0">
              <a:latin typeface="+mj-lt"/>
            </a:endParaRPr>
          </a:p>
          <a:p>
            <a:pPr algn="just" eaLnBrk="1" hangingPunct="1">
              <a:defRPr/>
            </a:pPr>
            <a:endParaRPr lang="es-AR" altLang="es-AR" sz="2000" dirty="0">
              <a:latin typeface="+mj-lt"/>
            </a:endParaRPr>
          </a:p>
        </p:txBody>
      </p:sp>
      <p:sp>
        <p:nvSpPr>
          <p:cNvPr id="2" name="Marcador de número de diapositiva 1">
            <a:extLst>
              <a:ext uri="{FF2B5EF4-FFF2-40B4-BE49-F238E27FC236}">
                <a16:creationId xmlns:a16="http://schemas.microsoft.com/office/drawing/2014/main" id="{4133B5BE-5567-4366-9C9D-4F8CADA57D79}"/>
              </a:ext>
            </a:extLst>
          </p:cNvPr>
          <p:cNvSpPr>
            <a:spLocks noGrp="1"/>
          </p:cNvSpPr>
          <p:nvPr>
            <p:ph type="sldNum" sz="quarter" idx="12"/>
          </p:nvPr>
        </p:nvSpPr>
        <p:spPr>
          <a:xfrm>
            <a:off x="387170" y="849308"/>
            <a:ext cx="779767" cy="365125"/>
          </a:xfrm>
        </p:spPr>
        <p:txBody>
          <a:bodyPr/>
          <a:lstStyle/>
          <a:p>
            <a:fld id="{D57F1E4F-1CFF-5643-939E-217C01CDF565}" type="slidenum">
              <a:rPr lang="en-US" smtClean="0"/>
              <a:pPr/>
              <a:t>11</a:t>
            </a:fld>
            <a:endParaRPr lang="en-US" dirty="0"/>
          </a:p>
        </p:txBody>
      </p:sp>
      <p:sp>
        <p:nvSpPr>
          <p:cNvPr id="11" name="CuadroTexto 10">
            <a:extLst>
              <a:ext uri="{FF2B5EF4-FFF2-40B4-BE49-F238E27FC236}">
                <a16:creationId xmlns:a16="http://schemas.microsoft.com/office/drawing/2014/main" id="{E32A746D-9EE7-4791-8F6E-1B76C0F7F5B9}"/>
              </a:ext>
            </a:extLst>
          </p:cNvPr>
          <p:cNvSpPr txBox="1"/>
          <p:nvPr/>
        </p:nvSpPr>
        <p:spPr>
          <a:xfrm>
            <a:off x="2431916" y="2363821"/>
            <a:ext cx="8852170" cy="1569660"/>
          </a:xfrm>
          <a:prstGeom prst="rect">
            <a:avLst/>
          </a:prstGeom>
          <a:noFill/>
        </p:spPr>
        <p:txBody>
          <a:bodyPr wrap="square" rtlCol="0">
            <a:spAutoFit/>
          </a:bodyPr>
          <a:lstStyle/>
          <a:p>
            <a:r>
              <a:rPr lang="es-AR" sz="2400" dirty="0"/>
              <a:t>Queda por definir como se prorratearán los gastos indirectos, los gastos generales de fábrica y su incidencia en el costo final del producto, ya que algunos deberán absorber una mayor cantidad de estos costos</a:t>
            </a:r>
          </a:p>
        </p:txBody>
      </p:sp>
    </p:spTree>
    <p:extLst>
      <p:ext uri="{BB962C8B-B14F-4D97-AF65-F5344CB8AC3E}">
        <p14:creationId xmlns:p14="http://schemas.microsoft.com/office/powerpoint/2010/main" val="1629261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Text Box 5">
            <a:extLst>
              <a:ext uri="{FF2B5EF4-FFF2-40B4-BE49-F238E27FC236}">
                <a16:creationId xmlns:a16="http://schemas.microsoft.com/office/drawing/2014/main" id="{FC14D97E-B05B-40A4-9F7D-F390F2E5470E}"/>
              </a:ext>
            </a:extLst>
          </p:cNvPr>
          <p:cNvSpPr txBox="1">
            <a:spLocks noChangeArrowheads="1"/>
          </p:cNvSpPr>
          <p:nvPr/>
        </p:nvSpPr>
        <p:spPr bwMode="auto">
          <a:xfrm>
            <a:off x="690664" y="158855"/>
            <a:ext cx="115013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85000"/>
                    <a:lumOff val="15000"/>
                  </a:schemeClr>
                </a:solidFill>
                <a:latin typeface="+mj-lt"/>
                <a:cs typeface="Arial" charset="0"/>
              </a:rPr>
              <a:t>SISTEMA DE COSTEO INTEGRAL O POR ABSORCION</a:t>
            </a:r>
          </a:p>
        </p:txBody>
      </p:sp>
      <p:sp>
        <p:nvSpPr>
          <p:cNvPr id="6151" name="Rectangle 7">
            <a:extLst>
              <a:ext uri="{FF2B5EF4-FFF2-40B4-BE49-F238E27FC236}">
                <a16:creationId xmlns:a16="http://schemas.microsoft.com/office/drawing/2014/main" id="{1F55DB7F-5A7E-4D2C-8166-490773959246}"/>
              </a:ext>
            </a:extLst>
          </p:cNvPr>
          <p:cNvSpPr>
            <a:spLocks noChangeArrowheads="1"/>
          </p:cNvSpPr>
          <p:nvPr/>
        </p:nvSpPr>
        <p:spPr bwMode="auto">
          <a:xfrm>
            <a:off x="1298643" y="1585166"/>
            <a:ext cx="9906000" cy="3453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r>
              <a:rPr lang="es-AR" altLang="es-AR" sz="2400" b="1" dirty="0">
                <a:latin typeface="+mj-lt"/>
              </a:rPr>
              <a:t>SISTEMA DE COSTEO POR PROCESO</a:t>
            </a:r>
          </a:p>
          <a:p>
            <a:pPr algn="just" eaLnBrk="1" hangingPunct="1">
              <a:defRPr/>
            </a:pPr>
            <a:endParaRPr lang="es-AR" altLang="es-AR" sz="2000" dirty="0">
              <a:latin typeface="+mj-lt"/>
            </a:endParaRPr>
          </a:p>
          <a:p>
            <a:pPr marL="517525" indent="-342900" algn="just" eaLnBrk="1" hangingPunct="1">
              <a:buClr>
                <a:srgbClr val="92D050"/>
              </a:buClr>
              <a:buFont typeface="Arial" panose="020B0604020202020204" pitchFamily="34" charset="0"/>
              <a:buChar char="•"/>
              <a:defRPr/>
            </a:pPr>
            <a:r>
              <a:rPr lang="es-AR" altLang="es-AR" sz="2000" dirty="0">
                <a:latin typeface="+mj-lt"/>
              </a:rPr>
              <a:t>Se utiliza en el caso de fabricación mediante procesos continuos</a:t>
            </a:r>
          </a:p>
          <a:p>
            <a:pPr marL="517525" indent="-342900" algn="just" eaLnBrk="1" hangingPunct="1">
              <a:buClr>
                <a:srgbClr val="92D050"/>
              </a:buClr>
              <a:buFont typeface="Arial" panose="020B0604020202020204" pitchFamily="34" charset="0"/>
              <a:buChar char="•"/>
              <a:defRPr/>
            </a:pPr>
            <a:endParaRPr lang="es-AR" altLang="es-AR" sz="2000" dirty="0">
              <a:latin typeface="+mj-lt"/>
            </a:endParaRPr>
          </a:p>
          <a:p>
            <a:pPr marL="517525" indent="-342900" algn="just" eaLnBrk="1" hangingPunct="1">
              <a:buClr>
                <a:srgbClr val="92D050"/>
              </a:buClr>
              <a:buFont typeface="Arial" panose="020B0604020202020204" pitchFamily="34" charset="0"/>
              <a:buChar char="•"/>
              <a:defRPr/>
            </a:pPr>
            <a:r>
              <a:rPr lang="es-AR" altLang="es-AR" sz="2000" dirty="0">
                <a:latin typeface="+mj-lt"/>
              </a:rPr>
              <a:t>En este caso no se pueden identificar las unidades que se procesan por lo tanto se cargan los gastos, mientras ocurre el proceso, al departamento correspondiente</a:t>
            </a:r>
          </a:p>
          <a:p>
            <a:pPr algn="just" eaLnBrk="1" hangingPunct="1">
              <a:defRPr/>
            </a:pPr>
            <a:endParaRPr lang="es-AR" altLang="es-AR" sz="2000" dirty="0">
              <a:latin typeface="+mj-lt"/>
            </a:endParaRPr>
          </a:p>
          <a:p>
            <a:pPr algn="just" eaLnBrk="1" hangingPunct="1">
              <a:defRPr/>
            </a:pPr>
            <a:endParaRPr lang="es-AR" altLang="es-AR" sz="2000" dirty="0">
              <a:latin typeface="+mj-lt"/>
            </a:endParaRPr>
          </a:p>
        </p:txBody>
      </p:sp>
      <p:sp>
        <p:nvSpPr>
          <p:cNvPr id="2" name="Marcador de número de diapositiva 1">
            <a:extLst>
              <a:ext uri="{FF2B5EF4-FFF2-40B4-BE49-F238E27FC236}">
                <a16:creationId xmlns:a16="http://schemas.microsoft.com/office/drawing/2014/main" id="{4133B5BE-5567-4366-9C9D-4F8CADA57D79}"/>
              </a:ext>
            </a:extLst>
          </p:cNvPr>
          <p:cNvSpPr>
            <a:spLocks noGrp="1"/>
          </p:cNvSpPr>
          <p:nvPr>
            <p:ph type="sldNum" sz="quarter" idx="12"/>
          </p:nvPr>
        </p:nvSpPr>
        <p:spPr>
          <a:xfrm>
            <a:off x="387170" y="849308"/>
            <a:ext cx="779767" cy="365125"/>
          </a:xfrm>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35595894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Text Box 5">
            <a:extLst>
              <a:ext uri="{FF2B5EF4-FFF2-40B4-BE49-F238E27FC236}">
                <a16:creationId xmlns:a16="http://schemas.microsoft.com/office/drawing/2014/main" id="{FC14D97E-B05B-40A4-9F7D-F390F2E5470E}"/>
              </a:ext>
            </a:extLst>
          </p:cNvPr>
          <p:cNvSpPr txBox="1">
            <a:spLocks noChangeArrowheads="1"/>
          </p:cNvSpPr>
          <p:nvPr/>
        </p:nvSpPr>
        <p:spPr bwMode="auto">
          <a:xfrm>
            <a:off x="690664" y="158855"/>
            <a:ext cx="115013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85000"/>
                    <a:lumOff val="15000"/>
                  </a:schemeClr>
                </a:solidFill>
                <a:latin typeface="+mj-lt"/>
                <a:cs typeface="Arial" charset="0"/>
              </a:rPr>
              <a:t>SISTEMA DE COSTEO INTEGRAL O POR ABSORCION</a:t>
            </a:r>
          </a:p>
        </p:txBody>
      </p:sp>
      <p:sp>
        <p:nvSpPr>
          <p:cNvPr id="6151" name="Rectangle 7">
            <a:extLst>
              <a:ext uri="{FF2B5EF4-FFF2-40B4-BE49-F238E27FC236}">
                <a16:creationId xmlns:a16="http://schemas.microsoft.com/office/drawing/2014/main" id="{1F55DB7F-5A7E-4D2C-8166-490773959246}"/>
              </a:ext>
            </a:extLst>
          </p:cNvPr>
          <p:cNvSpPr>
            <a:spLocks noChangeArrowheads="1"/>
          </p:cNvSpPr>
          <p:nvPr/>
        </p:nvSpPr>
        <p:spPr bwMode="auto">
          <a:xfrm>
            <a:off x="3681909" y="1407908"/>
            <a:ext cx="4367719" cy="441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r>
              <a:rPr lang="es-AR" altLang="es-AR" sz="1800" b="1" dirty="0">
                <a:latin typeface="+mj-lt"/>
              </a:rPr>
              <a:t>INDUSTRIA DE PROCESO CONTINUO</a:t>
            </a:r>
          </a:p>
          <a:p>
            <a:pPr algn="just" eaLnBrk="1" hangingPunct="1">
              <a:defRPr/>
            </a:pPr>
            <a:endParaRPr lang="es-AR" altLang="es-AR" sz="2000" dirty="0">
              <a:latin typeface="+mj-lt"/>
            </a:endParaRPr>
          </a:p>
          <a:p>
            <a:pPr algn="just" eaLnBrk="1" hangingPunct="1">
              <a:defRPr/>
            </a:pPr>
            <a:endParaRPr lang="es-AR" altLang="es-AR" sz="2000" dirty="0">
              <a:latin typeface="+mj-lt"/>
            </a:endParaRPr>
          </a:p>
        </p:txBody>
      </p:sp>
      <p:sp>
        <p:nvSpPr>
          <p:cNvPr id="2" name="Marcador de número de diapositiva 1">
            <a:extLst>
              <a:ext uri="{FF2B5EF4-FFF2-40B4-BE49-F238E27FC236}">
                <a16:creationId xmlns:a16="http://schemas.microsoft.com/office/drawing/2014/main" id="{4133B5BE-5567-4366-9C9D-4F8CADA57D79}"/>
              </a:ext>
            </a:extLst>
          </p:cNvPr>
          <p:cNvSpPr>
            <a:spLocks noGrp="1"/>
          </p:cNvSpPr>
          <p:nvPr>
            <p:ph type="sldNum" sz="quarter" idx="12"/>
          </p:nvPr>
        </p:nvSpPr>
        <p:spPr>
          <a:xfrm>
            <a:off x="387170" y="849308"/>
            <a:ext cx="779767" cy="365125"/>
          </a:xfrm>
        </p:spPr>
        <p:txBody>
          <a:bodyPr/>
          <a:lstStyle/>
          <a:p>
            <a:fld id="{D57F1E4F-1CFF-5643-939E-217C01CDF565}" type="slidenum">
              <a:rPr lang="en-US" smtClean="0"/>
              <a:pPr/>
              <a:t>13</a:t>
            </a:fld>
            <a:endParaRPr lang="en-US" dirty="0"/>
          </a:p>
        </p:txBody>
      </p:sp>
      <p:sp>
        <p:nvSpPr>
          <p:cNvPr id="20" name="Rectángulo 19">
            <a:extLst>
              <a:ext uri="{FF2B5EF4-FFF2-40B4-BE49-F238E27FC236}">
                <a16:creationId xmlns:a16="http://schemas.microsoft.com/office/drawing/2014/main" id="{BCA2E2C7-4526-4ED6-B7BE-F34753C7DC1C}"/>
              </a:ext>
            </a:extLst>
          </p:cNvPr>
          <p:cNvSpPr/>
          <p:nvPr/>
        </p:nvSpPr>
        <p:spPr>
          <a:xfrm>
            <a:off x="6622910" y="5918173"/>
            <a:ext cx="1857983" cy="6205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4" name="CuadroTexto 33">
            <a:extLst>
              <a:ext uri="{FF2B5EF4-FFF2-40B4-BE49-F238E27FC236}">
                <a16:creationId xmlns:a16="http://schemas.microsoft.com/office/drawing/2014/main" id="{728592F4-F129-45CD-ACFC-0C36D4A0278A}"/>
              </a:ext>
            </a:extLst>
          </p:cNvPr>
          <p:cNvSpPr txBox="1"/>
          <p:nvPr/>
        </p:nvSpPr>
        <p:spPr>
          <a:xfrm>
            <a:off x="6749369" y="5905286"/>
            <a:ext cx="1430154" cy="646331"/>
          </a:xfrm>
          <a:prstGeom prst="rect">
            <a:avLst/>
          </a:prstGeom>
          <a:noFill/>
        </p:spPr>
        <p:txBody>
          <a:bodyPr wrap="square" rtlCol="0">
            <a:spAutoFit/>
          </a:bodyPr>
          <a:lstStyle/>
          <a:p>
            <a:pPr algn="ctr"/>
            <a:r>
              <a:rPr lang="es-AR" dirty="0"/>
              <a:t> </a:t>
            </a:r>
            <a:r>
              <a:rPr lang="es-AR" sz="1600" b="1" dirty="0"/>
              <a:t>PRODUCTO TERMINADO</a:t>
            </a:r>
            <a:r>
              <a:rPr lang="es-AR" b="1" dirty="0"/>
              <a:t> </a:t>
            </a:r>
          </a:p>
        </p:txBody>
      </p:sp>
      <p:sp>
        <p:nvSpPr>
          <p:cNvPr id="11" name="CuadroTexto 10">
            <a:extLst>
              <a:ext uri="{FF2B5EF4-FFF2-40B4-BE49-F238E27FC236}">
                <a16:creationId xmlns:a16="http://schemas.microsoft.com/office/drawing/2014/main" id="{6C1EF089-99DA-4B3E-9D28-C15530D94B07}"/>
              </a:ext>
            </a:extLst>
          </p:cNvPr>
          <p:cNvSpPr txBox="1"/>
          <p:nvPr/>
        </p:nvSpPr>
        <p:spPr>
          <a:xfrm>
            <a:off x="3608962" y="906492"/>
            <a:ext cx="5097294" cy="400110"/>
          </a:xfrm>
          <a:prstGeom prst="rect">
            <a:avLst/>
          </a:prstGeom>
          <a:noFill/>
        </p:spPr>
        <p:txBody>
          <a:bodyPr wrap="square" rtlCol="0">
            <a:spAutoFit/>
          </a:bodyPr>
          <a:lstStyle/>
          <a:p>
            <a:r>
              <a:rPr lang="es-AR" sz="2000" b="1" dirty="0"/>
              <a:t>SISTEMA DE COSTEO POR PROCESO</a:t>
            </a:r>
          </a:p>
        </p:txBody>
      </p:sp>
      <p:sp>
        <p:nvSpPr>
          <p:cNvPr id="22" name="Flecha: doblada 21">
            <a:extLst>
              <a:ext uri="{FF2B5EF4-FFF2-40B4-BE49-F238E27FC236}">
                <a16:creationId xmlns:a16="http://schemas.microsoft.com/office/drawing/2014/main" id="{60EF4CD7-317E-45D5-B2E1-B8370C571C19}"/>
              </a:ext>
            </a:extLst>
          </p:cNvPr>
          <p:cNvSpPr/>
          <p:nvPr/>
        </p:nvSpPr>
        <p:spPr>
          <a:xfrm rot="5400000">
            <a:off x="2632169" y="1225358"/>
            <a:ext cx="1301830" cy="2811296"/>
          </a:xfrm>
          <a:prstGeom prst="ben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solidFill>
            </a:endParaRPr>
          </a:p>
        </p:txBody>
      </p:sp>
      <p:sp>
        <p:nvSpPr>
          <p:cNvPr id="35" name="CuadroTexto 34">
            <a:extLst>
              <a:ext uri="{FF2B5EF4-FFF2-40B4-BE49-F238E27FC236}">
                <a16:creationId xmlns:a16="http://schemas.microsoft.com/office/drawing/2014/main" id="{ACA47DB8-9CF3-4B3C-A8DE-449864F6EC03}"/>
              </a:ext>
            </a:extLst>
          </p:cNvPr>
          <p:cNvSpPr txBox="1"/>
          <p:nvPr/>
        </p:nvSpPr>
        <p:spPr>
          <a:xfrm>
            <a:off x="1848255" y="1980089"/>
            <a:ext cx="2412459" cy="369332"/>
          </a:xfrm>
          <a:prstGeom prst="rect">
            <a:avLst/>
          </a:prstGeom>
          <a:noFill/>
        </p:spPr>
        <p:txBody>
          <a:bodyPr wrap="square" rtlCol="0">
            <a:spAutoFit/>
          </a:bodyPr>
          <a:lstStyle/>
          <a:p>
            <a:r>
              <a:rPr lang="es-AR" b="1" dirty="0"/>
              <a:t>PRIMER PROCESO</a:t>
            </a:r>
          </a:p>
        </p:txBody>
      </p:sp>
      <p:sp>
        <p:nvSpPr>
          <p:cNvPr id="38" name="Flecha: doblada 37">
            <a:extLst>
              <a:ext uri="{FF2B5EF4-FFF2-40B4-BE49-F238E27FC236}">
                <a16:creationId xmlns:a16="http://schemas.microsoft.com/office/drawing/2014/main" id="{8D664D70-C9A8-4BD3-B6AA-EE2561A1618C}"/>
              </a:ext>
            </a:extLst>
          </p:cNvPr>
          <p:cNvSpPr/>
          <p:nvPr/>
        </p:nvSpPr>
        <p:spPr>
          <a:xfrm rot="5400000">
            <a:off x="4275026" y="2531926"/>
            <a:ext cx="1326756" cy="2846969"/>
          </a:xfrm>
          <a:prstGeom prst="ben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solidFill>
            </a:endParaRPr>
          </a:p>
        </p:txBody>
      </p:sp>
      <p:sp>
        <p:nvSpPr>
          <p:cNvPr id="39" name="CuadroTexto 38">
            <a:extLst>
              <a:ext uri="{FF2B5EF4-FFF2-40B4-BE49-F238E27FC236}">
                <a16:creationId xmlns:a16="http://schemas.microsoft.com/office/drawing/2014/main" id="{A52BE6ED-13C0-4CF4-ADEC-BEF2AAF75935}"/>
              </a:ext>
            </a:extLst>
          </p:cNvPr>
          <p:cNvSpPr txBox="1"/>
          <p:nvPr/>
        </p:nvSpPr>
        <p:spPr>
          <a:xfrm>
            <a:off x="3453310" y="3292031"/>
            <a:ext cx="2412459" cy="369332"/>
          </a:xfrm>
          <a:prstGeom prst="rect">
            <a:avLst/>
          </a:prstGeom>
          <a:noFill/>
        </p:spPr>
        <p:txBody>
          <a:bodyPr wrap="square" rtlCol="0">
            <a:spAutoFit/>
          </a:bodyPr>
          <a:lstStyle/>
          <a:p>
            <a:r>
              <a:rPr lang="es-AR" b="1" dirty="0"/>
              <a:t>SEGUNDO PROCESO</a:t>
            </a:r>
          </a:p>
        </p:txBody>
      </p:sp>
      <p:sp>
        <p:nvSpPr>
          <p:cNvPr id="42" name="Flecha: doblada 41">
            <a:extLst>
              <a:ext uri="{FF2B5EF4-FFF2-40B4-BE49-F238E27FC236}">
                <a16:creationId xmlns:a16="http://schemas.microsoft.com/office/drawing/2014/main" id="{DDD73F77-53AC-4E5B-AFCC-EFBC5C26E3DC}"/>
              </a:ext>
            </a:extLst>
          </p:cNvPr>
          <p:cNvSpPr/>
          <p:nvPr/>
        </p:nvSpPr>
        <p:spPr>
          <a:xfrm rot="5400000">
            <a:off x="5870331" y="3917084"/>
            <a:ext cx="1258728" cy="2662142"/>
          </a:xfrm>
          <a:prstGeom prst="ben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solidFill>
            </a:endParaRPr>
          </a:p>
        </p:txBody>
      </p:sp>
      <p:sp>
        <p:nvSpPr>
          <p:cNvPr id="43" name="CuadroTexto 42">
            <a:extLst>
              <a:ext uri="{FF2B5EF4-FFF2-40B4-BE49-F238E27FC236}">
                <a16:creationId xmlns:a16="http://schemas.microsoft.com/office/drawing/2014/main" id="{BA73E37C-1487-4705-B762-49371D86CBD3}"/>
              </a:ext>
            </a:extLst>
          </p:cNvPr>
          <p:cNvSpPr txBox="1"/>
          <p:nvPr/>
        </p:nvSpPr>
        <p:spPr>
          <a:xfrm>
            <a:off x="5139442" y="4578137"/>
            <a:ext cx="2412459" cy="369332"/>
          </a:xfrm>
          <a:prstGeom prst="rect">
            <a:avLst/>
          </a:prstGeom>
          <a:noFill/>
        </p:spPr>
        <p:txBody>
          <a:bodyPr wrap="square" rtlCol="0">
            <a:spAutoFit/>
          </a:bodyPr>
          <a:lstStyle/>
          <a:p>
            <a:r>
              <a:rPr lang="es-AR" b="1" dirty="0"/>
              <a:t>TERCER PROCESO</a:t>
            </a:r>
          </a:p>
        </p:txBody>
      </p:sp>
      <p:sp>
        <p:nvSpPr>
          <p:cNvPr id="36" name="CuadroTexto 35">
            <a:extLst>
              <a:ext uri="{FF2B5EF4-FFF2-40B4-BE49-F238E27FC236}">
                <a16:creationId xmlns:a16="http://schemas.microsoft.com/office/drawing/2014/main" id="{9E685527-515A-46BB-80E7-33A99BC1AF63}"/>
              </a:ext>
            </a:extLst>
          </p:cNvPr>
          <p:cNvSpPr txBox="1"/>
          <p:nvPr/>
        </p:nvSpPr>
        <p:spPr>
          <a:xfrm>
            <a:off x="7551901" y="2349421"/>
            <a:ext cx="4481214" cy="1477328"/>
          </a:xfrm>
          <a:prstGeom prst="rect">
            <a:avLst/>
          </a:prstGeom>
          <a:noFill/>
        </p:spPr>
        <p:txBody>
          <a:bodyPr wrap="square" rtlCol="0">
            <a:spAutoFit/>
          </a:bodyPr>
          <a:lstStyle/>
          <a:p>
            <a:r>
              <a:rPr lang="es-AR" dirty="0"/>
              <a:t>En cada uno de estos casos solo es posible cuantificar la carga de gastos variables ocurridos al  pasar por cada departamento, quedando sin resolver la distribución de gastos indirecto</a:t>
            </a:r>
          </a:p>
        </p:txBody>
      </p:sp>
    </p:spTree>
    <p:extLst>
      <p:ext uri="{BB962C8B-B14F-4D97-AF65-F5344CB8AC3E}">
        <p14:creationId xmlns:p14="http://schemas.microsoft.com/office/powerpoint/2010/main" val="22003830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Text Box 5">
            <a:extLst>
              <a:ext uri="{FF2B5EF4-FFF2-40B4-BE49-F238E27FC236}">
                <a16:creationId xmlns:a16="http://schemas.microsoft.com/office/drawing/2014/main" id="{FC14D97E-B05B-40A4-9F7D-F390F2E5470E}"/>
              </a:ext>
            </a:extLst>
          </p:cNvPr>
          <p:cNvSpPr txBox="1">
            <a:spLocks noChangeArrowheads="1"/>
          </p:cNvSpPr>
          <p:nvPr/>
        </p:nvSpPr>
        <p:spPr bwMode="auto">
          <a:xfrm>
            <a:off x="690664" y="158855"/>
            <a:ext cx="115013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85000"/>
                    <a:lumOff val="15000"/>
                  </a:schemeClr>
                </a:solidFill>
                <a:latin typeface="+mj-lt"/>
                <a:cs typeface="Arial" charset="0"/>
              </a:rPr>
              <a:t>SISTEMA DE COSTEO INTEGRAL O POR ABSORCION</a:t>
            </a:r>
          </a:p>
        </p:txBody>
      </p:sp>
      <p:sp>
        <p:nvSpPr>
          <p:cNvPr id="6151" name="Rectangle 7">
            <a:extLst>
              <a:ext uri="{FF2B5EF4-FFF2-40B4-BE49-F238E27FC236}">
                <a16:creationId xmlns:a16="http://schemas.microsoft.com/office/drawing/2014/main" id="{1F55DB7F-5A7E-4D2C-8166-490773959246}"/>
              </a:ext>
            </a:extLst>
          </p:cNvPr>
          <p:cNvSpPr>
            <a:spLocks noChangeArrowheads="1"/>
          </p:cNvSpPr>
          <p:nvPr/>
        </p:nvSpPr>
        <p:spPr bwMode="auto">
          <a:xfrm>
            <a:off x="3608962" y="1743252"/>
            <a:ext cx="4367719" cy="441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r>
              <a:rPr lang="es-AR" altLang="es-AR" sz="1800" b="1" dirty="0">
                <a:latin typeface="+mj-lt"/>
              </a:rPr>
              <a:t>INDUSTRIA DE PROCESO CONTINUO</a:t>
            </a:r>
          </a:p>
          <a:p>
            <a:pPr algn="just" eaLnBrk="1" hangingPunct="1">
              <a:defRPr/>
            </a:pPr>
            <a:endParaRPr lang="es-AR" altLang="es-AR" sz="2000" dirty="0">
              <a:latin typeface="+mj-lt"/>
            </a:endParaRPr>
          </a:p>
          <a:p>
            <a:pPr algn="just" eaLnBrk="1" hangingPunct="1">
              <a:defRPr/>
            </a:pPr>
            <a:endParaRPr lang="es-AR" altLang="es-AR" sz="2000" dirty="0">
              <a:latin typeface="+mj-lt"/>
            </a:endParaRPr>
          </a:p>
        </p:txBody>
      </p:sp>
      <p:sp>
        <p:nvSpPr>
          <p:cNvPr id="2" name="Marcador de número de diapositiva 1">
            <a:extLst>
              <a:ext uri="{FF2B5EF4-FFF2-40B4-BE49-F238E27FC236}">
                <a16:creationId xmlns:a16="http://schemas.microsoft.com/office/drawing/2014/main" id="{4133B5BE-5567-4366-9C9D-4F8CADA57D79}"/>
              </a:ext>
            </a:extLst>
          </p:cNvPr>
          <p:cNvSpPr>
            <a:spLocks noGrp="1"/>
          </p:cNvSpPr>
          <p:nvPr>
            <p:ph type="sldNum" sz="quarter" idx="12"/>
          </p:nvPr>
        </p:nvSpPr>
        <p:spPr>
          <a:xfrm>
            <a:off x="387170" y="849308"/>
            <a:ext cx="779767" cy="365125"/>
          </a:xfrm>
        </p:spPr>
        <p:txBody>
          <a:bodyPr/>
          <a:lstStyle/>
          <a:p>
            <a:fld id="{D57F1E4F-1CFF-5643-939E-217C01CDF565}" type="slidenum">
              <a:rPr lang="en-US" smtClean="0"/>
              <a:pPr/>
              <a:t>14</a:t>
            </a:fld>
            <a:endParaRPr lang="en-US" dirty="0"/>
          </a:p>
        </p:txBody>
      </p:sp>
      <p:sp>
        <p:nvSpPr>
          <p:cNvPr id="11" name="CuadroTexto 10">
            <a:extLst>
              <a:ext uri="{FF2B5EF4-FFF2-40B4-BE49-F238E27FC236}">
                <a16:creationId xmlns:a16="http://schemas.microsoft.com/office/drawing/2014/main" id="{6C1EF089-99DA-4B3E-9D28-C15530D94B07}"/>
              </a:ext>
            </a:extLst>
          </p:cNvPr>
          <p:cNvSpPr txBox="1"/>
          <p:nvPr/>
        </p:nvSpPr>
        <p:spPr>
          <a:xfrm>
            <a:off x="3608962" y="906492"/>
            <a:ext cx="5097294" cy="400110"/>
          </a:xfrm>
          <a:prstGeom prst="rect">
            <a:avLst/>
          </a:prstGeom>
          <a:noFill/>
        </p:spPr>
        <p:txBody>
          <a:bodyPr wrap="square" rtlCol="0">
            <a:spAutoFit/>
          </a:bodyPr>
          <a:lstStyle/>
          <a:p>
            <a:r>
              <a:rPr lang="es-AR" sz="2000" b="1" dirty="0"/>
              <a:t>SISTEMA DE COSTEO POR PROCESO</a:t>
            </a:r>
          </a:p>
        </p:txBody>
      </p:sp>
      <p:sp>
        <p:nvSpPr>
          <p:cNvPr id="3" name="CuadroTexto 2">
            <a:extLst>
              <a:ext uri="{FF2B5EF4-FFF2-40B4-BE49-F238E27FC236}">
                <a16:creationId xmlns:a16="http://schemas.microsoft.com/office/drawing/2014/main" id="{29495985-6BDE-4AB3-95CB-EFB80B2D2B04}"/>
              </a:ext>
            </a:extLst>
          </p:cNvPr>
          <p:cNvSpPr txBox="1"/>
          <p:nvPr/>
        </p:nvSpPr>
        <p:spPr>
          <a:xfrm>
            <a:off x="2636195" y="3122578"/>
            <a:ext cx="8871626" cy="1015663"/>
          </a:xfrm>
          <a:prstGeom prst="rect">
            <a:avLst/>
          </a:prstGeom>
          <a:noFill/>
        </p:spPr>
        <p:txBody>
          <a:bodyPr wrap="square" rtlCol="0">
            <a:spAutoFit/>
          </a:bodyPr>
          <a:lstStyle/>
          <a:p>
            <a:r>
              <a:rPr lang="es-AR" sz="2000" dirty="0"/>
              <a:t>En todo sistema de producción continua existe siempre material en elaboración al final de cada proceso, para su contabilización es necesario utilizar un sistema denominado de </a:t>
            </a:r>
            <a:r>
              <a:rPr lang="es-AR" sz="2000" b="1" dirty="0"/>
              <a:t>producción equivalente</a:t>
            </a:r>
          </a:p>
        </p:txBody>
      </p:sp>
    </p:spTree>
    <p:extLst>
      <p:ext uri="{BB962C8B-B14F-4D97-AF65-F5344CB8AC3E}">
        <p14:creationId xmlns:p14="http://schemas.microsoft.com/office/powerpoint/2010/main" val="32321294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Text Box 5">
            <a:extLst>
              <a:ext uri="{FF2B5EF4-FFF2-40B4-BE49-F238E27FC236}">
                <a16:creationId xmlns:a16="http://schemas.microsoft.com/office/drawing/2014/main" id="{FC14D97E-B05B-40A4-9F7D-F390F2E5470E}"/>
              </a:ext>
            </a:extLst>
          </p:cNvPr>
          <p:cNvSpPr txBox="1">
            <a:spLocks noChangeArrowheads="1"/>
          </p:cNvSpPr>
          <p:nvPr/>
        </p:nvSpPr>
        <p:spPr bwMode="auto">
          <a:xfrm>
            <a:off x="690664" y="158855"/>
            <a:ext cx="115013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85000"/>
                    <a:lumOff val="15000"/>
                  </a:schemeClr>
                </a:solidFill>
                <a:latin typeface="+mj-lt"/>
                <a:cs typeface="Arial" charset="0"/>
              </a:rPr>
              <a:t>SISTEMA DE COSTEO INTEGRAL O POR ABSORCION</a:t>
            </a:r>
          </a:p>
        </p:txBody>
      </p:sp>
      <p:sp>
        <p:nvSpPr>
          <p:cNvPr id="6151" name="Rectangle 7">
            <a:extLst>
              <a:ext uri="{FF2B5EF4-FFF2-40B4-BE49-F238E27FC236}">
                <a16:creationId xmlns:a16="http://schemas.microsoft.com/office/drawing/2014/main" id="{1F55DB7F-5A7E-4D2C-8166-490773959246}"/>
              </a:ext>
            </a:extLst>
          </p:cNvPr>
          <p:cNvSpPr>
            <a:spLocks noChangeArrowheads="1"/>
          </p:cNvSpPr>
          <p:nvPr/>
        </p:nvSpPr>
        <p:spPr bwMode="auto">
          <a:xfrm>
            <a:off x="3681909" y="1407908"/>
            <a:ext cx="4367719" cy="441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r>
              <a:rPr lang="es-AR" altLang="es-AR" sz="1800" b="1" dirty="0">
                <a:latin typeface="+mj-lt"/>
              </a:rPr>
              <a:t>INDUSTRIA DE PROCESO CONTINUO</a:t>
            </a:r>
          </a:p>
          <a:p>
            <a:pPr algn="just" eaLnBrk="1" hangingPunct="1">
              <a:defRPr/>
            </a:pPr>
            <a:endParaRPr lang="es-AR" altLang="es-AR" sz="2000" dirty="0">
              <a:latin typeface="+mj-lt"/>
            </a:endParaRPr>
          </a:p>
          <a:p>
            <a:pPr algn="just" eaLnBrk="1" hangingPunct="1">
              <a:defRPr/>
            </a:pPr>
            <a:endParaRPr lang="es-AR" altLang="es-AR" sz="2000" dirty="0">
              <a:latin typeface="+mj-lt"/>
            </a:endParaRPr>
          </a:p>
        </p:txBody>
      </p:sp>
      <p:sp>
        <p:nvSpPr>
          <p:cNvPr id="2" name="Marcador de número de diapositiva 1">
            <a:extLst>
              <a:ext uri="{FF2B5EF4-FFF2-40B4-BE49-F238E27FC236}">
                <a16:creationId xmlns:a16="http://schemas.microsoft.com/office/drawing/2014/main" id="{4133B5BE-5567-4366-9C9D-4F8CADA57D79}"/>
              </a:ext>
            </a:extLst>
          </p:cNvPr>
          <p:cNvSpPr>
            <a:spLocks noGrp="1"/>
          </p:cNvSpPr>
          <p:nvPr>
            <p:ph type="sldNum" sz="quarter" idx="12"/>
          </p:nvPr>
        </p:nvSpPr>
        <p:spPr>
          <a:xfrm>
            <a:off x="387170" y="849308"/>
            <a:ext cx="779767" cy="365125"/>
          </a:xfrm>
        </p:spPr>
        <p:txBody>
          <a:bodyPr/>
          <a:lstStyle/>
          <a:p>
            <a:fld id="{D57F1E4F-1CFF-5643-939E-217C01CDF565}" type="slidenum">
              <a:rPr lang="en-US" smtClean="0"/>
              <a:pPr/>
              <a:t>15</a:t>
            </a:fld>
            <a:endParaRPr lang="en-US" dirty="0"/>
          </a:p>
        </p:txBody>
      </p:sp>
      <p:sp>
        <p:nvSpPr>
          <p:cNvPr id="11" name="CuadroTexto 10">
            <a:extLst>
              <a:ext uri="{FF2B5EF4-FFF2-40B4-BE49-F238E27FC236}">
                <a16:creationId xmlns:a16="http://schemas.microsoft.com/office/drawing/2014/main" id="{6C1EF089-99DA-4B3E-9D28-C15530D94B07}"/>
              </a:ext>
            </a:extLst>
          </p:cNvPr>
          <p:cNvSpPr txBox="1"/>
          <p:nvPr/>
        </p:nvSpPr>
        <p:spPr>
          <a:xfrm>
            <a:off x="3608962" y="906492"/>
            <a:ext cx="5097294" cy="400110"/>
          </a:xfrm>
          <a:prstGeom prst="rect">
            <a:avLst/>
          </a:prstGeom>
          <a:noFill/>
        </p:spPr>
        <p:txBody>
          <a:bodyPr wrap="square" rtlCol="0">
            <a:spAutoFit/>
          </a:bodyPr>
          <a:lstStyle/>
          <a:p>
            <a:r>
              <a:rPr lang="es-AR" sz="2000" b="1" dirty="0"/>
              <a:t>SISTEMA DE COSTEO POR PROCESO</a:t>
            </a:r>
          </a:p>
        </p:txBody>
      </p:sp>
      <p:sp>
        <p:nvSpPr>
          <p:cNvPr id="16" name="CuadroTexto 15">
            <a:extLst>
              <a:ext uri="{FF2B5EF4-FFF2-40B4-BE49-F238E27FC236}">
                <a16:creationId xmlns:a16="http://schemas.microsoft.com/office/drawing/2014/main" id="{80C1467F-2B4A-4E54-BC0C-B0544BF08055}"/>
              </a:ext>
            </a:extLst>
          </p:cNvPr>
          <p:cNvSpPr txBox="1"/>
          <p:nvPr/>
        </p:nvSpPr>
        <p:spPr>
          <a:xfrm>
            <a:off x="2217906" y="2350852"/>
            <a:ext cx="8871626" cy="3170099"/>
          </a:xfrm>
          <a:prstGeom prst="rect">
            <a:avLst/>
          </a:prstGeom>
          <a:noFill/>
        </p:spPr>
        <p:txBody>
          <a:bodyPr wrap="square" rtlCol="0">
            <a:spAutoFit/>
          </a:bodyPr>
          <a:lstStyle/>
          <a:p>
            <a:r>
              <a:rPr lang="es-AR" sz="2000" dirty="0"/>
              <a:t>Por ejemplo:</a:t>
            </a:r>
          </a:p>
          <a:p>
            <a:r>
              <a:rPr lang="es-AR" sz="2000" dirty="0"/>
              <a:t>Supongamos que durante un periodo dado de tiempo  se hubieran terminado 100 unidades, encontrándose otras 150 en proceso de fabricación.</a:t>
            </a:r>
          </a:p>
          <a:p>
            <a:r>
              <a:rPr lang="es-AR" sz="2000" dirty="0"/>
              <a:t>El departamento de ingeniería determina que el grado de avance de estas 150 unidades es del 50%</a:t>
            </a:r>
          </a:p>
          <a:p>
            <a:r>
              <a:rPr lang="es-AR" sz="2000" dirty="0"/>
              <a:t>Por lo tanto podremos considerar, a efectos de calcular el costo unitario, a estas 150 unidades como equivalente a 75 unidades terminadas.</a:t>
            </a:r>
          </a:p>
          <a:p>
            <a:r>
              <a:rPr lang="es-AR" sz="2000" dirty="0"/>
              <a:t>Quedando de la siguiente manera:</a:t>
            </a:r>
          </a:p>
        </p:txBody>
      </p:sp>
    </p:spTree>
    <p:extLst>
      <p:ext uri="{BB962C8B-B14F-4D97-AF65-F5344CB8AC3E}">
        <p14:creationId xmlns:p14="http://schemas.microsoft.com/office/powerpoint/2010/main" val="37293615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Text Box 5">
            <a:extLst>
              <a:ext uri="{FF2B5EF4-FFF2-40B4-BE49-F238E27FC236}">
                <a16:creationId xmlns:a16="http://schemas.microsoft.com/office/drawing/2014/main" id="{FC14D97E-B05B-40A4-9F7D-F390F2E5470E}"/>
              </a:ext>
            </a:extLst>
          </p:cNvPr>
          <p:cNvSpPr txBox="1">
            <a:spLocks noChangeArrowheads="1"/>
          </p:cNvSpPr>
          <p:nvPr/>
        </p:nvSpPr>
        <p:spPr bwMode="auto">
          <a:xfrm>
            <a:off x="690664" y="158855"/>
            <a:ext cx="115013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85000"/>
                    <a:lumOff val="15000"/>
                  </a:schemeClr>
                </a:solidFill>
                <a:latin typeface="+mj-lt"/>
                <a:cs typeface="Arial" charset="0"/>
              </a:rPr>
              <a:t>SISTEMA DE COSTEO INTEGRAL O POR ABSORCION</a:t>
            </a:r>
          </a:p>
        </p:txBody>
      </p:sp>
      <p:sp>
        <p:nvSpPr>
          <p:cNvPr id="6151" name="Rectangle 7">
            <a:extLst>
              <a:ext uri="{FF2B5EF4-FFF2-40B4-BE49-F238E27FC236}">
                <a16:creationId xmlns:a16="http://schemas.microsoft.com/office/drawing/2014/main" id="{1F55DB7F-5A7E-4D2C-8166-490773959246}"/>
              </a:ext>
            </a:extLst>
          </p:cNvPr>
          <p:cNvSpPr>
            <a:spLocks noChangeArrowheads="1"/>
          </p:cNvSpPr>
          <p:nvPr/>
        </p:nvSpPr>
        <p:spPr bwMode="auto">
          <a:xfrm>
            <a:off x="3681909" y="1407908"/>
            <a:ext cx="4367719" cy="441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r>
              <a:rPr lang="es-AR" altLang="es-AR" sz="1800" b="1" dirty="0">
                <a:latin typeface="+mj-lt"/>
              </a:rPr>
              <a:t>INDUSTRIA DE PROCESO CONTINUO</a:t>
            </a:r>
          </a:p>
          <a:p>
            <a:pPr algn="just" eaLnBrk="1" hangingPunct="1">
              <a:defRPr/>
            </a:pPr>
            <a:endParaRPr lang="es-AR" altLang="es-AR" sz="2000" dirty="0">
              <a:latin typeface="+mj-lt"/>
            </a:endParaRPr>
          </a:p>
          <a:p>
            <a:pPr algn="just" eaLnBrk="1" hangingPunct="1">
              <a:defRPr/>
            </a:pPr>
            <a:endParaRPr lang="es-AR" altLang="es-AR" sz="2000" dirty="0">
              <a:latin typeface="+mj-lt"/>
            </a:endParaRPr>
          </a:p>
        </p:txBody>
      </p:sp>
      <p:sp>
        <p:nvSpPr>
          <p:cNvPr id="2" name="Marcador de número de diapositiva 1">
            <a:extLst>
              <a:ext uri="{FF2B5EF4-FFF2-40B4-BE49-F238E27FC236}">
                <a16:creationId xmlns:a16="http://schemas.microsoft.com/office/drawing/2014/main" id="{4133B5BE-5567-4366-9C9D-4F8CADA57D79}"/>
              </a:ext>
            </a:extLst>
          </p:cNvPr>
          <p:cNvSpPr>
            <a:spLocks noGrp="1"/>
          </p:cNvSpPr>
          <p:nvPr>
            <p:ph type="sldNum" sz="quarter" idx="12"/>
          </p:nvPr>
        </p:nvSpPr>
        <p:spPr>
          <a:xfrm>
            <a:off x="387170" y="849308"/>
            <a:ext cx="779767" cy="365125"/>
          </a:xfrm>
        </p:spPr>
        <p:txBody>
          <a:bodyPr/>
          <a:lstStyle/>
          <a:p>
            <a:fld id="{D57F1E4F-1CFF-5643-939E-217C01CDF565}" type="slidenum">
              <a:rPr lang="en-US" smtClean="0"/>
              <a:pPr/>
              <a:t>16</a:t>
            </a:fld>
            <a:endParaRPr lang="en-US" dirty="0"/>
          </a:p>
        </p:txBody>
      </p:sp>
      <p:sp>
        <p:nvSpPr>
          <p:cNvPr id="11" name="CuadroTexto 10">
            <a:extLst>
              <a:ext uri="{FF2B5EF4-FFF2-40B4-BE49-F238E27FC236}">
                <a16:creationId xmlns:a16="http://schemas.microsoft.com/office/drawing/2014/main" id="{6C1EF089-99DA-4B3E-9D28-C15530D94B07}"/>
              </a:ext>
            </a:extLst>
          </p:cNvPr>
          <p:cNvSpPr txBox="1"/>
          <p:nvPr/>
        </p:nvSpPr>
        <p:spPr>
          <a:xfrm>
            <a:off x="3608962" y="906492"/>
            <a:ext cx="5097294" cy="400110"/>
          </a:xfrm>
          <a:prstGeom prst="rect">
            <a:avLst/>
          </a:prstGeom>
          <a:noFill/>
        </p:spPr>
        <p:txBody>
          <a:bodyPr wrap="square" rtlCol="0">
            <a:spAutoFit/>
          </a:bodyPr>
          <a:lstStyle/>
          <a:p>
            <a:r>
              <a:rPr lang="es-AR" sz="2000" b="1" dirty="0"/>
              <a:t>SISTEMA DE COSTEO POR PROCESO</a:t>
            </a:r>
          </a:p>
        </p:txBody>
      </p:sp>
      <p:sp>
        <p:nvSpPr>
          <p:cNvPr id="16" name="CuadroTexto 15">
            <a:extLst>
              <a:ext uri="{FF2B5EF4-FFF2-40B4-BE49-F238E27FC236}">
                <a16:creationId xmlns:a16="http://schemas.microsoft.com/office/drawing/2014/main" id="{80C1467F-2B4A-4E54-BC0C-B0544BF08055}"/>
              </a:ext>
            </a:extLst>
          </p:cNvPr>
          <p:cNvSpPr txBox="1"/>
          <p:nvPr/>
        </p:nvSpPr>
        <p:spPr>
          <a:xfrm>
            <a:off x="2315183" y="2413337"/>
            <a:ext cx="8871626" cy="923330"/>
          </a:xfrm>
          <a:prstGeom prst="rect">
            <a:avLst/>
          </a:prstGeom>
          <a:noFill/>
        </p:spPr>
        <p:txBody>
          <a:bodyPr wrap="square" rtlCol="0">
            <a:spAutoFit/>
          </a:bodyPr>
          <a:lstStyle/>
          <a:p>
            <a:r>
              <a:rPr lang="es-AR" dirty="0"/>
              <a:t>100 unidades terminadas representan una producción equivalente  = 100 u</a:t>
            </a:r>
          </a:p>
          <a:p>
            <a:r>
              <a:rPr lang="es-AR" dirty="0"/>
              <a:t>150 unidades con un grado de avance del 50% representan una </a:t>
            </a:r>
          </a:p>
          <a:p>
            <a:r>
              <a:rPr lang="es-AR" dirty="0"/>
              <a:t>producción equivalente de 										    = 75 u</a:t>
            </a:r>
          </a:p>
        </p:txBody>
      </p:sp>
      <p:sp>
        <p:nvSpPr>
          <p:cNvPr id="4" name="CuadroTexto 3">
            <a:extLst>
              <a:ext uri="{FF2B5EF4-FFF2-40B4-BE49-F238E27FC236}">
                <a16:creationId xmlns:a16="http://schemas.microsoft.com/office/drawing/2014/main" id="{4C167C7B-822F-42AB-B207-F9E8F47A321D}"/>
              </a:ext>
            </a:extLst>
          </p:cNvPr>
          <p:cNvSpPr txBox="1"/>
          <p:nvPr/>
        </p:nvSpPr>
        <p:spPr>
          <a:xfrm>
            <a:off x="2344367" y="3531504"/>
            <a:ext cx="8735438" cy="369332"/>
          </a:xfrm>
          <a:prstGeom prst="rect">
            <a:avLst/>
          </a:prstGeom>
          <a:noFill/>
        </p:spPr>
        <p:txBody>
          <a:bodyPr wrap="square" rtlCol="0">
            <a:spAutoFit/>
          </a:bodyPr>
          <a:lstStyle/>
          <a:p>
            <a:r>
              <a:rPr lang="es-AR" dirty="0"/>
              <a:t>Por lo tanto obtendremos una producción equivalente total de        = 175 u</a:t>
            </a:r>
          </a:p>
        </p:txBody>
      </p:sp>
      <p:sp>
        <p:nvSpPr>
          <p:cNvPr id="5" name="CuadroTexto 4">
            <a:extLst>
              <a:ext uri="{FF2B5EF4-FFF2-40B4-BE49-F238E27FC236}">
                <a16:creationId xmlns:a16="http://schemas.microsoft.com/office/drawing/2014/main" id="{1E36669D-F267-4453-9418-F3CB0BF0EF7B}"/>
              </a:ext>
            </a:extLst>
          </p:cNvPr>
          <p:cNvSpPr txBox="1"/>
          <p:nvPr/>
        </p:nvSpPr>
        <p:spPr>
          <a:xfrm>
            <a:off x="2344367" y="4426085"/>
            <a:ext cx="8988356" cy="646331"/>
          </a:xfrm>
          <a:prstGeom prst="rect">
            <a:avLst/>
          </a:prstGeom>
          <a:noFill/>
        </p:spPr>
        <p:txBody>
          <a:bodyPr wrap="square" rtlCol="0">
            <a:spAutoFit/>
          </a:bodyPr>
          <a:lstStyle/>
          <a:p>
            <a:r>
              <a:rPr lang="es-AR" dirty="0"/>
              <a:t>Nos informan que el costo total acumulado al final de un determinado periodo es de $70.000, por lo que el costo unitario será:</a:t>
            </a:r>
          </a:p>
        </p:txBody>
      </p:sp>
      <p:sp>
        <p:nvSpPr>
          <p:cNvPr id="6" name="CuadroTexto 5">
            <a:extLst>
              <a:ext uri="{FF2B5EF4-FFF2-40B4-BE49-F238E27FC236}">
                <a16:creationId xmlns:a16="http://schemas.microsoft.com/office/drawing/2014/main" id="{39A5EEAE-51EF-43CD-B3FB-E0FD4D894DD5}"/>
              </a:ext>
            </a:extLst>
          </p:cNvPr>
          <p:cNvSpPr txBox="1"/>
          <p:nvPr/>
        </p:nvSpPr>
        <p:spPr>
          <a:xfrm>
            <a:off x="3054485" y="5671226"/>
            <a:ext cx="2286000" cy="369332"/>
          </a:xfrm>
          <a:prstGeom prst="rect">
            <a:avLst/>
          </a:prstGeom>
          <a:noFill/>
        </p:spPr>
        <p:txBody>
          <a:bodyPr wrap="square" rtlCol="0">
            <a:spAutoFit/>
          </a:bodyPr>
          <a:lstStyle/>
          <a:p>
            <a:r>
              <a:rPr lang="es-AR" dirty="0"/>
              <a:t>COSTO UNITARIO =</a:t>
            </a:r>
          </a:p>
        </p:txBody>
      </p:sp>
      <p:sp>
        <p:nvSpPr>
          <p:cNvPr id="7" name="CuadroTexto 6">
            <a:extLst>
              <a:ext uri="{FF2B5EF4-FFF2-40B4-BE49-F238E27FC236}">
                <a16:creationId xmlns:a16="http://schemas.microsoft.com/office/drawing/2014/main" id="{673D41E2-AC70-41F5-BE56-2015F6FB92CA}"/>
              </a:ext>
            </a:extLst>
          </p:cNvPr>
          <p:cNvSpPr txBox="1"/>
          <p:nvPr/>
        </p:nvSpPr>
        <p:spPr>
          <a:xfrm>
            <a:off x="5418306" y="5408579"/>
            <a:ext cx="1896894" cy="369332"/>
          </a:xfrm>
          <a:prstGeom prst="rect">
            <a:avLst/>
          </a:prstGeom>
          <a:noFill/>
        </p:spPr>
        <p:txBody>
          <a:bodyPr wrap="square" rtlCol="0">
            <a:spAutoFit/>
          </a:bodyPr>
          <a:lstStyle/>
          <a:p>
            <a:r>
              <a:rPr lang="es-AR" dirty="0"/>
              <a:t>$ 70.000</a:t>
            </a:r>
          </a:p>
        </p:txBody>
      </p:sp>
      <p:cxnSp>
        <p:nvCxnSpPr>
          <p:cNvPr id="9" name="Conector recto 8">
            <a:extLst>
              <a:ext uri="{FF2B5EF4-FFF2-40B4-BE49-F238E27FC236}">
                <a16:creationId xmlns:a16="http://schemas.microsoft.com/office/drawing/2014/main" id="{9211BE0B-F207-4349-B4EF-A20607C8B848}"/>
              </a:ext>
            </a:extLst>
          </p:cNvPr>
          <p:cNvCxnSpPr>
            <a:cxnSpLocks/>
            <a:stCxn id="6" idx="3"/>
          </p:cNvCxnSpPr>
          <p:nvPr/>
        </p:nvCxnSpPr>
        <p:spPr>
          <a:xfrm>
            <a:off x="5340485" y="5855892"/>
            <a:ext cx="1595336"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CuadroTexto 14">
            <a:extLst>
              <a:ext uri="{FF2B5EF4-FFF2-40B4-BE49-F238E27FC236}">
                <a16:creationId xmlns:a16="http://schemas.microsoft.com/office/drawing/2014/main" id="{554E6D76-C9E5-4E9D-8831-67B7EC1203A7}"/>
              </a:ext>
            </a:extLst>
          </p:cNvPr>
          <p:cNvSpPr txBox="1"/>
          <p:nvPr/>
        </p:nvSpPr>
        <p:spPr>
          <a:xfrm>
            <a:off x="5609617" y="5943283"/>
            <a:ext cx="972766" cy="369332"/>
          </a:xfrm>
          <a:prstGeom prst="rect">
            <a:avLst/>
          </a:prstGeom>
          <a:noFill/>
        </p:spPr>
        <p:txBody>
          <a:bodyPr wrap="square" rtlCol="0">
            <a:spAutoFit/>
          </a:bodyPr>
          <a:lstStyle/>
          <a:p>
            <a:r>
              <a:rPr lang="es-AR" dirty="0"/>
              <a:t>175 u</a:t>
            </a:r>
          </a:p>
        </p:txBody>
      </p:sp>
      <p:sp>
        <p:nvSpPr>
          <p:cNvPr id="12" name="CuadroTexto 11">
            <a:extLst>
              <a:ext uri="{FF2B5EF4-FFF2-40B4-BE49-F238E27FC236}">
                <a16:creationId xmlns:a16="http://schemas.microsoft.com/office/drawing/2014/main" id="{691DED27-4272-4EEA-BA42-8B088D0A0898}"/>
              </a:ext>
            </a:extLst>
          </p:cNvPr>
          <p:cNvSpPr txBox="1"/>
          <p:nvPr/>
        </p:nvSpPr>
        <p:spPr>
          <a:xfrm>
            <a:off x="7003914" y="5671226"/>
            <a:ext cx="321013" cy="369332"/>
          </a:xfrm>
          <a:prstGeom prst="rect">
            <a:avLst/>
          </a:prstGeom>
          <a:noFill/>
        </p:spPr>
        <p:txBody>
          <a:bodyPr wrap="square" rtlCol="0">
            <a:spAutoFit/>
          </a:bodyPr>
          <a:lstStyle/>
          <a:p>
            <a:r>
              <a:rPr lang="es-AR" dirty="0"/>
              <a:t>=</a:t>
            </a:r>
          </a:p>
        </p:txBody>
      </p:sp>
      <p:sp>
        <p:nvSpPr>
          <p:cNvPr id="17" name="CuadroTexto 16">
            <a:extLst>
              <a:ext uri="{FF2B5EF4-FFF2-40B4-BE49-F238E27FC236}">
                <a16:creationId xmlns:a16="http://schemas.microsoft.com/office/drawing/2014/main" id="{1FE73310-B54B-4122-AE1D-1D6C1ABC50DA}"/>
              </a:ext>
            </a:extLst>
          </p:cNvPr>
          <p:cNvSpPr txBox="1"/>
          <p:nvPr/>
        </p:nvSpPr>
        <p:spPr>
          <a:xfrm>
            <a:off x="7383293" y="5671226"/>
            <a:ext cx="1896894" cy="369332"/>
          </a:xfrm>
          <a:prstGeom prst="rect">
            <a:avLst/>
          </a:prstGeom>
          <a:noFill/>
        </p:spPr>
        <p:txBody>
          <a:bodyPr wrap="square" rtlCol="0">
            <a:spAutoFit/>
          </a:bodyPr>
          <a:lstStyle/>
          <a:p>
            <a:r>
              <a:rPr lang="es-AR" dirty="0"/>
              <a:t>$ 400</a:t>
            </a:r>
          </a:p>
        </p:txBody>
      </p:sp>
    </p:spTree>
    <p:extLst>
      <p:ext uri="{BB962C8B-B14F-4D97-AF65-F5344CB8AC3E}">
        <p14:creationId xmlns:p14="http://schemas.microsoft.com/office/powerpoint/2010/main" val="12203857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Text Box 5">
            <a:extLst>
              <a:ext uri="{FF2B5EF4-FFF2-40B4-BE49-F238E27FC236}">
                <a16:creationId xmlns:a16="http://schemas.microsoft.com/office/drawing/2014/main" id="{FC14D97E-B05B-40A4-9F7D-F390F2E5470E}"/>
              </a:ext>
            </a:extLst>
          </p:cNvPr>
          <p:cNvSpPr txBox="1">
            <a:spLocks noChangeArrowheads="1"/>
          </p:cNvSpPr>
          <p:nvPr/>
        </p:nvSpPr>
        <p:spPr bwMode="auto">
          <a:xfrm>
            <a:off x="690664" y="158855"/>
            <a:ext cx="115013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85000"/>
                    <a:lumOff val="15000"/>
                  </a:schemeClr>
                </a:solidFill>
                <a:latin typeface="+mj-lt"/>
                <a:cs typeface="Arial" charset="0"/>
              </a:rPr>
              <a:t>SISTEMA DE COSTEO INTEGRAL O POR ABSORCION</a:t>
            </a:r>
          </a:p>
        </p:txBody>
      </p:sp>
      <p:sp>
        <p:nvSpPr>
          <p:cNvPr id="6151" name="Rectangle 7">
            <a:extLst>
              <a:ext uri="{FF2B5EF4-FFF2-40B4-BE49-F238E27FC236}">
                <a16:creationId xmlns:a16="http://schemas.microsoft.com/office/drawing/2014/main" id="{1F55DB7F-5A7E-4D2C-8166-490773959246}"/>
              </a:ext>
            </a:extLst>
          </p:cNvPr>
          <p:cNvSpPr>
            <a:spLocks noChangeArrowheads="1"/>
          </p:cNvSpPr>
          <p:nvPr/>
        </p:nvSpPr>
        <p:spPr bwMode="auto">
          <a:xfrm>
            <a:off x="3681909" y="1407908"/>
            <a:ext cx="4367719" cy="441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r>
              <a:rPr lang="es-AR" altLang="es-AR" sz="1800" b="1" dirty="0">
                <a:latin typeface="+mj-lt"/>
              </a:rPr>
              <a:t>INDUSTRIA DE PROCESO CONTINUO</a:t>
            </a:r>
          </a:p>
          <a:p>
            <a:pPr algn="just" eaLnBrk="1" hangingPunct="1">
              <a:defRPr/>
            </a:pPr>
            <a:endParaRPr lang="es-AR" altLang="es-AR" sz="2000" dirty="0">
              <a:latin typeface="+mj-lt"/>
            </a:endParaRPr>
          </a:p>
          <a:p>
            <a:pPr algn="just" eaLnBrk="1" hangingPunct="1">
              <a:defRPr/>
            </a:pPr>
            <a:endParaRPr lang="es-AR" altLang="es-AR" sz="2000" dirty="0">
              <a:latin typeface="+mj-lt"/>
            </a:endParaRPr>
          </a:p>
        </p:txBody>
      </p:sp>
      <p:sp>
        <p:nvSpPr>
          <p:cNvPr id="2" name="Marcador de número de diapositiva 1">
            <a:extLst>
              <a:ext uri="{FF2B5EF4-FFF2-40B4-BE49-F238E27FC236}">
                <a16:creationId xmlns:a16="http://schemas.microsoft.com/office/drawing/2014/main" id="{4133B5BE-5567-4366-9C9D-4F8CADA57D79}"/>
              </a:ext>
            </a:extLst>
          </p:cNvPr>
          <p:cNvSpPr>
            <a:spLocks noGrp="1"/>
          </p:cNvSpPr>
          <p:nvPr>
            <p:ph type="sldNum" sz="quarter" idx="12"/>
          </p:nvPr>
        </p:nvSpPr>
        <p:spPr>
          <a:xfrm>
            <a:off x="387170" y="849308"/>
            <a:ext cx="779767" cy="365125"/>
          </a:xfrm>
        </p:spPr>
        <p:txBody>
          <a:bodyPr/>
          <a:lstStyle/>
          <a:p>
            <a:fld id="{D57F1E4F-1CFF-5643-939E-217C01CDF565}" type="slidenum">
              <a:rPr lang="en-US" smtClean="0"/>
              <a:pPr/>
              <a:t>17</a:t>
            </a:fld>
            <a:endParaRPr lang="en-US" dirty="0"/>
          </a:p>
        </p:txBody>
      </p:sp>
      <p:sp>
        <p:nvSpPr>
          <p:cNvPr id="11" name="CuadroTexto 10">
            <a:extLst>
              <a:ext uri="{FF2B5EF4-FFF2-40B4-BE49-F238E27FC236}">
                <a16:creationId xmlns:a16="http://schemas.microsoft.com/office/drawing/2014/main" id="{6C1EF089-99DA-4B3E-9D28-C15530D94B07}"/>
              </a:ext>
            </a:extLst>
          </p:cNvPr>
          <p:cNvSpPr txBox="1"/>
          <p:nvPr/>
        </p:nvSpPr>
        <p:spPr>
          <a:xfrm>
            <a:off x="3608962" y="906492"/>
            <a:ext cx="5097294" cy="400110"/>
          </a:xfrm>
          <a:prstGeom prst="rect">
            <a:avLst/>
          </a:prstGeom>
          <a:noFill/>
        </p:spPr>
        <p:txBody>
          <a:bodyPr wrap="square" rtlCol="0">
            <a:spAutoFit/>
          </a:bodyPr>
          <a:lstStyle/>
          <a:p>
            <a:r>
              <a:rPr lang="es-AR" sz="2000" b="1" dirty="0"/>
              <a:t>SISTEMA DE COSTEO POR PROCESO</a:t>
            </a:r>
          </a:p>
        </p:txBody>
      </p:sp>
      <p:sp>
        <p:nvSpPr>
          <p:cNvPr id="16" name="CuadroTexto 15">
            <a:extLst>
              <a:ext uri="{FF2B5EF4-FFF2-40B4-BE49-F238E27FC236}">
                <a16:creationId xmlns:a16="http://schemas.microsoft.com/office/drawing/2014/main" id="{80C1467F-2B4A-4E54-BC0C-B0544BF08055}"/>
              </a:ext>
            </a:extLst>
          </p:cNvPr>
          <p:cNvSpPr txBox="1"/>
          <p:nvPr/>
        </p:nvSpPr>
        <p:spPr>
          <a:xfrm>
            <a:off x="2315183" y="2413337"/>
            <a:ext cx="8871626" cy="646331"/>
          </a:xfrm>
          <a:prstGeom prst="rect">
            <a:avLst/>
          </a:prstGeom>
          <a:noFill/>
        </p:spPr>
        <p:txBody>
          <a:bodyPr wrap="square" rtlCol="0">
            <a:spAutoFit/>
          </a:bodyPr>
          <a:lstStyle/>
          <a:p>
            <a:r>
              <a:rPr lang="es-AR" dirty="0"/>
              <a:t>Por lo que valorizando la producción terminada y la producción en proceso de terminación será: </a:t>
            </a:r>
          </a:p>
        </p:txBody>
      </p:sp>
      <p:sp>
        <p:nvSpPr>
          <p:cNvPr id="4" name="CuadroTexto 3">
            <a:extLst>
              <a:ext uri="{FF2B5EF4-FFF2-40B4-BE49-F238E27FC236}">
                <a16:creationId xmlns:a16="http://schemas.microsoft.com/office/drawing/2014/main" id="{4C167C7B-822F-42AB-B207-F9E8F47A321D}"/>
              </a:ext>
            </a:extLst>
          </p:cNvPr>
          <p:cNvSpPr txBox="1"/>
          <p:nvPr/>
        </p:nvSpPr>
        <p:spPr>
          <a:xfrm>
            <a:off x="2393006" y="3373544"/>
            <a:ext cx="8735438" cy="369332"/>
          </a:xfrm>
          <a:prstGeom prst="rect">
            <a:avLst/>
          </a:prstGeom>
          <a:noFill/>
        </p:spPr>
        <p:txBody>
          <a:bodyPr wrap="square" rtlCol="0">
            <a:spAutoFit/>
          </a:bodyPr>
          <a:lstStyle/>
          <a:p>
            <a:r>
              <a:rPr lang="es-AR" dirty="0"/>
              <a:t> producción en proceso =&gt;    75 u x $400   =  $30.000</a:t>
            </a:r>
          </a:p>
        </p:txBody>
      </p:sp>
      <p:sp>
        <p:nvSpPr>
          <p:cNvPr id="5" name="CuadroTexto 4">
            <a:extLst>
              <a:ext uri="{FF2B5EF4-FFF2-40B4-BE49-F238E27FC236}">
                <a16:creationId xmlns:a16="http://schemas.microsoft.com/office/drawing/2014/main" id="{1E36669D-F267-4453-9418-F3CB0BF0EF7B}"/>
              </a:ext>
            </a:extLst>
          </p:cNvPr>
          <p:cNvSpPr txBox="1"/>
          <p:nvPr/>
        </p:nvSpPr>
        <p:spPr>
          <a:xfrm>
            <a:off x="2344367" y="4426085"/>
            <a:ext cx="8988356" cy="369332"/>
          </a:xfrm>
          <a:prstGeom prst="rect">
            <a:avLst/>
          </a:prstGeom>
          <a:noFill/>
        </p:spPr>
        <p:txBody>
          <a:bodyPr wrap="square" rtlCol="0">
            <a:spAutoFit/>
          </a:bodyPr>
          <a:lstStyle/>
          <a:p>
            <a:r>
              <a:rPr lang="es-AR" dirty="0"/>
              <a:t>                                                             Total         $70.000</a:t>
            </a:r>
          </a:p>
        </p:txBody>
      </p:sp>
      <p:sp>
        <p:nvSpPr>
          <p:cNvPr id="18" name="CuadroTexto 17">
            <a:extLst>
              <a:ext uri="{FF2B5EF4-FFF2-40B4-BE49-F238E27FC236}">
                <a16:creationId xmlns:a16="http://schemas.microsoft.com/office/drawing/2014/main" id="{EF1EDC98-81DB-4A17-BCE3-8E9AD5DF54E2}"/>
              </a:ext>
            </a:extLst>
          </p:cNvPr>
          <p:cNvSpPr txBox="1"/>
          <p:nvPr/>
        </p:nvSpPr>
        <p:spPr>
          <a:xfrm>
            <a:off x="2393006" y="3928420"/>
            <a:ext cx="8735438" cy="369332"/>
          </a:xfrm>
          <a:prstGeom prst="rect">
            <a:avLst/>
          </a:prstGeom>
          <a:noFill/>
        </p:spPr>
        <p:txBody>
          <a:bodyPr wrap="square" rtlCol="0">
            <a:spAutoFit/>
          </a:bodyPr>
          <a:lstStyle/>
          <a:p>
            <a:r>
              <a:rPr lang="es-AR" dirty="0"/>
              <a:t> producción terminada  =&gt;   100 u x $400   =  $40.000</a:t>
            </a:r>
          </a:p>
        </p:txBody>
      </p:sp>
      <p:cxnSp>
        <p:nvCxnSpPr>
          <p:cNvPr id="8" name="Conector recto 7">
            <a:extLst>
              <a:ext uri="{FF2B5EF4-FFF2-40B4-BE49-F238E27FC236}">
                <a16:creationId xmlns:a16="http://schemas.microsoft.com/office/drawing/2014/main" id="{B1997AF4-D03D-46B4-ABAE-F140B6484959}"/>
              </a:ext>
            </a:extLst>
          </p:cNvPr>
          <p:cNvCxnSpPr/>
          <p:nvPr/>
        </p:nvCxnSpPr>
        <p:spPr>
          <a:xfrm>
            <a:off x="7164420" y="4337280"/>
            <a:ext cx="154183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13328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Text Box 5">
            <a:extLst>
              <a:ext uri="{FF2B5EF4-FFF2-40B4-BE49-F238E27FC236}">
                <a16:creationId xmlns:a16="http://schemas.microsoft.com/office/drawing/2014/main" id="{FC14D97E-B05B-40A4-9F7D-F390F2E5470E}"/>
              </a:ext>
            </a:extLst>
          </p:cNvPr>
          <p:cNvSpPr txBox="1">
            <a:spLocks noChangeArrowheads="1"/>
          </p:cNvSpPr>
          <p:nvPr/>
        </p:nvSpPr>
        <p:spPr bwMode="auto">
          <a:xfrm>
            <a:off x="690664" y="158855"/>
            <a:ext cx="115013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85000"/>
                    <a:lumOff val="15000"/>
                  </a:schemeClr>
                </a:solidFill>
                <a:latin typeface="+mj-lt"/>
                <a:cs typeface="Arial" charset="0"/>
              </a:rPr>
              <a:t>SISTEMA DE COSTEO INTEGRAL O POR ABSORCION</a:t>
            </a:r>
          </a:p>
        </p:txBody>
      </p:sp>
      <p:sp>
        <p:nvSpPr>
          <p:cNvPr id="6151" name="Rectangle 7">
            <a:extLst>
              <a:ext uri="{FF2B5EF4-FFF2-40B4-BE49-F238E27FC236}">
                <a16:creationId xmlns:a16="http://schemas.microsoft.com/office/drawing/2014/main" id="{1F55DB7F-5A7E-4D2C-8166-490773959246}"/>
              </a:ext>
            </a:extLst>
          </p:cNvPr>
          <p:cNvSpPr>
            <a:spLocks noChangeArrowheads="1"/>
          </p:cNvSpPr>
          <p:nvPr/>
        </p:nvSpPr>
        <p:spPr bwMode="auto">
          <a:xfrm>
            <a:off x="3681909" y="1407908"/>
            <a:ext cx="4367719" cy="441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r>
              <a:rPr lang="es-AR" altLang="es-AR" sz="1800" b="1" dirty="0">
                <a:latin typeface="+mj-lt"/>
              </a:rPr>
              <a:t>INDUSTRIA DE PROCESO CONTINUO</a:t>
            </a:r>
          </a:p>
          <a:p>
            <a:pPr algn="just" eaLnBrk="1" hangingPunct="1">
              <a:defRPr/>
            </a:pPr>
            <a:endParaRPr lang="es-AR" altLang="es-AR" sz="2000" dirty="0">
              <a:latin typeface="+mj-lt"/>
            </a:endParaRPr>
          </a:p>
          <a:p>
            <a:pPr algn="just" eaLnBrk="1" hangingPunct="1">
              <a:defRPr/>
            </a:pPr>
            <a:endParaRPr lang="es-AR" altLang="es-AR" sz="2000" dirty="0">
              <a:latin typeface="+mj-lt"/>
            </a:endParaRPr>
          </a:p>
        </p:txBody>
      </p:sp>
      <p:sp>
        <p:nvSpPr>
          <p:cNvPr id="2" name="Marcador de número de diapositiva 1">
            <a:extLst>
              <a:ext uri="{FF2B5EF4-FFF2-40B4-BE49-F238E27FC236}">
                <a16:creationId xmlns:a16="http://schemas.microsoft.com/office/drawing/2014/main" id="{4133B5BE-5567-4366-9C9D-4F8CADA57D79}"/>
              </a:ext>
            </a:extLst>
          </p:cNvPr>
          <p:cNvSpPr>
            <a:spLocks noGrp="1"/>
          </p:cNvSpPr>
          <p:nvPr>
            <p:ph type="sldNum" sz="quarter" idx="12"/>
          </p:nvPr>
        </p:nvSpPr>
        <p:spPr>
          <a:xfrm>
            <a:off x="387170" y="849308"/>
            <a:ext cx="779767" cy="365125"/>
          </a:xfrm>
        </p:spPr>
        <p:txBody>
          <a:bodyPr/>
          <a:lstStyle/>
          <a:p>
            <a:fld id="{D57F1E4F-1CFF-5643-939E-217C01CDF565}" type="slidenum">
              <a:rPr lang="en-US" smtClean="0"/>
              <a:pPr/>
              <a:t>18</a:t>
            </a:fld>
            <a:endParaRPr lang="en-US" dirty="0"/>
          </a:p>
        </p:txBody>
      </p:sp>
      <p:sp>
        <p:nvSpPr>
          <p:cNvPr id="11" name="CuadroTexto 10">
            <a:extLst>
              <a:ext uri="{FF2B5EF4-FFF2-40B4-BE49-F238E27FC236}">
                <a16:creationId xmlns:a16="http://schemas.microsoft.com/office/drawing/2014/main" id="{6C1EF089-99DA-4B3E-9D28-C15530D94B07}"/>
              </a:ext>
            </a:extLst>
          </p:cNvPr>
          <p:cNvSpPr txBox="1"/>
          <p:nvPr/>
        </p:nvSpPr>
        <p:spPr>
          <a:xfrm>
            <a:off x="3608962" y="906492"/>
            <a:ext cx="5097294" cy="400110"/>
          </a:xfrm>
          <a:prstGeom prst="rect">
            <a:avLst/>
          </a:prstGeom>
          <a:noFill/>
        </p:spPr>
        <p:txBody>
          <a:bodyPr wrap="square" rtlCol="0">
            <a:spAutoFit/>
          </a:bodyPr>
          <a:lstStyle/>
          <a:p>
            <a:r>
              <a:rPr lang="es-AR" sz="2000" b="1" dirty="0"/>
              <a:t>SISTEMA DE COSTEO POR PROCESO</a:t>
            </a:r>
          </a:p>
        </p:txBody>
      </p:sp>
      <p:sp>
        <p:nvSpPr>
          <p:cNvPr id="16" name="CuadroTexto 15">
            <a:extLst>
              <a:ext uri="{FF2B5EF4-FFF2-40B4-BE49-F238E27FC236}">
                <a16:creationId xmlns:a16="http://schemas.microsoft.com/office/drawing/2014/main" id="{80C1467F-2B4A-4E54-BC0C-B0544BF08055}"/>
              </a:ext>
            </a:extLst>
          </p:cNvPr>
          <p:cNvSpPr txBox="1"/>
          <p:nvPr/>
        </p:nvSpPr>
        <p:spPr>
          <a:xfrm>
            <a:off x="2393005" y="2140962"/>
            <a:ext cx="8871626" cy="646331"/>
          </a:xfrm>
          <a:prstGeom prst="rect">
            <a:avLst/>
          </a:prstGeom>
          <a:noFill/>
        </p:spPr>
        <p:txBody>
          <a:bodyPr wrap="square" rtlCol="0">
            <a:spAutoFit/>
          </a:bodyPr>
          <a:lstStyle/>
          <a:p>
            <a:r>
              <a:rPr lang="es-AR" dirty="0"/>
              <a:t>Este es un caso especial ya que en la realidad difícilmente se encuentren todas las unidades en un grado de avance igual.</a:t>
            </a:r>
          </a:p>
        </p:txBody>
      </p:sp>
      <p:sp>
        <p:nvSpPr>
          <p:cNvPr id="4" name="CuadroTexto 3">
            <a:extLst>
              <a:ext uri="{FF2B5EF4-FFF2-40B4-BE49-F238E27FC236}">
                <a16:creationId xmlns:a16="http://schemas.microsoft.com/office/drawing/2014/main" id="{4C167C7B-822F-42AB-B207-F9E8F47A321D}"/>
              </a:ext>
            </a:extLst>
          </p:cNvPr>
          <p:cNvSpPr txBox="1"/>
          <p:nvPr/>
        </p:nvSpPr>
        <p:spPr>
          <a:xfrm>
            <a:off x="2597286" y="3220208"/>
            <a:ext cx="8482522" cy="369332"/>
          </a:xfrm>
          <a:prstGeom prst="rect">
            <a:avLst/>
          </a:prstGeom>
          <a:noFill/>
        </p:spPr>
        <p:txBody>
          <a:bodyPr wrap="square" rtlCol="0">
            <a:spAutoFit/>
          </a:bodyPr>
          <a:lstStyle/>
          <a:p>
            <a:r>
              <a:rPr lang="es-AR" dirty="0"/>
              <a:t> </a:t>
            </a:r>
          </a:p>
        </p:txBody>
      </p:sp>
      <p:sp>
        <p:nvSpPr>
          <p:cNvPr id="19" name="CuadroTexto 18">
            <a:extLst>
              <a:ext uri="{FF2B5EF4-FFF2-40B4-BE49-F238E27FC236}">
                <a16:creationId xmlns:a16="http://schemas.microsoft.com/office/drawing/2014/main" id="{838C636B-FD52-47F3-B796-8F23F59574AF}"/>
              </a:ext>
            </a:extLst>
          </p:cNvPr>
          <p:cNvSpPr txBox="1"/>
          <p:nvPr/>
        </p:nvSpPr>
        <p:spPr>
          <a:xfrm>
            <a:off x="2393005" y="3081708"/>
            <a:ext cx="8871626" cy="923330"/>
          </a:xfrm>
          <a:prstGeom prst="rect">
            <a:avLst/>
          </a:prstGeom>
          <a:noFill/>
        </p:spPr>
        <p:txBody>
          <a:bodyPr wrap="square" rtlCol="0">
            <a:spAutoFit/>
          </a:bodyPr>
          <a:lstStyle/>
          <a:p>
            <a:r>
              <a:rPr lang="es-AR" dirty="0"/>
              <a:t>Por ejemplo, es usual que la MP se aplique íntegramente al comienzo, de modo que los productos en proceso tendrían un grado de terminación del 100% respecto de la MP</a:t>
            </a:r>
          </a:p>
        </p:txBody>
      </p:sp>
      <p:sp>
        <p:nvSpPr>
          <p:cNvPr id="20" name="CuadroTexto 19">
            <a:extLst>
              <a:ext uri="{FF2B5EF4-FFF2-40B4-BE49-F238E27FC236}">
                <a16:creationId xmlns:a16="http://schemas.microsoft.com/office/drawing/2014/main" id="{FEB0C96A-ED60-4F11-A09F-A35BCF6D45A1}"/>
              </a:ext>
            </a:extLst>
          </p:cNvPr>
          <p:cNvSpPr txBox="1"/>
          <p:nvPr/>
        </p:nvSpPr>
        <p:spPr>
          <a:xfrm>
            <a:off x="2412460" y="4249807"/>
            <a:ext cx="8871626" cy="646331"/>
          </a:xfrm>
          <a:prstGeom prst="rect">
            <a:avLst/>
          </a:prstGeom>
          <a:noFill/>
        </p:spPr>
        <p:txBody>
          <a:bodyPr wrap="square" rtlCol="0">
            <a:spAutoFit/>
          </a:bodyPr>
          <a:lstStyle/>
          <a:p>
            <a:r>
              <a:rPr lang="es-AR" dirty="0"/>
              <a:t>En muchas ocasiones es posible dividir en dos partes representativas, la MP por un lado y por el otro el </a:t>
            </a:r>
            <a:r>
              <a:rPr lang="es-AR" b="1" dirty="0"/>
              <a:t>costo de conversión, </a:t>
            </a:r>
            <a:r>
              <a:rPr lang="es-AR" dirty="0"/>
              <a:t>que se define como :</a:t>
            </a:r>
          </a:p>
        </p:txBody>
      </p:sp>
      <p:sp>
        <p:nvSpPr>
          <p:cNvPr id="21" name="CuadroTexto 20">
            <a:extLst>
              <a:ext uri="{FF2B5EF4-FFF2-40B4-BE49-F238E27FC236}">
                <a16:creationId xmlns:a16="http://schemas.microsoft.com/office/drawing/2014/main" id="{986D1724-F2CA-42A1-802A-A54B264C4E43}"/>
              </a:ext>
            </a:extLst>
          </p:cNvPr>
          <p:cNvSpPr txBox="1"/>
          <p:nvPr/>
        </p:nvSpPr>
        <p:spPr>
          <a:xfrm>
            <a:off x="2412460" y="5177717"/>
            <a:ext cx="8871626" cy="646331"/>
          </a:xfrm>
          <a:prstGeom prst="rect">
            <a:avLst/>
          </a:prstGeom>
          <a:noFill/>
        </p:spPr>
        <p:txBody>
          <a:bodyPr wrap="square" rtlCol="0">
            <a:spAutoFit/>
          </a:bodyPr>
          <a:lstStyle/>
          <a:p>
            <a:r>
              <a:rPr lang="es-AR" dirty="0"/>
              <a:t>“Todos los costos necesarios para convertir a la materia prima en producto terminado”, es decir:</a:t>
            </a:r>
          </a:p>
        </p:txBody>
      </p:sp>
      <p:sp>
        <p:nvSpPr>
          <p:cNvPr id="3" name="CuadroTexto 2">
            <a:extLst>
              <a:ext uri="{FF2B5EF4-FFF2-40B4-BE49-F238E27FC236}">
                <a16:creationId xmlns:a16="http://schemas.microsoft.com/office/drawing/2014/main" id="{0DB502FE-0AD5-422B-AF1E-93F8A00F1909}"/>
              </a:ext>
            </a:extLst>
          </p:cNvPr>
          <p:cNvSpPr txBox="1"/>
          <p:nvPr/>
        </p:nvSpPr>
        <p:spPr>
          <a:xfrm>
            <a:off x="3599234" y="5937339"/>
            <a:ext cx="5992239" cy="369332"/>
          </a:xfrm>
          <a:prstGeom prst="rect">
            <a:avLst/>
          </a:prstGeom>
          <a:noFill/>
        </p:spPr>
        <p:txBody>
          <a:bodyPr wrap="square" rtlCol="0">
            <a:spAutoFit/>
          </a:bodyPr>
          <a:lstStyle/>
          <a:p>
            <a:r>
              <a:rPr lang="es-AR" b="1" dirty="0"/>
              <a:t>Costo del producto = MP + Costo de Conversión</a:t>
            </a:r>
          </a:p>
        </p:txBody>
      </p:sp>
    </p:spTree>
    <p:extLst>
      <p:ext uri="{BB962C8B-B14F-4D97-AF65-F5344CB8AC3E}">
        <p14:creationId xmlns:p14="http://schemas.microsoft.com/office/powerpoint/2010/main" val="30127517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EC4FC7-F48E-4FAE-813F-4C78D58E5650}"/>
              </a:ext>
            </a:extLst>
          </p:cNvPr>
          <p:cNvSpPr>
            <a:spLocks noGrp="1"/>
          </p:cNvSpPr>
          <p:nvPr>
            <p:ph type="title"/>
          </p:nvPr>
        </p:nvSpPr>
        <p:spPr/>
        <p:txBody>
          <a:bodyPr>
            <a:normAutofit/>
          </a:bodyPr>
          <a:lstStyle/>
          <a:p>
            <a:pPr algn="ctr"/>
            <a:r>
              <a:rPr lang="es-AR" sz="2800" b="1" dirty="0"/>
              <a:t>PRODUCCION EQUIVALENTE</a:t>
            </a:r>
          </a:p>
        </p:txBody>
      </p:sp>
      <p:sp>
        <p:nvSpPr>
          <p:cNvPr id="3" name="Marcador de contenido 2">
            <a:extLst>
              <a:ext uri="{FF2B5EF4-FFF2-40B4-BE49-F238E27FC236}">
                <a16:creationId xmlns:a16="http://schemas.microsoft.com/office/drawing/2014/main" id="{E2A55EB8-93DF-491F-B387-BF3E5EB08907}"/>
              </a:ext>
            </a:extLst>
          </p:cNvPr>
          <p:cNvSpPr>
            <a:spLocks noGrp="1"/>
          </p:cNvSpPr>
          <p:nvPr>
            <p:ph idx="1"/>
          </p:nvPr>
        </p:nvSpPr>
        <p:spPr/>
        <p:txBody>
          <a:bodyPr>
            <a:normAutofit/>
          </a:bodyPr>
          <a:lstStyle/>
          <a:p>
            <a:r>
              <a:rPr lang="es-AR" sz="2400" b="1" dirty="0"/>
              <a:t>VER EXCEL</a:t>
            </a:r>
          </a:p>
        </p:txBody>
      </p:sp>
      <p:sp>
        <p:nvSpPr>
          <p:cNvPr id="4" name="Marcador de número de diapositiva 3">
            <a:extLst>
              <a:ext uri="{FF2B5EF4-FFF2-40B4-BE49-F238E27FC236}">
                <a16:creationId xmlns:a16="http://schemas.microsoft.com/office/drawing/2014/main" id="{E2AE4BE3-71A0-4562-B767-897E0EE75572}"/>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Tree>
    <p:extLst>
      <p:ext uri="{BB962C8B-B14F-4D97-AF65-F5344CB8AC3E}">
        <p14:creationId xmlns:p14="http://schemas.microsoft.com/office/powerpoint/2010/main" val="4134163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90219-644A-4AC2-A172-5F4488083B7F}"/>
              </a:ext>
            </a:extLst>
          </p:cNvPr>
          <p:cNvSpPr>
            <a:spLocks noGrp="1"/>
          </p:cNvSpPr>
          <p:nvPr>
            <p:ph type="title"/>
          </p:nvPr>
        </p:nvSpPr>
        <p:spPr/>
        <p:txBody>
          <a:bodyPr/>
          <a:lstStyle/>
          <a:p>
            <a:r>
              <a:rPr lang="es-AR" dirty="0"/>
              <a:t>SISTEMA DE COSTEO DIRECTO</a:t>
            </a:r>
          </a:p>
        </p:txBody>
      </p:sp>
      <p:sp>
        <p:nvSpPr>
          <p:cNvPr id="4" name="Marcador de número de diapositiva 3">
            <a:extLst>
              <a:ext uri="{FF2B5EF4-FFF2-40B4-BE49-F238E27FC236}">
                <a16:creationId xmlns:a16="http://schemas.microsoft.com/office/drawing/2014/main" id="{2521AC3A-62D2-4BEE-B18D-DE0BA90ACB71}"/>
              </a:ext>
            </a:extLst>
          </p:cNvPr>
          <p:cNvSpPr>
            <a:spLocks noGrp="1"/>
          </p:cNvSpPr>
          <p:nvPr>
            <p:ph type="sldNum" sz="quarter" idx="12"/>
          </p:nvPr>
        </p:nvSpPr>
        <p:spPr/>
        <p:txBody>
          <a:bodyPr/>
          <a:lstStyle/>
          <a:p>
            <a:fld id="{D57F1E4F-1CFF-5643-939E-217C01CDF565}" type="slidenum">
              <a:rPr lang="en-US" smtClean="0"/>
              <a:pPr/>
              <a:t>20</a:t>
            </a:fld>
            <a:endParaRPr lang="en-US" dirty="0"/>
          </a:p>
        </p:txBody>
      </p:sp>
      <p:sp>
        <p:nvSpPr>
          <p:cNvPr id="5" name="CuadroTexto 4">
            <a:extLst>
              <a:ext uri="{FF2B5EF4-FFF2-40B4-BE49-F238E27FC236}">
                <a16:creationId xmlns:a16="http://schemas.microsoft.com/office/drawing/2014/main" id="{81633990-ACE1-4107-BA12-91CE5EA65295}"/>
              </a:ext>
            </a:extLst>
          </p:cNvPr>
          <p:cNvSpPr txBox="1"/>
          <p:nvPr/>
        </p:nvSpPr>
        <p:spPr>
          <a:xfrm>
            <a:off x="2178995" y="2334638"/>
            <a:ext cx="9286706" cy="923330"/>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dirty="0"/>
              <a:t>Este sistema de costeo se llama también Sistema de Costeo Variable, ya que considera solo los costos variables, siendo los indirectos de fabricación cancelados en su totalidad en el mismo periodo que se producen.</a:t>
            </a:r>
          </a:p>
        </p:txBody>
      </p:sp>
      <p:sp>
        <p:nvSpPr>
          <p:cNvPr id="6" name="CuadroTexto 5">
            <a:extLst>
              <a:ext uri="{FF2B5EF4-FFF2-40B4-BE49-F238E27FC236}">
                <a16:creationId xmlns:a16="http://schemas.microsoft.com/office/drawing/2014/main" id="{0D3314F5-7B2A-4E68-B0D1-602FCA15264A}"/>
              </a:ext>
            </a:extLst>
          </p:cNvPr>
          <p:cNvSpPr txBox="1"/>
          <p:nvPr/>
        </p:nvSpPr>
        <p:spPr>
          <a:xfrm>
            <a:off x="2217906" y="3839449"/>
            <a:ext cx="9286706" cy="646331"/>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dirty="0"/>
              <a:t>Introduciremos un nuevo concepto, la </a:t>
            </a:r>
            <a:r>
              <a:rPr lang="es-AR" b="1" dirty="0"/>
              <a:t>Contribución Marginal, </a:t>
            </a:r>
            <a:r>
              <a:rPr lang="es-AR" dirty="0"/>
              <a:t>estará definida</a:t>
            </a:r>
          </a:p>
          <a:p>
            <a:pPr>
              <a:buClr>
                <a:srgbClr val="92D050"/>
              </a:buClr>
            </a:pPr>
            <a:r>
              <a:rPr lang="es-AR" dirty="0"/>
              <a:t>    como la diferencia entre el Precio de venta y el costo directo</a:t>
            </a:r>
          </a:p>
        </p:txBody>
      </p:sp>
      <p:sp>
        <p:nvSpPr>
          <p:cNvPr id="3" name="CuadroTexto 2">
            <a:extLst>
              <a:ext uri="{FF2B5EF4-FFF2-40B4-BE49-F238E27FC236}">
                <a16:creationId xmlns:a16="http://schemas.microsoft.com/office/drawing/2014/main" id="{141796A9-99CB-440D-A3FF-2A6D92A75D8D}"/>
              </a:ext>
            </a:extLst>
          </p:cNvPr>
          <p:cNvSpPr txBox="1"/>
          <p:nvPr/>
        </p:nvSpPr>
        <p:spPr>
          <a:xfrm>
            <a:off x="3319290" y="5007751"/>
            <a:ext cx="8185322" cy="369332"/>
          </a:xfrm>
          <a:prstGeom prst="rect">
            <a:avLst/>
          </a:prstGeom>
          <a:noFill/>
        </p:spPr>
        <p:txBody>
          <a:bodyPr wrap="square" rtlCol="0">
            <a:spAutoFit/>
          </a:bodyPr>
          <a:lstStyle/>
          <a:p>
            <a:r>
              <a:rPr lang="es-AR" b="1" dirty="0"/>
              <a:t>Contribución marginal = Precio de venta – Costo variable total</a:t>
            </a:r>
          </a:p>
        </p:txBody>
      </p:sp>
    </p:spTree>
    <p:extLst>
      <p:ext uri="{BB962C8B-B14F-4D97-AF65-F5344CB8AC3E}">
        <p14:creationId xmlns:p14="http://schemas.microsoft.com/office/powerpoint/2010/main" val="3403576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0" name="Text Box 34">
            <a:extLst>
              <a:ext uri="{FF2B5EF4-FFF2-40B4-BE49-F238E27FC236}">
                <a16:creationId xmlns:a16="http://schemas.microsoft.com/office/drawing/2014/main" id="{DB6DE408-0E08-4788-B3D8-21687ABE2D80}"/>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DIFERENCIAS ENTRE AMBOS SISTEMAS</a:t>
            </a:r>
          </a:p>
        </p:txBody>
      </p:sp>
      <p:sp>
        <p:nvSpPr>
          <p:cNvPr id="4154" name="Rectangle 58">
            <a:extLst>
              <a:ext uri="{FF2B5EF4-FFF2-40B4-BE49-F238E27FC236}">
                <a16:creationId xmlns:a16="http://schemas.microsoft.com/office/drawing/2014/main" id="{2219AEEF-42F4-4E04-ACB7-7F7861822A90}"/>
              </a:ext>
            </a:extLst>
          </p:cNvPr>
          <p:cNvSpPr>
            <a:spLocks noChangeArrowheads="1"/>
          </p:cNvSpPr>
          <p:nvPr/>
        </p:nvSpPr>
        <p:spPr bwMode="auto">
          <a:xfrm>
            <a:off x="1133273" y="1054101"/>
            <a:ext cx="10160540" cy="1489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solidFill>
                  <a:schemeClr val="tx1">
                    <a:lumMod val="75000"/>
                    <a:lumOff val="25000"/>
                  </a:schemeClr>
                </a:solidFill>
                <a:latin typeface="+mj-lt"/>
              </a:rPr>
              <a:t>En el costeo directo o variable</a:t>
            </a:r>
          </a:p>
          <a:p>
            <a:pPr marL="460375" indent="-285750" algn="just" eaLnBrk="1" hangingPunct="1">
              <a:spcBef>
                <a:spcPct val="20000"/>
              </a:spcBef>
              <a:buClr>
                <a:srgbClr val="92D050"/>
              </a:buClr>
              <a:buFont typeface="Arial" panose="020B0604020202020204" pitchFamily="34" charset="0"/>
              <a:buChar char="•"/>
            </a:pPr>
            <a:r>
              <a:rPr lang="es-AR" altLang="es-AR" dirty="0">
                <a:solidFill>
                  <a:schemeClr val="tx1">
                    <a:lumMod val="75000"/>
                    <a:lumOff val="25000"/>
                  </a:schemeClr>
                </a:solidFill>
                <a:latin typeface="+mj-lt"/>
              </a:rPr>
              <a:t>los gastos fijos de producción no integran el valor de los inventarios, debitándoselos directamente a Ganancias y Pérdidas en el período en que se originan.</a:t>
            </a:r>
          </a:p>
          <a:p>
            <a:pPr marL="460375" indent="-285750" algn="just">
              <a:spcBef>
                <a:spcPct val="20000"/>
              </a:spcBef>
              <a:buClr>
                <a:srgbClr val="92D050"/>
              </a:buClr>
              <a:buFont typeface="Arial" panose="020B0604020202020204" pitchFamily="34" charset="0"/>
              <a:buChar char="•"/>
            </a:pPr>
            <a:r>
              <a:rPr lang="es-AR" altLang="es-AR" dirty="0">
                <a:solidFill>
                  <a:schemeClr val="tx1">
                    <a:lumMod val="75000"/>
                    <a:lumOff val="25000"/>
                  </a:schemeClr>
                </a:solidFill>
                <a:latin typeface="+mj-lt"/>
              </a:rPr>
              <a:t>sólo registra el costo directo o variable de producción</a:t>
            </a:r>
            <a:endParaRPr lang="es-ES" altLang="es-AR" dirty="0">
              <a:solidFill>
                <a:schemeClr val="tx1">
                  <a:lumMod val="75000"/>
                  <a:lumOff val="25000"/>
                </a:schemeClr>
              </a:solidFill>
              <a:latin typeface="+mj-lt"/>
            </a:endParaRPr>
          </a:p>
          <a:p>
            <a:pPr marL="460375" indent="-285750" algn="just" eaLnBrk="1" hangingPunct="1">
              <a:spcBef>
                <a:spcPct val="20000"/>
              </a:spcBef>
              <a:buClr>
                <a:srgbClr val="92D050"/>
              </a:buClr>
              <a:buFont typeface="Arial" panose="020B0604020202020204" pitchFamily="34" charset="0"/>
              <a:buChar char="•"/>
            </a:pPr>
            <a:endParaRPr lang="es-ES" altLang="es-AR" dirty="0">
              <a:latin typeface="+mj-lt"/>
            </a:endParaRPr>
          </a:p>
        </p:txBody>
      </p:sp>
      <p:sp>
        <p:nvSpPr>
          <p:cNvPr id="4155" name="Rectangle 59">
            <a:extLst>
              <a:ext uri="{FF2B5EF4-FFF2-40B4-BE49-F238E27FC236}">
                <a16:creationId xmlns:a16="http://schemas.microsoft.com/office/drawing/2014/main" id="{066EBEA3-2A6B-4FB6-82DD-A9DA208B1783}"/>
              </a:ext>
            </a:extLst>
          </p:cNvPr>
          <p:cNvSpPr>
            <a:spLocks noChangeArrowheads="1"/>
          </p:cNvSpPr>
          <p:nvPr/>
        </p:nvSpPr>
        <p:spPr bwMode="auto">
          <a:xfrm>
            <a:off x="1120712" y="2601140"/>
            <a:ext cx="10160539" cy="1512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solidFill>
                  <a:schemeClr val="tx1">
                    <a:lumMod val="75000"/>
                    <a:lumOff val="25000"/>
                  </a:schemeClr>
                </a:solidFill>
                <a:latin typeface="+mj-lt"/>
              </a:rPr>
              <a:t>En el costeo integral, o por absorción, o costeo tradicional</a:t>
            </a:r>
          </a:p>
          <a:p>
            <a:pPr marL="460375" indent="-285750" algn="just" eaLnBrk="1" hangingPunct="1">
              <a:spcBef>
                <a:spcPct val="20000"/>
              </a:spcBef>
              <a:buClr>
                <a:srgbClr val="92D050"/>
              </a:buClr>
              <a:buFont typeface="Arial" panose="020B0604020202020204" pitchFamily="34" charset="0"/>
              <a:buChar char="•"/>
            </a:pPr>
            <a:r>
              <a:rPr lang="es-AR" altLang="es-AR" dirty="0">
                <a:solidFill>
                  <a:schemeClr val="tx1">
                    <a:lumMod val="75000"/>
                    <a:lumOff val="25000"/>
                  </a:schemeClr>
                </a:solidFill>
                <a:latin typeface="+mj-lt"/>
              </a:rPr>
              <a:t>todos los costos de producción, tanto fijos como variables, forman parte del costo de los productos, permaneciendo en los inventarios hasta que se produzca su venta</a:t>
            </a:r>
            <a:r>
              <a:rPr lang="es-AR" altLang="es-AR" dirty="0">
                <a:latin typeface="+mj-lt"/>
              </a:rPr>
              <a:t>.</a:t>
            </a:r>
            <a:endParaRPr lang="es-ES" altLang="es-AR" dirty="0">
              <a:latin typeface="+mj-lt"/>
            </a:endParaRPr>
          </a:p>
        </p:txBody>
      </p:sp>
      <p:sp>
        <p:nvSpPr>
          <p:cNvPr id="4156" name="Rectangle 60">
            <a:extLst>
              <a:ext uri="{FF2B5EF4-FFF2-40B4-BE49-F238E27FC236}">
                <a16:creationId xmlns:a16="http://schemas.microsoft.com/office/drawing/2014/main" id="{6EA55FB7-AEF6-4460-AE83-17D0164866A3}"/>
              </a:ext>
            </a:extLst>
          </p:cNvPr>
          <p:cNvSpPr>
            <a:spLocks noChangeArrowheads="1"/>
          </p:cNvSpPr>
          <p:nvPr/>
        </p:nvSpPr>
        <p:spPr bwMode="auto">
          <a:xfrm>
            <a:off x="1120712" y="4172008"/>
            <a:ext cx="9906000" cy="2592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solidFill>
                  <a:schemeClr val="tx1">
                    <a:lumMod val="75000"/>
                    <a:lumOff val="25000"/>
                  </a:schemeClr>
                </a:solidFill>
                <a:latin typeface="+mj-lt"/>
              </a:rPr>
              <a:t>La diferencia entre ambos sistemas está constituida por el distinto tratamiento que se le da a los gastos fijos de producción</a:t>
            </a:r>
            <a:r>
              <a:rPr lang="es-AR" altLang="es-AR" sz="2000" dirty="0">
                <a:solidFill>
                  <a:schemeClr val="tx1">
                    <a:lumMod val="75000"/>
                    <a:lumOff val="25000"/>
                  </a:schemeClr>
                </a:solidFill>
                <a:latin typeface="+mj-lt"/>
              </a:rPr>
              <a:t>.</a:t>
            </a:r>
          </a:p>
          <a:p>
            <a:pPr marL="460375" indent="-285750" algn="just" eaLnBrk="1" hangingPunct="1">
              <a:spcBef>
                <a:spcPct val="20000"/>
              </a:spcBef>
              <a:buClr>
                <a:srgbClr val="92D050"/>
              </a:buClr>
              <a:buFont typeface="Arial" panose="020B0604020202020204" pitchFamily="34" charset="0"/>
              <a:buChar char="•"/>
            </a:pPr>
            <a:r>
              <a:rPr lang="es-AR" altLang="es-AR" dirty="0">
                <a:solidFill>
                  <a:schemeClr val="tx1">
                    <a:lumMod val="75000"/>
                    <a:lumOff val="25000"/>
                  </a:schemeClr>
                </a:solidFill>
                <a:latin typeface="+mj-lt"/>
              </a:rPr>
              <a:t>En el costeo integral o por absorción llegan a cuentas de resultados a través del costo de lo vendido, es decir, recién cuando se produce la venta</a:t>
            </a:r>
          </a:p>
          <a:p>
            <a:pPr marL="460375" indent="-285750" algn="just" eaLnBrk="1" hangingPunct="1">
              <a:spcBef>
                <a:spcPct val="20000"/>
              </a:spcBef>
              <a:buClr>
                <a:srgbClr val="92D050"/>
              </a:buClr>
              <a:buFont typeface="Arial" panose="020B0604020202020204" pitchFamily="34" charset="0"/>
              <a:buChar char="•"/>
            </a:pPr>
            <a:r>
              <a:rPr lang="es-AR" altLang="es-AR" dirty="0">
                <a:solidFill>
                  <a:schemeClr val="tx1">
                    <a:lumMod val="75000"/>
                    <a:lumOff val="25000"/>
                  </a:schemeClr>
                </a:solidFill>
                <a:latin typeface="+mj-lt"/>
              </a:rPr>
              <a:t>En el costeo directo o variable, se imputan directamente en el cuadro de resultados en el periodo en que se originan</a:t>
            </a:r>
            <a:endParaRPr lang="es-ES" altLang="es-AR" dirty="0">
              <a:solidFill>
                <a:schemeClr val="tx1">
                  <a:lumMod val="75000"/>
                  <a:lumOff val="25000"/>
                </a:schemeClr>
              </a:solidFill>
              <a:latin typeface="+mj-lt"/>
            </a:endParaRPr>
          </a:p>
        </p:txBody>
      </p:sp>
      <p:sp>
        <p:nvSpPr>
          <p:cNvPr id="2" name="Marcador de número de diapositiva 1">
            <a:extLst>
              <a:ext uri="{FF2B5EF4-FFF2-40B4-BE49-F238E27FC236}">
                <a16:creationId xmlns:a16="http://schemas.microsoft.com/office/drawing/2014/main" id="{2C5E155D-650A-4E53-9201-5ACBDDFFECCC}"/>
              </a:ext>
            </a:extLst>
          </p:cNvPr>
          <p:cNvSpPr>
            <a:spLocks noGrp="1"/>
          </p:cNvSpPr>
          <p:nvPr>
            <p:ph type="sldNum" sz="quarter" idx="12"/>
          </p:nvPr>
        </p:nvSpPr>
        <p:spPr/>
        <p:txBody>
          <a:bodyPr/>
          <a:lstStyle/>
          <a:p>
            <a:fld id="{D57F1E4F-1CFF-5643-939E-217C01CDF565}" type="slidenum">
              <a:rPr lang="en-US" smtClean="0"/>
              <a:pPr/>
              <a:t>21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5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5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4" grpId="0"/>
      <p:bldP spid="4155" grpId="0"/>
      <p:bldP spid="415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0" name="Text Box 34">
            <a:extLst>
              <a:ext uri="{FF2B5EF4-FFF2-40B4-BE49-F238E27FC236}">
                <a16:creationId xmlns:a16="http://schemas.microsoft.com/office/drawing/2014/main" id="{DB6DE408-0E08-4788-B3D8-21687ABE2D80}"/>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DIFERENCIAS ENTRE AMBOS SISTEMAS</a:t>
            </a:r>
          </a:p>
        </p:txBody>
      </p:sp>
      <p:sp>
        <p:nvSpPr>
          <p:cNvPr id="4154" name="Rectangle 58">
            <a:extLst>
              <a:ext uri="{FF2B5EF4-FFF2-40B4-BE49-F238E27FC236}">
                <a16:creationId xmlns:a16="http://schemas.microsoft.com/office/drawing/2014/main" id="{2219AEEF-42F4-4E04-ACB7-7F7861822A90}"/>
              </a:ext>
            </a:extLst>
          </p:cNvPr>
          <p:cNvSpPr>
            <a:spLocks noChangeArrowheads="1"/>
          </p:cNvSpPr>
          <p:nvPr/>
        </p:nvSpPr>
        <p:spPr bwMode="auto">
          <a:xfrm>
            <a:off x="1133273" y="1054102"/>
            <a:ext cx="10160540" cy="1017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solidFill>
                  <a:schemeClr val="tx1">
                    <a:lumMod val="75000"/>
                    <a:lumOff val="25000"/>
                  </a:schemeClr>
                </a:solidFill>
                <a:latin typeface="+mj-lt"/>
              </a:rPr>
              <a:t>Por lo tanto, los costos de los inventarios de productos elaborados y en curso de elaboración, en un sistema de costeo directo son menores que aquellos  que se valorizan en un sistema integral o por absorción.</a:t>
            </a:r>
            <a:endParaRPr lang="es-ES" altLang="es-AR" dirty="0">
              <a:solidFill>
                <a:schemeClr val="tx1">
                  <a:lumMod val="75000"/>
                  <a:lumOff val="25000"/>
                </a:schemeClr>
              </a:solidFill>
              <a:latin typeface="+mj-lt"/>
            </a:endParaRPr>
          </a:p>
          <a:p>
            <a:pPr marL="460375" indent="-285750" algn="just" eaLnBrk="1" hangingPunct="1">
              <a:spcBef>
                <a:spcPct val="20000"/>
              </a:spcBef>
              <a:buClr>
                <a:srgbClr val="92D050"/>
              </a:buClr>
              <a:buFont typeface="Arial" panose="020B0604020202020204" pitchFamily="34" charset="0"/>
              <a:buChar char="•"/>
            </a:pPr>
            <a:endParaRPr lang="es-ES" altLang="es-AR" dirty="0">
              <a:latin typeface="+mj-lt"/>
            </a:endParaRPr>
          </a:p>
        </p:txBody>
      </p:sp>
      <p:sp>
        <p:nvSpPr>
          <p:cNvPr id="4155" name="Rectangle 59">
            <a:extLst>
              <a:ext uri="{FF2B5EF4-FFF2-40B4-BE49-F238E27FC236}">
                <a16:creationId xmlns:a16="http://schemas.microsoft.com/office/drawing/2014/main" id="{066EBEA3-2A6B-4FB6-82DD-A9DA208B1783}"/>
              </a:ext>
            </a:extLst>
          </p:cNvPr>
          <p:cNvSpPr>
            <a:spLocks noChangeArrowheads="1"/>
          </p:cNvSpPr>
          <p:nvPr/>
        </p:nvSpPr>
        <p:spPr bwMode="auto">
          <a:xfrm>
            <a:off x="1120712" y="2601140"/>
            <a:ext cx="10160539" cy="1231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solidFill>
                  <a:schemeClr val="tx1">
                    <a:lumMod val="75000"/>
                    <a:lumOff val="25000"/>
                  </a:schemeClr>
                </a:solidFill>
                <a:latin typeface="+mj-lt"/>
              </a:rPr>
              <a:t>En consecuencia , cuando lo vendido es mayor a lo producido será:</a:t>
            </a:r>
          </a:p>
          <a:p>
            <a:pPr marL="460375" indent="-285750" algn="just" eaLnBrk="1" hangingPunct="1">
              <a:spcBef>
                <a:spcPct val="20000"/>
              </a:spcBef>
              <a:buClr>
                <a:srgbClr val="92D050"/>
              </a:buClr>
              <a:buFont typeface="Arial" panose="020B0604020202020204" pitchFamily="34" charset="0"/>
              <a:buChar char="•"/>
            </a:pPr>
            <a:r>
              <a:rPr lang="es-AR" altLang="es-AR" sz="2000" dirty="0">
                <a:solidFill>
                  <a:schemeClr val="tx1">
                    <a:lumMod val="75000"/>
                    <a:lumOff val="25000"/>
                  </a:schemeClr>
                </a:solidFill>
                <a:latin typeface="+mj-lt"/>
              </a:rPr>
              <a:t>Sistema directo obtiene mayor ganancia</a:t>
            </a:r>
          </a:p>
          <a:p>
            <a:pPr marL="460375" indent="-285750" algn="just" eaLnBrk="1" hangingPunct="1">
              <a:spcBef>
                <a:spcPct val="20000"/>
              </a:spcBef>
              <a:buClr>
                <a:srgbClr val="92D050"/>
              </a:buClr>
              <a:buFont typeface="Arial" panose="020B0604020202020204" pitchFamily="34" charset="0"/>
              <a:buChar char="•"/>
            </a:pPr>
            <a:r>
              <a:rPr lang="es-AR" altLang="es-AR" sz="2000" dirty="0">
                <a:solidFill>
                  <a:schemeClr val="tx1">
                    <a:lumMod val="75000"/>
                    <a:lumOff val="25000"/>
                  </a:schemeClr>
                </a:solidFill>
                <a:latin typeface="+mj-lt"/>
              </a:rPr>
              <a:t>Sistema integral obtiene menor ganancia</a:t>
            </a:r>
            <a:endParaRPr lang="es-ES" altLang="es-AR" dirty="0">
              <a:latin typeface="+mj-lt"/>
            </a:endParaRPr>
          </a:p>
        </p:txBody>
      </p:sp>
      <p:sp>
        <p:nvSpPr>
          <p:cNvPr id="2" name="Marcador de número de diapositiva 1">
            <a:extLst>
              <a:ext uri="{FF2B5EF4-FFF2-40B4-BE49-F238E27FC236}">
                <a16:creationId xmlns:a16="http://schemas.microsoft.com/office/drawing/2014/main" id="{2C5E155D-650A-4E53-9201-5ACBDDFFECCC}"/>
              </a:ext>
            </a:extLst>
          </p:cNvPr>
          <p:cNvSpPr>
            <a:spLocks noGrp="1"/>
          </p:cNvSpPr>
          <p:nvPr>
            <p:ph type="sldNum" sz="quarter" idx="12"/>
          </p:nvPr>
        </p:nvSpPr>
        <p:spPr/>
        <p:txBody>
          <a:bodyPr/>
          <a:lstStyle/>
          <a:p>
            <a:fld id="{D57F1E4F-1CFF-5643-939E-217C01CDF565}" type="slidenum">
              <a:rPr lang="en-US" smtClean="0"/>
              <a:pPr/>
              <a:t>22</a:t>
            </a:fld>
            <a:endParaRPr lang="en-US" dirty="0"/>
          </a:p>
        </p:txBody>
      </p:sp>
      <p:sp>
        <p:nvSpPr>
          <p:cNvPr id="7" name="Rectangle 59">
            <a:extLst>
              <a:ext uri="{FF2B5EF4-FFF2-40B4-BE49-F238E27FC236}">
                <a16:creationId xmlns:a16="http://schemas.microsoft.com/office/drawing/2014/main" id="{FA8B4C51-059B-473F-B08F-8EF004EFB31A}"/>
              </a:ext>
            </a:extLst>
          </p:cNvPr>
          <p:cNvSpPr>
            <a:spLocks noChangeArrowheads="1"/>
          </p:cNvSpPr>
          <p:nvPr/>
        </p:nvSpPr>
        <p:spPr bwMode="auto">
          <a:xfrm>
            <a:off x="1133274" y="3969497"/>
            <a:ext cx="10160539" cy="1231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solidFill>
                  <a:schemeClr val="tx1">
                    <a:lumMod val="75000"/>
                    <a:lumOff val="25000"/>
                  </a:schemeClr>
                </a:solidFill>
                <a:latin typeface="+mj-lt"/>
              </a:rPr>
              <a:t>Por el contrario, cuando lo vendido es menor que lo producido:</a:t>
            </a:r>
          </a:p>
          <a:p>
            <a:pPr marL="517525" indent="-342900" algn="just" eaLnBrk="1" hangingPunct="1">
              <a:spcBef>
                <a:spcPct val="20000"/>
              </a:spcBef>
              <a:buClr>
                <a:srgbClr val="92D050"/>
              </a:buClr>
              <a:buFont typeface="Arial" panose="020B0604020202020204" pitchFamily="34" charset="0"/>
              <a:buChar char="•"/>
            </a:pPr>
            <a:r>
              <a:rPr lang="es-AR" altLang="es-AR" sz="2000" dirty="0">
                <a:solidFill>
                  <a:schemeClr val="tx1">
                    <a:lumMod val="75000"/>
                    <a:lumOff val="25000"/>
                  </a:schemeClr>
                </a:solidFill>
                <a:latin typeface="+mj-lt"/>
              </a:rPr>
              <a:t>Sistema directo obtiene menor ganancia</a:t>
            </a:r>
          </a:p>
          <a:p>
            <a:pPr marL="517525" indent="-342900" algn="just" eaLnBrk="1" hangingPunct="1">
              <a:spcBef>
                <a:spcPct val="20000"/>
              </a:spcBef>
              <a:buClr>
                <a:srgbClr val="92D050"/>
              </a:buClr>
              <a:buFont typeface="Arial" panose="020B0604020202020204" pitchFamily="34" charset="0"/>
              <a:buChar char="•"/>
            </a:pPr>
            <a:r>
              <a:rPr lang="es-AR" altLang="es-AR" sz="2000" dirty="0">
                <a:solidFill>
                  <a:schemeClr val="tx1">
                    <a:lumMod val="75000"/>
                    <a:lumOff val="25000"/>
                  </a:schemeClr>
                </a:solidFill>
                <a:latin typeface="+mj-lt"/>
              </a:rPr>
              <a:t>Sistema integral obtiene mayor ganancia </a:t>
            </a:r>
            <a:endParaRPr lang="es-ES" altLang="es-AR" dirty="0">
              <a:latin typeface="+mj-lt"/>
            </a:endParaRPr>
          </a:p>
        </p:txBody>
      </p:sp>
    </p:spTree>
    <p:extLst>
      <p:ext uri="{BB962C8B-B14F-4D97-AF65-F5344CB8AC3E}">
        <p14:creationId xmlns:p14="http://schemas.microsoft.com/office/powerpoint/2010/main" val="40729137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5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4" grpId="0"/>
      <p:bldP spid="4155"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0" name="Text Box 34">
            <a:extLst>
              <a:ext uri="{FF2B5EF4-FFF2-40B4-BE49-F238E27FC236}">
                <a16:creationId xmlns:a16="http://schemas.microsoft.com/office/drawing/2014/main" id="{DB6DE408-0E08-4788-B3D8-21687ABE2D80}"/>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DIFERENCIAS ENTRE AMBOS SISTEMAS</a:t>
            </a:r>
          </a:p>
        </p:txBody>
      </p:sp>
      <p:sp>
        <p:nvSpPr>
          <p:cNvPr id="4154" name="Rectangle 58">
            <a:extLst>
              <a:ext uri="{FF2B5EF4-FFF2-40B4-BE49-F238E27FC236}">
                <a16:creationId xmlns:a16="http://schemas.microsoft.com/office/drawing/2014/main" id="{2219AEEF-42F4-4E04-ACB7-7F7861822A90}"/>
              </a:ext>
            </a:extLst>
          </p:cNvPr>
          <p:cNvSpPr>
            <a:spLocks noChangeArrowheads="1"/>
          </p:cNvSpPr>
          <p:nvPr/>
        </p:nvSpPr>
        <p:spPr bwMode="auto">
          <a:xfrm>
            <a:off x="1311579" y="2104689"/>
            <a:ext cx="10160540" cy="1017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solidFill>
                  <a:schemeClr val="tx1">
                    <a:lumMod val="75000"/>
                    <a:lumOff val="25000"/>
                  </a:schemeClr>
                </a:solidFill>
                <a:latin typeface="+mj-lt"/>
              </a:rPr>
              <a:t>Por ultimo, cuando las existencias son iguales al comienzo y al final del periodo, es decir la producción coincide con las ventas, ambos sistemas arrojan el mismo resultado</a:t>
            </a:r>
            <a:endParaRPr lang="es-ES" altLang="es-AR" sz="2000" dirty="0">
              <a:solidFill>
                <a:schemeClr val="tx1">
                  <a:lumMod val="75000"/>
                  <a:lumOff val="25000"/>
                </a:schemeClr>
              </a:solidFill>
              <a:latin typeface="+mj-lt"/>
            </a:endParaRPr>
          </a:p>
          <a:p>
            <a:pPr marL="460375" indent="-285750" algn="just" eaLnBrk="1" hangingPunct="1">
              <a:spcBef>
                <a:spcPct val="20000"/>
              </a:spcBef>
              <a:buClr>
                <a:srgbClr val="92D050"/>
              </a:buClr>
              <a:buFont typeface="Arial" panose="020B0604020202020204" pitchFamily="34" charset="0"/>
              <a:buChar char="•"/>
            </a:pPr>
            <a:endParaRPr lang="es-ES" altLang="es-AR" sz="2000" dirty="0">
              <a:latin typeface="+mj-lt"/>
            </a:endParaRPr>
          </a:p>
        </p:txBody>
      </p:sp>
      <p:sp>
        <p:nvSpPr>
          <p:cNvPr id="2" name="Marcador de número de diapositiva 1">
            <a:extLst>
              <a:ext uri="{FF2B5EF4-FFF2-40B4-BE49-F238E27FC236}">
                <a16:creationId xmlns:a16="http://schemas.microsoft.com/office/drawing/2014/main" id="{2C5E155D-650A-4E53-9201-5ACBDDFFECCC}"/>
              </a:ext>
            </a:extLst>
          </p:cNvPr>
          <p:cNvSpPr>
            <a:spLocks noGrp="1"/>
          </p:cNvSpPr>
          <p:nvPr>
            <p:ph type="sldNum" sz="quarter" idx="12"/>
          </p:nvPr>
        </p:nvSpPr>
        <p:spPr/>
        <p:txBody>
          <a:bodyPr/>
          <a:lstStyle/>
          <a:p>
            <a:fld id="{D57F1E4F-1CFF-5643-939E-217C01CDF565}" type="slidenum">
              <a:rPr lang="en-US" smtClean="0"/>
              <a:pPr/>
              <a:t>23</a:t>
            </a:fld>
            <a:endParaRPr lang="en-US" dirty="0"/>
          </a:p>
        </p:txBody>
      </p:sp>
    </p:spTree>
    <p:extLst>
      <p:ext uri="{BB962C8B-B14F-4D97-AF65-F5344CB8AC3E}">
        <p14:creationId xmlns:p14="http://schemas.microsoft.com/office/powerpoint/2010/main" val="21805755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0" name="Text Box 34">
            <a:extLst>
              <a:ext uri="{FF2B5EF4-FFF2-40B4-BE49-F238E27FC236}">
                <a16:creationId xmlns:a16="http://schemas.microsoft.com/office/drawing/2014/main" id="{DB6DE408-0E08-4788-B3D8-21687ABE2D80}"/>
              </a:ext>
            </a:extLst>
          </p:cNvPr>
          <p:cNvSpPr txBox="1">
            <a:spLocks noChangeArrowheads="1"/>
          </p:cNvSpPr>
          <p:nvPr/>
        </p:nvSpPr>
        <p:spPr bwMode="auto">
          <a:xfrm>
            <a:off x="1891625" y="187617"/>
            <a:ext cx="958049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85000"/>
                    <a:lumOff val="15000"/>
                  </a:schemeClr>
                </a:solidFill>
                <a:latin typeface="+mj-lt"/>
                <a:cs typeface="Arial" charset="0"/>
              </a:rPr>
              <a:t>SISTEMA DE COSTEO DIRECTO O VARIABLE E INTEGRAL O POR ABSORCION</a:t>
            </a:r>
          </a:p>
        </p:txBody>
      </p:sp>
      <p:sp>
        <p:nvSpPr>
          <p:cNvPr id="2" name="Marcador de número de diapositiva 1">
            <a:extLst>
              <a:ext uri="{FF2B5EF4-FFF2-40B4-BE49-F238E27FC236}">
                <a16:creationId xmlns:a16="http://schemas.microsoft.com/office/drawing/2014/main" id="{2C5E155D-650A-4E53-9201-5ACBDDFFECCC}"/>
              </a:ext>
            </a:extLst>
          </p:cNvPr>
          <p:cNvSpPr>
            <a:spLocks noGrp="1"/>
          </p:cNvSpPr>
          <p:nvPr>
            <p:ph type="sldNum" sz="quarter" idx="12"/>
          </p:nvPr>
        </p:nvSpPr>
        <p:spPr/>
        <p:txBody>
          <a:bodyPr/>
          <a:lstStyle/>
          <a:p>
            <a:fld id="{D57F1E4F-1CFF-5643-939E-217C01CDF565}" type="slidenum">
              <a:rPr lang="en-US" smtClean="0"/>
              <a:pPr/>
              <a:t>24</a:t>
            </a:fld>
            <a:endParaRPr lang="en-US" dirty="0"/>
          </a:p>
        </p:txBody>
      </p:sp>
      <p:sp>
        <p:nvSpPr>
          <p:cNvPr id="5" name="Rectangle 58">
            <a:extLst>
              <a:ext uri="{FF2B5EF4-FFF2-40B4-BE49-F238E27FC236}">
                <a16:creationId xmlns:a16="http://schemas.microsoft.com/office/drawing/2014/main" id="{1D664481-B890-4D07-9B29-BAEF62FC4BB0}"/>
              </a:ext>
            </a:extLst>
          </p:cNvPr>
          <p:cNvSpPr>
            <a:spLocks noChangeArrowheads="1"/>
          </p:cNvSpPr>
          <p:nvPr/>
        </p:nvSpPr>
        <p:spPr bwMode="auto">
          <a:xfrm>
            <a:off x="1311579" y="2732124"/>
            <a:ext cx="10160540" cy="192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solidFill>
                  <a:schemeClr val="tx1">
                    <a:lumMod val="75000"/>
                    <a:lumOff val="25000"/>
                  </a:schemeClr>
                </a:solidFill>
                <a:latin typeface="+mj-lt"/>
              </a:rPr>
              <a:t>Veamos en el siguiente ejemplo, el comportamiento según ambos sistemas de costeo:</a:t>
            </a:r>
          </a:p>
          <a:p>
            <a:pPr algn="just" eaLnBrk="1" hangingPunct="1">
              <a:spcBef>
                <a:spcPct val="20000"/>
              </a:spcBef>
            </a:pPr>
            <a:endParaRPr lang="es-AR" altLang="es-AR" sz="2000" dirty="0">
              <a:solidFill>
                <a:schemeClr val="tx1">
                  <a:lumMod val="75000"/>
                  <a:lumOff val="25000"/>
                </a:schemeClr>
              </a:solidFill>
              <a:latin typeface="+mj-lt"/>
            </a:endParaRPr>
          </a:p>
          <a:p>
            <a:pPr marL="517525" indent="-342900" algn="just" eaLnBrk="1" hangingPunct="1">
              <a:spcBef>
                <a:spcPct val="20000"/>
              </a:spcBef>
              <a:buClr>
                <a:srgbClr val="92D050"/>
              </a:buClr>
              <a:buFont typeface="Arial" panose="020B0604020202020204" pitchFamily="34" charset="0"/>
              <a:buChar char="•"/>
            </a:pPr>
            <a:r>
              <a:rPr lang="es-AR" altLang="es-AR" sz="2000" dirty="0">
                <a:solidFill>
                  <a:schemeClr val="tx1">
                    <a:lumMod val="75000"/>
                    <a:lumOff val="25000"/>
                  </a:schemeClr>
                </a:solidFill>
                <a:latin typeface="+mj-lt"/>
              </a:rPr>
              <a:t>Dados los datos siguientes, realizar un cuadro de resultados por los sistemas de costeo directo e integral.</a:t>
            </a:r>
          </a:p>
          <a:p>
            <a:pPr algn="just" eaLnBrk="1" hangingPunct="1">
              <a:spcBef>
                <a:spcPct val="20000"/>
              </a:spcBef>
            </a:pPr>
            <a:endParaRPr lang="es-ES" altLang="es-AR" dirty="0">
              <a:solidFill>
                <a:schemeClr val="tx1">
                  <a:lumMod val="75000"/>
                  <a:lumOff val="25000"/>
                </a:schemeClr>
              </a:solidFill>
              <a:latin typeface="+mj-lt"/>
            </a:endParaRPr>
          </a:p>
          <a:p>
            <a:pPr marL="460375" indent="-285750" algn="just" eaLnBrk="1" hangingPunct="1">
              <a:spcBef>
                <a:spcPct val="20000"/>
              </a:spcBef>
              <a:buClr>
                <a:srgbClr val="92D050"/>
              </a:buClr>
              <a:buFont typeface="Arial" panose="020B0604020202020204" pitchFamily="34" charset="0"/>
              <a:buChar char="•"/>
            </a:pPr>
            <a:endParaRPr lang="es-ES" altLang="es-AR" dirty="0">
              <a:latin typeface="+mj-lt"/>
            </a:endParaRPr>
          </a:p>
        </p:txBody>
      </p:sp>
    </p:spTree>
    <p:extLst>
      <p:ext uri="{BB962C8B-B14F-4D97-AF65-F5344CB8AC3E}">
        <p14:creationId xmlns:p14="http://schemas.microsoft.com/office/powerpoint/2010/main" val="2496546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0" name="Text Box 34">
            <a:extLst>
              <a:ext uri="{FF2B5EF4-FFF2-40B4-BE49-F238E27FC236}">
                <a16:creationId xmlns:a16="http://schemas.microsoft.com/office/drawing/2014/main" id="{DB6DE408-0E08-4788-B3D8-21687ABE2D80}"/>
              </a:ext>
            </a:extLst>
          </p:cNvPr>
          <p:cNvSpPr txBox="1">
            <a:spLocks noChangeArrowheads="1"/>
          </p:cNvSpPr>
          <p:nvPr/>
        </p:nvSpPr>
        <p:spPr bwMode="auto">
          <a:xfrm>
            <a:off x="1891625" y="187617"/>
            <a:ext cx="958049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85000"/>
                    <a:lumOff val="15000"/>
                  </a:schemeClr>
                </a:solidFill>
                <a:latin typeface="+mj-lt"/>
                <a:cs typeface="Arial" charset="0"/>
              </a:rPr>
              <a:t>SISTEMA DE COSTEO DIRECTO O VARIABLE E INTEGRAL O POR ABSORCION</a:t>
            </a:r>
          </a:p>
        </p:txBody>
      </p:sp>
      <p:sp>
        <p:nvSpPr>
          <p:cNvPr id="2" name="Marcador de número de diapositiva 1">
            <a:extLst>
              <a:ext uri="{FF2B5EF4-FFF2-40B4-BE49-F238E27FC236}">
                <a16:creationId xmlns:a16="http://schemas.microsoft.com/office/drawing/2014/main" id="{2C5E155D-650A-4E53-9201-5ACBDDFFECCC}"/>
              </a:ext>
            </a:extLst>
          </p:cNvPr>
          <p:cNvSpPr>
            <a:spLocks noGrp="1"/>
          </p:cNvSpPr>
          <p:nvPr>
            <p:ph type="sldNum" sz="quarter" idx="12"/>
          </p:nvPr>
        </p:nvSpPr>
        <p:spPr/>
        <p:txBody>
          <a:bodyPr/>
          <a:lstStyle/>
          <a:p>
            <a:fld id="{D57F1E4F-1CFF-5643-939E-217C01CDF565}" type="slidenum">
              <a:rPr lang="en-US" smtClean="0"/>
              <a:pPr/>
              <a:t>25</a:t>
            </a:fld>
            <a:endParaRPr lang="en-US" dirty="0"/>
          </a:p>
        </p:txBody>
      </p:sp>
      <p:graphicFrame>
        <p:nvGraphicFramePr>
          <p:cNvPr id="8" name="Tabla 8">
            <a:extLst>
              <a:ext uri="{FF2B5EF4-FFF2-40B4-BE49-F238E27FC236}">
                <a16:creationId xmlns:a16="http://schemas.microsoft.com/office/drawing/2014/main" id="{54274028-9DF1-43BA-B5A5-1DFECD8B2D5A}"/>
              </a:ext>
            </a:extLst>
          </p:cNvPr>
          <p:cNvGraphicFramePr>
            <a:graphicFrameLocks noGrp="1"/>
          </p:cNvGraphicFramePr>
          <p:nvPr>
            <p:extLst>
              <p:ext uri="{D42A27DB-BD31-4B8C-83A1-F6EECF244321}">
                <p14:modId xmlns:p14="http://schemas.microsoft.com/office/powerpoint/2010/main" val="3881989037"/>
              </p:ext>
            </p:extLst>
          </p:nvPr>
        </p:nvGraphicFramePr>
        <p:xfrm>
          <a:off x="1701261" y="1874408"/>
          <a:ext cx="7898932" cy="4288536"/>
        </p:xfrm>
        <a:graphic>
          <a:graphicData uri="http://schemas.openxmlformats.org/drawingml/2006/table">
            <a:tbl>
              <a:tblPr firstRow="1" bandRow="1">
                <a:tableStyleId>{5C22544A-7EE6-4342-B048-85BDC9FD1C3A}</a:tableStyleId>
              </a:tblPr>
              <a:tblGrid>
                <a:gridCol w="6518593">
                  <a:extLst>
                    <a:ext uri="{9D8B030D-6E8A-4147-A177-3AD203B41FA5}">
                      <a16:colId xmlns:a16="http://schemas.microsoft.com/office/drawing/2014/main" val="840649719"/>
                    </a:ext>
                  </a:extLst>
                </a:gridCol>
                <a:gridCol w="1380339">
                  <a:extLst>
                    <a:ext uri="{9D8B030D-6E8A-4147-A177-3AD203B41FA5}">
                      <a16:colId xmlns:a16="http://schemas.microsoft.com/office/drawing/2014/main" val="3161164960"/>
                    </a:ext>
                  </a:extLst>
                </a:gridCol>
              </a:tblGrid>
              <a:tr h="630936">
                <a:tc>
                  <a:txBody>
                    <a:bodyPr/>
                    <a:lstStyle/>
                    <a:p>
                      <a:pPr algn="ctr"/>
                      <a:r>
                        <a:rPr lang="es-AR" dirty="0"/>
                        <a:t>DENOMINACION</a:t>
                      </a:r>
                    </a:p>
                  </a:txBody>
                  <a:tcPr anchor="ctr"/>
                </a:tc>
                <a:tc>
                  <a:txBody>
                    <a:bodyPr/>
                    <a:lstStyle/>
                    <a:p>
                      <a:pPr algn="ctr"/>
                      <a:r>
                        <a:rPr lang="es-AR" dirty="0"/>
                        <a:t>CANTIDAD</a:t>
                      </a:r>
                    </a:p>
                  </a:txBody>
                  <a:tcPr anchor="ctr"/>
                </a:tc>
                <a:extLst>
                  <a:ext uri="{0D108BD9-81ED-4DB2-BD59-A6C34878D82A}">
                    <a16:rowId xmlns:a16="http://schemas.microsoft.com/office/drawing/2014/main" val="2146069145"/>
                  </a:ext>
                </a:extLst>
              </a:tr>
              <a:tr h="360535">
                <a:tc>
                  <a:txBody>
                    <a:bodyPr/>
                    <a:lstStyle/>
                    <a:p>
                      <a:pPr algn="l"/>
                      <a:r>
                        <a:rPr lang="es-AR" dirty="0"/>
                        <a:t>PRECIO DE VENTA UNITARIO</a:t>
                      </a:r>
                    </a:p>
                  </a:txBody>
                  <a:tcPr/>
                </a:tc>
                <a:tc>
                  <a:txBody>
                    <a:bodyPr/>
                    <a:lstStyle/>
                    <a:p>
                      <a:pPr algn="ctr"/>
                      <a:r>
                        <a:rPr lang="es-AR" dirty="0"/>
                        <a:t>$45</a:t>
                      </a:r>
                    </a:p>
                  </a:txBody>
                  <a:tcPr/>
                </a:tc>
                <a:extLst>
                  <a:ext uri="{0D108BD9-81ED-4DB2-BD59-A6C34878D82A}">
                    <a16:rowId xmlns:a16="http://schemas.microsoft.com/office/drawing/2014/main" val="287888109"/>
                  </a:ext>
                </a:extLst>
              </a:tr>
              <a:tr h="360535">
                <a:tc>
                  <a:txBody>
                    <a:bodyPr/>
                    <a:lstStyle/>
                    <a:p>
                      <a:pPr algn="l"/>
                      <a:r>
                        <a:rPr lang="es-AR" dirty="0"/>
                        <a:t>COSTO VARIABLE UNITARIO (</a:t>
                      </a:r>
                      <a:r>
                        <a:rPr lang="es-AR" dirty="0" err="1"/>
                        <a:t>Cvu</a:t>
                      </a:r>
                      <a:r>
                        <a:rPr lang="es-AR" dirty="0"/>
                        <a:t>)</a:t>
                      </a:r>
                    </a:p>
                  </a:txBody>
                  <a:tcPr/>
                </a:tc>
                <a:tc>
                  <a:txBody>
                    <a:bodyPr/>
                    <a:lstStyle/>
                    <a:p>
                      <a:pPr algn="ctr"/>
                      <a:r>
                        <a:rPr lang="es-AR" dirty="0"/>
                        <a:t>$21</a:t>
                      </a:r>
                    </a:p>
                  </a:txBody>
                  <a:tcPr/>
                </a:tc>
                <a:extLst>
                  <a:ext uri="{0D108BD9-81ED-4DB2-BD59-A6C34878D82A}">
                    <a16:rowId xmlns:a16="http://schemas.microsoft.com/office/drawing/2014/main" val="1787684268"/>
                  </a:ext>
                </a:extLst>
              </a:tr>
              <a:tr h="360535">
                <a:tc>
                  <a:txBody>
                    <a:bodyPr/>
                    <a:lstStyle/>
                    <a:p>
                      <a:pPr algn="l"/>
                      <a:r>
                        <a:rPr lang="es-AR" dirty="0"/>
                        <a:t>COSTO FIJO DE FABRICACION (CFF)</a:t>
                      </a:r>
                    </a:p>
                  </a:txBody>
                  <a:tcPr/>
                </a:tc>
                <a:tc>
                  <a:txBody>
                    <a:bodyPr/>
                    <a:lstStyle/>
                    <a:p>
                      <a:pPr algn="ctr"/>
                      <a:r>
                        <a:rPr lang="es-AR" dirty="0"/>
                        <a:t>$600</a:t>
                      </a:r>
                    </a:p>
                  </a:txBody>
                  <a:tcPr/>
                </a:tc>
                <a:extLst>
                  <a:ext uri="{0D108BD9-81ED-4DB2-BD59-A6C34878D82A}">
                    <a16:rowId xmlns:a16="http://schemas.microsoft.com/office/drawing/2014/main" val="1395012695"/>
                  </a:ext>
                </a:extLst>
              </a:tr>
              <a:tr h="360535">
                <a:tc>
                  <a:txBody>
                    <a:bodyPr/>
                    <a:lstStyle/>
                    <a:p>
                      <a:pPr algn="l"/>
                      <a:r>
                        <a:rPr lang="es-AR" dirty="0"/>
                        <a:t>COSTO COMERCIALIZACION VARIABLE UNITARIO (</a:t>
                      </a:r>
                      <a:r>
                        <a:rPr lang="es-AR" dirty="0" err="1"/>
                        <a:t>CCVu</a:t>
                      </a:r>
                      <a:r>
                        <a:rPr lang="es-AR" dirty="0"/>
                        <a:t>)</a:t>
                      </a:r>
                    </a:p>
                  </a:txBody>
                  <a:tcPr/>
                </a:tc>
                <a:tc>
                  <a:txBody>
                    <a:bodyPr/>
                    <a:lstStyle/>
                    <a:p>
                      <a:pPr algn="ctr"/>
                      <a:r>
                        <a:rPr lang="es-AR" dirty="0"/>
                        <a:t>$2,5</a:t>
                      </a:r>
                    </a:p>
                  </a:txBody>
                  <a:tcPr/>
                </a:tc>
                <a:extLst>
                  <a:ext uri="{0D108BD9-81ED-4DB2-BD59-A6C34878D82A}">
                    <a16:rowId xmlns:a16="http://schemas.microsoft.com/office/drawing/2014/main" val="2479991960"/>
                  </a:ext>
                </a:extLst>
              </a:tr>
              <a:tr h="360535">
                <a:tc>
                  <a:txBody>
                    <a:bodyPr/>
                    <a:lstStyle/>
                    <a:p>
                      <a:pPr algn="l"/>
                      <a:r>
                        <a:rPr lang="es-AR" dirty="0"/>
                        <a:t>COSTO FIJO DE COMERCIALIZACION</a:t>
                      </a:r>
                    </a:p>
                  </a:txBody>
                  <a:tcPr/>
                </a:tc>
                <a:tc>
                  <a:txBody>
                    <a:bodyPr/>
                    <a:lstStyle/>
                    <a:p>
                      <a:pPr algn="ctr"/>
                      <a:r>
                        <a:rPr lang="es-AR" dirty="0"/>
                        <a:t>$450</a:t>
                      </a:r>
                    </a:p>
                  </a:txBody>
                  <a:tcPr/>
                </a:tc>
                <a:extLst>
                  <a:ext uri="{0D108BD9-81ED-4DB2-BD59-A6C34878D82A}">
                    <a16:rowId xmlns:a16="http://schemas.microsoft.com/office/drawing/2014/main" val="92142116"/>
                  </a:ext>
                </a:extLst>
              </a:tr>
              <a:tr h="360535">
                <a:tc>
                  <a:txBody>
                    <a:bodyPr/>
                    <a:lstStyle/>
                    <a:p>
                      <a:pPr algn="l"/>
                      <a:r>
                        <a:rPr lang="es-AR" dirty="0"/>
                        <a:t>GASTOS FIJOS DE ADMINISTRACION</a:t>
                      </a:r>
                    </a:p>
                  </a:txBody>
                  <a:tcPr/>
                </a:tc>
                <a:tc>
                  <a:txBody>
                    <a:bodyPr/>
                    <a:lstStyle/>
                    <a:p>
                      <a:pPr algn="ctr"/>
                      <a:r>
                        <a:rPr lang="es-AR" dirty="0"/>
                        <a:t>$650</a:t>
                      </a:r>
                    </a:p>
                  </a:txBody>
                  <a:tcPr/>
                </a:tc>
                <a:extLst>
                  <a:ext uri="{0D108BD9-81ED-4DB2-BD59-A6C34878D82A}">
                    <a16:rowId xmlns:a16="http://schemas.microsoft.com/office/drawing/2014/main" val="427008305"/>
                  </a:ext>
                </a:extLst>
              </a:tr>
              <a:tr h="360535">
                <a:tc>
                  <a:txBody>
                    <a:bodyPr/>
                    <a:lstStyle/>
                    <a:p>
                      <a:pPr algn="l"/>
                      <a:r>
                        <a:rPr lang="es-AR" dirty="0"/>
                        <a:t>UNIDADES PRODUCIDAS</a:t>
                      </a:r>
                    </a:p>
                  </a:txBody>
                  <a:tcPr/>
                </a:tc>
                <a:tc>
                  <a:txBody>
                    <a:bodyPr/>
                    <a:lstStyle/>
                    <a:p>
                      <a:pPr algn="ctr"/>
                      <a:r>
                        <a:rPr lang="es-AR" dirty="0"/>
                        <a:t>120</a:t>
                      </a:r>
                    </a:p>
                  </a:txBody>
                  <a:tcPr/>
                </a:tc>
                <a:extLst>
                  <a:ext uri="{0D108BD9-81ED-4DB2-BD59-A6C34878D82A}">
                    <a16:rowId xmlns:a16="http://schemas.microsoft.com/office/drawing/2014/main" val="1527657399"/>
                  </a:ext>
                </a:extLst>
              </a:tr>
              <a:tr h="360535">
                <a:tc>
                  <a:txBody>
                    <a:bodyPr/>
                    <a:lstStyle/>
                    <a:p>
                      <a:pPr algn="l"/>
                      <a:r>
                        <a:rPr lang="es-AR" dirty="0"/>
                        <a:t>UNIDADES VENDIDAS</a:t>
                      </a:r>
                    </a:p>
                  </a:txBody>
                  <a:tcPr/>
                </a:tc>
                <a:tc>
                  <a:txBody>
                    <a:bodyPr/>
                    <a:lstStyle/>
                    <a:p>
                      <a:pPr algn="ctr"/>
                      <a:r>
                        <a:rPr lang="es-AR" dirty="0"/>
                        <a:t>100</a:t>
                      </a:r>
                    </a:p>
                  </a:txBody>
                  <a:tcPr/>
                </a:tc>
                <a:extLst>
                  <a:ext uri="{0D108BD9-81ED-4DB2-BD59-A6C34878D82A}">
                    <a16:rowId xmlns:a16="http://schemas.microsoft.com/office/drawing/2014/main" val="733442390"/>
                  </a:ext>
                </a:extLst>
              </a:tr>
              <a:tr h="360535">
                <a:tc>
                  <a:txBody>
                    <a:bodyPr/>
                    <a:lstStyle/>
                    <a:p>
                      <a:pPr algn="l"/>
                      <a:r>
                        <a:rPr lang="es-AR" dirty="0"/>
                        <a:t>EXISTENCIA INICIAL</a:t>
                      </a:r>
                    </a:p>
                  </a:txBody>
                  <a:tcPr/>
                </a:tc>
                <a:tc>
                  <a:txBody>
                    <a:bodyPr/>
                    <a:lstStyle/>
                    <a:p>
                      <a:pPr algn="ctr"/>
                      <a:r>
                        <a:rPr lang="es-AR" dirty="0"/>
                        <a:t>0</a:t>
                      </a:r>
                    </a:p>
                  </a:txBody>
                  <a:tcPr/>
                </a:tc>
                <a:extLst>
                  <a:ext uri="{0D108BD9-81ED-4DB2-BD59-A6C34878D82A}">
                    <a16:rowId xmlns:a16="http://schemas.microsoft.com/office/drawing/2014/main" val="2484404062"/>
                  </a:ext>
                </a:extLst>
              </a:tr>
              <a:tr h="360535">
                <a:tc>
                  <a:txBody>
                    <a:bodyPr/>
                    <a:lstStyle/>
                    <a:p>
                      <a:pPr algn="l"/>
                      <a:r>
                        <a:rPr lang="es-AR" dirty="0"/>
                        <a:t>EXISTENCIA FINAL</a:t>
                      </a:r>
                    </a:p>
                  </a:txBody>
                  <a:tcPr/>
                </a:tc>
                <a:tc>
                  <a:txBody>
                    <a:bodyPr/>
                    <a:lstStyle/>
                    <a:p>
                      <a:pPr algn="ctr"/>
                      <a:r>
                        <a:rPr lang="es-AR" dirty="0"/>
                        <a:t>20</a:t>
                      </a:r>
                    </a:p>
                  </a:txBody>
                  <a:tcPr/>
                </a:tc>
                <a:extLst>
                  <a:ext uri="{0D108BD9-81ED-4DB2-BD59-A6C34878D82A}">
                    <a16:rowId xmlns:a16="http://schemas.microsoft.com/office/drawing/2014/main" val="2111009058"/>
                  </a:ext>
                </a:extLst>
              </a:tr>
            </a:tbl>
          </a:graphicData>
        </a:graphic>
      </p:graphicFrame>
    </p:spTree>
    <p:extLst>
      <p:ext uri="{BB962C8B-B14F-4D97-AF65-F5344CB8AC3E}">
        <p14:creationId xmlns:p14="http://schemas.microsoft.com/office/powerpoint/2010/main" val="38717921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AFDFF3-4CEA-4311-B53E-C47769FCBFA3}"/>
              </a:ext>
            </a:extLst>
          </p:cNvPr>
          <p:cNvSpPr>
            <a:spLocks noGrp="1"/>
          </p:cNvSpPr>
          <p:nvPr>
            <p:ph type="title"/>
          </p:nvPr>
        </p:nvSpPr>
        <p:spPr/>
        <p:txBody>
          <a:bodyPr>
            <a:normAutofit/>
          </a:bodyPr>
          <a:lstStyle/>
          <a:p>
            <a:r>
              <a:rPr lang="es-AR" sz="3200" dirty="0"/>
              <a:t>SISTEMA DE COSTEO INTEGRAL O POR ABSORCION</a:t>
            </a:r>
          </a:p>
        </p:txBody>
      </p:sp>
      <p:sp>
        <p:nvSpPr>
          <p:cNvPr id="4" name="Marcador de número de diapositiva 3">
            <a:extLst>
              <a:ext uri="{FF2B5EF4-FFF2-40B4-BE49-F238E27FC236}">
                <a16:creationId xmlns:a16="http://schemas.microsoft.com/office/drawing/2014/main" id="{59EADFCE-DC58-4AB9-8B09-753B87930B5B}"/>
              </a:ext>
            </a:extLst>
          </p:cNvPr>
          <p:cNvSpPr>
            <a:spLocks noGrp="1"/>
          </p:cNvSpPr>
          <p:nvPr>
            <p:ph type="sldNum" sz="quarter" idx="12"/>
          </p:nvPr>
        </p:nvSpPr>
        <p:spPr/>
        <p:txBody>
          <a:bodyPr/>
          <a:lstStyle/>
          <a:p>
            <a:fld id="{D57F1E4F-1CFF-5643-939E-217C01CDF565}" type="slidenum">
              <a:rPr lang="en-US" smtClean="0"/>
              <a:pPr/>
              <a:t>26</a:t>
            </a:fld>
            <a:endParaRPr lang="en-US" dirty="0"/>
          </a:p>
        </p:txBody>
      </p:sp>
      <p:sp>
        <p:nvSpPr>
          <p:cNvPr id="5" name="CuadroTexto 4">
            <a:extLst>
              <a:ext uri="{FF2B5EF4-FFF2-40B4-BE49-F238E27FC236}">
                <a16:creationId xmlns:a16="http://schemas.microsoft.com/office/drawing/2014/main" id="{E49DCE6C-C730-42FA-8611-0DA2BFF9A265}"/>
              </a:ext>
            </a:extLst>
          </p:cNvPr>
          <p:cNvSpPr txBox="1"/>
          <p:nvPr/>
        </p:nvSpPr>
        <p:spPr>
          <a:xfrm>
            <a:off x="2592924" y="2188723"/>
            <a:ext cx="6677536" cy="1477328"/>
          </a:xfrm>
          <a:prstGeom prst="rect">
            <a:avLst/>
          </a:prstGeom>
          <a:noFill/>
        </p:spPr>
        <p:txBody>
          <a:bodyPr wrap="square" rtlCol="0">
            <a:spAutoFit/>
          </a:bodyPr>
          <a:lstStyle/>
          <a:p>
            <a:r>
              <a:rPr lang="es-AR" dirty="0"/>
              <a:t>Primero calculo el costo de lo vendido:</a:t>
            </a:r>
          </a:p>
          <a:p>
            <a:endParaRPr lang="es-AR" dirty="0"/>
          </a:p>
          <a:p>
            <a:pPr marL="285750" indent="-285750">
              <a:buClr>
                <a:srgbClr val="92D050"/>
              </a:buClr>
              <a:buFont typeface="Arial" panose="020B0604020202020204" pitchFamily="34" charset="0"/>
              <a:buChar char="•"/>
            </a:pPr>
            <a:r>
              <a:rPr lang="es-AR" dirty="0"/>
              <a:t>Costo de lo vendido = (</a:t>
            </a:r>
            <a:r>
              <a:rPr lang="es-AR" dirty="0" err="1"/>
              <a:t>Cvu</a:t>
            </a:r>
            <a:r>
              <a:rPr lang="es-AR" dirty="0"/>
              <a:t> + </a:t>
            </a:r>
            <a:r>
              <a:rPr lang="es-AR" dirty="0" err="1"/>
              <a:t>CFFu</a:t>
            </a:r>
            <a:r>
              <a:rPr lang="es-AR" dirty="0"/>
              <a:t>) x </a:t>
            </a:r>
            <a:r>
              <a:rPr lang="es-AR" dirty="0" err="1"/>
              <a:t>Qvendido</a:t>
            </a:r>
            <a:endParaRPr lang="es-AR" dirty="0"/>
          </a:p>
          <a:p>
            <a:endParaRPr lang="es-AR" dirty="0"/>
          </a:p>
          <a:p>
            <a:pPr marL="285750" indent="-285750">
              <a:buClr>
                <a:srgbClr val="92D050"/>
              </a:buClr>
              <a:buFont typeface="Arial" panose="020B0604020202020204" pitchFamily="34" charset="0"/>
              <a:buChar char="•"/>
            </a:pPr>
            <a:endParaRPr lang="es-AR" dirty="0"/>
          </a:p>
        </p:txBody>
      </p:sp>
      <p:sp>
        <p:nvSpPr>
          <p:cNvPr id="6" name="CuadroTexto 5">
            <a:extLst>
              <a:ext uri="{FF2B5EF4-FFF2-40B4-BE49-F238E27FC236}">
                <a16:creationId xmlns:a16="http://schemas.microsoft.com/office/drawing/2014/main" id="{8B76D238-4030-4B49-9F6D-16BC8A96A82E}"/>
              </a:ext>
            </a:extLst>
          </p:cNvPr>
          <p:cNvSpPr txBox="1"/>
          <p:nvPr/>
        </p:nvSpPr>
        <p:spPr>
          <a:xfrm>
            <a:off x="2592924" y="3666051"/>
            <a:ext cx="481016" cy="369332"/>
          </a:xfrm>
          <a:prstGeom prst="rect">
            <a:avLst/>
          </a:prstGeom>
          <a:noFill/>
        </p:spPr>
        <p:txBody>
          <a:bodyPr wrap="square" rtlCol="0">
            <a:spAutoFit/>
          </a:bodyPr>
          <a:lstStyle/>
          <a:p>
            <a:r>
              <a:rPr lang="es-AR" dirty="0"/>
              <a:t>=</a:t>
            </a:r>
          </a:p>
        </p:txBody>
      </p:sp>
      <p:sp>
        <p:nvSpPr>
          <p:cNvPr id="7" name="CuadroTexto 6">
            <a:extLst>
              <a:ext uri="{FF2B5EF4-FFF2-40B4-BE49-F238E27FC236}">
                <a16:creationId xmlns:a16="http://schemas.microsoft.com/office/drawing/2014/main" id="{5A06B6AE-F9AF-425C-896D-2EDA160F4AA5}"/>
              </a:ext>
            </a:extLst>
          </p:cNvPr>
          <p:cNvSpPr txBox="1"/>
          <p:nvPr/>
        </p:nvSpPr>
        <p:spPr>
          <a:xfrm>
            <a:off x="2921540" y="3664615"/>
            <a:ext cx="752834" cy="369332"/>
          </a:xfrm>
          <a:prstGeom prst="rect">
            <a:avLst/>
          </a:prstGeom>
          <a:noFill/>
        </p:spPr>
        <p:txBody>
          <a:bodyPr wrap="square" rtlCol="0">
            <a:spAutoFit/>
          </a:bodyPr>
          <a:lstStyle/>
          <a:p>
            <a:r>
              <a:rPr lang="es-AR" dirty="0"/>
              <a:t>(</a:t>
            </a:r>
            <a:r>
              <a:rPr lang="es-AR" dirty="0" err="1"/>
              <a:t>Cvu</a:t>
            </a:r>
            <a:r>
              <a:rPr lang="es-AR" dirty="0"/>
              <a:t> </a:t>
            </a:r>
          </a:p>
        </p:txBody>
      </p:sp>
      <p:sp>
        <p:nvSpPr>
          <p:cNvPr id="8" name="CuadroTexto 7">
            <a:extLst>
              <a:ext uri="{FF2B5EF4-FFF2-40B4-BE49-F238E27FC236}">
                <a16:creationId xmlns:a16="http://schemas.microsoft.com/office/drawing/2014/main" id="{F90D059F-33EF-4DAF-BABB-701196FD4BDB}"/>
              </a:ext>
            </a:extLst>
          </p:cNvPr>
          <p:cNvSpPr txBox="1"/>
          <p:nvPr/>
        </p:nvSpPr>
        <p:spPr>
          <a:xfrm>
            <a:off x="3542993" y="3664615"/>
            <a:ext cx="481016" cy="369332"/>
          </a:xfrm>
          <a:prstGeom prst="rect">
            <a:avLst/>
          </a:prstGeom>
          <a:noFill/>
        </p:spPr>
        <p:txBody>
          <a:bodyPr wrap="square" rtlCol="0">
            <a:spAutoFit/>
          </a:bodyPr>
          <a:lstStyle/>
          <a:p>
            <a:r>
              <a:rPr lang="es-AR" dirty="0"/>
              <a:t>+</a:t>
            </a:r>
          </a:p>
        </p:txBody>
      </p:sp>
      <p:sp>
        <p:nvSpPr>
          <p:cNvPr id="9" name="CuadroTexto 8">
            <a:extLst>
              <a:ext uri="{FF2B5EF4-FFF2-40B4-BE49-F238E27FC236}">
                <a16:creationId xmlns:a16="http://schemas.microsoft.com/office/drawing/2014/main" id="{DE10066A-39C2-490B-9965-A11C033024AC}"/>
              </a:ext>
            </a:extLst>
          </p:cNvPr>
          <p:cNvSpPr txBox="1"/>
          <p:nvPr/>
        </p:nvSpPr>
        <p:spPr>
          <a:xfrm>
            <a:off x="4013499" y="3479949"/>
            <a:ext cx="700392" cy="369332"/>
          </a:xfrm>
          <a:prstGeom prst="rect">
            <a:avLst/>
          </a:prstGeom>
          <a:noFill/>
        </p:spPr>
        <p:txBody>
          <a:bodyPr wrap="square" rtlCol="0">
            <a:spAutoFit/>
          </a:bodyPr>
          <a:lstStyle/>
          <a:p>
            <a:r>
              <a:rPr lang="es-AR" dirty="0"/>
              <a:t>CFF</a:t>
            </a:r>
          </a:p>
        </p:txBody>
      </p:sp>
      <p:cxnSp>
        <p:nvCxnSpPr>
          <p:cNvPr id="11" name="Conector recto 10">
            <a:extLst>
              <a:ext uri="{FF2B5EF4-FFF2-40B4-BE49-F238E27FC236}">
                <a16:creationId xmlns:a16="http://schemas.microsoft.com/office/drawing/2014/main" id="{6EBA3D00-D11E-4B6F-9DE2-6992BCFDC8C1}"/>
              </a:ext>
            </a:extLst>
          </p:cNvPr>
          <p:cNvCxnSpPr>
            <a:cxnSpLocks/>
          </p:cNvCxnSpPr>
          <p:nvPr/>
        </p:nvCxnSpPr>
        <p:spPr>
          <a:xfrm>
            <a:off x="3826214" y="3849281"/>
            <a:ext cx="898187"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0B1D490C-58E8-4F98-8B78-21A53AF9D90F}"/>
              </a:ext>
            </a:extLst>
          </p:cNvPr>
          <p:cNvSpPr txBox="1"/>
          <p:nvPr/>
        </p:nvSpPr>
        <p:spPr>
          <a:xfrm>
            <a:off x="3882679" y="3857441"/>
            <a:ext cx="983052" cy="369332"/>
          </a:xfrm>
          <a:prstGeom prst="rect">
            <a:avLst/>
          </a:prstGeom>
          <a:noFill/>
        </p:spPr>
        <p:txBody>
          <a:bodyPr wrap="square" rtlCol="0">
            <a:spAutoFit/>
          </a:bodyPr>
          <a:lstStyle/>
          <a:p>
            <a:r>
              <a:rPr lang="es-AR" dirty="0" err="1"/>
              <a:t>Qprod</a:t>
            </a:r>
            <a:endParaRPr lang="es-AR" dirty="0"/>
          </a:p>
        </p:txBody>
      </p:sp>
      <p:sp>
        <p:nvSpPr>
          <p:cNvPr id="13" name="CuadroTexto 12">
            <a:extLst>
              <a:ext uri="{FF2B5EF4-FFF2-40B4-BE49-F238E27FC236}">
                <a16:creationId xmlns:a16="http://schemas.microsoft.com/office/drawing/2014/main" id="{3E262813-30AD-4F54-B5A0-850F55EAFDA2}"/>
              </a:ext>
            </a:extLst>
          </p:cNvPr>
          <p:cNvSpPr txBox="1"/>
          <p:nvPr/>
        </p:nvSpPr>
        <p:spPr>
          <a:xfrm>
            <a:off x="5948305" y="3704451"/>
            <a:ext cx="481016" cy="369332"/>
          </a:xfrm>
          <a:prstGeom prst="rect">
            <a:avLst/>
          </a:prstGeom>
          <a:noFill/>
        </p:spPr>
        <p:txBody>
          <a:bodyPr wrap="square" rtlCol="0">
            <a:spAutoFit/>
          </a:bodyPr>
          <a:lstStyle/>
          <a:p>
            <a:r>
              <a:rPr lang="es-AR" dirty="0"/>
              <a:t>=</a:t>
            </a:r>
          </a:p>
        </p:txBody>
      </p:sp>
      <p:sp>
        <p:nvSpPr>
          <p:cNvPr id="14" name="CuadroTexto 13">
            <a:extLst>
              <a:ext uri="{FF2B5EF4-FFF2-40B4-BE49-F238E27FC236}">
                <a16:creationId xmlns:a16="http://schemas.microsoft.com/office/drawing/2014/main" id="{DBD5C08C-B5C3-49CC-9ECF-99CE379E8336}"/>
              </a:ext>
            </a:extLst>
          </p:cNvPr>
          <p:cNvSpPr txBox="1"/>
          <p:nvPr/>
        </p:nvSpPr>
        <p:spPr>
          <a:xfrm>
            <a:off x="6274397" y="3664615"/>
            <a:ext cx="682559" cy="369332"/>
          </a:xfrm>
          <a:prstGeom prst="rect">
            <a:avLst/>
          </a:prstGeom>
          <a:noFill/>
        </p:spPr>
        <p:txBody>
          <a:bodyPr wrap="square" rtlCol="0">
            <a:spAutoFit/>
          </a:bodyPr>
          <a:lstStyle/>
          <a:p>
            <a:r>
              <a:rPr lang="es-AR" dirty="0"/>
              <a:t>($21</a:t>
            </a:r>
          </a:p>
        </p:txBody>
      </p:sp>
      <p:sp>
        <p:nvSpPr>
          <p:cNvPr id="15" name="CuadroTexto 14">
            <a:extLst>
              <a:ext uri="{FF2B5EF4-FFF2-40B4-BE49-F238E27FC236}">
                <a16:creationId xmlns:a16="http://schemas.microsoft.com/office/drawing/2014/main" id="{E84F19B0-699E-49E5-8421-3AA44833287C}"/>
              </a:ext>
            </a:extLst>
          </p:cNvPr>
          <p:cNvSpPr txBox="1"/>
          <p:nvPr/>
        </p:nvSpPr>
        <p:spPr>
          <a:xfrm>
            <a:off x="6731937" y="3686641"/>
            <a:ext cx="481016" cy="369332"/>
          </a:xfrm>
          <a:prstGeom prst="rect">
            <a:avLst/>
          </a:prstGeom>
          <a:noFill/>
        </p:spPr>
        <p:txBody>
          <a:bodyPr wrap="square" rtlCol="0">
            <a:spAutoFit/>
          </a:bodyPr>
          <a:lstStyle/>
          <a:p>
            <a:r>
              <a:rPr lang="es-AR" dirty="0"/>
              <a:t>+</a:t>
            </a:r>
          </a:p>
        </p:txBody>
      </p:sp>
      <p:sp>
        <p:nvSpPr>
          <p:cNvPr id="16" name="CuadroTexto 15">
            <a:extLst>
              <a:ext uri="{FF2B5EF4-FFF2-40B4-BE49-F238E27FC236}">
                <a16:creationId xmlns:a16="http://schemas.microsoft.com/office/drawing/2014/main" id="{82D42344-96BD-4F56-8B44-39C6BDF38F72}"/>
              </a:ext>
            </a:extLst>
          </p:cNvPr>
          <p:cNvSpPr txBox="1"/>
          <p:nvPr/>
        </p:nvSpPr>
        <p:spPr>
          <a:xfrm>
            <a:off x="7279200" y="3519785"/>
            <a:ext cx="700392" cy="369332"/>
          </a:xfrm>
          <a:prstGeom prst="rect">
            <a:avLst/>
          </a:prstGeom>
          <a:noFill/>
        </p:spPr>
        <p:txBody>
          <a:bodyPr wrap="square" rtlCol="0">
            <a:spAutoFit/>
          </a:bodyPr>
          <a:lstStyle/>
          <a:p>
            <a:r>
              <a:rPr lang="es-AR" dirty="0"/>
              <a:t>$600</a:t>
            </a:r>
          </a:p>
        </p:txBody>
      </p:sp>
      <p:cxnSp>
        <p:nvCxnSpPr>
          <p:cNvPr id="18" name="Conector recto 17">
            <a:extLst>
              <a:ext uri="{FF2B5EF4-FFF2-40B4-BE49-F238E27FC236}">
                <a16:creationId xmlns:a16="http://schemas.microsoft.com/office/drawing/2014/main" id="{385CFCA6-4053-48E7-8FCA-9EB33891CAE5}"/>
              </a:ext>
            </a:extLst>
          </p:cNvPr>
          <p:cNvCxnSpPr>
            <a:cxnSpLocks/>
          </p:cNvCxnSpPr>
          <p:nvPr/>
        </p:nvCxnSpPr>
        <p:spPr>
          <a:xfrm flipV="1">
            <a:off x="7075800" y="3880240"/>
            <a:ext cx="1022635" cy="17754"/>
          </a:xfrm>
          <a:prstGeom prst="line">
            <a:avLst/>
          </a:prstGeom>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4A3AFDD9-DD6F-4AC6-9174-4C030598F8F5}"/>
              </a:ext>
            </a:extLst>
          </p:cNvPr>
          <p:cNvSpPr txBox="1"/>
          <p:nvPr/>
        </p:nvSpPr>
        <p:spPr>
          <a:xfrm>
            <a:off x="7287794" y="3966458"/>
            <a:ext cx="700392" cy="369332"/>
          </a:xfrm>
          <a:prstGeom prst="rect">
            <a:avLst/>
          </a:prstGeom>
          <a:noFill/>
        </p:spPr>
        <p:txBody>
          <a:bodyPr wrap="square" rtlCol="0">
            <a:spAutoFit/>
          </a:bodyPr>
          <a:lstStyle/>
          <a:p>
            <a:r>
              <a:rPr lang="es-AR" dirty="0"/>
              <a:t>120</a:t>
            </a:r>
          </a:p>
        </p:txBody>
      </p:sp>
      <p:sp>
        <p:nvSpPr>
          <p:cNvPr id="20" name="CuadroTexto 19">
            <a:extLst>
              <a:ext uri="{FF2B5EF4-FFF2-40B4-BE49-F238E27FC236}">
                <a16:creationId xmlns:a16="http://schemas.microsoft.com/office/drawing/2014/main" id="{640A75A1-BF94-4F82-BF92-72893C2F5F33}"/>
              </a:ext>
            </a:extLst>
          </p:cNvPr>
          <p:cNvSpPr txBox="1"/>
          <p:nvPr/>
        </p:nvSpPr>
        <p:spPr>
          <a:xfrm>
            <a:off x="9177477" y="3765108"/>
            <a:ext cx="481016" cy="369332"/>
          </a:xfrm>
          <a:prstGeom prst="rect">
            <a:avLst/>
          </a:prstGeom>
          <a:noFill/>
        </p:spPr>
        <p:txBody>
          <a:bodyPr wrap="square" rtlCol="0">
            <a:spAutoFit/>
          </a:bodyPr>
          <a:lstStyle/>
          <a:p>
            <a:r>
              <a:rPr lang="es-AR" dirty="0"/>
              <a:t>=</a:t>
            </a:r>
          </a:p>
        </p:txBody>
      </p:sp>
      <p:sp>
        <p:nvSpPr>
          <p:cNvPr id="21" name="CuadroTexto 20">
            <a:extLst>
              <a:ext uri="{FF2B5EF4-FFF2-40B4-BE49-F238E27FC236}">
                <a16:creationId xmlns:a16="http://schemas.microsoft.com/office/drawing/2014/main" id="{E9F0F747-C411-4C30-86DC-8358BEB74C2E}"/>
              </a:ext>
            </a:extLst>
          </p:cNvPr>
          <p:cNvSpPr txBox="1"/>
          <p:nvPr/>
        </p:nvSpPr>
        <p:spPr>
          <a:xfrm>
            <a:off x="2602093" y="4539358"/>
            <a:ext cx="481016" cy="369332"/>
          </a:xfrm>
          <a:prstGeom prst="rect">
            <a:avLst/>
          </a:prstGeom>
          <a:noFill/>
        </p:spPr>
        <p:txBody>
          <a:bodyPr wrap="square" rtlCol="0">
            <a:spAutoFit/>
          </a:bodyPr>
          <a:lstStyle/>
          <a:p>
            <a:r>
              <a:rPr lang="es-AR" dirty="0"/>
              <a:t>=</a:t>
            </a:r>
          </a:p>
        </p:txBody>
      </p:sp>
      <p:sp>
        <p:nvSpPr>
          <p:cNvPr id="22" name="CuadroTexto 21">
            <a:extLst>
              <a:ext uri="{FF2B5EF4-FFF2-40B4-BE49-F238E27FC236}">
                <a16:creationId xmlns:a16="http://schemas.microsoft.com/office/drawing/2014/main" id="{30DC24A8-4413-450D-BA1E-47C8CCAC3125}"/>
              </a:ext>
            </a:extLst>
          </p:cNvPr>
          <p:cNvSpPr txBox="1"/>
          <p:nvPr/>
        </p:nvSpPr>
        <p:spPr>
          <a:xfrm>
            <a:off x="3037992" y="4497393"/>
            <a:ext cx="1232003" cy="369332"/>
          </a:xfrm>
          <a:prstGeom prst="rect">
            <a:avLst/>
          </a:prstGeom>
          <a:noFill/>
        </p:spPr>
        <p:txBody>
          <a:bodyPr wrap="square" rtlCol="0">
            <a:spAutoFit/>
          </a:bodyPr>
          <a:lstStyle/>
          <a:p>
            <a:r>
              <a:rPr lang="es-AR" dirty="0"/>
              <a:t>100 x $26</a:t>
            </a:r>
          </a:p>
        </p:txBody>
      </p:sp>
      <p:sp>
        <p:nvSpPr>
          <p:cNvPr id="23" name="CuadroTexto 22">
            <a:extLst>
              <a:ext uri="{FF2B5EF4-FFF2-40B4-BE49-F238E27FC236}">
                <a16:creationId xmlns:a16="http://schemas.microsoft.com/office/drawing/2014/main" id="{8643F500-E96A-4900-BBF2-0FD9046627B8}"/>
              </a:ext>
            </a:extLst>
          </p:cNvPr>
          <p:cNvSpPr txBox="1"/>
          <p:nvPr/>
        </p:nvSpPr>
        <p:spPr>
          <a:xfrm>
            <a:off x="4133697" y="4497393"/>
            <a:ext cx="481016" cy="369332"/>
          </a:xfrm>
          <a:prstGeom prst="rect">
            <a:avLst/>
          </a:prstGeom>
          <a:noFill/>
        </p:spPr>
        <p:txBody>
          <a:bodyPr wrap="square" rtlCol="0">
            <a:spAutoFit/>
          </a:bodyPr>
          <a:lstStyle/>
          <a:p>
            <a:r>
              <a:rPr lang="es-AR" dirty="0"/>
              <a:t>=</a:t>
            </a:r>
          </a:p>
        </p:txBody>
      </p:sp>
      <p:sp>
        <p:nvSpPr>
          <p:cNvPr id="24" name="CuadroTexto 23">
            <a:extLst>
              <a:ext uri="{FF2B5EF4-FFF2-40B4-BE49-F238E27FC236}">
                <a16:creationId xmlns:a16="http://schemas.microsoft.com/office/drawing/2014/main" id="{EE9AE273-B580-42A2-9416-2EA88EC5426F}"/>
              </a:ext>
            </a:extLst>
          </p:cNvPr>
          <p:cNvSpPr txBox="1"/>
          <p:nvPr/>
        </p:nvSpPr>
        <p:spPr>
          <a:xfrm>
            <a:off x="4536110" y="4477533"/>
            <a:ext cx="983052" cy="369332"/>
          </a:xfrm>
          <a:prstGeom prst="rect">
            <a:avLst/>
          </a:prstGeom>
          <a:noFill/>
        </p:spPr>
        <p:txBody>
          <a:bodyPr wrap="square" rtlCol="0">
            <a:spAutoFit/>
          </a:bodyPr>
          <a:lstStyle/>
          <a:p>
            <a:r>
              <a:rPr lang="es-AR" dirty="0"/>
              <a:t>$2600</a:t>
            </a:r>
          </a:p>
        </p:txBody>
      </p:sp>
      <p:sp>
        <p:nvSpPr>
          <p:cNvPr id="3" name="CuadroTexto 2">
            <a:extLst>
              <a:ext uri="{FF2B5EF4-FFF2-40B4-BE49-F238E27FC236}">
                <a16:creationId xmlns:a16="http://schemas.microsoft.com/office/drawing/2014/main" id="{B6619536-D2E2-447C-89A3-24FB946B1BE8}"/>
              </a:ext>
            </a:extLst>
          </p:cNvPr>
          <p:cNvSpPr txBox="1"/>
          <p:nvPr/>
        </p:nvSpPr>
        <p:spPr>
          <a:xfrm>
            <a:off x="4690047" y="3652915"/>
            <a:ext cx="1279341" cy="369332"/>
          </a:xfrm>
          <a:prstGeom prst="rect">
            <a:avLst/>
          </a:prstGeom>
          <a:noFill/>
        </p:spPr>
        <p:txBody>
          <a:bodyPr wrap="square" rtlCol="0">
            <a:spAutoFit/>
          </a:bodyPr>
          <a:lstStyle/>
          <a:p>
            <a:r>
              <a:rPr lang="es-AR" dirty="0"/>
              <a:t>) x </a:t>
            </a:r>
            <a:r>
              <a:rPr lang="es-AR" dirty="0" err="1"/>
              <a:t>Qvend</a:t>
            </a:r>
            <a:endParaRPr lang="es-AR" dirty="0"/>
          </a:p>
        </p:txBody>
      </p:sp>
      <p:sp>
        <p:nvSpPr>
          <p:cNvPr id="25" name="CuadroTexto 24">
            <a:extLst>
              <a:ext uri="{FF2B5EF4-FFF2-40B4-BE49-F238E27FC236}">
                <a16:creationId xmlns:a16="http://schemas.microsoft.com/office/drawing/2014/main" id="{75C194EC-6CD0-49B6-976C-A9F2A1053728}"/>
              </a:ext>
            </a:extLst>
          </p:cNvPr>
          <p:cNvSpPr txBox="1"/>
          <p:nvPr/>
        </p:nvSpPr>
        <p:spPr>
          <a:xfrm>
            <a:off x="8101814" y="3652915"/>
            <a:ext cx="965413" cy="369332"/>
          </a:xfrm>
          <a:prstGeom prst="rect">
            <a:avLst/>
          </a:prstGeom>
          <a:noFill/>
        </p:spPr>
        <p:txBody>
          <a:bodyPr wrap="square" rtlCol="0">
            <a:spAutoFit/>
          </a:bodyPr>
          <a:lstStyle/>
          <a:p>
            <a:r>
              <a:rPr lang="es-AR" dirty="0"/>
              <a:t>) x 100</a:t>
            </a:r>
          </a:p>
        </p:txBody>
      </p:sp>
    </p:spTree>
    <p:extLst>
      <p:ext uri="{BB962C8B-B14F-4D97-AF65-F5344CB8AC3E}">
        <p14:creationId xmlns:p14="http://schemas.microsoft.com/office/powerpoint/2010/main" val="475789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AFDFF3-4CEA-4311-B53E-C47769FCBFA3}"/>
              </a:ext>
            </a:extLst>
          </p:cNvPr>
          <p:cNvSpPr>
            <a:spLocks noGrp="1"/>
          </p:cNvSpPr>
          <p:nvPr>
            <p:ph type="title"/>
          </p:nvPr>
        </p:nvSpPr>
        <p:spPr>
          <a:xfrm>
            <a:off x="2071991" y="624110"/>
            <a:ext cx="10120009" cy="528797"/>
          </a:xfrm>
        </p:spPr>
        <p:txBody>
          <a:bodyPr>
            <a:normAutofit fontScale="90000"/>
          </a:bodyPr>
          <a:lstStyle/>
          <a:p>
            <a:r>
              <a:rPr lang="es-AR" sz="3200" dirty="0"/>
              <a:t>SISTEMA DE COSTEO INTEGRAL O POR ABSORCION</a:t>
            </a:r>
          </a:p>
        </p:txBody>
      </p:sp>
      <p:sp>
        <p:nvSpPr>
          <p:cNvPr id="4" name="Marcador de número de diapositiva 3">
            <a:extLst>
              <a:ext uri="{FF2B5EF4-FFF2-40B4-BE49-F238E27FC236}">
                <a16:creationId xmlns:a16="http://schemas.microsoft.com/office/drawing/2014/main" id="{59EADFCE-DC58-4AB9-8B09-753B87930B5B}"/>
              </a:ext>
            </a:extLst>
          </p:cNvPr>
          <p:cNvSpPr>
            <a:spLocks noGrp="1"/>
          </p:cNvSpPr>
          <p:nvPr>
            <p:ph type="sldNum" sz="quarter" idx="12"/>
          </p:nvPr>
        </p:nvSpPr>
        <p:spPr/>
        <p:txBody>
          <a:bodyPr/>
          <a:lstStyle/>
          <a:p>
            <a:fld id="{D57F1E4F-1CFF-5643-939E-217C01CDF565}" type="slidenum">
              <a:rPr lang="en-US" smtClean="0"/>
              <a:pPr/>
              <a:t>27</a:t>
            </a:fld>
            <a:endParaRPr lang="en-US" dirty="0"/>
          </a:p>
        </p:txBody>
      </p:sp>
      <p:sp>
        <p:nvSpPr>
          <p:cNvPr id="5" name="CuadroTexto 4">
            <a:extLst>
              <a:ext uri="{FF2B5EF4-FFF2-40B4-BE49-F238E27FC236}">
                <a16:creationId xmlns:a16="http://schemas.microsoft.com/office/drawing/2014/main" id="{E49DCE6C-C730-42FA-8611-0DA2BFF9A265}"/>
              </a:ext>
            </a:extLst>
          </p:cNvPr>
          <p:cNvSpPr txBox="1"/>
          <p:nvPr/>
        </p:nvSpPr>
        <p:spPr>
          <a:xfrm>
            <a:off x="2427554" y="1110575"/>
            <a:ext cx="6074420" cy="1200329"/>
          </a:xfrm>
          <a:prstGeom prst="rect">
            <a:avLst/>
          </a:prstGeom>
          <a:noFill/>
        </p:spPr>
        <p:txBody>
          <a:bodyPr wrap="square" rtlCol="0">
            <a:spAutoFit/>
          </a:bodyPr>
          <a:lstStyle/>
          <a:p>
            <a:r>
              <a:rPr lang="es-AR" dirty="0"/>
              <a:t>Hacemos el cuadro de resultados</a:t>
            </a:r>
          </a:p>
          <a:p>
            <a:endParaRPr lang="es-AR" dirty="0"/>
          </a:p>
          <a:p>
            <a:endParaRPr lang="es-AR" dirty="0"/>
          </a:p>
          <a:p>
            <a:pPr marL="285750" indent="-285750">
              <a:buClr>
                <a:srgbClr val="92D050"/>
              </a:buClr>
              <a:buFont typeface="Arial" panose="020B0604020202020204" pitchFamily="34" charset="0"/>
              <a:buChar char="•"/>
            </a:pPr>
            <a:endParaRPr lang="es-AR" dirty="0"/>
          </a:p>
        </p:txBody>
      </p:sp>
      <p:graphicFrame>
        <p:nvGraphicFramePr>
          <p:cNvPr id="17" name="Tabla 24">
            <a:extLst>
              <a:ext uri="{FF2B5EF4-FFF2-40B4-BE49-F238E27FC236}">
                <a16:creationId xmlns:a16="http://schemas.microsoft.com/office/drawing/2014/main" id="{00A4B045-7DDB-49E0-BDDE-83B2B0455A5D}"/>
              </a:ext>
            </a:extLst>
          </p:cNvPr>
          <p:cNvGraphicFramePr>
            <a:graphicFrameLocks noGrp="1"/>
          </p:cNvGraphicFramePr>
          <p:nvPr>
            <p:extLst>
              <p:ext uri="{D42A27DB-BD31-4B8C-83A1-F6EECF244321}">
                <p14:modId xmlns:p14="http://schemas.microsoft.com/office/powerpoint/2010/main" val="669660830"/>
              </p:ext>
            </p:extLst>
          </p:nvPr>
        </p:nvGraphicFramePr>
        <p:xfrm>
          <a:off x="2592925" y="1463097"/>
          <a:ext cx="8040450" cy="4986341"/>
        </p:xfrm>
        <a:graphic>
          <a:graphicData uri="http://schemas.openxmlformats.org/drawingml/2006/table">
            <a:tbl>
              <a:tblPr firstRow="1" bandRow="1">
                <a:tableStyleId>{5C22544A-7EE6-4342-B048-85BDC9FD1C3A}</a:tableStyleId>
              </a:tblPr>
              <a:tblGrid>
                <a:gridCol w="4020225">
                  <a:extLst>
                    <a:ext uri="{9D8B030D-6E8A-4147-A177-3AD203B41FA5}">
                      <a16:colId xmlns:a16="http://schemas.microsoft.com/office/drawing/2014/main" val="3019362982"/>
                    </a:ext>
                  </a:extLst>
                </a:gridCol>
                <a:gridCol w="4020225">
                  <a:extLst>
                    <a:ext uri="{9D8B030D-6E8A-4147-A177-3AD203B41FA5}">
                      <a16:colId xmlns:a16="http://schemas.microsoft.com/office/drawing/2014/main" val="2077993363"/>
                    </a:ext>
                  </a:extLst>
                </a:gridCol>
              </a:tblGrid>
              <a:tr h="331934">
                <a:tc>
                  <a:txBody>
                    <a:bodyPr/>
                    <a:lstStyle/>
                    <a:p>
                      <a:r>
                        <a:rPr lang="es-AR" dirty="0"/>
                        <a:t>DENOMINACION</a:t>
                      </a:r>
                    </a:p>
                  </a:txBody>
                  <a:tcPr/>
                </a:tc>
                <a:tc>
                  <a:txBody>
                    <a:bodyPr/>
                    <a:lstStyle/>
                    <a:p>
                      <a:pPr algn="ctr"/>
                      <a:r>
                        <a:rPr lang="es-AR" dirty="0"/>
                        <a:t>CANTIDAD</a:t>
                      </a:r>
                    </a:p>
                  </a:txBody>
                  <a:tcPr/>
                </a:tc>
                <a:extLst>
                  <a:ext uri="{0D108BD9-81ED-4DB2-BD59-A6C34878D82A}">
                    <a16:rowId xmlns:a16="http://schemas.microsoft.com/office/drawing/2014/main" val="315147440"/>
                  </a:ext>
                </a:extLst>
              </a:tr>
              <a:tr h="578124">
                <a:tc>
                  <a:txBody>
                    <a:bodyPr/>
                    <a:lstStyle/>
                    <a:p>
                      <a:r>
                        <a:rPr lang="es-AR" dirty="0"/>
                        <a:t>Ingreso x ventas  ($45 x 100) =</a:t>
                      </a:r>
                    </a:p>
                  </a:txBody>
                  <a:tcPr/>
                </a:tc>
                <a:tc>
                  <a:txBody>
                    <a:bodyPr/>
                    <a:lstStyle/>
                    <a:p>
                      <a:pPr algn="ctr"/>
                      <a:r>
                        <a:rPr lang="es-AR" dirty="0"/>
                        <a:t>$4500</a:t>
                      </a:r>
                    </a:p>
                  </a:txBody>
                  <a:tcPr/>
                </a:tc>
                <a:extLst>
                  <a:ext uri="{0D108BD9-81ED-4DB2-BD59-A6C34878D82A}">
                    <a16:rowId xmlns:a16="http://schemas.microsoft.com/office/drawing/2014/main" val="924731114"/>
                  </a:ext>
                </a:extLst>
              </a:tr>
              <a:tr h="331934">
                <a:tc>
                  <a:txBody>
                    <a:bodyPr/>
                    <a:lstStyle/>
                    <a:p>
                      <a:r>
                        <a:rPr lang="es-AR" dirty="0"/>
                        <a:t>Costo de lo vendido</a:t>
                      </a:r>
                    </a:p>
                  </a:txBody>
                  <a:tcPr/>
                </a:tc>
                <a:tc>
                  <a:txBody>
                    <a:bodyPr/>
                    <a:lstStyle/>
                    <a:p>
                      <a:pPr algn="ctr"/>
                      <a:r>
                        <a:rPr lang="es-AR" dirty="0"/>
                        <a:t>($2600)</a:t>
                      </a:r>
                    </a:p>
                  </a:txBody>
                  <a:tcPr/>
                </a:tc>
                <a:extLst>
                  <a:ext uri="{0D108BD9-81ED-4DB2-BD59-A6C34878D82A}">
                    <a16:rowId xmlns:a16="http://schemas.microsoft.com/office/drawing/2014/main" val="606828504"/>
                  </a:ext>
                </a:extLst>
              </a:tr>
              <a:tr h="331934">
                <a:tc>
                  <a:txBody>
                    <a:bodyPr/>
                    <a:lstStyle/>
                    <a:p>
                      <a:r>
                        <a:rPr lang="es-AR" dirty="0"/>
                        <a:t>Resultado bruto</a:t>
                      </a:r>
                    </a:p>
                  </a:txBody>
                  <a:tcPr/>
                </a:tc>
                <a:tc>
                  <a:txBody>
                    <a:bodyPr/>
                    <a:lstStyle/>
                    <a:p>
                      <a:pPr algn="ctr"/>
                      <a:r>
                        <a:rPr lang="es-AR" dirty="0"/>
                        <a:t>$1900</a:t>
                      </a:r>
                    </a:p>
                  </a:txBody>
                  <a:tcPr/>
                </a:tc>
                <a:extLst>
                  <a:ext uri="{0D108BD9-81ED-4DB2-BD59-A6C34878D82A}">
                    <a16:rowId xmlns:a16="http://schemas.microsoft.com/office/drawing/2014/main" val="3686359558"/>
                  </a:ext>
                </a:extLst>
              </a:tr>
              <a:tr h="412095">
                <a:tc>
                  <a:txBody>
                    <a:bodyPr/>
                    <a:lstStyle/>
                    <a:p>
                      <a:r>
                        <a:rPr lang="es-AR" dirty="0"/>
                        <a:t>Gastos fijos de comercialización</a:t>
                      </a:r>
                    </a:p>
                  </a:txBody>
                  <a:tcPr/>
                </a:tc>
                <a:tc>
                  <a:txBody>
                    <a:bodyPr/>
                    <a:lstStyle/>
                    <a:p>
                      <a:pPr algn="ctr"/>
                      <a:r>
                        <a:rPr lang="es-AR" dirty="0"/>
                        <a:t>($450)</a:t>
                      </a:r>
                    </a:p>
                  </a:txBody>
                  <a:tcPr/>
                </a:tc>
                <a:extLst>
                  <a:ext uri="{0D108BD9-81ED-4DB2-BD59-A6C34878D82A}">
                    <a16:rowId xmlns:a16="http://schemas.microsoft.com/office/drawing/2014/main" val="1464288699"/>
                  </a:ext>
                </a:extLst>
              </a:tr>
              <a:tr h="496110">
                <a:tc>
                  <a:txBody>
                    <a:bodyPr/>
                    <a:lstStyle/>
                    <a:p>
                      <a:r>
                        <a:rPr lang="es-AR" dirty="0"/>
                        <a:t>Gastos de administración</a:t>
                      </a:r>
                    </a:p>
                  </a:txBody>
                  <a:tcPr/>
                </a:tc>
                <a:tc>
                  <a:txBody>
                    <a:bodyPr/>
                    <a:lstStyle/>
                    <a:p>
                      <a:pPr algn="ctr"/>
                      <a:r>
                        <a:rPr lang="es-AR" dirty="0"/>
                        <a:t>($650)</a:t>
                      </a:r>
                    </a:p>
                  </a:txBody>
                  <a:tcPr/>
                </a:tc>
                <a:extLst>
                  <a:ext uri="{0D108BD9-81ED-4DB2-BD59-A6C34878D82A}">
                    <a16:rowId xmlns:a16="http://schemas.microsoft.com/office/drawing/2014/main" val="3903224161"/>
                  </a:ext>
                </a:extLst>
              </a:tr>
              <a:tr h="331934">
                <a:tc>
                  <a:txBody>
                    <a:bodyPr/>
                    <a:lstStyle/>
                    <a:p>
                      <a:r>
                        <a:rPr lang="es-AR" dirty="0"/>
                        <a:t>Gastos financieros</a:t>
                      </a:r>
                    </a:p>
                  </a:txBody>
                  <a:tcPr/>
                </a:tc>
                <a:tc>
                  <a:txBody>
                    <a:bodyPr/>
                    <a:lstStyle/>
                    <a:p>
                      <a:pPr algn="ctr"/>
                      <a:r>
                        <a:rPr lang="es-AR" dirty="0"/>
                        <a:t>($0)</a:t>
                      </a:r>
                    </a:p>
                  </a:txBody>
                  <a:tcPr/>
                </a:tc>
                <a:extLst>
                  <a:ext uri="{0D108BD9-81ED-4DB2-BD59-A6C34878D82A}">
                    <a16:rowId xmlns:a16="http://schemas.microsoft.com/office/drawing/2014/main" val="2297095793"/>
                  </a:ext>
                </a:extLst>
              </a:tr>
              <a:tr h="665372">
                <a:tc>
                  <a:txBody>
                    <a:bodyPr/>
                    <a:lstStyle/>
                    <a:p>
                      <a:r>
                        <a:rPr lang="es-AR" dirty="0"/>
                        <a:t>Gastos de comercialización variables ($2,5 x 100)  =</a:t>
                      </a:r>
                    </a:p>
                  </a:txBody>
                  <a:tcPr/>
                </a:tc>
                <a:tc>
                  <a:txBody>
                    <a:bodyPr/>
                    <a:lstStyle/>
                    <a:p>
                      <a:pPr algn="ctr"/>
                      <a:r>
                        <a:rPr lang="es-AR" dirty="0"/>
                        <a:t>($250)</a:t>
                      </a:r>
                    </a:p>
                  </a:txBody>
                  <a:tcPr/>
                </a:tc>
                <a:extLst>
                  <a:ext uri="{0D108BD9-81ED-4DB2-BD59-A6C34878D82A}">
                    <a16:rowId xmlns:a16="http://schemas.microsoft.com/office/drawing/2014/main" val="883525063"/>
                  </a:ext>
                </a:extLst>
              </a:tr>
              <a:tr h="580884">
                <a:tc>
                  <a:txBody>
                    <a:bodyPr/>
                    <a:lstStyle/>
                    <a:p>
                      <a:r>
                        <a:rPr lang="es-AR" dirty="0"/>
                        <a:t>Utilidad neta antes de impuestos (A/I)</a:t>
                      </a:r>
                    </a:p>
                  </a:txBody>
                  <a:tcPr/>
                </a:tc>
                <a:tc>
                  <a:txBody>
                    <a:bodyPr/>
                    <a:lstStyle/>
                    <a:p>
                      <a:pPr algn="ctr"/>
                      <a:r>
                        <a:rPr lang="es-AR" b="1" dirty="0"/>
                        <a:t>$550</a:t>
                      </a:r>
                    </a:p>
                  </a:txBody>
                  <a:tcPr/>
                </a:tc>
                <a:extLst>
                  <a:ext uri="{0D108BD9-81ED-4DB2-BD59-A6C34878D82A}">
                    <a16:rowId xmlns:a16="http://schemas.microsoft.com/office/drawing/2014/main" val="2594393059"/>
                  </a:ext>
                </a:extLst>
              </a:tr>
              <a:tr h="331934">
                <a:tc>
                  <a:txBody>
                    <a:bodyPr/>
                    <a:lstStyle/>
                    <a:p>
                      <a:endParaRPr lang="es-AR" dirty="0"/>
                    </a:p>
                  </a:txBody>
                  <a:tcPr/>
                </a:tc>
                <a:tc>
                  <a:txBody>
                    <a:bodyPr/>
                    <a:lstStyle/>
                    <a:p>
                      <a:endParaRPr lang="es-AR" dirty="0"/>
                    </a:p>
                  </a:txBody>
                  <a:tcPr/>
                </a:tc>
                <a:extLst>
                  <a:ext uri="{0D108BD9-81ED-4DB2-BD59-A6C34878D82A}">
                    <a16:rowId xmlns:a16="http://schemas.microsoft.com/office/drawing/2014/main" val="1139399547"/>
                  </a:ext>
                </a:extLst>
              </a:tr>
              <a:tr h="331934">
                <a:tc>
                  <a:txBody>
                    <a:bodyPr/>
                    <a:lstStyle/>
                    <a:p>
                      <a:endParaRPr lang="es-AR" dirty="0"/>
                    </a:p>
                  </a:txBody>
                  <a:tcPr/>
                </a:tc>
                <a:tc>
                  <a:txBody>
                    <a:bodyPr/>
                    <a:lstStyle/>
                    <a:p>
                      <a:endParaRPr lang="es-AR" dirty="0"/>
                    </a:p>
                  </a:txBody>
                  <a:tcPr/>
                </a:tc>
                <a:extLst>
                  <a:ext uri="{0D108BD9-81ED-4DB2-BD59-A6C34878D82A}">
                    <a16:rowId xmlns:a16="http://schemas.microsoft.com/office/drawing/2014/main" val="4077366202"/>
                  </a:ext>
                </a:extLst>
              </a:tr>
            </a:tbl>
          </a:graphicData>
        </a:graphic>
      </p:graphicFrame>
      <p:cxnSp>
        <p:nvCxnSpPr>
          <p:cNvPr id="27" name="Conector recto 26">
            <a:extLst>
              <a:ext uri="{FF2B5EF4-FFF2-40B4-BE49-F238E27FC236}">
                <a16:creationId xmlns:a16="http://schemas.microsoft.com/office/drawing/2014/main" id="{B8DC4B9E-6F71-4808-ABB3-83C04E9B3AC6}"/>
              </a:ext>
            </a:extLst>
          </p:cNvPr>
          <p:cNvCxnSpPr>
            <a:cxnSpLocks/>
          </p:cNvCxnSpPr>
          <p:nvPr/>
        </p:nvCxnSpPr>
        <p:spPr>
          <a:xfrm>
            <a:off x="6613150" y="2782110"/>
            <a:ext cx="40185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35465622-997B-4E24-890E-43971E103295}"/>
              </a:ext>
            </a:extLst>
          </p:cNvPr>
          <p:cNvCxnSpPr>
            <a:cxnSpLocks/>
          </p:cNvCxnSpPr>
          <p:nvPr/>
        </p:nvCxnSpPr>
        <p:spPr>
          <a:xfrm>
            <a:off x="6613150" y="5045412"/>
            <a:ext cx="401856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84799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AFDFF3-4CEA-4311-B53E-C47769FCBFA3}"/>
              </a:ext>
            </a:extLst>
          </p:cNvPr>
          <p:cNvSpPr>
            <a:spLocks noGrp="1"/>
          </p:cNvSpPr>
          <p:nvPr>
            <p:ph type="title"/>
          </p:nvPr>
        </p:nvSpPr>
        <p:spPr>
          <a:xfrm>
            <a:off x="2071991" y="624110"/>
            <a:ext cx="10120009" cy="528797"/>
          </a:xfrm>
        </p:spPr>
        <p:txBody>
          <a:bodyPr>
            <a:normAutofit fontScale="90000"/>
          </a:bodyPr>
          <a:lstStyle/>
          <a:p>
            <a:r>
              <a:rPr lang="es-AR" sz="3200" dirty="0"/>
              <a:t>SISTEMA DE COSTEO DIRECTO O VARIABLE</a:t>
            </a:r>
          </a:p>
        </p:txBody>
      </p:sp>
      <p:sp>
        <p:nvSpPr>
          <p:cNvPr id="4" name="Marcador de número de diapositiva 3">
            <a:extLst>
              <a:ext uri="{FF2B5EF4-FFF2-40B4-BE49-F238E27FC236}">
                <a16:creationId xmlns:a16="http://schemas.microsoft.com/office/drawing/2014/main" id="{59EADFCE-DC58-4AB9-8B09-753B87930B5B}"/>
              </a:ext>
            </a:extLst>
          </p:cNvPr>
          <p:cNvSpPr>
            <a:spLocks noGrp="1"/>
          </p:cNvSpPr>
          <p:nvPr>
            <p:ph type="sldNum" sz="quarter" idx="12"/>
          </p:nvPr>
        </p:nvSpPr>
        <p:spPr/>
        <p:txBody>
          <a:bodyPr/>
          <a:lstStyle/>
          <a:p>
            <a:fld id="{D57F1E4F-1CFF-5643-939E-217C01CDF565}" type="slidenum">
              <a:rPr lang="en-US" smtClean="0"/>
              <a:pPr/>
              <a:t>28</a:t>
            </a:fld>
            <a:endParaRPr lang="en-US" dirty="0"/>
          </a:p>
        </p:txBody>
      </p:sp>
      <p:sp>
        <p:nvSpPr>
          <p:cNvPr id="5" name="CuadroTexto 4">
            <a:extLst>
              <a:ext uri="{FF2B5EF4-FFF2-40B4-BE49-F238E27FC236}">
                <a16:creationId xmlns:a16="http://schemas.microsoft.com/office/drawing/2014/main" id="{E49DCE6C-C730-42FA-8611-0DA2BFF9A265}"/>
              </a:ext>
            </a:extLst>
          </p:cNvPr>
          <p:cNvSpPr txBox="1"/>
          <p:nvPr/>
        </p:nvSpPr>
        <p:spPr>
          <a:xfrm>
            <a:off x="2427554" y="1110575"/>
            <a:ext cx="6074420" cy="1200329"/>
          </a:xfrm>
          <a:prstGeom prst="rect">
            <a:avLst/>
          </a:prstGeom>
          <a:noFill/>
        </p:spPr>
        <p:txBody>
          <a:bodyPr wrap="square" rtlCol="0">
            <a:spAutoFit/>
          </a:bodyPr>
          <a:lstStyle/>
          <a:p>
            <a:r>
              <a:rPr lang="es-AR" dirty="0"/>
              <a:t>Hacemos el cuadro de resultados</a:t>
            </a:r>
          </a:p>
          <a:p>
            <a:endParaRPr lang="es-AR" dirty="0"/>
          </a:p>
          <a:p>
            <a:endParaRPr lang="es-AR" dirty="0"/>
          </a:p>
          <a:p>
            <a:pPr marL="285750" indent="-285750">
              <a:buClr>
                <a:srgbClr val="92D050"/>
              </a:buClr>
              <a:buFont typeface="Arial" panose="020B0604020202020204" pitchFamily="34" charset="0"/>
              <a:buChar char="•"/>
            </a:pPr>
            <a:endParaRPr lang="es-AR" dirty="0"/>
          </a:p>
        </p:txBody>
      </p:sp>
      <p:graphicFrame>
        <p:nvGraphicFramePr>
          <p:cNvPr id="17" name="Tabla 24">
            <a:extLst>
              <a:ext uri="{FF2B5EF4-FFF2-40B4-BE49-F238E27FC236}">
                <a16:creationId xmlns:a16="http://schemas.microsoft.com/office/drawing/2014/main" id="{00A4B045-7DDB-49E0-BDDE-83B2B0455A5D}"/>
              </a:ext>
            </a:extLst>
          </p:cNvPr>
          <p:cNvGraphicFramePr>
            <a:graphicFrameLocks noGrp="1"/>
          </p:cNvGraphicFramePr>
          <p:nvPr>
            <p:extLst>
              <p:ext uri="{D42A27DB-BD31-4B8C-83A1-F6EECF244321}">
                <p14:modId xmlns:p14="http://schemas.microsoft.com/office/powerpoint/2010/main" val="1978520558"/>
              </p:ext>
            </p:extLst>
          </p:nvPr>
        </p:nvGraphicFramePr>
        <p:xfrm>
          <a:off x="2607013" y="1463097"/>
          <a:ext cx="8026362" cy="5355992"/>
        </p:xfrm>
        <a:graphic>
          <a:graphicData uri="http://schemas.openxmlformats.org/drawingml/2006/table">
            <a:tbl>
              <a:tblPr firstRow="1" bandRow="1">
                <a:tableStyleId>{5C22544A-7EE6-4342-B048-85BDC9FD1C3A}</a:tableStyleId>
              </a:tblPr>
              <a:tblGrid>
                <a:gridCol w="4212076">
                  <a:extLst>
                    <a:ext uri="{9D8B030D-6E8A-4147-A177-3AD203B41FA5}">
                      <a16:colId xmlns:a16="http://schemas.microsoft.com/office/drawing/2014/main" val="3019362982"/>
                    </a:ext>
                  </a:extLst>
                </a:gridCol>
                <a:gridCol w="3814286">
                  <a:extLst>
                    <a:ext uri="{9D8B030D-6E8A-4147-A177-3AD203B41FA5}">
                      <a16:colId xmlns:a16="http://schemas.microsoft.com/office/drawing/2014/main" val="2077993363"/>
                    </a:ext>
                  </a:extLst>
                </a:gridCol>
              </a:tblGrid>
              <a:tr h="331934">
                <a:tc>
                  <a:txBody>
                    <a:bodyPr/>
                    <a:lstStyle/>
                    <a:p>
                      <a:r>
                        <a:rPr lang="es-AR" dirty="0"/>
                        <a:t>DENOMINACION</a:t>
                      </a:r>
                    </a:p>
                  </a:txBody>
                  <a:tcPr/>
                </a:tc>
                <a:tc>
                  <a:txBody>
                    <a:bodyPr/>
                    <a:lstStyle/>
                    <a:p>
                      <a:pPr algn="ctr"/>
                      <a:r>
                        <a:rPr lang="es-AR" dirty="0"/>
                        <a:t>CANTIDAD</a:t>
                      </a:r>
                    </a:p>
                  </a:txBody>
                  <a:tcPr/>
                </a:tc>
                <a:extLst>
                  <a:ext uri="{0D108BD9-81ED-4DB2-BD59-A6C34878D82A}">
                    <a16:rowId xmlns:a16="http://schemas.microsoft.com/office/drawing/2014/main" val="315147440"/>
                  </a:ext>
                </a:extLst>
              </a:tr>
              <a:tr h="578124">
                <a:tc>
                  <a:txBody>
                    <a:bodyPr/>
                    <a:lstStyle/>
                    <a:p>
                      <a:r>
                        <a:rPr lang="es-AR" dirty="0"/>
                        <a:t>Ingreso x ventas  (45 x 100) =</a:t>
                      </a:r>
                    </a:p>
                  </a:txBody>
                  <a:tcPr/>
                </a:tc>
                <a:tc>
                  <a:txBody>
                    <a:bodyPr/>
                    <a:lstStyle/>
                    <a:p>
                      <a:pPr algn="ctr"/>
                      <a:r>
                        <a:rPr lang="es-AR" dirty="0"/>
                        <a:t>$4500</a:t>
                      </a:r>
                    </a:p>
                  </a:txBody>
                  <a:tcPr/>
                </a:tc>
                <a:extLst>
                  <a:ext uri="{0D108BD9-81ED-4DB2-BD59-A6C34878D82A}">
                    <a16:rowId xmlns:a16="http://schemas.microsoft.com/office/drawing/2014/main" val="924731114"/>
                  </a:ext>
                </a:extLst>
              </a:tr>
              <a:tr h="331934">
                <a:tc>
                  <a:txBody>
                    <a:bodyPr/>
                    <a:lstStyle/>
                    <a:p>
                      <a:r>
                        <a:rPr lang="es-AR" dirty="0"/>
                        <a:t>Costo de lo vendido</a:t>
                      </a:r>
                    </a:p>
                    <a:p>
                      <a:r>
                        <a:rPr lang="es-AR" dirty="0" err="1"/>
                        <a:t>Cvu</a:t>
                      </a:r>
                      <a:r>
                        <a:rPr lang="es-AR" dirty="0"/>
                        <a:t> x </a:t>
                      </a:r>
                      <a:r>
                        <a:rPr lang="es-AR" dirty="0" err="1"/>
                        <a:t>Qvend</a:t>
                      </a:r>
                      <a:r>
                        <a:rPr lang="es-AR" dirty="0"/>
                        <a:t> = $21 x 100</a:t>
                      </a:r>
                    </a:p>
                  </a:txBody>
                  <a:tcPr/>
                </a:tc>
                <a:tc>
                  <a:txBody>
                    <a:bodyPr/>
                    <a:lstStyle/>
                    <a:p>
                      <a:pPr algn="ctr"/>
                      <a:r>
                        <a:rPr lang="es-AR" dirty="0"/>
                        <a:t>($2100)</a:t>
                      </a:r>
                    </a:p>
                  </a:txBody>
                  <a:tcPr/>
                </a:tc>
                <a:extLst>
                  <a:ext uri="{0D108BD9-81ED-4DB2-BD59-A6C34878D82A}">
                    <a16:rowId xmlns:a16="http://schemas.microsoft.com/office/drawing/2014/main" val="606828504"/>
                  </a:ext>
                </a:extLst>
              </a:tr>
              <a:tr h="331934">
                <a:tc>
                  <a:txBody>
                    <a:bodyPr/>
                    <a:lstStyle/>
                    <a:p>
                      <a:r>
                        <a:rPr lang="es-AR" dirty="0"/>
                        <a:t>Costo de comercialización variable</a:t>
                      </a:r>
                    </a:p>
                    <a:p>
                      <a:r>
                        <a:rPr lang="es-AR" dirty="0" err="1"/>
                        <a:t>Ccvu</a:t>
                      </a:r>
                      <a:r>
                        <a:rPr lang="es-AR" dirty="0"/>
                        <a:t> x </a:t>
                      </a:r>
                      <a:r>
                        <a:rPr lang="es-AR" dirty="0" err="1"/>
                        <a:t>Qvend</a:t>
                      </a:r>
                      <a:r>
                        <a:rPr lang="es-AR" dirty="0"/>
                        <a:t> = $2,5 x 100</a:t>
                      </a:r>
                    </a:p>
                  </a:txBody>
                  <a:tcPr/>
                </a:tc>
                <a:tc>
                  <a:txBody>
                    <a:bodyPr/>
                    <a:lstStyle/>
                    <a:p>
                      <a:pPr algn="ctr"/>
                      <a:r>
                        <a:rPr lang="es-AR" dirty="0"/>
                        <a:t>($250)</a:t>
                      </a:r>
                    </a:p>
                  </a:txBody>
                  <a:tcPr/>
                </a:tc>
                <a:extLst>
                  <a:ext uri="{0D108BD9-81ED-4DB2-BD59-A6C34878D82A}">
                    <a16:rowId xmlns:a16="http://schemas.microsoft.com/office/drawing/2014/main" val="3686359558"/>
                  </a:ext>
                </a:extLst>
              </a:tr>
              <a:tr h="412095">
                <a:tc>
                  <a:txBody>
                    <a:bodyPr/>
                    <a:lstStyle/>
                    <a:p>
                      <a:r>
                        <a:rPr lang="es-AR" b="1" dirty="0"/>
                        <a:t>Contribución marginal</a:t>
                      </a:r>
                    </a:p>
                  </a:txBody>
                  <a:tcPr/>
                </a:tc>
                <a:tc>
                  <a:txBody>
                    <a:bodyPr/>
                    <a:lstStyle/>
                    <a:p>
                      <a:pPr algn="ctr"/>
                      <a:r>
                        <a:rPr lang="es-AR" dirty="0"/>
                        <a:t>$2150</a:t>
                      </a:r>
                    </a:p>
                  </a:txBody>
                  <a:tcPr/>
                </a:tc>
                <a:extLst>
                  <a:ext uri="{0D108BD9-81ED-4DB2-BD59-A6C34878D82A}">
                    <a16:rowId xmlns:a16="http://schemas.microsoft.com/office/drawing/2014/main" val="1464288699"/>
                  </a:ext>
                </a:extLst>
              </a:tr>
              <a:tr h="496110">
                <a:tc>
                  <a:txBody>
                    <a:bodyPr/>
                    <a:lstStyle/>
                    <a:p>
                      <a:r>
                        <a:rPr lang="es-AR" dirty="0"/>
                        <a:t>Gastos de administración</a:t>
                      </a:r>
                    </a:p>
                  </a:txBody>
                  <a:tcPr/>
                </a:tc>
                <a:tc>
                  <a:txBody>
                    <a:bodyPr/>
                    <a:lstStyle/>
                    <a:p>
                      <a:pPr algn="ctr"/>
                      <a:r>
                        <a:rPr lang="es-AR" dirty="0"/>
                        <a:t>($650)</a:t>
                      </a:r>
                    </a:p>
                  </a:txBody>
                  <a:tcPr/>
                </a:tc>
                <a:extLst>
                  <a:ext uri="{0D108BD9-81ED-4DB2-BD59-A6C34878D82A}">
                    <a16:rowId xmlns:a16="http://schemas.microsoft.com/office/drawing/2014/main" val="3903224161"/>
                  </a:ext>
                </a:extLst>
              </a:tr>
              <a:tr h="331934">
                <a:tc>
                  <a:txBody>
                    <a:bodyPr/>
                    <a:lstStyle/>
                    <a:p>
                      <a:r>
                        <a:rPr lang="es-AR" dirty="0"/>
                        <a:t>Gastos fijos de comercialización</a:t>
                      </a:r>
                    </a:p>
                  </a:txBody>
                  <a:tcPr/>
                </a:tc>
                <a:tc>
                  <a:txBody>
                    <a:bodyPr/>
                    <a:lstStyle/>
                    <a:p>
                      <a:pPr algn="ctr"/>
                      <a:r>
                        <a:rPr lang="es-AR" dirty="0"/>
                        <a:t>($450)</a:t>
                      </a:r>
                    </a:p>
                  </a:txBody>
                  <a:tcPr/>
                </a:tc>
                <a:extLst>
                  <a:ext uri="{0D108BD9-81ED-4DB2-BD59-A6C34878D82A}">
                    <a16:rowId xmlns:a16="http://schemas.microsoft.com/office/drawing/2014/main" val="2297095793"/>
                  </a:ext>
                </a:extLst>
              </a:tr>
              <a:tr h="486383">
                <a:tc>
                  <a:txBody>
                    <a:bodyPr/>
                    <a:lstStyle/>
                    <a:p>
                      <a:r>
                        <a:rPr lang="es-AR" dirty="0"/>
                        <a:t>Gastos fijos de producción</a:t>
                      </a:r>
                    </a:p>
                  </a:txBody>
                  <a:tcPr/>
                </a:tc>
                <a:tc>
                  <a:txBody>
                    <a:bodyPr/>
                    <a:lstStyle/>
                    <a:p>
                      <a:pPr algn="ctr"/>
                      <a:r>
                        <a:rPr lang="es-AR" dirty="0"/>
                        <a:t>($600)</a:t>
                      </a:r>
                    </a:p>
                  </a:txBody>
                  <a:tcPr/>
                </a:tc>
                <a:extLst>
                  <a:ext uri="{0D108BD9-81ED-4DB2-BD59-A6C34878D82A}">
                    <a16:rowId xmlns:a16="http://schemas.microsoft.com/office/drawing/2014/main" val="883525063"/>
                  </a:ext>
                </a:extLst>
              </a:tr>
              <a:tr h="580884">
                <a:tc>
                  <a:txBody>
                    <a:bodyPr/>
                    <a:lstStyle/>
                    <a:p>
                      <a:r>
                        <a:rPr lang="es-AR" dirty="0"/>
                        <a:t>Utilidad neta antes de impuestos (A/I)</a:t>
                      </a:r>
                    </a:p>
                  </a:txBody>
                  <a:tcPr/>
                </a:tc>
                <a:tc>
                  <a:txBody>
                    <a:bodyPr/>
                    <a:lstStyle/>
                    <a:p>
                      <a:pPr algn="ctr"/>
                      <a:r>
                        <a:rPr lang="es-AR" b="1" dirty="0"/>
                        <a:t>$450</a:t>
                      </a:r>
                    </a:p>
                  </a:txBody>
                  <a:tcPr/>
                </a:tc>
                <a:extLst>
                  <a:ext uri="{0D108BD9-81ED-4DB2-BD59-A6C34878D82A}">
                    <a16:rowId xmlns:a16="http://schemas.microsoft.com/office/drawing/2014/main" val="2594393059"/>
                  </a:ext>
                </a:extLst>
              </a:tr>
              <a:tr h="331934">
                <a:tc>
                  <a:txBody>
                    <a:bodyPr/>
                    <a:lstStyle/>
                    <a:p>
                      <a:endParaRPr lang="es-AR" dirty="0"/>
                    </a:p>
                  </a:txBody>
                  <a:tcPr/>
                </a:tc>
                <a:tc>
                  <a:txBody>
                    <a:bodyPr/>
                    <a:lstStyle/>
                    <a:p>
                      <a:endParaRPr lang="es-AR" dirty="0"/>
                    </a:p>
                  </a:txBody>
                  <a:tcPr/>
                </a:tc>
                <a:extLst>
                  <a:ext uri="{0D108BD9-81ED-4DB2-BD59-A6C34878D82A}">
                    <a16:rowId xmlns:a16="http://schemas.microsoft.com/office/drawing/2014/main" val="1139399547"/>
                  </a:ext>
                </a:extLst>
              </a:tr>
              <a:tr h="331934">
                <a:tc>
                  <a:txBody>
                    <a:bodyPr/>
                    <a:lstStyle/>
                    <a:p>
                      <a:endParaRPr lang="es-AR" dirty="0"/>
                    </a:p>
                  </a:txBody>
                  <a:tcPr/>
                </a:tc>
                <a:tc>
                  <a:txBody>
                    <a:bodyPr/>
                    <a:lstStyle/>
                    <a:p>
                      <a:endParaRPr lang="es-AR" dirty="0"/>
                    </a:p>
                  </a:txBody>
                  <a:tcPr/>
                </a:tc>
                <a:extLst>
                  <a:ext uri="{0D108BD9-81ED-4DB2-BD59-A6C34878D82A}">
                    <a16:rowId xmlns:a16="http://schemas.microsoft.com/office/drawing/2014/main" val="4077366202"/>
                  </a:ext>
                </a:extLst>
              </a:tr>
            </a:tbl>
          </a:graphicData>
        </a:graphic>
      </p:graphicFrame>
      <p:cxnSp>
        <p:nvCxnSpPr>
          <p:cNvPr id="27" name="Conector recto 26">
            <a:extLst>
              <a:ext uri="{FF2B5EF4-FFF2-40B4-BE49-F238E27FC236}">
                <a16:creationId xmlns:a16="http://schemas.microsoft.com/office/drawing/2014/main" id="{B8DC4B9E-6F71-4808-ABB3-83C04E9B3AC6}"/>
              </a:ext>
            </a:extLst>
          </p:cNvPr>
          <p:cNvCxnSpPr>
            <a:cxnSpLocks/>
          </p:cNvCxnSpPr>
          <p:nvPr/>
        </p:nvCxnSpPr>
        <p:spPr>
          <a:xfrm>
            <a:off x="6808746" y="3686782"/>
            <a:ext cx="38246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35465622-997B-4E24-890E-43971E103295}"/>
              </a:ext>
            </a:extLst>
          </p:cNvPr>
          <p:cNvCxnSpPr>
            <a:cxnSpLocks/>
          </p:cNvCxnSpPr>
          <p:nvPr/>
        </p:nvCxnSpPr>
        <p:spPr>
          <a:xfrm>
            <a:off x="6808746" y="5434519"/>
            <a:ext cx="382462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61219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AFDFF3-4CEA-4311-B53E-C47769FCBFA3}"/>
              </a:ext>
            </a:extLst>
          </p:cNvPr>
          <p:cNvSpPr>
            <a:spLocks noGrp="1"/>
          </p:cNvSpPr>
          <p:nvPr>
            <p:ph type="title"/>
          </p:nvPr>
        </p:nvSpPr>
        <p:spPr>
          <a:xfrm>
            <a:off x="2071991" y="624110"/>
            <a:ext cx="10120009" cy="528797"/>
          </a:xfrm>
        </p:spPr>
        <p:txBody>
          <a:bodyPr>
            <a:normAutofit fontScale="90000"/>
          </a:bodyPr>
          <a:lstStyle/>
          <a:p>
            <a:r>
              <a:rPr lang="es-AR" sz="3200" dirty="0"/>
              <a:t>SISTEMA DE COSTEO DIRECTO E INTEGRAL</a:t>
            </a:r>
          </a:p>
        </p:txBody>
      </p:sp>
      <p:sp>
        <p:nvSpPr>
          <p:cNvPr id="4" name="Marcador de número de diapositiva 3">
            <a:extLst>
              <a:ext uri="{FF2B5EF4-FFF2-40B4-BE49-F238E27FC236}">
                <a16:creationId xmlns:a16="http://schemas.microsoft.com/office/drawing/2014/main" id="{59EADFCE-DC58-4AB9-8B09-753B87930B5B}"/>
              </a:ext>
            </a:extLst>
          </p:cNvPr>
          <p:cNvSpPr>
            <a:spLocks noGrp="1"/>
          </p:cNvSpPr>
          <p:nvPr>
            <p:ph type="sldNum" sz="quarter" idx="12"/>
          </p:nvPr>
        </p:nvSpPr>
        <p:spPr/>
        <p:txBody>
          <a:bodyPr/>
          <a:lstStyle/>
          <a:p>
            <a:fld id="{D57F1E4F-1CFF-5643-939E-217C01CDF565}" type="slidenum">
              <a:rPr lang="en-US" smtClean="0"/>
              <a:pPr/>
              <a:t>29</a:t>
            </a:fld>
            <a:endParaRPr lang="en-US" dirty="0"/>
          </a:p>
        </p:txBody>
      </p:sp>
      <p:sp>
        <p:nvSpPr>
          <p:cNvPr id="5" name="CuadroTexto 4">
            <a:extLst>
              <a:ext uri="{FF2B5EF4-FFF2-40B4-BE49-F238E27FC236}">
                <a16:creationId xmlns:a16="http://schemas.microsoft.com/office/drawing/2014/main" id="{E49DCE6C-C730-42FA-8611-0DA2BFF9A265}"/>
              </a:ext>
            </a:extLst>
          </p:cNvPr>
          <p:cNvSpPr txBox="1"/>
          <p:nvPr/>
        </p:nvSpPr>
        <p:spPr>
          <a:xfrm>
            <a:off x="2013625" y="1411316"/>
            <a:ext cx="6074420" cy="1477328"/>
          </a:xfrm>
          <a:prstGeom prst="rect">
            <a:avLst/>
          </a:prstGeom>
          <a:noFill/>
        </p:spPr>
        <p:txBody>
          <a:bodyPr wrap="square" rtlCol="0">
            <a:spAutoFit/>
          </a:bodyPr>
          <a:lstStyle/>
          <a:p>
            <a:r>
              <a:rPr lang="es-AR" dirty="0"/>
              <a:t>Analicemos los inventarios finales</a:t>
            </a:r>
          </a:p>
          <a:p>
            <a:r>
              <a:rPr lang="es-AR" dirty="0"/>
              <a:t>Si produje 120 u y vendí 100 u, quedara un inventario de 20 u valorizadas según cada sistema de costeo</a:t>
            </a:r>
          </a:p>
          <a:p>
            <a:endParaRPr lang="es-AR" dirty="0"/>
          </a:p>
          <a:p>
            <a:pPr marL="285750" indent="-285750">
              <a:buClr>
                <a:srgbClr val="92D050"/>
              </a:buClr>
              <a:buFont typeface="Arial" panose="020B0604020202020204" pitchFamily="34" charset="0"/>
              <a:buChar char="•"/>
            </a:pPr>
            <a:endParaRPr lang="es-AR" dirty="0"/>
          </a:p>
        </p:txBody>
      </p:sp>
      <p:sp>
        <p:nvSpPr>
          <p:cNvPr id="8" name="CuadroTexto 7">
            <a:extLst>
              <a:ext uri="{FF2B5EF4-FFF2-40B4-BE49-F238E27FC236}">
                <a16:creationId xmlns:a16="http://schemas.microsoft.com/office/drawing/2014/main" id="{002DF9B7-BBE3-4A28-B0B2-D12DC87D8851}"/>
              </a:ext>
            </a:extLst>
          </p:cNvPr>
          <p:cNvSpPr txBox="1"/>
          <p:nvPr/>
        </p:nvSpPr>
        <p:spPr>
          <a:xfrm>
            <a:off x="2071991" y="3071503"/>
            <a:ext cx="6074420" cy="1754326"/>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dirty="0"/>
              <a:t>Sistema integral o por absorción:</a:t>
            </a:r>
          </a:p>
          <a:p>
            <a:pPr marL="285750" indent="-285750">
              <a:buClr>
                <a:srgbClr val="92D050"/>
              </a:buClr>
              <a:buFont typeface="Arial" panose="020B0604020202020204" pitchFamily="34" charset="0"/>
              <a:buChar char="•"/>
            </a:pPr>
            <a:endParaRPr lang="es-AR" dirty="0"/>
          </a:p>
          <a:p>
            <a:r>
              <a:rPr lang="es-AR" dirty="0"/>
              <a:t>Cu = $ 26</a:t>
            </a:r>
          </a:p>
          <a:p>
            <a:r>
              <a:rPr lang="es-AR" dirty="0"/>
              <a:t>Costo inventario final = Cu x </a:t>
            </a:r>
            <a:r>
              <a:rPr lang="es-AR" dirty="0" err="1"/>
              <a:t>Qinv</a:t>
            </a:r>
            <a:r>
              <a:rPr lang="es-AR" dirty="0"/>
              <a:t> = $26 x 20 = $520</a:t>
            </a:r>
          </a:p>
          <a:p>
            <a:endParaRPr lang="es-AR" dirty="0"/>
          </a:p>
          <a:p>
            <a:pPr marL="285750" indent="-285750">
              <a:buClr>
                <a:srgbClr val="92D050"/>
              </a:buClr>
              <a:buFont typeface="Arial" panose="020B0604020202020204" pitchFamily="34" charset="0"/>
              <a:buChar char="•"/>
            </a:pPr>
            <a:endParaRPr lang="es-AR" dirty="0"/>
          </a:p>
        </p:txBody>
      </p:sp>
      <p:sp>
        <p:nvSpPr>
          <p:cNvPr id="9" name="CuadroTexto 8">
            <a:extLst>
              <a:ext uri="{FF2B5EF4-FFF2-40B4-BE49-F238E27FC236}">
                <a16:creationId xmlns:a16="http://schemas.microsoft.com/office/drawing/2014/main" id="{19516F19-1826-42AE-A8EF-A57F4D650A3E}"/>
              </a:ext>
            </a:extLst>
          </p:cNvPr>
          <p:cNvSpPr txBox="1"/>
          <p:nvPr/>
        </p:nvSpPr>
        <p:spPr>
          <a:xfrm>
            <a:off x="1952017" y="4731690"/>
            <a:ext cx="6074420" cy="1754326"/>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dirty="0"/>
              <a:t>Sistema directo o variable</a:t>
            </a:r>
          </a:p>
          <a:p>
            <a:pPr marL="285750" indent="-285750">
              <a:buClr>
                <a:srgbClr val="92D050"/>
              </a:buClr>
              <a:buFont typeface="Arial" panose="020B0604020202020204" pitchFamily="34" charset="0"/>
              <a:buChar char="•"/>
            </a:pPr>
            <a:endParaRPr lang="es-AR" dirty="0"/>
          </a:p>
          <a:p>
            <a:r>
              <a:rPr lang="es-AR" dirty="0" err="1"/>
              <a:t>CVu</a:t>
            </a:r>
            <a:r>
              <a:rPr lang="es-AR" dirty="0"/>
              <a:t> = $ 21</a:t>
            </a:r>
          </a:p>
          <a:p>
            <a:r>
              <a:rPr lang="es-AR" dirty="0"/>
              <a:t>Costo inventario final = </a:t>
            </a:r>
            <a:r>
              <a:rPr lang="es-AR" dirty="0" err="1"/>
              <a:t>CVu</a:t>
            </a:r>
            <a:r>
              <a:rPr lang="es-AR" dirty="0"/>
              <a:t> x </a:t>
            </a:r>
            <a:r>
              <a:rPr lang="es-AR" dirty="0" err="1"/>
              <a:t>Qinv</a:t>
            </a:r>
            <a:r>
              <a:rPr lang="es-AR" dirty="0"/>
              <a:t> = $21 x 20 = $420</a:t>
            </a:r>
          </a:p>
          <a:p>
            <a:endParaRPr lang="es-AR" dirty="0"/>
          </a:p>
          <a:p>
            <a:pPr marL="285750" indent="-285750">
              <a:buClr>
                <a:srgbClr val="92D050"/>
              </a:buClr>
              <a:buFont typeface="Arial" panose="020B0604020202020204" pitchFamily="34" charset="0"/>
              <a:buChar char="•"/>
            </a:pPr>
            <a:endParaRPr lang="es-AR" dirty="0"/>
          </a:p>
        </p:txBody>
      </p:sp>
    </p:spTree>
    <p:extLst>
      <p:ext uri="{BB962C8B-B14F-4D97-AF65-F5344CB8AC3E}">
        <p14:creationId xmlns:p14="http://schemas.microsoft.com/office/powerpoint/2010/main" val="21512124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0" name="Text Box 34">
            <a:extLst>
              <a:ext uri="{FF2B5EF4-FFF2-40B4-BE49-F238E27FC236}">
                <a16:creationId xmlns:a16="http://schemas.microsoft.com/office/drawing/2014/main" id="{DB6DE408-0E08-4788-B3D8-21687ABE2D80}"/>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DIFERENCIAS ENTRE AMBOS SISTEMAS</a:t>
            </a:r>
          </a:p>
        </p:txBody>
      </p:sp>
      <p:sp>
        <p:nvSpPr>
          <p:cNvPr id="4154" name="Rectangle 58">
            <a:extLst>
              <a:ext uri="{FF2B5EF4-FFF2-40B4-BE49-F238E27FC236}">
                <a16:creationId xmlns:a16="http://schemas.microsoft.com/office/drawing/2014/main" id="{2219AEEF-42F4-4E04-ACB7-7F7861822A90}"/>
              </a:ext>
            </a:extLst>
          </p:cNvPr>
          <p:cNvSpPr>
            <a:spLocks noChangeArrowheads="1"/>
          </p:cNvSpPr>
          <p:nvPr/>
        </p:nvSpPr>
        <p:spPr bwMode="auto">
          <a:xfrm>
            <a:off x="1133273" y="1054101"/>
            <a:ext cx="1016054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latin typeface="+mj-lt"/>
              </a:rPr>
              <a:t>En el costeo directo o variable</a:t>
            </a:r>
          </a:p>
          <a:p>
            <a:pPr marL="460375" indent="-285750" algn="just" eaLnBrk="1" hangingPunct="1">
              <a:spcBef>
                <a:spcPct val="20000"/>
              </a:spcBef>
              <a:buClr>
                <a:srgbClr val="92D050"/>
              </a:buClr>
              <a:buFont typeface="Arial" panose="020B0604020202020204" pitchFamily="34" charset="0"/>
              <a:buChar char="•"/>
            </a:pPr>
            <a:r>
              <a:rPr lang="es-AR" altLang="es-AR" dirty="0">
                <a:latin typeface="+mj-lt"/>
              </a:rPr>
              <a:t>los gastos fijos de producción no integran el valor de los inventarios, debitándoselos directamente a Ganancias y Pérdidas en el período en que se originan.</a:t>
            </a:r>
            <a:endParaRPr lang="es-ES" altLang="es-AR" dirty="0">
              <a:latin typeface="+mj-lt"/>
            </a:endParaRPr>
          </a:p>
        </p:txBody>
      </p:sp>
      <p:sp>
        <p:nvSpPr>
          <p:cNvPr id="4155" name="Rectangle 59">
            <a:extLst>
              <a:ext uri="{FF2B5EF4-FFF2-40B4-BE49-F238E27FC236}">
                <a16:creationId xmlns:a16="http://schemas.microsoft.com/office/drawing/2014/main" id="{066EBEA3-2A6B-4FB6-82DD-A9DA208B1783}"/>
              </a:ext>
            </a:extLst>
          </p:cNvPr>
          <p:cNvSpPr>
            <a:spLocks noChangeArrowheads="1"/>
          </p:cNvSpPr>
          <p:nvPr/>
        </p:nvSpPr>
        <p:spPr bwMode="auto">
          <a:xfrm>
            <a:off x="1152728" y="2267186"/>
            <a:ext cx="10160539" cy="1512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latin typeface="+mj-lt"/>
              </a:rPr>
              <a:t>En el costeo integral, o por absorción, o costeo tradicional</a:t>
            </a:r>
          </a:p>
          <a:p>
            <a:pPr marL="460375" indent="-285750" algn="just" eaLnBrk="1" hangingPunct="1">
              <a:spcBef>
                <a:spcPct val="20000"/>
              </a:spcBef>
              <a:buClr>
                <a:srgbClr val="92D050"/>
              </a:buClr>
              <a:buFont typeface="Arial" panose="020B0604020202020204" pitchFamily="34" charset="0"/>
              <a:buChar char="•"/>
            </a:pPr>
            <a:r>
              <a:rPr lang="es-AR" altLang="es-AR" dirty="0">
                <a:latin typeface="+mj-lt"/>
              </a:rPr>
              <a:t>todos los costos de producción, tanto fijos como variables, forman parte del costo de los productos, permaneciendo en los inventarios hasta que se produzca su venta.</a:t>
            </a:r>
            <a:endParaRPr lang="es-ES" altLang="es-AR" dirty="0">
              <a:latin typeface="+mj-lt"/>
            </a:endParaRPr>
          </a:p>
        </p:txBody>
      </p:sp>
      <p:sp>
        <p:nvSpPr>
          <p:cNvPr id="4156" name="Rectangle 60">
            <a:extLst>
              <a:ext uri="{FF2B5EF4-FFF2-40B4-BE49-F238E27FC236}">
                <a16:creationId xmlns:a16="http://schemas.microsoft.com/office/drawing/2014/main" id="{6EA55FB7-AEF6-4460-AE83-17D0164866A3}"/>
              </a:ext>
            </a:extLst>
          </p:cNvPr>
          <p:cNvSpPr>
            <a:spLocks noChangeArrowheads="1"/>
          </p:cNvSpPr>
          <p:nvPr/>
        </p:nvSpPr>
        <p:spPr bwMode="auto">
          <a:xfrm>
            <a:off x="1152728" y="3456391"/>
            <a:ext cx="9906000" cy="2592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latin typeface="+mj-lt"/>
              </a:rPr>
              <a:t>La diferencia entre ambos sistemas está constituida por el distinto tratamiento que se le da a los gastos fijos de producción</a:t>
            </a:r>
            <a:r>
              <a:rPr lang="es-AR" altLang="es-AR" sz="2000" dirty="0">
                <a:latin typeface="+mj-lt"/>
              </a:rPr>
              <a:t>.</a:t>
            </a:r>
          </a:p>
          <a:p>
            <a:pPr marL="460375" indent="-285750" algn="just" eaLnBrk="1" hangingPunct="1">
              <a:spcBef>
                <a:spcPct val="20000"/>
              </a:spcBef>
              <a:buClr>
                <a:srgbClr val="92D050"/>
              </a:buClr>
              <a:buFont typeface="Arial" panose="020B0604020202020204" pitchFamily="34" charset="0"/>
              <a:buChar char="•"/>
            </a:pPr>
            <a:r>
              <a:rPr lang="es-AR" altLang="es-AR" dirty="0">
                <a:latin typeface="+mj-lt"/>
              </a:rPr>
              <a:t>En el costeo integral o por absorción llegan a cuentas de resultados a través del costo de lo vendido, es decir, recién cuando se produce la venta</a:t>
            </a:r>
          </a:p>
          <a:p>
            <a:pPr marL="460375" indent="-285750" algn="just" eaLnBrk="1" hangingPunct="1">
              <a:spcBef>
                <a:spcPct val="20000"/>
              </a:spcBef>
              <a:buClr>
                <a:srgbClr val="92D050"/>
              </a:buClr>
              <a:buFont typeface="Arial" panose="020B0604020202020204" pitchFamily="34" charset="0"/>
              <a:buChar char="•"/>
            </a:pPr>
            <a:r>
              <a:rPr lang="es-AR" altLang="es-AR" dirty="0">
                <a:latin typeface="+mj-lt"/>
              </a:rPr>
              <a:t>En el costeo directo o variable, se imputan directamente a ganancias y perdidas sin pasar por los inventarios. </a:t>
            </a:r>
          </a:p>
          <a:p>
            <a:pPr marL="460375" indent="-285750" algn="just" eaLnBrk="1" hangingPunct="1">
              <a:spcBef>
                <a:spcPct val="20000"/>
              </a:spcBef>
              <a:buClr>
                <a:srgbClr val="92D050"/>
              </a:buClr>
              <a:buFont typeface="Arial" panose="020B0604020202020204" pitchFamily="34" charset="0"/>
              <a:buChar char="•"/>
            </a:pPr>
            <a:r>
              <a:rPr lang="es-AR" altLang="es-AR" dirty="0">
                <a:latin typeface="+mj-lt"/>
              </a:rPr>
              <a:t>El resto de los gastos fijos se cargan a ganancias y pérdidas en el período en que se originan.</a:t>
            </a:r>
            <a:endParaRPr lang="es-ES" altLang="es-AR" dirty="0">
              <a:latin typeface="+mj-lt"/>
            </a:endParaRPr>
          </a:p>
        </p:txBody>
      </p:sp>
      <p:sp>
        <p:nvSpPr>
          <p:cNvPr id="2" name="Marcador de número de diapositiva 1">
            <a:extLst>
              <a:ext uri="{FF2B5EF4-FFF2-40B4-BE49-F238E27FC236}">
                <a16:creationId xmlns:a16="http://schemas.microsoft.com/office/drawing/2014/main" id="{2C5E155D-650A-4E53-9201-5ACBDDFFECCC}"/>
              </a:ext>
            </a:extLst>
          </p:cNvPr>
          <p:cNvSpPr>
            <a:spLocks noGrp="1"/>
          </p:cNvSpPr>
          <p:nvPr>
            <p:ph type="sldNum" sz="quarter" idx="12"/>
          </p:nvPr>
        </p:nvSpPr>
        <p:spPr/>
        <p:txBody>
          <a:bodyPr/>
          <a:lstStyle/>
          <a:p>
            <a:fld id="{D57F1E4F-1CFF-5643-939E-217C01CDF565}" type="slidenum">
              <a:rPr lang="en-US" smtClean="0"/>
              <a:pPr/>
              <a:t>30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5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5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4" grpId="0"/>
      <p:bldP spid="4155" grpId="0"/>
      <p:bldP spid="415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a:extLst>
              <a:ext uri="{FF2B5EF4-FFF2-40B4-BE49-F238E27FC236}">
                <a16:creationId xmlns:a16="http://schemas.microsoft.com/office/drawing/2014/main" id="{BF505035-1557-41B7-8BA9-13D9E3E8DBEF}"/>
              </a:ext>
            </a:extLst>
          </p:cNvPr>
          <p:cNvSpPr>
            <a:spLocks noChangeArrowheads="1"/>
          </p:cNvSpPr>
          <p:nvPr/>
        </p:nvSpPr>
        <p:spPr bwMode="auto">
          <a:xfrm>
            <a:off x="1470330" y="1001956"/>
            <a:ext cx="4535488" cy="503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1800" b="1" dirty="0">
                <a:effectLst>
                  <a:outerShdw blurRad="38100" dist="38100" dir="2700000" algn="tl">
                    <a:srgbClr val="C0C0C0"/>
                  </a:outerShdw>
                </a:effectLst>
                <a:latin typeface="+mj-lt"/>
              </a:rPr>
              <a:t>Costeo Directo o Variable</a:t>
            </a:r>
            <a:endParaRPr lang="es-ES" altLang="es-AR" sz="1800" b="1" dirty="0">
              <a:latin typeface="+mj-lt"/>
            </a:endParaRPr>
          </a:p>
        </p:txBody>
      </p:sp>
      <p:sp>
        <p:nvSpPr>
          <p:cNvPr id="9221" name="Rectangle 5">
            <a:extLst>
              <a:ext uri="{FF2B5EF4-FFF2-40B4-BE49-F238E27FC236}">
                <a16:creationId xmlns:a16="http://schemas.microsoft.com/office/drawing/2014/main" id="{E24AE556-9757-440E-BA58-11E755FEC4F8}"/>
              </a:ext>
            </a:extLst>
          </p:cNvPr>
          <p:cNvSpPr>
            <a:spLocks noChangeArrowheads="1"/>
          </p:cNvSpPr>
          <p:nvPr/>
        </p:nvSpPr>
        <p:spPr bwMode="auto">
          <a:xfrm>
            <a:off x="6458726" y="1010086"/>
            <a:ext cx="4522787" cy="503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eaLnBrk="1" hangingPunct="1">
              <a:defRPr/>
            </a:pPr>
            <a:r>
              <a:rPr lang="es-AR" altLang="es-AR" sz="1800" b="1" dirty="0">
                <a:effectLst>
                  <a:outerShdw blurRad="38100" dist="38100" dir="2700000" algn="tl">
                    <a:srgbClr val="C0C0C0"/>
                  </a:outerShdw>
                </a:effectLst>
                <a:latin typeface="+mj-lt"/>
              </a:rPr>
              <a:t>Costeo Integral o por Absorción</a:t>
            </a:r>
            <a:endParaRPr lang="es-ES" altLang="es-AR" sz="1800" b="1" dirty="0">
              <a:latin typeface="+mj-lt"/>
            </a:endParaRPr>
          </a:p>
        </p:txBody>
      </p:sp>
      <p:sp>
        <p:nvSpPr>
          <p:cNvPr id="9222" name="Rectangle 6">
            <a:extLst>
              <a:ext uri="{FF2B5EF4-FFF2-40B4-BE49-F238E27FC236}">
                <a16:creationId xmlns:a16="http://schemas.microsoft.com/office/drawing/2014/main" id="{7B5D3474-C285-4D60-9E8B-7003FB78741B}"/>
              </a:ext>
            </a:extLst>
          </p:cNvPr>
          <p:cNvSpPr>
            <a:spLocks noChangeArrowheads="1"/>
          </p:cNvSpPr>
          <p:nvPr/>
        </p:nvSpPr>
        <p:spPr bwMode="auto">
          <a:xfrm>
            <a:off x="1321203" y="1956042"/>
            <a:ext cx="3081338"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dirty="0">
                <a:latin typeface="+mj-lt"/>
              </a:rPr>
              <a:t>Costo de lo vendido:</a:t>
            </a:r>
            <a:endParaRPr lang="es-ES" altLang="es-AR" dirty="0">
              <a:latin typeface="+mj-lt"/>
            </a:endParaRPr>
          </a:p>
        </p:txBody>
      </p:sp>
      <p:sp>
        <p:nvSpPr>
          <p:cNvPr id="9223" name="Rectangle 7">
            <a:extLst>
              <a:ext uri="{FF2B5EF4-FFF2-40B4-BE49-F238E27FC236}">
                <a16:creationId xmlns:a16="http://schemas.microsoft.com/office/drawing/2014/main" id="{B65BDC53-466B-46D7-B0C4-79E6F83C2E09}"/>
              </a:ext>
            </a:extLst>
          </p:cNvPr>
          <p:cNvSpPr>
            <a:spLocks noChangeArrowheads="1"/>
          </p:cNvSpPr>
          <p:nvPr/>
        </p:nvSpPr>
        <p:spPr bwMode="auto">
          <a:xfrm>
            <a:off x="1451379" y="2387843"/>
            <a:ext cx="4392613"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a:latin typeface="+mj-lt"/>
              </a:rPr>
              <a:t>(Costo </a:t>
            </a:r>
            <a:r>
              <a:rPr lang="es-AR" altLang="es-AR" b="1" u="sng">
                <a:latin typeface="+mj-lt"/>
              </a:rPr>
              <a:t>Variable</a:t>
            </a:r>
            <a:r>
              <a:rPr lang="es-AR" altLang="es-AR">
                <a:latin typeface="+mj-lt"/>
              </a:rPr>
              <a:t> de Producción de la mercadería vendida)</a:t>
            </a:r>
            <a:endParaRPr lang="es-ES" altLang="es-AR">
              <a:latin typeface="+mj-lt"/>
            </a:endParaRPr>
          </a:p>
        </p:txBody>
      </p:sp>
      <p:sp>
        <p:nvSpPr>
          <p:cNvPr id="9224" name="Rectangle 8">
            <a:extLst>
              <a:ext uri="{FF2B5EF4-FFF2-40B4-BE49-F238E27FC236}">
                <a16:creationId xmlns:a16="http://schemas.microsoft.com/office/drawing/2014/main" id="{B480450F-EBFA-4D1E-89B4-C32DFA6C4F58}"/>
              </a:ext>
            </a:extLst>
          </p:cNvPr>
          <p:cNvSpPr>
            <a:spLocks noChangeArrowheads="1"/>
          </p:cNvSpPr>
          <p:nvPr/>
        </p:nvSpPr>
        <p:spPr bwMode="auto">
          <a:xfrm>
            <a:off x="1437091" y="3106982"/>
            <a:ext cx="5040312"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a:latin typeface="+mj-lt"/>
              </a:rPr>
              <a:t>(Gastos </a:t>
            </a:r>
            <a:r>
              <a:rPr lang="es-AR" altLang="es-AR" b="1" u="sng">
                <a:latin typeface="+mj-lt"/>
              </a:rPr>
              <a:t>Variables</a:t>
            </a:r>
            <a:r>
              <a:rPr lang="es-AR" altLang="es-AR">
                <a:latin typeface="+mj-lt"/>
              </a:rPr>
              <a:t> de Comercializ.)</a:t>
            </a:r>
            <a:endParaRPr lang="es-ES" altLang="es-AR">
              <a:latin typeface="+mj-lt"/>
            </a:endParaRPr>
          </a:p>
        </p:txBody>
      </p:sp>
      <p:sp>
        <p:nvSpPr>
          <p:cNvPr id="9225" name="Rectangle 9">
            <a:extLst>
              <a:ext uri="{FF2B5EF4-FFF2-40B4-BE49-F238E27FC236}">
                <a16:creationId xmlns:a16="http://schemas.microsoft.com/office/drawing/2014/main" id="{57D8F805-E27D-473B-8268-AFF3098590F3}"/>
              </a:ext>
            </a:extLst>
          </p:cNvPr>
          <p:cNvSpPr>
            <a:spLocks noChangeArrowheads="1"/>
          </p:cNvSpPr>
          <p:nvPr/>
        </p:nvSpPr>
        <p:spPr bwMode="auto">
          <a:xfrm>
            <a:off x="1537103" y="3686420"/>
            <a:ext cx="4535488"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b="1">
                <a:latin typeface="+mj-lt"/>
              </a:rPr>
              <a:t>Margen de Contribución</a:t>
            </a:r>
            <a:endParaRPr lang="es-ES" altLang="es-AR" b="1">
              <a:latin typeface="+mj-lt"/>
            </a:endParaRPr>
          </a:p>
        </p:txBody>
      </p:sp>
      <p:sp>
        <p:nvSpPr>
          <p:cNvPr id="9226" name="Rectangle 10">
            <a:extLst>
              <a:ext uri="{FF2B5EF4-FFF2-40B4-BE49-F238E27FC236}">
                <a16:creationId xmlns:a16="http://schemas.microsoft.com/office/drawing/2014/main" id="{E6E7A100-DFB1-45C7-94F1-6E1D4A617193}"/>
              </a:ext>
            </a:extLst>
          </p:cNvPr>
          <p:cNvSpPr>
            <a:spLocks noChangeArrowheads="1"/>
          </p:cNvSpPr>
          <p:nvPr/>
        </p:nvSpPr>
        <p:spPr bwMode="auto">
          <a:xfrm>
            <a:off x="1408515" y="4550020"/>
            <a:ext cx="4679950"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a:latin typeface="+mj-lt"/>
              </a:rPr>
              <a:t>(Gastos </a:t>
            </a:r>
            <a:r>
              <a:rPr lang="es-AR" altLang="es-AR" u="sng">
                <a:latin typeface="+mj-lt"/>
              </a:rPr>
              <a:t>Fijos</a:t>
            </a:r>
            <a:r>
              <a:rPr lang="es-AR" altLang="es-AR">
                <a:latin typeface="+mj-lt"/>
              </a:rPr>
              <a:t> de Administración)</a:t>
            </a:r>
            <a:endParaRPr lang="es-ES" altLang="es-AR">
              <a:latin typeface="+mj-lt"/>
            </a:endParaRPr>
          </a:p>
        </p:txBody>
      </p:sp>
      <p:sp>
        <p:nvSpPr>
          <p:cNvPr id="9227" name="Rectangle 11">
            <a:extLst>
              <a:ext uri="{FF2B5EF4-FFF2-40B4-BE49-F238E27FC236}">
                <a16:creationId xmlns:a16="http://schemas.microsoft.com/office/drawing/2014/main" id="{471774B1-4940-45A1-93E5-BE80CF0367A2}"/>
              </a:ext>
            </a:extLst>
          </p:cNvPr>
          <p:cNvSpPr>
            <a:spLocks noChangeArrowheads="1"/>
          </p:cNvSpPr>
          <p:nvPr/>
        </p:nvSpPr>
        <p:spPr bwMode="auto">
          <a:xfrm>
            <a:off x="1408515" y="4981820"/>
            <a:ext cx="4679950"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a:latin typeface="+mj-lt"/>
              </a:rPr>
              <a:t>(Gastos </a:t>
            </a:r>
            <a:r>
              <a:rPr lang="es-AR" altLang="es-AR" u="sng">
                <a:latin typeface="+mj-lt"/>
              </a:rPr>
              <a:t>Fijos</a:t>
            </a:r>
            <a:r>
              <a:rPr lang="es-AR" altLang="es-AR">
                <a:latin typeface="+mj-lt"/>
              </a:rPr>
              <a:t> de Financiación)</a:t>
            </a:r>
            <a:endParaRPr lang="es-ES" altLang="es-AR">
              <a:latin typeface="+mj-lt"/>
            </a:endParaRPr>
          </a:p>
        </p:txBody>
      </p:sp>
      <p:sp>
        <p:nvSpPr>
          <p:cNvPr id="9228" name="Rectangle 12">
            <a:extLst>
              <a:ext uri="{FF2B5EF4-FFF2-40B4-BE49-F238E27FC236}">
                <a16:creationId xmlns:a16="http://schemas.microsoft.com/office/drawing/2014/main" id="{1ABAA6D2-39E4-43EB-8369-C4E9B6738CE4}"/>
              </a:ext>
            </a:extLst>
          </p:cNvPr>
          <p:cNvSpPr>
            <a:spLocks noChangeArrowheads="1"/>
          </p:cNvSpPr>
          <p:nvPr/>
        </p:nvSpPr>
        <p:spPr bwMode="auto">
          <a:xfrm>
            <a:off x="1408516" y="5378694"/>
            <a:ext cx="5040313"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a:latin typeface="+mj-lt"/>
              </a:rPr>
              <a:t>(Gastos </a:t>
            </a:r>
            <a:r>
              <a:rPr lang="es-AR" altLang="es-AR" u="sng">
                <a:latin typeface="+mj-lt"/>
              </a:rPr>
              <a:t>Fijos</a:t>
            </a:r>
            <a:r>
              <a:rPr lang="es-AR" altLang="es-AR">
                <a:latin typeface="+mj-lt"/>
              </a:rPr>
              <a:t> de Comercialización)</a:t>
            </a:r>
            <a:endParaRPr lang="es-ES" altLang="es-AR">
              <a:latin typeface="+mj-lt"/>
            </a:endParaRPr>
          </a:p>
        </p:txBody>
      </p:sp>
      <p:sp>
        <p:nvSpPr>
          <p:cNvPr id="9229" name="Rectangle 13">
            <a:extLst>
              <a:ext uri="{FF2B5EF4-FFF2-40B4-BE49-F238E27FC236}">
                <a16:creationId xmlns:a16="http://schemas.microsoft.com/office/drawing/2014/main" id="{87D4661C-768C-456B-9913-5072D292CFDD}"/>
              </a:ext>
            </a:extLst>
          </p:cNvPr>
          <p:cNvSpPr>
            <a:spLocks noChangeArrowheads="1"/>
          </p:cNvSpPr>
          <p:nvPr/>
        </p:nvSpPr>
        <p:spPr bwMode="auto">
          <a:xfrm>
            <a:off x="1408516" y="4118220"/>
            <a:ext cx="5040313"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a:latin typeface="+mj-lt"/>
              </a:rPr>
              <a:t>(Gastos </a:t>
            </a:r>
            <a:r>
              <a:rPr lang="es-AR" altLang="es-AR" u="sng">
                <a:latin typeface="+mj-lt"/>
              </a:rPr>
              <a:t>Fijos</a:t>
            </a:r>
            <a:r>
              <a:rPr lang="es-AR" altLang="es-AR">
                <a:latin typeface="+mj-lt"/>
              </a:rPr>
              <a:t> de Producción)</a:t>
            </a:r>
            <a:endParaRPr lang="es-ES" altLang="es-AR">
              <a:latin typeface="+mj-lt"/>
            </a:endParaRPr>
          </a:p>
        </p:txBody>
      </p:sp>
      <p:sp>
        <p:nvSpPr>
          <p:cNvPr id="9230" name="Rectangle 14">
            <a:extLst>
              <a:ext uri="{FF2B5EF4-FFF2-40B4-BE49-F238E27FC236}">
                <a16:creationId xmlns:a16="http://schemas.microsoft.com/office/drawing/2014/main" id="{3FBB3A6A-63B1-48FA-A0BF-2306B63C6D2C}"/>
              </a:ext>
            </a:extLst>
          </p:cNvPr>
          <p:cNvSpPr>
            <a:spLocks noChangeArrowheads="1"/>
          </p:cNvSpPr>
          <p:nvPr/>
        </p:nvSpPr>
        <p:spPr bwMode="auto">
          <a:xfrm>
            <a:off x="1408515" y="5954956"/>
            <a:ext cx="4535488"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b="1">
                <a:latin typeface="+mj-lt"/>
              </a:rPr>
              <a:t>Beneficio Neto a / impuestos</a:t>
            </a:r>
            <a:endParaRPr lang="es-ES" altLang="es-AR" b="1">
              <a:latin typeface="+mj-lt"/>
            </a:endParaRPr>
          </a:p>
        </p:txBody>
      </p:sp>
      <p:sp>
        <p:nvSpPr>
          <p:cNvPr id="9231" name="Rectangle 15">
            <a:extLst>
              <a:ext uri="{FF2B5EF4-FFF2-40B4-BE49-F238E27FC236}">
                <a16:creationId xmlns:a16="http://schemas.microsoft.com/office/drawing/2014/main" id="{8D8F544C-0B91-4127-8187-ACCAC21712BA}"/>
              </a:ext>
            </a:extLst>
          </p:cNvPr>
          <p:cNvSpPr>
            <a:spLocks noChangeArrowheads="1"/>
          </p:cNvSpPr>
          <p:nvPr/>
        </p:nvSpPr>
        <p:spPr bwMode="auto">
          <a:xfrm>
            <a:off x="6288492" y="1883020"/>
            <a:ext cx="3081337"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dirty="0">
                <a:latin typeface="+mj-lt"/>
              </a:rPr>
              <a:t>Costo de lo vendido:</a:t>
            </a:r>
            <a:endParaRPr lang="es-ES" altLang="es-AR" dirty="0">
              <a:latin typeface="+mj-lt"/>
            </a:endParaRPr>
          </a:p>
        </p:txBody>
      </p:sp>
      <p:sp>
        <p:nvSpPr>
          <p:cNvPr id="9232" name="Rectangle 16">
            <a:extLst>
              <a:ext uri="{FF2B5EF4-FFF2-40B4-BE49-F238E27FC236}">
                <a16:creationId xmlns:a16="http://schemas.microsoft.com/office/drawing/2014/main" id="{ED1601BC-DCAE-40B1-A0CF-4FB15F7D120D}"/>
              </a:ext>
            </a:extLst>
          </p:cNvPr>
          <p:cNvSpPr>
            <a:spLocks noChangeArrowheads="1"/>
          </p:cNvSpPr>
          <p:nvPr/>
        </p:nvSpPr>
        <p:spPr bwMode="auto">
          <a:xfrm>
            <a:off x="6418666" y="2314820"/>
            <a:ext cx="4392612"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a:latin typeface="+mj-lt"/>
              </a:rPr>
              <a:t>(Costo </a:t>
            </a:r>
            <a:r>
              <a:rPr lang="es-AR" altLang="es-AR" b="1" u="sng">
                <a:latin typeface="+mj-lt"/>
              </a:rPr>
              <a:t>Total </a:t>
            </a:r>
            <a:r>
              <a:rPr lang="es-AR" altLang="es-AR">
                <a:latin typeface="+mj-lt"/>
              </a:rPr>
              <a:t>de Producción  de la mercadería vendida)	</a:t>
            </a:r>
            <a:r>
              <a:rPr lang="es-AR" altLang="es-AR" u="sng">
                <a:latin typeface="+mj-lt"/>
              </a:rPr>
              <a:t>         </a:t>
            </a:r>
            <a:endParaRPr lang="es-ES" altLang="es-AR" u="sng">
              <a:latin typeface="+mj-lt"/>
            </a:endParaRPr>
          </a:p>
        </p:txBody>
      </p:sp>
      <p:sp>
        <p:nvSpPr>
          <p:cNvPr id="9233" name="Rectangle 17">
            <a:extLst>
              <a:ext uri="{FF2B5EF4-FFF2-40B4-BE49-F238E27FC236}">
                <a16:creationId xmlns:a16="http://schemas.microsoft.com/office/drawing/2014/main" id="{4DA282AA-502B-4C66-93BD-8ACCAD723D5B}"/>
              </a:ext>
            </a:extLst>
          </p:cNvPr>
          <p:cNvSpPr>
            <a:spLocks noChangeArrowheads="1"/>
          </p:cNvSpPr>
          <p:nvPr/>
        </p:nvSpPr>
        <p:spPr bwMode="auto">
          <a:xfrm>
            <a:off x="6377390" y="3686420"/>
            <a:ext cx="3816350"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b="1" dirty="0">
                <a:latin typeface="+mj-lt"/>
              </a:rPr>
              <a:t>      Resultado Bruto</a:t>
            </a:r>
            <a:endParaRPr lang="es-ES" altLang="es-AR" b="1" dirty="0">
              <a:latin typeface="+mj-lt"/>
            </a:endParaRPr>
          </a:p>
        </p:txBody>
      </p:sp>
      <p:sp>
        <p:nvSpPr>
          <p:cNvPr id="9234" name="Rectangle 18">
            <a:extLst>
              <a:ext uri="{FF2B5EF4-FFF2-40B4-BE49-F238E27FC236}">
                <a16:creationId xmlns:a16="http://schemas.microsoft.com/office/drawing/2014/main" id="{9A3CB1F1-C974-49B9-9622-6E57080E0A2F}"/>
              </a:ext>
            </a:extLst>
          </p:cNvPr>
          <p:cNvSpPr>
            <a:spLocks noChangeArrowheads="1"/>
          </p:cNvSpPr>
          <p:nvPr/>
        </p:nvSpPr>
        <p:spPr bwMode="auto">
          <a:xfrm>
            <a:off x="6245628" y="4499219"/>
            <a:ext cx="4679950"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a:latin typeface="+mj-lt"/>
              </a:rPr>
              <a:t>(Gastos de Administración)</a:t>
            </a:r>
            <a:endParaRPr lang="es-ES" altLang="es-AR">
              <a:latin typeface="+mj-lt"/>
            </a:endParaRPr>
          </a:p>
        </p:txBody>
      </p:sp>
      <p:sp>
        <p:nvSpPr>
          <p:cNvPr id="9235" name="Rectangle 19">
            <a:extLst>
              <a:ext uri="{FF2B5EF4-FFF2-40B4-BE49-F238E27FC236}">
                <a16:creationId xmlns:a16="http://schemas.microsoft.com/office/drawing/2014/main" id="{14A3441B-1BC1-4026-893D-029B1E9158D9}"/>
              </a:ext>
            </a:extLst>
          </p:cNvPr>
          <p:cNvSpPr>
            <a:spLocks noChangeArrowheads="1"/>
          </p:cNvSpPr>
          <p:nvPr/>
        </p:nvSpPr>
        <p:spPr bwMode="auto">
          <a:xfrm>
            <a:off x="6245628" y="4945306"/>
            <a:ext cx="4679950"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a:latin typeface="+mj-lt"/>
              </a:rPr>
              <a:t>(Gastos de Financiación)</a:t>
            </a:r>
            <a:endParaRPr lang="es-ES" altLang="es-AR">
              <a:latin typeface="+mj-lt"/>
            </a:endParaRPr>
          </a:p>
        </p:txBody>
      </p:sp>
      <p:sp>
        <p:nvSpPr>
          <p:cNvPr id="9236" name="Line 20">
            <a:extLst>
              <a:ext uri="{FF2B5EF4-FFF2-40B4-BE49-F238E27FC236}">
                <a16:creationId xmlns:a16="http://schemas.microsoft.com/office/drawing/2014/main" id="{19591CC9-0B94-4B0A-AB1D-5CC851CAB0C8}"/>
              </a:ext>
            </a:extLst>
          </p:cNvPr>
          <p:cNvSpPr>
            <a:spLocks noChangeShapeType="1"/>
          </p:cNvSpPr>
          <p:nvPr/>
        </p:nvSpPr>
        <p:spPr bwMode="auto">
          <a:xfrm>
            <a:off x="1406929" y="3611807"/>
            <a:ext cx="48815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latin typeface="+mj-lt"/>
            </a:endParaRPr>
          </a:p>
        </p:txBody>
      </p:sp>
      <p:sp>
        <p:nvSpPr>
          <p:cNvPr id="9237" name="Line 21">
            <a:extLst>
              <a:ext uri="{FF2B5EF4-FFF2-40B4-BE49-F238E27FC236}">
                <a16:creationId xmlns:a16="http://schemas.microsoft.com/office/drawing/2014/main" id="{A71D74C9-24E4-401E-8873-99FC4C235113}"/>
              </a:ext>
            </a:extLst>
          </p:cNvPr>
          <p:cNvSpPr>
            <a:spLocks noChangeShapeType="1"/>
          </p:cNvSpPr>
          <p:nvPr/>
        </p:nvSpPr>
        <p:spPr bwMode="auto">
          <a:xfrm>
            <a:off x="1349778" y="5880343"/>
            <a:ext cx="48815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latin typeface="+mj-lt"/>
            </a:endParaRPr>
          </a:p>
        </p:txBody>
      </p:sp>
      <p:sp>
        <p:nvSpPr>
          <p:cNvPr id="9238" name="Line 22">
            <a:extLst>
              <a:ext uri="{FF2B5EF4-FFF2-40B4-BE49-F238E27FC236}">
                <a16:creationId xmlns:a16="http://schemas.microsoft.com/office/drawing/2014/main" id="{E9C12BEF-EE5A-4462-9075-8272CFA5A7D8}"/>
              </a:ext>
            </a:extLst>
          </p:cNvPr>
          <p:cNvSpPr>
            <a:spLocks noChangeShapeType="1"/>
          </p:cNvSpPr>
          <p:nvPr/>
        </p:nvSpPr>
        <p:spPr bwMode="auto">
          <a:xfrm>
            <a:off x="6448828" y="3611807"/>
            <a:ext cx="4521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latin typeface="+mj-lt"/>
            </a:endParaRPr>
          </a:p>
        </p:txBody>
      </p:sp>
      <p:sp>
        <p:nvSpPr>
          <p:cNvPr id="9239" name="Line 23">
            <a:extLst>
              <a:ext uri="{FF2B5EF4-FFF2-40B4-BE49-F238E27FC236}">
                <a16:creationId xmlns:a16="http://schemas.microsoft.com/office/drawing/2014/main" id="{E4350339-6A04-4B1E-AF6F-45F1EDE5A606}"/>
              </a:ext>
            </a:extLst>
          </p:cNvPr>
          <p:cNvSpPr>
            <a:spLocks noChangeShapeType="1"/>
          </p:cNvSpPr>
          <p:nvPr/>
        </p:nvSpPr>
        <p:spPr bwMode="auto">
          <a:xfrm>
            <a:off x="6347229" y="5880343"/>
            <a:ext cx="4521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latin typeface="+mj-lt"/>
            </a:endParaRPr>
          </a:p>
        </p:txBody>
      </p:sp>
      <p:sp>
        <p:nvSpPr>
          <p:cNvPr id="9240" name="Rectangle 24">
            <a:extLst>
              <a:ext uri="{FF2B5EF4-FFF2-40B4-BE49-F238E27FC236}">
                <a16:creationId xmlns:a16="http://schemas.microsoft.com/office/drawing/2014/main" id="{E7292ADD-5FC6-45ED-8A97-66229345D188}"/>
              </a:ext>
            </a:extLst>
          </p:cNvPr>
          <p:cNvSpPr>
            <a:spLocks noChangeArrowheads="1"/>
          </p:cNvSpPr>
          <p:nvPr/>
        </p:nvSpPr>
        <p:spPr bwMode="auto">
          <a:xfrm>
            <a:off x="6247216" y="5378694"/>
            <a:ext cx="5040313"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a:latin typeface="+mj-lt"/>
              </a:rPr>
              <a:t>(Gastos de Comercialización)</a:t>
            </a:r>
            <a:endParaRPr lang="es-ES" altLang="es-AR">
              <a:latin typeface="+mj-lt"/>
            </a:endParaRPr>
          </a:p>
        </p:txBody>
      </p:sp>
      <p:sp>
        <p:nvSpPr>
          <p:cNvPr id="9241" name="Rectangle 25">
            <a:extLst>
              <a:ext uri="{FF2B5EF4-FFF2-40B4-BE49-F238E27FC236}">
                <a16:creationId xmlns:a16="http://schemas.microsoft.com/office/drawing/2014/main" id="{CC638E37-DE38-4D89-AF8B-C0E41E8432AC}"/>
              </a:ext>
            </a:extLst>
          </p:cNvPr>
          <p:cNvSpPr>
            <a:spLocks noChangeArrowheads="1"/>
          </p:cNvSpPr>
          <p:nvPr/>
        </p:nvSpPr>
        <p:spPr bwMode="auto">
          <a:xfrm>
            <a:off x="6275793" y="5953369"/>
            <a:ext cx="4535487"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b="1">
                <a:latin typeface="+mj-lt"/>
              </a:rPr>
              <a:t>Beneficio Neto a / impuestos</a:t>
            </a:r>
            <a:endParaRPr lang="es-ES" altLang="es-AR" b="1">
              <a:latin typeface="+mj-lt"/>
            </a:endParaRPr>
          </a:p>
        </p:txBody>
      </p:sp>
      <p:sp>
        <p:nvSpPr>
          <p:cNvPr id="9242" name="Line 26">
            <a:extLst>
              <a:ext uri="{FF2B5EF4-FFF2-40B4-BE49-F238E27FC236}">
                <a16:creationId xmlns:a16="http://schemas.microsoft.com/office/drawing/2014/main" id="{047AA3F2-E051-4F14-A7FE-4BCF4139C533}"/>
              </a:ext>
            </a:extLst>
          </p:cNvPr>
          <p:cNvSpPr>
            <a:spLocks noChangeShapeType="1"/>
          </p:cNvSpPr>
          <p:nvPr/>
        </p:nvSpPr>
        <p:spPr bwMode="auto">
          <a:xfrm flipH="1">
            <a:off x="6247216" y="945024"/>
            <a:ext cx="1587" cy="572748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9243" name="Rectangle 27">
            <a:extLst>
              <a:ext uri="{FF2B5EF4-FFF2-40B4-BE49-F238E27FC236}">
                <a16:creationId xmlns:a16="http://schemas.microsoft.com/office/drawing/2014/main" id="{7B7A8D10-2416-42D0-A1A4-66F07E5082E8}"/>
              </a:ext>
            </a:extLst>
          </p:cNvPr>
          <p:cNvSpPr>
            <a:spLocks noChangeArrowheads="1"/>
          </p:cNvSpPr>
          <p:nvPr/>
        </p:nvSpPr>
        <p:spPr bwMode="auto">
          <a:xfrm>
            <a:off x="6448828" y="3111745"/>
            <a:ext cx="3443590" cy="419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pPr>
            <a:r>
              <a:rPr lang="es-AR" altLang="es-AR" dirty="0">
                <a:latin typeface="+mj-lt"/>
              </a:rPr>
              <a:t>---------------------------------</a:t>
            </a:r>
            <a:endParaRPr lang="es-ES" altLang="es-AR" dirty="0">
              <a:latin typeface="+mj-lt"/>
            </a:endParaRPr>
          </a:p>
        </p:txBody>
      </p:sp>
      <p:sp>
        <p:nvSpPr>
          <p:cNvPr id="9244" name="Rectangle 28">
            <a:extLst>
              <a:ext uri="{FF2B5EF4-FFF2-40B4-BE49-F238E27FC236}">
                <a16:creationId xmlns:a16="http://schemas.microsoft.com/office/drawing/2014/main" id="{4E15EB97-77FE-4122-88CA-DC43CB851CC4}"/>
              </a:ext>
            </a:extLst>
          </p:cNvPr>
          <p:cNvSpPr>
            <a:spLocks noChangeArrowheads="1"/>
          </p:cNvSpPr>
          <p:nvPr/>
        </p:nvSpPr>
        <p:spPr bwMode="auto">
          <a:xfrm>
            <a:off x="6458726" y="4116633"/>
            <a:ext cx="3360974"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pPr>
            <a:r>
              <a:rPr lang="es-AR" altLang="es-AR" dirty="0">
                <a:latin typeface="+mj-lt"/>
              </a:rPr>
              <a:t>---------------------------------</a:t>
            </a:r>
            <a:endParaRPr lang="es-ES" altLang="es-AR" dirty="0">
              <a:latin typeface="+mj-lt"/>
            </a:endParaRPr>
          </a:p>
        </p:txBody>
      </p:sp>
      <p:sp>
        <p:nvSpPr>
          <p:cNvPr id="9245" name="Text Box 29">
            <a:extLst>
              <a:ext uri="{FF2B5EF4-FFF2-40B4-BE49-F238E27FC236}">
                <a16:creationId xmlns:a16="http://schemas.microsoft.com/office/drawing/2014/main" id="{3402E481-01B3-4B31-91A8-B74504EAD37D}"/>
              </a:ext>
            </a:extLst>
          </p:cNvPr>
          <p:cNvSpPr txBox="1">
            <a:spLocks noChangeArrowheads="1"/>
          </p:cNvSpPr>
          <p:nvPr/>
        </p:nvSpPr>
        <p:spPr bwMode="auto">
          <a:xfrm>
            <a:off x="1349778" y="-47623"/>
            <a:ext cx="881221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DIFERENCIAS ENTRE AMBOS SISTEMAS</a:t>
            </a:r>
          </a:p>
        </p:txBody>
      </p:sp>
      <p:sp>
        <p:nvSpPr>
          <p:cNvPr id="2" name="Marcador de número de diapositiva 1">
            <a:extLst>
              <a:ext uri="{FF2B5EF4-FFF2-40B4-BE49-F238E27FC236}">
                <a16:creationId xmlns:a16="http://schemas.microsoft.com/office/drawing/2014/main" id="{32BDDCA3-E05B-4BC5-99E2-786CFE7F1108}"/>
              </a:ext>
            </a:extLst>
          </p:cNvPr>
          <p:cNvSpPr>
            <a:spLocks noGrp="1"/>
          </p:cNvSpPr>
          <p:nvPr>
            <p:ph type="sldNum" sz="quarter" idx="12"/>
          </p:nvPr>
        </p:nvSpPr>
        <p:spPr/>
        <p:txBody>
          <a:bodyPr/>
          <a:lstStyle/>
          <a:p>
            <a:fld id="{D57F1E4F-1CFF-5643-939E-217C01CDF565}" type="slidenum">
              <a:rPr lang="en-US" smtClean="0"/>
              <a:pPr/>
              <a:t>31</a:t>
            </a:fld>
            <a:endParaRPr lang="en-US" dirty="0"/>
          </a:p>
        </p:txBody>
      </p:sp>
      <p:sp>
        <p:nvSpPr>
          <p:cNvPr id="29" name="Rectangle 6">
            <a:extLst>
              <a:ext uri="{FF2B5EF4-FFF2-40B4-BE49-F238E27FC236}">
                <a16:creationId xmlns:a16="http://schemas.microsoft.com/office/drawing/2014/main" id="{3E3E4865-B07F-4AC9-A0DD-1C5F1BB06BE8}"/>
              </a:ext>
            </a:extLst>
          </p:cNvPr>
          <p:cNvSpPr>
            <a:spLocks noChangeArrowheads="1"/>
          </p:cNvSpPr>
          <p:nvPr/>
        </p:nvSpPr>
        <p:spPr bwMode="auto">
          <a:xfrm>
            <a:off x="1321203" y="1553805"/>
            <a:ext cx="3081338"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dirty="0">
                <a:latin typeface="+mj-lt"/>
              </a:rPr>
              <a:t>Ingreso por ventas</a:t>
            </a:r>
            <a:endParaRPr lang="es-ES" altLang="es-AR" dirty="0">
              <a:latin typeface="+mj-lt"/>
            </a:endParaRPr>
          </a:p>
        </p:txBody>
      </p:sp>
      <p:sp>
        <p:nvSpPr>
          <p:cNvPr id="30" name="Rectangle 6">
            <a:extLst>
              <a:ext uri="{FF2B5EF4-FFF2-40B4-BE49-F238E27FC236}">
                <a16:creationId xmlns:a16="http://schemas.microsoft.com/office/drawing/2014/main" id="{F509900E-CF0F-400A-AD6D-FE562A5AE85C}"/>
              </a:ext>
            </a:extLst>
          </p:cNvPr>
          <p:cNvSpPr>
            <a:spLocks noChangeArrowheads="1"/>
          </p:cNvSpPr>
          <p:nvPr/>
        </p:nvSpPr>
        <p:spPr bwMode="auto">
          <a:xfrm>
            <a:off x="6288491" y="1553805"/>
            <a:ext cx="3081338"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dirty="0">
                <a:latin typeface="+mj-lt"/>
              </a:rPr>
              <a:t>Ingreso por ventas</a:t>
            </a:r>
            <a:endParaRPr lang="es-ES" altLang="es-AR"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2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2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22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923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22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22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226"/>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227"/>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228"/>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9237"/>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230"/>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9242"/>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221"/>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231"/>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232"/>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243"/>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0"/>
                                          </p:stCondLst>
                                        </p:cTn>
                                        <p:tgtEl>
                                          <p:spTgt spid="9238"/>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9233"/>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9244"/>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9234"/>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9235"/>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9240"/>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nodeType="clickEffect">
                                  <p:stCondLst>
                                    <p:cond delay="0"/>
                                  </p:stCondLst>
                                  <p:childTnLst>
                                    <p:set>
                                      <p:cBhvr>
                                        <p:cTn id="98" dur="1" fill="hold">
                                          <p:stCondLst>
                                            <p:cond delay="0"/>
                                          </p:stCondLst>
                                        </p:cTn>
                                        <p:tgtEl>
                                          <p:spTgt spid="9239"/>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9241"/>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9"/>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animBg="1"/>
      <p:bldP spid="9221" grpId="0" animBg="1"/>
      <p:bldP spid="9222" grpId="0"/>
      <p:bldP spid="9223" grpId="0"/>
      <p:bldP spid="9224" grpId="0"/>
      <p:bldP spid="9225" grpId="0"/>
      <p:bldP spid="9226" grpId="0"/>
      <p:bldP spid="9227" grpId="0"/>
      <p:bldP spid="9228" grpId="0"/>
      <p:bldP spid="9229" grpId="0"/>
      <p:bldP spid="9230" grpId="0"/>
      <p:bldP spid="9231" grpId="0"/>
      <p:bldP spid="9232" grpId="0"/>
      <p:bldP spid="9233" grpId="0"/>
      <p:bldP spid="9234" grpId="0"/>
      <p:bldP spid="9235" grpId="0"/>
      <p:bldP spid="9240" grpId="0"/>
      <p:bldP spid="9241" grpId="0"/>
      <p:bldP spid="9243" grpId="0"/>
      <p:bldP spid="9244" grpId="0"/>
      <p:bldP spid="29" grpId="0"/>
      <p:bldP spid="3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a:extLst>
              <a:ext uri="{FF2B5EF4-FFF2-40B4-BE49-F238E27FC236}">
                <a16:creationId xmlns:a16="http://schemas.microsoft.com/office/drawing/2014/main" id="{DC584DC7-8B92-44D8-AD5E-90860C366743}"/>
              </a:ext>
            </a:extLst>
          </p:cNvPr>
          <p:cNvSpPr>
            <a:spLocks noChangeArrowheads="1"/>
          </p:cNvSpPr>
          <p:nvPr/>
        </p:nvSpPr>
        <p:spPr bwMode="auto">
          <a:xfrm>
            <a:off x="1143000" y="1052514"/>
            <a:ext cx="990600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latin typeface="+mj-lt"/>
              </a:rPr>
              <a:t>Los costos en que se valorizan los inventarios de productos terminados bajo un sistema de costeo directo son menores a aquellos que se valorizan  por sistema de costeo integral.</a:t>
            </a:r>
            <a:endParaRPr lang="es-ES" altLang="es-AR" sz="2000" dirty="0">
              <a:latin typeface="+mj-lt"/>
            </a:endParaRPr>
          </a:p>
        </p:txBody>
      </p:sp>
      <p:sp>
        <p:nvSpPr>
          <p:cNvPr id="10245" name="Rectangle 5">
            <a:extLst>
              <a:ext uri="{FF2B5EF4-FFF2-40B4-BE49-F238E27FC236}">
                <a16:creationId xmlns:a16="http://schemas.microsoft.com/office/drawing/2014/main" id="{14D65CC4-E3EA-4F48-BDA4-305A5E9783D7}"/>
              </a:ext>
            </a:extLst>
          </p:cNvPr>
          <p:cNvSpPr>
            <a:spLocks noChangeArrowheads="1"/>
          </p:cNvSpPr>
          <p:nvPr/>
        </p:nvSpPr>
        <p:spPr bwMode="auto">
          <a:xfrm>
            <a:off x="1158875" y="2347914"/>
            <a:ext cx="990600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a:latin typeface="+mj-lt"/>
              </a:rPr>
              <a:t>Cuando aumentan los inventarios, es decir, cuando lo vendido es menor a lo producido (Qp &gt; Qv), el costeo integral arroja un mayor beneficio que el sistema de costeo directo.</a:t>
            </a:r>
            <a:endParaRPr lang="es-ES" altLang="es-AR" sz="2000">
              <a:latin typeface="+mj-lt"/>
            </a:endParaRPr>
          </a:p>
        </p:txBody>
      </p:sp>
      <p:sp>
        <p:nvSpPr>
          <p:cNvPr id="10246" name="Rectangle 6">
            <a:extLst>
              <a:ext uri="{FF2B5EF4-FFF2-40B4-BE49-F238E27FC236}">
                <a16:creationId xmlns:a16="http://schemas.microsoft.com/office/drawing/2014/main" id="{F0960390-314B-4C78-AC99-F54D8793297B}"/>
              </a:ext>
            </a:extLst>
          </p:cNvPr>
          <p:cNvSpPr>
            <a:spLocks noChangeArrowheads="1"/>
          </p:cNvSpPr>
          <p:nvPr/>
        </p:nvSpPr>
        <p:spPr bwMode="auto">
          <a:xfrm>
            <a:off x="1127125" y="3644901"/>
            <a:ext cx="990600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a:latin typeface="+mj-lt"/>
              </a:rPr>
              <a:t>Cuando disminuyen los inventarios, es decir, cuando lo vendido es mayor a lo producido (Qp &lt; Qv), el costeo directo arroja un mayor beneficio que el sistema de costeo integral.</a:t>
            </a:r>
            <a:endParaRPr lang="es-ES" altLang="es-AR" sz="2000">
              <a:latin typeface="+mj-lt"/>
            </a:endParaRPr>
          </a:p>
        </p:txBody>
      </p:sp>
      <p:sp>
        <p:nvSpPr>
          <p:cNvPr id="10247" name="Rectangle 7">
            <a:extLst>
              <a:ext uri="{FF2B5EF4-FFF2-40B4-BE49-F238E27FC236}">
                <a16:creationId xmlns:a16="http://schemas.microsoft.com/office/drawing/2014/main" id="{D643A421-DCDD-4F96-8A2D-7722C2F0C840}"/>
              </a:ext>
            </a:extLst>
          </p:cNvPr>
          <p:cNvSpPr>
            <a:spLocks noChangeArrowheads="1"/>
          </p:cNvSpPr>
          <p:nvPr/>
        </p:nvSpPr>
        <p:spPr bwMode="auto">
          <a:xfrm>
            <a:off x="1127125" y="4940301"/>
            <a:ext cx="990600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a:latin typeface="+mj-lt"/>
              </a:rPr>
              <a:t>Cuando los inventarios al comienzo y al final del período son iguales, es decir, cuando se vende todo lo que se produce (Qp = Qv), ambos sistemas arrojan el mismo resultado.</a:t>
            </a:r>
            <a:endParaRPr lang="es-ES" altLang="es-AR" sz="2000">
              <a:latin typeface="+mj-lt"/>
            </a:endParaRPr>
          </a:p>
        </p:txBody>
      </p:sp>
      <p:sp>
        <p:nvSpPr>
          <p:cNvPr id="10249" name="Text Box 9">
            <a:extLst>
              <a:ext uri="{FF2B5EF4-FFF2-40B4-BE49-F238E27FC236}">
                <a16:creationId xmlns:a16="http://schemas.microsoft.com/office/drawing/2014/main" id="{D6E2FC4B-52AA-464A-B320-8554E0F046C6}"/>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DIFERENCIAS ENTRE AMBOS SISTEMAS</a:t>
            </a:r>
          </a:p>
        </p:txBody>
      </p:sp>
      <p:sp>
        <p:nvSpPr>
          <p:cNvPr id="2" name="Marcador de número de diapositiva 1">
            <a:extLst>
              <a:ext uri="{FF2B5EF4-FFF2-40B4-BE49-F238E27FC236}">
                <a16:creationId xmlns:a16="http://schemas.microsoft.com/office/drawing/2014/main" id="{595031B9-FB5D-46A9-B0AC-B3080EDD24D3}"/>
              </a:ext>
            </a:extLst>
          </p:cNvPr>
          <p:cNvSpPr>
            <a:spLocks noGrp="1"/>
          </p:cNvSpPr>
          <p:nvPr>
            <p:ph type="sldNum" sz="quarter" idx="12"/>
          </p:nvPr>
        </p:nvSpPr>
        <p:spPr/>
        <p:txBody>
          <a:bodyPr/>
          <a:lstStyle/>
          <a:p>
            <a:fld id="{D57F1E4F-1CFF-5643-939E-217C01CDF565}" type="slidenum">
              <a:rPr lang="en-US" smtClean="0"/>
              <a:pPr/>
              <a:t>32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p:bldP spid="10245" grpId="0"/>
      <p:bldP spid="10246" grpId="0"/>
      <p:bldP spid="1024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Text Box 4">
            <a:extLst>
              <a:ext uri="{FF2B5EF4-FFF2-40B4-BE49-F238E27FC236}">
                <a16:creationId xmlns:a16="http://schemas.microsoft.com/office/drawing/2014/main" id="{F834AE8E-FFA2-4E97-8A7D-EBB08C15FF46}"/>
              </a:ext>
            </a:extLst>
          </p:cNvPr>
          <p:cNvSpPr txBox="1">
            <a:spLocks noChangeArrowheads="1"/>
          </p:cNvSpPr>
          <p:nvPr/>
        </p:nvSpPr>
        <p:spPr bwMode="auto">
          <a:xfrm>
            <a:off x="1387476" y="185738"/>
            <a:ext cx="881221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DIFERENCIAS ENTRE AMBOS SISTEMAS</a:t>
            </a:r>
          </a:p>
        </p:txBody>
      </p:sp>
      <p:sp>
        <p:nvSpPr>
          <p:cNvPr id="11269" name="Rectangle 5">
            <a:extLst>
              <a:ext uri="{FF2B5EF4-FFF2-40B4-BE49-F238E27FC236}">
                <a16:creationId xmlns:a16="http://schemas.microsoft.com/office/drawing/2014/main" id="{D9C61AE7-8C66-48E1-A43E-9A2EEC264532}"/>
              </a:ext>
            </a:extLst>
          </p:cNvPr>
          <p:cNvSpPr>
            <a:spLocks noChangeArrowheads="1"/>
          </p:cNvSpPr>
          <p:nvPr/>
        </p:nvSpPr>
        <p:spPr bwMode="auto">
          <a:xfrm>
            <a:off x="1128713" y="1052514"/>
            <a:ext cx="9906001" cy="158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latin typeface="+mj-lt"/>
              </a:rPr>
              <a:t>En el Sistema de Costeo Integral o por Absorción, las existencias de producción terminada al finalizar el ejercicio, están inmovilizando costos fijos al ejercicio siguiente perjudicando los resultados del ejercicio actual.</a:t>
            </a:r>
            <a:endParaRPr lang="es-ES" altLang="es-AR" sz="2000" dirty="0">
              <a:latin typeface="+mj-lt"/>
            </a:endParaRPr>
          </a:p>
        </p:txBody>
      </p:sp>
      <p:sp>
        <p:nvSpPr>
          <p:cNvPr id="11270" name="Rectangle 6">
            <a:extLst>
              <a:ext uri="{FF2B5EF4-FFF2-40B4-BE49-F238E27FC236}">
                <a16:creationId xmlns:a16="http://schemas.microsoft.com/office/drawing/2014/main" id="{20098997-DB4A-4C31-A1B7-640EE660BCCC}"/>
              </a:ext>
            </a:extLst>
          </p:cNvPr>
          <p:cNvSpPr>
            <a:spLocks noChangeArrowheads="1"/>
          </p:cNvSpPr>
          <p:nvPr/>
        </p:nvSpPr>
        <p:spPr bwMode="auto">
          <a:xfrm>
            <a:off x="1131888" y="2492375"/>
            <a:ext cx="9906001" cy="194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a:latin typeface="+mj-lt"/>
              </a:rPr>
              <a:t>Los defensores del Sistema de Costeo Directo o Variable promueven que el verdadero costo de producción es el que se forma únicamente con el costo variable, dado que los costos fijos corresponden al período en el que se producen y por consiguiente deben liquidarse en él, y no diferirse en los stocks.</a:t>
            </a:r>
            <a:endParaRPr lang="es-ES" altLang="es-AR" sz="2000">
              <a:latin typeface="+mj-lt"/>
            </a:endParaRPr>
          </a:p>
        </p:txBody>
      </p:sp>
      <p:sp>
        <p:nvSpPr>
          <p:cNvPr id="11271" name="Rectangle 7">
            <a:extLst>
              <a:ext uri="{FF2B5EF4-FFF2-40B4-BE49-F238E27FC236}">
                <a16:creationId xmlns:a16="http://schemas.microsoft.com/office/drawing/2014/main" id="{B270AB06-BDE2-4EA2-9509-0AEDCF44CBA4}"/>
              </a:ext>
            </a:extLst>
          </p:cNvPr>
          <p:cNvSpPr>
            <a:spLocks noChangeArrowheads="1"/>
          </p:cNvSpPr>
          <p:nvPr/>
        </p:nvSpPr>
        <p:spPr bwMode="auto">
          <a:xfrm>
            <a:off x="1127125" y="4292601"/>
            <a:ext cx="99060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a:latin typeface="+mj-lt"/>
              </a:rPr>
              <a:t>En la contabilidad de la empresa se utiliza el Sistema de Costeo Integral ó por Absorción, aunque en general suelen llevar un Sistema de Costeo Variable con la finalidad de conocer el margen de contribución de cada línea de productos y el punto de equilibrio económico para tomar decisiones comerciales.</a:t>
            </a:r>
            <a:endParaRPr lang="es-ES" altLang="es-AR" sz="2000">
              <a:latin typeface="+mj-lt"/>
            </a:endParaRPr>
          </a:p>
        </p:txBody>
      </p:sp>
      <p:sp>
        <p:nvSpPr>
          <p:cNvPr id="2" name="Marcador de número de diapositiva 1">
            <a:extLst>
              <a:ext uri="{FF2B5EF4-FFF2-40B4-BE49-F238E27FC236}">
                <a16:creationId xmlns:a16="http://schemas.microsoft.com/office/drawing/2014/main" id="{E7118E0B-6336-4B74-8DD3-274E49E80AF5}"/>
              </a:ext>
            </a:extLst>
          </p:cNvPr>
          <p:cNvSpPr>
            <a:spLocks noGrp="1"/>
          </p:cNvSpPr>
          <p:nvPr>
            <p:ph type="sldNum" sz="quarter" idx="12"/>
          </p:nvPr>
        </p:nvSpPr>
        <p:spPr/>
        <p:txBody>
          <a:bodyPr/>
          <a:lstStyle/>
          <a:p>
            <a:fld id="{D57F1E4F-1CFF-5643-939E-217C01CDF565}" type="slidenum">
              <a:rPr lang="en-US" smtClean="0"/>
              <a:pPr/>
              <a:t>33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7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p:bldP spid="11270" grpId="0"/>
      <p:bldP spid="11271" grpId="0"/>
    </p:bldLst>
  </p:timing>
</p:sld>
</file>

<file path=ppt/theme/theme1.xml><?xml version="1.0" encoding="utf-8"?>
<a:theme xmlns:a="http://schemas.openxmlformats.org/drawingml/2006/main" name="Espiral">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4929</TotalTime>
  <Words>2477</Words>
  <Application>Microsoft Office PowerPoint</Application>
  <PresentationFormat>Panorámica</PresentationFormat>
  <Paragraphs>335</Paragraphs>
  <Slides>33</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33</vt:i4>
      </vt:variant>
    </vt:vector>
  </HeadingPairs>
  <TitlesOfParts>
    <vt:vector size="39" baseType="lpstr">
      <vt:lpstr>Arial</vt:lpstr>
      <vt:lpstr>Calibri</vt:lpstr>
      <vt:lpstr>Century Gothic</vt:lpstr>
      <vt:lpstr>Tahoma</vt:lpstr>
      <vt:lpstr>Wingdings 3</vt:lpstr>
      <vt:lpstr>Espiral</vt:lpstr>
      <vt:lpstr>COSTOS Y PRESUPUESTOS</vt:lpstr>
      <vt:lpstr>SISTEMAS DE COSTEO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PRODUCCION EQUIVALENTE</vt:lpstr>
      <vt:lpstr>SISTEMA DE COSTEO DIRECTO</vt:lpstr>
      <vt:lpstr>Presentación de PowerPoint</vt:lpstr>
      <vt:lpstr>Presentación de PowerPoint</vt:lpstr>
      <vt:lpstr>Presentación de PowerPoint</vt:lpstr>
      <vt:lpstr>Presentación de PowerPoint</vt:lpstr>
      <vt:lpstr>Presentación de PowerPoint</vt:lpstr>
      <vt:lpstr>SISTEMA DE COSTEO INTEGRAL O POR ABSORCION</vt:lpstr>
      <vt:lpstr>SISTEMA DE COSTEO INTEGRAL O POR ABSORCION</vt:lpstr>
      <vt:lpstr>SISTEMA DE COSTEO DIRECTO O VARIABLE</vt:lpstr>
      <vt:lpstr>SISTEMA DE COSTEO DIRECTO E INTEGRAL</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COSTOS Y PRESUPUESTOS</dc:title>
  <dc:creator>gustavo massucco</dc:creator>
  <cp:lastModifiedBy>gustavo massucco</cp:lastModifiedBy>
  <cp:revision>232</cp:revision>
  <dcterms:created xsi:type="dcterms:W3CDTF">2020-04-19T20:11:04Z</dcterms:created>
  <dcterms:modified xsi:type="dcterms:W3CDTF">2023-08-13T22:17:31Z</dcterms:modified>
</cp:coreProperties>
</file>