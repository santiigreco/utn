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63" r:id="rId4"/>
    <p:sldId id="264" r:id="rId5"/>
    <p:sldId id="265" r:id="rId6"/>
    <p:sldId id="275" r:id="rId7"/>
    <p:sldId id="261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90" r:id="rId19"/>
    <p:sldId id="286" r:id="rId20"/>
    <p:sldId id="270" r:id="rId21"/>
    <p:sldId id="287" r:id="rId22"/>
    <p:sldId id="288" r:id="rId23"/>
    <p:sldId id="271" r:id="rId24"/>
    <p:sldId id="289" r:id="rId25"/>
    <p:sldId id="272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544" autoAdjust="0"/>
    <p:restoredTop sz="94660"/>
  </p:normalViewPr>
  <p:slideViewPr>
    <p:cSldViewPr snapToGrid="0">
      <p:cViewPr varScale="1">
        <p:scale>
          <a:sx n="72" d="100"/>
          <a:sy n="72" d="100"/>
        </p:scale>
        <p:origin x="100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FA441F-8982-4902-B1FE-08DF82218E62}" type="datetimeFigureOut">
              <a:rPr lang="es-AR" smtClean="0"/>
              <a:t>26/4/2021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57D551-39DC-4B61-9B7A-D9ED2875985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40336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7B4BB-03EF-451D-BBA6-ED00A57A62CB}" type="datetime1">
              <a:rPr lang="en-US" smtClean="0"/>
              <a:t>4/26/2021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EBBE1-416B-4530-A6FD-224597E99CC4}" type="datetime1">
              <a:rPr lang="en-US" smtClean="0"/>
              <a:t>4/26/2021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DCA0A-ABF4-4F3F-993F-65A1806D3AAC}" type="datetime1">
              <a:rPr lang="en-US" smtClean="0"/>
              <a:t>4/26/2021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27A7B-6E68-424B-A9EF-37377A07F488}" type="datetime1">
              <a:rPr lang="en-US" smtClean="0"/>
              <a:t>4/26/2021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A24D3-82C1-45E3-9DBE-6B00DC1EA990}" type="datetime1">
              <a:rPr lang="en-US" smtClean="0"/>
              <a:t>4/26/2021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BA0B5-4871-4F70-BF0D-1BCA91754AB6}" type="datetime1">
              <a:rPr lang="en-US" smtClean="0"/>
              <a:t>4/26/2021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0FA87-353A-4389-83B5-6EE5940F537B}" type="datetime1">
              <a:rPr lang="en-US" smtClean="0"/>
              <a:t>4/26/2021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49699-7C54-4EE2-92B2-680E205E50D5}" type="datetime1">
              <a:rPr lang="en-US" smtClean="0"/>
              <a:t>4/26/2021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96675-ED22-4877-A84D-C1CBBFF553D9}" type="datetime1">
              <a:rPr lang="en-US" smtClean="0"/>
              <a:t>4/26/2021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3E8B3-EFE2-4E3E-8E9A-E1C6FBE85499}" type="datetime1">
              <a:rPr lang="en-US" smtClean="0"/>
              <a:t>4/26/2021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E334A-C4E7-419D-8AD7-B6AAB5AE08A4}" type="datetime1">
              <a:rPr lang="en-US" smtClean="0"/>
              <a:t>4/26/2021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A55FA-2C17-435D-B9C7-8495D4486FB8}" type="datetime1">
              <a:rPr lang="en-US" smtClean="0"/>
              <a:t>4/26/2021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0FCC-C021-401D-ABB8-125B48448C81}" type="datetime1">
              <a:rPr lang="en-US" smtClean="0"/>
              <a:t>4/26/2021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705F0-173F-4CFC-9A4F-6403EE4ABF40}" type="datetime1">
              <a:rPr lang="en-US" smtClean="0"/>
              <a:t>4/26/2021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B9DE0-81C1-4452-8C90-F5EF3AD8E15C}" type="datetime1">
              <a:rPr lang="en-US" smtClean="0"/>
              <a:t>4/26/2021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A32CA-D89C-48D1-937B-99B9E0300ED1}" type="datetime1">
              <a:rPr lang="en-US" smtClean="0"/>
              <a:t>4/26/2021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0D72C-4043-460A-8EC5-878FD1386D85}" type="datetime1">
              <a:rPr lang="en-US" smtClean="0"/>
              <a:t>4/26/2021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5">
            <a:extLst>
              <a:ext uri="{FF2B5EF4-FFF2-40B4-BE49-F238E27FC236}">
                <a16:creationId xmlns:a16="http://schemas.microsoft.com/office/drawing/2014/main" id="{F5642E8C-FD90-47FB-9533-A90C5141EDEF}"/>
              </a:ext>
            </a:extLst>
          </p:cNvPr>
          <p:cNvSpPr txBox="1">
            <a:spLocks noGrp="1" noChangeArrowheads="1"/>
          </p:cNvSpPr>
          <p:nvPr>
            <p:ph type="ctrTitle"/>
          </p:nvPr>
        </p:nvSpPr>
        <p:spPr bwMode="auto">
          <a:xfrm>
            <a:off x="2589213" y="1619547"/>
            <a:ext cx="89154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s-MX" altLang="es-AR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  <a:t>COSTOS Y PRESUPUESTOS</a:t>
            </a:r>
          </a:p>
        </p:txBody>
      </p:sp>
      <p:sp>
        <p:nvSpPr>
          <p:cNvPr id="5" name="Text Box 26">
            <a:extLst>
              <a:ext uri="{FF2B5EF4-FFF2-40B4-BE49-F238E27FC236}">
                <a16:creationId xmlns:a16="http://schemas.microsoft.com/office/drawing/2014/main" id="{27735A57-3B03-42B6-BDFC-E5E8B31EF7BE}"/>
              </a:ext>
            </a:extLst>
          </p:cNvPr>
          <p:cNvSpPr txBox="1">
            <a:spLocks noGrp="1" noChangeArrowheads="1"/>
          </p:cNvSpPr>
          <p:nvPr>
            <p:ph type="subTitle" idx="1"/>
          </p:nvPr>
        </p:nvSpPr>
        <p:spPr bwMode="auto">
          <a:xfrm>
            <a:off x="2589213" y="4776788"/>
            <a:ext cx="89154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s-MX" altLang="es-AR" sz="440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  <a:t>Depreciación y Amortización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9FA0E92-5CE1-472E-A758-7CE737D9664B}"/>
              </a:ext>
            </a:extLst>
          </p:cNvPr>
          <p:cNvSpPr txBox="1"/>
          <p:nvPr/>
        </p:nvSpPr>
        <p:spPr>
          <a:xfrm>
            <a:off x="3108035" y="3023361"/>
            <a:ext cx="83965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Ingeniero Gustavo Massucco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3674575-47D4-476C-8772-8197234BC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319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>
            <a:extLst>
              <a:ext uri="{FF2B5EF4-FFF2-40B4-BE49-F238E27FC236}">
                <a16:creationId xmlns:a16="http://schemas.microsoft.com/office/drawing/2014/main" id="{BBB39D35-A471-4879-BE0F-5B5C28DC9DC2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493856" y="596901"/>
            <a:ext cx="8912225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s-MX" altLang="es-AR" sz="4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  <a:t>CAPITAL EMPRESARIO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DCEF0336-458C-4D1D-9A80-A1D214B182D3}"/>
              </a:ext>
            </a:extLst>
          </p:cNvPr>
          <p:cNvGrpSpPr/>
          <p:nvPr/>
        </p:nvGrpSpPr>
        <p:grpSpPr>
          <a:xfrm>
            <a:off x="1254918" y="3192378"/>
            <a:ext cx="10391650" cy="2630905"/>
            <a:chOff x="1254919" y="2852738"/>
            <a:chExt cx="8285956" cy="2108200"/>
          </a:xfrm>
        </p:grpSpPr>
        <p:sp>
          <p:nvSpPr>
            <p:cNvPr id="6" name="Text Box 10">
              <a:extLst>
                <a:ext uri="{FF2B5EF4-FFF2-40B4-BE49-F238E27FC236}">
                  <a16:creationId xmlns:a16="http://schemas.microsoft.com/office/drawing/2014/main" id="{65D50F33-19EA-4865-8836-CC88977E9F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4919" y="2881313"/>
              <a:ext cx="3733800" cy="207962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AR" altLang="es-AR" sz="2800" b="1" u="sng" dirty="0">
                  <a:latin typeface="Tahoma" panose="020B0604030504040204" pitchFamily="34" charset="0"/>
                </a:rPr>
                <a:t>Capital Fijo</a:t>
              </a:r>
            </a:p>
            <a:p>
              <a:pPr algn="ctr" eaLnBrk="1" hangingPunct="1">
                <a:spcBef>
                  <a:spcPct val="50000"/>
                </a:spcBef>
              </a:pPr>
              <a:endParaRPr lang="es-AR" altLang="es-AR" sz="1200" b="1" u="sng" dirty="0">
                <a:latin typeface="Tahoma" panose="020B0604030504040204" pitchFamily="34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s-AR" altLang="es-AR" sz="1400" b="1" u="sng" dirty="0">
                  <a:latin typeface="Tahoma" panose="020B0604030504040204" pitchFamily="34" charset="0"/>
                </a:rPr>
                <a:t>Bienes Materiales o de Uso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s-AR" altLang="es-AR" sz="1400" b="1" dirty="0">
                  <a:latin typeface="Tahoma" panose="020B0604030504040204" pitchFamily="34" charset="0"/>
                </a:rPr>
                <a:t>Terrenos, Edificios, Máquinas, Herramientas, Instalaciones, Rodados, Software, Muebles, útiles, etc.</a:t>
              </a:r>
            </a:p>
            <a:p>
              <a:pPr eaLnBrk="1" hangingPunct="1">
                <a:spcBef>
                  <a:spcPct val="50000"/>
                </a:spcBef>
              </a:pPr>
              <a:endParaRPr lang="es-ES" altLang="es-AR" sz="800" b="1" dirty="0">
                <a:latin typeface="Tahoma" panose="020B0604030504040204" pitchFamily="34" charset="0"/>
              </a:endParaRPr>
            </a:p>
          </p:txBody>
        </p:sp>
        <p:sp>
          <p:nvSpPr>
            <p:cNvPr id="7" name="Text Box 11">
              <a:extLst>
                <a:ext uri="{FF2B5EF4-FFF2-40B4-BE49-F238E27FC236}">
                  <a16:creationId xmlns:a16="http://schemas.microsoft.com/office/drawing/2014/main" id="{9D9DAA8D-B241-4054-8CB6-207DC99881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5963" y="2852738"/>
              <a:ext cx="3744912" cy="21082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AR" altLang="es-AR" sz="2800" b="1" u="sng" dirty="0">
                  <a:latin typeface="Tahoma" panose="020B0604030504040204" pitchFamily="34" charset="0"/>
                </a:rPr>
                <a:t>Capital Circulante</a:t>
              </a:r>
            </a:p>
            <a:p>
              <a:pPr algn="ctr" eaLnBrk="1" hangingPunct="1">
                <a:spcBef>
                  <a:spcPct val="50000"/>
                </a:spcBef>
              </a:pPr>
              <a:endParaRPr lang="es-AR" altLang="es-AR" sz="1200" b="1" u="sng" dirty="0">
                <a:latin typeface="Tahoma" panose="020B0604030504040204" pitchFamily="34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s-AR" altLang="es-AR" sz="1400" b="1" dirty="0">
                  <a:latin typeface="Tahoma" panose="020B0604030504040204" pitchFamily="34" charset="0"/>
                </a:rPr>
                <a:t>Materias Primas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s-AR" altLang="es-AR" sz="1400" b="1" dirty="0">
                  <a:latin typeface="Tahoma" panose="020B0604030504040204" pitchFamily="34" charset="0"/>
                </a:rPr>
                <a:t>Materiales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s-AR" altLang="es-AR" sz="1400" b="1" dirty="0">
                  <a:latin typeface="Tahoma" panose="020B0604030504040204" pitchFamily="34" charset="0"/>
                </a:rPr>
                <a:t>Mano de Obra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s-AR" altLang="es-AR" sz="1400" b="1" dirty="0">
                  <a:latin typeface="Tahoma" panose="020B0604030504040204" pitchFamily="34" charset="0"/>
                </a:rPr>
                <a:t>Servicios</a:t>
              </a:r>
              <a:endParaRPr lang="es-ES" altLang="es-AR" sz="1400" b="1" dirty="0">
                <a:latin typeface="Tahoma" panose="020B0604030504040204" pitchFamily="34" charset="0"/>
              </a:endParaRPr>
            </a:p>
          </p:txBody>
        </p:sp>
      </p:grpSp>
      <p:sp>
        <p:nvSpPr>
          <p:cNvPr id="8" name="Text Box 5">
            <a:extLst>
              <a:ext uri="{FF2B5EF4-FFF2-40B4-BE49-F238E27FC236}">
                <a16:creationId xmlns:a16="http://schemas.microsoft.com/office/drawing/2014/main" id="{7FABCE99-017A-49FE-BF1D-CEEF151FB9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1043" y="1871034"/>
            <a:ext cx="4682663" cy="646331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AR" altLang="es-AR" sz="3600" b="1" dirty="0">
                <a:latin typeface="Tahoma" panose="020B0604030504040204" pitchFamily="34" charset="0"/>
              </a:rPr>
              <a:t>Capital Disponible</a:t>
            </a:r>
            <a:endParaRPr lang="es-ES" altLang="es-AR" sz="3600" b="1" dirty="0">
              <a:latin typeface="Tahoma" panose="020B0604030504040204" pitchFamily="34" charset="0"/>
            </a:endParaRP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4DA45651-961B-4268-8F47-2383DEF888A4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6422374" y="2517365"/>
            <a:ext cx="1" cy="154468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05D085AB-14D7-4838-A505-51285A008CF0}"/>
              </a:ext>
            </a:extLst>
          </p:cNvPr>
          <p:cNvCxnSpPr/>
          <p:nvPr/>
        </p:nvCxnSpPr>
        <p:spPr>
          <a:xfrm flipH="1">
            <a:off x="5937581" y="4062046"/>
            <a:ext cx="593074" cy="0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218F1E80-0EAE-4BE6-8951-289740B64145}"/>
              </a:ext>
            </a:extLst>
          </p:cNvPr>
          <p:cNvCxnSpPr/>
          <p:nvPr/>
        </p:nvCxnSpPr>
        <p:spPr>
          <a:xfrm>
            <a:off x="6422374" y="4062046"/>
            <a:ext cx="527594" cy="0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Marcador de número de diapositiva 24">
            <a:extLst>
              <a:ext uri="{FF2B5EF4-FFF2-40B4-BE49-F238E27FC236}">
                <a16:creationId xmlns:a16="http://schemas.microsoft.com/office/drawing/2014/main" id="{01C62EBE-D320-4B75-9BA5-C6BEEB9C3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060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AABE4E-19E5-42AD-A85C-DFB03C456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CAPITAL DE LA EMPRESA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61B189-6A29-47F0-9491-982B17359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A150E3BC-851D-4859-A697-0B6911F1211E}"/>
              </a:ext>
            </a:extLst>
          </p:cNvPr>
          <p:cNvGrpSpPr/>
          <p:nvPr/>
        </p:nvGrpSpPr>
        <p:grpSpPr>
          <a:xfrm>
            <a:off x="625154" y="2597180"/>
            <a:ext cx="7745870" cy="3724083"/>
            <a:chOff x="625154" y="2597180"/>
            <a:chExt cx="7745870" cy="3724083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B6E4AAB5-5904-4A6D-BB31-274FBD86CB71}"/>
                </a:ext>
              </a:extLst>
            </p:cNvPr>
            <p:cNvSpPr/>
            <p:nvPr/>
          </p:nvSpPr>
          <p:spPr>
            <a:xfrm>
              <a:off x="1190100" y="2597180"/>
              <a:ext cx="2949157" cy="3724083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1D56EB46-6013-48DC-AF5A-F48F4EFAF229}"/>
                </a:ext>
              </a:extLst>
            </p:cNvPr>
            <p:cNvSpPr txBox="1"/>
            <p:nvPr/>
          </p:nvSpPr>
          <p:spPr>
            <a:xfrm>
              <a:off x="625154" y="2729444"/>
              <a:ext cx="3686446" cy="4444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s-AR" dirty="0">
                <a:solidFill>
                  <a:schemeClr val="tx2"/>
                </a:solidFill>
              </a:endParaRP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FA1AAA58-1767-4763-8BAE-DD3A87A1171B}"/>
                </a:ext>
              </a:extLst>
            </p:cNvPr>
            <p:cNvSpPr txBox="1"/>
            <p:nvPr/>
          </p:nvSpPr>
          <p:spPr>
            <a:xfrm>
              <a:off x="1208867" y="3633703"/>
              <a:ext cx="2927305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ctr">
                <a:buClr>
                  <a:schemeClr val="accent2"/>
                </a:buClr>
                <a:buFont typeface="Arial" panose="020B0604020202020204" pitchFamily="34" charset="0"/>
                <a:buChar char="•"/>
              </a:pPr>
              <a:r>
                <a:rPr lang="es-AR" dirty="0">
                  <a:solidFill>
                    <a:schemeClr val="tx2"/>
                  </a:solidFill>
                </a:rPr>
                <a:t>CAPITAL FIJO</a:t>
              </a: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CF4DEF97-9594-490A-9D17-E65985018235}"/>
                </a:ext>
              </a:extLst>
            </p:cNvPr>
            <p:cNvSpPr txBox="1"/>
            <p:nvPr/>
          </p:nvSpPr>
          <p:spPr>
            <a:xfrm>
              <a:off x="1190100" y="5488832"/>
              <a:ext cx="2949157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Clr>
                  <a:srgbClr val="92D050"/>
                </a:buClr>
                <a:buFont typeface="Arial" panose="020B0604020202020204" pitchFamily="34" charset="0"/>
                <a:buChar char="•"/>
              </a:pPr>
              <a:r>
                <a:rPr lang="es-AR" dirty="0">
                  <a:solidFill>
                    <a:schemeClr val="tx2"/>
                  </a:solidFill>
                </a:rPr>
                <a:t>CAPITAL CIRCULANTE</a:t>
              </a: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E7DF6845-0EC8-4975-A191-9BC897CD8986}"/>
                </a:ext>
              </a:extLst>
            </p:cNvPr>
            <p:cNvSpPr txBox="1"/>
            <p:nvPr/>
          </p:nvSpPr>
          <p:spPr>
            <a:xfrm>
              <a:off x="4804602" y="5478526"/>
              <a:ext cx="3566422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Clr>
                  <a:srgbClr val="92D050"/>
                </a:buClr>
                <a:buFont typeface="Arial" panose="020B0604020202020204" pitchFamily="34" charset="0"/>
                <a:buChar char="•"/>
              </a:pPr>
              <a:r>
                <a:rPr lang="es-AR" dirty="0">
                  <a:solidFill>
                    <a:schemeClr val="tx2"/>
                  </a:solidFill>
                </a:rPr>
                <a:t>CAPITAL CIRCULANTE</a:t>
              </a:r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CECC5538-0243-4AAA-9147-EDEEA3F0BBA4}"/>
              </a:ext>
            </a:extLst>
          </p:cNvPr>
          <p:cNvGrpSpPr/>
          <p:nvPr/>
        </p:nvGrpSpPr>
        <p:grpSpPr>
          <a:xfrm>
            <a:off x="4732797" y="2597174"/>
            <a:ext cx="2943836" cy="3724082"/>
            <a:chOff x="1507561" y="2558589"/>
            <a:chExt cx="3049492" cy="3094865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E1181558-4E32-4049-ACB8-DEA5439C85D1}"/>
                </a:ext>
              </a:extLst>
            </p:cNvPr>
            <p:cNvSpPr/>
            <p:nvPr/>
          </p:nvSpPr>
          <p:spPr>
            <a:xfrm>
              <a:off x="1507880" y="2558589"/>
              <a:ext cx="3024554" cy="3094865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0ADC9823-14F3-4FBA-A087-18684E1D0C2B}"/>
                </a:ext>
              </a:extLst>
            </p:cNvPr>
            <p:cNvSpPr txBox="1"/>
            <p:nvPr/>
          </p:nvSpPr>
          <p:spPr>
            <a:xfrm>
              <a:off x="1507561" y="2668506"/>
              <a:ext cx="3024554" cy="3069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ctr">
                <a:buClr>
                  <a:schemeClr val="accent2"/>
                </a:buClr>
                <a:buFont typeface="Arial" panose="020B0604020202020204" pitchFamily="34" charset="0"/>
                <a:buChar char="•"/>
              </a:pPr>
              <a:r>
                <a:rPr lang="es-AR" dirty="0">
                  <a:solidFill>
                    <a:schemeClr val="tx2"/>
                  </a:solidFill>
                </a:rPr>
                <a:t>DEPRECIACION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5E3716BD-7044-4D05-92A6-BD8101E55862}"/>
                </a:ext>
              </a:extLst>
            </p:cNvPr>
            <p:cNvSpPr txBox="1"/>
            <p:nvPr/>
          </p:nvSpPr>
          <p:spPr>
            <a:xfrm>
              <a:off x="1507880" y="3416656"/>
              <a:ext cx="3040059" cy="3069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ctr">
                <a:buClr>
                  <a:schemeClr val="accent2"/>
                </a:buClr>
                <a:buFont typeface="Arial" panose="020B0604020202020204" pitchFamily="34" charset="0"/>
                <a:buChar char="•"/>
              </a:pPr>
              <a:r>
                <a:rPr lang="es-AR" dirty="0">
                  <a:solidFill>
                    <a:schemeClr val="tx2"/>
                  </a:solidFill>
                </a:rPr>
                <a:t>CAPITAL FIJO</a:t>
              </a: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8C179CB4-A215-4110-A192-A1033C2D8A42}"/>
                </a:ext>
              </a:extLst>
            </p:cNvPr>
            <p:cNvSpPr txBox="1"/>
            <p:nvPr/>
          </p:nvSpPr>
          <p:spPr>
            <a:xfrm>
              <a:off x="1507561" y="4891512"/>
              <a:ext cx="3049492" cy="3069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Clr>
                  <a:schemeClr val="accent2"/>
                </a:buClr>
                <a:buFont typeface="Arial" panose="020B0604020202020204" pitchFamily="34" charset="0"/>
                <a:buChar char="•"/>
              </a:pPr>
              <a:r>
                <a:rPr lang="es-AR" dirty="0">
                  <a:solidFill>
                    <a:schemeClr val="tx2"/>
                  </a:solidFill>
                </a:rPr>
                <a:t>CAPITAL CIRCULANTE</a:t>
              </a: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66D142A8-6052-41F6-8A2E-4E476FE3A1E9}"/>
              </a:ext>
            </a:extLst>
          </p:cNvPr>
          <p:cNvGrpSpPr/>
          <p:nvPr/>
        </p:nvGrpSpPr>
        <p:grpSpPr>
          <a:xfrm>
            <a:off x="8227549" y="2597180"/>
            <a:ext cx="2943836" cy="3724076"/>
            <a:chOff x="1507880" y="2563723"/>
            <a:chExt cx="3047619" cy="3094865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879566BA-98C6-47BB-88D8-ECD452ACBD3E}"/>
                </a:ext>
              </a:extLst>
            </p:cNvPr>
            <p:cNvSpPr/>
            <p:nvPr/>
          </p:nvSpPr>
          <p:spPr>
            <a:xfrm>
              <a:off x="1507880" y="2563723"/>
              <a:ext cx="3024554" cy="3094865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F2900CAE-7715-41E4-B19B-AE8677972FBA}"/>
                </a:ext>
              </a:extLst>
            </p:cNvPr>
            <p:cNvSpPr txBox="1"/>
            <p:nvPr/>
          </p:nvSpPr>
          <p:spPr>
            <a:xfrm>
              <a:off x="1507880" y="3416656"/>
              <a:ext cx="3023389" cy="306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ctr">
                <a:buClr>
                  <a:schemeClr val="accent2"/>
                </a:buClr>
                <a:buFont typeface="Arial" panose="020B0604020202020204" pitchFamily="34" charset="0"/>
                <a:buChar char="•"/>
              </a:pPr>
              <a:r>
                <a:rPr lang="es-AR" dirty="0">
                  <a:solidFill>
                    <a:schemeClr val="tx2"/>
                  </a:solidFill>
                </a:rPr>
                <a:t>CAPITAL FIJO</a:t>
              </a: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FF99549A-03FD-4AFF-AD67-15053EEE76B6}"/>
                </a:ext>
              </a:extLst>
            </p:cNvPr>
            <p:cNvSpPr txBox="1"/>
            <p:nvPr/>
          </p:nvSpPr>
          <p:spPr>
            <a:xfrm>
              <a:off x="1507880" y="4874817"/>
              <a:ext cx="3047619" cy="306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Clr>
                  <a:schemeClr val="accent2"/>
                </a:buClr>
                <a:buFont typeface="Arial" panose="020B0604020202020204" pitchFamily="34" charset="0"/>
                <a:buChar char="•"/>
              </a:pPr>
              <a:r>
                <a:rPr lang="es-AR" dirty="0">
                  <a:solidFill>
                    <a:schemeClr val="tx2"/>
                  </a:solidFill>
                </a:rPr>
                <a:t>CAPITAL CIRCULANTE</a:t>
              </a:r>
            </a:p>
          </p:txBody>
        </p:sp>
      </p:grp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43DD2139-505F-442F-ACB3-F37FA9C7B5E2}"/>
              </a:ext>
            </a:extLst>
          </p:cNvPr>
          <p:cNvCxnSpPr>
            <a:cxnSpLocks/>
          </p:cNvCxnSpPr>
          <p:nvPr/>
        </p:nvCxnSpPr>
        <p:spPr>
          <a:xfrm>
            <a:off x="4732797" y="3096628"/>
            <a:ext cx="2919762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449204DC-9D52-47F1-8851-D55A5A588A78}"/>
              </a:ext>
            </a:extLst>
          </p:cNvPr>
          <p:cNvCxnSpPr>
            <a:cxnSpLocks/>
          </p:cNvCxnSpPr>
          <p:nvPr/>
        </p:nvCxnSpPr>
        <p:spPr>
          <a:xfrm>
            <a:off x="8260027" y="4541498"/>
            <a:ext cx="2887953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10F07FE5-0DBA-4189-8109-202401D56848}"/>
              </a:ext>
            </a:extLst>
          </p:cNvPr>
          <p:cNvCxnSpPr>
            <a:cxnSpLocks/>
          </p:cNvCxnSpPr>
          <p:nvPr/>
        </p:nvCxnSpPr>
        <p:spPr>
          <a:xfrm>
            <a:off x="8227548" y="5001043"/>
            <a:ext cx="2920432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35FB1ACF-C1F7-41C3-AE83-34FB9FA5A6BB}"/>
              </a:ext>
            </a:extLst>
          </p:cNvPr>
          <p:cNvCxnSpPr>
            <a:cxnSpLocks/>
          </p:cNvCxnSpPr>
          <p:nvPr/>
        </p:nvCxnSpPr>
        <p:spPr>
          <a:xfrm>
            <a:off x="4732797" y="5001830"/>
            <a:ext cx="2919762" cy="2701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D675BDDB-E3EF-43C2-BC33-389920C8320F}"/>
              </a:ext>
            </a:extLst>
          </p:cNvPr>
          <p:cNvCxnSpPr>
            <a:cxnSpLocks/>
          </p:cNvCxnSpPr>
          <p:nvPr/>
        </p:nvCxnSpPr>
        <p:spPr>
          <a:xfrm>
            <a:off x="1208867" y="5028994"/>
            <a:ext cx="2908538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04650A4-39BF-484C-B7FD-78874A05B825}"/>
              </a:ext>
            </a:extLst>
          </p:cNvPr>
          <p:cNvSpPr txBox="1"/>
          <p:nvPr/>
        </p:nvSpPr>
        <p:spPr>
          <a:xfrm>
            <a:off x="8394932" y="4659516"/>
            <a:ext cx="2825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tx2"/>
                </a:solidFill>
              </a:rPr>
              <a:t>AMORTIZACION</a:t>
            </a:r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242E0DFD-02B4-41F8-B254-634BE6638092}"/>
              </a:ext>
            </a:extLst>
          </p:cNvPr>
          <p:cNvCxnSpPr/>
          <p:nvPr/>
        </p:nvCxnSpPr>
        <p:spPr>
          <a:xfrm>
            <a:off x="7517521" y="2607345"/>
            <a:ext cx="0" cy="48928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B85953F1-CD1A-426E-B752-B23DC46A7A04}"/>
              </a:ext>
            </a:extLst>
          </p:cNvPr>
          <p:cNvCxnSpPr/>
          <p:nvPr/>
        </p:nvCxnSpPr>
        <p:spPr>
          <a:xfrm flipV="1">
            <a:off x="10921840" y="4541498"/>
            <a:ext cx="0" cy="459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146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4">
            <a:extLst>
              <a:ext uri="{FF2B5EF4-FFF2-40B4-BE49-F238E27FC236}">
                <a16:creationId xmlns:a16="http://schemas.microsoft.com/office/drawing/2014/main" id="{C8453023-E3BD-4CF4-A246-49E692E96BBC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592388" y="623888"/>
            <a:ext cx="891222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s-MX" altLang="es-AR" sz="3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  <a:t>DEPRECIACIÓN DEL CAPITAL FIJO</a:t>
            </a:r>
          </a:p>
        </p:txBody>
      </p:sp>
      <p:sp>
        <p:nvSpPr>
          <p:cNvPr id="5" name="Rectangle 35">
            <a:extLst>
              <a:ext uri="{FF2B5EF4-FFF2-40B4-BE49-F238E27FC236}">
                <a16:creationId xmlns:a16="http://schemas.microsoft.com/office/drawing/2014/main" id="{4C111F91-FE1D-441B-9EA9-C8C969600B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89213" y="2133600"/>
            <a:ext cx="8915400" cy="377825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algn="just" eaLnBrk="1" hangingPunct="1">
              <a:buFontTx/>
              <a:buNone/>
              <a:defRPr/>
            </a:pPr>
            <a:r>
              <a:rPr lang="es-AR" altLang="es-AR" sz="2400" dirty="0"/>
              <a:t>El Capital Fijo es el conjunto de bienes que se aplican reiteradamente al proceso productivo; por lo tanto es estático, de lenta recuperación.</a:t>
            </a:r>
          </a:p>
          <a:p>
            <a:pPr marL="0" indent="0" algn="just" eaLnBrk="1" hangingPunct="1">
              <a:buFontTx/>
              <a:buNone/>
              <a:defRPr/>
            </a:pPr>
            <a:r>
              <a:rPr lang="es-AR" altLang="es-AR" sz="2400" u="sng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La depreciación es la pérdida de valor del capital fijo a través del tiempo</a:t>
            </a:r>
            <a:r>
              <a:rPr lang="es-AR" altLang="es-AR" sz="2400" dirty="0"/>
              <a:t>.</a:t>
            </a:r>
          </a:p>
          <a:p>
            <a:pPr marL="0" indent="0" eaLnBrk="1" hangingPunct="1">
              <a:defRPr/>
            </a:pPr>
            <a:endParaRPr lang="es-AR" altLang="es-AR" dirty="0"/>
          </a:p>
          <a:p>
            <a:pPr marL="0" indent="0" eaLnBrk="1" hangingPunct="1">
              <a:buFontTx/>
              <a:buNone/>
              <a:defRPr/>
            </a:pPr>
            <a:endParaRPr lang="es-AR" altLang="es-AR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AEFFEC-1049-4CFF-86A8-4D7EEF6C2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8508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4">
            <a:extLst>
              <a:ext uri="{FF2B5EF4-FFF2-40B4-BE49-F238E27FC236}">
                <a16:creationId xmlns:a16="http://schemas.microsoft.com/office/drawing/2014/main" id="{D92DDA5D-C23D-45FE-AFC8-67E1BBB5EF9B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592388" y="623888"/>
            <a:ext cx="891222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s-MX" altLang="es-AR" sz="3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  <a:t>AMORTIZACIÓN DEL CAPITAL FIJO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05BD4047-6581-426B-B5E9-55DE387534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89213" y="2133600"/>
            <a:ext cx="8915400" cy="3778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 algn="just" eaLnBrk="1" hangingPunct="1">
              <a:buFontTx/>
              <a:buNone/>
            </a:pPr>
            <a:r>
              <a:rPr lang="es-AR" altLang="es-AR" sz="2000" dirty="0"/>
              <a:t>Representa la pérdida de valor que sufren los bienes de uso debido a su deterioro, desgaste, obsolescencia, desmejoramiento, insuficiencia, etc. </a:t>
            </a:r>
          </a:p>
          <a:p>
            <a:pPr marL="0" indent="0" algn="just">
              <a:buNone/>
            </a:pPr>
            <a:r>
              <a:rPr lang="es-AR" sz="2000" dirty="0"/>
              <a:t>La </a:t>
            </a:r>
            <a:r>
              <a:rPr lang="es-AR" sz="2000" b="1" dirty="0"/>
              <a:t>amortización</a:t>
            </a:r>
            <a:r>
              <a:rPr lang="es-AR" sz="2000" dirty="0"/>
              <a:t>, consiste en descontar de la ganancia una cantidad para prever el reemplazo del bien</a:t>
            </a:r>
            <a:endParaRPr lang="es-AR" sz="2000" b="1" dirty="0"/>
          </a:p>
          <a:p>
            <a:pPr marL="0" indent="0" algn="just">
              <a:buNone/>
            </a:pPr>
            <a:r>
              <a:rPr lang="es-AR" altLang="es-AR" sz="2000" dirty="0"/>
              <a:t>Responde a dos propósitos:</a:t>
            </a:r>
          </a:p>
          <a:p>
            <a:pPr algn="just"/>
            <a:r>
              <a:rPr lang="es-AR" altLang="es-AR" sz="2000" dirty="0"/>
              <a:t> Cargar a resultados la depreciación que ha sufrido el bien.</a:t>
            </a:r>
          </a:p>
          <a:p>
            <a:pPr algn="just"/>
            <a:r>
              <a:rPr lang="es-AR" altLang="es-AR" sz="2000" dirty="0"/>
              <a:t> Adecuación del valor residual del bien en un determinado momento de su vida útil.</a:t>
            </a:r>
          </a:p>
          <a:p>
            <a:pPr marL="0" indent="0" algn="just">
              <a:buNone/>
            </a:pPr>
            <a:endParaRPr lang="es-AR" altLang="es-AR" dirty="0"/>
          </a:p>
          <a:p>
            <a:pPr marL="0" indent="0" algn="just" eaLnBrk="1" hangingPunct="1">
              <a:buFontTx/>
              <a:buNone/>
            </a:pPr>
            <a:endParaRPr lang="es-AR" altLang="es-AR" dirty="0"/>
          </a:p>
          <a:p>
            <a:pPr marL="0" indent="0" algn="just" eaLnBrk="1" hangingPunct="1">
              <a:buFontTx/>
              <a:buNone/>
            </a:pPr>
            <a:endParaRPr lang="es-AR" altLang="es-AR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2C7745E-E2D5-4D16-B4ED-978A174F1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457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>
            <a:extLst>
              <a:ext uri="{FF2B5EF4-FFF2-40B4-BE49-F238E27FC236}">
                <a16:creationId xmlns:a16="http://schemas.microsoft.com/office/drawing/2014/main" id="{53C294FF-DAE1-40C5-A8B4-3C3AD89B17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0150" y="185738"/>
            <a:ext cx="9640888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s-MX" altLang="es-AR" sz="3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  <a:t>CRITERIOS DE REEMPLAZO DE UN BIEN DE USO</a:t>
            </a: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2848D1B6-E7DE-44C1-A5D3-F63917494D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349500"/>
            <a:ext cx="1639888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s-AR" altLang="es-AR" sz="2200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FISICOS</a:t>
            </a:r>
            <a:endParaRPr lang="es-ES" altLang="es-AR" sz="2200" u="sng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93047071-4A5F-4DCB-B4FA-DED2E902BA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9238" y="2060575"/>
            <a:ext cx="8259762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AR" altLang="es-AR" sz="2200" u="sng"/>
              <a:t>Desastre / contingencia externa</a:t>
            </a:r>
            <a:r>
              <a:rPr lang="es-AR" altLang="es-AR" sz="2200"/>
              <a:t> (se cubre con seguros)</a:t>
            </a:r>
            <a:endParaRPr lang="es-ES" altLang="es-AR" sz="2200"/>
          </a:p>
        </p:txBody>
      </p:sp>
      <p:sp>
        <p:nvSpPr>
          <p:cNvPr id="7" name="AutoShape 9">
            <a:extLst>
              <a:ext uri="{FF2B5EF4-FFF2-40B4-BE49-F238E27FC236}">
                <a16:creationId xmlns:a16="http://schemas.microsoft.com/office/drawing/2014/main" id="{47076DA8-D5BF-465C-B586-DE15F134D2ED}"/>
              </a:ext>
            </a:extLst>
          </p:cNvPr>
          <p:cNvSpPr>
            <a:spLocks/>
          </p:cNvSpPr>
          <p:nvPr/>
        </p:nvSpPr>
        <p:spPr bwMode="auto">
          <a:xfrm>
            <a:off x="2711450" y="2132014"/>
            <a:ext cx="71438" cy="936625"/>
          </a:xfrm>
          <a:prstGeom prst="leftBrace">
            <a:avLst>
              <a:gd name="adj1" fmla="val 10925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s-AR"/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F15C64F1-4FDE-4944-BE8E-914FB12FB2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9238" y="2636839"/>
            <a:ext cx="8259762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AR" altLang="es-AR" sz="2200" u="sng"/>
              <a:t>Decrepitud ó desgaste</a:t>
            </a:r>
            <a:r>
              <a:rPr lang="es-AR" altLang="es-AR" sz="2200"/>
              <a:t> (el estado del bien hace que ya no sirva)</a:t>
            </a:r>
            <a:endParaRPr lang="es-ES" altLang="es-AR" sz="2200"/>
          </a:p>
        </p:txBody>
      </p:sp>
      <p:sp>
        <p:nvSpPr>
          <p:cNvPr id="9" name="Text Box 11">
            <a:extLst>
              <a:ext uri="{FF2B5EF4-FFF2-40B4-BE49-F238E27FC236}">
                <a16:creationId xmlns:a16="http://schemas.microsoft.com/office/drawing/2014/main" id="{C68587BF-9F4A-4A13-96F9-6099CAC3F5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1413" y="4400550"/>
            <a:ext cx="2232025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s-AR" altLang="es-AR" sz="22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FUNCIONALES</a:t>
            </a:r>
            <a:endParaRPr lang="es-ES" altLang="es-AR" sz="220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0" name="Text Box 12">
            <a:extLst>
              <a:ext uri="{FF2B5EF4-FFF2-40B4-BE49-F238E27FC236}">
                <a16:creationId xmlns:a16="http://schemas.microsoft.com/office/drawing/2014/main" id="{C5463798-962B-47E3-8773-84CCAB136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8200" y="3532186"/>
            <a:ext cx="7612062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AR" altLang="es-AR" sz="2200" u="sng" dirty="0"/>
              <a:t>El bien es antieconómico</a:t>
            </a:r>
            <a:r>
              <a:rPr lang="es-AR" altLang="es-AR" sz="2200" dirty="0"/>
              <a:t> (sus costos de explotación resultan ser superiores al de un bien nuevo)</a:t>
            </a:r>
            <a:endParaRPr lang="es-ES" altLang="es-AR" sz="2200" dirty="0"/>
          </a:p>
        </p:txBody>
      </p:sp>
      <p:sp>
        <p:nvSpPr>
          <p:cNvPr id="11" name="AutoShape 13">
            <a:extLst>
              <a:ext uri="{FF2B5EF4-FFF2-40B4-BE49-F238E27FC236}">
                <a16:creationId xmlns:a16="http://schemas.microsoft.com/office/drawing/2014/main" id="{BD11C398-417A-42A3-AF76-A810A73BE759}"/>
              </a:ext>
            </a:extLst>
          </p:cNvPr>
          <p:cNvSpPr>
            <a:spLocks/>
          </p:cNvSpPr>
          <p:nvPr/>
        </p:nvSpPr>
        <p:spPr bwMode="auto">
          <a:xfrm>
            <a:off x="3301999" y="3639344"/>
            <a:ext cx="73025" cy="2016125"/>
          </a:xfrm>
          <a:prstGeom prst="leftBrace">
            <a:avLst>
              <a:gd name="adj1" fmla="val 23007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s-AR"/>
          </a:p>
        </p:txBody>
      </p:sp>
      <p:sp>
        <p:nvSpPr>
          <p:cNvPr id="12" name="Text Box 14">
            <a:extLst>
              <a:ext uri="{FF2B5EF4-FFF2-40B4-BE49-F238E27FC236}">
                <a16:creationId xmlns:a16="http://schemas.microsoft.com/office/drawing/2014/main" id="{1C829310-6FDA-4987-A283-B1E1C871E5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9788" y="5187950"/>
            <a:ext cx="7610475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AR" altLang="es-AR" sz="2200" u="sng" dirty="0"/>
              <a:t>El bien es obsoleto</a:t>
            </a:r>
            <a:r>
              <a:rPr lang="es-AR" altLang="es-AR" sz="2200" dirty="0"/>
              <a:t> (se reemplaza por otra tecnología)</a:t>
            </a:r>
            <a:endParaRPr lang="es-ES" altLang="es-AR" sz="2200" dirty="0"/>
          </a:p>
        </p:txBody>
      </p:sp>
      <p:sp>
        <p:nvSpPr>
          <p:cNvPr id="13" name="Text Box 15">
            <a:extLst>
              <a:ext uri="{FF2B5EF4-FFF2-40B4-BE49-F238E27FC236}">
                <a16:creationId xmlns:a16="http://schemas.microsoft.com/office/drawing/2014/main" id="{24007A94-1614-43F2-A0BC-800FE2F40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3438" y="4324349"/>
            <a:ext cx="761682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AR" altLang="es-AR" sz="2200" u="sng" dirty="0"/>
              <a:t>El bien es inadecuado</a:t>
            </a:r>
            <a:r>
              <a:rPr lang="es-AR" altLang="es-AR" sz="2200" dirty="0"/>
              <a:t> (no es versátil, sus condiciones de operación no se adaptan a las necesidades actuales)</a:t>
            </a:r>
            <a:endParaRPr lang="es-ES" altLang="es-AR" sz="2200" dirty="0"/>
          </a:p>
        </p:txBody>
      </p:sp>
      <p:sp>
        <p:nvSpPr>
          <p:cNvPr id="14" name="Rectangle 21">
            <a:extLst>
              <a:ext uri="{FF2B5EF4-FFF2-40B4-BE49-F238E27FC236}">
                <a16:creationId xmlns:a16="http://schemas.microsoft.com/office/drawing/2014/main" id="{0196895F-6878-4536-91A9-866E3E950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196976"/>
            <a:ext cx="9906000" cy="792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8675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6663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465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lang="es-AR" altLang="es-AR" sz="2400" dirty="0"/>
              <a:t>Los factores que intervienen en el criterio de determinación de la vida útil de un bien para proceder luego su posible reemplazo pueden ser:</a:t>
            </a:r>
          </a:p>
          <a:p>
            <a:pPr eaLnBrk="1" hangingPunct="1">
              <a:spcBef>
                <a:spcPct val="20000"/>
              </a:spcBef>
            </a:pPr>
            <a:endParaRPr lang="es-AR" altLang="es-AR" sz="2400" dirty="0"/>
          </a:p>
        </p:txBody>
      </p:sp>
      <p:sp>
        <p:nvSpPr>
          <p:cNvPr id="15" name="Rectangle 24">
            <a:extLst>
              <a:ext uri="{FF2B5EF4-FFF2-40B4-BE49-F238E27FC236}">
                <a16:creationId xmlns:a16="http://schemas.microsoft.com/office/drawing/2014/main" id="{D7DC90C0-96FC-481B-BC10-58754CC01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3" y="5373688"/>
            <a:ext cx="9906001" cy="792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828675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236663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4465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buFontTx/>
              <a:buNone/>
              <a:defRPr/>
            </a:pPr>
            <a:endParaRPr lang="es-AR" altLang="es-AR" sz="24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7" name="Text Box 7">
            <a:extLst>
              <a:ext uri="{FF2B5EF4-FFF2-40B4-BE49-F238E27FC236}">
                <a16:creationId xmlns:a16="http://schemas.microsoft.com/office/drawing/2014/main" id="{6208BCD7-D753-44EE-A9EE-01DD2C20B8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349498"/>
            <a:ext cx="1639888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s-AR" altLang="es-AR" sz="2200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FISICOS</a:t>
            </a:r>
            <a:endParaRPr lang="es-ES" altLang="es-AR" sz="2200" u="sng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8" name="Rectangle 21">
            <a:extLst>
              <a:ext uri="{FF2B5EF4-FFF2-40B4-BE49-F238E27FC236}">
                <a16:creationId xmlns:a16="http://schemas.microsoft.com/office/drawing/2014/main" id="{D61EB24B-1788-4FBE-85C6-41670D08C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196974"/>
            <a:ext cx="9906000" cy="792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8675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6663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465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lang="es-AR" altLang="es-AR" sz="2400" dirty="0"/>
              <a:t>Los factores que intervienen en el criterio de determinación de la vida útil de un bien para proceder luego su posible reemplazo pueden ser:</a:t>
            </a:r>
          </a:p>
          <a:p>
            <a:pPr algn="just" eaLnBrk="1" hangingPunct="1">
              <a:spcBef>
                <a:spcPct val="20000"/>
              </a:spcBef>
            </a:pPr>
            <a:endParaRPr lang="es-AR" altLang="es-AR" sz="2400" dirty="0"/>
          </a:p>
          <a:p>
            <a:pPr algn="just" eaLnBrk="1" hangingPunct="1">
              <a:spcBef>
                <a:spcPct val="20000"/>
              </a:spcBef>
            </a:pPr>
            <a:endParaRPr lang="es-AR" altLang="es-AR" sz="2400" dirty="0"/>
          </a:p>
          <a:p>
            <a:pPr algn="just" eaLnBrk="1" hangingPunct="1">
              <a:spcBef>
                <a:spcPct val="20000"/>
              </a:spcBef>
            </a:pPr>
            <a:endParaRPr lang="es-AR" altLang="es-AR" sz="2400" dirty="0"/>
          </a:p>
          <a:p>
            <a:pPr algn="just" eaLnBrk="1" hangingPunct="1">
              <a:spcBef>
                <a:spcPct val="20000"/>
              </a:spcBef>
            </a:pPr>
            <a:endParaRPr lang="es-AR" altLang="es-AR" sz="2400" dirty="0"/>
          </a:p>
          <a:p>
            <a:pPr algn="just" eaLnBrk="1" hangingPunct="1">
              <a:spcBef>
                <a:spcPct val="20000"/>
              </a:spcBef>
            </a:pPr>
            <a:r>
              <a:rPr lang="es-AR" altLang="es-AR" sz="2400" dirty="0"/>
              <a:t>		</a:t>
            </a:r>
          </a:p>
          <a:p>
            <a:pPr algn="just" eaLnBrk="1" hangingPunct="1">
              <a:spcBef>
                <a:spcPct val="20000"/>
              </a:spcBef>
            </a:pPr>
            <a:endParaRPr lang="es-AR" altLang="es-AR" sz="2400" dirty="0"/>
          </a:p>
          <a:p>
            <a:pPr algn="just" eaLnBrk="1" hangingPunct="1">
              <a:spcBef>
                <a:spcPct val="20000"/>
              </a:spcBef>
            </a:pPr>
            <a:endParaRPr lang="es-AR" altLang="es-AR" sz="2400" dirty="0"/>
          </a:p>
          <a:p>
            <a:pPr eaLnBrk="1" hangingPunct="1">
              <a:spcBef>
                <a:spcPct val="20000"/>
              </a:spcBef>
            </a:pPr>
            <a:endParaRPr lang="es-AR" altLang="es-AR" sz="2400" dirty="0"/>
          </a:p>
          <a:p>
            <a:pPr eaLnBrk="1" hangingPunct="1">
              <a:spcBef>
                <a:spcPct val="20000"/>
              </a:spcBef>
            </a:pPr>
            <a:endParaRPr lang="es-AR" altLang="es-AR" sz="2400" dirty="0"/>
          </a:p>
        </p:txBody>
      </p:sp>
      <p:sp>
        <p:nvSpPr>
          <p:cNvPr id="19" name="Marcador de número de diapositiva 18">
            <a:extLst>
              <a:ext uri="{FF2B5EF4-FFF2-40B4-BE49-F238E27FC236}">
                <a16:creationId xmlns:a16="http://schemas.microsoft.com/office/drawing/2014/main" id="{EC67D539-6D9F-4D6A-B276-F098D2B88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/>
      <p:bldP spid="9" grpId="0"/>
      <p:bldP spid="10" grpId="0"/>
      <p:bldP spid="11" grpId="0" animBg="1"/>
      <p:bldP spid="12" grpId="0"/>
      <p:bldP spid="13" grpId="0"/>
      <p:bldP spid="14" grpId="0"/>
      <p:bldP spid="15" grpId="0"/>
      <p:bldP spid="17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Text Box 4">
            <a:extLst>
              <a:ext uri="{FF2B5EF4-FFF2-40B4-BE49-F238E27FC236}">
                <a16:creationId xmlns:a16="http://schemas.microsoft.com/office/drawing/2014/main" id="{96F167F8-048A-4EC3-BF69-8225242F8D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7476" y="185738"/>
            <a:ext cx="75168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s-MX" altLang="es-AR" sz="3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  <a:t>VIDA UTIL DE UN BIEN DE USO</a:t>
            </a:r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DBAFD284-19D9-46E7-8C11-B70604984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5204" y="1014810"/>
            <a:ext cx="9806610" cy="1538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8675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6663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465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lang="es-AR" altLang="es-AR" sz="3000" b="1" dirty="0"/>
              <a:t>Vida útil tecnológica</a:t>
            </a:r>
            <a:r>
              <a:rPr lang="es-AR" altLang="es-AR" sz="3000" dirty="0"/>
              <a:t>: </a:t>
            </a:r>
          </a:p>
          <a:p>
            <a:pPr marL="457200" indent="-457200" algn="just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s-AR" altLang="es-AR" sz="2400" dirty="0"/>
              <a:t>es la que podría alcanzar el bien hasta la pérdida de su utilidad técnica.</a:t>
            </a:r>
          </a:p>
          <a:p>
            <a:pPr eaLnBrk="1" hangingPunct="1">
              <a:spcBef>
                <a:spcPct val="20000"/>
              </a:spcBef>
            </a:pPr>
            <a:endParaRPr lang="es-AR" altLang="es-AR" sz="3000" dirty="0"/>
          </a:p>
          <a:p>
            <a:pPr eaLnBrk="1" hangingPunct="1">
              <a:spcBef>
                <a:spcPct val="20000"/>
              </a:spcBef>
            </a:pPr>
            <a:endParaRPr lang="es-AR" altLang="es-AR" sz="3000" dirty="0"/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6F5D05C9-0CC6-4A9E-948B-FEB5A08B9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7476" y="3599655"/>
            <a:ext cx="9705975" cy="185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8675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6663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465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lang="es-AR" altLang="es-AR" sz="3000" b="1" dirty="0"/>
              <a:t>Vida útil económica</a:t>
            </a:r>
            <a:r>
              <a:rPr lang="es-AR" altLang="es-AR" sz="3000" dirty="0"/>
              <a:t>: </a:t>
            </a:r>
          </a:p>
          <a:p>
            <a:pPr marL="342900" indent="-342900" algn="just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s-AR" altLang="es-AR" sz="2400" dirty="0"/>
              <a:t>es aquella en el cual el costo de mantenimiento para la empresa, continuando con el mismo bien, deja de ser menor que reemplazándolo por otro nuevo. </a:t>
            </a:r>
          </a:p>
          <a:p>
            <a:pPr eaLnBrk="1" hangingPunct="1">
              <a:spcBef>
                <a:spcPct val="20000"/>
              </a:spcBef>
            </a:pPr>
            <a:endParaRPr lang="es-AR" altLang="es-AR" sz="3000" dirty="0"/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6F89FD66-A8E0-44A4-8BDB-5C9FE15C5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7476" y="2518568"/>
            <a:ext cx="9705975" cy="1081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8675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6663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465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algn="just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s-AR" altLang="es-AR" sz="2400" dirty="0"/>
              <a:t>Sobreviene por el desgaste, deterioro o destrucción del bien a lo largo del tiempo y del uso.</a:t>
            </a:r>
          </a:p>
          <a:p>
            <a:pPr eaLnBrk="1" hangingPunct="1">
              <a:spcBef>
                <a:spcPct val="20000"/>
              </a:spcBef>
            </a:pPr>
            <a:endParaRPr lang="es-AR" altLang="es-AR" sz="3000" dirty="0"/>
          </a:p>
        </p:txBody>
      </p:sp>
      <p:sp>
        <p:nvSpPr>
          <p:cNvPr id="7176" name="Text Box 8">
            <a:extLst>
              <a:ext uri="{FF2B5EF4-FFF2-40B4-BE49-F238E27FC236}">
                <a16:creationId xmlns:a16="http://schemas.microsoft.com/office/drawing/2014/main" id="{E8092BDF-F68A-4543-9730-AF287EF249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5521" y="5296907"/>
            <a:ext cx="97059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 algn="just" ea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s-AR" altLang="es-AR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El  reemplazo de los bienes sobreviene en mayor proporción por la obsolescencia e insuficiencia que por razones de desaparición de su capacidad productiva ocasionada por el desgaste o deterioro.</a:t>
            </a:r>
            <a:endParaRPr lang="es-ES" altLang="es-AR" sz="240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4FDBDE89-7C26-4EE4-BAE3-B18C8B3B0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3" grpId="0"/>
      <p:bldP spid="7174" grpId="0"/>
      <p:bldP spid="7175" grpId="0"/>
      <p:bldP spid="717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>
            <a:extLst>
              <a:ext uri="{FF2B5EF4-FFF2-40B4-BE49-F238E27FC236}">
                <a16:creationId xmlns:a16="http://schemas.microsoft.com/office/drawing/2014/main" id="{FD39DFF8-6863-4632-A30F-F2729685C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0151" y="185738"/>
            <a:ext cx="85963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s-MX" altLang="es-AR" sz="3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  <a:t>VALOR DE ORIGEN DE UN BIEN DE USO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EA0F632-A380-44B0-B39C-C1B4C8C05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992" y="1195388"/>
            <a:ext cx="9702008" cy="1411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8675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6663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465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lang="es-AR" altLang="es-AR" sz="2800" b="1" dirty="0"/>
              <a:t>Valor inicial o activable</a:t>
            </a:r>
            <a:r>
              <a:rPr lang="es-AR" altLang="es-AR" sz="2800" dirty="0"/>
              <a:t>:</a:t>
            </a:r>
          </a:p>
          <a:p>
            <a:pPr marL="342900" indent="-342900" algn="just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s-AR" altLang="es-AR" sz="2400" dirty="0"/>
              <a:t>representa el costo total de adquisición, construcción o fabricación hasta la puesta en marcha normal</a:t>
            </a:r>
          </a:p>
          <a:p>
            <a:pPr algn="just" eaLnBrk="1" hangingPunct="1">
              <a:spcBef>
                <a:spcPct val="20000"/>
              </a:spcBef>
            </a:pPr>
            <a:r>
              <a:rPr lang="es-AR" altLang="es-AR" sz="2400" dirty="0"/>
              <a:t> </a:t>
            </a:r>
          </a:p>
          <a:p>
            <a:pPr algn="just" eaLnBrk="1" hangingPunct="1">
              <a:spcBef>
                <a:spcPct val="20000"/>
              </a:spcBef>
            </a:pPr>
            <a:r>
              <a:rPr lang="es-AR" altLang="es-AR" sz="2800" dirty="0"/>
              <a:t>Como por ejemplo:</a:t>
            </a:r>
          </a:p>
          <a:p>
            <a:pPr eaLnBrk="1" hangingPunct="1">
              <a:spcBef>
                <a:spcPct val="20000"/>
              </a:spcBef>
            </a:pPr>
            <a:endParaRPr lang="es-AR" altLang="es-AR" sz="2800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9ED1DE3-A9C5-428F-8B7F-DA44203FF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993" y="3762514"/>
            <a:ext cx="9498013" cy="57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61938" indent="-261938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8675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6663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465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s-AR" altLang="es-AR" sz="2800" dirty="0"/>
              <a:t> </a:t>
            </a:r>
            <a:r>
              <a:rPr lang="es-AR" altLang="es-AR" sz="2400" dirty="0"/>
              <a:t>Valor de adquisición (</a:t>
            </a:r>
            <a:r>
              <a:rPr lang="es-AR" altLang="es-AR" sz="2400" u="sng" dirty="0"/>
              <a:t>sin IVA ni gastos financieros</a:t>
            </a:r>
            <a:r>
              <a:rPr lang="es-AR" altLang="es-AR" sz="2400" dirty="0"/>
              <a:t>).</a:t>
            </a:r>
          </a:p>
          <a:p>
            <a:pPr eaLnBrk="1" hangingPunct="1">
              <a:spcBef>
                <a:spcPct val="20000"/>
              </a:spcBef>
            </a:pPr>
            <a:endParaRPr lang="es-AR" altLang="es-AR" sz="2800" dirty="0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50437322-3CDE-41A8-9B01-30667BB57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992" y="4629289"/>
            <a:ext cx="9145588" cy="57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61938" indent="-261938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8675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6663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465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s-AR" altLang="es-AR" sz="2800" dirty="0"/>
              <a:t> </a:t>
            </a:r>
            <a:r>
              <a:rPr lang="es-AR" altLang="es-AR" sz="2400" dirty="0"/>
              <a:t>Gastos de montaje e instalación.</a:t>
            </a:r>
          </a:p>
          <a:p>
            <a:pPr eaLnBrk="1" hangingPunct="1">
              <a:spcBef>
                <a:spcPct val="20000"/>
              </a:spcBef>
            </a:pPr>
            <a:endParaRPr lang="es-AR" altLang="es-AR" sz="2800" dirty="0"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32C1F495-0C14-41CA-99E5-16A49AF29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992" y="4195902"/>
            <a:ext cx="9145588" cy="573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61938" indent="-261938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8675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6663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465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s-AR" altLang="es-AR" sz="2800" dirty="0"/>
              <a:t> </a:t>
            </a:r>
            <a:r>
              <a:rPr lang="es-AR" altLang="es-AR" sz="2400" dirty="0"/>
              <a:t>Gastos de flete y seguros.</a:t>
            </a:r>
          </a:p>
          <a:p>
            <a:pPr eaLnBrk="1" hangingPunct="1">
              <a:spcBef>
                <a:spcPct val="20000"/>
              </a:spcBef>
            </a:pPr>
            <a:endParaRPr lang="es-AR" altLang="es-AR" sz="2800" dirty="0"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97D3CAE6-D2D0-4A3D-B4E9-142C1577E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992" y="5059502"/>
            <a:ext cx="9145588" cy="57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61938" indent="-261938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8675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6663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465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s-AR" altLang="es-AR" sz="2800" dirty="0"/>
              <a:t> </a:t>
            </a:r>
            <a:r>
              <a:rPr lang="es-AR" altLang="es-AR" sz="2400" dirty="0"/>
              <a:t>Gastos legales y de gestiones administrativas.</a:t>
            </a:r>
          </a:p>
          <a:p>
            <a:pPr eaLnBrk="1" hangingPunct="1">
              <a:spcBef>
                <a:spcPct val="20000"/>
              </a:spcBef>
            </a:pPr>
            <a:endParaRPr lang="es-AR" altLang="es-AR" sz="2800" dirty="0"/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8DE04BD0-2849-45FB-9813-BB9899741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992" y="5492889"/>
            <a:ext cx="9145588" cy="57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61938" indent="-261938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8675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6663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465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s-AR" altLang="es-AR" sz="2800" dirty="0"/>
              <a:t> </a:t>
            </a:r>
            <a:r>
              <a:rPr lang="es-AR" altLang="es-AR" sz="2400" dirty="0"/>
              <a:t>Ingeniería de Proyecto, Diseño, detalle y obra.</a:t>
            </a:r>
          </a:p>
          <a:p>
            <a:pPr eaLnBrk="1" hangingPunct="1">
              <a:spcBef>
                <a:spcPct val="20000"/>
              </a:spcBef>
            </a:pPr>
            <a:endParaRPr lang="es-AR" altLang="es-AR" sz="2800" dirty="0"/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9C24FC1D-F2BD-4408-B33A-482F70671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992" y="5923102"/>
            <a:ext cx="9145588" cy="57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61938" indent="-261938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8675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6663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465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s-AR" altLang="es-AR" sz="2800" dirty="0"/>
              <a:t> </a:t>
            </a:r>
            <a:r>
              <a:rPr lang="es-AR" altLang="es-AR" sz="2400" dirty="0"/>
              <a:t>Capacitación y entrenamiento inicial</a:t>
            </a:r>
            <a:r>
              <a:rPr lang="es-AR" altLang="es-AR" sz="2800" dirty="0"/>
              <a:t>.</a:t>
            </a:r>
          </a:p>
          <a:p>
            <a:pPr eaLnBrk="1" hangingPunct="1">
              <a:spcBef>
                <a:spcPct val="20000"/>
              </a:spcBef>
            </a:pPr>
            <a:endParaRPr lang="es-AR" altLang="es-AR" sz="2800" dirty="0"/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F98416DD-4999-4CAE-B1B1-DC14D384B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9058" y="6356489"/>
            <a:ext cx="9561513" cy="57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61938" indent="-261938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8675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6663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465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s-AR" altLang="es-AR" sz="2800" dirty="0"/>
              <a:t> </a:t>
            </a:r>
            <a:r>
              <a:rPr lang="es-AR" altLang="es-AR" sz="2400" dirty="0"/>
              <a:t>Gastos de prueba en vacío y puesta en marcha, etc.</a:t>
            </a:r>
          </a:p>
          <a:p>
            <a:pPr eaLnBrk="1" hangingPunct="1">
              <a:spcBef>
                <a:spcPct val="20000"/>
              </a:spcBef>
            </a:pPr>
            <a:endParaRPr lang="es-AR" altLang="es-AR" sz="2800"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9AA72E8-45DC-4B2B-8FBE-D26F3A367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0CC368-AE20-43E7-8261-106F1C1CA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770" y="444409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es-MX" altLang="es-AR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  <a:t>VALOR DE RECUPERO DE UN BIEN DE USO</a:t>
            </a:r>
            <a:br>
              <a:rPr lang="es-MX" altLang="es-AR" i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</a:br>
            <a:endParaRPr lang="es-AR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9104F66-0AC5-46B0-8F35-6874A4AEE6C1}"/>
              </a:ext>
            </a:extLst>
          </p:cNvPr>
          <p:cNvSpPr txBox="1"/>
          <p:nvPr/>
        </p:nvSpPr>
        <p:spPr>
          <a:xfrm>
            <a:off x="1179961" y="1394715"/>
            <a:ext cx="9263269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altLang="es-A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altLang="es-AR" sz="2400" b="1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s-AR" altLang="es-AR" sz="2800" b="1" dirty="0">
                <a:latin typeface="Arial" panose="020B0604020202020204" pitchFamily="34" charset="0"/>
                <a:cs typeface="Arial" panose="020B0604020202020204" pitchFamily="34" charset="0"/>
              </a:rPr>
              <a:t>alor final </a:t>
            </a:r>
            <a:r>
              <a:rPr lang="es-AR" altLang="es-A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ó</a:t>
            </a:r>
            <a:r>
              <a:rPr lang="es-AR" altLang="es-AR" sz="2800" b="1" dirty="0">
                <a:latin typeface="Arial" panose="020B0604020202020204" pitchFamily="34" charset="0"/>
                <a:cs typeface="Arial" panose="020B0604020202020204" pitchFamily="34" charset="0"/>
              </a:rPr>
              <a:t> valor de realización</a:t>
            </a:r>
            <a:r>
              <a:rPr lang="es-AR" altLang="es-AR" sz="2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altLang="es-AR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altLang="es-AR" sz="2400" dirty="0">
                <a:latin typeface="Arial" panose="020B0604020202020204" pitchFamily="34" charset="0"/>
                <a:cs typeface="Arial" panose="020B0604020202020204" pitchFamily="34" charset="0"/>
              </a:rPr>
              <a:t>representa el valor estimado que tiene el bien una vez cumplido su ciclo de vida útil.</a:t>
            </a:r>
          </a:p>
          <a:p>
            <a:endParaRPr lang="es-AR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476ED98-C9B0-42B2-95B2-66451C62772F}"/>
              </a:ext>
            </a:extLst>
          </p:cNvPr>
          <p:cNvSpPr/>
          <p:nvPr/>
        </p:nvSpPr>
        <p:spPr>
          <a:xfrm>
            <a:off x="1192696" y="2560314"/>
            <a:ext cx="936148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s-AR" altLang="es-AR" sz="2400" dirty="0">
                <a:latin typeface="Arial" panose="020B0604020202020204" pitchFamily="34" charset="0"/>
                <a:cs typeface="Arial" panose="020B0604020202020204" pitchFamily="34" charset="0"/>
              </a:rPr>
              <a:t>Está formado por un posible “valor de reventa” (real), al que se le deben restar todos aquellos gastos que se produzcan hasta la venta definitiva del bien, como ser: 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59655EE3-02A6-4DEA-88D4-F1770D3DA1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744" y="3767659"/>
            <a:ext cx="9361487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8675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6663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465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s-AR" altLang="es-AR" sz="2400" dirty="0"/>
              <a:t> Gastos de desinstalación</a:t>
            </a: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D0E35834-A1E1-4C90-BFA6-86C9CE821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743" y="4156800"/>
            <a:ext cx="9361487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8675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6663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465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s-AR" altLang="es-AR" sz="2400" dirty="0"/>
              <a:t> Gastos de transporte</a:t>
            </a: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1B5851F0-FD15-48C4-AF20-C5846531A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9" y="4926604"/>
            <a:ext cx="9361487" cy="433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8675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6663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465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s-AR" altLang="es-AR" sz="2400" dirty="0"/>
              <a:t> Gastos de comisión por venta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95C03F3-32D6-419C-9F41-9F3DB6074072}"/>
              </a:ext>
            </a:extLst>
          </p:cNvPr>
          <p:cNvSpPr/>
          <p:nvPr/>
        </p:nvSpPr>
        <p:spPr>
          <a:xfrm>
            <a:off x="1130266" y="4524136"/>
            <a:ext cx="54777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400" dirty="0">
                <a:latin typeface="Arial" panose="020B0604020202020204" pitchFamily="34" charset="0"/>
                <a:cs typeface="Arial" panose="020B0604020202020204" pitchFamily="34" charset="0"/>
              </a:rPr>
              <a:t>Gastos de exposición hasta la venta</a:t>
            </a:r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824BB6AE-9ACD-467C-8315-58BB46BDD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1573" y="5792987"/>
            <a:ext cx="9648366" cy="73296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828675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236663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4465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FontTx/>
              <a:buNone/>
              <a:defRPr/>
            </a:pPr>
            <a:r>
              <a:rPr lang="es-AR" altLang="es-AR" sz="19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VALOR DE RECUPERO = VALOR DE REVENTA – GTOS. COMERCIALES HASTA LA VENTA DEFINITIVA</a:t>
            </a:r>
          </a:p>
          <a:p>
            <a:pPr algn="ctr" eaLnBrk="1" hangingPunct="1">
              <a:buFontTx/>
              <a:buNone/>
              <a:defRPr/>
            </a:pPr>
            <a:endParaRPr lang="es-AR" altLang="es-AR" sz="15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9" name="Marcador de número de diapositiva 18">
            <a:extLst>
              <a:ext uri="{FF2B5EF4-FFF2-40B4-BE49-F238E27FC236}">
                <a16:creationId xmlns:a16="http://schemas.microsoft.com/office/drawing/2014/main" id="{9830B10F-6690-400D-8977-BD4CE34DC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053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210EB9-384A-4BA9-ABE9-99410E0BC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2986" y="693683"/>
            <a:ext cx="8911687" cy="1280890"/>
          </a:xfrm>
        </p:spPr>
        <p:txBody>
          <a:bodyPr anchor="ctr"/>
          <a:lstStyle/>
          <a:p>
            <a:r>
              <a:rPr lang="es-MX" altLang="es-AR" dirty="0">
                <a:solidFill>
                  <a:schemeClr val="accent2"/>
                </a:solidFill>
                <a:latin typeface="Tahoma" pitchFamily="34" charset="0"/>
                <a:cs typeface="Arial" charset="0"/>
              </a:rPr>
              <a:t>VALOR AMORTIZABLE</a:t>
            </a:r>
            <a:br>
              <a:rPr lang="es-MX" altLang="es-AR" i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</a:br>
            <a:endParaRPr lang="es-AR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F0882B9-6F6C-45E4-9A44-C1AE14F20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5297" y="2073206"/>
            <a:ext cx="9361487" cy="2446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8675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6663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465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lang="es-AR" altLang="es-AR" sz="3200" dirty="0"/>
              <a:t>Representa el valor que se deprecia el bien y el cual se carga a resultados, sea directo o a través de los costos de producción; por lo tanto al final de su vida útil las amortizaciones acumuladas serán iguales a dicho valor. </a:t>
            </a:r>
          </a:p>
          <a:p>
            <a:pPr eaLnBrk="1" hangingPunct="1">
              <a:spcBef>
                <a:spcPct val="20000"/>
              </a:spcBef>
            </a:pPr>
            <a:endParaRPr lang="es-AR" altLang="es-AR" sz="3200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E373ADF-2B79-4AD6-88B0-0907779548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037" y="5329928"/>
            <a:ext cx="9361487" cy="50323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828675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236663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4465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FontTx/>
              <a:buNone/>
              <a:defRPr/>
            </a:pPr>
            <a:r>
              <a:rPr lang="es-AR" altLang="es-AR" sz="1900" b="1" dirty="0"/>
              <a:t>VALOR AMORTIZABLE = VALOR INICIAL– VALOR DE RECUPERO</a:t>
            </a:r>
          </a:p>
          <a:p>
            <a:pPr algn="ctr" eaLnBrk="1" hangingPunct="1">
              <a:buFontTx/>
              <a:buNone/>
              <a:defRPr/>
            </a:pPr>
            <a:endParaRPr lang="es-AR" altLang="es-AR" sz="19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11ADE1-7254-4021-BDC9-D8228970F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856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E80CE6F0-6BF6-43D8-ACBB-E21FFBE20D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92388" y="623888"/>
            <a:ext cx="8912225" cy="1281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8675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6663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465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s-MX" altLang="es-AR" sz="3200" dirty="0">
                <a:solidFill>
                  <a:schemeClr val="accent2"/>
                </a:solidFill>
                <a:latin typeface="Tahoma" pitchFamily="34" charset="0"/>
                <a:cs typeface="Arial" charset="0"/>
              </a:rPr>
              <a:t>VALOR RESIDUAL</a:t>
            </a:r>
            <a:endParaRPr lang="es-AR" altLang="es-AR" sz="3200" dirty="0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956FC65-7747-482A-B637-46A0EE4DC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6148" y="1905000"/>
            <a:ext cx="9361487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828675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236663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4465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just" eaLnBrk="1" hangingPunct="1">
              <a:buFontTx/>
              <a:buNone/>
              <a:defRPr/>
            </a:pPr>
            <a:r>
              <a:rPr lang="es-AR" altLang="es-AR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Valor Residual del bien</a:t>
            </a:r>
            <a:r>
              <a:rPr lang="es-AR" altLang="es-AR" dirty="0"/>
              <a:t>:</a:t>
            </a:r>
          </a:p>
          <a:p>
            <a:pPr marL="342900" indent="-342900" algn="just">
              <a:defRPr/>
            </a:pPr>
            <a:r>
              <a:rPr lang="es-AR" altLang="es-AR" sz="2400" dirty="0"/>
              <a:t>representa el valor que tiene el bien en cualquier momento de su vida útil.</a:t>
            </a:r>
          </a:p>
          <a:p>
            <a:pPr eaLnBrk="1" hangingPunct="1">
              <a:buFontTx/>
              <a:buNone/>
              <a:defRPr/>
            </a:pPr>
            <a:endParaRPr lang="es-AR" altLang="es-AR" dirty="0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CEA19B0E-2C9F-4D61-9EEC-EAB493B06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9652" y="4462669"/>
            <a:ext cx="9362108" cy="44553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828675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236663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4465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FontTx/>
              <a:buNone/>
              <a:defRPr/>
            </a:pPr>
            <a:r>
              <a:rPr lang="es-AR" altLang="es-AR" sz="19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VALOR RESIDUAL = VALOR INICIAL– AMORTIZACIONES ACUMULADAS</a:t>
            </a:r>
          </a:p>
          <a:p>
            <a:pPr eaLnBrk="1" hangingPunct="1">
              <a:buFontTx/>
              <a:buNone/>
              <a:defRPr/>
            </a:pPr>
            <a:endParaRPr lang="es-AR" altLang="es-AR" sz="19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72154A7-023A-4B49-8EFE-25DE9CA9F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844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498191-9CBF-4FC0-9153-69BE59EE8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altLang="es-AR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  <a:t>SISTEMAS DE AMORTIZACIÓN</a:t>
            </a:r>
            <a:br>
              <a:rPr lang="es-MX" altLang="es-AR" i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</a:br>
            <a:endParaRPr lang="es-AR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5D5D0D4-114B-4D39-8AF4-39F1DEC4C35A}"/>
              </a:ext>
            </a:extLst>
          </p:cNvPr>
          <p:cNvSpPr/>
          <p:nvPr/>
        </p:nvSpPr>
        <p:spPr>
          <a:xfrm>
            <a:off x="1626636" y="1573252"/>
            <a:ext cx="847379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AR" altLang="es-AR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Los sistemas de amortización están basados: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08A51F3-B3A8-4DCF-B95D-E323519B1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6636" y="2349500"/>
            <a:ext cx="9361487" cy="215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8675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6663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465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lang="es-AR" altLang="es-AR" sz="3200" dirty="0"/>
              <a:t>En proporción a su Uso:</a:t>
            </a:r>
          </a:p>
          <a:p>
            <a:pPr marL="342900" indent="-342900" algn="just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s-AR" altLang="es-AR" sz="2400" dirty="0"/>
              <a:t>Es el desgaste físico que se produce en el bien, es decir, en la cantidad de unidades que el bien producirá con eficiencia. </a:t>
            </a:r>
          </a:p>
          <a:p>
            <a:pPr eaLnBrk="1" hangingPunct="1">
              <a:spcBef>
                <a:spcPct val="20000"/>
              </a:spcBef>
            </a:pPr>
            <a:endParaRPr lang="es-AR" altLang="es-AR" sz="3200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B7C4B35-E2EF-40C2-B720-6BF48D94A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6636" y="4508500"/>
            <a:ext cx="9361487" cy="1582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8675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6663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465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lang="es-AR" altLang="es-AR" sz="3200" dirty="0"/>
              <a:t>En el Tiempo: </a:t>
            </a:r>
          </a:p>
          <a:p>
            <a:pPr marL="342900" indent="-342900" algn="just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s-AR" altLang="es-AR" sz="2400" dirty="0"/>
              <a:t>Surge por deterioro, insuficiencia u obsolescencia que sufre el bien.</a:t>
            </a:r>
          </a:p>
          <a:p>
            <a:pPr eaLnBrk="1" hangingPunct="1">
              <a:spcBef>
                <a:spcPct val="20000"/>
              </a:spcBef>
            </a:pPr>
            <a:r>
              <a:rPr lang="es-AR" altLang="es-AR" sz="3200" dirty="0"/>
              <a:t> </a:t>
            </a:r>
          </a:p>
          <a:p>
            <a:pPr eaLnBrk="1" hangingPunct="1">
              <a:spcBef>
                <a:spcPct val="20000"/>
              </a:spcBef>
            </a:pPr>
            <a:endParaRPr lang="es-AR" altLang="es-AR" sz="3200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F4087F9-4441-4A6D-A526-50AD63537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484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74C18990-88DF-45F5-9D72-8D98126E8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altLang="es-AR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  <a:t>SISTEMAS DE AMORTIZACION</a:t>
            </a:r>
            <a:br>
              <a:rPr lang="es-MX" altLang="es-AR" i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</a:br>
            <a:endParaRPr lang="es-A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76B168-2601-48E0-BBCF-4711474AB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174" y="1541117"/>
            <a:ext cx="10446026" cy="167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828675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236663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4465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buFontTx/>
              <a:buNone/>
              <a:defRPr/>
            </a:pPr>
            <a:r>
              <a:rPr lang="es-AR" altLang="es-AR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Los sistemas de </a:t>
            </a:r>
            <a:r>
              <a:rPr lang="es-AR" altLang="es-AR" sz="2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amortización basados en el tiempo</a:t>
            </a:r>
            <a:r>
              <a:rPr lang="es-AR" altLang="es-AR" sz="2400" b="1" dirty="0"/>
              <a:t> </a:t>
            </a:r>
            <a:r>
              <a:rPr lang="es-AR" altLang="es-AR" sz="2400" dirty="0"/>
              <a:t>producen una disminución en el valor del bien y aplican su cargo a costos por el tiempo transcurrido independientemente al uso que se da y se estima el tiempo en que alcanza su vida útil.</a:t>
            </a:r>
          </a:p>
          <a:p>
            <a:pPr eaLnBrk="1" hangingPunct="1">
              <a:buFontTx/>
              <a:buNone/>
              <a:defRPr/>
            </a:pPr>
            <a:r>
              <a:rPr lang="es-AR" altLang="es-AR" sz="2800" dirty="0"/>
              <a:t> </a:t>
            </a:r>
          </a:p>
          <a:p>
            <a:pPr eaLnBrk="1" hangingPunct="1">
              <a:buFontTx/>
              <a:buNone/>
              <a:defRPr/>
            </a:pPr>
            <a:endParaRPr lang="es-AR" altLang="es-AR" sz="2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651D72-DC74-471D-8E85-FEB191EFF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7257" y="3433832"/>
            <a:ext cx="9705975" cy="57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8675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6663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465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s-AR" altLang="es-AR" sz="2800" dirty="0"/>
              <a:t>Este sistema de amortización supone que los bienes deben:</a:t>
            </a:r>
          </a:p>
          <a:p>
            <a:pPr eaLnBrk="1" hangingPunct="1">
              <a:spcBef>
                <a:spcPct val="20000"/>
              </a:spcBef>
            </a:pPr>
            <a:r>
              <a:rPr lang="es-AR" altLang="es-AR" sz="2800" dirty="0"/>
              <a:t> </a:t>
            </a:r>
          </a:p>
          <a:p>
            <a:pPr eaLnBrk="1" hangingPunct="1">
              <a:spcBef>
                <a:spcPct val="20000"/>
              </a:spcBef>
            </a:pPr>
            <a:endParaRPr lang="es-AR" altLang="es-AR" sz="28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31625D-48C7-4BBC-A8EB-DABCCEF84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845" y="4222820"/>
            <a:ext cx="9561512" cy="57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8675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6663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465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7200" indent="-457200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s-AR" altLang="es-AR" sz="2800" dirty="0"/>
              <a:t> </a:t>
            </a:r>
            <a:r>
              <a:rPr lang="es-AR" altLang="es-AR" sz="2400" dirty="0"/>
              <a:t>Tener un uso normal durante su vida útil</a:t>
            </a:r>
            <a:r>
              <a:rPr lang="es-AR" altLang="es-AR" sz="2800" dirty="0"/>
              <a:t>. </a:t>
            </a:r>
          </a:p>
          <a:p>
            <a:pPr eaLnBrk="1" hangingPunct="1">
              <a:spcBef>
                <a:spcPct val="20000"/>
              </a:spcBef>
            </a:pPr>
            <a:endParaRPr lang="es-AR" altLang="es-AR" sz="2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94362B-ADB4-43DD-AC84-8CA4D216C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845" y="4656207"/>
            <a:ext cx="9561512" cy="57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8675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6663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465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7200" indent="-457200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s-AR" altLang="es-AR" sz="2800" dirty="0"/>
              <a:t> </a:t>
            </a:r>
            <a:r>
              <a:rPr lang="es-AR" altLang="es-AR" sz="2400" dirty="0"/>
              <a:t>Sufrir un deterioro relacionado con el tiempo</a:t>
            </a:r>
            <a:r>
              <a:rPr lang="es-AR" altLang="es-AR" sz="2800" dirty="0"/>
              <a:t>. </a:t>
            </a:r>
          </a:p>
          <a:p>
            <a:pPr eaLnBrk="1" hangingPunct="1">
              <a:spcBef>
                <a:spcPct val="20000"/>
              </a:spcBef>
            </a:pPr>
            <a:endParaRPr lang="es-AR" altLang="es-AR" sz="2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B79ADF-6EA6-4C16-825E-55D974689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1720" y="5088007"/>
            <a:ext cx="9561512" cy="57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8675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6663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465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7200" indent="-457200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s-AR" altLang="es-AR" sz="2800" dirty="0"/>
              <a:t> </a:t>
            </a:r>
            <a:r>
              <a:rPr lang="es-AR" altLang="es-AR" sz="2400" dirty="0"/>
              <a:t>Sufrir un desgaste normal a lo largo del tiempo</a:t>
            </a:r>
            <a:r>
              <a:rPr lang="es-AR" altLang="es-AR" sz="2800" dirty="0"/>
              <a:t>. </a:t>
            </a:r>
          </a:p>
          <a:p>
            <a:pPr eaLnBrk="1" hangingPunct="1">
              <a:spcBef>
                <a:spcPct val="20000"/>
              </a:spcBef>
            </a:pPr>
            <a:endParaRPr lang="es-AR" altLang="es-AR" sz="28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C17434-8502-4AE0-B1A0-3EC8F173D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1720" y="5519807"/>
            <a:ext cx="9561512" cy="57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8675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6663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465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7200" indent="-457200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s-AR" altLang="es-AR" sz="2800" dirty="0"/>
              <a:t> </a:t>
            </a:r>
            <a:r>
              <a:rPr lang="es-AR" altLang="es-AR" sz="2400" dirty="0"/>
              <a:t>Estar expuesto a la obsolescencia</a:t>
            </a:r>
            <a:r>
              <a:rPr lang="es-AR" altLang="es-AR" sz="2800" dirty="0"/>
              <a:t>. </a:t>
            </a:r>
          </a:p>
          <a:p>
            <a:pPr eaLnBrk="1" hangingPunct="1">
              <a:spcBef>
                <a:spcPct val="20000"/>
              </a:spcBef>
            </a:pPr>
            <a:endParaRPr lang="es-AR" altLang="es-AR" sz="28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00903E-6B10-465D-AB0A-98E6B4BAF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845" y="5951607"/>
            <a:ext cx="9561512" cy="57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8675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6663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465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7200" indent="-457200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s-AR" altLang="es-AR" sz="2800" dirty="0"/>
              <a:t> </a:t>
            </a:r>
            <a:r>
              <a:rPr lang="es-AR" altLang="es-AR" sz="2400" dirty="0"/>
              <a:t>Tener un mantenimiento adecuado. </a:t>
            </a:r>
          </a:p>
          <a:p>
            <a:pPr eaLnBrk="1" hangingPunct="1">
              <a:spcBef>
                <a:spcPct val="20000"/>
              </a:spcBef>
            </a:pPr>
            <a:endParaRPr lang="es-AR" altLang="es-AR" sz="2800" dirty="0"/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CFEA8CB2-B42F-44A9-8BAA-48DE7DE71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469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928E0B-6E1E-4051-9E6F-2E6486114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317" y="643099"/>
            <a:ext cx="8911687" cy="1280890"/>
          </a:xfrm>
        </p:spPr>
        <p:txBody>
          <a:bodyPr/>
          <a:lstStyle/>
          <a:p>
            <a:r>
              <a:rPr lang="es-MX" altLang="es-AR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  <a:t>SISTEMAS DE AMORTIZACION</a:t>
            </a:r>
            <a:endParaRPr lang="es-AR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10EF7A7-69CD-49C5-9EB6-2A4E14EF4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0492" y="1495364"/>
            <a:ext cx="9561512" cy="1077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828675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236663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4465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just" eaLnBrk="1" hangingPunct="1">
              <a:buFontTx/>
              <a:buNone/>
              <a:defRPr/>
            </a:pPr>
            <a:r>
              <a:rPr lang="es-AR" altLang="es-AR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Los </a:t>
            </a:r>
            <a:r>
              <a:rPr lang="es-AR" altLang="es-AR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sistemas de amortización </a:t>
            </a:r>
            <a:r>
              <a:rPr lang="es-AR" altLang="es-AR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basados en el tiempo</a:t>
            </a:r>
            <a:r>
              <a:rPr lang="es-AR" altLang="es-AR" sz="2800" dirty="0"/>
              <a:t> pueden ser de tres tipos:</a:t>
            </a:r>
          </a:p>
          <a:p>
            <a:pPr eaLnBrk="1" hangingPunct="1">
              <a:buFontTx/>
              <a:buNone/>
              <a:defRPr/>
            </a:pPr>
            <a:r>
              <a:rPr lang="es-AR" altLang="es-AR" sz="2800" dirty="0"/>
              <a:t> </a:t>
            </a:r>
          </a:p>
          <a:p>
            <a:pPr eaLnBrk="1" hangingPunct="1">
              <a:buFontTx/>
              <a:buNone/>
              <a:defRPr/>
            </a:pPr>
            <a:endParaRPr lang="es-AR" altLang="es-AR" sz="2800" dirty="0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D1B2BE04-773C-4630-9A9E-139251290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4871" y="2371035"/>
            <a:ext cx="9561512" cy="1509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8675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6663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465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lang="es-AR" altLang="es-AR" sz="2800" b="1" dirty="0"/>
              <a:t>Sistema Lineal</a:t>
            </a:r>
            <a:r>
              <a:rPr lang="es-AR" altLang="es-AR" sz="2800" dirty="0"/>
              <a:t>: </a:t>
            </a:r>
          </a:p>
          <a:p>
            <a:pPr marL="342900" indent="-342900" algn="just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s-AR" altLang="es-AR" sz="2400" dirty="0"/>
              <a:t>supone un desgaste constante a lo largo de su vida útil, es decir, sus cuotas de amortización son idénticas a lo largo de su vida útil. </a:t>
            </a:r>
          </a:p>
          <a:p>
            <a:pPr eaLnBrk="1" hangingPunct="1">
              <a:spcBef>
                <a:spcPct val="20000"/>
              </a:spcBef>
            </a:pPr>
            <a:endParaRPr lang="es-AR" altLang="es-AR" sz="2800" dirty="0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148A000F-9025-4BB3-A9B0-C17EED922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4871" y="3739460"/>
            <a:ext cx="9823243" cy="1509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8675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6663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465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lang="es-AR" altLang="es-AR" sz="2800" b="1" dirty="0"/>
              <a:t>Sistema Acelerado</a:t>
            </a:r>
            <a:r>
              <a:rPr lang="es-AR" altLang="es-AR" sz="2800" dirty="0"/>
              <a:t>: </a:t>
            </a:r>
          </a:p>
          <a:p>
            <a:pPr marL="342900" indent="-342900" algn="just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s-AR" altLang="es-AR" sz="2400" dirty="0"/>
              <a:t>es de cuota decreciente y se caracteriza por una carga mayor al principio de su vida útil para luego ir declinando paulatinamente.</a:t>
            </a:r>
          </a:p>
          <a:p>
            <a:pPr eaLnBrk="1" hangingPunct="1">
              <a:spcBef>
                <a:spcPct val="20000"/>
              </a:spcBef>
            </a:pPr>
            <a:endParaRPr lang="es-AR" altLang="es-AR" sz="2800" dirty="0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69715F89-D060-4F8E-8EB2-6725D49CE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4871" y="5179322"/>
            <a:ext cx="9932573" cy="1509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8675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6663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465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lang="es-AR" altLang="es-AR" sz="2800" b="1" dirty="0"/>
              <a:t>Sistema Desacelerado</a:t>
            </a:r>
            <a:r>
              <a:rPr lang="es-AR" altLang="es-AR" sz="2800" dirty="0"/>
              <a:t>: </a:t>
            </a:r>
          </a:p>
          <a:p>
            <a:pPr marL="342900" indent="-342900" algn="just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s-AR" altLang="es-AR" sz="2400" dirty="0"/>
              <a:t>es de cuota creciente y se caracteriza por una carga menor al principio para luego ir incrementándose paulatinamente a través del tiempo.</a:t>
            </a:r>
          </a:p>
          <a:p>
            <a:pPr eaLnBrk="1" hangingPunct="1">
              <a:spcBef>
                <a:spcPct val="20000"/>
              </a:spcBef>
            </a:pPr>
            <a:endParaRPr lang="es-AR" altLang="es-AR" sz="2800" dirty="0"/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5BFB1C33-BBC3-4F98-B66B-CFEBD332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588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D856F874-E2D0-4E16-882D-97BBBC5DCB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302163"/>
              </p:ext>
            </p:extLst>
          </p:nvPr>
        </p:nvGraphicFramePr>
        <p:xfrm>
          <a:off x="2541035" y="776840"/>
          <a:ext cx="9495252" cy="53754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5084">
                  <a:extLst>
                    <a:ext uri="{9D8B030D-6E8A-4147-A177-3AD203B41FA5}">
                      <a16:colId xmlns:a16="http://schemas.microsoft.com/office/drawing/2014/main" val="1857173446"/>
                    </a:ext>
                  </a:extLst>
                </a:gridCol>
                <a:gridCol w="3165084">
                  <a:extLst>
                    <a:ext uri="{9D8B030D-6E8A-4147-A177-3AD203B41FA5}">
                      <a16:colId xmlns:a16="http://schemas.microsoft.com/office/drawing/2014/main" val="3290597802"/>
                    </a:ext>
                  </a:extLst>
                </a:gridCol>
                <a:gridCol w="3165084">
                  <a:extLst>
                    <a:ext uri="{9D8B030D-6E8A-4147-A177-3AD203B41FA5}">
                      <a16:colId xmlns:a16="http://schemas.microsoft.com/office/drawing/2014/main" val="2160945327"/>
                    </a:ext>
                  </a:extLst>
                </a:gridCol>
              </a:tblGrid>
              <a:tr h="709968">
                <a:tc>
                  <a:txBody>
                    <a:bodyPr/>
                    <a:lstStyle/>
                    <a:p>
                      <a:r>
                        <a:rPr lang="es-AR" sz="1800" baseline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Rubro</a:t>
                      </a:r>
                    </a:p>
                  </a:txBody>
                  <a:tcPr marL="91442" marR="91442" marT="45726" marB="457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aseline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Sistema de Amortización</a:t>
                      </a:r>
                    </a:p>
                  </a:txBody>
                  <a:tcPr marL="91442" marR="91442" marT="45726" marB="457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aseline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Vida útil mínima permitida</a:t>
                      </a:r>
                    </a:p>
                  </a:txBody>
                  <a:tcPr marL="91442" marR="91442" marT="45726" marB="457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033721"/>
                  </a:ext>
                </a:extLst>
              </a:tr>
              <a:tr h="405702">
                <a:tc>
                  <a:txBody>
                    <a:bodyPr/>
                    <a:lstStyle/>
                    <a:p>
                      <a:r>
                        <a:rPr lang="es-AR" sz="1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Terrenos</a:t>
                      </a:r>
                    </a:p>
                  </a:txBody>
                  <a:tcPr marL="91442" marR="91442" marT="45726" marB="457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AR" sz="1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No está permitida su amortización</a:t>
                      </a:r>
                    </a:p>
                  </a:txBody>
                  <a:tcPr marL="91442" marR="91442" marT="45726" marB="457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395121"/>
                  </a:ext>
                </a:extLst>
              </a:tr>
              <a:tr h="709968">
                <a:tc>
                  <a:txBody>
                    <a:bodyPr/>
                    <a:lstStyle/>
                    <a:p>
                      <a:r>
                        <a:rPr lang="es-AR" sz="1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Inmuebles / Edificio</a:t>
                      </a:r>
                    </a:p>
                  </a:txBody>
                  <a:tcPr marL="91442" marR="91442" marT="45726" marB="457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Desacelerada o de cuota creciente</a:t>
                      </a:r>
                    </a:p>
                  </a:txBody>
                  <a:tcPr marL="91442" marR="91442" marT="45726" marB="457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50 años</a:t>
                      </a:r>
                    </a:p>
                  </a:txBody>
                  <a:tcPr marL="91442" marR="91442" marT="45726" marB="457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980533"/>
                  </a:ext>
                </a:extLst>
              </a:tr>
              <a:tr h="709968">
                <a:tc>
                  <a:txBody>
                    <a:bodyPr/>
                    <a:lstStyle/>
                    <a:p>
                      <a:r>
                        <a:rPr lang="es-AR" sz="1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Instalaciones generales</a:t>
                      </a:r>
                    </a:p>
                  </a:txBody>
                  <a:tcPr marL="91442" marR="91442" marT="45726" marB="457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Acelerada o de cuota decreciente</a:t>
                      </a:r>
                    </a:p>
                  </a:txBody>
                  <a:tcPr marL="91442" marR="91442" marT="45726" marB="457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10 años</a:t>
                      </a:r>
                    </a:p>
                  </a:txBody>
                  <a:tcPr marL="91442" marR="91442" marT="45726" marB="457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98208"/>
                  </a:ext>
                </a:extLst>
              </a:tr>
              <a:tr h="709968">
                <a:tc>
                  <a:txBody>
                    <a:bodyPr/>
                    <a:lstStyle/>
                    <a:p>
                      <a:r>
                        <a:rPr lang="es-AR" sz="1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Máquinas / Equipos / Herramientas</a:t>
                      </a:r>
                    </a:p>
                  </a:txBody>
                  <a:tcPr marL="91442" marR="91442" marT="45726" marB="457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Desacelerada o de cuota creciente</a:t>
                      </a:r>
                    </a:p>
                  </a:txBody>
                  <a:tcPr marL="91442" marR="91442" marT="45726" marB="457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5 años</a:t>
                      </a:r>
                    </a:p>
                  </a:txBody>
                  <a:tcPr marL="91442" marR="91442" marT="45726" marB="457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27786"/>
                  </a:ext>
                </a:extLst>
              </a:tr>
              <a:tr h="709968">
                <a:tc>
                  <a:txBody>
                    <a:bodyPr/>
                    <a:lstStyle/>
                    <a:p>
                      <a:r>
                        <a:rPr lang="es-AR" sz="1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Muebles / Útiles</a:t>
                      </a:r>
                    </a:p>
                  </a:txBody>
                  <a:tcPr marL="91442" marR="91442" marT="45726" marB="457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Desacelerada o de cuota creciente</a:t>
                      </a:r>
                    </a:p>
                  </a:txBody>
                  <a:tcPr marL="91442" marR="91442" marT="45726" marB="457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5 años</a:t>
                      </a:r>
                    </a:p>
                  </a:txBody>
                  <a:tcPr marL="91442" marR="91442" marT="45726" marB="457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583805"/>
                  </a:ext>
                </a:extLst>
              </a:tr>
              <a:tr h="709968">
                <a:tc>
                  <a:txBody>
                    <a:bodyPr/>
                    <a:lstStyle/>
                    <a:p>
                      <a:r>
                        <a:rPr lang="es-AR" sz="1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Rodados</a:t>
                      </a:r>
                    </a:p>
                  </a:txBody>
                  <a:tcPr marL="91442" marR="91442" marT="45726" marB="457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Acelerada o de cuota decreciente</a:t>
                      </a:r>
                    </a:p>
                  </a:txBody>
                  <a:tcPr marL="91442" marR="91442" marT="45726" marB="457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5 años</a:t>
                      </a:r>
                    </a:p>
                  </a:txBody>
                  <a:tcPr marL="91442" marR="91442" marT="45726" marB="457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230464"/>
                  </a:ext>
                </a:extLst>
              </a:tr>
              <a:tr h="709968">
                <a:tc>
                  <a:txBody>
                    <a:bodyPr/>
                    <a:lstStyle/>
                    <a:p>
                      <a:r>
                        <a:rPr lang="es-AR" sz="1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Equipamiento Informático</a:t>
                      </a:r>
                    </a:p>
                  </a:txBody>
                  <a:tcPr marL="91442" marR="91442" marT="45726" marB="457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Acelerada o de cuota decreciente</a:t>
                      </a:r>
                    </a:p>
                  </a:txBody>
                  <a:tcPr marL="91442" marR="91442" marT="45726" marB="457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3 años</a:t>
                      </a:r>
                    </a:p>
                  </a:txBody>
                  <a:tcPr marL="91442" marR="91442" marT="45726" marB="457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110232"/>
                  </a:ext>
                </a:extLst>
              </a:tr>
            </a:tbl>
          </a:graphicData>
        </a:graphic>
      </p:graphicFrame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C43681E-2091-4DCC-A505-D11B85D35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10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Line 5">
            <a:extLst>
              <a:ext uri="{FF2B5EF4-FFF2-40B4-BE49-F238E27FC236}">
                <a16:creationId xmlns:a16="http://schemas.microsoft.com/office/drawing/2014/main" id="{4766D1BE-099E-4A77-85A5-E39233B34D56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8806" y="1364077"/>
            <a:ext cx="0" cy="48958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29" name="Line 6">
            <a:extLst>
              <a:ext uri="{FF2B5EF4-FFF2-40B4-BE49-F238E27FC236}">
                <a16:creationId xmlns:a16="http://schemas.microsoft.com/office/drawing/2014/main" id="{000ECEE5-715B-4EA4-8B60-451F361A2C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665593" y="5972589"/>
            <a:ext cx="6048375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30" name="Line 7">
            <a:extLst>
              <a:ext uri="{FF2B5EF4-FFF2-40B4-BE49-F238E27FC236}">
                <a16:creationId xmlns:a16="http://schemas.microsoft.com/office/drawing/2014/main" id="{708B0A99-B864-4423-A72D-65DCA0992A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25943" y="5320127"/>
            <a:ext cx="4681538" cy="1587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31" name="Text Box 8">
            <a:extLst>
              <a:ext uri="{FF2B5EF4-FFF2-40B4-BE49-F238E27FC236}">
                <a16:creationId xmlns:a16="http://schemas.microsoft.com/office/drawing/2014/main" id="{A8844FE5-D9A9-4F96-81A6-44F0E7CC5E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7168" y="1579977"/>
            <a:ext cx="17287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AR" altLang="es-AR" sz="2000">
                <a:latin typeface="Tahoma" panose="020B0604030504040204" pitchFamily="34" charset="0"/>
              </a:rPr>
              <a:t>Valor inicial</a:t>
            </a:r>
            <a:endParaRPr lang="es-ES" altLang="es-AR" sz="2000">
              <a:latin typeface="Tahoma" panose="020B0604030504040204" pitchFamily="34" charset="0"/>
            </a:endParaRPr>
          </a:p>
        </p:txBody>
      </p:sp>
      <p:sp>
        <p:nvSpPr>
          <p:cNvPr id="32" name="Text Box 9">
            <a:extLst>
              <a:ext uri="{FF2B5EF4-FFF2-40B4-BE49-F238E27FC236}">
                <a16:creationId xmlns:a16="http://schemas.microsoft.com/office/drawing/2014/main" id="{5A95D01D-2EA8-4863-94C7-9749B12BB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8756" y="5070889"/>
            <a:ext cx="15843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AR" altLang="es-AR" sz="2000">
                <a:latin typeface="Tahoma" panose="020B0604030504040204" pitchFamily="34" charset="0"/>
              </a:rPr>
              <a:t>Valor Final</a:t>
            </a:r>
            <a:endParaRPr lang="es-ES" altLang="es-AR" sz="2000">
              <a:latin typeface="Tahoma" panose="020B0604030504040204" pitchFamily="34" charset="0"/>
            </a:endParaRPr>
          </a:p>
        </p:txBody>
      </p:sp>
      <p:sp>
        <p:nvSpPr>
          <p:cNvPr id="33" name="Text Box 10">
            <a:extLst>
              <a:ext uri="{FF2B5EF4-FFF2-40B4-BE49-F238E27FC236}">
                <a16:creationId xmlns:a16="http://schemas.microsoft.com/office/drawing/2014/main" id="{A412EC58-9CB8-4D96-854A-9C3CB4801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4156" y="6040852"/>
            <a:ext cx="68087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AR" altLang="es-AR" sz="2000">
                <a:latin typeface="Tahoma" panose="020B0604030504040204" pitchFamily="34" charset="0"/>
              </a:rPr>
              <a:t>0            1          2          3          4          5        t [años]</a:t>
            </a:r>
            <a:endParaRPr lang="es-ES" altLang="es-AR" sz="2000">
              <a:latin typeface="Tahoma" panose="020B0604030504040204" pitchFamily="34" charset="0"/>
            </a:endParaRPr>
          </a:p>
        </p:txBody>
      </p:sp>
      <p:sp>
        <p:nvSpPr>
          <p:cNvPr id="34" name="AutoShape 12">
            <a:extLst>
              <a:ext uri="{FF2B5EF4-FFF2-40B4-BE49-F238E27FC236}">
                <a16:creationId xmlns:a16="http://schemas.microsoft.com/office/drawing/2014/main" id="{00F13F32-1137-4CD3-A793-5D4F748EBA2E}"/>
              </a:ext>
            </a:extLst>
          </p:cNvPr>
          <p:cNvSpPr>
            <a:spLocks/>
          </p:cNvSpPr>
          <p:nvPr/>
        </p:nvSpPr>
        <p:spPr bwMode="auto">
          <a:xfrm>
            <a:off x="3225731" y="1632364"/>
            <a:ext cx="215900" cy="3816350"/>
          </a:xfrm>
          <a:prstGeom prst="leftBrace">
            <a:avLst>
              <a:gd name="adj1" fmla="val 14730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s-AR"/>
          </a:p>
        </p:txBody>
      </p:sp>
      <p:sp>
        <p:nvSpPr>
          <p:cNvPr id="35" name="Text Box 13">
            <a:extLst>
              <a:ext uri="{FF2B5EF4-FFF2-40B4-BE49-F238E27FC236}">
                <a16:creationId xmlns:a16="http://schemas.microsoft.com/office/drawing/2014/main" id="{30417A27-3BAD-4252-A353-5173E5517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3527" y="3162714"/>
            <a:ext cx="198507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AR" altLang="es-AR" sz="2000" dirty="0">
                <a:latin typeface="Tahoma" panose="020B0604030504040204" pitchFamily="34" charset="0"/>
              </a:rPr>
              <a:t>Valor a Amortizable</a:t>
            </a:r>
            <a:endParaRPr lang="es-ES" altLang="es-AR" sz="2000" dirty="0">
              <a:latin typeface="Tahoma" panose="020B0604030504040204" pitchFamily="34" charset="0"/>
            </a:endParaRPr>
          </a:p>
        </p:txBody>
      </p:sp>
      <p:sp>
        <p:nvSpPr>
          <p:cNvPr id="36" name="Arc 16">
            <a:extLst>
              <a:ext uri="{FF2B5EF4-FFF2-40B4-BE49-F238E27FC236}">
                <a16:creationId xmlns:a16="http://schemas.microsoft.com/office/drawing/2014/main" id="{B00884BE-0ACC-45D9-B440-B3A6CEDAB7BD}"/>
              </a:ext>
            </a:extLst>
          </p:cNvPr>
          <p:cNvSpPr>
            <a:spLocks/>
          </p:cNvSpPr>
          <p:nvPr/>
        </p:nvSpPr>
        <p:spPr bwMode="auto">
          <a:xfrm rot="11209298">
            <a:off x="4911002" y="-59521"/>
            <a:ext cx="4975429" cy="5090172"/>
          </a:xfrm>
          <a:custGeom>
            <a:avLst/>
            <a:gdLst>
              <a:gd name="T0" fmla="*/ 0 w 20415"/>
              <a:gd name="T1" fmla="*/ 2147483646 h 21600"/>
              <a:gd name="T2" fmla="*/ 2147483646 w 20415"/>
              <a:gd name="T3" fmla="*/ 2147483646 h 21600"/>
              <a:gd name="T4" fmla="*/ 2147483646 w 20415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415" h="21600" fill="none" extrusionOk="0">
                <a:moveTo>
                  <a:pt x="0" y="12"/>
                </a:moveTo>
                <a:cubicBezTo>
                  <a:pt x="243" y="4"/>
                  <a:pt x="487" y="0"/>
                  <a:pt x="732" y="0"/>
                </a:cubicBezTo>
                <a:cubicBezTo>
                  <a:pt x="9218" y="0"/>
                  <a:pt x="16919" y="4969"/>
                  <a:pt x="20414" y="12703"/>
                </a:cubicBezTo>
              </a:path>
              <a:path w="20415" h="21600" stroke="0" extrusionOk="0">
                <a:moveTo>
                  <a:pt x="0" y="12"/>
                </a:moveTo>
                <a:cubicBezTo>
                  <a:pt x="243" y="4"/>
                  <a:pt x="487" y="0"/>
                  <a:pt x="732" y="0"/>
                </a:cubicBezTo>
                <a:cubicBezTo>
                  <a:pt x="9218" y="0"/>
                  <a:pt x="16919" y="4969"/>
                  <a:pt x="20414" y="12703"/>
                </a:cubicBezTo>
                <a:lnTo>
                  <a:pt x="732" y="21600"/>
                </a:lnTo>
                <a:lnTo>
                  <a:pt x="0" y="12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37" name="Arc 22">
            <a:extLst>
              <a:ext uri="{FF2B5EF4-FFF2-40B4-BE49-F238E27FC236}">
                <a16:creationId xmlns:a16="http://schemas.microsoft.com/office/drawing/2014/main" id="{3EC278BE-D549-4DC1-A9C0-B03F31D1DAF8}"/>
              </a:ext>
            </a:extLst>
          </p:cNvPr>
          <p:cNvSpPr>
            <a:spLocks/>
          </p:cNvSpPr>
          <p:nvPr/>
        </p:nvSpPr>
        <p:spPr bwMode="auto">
          <a:xfrm rot="602521">
            <a:off x="4510753" y="2160816"/>
            <a:ext cx="5136066" cy="5107573"/>
          </a:xfrm>
          <a:custGeom>
            <a:avLst/>
            <a:gdLst>
              <a:gd name="T0" fmla="*/ 0 w 19780"/>
              <a:gd name="T1" fmla="*/ 2147483646 h 21600"/>
              <a:gd name="T2" fmla="*/ 2147483646 w 19780"/>
              <a:gd name="T3" fmla="*/ 2147483646 h 21600"/>
              <a:gd name="T4" fmla="*/ 2147483646 w 1978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780" h="21600" fill="none" extrusionOk="0">
                <a:moveTo>
                  <a:pt x="0" y="12"/>
                </a:moveTo>
                <a:cubicBezTo>
                  <a:pt x="243" y="4"/>
                  <a:pt x="487" y="0"/>
                  <a:pt x="732" y="0"/>
                </a:cubicBezTo>
                <a:cubicBezTo>
                  <a:pt x="8700" y="0"/>
                  <a:pt x="16022" y="4387"/>
                  <a:pt x="19779" y="11415"/>
                </a:cubicBezTo>
              </a:path>
              <a:path w="19780" h="21600" stroke="0" extrusionOk="0">
                <a:moveTo>
                  <a:pt x="0" y="12"/>
                </a:moveTo>
                <a:cubicBezTo>
                  <a:pt x="243" y="4"/>
                  <a:pt x="487" y="0"/>
                  <a:pt x="732" y="0"/>
                </a:cubicBezTo>
                <a:cubicBezTo>
                  <a:pt x="8700" y="0"/>
                  <a:pt x="16022" y="4387"/>
                  <a:pt x="19779" y="11415"/>
                </a:cubicBezTo>
                <a:lnTo>
                  <a:pt x="732" y="21600"/>
                </a:lnTo>
                <a:lnTo>
                  <a:pt x="0" y="12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38" name="Line 27">
            <a:extLst>
              <a:ext uri="{FF2B5EF4-FFF2-40B4-BE49-F238E27FC236}">
                <a16:creationId xmlns:a16="http://schemas.microsoft.com/office/drawing/2014/main" id="{21169377-8C22-4D88-82D2-73362BCD711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2456" y="1752151"/>
            <a:ext cx="4608512" cy="35290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39" name="AutoShape 32">
            <a:extLst>
              <a:ext uri="{FF2B5EF4-FFF2-40B4-BE49-F238E27FC236}">
                <a16:creationId xmlns:a16="http://schemas.microsoft.com/office/drawing/2014/main" id="{C684FB07-C787-4949-98B0-5DF168885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1449" y="1472027"/>
            <a:ext cx="2592388" cy="1079500"/>
          </a:xfrm>
          <a:prstGeom prst="wedgeRectCallout">
            <a:avLst>
              <a:gd name="adj1" fmla="val -120779"/>
              <a:gd name="adj2" fmla="val 15105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>
              <a:defRPr/>
            </a:pPr>
            <a:r>
              <a:rPr lang="es-AR" altLang="es-AR" sz="1600" b="1">
                <a:latin typeface="Tahoma" pitchFamily="34" charset="0"/>
                <a:cs typeface="Arial" charset="0"/>
              </a:rPr>
              <a:t>Sistema Desacelerado</a:t>
            </a:r>
            <a:r>
              <a:rPr lang="es-AR" altLang="es-AR" sz="1600">
                <a:latin typeface="Tahoma" pitchFamily="34" charset="0"/>
                <a:cs typeface="Arial" charset="0"/>
              </a:rPr>
              <a:t> </a:t>
            </a:r>
          </a:p>
          <a:p>
            <a:pPr algn="ctr" eaLnBrk="1" hangingPunct="1">
              <a:defRPr/>
            </a:pPr>
            <a:r>
              <a:rPr lang="es-AR" altLang="es-AR" sz="1600" i="1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  <a:t>(Cuota creciente)</a:t>
            </a:r>
          </a:p>
          <a:p>
            <a:pPr algn="ctr" eaLnBrk="1" hangingPunct="1">
              <a:defRPr/>
            </a:pPr>
            <a:r>
              <a:rPr lang="es-AR" altLang="es-AR" sz="1400">
                <a:latin typeface="Tahoma" pitchFamily="34" charset="0"/>
                <a:cs typeface="Arial" charset="0"/>
              </a:rPr>
              <a:t>(Máquinas, Herramientas, Edificios, Mueble, Útiles, etc.)</a:t>
            </a:r>
            <a:endParaRPr lang="es-ES" altLang="es-AR" sz="1400">
              <a:latin typeface="Tahoma" pitchFamily="34" charset="0"/>
              <a:cs typeface="Arial" charset="0"/>
            </a:endParaRPr>
          </a:p>
        </p:txBody>
      </p:sp>
      <p:sp>
        <p:nvSpPr>
          <p:cNvPr id="40" name="AutoShape 33">
            <a:extLst>
              <a:ext uri="{FF2B5EF4-FFF2-40B4-BE49-F238E27FC236}">
                <a16:creationId xmlns:a16="http://schemas.microsoft.com/office/drawing/2014/main" id="{40EB16A9-2D3C-4A51-956F-84CA7B286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6768" y="2803939"/>
            <a:ext cx="2735263" cy="1079500"/>
          </a:xfrm>
          <a:prstGeom prst="wedgeRectCallout">
            <a:avLst>
              <a:gd name="adj1" fmla="val -151010"/>
              <a:gd name="adj2" fmla="val 33786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>
              <a:defRPr/>
            </a:pPr>
            <a:r>
              <a:rPr lang="es-AR" altLang="es-AR" sz="1600" b="1">
                <a:latin typeface="Tahoma" pitchFamily="34" charset="0"/>
                <a:cs typeface="Arial" charset="0"/>
              </a:rPr>
              <a:t>Sistema Acelerado</a:t>
            </a:r>
          </a:p>
          <a:p>
            <a:pPr algn="ctr" eaLnBrk="1" hangingPunct="1">
              <a:defRPr/>
            </a:pPr>
            <a:r>
              <a:rPr lang="es-AR" altLang="es-AR" sz="1600" i="1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  <a:t>(Cuota decreciente)</a:t>
            </a:r>
            <a:r>
              <a:rPr lang="es-AR" altLang="es-AR" sz="1600">
                <a:latin typeface="Tahoma" pitchFamily="34" charset="0"/>
                <a:cs typeface="Arial" charset="0"/>
              </a:rPr>
              <a:t> </a:t>
            </a:r>
          </a:p>
          <a:p>
            <a:pPr algn="ctr" eaLnBrk="1" hangingPunct="1">
              <a:defRPr/>
            </a:pPr>
            <a:r>
              <a:rPr lang="es-AR" altLang="es-AR" sz="1400">
                <a:latin typeface="Tahoma" pitchFamily="34" charset="0"/>
                <a:cs typeface="Arial" charset="0"/>
              </a:rPr>
              <a:t>(Rodados, Instalaciones, Softwares, Computadoras, etc.)</a:t>
            </a:r>
            <a:endParaRPr lang="es-ES" altLang="es-AR" sz="1400">
              <a:latin typeface="Tahoma" pitchFamily="34" charset="0"/>
              <a:cs typeface="Arial" charset="0"/>
            </a:endParaRPr>
          </a:p>
        </p:txBody>
      </p:sp>
      <p:sp>
        <p:nvSpPr>
          <p:cNvPr id="41" name="Line 7">
            <a:extLst>
              <a:ext uri="{FF2B5EF4-FFF2-40B4-BE49-F238E27FC236}">
                <a16:creationId xmlns:a16="http://schemas.microsoft.com/office/drawing/2014/main" id="{FE09171B-D912-4BBF-9D22-54AC22EBC97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566518" y="5327717"/>
            <a:ext cx="1" cy="658465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0E8DD343-E8C7-4DCA-82FF-7EAC2484635A}"/>
              </a:ext>
            </a:extLst>
          </p:cNvPr>
          <p:cNvSpPr txBox="1"/>
          <p:nvPr/>
        </p:nvSpPr>
        <p:spPr>
          <a:xfrm>
            <a:off x="1978519" y="487018"/>
            <a:ext cx="8735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altLang="es-AR" sz="3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  <a:t>SISTEMAS DE AMORTIZACION</a:t>
            </a:r>
            <a:endParaRPr lang="es-AR" sz="3600" dirty="0"/>
          </a:p>
        </p:txBody>
      </p:sp>
      <p:sp>
        <p:nvSpPr>
          <p:cNvPr id="44" name="AutoShape 32">
            <a:extLst>
              <a:ext uri="{FF2B5EF4-FFF2-40B4-BE49-F238E27FC236}">
                <a16:creationId xmlns:a16="http://schemas.microsoft.com/office/drawing/2014/main" id="{62AE612A-59C9-4977-AC3E-C0666A454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4210" y="4178329"/>
            <a:ext cx="2592388" cy="727150"/>
          </a:xfrm>
          <a:prstGeom prst="wedgeRectCallout">
            <a:avLst>
              <a:gd name="adj1" fmla="val -91987"/>
              <a:gd name="adj2" fmla="val -1927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>
              <a:defRPr/>
            </a:pPr>
            <a:r>
              <a:rPr lang="es-AR" altLang="es-AR" sz="1600" b="1" dirty="0">
                <a:latin typeface="Tahoma" pitchFamily="34" charset="0"/>
                <a:cs typeface="Arial" charset="0"/>
              </a:rPr>
              <a:t>Sistema Lineal</a:t>
            </a:r>
            <a:r>
              <a:rPr lang="es-AR" altLang="es-AR" sz="1600" dirty="0">
                <a:latin typeface="Tahoma" pitchFamily="34" charset="0"/>
                <a:cs typeface="Arial" charset="0"/>
              </a:rPr>
              <a:t> </a:t>
            </a:r>
          </a:p>
          <a:p>
            <a:pPr algn="ctr" eaLnBrk="1" hangingPunct="1">
              <a:defRPr/>
            </a:pPr>
            <a:r>
              <a:rPr lang="es-AR" altLang="es-AR" sz="16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  <a:t>(Cuota constante)</a:t>
            </a:r>
          </a:p>
        </p:txBody>
      </p:sp>
      <p:sp>
        <p:nvSpPr>
          <p:cNvPr id="45" name="Marcador de número de diapositiva 44">
            <a:extLst>
              <a:ext uri="{FF2B5EF4-FFF2-40B4-BE49-F238E27FC236}">
                <a16:creationId xmlns:a16="http://schemas.microsoft.com/office/drawing/2014/main" id="{A37C1DFC-965B-404F-A3C6-9DD50F4A4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721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 animBg="1"/>
      <p:bldP spid="35" grpId="0"/>
      <p:bldP spid="39" grpId="0" animBg="1"/>
      <p:bldP spid="40" grpId="0" animBg="1"/>
      <p:bldP spid="4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6EA9A-B28B-41BC-A272-1D3F8929E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altLang="es-AR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  <a:t>SISTEMAS DE AMORTIZACION</a:t>
            </a:r>
            <a:br>
              <a:rPr lang="es-AR" dirty="0"/>
            </a:b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E7301E-786C-4552-85FC-B2D44C76C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AR" sz="2800" dirty="0">
                <a:latin typeface="Arial" panose="020B0604020202020204" pitchFamily="34" charset="0"/>
                <a:cs typeface="Arial" panose="020B0604020202020204" pitchFamily="34" charset="0"/>
              </a:rPr>
              <a:t>Veamos un ejemplo:</a:t>
            </a:r>
          </a:p>
          <a:p>
            <a:r>
              <a:rPr lang="es-AR" sz="2800" dirty="0">
                <a:latin typeface="Arial" panose="020B0604020202020204" pitchFamily="34" charset="0"/>
                <a:cs typeface="Arial" panose="020B0604020202020204" pitchFamily="34" charset="0"/>
              </a:rPr>
              <a:t>Vida útil estimada: 5 años</a:t>
            </a:r>
          </a:p>
          <a:p>
            <a:r>
              <a:rPr lang="es-AR" sz="2800" dirty="0">
                <a:latin typeface="Arial" panose="020B0604020202020204" pitchFamily="34" charset="0"/>
                <a:cs typeface="Arial" panose="020B0604020202020204" pitchFamily="34" charset="0"/>
              </a:rPr>
              <a:t>Valor inicial del bien: $5.200.-</a:t>
            </a:r>
          </a:p>
          <a:p>
            <a:r>
              <a:rPr lang="es-AR" sz="2800" dirty="0">
                <a:latin typeface="Arial" panose="020B0604020202020204" pitchFamily="34" charset="0"/>
                <a:cs typeface="Arial" panose="020B0604020202020204" pitchFamily="34" charset="0"/>
              </a:rPr>
              <a:t>Valor de recupero: $200.-</a:t>
            </a:r>
          </a:p>
          <a:p>
            <a:r>
              <a:rPr lang="es-AR" sz="2800" dirty="0">
                <a:latin typeface="Arial" panose="020B0604020202020204" pitchFamily="34" charset="0"/>
                <a:cs typeface="Arial" panose="020B0604020202020204" pitchFamily="34" charset="0"/>
              </a:rPr>
              <a:t>Valor amortizable = $5.200 - $200 = $5.000</a:t>
            </a:r>
          </a:p>
          <a:p>
            <a:endParaRPr lang="es-A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2800" dirty="0">
                <a:latin typeface="Arial" panose="020B0604020202020204" pitchFamily="34" charset="0"/>
                <a:cs typeface="Arial" panose="020B0604020202020204" pitchFamily="34" charset="0"/>
              </a:rPr>
              <a:t>Lo resolveremos por los tres sistemas de amortización planteados</a:t>
            </a:r>
          </a:p>
          <a:p>
            <a:endParaRPr lang="es-A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15FDC75-1AB1-421C-9087-4327BF2C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999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6EA9A-B28B-41BC-A272-1D3F8929E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altLang="es-AR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  <a:t>SISTEMAS DE AMORTIZACION</a:t>
            </a:r>
            <a:br>
              <a:rPr lang="es-AR" dirty="0"/>
            </a:b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E7301E-786C-4552-85FC-B2D44C76C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5078" y="1354667"/>
            <a:ext cx="8915400" cy="1979120"/>
          </a:xfrm>
        </p:spPr>
        <p:txBody>
          <a:bodyPr>
            <a:norm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Vida útil estimada: 5 años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Valor inicial del bien: $5.200.-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Valor de recupero: $200.-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Valor amortizable = $5.200 - $200 = $5.000</a:t>
            </a:r>
          </a:p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Amortización Lineal</a:t>
            </a: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15FDC75-1AB1-421C-9087-4327BF2C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06335F7-5041-4E36-9AD8-DE86078F3303}"/>
              </a:ext>
            </a:extLst>
          </p:cNvPr>
          <p:cNvSpPr txBox="1"/>
          <p:nvPr/>
        </p:nvSpPr>
        <p:spPr>
          <a:xfrm>
            <a:off x="2118791" y="3591339"/>
            <a:ext cx="93858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Cuota amortización = Valor amortizable/tiempo de vida útil =&gt;</a:t>
            </a: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Cuota de amortización= $5.000/ 5 años =&gt;  Ca1 =Ca2=Ca3=Ca4=Ca5=$1.000/ año</a:t>
            </a:r>
          </a:p>
          <a:p>
            <a:endParaRPr lang="es-AR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5ABB85B-4615-4040-A58C-2855B68EDCBC}"/>
              </a:ext>
            </a:extLst>
          </p:cNvPr>
          <p:cNvSpPr txBox="1"/>
          <p:nvPr/>
        </p:nvSpPr>
        <p:spPr>
          <a:xfrm>
            <a:off x="2115078" y="4607002"/>
            <a:ext cx="700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Valor residual= Valor inicial – Amortización acumulada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E4C01A9-FD06-45D6-AA12-55728268FF83}"/>
              </a:ext>
            </a:extLst>
          </p:cNvPr>
          <p:cNvSpPr txBox="1"/>
          <p:nvPr/>
        </p:nvSpPr>
        <p:spPr>
          <a:xfrm>
            <a:off x="2084071" y="4905179"/>
            <a:ext cx="3265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Vr1= $5.200 - $1.000 =$4.200</a:t>
            </a:r>
            <a:endParaRPr lang="es-AR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1E83F79-0417-4D3D-8363-B98C084D4361}"/>
              </a:ext>
            </a:extLst>
          </p:cNvPr>
          <p:cNvSpPr txBox="1"/>
          <p:nvPr/>
        </p:nvSpPr>
        <p:spPr>
          <a:xfrm>
            <a:off x="2115076" y="5260967"/>
            <a:ext cx="3265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Vr2= $5.200 - $2.000 =$3.200</a:t>
            </a:r>
            <a:endParaRPr lang="es-AR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8C5F799-D293-4E7B-A95D-555DB0338612}"/>
              </a:ext>
            </a:extLst>
          </p:cNvPr>
          <p:cNvSpPr txBox="1"/>
          <p:nvPr/>
        </p:nvSpPr>
        <p:spPr>
          <a:xfrm>
            <a:off x="2115076" y="5887851"/>
            <a:ext cx="3265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Vr4= $5.200 - $4.000 =$1.200</a:t>
            </a:r>
            <a:endParaRPr lang="es-AR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D4EC37C-9A95-4F2E-AF7E-31058951F293}"/>
              </a:ext>
            </a:extLst>
          </p:cNvPr>
          <p:cNvSpPr txBox="1"/>
          <p:nvPr/>
        </p:nvSpPr>
        <p:spPr>
          <a:xfrm>
            <a:off x="2118556" y="5577149"/>
            <a:ext cx="3265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Vr3= $5.200 - $3.000 =$2.200</a:t>
            </a:r>
            <a:endParaRPr lang="es-AR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896AF96-C062-433F-9156-D5D02EB8DD1D}"/>
              </a:ext>
            </a:extLst>
          </p:cNvPr>
          <p:cNvSpPr txBox="1"/>
          <p:nvPr/>
        </p:nvSpPr>
        <p:spPr>
          <a:xfrm>
            <a:off x="2115076" y="6249119"/>
            <a:ext cx="3265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Vr5= $5.200 - $5.000 =$200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4396912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241BA7-6B85-436E-927B-FD35C5A7E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6" y="-115361"/>
            <a:ext cx="8911687" cy="1280890"/>
          </a:xfrm>
        </p:spPr>
        <p:txBody>
          <a:bodyPr/>
          <a:lstStyle/>
          <a:p>
            <a:r>
              <a:rPr lang="es-MX" altLang="es-AR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  <a:t>AMORTIZACIÓN LINEAL</a:t>
            </a:r>
            <a:endParaRPr lang="es-AR" dirty="0"/>
          </a:p>
        </p:txBody>
      </p:sp>
      <p:graphicFrame>
        <p:nvGraphicFramePr>
          <p:cNvPr id="6" name="Tabla 6">
            <a:extLst>
              <a:ext uri="{FF2B5EF4-FFF2-40B4-BE49-F238E27FC236}">
                <a16:creationId xmlns:a16="http://schemas.microsoft.com/office/drawing/2014/main" id="{91C3E7BD-2268-498F-8230-4C53E176C0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5188521"/>
              </p:ext>
            </p:extLst>
          </p:nvPr>
        </p:nvGraphicFramePr>
        <p:xfrm>
          <a:off x="2520562" y="1165529"/>
          <a:ext cx="8832976" cy="3057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244">
                  <a:extLst>
                    <a:ext uri="{9D8B030D-6E8A-4147-A177-3AD203B41FA5}">
                      <a16:colId xmlns:a16="http://schemas.microsoft.com/office/drawing/2014/main" val="2091741415"/>
                    </a:ext>
                  </a:extLst>
                </a:gridCol>
                <a:gridCol w="2208244">
                  <a:extLst>
                    <a:ext uri="{9D8B030D-6E8A-4147-A177-3AD203B41FA5}">
                      <a16:colId xmlns:a16="http://schemas.microsoft.com/office/drawing/2014/main" val="3829846877"/>
                    </a:ext>
                  </a:extLst>
                </a:gridCol>
                <a:gridCol w="2208244">
                  <a:extLst>
                    <a:ext uri="{9D8B030D-6E8A-4147-A177-3AD203B41FA5}">
                      <a16:colId xmlns:a16="http://schemas.microsoft.com/office/drawing/2014/main" val="1407884787"/>
                    </a:ext>
                  </a:extLst>
                </a:gridCol>
                <a:gridCol w="2208244">
                  <a:extLst>
                    <a:ext uri="{9D8B030D-6E8A-4147-A177-3AD203B41FA5}">
                      <a16:colId xmlns:a16="http://schemas.microsoft.com/office/drawing/2014/main" val="2579293455"/>
                    </a:ext>
                  </a:extLst>
                </a:gridCol>
              </a:tblGrid>
              <a:tr h="1009816">
                <a:tc>
                  <a:txBody>
                    <a:bodyPr/>
                    <a:lstStyle/>
                    <a:p>
                      <a:r>
                        <a:rPr lang="es-AR" dirty="0"/>
                        <a:t>PERIODO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CUOTA AMORTIZACION</a:t>
                      </a:r>
                    </a:p>
                    <a:p>
                      <a:pPr algn="ctr"/>
                      <a:r>
                        <a:rPr lang="es-AR" dirty="0"/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AMORTIZACION ACUMULADA</a:t>
                      </a:r>
                    </a:p>
                    <a:p>
                      <a:pPr algn="ctr"/>
                      <a:r>
                        <a:rPr lang="es-AR" dirty="0"/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VALOR RESIDUAL</a:t>
                      </a:r>
                    </a:p>
                    <a:p>
                      <a:pPr algn="ctr"/>
                      <a:r>
                        <a:rPr lang="es-AR" dirty="0"/>
                        <a:t>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789359"/>
                  </a:ext>
                </a:extLst>
              </a:tr>
              <a:tr h="409536"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4.200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555536"/>
                  </a:ext>
                </a:extLst>
              </a:tr>
              <a:tr h="409536"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2.000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3.200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5550031"/>
                  </a:ext>
                </a:extLst>
              </a:tr>
              <a:tr h="409536"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3.000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2.200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108119"/>
                  </a:ext>
                </a:extLst>
              </a:tr>
              <a:tr h="409536"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4.000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1.200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3262780"/>
                  </a:ext>
                </a:extLst>
              </a:tr>
              <a:tr h="409536"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5.000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899311"/>
                  </a:ext>
                </a:extLst>
              </a:tr>
            </a:tbl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56554B64-AA85-4827-87E7-AC3825DF962D}"/>
              </a:ext>
            </a:extLst>
          </p:cNvPr>
          <p:cNvSpPr txBox="1"/>
          <p:nvPr/>
        </p:nvSpPr>
        <p:spPr>
          <a:xfrm>
            <a:off x="2592926" y="4587903"/>
            <a:ext cx="700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Cuota amortización = Valor amortizable/tiempo de vida útil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C72E6EC-D3EA-4332-87A2-D8708EE05C58}"/>
              </a:ext>
            </a:extLst>
          </p:cNvPr>
          <p:cNvSpPr txBox="1"/>
          <p:nvPr/>
        </p:nvSpPr>
        <p:spPr>
          <a:xfrm>
            <a:off x="2592926" y="5134583"/>
            <a:ext cx="700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Valor residual= Valor inicial – Amortización acumulada</a:t>
            </a:r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97B9AA35-EF22-42F8-A865-9D20C903E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0572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Text Box 4">
            <a:extLst>
              <a:ext uri="{FF2B5EF4-FFF2-40B4-BE49-F238E27FC236}">
                <a16:creationId xmlns:a16="http://schemas.microsoft.com/office/drawing/2014/main" id="{FA733758-8826-4E1E-BA9A-0A4715AA5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7476" y="185738"/>
            <a:ext cx="85248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s-MX" altLang="es-AR" sz="3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  <a:t>AMORTIZACIÓN LINEAL</a:t>
            </a:r>
          </a:p>
        </p:txBody>
      </p:sp>
      <p:sp>
        <p:nvSpPr>
          <p:cNvPr id="16389" name="Line 5">
            <a:extLst>
              <a:ext uri="{FF2B5EF4-FFF2-40B4-BE49-F238E27FC236}">
                <a16:creationId xmlns:a16="http://schemas.microsoft.com/office/drawing/2014/main" id="{3D580376-EF3B-42F5-B243-BA23704E7A1D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9513" y="1125538"/>
            <a:ext cx="0" cy="48958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6390" name="Line 6">
            <a:extLst>
              <a:ext uri="{FF2B5EF4-FFF2-40B4-BE49-F238E27FC236}">
                <a16:creationId xmlns:a16="http://schemas.microsoft.com/office/drawing/2014/main" id="{2293CFE0-C487-4F8F-AA73-231B9488F0F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30589" y="5734050"/>
            <a:ext cx="5748337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6391" name="Line 7">
            <a:extLst>
              <a:ext uri="{FF2B5EF4-FFF2-40B4-BE49-F238E27FC236}">
                <a16:creationId xmlns:a16="http://schemas.microsoft.com/office/drawing/2014/main" id="{755560E8-5C99-4B75-932C-AB43501B93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19513" y="2060575"/>
            <a:ext cx="696912" cy="1588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6392" name="Line 8">
            <a:extLst>
              <a:ext uri="{FF2B5EF4-FFF2-40B4-BE49-F238E27FC236}">
                <a16:creationId xmlns:a16="http://schemas.microsoft.com/office/drawing/2014/main" id="{54151E4D-1178-4FC7-B079-5F1ACABE5E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19514" y="2636839"/>
            <a:ext cx="1641475" cy="1587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6393" name="Line 9">
            <a:extLst>
              <a:ext uri="{FF2B5EF4-FFF2-40B4-BE49-F238E27FC236}">
                <a16:creationId xmlns:a16="http://schemas.microsoft.com/office/drawing/2014/main" id="{E7AE86BF-CBDD-459F-AD51-DE6213DE37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19513" y="3213100"/>
            <a:ext cx="2532062" cy="1588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6394" name="Line 10">
            <a:extLst>
              <a:ext uri="{FF2B5EF4-FFF2-40B4-BE49-F238E27FC236}">
                <a16:creationId xmlns:a16="http://schemas.microsoft.com/office/drawing/2014/main" id="{5F1F6DB4-2BB9-4D9A-A145-2BED4488CB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46489" y="3789364"/>
            <a:ext cx="3559175" cy="1587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6395" name="AutoShape 11">
            <a:extLst>
              <a:ext uri="{FF2B5EF4-FFF2-40B4-BE49-F238E27FC236}">
                <a16:creationId xmlns:a16="http://schemas.microsoft.com/office/drawing/2014/main" id="{972BEF9B-C6BF-44F1-A439-275CA68DF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6488" y="1498601"/>
            <a:ext cx="144462" cy="144463"/>
          </a:xfrm>
          <a:prstGeom prst="flowChartConnector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s-AR"/>
          </a:p>
        </p:txBody>
      </p:sp>
      <p:sp>
        <p:nvSpPr>
          <p:cNvPr id="16396" name="Line 12">
            <a:extLst>
              <a:ext uri="{FF2B5EF4-FFF2-40B4-BE49-F238E27FC236}">
                <a16:creationId xmlns:a16="http://schemas.microsoft.com/office/drawing/2014/main" id="{0858A217-6EEB-46C8-897F-418C6685B1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1" y="4365625"/>
            <a:ext cx="4449763" cy="1588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6397" name="Text Box 13">
            <a:extLst>
              <a:ext uri="{FF2B5EF4-FFF2-40B4-BE49-F238E27FC236}">
                <a16:creationId xmlns:a16="http://schemas.microsoft.com/office/drawing/2014/main" id="{EDC2D531-2147-43DB-900E-518D5D617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0901" y="1376364"/>
            <a:ext cx="16557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AR" altLang="es-AR" sz="2000">
                <a:solidFill>
                  <a:srgbClr val="FF0000"/>
                </a:solidFill>
                <a:latin typeface="Tahoma" panose="020B0604030504040204" pitchFamily="34" charset="0"/>
              </a:rPr>
              <a:t>Valor Inicial</a:t>
            </a:r>
            <a:endParaRPr lang="es-ES" altLang="es-AR" sz="200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16398" name="Text Box 14">
            <a:extLst>
              <a:ext uri="{FF2B5EF4-FFF2-40B4-BE49-F238E27FC236}">
                <a16:creationId xmlns:a16="http://schemas.microsoft.com/office/drawing/2014/main" id="{02641204-EA8F-49D5-8B6D-69595E184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1600" y="1773239"/>
            <a:ext cx="11509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AR" altLang="es-AR" sz="2000">
                <a:latin typeface="Tahoma" panose="020B0604030504040204" pitchFamily="34" charset="0"/>
              </a:rPr>
              <a:t>VR</a:t>
            </a:r>
            <a:r>
              <a:rPr lang="es-AR" altLang="es-AR" sz="2000" b="1" baseline="-25000">
                <a:latin typeface="Tahoma" panose="020B0604030504040204" pitchFamily="34" charset="0"/>
              </a:rPr>
              <a:t>1° año</a:t>
            </a:r>
            <a:endParaRPr lang="es-ES" altLang="es-AR" sz="2000">
              <a:latin typeface="Tahoma" panose="020B0604030504040204" pitchFamily="34" charset="0"/>
            </a:endParaRPr>
          </a:p>
        </p:txBody>
      </p:sp>
      <p:sp>
        <p:nvSpPr>
          <p:cNvPr id="16399" name="Text Box 15">
            <a:extLst>
              <a:ext uri="{FF2B5EF4-FFF2-40B4-BE49-F238E27FC236}">
                <a16:creationId xmlns:a16="http://schemas.microsoft.com/office/drawing/2014/main" id="{7F79A733-C859-4EE5-AC6D-FD8A71C30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2349501"/>
            <a:ext cx="10588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AR" altLang="es-AR" sz="2000">
                <a:latin typeface="Tahoma" panose="020B0604030504040204" pitchFamily="34" charset="0"/>
              </a:rPr>
              <a:t>VR</a:t>
            </a:r>
            <a:r>
              <a:rPr lang="es-AR" altLang="es-AR" sz="2000" b="1" baseline="-25000">
                <a:latin typeface="Tahoma" panose="020B0604030504040204" pitchFamily="34" charset="0"/>
              </a:rPr>
              <a:t>2° año</a:t>
            </a:r>
            <a:endParaRPr lang="es-ES" altLang="es-AR" sz="2000">
              <a:latin typeface="Tahoma" panose="020B0604030504040204" pitchFamily="34" charset="0"/>
            </a:endParaRPr>
          </a:p>
        </p:txBody>
      </p:sp>
      <p:sp>
        <p:nvSpPr>
          <p:cNvPr id="16400" name="Text Box 16">
            <a:extLst>
              <a:ext uri="{FF2B5EF4-FFF2-40B4-BE49-F238E27FC236}">
                <a16:creationId xmlns:a16="http://schemas.microsoft.com/office/drawing/2014/main" id="{91723800-8893-4703-A9FD-36EED3ACAD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2924176"/>
            <a:ext cx="1079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AR" altLang="es-AR" sz="2000">
                <a:latin typeface="Tahoma" panose="020B0604030504040204" pitchFamily="34" charset="0"/>
              </a:rPr>
              <a:t>VR</a:t>
            </a:r>
            <a:r>
              <a:rPr lang="es-AR" altLang="es-AR" sz="2000" b="1" baseline="-25000">
                <a:latin typeface="Tahoma" panose="020B0604030504040204" pitchFamily="34" charset="0"/>
              </a:rPr>
              <a:t>3° año</a:t>
            </a:r>
            <a:endParaRPr lang="es-ES" altLang="es-AR" sz="2000">
              <a:latin typeface="Tahoma" panose="020B0604030504040204" pitchFamily="34" charset="0"/>
            </a:endParaRPr>
          </a:p>
        </p:txBody>
      </p:sp>
      <p:sp>
        <p:nvSpPr>
          <p:cNvPr id="16401" name="Text Box 17">
            <a:extLst>
              <a:ext uri="{FF2B5EF4-FFF2-40B4-BE49-F238E27FC236}">
                <a16:creationId xmlns:a16="http://schemas.microsoft.com/office/drawing/2014/main" id="{44DAB85E-C4E8-46E7-BC5B-69F9F2E28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8425" y="3500439"/>
            <a:ext cx="10810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AR" altLang="es-AR" sz="2000">
                <a:latin typeface="Tahoma" panose="020B0604030504040204" pitchFamily="34" charset="0"/>
              </a:rPr>
              <a:t>VR</a:t>
            </a:r>
            <a:r>
              <a:rPr lang="es-AR" altLang="es-AR" sz="2000" b="1" baseline="-25000">
                <a:latin typeface="Tahoma" panose="020B0604030504040204" pitchFamily="34" charset="0"/>
              </a:rPr>
              <a:t>4° año</a:t>
            </a:r>
            <a:endParaRPr lang="es-ES" altLang="es-AR" sz="2000">
              <a:latin typeface="Tahoma" panose="020B0604030504040204" pitchFamily="34" charset="0"/>
            </a:endParaRPr>
          </a:p>
        </p:txBody>
      </p:sp>
      <p:sp>
        <p:nvSpPr>
          <p:cNvPr id="16402" name="Text Box 18">
            <a:extLst>
              <a:ext uri="{FF2B5EF4-FFF2-40B4-BE49-F238E27FC236}">
                <a16:creationId xmlns:a16="http://schemas.microsoft.com/office/drawing/2014/main" id="{25FFBC6F-5CB8-4536-B0E5-CAA9B6E69D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3313" y="4149726"/>
            <a:ext cx="14906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AR" altLang="es-AR" sz="2000" dirty="0">
                <a:solidFill>
                  <a:srgbClr val="FF0000"/>
                </a:solidFill>
                <a:latin typeface="Tahoma" panose="020B0604030504040204" pitchFamily="34" charset="0"/>
              </a:rPr>
              <a:t>Valor final</a:t>
            </a:r>
            <a:endParaRPr lang="es-ES" altLang="es-AR" sz="20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16403" name="Text Box 19">
            <a:extLst>
              <a:ext uri="{FF2B5EF4-FFF2-40B4-BE49-F238E27FC236}">
                <a16:creationId xmlns:a16="http://schemas.microsoft.com/office/drawing/2014/main" id="{A6997F5E-18AE-4545-925D-9BACADE2A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805489"/>
            <a:ext cx="68961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AR" altLang="es-AR" sz="2000">
                <a:latin typeface="Tahoma" panose="020B0604030504040204" pitchFamily="34" charset="0"/>
              </a:rPr>
              <a:t>0            1          2          3           4          5        t [años]</a:t>
            </a:r>
            <a:endParaRPr lang="es-ES" altLang="es-AR" sz="2000">
              <a:latin typeface="Tahoma" panose="020B0604030504040204" pitchFamily="34" charset="0"/>
            </a:endParaRPr>
          </a:p>
        </p:txBody>
      </p:sp>
      <p:sp>
        <p:nvSpPr>
          <p:cNvPr id="16404" name="Line 20">
            <a:extLst>
              <a:ext uri="{FF2B5EF4-FFF2-40B4-BE49-F238E27FC236}">
                <a16:creationId xmlns:a16="http://schemas.microsoft.com/office/drawing/2014/main" id="{C699B796-98EB-47B6-9652-FF747754D641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7926" y="1557339"/>
            <a:ext cx="4608513" cy="28082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6405" name="Line 21">
            <a:extLst>
              <a:ext uri="{FF2B5EF4-FFF2-40B4-BE49-F238E27FC236}">
                <a16:creationId xmlns:a16="http://schemas.microsoft.com/office/drawing/2014/main" id="{730177EB-4154-4B74-A60B-0D027A1B095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1675" y="2060576"/>
            <a:ext cx="0" cy="3744913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6406" name="Line 22">
            <a:extLst>
              <a:ext uri="{FF2B5EF4-FFF2-40B4-BE49-F238E27FC236}">
                <a16:creationId xmlns:a16="http://schemas.microsoft.com/office/drawing/2014/main" id="{1E3686F9-33B1-48D2-AFFA-CADEFC66D65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6713" y="2636838"/>
            <a:ext cx="0" cy="3097212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6407" name="Line 23">
            <a:extLst>
              <a:ext uri="{FF2B5EF4-FFF2-40B4-BE49-F238E27FC236}">
                <a16:creationId xmlns:a16="http://schemas.microsoft.com/office/drawing/2014/main" id="{B3596028-6C29-45B1-800A-D72491563E31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3338" y="3213100"/>
            <a:ext cx="0" cy="252095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6408" name="Line 24">
            <a:extLst>
              <a:ext uri="{FF2B5EF4-FFF2-40B4-BE49-F238E27FC236}">
                <a16:creationId xmlns:a16="http://schemas.microsoft.com/office/drawing/2014/main" id="{6ADFF620-8EC5-4895-BE6A-6D44AD018294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3789364"/>
            <a:ext cx="0" cy="1944687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6409" name="Line 25">
            <a:extLst>
              <a:ext uri="{FF2B5EF4-FFF2-40B4-BE49-F238E27FC236}">
                <a16:creationId xmlns:a16="http://schemas.microsoft.com/office/drawing/2014/main" id="{A119E437-92FD-42AC-AC47-87FC294BF14C}"/>
              </a:ext>
            </a:extLst>
          </p:cNvPr>
          <p:cNvSpPr>
            <a:spLocks noChangeShapeType="1"/>
          </p:cNvSpPr>
          <p:nvPr/>
        </p:nvSpPr>
        <p:spPr bwMode="auto">
          <a:xfrm>
            <a:off x="8328025" y="4365626"/>
            <a:ext cx="0" cy="1368425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6410" name="AutoShape 26">
            <a:extLst>
              <a:ext uri="{FF2B5EF4-FFF2-40B4-BE49-F238E27FC236}">
                <a16:creationId xmlns:a16="http://schemas.microsoft.com/office/drawing/2014/main" id="{EF892F54-9CD2-47E2-9697-65CA7B5E5668}"/>
              </a:ext>
            </a:extLst>
          </p:cNvPr>
          <p:cNvSpPr>
            <a:spLocks/>
          </p:cNvSpPr>
          <p:nvPr/>
        </p:nvSpPr>
        <p:spPr bwMode="auto">
          <a:xfrm>
            <a:off x="2135188" y="1341439"/>
            <a:ext cx="215900" cy="3240087"/>
          </a:xfrm>
          <a:prstGeom prst="leftBrace">
            <a:avLst>
              <a:gd name="adj1" fmla="val 125061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s-AR"/>
          </a:p>
        </p:txBody>
      </p:sp>
      <p:sp>
        <p:nvSpPr>
          <p:cNvPr id="16411" name="Text Box 27">
            <a:extLst>
              <a:ext uri="{FF2B5EF4-FFF2-40B4-BE49-F238E27FC236}">
                <a16:creationId xmlns:a16="http://schemas.microsoft.com/office/drawing/2014/main" id="{34EEDAF6-AB79-4AA3-9D97-7ECD566D4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325" y="2708275"/>
            <a:ext cx="16256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AR" altLang="es-AR" dirty="0">
                <a:solidFill>
                  <a:srgbClr val="FF0000"/>
                </a:solidFill>
                <a:latin typeface="Tahoma" panose="020B0604030504040204" pitchFamily="34" charset="0"/>
              </a:rPr>
              <a:t>Valor  amortizable</a:t>
            </a:r>
            <a:endParaRPr lang="es-ES" altLang="es-AR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16412" name="AutoShape 28">
            <a:extLst>
              <a:ext uri="{FF2B5EF4-FFF2-40B4-BE49-F238E27FC236}">
                <a16:creationId xmlns:a16="http://schemas.microsoft.com/office/drawing/2014/main" id="{FD175E3B-1181-4E0A-802A-681FBBF47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01" y="4278313"/>
            <a:ext cx="144463" cy="144462"/>
          </a:xfrm>
          <a:prstGeom prst="flowChartConnector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s-AR"/>
          </a:p>
        </p:txBody>
      </p:sp>
      <p:sp>
        <p:nvSpPr>
          <p:cNvPr id="16413" name="AutoShape 29">
            <a:extLst>
              <a:ext uri="{FF2B5EF4-FFF2-40B4-BE49-F238E27FC236}">
                <a16:creationId xmlns:a16="http://schemas.microsoft.com/office/drawing/2014/main" id="{C412BEEC-6EF6-4CBA-B9C6-D2377951D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1" y="1974851"/>
            <a:ext cx="144463" cy="144463"/>
          </a:xfrm>
          <a:prstGeom prst="flowChartConnector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s-AR"/>
          </a:p>
        </p:txBody>
      </p:sp>
      <p:sp>
        <p:nvSpPr>
          <p:cNvPr id="16414" name="AutoShape 30">
            <a:extLst>
              <a:ext uri="{FF2B5EF4-FFF2-40B4-BE49-F238E27FC236}">
                <a16:creationId xmlns:a16="http://schemas.microsoft.com/office/drawing/2014/main" id="{820C6484-8365-49C7-BDB6-D58813D0D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3688" y="2549526"/>
            <a:ext cx="144462" cy="144463"/>
          </a:xfrm>
          <a:prstGeom prst="flowChartConnector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s-AR"/>
          </a:p>
        </p:txBody>
      </p:sp>
      <p:sp>
        <p:nvSpPr>
          <p:cNvPr id="16415" name="AutoShape 31">
            <a:extLst>
              <a:ext uri="{FF2B5EF4-FFF2-40B4-BE49-F238E27FC236}">
                <a16:creationId xmlns:a16="http://schemas.microsoft.com/office/drawing/2014/main" id="{3C06125E-854A-4FF6-ACAD-ABD5CC38E0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0313" y="3127376"/>
            <a:ext cx="144462" cy="144463"/>
          </a:xfrm>
          <a:prstGeom prst="flowChartConnector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s-AR"/>
          </a:p>
        </p:txBody>
      </p:sp>
      <p:sp>
        <p:nvSpPr>
          <p:cNvPr id="16416" name="AutoShape 32">
            <a:extLst>
              <a:ext uri="{FF2B5EF4-FFF2-40B4-BE49-F238E27FC236}">
                <a16:creationId xmlns:a16="http://schemas.microsoft.com/office/drawing/2014/main" id="{FAE4D8BC-D53A-4E30-8091-0A52D4A1B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376" y="3730626"/>
            <a:ext cx="144463" cy="144463"/>
          </a:xfrm>
          <a:prstGeom prst="flowChartConnector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s-AR"/>
          </a:p>
        </p:txBody>
      </p:sp>
      <p:sp>
        <p:nvSpPr>
          <p:cNvPr id="16417" name="Text Box 33">
            <a:extLst>
              <a:ext uri="{FF2B5EF4-FFF2-40B4-BE49-F238E27FC236}">
                <a16:creationId xmlns:a16="http://schemas.microsoft.com/office/drawing/2014/main" id="{89912C9A-7B93-4868-B5B4-CBF7C4DC9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3114" y="1557338"/>
            <a:ext cx="17287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AR" altLang="es-AR" b="1" dirty="0">
                <a:solidFill>
                  <a:schemeClr val="accent2"/>
                </a:solidFill>
                <a:latin typeface="Tahoma" panose="020B0604030504040204" pitchFamily="34" charset="0"/>
              </a:rPr>
              <a:t>Cuota </a:t>
            </a:r>
            <a:r>
              <a:rPr lang="es-AR" altLang="es-AR" b="1" baseline="-25000" dirty="0">
                <a:solidFill>
                  <a:schemeClr val="accent2"/>
                </a:solidFill>
                <a:latin typeface="Tahoma" panose="020B0604030504040204" pitchFamily="34" charset="0"/>
              </a:rPr>
              <a:t>1° año</a:t>
            </a:r>
            <a:endParaRPr lang="es-ES" altLang="es-AR" b="1" dirty="0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16418" name="Line 34">
            <a:extLst>
              <a:ext uri="{FF2B5EF4-FFF2-40B4-BE49-F238E27FC236}">
                <a16:creationId xmlns:a16="http://schemas.microsoft.com/office/drawing/2014/main" id="{3E1C805C-4C5B-49F7-8567-1F72B1613E5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90951" y="1557339"/>
            <a:ext cx="684213" cy="158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6419" name="Line 35">
            <a:extLst>
              <a:ext uri="{FF2B5EF4-FFF2-40B4-BE49-F238E27FC236}">
                <a16:creationId xmlns:a16="http://schemas.microsoft.com/office/drawing/2014/main" id="{7E087B68-393E-47FE-90CB-A668D2EF6B4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0089" y="2060575"/>
            <a:ext cx="890587" cy="15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6420" name="Line 36">
            <a:extLst>
              <a:ext uri="{FF2B5EF4-FFF2-40B4-BE49-F238E27FC236}">
                <a16:creationId xmlns:a16="http://schemas.microsoft.com/office/drawing/2014/main" id="{1C2A7A25-EA32-4502-9066-5D254C5C04C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8151" y="2636839"/>
            <a:ext cx="822325" cy="158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6421" name="Line 37">
            <a:extLst>
              <a:ext uri="{FF2B5EF4-FFF2-40B4-BE49-F238E27FC236}">
                <a16:creationId xmlns:a16="http://schemas.microsoft.com/office/drawing/2014/main" id="{376BA462-4B3C-4695-94F0-556B90663D9C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3339" y="3213100"/>
            <a:ext cx="890587" cy="15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6422" name="Line 38">
            <a:extLst>
              <a:ext uri="{FF2B5EF4-FFF2-40B4-BE49-F238E27FC236}">
                <a16:creationId xmlns:a16="http://schemas.microsoft.com/office/drawing/2014/main" id="{188D9ED1-D96E-4775-8CA6-520F0B1A86E6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3789364"/>
            <a:ext cx="890588" cy="158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6423" name="Line 39">
            <a:extLst>
              <a:ext uri="{FF2B5EF4-FFF2-40B4-BE49-F238E27FC236}">
                <a16:creationId xmlns:a16="http://schemas.microsoft.com/office/drawing/2014/main" id="{A89978BB-9F05-4783-B463-651189E8D0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11675" y="1557339"/>
            <a:ext cx="0" cy="50323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6424" name="Line 40">
            <a:extLst>
              <a:ext uri="{FF2B5EF4-FFF2-40B4-BE49-F238E27FC236}">
                <a16:creationId xmlns:a16="http://schemas.microsoft.com/office/drawing/2014/main" id="{93714D92-83E4-4AD7-89FC-376AD0F1546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46713" y="2062164"/>
            <a:ext cx="0" cy="50323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6425" name="Line 41">
            <a:extLst>
              <a:ext uri="{FF2B5EF4-FFF2-40B4-BE49-F238E27FC236}">
                <a16:creationId xmlns:a16="http://schemas.microsoft.com/office/drawing/2014/main" id="{CDDC9D1B-62B0-4EBD-8564-0E4F6A95C9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83338" y="2636839"/>
            <a:ext cx="0" cy="50323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6426" name="Line 42">
            <a:extLst>
              <a:ext uri="{FF2B5EF4-FFF2-40B4-BE49-F238E27FC236}">
                <a16:creationId xmlns:a16="http://schemas.microsoft.com/office/drawing/2014/main" id="{53F5D1C8-D9DB-4C95-9575-291063D84E0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1400" y="3213100"/>
            <a:ext cx="0" cy="50323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6427" name="Line 43">
            <a:extLst>
              <a:ext uri="{FF2B5EF4-FFF2-40B4-BE49-F238E27FC236}">
                <a16:creationId xmlns:a16="http://schemas.microsoft.com/office/drawing/2014/main" id="{8E4DED0C-4B00-41A9-BB9D-E5C16E460F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28025" y="3789364"/>
            <a:ext cx="0" cy="50323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6428" name="Text Box 44">
            <a:extLst>
              <a:ext uri="{FF2B5EF4-FFF2-40B4-BE49-F238E27FC236}">
                <a16:creationId xmlns:a16="http://schemas.microsoft.com/office/drawing/2014/main" id="{123B80EF-E47B-4F88-94CC-BFC58FD9B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9739" y="2133601"/>
            <a:ext cx="17287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AR" altLang="es-AR" b="1">
                <a:solidFill>
                  <a:schemeClr val="accent2"/>
                </a:solidFill>
                <a:latin typeface="Tahoma" panose="020B0604030504040204" pitchFamily="34" charset="0"/>
              </a:rPr>
              <a:t>Cuota </a:t>
            </a:r>
            <a:r>
              <a:rPr lang="es-AR" altLang="es-AR" b="1" baseline="-25000">
                <a:solidFill>
                  <a:schemeClr val="accent2"/>
                </a:solidFill>
                <a:latin typeface="Tahoma" panose="020B0604030504040204" pitchFamily="34" charset="0"/>
              </a:rPr>
              <a:t>2° año</a:t>
            </a:r>
            <a:endParaRPr lang="es-ES" altLang="es-AR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16429" name="Text Box 45">
            <a:extLst>
              <a:ext uri="{FF2B5EF4-FFF2-40B4-BE49-F238E27FC236}">
                <a16:creationId xmlns:a16="http://schemas.microsoft.com/office/drawing/2014/main" id="{CBA63ECF-0AEF-4AF5-B309-E1B1BC8655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6214" y="2732088"/>
            <a:ext cx="17287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AR" altLang="es-AR" b="1" dirty="0">
                <a:solidFill>
                  <a:schemeClr val="accent2"/>
                </a:solidFill>
                <a:latin typeface="Tahoma" panose="020B0604030504040204" pitchFamily="34" charset="0"/>
              </a:rPr>
              <a:t>Cuota </a:t>
            </a:r>
            <a:r>
              <a:rPr lang="es-AR" altLang="es-AR" b="1" baseline="-25000" dirty="0">
                <a:solidFill>
                  <a:schemeClr val="accent2"/>
                </a:solidFill>
                <a:latin typeface="Tahoma" panose="020B0604030504040204" pitchFamily="34" charset="0"/>
              </a:rPr>
              <a:t>3° año</a:t>
            </a:r>
            <a:endParaRPr lang="es-ES" altLang="es-AR" b="1" dirty="0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16430" name="Text Box 46">
            <a:extLst>
              <a:ext uri="{FF2B5EF4-FFF2-40B4-BE49-F238E27FC236}">
                <a16:creationId xmlns:a16="http://schemas.microsoft.com/office/drawing/2014/main" id="{8E6FD269-9741-43E3-8368-6CBFFC46B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4275" y="3308351"/>
            <a:ext cx="17287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AR" altLang="es-AR" b="1">
                <a:solidFill>
                  <a:schemeClr val="accent2"/>
                </a:solidFill>
                <a:latin typeface="Tahoma" panose="020B0604030504040204" pitchFamily="34" charset="0"/>
              </a:rPr>
              <a:t>Cuota </a:t>
            </a:r>
            <a:r>
              <a:rPr lang="es-AR" altLang="es-AR" b="1" baseline="-25000">
                <a:solidFill>
                  <a:schemeClr val="accent2"/>
                </a:solidFill>
                <a:latin typeface="Tahoma" panose="020B0604030504040204" pitchFamily="34" charset="0"/>
              </a:rPr>
              <a:t>4° año</a:t>
            </a:r>
            <a:endParaRPr lang="es-ES" altLang="es-AR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16431" name="Text Box 47">
            <a:extLst>
              <a:ext uri="{FF2B5EF4-FFF2-40B4-BE49-F238E27FC236}">
                <a16:creationId xmlns:a16="http://schemas.microsoft.com/office/drawing/2014/main" id="{7B48BE02-1532-4A70-8E35-ACEFB43AC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0900" y="3884613"/>
            <a:ext cx="17287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AR" altLang="es-AR" b="1">
                <a:solidFill>
                  <a:schemeClr val="accent2"/>
                </a:solidFill>
                <a:latin typeface="Tahoma" panose="020B0604030504040204" pitchFamily="34" charset="0"/>
              </a:rPr>
              <a:t>Cuota </a:t>
            </a:r>
            <a:r>
              <a:rPr lang="es-AR" altLang="es-AR" b="1" baseline="-25000">
                <a:solidFill>
                  <a:schemeClr val="accent2"/>
                </a:solidFill>
                <a:latin typeface="Tahoma" panose="020B0604030504040204" pitchFamily="34" charset="0"/>
              </a:rPr>
              <a:t>5° año</a:t>
            </a:r>
            <a:endParaRPr lang="es-ES" altLang="es-AR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16432" name="Text Box 48">
            <a:extLst>
              <a:ext uri="{FF2B5EF4-FFF2-40B4-BE49-F238E27FC236}">
                <a16:creationId xmlns:a16="http://schemas.microsoft.com/office/drawing/2014/main" id="{176FAB7D-5297-4A46-9568-91DCD1CF9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6275" y="1016001"/>
            <a:ext cx="431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AR" altLang="es-AR" sz="2000">
                <a:latin typeface="Tahoma" panose="020B0604030504040204" pitchFamily="34" charset="0"/>
              </a:rPr>
              <a:t>$</a:t>
            </a:r>
            <a:endParaRPr lang="es-ES" altLang="es-AR" sz="2000">
              <a:latin typeface="Tahoma" panose="020B0604030504040204" pitchFamily="34" charset="0"/>
            </a:endParaRPr>
          </a:p>
        </p:txBody>
      </p:sp>
      <p:sp>
        <p:nvSpPr>
          <p:cNvPr id="16435" name="Text Box 51">
            <a:extLst>
              <a:ext uri="{FF2B5EF4-FFF2-40B4-BE49-F238E27FC236}">
                <a16:creationId xmlns:a16="http://schemas.microsoft.com/office/drawing/2014/main" id="{07E98EC5-F591-4C09-8ADB-BEEE209F05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8632" y="775494"/>
            <a:ext cx="3889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s-AR" altLang="es-AR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  <a:t>Vida útil económica = 5 años</a:t>
            </a:r>
            <a:endParaRPr lang="es-ES" altLang="es-AR" sz="2000" b="1" dirty="0"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  <a:cs typeface="Arial" charset="0"/>
            </a:endParaRPr>
          </a:p>
        </p:txBody>
      </p:sp>
      <p:sp>
        <p:nvSpPr>
          <p:cNvPr id="48" name="47 CuadroTexto">
            <a:extLst>
              <a:ext uri="{FF2B5EF4-FFF2-40B4-BE49-F238E27FC236}">
                <a16:creationId xmlns:a16="http://schemas.microsoft.com/office/drawing/2014/main" id="{01846100-D11A-40CF-8D5F-0D4A703E90DE}"/>
              </a:ext>
            </a:extLst>
          </p:cNvPr>
          <p:cNvSpPr txBox="1"/>
          <p:nvPr/>
        </p:nvSpPr>
        <p:spPr>
          <a:xfrm>
            <a:off x="4721226" y="6276975"/>
            <a:ext cx="6119813" cy="323850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r" eaLnBrk="1" hangingPunct="1">
              <a:defRPr/>
            </a:pPr>
            <a:r>
              <a:rPr lang="es-AR" sz="1500" b="1" dirty="0">
                <a:latin typeface="+mj-lt"/>
                <a:cs typeface="Arial" charset="0"/>
              </a:rPr>
              <a:t>18                                   Depreciación y Amortización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F07AB1E-CBFB-4F16-ADB2-C7B96365A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6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5" grpId="0" animBg="1"/>
      <p:bldP spid="16397" grpId="0"/>
      <p:bldP spid="16398" grpId="0"/>
      <p:bldP spid="16399" grpId="0"/>
      <p:bldP spid="16400" grpId="0"/>
      <p:bldP spid="16401" grpId="0"/>
      <p:bldP spid="16402" grpId="0"/>
      <p:bldP spid="16403" grpId="0"/>
      <p:bldP spid="16410" grpId="0" animBg="1"/>
      <p:bldP spid="16411" grpId="0"/>
      <p:bldP spid="16412" grpId="0" animBg="1"/>
      <p:bldP spid="16413" grpId="0" animBg="1"/>
      <p:bldP spid="16414" grpId="0" animBg="1"/>
      <p:bldP spid="16415" grpId="0" animBg="1"/>
      <p:bldP spid="16416" grpId="0" animBg="1"/>
      <p:bldP spid="16417" grpId="0"/>
      <p:bldP spid="16428" grpId="0"/>
      <p:bldP spid="16429" grpId="0"/>
      <p:bldP spid="16430" grpId="0"/>
      <p:bldP spid="16431" grpId="0"/>
      <p:bldP spid="16432" grpId="0"/>
      <p:bldP spid="1643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764DAD-B40A-4F55-A6A1-90914829F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4216" y="251685"/>
            <a:ext cx="9556543" cy="1076183"/>
          </a:xfrm>
        </p:spPr>
        <p:txBody>
          <a:bodyPr>
            <a:normAutofit fontScale="90000"/>
          </a:bodyPr>
          <a:lstStyle/>
          <a:p>
            <a:r>
              <a:rPr lang="es-MX" altLang="es-AR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  <a:t>SISTEMA DE AMORTIZACIÓN:</a:t>
            </a:r>
            <a:br>
              <a:rPr lang="es-MX" altLang="es-AR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</a:br>
            <a:r>
              <a:rPr lang="es-MX" altLang="es-AR" sz="27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  <a:t>ACELERADO O DECRECIENTE Y</a:t>
            </a:r>
            <a:r>
              <a:rPr lang="es-MX" altLang="es-AR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  <a:t> 	</a:t>
            </a:r>
            <a:r>
              <a:rPr lang="es-MX" altLang="es-AR" sz="27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  <a:t>DESACELERADO O CRECIENTE</a:t>
            </a:r>
            <a:br>
              <a:rPr lang="es-MX" altLang="es-AR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</a:br>
            <a:endParaRPr lang="es-AR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706A286-E151-4FA8-A64B-A84A15B6B89E}"/>
              </a:ext>
            </a:extLst>
          </p:cNvPr>
          <p:cNvSpPr txBox="1"/>
          <p:nvPr/>
        </p:nvSpPr>
        <p:spPr>
          <a:xfrm>
            <a:off x="2663687" y="1442672"/>
            <a:ext cx="59873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Tanto para la amortización acelerada o decreciente como la amortización desacelerada o creciente debemos afectar a la cuota de amortización con una fracción: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F8D8D91-4795-444C-AB19-223E83AF405C}"/>
              </a:ext>
            </a:extLst>
          </p:cNvPr>
          <p:cNvSpPr txBox="1"/>
          <p:nvPr/>
        </p:nvSpPr>
        <p:spPr>
          <a:xfrm>
            <a:off x="2663687" y="2480806"/>
            <a:ext cx="59873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denominador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será común para ambos métodos y lo obtendremos como la suma de los dígitos de la vida útil, en este caso, 5 años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Por lo tanto será: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Fracción = 1+2+3+4+5 = 15</a:t>
            </a:r>
          </a:p>
          <a:p>
            <a:endParaRPr lang="es-AR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EB5A06D-8083-4E71-88C1-58524211107D}"/>
              </a:ext>
            </a:extLst>
          </p:cNvPr>
          <p:cNvSpPr txBox="1"/>
          <p:nvPr/>
        </p:nvSpPr>
        <p:spPr>
          <a:xfrm>
            <a:off x="2663687" y="4054677"/>
            <a:ext cx="63451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numerador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tendrá el siguiente orden:</a:t>
            </a:r>
          </a:p>
          <a:p>
            <a:pPr lvl="1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para la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desacelerada o creciente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 1; 2; 3; 4; 5</a:t>
            </a:r>
          </a:p>
          <a:p>
            <a:pPr lvl="1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y sus fracciones serán : 1/15; 2/15; 3/15; 4/15; 5/15</a:t>
            </a:r>
          </a:p>
          <a:p>
            <a:pPr lvl="1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Para la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acelerada o decreciente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 5; 4; 3; 2; 1</a:t>
            </a:r>
          </a:p>
          <a:p>
            <a:pPr lvl="1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y sus fracciones serán: 5/15; 4/15; 3/15; 2/15; 1/15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488F555-4535-4EC9-99DA-E40EA1BF4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5406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6B4017-3D26-4D56-BE97-35A744EF3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3" y="624110"/>
            <a:ext cx="8915400" cy="687855"/>
          </a:xfrm>
        </p:spPr>
        <p:txBody>
          <a:bodyPr>
            <a:normAutofit fontScale="90000"/>
          </a:bodyPr>
          <a:lstStyle/>
          <a:p>
            <a:r>
              <a:rPr lang="es-MX" altLang="es-AR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  <a:t>AMORTIZACIÓN DESACELERADA O CRECIENTE</a:t>
            </a:r>
            <a:br>
              <a:rPr lang="es-MX" altLang="es-AR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</a:br>
            <a:endParaRPr lang="es-AR" dirty="0"/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2C9F4435-B750-4E8C-B99F-34E3E1A04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230179"/>
              </p:ext>
            </p:extLst>
          </p:nvPr>
        </p:nvGraphicFramePr>
        <p:xfrm>
          <a:off x="1674192" y="1844703"/>
          <a:ext cx="9250901" cy="2965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990">
                  <a:extLst>
                    <a:ext uri="{9D8B030D-6E8A-4147-A177-3AD203B41FA5}">
                      <a16:colId xmlns:a16="http://schemas.microsoft.com/office/drawing/2014/main" val="2066506222"/>
                    </a:ext>
                  </a:extLst>
                </a:gridCol>
                <a:gridCol w="1610863">
                  <a:extLst>
                    <a:ext uri="{9D8B030D-6E8A-4147-A177-3AD203B41FA5}">
                      <a16:colId xmlns:a16="http://schemas.microsoft.com/office/drawing/2014/main" val="3184767710"/>
                    </a:ext>
                  </a:extLst>
                </a:gridCol>
                <a:gridCol w="2387324">
                  <a:extLst>
                    <a:ext uri="{9D8B030D-6E8A-4147-A177-3AD203B41FA5}">
                      <a16:colId xmlns:a16="http://schemas.microsoft.com/office/drawing/2014/main" val="1532569331"/>
                    </a:ext>
                  </a:extLst>
                </a:gridCol>
                <a:gridCol w="2083275">
                  <a:extLst>
                    <a:ext uri="{9D8B030D-6E8A-4147-A177-3AD203B41FA5}">
                      <a16:colId xmlns:a16="http://schemas.microsoft.com/office/drawing/2014/main" val="674965322"/>
                    </a:ext>
                  </a:extLst>
                </a:gridCol>
                <a:gridCol w="1717449">
                  <a:extLst>
                    <a:ext uri="{9D8B030D-6E8A-4147-A177-3AD203B41FA5}">
                      <a16:colId xmlns:a16="http://schemas.microsoft.com/office/drawing/2014/main" val="296612946"/>
                    </a:ext>
                  </a:extLst>
                </a:gridCol>
              </a:tblGrid>
              <a:tr h="1127810">
                <a:tc>
                  <a:txBody>
                    <a:bodyPr/>
                    <a:lstStyle/>
                    <a:p>
                      <a:r>
                        <a:rPr lang="es-AR" dirty="0"/>
                        <a:t>PERIODO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FRACCION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CUOTA DE AMORTIZACION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AMORTIZACION ACUMULADA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VALOR RESIDUAL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127476"/>
                  </a:ext>
                </a:extLst>
              </a:tr>
              <a:tr h="367457"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1/15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1/15 x 5000 = 333,3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333,3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4866,7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6095933"/>
                  </a:ext>
                </a:extLst>
              </a:tr>
              <a:tr h="367457"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2/15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2/15 x 5000 = 666,7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4200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69829"/>
                  </a:ext>
                </a:extLst>
              </a:tr>
              <a:tr h="367457"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3/15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3/15 x 5000 = 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3200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515123"/>
                  </a:ext>
                </a:extLst>
              </a:tr>
              <a:tr h="367457"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4/15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4/15 x 5000 = 1333,3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3333,3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1866,7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6548680"/>
                  </a:ext>
                </a:extLst>
              </a:tr>
              <a:tr h="367457"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5/15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5/15 x 5000 = 1666,7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558080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508B1628-0403-43B5-AC17-68CA9E409EFB}"/>
              </a:ext>
            </a:extLst>
          </p:cNvPr>
          <p:cNvSpPr txBox="1"/>
          <p:nvPr/>
        </p:nvSpPr>
        <p:spPr>
          <a:xfrm>
            <a:off x="2076091" y="5107804"/>
            <a:ext cx="700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Cuota amortización = Fracción x Valor amortizable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6C9D39E-CDAC-4E8A-93CF-A42FDBA3D646}"/>
              </a:ext>
            </a:extLst>
          </p:cNvPr>
          <p:cNvSpPr/>
          <p:nvPr/>
        </p:nvSpPr>
        <p:spPr>
          <a:xfrm>
            <a:off x="2076091" y="5590476"/>
            <a:ext cx="57097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Valor residual= Valor inicial – Amortización acumulada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79743410-214B-4F7A-B5E7-95E4B03D4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7692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Text Box 4">
            <a:extLst>
              <a:ext uri="{FF2B5EF4-FFF2-40B4-BE49-F238E27FC236}">
                <a16:creationId xmlns:a16="http://schemas.microsoft.com/office/drawing/2014/main" id="{EADBA10F-4C91-4E9C-9E27-6B8249D518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2819" y="170108"/>
            <a:ext cx="1001229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s-MX" altLang="es-AR" sz="3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  <a:t>AMORTIZACIÓN DESACELERADA O CRECIENTE</a:t>
            </a:r>
          </a:p>
        </p:txBody>
      </p:sp>
      <p:sp>
        <p:nvSpPr>
          <p:cNvPr id="17413" name="Line 5">
            <a:extLst>
              <a:ext uri="{FF2B5EF4-FFF2-40B4-BE49-F238E27FC236}">
                <a16:creationId xmlns:a16="http://schemas.microsoft.com/office/drawing/2014/main" id="{BCC0F0A9-C2F5-489A-A8D3-28D3573592B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8413" y="1125538"/>
            <a:ext cx="0" cy="48958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7414" name="Line 6">
            <a:extLst>
              <a:ext uri="{FF2B5EF4-FFF2-40B4-BE49-F238E27FC236}">
                <a16:creationId xmlns:a16="http://schemas.microsoft.com/office/drawing/2014/main" id="{98813B20-044E-4E05-997F-59275CB7F8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19489" y="5730878"/>
            <a:ext cx="6665908" cy="3172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7415" name="Line 7">
            <a:extLst>
              <a:ext uri="{FF2B5EF4-FFF2-40B4-BE49-F238E27FC236}">
                <a16:creationId xmlns:a16="http://schemas.microsoft.com/office/drawing/2014/main" id="{E37911B1-4776-406D-8CD1-6ED0049F29B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67717" y="1740703"/>
            <a:ext cx="869942" cy="15566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7416" name="Line 8">
            <a:extLst>
              <a:ext uri="{FF2B5EF4-FFF2-40B4-BE49-F238E27FC236}">
                <a16:creationId xmlns:a16="http://schemas.microsoft.com/office/drawing/2014/main" id="{B0FABE89-07B7-4656-9B82-B038ACB6207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783451" y="2082810"/>
            <a:ext cx="1827199" cy="1637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7417" name="Line 9">
            <a:extLst>
              <a:ext uri="{FF2B5EF4-FFF2-40B4-BE49-F238E27FC236}">
                <a16:creationId xmlns:a16="http://schemas.microsoft.com/office/drawing/2014/main" id="{D735B3AB-401A-4B13-90E4-49A9378E2E9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763964" y="2601670"/>
            <a:ext cx="2730412" cy="0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7418" name="Line 10">
            <a:extLst>
              <a:ext uri="{FF2B5EF4-FFF2-40B4-BE49-F238E27FC236}">
                <a16:creationId xmlns:a16="http://schemas.microsoft.com/office/drawing/2014/main" id="{4524BEB2-967C-43A4-B795-0F7631BC7D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63964" y="5084764"/>
            <a:ext cx="4681537" cy="1587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7419" name="Text Box 11">
            <a:extLst>
              <a:ext uri="{FF2B5EF4-FFF2-40B4-BE49-F238E27FC236}">
                <a16:creationId xmlns:a16="http://schemas.microsoft.com/office/drawing/2014/main" id="{7EC59F45-25F3-4B33-B433-0939FAFFA2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9651" y="1303339"/>
            <a:ext cx="15843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AR" altLang="es-AR" sz="2000">
                <a:solidFill>
                  <a:srgbClr val="FF0000"/>
                </a:solidFill>
                <a:latin typeface="Tahoma" panose="020B0604030504040204" pitchFamily="34" charset="0"/>
              </a:rPr>
              <a:t>Valor inicial</a:t>
            </a:r>
            <a:endParaRPr lang="es-ES" altLang="es-AR" sz="200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17420" name="Text Box 12">
            <a:extLst>
              <a:ext uri="{FF2B5EF4-FFF2-40B4-BE49-F238E27FC236}">
                <a16:creationId xmlns:a16="http://schemas.microsoft.com/office/drawing/2014/main" id="{AE6ACE6C-C597-46A5-A47E-CDDF7B6EB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3670" y="1539579"/>
            <a:ext cx="99871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AR" altLang="es-AR" dirty="0">
                <a:latin typeface="Tahoma" panose="020B0604030504040204" pitchFamily="34" charset="0"/>
              </a:rPr>
              <a:t>VR</a:t>
            </a:r>
            <a:r>
              <a:rPr lang="es-AR" altLang="es-AR" baseline="-25000" dirty="0">
                <a:latin typeface="Tahoma" panose="020B0604030504040204" pitchFamily="34" charset="0"/>
              </a:rPr>
              <a:t>1° año</a:t>
            </a:r>
            <a:endParaRPr lang="es-ES" altLang="es-AR" dirty="0">
              <a:latin typeface="Tahoma" panose="020B0604030504040204" pitchFamily="34" charset="0"/>
            </a:endParaRPr>
          </a:p>
        </p:txBody>
      </p:sp>
      <p:sp>
        <p:nvSpPr>
          <p:cNvPr id="17421" name="Text Box 13">
            <a:extLst>
              <a:ext uri="{FF2B5EF4-FFF2-40B4-BE49-F238E27FC236}">
                <a16:creationId xmlns:a16="http://schemas.microsoft.com/office/drawing/2014/main" id="{991F8A9C-A783-4B0C-98FB-855C97A3CD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0262" y="1895232"/>
            <a:ext cx="10080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AR" altLang="es-AR" dirty="0">
                <a:latin typeface="Tahoma" panose="020B0604030504040204" pitchFamily="34" charset="0"/>
              </a:rPr>
              <a:t>VR</a:t>
            </a:r>
            <a:r>
              <a:rPr lang="es-AR" altLang="es-AR" baseline="-25000" dirty="0">
                <a:latin typeface="Tahoma" panose="020B0604030504040204" pitchFamily="34" charset="0"/>
              </a:rPr>
              <a:t>2° año</a:t>
            </a:r>
            <a:endParaRPr lang="es-ES" altLang="es-AR" dirty="0">
              <a:latin typeface="Tahoma" panose="020B0604030504040204" pitchFamily="34" charset="0"/>
            </a:endParaRPr>
          </a:p>
        </p:txBody>
      </p:sp>
      <p:sp>
        <p:nvSpPr>
          <p:cNvPr id="17422" name="Text Box 14">
            <a:extLst>
              <a:ext uri="{FF2B5EF4-FFF2-40B4-BE49-F238E27FC236}">
                <a16:creationId xmlns:a16="http://schemas.microsoft.com/office/drawing/2014/main" id="{FB7AC647-A49E-47B4-B304-B7729E37F1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0115" y="2434919"/>
            <a:ext cx="10096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AR" altLang="es-AR" dirty="0">
                <a:latin typeface="Tahoma" panose="020B0604030504040204" pitchFamily="34" charset="0"/>
              </a:rPr>
              <a:t>VR</a:t>
            </a:r>
            <a:r>
              <a:rPr lang="es-AR" altLang="es-AR" baseline="-25000" dirty="0">
                <a:latin typeface="Tahoma" panose="020B0604030504040204" pitchFamily="34" charset="0"/>
              </a:rPr>
              <a:t>3° año</a:t>
            </a:r>
            <a:endParaRPr lang="es-ES" altLang="es-AR" dirty="0">
              <a:latin typeface="Tahoma" panose="020B0604030504040204" pitchFamily="34" charset="0"/>
            </a:endParaRPr>
          </a:p>
        </p:txBody>
      </p:sp>
      <p:sp>
        <p:nvSpPr>
          <p:cNvPr id="17423" name="Text Box 15">
            <a:extLst>
              <a:ext uri="{FF2B5EF4-FFF2-40B4-BE49-F238E27FC236}">
                <a16:creationId xmlns:a16="http://schemas.microsoft.com/office/drawing/2014/main" id="{0EA0D672-03EA-4629-9CC0-AEACDCFFF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4114" y="4868864"/>
            <a:ext cx="15128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AR" altLang="es-AR" sz="2000">
                <a:solidFill>
                  <a:srgbClr val="FF0000"/>
                </a:solidFill>
                <a:latin typeface="Tahoma" panose="020B0604030504040204" pitchFamily="34" charset="0"/>
              </a:rPr>
              <a:t>Valor final</a:t>
            </a:r>
            <a:endParaRPr lang="es-ES" altLang="es-AR" sz="200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17424" name="Text Box 16">
            <a:extLst>
              <a:ext uri="{FF2B5EF4-FFF2-40B4-BE49-F238E27FC236}">
                <a16:creationId xmlns:a16="http://schemas.microsoft.com/office/drawing/2014/main" id="{0989B4BF-B330-4F37-A899-5460A67EC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6614" y="5805489"/>
            <a:ext cx="68087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AR" altLang="es-AR" sz="2000" dirty="0">
                <a:latin typeface="Tahoma" panose="020B0604030504040204" pitchFamily="34" charset="0"/>
              </a:rPr>
              <a:t>0             1         2          3          4          5       t [años]</a:t>
            </a:r>
            <a:endParaRPr lang="es-ES" altLang="es-AR" sz="2000" dirty="0">
              <a:latin typeface="Tahoma" panose="020B0604030504040204" pitchFamily="34" charset="0"/>
            </a:endParaRPr>
          </a:p>
        </p:txBody>
      </p:sp>
      <p:sp>
        <p:nvSpPr>
          <p:cNvPr id="17425" name="Line 17">
            <a:extLst>
              <a:ext uri="{FF2B5EF4-FFF2-40B4-BE49-F238E27FC236}">
                <a16:creationId xmlns:a16="http://schemas.microsoft.com/office/drawing/2014/main" id="{66D81969-7B85-4C54-A5E8-F5E7E2AE213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1225" y="1773239"/>
            <a:ext cx="16059" cy="3986394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7426" name="Line 18">
            <a:extLst>
              <a:ext uri="{FF2B5EF4-FFF2-40B4-BE49-F238E27FC236}">
                <a16:creationId xmlns:a16="http://schemas.microsoft.com/office/drawing/2014/main" id="{C492B2B5-B3A3-4226-A933-D654E8069B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72775" y="2133602"/>
            <a:ext cx="11629" cy="3607815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7427" name="Line 19">
            <a:extLst>
              <a:ext uri="{FF2B5EF4-FFF2-40B4-BE49-F238E27FC236}">
                <a16:creationId xmlns:a16="http://schemas.microsoft.com/office/drawing/2014/main" id="{0A85EC8F-D47F-4CFD-B8E1-4A2589CCA9A9}"/>
              </a:ext>
            </a:extLst>
          </p:cNvPr>
          <p:cNvSpPr>
            <a:spLocks noChangeShapeType="1"/>
          </p:cNvSpPr>
          <p:nvPr/>
        </p:nvSpPr>
        <p:spPr bwMode="auto">
          <a:xfrm>
            <a:off x="6500990" y="2594768"/>
            <a:ext cx="1" cy="3020636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7428" name="Line 20">
            <a:extLst>
              <a:ext uri="{FF2B5EF4-FFF2-40B4-BE49-F238E27FC236}">
                <a16:creationId xmlns:a16="http://schemas.microsoft.com/office/drawing/2014/main" id="{8C14CFA5-DD3E-4951-B797-53BB6403F035}"/>
              </a:ext>
            </a:extLst>
          </p:cNvPr>
          <p:cNvSpPr>
            <a:spLocks noChangeShapeType="1"/>
          </p:cNvSpPr>
          <p:nvPr/>
        </p:nvSpPr>
        <p:spPr bwMode="auto">
          <a:xfrm>
            <a:off x="8416925" y="5084764"/>
            <a:ext cx="0" cy="649287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7429" name="AutoShape 21">
            <a:extLst>
              <a:ext uri="{FF2B5EF4-FFF2-40B4-BE49-F238E27FC236}">
                <a16:creationId xmlns:a16="http://schemas.microsoft.com/office/drawing/2014/main" id="{82F1F92B-23E8-4CF5-80B3-49A3A6395595}"/>
              </a:ext>
            </a:extLst>
          </p:cNvPr>
          <p:cNvSpPr>
            <a:spLocks/>
          </p:cNvSpPr>
          <p:nvPr/>
        </p:nvSpPr>
        <p:spPr bwMode="auto">
          <a:xfrm>
            <a:off x="2135188" y="1341438"/>
            <a:ext cx="215900" cy="3816350"/>
          </a:xfrm>
          <a:prstGeom prst="leftBrace">
            <a:avLst>
              <a:gd name="adj1" fmla="val 147304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s-AR"/>
          </a:p>
        </p:txBody>
      </p:sp>
      <p:sp>
        <p:nvSpPr>
          <p:cNvPr id="17430" name="Text Box 22">
            <a:extLst>
              <a:ext uri="{FF2B5EF4-FFF2-40B4-BE49-F238E27FC236}">
                <a16:creationId xmlns:a16="http://schemas.microsoft.com/office/drawing/2014/main" id="{178705D2-C6B3-4E64-AB0B-406A928F0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764" y="2924175"/>
            <a:ext cx="165932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AR" altLang="es-AR" dirty="0">
                <a:solidFill>
                  <a:srgbClr val="FF0000"/>
                </a:solidFill>
                <a:latin typeface="Tahoma" panose="020B0604030504040204" pitchFamily="34" charset="0"/>
              </a:rPr>
              <a:t>Valor  amortizable</a:t>
            </a:r>
            <a:endParaRPr lang="es-ES" altLang="es-AR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17431" name="AutoShape 23">
            <a:extLst>
              <a:ext uri="{FF2B5EF4-FFF2-40B4-BE49-F238E27FC236}">
                <a16:creationId xmlns:a16="http://schemas.microsoft.com/office/drawing/2014/main" id="{63B04A3E-7BB7-4C88-9FEE-06A9186DB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8026" y="5013326"/>
            <a:ext cx="144463" cy="144463"/>
          </a:xfrm>
          <a:prstGeom prst="flowChartConnector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s-AR"/>
          </a:p>
        </p:txBody>
      </p:sp>
      <p:sp>
        <p:nvSpPr>
          <p:cNvPr id="17432" name="AutoShape 24">
            <a:extLst>
              <a:ext uri="{FF2B5EF4-FFF2-40B4-BE49-F238E27FC236}">
                <a16:creationId xmlns:a16="http://schemas.microsoft.com/office/drawing/2014/main" id="{9C2C1EDD-021D-4DC0-B6FA-8A2374B53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1441451"/>
            <a:ext cx="144462" cy="144463"/>
          </a:xfrm>
          <a:prstGeom prst="flowChartConnector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s-AR"/>
          </a:p>
        </p:txBody>
      </p:sp>
      <p:sp>
        <p:nvSpPr>
          <p:cNvPr id="17433" name="Arc 25">
            <a:extLst>
              <a:ext uri="{FF2B5EF4-FFF2-40B4-BE49-F238E27FC236}">
                <a16:creationId xmlns:a16="http://schemas.microsoft.com/office/drawing/2014/main" id="{319DC07A-4737-4C26-B775-0A2D9C2FB957}"/>
              </a:ext>
            </a:extLst>
          </p:cNvPr>
          <p:cNvSpPr>
            <a:spLocks/>
          </p:cNvSpPr>
          <p:nvPr/>
        </p:nvSpPr>
        <p:spPr bwMode="auto">
          <a:xfrm rot="602521">
            <a:off x="3379821" y="1926535"/>
            <a:ext cx="5082272" cy="5088463"/>
          </a:xfrm>
          <a:custGeom>
            <a:avLst/>
            <a:gdLst>
              <a:gd name="T0" fmla="*/ 0 w 19780"/>
              <a:gd name="T1" fmla="*/ 2147483646 h 21600"/>
              <a:gd name="T2" fmla="*/ 2147483646 w 19780"/>
              <a:gd name="T3" fmla="*/ 2147483646 h 21600"/>
              <a:gd name="T4" fmla="*/ 2147483646 w 1978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780" h="21600" fill="none" extrusionOk="0">
                <a:moveTo>
                  <a:pt x="0" y="12"/>
                </a:moveTo>
                <a:cubicBezTo>
                  <a:pt x="243" y="4"/>
                  <a:pt x="487" y="0"/>
                  <a:pt x="732" y="0"/>
                </a:cubicBezTo>
                <a:cubicBezTo>
                  <a:pt x="8700" y="0"/>
                  <a:pt x="16022" y="4387"/>
                  <a:pt x="19779" y="11415"/>
                </a:cubicBezTo>
              </a:path>
              <a:path w="19780" h="21600" stroke="0" extrusionOk="0">
                <a:moveTo>
                  <a:pt x="0" y="12"/>
                </a:moveTo>
                <a:cubicBezTo>
                  <a:pt x="243" y="4"/>
                  <a:pt x="487" y="0"/>
                  <a:pt x="732" y="0"/>
                </a:cubicBezTo>
                <a:cubicBezTo>
                  <a:pt x="8700" y="0"/>
                  <a:pt x="16022" y="4387"/>
                  <a:pt x="19779" y="11415"/>
                </a:cubicBezTo>
                <a:lnTo>
                  <a:pt x="732" y="21600"/>
                </a:lnTo>
                <a:lnTo>
                  <a:pt x="0" y="12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7434" name="AutoShape 26">
            <a:extLst>
              <a:ext uri="{FF2B5EF4-FFF2-40B4-BE49-F238E27FC236}">
                <a16:creationId xmlns:a16="http://schemas.microsoft.com/office/drawing/2014/main" id="{F6E6A7E8-841B-4171-B32F-7F7037705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670" y="1662411"/>
            <a:ext cx="149573" cy="159910"/>
          </a:xfrm>
          <a:prstGeom prst="flowChartConnector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s-AR"/>
          </a:p>
        </p:txBody>
      </p:sp>
      <p:sp>
        <p:nvSpPr>
          <p:cNvPr id="17435" name="AutoShape 27">
            <a:extLst>
              <a:ext uri="{FF2B5EF4-FFF2-40B4-BE49-F238E27FC236}">
                <a16:creationId xmlns:a16="http://schemas.microsoft.com/office/drawing/2014/main" id="{EB7F4663-B5A0-4B18-AB24-51398E0AF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2727" y="2014986"/>
            <a:ext cx="144463" cy="144463"/>
          </a:xfrm>
          <a:prstGeom prst="flowChartConnector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s-AR"/>
          </a:p>
        </p:txBody>
      </p:sp>
      <p:sp>
        <p:nvSpPr>
          <p:cNvPr id="17436" name="AutoShape 28">
            <a:extLst>
              <a:ext uri="{FF2B5EF4-FFF2-40B4-BE49-F238E27FC236}">
                <a16:creationId xmlns:a16="http://schemas.microsoft.com/office/drawing/2014/main" id="{67C9DAC0-6999-47CA-BB15-5507A6060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6124" y="2513772"/>
            <a:ext cx="144462" cy="144462"/>
          </a:xfrm>
          <a:prstGeom prst="flowChartConnector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s-AR"/>
          </a:p>
        </p:txBody>
      </p:sp>
      <p:sp>
        <p:nvSpPr>
          <p:cNvPr id="17437" name="Line 29">
            <a:extLst>
              <a:ext uri="{FF2B5EF4-FFF2-40B4-BE49-F238E27FC236}">
                <a16:creationId xmlns:a16="http://schemas.microsoft.com/office/drawing/2014/main" id="{FFBE2BF6-1BEF-4D70-95C2-19ECE0599AD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1464626"/>
            <a:ext cx="1062039" cy="228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7438" name="Line 30">
            <a:extLst>
              <a:ext uri="{FF2B5EF4-FFF2-40B4-BE49-F238E27FC236}">
                <a16:creationId xmlns:a16="http://schemas.microsoft.com/office/drawing/2014/main" id="{EAAC495D-8FF3-4FA6-A973-FDC1AC29FB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57222" y="1756359"/>
            <a:ext cx="826906" cy="2454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7439" name="Line 31">
            <a:extLst>
              <a:ext uri="{FF2B5EF4-FFF2-40B4-BE49-F238E27FC236}">
                <a16:creationId xmlns:a16="http://schemas.microsoft.com/office/drawing/2014/main" id="{191C34F0-AC6C-478A-B489-6D730F662BEA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6461" y="2079688"/>
            <a:ext cx="882503" cy="898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7440" name="Line 32">
            <a:extLst>
              <a:ext uri="{FF2B5EF4-FFF2-40B4-BE49-F238E27FC236}">
                <a16:creationId xmlns:a16="http://schemas.microsoft.com/office/drawing/2014/main" id="{9AF4B3BF-B889-465B-8C9B-801ADC72A7EF}"/>
              </a:ext>
            </a:extLst>
          </p:cNvPr>
          <p:cNvSpPr>
            <a:spLocks noChangeShapeType="1"/>
          </p:cNvSpPr>
          <p:nvPr/>
        </p:nvSpPr>
        <p:spPr bwMode="auto">
          <a:xfrm>
            <a:off x="6538825" y="2593607"/>
            <a:ext cx="886400" cy="599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7441" name="Line 33">
            <a:extLst>
              <a:ext uri="{FF2B5EF4-FFF2-40B4-BE49-F238E27FC236}">
                <a16:creationId xmlns:a16="http://schemas.microsoft.com/office/drawing/2014/main" id="{055811EB-7C6C-40E7-983F-57B82A10A2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21063" y="1487369"/>
            <a:ext cx="1588" cy="28733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7442" name="Line 34">
            <a:extLst>
              <a:ext uri="{FF2B5EF4-FFF2-40B4-BE49-F238E27FC236}">
                <a16:creationId xmlns:a16="http://schemas.microsoft.com/office/drawing/2014/main" id="{70BB4A46-D30C-44FE-AE23-C0D9483FEC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91169" y="1770784"/>
            <a:ext cx="0" cy="366354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7443" name="Line 35">
            <a:extLst>
              <a:ext uri="{FF2B5EF4-FFF2-40B4-BE49-F238E27FC236}">
                <a16:creationId xmlns:a16="http://schemas.microsoft.com/office/drawing/2014/main" id="{4F634E0E-5E8B-4DB8-A4EE-E7E8A0FE0FE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498964" y="2078887"/>
            <a:ext cx="0" cy="50004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7444" name="Line 36">
            <a:extLst>
              <a:ext uri="{FF2B5EF4-FFF2-40B4-BE49-F238E27FC236}">
                <a16:creationId xmlns:a16="http://schemas.microsoft.com/office/drawing/2014/main" id="{9361EA35-C4F2-401B-A6E3-F349CBCF542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385096" y="3477937"/>
            <a:ext cx="12" cy="155598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7445" name="Text Box 37">
            <a:extLst>
              <a:ext uri="{FF2B5EF4-FFF2-40B4-BE49-F238E27FC236}">
                <a16:creationId xmlns:a16="http://schemas.microsoft.com/office/drawing/2014/main" id="{06FBDFB0-687F-4ED6-BC4E-C93D311878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2288" y="1394826"/>
            <a:ext cx="1873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AR" altLang="es-AR" b="1">
                <a:solidFill>
                  <a:schemeClr val="accent2"/>
                </a:solidFill>
                <a:latin typeface="Tahoma" panose="020B0604030504040204" pitchFamily="34" charset="0"/>
              </a:rPr>
              <a:t>Cuota </a:t>
            </a:r>
            <a:r>
              <a:rPr lang="es-AR" altLang="es-AR" b="1" baseline="-25000">
                <a:solidFill>
                  <a:schemeClr val="accent2"/>
                </a:solidFill>
                <a:latin typeface="Tahoma" panose="020B0604030504040204" pitchFamily="34" charset="0"/>
              </a:rPr>
              <a:t>1</a:t>
            </a:r>
            <a:r>
              <a:rPr lang="es-AR" altLang="es-AR" sz="1600" b="1" baseline="-25000">
                <a:solidFill>
                  <a:schemeClr val="accent2"/>
                </a:solidFill>
                <a:latin typeface="Tahoma" panose="020B0604030504040204" pitchFamily="34" charset="0"/>
              </a:rPr>
              <a:t>° año</a:t>
            </a:r>
            <a:endParaRPr lang="es-ES" altLang="es-AR" sz="16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17446" name="Text Box 38">
            <a:extLst>
              <a:ext uri="{FF2B5EF4-FFF2-40B4-BE49-F238E27FC236}">
                <a16:creationId xmlns:a16="http://schemas.microsoft.com/office/drawing/2014/main" id="{15AA5854-E159-4237-A739-E9EBCF8D4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4431" y="1800014"/>
            <a:ext cx="1873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AR" altLang="es-AR" b="1" dirty="0">
                <a:solidFill>
                  <a:schemeClr val="accent2"/>
                </a:solidFill>
                <a:latin typeface="Tahoma" panose="020B0604030504040204" pitchFamily="34" charset="0"/>
              </a:rPr>
              <a:t>Cuota </a:t>
            </a:r>
            <a:r>
              <a:rPr lang="es-AR" altLang="es-AR" sz="1600" b="1" baseline="-25000" dirty="0">
                <a:solidFill>
                  <a:schemeClr val="accent2"/>
                </a:solidFill>
                <a:latin typeface="Tahoma" panose="020B0604030504040204" pitchFamily="34" charset="0"/>
              </a:rPr>
              <a:t>2° año</a:t>
            </a:r>
            <a:endParaRPr lang="es-ES" altLang="es-AR" sz="1600" b="1" dirty="0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17447" name="Text Box 39">
            <a:extLst>
              <a:ext uri="{FF2B5EF4-FFF2-40B4-BE49-F238E27FC236}">
                <a16:creationId xmlns:a16="http://schemas.microsoft.com/office/drawing/2014/main" id="{54EDEA1A-1BF9-4445-8DC1-D853CE0AA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7299" y="2296105"/>
            <a:ext cx="1873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AR" altLang="es-AR" b="1" dirty="0">
                <a:solidFill>
                  <a:schemeClr val="accent2"/>
                </a:solidFill>
                <a:latin typeface="Tahoma" panose="020B0604030504040204" pitchFamily="34" charset="0"/>
              </a:rPr>
              <a:t>Cuota </a:t>
            </a:r>
            <a:r>
              <a:rPr lang="es-AR" altLang="es-AR" b="1" baseline="-25000" dirty="0">
                <a:solidFill>
                  <a:schemeClr val="accent2"/>
                </a:solidFill>
                <a:latin typeface="Tahoma" panose="020B0604030504040204" pitchFamily="34" charset="0"/>
              </a:rPr>
              <a:t>3° año</a:t>
            </a:r>
            <a:endParaRPr lang="es-ES" altLang="es-AR" b="1" dirty="0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17448" name="Text Box 40">
            <a:extLst>
              <a:ext uri="{FF2B5EF4-FFF2-40B4-BE49-F238E27FC236}">
                <a16:creationId xmlns:a16="http://schemas.microsoft.com/office/drawing/2014/main" id="{E93261DE-06B5-42AD-AA14-62DA317ED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3759" y="2900035"/>
            <a:ext cx="17859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AR" altLang="es-AR" b="1" dirty="0">
                <a:solidFill>
                  <a:schemeClr val="accent2"/>
                </a:solidFill>
                <a:latin typeface="Tahoma" panose="020B0604030504040204" pitchFamily="34" charset="0"/>
              </a:rPr>
              <a:t>Cuota </a:t>
            </a:r>
            <a:r>
              <a:rPr lang="es-AR" altLang="es-AR" b="1" baseline="-25000" dirty="0">
                <a:solidFill>
                  <a:schemeClr val="accent2"/>
                </a:solidFill>
                <a:latin typeface="Tahoma" panose="020B0604030504040204" pitchFamily="34" charset="0"/>
              </a:rPr>
              <a:t>4° año</a:t>
            </a:r>
            <a:endParaRPr lang="es-ES" altLang="es-AR" b="1" dirty="0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17449" name="Text Box 41">
            <a:extLst>
              <a:ext uri="{FF2B5EF4-FFF2-40B4-BE49-F238E27FC236}">
                <a16:creationId xmlns:a16="http://schemas.microsoft.com/office/drawing/2014/main" id="{98048628-127A-4A19-B1C7-494747EC5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2538" y="1016001"/>
            <a:ext cx="431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AR" altLang="es-AR" sz="2000">
                <a:latin typeface="Tahoma" panose="020B0604030504040204" pitchFamily="34" charset="0"/>
              </a:rPr>
              <a:t>$</a:t>
            </a:r>
            <a:endParaRPr lang="es-ES" altLang="es-AR" sz="2000">
              <a:latin typeface="Tahoma" panose="020B0604030504040204" pitchFamily="34" charset="0"/>
            </a:endParaRPr>
          </a:p>
        </p:txBody>
      </p:sp>
      <p:sp>
        <p:nvSpPr>
          <p:cNvPr id="17451" name="Text Box 43">
            <a:extLst>
              <a:ext uri="{FF2B5EF4-FFF2-40B4-BE49-F238E27FC236}">
                <a16:creationId xmlns:a16="http://schemas.microsoft.com/office/drawing/2014/main" id="{6EDEEA85-998D-40F6-9B26-FAF298B23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7035" y="894589"/>
            <a:ext cx="3889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s-AR" altLang="es-AR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  <a:t>Vida útil económica = 5 años</a:t>
            </a:r>
            <a:endParaRPr lang="es-ES" altLang="es-AR" sz="2000" b="1" dirty="0"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  <a:cs typeface="Arial" charset="0"/>
            </a:endParaRPr>
          </a:p>
        </p:txBody>
      </p:sp>
      <p:sp>
        <p:nvSpPr>
          <p:cNvPr id="41" name="40 CuadroTexto">
            <a:extLst>
              <a:ext uri="{FF2B5EF4-FFF2-40B4-BE49-F238E27FC236}">
                <a16:creationId xmlns:a16="http://schemas.microsoft.com/office/drawing/2014/main" id="{0524BDC1-5B77-40DD-8DBD-FDF920AA5DF1}"/>
              </a:ext>
            </a:extLst>
          </p:cNvPr>
          <p:cNvSpPr txBox="1"/>
          <p:nvPr/>
        </p:nvSpPr>
        <p:spPr>
          <a:xfrm>
            <a:off x="4721226" y="6276975"/>
            <a:ext cx="6119813" cy="323850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r" eaLnBrk="1" hangingPunct="1">
              <a:defRPr/>
            </a:pPr>
            <a:r>
              <a:rPr lang="es-AR" sz="1500" b="1" dirty="0">
                <a:latin typeface="+mj-lt"/>
                <a:cs typeface="Arial" charset="0"/>
              </a:rPr>
              <a:t>19                                   Depreciación y Amortización</a:t>
            </a:r>
          </a:p>
        </p:txBody>
      </p:sp>
      <p:sp>
        <p:nvSpPr>
          <p:cNvPr id="42" name="Text Box 14">
            <a:extLst>
              <a:ext uri="{FF2B5EF4-FFF2-40B4-BE49-F238E27FC236}">
                <a16:creationId xmlns:a16="http://schemas.microsoft.com/office/drawing/2014/main" id="{82D6B3D5-F894-42F2-8246-A63927AD4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931" y="3224525"/>
            <a:ext cx="10096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AR" altLang="es-AR" dirty="0">
                <a:latin typeface="Tahoma" panose="020B0604030504040204" pitchFamily="34" charset="0"/>
              </a:rPr>
              <a:t>VR</a:t>
            </a:r>
            <a:r>
              <a:rPr lang="es-AR" altLang="es-AR" baseline="-25000" dirty="0">
                <a:latin typeface="Tahoma" panose="020B0604030504040204" pitchFamily="34" charset="0"/>
              </a:rPr>
              <a:t>4° año</a:t>
            </a:r>
            <a:endParaRPr lang="es-ES" altLang="es-AR" dirty="0">
              <a:latin typeface="Tahoma" panose="020B0604030504040204" pitchFamily="34" charset="0"/>
            </a:endParaRPr>
          </a:p>
        </p:txBody>
      </p:sp>
      <p:sp>
        <p:nvSpPr>
          <p:cNvPr id="43" name="Line 9">
            <a:extLst>
              <a:ext uri="{FF2B5EF4-FFF2-40B4-BE49-F238E27FC236}">
                <a16:creationId xmlns:a16="http://schemas.microsoft.com/office/drawing/2014/main" id="{E936163F-A273-4AEF-8C3A-CEE80DFF6C3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08413" y="3456368"/>
            <a:ext cx="3631955" cy="6631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44" name="Line 19">
            <a:extLst>
              <a:ext uri="{FF2B5EF4-FFF2-40B4-BE49-F238E27FC236}">
                <a16:creationId xmlns:a16="http://schemas.microsoft.com/office/drawing/2014/main" id="{B5FF2066-89C5-4227-B651-0681A0DA1856}"/>
              </a:ext>
            </a:extLst>
          </p:cNvPr>
          <p:cNvSpPr>
            <a:spLocks noChangeShapeType="1"/>
          </p:cNvSpPr>
          <p:nvPr/>
        </p:nvSpPr>
        <p:spPr bwMode="auto">
          <a:xfrm>
            <a:off x="7426369" y="3513020"/>
            <a:ext cx="14005" cy="2308342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45" name="AutoShape 28">
            <a:extLst>
              <a:ext uri="{FF2B5EF4-FFF2-40B4-BE49-F238E27FC236}">
                <a16:creationId xmlns:a16="http://schemas.microsoft.com/office/drawing/2014/main" id="{EB984486-E247-4DD2-BFCA-FEB6973B9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2994" y="3379778"/>
            <a:ext cx="144462" cy="144462"/>
          </a:xfrm>
          <a:prstGeom prst="flowChartConnector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s-AR"/>
          </a:p>
        </p:txBody>
      </p:sp>
      <p:sp>
        <p:nvSpPr>
          <p:cNvPr id="46" name="Line 35">
            <a:extLst>
              <a:ext uri="{FF2B5EF4-FFF2-40B4-BE49-F238E27FC236}">
                <a16:creationId xmlns:a16="http://schemas.microsoft.com/office/drawing/2014/main" id="{1074545A-ABEB-4854-B8F6-9578F75055B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433371" y="2601670"/>
            <a:ext cx="0" cy="83085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47" name="Text Box 40">
            <a:extLst>
              <a:ext uri="{FF2B5EF4-FFF2-40B4-BE49-F238E27FC236}">
                <a16:creationId xmlns:a16="http://schemas.microsoft.com/office/drawing/2014/main" id="{E11924B6-9978-4A1D-842D-358BB49C1C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9310" y="3629513"/>
            <a:ext cx="17859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AR" altLang="es-AR" b="1" dirty="0">
                <a:solidFill>
                  <a:schemeClr val="accent2"/>
                </a:solidFill>
                <a:latin typeface="Tahoma" panose="020B0604030504040204" pitchFamily="34" charset="0"/>
              </a:rPr>
              <a:t>Cuota </a:t>
            </a:r>
            <a:r>
              <a:rPr lang="es-AR" altLang="es-AR" b="1" baseline="-25000" dirty="0">
                <a:solidFill>
                  <a:schemeClr val="accent2"/>
                </a:solidFill>
                <a:latin typeface="Tahoma" panose="020B0604030504040204" pitchFamily="34" charset="0"/>
              </a:rPr>
              <a:t>5° año</a:t>
            </a:r>
            <a:endParaRPr lang="es-ES" altLang="es-AR" b="1" dirty="0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48" name="Line 32">
            <a:extLst>
              <a:ext uri="{FF2B5EF4-FFF2-40B4-BE49-F238E27FC236}">
                <a16:creationId xmlns:a16="http://schemas.microsoft.com/office/drawing/2014/main" id="{9481D5B8-0FF2-44B6-9C04-2F4BF3A99869}"/>
              </a:ext>
            </a:extLst>
          </p:cNvPr>
          <p:cNvSpPr>
            <a:spLocks noChangeShapeType="1"/>
          </p:cNvSpPr>
          <p:nvPr/>
        </p:nvSpPr>
        <p:spPr bwMode="auto">
          <a:xfrm>
            <a:off x="7418798" y="3468765"/>
            <a:ext cx="978129" cy="463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8BE98D-068E-4528-B7DD-5A837414D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7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9" grpId="0"/>
      <p:bldP spid="17420" grpId="0"/>
      <p:bldP spid="17421" grpId="0"/>
      <p:bldP spid="17422" grpId="0"/>
      <p:bldP spid="17423" grpId="0"/>
      <p:bldP spid="17424" grpId="0"/>
      <p:bldP spid="17429" grpId="0" animBg="1"/>
      <p:bldP spid="17430" grpId="0"/>
      <p:bldP spid="17431" grpId="0" animBg="1"/>
      <p:bldP spid="17432" grpId="0" animBg="1"/>
      <p:bldP spid="17434" grpId="0" animBg="1"/>
      <p:bldP spid="17435" grpId="0" animBg="1"/>
      <p:bldP spid="17436" grpId="0" animBg="1"/>
      <p:bldP spid="17445" grpId="0"/>
      <p:bldP spid="17446" grpId="0"/>
      <p:bldP spid="17447" grpId="0"/>
      <p:bldP spid="17448" grpId="0"/>
      <p:bldP spid="17449" grpId="0"/>
      <p:bldP spid="17451" grpId="0"/>
      <p:bldP spid="42" grpId="0"/>
      <p:bldP spid="45" grpId="0" animBg="1"/>
      <p:bldP spid="4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F4BAB0-5A70-4A46-A3D6-17939671E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3" y="624110"/>
            <a:ext cx="8915400" cy="695807"/>
          </a:xfrm>
        </p:spPr>
        <p:txBody>
          <a:bodyPr>
            <a:normAutofit fontScale="90000"/>
          </a:bodyPr>
          <a:lstStyle/>
          <a:p>
            <a:r>
              <a:rPr lang="es-MX" altLang="es-AR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  <a:t>AMORTIZACIÓN ACELERADA O DECRECIENTE</a:t>
            </a:r>
            <a:br>
              <a:rPr lang="es-MX" altLang="es-AR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</a:br>
            <a:endParaRPr lang="es-AR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0373E18F-9B1B-4DBC-A6F4-6E45BCD310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733667"/>
              </p:ext>
            </p:extLst>
          </p:nvPr>
        </p:nvGraphicFramePr>
        <p:xfrm>
          <a:off x="1674192" y="1844703"/>
          <a:ext cx="9250901" cy="2965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990">
                  <a:extLst>
                    <a:ext uri="{9D8B030D-6E8A-4147-A177-3AD203B41FA5}">
                      <a16:colId xmlns:a16="http://schemas.microsoft.com/office/drawing/2014/main" val="2066506222"/>
                    </a:ext>
                  </a:extLst>
                </a:gridCol>
                <a:gridCol w="1610863">
                  <a:extLst>
                    <a:ext uri="{9D8B030D-6E8A-4147-A177-3AD203B41FA5}">
                      <a16:colId xmlns:a16="http://schemas.microsoft.com/office/drawing/2014/main" val="3184767710"/>
                    </a:ext>
                  </a:extLst>
                </a:gridCol>
                <a:gridCol w="2387324">
                  <a:extLst>
                    <a:ext uri="{9D8B030D-6E8A-4147-A177-3AD203B41FA5}">
                      <a16:colId xmlns:a16="http://schemas.microsoft.com/office/drawing/2014/main" val="1532569331"/>
                    </a:ext>
                  </a:extLst>
                </a:gridCol>
                <a:gridCol w="2083275">
                  <a:extLst>
                    <a:ext uri="{9D8B030D-6E8A-4147-A177-3AD203B41FA5}">
                      <a16:colId xmlns:a16="http://schemas.microsoft.com/office/drawing/2014/main" val="674965322"/>
                    </a:ext>
                  </a:extLst>
                </a:gridCol>
                <a:gridCol w="1717449">
                  <a:extLst>
                    <a:ext uri="{9D8B030D-6E8A-4147-A177-3AD203B41FA5}">
                      <a16:colId xmlns:a16="http://schemas.microsoft.com/office/drawing/2014/main" val="296612946"/>
                    </a:ext>
                  </a:extLst>
                </a:gridCol>
              </a:tblGrid>
              <a:tr h="1127810">
                <a:tc>
                  <a:txBody>
                    <a:bodyPr/>
                    <a:lstStyle/>
                    <a:p>
                      <a:r>
                        <a:rPr lang="es-AR" dirty="0"/>
                        <a:t>PERIODO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FRACCION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CUOTA DE AMORTIZACION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AMORTIZACION ACUMULADA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VALOR RESIDUAL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127476"/>
                  </a:ext>
                </a:extLst>
              </a:tr>
              <a:tr h="367457"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5/15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5/15 x 5000 = 1666,7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1666,7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3533,3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6095933"/>
                  </a:ext>
                </a:extLst>
              </a:tr>
              <a:tr h="367457"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4/15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4/15 x 5000 = 1333,3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2200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69829"/>
                  </a:ext>
                </a:extLst>
              </a:tr>
              <a:tr h="367457"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3/15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3/15 x 5000 = 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1200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515123"/>
                  </a:ext>
                </a:extLst>
              </a:tr>
              <a:tr h="367457"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2/15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2/15 x 5000 = 666,7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4666,7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533,33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6548680"/>
                  </a:ext>
                </a:extLst>
              </a:tr>
              <a:tr h="367457"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1/15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1/15 x 5000 = 333,3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558080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FDFE7DA4-0437-475C-AE54-94AE90785AC0}"/>
              </a:ext>
            </a:extLst>
          </p:cNvPr>
          <p:cNvSpPr/>
          <p:nvPr/>
        </p:nvSpPr>
        <p:spPr>
          <a:xfrm>
            <a:off x="2796827" y="5208306"/>
            <a:ext cx="53420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Cuota amortización = Fracción x Valor amortizable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2C4DF02-2B25-415F-BA3B-F4D555A6E2C3}"/>
              </a:ext>
            </a:extLst>
          </p:cNvPr>
          <p:cNvSpPr/>
          <p:nvPr/>
        </p:nvSpPr>
        <p:spPr>
          <a:xfrm>
            <a:off x="2796827" y="5717189"/>
            <a:ext cx="57097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Valor residual= Valor inicial – Amortización acumulada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93842826-21C1-45E7-AA8A-7EDD89767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3412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ext Box 4">
            <a:extLst>
              <a:ext uri="{FF2B5EF4-FFF2-40B4-BE49-F238E27FC236}">
                <a16:creationId xmlns:a16="http://schemas.microsoft.com/office/drawing/2014/main" id="{BB1BB019-5F61-4115-BD48-3AE809EB0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7476" y="185738"/>
            <a:ext cx="9672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s-MX" altLang="es-AR" sz="3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  <a:t>AMORTIZACIÓN ACELERADA O DECRECIENTE</a:t>
            </a:r>
          </a:p>
        </p:txBody>
      </p:sp>
      <p:sp>
        <p:nvSpPr>
          <p:cNvPr id="18437" name="Line 5">
            <a:extLst>
              <a:ext uri="{FF2B5EF4-FFF2-40B4-BE49-F238E27FC236}">
                <a16:creationId xmlns:a16="http://schemas.microsoft.com/office/drawing/2014/main" id="{4FD1546A-7677-4016-A571-75C2BFE1621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4625" y="1125538"/>
            <a:ext cx="0" cy="48958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8438" name="Line 6">
            <a:extLst>
              <a:ext uri="{FF2B5EF4-FFF2-40B4-BE49-F238E27FC236}">
                <a16:creationId xmlns:a16="http://schemas.microsoft.com/office/drawing/2014/main" id="{81EC941D-2284-45EC-A028-A8C614F4DF19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5701" y="5734050"/>
            <a:ext cx="6048375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8439" name="Line 7">
            <a:extLst>
              <a:ext uri="{FF2B5EF4-FFF2-40B4-BE49-F238E27FC236}">
                <a16:creationId xmlns:a16="http://schemas.microsoft.com/office/drawing/2014/main" id="{43D4A20C-3585-4859-B997-44E382AD41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68751" y="3141664"/>
            <a:ext cx="949325" cy="1587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8440" name="Line 8">
            <a:extLst>
              <a:ext uri="{FF2B5EF4-FFF2-40B4-BE49-F238E27FC236}">
                <a16:creationId xmlns:a16="http://schemas.microsoft.com/office/drawing/2014/main" id="{138E3537-883B-4580-9D8C-0A34AF83EF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84625" y="4005263"/>
            <a:ext cx="1855788" cy="0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8441" name="Line 9">
            <a:extLst>
              <a:ext uri="{FF2B5EF4-FFF2-40B4-BE49-F238E27FC236}">
                <a16:creationId xmlns:a16="http://schemas.microsoft.com/office/drawing/2014/main" id="{F15BD77D-3A6E-4026-8D2D-42D1E245979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84625" y="4508500"/>
            <a:ext cx="2647950" cy="0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8442" name="Line 10">
            <a:extLst>
              <a:ext uri="{FF2B5EF4-FFF2-40B4-BE49-F238E27FC236}">
                <a16:creationId xmlns:a16="http://schemas.microsoft.com/office/drawing/2014/main" id="{E20BA498-00ED-41C9-8EC6-8BB9AB7858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40175" y="5084764"/>
            <a:ext cx="4681538" cy="1587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8443" name="Text Box 11">
            <a:extLst>
              <a:ext uri="{FF2B5EF4-FFF2-40B4-BE49-F238E27FC236}">
                <a16:creationId xmlns:a16="http://schemas.microsoft.com/office/drawing/2014/main" id="{6A9AC2B5-AFCD-407F-BF3C-DF3D8194BF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5863" y="1303339"/>
            <a:ext cx="1479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AR" altLang="es-AR" sz="2000">
                <a:solidFill>
                  <a:srgbClr val="FF0000"/>
                </a:solidFill>
                <a:latin typeface="Tahoma" panose="020B0604030504040204" pitchFamily="34" charset="0"/>
              </a:rPr>
              <a:t>Valor inicial</a:t>
            </a:r>
            <a:endParaRPr lang="es-ES" altLang="es-AR" sz="200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18444" name="Text Box 12">
            <a:extLst>
              <a:ext uri="{FF2B5EF4-FFF2-40B4-BE49-F238E27FC236}">
                <a16:creationId xmlns:a16="http://schemas.microsoft.com/office/drawing/2014/main" id="{E6809EC8-CD6B-432C-9697-482225819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7351" y="2924176"/>
            <a:ext cx="10080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AR" altLang="es-AR" sz="2000">
                <a:latin typeface="Tahoma" panose="020B0604030504040204" pitchFamily="34" charset="0"/>
              </a:rPr>
              <a:t>VR</a:t>
            </a:r>
            <a:r>
              <a:rPr lang="es-AR" altLang="es-AR" sz="2000" baseline="-25000">
                <a:latin typeface="Tahoma" panose="020B0604030504040204" pitchFamily="34" charset="0"/>
              </a:rPr>
              <a:t>1° año</a:t>
            </a:r>
            <a:endParaRPr lang="es-ES" altLang="es-AR" sz="2000">
              <a:latin typeface="Tahoma" panose="020B0604030504040204" pitchFamily="34" charset="0"/>
            </a:endParaRPr>
          </a:p>
        </p:txBody>
      </p:sp>
      <p:sp>
        <p:nvSpPr>
          <p:cNvPr id="18445" name="Text Box 13">
            <a:extLst>
              <a:ext uri="{FF2B5EF4-FFF2-40B4-BE49-F238E27FC236}">
                <a16:creationId xmlns:a16="http://schemas.microsoft.com/office/drawing/2014/main" id="{3C14068C-8543-4DFC-AA44-AF646FAA8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7351" y="4256089"/>
            <a:ext cx="10080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AR" altLang="es-AR" sz="2000">
                <a:latin typeface="Tahoma" panose="020B0604030504040204" pitchFamily="34" charset="0"/>
              </a:rPr>
              <a:t>VR</a:t>
            </a:r>
            <a:r>
              <a:rPr lang="es-AR" altLang="es-AR" sz="2000" baseline="-25000">
                <a:latin typeface="Tahoma" panose="020B0604030504040204" pitchFamily="34" charset="0"/>
              </a:rPr>
              <a:t>3° año</a:t>
            </a:r>
            <a:endParaRPr lang="es-ES" altLang="es-AR" sz="2000">
              <a:latin typeface="Tahoma" panose="020B0604030504040204" pitchFamily="34" charset="0"/>
            </a:endParaRPr>
          </a:p>
        </p:txBody>
      </p:sp>
      <p:sp>
        <p:nvSpPr>
          <p:cNvPr id="18446" name="Text Box 14">
            <a:extLst>
              <a:ext uri="{FF2B5EF4-FFF2-40B4-BE49-F238E27FC236}">
                <a16:creationId xmlns:a16="http://schemas.microsoft.com/office/drawing/2014/main" id="{F5C594F2-3EFE-497A-9E9D-9AF23FC787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7350" y="4616451"/>
            <a:ext cx="10810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AR" altLang="es-AR" sz="2000">
                <a:latin typeface="Tahoma" panose="020B0604030504040204" pitchFamily="34" charset="0"/>
              </a:rPr>
              <a:t>VR</a:t>
            </a:r>
            <a:r>
              <a:rPr lang="es-AR" altLang="es-AR" sz="2000" baseline="-25000">
                <a:latin typeface="Tahoma" panose="020B0604030504040204" pitchFamily="34" charset="0"/>
              </a:rPr>
              <a:t>4° año</a:t>
            </a:r>
            <a:endParaRPr lang="es-ES" altLang="es-AR" sz="2000">
              <a:latin typeface="Tahoma" panose="020B0604030504040204" pitchFamily="34" charset="0"/>
            </a:endParaRPr>
          </a:p>
        </p:txBody>
      </p:sp>
      <p:sp>
        <p:nvSpPr>
          <p:cNvPr id="18447" name="Text Box 15">
            <a:extLst>
              <a:ext uri="{FF2B5EF4-FFF2-40B4-BE49-F238E27FC236}">
                <a16:creationId xmlns:a16="http://schemas.microsoft.com/office/drawing/2014/main" id="{BD6561E5-0AE4-4E93-A4E9-583F56AC2E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4" y="4941889"/>
            <a:ext cx="13366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AR" altLang="es-AR" sz="2000">
                <a:solidFill>
                  <a:srgbClr val="FF0000"/>
                </a:solidFill>
                <a:latin typeface="Tahoma" panose="020B0604030504040204" pitchFamily="34" charset="0"/>
              </a:rPr>
              <a:t>Valor final</a:t>
            </a:r>
            <a:endParaRPr lang="es-ES" altLang="es-AR" sz="200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18448" name="Text Box 16">
            <a:extLst>
              <a:ext uri="{FF2B5EF4-FFF2-40B4-BE49-F238E27FC236}">
                <a16:creationId xmlns:a16="http://schemas.microsoft.com/office/drawing/2014/main" id="{C69D7538-B150-456D-B837-15CB22FD31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8389" y="5805489"/>
            <a:ext cx="68087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AR" altLang="es-AR" sz="2000">
                <a:latin typeface="Tahoma" panose="020B0604030504040204" pitchFamily="34" charset="0"/>
              </a:rPr>
              <a:t>0            1          2          3          4          5        t [años]</a:t>
            </a:r>
            <a:endParaRPr lang="es-ES" altLang="es-AR" sz="2000">
              <a:latin typeface="Tahoma" panose="020B0604030504040204" pitchFamily="34" charset="0"/>
            </a:endParaRPr>
          </a:p>
        </p:txBody>
      </p:sp>
      <p:sp>
        <p:nvSpPr>
          <p:cNvPr id="18449" name="Line 17">
            <a:extLst>
              <a:ext uri="{FF2B5EF4-FFF2-40B4-BE49-F238E27FC236}">
                <a16:creationId xmlns:a16="http://schemas.microsoft.com/office/drawing/2014/main" id="{7CFF874A-1648-4EE1-8C33-74181E88498D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3788" y="3141664"/>
            <a:ext cx="0" cy="2663825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8450" name="Line 18">
            <a:extLst>
              <a:ext uri="{FF2B5EF4-FFF2-40B4-BE49-F238E27FC236}">
                <a16:creationId xmlns:a16="http://schemas.microsoft.com/office/drawing/2014/main" id="{EA4525EE-6429-4B94-9EFB-AE29AE15B0D0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0413" y="4076700"/>
            <a:ext cx="0" cy="165735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8451" name="Line 19">
            <a:extLst>
              <a:ext uri="{FF2B5EF4-FFF2-40B4-BE49-F238E27FC236}">
                <a16:creationId xmlns:a16="http://schemas.microsoft.com/office/drawing/2014/main" id="{CF3CAA42-19F3-4447-912D-F7329A2AD6FB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4013" y="4508500"/>
            <a:ext cx="0" cy="122555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8452" name="Line 20">
            <a:extLst>
              <a:ext uri="{FF2B5EF4-FFF2-40B4-BE49-F238E27FC236}">
                <a16:creationId xmlns:a16="http://schemas.microsoft.com/office/drawing/2014/main" id="{609348C8-6C39-42BB-9F80-42ACCC0FACD3}"/>
              </a:ext>
            </a:extLst>
          </p:cNvPr>
          <p:cNvSpPr>
            <a:spLocks noChangeShapeType="1"/>
          </p:cNvSpPr>
          <p:nvPr/>
        </p:nvSpPr>
        <p:spPr bwMode="auto">
          <a:xfrm>
            <a:off x="8593138" y="5084764"/>
            <a:ext cx="0" cy="649287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8453" name="AutoShape 21">
            <a:extLst>
              <a:ext uri="{FF2B5EF4-FFF2-40B4-BE49-F238E27FC236}">
                <a16:creationId xmlns:a16="http://schemas.microsoft.com/office/drawing/2014/main" id="{1C7A8DE5-E7F5-49AF-BEB3-D801B5FBEC62}"/>
              </a:ext>
            </a:extLst>
          </p:cNvPr>
          <p:cNvSpPr>
            <a:spLocks/>
          </p:cNvSpPr>
          <p:nvPr/>
        </p:nvSpPr>
        <p:spPr bwMode="auto">
          <a:xfrm>
            <a:off x="2351088" y="1341439"/>
            <a:ext cx="215900" cy="3959225"/>
          </a:xfrm>
          <a:prstGeom prst="leftBrace">
            <a:avLst>
              <a:gd name="adj1" fmla="val 152819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s-AR"/>
          </a:p>
        </p:txBody>
      </p:sp>
      <p:sp>
        <p:nvSpPr>
          <p:cNvPr id="18454" name="Text Box 22">
            <a:extLst>
              <a:ext uri="{FF2B5EF4-FFF2-40B4-BE49-F238E27FC236}">
                <a16:creationId xmlns:a16="http://schemas.microsoft.com/office/drawing/2014/main" id="{BA17B50F-F29A-49DC-B55F-7D5DBFAD83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0060" y="3092450"/>
            <a:ext cx="159693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AR" altLang="es-AR" dirty="0">
                <a:solidFill>
                  <a:srgbClr val="FF0000"/>
                </a:solidFill>
                <a:latin typeface="Tahoma" panose="020B0604030504040204" pitchFamily="34" charset="0"/>
              </a:rPr>
              <a:t>Valor amortizable</a:t>
            </a:r>
            <a:endParaRPr lang="es-ES" altLang="es-AR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18455" name="AutoShape 23">
            <a:extLst>
              <a:ext uri="{FF2B5EF4-FFF2-40B4-BE49-F238E27FC236}">
                <a16:creationId xmlns:a16="http://schemas.microsoft.com/office/drawing/2014/main" id="{F4F957B3-2B57-470D-B974-66F87CA66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4238" y="5013326"/>
            <a:ext cx="144462" cy="144463"/>
          </a:xfrm>
          <a:prstGeom prst="flowChartConnector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s-AR"/>
          </a:p>
        </p:txBody>
      </p:sp>
      <p:sp>
        <p:nvSpPr>
          <p:cNvPr id="18456" name="AutoShape 24">
            <a:extLst>
              <a:ext uri="{FF2B5EF4-FFF2-40B4-BE49-F238E27FC236}">
                <a16:creationId xmlns:a16="http://schemas.microsoft.com/office/drawing/2014/main" id="{D69F1116-763F-434A-8AB3-E78FAAFF5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5726" y="1441451"/>
            <a:ext cx="144463" cy="144463"/>
          </a:xfrm>
          <a:prstGeom prst="flowChartConnector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s-AR"/>
          </a:p>
        </p:txBody>
      </p:sp>
      <p:sp>
        <p:nvSpPr>
          <p:cNvPr id="18457" name="Arc 25">
            <a:extLst>
              <a:ext uri="{FF2B5EF4-FFF2-40B4-BE49-F238E27FC236}">
                <a16:creationId xmlns:a16="http://schemas.microsoft.com/office/drawing/2014/main" id="{EF7FC17B-A6F8-43C5-BA19-AAF040349705}"/>
              </a:ext>
            </a:extLst>
          </p:cNvPr>
          <p:cNvSpPr>
            <a:spLocks/>
          </p:cNvSpPr>
          <p:nvPr/>
        </p:nvSpPr>
        <p:spPr bwMode="auto">
          <a:xfrm rot="11209298">
            <a:off x="3884614" y="-312738"/>
            <a:ext cx="5018087" cy="5091113"/>
          </a:xfrm>
          <a:custGeom>
            <a:avLst/>
            <a:gdLst>
              <a:gd name="T0" fmla="*/ 0 w 20415"/>
              <a:gd name="T1" fmla="*/ 2147483646 h 21600"/>
              <a:gd name="T2" fmla="*/ 2147483646 w 20415"/>
              <a:gd name="T3" fmla="*/ 2147483646 h 21600"/>
              <a:gd name="T4" fmla="*/ 2147483646 w 20415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415" h="21600" fill="none" extrusionOk="0">
                <a:moveTo>
                  <a:pt x="0" y="12"/>
                </a:moveTo>
                <a:cubicBezTo>
                  <a:pt x="243" y="4"/>
                  <a:pt x="487" y="0"/>
                  <a:pt x="732" y="0"/>
                </a:cubicBezTo>
                <a:cubicBezTo>
                  <a:pt x="9218" y="0"/>
                  <a:pt x="16919" y="4969"/>
                  <a:pt x="20414" y="12703"/>
                </a:cubicBezTo>
              </a:path>
              <a:path w="20415" h="21600" stroke="0" extrusionOk="0">
                <a:moveTo>
                  <a:pt x="0" y="12"/>
                </a:moveTo>
                <a:cubicBezTo>
                  <a:pt x="243" y="4"/>
                  <a:pt x="487" y="0"/>
                  <a:pt x="732" y="0"/>
                </a:cubicBezTo>
                <a:cubicBezTo>
                  <a:pt x="9218" y="0"/>
                  <a:pt x="16919" y="4969"/>
                  <a:pt x="20414" y="12703"/>
                </a:cubicBezTo>
                <a:lnTo>
                  <a:pt x="732" y="21600"/>
                </a:lnTo>
                <a:lnTo>
                  <a:pt x="0" y="12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8458" name="AutoShape 26">
            <a:extLst>
              <a:ext uri="{FF2B5EF4-FFF2-40B4-BE49-F238E27FC236}">
                <a16:creationId xmlns:a16="http://schemas.microsoft.com/office/drawing/2014/main" id="{383356D8-2D9C-489F-AE36-7D1F42B9A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2351" y="3082926"/>
            <a:ext cx="144463" cy="144463"/>
          </a:xfrm>
          <a:prstGeom prst="flowChartConnector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s-AR"/>
          </a:p>
        </p:txBody>
      </p:sp>
      <p:sp>
        <p:nvSpPr>
          <p:cNvPr id="18459" name="AutoShape 27">
            <a:extLst>
              <a:ext uri="{FF2B5EF4-FFF2-40B4-BE49-F238E27FC236}">
                <a16:creationId xmlns:a16="http://schemas.microsoft.com/office/drawing/2014/main" id="{94833294-4E6E-4AE6-9661-3BD484C2B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8976" y="3946526"/>
            <a:ext cx="144463" cy="144463"/>
          </a:xfrm>
          <a:prstGeom prst="flowChartConnector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s-AR"/>
          </a:p>
        </p:txBody>
      </p:sp>
      <p:sp>
        <p:nvSpPr>
          <p:cNvPr id="18460" name="AutoShape 28">
            <a:extLst>
              <a:ext uri="{FF2B5EF4-FFF2-40B4-BE49-F238E27FC236}">
                <a16:creationId xmlns:a16="http://schemas.microsoft.com/office/drawing/2014/main" id="{25962B6C-3315-4B85-8FE3-CFD7B67FC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2576" y="4465638"/>
            <a:ext cx="144463" cy="144462"/>
          </a:xfrm>
          <a:prstGeom prst="flowChartConnector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s-AR"/>
          </a:p>
        </p:txBody>
      </p:sp>
      <p:sp>
        <p:nvSpPr>
          <p:cNvPr id="18461" name="Line 29">
            <a:extLst>
              <a:ext uri="{FF2B5EF4-FFF2-40B4-BE49-F238E27FC236}">
                <a16:creationId xmlns:a16="http://schemas.microsoft.com/office/drawing/2014/main" id="{283860EE-3F16-4D9E-B0FE-A3DF745C452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8750" y="1484313"/>
            <a:ext cx="93503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8462" name="Line 30">
            <a:extLst>
              <a:ext uri="{FF2B5EF4-FFF2-40B4-BE49-F238E27FC236}">
                <a16:creationId xmlns:a16="http://schemas.microsoft.com/office/drawing/2014/main" id="{67773B1C-1E53-49C3-A97B-52BC53CC11E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3789" y="3141663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8463" name="Line 31">
            <a:extLst>
              <a:ext uri="{FF2B5EF4-FFF2-40B4-BE49-F238E27FC236}">
                <a16:creationId xmlns:a16="http://schemas.microsoft.com/office/drawing/2014/main" id="{687196AC-C429-4F1C-88CB-55CDC30D2DC3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0413" y="4005263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8464" name="Line 32">
            <a:extLst>
              <a:ext uri="{FF2B5EF4-FFF2-40B4-BE49-F238E27FC236}">
                <a16:creationId xmlns:a16="http://schemas.microsoft.com/office/drawing/2014/main" id="{3ECEB82D-35BF-41E0-8A1D-18BFDB9367B2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2576" y="4508500"/>
            <a:ext cx="100806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8465" name="Line 33">
            <a:extLst>
              <a:ext uri="{FF2B5EF4-FFF2-40B4-BE49-F238E27FC236}">
                <a16:creationId xmlns:a16="http://schemas.microsoft.com/office/drawing/2014/main" id="{FDE26ECF-147C-4BC9-AE6B-F08C102EEC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5376" y="1484313"/>
            <a:ext cx="15875" cy="165735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8466" name="Line 34">
            <a:extLst>
              <a:ext uri="{FF2B5EF4-FFF2-40B4-BE49-F238E27FC236}">
                <a16:creationId xmlns:a16="http://schemas.microsoft.com/office/drawing/2014/main" id="{4CCC157C-45A3-4917-B930-2CB2C00530C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40414" y="3141663"/>
            <a:ext cx="1587" cy="8636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8467" name="Line 35">
            <a:extLst>
              <a:ext uri="{FF2B5EF4-FFF2-40B4-BE49-F238E27FC236}">
                <a16:creationId xmlns:a16="http://schemas.microsoft.com/office/drawing/2014/main" id="{40AF6F12-C2FF-4E67-8E8B-611135FA93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04013" y="4005264"/>
            <a:ext cx="0" cy="50323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8468" name="Line 36">
            <a:extLst>
              <a:ext uri="{FF2B5EF4-FFF2-40B4-BE49-F238E27FC236}">
                <a16:creationId xmlns:a16="http://schemas.microsoft.com/office/drawing/2014/main" id="{61B64112-CF93-4B9C-9BD5-4619F3E541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40638" y="4508501"/>
            <a:ext cx="0" cy="360363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8469" name="Text Box 37">
            <a:extLst>
              <a:ext uri="{FF2B5EF4-FFF2-40B4-BE49-F238E27FC236}">
                <a16:creationId xmlns:a16="http://schemas.microsoft.com/office/drawing/2014/main" id="{F0EE1FE8-2BF7-4277-BDB5-F8995F85F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6813" y="2133601"/>
            <a:ext cx="1873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AR" altLang="es-AR" b="1">
                <a:solidFill>
                  <a:schemeClr val="accent2"/>
                </a:solidFill>
                <a:latin typeface="Tahoma" panose="020B0604030504040204" pitchFamily="34" charset="0"/>
              </a:rPr>
              <a:t>Cuota </a:t>
            </a:r>
            <a:r>
              <a:rPr lang="es-AR" altLang="es-AR" b="1" baseline="-25000">
                <a:solidFill>
                  <a:schemeClr val="accent2"/>
                </a:solidFill>
                <a:latin typeface="Tahoma" panose="020B0604030504040204" pitchFamily="34" charset="0"/>
              </a:rPr>
              <a:t>1° año</a:t>
            </a:r>
            <a:endParaRPr lang="es-ES" altLang="es-AR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18470" name="Text Box 38">
            <a:extLst>
              <a:ext uri="{FF2B5EF4-FFF2-40B4-BE49-F238E27FC236}">
                <a16:creationId xmlns:a16="http://schemas.microsoft.com/office/drawing/2014/main" id="{3D412452-1CA1-4930-8D32-23F99BB2C5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3438" y="3429001"/>
            <a:ext cx="1873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AR" altLang="es-AR" b="1">
                <a:solidFill>
                  <a:schemeClr val="accent2"/>
                </a:solidFill>
                <a:latin typeface="Tahoma" panose="020B0604030504040204" pitchFamily="34" charset="0"/>
              </a:rPr>
              <a:t>Cuota </a:t>
            </a:r>
            <a:r>
              <a:rPr lang="es-AR" altLang="es-AR" b="1" baseline="-25000">
                <a:solidFill>
                  <a:schemeClr val="accent2"/>
                </a:solidFill>
                <a:latin typeface="Tahoma" panose="020B0604030504040204" pitchFamily="34" charset="0"/>
              </a:rPr>
              <a:t>2° año</a:t>
            </a:r>
            <a:endParaRPr lang="es-ES" altLang="es-AR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18471" name="Text Box 39">
            <a:extLst>
              <a:ext uri="{FF2B5EF4-FFF2-40B4-BE49-F238E27FC236}">
                <a16:creationId xmlns:a16="http://schemas.microsoft.com/office/drawing/2014/main" id="{DD020010-9A94-47FC-B413-A6433A146A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7038" y="4076701"/>
            <a:ext cx="1873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AR" altLang="es-AR" b="1">
                <a:solidFill>
                  <a:schemeClr val="accent2"/>
                </a:solidFill>
                <a:latin typeface="Tahoma" panose="020B0604030504040204" pitchFamily="34" charset="0"/>
              </a:rPr>
              <a:t>Cuota </a:t>
            </a:r>
            <a:r>
              <a:rPr lang="es-AR" altLang="es-AR" b="1" baseline="-25000">
                <a:solidFill>
                  <a:schemeClr val="accent2"/>
                </a:solidFill>
                <a:latin typeface="Tahoma" panose="020B0604030504040204" pitchFamily="34" charset="0"/>
              </a:rPr>
              <a:t>3° año</a:t>
            </a:r>
            <a:endParaRPr lang="es-ES" altLang="es-AR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18472" name="Text Box 40">
            <a:extLst>
              <a:ext uri="{FF2B5EF4-FFF2-40B4-BE49-F238E27FC236}">
                <a16:creationId xmlns:a16="http://schemas.microsoft.com/office/drawing/2014/main" id="{682FF69D-1BEA-42C3-8B10-D402245CE0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8738" y="4460876"/>
            <a:ext cx="1873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AR" altLang="es-AR" b="1">
                <a:solidFill>
                  <a:schemeClr val="accent2"/>
                </a:solidFill>
                <a:latin typeface="Tahoma" panose="020B0604030504040204" pitchFamily="34" charset="0"/>
              </a:rPr>
              <a:t>Cuota </a:t>
            </a:r>
            <a:r>
              <a:rPr lang="es-AR" altLang="es-AR" b="1" baseline="-25000">
                <a:solidFill>
                  <a:schemeClr val="accent2"/>
                </a:solidFill>
                <a:latin typeface="Tahoma" panose="020B0604030504040204" pitchFamily="34" charset="0"/>
              </a:rPr>
              <a:t>4° año</a:t>
            </a:r>
            <a:endParaRPr lang="es-ES" altLang="es-AR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18473" name="Text Box 41">
            <a:extLst>
              <a:ext uri="{FF2B5EF4-FFF2-40B4-BE49-F238E27FC236}">
                <a16:creationId xmlns:a16="http://schemas.microsoft.com/office/drawing/2014/main" id="{9A952429-D19F-41EC-8B6D-08913484E1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7350" y="3752851"/>
            <a:ext cx="1047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AR" altLang="es-AR" sz="2000">
                <a:latin typeface="Tahoma" panose="020B0604030504040204" pitchFamily="34" charset="0"/>
              </a:rPr>
              <a:t>VR</a:t>
            </a:r>
            <a:r>
              <a:rPr lang="es-AR" altLang="es-AR" sz="2000" baseline="-25000">
                <a:latin typeface="Tahoma" panose="020B0604030504040204" pitchFamily="34" charset="0"/>
              </a:rPr>
              <a:t>2° año</a:t>
            </a:r>
            <a:endParaRPr lang="es-ES" altLang="es-AR" sz="2000">
              <a:latin typeface="Tahoma" panose="020B0604030504040204" pitchFamily="34" charset="0"/>
            </a:endParaRPr>
          </a:p>
        </p:txBody>
      </p:sp>
      <p:sp>
        <p:nvSpPr>
          <p:cNvPr id="18474" name="Line 42">
            <a:extLst>
              <a:ext uri="{FF2B5EF4-FFF2-40B4-BE49-F238E27FC236}">
                <a16:creationId xmlns:a16="http://schemas.microsoft.com/office/drawing/2014/main" id="{7A51CA2A-BF04-41F3-9E1F-A06905C2ED38}"/>
              </a:ext>
            </a:extLst>
          </p:cNvPr>
          <p:cNvSpPr>
            <a:spLocks noChangeShapeType="1"/>
          </p:cNvSpPr>
          <p:nvPr/>
        </p:nvSpPr>
        <p:spPr bwMode="auto">
          <a:xfrm>
            <a:off x="7640638" y="4868864"/>
            <a:ext cx="0" cy="865187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8475" name="Line 43">
            <a:extLst>
              <a:ext uri="{FF2B5EF4-FFF2-40B4-BE49-F238E27FC236}">
                <a16:creationId xmlns:a16="http://schemas.microsoft.com/office/drawing/2014/main" id="{62AB6C6A-3EAD-49E1-A262-C95C4D0970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68750" y="4868864"/>
            <a:ext cx="3671888" cy="1587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8476" name="AutoShape 44">
            <a:extLst>
              <a:ext uri="{FF2B5EF4-FFF2-40B4-BE49-F238E27FC236}">
                <a16:creationId xmlns:a16="http://schemas.microsoft.com/office/drawing/2014/main" id="{EAEF4C5E-7E54-4CFE-BA1C-E74847EEA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9201" y="4797426"/>
            <a:ext cx="144463" cy="144463"/>
          </a:xfrm>
          <a:prstGeom prst="flowChartConnector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s-AR"/>
          </a:p>
        </p:txBody>
      </p:sp>
      <p:sp>
        <p:nvSpPr>
          <p:cNvPr id="18477" name="Line 45">
            <a:extLst>
              <a:ext uri="{FF2B5EF4-FFF2-40B4-BE49-F238E27FC236}">
                <a16:creationId xmlns:a16="http://schemas.microsoft.com/office/drawing/2014/main" id="{6FAFD5A8-15CD-4ACC-92D0-2A8D610C64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77263" y="4868863"/>
            <a:ext cx="0" cy="2159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8478" name="Line 46">
            <a:extLst>
              <a:ext uri="{FF2B5EF4-FFF2-40B4-BE49-F238E27FC236}">
                <a16:creationId xmlns:a16="http://schemas.microsoft.com/office/drawing/2014/main" id="{3803EC7B-DABD-4282-929B-A69DE6D5A82E}"/>
              </a:ext>
            </a:extLst>
          </p:cNvPr>
          <p:cNvSpPr>
            <a:spLocks noChangeShapeType="1"/>
          </p:cNvSpPr>
          <p:nvPr/>
        </p:nvSpPr>
        <p:spPr bwMode="auto">
          <a:xfrm>
            <a:off x="7640639" y="4868863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8479" name="Text Box 47">
            <a:extLst>
              <a:ext uri="{FF2B5EF4-FFF2-40B4-BE49-F238E27FC236}">
                <a16:creationId xmlns:a16="http://schemas.microsoft.com/office/drawing/2014/main" id="{C3D3A240-6FAE-4F6F-B326-8015CC287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4797426"/>
            <a:ext cx="1873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AR" altLang="es-AR" b="1">
                <a:solidFill>
                  <a:schemeClr val="accent2"/>
                </a:solidFill>
                <a:latin typeface="Tahoma" panose="020B0604030504040204" pitchFamily="34" charset="0"/>
              </a:rPr>
              <a:t>Cuota </a:t>
            </a:r>
            <a:r>
              <a:rPr lang="es-AR" altLang="es-AR" b="1" baseline="-25000">
                <a:solidFill>
                  <a:schemeClr val="accent2"/>
                </a:solidFill>
                <a:latin typeface="Tahoma" panose="020B0604030504040204" pitchFamily="34" charset="0"/>
              </a:rPr>
              <a:t>5° año</a:t>
            </a:r>
            <a:endParaRPr lang="es-ES" altLang="es-AR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18480" name="Text Box 48">
            <a:extLst>
              <a:ext uri="{FF2B5EF4-FFF2-40B4-BE49-F238E27FC236}">
                <a16:creationId xmlns:a16="http://schemas.microsoft.com/office/drawing/2014/main" id="{9F674878-9527-4551-9808-C64D43E5CA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8438" y="1052514"/>
            <a:ext cx="431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AR" altLang="es-AR" sz="2000">
                <a:latin typeface="Tahoma" panose="020B0604030504040204" pitchFamily="34" charset="0"/>
              </a:rPr>
              <a:t>$</a:t>
            </a:r>
            <a:endParaRPr lang="es-ES" altLang="es-AR" sz="2000">
              <a:latin typeface="Tahoma" panose="020B0604030504040204" pitchFamily="34" charset="0"/>
            </a:endParaRPr>
          </a:p>
        </p:txBody>
      </p:sp>
      <p:sp>
        <p:nvSpPr>
          <p:cNvPr id="18482" name="Text Box 50">
            <a:extLst>
              <a:ext uri="{FF2B5EF4-FFF2-40B4-BE49-F238E27FC236}">
                <a16:creationId xmlns:a16="http://schemas.microsoft.com/office/drawing/2014/main" id="{0205F5B9-3BC5-4E79-9ED6-76E18E206F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5139" y="1341439"/>
            <a:ext cx="3889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s-AR" altLang="es-AR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  <a:t>Vida útil económica = 5 años</a:t>
            </a:r>
            <a:endParaRPr lang="es-ES" altLang="es-AR" sz="2000" b="1"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  <a:cs typeface="Arial" charset="0"/>
            </a:endParaRPr>
          </a:p>
        </p:txBody>
      </p:sp>
      <p:sp>
        <p:nvSpPr>
          <p:cNvPr id="48" name="47 CuadroTexto">
            <a:extLst>
              <a:ext uri="{FF2B5EF4-FFF2-40B4-BE49-F238E27FC236}">
                <a16:creationId xmlns:a16="http://schemas.microsoft.com/office/drawing/2014/main" id="{3A81FAA1-518A-4E4E-B877-90ED09631B05}"/>
              </a:ext>
            </a:extLst>
          </p:cNvPr>
          <p:cNvSpPr txBox="1"/>
          <p:nvPr/>
        </p:nvSpPr>
        <p:spPr>
          <a:xfrm>
            <a:off x="4721226" y="6276975"/>
            <a:ext cx="6119813" cy="323850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r" eaLnBrk="1" hangingPunct="1">
              <a:defRPr/>
            </a:pPr>
            <a:r>
              <a:rPr lang="es-AR" sz="1500" b="1" dirty="0">
                <a:latin typeface="+mj-lt"/>
                <a:cs typeface="Arial" charset="0"/>
              </a:rPr>
              <a:t>20                                   Depreciación y Amortización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3ACA73D-D994-4200-8BC9-46FD04F0D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8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3" grpId="0"/>
      <p:bldP spid="18444" grpId="0"/>
      <p:bldP spid="18445" grpId="0"/>
      <p:bldP spid="18446" grpId="0"/>
      <p:bldP spid="18447" grpId="0"/>
      <p:bldP spid="18448" grpId="0"/>
      <p:bldP spid="18453" grpId="0" animBg="1"/>
      <p:bldP spid="18454" grpId="0"/>
      <p:bldP spid="18455" grpId="0" animBg="1"/>
      <p:bldP spid="18456" grpId="0" animBg="1"/>
      <p:bldP spid="18458" grpId="0" animBg="1"/>
      <p:bldP spid="18459" grpId="0" animBg="1"/>
      <p:bldP spid="18460" grpId="0" animBg="1"/>
      <p:bldP spid="18469" grpId="0"/>
      <p:bldP spid="18470" grpId="0"/>
      <p:bldP spid="18471" grpId="0"/>
      <p:bldP spid="18472" grpId="0"/>
      <p:bldP spid="18473" grpId="0"/>
      <p:bldP spid="18476" grpId="0" animBg="1"/>
      <p:bldP spid="18479" grpId="0"/>
      <p:bldP spid="18480" grpId="0"/>
      <p:bldP spid="18482" grpId="0"/>
    </p:bldLst>
  </p:timing>
</p:sld>
</file>

<file path=ppt/theme/theme1.xml><?xml version="1.0" encoding="utf-8"?>
<a:theme xmlns:a="http://schemas.openxmlformats.org/drawingml/2006/main" name="Espiral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562</TotalTime>
  <Words>1855</Words>
  <Application>Microsoft Office PowerPoint</Application>
  <PresentationFormat>Panorámica</PresentationFormat>
  <Paragraphs>356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1" baseType="lpstr">
      <vt:lpstr>Arial</vt:lpstr>
      <vt:lpstr>Calibri</vt:lpstr>
      <vt:lpstr>Century Gothic</vt:lpstr>
      <vt:lpstr>Tahoma</vt:lpstr>
      <vt:lpstr>Wingdings 3</vt:lpstr>
      <vt:lpstr>Espiral</vt:lpstr>
      <vt:lpstr>COSTOS Y PRESUPUESTOS</vt:lpstr>
      <vt:lpstr>CAPITAL EMPRESARIO</vt:lpstr>
      <vt:lpstr>CAPITAL DE LA EMPRESA</vt:lpstr>
      <vt:lpstr>DEPRECIACIÓN DEL CAPITAL FIJO</vt:lpstr>
      <vt:lpstr>AMORTIZACIÓN DEL CAPITAL FIJO</vt:lpstr>
      <vt:lpstr>Presentación de PowerPoint</vt:lpstr>
      <vt:lpstr>Presentación de PowerPoint</vt:lpstr>
      <vt:lpstr>Presentación de PowerPoint</vt:lpstr>
      <vt:lpstr>VALOR DE RECUPERO DE UN BIEN DE USO </vt:lpstr>
      <vt:lpstr>VALOR AMORTIZABLE </vt:lpstr>
      <vt:lpstr>VALOR RESIDUAL</vt:lpstr>
      <vt:lpstr>SISTEMAS DE AMORTIZACIÓN </vt:lpstr>
      <vt:lpstr>SISTEMAS DE AMORTIZACION </vt:lpstr>
      <vt:lpstr>SISTEMAS DE AMORTIZACION</vt:lpstr>
      <vt:lpstr>Presentación de PowerPoint</vt:lpstr>
      <vt:lpstr>Presentación de PowerPoint</vt:lpstr>
      <vt:lpstr>SISTEMAS DE AMORTIZACION </vt:lpstr>
      <vt:lpstr>SISTEMAS DE AMORTIZACION </vt:lpstr>
      <vt:lpstr>AMORTIZACIÓN LINEAL</vt:lpstr>
      <vt:lpstr>Presentación de PowerPoint</vt:lpstr>
      <vt:lpstr>SISTEMA DE AMORTIZACIÓN: ACELERADO O DECRECIENTE Y  DESACELERADO O CRECIENTE </vt:lpstr>
      <vt:lpstr>AMORTIZACIÓN DESACELERADA O CRECIENTE </vt:lpstr>
      <vt:lpstr>Presentación de PowerPoint</vt:lpstr>
      <vt:lpstr>AMORTIZACIÓN ACELERADA O DECRECIENTE 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COSTOS Y PRESUPUESTOS</dc:title>
  <dc:creator>gustavo massucco</dc:creator>
  <cp:lastModifiedBy>gustavo massucco</cp:lastModifiedBy>
  <cp:revision>40</cp:revision>
  <dcterms:created xsi:type="dcterms:W3CDTF">2020-04-19T20:11:04Z</dcterms:created>
  <dcterms:modified xsi:type="dcterms:W3CDTF">2021-04-26T13:10:27Z</dcterms:modified>
</cp:coreProperties>
</file>