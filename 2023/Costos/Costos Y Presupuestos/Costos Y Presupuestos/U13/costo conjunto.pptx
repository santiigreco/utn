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10287000" cx="18288000"/>
  <p:notesSz cx="6858000" cy="9144000"/>
  <p:embeddedFontLst>
    <p:embeddedFont>
      <p:font typeface="Raleway"/>
      <p:regular r:id="rId28"/>
      <p:bold r:id="rId29"/>
      <p:italic r:id="rId30"/>
      <p:boldItalic r:id="rId31"/>
    </p:embeddedFont>
    <p:embeddedFont>
      <p:font typeface="Raleway Black"/>
      <p:bold r:id="rId32"/>
      <p:boldItalic r:id="rId33"/>
    </p:embeddedFont>
    <p:embeddedFont>
      <p:font typeface="Open Sans ExtraBold"/>
      <p:bold r:id="rId34"/>
      <p:boldItalic r:id="rId35"/>
    </p:embeddedFont>
    <p:embeddedFont>
      <p:font typeface="Open Sans Light"/>
      <p:regular r:id="rId36"/>
      <p:bold r:id="rId37"/>
      <p:italic r:id="rId38"/>
      <p:boldItalic r:id="rId39"/>
    </p:embeddedFont>
    <p:embeddedFont>
      <p:font typeface="Open Sans"/>
      <p:bold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2" roundtripDataSignature="AMtx7mj5mFh9y9sodsEngHVQ3eUx6XZ3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OpenSans-bold.fntdata"/><Relationship Id="rId20" Type="http://schemas.openxmlformats.org/officeDocument/2006/relationships/slide" Target="slides/slide15.xml"/><Relationship Id="rId42" Type="http://customschemas.google.com/relationships/presentationmetadata" Target="metadata"/><Relationship Id="rId41" Type="http://schemas.openxmlformats.org/officeDocument/2006/relationships/font" Target="fonts/OpenSans-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aleway-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boldItalic.fntdata"/><Relationship Id="rId30" Type="http://schemas.openxmlformats.org/officeDocument/2006/relationships/font" Target="fonts/Raleway-italic.fntdata"/><Relationship Id="rId11" Type="http://schemas.openxmlformats.org/officeDocument/2006/relationships/slide" Target="slides/slide6.xml"/><Relationship Id="rId33" Type="http://schemas.openxmlformats.org/officeDocument/2006/relationships/font" Target="fonts/RalewayBlack-boldItalic.fntdata"/><Relationship Id="rId10" Type="http://schemas.openxmlformats.org/officeDocument/2006/relationships/slide" Target="slides/slide5.xml"/><Relationship Id="rId32" Type="http://schemas.openxmlformats.org/officeDocument/2006/relationships/font" Target="fonts/RalewayBlack-bold.fntdata"/><Relationship Id="rId13" Type="http://schemas.openxmlformats.org/officeDocument/2006/relationships/slide" Target="slides/slide8.xml"/><Relationship Id="rId35" Type="http://schemas.openxmlformats.org/officeDocument/2006/relationships/font" Target="fonts/OpenSansExtraBold-boldItalic.fntdata"/><Relationship Id="rId12" Type="http://schemas.openxmlformats.org/officeDocument/2006/relationships/slide" Target="slides/slide7.xml"/><Relationship Id="rId34" Type="http://schemas.openxmlformats.org/officeDocument/2006/relationships/font" Target="fonts/OpenSansExtraBold-bold.fntdata"/><Relationship Id="rId15" Type="http://schemas.openxmlformats.org/officeDocument/2006/relationships/slide" Target="slides/slide10.xml"/><Relationship Id="rId37" Type="http://schemas.openxmlformats.org/officeDocument/2006/relationships/font" Target="fonts/OpenSansLight-bold.fntdata"/><Relationship Id="rId14" Type="http://schemas.openxmlformats.org/officeDocument/2006/relationships/slide" Target="slides/slide9.xml"/><Relationship Id="rId36" Type="http://schemas.openxmlformats.org/officeDocument/2006/relationships/font" Target="fonts/OpenSansLight-regular.fntdata"/><Relationship Id="rId17" Type="http://schemas.openxmlformats.org/officeDocument/2006/relationships/slide" Target="slides/slide12.xml"/><Relationship Id="rId39" Type="http://schemas.openxmlformats.org/officeDocument/2006/relationships/font" Target="fonts/OpenSansLight-boldItalic.fntdata"/><Relationship Id="rId16" Type="http://schemas.openxmlformats.org/officeDocument/2006/relationships/slide" Target="slides/slide11.xml"/><Relationship Id="rId38" Type="http://schemas.openxmlformats.org/officeDocument/2006/relationships/font" Target="fonts/OpenSansLight-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2"/>
          <p:cNvSpPr/>
          <p:nvPr>
            <p:ph idx="2" type="pic"/>
          </p:nvPr>
        </p:nvSpPr>
        <p:spPr>
          <a:xfrm>
            <a:off x="1792288" y="612775"/>
            <a:ext cx="5486400" cy="4114800"/>
          </a:xfrm>
          <a:prstGeom prst="rect">
            <a:avLst/>
          </a:prstGeom>
          <a:noFill/>
          <a:ln>
            <a:noFill/>
          </a:ln>
        </p:spPr>
      </p:sp>
      <p:sp>
        <p:nvSpPr>
          <p:cNvPr id="64" name="Google Shape;64;p3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jpg"/><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4.png"/><Relationship Id="rId5" Type="http://schemas.openxmlformats.org/officeDocument/2006/relationships/image" Target="../media/image24.png"/><Relationship Id="rId6" Type="http://schemas.openxmlformats.org/officeDocument/2006/relationships/image" Target="../media/image7.png"/><Relationship Id="rId7" Type="http://schemas.openxmlformats.org/officeDocument/2006/relationships/image" Target="../media/image10.png"/><Relationship Id="rId8"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83" name="Shape 83"/>
        <p:cNvGrpSpPr/>
        <p:nvPr/>
      </p:nvGrpSpPr>
      <p:grpSpPr>
        <a:xfrm>
          <a:off x="0" y="0"/>
          <a:ext cx="0" cy="0"/>
          <a:chOff x="0" y="0"/>
          <a:chExt cx="0" cy="0"/>
        </a:xfrm>
      </p:grpSpPr>
      <p:grpSp>
        <p:nvGrpSpPr>
          <p:cNvPr id="84" name="Google Shape;84;p1"/>
          <p:cNvGrpSpPr/>
          <p:nvPr/>
        </p:nvGrpSpPr>
        <p:grpSpPr>
          <a:xfrm>
            <a:off x="10126714" y="362362"/>
            <a:ext cx="7254705" cy="7254705"/>
            <a:chOff x="0" y="0"/>
            <a:chExt cx="812800" cy="812800"/>
          </a:xfrm>
        </p:grpSpPr>
        <p:sp>
          <p:nvSpPr>
            <p:cNvPr id="85" name="Google Shape;85;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7" name="Google Shape;87;p1"/>
          <p:cNvGrpSpPr/>
          <p:nvPr/>
        </p:nvGrpSpPr>
        <p:grpSpPr>
          <a:xfrm>
            <a:off x="9663698" y="7617067"/>
            <a:ext cx="3004046" cy="3004046"/>
            <a:chOff x="0" y="0"/>
            <a:chExt cx="812800" cy="812800"/>
          </a:xfrm>
        </p:grpSpPr>
        <p:sp>
          <p:nvSpPr>
            <p:cNvPr id="88" name="Google Shape;88;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0" name="Google Shape;90;p1"/>
          <p:cNvGrpSpPr/>
          <p:nvPr/>
        </p:nvGrpSpPr>
        <p:grpSpPr>
          <a:xfrm>
            <a:off x="-1170324" y="-408333"/>
            <a:ext cx="4398048" cy="4398048"/>
            <a:chOff x="0" y="0"/>
            <a:chExt cx="812800" cy="812800"/>
          </a:xfrm>
        </p:grpSpPr>
        <p:sp>
          <p:nvSpPr>
            <p:cNvPr id="91" name="Google Shape;91;p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93" name="Google Shape;93;p1"/>
          <p:cNvCxnSpPr/>
          <p:nvPr/>
        </p:nvCxnSpPr>
        <p:spPr>
          <a:xfrm>
            <a:off x="-803458" y="1114425"/>
            <a:ext cx="19091458" cy="0"/>
          </a:xfrm>
          <a:prstGeom prst="straightConnector1">
            <a:avLst/>
          </a:prstGeom>
          <a:noFill/>
          <a:ln cap="flat" cmpd="sng" w="171450">
            <a:solidFill>
              <a:srgbClr val="1D1811"/>
            </a:solidFill>
            <a:prstDash val="solid"/>
            <a:round/>
            <a:headEnd len="sm" w="sm" type="none"/>
            <a:tailEnd len="sm" w="sm" type="none"/>
          </a:ln>
        </p:spPr>
      </p:cxnSp>
      <p:sp>
        <p:nvSpPr>
          <p:cNvPr id="94" name="Google Shape;94;p1"/>
          <p:cNvSpPr/>
          <p:nvPr/>
        </p:nvSpPr>
        <p:spPr>
          <a:xfrm>
            <a:off x="7962617" y="79597"/>
            <a:ext cx="4328194" cy="4620347"/>
          </a:xfrm>
          <a:custGeom>
            <a:rect b="b" l="l" r="r" t="t"/>
            <a:pathLst>
              <a:path extrusionOk="0" h="4620347" w="4328194">
                <a:moveTo>
                  <a:pt x="0" y="0"/>
                </a:moveTo>
                <a:lnTo>
                  <a:pt x="4328194" y="0"/>
                </a:lnTo>
                <a:lnTo>
                  <a:pt x="4328194" y="4620347"/>
                </a:lnTo>
                <a:lnTo>
                  <a:pt x="0" y="4620347"/>
                </a:lnTo>
                <a:lnTo>
                  <a:pt x="0" y="0"/>
                </a:lnTo>
                <a:close/>
              </a:path>
            </a:pathLst>
          </a:custGeom>
          <a:blipFill rotWithShape="1">
            <a:blip r:embed="rId3">
              <a:alphaModFix/>
            </a:blip>
            <a:stretch>
              <a:fillRect b="0" l="0" r="0" t="0"/>
            </a:stretch>
          </a:blipFill>
          <a:ln>
            <a:noFill/>
          </a:ln>
        </p:spPr>
      </p:sp>
      <p:sp>
        <p:nvSpPr>
          <p:cNvPr id="95" name="Google Shape;95;p1"/>
          <p:cNvSpPr/>
          <p:nvPr/>
        </p:nvSpPr>
        <p:spPr>
          <a:xfrm>
            <a:off x="11438980" y="2467018"/>
            <a:ext cx="10015740" cy="7819982"/>
          </a:xfrm>
          <a:custGeom>
            <a:rect b="b" l="l" r="r" t="t"/>
            <a:pathLst>
              <a:path extrusionOk="0" h="7819982" w="10015740">
                <a:moveTo>
                  <a:pt x="0" y="0"/>
                </a:moveTo>
                <a:lnTo>
                  <a:pt x="10015741" y="0"/>
                </a:lnTo>
                <a:lnTo>
                  <a:pt x="10015741" y="7819982"/>
                </a:lnTo>
                <a:lnTo>
                  <a:pt x="0" y="7819982"/>
                </a:lnTo>
                <a:lnTo>
                  <a:pt x="0" y="0"/>
                </a:lnTo>
                <a:close/>
              </a:path>
            </a:pathLst>
          </a:custGeom>
          <a:blipFill rotWithShape="1">
            <a:blip r:embed="rId4">
              <a:alphaModFix/>
            </a:blip>
            <a:stretch>
              <a:fillRect b="0" l="0" r="0" t="0"/>
            </a:stretch>
          </a:blipFill>
          <a:ln>
            <a:noFill/>
          </a:ln>
        </p:spPr>
      </p:sp>
      <p:sp>
        <p:nvSpPr>
          <p:cNvPr id="96" name="Google Shape;96;p1"/>
          <p:cNvSpPr/>
          <p:nvPr/>
        </p:nvSpPr>
        <p:spPr>
          <a:xfrm>
            <a:off x="1028700" y="1940199"/>
            <a:ext cx="899144" cy="899144"/>
          </a:xfrm>
          <a:custGeom>
            <a:rect b="b" l="l" r="r" t="t"/>
            <a:pathLst>
              <a:path extrusionOk="0" h="899144" w="899144">
                <a:moveTo>
                  <a:pt x="0" y="0"/>
                </a:moveTo>
                <a:lnTo>
                  <a:pt x="899144" y="0"/>
                </a:lnTo>
                <a:lnTo>
                  <a:pt x="899144" y="899144"/>
                </a:lnTo>
                <a:lnTo>
                  <a:pt x="0" y="899144"/>
                </a:lnTo>
                <a:lnTo>
                  <a:pt x="0" y="0"/>
                </a:lnTo>
                <a:close/>
              </a:path>
            </a:pathLst>
          </a:custGeom>
          <a:blipFill rotWithShape="1">
            <a:blip r:embed="rId5">
              <a:alphaModFix/>
            </a:blip>
            <a:stretch>
              <a:fillRect b="0" l="0" r="0" t="0"/>
            </a:stretch>
          </a:blipFill>
          <a:ln>
            <a:noFill/>
          </a:ln>
        </p:spPr>
      </p:sp>
      <p:grpSp>
        <p:nvGrpSpPr>
          <p:cNvPr id="97" name="Google Shape;97;p1"/>
          <p:cNvGrpSpPr/>
          <p:nvPr/>
        </p:nvGrpSpPr>
        <p:grpSpPr>
          <a:xfrm>
            <a:off x="1028700" y="4517358"/>
            <a:ext cx="10410280" cy="4740942"/>
            <a:chOff x="0" y="-95250"/>
            <a:chExt cx="13880374" cy="6321257"/>
          </a:xfrm>
        </p:grpSpPr>
        <p:sp>
          <p:nvSpPr>
            <p:cNvPr id="98" name="Google Shape;98;p1"/>
            <p:cNvSpPr txBox="1"/>
            <p:nvPr/>
          </p:nvSpPr>
          <p:spPr>
            <a:xfrm>
              <a:off x="0" y="1124593"/>
              <a:ext cx="13745790" cy="4035294"/>
            </a:xfrm>
            <a:prstGeom prst="rect">
              <a:avLst/>
            </a:prstGeom>
            <a:noFill/>
            <a:ln>
              <a:noFill/>
            </a:ln>
          </p:spPr>
          <p:txBody>
            <a:bodyPr anchorCtr="0" anchor="t" bIns="0" lIns="0" spcFirstLastPara="1" rIns="0" wrap="square" tIns="0">
              <a:spAutoFit/>
            </a:bodyPr>
            <a:lstStyle/>
            <a:p>
              <a:pPr indent="0" lvl="0" marL="0" marR="0" rtl="0" algn="l">
                <a:lnSpc>
                  <a:spcPct val="104995"/>
                </a:lnSpc>
                <a:spcBef>
                  <a:spcPts val="0"/>
                </a:spcBef>
                <a:spcAft>
                  <a:spcPts val="0"/>
                </a:spcAft>
                <a:buNone/>
              </a:pPr>
              <a:r>
                <a:rPr b="0" i="0" lang="en-US" sz="11230" u="none" cap="none" strike="noStrike">
                  <a:solidFill>
                    <a:srgbClr val="FFFFFF"/>
                  </a:solidFill>
                  <a:latin typeface="Raleway Black"/>
                  <a:ea typeface="Raleway Black"/>
                  <a:cs typeface="Raleway Black"/>
                  <a:sym typeface="Raleway Black"/>
                </a:rPr>
                <a:t>Costo Conjunto</a:t>
              </a:r>
              <a:endParaRPr/>
            </a:p>
          </p:txBody>
        </p:sp>
        <p:sp>
          <p:nvSpPr>
            <p:cNvPr id="99" name="Google Shape;99;p1"/>
            <p:cNvSpPr txBox="1"/>
            <p:nvPr/>
          </p:nvSpPr>
          <p:spPr>
            <a:xfrm>
              <a:off x="0" y="5533213"/>
              <a:ext cx="13880374" cy="692794"/>
            </a:xfrm>
            <a:prstGeom prst="rect">
              <a:avLst/>
            </a:prstGeom>
            <a:noFill/>
            <a:ln>
              <a:noFill/>
            </a:ln>
          </p:spPr>
          <p:txBody>
            <a:bodyPr anchorCtr="0" anchor="t" bIns="0" lIns="0" spcFirstLastPara="1" rIns="0" wrap="square" tIns="0">
              <a:spAutoFit/>
            </a:bodyPr>
            <a:lstStyle/>
            <a:p>
              <a:pPr indent="0" lvl="0" marL="0" marR="0" rtl="0" algn="l">
                <a:lnSpc>
                  <a:spcPct val="24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1"/>
            <p:cNvSpPr txBox="1"/>
            <p:nvPr/>
          </p:nvSpPr>
          <p:spPr>
            <a:xfrm>
              <a:off x="0" y="-95250"/>
              <a:ext cx="13880374" cy="692794"/>
            </a:xfrm>
            <a:prstGeom prst="rect">
              <a:avLst/>
            </a:prstGeom>
            <a:noFill/>
            <a:ln>
              <a:noFill/>
            </a:ln>
          </p:spPr>
          <p:txBody>
            <a:bodyPr anchorCtr="0" anchor="t" bIns="0" lIns="0" spcFirstLastPara="1" rIns="0" wrap="square" tIns="0">
              <a:spAutoFit/>
            </a:bodyPr>
            <a:lstStyle/>
            <a:p>
              <a:pPr indent="0" lvl="0" marL="0" marR="0" rtl="0" algn="l">
                <a:lnSpc>
                  <a:spcPct val="24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104" name="Shape 104"/>
        <p:cNvGrpSpPr/>
        <p:nvPr/>
      </p:nvGrpSpPr>
      <p:grpSpPr>
        <a:xfrm>
          <a:off x="0" y="0"/>
          <a:ext cx="0" cy="0"/>
          <a:chOff x="0" y="0"/>
          <a:chExt cx="0" cy="0"/>
        </a:xfrm>
      </p:grpSpPr>
      <p:grpSp>
        <p:nvGrpSpPr>
          <p:cNvPr id="105" name="Google Shape;105;p2"/>
          <p:cNvGrpSpPr/>
          <p:nvPr/>
        </p:nvGrpSpPr>
        <p:grpSpPr>
          <a:xfrm>
            <a:off x="12528916" y="5509023"/>
            <a:ext cx="6340754" cy="6340754"/>
            <a:chOff x="0" y="0"/>
            <a:chExt cx="812800" cy="812800"/>
          </a:xfrm>
        </p:grpSpPr>
        <p:sp>
          <p:nvSpPr>
            <p:cNvPr id="106" name="Google Shape;106;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8" name="Google Shape;108;p2"/>
          <p:cNvGrpSpPr/>
          <p:nvPr/>
        </p:nvGrpSpPr>
        <p:grpSpPr>
          <a:xfrm>
            <a:off x="-950854" y="-381332"/>
            <a:ext cx="2454454" cy="2454454"/>
            <a:chOff x="0" y="0"/>
            <a:chExt cx="812800" cy="812800"/>
          </a:xfrm>
        </p:grpSpPr>
        <p:sp>
          <p:nvSpPr>
            <p:cNvPr id="109" name="Google Shape;109;p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1" name="Google Shape;111;p2"/>
          <p:cNvSpPr txBox="1"/>
          <p:nvPr/>
        </p:nvSpPr>
        <p:spPr>
          <a:xfrm>
            <a:off x="276373" y="586500"/>
            <a:ext cx="10864038" cy="1775834"/>
          </a:xfrm>
          <a:prstGeom prst="rect">
            <a:avLst/>
          </a:prstGeom>
          <a:noFill/>
          <a:ln>
            <a:noFill/>
          </a:ln>
        </p:spPr>
        <p:txBody>
          <a:bodyPr anchorCtr="0" anchor="t" bIns="0" lIns="0" spcFirstLastPara="1" rIns="0" wrap="square" tIns="0">
            <a:spAutoFit/>
          </a:bodyPr>
          <a:lstStyle/>
          <a:p>
            <a:pPr indent="0" lvl="0" marL="0" marR="0" rtl="0" algn="ctr">
              <a:lnSpc>
                <a:spcPct val="105003"/>
              </a:lnSpc>
              <a:spcBef>
                <a:spcPts val="0"/>
              </a:spcBef>
              <a:spcAft>
                <a:spcPts val="0"/>
              </a:spcAft>
              <a:buNone/>
            </a:pPr>
            <a:r>
              <a:rPr b="0" i="0" lang="en-US" sz="6575" u="none" cap="none" strike="noStrike">
                <a:solidFill>
                  <a:srgbClr val="FFFFFF"/>
                </a:solidFill>
                <a:latin typeface="Raleway Black"/>
                <a:ea typeface="Raleway Black"/>
                <a:cs typeface="Raleway Black"/>
                <a:sym typeface="Raleway Black"/>
              </a:rPr>
              <a:t>PRODUCCION CONJUNTA</a:t>
            </a:r>
            <a:endParaRPr/>
          </a:p>
          <a:p>
            <a:pPr indent="0" lvl="0" marL="0" marR="0" rtl="0" algn="ctr">
              <a:lnSpc>
                <a:spcPct val="105003"/>
              </a:lnSpc>
              <a:spcBef>
                <a:spcPts val="0"/>
              </a:spcBef>
              <a:spcAft>
                <a:spcPts val="0"/>
              </a:spcAft>
              <a:buNone/>
            </a:pPr>
            <a:r>
              <a:t/>
            </a:r>
            <a:endParaRPr b="0" i="0" sz="6575" u="none" cap="none" strike="noStrike">
              <a:solidFill>
                <a:srgbClr val="FFFFFF"/>
              </a:solidFill>
              <a:latin typeface="Raleway Black"/>
              <a:ea typeface="Raleway Black"/>
              <a:cs typeface="Raleway Black"/>
              <a:sym typeface="Raleway Black"/>
            </a:endParaRPr>
          </a:p>
        </p:txBody>
      </p:sp>
      <p:sp>
        <p:nvSpPr>
          <p:cNvPr id="112" name="Google Shape;112;p2"/>
          <p:cNvSpPr txBox="1"/>
          <p:nvPr/>
        </p:nvSpPr>
        <p:spPr>
          <a:xfrm>
            <a:off x="0" y="1360117"/>
            <a:ext cx="17548500" cy="9342600"/>
          </a:xfrm>
          <a:prstGeom prst="rect">
            <a:avLst/>
          </a:prstGeom>
          <a:noFill/>
          <a:ln>
            <a:noFill/>
          </a:ln>
        </p:spPr>
        <p:txBody>
          <a:bodyPr anchorCtr="0" anchor="t" bIns="0" lIns="0" spcFirstLastPara="1" rIns="0" wrap="square" tIns="0">
            <a:spAutoFit/>
          </a:bodyPr>
          <a:lstStyle/>
          <a:p>
            <a:pPr indent="-436831" lvl="1" marL="873664" marR="0" rtl="0" algn="just">
              <a:lnSpc>
                <a:spcPct val="140014"/>
              </a:lnSpc>
              <a:spcBef>
                <a:spcPts val="0"/>
              </a:spcBef>
              <a:spcAft>
                <a:spcPts val="0"/>
              </a:spcAft>
              <a:buClr>
                <a:srgbClr val="FFFFFF"/>
              </a:buClr>
              <a:buSzPts val="4046"/>
              <a:buFont typeface="Arial"/>
              <a:buChar char="•"/>
            </a:pPr>
            <a:r>
              <a:rPr b="0" i="0" lang="en-US" sz="4046" u="none" cap="none" strike="noStrike">
                <a:solidFill>
                  <a:srgbClr val="FFFFFF"/>
                </a:solidFill>
                <a:latin typeface="Raleway"/>
                <a:ea typeface="Raleway"/>
                <a:cs typeface="Raleway"/>
                <a:sym typeface="Raleway"/>
              </a:rPr>
              <a:t>La producción conjunta es un proceso en el que se generan múltiples productos a partir de un proceso de producción en común. Estos productos se obtienen en conjunto y simultáneamente a partir de los mismos insumos y recursos.</a:t>
            </a:r>
            <a:endParaRPr b="0" i="0" sz="4046" u="none" cap="none" strike="noStrike">
              <a:solidFill>
                <a:srgbClr val="FFFFFF"/>
              </a:solidFill>
              <a:latin typeface="Raleway"/>
              <a:ea typeface="Raleway"/>
              <a:cs typeface="Raleway"/>
              <a:sym typeface="Raleway"/>
            </a:endParaRPr>
          </a:p>
          <a:p>
            <a:pPr indent="-436831" lvl="1" marL="873664" marR="0" rtl="0" algn="just">
              <a:lnSpc>
                <a:spcPct val="140014"/>
              </a:lnSpc>
              <a:spcBef>
                <a:spcPts val="0"/>
              </a:spcBef>
              <a:spcAft>
                <a:spcPts val="0"/>
              </a:spcAft>
              <a:buClr>
                <a:srgbClr val="FFFFFF"/>
              </a:buClr>
              <a:buSzPts val="4046"/>
              <a:buFont typeface="Arial"/>
              <a:buChar char="•"/>
            </a:pPr>
            <a:r>
              <a:rPr b="0" i="0" lang="en-US" sz="4046" u="none" cap="none" strike="noStrike">
                <a:solidFill>
                  <a:srgbClr val="FFFFFF"/>
                </a:solidFill>
                <a:latin typeface="Raleway"/>
                <a:ea typeface="Raleway"/>
                <a:cs typeface="Raleway"/>
                <a:sym typeface="Raleway"/>
              </a:rPr>
              <a:t>Los productos generados se denominan "productos conjuntos", los cuales son </a:t>
            </a:r>
            <a:r>
              <a:rPr b="1" i="0" lang="en-US" sz="4046" u="none" cap="none" strike="noStrike">
                <a:solidFill>
                  <a:srgbClr val="FFFFFF"/>
                </a:solidFill>
                <a:latin typeface="Raleway"/>
                <a:ea typeface="Raleway"/>
                <a:cs typeface="Raleway"/>
                <a:sym typeface="Raleway"/>
              </a:rPr>
              <a:t>inseparables</a:t>
            </a:r>
            <a:r>
              <a:rPr b="0" i="0" lang="en-US" sz="4046" u="none" cap="none" strike="noStrike">
                <a:solidFill>
                  <a:srgbClr val="FFFFFF"/>
                </a:solidFill>
                <a:latin typeface="Raleway"/>
                <a:ea typeface="Raleway"/>
                <a:cs typeface="Raleway"/>
                <a:sym typeface="Raleway"/>
              </a:rPr>
              <a:t> durante la fase de producción conjunta. </a:t>
            </a:r>
            <a:endParaRPr b="0" i="0" sz="4046" u="none" cap="none" strike="noStrike">
              <a:solidFill>
                <a:srgbClr val="FFFFFF"/>
              </a:solidFill>
              <a:latin typeface="Raleway"/>
              <a:ea typeface="Raleway"/>
              <a:cs typeface="Raleway"/>
              <a:sym typeface="Raleway"/>
            </a:endParaRPr>
          </a:p>
          <a:p>
            <a:pPr indent="-436832" lvl="1" marL="873665" marR="0" rtl="0" algn="just">
              <a:lnSpc>
                <a:spcPct val="140014"/>
              </a:lnSpc>
              <a:spcBef>
                <a:spcPts val="0"/>
              </a:spcBef>
              <a:spcAft>
                <a:spcPts val="0"/>
              </a:spcAft>
              <a:buClr>
                <a:srgbClr val="FFFFFF"/>
              </a:buClr>
              <a:buSzPts val="4046"/>
              <a:buFont typeface="Arial"/>
              <a:buChar char="•"/>
            </a:pPr>
            <a:r>
              <a:rPr b="0" i="0" lang="en-US" sz="4046" u="none" cap="none" strike="noStrike">
                <a:solidFill>
                  <a:srgbClr val="FFFFFF"/>
                </a:solidFill>
                <a:latin typeface="Raleway"/>
                <a:ea typeface="Raleway"/>
                <a:cs typeface="Raleway"/>
                <a:sym typeface="Raleway"/>
              </a:rPr>
              <a:t>La manufactura de productos conjuntos siempre tienen un </a:t>
            </a:r>
            <a:r>
              <a:rPr b="1" i="0" lang="en-US" sz="4046" u="none" cap="none" strike="noStrike">
                <a:solidFill>
                  <a:srgbClr val="FFFFFF"/>
                </a:solidFill>
                <a:latin typeface="Raleway"/>
                <a:ea typeface="Raleway"/>
                <a:cs typeface="Raleway"/>
                <a:sym typeface="Raleway"/>
              </a:rPr>
              <a:t>punto de separación </a:t>
            </a:r>
            <a:r>
              <a:rPr b="0" i="0" lang="en-US" sz="4046" u="none" cap="none" strike="noStrike">
                <a:solidFill>
                  <a:srgbClr val="FFFFFF"/>
                </a:solidFill>
                <a:latin typeface="Raleway"/>
                <a:ea typeface="Raleway"/>
                <a:cs typeface="Raleway"/>
                <a:sym typeface="Raleway"/>
              </a:rPr>
              <a:t>del cual surgen los </a:t>
            </a:r>
            <a:r>
              <a:rPr b="1" i="0" lang="en-US" sz="4046" u="none" cap="none" strike="noStrike">
                <a:solidFill>
                  <a:srgbClr val="FFFFFF"/>
                </a:solidFill>
                <a:latin typeface="Raleway"/>
                <a:ea typeface="Raleway"/>
                <a:cs typeface="Raleway"/>
                <a:sym typeface="Raleway"/>
              </a:rPr>
              <a:t>productos conexos</a:t>
            </a:r>
            <a:endParaRPr b="1" i="0" sz="4046" u="none" cap="none" strike="noStrike">
              <a:solidFill>
                <a:srgbClr val="FFFFFF"/>
              </a:solidFill>
              <a:latin typeface="Raleway"/>
              <a:ea typeface="Raleway"/>
              <a:cs typeface="Raleway"/>
              <a:sym typeface="Raleway"/>
            </a:endParaRPr>
          </a:p>
          <a:p>
            <a:pPr indent="-436832" lvl="1" marL="873665" marR="0" rtl="0" algn="just">
              <a:lnSpc>
                <a:spcPct val="140014"/>
              </a:lnSpc>
              <a:spcBef>
                <a:spcPts val="0"/>
              </a:spcBef>
              <a:spcAft>
                <a:spcPts val="0"/>
              </a:spcAft>
              <a:buClr>
                <a:srgbClr val="FFFFFF"/>
              </a:buClr>
              <a:buSzPts val="4046"/>
              <a:buFont typeface="Arial"/>
              <a:buChar char="•"/>
            </a:pPr>
            <a:r>
              <a:rPr b="0" i="0" lang="en-US" sz="4046" u="none" cap="none" strike="noStrike">
                <a:solidFill>
                  <a:srgbClr val="FFFFFF"/>
                </a:solidFill>
                <a:latin typeface="Raleway"/>
                <a:ea typeface="Raleway"/>
                <a:cs typeface="Raleway"/>
                <a:sym typeface="Raleway"/>
              </a:rPr>
              <a:t>El costo anterior al punto de separacion sera entonces el </a:t>
            </a:r>
            <a:r>
              <a:rPr b="1" i="0" lang="en-US" sz="4046" u="none" cap="none" strike="noStrike">
                <a:solidFill>
                  <a:srgbClr val="FFFFFF"/>
                </a:solidFill>
                <a:latin typeface="Raleway"/>
                <a:ea typeface="Raleway"/>
                <a:cs typeface="Raleway"/>
                <a:sym typeface="Raleway"/>
              </a:rPr>
              <a:t>“costo conjunto”</a:t>
            </a:r>
            <a:endParaRPr/>
          </a:p>
          <a:p>
            <a:pPr indent="0" lvl="0" marL="0" marR="0" rtl="0" algn="just">
              <a:lnSpc>
                <a:spcPct val="140014"/>
              </a:lnSpc>
              <a:spcBef>
                <a:spcPts val="0"/>
              </a:spcBef>
              <a:spcAft>
                <a:spcPts val="0"/>
              </a:spcAft>
              <a:buNone/>
            </a:pPr>
            <a:r>
              <a:t/>
            </a:r>
            <a:endParaRPr b="1" i="0" sz="4046" u="none" cap="none" strike="noStrike">
              <a:solidFill>
                <a:srgbClr val="FFFFFF"/>
              </a:solidFill>
              <a:latin typeface="Raleway"/>
              <a:ea typeface="Raleway"/>
              <a:cs typeface="Raleway"/>
              <a:sym typeface="Raleway"/>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116" name="Shape 116"/>
        <p:cNvGrpSpPr/>
        <p:nvPr/>
      </p:nvGrpSpPr>
      <p:grpSpPr>
        <a:xfrm>
          <a:off x="0" y="0"/>
          <a:ext cx="0" cy="0"/>
          <a:chOff x="0" y="0"/>
          <a:chExt cx="0" cy="0"/>
        </a:xfrm>
      </p:grpSpPr>
      <p:grpSp>
        <p:nvGrpSpPr>
          <p:cNvPr id="117" name="Google Shape;117;p3"/>
          <p:cNvGrpSpPr/>
          <p:nvPr/>
        </p:nvGrpSpPr>
        <p:grpSpPr>
          <a:xfrm>
            <a:off x="14217510" y="3883410"/>
            <a:ext cx="8369579" cy="8369579"/>
            <a:chOff x="0" y="0"/>
            <a:chExt cx="812800" cy="812800"/>
          </a:xfrm>
        </p:grpSpPr>
        <p:sp>
          <p:nvSpPr>
            <p:cNvPr id="118" name="Google Shape;118;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0" name="Google Shape;120;p3"/>
          <p:cNvSpPr txBox="1"/>
          <p:nvPr/>
        </p:nvSpPr>
        <p:spPr>
          <a:xfrm>
            <a:off x="678153" y="2608100"/>
            <a:ext cx="17514597" cy="8542904"/>
          </a:xfrm>
          <a:prstGeom prst="rect">
            <a:avLst/>
          </a:prstGeom>
          <a:noFill/>
          <a:ln>
            <a:noFill/>
          </a:ln>
        </p:spPr>
        <p:txBody>
          <a:bodyPr anchorCtr="0" anchor="t" bIns="0" lIns="0" spcFirstLastPara="1" rIns="0" wrap="square" tIns="0">
            <a:spAutoFit/>
          </a:bodyPr>
          <a:lstStyle/>
          <a:p>
            <a:pPr indent="0" lvl="0" marL="0" marR="0" rtl="0" algn="l">
              <a:lnSpc>
                <a:spcPct val="182066"/>
              </a:lnSpc>
              <a:spcBef>
                <a:spcPts val="0"/>
              </a:spcBef>
              <a:spcAft>
                <a:spcPts val="0"/>
              </a:spcAft>
              <a:buNone/>
            </a:pPr>
            <a:r>
              <a:rPr b="1" i="0" lang="en-US" sz="3591" u="none" cap="none" strike="noStrike">
                <a:solidFill>
                  <a:srgbClr val="FFFFFF"/>
                </a:solidFill>
                <a:latin typeface="Open Sans"/>
                <a:ea typeface="Open Sans"/>
                <a:cs typeface="Open Sans"/>
                <a:sym typeface="Open Sans"/>
              </a:rPr>
              <a:t>Producto conexo</a:t>
            </a:r>
            <a:endParaRPr/>
          </a:p>
          <a:p>
            <a:pPr indent="0" lvl="0" marL="0" marR="0" rtl="0" algn="l">
              <a:lnSpc>
                <a:spcPct val="182066"/>
              </a:lnSpc>
              <a:spcBef>
                <a:spcPts val="0"/>
              </a:spcBef>
              <a:spcAft>
                <a:spcPts val="0"/>
              </a:spcAft>
              <a:buNone/>
            </a:pPr>
            <a:r>
              <a:rPr b="0" i="0" lang="en-US" sz="3591" u="none" cap="none" strike="noStrike">
                <a:solidFill>
                  <a:srgbClr val="FFFFFF"/>
                </a:solidFill>
                <a:latin typeface="Open Sans"/>
                <a:ea typeface="Open Sans"/>
                <a:cs typeface="Open Sans"/>
                <a:sym typeface="Open Sans"/>
              </a:rPr>
              <a:t>Se obtienen de una misma materia prima y de un proceso conjunto.</a:t>
            </a:r>
            <a:endParaRPr/>
          </a:p>
          <a:p>
            <a:pPr indent="0" lvl="0" marL="0" marR="0" rtl="0" algn="l">
              <a:lnSpc>
                <a:spcPct val="182066"/>
              </a:lnSpc>
              <a:spcBef>
                <a:spcPts val="0"/>
              </a:spcBef>
              <a:spcAft>
                <a:spcPts val="0"/>
              </a:spcAft>
              <a:buNone/>
            </a:pPr>
            <a:r>
              <a:rPr b="1" i="0" lang="en-US" sz="3591" u="none" cap="none" strike="noStrike">
                <a:solidFill>
                  <a:srgbClr val="FFFFFF"/>
                </a:solidFill>
                <a:latin typeface="Open Sans"/>
                <a:ea typeface="Open Sans"/>
                <a:cs typeface="Open Sans"/>
                <a:sym typeface="Open Sans"/>
              </a:rPr>
              <a:t>Producto principal</a:t>
            </a:r>
            <a:endParaRPr/>
          </a:p>
          <a:p>
            <a:pPr indent="0" lvl="0" marL="0" marR="0" rtl="0" algn="l">
              <a:lnSpc>
                <a:spcPct val="182066"/>
              </a:lnSpc>
              <a:spcBef>
                <a:spcPts val="0"/>
              </a:spcBef>
              <a:spcAft>
                <a:spcPts val="0"/>
              </a:spcAft>
              <a:buNone/>
            </a:pPr>
            <a:r>
              <a:rPr b="0" i="0" lang="en-US" sz="3591" u="none" cap="none" strike="noStrike">
                <a:solidFill>
                  <a:srgbClr val="FFFFFF"/>
                </a:solidFill>
                <a:latin typeface="Open Sans"/>
                <a:ea typeface="Open Sans"/>
                <a:cs typeface="Open Sans"/>
                <a:sym typeface="Open Sans"/>
              </a:rPr>
              <a:t>Son aquellos cuya elaboración es la función esencial de la empresa.</a:t>
            </a:r>
            <a:endParaRPr/>
          </a:p>
          <a:p>
            <a:pPr indent="0" lvl="0" marL="0" marR="0" rtl="0" algn="l">
              <a:lnSpc>
                <a:spcPct val="182066"/>
              </a:lnSpc>
              <a:spcBef>
                <a:spcPts val="0"/>
              </a:spcBef>
              <a:spcAft>
                <a:spcPts val="0"/>
              </a:spcAft>
              <a:buNone/>
            </a:pPr>
            <a:r>
              <a:rPr b="1" i="0" lang="en-US" sz="3591" u="none" cap="none" strike="noStrike">
                <a:solidFill>
                  <a:srgbClr val="FFFFFF"/>
                </a:solidFill>
                <a:latin typeface="Open Sans"/>
                <a:ea typeface="Open Sans"/>
                <a:cs typeface="Open Sans"/>
                <a:sym typeface="Open Sans"/>
              </a:rPr>
              <a:t>Coproducto</a:t>
            </a:r>
            <a:endParaRPr/>
          </a:p>
          <a:p>
            <a:pPr indent="0" lvl="0" marL="0" marR="0" rtl="0" algn="l">
              <a:lnSpc>
                <a:spcPct val="182066"/>
              </a:lnSpc>
              <a:spcBef>
                <a:spcPts val="0"/>
              </a:spcBef>
              <a:spcAft>
                <a:spcPts val="0"/>
              </a:spcAft>
              <a:buNone/>
            </a:pPr>
            <a:r>
              <a:rPr b="0" i="0" lang="en-US" sz="3591" u="none" cap="none" strike="noStrike">
                <a:solidFill>
                  <a:srgbClr val="FFFFFF"/>
                </a:solidFill>
                <a:latin typeface="Open Sans"/>
                <a:ea typeface="Open Sans"/>
                <a:cs typeface="Open Sans"/>
                <a:sym typeface="Open Sans"/>
              </a:rPr>
              <a:t>Son artículos de un mismo producto cuya elaboración es el objetivo de la empresa o, dos o más artículos producidos al mismo tiempo pero no necesariamente con el mismo proceso.</a:t>
            </a:r>
            <a:endParaRPr/>
          </a:p>
          <a:p>
            <a:pPr indent="0" lvl="0" marL="0" marR="0" rtl="0" algn="l">
              <a:lnSpc>
                <a:spcPct val="182015"/>
              </a:lnSpc>
              <a:spcBef>
                <a:spcPts val="0"/>
              </a:spcBef>
              <a:spcAft>
                <a:spcPts val="0"/>
              </a:spcAft>
              <a:buNone/>
            </a:pPr>
            <a:r>
              <a:t/>
            </a:r>
            <a:endParaRPr b="0" i="0" sz="3591" u="none" cap="none" strike="noStrike">
              <a:solidFill>
                <a:srgbClr val="FFFFFF"/>
              </a:solidFill>
              <a:latin typeface="Open Sans"/>
              <a:ea typeface="Open Sans"/>
              <a:cs typeface="Open Sans"/>
              <a:sym typeface="Open Sans"/>
            </a:endParaRPr>
          </a:p>
          <a:p>
            <a:pPr indent="0" lvl="0" marL="0" marR="0" rtl="0" algn="l">
              <a:lnSpc>
                <a:spcPct val="241397"/>
              </a:lnSpc>
              <a:spcBef>
                <a:spcPts val="0"/>
              </a:spcBef>
              <a:spcAft>
                <a:spcPts val="0"/>
              </a:spcAft>
              <a:buNone/>
            </a:pPr>
            <a:r>
              <a:t/>
            </a:r>
            <a:endParaRPr b="0" i="0" sz="3591" u="none" cap="none" strike="noStrike">
              <a:solidFill>
                <a:srgbClr val="FFFFFF"/>
              </a:solidFill>
              <a:latin typeface="Open Sans"/>
              <a:ea typeface="Open Sans"/>
              <a:cs typeface="Open Sans"/>
              <a:sym typeface="Open Sans"/>
            </a:endParaRPr>
          </a:p>
        </p:txBody>
      </p:sp>
      <p:grpSp>
        <p:nvGrpSpPr>
          <p:cNvPr id="121" name="Google Shape;121;p3"/>
          <p:cNvGrpSpPr/>
          <p:nvPr/>
        </p:nvGrpSpPr>
        <p:grpSpPr>
          <a:xfrm>
            <a:off x="-198527" y="-665504"/>
            <a:ext cx="2454454" cy="2454454"/>
            <a:chOff x="0" y="0"/>
            <a:chExt cx="812800" cy="812800"/>
          </a:xfrm>
        </p:grpSpPr>
        <p:sp>
          <p:nvSpPr>
            <p:cNvPr id="122" name="Google Shape;122;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4" name="Google Shape;124;p3"/>
          <p:cNvSpPr txBox="1"/>
          <p:nvPr/>
        </p:nvSpPr>
        <p:spPr>
          <a:xfrm>
            <a:off x="88775" y="1497981"/>
            <a:ext cx="7395335" cy="1005344"/>
          </a:xfrm>
          <a:prstGeom prst="rect">
            <a:avLst/>
          </a:prstGeom>
          <a:noFill/>
          <a:ln>
            <a:noFill/>
          </a:ln>
        </p:spPr>
        <p:txBody>
          <a:bodyPr anchorCtr="0" anchor="t" bIns="0" lIns="0" spcFirstLastPara="1" rIns="0" wrap="square" tIns="0">
            <a:spAutoFit/>
          </a:bodyPr>
          <a:lstStyle/>
          <a:p>
            <a:pPr indent="-625520" lvl="1" marL="1251039" marR="0" rtl="0" algn="ctr">
              <a:lnSpc>
                <a:spcPct val="140006"/>
              </a:lnSpc>
              <a:spcBef>
                <a:spcPts val="0"/>
              </a:spcBef>
              <a:spcAft>
                <a:spcPts val="0"/>
              </a:spcAft>
              <a:buClr>
                <a:srgbClr val="FFFFFF"/>
              </a:buClr>
              <a:buSzPts val="5794"/>
              <a:buFont typeface="Arial"/>
              <a:buChar char="•"/>
            </a:pPr>
            <a:r>
              <a:rPr b="1" i="0" lang="en-US" sz="5794" u="none" cap="none" strike="noStrike">
                <a:solidFill>
                  <a:srgbClr val="FFFFFF"/>
                </a:solidFill>
                <a:latin typeface="Open Sans"/>
                <a:ea typeface="Open Sans"/>
                <a:cs typeface="Open Sans"/>
                <a:sym typeface="Open Sans"/>
              </a:rPr>
              <a:t>Conceptos clave</a:t>
            </a:r>
            <a:endParaRPr/>
          </a:p>
        </p:txBody>
      </p:sp>
      <p:sp>
        <p:nvSpPr>
          <p:cNvPr id="125" name="Google Shape;125;p3"/>
          <p:cNvSpPr txBox="1"/>
          <p:nvPr/>
        </p:nvSpPr>
        <p:spPr>
          <a:xfrm>
            <a:off x="428773" y="738900"/>
            <a:ext cx="10864038" cy="912446"/>
          </a:xfrm>
          <a:prstGeom prst="rect">
            <a:avLst/>
          </a:prstGeom>
          <a:noFill/>
          <a:ln>
            <a:noFill/>
          </a:ln>
        </p:spPr>
        <p:txBody>
          <a:bodyPr anchorCtr="0" anchor="t" bIns="0" lIns="0" spcFirstLastPara="1" rIns="0" wrap="square" tIns="0">
            <a:spAutoFit/>
          </a:bodyPr>
          <a:lstStyle/>
          <a:p>
            <a:pPr indent="0" lvl="0" marL="0" marR="0" rtl="0" algn="ctr">
              <a:lnSpc>
                <a:spcPct val="105003"/>
              </a:lnSpc>
              <a:spcBef>
                <a:spcPts val="0"/>
              </a:spcBef>
              <a:spcAft>
                <a:spcPts val="0"/>
              </a:spcAft>
              <a:buNone/>
            </a:pPr>
            <a:r>
              <a:rPr b="0" i="0" lang="en-US" sz="6575" u="none" cap="none" strike="noStrike">
                <a:solidFill>
                  <a:srgbClr val="FFFFFF"/>
                </a:solidFill>
                <a:latin typeface="Raleway Black"/>
                <a:ea typeface="Raleway Black"/>
                <a:cs typeface="Raleway Black"/>
                <a:sym typeface="Raleway Black"/>
              </a:rPr>
              <a:t>PRODUCCION CONJUNTA</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129" name="Shape 129"/>
        <p:cNvGrpSpPr/>
        <p:nvPr/>
      </p:nvGrpSpPr>
      <p:grpSpPr>
        <a:xfrm>
          <a:off x="0" y="0"/>
          <a:ext cx="0" cy="0"/>
          <a:chOff x="0" y="0"/>
          <a:chExt cx="0" cy="0"/>
        </a:xfrm>
      </p:grpSpPr>
      <p:grpSp>
        <p:nvGrpSpPr>
          <p:cNvPr id="130" name="Google Shape;130;p4"/>
          <p:cNvGrpSpPr/>
          <p:nvPr/>
        </p:nvGrpSpPr>
        <p:grpSpPr>
          <a:xfrm>
            <a:off x="14103210" y="2940435"/>
            <a:ext cx="8369579" cy="8369579"/>
            <a:chOff x="0" y="0"/>
            <a:chExt cx="812800" cy="812800"/>
          </a:xfrm>
        </p:grpSpPr>
        <p:sp>
          <p:nvSpPr>
            <p:cNvPr id="131" name="Google Shape;131;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3" name="Google Shape;133;p4"/>
          <p:cNvSpPr txBox="1"/>
          <p:nvPr/>
        </p:nvSpPr>
        <p:spPr>
          <a:xfrm>
            <a:off x="697203" y="1674650"/>
            <a:ext cx="17514597" cy="8542904"/>
          </a:xfrm>
          <a:prstGeom prst="rect">
            <a:avLst/>
          </a:prstGeom>
          <a:noFill/>
          <a:ln>
            <a:noFill/>
          </a:ln>
        </p:spPr>
        <p:txBody>
          <a:bodyPr anchorCtr="0" anchor="t" bIns="0" lIns="0" spcFirstLastPara="1" rIns="0" wrap="square" tIns="0">
            <a:spAutoFit/>
          </a:bodyPr>
          <a:lstStyle/>
          <a:p>
            <a:pPr indent="0" lvl="0" marL="0" marR="0" rtl="0" algn="l">
              <a:lnSpc>
                <a:spcPct val="363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l">
              <a:lnSpc>
                <a:spcPct val="182066"/>
              </a:lnSpc>
              <a:spcBef>
                <a:spcPts val="0"/>
              </a:spcBef>
              <a:spcAft>
                <a:spcPts val="0"/>
              </a:spcAft>
              <a:buNone/>
            </a:pPr>
            <a:r>
              <a:rPr b="1" i="0" lang="en-US" sz="3591" u="none" cap="none" strike="noStrike">
                <a:solidFill>
                  <a:srgbClr val="FFFFFF"/>
                </a:solidFill>
                <a:latin typeface="Open Sans"/>
                <a:ea typeface="Open Sans"/>
                <a:cs typeface="Open Sans"/>
                <a:sym typeface="Open Sans"/>
              </a:rPr>
              <a:t>Subproducto</a:t>
            </a:r>
            <a:endParaRPr/>
          </a:p>
          <a:p>
            <a:pPr indent="0" lvl="0" marL="0" marR="0" rtl="0" algn="l">
              <a:lnSpc>
                <a:spcPct val="182066"/>
              </a:lnSpc>
              <a:spcBef>
                <a:spcPts val="0"/>
              </a:spcBef>
              <a:spcAft>
                <a:spcPts val="0"/>
              </a:spcAft>
              <a:buNone/>
            </a:pPr>
            <a:r>
              <a:rPr b="0" i="0" lang="en-US" sz="3591" u="none" cap="none" strike="noStrike">
                <a:solidFill>
                  <a:srgbClr val="FFFFFF"/>
                </a:solidFill>
                <a:latin typeface="Open Sans"/>
                <a:ea typeface="Open Sans"/>
                <a:cs typeface="Open Sans"/>
                <a:sym typeface="Open Sans"/>
              </a:rPr>
              <a:t>Son productos secundarios, de valor de venta limitado. Pueden surgir por disponer provechosamente de los desperdicios o desechos de productos principales.</a:t>
            </a:r>
            <a:endParaRPr/>
          </a:p>
          <a:p>
            <a:pPr indent="0" lvl="0" marL="0" marR="0" rtl="0" algn="l">
              <a:lnSpc>
                <a:spcPct val="182066"/>
              </a:lnSpc>
              <a:spcBef>
                <a:spcPts val="0"/>
              </a:spcBef>
              <a:spcAft>
                <a:spcPts val="0"/>
              </a:spcAft>
              <a:buNone/>
            </a:pPr>
            <a:r>
              <a:rPr b="1" i="0" lang="en-US" sz="3591" u="none" cap="none" strike="noStrike">
                <a:solidFill>
                  <a:srgbClr val="FFFFFF"/>
                </a:solidFill>
                <a:latin typeface="Open Sans"/>
                <a:ea typeface="Open Sans"/>
                <a:cs typeface="Open Sans"/>
                <a:sym typeface="Open Sans"/>
              </a:rPr>
              <a:t>Desechos</a:t>
            </a:r>
            <a:endParaRPr/>
          </a:p>
          <a:p>
            <a:pPr indent="0" lvl="0" marL="0" marR="0" rtl="0" algn="l">
              <a:lnSpc>
                <a:spcPct val="182066"/>
              </a:lnSpc>
              <a:spcBef>
                <a:spcPts val="0"/>
              </a:spcBef>
              <a:spcAft>
                <a:spcPts val="0"/>
              </a:spcAft>
              <a:buNone/>
            </a:pPr>
            <a:r>
              <a:rPr b="0" i="0" lang="en-US" sz="3591" u="none" cap="none" strike="noStrike">
                <a:solidFill>
                  <a:srgbClr val="FFFFFF"/>
                </a:solidFill>
                <a:latin typeface="Open Sans"/>
                <a:ea typeface="Open Sans"/>
                <a:cs typeface="Open Sans"/>
                <a:sym typeface="Open Sans"/>
              </a:rPr>
              <a:t>Material sobrante de un proceso productivo. Puede ser reciclado o desechado.</a:t>
            </a:r>
            <a:endParaRPr/>
          </a:p>
          <a:p>
            <a:pPr indent="0" lvl="0" marL="0" marR="0" rtl="0" algn="l">
              <a:lnSpc>
                <a:spcPct val="182066"/>
              </a:lnSpc>
              <a:spcBef>
                <a:spcPts val="0"/>
              </a:spcBef>
              <a:spcAft>
                <a:spcPts val="0"/>
              </a:spcAft>
              <a:buNone/>
            </a:pPr>
            <a:r>
              <a:rPr b="0" i="0" lang="en-US" sz="3591" u="none" cap="none" strike="noStrike">
                <a:solidFill>
                  <a:srgbClr val="FFFFFF"/>
                </a:solidFill>
                <a:latin typeface="Open Sans"/>
                <a:ea typeface="Open Sans"/>
                <a:cs typeface="Open Sans"/>
                <a:sym typeface="Open Sans"/>
              </a:rPr>
              <a:t>Si los desperdicios tienen un valor de realización, deben ser tratados como subproductos.</a:t>
            </a:r>
            <a:endParaRPr/>
          </a:p>
          <a:p>
            <a:pPr indent="0" lvl="0" marL="0" marR="0" rtl="0" algn="l">
              <a:lnSpc>
                <a:spcPct val="241397"/>
              </a:lnSpc>
              <a:spcBef>
                <a:spcPts val="0"/>
              </a:spcBef>
              <a:spcAft>
                <a:spcPts val="0"/>
              </a:spcAft>
              <a:buNone/>
            </a:pPr>
            <a:r>
              <a:t/>
            </a:r>
            <a:endParaRPr b="0" i="0" sz="3591" u="none" cap="none" strike="noStrike">
              <a:solidFill>
                <a:srgbClr val="FFFFFF"/>
              </a:solidFill>
              <a:latin typeface="Open Sans"/>
              <a:ea typeface="Open Sans"/>
              <a:cs typeface="Open Sans"/>
              <a:sym typeface="Open Sans"/>
            </a:endParaRPr>
          </a:p>
        </p:txBody>
      </p:sp>
      <p:grpSp>
        <p:nvGrpSpPr>
          <p:cNvPr id="134" name="Google Shape;134;p4"/>
          <p:cNvGrpSpPr/>
          <p:nvPr/>
        </p:nvGrpSpPr>
        <p:grpSpPr>
          <a:xfrm>
            <a:off x="-198527" y="-665504"/>
            <a:ext cx="2454454" cy="2454454"/>
            <a:chOff x="0" y="0"/>
            <a:chExt cx="812800" cy="812800"/>
          </a:xfrm>
        </p:grpSpPr>
        <p:sp>
          <p:nvSpPr>
            <p:cNvPr id="135" name="Google Shape;135;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7" name="Google Shape;137;p4"/>
          <p:cNvSpPr txBox="1"/>
          <p:nvPr/>
        </p:nvSpPr>
        <p:spPr>
          <a:xfrm>
            <a:off x="428773" y="738900"/>
            <a:ext cx="10864038" cy="912446"/>
          </a:xfrm>
          <a:prstGeom prst="rect">
            <a:avLst/>
          </a:prstGeom>
          <a:noFill/>
          <a:ln>
            <a:noFill/>
          </a:ln>
        </p:spPr>
        <p:txBody>
          <a:bodyPr anchorCtr="0" anchor="t" bIns="0" lIns="0" spcFirstLastPara="1" rIns="0" wrap="square" tIns="0">
            <a:spAutoFit/>
          </a:bodyPr>
          <a:lstStyle/>
          <a:p>
            <a:pPr indent="0" lvl="0" marL="0" marR="0" rtl="0" algn="ctr">
              <a:lnSpc>
                <a:spcPct val="105003"/>
              </a:lnSpc>
              <a:spcBef>
                <a:spcPts val="0"/>
              </a:spcBef>
              <a:spcAft>
                <a:spcPts val="0"/>
              </a:spcAft>
              <a:buNone/>
            </a:pPr>
            <a:r>
              <a:rPr b="0" i="0" lang="en-US" sz="6575" u="none" cap="none" strike="noStrike">
                <a:solidFill>
                  <a:srgbClr val="FFFFFF"/>
                </a:solidFill>
                <a:latin typeface="Raleway Black"/>
                <a:ea typeface="Raleway Black"/>
                <a:cs typeface="Raleway Black"/>
                <a:sym typeface="Raleway Black"/>
              </a:rPr>
              <a:t>PRODUCCION CONJUNTA</a:t>
            </a:r>
            <a:endParaRPr/>
          </a:p>
        </p:txBody>
      </p:sp>
      <p:sp>
        <p:nvSpPr>
          <p:cNvPr id="138" name="Google Shape;138;p4"/>
          <p:cNvSpPr txBox="1"/>
          <p:nvPr/>
        </p:nvSpPr>
        <p:spPr>
          <a:xfrm>
            <a:off x="88775" y="1497981"/>
            <a:ext cx="7395335" cy="1005344"/>
          </a:xfrm>
          <a:prstGeom prst="rect">
            <a:avLst/>
          </a:prstGeom>
          <a:noFill/>
          <a:ln>
            <a:noFill/>
          </a:ln>
        </p:spPr>
        <p:txBody>
          <a:bodyPr anchorCtr="0" anchor="t" bIns="0" lIns="0" spcFirstLastPara="1" rIns="0" wrap="square" tIns="0">
            <a:spAutoFit/>
          </a:bodyPr>
          <a:lstStyle/>
          <a:p>
            <a:pPr indent="-625520" lvl="1" marL="1251039" marR="0" rtl="0" algn="ctr">
              <a:lnSpc>
                <a:spcPct val="140006"/>
              </a:lnSpc>
              <a:spcBef>
                <a:spcPts val="0"/>
              </a:spcBef>
              <a:spcAft>
                <a:spcPts val="0"/>
              </a:spcAft>
              <a:buClr>
                <a:srgbClr val="FFFFFF"/>
              </a:buClr>
              <a:buSzPts val="5794"/>
              <a:buFont typeface="Arial"/>
              <a:buChar char="•"/>
            </a:pPr>
            <a:r>
              <a:rPr b="1" i="0" lang="en-US" sz="5794" u="none" cap="none" strike="noStrike">
                <a:solidFill>
                  <a:srgbClr val="FFFFFF"/>
                </a:solidFill>
                <a:latin typeface="Open Sans"/>
                <a:ea typeface="Open Sans"/>
                <a:cs typeface="Open Sans"/>
                <a:sym typeface="Open Sans"/>
              </a:rPr>
              <a:t>Conceptos clave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142" name="Shape 142"/>
        <p:cNvGrpSpPr/>
        <p:nvPr/>
      </p:nvGrpSpPr>
      <p:grpSpPr>
        <a:xfrm>
          <a:off x="0" y="0"/>
          <a:ext cx="0" cy="0"/>
          <a:chOff x="0" y="0"/>
          <a:chExt cx="0" cy="0"/>
        </a:xfrm>
      </p:grpSpPr>
      <p:grpSp>
        <p:nvGrpSpPr>
          <p:cNvPr id="143" name="Google Shape;143;p5"/>
          <p:cNvGrpSpPr/>
          <p:nvPr/>
        </p:nvGrpSpPr>
        <p:grpSpPr>
          <a:xfrm>
            <a:off x="5560151" y="2248223"/>
            <a:ext cx="3086100" cy="3230761"/>
            <a:chOff x="0" y="-38100"/>
            <a:chExt cx="812800" cy="850900"/>
          </a:xfrm>
        </p:grpSpPr>
        <p:sp>
          <p:nvSpPr>
            <p:cNvPr id="144" name="Google Shape;144;p5"/>
            <p:cNvSpPr/>
            <p:nvPr/>
          </p:nvSpPr>
          <p:spPr>
            <a:xfrm>
              <a:off x="0" y="0"/>
              <a:ext cx="812800" cy="812800"/>
            </a:xfrm>
            <a:custGeom>
              <a:rect b="b" l="l" r="r" t="t"/>
              <a:pathLst>
                <a:path extrusionOk="0"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D35C37"/>
            </a:solid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5"/>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6" name="Google Shape;146;p5"/>
          <p:cNvGrpSpPr/>
          <p:nvPr/>
        </p:nvGrpSpPr>
        <p:grpSpPr>
          <a:xfrm>
            <a:off x="13313842" y="4325824"/>
            <a:ext cx="8342388" cy="8342388"/>
            <a:chOff x="0" y="0"/>
            <a:chExt cx="812800" cy="812800"/>
          </a:xfrm>
        </p:grpSpPr>
        <p:sp>
          <p:nvSpPr>
            <p:cNvPr id="147" name="Google Shape;147;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9" name="Google Shape;149;p5"/>
          <p:cNvGrpSpPr/>
          <p:nvPr/>
        </p:nvGrpSpPr>
        <p:grpSpPr>
          <a:xfrm>
            <a:off x="13524957" y="2248223"/>
            <a:ext cx="3086100" cy="3230761"/>
            <a:chOff x="0" y="-38100"/>
            <a:chExt cx="812800" cy="850900"/>
          </a:xfrm>
        </p:grpSpPr>
        <p:sp>
          <p:nvSpPr>
            <p:cNvPr id="150" name="Google Shape;150;p5"/>
            <p:cNvSpPr/>
            <p:nvPr/>
          </p:nvSpPr>
          <p:spPr>
            <a:xfrm>
              <a:off x="0" y="0"/>
              <a:ext cx="812800" cy="812800"/>
            </a:xfrm>
            <a:custGeom>
              <a:rect b="b" l="l" r="r" t="t"/>
              <a:pathLst>
                <a:path extrusionOk="0"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D35C37"/>
            </a:solid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5"/>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2" name="Google Shape;152;p5"/>
          <p:cNvGrpSpPr/>
          <p:nvPr/>
        </p:nvGrpSpPr>
        <p:grpSpPr>
          <a:xfrm>
            <a:off x="1354751" y="2248223"/>
            <a:ext cx="3211794" cy="3230761"/>
            <a:chOff x="0" y="-38100"/>
            <a:chExt cx="845905" cy="850900"/>
          </a:xfrm>
        </p:grpSpPr>
        <p:sp>
          <p:nvSpPr>
            <p:cNvPr id="153" name="Google Shape;153;p5"/>
            <p:cNvSpPr/>
            <p:nvPr/>
          </p:nvSpPr>
          <p:spPr>
            <a:xfrm>
              <a:off x="0" y="0"/>
              <a:ext cx="845905" cy="812800"/>
            </a:xfrm>
            <a:custGeom>
              <a:rect b="b" l="l" r="r" t="t"/>
              <a:pathLst>
                <a:path extrusionOk="0" h="812800" w="845905">
                  <a:moveTo>
                    <a:pt x="122934" y="0"/>
                  </a:moveTo>
                  <a:lnTo>
                    <a:pt x="722971" y="0"/>
                  </a:lnTo>
                  <a:cubicBezTo>
                    <a:pt x="790865" y="0"/>
                    <a:pt x="845905" y="55039"/>
                    <a:pt x="845905" y="122934"/>
                  </a:cubicBezTo>
                  <a:lnTo>
                    <a:pt x="845905" y="689866"/>
                  </a:lnTo>
                  <a:cubicBezTo>
                    <a:pt x="845905" y="757761"/>
                    <a:pt x="790865" y="812800"/>
                    <a:pt x="722971" y="812800"/>
                  </a:cubicBezTo>
                  <a:lnTo>
                    <a:pt x="122934" y="812800"/>
                  </a:lnTo>
                  <a:cubicBezTo>
                    <a:pt x="55039" y="812800"/>
                    <a:pt x="0" y="757761"/>
                    <a:pt x="0" y="689866"/>
                  </a:cubicBezTo>
                  <a:lnTo>
                    <a:pt x="0" y="122934"/>
                  </a:lnTo>
                  <a:cubicBezTo>
                    <a:pt x="0" y="55039"/>
                    <a:pt x="55039" y="0"/>
                    <a:pt x="122934" y="0"/>
                  </a:cubicBezTo>
                  <a:close/>
                </a:path>
              </a:pathLst>
            </a:custGeom>
            <a:solidFill>
              <a:srgbClr val="D35C37"/>
            </a:solid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5"/>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5" name="Google Shape;155;p5"/>
          <p:cNvGrpSpPr/>
          <p:nvPr/>
        </p:nvGrpSpPr>
        <p:grpSpPr>
          <a:xfrm>
            <a:off x="5560151" y="6027539"/>
            <a:ext cx="3086100" cy="3230761"/>
            <a:chOff x="0" y="-38100"/>
            <a:chExt cx="812800" cy="850900"/>
          </a:xfrm>
        </p:grpSpPr>
        <p:sp>
          <p:nvSpPr>
            <p:cNvPr id="156" name="Google Shape;156;p5"/>
            <p:cNvSpPr/>
            <p:nvPr/>
          </p:nvSpPr>
          <p:spPr>
            <a:xfrm>
              <a:off x="0" y="0"/>
              <a:ext cx="812800" cy="812800"/>
            </a:xfrm>
            <a:custGeom>
              <a:rect b="b" l="l" r="r" t="t"/>
              <a:pathLst>
                <a:path extrusionOk="0"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D35C37"/>
            </a:solid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5"/>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8" name="Google Shape;158;p5"/>
          <p:cNvGrpSpPr/>
          <p:nvPr/>
        </p:nvGrpSpPr>
        <p:grpSpPr>
          <a:xfrm>
            <a:off x="9542554" y="2248223"/>
            <a:ext cx="3086100" cy="3230761"/>
            <a:chOff x="0" y="-38100"/>
            <a:chExt cx="812800" cy="850900"/>
          </a:xfrm>
        </p:grpSpPr>
        <p:sp>
          <p:nvSpPr>
            <p:cNvPr id="159" name="Google Shape;159;p5"/>
            <p:cNvSpPr/>
            <p:nvPr/>
          </p:nvSpPr>
          <p:spPr>
            <a:xfrm>
              <a:off x="0" y="0"/>
              <a:ext cx="812800" cy="812800"/>
            </a:xfrm>
            <a:custGeom>
              <a:rect b="b" l="l" r="r" t="t"/>
              <a:pathLst>
                <a:path extrusionOk="0" h="812800" w="812800">
                  <a:moveTo>
                    <a:pt x="127941" y="0"/>
                  </a:moveTo>
                  <a:lnTo>
                    <a:pt x="684859" y="0"/>
                  </a:lnTo>
                  <a:cubicBezTo>
                    <a:pt x="718791" y="0"/>
                    <a:pt x="751333" y="13479"/>
                    <a:pt x="775327" y="37473"/>
                  </a:cubicBezTo>
                  <a:cubicBezTo>
                    <a:pt x="799321" y="61467"/>
                    <a:pt x="812800" y="94009"/>
                    <a:pt x="812800" y="127941"/>
                  </a:cubicBezTo>
                  <a:lnTo>
                    <a:pt x="812800" y="684859"/>
                  </a:lnTo>
                  <a:cubicBezTo>
                    <a:pt x="812800" y="718791"/>
                    <a:pt x="799321" y="751333"/>
                    <a:pt x="775327" y="775327"/>
                  </a:cubicBezTo>
                  <a:cubicBezTo>
                    <a:pt x="751333" y="799321"/>
                    <a:pt x="718791" y="812800"/>
                    <a:pt x="684859" y="812800"/>
                  </a:cubicBezTo>
                  <a:lnTo>
                    <a:pt x="127941" y="812800"/>
                  </a:lnTo>
                  <a:cubicBezTo>
                    <a:pt x="94009" y="812800"/>
                    <a:pt x="61467" y="799321"/>
                    <a:pt x="37473" y="775327"/>
                  </a:cubicBezTo>
                  <a:cubicBezTo>
                    <a:pt x="13479" y="751333"/>
                    <a:pt x="0" y="718791"/>
                    <a:pt x="0" y="684859"/>
                  </a:cubicBezTo>
                  <a:lnTo>
                    <a:pt x="0" y="127941"/>
                  </a:lnTo>
                  <a:cubicBezTo>
                    <a:pt x="0" y="94009"/>
                    <a:pt x="13479" y="61467"/>
                    <a:pt x="37473" y="37473"/>
                  </a:cubicBezTo>
                  <a:cubicBezTo>
                    <a:pt x="61467" y="13479"/>
                    <a:pt x="94009" y="0"/>
                    <a:pt x="127941" y="0"/>
                  </a:cubicBezTo>
                  <a:close/>
                </a:path>
              </a:pathLst>
            </a:custGeom>
            <a:solidFill>
              <a:srgbClr val="D35C37"/>
            </a:solid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5"/>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1" name="Google Shape;161;p5"/>
          <p:cNvGrpSpPr/>
          <p:nvPr/>
        </p:nvGrpSpPr>
        <p:grpSpPr>
          <a:xfrm>
            <a:off x="13154075" y="6013150"/>
            <a:ext cx="4515730" cy="3230758"/>
            <a:chOff x="0" y="-38100"/>
            <a:chExt cx="1189328" cy="850900"/>
          </a:xfrm>
        </p:grpSpPr>
        <p:sp>
          <p:nvSpPr>
            <p:cNvPr id="162" name="Google Shape;162;p5"/>
            <p:cNvSpPr/>
            <p:nvPr/>
          </p:nvSpPr>
          <p:spPr>
            <a:xfrm>
              <a:off x="0" y="0"/>
              <a:ext cx="1189328" cy="616088"/>
            </a:xfrm>
            <a:custGeom>
              <a:rect b="b" l="l" r="r" t="t"/>
              <a:pathLst>
                <a:path extrusionOk="0" h="616088" w="1189328">
                  <a:moveTo>
                    <a:pt x="87436" y="0"/>
                  </a:moveTo>
                  <a:lnTo>
                    <a:pt x="1101892" y="0"/>
                  </a:lnTo>
                  <a:cubicBezTo>
                    <a:pt x="1150182" y="0"/>
                    <a:pt x="1189328" y="39146"/>
                    <a:pt x="1189328" y="87436"/>
                  </a:cubicBezTo>
                  <a:lnTo>
                    <a:pt x="1189328" y="528651"/>
                  </a:lnTo>
                  <a:cubicBezTo>
                    <a:pt x="1189328" y="576941"/>
                    <a:pt x="1150182" y="616088"/>
                    <a:pt x="1101892" y="616088"/>
                  </a:cubicBezTo>
                  <a:lnTo>
                    <a:pt x="87436" y="616088"/>
                  </a:lnTo>
                  <a:cubicBezTo>
                    <a:pt x="39146" y="616088"/>
                    <a:pt x="0" y="576941"/>
                    <a:pt x="0" y="528651"/>
                  </a:cubicBezTo>
                  <a:lnTo>
                    <a:pt x="0" y="87436"/>
                  </a:lnTo>
                  <a:cubicBezTo>
                    <a:pt x="0" y="39146"/>
                    <a:pt x="39146" y="0"/>
                    <a:pt x="87436" y="0"/>
                  </a:cubicBezTo>
                  <a:close/>
                </a:path>
              </a:pathLst>
            </a:custGeom>
            <a:solidFill>
              <a:srgbClr val="D35C37"/>
            </a:solidFill>
            <a:ln cap="rnd"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5"/>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64" name="Google Shape;164;p5"/>
          <p:cNvSpPr txBox="1"/>
          <p:nvPr/>
        </p:nvSpPr>
        <p:spPr>
          <a:xfrm>
            <a:off x="1399697" y="2657128"/>
            <a:ext cx="3086100"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399" u="none" cap="none" strike="noStrike">
                <a:solidFill>
                  <a:srgbClr val="FFFFFF"/>
                </a:solidFill>
                <a:latin typeface="Open Sans ExtraBold"/>
                <a:ea typeface="Open Sans ExtraBold"/>
                <a:cs typeface="Open Sans ExtraBold"/>
                <a:sym typeface="Open Sans ExtraBold"/>
              </a:rPr>
              <a:t>RECURSOS</a:t>
            </a:r>
            <a:endParaRPr/>
          </a:p>
        </p:txBody>
      </p:sp>
      <p:sp>
        <p:nvSpPr>
          <p:cNvPr id="165" name="Google Shape;165;p5"/>
          <p:cNvSpPr txBox="1"/>
          <p:nvPr/>
        </p:nvSpPr>
        <p:spPr>
          <a:xfrm>
            <a:off x="1292625" y="3408105"/>
            <a:ext cx="3150096" cy="1326134"/>
          </a:xfrm>
          <a:prstGeom prst="rect">
            <a:avLst/>
          </a:prstGeom>
          <a:noFill/>
          <a:ln>
            <a:noFill/>
          </a:ln>
        </p:spPr>
        <p:txBody>
          <a:bodyPr anchorCtr="0" anchor="t" bIns="0" lIns="0" spcFirstLastPara="1" rIns="0" wrap="square" tIns="0">
            <a:spAutoFit/>
          </a:bodyPr>
          <a:lstStyle/>
          <a:p>
            <a:pPr indent="-274193" lvl="1" marL="548387" marR="0" rtl="0" algn="ctr">
              <a:lnSpc>
                <a:spcPct val="140000"/>
              </a:lnSpc>
              <a:spcBef>
                <a:spcPts val="0"/>
              </a:spcBef>
              <a:spcAft>
                <a:spcPts val="0"/>
              </a:spcAft>
              <a:buClr>
                <a:srgbClr val="FFFFFF"/>
              </a:buClr>
              <a:buSzPts val="2540"/>
              <a:buFont typeface="Arial"/>
              <a:buChar char="•"/>
            </a:pPr>
            <a:r>
              <a:rPr b="0" i="0" lang="en-US" sz="2540" u="none" cap="none" strike="noStrike">
                <a:solidFill>
                  <a:srgbClr val="FFFFFF"/>
                </a:solidFill>
                <a:latin typeface="Open Sans"/>
                <a:ea typeface="Open Sans"/>
                <a:cs typeface="Open Sans"/>
                <a:sym typeface="Open Sans"/>
              </a:rPr>
              <a:t>Materia prima</a:t>
            </a:r>
            <a:endParaRPr/>
          </a:p>
          <a:p>
            <a:pPr indent="-274193" lvl="1" marL="548387" marR="0" rtl="0" algn="ctr">
              <a:lnSpc>
                <a:spcPct val="140000"/>
              </a:lnSpc>
              <a:spcBef>
                <a:spcPts val="0"/>
              </a:spcBef>
              <a:spcAft>
                <a:spcPts val="0"/>
              </a:spcAft>
              <a:buClr>
                <a:srgbClr val="FFFFFF"/>
              </a:buClr>
              <a:buSzPts val="2540"/>
              <a:buFont typeface="Arial"/>
              <a:buChar char="•"/>
            </a:pPr>
            <a:r>
              <a:rPr b="0" i="0" lang="en-US" sz="2540" u="none" cap="none" strike="noStrike">
                <a:solidFill>
                  <a:srgbClr val="FFFFFF"/>
                </a:solidFill>
                <a:latin typeface="Open Sans"/>
                <a:ea typeface="Open Sans"/>
                <a:cs typeface="Open Sans"/>
                <a:sym typeface="Open Sans"/>
              </a:rPr>
              <a:t>Mano de obra</a:t>
            </a:r>
            <a:endParaRPr/>
          </a:p>
          <a:p>
            <a:pPr indent="-274193" lvl="1" marL="548387" marR="0" rtl="0" algn="ctr">
              <a:lnSpc>
                <a:spcPct val="140000"/>
              </a:lnSpc>
              <a:spcBef>
                <a:spcPts val="0"/>
              </a:spcBef>
              <a:spcAft>
                <a:spcPts val="0"/>
              </a:spcAft>
              <a:buClr>
                <a:srgbClr val="FFFFFF"/>
              </a:buClr>
              <a:buSzPts val="2540"/>
              <a:buFont typeface="Arial"/>
              <a:buChar char="•"/>
            </a:pPr>
            <a:r>
              <a:rPr b="0" i="0" lang="en-US" sz="2540" u="none" cap="none" strike="noStrike">
                <a:solidFill>
                  <a:srgbClr val="FFFFFF"/>
                </a:solidFill>
                <a:latin typeface="Open Sans"/>
                <a:ea typeface="Open Sans"/>
                <a:cs typeface="Open Sans"/>
                <a:sym typeface="Open Sans"/>
              </a:rPr>
              <a:t>Gastos indirectos</a:t>
            </a:r>
            <a:endParaRPr/>
          </a:p>
        </p:txBody>
      </p:sp>
      <p:sp>
        <p:nvSpPr>
          <p:cNvPr id="166" name="Google Shape;166;p5"/>
          <p:cNvSpPr txBox="1"/>
          <p:nvPr/>
        </p:nvSpPr>
        <p:spPr>
          <a:xfrm>
            <a:off x="5561104" y="3312364"/>
            <a:ext cx="3086100" cy="1180465"/>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399" u="none" cap="none" strike="noStrike">
                <a:solidFill>
                  <a:srgbClr val="FFFFFF"/>
                </a:solidFill>
                <a:latin typeface="Open Sans ExtraBold"/>
                <a:ea typeface="Open Sans ExtraBold"/>
                <a:cs typeface="Open Sans ExtraBold"/>
                <a:sym typeface="Open Sans ExtraBold"/>
              </a:rPr>
              <a:t>PROCESO CONJUNTO</a:t>
            </a:r>
            <a:endParaRPr/>
          </a:p>
        </p:txBody>
      </p:sp>
      <p:sp>
        <p:nvSpPr>
          <p:cNvPr id="167" name="Google Shape;167;p5"/>
          <p:cNvSpPr txBox="1"/>
          <p:nvPr/>
        </p:nvSpPr>
        <p:spPr>
          <a:xfrm>
            <a:off x="9465371" y="2609503"/>
            <a:ext cx="3240467" cy="10477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000" u="none" cap="none" strike="noStrike">
                <a:solidFill>
                  <a:srgbClr val="FFFFFF"/>
                </a:solidFill>
                <a:latin typeface="Open Sans ExtraBold"/>
                <a:ea typeface="Open Sans ExtraBold"/>
                <a:cs typeface="Open Sans ExtraBold"/>
                <a:sym typeface="Open Sans ExtraBold"/>
              </a:rPr>
              <a:t>PUNTO DE SEPARACION</a:t>
            </a:r>
            <a:endParaRPr/>
          </a:p>
        </p:txBody>
      </p:sp>
      <p:sp>
        <p:nvSpPr>
          <p:cNvPr id="168" name="Google Shape;168;p5"/>
          <p:cNvSpPr txBox="1"/>
          <p:nvPr/>
        </p:nvSpPr>
        <p:spPr>
          <a:xfrm>
            <a:off x="6040368" y="7096125"/>
            <a:ext cx="2244328"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1" i="0" lang="en-US" sz="3399" u="none" cap="none" strike="noStrike">
                <a:solidFill>
                  <a:srgbClr val="FFFFFF"/>
                </a:solidFill>
                <a:latin typeface="Open Sans ExtraBold"/>
                <a:ea typeface="Open Sans ExtraBold"/>
                <a:cs typeface="Open Sans ExtraBold"/>
                <a:sym typeface="Open Sans ExtraBold"/>
              </a:rPr>
              <a:t>DESECHOS</a:t>
            </a:r>
            <a:endParaRPr/>
          </a:p>
        </p:txBody>
      </p:sp>
      <p:sp>
        <p:nvSpPr>
          <p:cNvPr id="169" name="Google Shape;169;p5"/>
          <p:cNvSpPr txBox="1"/>
          <p:nvPr/>
        </p:nvSpPr>
        <p:spPr>
          <a:xfrm>
            <a:off x="6098747" y="7653236"/>
            <a:ext cx="2127572" cy="878459"/>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540" u="none" cap="none" strike="noStrike">
                <a:solidFill>
                  <a:srgbClr val="FFFFFF"/>
                </a:solidFill>
                <a:latin typeface="Open Sans"/>
                <a:ea typeface="Open Sans"/>
                <a:cs typeface="Open Sans"/>
                <a:sym typeface="Open Sans"/>
              </a:rPr>
              <a:t>Desperdicios sin valor</a:t>
            </a:r>
            <a:endParaRPr/>
          </a:p>
        </p:txBody>
      </p:sp>
      <p:sp>
        <p:nvSpPr>
          <p:cNvPr id="170" name="Google Shape;170;p5"/>
          <p:cNvSpPr txBox="1"/>
          <p:nvPr/>
        </p:nvSpPr>
        <p:spPr>
          <a:xfrm>
            <a:off x="13635669" y="2459639"/>
            <a:ext cx="2864676" cy="10477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3000" u="none" cap="none" strike="noStrike">
                <a:solidFill>
                  <a:srgbClr val="FFFFFF"/>
                </a:solidFill>
                <a:latin typeface="Open Sans ExtraBold"/>
                <a:ea typeface="Open Sans ExtraBold"/>
                <a:cs typeface="Open Sans ExtraBold"/>
                <a:sym typeface="Open Sans ExtraBold"/>
              </a:rPr>
              <a:t>PRODUCTOS CONEXOS</a:t>
            </a:r>
            <a:endParaRPr/>
          </a:p>
        </p:txBody>
      </p:sp>
      <p:sp>
        <p:nvSpPr>
          <p:cNvPr id="171" name="Google Shape;171;p5"/>
          <p:cNvSpPr txBox="1"/>
          <p:nvPr/>
        </p:nvSpPr>
        <p:spPr>
          <a:xfrm>
            <a:off x="13893381" y="3534614"/>
            <a:ext cx="2167979" cy="1544320"/>
          </a:xfrm>
          <a:prstGeom prst="rect">
            <a:avLst/>
          </a:prstGeom>
          <a:noFill/>
          <a:ln>
            <a:noFill/>
          </a:ln>
        </p:spPr>
        <p:txBody>
          <a:bodyPr anchorCtr="0" anchor="t" bIns="0" lIns="0" spcFirstLastPara="1" rIns="0" wrap="square" tIns="0">
            <a:spAutoFit/>
          </a:bodyPr>
          <a:lstStyle/>
          <a:p>
            <a:pPr indent="-237490" lvl="1" marL="474979" marR="0" rtl="0" algn="ctr">
              <a:lnSpc>
                <a:spcPct val="140018"/>
              </a:lnSpc>
              <a:spcBef>
                <a:spcPts val="0"/>
              </a:spcBef>
              <a:spcAft>
                <a:spcPts val="0"/>
              </a:spcAft>
              <a:buClr>
                <a:srgbClr val="FFFFFF"/>
              </a:buClr>
              <a:buSzPts val="2199"/>
              <a:buFont typeface="Arial"/>
              <a:buChar char="•"/>
            </a:pPr>
            <a:r>
              <a:rPr b="0" i="0" lang="en-US" sz="2199" u="none" cap="none" strike="noStrike">
                <a:solidFill>
                  <a:srgbClr val="FFFFFF"/>
                </a:solidFill>
                <a:latin typeface="Open Sans"/>
                <a:ea typeface="Open Sans"/>
                <a:cs typeface="Open Sans"/>
                <a:sym typeface="Open Sans"/>
              </a:rPr>
              <a:t>Producto 1</a:t>
            </a:r>
            <a:endParaRPr/>
          </a:p>
          <a:p>
            <a:pPr indent="-237490" lvl="1" marL="474979" marR="0" rtl="0" algn="ctr">
              <a:lnSpc>
                <a:spcPct val="140018"/>
              </a:lnSpc>
              <a:spcBef>
                <a:spcPts val="0"/>
              </a:spcBef>
              <a:spcAft>
                <a:spcPts val="0"/>
              </a:spcAft>
              <a:buClr>
                <a:srgbClr val="FFFFFF"/>
              </a:buClr>
              <a:buSzPts val="2199"/>
              <a:buFont typeface="Arial"/>
              <a:buChar char="•"/>
            </a:pPr>
            <a:r>
              <a:rPr b="0" i="0" lang="en-US" sz="2199" u="none" cap="none" strike="noStrike">
                <a:solidFill>
                  <a:srgbClr val="FFFFFF"/>
                </a:solidFill>
                <a:latin typeface="Open Sans"/>
                <a:ea typeface="Open Sans"/>
                <a:cs typeface="Open Sans"/>
                <a:sym typeface="Open Sans"/>
              </a:rPr>
              <a:t>Producto 2</a:t>
            </a:r>
            <a:endParaRPr/>
          </a:p>
          <a:p>
            <a:pPr indent="-237490" lvl="1" marL="474979" marR="0" rtl="0" algn="ctr">
              <a:lnSpc>
                <a:spcPct val="140018"/>
              </a:lnSpc>
              <a:spcBef>
                <a:spcPts val="0"/>
              </a:spcBef>
              <a:spcAft>
                <a:spcPts val="0"/>
              </a:spcAft>
              <a:buClr>
                <a:srgbClr val="FFFFFF"/>
              </a:buClr>
              <a:buSzPts val="2199"/>
              <a:buFont typeface="Arial"/>
              <a:buChar char="•"/>
            </a:pPr>
            <a:r>
              <a:rPr b="0" i="0" lang="en-US" sz="2199" u="none" cap="none" strike="noStrike">
                <a:solidFill>
                  <a:srgbClr val="FFFFFF"/>
                </a:solidFill>
                <a:latin typeface="Open Sans"/>
                <a:ea typeface="Open Sans"/>
                <a:cs typeface="Open Sans"/>
                <a:sym typeface="Open Sans"/>
              </a:rPr>
              <a:t>Producto 3</a:t>
            </a:r>
            <a:endParaRPr/>
          </a:p>
          <a:p>
            <a:pPr indent="-237490" lvl="1" marL="474979" marR="0" rtl="0" algn="ctr">
              <a:lnSpc>
                <a:spcPct val="140018"/>
              </a:lnSpc>
              <a:spcBef>
                <a:spcPts val="0"/>
              </a:spcBef>
              <a:spcAft>
                <a:spcPts val="0"/>
              </a:spcAft>
              <a:buClr>
                <a:srgbClr val="FFFFFF"/>
              </a:buClr>
              <a:buSzPts val="2199"/>
              <a:buFont typeface="Arial"/>
              <a:buChar char="•"/>
            </a:pPr>
            <a:r>
              <a:rPr b="0" i="0" lang="en-US" sz="2199" u="none" cap="none" strike="noStrike">
                <a:solidFill>
                  <a:srgbClr val="FFFFFF"/>
                </a:solidFill>
                <a:latin typeface="Open Sans"/>
                <a:ea typeface="Open Sans"/>
                <a:cs typeface="Open Sans"/>
                <a:sym typeface="Open Sans"/>
              </a:rPr>
              <a:t>Subproducto</a:t>
            </a:r>
            <a:endParaRPr/>
          </a:p>
        </p:txBody>
      </p:sp>
      <p:sp>
        <p:nvSpPr>
          <p:cNvPr id="172" name="Google Shape;172;p5"/>
          <p:cNvSpPr txBox="1"/>
          <p:nvPr/>
        </p:nvSpPr>
        <p:spPr>
          <a:xfrm>
            <a:off x="13266217" y="6356858"/>
            <a:ext cx="4138911" cy="1773809"/>
          </a:xfrm>
          <a:prstGeom prst="rect">
            <a:avLst/>
          </a:prstGeom>
          <a:noFill/>
          <a:ln>
            <a:noFill/>
          </a:ln>
        </p:spPr>
        <p:txBody>
          <a:bodyPr anchorCtr="0" anchor="t" bIns="0" lIns="0" spcFirstLastPara="1" rIns="0" wrap="square" tIns="0">
            <a:spAutoFit/>
          </a:bodyPr>
          <a:lstStyle/>
          <a:p>
            <a:pPr indent="-274193" lvl="1" marL="548387" marR="0" rtl="0" algn="just">
              <a:lnSpc>
                <a:spcPct val="140000"/>
              </a:lnSpc>
              <a:spcBef>
                <a:spcPts val="0"/>
              </a:spcBef>
              <a:spcAft>
                <a:spcPts val="0"/>
              </a:spcAft>
              <a:buClr>
                <a:srgbClr val="FFFFFF"/>
              </a:buClr>
              <a:buSzPts val="2540"/>
              <a:buFont typeface="Arial"/>
              <a:buChar char="•"/>
            </a:pPr>
            <a:r>
              <a:rPr b="0" i="0" lang="en-US" sz="2540" u="none" cap="none" strike="noStrike">
                <a:solidFill>
                  <a:srgbClr val="FFFFFF"/>
                </a:solidFill>
                <a:latin typeface="Open Sans"/>
                <a:ea typeface="Open Sans"/>
                <a:cs typeface="Open Sans"/>
                <a:sym typeface="Open Sans"/>
              </a:rPr>
              <a:t>Productos principales</a:t>
            </a:r>
            <a:endParaRPr/>
          </a:p>
          <a:p>
            <a:pPr indent="-274193" lvl="1" marL="548387" marR="0" rtl="0" algn="just">
              <a:lnSpc>
                <a:spcPct val="140000"/>
              </a:lnSpc>
              <a:spcBef>
                <a:spcPts val="0"/>
              </a:spcBef>
              <a:spcAft>
                <a:spcPts val="0"/>
              </a:spcAft>
              <a:buClr>
                <a:srgbClr val="FFFFFF"/>
              </a:buClr>
              <a:buSzPts val="2540"/>
              <a:buFont typeface="Arial"/>
              <a:buChar char="•"/>
            </a:pPr>
            <a:r>
              <a:rPr b="0" i="0" lang="en-US" sz="2540" u="none" cap="none" strike="noStrike">
                <a:solidFill>
                  <a:srgbClr val="FFFFFF"/>
                </a:solidFill>
                <a:latin typeface="Open Sans"/>
                <a:ea typeface="Open Sans"/>
                <a:cs typeface="Open Sans"/>
                <a:sym typeface="Open Sans"/>
              </a:rPr>
              <a:t>Subproductos (desperdicios con valor)</a:t>
            </a:r>
            <a:endParaRPr/>
          </a:p>
          <a:p>
            <a:pPr indent="-274193" lvl="1" marL="548387" marR="0" rtl="0" algn="just">
              <a:lnSpc>
                <a:spcPct val="140000"/>
              </a:lnSpc>
              <a:spcBef>
                <a:spcPts val="0"/>
              </a:spcBef>
              <a:spcAft>
                <a:spcPts val="0"/>
              </a:spcAft>
              <a:buClr>
                <a:srgbClr val="FFFFFF"/>
              </a:buClr>
              <a:buSzPts val="2540"/>
              <a:buFont typeface="Arial"/>
              <a:buChar char="•"/>
            </a:pPr>
            <a:r>
              <a:rPr b="0" i="0" lang="en-US" sz="2540" u="none" cap="none" strike="noStrike">
                <a:solidFill>
                  <a:srgbClr val="FFFFFF"/>
                </a:solidFill>
                <a:latin typeface="Open Sans"/>
                <a:ea typeface="Open Sans"/>
                <a:cs typeface="Open Sans"/>
                <a:sym typeface="Open Sans"/>
              </a:rPr>
              <a:t>Desechos</a:t>
            </a:r>
            <a:endParaRPr/>
          </a:p>
        </p:txBody>
      </p:sp>
      <p:sp>
        <p:nvSpPr>
          <p:cNvPr id="173" name="Google Shape;173;p5"/>
          <p:cNvSpPr txBox="1"/>
          <p:nvPr/>
        </p:nvSpPr>
        <p:spPr>
          <a:xfrm>
            <a:off x="9915175" y="3806002"/>
            <a:ext cx="2450473" cy="1326028"/>
          </a:xfrm>
          <a:prstGeom prst="rect">
            <a:avLst/>
          </a:prstGeom>
          <a:noFill/>
          <a:ln>
            <a:noFill/>
          </a:ln>
        </p:spPr>
        <p:txBody>
          <a:bodyPr anchorCtr="0" anchor="t" bIns="0" lIns="0" spcFirstLastPara="1" rIns="0" wrap="square" tIns="0">
            <a:spAutoFit/>
          </a:bodyPr>
          <a:lstStyle/>
          <a:p>
            <a:pPr indent="0" lvl="0" marL="0" marR="0" rtl="0" algn="just">
              <a:lnSpc>
                <a:spcPct val="139976"/>
              </a:lnSpc>
              <a:spcBef>
                <a:spcPts val="0"/>
              </a:spcBef>
              <a:spcAft>
                <a:spcPts val="0"/>
              </a:spcAft>
              <a:buNone/>
            </a:pPr>
            <a:r>
              <a:rPr b="0" i="0" lang="en-US" sz="2544" u="none" cap="none" strike="noStrike">
                <a:solidFill>
                  <a:srgbClr val="FFFFFF"/>
                </a:solidFill>
                <a:latin typeface="Open Sans"/>
                <a:ea typeface="Open Sans"/>
                <a:cs typeface="Open Sans"/>
                <a:sym typeface="Open Sans"/>
              </a:rPr>
              <a:t>Insumo común de productos conexos</a:t>
            </a:r>
            <a:endParaRPr/>
          </a:p>
        </p:txBody>
      </p:sp>
      <p:cxnSp>
        <p:nvCxnSpPr>
          <p:cNvPr id="174" name="Google Shape;174;p5"/>
          <p:cNvCxnSpPr/>
          <p:nvPr/>
        </p:nvCxnSpPr>
        <p:spPr>
          <a:xfrm>
            <a:off x="15025145" y="5478984"/>
            <a:ext cx="0" cy="693216"/>
          </a:xfrm>
          <a:prstGeom prst="straightConnector1">
            <a:avLst/>
          </a:prstGeom>
          <a:noFill/>
          <a:ln cap="flat" cmpd="sng" w="85725">
            <a:solidFill>
              <a:srgbClr val="FFFFFF"/>
            </a:solidFill>
            <a:prstDash val="solid"/>
            <a:round/>
            <a:headEnd len="sm" w="sm" type="none"/>
            <a:tailEnd len="med" w="med" type="stealth"/>
          </a:ln>
        </p:spPr>
      </p:cxnSp>
      <p:cxnSp>
        <p:nvCxnSpPr>
          <p:cNvPr id="175" name="Google Shape;175;p5"/>
          <p:cNvCxnSpPr/>
          <p:nvPr/>
        </p:nvCxnSpPr>
        <p:spPr>
          <a:xfrm>
            <a:off x="4566546" y="3935934"/>
            <a:ext cx="994558" cy="0"/>
          </a:xfrm>
          <a:prstGeom prst="straightConnector1">
            <a:avLst/>
          </a:prstGeom>
          <a:noFill/>
          <a:ln cap="flat" cmpd="sng" w="85725">
            <a:solidFill>
              <a:srgbClr val="FFFFFF"/>
            </a:solidFill>
            <a:prstDash val="solid"/>
            <a:round/>
            <a:headEnd len="sm" w="sm" type="none"/>
            <a:tailEnd len="med" w="med" type="stealth"/>
          </a:ln>
        </p:spPr>
      </p:cxnSp>
      <p:cxnSp>
        <p:nvCxnSpPr>
          <p:cNvPr id="176" name="Google Shape;176;p5"/>
          <p:cNvCxnSpPr/>
          <p:nvPr/>
        </p:nvCxnSpPr>
        <p:spPr>
          <a:xfrm>
            <a:off x="7060338" y="5478984"/>
            <a:ext cx="0" cy="693216"/>
          </a:xfrm>
          <a:prstGeom prst="straightConnector1">
            <a:avLst/>
          </a:prstGeom>
          <a:noFill/>
          <a:ln cap="flat" cmpd="sng" w="85725">
            <a:solidFill>
              <a:srgbClr val="FFFFFF"/>
            </a:solidFill>
            <a:prstDash val="solid"/>
            <a:round/>
            <a:headEnd len="sm" w="sm" type="none"/>
            <a:tailEnd len="med" w="med" type="stealth"/>
          </a:ln>
        </p:spPr>
      </p:cxnSp>
      <p:cxnSp>
        <p:nvCxnSpPr>
          <p:cNvPr id="177" name="Google Shape;177;p5"/>
          <p:cNvCxnSpPr/>
          <p:nvPr/>
        </p:nvCxnSpPr>
        <p:spPr>
          <a:xfrm>
            <a:off x="8647204" y="3935934"/>
            <a:ext cx="895350" cy="0"/>
          </a:xfrm>
          <a:prstGeom prst="straightConnector1">
            <a:avLst/>
          </a:prstGeom>
          <a:noFill/>
          <a:ln cap="flat" cmpd="sng" w="85725">
            <a:solidFill>
              <a:srgbClr val="FFFFFF"/>
            </a:solidFill>
            <a:prstDash val="solid"/>
            <a:round/>
            <a:headEnd len="sm" w="sm" type="none"/>
            <a:tailEnd len="med" w="med" type="stealth"/>
          </a:ln>
        </p:spPr>
      </p:cxnSp>
      <p:cxnSp>
        <p:nvCxnSpPr>
          <p:cNvPr id="178" name="Google Shape;178;p5"/>
          <p:cNvCxnSpPr/>
          <p:nvPr/>
        </p:nvCxnSpPr>
        <p:spPr>
          <a:xfrm>
            <a:off x="12628654" y="3935934"/>
            <a:ext cx="896303" cy="0"/>
          </a:xfrm>
          <a:prstGeom prst="straightConnector1">
            <a:avLst/>
          </a:prstGeom>
          <a:noFill/>
          <a:ln cap="flat" cmpd="sng" w="85725">
            <a:solidFill>
              <a:srgbClr val="FFFFFF"/>
            </a:solidFill>
            <a:prstDash val="solid"/>
            <a:round/>
            <a:headEnd len="sm" w="sm" type="none"/>
            <a:tailEnd len="med" w="med" type="stealth"/>
          </a:ln>
        </p:spPr>
      </p:cxnSp>
      <p:grpSp>
        <p:nvGrpSpPr>
          <p:cNvPr id="179" name="Google Shape;179;p5"/>
          <p:cNvGrpSpPr/>
          <p:nvPr/>
        </p:nvGrpSpPr>
        <p:grpSpPr>
          <a:xfrm>
            <a:off x="-950854" y="-381332"/>
            <a:ext cx="2454454" cy="2454454"/>
            <a:chOff x="0" y="0"/>
            <a:chExt cx="812800" cy="812800"/>
          </a:xfrm>
        </p:grpSpPr>
        <p:sp>
          <p:nvSpPr>
            <p:cNvPr id="180" name="Google Shape;180;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2" name="Google Shape;182;p5"/>
          <p:cNvSpPr txBox="1"/>
          <p:nvPr/>
        </p:nvSpPr>
        <p:spPr>
          <a:xfrm>
            <a:off x="276373" y="586500"/>
            <a:ext cx="10864038" cy="1775834"/>
          </a:xfrm>
          <a:prstGeom prst="rect">
            <a:avLst/>
          </a:prstGeom>
          <a:noFill/>
          <a:ln>
            <a:noFill/>
          </a:ln>
        </p:spPr>
        <p:txBody>
          <a:bodyPr anchorCtr="0" anchor="t" bIns="0" lIns="0" spcFirstLastPara="1" rIns="0" wrap="square" tIns="0">
            <a:spAutoFit/>
          </a:bodyPr>
          <a:lstStyle/>
          <a:p>
            <a:pPr indent="0" lvl="0" marL="0" marR="0" rtl="0" algn="ctr">
              <a:lnSpc>
                <a:spcPct val="105003"/>
              </a:lnSpc>
              <a:spcBef>
                <a:spcPts val="0"/>
              </a:spcBef>
              <a:spcAft>
                <a:spcPts val="0"/>
              </a:spcAft>
              <a:buNone/>
            </a:pPr>
            <a:r>
              <a:rPr b="0" i="0" lang="en-US" sz="6575" u="none" cap="none" strike="noStrike">
                <a:solidFill>
                  <a:srgbClr val="FFFFFF"/>
                </a:solidFill>
                <a:latin typeface="Raleway Black"/>
                <a:ea typeface="Raleway Black"/>
                <a:cs typeface="Raleway Black"/>
                <a:sym typeface="Raleway Black"/>
              </a:rPr>
              <a:t>PRODUCCION CONJUNTA</a:t>
            </a:r>
            <a:endParaRPr/>
          </a:p>
          <a:p>
            <a:pPr indent="0" lvl="0" marL="0" marR="0" rtl="0" algn="ctr">
              <a:lnSpc>
                <a:spcPct val="105003"/>
              </a:lnSpc>
              <a:spcBef>
                <a:spcPts val="0"/>
              </a:spcBef>
              <a:spcAft>
                <a:spcPts val="0"/>
              </a:spcAft>
              <a:buNone/>
            </a:pPr>
            <a:r>
              <a:t/>
            </a:r>
            <a:endParaRPr b="0" i="0" sz="6575" u="none" cap="none" strike="noStrike">
              <a:solidFill>
                <a:srgbClr val="FFFFFF"/>
              </a:solidFill>
              <a:latin typeface="Raleway Black"/>
              <a:ea typeface="Raleway Black"/>
              <a:cs typeface="Raleway Black"/>
              <a:sym typeface="Raleway Black"/>
            </a:endParaRPr>
          </a:p>
        </p:txBody>
      </p:sp>
      <p:grpSp>
        <p:nvGrpSpPr>
          <p:cNvPr id="183" name="Google Shape;183;p5"/>
          <p:cNvGrpSpPr/>
          <p:nvPr/>
        </p:nvGrpSpPr>
        <p:grpSpPr>
          <a:xfrm>
            <a:off x="13313842" y="-1566520"/>
            <a:ext cx="2454454" cy="2454454"/>
            <a:chOff x="0" y="0"/>
            <a:chExt cx="812800" cy="812800"/>
          </a:xfrm>
        </p:grpSpPr>
        <p:sp>
          <p:nvSpPr>
            <p:cNvPr id="184" name="Google Shape;184;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6" name="Google Shape;186;p5"/>
          <p:cNvGrpSpPr/>
          <p:nvPr/>
        </p:nvGrpSpPr>
        <p:grpSpPr>
          <a:xfrm>
            <a:off x="-2628735" y="8116278"/>
            <a:ext cx="6340754" cy="6340754"/>
            <a:chOff x="0" y="0"/>
            <a:chExt cx="812800" cy="812800"/>
          </a:xfrm>
        </p:grpSpPr>
        <p:sp>
          <p:nvSpPr>
            <p:cNvPr id="187" name="Google Shape;187;p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192" name="Shape 192"/>
        <p:cNvGrpSpPr/>
        <p:nvPr/>
      </p:nvGrpSpPr>
      <p:grpSpPr>
        <a:xfrm>
          <a:off x="0" y="0"/>
          <a:ext cx="0" cy="0"/>
          <a:chOff x="0" y="0"/>
          <a:chExt cx="0" cy="0"/>
        </a:xfrm>
      </p:grpSpPr>
      <p:grpSp>
        <p:nvGrpSpPr>
          <p:cNvPr id="193" name="Google Shape;193;p6"/>
          <p:cNvGrpSpPr/>
          <p:nvPr/>
        </p:nvGrpSpPr>
        <p:grpSpPr>
          <a:xfrm>
            <a:off x="7600950" y="5646122"/>
            <a:ext cx="3086100" cy="3230761"/>
            <a:chOff x="0" y="-38100"/>
            <a:chExt cx="812800" cy="850900"/>
          </a:xfrm>
        </p:grpSpPr>
        <p:sp>
          <p:nvSpPr>
            <p:cNvPr id="194" name="Google Shape;194;p6"/>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D35C37"/>
            </a:solidFill>
            <a:ln cap="sq" cmpd="sng" w="47625">
              <a:solidFill>
                <a:srgbClr val="FFFFFF"/>
              </a:solidFill>
              <a:prstDash val="solid"/>
              <a:miter lim="8000"/>
              <a:headEnd len="sm" w="sm" type="none"/>
              <a:tailEnd len="sm" w="sm" type="none"/>
            </a:ln>
          </p:spPr>
        </p:sp>
        <p:sp>
          <p:nvSpPr>
            <p:cNvPr id="195" name="Google Shape;195;p6"/>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6" name="Google Shape;196;p6"/>
          <p:cNvGrpSpPr/>
          <p:nvPr/>
        </p:nvGrpSpPr>
        <p:grpSpPr>
          <a:xfrm>
            <a:off x="-950854" y="-381332"/>
            <a:ext cx="2454454" cy="2454454"/>
            <a:chOff x="0" y="0"/>
            <a:chExt cx="812800" cy="812800"/>
          </a:xfrm>
        </p:grpSpPr>
        <p:sp>
          <p:nvSpPr>
            <p:cNvPr id="197" name="Google Shape;197;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9" name="Google Shape;199;p6"/>
          <p:cNvSpPr txBox="1"/>
          <p:nvPr/>
        </p:nvSpPr>
        <p:spPr>
          <a:xfrm>
            <a:off x="276373" y="586500"/>
            <a:ext cx="10864038" cy="1775834"/>
          </a:xfrm>
          <a:prstGeom prst="rect">
            <a:avLst/>
          </a:prstGeom>
          <a:noFill/>
          <a:ln>
            <a:noFill/>
          </a:ln>
        </p:spPr>
        <p:txBody>
          <a:bodyPr anchorCtr="0" anchor="t" bIns="0" lIns="0" spcFirstLastPara="1" rIns="0" wrap="square" tIns="0">
            <a:spAutoFit/>
          </a:bodyPr>
          <a:lstStyle/>
          <a:p>
            <a:pPr indent="0" lvl="0" marL="0" marR="0" rtl="0" algn="ctr">
              <a:lnSpc>
                <a:spcPct val="105003"/>
              </a:lnSpc>
              <a:spcBef>
                <a:spcPts val="0"/>
              </a:spcBef>
              <a:spcAft>
                <a:spcPts val="0"/>
              </a:spcAft>
              <a:buNone/>
            </a:pPr>
            <a:r>
              <a:rPr b="0" i="0" lang="en-US" sz="6575" u="none" cap="none" strike="noStrike">
                <a:solidFill>
                  <a:srgbClr val="FFFFFF"/>
                </a:solidFill>
                <a:latin typeface="Raleway Black"/>
                <a:ea typeface="Raleway Black"/>
                <a:cs typeface="Raleway Black"/>
                <a:sym typeface="Raleway Black"/>
              </a:rPr>
              <a:t>PRODUCCION CONJUNTA</a:t>
            </a:r>
            <a:endParaRPr/>
          </a:p>
          <a:p>
            <a:pPr indent="0" lvl="0" marL="0" marR="0" rtl="0" algn="ctr">
              <a:lnSpc>
                <a:spcPct val="105003"/>
              </a:lnSpc>
              <a:spcBef>
                <a:spcPts val="0"/>
              </a:spcBef>
              <a:spcAft>
                <a:spcPts val="0"/>
              </a:spcAft>
              <a:buNone/>
            </a:pPr>
            <a:r>
              <a:t/>
            </a:r>
            <a:endParaRPr b="0" i="0" sz="6575" u="none" cap="none" strike="noStrike">
              <a:solidFill>
                <a:srgbClr val="FFFFFF"/>
              </a:solidFill>
              <a:latin typeface="Raleway Black"/>
              <a:ea typeface="Raleway Black"/>
              <a:cs typeface="Raleway Black"/>
              <a:sym typeface="Raleway Black"/>
            </a:endParaRPr>
          </a:p>
        </p:txBody>
      </p:sp>
      <p:grpSp>
        <p:nvGrpSpPr>
          <p:cNvPr id="200" name="Google Shape;200;p6"/>
          <p:cNvGrpSpPr/>
          <p:nvPr/>
        </p:nvGrpSpPr>
        <p:grpSpPr>
          <a:xfrm>
            <a:off x="14233772" y="6842585"/>
            <a:ext cx="6340754" cy="6340754"/>
            <a:chOff x="0" y="0"/>
            <a:chExt cx="812800" cy="812800"/>
          </a:xfrm>
        </p:grpSpPr>
        <p:sp>
          <p:nvSpPr>
            <p:cNvPr id="201" name="Google Shape;201;p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03" name="Google Shape;203;p6"/>
          <p:cNvCxnSpPr/>
          <p:nvPr/>
        </p:nvCxnSpPr>
        <p:spPr>
          <a:xfrm>
            <a:off x="1108710" y="6370387"/>
            <a:ext cx="6492240" cy="0"/>
          </a:xfrm>
          <a:prstGeom prst="straightConnector1">
            <a:avLst/>
          </a:prstGeom>
          <a:noFill/>
          <a:ln cap="flat" cmpd="sng" w="38100">
            <a:solidFill>
              <a:srgbClr val="FFFFFF"/>
            </a:solidFill>
            <a:prstDash val="solid"/>
            <a:round/>
            <a:headEnd len="sm" w="sm" type="none"/>
            <a:tailEnd len="med" w="med" type="stealth"/>
          </a:ln>
        </p:spPr>
      </p:cxnSp>
      <p:cxnSp>
        <p:nvCxnSpPr>
          <p:cNvPr id="204" name="Google Shape;204;p6"/>
          <p:cNvCxnSpPr/>
          <p:nvPr/>
        </p:nvCxnSpPr>
        <p:spPr>
          <a:xfrm>
            <a:off x="1108710" y="7314783"/>
            <a:ext cx="6492240" cy="0"/>
          </a:xfrm>
          <a:prstGeom prst="straightConnector1">
            <a:avLst/>
          </a:prstGeom>
          <a:noFill/>
          <a:ln cap="flat" cmpd="sng" w="38100">
            <a:solidFill>
              <a:srgbClr val="FFFFFF"/>
            </a:solidFill>
            <a:prstDash val="solid"/>
            <a:round/>
            <a:headEnd len="sm" w="sm" type="none"/>
            <a:tailEnd len="med" w="med" type="stealth"/>
          </a:ln>
        </p:spPr>
      </p:cxnSp>
      <p:cxnSp>
        <p:nvCxnSpPr>
          <p:cNvPr id="205" name="Google Shape;205;p6"/>
          <p:cNvCxnSpPr/>
          <p:nvPr/>
        </p:nvCxnSpPr>
        <p:spPr>
          <a:xfrm>
            <a:off x="1108710" y="8201048"/>
            <a:ext cx="6492240" cy="0"/>
          </a:xfrm>
          <a:prstGeom prst="straightConnector1">
            <a:avLst/>
          </a:prstGeom>
          <a:noFill/>
          <a:ln cap="flat" cmpd="sng" w="38100">
            <a:solidFill>
              <a:srgbClr val="FFFFFF"/>
            </a:solidFill>
            <a:prstDash val="solid"/>
            <a:round/>
            <a:headEnd len="sm" w="sm" type="none"/>
            <a:tailEnd len="med" w="med" type="stealth"/>
          </a:ln>
        </p:spPr>
      </p:cxnSp>
      <p:cxnSp>
        <p:nvCxnSpPr>
          <p:cNvPr id="206" name="Google Shape;206;p6"/>
          <p:cNvCxnSpPr/>
          <p:nvPr/>
        </p:nvCxnSpPr>
        <p:spPr>
          <a:xfrm flipH="1" rot="10800000">
            <a:off x="10691080" y="6171772"/>
            <a:ext cx="1675911" cy="305735"/>
          </a:xfrm>
          <a:prstGeom prst="straightConnector1">
            <a:avLst/>
          </a:prstGeom>
          <a:noFill/>
          <a:ln cap="flat" cmpd="sng" w="38100">
            <a:solidFill>
              <a:srgbClr val="FFFFFF"/>
            </a:solidFill>
            <a:prstDash val="solid"/>
            <a:round/>
            <a:headEnd len="sm" w="sm" type="none"/>
            <a:tailEnd len="med" w="med" type="stealth"/>
          </a:ln>
        </p:spPr>
      </p:cxnSp>
      <p:cxnSp>
        <p:nvCxnSpPr>
          <p:cNvPr id="207" name="Google Shape;207;p6"/>
          <p:cNvCxnSpPr/>
          <p:nvPr/>
        </p:nvCxnSpPr>
        <p:spPr>
          <a:xfrm>
            <a:off x="10687050" y="7276683"/>
            <a:ext cx="5346049" cy="19050"/>
          </a:xfrm>
          <a:prstGeom prst="straightConnector1">
            <a:avLst/>
          </a:prstGeom>
          <a:noFill/>
          <a:ln cap="flat" cmpd="sng" w="38100">
            <a:solidFill>
              <a:srgbClr val="FFFFFF"/>
            </a:solidFill>
            <a:prstDash val="solid"/>
            <a:round/>
            <a:headEnd len="sm" w="sm" type="none"/>
            <a:tailEnd len="med" w="med" type="stealth"/>
          </a:ln>
        </p:spPr>
      </p:cxnSp>
      <p:cxnSp>
        <p:nvCxnSpPr>
          <p:cNvPr id="208" name="Google Shape;208;p6"/>
          <p:cNvCxnSpPr/>
          <p:nvPr/>
        </p:nvCxnSpPr>
        <p:spPr>
          <a:xfrm>
            <a:off x="10690445" y="8200743"/>
            <a:ext cx="5342722" cy="676140"/>
          </a:xfrm>
          <a:prstGeom prst="straightConnector1">
            <a:avLst/>
          </a:prstGeom>
          <a:noFill/>
          <a:ln cap="flat" cmpd="sng" w="38100">
            <a:solidFill>
              <a:srgbClr val="FFFFFF"/>
            </a:solidFill>
            <a:prstDash val="solid"/>
            <a:round/>
            <a:headEnd len="sm" w="sm" type="none"/>
            <a:tailEnd len="med" w="med" type="stealth"/>
          </a:ln>
        </p:spPr>
      </p:cxnSp>
      <p:sp>
        <p:nvSpPr>
          <p:cNvPr id="209" name="Google Shape;209;p6"/>
          <p:cNvSpPr txBox="1"/>
          <p:nvPr/>
        </p:nvSpPr>
        <p:spPr>
          <a:xfrm>
            <a:off x="4029938" y="5448389"/>
            <a:ext cx="649784"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MP</a:t>
            </a:r>
            <a:endParaRPr/>
          </a:p>
        </p:txBody>
      </p:sp>
      <p:sp>
        <p:nvSpPr>
          <p:cNvPr id="210" name="Google Shape;210;p6"/>
          <p:cNvSpPr txBox="1"/>
          <p:nvPr/>
        </p:nvSpPr>
        <p:spPr>
          <a:xfrm>
            <a:off x="3834378" y="6519052"/>
            <a:ext cx="1040904"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MOD</a:t>
            </a:r>
            <a:endParaRPr/>
          </a:p>
        </p:txBody>
      </p:sp>
      <p:sp>
        <p:nvSpPr>
          <p:cNvPr id="211" name="Google Shape;211;p6"/>
          <p:cNvSpPr txBox="1"/>
          <p:nvPr/>
        </p:nvSpPr>
        <p:spPr>
          <a:xfrm>
            <a:off x="4025994" y="7467183"/>
            <a:ext cx="657671"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GIF</a:t>
            </a:r>
            <a:endParaRPr/>
          </a:p>
        </p:txBody>
      </p:sp>
      <p:sp>
        <p:nvSpPr>
          <p:cNvPr id="212" name="Google Shape;212;p6"/>
          <p:cNvSpPr txBox="1"/>
          <p:nvPr/>
        </p:nvSpPr>
        <p:spPr>
          <a:xfrm>
            <a:off x="8011716" y="6677243"/>
            <a:ext cx="2416647" cy="1180465"/>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COSTO</a:t>
            </a:r>
            <a:endParaRPr/>
          </a:p>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CONJUNTO</a:t>
            </a:r>
            <a:endParaRPr/>
          </a:p>
        </p:txBody>
      </p:sp>
      <p:grpSp>
        <p:nvGrpSpPr>
          <p:cNvPr id="213" name="Google Shape;213;p6"/>
          <p:cNvGrpSpPr/>
          <p:nvPr/>
        </p:nvGrpSpPr>
        <p:grpSpPr>
          <a:xfrm>
            <a:off x="12366991" y="5613155"/>
            <a:ext cx="3086103" cy="3230756"/>
            <a:chOff x="0" y="-38100"/>
            <a:chExt cx="812800" cy="850900"/>
          </a:xfrm>
        </p:grpSpPr>
        <p:sp>
          <p:nvSpPr>
            <p:cNvPr id="214" name="Google Shape;214;p6"/>
            <p:cNvSpPr/>
            <p:nvPr/>
          </p:nvSpPr>
          <p:spPr>
            <a:xfrm>
              <a:off x="0" y="0"/>
              <a:ext cx="491662" cy="218051"/>
            </a:xfrm>
            <a:custGeom>
              <a:rect b="b" l="l" r="r" t="t"/>
              <a:pathLst>
                <a:path extrusionOk="0" h="218051" w="491662">
                  <a:moveTo>
                    <a:pt x="0" y="0"/>
                  </a:moveTo>
                  <a:lnTo>
                    <a:pt x="491662" y="0"/>
                  </a:lnTo>
                  <a:lnTo>
                    <a:pt x="491662" y="218051"/>
                  </a:lnTo>
                  <a:lnTo>
                    <a:pt x="0" y="218051"/>
                  </a:lnTo>
                  <a:close/>
                </a:path>
              </a:pathLst>
            </a:custGeom>
            <a:solidFill>
              <a:srgbClr val="D35C37"/>
            </a:solidFill>
            <a:ln cap="sq" cmpd="sng" w="47625">
              <a:solidFill>
                <a:srgbClr val="FFFFFF"/>
              </a:solidFill>
              <a:prstDash val="solid"/>
              <a:miter lim="8000"/>
              <a:headEnd len="sm" w="sm" type="none"/>
              <a:tailEnd len="sm" w="sm" type="none"/>
            </a:ln>
          </p:spPr>
        </p:sp>
        <p:sp>
          <p:nvSpPr>
            <p:cNvPr id="215" name="Google Shape;215;p6"/>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16" name="Google Shape;216;p6"/>
          <p:cNvCxnSpPr/>
          <p:nvPr/>
        </p:nvCxnSpPr>
        <p:spPr>
          <a:xfrm>
            <a:off x="14233772" y="6152722"/>
            <a:ext cx="1799324" cy="309"/>
          </a:xfrm>
          <a:prstGeom prst="straightConnector1">
            <a:avLst/>
          </a:prstGeom>
          <a:noFill/>
          <a:ln cap="flat" cmpd="sng" w="38100">
            <a:solidFill>
              <a:srgbClr val="FFFFFF"/>
            </a:solidFill>
            <a:prstDash val="solid"/>
            <a:round/>
            <a:headEnd len="sm" w="sm" type="none"/>
            <a:tailEnd len="med" w="med" type="stealth"/>
          </a:ln>
        </p:spPr>
      </p:cxnSp>
      <p:sp>
        <p:nvSpPr>
          <p:cNvPr id="217" name="Google Shape;217;p6"/>
          <p:cNvSpPr txBox="1"/>
          <p:nvPr/>
        </p:nvSpPr>
        <p:spPr>
          <a:xfrm>
            <a:off x="12578789" y="5789997"/>
            <a:ext cx="1443186"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CDPS 1</a:t>
            </a:r>
            <a:endParaRPr/>
          </a:p>
        </p:txBody>
      </p:sp>
      <p:sp>
        <p:nvSpPr>
          <p:cNvPr id="218" name="Google Shape;218;p6"/>
          <p:cNvSpPr txBox="1"/>
          <p:nvPr/>
        </p:nvSpPr>
        <p:spPr>
          <a:xfrm>
            <a:off x="15204872" y="5467251"/>
            <a:ext cx="506909"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P1</a:t>
            </a:r>
            <a:endParaRPr/>
          </a:p>
        </p:txBody>
      </p:sp>
      <p:sp>
        <p:nvSpPr>
          <p:cNvPr id="219" name="Google Shape;219;p6"/>
          <p:cNvSpPr txBox="1"/>
          <p:nvPr/>
        </p:nvSpPr>
        <p:spPr>
          <a:xfrm>
            <a:off x="15204872" y="6519052"/>
            <a:ext cx="506909"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P2</a:t>
            </a:r>
            <a:endParaRPr/>
          </a:p>
        </p:txBody>
      </p:sp>
      <p:sp>
        <p:nvSpPr>
          <p:cNvPr id="220" name="Google Shape;220;p6"/>
          <p:cNvSpPr txBox="1"/>
          <p:nvPr/>
        </p:nvSpPr>
        <p:spPr>
          <a:xfrm>
            <a:off x="15204872" y="7896566"/>
            <a:ext cx="506909"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P3</a:t>
            </a:r>
            <a:endParaRPr/>
          </a:p>
        </p:txBody>
      </p:sp>
      <p:sp>
        <p:nvSpPr>
          <p:cNvPr id="221" name="Google Shape;221;p6"/>
          <p:cNvSpPr txBox="1"/>
          <p:nvPr/>
        </p:nvSpPr>
        <p:spPr>
          <a:xfrm>
            <a:off x="11324260" y="3734524"/>
            <a:ext cx="3799844" cy="178054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COSTO DESPUÉS DEL PUNTO DE SEPARACIÓN</a:t>
            </a:r>
            <a:endParaRPr/>
          </a:p>
        </p:txBody>
      </p:sp>
      <p:sp>
        <p:nvSpPr>
          <p:cNvPr id="222" name="Google Shape;222;p6"/>
          <p:cNvSpPr txBox="1"/>
          <p:nvPr/>
        </p:nvSpPr>
        <p:spPr>
          <a:xfrm>
            <a:off x="276373" y="1522819"/>
            <a:ext cx="17363444" cy="2116455"/>
          </a:xfrm>
          <a:prstGeom prst="rect">
            <a:avLst/>
          </a:prstGeom>
          <a:noFill/>
          <a:ln>
            <a:noFill/>
          </a:ln>
        </p:spPr>
        <p:txBody>
          <a:bodyPr anchorCtr="0" anchor="t" bIns="0" lIns="0" spcFirstLastPara="1" rIns="0" wrap="square" tIns="0">
            <a:spAutoFit/>
          </a:bodyPr>
          <a:lstStyle/>
          <a:p>
            <a:pPr indent="-437196" lvl="1" marL="874395" marR="0" rtl="0" algn="just">
              <a:lnSpc>
                <a:spcPct val="140000"/>
              </a:lnSpc>
              <a:spcBef>
                <a:spcPts val="0"/>
              </a:spcBef>
              <a:spcAft>
                <a:spcPts val="0"/>
              </a:spcAft>
              <a:buClr>
                <a:srgbClr val="FFFFFF"/>
              </a:buClr>
              <a:buSzPts val="4050"/>
              <a:buFont typeface="Arial"/>
              <a:buChar char="•"/>
            </a:pPr>
            <a:r>
              <a:rPr b="0" i="0" lang="en-US" sz="4050" u="none" cap="none" strike="noStrike">
                <a:solidFill>
                  <a:srgbClr val="FFFFFF"/>
                </a:solidFill>
                <a:latin typeface="Open Sans"/>
                <a:ea typeface="Open Sans"/>
                <a:cs typeface="Open Sans"/>
                <a:sym typeface="Open Sans"/>
              </a:rPr>
              <a:t>Los costos después del punto de separación son aquellos que incurren para producir productos individuales después del proceso de manufactura en común.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226" name="Shape 226"/>
        <p:cNvGrpSpPr/>
        <p:nvPr/>
      </p:nvGrpSpPr>
      <p:grpSpPr>
        <a:xfrm>
          <a:off x="0" y="0"/>
          <a:ext cx="0" cy="0"/>
          <a:chOff x="0" y="0"/>
          <a:chExt cx="0" cy="0"/>
        </a:xfrm>
      </p:grpSpPr>
      <p:grpSp>
        <p:nvGrpSpPr>
          <p:cNvPr id="227" name="Google Shape;227;p7"/>
          <p:cNvGrpSpPr/>
          <p:nvPr/>
        </p:nvGrpSpPr>
        <p:grpSpPr>
          <a:xfrm>
            <a:off x="7600950" y="2749798"/>
            <a:ext cx="3086100" cy="3230761"/>
            <a:chOff x="0" y="-38100"/>
            <a:chExt cx="812800" cy="850900"/>
          </a:xfrm>
        </p:grpSpPr>
        <p:sp>
          <p:nvSpPr>
            <p:cNvPr id="228" name="Google Shape;228;p7"/>
            <p:cNvSpPr/>
            <p:nvPr/>
          </p:nvSpPr>
          <p:spPr>
            <a:xfrm>
              <a:off x="0" y="0"/>
              <a:ext cx="812800" cy="812800"/>
            </a:xfrm>
            <a:custGeom>
              <a:rect b="b" l="l" r="r" t="t"/>
              <a:pathLst>
                <a:path extrusionOk="0" h="812800" w="812800">
                  <a:moveTo>
                    <a:pt x="0" y="0"/>
                  </a:moveTo>
                  <a:lnTo>
                    <a:pt x="812800" y="0"/>
                  </a:lnTo>
                  <a:lnTo>
                    <a:pt x="812800" y="812800"/>
                  </a:lnTo>
                  <a:lnTo>
                    <a:pt x="0" y="812800"/>
                  </a:lnTo>
                  <a:close/>
                </a:path>
              </a:pathLst>
            </a:custGeom>
            <a:solidFill>
              <a:srgbClr val="D35C37"/>
            </a:solidFill>
            <a:ln cap="sq" cmpd="sng" w="47625">
              <a:solidFill>
                <a:srgbClr val="FFFFFF"/>
              </a:solidFill>
              <a:prstDash val="solid"/>
              <a:miter lim="8000"/>
              <a:headEnd len="sm" w="sm" type="none"/>
              <a:tailEnd len="sm" w="sm" type="none"/>
            </a:ln>
          </p:spPr>
        </p:sp>
        <p:sp>
          <p:nvSpPr>
            <p:cNvPr id="229" name="Google Shape;229;p7"/>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0" name="Google Shape;230;p7"/>
          <p:cNvGrpSpPr/>
          <p:nvPr/>
        </p:nvGrpSpPr>
        <p:grpSpPr>
          <a:xfrm>
            <a:off x="-950854" y="-381332"/>
            <a:ext cx="2454454" cy="2454454"/>
            <a:chOff x="0" y="0"/>
            <a:chExt cx="812800" cy="812800"/>
          </a:xfrm>
        </p:grpSpPr>
        <p:sp>
          <p:nvSpPr>
            <p:cNvPr id="231" name="Google Shape;231;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3" name="Google Shape;233;p7"/>
          <p:cNvSpPr txBox="1"/>
          <p:nvPr/>
        </p:nvSpPr>
        <p:spPr>
          <a:xfrm>
            <a:off x="276373" y="586500"/>
            <a:ext cx="10864038" cy="1775834"/>
          </a:xfrm>
          <a:prstGeom prst="rect">
            <a:avLst/>
          </a:prstGeom>
          <a:noFill/>
          <a:ln>
            <a:noFill/>
          </a:ln>
        </p:spPr>
        <p:txBody>
          <a:bodyPr anchorCtr="0" anchor="t" bIns="0" lIns="0" spcFirstLastPara="1" rIns="0" wrap="square" tIns="0">
            <a:spAutoFit/>
          </a:bodyPr>
          <a:lstStyle/>
          <a:p>
            <a:pPr indent="0" lvl="0" marL="0" marR="0" rtl="0" algn="ctr">
              <a:lnSpc>
                <a:spcPct val="105003"/>
              </a:lnSpc>
              <a:spcBef>
                <a:spcPts val="0"/>
              </a:spcBef>
              <a:spcAft>
                <a:spcPts val="0"/>
              </a:spcAft>
              <a:buNone/>
            </a:pPr>
            <a:r>
              <a:rPr b="0" i="0" lang="en-US" sz="6575" u="none" cap="none" strike="noStrike">
                <a:solidFill>
                  <a:srgbClr val="FFFFFF"/>
                </a:solidFill>
                <a:latin typeface="Raleway Black"/>
                <a:ea typeface="Raleway Black"/>
                <a:cs typeface="Raleway Black"/>
                <a:sym typeface="Raleway Black"/>
              </a:rPr>
              <a:t>PRODUCCION CONJUNTA</a:t>
            </a:r>
            <a:endParaRPr/>
          </a:p>
          <a:p>
            <a:pPr indent="0" lvl="0" marL="0" marR="0" rtl="0" algn="ctr">
              <a:lnSpc>
                <a:spcPct val="105003"/>
              </a:lnSpc>
              <a:spcBef>
                <a:spcPts val="0"/>
              </a:spcBef>
              <a:spcAft>
                <a:spcPts val="0"/>
              </a:spcAft>
              <a:buNone/>
            </a:pPr>
            <a:r>
              <a:t/>
            </a:r>
            <a:endParaRPr b="0" i="0" sz="6575" u="none" cap="none" strike="noStrike">
              <a:solidFill>
                <a:srgbClr val="FFFFFF"/>
              </a:solidFill>
              <a:latin typeface="Raleway Black"/>
              <a:ea typeface="Raleway Black"/>
              <a:cs typeface="Raleway Black"/>
              <a:sym typeface="Raleway Black"/>
            </a:endParaRPr>
          </a:p>
        </p:txBody>
      </p:sp>
      <p:grpSp>
        <p:nvGrpSpPr>
          <p:cNvPr id="234" name="Google Shape;234;p7"/>
          <p:cNvGrpSpPr/>
          <p:nvPr/>
        </p:nvGrpSpPr>
        <p:grpSpPr>
          <a:xfrm>
            <a:off x="15117623" y="6087923"/>
            <a:ext cx="6340754" cy="6340754"/>
            <a:chOff x="0" y="0"/>
            <a:chExt cx="812800" cy="812800"/>
          </a:xfrm>
        </p:grpSpPr>
        <p:sp>
          <p:nvSpPr>
            <p:cNvPr id="235" name="Google Shape;235;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37" name="Google Shape;237;p7"/>
          <p:cNvCxnSpPr/>
          <p:nvPr/>
        </p:nvCxnSpPr>
        <p:spPr>
          <a:xfrm>
            <a:off x="1108710" y="3474063"/>
            <a:ext cx="6492240" cy="0"/>
          </a:xfrm>
          <a:prstGeom prst="straightConnector1">
            <a:avLst/>
          </a:prstGeom>
          <a:noFill/>
          <a:ln cap="flat" cmpd="sng" w="38100">
            <a:solidFill>
              <a:srgbClr val="FFFFFF"/>
            </a:solidFill>
            <a:prstDash val="solid"/>
            <a:round/>
            <a:headEnd len="sm" w="sm" type="none"/>
            <a:tailEnd len="med" w="med" type="stealth"/>
          </a:ln>
        </p:spPr>
      </p:cxnSp>
      <p:cxnSp>
        <p:nvCxnSpPr>
          <p:cNvPr id="238" name="Google Shape;238;p7"/>
          <p:cNvCxnSpPr/>
          <p:nvPr/>
        </p:nvCxnSpPr>
        <p:spPr>
          <a:xfrm>
            <a:off x="1108710" y="4418459"/>
            <a:ext cx="6492240" cy="0"/>
          </a:xfrm>
          <a:prstGeom prst="straightConnector1">
            <a:avLst/>
          </a:prstGeom>
          <a:noFill/>
          <a:ln cap="flat" cmpd="sng" w="38100">
            <a:solidFill>
              <a:srgbClr val="FFFFFF"/>
            </a:solidFill>
            <a:prstDash val="solid"/>
            <a:round/>
            <a:headEnd len="sm" w="sm" type="none"/>
            <a:tailEnd len="med" w="med" type="stealth"/>
          </a:ln>
        </p:spPr>
      </p:cxnSp>
      <p:cxnSp>
        <p:nvCxnSpPr>
          <p:cNvPr id="239" name="Google Shape;239;p7"/>
          <p:cNvCxnSpPr/>
          <p:nvPr/>
        </p:nvCxnSpPr>
        <p:spPr>
          <a:xfrm>
            <a:off x="1108710" y="5304724"/>
            <a:ext cx="6492240" cy="0"/>
          </a:xfrm>
          <a:prstGeom prst="straightConnector1">
            <a:avLst/>
          </a:prstGeom>
          <a:noFill/>
          <a:ln cap="flat" cmpd="sng" w="38100">
            <a:solidFill>
              <a:srgbClr val="FFFFFF"/>
            </a:solidFill>
            <a:prstDash val="solid"/>
            <a:round/>
            <a:headEnd len="sm" w="sm" type="none"/>
            <a:tailEnd len="med" w="med" type="stealth"/>
          </a:ln>
        </p:spPr>
      </p:cxnSp>
      <p:cxnSp>
        <p:nvCxnSpPr>
          <p:cNvPr id="240" name="Google Shape;240;p7"/>
          <p:cNvCxnSpPr/>
          <p:nvPr/>
        </p:nvCxnSpPr>
        <p:spPr>
          <a:xfrm flipH="1" rot="10800000">
            <a:off x="10691080" y="3275448"/>
            <a:ext cx="1675911" cy="305735"/>
          </a:xfrm>
          <a:prstGeom prst="straightConnector1">
            <a:avLst/>
          </a:prstGeom>
          <a:noFill/>
          <a:ln cap="flat" cmpd="sng" w="38100">
            <a:solidFill>
              <a:srgbClr val="FFFFFF"/>
            </a:solidFill>
            <a:prstDash val="solid"/>
            <a:round/>
            <a:headEnd len="sm" w="sm" type="none"/>
            <a:tailEnd len="med" w="med" type="stealth"/>
          </a:ln>
        </p:spPr>
      </p:cxnSp>
      <p:cxnSp>
        <p:nvCxnSpPr>
          <p:cNvPr id="241" name="Google Shape;241;p7"/>
          <p:cNvCxnSpPr/>
          <p:nvPr/>
        </p:nvCxnSpPr>
        <p:spPr>
          <a:xfrm>
            <a:off x="10687050" y="4380359"/>
            <a:ext cx="5346049" cy="19050"/>
          </a:xfrm>
          <a:prstGeom prst="straightConnector1">
            <a:avLst/>
          </a:prstGeom>
          <a:noFill/>
          <a:ln cap="flat" cmpd="sng" w="38100">
            <a:solidFill>
              <a:srgbClr val="FFFFFF"/>
            </a:solidFill>
            <a:prstDash val="solid"/>
            <a:round/>
            <a:headEnd len="sm" w="sm" type="none"/>
            <a:tailEnd len="med" w="med" type="stealth"/>
          </a:ln>
        </p:spPr>
      </p:cxnSp>
      <p:cxnSp>
        <p:nvCxnSpPr>
          <p:cNvPr id="242" name="Google Shape;242;p7"/>
          <p:cNvCxnSpPr/>
          <p:nvPr/>
        </p:nvCxnSpPr>
        <p:spPr>
          <a:xfrm>
            <a:off x="10690445" y="5304419"/>
            <a:ext cx="5342722" cy="676140"/>
          </a:xfrm>
          <a:prstGeom prst="straightConnector1">
            <a:avLst/>
          </a:prstGeom>
          <a:noFill/>
          <a:ln cap="flat" cmpd="sng" w="38100">
            <a:solidFill>
              <a:srgbClr val="FFFFFF"/>
            </a:solidFill>
            <a:prstDash val="solid"/>
            <a:round/>
            <a:headEnd len="sm" w="sm" type="none"/>
            <a:tailEnd len="med" w="med" type="stealth"/>
          </a:ln>
        </p:spPr>
      </p:cxnSp>
      <p:sp>
        <p:nvSpPr>
          <p:cNvPr id="243" name="Google Shape;243;p7"/>
          <p:cNvSpPr txBox="1"/>
          <p:nvPr/>
        </p:nvSpPr>
        <p:spPr>
          <a:xfrm>
            <a:off x="4029938" y="2552065"/>
            <a:ext cx="649784"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MP</a:t>
            </a:r>
            <a:endParaRPr/>
          </a:p>
        </p:txBody>
      </p:sp>
      <p:sp>
        <p:nvSpPr>
          <p:cNvPr id="244" name="Google Shape;244;p7"/>
          <p:cNvSpPr txBox="1"/>
          <p:nvPr/>
        </p:nvSpPr>
        <p:spPr>
          <a:xfrm>
            <a:off x="3834378" y="3622728"/>
            <a:ext cx="1040904"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MOD</a:t>
            </a:r>
            <a:endParaRPr/>
          </a:p>
        </p:txBody>
      </p:sp>
      <p:sp>
        <p:nvSpPr>
          <p:cNvPr id="245" name="Google Shape;245;p7"/>
          <p:cNvSpPr txBox="1"/>
          <p:nvPr/>
        </p:nvSpPr>
        <p:spPr>
          <a:xfrm>
            <a:off x="4025994" y="4570859"/>
            <a:ext cx="657671"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GIF</a:t>
            </a:r>
            <a:endParaRPr/>
          </a:p>
        </p:txBody>
      </p:sp>
      <p:sp>
        <p:nvSpPr>
          <p:cNvPr id="246" name="Google Shape;246;p7"/>
          <p:cNvSpPr txBox="1"/>
          <p:nvPr/>
        </p:nvSpPr>
        <p:spPr>
          <a:xfrm>
            <a:off x="8011716" y="3780919"/>
            <a:ext cx="2314902" cy="1180465"/>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COSTO</a:t>
            </a:r>
            <a:endParaRPr/>
          </a:p>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CONJUNTO</a:t>
            </a:r>
            <a:endParaRPr/>
          </a:p>
        </p:txBody>
      </p:sp>
      <p:grpSp>
        <p:nvGrpSpPr>
          <p:cNvPr id="247" name="Google Shape;247;p7"/>
          <p:cNvGrpSpPr/>
          <p:nvPr/>
        </p:nvGrpSpPr>
        <p:grpSpPr>
          <a:xfrm>
            <a:off x="12366991" y="2716831"/>
            <a:ext cx="3086103" cy="3230756"/>
            <a:chOff x="0" y="-38100"/>
            <a:chExt cx="812800" cy="850900"/>
          </a:xfrm>
        </p:grpSpPr>
        <p:sp>
          <p:nvSpPr>
            <p:cNvPr id="248" name="Google Shape;248;p7"/>
            <p:cNvSpPr/>
            <p:nvPr/>
          </p:nvSpPr>
          <p:spPr>
            <a:xfrm>
              <a:off x="0" y="0"/>
              <a:ext cx="491662" cy="218051"/>
            </a:xfrm>
            <a:custGeom>
              <a:rect b="b" l="l" r="r" t="t"/>
              <a:pathLst>
                <a:path extrusionOk="0" h="218051" w="491662">
                  <a:moveTo>
                    <a:pt x="0" y="0"/>
                  </a:moveTo>
                  <a:lnTo>
                    <a:pt x="491662" y="0"/>
                  </a:lnTo>
                  <a:lnTo>
                    <a:pt x="491662" y="218051"/>
                  </a:lnTo>
                  <a:lnTo>
                    <a:pt x="0" y="218051"/>
                  </a:lnTo>
                  <a:close/>
                </a:path>
              </a:pathLst>
            </a:custGeom>
            <a:solidFill>
              <a:srgbClr val="D35C37"/>
            </a:solidFill>
            <a:ln cap="sq" cmpd="sng" w="47625">
              <a:solidFill>
                <a:srgbClr val="FFFFFF"/>
              </a:solidFill>
              <a:prstDash val="solid"/>
              <a:miter lim="8000"/>
              <a:headEnd len="sm" w="sm" type="none"/>
              <a:tailEnd len="sm" w="sm" type="none"/>
            </a:ln>
          </p:spPr>
        </p:sp>
        <p:sp>
          <p:nvSpPr>
            <p:cNvPr id="249" name="Google Shape;249;p7"/>
            <p:cNvSpPr txBox="1"/>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50" name="Google Shape;250;p7"/>
          <p:cNvCxnSpPr/>
          <p:nvPr/>
        </p:nvCxnSpPr>
        <p:spPr>
          <a:xfrm>
            <a:off x="14233772" y="3256398"/>
            <a:ext cx="1799324" cy="309"/>
          </a:xfrm>
          <a:prstGeom prst="straightConnector1">
            <a:avLst/>
          </a:prstGeom>
          <a:noFill/>
          <a:ln cap="flat" cmpd="sng" w="38100">
            <a:solidFill>
              <a:srgbClr val="FFFFFF"/>
            </a:solidFill>
            <a:prstDash val="solid"/>
            <a:round/>
            <a:headEnd len="sm" w="sm" type="none"/>
            <a:tailEnd len="med" w="med" type="stealth"/>
          </a:ln>
        </p:spPr>
      </p:cxnSp>
      <p:sp>
        <p:nvSpPr>
          <p:cNvPr id="251" name="Google Shape;251;p7"/>
          <p:cNvSpPr txBox="1"/>
          <p:nvPr/>
        </p:nvSpPr>
        <p:spPr>
          <a:xfrm>
            <a:off x="12578789" y="2893673"/>
            <a:ext cx="1443186"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CDPS 1</a:t>
            </a:r>
            <a:endParaRPr/>
          </a:p>
        </p:txBody>
      </p:sp>
      <p:sp>
        <p:nvSpPr>
          <p:cNvPr id="252" name="Google Shape;252;p7"/>
          <p:cNvSpPr txBox="1"/>
          <p:nvPr/>
        </p:nvSpPr>
        <p:spPr>
          <a:xfrm>
            <a:off x="15204872" y="2570927"/>
            <a:ext cx="506909"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P1</a:t>
            </a:r>
            <a:endParaRPr/>
          </a:p>
        </p:txBody>
      </p:sp>
      <p:sp>
        <p:nvSpPr>
          <p:cNvPr id="253" name="Google Shape;253;p7"/>
          <p:cNvSpPr txBox="1"/>
          <p:nvPr/>
        </p:nvSpPr>
        <p:spPr>
          <a:xfrm>
            <a:off x="15204872" y="3622728"/>
            <a:ext cx="506909"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P2</a:t>
            </a:r>
            <a:endParaRPr/>
          </a:p>
        </p:txBody>
      </p:sp>
      <p:sp>
        <p:nvSpPr>
          <p:cNvPr id="254" name="Google Shape;254;p7"/>
          <p:cNvSpPr txBox="1"/>
          <p:nvPr/>
        </p:nvSpPr>
        <p:spPr>
          <a:xfrm>
            <a:off x="15204872" y="5000242"/>
            <a:ext cx="506909"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P3</a:t>
            </a:r>
            <a:endParaRPr/>
          </a:p>
        </p:txBody>
      </p:sp>
      <p:cxnSp>
        <p:nvCxnSpPr>
          <p:cNvPr id="255" name="Google Shape;255;p7"/>
          <p:cNvCxnSpPr/>
          <p:nvPr/>
        </p:nvCxnSpPr>
        <p:spPr>
          <a:xfrm flipH="1">
            <a:off x="10686982" y="6206199"/>
            <a:ext cx="1003" cy="929026"/>
          </a:xfrm>
          <a:prstGeom prst="straightConnector1">
            <a:avLst/>
          </a:prstGeom>
          <a:noFill/>
          <a:ln cap="flat" cmpd="sng" w="123825">
            <a:solidFill>
              <a:srgbClr val="D35C37"/>
            </a:solidFill>
            <a:prstDash val="dash"/>
            <a:round/>
            <a:headEnd len="sm" w="sm" type="none"/>
            <a:tailEnd len="med" w="med" type="stealth"/>
          </a:ln>
        </p:spPr>
      </p:cxnSp>
      <p:sp>
        <p:nvSpPr>
          <p:cNvPr id="256" name="Google Shape;256;p7"/>
          <p:cNvSpPr txBox="1"/>
          <p:nvPr/>
        </p:nvSpPr>
        <p:spPr>
          <a:xfrm>
            <a:off x="8365092" y="7230542"/>
            <a:ext cx="5868680" cy="58039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PUNTO DE SEPARACIÓN</a:t>
            </a:r>
            <a:endParaRPr/>
          </a:p>
        </p:txBody>
      </p:sp>
      <p:sp>
        <p:nvSpPr>
          <p:cNvPr id="257" name="Google Shape;257;p7"/>
          <p:cNvSpPr txBox="1"/>
          <p:nvPr/>
        </p:nvSpPr>
        <p:spPr>
          <a:xfrm>
            <a:off x="11324260" y="838200"/>
            <a:ext cx="3799844" cy="1780540"/>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COSTO DESPUÉS DEL PUNTO DE SEPARACIÓN</a:t>
            </a:r>
            <a:endParaRPr/>
          </a:p>
        </p:txBody>
      </p:sp>
      <p:sp>
        <p:nvSpPr>
          <p:cNvPr id="258" name="Google Shape;258;p7"/>
          <p:cNvSpPr txBox="1"/>
          <p:nvPr/>
        </p:nvSpPr>
        <p:spPr>
          <a:xfrm>
            <a:off x="1016561" y="8001432"/>
            <a:ext cx="11350430" cy="1889759"/>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3600" u="none" cap="none" strike="noStrike">
                <a:solidFill>
                  <a:srgbClr val="FFFFFF"/>
                </a:solidFill>
                <a:latin typeface="Open Sans"/>
                <a:ea typeface="Open Sans"/>
                <a:cs typeface="Open Sans"/>
                <a:sym typeface="Open Sans"/>
              </a:rPr>
              <a:t>COSTO TOTAL P1 = COSTO CONJUNTO 1 + CDPS 1</a:t>
            </a:r>
            <a:endParaRPr/>
          </a:p>
          <a:p>
            <a:pPr indent="0" lvl="0" marL="0" marR="0" rtl="0" algn="just">
              <a:lnSpc>
                <a:spcPct val="140000"/>
              </a:lnSpc>
              <a:spcBef>
                <a:spcPts val="0"/>
              </a:spcBef>
              <a:spcAft>
                <a:spcPts val="0"/>
              </a:spcAft>
              <a:buNone/>
            </a:pPr>
            <a:r>
              <a:rPr b="1" i="0" lang="en-US" sz="3600" u="none" cap="none" strike="noStrike">
                <a:solidFill>
                  <a:srgbClr val="FFFFFF"/>
                </a:solidFill>
                <a:latin typeface="Open Sans"/>
                <a:ea typeface="Open Sans"/>
                <a:cs typeface="Open Sans"/>
                <a:sym typeface="Open Sans"/>
              </a:rPr>
              <a:t>COSTO TOTAL P2 = COSTO CONJUNTO 2</a:t>
            </a:r>
            <a:endParaRPr/>
          </a:p>
          <a:p>
            <a:pPr indent="0" lvl="0" marL="0" marR="0" rtl="0" algn="just">
              <a:lnSpc>
                <a:spcPct val="140000"/>
              </a:lnSpc>
              <a:spcBef>
                <a:spcPts val="0"/>
              </a:spcBef>
              <a:spcAft>
                <a:spcPts val="0"/>
              </a:spcAft>
              <a:buNone/>
            </a:pPr>
            <a:r>
              <a:rPr b="1" i="0" lang="en-US" sz="3600" u="none" cap="none" strike="noStrike">
                <a:solidFill>
                  <a:srgbClr val="FFFFFF"/>
                </a:solidFill>
                <a:latin typeface="Open Sans"/>
                <a:ea typeface="Open Sans"/>
                <a:cs typeface="Open Sans"/>
                <a:sym typeface="Open Sans"/>
              </a:rPr>
              <a:t>COSTO TOTAL P3 = COSTO CONJUNTO 3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262" name="Shape 262"/>
        <p:cNvGrpSpPr/>
        <p:nvPr/>
      </p:nvGrpSpPr>
      <p:grpSpPr>
        <a:xfrm>
          <a:off x="0" y="0"/>
          <a:ext cx="0" cy="0"/>
          <a:chOff x="0" y="0"/>
          <a:chExt cx="0" cy="0"/>
        </a:xfrm>
      </p:grpSpPr>
      <p:grpSp>
        <p:nvGrpSpPr>
          <p:cNvPr id="263" name="Google Shape;263;p8"/>
          <p:cNvGrpSpPr/>
          <p:nvPr/>
        </p:nvGrpSpPr>
        <p:grpSpPr>
          <a:xfrm>
            <a:off x="-1170324" y="-408333"/>
            <a:ext cx="4398048" cy="4398048"/>
            <a:chOff x="0" y="0"/>
            <a:chExt cx="812800" cy="812800"/>
          </a:xfrm>
        </p:grpSpPr>
        <p:sp>
          <p:nvSpPr>
            <p:cNvPr id="264" name="Google Shape;264;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6" name="Google Shape;266;p8"/>
          <p:cNvGrpSpPr/>
          <p:nvPr/>
        </p:nvGrpSpPr>
        <p:grpSpPr>
          <a:xfrm>
            <a:off x="5213716" y="7795023"/>
            <a:ext cx="6340754" cy="6340754"/>
            <a:chOff x="0" y="0"/>
            <a:chExt cx="812800" cy="812800"/>
          </a:xfrm>
        </p:grpSpPr>
        <p:sp>
          <p:nvSpPr>
            <p:cNvPr id="267" name="Google Shape;267;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9" name="Google Shape;269;p8"/>
          <p:cNvGrpSpPr/>
          <p:nvPr/>
        </p:nvGrpSpPr>
        <p:grpSpPr>
          <a:xfrm>
            <a:off x="16774776" y="3630267"/>
            <a:ext cx="4398048" cy="4398048"/>
            <a:chOff x="0" y="0"/>
            <a:chExt cx="812800" cy="812800"/>
          </a:xfrm>
        </p:grpSpPr>
        <p:sp>
          <p:nvSpPr>
            <p:cNvPr id="270" name="Google Shape;270;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2" name="Google Shape;272;p8"/>
          <p:cNvSpPr/>
          <p:nvPr/>
        </p:nvSpPr>
        <p:spPr>
          <a:xfrm>
            <a:off x="788661" y="1910331"/>
            <a:ext cx="7103663" cy="5884691"/>
          </a:xfrm>
          <a:custGeom>
            <a:rect b="b" l="l" r="r" t="t"/>
            <a:pathLst>
              <a:path extrusionOk="0" h="5884691" w="7103663">
                <a:moveTo>
                  <a:pt x="0" y="0"/>
                </a:moveTo>
                <a:lnTo>
                  <a:pt x="7103663" y="0"/>
                </a:lnTo>
                <a:lnTo>
                  <a:pt x="7103663" y="5884692"/>
                </a:lnTo>
                <a:lnTo>
                  <a:pt x="0" y="5884692"/>
                </a:lnTo>
                <a:lnTo>
                  <a:pt x="0" y="0"/>
                </a:lnTo>
                <a:close/>
              </a:path>
            </a:pathLst>
          </a:custGeom>
          <a:blipFill rotWithShape="1">
            <a:blip r:embed="rId3">
              <a:alphaModFix/>
            </a:blip>
            <a:stretch>
              <a:fillRect b="0" l="0" r="0" t="0"/>
            </a:stretch>
          </a:blipFill>
          <a:ln>
            <a:noFill/>
          </a:ln>
        </p:spPr>
      </p:sp>
      <p:sp>
        <p:nvSpPr>
          <p:cNvPr id="273" name="Google Shape;273;p8"/>
          <p:cNvSpPr/>
          <p:nvPr/>
        </p:nvSpPr>
        <p:spPr>
          <a:xfrm>
            <a:off x="9144000" y="1910331"/>
            <a:ext cx="8653365" cy="5821070"/>
          </a:xfrm>
          <a:custGeom>
            <a:rect b="b" l="l" r="r" t="t"/>
            <a:pathLst>
              <a:path extrusionOk="0" h="5821070" w="8653365">
                <a:moveTo>
                  <a:pt x="0" y="0"/>
                </a:moveTo>
                <a:lnTo>
                  <a:pt x="8653365" y="0"/>
                </a:lnTo>
                <a:lnTo>
                  <a:pt x="8653365" y="5821071"/>
                </a:lnTo>
                <a:lnTo>
                  <a:pt x="0" y="5821071"/>
                </a:lnTo>
                <a:lnTo>
                  <a:pt x="0" y="0"/>
                </a:lnTo>
                <a:close/>
              </a:path>
            </a:pathLst>
          </a:custGeom>
          <a:blipFill rotWithShape="1">
            <a:blip r:embed="rId4">
              <a:alphaModFix/>
            </a:blip>
            <a:stretch>
              <a:fillRect b="0" l="0" r="0" t="0"/>
            </a:stretch>
          </a:blipFill>
          <a:ln>
            <a:noFill/>
          </a:ln>
        </p:spPr>
      </p:sp>
      <p:sp>
        <p:nvSpPr>
          <p:cNvPr id="274" name="Google Shape;274;p8"/>
          <p:cNvSpPr txBox="1"/>
          <p:nvPr/>
        </p:nvSpPr>
        <p:spPr>
          <a:xfrm>
            <a:off x="276373" y="586500"/>
            <a:ext cx="16982927" cy="1775834"/>
          </a:xfrm>
          <a:prstGeom prst="rect">
            <a:avLst/>
          </a:prstGeom>
          <a:noFill/>
          <a:ln>
            <a:noFill/>
          </a:ln>
        </p:spPr>
        <p:txBody>
          <a:bodyPr anchorCtr="0" anchor="t" bIns="0" lIns="0" spcFirstLastPara="1" rIns="0" wrap="square" tIns="0">
            <a:spAutoFit/>
          </a:bodyPr>
          <a:lstStyle/>
          <a:p>
            <a:pPr indent="0" lvl="0" marL="0" marR="0" rtl="0" algn="ctr">
              <a:lnSpc>
                <a:spcPct val="105003"/>
              </a:lnSpc>
              <a:spcBef>
                <a:spcPts val="0"/>
              </a:spcBef>
              <a:spcAft>
                <a:spcPts val="0"/>
              </a:spcAft>
              <a:buNone/>
            </a:pPr>
            <a:r>
              <a:rPr b="0" i="0" lang="en-US" sz="6575" u="none" cap="none" strike="noStrike">
                <a:solidFill>
                  <a:srgbClr val="FFFFFF"/>
                </a:solidFill>
                <a:latin typeface="Raleway Black"/>
                <a:ea typeface="Raleway Black"/>
                <a:cs typeface="Raleway Black"/>
                <a:sym typeface="Raleway Black"/>
              </a:rPr>
              <a:t>PRODUCCION CONJUNTA: INDUSTRIA</a:t>
            </a:r>
            <a:endParaRPr/>
          </a:p>
          <a:p>
            <a:pPr indent="0" lvl="0" marL="0" marR="0" rtl="0" algn="ctr">
              <a:lnSpc>
                <a:spcPct val="105003"/>
              </a:lnSpc>
              <a:spcBef>
                <a:spcPts val="0"/>
              </a:spcBef>
              <a:spcAft>
                <a:spcPts val="0"/>
              </a:spcAft>
              <a:buNone/>
            </a:pPr>
            <a:r>
              <a:t/>
            </a:r>
            <a:endParaRPr b="0" i="0" sz="6575" u="none" cap="none" strike="noStrike">
              <a:solidFill>
                <a:srgbClr val="FFFFFF"/>
              </a:solidFill>
              <a:latin typeface="Raleway Black"/>
              <a:ea typeface="Raleway Black"/>
              <a:cs typeface="Raleway Black"/>
              <a:sym typeface="Raleway Black"/>
            </a:endParaRPr>
          </a:p>
        </p:txBody>
      </p:sp>
      <p:sp>
        <p:nvSpPr>
          <p:cNvPr id="275" name="Google Shape;275;p8"/>
          <p:cNvSpPr txBox="1"/>
          <p:nvPr/>
        </p:nvSpPr>
        <p:spPr>
          <a:xfrm>
            <a:off x="2353541" y="7737873"/>
            <a:ext cx="4446007" cy="453073"/>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599" u="none" cap="none" strike="noStrike">
                <a:solidFill>
                  <a:srgbClr val="FFFFFF"/>
                </a:solidFill>
                <a:latin typeface="Open Sans"/>
                <a:ea typeface="Open Sans"/>
                <a:cs typeface="Open Sans"/>
                <a:sym typeface="Open Sans"/>
              </a:rPr>
              <a:t>Destilado Hidrocarburos</a:t>
            </a:r>
            <a:endParaRPr/>
          </a:p>
        </p:txBody>
      </p:sp>
      <p:sp>
        <p:nvSpPr>
          <p:cNvPr id="276" name="Google Shape;276;p8"/>
          <p:cNvSpPr txBox="1"/>
          <p:nvPr/>
        </p:nvSpPr>
        <p:spPr>
          <a:xfrm>
            <a:off x="10830344" y="7773203"/>
            <a:ext cx="4446007" cy="453073"/>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599" u="none" cap="none" strike="noStrike">
                <a:solidFill>
                  <a:srgbClr val="FFFFFF"/>
                </a:solidFill>
                <a:latin typeface="Open Sans"/>
                <a:ea typeface="Open Sans"/>
                <a:cs typeface="Open Sans"/>
                <a:sym typeface="Open Sans"/>
              </a:rPr>
              <a:t>Extracción Minera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280" name="Shape 280"/>
        <p:cNvGrpSpPr/>
        <p:nvPr/>
      </p:nvGrpSpPr>
      <p:grpSpPr>
        <a:xfrm>
          <a:off x="0" y="0"/>
          <a:ext cx="0" cy="0"/>
          <a:chOff x="0" y="0"/>
          <a:chExt cx="0" cy="0"/>
        </a:xfrm>
      </p:grpSpPr>
      <p:grpSp>
        <p:nvGrpSpPr>
          <p:cNvPr id="281" name="Google Shape;281;p9"/>
          <p:cNvGrpSpPr/>
          <p:nvPr/>
        </p:nvGrpSpPr>
        <p:grpSpPr>
          <a:xfrm>
            <a:off x="-1170324" y="-408333"/>
            <a:ext cx="4398048" cy="4398048"/>
            <a:chOff x="0" y="0"/>
            <a:chExt cx="812800" cy="812800"/>
          </a:xfrm>
        </p:grpSpPr>
        <p:sp>
          <p:nvSpPr>
            <p:cNvPr id="282" name="Google Shape;282;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4" name="Google Shape;284;p9"/>
          <p:cNvGrpSpPr/>
          <p:nvPr/>
        </p:nvGrpSpPr>
        <p:grpSpPr>
          <a:xfrm>
            <a:off x="5213716" y="7795023"/>
            <a:ext cx="6340754" cy="6340754"/>
            <a:chOff x="0" y="0"/>
            <a:chExt cx="812800" cy="812800"/>
          </a:xfrm>
        </p:grpSpPr>
        <p:sp>
          <p:nvSpPr>
            <p:cNvPr id="285" name="Google Shape;285;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7" name="Google Shape;287;p9"/>
          <p:cNvGrpSpPr/>
          <p:nvPr/>
        </p:nvGrpSpPr>
        <p:grpSpPr>
          <a:xfrm>
            <a:off x="16774776" y="3630267"/>
            <a:ext cx="4398048" cy="4398048"/>
            <a:chOff x="0" y="0"/>
            <a:chExt cx="812800" cy="812800"/>
          </a:xfrm>
        </p:grpSpPr>
        <p:sp>
          <p:nvSpPr>
            <p:cNvPr id="288" name="Google Shape;288;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0" name="Google Shape;290;p9"/>
          <p:cNvSpPr/>
          <p:nvPr/>
        </p:nvSpPr>
        <p:spPr>
          <a:xfrm>
            <a:off x="6656690" y="5304546"/>
            <a:ext cx="2086969" cy="919040"/>
          </a:xfrm>
          <a:custGeom>
            <a:rect b="b" l="l" r="r" t="t"/>
            <a:pathLst>
              <a:path extrusionOk="0" h="919040" w="2086969">
                <a:moveTo>
                  <a:pt x="0" y="0"/>
                </a:moveTo>
                <a:lnTo>
                  <a:pt x="2086969" y="0"/>
                </a:lnTo>
                <a:lnTo>
                  <a:pt x="2086969" y="919040"/>
                </a:lnTo>
                <a:lnTo>
                  <a:pt x="0" y="919040"/>
                </a:lnTo>
                <a:lnTo>
                  <a:pt x="0" y="0"/>
                </a:lnTo>
                <a:close/>
              </a:path>
            </a:pathLst>
          </a:custGeom>
          <a:blipFill rotWithShape="1">
            <a:blip r:embed="rId3">
              <a:alphaModFix/>
            </a:blip>
            <a:stretch>
              <a:fillRect b="0" l="-124673" r="0" t="0"/>
            </a:stretch>
          </a:blipFill>
          <a:ln>
            <a:noFill/>
          </a:ln>
        </p:spPr>
      </p:sp>
      <p:sp>
        <p:nvSpPr>
          <p:cNvPr id="291" name="Google Shape;291;p9"/>
          <p:cNvSpPr/>
          <p:nvPr/>
        </p:nvSpPr>
        <p:spPr>
          <a:xfrm>
            <a:off x="3159619" y="3630267"/>
            <a:ext cx="3497071" cy="1371645"/>
          </a:xfrm>
          <a:custGeom>
            <a:rect b="b" l="l" r="r" t="t"/>
            <a:pathLst>
              <a:path extrusionOk="0" h="1371645" w="3497071">
                <a:moveTo>
                  <a:pt x="0" y="0"/>
                </a:moveTo>
                <a:lnTo>
                  <a:pt x="3497071" y="0"/>
                </a:lnTo>
                <a:lnTo>
                  <a:pt x="3497071" y="1371645"/>
                </a:lnTo>
                <a:lnTo>
                  <a:pt x="0" y="1371645"/>
                </a:lnTo>
                <a:lnTo>
                  <a:pt x="0" y="0"/>
                </a:lnTo>
                <a:close/>
              </a:path>
            </a:pathLst>
          </a:custGeom>
          <a:blipFill rotWithShape="1">
            <a:blip r:embed="rId4">
              <a:alphaModFix/>
            </a:blip>
            <a:stretch>
              <a:fillRect b="0" l="-1752" r="-86514" t="0"/>
            </a:stretch>
          </a:blipFill>
          <a:ln>
            <a:noFill/>
          </a:ln>
        </p:spPr>
      </p:sp>
      <p:sp>
        <p:nvSpPr>
          <p:cNvPr id="292" name="Google Shape;292;p9"/>
          <p:cNvSpPr/>
          <p:nvPr/>
        </p:nvSpPr>
        <p:spPr>
          <a:xfrm>
            <a:off x="14685829" y="3507170"/>
            <a:ext cx="2088948" cy="2088948"/>
          </a:xfrm>
          <a:custGeom>
            <a:rect b="b" l="l" r="r" t="t"/>
            <a:pathLst>
              <a:path extrusionOk="0" h="2088948" w="2088948">
                <a:moveTo>
                  <a:pt x="0" y="0"/>
                </a:moveTo>
                <a:lnTo>
                  <a:pt x="2088947" y="0"/>
                </a:lnTo>
                <a:lnTo>
                  <a:pt x="2088947" y="2088947"/>
                </a:lnTo>
                <a:lnTo>
                  <a:pt x="0" y="2088947"/>
                </a:lnTo>
                <a:lnTo>
                  <a:pt x="0" y="0"/>
                </a:lnTo>
                <a:close/>
              </a:path>
            </a:pathLst>
          </a:custGeom>
          <a:blipFill rotWithShape="1">
            <a:blip r:embed="rId5">
              <a:alphaModFix/>
            </a:blip>
            <a:stretch>
              <a:fillRect b="0" l="0" r="0" t="0"/>
            </a:stretch>
          </a:blipFill>
          <a:ln>
            <a:noFill/>
          </a:ln>
        </p:spPr>
      </p:sp>
      <p:sp>
        <p:nvSpPr>
          <p:cNvPr id="293" name="Google Shape;293;p9"/>
          <p:cNvSpPr/>
          <p:nvPr/>
        </p:nvSpPr>
        <p:spPr>
          <a:xfrm>
            <a:off x="10685657" y="5979164"/>
            <a:ext cx="2538189" cy="1815859"/>
          </a:xfrm>
          <a:custGeom>
            <a:rect b="b" l="l" r="r" t="t"/>
            <a:pathLst>
              <a:path extrusionOk="0" h="1815859" w="2538189">
                <a:moveTo>
                  <a:pt x="0" y="0"/>
                </a:moveTo>
                <a:lnTo>
                  <a:pt x="2538189" y="0"/>
                </a:lnTo>
                <a:lnTo>
                  <a:pt x="2538189" y="1815859"/>
                </a:lnTo>
                <a:lnTo>
                  <a:pt x="0" y="1815859"/>
                </a:lnTo>
                <a:lnTo>
                  <a:pt x="0" y="0"/>
                </a:lnTo>
                <a:close/>
              </a:path>
            </a:pathLst>
          </a:custGeom>
          <a:blipFill rotWithShape="1">
            <a:blip r:embed="rId6">
              <a:alphaModFix/>
            </a:blip>
            <a:stretch>
              <a:fillRect b="0" l="0" r="0" t="0"/>
            </a:stretch>
          </a:blipFill>
          <a:ln>
            <a:noFill/>
          </a:ln>
        </p:spPr>
      </p:sp>
      <p:sp>
        <p:nvSpPr>
          <p:cNvPr id="294" name="Google Shape;294;p9"/>
          <p:cNvSpPr/>
          <p:nvPr/>
        </p:nvSpPr>
        <p:spPr>
          <a:xfrm>
            <a:off x="14685829" y="6040307"/>
            <a:ext cx="2088948" cy="1754716"/>
          </a:xfrm>
          <a:custGeom>
            <a:rect b="b" l="l" r="r" t="t"/>
            <a:pathLst>
              <a:path extrusionOk="0" h="1754716" w="2088948">
                <a:moveTo>
                  <a:pt x="0" y="0"/>
                </a:moveTo>
                <a:lnTo>
                  <a:pt x="2088947" y="0"/>
                </a:lnTo>
                <a:lnTo>
                  <a:pt x="2088947" y="1754716"/>
                </a:lnTo>
                <a:lnTo>
                  <a:pt x="0" y="1754716"/>
                </a:lnTo>
                <a:lnTo>
                  <a:pt x="0" y="0"/>
                </a:lnTo>
                <a:close/>
              </a:path>
            </a:pathLst>
          </a:custGeom>
          <a:blipFill rotWithShape="1">
            <a:blip r:embed="rId7">
              <a:alphaModFix/>
            </a:blip>
            <a:stretch>
              <a:fillRect b="0" l="0" r="0" t="0"/>
            </a:stretch>
          </a:blipFill>
          <a:ln>
            <a:noFill/>
          </a:ln>
        </p:spPr>
      </p:sp>
      <p:sp>
        <p:nvSpPr>
          <p:cNvPr id="295" name="Google Shape;295;p9"/>
          <p:cNvSpPr/>
          <p:nvPr/>
        </p:nvSpPr>
        <p:spPr>
          <a:xfrm>
            <a:off x="10776753" y="3595111"/>
            <a:ext cx="2355998" cy="1979038"/>
          </a:xfrm>
          <a:custGeom>
            <a:rect b="b" l="l" r="r" t="t"/>
            <a:pathLst>
              <a:path extrusionOk="0" h="1979038" w="2355998">
                <a:moveTo>
                  <a:pt x="0" y="0"/>
                </a:moveTo>
                <a:lnTo>
                  <a:pt x="2355998" y="0"/>
                </a:lnTo>
                <a:lnTo>
                  <a:pt x="2355998" y="1979038"/>
                </a:lnTo>
                <a:lnTo>
                  <a:pt x="0" y="1979038"/>
                </a:lnTo>
                <a:lnTo>
                  <a:pt x="0" y="0"/>
                </a:lnTo>
                <a:close/>
              </a:path>
            </a:pathLst>
          </a:custGeom>
          <a:blipFill rotWithShape="1">
            <a:blip r:embed="rId8">
              <a:alphaModFix/>
            </a:blip>
            <a:stretch>
              <a:fillRect b="0" l="0" r="0" t="0"/>
            </a:stretch>
          </a:blipFill>
          <a:ln>
            <a:noFill/>
          </a:ln>
        </p:spPr>
      </p:sp>
      <p:sp>
        <p:nvSpPr>
          <p:cNvPr id="296" name="Google Shape;296;p9"/>
          <p:cNvSpPr txBox="1"/>
          <p:nvPr/>
        </p:nvSpPr>
        <p:spPr>
          <a:xfrm>
            <a:off x="652537" y="305946"/>
            <a:ext cx="16982927" cy="1775834"/>
          </a:xfrm>
          <a:prstGeom prst="rect">
            <a:avLst/>
          </a:prstGeom>
          <a:noFill/>
          <a:ln>
            <a:noFill/>
          </a:ln>
        </p:spPr>
        <p:txBody>
          <a:bodyPr anchorCtr="0" anchor="t" bIns="0" lIns="0" spcFirstLastPara="1" rIns="0" wrap="square" tIns="0">
            <a:spAutoFit/>
          </a:bodyPr>
          <a:lstStyle/>
          <a:p>
            <a:pPr indent="0" lvl="0" marL="0" marR="0" rtl="0" algn="ctr">
              <a:lnSpc>
                <a:spcPct val="105003"/>
              </a:lnSpc>
              <a:spcBef>
                <a:spcPts val="0"/>
              </a:spcBef>
              <a:spcAft>
                <a:spcPts val="0"/>
              </a:spcAft>
              <a:buNone/>
            </a:pPr>
            <a:r>
              <a:rPr b="0" i="0" lang="en-US" sz="6575" u="none" cap="none" strike="noStrike">
                <a:solidFill>
                  <a:srgbClr val="FFFFFF"/>
                </a:solidFill>
                <a:latin typeface="Raleway Black"/>
                <a:ea typeface="Raleway Black"/>
                <a:cs typeface="Raleway Black"/>
                <a:sym typeface="Raleway Black"/>
              </a:rPr>
              <a:t>PRODUCCION CONJUNTA: SERVICIOS</a:t>
            </a:r>
            <a:endParaRPr/>
          </a:p>
          <a:p>
            <a:pPr indent="0" lvl="0" marL="0" marR="0" rtl="0" algn="ctr">
              <a:lnSpc>
                <a:spcPct val="105003"/>
              </a:lnSpc>
              <a:spcBef>
                <a:spcPts val="0"/>
              </a:spcBef>
              <a:spcAft>
                <a:spcPts val="0"/>
              </a:spcAft>
              <a:buNone/>
            </a:pPr>
            <a:r>
              <a:t/>
            </a:r>
            <a:endParaRPr b="0" i="0" sz="6575" u="none" cap="none" strike="noStrike">
              <a:solidFill>
                <a:srgbClr val="FFFFFF"/>
              </a:solidFill>
              <a:latin typeface="Raleway Black"/>
              <a:ea typeface="Raleway Black"/>
              <a:cs typeface="Raleway Black"/>
              <a:sym typeface="Raleway Black"/>
            </a:endParaRPr>
          </a:p>
        </p:txBody>
      </p:sp>
      <p:sp>
        <p:nvSpPr>
          <p:cNvPr id="297" name="Google Shape;297;p9"/>
          <p:cNvSpPr txBox="1"/>
          <p:nvPr/>
        </p:nvSpPr>
        <p:spPr>
          <a:xfrm>
            <a:off x="341366" y="5516999"/>
            <a:ext cx="2886358" cy="436984"/>
          </a:xfrm>
          <a:prstGeom prst="rect">
            <a:avLst/>
          </a:prstGeom>
          <a:noFill/>
          <a:ln>
            <a:noFill/>
          </a:ln>
        </p:spPr>
        <p:txBody>
          <a:bodyPr anchorCtr="0" anchor="t" bIns="0" lIns="0" spcFirstLastPara="1" rIns="0" wrap="square" tIns="0">
            <a:spAutoFit/>
          </a:bodyPr>
          <a:lstStyle/>
          <a:p>
            <a:pPr indent="0" lvl="0" marL="0" marR="0" rtl="0" algn="ctr">
              <a:lnSpc>
                <a:spcPct val="140015"/>
              </a:lnSpc>
              <a:spcBef>
                <a:spcPts val="0"/>
              </a:spcBef>
              <a:spcAft>
                <a:spcPts val="0"/>
              </a:spcAft>
              <a:buNone/>
            </a:pPr>
            <a:r>
              <a:rPr b="1" i="0" lang="en-US" sz="2504" u="none" cap="none" strike="noStrike">
                <a:solidFill>
                  <a:srgbClr val="FFFFFF"/>
                </a:solidFill>
                <a:latin typeface="Open Sans"/>
                <a:ea typeface="Open Sans"/>
                <a:cs typeface="Open Sans"/>
                <a:sym typeface="Open Sans"/>
              </a:rPr>
              <a:t>Carreras de Grado</a:t>
            </a:r>
            <a:endParaRPr/>
          </a:p>
        </p:txBody>
      </p:sp>
      <p:sp>
        <p:nvSpPr>
          <p:cNvPr id="298" name="Google Shape;298;p9"/>
          <p:cNvSpPr txBox="1"/>
          <p:nvPr/>
        </p:nvSpPr>
        <p:spPr>
          <a:xfrm>
            <a:off x="3227724" y="6839469"/>
            <a:ext cx="3486467"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FFFFFF"/>
                </a:solidFill>
                <a:latin typeface="Open Sans"/>
                <a:ea typeface="Open Sans"/>
                <a:cs typeface="Open Sans"/>
                <a:sym typeface="Open Sans"/>
              </a:rPr>
              <a:t>Carreras de pos-grado</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302" name="Shape 302"/>
        <p:cNvGrpSpPr/>
        <p:nvPr/>
      </p:nvGrpSpPr>
      <p:grpSpPr>
        <a:xfrm>
          <a:off x="0" y="0"/>
          <a:ext cx="0" cy="0"/>
          <a:chOff x="0" y="0"/>
          <a:chExt cx="0" cy="0"/>
        </a:xfrm>
      </p:grpSpPr>
      <p:grpSp>
        <p:nvGrpSpPr>
          <p:cNvPr id="303" name="Google Shape;303;p10"/>
          <p:cNvGrpSpPr/>
          <p:nvPr/>
        </p:nvGrpSpPr>
        <p:grpSpPr>
          <a:xfrm>
            <a:off x="-1170324" y="-408333"/>
            <a:ext cx="4398048" cy="4398048"/>
            <a:chOff x="0" y="0"/>
            <a:chExt cx="812800" cy="812800"/>
          </a:xfrm>
        </p:grpSpPr>
        <p:sp>
          <p:nvSpPr>
            <p:cNvPr id="304" name="Google Shape;304;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6" name="Google Shape;306;p10"/>
          <p:cNvGrpSpPr/>
          <p:nvPr/>
        </p:nvGrpSpPr>
        <p:grpSpPr>
          <a:xfrm>
            <a:off x="5213716" y="7795023"/>
            <a:ext cx="6340754" cy="6340754"/>
            <a:chOff x="0" y="0"/>
            <a:chExt cx="812800" cy="812800"/>
          </a:xfrm>
        </p:grpSpPr>
        <p:sp>
          <p:nvSpPr>
            <p:cNvPr id="307" name="Google Shape;307;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9" name="Google Shape;309;p10"/>
          <p:cNvGrpSpPr/>
          <p:nvPr/>
        </p:nvGrpSpPr>
        <p:grpSpPr>
          <a:xfrm>
            <a:off x="16774776" y="3630267"/>
            <a:ext cx="4398048" cy="4398048"/>
            <a:chOff x="0" y="0"/>
            <a:chExt cx="812800" cy="812800"/>
          </a:xfrm>
        </p:grpSpPr>
        <p:sp>
          <p:nvSpPr>
            <p:cNvPr id="310" name="Google Shape;310;p1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1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2" name="Google Shape;312;p10"/>
          <p:cNvSpPr/>
          <p:nvPr/>
        </p:nvSpPr>
        <p:spPr>
          <a:xfrm>
            <a:off x="2484838" y="3127910"/>
            <a:ext cx="2179610" cy="2179610"/>
          </a:xfrm>
          <a:custGeom>
            <a:rect b="b" l="l" r="r" t="t"/>
            <a:pathLst>
              <a:path extrusionOk="0" h="2179610" w="2179610">
                <a:moveTo>
                  <a:pt x="0" y="0"/>
                </a:moveTo>
                <a:lnTo>
                  <a:pt x="2179610" y="0"/>
                </a:lnTo>
                <a:lnTo>
                  <a:pt x="2179610" y="2179610"/>
                </a:lnTo>
                <a:lnTo>
                  <a:pt x="0" y="2179610"/>
                </a:lnTo>
                <a:lnTo>
                  <a:pt x="0" y="0"/>
                </a:lnTo>
                <a:close/>
              </a:path>
            </a:pathLst>
          </a:custGeom>
          <a:blipFill rotWithShape="1">
            <a:blip r:embed="rId3">
              <a:alphaModFix/>
            </a:blip>
            <a:stretch>
              <a:fillRect b="0" l="0" r="0" t="0"/>
            </a:stretch>
          </a:blipFill>
          <a:ln>
            <a:noFill/>
          </a:ln>
        </p:spPr>
      </p:sp>
      <p:sp>
        <p:nvSpPr>
          <p:cNvPr id="313" name="Google Shape;313;p10"/>
          <p:cNvSpPr/>
          <p:nvPr/>
        </p:nvSpPr>
        <p:spPr>
          <a:xfrm>
            <a:off x="11979019" y="2489166"/>
            <a:ext cx="2168944" cy="3001097"/>
          </a:xfrm>
          <a:custGeom>
            <a:rect b="b" l="l" r="r" t="t"/>
            <a:pathLst>
              <a:path extrusionOk="0" h="3001097" w="2168944">
                <a:moveTo>
                  <a:pt x="0" y="0"/>
                </a:moveTo>
                <a:lnTo>
                  <a:pt x="2168944" y="0"/>
                </a:lnTo>
                <a:lnTo>
                  <a:pt x="2168944" y="3001097"/>
                </a:lnTo>
                <a:lnTo>
                  <a:pt x="0" y="3001097"/>
                </a:lnTo>
                <a:lnTo>
                  <a:pt x="0" y="0"/>
                </a:lnTo>
                <a:close/>
              </a:path>
            </a:pathLst>
          </a:custGeom>
          <a:blipFill rotWithShape="1">
            <a:blip r:embed="rId4">
              <a:alphaModFix/>
            </a:blip>
            <a:stretch>
              <a:fillRect b="0" l="0" r="0" t="0"/>
            </a:stretch>
          </a:blipFill>
          <a:ln>
            <a:noFill/>
          </a:ln>
        </p:spPr>
      </p:sp>
      <p:sp>
        <p:nvSpPr>
          <p:cNvPr id="314" name="Google Shape;314;p10"/>
          <p:cNvSpPr txBox="1"/>
          <p:nvPr/>
        </p:nvSpPr>
        <p:spPr>
          <a:xfrm>
            <a:off x="652537" y="305946"/>
            <a:ext cx="16982927" cy="2639221"/>
          </a:xfrm>
          <a:prstGeom prst="rect">
            <a:avLst/>
          </a:prstGeom>
          <a:noFill/>
          <a:ln>
            <a:noFill/>
          </a:ln>
        </p:spPr>
        <p:txBody>
          <a:bodyPr anchorCtr="0" anchor="t" bIns="0" lIns="0" spcFirstLastPara="1" rIns="0" wrap="square" tIns="0">
            <a:spAutoFit/>
          </a:bodyPr>
          <a:lstStyle/>
          <a:p>
            <a:pPr indent="0" lvl="0" marL="0" marR="0" rtl="0" algn="ctr">
              <a:lnSpc>
                <a:spcPct val="105003"/>
              </a:lnSpc>
              <a:spcBef>
                <a:spcPts val="0"/>
              </a:spcBef>
              <a:spcAft>
                <a:spcPts val="0"/>
              </a:spcAft>
              <a:buNone/>
            </a:pPr>
            <a:r>
              <a:rPr b="0" i="0" lang="en-US" sz="6575" u="none" cap="none" strike="noStrike">
                <a:solidFill>
                  <a:srgbClr val="FFFFFF"/>
                </a:solidFill>
                <a:latin typeface="Raleway Black"/>
                <a:ea typeface="Raleway Black"/>
                <a:cs typeface="Raleway Black"/>
                <a:sym typeface="Raleway Black"/>
              </a:rPr>
              <a:t>PRODUCCION CONJUNTA: SECTOR PÙBLICO</a:t>
            </a:r>
            <a:endParaRPr/>
          </a:p>
          <a:p>
            <a:pPr indent="0" lvl="0" marL="0" marR="0" rtl="0" algn="ctr">
              <a:lnSpc>
                <a:spcPct val="105003"/>
              </a:lnSpc>
              <a:spcBef>
                <a:spcPts val="0"/>
              </a:spcBef>
              <a:spcAft>
                <a:spcPts val="0"/>
              </a:spcAft>
              <a:buNone/>
            </a:pPr>
            <a:r>
              <a:t/>
            </a:r>
            <a:endParaRPr b="0" i="0" sz="6575" u="none" cap="none" strike="noStrike">
              <a:solidFill>
                <a:srgbClr val="FFFFFF"/>
              </a:solidFill>
              <a:latin typeface="Raleway Black"/>
              <a:ea typeface="Raleway Black"/>
              <a:cs typeface="Raleway Black"/>
              <a:sym typeface="Raleway Black"/>
            </a:endParaRPr>
          </a:p>
        </p:txBody>
      </p:sp>
      <p:sp>
        <p:nvSpPr>
          <p:cNvPr id="315" name="Google Shape;315;p10"/>
          <p:cNvSpPr txBox="1"/>
          <p:nvPr/>
        </p:nvSpPr>
        <p:spPr>
          <a:xfrm>
            <a:off x="1837100" y="5518838"/>
            <a:ext cx="3693294" cy="398746"/>
          </a:xfrm>
          <a:prstGeom prst="rect">
            <a:avLst/>
          </a:prstGeom>
          <a:noFill/>
          <a:ln>
            <a:noFill/>
          </a:ln>
        </p:spPr>
        <p:txBody>
          <a:bodyPr anchorCtr="0" anchor="t" bIns="0" lIns="0" spcFirstLastPara="1" rIns="0" wrap="square" tIns="0">
            <a:spAutoFit/>
          </a:bodyPr>
          <a:lstStyle/>
          <a:p>
            <a:pPr indent="0" lvl="0" marL="0" marR="0" rtl="0" algn="ctr">
              <a:lnSpc>
                <a:spcPct val="104996"/>
              </a:lnSpc>
              <a:spcBef>
                <a:spcPts val="0"/>
              </a:spcBef>
              <a:spcAft>
                <a:spcPts val="0"/>
              </a:spcAft>
              <a:buNone/>
            </a:pPr>
            <a:r>
              <a:rPr b="0" i="0" lang="en-US" sz="2842" u="none" cap="none" strike="noStrike">
                <a:solidFill>
                  <a:srgbClr val="FFFFFF"/>
                </a:solidFill>
                <a:latin typeface="Raleway Black"/>
                <a:ea typeface="Raleway Black"/>
                <a:cs typeface="Raleway Black"/>
                <a:sym typeface="Raleway Black"/>
              </a:rPr>
              <a:t>ATENCION PRIMARIA</a:t>
            </a:r>
            <a:endParaRPr/>
          </a:p>
        </p:txBody>
      </p:sp>
      <p:sp>
        <p:nvSpPr>
          <p:cNvPr id="316" name="Google Shape;316;p10"/>
          <p:cNvSpPr txBox="1"/>
          <p:nvPr/>
        </p:nvSpPr>
        <p:spPr>
          <a:xfrm>
            <a:off x="6717723" y="7488376"/>
            <a:ext cx="3693294" cy="771927"/>
          </a:xfrm>
          <a:prstGeom prst="rect">
            <a:avLst/>
          </a:prstGeom>
          <a:noFill/>
          <a:ln>
            <a:noFill/>
          </a:ln>
        </p:spPr>
        <p:txBody>
          <a:bodyPr anchorCtr="0" anchor="t" bIns="0" lIns="0" spcFirstLastPara="1" rIns="0" wrap="square" tIns="0">
            <a:spAutoFit/>
          </a:bodyPr>
          <a:lstStyle/>
          <a:p>
            <a:pPr indent="0" lvl="0" marL="0" marR="0" rtl="0" algn="ctr">
              <a:lnSpc>
                <a:spcPct val="104996"/>
              </a:lnSpc>
              <a:spcBef>
                <a:spcPts val="0"/>
              </a:spcBef>
              <a:spcAft>
                <a:spcPts val="0"/>
              </a:spcAft>
              <a:buNone/>
            </a:pPr>
            <a:r>
              <a:rPr b="0" i="0" lang="en-US" sz="2842" u="none" cap="none" strike="noStrike">
                <a:solidFill>
                  <a:srgbClr val="FFFFFF"/>
                </a:solidFill>
                <a:latin typeface="Raleway Black"/>
                <a:ea typeface="Raleway Black"/>
                <a:cs typeface="Raleway Black"/>
                <a:sym typeface="Raleway Black"/>
              </a:rPr>
              <a:t>SERVICIOS SOCIALES</a:t>
            </a:r>
            <a:endParaRPr/>
          </a:p>
          <a:p>
            <a:pPr indent="0" lvl="0" marL="0" marR="0" rtl="0" algn="ctr">
              <a:lnSpc>
                <a:spcPct val="104996"/>
              </a:lnSpc>
              <a:spcBef>
                <a:spcPts val="0"/>
              </a:spcBef>
              <a:spcAft>
                <a:spcPts val="0"/>
              </a:spcAft>
              <a:buNone/>
            </a:pPr>
            <a:r>
              <a:t/>
            </a:r>
            <a:endParaRPr b="0" i="0" sz="2842" u="none" cap="none" strike="noStrike">
              <a:solidFill>
                <a:srgbClr val="FFFFFF"/>
              </a:solidFill>
              <a:latin typeface="Raleway Black"/>
              <a:ea typeface="Raleway Black"/>
              <a:cs typeface="Raleway Black"/>
              <a:sym typeface="Raleway Black"/>
            </a:endParaRPr>
          </a:p>
        </p:txBody>
      </p:sp>
      <p:sp>
        <p:nvSpPr>
          <p:cNvPr id="317" name="Google Shape;317;p10"/>
          <p:cNvSpPr txBox="1"/>
          <p:nvPr/>
        </p:nvSpPr>
        <p:spPr>
          <a:xfrm>
            <a:off x="6717723" y="6431417"/>
            <a:ext cx="3693294" cy="771927"/>
          </a:xfrm>
          <a:prstGeom prst="rect">
            <a:avLst/>
          </a:prstGeom>
          <a:noFill/>
          <a:ln>
            <a:noFill/>
          </a:ln>
        </p:spPr>
        <p:txBody>
          <a:bodyPr anchorCtr="0" anchor="t" bIns="0" lIns="0" spcFirstLastPara="1" rIns="0" wrap="square" tIns="0">
            <a:spAutoFit/>
          </a:bodyPr>
          <a:lstStyle/>
          <a:p>
            <a:pPr indent="0" lvl="0" marL="0" marR="0" rtl="0" algn="ctr">
              <a:lnSpc>
                <a:spcPct val="104996"/>
              </a:lnSpc>
              <a:spcBef>
                <a:spcPts val="0"/>
              </a:spcBef>
              <a:spcAft>
                <a:spcPts val="0"/>
              </a:spcAft>
              <a:buNone/>
            </a:pPr>
            <a:r>
              <a:rPr b="0" i="0" lang="en-US" sz="2842" u="none" cap="none" strike="noStrike">
                <a:solidFill>
                  <a:srgbClr val="FFFFFF"/>
                </a:solidFill>
                <a:latin typeface="Raleway Black"/>
                <a:ea typeface="Raleway Black"/>
                <a:cs typeface="Raleway Black"/>
                <a:sym typeface="Raleway Black"/>
              </a:rPr>
              <a:t>GESTION DE EMERGENCIAS</a:t>
            </a:r>
            <a:endParaRPr/>
          </a:p>
        </p:txBody>
      </p:sp>
      <p:sp>
        <p:nvSpPr>
          <p:cNvPr id="318" name="Google Shape;318;p10"/>
          <p:cNvSpPr txBox="1"/>
          <p:nvPr/>
        </p:nvSpPr>
        <p:spPr>
          <a:xfrm>
            <a:off x="6717723" y="5914432"/>
            <a:ext cx="3693294" cy="398746"/>
          </a:xfrm>
          <a:prstGeom prst="rect">
            <a:avLst/>
          </a:prstGeom>
          <a:noFill/>
          <a:ln>
            <a:noFill/>
          </a:ln>
        </p:spPr>
        <p:txBody>
          <a:bodyPr anchorCtr="0" anchor="t" bIns="0" lIns="0" spcFirstLastPara="1" rIns="0" wrap="square" tIns="0">
            <a:spAutoFit/>
          </a:bodyPr>
          <a:lstStyle/>
          <a:p>
            <a:pPr indent="0" lvl="0" marL="0" marR="0" rtl="0" algn="ctr">
              <a:lnSpc>
                <a:spcPct val="104996"/>
              </a:lnSpc>
              <a:spcBef>
                <a:spcPts val="0"/>
              </a:spcBef>
              <a:spcAft>
                <a:spcPts val="0"/>
              </a:spcAft>
              <a:buNone/>
            </a:pPr>
            <a:r>
              <a:rPr b="0" i="0" lang="en-US" sz="2842" u="none" cap="none" strike="noStrike">
                <a:solidFill>
                  <a:srgbClr val="FFFFFF"/>
                </a:solidFill>
                <a:latin typeface="Raleway Black"/>
                <a:ea typeface="Raleway Black"/>
                <a:cs typeface="Raleway Black"/>
                <a:sym typeface="Raleway Black"/>
              </a:rPr>
              <a:t>LABORATORIOS</a:t>
            </a:r>
            <a:endParaRPr/>
          </a:p>
        </p:txBody>
      </p:sp>
      <p:sp>
        <p:nvSpPr>
          <p:cNvPr id="319" name="Google Shape;319;p10"/>
          <p:cNvSpPr txBox="1"/>
          <p:nvPr/>
        </p:nvSpPr>
        <p:spPr>
          <a:xfrm>
            <a:off x="11034060" y="5625260"/>
            <a:ext cx="3693294" cy="398746"/>
          </a:xfrm>
          <a:prstGeom prst="rect">
            <a:avLst/>
          </a:prstGeom>
          <a:noFill/>
          <a:ln>
            <a:noFill/>
          </a:ln>
        </p:spPr>
        <p:txBody>
          <a:bodyPr anchorCtr="0" anchor="t" bIns="0" lIns="0" spcFirstLastPara="1" rIns="0" wrap="square" tIns="0">
            <a:spAutoFit/>
          </a:bodyPr>
          <a:lstStyle/>
          <a:p>
            <a:pPr indent="0" lvl="0" marL="0" marR="0" rtl="0" algn="ctr">
              <a:lnSpc>
                <a:spcPct val="104996"/>
              </a:lnSpc>
              <a:spcBef>
                <a:spcPts val="0"/>
              </a:spcBef>
              <a:spcAft>
                <a:spcPts val="0"/>
              </a:spcAft>
              <a:buNone/>
            </a:pPr>
            <a:r>
              <a:rPr b="0" i="0" lang="en-US" sz="2842" u="none" cap="none" strike="noStrike">
                <a:solidFill>
                  <a:srgbClr val="FFFFFF"/>
                </a:solidFill>
                <a:latin typeface="Raleway Black"/>
                <a:ea typeface="Raleway Black"/>
                <a:cs typeface="Raleway Black"/>
                <a:sym typeface="Raleway Black"/>
              </a:rPr>
              <a:t>TRIBUNALES</a:t>
            </a:r>
            <a:endParaRPr/>
          </a:p>
        </p:txBody>
      </p:sp>
      <p:cxnSp>
        <p:nvCxnSpPr>
          <p:cNvPr id="320" name="Google Shape;320;p10"/>
          <p:cNvCxnSpPr/>
          <p:nvPr/>
        </p:nvCxnSpPr>
        <p:spPr>
          <a:xfrm>
            <a:off x="3683747" y="5917584"/>
            <a:ext cx="3033975" cy="885509"/>
          </a:xfrm>
          <a:prstGeom prst="straightConnector1">
            <a:avLst/>
          </a:prstGeom>
          <a:noFill/>
          <a:ln cap="flat" cmpd="sng" w="38100">
            <a:solidFill>
              <a:srgbClr val="FFFFFF"/>
            </a:solidFill>
            <a:prstDash val="solid"/>
            <a:round/>
            <a:headEnd len="med" w="med" type="stealth"/>
            <a:tailEnd len="med" w="med" type="stealth"/>
          </a:ln>
        </p:spPr>
      </p:cxnSp>
      <p:cxnSp>
        <p:nvCxnSpPr>
          <p:cNvPr id="321" name="Google Shape;321;p10"/>
          <p:cNvCxnSpPr/>
          <p:nvPr/>
        </p:nvCxnSpPr>
        <p:spPr>
          <a:xfrm flipH="1" rot="10800000">
            <a:off x="10411017" y="6024006"/>
            <a:ext cx="2469691" cy="779087"/>
          </a:xfrm>
          <a:prstGeom prst="straightConnector1">
            <a:avLst/>
          </a:prstGeom>
          <a:noFill/>
          <a:ln cap="flat" cmpd="sng" w="38100">
            <a:solidFill>
              <a:srgbClr val="FFFFFF"/>
            </a:solidFill>
            <a:prstDash val="solid"/>
            <a:round/>
            <a:headEnd len="med" w="med" type="stealth"/>
            <a:tailEnd len="med" w="med" type="stealth"/>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325" name="Shape 325"/>
        <p:cNvGrpSpPr/>
        <p:nvPr/>
      </p:nvGrpSpPr>
      <p:grpSpPr>
        <a:xfrm>
          <a:off x="0" y="0"/>
          <a:ext cx="0" cy="0"/>
          <a:chOff x="0" y="0"/>
          <a:chExt cx="0" cy="0"/>
        </a:xfrm>
      </p:grpSpPr>
      <p:grpSp>
        <p:nvGrpSpPr>
          <p:cNvPr id="326" name="Google Shape;326;p11"/>
          <p:cNvGrpSpPr/>
          <p:nvPr/>
        </p:nvGrpSpPr>
        <p:grpSpPr>
          <a:xfrm>
            <a:off x="-1170324" y="-408333"/>
            <a:ext cx="4398048" cy="4398048"/>
            <a:chOff x="0" y="0"/>
            <a:chExt cx="812800" cy="812800"/>
          </a:xfrm>
        </p:grpSpPr>
        <p:sp>
          <p:nvSpPr>
            <p:cNvPr id="327" name="Google Shape;327;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9" name="Google Shape;329;p11"/>
          <p:cNvGrpSpPr/>
          <p:nvPr/>
        </p:nvGrpSpPr>
        <p:grpSpPr>
          <a:xfrm>
            <a:off x="5213716" y="7795023"/>
            <a:ext cx="6340754" cy="6340754"/>
            <a:chOff x="0" y="0"/>
            <a:chExt cx="812800" cy="812800"/>
          </a:xfrm>
        </p:grpSpPr>
        <p:sp>
          <p:nvSpPr>
            <p:cNvPr id="330" name="Google Shape;330;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1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2" name="Google Shape;332;p11"/>
          <p:cNvGrpSpPr/>
          <p:nvPr/>
        </p:nvGrpSpPr>
        <p:grpSpPr>
          <a:xfrm>
            <a:off x="16774776" y="3630267"/>
            <a:ext cx="4398048" cy="4398048"/>
            <a:chOff x="0" y="0"/>
            <a:chExt cx="812800" cy="812800"/>
          </a:xfrm>
        </p:grpSpPr>
        <p:sp>
          <p:nvSpPr>
            <p:cNvPr id="333" name="Google Shape;333;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35" name="Google Shape;335;p11"/>
          <p:cNvSpPr txBox="1"/>
          <p:nvPr/>
        </p:nvSpPr>
        <p:spPr>
          <a:xfrm>
            <a:off x="0" y="3194671"/>
            <a:ext cx="17760329" cy="5912562"/>
          </a:xfrm>
          <a:prstGeom prst="rect">
            <a:avLst/>
          </a:prstGeom>
          <a:noFill/>
          <a:ln>
            <a:noFill/>
          </a:ln>
        </p:spPr>
        <p:txBody>
          <a:bodyPr anchorCtr="0" anchor="t" bIns="0" lIns="0" spcFirstLastPara="1" rIns="0" wrap="square" tIns="0">
            <a:spAutoFit/>
          </a:bodyPr>
          <a:lstStyle/>
          <a:p>
            <a:pPr indent="-455761" lvl="1" marL="911521" marR="0" rtl="0" algn="l">
              <a:lnSpc>
                <a:spcPct val="140014"/>
              </a:lnSpc>
              <a:spcBef>
                <a:spcPts val="0"/>
              </a:spcBef>
              <a:spcAft>
                <a:spcPts val="0"/>
              </a:spcAft>
              <a:buClr>
                <a:srgbClr val="FFFFFF"/>
              </a:buClr>
              <a:buSzPts val="4221"/>
              <a:buFont typeface="Arial"/>
              <a:buChar char="•"/>
            </a:pPr>
            <a:r>
              <a:rPr b="0" i="0" lang="en-US" sz="4221" u="none" cap="none" strike="noStrike">
                <a:solidFill>
                  <a:srgbClr val="FFFFFF"/>
                </a:solidFill>
                <a:latin typeface="Open Sans"/>
                <a:ea typeface="Open Sans"/>
                <a:cs typeface="Open Sans"/>
                <a:sym typeface="Open Sans"/>
              </a:rPr>
              <a:t>Asignación equitativa de costos</a:t>
            </a:r>
            <a:endParaRPr/>
          </a:p>
          <a:p>
            <a:pPr indent="0" lvl="0" marL="0" marR="0" rtl="0" algn="l">
              <a:lnSpc>
                <a:spcPct val="140014"/>
              </a:lnSpc>
              <a:spcBef>
                <a:spcPts val="0"/>
              </a:spcBef>
              <a:spcAft>
                <a:spcPts val="0"/>
              </a:spcAft>
              <a:buNone/>
            </a:pPr>
            <a:r>
              <a:t/>
            </a:r>
            <a:endParaRPr b="0" i="0" sz="4221" u="none" cap="none" strike="noStrike">
              <a:solidFill>
                <a:srgbClr val="FFFFFF"/>
              </a:solidFill>
              <a:latin typeface="Open Sans"/>
              <a:ea typeface="Open Sans"/>
              <a:cs typeface="Open Sans"/>
              <a:sym typeface="Open Sans"/>
            </a:endParaRPr>
          </a:p>
          <a:p>
            <a:pPr indent="-455761" lvl="1" marL="911521" marR="0" rtl="0" algn="l">
              <a:lnSpc>
                <a:spcPct val="140014"/>
              </a:lnSpc>
              <a:spcBef>
                <a:spcPts val="0"/>
              </a:spcBef>
              <a:spcAft>
                <a:spcPts val="0"/>
              </a:spcAft>
              <a:buClr>
                <a:srgbClr val="FFFFFF"/>
              </a:buClr>
              <a:buSzPts val="4221"/>
              <a:buFont typeface="Arial"/>
              <a:buChar char="•"/>
            </a:pPr>
            <a:r>
              <a:rPr b="0" i="0" lang="en-US" sz="4221" u="none" cap="none" strike="noStrike">
                <a:solidFill>
                  <a:srgbClr val="FFFFFF"/>
                </a:solidFill>
                <a:latin typeface="Open Sans"/>
                <a:ea typeface="Open Sans"/>
                <a:cs typeface="Open Sans"/>
                <a:sym typeface="Open Sans"/>
              </a:rPr>
              <a:t>Eficiencia  y diversificación de producción</a:t>
            </a:r>
            <a:endParaRPr/>
          </a:p>
          <a:p>
            <a:pPr indent="0" lvl="0" marL="0" marR="0" rtl="0" algn="l">
              <a:lnSpc>
                <a:spcPct val="140014"/>
              </a:lnSpc>
              <a:spcBef>
                <a:spcPts val="0"/>
              </a:spcBef>
              <a:spcAft>
                <a:spcPts val="0"/>
              </a:spcAft>
              <a:buNone/>
            </a:pPr>
            <a:r>
              <a:t/>
            </a:r>
            <a:endParaRPr b="0" i="0" sz="4221" u="none" cap="none" strike="noStrike">
              <a:solidFill>
                <a:srgbClr val="FFFFFF"/>
              </a:solidFill>
              <a:latin typeface="Open Sans"/>
              <a:ea typeface="Open Sans"/>
              <a:cs typeface="Open Sans"/>
              <a:sym typeface="Open Sans"/>
            </a:endParaRPr>
          </a:p>
          <a:p>
            <a:pPr indent="-455761" lvl="1" marL="911521" marR="0" rtl="0" algn="l">
              <a:lnSpc>
                <a:spcPct val="140014"/>
              </a:lnSpc>
              <a:spcBef>
                <a:spcPts val="0"/>
              </a:spcBef>
              <a:spcAft>
                <a:spcPts val="0"/>
              </a:spcAft>
              <a:buClr>
                <a:srgbClr val="FFFFFF"/>
              </a:buClr>
              <a:buSzPts val="4221"/>
              <a:buFont typeface="Arial"/>
              <a:buChar char="•"/>
            </a:pPr>
            <a:r>
              <a:rPr b="0" i="0" lang="en-US" sz="4221" u="none" cap="none" strike="noStrike">
                <a:solidFill>
                  <a:srgbClr val="FFFFFF"/>
                </a:solidFill>
                <a:latin typeface="Open Sans"/>
                <a:ea typeface="Open Sans"/>
                <a:cs typeface="Open Sans"/>
                <a:sym typeface="Open Sans"/>
              </a:rPr>
              <a:t>Información útil para la toma de decisiones (por ej: rentabilidad)</a:t>
            </a:r>
            <a:endParaRPr/>
          </a:p>
          <a:p>
            <a:pPr indent="0" lvl="0" marL="0" marR="0" rtl="0" algn="l">
              <a:lnSpc>
                <a:spcPct val="140014"/>
              </a:lnSpc>
              <a:spcBef>
                <a:spcPts val="0"/>
              </a:spcBef>
              <a:spcAft>
                <a:spcPts val="0"/>
              </a:spcAft>
              <a:buNone/>
            </a:pPr>
            <a:r>
              <a:t/>
            </a:r>
            <a:endParaRPr b="0" i="0" sz="4221" u="none" cap="none" strike="noStrike">
              <a:solidFill>
                <a:srgbClr val="FFFFFF"/>
              </a:solidFill>
              <a:latin typeface="Open Sans"/>
              <a:ea typeface="Open Sans"/>
              <a:cs typeface="Open Sans"/>
              <a:sym typeface="Open Sans"/>
            </a:endParaRPr>
          </a:p>
          <a:p>
            <a:pPr indent="-455761" lvl="1" marL="911521" marR="0" rtl="0" algn="l">
              <a:lnSpc>
                <a:spcPct val="140014"/>
              </a:lnSpc>
              <a:spcBef>
                <a:spcPts val="0"/>
              </a:spcBef>
              <a:spcAft>
                <a:spcPts val="0"/>
              </a:spcAft>
              <a:buClr>
                <a:srgbClr val="FFFFFF"/>
              </a:buClr>
              <a:buSzPts val="4221"/>
              <a:buFont typeface="Arial"/>
              <a:buChar char="•"/>
            </a:pPr>
            <a:r>
              <a:rPr b="0" i="0" lang="en-US" sz="4221" u="none" cap="none" strike="noStrike">
                <a:solidFill>
                  <a:srgbClr val="FFFFFF"/>
                </a:solidFill>
                <a:latin typeface="Open Sans"/>
                <a:ea typeface="Open Sans"/>
                <a:cs typeface="Open Sans"/>
                <a:sym typeface="Open Sans"/>
              </a:rPr>
              <a:t>Cumplimiento de normas contables y ambientales</a:t>
            </a:r>
            <a:endParaRPr/>
          </a:p>
          <a:p>
            <a:pPr indent="0" lvl="0" marL="0" marR="0" rtl="0" algn="l">
              <a:lnSpc>
                <a:spcPct val="140014"/>
              </a:lnSpc>
              <a:spcBef>
                <a:spcPts val="0"/>
              </a:spcBef>
              <a:spcAft>
                <a:spcPts val="0"/>
              </a:spcAft>
              <a:buNone/>
            </a:pPr>
            <a:r>
              <a:t/>
            </a:r>
            <a:endParaRPr b="0" i="0" sz="4221" u="none" cap="none" strike="noStrike">
              <a:solidFill>
                <a:srgbClr val="FFFFFF"/>
              </a:solidFill>
              <a:latin typeface="Open Sans"/>
              <a:ea typeface="Open Sans"/>
              <a:cs typeface="Open Sans"/>
              <a:sym typeface="Open Sans"/>
            </a:endParaRPr>
          </a:p>
        </p:txBody>
      </p:sp>
      <p:sp>
        <p:nvSpPr>
          <p:cNvPr id="336" name="Google Shape;336;p11"/>
          <p:cNvSpPr/>
          <p:nvPr/>
        </p:nvSpPr>
        <p:spPr>
          <a:xfrm>
            <a:off x="12774957" y="1028700"/>
            <a:ext cx="4484343" cy="4484343"/>
          </a:xfrm>
          <a:custGeom>
            <a:rect b="b" l="l" r="r" t="t"/>
            <a:pathLst>
              <a:path extrusionOk="0" h="4484343" w="4484343">
                <a:moveTo>
                  <a:pt x="0" y="0"/>
                </a:moveTo>
                <a:lnTo>
                  <a:pt x="4484343" y="0"/>
                </a:lnTo>
                <a:lnTo>
                  <a:pt x="4484343" y="4484343"/>
                </a:lnTo>
                <a:lnTo>
                  <a:pt x="0" y="4484343"/>
                </a:lnTo>
                <a:lnTo>
                  <a:pt x="0" y="0"/>
                </a:lnTo>
                <a:close/>
              </a:path>
            </a:pathLst>
          </a:custGeom>
          <a:blipFill rotWithShape="1">
            <a:blip r:embed="rId3">
              <a:alphaModFix/>
            </a:blip>
            <a:stretch>
              <a:fillRect b="0" l="0" r="0" t="0"/>
            </a:stretch>
          </a:blipFill>
          <a:ln>
            <a:noFill/>
          </a:ln>
        </p:spPr>
      </p:sp>
      <p:sp>
        <p:nvSpPr>
          <p:cNvPr id="337" name="Google Shape;337;p11"/>
          <p:cNvSpPr txBox="1"/>
          <p:nvPr/>
        </p:nvSpPr>
        <p:spPr>
          <a:xfrm>
            <a:off x="276373" y="586500"/>
            <a:ext cx="10864038" cy="912446"/>
          </a:xfrm>
          <a:prstGeom prst="rect">
            <a:avLst/>
          </a:prstGeom>
          <a:noFill/>
          <a:ln>
            <a:noFill/>
          </a:ln>
        </p:spPr>
        <p:txBody>
          <a:bodyPr anchorCtr="0" anchor="t" bIns="0" lIns="0" spcFirstLastPara="1" rIns="0" wrap="square" tIns="0">
            <a:spAutoFit/>
          </a:bodyPr>
          <a:lstStyle/>
          <a:p>
            <a:pPr indent="0" lvl="0" marL="0" marR="0" rtl="0" algn="ctr">
              <a:lnSpc>
                <a:spcPct val="105003"/>
              </a:lnSpc>
              <a:spcBef>
                <a:spcPts val="0"/>
              </a:spcBef>
              <a:spcAft>
                <a:spcPts val="0"/>
              </a:spcAft>
              <a:buNone/>
            </a:pPr>
            <a:r>
              <a:rPr b="0" i="0" lang="en-US" sz="6575" u="none" cap="none" strike="noStrike">
                <a:solidFill>
                  <a:srgbClr val="FFFFFF"/>
                </a:solidFill>
                <a:latin typeface="Raleway Black"/>
                <a:ea typeface="Raleway Black"/>
                <a:cs typeface="Raleway Black"/>
                <a:sym typeface="Raleway Black"/>
              </a:rPr>
              <a:t>PRODUCCION CONJUNTA</a:t>
            </a:r>
            <a:endParaRPr/>
          </a:p>
        </p:txBody>
      </p:sp>
      <p:sp>
        <p:nvSpPr>
          <p:cNvPr id="338" name="Google Shape;338;p11"/>
          <p:cNvSpPr txBox="1"/>
          <p:nvPr/>
        </p:nvSpPr>
        <p:spPr>
          <a:xfrm>
            <a:off x="1028700" y="1569989"/>
            <a:ext cx="2867620" cy="887095"/>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1" i="0" lang="en-US" sz="5199" u="none" cap="none" strike="noStrike">
                <a:solidFill>
                  <a:srgbClr val="FFFFFF"/>
                </a:solidFill>
                <a:latin typeface="Open Sans"/>
                <a:ea typeface="Open Sans"/>
                <a:cs typeface="Open Sans"/>
                <a:sym typeface="Open Sans"/>
              </a:rPr>
              <a:t>Ventajas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342" name="Shape 342"/>
        <p:cNvGrpSpPr/>
        <p:nvPr/>
      </p:nvGrpSpPr>
      <p:grpSpPr>
        <a:xfrm>
          <a:off x="0" y="0"/>
          <a:ext cx="0" cy="0"/>
          <a:chOff x="0" y="0"/>
          <a:chExt cx="0" cy="0"/>
        </a:xfrm>
      </p:grpSpPr>
      <p:grpSp>
        <p:nvGrpSpPr>
          <p:cNvPr id="343" name="Google Shape;343;p12"/>
          <p:cNvGrpSpPr/>
          <p:nvPr/>
        </p:nvGrpSpPr>
        <p:grpSpPr>
          <a:xfrm>
            <a:off x="-1170324" y="-408333"/>
            <a:ext cx="4398048" cy="4398048"/>
            <a:chOff x="0" y="0"/>
            <a:chExt cx="812800" cy="812800"/>
          </a:xfrm>
        </p:grpSpPr>
        <p:sp>
          <p:nvSpPr>
            <p:cNvPr id="344" name="Google Shape;344;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6" name="Google Shape;346;p12"/>
          <p:cNvGrpSpPr/>
          <p:nvPr/>
        </p:nvGrpSpPr>
        <p:grpSpPr>
          <a:xfrm>
            <a:off x="5213716" y="7795023"/>
            <a:ext cx="6340754" cy="6340754"/>
            <a:chOff x="0" y="0"/>
            <a:chExt cx="812800" cy="812800"/>
          </a:xfrm>
        </p:grpSpPr>
        <p:sp>
          <p:nvSpPr>
            <p:cNvPr id="347" name="Google Shape;347;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1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9" name="Google Shape;349;p12"/>
          <p:cNvGrpSpPr/>
          <p:nvPr/>
        </p:nvGrpSpPr>
        <p:grpSpPr>
          <a:xfrm>
            <a:off x="16774776" y="3630267"/>
            <a:ext cx="4398048" cy="4398048"/>
            <a:chOff x="0" y="0"/>
            <a:chExt cx="812800" cy="812800"/>
          </a:xfrm>
        </p:grpSpPr>
        <p:sp>
          <p:nvSpPr>
            <p:cNvPr id="350" name="Google Shape;350;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1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2" name="Google Shape;352;p12"/>
          <p:cNvSpPr txBox="1"/>
          <p:nvPr/>
        </p:nvSpPr>
        <p:spPr>
          <a:xfrm>
            <a:off x="0" y="3161481"/>
            <a:ext cx="18107699" cy="4426662"/>
          </a:xfrm>
          <a:prstGeom prst="rect">
            <a:avLst/>
          </a:prstGeom>
          <a:noFill/>
          <a:ln>
            <a:noFill/>
          </a:ln>
        </p:spPr>
        <p:txBody>
          <a:bodyPr anchorCtr="0" anchor="t" bIns="0" lIns="0" spcFirstLastPara="1" rIns="0" wrap="square" tIns="0">
            <a:spAutoFit/>
          </a:bodyPr>
          <a:lstStyle/>
          <a:p>
            <a:pPr indent="-455761" lvl="1" marL="911521" marR="0" rtl="0" algn="l">
              <a:lnSpc>
                <a:spcPct val="140014"/>
              </a:lnSpc>
              <a:spcBef>
                <a:spcPts val="0"/>
              </a:spcBef>
              <a:spcAft>
                <a:spcPts val="0"/>
              </a:spcAft>
              <a:buClr>
                <a:srgbClr val="FFFFFF"/>
              </a:buClr>
              <a:buSzPts val="4221"/>
              <a:buFont typeface="Arial"/>
              <a:buChar char="•"/>
            </a:pPr>
            <a:r>
              <a:rPr b="0" i="0" lang="en-US" sz="4221" u="none" cap="none" strike="noStrike">
                <a:solidFill>
                  <a:srgbClr val="FFFFFF"/>
                </a:solidFill>
                <a:latin typeface="Open Sans"/>
                <a:ea typeface="Open Sans"/>
                <a:cs typeface="Open Sans"/>
                <a:sym typeface="Open Sans"/>
              </a:rPr>
              <a:t>Complejidad en la asignación de costos</a:t>
            </a:r>
            <a:endParaRPr/>
          </a:p>
          <a:p>
            <a:pPr indent="0" lvl="0" marL="0" marR="0" rtl="0" algn="l">
              <a:lnSpc>
                <a:spcPct val="140014"/>
              </a:lnSpc>
              <a:spcBef>
                <a:spcPts val="0"/>
              </a:spcBef>
              <a:spcAft>
                <a:spcPts val="0"/>
              </a:spcAft>
              <a:buNone/>
            </a:pPr>
            <a:r>
              <a:t/>
            </a:r>
            <a:endParaRPr b="0" i="0" sz="4221" u="none" cap="none" strike="noStrike">
              <a:solidFill>
                <a:srgbClr val="FFFFFF"/>
              </a:solidFill>
              <a:latin typeface="Open Sans"/>
              <a:ea typeface="Open Sans"/>
              <a:cs typeface="Open Sans"/>
              <a:sym typeface="Open Sans"/>
            </a:endParaRPr>
          </a:p>
          <a:p>
            <a:pPr indent="-455761" lvl="1" marL="911521" marR="0" rtl="0" algn="l">
              <a:lnSpc>
                <a:spcPct val="140014"/>
              </a:lnSpc>
              <a:spcBef>
                <a:spcPts val="0"/>
              </a:spcBef>
              <a:spcAft>
                <a:spcPts val="0"/>
              </a:spcAft>
              <a:buClr>
                <a:srgbClr val="FFFFFF"/>
              </a:buClr>
              <a:buSzPts val="4221"/>
              <a:buFont typeface="Arial"/>
              <a:buChar char="•"/>
            </a:pPr>
            <a:r>
              <a:rPr b="0" i="0" lang="en-US" sz="4221" u="none" cap="none" strike="noStrike">
                <a:solidFill>
                  <a:srgbClr val="FFFFFF"/>
                </a:solidFill>
                <a:latin typeface="Open Sans"/>
                <a:ea typeface="Open Sans"/>
                <a:cs typeface="Open Sans"/>
                <a:sym typeface="Open Sans"/>
              </a:rPr>
              <a:t>Sensibilidad a cambios en los volúmenes de producción</a:t>
            </a:r>
            <a:endParaRPr/>
          </a:p>
          <a:p>
            <a:pPr indent="0" lvl="0" marL="0" marR="0" rtl="0" algn="l">
              <a:lnSpc>
                <a:spcPct val="140014"/>
              </a:lnSpc>
              <a:spcBef>
                <a:spcPts val="0"/>
              </a:spcBef>
              <a:spcAft>
                <a:spcPts val="0"/>
              </a:spcAft>
              <a:buNone/>
            </a:pPr>
            <a:r>
              <a:t/>
            </a:r>
            <a:endParaRPr b="0" i="0" sz="4221" u="none" cap="none" strike="noStrike">
              <a:solidFill>
                <a:srgbClr val="FFFFFF"/>
              </a:solidFill>
              <a:latin typeface="Open Sans"/>
              <a:ea typeface="Open Sans"/>
              <a:cs typeface="Open Sans"/>
              <a:sym typeface="Open Sans"/>
            </a:endParaRPr>
          </a:p>
          <a:p>
            <a:pPr indent="-455761" lvl="1" marL="911521" marR="0" rtl="0" algn="l">
              <a:lnSpc>
                <a:spcPct val="140014"/>
              </a:lnSpc>
              <a:spcBef>
                <a:spcPts val="0"/>
              </a:spcBef>
              <a:spcAft>
                <a:spcPts val="0"/>
              </a:spcAft>
              <a:buClr>
                <a:srgbClr val="FFFFFF"/>
              </a:buClr>
              <a:buSzPts val="4221"/>
              <a:buFont typeface="Arial"/>
              <a:buChar char="•"/>
            </a:pPr>
            <a:r>
              <a:rPr b="0" i="0" lang="en-US" sz="4221" u="none" cap="none" strike="noStrike">
                <a:solidFill>
                  <a:srgbClr val="FFFFFF"/>
                </a:solidFill>
                <a:latin typeface="Open Sans"/>
                <a:ea typeface="Open Sans"/>
                <a:cs typeface="Open Sans"/>
                <a:sym typeface="Open Sans"/>
              </a:rPr>
              <a:t>Subjetividad en la asignación de los costos</a:t>
            </a:r>
            <a:endParaRPr/>
          </a:p>
          <a:p>
            <a:pPr indent="0" lvl="0" marL="0" marR="0" rtl="0" algn="l">
              <a:lnSpc>
                <a:spcPct val="140014"/>
              </a:lnSpc>
              <a:spcBef>
                <a:spcPts val="0"/>
              </a:spcBef>
              <a:spcAft>
                <a:spcPts val="0"/>
              </a:spcAft>
              <a:buNone/>
            </a:pPr>
            <a:r>
              <a:t/>
            </a:r>
            <a:endParaRPr b="0" i="0" sz="4221" u="none" cap="none" strike="noStrike">
              <a:solidFill>
                <a:srgbClr val="FFFFFF"/>
              </a:solidFill>
              <a:latin typeface="Open Sans"/>
              <a:ea typeface="Open Sans"/>
              <a:cs typeface="Open Sans"/>
              <a:sym typeface="Open Sans"/>
            </a:endParaRPr>
          </a:p>
        </p:txBody>
      </p:sp>
      <p:sp>
        <p:nvSpPr>
          <p:cNvPr id="353" name="Google Shape;353;p12"/>
          <p:cNvSpPr/>
          <p:nvPr/>
        </p:nvSpPr>
        <p:spPr>
          <a:xfrm>
            <a:off x="12000219" y="5737623"/>
            <a:ext cx="4774557" cy="4114800"/>
          </a:xfrm>
          <a:custGeom>
            <a:rect b="b" l="l" r="r" t="t"/>
            <a:pathLst>
              <a:path extrusionOk="0" h="4114800" w="4774557">
                <a:moveTo>
                  <a:pt x="0" y="0"/>
                </a:moveTo>
                <a:lnTo>
                  <a:pt x="4774557" y="0"/>
                </a:lnTo>
                <a:lnTo>
                  <a:pt x="4774557" y="4114800"/>
                </a:lnTo>
                <a:lnTo>
                  <a:pt x="0" y="4114800"/>
                </a:lnTo>
                <a:lnTo>
                  <a:pt x="0" y="0"/>
                </a:lnTo>
                <a:close/>
              </a:path>
            </a:pathLst>
          </a:custGeom>
          <a:blipFill rotWithShape="1">
            <a:blip r:embed="rId3">
              <a:alphaModFix/>
            </a:blip>
            <a:stretch>
              <a:fillRect b="0" l="0" r="0" t="0"/>
            </a:stretch>
          </a:blipFill>
          <a:ln>
            <a:noFill/>
          </a:ln>
        </p:spPr>
      </p:sp>
      <p:sp>
        <p:nvSpPr>
          <p:cNvPr id="354" name="Google Shape;354;p12"/>
          <p:cNvSpPr txBox="1"/>
          <p:nvPr/>
        </p:nvSpPr>
        <p:spPr>
          <a:xfrm>
            <a:off x="276373" y="586500"/>
            <a:ext cx="10864038" cy="912446"/>
          </a:xfrm>
          <a:prstGeom prst="rect">
            <a:avLst/>
          </a:prstGeom>
          <a:noFill/>
          <a:ln>
            <a:noFill/>
          </a:ln>
        </p:spPr>
        <p:txBody>
          <a:bodyPr anchorCtr="0" anchor="t" bIns="0" lIns="0" spcFirstLastPara="1" rIns="0" wrap="square" tIns="0">
            <a:spAutoFit/>
          </a:bodyPr>
          <a:lstStyle/>
          <a:p>
            <a:pPr indent="0" lvl="0" marL="0" marR="0" rtl="0" algn="ctr">
              <a:lnSpc>
                <a:spcPct val="105003"/>
              </a:lnSpc>
              <a:spcBef>
                <a:spcPts val="0"/>
              </a:spcBef>
              <a:spcAft>
                <a:spcPts val="0"/>
              </a:spcAft>
              <a:buNone/>
            </a:pPr>
            <a:r>
              <a:rPr b="0" i="0" lang="en-US" sz="6575" u="none" cap="none" strike="noStrike">
                <a:solidFill>
                  <a:srgbClr val="FFFFFF"/>
                </a:solidFill>
                <a:latin typeface="Raleway Black"/>
                <a:ea typeface="Raleway Black"/>
                <a:cs typeface="Raleway Black"/>
                <a:sym typeface="Raleway Black"/>
              </a:rPr>
              <a:t>PRODUCCION CONJUNTA</a:t>
            </a:r>
            <a:endParaRPr/>
          </a:p>
        </p:txBody>
      </p:sp>
      <p:sp>
        <p:nvSpPr>
          <p:cNvPr id="355" name="Google Shape;355;p12"/>
          <p:cNvSpPr txBox="1"/>
          <p:nvPr/>
        </p:nvSpPr>
        <p:spPr>
          <a:xfrm>
            <a:off x="1028700" y="1569989"/>
            <a:ext cx="4457700" cy="887095"/>
          </a:xfrm>
          <a:prstGeom prst="rect">
            <a:avLst/>
          </a:prstGeom>
          <a:noFill/>
          <a:ln>
            <a:noFill/>
          </a:ln>
        </p:spPr>
        <p:txBody>
          <a:bodyPr anchorCtr="0" anchor="t" bIns="0" lIns="0" spcFirstLastPara="1" rIns="0" wrap="square" tIns="0">
            <a:spAutoFit/>
          </a:bodyPr>
          <a:lstStyle/>
          <a:p>
            <a:pPr indent="0" lvl="0" marL="0" marR="0" rtl="0" algn="l">
              <a:lnSpc>
                <a:spcPct val="140007"/>
              </a:lnSpc>
              <a:spcBef>
                <a:spcPts val="0"/>
              </a:spcBef>
              <a:spcAft>
                <a:spcPts val="0"/>
              </a:spcAft>
              <a:buNone/>
            </a:pPr>
            <a:r>
              <a:rPr b="1" i="0" lang="en-US" sz="5199" u="none" cap="none" strike="noStrike">
                <a:solidFill>
                  <a:srgbClr val="FFFFFF"/>
                </a:solidFill>
                <a:latin typeface="Open Sans"/>
                <a:ea typeface="Open Sans"/>
                <a:cs typeface="Open Sans"/>
                <a:sym typeface="Open Sans"/>
              </a:rPr>
              <a:t>Desventajas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359" name="Shape 359"/>
        <p:cNvGrpSpPr/>
        <p:nvPr/>
      </p:nvGrpSpPr>
      <p:grpSpPr>
        <a:xfrm>
          <a:off x="0" y="0"/>
          <a:ext cx="0" cy="0"/>
          <a:chOff x="0" y="0"/>
          <a:chExt cx="0" cy="0"/>
        </a:xfrm>
      </p:grpSpPr>
      <p:sp>
        <p:nvSpPr>
          <p:cNvPr id="360" name="Google Shape;360;p13"/>
          <p:cNvSpPr txBox="1"/>
          <p:nvPr/>
        </p:nvSpPr>
        <p:spPr>
          <a:xfrm>
            <a:off x="583662" y="2228309"/>
            <a:ext cx="16198957" cy="7308879"/>
          </a:xfrm>
          <a:prstGeom prst="rect">
            <a:avLst/>
          </a:prstGeom>
          <a:noFill/>
          <a:ln>
            <a:noFill/>
          </a:ln>
        </p:spPr>
        <p:txBody>
          <a:bodyPr anchorCtr="0" anchor="t" bIns="0" lIns="0" spcFirstLastPara="1" rIns="0" wrap="square" tIns="0">
            <a:spAutoFit/>
          </a:bodyPr>
          <a:lstStyle/>
          <a:p>
            <a:pPr indent="0" lvl="0" marL="0" marR="0" rtl="0" algn="l">
              <a:lnSpc>
                <a:spcPct val="140017"/>
              </a:lnSpc>
              <a:spcBef>
                <a:spcPts val="0"/>
              </a:spcBef>
              <a:spcAft>
                <a:spcPts val="0"/>
              </a:spcAft>
              <a:buNone/>
            </a:pPr>
            <a:r>
              <a:rPr b="1" i="0" lang="en-US" sz="4583" u="none" cap="none" strike="noStrike">
                <a:solidFill>
                  <a:srgbClr val="FFFFFF"/>
                </a:solidFill>
                <a:latin typeface="Open Sans"/>
                <a:ea typeface="Open Sans"/>
                <a:cs typeface="Open Sans"/>
                <a:sym typeface="Open Sans"/>
              </a:rPr>
              <a:t>1) Determinar la asignación del costo conjunto a cada producto conexo</a:t>
            </a:r>
            <a:endParaRPr b="1" i="0" sz="4583" u="none" cap="none" strike="noStrike">
              <a:solidFill>
                <a:srgbClr val="FFFFFF"/>
              </a:solidFill>
              <a:latin typeface="Open Sans"/>
              <a:ea typeface="Open Sans"/>
              <a:cs typeface="Open Sans"/>
              <a:sym typeface="Open Sans"/>
            </a:endParaRPr>
          </a:p>
          <a:p>
            <a:pPr indent="0" lvl="0" marL="0" marR="0" rtl="0" algn="l">
              <a:lnSpc>
                <a:spcPct val="140017"/>
              </a:lnSpc>
              <a:spcBef>
                <a:spcPts val="0"/>
              </a:spcBef>
              <a:spcAft>
                <a:spcPts val="0"/>
              </a:spcAft>
              <a:buNone/>
            </a:pPr>
            <a:r>
              <a:t/>
            </a:r>
            <a:endParaRPr b="1" i="0" sz="4583" u="none" cap="none" strike="noStrike">
              <a:solidFill>
                <a:srgbClr val="FFFFFF"/>
              </a:solidFill>
              <a:latin typeface="Open Sans"/>
              <a:ea typeface="Open Sans"/>
              <a:cs typeface="Open Sans"/>
              <a:sym typeface="Open Sans"/>
            </a:endParaRPr>
          </a:p>
          <a:p>
            <a:pPr indent="0" lvl="0" marL="0" marR="0" rtl="0" algn="l">
              <a:lnSpc>
                <a:spcPct val="140017"/>
              </a:lnSpc>
              <a:spcBef>
                <a:spcPts val="0"/>
              </a:spcBef>
              <a:spcAft>
                <a:spcPts val="0"/>
              </a:spcAft>
              <a:buNone/>
            </a:pPr>
            <a:r>
              <a:rPr b="1" i="0" lang="en-US" sz="4583" u="none" cap="none" strike="noStrike">
                <a:solidFill>
                  <a:srgbClr val="FFFFFF"/>
                </a:solidFill>
                <a:latin typeface="Open Sans"/>
                <a:ea typeface="Open Sans"/>
                <a:cs typeface="Open Sans"/>
                <a:sym typeface="Open Sans"/>
              </a:rPr>
              <a:t>2) Determinar los costos de cada producto luego del punto de separación</a:t>
            </a:r>
            <a:endParaRPr b="1" i="0" sz="4583" u="none" cap="none" strike="noStrike">
              <a:solidFill>
                <a:srgbClr val="FFFFFF"/>
              </a:solidFill>
              <a:latin typeface="Open Sans"/>
              <a:ea typeface="Open Sans"/>
              <a:cs typeface="Open Sans"/>
              <a:sym typeface="Open Sans"/>
            </a:endParaRPr>
          </a:p>
          <a:p>
            <a:pPr indent="0" lvl="0" marL="0" marR="0" rtl="0" algn="l">
              <a:lnSpc>
                <a:spcPct val="140017"/>
              </a:lnSpc>
              <a:spcBef>
                <a:spcPts val="0"/>
              </a:spcBef>
              <a:spcAft>
                <a:spcPts val="0"/>
              </a:spcAft>
              <a:buNone/>
            </a:pPr>
            <a:r>
              <a:t/>
            </a:r>
            <a:endParaRPr b="1" i="0" sz="4583" u="none" cap="none" strike="noStrike">
              <a:solidFill>
                <a:srgbClr val="FFFFFF"/>
              </a:solidFill>
              <a:latin typeface="Open Sans"/>
              <a:ea typeface="Open Sans"/>
              <a:cs typeface="Open Sans"/>
              <a:sym typeface="Open Sans"/>
            </a:endParaRPr>
          </a:p>
          <a:p>
            <a:pPr indent="0" lvl="0" marL="0" marR="0" rtl="0" algn="l">
              <a:lnSpc>
                <a:spcPct val="140017"/>
              </a:lnSpc>
              <a:spcBef>
                <a:spcPts val="0"/>
              </a:spcBef>
              <a:spcAft>
                <a:spcPts val="0"/>
              </a:spcAft>
              <a:buNone/>
            </a:pPr>
            <a:r>
              <a:rPr b="1" i="0" lang="en-US" sz="4583" u="none" cap="none" strike="noStrike">
                <a:solidFill>
                  <a:srgbClr val="FFFFFF"/>
                </a:solidFill>
                <a:latin typeface="Open Sans"/>
                <a:ea typeface="Open Sans"/>
                <a:cs typeface="Open Sans"/>
                <a:sym typeface="Open Sans"/>
              </a:rPr>
              <a:t>3) Sumar los costos de los 2 pasos y dividir el total por la cantidad producida, obteniendo el costo unitario</a:t>
            </a:r>
            <a:endParaRPr b="1" i="0" sz="4583" u="none" cap="none" strike="noStrike">
              <a:solidFill>
                <a:srgbClr val="FFFFFF"/>
              </a:solidFill>
              <a:latin typeface="Open Sans"/>
              <a:ea typeface="Open Sans"/>
              <a:cs typeface="Open Sans"/>
              <a:sym typeface="Open Sans"/>
            </a:endParaRPr>
          </a:p>
          <a:p>
            <a:pPr indent="0" lvl="0" marL="0" marR="0" rtl="0" algn="l">
              <a:lnSpc>
                <a:spcPct val="140017"/>
              </a:lnSpc>
              <a:spcBef>
                <a:spcPts val="0"/>
              </a:spcBef>
              <a:spcAft>
                <a:spcPts val="0"/>
              </a:spcAft>
              <a:buNone/>
            </a:pPr>
            <a:r>
              <a:t/>
            </a:r>
            <a:endParaRPr b="1" i="0" sz="4583" u="none" cap="none" strike="noStrike">
              <a:solidFill>
                <a:srgbClr val="FFFFFF"/>
              </a:solidFill>
              <a:latin typeface="Open Sans"/>
              <a:ea typeface="Open Sans"/>
              <a:cs typeface="Open Sans"/>
              <a:sym typeface="Open Sans"/>
            </a:endParaRPr>
          </a:p>
        </p:txBody>
      </p:sp>
      <p:sp>
        <p:nvSpPr>
          <p:cNvPr id="361" name="Google Shape;361;p13"/>
          <p:cNvSpPr/>
          <p:nvPr/>
        </p:nvSpPr>
        <p:spPr>
          <a:xfrm>
            <a:off x="1028700" y="331153"/>
            <a:ext cx="1842223" cy="1609643"/>
          </a:xfrm>
          <a:custGeom>
            <a:rect b="b" l="l" r="r" t="t"/>
            <a:pathLst>
              <a:path extrusionOk="0" h="1609643" w="1842223">
                <a:moveTo>
                  <a:pt x="0" y="0"/>
                </a:moveTo>
                <a:lnTo>
                  <a:pt x="1842223" y="0"/>
                </a:lnTo>
                <a:lnTo>
                  <a:pt x="1842223" y="1609643"/>
                </a:lnTo>
                <a:lnTo>
                  <a:pt x="0" y="1609643"/>
                </a:lnTo>
                <a:lnTo>
                  <a:pt x="0" y="0"/>
                </a:lnTo>
                <a:close/>
              </a:path>
            </a:pathLst>
          </a:custGeom>
          <a:blipFill rotWithShape="1">
            <a:blip r:embed="rId3">
              <a:alphaModFix/>
            </a:blip>
            <a:stretch>
              <a:fillRect b="0" l="0" r="0" t="0"/>
            </a:stretch>
          </a:blipFill>
          <a:ln>
            <a:noFill/>
          </a:ln>
        </p:spPr>
      </p:sp>
      <p:sp>
        <p:nvSpPr>
          <p:cNvPr id="362" name="Google Shape;362;p13"/>
          <p:cNvSpPr txBox="1"/>
          <p:nvPr/>
        </p:nvSpPr>
        <p:spPr>
          <a:xfrm>
            <a:off x="2936386" y="159703"/>
            <a:ext cx="10932014" cy="15665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FFFFFF"/>
                </a:solidFill>
                <a:latin typeface="Open Sans"/>
                <a:ea typeface="Open Sans"/>
                <a:cs typeface="Open Sans"/>
                <a:sym typeface="Open Sans"/>
              </a:rPr>
              <a:t>  Pasos a seguir: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366" name="Shape 366"/>
        <p:cNvGrpSpPr/>
        <p:nvPr/>
      </p:nvGrpSpPr>
      <p:grpSpPr>
        <a:xfrm>
          <a:off x="0" y="0"/>
          <a:ext cx="0" cy="0"/>
          <a:chOff x="0" y="0"/>
          <a:chExt cx="0" cy="0"/>
        </a:xfrm>
      </p:grpSpPr>
      <p:sp>
        <p:nvSpPr>
          <p:cNvPr id="367" name="Google Shape;367;p14"/>
          <p:cNvSpPr txBox="1"/>
          <p:nvPr/>
        </p:nvSpPr>
        <p:spPr>
          <a:xfrm>
            <a:off x="276373" y="5723623"/>
            <a:ext cx="13513191" cy="711962"/>
          </a:xfrm>
          <a:prstGeom prst="rect">
            <a:avLst/>
          </a:prstGeom>
          <a:noFill/>
          <a:ln>
            <a:noFill/>
          </a:ln>
        </p:spPr>
        <p:txBody>
          <a:bodyPr anchorCtr="0" anchor="t" bIns="0" lIns="0" spcFirstLastPara="1" rIns="0" wrap="square" tIns="0">
            <a:spAutoFit/>
          </a:bodyPr>
          <a:lstStyle/>
          <a:p>
            <a:pPr indent="-455549" lvl="1" marL="911099" marR="0" rtl="0" algn="l">
              <a:lnSpc>
                <a:spcPct val="140000"/>
              </a:lnSpc>
              <a:spcBef>
                <a:spcPts val="0"/>
              </a:spcBef>
              <a:spcAft>
                <a:spcPts val="0"/>
              </a:spcAft>
              <a:buClr>
                <a:srgbClr val="FFFFFF"/>
              </a:buClr>
              <a:buSzPts val="4220"/>
              <a:buFont typeface="Arial"/>
              <a:buChar char="•"/>
            </a:pPr>
            <a:r>
              <a:rPr b="0" i="0" lang="en-US" sz="4220" u="none" cap="none" strike="noStrike">
                <a:solidFill>
                  <a:srgbClr val="FFFFFF"/>
                </a:solidFill>
                <a:latin typeface="Open Sans Light"/>
                <a:ea typeface="Open Sans Light"/>
                <a:cs typeface="Open Sans Light"/>
                <a:sym typeface="Open Sans Light"/>
              </a:rPr>
              <a:t>Valor</a:t>
            </a:r>
            <a:r>
              <a:rPr b="1" i="0" lang="en-US" sz="4220" u="none" cap="none" strike="noStrike">
                <a:solidFill>
                  <a:srgbClr val="FFFFFF"/>
                </a:solidFill>
                <a:latin typeface="Open Sans"/>
                <a:ea typeface="Open Sans"/>
                <a:cs typeface="Open Sans"/>
                <a:sym typeface="Open Sans"/>
              </a:rPr>
              <a:t> relativo</a:t>
            </a:r>
            <a:r>
              <a:rPr b="0" i="0" lang="en-US" sz="4220" u="none" cap="none" strike="noStrike">
                <a:solidFill>
                  <a:srgbClr val="FFFFFF"/>
                </a:solidFill>
                <a:latin typeface="Open Sans Light"/>
                <a:ea typeface="Open Sans Light"/>
                <a:cs typeface="Open Sans Light"/>
                <a:sym typeface="Open Sans Light"/>
              </a:rPr>
              <a:t> de las ventas</a:t>
            </a:r>
            <a:endParaRPr/>
          </a:p>
        </p:txBody>
      </p:sp>
      <p:sp>
        <p:nvSpPr>
          <p:cNvPr id="368" name="Google Shape;368;p14"/>
          <p:cNvSpPr txBox="1"/>
          <p:nvPr/>
        </p:nvSpPr>
        <p:spPr>
          <a:xfrm>
            <a:off x="285898" y="6359385"/>
            <a:ext cx="11977809" cy="711962"/>
          </a:xfrm>
          <a:prstGeom prst="rect">
            <a:avLst/>
          </a:prstGeom>
          <a:noFill/>
          <a:ln>
            <a:noFill/>
          </a:ln>
        </p:spPr>
        <p:txBody>
          <a:bodyPr anchorCtr="0" anchor="t" bIns="0" lIns="0" spcFirstLastPara="1" rIns="0" wrap="square" tIns="0">
            <a:spAutoFit/>
          </a:bodyPr>
          <a:lstStyle/>
          <a:p>
            <a:pPr indent="-455549" lvl="1" marL="911099" marR="0" rtl="0" algn="l">
              <a:lnSpc>
                <a:spcPct val="140000"/>
              </a:lnSpc>
              <a:spcBef>
                <a:spcPts val="0"/>
              </a:spcBef>
              <a:spcAft>
                <a:spcPts val="0"/>
              </a:spcAft>
              <a:buClr>
                <a:srgbClr val="FFFFFF"/>
              </a:buClr>
              <a:buSzPts val="4220"/>
              <a:buFont typeface="Arial"/>
              <a:buChar char="•"/>
            </a:pPr>
            <a:r>
              <a:rPr b="0" i="0" lang="en-US" sz="4220" u="none" cap="none" strike="noStrike">
                <a:solidFill>
                  <a:srgbClr val="FFFFFF"/>
                </a:solidFill>
                <a:latin typeface="Open Sans Light"/>
                <a:ea typeface="Open Sans Light"/>
                <a:cs typeface="Open Sans Light"/>
                <a:sym typeface="Open Sans Light"/>
              </a:rPr>
              <a:t>Las </a:t>
            </a:r>
            <a:r>
              <a:rPr b="1" i="0" lang="en-US" sz="4220" u="none" cap="none" strike="noStrike">
                <a:solidFill>
                  <a:srgbClr val="FFFFFF"/>
                </a:solidFill>
                <a:latin typeface="Open Sans"/>
                <a:ea typeface="Open Sans"/>
                <a:cs typeface="Open Sans"/>
                <a:sym typeface="Open Sans"/>
              </a:rPr>
              <a:t>unidades fisicas</a:t>
            </a:r>
            <a:endParaRPr/>
          </a:p>
        </p:txBody>
      </p:sp>
      <p:sp>
        <p:nvSpPr>
          <p:cNvPr id="369" name="Google Shape;369;p14"/>
          <p:cNvSpPr txBox="1"/>
          <p:nvPr/>
        </p:nvSpPr>
        <p:spPr>
          <a:xfrm>
            <a:off x="276373" y="6995147"/>
            <a:ext cx="12903911" cy="711962"/>
          </a:xfrm>
          <a:prstGeom prst="rect">
            <a:avLst/>
          </a:prstGeom>
          <a:noFill/>
          <a:ln>
            <a:noFill/>
          </a:ln>
        </p:spPr>
        <p:txBody>
          <a:bodyPr anchorCtr="0" anchor="t" bIns="0" lIns="0" spcFirstLastPara="1" rIns="0" wrap="square" tIns="0">
            <a:spAutoFit/>
          </a:bodyPr>
          <a:lstStyle/>
          <a:p>
            <a:pPr indent="-455549" lvl="1" marL="911099" marR="0" rtl="0" algn="l">
              <a:lnSpc>
                <a:spcPct val="140000"/>
              </a:lnSpc>
              <a:spcBef>
                <a:spcPts val="0"/>
              </a:spcBef>
              <a:spcAft>
                <a:spcPts val="0"/>
              </a:spcAft>
              <a:buClr>
                <a:srgbClr val="FFFFFF"/>
              </a:buClr>
              <a:buSzPts val="4220"/>
              <a:buFont typeface="Arial"/>
              <a:buChar char="•"/>
            </a:pPr>
            <a:r>
              <a:rPr b="0" i="0" lang="en-US" sz="4220" u="none" cap="none" strike="noStrike">
                <a:solidFill>
                  <a:srgbClr val="FFFFFF"/>
                </a:solidFill>
                <a:latin typeface="Open Sans Light"/>
                <a:ea typeface="Open Sans Light"/>
                <a:cs typeface="Open Sans Light"/>
                <a:sym typeface="Open Sans Light"/>
              </a:rPr>
              <a:t>Costo</a:t>
            </a:r>
            <a:r>
              <a:rPr b="1" i="0" lang="en-US" sz="4220" u="none" cap="none" strike="noStrike">
                <a:solidFill>
                  <a:srgbClr val="FFFFFF"/>
                </a:solidFill>
                <a:latin typeface="Open Sans"/>
                <a:ea typeface="Open Sans"/>
                <a:cs typeface="Open Sans"/>
                <a:sym typeface="Open Sans"/>
              </a:rPr>
              <a:t> inverso</a:t>
            </a:r>
            <a:endParaRPr b="1" i="0" sz="4220" u="none" cap="none" strike="noStrike">
              <a:solidFill>
                <a:srgbClr val="FFFFFF"/>
              </a:solidFill>
              <a:latin typeface="Open Sans"/>
              <a:ea typeface="Open Sans"/>
              <a:cs typeface="Open Sans"/>
              <a:sym typeface="Open Sans"/>
            </a:endParaRPr>
          </a:p>
        </p:txBody>
      </p:sp>
      <p:grpSp>
        <p:nvGrpSpPr>
          <p:cNvPr id="370" name="Google Shape;370;p14"/>
          <p:cNvGrpSpPr/>
          <p:nvPr/>
        </p:nvGrpSpPr>
        <p:grpSpPr>
          <a:xfrm>
            <a:off x="-2416752" y="-2295569"/>
            <a:ext cx="6340754" cy="6340754"/>
            <a:chOff x="0" y="0"/>
            <a:chExt cx="812800" cy="812800"/>
          </a:xfrm>
        </p:grpSpPr>
        <p:sp>
          <p:nvSpPr>
            <p:cNvPr id="371" name="Google Shape;371;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3" name="Google Shape;373;p14"/>
          <p:cNvSpPr txBox="1"/>
          <p:nvPr/>
        </p:nvSpPr>
        <p:spPr>
          <a:xfrm>
            <a:off x="285898" y="5020615"/>
            <a:ext cx="10440917" cy="711962"/>
          </a:xfrm>
          <a:prstGeom prst="rect">
            <a:avLst/>
          </a:prstGeom>
          <a:noFill/>
          <a:ln>
            <a:noFill/>
          </a:ln>
        </p:spPr>
        <p:txBody>
          <a:bodyPr anchorCtr="0" anchor="t" bIns="0" lIns="0" spcFirstLastPara="1" rIns="0" wrap="square" tIns="0">
            <a:spAutoFit/>
          </a:bodyPr>
          <a:lstStyle/>
          <a:p>
            <a:pPr indent="-455549" lvl="1" marL="911099" marR="0" rtl="0" algn="l">
              <a:lnSpc>
                <a:spcPct val="140000"/>
              </a:lnSpc>
              <a:spcBef>
                <a:spcPts val="0"/>
              </a:spcBef>
              <a:spcAft>
                <a:spcPts val="0"/>
              </a:spcAft>
              <a:buClr>
                <a:srgbClr val="FFFFFF"/>
              </a:buClr>
              <a:buSzPts val="4220"/>
              <a:buFont typeface="Arial"/>
              <a:buChar char="•"/>
            </a:pPr>
            <a:r>
              <a:rPr b="0" i="0" lang="en-US" sz="4220" u="none" cap="none" strike="noStrike">
                <a:solidFill>
                  <a:srgbClr val="FFFFFF"/>
                </a:solidFill>
                <a:latin typeface="Open Sans Light"/>
                <a:ea typeface="Open Sans Light"/>
                <a:cs typeface="Open Sans Light"/>
                <a:sym typeface="Open Sans Light"/>
              </a:rPr>
              <a:t>Valor de</a:t>
            </a:r>
            <a:r>
              <a:rPr b="1" i="0" lang="en-US" sz="4220" u="none" cap="none" strike="noStrike">
                <a:solidFill>
                  <a:srgbClr val="FFFFFF"/>
                </a:solidFill>
                <a:latin typeface="Open Sans"/>
                <a:ea typeface="Open Sans"/>
                <a:cs typeface="Open Sans"/>
                <a:sym typeface="Open Sans"/>
              </a:rPr>
              <a:t> ventas reales</a:t>
            </a:r>
            <a:endParaRPr/>
          </a:p>
        </p:txBody>
      </p:sp>
      <p:sp>
        <p:nvSpPr>
          <p:cNvPr id="374" name="Google Shape;374;p14"/>
          <p:cNvSpPr txBox="1"/>
          <p:nvPr/>
        </p:nvSpPr>
        <p:spPr>
          <a:xfrm>
            <a:off x="753625" y="1848956"/>
            <a:ext cx="13035939" cy="794911"/>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700" u="sng" cap="none" strike="noStrike">
                <a:solidFill>
                  <a:srgbClr val="FFFFFF"/>
                </a:solidFill>
                <a:latin typeface="Open Sans"/>
                <a:ea typeface="Open Sans"/>
                <a:cs typeface="Open Sans"/>
                <a:sym typeface="Open Sans"/>
              </a:rPr>
              <a:t>MÉTODOS DE ASIGNACIÓN DE COSTOS</a:t>
            </a:r>
            <a:endParaRPr/>
          </a:p>
        </p:txBody>
      </p:sp>
      <p:sp>
        <p:nvSpPr>
          <p:cNvPr id="375" name="Google Shape;375;p14"/>
          <p:cNvSpPr txBox="1"/>
          <p:nvPr/>
        </p:nvSpPr>
        <p:spPr>
          <a:xfrm>
            <a:off x="276373" y="586500"/>
            <a:ext cx="10864038" cy="1775756"/>
          </a:xfrm>
          <a:prstGeom prst="rect">
            <a:avLst/>
          </a:prstGeom>
          <a:noFill/>
          <a:ln>
            <a:noFill/>
          </a:ln>
        </p:spPr>
        <p:txBody>
          <a:bodyPr anchorCtr="0" anchor="t" bIns="0" lIns="0" spcFirstLastPara="1" rIns="0" wrap="square" tIns="0">
            <a:spAutoFit/>
          </a:bodyPr>
          <a:lstStyle/>
          <a:p>
            <a:pPr indent="0" lvl="0" marL="0" marR="0" rtl="0" algn="ctr">
              <a:lnSpc>
                <a:spcPct val="105003"/>
              </a:lnSpc>
              <a:spcBef>
                <a:spcPts val="0"/>
              </a:spcBef>
              <a:spcAft>
                <a:spcPts val="0"/>
              </a:spcAft>
              <a:buNone/>
            </a:pPr>
            <a:r>
              <a:rPr b="0" i="0" lang="en-US" sz="6575" u="none" cap="none" strike="noStrike">
                <a:solidFill>
                  <a:srgbClr val="FFFFFF"/>
                </a:solidFill>
                <a:latin typeface="Raleway Black"/>
                <a:ea typeface="Raleway Black"/>
                <a:cs typeface="Raleway Black"/>
                <a:sym typeface="Raleway Black"/>
              </a:rPr>
              <a:t>PRODUCCION CONJUNTA</a:t>
            </a:r>
            <a:endParaRPr/>
          </a:p>
          <a:p>
            <a:pPr indent="0" lvl="0" marL="0" marR="0" rtl="0" algn="ctr">
              <a:lnSpc>
                <a:spcPct val="105003"/>
              </a:lnSpc>
              <a:spcBef>
                <a:spcPts val="0"/>
              </a:spcBef>
              <a:spcAft>
                <a:spcPts val="0"/>
              </a:spcAft>
              <a:buNone/>
            </a:pPr>
            <a:r>
              <a:t/>
            </a:r>
            <a:endParaRPr b="0" i="0" sz="6575" u="none" cap="none" strike="noStrike">
              <a:solidFill>
                <a:srgbClr val="FFFFFF"/>
              </a:solidFill>
              <a:latin typeface="Raleway Black"/>
              <a:ea typeface="Raleway Black"/>
              <a:cs typeface="Raleway Black"/>
              <a:sym typeface="Raleway Black"/>
            </a:endParaRPr>
          </a:p>
        </p:txBody>
      </p:sp>
      <p:grpSp>
        <p:nvGrpSpPr>
          <p:cNvPr id="376" name="Google Shape;376;p14"/>
          <p:cNvGrpSpPr/>
          <p:nvPr/>
        </p:nvGrpSpPr>
        <p:grpSpPr>
          <a:xfrm>
            <a:off x="15117623" y="6401962"/>
            <a:ext cx="6340754" cy="6340754"/>
            <a:chOff x="0" y="0"/>
            <a:chExt cx="812800" cy="812800"/>
          </a:xfrm>
        </p:grpSpPr>
        <p:sp>
          <p:nvSpPr>
            <p:cNvPr id="377" name="Google Shape;377;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9" name="Google Shape;379;p14"/>
          <p:cNvGrpSpPr/>
          <p:nvPr/>
        </p:nvGrpSpPr>
        <p:grpSpPr>
          <a:xfrm>
            <a:off x="1411821" y="8689232"/>
            <a:ext cx="6340754" cy="6340754"/>
            <a:chOff x="0" y="0"/>
            <a:chExt cx="812800" cy="812800"/>
          </a:xfrm>
        </p:grpSpPr>
        <p:sp>
          <p:nvSpPr>
            <p:cNvPr id="380" name="Google Shape;380;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82" name="Google Shape;382;p14"/>
          <p:cNvGrpSpPr/>
          <p:nvPr/>
        </p:nvGrpSpPr>
        <p:grpSpPr>
          <a:xfrm>
            <a:off x="14088923" y="-4406073"/>
            <a:ext cx="6340754" cy="6340754"/>
            <a:chOff x="0" y="0"/>
            <a:chExt cx="812800" cy="812800"/>
          </a:xfrm>
        </p:grpSpPr>
        <p:sp>
          <p:nvSpPr>
            <p:cNvPr id="383" name="Google Shape;383;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5" name="Google Shape;385;p14"/>
          <p:cNvSpPr txBox="1"/>
          <p:nvPr/>
        </p:nvSpPr>
        <p:spPr>
          <a:xfrm>
            <a:off x="753625" y="2975153"/>
            <a:ext cx="16314832" cy="145491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220" u="none" cap="none" strike="noStrike">
                <a:solidFill>
                  <a:srgbClr val="FFFFFF"/>
                </a:solidFill>
                <a:latin typeface="Open Sans Light"/>
                <a:ea typeface="Open Sans Light"/>
                <a:cs typeface="Open Sans Light"/>
                <a:sym typeface="Open Sans Light"/>
              </a:rPr>
              <a:t>Existen varios métodos para asignar los costos del producto conjunto a los productos conexos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389" name="Shape 389"/>
        <p:cNvGrpSpPr/>
        <p:nvPr/>
      </p:nvGrpSpPr>
      <p:grpSpPr>
        <a:xfrm>
          <a:off x="0" y="0"/>
          <a:ext cx="0" cy="0"/>
          <a:chOff x="0" y="0"/>
          <a:chExt cx="0" cy="0"/>
        </a:xfrm>
      </p:grpSpPr>
      <p:sp>
        <p:nvSpPr>
          <p:cNvPr id="390" name="Google Shape;390;p15"/>
          <p:cNvSpPr txBox="1"/>
          <p:nvPr/>
        </p:nvSpPr>
        <p:spPr>
          <a:xfrm>
            <a:off x="774990" y="669608"/>
            <a:ext cx="12331409" cy="79502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700" u="none" cap="none" strike="noStrike">
                <a:solidFill>
                  <a:srgbClr val="FFFFFF"/>
                </a:solidFill>
                <a:latin typeface="Open Sans"/>
                <a:ea typeface="Open Sans"/>
                <a:cs typeface="Open Sans"/>
                <a:sym typeface="Open Sans"/>
              </a:rPr>
              <a:t>MÉTODOS DE ASIGNACIÓN DE COSTOS</a:t>
            </a:r>
            <a:endParaRPr/>
          </a:p>
        </p:txBody>
      </p:sp>
      <p:sp>
        <p:nvSpPr>
          <p:cNvPr id="391" name="Google Shape;391;p15"/>
          <p:cNvSpPr txBox="1"/>
          <p:nvPr/>
        </p:nvSpPr>
        <p:spPr>
          <a:xfrm>
            <a:off x="276373" y="1791574"/>
            <a:ext cx="10440917" cy="711962"/>
          </a:xfrm>
          <a:prstGeom prst="rect">
            <a:avLst/>
          </a:prstGeom>
          <a:noFill/>
          <a:ln>
            <a:noFill/>
          </a:ln>
        </p:spPr>
        <p:txBody>
          <a:bodyPr anchorCtr="0" anchor="t" bIns="0" lIns="0" spcFirstLastPara="1" rIns="0" wrap="square" tIns="0">
            <a:spAutoFit/>
          </a:bodyPr>
          <a:lstStyle/>
          <a:p>
            <a:pPr indent="-455549" lvl="1" marL="911099" marR="0" rtl="0" algn="l">
              <a:lnSpc>
                <a:spcPct val="140000"/>
              </a:lnSpc>
              <a:spcBef>
                <a:spcPts val="0"/>
              </a:spcBef>
              <a:spcAft>
                <a:spcPts val="0"/>
              </a:spcAft>
              <a:buClr>
                <a:srgbClr val="FFFFFF"/>
              </a:buClr>
              <a:buSzPts val="4220"/>
              <a:buFont typeface="Arial"/>
              <a:buChar char="•"/>
            </a:pPr>
            <a:r>
              <a:rPr b="0" i="0" lang="en-US" sz="4220" u="none" cap="none" strike="noStrike">
                <a:solidFill>
                  <a:srgbClr val="FFFFFF"/>
                </a:solidFill>
                <a:latin typeface="Open Sans Light"/>
                <a:ea typeface="Open Sans Light"/>
                <a:cs typeface="Open Sans Light"/>
                <a:sym typeface="Open Sans Light"/>
              </a:rPr>
              <a:t>Valor de</a:t>
            </a:r>
            <a:r>
              <a:rPr b="1" i="0" lang="en-US" sz="4220" u="none" cap="none" strike="noStrike">
                <a:solidFill>
                  <a:srgbClr val="FFFFFF"/>
                </a:solidFill>
                <a:latin typeface="Open Sans"/>
                <a:ea typeface="Open Sans"/>
                <a:cs typeface="Open Sans"/>
                <a:sym typeface="Open Sans"/>
              </a:rPr>
              <a:t> ventas reales</a:t>
            </a:r>
            <a:endParaRPr b="1" i="0" sz="4220" u="none" cap="none" strike="noStrike">
              <a:solidFill>
                <a:srgbClr val="FFFFFF"/>
              </a:solidFill>
              <a:latin typeface="Open Sans"/>
              <a:ea typeface="Open Sans"/>
              <a:cs typeface="Open Sans"/>
              <a:sym typeface="Open Sans"/>
            </a:endParaRPr>
          </a:p>
        </p:txBody>
      </p:sp>
      <p:grpSp>
        <p:nvGrpSpPr>
          <p:cNvPr id="392" name="Google Shape;392;p15"/>
          <p:cNvGrpSpPr/>
          <p:nvPr/>
        </p:nvGrpSpPr>
        <p:grpSpPr>
          <a:xfrm>
            <a:off x="-2141677" y="7469943"/>
            <a:ext cx="6340754" cy="6340754"/>
            <a:chOff x="0" y="0"/>
            <a:chExt cx="812800" cy="812800"/>
          </a:xfrm>
        </p:grpSpPr>
        <p:sp>
          <p:nvSpPr>
            <p:cNvPr id="393" name="Google Shape;393;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5" name="Google Shape;395;p15"/>
          <p:cNvSpPr/>
          <p:nvPr/>
        </p:nvSpPr>
        <p:spPr>
          <a:xfrm>
            <a:off x="272908" y="5143500"/>
            <a:ext cx="17742184" cy="3841460"/>
          </a:xfrm>
          <a:custGeom>
            <a:rect b="b" l="l" r="r" t="t"/>
            <a:pathLst>
              <a:path extrusionOk="0" h="3841460" w="17742184">
                <a:moveTo>
                  <a:pt x="0" y="0"/>
                </a:moveTo>
                <a:lnTo>
                  <a:pt x="17742184" y="0"/>
                </a:lnTo>
                <a:lnTo>
                  <a:pt x="17742184" y="3841460"/>
                </a:lnTo>
                <a:lnTo>
                  <a:pt x="0" y="3841460"/>
                </a:lnTo>
                <a:lnTo>
                  <a:pt x="0" y="0"/>
                </a:lnTo>
                <a:close/>
              </a:path>
            </a:pathLst>
          </a:custGeom>
          <a:blipFill rotWithShape="1">
            <a:blip r:embed="rId3">
              <a:alphaModFix/>
            </a:blip>
            <a:stretch>
              <a:fillRect b="0" l="0" r="0" t="0"/>
            </a:stretch>
          </a:blipFill>
          <a:ln>
            <a:noFill/>
          </a:ln>
        </p:spPr>
      </p:sp>
      <p:grpSp>
        <p:nvGrpSpPr>
          <p:cNvPr id="396" name="Google Shape;396;p15"/>
          <p:cNvGrpSpPr/>
          <p:nvPr/>
        </p:nvGrpSpPr>
        <p:grpSpPr>
          <a:xfrm>
            <a:off x="14848181" y="-2141677"/>
            <a:ext cx="6340754" cy="6340754"/>
            <a:chOff x="0" y="0"/>
            <a:chExt cx="812800" cy="812800"/>
          </a:xfrm>
        </p:grpSpPr>
        <p:sp>
          <p:nvSpPr>
            <p:cNvPr id="397" name="Google Shape;397;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99" name="Google Shape;399;p15"/>
          <p:cNvSpPr txBox="1"/>
          <p:nvPr/>
        </p:nvSpPr>
        <p:spPr>
          <a:xfrm>
            <a:off x="771525" y="2836911"/>
            <a:ext cx="16744950" cy="2980690"/>
          </a:xfrm>
          <a:prstGeom prst="rect">
            <a:avLst/>
          </a:prstGeom>
          <a:noFill/>
          <a:ln>
            <a:noFill/>
          </a:ln>
        </p:spPr>
        <p:txBody>
          <a:bodyPr anchorCtr="0" anchor="t" bIns="0" lIns="0" spcFirstLastPara="1" rIns="0" wrap="square" tIns="0">
            <a:spAutoFit/>
          </a:bodyPr>
          <a:lstStyle/>
          <a:p>
            <a:pPr indent="0" lvl="0" marL="0" marR="0" rtl="0" algn="l">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Este método asigna los costos conjuntos en función de las proporciones en las que se venden los productos resultantes después de la separación. Este método es valido cuando el stock sobrante es mínimo.</a:t>
            </a:r>
            <a:endParaRPr/>
          </a:p>
          <a:p>
            <a:pPr indent="0" lvl="0" marL="0" marR="0" rtl="0" algn="ctr">
              <a:lnSpc>
                <a:spcPct val="140011"/>
              </a:lnSpc>
              <a:spcBef>
                <a:spcPts val="0"/>
              </a:spcBef>
              <a:spcAft>
                <a:spcPts val="0"/>
              </a:spcAft>
              <a:buNone/>
            </a:pPr>
            <a:r>
              <a:t/>
            </a:r>
            <a:endParaRPr b="0" i="0" sz="3399" u="none" cap="none" strike="noStrike">
              <a:solidFill>
                <a:srgbClr val="FFFFFF"/>
              </a:solidFill>
              <a:latin typeface="Open Sans"/>
              <a:ea typeface="Open Sans"/>
              <a:cs typeface="Open Sans"/>
              <a:sym typeface="Open Sans"/>
            </a:endParaRPr>
          </a:p>
          <a:p>
            <a:pPr indent="0" lvl="0" marL="0" marR="0" rtl="0" algn="ctr">
              <a:lnSpc>
                <a:spcPct val="140011"/>
              </a:lnSpc>
              <a:spcBef>
                <a:spcPts val="0"/>
              </a:spcBef>
              <a:spcAft>
                <a:spcPts val="0"/>
              </a:spcAft>
              <a:buNone/>
            </a:pPr>
            <a:r>
              <a:t/>
            </a:r>
            <a:endParaRPr b="0" i="0" sz="3399" u="none" cap="none" strike="noStrike">
              <a:solidFill>
                <a:srgbClr val="FFFFFF"/>
              </a:solidFill>
              <a:latin typeface="Open Sans"/>
              <a:ea typeface="Open Sans"/>
              <a:cs typeface="Open Sans"/>
              <a:sym typeface="Open Sans"/>
            </a:endParaRPr>
          </a:p>
        </p:txBody>
      </p:sp>
      <p:sp>
        <p:nvSpPr>
          <p:cNvPr id="400" name="Google Shape;400;p15"/>
          <p:cNvSpPr txBox="1"/>
          <p:nvPr/>
        </p:nvSpPr>
        <p:spPr>
          <a:xfrm>
            <a:off x="272908" y="9327860"/>
            <a:ext cx="17742184" cy="51429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Open Sans"/>
                <a:ea typeface="Open Sans"/>
                <a:cs typeface="Open Sans"/>
                <a:sym typeface="Open Sans"/>
              </a:rPr>
              <a:t>CC: Costo Conjunto → Materias primas, Transporte, Mano de Obra, Cargas Soc, Amortizaciones, etc</a:t>
            </a:r>
            <a:endParaRPr b="0" i="0" sz="3000" u="none" cap="none" strike="noStrike">
              <a:solidFill>
                <a:srgbClr val="FFFFFF"/>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404" name="Shape 404"/>
        <p:cNvGrpSpPr/>
        <p:nvPr/>
      </p:nvGrpSpPr>
      <p:grpSpPr>
        <a:xfrm>
          <a:off x="0" y="0"/>
          <a:ext cx="0" cy="0"/>
          <a:chOff x="0" y="0"/>
          <a:chExt cx="0" cy="0"/>
        </a:xfrm>
      </p:grpSpPr>
      <p:grpSp>
        <p:nvGrpSpPr>
          <p:cNvPr id="405" name="Google Shape;405;p16"/>
          <p:cNvGrpSpPr/>
          <p:nvPr/>
        </p:nvGrpSpPr>
        <p:grpSpPr>
          <a:xfrm>
            <a:off x="15677043" y="1440122"/>
            <a:ext cx="6340754" cy="6340754"/>
            <a:chOff x="0" y="0"/>
            <a:chExt cx="812800" cy="812800"/>
          </a:xfrm>
        </p:grpSpPr>
        <p:sp>
          <p:nvSpPr>
            <p:cNvPr id="406" name="Google Shape;406;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8" name="Google Shape;408;p16"/>
          <p:cNvGrpSpPr/>
          <p:nvPr/>
        </p:nvGrpSpPr>
        <p:grpSpPr>
          <a:xfrm>
            <a:off x="-3964832" y="8564916"/>
            <a:ext cx="6340754" cy="6340754"/>
            <a:chOff x="0" y="0"/>
            <a:chExt cx="812800" cy="812800"/>
          </a:xfrm>
        </p:grpSpPr>
        <p:sp>
          <p:nvSpPr>
            <p:cNvPr id="409" name="Google Shape;409;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1" name="Google Shape;411;p16"/>
          <p:cNvGrpSpPr/>
          <p:nvPr/>
        </p:nvGrpSpPr>
        <p:grpSpPr>
          <a:xfrm>
            <a:off x="-4213463" y="-1235696"/>
            <a:ext cx="6340754" cy="6340754"/>
            <a:chOff x="0" y="0"/>
            <a:chExt cx="812800" cy="812800"/>
          </a:xfrm>
        </p:grpSpPr>
        <p:sp>
          <p:nvSpPr>
            <p:cNvPr id="412" name="Google Shape;412;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14" name="Google Shape;414;p16"/>
          <p:cNvSpPr/>
          <p:nvPr/>
        </p:nvSpPr>
        <p:spPr>
          <a:xfrm>
            <a:off x="358601" y="4610499"/>
            <a:ext cx="17679007" cy="4089563"/>
          </a:xfrm>
          <a:custGeom>
            <a:rect b="b" l="l" r="r" t="t"/>
            <a:pathLst>
              <a:path extrusionOk="0" h="4089563" w="17679007">
                <a:moveTo>
                  <a:pt x="0" y="0"/>
                </a:moveTo>
                <a:lnTo>
                  <a:pt x="17679007" y="0"/>
                </a:lnTo>
                <a:lnTo>
                  <a:pt x="17679007" y="4089563"/>
                </a:lnTo>
                <a:lnTo>
                  <a:pt x="0" y="4089563"/>
                </a:lnTo>
                <a:lnTo>
                  <a:pt x="0" y="0"/>
                </a:lnTo>
                <a:close/>
              </a:path>
            </a:pathLst>
          </a:custGeom>
          <a:blipFill rotWithShape="1">
            <a:blip r:embed="rId3">
              <a:alphaModFix/>
            </a:blip>
            <a:stretch>
              <a:fillRect b="0" l="0" r="0" t="0"/>
            </a:stretch>
          </a:blipFill>
          <a:ln>
            <a:noFill/>
          </a:ln>
        </p:spPr>
      </p:sp>
      <p:sp>
        <p:nvSpPr>
          <p:cNvPr id="415" name="Google Shape;415;p16"/>
          <p:cNvSpPr txBox="1"/>
          <p:nvPr/>
        </p:nvSpPr>
        <p:spPr>
          <a:xfrm>
            <a:off x="771525" y="2720797"/>
            <a:ext cx="16744950" cy="178054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Este método es utilizado cuando uno o más productos requieran un procesamiento adicional después del punto de separación.</a:t>
            </a:r>
            <a:endParaRPr/>
          </a:p>
          <a:p>
            <a:pPr indent="0" lvl="0" marL="0" marR="0" rtl="0" algn="just">
              <a:lnSpc>
                <a:spcPct val="140011"/>
              </a:lnSpc>
              <a:spcBef>
                <a:spcPts val="0"/>
              </a:spcBef>
              <a:spcAft>
                <a:spcPts val="0"/>
              </a:spcAft>
              <a:buNone/>
            </a:pPr>
            <a:r>
              <a:t/>
            </a:r>
            <a:endParaRPr b="0" i="0" sz="3399" u="none" cap="none" strike="noStrike">
              <a:solidFill>
                <a:srgbClr val="FFFFFF"/>
              </a:solidFill>
              <a:latin typeface="Open Sans"/>
              <a:ea typeface="Open Sans"/>
              <a:cs typeface="Open Sans"/>
              <a:sym typeface="Open Sans"/>
            </a:endParaRPr>
          </a:p>
        </p:txBody>
      </p:sp>
      <p:sp>
        <p:nvSpPr>
          <p:cNvPr id="416" name="Google Shape;416;p16"/>
          <p:cNvSpPr txBox="1"/>
          <p:nvPr/>
        </p:nvSpPr>
        <p:spPr>
          <a:xfrm>
            <a:off x="771525" y="669608"/>
            <a:ext cx="11270754" cy="795055"/>
          </a:xfrm>
          <a:prstGeom prst="rect">
            <a:avLst/>
          </a:prstGeom>
          <a:noFill/>
          <a:ln>
            <a:noFill/>
          </a:ln>
        </p:spPr>
        <p:txBody>
          <a:bodyPr anchorCtr="0" anchor="t" bIns="0" lIns="0" spcFirstLastPara="1" rIns="0" wrap="square" tIns="0">
            <a:spAutoFit/>
          </a:bodyPr>
          <a:lstStyle/>
          <a:p>
            <a:pPr indent="0" lvl="0" marL="0" marR="0" rtl="0" algn="just">
              <a:lnSpc>
                <a:spcPct val="140017"/>
              </a:lnSpc>
              <a:spcBef>
                <a:spcPts val="0"/>
              </a:spcBef>
              <a:spcAft>
                <a:spcPts val="0"/>
              </a:spcAft>
              <a:buNone/>
            </a:pPr>
            <a:r>
              <a:rPr b="1" i="0" lang="en-US" sz="4698" u="none" cap="none" strike="noStrike">
                <a:solidFill>
                  <a:srgbClr val="FFFFFF"/>
                </a:solidFill>
                <a:latin typeface="Open Sans"/>
                <a:ea typeface="Open Sans"/>
                <a:cs typeface="Open Sans"/>
                <a:sym typeface="Open Sans"/>
              </a:rPr>
              <a:t>MÉTODOS DE ASIGNACIÓN DE COSTOS</a:t>
            </a:r>
            <a:endParaRPr/>
          </a:p>
        </p:txBody>
      </p:sp>
      <p:sp>
        <p:nvSpPr>
          <p:cNvPr id="417" name="Google Shape;417;p16"/>
          <p:cNvSpPr txBox="1"/>
          <p:nvPr/>
        </p:nvSpPr>
        <p:spPr>
          <a:xfrm>
            <a:off x="304497" y="1734711"/>
            <a:ext cx="13513191" cy="711962"/>
          </a:xfrm>
          <a:prstGeom prst="rect">
            <a:avLst/>
          </a:prstGeom>
          <a:noFill/>
          <a:ln>
            <a:noFill/>
          </a:ln>
        </p:spPr>
        <p:txBody>
          <a:bodyPr anchorCtr="0" anchor="t" bIns="0" lIns="0" spcFirstLastPara="1" rIns="0" wrap="square" tIns="0">
            <a:spAutoFit/>
          </a:bodyPr>
          <a:lstStyle/>
          <a:p>
            <a:pPr indent="-455549" lvl="1" marL="911099" marR="0" rtl="0" algn="l">
              <a:lnSpc>
                <a:spcPct val="140000"/>
              </a:lnSpc>
              <a:spcBef>
                <a:spcPts val="0"/>
              </a:spcBef>
              <a:spcAft>
                <a:spcPts val="0"/>
              </a:spcAft>
              <a:buClr>
                <a:srgbClr val="FFFFFF"/>
              </a:buClr>
              <a:buSzPts val="4220"/>
              <a:buFont typeface="Arial"/>
              <a:buChar char="•"/>
            </a:pPr>
            <a:r>
              <a:rPr b="0" i="0" lang="en-US" sz="4220" u="none" cap="none" strike="noStrike">
                <a:solidFill>
                  <a:srgbClr val="FFFFFF"/>
                </a:solidFill>
                <a:latin typeface="Open Sans Light"/>
                <a:ea typeface="Open Sans Light"/>
                <a:cs typeface="Open Sans Light"/>
                <a:sym typeface="Open Sans Light"/>
              </a:rPr>
              <a:t>Valor</a:t>
            </a:r>
            <a:r>
              <a:rPr b="1" i="0" lang="en-US" sz="4220" u="none" cap="none" strike="noStrike">
                <a:solidFill>
                  <a:srgbClr val="FFFFFF"/>
                </a:solidFill>
                <a:latin typeface="Open Sans"/>
                <a:ea typeface="Open Sans"/>
                <a:cs typeface="Open Sans"/>
                <a:sym typeface="Open Sans"/>
              </a:rPr>
              <a:t> relativo</a:t>
            </a:r>
            <a:r>
              <a:rPr b="0" i="0" lang="en-US" sz="4220" u="none" cap="none" strike="noStrike">
                <a:solidFill>
                  <a:srgbClr val="FFFFFF"/>
                </a:solidFill>
                <a:latin typeface="Open Sans Light"/>
                <a:ea typeface="Open Sans Light"/>
                <a:cs typeface="Open Sans Light"/>
                <a:sym typeface="Open Sans Light"/>
              </a:rPr>
              <a:t> de las ventas</a:t>
            </a:r>
            <a:endParaRPr/>
          </a:p>
        </p:txBody>
      </p:sp>
      <p:sp>
        <p:nvSpPr>
          <p:cNvPr id="418" name="Google Shape;418;p16"/>
          <p:cNvSpPr txBox="1"/>
          <p:nvPr/>
        </p:nvSpPr>
        <p:spPr>
          <a:xfrm>
            <a:off x="339551" y="9381986"/>
            <a:ext cx="17742184" cy="51429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Open Sans"/>
                <a:ea typeface="Open Sans"/>
                <a:cs typeface="Open Sans"/>
                <a:sym typeface="Open Sans"/>
              </a:rPr>
              <a:t>CC: Costo Conjunto → Materias primas, Transporte, Mano de Obra, Cargas Soc, Amortizaciones, etc</a:t>
            </a:r>
            <a:endParaRPr b="0" i="0" sz="3000" u="none" cap="none" strike="noStrike">
              <a:solidFill>
                <a:srgbClr val="FFFFFF"/>
              </a:solidFill>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422" name="Shape 422"/>
        <p:cNvGrpSpPr/>
        <p:nvPr/>
      </p:nvGrpSpPr>
      <p:grpSpPr>
        <a:xfrm>
          <a:off x="0" y="0"/>
          <a:ext cx="0" cy="0"/>
          <a:chOff x="0" y="0"/>
          <a:chExt cx="0" cy="0"/>
        </a:xfrm>
      </p:grpSpPr>
      <p:grpSp>
        <p:nvGrpSpPr>
          <p:cNvPr id="423" name="Google Shape;423;p17"/>
          <p:cNvGrpSpPr/>
          <p:nvPr/>
        </p:nvGrpSpPr>
        <p:grpSpPr>
          <a:xfrm>
            <a:off x="563486" y="7984687"/>
            <a:ext cx="6340754" cy="6340754"/>
            <a:chOff x="0" y="0"/>
            <a:chExt cx="812800" cy="812800"/>
          </a:xfrm>
        </p:grpSpPr>
        <p:sp>
          <p:nvSpPr>
            <p:cNvPr id="424" name="Google Shape;424;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26" name="Google Shape;426;p17"/>
          <p:cNvSpPr txBox="1"/>
          <p:nvPr/>
        </p:nvSpPr>
        <p:spPr>
          <a:xfrm>
            <a:off x="753625" y="2589712"/>
            <a:ext cx="16744950" cy="2380507"/>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En este método, los costos conjuntos se asignan en función de las cantidades físicas o medidas de los productos separados. Se utiliza cuando los productos tienen diferentes tamaños, volúmenes o unidades de medida.</a:t>
            </a:r>
            <a:endParaRPr/>
          </a:p>
          <a:p>
            <a:pPr indent="0" lvl="0" marL="0" marR="0" rtl="0" algn="just">
              <a:lnSpc>
                <a:spcPct val="140011"/>
              </a:lnSpc>
              <a:spcBef>
                <a:spcPts val="0"/>
              </a:spcBef>
              <a:spcAft>
                <a:spcPts val="0"/>
              </a:spcAft>
              <a:buNone/>
            </a:pPr>
            <a:r>
              <a:t/>
            </a:r>
            <a:endParaRPr b="0" i="0" sz="3399" u="none" cap="none" strike="noStrike">
              <a:solidFill>
                <a:srgbClr val="FFFFFF"/>
              </a:solidFill>
              <a:latin typeface="Open Sans"/>
              <a:ea typeface="Open Sans"/>
              <a:cs typeface="Open Sans"/>
              <a:sym typeface="Open Sans"/>
            </a:endParaRPr>
          </a:p>
        </p:txBody>
      </p:sp>
      <p:grpSp>
        <p:nvGrpSpPr>
          <p:cNvPr id="427" name="Google Shape;427;p17"/>
          <p:cNvGrpSpPr/>
          <p:nvPr/>
        </p:nvGrpSpPr>
        <p:grpSpPr>
          <a:xfrm>
            <a:off x="15602706" y="6602843"/>
            <a:ext cx="6340754" cy="6340754"/>
            <a:chOff x="0" y="0"/>
            <a:chExt cx="812800" cy="812800"/>
          </a:xfrm>
        </p:grpSpPr>
        <p:sp>
          <p:nvSpPr>
            <p:cNvPr id="428" name="Google Shape;428;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0" name="Google Shape;430;p17"/>
          <p:cNvSpPr/>
          <p:nvPr/>
        </p:nvSpPr>
        <p:spPr>
          <a:xfrm>
            <a:off x="276373" y="4970219"/>
            <a:ext cx="17677755" cy="4065030"/>
          </a:xfrm>
          <a:custGeom>
            <a:rect b="b" l="l" r="r" t="t"/>
            <a:pathLst>
              <a:path extrusionOk="0" h="4065030" w="17677755">
                <a:moveTo>
                  <a:pt x="0" y="0"/>
                </a:moveTo>
                <a:lnTo>
                  <a:pt x="17677756" y="0"/>
                </a:lnTo>
                <a:lnTo>
                  <a:pt x="17677756" y="4065030"/>
                </a:lnTo>
                <a:lnTo>
                  <a:pt x="0" y="4065030"/>
                </a:lnTo>
                <a:lnTo>
                  <a:pt x="0" y="0"/>
                </a:lnTo>
                <a:close/>
              </a:path>
            </a:pathLst>
          </a:custGeom>
          <a:blipFill rotWithShape="1">
            <a:blip r:embed="rId3">
              <a:alphaModFix/>
            </a:blip>
            <a:stretch>
              <a:fillRect b="0" l="0" r="0" t="0"/>
            </a:stretch>
          </a:blipFill>
          <a:ln>
            <a:noFill/>
          </a:ln>
        </p:spPr>
      </p:sp>
      <p:grpSp>
        <p:nvGrpSpPr>
          <p:cNvPr id="431" name="Google Shape;431;p17"/>
          <p:cNvGrpSpPr/>
          <p:nvPr/>
        </p:nvGrpSpPr>
        <p:grpSpPr>
          <a:xfrm>
            <a:off x="9144000" y="-4132706"/>
            <a:ext cx="6340754" cy="6340754"/>
            <a:chOff x="0" y="0"/>
            <a:chExt cx="812800" cy="812800"/>
          </a:xfrm>
        </p:grpSpPr>
        <p:sp>
          <p:nvSpPr>
            <p:cNvPr id="432" name="Google Shape;432;p1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4" name="Google Shape;434;p17"/>
          <p:cNvSpPr txBox="1"/>
          <p:nvPr/>
        </p:nvSpPr>
        <p:spPr>
          <a:xfrm>
            <a:off x="753624" y="669608"/>
            <a:ext cx="13038575" cy="79502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700" u="none" cap="none" strike="noStrike">
                <a:solidFill>
                  <a:srgbClr val="FFFFFF"/>
                </a:solidFill>
                <a:latin typeface="Open Sans"/>
                <a:ea typeface="Open Sans"/>
                <a:cs typeface="Open Sans"/>
                <a:sym typeface="Open Sans"/>
              </a:rPr>
              <a:t>MÉTODOS DE ASIGNACIÓN DE COSTOS</a:t>
            </a:r>
            <a:endParaRPr/>
          </a:p>
        </p:txBody>
      </p:sp>
      <p:sp>
        <p:nvSpPr>
          <p:cNvPr id="435" name="Google Shape;435;p17"/>
          <p:cNvSpPr txBox="1"/>
          <p:nvPr/>
        </p:nvSpPr>
        <p:spPr>
          <a:xfrm>
            <a:off x="276373" y="1668200"/>
            <a:ext cx="11977809" cy="711962"/>
          </a:xfrm>
          <a:prstGeom prst="rect">
            <a:avLst/>
          </a:prstGeom>
          <a:noFill/>
          <a:ln>
            <a:noFill/>
          </a:ln>
        </p:spPr>
        <p:txBody>
          <a:bodyPr anchorCtr="0" anchor="t" bIns="0" lIns="0" spcFirstLastPara="1" rIns="0" wrap="square" tIns="0">
            <a:spAutoFit/>
          </a:bodyPr>
          <a:lstStyle/>
          <a:p>
            <a:pPr indent="-455549" lvl="1" marL="911099" marR="0" rtl="0" algn="l">
              <a:lnSpc>
                <a:spcPct val="140000"/>
              </a:lnSpc>
              <a:spcBef>
                <a:spcPts val="0"/>
              </a:spcBef>
              <a:spcAft>
                <a:spcPts val="0"/>
              </a:spcAft>
              <a:buClr>
                <a:srgbClr val="FFFFFF"/>
              </a:buClr>
              <a:buSzPts val="4220"/>
              <a:buFont typeface="Arial"/>
              <a:buChar char="•"/>
            </a:pPr>
            <a:r>
              <a:rPr b="0" i="0" lang="en-US" sz="4220" u="none" cap="none" strike="noStrike">
                <a:solidFill>
                  <a:srgbClr val="FFFFFF"/>
                </a:solidFill>
                <a:latin typeface="Open Sans Light"/>
                <a:ea typeface="Open Sans Light"/>
                <a:cs typeface="Open Sans Light"/>
                <a:sym typeface="Open Sans Light"/>
              </a:rPr>
              <a:t>Las </a:t>
            </a:r>
            <a:r>
              <a:rPr b="1" i="0" lang="en-US" sz="4220" u="none" cap="none" strike="noStrike">
                <a:solidFill>
                  <a:srgbClr val="FFFFFF"/>
                </a:solidFill>
                <a:latin typeface="Open Sans"/>
                <a:ea typeface="Open Sans"/>
                <a:cs typeface="Open Sans"/>
                <a:sym typeface="Open Sans"/>
              </a:rPr>
              <a:t>unidades fisicas</a:t>
            </a:r>
            <a:endParaRPr b="1" i="0" sz="4220" u="none" cap="none" strike="noStrike">
              <a:solidFill>
                <a:srgbClr val="FFFFFF"/>
              </a:solidFill>
              <a:latin typeface="Open Sans"/>
              <a:ea typeface="Open Sans"/>
              <a:cs typeface="Open Sans"/>
              <a:sym typeface="Open Sans"/>
            </a:endParaRPr>
          </a:p>
        </p:txBody>
      </p:sp>
      <p:sp>
        <p:nvSpPr>
          <p:cNvPr id="436" name="Google Shape;436;p17"/>
          <p:cNvSpPr txBox="1"/>
          <p:nvPr/>
        </p:nvSpPr>
        <p:spPr>
          <a:xfrm>
            <a:off x="211945" y="9258924"/>
            <a:ext cx="17742184" cy="514296"/>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Open Sans"/>
                <a:ea typeface="Open Sans"/>
                <a:cs typeface="Open Sans"/>
                <a:sym typeface="Open Sans"/>
              </a:rPr>
              <a:t>CC: Costo Conjunto → Materias primas, Transporte, Mano de Obra, Cargas Soc, Amortizaciones, etc</a:t>
            </a:r>
            <a:endParaRPr b="0" i="0" sz="3000" u="none" cap="none" strike="noStrike">
              <a:solidFill>
                <a:srgbClr val="FFFFFF"/>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440" name="Shape 440"/>
        <p:cNvGrpSpPr/>
        <p:nvPr/>
      </p:nvGrpSpPr>
      <p:grpSpPr>
        <a:xfrm>
          <a:off x="0" y="0"/>
          <a:ext cx="0" cy="0"/>
          <a:chOff x="0" y="0"/>
          <a:chExt cx="0" cy="0"/>
        </a:xfrm>
      </p:grpSpPr>
      <p:grpSp>
        <p:nvGrpSpPr>
          <p:cNvPr id="441" name="Google Shape;441;p18"/>
          <p:cNvGrpSpPr/>
          <p:nvPr/>
        </p:nvGrpSpPr>
        <p:grpSpPr>
          <a:xfrm>
            <a:off x="-4061063" y="-1083296"/>
            <a:ext cx="6340754" cy="6340754"/>
            <a:chOff x="0" y="0"/>
            <a:chExt cx="812800" cy="812800"/>
          </a:xfrm>
        </p:grpSpPr>
        <p:sp>
          <p:nvSpPr>
            <p:cNvPr id="442" name="Google Shape;442;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4" name="Google Shape;444;p18"/>
          <p:cNvGrpSpPr/>
          <p:nvPr/>
        </p:nvGrpSpPr>
        <p:grpSpPr>
          <a:xfrm>
            <a:off x="-4213463" y="-1235696"/>
            <a:ext cx="6340754" cy="6340754"/>
            <a:chOff x="0" y="0"/>
            <a:chExt cx="812800" cy="812800"/>
          </a:xfrm>
        </p:grpSpPr>
        <p:sp>
          <p:nvSpPr>
            <p:cNvPr id="445" name="Google Shape;445;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47" name="Google Shape;447;p18"/>
          <p:cNvSpPr txBox="1"/>
          <p:nvPr/>
        </p:nvSpPr>
        <p:spPr>
          <a:xfrm>
            <a:off x="753624" y="798116"/>
            <a:ext cx="12733775" cy="79502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700" u="none" cap="none" strike="noStrike">
                <a:solidFill>
                  <a:srgbClr val="FFFFFF"/>
                </a:solidFill>
                <a:latin typeface="Open Sans"/>
                <a:ea typeface="Open Sans"/>
                <a:cs typeface="Open Sans"/>
                <a:sym typeface="Open Sans"/>
              </a:rPr>
              <a:t>MÉTODOS DE ASIGNACIÓN DE COSTOS</a:t>
            </a:r>
            <a:endParaRPr/>
          </a:p>
        </p:txBody>
      </p:sp>
      <p:sp>
        <p:nvSpPr>
          <p:cNvPr id="448" name="Google Shape;448;p18"/>
          <p:cNvSpPr txBox="1"/>
          <p:nvPr/>
        </p:nvSpPr>
        <p:spPr>
          <a:xfrm>
            <a:off x="293323" y="2231359"/>
            <a:ext cx="13513191" cy="711962"/>
          </a:xfrm>
          <a:prstGeom prst="rect">
            <a:avLst/>
          </a:prstGeom>
          <a:noFill/>
          <a:ln>
            <a:noFill/>
          </a:ln>
        </p:spPr>
        <p:txBody>
          <a:bodyPr anchorCtr="0" anchor="t" bIns="0" lIns="0" spcFirstLastPara="1" rIns="0" wrap="square" tIns="0">
            <a:spAutoFit/>
          </a:bodyPr>
          <a:lstStyle/>
          <a:p>
            <a:pPr indent="-455549" lvl="1" marL="911099" marR="0" rtl="0" algn="l">
              <a:lnSpc>
                <a:spcPct val="140000"/>
              </a:lnSpc>
              <a:spcBef>
                <a:spcPts val="0"/>
              </a:spcBef>
              <a:spcAft>
                <a:spcPts val="0"/>
              </a:spcAft>
              <a:buClr>
                <a:srgbClr val="FFFFFF"/>
              </a:buClr>
              <a:buSzPts val="4220"/>
              <a:buFont typeface="Arial"/>
              <a:buChar char="•"/>
            </a:pPr>
            <a:r>
              <a:rPr b="0" i="0" lang="en-US" sz="4220" u="none" cap="none" strike="noStrike">
                <a:solidFill>
                  <a:srgbClr val="FFFFFF"/>
                </a:solidFill>
                <a:latin typeface="Open Sans Light"/>
                <a:ea typeface="Open Sans Light"/>
                <a:cs typeface="Open Sans Light"/>
                <a:sym typeface="Open Sans Light"/>
              </a:rPr>
              <a:t>Costo</a:t>
            </a:r>
            <a:r>
              <a:rPr b="1" i="0" lang="en-US" sz="4220" u="none" cap="none" strike="noStrike">
                <a:solidFill>
                  <a:srgbClr val="FFFFFF"/>
                </a:solidFill>
                <a:latin typeface="Open Sans"/>
                <a:ea typeface="Open Sans"/>
                <a:cs typeface="Open Sans"/>
                <a:sym typeface="Open Sans"/>
              </a:rPr>
              <a:t> inverso</a:t>
            </a:r>
            <a:endParaRPr b="1" i="0" sz="4220" u="none" cap="none" strike="noStrike">
              <a:solidFill>
                <a:srgbClr val="FFFFFF"/>
              </a:solidFill>
              <a:latin typeface="Open Sans"/>
              <a:ea typeface="Open Sans"/>
              <a:cs typeface="Open Sans"/>
              <a:sym typeface="Open Sans"/>
            </a:endParaRPr>
          </a:p>
        </p:txBody>
      </p:sp>
      <p:grpSp>
        <p:nvGrpSpPr>
          <p:cNvPr id="449" name="Google Shape;449;p18"/>
          <p:cNvGrpSpPr/>
          <p:nvPr/>
        </p:nvGrpSpPr>
        <p:grpSpPr>
          <a:xfrm>
            <a:off x="-2955169" y="9258300"/>
            <a:ext cx="5910337" cy="5910337"/>
            <a:chOff x="0" y="0"/>
            <a:chExt cx="812800" cy="812800"/>
          </a:xfrm>
        </p:grpSpPr>
        <p:sp>
          <p:nvSpPr>
            <p:cNvPr id="450" name="Google Shape;450;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52" name="Google Shape;452;p18"/>
          <p:cNvGrpSpPr/>
          <p:nvPr/>
        </p:nvGrpSpPr>
        <p:grpSpPr>
          <a:xfrm>
            <a:off x="16158994" y="4787624"/>
            <a:ext cx="6340754" cy="6340754"/>
            <a:chOff x="0" y="0"/>
            <a:chExt cx="812800" cy="812800"/>
          </a:xfrm>
        </p:grpSpPr>
        <p:sp>
          <p:nvSpPr>
            <p:cNvPr id="453" name="Google Shape;453;p1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5" name="Google Shape;455;p18"/>
          <p:cNvSpPr txBox="1"/>
          <p:nvPr/>
        </p:nvSpPr>
        <p:spPr>
          <a:xfrm>
            <a:off x="753625" y="3591021"/>
            <a:ext cx="16744950" cy="2980690"/>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Este método se utiliza cuando el producto de fabricación secundaria tiene un valor importante en el mercado, pero no tanto como el precio de vende de la producción del producto principal.</a:t>
            </a:r>
            <a:endParaRPr/>
          </a:p>
          <a:p>
            <a:pPr indent="0" lvl="0" marL="0" marR="0" rtl="0" algn="just">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se determinan los costos conjuntos conociendo cuales productos son principales y cuales son secundarios.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459" name="Shape 459"/>
        <p:cNvGrpSpPr/>
        <p:nvPr/>
      </p:nvGrpSpPr>
      <p:grpSpPr>
        <a:xfrm>
          <a:off x="0" y="0"/>
          <a:ext cx="0" cy="0"/>
          <a:chOff x="0" y="0"/>
          <a:chExt cx="0" cy="0"/>
        </a:xfrm>
      </p:grpSpPr>
      <p:grpSp>
        <p:nvGrpSpPr>
          <p:cNvPr id="460" name="Google Shape;460;p19"/>
          <p:cNvGrpSpPr/>
          <p:nvPr/>
        </p:nvGrpSpPr>
        <p:grpSpPr>
          <a:xfrm>
            <a:off x="-4061063" y="-1083296"/>
            <a:ext cx="6340754" cy="6340754"/>
            <a:chOff x="0" y="0"/>
            <a:chExt cx="812800" cy="812800"/>
          </a:xfrm>
        </p:grpSpPr>
        <p:sp>
          <p:nvSpPr>
            <p:cNvPr id="461" name="Google Shape;461;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3" name="Google Shape;463;p19"/>
          <p:cNvGrpSpPr/>
          <p:nvPr/>
        </p:nvGrpSpPr>
        <p:grpSpPr>
          <a:xfrm>
            <a:off x="-4334846" y="-1197254"/>
            <a:ext cx="6340754" cy="6340754"/>
            <a:chOff x="0" y="0"/>
            <a:chExt cx="812800" cy="812800"/>
          </a:xfrm>
        </p:grpSpPr>
        <p:sp>
          <p:nvSpPr>
            <p:cNvPr id="464" name="Google Shape;464;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66" name="Google Shape;466;p19"/>
          <p:cNvSpPr txBox="1"/>
          <p:nvPr/>
        </p:nvSpPr>
        <p:spPr>
          <a:xfrm>
            <a:off x="657714" y="669608"/>
            <a:ext cx="11915285" cy="79502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700" u="none" cap="none" strike="noStrike">
                <a:solidFill>
                  <a:srgbClr val="FFFFFF"/>
                </a:solidFill>
                <a:latin typeface="Open Sans"/>
                <a:ea typeface="Open Sans"/>
                <a:cs typeface="Open Sans"/>
                <a:sym typeface="Open Sans"/>
              </a:rPr>
              <a:t>MÉTODOS DE ASIGNACIÓN DE COSTOS</a:t>
            </a:r>
            <a:endParaRPr/>
          </a:p>
        </p:txBody>
      </p:sp>
      <p:sp>
        <p:nvSpPr>
          <p:cNvPr id="467" name="Google Shape;467;p19"/>
          <p:cNvSpPr txBox="1"/>
          <p:nvPr/>
        </p:nvSpPr>
        <p:spPr>
          <a:xfrm>
            <a:off x="293323" y="1693000"/>
            <a:ext cx="13513191" cy="711962"/>
          </a:xfrm>
          <a:prstGeom prst="rect">
            <a:avLst/>
          </a:prstGeom>
          <a:noFill/>
          <a:ln>
            <a:noFill/>
          </a:ln>
        </p:spPr>
        <p:txBody>
          <a:bodyPr anchorCtr="0" anchor="t" bIns="0" lIns="0" spcFirstLastPara="1" rIns="0" wrap="square" tIns="0">
            <a:spAutoFit/>
          </a:bodyPr>
          <a:lstStyle/>
          <a:p>
            <a:pPr indent="-455549" lvl="1" marL="911099" marR="0" rtl="0" algn="l">
              <a:lnSpc>
                <a:spcPct val="140000"/>
              </a:lnSpc>
              <a:spcBef>
                <a:spcPts val="0"/>
              </a:spcBef>
              <a:spcAft>
                <a:spcPts val="0"/>
              </a:spcAft>
              <a:buClr>
                <a:srgbClr val="FFFFFF"/>
              </a:buClr>
              <a:buSzPts val="4220"/>
              <a:buFont typeface="Arial"/>
              <a:buChar char="•"/>
            </a:pPr>
            <a:r>
              <a:rPr b="0" i="0" lang="en-US" sz="4220" u="none" cap="none" strike="noStrike">
                <a:solidFill>
                  <a:srgbClr val="FFFFFF"/>
                </a:solidFill>
                <a:latin typeface="Open Sans Light"/>
                <a:ea typeface="Open Sans Light"/>
                <a:cs typeface="Open Sans Light"/>
                <a:sym typeface="Open Sans Light"/>
              </a:rPr>
              <a:t>Costo</a:t>
            </a:r>
            <a:r>
              <a:rPr b="1" i="0" lang="en-US" sz="4220" u="none" cap="none" strike="noStrike">
                <a:solidFill>
                  <a:srgbClr val="FFFFFF"/>
                </a:solidFill>
                <a:latin typeface="Open Sans"/>
                <a:ea typeface="Open Sans"/>
                <a:cs typeface="Open Sans"/>
                <a:sym typeface="Open Sans"/>
              </a:rPr>
              <a:t> inverso</a:t>
            </a:r>
            <a:endParaRPr b="1" i="0" sz="4220" u="none" cap="none" strike="noStrike">
              <a:solidFill>
                <a:srgbClr val="FFFFFF"/>
              </a:solidFill>
              <a:latin typeface="Open Sans"/>
              <a:ea typeface="Open Sans"/>
              <a:cs typeface="Open Sans"/>
              <a:sym typeface="Open Sans"/>
            </a:endParaRPr>
          </a:p>
        </p:txBody>
      </p:sp>
      <p:grpSp>
        <p:nvGrpSpPr>
          <p:cNvPr id="468" name="Google Shape;468;p19"/>
          <p:cNvGrpSpPr/>
          <p:nvPr/>
        </p:nvGrpSpPr>
        <p:grpSpPr>
          <a:xfrm>
            <a:off x="-2955169" y="9258300"/>
            <a:ext cx="5910337" cy="5910337"/>
            <a:chOff x="0" y="0"/>
            <a:chExt cx="812800" cy="812800"/>
          </a:xfrm>
        </p:grpSpPr>
        <p:sp>
          <p:nvSpPr>
            <p:cNvPr id="469" name="Google Shape;469;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1" name="Google Shape;471;p19"/>
          <p:cNvGrpSpPr/>
          <p:nvPr/>
        </p:nvGrpSpPr>
        <p:grpSpPr>
          <a:xfrm>
            <a:off x="16158994" y="4787624"/>
            <a:ext cx="6340754" cy="6340754"/>
            <a:chOff x="0" y="0"/>
            <a:chExt cx="812800" cy="812800"/>
          </a:xfrm>
        </p:grpSpPr>
        <p:sp>
          <p:nvSpPr>
            <p:cNvPr id="472" name="Google Shape;472;p1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9"/>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4" name="Google Shape;474;p19"/>
          <p:cNvSpPr/>
          <p:nvPr/>
        </p:nvSpPr>
        <p:spPr>
          <a:xfrm>
            <a:off x="6726283" y="2709762"/>
            <a:ext cx="11343758" cy="6548538"/>
          </a:xfrm>
          <a:custGeom>
            <a:rect b="b" l="l" r="r" t="t"/>
            <a:pathLst>
              <a:path extrusionOk="0" h="6548538" w="11343758">
                <a:moveTo>
                  <a:pt x="0" y="0"/>
                </a:moveTo>
                <a:lnTo>
                  <a:pt x="11343759" y="0"/>
                </a:lnTo>
                <a:lnTo>
                  <a:pt x="11343759" y="6548538"/>
                </a:lnTo>
                <a:lnTo>
                  <a:pt x="0" y="6548538"/>
                </a:lnTo>
                <a:lnTo>
                  <a:pt x="0" y="0"/>
                </a:lnTo>
                <a:close/>
              </a:path>
            </a:pathLst>
          </a:custGeom>
          <a:blipFill rotWithShape="1">
            <a:blip r:embed="rId3">
              <a:alphaModFix/>
            </a:blip>
            <a:stretch>
              <a:fillRect b="0" l="0" r="0" t="0"/>
            </a:stretch>
          </a:blipFill>
          <a:ln>
            <a:noFill/>
          </a:ln>
        </p:spPr>
      </p:sp>
      <p:sp>
        <p:nvSpPr>
          <p:cNvPr id="475" name="Google Shape;475;p19"/>
          <p:cNvSpPr txBox="1"/>
          <p:nvPr/>
        </p:nvSpPr>
        <p:spPr>
          <a:xfrm>
            <a:off x="293322" y="3019742"/>
            <a:ext cx="6159177" cy="5498621"/>
          </a:xfrm>
          <a:prstGeom prst="rect">
            <a:avLst/>
          </a:prstGeom>
          <a:noFill/>
          <a:ln>
            <a:noFill/>
          </a:ln>
        </p:spPr>
        <p:txBody>
          <a:bodyPr anchorCtr="0" anchor="t" bIns="0" lIns="0" spcFirstLastPara="1" rIns="0" wrap="square" tIns="0">
            <a:spAutoFit/>
          </a:bodyPr>
          <a:lstStyle/>
          <a:p>
            <a:pPr indent="0" lvl="0" marL="0" marR="0" rtl="0" algn="just">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Del valor estimado de venta o en el mercado del producto secundario se determina el costo del subproducto, su proporcion del costo conjunto de los subproductos.</a:t>
            </a:r>
            <a:endParaRPr/>
          </a:p>
          <a:p>
            <a:pPr indent="0" lvl="0" marL="0" marR="0" rtl="0" algn="just">
              <a:lnSpc>
                <a:spcPct val="140011"/>
              </a:lnSpc>
              <a:spcBef>
                <a:spcPts val="0"/>
              </a:spcBef>
              <a:spcAft>
                <a:spcPts val="0"/>
              </a:spcAft>
              <a:buNone/>
            </a:pPr>
            <a:r>
              <a:rPr b="0" i="0" lang="en-US" sz="3399" u="none" cap="none" strike="noStrike">
                <a:solidFill>
                  <a:srgbClr val="FFFFFF"/>
                </a:solidFill>
                <a:latin typeface="Open Sans"/>
                <a:ea typeface="Open Sans"/>
                <a:cs typeface="Open Sans"/>
                <a:sym typeface="Open Sans"/>
              </a:rPr>
              <a:t>Luego se determinan los costos conjuntos de los productos principales.</a:t>
            </a:r>
            <a:endParaRPr b="0" i="0" sz="3399" u="none" cap="none" strike="noStrike">
              <a:solidFill>
                <a:srgbClr val="FFFFFF"/>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479" name="Shape 479"/>
        <p:cNvGrpSpPr/>
        <p:nvPr/>
      </p:nvGrpSpPr>
      <p:grpSpPr>
        <a:xfrm>
          <a:off x="0" y="0"/>
          <a:ext cx="0" cy="0"/>
          <a:chOff x="0" y="0"/>
          <a:chExt cx="0" cy="0"/>
        </a:xfrm>
      </p:grpSpPr>
      <p:grpSp>
        <p:nvGrpSpPr>
          <p:cNvPr id="480" name="Google Shape;480;p20"/>
          <p:cNvGrpSpPr/>
          <p:nvPr/>
        </p:nvGrpSpPr>
        <p:grpSpPr>
          <a:xfrm>
            <a:off x="-4061063" y="-1083296"/>
            <a:ext cx="6340754" cy="6340754"/>
            <a:chOff x="0" y="0"/>
            <a:chExt cx="812800" cy="812800"/>
          </a:xfrm>
        </p:grpSpPr>
        <p:sp>
          <p:nvSpPr>
            <p:cNvPr id="481" name="Google Shape;481;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3" name="Google Shape;483;p20"/>
          <p:cNvGrpSpPr/>
          <p:nvPr/>
        </p:nvGrpSpPr>
        <p:grpSpPr>
          <a:xfrm>
            <a:off x="-4213463" y="-1235696"/>
            <a:ext cx="6340754" cy="6340754"/>
            <a:chOff x="0" y="0"/>
            <a:chExt cx="812800" cy="812800"/>
          </a:xfrm>
        </p:grpSpPr>
        <p:sp>
          <p:nvSpPr>
            <p:cNvPr id="484" name="Google Shape;484;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6" name="Google Shape;486;p20"/>
          <p:cNvGrpSpPr/>
          <p:nvPr/>
        </p:nvGrpSpPr>
        <p:grpSpPr>
          <a:xfrm>
            <a:off x="-2955169" y="9258300"/>
            <a:ext cx="5910337" cy="5910337"/>
            <a:chOff x="0" y="0"/>
            <a:chExt cx="812800" cy="812800"/>
          </a:xfrm>
        </p:grpSpPr>
        <p:sp>
          <p:nvSpPr>
            <p:cNvPr id="487" name="Google Shape;487;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9" name="Google Shape;489;p20"/>
          <p:cNvGrpSpPr/>
          <p:nvPr/>
        </p:nvGrpSpPr>
        <p:grpSpPr>
          <a:xfrm>
            <a:off x="16158994" y="4787624"/>
            <a:ext cx="6340754" cy="6340754"/>
            <a:chOff x="0" y="0"/>
            <a:chExt cx="812800" cy="812800"/>
          </a:xfrm>
        </p:grpSpPr>
        <p:sp>
          <p:nvSpPr>
            <p:cNvPr id="490" name="Google Shape;490;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92" name="Google Shape;492;p20"/>
          <p:cNvSpPr/>
          <p:nvPr/>
        </p:nvSpPr>
        <p:spPr>
          <a:xfrm>
            <a:off x="0" y="5077640"/>
            <a:ext cx="18288000" cy="4180660"/>
          </a:xfrm>
          <a:custGeom>
            <a:rect b="b" l="l" r="r" t="t"/>
            <a:pathLst>
              <a:path extrusionOk="0" h="4180660" w="18288000">
                <a:moveTo>
                  <a:pt x="0" y="0"/>
                </a:moveTo>
                <a:lnTo>
                  <a:pt x="18288000" y="0"/>
                </a:lnTo>
                <a:lnTo>
                  <a:pt x="18288000" y="4180660"/>
                </a:lnTo>
                <a:lnTo>
                  <a:pt x="0" y="4180660"/>
                </a:lnTo>
                <a:lnTo>
                  <a:pt x="0" y="0"/>
                </a:lnTo>
                <a:close/>
              </a:path>
            </a:pathLst>
          </a:custGeom>
          <a:blipFill rotWithShape="1">
            <a:blip r:embed="rId3">
              <a:alphaModFix/>
            </a:blip>
            <a:stretch>
              <a:fillRect b="0" l="0" r="0" t="0"/>
            </a:stretch>
          </a:blipFill>
          <a:ln>
            <a:noFill/>
          </a:ln>
        </p:spPr>
      </p:sp>
      <p:sp>
        <p:nvSpPr>
          <p:cNvPr id="493" name="Google Shape;493;p20"/>
          <p:cNvSpPr txBox="1"/>
          <p:nvPr/>
        </p:nvSpPr>
        <p:spPr>
          <a:xfrm>
            <a:off x="651930" y="669608"/>
            <a:ext cx="11921069" cy="79502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700" u="none" cap="none" strike="noStrike">
                <a:solidFill>
                  <a:srgbClr val="FFFFFF"/>
                </a:solidFill>
                <a:latin typeface="Open Sans"/>
                <a:ea typeface="Open Sans"/>
                <a:cs typeface="Open Sans"/>
                <a:sym typeface="Open Sans"/>
              </a:rPr>
              <a:t>MÉTODOS DE ASIGNACIÓN DE COSTOS</a:t>
            </a:r>
            <a:endParaRPr/>
          </a:p>
        </p:txBody>
      </p:sp>
      <p:sp>
        <p:nvSpPr>
          <p:cNvPr id="494" name="Google Shape;494;p20"/>
          <p:cNvSpPr txBox="1"/>
          <p:nvPr/>
        </p:nvSpPr>
        <p:spPr>
          <a:xfrm>
            <a:off x="276373" y="1693000"/>
            <a:ext cx="13513191" cy="711962"/>
          </a:xfrm>
          <a:prstGeom prst="rect">
            <a:avLst/>
          </a:prstGeom>
          <a:noFill/>
          <a:ln>
            <a:noFill/>
          </a:ln>
        </p:spPr>
        <p:txBody>
          <a:bodyPr anchorCtr="0" anchor="t" bIns="0" lIns="0" spcFirstLastPara="1" rIns="0" wrap="square" tIns="0">
            <a:spAutoFit/>
          </a:bodyPr>
          <a:lstStyle/>
          <a:p>
            <a:pPr indent="-455549" lvl="1" marL="911099" marR="0" rtl="0" algn="l">
              <a:lnSpc>
                <a:spcPct val="140000"/>
              </a:lnSpc>
              <a:spcBef>
                <a:spcPts val="0"/>
              </a:spcBef>
              <a:spcAft>
                <a:spcPts val="0"/>
              </a:spcAft>
              <a:buClr>
                <a:srgbClr val="FFFFFF"/>
              </a:buClr>
              <a:buSzPts val="4220"/>
              <a:buFont typeface="Arial"/>
              <a:buChar char="•"/>
            </a:pPr>
            <a:r>
              <a:rPr b="0" i="0" lang="en-US" sz="4220" u="none" cap="none" strike="noStrike">
                <a:solidFill>
                  <a:srgbClr val="FFFFFF"/>
                </a:solidFill>
                <a:latin typeface="Open Sans Light"/>
                <a:ea typeface="Open Sans Light"/>
                <a:cs typeface="Open Sans Light"/>
                <a:sym typeface="Open Sans Light"/>
              </a:rPr>
              <a:t>Costo</a:t>
            </a:r>
            <a:r>
              <a:rPr b="1" i="0" lang="en-US" sz="4220" u="none" cap="none" strike="noStrike">
                <a:solidFill>
                  <a:srgbClr val="FFFFFF"/>
                </a:solidFill>
                <a:latin typeface="Open Sans"/>
                <a:ea typeface="Open Sans"/>
                <a:cs typeface="Open Sans"/>
                <a:sym typeface="Open Sans"/>
              </a:rPr>
              <a:t> inverso</a:t>
            </a:r>
            <a:endParaRPr b="1" i="0" sz="4220" u="none" cap="none" strike="noStrike">
              <a:solidFill>
                <a:srgbClr val="FFFFFF"/>
              </a:solidFill>
              <a:latin typeface="Open Sans"/>
              <a:ea typeface="Open Sans"/>
              <a:cs typeface="Open Sans"/>
              <a:sym typeface="Open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498" name="Shape 498"/>
        <p:cNvGrpSpPr/>
        <p:nvPr/>
      </p:nvGrpSpPr>
      <p:grpSpPr>
        <a:xfrm>
          <a:off x="0" y="0"/>
          <a:ext cx="0" cy="0"/>
          <a:chOff x="0" y="0"/>
          <a:chExt cx="0" cy="0"/>
        </a:xfrm>
      </p:grpSpPr>
      <p:grpSp>
        <p:nvGrpSpPr>
          <p:cNvPr id="499" name="Google Shape;499;p21"/>
          <p:cNvGrpSpPr/>
          <p:nvPr/>
        </p:nvGrpSpPr>
        <p:grpSpPr>
          <a:xfrm>
            <a:off x="-4061063" y="-1083296"/>
            <a:ext cx="6340754" cy="6340754"/>
            <a:chOff x="0" y="0"/>
            <a:chExt cx="812800" cy="812800"/>
          </a:xfrm>
        </p:grpSpPr>
        <p:sp>
          <p:nvSpPr>
            <p:cNvPr id="500" name="Google Shape;500;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2" name="Google Shape;502;p21"/>
          <p:cNvGrpSpPr/>
          <p:nvPr/>
        </p:nvGrpSpPr>
        <p:grpSpPr>
          <a:xfrm>
            <a:off x="-4213463" y="-1235696"/>
            <a:ext cx="6340754" cy="6340754"/>
            <a:chOff x="0" y="0"/>
            <a:chExt cx="812800" cy="812800"/>
          </a:xfrm>
        </p:grpSpPr>
        <p:sp>
          <p:nvSpPr>
            <p:cNvPr id="503" name="Google Shape;503;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5" name="Google Shape;505;p21"/>
          <p:cNvGrpSpPr/>
          <p:nvPr/>
        </p:nvGrpSpPr>
        <p:grpSpPr>
          <a:xfrm>
            <a:off x="-2955169" y="9258300"/>
            <a:ext cx="5910337" cy="5910337"/>
            <a:chOff x="0" y="0"/>
            <a:chExt cx="812800" cy="812800"/>
          </a:xfrm>
        </p:grpSpPr>
        <p:sp>
          <p:nvSpPr>
            <p:cNvPr id="506" name="Google Shape;506;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8" name="Google Shape;508;p21"/>
          <p:cNvGrpSpPr/>
          <p:nvPr/>
        </p:nvGrpSpPr>
        <p:grpSpPr>
          <a:xfrm>
            <a:off x="16158994" y="4787624"/>
            <a:ext cx="6340754" cy="6340754"/>
            <a:chOff x="0" y="0"/>
            <a:chExt cx="812800" cy="812800"/>
          </a:xfrm>
        </p:grpSpPr>
        <p:sp>
          <p:nvSpPr>
            <p:cNvPr id="509" name="Google Shape;509;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11" name="Google Shape;511;p21"/>
          <p:cNvSpPr/>
          <p:nvPr/>
        </p:nvSpPr>
        <p:spPr>
          <a:xfrm>
            <a:off x="1028700" y="3272418"/>
            <a:ext cx="16046538" cy="6327138"/>
          </a:xfrm>
          <a:custGeom>
            <a:rect b="b" l="l" r="r" t="t"/>
            <a:pathLst>
              <a:path extrusionOk="0" h="6327138" w="16046538">
                <a:moveTo>
                  <a:pt x="0" y="0"/>
                </a:moveTo>
                <a:lnTo>
                  <a:pt x="16046538" y="0"/>
                </a:lnTo>
                <a:lnTo>
                  <a:pt x="16046538" y="6327138"/>
                </a:lnTo>
                <a:lnTo>
                  <a:pt x="0" y="6327138"/>
                </a:lnTo>
                <a:lnTo>
                  <a:pt x="0" y="0"/>
                </a:lnTo>
                <a:close/>
              </a:path>
            </a:pathLst>
          </a:custGeom>
          <a:blipFill rotWithShape="1">
            <a:blip r:embed="rId3">
              <a:alphaModFix/>
            </a:blip>
            <a:stretch>
              <a:fillRect b="0" l="0" r="0" t="0"/>
            </a:stretch>
          </a:blipFill>
          <a:ln>
            <a:noFill/>
          </a:ln>
        </p:spPr>
      </p:sp>
      <p:sp>
        <p:nvSpPr>
          <p:cNvPr id="512" name="Google Shape;512;p21"/>
          <p:cNvSpPr txBox="1"/>
          <p:nvPr/>
        </p:nvSpPr>
        <p:spPr>
          <a:xfrm>
            <a:off x="651930" y="669608"/>
            <a:ext cx="8720669" cy="79502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700" u="none" cap="none" strike="noStrike">
                <a:solidFill>
                  <a:srgbClr val="FFFFFF"/>
                </a:solidFill>
                <a:latin typeface="Open Sans"/>
                <a:ea typeface="Open Sans"/>
                <a:cs typeface="Open Sans"/>
                <a:sym typeface="Open Sans"/>
              </a:rPr>
              <a:t>Contabilidad subproductos</a:t>
            </a:r>
            <a:endParaRPr b="1" i="0" sz="4700" u="none" cap="none" strike="noStrike">
              <a:solidFill>
                <a:srgbClr val="FFFFFF"/>
              </a:solidFill>
              <a:latin typeface="Open Sans"/>
              <a:ea typeface="Open Sans"/>
              <a:cs typeface="Open Sans"/>
              <a:sym typeface="Open Sans"/>
            </a:endParaRPr>
          </a:p>
        </p:txBody>
      </p:sp>
      <p:sp>
        <p:nvSpPr>
          <p:cNvPr id="513" name="Google Shape;513;p21"/>
          <p:cNvSpPr txBox="1"/>
          <p:nvPr/>
        </p:nvSpPr>
        <p:spPr>
          <a:xfrm>
            <a:off x="651931" y="1571617"/>
            <a:ext cx="15789115" cy="1454912"/>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4220" u="none" cap="none" strike="noStrike">
                <a:solidFill>
                  <a:srgbClr val="FFFFFF"/>
                </a:solidFill>
                <a:latin typeface="Open Sans Light"/>
                <a:ea typeface="Open Sans Light"/>
                <a:cs typeface="Open Sans Light"/>
                <a:sym typeface="Open Sans Light"/>
              </a:rPr>
              <a:t>Los subproductos tambien pueden ser costeados y sustraídos del costo conjunto independientmente del metodo de costeo.</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61AE"/>
        </a:solidFill>
      </p:bgPr>
    </p:bg>
    <p:spTree>
      <p:nvGrpSpPr>
        <p:cNvPr id="517" name="Shape 517"/>
        <p:cNvGrpSpPr/>
        <p:nvPr/>
      </p:nvGrpSpPr>
      <p:grpSpPr>
        <a:xfrm>
          <a:off x="0" y="0"/>
          <a:ext cx="0" cy="0"/>
          <a:chOff x="0" y="0"/>
          <a:chExt cx="0" cy="0"/>
        </a:xfrm>
      </p:grpSpPr>
      <p:grpSp>
        <p:nvGrpSpPr>
          <p:cNvPr id="518" name="Google Shape;518;p22"/>
          <p:cNvGrpSpPr/>
          <p:nvPr/>
        </p:nvGrpSpPr>
        <p:grpSpPr>
          <a:xfrm>
            <a:off x="10126714" y="362362"/>
            <a:ext cx="7254705" cy="7254705"/>
            <a:chOff x="0" y="0"/>
            <a:chExt cx="812800" cy="812800"/>
          </a:xfrm>
        </p:grpSpPr>
        <p:sp>
          <p:nvSpPr>
            <p:cNvPr id="519" name="Google Shape;519;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2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21" name="Google Shape;521;p22"/>
          <p:cNvGrpSpPr/>
          <p:nvPr/>
        </p:nvGrpSpPr>
        <p:grpSpPr>
          <a:xfrm>
            <a:off x="9663698" y="7617067"/>
            <a:ext cx="3004046" cy="3004046"/>
            <a:chOff x="0" y="0"/>
            <a:chExt cx="812800" cy="812800"/>
          </a:xfrm>
        </p:grpSpPr>
        <p:sp>
          <p:nvSpPr>
            <p:cNvPr id="522" name="Google Shape;522;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2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24" name="Google Shape;524;p22"/>
          <p:cNvGrpSpPr/>
          <p:nvPr/>
        </p:nvGrpSpPr>
        <p:grpSpPr>
          <a:xfrm>
            <a:off x="-1170324" y="-408333"/>
            <a:ext cx="4398048" cy="4398048"/>
            <a:chOff x="0" y="0"/>
            <a:chExt cx="812800" cy="812800"/>
          </a:xfrm>
        </p:grpSpPr>
        <p:sp>
          <p:nvSpPr>
            <p:cNvPr id="525" name="Google Shape;525;p2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679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2"/>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527" name="Google Shape;527;p22"/>
          <p:cNvCxnSpPr/>
          <p:nvPr/>
        </p:nvCxnSpPr>
        <p:spPr>
          <a:xfrm>
            <a:off x="-803458" y="1114425"/>
            <a:ext cx="19091458" cy="0"/>
          </a:xfrm>
          <a:prstGeom prst="straightConnector1">
            <a:avLst/>
          </a:prstGeom>
          <a:noFill/>
          <a:ln cap="flat" cmpd="sng" w="171450">
            <a:solidFill>
              <a:srgbClr val="1D1811"/>
            </a:solidFill>
            <a:prstDash val="solid"/>
            <a:round/>
            <a:headEnd len="sm" w="sm" type="none"/>
            <a:tailEnd len="sm" w="sm" type="none"/>
          </a:ln>
        </p:spPr>
      </p:cxnSp>
      <p:sp>
        <p:nvSpPr>
          <p:cNvPr id="528" name="Google Shape;528;p22"/>
          <p:cNvSpPr/>
          <p:nvPr/>
        </p:nvSpPr>
        <p:spPr>
          <a:xfrm>
            <a:off x="6578174" y="467137"/>
            <a:ext cx="4328194" cy="4620347"/>
          </a:xfrm>
          <a:custGeom>
            <a:rect b="b" l="l" r="r" t="t"/>
            <a:pathLst>
              <a:path extrusionOk="0" h="4620347" w="4328194">
                <a:moveTo>
                  <a:pt x="0" y="0"/>
                </a:moveTo>
                <a:lnTo>
                  <a:pt x="4328194" y="0"/>
                </a:lnTo>
                <a:lnTo>
                  <a:pt x="4328194" y="4620347"/>
                </a:lnTo>
                <a:lnTo>
                  <a:pt x="0" y="4620347"/>
                </a:lnTo>
                <a:lnTo>
                  <a:pt x="0" y="0"/>
                </a:lnTo>
                <a:close/>
              </a:path>
            </a:pathLst>
          </a:custGeom>
          <a:blipFill rotWithShape="1">
            <a:blip r:embed="rId3">
              <a:alphaModFix/>
            </a:blip>
            <a:stretch>
              <a:fillRect b="0" l="0" r="0" t="0"/>
            </a:stretch>
          </a:blipFill>
          <a:ln>
            <a:noFill/>
          </a:ln>
        </p:spPr>
      </p:sp>
      <p:sp>
        <p:nvSpPr>
          <p:cNvPr id="529" name="Google Shape;529;p22"/>
          <p:cNvSpPr/>
          <p:nvPr/>
        </p:nvSpPr>
        <p:spPr>
          <a:xfrm>
            <a:off x="11438980" y="2467018"/>
            <a:ext cx="10015740" cy="7819982"/>
          </a:xfrm>
          <a:custGeom>
            <a:rect b="b" l="l" r="r" t="t"/>
            <a:pathLst>
              <a:path extrusionOk="0" h="7819982" w="10015740">
                <a:moveTo>
                  <a:pt x="0" y="0"/>
                </a:moveTo>
                <a:lnTo>
                  <a:pt x="10015741" y="0"/>
                </a:lnTo>
                <a:lnTo>
                  <a:pt x="10015741" y="7819982"/>
                </a:lnTo>
                <a:lnTo>
                  <a:pt x="0" y="7819982"/>
                </a:lnTo>
                <a:lnTo>
                  <a:pt x="0" y="0"/>
                </a:lnTo>
                <a:close/>
              </a:path>
            </a:pathLst>
          </a:custGeom>
          <a:blipFill rotWithShape="1">
            <a:blip r:embed="rId4">
              <a:alphaModFix/>
            </a:blip>
            <a:stretch>
              <a:fillRect b="0" l="0" r="0" t="0"/>
            </a:stretch>
          </a:blipFill>
          <a:ln>
            <a:noFill/>
          </a:ln>
        </p:spPr>
      </p:sp>
      <p:sp>
        <p:nvSpPr>
          <p:cNvPr id="530" name="Google Shape;530;p22"/>
          <p:cNvSpPr txBox="1"/>
          <p:nvPr/>
        </p:nvSpPr>
        <p:spPr>
          <a:xfrm>
            <a:off x="660527" y="1224800"/>
            <a:ext cx="5917500" cy="14160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FFFFFF"/>
                </a:solidFill>
                <a:latin typeface="Open Sans"/>
                <a:ea typeface="Open Sans"/>
                <a:cs typeface="Open Sans"/>
                <a:sym typeface="Open Sans"/>
              </a:rPr>
              <a:t>GRUPO 3</a:t>
            </a:r>
            <a:endParaRPr/>
          </a:p>
        </p:txBody>
      </p:sp>
      <p:grpSp>
        <p:nvGrpSpPr>
          <p:cNvPr id="531" name="Google Shape;531;p22"/>
          <p:cNvGrpSpPr/>
          <p:nvPr/>
        </p:nvGrpSpPr>
        <p:grpSpPr>
          <a:xfrm>
            <a:off x="1028700" y="4378148"/>
            <a:ext cx="10410280" cy="4740942"/>
            <a:chOff x="0" y="-95250"/>
            <a:chExt cx="13880374" cy="6321257"/>
          </a:xfrm>
        </p:grpSpPr>
        <p:sp>
          <p:nvSpPr>
            <p:cNvPr id="532" name="Google Shape;532;p22"/>
            <p:cNvSpPr txBox="1"/>
            <p:nvPr/>
          </p:nvSpPr>
          <p:spPr>
            <a:xfrm>
              <a:off x="0" y="5533213"/>
              <a:ext cx="13880374" cy="692794"/>
            </a:xfrm>
            <a:prstGeom prst="rect">
              <a:avLst/>
            </a:prstGeom>
            <a:noFill/>
            <a:ln>
              <a:noFill/>
            </a:ln>
          </p:spPr>
          <p:txBody>
            <a:bodyPr anchorCtr="0" anchor="t" bIns="0" lIns="0" spcFirstLastPara="1" rIns="0" wrap="square" tIns="0">
              <a:spAutoFit/>
            </a:bodyPr>
            <a:lstStyle/>
            <a:p>
              <a:pPr indent="0" lvl="0" marL="0" marR="0" rtl="0" algn="l">
                <a:lnSpc>
                  <a:spcPct val="24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533" name="Google Shape;533;p22"/>
            <p:cNvSpPr txBox="1"/>
            <p:nvPr/>
          </p:nvSpPr>
          <p:spPr>
            <a:xfrm>
              <a:off x="0" y="-95250"/>
              <a:ext cx="13880374" cy="692794"/>
            </a:xfrm>
            <a:prstGeom prst="rect">
              <a:avLst/>
            </a:prstGeom>
            <a:noFill/>
            <a:ln>
              <a:noFill/>
            </a:ln>
          </p:spPr>
          <p:txBody>
            <a:bodyPr anchorCtr="0" anchor="t" bIns="0" lIns="0" spcFirstLastPara="1" rIns="0" wrap="square" tIns="0">
              <a:spAutoFit/>
            </a:bodyPr>
            <a:lstStyle/>
            <a:p>
              <a:pPr indent="0" lvl="0" marL="0" marR="0" rtl="0" algn="l">
                <a:lnSpc>
                  <a:spcPct val="248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34" name="Google Shape;534;p22"/>
          <p:cNvSpPr txBox="1"/>
          <p:nvPr/>
        </p:nvSpPr>
        <p:spPr>
          <a:xfrm>
            <a:off x="660525" y="2865813"/>
            <a:ext cx="6362700" cy="7022400"/>
          </a:xfrm>
          <a:prstGeom prst="rect">
            <a:avLst/>
          </a:prstGeom>
          <a:noFill/>
          <a:ln>
            <a:noFill/>
          </a:ln>
        </p:spPr>
        <p:txBody>
          <a:bodyPr anchorCtr="0" anchor="t" bIns="0" lIns="0" spcFirstLastPara="1" rIns="0" wrap="square" tIns="0">
            <a:spAutoFit/>
          </a:bodyPr>
          <a:lstStyle/>
          <a:p>
            <a:pPr indent="-456026" lvl="1" marL="912052" marR="0" rtl="0" algn="just">
              <a:lnSpc>
                <a:spcPct val="140009"/>
              </a:lnSpc>
              <a:spcBef>
                <a:spcPts val="0"/>
              </a:spcBef>
              <a:spcAft>
                <a:spcPts val="0"/>
              </a:spcAft>
              <a:buClr>
                <a:srgbClr val="FFFFFF"/>
              </a:buClr>
              <a:buSzPts val="4224"/>
              <a:buFont typeface="Arial"/>
              <a:buChar char="•"/>
            </a:pPr>
            <a:r>
              <a:rPr b="0" i="0" lang="en-US" sz="4224" u="none" cap="none" strike="noStrike">
                <a:solidFill>
                  <a:srgbClr val="FFFFFF"/>
                </a:solidFill>
                <a:latin typeface="Open Sans"/>
                <a:ea typeface="Open Sans"/>
                <a:cs typeface="Open Sans"/>
                <a:sym typeface="Open Sans"/>
              </a:rPr>
              <a:t>Etcheverry</a:t>
            </a:r>
            <a:endParaRPr/>
          </a:p>
          <a:p>
            <a:pPr indent="-456026" lvl="1" marL="912052" marR="0" rtl="0" algn="just">
              <a:lnSpc>
                <a:spcPct val="140009"/>
              </a:lnSpc>
              <a:spcBef>
                <a:spcPts val="0"/>
              </a:spcBef>
              <a:spcAft>
                <a:spcPts val="0"/>
              </a:spcAft>
              <a:buClr>
                <a:srgbClr val="FFFFFF"/>
              </a:buClr>
              <a:buSzPts val="4224"/>
              <a:buFont typeface="Arial"/>
              <a:buChar char="•"/>
            </a:pPr>
            <a:r>
              <a:rPr b="0" i="0" lang="en-US" sz="4224" u="none" cap="none" strike="noStrike">
                <a:solidFill>
                  <a:srgbClr val="FFFFFF"/>
                </a:solidFill>
                <a:latin typeface="Open Sans"/>
                <a:ea typeface="Open Sans"/>
                <a:cs typeface="Open Sans"/>
                <a:sym typeface="Open Sans"/>
              </a:rPr>
              <a:t>Rossi</a:t>
            </a:r>
            <a:endParaRPr/>
          </a:p>
          <a:p>
            <a:pPr indent="-456026" lvl="1" marL="912052" marR="0" rtl="0" algn="just">
              <a:lnSpc>
                <a:spcPct val="140009"/>
              </a:lnSpc>
              <a:spcBef>
                <a:spcPts val="0"/>
              </a:spcBef>
              <a:spcAft>
                <a:spcPts val="0"/>
              </a:spcAft>
              <a:buClr>
                <a:srgbClr val="FFFFFF"/>
              </a:buClr>
              <a:buSzPts val="4224"/>
              <a:buFont typeface="Arial"/>
              <a:buChar char="•"/>
            </a:pPr>
            <a:r>
              <a:rPr b="0" i="0" lang="en-US" sz="4224" u="none" cap="none" strike="noStrike">
                <a:solidFill>
                  <a:srgbClr val="FFFFFF"/>
                </a:solidFill>
                <a:latin typeface="Open Sans"/>
                <a:ea typeface="Open Sans"/>
                <a:cs typeface="Open Sans"/>
                <a:sym typeface="Open Sans"/>
              </a:rPr>
              <a:t>Rodriguez</a:t>
            </a:r>
            <a:endParaRPr/>
          </a:p>
          <a:p>
            <a:pPr indent="-456026" lvl="1" marL="912052" marR="0" rtl="0" algn="just">
              <a:lnSpc>
                <a:spcPct val="140009"/>
              </a:lnSpc>
              <a:spcBef>
                <a:spcPts val="0"/>
              </a:spcBef>
              <a:spcAft>
                <a:spcPts val="0"/>
              </a:spcAft>
              <a:buClr>
                <a:srgbClr val="FFFFFF"/>
              </a:buClr>
              <a:buSzPts val="4224"/>
              <a:buFont typeface="Arial"/>
              <a:buChar char="•"/>
            </a:pPr>
            <a:r>
              <a:rPr b="0" i="0" lang="en-US" sz="4224" u="none" cap="none" strike="noStrike">
                <a:solidFill>
                  <a:srgbClr val="FFFFFF"/>
                </a:solidFill>
                <a:latin typeface="Open Sans"/>
                <a:ea typeface="Open Sans"/>
                <a:cs typeface="Open Sans"/>
                <a:sym typeface="Open Sans"/>
              </a:rPr>
              <a:t>Varaona</a:t>
            </a:r>
            <a:endParaRPr/>
          </a:p>
          <a:p>
            <a:pPr indent="-456026" lvl="1" marL="912052" marR="0" rtl="0" algn="just">
              <a:lnSpc>
                <a:spcPct val="140009"/>
              </a:lnSpc>
              <a:spcBef>
                <a:spcPts val="0"/>
              </a:spcBef>
              <a:spcAft>
                <a:spcPts val="0"/>
              </a:spcAft>
              <a:buClr>
                <a:srgbClr val="FFFFFF"/>
              </a:buClr>
              <a:buSzPts val="4224"/>
              <a:buFont typeface="Arial"/>
              <a:buChar char="•"/>
            </a:pPr>
            <a:r>
              <a:rPr b="0" i="0" lang="en-US" sz="4224" u="none" cap="none" strike="noStrike">
                <a:solidFill>
                  <a:srgbClr val="FFFFFF"/>
                </a:solidFill>
                <a:latin typeface="Open Sans"/>
                <a:ea typeface="Open Sans"/>
                <a:cs typeface="Open Sans"/>
                <a:sym typeface="Open Sans"/>
              </a:rPr>
              <a:t>Yahbes</a:t>
            </a:r>
            <a:endParaRPr/>
          </a:p>
          <a:p>
            <a:pPr indent="-456026" lvl="1" marL="912052" marR="0" rtl="0" algn="just">
              <a:lnSpc>
                <a:spcPct val="140009"/>
              </a:lnSpc>
              <a:spcBef>
                <a:spcPts val="0"/>
              </a:spcBef>
              <a:spcAft>
                <a:spcPts val="0"/>
              </a:spcAft>
              <a:buClr>
                <a:srgbClr val="FFFFFF"/>
              </a:buClr>
              <a:buSzPts val="4224"/>
              <a:buFont typeface="Arial"/>
              <a:buChar char="•"/>
            </a:pPr>
            <a:r>
              <a:rPr b="0" i="0" lang="en-US" sz="4224" u="none" cap="none" strike="noStrike">
                <a:solidFill>
                  <a:srgbClr val="FFFFFF"/>
                </a:solidFill>
                <a:latin typeface="Open Sans"/>
                <a:ea typeface="Open Sans"/>
                <a:cs typeface="Open Sans"/>
                <a:sym typeface="Open Sans"/>
              </a:rPr>
              <a:t>Miquelez</a:t>
            </a:r>
            <a:endParaRPr/>
          </a:p>
          <a:p>
            <a:pPr indent="-456026" lvl="1" marL="912052" marR="0" rtl="0" algn="just">
              <a:lnSpc>
                <a:spcPct val="140009"/>
              </a:lnSpc>
              <a:spcBef>
                <a:spcPts val="0"/>
              </a:spcBef>
              <a:spcAft>
                <a:spcPts val="0"/>
              </a:spcAft>
              <a:buClr>
                <a:srgbClr val="FFFFFF"/>
              </a:buClr>
              <a:buSzPts val="4224"/>
              <a:buFont typeface="Arial"/>
              <a:buChar char="•"/>
            </a:pPr>
            <a:r>
              <a:rPr b="0" i="0" lang="en-US" sz="4224" u="none" cap="none" strike="noStrike">
                <a:solidFill>
                  <a:srgbClr val="FFFFFF"/>
                </a:solidFill>
                <a:latin typeface="Open Sans"/>
                <a:ea typeface="Open Sans"/>
                <a:cs typeface="Open Sans"/>
                <a:sym typeface="Open Sans"/>
              </a:rPr>
              <a:t>Rollan</a:t>
            </a:r>
            <a:endParaRPr/>
          </a:p>
          <a:p>
            <a:pPr indent="-456026" lvl="1" marL="912052" marR="0" rtl="0" algn="just">
              <a:lnSpc>
                <a:spcPct val="140009"/>
              </a:lnSpc>
              <a:spcBef>
                <a:spcPts val="0"/>
              </a:spcBef>
              <a:spcAft>
                <a:spcPts val="0"/>
              </a:spcAft>
              <a:buClr>
                <a:srgbClr val="FFFFFF"/>
              </a:buClr>
              <a:buSzPts val="4224"/>
              <a:buFont typeface="Arial"/>
              <a:buChar char="•"/>
            </a:pPr>
            <a:r>
              <a:rPr b="0" i="0" lang="en-US" sz="4224" u="none" cap="none" strike="noStrike">
                <a:solidFill>
                  <a:srgbClr val="FFFFFF"/>
                </a:solidFill>
                <a:latin typeface="Open Sans"/>
                <a:ea typeface="Open Sans"/>
                <a:cs typeface="Open Sans"/>
                <a:sym typeface="Open Sans"/>
              </a:rPr>
              <a:t>Musco</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Usuario</dc:creator>
</cp:coreProperties>
</file>