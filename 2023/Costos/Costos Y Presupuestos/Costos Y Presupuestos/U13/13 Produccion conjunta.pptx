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9"/>
  </p:notesMasterIdLst>
  <p:sldIdLst>
    <p:sldId id="356" r:id="rId2"/>
    <p:sldId id="379" r:id="rId3"/>
    <p:sldId id="357" r:id="rId4"/>
    <p:sldId id="359" r:id="rId5"/>
    <p:sldId id="361" r:id="rId6"/>
    <p:sldId id="362" r:id="rId7"/>
    <p:sldId id="360" r:id="rId8"/>
    <p:sldId id="363" r:id="rId9"/>
    <p:sldId id="364" r:id="rId10"/>
    <p:sldId id="365" r:id="rId11"/>
    <p:sldId id="366" r:id="rId12"/>
    <p:sldId id="367" r:id="rId13"/>
    <p:sldId id="368" r:id="rId14"/>
    <p:sldId id="384" r:id="rId15"/>
    <p:sldId id="370" r:id="rId16"/>
    <p:sldId id="371" r:id="rId17"/>
    <p:sldId id="372" r:id="rId18"/>
    <p:sldId id="373" r:id="rId19"/>
    <p:sldId id="374" r:id="rId20"/>
    <p:sldId id="375" r:id="rId21"/>
    <p:sldId id="376" r:id="rId22"/>
    <p:sldId id="377" r:id="rId23"/>
    <p:sldId id="378" r:id="rId24"/>
    <p:sldId id="383" r:id="rId25"/>
    <p:sldId id="380" r:id="rId26"/>
    <p:sldId id="381" r:id="rId27"/>
    <p:sldId id="3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stavo massucco" initials="gm" lastIdx="1" clrIdx="0">
    <p:extLst>
      <p:ext uri="{19B8F6BF-5375-455C-9EA6-DF929625EA0E}">
        <p15:presenceInfo xmlns:p15="http://schemas.microsoft.com/office/powerpoint/2012/main" userId="S::gmassucco@frba.utn.edu.ar::1271f782-c2a0-484f-8edc-abfea8ad4a0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434" autoAdjust="0"/>
    <p:restoredTop sz="94665" autoAdjust="0"/>
  </p:normalViewPr>
  <p:slideViewPr>
    <p:cSldViewPr snapToGrid="0">
      <p:cViewPr>
        <p:scale>
          <a:sx n="99" d="100"/>
          <a:sy n="99" d="100"/>
        </p:scale>
        <p:origin x="504" y="5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583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A441F-8982-4902-B1FE-08DF82218E62}" type="datetimeFigureOut">
              <a:rPr lang="es-AR" smtClean="0"/>
              <a:t>26/9/2021</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57D551-39DC-4B61-9B7A-D9ED28759857}" type="slidenum">
              <a:rPr lang="es-AR" smtClean="0"/>
              <a:t>‹Nº›</a:t>
            </a:fld>
            <a:endParaRPr lang="es-AR"/>
          </a:p>
        </p:txBody>
      </p:sp>
    </p:spTree>
    <p:extLst>
      <p:ext uri="{BB962C8B-B14F-4D97-AF65-F5344CB8AC3E}">
        <p14:creationId xmlns:p14="http://schemas.microsoft.com/office/powerpoint/2010/main" val="2440336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6E57D551-39DC-4B61-9B7A-D9ED28759857}" type="slidenum">
              <a:rPr lang="es-AR" smtClean="0"/>
              <a:t>23</a:t>
            </a:fld>
            <a:endParaRPr lang="es-AR"/>
          </a:p>
        </p:txBody>
      </p:sp>
    </p:spTree>
    <p:extLst>
      <p:ext uri="{BB962C8B-B14F-4D97-AF65-F5344CB8AC3E}">
        <p14:creationId xmlns:p14="http://schemas.microsoft.com/office/powerpoint/2010/main" val="1806958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Century Gothic" panose="020B0502020202020204" pitchFamily="34" charset="0"/>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Century Gothic" panose="020B0502020202020204" pitchFamily="34" charset="0"/>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Century Gothic" panose="020B0502020202020204" pitchFamily="34" charset="0"/>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Century Gothic" panose="020B0502020202020204" pitchFamily="34" charset="0"/>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Haga clic para modificar los estilos de texto del patrón</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25">
            <a:extLst>
              <a:ext uri="{FF2B5EF4-FFF2-40B4-BE49-F238E27FC236}">
                <a16:creationId xmlns:a16="http://schemas.microsoft.com/office/drawing/2014/main" id="{F5642E8C-FD90-47FB-9533-A90C5141EDEF}"/>
              </a:ext>
            </a:extLst>
          </p:cNvPr>
          <p:cNvSpPr txBox="1">
            <a:spLocks noGrp="1" noChangeArrowheads="1"/>
          </p:cNvSpPr>
          <p:nvPr>
            <p:ph type="ctrTitle"/>
          </p:nvPr>
        </p:nvSpPr>
        <p:spPr bwMode="auto">
          <a:xfrm>
            <a:off x="1842593" y="804676"/>
            <a:ext cx="89154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s-MX" altLang="es-AR" dirty="0">
                <a:effectLst>
                  <a:outerShdw blurRad="38100" dist="38100" dir="2700000" algn="tl">
                    <a:srgbClr val="C0C0C0"/>
                  </a:outerShdw>
                </a:effectLst>
                <a:latin typeface="Tahoma" pitchFamily="34" charset="0"/>
                <a:cs typeface="Arial" charset="0"/>
              </a:rPr>
              <a:t>COSTOS Y PRESUPUESTOS</a:t>
            </a:r>
          </a:p>
        </p:txBody>
      </p:sp>
      <p:sp>
        <p:nvSpPr>
          <p:cNvPr id="5" name="Text Box 26">
            <a:extLst>
              <a:ext uri="{FF2B5EF4-FFF2-40B4-BE49-F238E27FC236}">
                <a16:creationId xmlns:a16="http://schemas.microsoft.com/office/drawing/2014/main" id="{27735A57-3B03-42B6-BDFC-E5E8B31EF7BE}"/>
              </a:ext>
            </a:extLst>
          </p:cNvPr>
          <p:cNvSpPr txBox="1">
            <a:spLocks noGrp="1" noChangeArrowheads="1"/>
          </p:cNvSpPr>
          <p:nvPr>
            <p:ph type="subTitle" idx="1"/>
          </p:nvPr>
        </p:nvSpPr>
        <p:spPr bwMode="auto">
          <a:xfrm>
            <a:off x="1524816" y="2733938"/>
            <a:ext cx="955095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defRPr/>
            </a:pPr>
            <a:r>
              <a:rPr lang="es-MX" altLang="es-AR" sz="4400" dirty="0">
                <a:solidFill>
                  <a:schemeClr val="tx1">
                    <a:lumMod val="75000"/>
                    <a:lumOff val="25000"/>
                  </a:schemeClr>
                </a:solidFill>
                <a:effectLst>
                  <a:outerShdw blurRad="38100" dist="38100" dir="2700000" algn="tl">
                    <a:srgbClr val="C0C0C0"/>
                  </a:outerShdw>
                </a:effectLst>
                <a:latin typeface="Tahoma" pitchFamily="34" charset="0"/>
                <a:cs typeface="Arial" charset="0"/>
              </a:rPr>
              <a:t>PRODUCCION CONJUNTA</a:t>
            </a:r>
            <a:endParaRPr lang="es-MX" altLang="es-AR" sz="3200" dirty="0">
              <a:solidFill>
                <a:schemeClr val="tx1">
                  <a:lumMod val="75000"/>
                  <a:lumOff val="25000"/>
                </a:schemeClr>
              </a:solidFill>
              <a:effectLst>
                <a:outerShdw blurRad="38100" dist="38100" dir="2700000" algn="tl">
                  <a:srgbClr val="C0C0C0"/>
                </a:outerShdw>
              </a:effectLst>
              <a:latin typeface="Tahoma" pitchFamily="34" charset="0"/>
              <a:cs typeface="Arial" charset="0"/>
            </a:endParaRPr>
          </a:p>
        </p:txBody>
      </p:sp>
      <p:sp>
        <p:nvSpPr>
          <p:cNvPr id="6" name="CuadroTexto 5">
            <a:extLst>
              <a:ext uri="{FF2B5EF4-FFF2-40B4-BE49-F238E27FC236}">
                <a16:creationId xmlns:a16="http://schemas.microsoft.com/office/drawing/2014/main" id="{D9FA0E92-5CE1-472E-A758-7CE737D9664B}"/>
              </a:ext>
            </a:extLst>
          </p:cNvPr>
          <p:cNvSpPr txBox="1"/>
          <p:nvPr/>
        </p:nvSpPr>
        <p:spPr>
          <a:xfrm>
            <a:off x="2520805" y="6085342"/>
            <a:ext cx="8396578" cy="400110"/>
          </a:xfrm>
          <a:prstGeom prst="rect">
            <a:avLst/>
          </a:prstGeom>
          <a:noFill/>
        </p:spPr>
        <p:txBody>
          <a:bodyPr wrap="square" rtlCol="0">
            <a:spAutoFit/>
          </a:bodyPr>
          <a:lstStyle/>
          <a:p>
            <a:r>
              <a:rPr lang="es-AR" sz="2000" dirty="0"/>
              <a:t>Ingeniero Gustavo Massucco</a:t>
            </a:r>
          </a:p>
        </p:txBody>
      </p:sp>
      <p:sp>
        <p:nvSpPr>
          <p:cNvPr id="7" name="Marcador de número de diapositiva 6">
            <a:extLst>
              <a:ext uri="{FF2B5EF4-FFF2-40B4-BE49-F238E27FC236}">
                <a16:creationId xmlns:a16="http://schemas.microsoft.com/office/drawing/2014/main" id="{33674575-47D4-476C-8772-8197234BCF0D}"/>
              </a:ext>
            </a:extLst>
          </p:cNvPr>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3435892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A34315E6-E56E-4C12-8DF3-607B8A329239}"/>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
        <p:nvSpPr>
          <p:cNvPr id="3" name="Rectángulo 2">
            <a:extLst>
              <a:ext uri="{FF2B5EF4-FFF2-40B4-BE49-F238E27FC236}">
                <a16:creationId xmlns:a16="http://schemas.microsoft.com/office/drawing/2014/main" id="{010D6F2F-C0AF-4964-9C18-4F719317A9BC}"/>
              </a:ext>
            </a:extLst>
          </p:cNvPr>
          <p:cNvSpPr/>
          <p:nvPr/>
        </p:nvSpPr>
        <p:spPr>
          <a:xfrm>
            <a:off x="3638145" y="2393004"/>
            <a:ext cx="2188723" cy="11965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COSTO CONJUNTO</a:t>
            </a:r>
          </a:p>
        </p:txBody>
      </p:sp>
      <p:cxnSp>
        <p:nvCxnSpPr>
          <p:cNvPr id="5" name="Conector recto de flecha 4">
            <a:extLst>
              <a:ext uri="{FF2B5EF4-FFF2-40B4-BE49-F238E27FC236}">
                <a16:creationId xmlns:a16="http://schemas.microsoft.com/office/drawing/2014/main" id="{D89C3891-CB32-408B-8847-BB159114744D}"/>
              </a:ext>
            </a:extLst>
          </p:cNvPr>
          <p:cNvCxnSpPr>
            <a:endCxn id="3" idx="1"/>
          </p:cNvCxnSpPr>
          <p:nvPr/>
        </p:nvCxnSpPr>
        <p:spPr>
          <a:xfrm>
            <a:off x="1945532" y="2003898"/>
            <a:ext cx="1692613" cy="9873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032BF1F7-A627-4AE7-85CD-15AD98A3FFA8}"/>
              </a:ext>
            </a:extLst>
          </p:cNvPr>
          <p:cNvSpPr txBox="1"/>
          <p:nvPr/>
        </p:nvSpPr>
        <p:spPr>
          <a:xfrm>
            <a:off x="2033081" y="1405647"/>
            <a:ext cx="642025" cy="369332"/>
          </a:xfrm>
          <a:prstGeom prst="rect">
            <a:avLst/>
          </a:prstGeom>
          <a:noFill/>
        </p:spPr>
        <p:txBody>
          <a:bodyPr wrap="square" rtlCol="0">
            <a:spAutoFit/>
          </a:bodyPr>
          <a:lstStyle/>
          <a:p>
            <a:r>
              <a:rPr lang="es-AR" dirty="0"/>
              <a:t>MP</a:t>
            </a:r>
          </a:p>
        </p:txBody>
      </p:sp>
      <p:sp>
        <p:nvSpPr>
          <p:cNvPr id="27" name="CuadroTexto 26">
            <a:extLst>
              <a:ext uri="{FF2B5EF4-FFF2-40B4-BE49-F238E27FC236}">
                <a16:creationId xmlns:a16="http://schemas.microsoft.com/office/drawing/2014/main" id="{C48AE38E-6B22-44DF-979B-BBE3621DFB3F}"/>
              </a:ext>
            </a:extLst>
          </p:cNvPr>
          <p:cNvSpPr txBox="1"/>
          <p:nvPr/>
        </p:nvSpPr>
        <p:spPr>
          <a:xfrm>
            <a:off x="1935803" y="3404840"/>
            <a:ext cx="642025" cy="369332"/>
          </a:xfrm>
          <a:prstGeom prst="rect">
            <a:avLst/>
          </a:prstGeom>
          <a:noFill/>
        </p:spPr>
        <p:txBody>
          <a:bodyPr wrap="square" rtlCol="0">
            <a:spAutoFit/>
          </a:bodyPr>
          <a:lstStyle/>
          <a:p>
            <a:r>
              <a:rPr lang="es-AR" dirty="0"/>
              <a:t>GIF</a:t>
            </a:r>
          </a:p>
        </p:txBody>
      </p:sp>
      <p:sp>
        <p:nvSpPr>
          <p:cNvPr id="29" name="CuadroTexto 28">
            <a:extLst>
              <a:ext uri="{FF2B5EF4-FFF2-40B4-BE49-F238E27FC236}">
                <a16:creationId xmlns:a16="http://schemas.microsoft.com/office/drawing/2014/main" id="{0536E68A-01E4-4015-9023-849B641254CC}"/>
              </a:ext>
            </a:extLst>
          </p:cNvPr>
          <p:cNvSpPr txBox="1"/>
          <p:nvPr/>
        </p:nvSpPr>
        <p:spPr>
          <a:xfrm>
            <a:off x="1890408" y="2679153"/>
            <a:ext cx="784698" cy="369332"/>
          </a:xfrm>
          <a:prstGeom prst="rect">
            <a:avLst/>
          </a:prstGeom>
          <a:noFill/>
        </p:spPr>
        <p:txBody>
          <a:bodyPr wrap="square" rtlCol="0">
            <a:spAutoFit/>
          </a:bodyPr>
          <a:lstStyle/>
          <a:p>
            <a:r>
              <a:rPr lang="es-AR" dirty="0"/>
              <a:t>MOD</a:t>
            </a:r>
          </a:p>
        </p:txBody>
      </p:sp>
      <p:cxnSp>
        <p:nvCxnSpPr>
          <p:cNvPr id="8" name="Conector recto de flecha 7">
            <a:extLst>
              <a:ext uri="{FF2B5EF4-FFF2-40B4-BE49-F238E27FC236}">
                <a16:creationId xmlns:a16="http://schemas.microsoft.com/office/drawing/2014/main" id="{E3E7760D-F07C-44C5-BAA5-F52F08317423}"/>
              </a:ext>
            </a:extLst>
          </p:cNvPr>
          <p:cNvCxnSpPr>
            <a:endCxn id="3" idx="1"/>
          </p:cNvCxnSpPr>
          <p:nvPr/>
        </p:nvCxnSpPr>
        <p:spPr>
          <a:xfrm flipV="1">
            <a:off x="1585609" y="2991255"/>
            <a:ext cx="2052536" cy="114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7A53A753-825E-414F-B17F-CA1A290552CF}"/>
              </a:ext>
            </a:extLst>
          </p:cNvPr>
          <p:cNvCxnSpPr>
            <a:endCxn id="3" idx="1"/>
          </p:cNvCxnSpPr>
          <p:nvPr/>
        </p:nvCxnSpPr>
        <p:spPr>
          <a:xfrm flipV="1">
            <a:off x="1945532" y="2991255"/>
            <a:ext cx="1692613" cy="11018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72FBE3D9-DE49-478C-864A-09C5AABD2B54}"/>
              </a:ext>
            </a:extLst>
          </p:cNvPr>
          <p:cNvCxnSpPr>
            <a:stCxn id="3" idx="3"/>
          </p:cNvCxnSpPr>
          <p:nvPr/>
        </p:nvCxnSpPr>
        <p:spPr>
          <a:xfrm>
            <a:off x="5826868" y="2991255"/>
            <a:ext cx="0" cy="174611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35" name="CuadroTexto 34">
            <a:extLst>
              <a:ext uri="{FF2B5EF4-FFF2-40B4-BE49-F238E27FC236}">
                <a16:creationId xmlns:a16="http://schemas.microsoft.com/office/drawing/2014/main" id="{2C9CDAFE-D043-48EB-8A6A-B3DC6FA99F85}"/>
              </a:ext>
            </a:extLst>
          </p:cNvPr>
          <p:cNvSpPr txBox="1"/>
          <p:nvPr/>
        </p:nvSpPr>
        <p:spPr>
          <a:xfrm>
            <a:off x="4588212" y="4737370"/>
            <a:ext cx="3242547" cy="369332"/>
          </a:xfrm>
          <a:prstGeom prst="rect">
            <a:avLst/>
          </a:prstGeom>
          <a:noFill/>
        </p:spPr>
        <p:txBody>
          <a:bodyPr wrap="square" rtlCol="0">
            <a:spAutoFit/>
          </a:bodyPr>
          <a:lstStyle/>
          <a:p>
            <a:r>
              <a:rPr lang="es-AR" dirty="0"/>
              <a:t>PUNTO DE SEPARACION</a:t>
            </a:r>
          </a:p>
        </p:txBody>
      </p:sp>
      <p:cxnSp>
        <p:nvCxnSpPr>
          <p:cNvPr id="14" name="Conector recto de flecha 13">
            <a:extLst>
              <a:ext uri="{FF2B5EF4-FFF2-40B4-BE49-F238E27FC236}">
                <a16:creationId xmlns:a16="http://schemas.microsoft.com/office/drawing/2014/main" id="{0B070350-9A64-44F3-AC3A-7D1EE48C1721}"/>
              </a:ext>
            </a:extLst>
          </p:cNvPr>
          <p:cNvCxnSpPr/>
          <p:nvPr/>
        </p:nvCxnSpPr>
        <p:spPr>
          <a:xfrm flipV="1">
            <a:off x="5826868" y="2091447"/>
            <a:ext cx="2091447" cy="4160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CuadroTexto 14">
            <a:extLst>
              <a:ext uri="{FF2B5EF4-FFF2-40B4-BE49-F238E27FC236}">
                <a16:creationId xmlns:a16="http://schemas.microsoft.com/office/drawing/2014/main" id="{E899D976-7065-40B6-AA22-F296A033E94D}"/>
              </a:ext>
            </a:extLst>
          </p:cNvPr>
          <p:cNvSpPr txBox="1"/>
          <p:nvPr/>
        </p:nvSpPr>
        <p:spPr>
          <a:xfrm>
            <a:off x="7830759" y="1843391"/>
            <a:ext cx="1147871" cy="369332"/>
          </a:xfrm>
          <a:prstGeom prst="rect">
            <a:avLst/>
          </a:prstGeom>
          <a:solidFill>
            <a:schemeClr val="accent4">
              <a:lumMod val="60000"/>
              <a:lumOff val="40000"/>
            </a:schemeClr>
          </a:solidFill>
        </p:spPr>
        <p:txBody>
          <a:bodyPr wrap="square" rtlCol="0">
            <a:spAutoFit/>
          </a:bodyPr>
          <a:lstStyle/>
          <a:p>
            <a:r>
              <a:rPr lang="es-AR" dirty="0"/>
              <a:t>CDPS 1</a:t>
            </a:r>
          </a:p>
        </p:txBody>
      </p:sp>
      <p:cxnSp>
        <p:nvCxnSpPr>
          <p:cNvPr id="17" name="Conector recto de flecha 16">
            <a:extLst>
              <a:ext uri="{FF2B5EF4-FFF2-40B4-BE49-F238E27FC236}">
                <a16:creationId xmlns:a16="http://schemas.microsoft.com/office/drawing/2014/main" id="{040F8ACD-14F9-4420-99A9-B9B61D3004E6}"/>
              </a:ext>
            </a:extLst>
          </p:cNvPr>
          <p:cNvCxnSpPr/>
          <p:nvPr/>
        </p:nvCxnSpPr>
        <p:spPr>
          <a:xfrm>
            <a:off x="8978630" y="2003898"/>
            <a:ext cx="101167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CuadroTexto 17">
            <a:extLst>
              <a:ext uri="{FF2B5EF4-FFF2-40B4-BE49-F238E27FC236}">
                <a16:creationId xmlns:a16="http://schemas.microsoft.com/office/drawing/2014/main" id="{0D332CCA-B649-4A26-89D6-64678EA5BBDC}"/>
              </a:ext>
            </a:extLst>
          </p:cNvPr>
          <p:cNvSpPr txBox="1"/>
          <p:nvPr/>
        </p:nvSpPr>
        <p:spPr>
          <a:xfrm>
            <a:off x="10306452" y="1804481"/>
            <a:ext cx="554483" cy="369332"/>
          </a:xfrm>
          <a:prstGeom prst="rect">
            <a:avLst/>
          </a:prstGeom>
          <a:noFill/>
        </p:spPr>
        <p:txBody>
          <a:bodyPr wrap="square" rtlCol="0">
            <a:spAutoFit/>
          </a:bodyPr>
          <a:lstStyle/>
          <a:p>
            <a:r>
              <a:rPr lang="es-AR" dirty="0"/>
              <a:t>P1</a:t>
            </a:r>
          </a:p>
        </p:txBody>
      </p:sp>
      <p:sp>
        <p:nvSpPr>
          <p:cNvPr id="44" name="CuadroTexto 43">
            <a:extLst>
              <a:ext uri="{FF2B5EF4-FFF2-40B4-BE49-F238E27FC236}">
                <a16:creationId xmlns:a16="http://schemas.microsoft.com/office/drawing/2014/main" id="{1DAEDCCD-43D9-4AB2-8018-C1C029B4F641}"/>
              </a:ext>
            </a:extLst>
          </p:cNvPr>
          <p:cNvSpPr txBox="1"/>
          <p:nvPr/>
        </p:nvSpPr>
        <p:spPr>
          <a:xfrm>
            <a:off x="10345362" y="2943753"/>
            <a:ext cx="554483" cy="369332"/>
          </a:xfrm>
          <a:prstGeom prst="rect">
            <a:avLst/>
          </a:prstGeom>
          <a:noFill/>
        </p:spPr>
        <p:txBody>
          <a:bodyPr wrap="square" rtlCol="0">
            <a:spAutoFit/>
          </a:bodyPr>
          <a:lstStyle/>
          <a:p>
            <a:r>
              <a:rPr lang="es-AR" dirty="0"/>
              <a:t>P2</a:t>
            </a:r>
          </a:p>
        </p:txBody>
      </p:sp>
      <p:sp>
        <p:nvSpPr>
          <p:cNvPr id="47" name="CuadroTexto 46">
            <a:extLst>
              <a:ext uri="{FF2B5EF4-FFF2-40B4-BE49-F238E27FC236}">
                <a16:creationId xmlns:a16="http://schemas.microsoft.com/office/drawing/2014/main" id="{C8E69936-E092-47AF-823A-0F10B096654A}"/>
              </a:ext>
            </a:extLst>
          </p:cNvPr>
          <p:cNvSpPr txBox="1"/>
          <p:nvPr/>
        </p:nvSpPr>
        <p:spPr>
          <a:xfrm>
            <a:off x="10437776" y="4093071"/>
            <a:ext cx="554483" cy="369332"/>
          </a:xfrm>
          <a:prstGeom prst="rect">
            <a:avLst/>
          </a:prstGeom>
          <a:noFill/>
        </p:spPr>
        <p:txBody>
          <a:bodyPr wrap="square" rtlCol="0">
            <a:spAutoFit/>
          </a:bodyPr>
          <a:lstStyle/>
          <a:p>
            <a:r>
              <a:rPr lang="es-AR" dirty="0"/>
              <a:t>P3</a:t>
            </a:r>
          </a:p>
        </p:txBody>
      </p:sp>
      <p:cxnSp>
        <p:nvCxnSpPr>
          <p:cNvPr id="25" name="Conector recto de flecha 24">
            <a:extLst>
              <a:ext uri="{FF2B5EF4-FFF2-40B4-BE49-F238E27FC236}">
                <a16:creationId xmlns:a16="http://schemas.microsoft.com/office/drawing/2014/main" id="{E3787D1C-D656-4A25-AEC1-AD619C1D7D9D}"/>
              </a:ext>
            </a:extLst>
          </p:cNvPr>
          <p:cNvCxnSpPr>
            <a:stCxn id="3" idx="3"/>
            <a:endCxn id="44" idx="1"/>
          </p:cNvCxnSpPr>
          <p:nvPr/>
        </p:nvCxnSpPr>
        <p:spPr>
          <a:xfrm>
            <a:off x="5826868" y="2991255"/>
            <a:ext cx="4518494" cy="1371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ector recto de flecha 36">
            <a:extLst>
              <a:ext uri="{FF2B5EF4-FFF2-40B4-BE49-F238E27FC236}">
                <a16:creationId xmlns:a16="http://schemas.microsoft.com/office/drawing/2014/main" id="{6CB6CF0D-7247-438E-9B58-AD81BE135D12}"/>
              </a:ext>
            </a:extLst>
          </p:cNvPr>
          <p:cNvCxnSpPr>
            <a:endCxn id="47" idx="1"/>
          </p:cNvCxnSpPr>
          <p:nvPr/>
        </p:nvCxnSpPr>
        <p:spPr>
          <a:xfrm>
            <a:off x="5826868" y="3404840"/>
            <a:ext cx="4610908" cy="8728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CuadroTexto 37">
            <a:extLst>
              <a:ext uri="{FF2B5EF4-FFF2-40B4-BE49-F238E27FC236}">
                <a16:creationId xmlns:a16="http://schemas.microsoft.com/office/drawing/2014/main" id="{8BF80360-81C0-4104-B5CE-3035C6797D24}"/>
              </a:ext>
            </a:extLst>
          </p:cNvPr>
          <p:cNvSpPr txBox="1"/>
          <p:nvPr/>
        </p:nvSpPr>
        <p:spPr>
          <a:xfrm>
            <a:off x="6468894" y="1152907"/>
            <a:ext cx="3876468" cy="646331"/>
          </a:xfrm>
          <a:prstGeom prst="rect">
            <a:avLst/>
          </a:prstGeom>
          <a:noFill/>
        </p:spPr>
        <p:txBody>
          <a:bodyPr wrap="square" rtlCol="0">
            <a:spAutoFit/>
          </a:bodyPr>
          <a:lstStyle/>
          <a:p>
            <a:r>
              <a:rPr lang="es-AR" dirty="0"/>
              <a:t>COSTO DESPUES DEL PUNTO DE SEPARACION</a:t>
            </a:r>
          </a:p>
        </p:txBody>
      </p:sp>
      <p:sp>
        <p:nvSpPr>
          <p:cNvPr id="50" name="CuadroTexto 49">
            <a:extLst>
              <a:ext uri="{FF2B5EF4-FFF2-40B4-BE49-F238E27FC236}">
                <a16:creationId xmlns:a16="http://schemas.microsoft.com/office/drawing/2014/main" id="{2A9ADF54-B1F1-413D-9C0F-F66E1DDC5865}"/>
              </a:ext>
            </a:extLst>
          </p:cNvPr>
          <p:cNvSpPr txBox="1"/>
          <p:nvPr/>
        </p:nvSpPr>
        <p:spPr>
          <a:xfrm>
            <a:off x="3954291" y="354086"/>
            <a:ext cx="4314220" cy="369332"/>
          </a:xfrm>
          <a:prstGeom prst="rect">
            <a:avLst/>
          </a:prstGeom>
          <a:noFill/>
        </p:spPr>
        <p:txBody>
          <a:bodyPr wrap="square" rtlCol="0">
            <a:spAutoFit/>
          </a:bodyPr>
          <a:lstStyle/>
          <a:p>
            <a:r>
              <a:rPr lang="es-AR" dirty="0"/>
              <a:t>COSTO TOTAL  P1= CC 1 + CDPS 1</a:t>
            </a:r>
          </a:p>
        </p:txBody>
      </p:sp>
    </p:spTree>
    <p:extLst>
      <p:ext uri="{BB962C8B-B14F-4D97-AF65-F5344CB8AC3E}">
        <p14:creationId xmlns:p14="http://schemas.microsoft.com/office/powerpoint/2010/main" val="1118126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5" name="CuadroTexto 4">
            <a:extLst>
              <a:ext uri="{FF2B5EF4-FFF2-40B4-BE49-F238E27FC236}">
                <a16:creationId xmlns:a16="http://schemas.microsoft.com/office/drawing/2014/main" id="{7C264458-18C2-4F2D-8C9E-68482984A700}"/>
              </a:ext>
            </a:extLst>
          </p:cNvPr>
          <p:cNvSpPr txBox="1"/>
          <p:nvPr/>
        </p:nvSpPr>
        <p:spPr>
          <a:xfrm>
            <a:off x="2788531" y="4091648"/>
            <a:ext cx="7490298" cy="1631216"/>
          </a:xfrm>
          <a:prstGeom prst="rect">
            <a:avLst/>
          </a:prstGeom>
          <a:noFill/>
        </p:spPr>
        <p:txBody>
          <a:bodyPr wrap="square" rtlCol="0">
            <a:spAutoFit/>
          </a:bodyPr>
          <a:lstStyle/>
          <a:p>
            <a:r>
              <a:rPr lang="es-AR" sz="2000" b="1" dirty="0"/>
              <a:t>COSTO DE PRODUCTOS CONEXOS</a:t>
            </a:r>
          </a:p>
          <a:p>
            <a:pPr marL="742950" lvl="1" indent="-285750">
              <a:buClr>
                <a:srgbClr val="92D050"/>
              </a:buClr>
              <a:buFont typeface="Arial" panose="020B0604020202020204" pitchFamily="34" charset="0"/>
              <a:buChar char="•"/>
            </a:pPr>
            <a:r>
              <a:rPr lang="es-AR" sz="2000" dirty="0"/>
              <a:t>Son los que se obtienen a partir de un </a:t>
            </a:r>
            <a:r>
              <a:rPr lang="es-AR" sz="2000" b="1" dirty="0"/>
              <a:t>Proceso Conjunto</a:t>
            </a:r>
          </a:p>
          <a:p>
            <a:pPr marL="742950" lvl="1" indent="-285750">
              <a:buClr>
                <a:srgbClr val="92D050"/>
              </a:buClr>
              <a:buFont typeface="Arial" panose="020B0604020202020204" pitchFamily="34" charset="0"/>
              <a:buChar char="•"/>
            </a:pPr>
            <a:r>
              <a:rPr lang="es-AR" sz="2000" dirty="0"/>
              <a:t>Muchas veces, a estos productos conexos, se les debe agregar un nuevo costo para su terminación </a:t>
            </a:r>
          </a:p>
        </p:txBody>
      </p:sp>
      <p:sp>
        <p:nvSpPr>
          <p:cNvPr id="7" name="CuadroTexto 6">
            <a:extLst>
              <a:ext uri="{FF2B5EF4-FFF2-40B4-BE49-F238E27FC236}">
                <a16:creationId xmlns:a16="http://schemas.microsoft.com/office/drawing/2014/main" id="{5096334E-2E24-448D-98CC-E72C9F3D3D10}"/>
              </a:ext>
            </a:extLst>
          </p:cNvPr>
          <p:cNvSpPr txBox="1"/>
          <p:nvPr/>
        </p:nvSpPr>
        <p:spPr>
          <a:xfrm>
            <a:off x="2745260" y="1815376"/>
            <a:ext cx="7490298" cy="1938992"/>
          </a:xfrm>
          <a:prstGeom prst="rect">
            <a:avLst/>
          </a:prstGeom>
          <a:noFill/>
        </p:spPr>
        <p:txBody>
          <a:bodyPr wrap="square" rtlCol="0">
            <a:spAutoFit/>
          </a:bodyPr>
          <a:lstStyle/>
          <a:p>
            <a:r>
              <a:rPr lang="es-AR" sz="2000" b="1" dirty="0"/>
              <a:t>PRODUCCION CONJUNTA</a:t>
            </a:r>
          </a:p>
          <a:p>
            <a:pPr marL="742950" lvl="1" indent="-285750">
              <a:buClr>
                <a:srgbClr val="92D050"/>
              </a:buClr>
              <a:buFont typeface="Arial" panose="020B0604020202020204" pitchFamily="34" charset="0"/>
              <a:buChar char="•"/>
            </a:pPr>
            <a:r>
              <a:rPr lang="es-AR" sz="2000" dirty="0"/>
              <a:t>Los productos conjuntos tienen una relación física que requiere un procesamiento común.</a:t>
            </a:r>
          </a:p>
          <a:p>
            <a:pPr marL="742950" lvl="1" indent="-285750">
              <a:buClr>
                <a:srgbClr val="92D050"/>
              </a:buClr>
              <a:buFont typeface="Arial" panose="020B0604020202020204" pitchFamily="34" charset="0"/>
              <a:buChar char="•"/>
            </a:pPr>
            <a:r>
              <a:rPr lang="es-AR" sz="2000" dirty="0"/>
              <a:t>La manufactura de productos conjuntos siempre tienen un punto de separación del cual surgen los productos conexos</a:t>
            </a:r>
          </a:p>
        </p:txBody>
      </p:sp>
    </p:spTree>
    <p:extLst>
      <p:ext uri="{BB962C8B-B14F-4D97-AF65-F5344CB8AC3E}">
        <p14:creationId xmlns:p14="http://schemas.microsoft.com/office/powerpoint/2010/main" val="2294965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
        <p:nvSpPr>
          <p:cNvPr id="3" name="Rectángulo 2">
            <a:extLst>
              <a:ext uri="{FF2B5EF4-FFF2-40B4-BE49-F238E27FC236}">
                <a16:creationId xmlns:a16="http://schemas.microsoft.com/office/drawing/2014/main" id="{C5ECF7A6-1391-4406-9832-F0814D1F54A1}"/>
              </a:ext>
            </a:extLst>
          </p:cNvPr>
          <p:cNvSpPr/>
          <p:nvPr/>
        </p:nvSpPr>
        <p:spPr>
          <a:xfrm>
            <a:off x="1457883" y="1721796"/>
            <a:ext cx="10458888" cy="4228017"/>
          </a:xfrm>
          <a:prstGeom prst="rect">
            <a:avLst/>
          </a:prstGeom>
        </p:spPr>
        <p:txBody>
          <a:bodyPr wrap="square">
            <a:spAutoFit/>
          </a:bodyPr>
          <a:lstStyle/>
          <a:p>
            <a:pPr>
              <a:lnSpc>
                <a:spcPct val="107000"/>
              </a:lnSpc>
              <a:spcBef>
                <a:spcPts val="675"/>
              </a:spcBef>
              <a:spcAft>
                <a:spcPts val="675"/>
              </a:spcAft>
            </a:pPr>
            <a:r>
              <a:rPr lang="es-AR" sz="2000" b="1" dirty="0">
                <a:solidFill>
                  <a:schemeClr val="tx1">
                    <a:lumMod val="75000"/>
                    <a:lumOff val="25000"/>
                  </a:schemeClr>
                </a:solidFill>
                <a:latin typeface="+mj-lt"/>
                <a:ea typeface="Times New Roman" panose="02020603050405020304" pitchFamily="18" charset="0"/>
                <a:cs typeface="Times New Roman" panose="02020603050405020304" pitchFamily="18" charset="0"/>
              </a:rPr>
              <a:t>COSTOS CONJUNTOS Y PUNTO DE SEPARACION</a:t>
            </a: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a:t>
            </a:r>
            <a:endParaRPr lang="es-AR" sz="2000" dirty="0">
              <a:solidFill>
                <a:schemeClr val="tx1">
                  <a:lumMod val="75000"/>
                  <a:lumOff val="25000"/>
                </a:schemeClr>
              </a:solidFill>
              <a:latin typeface="+mj-lt"/>
              <a:ea typeface="Calibri" panose="020F0502020204030204" pitchFamily="34" charset="0"/>
              <a:cs typeface="Times New Roman" panose="02020603050405020304" pitchFamily="18" charset="0"/>
            </a:endParaRPr>
          </a:p>
          <a:p>
            <a:pPr marL="285750" indent="-285750">
              <a:lnSpc>
                <a:spcPct val="107000"/>
              </a:lnSpc>
              <a:spcBef>
                <a:spcPts val="675"/>
              </a:spcBef>
              <a:spcAft>
                <a:spcPts val="675"/>
              </a:spcAft>
              <a:buClr>
                <a:srgbClr val="92D050"/>
              </a:buClr>
              <a:buFont typeface="Arial" panose="020B0604020202020204" pitchFamily="34" charset="0"/>
              <a:buChar char="•"/>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Una dificultad importante e inherente a los costos conjuntos, es que son indivisibles; es decir, los costos conjuntos no son específicamente identificables con algunos de los productos que se ésta produciendo en forma simultánea.</a:t>
            </a:r>
          </a:p>
          <a:p>
            <a:pPr marL="285750" indent="-285750">
              <a:lnSpc>
                <a:spcPct val="107000"/>
              </a:lnSpc>
              <a:spcBef>
                <a:spcPts val="675"/>
              </a:spcBef>
              <a:spcAft>
                <a:spcPts val="675"/>
              </a:spcAft>
              <a:buClr>
                <a:srgbClr val="92D050"/>
              </a:buClr>
              <a:buFont typeface="Arial" panose="020B0604020202020204" pitchFamily="34" charset="0"/>
              <a:buChar char="•"/>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 Por ejemplo, los costos incurridos por una compañía refinadora para localizar, extraer y procesar un mineral, son costos conjuntos que deben asignarse, por ejemplo, al hierro zinc o plomo que se extraen posteriormente del mineral.</a:t>
            </a:r>
          </a:p>
          <a:p>
            <a:pPr marL="285750" indent="-285750">
              <a:lnSpc>
                <a:spcPct val="107000"/>
              </a:lnSpc>
              <a:spcBef>
                <a:spcPts val="675"/>
              </a:spcBef>
              <a:spcAft>
                <a:spcPts val="675"/>
              </a:spcAft>
              <a:buClr>
                <a:srgbClr val="92D050"/>
              </a:buClr>
              <a:buFont typeface="Arial" panose="020B0604020202020204" pitchFamily="34" charset="0"/>
              <a:buChar char="•"/>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 Los costos de procesamiento adicional (denominados costos después de punto de separación) son aquellos que se incurren para producir productos individuales después de haber surgido (luego del punto de separación) de materias primas comunes y/o proceso de manufactura común.</a:t>
            </a:r>
            <a:endParaRPr lang="es-AR" sz="2000" dirty="0">
              <a:solidFill>
                <a:schemeClr val="tx1">
                  <a:lumMod val="75000"/>
                  <a:lumOff val="25000"/>
                </a:schemeClr>
              </a:solidFill>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09316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
        <p:nvSpPr>
          <p:cNvPr id="3" name="Rectángulo 2">
            <a:extLst>
              <a:ext uri="{FF2B5EF4-FFF2-40B4-BE49-F238E27FC236}">
                <a16:creationId xmlns:a16="http://schemas.microsoft.com/office/drawing/2014/main" id="{C5ECF7A6-1391-4406-9832-F0814D1F54A1}"/>
              </a:ext>
            </a:extLst>
          </p:cNvPr>
          <p:cNvSpPr/>
          <p:nvPr/>
        </p:nvSpPr>
        <p:spPr>
          <a:xfrm>
            <a:off x="1498010" y="2019692"/>
            <a:ext cx="10458888" cy="2401876"/>
          </a:xfrm>
          <a:prstGeom prst="rect">
            <a:avLst/>
          </a:prstGeom>
        </p:spPr>
        <p:txBody>
          <a:bodyPr wrap="square">
            <a:spAutoFit/>
          </a:bodyPr>
          <a:lstStyle/>
          <a:p>
            <a:pPr>
              <a:lnSpc>
                <a:spcPct val="107000"/>
              </a:lnSpc>
              <a:spcBef>
                <a:spcPts val="675"/>
              </a:spcBef>
              <a:spcAft>
                <a:spcPts val="675"/>
              </a:spcAft>
            </a:pPr>
            <a:r>
              <a:rPr lang="es-AR" sz="2000" dirty="0">
                <a:solidFill>
                  <a:srgbClr val="445555"/>
                </a:solidFill>
                <a:latin typeface="+mj-lt"/>
                <a:ea typeface="Times New Roman" panose="02020603050405020304" pitchFamily="18" charset="0"/>
                <a:cs typeface="Times New Roman" panose="02020603050405020304" pitchFamily="18" charset="0"/>
              </a:rPr>
              <a:t>Los costos de procesamiento adicional se componen simplemente de materiales directos, mano de obra directa e indirectos de fabricación adicionales incurridos para los productos identificables después del punto de separación en contraste con los costos conjuntos, los cuales ocurren antes del punto de separación. </a:t>
            </a:r>
          </a:p>
          <a:p>
            <a:pPr>
              <a:lnSpc>
                <a:spcPct val="107000"/>
              </a:lnSpc>
              <a:spcBef>
                <a:spcPts val="675"/>
              </a:spcBef>
              <a:spcAft>
                <a:spcPts val="675"/>
              </a:spcAft>
            </a:pPr>
            <a:endParaRPr lang="es-AR" sz="2000" dirty="0">
              <a:solidFill>
                <a:srgbClr val="445555"/>
              </a:solidFill>
              <a:latin typeface="+mj-lt"/>
              <a:ea typeface="Times New Roman" panose="02020603050405020304" pitchFamily="18" charset="0"/>
              <a:cs typeface="Times New Roman" panose="02020603050405020304" pitchFamily="18" charset="0"/>
            </a:endParaRPr>
          </a:p>
          <a:p>
            <a:pPr marL="285750" indent="-285750">
              <a:lnSpc>
                <a:spcPct val="107000"/>
              </a:lnSpc>
              <a:spcBef>
                <a:spcPts val="675"/>
              </a:spcBef>
              <a:spcAft>
                <a:spcPts val="675"/>
              </a:spcAft>
              <a:buClr>
                <a:srgbClr val="92D050"/>
              </a:buClr>
              <a:buFont typeface="Arial" panose="020B0604020202020204" pitchFamily="34" charset="0"/>
              <a:buChar char="•"/>
            </a:pPr>
            <a:r>
              <a:rPr lang="es-AR" sz="2000" dirty="0">
                <a:solidFill>
                  <a:srgbClr val="445555"/>
                </a:solidFill>
                <a:latin typeface="+mj-lt"/>
                <a:ea typeface="Times New Roman" panose="02020603050405020304" pitchFamily="18" charset="0"/>
                <a:cs typeface="Times New Roman" panose="02020603050405020304" pitchFamily="18" charset="0"/>
              </a:rPr>
              <a:t>A continuación, mostraremos el proceso de manufactura de un frigorífico:</a:t>
            </a:r>
            <a:endParaRPr lang="es-AR" sz="2000" dirty="0">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94300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
        <p:nvSpPr>
          <p:cNvPr id="5" name="Rectángulo 4">
            <a:extLst>
              <a:ext uri="{FF2B5EF4-FFF2-40B4-BE49-F238E27FC236}">
                <a16:creationId xmlns:a16="http://schemas.microsoft.com/office/drawing/2014/main" id="{BFCF6F5F-5C0A-44AD-A90D-E088BAB7FF60}"/>
              </a:ext>
            </a:extLst>
          </p:cNvPr>
          <p:cNvSpPr/>
          <p:nvPr/>
        </p:nvSpPr>
        <p:spPr>
          <a:xfrm>
            <a:off x="1740023" y="3346880"/>
            <a:ext cx="2006354" cy="1162975"/>
          </a:xfrm>
          <a:prstGeom prst="rect">
            <a:avLst/>
          </a:prstGeom>
          <a:solidFill>
            <a:schemeClr val="accent2">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s-AR" dirty="0"/>
              <a:t>Materia Prima:</a:t>
            </a:r>
          </a:p>
          <a:p>
            <a:pPr algn="ctr"/>
            <a:r>
              <a:rPr lang="es-AR" dirty="0"/>
              <a:t>Ganado Bobino</a:t>
            </a:r>
          </a:p>
        </p:txBody>
      </p:sp>
      <p:sp>
        <p:nvSpPr>
          <p:cNvPr id="6" name="Rectángulo 5">
            <a:extLst>
              <a:ext uri="{FF2B5EF4-FFF2-40B4-BE49-F238E27FC236}">
                <a16:creationId xmlns:a16="http://schemas.microsoft.com/office/drawing/2014/main" id="{D873EA6F-8D24-435C-9423-BE05F74C9AC9}"/>
              </a:ext>
            </a:extLst>
          </p:cNvPr>
          <p:cNvSpPr/>
          <p:nvPr/>
        </p:nvSpPr>
        <p:spPr>
          <a:xfrm>
            <a:off x="4307149" y="3346880"/>
            <a:ext cx="2006354" cy="1162975"/>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s-AR" dirty="0"/>
              <a:t>Procesos comunes de Producción</a:t>
            </a:r>
          </a:p>
        </p:txBody>
      </p:sp>
      <p:sp>
        <p:nvSpPr>
          <p:cNvPr id="13" name="Rectángulo 12">
            <a:extLst>
              <a:ext uri="{FF2B5EF4-FFF2-40B4-BE49-F238E27FC236}">
                <a16:creationId xmlns:a16="http://schemas.microsoft.com/office/drawing/2014/main" id="{BC82789A-1944-4106-AE7E-D33D13883948}"/>
              </a:ext>
            </a:extLst>
          </p:cNvPr>
          <p:cNvSpPr/>
          <p:nvPr/>
        </p:nvSpPr>
        <p:spPr>
          <a:xfrm>
            <a:off x="6970451" y="1599846"/>
            <a:ext cx="1782932" cy="826095"/>
          </a:xfrm>
          <a:prstGeom prst="rect">
            <a:avLst/>
          </a:prstGeom>
          <a:solidFill>
            <a:schemeClr val="accent2">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Clr>
                <a:schemeClr val="accent1"/>
              </a:buClr>
              <a:buFont typeface="Arial" panose="020B0604020202020204" pitchFamily="34" charset="0"/>
              <a:buChar char="•"/>
            </a:pPr>
            <a:r>
              <a:rPr lang="es-AR" dirty="0"/>
              <a:t>Cuero</a:t>
            </a:r>
          </a:p>
          <a:p>
            <a:pPr marL="285750" indent="-285750" algn="just">
              <a:buClr>
                <a:schemeClr val="accent1"/>
              </a:buClr>
              <a:buFont typeface="Arial" panose="020B0604020202020204" pitchFamily="34" charset="0"/>
              <a:buChar char="•"/>
            </a:pPr>
            <a:r>
              <a:rPr lang="es-AR" dirty="0"/>
              <a:t>Sangre</a:t>
            </a:r>
          </a:p>
          <a:p>
            <a:pPr marL="285750" indent="-285750" algn="just">
              <a:buClr>
                <a:schemeClr val="accent1"/>
              </a:buClr>
              <a:buFont typeface="Arial" panose="020B0604020202020204" pitchFamily="34" charset="0"/>
              <a:buChar char="•"/>
            </a:pPr>
            <a:r>
              <a:rPr lang="es-AR" dirty="0"/>
              <a:t>Otros</a:t>
            </a:r>
          </a:p>
        </p:txBody>
      </p:sp>
      <p:sp>
        <p:nvSpPr>
          <p:cNvPr id="14" name="Rectángulo 13">
            <a:extLst>
              <a:ext uri="{FF2B5EF4-FFF2-40B4-BE49-F238E27FC236}">
                <a16:creationId xmlns:a16="http://schemas.microsoft.com/office/drawing/2014/main" id="{05DEB71D-1C95-404E-8701-630DE95B9B4F}"/>
              </a:ext>
            </a:extLst>
          </p:cNvPr>
          <p:cNvSpPr/>
          <p:nvPr/>
        </p:nvSpPr>
        <p:spPr>
          <a:xfrm>
            <a:off x="6970451" y="1599845"/>
            <a:ext cx="1782932" cy="826095"/>
          </a:xfrm>
          <a:prstGeom prst="rect">
            <a:avLst/>
          </a:prstGeom>
          <a:solidFill>
            <a:schemeClr val="accent2">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Clr>
                <a:schemeClr val="accent1"/>
              </a:buClr>
              <a:buFont typeface="Arial" panose="020B0604020202020204" pitchFamily="34" charset="0"/>
              <a:buChar char="•"/>
            </a:pPr>
            <a:r>
              <a:rPr lang="es-AR" dirty="0"/>
              <a:t>Cuero</a:t>
            </a:r>
          </a:p>
          <a:p>
            <a:pPr marL="285750" indent="-285750" algn="just">
              <a:buClr>
                <a:schemeClr val="accent1"/>
              </a:buClr>
              <a:buFont typeface="Arial" panose="020B0604020202020204" pitchFamily="34" charset="0"/>
              <a:buChar char="•"/>
            </a:pPr>
            <a:r>
              <a:rPr lang="es-AR" dirty="0"/>
              <a:t>Sangre</a:t>
            </a:r>
          </a:p>
          <a:p>
            <a:pPr marL="285750" indent="-285750" algn="just">
              <a:buClr>
                <a:schemeClr val="accent1"/>
              </a:buClr>
              <a:buFont typeface="Arial" panose="020B0604020202020204" pitchFamily="34" charset="0"/>
              <a:buChar char="•"/>
            </a:pPr>
            <a:r>
              <a:rPr lang="es-AR" dirty="0"/>
              <a:t>Otros</a:t>
            </a:r>
          </a:p>
        </p:txBody>
      </p:sp>
      <p:sp>
        <p:nvSpPr>
          <p:cNvPr id="15" name="Rectángulo 14">
            <a:extLst>
              <a:ext uri="{FF2B5EF4-FFF2-40B4-BE49-F238E27FC236}">
                <a16:creationId xmlns:a16="http://schemas.microsoft.com/office/drawing/2014/main" id="{41383B28-0C3E-49EC-BDB6-3C93AC4FC161}"/>
              </a:ext>
            </a:extLst>
          </p:cNvPr>
          <p:cNvSpPr/>
          <p:nvPr/>
        </p:nvSpPr>
        <p:spPr>
          <a:xfrm>
            <a:off x="6970451" y="2832280"/>
            <a:ext cx="1782932" cy="826095"/>
          </a:xfrm>
          <a:prstGeom prst="rect">
            <a:avLst/>
          </a:prstGeom>
          <a:solidFill>
            <a:schemeClr val="accent2">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Clr>
                <a:schemeClr val="accent1"/>
              </a:buClr>
              <a:buFont typeface="Arial" panose="020B0604020202020204" pitchFamily="34" charset="0"/>
              <a:buChar char="•"/>
            </a:pPr>
            <a:r>
              <a:rPr lang="es-AR" dirty="0"/>
              <a:t>Medias Reses</a:t>
            </a:r>
          </a:p>
        </p:txBody>
      </p:sp>
      <p:sp>
        <p:nvSpPr>
          <p:cNvPr id="16" name="Rectángulo 15">
            <a:extLst>
              <a:ext uri="{FF2B5EF4-FFF2-40B4-BE49-F238E27FC236}">
                <a16:creationId xmlns:a16="http://schemas.microsoft.com/office/drawing/2014/main" id="{2876B42E-76E1-4E8D-A02E-B890EC009DA5}"/>
              </a:ext>
            </a:extLst>
          </p:cNvPr>
          <p:cNvSpPr/>
          <p:nvPr/>
        </p:nvSpPr>
        <p:spPr>
          <a:xfrm>
            <a:off x="6970451" y="4064714"/>
            <a:ext cx="1782932" cy="826095"/>
          </a:xfrm>
          <a:prstGeom prst="rect">
            <a:avLst/>
          </a:prstGeom>
          <a:solidFill>
            <a:schemeClr val="accent2">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b"/>
          <a:lstStyle/>
          <a:p>
            <a:pPr marL="285750" indent="-285750" algn="ctr">
              <a:buClr>
                <a:schemeClr val="accent1"/>
              </a:buClr>
              <a:buFont typeface="Arial" panose="020B0604020202020204" pitchFamily="34" charset="0"/>
              <a:buChar char="•"/>
            </a:pPr>
            <a:r>
              <a:rPr lang="es-AR" dirty="0"/>
              <a:t>Embutidos</a:t>
            </a:r>
          </a:p>
          <a:p>
            <a:pPr algn="just">
              <a:buClr>
                <a:schemeClr val="accent1"/>
              </a:buClr>
            </a:pPr>
            <a:endParaRPr lang="es-AR" dirty="0"/>
          </a:p>
        </p:txBody>
      </p:sp>
      <p:sp>
        <p:nvSpPr>
          <p:cNvPr id="17" name="Rectángulo 16">
            <a:extLst>
              <a:ext uri="{FF2B5EF4-FFF2-40B4-BE49-F238E27FC236}">
                <a16:creationId xmlns:a16="http://schemas.microsoft.com/office/drawing/2014/main" id="{13ED953C-6485-4B03-83DD-328A564FDDB9}"/>
              </a:ext>
            </a:extLst>
          </p:cNvPr>
          <p:cNvSpPr/>
          <p:nvPr/>
        </p:nvSpPr>
        <p:spPr>
          <a:xfrm>
            <a:off x="6970451" y="5297148"/>
            <a:ext cx="1782932" cy="826095"/>
          </a:xfrm>
          <a:prstGeom prst="rect">
            <a:avLst/>
          </a:prstGeom>
          <a:solidFill>
            <a:schemeClr val="accent2">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b"/>
          <a:lstStyle/>
          <a:p>
            <a:pPr marL="285750" indent="-285750" algn="ctr">
              <a:buClr>
                <a:schemeClr val="accent1"/>
              </a:buClr>
              <a:buFont typeface="Arial" panose="020B0604020202020204" pitchFamily="34" charset="0"/>
              <a:buChar char="•"/>
            </a:pPr>
            <a:r>
              <a:rPr lang="es-AR" dirty="0"/>
              <a:t>Vísceras</a:t>
            </a:r>
          </a:p>
          <a:p>
            <a:pPr algn="just">
              <a:buClr>
                <a:schemeClr val="accent1"/>
              </a:buClr>
            </a:pPr>
            <a:endParaRPr lang="es-AR" dirty="0"/>
          </a:p>
        </p:txBody>
      </p:sp>
      <p:sp>
        <p:nvSpPr>
          <p:cNvPr id="18" name="Rectángulo 17">
            <a:extLst>
              <a:ext uri="{FF2B5EF4-FFF2-40B4-BE49-F238E27FC236}">
                <a16:creationId xmlns:a16="http://schemas.microsoft.com/office/drawing/2014/main" id="{2239B9E1-B469-40DB-AE9D-594D481D5E5F}"/>
              </a:ext>
            </a:extLst>
          </p:cNvPr>
          <p:cNvSpPr/>
          <p:nvPr/>
        </p:nvSpPr>
        <p:spPr>
          <a:xfrm>
            <a:off x="9155836" y="1692649"/>
            <a:ext cx="1657165" cy="640486"/>
          </a:xfrm>
          <a:prstGeom prst="rect">
            <a:avLst/>
          </a:prstGeom>
          <a:solidFill>
            <a:schemeClr val="accent2">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Clr>
                <a:schemeClr val="accent1"/>
              </a:buClr>
              <a:buFont typeface="Arial" panose="020B0604020202020204" pitchFamily="34" charset="0"/>
              <a:buChar char="•"/>
            </a:pPr>
            <a:r>
              <a:rPr lang="es-AR" dirty="0"/>
              <a:t>Procesos separados</a:t>
            </a:r>
          </a:p>
        </p:txBody>
      </p:sp>
      <p:sp>
        <p:nvSpPr>
          <p:cNvPr id="19" name="Rectángulo 18">
            <a:extLst>
              <a:ext uri="{FF2B5EF4-FFF2-40B4-BE49-F238E27FC236}">
                <a16:creationId xmlns:a16="http://schemas.microsoft.com/office/drawing/2014/main" id="{AC8FDCE5-85B1-4FCA-ABA1-697CDBBCAF9F}"/>
              </a:ext>
            </a:extLst>
          </p:cNvPr>
          <p:cNvSpPr/>
          <p:nvPr/>
        </p:nvSpPr>
        <p:spPr>
          <a:xfrm>
            <a:off x="9155836" y="4157518"/>
            <a:ext cx="1657165" cy="640486"/>
          </a:xfrm>
          <a:prstGeom prst="rect">
            <a:avLst/>
          </a:prstGeom>
          <a:solidFill>
            <a:schemeClr val="accent2">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Clr>
                <a:schemeClr val="accent1"/>
              </a:buClr>
              <a:buFont typeface="Arial" panose="020B0604020202020204" pitchFamily="34" charset="0"/>
              <a:buChar char="•"/>
            </a:pPr>
            <a:r>
              <a:rPr lang="es-AR" dirty="0"/>
              <a:t>Procesos separados</a:t>
            </a:r>
          </a:p>
        </p:txBody>
      </p:sp>
      <p:sp>
        <p:nvSpPr>
          <p:cNvPr id="20" name="CuadroTexto 19">
            <a:extLst>
              <a:ext uri="{FF2B5EF4-FFF2-40B4-BE49-F238E27FC236}">
                <a16:creationId xmlns:a16="http://schemas.microsoft.com/office/drawing/2014/main" id="{A2561374-7C33-4EEC-A28C-3D4443595B8E}"/>
              </a:ext>
            </a:extLst>
          </p:cNvPr>
          <p:cNvSpPr txBox="1"/>
          <p:nvPr/>
        </p:nvSpPr>
        <p:spPr>
          <a:xfrm>
            <a:off x="11065167" y="1826241"/>
            <a:ext cx="878889" cy="369332"/>
          </a:xfrm>
          <a:prstGeom prst="rect">
            <a:avLst/>
          </a:prstGeom>
          <a:noFill/>
        </p:spPr>
        <p:txBody>
          <a:bodyPr wrap="square" rtlCol="0">
            <a:spAutoFit/>
          </a:bodyPr>
          <a:lstStyle/>
          <a:p>
            <a:r>
              <a:rPr lang="es-AR" dirty="0"/>
              <a:t>Venta</a:t>
            </a:r>
          </a:p>
        </p:txBody>
      </p:sp>
      <p:sp>
        <p:nvSpPr>
          <p:cNvPr id="21" name="CuadroTexto 20">
            <a:extLst>
              <a:ext uri="{FF2B5EF4-FFF2-40B4-BE49-F238E27FC236}">
                <a16:creationId xmlns:a16="http://schemas.microsoft.com/office/drawing/2014/main" id="{915E70DA-8342-4959-8CAF-CBA2017ED0AF}"/>
              </a:ext>
            </a:extLst>
          </p:cNvPr>
          <p:cNvSpPr txBox="1"/>
          <p:nvPr/>
        </p:nvSpPr>
        <p:spPr>
          <a:xfrm>
            <a:off x="11098567" y="3059668"/>
            <a:ext cx="878889" cy="369332"/>
          </a:xfrm>
          <a:prstGeom prst="rect">
            <a:avLst/>
          </a:prstGeom>
          <a:noFill/>
        </p:spPr>
        <p:txBody>
          <a:bodyPr wrap="square" rtlCol="0">
            <a:spAutoFit/>
          </a:bodyPr>
          <a:lstStyle/>
          <a:p>
            <a:r>
              <a:rPr lang="es-AR" dirty="0"/>
              <a:t>Venta</a:t>
            </a:r>
          </a:p>
        </p:txBody>
      </p:sp>
      <p:sp>
        <p:nvSpPr>
          <p:cNvPr id="22" name="CuadroTexto 21">
            <a:extLst>
              <a:ext uri="{FF2B5EF4-FFF2-40B4-BE49-F238E27FC236}">
                <a16:creationId xmlns:a16="http://schemas.microsoft.com/office/drawing/2014/main" id="{5663715F-C09A-4324-90B0-7F2FABBF1A90}"/>
              </a:ext>
            </a:extLst>
          </p:cNvPr>
          <p:cNvSpPr txBox="1"/>
          <p:nvPr/>
        </p:nvSpPr>
        <p:spPr>
          <a:xfrm>
            <a:off x="11098568" y="4293095"/>
            <a:ext cx="878889" cy="369332"/>
          </a:xfrm>
          <a:prstGeom prst="rect">
            <a:avLst/>
          </a:prstGeom>
          <a:noFill/>
        </p:spPr>
        <p:txBody>
          <a:bodyPr wrap="square" rtlCol="0">
            <a:spAutoFit/>
          </a:bodyPr>
          <a:lstStyle/>
          <a:p>
            <a:r>
              <a:rPr lang="es-AR" dirty="0"/>
              <a:t>Venta</a:t>
            </a:r>
          </a:p>
        </p:txBody>
      </p:sp>
      <p:sp>
        <p:nvSpPr>
          <p:cNvPr id="23" name="CuadroTexto 22">
            <a:extLst>
              <a:ext uri="{FF2B5EF4-FFF2-40B4-BE49-F238E27FC236}">
                <a16:creationId xmlns:a16="http://schemas.microsoft.com/office/drawing/2014/main" id="{A1D693A7-1F22-4877-9D51-7B307DF306C6}"/>
              </a:ext>
            </a:extLst>
          </p:cNvPr>
          <p:cNvSpPr txBox="1"/>
          <p:nvPr/>
        </p:nvSpPr>
        <p:spPr>
          <a:xfrm>
            <a:off x="11185863" y="5525529"/>
            <a:ext cx="878889" cy="369332"/>
          </a:xfrm>
          <a:prstGeom prst="rect">
            <a:avLst/>
          </a:prstGeom>
          <a:noFill/>
        </p:spPr>
        <p:txBody>
          <a:bodyPr wrap="square" rtlCol="0">
            <a:spAutoFit/>
          </a:bodyPr>
          <a:lstStyle/>
          <a:p>
            <a:r>
              <a:rPr lang="es-AR" dirty="0"/>
              <a:t>Venta</a:t>
            </a:r>
          </a:p>
        </p:txBody>
      </p:sp>
      <p:cxnSp>
        <p:nvCxnSpPr>
          <p:cNvPr id="25" name="Conector recto de flecha 24">
            <a:extLst>
              <a:ext uri="{FF2B5EF4-FFF2-40B4-BE49-F238E27FC236}">
                <a16:creationId xmlns:a16="http://schemas.microsoft.com/office/drawing/2014/main" id="{729AA6EA-4E04-4B5A-BE4E-2A6C854A29B8}"/>
              </a:ext>
            </a:extLst>
          </p:cNvPr>
          <p:cNvCxnSpPr>
            <a:cxnSpLocks/>
            <a:stCxn id="5" idx="3"/>
            <a:endCxn id="6" idx="1"/>
          </p:cNvCxnSpPr>
          <p:nvPr/>
        </p:nvCxnSpPr>
        <p:spPr>
          <a:xfrm>
            <a:off x="3746377" y="3928368"/>
            <a:ext cx="56077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ector recto de flecha 27">
            <a:extLst>
              <a:ext uri="{FF2B5EF4-FFF2-40B4-BE49-F238E27FC236}">
                <a16:creationId xmlns:a16="http://schemas.microsoft.com/office/drawing/2014/main" id="{7318A5B4-867B-40B9-9702-09445D173BEA}"/>
              </a:ext>
            </a:extLst>
          </p:cNvPr>
          <p:cNvCxnSpPr>
            <a:stCxn id="6" idx="3"/>
            <a:endCxn id="14" idx="1"/>
          </p:cNvCxnSpPr>
          <p:nvPr/>
        </p:nvCxnSpPr>
        <p:spPr>
          <a:xfrm flipV="1">
            <a:off x="6313503" y="2012893"/>
            <a:ext cx="656948" cy="19154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DC930D6F-405D-47D5-9F6B-C1ECF557E7FE}"/>
              </a:ext>
            </a:extLst>
          </p:cNvPr>
          <p:cNvCxnSpPr>
            <a:stCxn id="6" idx="3"/>
            <a:endCxn id="15" idx="1"/>
          </p:cNvCxnSpPr>
          <p:nvPr/>
        </p:nvCxnSpPr>
        <p:spPr>
          <a:xfrm flipV="1">
            <a:off x="6313503" y="3245328"/>
            <a:ext cx="656948" cy="6830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31">
            <a:extLst>
              <a:ext uri="{FF2B5EF4-FFF2-40B4-BE49-F238E27FC236}">
                <a16:creationId xmlns:a16="http://schemas.microsoft.com/office/drawing/2014/main" id="{BF2A2BE7-9797-44DE-8E94-1123612F4126}"/>
              </a:ext>
            </a:extLst>
          </p:cNvPr>
          <p:cNvCxnSpPr>
            <a:stCxn id="6" idx="3"/>
            <a:endCxn id="16" idx="1"/>
          </p:cNvCxnSpPr>
          <p:nvPr/>
        </p:nvCxnSpPr>
        <p:spPr>
          <a:xfrm>
            <a:off x="6313503" y="3928368"/>
            <a:ext cx="656948" cy="5493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33">
            <a:extLst>
              <a:ext uri="{FF2B5EF4-FFF2-40B4-BE49-F238E27FC236}">
                <a16:creationId xmlns:a16="http://schemas.microsoft.com/office/drawing/2014/main" id="{B7BF7DD5-FD3A-4EBA-91D1-CE0B3C10EDCF}"/>
              </a:ext>
            </a:extLst>
          </p:cNvPr>
          <p:cNvCxnSpPr>
            <a:stCxn id="6" idx="3"/>
            <a:endCxn id="17" idx="1"/>
          </p:cNvCxnSpPr>
          <p:nvPr/>
        </p:nvCxnSpPr>
        <p:spPr>
          <a:xfrm>
            <a:off x="6313503" y="3928368"/>
            <a:ext cx="656948" cy="17818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de flecha 35">
            <a:extLst>
              <a:ext uri="{FF2B5EF4-FFF2-40B4-BE49-F238E27FC236}">
                <a16:creationId xmlns:a16="http://schemas.microsoft.com/office/drawing/2014/main" id="{D2C0AF0D-2946-4B77-BA22-C906498DE393}"/>
              </a:ext>
            </a:extLst>
          </p:cNvPr>
          <p:cNvCxnSpPr>
            <a:cxnSpLocks/>
          </p:cNvCxnSpPr>
          <p:nvPr/>
        </p:nvCxnSpPr>
        <p:spPr>
          <a:xfrm>
            <a:off x="6331259" y="3928368"/>
            <a:ext cx="0" cy="2305522"/>
          </a:xfrm>
          <a:prstGeom prst="straightConnector1">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CuadroTexto 36">
            <a:extLst>
              <a:ext uri="{FF2B5EF4-FFF2-40B4-BE49-F238E27FC236}">
                <a16:creationId xmlns:a16="http://schemas.microsoft.com/office/drawing/2014/main" id="{360220AD-424B-4946-A206-94DC6B8A2FFF}"/>
              </a:ext>
            </a:extLst>
          </p:cNvPr>
          <p:cNvSpPr txBox="1"/>
          <p:nvPr/>
        </p:nvSpPr>
        <p:spPr>
          <a:xfrm>
            <a:off x="5086904" y="6344916"/>
            <a:ext cx="2645535" cy="369332"/>
          </a:xfrm>
          <a:prstGeom prst="rect">
            <a:avLst/>
          </a:prstGeom>
          <a:noFill/>
        </p:spPr>
        <p:txBody>
          <a:bodyPr wrap="square" rtlCol="0">
            <a:spAutoFit/>
          </a:bodyPr>
          <a:lstStyle/>
          <a:p>
            <a:r>
              <a:rPr lang="es-AR" dirty="0"/>
              <a:t>Punto de Separación</a:t>
            </a:r>
          </a:p>
        </p:txBody>
      </p:sp>
      <p:cxnSp>
        <p:nvCxnSpPr>
          <p:cNvPr id="39" name="Conector recto de flecha 38">
            <a:extLst>
              <a:ext uri="{FF2B5EF4-FFF2-40B4-BE49-F238E27FC236}">
                <a16:creationId xmlns:a16="http://schemas.microsoft.com/office/drawing/2014/main" id="{E2DBE030-F329-4C96-A5F2-653160249047}"/>
              </a:ext>
            </a:extLst>
          </p:cNvPr>
          <p:cNvCxnSpPr>
            <a:stCxn id="14" idx="3"/>
            <a:endCxn id="18" idx="1"/>
          </p:cNvCxnSpPr>
          <p:nvPr/>
        </p:nvCxnSpPr>
        <p:spPr>
          <a:xfrm flipV="1">
            <a:off x="8753383" y="2012892"/>
            <a:ext cx="40245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ector recto de flecha 41">
            <a:extLst>
              <a:ext uri="{FF2B5EF4-FFF2-40B4-BE49-F238E27FC236}">
                <a16:creationId xmlns:a16="http://schemas.microsoft.com/office/drawing/2014/main" id="{1054EE2A-15DB-4F1C-9311-82925409A781}"/>
              </a:ext>
            </a:extLst>
          </p:cNvPr>
          <p:cNvCxnSpPr>
            <a:stCxn id="15" idx="3"/>
            <a:endCxn id="21" idx="1"/>
          </p:cNvCxnSpPr>
          <p:nvPr/>
        </p:nvCxnSpPr>
        <p:spPr>
          <a:xfrm flipV="1">
            <a:off x="8753383" y="3244334"/>
            <a:ext cx="2345184" cy="9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ector recto de flecha 44">
            <a:extLst>
              <a:ext uri="{FF2B5EF4-FFF2-40B4-BE49-F238E27FC236}">
                <a16:creationId xmlns:a16="http://schemas.microsoft.com/office/drawing/2014/main" id="{A7489883-C624-4A69-A202-BFF757F69F3D}"/>
              </a:ext>
            </a:extLst>
          </p:cNvPr>
          <p:cNvCxnSpPr>
            <a:stCxn id="18" idx="3"/>
          </p:cNvCxnSpPr>
          <p:nvPr/>
        </p:nvCxnSpPr>
        <p:spPr>
          <a:xfrm>
            <a:off x="10813001" y="2012892"/>
            <a:ext cx="2855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ector recto de flecha 46">
            <a:extLst>
              <a:ext uri="{FF2B5EF4-FFF2-40B4-BE49-F238E27FC236}">
                <a16:creationId xmlns:a16="http://schemas.microsoft.com/office/drawing/2014/main" id="{73853B2C-705C-4367-A839-DD91579BD55A}"/>
              </a:ext>
            </a:extLst>
          </p:cNvPr>
          <p:cNvCxnSpPr>
            <a:stCxn id="16" idx="3"/>
            <a:endCxn id="19" idx="1"/>
          </p:cNvCxnSpPr>
          <p:nvPr/>
        </p:nvCxnSpPr>
        <p:spPr>
          <a:xfrm flipV="1">
            <a:off x="8753383" y="4477761"/>
            <a:ext cx="40245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ector recto de flecha 48">
            <a:extLst>
              <a:ext uri="{FF2B5EF4-FFF2-40B4-BE49-F238E27FC236}">
                <a16:creationId xmlns:a16="http://schemas.microsoft.com/office/drawing/2014/main" id="{A9E1D000-4F74-4189-9D26-FE92104DD788}"/>
              </a:ext>
            </a:extLst>
          </p:cNvPr>
          <p:cNvCxnSpPr>
            <a:stCxn id="17" idx="3"/>
            <a:endCxn id="23" idx="1"/>
          </p:cNvCxnSpPr>
          <p:nvPr/>
        </p:nvCxnSpPr>
        <p:spPr>
          <a:xfrm flipV="1">
            <a:off x="8753383" y="5710195"/>
            <a:ext cx="243248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Conector recto de flecha 50">
            <a:extLst>
              <a:ext uri="{FF2B5EF4-FFF2-40B4-BE49-F238E27FC236}">
                <a16:creationId xmlns:a16="http://schemas.microsoft.com/office/drawing/2014/main" id="{87BBFD18-266A-4487-BB8A-223E58F6C91B}"/>
              </a:ext>
            </a:extLst>
          </p:cNvPr>
          <p:cNvCxnSpPr>
            <a:stCxn id="19" idx="3"/>
            <a:endCxn id="22" idx="1"/>
          </p:cNvCxnSpPr>
          <p:nvPr/>
        </p:nvCxnSpPr>
        <p:spPr>
          <a:xfrm>
            <a:off x="10813001" y="4477761"/>
            <a:ext cx="2855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19934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7</a:t>
            </a:fld>
            <a:endParaRPr lang="en-US" dirty="0"/>
          </a:p>
        </p:txBody>
      </p:sp>
      <p:graphicFrame>
        <p:nvGraphicFramePr>
          <p:cNvPr id="6" name="Group 173">
            <a:extLst>
              <a:ext uri="{FF2B5EF4-FFF2-40B4-BE49-F238E27FC236}">
                <a16:creationId xmlns:a16="http://schemas.microsoft.com/office/drawing/2014/main" id="{D8955462-3B94-4BA2-A6B2-43EAE188961D}"/>
              </a:ext>
            </a:extLst>
          </p:cNvPr>
          <p:cNvGraphicFramePr>
            <a:graphicFrameLocks/>
          </p:cNvGraphicFramePr>
          <p:nvPr/>
        </p:nvGraphicFramePr>
        <p:xfrm>
          <a:off x="1789047" y="3295853"/>
          <a:ext cx="9145587" cy="2065338"/>
        </p:xfrm>
        <a:graphic>
          <a:graphicData uri="http://schemas.openxmlformats.org/drawingml/2006/table">
            <a:tbl>
              <a:tblPr/>
              <a:tblGrid>
                <a:gridCol w="2605087">
                  <a:extLst>
                    <a:ext uri="{9D8B030D-6E8A-4147-A177-3AD203B41FA5}">
                      <a16:colId xmlns:a16="http://schemas.microsoft.com/office/drawing/2014/main" val="20000"/>
                    </a:ext>
                  </a:extLst>
                </a:gridCol>
                <a:gridCol w="2147888">
                  <a:extLst>
                    <a:ext uri="{9D8B030D-6E8A-4147-A177-3AD203B41FA5}">
                      <a16:colId xmlns:a16="http://schemas.microsoft.com/office/drawing/2014/main" val="20001"/>
                    </a:ext>
                  </a:extLst>
                </a:gridCol>
                <a:gridCol w="4392612">
                  <a:extLst>
                    <a:ext uri="{9D8B030D-6E8A-4147-A177-3AD203B41FA5}">
                      <a16:colId xmlns:a16="http://schemas.microsoft.com/office/drawing/2014/main" val="20002"/>
                    </a:ext>
                  </a:extLst>
                </a:gridCol>
              </a:tblGrid>
              <a:tr h="411163">
                <a:tc>
                  <a:txBody>
                    <a:bodyPr/>
                    <a:lstStyle>
                      <a:lvl1pPr marL="342900" indent="-342900">
                        <a:spcBef>
                          <a:spcPct val="20000"/>
                        </a:spcBef>
                        <a:defRPr sz="2800">
                          <a:solidFill>
                            <a:schemeClr val="tx1"/>
                          </a:solidFill>
                          <a:latin typeface="Arial" charset="0"/>
                          <a:cs typeface="Arial" charset="0"/>
                        </a:defRPr>
                      </a:lvl1pPr>
                      <a:lvl2pPr marL="742950" indent="-285750">
                        <a:spcBef>
                          <a:spcPct val="20000"/>
                        </a:spcBef>
                        <a:defRPr sz="2400">
                          <a:solidFill>
                            <a:schemeClr val="tx1"/>
                          </a:solidFill>
                          <a:latin typeface="Arial" charset="0"/>
                          <a:cs typeface="Arial" charset="0"/>
                        </a:defRPr>
                      </a:lvl2pPr>
                      <a:lvl3pPr marL="1143000" indent="-228600">
                        <a:spcBef>
                          <a:spcPct val="20000"/>
                        </a:spcBef>
                        <a:defRPr sz="2000">
                          <a:solidFill>
                            <a:schemeClr val="tx1"/>
                          </a:solidFill>
                          <a:latin typeface="Arial" charset="0"/>
                          <a:cs typeface="Arial" charset="0"/>
                        </a:defRPr>
                      </a:lvl3pPr>
                      <a:lvl4pPr marL="1600200" indent="-228600">
                        <a:spcBef>
                          <a:spcPct val="20000"/>
                        </a:spcBef>
                        <a:defRPr>
                          <a:solidFill>
                            <a:schemeClr val="tx1"/>
                          </a:solidFill>
                          <a:latin typeface="Arial" charset="0"/>
                          <a:cs typeface="Arial" charset="0"/>
                        </a:defRPr>
                      </a:lvl4pPr>
                      <a:lvl5pPr marL="2057400" indent="-228600">
                        <a:spcBef>
                          <a:spcPct val="20000"/>
                        </a:spcBef>
                        <a:defRPr>
                          <a:solidFill>
                            <a:schemeClr val="tx1"/>
                          </a:solidFill>
                          <a:latin typeface="Arial" charset="0"/>
                          <a:cs typeface="Arial" charset="0"/>
                        </a:defRPr>
                      </a:lvl5pPr>
                      <a:lvl6pPr marL="2514600" indent="-228600" fontAlgn="base">
                        <a:spcBef>
                          <a:spcPct val="20000"/>
                        </a:spcBef>
                        <a:spcAft>
                          <a:spcPct val="0"/>
                        </a:spcAft>
                        <a:defRPr>
                          <a:solidFill>
                            <a:schemeClr val="tx1"/>
                          </a:solidFill>
                          <a:latin typeface="Arial" charset="0"/>
                          <a:cs typeface="Arial" charset="0"/>
                        </a:defRPr>
                      </a:lvl6pPr>
                      <a:lvl7pPr marL="2971800" indent="-228600" fontAlgn="base">
                        <a:spcBef>
                          <a:spcPct val="20000"/>
                        </a:spcBef>
                        <a:spcAft>
                          <a:spcPct val="0"/>
                        </a:spcAft>
                        <a:defRPr>
                          <a:solidFill>
                            <a:schemeClr val="tx1"/>
                          </a:solidFill>
                          <a:latin typeface="Arial" charset="0"/>
                          <a:cs typeface="Arial" charset="0"/>
                        </a:defRPr>
                      </a:lvl7pPr>
                      <a:lvl8pPr marL="3429000" indent="-228600" fontAlgn="base">
                        <a:spcBef>
                          <a:spcPct val="20000"/>
                        </a:spcBef>
                        <a:spcAft>
                          <a:spcPct val="0"/>
                        </a:spcAft>
                        <a:defRPr>
                          <a:solidFill>
                            <a:schemeClr val="tx1"/>
                          </a:solidFill>
                          <a:latin typeface="Arial" charset="0"/>
                          <a:cs typeface="Arial" charset="0"/>
                        </a:defRPr>
                      </a:lvl8pPr>
                      <a:lvl9pPr marL="3886200" indent="-228600" fontAlgn="base">
                        <a:spcBef>
                          <a:spcPct val="20000"/>
                        </a:spcBef>
                        <a:spcAft>
                          <a:spcPct val="0"/>
                        </a:spcAft>
                        <a:defRPr>
                          <a:solidFill>
                            <a:schemeClr val="tx1"/>
                          </a:solidFill>
                          <a:latin typeface="Arial" charset="0"/>
                          <a:cs typeface="Arial"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Times New Roman" pitchFamily="18" charset="0"/>
                        </a:rPr>
                        <a:t>INDUSTRIAS</a:t>
                      </a:r>
                      <a:endPar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charset="0"/>
                          <a:cs typeface="Arial" charset="0"/>
                        </a:defRPr>
                      </a:lvl1pPr>
                      <a:lvl2pPr marL="742950" indent="-285750">
                        <a:spcBef>
                          <a:spcPct val="20000"/>
                        </a:spcBef>
                        <a:defRPr sz="2400">
                          <a:solidFill>
                            <a:schemeClr val="tx1"/>
                          </a:solidFill>
                          <a:latin typeface="Arial" charset="0"/>
                          <a:cs typeface="Arial" charset="0"/>
                        </a:defRPr>
                      </a:lvl2pPr>
                      <a:lvl3pPr marL="1143000" indent="-228600">
                        <a:spcBef>
                          <a:spcPct val="20000"/>
                        </a:spcBef>
                        <a:defRPr sz="2000">
                          <a:solidFill>
                            <a:schemeClr val="tx1"/>
                          </a:solidFill>
                          <a:latin typeface="Arial" charset="0"/>
                          <a:cs typeface="Arial" charset="0"/>
                        </a:defRPr>
                      </a:lvl3pPr>
                      <a:lvl4pPr marL="1600200" indent="-228600">
                        <a:spcBef>
                          <a:spcPct val="20000"/>
                        </a:spcBef>
                        <a:defRPr>
                          <a:solidFill>
                            <a:schemeClr val="tx1"/>
                          </a:solidFill>
                          <a:latin typeface="Arial" charset="0"/>
                          <a:cs typeface="Arial" charset="0"/>
                        </a:defRPr>
                      </a:lvl4pPr>
                      <a:lvl5pPr marL="2057400" indent="-228600">
                        <a:spcBef>
                          <a:spcPct val="20000"/>
                        </a:spcBef>
                        <a:defRPr>
                          <a:solidFill>
                            <a:schemeClr val="tx1"/>
                          </a:solidFill>
                          <a:latin typeface="Arial" charset="0"/>
                          <a:cs typeface="Arial" charset="0"/>
                        </a:defRPr>
                      </a:lvl5pPr>
                      <a:lvl6pPr marL="2514600" indent="-228600" fontAlgn="base">
                        <a:spcBef>
                          <a:spcPct val="20000"/>
                        </a:spcBef>
                        <a:spcAft>
                          <a:spcPct val="0"/>
                        </a:spcAft>
                        <a:defRPr>
                          <a:solidFill>
                            <a:schemeClr val="tx1"/>
                          </a:solidFill>
                          <a:latin typeface="Arial" charset="0"/>
                          <a:cs typeface="Arial" charset="0"/>
                        </a:defRPr>
                      </a:lvl6pPr>
                      <a:lvl7pPr marL="2971800" indent="-228600" fontAlgn="base">
                        <a:spcBef>
                          <a:spcPct val="20000"/>
                        </a:spcBef>
                        <a:spcAft>
                          <a:spcPct val="0"/>
                        </a:spcAft>
                        <a:defRPr>
                          <a:solidFill>
                            <a:schemeClr val="tx1"/>
                          </a:solidFill>
                          <a:latin typeface="Arial" charset="0"/>
                          <a:cs typeface="Arial" charset="0"/>
                        </a:defRPr>
                      </a:lvl7pPr>
                      <a:lvl8pPr marL="3429000" indent="-228600" fontAlgn="base">
                        <a:spcBef>
                          <a:spcPct val="20000"/>
                        </a:spcBef>
                        <a:spcAft>
                          <a:spcPct val="0"/>
                        </a:spcAft>
                        <a:defRPr>
                          <a:solidFill>
                            <a:schemeClr val="tx1"/>
                          </a:solidFill>
                          <a:latin typeface="Arial" charset="0"/>
                          <a:cs typeface="Arial" charset="0"/>
                        </a:defRPr>
                      </a:lvl8pPr>
                      <a:lvl9pPr marL="3886200" indent="-228600" fontAlgn="base">
                        <a:spcBef>
                          <a:spcPct val="20000"/>
                        </a:spcBef>
                        <a:spcAft>
                          <a:spcPct val="0"/>
                        </a:spcAft>
                        <a:defRPr>
                          <a:solidFill>
                            <a:schemeClr val="tx1"/>
                          </a:solidFill>
                          <a:latin typeface="Arial" charset="0"/>
                          <a:cs typeface="Arial"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Times New Roman" pitchFamily="18" charset="0"/>
                        </a:rPr>
                        <a:t>MATERIA PRIMA</a:t>
                      </a:r>
                      <a:endPar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charset="0"/>
                          <a:cs typeface="Arial" charset="0"/>
                        </a:defRPr>
                      </a:lvl1pPr>
                      <a:lvl2pPr marL="742950" indent="-285750">
                        <a:spcBef>
                          <a:spcPct val="20000"/>
                        </a:spcBef>
                        <a:defRPr sz="2400">
                          <a:solidFill>
                            <a:schemeClr val="tx1"/>
                          </a:solidFill>
                          <a:latin typeface="Arial" charset="0"/>
                          <a:cs typeface="Arial" charset="0"/>
                        </a:defRPr>
                      </a:lvl2pPr>
                      <a:lvl3pPr marL="1143000" indent="-228600">
                        <a:spcBef>
                          <a:spcPct val="20000"/>
                        </a:spcBef>
                        <a:defRPr sz="2000">
                          <a:solidFill>
                            <a:schemeClr val="tx1"/>
                          </a:solidFill>
                          <a:latin typeface="Arial" charset="0"/>
                          <a:cs typeface="Arial" charset="0"/>
                        </a:defRPr>
                      </a:lvl3pPr>
                      <a:lvl4pPr marL="1600200" indent="-228600">
                        <a:spcBef>
                          <a:spcPct val="20000"/>
                        </a:spcBef>
                        <a:defRPr>
                          <a:solidFill>
                            <a:schemeClr val="tx1"/>
                          </a:solidFill>
                          <a:latin typeface="Arial" charset="0"/>
                          <a:cs typeface="Arial" charset="0"/>
                        </a:defRPr>
                      </a:lvl4pPr>
                      <a:lvl5pPr marL="2057400" indent="-228600">
                        <a:spcBef>
                          <a:spcPct val="20000"/>
                        </a:spcBef>
                        <a:defRPr>
                          <a:solidFill>
                            <a:schemeClr val="tx1"/>
                          </a:solidFill>
                          <a:latin typeface="Arial" charset="0"/>
                          <a:cs typeface="Arial" charset="0"/>
                        </a:defRPr>
                      </a:lvl5pPr>
                      <a:lvl6pPr marL="2514600" indent="-228600" fontAlgn="base">
                        <a:spcBef>
                          <a:spcPct val="20000"/>
                        </a:spcBef>
                        <a:spcAft>
                          <a:spcPct val="0"/>
                        </a:spcAft>
                        <a:defRPr>
                          <a:solidFill>
                            <a:schemeClr val="tx1"/>
                          </a:solidFill>
                          <a:latin typeface="Arial" charset="0"/>
                          <a:cs typeface="Arial" charset="0"/>
                        </a:defRPr>
                      </a:lvl6pPr>
                      <a:lvl7pPr marL="2971800" indent="-228600" fontAlgn="base">
                        <a:spcBef>
                          <a:spcPct val="20000"/>
                        </a:spcBef>
                        <a:spcAft>
                          <a:spcPct val="0"/>
                        </a:spcAft>
                        <a:defRPr>
                          <a:solidFill>
                            <a:schemeClr val="tx1"/>
                          </a:solidFill>
                          <a:latin typeface="Arial" charset="0"/>
                          <a:cs typeface="Arial" charset="0"/>
                        </a:defRPr>
                      </a:lvl7pPr>
                      <a:lvl8pPr marL="3429000" indent="-228600" fontAlgn="base">
                        <a:spcBef>
                          <a:spcPct val="20000"/>
                        </a:spcBef>
                        <a:spcAft>
                          <a:spcPct val="0"/>
                        </a:spcAft>
                        <a:defRPr>
                          <a:solidFill>
                            <a:schemeClr val="tx1"/>
                          </a:solidFill>
                          <a:latin typeface="Arial" charset="0"/>
                          <a:cs typeface="Arial" charset="0"/>
                        </a:defRPr>
                      </a:lvl8pPr>
                      <a:lvl9pPr marL="3886200" indent="-228600" fontAlgn="base">
                        <a:spcBef>
                          <a:spcPct val="20000"/>
                        </a:spcBef>
                        <a:spcAft>
                          <a:spcPct val="0"/>
                        </a:spcAft>
                        <a:defRPr>
                          <a:solidFill>
                            <a:schemeClr val="tx1"/>
                          </a:solidFill>
                          <a:latin typeface="Arial" charset="0"/>
                          <a:cs typeface="Arial"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Times New Roman" pitchFamily="18" charset="0"/>
                        </a:rPr>
                        <a:t>PRODUCTOS CONEXOS</a:t>
                      </a:r>
                      <a:endPar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1800">
                <a:tc>
                  <a:txBody>
                    <a:bodyPr/>
                    <a:lstStyle>
                      <a:lvl1pPr marL="342900" indent="-342900">
                        <a:spcBef>
                          <a:spcPct val="20000"/>
                        </a:spcBef>
                        <a:defRPr sz="2800">
                          <a:solidFill>
                            <a:schemeClr val="tx1"/>
                          </a:solidFill>
                          <a:latin typeface="Arial" charset="0"/>
                          <a:cs typeface="Arial" charset="0"/>
                        </a:defRPr>
                      </a:lvl1pPr>
                      <a:lvl2pPr marL="742950" indent="-285750">
                        <a:spcBef>
                          <a:spcPct val="20000"/>
                        </a:spcBef>
                        <a:defRPr sz="2400">
                          <a:solidFill>
                            <a:schemeClr val="tx1"/>
                          </a:solidFill>
                          <a:latin typeface="Arial" charset="0"/>
                          <a:cs typeface="Arial" charset="0"/>
                        </a:defRPr>
                      </a:lvl2pPr>
                      <a:lvl3pPr marL="1143000" indent="-228600">
                        <a:spcBef>
                          <a:spcPct val="20000"/>
                        </a:spcBef>
                        <a:defRPr sz="2000">
                          <a:solidFill>
                            <a:schemeClr val="tx1"/>
                          </a:solidFill>
                          <a:latin typeface="Arial" charset="0"/>
                          <a:cs typeface="Arial" charset="0"/>
                        </a:defRPr>
                      </a:lvl3pPr>
                      <a:lvl4pPr marL="1600200" indent="-228600">
                        <a:spcBef>
                          <a:spcPct val="20000"/>
                        </a:spcBef>
                        <a:defRPr>
                          <a:solidFill>
                            <a:schemeClr val="tx1"/>
                          </a:solidFill>
                          <a:latin typeface="Arial" charset="0"/>
                          <a:cs typeface="Arial" charset="0"/>
                        </a:defRPr>
                      </a:lvl4pPr>
                      <a:lvl5pPr marL="2057400" indent="-228600">
                        <a:spcBef>
                          <a:spcPct val="20000"/>
                        </a:spcBef>
                        <a:defRPr>
                          <a:solidFill>
                            <a:schemeClr val="tx1"/>
                          </a:solidFill>
                          <a:latin typeface="Arial" charset="0"/>
                          <a:cs typeface="Arial" charset="0"/>
                        </a:defRPr>
                      </a:lvl5pPr>
                      <a:lvl6pPr marL="2514600" indent="-228600" fontAlgn="base">
                        <a:spcBef>
                          <a:spcPct val="20000"/>
                        </a:spcBef>
                        <a:spcAft>
                          <a:spcPct val="0"/>
                        </a:spcAft>
                        <a:defRPr>
                          <a:solidFill>
                            <a:schemeClr val="tx1"/>
                          </a:solidFill>
                          <a:latin typeface="Arial" charset="0"/>
                          <a:cs typeface="Arial" charset="0"/>
                        </a:defRPr>
                      </a:lvl6pPr>
                      <a:lvl7pPr marL="2971800" indent="-228600" fontAlgn="base">
                        <a:spcBef>
                          <a:spcPct val="20000"/>
                        </a:spcBef>
                        <a:spcAft>
                          <a:spcPct val="0"/>
                        </a:spcAft>
                        <a:defRPr>
                          <a:solidFill>
                            <a:schemeClr val="tx1"/>
                          </a:solidFill>
                          <a:latin typeface="Arial" charset="0"/>
                          <a:cs typeface="Arial" charset="0"/>
                        </a:defRPr>
                      </a:lvl7pPr>
                      <a:lvl8pPr marL="3429000" indent="-228600" fontAlgn="base">
                        <a:spcBef>
                          <a:spcPct val="20000"/>
                        </a:spcBef>
                        <a:spcAft>
                          <a:spcPct val="0"/>
                        </a:spcAft>
                        <a:defRPr>
                          <a:solidFill>
                            <a:schemeClr val="tx1"/>
                          </a:solidFill>
                          <a:latin typeface="Arial" charset="0"/>
                          <a:cs typeface="Arial" charset="0"/>
                        </a:defRPr>
                      </a:lvl8pPr>
                      <a:lvl9pPr marL="3886200" indent="-228600" fontAlgn="base">
                        <a:spcBef>
                          <a:spcPct val="20000"/>
                        </a:spcBef>
                        <a:spcAft>
                          <a:spcPct val="0"/>
                        </a:spcAft>
                        <a:defRPr>
                          <a:solidFill>
                            <a:schemeClr val="tx1"/>
                          </a:solidFill>
                          <a:latin typeface="Arial" charset="0"/>
                          <a:cs typeface="Arial"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Times New Roman" pitchFamily="18" charset="0"/>
                        </a:rPr>
                        <a:t>Petroquímicas</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charset="0"/>
                          <a:cs typeface="Arial" charset="0"/>
                        </a:defRPr>
                      </a:lvl1pPr>
                      <a:lvl2pPr marL="742950" indent="-285750">
                        <a:spcBef>
                          <a:spcPct val="20000"/>
                        </a:spcBef>
                        <a:defRPr sz="2400">
                          <a:solidFill>
                            <a:schemeClr val="tx1"/>
                          </a:solidFill>
                          <a:latin typeface="Arial" charset="0"/>
                          <a:cs typeface="Arial" charset="0"/>
                        </a:defRPr>
                      </a:lvl2pPr>
                      <a:lvl3pPr marL="1143000" indent="-228600">
                        <a:spcBef>
                          <a:spcPct val="20000"/>
                        </a:spcBef>
                        <a:defRPr sz="2000">
                          <a:solidFill>
                            <a:schemeClr val="tx1"/>
                          </a:solidFill>
                          <a:latin typeface="Arial" charset="0"/>
                          <a:cs typeface="Arial" charset="0"/>
                        </a:defRPr>
                      </a:lvl3pPr>
                      <a:lvl4pPr marL="1600200" indent="-228600">
                        <a:spcBef>
                          <a:spcPct val="20000"/>
                        </a:spcBef>
                        <a:defRPr>
                          <a:solidFill>
                            <a:schemeClr val="tx1"/>
                          </a:solidFill>
                          <a:latin typeface="Arial" charset="0"/>
                          <a:cs typeface="Arial" charset="0"/>
                        </a:defRPr>
                      </a:lvl4pPr>
                      <a:lvl5pPr marL="2057400" indent="-228600">
                        <a:spcBef>
                          <a:spcPct val="20000"/>
                        </a:spcBef>
                        <a:defRPr>
                          <a:solidFill>
                            <a:schemeClr val="tx1"/>
                          </a:solidFill>
                          <a:latin typeface="Arial" charset="0"/>
                          <a:cs typeface="Arial" charset="0"/>
                        </a:defRPr>
                      </a:lvl5pPr>
                      <a:lvl6pPr marL="2514600" indent="-228600" fontAlgn="base">
                        <a:spcBef>
                          <a:spcPct val="20000"/>
                        </a:spcBef>
                        <a:spcAft>
                          <a:spcPct val="0"/>
                        </a:spcAft>
                        <a:defRPr>
                          <a:solidFill>
                            <a:schemeClr val="tx1"/>
                          </a:solidFill>
                          <a:latin typeface="Arial" charset="0"/>
                          <a:cs typeface="Arial" charset="0"/>
                        </a:defRPr>
                      </a:lvl6pPr>
                      <a:lvl7pPr marL="2971800" indent="-228600" fontAlgn="base">
                        <a:spcBef>
                          <a:spcPct val="20000"/>
                        </a:spcBef>
                        <a:spcAft>
                          <a:spcPct val="0"/>
                        </a:spcAft>
                        <a:defRPr>
                          <a:solidFill>
                            <a:schemeClr val="tx1"/>
                          </a:solidFill>
                          <a:latin typeface="Arial" charset="0"/>
                          <a:cs typeface="Arial" charset="0"/>
                        </a:defRPr>
                      </a:lvl7pPr>
                      <a:lvl8pPr marL="3429000" indent="-228600" fontAlgn="base">
                        <a:spcBef>
                          <a:spcPct val="20000"/>
                        </a:spcBef>
                        <a:spcAft>
                          <a:spcPct val="0"/>
                        </a:spcAft>
                        <a:defRPr>
                          <a:solidFill>
                            <a:schemeClr val="tx1"/>
                          </a:solidFill>
                          <a:latin typeface="Arial" charset="0"/>
                          <a:cs typeface="Arial" charset="0"/>
                        </a:defRPr>
                      </a:lvl8pPr>
                      <a:lvl9pPr marL="3886200" indent="-228600" fontAlgn="base">
                        <a:spcBef>
                          <a:spcPct val="20000"/>
                        </a:spcBef>
                        <a:spcAft>
                          <a:spcPct val="0"/>
                        </a:spcAft>
                        <a:defRPr>
                          <a:solidFill>
                            <a:schemeClr val="tx1"/>
                          </a:solidFill>
                          <a:latin typeface="Arial" charset="0"/>
                          <a:cs typeface="Arial"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Times New Roman" pitchFamily="18" charset="0"/>
                        </a:rPr>
                        <a:t>Petróleo</a:t>
                      </a:r>
                      <a:endPar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charset="0"/>
                          <a:cs typeface="Arial" charset="0"/>
                        </a:defRPr>
                      </a:lvl1pPr>
                      <a:lvl2pPr marL="742950" indent="-285750">
                        <a:spcBef>
                          <a:spcPct val="20000"/>
                        </a:spcBef>
                        <a:defRPr sz="2400">
                          <a:solidFill>
                            <a:schemeClr val="tx1"/>
                          </a:solidFill>
                          <a:latin typeface="Arial" charset="0"/>
                          <a:cs typeface="Arial" charset="0"/>
                        </a:defRPr>
                      </a:lvl2pPr>
                      <a:lvl3pPr marL="1143000" indent="-228600">
                        <a:spcBef>
                          <a:spcPct val="20000"/>
                        </a:spcBef>
                        <a:defRPr sz="2000">
                          <a:solidFill>
                            <a:schemeClr val="tx1"/>
                          </a:solidFill>
                          <a:latin typeface="Arial" charset="0"/>
                          <a:cs typeface="Arial" charset="0"/>
                        </a:defRPr>
                      </a:lvl3pPr>
                      <a:lvl4pPr marL="1600200" indent="-228600">
                        <a:spcBef>
                          <a:spcPct val="20000"/>
                        </a:spcBef>
                        <a:defRPr>
                          <a:solidFill>
                            <a:schemeClr val="tx1"/>
                          </a:solidFill>
                          <a:latin typeface="Arial" charset="0"/>
                          <a:cs typeface="Arial" charset="0"/>
                        </a:defRPr>
                      </a:lvl4pPr>
                      <a:lvl5pPr marL="2057400" indent="-228600">
                        <a:spcBef>
                          <a:spcPct val="20000"/>
                        </a:spcBef>
                        <a:defRPr>
                          <a:solidFill>
                            <a:schemeClr val="tx1"/>
                          </a:solidFill>
                          <a:latin typeface="Arial" charset="0"/>
                          <a:cs typeface="Arial" charset="0"/>
                        </a:defRPr>
                      </a:lvl5pPr>
                      <a:lvl6pPr marL="2514600" indent="-228600" fontAlgn="base">
                        <a:spcBef>
                          <a:spcPct val="20000"/>
                        </a:spcBef>
                        <a:spcAft>
                          <a:spcPct val="0"/>
                        </a:spcAft>
                        <a:defRPr>
                          <a:solidFill>
                            <a:schemeClr val="tx1"/>
                          </a:solidFill>
                          <a:latin typeface="Arial" charset="0"/>
                          <a:cs typeface="Arial" charset="0"/>
                        </a:defRPr>
                      </a:lvl6pPr>
                      <a:lvl7pPr marL="2971800" indent="-228600" fontAlgn="base">
                        <a:spcBef>
                          <a:spcPct val="20000"/>
                        </a:spcBef>
                        <a:spcAft>
                          <a:spcPct val="0"/>
                        </a:spcAft>
                        <a:defRPr>
                          <a:solidFill>
                            <a:schemeClr val="tx1"/>
                          </a:solidFill>
                          <a:latin typeface="Arial" charset="0"/>
                          <a:cs typeface="Arial" charset="0"/>
                        </a:defRPr>
                      </a:lvl7pPr>
                      <a:lvl8pPr marL="3429000" indent="-228600" fontAlgn="base">
                        <a:spcBef>
                          <a:spcPct val="20000"/>
                        </a:spcBef>
                        <a:spcAft>
                          <a:spcPct val="0"/>
                        </a:spcAft>
                        <a:defRPr>
                          <a:solidFill>
                            <a:schemeClr val="tx1"/>
                          </a:solidFill>
                          <a:latin typeface="Arial" charset="0"/>
                          <a:cs typeface="Arial" charset="0"/>
                        </a:defRPr>
                      </a:lvl8pPr>
                      <a:lvl9pPr marL="3886200" indent="-228600" fontAlgn="base">
                        <a:spcBef>
                          <a:spcPct val="20000"/>
                        </a:spcBef>
                        <a:spcAft>
                          <a:spcPct val="0"/>
                        </a:spcAft>
                        <a:defRPr>
                          <a:solidFill>
                            <a:schemeClr val="tx1"/>
                          </a:solidFill>
                          <a:latin typeface="Arial" charset="0"/>
                          <a:cs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Arial" charset="0"/>
                        </a:rPr>
                        <a:t>Naftas, gasoil, gas, etc</a:t>
                      </a:r>
                      <a:endParaRPr kumimoji="0" lang="es-ES" altLang="es-AR" sz="2800" b="0" i="0" u="none" strike="noStrike" cap="none" normalizeH="0" baseline="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93700">
                <a:tc>
                  <a:txBody>
                    <a:bodyPr/>
                    <a:lstStyle>
                      <a:lvl1pPr marL="342900" indent="-342900">
                        <a:spcBef>
                          <a:spcPct val="20000"/>
                        </a:spcBef>
                        <a:defRPr sz="2800">
                          <a:solidFill>
                            <a:schemeClr val="tx1"/>
                          </a:solidFill>
                          <a:latin typeface="Arial" charset="0"/>
                          <a:cs typeface="Arial" charset="0"/>
                        </a:defRPr>
                      </a:lvl1pPr>
                      <a:lvl2pPr marL="742950" indent="-285750">
                        <a:spcBef>
                          <a:spcPct val="20000"/>
                        </a:spcBef>
                        <a:defRPr sz="2400">
                          <a:solidFill>
                            <a:schemeClr val="tx1"/>
                          </a:solidFill>
                          <a:latin typeface="Arial" charset="0"/>
                          <a:cs typeface="Arial" charset="0"/>
                        </a:defRPr>
                      </a:lvl2pPr>
                      <a:lvl3pPr marL="1143000" indent="-228600">
                        <a:spcBef>
                          <a:spcPct val="20000"/>
                        </a:spcBef>
                        <a:defRPr sz="2000">
                          <a:solidFill>
                            <a:schemeClr val="tx1"/>
                          </a:solidFill>
                          <a:latin typeface="Arial" charset="0"/>
                          <a:cs typeface="Arial" charset="0"/>
                        </a:defRPr>
                      </a:lvl3pPr>
                      <a:lvl4pPr marL="1600200" indent="-228600">
                        <a:spcBef>
                          <a:spcPct val="20000"/>
                        </a:spcBef>
                        <a:defRPr>
                          <a:solidFill>
                            <a:schemeClr val="tx1"/>
                          </a:solidFill>
                          <a:latin typeface="Arial" charset="0"/>
                          <a:cs typeface="Arial" charset="0"/>
                        </a:defRPr>
                      </a:lvl4pPr>
                      <a:lvl5pPr marL="2057400" indent="-228600">
                        <a:spcBef>
                          <a:spcPct val="20000"/>
                        </a:spcBef>
                        <a:defRPr>
                          <a:solidFill>
                            <a:schemeClr val="tx1"/>
                          </a:solidFill>
                          <a:latin typeface="Arial" charset="0"/>
                          <a:cs typeface="Arial" charset="0"/>
                        </a:defRPr>
                      </a:lvl5pPr>
                      <a:lvl6pPr marL="2514600" indent="-228600" fontAlgn="base">
                        <a:spcBef>
                          <a:spcPct val="20000"/>
                        </a:spcBef>
                        <a:spcAft>
                          <a:spcPct val="0"/>
                        </a:spcAft>
                        <a:defRPr>
                          <a:solidFill>
                            <a:schemeClr val="tx1"/>
                          </a:solidFill>
                          <a:latin typeface="Arial" charset="0"/>
                          <a:cs typeface="Arial" charset="0"/>
                        </a:defRPr>
                      </a:lvl6pPr>
                      <a:lvl7pPr marL="2971800" indent="-228600" fontAlgn="base">
                        <a:spcBef>
                          <a:spcPct val="20000"/>
                        </a:spcBef>
                        <a:spcAft>
                          <a:spcPct val="0"/>
                        </a:spcAft>
                        <a:defRPr>
                          <a:solidFill>
                            <a:schemeClr val="tx1"/>
                          </a:solidFill>
                          <a:latin typeface="Arial" charset="0"/>
                          <a:cs typeface="Arial" charset="0"/>
                        </a:defRPr>
                      </a:lvl7pPr>
                      <a:lvl8pPr marL="3429000" indent="-228600" fontAlgn="base">
                        <a:spcBef>
                          <a:spcPct val="20000"/>
                        </a:spcBef>
                        <a:spcAft>
                          <a:spcPct val="0"/>
                        </a:spcAft>
                        <a:defRPr>
                          <a:solidFill>
                            <a:schemeClr val="tx1"/>
                          </a:solidFill>
                          <a:latin typeface="Arial" charset="0"/>
                          <a:cs typeface="Arial" charset="0"/>
                        </a:defRPr>
                      </a:lvl8pPr>
                      <a:lvl9pPr marL="3886200" indent="-228600" fontAlgn="base">
                        <a:spcBef>
                          <a:spcPct val="20000"/>
                        </a:spcBef>
                        <a:spcAft>
                          <a:spcPct val="0"/>
                        </a:spcAft>
                        <a:defRPr>
                          <a:solidFill>
                            <a:schemeClr val="tx1"/>
                          </a:solidFill>
                          <a:latin typeface="Arial" charset="0"/>
                          <a:cs typeface="Arial"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Times New Roman" pitchFamily="18" charset="0"/>
                        </a:rPr>
                        <a:t>Frigoríficos</a:t>
                      </a:r>
                      <a:endPar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charset="0"/>
                          <a:cs typeface="Arial" charset="0"/>
                        </a:defRPr>
                      </a:lvl1pPr>
                      <a:lvl2pPr marL="742950" indent="-285750">
                        <a:spcBef>
                          <a:spcPct val="20000"/>
                        </a:spcBef>
                        <a:defRPr sz="2400">
                          <a:solidFill>
                            <a:schemeClr val="tx1"/>
                          </a:solidFill>
                          <a:latin typeface="Arial" charset="0"/>
                          <a:cs typeface="Arial" charset="0"/>
                        </a:defRPr>
                      </a:lvl2pPr>
                      <a:lvl3pPr marL="1143000" indent="-228600">
                        <a:spcBef>
                          <a:spcPct val="20000"/>
                        </a:spcBef>
                        <a:defRPr sz="2000">
                          <a:solidFill>
                            <a:schemeClr val="tx1"/>
                          </a:solidFill>
                          <a:latin typeface="Arial" charset="0"/>
                          <a:cs typeface="Arial" charset="0"/>
                        </a:defRPr>
                      </a:lvl3pPr>
                      <a:lvl4pPr marL="1600200" indent="-228600">
                        <a:spcBef>
                          <a:spcPct val="20000"/>
                        </a:spcBef>
                        <a:defRPr>
                          <a:solidFill>
                            <a:schemeClr val="tx1"/>
                          </a:solidFill>
                          <a:latin typeface="Arial" charset="0"/>
                          <a:cs typeface="Arial" charset="0"/>
                        </a:defRPr>
                      </a:lvl4pPr>
                      <a:lvl5pPr marL="2057400" indent="-228600">
                        <a:spcBef>
                          <a:spcPct val="20000"/>
                        </a:spcBef>
                        <a:defRPr>
                          <a:solidFill>
                            <a:schemeClr val="tx1"/>
                          </a:solidFill>
                          <a:latin typeface="Arial" charset="0"/>
                          <a:cs typeface="Arial" charset="0"/>
                        </a:defRPr>
                      </a:lvl5pPr>
                      <a:lvl6pPr marL="2514600" indent="-228600" fontAlgn="base">
                        <a:spcBef>
                          <a:spcPct val="20000"/>
                        </a:spcBef>
                        <a:spcAft>
                          <a:spcPct val="0"/>
                        </a:spcAft>
                        <a:defRPr>
                          <a:solidFill>
                            <a:schemeClr val="tx1"/>
                          </a:solidFill>
                          <a:latin typeface="Arial" charset="0"/>
                          <a:cs typeface="Arial" charset="0"/>
                        </a:defRPr>
                      </a:lvl6pPr>
                      <a:lvl7pPr marL="2971800" indent="-228600" fontAlgn="base">
                        <a:spcBef>
                          <a:spcPct val="20000"/>
                        </a:spcBef>
                        <a:spcAft>
                          <a:spcPct val="0"/>
                        </a:spcAft>
                        <a:defRPr>
                          <a:solidFill>
                            <a:schemeClr val="tx1"/>
                          </a:solidFill>
                          <a:latin typeface="Arial" charset="0"/>
                          <a:cs typeface="Arial" charset="0"/>
                        </a:defRPr>
                      </a:lvl7pPr>
                      <a:lvl8pPr marL="3429000" indent="-228600" fontAlgn="base">
                        <a:spcBef>
                          <a:spcPct val="20000"/>
                        </a:spcBef>
                        <a:spcAft>
                          <a:spcPct val="0"/>
                        </a:spcAft>
                        <a:defRPr>
                          <a:solidFill>
                            <a:schemeClr val="tx1"/>
                          </a:solidFill>
                          <a:latin typeface="Arial" charset="0"/>
                          <a:cs typeface="Arial" charset="0"/>
                        </a:defRPr>
                      </a:lvl8pPr>
                      <a:lvl9pPr marL="3886200" indent="-228600" fontAlgn="base">
                        <a:spcBef>
                          <a:spcPct val="20000"/>
                        </a:spcBef>
                        <a:spcAft>
                          <a:spcPct val="0"/>
                        </a:spcAft>
                        <a:defRPr>
                          <a:solidFill>
                            <a:schemeClr val="tx1"/>
                          </a:solidFill>
                          <a:latin typeface="Arial" charset="0"/>
                          <a:cs typeface="Arial"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Times New Roman" pitchFamily="18" charset="0"/>
                        </a:rPr>
                        <a:t>Vacunos</a:t>
                      </a:r>
                      <a:endPar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charset="0"/>
                          <a:cs typeface="Arial" charset="0"/>
                        </a:defRPr>
                      </a:lvl1pPr>
                      <a:lvl2pPr marL="742950" indent="-285750">
                        <a:spcBef>
                          <a:spcPct val="20000"/>
                        </a:spcBef>
                        <a:defRPr sz="2400">
                          <a:solidFill>
                            <a:schemeClr val="tx1"/>
                          </a:solidFill>
                          <a:latin typeface="Arial" charset="0"/>
                          <a:cs typeface="Arial" charset="0"/>
                        </a:defRPr>
                      </a:lvl2pPr>
                      <a:lvl3pPr marL="1143000" indent="-228600">
                        <a:spcBef>
                          <a:spcPct val="20000"/>
                        </a:spcBef>
                        <a:defRPr sz="2000">
                          <a:solidFill>
                            <a:schemeClr val="tx1"/>
                          </a:solidFill>
                          <a:latin typeface="Arial" charset="0"/>
                          <a:cs typeface="Arial" charset="0"/>
                        </a:defRPr>
                      </a:lvl3pPr>
                      <a:lvl4pPr marL="1600200" indent="-228600">
                        <a:spcBef>
                          <a:spcPct val="20000"/>
                        </a:spcBef>
                        <a:defRPr>
                          <a:solidFill>
                            <a:schemeClr val="tx1"/>
                          </a:solidFill>
                          <a:latin typeface="Arial" charset="0"/>
                          <a:cs typeface="Arial" charset="0"/>
                        </a:defRPr>
                      </a:lvl4pPr>
                      <a:lvl5pPr marL="2057400" indent="-228600">
                        <a:spcBef>
                          <a:spcPct val="20000"/>
                        </a:spcBef>
                        <a:defRPr>
                          <a:solidFill>
                            <a:schemeClr val="tx1"/>
                          </a:solidFill>
                          <a:latin typeface="Arial" charset="0"/>
                          <a:cs typeface="Arial" charset="0"/>
                        </a:defRPr>
                      </a:lvl5pPr>
                      <a:lvl6pPr marL="2514600" indent="-228600" fontAlgn="base">
                        <a:spcBef>
                          <a:spcPct val="20000"/>
                        </a:spcBef>
                        <a:spcAft>
                          <a:spcPct val="0"/>
                        </a:spcAft>
                        <a:defRPr>
                          <a:solidFill>
                            <a:schemeClr val="tx1"/>
                          </a:solidFill>
                          <a:latin typeface="Arial" charset="0"/>
                          <a:cs typeface="Arial" charset="0"/>
                        </a:defRPr>
                      </a:lvl6pPr>
                      <a:lvl7pPr marL="2971800" indent="-228600" fontAlgn="base">
                        <a:spcBef>
                          <a:spcPct val="20000"/>
                        </a:spcBef>
                        <a:spcAft>
                          <a:spcPct val="0"/>
                        </a:spcAft>
                        <a:defRPr>
                          <a:solidFill>
                            <a:schemeClr val="tx1"/>
                          </a:solidFill>
                          <a:latin typeface="Arial" charset="0"/>
                          <a:cs typeface="Arial" charset="0"/>
                        </a:defRPr>
                      </a:lvl7pPr>
                      <a:lvl8pPr marL="3429000" indent="-228600" fontAlgn="base">
                        <a:spcBef>
                          <a:spcPct val="20000"/>
                        </a:spcBef>
                        <a:spcAft>
                          <a:spcPct val="0"/>
                        </a:spcAft>
                        <a:defRPr>
                          <a:solidFill>
                            <a:schemeClr val="tx1"/>
                          </a:solidFill>
                          <a:latin typeface="Arial" charset="0"/>
                          <a:cs typeface="Arial" charset="0"/>
                        </a:defRPr>
                      </a:lvl8pPr>
                      <a:lvl9pPr marL="3886200" indent="-228600" fontAlgn="base">
                        <a:spcBef>
                          <a:spcPct val="20000"/>
                        </a:spcBef>
                        <a:spcAft>
                          <a:spcPct val="0"/>
                        </a:spcAft>
                        <a:defRPr>
                          <a:solidFill>
                            <a:schemeClr val="tx1"/>
                          </a:solidFill>
                          <a:latin typeface="Arial" charset="0"/>
                          <a:cs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Times New Roman" pitchFamily="18" charset="0"/>
                        </a:rPr>
                        <a:t>Carnes, cueros, grasas, etc.</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875">
                <a:tc>
                  <a:txBody>
                    <a:bodyPr/>
                    <a:lstStyle>
                      <a:lvl1pPr marL="342900" indent="-342900">
                        <a:spcBef>
                          <a:spcPct val="20000"/>
                        </a:spcBef>
                        <a:defRPr sz="2800">
                          <a:solidFill>
                            <a:schemeClr val="tx1"/>
                          </a:solidFill>
                          <a:latin typeface="Arial" charset="0"/>
                          <a:cs typeface="Arial" charset="0"/>
                        </a:defRPr>
                      </a:lvl1pPr>
                      <a:lvl2pPr marL="742950" indent="-285750">
                        <a:spcBef>
                          <a:spcPct val="20000"/>
                        </a:spcBef>
                        <a:defRPr sz="2400">
                          <a:solidFill>
                            <a:schemeClr val="tx1"/>
                          </a:solidFill>
                          <a:latin typeface="Arial" charset="0"/>
                          <a:cs typeface="Arial" charset="0"/>
                        </a:defRPr>
                      </a:lvl2pPr>
                      <a:lvl3pPr marL="1143000" indent="-228600">
                        <a:spcBef>
                          <a:spcPct val="20000"/>
                        </a:spcBef>
                        <a:defRPr sz="2000">
                          <a:solidFill>
                            <a:schemeClr val="tx1"/>
                          </a:solidFill>
                          <a:latin typeface="Arial" charset="0"/>
                          <a:cs typeface="Arial" charset="0"/>
                        </a:defRPr>
                      </a:lvl3pPr>
                      <a:lvl4pPr marL="1600200" indent="-228600">
                        <a:spcBef>
                          <a:spcPct val="20000"/>
                        </a:spcBef>
                        <a:defRPr>
                          <a:solidFill>
                            <a:schemeClr val="tx1"/>
                          </a:solidFill>
                          <a:latin typeface="Arial" charset="0"/>
                          <a:cs typeface="Arial" charset="0"/>
                        </a:defRPr>
                      </a:lvl4pPr>
                      <a:lvl5pPr marL="2057400" indent="-228600">
                        <a:spcBef>
                          <a:spcPct val="20000"/>
                        </a:spcBef>
                        <a:defRPr>
                          <a:solidFill>
                            <a:schemeClr val="tx1"/>
                          </a:solidFill>
                          <a:latin typeface="Arial" charset="0"/>
                          <a:cs typeface="Arial" charset="0"/>
                        </a:defRPr>
                      </a:lvl5pPr>
                      <a:lvl6pPr marL="2514600" indent="-228600" fontAlgn="base">
                        <a:spcBef>
                          <a:spcPct val="20000"/>
                        </a:spcBef>
                        <a:spcAft>
                          <a:spcPct val="0"/>
                        </a:spcAft>
                        <a:defRPr>
                          <a:solidFill>
                            <a:schemeClr val="tx1"/>
                          </a:solidFill>
                          <a:latin typeface="Arial" charset="0"/>
                          <a:cs typeface="Arial" charset="0"/>
                        </a:defRPr>
                      </a:lvl6pPr>
                      <a:lvl7pPr marL="2971800" indent="-228600" fontAlgn="base">
                        <a:spcBef>
                          <a:spcPct val="20000"/>
                        </a:spcBef>
                        <a:spcAft>
                          <a:spcPct val="0"/>
                        </a:spcAft>
                        <a:defRPr>
                          <a:solidFill>
                            <a:schemeClr val="tx1"/>
                          </a:solidFill>
                          <a:latin typeface="Arial" charset="0"/>
                          <a:cs typeface="Arial" charset="0"/>
                        </a:defRPr>
                      </a:lvl7pPr>
                      <a:lvl8pPr marL="3429000" indent="-228600" fontAlgn="base">
                        <a:spcBef>
                          <a:spcPct val="20000"/>
                        </a:spcBef>
                        <a:spcAft>
                          <a:spcPct val="0"/>
                        </a:spcAft>
                        <a:defRPr>
                          <a:solidFill>
                            <a:schemeClr val="tx1"/>
                          </a:solidFill>
                          <a:latin typeface="Arial" charset="0"/>
                          <a:cs typeface="Arial" charset="0"/>
                        </a:defRPr>
                      </a:lvl8pPr>
                      <a:lvl9pPr marL="3886200" indent="-228600" fontAlgn="base">
                        <a:spcBef>
                          <a:spcPct val="20000"/>
                        </a:spcBef>
                        <a:spcAft>
                          <a:spcPct val="0"/>
                        </a:spcAft>
                        <a:defRPr>
                          <a:solidFill>
                            <a:schemeClr val="tx1"/>
                          </a:solidFill>
                          <a:latin typeface="Arial" charset="0"/>
                          <a:cs typeface="Arial"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Times New Roman" pitchFamily="18" charset="0"/>
                        </a:rPr>
                        <a:t>Ingenios azucareros</a:t>
                      </a:r>
                      <a:endPar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charset="0"/>
                          <a:cs typeface="Arial" charset="0"/>
                        </a:defRPr>
                      </a:lvl1pPr>
                      <a:lvl2pPr marL="742950" indent="-285750">
                        <a:spcBef>
                          <a:spcPct val="20000"/>
                        </a:spcBef>
                        <a:defRPr sz="2400">
                          <a:solidFill>
                            <a:schemeClr val="tx1"/>
                          </a:solidFill>
                          <a:latin typeface="Arial" charset="0"/>
                          <a:cs typeface="Arial" charset="0"/>
                        </a:defRPr>
                      </a:lvl2pPr>
                      <a:lvl3pPr marL="1143000" indent="-228600">
                        <a:spcBef>
                          <a:spcPct val="20000"/>
                        </a:spcBef>
                        <a:defRPr sz="2000">
                          <a:solidFill>
                            <a:schemeClr val="tx1"/>
                          </a:solidFill>
                          <a:latin typeface="Arial" charset="0"/>
                          <a:cs typeface="Arial" charset="0"/>
                        </a:defRPr>
                      </a:lvl3pPr>
                      <a:lvl4pPr marL="1600200" indent="-228600">
                        <a:spcBef>
                          <a:spcPct val="20000"/>
                        </a:spcBef>
                        <a:defRPr>
                          <a:solidFill>
                            <a:schemeClr val="tx1"/>
                          </a:solidFill>
                          <a:latin typeface="Arial" charset="0"/>
                          <a:cs typeface="Arial" charset="0"/>
                        </a:defRPr>
                      </a:lvl4pPr>
                      <a:lvl5pPr marL="2057400" indent="-228600">
                        <a:spcBef>
                          <a:spcPct val="20000"/>
                        </a:spcBef>
                        <a:defRPr>
                          <a:solidFill>
                            <a:schemeClr val="tx1"/>
                          </a:solidFill>
                          <a:latin typeface="Arial" charset="0"/>
                          <a:cs typeface="Arial" charset="0"/>
                        </a:defRPr>
                      </a:lvl5pPr>
                      <a:lvl6pPr marL="2514600" indent="-228600" fontAlgn="base">
                        <a:spcBef>
                          <a:spcPct val="20000"/>
                        </a:spcBef>
                        <a:spcAft>
                          <a:spcPct val="0"/>
                        </a:spcAft>
                        <a:defRPr>
                          <a:solidFill>
                            <a:schemeClr val="tx1"/>
                          </a:solidFill>
                          <a:latin typeface="Arial" charset="0"/>
                          <a:cs typeface="Arial" charset="0"/>
                        </a:defRPr>
                      </a:lvl6pPr>
                      <a:lvl7pPr marL="2971800" indent="-228600" fontAlgn="base">
                        <a:spcBef>
                          <a:spcPct val="20000"/>
                        </a:spcBef>
                        <a:spcAft>
                          <a:spcPct val="0"/>
                        </a:spcAft>
                        <a:defRPr>
                          <a:solidFill>
                            <a:schemeClr val="tx1"/>
                          </a:solidFill>
                          <a:latin typeface="Arial" charset="0"/>
                          <a:cs typeface="Arial" charset="0"/>
                        </a:defRPr>
                      </a:lvl7pPr>
                      <a:lvl8pPr marL="3429000" indent="-228600" fontAlgn="base">
                        <a:spcBef>
                          <a:spcPct val="20000"/>
                        </a:spcBef>
                        <a:spcAft>
                          <a:spcPct val="0"/>
                        </a:spcAft>
                        <a:defRPr>
                          <a:solidFill>
                            <a:schemeClr val="tx1"/>
                          </a:solidFill>
                          <a:latin typeface="Arial" charset="0"/>
                          <a:cs typeface="Arial" charset="0"/>
                        </a:defRPr>
                      </a:lvl8pPr>
                      <a:lvl9pPr marL="3886200" indent="-228600" fontAlgn="base">
                        <a:spcBef>
                          <a:spcPct val="20000"/>
                        </a:spcBef>
                        <a:spcAft>
                          <a:spcPct val="0"/>
                        </a:spcAft>
                        <a:defRPr>
                          <a:solidFill>
                            <a:schemeClr val="tx1"/>
                          </a:solidFill>
                          <a:latin typeface="Arial" charset="0"/>
                          <a:cs typeface="Arial"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altLang="es-AR" sz="1800" b="1" i="0" u="none" strike="noStrike" cap="none" normalizeH="0" baseline="0" dirty="0">
                          <a:ln>
                            <a:noFill/>
                          </a:ln>
                          <a:solidFill>
                            <a:schemeClr val="tx1"/>
                          </a:solidFill>
                          <a:effectLst>
                            <a:outerShdw blurRad="38100" dist="38100" dir="2700000" algn="tl">
                              <a:srgbClr val="C0C0C0"/>
                            </a:outerShdw>
                          </a:effectLst>
                          <a:latin typeface="Arial" charset="0"/>
                          <a:cs typeface="Times New Roman" pitchFamily="18" charset="0"/>
                        </a:rPr>
                        <a:t>Caña de azúcar</a:t>
                      </a:r>
                      <a:endParaRPr kumimoji="0" lang="es-ES" altLang="es-AR" sz="1800" b="1" i="0" u="none" strike="noStrike" cap="none" normalizeH="0" baseline="0" dirty="0">
                        <a:ln>
                          <a:noFill/>
                        </a:ln>
                        <a:solidFill>
                          <a:schemeClr val="tx1"/>
                        </a:solidFill>
                        <a:effectLst>
                          <a:outerShdw blurRad="38100" dist="38100" dir="2700000" algn="tl">
                            <a:srgbClr val="C0C0C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charset="0"/>
                          <a:cs typeface="Arial" charset="0"/>
                        </a:defRPr>
                      </a:lvl1pPr>
                      <a:lvl2pPr marL="742950" indent="-285750">
                        <a:spcBef>
                          <a:spcPct val="20000"/>
                        </a:spcBef>
                        <a:defRPr sz="2400">
                          <a:solidFill>
                            <a:schemeClr val="tx1"/>
                          </a:solidFill>
                          <a:latin typeface="Arial" charset="0"/>
                          <a:cs typeface="Arial" charset="0"/>
                        </a:defRPr>
                      </a:lvl2pPr>
                      <a:lvl3pPr marL="1143000" indent="-228600">
                        <a:spcBef>
                          <a:spcPct val="20000"/>
                        </a:spcBef>
                        <a:defRPr sz="2000">
                          <a:solidFill>
                            <a:schemeClr val="tx1"/>
                          </a:solidFill>
                          <a:latin typeface="Arial" charset="0"/>
                          <a:cs typeface="Arial" charset="0"/>
                        </a:defRPr>
                      </a:lvl3pPr>
                      <a:lvl4pPr marL="1600200" indent="-228600">
                        <a:spcBef>
                          <a:spcPct val="20000"/>
                        </a:spcBef>
                        <a:defRPr>
                          <a:solidFill>
                            <a:schemeClr val="tx1"/>
                          </a:solidFill>
                          <a:latin typeface="Arial" charset="0"/>
                          <a:cs typeface="Arial" charset="0"/>
                        </a:defRPr>
                      </a:lvl4pPr>
                      <a:lvl5pPr marL="2057400" indent="-228600">
                        <a:spcBef>
                          <a:spcPct val="20000"/>
                        </a:spcBef>
                        <a:defRPr>
                          <a:solidFill>
                            <a:schemeClr val="tx1"/>
                          </a:solidFill>
                          <a:latin typeface="Arial" charset="0"/>
                          <a:cs typeface="Arial" charset="0"/>
                        </a:defRPr>
                      </a:lvl5pPr>
                      <a:lvl6pPr marL="2514600" indent="-228600" fontAlgn="base">
                        <a:spcBef>
                          <a:spcPct val="20000"/>
                        </a:spcBef>
                        <a:spcAft>
                          <a:spcPct val="0"/>
                        </a:spcAft>
                        <a:defRPr>
                          <a:solidFill>
                            <a:schemeClr val="tx1"/>
                          </a:solidFill>
                          <a:latin typeface="Arial" charset="0"/>
                          <a:cs typeface="Arial" charset="0"/>
                        </a:defRPr>
                      </a:lvl6pPr>
                      <a:lvl7pPr marL="2971800" indent="-228600" fontAlgn="base">
                        <a:spcBef>
                          <a:spcPct val="20000"/>
                        </a:spcBef>
                        <a:spcAft>
                          <a:spcPct val="0"/>
                        </a:spcAft>
                        <a:defRPr>
                          <a:solidFill>
                            <a:schemeClr val="tx1"/>
                          </a:solidFill>
                          <a:latin typeface="Arial" charset="0"/>
                          <a:cs typeface="Arial" charset="0"/>
                        </a:defRPr>
                      </a:lvl7pPr>
                      <a:lvl8pPr marL="3429000" indent="-228600" fontAlgn="base">
                        <a:spcBef>
                          <a:spcPct val="20000"/>
                        </a:spcBef>
                        <a:spcAft>
                          <a:spcPct val="0"/>
                        </a:spcAft>
                        <a:defRPr>
                          <a:solidFill>
                            <a:schemeClr val="tx1"/>
                          </a:solidFill>
                          <a:latin typeface="Arial" charset="0"/>
                          <a:cs typeface="Arial" charset="0"/>
                        </a:defRPr>
                      </a:lvl8pPr>
                      <a:lvl9pPr marL="3886200" indent="-228600" fontAlgn="base">
                        <a:spcBef>
                          <a:spcPct val="20000"/>
                        </a:spcBef>
                        <a:spcAft>
                          <a:spcPct val="0"/>
                        </a:spcAft>
                        <a:defRPr>
                          <a:solidFill>
                            <a:schemeClr val="tx1"/>
                          </a:solidFill>
                          <a:latin typeface="Arial" charset="0"/>
                          <a:cs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Times New Roman" pitchFamily="18" charset="0"/>
                        </a:rPr>
                        <a:t>Azúcar, alcohol, melaza, compost, etc.</a:t>
                      </a: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1800">
                <a:tc>
                  <a:txBody>
                    <a:bodyPr/>
                    <a:lstStyle>
                      <a:lvl1pPr marL="342900" indent="-342900">
                        <a:spcBef>
                          <a:spcPct val="20000"/>
                        </a:spcBef>
                        <a:defRPr sz="2800">
                          <a:solidFill>
                            <a:schemeClr val="tx1"/>
                          </a:solidFill>
                          <a:latin typeface="Arial" charset="0"/>
                          <a:cs typeface="Arial" charset="0"/>
                        </a:defRPr>
                      </a:lvl1pPr>
                      <a:lvl2pPr marL="742950" indent="-285750">
                        <a:spcBef>
                          <a:spcPct val="20000"/>
                        </a:spcBef>
                        <a:defRPr sz="2400">
                          <a:solidFill>
                            <a:schemeClr val="tx1"/>
                          </a:solidFill>
                          <a:latin typeface="Arial" charset="0"/>
                          <a:cs typeface="Arial" charset="0"/>
                        </a:defRPr>
                      </a:lvl2pPr>
                      <a:lvl3pPr marL="1143000" indent="-228600">
                        <a:spcBef>
                          <a:spcPct val="20000"/>
                        </a:spcBef>
                        <a:defRPr sz="2000">
                          <a:solidFill>
                            <a:schemeClr val="tx1"/>
                          </a:solidFill>
                          <a:latin typeface="Arial" charset="0"/>
                          <a:cs typeface="Arial" charset="0"/>
                        </a:defRPr>
                      </a:lvl3pPr>
                      <a:lvl4pPr marL="1600200" indent="-228600">
                        <a:spcBef>
                          <a:spcPct val="20000"/>
                        </a:spcBef>
                        <a:defRPr>
                          <a:solidFill>
                            <a:schemeClr val="tx1"/>
                          </a:solidFill>
                          <a:latin typeface="Arial" charset="0"/>
                          <a:cs typeface="Arial" charset="0"/>
                        </a:defRPr>
                      </a:lvl4pPr>
                      <a:lvl5pPr marL="2057400" indent="-228600">
                        <a:spcBef>
                          <a:spcPct val="20000"/>
                        </a:spcBef>
                        <a:defRPr>
                          <a:solidFill>
                            <a:schemeClr val="tx1"/>
                          </a:solidFill>
                          <a:latin typeface="Arial" charset="0"/>
                          <a:cs typeface="Arial" charset="0"/>
                        </a:defRPr>
                      </a:lvl5pPr>
                      <a:lvl6pPr marL="2514600" indent="-228600" fontAlgn="base">
                        <a:spcBef>
                          <a:spcPct val="20000"/>
                        </a:spcBef>
                        <a:spcAft>
                          <a:spcPct val="0"/>
                        </a:spcAft>
                        <a:defRPr>
                          <a:solidFill>
                            <a:schemeClr val="tx1"/>
                          </a:solidFill>
                          <a:latin typeface="Arial" charset="0"/>
                          <a:cs typeface="Arial" charset="0"/>
                        </a:defRPr>
                      </a:lvl6pPr>
                      <a:lvl7pPr marL="2971800" indent="-228600" fontAlgn="base">
                        <a:spcBef>
                          <a:spcPct val="20000"/>
                        </a:spcBef>
                        <a:spcAft>
                          <a:spcPct val="0"/>
                        </a:spcAft>
                        <a:defRPr>
                          <a:solidFill>
                            <a:schemeClr val="tx1"/>
                          </a:solidFill>
                          <a:latin typeface="Arial" charset="0"/>
                          <a:cs typeface="Arial" charset="0"/>
                        </a:defRPr>
                      </a:lvl7pPr>
                      <a:lvl8pPr marL="3429000" indent="-228600" fontAlgn="base">
                        <a:spcBef>
                          <a:spcPct val="20000"/>
                        </a:spcBef>
                        <a:spcAft>
                          <a:spcPct val="0"/>
                        </a:spcAft>
                        <a:defRPr>
                          <a:solidFill>
                            <a:schemeClr val="tx1"/>
                          </a:solidFill>
                          <a:latin typeface="Arial" charset="0"/>
                          <a:cs typeface="Arial" charset="0"/>
                        </a:defRPr>
                      </a:lvl8pPr>
                      <a:lvl9pPr marL="3886200" indent="-228600" fontAlgn="base">
                        <a:spcBef>
                          <a:spcPct val="20000"/>
                        </a:spcBef>
                        <a:spcAft>
                          <a:spcPct val="0"/>
                        </a:spcAft>
                        <a:defRPr>
                          <a:solidFill>
                            <a:schemeClr val="tx1"/>
                          </a:solidFill>
                          <a:latin typeface="Arial" charset="0"/>
                          <a:cs typeface="Arial"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Times New Roman" pitchFamily="18" charset="0"/>
                        </a:rPr>
                        <a:t>Forestales</a:t>
                      </a:r>
                      <a:endPar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charset="0"/>
                          <a:cs typeface="Arial" charset="0"/>
                        </a:defRPr>
                      </a:lvl1pPr>
                      <a:lvl2pPr marL="742950" indent="-285750">
                        <a:spcBef>
                          <a:spcPct val="20000"/>
                        </a:spcBef>
                        <a:defRPr sz="2400">
                          <a:solidFill>
                            <a:schemeClr val="tx1"/>
                          </a:solidFill>
                          <a:latin typeface="Arial" charset="0"/>
                          <a:cs typeface="Arial" charset="0"/>
                        </a:defRPr>
                      </a:lvl2pPr>
                      <a:lvl3pPr marL="1143000" indent="-228600">
                        <a:spcBef>
                          <a:spcPct val="20000"/>
                        </a:spcBef>
                        <a:defRPr sz="2000">
                          <a:solidFill>
                            <a:schemeClr val="tx1"/>
                          </a:solidFill>
                          <a:latin typeface="Arial" charset="0"/>
                          <a:cs typeface="Arial" charset="0"/>
                        </a:defRPr>
                      </a:lvl3pPr>
                      <a:lvl4pPr marL="1600200" indent="-228600">
                        <a:spcBef>
                          <a:spcPct val="20000"/>
                        </a:spcBef>
                        <a:defRPr>
                          <a:solidFill>
                            <a:schemeClr val="tx1"/>
                          </a:solidFill>
                          <a:latin typeface="Arial" charset="0"/>
                          <a:cs typeface="Arial" charset="0"/>
                        </a:defRPr>
                      </a:lvl4pPr>
                      <a:lvl5pPr marL="2057400" indent="-228600">
                        <a:spcBef>
                          <a:spcPct val="20000"/>
                        </a:spcBef>
                        <a:defRPr>
                          <a:solidFill>
                            <a:schemeClr val="tx1"/>
                          </a:solidFill>
                          <a:latin typeface="Arial" charset="0"/>
                          <a:cs typeface="Arial" charset="0"/>
                        </a:defRPr>
                      </a:lvl5pPr>
                      <a:lvl6pPr marL="2514600" indent="-228600" fontAlgn="base">
                        <a:spcBef>
                          <a:spcPct val="20000"/>
                        </a:spcBef>
                        <a:spcAft>
                          <a:spcPct val="0"/>
                        </a:spcAft>
                        <a:defRPr>
                          <a:solidFill>
                            <a:schemeClr val="tx1"/>
                          </a:solidFill>
                          <a:latin typeface="Arial" charset="0"/>
                          <a:cs typeface="Arial" charset="0"/>
                        </a:defRPr>
                      </a:lvl6pPr>
                      <a:lvl7pPr marL="2971800" indent="-228600" fontAlgn="base">
                        <a:spcBef>
                          <a:spcPct val="20000"/>
                        </a:spcBef>
                        <a:spcAft>
                          <a:spcPct val="0"/>
                        </a:spcAft>
                        <a:defRPr>
                          <a:solidFill>
                            <a:schemeClr val="tx1"/>
                          </a:solidFill>
                          <a:latin typeface="Arial" charset="0"/>
                          <a:cs typeface="Arial" charset="0"/>
                        </a:defRPr>
                      </a:lvl7pPr>
                      <a:lvl8pPr marL="3429000" indent="-228600" fontAlgn="base">
                        <a:spcBef>
                          <a:spcPct val="20000"/>
                        </a:spcBef>
                        <a:spcAft>
                          <a:spcPct val="0"/>
                        </a:spcAft>
                        <a:defRPr>
                          <a:solidFill>
                            <a:schemeClr val="tx1"/>
                          </a:solidFill>
                          <a:latin typeface="Arial" charset="0"/>
                          <a:cs typeface="Arial" charset="0"/>
                        </a:defRPr>
                      </a:lvl8pPr>
                      <a:lvl9pPr marL="3886200" indent="-228600" fontAlgn="base">
                        <a:spcBef>
                          <a:spcPct val="20000"/>
                        </a:spcBef>
                        <a:spcAft>
                          <a:spcPct val="0"/>
                        </a:spcAft>
                        <a:defRPr>
                          <a:solidFill>
                            <a:schemeClr val="tx1"/>
                          </a:solidFill>
                          <a:latin typeface="Arial" charset="0"/>
                          <a:cs typeface="Arial" charset="0"/>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Times New Roman" pitchFamily="18" charset="0"/>
                        </a:rPr>
                        <a:t>Árboles</a:t>
                      </a:r>
                      <a:endParaRPr kumimoji="0" lang="es-ES" altLang="es-AR" sz="1800" b="1" i="0" u="none" strike="noStrike" cap="none" normalizeH="0" baseline="0">
                        <a:ln>
                          <a:noFill/>
                        </a:ln>
                        <a:solidFill>
                          <a:schemeClr val="tx1"/>
                        </a:solidFill>
                        <a:effectLst>
                          <a:outerShdw blurRad="38100" dist="38100" dir="2700000" algn="tl">
                            <a:srgbClr val="C0C0C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defRPr sz="2800">
                          <a:solidFill>
                            <a:schemeClr val="tx1"/>
                          </a:solidFill>
                          <a:latin typeface="Arial" charset="0"/>
                          <a:cs typeface="Arial" charset="0"/>
                        </a:defRPr>
                      </a:lvl1pPr>
                      <a:lvl2pPr marL="742950" indent="-285750">
                        <a:spcBef>
                          <a:spcPct val="20000"/>
                        </a:spcBef>
                        <a:defRPr sz="2400">
                          <a:solidFill>
                            <a:schemeClr val="tx1"/>
                          </a:solidFill>
                          <a:latin typeface="Arial" charset="0"/>
                          <a:cs typeface="Arial" charset="0"/>
                        </a:defRPr>
                      </a:lvl2pPr>
                      <a:lvl3pPr marL="1143000" indent="-228600">
                        <a:spcBef>
                          <a:spcPct val="20000"/>
                        </a:spcBef>
                        <a:defRPr sz="2000">
                          <a:solidFill>
                            <a:schemeClr val="tx1"/>
                          </a:solidFill>
                          <a:latin typeface="Arial" charset="0"/>
                          <a:cs typeface="Arial" charset="0"/>
                        </a:defRPr>
                      </a:lvl3pPr>
                      <a:lvl4pPr marL="1600200" indent="-228600">
                        <a:spcBef>
                          <a:spcPct val="20000"/>
                        </a:spcBef>
                        <a:defRPr>
                          <a:solidFill>
                            <a:schemeClr val="tx1"/>
                          </a:solidFill>
                          <a:latin typeface="Arial" charset="0"/>
                          <a:cs typeface="Arial" charset="0"/>
                        </a:defRPr>
                      </a:lvl4pPr>
                      <a:lvl5pPr marL="2057400" indent="-228600">
                        <a:spcBef>
                          <a:spcPct val="20000"/>
                        </a:spcBef>
                        <a:defRPr>
                          <a:solidFill>
                            <a:schemeClr val="tx1"/>
                          </a:solidFill>
                          <a:latin typeface="Arial" charset="0"/>
                          <a:cs typeface="Arial" charset="0"/>
                        </a:defRPr>
                      </a:lvl5pPr>
                      <a:lvl6pPr marL="2514600" indent="-228600" fontAlgn="base">
                        <a:spcBef>
                          <a:spcPct val="20000"/>
                        </a:spcBef>
                        <a:spcAft>
                          <a:spcPct val="0"/>
                        </a:spcAft>
                        <a:defRPr>
                          <a:solidFill>
                            <a:schemeClr val="tx1"/>
                          </a:solidFill>
                          <a:latin typeface="Arial" charset="0"/>
                          <a:cs typeface="Arial" charset="0"/>
                        </a:defRPr>
                      </a:lvl6pPr>
                      <a:lvl7pPr marL="2971800" indent="-228600" fontAlgn="base">
                        <a:spcBef>
                          <a:spcPct val="20000"/>
                        </a:spcBef>
                        <a:spcAft>
                          <a:spcPct val="0"/>
                        </a:spcAft>
                        <a:defRPr>
                          <a:solidFill>
                            <a:schemeClr val="tx1"/>
                          </a:solidFill>
                          <a:latin typeface="Arial" charset="0"/>
                          <a:cs typeface="Arial" charset="0"/>
                        </a:defRPr>
                      </a:lvl7pPr>
                      <a:lvl8pPr marL="3429000" indent="-228600" fontAlgn="base">
                        <a:spcBef>
                          <a:spcPct val="20000"/>
                        </a:spcBef>
                        <a:spcAft>
                          <a:spcPct val="0"/>
                        </a:spcAft>
                        <a:defRPr>
                          <a:solidFill>
                            <a:schemeClr val="tx1"/>
                          </a:solidFill>
                          <a:latin typeface="Arial" charset="0"/>
                          <a:cs typeface="Arial" charset="0"/>
                        </a:defRPr>
                      </a:lvl8pPr>
                      <a:lvl9pPr marL="3886200" indent="-228600" fontAlgn="base">
                        <a:spcBef>
                          <a:spcPct val="20000"/>
                        </a:spcBef>
                        <a:spcAft>
                          <a:spcPct val="0"/>
                        </a:spcAft>
                        <a:defRPr>
                          <a:solidFill>
                            <a:schemeClr val="tx1"/>
                          </a:solidFill>
                          <a:latin typeface="Arial" charset="0"/>
                          <a:cs typeface="Arial" charset="0"/>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es-ES" altLang="es-AR" sz="1800" b="1" i="0" u="none" strike="noStrike" cap="none" normalizeH="0" baseline="0" dirty="0">
                          <a:ln>
                            <a:noFill/>
                          </a:ln>
                          <a:solidFill>
                            <a:schemeClr val="tx1"/>
                          </a:solidFill>
                          <a:effectLst>
                            <a:outerShdw blurRad="38100" dist="38100" dir="2700000" algn="tl">
                              <a:srgbClr val="C0C0C0"/>
                            </a:outerShdw>
                          </a:effectLst>
                          <a:latin typeface="Arial" charset="0"/>
                          <a:cs typeface="Times New Roman" pitchFamily="18" charset="0"/>
                        </a:rPr>
                        <a:t>Madera y pulpa de papel</a:t>
                      </a:r>
                      <a:endParaRPr kumimoji="0" lang="es-ES" altLang="es-AR" sz="1800" b="1" i="0" u="none" strike="noStrike" cap="none" normalizeH="0" baseline="0" dirty="0">
                        <a:ln>
                          <a:noFill/>
                        </a:ln>
                        <a:solidFill>
                          <a:schemeClr val="tx1"/>
                        </a:solidFill>
                        <a:effectLst>
                          <a:outerShdw blurRad="38100" dist="38100" dir="2700000" algn="tl">
                            <a:srgbClr val="C0C0C0"/>
                          </a:outerShdw>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8" name="Rectangle 103">
            <a:extLst>
              <a:ext uri="{FF2B5EF4-FFF2-40B4-BE49-F238E27FC236}">
                <a16:creationId xmlns:a16="http://schemas.microsoft.com/office/drawing/2014/main" id="{A420DECA-85A9-4EB5-B2F0-399CB2BDB704}"/>
              </a:ext>
            </a:extLst>
          </p:cNvPr>
          <p:cNvSpPr>
            <a:spLocks noChangeArrowheads="1"/>
          </p:cNvSpPr>
          <p:nvPr/>
        </p:nvSpPr>
        <p:spPr bwMode="auto">
          <a:xfrm>
            <a:off x="1460433" y="2194128"/>
            <a:ext cx="9906000" cy="503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pPr>
            <a:r>
              <a:rPr lang="es-AR" altLang="es-AR" sz="2600" dirty="0">
                <a:latin typeface="+mj-lt"/>
              </a:rPr>
              <a:t>Se utilizan en industrias de proceso continuo, como ser:</a:t>
            </a:r>
            <a:endParaRPr lang="es-ES" altLang="es-AR" sz="2600" dirty="0">
              <a:latin typeface="+mj-lt"/>
            </a:endParaRPr>
          </a:p>
        </p:txBody>
      </p:sp>
    </p:spTree>
    <p:extLst>
      <p:ext uri="{BB962C8B-B14F-4D97-AF65-F5344CB8AC3E}">
        <p14:creationId xmlns:p14="http://schemas.microsoft.com/office/powerpoint/2010/main" val="3326034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
        <p:nvSpPr>
          <p:cNvPr id="5" name="Rectángulo 4">
            <a:extLst>
              <a:ext uri="{FF2B5EF4-FFF2-40B4-BE49-F238E27FC236}">
                <a16:creationId xmlns:a16="http://schemas.microsoft.com/office/drawing/2014/main" id="{49BEDE66-CBE1-4E17-ABD9-A36EC49846C4}"/>
              </a:ext>
            </a:extLst>
          </p:cNvPr>
          <p:cNvSpPr/>
          <p:nvPr/>
        </p:nvSpPr>
        <p:spPr>
          <a:xfrm>
            <a:off x="1283363" y="1961965"/>
            <a:ext cx="10402669" cy="2656240"/>
          </a:xfrm>
          <a:prstGeom prst="rect">
            <a:avLst/>
          </a:prstGeom>
        </p:spPr>
        <p:txBody>
          <a:bodyPr wrap="square">
            <a:spAutoFit/>
          </a:bodyPr>
          <a:lstStyle/>
          <a:p>
            <a:pPr>
              <a:lnSpc>
                <a:spcPct val="107000"/>
              </a:lnSpc>
              <a:spcAft>
                <a:spcPts val="450"/>
              </a:spcAft>
            </a:pPr>
            <a:r>
              <a:rPr lang="es-AR" sz="2000" b="1" dirty="0">
                <a:solidFill>
                  <a:schemeClr val="tx1">
                    <a:lumMod val="75000"/>
                    <a:lumOff val="25000"/>
                  </a:schemeClr>
                </a:solidFill>
                <a:latin typeface="+mj-lt"/>
                <a:ea typeface="Times New Roman" panose="02020603050405020304" pitchFamily="18" charset="0"/>
                <a:cs typeface="Times New Roman" panose="02020603050405020304" pitchFamily="18" charset="0"/>
              </a:rPr>
              <a:t>PRODUCTO PRINCIPAL:</a:t>
            </a:r>
            <a:endParaRPr lang="es-AR" sz="2000" dirty="0">
              <a:solidFill>
                <a:schemeClr val="tx1">
                  <a:lumMod val="75000"/>
                  <a:lumOff val="25000"/>
                </a:schemeClr>
              </a:solidFill>
              <a:latin typeface="+mj-lt"/>
              <a:ea typeface="Calibri" panose="020F0502020204030204" pitchFamily="34" charset="0"/>
              <a:cs typeface="Times New Roman" panose="02020603050405020304" pitchFamily="18" charset="0"/>
            </a:endParaRPr>
          </a:p>
          <a:p>
            <a:pPr marL="742950" lvl="1" indent="-285750">
              <a:lnSpc>
                <a:spcPct val="107000"/>
              </a:lnSpc>
              <a:spcBef>
                <a:spcPts val="675"/>
              </a:spcBef>
              <a:spcAft>
                <a:spcPts val="675"/>
              </a:spcAft>
              <a:buClr>
                <a:srgbClr val="92D050"/>
              </a:buClr>
              <a:buFont typeface="Arial" panose="020B0604020202020204" pitchFamily="34" charset="0"/>
              <a:buChar char="•"/>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Son aquellos artículos cuya elaboración es la función esencial de la empresa por la cual fue establecida. </a:t>
            </a:r>
          </a:p>
          <a:p>
            <a:pPr marL="742950" lvl="1" indent="-285750">
              <a:lnSpc>
                <a:spcPct val="107000"/>
              </a:lnSpc>
              <a:spcBef>
                <a:spcPts val="675"/>
              </a:spcBef>
              <a:spcAft>
                <a:spcPts val="675"/>
              </a:spcAft>
              <a:buClr>
                <a:srgbClr val="92D050"/>
              </a:buClr>
              <a:buFont typeface="Arial" panose="020B0604020202020204" pitchFamily="34" charset="0"/>
              <a:buChar char="•"/>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Por ejemplo en la industria molinera; la harina es el producto principal. </a:t>
            </a:r>
          </a:p>
          <a:p>
            <a:pPr marL="742950" lvl="1" indent="-285750">
              <a:lnSpc>
                <a:spcPct val="107000"/>
              </a:lnSpc>
              <a:spcBef>
                <a:spcPts val="675"/>
              </a:spcBef>
              <a:spcAft>
                <a:spcPts val="675"/>
              </a:spcAft>
              <a:buClr>
                <a:srgbClr val="92D050"/>
              </a:buClr>
              <a:buFont typeface="Arial" panose="020B0604020202020204" pitchFamily="34" charset="0"/>
              <a:buChar char="•"/>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En la industria maderera; la madera es el producto principal.</a:t>
            </a:r>
            <a:endParaRPr lang="es-AR" sz="2000" dirty="0">
              <a:solidFill>
                <a:schemeClr val="tx1">
                  <a:lumMod val="75000"/>
                  <a:lumOff val="25000"/>
                </a:schemeClr>
              </a:solidFill>
              <a:latin typeface="+mj-lt"/>
              <a:ea typeface="Calibri" panose="020F0502020204030204" pitchFamily="34" charset="0"/>
              <a:cs typeface="Times New Roman" panose="02020603050405020304" pitchFamily="18" charset="0"/>
            </a:endParaRPr>
          </a:p>
          <a:p>
            <a:pPr>
              <a:lnSpc>
                <a:spcPct val="107000"/>
              </a:lnSpc>
              <a:spcAft>
                <a:spcPts val="450"/>
              </a:spcAft>
            </a:pPr>
            <a:endParaRPr lang="es-AR" sz="2000" dirty="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48628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
        <p:nvSpPr>
          <p:cNvPr id="5" name="Rectángulo 4">
            <a:extLst>
              <a:ext uri="{FF2B5EF4-FFF2-40B4-BE49-F238E27FC236}">
                <a16:creationId xmlns:a16="http://schemas.microsoft.com/office/drawing/2014/main" id="{49BEDE66-CBE1-4E17-ABD9-A36EC49846C4}"/>
              </a:ext>
            </a:extLst>
          </p:cNvPr>
          <p:cNvSpPr/>
          <p:nvPr/>
        </p:nvSpPr>
        <p:spPr>
          <a:xfrm>
            <a:off x="1141321" y="1660125"/>
            <a:ext cx="11439508" cy="4561442"/>
          </a:xfrm>
          <a:prstGeom prst="rect">
            <a:avLst/>
          </a:prstGeom>
        </p:spPr>
        <p:txBody>
          <a:bodyPr wrap="square">
            <a:spAutoFit/>
          </a:bodyPr>
          <a:lstStyle/>
          <a:p>
            <a:pPr>
              <a:lnSpc>
                <a:spcPct val="107000"/>
              </a:lnSpc>
              <a:spcAft>
                <a:spcPts val="450"/>
              </a:spcAft>
            </a:pPr>
            <a:r>
              <a:rPr lang="es-AR" sz="2000" b="1" dirty="0">
                <a:solidFill>
                  <a:schemeClr val="tx1">
                    <a:lumMod val="75000"/>
                    <a:lumOff val="25000"/>
                  </a:schemeClr>
                </a:solidFill>
                <a:latin typeface="+mj-lt"/>
                <a:ea typeface="Times New Roman" panose="02020603050405020304" pitchFamily="18" charset="0"/>
                <a:cs typeface="Times New Roman" panose="02020603050405020304" pitchFamily="18" charset="0"/>
              </a:rPr>
              <a:t>COPRODUCTOS Y PRODUCTOS CONEXOS</a:t>
            </a:r>
            <a:endParaRPr lang="es-AR" sz="2000" dirty="0">
              <a:solidFill>
                <a:schemeClr val="tx1">
                  <a:lumMod val="75000"/>
                  <a:lumOff val="25000"/>
                </a:schemeClr>
              </a:solidFill>
              <a:latin typeface="+mj-lt"/>
              <a:ea typeface="Calibri" panose="020F0502020204030204" pitchFamily="34" charset="0"/>
              <a:cs typeface="Times New Roman" panose="02020603050405020304" pitchFamily="18" charset="0"/>
            </a:endParaRPr>
          </a:p>
          <a:p>
            <a:pPr>
              <a:lnSpc>
                <a:spcPct val="107000"/>
              </a:lnSpc>
              <a:spcBef>
                <a:spcPts val="675"/>
              </a:spcBef>
              <a:spcAft>
                <a:spcPts val="675"/>
              </a:spcAft>
            </a:pPr>
            <a:r>
              <a:rPr lang="es-AR" sz="2000" b="1" dirty="0">
                <a:solidFill>
                  <a:schemeClr val="tx1">
                    <a:lumMod val="75000"/>
                    <a:lumOff val="25000"/>
                  </a:schemeClr>
                </a:solidFill>
                <a:latin typeface="+mj-lt"/>
                <a:ea typeface="Times New Roman" panose="02020603050405020304" pitchFamily="18" charset="0"/>
                <a:cs typeface="Times New Roman" panose="02020603050405020304" pitchFamily="18" charset="0"/>
              </a:rPr>
              <a:t>Coproductos</a:t>
            </a: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 </a:t>
            </a:r>
          </a:p>
          <a:p>
            <a:pPr marL="285750" indent="-285750">
              <a:lnSpc>
                <a:spcPct val="107000"/>
              </a:lnSpc>
              <a:spcBef>
                <a:spcPts val="675"/>
              </a:spcBef>
              <a:spcAft>
                <a:spcPts val="675"/>
              </a:spcAft>
              <a:buClr>
                <a:srgbClr val="92D050"/>
              </a:buClr>
              <a:buFont typeface="Arial" panose="020B0604020202020204" pitchFamily="34" charset="0"/>
              <a:buChar char="•"/>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Son aquellos artículos de un mismo producto, de importancia relativamente igual, los cuales constituyen generalmente el principal objeto de la entidad y cuyas ventas se realizan en proporciones semejantes.</a:t>
            </a:r>
          </a:p>
          <a:p>
            <a:pPr marL="285750" indent="-285750">
              <a:lnSpc>
                <a:spcPct val="107000"/>
              </a:lnSpc>
              <a:spcBef>
                <a:spcPts val="675"/>
              </a:spcBef>
              <a:spcAft>
                <a:spcPts val="675"/>
              </a:spcAft>
              <a:buClr>
                <a:srgbClr val="92D050"/>
              </a:buClr>
              <a:buFont typeface="Arial" panose="020B0604020202020204" pitchFamily="34" charset="0"/>
              <a:buChar char="•"/>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 También se refieren a la producción de dos o más artículos al mismo tiempo, pero no necesariamente de las mismas operaciones de elaboración o de la misma materia prima. </a:t>
            </a:r>
          </a:p>
          <a:p>
            <a:pPr>
              <a:lnSpc>
                <a:spcPct val="107000"/>
              </a:lnSpc>
              <a:spcBef>
                <a:spcPts val="675"/>
              </a:spcBef>
              <a:spcAft>
                <a:spcPts val="675"/>
              </a:spcAft>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Ejemplo: </a:t>
            </a:r>
          </a:p>
          <a:p>
            <a:pPr>
              <a:lnSpc>
                <a:spcPct val="107000"/>
              </a:lnSpc>
              <a:spcBef>
                <a:spcPts val="675"/>
              </a:spcBef>
              <a:spcAft>
                <a:spcPts val="675"/>
              </a:spcAft>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en las operaciones modernas, es posible obtener tablas de roble, pino y nogal al mismo tiempo pero de arboles diferentes (materia prima diferente).</a:t>
            </a:r>
            <a:endParaRPr lang="es-AR" sz="2000" dirty="0">
              <a:solidFill>
                <a:schemeClr val="tx1">
                  <a:lumMod val="75000"/>
                  <a:lumOff val="25000"/>
                </a:schemeClr>
              </a:solidFill>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73131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10</a:t>
            </a:fld>
            <a:endParaRPr lang="en-US" dirty="0"/>
          </a:p>
        </p:txBody>
      </p:sp>
      <p:sp>
        <p:nvSpPr>
          <p:cNvPr id="5" name="Rectángulo 4">
            <a:extLst>
              <a:ext uri="{FF2B5EF4-FFF2-40B4-BE49-F238E27FC236}">
                <a16:creationId xmlns:a16="http://schemas.microsoft.com/office/drawing/2014/main" id="{49BEDE66-CBE1-4E17-ABD9-A36EC49846C4}"/>
              </a:ext>
            </a:extLst>
          </p:cNvPr>
          <p:cNvSpPr/>
          <p:nvPr/>
        </p:nvSpPr>
        <p:spPr>
          <a:xfrm>
            <a:off x="1277445" y="1152907"/>
            <a:ext cx="10914555" cy="5425268"/>
          </a:xfrm>
          <a:prstGeom prst="rect">
            <a:avLst/>
          </a:prstGeom>
        </p:spPr>
        <p:txBody>
          <a:bodyPr wrap="square">
            <a:spAutoFit/>
          </a:bodyPr>
          <a:lstStyle/>
          <a:p>
            <a:pPr>
              <a:lnSpc>
                <a:spcPct val="107000"/>
              </a:lnSpc>
              <a:spcBef>
                <a:spcPts val="675"/>
              </a:spcBef>
              <a:spcAft>
                <a:spcPts val="675"/>
              </a:spcAft>
            </a:pPr>
            <a:r>
              <a:rPr lang="es-AR" sz="2000" b="1" dirty="0">
                <a:solidFill>
                  <a:schemeClr val="tx1">
                    <a:lumMod val="75000"/>
                    <a:lumOff val="25000"/>
                  </a:schemeClr>
                </a:solidFill>
                <a:latin typeface="+mj-lt"/>
                <a:ea typeface="Times New Roman" panose="02020603050405020304" pitchFamily="18" charset="0"/>
                <a:cs typeface="Times New Roman" panose="02020603050405020304" pitchFamily="18" charset="0"/>
              </a:rPr>
              <a:t>Conexos</a:t>
            </a: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a:t>
            </a:r>
          </a:p>
          <a:p>
            <a:pPr>
              <a:lnSpc>
                <a:spcPct val="107000"/>
              </a:lnSpc>
              <a:spcBef>
                <a:spcPts val="675"/>
              </a:spcBef>
              <a:spcAft>
                <a:spcPts val="675"/>
              </a:spcAft>
            </a:pPr>
            <a:r>
              <a:rPr lang="es-AR" sz="2000" dirty="0">
                <a:solidFill>
                  <a:schemeClr val="tx1">
                    <a:lumMod val="85000"/>
                    <a:lumOff val="15000"/>
                  </a:schemeClr>
                </a:solidFill>
                <a:latin typeface="+mj-lt"/>
                <a:ea typeface="Times New Roman" panose="02020603050405020304" pitchFamily="18" charset="0"/>
                <a:cs typeface="Times New Roman" panose="02020603050405020304" pitchFamily="18" charset="0"/>
              </a:rPr>
              <a:t>Son los que se obtienen conjuntamente de una misma materia prima y que resulta de la disgregación de esta, en cierto proceso productivo. </a:t>
            </a:r>
          </a:p>
          <a:p>
            <a:pPr>
              <a:lnSpc>
                <a:spcPct val="107000"/>
              </a:lnSpc>
              <a:spcBef>
                <a:spcPts val="675"/>
              </a:spcBef>
              <a:spcAft>
                <a:spcPts val="675"/>
              </a:spcAft>
            </a:pPr>
            <a:r>
              <a:rPr lang="es-AR" altLang="es-AR" sz="2000" dirty="0">
                <a:latin typeface="+mj-lt"/>
              </a:rPr>
              <a:t>Es decir, </a:t>
            </a:r>
            <a:r>
              <a:rPr lang="es-ES" altLang="es-AR" sz="2000" dirty="0">
                <a:latin typeface="+mj-lt"/>
              </a:rPr>
              <a:t>aquellos en que los ingresos por ventas de cada uno de los productos son casi iguales en cantidad, o al menos importantes en relación con los ingresos totales. </a:t>
            </a:r>
          </a:p>
          <a:p>
            <a:pPr>
              <a:lnSpc>
                <a:spcPct val="107000"/>
              </a:lnSpc>
              <a:spcBef>
                <a:spcPts val="675"/>
              </a:spcBef>
              <a:spcAft>
                <a:spcPts val="675"/>
              </a:spcAft>
            </a:pPr>
            <a:r>
              <a:rPr lang="es-AR" sz="2000" dirty="0">
                <a:solidFill>
                  <a:schemeClr val="tx1">
                    <a:lumMod val="85000"/>
                    <a:lumOff val="15000"/>
                  </a:schemeClr>
                </a:solidFill>
                <a:latin typeface="+mj-lt"/>
                <a:ea typeface="Times New Roman" panose="02020603050405020304" pitchFamily="18" charset="0"/>
                <a:cs typeface="Times New Roman" panose="02020603050405020304" pitchFamily="18" charset="0"/>
              </a:rPr>
              <a:t>El costo de los productos conexos está formado de dos partes:</a:t>
            </a:r>
            <a:endParaRPr lang="es-AR" sz="2000" dirty="0">
              <a:solidFill>
                <a:schemeClr val="tx1">
                  <a:lumMod val="85000"/>
                  <a:lumOff val="15000"/>
                </a:schemeClr>
              </a:solidFill>
              <a:latin typeface="+mj-lt"/>
              <a:ea typeface="Calibri" panose="020F0502020204030204" pitchFamily="34" charset="0"/>
              <a:cs typeface="Times New Roman" panose="02020603050405020304" pitchFamily="18" charset="0"/>
            </a:endParaRPr>
          </a:p>
          <a:p>
            <a:pPr marL="742950" lvl="1" indent="-285750">
              <a:lnSpc>
                <a:spcPct val="107000"/>
              </a:lnSpc>
              <a:spcBef>
                <a:spcPts val="675"/>
              </a:spcBef>
              <a:spcAft>
                <a:spcPts val="675"/>
              </a:spcAft>
              <a:buClr>
                <a:srgbClr val="92D050"/>
              </a:buClr>
              <a:buFont typeface="Arial" panose="020B0604020202020204" pitchFamily="34" charset="0"/>
              <a:buChar char="•"/>
            </a:pPr>
            <a:r>
              <a:rPr lang="es-AR" sz="2000" dirty="0">
                <a:solidFill>
                  <a:schemeClr val="tx1">
                    <a:lumMod val="85000"/>
                    <a:lumOff val="15000"/>
                  </a:schemeClr>
                </a:solidFill>
                <a:latin typeface="+mj-lt"/>
                <a:ea typeface="Times New Roman" panose="02020603050405020304" pitchFamily="18" charset="0"/>
                <a:cs typeface="Times New Roman" panose="02020603050405020304" pitchFamily="18" charset="0"/>
              </a:rPr>
              <a:t>La primera se refiere al costo del proceso principal o sea hasta el momento en que se separan o dividen los productos del proceso central de producción.</a:t>
            </a:r>
            <a:endParaRPr lang="es-AR" sz="2000" dirty="0">
              <a:solidFill>
                <a:schemeClr val="tx1">
                  <a:lumMod val="85000"/>
                  <a:lumOff val="15000"/>
                </a:schemeClr>
              </a:solidFill>
              <a:latin typeface="+mj-lt"/>
              <a:ea typeface="Calibri" panose="020F0502020204030204" pitchFamily="34" charset="0"/>
              <a:cs typeface="Times New Roman" panose="02020603050405020304" pitchFamily="18" charset="0"/>
            </a:endParaRPr>
          </a:p>
          <a:p>
            <a:pPr marL="742950" lvl="1" indent="-285750">
              <a:lnSpc>
                <a:spcPct val="107000"/>
              </a:lnSpc>
              <a:spcBef>
                <a:spcPts val="675"/>
              </a:spcBef>
              <a:spcAft>
                <a:spcPts val="675"/>
              </a:spcAft>
              <a:buClr>
                <a:srgbClr val="92D050"/>
              </a:buClr>
              <a:buFont typeface="Arial" panose="020B0604020202020204" pitchFamily="34" charset="0"/>
              <a:buChar char="•"/>
            </a:pPr>
            <a:r>
              <a:rPr lang="es-AR" sz="2000" dirty="0">
                <a:solidFill>
                  <a:schemeClr val="tx1">
                    <a:lumMod val="85000"/>
                    <a:lumOff val="15000"/>
                  </a:schemeClr>
                </a:solidFill>
                <a:latin typeface="+mj-lt"/>
                <a:ea typeface="Times New Roman" panose="02020603050405020304" pitchFamily="18" charset="0"/>
                <a:cs typeface="Times New Roman" panose="02020603050405020304" pitchFamily="18" charset="0"/>
              </a:rPr>
              <a:t>La segunda corresponde al costo del proceso especial que cada uno de ellos requiere para encontrarse en artículos vendibles. </a:t>
            </a:r>
          </a:p>
          <a:p>
            <a:pPr>
              <a:lnSpc>
                <a:spcPct val="107000"/>
              </a:lnSpc>
              <a:spcBef>
                <a:spcPts val="675"/>
              </a:spcBef>
              <a:spcAft>
                <a:spcPts val="675"/>
              </a:spcAft>
            </a:pPr>
            <a:r>
              <a:rPr lang="es-AR" sz="2000" dirty="0">
                <a:solidFill>
                  <a:schemeClr val="tx1">
                    <a:lumMod val="85000"/>
                    <a:lumOff val="15000"/>
                  </a:schemeClr>
                </a:solidFill>
                <a:latin typeface="+mj-lt"/>
                <a:ea typeface="Times New Roman" panose="02020603050405020304" pitchFamily="18" charset="0"/>
                <a:cs typeface="Times New Roman" panose="02020603050405020304" pitchFamily="18" charset="0"/>
              </a:rPr>
              <a:t>Así, pues, el primer problema por resolver es el que se refiere al prorrateo del costo entre los diferentes productos conexos que han seguido un mismo proceso hasta el momento de la separación principal.</a:t>
            </a:r>
            <a:endParaRPr lang="es-AR" sz="2000" dirty="0">
              <a:solidFill>
                <a:schemeClr val="tx1">
                  <a:lumMod val="85000"/>
                  <a:lumOff val="15000"/>
                </a:schemeClr>
              </a:solidFill>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623254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11</a:t>
            </a:fld>
            <a:endParaRPr lang="en-US" dirty="0"/>
          </a:p>
        </p:txBody>
      </p:sp>
      <p:sp>
        <p:nvSpPr>
          <p:cNvPr id="5" name="Rectángulo 4">
            <a:extLst>
              <a:ext uri="{FF2B5EF4-FFF2-40B4-BE49-F238E27FC236}">
                <a16:creationId xmlns:a16="http://schemas.microsoft.com/office/drawing/2014/main" id="{49BEDE66-CBE1-4E17-ABD9-A36EC49846C4}"/>
              </a:ext>
            </a:extLst>
          </p:cNvPr>
          <p:cNvSpPr/>
          <p:nvPr/>
        </p:nvSpPr>
        <p:spPr>
          <a:xfrm>
            <a:off x="2286540" y="2139520"/>
            <a:ext cx="9724947" cy="4107984"/>
          </a:xfrm>
          <a:prstGeom prst="rect">
            <a:avLst/>
          </a:prstGeom>
        </p:spPr>
        <p:txBody>
          <a:bodyPr wrap="square">
            <a:spAutoFit/>
          </a:bodyPr>
          <a:lstStyle/>
          <a:p>
            <a:pPr>
              <a:lnSpc>
                <a:spcPct val="107000"/>
              </a:lnSpc>
              <a:spcBef>
                <a:spcPts val="675"/>
              </a:spcBef>
              <a:spcAft>
                <a:spcPts val="675"/>
              </a:spcAft>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Así, pues, el primer problema por resolver es el que se refiere al prorrateo del costo entre los diferentes productos conexos que han seguido un mismo proceso hasta el momento de la separación principal.</a:t>
            </a:r>
          </a:p>
          <a:p>
            <a:pPr>
              <a:lnSpc>
                <a:spcPct val="107000"/>
              </a:lnSpc>
              <a:spcBef>
                <a:spcPts val="675"/>
              </a:spcBef>
              <a:spcAft>
                <a:spcPts val="675"/>
              </a:spcAft>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Métodos para asignar a cada uno el costo común:</a:t>
            </a:r>
            <a:endParaRPr lang="es-AR" sz="2000" dirty="0">
              <a:solidFill>
                <a:schemeClr val="tx1">
                  <a:lumMod val="75000"/>
                  <a:lumOff val="25000"/>
                </a:schemeClr>
              </a:solidFill>
              <a:latin typeface="+mj-lt"/>
              <a:ea typeface="Calibri" panose="020F0502020204030204" pitchFamily="34" charset="0"/>
              <a:cs typeface="Times New Roman" panose="02020603050405020304" pitchFamily="18" charset="0"/>
            </a:endParaRPr>
          </a:p>
          <a:p>
            <a:pPr marL="285750" indent="-285750">
              <a:lnSpc>
                <a:spcPct val="107000"/>
              </a:lnSpc>
              <a:spcBef>
                <a:spcPts val="675"/>
              </a:spcBef>
              <a:spcAft>
                <a:spcPts val="675"/>
              </a:spcAft>
              <a:buClr>
                <a:srgbClr val="92D050"/>
              </a:buClr>
              <a:buFont typeface="Arial" panose="020B0604020202020204" pitchFamily="34" charset="0"/>
              <a:buChar char="•"/>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Unidades físicas</a:t>
            </a:r>
          </a:p>
          <a:p>
            <a:pPr marL="285750" indent="-285750">
              <a:lnSpc>
                <a:spcPct val="107000"/>
              </a:lnSpc>
              <a:spcBef>
                <a:spcPts val="675"/>
              </a:spcBef>
              <a:spcAft>
                <a:spcPts val="675"/>
              </a:spcAft>
              <a:buClr>
                <a:srgbClr val="92D050"/>
              </a:buClr>
              <a:buFont typeface="Arial" panose="020B0604020202020204" pitchFamily="34" charset="0"/>
              <a:buChar char="•"/>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Valor de ventas real</a:t>
            </a:r>
          </a:p>
          <a:p>
            <a:pPr marL="285750" indent="-285750">
              <a:lnSpc>
                <a:spcPct val="107000"/>
              </a:lnSpc>
              <a:spcBef>
                <a:spcPts val="675"/>
              </a:spcBef>
              <a:spcAft>
                <a:spcPts val="675"/>
              </a:spcAft>
              <a:buClr>
                <a:srgbClr val="92D050"/>
              </a:buClr>
              <a:buFont typeface="Arial" panose="020B0604020202020204" pitchFamily="34" charset="0"/>
              <a:buChar char="•"/>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Valor relativo de las ventas</a:t>
            </a:r>
            <a:endParaRPr lang="es-AR" sz="2000" dirty="0">
              <a:solidFill>
                <a:schemeClr val="tx1">
                  <a:lumMod val="75000"/>
                  <a:lumOff val="25000"/>
                </a:schemeClr>
              </a:solidFill>
              <a:latin typeface="+mj-lt"/>
              <a:ea typeface="Calibri" panose="020F0502020204030204" pitchFamily="34" charset="0"/>
              <a:cs typeface="Times New Roman" panose="02020603050405020304" pitchFamily="18" charset="0"/>
            </a:endParaRPr>
          </a:p>
          <a:p>
            <a:pPr marL="285750" indent="-285750">
              <a:lnSpc>
                <a:spcPct val="107000"/>
              </a:lnSpc>
              <a:spcBef>
                <a:spcPts val="675"/>
              </a:spcBef>
              <a:spcAft>
                <a:spcPts val="675"/>
              </a:spcAft>
              <a:buClr>
                <a:srgbClr val="92D050"/>
              </a:buClr>
              <a:buFont typeface="Arial" panose="020B0604020202020204" pitchFamily="34" charset="0"/>
              <a:buChar char="•"/>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Costo inverso</a:t>
            </a:r>
          </a:p>
          <a:p>
            <a:pPr marL="342900" indent="-342900">
              <a:lnSpc>
                <a:spcPct val="107000"/>
              </a:lnSpc>
              <a:spcBef>
                <a:spcPts val="675"/>
              </a:spcBef>
              <a:spcAft>
                <a:spcPts val="675"/>
              </a:spcAft>
              <a:buClr>
                <a:srgbClr val="92D050"/>
              </a:buClr>
              <a:buFont typeface="Arial" panose="020B0604020202020204" pitchFamily="34" charset="0"/>
              <a:buChar char="•"/>
            </a:pPr>
            <a:r>
              <a:rPr lang="es-AR" sz="2000" dirty="0">
                <a:solidFill>
                  <a:schemeClr val="tx1">
                    <a:lumMod val="75000"/>
                    <a:lumOff val="25000"/>
                  </a:schemeClr>
                </a:solidFill>
                <a:effectLst/>
                <a:latin typeface="+mj-lt"/>
                <a:ea typeface="Calibri" panose="020F0502020204030204" pitchFamily="34" charset="0"/>
                <a:cs typeface="Times New Roman" panose="02020603050405020304" pitchFamily="18" charset="0"/>
              </a:rPr>
              <a:t>Otros</a:t>
            </a:r>
          </a:p>
        </p:txBody>
      </p:sp>
    </p:spTree>
    <p:extLst>
      <p:ext uri="{BB962C8B-B14F-4D97-AF65-F5344CB8AC3E}">
        <p14:creationId xmlns:p14="http://schemas.microsoft.com/office/powerpoint/2010/main" val="432192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
        <p:nvSpPr>
          <p:cNvPr id="5" name="Rectángulo 4">
            <a:extLst>
              <a:ext uri="{FF2B5EF4-FFF2-40B4-BE49-F238E27FC236}">
                <a16:creationId xmlns:a16="http://schemas.microsoft.com/office/drawing/2014/main" id="{49BEDE66-CBE1-4E17-ABD9-A36EC49846C4}"/>
              </a:ext>
            </a:extLst>
          </p:cNvPr>
          <p:cNvSpPr/>
          <p:nvPr/>
        </p:nvSpPr>
        <p:spPr>
          <a:xfrm>
            <a:off x="1141321" y="1660125"/>
            <a:ext cx="10943587" cy="4228017"/>
          </a:xfrm>
          <a:prstGeom prst="rect">
            <a:avLst/>
          </a:prstGeom>
        </p:spPr>
        <p:txBody>
          <a:bodyPr wrap="square">
            <a:spAutoFit/>
          </a:bodyPr>
          <a:lstStyle/>
          <a:p>
            <a:pPr>
              <a:lnSpc>
                <a:spcPct val="107000"/>
              </a:lnSpc>
              <a:spcBef>
                <a:spcPts val="675"/>
              </a:spcBef>
              <a:spcAft>
                <a:spcPts val="675"/>
              </a:spcAft>
            </a:pPr>
            <a:r>
              <a:rPr lang="es-AR" sz="2000" b="1" dirty="0">
                <a:solidFill>
                  <a:schemeClr val="tx1">
                    <a:lumMod val="75000"/>
                    <a:lumOff val="25000"/>
                  </a:schemeClr>
                </a:solidFill>
                <a:latin typeface="+mj-lt"/>
                <a:ea typeface="Times New Roman" panose="02020603050405020304" pitchFamily="18" charset="0"/>
                <a:cs typeface="Times New Roman" panose="02020603050405020304" pitchFamily="18" charset="0"/>
              </a:rPr>
              <a:t>Subproducto</a:t>
            </a: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 </a:t>
            </a:r>
          </a:p>
          <a:p>
            <a:pPr>
              <a:lnSpc>
                <a:spcPct val="107000"/>
              </a:lnSpc>
              <a:spcBef>
                <a:spcPts val="675"/>
              </a:spcBef>
              <a:spcAft>
                <a:spcPts val="675"/>
              </a:spcAft>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Son productos secundarios, de valor de venta limitado, elaborados de manera simultánea con productos de valor de venta mayor, conocidos como productos principales; los subproductos se producen a efecto de: </a:t>
            </a:r>
          </a:p>
          <a:p>
            <a:pPr>
              <a:lnSpc>
                <a:spcPct val="107000"/>
              </a:lnSpc>
              <a:spcBef>
                <a:spcPts val="675"/>
              </a:spcBef>
              <a:spcAft>
                <a:spcPts val="675"/>
              </a:spcAft>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Disponer más provechosamente del desperdicio o desechos derivados de los productos principales. Utilizar los costos fijos que constituyen y que no se recuperan, debido a que la fabricación de los artículos principales no utiliza totalmente la capacidad productiva de la planta.</a:t>
            </a:r>
            <a:endParaRPr lang="es-AR" sz="2000" dirty="0">
              <a:solidFill>
                <a:schemeClr val="tx1">
                  <a:lumMod val="75000"/>
                  <a:lumOff val="25000"/>
                </a:schemeClr>
              </a:solidFill>
              <a:latin typeface="+mj-lt"/>
              <a:ea typeface="Calibri" panose="020F0502020204030204" pitchFamily="34" charset="0"/>
              <a:cs typeface="Times New Roman" panose="02020603050405020304" pitchFamily="18" charset="0"/>
            </a:endParaRPr>
          </a:p>
          <a:p>
            <a:pPr>
              <a:lnSpc>
                <a:spcPct val="107000"/>
              </a:lnSpc>
              <a:spcBef>
                <a:spcPts val="675"/>
              </a:spcBef>
              <a:spcAft>
                <a:spcPts val="675"/>
              </a:spcAft>
            </a:pPr>
            <a:r>
              <a:rPr lang="es-AR" sz="2000" dirty="0">
                <a:solidFill>
                  <a:schemeClr val="tx1">
                    <a:lumMod val="75000"/>
                    <a:lumOff val="25000"/>
                  </a:schemeClr>
                </a:solidFill>
                <a:latin typeface="+mj-lt"/>
                <a:ea typeface="Times New Roman" panose="02020603050405020304" pitchFamily="18" charset="0"/>
                <a:cs typeface="Times New Roman" panose="02020603050405020304" pitchFamily="18" charset="0"/>
              </a:rPr>
              <a:t>La producción de subproductos debe limitarse de acuerdo con las posibilidades de venta y de acuerdo con el volumen de desperdicio, desecho y capacidad no utilizada.</a:t>
            </a:r>
            <a:endParaRPr lang="es-AR" sz="2000" dirty="0">
              <a:solidFill>
                <a:schemeClr val="tx1">
                  <a:lumMod val="75000"/>
                  <a:lumOff val="25000"/>
                </a:schemeClr>
              </a:solidFill>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58710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
        <p:nvSpPr>
          <p:cNvPr id="6" name="Rectangle 7">
            <a:extLst>
              <a:ext uri="{FF2B5EF4-FFF2-40B4-BE49-F238E27FC236}">
                <a16:creationId xmlns:a16="http://schemas.microsoft.com/office/drawing/2014/main" id="{D4AA8859-5D67-4C7A-A8BE-6EC901C8A900}"/>
              </a:ext>
            </a:extLst>
          </p:cNvPr>
          <p:cNvSpPr>
            <a:spLocks noChangeArrowheads="1"/>
          </p:cNvSpPr>
          <p:nvPr/>
        </p:nvSpPr>
        <p:spPr bwMode="auto">
          <a:xfrm>
            <a:off x="1488254" y="1680346"/>
            <a:ext cx="9777413" cy="2032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ES" altLang="es-AR" sz="2000" b="1" dirty="0">
                <a:solidFill>
                  <a:schemeClr val="tx1">
                    <a:lumMod val="75000"/>
                    <a:lumOff val="25000"/>
                  </a:schemeClr>
                </a:solidFill>
                <a:latin typeface="+mj-lt"/>
              </a:rPr>
              <a:t>Desperdicios: </a:t>
            </a:r>
          </a:p>
          <a:p>
            <a:pPr algn="just" eaLnBrk="1" hangingPunct="1">
              <a:defRPr/>
            </a:pPr>
            <a:r>
              <a:rPr lang="es-ES" altLang="es-AR" sz="2000" dirty="0">
                <a:solidFill>
                  <a:schemeClr val="tx1">
                    <a:lumMod val="75000"/>
                    <a:lumOff val="25000"/>
                  </a:schemeClr>
                </a:solidFill>
                <a:latin typeface="+mj-lt"/>
              </a:rPr>
              <a:t>material sobrante de un proceso productivo que en algunos casos pueden ser reciclados en el mismo proceso y en otros se desechan, por lo que su eliminación significa un costo que aumenta los de producción.</a:t>
            </a:r>
          </a:p>
          <a:p>
            <a:pPr algn="l" eaLnBrk="1" hangingPunct="1">
              <a:defRPr/>
            </a:pPr>
            <a:r>
              <a:rPr lang="es-ES" altLang="es-AR" sz="2000" dirty="0">
                <a:solidFill>
                  <a:schemeClr val="tx1">
                    <a:lumMod val="75000"/>
                    <a:lumOff val="25000"/>
                  </a:schemeClr>
                </a:solidFill>
                <a:latin typeface="+mj-lt"/>
              </a:rPr>
              <a:t>Si ciertos desperdicios tienen un valor de realización para la empresa, </a:t>
            </a:r>
            <a:r>
              <a:rPr lang="es-AR" altLang="es-AR" sz="2000" dirty="0">
                <a:solidFill>
                  <a:schemeClr val="tx1">
                    <a:lumMod val="75000"/>
                    <a:lumOff val="25000"/>
                  </a:schemeClr>
                </a:solidFill>
                <a:latin typeface="+mj-lt"/>
              </a:rPr>
              <a:t>deberán ser tratados como subproductos.</a:t>
            </a:r>
            <a:endParaRPr lang="es-ES" altLang="es-AR" sz="2000" dirty="0">
              <a:solidFill>
                <a:schemeClr val="tx1">
                  <a:lumMod val="75000"/>
                  <a:lumOff val="25000"/>
                </a:schemeClr>
              </a:solidFill>
              <a:latin typeface="+mj-lt"/>
            </a:endParaRPr>
          </a:p>
        </p:txBody>
      </p:sp>
      <p:sp>
        <p:nvSpPr>
          <p:cNvPr id="7" name="Rectangle 9">
            <a:extLst>
              <a:ext uri="{FF2B5EF4-FFF2-40B4-BE49-F238E27FC236}">
                <a16:creationId xmlns:a16="http://schemas.microsoft.com/office/drawing/2014/main" id="{6C016715-92CD-4BA1-A314-08EFC2B236BF}"/>
              </a:ext>
            </a:extLst>
          </p:cNvPr>
          <p:cNvSpPr>
            <a:spLocks noChangeArrowheads="1"/>
          </p:cNvSpPr>
          <p:nvPr/>
        </p:nvSpPr>
        <p:spPr bwMode="auto">
          <a:xfrm>
            <a:off x="1433183" y="4396370"/>
            <a:ext cx="9848850" cy="2032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95250">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solidFill>
                  <a:schemeClr val="tx1">
                    <a:lumMod val="75000"/>
                    <a:lumOff val="25000"/>
                  </a:schemeClr>
                </a:solidFill>
                <a:latin typeface="+mj-lt"/>
              </a:rPr>
              <a:t>Entre otros criterios aplicados para la diferenciación entre productos conexos y subproductos, además de las ventas relativas, incluye los objetivos planteados, las utilidades deseadas, la necesidad de mayor grado de procesamiento antes de las ventas, y la seguridad de los mercados, por lo que un producto relativamente importante, con un mercado inseguro, podría clasificarse como un subproducto.</a:t>
            </a:r>
          </a:p>
        </p:txBody>
      </p:sp>
    </p:spTree>
    <p:extLst>
      <p:ext uri="{BB962C8B-B14F-4D97-AF65-F5344CB8AC3E}">
        <p14:creationId xmlns:p14="http://schemas.microsoft.com/office/powerpoint/2010/main" val="3718115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
        <p:nvSpPr>
          <p:cNvPr id="3" name="Rectángulo 2">
            <a:extLst>
              <a:ext uri="{FF2B5EF4-FFF2-40B4-BE49-F238E27FC236}">
                <a16:creationId xmlns:a16="http://schemas.microsoft.com/office/drawing/2014/main" id="{80E9400D-23A3-4F34-BFD2-C9738B454C68}"/>
              </a:ext>
            </a:extLst>
          </p:cNvPr>
          <p:cNvSpPr/>
          <p:nvPr/>
        </p:nvSpPr>
        <p:spPr>
          <a:xfrm>
            <a:off x="756545" y="2184661"/>
            <a:ext cx="2610671" cy="121605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Rectángulo 5">
            <a:extLst>
              <a:ext uri="{FF2B5EF4-FFF2-40B4-BE49-F238E27FC236}">
                <a16:creationId xmlns:a16="http://schemas.microsoft.com/office/drawing/2014/main" id="{FD65F59C-795D-4CAF-A152-AD85FF14B597}"/>
              </a:ext>
            </a:extLst>
          </p:cNvPr>
          <p:cNvSpPr/>
          <p:nvPr/>
        </p:nvSpPr>
        <p:spPr>
          <a:xfrm>
            <a:off x="3950122" y="2194088"/>
            <a:ext cx="2164186" cy="12066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Rectángulo 6">
            <a:extLst>
              <a:ext uri="{FF2B5EF4-FFF2-40B4-BE49-F238E27FC236}">
                <a16:creationId xmlns:a16="http://schemas.microsoft.com/office/drawing/2014/main" id="{577F9085-85B2-4B35-9973-B1E08A73FADF}"/>
              </a:ext>
            </a:extLst>
          </p:cNvPr>
          <p:cNvSpPr/>
          <p:nvPr/>
        </p:nvSpPr>
        <p:spPr>
          <a:xfrm>
            <a:off x="9294613" y="2179947"/>
            <a:ext cx="2610671" cy="1216058"/>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Rectángulo 8">
            <a:extLst>
              <a:ext uri="{FF2B5EF4-FFF2-40B4-BE49-F238E27FC236}">
                <a16:creationId xmlns:a16="http://schemas.microsoft.com/office/drawing/2014/main" id="{A6797954-8017-4A30-9941-8986045BE7DA}"/>
              </a:ext>
            </a:extLst>
          </p:cNvPr>
          <p:cNvSpPr/>
          <p:nvPr/>
        </p:nvSpPr>
        <p:spPr>
          <a:xfrm>
            <a:off x="8681673" y="4094005"/>
            <a:ext cx="3259755" cy="1329532"/>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Rectángulo 9">
            <a:extLst>
              <a:ext uri="{FF2B5EF4-FFF2-40B4-BE49-F238E27FC236}">
                <a16:creationId xmlns:a16="http://schemas.microsoft.com/office/drawing/2014/main" id="{ECF3BF97-0C55-4BE9-BAFC-822A17FA3DFF}"/>
              </a:ext>
            </a:extLst>
          </p:cNvPr>
          <p:cNvSpPr/>
          <p:nvPr/>
        </p:nvSpPr>
        <p:spPr>
          <a:xfrm>
            <a:off x="3616008" y="4094005"/>
            <a:ext cx="2747085" cy="1329532"/>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1" name="Rectángulo 10">
            <a:extLst>
              <a:ext uri="{FF2B5EF4-FFF2-40B4-BE49-F238E27FC236}">
                <a16:creationId xmlns:a16="http://schemas.microsoft.com/office/drawing/2014/main" id="{A1B889E2-E2D3-4DF6-B68E-758FA2A0916F}"/>
              </a:ext>
            </a:extLst>
          </p:cNvPr>
          <p:cNvSpPr/>
          <p:nvPr/>
        </p:nvSpPr>
        <p:spPr>
          <a:xfrm>
            <a:off x="6669309" y="2184661"/>
            <a:ext cx="2070303" cy="120663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 name="CuadroTexto 4">
            <a:extLst>
              <a:ext uri="{FF2B5EF4-FFF2-40B4-BE49-F238E27FC236}">
                <a16:creationId xmlns:a16="http://schemas.microsoft.com/office/drawing/2014/main" id="{D061ACA1-3186-435B-B1A9-4E8B3E340C49}"/>
              </a:ext>
            </a:extLst>
          </p:cNvPr>
          <p:cNvSpPr txBox="1"/>
          <p:nvPr/>
        </p:nvSpPr>
        <p:spPr>
          <a:xfrm>
            <a:off x="972807" y="2250649"/>
            <a:ext cx="2394409" cy="923330"/>
          </a:xfrm>
          <a:prstGeom prst="rect">
            <a:avLst/>
          </a:prstGeom>
          <a:noFill/>
        </p:spPr>
        <p:txBody>
          <a:bodyPr wrap="square" rtlCol="0">
            <a:spAutoFit/>
          </a:bodyPr>
          <a:lstStyle/>
          <a:p>
            <a:r>
              <a:rPr lang="es-AR" b="1" dirty="0"/>
              <a:t>RECURSOS:</a:t>
            </a:r>
          </a:p>
          <a:p>
            <a:pPr marL="285750" indent="-285750">
              <a:buFont typeface="Arial" panose="020B0604020202020204" pitchFamily="34" charset="0"/>
              <a:buChar char="•"/>
            </a:pPr>
            <a:r>
              <a:rPr lang="es-AR" sz="1200" dirty="0"/>
              <a:t>MATERIA PRIMA</a:t>
            </a:r>
          </a:p>
          <a:p>
            <a:pPr marL="285750" indent="-285750">
              <a:buFont typeface="Arial" panose="020B0604020202020204" pitchFamily="34" charset="0"/>
              <a:buChar char="•"/>
            </a:pPr>
            <a:r>
              <a:rPr lang="es-AR" sz="1200" dirty="0"/>
              <a:t>MANO DE OBRA</a:t>
            </a:r>
          </a:p>
          <a:p>
            <a:pPr marL="285750" indent="-285750">
              <a:buFont typeface="Arial" panose="020B0604020202020204" pitchFamily="34" charset="0"/>
              <a:buChar char="•"/>
            </a:pPr>
            <a:r>
              <a:rPr lang="es-AR" sz="1200" dirty="0"/>
              <a:t>GASTOS INDIRECTOS</a:t>
            </a:r>
          </a:p>
        </p:txBody>
      </p:sp>
      <p:sp>
        <p:nvSpPr>
          <p:cNvPr id="12" name="CuadroTexto 11">
            <a:extLst>
              <a:ext uri="{FF2B5EF4-FFF2-40B4-BE49-F238E27FC236}">
                <a16:creationId xmlns:a16="http://schemas.microsoft.com/office/drawing/2014/main" id="{C11442D5-C1CE-45AB-92F3-AE633F8364AA}"/>
              </a:ext>
            </a:extLst>
          </p:cNvPr>
          <p:cNvSpPr txBox="1"/>
          <p:nvPr/>
        </p:nvSpPr>
        <p:spPr>
          <a:xfrm>
            <a:off x="4139031" y="2449974"/>
            <a:ext cx="1786369" cy="646331"/>
          </a:xfrm>
          <a:prstGeom prst="rect">
            <a:avLst/>
          </a:prstGeom>
          <a:noFill/>
        </p:spPr>
        <p:txBody>
          <a:bodyPr wrap="square" rtlCol="0">
            <a:spAutoFit/>
          </a:bodyPr>
          <a:lstStyle/>
          <a:p>
            <a:r>
              <a:rPr lang="es-AR" b="1" dirty="0"/>
              <a:t>PROCESO CONJUNTO</a:t>
            </a:r>
          </a:p>
        </p:txBody>
      </p:sp>
      <p:sp>
        <p:nvSpPr>
          <p:cNvPr id="13" name="CuadroTexto 12">
            <a:extLst>
              <a:ext uri="{FF2B5EF4-FFF2-40B4-BE49-F238E27FC236}">
                <a16:creationId xmlns:a16="http://schemas.microsoft.com/office/drawing/2014/main" id="{C2468CCF-982F-4F44-991E-8D1BFA142925}"/>
              </a:ext>
            </a:extLst>
          </p:cNvPr>
          <p:cNvSpPr txBox="1"/>
          <p:nvPr/>
        </p:nvSpPr>
        <p:spPr>
          <a:xfrm>
            <a:off x="6669309" y="2246333"/>
            <a:ext cx="2012364" cy="954107"/>
          </a:xfrm>
          <a:prstGeom prst="rect">
            <a:avLst/>
          </a:prstGeom>
          <a:noFill/>
        </p:spPr>
        <p:txBody>
          <a:bodyPr wrap="square" rtlCol="0">
            <a:spAutoFit/>
          </a:bodyPr>
          <a:lstStyle/>
          <a:p>
            <a:pPr algn="ctr"/>
            <a:r>
              <a:rPr lang="es-AR" sz="1600" b="1" dirty="0"/>
              <a:t>PUNTO DE SEPARACION</a:t>
            </a:r>
          </a:p>
          <a:p>
            <a:r>
              <a:rPr lang="es-AR" sz="1200" dirty="0"/>
              <a:t>(INSUMO COMUN DE PRODUCTOS CONEXOS)</a:t>
            </a:r>
          </a:p>
        </p:txBody>
      </p:sp>
      <p:sp>
        <p:nvSpPr>
          <p:cNvPr id="14" name="CuadroTexto 13">
            <a:extLst>
              <a:ext uri="{FF2B5EF4-FFF2-40B4-BE49-F238E27FC236}">
                <a16:creationId xmlns:a16="http://schemas.microsoft.com/office/drawing/2014/main" id="{4B0C7004-F2CA-4C05-9EA7-292B9EEC59A4}"/>
              </a:ext>
            </a:extLst>
          </p:cNvPr>
          <p:cNvSpPr txBox="1"/>
          <p:nvPr/>
        </p:nvSpPr>
        <p:spPr>
          <a:xfrm>
            <a:off x="9330756" y="2246333"/>
            <a:ext cx="2487907" cy="1077218"/>
          </a:xfrm>
          <a:prstGeom prst="rect">
            <a:avLst/>
          </a:prstGeom>
          <a:noFill/>
        </p:spPr>
        <p:txBody>
          <a:bodyPr wrap="square" rtlCol="0">
            <a:spAutoFit/>
          </a:bodyPr>
          <a:lstStyle/>
          <a:p>
            <a:r>
              <a:rPr lang="es-AR" sz="1600" b="1" dirty="0"/>
              <a:t>PRODUCTOS CONEXOS</a:t>
            </a:r>
          </a:p>
          <a:p>
            <a:pPr marL="285750" indent="-285750">
              <a:buFont typeface="Arial" panose="020B0604020202020204" pitchFamily="34" charset="0"/>
              <a:buChar char="•"/>
            </a:pPr>
            <a:r>
              <a:rPr lang="es-AR" sz="1200" dirty="0"/>
              <a:t>PRODUCTO 1</a:t>
            </a:r>
          </a:p>
          <a:p>
            <a:pPr marL="285750" indent="-285750">
              <a:buFont typeface="Arial" panose="020B0604020202020204" pitchFamily="34" charset="0"/>
              <a:buChar char="•"/>
            </a:pPr>
            <a:r>
              <a:rPr lang="es-AR" sz="1200" dirty="0"/>
              <a:t>PRODUCTO 2</a:t>
            </a:r>
          </a:p>
          <a:p>
            <a:pPr marL="285750" indent="-285750">
              <a:buFont typeface="Arial" panose="020B0604020202020204" pitchFamily="34" charset="0"/>
              <a:buChar char="•"/>
            </a:pPr>
            <a:r>
              <a:rPr lang="es-AR" sz="1200" dirty="0"/>
              <a:t>PRODUCTO 3</a:t>
            </a:r>
          </a:p>
          <a:p>
            <a:pPr marL="285750" indent="-285750">
              <a:buFont typeface="Arial" panose="020B0604020202020204" pitchFamily="34" charset="0"/>
              <a:buChar char="•"/>
            </a:pPr>
            <a:r>
              <a:rPr lang="es-AR" sz="1200" dirty="0"/>
              <a:t>SUBPRODUCTO</a:t>
            </a:r>
          </a:p>
        </p:txBody>
      </p:sp>
      <p:sp>
        <p:nvSpPr>
          <p:cNvPr id="15" name="CuadroTexto 14">
            <a:extLst>
              <a:ext uri="{FF2B5EF4-FFF2-40B4-BE49-F238E27FC236}">
                <a16:creationId xmlns:a16="http://schemas.microsoft.com/office/drawing/2014/main" id="{1A550630-F7B3-4AFF-B69F-A9C22B8A9993}"/>
              </a:ext>
            </a:extLst>
          </p:cNvPr>
          <p:cNvSpPr txBox="1"/>
          <p:nvPr/>
        </p:nvSpPr>
        <p:spPr>
          <a:xfrm>
            <a:off x="8851769" y="4223208"/>
            <a:ext cx="2966894" cy="1200329"/>
          </a:xfrm>
          <a:prstGeom prst="rect">
            <a:avLst/>
          </a:prstGeom>
          <a:noFill/>
        </p:spPr>
        <p:txBody>
          <a:bodyPr wrap="square" rtlCol="0">
            <a:spAutoFit/>
          </a:bodyPr>
          <a:lstStyle/>
          <a:p>
            <a:pPr marL="285750" indent="-285750">
              <a:buFont typeface="Arial" panose="020B0604020202020204" pitchFamily="34" charset="0"/>
              <a:buChar char="•"/>
            </a:pPr>
            <a:r>
              <a:rPr lang="es-AR" sz="1600" b="1" dirty="0"/>
              <a:t>PRODUCTOS PRINCIPALES</a:t>
            </a:r>
          </a:p>
          <a:p>
            <a:pPr marL="285750" indent="-285750">
              <a:buFont typeface="Arial" panose="020B0604020202020204" pitchFamily="34" charset="0"/>
              <a:buChar char="•"/>
            </a:pPr>
            <a:r>
              <a:rPr lang="es-AR" sz="1600" b="1" dirty="0"/>
              <a:t>SUBPRODUCTOS</a:t>
            </a:r>
            <a:r>
              <a:rPr lang="es-AR" dirty="0"/>
              <a:t> </a:t>
            </a:r>
            <a:r>
              <a:rPr lang="es-AR" sz="1100" dirty="0"/>
              <a:t>(DESPERDICIOS CON VALOR DE REALIZACIÓN)</a:t>
            </a:r>
          </a:p>
          <a:p>
            <a:pPr marL="285750" indent="-285750">
              <a:buFont typeface="Arial" panose="020B0604020202020204" pitchFamily="34" charset="0"/>
              <a:buChar char="•"/>
            </a:pPr>
            <a:r>
              <a:rPr lang="es-AR" sz="1600" b="1" dirty="0"/>
              <a:t>DESHECHOS</a:t>
            </a:r>
          </a:p>
        </p:txBody>
      </p:sp>
      <p:sp>
        <p:nvSpPr>
          <p:cNvPr id="16" name="CuadroTexto 15">
            <a:extLst>
              <a:ext uri="{FF2B5EF4-FFF2-40B4-BE49-F238E27FC236}">
                <a16:creationId xmlns:a16="http://schemas.microsoft.com/office/drawing/2014/main" id="{6D4DB6C5-D9B8-41FE-A1D0-3BB8968BEC25}"/>
              </a:ext>
            </a:extLst>
          </p:cNvPr>
          <p:cNvSpPr txBox="1"/>
          <p:nvPr/>
        </p:nvSpPr>
        <p:spPr>
          <a:xfrm>
            <a:off x="3733014" y="4330211"/>
            <a:ext cx="2362986" cy="830997"/>
          </a:xfrm>
          <a:prstGeom prst="rect">
            <a:avLst/>
          </a:prstGeom>
          <a:noFill/>
        </p:spPr>
        <p:txBody>
          <a:bodyPr wrap="square" rtlCol="0">
            <a:spAutoFit/>
          </a:bodyPr>
          <a:lstStyle/>
          <a:p>
            <a:r>
              <a:rPr lang="es-AR" sz="1600" b="1" dirty="0"/>
              <a:t>DESHECHOS</a:t>
            </a:r>
          </a:p>
          <a:p>
            <a:r>
              <a:rPr lang="es-AR" dirty="0"/>
              <a:t>(</a:t>
            </a:r>
            <a:r>
              <a:rPr lang="es-AR" sz="1400" dirty="0"/>
              <a:t>DESPERDICIOS SIN VALOR DE REALIZACIÓN)</a:t>
            </a:r>
          </a:p>
        </p:txBody>
      </p:sp>
      <p:cxnSp>
        <p:nvCxnSpPr>
          <p:cNvPr id="18" name="Conector recto de flecha 17">
            <a:extLst>
              <a:ext uri="{FF2B5EF4-FFF2-40B4-BE49-F238E27FC236}">
                <a16:creationId xmlns:a16="http://schemas.microsoft.com/office/drawing/2014/main" id="{2319403A-599D-4B33-89C0-4A0F0A5EA99F}"/>
              </a:ext>
            </a:extLst>
          </p:cNvPr>
          <p:cNvCxnSpPr>
            <a:cxnSpLocks/>
          </p:cNvCxnSpPr>
          <p:nvPr/>
        </p:nvCxnSpPr>
        <p:spPr>
          <a:xfrm>
            <a:off x="3367216" y="2864784"/>
            <a:ext cx="5829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recto de flecha 19">
            <a:extLst>
              <a:ext uri="{FF2B5EF4-FFF2-40B4-BE49-F238E27FC236}">
                <a16:creationId xmlns:a16="http://schemas.microsoft.com/office/drawing/2014/main" id="{A68B519F-3EF7-4584-BBD1-1B02BA6DD5B9}"/>
              </a:ext>
            </a:extLst>
          </p:cNvPr>
          <p:cNvCxnSpPr>
            <a:cxnSpLocks/>
            <a:stCxn id="6" idx="3"/>
          </p:cNvCxnSpPr>
          <p:nvPr/>
        </p:nvCxnSpPr>
        <p:spPr>
          <a:xfrm>
            <a:off x="6114308" y="2797404"/>
            <a:ext cx="555001" cy="5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recto de flecha 22">
            <a:extLst>
              <a:ext uri="{FF2B5EF4-FFF2-40B4-BE49-F238E27FC236}">
                <a16:creationId xmlns:a16="http://schemas.microsoft.com/office/drawing/2014/main" id="{DE4DD7B9-3D52-478B-9F04-081CB0A46A0C}"/>
              </a:ext>
            </a:extLst>
          </p:cNvPr>
          <p:cNvCxnSpPr>
            <a:cxnSpLocks/>
            <a:stCxn id="11" idx="3"/>
          </p:cNvCxnSpPr>
          <p:nvPr/>
        </p:nvCxnSpPr>
        <p:spPr>
          <a:xfrm>
            <a:off x="8739612" y="2787977"/>
            <a:ext cx="557781" cy="124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55707559-6CA8-4319-8A76-A9DFC29A6460}"/>
              </a:ext>
            </a:extLst>
          </p:cNvPr>
          <p:cNvCxnSpPr>
            <a:cxnSpLocks/>
            <a:endCxn id="10" idx="0"/>
          </p:cNvCxnSpPr>
          <p:nvPr/>
        </p:nvCxnSpPr>
        <p:spPr>
          <a:xfrm flipH="1">
            <a:off x="5010940" y="3391292"/>
            <a:ext cx="8362" cy="702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ector recto de flecha 32">
            <a:extLst>
              <a:ext uri="{FF2B5EF4-FFF2-40B4-BE49-F238E27FC236}">
                <a16:creationId xmlns:a16="http://schemas.microsoft.com/office/drawing/2014/main" id="{3BABBEB8-4022-4DE0-A2BA-4B0C0E140476}"/>
              </a:ext>
            </a:extLst>
          </p:cNvPr>
          <p:cNvCxnSpPr>
            <a:cxnSpLocks/>
          </p:cNvCxnSpPr>
          <p:nvPr/>
        </p:nvCxnSpPr>
        <p:spPr>
          <a:xfrm flipH="1">
            <a:off x="9770213" y="3400312"/>
            <a:ext cx="8362" cy="702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33">
            <a:extLst>
              <a:ext uri="{FF2B5EF4-FFF2-40B4-BE49-F238E27FC236}">
                <a16:creationId xmlns:a16="http://schemas.microsoft.com/office/drawing/2014/main" id="{6C54CA4E-7576-4391-8787-ADFBD0F99B26}"/>
              </a:ext>
            </a:extLst>
          </p:cNvPr>
          <p:cNvCxnSpPr>
            <a:cxnSpLocks/>
          </p:cNvCxnSpPr>
          <p:nvPr/>
        </p:nvCxnSpPr>
        <p:spPr>
          <a:xfrm flipH="1">
            <a:off x="10617914" y="3386985"/>
            <a:ext cx="8362" cy="702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34">
            <a:extLst>
              <a:ext uri="{FF2B5EF4-FFF2-40B4-BE49-F238E27FC236}">
                <a16:creationId xmlns:a16="http://schemas.microsoft.com/office/drawing/2014/main" id="{98FF30E7-DF28-44E3-ADED-04E36CE14217}"/>
              </a:ext>
            </a:extLst>
          </p:cNvPr>
          <p:cNvCxnSpPr>
            <a:cxnSpLocks/>
          </p:cNvCxnSpPr>
          <p:nvPr/>
        </p:nvCxnSpPr>
        <p:spPr>
          <a:xfrm flipH="1">
            <a:off x="11465616" y="3400312"/>
            <a:ext cx="2203" cy="702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0631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solidFill>
                  <a:schemeClr val="tx1">
                    <a:lumMod val="75000"/>
                    <a:lumOff val="25000"/>
                  </a:schemeClr>
                </a:solidFill>
              </a:rPr>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
        <p:nvSpPr>
          <p:cNvPr id="6" name="Rectangle 7">
            <a:extLst>
              <a:ext uri="{FF2B5EF4-FFF2-40B4-BE49-F238E27FC236}">
                <a16:creationId xmlns:a16="http://schemas.microsoft.com/office/drawing/2014/main" id="{D4AA8859-5D67-4C7A-A8BE-6EC901C8A900}"/>
              </a:ext>
            </a:extLst>
          </p:cNvPr>
          <p:cNvSpPr>
            <a:spLocks noChangeArrowheads="1"/>
          </p:cNvSpPr>
          <p:nvPr/>
        </p:nvSpPr>
        <p:spPr bwMode="auto">
          <a:xfrm>
            <a:off x="1488254" y="1680347"/>
            <a:ext cx="9777413" cy="450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AR" altLang="es-AR" sz="2000" b="1" dirty="0">
                <a:solidFill>
                  <a:schemeClr val="tx1">
                    <a:lumMod val="75000"/>
                    <a:lumOff val="25000"/>
                  </a:schemeClr>
                </a:solidFill>
                <a:latin typeface="+mj-lt"/>
              </a:rPr>
              <a:t>El costo de los Productos Conexos se obtiene siguiendo estos pasos:</a:t>
            </a:r>
            <a:endParaRPr lang="es-ES" altLang="es-AR" sz="2000" dirty="0">
              <a:solidFill>
                <a:schemeClr val="tx1">
                  <a:lumMod val="75000"/>
                  <a:lumOff val="25000"/>
                </a:schemeClr>
              </a:solidFill>
              <a:latin typeface="+mj-lt"/>
            </a:endParaRPr>
          </a:p>
        </p:txBody>
      </p:sp>
      <p:sp>
        <p:nvSpPr>
          <p:cNvPr id="7" name="Rectangle 9">
            <a:extLst>
              <a:ext uri="{FF2B5EF4-FFF2-40B4-BE49-F238E27FC236}">
                <a16:creationId xmlns:a16="http://schemas.microsoft.com/office/drawing/2014/main" id="{6C016715-92CD-4BA1-A314-08EFC2B236BF}"/>
              </a:ext>
            </a:extLst>
          </p:cNvPr>
          <p:cNvSpPr>
            <a:spLocks noChangeArrowheads="1"/>
          </p:cNvSpPr>
          <p:nvPr/>
        </p:nvSpPr>
        <p:spPr bwMode="auto">
          <a:xfrm>
            <a:off x="1311579" y="2374413"/>
            <a:ext cx="9848850" cy="1099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95250">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solidFill>
                  <a:schemeClr val="tx1">
                    <a:lumMod val="75000"/>
                    <a:lumOff val="25000"/>
                  </a:schemeClr>
                </a:solidFill>
                <a:latin typeface="+mj-lt"/>
              </a:rPr>
              <a:t>Primer paso</a:t>
            </a:r>
          </a:p>
          <a:p>
            <a:pPr marL="381000" indent="-285750" algn="just" eaLnBrk="1" hangingPunct="1">
              <a:spcBef>
                <a:spcPct val="20000"/>
              </a:spcBef>
              <a:buClr>
                <a:srgbClr val="92D050"/>
              </a:buClr>
              <a:buFont typeface="Arial" panose="020B0604020202020204" pitchFamily="34" charset="0"/>
              <a:buChar char="•"/>
            </a:pPr>
            <a:r>
              <a:rPr lang="es-ES" altLang="es-AR" sz="2000" dirty="0">
                <a:solidFill>
                  <a:schemeClr val="tx1">
                    <a:lumMod val="75000"/>
                    <a:lumOff val="25000"/>
                  </a:schemeClr>
                </a:solidFill>
                <a:latin typeface="+mj-lt"/>
              </a:rPr>
              <a:t>Consiste en determinar los </a:t>
            </a:r>
            <a:r>
              <a:rPr lang="es-ES" altLang="es-AR" sz="2000" b="1" dirty="0">
                <a:solidFill>
                  <a:schemeClr val="tx1">
                    <a:lumMod val="75000"/>
                    <a:lumOff val="25000"/>
                  </a:schemeClr>
                </a:solidFill>
                <a:latin typeface="+mj-lt"/>
              </a:rPr>
              <a:t>costos del proceso conjunto </a:t>
            </a:r>
            <a:r>
              <a:rPr lang="es-ES" altLang="es-AR" sz="2000" dirty="0">
                <a:solidFill>
                  <a:schemeClr val="tx1">
                    <a:lumMod val="75000"/>
                    <a:lumOff val="25000"/>
                  </a:schemeClr>
                </a:solidFill>
                <a:latin typeface="+mj-lt"/>
              </a:rPr>
              <a:t>que se deben asignar a cada </a:t>
            </a:r>
            <a:r>
              <a:rPr lang="es-ES" altLang="es-AR" sz="2000" b="1" dirty="0">
                <a:solidFill>
                  <a:schemeClr val="tx1">
                    <a:lumMod val="75000"/>
                    <a:lumOff val="25000"/>
                  </a:schemeClr>
                </a:solidFill>
                <a:latin typeface="+mj-lt"/>
              </a:rPr>
              <a:t>Producto Conexo</a:t>
            </a:r>
          </a:p>
        </p:txBody>
      </p:sp>
      <p:sp>
        <p:nvSpPr>
          <p:cNvPr id="8" name="Rectangle 9">
            <a:extLst>
              <a:ext uri="{FF2B5EF4-FFF2-40B4-BE49-F238E27FC236}">
                <a16:creationId xmlns:a16="http://schemas.microsoft.com/office/drawing/2014/main" id="{12FE82F8-9383-4CAA-BE4F-644537CF47DA}"/>
              </a:ext>
            </a:extLst>
          </p:cNvPr>
          <p:cNvSpPr>
            <a:spLocks noChangeArrowheads="1"/>
          </p:cNvSpPr>
          <p:nvPr/>
        </p:nvSpPr>
        <p:spPr bwMode="auto">
          <a:xfrm>
            <a:off x="1311579" y="3717447"/>
            <a:ext cx="9848850" cy="1099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95250">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solidFill>
                  <a:schemeClr val="tx1">
                    <a:lumMod val="75000"/>
                    <a:lumOff val="25000"/>
                  </a:schemeClr>
                </a:solidFill>
                <a:latin typeface="+mj-lt"/>
              </a:rPr>
              <a:t>Segundo  paso</a:t>
            </a:r>
          </a:p>
          <a:p>
            <a:pPr marL="381000" indent="-285750" algn="just" eaLnBrk="1" hangingPunct="1">
              <a:spcBef>
                <a:spcPct val="20000"/>
              </a:spcBef>
              <a:buClr>
                <a:srgbClr val="92D050"/>
              </a:buClr>
              <a:buFont typeface="Arial" panose="020B0604020202020204" pitchFamily="34" charset="0"/>
              <a:buChar char="•"/>
            </a:pPr>
            <a:r>
              <a:rPr lang="es-ES" altLang="es-AR" sz="2000" dirty="0">
                <a:solidFill>
                  <a:schemeClr val="tx1">
                    <a:lumMod val="75000"/>
                    <a:lumOff val="25000"/>
                  </a:schemeClr>
                </a:solidFill>
                <a:latin typeface="+mj-lt"/>
              </a:rPr>
              <a:t>Consiste en determinar los </a:t>
            </a:r>
            <a:r>
              <a:rPr lang="es-ES" altLang="es-AR" sz="2000" b="1" dirty="0">
                <a:solidFill>
                  <a:schemeClr val="tx1">
                    <a:lumMod val="75000"/>
                    <a:lumOff val="25000"/>
                  </a:schemeClr>
                </a:solidFill>
                <a:latin typeface="+mj-lt"/>
              </a:rPr>
              <a:t>costos que requieren exclusivamente cada Producto Conexo </a:t>
            </a:r>
            <a:r>
              <a:rPr lang="es-ES" altLang="es-AR" sz="2000" dirty="0">
                <a:solidFill>
                  <a:schemeClr val="tx1">
                    <a:lumMod val="75000"/>
                    <a:lumOff val="25000"/>
                  </a:schemeClr>
                </a:solidFill>
                <a:latin typeface="+mj-lt"/>
              </a:rPr>
              <a:t>a partir </a:t>
            </a:r>
            <a:r>
              <a:rPr lang="es-ES" altLang="es-AR" sz="2000" b="1" dirty="0">
                <a:solidFill>
                  <a:schemeClr val="tx1">
                    <a:lumMod val="75000"/>
                    <a:lumOff val="25000"/>
                  </a:schemeClr>
                </a:solidFill>
                <a:latin typeface="+mj-lt"/>
              </a:rPr>
              <a:t>del punto de separación</a:t>
            </a:r>
          </a:p>
        </p:txBody>
      </p:sp>
      <p:sp>
        <p:nvSpPr>
          <p:cNvPr id="9" name="Rectangle 9">
            <a:extLst>
              <a:ext uri="{FF2B5EF4-FFF2-40B4-BE49-F238E27FC236}">
                <a16:creationId xmlns:a16="http://schemas.microsoft.com/office/drawing/2014/main" id="{8AF1B5B1-F076-4A7C-B7D2-FC3ADAE882E4}"/>
              </a:ext>
            </a:extLst>
          </p:cNvPr>
          <p:cNvSpPr>
            <a:spLocks noChangeArrowheads="1"/>
          </p:cNvSpPr>
          <p:nvPr/>
        </p:nvSpPr>
        <p:spPr bwMode="auto">
          <a:xfrm>
            <a:off x="1356796" y="5060481"/>
            <a:ext cx="9848850" cy="1349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95250">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b="1" dirty="0">
                <a:solidFill>
                  <a:schemeClr val="tx1">
                    <a:lumMod val="75000"/>
                    <a:lumOff val="25000"/>
                  </a:schemeClr>
                </a:solidFill>
                <a:latin typeface="+mj-lt"/>
              </a:rPr>
              <a:t>Tercer  paso</a:t>
            </a:r>
          </a:p>
          <a:p>
            <a:pPr marL="381000" indent="-285750" algn="just" eaLnBrk="1" hangingPunct="1">
              <a:spcBef>
                <a:spcPct val="20000"/>
              </a:spcBef>
              <a:buClr>
                <a:srgbClr val="92D050"/>
              </a:buClr>
              <a:buFont typeface="Arial" panose="020B0604020202020204" pitchFamily="34" charset="0"/>
              <a:buChar char="•"/>
            </a:pPr>
            <a:r>
              <a:rPr lang="es-ES" altLang="es-AR" sz="2000" dirty="0">
                <a:solidFill>
                  <a:schemeClr val="tx1">
                    <a:lumMod val="75000"/>
                    <a:lumOff val="25000"/>
                  </a:schemeClr>
                </a:solidFill>
                <a:latin typeface="+mj-lt"/>
              </a:rPr>
              <a:t>Consiste en sumar los costos del primer y segundo paso que correspondan a cada producto conexo y luego dividirlo por la cantidad producida de cada uno para conocer su costo unitario</a:t>
            </a:r>
            <a:endParaRPr lang="es-ES" altLang="es-AR" sz="2000" b="1" dirty="0">
              <a:solidFill>
                <a:schemeClr val="tx1">
                  <a:lumMod val="75000"/>
                  <a:lumOff val="25000"/>
                </a:schemeClr>
              </a:solidFill>
              <a:latin typeface="+mj-lt"/>
            </a:endParaRPr>
          </a:p>
        </p:txBody>
      </p:sp>
    </p:spTree>
    <p:extLst>
      <p:ext uri="{BB962C8B-B14F-4D97-AF65-F5344CB8AC3E}">
        <p14:creationId xmlns:p14="http://schemas.microsoft.com/office/powerpoint/2010/main" val="661512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
        <p:nvSpPr>
          <p:cNvPr id="10" name="Rectangle 5">
            <a:extLst>
              <a:ext uri="{FF2B5EF4-FFF2-40B4-BE49-F238E27FC236}">
                <a16:creationId xmlns:a16="http://schemas.microsoft.com/office/drawing/2014/main" id="{0617C31E-8DEC-4B24-9FF1-4AA10026F6E9}"/>
              </a:ext>
            </a:extLst>
          </p:cNvPr>
          <p:cNvSpPr>
            <a:spLocks noChangeArrowheads="1"/>
          </p:cNvSpPr>
          <p:nvPr/>
        </p:nvSpPr>
        <p:spPr bwMode="auto">
          <a:xfrm>
            <a:off x="1311579" y="1476520"/>
            <a:ext cx="9777413" cy="84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mj-lt"/>
              </a:rPr>
              <a:t>La asignación de los costos en la etapa conjunta permite determinar </a:t>
            </a:r>
            <a:r>
              <a:rPr lang="es-ES" altLang="es-AR" sz="2000" dirty="0">
                <a:latin typeface="+mj-lt"/>
              </a:rPr>
              <a:t>la utilidad de cada producto conexo.</a:t>
            </a:r>
          </a:p>
        </p:txBody>
      </p:sp>
      <p:sp>
        <p:nvSpPr>
          <p:cNvPr id="11" name="Rectangle 6">
            <a:extLst>
              <a:ext uri="{FF2B5EF4-FFF2-40B4-BE49-F238E27FC236}">
                <a16:creationId xmlns:a16="http://schemas.microsoft.com/office/drawing/2014/main" id="{856155B8-7267-413B-BDF0-C0DD84BEF414}"/>
              </a:ext>
            </a:extLst>
          </p:cNvPr>
          <p:cNvSpPr>
            <a:spLocks noChangeArrowheads="1"/>
          </p:cNvSpPr>
          <p:nvPr/>
        </p:nvSpPr>
        <p:spPr bwMode="auto">
          <a:xfrm>
            <a:off x="1311578" y="2493756"/>
            <a:ext cx="9777413" cy="687460"/>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828675" indent="-285750" algn="ctr">
              <a:spcBef>
                <a:spcPct val="20000"/>
              </a:spcBef>
              <a:defRPr sz="2800">
                <a:solidFill>
                  <a:schemeClr val="tx1"/>
                </a:solidFill>
                <a:latin typeface="Arial" charset="0"/>
                <a:cs typeface="Arial" charset="0"/>
              </a:defRPr>
            </a:lvl2pPr>
            <a:lvl3pPr marL="1236663" indent="-228600" algn="ctr">
              <a:spcBef>
                <a:spcPct val="20000"/>
              </a:spcBef>
              <a:defRPr sz="2400">
                <a:solidFill>
                  <a:schemeClr val="tx1"/>
                </a:solidFill>
                <a:latin typeface="Arial" charset="0"/>
                <a:cs typeface="Arial" charset="0"/>
              </a:defRPr>
            </a:lvl3pPr>
            <a:lvl4pPr marL="1644650" indent="-228600" algn="ctr">
              <a:spcBef>
                <a:spcPct val="20000"/>
              </a:spcBef>
              <a:defRPr sz="2000">
                <a:solidFill>
                  <a:schemeClr val="tx1"/>
                </a:solidFill>
                <a:latin typeface="Arial" charset="0"/>
                <a:cs typeface="Arial" charset="0"/>
              </a:defRPr>
            </a:lvl4pPr>
            <a:lvl5pPr marL="2057400" indent="-228600" algn="ctr">
              <a:spcBef>
                <a:spcPct val="20000"/>
              </a:spcBef>
              <a:defRPr sz="2000">
                <a:solidFill>
                  <a:schemeClr val="tx1"/>
                </a:solidFill>
                <a:latin typeface="Arial" charset="0"/>
                <a:cs typeface="Arial" charset="0"/>
              </a:defRPr>
            </a:lvl5pPr>
            <a:lvl6pPr marL="2514600" indent="-228600" algn="ctr" fontAlgn="base">
              <a:spcBef>
                <a:spcPct val="20000"/>
              </a:spcBef>
              <a:spcAft>
                <a:spcPct val="0"/>
              </a:spcAft>
              <a:defRPr sz="2000">
                <a:solidFill>
                  <a:schemeClr val="tx1"/>
                </a:solidFill>
                <a:latin typeface="Arial" charset="0"/>
                <a:cs typeface="Arial" charset="0"/>
              </a:defRPr>
            </a:lvl6pPr>
            <a:lvl7pPr marL="2971800" indent="-228600" algn="ctr" fontAlgn="base">
              <a:spcBef>
                <a:spcPct val="20000"/>
              </a:spcBef>
              <a:spcAft>
                <a:spcPct val="0"/>
              </a:spcAft>
              <a:defRPr sz="2000">
                <a:solidFill>
                  <a:schemeClr val="tx1"/>
                </a:solidFill>
                <a:latin typeface="Arial" charset="0"/>
                <a:cs typeface="Arial" charset="0"/>
              </a:defRPr>
            </a:lvl7pPr>
            <a:lvl8pPr marL="3429000" indent="-228600" algn="ctr" fontAlgn="base">
              <a:spcBef>
                <a:spcPct val="20000"/>
              </a:spcBef>
              <a:spcAft>
                <a:spcPct val="0"/>
              </a:spcAft>
              <a:defRPr sz="2000">
                <a:solidFill>
                  <a:schemeClr val="tx1"/>
                </a:solidFill>
                <a:latin typeface="Arial" charset="0"/>
                <a:cs typeface="Arial" charset="0"/>
              </a:defRPr>
            </a:lvl8pPr>
            <a:lvl9pPr marL="3886200" indent="-228600" algn="ctr" fontAlgn="base">
              <a:spcBef>
                <a:spcPct val="20000"/>
              </a:spcBef>
              <a:spcAft>
                <a:spcPct val="0"/>
              </a:spcAft>
              <a:defRPr sz="2000">
                <a:solidFill>
                  <a:schemeClr val="tx1"/>
                </a:solidFill>
                <a:latin typeface="Arial" charset="0"/>
                <a:cs typeface="Arial" charset="0"/>
              </a:defRPr>
            </a:lvl9pPr>
          </a:lstStyle>
          <a:p>
            <a:pPr eaLnBrk="1" hangingPunct="1">
              <a:defRPr/>
            </a:pPr>
            <a:r>
              <a:rPr lang="es-ES" altLang="es-AR" sz="2000" dirty="0">
                <a:solidFill>
                  <a:srgbClr val="CC3300"/>
                </a:solidFill>
                <a:effectLst>
                  <a:outerShdw blurRad="38100" dist="38100" dir="2700000" algn="tl">
                    <a:srgbClr val="C0C0C0"/>
                  </a:outerShdw>
                </a:effectLst>
                <a:latin typeface="+mj-lt"/>
              </a:rPr>
              <a:t>VENTAS (PRODUCTO A) - COSTO (PRODUCTO A) = UTILIDAD (PRODUCTO A)</a:t>
            </a:r>
          </a:p>
        </p:txBody>
      </p:sp>
      <p:sp>
        <p:nvSpPr>
          <p:cNvPr id="12" name="Rectangle 7">
            <a:extLst>
              <a:ext uri="{FF2B5EF4-FFF2-40B4-BE49-F238E27FC236}">
                <a16:creationId xmlns:a16="http://schemas.microsoft.com/office/drawing/2014/main" id="{AC497445-52F5-4350-8443-5A3C8FF9ECEF}"/>
              </a:ext>
            </a:extLst>
          </p:cNvPr>
          <p:cNvSpPr>
            <a:spLocks noChangeArrowheads="1"/>
          </p:cNvSpPr>
          <p:nvPr/>
        </p:nvSpPr>
        <p:spPr bwMode="auto">
          <a:xfrm>
            <a:off x="1311579" y="3351695"/>
            <a:ext cx="9777413" cy="1180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Pero el costo de producción del artículo A es igual a los costos específicos (posteriores al punto de separación) y a una parte de los comunes iniciales. </a:t>
            </a:r>
          </a:p>
        </p:txBody>
      </p:sp>
      <p:sp>
        <p:nvSpPr>
          <p:cNvPr id="13" name="Rectangle 9">
            <a:extLst>
              <a:ext uri="{FF2B5EF4-FFF2-40B4-BE49-F238E27FC236}">
                <a16:creationId xmlns:a16="http://schemas.microsoft.com/office/drawing/2014/main" id="{7BAAC8A9-7F42-458E-BB41-645038B28E67}"/>
              </a:ext>
            </a:extLst>
          </p:cNvPr>
          <p:cNvSpPr>
            <a:spLocks noChangeArrowheads="1"/>
          </p:cNvSpPr>
          <p:nvPr/>
        </p:nvSpPr>
        <p:spPr bwMode="auto">
          <a:xfrm>
            <a:off x="1311578" y="4896398"/>
            <a:ext cx="9777413" cy="775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El objetivo es el de asignar una parte del costo conjunto a cada producto conexo para, luego, poder calcular los costos unitarios de cada producto. </a:t>
            </a:r>
          </a:p>
        </p:txBody>
      </p:sp>
    </p:spTree>
    <p:extLst>
      <p:ext uri="{BB962C8B-B14F-4D97-AF65-F5344CB8AC3E}">
        <p14:creationId xmlns:p14="http://schemas.microsoft.com/office/powerpoint/2010/main" val="1961061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linds(horizontal)">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
        <p:nvSpPr>
          <p:cNvPr id="10" name="Rectangle 5">
            <a:extLst>
              <a:ext uri="{FF2B5EF4-FFF2-40B4-BE49-F238E27FC236}">
                <a16:creationId xmlns:a16="http://schemas.microsoft.com/office/drawing/2014/main" id="{0617C31E-8DEC-4B24-9FF1-4AA10026F6E9}"/>
              </a:ext>
            </a:extLst>
          </p:cNvPr>
          <p:cNvSpPr>
            <a:spLocks noChangeArrowheads="1"/>
          </p:cNvSpPr>
          <p:nvPr/>
        </p:nvSpPr>
        <p:spPr bwMode="auto">
          <a:xfrm>
            <a:off x="1311579" y="1476520"/>
            <a:ext cx="9777413" cy="849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dirty="0">
                <a:latin typeface="+mj-lt"/>
              </a:rPr>
              <a:t>Como dijimos, existen varios métodos  para asignar los Costos del Proceso Conjunto a los productos conexos:</a:t>
            </a:r>
            <a:endParaRPr lang="es-ES" altLang="es-AR" sz="2000" dirty="0">
              <a:latin typeface="+mj-lt"/>
            </a:endParaRPr>
          </a:p>
        </p:txBody>
      </p:sp>
      <p:sp>
        <p:nvSpPr>
          <p:cNvPr id="12" name="Rectangle 7">
            <a:extLst>
              <a:ext uri="{FF2B5EF4-FFF2-40B4-BE49-F238E27FC236}">
                <a16:creationId xmlns:a16="http://schemas.microsoft.com/office/drawing/2014/main" id="{AC497445-52F5-4350-8443-5A3C8FF9ECEF}"/>
              </a:ext>
            </a:extLst>
          </p:cNvPr>
          <p:cNvSpPr>
            <a:spLocks noChangeArrowheads="1"/>
          </p:cNvSpPr>
          <p:nvPr/>
        </p:nvSpPr>
        <p:spPr bwMode="auto">
          <a:xfrm>
            <a:off x="2866059" y="3141383"/>
            <a:ext cx="9777413" cy="193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342900" indent="-342900" algn="just" eaLnBrk="1" hangingPunct="1">
              <a:spcBef>
                <a:spcPct val="20000"/>
              </a:spcBef>
              <a:buClr>
                <a:srgbClr val="92D050"/>
              </a:buClr>
              <a:buFont typeface="Arial" panose="020B0604020202020204" pitchFamily="34" charset="0"/>
              <a:buChar char="•"/>
            </a:pPr>
            <a:r>
              <a:rPr lang="es-ES" altLang="es-AR" sz="2000" dirty="0">
                <a:latin typeface="+mj-lt"/>
              </a:rPr>
              <a:t>VALOR DE LAS VENTAS REALES</a:t>
            </a:r>
          </a:p>
          <a:p>
            <a:pPr marL="342900" indent="-342900" algn="just" eaLnBrk="1" hangingPunct="1">
              <a:spcBef>
                <a:spcPct val="20000"/>
              </a:spcBef>
              <a:buClr>
                <a:srgbClr val="92D050"/>
              </a:buClr>
              <a:buFont typeface="Arial" panose="020B0604020202020204" pitchFamily="34" charset="0"/>
              <a:buChar char="•"/>
            </a:pPr>
            <a:r>
              <a:rPr lang="es-ES" altLang="es-AR" sz="2000" dirty="0">
                <a:latin typeface="+mj-lt"/>
              </a:rPr>
              <a:t>VALOR RELATIVO DE LAS VENTAS</a:t>
            </a:r>
          </a:p>
          <a:p>
            <a:pPr marL="342900" indent="-342900" algn="just" eaLnBrk="1" hangingPunct="1">
              <a:spcBef>
                <a:spcPct val="20000"/>
              </a:spcBef>
              <a:buClr>
                <a:srgbClr val="92D050"/>
              </a:buClr>
              <a:buFont typeface="Arial" panose="020B0604020202020204" pitchFamily="34" charset="0"/>
              <a:buChar char="•"/>
            </a:pPr>
            <a:r>
              <a:rPr lang="es-ES" altLang="es-AR" sz="2000" dirty="0">
                <a:latin typeface="+mj-lt"/>
              </a:rPr>
              <a:t>LAS UNIDADES FISICAS</a:t>
            </a:r>
          </a:p>
          <a:p>
            <a:pPr marL="342900" indent="-342900" algn="just" eaLnBrk="1" hangingPunct="1">
              <a:spcBef>
                <a:spcPct val="20000"/>
              </a:spcBef>
              <a:buClr>
                <a:srgbClr val="92D050"/>
              </a:buClr>
              <a:buFont typeface="Arial" panose="020B0604020202020204" pitchFamily="34" charset="0"/>
              <a:buChar char="•"/>
            </a:pPr>
            <a:r>
              <a:rPr lang="es-ES" altLang="es-AR" sz="2000" dirty="0">
                <a:latin typeface="+mj-lt"/>
              </a:rPr>
              <a:t>COSTO INVERSO</a:t>
            </a:r>
          </a:p>
          <a:p>
            <a:pPr marL="342900" indent="-342900" algn="just" eaLnBrk="1" hangingPunct="1">
              <a:spcBef>
                <a:spcPct val="20000"/>
              </a:spcBef>
              <a:buClr>
                <a:srgbClr val="92D050"/>
              </a:buClr>
              <a:buFont typeface="Arial" panose="020B0604020202020204" pitchFamily="34" charset="0"/>
              <a:buChar char="•"/>
            </a:pPr>
            <a:r>
              <a:rPr lang="es-ES" altLang="es-AR" sz="2000" dirty="0">
                <a:latin typeface="+mj-lt"/>
              </a:rPr>
              <a:t>OTROS</a:t>
            </a:r>
          </a:p>
        </p:txBody>
      </p:sp>
    </p:spTree>
    <p:extLst>
      <p:ext uri="{BB962C8B-B14F-4D97-AF65-F5344CB8AC3E}">
        <p14:creationId xmlns:p14="http://schemas.microsoft.com/office/powerpoint/2010/main" val="4107126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
        <p:nvSpPr>
          <p:cNvPr id="10" name="Rectangle 5">
            <a:extLst>
              <a:ext uri="{FF2B5EF4-FFF2-40B4-BE49-F238E27FC236}">
                <a16:creationId xmlns:a16="http://schemas.microsoft.com/office/drawing/2014/main" id="{0617C31E-8DEC-4B24-9FF1-4AA10026F6E9}"/>
              </a:ext>
            </a:extLst>
          </p:cNvPr>
          <p:cNvSpPr>
            <a:spLocks noChangeArrowheads="1"/>
          </p:cNvSpPr>
          <p:nvPr/>
        </p:nvSpPr>
        <p:spPr bwMode="auto">
          <a:xfrm>
            <a:off x="1311579" y="1476521"/>
            <a:ext cx="9777413" cy="516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latin typeface="+mj-lt"/>
              </a:rPr>
              <a:t>VALOR DE LAS VENTAS REALES</a:t>
            </a:r>
            <a:endParaRPr lang="es-ES" altLang="es-AR" sz="2000" b="1" dirty="0">
              <a:latin typeface="+mj-lt"/>
            </a:endParaRPr>
          </a:p>
        </p:txBody>
      </p:sp>
      <p:sp>
        <p:nvSpPr>
          <p:cNvPr id="12" name="Rectangle 7">
            <a:extLst>
              <a:ext uri="{FF2B5EF4-FFF2-40B4-BE49-F238E27FC236}">
                <a16:creationId xmlns:a16="http://schemas.microsoft.com/office/drawing/2014/main" id="{AC497445-52F5-4350-8443-5A3C8FF9ECEF}"/>
              </a:ext>
            </a:extLst>
          </p:cNvPr>
          <p:cNvSpPr>
            <a:spLocks noChangeArrowheads="1"/>
          </p:cNvSpPr>
          <p:nvPr/>
        </p:nvSpPr>
        <p:spPr bwMode="auto">
          <a:xfrm>
            <a:off x="1694610" y="2462231"/>
            <a:ext cx="9777413" cy="193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92D050"/>
              </a:buClr>
            </a:pPr>
            <a:endParaRPr lang="es-ES" altLang="es-AR" sz="2000" dirty="0">
              <a:latin typeface="+mj-lt"/>
            </a:endParaRPr>
          </a:p>
        </p:txBody>
      </p:sp>
      <p:sp>
        <p:nvSpPr>
          <p:cNvPr id="6" name="Rectangle 18">
            <a:extLst>
              <a:ext uri="{FF2B5EF4-FFF2-40B4-BE49-F238E27FC236}">
                <a16:creationId xmlns:a16="http://schemas.microsoft.com/office/drawing/2014/main" id="{C9DC4B35-D3F3-4EB4-A3A9-5C21BE246994}"/>
              </a:ext>
            </a:extLst>
          </p:cNvPr>
          <p:cNvSpPr>
            <a:spLocks noChangeArrowheads="1"/>
          </p:cNvSpPr>
          <p:nvPr/>
        </p:nvSpPr>
        <p:spPr bwMode="auto">
          <a:xfrm>
            <a:off x="1694610" y="2235180"/>
            <a:ext cx="9777412"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ES" altLang="es-AR" sz="2000" dirty="0">
                <a:latin typeface="+mj-lt"/>
              </a:rPr>
              <a:t>Se calcula el monto de ventas de cada producto, para luego establecer la incidencia porcentual del monto de venta de cada producto sobre el total de todas las ventas. Respecto a dicha incidencia se distribuye el costo total conjunto.</a:t>
            </a:r>
          </a:p>
        </p:txBody>
      </p:sp>
      <p:sp>
        <p:nvSpPr>
          <p:cNvPr id="7" name="Rectangle 19">
            <a:extLst>
              <a:ext uri="{FF2B5EF4-FFF2-40B4-BE49-F238E27FC236}">
                <a16:creationId xmlns:a16="http://schemas.microsoft.com/office/drawing/2014/main" id="{9E6DD231-FA32-42DF-B0CA-C5F0B1F83409}"/>
              </a:ext>
            </a:extLst>
          </p:cNvPr>
          <p:cNvSpPr>
            <a:spLocks noChangeArrowheads="1"/>
          </p:cNvSpPr>
          <p:nvPr/>
        </p:nvSpPr>
        <p:spPr bwMode="auto">
          <a:xfrm>
            <a:off x="1566021" y="4036726"/>
            <a:ext cx="9906001" cy="165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ES" altLang="es-AR" sz="2000" dirty="0">
                <a:latin typeface="+mj-lt"/>
              </a:rPr>
              <a:t>Este método es válido en aquellos casos en donde las cantidades vendidas y las producidas, aunque no coincidan, son bastante próximas, con lo cual estas pequeñas diferencias no alteran significativamente el resultado. </a:t>
            </a:r>
          </a:p>
        </p:txBody>
      </p:sp>
    </p:spTree>
    <p:extLst>
      <p:ext uri="{BB962C8B-B14F-4D97-AF65-F5344CB8AC3E}">
        <p14:creationId xmlns:p14="http://schemas.microsoft.com/office/powerpoint/2010/main" val="2089723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19</a:t>
            </a:fld>
            <a:endParaRPr lang="en-US" dirty="0"/>
          </a:p>
        </p:txBody>
      </p:sp>
      <p:sp>
        <p:nvSpPr>
          <p:cNvPr id="10" name="Rectangle 5">
            <a:extLst>
              <a:ext uri="{FF2B5EF4-FFF2-40B4-BE49-F238E27FC236}">
                <a16:creationId xmlns:a16="http://schemas.microsoft.com/office/drawing/2014/main" id="{0617C31E-8DEC-4B24-9FF1-4AA10026F6E9}"/>
              </a:ext>
            </a:extLst>
          </p:cNvPr>
          <p:cNvSpPr>
            <a:spLocks noChangeArrowheads="1"/>
          </p:cNvSpPr>
          <p:nvPr/>
        </p:nvSpPr>
        <p:spPr bwMode="auto">
          <a:xfrm>
            <a:off x="1311579" y="1476521"/>
            <a:ext cx="9777413" cy="516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latin typeface="+mj-lt"/>
              </a:rPr>
              <a:t>VALOR RELATIVO DE LAS VENTAS</a:t>
            </a:r>
            <a:endParaRPr lang="es-ES" altLang="es-AR" sz="2000" b="1" dirty="0">
              <a:latin typeface="+mj-lt"/>
            </a:endParaRPr>
          </a:p>
        </p:txBody>
      </p:sp>
      <p:sp>
        <p:nvSpPr>
          <p:cNvPr id="12" name="Rectangle 7">
            <a:extLst>
              <a:ext uri="{FF2B5EF4-FFF2-40B4-BE49-F238E27FC236}">
                <a16:creationId xmlns:a16="http://schemas.microsoft.com/office/drawing/2014/main" id="{AC497445-52F5-4350-8443-5A3C8FF9ECEF}"/>
              </a:ext>
            </a:extLst>
          </p:cNvPr>
          <p:cNvSpPr>
            <a:spLocks noChangeArrowheads="1"/>
          </p:cNvSpPr>
          <p:nvPr/>
        </p:nvSpPr>
        <p:spPr bwMode="auto">
          <a:xfrm>
            <a:off x="1694610" y="2462231"/>
            <a:ext cx="9777413" cy="193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buClr>
                <a:srgbClr val="92D050"/>
              </a:buClr>
            </a:pPr>
            <a:endParaRPr lang="es-ES" altLang="es-AR" sz="2000" dirty="0">
              <a:latin typeface="+mj-lt"/>
            </a:endParaRPr>
          </a:p>
        </p:txBody>
      </p:sp>
      <p:sp>
        <p:nvSpPr>
          <p:cNvPr id="6" name="Rectangle 18">
            <a:extLst>
              <a:ext uri="{FF2B5EF4-FFF2-40B4-BE49-F238E27FC236}">
                <a16:creationId xmlns:a16="http://schemas.microsoft.com/office/drawing/2014/main" id="{C9DC4B35-D3F3-4EB4-A3A9-5C21BE246994}"/>
              </a:ext>
            </a:extLst>
          </p:cNvPr>
          <p:cNvSpPr>
            <a:spLocks noChangeArrowheads="1"/>
          </p:cNvSpPr>
          <p:nvPr/>
        </p:nvSpPr>
        <p:spPr bwMode="auto">
          <a:xfrm>
            <a:off x="1694610" y="2235180"/>
            <a:ext cx="9777412"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endParaRPr lang="es-ES" altLang="es-AR" sz="2000" dirty="0">
              <a:latin typeface="+mj-lt"/>
            </a:endParaRPr>
          </a:p>
        </p:txBody>
      </p:sp>
      <p:sp>
        <p:nvSpPr>
          <p:cNvPr id="7" name="Rectangle 19">
            <a:extLst>
              <a:ext uri="{FF2B5EF4-FFF2-40B4-BE49-F238E27FC236}">
                <a16:creationId xmlns:a16="http://schemas.microsoft.com/office/drawing/2014/main" id="{9E6DD231-FA32-42DF-B0CA-C5F0B1F83409}"/>
              </a:ext>
            </a:extLst>
          </p:cNvPr>
          <p:cNvSpPr>
            <a:spLocks noChangeArrowheads="1"/>
          </p:cNvSpPr>
          <p:nvPr/>
        </p:nvSpPr>
        <p:spPr bwMode="auto">
          <a:xfrm>
            <a:off x="1566021" y="4036726"/>
            <a:ext cx="9906001" cy="165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endParaRPr lang="es-ES" altLang="es-AR" sz="2000" dirty="0">
              <a:latin typeface="+mj-lt"/>
            </a:endParaRPr>
          </a:p>
        </p:txBody>
      </p:sp>
      <p:sp>
        <p:nvSpPr>
          <p:cNvPr id="3" name="Rectángulo 2">
            <a:extLst>
              <a:ext uri="{FF2B5EF4-FFF2-40B4-BE49-F238E27FC236}">
                <a16:creationId xmlns:a16="http://schemas.microsoft.com/office/drawing/2014/main" id="{6365E960-B645-4F57-845B-90427CF0ED17}"/>
              </a:ext>
            </a:extLst>
          </p:cNvPr>
          <p:cNvSpPr/>
          <p:nvPr/>
        </p:nvSpPr>
        <p:spPr>
          <a:xfrm>
            <a:off x="2084832" y="2317007"/>
            <a:ext cx="8723375" cy="3477875"/>
          </a:xfrm>
          <a:prstGeom prst="rect">
            <a:avLst/>
          </a:prstGeom>
        </p:spPr>
        <p:txBody>
          <a:bodyPr wrap="square">
            <a:spAutoFit/>
          </a:bodyPr>
          <a:lstStyle/>
          <a:p>
            <a:pPr algn="just">
              <a:defRPr/>
            </a:pPr>
            <a:r>
              <a:rPr lang="es-ES" altLang="es-AR" sz="2000" dirty="0"/>
              <a:t>Cuando uno o más productos requieran un procesamiento adicional después del punto de separación, se usa una variación del método de valor de venta relativo a la producción. </a:t>
            </a:r>
          </a:p>
          <a:p>
            <a:pPr algn="just">
              <a:defRPr/>
            </a:pPr>
            <a:r>
              <a:rPr lang="es-ES" altLang="es-AR" sz="2000" dirty="0"/>
              <a:t>Estos costos de procesamiento identificables por separado, se restan de los precios de venta. </a:t>
            </a:r>
          </a:p>
          <a:p>
            <a:pPr algn="just">
              <a:defRPr/>
            </a:pPr>
            <a:r>
              <a:rPr lang="es-ES" altLang="es-AR" sz="2000" dirty="0"/>
              <a:t>De esta manera se obtiene la contribución neta de cada producto en el punto de separación y que luego se aplica a toda la producción para que sirva de base de distribución para la asignación de los costos conexos.</a:t>
            </a:r>
          </a:p>
          <a:p>
            <a:pPr algn="just">
              <a:defRPr/>
            </a:pPr>
            <a:r>
              <a:rPr lang="es-ES" altLang="es-AR" sz="2000" dirty="0"/>
              <a:t>De esta manera aumenta el costo de aquellos productos que tengan mayores gastos después del punto de separación.</a:t>
            </a:r>
          </a:p>
        </p:txBody>
      </p:sp>
    </p:spTree>
    <p:extLst>
      <p:ext uri="{BB962C8B-B14F-4D97-AF65-F5344CB8AC3E}">
        <p14:creationId xmlns:p14="http://schemas.microsoft.com/office/powerpoint/2010/main" val="1323514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6"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20</a:t>
            </a:fld>
            <a:endParaRPr lang="en-US" dirty="0"/>
          </a:p>
        </p:txBody>
      </p:sp>
      <p:sp>
        <p:nvSpPr>
          <p:cNvPr id="10" name="Rectangle 5">
            <a:extLst>
              <a:ext uri="{FF2B5EF4-FFF2-40B4-BE49-F238E27FC236}">
                <a16:creationId xmlns:a16="http://schemas.microsoft.com/office/drawing/2014/main" id="{0617C31E-8DEC-4B24-9FF1-4AA10026F6E9}"/>
              </a:ext>
            </a:extLst>
          </p:cNvPr>
          <p:cNvSpPr>
            <a:spLocks noChangeArrowheads="1"/>
          </p:cNvSpPr>
          <p:nvPr/>
        </p:nvSpPr>
        <p:spPr bwMode="auto">
          <a:xfrm>
            <a:off x="1311579" y="1476521"/>
            <a:ext cx="9777413" cy="516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latin typeface="+mj-lt"/>
              </a:rPr>
              <a:t>METODO DE LAS UNIDADES FISICAS</a:t>
            </a:r>
            <a:endParaRPr lang="es-ES" altLang="es-AR" sz="2000" b="1" dirty="0">
              <a:latin typeface="+mj-lt"/>
            </a:endParaRPr>
          </a:p>
        </p:txBody>
      </p:sp>
      <p:sp>
        <p:nvSpPr>
          <p:cNvPr id="6" name="Rectangle 18">
            <a:extLst>
              <a:ext uri="{FF2B5EF4-FFF2-40B4-BE49-F238E27FC236}">
                <a16:creationId xmlns:a16="http://schemas.microsoft.com/office/drawing/2014/main" id="{C9DC4B35-D3F3-4EB4-A3A9-5C21BE246994}"/>
              </a:ext>
            </a:extLst>
          </p:cNvPr>
          <p:cNvSpPr>
            <a:spLocks noChangeArrowheads="1"/>
          </p:cNvSpPr>
          <p:nvPr/>
        </p:nvSpPr>
        <p:spPr bwMode="auto">
          <a:xfrm>
            <a:off x="1694610" y="2235180"/>
            <a:ext cx="9777412"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endParaRPr lang="es-ES" altLang="es-AR" sz="2000" dirty="0">
              <a:latin typeface="+mj-lt"/>
            </a:endParaRPr>
          </a:p>
        </p:txBody>
      </p:sp>
      <p:sp>
        <p:nvSpPr>
          <p:cNvPr id="7" name="Rectangle 19">
            <a:extLst>
              <a:ext uri="{FF2B5EF4-FFF2-40B4-BE49-F238E27FC236}">
                <a16:creationId xmlns:a16="http://schemas.microsoft.com/office/drawing/2014/main" id="{9E6DD231-FA32-42DF-B0CA-C5F0B1F83409}"/>
              </a:ext>
            </a:extLst>
          </p:cNvPr>
          <p:cNvSpPr>
            <a:spLocks noChangeArrowheads="1"/>
          </p:cNvSpPr>
          <p:nvPr/>
        </p:nvSpPr>
        <p:spPr bwMode="auto">
          <a:xfrm>
            <a:off x="1566021" y="4036726"/>
            <a:ext cx="9906001" cy="165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endParaRPr lang="es-ES" altLang="es-AR" sz="2000" dirty="0">
              <a:latin typeface="+mj-lt"/>
            </a:endParaRPr>
          </a:p>
        </p:txBody>
      </p:sp>
      <p:sp>
        <p:nvSpPr>
          <p:cNvPr id="5" name="Rectángulo 4">
            <a:extLst>
              <a:ext uri="{FF2B5EF4-FFF2-40B4-BE49-F238E27FC236}">
                <a16:creationId xmlns:a16="http://schemas.microsoft.com/office/drawing/2014/main" id="{F613198C-BD33-4AE8-B77C-4DFA4FD50CFE}"/>
              </a:ext>
            </a:extLst>
          </p:cNvPr>
          <p:cNvSpPr/>
          <p:nvPr/>
        </p:nvSpPr>
        <p:spPr>
          <a:xfrm>
            <a:off x="2292749" y="2310062"/>
            <a:ext cx="7815072" cy="3170099"/>
          </a:xfrm>
          <a:prstGeom prst="rect">
            <a:avLst/>
          </a:prstGeom>
        </p:spPr>
        <p:txBody>
          <a:bodyPr wrap="square">
            <a:spAutoFit/>
          </a:bodyPr>
          <a:lstStyle/>
          <a:p>
            <a:r>
              <a:rPr lang="es-ES" altLang="es-AR" sz="2000" dirty="0"/>
              <a:t>Los costos conexos se asignan a los productos conexos sobre la base de las unidades físicas de producción, es decir, sobre la cantidad total producida (kilos, toneladas, litros, </a:t>
            </a:r>
            <a:r>
              <a:rPr lang="es-ES" altLang="es-AR" sz="2000" dirty="0" err="1"/>
              <a:t>etc</a:t>
            </a:r>
            <a:r>
              <a:rPr lang="es-ES" altLang="es-AR" sz="2000" dirty="0"/>
              <a:t>).</a:t>
            </a:r>
          </a:p>
          <a:p>
            <a:endParaRPr lang="es-ES" altLang="es-AR" sz="2000" dirty="0"/>
          </a:p>
          <a:p>
            <a:r>
              <a:rPr lang="es-ES" altLang="es-AR" sz="2000" dirty="0"/>
              <a:t> Este método generalmente no puede usarse cuando la producción consta de distintos tipos de unidades, por ejemplo, líquidos y sólidos, a menos que se los pueda igualar.</a:t>
            </a:r>
          </a:p>
          <a:p>
            <a:r>
              <a:rPr lang="es-ES" altLang="es-AR" sz="2000" dirty="0"/>
              <a:t> </a:t>
            </a:r>
          </a:p>
          <a:p>
            <a:r>
              <a:rPr lang="es-ES" altLang="es-AR" sz="2000" dirty="0"/>
              <a:t>El uso de unidades de producción para asignar los costos conexos se justifica muy pocas veces.</a:t>
            </a:r>
            <a:endParaRPr lang="es-AR" sz="2000" dirty="0"/>
          </a:p>
        </p:txBody>
      </p:sp>
    </p:spTree>
    <p:extLst>
      <p:ext uri="{BB962C8B-B14F-4D97-AF65-F5344CB8AC3E}">
        <p14:creationId xmlns:p14="http://schemas.microsoft.com/office/powerpoint/2010/main" val="2484273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21</a:t>
            </a:fld>
            <a:endParaRPr lang="en-US" dirty="0"/>
          </a:p>
        </p:txBody>
      </p:sp>
      <p:sp>
        <p:nvSpPr>
          <p:cNvPr id="10" name="Rectangle 5">
            <a:extLst>
              <a:ext uri="{FF2B5EF4-FFF2-40B4-BE49-F238E27FC236}">
                <a16:creationId xmlns:a16="http://schemas.microsoft.com/office/drawing/2014/main" id="{0617C31E-8DEC-4B24-9FF1-4AA10026F6E9}"/>
              </a:ext>
            </a:extLst>
          </p:cNvPr>
          <p:cNvSpPr>
            <a:spLocks noChangeArrowheads="1"/>
          </p:cNvSpPr>
          <p:nvPr/>
        </p:nvSpPr>
        <p:spPr bwMode="auto">
          <a:xfrm>
            <a:off x="1311579" y="1476521"/>
            <a:ext cx="9777413" cy="516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latin typeface="+mj-lt"/>
              </a:rPr>
              <a:t>METODO DEL COSTO INVERSO</a:t>
            </a:r>
            <a:endParaRPr lang="es-ES" altLang="es-AR" sz="2000" b="1" dirty="0">
              <a:latin typeface="+mj-lt"/>
            </a:endParaRPr>
          </a:p>
        </p:txBody>
      </p:sp>
      <p:sp>
        <p:nvSpPr>
          <p:cNvPr id="6" name="Rectangle 18">
            <a:extLst>
              <a:ext uri="{FF2B5EF4-FFF2-40B4-BE49-F238E27FC236}">
                <a16:creationId xmlns:a16="http://schemas.microsoft.com/office/drawing/2014/main" id="{C9DC4B35-D3F3-4EB4-A3A9-5C21BE246994}"/>
              </a:ext>
            </a:extLst>
          </p:cNvPr>
          <p:cNvSpPr>
            <a:spLocks noChangeArrowheads="1"/>
          </p:cNvSpPr>
          <p:nvPr/>
        </p:nvSpPr>
        <p:spPr bwMode="auto">
          <a:xfrm>
            <a:off x="1088136" y="2349500"/>
            <a:ext cx="10383886"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endParaRPr lang="es-ES" altLang="es-AR" sz="2000" dirty="0">
              <a:latin typeface="+mj-lt"/>
            </a:endParaRPr>
          </a:p>
        </p:txBody>
      </p:sp>
      <p:sp>
        <p:nvSpPr>
          <p:cNvPr id="7" name="Rectangle 19">
            <a:extLst>
              <a:ext uri="{FF2B5EF4-FFF2-40B4-BE49-F238E27FC236}">
                <a16:creationId xmlns:a16="http://schemas.microsoft.com/office/drawing/2014/main" id="{9E6DD231-FA32-42DF-B0CA-C5F0B1F83409}"/>
              </a:ext>
            </a:extLst>
          </p:cNvPr>
          <p:cNvSpPr>
            <a:spLocks noChangeArrowheads="1"/>
          </p:cNvSpPr>
          <p:nvPr/>
        </p:nvSpPr>
        <p:spPr bwMode="auto">
          <a:xfrm>
            <a:off x="1566021" y="4036726"/>
            <a:ext cx="9906001" cy="165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endParaRPr lang="es-ES" altLang="es-AR" sz="2000" dirty="0">
              <a:latin typeface="+mj-lt"/>
            </a:endParaRPr>
          </a:p>
        </p:txBody>
      </p:sp>
      <p:sp>
        <p:nvSpPr>
          <p:cNvPr id="8" name="Rectangle 6">
            <a:extLst>
              <a:ext uri="{FF2B5EF4-FFF2-40B4-BE49-F238E27FC236}">
                <a16:creationId xmlns:a16="http://schemas.microsoft.com/office/drawing/2014/main" id="{E811F85B-4B90-4517-B376-B13A77E2D926}"/>
              </a:ext>
            </a:extLst>
          </p:cNvPr>
          <p:cNvSpPr>
            <a:spLocks noChangeArrowheads="1"/>
          </p:cNvSpPr>
          <p:nvPr/>
        </p:nvSpPr>
        <p:spPr bwMode="auto">
          <a:xfrm>
            <a:off x="2650186" y="2593101"/>
            <a:ext cx="8702801" cy="2507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r>
              <a:rPr lang="es-ES" altLang="es-AR" sz="2000" dirty="0">
                <a:latin typeface="+mj-lt"/>
              </a:rPr>
              <a:t>Se supone que por lo menos uno de los productos que constituyen la producción de la empresa tiene importancia secundaria con relación a los ingresos derivados de las ventas relativas o de cualquier otro criterio que se aplique. </a:t>
            </a:r>
          </a:p>
          <a:p>
            <a:pPr algn="just" eaLnBrk="1" hangingPunct="1">
              <a:defRPr/>
            </a:pPr>
            <a:r>
              <a:rPr lang="es-ES" altLang="es-AR" sz="2000" dirty="0">
                <a:latin typeface="+mj-lt"/>
              </a:rPr>
              <a:t>Este método se aplica cuando dicho producto tiene un valor comercial importante en el mercado, pero no tanto como el precio de venta de la producción del producto principal</a:t>
            </a:r>
            <a:r>
              <a:rPr lang="es-ES" altLang="es-AR" sz="2600" b="1" dirty="0"/>
              <a:t>.</a:t>
            </a:r>
          </a:p>
          <a:p>
            <a:pPr algn="just" eaLnBrk="1" hangingPunct="1">
              <a:defRPr/>
            </a:pPr>
            <a:endParaRPr lang="es-ES" altLang="es-AR" sz="2600" dirty="0"/>
          </a:p>
        </p:txBody>
      </p:sp>
    </p:spTree>
    <p:extLst>
      <p:ext uri="{BB962C8B-B14F-4D97-AF65-F5344CB8AC3E}">
        <p14:creationId xmlns:p14="http://schemas.microsoft.com/office/powerpoint/2010/main" val="3204792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P spid="7" grpId="0"/>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22</a:t>
            </a:fld>
            <a:endParaRPr lang="en-US" dirty="0"/>
          </a:p>
        </p:txBody>
      </p:sp>
      <p:sp>
        <p:nvSpPr>
          <p:cNvPr id="10" name="Rectangle 5">
            <a:extLst>
              <a:ext uri="{FF2B5EF4-FFF2-40B4-BE49-F238E27FC236}">
                <a16:creationId xmlns:a16="http://schemas.microsoft.com/office/drawing/2014/main" id="{0617C31E-8DEC-4B24-9FF1-4AA10026F6E9}"/>
              </a:ext>
            </a:extLst>
          </p:cNvPr>
          <p:cNvSpPr>
            <a:spLocks noChangeArrowheads="1"/>
          </p:cNvSpPr>
          <p:nvPr/>
        </p:nvSpPr>
        <p:spPr bwMode="auto">
          <a:xfrm>
            <a:off x="1311579" y="1476521"/>
            <a:ext cx="9777413" cy="516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latin typeface="+mj-lt"/>
              </a:rPr>
              <a:t>METODO DEL COSTO INVERSO</a:t>
            </a:r>
            <a:endParaRPr lang="es-ES" altLang="es-AR" sz="2000" b="1" dirty="0">
              <a:latin typeface="+mj-lt"/>
            </a:endParaRPr>
          </a:p>
        </p:txBody>
      </p:sp>
      <p:sp>
        <p:nvSpPr>
          <p:cNvPr id="6" name="Rectangle 18">
            <a:extLst>
              <a:ext uri="{FF2B5EF4-FFF2-40B4-BE49-F238E27FC236}">
                <a16:creationId xmlns:a16="http://schemas.microsoft.com/office/drawing/2014/main" id="{C9DC4B35-D3F3-4EB4-A3A9-5C21BE246994}"/>
              </a:ext>
            </a:extLst>
          </p:cNvPr>
          <p:cNvSpPr>
            <a:spLocks noChangeArrowheads="1"/>
          </p:cNvSpPr>
          <p:nvPr/>
        </p:nvSpPr>
        <p:spPr bwMode="auto">
          <a:xfrm>
            <a:off x="1088136" y="2349500"/>
            <a:ext cx="10383886"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endParaRPr lang="es-ES" altLang="es-AR" sz="2000" dirty="0">
              <a:latin typeface="+mj-lt"/>
            </a:endParaRPr>
          </a:p>
        </p:txBody>
      </p:sp>
      <p:sp>
        <p:nvSpPr>
          <p:cNvPr id="7" name="Rectangle 19">
            <a:extLst>
              <a:ext uri="{FF2B5EF4-FFF2-40B4-BE49-F238E27FC236}">
                <a16:creationId xmlns:a16="http://schemas.microsoft.com/office/drawing/2014/main" id="{9E6DD231-FA32-42DF-B0CA-C5F0B1F83409}"/>
              </a:ext>
            </a:extLst>
          </p:cNvPr>
          <p:cNvSpPr>
            <a:spLocks noChangeArrowheads="1"/>
          </p:cNvSpPr>
          <p:nvPr/>
        </p:nvSpPr>
        <p:spPr bwMode="auto">
          <a:xfrm>
            <a:off x="1566021" y="4036726"/>
            <a:ext cx="9906001" cy="165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endParaRPr lang="es-ES" altLang="es-AR" sz="2000" dirty="0">
              <a:latin typeface="+mj-lt"/>
            </a:endParaRPr>
          </a:p>
        </p:txBody>
      </p:sp>
      <p:sp>
        <p:nvSpPr>
          <p:cNvPr id="8" name="Rectangle 6">
            <a:extLst>
              <a:ext uri="{FF2B5EF4-FFF2-40B4-BE49-F238E27FC236}">
                <a16:creationId xmlns:a16="http://schemas.microsoft.com/office/drawing/2014/main" id="{E811F85B-4B90-4517-B376-B13A77E2D926}"/>
              </a:ext>
            </a:extLst>
          </p:cNvPr>
          <p:cNvSpPr>
            <a:spLocks noChangeArrowheads="1"/>
          </p:cNvSpPr>
          <p:nvPr/>
        </p:nvSpPr>
        <p:spPr bwMode="auto">
          <a:xfrm>
            <a:off x="1474471" y="2092039"/>
            <a:ext cx="9777413" cy="360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a:defRPr/>
            </a:pPr>
            <a:r>
              <a:rPr lang="es-ES" altLang="es-AR" sz="2000" dirty="0">
                <a:latin typeface="+mj-lt"/>
              </a:rPr>
              <a:t>Bajo el método del costo inverso, el valor estimado en el mercado o de venta del producto secundario se deduce del costo de producción total incurrido para la producción de todos los productos, principales y secundarios. </a:t>
            </a:r>
          </a:p>
          <a:p>
            <a:pPr algn="just">
              <a:defRPr/>
            </a:pPr>
            <a:r>
              <a:rPr lang="es-ES" altLang="es-AR" sz="2000" dirty="0">
                <a:latin typeface="+mj-lt"/>
              </a:rPr>
              <a:t>Esta cantidad residual se asigna luego al producto o productos principales, empleando el método de los costos conexos si existen productos conexos. </a:t>
            </a:r>
          </a:p>
          <a:p>
            <a:pPr algn="just">
              <a:defRPr/>
            </a:pPr>
            <a:r>
              <a:rPr lang="es-ES" altLang="es-AR" sz="2000" dirty="0">
                <a:latin typeface="+mj-lt"/>
              </a:rPr>
              <a:t>El producto secundario se asienta en el inventario a su valor comercial estimado.</a:t>
            </a:r>
          </a:p>
          <a:p>
            <a:pPr algn="just" eaLnBrk="1" hangingPunct="1">
              <a:defRPr/>
            </a:pPr>
            <a:endParaRPr lang="es-ES" altLang="es-AR" sz="2600" dirty="0"/>
          </a:p>
        </p:txBody>
      </p:sp>
    </p:spTree>
    <p:extLst>
      <p:ext uri="{BB962C8B-B14F-4D97-AF65-F5344CB8AC3E}">
        <p14:creationId xmlns:p14="http://schemas.microsoft.com/office/powerpoint/2010/main" val="5642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P spid="7" grpId="0"/>
      <p:bldP spid="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23</a:t>
            </a:fld>
            <a:endParaRPr lang="en-US" dirty="0"/>
          </a:p>
        </p:txBody>
      </p:sp>
      <p:sp>
        <p:nvSpPr>
          <p:cNvPr id="10" name="Rectangle 5">
            <a:extLst>
              <a:ext uri="{FF2B5EF4-FFF2-40B4-BE49-F238E27FC236}">
                <a16:creationId xmlns:a16="http://schemas.microsoft.com/office/drawing/2014/main" id="{0617C31E-8DEC-4B24-9FF1-4AA10026F6E9}"/>
              </a:ext>
            </a:extLst>
          </p:cNvPr>
          <p:cNvSpPr>
            <a:spLocks noChangeArrowheads="1"/>
          </p:cNvSpPr>
          <p:nvPr/>
        </p:nvSpPr>
        <p:spPr bwMode="auto">
          <a:xfrm>
            <a:off x="3033375" y="2852737"/>
            <a:ext cx="9777413" cy="516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400" b="1" dirty="0">
                <a:latin typeface="+mj-lt"/>
              </a:rPr>
              <a:t>VER EXCEL “13 PRODUCCION CONJUNTA”</a:t>
            </a:r>
            <a:endParaRPr lang="es-ES" altLang="es-AR" sz="2400" b="1" dirty="0">
              <a:latin typeface="+mj-lt"/>
            </a:endParaRPr>
          </a:p>
        </p:txBody>
      </p:sp>
      <p:sp>
        <p:nvSpPr>
          <p:cNvPr id="6" name="Rectangle 18">
            <a:extLst>
              <a:ext uri="{FF2B5EF4-FFF2-40B4-BE49-F238E27FC236}">
                <a16:creationId xmlns:a16="http://schemas.microsoft.com/office/drawing/2014/main" id="{C9DC4B35-D3F3-4EB4-A3A9-5C21BE246994}"/>
              </a:ext>
            </a:extLst>
          </p:cNvPr>
          <p:cNvSpPr>
            <a:spLocks noChangeArrowheads="1"/>
          </p:cNvSpPr>
          <p:nvPr/>
        </p:nvSpPr>
        <p:spPr bwMode="auto">
          <a:xfrm>
            <a:off x="1088136" y="2349500"/>
            <a:ext cx="10383886"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endParaRPr lang="es-ES" altLang="es-AR" sz="2000" dirty="0">
              <a:latin typeface="+mj-lt"/>
            </a:endParaRPr>
          </a:p>
        </p:txBody>
      </p:sp>
      <p:sp>
        <p:nvSpPr>
          <p:cNvPr id="7" name="Rectangle 19">
            <a:extLst>
              <a:ext uri="{FF2B5EF4-FFF2-40B4-BE49-F238E27FC236}">
                <a16:creationId xmlns:a16="http://schemas.microsoft.com/office/drawing/2014/main" id="{9E6DD231-FA32-42DF-B0CA-C5F0B1F83409}"/>
              </a:ext>
            </a:extLst>
          </p:cNvPr>
          <p:cNvSpPr>
            <a:spLocks noChangeArrowheads="1"/>
          </p:cNvSpPr>
          <p:nvPr/>
        </p:nvSpPr>
        <p:spPr bwMode="auto">
          <a:xfrm>
            <a:off x="1566021" y="4036726"/>
            <a:ext cx="9906001" cy="165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endParaRPr lang="es-ES" altLang="es-AR" sz="2000" dirty="0">
              <a:latin typeface="+mj-lt"/>
            </a:endParaRPr>
          </a:p>
        </p:txBody>
      </p:sp>
    </p:spTree>
    <p:extLst>
      <p:ext uri="{BB962C8B-B14F-4D97-AF65-F5344CB8AC3E}">
        <p14:creationId xmlns:p14="http://schemas.microsoft.com/office/powerpoint/2010/main" val="2201728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24</a:t>
            </a:fld>
            <a:endParaRPr lang="en-US" dirty="0"/>
          </a:p>
        </p:txBody>
      </p:sp>
      <p:sp>
        <p:nvSpPr>
          <p:cNvPr id="10" name="Rectangle 5">
            <a:extLst>
              <a:ext uri="{FF2B5EF4-FFF2-40B4-BE49-F238E27FC236}">
                <a16:creationId xmlns:a16="http://schemas.microsoft.com/office/drawing/2014/main" id="{0617C31E-8DEC-4B24-9FF1-4AA10026F6E9}"/>
              </a:ext>
            </a:extLst>
          </p:cNvPr>
          <p:cNvSpPr>
            <a:spLocks noChangeArrowheads="1"/>
          </p:cNvSpPr>
          <p:nvPr/>
        </p:nvSpPr>
        <p:spPr bwMode="auto">
          <a:xfrm>
            <a:off x="1311579" y="1476521"/>
            <a:ext cx="9777413" cy="516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latin typeface="+mj-lt"/>
              </a:rPr>
              <a:t>CONTABILIDAD DE SUBPRODUCTOS</a:t>
            </a:r>
            <a:endParaRPr lang="es-ES" altLang="es-AR" sz="2000" b="1" dirty="0">
              <a:latin typeface="+mj-lt"/>
            </a:endParaRPr>
          </a:p>
        </p:txBody>
      </p:sp>
      <p:sp>
        <p:nvSpPr>
          <p:cNvPr id="6" name="Rectangle 18">
            <a:extLst>
              <a:ext uri="{FF2B5EF4-FFF2-40B4-BE49-F238E27FC236}">
                <a16:creationId xmlns:a16="http://schemas.microsoft.com/office/drawing/2014/main" id="{C9DC4B35-D3F3-4EB4-A3A9-5C21BE246994}"/>
              </a:ext>
            </a:extLst>
          </p:cNvPr>
          <p:cNvSpPr>
            <a:spLocks noChangeArrowheads="1"/>
          </p:cNvSpPr>
          <p:nvPr/>
        </p:nvSpPr>
        <p:spPr bwMode="auto">
          <a:xfrm>
            <a:off x="1088136" y="2349500"/>
            <a:ext cx="10383886"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endParaRPr lang="es-ES" altLang="es-AR" sz="2000" dirty="0">
              <a:latin typeface="+mj-lt"/>
            </a:endParaRPr>
          </a:p>
        </p:txBody>
      </p:sp>
      <p:sp>
        <p:nvSpPr>
          <p:cNvPr id="7" name="Rectangle 19">
            <a:extLst>
              <a:ext uri="{FF2B5EF4-FFF2-40B4-BE49-F238E27FC236}">
                <a16:creationId xmlns:a16="http://schemas.microsoft.com/office/drawing/2014/main" id="{9E6DD231-FA32-42DF-B0CA-C5F0B1F83409}"/>
              </a:ext>
            </a:extLst>
          </p:cNvPr>
          <p:cNvSpPr>
            <a:spLocks noChangeArrowheads="1"/>
          </p:cNvSpPr>
          <p:nvPr/>
        </p:nvSpPr>
        <p:spPr bwMode="auto">
          <a:xfrm>
            <a:off x="1566021" y="4036726"/>
            <a:ext cx="9906001" cy="165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endParaRPr lang="es-ES" altLang="es-AR" sz="2000" dirty="0">
              <a:latin typeface="+mj-lt"/>
            </a:endParaRPr>
          </a:p>
        </p:txBody>
      </p:sp>
      <p:sp>
        <p:nvSpPr>
          <p:cNvPr id="8" name="Rectangle 6">
            <a:extLst>
              <a:ext uri="{FF2B5EF4-FFF2-40B4-BE49-F238E27FC236}">
                <a16:creationId xmlns:a16="http://schemas.microsoft.com/office/drawing/2014/main" id="{E811F85B-4B90-4517-B376-B13A77E2D926}"/>
              </a:ext>
            </a:extLst>
          </p:cNvPr>
          <p:cNvSpPr>
            <a:spLocks noChangeArrowheads="1"/>
          </p:cNvSpPr>
          <p:nvPr/>
        </p:nvSpPr>
        <p:spPr bwMode="auto">
          <a:xfrm>
            <a:off x="1474471" y="2092039"/>
            <a:ext cx="9777413" cy="476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a:defRPr/>
            </a:pPr>
            <a:r>
              <a:rPr lang="es-ES" altLang="es-AR" sz="2000" dirty="0">
                <a:latin typeface="+mj-lt"/>
              </a:rPr>
              <a:t>El esquema del proceso es el siguiente:</a:t>
            </a:r>
            <a:endParaRPr lang="es-ES" altLang="es-AR" sz="2600" dirty="0"/>
          </a:p>
        </p:txBody>
      </p:sp>
      <p:sp>
        <p:nvSpPr>
          <p:cNvPr id="3" name="Rectángulo 2">
            <a:extLst>
              <a:ext uri="{FF2B5EF4-FFF2-40B4-BE49-F238E27FC236}">
                <a16:creationId xmlns:a16="http://schemas.microsoft.com/office/drawing/2014/main" id="{3B20BCE3-8AD1-4A5D-AD16-CE0A853BD340}"/>
              </a:ext>
            </a:extLst>
          </p:cNvPr>
          <p:cNvSpPr/>
          <p:nvPr/>
        </p:nvSpPr>
        <p:spPr>
          <a:xfrm>
            <a:off x="4221804" y="4036726"/>
            <a:ext cx="2752928" cy="15566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PROCESO PRINCIPAL</a:t>
            </a:r>
          </a:p>
        </p:txBody>
      </p:sp>
      <p:cxnSp>
        <p:nvCxnSpPr>
          <p:cNvPr id="9" name="Conector recto de flecha 8">
            <a:extLst>
              <a:ext uri="{FF2B5EF4-FFF2-40B4-BE49-F238E27FC236}">
                <a16:creationId xmlns:a16="http://schemas.microsoft.com/office/drawing/2014/main" id="{5C8634CC-D7FD-404D-88A5-3DF35D165EDB}"/>
              </a:ext>
            </a:extLst>
          </p:cNvPr>
          <p:cNvCxnSpPr>
            <a:cxnSpLocks/>
          </p:cNvCxnSpPr>
          <p:nvPr/>
        </p:nvCxnSpPr>
        <p:spPr>
          <a:xfrm>
            <a:off x="2464539" y="3975268"/>
            <a:ext cx="1757265" cy="4313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FD49D696-C528-4B13-B5BA-32FD8273C83D}"/>
              </a:ext>
            </a:extLst>
          </p:cNvPr>
          <p:cNvCxnSpPr>
            <a:cxnSpLocks/>
          </p:cNvCxnSpPr>
          <p:nvPr/>
        </p:nvCxnSpPr>
        <p:spPr>
          <a:xfrm flipV="1">
            <a:off x="2475867" y="4666174"/>
            <a:ext cx="174593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C477E047-0874-43DD-8D7F-25CDCF67A6F6}"/>
              </a:ext>
            </a:extLst>
          </p:cNvPr>
          <p:cNvCxnSpPr>
            <a:cxnSpLocks/>
          </p:cNvCxnSpPr>
          <p:nvPr/>
        </p:nvCxnSpPr>
        <p:spPr>
          <a:xfrm flipV="1">
            <a:off x="2475867" y="5042617"/>
            <a:ext cx="1745936" cy="64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recto de flecha 16">
            <a:extLst>
              <a:ext uri="{FF2B5EF4-FFF2-40B4-BE49-F238E27FC236}">
                <a16:creationId xmlns:a16="http://schemas.microsoft.com/office/drawing/2014/main" id="{E61E37DB-48F4-4C84-9850-54E9664C824E}"/>
              </a:ext>
            </a:extLst>
          </p:cNvPr>
          <p:cNvCxnSpPr>
            <a:cxnSpLocks/>
          </p:cNvCxnSpPr>
          <p:nvPr/>
        </p:nvCxnSpPr>
        <p:spPr>
          <a:xfrm flipV="1">
            <a:off x="2480553" y="5308568"/>
            <a:ext cx="1741251" cy="396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recto de flecha 20">
            <a:extLst>
              <a:ext uri="{FF2B5EF4-FFF2-40B4-BE49-F238E27FC236}">
                <a16:creationId xmlns:a16="http://schemas.microsoft.com/office/drawing/2014/main" id="{6A8893DA-7D46-4584-AE0A-19F52463B36C}"/>
              </a:ext>
            </a:extLst>
          </p:cNvPr>
          <p:cNvCxnSpPr/>
          <p:nvPr/>
        </p:nvCxnSpPr>
        <p:spPr>
          <a:xfrm flipV="1">
            <a:off x="6974732" y="4036726"/>
            <a:ext cx="1021404" cy="3699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ángulo 21">
            <a:extLst>
              <a:ext uri="{FF2B5EF4-FFF2-40B4-BE49-F238E27FC236}">
                <a16:creationId xmlns:a16="http://schemas.microsoft.com/office/drawing/2014/main" id="{BF045520-5E8E-4363-AFAE-CFD116714D69}"/>
              </a:ext>
            </a:extLst>
          </p:cNvPr>
          <p:cNvSpPr/>
          <p:nvPr/>
        </p:nvSpPr>
        <p:spPr>
          <a:xfrm>
            <a:off x="8001224" y="3680619"/>
            <a:ext cx="1358628" cy="72601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AR" dirty="0"/>
              <a:t>PROCESO “A”</a:t>
            </a:r>
          </a:p>
        </p:txBody>
      </p:sp>
      <p:cxnSp>
        <p:nvCxnSpPr>
          <p:cNvPr id="26" name="Conector recto de flecha 25">
            <a:extLst>
              <a:ext uri="{FF2B5EF4-FFF2-40B4-BE49-F238E27FC236}">
                <a16:creationId xmlns:a16="http://schemas.microsoft.com/office/drawing/2014/main" id="{E6E8FA88-8C8A-4383-B944-1FCA333C0EB0}"/>
              </a:ext>
            </a:extLst>
          </p:cNvPr>
          <p:cNvCxnSpPr>
            <a:stCxn id="22" idx="3"/>
          </p:cNvCxnSpPr>
          <p:nvPr/>
        </p:nvCxnSpPr>
        <p:spPr>
          <a:xfrm flipV="1">
            <a:off x="9359852" y="4036726"/>
            <a:ext cx="735002" cy="68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AF35E0CA-C85C-4914-A8EF-8563AC596FB1}"/>
              </a:ext>
            </a:extLst>
          </p:cNvPr>
          <p:cNvCxnSpPr>
            <a:stCxn id="3" idx="3"/>
          </p:cNvCxnSpPr>
          <p:nvPr/>
        </p:nvCxnSpPr>
        <p:spPr>
          <a:xfrm>
            <a:off x="6974732" y="4815065"/>
            <a:ext cx="312012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ector recto de flecha 31">
            <a:extLst>
              <a:ext uri="{FF2B5EF4-FFF2-40B4-BE49-F238E27FC236}">
                <a16:creationId xmlns:a16="http://schemas.microsoft.com/office/drawing/2014/main" id="{6328A650-0EFF-4138-9159-DA1CCD5D3F60}"/>
              </a:ext>
            </a:extLst>
          </p:cNvPr>
          <p:cNvCxnSpPr>
            <a:cxnSpLocks/>
            <a:endCxn id="51" idx="1"/>
          </p:cNvCxnSpPr>
          <p:nvPr/>
        </p:nvCxnSpPr>
        <p:spPr>
          <a:xfrm>
            <a:off x="6974732" y="5234256"/>
            <a:ext cx="3117085" cy="442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ector: angular 41">
            <a:extLst>
              <a:ext uri="{FF2B5EF4-FFF2-40B4-BE49-F238E27FC236}">
                <a16:creationId xmlns:a16="http://schemas.microsoft.com/office/drawing/2014/main" id="{62C9EE09-C906-441A-9DCB-8D87AD39F01F}"/>
              </a:ext>
            </a:extLst>
          </p:cNvPr>
          <p:cNvCxnSpPr>
            <a:stCxn id="3" idx="2"/>
          </p:cNvCxnSpPr>
          <p:nvPr/>
        </p:nvCxnSpPr>
        <p:spPr>
          <a:xfrm rot="16200000" flipH="1">
            <a:off x="5712794" y="5478877"/>
            <a:ext cx="749676" cy="97872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CuadroTexto 42">
            <a:extLst>
              <a:ext uri="{FF2B5EF4-FFF2-40B4-BE49-F238E27FC236}">
                <a16:creationId xmlns:a16="http://schemas.microsoft.com/office/drawing/2014/main" id="{E1A9AC59-D620-4F14-98A8-FBBDE239675C}"/>
              </a:ext>
            </a:extLst>
          </p:cNvPr>
          <p:cNvSpPr txBox="1"/>
          <p:nvPr/>
        </p:nvSpPr>
        <p:spPr>
          <a:xfrm>
            <a:off x="2354545" y="3653002"/>
            <a:ext cx="879894" cy="369332"/>
          </a:xfrm>
          <a:prstGeom prst="rect">
            <a:avLst/>
          </a:prstGeom>
          <a:noFill/>
        </p:spPr>
        <p:txBody>
          <a:bodyPr wrap="square" rtlCol="0">
            <a:spAutoFit/>
          </a:bodyPr>
          <a:lstStyle/>
          <a:p>
            <a:r>
              <a:rPr lang="es-AR" dirty="0"/>
              <a:t>MP E1</a:t>
            </a:r>
          </a:p>
        </p:txBody>
      </p:sp>
      <p:sp>
        <p:nvSpPr>
          <p:cNvPr id="44" name="CuadroTexto 43">
            <a:extLst>
              <a:ext uri="{FF2B5EF4-FFF2-40B4-BE49-F238E27FC236}">
                <a16:creationId xmlns:a16="http://schemas.microsoft.com/office/drawing/2014/main" id="{D8141C5C-AECC-4D34-844B-8C8F9BD52E66}"/>
              </a:ext>
            </a:extLst>
          </p:cNvPr>
          <p:cNvSpPr txBox="1"/>
          <p:nvPr/>
        </p:nvSpPr>
        <p:spPr>
          <a:xfrm>
            <a:off x="2348534" y="4272899"/>
            <a:ext cx="879894" cy="369332"/>
          </a:xfrm>
          <a:prstGeom prst="rect">
            <a:avLst/>
          </a:prstGeom>
          <a:noFill/>
        </p:spPr>
        <p:txBody>
          <a:bodyPr wrap="square" rtlCol="0">
            <a:spAutoFit/>
          </a:bodyPr>
          <a:lstStyle/>
          <a:p>
            <a:r>
              <a:rPr lang="es-AR" dirty="0"/>
              <a:t>MP E2</a:t>
            </a:r>
          </a:p>
        </p:txBody>
      </p:sp>
      <p:sp>
        <p:nvSpPr>
          <p:cNvPr id="45" name="CuadroTexto 44">
            <a:extLst>
              <a:ext uri="{FF2B5EF4-FFF2-40B4-BE49-F238E27FC236}">
                <a16:creationId xmlns:a16="http://schemas.microsoft.com/office/drawing/2014/main" id="{D43F0C26-7D4B-4DB5-9EBE-2FDDA2D4B059}"/>
              </a:ext>
            </a:extLst>
          </p:cNvPr>
          <p:cNvSpPr txBox="1"/>
          <p:nvPr/>
        </p:nvSpPr>
        <p:spPr>
          <a:xfrm>
            <a:off x="2348534" y="4741055"/>
            <a:ext cx="879894" cy="369332"/>
          </a:xfrm>
          <a:prstGeom prst="rect">
            <a:avLst/>
          </a:prstGeom>
          <a:noFill/>
        </p:spPr>
        <p:txBody>
          <a:bodyPr wrap="square" rtlCol="0">
            <a:spAutoFit/>
          </a:bodyPr>
          <a:lstStyle/>
          <a:p>
            <a:r>
              <a:rPr lang="es-AR" dirty="0"/>
              <a:t>MOD</a:t>
            </a:r>
          </a:p>
        </p:txBody>
      </p:sp>
      <p:sp>
        <p:nvSpPr>
          <p:cNvPr id="46" name="CuadroTexto 45">
            <a:extLst>
              <a:ext uri="{FF2B5EF4-FFF2-40B4-BE49-F238E27FC236}">
                <a16:creationId xmlns:a16="http://schemas.microsoft.com/office/drawing/2014/main" id="{3FA90343-0AA3-4E24-A576-1B8682610122}"/>
              </a:ext>
            </a:extLst>
          </p:cNvPr>
          <p:cNvSpPr txBox="1"/>
          <p:nvPr/>
        </p:nvSpPr>
        <p:spPr>
          <a:xfrm>
            <a:off x="2393024" y="5259204"/>
            <a:ext cx="879894" cy="369332"/>
          </a:xfrm>
          <a:prstGeom prst="rect">
            <a:avLst/>
          </a:prstGeom>
          <a:noFill/>
        </p:spPr>
        <p:txBody>
          <a:bodyPr wrap="square" rtlCol="0">
            <a:spAutoFit/>
          </a:bodyPr>
          <a:lstStyle/>
          <a:p>
            <a:r>
              <a:rPr lang="es-AR" dirty="0"/>
              <a:t>GIF</a:t>
            </a:r>
          </a:p>
        </p:txBody>
      </p:sp>
      <p:sp>
        <p:nvSpPr>
          <p:cNvPr id="47" name="CuadroTexto 46">
            <a:extLst>
              <a:ext uri="{FF2B5EF4-FFF2-40B4-BE49-F238E27FC236}">
                <a16:creationId xmlns:a16="http://schemas.microsoft.com/office/drawing/2014/main" id="{934D8BF0-DAB5-431C-8D50-3B2CAF21EEDA}"/>
              </a:ext>
            </a:extLst>
          </p:cNvPr>
          <p:cNvSpPr txBox="1"/>
          <p:nvPr/>
        </p:nvSpPr>
        <p:spPr>
          <a:xfrm>
            <a:off x="5760337" y="5853414"/>
            <a:ext cx="2572779" cy="338554"/>
          </a:xfrm>
          <a:prstGeom prst="rect">
            <a:avLst/>
          </a:prstGeom>
          <a:noFill/>
        </p:spPr>
        <p:txBody>
          <a:bodyPr wrap="square" rtlCol="0">
            <a:spAutoFit/>
          </a:bodyPr>
          <a:lstStyle/>
          <a:p>
            <a:r>
              <a:rPr lang="es-AR" sz="1600" dirty="0"/>
              <a:t>SUBPRODUCTO XXX</a:t>
            </a:r>
          </a:p>
        </p:txBody>
      </p:sp>
      <p:sp>
        <p:nvSpPr>
          <p:cNvPr id="48" name="CuadroTexto 47">
            <a:extLst>
              <a:ext uri="{FF2B5EF4-FFF2-40B4-BE49-F238E27FC236}">
                <a16:creationId xmlns:a16="http://schemas.microsoft.com/office/drawing/2014/main" id="{4EE458FF-1887-4AF1-90B7-60AE7F4FA3AA}"/>
              </a:ext>
            </a:extLst>
          </p:cNvPr>
          <p:cNvSpPr txBox="1"/>
          <p:nvPr/>
        </p:nvSpPr>
        <p:spPr>
          <a:xfrm>
            <a:off x="5760336" y="6504005"/>
            <a:ext cx="2572779" cy="338554"/>
          </a:xfrm>
          <a:prstGeom prst="rect">
            <a:avLst/>
          </a:prstGeom>
          <a:noFill/>
        </p:spPr>
        <p:txBody>
          <a:bodyPr wrap="square" rtlCol="0">
            <a:spAutoFit/>
          </a:bodyPr>
          <a:lstStyle/>
          <a:p>
            <a:r>
              <a:rPr lang="es-AR" sz="1600" dirty="0"/>
              <a:t>SUBPRODUCTO YYY</a:t>
            </a:r>
          </a:p>
        </p:txBody>
      </p:sp>
      <p:sp>
        <p:nvSpPr>
          <p:cNvPr id="49" name="CuadroTexto 48">
            <a:extLst>
              <a:ext uri="{FF2B5EF4-FFF2-40B4-BE49-F238E27FC236}">
                <a16:creationId xmlns:a16="http://schemas.microsoft.com/office/drawing/2014/main" id="{877B79E6-8CF7-4EB9-9E83-387DE6263A56}"/>
              </a:ext>
            </a:extLst>
          </p:cNvPr>
          <p:cNvSpPr txBox="1"/>
          <p:nvPr/>
        </p:nvSpPr>
        <p:spPr>
          <a:xfrm>
            <a:off x="10091817" y="3821617"/>
            <a:ext cx="455442" cy="369332"/>
          </a:xfrm>
          <a:prstGeom prst="rect">
            <a:avLst/>
          </a:prstGeom>
          <a:noFill/>
        </p:spPr>
        <p:txBody>
          <a:bodyPr wrap="square" rtlCol="0">
            <a:spAutoFit/>
          </a:bodyPr>
          <a:lstStyle/>
          <a:p>
            <a:r>
              <a:rPr lang="es-AR" dirty="0"/>
              <a:t>P1</a:t>
            </a:r>
          </a:p>
        </p:txBody>
      </p:sp>
      <p:sp>
        <p:nvSpPr>
          <p:cNvPr id="50" name="CuadroTexto 49">
            <a:extLst>
              <a:ext uri="{FF2B5EF4-FFF2-40B4-BE49-F238E27FC236}">
                <a16:creationId xmlns:a16="http://schemas.microsoft.com/office/drawing/2014/main" id="{3547EE8C-96E9-42DB-8BAD-C780B0313056}"/>
              </a:ext>
            </a:extLst>
          </p:cNvPr>
          <p:cNvSpPr txBox="1"/>
          <p:nvPr/>
        </p:nvSpPr>
        <p:spPr>
          <a:xfrm>
            <a:off x="10091817" y="4615158"/>
            <a:ext cx="455442" cy="369332"/>
          </a:xfrm>
          <a:prstGeom prst="rect">
            <a:avLst/>
          </a:prstGeom>
          <a:noFill/>
        </p:spPr>
        <p:txBody>
          <a:bodyPr wrap="square" rtlCol="0">
            <a:spAutoFit/>
          </a:bodyPr>
          <a:lstStyle/>
          <a:p>
            <a:r>
              <a:rPr lang="es-AR" dirty="0"/>
              <a:t>P2</a:t>
            </a:r>
          </a:p>
        </p:txBody>
      </p:sp>
      <p:sp>
        <p:nvSpPr>
          <p:cNvPr id="51" name="CuadroTexto 50">
            <a:extLst>
              <a:ext uri="{FF2B5EF4-FFF2-40B4-BE49-F238E27FC236}">
                <a16:creationId xmlns:a16="http://schemas.microsoft.com/office/drawing/2014/main" id="{ACE8158A-3A92-412D-87B6-2382AC508282}"/>
              </a:ext>
            </a:extLst>
          </p:cNvPr>
          <p:cNvSpPr txBox="1"/>
          <p:nvPr/>
        </p:nvSpPr>
        <p:spPr>
          <a:xfrm>
            <a:off x="10091817" y="5492490"/>
            <a:ext cx="455442" cy="369332"/>
          </a:xfrm>
          <a:prstGeom prst="rect">
            <a:avLst/>
          </a:prstGeom>
          <a:noFill/>
        </p:spPr>
        <p:txBody>
          <a:bodyPr wrap="square" rtlCol="0">
            <a:spAutoFit/>
          </a:bodyPr>
          <a:lstStyle/>
          <a:p>
            <a:r>
              <a:rPr lang="es-AR" dirty="0"/>
              <a:t>P3</a:t>
            </a:r>
          </a:p>
        </p:txBody>
      </p:sp>
    </p:spTree>
    <p:extLst>
      <p:ext uri="{BB962C8B-B14F-4D97-AF65-F5344CB8AC3E}">
        <p14:creationId xmlns:p14="http://schemas.microsoft.com/office/powerpoint/2010/main" val="372801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P spid="7" grpId="0"/>
      <p:bldP spid="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25</a:t>
            </a:fld>
            <a:endParaRPr lang="en-US" dirty="0"/>
          </a:p>
        </p:txBody>
      </p:sp>
      <p:sp>
        <p:nvSpPr>
          <p:cNvPr id="10" name="Rectangle 5">
            <a:extLst>
              <a:ext uri="{FF2B5EF4-FFF2-40B4-BE49-F238E27FC236}">
                <a16:creationId xmlns:a16="http://schemas.microsoft.com/office/drawing/2014/main" id="{0617C31E-8DEC-4B24-9FF1-4AA10026F6E9}"/>
              </a:ext>
            </a:extLst>
          </p:cNvPr>
          <p:cNvSpPr>
            <a:spLocks noChangeArrowheads="1"/>
          </p:cNvSpPr>
          <p:nvPr/>
        </p:nvSpPr>
        <p:spPr bwMode="auto">
          <a:xfrm>
            <a:off x="1311579" y="1476521"/>
            <a:ext cx="9777413" cy="516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latin typeface="+mj-lt"/>
              </a:rPr>
              <a:t>CONTABILIDAD DE SUBPRODUCTOS</a:t>
            </a:r>
            <a:endParaRPr lang="es-ES" altLang="es-AR" sz="2000" b="1" dirty="0">
              <a:latin typeface="+mj-lt"/>
            </a:endParaRPr>
          </a:p>
        </p:txBody>
      </p:sp>
      <p:sp>
        <p:nvSpPr>
          <p:cNvPr id="6" name="Rectangle 18">
            <a:extLst>
              <a:ext uri="{FF2B5EF4-FFF2-40B4-BE49-F238E27FC236}">
                <a16:creationId xmlns:a16="http://schemas.microsoft.com/office/drawing/2014/main" id="{C9DC4B35-D3F3-4EB4-A3A9-5C21BE246994}"/>
              </a:ext>
            </a:extLst>
          </p:cNvPr>
          <p:cNvSpPr>
            <a:spLocks noChangeArrowheads="1"/>
          </p:cNvSpPr>
          <p:nvPr/>
        </p:nvSpPr>
        <p:spPr bwMode="auto">
          <a:xfrm>
            <a:off x="1088136" y="2349500"/>
            <a:ext cx="10383886"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endParaRPr lang="es-ES" altLang="es-AR" sz="2000" dirty="0">
              <a:latin typeface="+mj-lt"/>
            </a:endParaRPr>
          </a:p>
        </p:txBody>
      </p:sp>
      <p:sp>
        <p:nvSpPr>
          <p:cNvPr id="7" name="Rectangle 19">
            <a:extLst>
              <a:ext uri="{FF2B5EF4-FFF2-40B4-BE49-F238E27FC236}">
                <a16:creationId xmlns:a16="http://schemas.microsoft.com/office/drawing/2014/main" id="{9E6DD231-FA32-42DF-B0CA-C5F0B1F83409}"/>
              </a:ext>
            </a:extLst>
          </p:cNvPr>
          <p:cNvSpPr>
            <a:spLocks noChangeArrowheads="1"/>
          </p:cNvSpPr>
          <p:nvPr/>
        </p:nvSpPr>
        <p:spPr bwMode="auto">
          <a:xfrm>
            <a:off x="1566021" y="4036726"/>
            <a:ext cx="9906001" cy="165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endParaRPr lang="es-ES" altLang="es-AR" sz="2000" dirty="0">
              <a:latin typeface="+mj-lt"/>
            </a:endParaRPr>
          </a:p>
        </p:txBody>
      </p:sp>
      <p:sp>
        <p:nvSpPr>
          <p:cNvPr id="8" name="Rectangle 6">
            <a:extLst>
              <a:ext uri="{FF2B5EF4-FFF2-40B4-BE49-F238E27FC236}">
                <a16:creationId xmlns:a16="http://schemas.microsoft.com/office/drawing/2014/main" id="{E811F85B-4B90-4517-B376-B13A77E2D926}"/>
              </a:ext>
            </a:extLst>
          </p:cNvPr>
          <p:cNvSpPr>
            <a:spLocks noChangeArrowheads="1"/>
          </p:cNvSpPr>
          <p:nvPr/>
        </p:nvSpPr>
        <p:spPr bwMode="auto">
          <a:xfrm>
            <a:off x="1474471" y="2092039"/>
            <a:ext cx="9777413" cy="1097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a:defRPr/>
            </a:pPr>
            <a:r>
              <a:rPr lang="es-ES" altLang="es-AR" sz="2000" dirty="0">
                <a:latin typeface="+mj-lt"/>
              </a:rPr>
              <a:t>Sea proceso de producción conjunta donde se obtienen los siguientes productos, subproductos y volúmenes de producción.</a:t>
            </a:r>
          </a:p>
          <a:p>
            <a:pPr algn="just">
              <a:defRPr/>
            </a:pPr>
            <a:r>
              <a:rPr lang="es-ES" altLang="es-AR" sz="2000" dirty="0">
                <a:latin typeface="+mj-lt"/>
              </a:rPr>
              <a:t>No existiendo inventario inicial ni final de los mismos al terminar el periodo</a:t>
            </a:r>
            <a:endParaRPr lang="es-ES" altLang="es-AR" sz="2600" dirty="0"/>
          </a:p>
        </p:txBody>
      </p:sp>
      <p:graphicFrame>
        <p:nvGraphicFramePr>
          <p:cNvPr id="3" name="Tabla 4">
            <a:extLst>
              <a:ext uri="{FF2B5EF4-FFF2-40B4-BE49-F238E27FC236}">
                <a16:creationId xmlns:a16="http://schemas.microsoft.com/office/drawing/2014/main" id="{CC206279-1625-4F3C-99B8-4264B7AE43F8}"/>
              </a:ext>
            </a:extLst>
          </p:cNvPr>
          <p:cNvGraphicFramePr>
            <a:graphicFrameLocks noGrp="1"/>
          </p:cNvGraphicFramePr>
          <p:nvPr>
            <p:extLst>
              <p:ext uri="{D42A27DB-BD31-4B8C-83A1-F6EECF244321}">
                <p14:modId xmlns:p14="http://schemas.microsoft.com/office/powerpoint/2010/main" val="355557955"/>
              </p:ext>
            </p:extLst>
          </p:nvPr>
        </p:nvGraphicFramePr>
        <p:xfrm>
          <a:off x="2032000" y="3752087"/>
          <a:ext cx="8128000" cy="249428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262724162"/>
                    </a:ext>
                  </a:extLst>
                </a:gridCol>
                <a:gridCol w="2032000">
                  <a:extLst>
                    <a:ext uri="{9D8B030D-6E8A-4147-A177-3AD203B41FA5}">
                      <a16:colId xmlns:a16="http://schemas.microsoft.com/office/drawing/2014/main" val="69187641"/>
                    </a:ext>
                  </a:extLst>
                </a:gridCol>
                <a:gridCol w="2032000">
                  <a:extLst>
                    <a:ext uri="{9D8B030D-6E8A-4147-A177-3AD203B41FA5}">
                      <a16:colId xmlns:a16="http://schemas.microsoft.com/office/drawing/2014/main" val="867681845"/>
                    </a:ext>
                  </a:extLst>
                </a:gridCol>
                <a:gridCol w="2032000">
                  <a:extLst>
                    <a:ext uri="{9D8B030D-6E8A-4147-A177-3AD203B41FA5}">
                      <a16:colId xmlns:a16="http://schemas.microsoft.com/office/drawing/2014/main" val="3581507008"/>
                    </a:ext>
                  </a:extLst>
                </a:gridCol>
              </a:tblGrid>
              <a:tr h="370840">
                <a:tc>
                  <a:txBody>
                    <a:bodyPr/>
                    <a:lstStyle/>
                    <a:p>
                      <a:r>
                        <a:rPr lang="es-AR" dirty="0"/>
                        <a:t>PRODUCTO</a:t>
                      </a:r>
                    </a:p>
                  </a:txBody>
                  <a:tcPr/>
                </a:tc>
                <a:tc>
                  <a:txBody>
                    <a:bodyPr/>
                    <a:lstStyle/>
                    <a:p>
                      <a:r>
                        <a:rPr lang="es-AR" dirty="0"/>
                        <a:t>VOLUMEN DE PRODUCCION</a:t>
                      </a:r>
                    </a:p>
                  </a:txBody>
                  <a:tcPr/>
                </a:tc>
                <a:tc>
                  <a:txBody>
                    <a:bodyPr/>
                    <a:lstStyle/>
                    <a:p>
                      <a:r>
                        <a:rPr lang="es-AR" dirty="0"/>
                        <a:t>PRECIO DE VENTA UNITARIO</a:t>
                      </a:r>
                    </a:p>
                  </a:txBody>
                  <a:tcPr/>
                </a:tc>
                <a:tc>
                  <a:txBody>
                    <a:bodyPr/>
                    <a:lstStyle/>
                    <a:p>
                      <a:r>
                        <a:rPr lang="es-AR" dirty="0"/>
                        <a:t>FORMA DE ENTREGA</a:t>
                      </a:r>
                    </a:p>
                  </a:txBody>
                  <a:tcPr/>
                </a:tc>
                <a:extLst>
                  <a:ext uri="{0D108BD9-81ED-4DB2-BD59-A6C34878D82A}">
                    <a16:rowId xmlns:a16="http://schemas.microsoft.com/office/drawing/2014/main" val="4200999328"/>
                  </a:ext>
                </a:extLst>
              </a:tr>
              <a:tr h="370840">
                <a:tc>
                  <a:txBody>
                    <a:bodyPr/>
                    <a:lstStyle/>
                    <a:p>
                      <a:r>
                        <a:rPr lang="es-AR" dirty="0"/>
                        <a:t>1</a:t>
                      </a:r>
                    </a:p>
                  </a:txBody>
                  <a:tcPr/>
                </a:tc>
                <a:tc>
                  <a:txBody>
                    <a:bodyPr/>
                    <a:lstStyle/>
                    <a:p>
                      <a:r>
                        <a:rPr lang="es-AR" dirty="0"/>
                        <a:t>6.000 kg</a:t>
                      </a:r>
                    </a:p>
                  </a:txBody>
                  <a:tcPr/>
                </a:tc>
                <a:tc>
                  <a:txBody>
                    <a:bodyPr/>
                    <a:lstStyle/>
                    <a:p>
                      <a:r>
                        <a:rPr lang="es-AR" dirty="0"/>
                        <a:t>5,5 $/kg</a:t>
                      </a:r>
                    </a:p>
                  </a:txBody>
                  <a:tcPr/>
                </a:tc>
                <a:tc>
                  <a:txBody>
                    <a:bodyPr/>
                    <a:lstStyle/>
                    <a:p>
                      <a:r>
                        <a:rPr lang="es-AR" dirty="0"/>
                        <a:t>Bolsas de 20 kg</a:t>
                      </a:r>
                    </a:p>
                  </a:txBody>
                  <a:tcPr/>
                </a:tc>
                <a:extLst>
                  <a:ext uri="{0D108BD9-81ED-4DB2-BD59-A6C34878D82A}">
                    <a16:rowId xmlns:a16="http://schemas.microsoft.com/office/drawing/2014/main" val="2225529863"/>
                  </a:ext>
                </a:extLst>
              </a:tr>
              <a:tr h="370840">
                <a:tc>
                  <a:txBody>
                    <a:bodyPr/>
                    <a:lstStyle/>
                    <a:p>
                      <a:r>
                        <a:rPr lang="es-AR" dirty="0"/>
                        <a:t>2</a:t>
                      </a:r>
                    </a:p>
                  </a:txBody>
                  <a:tcPr/>
                </a:tc>
                <a:tc>
                  <a:txBody>
                    <a:bodyPr/>
                    <a:lstStyle/>
                    <a:p>
                      <a:r>
                        <a:rPr lang="es-AR" dirty="0"/>
                        <a:t>3.000 kg</a:t>
                      </a:r>
                    </a:p>
                  </a:txBody>
                  <a:tcPr/>
                </a:tc>
                <a:tc>
                  <a:txBody>
                    <a:bodyPr/>
                    <a:lstStyle/>
                    <a:p>
                      <a:r>
                        <a:rPr lang="es-AR" dirty="0"/>
                        <a:t>6 $/kg</a:t>
                      </a:r>
                    </a:p>
                  </a:txBody>
                  <a:tcPr/>
                </a:tc>
                <a:tc>
                  <a:txBody>
                    <a:bodyPr/>
                    <a:lstStyle/>
                    <a:p>
                      <a:r>
                        <a:rPr lang="es-AR" dirty="0"/>
                        <a:t>A granel</a:t>
                      </a:r>
                    </a:p>
                  </a:txBody>
                  <a:tcPr/>
                </a:tc>
                <a:extLst>
                  <a:ext uri="{0D108BD9-81ED-4DB2-BD59-A6C34878D82A}">
                    <a16:rowId xmlns:a16="http://schemas.microsoft.com/office/drawing/2014/main" val="1491562065"/>
                  </a:ext>
                </a:extLst>
              </a:tr>
              <a:tr h="370840">
                <a:tc>
                  <a:txBody>
                    <a:bodyPr/>
                    <a:lstStyle/>
                    <a:p>
                      <a:r>
                        <a:rPr lang="es-AR" dirty="0"/>
                        <a:t>3</a:t>
                      </a:r>
                    </a:p>
                  </a:txBody>
                  <a:tcPr/>
                </a:tc>
                <a:tc>
                  <a:txBody>
                    <a:bodyPr/>
                    <a:lstStyle/>
                    <a:p>
                      <a:r>
                        <a:rPr lang="es-AR" dirty="0"/>
                        <a:t>5.000 kg</a:t>
                      </a:r>
                    </a:p>
                  </a:txBody>
                  <a:tcPr/>
                </a:tc>
                <a:tc>
                  <a:txBody>
                    <a:bodyPr/>
                    <a:lstStyle/>
                    <a:p>
                      <a:r>
                        <a:rPr lang="es-AR" dirty="0"/>
                        <a:t>4 $/kg</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AR" dirty="0"/>
                        <a:t>A granel</a:t>
                      </a:r>
                    </a:p>
                  </a:txBody>
                  <a:tcPr/>
                </a:tc>
                <a:extLst>
                  <a:ext uri="{0D108BD9-81ED-4DB2-BD59-A6C34878D82A}">
                    <a16:rowId xmlns:a16="http://schemas.microsoft.com/office/drawing/2014/main" val="1439927879"/>
                  </a:ext>
                </a:extLst>
              </a:tr>
              <a:tr h="370840">
                <a:tc>
                  <a:txBody>
                    <a:bodyPr/>
                    <a:lstStyle/>
                    <a:p>
                      <a:r>
                        <a:rPr lang="es-AR" dirty="0" err="1"/>
                        <a:t>Subprod</a:t>
                      </a:r>
                      <a:r>
                        <a:rPr lang="es-AR" dirty="0"/>
                        <a:t>. XXX</a:t>
                      </a:r>
                    </a:p>
                  </a:txBody>
                  <a:tcPr/>
                </a:tc>
                <a:tc>
                  <a:txBody>
                    <a:bodyPr/>
                    <a:lstStyle/>
                    <a:p>
                      <a:r>
                        <a:rPr lang="es-AR" dirty="0"/>
                        <a:t>2.000 kg</a:t>
                      </a:r>
                    </a:p>
                  </a:txBody>
                  <a:tcPr/>
                </a:tc>
                <a:tc>
                  <a:txBody>
                    <a:bodyPr/>
                    <a:lstStyle/>
                    <a:p>
                      <a:r>
                        <a:rPr lang="es-AR" dirty="0"/>
                        <a:t>0,50 $/kg</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AR" dirty="0"/>
                        <a:t>A granel</a:t>
                      </a:r>
                    </a:p>
                  </a:txBody>
                  <a:tcPr/>
                </a:tc>
                <a:extLst>
                  <a:ext uri="{0D108BD9-81ED-4DB2-BD59-A6C34878D82A}">
                    <a16:rowId xmlns:a16="http://schemas.microsoft.com/office/drawing/2014/main" val="2500453269"/>
                  </a:ext>
                </a:extLst>
              </a:tr>
              <a:tr h="370840">
                <a:tc>
                  <a:txBody>
                    <a:bodyPr/>
                    <a:lstStyle/>
                    <a:p>
                      <a:r>
                        <a:rPr lang="es-AR" dirty="0" err="1"/>
                        <a:t>Subprod</a:t>
                      </a:r>
                      <a:r>
                        <a:rPr lang="es-AR" dirty="0"/>
                        <a:t>. YYY</a:t>
                      </a:r>
                    </a:p>
                  </a:txBody>
                  <a:tcPr/>
                </a:tc>
                <a:tc>
                  <a:txBody>
                    <a:bodyPr/>
                    <a:lstStyle/>
                    <a:p>
                      <a:r>
                        <a:rPr lang="es-AR" dirty="0"/>
                        <a:t>1.000 kg</a:t>
                      </a:r>
                    </a:p>
                  </a:txBody>
                  <a:tcPr/>
                </a:tc>
                <a:tc>
                  <a:txBody>
                    <a:bodyPr/>
                    <a:lstStyle/>
                    <a:p>
                      <a:r>
                        <a:rPr lang="es-AR" dirty="0"/>
                        <a:t>0,20 $/kg</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AR" dirty="0"/>
                        <a:t>A granel</a:t>
                      </a:r>
                    </a:p>
                  </a:txBody>
                  <a:tcPr/>
                </a:tc>
                <a:extLst>
                  <a:ext uri="{0D108BD9-81ED-4DB2-BD59-A6C34878D82A}">
                    <a16:rowId xmlns:a16="http://schemas.microsoft.com/office/drawing/2014/main" val="659925905"/>
                  </a:ext>
                </a:extLst>
              </a:tr>
            </a:tbl>
          </a:graphicData>
        </a:graphic>
      </p:graphicFrame>
    </p:spTree>
    <p:extLst>
      <p:ext uri="{BB962C8B-B14F-4D97-AF65-F5344CB8AC3E}">
        <p14:creationId xmlns:p14="http://schemas.microsoft.com/office/powerpoint/2010/main" val="845185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26</a:t>
            </a:fld>
            <a:endParaRPr lang="en-US" dirty="0"/>
          </a:p>
        </p:txBody>
      </p:sp>
      <p:sp>
        <p:nvSpPr>
          <p:cNvPr id="10" name="Rectangle 5">
            <a:extLst>
              <a:ext uri="{FF2B5EF4-FFF2-40B4-BE49-F238E27FC236}">
                <a16:creationId xmlns:a16="http://schemas.microsoft.com/office/drawing/2014/main" id="{0617C31E-8DEC-4B24-9FF1-4AA10026F6E9}"/>
              </a:ext>
            </a:extLst>
          </p:cNvPr>
          <p:cNvSpPr>
            <a:spLocks noChangeArrowheads="1"/>
          </p:cNvSpPr>
          <p:nvPr/>
        </p:nvSpPr>
        <p:spPr bwMode="auto">
          <a:xfrm>
            <a:off x="1311579" y="1476521"/>
            <a:ext cx="9777413" cy="516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latin typeface="+mj-lt"/>
              </a:rPr>
              <a:t>CONTABILIDAD DE SUBPRODUCTOS</a:t>
            </a:r>
            <a:endParaRPr lang="es-ES" altLang="es-AR" sz="2000" b="1" dirty="0">
              <a:latin typeface="+mj-lt"/>
            </a:endParaRPr>
          </a:p>
        </p:txBody>
      </p:sp>
      <p:sp>
        <p:nvSpPr>
          <p:cNvPr id="6" name="Rectangle 18">
            <a:extLst>
              <a:ext uri="{FF2B5EF4-FFF2-40B4-BE49-F238E27FC236}">
                <a16:creationId xmlns:a16="http://schemas.microsoft.com/office/drawing/2014/main" id="{C9DC4B35-D3F3-4EB4-A3A9-5C21BE246994}"/>
              </a:ext>
            </a:extLst>
          </p:cNvPr>
          <p:cNvSpPr>
            <a:spLocks noChangeArrowheads="1"/>
          </p:cNvSpPr>
          <p:nvPr/>
        </p:nvSpPr>
        <p:spPr bwMode="auto">
          <a:xfrm>
            <a:off x="1088136" y="2349500"/>
            <a:ext cx="10383886"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endParaRPr lang="es-ES" altLang="es-AR" sz="2000" dirty="0">
              <a:latin typeface="+mj-lt"/>
            </a:endParaRPr>
          </a:p>
        </p:txBody>
      </p:sp>
      <p:sp>
        <p:nvSpPr>
          <p:cNvPr id="7" name="Rectangle 19">
            <a:extLst>
              <a:ext uri="{FF2B5EF4-FFF2-40B4-BE49-F238E27FC236}">
                <a16:creationId xmlns:a16="http://schemas.microsoft.com/office/drawing/2014/main" id="{9E6DD231-FA32-42DF-B0CA-C5F0B1F83409}"/>
              </a:ext>
            </a:extLst>
          </p:cNvPr>
          <p:cNvSpPr>
            <a:spLocks noChangeArrowheads="1"/>
          </p:cNvSpPr>
          <p:nvPr/>
        </p:nvSpPr>
        <p:spPr bwMode="auto">
          <a:xfrm>
            <a:off x="1566021" y="4036726"/>
            <a:ext cx="9906001" cy="165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endParaRPr lang="es-ES" altLang="es-AR" sz="2000" dirty="0">
              <a:latin typeface="+mj-lt"/>
            </a:endParaRPr>
          </a:p>
        </p:txBody>
      </p:sp>
      <p:sp>
        <p:nvSpPr>
          <p:cNvPr id="8" name="Rectangle 6">
            <a:extLst>
              <a:ext uri="{FF2B5EF4-FFF2-40B4-BE49-F238E27FC236}">
                <a16:creationId xmlns:a16="http://schemas.microsoft.com/office/drawing/2014/main" id="{E811F85B-4B90-4517-B376-B13A77E2D926}"/>
              </a:ext>
            </a:extLst>
          </p:cNvPr>
          <p:cNvSpPr>
            <a:spLocks noChangeArrowheads="1"/>
          </p:cNvSpPr>
          <p:nvPr/>
        </p:nvSpPr>
        <p:spPr bwMode="auto">
          <a:xfrm>
            <a:off x="1474471" y="2092039"/>
            <a:ext cx="9777413" cy="476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a:defRPr/>
            </a:pPr>
            <a:r>
              <a:rPr lang="es-ES" altLang="es-AR" sz="2000" dirty="0">
                <a:latin typeface="+mj-lt"/>
              </a:rPr>
              <a:t>Los costos conjuntos incurridos para la producción conjunta son los siguientes:</a:t>
            </a:r>
            <a:endParaRPr lang="es-ES" altLang="es-AR" sz="2600" dirty="0"/>
          </a:p>
        </p:txBody>
      </p:sp>
      <p:graphicFrame>
        <p:nvGraphicFramePr>
          <p:cNvPr id="13" name="Tabla 13">
            <a:extLst>
              <a:ext uri="{FF2B5EF4-FFF2-40B4-BE49-F238E27FC236}">
                <a16:creationId xmlns:a16="http://schemas.microsoft.com/office/drawing/2014/main" id="{5FF7DC37-B939-4B70-A69F-2A34F4321F54}"/>
              </a:ext>
            </a:extLst>
          </p:cNvPr>
          <p:cNvGraphicFramePr>
            <a:graphicFrameLocks noGrp="1"/>
          </p:cNvGraphicFramePr>
          <p:nvPr>
            <p:extLst>
              <p:ext uri="{D42A27DB-BD31-4B8C-83A1-F6EECF244321}">
                <p14:modId xmlns:p14="http://schemas.microsoft.com/office/powerpoint/2010/main" val="99103199"/>
              </p:ext>
            </p:extLst>
          </p:nvPr>
        </p:nvGraphicFramePr>
        <p:xfrm>
          <a:off x="2032000" y="3189986"/>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951652521"/>
                    </a:ext>
                  </a:extLst>
                </a:gridCol>
                <a:gridCol w="2709333">
                  <a:extLst>
                    <a:ext uri="{9D8B030D-6E8A-4147-A177-3AD203B41FA5}">
                      <a16:colId xmlns:a16="http://schemas.microsoft.com/office/drawing/2014/main" val="638495354"/>
                    </a:ext>
                  </a:extLst>
                </a:gridCol>
                <a:gridCol w="2709333">
                  <a:extLst>
                    <a:ext uri="{9D8B030D-6E8A-4147-A177-3AD203B41FA5}">
                      <a16:colId xmlns:a16="http://schemas.microsoft.com/office/drawing/2014/main" val="3638075242"/>
                    </a:ext>
                  </a:extLst>
                </a:gridCol>
              </a:tblGrid>
              <a:tr h="370840">
                <a:tc>
                  <a:txBody>
                    <a:bodyPr/>
                    <a:lstStyle/>
                    <a:p>
                      <a:pPr algn="ctr"/>
                      <a:r>
                        <a:rPr lang="es-AR" dirty="0"/>
                        <a:t>DENOMINACION</a:t>
                      </a:r>
                    </a:p>
                  </a:txBody>
                  <a:tcPr/>
                </a:tc>
                <a:tc>
                  <a:txBody>
                    <a:bodyPr/>
                    <a:lstStyle/>
                    <a:p>
                      <a:pPr algn="ctr"/>
                      <a:r>
                        <a:rPr lang="es-AR" dirty="0"/>
                        <a:t>CANTIDAD </a:t>
                      </a:r>
                    </a:p>
                  </a:txBody>
                  <a:tcPr/>
                </a:tc>
                <a:tc>
                  <a:txBody>
                    <a:bodyPr/>
                    <a:lstStyle/>
                    <a:p>
                      <a:pPr algn="ctr"/>
                      <a:r>
                        <a:rPr lang="es-AR" dirty="0"/>
                        <a:t>COSTO</a:t>
                      </a:r>
                    </a:p>
                  </a:txBody>
                  <a:tcPr/>
                </a:tc>
                <a:extLst>
                  <a:ext uri="{0D108BD9-81ED-4DB2-BD59-A6C34878D82A}">
                    <a16:rowId xmlns:a16="http://schemas.microsoft.com/office/drawing/2014/main" val="2607887091"/>
                  </a:ext>
                </a:extLst>
              </a:tr>
              <a:tr h="370840">
                <a:tc>
                  <a:txBody>
                    <a:bodyPr/>
                    <a:lstStyle/>
                    <a:p>
                      <a:pPr algn="ctr"/>
                      <a:r>
                        <a:rPr lang="es-AR" dirty="0"/>
                        <a:t>MP E1</a:t>
                      </a:r>
                    </a:p>
                  </a:txBody>
                  <a:tcPr/>
                </a:tc>
                <a:tc>
                  <a:txBody>
                    <a:bodyPr/>
                    <a:lstStyle/>
                    <a:p>
                      <a:pPr algn="ctr"/>
                      <a:r>
                        <a:rPr lang="es-AR" dirty="0"/>
                        <a:t>15.000 kg</a:t>
                      </a:r>
                    </a:p>
                  </a:txBody>
                  <a:tcPr/>
                </a:tc>
                <a:tc>
                  <a:txBody>
                    <a:bodyPr/>
                    <a:lstStyle/>
                    <a:p>
                      <a:pPr algn="ctr"/>
                      <a:r>
                        <a:rPr lang="es-AR" dirty="0"/>
                        <a:t>2 $/kg</a:t>
                      </a:r>
                    </a:p>
                  </a:txBody>
                  <a:tcPr/>
                </a:tc>
                <a:extLst>
                  <a:ext uri="{0D108BD9-81ED-4DB2-BD59-A6C34878D82A}">
                    <a16:rowId xmlns:a16="http://schemas.microsoft.com/office/drawing/2014/main" val="1703933201"/>
                  </a:ext>
                </a:extLst>
              </a:tr>
              <a:tr h="370840">
                <a:tc>
                  <a:txBody>
                    <a:bodyPr/>
                    <a:lstStyle/>
                    <a:p>
                      <a:pPr algn="ctr"/>
                      <a:r>
                        <a:rPr lang="es-AR" dirty="0"/>
                        <a:t>MP E2</a:t>
                      </a:r>
                    </a:p>
                  </a:txBody>
                  <a:tcPr/>
                </a:tc>
                <a:tc>
                  <a:txBody>
                    <a:bodyPr/>
                    <a:lstStyle/>
                    <a:p>
                      <a:pPr algn="ctr"/>
                      <a:r>
                        <a:rPr lang="es-AR" dirty="0"/>
                        <a:t>2.200 kg</a:t>
                      </a:r>
                    </a:p>
                  </a:txBody>
                  <a:tcPr/>
                </a:tc>
                <a:tc>
                  <a:txBody>
                    <a:bodyPr/>
                    <a:lstStyle/>
                    <a:p>
                      <a:pPr algn="ctr"/>
                      <a:r>
                        <a:rPr lang="es-AR" dirty="0"/>
                        <a:t>4,2 $/kg</a:t>
                      </a:r>
                    </a:p>
                  </a:txBody>
                  <a:tcPr/>
                </a:tc>
                <a:extLst>
                  <a:ext uri="{0D108BD9-81ED-4DB2-BD59-A6C34878D82A}">
                    <a16:rowId xmlns:a16="http://schemas.microsoft.com/office/drawing/2014/main" val="1824230135"/>
                  </a:ext>
                </a:extLst>
              </a:tr>
              <a:tr h="370840">
                <a:tc>
                  <a:txBody>
                    <a:bodyPr/>
                    <a:lstStyle/>
                    <a:p>
                      <a:pPr algn="ctr"/>
                      <a:r>
                        <a:rPr lang="es-AR" dirty="0"/>
                        <a:t>MOD</a:t>
                      </a:r>
                    </a:p>
                  </a:txBody>
                  <a:tcPr/>
                </a:tc>
                <a:tc>
                  <a:txBody>
                    <a:bodyPr/>
                    <a:lstStyle/>
                    <a:p>
                      <a:pPr algn="ctr"/>
                      <a:r>
                        <a:rPr lang="es-AR" dirty="0"/>
                        <a:t>$5.500</a:t>
                      </a:r>
                    </a:p>
                  </a:txBody>
                  <a:tcPr/>
                </a:tc>
                <a:tc>
                  <a:txBody>
                    <a:bodyPr/>
                    <a:lstStyle/>
                    <a:p>
                      <a:pPr algn="ctr"/>
                      <a:r>
                        <a:rPr lang="es-AR" dirty="0"/>
                        <a:t>$ 5.500</a:t>
                      </a:r>
                    </a:p>
                  </a:txBody>
                  <a:tcPr/>
                </a:tc>
                <a:extLst>
                  <a:ext uri="{0D108BD9-81ED-4DB2-BD59-A6C34878D82A}">
                    <a16:rowId xmlns:a16="http://schemas.microsoft.com/office/drawing/2014/main" val="3476657773"/>
                  </a:ext>
                </a:extLst>
              </a:tr>
              <a:tr h="370840">
                <a:tc>
                  <a:txBody>
                    <a:bodyPr/>
                    <a:lstStyle/>
                    <a:p>
                      <a:pPr algn="ctr"/>
                      <a:r>
                        <a:rPr lang="es-AR" dirty="0"/>
                        <a:t>GIF</a:t>
                      </a:r>
                    </a:p>
                  </a:txBody>
                  <a:tcPr/>
                </a:tc>
                <a:tc>
                  <a:txBody>
                    <a:bodyPr/>
                    <a:lstStyle/>
                    <a:p>
                      <a:pPr algn="ctr"/>
                      <a:r>
                        <a:rPr lang="es-AR" dirty="0"/>
                        <a:t>$16.460</a:t>
                      </a:r>
                    </a:p>
                  </a:txBody>
                  <a:tcPr/>
                </a:tc>
                <a:tc>
                  <a:txBody>
                    <a:bodyPr/>
                    <a:lstStyle/>
                    <a:p>
                      <a:pPr algn="ctr"/>
                      <a:r>
                        <a:rPr lang="es-AR" dirty="0"/>
                        <a:t>$ 16.460</a:t>
                      </a:r>
                    </a:p>
                  </a:txBody>
                  <a:tcPr/>
                </a:tc>
                <a:extLst>
                  <a:ext uri="{0D108BD9-81ED-4DB2-BD59-A6C34878D82A}">
                    <a16:rowId xmlns:a16="http://schemas.microsoft.com/office/drawing/2014/main" val="3414521718"/>
                  </a:ext>
                </a:extLst>
              </a:tr>
            </a:tbl>
          </a:graphicData>
        </a:graphic>
      </p:graphicFrame>
    </p:spTree>
    <p:extLst>
      <p:ext uri="{BB962C8B-B14F-4D97-AF65-F5344CB8AC3E}">
        <p14:creationId xmlns:p14="http://schemas.microsoft.com/office/powerpoint/2010/main" val="2184431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P spid="7"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BDB592-79F7-4991-88AD-C8C98831CC77}"/>
              </a:ext>
            </a:extLst>
          </p:cNvPr>
          <p:cNvSpPr>
            <a:spLocks noGrp="1"/>
          </p:cNvSpPr>
          <p:nvPr>
            <p:ph type="title"/>
          </p:nvPr>
        </p:nvSpPr>
        <p:spPr>
          <a:xfrm>
            <a:off x="2592925" y="624110"/>
            <a:ext cx="8911687" cy="640486"/>
          </a:xfrm>
        </p:spPr>
        <p:txBody>
          <a:bodyPr/>
          <a:lstStyle/>
          <a:p>
            <a:r>
              <a:rPr lang="es-AR" b="1" dirty="0"/>
              <a:t>PRODUCCION CONJUNTA</a:t>
            </a:r>
          </a:p>
        </p:txBody>
      </p:sp>
      <p:sp>
        <p:nvSpPr>
          <p:cNvPr id="4" name="Marcador de número de diapositiva 3">
            <a:extLst>
              <a:ext uri="{FF2B5EF4-FFF2-40B4-BE49-F238E27FC236}">
                <a16:creationId xmlns:a16="http://schemas.microsoft.com/office/drawing/2014/main" id="{0899A285-4B32-4A8F-B343-17ECD1EEF15D}"/>
              </a:ext>
            </a:extLst>
          </p:cNvPr>
          <p:cNvSpPr>
            <a:spLocks noGrp="1"/>
          </p:cNvSpPr>
          <p:nvPr>
            <p:ph type="sldNum" sz="quarter" idx="12"/>
          </p:nvPr>
        </p:nvSpPr>
        <p:spPr/>
        <p:txBody>
          <a:bodyPr/>
          <a:lstStyle/>
          <a:p>
            <a:fld id="{D57F1E4F-1CFF-5643-939E-217C01CDF565}" type="slidenum">
              <a:rPr lang="en-US" smtClean="0"/>
              <a:pPr/>
              <a:t>27</a:t>
            </a:fld>
            <a:endParaRPr lang="en-US" dirty="0"/>
          </a:p>
        </p:txBody>
      </p:sp>
      <p:sp>
        <p:nvSpPr>
          <p:cNvPr id="10" name="Rectangle 5">
            <a:extLst>
              <a:ext uri="{FF2B5EF4-FFF2-40B4-BE49-F238E27FC236}">
                <a16:creationId xmlns:a16="http://schemas.microsoft.com/office/drawing/2014/main" id="{0617C31E-8DEC-4B24-9FF1-4AA10026F6E9}"/>
              </a:ext>
            </a:extLst>
          </p:cNvPr>
          <p:cNvSpPr>
            <a:spLocks noChangeArrowheads="1"/>
          </p:cNvSpPr>
          <p:nvPr/>
        </p:nvSpPr>
        <p:spPr bwMode="auto">
          <a:xfrm>
            <a:off x="1311579" y="1476521"/>
            <a:ext cx="9777413" cy="516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anose="020B0604020202020204" pitchFamily="34" charset="0"/>
                <a:cs typeface="Arial" panose="020B0604020202020204" pitchFamily="34" charset="0"/>
              </a:defRPr>
            </a:lvl1pPr>
            <a:lvl2pPr marL="1176338" indent="-285750">
              <a:defRPr>
                <a:solidFill>
                  <a:schemeClr val="tx1"/>
                </a:solidFill>
                <a:latin typeface="Arial" panose="020B0604020202020204" pitchFamily="34" charset="0"/>
                <a:cs typeface="Arial" panose="020B0604020202020204" pitchFamily="34" charset="0"/>
              </a:defRPr>
            </a:lvl2pPr>
            <a:lvl3pPr marL="1584325" indent="-228600">
              <a:defRPr>
                <a:solidFill>
                  <a:schemeClr val="tx1"/>
                </a:solidFill>
                <a:latin typeface="Arial" panose="020B0604020202020204" pitchFamily="34" charset="0"/>
                <a:cs typeface="Arial" panose="020B0604020202020204" pitchFamily="34" charset="0"/>
              </a:defRPr>
            </a:lvl3pPr>
            <a:lvl4pPr marL="1992313" indent="-228600">
              <a:defRPr>
                <a:solidFill>
                  <a:schemeClr val="tx1"/>
                </a:solidFill>
                <a:latin typeface="Arial" panose="020B0604020202020204" pitchFamily="34" charset="0"/>
                <a:cs typeface="Arial" panose="020B0604020202020204" pitchFamily="34" charset="0"/>
              </a:defRPr>
            </a:lvl4pPr>
            <a:lvl5pPr marL="2400300" indent="-228600">
              <a:defRPr>
                <a:solidFill>
                  <a:schemeClr val="tx1"/>
                </a:solidFill>
                <a:latin typeface="Arial" panose="020B0604020202020204" pitchFamily="34" charset="0"/>
                <a:cs typeface="Arial" panose="020B0604020202020204" pitchFamily="34" charset="0"/>
              </a:defRPr>
            </a:lvl5pPr>
            <a:lvl6pPr marL="28575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3147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7719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2291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r>
              <a:rPr lang="es-AR" altLang="es-AR" sz="2000" b="1" dirty="0">
                <a:latin typeface="+mj-lt"/>
              </a:rPr>
              <a:t>CONTABILIDAD DE SUBPRODUCTOS</a:t>
            </a:r>
            <a:endParaRPr lang="es-ES" altLang="es-AR" sz="2000" b="1" dirty="0">
              <a:latin typeface="+mj-lt"/>
            </a:endParaRPr>
          </a:p>
        </p:txBody>
      </p:sp>
      <p:sp>
        <p:nvSpPr>
          <p:cNvPr id="6" name="Rectangle 18">
            <a:extLst>
              <a:ext uri="{FF2B5EF4-FFF2-40B4-BE49-F238E27FC236}">
                <a16:creationId xmlns:a16="http://schemas.microsoft.com/office/drawing/2014/main" id="{C9DC4B35-D3F3-4EB4-A3A9-5C21BE246994}"/>
              </a:ext>
            </a:extLst>
          </p:cNvPr>
          <p:cNvSpPr>
            <a:spLocks noChangeArrowheads="1"/>
          </p:cNvSpPr>
          <p:nvPr/>
        </p:nvSpPr>
        <p:spPr bwMode="auto">
          <a:xfrm>
            <a:off x="1088136" y="2349500"/>
            <a:ext cx="10383886" cy="215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eaLnBrk="1" hangingPunct="1">
              <a:defRPr/>
            </a:pPr>
            <a:endParaRPr lang="es-ES" altLang="es-AR" sz="2000" dirty="0">
              <a:latin typeface="+mj-lt"/>
            </a:endParaRPr>
          </a:p>
        </p:txBody>
      </p:sp>
      <p:sp>
        <p:nvSpPr>
          <p:cNvPr id="7" name="Rectangle 19">
            <a:extLst>
              <a:ext uri="{FF2B5EF4-FFF2-40B4-BE49-F238E27FC236}">
                <a16:creationId xmlns:a16="http://schemas.microsoft.com/office/drawing/2014/main" id="{9E6DD231-FA32-42DF-B0CA-C5F0B1F83409}"/>
              </a:ext>
            </a:extLst>
          </p:cNvPr>
          <p:cNvSpPr>
            <a:spLocks noChangeArrowheads="1"/>
          </p:cNvSpPr>
          <p:nvPr/>
        </p:nvSpPr>
        <p:spPr bwMode="auto">
          <a:xfrm>
            <a:off x="2592924" y="5130389"/>
            <a:ext cx="6016055" cy="696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74625">
              <a:defRPr>
                <a:solidFill>
                  <a:schemeClr val="tx1"/>
                </a:solidFill>
                <a:latin typeface="Arial" panose="020B0604020202020204" pitchFamily="34" charset="0"/>
                <a:cs typeface="Arial" panose="020B0604020202020204" pitchFamily="34" charset="0"/>
              </a:defRPr>
            </a:lvl1pPr>
            <a:lvl2pPr marL="828675" indent="-285750">
              <a:defRPr>
                <a:solidFill>
                  <a:schemeClr val="tx1"/>
                </a:solidFill>
                <a:latin typeface="Arial" panose="020B0604020202020204" pitchFamily="34" charset="0"/>
                <a:cs typeface="Arial" panose="020B0604020202020204" pitchFamily="34" charset="0"/>
              </a:defRPr>
            </a:lvl2pPr>
            <a:lvl3pPr marL="1236663" indent="-228600">
              <a:defRPr>
                <a:solidFill>
                  <a:schemeClr val="tx1"/>
                </a:solidFill>
                <a:latin typeface="Arial" panose="020B0604020202020204" pitchFamily="34" charset="0"/>
                <a:cs typeface="Arial" panose="020B0604020202020204" pitchFamily="34" charset="0"/>
              </a:defRPr>
            </a:lvl3pPr>
            <a:lvl4pPr marL="164465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spcBef>
                <a:spcPct val="20000"/>
              </a:spcBef>
            </a:pPr>
            <a:endParaRPr lang="es-ES" altLang="es-AR" sz="2000" dirty="0">
              <a:latin typeface="+mj-lt"/>
            </a:endParaRPr>
          </a:p>
        </p:txBody>
      </p:sp>
      <p:sp>
        <p:nvSpPr>
          <p:cNvPr id="8" name="Rectangle 6">
            <a:extLst>
              <a:ext uri="{FF2B5EF4-FFF2-40B4-BE49-F238E27FC236}">
                <a16:creationId xmlns:a16="http://schemas.microsoft.com/office/drawing/2014/main" id="{E811F85B-4B90-4517-B376-B13A77E2D926}"/>
              </a:ext>
            </a:extLst>
          </p:cNvPr>
          <p:cNvSpPr>
            <a:spLocks noChangeArrowheads="1"/>
          </p:cNvSpPr>
          <p:nvPr/>
        </p:nvSpPr>
        <p:spPr bwMode="auto">
          <a:xfrm>
            <a:off x="1474471" y="2092039"/>
            <a:ext cx="9777413" cy="476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ctr">
              <a:spcBef>
                <a:spcPct val="20000"/>
              </a:spcBef>
              <a:defRPr sz="3200">
                <a:solidFill>
                  <a:schemeClr val="tx1"/>
                </a:solidFill>
                <a:latin typeface="Arial" charset="0"/>
                <a:cs typeface="Arial" charset="0"/>
              </a:defRPr>
            </a:lvl1pPr>
            <a:lvl2pPr marL="1176338" indent="-285750" algn="ctr">
              <a:spcBef>
                <a:spcPct val="20000"/>
              </a:spcBef>
              <a:defRPr sz="2800">
                <a:solidFill>
                  <a:schemeClr val="tx1"/>
                </a:solidFill>
                <a:latin typeface="Arial" charset="0"/>
                <a:cs typeface="Arial" charset="0"/>
              </a:defRPr>
            </a:lvl2pPr>
            <a:lvl3pPr marL="1584325" indent="-228600" algn="ctr">
              <a:spcBef>
                <a:spcPct val="20000"/>
              </a:spcBef>
              <a:defRPr sz="2400">
                <a:solidFill>
                  <a:schemeClr val="tx1"/>
                </a:solidFill>
                <a:latin typeface="Arial" charset="0"/>
                <a:cs typeface="Arial" charset="0"/>
              </a:defRPr>
            </a:lvl3pPr>
            <a:lvl4pPr marL="1992313" indent="-228600" algn="ctr">
              <a:spcBef>
                <a:spcPct val="20000"/>
              </a:spcBef>
              <a:defRPr sz="2000">
                <a:solidFill>
                  <a:schemeClr val="tx1"/>
                </a:solidFill>
                <a:latin typeface="Arial" charset="0"/>
                <a:cs typeface="Arial" charset="0"/>
              </a:defRPr>
            </a:lvl4pPr>
            <a:lvl5pPr marL="2400300" indent="-228600" algn="ctr">
              <a:spcBef>
                <a:spcPct val="20000"/>
              </a:spcBef>
              <a:defRPr sz="2000">
                <a:solidFill>
                  <a:schemeClr val="tx1"/>
                </a:solidFill>
                <a:latin typeface="Arial" charset="0"/>
                <a:cs typeface="Arial" charset="0"/>
              </a:defRPr>
            </a:lvl5pPr>
            <a:lvl6pPr marL="2857500" indent="-228600" algn="ctr" fontAlgn="base">
              <a:spcBef>
                <a:spcPct val="20000"/>
              </a:spcBef>
              <a:spcAft>
                <a:spcPct val="0"/>
              </a:spcAft>
              <a:defRPr sz="2000">
                <a:solidFill>
                  <a:schemeClr val="tx1"/>
                </a:solidFill>
                <a:latin typeface="Arial" charset="0"/>
                <a:cs typeface="Arial" charset="0"/>
              </a:defRPr>
            </a:lvl6pPr>
            <a:lvl7pPr marL="3314700" indent="-228600" algn="ctr" fontAlgn="base">
              <a:spcBef>
                <a:spcPct val="20000"/>
              </a:spcBef>
              <a:spcAft>
                <a:spcPct val="0"/>
              </a:spcAft>
              <a:defRPr sz="2000">
                <a:solidFill>
                  <a:schemeClr val="tx1"/>
                </a:solidFill>
                <a:latin typeface="Arial" charset="0"/>
                <a:cs typeface="Arial" charset="0"/>
              </a:defRPr>
            </a:lvl7pPr>
            <a:lvl8pPr marL="3771900" indent="-228600" algn="ctr" fontAlgn="base">
              <a:spcBef>
                <a:spcPct val="20000"/>
              </a:spcBef>
              <a:spcAft>
                <a:spcPct val="0"/>
              </a:spcAft>
              <a:defRPr sz="2000">
                <a:solidFill>
                  <a:schemeClr val="tx1"/>
                </a:solidFill>
                <a:latin typeface="Arial" charset="0"/>
                <a:cs typeface="Arial" charset="0"/>
              </a:defRPr>
            </a:lvl8pPr>
            <a:lvl9pPr marL="4229100" indent="-228600" algn="ctr" fontAlgn="base">
              <a:spcBef>
                <a:spcPct val="20000"/>
              </a:spcBef>
              <a:spcAft>
                <a:spcPct val="0"/>
              </a:spcAft>
              <a:defRPr sz="2000">
                <a:solidFill>
                  <a:schemeClr val="tx1"/>
                </a:solidFill>
                <a:latin typeface="Arial" charset="0"/>
                <a:cs typeface="Arial" charset="0"/>
              </a:defRPr>
            </a:lvl9pPr>
          </a:lstStyle>
          <a:p>
            <a:pPr algn="just">
              <a:defRPr/>
            </a:pPr>
            <a:r>
              <a:rPr lang="es-ES" altLang="es-AR" sz="2000" dirty="0">
                <a:latin typeface="+mj-lt"/>
              </a:rPr>
              <a:t>El proceso “A” después del punto de separación será :</a:t>
            </a:r>
            <a:endParaRPr lang="es-ES" altLang="es-AR" sz="2600" dirty="0"/>
          </a:p>
        </p:txBody>
      </p:sp>
      <p:graphicFrame>
        <p:nvGraphicFramePr>
          <p:cNvPr id="13" name="Tabla 13">
            <a:extLst>
              <a:ext uri="{FF2B5EF4-FFF2-40B4-BE49-F238E27FC236}">
                <a16:creationId xmlns:a16="http://schemas.microsoft.com/office/drawing/2014/main" id="{5FF7DC37-B939-4B70-A69F-2A34F4321F54}"/>
              </a:ext>
            </a:extLst>
          </p:cNvPr>
          <p:cNvGraphicFramePr>
            <a:graphicFrameLocks noGrp="1"/>
          </p:cNvGraphicFramePr>
          <p:nvPr>
            <p:extLst>
              <p:ext uri="{D42A27DB-BD31-4B8C-83A1-F6EECF244321}">
                <p14:modId xmlns:p14="http://schemas.microsoft.com/office/powerpoint/2010/main" val="2461888006"/>
              </p:ext>
            </p:extLst>
          </p:nvPr>
        </p:nvGraphicFramePr>
        <p:xfrm>
          <a:off x="2032000" y="3189986"/>
          <a:ext cx="8127999" cy="14833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951652521"/>
                    </a:ext>
                  </a:extLst>
                </a:gridCol>
                <a:gridCol w="2709333">
                  <a:extLst>
                    <a:ext uri="{9D8B030D-6E8A-4147-A177-3AD203B41FA5}">
                      <a16:colId xmlns:a16="http://schemas.microsoft.com/office/drawing/2014/main" val="638495354"/>
                    </a:ext>
                  </a:extLst>
                </a:gridCol>
                <a:gridCol w="2709333">
                  <a:extLst>
                    <a:ext uri="{9D8B030D-6E8A-4147-A177-3AD203B41FA5}">
                      <a16:colId xmlns:a16="http://schemas.microsoft.com/office/drawing/2014/main" val="3638075242"/>
                    </a:ext>
                  </a:extLst>
                </a:gridCol>
              </a:tblGrid>
              <a:tr h="370840">
                <a:tc>
                  <a:txBody>
                    <a:bodyPr/>
                    <a:lstStyle/>
                    <a:p>
                      <a:pPr algn="ctr"/>
                      <a:r>
                        <a:rPr lang="es-AR" dirty="0"/>
                        <a:t>DENOMINACION</a:t>
                      </a:r>
                    </a:p>
                  </a:txBody>
                  <a:tcPr/>
                </a:tc>
                <a:tc>
                  <a:txBody>
                    <a:bodyPr/>
                    <a:lstStyle/>
                    <a:p>
                      <a:pPr algn="ctr"/>
                      <a:r>
                        <a:rPr lang="es-AR" dirty="0"/>
                        <a:t>CANTIDAD </a:t>
                      </a:r>
                    </a:p>
                  </a:txBody>
                  <a:tcPr/>
                </a:tc>
                <a:tc>
                  <a:txBody>
                    <a:bodyPr/>
                    <a:lstStyle/>
                    <a:p>
                      <a:pPr algn="ctr"/>
                      <a:r>
                        <a:rPr lang="es-AR" dirty="0"/>
                        <a:t>COSTO</a:t>
                      </a:r>
                    </a:p>
                  </a:txBody>
                  <a:tcPr/>
                </a:tc>
                <a:extLst>
                  <a:ext uri="{0D108BD9-81ED-4DB2-BD59-A6C34878D82A}">
                    <a16:rowId xmlns:a16="http://schemas.microsoft.com/office/drawing/2014/main" val="2607887091"/>
                  </a:ext>
                </a:extLst>
              </a:tr>
              <a:tr h="370840">
                <a:tc>
                  <a:txBody>
                    <a:bodyPr/>
                    <a:lstStyle/>
                    <a:p>
                      <a:pPr algn="ctr"/>
                      <a:r>
                        <a:rPr lang="es-AR" dirty="0"/>
                        <a:t>MP (bolsas)</a:t>
                      </a:r>
                    </a:p>
                  </a:txBody>
                  <a:tcPr/>
                </a:tc>
                <a:tc>
                  <a:txBody>
                    <a:bodyPr/>
                    <a:lstStyle/>
                    <a:p>
                      <a:pPr algn="ctr"/>
                      <a:endParaRPr lang="es-AR" dirty="0"/>
                    </a:p>
                  </a:txBody>
                  <a:tcPr/>
                </a:tc>
                <a:tc>
                  <a:txBody>
                    <a:bodyPr/>
                    <a:lstStyle/>
                    <a:p>
                      <a:pPr algn="ctr"/>
                      <a:r>
                        <a:rPr lang="es-AR" dirty="0"/>
                        <a:t>1 $/bolsa</a:t>
                      </a:r>
                    </a:p>
                  </a:txBody>
                  <a:tcPr/>
                </a:tc>
                <a:extLst>
                  <a:ext uri="{0D108BD9-81ED-4DB2-BD59-A6C34878D82A}">
                    <a16:rowId xmlns:a16="http://schemas.microsoft.com/office/drawing/2014/main" val="1703933201"/>
                  </a:ext>
                </a:extLst>
              </a:tr>
              <a:tr h="370840">
                <a:tc>
                  <a:txBody>
                    <a:bodyPr/>
                    <a:lstStyle/>
                    <a:p>
                      <a:pPr algn="ctr"/>
                      <a:r>
                        <a:rPr lang="es-AR" dirty="0"/>
                        <a:t>MOD</a:t>
                      </a:r>
                    </a:p>
                  </a:txBody>
                  <a:tcPr/>
                </a:tc>
                <a:tc>
                  <a:txBody>
                    <a:bodyPr/>
                    <a:lstStyle/>
                    <a:p>
                      <a:pPr algn="ctr"/>
                      <a:r>
                        <a:rPr lang="es-AR" dirty="0"/>
                        <a:t>300 </a:t>
                      </a:r>
                      <a:r>
                        <a:rPr lang="es-AR" dirty="0" err="1"/>
                        <a:t>hs</a:t>
                      </a:r>
                      <a:endParaRPr lang="es-AR" dirty="0"/>
                    </a:p>
                  </a:txBody>
                  <a:tcPr/>
                </a:tc>
                <a:tc>
                  <a:txBody>
                    <a:bodyPr/>
                    <a:lstStyle/>
                    <a:p>
                      <a:pPr algn="ctr"/>
                      <a:r>
                        <a:rPr lang="es-AR" dirty="0"/>
                        <a:t>6 $/</a:t>
                      </a:r>
                      <a:r>
                        <a:rPr lang="es-AR" dirty="0" err="1"/>
                        <a:t>hs</a:t>
                      </a:r>
                      <a:endParaRPr lang="es-AR" dirty="0"/>
                    </a:p>
                  </a:txBody>
                  <a:tcPr/>
                </a:tc>
                <a:extLst>
                  <a:ext uri="{0D108BD9-81ED-4DB2-BD59-A6C34878D82A}">
                    <a16:rowId xmlns:a16="http://schemas.microsoft.com/office/drawing/2014/main" val="3476657773"/>
                  </a:ext>
                </a:extLst>
              </a:tr>
              <a:tr h="370840">
                <a:tc>
                  <a:txBody>
                    <a:bodyPr/>
                    <a:lstStyle/>
                    <a:p>
                      <a:pPr algn="ctr"/>
                      <a:r>
                        <a:rPr lang="es-AR" dirty="0"/>
                        <a:t>GIF (embolsado)</a:t>
                      </a:r>
                    </a:p>
                  </a:txBody>
                  <a:tcPr/>
                </a:tc>
                <a:tc>
                  <a:txBody>
                    <a:bodyPr/>
                    <a:lstStyle/>
                    <a:p>
                      <a:pPr algn="ctr"/>
                      <a:endParaRPr lang="es-AR" dirty="0"/>
                    </a:p>
                  </a:txBody>
                  <a:tcPr/>
                </a:tc>
                <a:tc>
                  <a:txBody>
                    <a:bodyPr/>
                    <a:lstStyle/>
                    <a:p>
                      <a:pPr algn="ctr"/>
                      <a:r>
                        <a:rPr lang="es-AR" dirty="0"/>
                        <a:t>$ 900</a:t>
                      </a:r>
                    </a:p>
                  </a:txBody>
                  <a:tcPr/>
                </a:tc>
                <a:extLst>
                  <a:ext uri="{0D108BD9-81ED-4DB2-BD59-A6C34878D82A}">
                    <a16:rowId xmlns:a16="http://schemas.microsoft.com/office/drawing/2014/main" val="3414521718"/>
                  </a:ext>
                </a:extLst>
              </a:tr>
            </a:tbl>
          </a:graphicData>
        </a:graphic>
      </p:graphicFrame>
      <p:sp>
        <p:nvSpPr>
          <p:cNvPr id="3" name="CuadroTexto 2">
            <a:extLst>
              <a:ext uri="{FF2B5EF4-FFF2-40B4-BE49-F238E27FC236}">
                <a16:creationId xmlns:a16="http://schemas.microsoft.com/office/drawing/2014/main" id="{257105F3-FDD7-49B7-99F2-925D052077CB}"/>
              </a:ext>
            </a:extLst>
          </p:cNvPr>
          <p:cNvSpPr txBox="1"/>
          <p:nvPr/>
        </p:nvSpPr>
        <p:spPr>
          <a:xfrm>
            <a:off x="3665203" y="5381479"/>
            <a:ext cx="5933873" cy="369332"/>
          </a:xfrm>
          <a:prstGeom prst="rect">
            <a:avLst/>
          </a:prstGeom>
          <a:noFill/>
        </p:spPr>
        <p:txBody>
          <a:bodyPr wrap="square" rtlCol="0">
            <a:spAutoFit/>
          </a:bodyPr>
          <a:lstStyle/>
          <a:p>
            <a:r>
              <a:rPr lang="es-AR" dirty="0"/>
              <a:t>VER EXCEL “CONTABILIDAD DE SUBPRODUCTOS</a:t>
            </a:r>
          </a:p>
        </p:txBody>
      </p:sp>
    </p:spTree>
    <p:extLst>
      <p:ext uri="{BB962C8B-B14F-4D97-AF65-F5344CB8AC3E}">
        <p14:creationId xmlns:p14="http://schemas.microsoft.com/office/powerpoint/2010/main" val="3634745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P spid="7" grpId="0"/>
      <p:bldP spid="8" grpId="0"/>
    </p:bldLst>
  </p:timing>
</p:sld>
</file>

<file path=ppt/theme/theme1.xml><?xml version="1.0" encoding="utf-8"?>
<a:theme xmlns:a="http://schemas.openxmlformats.org/drawingml/2006/main" name="Espiral">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9030</TotalTime>
  <Words>1965</Words>
  <Application>Microsoft Office PowerPoint</Application>
  <PresentationFormat>Panorámica</PresentationFormat>
  <Paragraphs>273</Paragraphs>
  <Slides>27</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27</vt:i4>
      </vt:variant>
    </vt:vector>
  </HeadingPairs>
  <TitlesOfParts>
    <vt:vector size="33" baseType="lpstr">
      <vt:lpstr>Arial</vt:lpstr>
      <vt:lpstr>Calibri</vt:lpstr>
      <vt:lpstr>Century Gothic</vt:lpstr>
      <vt:lpstr>Tahoma</vt:lpstr>
      <vt:lpstr>Wingdings 3</vt:lpstr>
      <vt:lpstr>Espiral</vt:lpstr>
      <vt:lpstr>COSTOS Y PRESUPUESTOS</vt:lpstr>
      <vt:lpstr>Presentación de PowerPoint</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lpstr>PRODUCCION CONJUNTA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COSTOS Y PRESUPUESTOS</dc:title>
  <dc:creator>gustavo massucco</dc:creator>
  <cp:lastModifiedBy>gustavo massucco</cp:lastModifiedBy>
  <cp:revision>369</cp:revision>
  <dcterms:created xsi:type="dcterms:W3CDTF">2020-04-19T20:11:04Z</dcterms:created>
  <dcterms:modified xsi:type="dcterms:W3CDTF">2021-09-27T03:14:44Z</dcterms:modified>
</cp:coreProperties>
</file>