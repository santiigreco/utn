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8"/>
  </p:notesMasterIdLst>
  <p:sldIdLst>
    <p:sldId id="256" r:id="rId2"/>
    <p:sldId id="366" r:id="rId3"/>
    <p:sldId id="356" r:id="rId4"/>
    <p:sldId id="357" r:id="rId5"/>
    <p:sldId id="364" r:id="rId6"/>
    <p:sldId id="365" r:id="rId7"/>
    <p:sldId id="367" r:id="rId8"/>
    <p:sldId id="369" r:id="rId9"/>
    <p:sldId id="370" r:id="rId10"/>
    <p:sldId id="372" r:id="rId11"/>
    <p:sldId id="373" r:id="rId12"/>
    <p:sldId id="371" r:id="rId13"/>
    <p:sldId id="358" r:id="rId14"/>
    <p:sldId id="375" r:id="rId15"/>
    <p:sldId id="376" r:id="rId16"/>
    <p:sldId id="378" r:id="rId17"/>
    <p:sldId id="379" r:id="rId18"/>
    <p:sldId id="377" r:id="rId19"/>
    <p:sldId id="262" r:id="rId20"/>
    <p:sldId id="266" r:id="rId21"/>
    <p:sldId id="263" r:id="rId22"/>
    <p:sldId id="267" r:id="rId23"/>
    <p:sldId id="268" r:id="rId24"/>
    <p:sldId id="264" r:id="rId25"/>
    <p:sldId id="269" r:id="rId26"/>
    <p:sldId id="265" r:id="rId27"/>
    <p:sldId id="270" r:id="rId28"/>
    <p:sldId id="271" r:id="rId29"/>
    <p:sldId id="272" r:id="rId30"/>
    <p:sldId id="380" r:id="rId31"/>
    <p:sldId id="381" r:id="rId32"/>
    <p:sldId id="384" r:id="rId33"/>
    <p:sldId id="386" r:id="rId34"/>
    <p:sldId id="387" r:id="rId35"/>
    <p:sldId id="388" r:id="rId36"/>
    <p:sldId id="3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mina Calamante" initials="RC" lastIdx="1" clrIdx="0">
    <p:extLst>
      <p:ext uri="{19B8F6BF-5375-455C-9EA6-DF929625EA0E}">
        <p15:presenceInfo xmlns:p15="http://schemas.microsoft.com/office/powerpoint/2012/main" userId="Romina Calamante" providerId="None"/>
      </p:ext>
    </p:extLst>
  </p:cmAuthor>
  <p:cmAuthor id="2" name="gustavo massucco" initials="gm" lastIdx="1" clrIdx="1">
    <p:extLst>
      <p:ext uri="{19B8F6BF-5375-455C-9EA6-DF929625EA0E}">
        <p15:presenceInfo xmlns:p15="http://schemas.microsoft.com/office/powerpoint/2012/main" userId="S::gmassucco@frba.utn.edu.ar::1271f782-c2a0-484f-8edc-abfea8ad4a0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39" autoAdjust="0"/>
    <p:restoredTop sz="95545" autoAdjust="0"/>
  </p:normalViewPr>
  <p:slideViewPr>
    <p:cSldViewPr snapToGrid="0">
      <p:cViewPr varScale="1">
        <p:scale>
          <a:sx n="85" d="100"/>
          <a:sy n="85" d="100"/>
        </p:scale>
        <p:origin x="42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9B8A1-6640-4F38-BB4E-1E9F9C2C19B9}" type="datetimeFigureOut">
              <a:rPr lang="es-AR" smtClean="0"/>
              <a:t>19/4/2021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F97B9-2656-415E-A184-23FE4FB7E54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630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EE2AAB2-65CB-4D67-BAD3-5C8D9202A1C6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D4D5B-DD50-48B9-8403-486347AFB6DB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3D0386-E5DC-4EBB-A814-AF517805B9D3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1A7B-4D5F-4ECE-83D8-126F76342843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377B-FEE7-46DA-BCD5-55A056AA613B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19E75-FF2C-49D5-A665-0ADE60EC2095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9D4F-38AF-4CF1-B2DB-49EF040A229A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3245EC2-CADF-412E-863E-46E813BA6128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88DE-ACD6-4235-BA31-F547B3B2DFAD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68CD-B1BF-4247-80FD-9D1C3470751E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10B516-518F-4CD1-B61B-4EA5BC3EFC90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0FEEB4C-B754-4B45-9205-0B15E6E0C20A}" type="datetime1">
              <a:rPr lang="en-US" smtClean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imgres?imgurl=https%3A%2F%2Fwww.elcucodigital.com%2Fwp-content%2Fuploads%2F2018%2F06%2Fingeniero-elcuco.jpg&amp;imgrefurl=https%3A%2F%2Fwww.elcucodigital.com%2Fefemerides-cada-16-de-junio-se-conmemora-en-argentina-el-dia-del-ingeniero-2%2F&amp;docid=8BvKY3e6-NW0FM&amp;tbnid=mtRfIWqsWsb0nM%3A&amp;vet=10ahUKEwjst7HMoY7dAhVDhJAKHQ6DBOQQMwi-ASgHMAc..i&amp;w=675&amp;h=353&amp;client=safari&amp;bih=676&amp;biw=1240&amp;q=ingeniero&amp;ved=0ahUKEwjst7HMoY7dAhVDhJAKHQ6DBOQQMwi-ASgHMAc&amp;iact=mrc&amp;uact=8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nvinilo-argentina.com/vinilos-decorativos/adhesivo-medico-detalle-4723" TargetMode="External"/><Relationship Id="rId11" Type="http://schemas.openxmlformats.org/officeDocument/2006/relationships/image" Target="../media/image6.jpeg"/><Relationship Id="rId5" Type="http://schemas.openxmlformats.org/officeDocument/2006/relationships/image" Target="../media/image3.jpeg"/><Relationship Id="rId10" Type="http://schemas.openxmlformats.org/officeDocument/2006/relationships/hyperlink" Target="https://www.google.com/url?sa=i&amp;rct=j&amp;q=&amp;esrc=s&amp;source=images&amp;cd=&amp;ved=2ahUKEwj8yYKCoo7dAhUJC5AKHYRfB6UQjRx6BAgBEAU&amp;url=https%3A%2F%2Fwww.panorama.com.ve%2Fciudad%2FVenezuela-celebra-el-Dia-del-Economista-20161117-0020.html&amp;psig=AOvVaw2hf4gTQB0zyUYVecqhedGc&amp;ust=1535494791382709" TargetMode="External"/><Relationship Id="rId4" Type="http://schemas.openxmlformats.org/officeDocument/2006/relationships/hyperlink" Target="https://www.leadliaison.com/best-practices/marketing-automation-ceo-fit/" TargetMode="External"/><Relationship Id="rId9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www.agf.nl/artikel/170103/Grafiek-bevolkingsgroe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j72016.cumbresblogs.com/2016/03/16/poblacion-ii-las-piramides-de-poblacio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www.areaciencias.com/recursos-naturales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06E6-1B10-404B-9241-555AA660F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COSTOS Y PRESUPUESTOS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0CFD5-6EBA-4A5F-BB6A-F8A38D307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Ingeniero Gustavo Massucco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4190FB-1187-46FD-9AF2-9104188A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818A16B-1569-4A7B-8136-A541016F923B}"/>
              </a:ext>
            </a:extLst>
          </p:cNvPr>
          <p:cNvSpPr txBox="1"/>
          <p:nvPr/>
        </p:nvSpPr>
        <p:spPr>
          <a:xfrm>
            <a:off x="1002323" y="3429000"/>
            <a:ext cx="7666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>
                <a:solidFill>
                  <a:schemeClr val="bg1"/>
                </a:solidFill>
              </a:rPr>
              <a:t>FACTORES DE LA PRODUCCION</a:t>
            </a:r>
          </a:p>
        </p:txBody>
      </p:sp>
    </p:spTree>
    <p:extLst>
      <p:ext uri="{BB962C8B-B14F-4D97-AF65-F5344CB8AC3E}">
        <p14:creationId xmlns:p14="http://schemas.microsoft.com/office/powerpoint/2010/main" val="199207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6E262-79B0-4425-93AA-8A8335A4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s-AR" dirty="0"/>
              <a:t>FACTORES DE LA PRODUCCION</a:t>
            </a:r>
            <a:br>
              <a:rPr lang="es-AR" dirty="0"/>
            </a:b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E1BDB4-5ABC-4B19-BFFB-1A26D3DE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5E84C97-E7DF-47C7-875B-1BEFD261BE8B}"/>
              </a:ext>
            </a:extLst>
          </p:cNvPr>
          <p:cNvSpPr txBox="1"/>
          <p:nvPr/>
        </p:nvSpPr>
        <p:spPr>
          <a:xfrm>
            <a:off x="685800" y="2769577"/>
            <a:ext cx="10925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La actividad transformadora de la economía ha recibido el nombre de </a:t>
            </a:r>
            <a:r>
              <a:rPr lang="es-AR" sz="2400" b="1" dirty="0">
                <a:solidFill>
                  <a:schemeClr val="tx2"/>
                </a:solidFill>
              </a:rPr>
              <a:t>producción</a:t>
            </a:r>
            <a:r>
              <a:rPr lang="es-AR" sz="2400" dirty="0">
                <a:solidFill>
                  <a:schemeClr val="tx2"/>
                </a:solidFill>
              </a:rPr>
              <a:t>  y los elementos que la realizan </a:t>
            </a:r>
            <a:r>
              <a:rPr lang="es-AR" sz="2400" b="1" dirty="0">
                <a:solidFill>
                  <a:schemeClr val="tx2"/>
                </a:solidFill>
              </a:rPr>
              <a:t>unidades de producción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6309E5D-A754-4802-BFD7-1245F1EE2675}"/>
              </a:ext>
            </a:extLst>
          </p:cNvPr>
          <p:cNvSpPr txBox="1"/>
          <p:nvPr/>
        </p:nvSpPr>
        <p:spPr>
          <a:xfrm>
            <a:off x="685800" y="4235368"/>
            <a:ext cx="10533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/>
                </a:solidFill>
              </a:rPr>
              <a:t>Estas unidades de producción han  migrado de los grupos de familias a las empresas, formando sistemas productivos complejos  </a:t>
            </a:r>
          </a:p>
        </p:txBody>
      </p:sp>
    </p:spTree>
    <p:extLst>
      <p:ext uri="{BB962C8B-B14F-4D97-AF65-F5344CB8AC3E}">
        <p14:creationId xmlns:p14="http://schemas.microsoft.com/office/powerpoint/2010/main" val="116010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F70ED-2A67-433F-8160-57269D4A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FACTORES DE LA PRODUCCION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F93E55-6C3C-4BB6-A9CC-D4B306A1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E90DBF-DED6-4F10-A5F1-3DBBFE0A8804}"/>
              </a:ext>
            </a:extLst>
          </p:cNvPr>
          <p:cNvSpPr txBox="1"/>
          <p:nvPr/>
        </p:nvSpPr>
        <p:spPr>
          <a:xfrm>
            <a:off x="817685" y="2664069"/>
            <a:ext cx="1015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solidFill>
                  <a:schemeClr val="tx2"/>
                </a:solidFill>
              </a:rPr>
              <a:t>LOS FACTORES DE LA PRODUCCION SON CUATRO</a:t>
            </a:r>
            <a:r>
              <a:rPr lang="es-AR" sz="2000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BD61B9-F91C-4A84-881C-321117ABC190}"/>
              </a:ext>
            </a:extLst>
          </p:cNvPr>
          <p:cNvSpPr txBox="1"/>
          <p:nvPr/>
        </p:nvSpPr>
        <p:spPr>
          <a:xfrm>
            <a:off x="1213339" y="3560884"/>
            <a:ext cx="88802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RECURSOS HUMANOS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TIERRA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CAPITAL 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HABILIDADES EMPRESARIALES</a:t>
            </a:r>
          </a:p>
        </p:txBody>
      </p:sp>
    </p:spTree>
    <p:extLst>
      <p:ext uri="{BB962C8B-B14F-4D97-AF65-F5344CB8AC3E}">
        <p14:creationId xmlns:p14="http://schemas.microsoft.com/office/powerpoint/2010/main" val="2761891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9BF3B-8C1B-45FF-AA77-5EFB157D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FACTORES DE LA PRODUCCION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DBA454-CC34-4865-8267-72E252CD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7EFF35-8774-4D7A-8CC1-9DE02DDCC57D}"/>
              </a:ext>
            </a:extLst>
          </p:cNvPr>
          <p:cNvSpPr txBox="1"/>
          <p:nvPr/>
        </p:nvSpPr>
        <p:spPr>
          <a:xfrm>
            <a:off x="483577" y="2356338"/>
            <a:ext cx="9908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Cada  uno de estos factores obtiene una retribución o remuneración: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49EC8D-3D43-4D2F-A0E2-9CE36479C764}"/>
              </a:ext>
            </a:extLst>
          </p:cNvPr>
          <p:cNvSpPr txBox="1"/>
          <p:nvPr/>
        </p:nvSpPr>
        <p:spPr>
          <a:xfrm>
            <a:off x="659426" y="3317433"/>
            <a:ext cx="4299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RECURSOS HUMANOS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TIERRA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CAPITAL 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HABILIDADES EMPRESARIALES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443DFA-E096-4E02-B8EC-48660F82C411}"/>
              </a:ext>
            </a:extLst>
          </p:cNvPr>
          <p:cNvSpPr txBox="1"/>
          <p:nvPr/>
        </p:nvSpPr>
        <p:spPr>
          <a:xfrm>
            <a:off x="7233138" y="3317433"/>
            <a:ext cx="42994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SALARIO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RENTA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INTERESES </a:t>
            </a:r>
          </a:p>
          <a:p>
            <a:pPr>
              <a:buClr>
                <a:schemeClr val="accent2"/>
              </a:buClr>
            </a:pPr>
            <a:endParaRPr lang="es-AR" b="1" dirty="0">
              <a:solidFill>
                <a:schemeClr val="tx2"/>
              </a:solidFill>
            </a:endParaRPr>
          </a:p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BENEFICIO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B2BB8AA2-EB19-4D83-92B8-E2E0CA8E0565}"/>
              </a:ext>
            </a:extLst>
          </p:cNvPr>
          <p:cNvSpPr/>
          <p:nvPr/>
        </p:nvSpPr>
        <p:spPr>
          <a:xfrm>
            <a:off x="5020408" y="3554936"/>
            <a:ext cx="187276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rgbClr val="92D050"/>
              </a:solidFill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FCAA225B-535A-46E6-9250-8D4DF9ABE057}"/>
              </a:ext>
            </a:extLst>
          </p:cNvPr>
          <p:cNvSpPr/>
          <p:nvPr/>
        </p:nvSpPr>
        <p:spPr>
          <a:xfrm>
            <a:off x="5027004" y="4056043"/>
            <a:ext cx="185957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24673D7D-F0F9-4211-AA5B-5EB1D7CC0151}"/>
              </a:ext>
            </a:extLst>
          </p:cNvPr>
          <p:cNvSpPr/>
          <p:nvPr/>
        </p:nvSpPr>
        <p:spPr>
          <a:xfrm>
            <a:off x="5020408" y="4557150"/>
            <a:ext cx="185957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C7066F68-A21B-4D06-AD1A-C51DD966CCA4}"/>
              </a:ext>
            </a:extLst>
          </p:cNvPr>
          <p:cNvSpPr/>
          <p:nvPr/>
        </p:nvSpPr>
        <p:spPr>
          <a:xfrm>
            <a:off x="5020408" y="5099676"/>
            <a:ext cx="187276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16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932320" y="755659"/>
            <a:ext cx="11655380" cy="830997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s-A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RECURSOS HUMANOS - TRABAJO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00" y="1744501"/>
            <a:ext cx="3242132" cy="2324547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99" y="4030049"/>
            <a:ext cx="3474704" cy="2602674"/>
          </a:xfrm>
          <a:prstGeom prst="rect">
            <a:avLst/>
          </a:prstGeom>
        </p:spPr>
      </p:pic>
      <p:pic>
        <p:nvPicPr>
          <p:cNvPr id="2050" name="Picture 2" descr="Resultado de imagen para ceo">
            <a:hlinkClick r:id="rId4"/>
            <a:extLst>
              <a:ext uri="{FF2B5EF4-FFF2-40B4-BE49-F238E27FC236}">
                <a16:creationId xmlns:a16="http://schemas.microsoft.com/office/drawing/2014/main" id="{7F40A9AC-30FB-0041-BAEA-0CF7761D8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830" y="1744501"/>
            <a:ext cx="3586750" cy="4886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n relacionada">
            <a:hlinkClick r:id="rId6"/>
            <a:extLst>
              <a:ext uri="{FF2B5EF4-FFF2-40B4-BE49-F238E27FC236}">
                <a16:creationId xmlns:a16="http://schemas.microsoft.com/office/drawing/2014/main" id="{990E34D5-C93F-9D49-B820-9602F302E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355" y="1744501"/>
            <a:ext cx="2527790" cy="236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sultado de imagen para ingeniero">
            <a:hlinkClick r:id="rId8"/>
            <a:extLst>
              <a:ext uri="{FF2B5EF4-FFF2-40B4-BE49-F238E27FC236}">
                <a16:creationId xmlns:a16="http://schemas.microsoft.com/office/drawing/2014/main" id="{AFEF521A-B1FF-CF4E-9A7A-4424FEF96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684" y="3867204"/>
            <a:ext cx="5312461" cy="276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economista">
            <a:hlinkClick r:id="rId10"/>
            <a:extLst>
              <a:ext uri="{FF2B5EF4-FFF2-40B4-BE49-F238E27FC236}">
                <a16:creationId xmlns:a16="http://schemas.microsoft.com/office/drawing/2014/main" id="{B82C6B0E-FC05-8844-90A4-87F12EBB2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684" y="1741012"/>
            <a:ext cx="3804641" cy="232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B8421BDD-A34D-EB4F-9393-11ADAF8979EE}"/>
              </a:ext>
            </a:extLst>
          </p:cNvPr>
          <p:cNvSpPr/>
          <p:nvPr/>
        </p:nvSpPr>
        <p:spPr>
          <a:xfrm>
            <a:off x="4204211" y="3392407"/>
            <a:ext cx="457293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A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SALARIOS</a:t>
            </a:r>
          </a:p>
        </p:txBody>
      </p:sp>
    </p:spTree>
    <p:extLst>
      <p:ext uri="{BB962C8B-B14F-4D97-AF65-F5344CB8AC3E}">
        <p14:creationId xmlns:p14="http://schemas.microsoft.com/office/powerpoint/2010/main" val="3717157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F4A00-A721-4227-AC3E-624E2271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RECURSOS HUMANOS - TRABAJO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63C90D-5B5A-4ADC-B924-36AA46F3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834F3B8-4EE2-428E-9538-A68E9F92E51E}"/>
              </a:ext>
            </a:extLst>
          </p:cNvPr>
          <p:cNvSpPr/>
          <p:nvPr/>
        </p:nvSpPr>
        <p:spPr>
          <a:xfrm>
            <a:off x="4985239" y="2143120"/>
            <a:ext cx="1688123" cy="679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RRHH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190AE4D-09BB-461D-B974-407451C47590}"/>
              </a:ext>
            </a:extLst>
          </p:cNvPr>
          <p:cNvSpPr/>
          <p:nvPr/>
        </p:nvSpPr>
        <p:spPr>
          <a:xfrm>
            <a:off x="7995139" y="3044214"/>
            <a:ext cx="1641231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SERVICIOS PRODUCTIVOS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2F2AAC-8E05-48DC-8930-6F5B4B1CC78B}"/>
              </a:ext>
            </a:extLst>
          </p:cNvPr>
          <p:cNvSpPr/>
          <p:nvPr/>
        </p:nvSpPr>
        <p:spPr>
          <a:xfrm>
            <a:off x="2168768" y="3051178"/>
            <a:ext cx="1641231" cy="71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GOBIERNO DE LA EMPRESA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7444316-7960-4B28-9962-4F4AF6A3A2FE}"/>
              </a:ext>
            </a:extLst>
          </p:cNvPr>
          <p:cNvSpPr/>
          <p:nvPr/>
        </p:nvSpPr>
        <p:spPr>
          <a:xfrm>
            <a:off x="6307016" y="4399329"/>
            <a:ext cx="1688123" cy="614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MANO DE OBRA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5C71C2B-1792-4842-8CE5-45D830623255}"/>
              </a:ext>
            </a:extLst>
          </p:cNvPr>
          <p:cNvSpPr/>
          <p:nvPr/>
        </p:nvSpPr>
        <p:spPr>
          <a:xfrm>
            <a:off x="9884969" y="4411371"/>
            <a:ext cx="1725839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DIRECCION EJECUTIVA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8A8A3D7-E4D1-4942-9F42-16CF6D500CC7}"/>
              </a:ext>
            </a:extLst>
          </p:cNvPr>
          <p:cNvSpPr/>
          <p:nvPr/>
        </p:nvSpPr>
        <p:spPr>
          <a:xfrm>
            <a:off x="4826978" y="5674052"/>
            <a:ext cx="1758460" cy="647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MANO DE OBRA DIRECTA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CBB684A-2AE0-49EE-A3A7-F7319BBAAA19}"/>
              </a:ext>
            </a:extLst>
          </p:cNvPr>
          <p:cNvSpPr/>
          <p:nvPr/>
        </p:nvSpPr>
        <p:spPr>
          <a:xfrm>
            <a:off x="7757747" y="5674052"/>
            <a:ext cx="1878623" cy="641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MANO DE OBRA INDIRECTA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4A1FDB7-B4F8-41AB-AB88-E575A8AF6480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829301" y="2822331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6717F8E-3944-47CD-8C00-A804861F5CBD}"/>
              </a:ext>
            </a:extLst>
          </p:cNvPr>
          <p:cNvCxnSpPr/>
          <p:nvPr/>
        </p:nvCxnSpPr>
        <p:spPr>
          <a:xfrm>
            <a:off x="2854569" y="2963008"/>
            <a:ext cx="29747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8C75FD0-DEAA-4969-92FC-20B1E97EA896}"/>
              </a:ext>
            </a:extLst>
          </p:cNvPr>
          <p:cNvCxnSpPr>
            <a:cxnSpLocks/>
          </p:cNvCxnSpPr>
          <p:nvPr/>
        </p:nvCxnSpPr>
        <p:spPr>
          <a:xfrm>
            <a:off x="5829300" y="2963008"/>
            <a:ext cx="2986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87253FD-191C-448E-B03E-7EB0A3DFD67B}"/>
              </a:ext>
            </a:extLst>
          </p:cNvPr>
          <p:cNvCxnSpPr>
            <a:stCxn id="7" idx="2"/>
            <a:endCxn id="7" idx="2"/>
          </p:cNvCxnSpPr>
          <p:nvPr/>
        </p:nvCxnSpPr>
        <p:spPr>
          <a:xfrm>
            <a:off x="5829301" y="282233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E52F22B-CAB5-4D18-8869-06A7F1081C8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815755" y="2973875"/>
            <a:ext cx="0" cy="70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68E25696-09F7-4E55-881F-DB920D251A04}"/>
              </a:ext>
            </a:extLst>
          </p:cNvPr>
          <p:cNvCxnSpPr>
            <a:cxnSpLocks/>
          </p:cNvCxnSpPr>
          <p:nvPr/>
        </p:nvCxnSpPr>
        <p:spPr>
          <a:xfrm>
            <a:off x="5829300" y="2822331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873E6C6-5581-4D3D-B777-08A21430E078}"/>
              </a:ext>
            </a:extLst>
          </p:cNvPr>
          <p:cNvCxnSpPr>
            <a:cxnSpLocks/>
          </p:cNvCxnSpPr>
          <p:nvPr/>
        </p:nvCxnSpPr>
        <p:spPr>
          <a:xfrm>
            <a:off x="2854569" y="2963008"/>
            <a:ext cx="0" cy="81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4C69B00-D7F5-4AC8-B9BE-E1FEB7C0663C}"/>
              </a:ext>
            </a:extLst>
          </p:cNvPr>
          <p:cNvCxnSpPr/>
          <p:nvPr/>
        </p:nvCxnSpPr>
        <p:spPr>
          <a:xfrm>
            <a:off x="2854570" y="2963008"/>
            <a:ext cx="29747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EB35D8CA-D5BB-4ED6-8052-DFB4A7057831}"/>
              </a:ext>
            </a:extLst>
          </p:cNvPr>
          <p:cNvCxnSpPr>
            <a:cxnSpLocks/>
          </p:cNvCxnSpPr>
          <p:nvPr/>
        </p:nvCxnSpPr>
        <p:spPr>
          <a:xfrm>
            <a:off x="5829301" y="2963008"/>
            <a:ext cx="2986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F76C634D-54E6-4A5B-A1B0-6E94CFAF9016}"/>
              </a:ext>
            </a:extLst>
          </p:cNvPr>
          <p:cNvCxnSpPr>
            <a:cxnSpLocks/>
          </p:cNvCxnSpPr>
          <p:nvPr/>
        </p:nvCxnSpPr>
        <p:spPr>
          <a:xfrm>
            <a:off x="8815756" y="2973875"/>
            <a:ext cx="0" cy="70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C70C0590-06FC-4469-BB6F-4709D61B2136}"/>
              </a:ext>
            </a:extLst>
          </p:cNvPr>
          <p:cNvCxnSpPr>
            <a:cxnSpLocks/>
          </p:cNvCxnSpPr>
          <p:nvPr/>
        </p:nvCxnSpPr>
        <p:spPr>
          <a:xfrm>
            <a:off x="5829301" y="2822331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0D97CBB5-5F3F-42A9-B956-D21F937E49CA}"/>
              </a:ext>
            </a:extLst>
          </p:cNvPr>
          <p:cNvCxnSpPr>
            <a:cxnSpLocks/>
          </p:cNvCxnSpPr>
          <p:nvPr/>
        </p:nvCxnSpPr>
        <p:spPr>
          <a:xfrm>
            <a:off x="2854570" y="2963008"/>
            <a:ext cx="0" cy="81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ADF2E62E-D84B-4437-AD0E-17EA2A3908C0}"/>
              </a:ext>
            </a:extLst>
          </p:cNvPr>
          <p:cNvCxnSpPr/>
          <p:nvPr/>
        </p:nvCxnSpPr>
        <p:spPr>
          <a:xfrm>
            <a:off x="2854569" y="2963008"/>
            <a:ext cx="29747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41B566B-13ED-4956-86F6-03D9E06534A1}"/>
              </a:ext>
            </a:extLst>
          </p:cNvPr>
          <p:cNvCxnSpPr>
            <a:cxnSpLocks/>
          </p:cNvCxnSpPr>
          <p:nvPr/>
        </p:nvCxnSpPr>
        <p:spPr>
          <a:xfrm>
            <a:off x="5829300" y="2963008"/>
            <a:ext cx="2986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CFEE519-83F1-4522-9F1E-2DC4A354BF88}"/>
              </a:ext>
            </a:extLst>
          </p:cNvPr>
          <p:cNvCxnSpPr>
            <a:cxnSpLocks/>
          </p:cNvCxnSpPr>
          <p:nvPr/>
        </p:nvCxnSpPr>
        <p:spPr>
          <a:xfrm>
            <a:off x="8815755" y="2973875"/>
            <a:ext cx="0" cy="70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6CA7063B-D91F-4280-BFAF-3C5058599F89}"/>
              </a:ext>
            </a:extLst>
          </p:cNvPr>
          <p:cNvCxnSpPr>
            <a:cxnSpLocks/>
          </p:cNvCxnSpPr>
          <p:nvPr/>
        </p:nvCxnSpPr>
        <p:spPr>
          <a:xfrm>
            <a:off x="5829300" y="2822331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CBF6C30-5ED5-44FC-B40D-52A38F320A40}"/>
              </a:ext>
            </a:extLst>
          </p:cNvPr>
          <p:cNvCxnSpPr>
            <a:cxnSpLocks/>
          </p:cNvCxnSpPr>
          <p:nvPr/>
        </p:nvCxnSpPr>
        <p:spPr>
          <a:xfrm>
            <a:off x="2854569" y="2963008"/>
            <a:ext cx="0" cy="812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9386EB31-5EF9-4D74-BB14-A187D02D2132}"/>
              </a:ext>
            </a:extLst>
          </p:cNvPr>
          <p:cNvCxnSpPr>
            <a:cxnSpLocks/>
          </p:cNvCxnSpPr>
          <p:nvPr/>
        </p:nvCxnSpPr>
        <p:spPr>
          <a:xfrm>
            <a:off x="7151077" y="3842163"/>
            <a:ext cx="16646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D4401C1-ECA5-45C7-86B6-A58178B0E341}"/>
              </a:ext>
            </a:extLst>
          </p:cNvPr>
          <p:cNvCxnSpPr>
            <a:cxnSpLocks/>
          </p:cNvCxnSpPr>
          <p:nvPr/>
        </p:nvCxnSpPr>
        <p:spPr>
          <a:xfrm>
            <a:off x="8815755" y="3842163"/>
            <a:ext cx="19321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3AFBDEEF-F768-424A-ABE8-B67BE319998E}"/>
              </a:ext>
            </a:extLst>
          </p:cNvPr>
          <p:cNvCxnSpPr>
            <a:cxnSpLocks/>
          </p:cNvCxnSpPr>
          <p:nvPr/>
        </p:nvCxnSpPr>
        <p:spPr>
          <a:xfrm>
            <a:off x="8815755" y="3701486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2B1D5D68-6799-48B0-98F5-BAB46029829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747889" y="3842163"/>
            <a:ext cx="0" cy="569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80388100-A6AE-45D3-8A33-5189ED83E565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151077" y="3842163"/>
            <a:ext cx="1" cy="55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4D8ED4C8-BF28-461B-8EA5-254D2CD191BA}"/>
              </a:ext>
            </a:extLst>
          </p:cNvPr>
          <p:cNvCxnSpPr>
            <a:stCxn id="11" idx="2"/>
          </p:cNvCxnSpPr>
          <p:nvPr/>
        </p:nvCxnSpPr>
        <p:spPr>
          <a:xfrm flipH="1">
            <a:off x="7151077" y="5014064"/>
            <a:ext cx="1" cy="29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7998B5E7-F44D-40BD-926E-00AB846FD1F5}"/>
              </a:ext>
            </a:extLst>
          </p:cNvPr>
          <p:cNvCxnSpPr/>
          <p:nvPr/>
        </p:nvCxnSpPr>
        <p:spPr>
          <a:xfrm>
            <a:off x="5706208" y="5313647"/>
            <a:ext cx="14448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3E93F125-D412-4946-A7BA-37D6E1C2B3D6}"/>
              </a:ext>
            </a:extLst>
          </p:cNvPr>
          <p:cNvCxnSpPr>
            <a:cxnSpLocks/>
          </p:cNvCxnSpPr>
          <p:nvPr/>
        </p:nvCxnSpPr>
        <p:spPr>
          <a:xfrm>
            <a:off x="7151077" y="5314389"/>
            <a:ext cx="1545981" cy="4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CCF6C196-2E06-4261-99D2-6CFFB980B70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697059" y="5324343"/>
            <a:ext cx="0" cy="333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568E7776-64A1-420F-A316-6D7FD2412BA8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697058" y="5320347"/>
            <a:ext cx="1" cy="353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28FE39DB-AFA7-4410-B25E-574D8C7D10B4}"/>
              </a:ext>
            </a:extLst>
          </p:cNvPr>
          <p:cNvCxnSpPr>
            <a:cxnSpLocks/>
          </p:cNvCxnSpPr>
          <p:nvPr/>
        </p:nvCxnSpPr>
        <p:spPr>
          <a:xfrm>
            <a:off x="5706208" y="5324343"/>
            <a:ext cx="0" cy="34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ángulo 82">
            <a:extLst>
              <a:ext uri="{FF2B5EF4-FFF2-40B4-BE49-F238E27FC236}">
                <a16:creationId xmlns:a16="http://schemas.microsoft.com/office/drawing/2014/main" id="{43033BCF-E2F0-40A7-B707-05804AFE8C39}"/>
              </a:ext>
            </a:extLst>
          </p:cNvPr>
          <p:cNvSpPr/>
          <p:nvPr/>
        </p:nvSpPr>
        <p:spPr>
          <a:xfrm>
            <a:off x="4985239" y="2133167"/>
            <a:ext cx="1688123" cy="679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RRHH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C2AE4CF4-3ADF-4D18-89FC-3E258FBF3F6F}"/>
              </a:ext>
            </a:extLst>
          </p:cNvPr>
          <p:cNvSpPr/>
          <p:nvPr/>
        </p:nvSpPr>
        <p:spPr>
          <a:xfrm>
            <a:off x="7995139" y="3034261"/>
            <a:ext cx="1641231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SERVICIOS PRODUCTIVOS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0900CAB3-7C22-4A8C-A6C5-9B40F6481984}"/>
              </a:ext>
            </a:extLst>
          </p:cNvPr>
          <p:cNvSpPr/>
          <p:nvPr/>
        </p:nvSpPr>
        <p:spPr>
          <a:xfrm>
            <a:off x="2168768" y="3041225"/>
            <a:ext cx="1641231" cy="71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GOBIERNO DE LA EMPRESA</a:t>
            </a: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284ADC77-3A40-495B-B957-2CEFD6214044}"/>
              </a:ext>
            </a:extLst>
          </p:cNvPr>
          <p:cNvSpPr/>
          <p:nvPr/>
        </p:nvSpPr>
        <p:spPr>
          <a:xfrm>
            <a:off x="6307016" y="4389376"/>
            <a:ext cx="1688123" cy="614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MANO DE OBRA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CB5C732C-E962-40C5-BCD1-ED45BA6CCE83}"/>
              </a:ext>
            </a:extLst>
          </p:cNvPr>
          <p:cNvSpPr/>
          <p:nvPr/>
        </p:nvSpPr>
        <p:spPr>
          <a:xfrm>
            <a:off x="9884969" y="4401418"/>
            <a:ext cx="1725839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DIRECCION EJECUTIVA</a:t>
            </a:r>
          </a:p>
        </p:txBody>
      </p: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FED8E8FD-D494-4791-A908-E71CADCEB95F}"/>
              </a:ext>
            </a:extLst>
          </p:cNvPr>
          <p:cNvCxnSpPr>
            <a:stCxn id="86" idx="2"/>
          </p:cNvCxnSpPr>
          <p:nvPr/>
        </p:nvCxnSpPr>
        <p:spPr>
          <a:xfrm flipH="1">
            <a:off x="7151077" y="5004111"/>
            <a:ext cx="1" cy="29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52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7B63E-D0DE-4A9C-9635-30D7C6398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RECURSOS HUMANOS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AFE2D4-CD70-469A-89B0-65221D24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BF4020-5E23-4DD1-94C4-AC2785EE97E3}"/>
              </a:ext>
            </a:extLst>
          </p:cNvPr>
          <p:cNvSpPr txBox="1"/>
          <p:nvPr/>
        </p:nvSpPr>
        <p:spPr>
          <a:xfrm>
            <a:off x="866689" y="2250219"/>
            <a:ext cx="5669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MANO DE OBRA DIRECTA</a:t>
            </a:r>
            <a:r>
              <a:rPr lang="es-AR" dirty="0">
                <a:solidFill>
                  <a:schemeClr val="tx2"/>
                </a:solidFill>
              </a:rPr>
              <a:t>: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Es la que transforma física o químicamente a la materia prima, es la que le agrega valor al producto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5390A8-20F9-4802-93D6-1D1F09D1A433}"/>
              </a:ext>
            </a:extLst>
          </p:cNvPr>
          <p:cNvSpPr/>
          <p:nvPr/>
        </p:nvSpPr>
        <p:spPr>
          <a:xfrm>
            <a:off x="866689" y="3594294"/>
            <a:ext cx="66234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MANO DE OBRA INDIRECTA</a:t>
            </a:r>
            <a:r>
              <a:rPr lang="es-AR" dirty="0">
                <a:solidFill>
                  <a:schemeClr val="tx2"/>
                </a:solidFill>
              </a:rPr>
              <a:t>: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Es la que asiste a la directa en los movimientos y acarreos de materias primas, materiales en proceso y productos terminados. No le agrega valor al producto , genera gasto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B865D46-8041-4CBB-B1D0-88EE7F7E5F3B}"/>
              </a:ext>
            </a:extLst>
          </p:cNvPr>
          <p:cNvSpPr/>
          <p:nvPr/>
        </p:nvSpPr>
        <p:spPr>
          <a:xfrm>
            <a:off x="866689" y="52153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DIRECCION EJECUTIVA</a:t>
            </a:r>
            <a:r>
              <a:rPr lang="es-AR" dirty="0">
                <a:solidFill>
                  <a:schemeClr val="tx2"/>
                </a:solidFill>
              </a:rPr>
              <a:t>: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Esta compuesta por la alta gerencia</a:t>
            </a:r>
          </a:p>
        </p:txBody>
      </p:sp>
    </p:spTree>
    <p:extLst>
      <p:ext uri="{BB962C8B-B14F-4D97-AF65-F5344CB8AC3E}">
        <p14:creationId xmlns:p14="http://schemas.microsoft.com/office/powerpoint/2010/main" val="3660226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ostrando tech1.png">
            <a:extLst>
              <a:ext uri="{FF2B5EF4-FFF2-40B4-BE49-F238E27FC236}">
                <a16:creationId xmlns:a16="http://schemas.microsoft.com/office/drawing/2014/main" id="{8EE4E7E5-E688-0C4E-94C8-D10BAF557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09" r="-849"/>
          <a:stretch/>
        </p:blipFill>
        <p:spPr bwMode="auto">
          <a:xfrm>
            <a:off x="2552617" y="2178657"/>
            <a:ext cx="7216184" cy="443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FFDAE16-DF8B-4008-8708-F221CB8A97F5}"/>
              </a:ext>
            </a:extLst>
          </p:cNvPr>
          <p:cNvSpPr txBox="1"/>
          <p:nvPr/>
        </p:nvSpPr>
        <p:spPr>
          <a:xfrm>
            <a:off x="636104" y="993912"/>
            <a:ext cx="1098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bg1"/>
                </a:solidFill>
              </a:rPr>
              <a:t>CRECIMIENTO DE LA POBLACION MUNDIAL E HISTORIA DE LA TECNOLOGIA</a:t>
            </a:r>
          </a:p>
        </p:txBody>
      </p:sp>
    </p:spTree>
    <p:extLst>
      <p:ext uri="{BB962C8B-B14F-4D97-AF65-F5344CB8AC3E}">
        <p14:creationId xmlns:p14="http://schemas.microsoft.com/office/powerpoint/2010/main" val="322674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agen relacionada">
            <a:hlinkClick r:id="rId2"/>
            <a:extLst>
              <a:ext uri="{FF2B5EF4-FFF2-40B4-BE49-F238E27FC236}">
                <a16:creationId xmlns:a16="http://schemas.microsoft.com/office/drawing/2014/main" id="{8CF253A2-7E9E-0F4B-B3CC-C1295354E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02" r="118" b="6716"/>
          <a:stretch/>
        </p:blipFill>
        <p:spPr bwMode="auto">
          <a:xfrm>
            <a:off x="1568154" y="1867536"/>
            <a:ext cx="7591750" cy="485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E43AA00-FBA5-48AB-A3D7-52CF79A37589}"/>
              </a:ext>
            </a:extLst>
          </p:cNvPr>
          <p:cNvSpPr txBox="1"/>
          <p:nvPr/>
        </p:nvSpPr>
        <p:spPr>
          <a:xfrm>
            <a:off x="739471" y="946205"/>
            <a:ext cx="10726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bg1"/>
                </a:solidFill>
              </a:rPr>
              <a:t>CRECIMIENTO POBLACIONAL</a:t>
            </a:r>
          </a:p>
        </p:txBody>
      </p:sp>
    </p:spTree>
    <p:extLst>
      <p:ext uri="{BB962C8B-B14F-4D97-AF65-F5344CB8AC3E}">
        <p14:creationId xmlns:p14="http://schemas.microsoft.com/office/powerpoint/2010/main" val="3637939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>
            <a:extLst>
              <a:ext uri="{FF2B5EF4-FFF2-40B4-BE49-F238E27FC236}">
                <a16:creationId xmlns:a16="http://schemas.microsoft.com/office/drawing/2014/main" id="{1F6E65BE-8D4F-7049-91FD-D7A59EC1E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92" y="2813546"/>
            <a:ext cx="4951961" cy="2636436"/>
          </a:xfrm>
          <a:prstGeom prst="rect">
            <a:avLst/>
          </a:prstGeom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2AD69413-36BA-6D4D-B111-196B221BB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90448" y="2857572"/>
            <a:ext cx="5080415" cy="238965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E27F73B-C6B4-4A95-A14B-01949AF4834B}"/>
              </a:ext>
            </a:extLst>
          </p:cNvPr>
          <p:cNvSpPr txBox="1"/>
          <p:nvPr/>
        </p:nvSpPr>
        <p:spPr>
          <a:xfrm>
            <a:off x="644056" y="1073426"/>
            <a:ext cx="10869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>
                <a:solidFill>
                  <a:schemeClr val="bg1"/>
                </a:solidFill>
              </a:rPr>
              <a:t>PIRAMIDE POBLACIONAL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A41FC9-DBFA-4472-9F81-0CB5AABF9C45}"/>
              </a:ext>
            </a:extLst>
          </p:cNvPr>
          <p:cNvSpPr txBox="1"/>
          <p:nvPr/>
        </p:nvSpPr>
        <p:spPr>
          <a:xfrm>
            <a:off x="644056" y="5844209"/>
            <a:ext cx="485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Base amplia, indica alta tasa de natalidad y por lo tanto gran cantidad de pasivos transitorios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34729D1-AAB8-42A2-82FF-AEB598936425}"/>
              </a:ext>
            </a:extLst>
          </p:cNvPr>
          <p:cNvSpPr txBox="1"/>
          <p:nvPr/>
        </p:nvSpPr>
        <p:spPr>
          <a:xfrm>
            <a:off x="6538047" y="5844208"/>
            <a:ext cx="5232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Base pequeña, indica baja tasa de natalidad y por lo tanto alto porcentaje de población activa</a:t>
            </a:r>
          </a:p>
        </p:txBody>
      </p:sp>
    </p:spTree>
    <p:extLst>
      <p:ext uri="{BB962C8B-B14F-4D97-AF65-F5344CB8AC3E}">
        <p14:creationId xmlns:p14="http://schemas.microsoft.com/office/powerpoint/2010/main" val="140555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Resultado de imagen para piramide poblacional de la argentina">
            <a:hlinkClick r:id="rId2"/>
            <a:extLst>
              <a:ext uri="{FF2B5EF4-FFF2-40B4-BE49-F238E27FC236}">
                <a16:creationId xmlns:a16="http://schemas.microsoft.com/office/drawing/2014/main" id="{0C106DF0-33E3-2C44-B2E9-735EF2D2DE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4" t="13687" r="9382" b="9950"/>
          <a:stretch/>
        </p:blipFill>
        <p:spPr bwMode="auto">
          <a:xfrm>
            <a:off x="992973" y="1995778"/>
            <a:ext cx="10600858" cy="459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C472342-E1A4-4EA8-A3D8-3CA3534929D4}"/>
              </a:ext>
            </a:extLst>
          </p:cNvPr>
          <p:cNvSpPr txBox="1"/>
          <p:nvPr/>
        </p:nvSpPr>
        <p:spPr>
          <a:xfrm>
            <a:off x="787179" y="938254"/>
            <a:ext cx="10320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solidFill>
                  <a:schemeClr val="bg1"/>
                </a:solidFill>
              </a:rPr>
              <a:t>PIRAMIDE DEMOGRAFICA ARGENTINA, 2010 (Fuente INDEC)</a:t>
            </a:r>
          </a:p>
        </p:txBody>
      </p:sp>
    </p:spTree>
    <p:extLst>
      <p:ext uri="{BB962C8B-B14F-4D97-AF65-F5344CB8AC3E}">
        <p14:creationId xmlns:p14="http://schemas.microsoft.com/office/powerpoint/2010/main" val="2926553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B2C71A-1D9A-4896-8148-29CA3EFA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684B86-5D54-453C-9553-CCCA4E745E01}"/>
              </a:ext>
            </a:extLst>
          </p:cNvPr>
          <p:cNvSpPr txBox="1"/>
          <p:nvPr/>
        </p:nvSpPr>
        <p:spPr>
          <a:xfrm>
            <a:off x="866692" y="962108"/>
            <a:ext cx="10543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dirty="0">
                <a:solidFill>
                  <a:schemeClr val="bg1"/>
                </a:solidFill>
              </a:rPr>
              <a:t>PIRAMIDE POBLACIONAL CABA, 2008 (Fuente INDEC)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C9CA248-49B2-4187-80AF-D70B75C2AA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04" t="24231" r="25195" b="22899"/>
          <a:stretch/>
        </p:blipFill>
        <p:spPr>
          <a:xfrm>
            <a:off x="2307972" y="1828799"/>
            <a:ext cx="8249650" cy="481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4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377EE-7EC5-4D06-BF28-D7AF9F5E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2400" dirty="0"/>
              <a:t>PRODUCCION Y CONSUMO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0726CE95-9D73-40EE-98A3-ECE1CEF2D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416" t="40377" r="28263" b="11338"/>
          <a:stretch/>
        </p:blipFill>
        <p:spPr>
          <a:xfrm>
            <a:off x="2644391" y="1857930"/>
            <a:ext cx="7493523" cy="37467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0E9BE8-E371-457B-9181-AD48A607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DE4EDC-0FF1-4D7A-ADD5-E78DD5B652C9}"/>
              </a:ext>
            </a:extLst>
          </p:cNvPr>
          <p:cNvSpPr txBox="1"/>
          <p:nvPr/>
        </p:nvSpPr>
        <p:spPr>
          <a:xfrm>
            <a:off x="803082" y="5788550"/>
            <a:ext cx="9470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OAFG: 	Zona de pasivos transitorios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FE      :	Activos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DME  :	Zona de pasivos permanentes</a:t>
            </a:r>
          </a:p>
        </p:txBody>
      </p:sp>
    </p:spTree>
    <p:extLst>
      <p:ext uri="{BB962C8B-B14F-4D97-AF65-F5344CB8AC3E}">
        <p14:creationId xmlns:p14="http://schemas.microsoft.com/office/powerpoint/2010/main" val="164841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9D791D0-95D7-4BEF-A092-6925FF4B5E35}"/>
              </a:ext>
            </a:extLst>
          </p:cNvPr>
          <p:cNvSpPr txBox="1"/>
          <p:nvPr/>
        </p:nvSpPr>
        <p:spPr>
          <a:xfrm>
            <a:off x="715617" y="930303"/>
            <a:ext cx="5653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800" dirty="0">
                <a:solidFill>
                  <a:schemeClr val="bg1"/>
                </a:solidFill>
              </a:rPr>
              <a:t>TIERRA</a:t>
            </a:r>
          </a:p>
        </p:txBody>
      </p:sp>
      <p:pic>
        <p:nvPicPr>
          <p:cNvPr id="12" name="Picture 2" descr="Resultado de imagen para recursos naturales">
            <a:hlinkClick r:id="rId2"/>
            <a:extLst>
              <a:ext uri="{FF2B5EF4-FFF2-40B4-BE49-F238E27FC236}">
                <a16:creationId xmlns:a16="http://schemas.microsoft.com/office/drawing/2014/main" id="{A4A4C0DF-5A2B-4C48-8D69-FB077D9F3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6957"/>
            <a:ext cx="5728622" cy="504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EDBCAFB-B49D-4CB4-B7C0-9A0C1F8A3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622" y="1816957"/>
            <a:ext cx="5234482" cy="285830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A0BC2C2-E454-4EF0-9355-4637AF838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8176" y="1816957"/>
            <a:ext cx="3543824" cy="283788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725FC01-FA37-4A63-B638-0B0CF5D5F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622" y="4030328"/>
            <a:ext cx="6463378" cy="2837882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6458864E-219A-44C2-AFD6-D92994880EA4}"/>
              </a:ext>
            </a:extLst>
          </p:cNvPr>
          <p:cNvSpPr/>
          <p:nvPr/>
        </p:nvSpPr>
        <p:spPr>
          <a:xfrm>
            <a:off x="4176911" y="3666388"/>
            <a:ext cx="4572937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AR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RENTA</a:t>
            </a:r>
          </a:p>
        </p:txBody>
      </p:sp>
    </p:spTree>
    <p:extLst>
      <p:ext uri="{BB962C8B-B14F-4D97-AF65-F5344CB8AC3E}">
        <p14:creationId xmlns:p14="http://schemas.microsoft.com/office/powerpoint/2010/main" val="73588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AF2B8-082C-4858-8EF9-78917781F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6" y="837329"/>
            <a:ext cx="11029615" cy="904007"/>
          </a:xfrm>
        </p:spPr>
        <p:txBody>
          <a:bodyPr anchor="ctr">
            <a:normAutofit fontScale="90000"/>
          </a:bodyPr>
          <a:lstStyle/>
          <a:p>
            <a:r>
              <a:rPr lang="es-AR" sz="4800" dirty="0"/>
              <a:t>TIERRA</a:t>
            </a:r>
            <a:br>
              <a:rPr lang="es-AR" dirty="0"/>
            </a:br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565046-224E-4E54-B9B7-E06B052F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363702-6A05-4947-8B9B-3A4550AFB420}"/>
              </a:ext>
            </a:extLst>
          </p:cNvPr>
          <p:cNvSpPr/>
          <p:nvPr/>
        </p:nvSpPr>
        <p:spPr>
          <a:xfrm>
            <a:off x="621885" y="4469455"/>
            <a:ext cx="1758460" cy="6472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MATERIA PRIMA DIRECTA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0DB2973-4F64-4327-BC61-7B0F6AF8ED4B}"/>
              </a:ext>
            </a:extLst>
          </p:cNvPr>
          <p:cNvSpPr/>
          <p:nvPr/>
        </p:nvSpPr>
        <p:spPr>
          <a:xfrm>
            <a:off x="3552654" y="4469455"/>
            <a:ext cx="1878623" cy="6415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MATERIA PRIMA INDIRECTA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6C3D38A-5314-463A-A286-6FD6D4F78D02}"/>
              </a:ext>
            </a:extLst>
          </p:cNvPr>
          <p:cNvCxnSpPr>
            <a:cxnSpLocks/>
          </p:cNvCxnSpPr>
          <p:nvPr/>
        </p:nvCxnSpPr>
        <p:spPr>
          <a:xfrm>
            <a:off x="2939790" y="4105979"/>
            <a:ext cx="1545981" cy="44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3ED75BE-31F3-4F19-997F-997CCC223EC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491965" y="4115750"/>
            <a:ext cx="1" cy="353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7116A3E0-EBBD-4E7E-B3D4-27FD5B0F4E74}"/>
              </a:ext>
            </a:extLst>
          </p:cNvPr>
          <p:cNvCxnSpPr>
            <a:cxnSpLocks/>
          </p:cNvCxnSpPr>
          <p:nvPr/>
        </p:nvCxnSpPr>
        <p:spPr>
          <a:xfrm>
            <a:off x="1501115" y="4110454"/>
            <a:ext cx="0" cy="355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E72DFC85-037B-4E5D-BCF1-99C3A9724A0D}"/>
              </a:ext>
            </a:extLst>
          </p:cNvPr>
          <p:cNvSpPr/>
          <p:nvPr/>
        </p:nvSpPr>
        <p:spPr>
          <a:xfrm>
            <a:off x="4985239" y="2133167"/>
            <a:ext cx="1688123" cy="679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TIERRA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A3D71F-3BFB-42B9-815A-85CD8E625E40}"/>
              </a:ext>
            </a:extLst>
          </p:cNvPr>
          <p:cNvSpPr/>
          <p:nvPr/>
        </p:nvSpPr>
        <p:spPr>
          <a:xfrm>
            <a:off x="7995139" y="3029624"/>
            <a:ext cx="1641231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ENERGIA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9043D8F-7436-499F-A4A3-0F80695A6A10}"/>
              </a:ext>
            </a:extLst>
          </p:cNvPr>
          <p:cNvSpPr/>
          <p:nvPr/>
        </p:nvSpPr>
        <p:spPr>
          <a:xfrm>
            <a:off x="2168768" y="3041225"/>
            <a:ext cx="1641231" cy="71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MATERIA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144C3CA-6108-4CD6-AD2E-AF79F6E43B50}"/>
              </a:ext>
            </a:extLst>
          </p:cNvPr>
          <p:cNvSpPr/>
          <p:nvPr/>
        </p:nvSpPr>
        <p:spPr>
          <a:xfrm>
            <a:off x="6307016" y="4394497"/>
            <a:ext cx="1688123" cy="614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RENOVABLE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577277-3A8B-4435-81FE-79E99F830227}"/>
              </a:ext>
            </a:extLst>
          </p:cNvPr>
          <p:cNvSpPr/>
          <p:nvPr/>
        </p:nvSpPr>
        <p:spPr>
          <a:xfrm>
            <a:off x="9884969" y="4401418"/>
            <a:ext cx="1725839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NO RENOVABLE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5D76EFB-2C07-436A-B279-D9718707D3FF}"/>
              </a:ext>
            </a:extLst>
          </p:cNvPr>
          <p:cNvCxnSpPr>
            <a:cxnSpLocks/>
          </p:cNvCxnSpPr>
          <p:nvPr/>
        </p:nvCxnSpPr>
        <p:spPr>
          <a:xfrm>
            <a:off x="2989383" y="2953055"/>
            <a:ext cx="28399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5B95BC3-4A32-4089-BE2E-63D13099B085}"/>
              </a:ext>
            </a:extLst>
          </p:cNvPr>
          <p:cNvCxnSpPr>
            <a:cxnSpLocks/>
          </p:cNvCxnSpPr>
          <p:nvPr/>
        </p:nvCxnSpPr>
        <p:spPr>
          <a:xfrm>
            <a:off x="5829300" y="2953055"/>
            <a:ext cx="29864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41A5BE57-4E38-4279-9A90-CDDAEE50B534}"/>
              </a:ext>
            </a:extLst>
          </p:cNvPr>
          <p:cNvCxnSpPr>
            <a:cxnSpLocks/>
          </p:cNvCxnSpPr>
          <p:nvPr/>
        </p:nvCxnSpPr>
        <p:spPr>
          <a:xfrm>
            <a:off x="7151077" y="3832210"/>
            <a:ext cx="16646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1235608-7E96-4546-94D6-5CB1A14C0F90}"/>
              </a:ext>
            </a:extLst>
          </p:cNvPr>
          <p:cNvCxnSpPr>
            <a:cxnSpLocks/>
          </p:cNvCxnSpPr>
          <p:nvPr/>
        </p:nvCxnSpPr>
        <p:spPr>
          <a:xfrm>
            <a:off x="8815755" y="3832210"/>
            <a:ext cx="19321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1C17E67-646C-4D7C-8051-63722B14F8D1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0747889" y="3832210"/>
            <a:ext cx="0" cy="569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B652828-47BE-4E13-A5C9-D6B11118952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151077" y="3837331"/>
            <a:ext cx="1" cy="55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49BB0F4E-C9F4-41F1-8766-79AA24DE9648}"/>
              </a:ext>
            </a:extLst>
          </p:cNvPr>
          <p:cNvCxnSpPr>
            <a:stCxn id="10" idx="2"/>
            <a:endCxn id="10" idx="2"/>
          </p:cNvCxnSpPr>
          <p:nvPr/>
        </p:nvCxnSpPr>
        <p:spPr>
          <a:xfrm>
            <a:off x="5829301" y="281237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AF9D5FAE-57EF-4AA4-8512-86977B6959BA}"/>
              </a:ext>
            </a:extLst>
          </p:cNvPr>
          <p:cNvCxnSpPr>
            <a:stCxn id="10" idx="2"/>
          </p:cNvCxnSpPr>
          <p:nvPr/>
        </p:nvCxnSpPr>
        <p:spPr>
          <a:xfrm flipH="1">
            <a:off x="5829300" y="2812378"/>
            <a:ext cx="1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3D1D3AC-E24E-43EC-BA33-7D50B097E018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989384" y="2953055"/>
            <a:ext cx="0" cy="8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F59B0A5-2F8F-4473-94C0-1A834DB0BB4D}"/>
              </a:ext>
            </a:extLst>
          </p:cNvPr>
          <p:cNvCxnSpPr>
            <a:stCxn id="11" idx="0"/>
          </p:cNvCxnSpPr>
          <p:nvPr/>
        </p:nvCxnSpPr>
        <p:spPr>
          <a:xfrm flipV="1">
            <a:off x="8815755" y="2951572"/>
            <a:ext cx="0" cy="780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EDFE4A87-E66A-438E-8E02-4C18FA56183A}"/>
              </a:ext>
            </a:extLst>
          </p:cNvPr>
          <p:cNvCxnSpPr>
            <a:cxnSpLocks/>
          </p:cNvCxnSpPr>
          <p:nvPr/>
        </p:nvCxnSpPr>
        <p:spPr>
          <a:xfrm>
            <a:off x="2939792" y="3756687"/>
            <a:ext cx="0" cy="346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D2EA51FD-122D-4F3F-880E-882461756B7E}"/>
              </a:ext>
            </a:extLst>
          </p:cNvPr>
          <p:cNvCxnSpPr>
            <a:cxnSpLocks/>
          </p:cNvCxnSpPr>
          <p:nvPr/>
        </p:nvCxnSpPr>
        <p:spPr>
          <a:xfrm>
            <a:off x="1501115" y="4103158"/>
            <a:ext cx="1438675" cy="1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BE3D0439-CDE3-4A49-84C0-269CAA07FA39}"/>
              </a:ext>
            </a:extLst>
          </p:cNvPr>
          <p:cNvCxnSpPr>
            <a:stCxn id="11" idx="2"/>
          </p:cNvCxnSpPr>
          <p:nvPr/>
        </p:nvCxnSpPr>
        <p:spPr>
          <a:xfrm flipH="1">
            <a:off x="8815754" y="3671216"/>
            <a:ext cx="1" cy="1609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057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48059-EF1A-4B18-8DC1-3F900376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TIERRA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4D7F98-E80D-49F2-94FB-FB4B34DF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514271-3F53-4701-A324-B90D98D88E7E}"/>
              </a:ext>
            </a:extLst>
          </p:cNvPr>
          <p:cNvSpPr txBox="1"/>
          <p:nvPr/>
        </p:nvSpPr>
        <p:spPr>
          <a:xfrm>
            <a:off x="667910" y="2345635"/>
            <a:ext cx="10408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dirty="0">
                <a:solidFill>
                  <a:schemeClr val="tx2"/>
                </a:solidFill>
              </a:rPr>
              <a:t>El aporte de la “tierra” al sistema productivo tiene dos expresiones:</a:t>
            </a:r>
          </a:p>
          <a:p>
            <a:pPr>
              <a:buClr>
                <a:schemeClr val="accent2"/>
              </a:buClr>
            </a:pPr>
            <a:endParaRPr lang="es-AR" dirty="0">
              <a:solidFill>
                <a:schemeClr val="tx2"/>
              </a:solidFill>
            </a:endParaRP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La </a:t>
            </a:r>
            <a:r>
              <a:rPr lang="es-AR" b="1" dirty="0">
                <a:solidFill>
                  <a:schemeClr val="tx2"/>
                </a:solidFill>
              </a:rPr>
              <a:t>materia</a:t>
            </a:r>
            <a:r>
              <a:rPr lang="es-AR" dirty="0">
                <a:solidFill>
                  <a:schemeClr val="tx2"/>
                </a:solidFill>
              </a:rPr>
              <a:t>, bienes a ser transformados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DF36E5-1B6A-436D-985B-7B8EE40F35EF}"/>
              </a:ext>
            </a:extLst>
          </p:cNvPr>
          <p:cNvSpPr txBox="1"/>
          <p:nvPr/>
        </p:nvSpPr>
        <p:spPr>
          <a:xfrm>
            <a:off x="1677724" y="3589036"/>
            <a:ext cx="5152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es-AR" b="1" dirty="0">
                <a:solidFill>
                  <a:schemeClr val="tx2"/>
                </a:solidFill>
              </a:rPr>
              <a:t>Materia prima directa</a:t>
            </a:r>
            <a:r>
              <a:rPr lang="es-AR" dirty="0">
                <a:solidFill>
                  <a:schemeClr val="tx2"/>
                </a:solidFill>
              </a:rPr>
              <a:t>: </a:t>
            </a:r>
          </a:p>
          <a:p>
            <a:pPr marL="285750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es la que es transformada física o químicamente y forma parte del producto terminado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43126F0-BFAF-4BEE-BC9B-1E47FEC9E377}"/>
              </a:ext>
            </a:extLst>
          </p:cNvPr>
          <p:cNvSpPr txBox="1"/>
          <p:nvPr/>
        </p:nvSpPr>
        <p:spPr>
          <a:xfrm>
            <a:off x="1677724" y="4947037"/>
            <a:ext cx="6543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Materia prima indirecta</a:t>
            </a:r>
            <a:r>
              <a:rPr lang="es-AR" dirty="0">
                <a:solidFill>
                  <a:schemeClr val="tx2"/>
                </a:solidFill>
              </a:rPr>
              <a:t>: 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Así como la MOI es la que “asiste” a la MOD, será esta materia prima la que provea a la componente directa de lo necesario para su transformación (aceites, lubricantes, refrigerantes, </a:t>
            </a:r>
            <a:r>
              <a:rPr lang="es-AR" dirty="0" err="1">
                <a:solidFill>
                  <a:schemeClr val="tx2"/>
                </a:solidFill>
              </a:rPr>
              <a:t>etc</a:t>
            </a:r>
            <a:r>
              <a:rPr lang="es-AR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0851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E1CEC-68BD-45AD-9373-E29B701D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TIERRA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808BFF-F5C2-494B-B5CC-14056C69F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D173958-0A1A-4076-A9C4-B6124980AF77}"/>
              </a:ext>
            </a:extLst>
          </p:cNvPr>
          <p:cNvSpPr txBox="1"/>
          <p:nvPr/>
        </p:nvSpPr>
        <p:spPr>
          <a:xfrm>
            <a:off x="581192" y="2552369"/>
            <a:ext cx="531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La </a:t>
            </a:r>
            <a:r>
              <a:rPr lang="es-AR" b="1" dirty="0">
                <a:solidFill>
                  <a:schemeClr val="tx2"/>
                </a:solidFill>
              </a:rPr>
              <a:t>energía</a:t>
            </a:r>
            <a:r>
              <a:rPr lang="es-AR" dirty="0">
                <a:solidFill>
                  <a:schemeClr val="tx2"/>
                </a:solidFill>
              </a:rPr>
              <a:t>, proveniente de los recursos naturales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BF2EF6-70A5-4C99-AFB2-B781D4B911AF}"/>
              </a:ext>
            </a:extLst>
          </p:cNvPr>
          <p:cNvSpPr txBox="1"/>
          <p:nvPr/>
        </p:nvSpPr>
        <p:spPr>
          <a:xfrm>
            <a:off x="1677724" y="3235882"/>
            <a:ext cx="65757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es-AR" b="1" dirty="0">
                <a:solidFill>
                  <a:schemeClr val="tx2"/>
                </a:solidFill>
              </a:rPr>
              <a:t>Recursos naturales renovables</a:t>
            </a:r>
            <a:r>
              <a:rPr lang="es-AR" dirty="0">
                <a:solidFill>
                  <a:schemeClr val="tx2"/>
                </a:solidFill>
              </a:rPr>
              <a:t>: </a:t>
            </a:r>
          </a:p>
          <a:p>
            <a:pPr marL="285750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Son los que, operando responsablemente y permitiendo la realización de ciclos biológicos, se reponen permanentemente (pesca, silvicultura, agricultura, ganadería, energía solar y eólica </a:t>
            </a:r>
            <a:r>
              <a:rPr lang="es-AR" dirty="0" err="1">
                <a:solidFill>
                  <a:schemeClr val="tx2"/>
                </a:solidFill>
              </a:rPr>
              <a:t>etc</a:t>
            </a:r>
            <a:r>
              <a:rPr lang="es-AR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D2A5D1-8990-4370-9D18-B3DB14B4BFD1}"/>
              </a:ext>
            </a:extLst>
          </p:cNvPr>
          <p:cNvSpPr txBox="1"/>
          <p:nvPr/>
        </p:nvSpPr>
        <p:spPr>
          <a:xfrm>
            <a:off x="1677724" y="4846668"/>
            <a:ext cx="5152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es-AR" b="1" dirty="0">
                <a:solidFill>
                  <a:schemeClr val="tx2"/>
                </a:solidFill>
              </a:rPr>
              <a:t>Recursos naturales no renovables</a:t>
            </a:r>
            <a:r>
              <a:rPr lang="es-AR" dirty="0">
                <a:solidFill>
                  <a:schemeClr val="tx2"/>
                </a:solidFill>
              </a:rPr>
              <a:t>: </a:t>
            </a:r>
          </a:p>
          <a:p>
            <a:pPr marL="285750" indent="-285750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Son aquellos que al ser utilizados no tienen reposición (por ejemplo la minería, el petróleo, </a:t>
            </a:r>
            <a:r>
              <a:rPr lang="es-AR" dirty="0" err="1">
                <a:solidFill>
                  <a:schemeClr val="tx2"/>
                </a:solidFill>
              </a:rPr>
              <a:t>etc</a:t>
            </a:r>
            <a:r>
              <a:rPr lang="es-AR" dirty="0">
                <a:solidFill>
                  <a:schemeClr val="tx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9281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610C5-5DC7-414F-9E20-93EAE103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dirty="0"/>
              <a:t>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52DFE9-AD2F-4935-B909-EEC1606C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6" name="Picture 2" descr="Investir em terrenos vale a pena?">
            <a:extLst>
              <a:ext uri="{FF2B5EF4-FFF2-40B4-BE49-F238E27FC236}">
                <a16:creationId xmlns:a16="http://schemas.microsoft.com/office/drawing/2014/main" id="{D3C99E4B-6B2F-4DBF-9B7F-D06C366AD9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3906" y="1887731"/>
            <a:ext cx="6074029" cy="325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tteria Italia, tutti i premi di consolazione da 50mila euro ...">
            <a:extLst>
              <a:ext uri="{FF2B5EF4-FFF2-40B4-BE49-F238E27FC236}">
                <a16:creationId xmlns:a16="http://schemas.microsoft.com/office/drawing/2014/main" id="{33518569-EC2E-43BB-BB3B-58C17917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73" y="3880237"/>
            <a:ext cx="4853434" cy="262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F860E64-D58E-408A-9D9F-91FF277885AB}"/>
              </a:ext>
            </a:extLst>
          </p:cNvPr>
          <p:cNvSpPr txBox="1"/>
          <p:nvPr/>
        </p:nvSpPr>
        <p:spPr>
          <a:xfrm>
            <a:off x="5947576" y="5454595"/>
            <a:ext cx="4452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800" b="1" dirty="0"/>
              <a:t>INTERES</a:t>
            </a:r>
          </a:p>
        </p:txBody>
      </p:sp>
    </p:spTree>
    <p:extLst>
      <p:ext uri="{BB962C8B-B14F-4D97-AF65-F5344CB8AC3E}">
        <p14:creationId xmlns:p14="http://schemas.microsoft.com/office/powerpoint/2010/main" val="774335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141F7-23A7-497B-9F28-6251EF6F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A5C43A-05B4-446D-9BD2-B94EEA45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5A90A9-5777-45E3-80AC-ECD1EB42038D}"/>
              </a:ext>
            </a:extLst>
          </p:cNvPr>
          <p:cNvSpPr txBox="1"/>
          <p:nvPr/>
        </p:nvSpPr>
        <p:spPr>
          <a:xfrm>
            <a:off x="783416" y="2287627"/>
            <a:ext cx="6795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Todo el dinero es aportado por los socios al que se le puede sumar dinero prestado.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79163FB-E20E-4C6B-BF48-AF017F842221}"/>
              </a:ext>
            </a:extLst>
          </p:cNvPr>
          <p:cNvSpPr/>
          <p:nvPr/>
        </p:nvSpPr>
        <p:spPr>
          <a:xfrm>
            <a:off x="5086346" y="3159509"/>
            <a:ext cx="188438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Capital disponible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42F48DA-BD26-4AE0-80F2-7BF5E6323F71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6020532" y="3805840"/>
            <a:ext cx="8006" cy="134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7FDE46D7-B96F-4940-8439-904F2FB8893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028538" y="3940290"/>
            <a:ext cx="942192" cy="3516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34CE9566-BE1C-495B-A50F-5EA731CD74BD}"/>
              </a:ext>
            </a:extLst>
          </p:cNvPr>
          <p:cNvCxnSpPr>
            <a:cxnSpLocks/>
            <a:endCxn id="29" idx="3"/>
          </p:cNvCxnSpPr>
          <p:nvPr/>
        </p:nvCxnSpPr>
        <p:spPr>
          <a:xfrm rot="10800000" flipV="1">
            <a:off x="5020409" y="3941625"/>
            <a:ext cx="992119" cy="35679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EF029D6-991E-4CB1-98FD-353D5B52C5CE}"/>
              </a:ext>
            </a:extLst>
          </p:cNvPr>
          <p:cNvSpPr/>
          <p:nvPr/>
        </p:nvSpPr>
        <p:spPr>
          <a:xfrm>
            <a:off x="3178490" y="3936910"/>
            <a:ext cx="1841918" cy="7230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Capital fijo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4ADD17E-0C4C-4E85-BED6-A26E03982BD7}"/>
              </a:ext>
            </a:extLst>
          </p:cNvPr>
          <p:cNvSpPr/>
          <p:nvPr/>
        </p:nvSpPr>
        <p:spPr>
          <a:xfrm>
            <a:off x="6970730" y="3924042"/>
            <a:ext cx="1841918" cy="735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Capital circulante</a:t>
            </a:r>
          </a:p>
        </p:txBody>
      </p:sp>
    </p:spTree>
    <p:extLst>
      <p:ext uri="{BB962C8B-B14F-4D97-AF65-F5344CB8AC3E}">
        <p14:creationId xmlns:p14="http://schemas.microsoft.com/office/powerpoint/2010/main" val="819419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2933DF-E46E-43A1-99BA-9400968F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C37252-5388-4DB2-BF23-3D1E1665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28D4CE-8DB7-4115-A0F1-7E8EDDA44E14}"/>
              </a:ext>
            </a:extLst>
          </p:cNvPr>
          <p:cNvSpPr txBox="1"/>
          <p:nvPr/>
        </p:nvSpPr>
        <p:spPr>
          <a:xfrm>
            <a:off x="1354015" y="2567354"/>
            <a:ext cx="5328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b="1" dirty="0">
                <a:solidFill>
                  <a:schemeClr val="tx2"/>
                </a:solidFill>
              </a:rPr>
              <a:t>Capital Fijo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Son los bienes que se utilizan reiteradas veces en el proceso productivo (maquinas, terreno, edificio, </a:t>
            </a:r>
            <a:r>
              <a:rPr lang="es-AR" dirty="0" err="1">
                <a:solidFill>
                  <a:schemeClr val="tx2"/>
                </a:solidFill>
              </a:rPr>
              <a:t>etc</a:t>
            </a:r>
            <a:r>
              <a:rPr lang="es-AR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B7FAEB1-E9E0-4581-9D22-2D1EE87149A8}"/>
              </a:ext>
            </a:extLst>
          </p:cNvPr>
          <p:cNvSpPr txBox="1"/>
          <p:nvPr/>
        </p:nvSpPr>
        <p:spPr>
          <a:xfrm>
            <a:off x="1354015" y="4689231"/>
            <a:ext cx="53281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AR" b="1" dirty="0">
                <a:solidFill>
                  <a:schemeClr val="tx2"/>
                </a:solidFill>
              </a:rPr>
              <a:t>Capital Circulante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Son los bienes que se consumen en un solo acto de producción, por ejemplo, la materia prima, la mano de obra. Es decir se consume en un ciclo productivo</a:t>
            </a:r>
          </a:p>
        </p:txBody>
      </p:sp>
    </p:spTree>
    <p:extLst>
      <p:ext uri="{BB962C8B-B14F-4D97-AF65-F5344CB8AC3E}">
        <p14:creationId xmlns:p14="http://schemas.microsoft.com/office/powerpoint/2010/main" val="3322253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ABE4E-19E5-42AD-A85C-DFB03C45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61B189-6A29-47F0-9491-982B1735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AECE3A1-0624-4BB9-B8B0-DAB0F9777FAB}"/>
              </a:ext>
            </a:extLst>
          </p:cNvPr>
          <p:cNvGrpSpPr/>
          <p:nvPr/>
        </p:nvGrpSpPr>
        <p:grpSpPr>
          <a:xfrm>
            <a:off x="625154" y="2597180"/>
            <a:ext cx="7745870" cy="3724082"/>
            <a:chOff x="928491" y="2558589"/>
            <a:chExt cx="7943898" cy="3094865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B6E4AAB5-5904-4A6D-BB31-274FBD86CB71}"/>
                </a:ext>
              </a:extLst>
            </p:cNvPr>
            <p:cNvSpPr/>
            <p:nvPr/>
          </p:nvSpPr>
          <p:spPr>
            <a:xfrm>
              <a:off x="1507880" y="2558589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D56EB46-6013-48DC-AF5A-F48F4EFAF229}"/>
                </a:ext>
              </a:extLst>
            </p:cNvPr>
            <p:cNvSpPr txBox="1"/>
            <p:nvPr/>
          </p:nvSpPr>
          <p:spPr>
            <a:xfrm>
              <a:off x="928491" y="2668506"/>
              <a:ext cx="3780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s-AR" dirty="0">
                <a:solidFill>
                  <a:schemeClr val="tx2"/>
                </a:solidFill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A1AAA58-1767-4763-8BAE-DD3A87A1171B}"/>
                </a:ext>
              </a:extLst>
            </p:cNvPr>
            <p:cNvSpPr txBox="1"/>
            <p:nvPr/>
          </p:nvSpPr>
          <p:spPr>
            <a:xfrm>
              <a:off x="1507880" y="3416656"/>
              <a:ext cx="3002143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F4DEF97-9594-490A-9D17-E65985018235}"/>
                </a:ext>
              </a:extLst>
            </p:cNvPr>
            <p:cNvSpPr txBox="1"/>
            <p:nvPr/>
          </p:nvSpPr>
          <p:spPr>
            <a:xfrm>
              <a:off x="1507880" y="4961671"/>
              <a:ext cx="3024554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92D050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E7DF6845-0EC8-4975-A191-9BC897CD8986}"/>
                </a:ext>
              </a:extLst>
            </p:cNvPr>
            <p:cNvSpPr txBox="1"/>
            <p:nvPr/>
          </p:nvSpPr>
          <p:spPr>
            <a:xfrm>
              <a:off x="5214789" y="4953097"/>
              <a:ext cx="3657600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92D050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ECC5538-0243-4AAA-9147-EDEEA3F0BBA4}"/>
              </a:ext>
            </a:extLst>
          </p:cNvPr>
          <p:cNvGrpSpPr/>
          <p:nvPr/>
        </p:nvGrpSpPr>
        <p:grpSpPr>
          <a:xfrm>
            <a:off x="4732797" y="2597174"/>
            <a:ext cx="2943836" cy="3724082"/>
            <a:chOff x="1507561" y="2558589"/>
            <a:chExt cx="3049492" cy="3094865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E1181558-4E32-4049-ACB8-DEA5439C85D1}"/>
                </a:ext>
              </a:extLst>
            </p:cNvPr>
            <p:cNvSpPr/>
            <p:nvPr/>
          </p:nvSpPr>
          <p:spPr>
            <a:xfrm>
              <a:off x="1507880" y="2558589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ADC9823-14F3-4FBA-A087-18684E1D0C2B}"/>
                </a:ext>
              </a:extLst>
            </p:cNvPr>
            <p:cNvSpPr txBox="1"/>
            <p:nvPr/>
          </p:nvSpPr>
          <p:spPr>
            <a:xfrm>
              <a:off x="1507561" y="2668506"/>
              <a:ext cx="3024554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DEPRECIACION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E3716BD-7044-4D05-92A6-BD8101E55862}"/>
                </a:ext>
              </a:extLst>
            </p:cNvPr>
            <p:cNvSpPr txBox="1"/>
            <p:nvPr/>
          </p:nvSpPr>
          <p:spPr>
            <a:xfrm>
              <a:off x="1507880" y="3416656"/>
              <a:ext cx="3040059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C179CB4-A215-4110-A192-A1033C2D8A42}"/>
                </a:ext>
              </a:extLst>
            </p:cNvPr>
            <p:cNvSpPr txBox="1"/>
            <p:nvPr/>
          </p:nvSpPr>
          <p:spPr>
            <a:xfrm>
              <a:off x="1507561" y="4891512"/>
              <a:ext cx="3049492" cy="306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66D142A8-6052-41F6-8A2E-4E476FE3A1E9}"/>
              </a:ext>
            </a:extLst>
          </p:cNvPr>
          <p:cNvGrpSpPr/>
          <p:nvPr/>
        </p:nvGrpSpPr>
        <p:grpSpPr>
          <a:xfrm>
            <a:off x="8227549" y="2597180"/>
            <a:ext cx="2943836" cy="3724076"/>
            <a:chOff x="1507880" y="2563723"/>
            <a:chExt cx="3047619" cy="3094865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79566BA-98C6-47BB-88D8-ECD452ACBD3E}"/>
                </a:ext>
              </a:extLst>
            </p:cNvPr>
            <p:cNvSpPr/>
            <p:nvPr/>
          </p:nvSpPr>
          <p:spPr>
            <a:xfrm>
              <a:off x="1507880" y="2563723"/>
              <a:ext cx="3024554" cy="3094865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2900CAE-7715-41E4-B19B-AE8677972FBA}"/>
                </a:ext>
              </a:extLst>
            </p:cNvPr>
            <p:cNvSpPr txBox="1"/>
            <p:nvPr/>
          </p:nvSpPr>
          <p:spPr>
            <a:xfrm>
              <a:off x="1507880" y="3416656"/>
              <a:ext cx="3023389" cy="30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ctr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FIJO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F99549A-03FD-4AFF-AD67-15053EEE76B6}"/>
                </a:ext>
              </a:extLst>
            </p:cNvPr>
            <p:cNvSpPr txBox="1"/>
            <p:nvPr/>
          </p:nvSpPr>
          <p:spPr>
            <a:xfrm>
              <a:off x="1507880" y="4874817"/>
              <a:ext cx="3047619" cy="30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chemeClr val="accent2"/>
                </a:buClr>
                <a:buFont typeface="Arial" panose="020B0604020202020204" pitchFamily="34" charset="0"/>
                <a:buChar char="•"/>
              </a:pPr>
              <a:r>
                <a:rPr lang="es-AR" dirty="0">
                  <a:solidFill>
                    <a:schemeClr val="tx2"/>
                  </a:solidFill>
                </a:rPr>
                <a:t>CAPITAL CIRCULANTE</a:t>
              </a:r>
            </a:p>
          </p:txBody>
        </p:sp>
      </p:grp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3DD2139-505F-442F-ACB3-F37FA9C7B5E2}"/>
              </a:ext>
            </a:extLst>
          </p:cNvPr>
          <p:cNvCxnSpPr>
            <a:cxnSpLocks/>
          </p:cNvCxnSpPr>
          <p:nvPr/>
        </p:nvCxnSpPr>
        <p:spPr>
          <a:xfrm>
            <a:off x="4732797" y="3096628"/>
            <a:ext cx="2919762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49204DC-9D52-47F1-8851-D55A5A588A78}"/>
              </a:ext>
            </a:extLst>
          </p:cNvPr>
          <p:cNvCxnSpPr>
            <a:cxnSpLocks/>
          </p:cNvCxnSpPr>
          <p:nvPr/>
        </p:nvCxnSpPr>
        <p:spPr>
          <a:xfrm>
            <a:off x="8260027" y="4541498"/>
            <a:ext cx="2887953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0F07FE5-0DBA-4189-8109-202401D56848}"/>
              </a:ext>
            </a:extLst>
          </p:cNvPr>
          <p:cNvCxnSpPr>
            <a:cxnSpLocks/>
          </p:cNvCxnSpPr>
          <p:nvPr/>
        </p:nvCxnSpPr>
        <p:spPr>
          <a:xfrm>
            <a:off x="8227548" y="5001043"/>
            <a:ext cx="292043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5FB1ACF-C1F7-41C3-AE83-34FB9FA5A6BB}"/>
              </a:ext>
            </a:extLst>
          </p:cNvPr>
          <p:cNvCxnSpPr>
            <a:cxnSpLocks/>
          </p:cNvCxnSpPr>
          <p:nvPr/>
        </p:nvCxnSpPr>
        <p:spPr>
          <a:xfrm>
            <a:off x="4732797" y="5001830"/>
            <a:ext cx="2919762" cy="2701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675BDDB-E3EF-43C2-BC33-389920C8320F}"/>
              </a:ext>
            </a:extLst>
          </p:cNvPr>
          <p:cNvCxnSpPr>
            <a:cxnSpLocks/>
          </p:cNvCxnSpPr>
          <p:nvPr/>
        </p:nvCxnSpPr>
        <p:spPr>
          <a:xfrm>
            <a:off x="1208867" y="5028994"/>
            <a:ext cx="29085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04650A4-39BF-484C-B7FD-78874A05B825}"/>
              </a:ext>
            </a:extLst>
          </p:cNvPr>
          <p:cNvSpPr txBox="1"/>
          <p:nvPr/>
        </p:nvSpPr>
        <p:spPr>
          <a:xfrm>
            <a:off x="8394932" y="4659516"/>
            <a:ext cx="282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AMORTIZACION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242E0DFD-02B4-41F8-B254-634BE6638092}"/>
              </a:ext>
            </a:extLst>
          </p:cNvPr>
          <p:cNvCxnSpPr/>
          <p:nvPr/>
        </p:nvCxnSpPr>
        <p:spPr>
          <a:xfrm>
            <a:off x="7517521" y="2607345"/>
            <a:ext cx="0" cy="48928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B85953F1-CD1A-426E-B752-B23DC46A7A04}"/>
              </a:ext>
            </a:extLst>
          </p:cNvPr>
          <p:cNvCxnSpPr/>
          <p:nvPr/>
        </p:nvCxnSpPr>
        <p:spPr>
          <a:xfrm flipV="1">
            <a:off x="10921840" y="4541498"/>
            <a:ext cx="0" cy="459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46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08612-CF2B-4CD7-AD37-06C6DA79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13DA40-485E-4FF6-B20F-D99B4232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3775641"/>
          </a:xfrm>
        </p:spPr>
        <p:txBody>
          <a:bodyPr anchor="t"/>
          <a:lstStyle/>
          <a:p>
            <a:r>
              <a:rPr lang="es-AR" b="1" dirty="0"/>
              <a:t>Capital Fijo:</a:t>
            </a:r>
          </a:p>
          <a:p>
            <a:pPr marL="324000" lvl="1" indent="0">
              <a:buNone/>
            </a:pPr>
            <a:r>
              <a:rPr lang="es-AR" dirty="0"/>
              <a:t>	   </a:t>
            </a:r>
            <a:r>
              <a:rPr lang="es-AR" sz="1800" dirty="0"/>
              <a:t>Dijimos que es el conformado por el conjunto de bienes que se aplican reiteradamente al proceso productivo.</a:t>
            </a:r>
          </a:p>
          <a:p>
            <a:pPr marL="324000" lvl="1" indent="0">
              <a:buNone/>
            </a:pPr>
            <a:r>
              <a:rPr lang="es-AR" sz="1800" dirty="0"/>
              <a:t>	   Así como se consume la materia prima, también se consume, a través del tiempo, los bienes de capital,</a:t>
            </a:r>
          </a:p>
          <a:p>
            <a:pPr marL="324000" lvl="1" indent="0">
              <a:buNone/>
            </a:pPr>
            <a:r>
              <a:rPr lang="es-AR" sz="1800" dirty="0"/>
              <a:t>	   con el único bien que no pasa esto es con el terreno, todos los demás pierden su valor a lo largo del tiempo,  	   hasta el fin de su vida útil.</a:t>
            </a:r>
          </a:p>
          <a:p>
            <a:pPr marL="324000" lvl="1" indent="0">
              <a:buNone/>
            </a:pPr>
            <a:r>
              <a:rPr lang="es-AR" sz="1800" dirty="0"/>
              <a:t>	   Su valor de mercado ha disminuido, </a:t>
            </a:r>
            <a:r>
              <a:rPr lang="es-AR" sz="1800" b="1" dirty="0"/>
              <a:t>se ha depreciado</a:t>
            </a:r>
            <a:r>
              <a:rPr lang="es-AR" sz="1800" dirty="0"/>
              <a:t>, deberemos encontrar alguna herramienta para 	   	   contraponer a esto,</a:t>
            </a:r>
          </a:p>
          <a:p>
            <a:pPr marL="324000" lvl="1" indent="0">
              <a:buNone/>
            </a:pPr>
            <a:r>
              <a:rPr lang="es-AR" sz="1800" dirty="0"/>
              <a:t>	   esta herramienta es la </a:t>
            </a:r>
            <a:r>
              <a:rPr lang="es-AR" sz="1800" b="1" dirty="0"/>
              <a:t>amortización</a:t>
            </a:r>
            <a:r>
              <a:rPr lang="es-AR" sz="1800" dirty="0"/>
              <a:t>, y consiste en descontar de la ganancia una cantidad para prever el 	   	   reemplazo del bien</a:t>
            </a:r>
            <a:endParaRPr lang="es-AR" sz="1800" b="1" dirty="0"/>
          </a:p>
          <a:p>
            <a:pPr marL="324000" lvl="1" indent="0">
              <a:buNone/>
            </a:pPr>
            <a:endParaRPr lang="es-AR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0E05C0-68FC-45B3-A126-8FF65FD9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758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CC793-3C8C-4A09-B31C-492B2EB2C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C740DE-674A-4899-9D3A-60FA0163D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s-AR" b="1" dirty="0"/>
              <a:t>Capital Circulante:</a:t>
            </a:r>
          </a:p>
          <a:p>
            <a:pPr lvl="1"/>
            <a:r>
              <a:rPr lang="es-AR" sz="1800" dirty="0"/>
              <a:t>Vimos que el </a:t>
            </a:r>
            <a:r>
              <a:rPr lang="es-AR" sz="1800" b="1" dirty="0"/>
              <a:t>Capital Fijo </a:t>
            </a:r>
            <a:r>
              <a:rPr lang="es-AR" sz="1800" dirty="0"/>
              <a:t>es estático y de lenta recuperación.</a:t>
            </a:r>
          </a:p>
          <a:p>
            <a:pPr marL="324000" lvl="1" indent="0">
              <a:buNone/>
            </a:pPr>
            <a:r>
              <a:rPr lang="es-AR" sz="1800" dirty="0"/>
              <a:t>	    Distinto es el comportamiento del </a:t>
            </a:r>
            <a:r>
              <a:rPr lang="es-AR" sz="1800" b="1" dirty="0"/>
              <a:t>Capital Circulante</a:t>
            </a:r>
            <a:r>
              <a:rPr lang="es-AR" sz="1800" dirty="0"/>
              <a:t>, este es dinámico, y al estar aplicado directamente al   	    producto, y para poder utilizarlo nuevamente, es necesario venderlo y cobrarlo.</a:t>
            </a:r>
          </a:p>
          <a:p>
            <a:pPr marL="324000" lvl="1" indent="0">
              <a:buNone/>
            </a:pPr>
            <a:r>
              <a:rPr lang="es-AR" sz="1800" dirty="0"/>
              <a:t>	    De esta manera se genera un ingreso de utilidades a la empresa.  A este circuito se lo llama </a:t>
            </a:r>
            <a:r>
              <a:rPr lang="es-AR" sz="1800" b="1" dirty="0"/>
              <a:t>Circuito del 	  	    capital circulante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7FFF25-0332-4F03-8081-322D67498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850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E04E0-193E-4D9D-B7AF-595F4D13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7925C4-B817-449D-ADE2-98A04F33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18812A-B1E7-4B68-8641-B15502517272}"/>
              </a:ext>
            </a:extLst>
          </p:cNvPr>
          <p:cNvSpPr/>
          <p:nvPr/>
        </p:nvSpPr>
        <p:spPr>
          <a:xfrm>
            <a:off x="4373608" y="3872736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Sistema Bancario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F205C-AA26-48BC-BDE0-23C47B80AD49}"/>
              </a:ext>
            </a:extLst>
          </p:cNvPr>
          <p:cNvSpPr/>
          <p:nvPr/>
        </p:nvSpPr>
        <p:spPr>
          <a:xfrm>
            <a:off x="1996754" y="5042462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Mercado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64A3520-72AF-4C27-BD23-8371D33089FC}"/>
              </a:ext>
            </a:extLst>
          </p:cNvPr>
          <p:cNvSpPr/>
          <p:nvPr/>
        </p:nvSpPr>
        <p:spPr>
          <a:xfrm>
            <a:off x="6930364" y="5042461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Producto Terminado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919FF5-FA25-4002-ADAE-F1909EF9CCFB}"/>
              </a:ext>
            </a:extLst>
          </p:cNvPr>
          <p:cNvSpPr/>
          <p:nvPr/>
        </p:nvSpPr>
        <p:spPr>
          <a:xfrm>
            <a:off x="4373608" y="5042462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Nudo de Ventas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3B2309C-0CBA-48BB-861A-EF1A69856762}"/>
              </a:ext>
            </a:extLst>
          </p:cNvPr>
          <p:cNvSpPr/>
          <p:nvPr/>
        </p:nvSpPr>
        <p:spPr>
          <a:xfrm>
            <a:off x="6930363" y="3872736"/>
            <a:ext cx="1868369" cy="540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Proceso Productivo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A75196A-3D79-477C-8F08-A28BDD002C20}"/>
              </a:ext>
            </a:extLst>
          </p:cNvPr>
          <p:cNvCxnSpPr/>
          <p:nvPr/>
        </p:nvCxnSpPr>
        <p:spPr>
          <a:xfrm>
            <a:off x="3873915" y="5495193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D8FEEF8-9A08-413D-9D91-495956C8D619}"/>
              </a:ext>
            </a:extLst>
          </p:cNvPr>
          <p:cNvCxnSpPr>
            <a:cxnSpLocks/>
          </p:cNvCxnSpPr>
          <p:nvPr/>
        </p:nvCxnSpPr>
        <p:spPr>
          <a:xfrm flipH="1">
            <a:off x="3873915" y="5225563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6E30689-530A-44E7-A716-502530B1C7C9}"/>
              </a:ext>
            </a:extLst>
          </p:cNvPr>
          <p:cNvCxnSpPr>
            <a:cxnSpLocks/>
          </p:cNvCxnSpPr>
          <p:nvPr/>
        </p:nvCxnSpPr>
        <p:spPr>
          <a:xfrm flipH="1">
            <a:off x="6303523" y="5309568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E3ED1D4-3A26-4E4D-84A3-AF8EC1029E4B}"/>
              </a:ext>
            </a:extLst>
          </p:cNvPr>
          <p:cNvCxnSpPr/>
          <p:nvPr/>
        </p:nvCxnSpPr>
        <p:spPr>
          <a:xfrm>
            <a:off x="6365069" y="4142773"/>
            <a:ext cx="499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07D2947-0A26-4AB4-B22C-77573DE4342D}"/>
              </a:ext>
            </a:extLst>
          </p:cNvPr>
          <p:cNvCxnSpPr>
            <a:cxnSpLocks/>
          </p:cNvCxnSpPr>
          <p:nvPr/>
        </p:nvCxnSpPr>
        <p:spPr>
          <a:xfrm>
            <a:off x="7799338" y="4497396"/>
            <a:ext cx="0" cy="435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406BA0C-20F7-45AC-AD3D-29BA0C463EF6}"/>
              </a:ext>
            </a:extLst>
          </p:cNvPr>
          <p:cNvCxnSpPr>
            <a:cxnSpLocks/>
          </p:cNvCxnSpPr>
          <p:nvPr/>
        </p:nvCxnSpPr>
        <p:spPr>
          <a:xfrm flipV="1">
            <a:off x="5199746" y="4511381"/>
            <a:ext cx="0" cy="435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áfico 26" descr="Flecha lineal: giro a la derecha">
            <a:extLst>
              <a:ext uri="{FF2B5EF4-FFF2-40B4-BE49-F238E27FC236}">
                <a16:creationId xmlns:a16="http://schemas.microsoft.com/office/drawing/2014/main" id="{B5A183E3-97F4-4160-A21A-F0198F2F7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45171">
            <a:off x="6226090" y="4449677"/>
            <a:ext cx="654559" cy="654559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1C00736-2D4D-454A-B454-03CC6C269088}"/>
              </a:ext>
            </a:extLst>
          </p:cNvPr>
          <p:cNvSpPr txBox="1"/>
          <p:nvPr/>
        </p:nvSpPr>
        <p:spPr>
          <a:xfrm>
            <a:off x="2303584" y="2464458"/>
            <a:ext cx="6260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>
                <a:solidFill>
                  <a:schemeClr val="tx2"/>
                </a:solidFill>
              </a:rPr>
              <a:t>CIRCUITO DEL CAPITAL CIRCULANTE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B51EB66-6FBA-446E-AFC4-B689C1B21FD0}"/>
              </a:ext>
            </a:extLst>
          </p:cNvPr>
          <p:cNvSpPr txBox="1"/>
          <p:nvPr/>
        </p:nvSpPr>
        <p:spPr>
          <a:xfrm>
            <a:off x="5775827" y="4499091"/>
            <a:ext cx="23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Velocidad de Giro</a:t>
            </a:r>
          </a:p>
        </p:txBody>
      </p:sp>
    </p:spTree>
    <p:extLst>
      <p:ext uri="{BB962C8B-B14F-4D97-AF65-F5344CB8AC3E}">
        <p14:creationId xmlns:p14="http://schemas.microsoft.com/office/powerpoint/2010/main" val="810476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2B639-B777-4ECC-B022-D804EB4B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Capital De la empresa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31F7D-ED7D-4E83-9759-2D0EEF53C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s-AR" dirty="0"/>
              <a:t>Circuito del Capital Circulante: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dirty="0"/>
              <a:t>El capital disponible que se encuentra en el </a:t>
            </a:r>
            <a:r>
              <a:rPr lang="es-AR" b="1" dirty="0"/>
              <a:t>Sistema   Bancario</a:t>
            </a:r>
            <a:r>
              <a:rPr lang="es-AR" dirty="0"/>
              <a:t>, se transfiere al </a:t>
            </a:r>
            <a:r>
              <a:rPr lang="es-AR" b="1" dirty="0"/>
              <a:t>Proceso Productivo</a:t>
            </a:r>
            <a:r>
              <a:rPr lang="es-AR" dirty="0"/>
              <a:t>, </a:t>
            </a:r>
          </a:p>
          <a:p>
            <a:pPr marL="324000" lvl="1" indent="0">
              <a:buNone/>
            </a:pPr>
            <a:r>
              <a:rPr lang="es-AR" b="1" dirty="0"/>
              <a:t>	   </a:t>
            </a:r>
            <a:r>
              <a:rPr lang="es-AR" dirty="0"/>
              <a:t>Este lo elabora y genera el </a:t>
            </a:r>
            <a:r>
              <a:rPr lang="es-AR" b="1" dirty="0"/>
              <a:t>Producto Terminado</a:t>
            </a:r>
            <a:r>
              <a:rPr lang="es-AR" dirty="0"/>
              <a:t>, que se entrega al mercado desde lo que llamamos el </a:t>
            </a:r>
            <a:r>
              <a:rPr lang="es-AR" b="1" dirty="0"/>
              <a:t>Nudo de Ventas</a:t>
            </a:r>
            <a:r>
              <a:rPr lang="es-AR" dirty="0"/>
              <a:t>.</a:t>
            </a:r>
          </a:p>
          <a:p>
            <a:pPr marL="324000" lvl="1" indent="0">
              <a:buNone/>
            </a:pPr>
            <a:r>
              <a:rPr lang="es-AR" b="1" dirty="0"/>
              <a:t>	   </a:t>
            </a:r>
            <a:r>
              <a:rPr lang="es-AR" dirty="0"/>
              <a:t>El dinero retorna  a través de el hacia el </a:t>
            </a:r>
            <a:r>
              <a:rPr lang="es-AR" b="1" dirty="0"/>
              <a:t>Sistema Bancario</a:t>
            </a:r>
            <a:r>
              <a:rPr lang="es-AR" dirty="0"/>
              <a:t>, para seguir alimentando al </a:t>
            </a:r>
            <a:r>
              <a:rPr lang="es-AR" b="1" dirty="0"/>
              <a:t>Proceso Productivo</a:t>
            </a:r>
            <a:r>
              <a:rPr lang="es-AR" dirty="0"/>
              <a:t>.</a:t>
            </a:r>
          </a:p>
          <a:p>
            <a:pPr marL="324000" lvl="1" indent="0">
              <a:buNone/>
            </a:pPr>
            <a:r>
              <a:rPr lang="es-AR" b="1" dirty="0"/>
              <a:t>	</a:t>
            </a:r>
            <a:r>
              <a:rPr lang="es-AR" dirty="0"/>
              <a:t>   Al tiempo que le lleva en realizar todo el ciclo completo y regresar al </a:t>
            </a:r>
            <a:r>
              <a:rPr lang="es-AR" b="1" dirty="0"/>
              <a:t>Sistema Bancario </a:t>
            </a:r>
            <a:r>
              <a:rPr lang="es-AR" dirty="0"/>
              <a:t>se lo llama </a:t>
            </a:r>
            <a:r>
              <a:rPr lang="es-AR" b="1" dirty="0"/>
              <a:t>Velocidad de Giro</a:t>
            </a:r>
            <a:r>
              <a:rPr lang="es-AR" dirty="0"/>
              <a:t>.</a:t>
            </a:r>
          </a:p>
          <a:p>
            <a:pPr marL="324000" lvl="1" indent="0">
              <a:buNone/>
            </a:pPr>
            <a:r>
              <a:rPr lang="es-AR" b="1" dirty="0"/>
              <a:t>	  </a:t>
            </a:r>
            <a:r>
              <a:rPr lang="es-AR" dirty="0"/>
              <a:t> Y es fundamental para la rentabilidad de la empresa, cuanto mayor sea esta velocidad, mayor la cantidad de veces que 	   	   circulará este capital, incrementando la utilidad de la empresa.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8CFE28-FCB2-4F8C-9BCB-9354FE49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662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16443-334A-4841-91C1-A763FA2F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43F287-B2F8-4DC3-88B8-C6872BB5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Abrir llave 6">
            <a:extLst>
              <a:ext uri="{FF2B5EF4-FFF2-40B4-BE49-F238E27FC236}">
                <a16:creationId xmlns:a16="http://schemas.microsoft.com/office/drawing/2014/main" id="{141AA924-2A7F-4E59-83DC-D94EEEF61358}"/>
              </a:ext>
            </a:extLst>
          </p:cNvPr>
          <p:cNvSpPr/>
          <p:nvPr/>
        </p:nvSpPr>
        <p:spPr>
          <a:xfrm>
            <a:off x="2092569" y="2567354"/>
            <a:ext cx="545124" cy="3138854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B95FC593-AA76-41DB-A838-AB8956D566AB}"/>
              </a:ext>
            </a:extLst>
          </p:cNvPr>
          <p:cNvSpPr/>
          <p:nvPr/>
        </p:nvSpPr>
        <p:spPr>
          <a:xfrm>
            <a:off x="4626785" y="3968908"/>
            <a:ext cx="445476" cy="2338347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09C68DB0-1C90-462A-A5F1-45A413DBC1F5}"/>
              </a:ext>
            </a:extLst>
          </p:cNvPr>
          <p:cNvSpPr/>
          <p:nvPr/>
        </p:nvSpPr>
        <p:spPr>
          <a:xfrm>
            <a:off x="6995079" y="3462003"/>
            <a:ext cx="276159" cy="1680041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08D500-B7E6-456D-96AC-8CF8328B1EBA}"/>
              </a:ext>
            </a:extLst>
          </p:cNvPr>
          <p:cNvSpPr txBox="1"/>
          <p:nvPr/>
        </p:nvSpPr>
        <p:spPr>
          <a:xfrm>
            <a:off x="546922" y="3952115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CAPITAL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8DDE8F9-5CC9-4160-A64B-7F531D703202}"/>
              </a:ext>
            </a:extLst>
          </p:cNvPr>
          <p:cNvSpPr txBox="1"/>
          <p:nvPr/>
        </p:nvSpPr>
        <p:spPr>
          <a:xfrm>
            <a:off x="2787163" y="2756361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PROPIO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CABD0F6-AE5D-4BB7-A13F-D4BF5BF0FCF0}"/>
              </a:ext>
            </a:extLst>
          </p:cNvPr>
          <p:cNvSpPr txBox="1"/>
          <p:nvPr/>
        </p:nvSpPr>
        <p:spPr>
          <a:xfrm>
            <a:off x="2812639" y="4957379"/>
            <a:ext cx="159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PRESTADO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195422-274A-48E7-915F-0A6928C5B70B}"/>
              </a:ext>
            </a:extLst>
          </p:cNvPr>
          <p:cNvSpPr txBox="1"/>
          <p:nvPr/>
        </p:nvSpPr>
        <p:spPr>
          <a:xfrm>
            <a:off x="5348320" y="4039969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ASOCIADO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CF60448-C1CB-4A6C-B687-A4D854483BB0}"/>
              </a:ext>
            </a:extLst>
          </p:cNvPr>
          <p:cNvSpPr txBox="1"/>
          <p:nvPr/>
        </p:nvSpPr>
        <p:spPr>
          <a:xfrm>
            <a:off x="5348320" y="5786512"/>
            <a:ext cx="137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CREDITO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11A6F59-070D-48D2-B4F5-2F39DE0667EA}"/>
              </a:ext>
            </a:extLst>
          </p:cNvPr>
          <p:cNvSpPr txBox="1"/>
          <p:nvPr/>
        </p:nvSpPr>
        <p:spPr>
          <a:xfrm>
            <a:off x="7349934" y="3488612"/>
            <a:ext cx="2883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Sociedades Abiertas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Emisión de acciones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0A0EE62-D1E7-4648-A652-86DF849D8A50}"/>
              </a:ext>
            </a:extLst>
          </p:cNvPr>
          <p:cNvSpPr txBox="1"/>
          <p:nvPr/>
        </p:nvSpPr>
        <p:spPr>
          <a:xfrm>
            <a:off x="7349934" y="4182947"/>
            <a:ext cx="32883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Sociedades Cerradas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Aportes socios</a:t>
            </a:r>
          </a:p>
          <a:p>
            <a:pPr marL="742950" lvl="1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Aportes nuevos socios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AR" dirty="0"/>
          </a:p>
        </p:txBody>
      </p:sp>
      <p:sp>
        <p:nvSpPr>
          <p:cNvPr id="18" name="Abrir llave 17">
            <a:extLst>
              <a:ext uri="{FF2B5EF4-FFF2-40B4-BE49-F238E27FC236}">
                <a16:creationId xmlns:a16="http://schemas.microsoft.com/office/drawing/2014/main" id="{07A5AF11-F080-4A68-A646-9A1D03B88E8E}"/>
              </a:ext>
            </a:extLst>
          </p:cNvPr>
          <p:cNvSpPr/>
          <p:nvPr/>
        </p:nvSpPr>
        <p:spPr>
          <a:xfrm>
            <a:off x="7073775" y="5491833"/>
            <a:ext cx="197463" cy="815422"/>
          </a:xfrm>
          <a:prstGeom prst="leftBrace">
            <a:avLst>
              <a:gd name="adj1" fmla="val 6317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3AE36E-6F38-439D-BA1E-5CF55B611348}"/>
              </a:ext>
            </a:extLst>
          </p:cNvPr>
          <p:cNvSpPr txBox="1"/>
          <p:nvPr/>
        </p:nvSpPr>
        <p:spPr>
          <a:xfrm>
            <a:off x="7438292" y="5689797"/>
            <a:ext cx="256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dirty="0">
                <a:solidFill>
                  <a:schemeClr val="tx2"/>
                </a:solidFill>
              </a:rPr>
              <a:t>Prestamos Bancarios</a:t>
            </a:r>
          </a:p>
        </p:txBody>
      </p:sp>
    </p:spTree>
    <p:extLst>
      <p:ext uri="{BB962C8B-B14F-4D97-AF65-F5344CB8AC3E}">
        <p14:creationId xmlns:p14="http://schemas.microsoft.com/office/powerpoint/2010/main" val="543305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419FE-234D-4E59-A9F4-43909FA1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11376A-9BF1-42F2-9E71-F4249C655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s-AR" b="1" dirty="0"/>
              <a:t>Ventajas de asociar capital: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Corre los riesgos propios de la industrias, si no hay ganancia, la perdida será distribuida entre un mayor numero de socios.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Deja libre  toda la capacidad de endeudamiento de la empresa como reserva para épocas de crisis.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El edificio y el parque de maquinas, libre de hipotecas y prendas.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Se tiene la capacidad de vender o reemplazar  todo en cualquier momento.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2C1E84-6F34-4633-9A0B-F4EE464F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045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646B8-B737-41CA-B908-F35D25A1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E827BB-8057-4B24-A1E0-A8C8CC458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927842"/>
            <a:ext cx="11029615" cy="3678303"/>
          </a:xfrm>
        </p:spPr>
        <p:txBody>
          <a:bodyPr anchor="t"/>
          <a:lstStyle/>
          <a:p>
            <a:r>
              <a:rPr lang="es-AR" b="1" dirty="0"/>
              <a:t>Desventajas de asociar capital: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Si hay ganancia será distribuidas entre un mayor numero de socios.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Es el mas castigado impositivamente, ya que los intereses de los créditos son descontados de ganancias.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Si la posibilidad de devolver el préstamo se estima que sea con facilidad no conviene asociar capital.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8ED90B-2FA6-4025-8D50-A1737467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287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0F10F-B081-4B12-8C3C-EBA12AA0A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Costo de capital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22DE2A-AD76-45A2-B522-D190C0D5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751996"/>
            <a:ext cx="11029615" cy="3678303"/>
          </a:xfrm>
        </p:spPr>
        <p:txBody>
          <a:bodyPr anchor="t"/>
          <a:lstStyle/>
          <a:p>
            <a:r>
              <a:rPr lang="es-AR" b="1" dirty="0"/>
              <a:t>Crédito: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Es sano tomar un crédito si no se excede determinadas proporciones, esto es particular para cada industria.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AR" sz="1800" dirty="0"/>
              <a:t>El planteo de comenzar una explotación con una porción muy grande de capital prestado y esperar de la capitalización de la empresa su devolución, por lo general es equivocado.</a:t>
            </a:r>
          </a:p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BD7062-4F98-4653-A8DC-4610D995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715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289CB-BC09-4569-871A-3A52B661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800" dirty="0"/>
              <a:t>HABILIDADES EMPRESARIALES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D9BA78-52EC-4AC3-8A6E-F89540511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2054" name="Picture 6" descr="consultoría en recursos humanos - planillas de recursos humanos">
            <a:extLst>
              <a:ext uri="{FF2B5EF4-FFF2-40B4-BE49-F238E27FC236}">
                <a16:creationId xmlns:a16="http://schemas.microsoft.com/office/drawing/2014/main" id="{381DDC6D-0833-4217-86C8-10441974C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10" y="2305920"/>
            <a:ext cx="7857909" cy="384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0D3EF9C-C70C-4CBD-97A6-F875BD55DF05}"/>
              </a:ext>
            </a:extLst>
          </p:cNvPr>
          <p:cNvSpPr txBox="1"/>
          <p:nvPr/>
        </p:nvSpPr>
        <p:spPr>
          <a:xfrm>
            <a:off x="7573283" y="5307702"/>
            <a:ext cx="3681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800" dirty="0"/>
              <a:t>BENEFICIO</a:t>
            </a:r>
          </a:p>
        </p:txBody>
      </p:sp>
    </p:spTree>
    <p:extLst>
      <p:ext uri="{BB962C8B-B14F-4D97-AF65-F5344CB8AC3E}">
        <p14:creationId xmlns:p14="http://schemas.microsoft.com/office/powerpoint/2010/main" val="137255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CA21F-375A-4366-880D-6AA07969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HABILIDADES EMPRESARIALES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909529-F390-4ED9-A76E-E70D67B8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B0CF23E-0EAE-4CB6-9A99-9A9991183676}"/>
              </a:ext>
            </a:extLst>
          </p:cNvPr>
          <p:cNvCxnSpPr>
            <a:cxnSpLocks/>
          </p:cNvCxnSpPr>
          <p:nvPr/>
        </p:nvCxnSpPr>
        <p:spPr>
          <a:xfrm>
            <a:off x="4010311" y="3150399"/>
            <a:ext cx="16646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F371F2-520D-4EEB-AA8F-D9D8BCF421DC}"/>
              </a:ext>
            </a:extLst>
          </p:cNvPr>
          <p:cNvCxnSpPr>
            <a:cxnSpLocks/>
          </p:cNvCxnSpPr>
          <p:nvPr/>
        </p:nvCxnSpPr>
        <p:spPr>
          <a:xfrm>
            <a:off x="5674989" y="3150399"/>
            <a:ext cx="19321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CB42E26-308D-43DC-8EAC-1E8C45EEB2B7}"/>
              </a:ext>
            </a:extLst>
          </p:cNvPr>
          <p:cNvCxnSpPr>
            <a:cxnSpLocks/>
          </p:cNvCxnSpPr>
          <p:nvPr/>
        </p:nvCxnSpPr>
        <p:spPr>
          <a:xfrm>
            <a:off x="5674989" y="3009722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DB84FCF-F56F-413F-845D-B6461C3A22E0}"/>
              </a:ext>
            </a:extLst>
          </p:cNvPr>
          <p:cNvCxnSpPr>
            <a:cxnSpLocks/>
          </p:cNvCxnSpPr>
          <p:nvPr/>
        </p:nvCxnSpPr>
        <p:spPr>
          <a:xfrm>
            <a:off x="7607123" y="3150399"/>
            <a:ext cx="0" cy="569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6AB0E47-489F-4897-B3B6-748DDA66A72F}"/>
              </a:ext>
            </a:extLst>
          </p:cNvPr>
          <p:cNvCxnSpPr>
            <a:cxnSpLocks/>
          </p:cNvCxnSpPr>
          <p:nvPr/>
        </p:nvCxnSpPr>
        <p:spPr>
          <a:xfrm>
            <a:off x="4010311" y="3150399"/>
            <a:ext cx="1" cy="55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1DE26BD0-3136-4414-B08A-5FAEFB2F98B3}"/>
              </a:ext>
            </a:extLst>
          </p:cNvPr>
          <p:cNvSpPr/>
          <p:nvPr/>
        </p:nvSpPr>
        <p:spPr>
          <a:xfrm>
            <a:off x="4854373" y="2342497"/>
            <a:ext cx="1641231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SERVICIOS PRODUCTIVOS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FAA3526-A5DA-42DE-BA84-E6E48D73B45B}"/>
              </a:ext>
            </a:extLst>
          </p:cNvPr>
          <p:cNvSpPr/>
          <p:nvPr/>
        </p:nvSpPr>
        <p:spPr>
          <a:xfrm>
            <a:off x="3166250" y="3697612"/>
            <a:ext cx="1688123" cy="6147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EMPRESARIO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A4CB97-84F5-4275-8B60-B96EC851CD83}"/>
              </a:ext>
            </a:extLst>
          </p:cNvPr>
          <p:cNvSpPr/>
          <p:nvPr/>
        </p:nvSpPr>
        <p:spPr>
          <a:xfrm>
            <a:off x="6744203" y="3709654"/>
            <a:ext cx="1725839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SERVICIOS PRODUCTIVOS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239DB81-1018-489B-86E5-027F29340F9B}"/>
              </a:ext>
            </a:extLst>
          </p:cNvPr>
          <p:cNvCxnSpPr>
            <a:cxnSpLocks/>
          </p:cNvCxnSpPr>
          <p:nvPr/>
        </p:nvCxnSpPr>
        <p:spPr>
          <a:xfrm>
            <a:off x="5674989" y="3026009"/>
            <a:ext cx="0" cy="14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000BE1C-C1D9-45A9-8773-1F831EC9AE1F}"/>
              </a:ext>
            </a:extLst>
          </p:cNvPr>
          <p:cNvSpPr/>
          <p:nvPr/>
        </p:nvSpPr>
        <p:spPr>
          <a:xfrm>
            <a:off x="4854373" y="2358784"/>
            <a:ext cx="1641231" cy="641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RECURSOS HUMANOS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42F6D9D-5992-4E87-9D89-CABEA09D1BCD}"/>
              </a:ext>
            </a:extLst>
          </p:cNvPr>
          <p:cNvSpPr txBox="1"/>
          <p:nvPr/>
        </p:nvSpPr>
        <p:spPr>
          <a:xfrm>
            <a:off x="7086515" y="4415566"/>
            <a:ext cx="138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/>
              <a:t>(</a:t>
            </a:r>
            <a:r>
              <a:rPr lang="es-AR" sz="1600" dirty="0">
                <a:solidFill>
                  <a:schemeClr val="tx2"/>
                </a:solidFill>
              </a:rPr>
              <a:t>TRABAJO)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4F6E0F6-337B-45D4-A70D-33E255D4E0CB}"/>
              </a:ext>
            </a:extLst>
          </p:cNvPr>
          <p:cNvSpPr txBox="1"/>
          <p:nvPr/>
        </p:nvSpPr>
        <p:spPr>
          <a:xfrm>
            <a:off x="405822" y="4478809"/>
            <a:ext cx="4436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tx2"/>
                </a:solidFill>
              </a:rPr>
              <a:t>Son personas con capacidades para realizar innovaciones en los procesos productivos, generan cambios, reducciones de costos, nuevas técnicas de ingeniería y crean nuevas empresas</a:t>
            </a:r>
          </a:p>
        </p:txBody>
      </p:sp>
    </p:spTree>
    <p:extLst>
      <p:ext uri="{BB962C8B-B14F-4D97-AF65-F5344CB8AC3E}">
        <p14:creationId xmlns:p14="http://schemas.microsoft.com/office/powerpoint/2010/main" val="2960805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7F3A6FC-E2BB-4AF3-8412-127D7B14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122" name="Picture 2" descr="Finanzas Plantillas y fondos de PowerPoint, Temas de diapositivas ...">
            <a:extLst>
              <a:ext uri="{FF2B5EF4-FFF2-40B4-BE49-F238E27FC236}">
                <a16:creationId xmlns:a16="http://schemas.microsoft.com/office/drawing/2014/main" id="{7C886515-87B3-4300-B6C5-866995731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817" y="1443476"/>
            <a:ext cx="5137490" cy="386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4179C81-81F6-46DE-87B0-FF53BF2A8278}"/>
              </a:ext>
            </a:extLst>
          </p:cNvPr>
          <p:cNvSpPr/>
          <p:nvPr/>
        </p:nvSpPr>
        <p:spPr>
          <a:xfrm>
            <a:off x="3753016" y="1653871"/>
            <a:ext cx="2798859" cy="8746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PRODUCTIVIDAD</a:t>
            </a:r>
          </a:p>
        </p:txBody>
      </p:sp>
    </p:spTree>
    <p:extLst>
      <p:ext uri="{BB962C8B-B14F-4D97-AF65-F5344CB8AC3E}">
        <p14:creationId xmlns:p14="http://schemas.microsoft.com/office/powerpoint/2010/main" val="814972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6D6AD-51CC-425D-B654-85013193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PRODUCTIVIDAD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E27F5D-D439-4784-876E-6C5F9766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21656F-BB01-4587-BAB3-F896EA0729DE}"/>
              </a:ext>
            </a:extLst>
          </p:cNvPr>
          <p:cNvSpPr txBox="1"/>
          <p:nvPr/>
        </p:nvSpPr>
        <p:spPr>
          <a:xfrm>
            <a:off x="803082" y="2274073"/>
            <a:ext cx="437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¿Qué es la productividad?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7EF362-1303-4DDC-966F-F5748CC567F9}"/>
              </a:ext>
            </a:extLst>
          </p:cNvPr>
          <p:cNvSpPr txBox="1"/>
          <p:nvPr/>
        </p:nvSpPr>
        <p:spPr>
          <a:xfrm>
            <a:off x="1057523" y="3077155"/>
            <a:ext cx="586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Es la relación entre la producción obtenida y los recursos utilizados para obtenerla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8461FFD-E441-48F2-8DCE-C363B472CC7F}"/>
              </a:ext>
            </a:extLst>
          </p:cNvPr>
          <p:cNvSpPr txBox="1"/>
          <p:nvPr/>
        </p:nvSpPr>
        <p:spPr>
          <a:xfrm>
            <a:off x="1057523" y="4198289"/>
            <a:ext cx="6106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Productividad Global</a:t>
            </a:r>
            <a:r>
              <a:rPr lang="es-AR" dirty="0"/>
              <a:t>, será la que se obtenga de la expresión: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E0F2502-FA93-4D5E-89A5-F273CB7BA48B}"/>
              </a:ext>
            </a:extLst>
          </p:cNvPr>
          <p:cNvSpPr txBox="1"/>
          <p:nvPr/>
        </p:nvSpPr>
        <p:spPr>
          <a:xfrm>
            <a:off x="1010845" y="5212089"/>
            <a:ext cx="169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Productividad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0FA292-0437-4D59-BDF9-84BFA1AFAC05}"/>
              </a:ext>
            </a:extLst>
          </p:cNvPr>
          <p:cNvSpPr txBox="1"/>
          <p:nvPr/>
        </p:nvSpPr>
        <p:spPr>
          <a:xfrm>
            <a:off x="2615978" y="5212089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F196DF7-9DD5-40C0-A575-B4B77F789BC9}"/>
              </a:ext>
            </a:extLst>
          </p:cNvPr>
          <p:cNvSpPr txBox="1"/>
          <p:nvPr/>
        </p:nvSpPr>
        <p:spPr>
          <a:xfrm>
            <a:off x="2989690" y="4941072"/>
            <a:ext cx="258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Producción obtenida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DBA14FD-DBF3-4640-9A0D-51FE89B3F5BF}"/>
              </a:ext>
            </a:extLst>
          </p:cNvPr>
          <p:cNvCxnSpPr/>
          <p:nvPr/>
        </p:nvCxnSpPr>
        <p:spPr>
          <a:xfrm>
            <a:off x="2989690" y="5396755"/>
            <a:ext cx="20911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CDB647-F887-4956-803C-EBA2F2E4752D}"/>
              </a:ext>
            </a:extLst>
          </p:cNvPr>
          <p:cNvSpPr txBox="1"/>
          <p:nvPr/>
        </p:nvSpPr>
        <p:spPr>
          <a:xfrm>
            <a:off x="2989689" y="5581421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Recursos utilizados   </a:t>
            </a:r>
            <a:r>
              <a:rPr lang="es-AR" dirty="0"/>
              <a:t>(equipos, </a:t>
            </a:r>
            <a:r>
              <a:rPr lang="es-AR" dirty="0" err="1"/>
              <a:t>rrhh</a:t>
            </a:r>
            <a:r>
              <a:rPr lang="es-AR" dirty="0"/>
              <a:t>, materia prima, </a:t>
            </a:r>
            <a:r>
              <a:rPr lang="es-AR" dirty="0" err="1"/>
              <a:t>etc</a:t>
            </a:r>
            <a:r>
              <a:rPr lang="es-A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3925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A332A-740C-4C78-A5B2-B6986D58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PRODUCTIVIDAD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2EFE8A-DB7A-4CB6-A478-D4B0B4A9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63F1F-EEE6-4F03-B044-0E8DEDFFB25F}"/>
              </a:ext>
            </a:extLst>
          </p:cNvPr>
          <p:cNvSpPr txBox="1"/>
          <p:nvPr/>
        </p:nvSpPr>
        <p:spPr>
          <a:xfrm>
            <a:off x="469127" y="2154803"/>
            <a:ext cx="585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dirty="0">
                <a:solidFill>
                  <a:schemeClr val="tx2"/>
                </a:solidFill>
              </a:rPr>
              <a:t>Podemos obtener distintas clases de productividades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1AD2B7-BC46-4AED-B795-07E1FC69D9A2}"/>
              </a:ext>
            </a:extLst>
          </p:cNvPr>
          <p:cNvSpPr txBox="1"/>
          <p:nvPr/>
        </p:nvSpPr>
        <p:spPr>
          <a:xfrm>
            <a:off x="389614" y="3267077"/>
            <a:ext cx="414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Productividad de la materia prima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CBF47E-C299-43AC-BC61-1E2C9C1F65B2}"/>
              </a:ext>
            </a:extLst>
          </p:cNvPr>
          <p:cNvSpPr txBox="1"/>
          <p:nvPr/>
        </p:nvSpPr>
        <p:spPr>
          <a:xfrm>
            <a:off x="4543138" y="3297004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66AFF0C-4F56-4499-AC60-0AEAA475CB8F}"/>
              </a:ext>
            </a:extLst>
          </p:cNvPr>
          <p:cNvSpPr txBox="1"/>
          <p:nvPr/>
        </p:nvSpPr>
        <p:spPr>
          <a:xfrm>
            <a:off x="5076618" y="3050392"/>
            <a:ext cx="258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Producción obtenida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06C3B94-F777-45BB-81B4-018EBF6EE57A}"/>
              </a:ext>
            </a:extLst>
          </p:cNvPr>
          <p:cNvCxnSpPr>
            <a:cxnSpLocks/>
          </p:cNvCxnSpPr>
          <p:nvPr/>
        </p:nvCxnSpPr>
        <p:spPr>
          <a:xfrm>
            <a:off x="4889536" y="3488620"/>
            <a:ext cx="32531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8E8C697-F95D-4F7C-A6B8-2750F88E7DA7}"/>
              </a:ext>
            </a:extLst>
          </p:cNvPr>
          <p:cNvSpPr txBox="1"/>
          <p:nvPr/>
        </p:nvSpPr>
        <p:spPr>
          <a:xfrm>
            <a:off x="5045102" y="3501355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Materia prima utilizada </a:t>
            </a:r>
            <a:r>
              <a:rPr lang="es-AR" dirty="0">
                <a:solidFill>
                  <a:schemeClr val="tx2"/>
                </a:solidFill>
              </a:rPr>
              <a:t>(MP)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861273-B7CD-43DE-BDE6-48BFD4CC06C5}"/>
              </a:ext>
            </a:extLst>
          </p:cNvPr>
          <p:cNvSpPr txBox="1"/>
          <p:nvPr/>
        </p:nvSpPr>
        <p:spPr>
          <a:xfrm>
            <a:off x="389614" y="5216432"/>
            <a:ext cx="4141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Productividad de la mano de obra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ED67B0-923D-4279-96E3-52B3C7AEC302}"/>
              </a:ext>
            </a:extLst>
          </p:cNvPr>
          <p:cNvSpPr txBox="1"/>
          <p:nvPr/>
        </p:nvSpPr>
        <p:spPr>
          <a:xfrm>
            <a:off x="4586354" y="5267069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dirty="0">
                <a:solidFill>
                  <a:schemeClr val="tx2"/>
                </a:solidFill>
              </a:rPr>
              <a:t>=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042E0A5-F1E6-4C25-8B73-E1E5CEA9D4C9}"/>
              </a:ext>
            </a:extLst>
          </p:cNvPr>
          <p:cNvSpPr txBox="1"/>
          <p:nvPr/>
        </p:nvSpPr>
        <p:spPr>
          <a:xfrm>
            <a:off x="5278118" y="4946499"/>
            <a:ext cx="258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2"/>
              </a:buClr>
            </a:pPr>
            <a:r>
              <a:rPr lang="es-AR" b="1" dirty="0">
                <a:solidFill>
                  <a:schemeClr val="tx2"/>
                </a:solidFill>
              </a:rPr>
              <a:t>Producción obtenida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4F3C3A9-8ACC-4CF3-A556-1794BF5CF361}"/>
              </a:ext>
            </a:extLst>
          </p:cNvPr>
          <p:cNvCxnSpPr>
            <a:cxnSpLocks/>
          </p:cNvCxnSpPr>
          <p:nvPr/>
        </p:nvCxnSpPr>
        <p:spPr>
          <a:xfrm>
            <a:off x="4960066" y="5451735"/>
            <a:ext cx="32461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69E3F88-C516-4273-9D21-6024D65F8130}"/>
              </a:ext>
            </a:extLst>
          </p:cNvPr>
          <p:cNvSpPr txBox="1"/>
          <p:nvPr/>
        </p:nvSpPr>
        <p:spPr>
          <a:xfrm>
            <a:off x="5045101" y="5563260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Mano de obra utilizada </a:t>
            </a:r>
            <a:r>
              <a:rPr lang="es-AR" dirty="0">
                <a:solidFill>
                  <a:schemeClr val="tx2"/>
                </a:solidFill>
              </a:rPr>
              <a:t>(MO)</a:t>
            </a:r>
          </a:p>
        </p:txBody>
      </p:sp>
    </p:spTree>
    <p:extLst>
      <p:ext uri="{BB962C8B-B14F-4D97-AF65-F5344CB8AC3E}">
        <p14:creationId xmlns:p14="http://schemas.microsoft.com/office/powerpoint/2010/main" val="2550713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C492B-E79A-4B9C-8BC0-40A60F38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PRODUCTIVIDAD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C52A77-C48E-4B42-8970-429EB3DD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EC1722F-4485-4481-8EBC-07282137F971}"/>
              </a:ext>
            </a:extLst>
          </p:cNvPr>
          <p:cNvSpPr txBox="1"/>
          <p:nvPr/>
        </p:nvSpPr>
        <p:spPr>
          <a:xfrm>
            <a:off x="516835" y="2623142"/>
            <a:ext cx="429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Productividad de las horas maquina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1CC27B6-3E3D-4C26-967A-0A2BB816F052}"/>
              </a:ext>
            </a:extLst>
          </p:cNvPr>
          <p:cNvSpPr txBox="1"/>
          <p:nvPr/>
        </p:nvSpPr>
        <p:spPr>
          <a:xfrm>
            <a:off x="4707204" y="2655945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8CD1F3E-0E77-4115-8854-29CD3D369772}"/>
              </a:ext>
            </a:extLst>
          </p:cNvPr>
          <p:cNvSpPr txBox="1"/>
          <p:nvPr/>
        </p:nvSpPr>
        <p:spPr>
          <a:xfrm>
            <a:off x="5474762" y="2365120"/>
            <a:ext cx="258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Producción obtenida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038284A-0D07-4235-BAB7-6039DAD1AC16}"/>
              </a:ext>
            </a:extLst>
          </p:cNvPr>
          <p:cNvCxnSpPr>
            <a:cxnSpLocks/>
          </p:cNvCxnSpPr>
          <p:nvPr/>
        </p:nvCxnSpPr>
        <p:spPr>
          <a:xfrm>
            <a:off x="5136316" y="2850650"/>
            <a:ext cx="32610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F018178-8D52-4792-9058-8B5720F126F9}"/>
              </a:ext>
            </a:extLst>
          </p:cNvPr>
          <p:cNvSpPr txBox="1"/>
          <p:nvPr/>
        </p:nvSpPr>
        <p:spPr>
          <a:xfrm>
            <a:off x="5426765" y="2919118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Horas maquina utilizada</a:t>
            </a:r>
            <a:endParaRPr lang="es-AR" dirty="0">
              <a:solidFill>
                <a:schemeClr val="tx2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9923491-1340-4AE1-9CED-88433BEAC240}"/>
              </a:ext>
            </a:extLst>
          </p:cNvPr>
          <p:cNvSpPr txBox="1"/>
          <p:nvPr/>
        </p:nvSpPr>
        <p:spPr>
          <a:xfrm>
            <a:off x="545245" y="5009260"/>
            <a:ext cx="412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Productividad de la energía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382217B-0F63-4BD7-A705-463052D089F8}"/>
              </a:ext>
            </a:extLst>
          </p:cNvPr>
          <p:cNvSpPr txBox="1"/>
          <p:nvPr/>
        </p:nvSpPr>
        <p:spPr>
          <a:xfrm>
            <a:off x="4707204" y="5062498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C3D2076-8352-45D4-8CA9-93E254B250D9}"/>
              </a:ext>
            </a:extLst>
          </p:cNvPr>
          <p:cNvSpPr txBox="1"/>
          <p:nvPr/>
        </p:nvSpPr>
        <p:spPr>
          <a:xfrm>
            <a:off x="5426765" y="4770719"/>
            <a:ext cx="258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Producción obtenida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70C66BD1-EF9E-443F-B70E-B0C98A5DFB0F}"/>
              </a:ext>
            </a:extLst>
          </p:cNvPr>
          <p:cNvCxnSpPr>
            <a:cxnSpLocks/>
          </p:cNvCxnSpPr>
          <p:nvPr/>
        </p:nvCxnSpPr>
        <p:spPr>
          <a:xfrm>
            <a:off x="5116148" y="5261780"/>
            <a:ext cx="32610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6F1B24E-D09C-491D-A4A0-9ACA3D54E82C}"/>
              </a:ext>
            </a:extLst>
          </p:cNvPr>
          <p:cNvSpPr txBox="1"/>
          <p:nvPr/>
        </p:nvSpPr>
        <p:spPr>
          <a:xfrm>
            <a:off x="5474762" y="5431830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Energía consumida </a:t>
            </a:r>
            <a:r>
              <a:rPr lang="es-AR" dirty="0">
                <a:solidFill>
                  <a:schemeClr val="tx2"/>
                </a:solidFill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9827586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62012-5278-440B-9440-ED4AFA213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PRODUCTIVIDAD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9D4657-4E9D-4799-8C9D-52D40A13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6241DBE-5F1E-4636-B8EF-1CC1917A8D63}"/>
              </a:ext>
            </a:extLst>
          </p:cNvPr>
          <p:cNvSpPr txBox="1"/>
          <p:nvPr/>
        </p:nvSpPr>
        <p:spPr>
          <a:xfrm>
            <a:off x="1026750" y="4861623"/>
            <a:ext cx="4648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Aptitud de las instalaciones disponibles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FB783D-71AF-49CE-A331-3E53C9518EB0}"/>
              </a:ext>
            </a:extLst>
          </p:cNvPr>
          <p:cNvSpPr txBox="1"/>
          <p:nvPr/>
        </p:nvSpPr>
        <p:spPr>
          <a:xfrm>
            <a:off x="5575482" y="4893114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647AD2-F6BA-4FFE-8748-D1642B82C4BC}"/>
              </a:ext>
            </a:extLst>
          </p:cNvPr>
          <p:cNvSpPr txBox="1"/>
          <p:nvPr/>
        </p:nvSpPr>
        <p:spPr>
          <a:xfrm>
            <a:off x="5853484" y="4602749"/>
            <a:ext cx="352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Capacidad productiva utilizada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AFA39BC-4B6E-40BC-9FCC-463F17BD66D5}"/>
              </a:ext>
            </a:extLst>
          </p:cNvPr>
          <p:cNvCxnSpPr>
            <a:cxnSpLocks/>
          </p:cNvCxnSpPr>
          <p:nvPr/>
        </p:nvCxnSpPr>
        <p:spPr>
          <a:xfrm>
            <a:off x="5853484" y="5077780"/>
            <a:ext cx="33302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726EE453-A43B-4EC4-8D1D-02B42FB040E1}"/>
              </a:ext>
            </a:extLst>
          </p:cNvPr>
          <p:cNvSpPr txBox="1"/>
          <p:nvPr/>
        </p:nvSpPr>
        <p:spPr>
          <a:xfrm>
            <a:off x="5853484" y="5142045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Capacidad productiva instalada</a:t>
            </a:r>
            <a:endParaRPr lang="es-AR" dirty="0">
              <a:solidFill>
                <a:schemeClr val="tx2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81E8F8E-17F6-406E-B420-74DB01D21707}"/>
              </a:ext>
            </a:extLst>
          </p:cNvPr>
          <p:cNvSpPr txBox="1"/>
          <p:nvPr/>
        </p:nvSpPr>
        <p:spPr>
          <a:xfrm>
            <a:off x="1026751" y="2957732"/>
            <a:ext cx="4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chemeClr val="tx2"/>
                </a:solidFill>
              </a:rPr>
              <a:t>Productividad de los gastos generales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225B45-1E2C-4219-B4AE-46920EB49977}"/>
              </a:ext>
            </a:extLst>
          </p:cNvPr>
          <p:cNvSpPr txBox="1"/>
          <p:nvPr/>
        </p:nvSpPr>
        <p:spPr>
          <a:xfrm>
            <a:off x="5388626" y="2980468"/>
            <a:ext cx="37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=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79A25F0-D4C5-4913-9AF5-4D73BFD3E6CF}"/>
              </a:ext>
            </a:extLst>
          </p:cNvPr>
          <p:cNvSpPr txBox="1"/>
          <p:nvPr/>
        </p:nvSpPr>
        <p:spPr>
          <a:xfrm>
            <a:off x="6096000" y="2725358"/>
            <a:ext cx="258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Producción obtenida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C8C932D-607B-4D01-BC7D-811ABF266E3F}"/>
              </a:ext>
            </a:extLst>
          </p:cNvPr>
          <p:cNvCxnSpPr>
            <a:cxnSpLocks/>
          </p:cNvCxnSpPr>
          <p:nvPr/>
        </p:nvCxnSpPr>
        <p:spPr>
          <a:xfrm>
            <a:off x="5675390" y="3166766"/>
            <a:ext cx="34253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343EA9-615B-4166-998D-C251AF63FAA8}"/>
              </a:ext>
            </a:extLst>
          </p:cNvPr>
          <p:cNvSpPr txBox="1"/>
          <p:nvPr/>
        </p:nvSpPr>
        <p:spPr>
          <a:xfrm>
            <a:off x="5575482" y="3265874"/>
            <a:ext cx="55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tx2"/>
                </a:solidFill>
              </a:rPr>
              <a:t>Gastos generales insumidos </a:t>
            </a:r>
            <a:r>
              <a:rPr lang="es-AR" dirty="0">
                <a:solidFill>
                  <a:schemeClr val="tx2"/>
                </a:solidFill>
              </a:rPr>
              <a:t>(GG)</a:t>
            </a:r>
          </a:p>
        </p:txBody>
      </p:sp>
    </p:spTree>
    <p:extLst>
      <p:ext uri="{BB962C8B-B14F-4D97-AF65-F5344CB8AC3E}">
        <p14:creationId xmlns:p14="http://schemas.microsoft.com/office/powerpoint/2010/main" val="266487505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1380</Words>
  <Application>Microsoft Office PowerPoint</Application>
  <PresentationFormat>Panorámica</PresentationFormat>
  <Paragraphs>240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Arial</vt:lpstr>
      <vt:lpstr>Calibri</vt:lpstr>
      <vt:lpstr>Gill Sans MT</vt:lpstr>
      <vt:lpstr>Wingdings</vt:lpstr>
      <vt:lpstr>Wingdings 2</vt:lpstr>
      <vt:lpstr>Dividend</vt:lpstr>
      <vt:lpstr>COSTOS Y PRESUPUESTOS</vt:lpstr>
      <vt:lpstr>FACTORES DE LA PRODUCCION </vt:lpstr>
      <vt:lpstr>FACTORES DE LA PRODUCCION</vt:lpstr>
      <vt:lpstr>FACTORES DE LA PRODUCCION</vt:lpstr>
      <vt:lpstr>Presentación de PowerPoint</vt:lpstr>
      <vt:lpstr>RECURSOS HUMANOS - TRABAJO</vt:lpstr>
      <vt:lpstr>RECURSOS HUMANOS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PRODUCCION Y CONSUMO</vt:lpstr>
      <vt:lpstr>Presentación de PowerPoint</vt:lpstr>
      <vt:lpstr>TIERRA </vt:lpstr>
      <vt:lpstr>TIERRA</vt:lpstr>
      <vt:lpstr>TIERRA</vt:lpstr>
      <vt:lpstr>CAPITAL</vt:lpstr>
      <vt:lpstr>CAPITAL DE LA EMPRESA</vt:lpstr>
      <vt:lpstr>CAPITAL DE LA EMPRESA</vt:lpstr>
      <vt:lpstr>CAPITAL DE LA EMPRESA</vt:lpstr>
      <vt:lpstr>CAPITAL DE LA EMPRESA</vt:lpstr>
      <vt:lpstr>CAPITAL DE LA EMPRESA</vt:lpstr>
      <vt:lpstr>CAPITAL DE LA EMPRESA</vt:lpstr>
      <vt:lpstr>Capital De la empresa</vt:lpstr>
      <vt:lpstr>COSTO DE CAPITAL</vt:lpstr>
      <vt:lpstr>Costo de capital</vt:lpstr>
      <vt:lpstr>Costo de capital</vt:lpstr>
      <vt:lpstr>Costo de capital</vt:lpstr>
      <vt:lpstr>HABILIDADES EMPRESARIALES</vt:lpstr>
      <vt:lpstr>HABILIDADES EMPRESARIALES</vt:lpstr>
      <vt:lpstr>Presentación de PowerPoint</vt:lpstr>
      <vt:lpstr>PRODUCTIVIDAD</vt:lpstr>
      <vt:lpstr>PRODUCTIVIDAD</vt:lpstr>
      <vt:lpstr>PRODUCTIVIDAD</vt:lpstr>
      <vt:lpstr>PRODUCTIVIDAD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COSTOS Y PRESUPUESTOS</dc:title>
  <dc:creator>gustavo massucco</dc:creator>
  <cp:lastModifiedBy>gustavo massucco</cp:lastModifiedBy>
  <cp:revision>15</cp:revision>
  <dcterms:created xsi:type="dcterms:W3CDTF">2020-04-13T03:28:23Z</dcterms:created>
  <dcterms:modified xsi:type="dcterms:W3CDTF">2021-04-19T13:05:11Z</dcterms:modified>
</cp:coreProperties>
</file>