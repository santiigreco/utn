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6"/>
  </p:notesMasterIdLst>
  <p:sldIdLst>
    <p:sldId id="256" r:id="rId2"/>
    <p:sldId id="309" r:id="rId3"/>
    <p:sldId id="287" r:id="rId4"/>
    <p:sldId id="288" r:id="rId5"/>
    <p:sldId id="290" r:id="rId6"/>
    <p:sldId id="291" r:id="rId7"/>
    <p:sldId id="292" r:id="rId8"/>
    <p:sldId id="293" r:id="rId9"/>
    <p:sldId id="294" r:id="rId10"/>
    <p:sldId id="295" r:id="rId11"/>
    <p:sldId id="296" r:id="rId12"/>
    <p:sldId id="297" r:id="rId13"/>
    <p:sldId id="298" r:id="rId14"/>
    <p:sldId id="299" r:id="rId15"/>
    <p:sldId id="300" r:id="rId16"/>
    <p:sldId id="301" r:id="rId17"/>
    <p:sldId id="289" r:id="rId18"/>
    <p:sldId id="271" r:id="rId19"/>
    <p:sldId id="302" r:id="rId20"/>
    <p:sldId id="303" r:id="rId21"/>
    <p:sldId id="304" r:id="rId22"/>
    <p:sldId id="305" r:id="rId23"/>
    <p:sldId id="306" r:id="rId24"/>
    <p:sldId id="307"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ustavo massucco" initials="gm" lastIdx="1" clrIdx="0">
    <p:extLst>
      <p:ext uri="{19B8F6BF-5375-455C-9EA6-DF929625EA0E}">
        <p15:presenceInfo xmlns:p15="http://schemas.microsoft.com/office/powerpoint/2012/main" userId="S::gmassucco@frba.utn.edu.ar::1271f782-c2a0-484f-8edc-abfea8ad4a0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36" autoAdjust="0"/>
    <p:restoredTop sz="94660"/>
  </p:normalViewPr>
  <p:slideViewPr>
    <p:cSldViewPr snapToGrid="0">
      <p:cViewPr varScale="1">
        <p:scale>
          <a:sx n="87" d="100"/>
          <a:sy n="87" d="100"/>
        </p:scale>
        <p:origin x="846" y="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FA441F-8982-4902-B1FE-08DF82218E62}" type="datetimeFigureOut">
              <a:rPr lang="es-AR" smtClean="0"/>
              <a:t>22/5/2020</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57D551-39DC-4B61-9B7A-D9ED28759857}" type="slidenum">
              <a:rPr lang="es-AR" smtClean="0"/>
              <a:t>‹Nº›</a:t>
            </a:fld>
            <a:endParaRPr lang="es-AR"/>
          </a:p>
        </p:txBody>
      </p:sp>
    </p:spTree>
    <p:extLst>
      <p:ext uri="{BB962C8B-B14F-4D97-AF65-F5344CB8AC3E}">
        <p14:creationId xmlns:p14="http://schemas.microsoft.com/office/powerpoint/2010/main" val="2440336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2CF7B4BB-03EF-451D-BBA6-ED00A57A62CB}" type="datetime1">
              <a:rPr lang="en-US" smtClean="0"/>
              <a:t>5/22/2020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B7EBBE1-416B-4530-A6FD-224597E99CC4}" type="datetime1">
              <a:rPr lang="en-US" smtClean="0"/>
              <a:t>5/22/2020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54DCA0A-ABF4-4F3F-993F-65A1806D3AAC}" type="datetime1">
              <a:rPr lang="en-US" smtClean="0"/>
              <a:t>5/22/2020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1E527A7B-6E68-424B-A9EF-37377A07F488}" type="datetime1">
              <a:rPr lang="en-US" smtClean="0"/>
              <a:t>5/22/2020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B0A24D3-82C1-45E3-9DBE-6B00DC1EA990}" type="datetime1">
              <a:rPr lang="en-US" smtClean="0"/>
              <a:t>5/22/2020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67BA0B5-4871-4F70-BF0D-1BCA91754AB6}" type="datetime1">
              <a:rPr lang="en-US" smtClean="0"/>
              <a:t>5/22/2020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60FA87-353A-4389-83B5-6EE5940F537B}" type="datetime1">
              <a:rPr lang="en-US" smtClean="0"/>
              <a:t>5/22/2020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3F49699-7C54-4EE2-92B2-680E205E50D5}" type="datetime1">
              <a:rPr lang="en-US" smtClean="0"/>
              <a:t>5/22/2020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B196675-ED22-4877-A84D-C1CBBFF553D9}" type="datetime1">
              <a:rPr lang="en-US" smtClean="0"/>
              <a:t>5/22/2020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C03E8B3-EFE2-4E3E-8E9A-E1C6FBE85499}" type="datetime1">
              <a:rPr lang="en-US" smtClean="0"/>
              <a:t>5/22/2020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7B6E334A-C4E7-419D-8AD7-B6AAB5AE08A4}" type="datetime1">
              <a:rPr lang="en-US" smtClean="0"/>
              <a:t>5/22/2020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6E1A55FA-2C17-435D-B9C7-8495D4486FB8}" type="datetime1">
              <a:rPr lang="en-US" smtClean="0"/>
              <a:t>5/22/2020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A23A0FCC-C021-401D-ABB8-125B48448C81}" type="datetime1">
              <a:rPr lang="en-US" smtClean="0"/>
              <a:t>5/22/2020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597705F0-173F-4CFC-9A4F-6403EE4ABF40}" type="datetime1">
              <a:rPr lang="en-US" smtClean="0"/>
              <a:t>5/22/2020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7FB9DE0-81C1-4452-8C90-F5EF3AD8E15C}" type="datetime1">
              <a:rPr lang="en-US" smtClean="0"/>
              <a:t>5/22/2020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06A32CA-D89C-48D1-937B-99B9E0300ED1}" type="datetime1">
              <a:rPr lang="en-US" smtClean="0"/>
              <a:t>5/22/2020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F670D72C-4043-460A-8EC5-878FD1386D85}" type="datetime1">
              <a:rPr lang="en-US" smtClean="0"/>
              <a:t>5/22/2020</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slideLayout" Target="../slideLayouts/slideLayout6.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5">
            <a:extLst>
              <a:ext uri="{FF2B5EF4-FFF2-40B4-BE49-F238E27FC236}">
                <a16:creationId xmlns:a16="http://schemas.microsoft.com/office/drawing/2014/main" id="{F5642E8C-FD90-47FB-9533-A90C5141EDEF}"/>
              </a:ext>
            </a:extLst>
          </p:cNvPr>
          <p:cNvSpPr txBox="1">
            <a:spLocks noGrp="1" noChangeArrowheads="1"/>
          </p:cNvSpPr>
          <p:nvPr>
            <p:ph type="ctrTitle"/>
          </p:nvPr>
        </p:nvSpPr>
        <p:spPr bwMode="auto">
          <a:xfrm>
            <a:off x="2589213" y="1619547"/>
            <a:ext cx="89154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defRPr/>
            </a:pPr>
            <a:r>
              <a:rPr lang="es-MX" altLang="es-AR" dirty="0">
                <a:effectLst>
                  <a:outerShdw blurRad="38100" dist="38100" dir="2700000" algn="tl">
                    <a:srgbClr val="C0C0C0"/>
                  </a:outerShdw>
                </a:effectLst>
                <a:latin typeface="Tahoma" pitchFamily="34" charset="0"/>
                <a:cs typeface="Arial" charset="0"/>
              </a:rPr>
              <a:t>COSTOS Y PRESUPUESTOS</a:t>
            </a:r>
          </a:p>
        </p:txBody>
      </p:sp>
      <p:sp>
        <p:nvSpPr>
          <p:cNvPr id="5" name="Text Box 26">
            <a:extLst>
              <a:ext uri="{FF2B5EF4-FFF2-40B4-BE49-F238E27FC236}">
                <a16:creationId xmlns:a16="http://schemas.microsoft.com/office/drawing/2014/main" id="{27735A57-3B03-42B6-BDFC-E5E8B31EF7BE}"/>
              </a:ext>
            </a:extLst>
          </p:cNvPr>
          <p:cNvSpPr txBox="1">
            <a:spLocks noGrp="1" noChangeArrowheads="1"/>
          </p:cNvSpPr>
          <p:nvPr>
            <p:ph type="subTitle" idx="1"/>
          </p:nvPr>
        </p:nvSpPr>
        <p:spPr bwMode="auto">
          <a:xfrm>
            <a:off x="2589213" y="4776788"/>
            <a:ext cx="89154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defRPr/>
            </a:pPr>
            <a:r>
              <a:rPr lang="es-MX" altLang="es-AR" sz="4400" dirty="0">
                <a:effectLst>
                  <a:outerShdw blurRad="38100" dist="38100" dir="2700000" algn="tl">
                    <a:srgbClr val="C0C0C0"/>
                  </a:outerShdw>
                </a:effectLst>
                <a:latin typeface="Tahoma" pitchFamily="34" charset="0"/>
                <a:cs typeface="Arial" charset="0"/>
              </a:rPr>
              <a:t>Clasificación de los costos</a:t>
            </a:r>
          </a:p>
        </p:txBody>
      </p:sp>
      <p:sp>
        <p:nvSpPr>
          <p:cNvPr id="6" name="CuadroTexto 5">
            <a:extLst>
              <a:ext uri="{FF2B5EF4-FFF2-40B4-BE49-F238E27FC236}">
                <a16:creationId xmlns:a16="http://schemas.microsoft.com/office/drawing/2014/main" id="{D9FA0E92-5CE1-472E-A758-7CE737D9664B}"/>
              </a:ext>
            </a:extLst>
          </p:cNvPr>
          <p:cNvSpPr txBox="1"/>
          <p:nvPr/>
        </p:nvSpPr>
        <p:spPr>
          <a:xfrm>
            <a:off x="3108035" y="3023361"/>
            <a:ext cx="8396578" cy="400110"/>
          </a:xfrm>
          <a:prstGeom prst="rect">
            <a:avLst/>
          </a:prstGeom>
          <a:noFill/>
        </p:spPr>
        <p:txBody>
          <a:bodyPr wrap="square" rtlCol="0">
            <a:spAutoFit/>
          </a:bodyPr>
          <a:lstStyle/>
          <a:p>
            <a:r>
              <a:rPr lang="es-AR" sz="2000" dirty="0"/>
              <a:t>Ingeniero Gustavo Massucco</a:t>
            </a:r>
          </a:p>
        </p:txBody>
      </p:sp>
      <p:sp>
        <p:nvSpPr>
          <p:cNvPr id="7" name="Marcador de número de diapositiva 6">
            <a:extLst>
              <a:ext uri="{FF2B5EF4-FFF2-40B4-BE49-F238E27FC236}">
                <a16:creationId xmlns:a16="http://schemas.microsoft.com/office/drawing/2014/main" id="{33674575-47D4-476C-8772-8197234BCF0D}"/>
              </a:ext>
            </a:extLst>
          </p:cNvPr>
          <p:cNvSpPr>
            <a:spLocks noGrp="1"/>
          </p:cNvSpPr>
          <p:nvPr>
            <p:ph type="sldNum" sz="quarter" idx="12"/>
          </p:nvPr>
        </p:nvSpPr>
        <p:spPr/>
        <p:txBody>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42863198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5">
            <a:extLst>
              <a:ext uri="{FF2B5EF4-FFF2-40B4-BE49-F238E27FC236}">
                <a16:creationId xmlns:a16="http://schemas.microsoft.com/office/drawing/2014/main" id="{F5642E8C-FD90-47FB-9533-A90C5141EDEF}"/>
              </a:ext>
            </a:extLst>
          </p:cNvPr>
          <p:cNvSpPr txBox="1">
            <a:spLocks noGrp="1" noChangeArrowheads="1"/>
          </p:cNvSpPr>
          <p:nvPr>
            <p:ph type="ctrTitle"/>
          </p:nvPr>
        </p:nvSpPr>
        <p:spPr bwMode="auto">
          <a:xfrm>
            <a:off x="1188720" y="961708"/>
            <a:ext cx="1055363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defRPr/>
            </a:pPr>
            <a:r>
              <a:rPr lang="es-MX" altLang="es-AR" dirty="0">
                <a:effectLst>
                  <a:outerShdw blurRad="38100" dist="38100" dir="2700000" algn="tl">
                    <a:srgbClr val="C0C0C0"/>
                  </a:outerShdw>
                </a:effectLst>
                <a:latin typeface="Tahoma" pitchFamily="34" charset="0"/>
                <a:cs typeface="Arial" charset="0"/>
              </a:rPr>
              <a:t>CLASIFICACION DE LOS COSTOS</a:t>
            </a:r>
          </a:p>
        </p:txBody>
      </p:sp>
      <p:sp>
        <p:nvSpPr>
          <p:cNvPr id="5" name="Text Box 26">
            <a:extLst>
              <a:ext uri="{FF2B5EF4-FFF2-40B4-BE49-F238E27FC236}">
                <a16:creationId xmlns:a16="http://schemas.microsoft.com/office/drawing/2014/main" id="{27735A57-3B03-42B6-BDFC-E5E8B31EF7BE}"/>
              </a:ext>
            </a:extLst>
          </p:cNvPr>
          <p:cNvSpPr txBox="1">
            <a:spLocks noGrp="1" noChangeArrowheads="1"/>
          </p:cNvSpPr>
          <p:nvPr>
            <p:ph type="subTitle" idx="1"/>
          </p:nvPr>
        </p:nvSpPr>
        <p:spPr bwMode="auto">
          <a:xfrm>
            <a:off x="2269173" y="3551492"/>
            <a:ext cx="89154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defRPr/>
            </a:pPr>
            <a:r>
              <a:rPr lang="es-MX" altLang="es-AR" sz="4400" dirty="0">
                <a:effectLst>
                  <a:outerShdw blurRad="38100" dist="38100" dir="2700000" algn="tl">
                    <a:srgbClr val="C0C0C0"/>
                  </a:outerShdw>
                </a:effectLst>
                <a:latin typeface="Tahoma" pitchFamily="34" charset="0"/>
                <a:cs typeface="Arial" charset="0"/>
              </a:rPr>
              <a:t>Costos Directos e Indirectos</a:t>
            </a:r>
          </a:p>
        </p:txBody>
      </p:sp>
      <p:sp>
        <p:nvSpPr>
          <p:cNvPr id="6" name="CuadroTexto 5">
            <a:extLst>
              <a:ext uri="{FF2B5EF4-FFF2-40B4-BE49-F238E27FC236}">
                <a16:creationId xmlns:a16="http://schemas.microsoft.com/office/drawing/2014/main" id="{D9FA0E92-5CE1-472E-A758-7CE737D9664B}"/>
              </a:ext>
            </a:extLst>
          </p:cNvPr>
          <p:cNvSpPr txBox="1"/>
          <p:nvPr/>
        </p:nvSpPr>
        <p:spPr>
          <a:xfrm>
            <a:off x="1654139" y="2039102"/>
            <a:ext cx="8396578" cy="400110"/>
          </a:xfrm>
          <a:prstGeom prst="rect">
            <a:avLst/>
          </a:prstGeom>
          <a:noFill/>
        </p:spPr>
        <p:txBody>
          <a:bodyPr wrap="square" rtlCol="0">
            <a:spAutoFit/>
          </a:bodyPr>
          <a:lstStyle/>
          <a:p>
            <a:r>
              <a:rPr lang="es-AR" sz="2000" dirty="0"/>
              <a:t>Según como se cargan al producto</a:t>
            </a:r>
          </a:p>
        </p:txBody>
      </p:sp>
      <p:sp>
        <p:nvSpPr>
          <p:cNvPr id="7" name="Marcador de número de diapositiva 6">
            <a:extLst>
              <a:ext uri="{FF2B5EF4-FFF2-40B4-BE49-F238E27FC236}">
                <a16:creationId xmlns:a16="http://schemas.microsoft.com/office/drawing/2014/main" id="{33674575-47D4-476C-8772-8197234BCF0D}"/>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3236255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19A4A1A1-5907-465F-8A12-A45122DD6CE8}"/>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4" name="CuadroTexto 3">
            <a:extLst>
              <a:ext uri="{FF2B5EF4-FFF2-40B4-BE49-F238E27FC236}">
                <a16:creationId xmlns:a16="http://schemas.microsoft.com/office/drawing/2014/main" id="{442286A8-71AB-4DD5-9524-5428BCDA9C85}"/>
              </a:ext>
            </a:extLst>
          </p:cNvPr>
          <p:cNvSpPr txBox="1"/>
          <p:nvPr/>
        </p:nvSpPr>
        <p:spPr>
          <a:xfrm>
            <a:off x="2084832" y="2075688"/>
            <a:ext cx="8275320" cy="1200329"/>
          </a:xfrm>
          <a:prstGeom prst="rect">
            <a:avLst/>
          </a:prstGeom>
          <a:noFill/>
        </p:spPr>
        <p:txBody>
          <a:bodyPr wrap="square" rtlCol="0">
            <a:spAutoFit/>
          </a:bodyPr>
          <a:lstStyle/>
          <a:p>
            <a:pPr marL="285750" indent="-285750">
              <a:buClr>
                <a:srgbClr val="92D050"/>
              </a:buClr>
              <a:buFont typeface="Wingdings" panose="05000000000000000000" pitchFamily="2" charset="2"/>
              <a:buChar char="§"/>
            </a:pPr>
            <a:r>
              <a:rPr lang="es-AR" b="1" dirty="0">
                <a:solidFill>
                  <a:schemeClr val="tx1">
                    <a:lumMod val="75000"/>
                    <a:lumOff val="25000"/>
                  </a:schemeClr>
                </a:solidFill>
              </a:rPr>
              <a:t>DIRECTOS</a:t>
            </a:r>
          </a:p>
          <a:p>
            <a:pPr lvl="1">
              <a:buClr>
                <a:srgbClr val="92D050"/>
              </a:buClr>
            </a:pPr>
            <a:endParaRPr lang="es-AR" dirty="0">
              <a:solidFill>
                <a:schemeClr val="tx1">
                  <a:lumMod val="75000"/>
                  <a:lumOff val="25000"/>
                </a:schemeClr>
              </a:solidFill>
            </a:endParaRPr>
          </a:p>
          <a:p>
            <a:pPr lvl="1">
              <a:buClr>
                <a:srgbClr val="92D050"/>
              </a:buClr>
            </a:pPr>
            <a:r>
              <a:rPr lang="es-AR" dirty="0">
                <a:solidFill>
                  <a:schemeClr val="tx1">
                    <a:lumMod val="75000"/>
                    <a:lumOff val="25000"/>
                  </a:schemeClr>
                </a:solidFill>
              </a:rPr>
              <a:t>Son aquellos que se pueden identificar como realizados a cuenta de una orden de producción en particular</a:t>
            </a:r>
            <a:endParaRPr lang="es-AR" sz="2400" b="1" dirty="0"/>
          </a:p>
        </p:txBody>
      </p:sp>
      <p:sp>
        <p:nvSpPr>
          <p:cNvPr id="5" name="CuadroTexto 4">
            <a:extLst>
              <a:ext uri="{FF2B5EF4-FFF2-40B4-BE49-F238E27FC236}">
                <a16:creationId xmlns:a16="http://schemas.microsoft.com/office/drawing/2014/main" id="{C18B8E1F-44AC-4851-8CE5-038790180D7D}"/>
              </a:ext>
            </a:extLst>
          </p:cNvPr>
          <p:cNvSpPr txBox="1"/>
          <p:nvPr/>
        </p:nvSpPr>
        <p:spPr>
          <a:xfrm>
            <a:off x="2084832" y="3681984"/>
            <a:ext cx="8275320" cy="1754326"/>
          </a:xfrm>
          <a:prstGeom prst="rect">
            <a:avLst/>
          </a:prstGeom>
          <a:noFill/>
        </p:spPr>
        <p:txBody>
          <a:bodyPr wrap="square" rtlCol="0">
            <a:spAutoFit/>
          </a:bodyPr>
          <a:lstStyle/>
          <a:p>
            <a:pPr marL="285750" indent="-285750">
              <a:buClr>
                <a:srgbClr val="92D050"/>
              </a:buClr>
              <a:buFont typeface="Wingdings" panose="05000000000000000000" pitchFamily="2" charset="2"/>
              <a:buChar char="§"/>
            </a:pPr>
            <a:r>
              <a:rPr lang="es-AR" b="1" dirty="0">
                <a:solidFill>
                  <a:schemeClr val="tx1">
                    <a:lumMod val="75000"/>
                    <a:lumOff val="25000"/>
                  </a:schemeClr>
                </a:solidFill>
              </a:rPr>
              <a:t>INDIRECTOS</a:t>
            </a:r>
          </a:p>
          <a:p>
            <a:pPr lvl="1">
              <a:buClr>
                <a:srgbClr val="92D050"/>
              </a:buClr>
            </a:pPr>
            <a:endParaRPr lang="es-AR" dirty="0">
              <a:solidFill>
                <a:schemeClr val="tx1">
                  <a:lumMod val="75000"/>
                  <a:lumOff val="25000"/>
                </a:schemeClr>
              </a:solidFill>
            </a:endParaRPr>
          </a:p>
          <a:p>
            <a:pPr lvl="1">
              <a:buClr>
                <a:srgbClr val="92D050"/>
              </a:buClr>
            </a:pPr>
            <a:r>
              <a:rPr lang="es-AR" dirty="0">
                <a:solidFill>
                  <a:schemeClr val="tx1">
                    <a:lumMod val="75000"/>
                    <a:lumOff val="25000"/>
                  </a:schemeClr>
                </a:solidFill>
              </a:rPr>
              <a:t>Son los que provienen de la operatoria general de la empresa beneficiando a todos los productos o procesos y sin constituir, por definición, cargo directo a ningún trabajo especifico; se aplican al producto mediante procedimientos de prorrateo</a:t>
            </a:r>
            <a:endParaRPr lang="es-AR" sz="2400" b="1" dirty="0"/>
          </a:p>
        </p:txBody>
      </p:sp>
      <p:sp>
        <p:nvSpPr>
          <p:cNvPr id="7" name="Título 6">
            <a:extLst>
              <a:ext uri="{FF2B5EF4-FFF2-40B4-BE49-F238E27FC236}">
                <a16:creationId xmlns:a16="http://schemas.microsoft.com/office/drawing/2014/main" id="{0CF6DACD-CB9E-41D6-AD06-FBCF5D80D1C2}"/>
              </a:ext>
            </a:extLst>
          </p:cNvPr>
          <p:cNvSpPr>
            <a:spLocks noGrp="1"/>
          </p:cNvSpPr>
          <p:nvPr>
            <p:ph type="title"/>
          </p:nvPr>
        </p:nvSpPr>
        <p:spPr>
          <a:xfrm>
            <a:off x="1980276" y="591815"/>
            <a:ext cx="8911687" cy="752353"/>
          </a:xfrm>
        </p:spPr>
        <p:txBody>
          <a:bodyPr/>
          <a:lstStyle/>
          <a:p>
            <a:r>
              <a:rPr lang="es-AR" b="1" dirty="0">
                <a:solidFill>
                  <a:schemeClr val="tx1">
                    <a:lumMod val="75000"/>
                    <a:lumOff val="25000"/>
                  </a:schemeClr>
                </a:solidFill>
              </a:rPr>
              <a:t>DIRECTOS e INDIRECTOS</a:t>
            </a:r>
            <a:endParaRPr lang="es-AR" dirty="0"/>
          </a:p>
        </p:txBody>
      </p:sp>
    </p:spTree>
    <p:extLst>
      <p:ext uri="{BB962C8B-B14F-4D97-AF65-F5344CB8AC3E}">
        <p14:creationId xmlns:p14="http://schemas.microsoft.com/office/powerpoint/2010/main" val="19609061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74A38C-AF81-4E98-82E3-E20702E5DF4D}"/>
              </a:ext>
            </a:extLst>
          </p:cNvPr>
          <p:cNvSpPr>
            <a:spLocks noGrp="1"/>
          </p:cNvSpPr>
          <p:nvPr>
            <p:ph type="title"/>
          </p:nvPr>
        </p:nvSpPr>
        <p:spPr>
          <a:xfrm>
            <a:off x="2084832" y="0"/>
            <a:ext cx="8911687" cy="1280890"/>
          </a:xfrm>
        </p:spPr>
        <p:txBody>
          <a:bodyPr>
            <a:normAutofit/>
          </a:bodyPr>
          <a:lstStyle/>
          <a:p>
            <a:br>
              <a:rPr lang="es-AR" sz="3100" b="1" dirty="0">
                <a:solidFill>
                  <a:schemeClr val="tx1">
                    <a:lumMod val="75000"/>
                    <a:lumOff val="25000"/>
                  </a:schemeClr>
                </a:solidFill>
              </a:rPr>
            </a:br>
            <a:r>
              <a:rPr lang="es-AR" b="1" dirty="0">
                <a:solidFill>
                  <a:schemeClr val="tx1">
                    <a:lumMod val="75000"/>
                    <a:lumOff val="25000"/>
                  </a:schemeClr>
                </a:solidFill>
              </a:rPr>
              <a:t>COSTO</a:t>
            </a:r>
            <a:r>
              <a:rPr lang="es-AR" sz="3100" b="1" dirty="0">
                <a:solidFill>
                  <a:schemeClr val="tx1">
                    <a:lumMod val="75000"/>
                    <a:lumOff val="25000"/>
                  </a:schemeClr>
                </a:solidFill>
              </a:rPr>
              <a:t> </a:t>
            </a:r>
            <a:r>
              <a:rPr lang="es-AR" b="1" dirty="0">
                <a:solidFill>
                  <a:schemeClr val="tx1">
                    <a:lumMod val="75000"/>
                    <a:lumOff val="25000"/>
                  </a:schemeClr>
                </a:solidFill>
              </a:rPr>
              <a:t>DIRECTO</a:t>
            </a:r>
            <a:endParaRPr lang="es-AR" dirty="0">
              <a:solidFill>
                <a:schemeClr val="tx1">
                  <a:lumMod val="75000"/>
                  <a:lumOff val="25000"/>
                </a:schemeClr>
              </a:solidFill>
            </a:endParaRPr>
          </a:p>
        </p:txBody>
      </p:sp>
      <p:sp>
        <p:nvSpPr>
          <p:cNvPr id="3" name="Marcador de número de diapositiva 2">
            <a:extLst>
              <a:ext uri="{FF2B5EF4-FFF2-40B4-BE49-F238E27FC236}">
                <a16:creationId xmlns:a16="http://schemas.microsoft.com/office/drawing/2014/main" id="{19A4A1A1-5907-465F-8A12-A45122DD6CE8}"/>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
        <p:nvSpPr>
          <p:cNvPr id="6" name="Text Box 5">
            <a:extLst>
              <a:ext uri="{FF2B5EF4-FFF2-40B4-BE49-F238E27FC236}">
                <a16:creationId xmlns:a16="http://schemas.microsoft.com/office/drawing/2014/main" id="{DC8BF90E-264F-4673-B3A7-74A6C292E363}"/>
              </a:ext>
            </a:extLst>
          </p:cNvPr>
          <p:cNvSpPr txBox="1">
            <a:spLocks noChangeArrowheads="1"/>
          </p:cNvSpPr>
          <p:nvPr/>
        </p:nvSpPr>
        <p:spPr bwMode="auto">
          <a:xfrm>
            <a:off x="1708658" y="2747169"/>
            <a:ext cx="18002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b="1" dirty="0">
                <a:latin typeface="+mn-lt"/>
              </a:rPr>
              <a:t>Costo Directo (costo primo)</a:t>
            </a:r>
            <a:endParaRPr lang="es-ES" altLang="es-AR" b="1" dirty="0">
              <a:latin typeface="+mn-lt"/>
            </a:endParaRPr>
          </a:p>
        </p:txBody>
      </p:sp>
      <p:sp>
        <p:nvSpPr>
          <p:cNvPr id="7" name="AutoShape 6">
            <a:extLst>
              <a:ext uri="{FF2B5EF4-FFF2-40B4-BE49-F238E27FC236}">
                <a16:creationId xmlns:a16="http://schemas.microsoft.com/office/drawing/2014/main" id="{B5D3D478-EFBD-46D9-88EB-ADCEE629983A}"/>
              </a:ext>
            </a:extLst>
          </p:cNvPr>
          <p:cNvSpPr>
            <a:spLocks/>
          </p:cNvSpPr>
          <p:nvPr/>
        </p:nvSpPr>
        <p:spPr bwMode="auto">
          <a:xfrm>
            <a:off x="3580321" y="1451769"/>
            <a:ext cx="144462" cy="3527425"/>
          </a:xfrm>
          <a:prstGeom prst="leftBrace">
            <a:avLst>
              <a:gd name="adj1" fmla="val 203481"/>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8" name="Text Box 7">
            <a:extLst>
              <a:ext uri="{FF2B5EF4-FFF2-40B4-BE49-F238E27FC236}">
                <a16:creationId xmlns:a16="http://schemas.microsoft.com/office/drawing/2014/main" id="{47DF652E-F325-4731-8E58-C068DD8BAB3E}"/>
              </a:ext>
            </a:extLst>
          </p:cNvPr>
          <p:cNvSpPr txBox="1">
            <a:spLocks noChangeArrowheads="1"/>
          </p:cNvSpPr>
          <p:nvPr/>
        </p:nvSpPr>
        <p:spPr bwMode="auto">
          <a:xfrm>
            <a:off x="3702462" y="1993067"/>
            <a:ext cx="1800225"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b="1" dirty="0">
                <a:latin typeface="+mj-lt"/>
              </a:rPr>
              <a:t>Costo de la Materia Prima Directa</a:t>
            </a:r>
            <a:endParaRPr lang="es-ES" altLang="es-AR" b="1" dirty="0">
              <a:latin typeface="+mj-lt"/>
            </a:endParaRPr>
          </a:p>
        </p:txBody>
      </p:sp>
      <p:sp>
        <p:nvSpPr>
          <p:cNvPr id="9" name="AutoShape 8">
            <a:extLst>
              <a:ext uri="{FF2B5EF4-FFF2-40B4-BE49-F238E27FC236}">
                <a16:creationId xmlns:a16="http://schemas.microsoft.com/office/drawing/2014/main" id="{DD7D3A59-FACF-45DA-BC91-7B98797B208D}"/>
              </a:ext>
            </a:extLst>
          </p:cNvPr>
          <p:cNvSpPr>
            <a:spLocks/>
          </p:cNvSpPr>
          <p:nvPr/>
        </p:nvSpPr>
        <p:spPr bwMode="auto">
          <a:xfrm>
            <a:off x="5596446" y="1451769"/>
            <a:ext cx="144462" cy="2016125"/>
          </a:xfrm>
          <a:prstGeom prst="leftBrace">
            <a:avLst>
              <a:gd name="adj1" fmla="val 116301"/>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10" name="Text Box 9">
            <a:extLst>
              <a:ext uri="{FF2B5EF4-FFF2-40B4-BE49-F238E27FC236}">
                <a16:creationId xmlns:a16="http://schemas.microsoft.com/office/drawing/2014/main" id="{9A63F39F-B828-4607-A18D-D2B72453AEAF}"/>
              </a:ext>
            </a:extLst>
          </p:cNvPr>
          <p:cNvSpPr txBox="1">
            <a:spLocks noChangeArrowheads="1"/>
          </p:cNvSpPr>
          <p:nvPr/>
        </p:nvSpPr>
        <p:spPr bwMode="auto">
          <a:xfrm>
            <a:off x="5669471" y="1602582"/>
            <a:ext cx="259238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dirty="0">
                <a:latin typeface="+mj-lt"/>
              </a:rPr>
              <a:t>Cantidad de materia prima utilizada</a:t>
            </a:r>
            <a:endParaRPr lang="es-ES" altLang="es-AR" dirty="0">
              <a:latin typeface="+mj-lt"/>
            </a:endParaRPr>
          </a:p>
        </p:txBody>
      </p:sp>
      <p:sp>
        <p:nvSpPr>
          <p:cNvPr id="11" name="AutoShape 10">
            <a:extLst>
              <a:ext uri="{FF2B5EF4-FFF2-40B4-BE49-F238E27FC236}">
                <a16:creationId xmlns:a16="http://schemas.microsoft.com/office/drawing/2014/main" id="{80BFD75D-8F3D-4E60-9DC9-953A0D9A0A88}"/>
              </a:ext>
            </a:extLst>
          </p:cNvPr>
          <p:cNvSpPr>
            <a:spLocks/>
          </p:cNvSpPr>
          <p:nvPr/>
        </p:nvSpPr>
        <p:spPr bwMode="auto">
          <a:xfrm>
            <a:off x="8117396" y="1451769"/>
            <a:ext cx="71437" cy="1079500"/>
          </a:xfrm>
          <a:prstGeom prst="leftBrace">
            <a:avLst>
              <a:gd name="adj1" fmla="val 12592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12" name="Text Box 11">
            <a:extLst>
              <a:ext uri="{FF2B5EF4-FFF2-40B4-BE49-F238E27FC236}">
                <a16:creationId xmlns:a16="http://schemas.microsoft.com/office/drawing/2014/main" id="{21C4D743-A6DD-4A12-B93A-4A36D9E85602}"/>
              </a:ext>
            </a:extLst>
          </p:cNvPr>
          <p:cNvSpPr txBox="1">
            <a:spLocks noChangeArrowheads="1"/>
          </p:cNvSpPr>
          <p:nvPr/>
        </p:nvSpPr>
        <p:spPr bwMode="auto">
          <a:xfrm>
            <a:off x="8204708" y="1380332"/>
            <a:ext cx="339902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dirty="0">
                <a:latin typeface="+mj-lt"/>
              </a:rPr>
              <a:t>Materia prima componente</a:t>
            </a:r>
            <a:endParaRPr lang="es-ES" altLang="es-AR" dirty="0">
              <a:latin typeface="+mj-lt"/>
            </a:endParaRPr>
          </a:p>
        </p:txBody>
      </p:sp>
      <p:sp>
        <p:nvSpPr>
          <p:cNvPr id="13" name="Text Box 12">
            <a:extLst>
              <a:ext uri="{FF2B5EF4-FFF2-40B4-BE49-F238E27FC236}">
                <a16:creationId xmlns:a16="http://schemas.microsoft.com/office/drawing/2014/main" id="{C709BCCA-358F-491F-B0A8-60DA2FE063B3}"/>
              </a:ext>
            </a:extLst>
          </p:cNvPr>
          <p:cNvSpPr txBox="1">
            <a:spLocks noChangeArrowheads="1"/>
          </p:cNvSpPr>
          <p:nvPr/>
        </p:nvSpPr>
        <p:spPr bwMode="auto">
          <a:xfrm>
            <a:off x="8188833" y="1667669"/>
            <a:ext cx="29368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dirty="0">
                <a:latin typeface="+mj-lt"/>
              </a:rPr>
              <a:t>Merma</a:t>
            </a:r>
            <a:endParaRPr lang="es-ES" altLang="es-AR" dirty="0">
              <a:latin typeface="+mj-lt"/>
            </a:endParaRPr>
          </a:p>
        </p:txBody>
      </p:sp>
      <p:sp>
        <p:nvSpPr>
          <p:cNvPr id="14" name="Text Box 13">
            <a:extLst>
              <a:ext uri="{FF2B5EF4-FFF2-40B4-BE49-F238E27FC236}">
                <a16:creationId xmlns:a16="http://schemas.microsoft.com/office/drawing/2014/main" id="{DA7F29E4-5249-4FF8-8AEF-87C982C0D069}"/>
              </a:ext>
            </a:extLst>
          </p:cNvPr>
          <p:cNvSpPr txBox="1">
            <a:spLocks noChangeArrowheads="1"/>
          </p:cNvSpPr>
          <p:nvPr/>
        </p:nvSpPr>
        <p:spPr bwMode="auto">
          <a:xfrm>
            <a:off x="8188168" y="2267705"/>
            <a:ext cx="29368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dirty="0">
                <a:latin typeface="+mj-lt"/>
              </a:rPr>
              <a:t>Rechazo</a:t>
            </a:r>
            <a:endParaRPr lang="es-ES" altLang="es-AR" dirty="0">
              <a:latin typeface="+mj-lt"/>
            </a:endParaRPr>
          </a:p>
        </p:txBody>
      </p:sp>
      <p:sp>
        <p:nvSpPr>
          <p:cNvPr id="15" name="Text Box 14">
            <a:extLst>
              <a:ext uri="{FF2B5EF4-FFF2-40B4-BE49-F238E27FC236}">
                <a16:creationId xmlns:a16="http://schemas.microsoft.com/office/drawing/2014/main" id="{EB10F1DA-6FEF-4D8E-B9EB-3A56D2E586FE}"/>
              </a:ext>
            </a:extLst>
          </p:cNvPr>
          <p:cNvSpPr txBox="1">
            <a:spLocks noChangeArrowheads="1"/>
          </p:cNvSpPr>
          <p:nvPr/>
        </p:nvSpPr>
        <p:spPr bwMode="auto">
          <a:xfrm>
            <a:off x="8182928" y="1954749"/>
            <a:ext cx="29368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dirty="0">
                <a:latin typeface="+mj-lt"/>
              </a:rPr>
              <a:t>Desperdicio o recorte</a:t>
            </a:r>
            <a:endParaRPr lang="es-ES" altLang="es-AR" dirty="0">
              <a:latin typeface="+mj-lt"/>
            </a:endParaRPr>
          </a:p>
        </p:txBody>
      </p:sp>
      <p:sp>
        <p:nvSpPr>
          <p:cNvPr id="16" name="Text Box 15">
            <a:extLst>
              <a:ext uri="{FF2B5EF4-FFF2-40B4-BE49-F238E27FC236}">
                <a16:creationId xmlns:a16="http://schemas.microsoft.com/office/drawing/2014/main" id="{A5409D73-AB13-4A01-AD48-4BC7AD47B0DF}"/>
              </a:ext>
            </a:extLst>
          </p:cNvPr>
          <p:cNvSpPr txBox="1">
            <a:spLocks noChangeArrowheads="1"/>
          </p:cNvSpPr>
          <p:nvPr/>
        </p:nvSpPr>
        <p:spPr bwMode="auto">
          <a:xfrm>
            <a:off x="5667883" y="2747169"/>
            <a:ext cx="25923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dirty="0">
                <a:latin typeface="+mj-lt"/>
              </a:rPr>
              <a:t>Precio de la materia prima utilizada</a:t>
            </a:r>
            <a:endParaRPr lang="es-ES" altLang="es-AR" dirty="0">
              <a:latin typeface="+mj-lt"/>
            </a:endParaRPr>
          </a:p>
        </p:txBody>
      </p:sp>
      <p:sp>
        <p:nvSpPr>
          <p:cNvPr id="17" name="AutoShape 16">
            <a:extLst>
              <a:ext uri="{FF2B5EF4-FFF2-40B4-BE49-F238E27FC236}">
                <a16:creationId xmlns:a16="http://schemas.microsoft.com/office/drawing/2014/main" id="{EA9238A1-0E63-429C-A135-5E71E633DFAB}"/>
              </a:ext>
            </a:extLst>
          </p:cNvPr>
          <p:cNvSpPr>
            <a:spLocks/>
          </p:cNvSpPr>
          <p:nvPr/>
        </p:nvSpPr>
        <p:spPr bwMode="auto">
          <a:xfrm>
            <a:off x="8143114" y="2747169"/>
            <a:ext cx="45719" cy="649288"/>
          </a:xfrm>
          <a:prstGeom prst="leftBrace">
            <a:avLst>
              <a:gd name="adj1" fmla="val 75741"/>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18" name="Text Box 17">
            <a:extLst>
              <a:ext uri="{FF2B5EF4-FFF2-40B4-BE49-F238E27FC236}">
                <a16:creationId xmlns:a16="http://schemas.microsoft.com/office/drawing/2014/main" id="{18C0F544-E7F8-4362-89B1-E7B1AA36D4B8}"/>
              </a:ext>
            </a:extLst>
          </p:cNvPr>
          <p:cNvSpPr txBox="1">
            <a:spLocks noChangeArrowheads="1"/>
          </p:cNvSpPr>
          <p:nvPr/>
        </p:nvSpPr>
        <p:spPr bwMode="auto">
          <a:xfrm>
            <a:off x="8192230" y="2701482"/>
            <a:ext cx="29368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dirty="0">
                <a:latin typeface="+mj-lt"/>
              </a:rPr>
              <a:t>Nacional</a:t>
            </a:r>
            <a:endParaRPr lang="es-ES" altLang="es-AR" dirty="0">
              <a:latin typeface="+mj-lt"/>
            </a:endParaRPr>
          </a:p>
        </p:txBody>
      </p:sp>
      <p:sp>
        <p:nvSpPr>
          <p:cNvPr id="19" name="Text Box 18">
            <a:extLst>
              <a:ext uri="{FF2B5EF4-FFF2-40B4-BE49-F238E27FC236}">
                <a16:creationId xmlns:a16="http://schemas.microsoft.com/office/drawing/2014/main" id="{B7882CB4-C6C1-4C0F-9466-848FE70D04A8}"/>
              </a:ext>
            </a:extLst>
          </p:cNvPr>
          <p:cNvSpPr txBox="1">
            <a:spLocks noChangeArrowheads="1"/>
          </p:cNvSpPr>
          <p:nvPr/>
        </p:nvSpPr>
        <p:spPr bwMode="auto">
          <a:xfrm>
            <a:off x="8188833" y="3036094"/>
            <a:ext cx="29368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dirty="0">
                <a:latin typeface="+mj-lt"/>
              </a:rPr>
              <a:t>Importada</a:t>
            </a:r>
            <a:endParaRPr lang="es-ES" altLang="es-AR" dirty="0">
              <a:latin typeface="+mj-lt"/>
            </a:endParaRPr>
          </a:p>
        </p:txBody>
      </p:sp>
      <p:sp>
        <p:nvSpPr>
          <p:cNvPr id="20" name="Text Box 19">
            <a:extLst>
              <a:ext uri="{FF2B5EF4-FFF2-40B4-BE49-F238E27FC236}">
                <a16:creationId xmlns:a16="http://schemas.microsoft.com/office/drawing/2014/main" id="{AF9E2AA3-E7C9-4E41-8048-1E1688407BBB}"/>
              </a:ext>
            </a:extLst>
          </p:cNvPr>
          <p:cNvSpPr txBox="1">
            <a:spLocks noChangeArrowheads="1"/>
          </p:cNvSpPr>
          <p:nvPr/>
        </p:nvSpPr>
        <p:spPr bwMode="auto">
          <a:xfrm>
            <a:off x="3724783" y="4110037"/>
            <a:ext cx="1800225"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b="1" dirty="0">
                <a:latin typeface="+mj-lt"/>
              </a:rPr>
              <a:t>Costo de la Mano de Obra Directa</a:t>
            </a:r>
            <a:endParaRPr lang="es-ES" altLang="es-AR" b="1" dirty="0">
              <a:latin typeface="+mj-lt"/>
            </a:endParaRPr>
          </a:p>
        </p:txBody>
      </p:sp>
      <p:sp>
        <p:nvSpPr>
          <p:cNvPr id="21" name="AutoShape 20">
            <a:extLst>
              <a:ext uri="{FF2B5EF4-FFF2-40B4-BE49-F238E27FC236}">
                <a16:creationId xmlns:a16="http://schemas.microsoft.com/office/drawing/2014/main" id="{D63CFCD3-1995-4D2C-B9C5-549003C0E6CE}"/>
              </a:ext>
            </a:extLst>
          </p:cNvPr>
          <p:cNvSpPr>
            <a:spLocks/>
          </p:cNvSpPr>
          <p:nvPr/>
        </p:nvSpPr>
        <p:spPr bwMode="auto">
          <a:xfrm>
            <a:off x="5568474" y="3941048"/>
            <a:ext cx="142875" cy="1511300"/>
          </a:xfrm>
          <a:prstGeom prst="leftBrace">
            <a:avLst>
              <a:gd name="adj1" fmla="val 88148"/>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22" name="Text Box 21">
            <a:extLst>
              <a:ext uri="{FF2B5EF4-FFF2-40B4-BE49-F238E27FC236}">
                <a16:creationId xmlns:a16="http://schemas.microsoft.com/office/drawing/2014/main" id="{96DA59D2-01E2-4654-AC67-606B244BD21B}"/>
              </a:ext>
            </a:extLst>
          </p:cNvPr>
          <p:cNvSpPr txBox="1">
            <a:spLocks noChangeArrowheads="1"/>
          </p:cNvSpPr>
          <p:nvPr/>
        </p:nvSpPr>
        <p:spPr bwMode="auto">
          <a:xfrm>
            <a:off x="5812346" y="3910290"/>
            <a:ext cx="60108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dirty="0">
                <a:latin typeface="+mj-lt"/>
              </a:rPr>
              <a:t>Cantidad de mano de obra directa (tarjeta / reloj)</a:t>
            </a:r>
            <a:endParaRPr lang="es-ES" altLang="es-AR" dirty="0">
              <a:latin typeface="+mj-lt"/>
            </a:endParaRPr>
          </a:p>
        </p:txBody>
      </p:sp>
      <p:sp>
        <p:nvSpPr>
          <p:cNvPr id="23" name="Text Box 22">
            <a:extLst>
              <a:ext uri="{FF2B5EF4-FFF2-40B4-BE49-F238E27FC236}">
                <a16:creationId xmlns:a16="http://schemas.microsoft.com/office/drawing/2014/main" id="{4EAF5B80-14AD-4214-875D-42874CAF76D6}"/>
              </a:ext>
            </a:extLst>
          </p:cNvPr>
          <p:cNvSpPr txBox="1">
            <a:spLocks noChangeArrowheads="1"/>
          </p:cNvSpPr>
          <p:nvPr/>
        </p:nvSpPr>
        <p:spPr bwMode="auto">
          <a:xfrm>
            <a:off x="5812346" y="4809332"/>
            <a:ext cx="230346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dirty="0">
                <a:latin typeface="+mj-lt"/>
              </a:rPr>
              <a:t>Precio de la mano de obra directa</a:t>
            </a:r>
            <a:endParaRPr lang="es-ES" altLang="es-AR" dirty="0">
              <a:latin typeface="+mj-lt"/>
            </a:endParaRPr>
          </a:p>
        </p:txBody>
      </p:sp>
      <p:sp>
        <p:nvSpPr>
          <p:cNvPr id="24" name="AutoShape 23">
            <a:extLst>
              <a:ext uri="{FF2B5EF4-FFF2-40B4-BE49-F238E27FC236}">
                <a16:creationId xmlns:a16="http://schemas.microsoft.com/office/drawing/2014/main" id="{825F472E-37A2-4FDF-B748-0723394BCF79}"/>
              </a:ext>
            </a:extLst>
          </p:cNvPr>
          <p:cNvSpPr>
            <a:spLocks/>
          </p:cNvSpPr>
          <p:nvPr/>
        </p:nvSpPr>
        <p:spPr bwMode="auto">
          <a:xfrm>
            <a:off x="8120793" y="4528741"/>
            <a:ext cx="71437" cy="1079500"/>
          </a:xfrm>
          <a:prstGeom prst="leftBrace">
            <a:avLst>
              <a:gd name="adj1" fmla="val 12592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25" name="Text Box 24">
            <a:extLst>
              <a:ext uri="{FF2B5EF4-FFF2-40B4-BE49-F238E27FC236}">
                <a16:creationId xmlns:a16="http://schemas.microsoft.com/office/drawing/2014/main" id="{BDF50DA8-CAE1-42B7-9E09-E5312B32FDFC}"/>
              </a:ext>
            </a:extLst>
          </p:cNvPr>
          <p:cNvSpPr txBox="1">
            <a:spLocks noChangeArrowheads="1"/>
          </p:cNvSpPr>
          <p:nvPr/>
        </p:nvSpPr>
        <p:spPr bwMode="auto">
          <a:xfrm>
            <a:off x="8197215" y="4504293"/>
            <a:ext cx="29368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dirty="0">
                <a:latin typeface="+mj-lt"/>
              </a:rPr>
              <a:t>Salario visible (bolsillo)</a:t>
            </a:r>
            <a:endParaRPr lang="es-ES" altLang="es-AR" dirty="0">
              <a:latin typeface="+mj-lt"/>
            </a:endParaRPr>
          </a:p>
        </p:txBody>
      </p:sp>
      <p:sp>
        <p:nvSpPr>
          <p:cNvPr id="26" name="Text Box 25">
            <a:extLst>
              <a:ext uri="{FF2B5EF4-FFF2-40B4-BE49-F238E27FC236}">
                <a16:creationId xmlns:a16="http://schemas.microsoft.com/office/drawing/2014/main" id="{047043F7-9F58-44E8-A26D-BC6F316D35FE}"/>
              </a:ext>
            </a:extLst>
          </p:cNvPr>
          <p:cNvSpPr txBox="1">
            <a:spLocks noChangeArrowheads="1"/>
          </p:cNvSpPr>
          <p:nvPr/>
        </p:nvSpPr>
        <p:spPr bwMode="auto">
          <a:xfrm>
            <a:off x="8223599" y="5044536"/>
            <a:ext cx="23780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dirty="0">
                <a:latin typeface="+mj-lt"/>
              </a:rPr>
              <a:t>Salario invisible       (cargas sociales)</a:t>
            </a:r>
            <a:endParaRPr lang="es-ES" altLang="es-AR" dirty="0">
              <a:latin typeface="+mj-lt"/>
            </a:endParaRPr>
          </a:p>
        </p:txBody>
      </p:sp>
      <p:sp>
        <p:nvSpPr>
          <p:cNvPr id="33" name="AutoShape 16">
            <a:extLst>
              <a:ext uri="{FF2B5EF4-FFF2-40B4-BE49-F238E27FC236}">
                <a16:creationId xmlns:a16="http://schemas.microsoft.com/office/drawing/2014/main" id="{505E38A3-15BA-4866-950A-F7413894E765}"/>
              </a:ext>
            </a:extLst>
          </p:cNvPr>
          <p:cNvSpPr>
            <a:spLocks/>
          </p:cNvSpPr>
          <p:nvPr/>
        </p:nvSpPr>
        <p:spPr bwMode="auto">
          <a:xfrm>
            <a:off x="9512617" y="2947710"/>
            <a:ext cx="144462" cy="681592"/>
          </a:xfrm>
          <a:prstGeom prst="leftBrace">
            <a:avLst>
              <a:gd name="adj1" fmla="val 75741"/>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34" name="CuadroTexto 33">
            <a:extLst>
              <a:ext uri="{FF2B5EF4-FFF2-40B4-BE49-F238E27FC236}">
                <a16:creationId xmlns:a16="http://schemas.microsoft.com/office/drawing/2014/main" id="{AB582A8A-11C1-47CC-A316-8C1AE4791084}"/>
              </a:ext>
            </a:extLst>
          </p:cNvPr>
          <p:cNvSpPr txBox="1"/>
          <p:nvPr/>
        </p:nvSpPr>
        <p:spPr>
          <a:xfrm>
            <a:off x="9673145" y="2875811"/>
            <a:ext cx="762730" cy="830997"/>
          </a:xfrm>
          <a:prstGeom prst="rect">
            <a:avLst/>
          </a:prstGeom>
          <a:noFill/>
        </p:spPr>
        <p:txBody>
          <a:bodyPr wrap="square" rtlCol="0">
            <a:spAutoFit/>
          </a:bodyPr>
          <a:lstStyle/>
          <a:p>
            <a:r>
              <a:rPr lang="es-AR" sz="1600" dirty="0"/>
              <a:t>FAS</a:t>
            </a:r>
          </a:p>
          <a:p>
            <a:r>
              <a:rPr lang="es-AR" sz="1600" dirty="0"/>
              <a:t>FOB</a:t>
            </a:r>
          </a:p>
          <a:p>
            <a:r>
              <a:rPr lang="es-AR" sz="1600" dirty="0"/>
              <a:t>CIF</a:t>
            </a:r>
          </a:p>
        </p:txBody>
      </p:sp>
    </p:spTree>
    <p:extLst>
      <p:ext uri="{BB962C8B-B14F-4D97-AF65-F5344CB8AC3E}">
        <p14:creationId xmlns:p14="http://schemas.microsoft.com/office/powerpoint/2010/main" val="2329418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p:bldP spid="9" grpId="0" animBg="1"/>
      <p:bldP spid="10" grpId="0"/>
      <p:bldP spid="11" grpId="0" animBg="1"/>
      <p:bldP spid="12" grpId="0"/>
      <p:bldP spid="13" grpId="0"/>
      <p:bldP spid="14" grpId="0"/>
      <p:bldP spid="15" grpId="0"/>
      <p:bldP spid="16" grpId="0"/>
      <p:bldP spid="17" grpId="0" animBg="1"/>
      <p:bldP spid="18" grpId="0"/>
      <p:bldP spid="19" grpId="0"/>
      <p:bldP spid="20" grpId="0"/>
      <p:bldP spid="21" grpId="0" animBg="1"/>
      <p:bldP spid="22" grpId="0"/>
      <p:bldP spid="23" grpId="0"/>
      <p:bldP spid="24" grpId="0" animBg="1"/>
      <p:bldP spid="25" grpId="0"/>
      <p:bldP spid="26" grpId="0"/>
      <p:bldP spid="3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E37675-9BF2-4F52-B114-0E84DBA474B2}"/>
              </a:ext>
            </a:extLst>
          </p:cNvPr>
          <p:cNvSpPr>
            <a:spLocks noGrp="1"/>
          </p:cNvSpPr>
          <p:nvPr>
            <p:ph type="title"/>
          </p:nvPr>
        </p:nvSpPr>
        <p:spPr/>
        <p:txBody>
          <a:bodyPr/>
          <a:lstStyle/>
          <a:p>
            <a:r>
              <a:rPr lang="es-AR" b="1" dirty="0">
                <a:solidFill>
                  <a:schemeClr val="tx1">
                    <a:lumMod val="75000"/>
                    <a:lumOff val="25000"/>
                  </a:schemeClr>
                </a:solidFill>
              </a:rPr>
              <a:t>COSTO DIRECTO</a:t>
            </a:r>
            <a:endParaRPr lang="es-AR" dirty="0"/>
          </a:p>
        </p:txBody>
      </p:sp>
      <p:sp>
        <p:nvSpPr>
          <p:cNvPr id="3" name="Marcador de número de diapositiva 2">
            <a:extLst>
              <a:ext uri="{FF2B5EF4-FFF2-40B4-BE49-F238E27FC236}">
                <a16:creationId xmlns:a16="http://schemas.microsoft.com/office/drawing/2014/main" id="{D14F8AB1-AE65-4C84-8409-E8E79609E16B}"/>
              </a:ext>
            </a:extLst>
          </p:cNvPr>
          <p:cNvSpPr>
            <a:spLocks noGrp="1"/>
          </p:cNvSpPr>
          <p:nvPr>
            <p:ph type="sldNum" sz="quarter" idx="12"/>
          </p:nvPr>
        </p:nvSpPr>
        <p:spPr/>
        <p:txBody>
          <a:bodyPr/>
          <a:lstStyle/>
          <a:p>
            <a:fld id="{D57F1E4F-1CFF-5643-939E-217C01CDF565}" type="slidenum">
              <a:rPr lang="en-US" smtClean="0"/>
              <a:pPr/>
              <a:t>5</a:t>
            </a:fld>
            <a:endParaRPr lang="en-US" dirty="0"/>
          </a:p>
        </p:txBody>
      </p:sp>
      <p:sp>
        <p:nvSpPr>
          <p:cNvPr id="4" name="CuadroTexto 3">
            <a:extLst>
              <a:ext uri="{FF2B5EF4-FFF2-40B4-BE49-F238E27FC236}">
                <a16:creationId xmlns:a16="http://schemas.microsoft.com/office/drawing/2014/main" id="{B7ACE65D-32E6-41A0-8C8C-A217A5DB71A8}"/>
              </a:ext>
            </a:extLst>
          </p:cNvPr>
          <p:cNvSpPr txBox="1"/>
          <p:nvPr/>
        </p:nvSpPr>
        <p:spPr>
          <a:xfrm>
            <a:off x="2386584" y="1905000"/>
            <a:ext cx="6172200" cy="369332"/>
          </a:xfrm>
          <a:prstGeom prst="rect">
            <a:avLst/>
          </a:prstGeom>
          <a:noFill/>
        </p:spPr>
        <p:txBody>
          <a:bodyPr wrap="square" rtlCol="0">
            <a:spAutoFit/>
          </a:bodyPr>
          <a:lstStyle/>
          <a:p>
            <a:r>
              <a:rPr lang="es-AR" b="1" dirty="0">
                <a:solidFill>
                  <a:schemeClr val="tx1">
                    <a:lumMod val="75000"/>
                    <a:lumOff val="25000"/>
                  </a:schemeClr>
                </a:solidFill>
              </a:rPr>
              <a:t>Cantidad de materia prima utilizada</a:t>
            </a:r>
          </a:p>
        </p:txBody>
      </p:sp>
      <p:sp>
        <p:nvSpPr>
          <p:cNvPr id="5" name="CuadroTexto 4">
            <a:extLst>
              <a:ext uri="{FF2B5EF4-FFF2-40B4-BE49-F238E27FC236}">
                <a16:creationId xmlns:a16="http://schemas.microsoft.com/office/drawing/2014/main" id="{2B156E80-9A1E-4FDE-A853-6DD0A8236F73}"/>
              </a:ext>
            </a:extLst>
          </p:cNvPr>
          <p:cNvSpPr txBox="1"/>
          <p:nvPr/>
        </p:nvSpPr>
        <p:spPr>
          <a:xfrm>
            <a:off x="2592924" y="4756562"/>
            <a:ext cx="5550408" cy="1477328"/>
          </a:xfrm>
          <a:prstGeom prst="rect">
            <a:avLst/>
          </a:prstGeom>
          <a:noFill/>
        </p:spPr>
        <p:txBody>
          <a:bodyPr wrap="square" rtlCol="0">
            <a:spAutoFit/>
          </a:bodyPr>
          <a:lstStyle/>
          <a:p>
            <a:pPr marL="285750" indent="-285750">
              <a:buClr>
                <a:srgbClr val="92D050"/>
              </a:buClr>
              <a:buFont typeface="Arial" panose="020B0604020202020204" pitchFamily="34" charset="0"/>
              <a:buChar char="•"/>
            </a:pPr>
            <a:r>
              <a:rPr lang="es-AR" b="1" dirty="0">
                <a:solidFill>
                  <a:schemeClr val="tx1">
                    <a:lumMod val="75000"/>
                    <a:lumOff val="25000"/>
                  </a:schemeClr>
                </a:solidFill>
              </a:rPr>
              <a:t>Merma</a:t>
            </a:r>
          </a:p>
          <a:p>
            <a:pPr marL="742950" lvl="1" indent="-285750">
              <a:buClr>
                <a:srgbClr val="92D050"/>
              </a:buClr>
              <a:buFont typeface="Arial" panose="020B0604020202020204" pitchFamily="34" charset="0"/>
              <a:buChar char="•"/>
            </a:pPr>
            <a:r>
              <a:rPr lang="es-AR" dirty="0">
                <a:solidFill>
                  <a:schemeClr val="tx1">
                    <a:lumMod val="75000"/>
                    <a:lumOff val="25000"/>
                  </a:schemeClr>
                </a:solidFill>
              </a:rPr>
              <a:t>Son perdidas ocasionadas en las materias primas por movimiento, almacenamiento, evaporación en los fluidos, </a:t>
            </a:r>
            <a:r>
              <a:rPr lang="es-AR" dirty="0" err="1">
                <a:solidFill>
                  <a:schemeClr val="tx1">
                    <a:lumMod val="75000"/>
                    <a:lumOff val="25000"/>
                  </a:schemeClr>
                </a:solidFill>
              </a:rPr>
              <a:t>etc</a:t>
            </a:r>
            <a:endParaRPr lang="es-AR" dirty="0">
              <a:solidFill>
                <a:schemeClr val="tx1">
                  <a:lumMod val="75000"/>
                  <a:lumOff val="25000"/>
                </a:schemeClr>
              </a:solidFill>
            </a:endParaRPr>
          </a:p>
        </p:txBody>
      </p:sp>
      <p:sp>
        <p:nvSpPr>
          <p:cNvPr id="6" name="CuadroTexto 5">
            <a:extLst>
              <a:ext uri="{FF2B5EF4-FFF2-40B4-BE49-F238E27FC236}">
                <a16:creationId xmlns:a16="http://schemas.microsoft.com/office/drawing/2014/main" id="{5213AAB1-85B0-4260-80E1-5AA7887F33A6}"/>
              </a:ext>
            </a:extLst>
          </p:cNvPr>
          <p:cNvSpPr txBox="1"/>
          <p:nvPr/>
        </p:nvSpPr>
        <p:spPr>
          <a:xfrm>
            <a:off x="2592924" y="2678059"/>
            <a:ext cx="5550408" cy="1754326"/>
          </a:xfrm>
          <a:prstGeom prst="rect">
            <a:avLst/>
          </a:prstGeom>
          <a:noFill/>
        </p:spPr>
        <p:txBody>
          <a:bodyPr wrap="square" rtlCol="0">
            <a:spAutoFit/>
          </a:bodyPr>
          <a:lstStyle/>
          <a:p>
            <a:pPr marL="285750" indent="-285750">
              <a:buClr>
                <a:srgbClr val="92D050"/>
              </a:buClr>
              <a:buFont typeface="Arial" panose="020B0604020202020204" pitchFamily="34" charset="0"/>
              <a:buChar char="•"/>
            </a:pPr>
            <a:r>
              <a:rPr lang="es-AR" b="1" dirty="0">
                <a:solidFill>
                  <a:schemeClr val="tx1">
                    <a:lumMod val="75000"/>
                    <a:lumOff val="25000"/>
                  </a:schemeClr>
                </a:solidFill>
              </a:rPr>
              <a:t>Materia prima componente</a:t>
            </a:r>
          </a:p>
          <a:p>
            <a:pPr marL="742950" lvl="1" indent="-285750">
              <a:buClr>
                <a:srgbClr val="92D050"/>
              </a:buClr>
              <a:buFont typeface="Arial" panose="020B0604020202020204" pitchFamily="34" charset="0"/>
              <a:buChar char="•"/>
            </a:pPr>
            <a:r>
              <a:rPr lang="es-AR" dirty="0">
                <a:solidFill>
                  <a:schemeClr val="tx1">
                    <a:lumMod val="75000"/>
                    <a:lumOff val="25000"/>
                  </a:schemeClr>
                </a:solidFill>
              </a:rPr>
              <a:t>La cantidad usada de materia prima no es solo la que compone el producto terminado, sino también la que se gasto también durante el proceso productivo y que debe formar parte del costo</a:t>
            </a:r>
          </a:p>
        </p:txBody>
      </p:sp>
    </p:spTree>
    <p:extLst>
      <p:ext uri="{BB962C8B-B14F-4D97-AF65-F5344CB8AC3E}">
        <p14:creationId xmlns:p14="http://schemas.microsoft.com/office/powerpoint/2010/main" val="35915748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E37675-9BF2-4F52-B114-0E84DBA474B2}"/>
              </a:ext>
            </a:extLst>
          </p:cNvPr>
          <p:cNvSpPr>
            <a:spLocks noGrp="1"/>
          </p:cNvSpPr>
          <p:nvPr>
            <p:ph type="title"/>
          </p:nvPr>
        </p:nvSpPr>
        <p:spPr/>
        <p:txBody>
          <a:bodyPr/>
          <a:lstStyle/>
          <a:p>
            <a:r>
              <a:rPr lang="es-AR" b="1" dirty="0">
                <a:solidFill>
                  <a:schemeClr val="tx1">
                    <a:lumMod val="75000"/>
                    <a:lumOff val="25000"/>
                  </a:schemeClr>
                </a:solidFill>
              </a:rPr>
              <a:t>COSTO DIRECTO</a:t>
            </a:r>
            <a:endParaRPr lang="es-AR" dirty="0"/>
          </a:p>
        </p:txBody>
      </p:sp>
      <p:sp>
        <p:nvSpPr>
          <p:cNvPr id="3" name="Marcador de número de diapositiva 2">
            <a:extLst>
              <a:ext uri="{FF2B5EF4-FFF2-40B4-BE49-F238E27FC236}">
                <a16:creationId xmlns:a16="http://schemas.microsoft.com/office/drawing/2014/main" id="{D14F8AB1-AE65-4C84-8409-E8E79609E16B}"/>
              </a:ext>
            </a:extLst>
          </p:cNvPr>
          <p:cNvSpPr>
            <a:spLocks noGrp="1"/>
          </p:cNvSpPr>
          <p:nvPr>
            <p:ph type="sldNum" sz="quarter" idx="12"/>
          </p:nvPr>
        </p:nvSpPr>
        <p:spPr/>
        <p:txBody>
          <a:bodyPr/>
          <a:lstStyle/>
          <a:p>
            <a:fld id="{D57F1E4F-1CFF-5643-939E-217C01CDF565}" type="slidenum">
              <a:rPr lang="en-US" smtClean="0"/>
              <a:pPr/>
              <a:t>6</a:t>
            </a:fld>
            <a:endParaRPr lang="en-US" dirty="0"/>
          </a:p>
        </p:txBody>
      </p:sp>
      <p:sp>
        <p:nvSpPr>
          <p:cNvPr id="5" name="CuadroTexto 4">
            <a:extLst>
              <a:ext uri="{FF2B5EF4-FFF2-40B4-BE49-F238E27FC236}">
                <a16:creationId xmlns:a16="http://schemas.microsoft.com/office/drawing/2014/main" id="{2B156E80-9A1E-4FDE-A853-6DD0A8236F73}"/>
              </a:ext>
            </a:extLst>
          </p:cNvPr>
          <p:cNvSpPr txBox="1"/>
          <p:nvPr/>
        </p:nvSpPr>
        <p:spPr>
          <a:xfrm>
            <a:off x="2610750" y="3547702"/>
            <a:ext cx="8142132" cy="2585323"/>
          </a:xfrm>
          <a:prstGeom prst="rect">
            <a:avLst/>
          </a:prstGeom>
          <a:noFill/>
        </p:spPr>
        <p:txBody>
          <a:bodyPr wrap="square" rtlCol="0">
            <a:spAutoFit/>
          </a:bodyPr>
          <a:lstStyle/>
          <a:p>
            <a:pPr marL="285750" indent="-285750">
              <a:buClr>
                <a:srgbClr val="92D050"/>
              </a:buClr>
              <a:buFont typeface="Arial" panose="020B0604020202020204" pitchFamily="34" charset="0"/>
              <a:buChar char="•"/>
            </a:pPr>
            <a:r>
              <a:rPr lang="es-AR" b="1" dirty="0">
                <a:solidFill>
                  <a:schemeClr val="tx1">
                    <a:lumMod val="75000"/>
                    <a:lumOff val="25000"/>
                  </a:schemeClr>
                </a:solidFill>
              </a:rPr>
              <a:t>Rechazo</a:t>
            </a:r>
          </a:p>
          <a:p>
            <a:pPr marL="742950" lvl="1" indent="-285750">
              <a:buClr>
                <a:srgbClr val="92D050"/>
              </a:buClr>
              <a:buFont typeface="Arial" panose="020B0604020202020204" pitchFamily="34" charset="0"/>
              <a:buChar char="•"/>
            </a:pPr>
            <a:r>
              <a:rPr lang="es-AR" dirty="0">
                <a:solidFill>
                  <a:schemeClr val="tx1">
                    <a:lumMod val="75000"/>
                    <a:lumOff val="25000"/>
                  </a:schemeClr>
                </a:solidFill>
              </a:rPr>
              <a:t>Son perdidas ocasionadas por los productos que se encuentran fuera de la tolerancia de plano y que control de calidad las elimina del proceso.</a:t>
            </a:r>
          </a:p>
          <a:p>
            <a:pPr marL="742950" lvl="1" indent="-285750">
              <a:buClr>
                <a:srgbClr val="92D050"/>
              </a:buClr>
              <a:buFont typeface="Arial" panose="020B0604020202020204" pitchFamily="34" charset="0"/>
              <a:buChar char="•"/>
            </a:pPr>
            <a:r>
              <a:rPr lang="es-AR" dirty="0">
                <a:solidFill>
                  <a:schemeClr val="tx1">
                    <a:lumMod val="75000"/>
                    <a:lumOff val="25000"/>
                  </a:schemeClr>
                </a:solidFill>
              </a:rPr>
              <a:t>Pudiéndose “retrabajar”, si el defecto es solucionable o “descartar”, si no lo es.</a:t>
            </a:r>
          </a:p>
          <a:p>
            <a:pPr marL="742950" lvl="1" indent="-285750">
              <a:buClr>
                <a:srgbClr val="92D050"/>
              </a:buClr>
              <a:buFont typeface="Arial" panose="020B0604020202020204" pitchFamily="34" charset="0"/>
              <a:buChar char="•"/>
            </a:pPr>
            <a:r>
              <a:rPr lang="es-AR" dirty="0">
                <a:solidFill>
                  <a:schemeClr val="tx1">
                    <a:lumMod val="75000"/>
                    <a:lumOff val="25000"/>
                  </a:schemeClr>
                </a:solidFill>
              </a:rPr>
              <a:t>Se deben diseñar adecuadamente los puntos de control, de manera que no se continúe agregando mas MP o MOD a un producto defectuoso</a:t>
            </a:r>
          </a:p>
        </p:txBody>
      </p:sp>
      <p:sp>
        <p:nvSpPr>
          <p:cNvPr id="6" name="CuadroTexto 5">
            <a:extLst>
              <a:ext uri="{FF2B5EF4-FFF2-40B4-BE49-F238E27FC236}">
                <a16:creationId xmlns:a16="http://schemas.microsoft.com/office/drawing/2014/main" id="{5213AAB1-85B0-4260-80E1-5AA7887F33A6}"/>
              </a:ext>
            </a:extLst>
          </p:cNvPr>
          <p:cNvSpPr txBox="1"/>
          <p:nvPr/>
        </p:nvSpPr>
        <p:spPr>
          <a:xfrm>
            <a:off x="2660442" y="1672219"/>
            <a:ext cx="6871116" cy="1477328"/>
          </a:xfrm>
          <a:prstGeom prst="rect">
            <a:avLst/>
          </a:prstGeom>
          <a:noFill/>
        </p:spPr>
        <p:txBody>
          <a:bodyPr wrap="square" rtlCol="0">
            <a:spAutoFit/>
          </a:bodyPr>
          <a:lstStyle/>
          <a:p>
            <a:pPr marL="285750" indent="-285750">
              <a:buClr>
                <a:srgbClr val="92D050"/>
              </a:buClr>
              <a:buFont typeface="Arial" panose="020B0604020202020204" pitchFamily="34" charset="0"/>
              <a:buChar char="•"/>
            </a:pPr>
            <a:r>
              <a:rPr lang="es-AR" b="1" dirty="0">
                <a:solidFill>
                  <a:schemeClr val="tx1">
                    <a:lumMod val="75000"/>
                    <a:lumOff val="25000"/>
                  </a:schemeClr>
                </a:solidFill>
              </a:rPr>
              <a:t>Desperdicio o recorte</a:t>
            </a:r>
          </a:p>
          <a:p>
            <a:pPr marL="742950" lvl="1" indent="-285750">
              <a:buClr>
                <a:srgbClr val="92D050"/>
              </a:buClr>
              <a:buFont typeface="Arial" panose="020B0604020202020204" pitchFamily="34" charset="0"/>
              <a:buChar char="•"/>
            </a:pPr>
            <a:r>
              <a:rPr lang="es-AR" dirty="0">
                <a:solidFill>
                  <a:schemeClr val="tx1">
                    <a:lumMod val="75000"/>
                    <a:lumOff val="25000"/>
                  </a:schemeClr>
                </a:solidFill>
              </a:rPr>
              <a:t>Es aquella parte del material sobrante que ocurre en el proceso productivo, como por ejemplo la viruta de acero en las piezas torneadas, o el recorte de chapa en las estampadas</a:t>
            </a:r>
          </a:p>
        </p:txBody>
      </p:sp>
    </p:spTree>
    <p:extLst>
      <p:ext uri="{BB962C8B-B14F-4D97-AF65-F5344CB8AC3E}">
        <p14:creationId xmlns:p14="http://schemas.microsoft.com/office/powerpoint/2010/main" val="2555396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E37675-9BF2-4F52-B114-0E84DBA474B2}"/>
              </a:ext>
            </a:extLst>
          </p:cNvPr>
          <p:cNvSpPr>
            <a:spLocks noGrp="1"/>
          </p:cNvSpPr>
          <p:nvPr>
            <p:ph type="title"/>
          </p:nvPr>
        </p:nvSpPr>
        <p:spPr/>
        <p:txBody>
          <a:bodyPr/>
          <a:lstStyle/>
          <a:p>
            <a:r>
              <a:rPr lang="es-AR" b="1" dirty="0">
                <a:solidFill>
                  <a:schemeClr val="tx1">
                    <a:lumMod val="75000"/>
                    <a:lumOff val="25000"/>
                  </a:schemeClr>
                </a:solidFill>
              </a:rPr>
              <a:t>COSTO DIRECTO</a:t>
            </a:r>
            <a:endParaRPr lang="es-AR" dirty="0"/>
          </a:p>
        </p:txBody>
      </p:sp>
      <p:sp>
        <p:nvSpPr>
          <p:cNvPr id="3" name="Marcador de número de diapositiva 2">
            <a:extLst>
              <a:ext uri="{FF2B5EF4-FFF2-40B4-BE49-F238E27FC236}">
                <a16:creationId xmlns:a16="http://schemas.microsoft.com/office/drawing/2014/main" id="{D14F8AB1-AE65-4C84-8409-E8E79609E16B}"/>
              </a:ext>
            </a:extLst>
          </p:cNvPr>
          <p:cNvSpPr>
            <a:spLocks noGrp="1"/>
          </p:cNvSpPr>
          <p:nvPr>
            <p:ph type="sldNum" sz="quarter" idx="12"/>
          </p:nvPr>
        </p:nvSpPr>
        <p:spPr/>
        <p:txBody>
          <a:bodyPr/>
          <a:lstStyle/>
          <a:p>
            <a:fld id="{D57F1E4F-1CFF-5643-939E-217C01CDF565}" type="slidenum">
              <a:rPr lang="en-US" smtClean="0"/>
              <a:pPr/>
              <a:t>7</a:t>
            </a:fld>
            <a:endParaRPr lang="en-US" dirty="0"/>
          </a:p>
        </p:txBody>
      </p:sp>
      <p:sp>
        <p:nvSpPr>
          <p:cNvPr id="4" name="CuadroTexto 3">
            <a:extLst>
              <a:ext uri="{FF2B5EF4-FFF2-40B4-BE49-F238E27FC236}">
                <a16:creationId xmlns:a16="http://schemas.microsoft.com/office/drawing/2014/main" id="{B7ACE65D-32E6-41A0-8C8C-A217A5DB71A8}"/>
              </a:ext>
            </a:extLst>
          </p:cNvPr>
          <p:cNvSpPr txBox="1"/>
          <p:nvPr/>
        </p:nvSpPr>
        <p:spPr>
          <a:xfrm>
            <a:off x="2386584" y="1905000"/>
            <a:ext cx="6172200" cy="369332"/>
          </a:xfrm>
          <a:prstGeom prst="rect">
            <a:avLst/>
          </a:prstGeom>
          <a:noFill/>
        </p:spPr>
        <p:txBody>
          <a:bodyPr wrap="square" rtlCol="0">
            <a:spAutoFit/>
          </a:bodyPr>
          <a:lstStyle/>
          <a:p>
            <a:r>
              <a:rPr lang="es-AR" b="1" dirty="0">
                <a:solidFill>
                  <a:schemeClr val="tx1">
                    <a:lumMod val="75000"/>
                    <a:lumOff val="25000"/>
                  </a:schemeClr>
                </a:solidFill>
              </a:rPr>
              <a:t>Costo de la materia prima utilizada</a:t>
            </a:r>
          </a:p>
        </p:txBody>
      </p:sp>
      <p:sp>
        <p:nvSpPr>
          <p:cNvPr id="5" name="CuadroTexto 4">
            <a:extLst>
              <a:ext uri="{FF2B5EF4-FFF2-40B4-BE49-F238E27FC236}">
                <a16:creationId xmlns:a16="http://schemas.microsoft.com/office/drawing/2014/main" id="{2B156E80-9A1E-4FDE-A853-6DD0A8236F73}"/>
              </a:ext>
            </a:extLst>
          </p:cNvPr>
          <p:cNvSpPr txBox="1"/>
          <p:nvPr/>
        </p:nvSpPr>
        <p:spPr>
          <a:xfrm>
            <a:off x="2592924" y="4079906"/>
            <a:ext cx="5892708" cy="1200329"/>
          </a:xfrm>
          <a:prstGeom prst="rect">
            <a:avLst/>
          </a:prstGeom>
          <a:noFill/>
        </p:spPr>
        <p:txBody>
          <a:bodyPr wrap="square" rtlCol="0">
            <a:spAutoFit/>
          </a:bodyPr>
          <a:lstStyle/>
          <a:p>
            <a:pPr marL="285750" indent="-285750">
              <a:buClr>
                <a:srgbClr val="92D050"/>
              </a:buClr>
              <a:buFont typeface="Arial" panose="020B0604020202020204" pitchFamily="34" charset="0"/>
              <a:buChar char="•"/>
            </a:pPr>
            <a:r>
              <a:rPr lang="es-AR" b="1" dirty="0">
                <a:solidFill>
                  <a:schemeClr val="tx1">
                    <a:lumMod val="75000"/>
                    <a:lumOff val="25000"/>
                  </a:schemeClr>
                </a:solidFill>
              </a:rPr>
              <a:t>Materia prima importada</a:t>
            </a:r>
          </a:p>
          <a:p>
            <a:pPr marL="742950" lvl="1" indent="-285750">
              <a:buClr>
                <a:srgbClr val="92D050"/>
              </a:buClr>
              <a:buFont typeface="Arial" panose="020B0604020202020204" pitchFamily="34" charset="0"/>
              <a:buChar char="•"/>
            </a:pPr>
            <a:r>
              <a:rPr lang="es-AR" dirty="0">
                <a:solidFill>
                  <a:schemeClr val="tx1">
                    <a:lumMod val="75000"/>
                    <a:lumOff val="25000"/>
                  </a:schemeClr>
                </a:solidFill>
              </a:rPr>
              <a:t>FAS: en origen, al costado del barco</a:t>
            </a:r>
          </a:p>
          <a:p>
            <a:pPr marL="742950" lvl="1" indent="-285750">
              <a:buClr>
                <a:srgbClr val="92D050"/>
              </a:buClr>
              <a:buFont typeface="Arial" panose="020B0604020202020204" pitchFamily="34" charset="0"/>
              <a:buChar char="•"/>
            </a:pPr>
            <a:r>
              <a:rPr lang="es-AR" dirty="0">
                <a:solidFill>
                  <a:schemeClr val="tx1">
                    <a:lumMod val="75000"/>
                    <a:lumOff val="25000"/>
                  </a:schemeClr>
                </a:solidFill>
              </a:rPr>
              <a:t>FOB: en origen, sobre el barco</a:t>
            </a:r>
          </a:p>
          <a:p>
            <a:pPr marL="742950" lvl="1" indent="-285750">
              <a:buClr>
                <a:srgbClr val="92D050"/>
              </a:buClr>
              <a:buFont typeface="Arial" panose="020B0604020202020204" pitchFamily="34" charset="0"/>
              <a:buChar char="•"/>
            </a:pPr>
            <a:r>
              <a:rPr lang="es-AR" dirty="0">
                <a:solidFill>
                  <a:schemeClr val="tx1">
                    <a:lumMod val="75000"/>
                    <a:lumOff val="25000"/>
                  </a:schemeClr>
                </a:solidFill>
              </a:rPr>
              <a:t>CIF: con el costo del seguro y flete incluido</a:t>
            </a:r>
          </a:p>
        </p:txBody>
      </p:sp>
      <p:sp>
        <p:nvSpPr>
          <p:cNvPr id="6" name="CuadroTexto 5">
            <a:extLst>
              <a:ext uri="{FF2B5EF4-FFF2-40B4-BE49-F238E27FC236}">
                <a16:creationId xmlns:a16="http://schemas.microsoft.com/office/drawing/2014/main" id="{5213AAB1-85B0-4260-80E1-5AA7887F33A6}"/>
              </a:ext>
            </a:extLst>
          </p:cNvPr>
          <p:cNvSpPr txBox="1"/>
          <p:nvPr/>
        </p:nvSpPr>
        <p:spPr>
          <a:xfrm>
            <a:off x="2592924" y="2678059"/>
            <a:ext cx="6029868" cy="1200329"/>
          </a:xfrm>
          <a:prstGeom prst="rect">
            <a:avLst/>
          </a:prstGeom>
          <a:noFill/>
        </p:spPr>
        <p:txBody>
          <a:bodyPr wrap="square" rtlCol="0">
            <a:spAutoFit/>
          </a:bodyPr>
          <a:lstStyle/>
          <a:p>
            <a:pPr marL="285750" indent="-285750">
              <a:buClr>
                <a:srgbClr val="92D050"/>
              </a:buClr>
              <a:buFont typeface="Arial" panose="020B0604020202020204" pitchFamily="34" charset="0"/>
              <a:buChar char="•"/>
            </a:pPr>
            <a:r>
              <a:rPr lang="es-AR" b="1" dirty="0">
                <a:solidFill>
                  <a:schemeClr val="tx1">
                    <a:lumMod val="75000"/>
                    <a:lumOff val="25000"/>
                  </a:schemeClr>
                </a:solidFill>
              </a:rPr>
              <a:t>Materia prima nacional</a:t>
            </a:r>
          </a:p>
          <a:p>
            <a:pPr marL="742950" lvl="1" indent="-285750">
              <a:buClr>
                <a:srgbClr val="92D050"/>
              </a:buClr>
              <a:buFont typeface="Arial" panose="020B0604020202020204" pitchFamily="34" charset="0"/>
              <a:buChar char="•"/>
            </a:pPr>
            <a:r>
              <a:rPr lang="es-AR" dirty="0">
                <a:solidFill>
                  <a:schemeClr val="tx1">
                    <a:lumMod val="75000"/>
                    <a:lumOff val="25000"/>
                  </a:schemeClr>
                </a:solidFill>
              </a:rPr>
              <a:t>La materia prima se adquiere en el mercado y es posible que se deba considerar el costo del flete</a:t>
            </a:r>
          </a:p>
        </p:txBody>
      </p:sp>
    </p:spTree>
    <p:extLst>
      <p:ext uri="{BB962C8B-B14F-4D97-AF65-F5344CB8AC3E}">
        <p14:creationId xmlns:p14="http://schemas.microsoft.com/office/powerpoint/2010/main" val="3740089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E37675-9BF2-4F52-B114-0E84DBA474B2}"/>
              </a:ext>
            </a:extLst>
          </p:cNvPr>
          <p:cNvSpPr>
            <a:spLocks noGrp="1"/>
          </p:cNvSpPr>
          <p:nvPr>
            <p:ph type="title"/>
          </p:nvPr>
        </p:nvSpPr>
        <p:spPr/>
        <p:txBody>
          <a:bodyPr/>
          <a:lstStyle/>
          <a:p>
            <a:r>
              <a:rPr lang="es-AR" b="1" dirty="0">
                <a:solidFill>
                  <a:schemeClr val="tx1">
                    <a:lumMod val="75000"/>
                    <a:lumOff val="25000"/>
                  </a:schemeClr>
                </a:solidFill>
              </a:rPr>
              <a:t>COSTO DIRECTO</a:t>
            </a:r>
            <a:endParaRPr lang="es-AR" dirty="0"/>
          </a:p>
        </p:txBody>
      </p:sp>
      <p:sp>
        <p:nvSpPr>
          <p:cNvPr id="3" name="Marcador de número de diapositiva 2">
            <a:extLst>
              <a:ext uri="{FF2B5EF4-FFF2-40B4-BE49-F238E27FC236}">
                <a16:creationId xmlns:a16="http://schemas.microsoft.com/office/drawing/2014/main" id="{D14F8AB1-AE65-4C84-8409-E8E79609E16B}"/>
              </a:ext>
            </a:extLst>
          </p:cNvPr>
          <p:cNvSpPr>
            <a:spLocks noGrp="1"/>
          </p:cNvSpPr>
          <p:nvPr>
            <p:ph type="sldNum" sz="quarter" idx="12"/>
          </p:nvPr>
        </p:nvSpPr>
        <p:spPr/>
        <p:txBody>
          <a:bodyPr/>
          <a:lstStyle/>
          <a:p>
            <a:fld id="{D57F1E4F-1CFF-5643-939E-217C01CDF565}" type="slidenum">
              <a:rPr lang="en-US" smtClean="0"/>
              <a:pPr/>
              <a:t>8</a:t>
            </a:fld>
            <a:endParaRPr lang="en-US" dirty="0"/>
          </a:p>
        </p:txBody>
      </p:sp>
      <p:sp>
        <p:nvSpPr>
          <p:cNvPr id="4" name="CuadroTexto 3">
            <a:extLst>
              <a:ext uri="{FF2B5EF4-FFF2-40B4-BE49-F238E27FC236}">
                <a16:creationId xmlns:a16="http://schemas.microsoft.com/office/drawing/2014/main" id="{B7ACE65D-32E6-41A0-8C8C-A217A5DB71A8}"/>
              </a:ext>
            </a:extLst>
          </p:cNvPr>
          <p:cNvSpPr txBox="1"/>
          <p:nvPr/>
        </p:nvSpPr>
        <p:spPr>
          <a:xfrm>
            <a:off x="2386584" y="1905000"/>
            <a:ext cx="6172200" cy="369332"/>
          </a:xfrm>
          <a:prstGeom prst="rect">
            <a:avLst/>
          </a:prstGeom>
          <a:noFill/>
        </p:spPr>
        <p:txBody>
          <a:bodyPr wrap="square" rtlCol="0">
            <a:spAutoFit/>
          </a:bodyPr>
          <a:lstStyle/>
          <a:p>
            <a:r>
              <a:rPr lang="es-AR" b="1" dirty="0">
                <a:solidFill>
                  <a:schemeClr val="tx1">
                    <a:lumMod val="75000"/>
                    <a:lumOff val="25000"/>
                  </a:schemeClr>
                </a:solidFill>
              </a:rPr>
              <a:t>Cantidad de mano de obra directa utilizada</a:t>
            </a:r>
          </a:p>
        </p:txBody>
      </p:sp>
      <p:sp>
        <p:nvSpPr>
          <p:cNvPr id="6" name="CuadroTexto 5">
            <a:extLst>
              <a:ext uri="{FF2B5EF4-FFF2-40B4-BE49-F238E27FC236}">
                <a16:creationId xmlns:a16="http://schemas.microsoft.com/office/drawing/2014/main" id="{5213AAB1-85B0-4260-80E1-5AA7887F33A6}"/>
              </a:ext>
            </a:extLst>
          </p:cNvPr>
          <p:cNvSpPr txBox="1"/>
          <p:nvPr/>
        </p:nvSpPr>
        <p:spPr>
          <a:xfrm>
            <a:off x="2592924" y="2678059"/>
            <a:ext cx="8800500" cy="3970318"/>
          </a:xfrm>
          <a:prstGeom prst="rect">
            <a:avLst/>
          </a:prstGeom>
          <a:noFill/>
        </p:spPr>
        <p:txBody>
          <a:bodyPr wrap="square" rtlCol="0">
            <a:spAutoFit/>
          </a:bodyPr>
          <a:lstStyle/>
          <a:p>
            <a:pPr marL="285750" indent="-285750">
              <a:buClr>
                <a:srgbClr val="92D050"/>
              </a:buClr>
              <a:buFont typeface="Arial" panose="020B0604020202020204" pitchFamily="34" charset="0"/>
              <a:buChar char="•"/>
            </a:pPr>
            <a:r>
              <a:rPr lang="es-AR" b="1" dirty="0">
                <a:solidFill>
                  <a:schemeClr val="tx1">
                    <a:lumMod val="75000"/>
                    <a:lumOff val="25000"/>
                  </a:schemeClr>
                </a:solidFill>
              </a:rPr>
              <a:t>Sistemas de control</a:t>
            </a:r>
          </a:p>
          <a:p>
            <a:pPr marL="742950" lvl="1" indent="-285750">
              <a:buClr>
                <a:srgbClr val="92D050"/>
              </a:buClr>
              <a:buFont typeface="Arial" panose="020B0604020202020204" pitchFamily="34" charset="0"/>
              <a:buChar char="•"/>
            </a:pPr>
            <a:r>
              <a:rPr lang="es-AR" dirty="0">
                <a:solidFill>
                  <a:schemeClr val="tx1">
                    <a:lumMod val="75000"/>
                    <a:lumOff val="25000"/>
                  </a:schemeClr>
                </a:solidFill>
              </a:rPr>
              <a:t>La unidad en que se mide la MOD es la Hora Hombre (HH) y es la actividad desplegada por un operador en una hora.</a:t>
            </a:r>
          </a:p>
          <a:p>
            <a:pPr marL="742950" lvl="1" indent="-285750">
              <a:buClr>
                <a:srgbClr val="92D050"/>
              </a:buClr>
              <a:buFont typeface="Arial" panose="020B0604020202020204" pitchFamily="34" charset="0"/>
              <a:buChar char="•"/>
            </a:pPr>
            <a:r>
              <a:rPr lang="es-AR" dirty="0">
                <a:solidFill>
                  <a:schemeClr val="tx1">
                    <a:lumMod val="75000"/>
                    <a:lumOff val="25000"/>
                  </a:schemeClr>
                </a:solidFill>
              </a:rPr>
              <a:t>Si la empresa produce un único producto, la suma de las horas trabajadas por los operarios daría la incidencia de la MOD.</a:t>
            </a:r>
          </a:p>
          <a:p>
            <a:pPr marL="742950" lvl="1" indent="-285750">
              <a:buClr>
                <a:srgbClr val="92D050"/>
              </a:buClr>
              <a:buFont typeface="Arial" panose="020B0604020202020204" pitchFamily="34" charset="0"/>
              <a:buChar char="•"/>
            </a:pPr>
            <a:r>
              <a:rPr lang="es-AR" dirty="0">
                <a:solidFill>
                  <a:schemeClr val="tx1">
                    <a:lumMod val="75000"/>
                    <a:lumOff val="25000"/>
                  </a:schemeClr>
                </a:solidFill>
              </a:rPr>
              <a:t>Si se trabaja con un “</a:t>
            </a:r>
            <a:r>
              <a:rPr lang="es-AR" dirty="0" err="1">
                <a:solidFill>
                  <a:schemeClr val="tx1">
                    <a:lumMod val="75000"/>
                    <a:lumOff val="25000"/>
                  </a:schemeClr>
                </a:solidFill>
              </a:rPr>
              <a:t>mix</a:t>
            </a:r>
            <a:r>
              <a:rPr lang="es-AR" dirty="0">
                <a:solidFill>
                  <a:schemeClr val="tx1">
                    <a:lumMod val="75000"/>
                    <a:lumOff val="25000"/>
                  </a:schemeClr>
                </a:solidFill>
              </a:rPr>
              <a:t>” de productos, entonces </a:t>
            </a:r>
            <a:r>
              <a:rPr lang="es-AR" dirty="0" err="1">
                <a:solidFill>
                  <a:schemeClr val="tx1">
                    <a:lumMod val="75000"/>
                    <a:lumOff val="25000"/>
                  </a:schemeClr>
                </a:solidFill>
              </a:rPr>
              <a:t>habra</a:t>
            </a:r>
            <a:r>
              <a:rPr lang="es-AR" dirty="0">
                <a:solidFill>
                  <a:schemeClr val="tx1">
                    <a:lumMod val="75000"/>
                    <a:lumOff val="25000"/>
                  </a:schemeClr>
                </a:solidFill>
              </a:rPr>
              <a:t> que identificar exactamente la carga horaria de cada operador.</a:t>
            </a:r>
          </a:p>
          <a:p>
            <a:pPr marL="742950" lvl="1" indent="-285750">
              <a:buClr>
                <a:srgbClr val="92D050"/>
              </a:buClr>
              <a:buFont typeface="Arial" panose="020B0604020202020204" pitchFamily="34" charset="0"/>
              <a:buChar char="•"/>
            </a:pPr>
            <a:r>
              <a:rPr lang="es-AR" dirty="0">
                <a:solidFill>
                  <a:schemeClr val="tx1">
                    <a:lumMod val="75000"/>
                    <a:lumOff val="25000"/>
                  </a:schemeClr>
                </a:solidFill>
              </a:rPr>
              <a:t>Así como en la MP existen una serie de perdidas, en la MOD también las habrá, por ejemplo</a:t>
            </a:r>
          </a:p>
          <a:p>
            <a:pPr marL="1200150" lvl="2" indent="-285750">
              <a:buClr>
                <a:srgbClr val="92D050"/>
              </a:buClr>
              <a:buFont typeface="Arial" panose="020B0604020202020204" pitchFamily="34" charset="0"/>
              <a:buChar char="•"/>
            </a:pPr>
            <a:r>
              <a:rPr lang="es-AR" dirty="0">
                <a:solidFill>
                  <a:schemeClr val="tx1">
                    <a:lumMod val="75000"/>
                    <a:lumOff val="25000"/>
                  </a:schemeClr>
                </a:solidFill>
              </a:rPr>
              <a:t>Paradas de maquina</a:t>
            </a:r>
          </a:p>
          <a:p>
            <a:pPr marL="1200150" lvl="2" indent="-285750">
              <a:buClr>
                <a:srgbClr val="92D050"/>
              </a:buClr>
              <a:buFont typeface="Arial" panose="020B0604020202020204" pitchFamily="34" charset="0"/>
              <a:buChar char="•"/>
            </a:pPr>
            <a:r>
              <a:rPr lang="es-AR" dirty="0">
                <a:solidFill>
                  <a:schemeClr val="tx1">
                    <a:lumMod val="75000"/>
                    <a:lumOff val="25000"/>
                  </a:schemeClr>
                </a:solidFill>
              </a:rPr>
              <a:t>Falta de algún suministro</a:t>
            </a:r>
          </a:p>
          <a:p>
            <a:pPr marL="1200150" lvl="2" indent="-285750">
              <a:buClr>
                <a:srgbClr val="92D050"/>
              </a:buClr>
              <a:buFont typeface="Arial" panose="020B0604020202020204" pitchFamily="34" charset="0"/>
              <a:buChar char="•"/>
            </a:pPr>
            <a:r>
              <a:rPr lang="es-AR" dirty="0">
                <a:solidFill>
                  <a:schemeClr val="tx1">
                    <a:lumMod val="75000"/>
                    <a:lumOff val="25000"/>
                  </a:schemeClr>
                </a:solidFill>
              </a:rPr>
              <a:t>Adicional por tareas repetitivas</a:t>
            </a:r>
          </a:p>
          <a:p>
            <a:pPr marL="1200150" lvl="2" indent="-285750">
              <a:buClr>
                <a:srgbClr val="92D050"/>
              </a:buClr>
              <a:buFont typeface="Arial" panose="020B0604020202020204" pitchFamily="34" charset="0"/>
              <a:buChar char="•"/>
            </a:pPr>
            <a:r>
              <a:rPr lang="es-AR" dirty="0">
                <a:solidFill>
                  <a:schemeClr val="tx1">
                    <a:lumMod val="75000"/>
                    <a:lumOff val="25000"/>
                  </a:schemeClr>
                </a:solidFill>
              </a:rPr>
              <a:t>Adicional por necesidades fisiológicas</a:t>
            </a:r>
          </a:p>
          <a:p>
            <a:pPr marL="1200150" lvl="2" indent="-285750">
              <a:buClr>
                <a:srgbClr val="92D050"/>
              </a:buClr>
              <a:buFont typeface="Arial" panose="020B0604020202020204" pitchFamily="34" charset="0"/>
              <a:buChar char="•"/>
            </a:pPr>
            <a:r>
              <a:rPr lang="es-AR" dirty="0">
                <a:solidFill>
                  <a:schemeClr val="tx1">
                    <a:lumMod val="75000"/>
                    <a:lumOff val="25000"/>
                  </a:schemeClr>
                </a:solidFill>
              </a:rPr>
              <a:t>Adicional por ausentismo, enfermedad, </a:t>
            </a:r>
            <a:r>
              <a:rPr lang="es-AR" dirty="0" err="1">
                <a:solidFill>
                  <a:schemeClr val="tx1">
                    <a:lumMod val="75000"/>
                    <a:lumOff val="25000"/>
                  </a:schemeClr>
                </a:solidFill>
              </a:rPr>
              <a:t>etc</a:t>
            </a:r>
            <a:endParaRPr lang="es-AR" dirty="0">
              <a:solidFill>
                <a:schemeClr val="tx1">
                  <a:lumMod val="75000"/>
                  <a:lumOff val="25000"/>
                </a:schemeClr>
              </a:solidFill>
            </a:endParaRPr>
          </a:p>
        </p:txBody>
      </p:sp>
    </p:spTree>
    <p:extLst>
      <p:ext uri="{BB962C8B-B14F-4D97-AF65-F5344CB8AC3E}">
        <p14:creationId xmlns:p14="http://schemas.microsoft.com/office/powerpoint/2010/main" val="31172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E37675-9BF2-4F52-B114-0E84DBA474B2}"/>
              </a:ext>
            </a:extLst>
          </p:cNvPr>
          <p:cNvSpPr>
            <a:spLocks noGrp="1"/>
          </p:cNvSpPr>
          <p:nvPr>
            <p:ph type="title"/>
          </p:nvPr>
        </p:nvSpPr>
        <p:spPr/>
        <p:txBody>
          <a:bodyPr/>
          <a:lstStyle/>
          <a:p>
            <a:r>
              <a:rPr lang="es-AR" b="1" dirty="0">
                <a:solidFill>
                  <a:schemeClr val="tx1">
                    <a:lumMod val="75000"/>
                    <a:lumOff val="25000"/>
                  </a:schemeClr>
                </a:solidFill>
              </a:rPr>
              <a:t>COSTO DIRECTO</a:t>
            </a:r>
            <a:endParaRPr lang="es-AR" dirty="0"/>
          </a:p>
        </p:txBody>
      </p:sp>
      <p:sp>
        <p:nvSpPr>
          <p:cNvPr id="3" name="Marcador de número de diapositiva 2">
            <a:extLst>
              <a:ext uri="{FF2B5EF4-FFF2-40B4-BE49-F238E27FC236}">
                <a16:creationId xmlns:a16="http://schemas.microsoft.com/office/drawing/2014/main" id="{D14F8AB1-AE65-4C84-8409-E8E79609E16B}"/>
              </a:ext>
            </a:extLst>
          </p:cNvPr>
          <p:cNvSpPr>
            <a:spLocks noGrp="1"/>
          </p:cNvSpPr>
          <p:nvPr>
            <p:ph type="sldNum" sz="quarter" idx="12"/>
          </p:nvPr>
        </p:nvSpPr>
        <p:spPr/>
        <p:txBody>
          <a:bodyPr/>
          <a:lstStyle/>
          <a:p>
            <a:fld id="{D57F1E4F-1CFF-5643-939E-217C01CDF565}" type="slidenum">
              <a:rPr lang="en-US" smtClean="0"/>
              <a:pPr/>
              <a:t>9</a:t>
            </a:fld>
            <a:endParaRPr lang="en-US" dirty="0"/>
          </a:p>
        </p:txBody>
      </p:sp>
      <p:sp>
        <p:nvSpPr>
          <p:cNvPr id="4" name="CuadroTexto 3">
            <a:extLst>
              <a:ext uri="{FF2B5EF4-FFF2-40B4-BE49-F238E27FC236}">
                <a16:creationId xmlns:a16="http://schemas.microsoft.com/office/drawing/2014/main" id="{B7ACE65D-32E6-41A0-8C8C-A217A5DB71A8}"/>
              </a:ext>
            </a:extLst>
          </p:cNvPr>
          <p:cNvSpPr txBox="1"/>
          <p:nvPr/>
        </p:nvSpPr>
        <p:spPr>
          <a:xfrm>
            <a:off x="2386584" y="1905000"/>
            <a:ext cx="7306056" cy="646331"/>
          </a:xfrm>
          <a:prstGeom prst="rect">
            <a:avLst/>
          </a:prstGeom>
          <a:noFill/>
        </p:spPr>
        <p:txBody>
          <a:bodyPr wrap="square" rtlCol="0">
            <a:spAutoFit/>
          </a:bodyPr>
          <a:lstStyle/>
          <a:p>
            <a:r>
              <a:rPr lang="es-AR" b="1" dirty="0">
                <a:solidFill>
                  <a:schemeClr val="tx1">
                    <a:lumMod val="75000"/>
                    <a:lumOff val="25000"/>
                  </a:schemeClr>
                </a:solidFill>
              </a:rPr>
              <a:t>Costo de la mano de obra directa utilizada, esta constituida por dos rubros</a:t>
            </a:r>
          </a:p>
        </p:txBody>
      </p:sp>
      <p:sp>
        <p:nvSpPr>
          <p:cNvPr id="6" name="CuadroTexto 5">
            <a:extLst>
              <a:ext uri="{FF2B5EF4-FFF2-40B4-BE49-F238E27FC236}">
                <a16:creationId xmlns:a16="http://schemas.microsoft.com/office/drawing/2014/main" id="{5213AAB1-85B0-4260-80E1-5AA7887F33A6}"/>
              </a:ext>
            </a:extLst>
          </p:cNvPr>
          <p:cNvSpPr txBox="1"/>
          <p:nvPr/>
        </p:nvSpPr>
        <p:spPr>
          <a:xfrm>
            <a:off x="2592924" y="2678059"/>
            <a:ext cx="8800500" cy="646331"/>
          </a:xfrm>
          <a:prstGeom prst="rect">
            <a:avLst/>
          </a:prstGeom>
          <a:noFill/>
        </p:spPr>
        <p:txBody>
          <a:bodyPr wrap="square" rtlCol="0">
            <a:spAutoFit/>
          </a:bodyPr>
          <a:lstStyle/>
          <a:p>
            <a:pPr marL="285750" indent="-285750">
              <a:buClr>
                <a:srgbClr val="92D050"/>
              </a:buClr>
              <a:buFont typeface="Arial" panose="020B0604020202020204" pitchFamily="34" charset="0"/>
              <a:buChar char="•"/>
            </a:pPr>
            <a:r>
              <a:rPr lang="es-AR" b="1" dirty="0">
                <a:solidFill>
                  <a:schemeClr val="tx1">
                    <a:lumMod val="75000"/>
                    <a:lumOff val="25000"/>
                  </a:schemeClr>
                </a:solidFill>
              </a:rPr>
              <a:t>Salario visible o Neto</a:t>
            </a:r>
          </a:p>
          <a:p>
            <a:pPr marL="742950" lvl="1" indent="-285750">
              <a:buClr>
                <a:srgbClr val="92D050"/>
              </a:buClr>
              <a:buFont typeface="Arial" panose="020B0604020202020204" pitchFamily="34" charset="0"/>
              <a:buChar char="•"/>
            </a:pPr>
            <a:r>
              <a:rPr lang="es-AR" dirty="0">
                <a:solidFill>
                  <a:schemeClr val="tx1">
                    <a:lumMod val="75000"/>
                    <a:lumOff val="25000"/>
                  </a:schemeClr>
                </a:solidFill>
              </a:rPr>
              <a:t>Es el que recibe “en mano” el operario</a:t>
            </a:r>
          </a:p>
        </p:txBody>
      </p:sp>
      <p:sp>
        <p:nvSpPr>
          <p:cNvPr id="7" name="CuadroTexto 6">
            <a:extLst>
              <a:ext uri="{FF2B5EF4-FFF2-40B4-BE49-F238E27FC236}">
                <a16:creationId xmlns:a16="http://schemas.microsoft.com/office/drawing/2014/main" id="{C736515A-16C7-47FF-9DF9-882BBF85DE89}"/>
              </a:ext>
            </a:extLst>
          </p:cNvPr>
          <p:cNvSpPr txBox="1"/>
          <p:nvPr/>
        </p:nvSpPr>
        <p:spPr>
          <a:xfrm>
            <a:off x="2592924" y="3699139"/>
            <a:ext cx="8800500" cy="3139321"/>
          </a:xfrm>
          <a:prstGeom prst="rect">
            <a:avLst/>
          </a:prstGeom>
          <a:noFill/>
        </p:spPr>
        <p:txBody>
          <a:bodyPr wrap="square" rtlCol="0">
            <a:spAutoFit/>
          </a:bodyPr>
          <a:lstStyle/>
          <a:p>
            <a:pPr marL="285750" indent="-285750">
              <a:buClr>
                <a:srgbClr val="92D050"/>
              </a:buClr>
              <a:buFont typeface="Arial" panose="020B0604020202020204" pitchFamily="34" charset="0"/>
              <a:buChar char="•"/>
            </a:pPr>
            <a:r>
              <a:rPr lang="es-AR" b="1" dirty="0">
                <a:solidFill>
                  <a:schemeClr val="tx1">
                    <a:lumMod val="75000"/>
                    <a:lumOff val="25000"/>
                  </a:schemeClr>
                </a:solidFill>
              </a:rPr>
              <a:t>Salario invisible o Bruto</a:t>
            </a:r>
          </a:p>
          <a:p>
            <a:pPr marL="742950" lvl="1" indent="-285750">
              <a:buClr>
                <a:srgbClr val="92D050"/>
              </a:buClr>
              <a:buFont typeface="Arial" panose="020B0604020202020204" pitchFamily="34" charset="0"/>
              <a:buChar char="•"/>
            </a:pPr>
            <a:r>
              <a:rPr lang="es-AR" dirty="0">
                <a:solidFill>
                  <a:schemeClr val="tx1">
                    <a:lumMod val="75000"/>
                    <a:lumOff val="25000"/>
                  </a:schemeClr>
                </a:solidFill>
              </a:rPr>
              <a:t>Esta compuesto por lo que le cuesta a la empresa ese operario, aproximadamente entre un 50% y un 70% por sobre el neto.</a:t>
            </a:r>
          </a:p>
          <a:p>
            <a:pPr marL="742950" lvl="1" indent="-285750">
              <a:buClr>
                <a:srgbClr val="92D050"/>
              </a:buClr>
              <a:buFont typeface="Arial" panose="020B0604020202020204" pitchFamily="34" charset="0"/>
              <a:buChar char="•"/>
            </a:pPr>
            <a:r>
              <a:rPr lang="es-AR" dirty="0">
                <a:solidFill>
                  <a:schemeClr val="tx1">
                    <a:lumMod val="75000"/>
                    <a:lumOff val="25000"/>
                  </a:schemeClr>
                </a:solidFill>
              </a:rPr>
              <a:t>Este salario bruto, esta formado por el costo de los beneficios sociales que el trabajador recibe, algunos de ellos son:</a:t>
            </a:r>
          </a:p>
          <a:p>
            <a:pPr marL="1200150" lvl="2" indent="-285750">
              <a:buClr>
                <a:srgbClr val="92D050"/>
              </a:buClr>
              <a:buFont typeface="Arial" panose="020B0604020202020204" pitchFamily="34" charset="0"/>
              <a:buChar char="•"/>
            </a:pPr>
            <a:r>
              <a:rPr lang="es-AR" dirty="0">
                <a:solidFill>
                  <a:schemeClr val="tx1">
                    <a:lumMod val="75000"/>
                    <a:lumOff val="25000"/>
                  </a:schemeClr>
                </a:solidFill>
              </a:rPr>
              <a:t>Aguinaldo (SAC)</a:t>
            </a:r>
          </a:p>
          <a:p>
            <a:pPr marL="1200150" lvl="2" indent="-285750">
              <a:buClr>
                <a:srgbClr val="92D050"/>
              </a:buClr>
              <a:buFont typeface="Arial" panose="020B0604020202020204" pitchFamily="34" charset="0"/>
              <a:buChar char="•"/>
            </a:pPr>
            <a:r>
              <a:rPr lang="es-AR" dirty="0">
                <a:solidFill>
                  <a:schemeClr val="tx1">
                    <a:lumMod val="75000"/>
                    <a:lumOff val="25000"/>
                  </a:schemeClr>
                </a:solidFill>
              </a:rPr>
              <a:t>Aportes jubilatorios</a:t>
            </a:r>
          </a:p>
          <a:p>
            <a:pPr marL="1200150" lvl="2" indent="-285750">
              <a:buClr>
                <a:srgbClr val="92D050"/>
              </a:buClr>
              <a:buFont typeface="Arial" panose="020B0604020202020204" pitchFamily="34" charset="0"/>
              <a:buChar char="•"/>
            </a:pPr>
            <a:r>
              <a:rPr lang="es-AR" dirty="0">
                <a:solidFill>
                  <a:schemeClr val="tx1">
                    <a:lumMod val="75000"/>
                    <a:lumOff val="25000"/>
                  </a:schemeClr>
                </a:solidFill>
              </a:rPr>
              <a:t>Feriados pagos</a:t>
            </a:r>
          </a:p>
          <a:p>
            <a:pPr marL="1200150" lvl="2" indent="-285750">
              <a:buClr>
                <a:srgbClr val="92D050"/>
              </a:buClr>
              <a:buFont typeface="Arial" panose="020B0604020202020204" pitchFamily="34" charset="0"/>
              <a:buChar char="•"/>
            </a:pPr>
            <a:r>
              <a:rPr lang="es-AR" dirty="0">
                <a:solidFill>
                  <a:schemeClr val="tx1">
                    <a:lumMod val="75000"/>
                    <a:lumOff val="25000"/>
                  </a:schemeClr>
                </a:solidFill>
              </a:rPr>
              <a:t>Vacaciones</a:t>
            </a:r>
          </a:p>
          <a:p>
            <a:pPr marL="1200150" lvl="2" indent="-285750">
              <a:buClr>
                <a:srgbClr val="92D050"/>
              </a:buClr>
              <a:buFont typeface="Arial" panose="020B0604020202020204" pitchFamily="34" charset="0"/>
              <a:buChar char="•"/>
            </a:pPr>
            <a:r>
              <a:rPr lang="es-AR" dirty="0">
                <a:solidFill>
                  <a:schemeClr val="tx1">
                    <a:lumMod val="75000"/>
                    <a:lumOff val="25000"/>
                  </a:schemeClr>
                </a:solidFill>
              </a:rPr>
              <a:t>Enfermedades</a:t>
            </a:r>
          </a:p>
          <a:p>
            <a:pPr marL="1200150" lvl="2" indent="-285750">
              <a:buClr>
                <a:srgbClr val="92D050"/>
              </a:buClr>
              <a:buFont typeface="Arial" panose="020B0604020202020204" pitchFamily="34" charset="0"/>
              <a:buChar char="•"/>
            </a:pPr>
            <a:r>
              <a:rPr lang="es-AR" dirty="0">
                <a:solidFill>
                  <a:schemeClr val="tx1">
                    <a:lumMod val="75000"/>
                    <a:lumOff val="25000"/>
                  </a:schemeClr>
                </a:solidFill>
              </a:rPr>
              <a:t>Preaviso e indemnización por despido</a:t>
            </a:r>
          </a:p>
        </p:txBody>
      </p:sp>
    </p:spTree>
    <p:extLst>
      <p:ext uri="{BB962C8B-B14F-4D97-AF65-F5344CB8AC3E}">
        <p14:creationId xmlns:p14="http://schemas.microsoft.com/office/powerpoint/2010/main" val="36191740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E37675-9BF2-4F52-B114-0E84DBA474B2}"/>
              </a:ext>
            </a:extLst>
          </p:cNvPr>
          <p:cNvSpPr>
            <a:spLocks noGrp="1"/>
          </p:cNvSpPr>
          <p:nvPr>
            <p:ph type="title"/>
          </p:nvPr>
        </p:nvSpPr>
        <p:spPr/>
        <p:txBody>
          <a:bodyPr/>
          <a:lstStyle/>
          <a:p>
            <a:r>
              <a:rPr lang="es-AR" b="1" dirty="0">
                <a:solidFill>
                  <a:schemeClr val="tx1">
                    <a:lumMod val="75000"/>
                    <a:lumOff val="25000"/>
                  </a:schemeClr>
                </a:solidFill>
              </a:rPr>
              <a:t>COSTO DIRECTO</a:t>
            </a:r>
            <a:endParaRPr lang="es-AR" dirty="0"/>
          </a:p>
        </p:txBody>
      </p:sp>
      <p:sp>
        <p:nvSpPr>
          <p:cNvPr id="3" name="Marcador de número de diapositiva 2">
            <a:extLst>
              <a:ext uri="{FF2B5EF4-FFF2-40B4-BE49-F238E27FC236}">
                <a16:creationId xmlns:a16="http://schemas.microsoft.com/office/drawing/2014/main" id="{D14F8AB1-AE65-4C84-8409-E8E79609E16B}"/>
              </a:ext>
            </a:extLst>
          </p:cNvPr>
          <p:cNvSpPr>
            <a:spLocks noGrp="1"/>
          </p:cNvSpPr>
          <p:nvPr>
            <p:ph type="sldNum" sz="quarter" idx="12"/>
          </p:nvPr>
        </p:nvSpPr>
        <p:spPr/>
        <p:txBody>
          <a:bodyPr/>
          <a:lstStyle/>
          <a:p>
            <a:fld id="{D57F1E4F-1CFF-5643-939E-217C01CDF565}" type="slidenum">
              <a:rPr lang="en-US" smtClean="0"/>
              <a:pPr/>
              <a:t>10</a:t>
            </a:fld>
            <a:endParaRPr lang="en-US" dirty="0"/>
          </a:p>
        </p:txBody>
      </p:sp>
      <p:sp>
        <p:nvSpPr>
          <p:cNvPr id="8" name="Line 8">
            <a:extLst>
              <a:ext uri="{FF2B5EF4-FFF2-40B4-BE49-F238E27FC236}">
                <a16:creationId xmlns:a16="http://schemas.microsoft.com/office/drawing/2014/main" id="{215ADEC0-15EB-4D81-B584-28FFD026EA1C}"/>
              </a:ext>
            </a:extLst>
          </p:cNvPr>
          <p:cNvSpPr>
            <a:spLocks noChangeShapeType="1"/>
          </p:cNvSpPr>
          <p:nvPr/>
        </p:nvSpPr>
        <p:spPr bwMode="auto">
          <a:xfrm>
            <a:off x="2435097" y="2597081"/>
            <a:ext cx="0" cy="2305050"/>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9" name="Line 9">
            <a:extLst>
              <a:ext uri="{FF2B5EF4-FFF2-40B4-BE49-F238E27FC236}">
                <a16:creationId xmlns:a16="http://schemas.microsoft.com/office/drawing/2014/main" id="{358EB0EE-D002-48F0-B177-CB55F4D32EB1}"/>
              </a:ext>
            </a:extLst>
          </p:cNvPr>
          <p:cNvSpPr>
            <a:spLocks noChangeShapeType="1"/>
          </p:cNvSpPr>
          <p:nvPr/>
        </p:nvSpPr>
        <p:spPr bwMode="auto">
          <a:xfrm>
            <a:off x="2306339" y="4841875"/>
            <a:ext cx="3527425"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0" name="Line 10">
            <a:extLst>
              <a:ext uri="{FF2B5EF4-FFF2-40B4-BE49-F238E27FC236}">
                <a16:creationId xmlns:a16="http://schemas.microsoft.com/office/drawing/2014/main" id="{A3DF7428-105A-4DD1-8315-7182A52CF0BE}"/>
              </a:ext>
            </a:extLst>
          </p:cNvPr>
          <p:cNvSpPr>
            <a:spLocks noChangeShapeType="1"/>
          </p:cNvSpPr>
          <p:nvPr/>
        </p:nvSpPr>
        <p:spPr bwMode="auto">
          <a:xfrm flipV="1">
            <a:off x="2435097" y="2736057"/>
            <a:ext cx="2736850" cy="20875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1" name="Text Box 11">
            <a:extLst>
              <a:ext uri="{FF2B5EF4-FFF2-40B4-BE49-F238E27FC236}">
                <a16:creationId xmlns:a16="http://schemas.microsoft.com/office/drawing/2014/main" id="{07DFB0B2-182D-4B7A-95FA-CA07B83D0B8C}"/>
              </a:ext>
            </a:extLst>
          </p:cNvPr>
          <p:cNvSpPr txBox="1">
            <a:spLocks noChangeArrowheads="1"/>
          </p:cNvSpPr>
          <p:nvPr/>
        </p:nvSpPr>
        <p:spPr bwMode="auto">
          <a:xfrm>
            <a:off x="2001710" y="2578894"/>
            <a:ext cx="2889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b="1" dirty="0">
                <a:latin typeface="Tahoma" panose="020B0604030504040204" pitchFamily="34" charset="0"/>
              </a:rPr>
              <a:t>$</a:t>
            </a:r>
            <a:endParaRPr lang="es-ES" altLang="es-AR" b="1" dirty="0">
              <a:latin typeface="Tahoma" panose="020B0604030504040204" pitchFamily="34" charset="0"/>
            </a:endParaRPr>
          </a:p>
        </p:txBody>
      </p:sp>
      <p:sp>
        <p:nvSpPr>
          <p:cNvPr id="12" name="Text Box 12">
            <a:extLst>
              <a:ext uri="{FF2B5EF4-FFF2-40B4-BE49-F238E27FC236}">
                <a16:creationId xmlns:a16="http://schemas.microsoft.com/office/drawing/2014/main" id="{BB1E49F4-F10C-44B4-9D35-A35A1718D51D}"/>
              </a:ext>
            </a:extLst>
          </p:cNvPr>
          <p:cNvSpPr txBox="1">
            <a:spLocks noChangeArrowheads="1"/>
          </p:cNvSpPr>
          <p:nvPr/>
        </p:nvSpPr>
        <p:spPr bwMode="auto">
          <a:xfrm>
            <a:off x="2003297" y="4802982"/>
            <a:ext cx="46085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b="1">
                <a:latin typeface="Tahoma" panose="020B0604030504040204" pitchFamily="34" charset="0"/>
              </a:rPr>
              <a:t> 0                                                q (cant)</a:t>
            </a:r>
            <a:endParaRPr lang="es-ES" altLang="es-AR" b="1">
              <a:latin typeface="Tahoma" panose="020B0604030504040204" pitchFamily="34" charset="0"/>
            </a:endParaRPr>
          </a:p>
        </p:txBody>
      </p:sp>
      <p:sp>
        <p:nvSpPr>
          <p:cNvPr id="13" name="WordArt 13">
            <a:extLst>
              <a:ext uri="{FF2B5EF4-FFF2-40B4-BE49-F238E27FC236}">
                <a16:creationId xmlns:a16="http://schemas.microsoft.com/office/drawing/2014/main" id="{6D230832-A725-4750-ACB9-D1D35E0AA239}"/>
              </a:ext>
            </a:extLst>
          </p:cNvPr>
          <p:cNvSpPr>
            <a:spLocks noChangeArrowheads="1" noChangeShapeType="1" noTextEdit="1"/>
          </p:cNvSpPr>
          <p:nvPr/>
        </p:nvSpPr>
        <p:spPr bwMode="auto">
          <a:xfrm rot="19363000">
            <a:off x="2543047" y="3312319"/>
            <a:ext cx="2609850" cy="233363"/>
          </a:xfrm>
          <a:prstGeom prst="rect">
            <a:avLst/>
          </a:prstGeom>
        </p:spPr>
        <p:txBody>
          <a:bodyPr wrap="none" fromWordArt="1">
            <a:prstTxWarp prst="textPlain">
              <a:avLst>
                <a:gd name="adj" fmla="val 50000"/>
              </a:avLst>
            </a:prstTxWarp>
          </a:bodyPr>
          <a:lstStyle/>
          <a:p>
            <a:pPr algn="dist"/>
            <a:r>
              <a:rPr lang="es-ES" kern="10" spc="-90">
                <a:ln w="9525">
                  <a:solidFill>
                    <a:srgbClr val="000000"/>
                  </a:solidFill>
                  <a:round/>
                  <a:headEnd/>
                  <a:tailEnd/>
                </a:ln>
                <a:latin typeface="Tahoma" panose="020B0604030504040204" pitchFamily="34" charset="0"/>
                <a:ea typeface="Tahoma" panose="020B0604030504040204" pitchFamily="34" charset="0"/>
                <a:cs typeface="Tahoma" panose="020B0604030504040204" pitchFamily="34" charset="0"/>
              </a:rPr>
              <a:t>CD total = CD unitario x q</a:t>
            </a:r>
            <a:endParaRPr lang="es-AR" kern="10" spc="-90">
              <a:ln w="9525">
                <a:solidFill>
                  <a:srgbClr val="000000"/>
                </a:solidFill>
                <a:round/>
                <a:headEnd/>
                <a:tailEnd/>
              </a:ln>
              <a:latin typeface="Tahoma" panose="020B0604030504040204" pitchFamily="34" charset="0"/>
              <a:ea typeface="Tahoma" panose="020B0604030504040204" pitchFamily="34" charset="0"/>
              <a:cs typeface="Tahoma" panose="020B0604030504040204" pitchFamily="34" charset="0"/>
            </a:endParaRPr>
          </a:p>
        </p:txBody>
      </p:sp>
      <p:sp>
        <p:nvSpPr>
          <p:cNvPr id="14" name="Line 14">
            <a:extLst>
              <a:ext uri="{FF2B5EF4-FFF2-40B4-BE49-F238E27FC236}">
                <a16:creationId xmlns:a16="http://schemas.microsoft.com/office/drawing/2014/main" id="{75C3BD7D-6A48-4B3E-BFB8-C7E812499581}"/>
              </a:ext>
            </a:extLst>
          </p:cNvPr>
          <p:cNvSpPr>
            <a:spLocks noChangeShapeType="1"/>
          </p:cNvSpPr>
          <p:nvPr/>
        </p:nvSpPr>
        <p:spPr bwMode="auto">
          <a:xfrm>
            <a:off x="7115047" y="2603500"/>
            <a:ext cx="0" cy="2376488"/>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5" name="Line 15">
            <a:extLst>
              <a:ext uri="{FF2B5EF4-FFF2-40B4-BE49-F238E27FC236}">
                <a16:creationId xmlns:a16="http://schemas.microsoft.com/office/drawing/2014/main" id="{8379D4F1-3615-41AF-9159-EC18B12FE4B9}"/>
              </a:ext>
            </a:extLst>
          </p:cNvPr>
          <p:cNvSpPr>
            <a:spLocks noChangeShapeType="1"/>
          </p:cNvSpPr>
          <p:nvPr/>
        </p:nvSpPr>
        <p:spPr bwMode="auto">
          <a:xfrm flipV="1">
            <a:off x="7115047" y="3898900"/>
            <a:ext cx="316865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6" name="Text Box 16">
            <a:extLst>
              <a:ext uri="{FF2B5EF4-FFF2-40B4-BE49-F238E27FC236}">
                <a16:creationId xmlns:a16="http://schemas.microsoft.com/office/drawing/2014/main" id="{B8196896-E19B-4409-88A6-54EDBE23D169}"/>
              </a:ext>
            </a:extLst>
          </p:cNvPr>
          <p:cNvSpPr txBox="1">
            <a:spLocks noChangeArrowheads="1"/>
          </p:cNvSpPr>
          <p:nvPr/>
        </p:nvSpPr>
        <p:spPr bwMode="auto">
          <a:xfrm>
            <a:off x="6681660" y="2597150"/>
            <a:ext cx="2682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b="1">
                <a:latin typeface="Tahoma" panose="020B0604030504040204" pitchFamily="34" charset="0"/>
              </a:rPr>
              <a:t>$</a:t>
            </a:r>
            <a:endParaRPr lang="es-ES" altLang="es-AR" b="1">
              <a:latin typeface="Tahoma" panose="020B0604030504040204" pitchFamily="34" charset="0"/>
            </a:endParaRPr>
          </a:p>
        </p:txBody>
      </p:sp>
      <p:sp>
        <p:nvSpPr>
          <p:cNvPr id="17" name="Text Box 17">
            <a:extLst>
              <a:ext uri="{FF2B5EF4-FFF2-40B4-BE49-F238E27FC236}">
                <a16:creationId xmlns:a16="http://schemas.microsoft.com/office/drawing/2014/main" id="{DDE8E8F5-27B0-43B6-8B7F-358BBF2FDBA4}"/>
              </a:ext>
            </a:extLst>
          </p:cNvPr>
          <p:cNvSpPr txBox="1">
            <a:spLocks noChangeArrowheads="1"/>
          </p:cNvSpPr>
          <p:nvPr/>
        </p:nvSpPr>
        <p:spPr bwMode="auto">
          <a:xfrm>
            <a:off x="6756272" y="4843463"/>
            <a:ext cx="4248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b="1">
                <a:latin typeface="Tahoma" panose="020B0604030504040204" pitchFamily="34" charset="0"/>
              </a:rPr>
              <a:t> 0                                           q (cant)</a:t>
            </a:r>
            <a:endParaRPr lang="es-ES" altLang="es-AR" b="1">
              <a:latin typeface="Tahoma" panose="020B0604030504040204" pitchFamily="34" charset="0"/>
            </a:endParaRPr>
          </a:p>
        </p:txBody>
      </p:sp>
      <p:sp>
        <p:nvSpPr>
          <p:cNvPr id="18" name="WordArt 18">
            <a:extLst>
              <a:ext uri="{FF2B5EF4-FFF2-40B4-BE49-F238E27FC236}">
                <a16:creationId xmlns:a16="http://schemas.microsoft.com/office/drawing/2014/main" id="{1C185FE6-2ADD-498C-9F5A-666C13A69EC8}"/>
              </a:ext>
            </a:extLst>
          </p:cNvPr>
          <p:cNvSpPr>
            <a:spLocks noChangeArrowheads="1" noChangeShapeType="1" noTextEdit="1"/>
          </p:cNvSpPr>
          <p:nvPr/>
        </p:nvSpPr>
        <p:spPr bwMode="auto">
          <a:xfrm>
            <a:off x="7764335" y="3546475"/>
            <a:ext cx="2493962" cy="233363"/>
          </a:xfrm>
          <a:prstGeom prst="rect">
            <a:avLst/>
          </a:prstGeom>
        </p:spPr>
        <p:txBody>
          <a:bodyPr wrap="none" fromWordArt="1">
            <a:prstTxWarp prst="textPlain">
              <a:avLst>
                <a:gd name="adj" fmla="val 50000"/>
              </a:avLst>
            </a:prstTxWarp>
          </a:bodyPr>
          <a:lstStyle/>
          <a:p>
            <a:pPr algn="dist"/>
            <a:r>
              <a:rPr lang="es-AR" kern="10" spc="-90">
                <a:ln w="9525">
                  <a:solidFill>
                    <a:srgbClr val="000000"/>
                  </a:solidFill>
                  <a:round/>
                  <a:headEnd/>
                  <a:tailEnd/>
                </a:ln>
                <a:latin typeface="Tahoma" panose="020B0604030504040204" pitchFamily="34" charset="0"/>
                <a:ea typeface="Tahoma" panose="020B0604030504040204" pitchFamily="34" charset="0"/>
                <a:cs typeface="Tahoma" panose="020B0604030504040204" pitchFamily="34" charset="0"/>
              </a:rPr>
              <a:t>CD unitario = CD total / q</a:t>
            </a:r>
          </a:p>
        </p:txBody>
      </p:sp>
      <p:sp>
        <p:nvSpPr>
          <p:cNvPr id="19" name="Line 19">
            <a:extLst>
              <a:ext uri="{FF2B5EF4-FFF2-40B4-BE49-F238E27FC236}">
                <a16:creationId xmlns:a16="http://schemas.microsoft.com/office/drawing/2014/main" id="{41B2A138-B2F0-402D-BDB9-FED378EF0877}"/>
              </a:ext>
            </a:extLst>
          </p:cNvPr>
          <p:cNvSpPr>
            <a:spLocks noChangeShapeType="1"/>
          </p:cNvSpPr>
          <p:nvPr/>
        </p:nvSpPr>
        <p:spPr bwMode="auto">
          <a:xfrm>
            <a:off x="6899147" y="4857750"/>
            <a:ext cx="3282950" cy="15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0" name="AutoShape 20">
            <a:extLst>
              <a:ext uri="{FF2B5EF4-FFF2-40B4-BE49-F238E27FC236}">
                <a16:creationId xmlns:a16="http://schemas.microsoft.com/office/drawing/2014/main" id="{23842747-9A9F-492E-817D-013E57A363BD}"/>
              </a:ext>
            </a:extLst>
          </p:cNvPr>
          <p:cNvSpPr>
            <a:spLocks noChangeArrowheads="1"/>
          </p:cNvSpPr>
          <p:nvPr/>
        </p:nvSpPr>
        <p:spPr bwMode="auto">
          <a:xfrm rot="14919789">
            <a:off x="2974847" y="4446588"/>
            <a:ext cx="431800" cy="215900"/>
          </a:xfrm>
          <a:prstGeom prst="curvedUpArrow">
            <a:avLst>
              <a:gd name="adj1" fmla="val 40000"/>
              <a:gd name="adj2" fmla="val 80000"/>
              <a:gd name="adj3" fmla="val 33333"/>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21" name="WordArt 21">
            <a:extLst>
              <a:ext uri="{FF2B5EF4-FFF2-40B4-BE49-F238E27FC236}">
                <a16:creationId xmlns:a16="http://schemas.microsoft.com/office/drawing/2014/main" id="{20D7AA23-D78A-4BF3-9B85-F27BB3C29ECB}"/>
              </a:ext>
            </a:extLst>
          </p:cNvPr>
          <p:cNvSpPr>
            <a:spLocks noChangeArrowheads="1" noChangeShapeType="1" noTextEdit="1"/>
          </p:cNvSpPr>
          <p:nvPr/>
        </p:nvSpPr>
        <p:spPr bwMode="auto">
          <a:xfrm>
            <a:off x="3371722" y="4342676"/>
            <a:ext cx="1223963" cy="215900"/>
          </a:xfrm>
          <a:prstGeom prst="rect">
            <a:avLst/>
          </a:prstGeom>
        </p:spPr>
        <p:txBody>
          <a:bodyPr wrap="none" fromWordArt="1">
            <a:prstTxWarp prst="textPlain">
              <a:avLst>
                <a:gd name="adj" fmla="val 50000"/>
              </a:avLst>
            </a:prstTxWarp>
          </a:bodyPr>
          <a:lstStyle/>
          <a:p>
            <a:pPr algn="dist"/>
            <a:r>
              <a:rPr lang="es-AR" kern="10" spc="-90">
                <a:ln w="9525">
                  <a:solidFill>
                    <a:srgbClr val="000000"/>
                  </a:solidFill>
                  <a:round/>
                  <a:headEnd/>
                  <a:tailEnd/>
                </a:ln>
                <a:latin typeface="Tahoma" panose="020B0604030504040204" pitchFamily="34" charset="0"/>
                <a:ea typeface="Tahoma" panose="020B0604030504040204" pitchFamily="34" charset="0"/>
                <a:cs typeface="Tahoma" panose="020B0604030504040204" pitchFamily="34" charset="0"/>
              </a:rPr>
              <a:t>CD unitario</a:t>
            </a:r>
          </a:p>
        </p:txBody>
      </p:sp>
      <p:sp>
        <p:nvSpPr>
          <p:cNvPr id="22" name="WordArt 22">
            <a:extLst>
              <a:ext uri="{FF2B5EF4-FFF2-40B4-BE49-F238E27FC236}">
                <a16:creationId xmlns:a16="http://schemas.microsoft.com/office/drawing/2014/main" id="{F612125F-4A7B-4B84-861A-ABD253CA0DA1}"/>
              </a:ext>
            </a:extLst>
          </p:cNvPr>
          <p:cNvSpPr>
            <a:spLocks noChangeArrowheads="1" noChangeShapeType="1" noTextEdit="1"/>
          </p:cNvSpPr>
          <p:nvPr/>
        </p:nvSpPr>
        <p:spPr bwMode="auto">
          <a:xfrm>
            <a:off x="5675185" y="4240213"/>
            <a:ext cx="1223962" cy="215900"/>
          </a:xfrm>
          <a:prstGeom prst="rect">
            <a:avLst/>
          </a:prstGeom>
        </p:spPr>
        <p:txBody>
          <a:bodyPr wrap="none" fromWordArt="1">
            <a:prstTxWarp prst="textPlain">
              <a:avLst>
                <a:gd name="adj" fmla="val 50000"/>
              </a:avLst>
            </a:prstTxWarp>
          </a:bodyPr>
          <a:lstStyle/>
          <a:p>
            <a:pPr algn="dist"/>
            <a:r>
              <a:rPr lang="es-AR" kern="10" spc="-90">
                <a:ln w="9525">
                  <a:solidFill>
                    <a:srgbClr val="000000"/>
                  </a:solidFill>
                  <a:round/>
                  <a:headEnd/>
                  <a:tailEnd/>
                </a:ln>
                <a:latin typeface="Tahoma" panose="020B0604030504040204" pitchFamily="34" charset="0"/>
                <a:ea typeface="Tahoma" panose="020B0604030504040204" pitchFamily="34" charset="0"/>
                <a:cs typeface="Tahoma" panose="020B0604030504040204" pitchFamily="34" charset="0"/>
              </a:rPr>
              <a:t>CD unitario</a:t>
            </a:r>
          </a:p>
        </p:txBody>
      </p:sp>
      <p:sp>
        <p:nvSpPr>
          <p:cNvPr id="23" name="AutoShape 23">
            <a:extLst>
              <a:ext uri="{FF2B5EF4-FFF2-40B4-BE49-F238E27FC236}">
                <a16:creationId xmlns:a16="http://schemas.microsoft.com/office/drawing/2014/main" id="{597D1A0A-D057-44EA-9D61-421FB67C83DB}"/>
              </a:ext>
            </a:extLst>
          </p:cNvPr>
          <p:cNvSpPr>
            <a:spLocks/>
          </p:cNvSpPr>
          <p:nvPr/>
        </p:nvSpPr>
        <p:spPr bwMode="auto">
          <a:xfrm>
            <a:off x="6972172" y="3906838"/>
            <a:ext cx="71438" cy="935037"/>
          </a:xfrm>
          <a:prstGeom prst="leftBrace">
            <a:avLst>
              <a:gd name="adj1" fmla="val 10907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5" name="CuadroTexto 4">
            <a:extLst>
              <a:ext uri="{FF2B5EF4-FFF2-40B4-BE49-F238E27FC236}">
                <a16:creationId xmlns:a16="http://schemas.microsoft.com/office/drawing/2014/main" id="{21E67A9D-8B2F-4DF4-9DE0-B44A398C9781}"/>
              </a:ext>
            </a:extLst>
          </p:cNvPr>
          <p:cNvSpPr txBox="1"/>
          <p:nvPr/>
        </p:nvSpPr>
        <p:spPr>
          <a:xfrm>
            <a:off x="2407665" y="1424038"/>
            <a:ext cx="5888727" cy="646331"/>
          </a:xfrm>
          <a:prstGeom prst="rect">
            <a:avLst/>
          </a:prstGeom>
          <a:noFill/>
        </p:spPr>
        <p:txBody>
          <a:bodyPr wrap="square" rtlCol="0">
            <a:spAutoFit/>
          </a:bodyPr>
          <a:lstStyle/>
          <a:p>
            <a:r>
              <a:rPr lang="es-AR" dirty="0"/>
              <a:t>El costo directo es proporcional al numero de unidades producidas</a:t>
            </a:r>
          </a:p>
        </p:txBody>
      </p:sp>
    </p:spTree>
    <p:extLst>
      <p:ext uri="{BB962C8B-B14F-4D97-AF65-F5344CB8AC3E}">
        <p14:creationId xmlns:p14="http://schemas.microsoft.com/office/powerpoint/2010/main" val="2159568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down)">
                                      <p:cBhvr>
                                        <p:cTn id="17" dur="5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linds(horizontal)">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43"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200"/>
                                        <p:tgtEl>
                                          <p:spTgt spid="21"/>
                                        </p:tgtEl>
                                      </p:cBhvr>
                                    </p:animEffect>
                                    <p:anim calcmode="lin" valueType="num">
                                      <p:cBhvr>
                                        <p:cTn id="28" dur="800" fill="hold"/>
                                        <p:tgtEl>
                                          <p:spTgt spid="21"/>
                                        </p:tgtEl>
                                        <p:attrNameLst>
                                          <p:attrName>ppt_x</p:attrName>
                                        </p:attrNameLst>
                                      </p:cBhvr>
                                      <p:tavLst>
                                        <p:tav tm="0">
                                          <p:val>
                                            <p:strVal val="#ppt_x"/>
                                          </p:val>
                                        </p:tav>
                                        <p:tav tm="100000">
                                          <p:val>
                                            <p:strVal val="#ppt_x"/>
                                          </p:val>
                                        </p:tav>
                                      </p:tavLst>
                                    </p:anim>
                                    <p:anim calcmode="lin" valueType="num">
                                      <p:cBhvr>
                                        <p:cTn id="29" dur="800" fill="hold"/>
                                        <p:tgtEl>
                                          <p:spTgt spid="21"/>
                                        </p:tgtEl>
                                        <p:attrNameLst>
                                          <p:attrName>ppt_y</p:attrName>
                                        </p:attrNameLst>
                                      </p:cBhvr>
                                      <p:tavLst>
                                        <p:tav tm="0">
                                          <p:val>
                                            <p:strVal val="#ppt_y+0.31"/>
                                          </p:val>
                                        </p:tav>
                                        <p:tav tm="100000">
                                          <p:val>
                                            <p:strVal val="#ppt_y+0.31"/>
                                          </p:val>
                                        </p:tav>
                                      </p:tavLst>
                                    </p:anim>
                                    <p:anim calcmode="lin" valueType="num">
                                      <p:cBhvr>
                                        <p:cTn id="30" dur="1200" decel="50000" fill="hold">
                                          <p:stCondLst>
                                            <p:cond delay="800"/>
                                          </p:stCondLst>
                                        </p:cTn>
                                        <p:tgtEl>
                                          <p:spTgt spid="21"/>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31" dur="1200" decel="50000" fill="hold">
                                          <p:stCondLst>
                                            <p:cond delay="800"/>
                                          </p:stCondLst>
                                        </p:cTn>
                                        <p:tgtEl>
                                          <p:spTgt spid="21"/>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par>
                                <p:cTn id="32" presetID="43" presetClass="entr" presetSubtype="0" fill="hold" grpId="0"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200"/>
                                        <p:tgtEl>
                                          <p:spTgt spid="20"/>
                                        </p:tgtEl>
                                      </p:cBhvr>
                                    </p:animEffect>
                                    <p:anim calcmode="lin" valueType="num">
                                      <p:cBhvr>
                                        <p:cTn id="35" dur="800" fill="hold"/>
                                        <p:tgtEl>
                                          <p:spTgt spid="20"/>
                                        </p:tgtEl>
                                        <p:attrNameLst>
                                          <p:attrName>ppt_x</p:attrName>
                                        </p:attrNameLst>
                                      </p:cBhvr>
                                      <p:tavLst>
                                        <p:tav tm="0">
                                          <p:val>
                                            <p:strVal val="#ppt_x"/>
                                          </p:val>
                                        </p:tav>
                                        <p:tav tm="100000">
                                          <p:val>
                                            <p:strVal val="#ppt_x"/>
                                          </p:val>
                                        </p:tav>
                                      </p:tavLst>
                                    </p:anim>
                                    <p:anim calcmode="lin" valueType="num">
                                      <p:cBhvr>
                                        <p:cTn id="36" dur="800" fill="hold"/>
                                        <p:tgtEl>
                                          <p:spTgt spid="20"/>
                                        </p:tgtEl>
                                        <p:attrNameLst>
                                          <p:attrName>ppt_y</p:attrName>
                                        </p:attrNameLst>
                                      </p:cBhvr>
                                      <p:tavLst>
                                        <p:tav tm="0">
                                          <p:val>
                                            <p:strVal val="#ppt_y+0.31"/>
                                          </p:val>
                                        </p:tav>
                                        <p:tav tm="100000">
                                          <p:val>
                                            <p:strVal val="#ppt_y+0.31"/>
                                          </p:val>
                                        </p:tav>
                                      </p:tavLst>
                                    </p:anim>
                                    <p:anim calcmode="lin" valueType="num">
                                      <p:cBhvr>
                                        <p:cTn id="37" dur="1200" decel="50000" fill="hold">
                                          <p:stCondLst>
                                            <p:cond delay="800"/>
                                          </p:stCondLst>
                                        </p:cTn>
                                        <p:tgtEl>
                                          <p:spTgt spid="20"/>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38" dur="1200" decel="50000" fill="hold">
                                          <p:stCondLst>
                                            <p:cond delay="800"/>
                                          </p:stCondLst>
                                        </p:cTn>
                                        <p:tgtEl>
                                          <p:spTgt spid="20"/>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wipe(left)">
                                      <p:cBhvr>
                                        <p:cTn id="53" dur="5000"/>
                                        <p:tgtEl>
                                          <p:spTgt spid="15"/>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blinds(horizontal)">
                                      <p:cBhvr>
                                        <p:cTn id="58" dur="1000"/>
                                        <p:tgtEl>
                                          <p:spTgt spid="18"/>
                                        </p:tgtEl>
                                      </p:cBhvr>
                                    </p:animEffect>
                                  </p:childTnLst>
                                </p:cTn>
                              </p:par>
                            </p:childTnLst>
                          </p:cTn>
                        </p:par>
                      </p:childTnLst>
                    </p:cTn>
                  </p:par>
                  <p:par>
                    <p:cTn id="59" fill="hold">
                      <p:stCondLst>
                        <p:cond delay="indefinite"/>
                      </p:stCondLst>
                      <p:childTnLst>
                        <p:par>
                          <p:cTn id="60" fill="hold">
                            <p:stCondLst>
                              <p:cond delay="0"/>
                            </p:stCondLst>
                            <p:childTnLst>
                              <p:par>
                                <p:cTn id="61" presetID="43" presetClass="entr" presetSubtype="0" fill="hold"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200"/>
                                        <p:tgtEl>
                                          <p:spTgt spid="22"/>
                                        </p:tgtEl>
                                      </p:cBhvr>
                                    </p:animEffect>
                                    <p:anim calcmode="lin" valueType="num">
                                      <p:cBhvr>
                                        <p:cTn id="64" dur="800" fill="hold"/>
                                        <p:tgtEl>
                                          <p:spTgt spid="22"/>
                                        </p:tgtEl>
                                        <p:attrNameLst>
                                          <p:attrName>ppt_x</p:attrName>
                                        </p:attrNameLst>
                                      </p:cBhvr>
                                      <p:tavLst>
                                        <p:tav tm="0">
                                          <p:val>
                                            <p:strVal val="#ppt_x"/>
                                          </p:val>
                                        </p:tav>
                                        <p:tav tm="100000">
                                          <p:val>
                                            <p:strVal val="#ppt_x"/>
                                          </p:val>
                                        </p:tav>
                                      </p:tavLst>
                                    </p:anim>
                                    <p:anim calcmode="lin" valueType="num">
                                      <p:cBhvr>
                                        <p:cTn id="65" dur="800" fill="hold"/>
                                        <p:tgtEl>
                                          <p:spTgt spid="22"/>
                                        </p:tgtEl>
                                        <p:attrNameLst>
                                          <p:attrName>ppt_y</p:attrName>
                                        </p:attrNameLst>
                                      </p:cBhvr>
                                      <p:tavLst>
                                        <p:tav tm="0">
                                          <p:val>
                                            <p:strVal val="#ppt_y+0.31"/>
                                          </p:val>
                                        </p:tav>
                                        <p:tav tm="100000">
                                          <p:val>
                                            <p:strVal val="#ppt_y+0.31"/>
                                          </p:val>
                                        </p:tav>
                                      </p:tavLst>
                                    </p:anim>
                                    <p:anim calcmode="lin" valueType="num">
                                      <p:cBhvr>
                                        <p:cTn id="66" dur="1200" decel="50000" fill="hold">
                                          <p:stCondLst>
                                            <p:cond delay="800"/>
                                          </p:stCondLst>
                                        </p:cTn>
                                        <p:tgtEl>
                                          <p:spTgt spid="22"/>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67" dur="1200" decel="50000" fill="hold">
                                          <p:stCondLst>
                                            <p:cond delay="800"/>
                                          </p:stCondLst>
                                        </p:cTn>
                                        <p:tgtEl>
                                          <p:spTgt spid="22"/>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par>
                                <p:cTn id="68" presetID="43" presetClass="entr" presetSubtype="0"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200"/>
                                        <p:tgtEl>
                                          <p:spTgt spid="23"/>
                                        </p:tgtEl>
                                      </p:cBhvr>
                                    </p:animEffect>
                                    <p:anim calcmode="lin" valueType="num">
                                      <p:cBhvr>
                                        <p:cTn id="71" dur="800" fill="hold"/>
                                        <p:tgtEl>
                                          <p:spTgt spid="23"/>
                                        </p:tgtEl>
                                        <p:attrNameLst>
                                          <p:attrName>ppt_x</p:attrName>
                                        </p:attrNameLst>
                                      </p:cBhvr>
                                      <p:tavLst>
                                        <p:tav tm="0">
                                          <p:val>
                                            <p:strVal val="#ppt_x"/>
                                          </p:val>
                                        </p:tav>
                                        <p:tav tm="100000">
                                          <p:val>
                                            <p:strVal val="#ppt_x"/>
                                          </p:val>
                                        </p:tav>
                                      </p:tavLst>
                                    </p:anim>
                                    <p:anim calcmode="lin" valueType="num">
                                      <p:cBhvr>
                                        <p:cTn id="72" dur="800" fill="hold"/>
                                        <p:tgtEl>
                                          <p:spTgt spid="23"/>
                                        </p:tgtEl>
                                        <p:attrNameLst>
                                          <p:attrName>ppt_y</p:attrName>
                                        </p:attrNameLst>
                                      </p:cBhvr>
                                      <p:tavLst>
                                        <p:tav tm="0">
                                          <p:val>
                                            <p:strVal val="#ppt_y+0.31"/>
                                          </p:val>
                                        </p:tav>
                                        <p:tav tm="100000">
                                          <p:val>
                                            <p:strVal val="#ppt_y+0.31"/>
                                          </p:val>
                                        </p:tav>
                                      </p:tavLst>
                                    </p:anim>
                                    <p:anim calcmode="lin" valueType="num">
                                      <p:cBhvr>
                                        <p:cTn id="73" dur="1200" decel="50000" fill="hold">
                                          <p:stCondLst>
                                            <p:cond delay="800"/>
                                          </p:stCondLst>
                                        </p:cTn>
                                        <p:tgtEl>
                                          <p:spTgt spid="23"/>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74" dur="1200" decel="50000" fill="hold">
                                          <p:stCondLst>
                                            <p:cond delay="800"/>
                                          </p:stCondLst>
                                        </p:cTn>
                                        <p:tgtEl>
                                          <p:spTgt spid="23"/>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6" grpId="0"/>
      <p:bldP spid="17" grpId="0"/>
      <p:bldP spid="20" grpId="0" animBg="1"/>
      <p:bldP spid="2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7A0000-F8C9-4816-9285-BA6F0897DED5}"/>
              </a:ext>
            </a:extLst>
          </p:cNvPr>
          <p:cNvSpPr>
            <a:spLocks noGrp="1"/>
          </p:cNvSpPr>
          <p:nvPr>
            <p:ph type="title"/>
          </p:nvPr>
        </p:nvSpPr>
        <p:spPr/>
        <p:txBody>
          <a:bodyPr/>
          <a:lstStyle/>
          <a:p>
            <a:r>
              <a:rPr lang="es-AR" b="1" dirty="0"/>
              <a:t>CALCULO DE LA MATERIA PRIMA</a:t>
            </a:r>
          </a:p>
        </p:txBody>
      </p:sp>
      <p:sp>
        <p:nvSpPr>
          <p:cNvPr id="3" name="Marcador de número de diapositiva 2">
            <a:extLst>
              <a:ext uri="{FF2B5EF4-FFF2-40B4-BE49-F238E27FC236}">
                <a16:creationId xmlns:a16="http://schemas.microsoft.com/office/drawing/2014/main" id="{AFCE0215-E803-48E9-A255-6BE484A7AAFB}"/>
              </a:ext>
            </a:extLst>
          </p:cNvPr>
          <p:cNvSpPr>
            <a:spLocks noGrp="1"/>
          </p:cNvSpPr>
          <p:nvPr>
            <p:ph type="sldNum" sz="quarter" idx="12"/>
          </p:nvPr>
        </p:nvSpPr>
        <p:spPr/>
        <p:txBody>
          <a:bodyPr/>
          <a:lstStyle/>
          <a:p>
            <a:fld id="{D57F1E4F-1CFF-5643-939E-217C01CDF565}" type="slidenum">
              <a:rPr lang="en-US" smtClean="0"/>
              <a:pPr/>
              <a:t>11</a:t>
            </a:fld>
            <a:endParaRPr lang="en-US" dirty="0"/>
          </a:p>
        </p:txBody>
      </p:sp>
      <p:sp>
        <p:nvSpPr>
          <p:cNvPr id="30" name="Rectángulo 29">
            <a:extLst>
              <a:ext uri="{FF2B5EF4-FFF2-40B4-BE49-F238E27FC236}">
                <a16:creationId xmlns:a16="http://schemas.microsoft.com/office/drawing/2014/main" id="{85DC775A-3900-46C4-B267-12CE6BBC8F11}"/>
              </a:ext>
            </a:extLst>
          </p:cNvPr>
          <p:cNvSpPr/>
          <p:nvPr/>
        </p:nvSpPr>
        <p:spPr>
          <a:xfrm>
            <a:off x="2111375" y="1511742"/>
            <a:ext cx="8456611" cy="3842077"/>
          </a:xfrm>
          <a:prstGeom prst="rect">
            <a:avLst/>
          </a:prstGeom>
        </p:spPr>
        <p:txBody>
          <a:bodyPr wrap="square">
            <a:spAutoFit/>
          </a:bodyPr>
          <a:lstStyle/>
          <a:p>
            <a:pPr>
              <a:spcAft>
                <a:spcPts val="0"/>
              </a:spcAft>
              <a:tabLst>
                <a:tab pos="2806065" algn="ctr"/>
                <a:tab pos="5612130" algn="r"/>
                <a:tab pos="449580" algn="l"/>
              </a:tabLst>
            </a:pPr>
            <a:r>
              <a:rPr lang="es-AR" b="1" u="sng" dirty="0">
                <a:latin typeface="Arial" panose="020B0604020202020204" pitchFamily="34" charset="0"/>
                <a:ea typeface="Times New Roman" panose="02020603050405020304" pitchFamily="18" charset="0"/>
              </a:rPr>
              <a:t> Materias Primas  </a:t>
            </a:r>
            <a:r>
              <a:rPr lang="es-AR" b="1" dirty="0">
                <a:latin typeface="Arial" panose="020B0604020202020204" pitchFamily="34" charset="0"/>
                <a:ea typeface="Times New Roman" panose="02020603050405020304" pitchFamily="18" charset="0"/>
              </a:rPr>
              <a:t> </a:t>
            </a:r>
            <a:endParaRPr lang="es-AR" sz="2000" dirty="0">
              <a:latin typeface="Times New Roman" panose="02020603050405020304" pitchFamily="18" charset="0"/>
              <a:ea typeface="Times New Roman" panose="02020603050405020304" pitchFamily="18" charset="0"/>
            </a:endParaRPr>
          </a:p>
          <a:p>
            <a:pPr>
              <a:spcAft>
                <a:spcPts val="0"/>
              </a:spcAft>
            </a:pPr>
            <a:r>
              <a:rPr lang="es-ES" sz="1600" dirty="0">
                <a:solidFill>
                  <a:srgbClr val="000000"/>
                </a:solidFill>
                <a:latin typeface="Arial" panose="020B0604020202020204" pitchFamily="34" charset="0"/>
                <a:ea typeface="Times New Roman" panose="02020603050405020304" pitchFamily="18" charset="0"/>
              </a:rPr>
              <a:t>En una empresa manufacturera se procesa una sola materia prima en tres secciones operativas obteniéndose un solo producto.</a:t>
            </a:r>
            <a:endParaRPr lang="es-AR" sz="1600" dirty="0">
              <a:solidFill>
                <a:srgbClr val="000000"/>
              </a:solidFill>
              <a:latin typeface="Calibri" panose="020F0502020204030204" pitchFamily="34" charset="0"/>
              <a:ea typeface="Times New Roman" panose="02020603050405020304" pitchFamily="18" charset="0"/>
            </a:endParaRPr>
          </a:p>
          <a:p>
            <a:pPr>
              <a:spcAft>
                <a:spcPts val="0"/>
              </a:spcAft>
            </a:pPr>
            <a:r>
              <a:rPr lang="es-ES" sz="1600" dirty="0">
                <a:solidFill>
                  <a:srgbClr val="000000"/>
                </a:solidFill>
                <a:latin typeface="Arial" panose="020B0604020202020204" pitchFamily="34" charset="0"/>
                <a:ea typeface="Times New Roman" panose="02020603050405020304" pitchFamily="18" charset="0"/>
              </a:rPr>
              <a:t>Ocurriendo los siguientes eventos: </a:t>
            </a:r>
            <a:endParaRPr lang="es-AR" sz="1600" dirty="0">
              <a:solidFill>
                <a:srgbClr val="000000"/>
              </a:solidFill>
              <a:latin typeface="Calibri" panose="020F0502020204030204" pitchFamily="34" charset="0"/>
              <a:ea typeface="Times New Roman" panose="02020603050405020304" pitchFamily="18" charset="0"/>
            </a:endParaRPr>
          </a:p>
          <a:p>
            <a:pPr>
              <a:spcAft>
                <a:spcPts val="0"/>
              </a:spcAft>
            </a:pPr>
            <a:r>
              <a:rPr lang="es-ES" sz="1600" dirty="0">
                <a:solidFill>
                  <a:srgbClr val="000000"/>
                </a:solidFill>
                <a:latin typeface="Arial" panose="020B0604020202020204" pitchFamily="34" charset="0"/>
                <a:ea typeface="Times New Roman" panose="02020603050405020304" pitchFamily="18" charset="0"/>
              </a:rPr>
              <a:t>Durante el proceso 3 ocurre una merma del 2% del material y se obtiene un 5% de recortes; durante el proceso 2 ocurren mermas por un 3% del material y 8% de recortes y durante el proceso 1 ocurren mermas por un 8% y 20% de recortes.</a:t>
            </a:r>
            <a:endParaRPr lang="es-AR" sz="1600" dirty="0">
              <a:solidFill>
                <a:srgbClr val="000000"/>
              </a:solidFill>
              <a:latin typeface="Calibri" panose="020F0502020204030204" pitchFamily="34" charset="0"/>
              <a:ea typeface="Times New Roman" panose="02020603050405020304" pitchFamily="18" charset="0"/>
            </a:endParaRPr>
          </a:p>
          <a:p>
            <a:pPr>
              <a:spcAft>
                <a:spcPts val="0"/>
              </a:spcAft>
            </a:pPr>
            <a:r>
              <a:rPr lang="es-ES" sz="1600" dirty="0">
                <a:solidFill>
                  <a:srgbClr val="000000"/>
                </a:solidFill>
                <a:latin typeface="Arial" panose="020B0604020202020204" pitchFamily="34" charset="0"/>
                <a:ea typeface="Times New Roman" panose="02020603050405020304" pitchFamily="18" charset="0"/>
              </a:rPr>
              <a:t> Al finalizar el Proceso 1 se obtiene 100 Kg de producto terminado. </a:t>
            </a:r>
            <a:endParaRPr lang="es-AR" sz="1600" dirty="0">
              <a:solidFill>
                <a:srgbClr val="000000"/>
              </a:solidFill>
              <a:latin typeface="Calibri" panose="020F0502020204030204" pitchFamily="34" charset="0"/>
              <a:ea typeface="Times New Roman" panose="02020603050405020304" pitchFamily="18" charset="0"/>
            </a:endParaRPr>
          </a:p>
          <a:p>
            <a:pPr>
              <a:spcAft>
                <a:spcPts val="0"/>
              </a:spcAft>
            </a:pPr>
            <a:r>
              <a:rPr lang="es-ES" sz="1600" dirty="0">
                <a:solidFill>
                  <a:srgbClr val="000000"/>
                </a:solidFill>
                <a:latin typeface="Arial" panose="020B0604020202020204" pitchFamily="34" charset="0"/>
                <a:ea typeface="Times New Roman" panose="02020603050405020304" pitchFamily="18" charset="0"/>
              </a:rPr>
              <a:t>Los recortes se reciclan totalmente en la fábrica. </a:t>
            </a:r>
            <a:endParaRPr lang="es-AR" sz="1600" dirty="0">
              <a:solidFill>
                <a:srgbClr val="000000"/>
              </a:solidFill>
              <a:latin typeface="Calibri" panose="020F0502020204030204" pitchFamily="34" charset="0"/>
              <a:ea typeface="Times New Roman" panose="02020603050405020304" pitchFamily="18" charset="0"/>
            </a:endParaRPr>
          </a:p>
          <a:p>
            <a:pPr>
              <a:spcAft>
                <a:spcPts val="0"/>
              </a:spcAft>
            </a:pPr>
            <a:r>
              <a:rPr lang="es-ES" sz="1600" dirty="0">
                <a:solidFill>
                  <a:srgbClr val="000000"/>
                </a:solidFill>
                <a:latin typeface="Arial" panose="020B0604020202020204" pitchFamily="34" charset="0"/>
                <a:ea typeface="Times New Roman" panose="02020603050405020304" pitchFamily="18" charset="0"/>
              </a:rPr>
              <a:t>Determinar: </a:t>
            </a:r>
            <a:endParaRPr lang="es-AR" sz="1600" dirty="0">
              <a:solidFill>
                <a:srgbClr val="000000"/>
              </a:solidFill>
              <a:latin typeface="Calibri" panose="020F0502020204030204" pitchFamily="34" charset="0"/>
              <a:ea typeface="Times New Roman" panose="02020603050405020304" pitchFamily="18" charset="0"/>
            </a:endParaRPr>
          </a:p>
          <a:p>
            <a:pPr>
              <a:spcAft>
                <a:spcPts val="85"/>
              </a:spcAft>
            </a:pPr>
            <a:r>
              <a:rPr lang="es-ES" sz="1600" dirty="0">
                <a:solidFill>
                  <a:srgbClr val="000000"/>
                </a:solidFill>
                <a:latin typeface="Arial" panose="020B0604020202020204" pitchFamily="34" charset="0"/>
                <a:ea typeface="Times New Roman" panose="02020603050405020304" pitchFamily="18" charset="0"/>
              </a:rPr>
              <a:t>1. Cantidad que debe ingresar al sistema productivo, discriminando cantidad de materia prima más merma y cantidad de recortes. </a:t>
            </a:r>
            <a:endParaRPr lang="es-AR" sz="1600" dirty="0">
              <a:solidFill>
                <a:srgbClr val="000000"/>
              </a:solidFill>
              <a:latin typeface="Calibri" panose="020F0502020204030204" pitchFamily="34" charset="0"/>
              <a:ea typeface="Times New Roman" panose="02020603050405020304" pitchFamily="18" charset="0"/>
            </a:endParaRPr>
          </a:p>
          <a:p>
            <a:pPr>
              <a:spcAft>
                <a:spcPts val="85"/>
              </a:spcAft>
            </a:pPr>
            <a:r>
              <a:rPr lang="es-ES" sz="1600" dirty="0">
                <a:solidFill>
                  <a:srgbClr val="000000"/>
                </a:solidFill>
                <a:latin typeface="Arial" panose="020B0604020202020204" pitchFamily="34" charset="0"/>
                <a:ea typeface="Times New Roman" panose="02020603050405020304" pitchFamily="18" charset="0"/>
              </a:rPr>
              <a:t>2. Encontrar las mermas y recortes parciales y totales. Cantidad que pasa al segundo y al primer proceso. </a:t>
            </a:r>
            <a:endParaRPr lang="es-AR" sz="1600" dirty="0">
              <a:solidFill>
                <a:srgbClr val="000000"/>
              </a:solidFill>
              <a:latin typeface="Calibri" panose="020F0502020204030204" pitchFamily="34" charset="0"/>
              <a:ea typeface="Times New Roman" panose="02020603050405020304" pitchFamily="18" charset="0"/>
            </a:endParaRPr>
          </a:p>
          <a:p>
            <a:pPr>
              <a:spcAft>
                <a:spcPts val="0"/>
              </a:spcAft>
            </a:pPr>
            <a:r>
              <a:rPr lang="es-ES" sz="1600" dirty="0">
                <a:solidFill>
                  <a:srgbClr val="000000"/>
                </a:solidFill>
                <a:latin typeface="Arial" panose="020B0604020202020204" pitchFamily="34" charset="0"/>
                <a:ea typeface="Times New Roman" panose="02020603050405020304" pitchFamily="18" charset="0"/>
              </a:rPr>
              <a:t>3. Cantidad de materia prima que se utilizará para el cálculo del costo del producto. </a:t>
            </a:r>
            <a:endParaRPr lang="es-AR" sz="1600" dirty="0">
              <a:solidFill>
                <a:srgbClr val="000000"/>
              </a:solidFill>
              <a:effectLst/>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8508286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A8ADB1-3695-4AF6-BC0E-498B8F24FD3C}"/>
              </a:ext>
            </a:extLst>
          </p:cNvPr>
          <p:cNvSpPr>
            <a:spLocks noGrp="1"/>
          </p:cNvSpPr>
          <p:nvPr>
            <p:ph type="title"/>
          </p:nvPr>
        </p:nvSpPr>
        <p:spPr/>
        <p:txBody>
          <a:bodyPr/>
          <a:lstStyle/>
          <a:p>
            <a:r>
              <a:rPr lang="es-AR" b="1" dirty="0"/>
              <a:t>CALCULO DE LA MATERIA PRIMA</a:t>
            </a:r>
            <a:endParaRPr lang="es-AR" dirty="0"/>
          </a:p>
        </p:txBody>
      </p:sp>
      <p:sp>
        <p:nvSpPr>
          <p:cNvPr id="3" name="Marcador de número de diapositiva 2">
            <a:extLst>
              <a:ext uri="{FF2B5EF4-FFF2-40B4-BE49-F238E27FC236}">
                <a16:creationId xmlns:a16="http://schemas.microsoft.com/office/drawing/2014/main" id="{D17E1F01-88D0-4189-9AB7-C9B3FC1F1F12}"/>
              </a:ext>
            </a:extLst>
          </p:cNvPr>
          <p:cNvSpPr>
            <a:spLocks noGrp="1"/>
          </p:cNvSpPr>
          <p:nvPr>
            <p:ph type="sldNum" sz="quarter" idx="12"/>
          </p:nvPr>
        </p:nvSpPr>
        <p:spPr/>
        <p:txBody>
          <a:bodyPr/>
          <a:lstStyle/>
          <a:p>
            <a:fld id="{D57F1E4F-1CFF-5643-939E-217C01CDF565}" type="slidenum">
              <a:rPr lang="en-US" smtClean="0"/>
              <a:pPr/>
              <a:t>12</a:t>
            </a:fld>
            <a:endParaRPr lang="en-US" dirty="0"/>
          </a:p>
        </p:txBody>
      </p:sp>
      <p:graphicFrame>
        <p:nvGraphicFramePr>
          <p:cNvPr id="5" name="Objeto 4">
            <a:extLst>
              <a:ext uri="{FF2B5EF4-FFF2-40B4-BE49-F238E27FC236}">
                <a16:creationId xmlns:a16="http://schemas.microsoft.com/office/drawing/2014/main" id="{5F272561-5B6C-4AB1-A7CF-3F22DF925ACA}"/>
              </a:ext>
            </a:extLst>
          </p:cNvPr>
          <p:cNvGraphicFramePr>
            <a:graphicFrameLocks noChangeAspect="1"/>
          </p:cNvGraphicFramePr>
          <p:nvPr>
            <p:extLst>
              <p:ext uri="{D42A27DB-BD31-4B8C-83A1-F6EECF244321}">
                <p14:modId xmlns:p14="http://schemas.microsoft.com/office/powerpoint/2010/main" val="3856821900"/>
              </p:ext>
            </p:extLst>
          </p:nvPr>
        </p:nvGraphicFramePr>
        <p:xfrm>
          <a:off x="1680346" y="2852928"/>
          <a:ext cx="9831695" cy="1280889"/>
        </p:xfrm>
        <a:graphic>
          <a:graphicData uri="http://schemas.openxmlformats.org/presentationml/2006/ole">
            <mc:AlternateContent xmlns:mc="http://schemas.openxmlformats.org/markup-compatibility/2006">
              <mc:Choice xmlns:v="urn:schemas-microsoft-com:vml" Requires="v">
                <p:oleObj spid="_x0000_s9247" name="Worksheet" r:id="rId3" imgW="5860296" imgH="763523" progId="Excel.Sheet.12">
                  <p:embed/>
                </p:oleObj>
              </mc:Choice>
              <mc:Fallback>
                <p:oleObj name="Worksheet" r:id="rId3" imgW="5860296" imgH="763523" progId="Excel.Sheet.12">
                  <p:embed/>
                  <p:pic>
                    <p:nvPicPr>
                      <p:cNvPr id="0" name=""/>
                      <p:cNvPicPr/>
                      <p:nvPr/>
                    </p:nvPicPr>
                    <p:blipFill>
                      <a:blip r:embed="rId4"/>
                      <a:stretch>
                        <a:fillRect/>
                      </a:stretch>
                    </p:blipFill>
                    <p:spPr>
                      <a:xfrm>
                        <a:off x="1680346" y="2852928"/>
                        <a:ext cx="9831695" cy="1280889"/>
                      </a:xfrm>
                      <a:prstGeom prst="rect">
                        <a:avLst/>
                      </a:prstGeom>
                    </p:spPr>
                  </p:pic>
                </p:oleObj>
              </mc:Fallback>
            </mc:AlternateContent>
          </a:graphicData>
        </a:graphic>
      </p:graphicFrame>
      <p:sp>
        <p:nvSpPr>
          <p:cNvPr id="6" name="Rectángulo 5">
            <a:extLst>
              <a:ext uri="{FF2B5EF4-FFF2-40B4-BE49-F238E27FC236}">
                <a16:creationId xmlns:a16="http://schemas.microsoft.com/office/drawing/2014/main" id="{9CCB2EF2-090E-475F-B470-3902D6243E4E}"/>
              </a:ext>
            </a:extLst>
          </p:cNvPr>
          <p:cNvSpPr/>
          <p:nvPr/>
        </p:nvSpPr>
        <p:spPr>
          <a:xfrm>
            <a:off x="5184648" y="5047488"/>
            <a:ext cx="1408176" cy="5394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a:t>M%</a:t>
            </a:r>
          </a:p>
        </p:txBody>
      </p:sp>
      <p:cxnSp>
        <p:nvCxnSpPr>
          <p:cNvPr id="8" name="Conector recto de flecha 7">
            <a:extLst>
              <a:ext uri="{FF2B5EF4-FFF2-40B4-BE49-F238E27FC236}">
                <a16:creationId xmlns:a16="http://schemas.microsoft.com/office/drawing/2014/main" id="{1592F3ED-B3D8-4D96-BFCE-54CC6F9A7EA6}"/>
              </a:ext>
            </a:extLst>
          </p:cNvPr>
          <p:cNvCxnSpPr>
            <a:cxnSpLocks/>
            <a:endCxn id="6" idx="1"/>
          </p:cNvCxnSpPr>
          <p:nvPr/>
        </p:nvCxnSpPr>
        <p:spPr>
          <a:xfrm>
            <a:off x="4425696" y="5317236"/>
            <a:ext cx="75895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ector recto de flecha 8">
            <a:extLst>
              <a:ext uri="{FF2B5EF4-FFF2-40B4-BE49-F238E27FC236}">
                <a16:creationId xmlns:a16="http://schemas.microsoft.com/office/drawing/2014/main" id="{A9C9C359-3B17-4565-B6EA-330A7763EB8C}"/>
              </a:ext>
            </a:extLst>
          </p:cNvPr>
          <p:cNvCxnSpPr>
            <a:cxnSpLocks/>
          </p:cNvCxnSpPr>
          <p:nvPr/>
        </p:nvCxnSpPr>
        <p:spPr>
          <a:xfrm>
            <a:off x="6516624" y="5317236"/>
            <a:ext cx="83515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CuadroTexto 11">
            <a:extLst>
              <a:ext uri="{FF2B5EF4-FFF2-40B4-BE49-F238E27FC236}">
                <a16:creationId xmlns:a16="http://schemas.microsoft.com/office/drawing/2014/main" id="{12B8402B-B2CF-4C1A-B1C4-71C17F9A91AD}"/>
              </a:ext>
            </a:extLst>
          </p:cNvPr>
          <p:cNvSpPr txBox="1"/>
          <p:nvPr/>
        </p:nvSpPr>
        <p:spPr>
          <a:xfrm>
            <a:off x="4626864" y="4914534"/>
            <a:ext cx="356616" cy="369332"/>
          </a:xfrm>
          <a:prstGeom prst="rect">
            <a:avLst/>
          </a:prstGeom>
          <a:noFill/>
        </p:spPr>
        <p:txBody>
          <a:bodyPr wrap="square" rtlCol="0">
            <a:spAutoFit/>
          </a:bodyPr>
          <a:lstStyle/>
          <a:p>
            <a:r>
              <a:rPr lang="es-AR" b="1" dirty="0"/>
              <a:t>Y</a:t>
            </a:r>
          </a:p>
        </p:txBody>
      </p:sp>
      <p:sp>
        <p:nvSpPr>
          <p:cNvPr id="13" name="CuadroTexto 12">
            <a:extLst>
              <a:ext uri="{FF2B5EF4-FFF2-40B4-BE49-F238E27FC236}">
                <a16:creationId xmlns:a16="http://schemas.microsoft.com/office/drawing/2014/main" id="{E676C088-8CDA-4012-BA82-CA6688D1CFE8}"/>
              </a:ext>
            </a:extLst>
          </p:cNvPr>
          <p:cNvSpPr txBox="1"/>
          <p:nvPr/>
        </p:nvSpPr>
        <p:spPr>
          <a:xfrm>
            <a:off x="6793992" y="4924861"/>
            <a:ext cx="356616" cy="369332"/>
          </a:xfrm>
          <a:prstGeom prst="rect">
            <a:avLst/>
          </a:prstGeom>
          <a:noFill/>
        </p:spPr>
        <p:txBody>
          <a:bodyPr wrap="square" rtlCol="0">
            <a:spAutoFit/>
          </a:bodyPr>
          <a:lstStyle/>
          <a:p>
            <a:r>
              <a:rPr lang="es-AR" b="1" dirty="0"/>
              <a:t>X</a:t>
            </a:r>
          </a:p>
        </p:txBody>
      </p:sp>
      <p:sp>
        <p:nvSpPr>
          <p:cNvPr id="14" name="CuadroTexto 13">
            <a:extLst>
              <a:ext uri="{FF2B5EF4-FFF2-40B4-BE49-F238E27FC236}">
                <a16:creationId xmlns:a16="http://schemas.microsoft.com/office/drawing/2014/main" id="{104ABDC1-FB71-4373-9CDF-ECC2DA72EE73}"/>
              </a:ext>
            </a:extLst>
          </p:cNvPr>
          <p:cNvSpPr txBox="1"/>
          <p:nvPr/>
        </p:nvSpPr>
        <p:spPr>
          <a:xfrm>
            <a:off x="3572256" y="5801138"/>
            <a:ext cx="4026408" cy="369332"/>
          </a:xfrm>
          <a:prstGeom prst="rect">
            <a:avLst/>
          </a:prstGeom>
          <a:noFill/>
        </p:spPr>
        <p:txBody>
          <a:bodyPr wrap="square" rtlCol="0">
            <a:spAutoFit/>
          </a:bodyPr>
          <a:lstStyle/>
          <a:p>
            <a:r>
              <a:rPr lang="es-AR" b="1" dirty="0"/>
              <a:t>Y- Y(M%) = X =&gt; Y (1 – M%) = X =&gt; </a:t>
            </a:r>
          </a:p>
        </p:txBody>
      </p:sp>
      <p:sp>
        <p:nvSpPr>
          <p:cNvPr id="15" name="CuadroTexto 14">
            <a:extLst>
              <a:ext uri="{FF2B5EF4-FFF2-40B4-BE49-F238E27FC236}">
                <a16:creationId xmlns:a16="http://schemas.microsoft.com/office/drawing/2014/main" id="{1F9F4E20-5D75-4E71-82AC-E64ACD197A48}"/>
              </a:ext>
            </a:extLst>
          </p:cNvPr>
          <p:cNvSpPr txBox="1"/>
          <p:nvPr/>
        </p:nvSpPr>
        <p:spPr>
          <a:xfrm>
            <a:off x="7598664" y="5801138"/>
            <a:ext cx="374904" cy="369332"/>
          </a:xfrm>
          <a:prstGeom prst="rect">
            <a:avLst/>
          </a:prstGeom>
          <a:noFill/>
        </p:spPr>
        <p:txBody>
          <a:bodyPr wrap="square" rtlCol="0">
            <a:spAutoFit/>
          </a:bodyPr>
          <a:lstStyle/>
          <a:p>
            <a:r>
              <a:rPr lang="es-AR" b="1" dirty="0"/>
              <a:t>Y</a:t>
            </a:r>
          </a:p>
        </p:txBody>
      </p:sp>
      <p:sp>
        <p:nvSpPr>
          <p:cNvPr id="16" name="CuadroTexto 15">
            <a:extLst>
              <a:ext uri="{FF2B5EF4-FFF2-40B4-BE49-F238E27FC236}">
                <a16:creationId xmlns:a16="http://schemas.microsoft.com/office/drawing/2014/main" id="{B1600F37-D540-42D8-BF7F-CF29583C145D}"/>
              </a:ext>
            </a:extLst>
          </p:cNvPr>
          <p:cNvSpPr txBox="1"/>
          <p:nvPr/>
        </p:nvSpPr>
        <p:spPr>
          <a:xfrm>
            <a:off x="7891272" y="5809694"/>
            <a:ext cx="283464" cy="369332"/>
          </a:xfrm>
          <a:prstGeom prst="rect">
            <a:avLst/>
          </a:prstGeom>
          <a:noFill/>
        </p:spPr>
        <p:txBody>
          <a:bodyPr wrap="square" rtlCol="0">
            <a:spAutoFit/>
          </a:bodyPr>
          <a:lstStyle/>
          <a:p>
            <a:r>
              <a:rPr lang="es-AR" dirty="0"/>
              <a:t>=</a:t>
            </a:r>
          </a:p>
        </p:txBody>
      </p:sp>
      <p:sp>
        <p:nvSpPr>
          <p:cNvPr id="17" name="CuadroTexto 16">
            <a:extLst>
              <a:ext uri="{FF2B5EF4-FFF2-40B4-BE49-F238E27FC236}">
                <a16:creationId xmlns:a16="http://schemas.microsoft.com/office/drawing/2014/main" id="{D0971C11-A3BA-4A28-B63D-C506753EAD63}"/>
              </a:ext>
            </a:extLst>
          </p:cNvPr>
          <p:cNvSpPr txBox="1"/>
          <p:nvPr/>
        </p:nvSpPr>
        <p:spPr>
          <a:xfrm>
            <a:off x="8586216" y="5555980"/>
            <a:ext cx="283464" cy="369332"/>
          </a:xfrm>
          <a:prstGeom prst="rect">
            <a:avLst/>
          </a:prstGeom>
          <a:noFill/>
        </p:spPr>
        <p:txBody>
          <a:bodyPr wrap="square" rtlCol="0">
            <a:spAutoFit/>
          </a:bodyPr>
          <a:lstStyle/>
          <a:p>
            <a:r>
              <a:rPr lang="es-AR" b="1" dirty="0"/>
              <a:t>X</a:t>
            </a:r>
          </a:p>
        </p:txBody>
      </p:sp>
      <p:sp>
        <p:nvSpPr>
          <p:cNvPr id="18" name="CuadroTexto 17">
            <a:extLst>
              <a:ext uri="{FF2B5EF4-FFF2-40B4-BE49-F238E27FC236}">
                <a16:creationId xmlns:a16="http://schemas.microsoft.com/office/drawing/2014/main" id="{719C84C3-C484-477F-BCE3-D71A2724A8CF}"/>
              </a:ext>
            </a:extLst>
          </p:cNvPr>
          <p:cNvSpPr txBox="1"/>
          <p:nvPr/>
        </p:nvSpPr>
        <p:spPr>
          <a:xfrm>
            <a:off x="8304086" y="6062855"/>
            <a:ext cx="1188720" cy="369332"/>
          </a:xfrm>
          <a:prstGeom prst="rect">
            <a:avLst/>
          </a:prstGeom>
          <a:noFill/>
        </p:spPr>
        <p:txBody>
          <a:bodyPr wrap="square" rtlCol="0">
            <a:spAutoFit/>
          </a:bodyPr>
          <a:lstStyle/>
          <a:p>
            <a:r>
              <a:rPr lang="es-AR" b="1" dirty="0"/>
              <a:t>1 – M%</a:t>
            </a:r>
          </a:p>
        </p:txBody>
      </p:sp>
      <p:cxnSp>
        <p:nvCxnSpPr>
          <p:cNvPr id="20" name="Conector recto 19">
            <a:extLst>
              <a:ext uri="{FF2B5EF4-FFF2-40B4-BE49-F238E27FC236}">
                <a16:creationId xmlns:a16="http://schemas.microsoft.com/office/drawing/2014/main" id="{043684B9-E4A2-4E8E-BB41-AD6F15469DDE}"/>
              </a:ext>
            </a:extLst>
          </p:cNvPr>
          <p:cNvCxnSpPr/>
          <p:nvPr/>
        </p:nvCxnSpPr>
        <p:spPr>
          <a:xfrm>
            <a:off x="8348472" y="5985804"/>
            <a:ext cx="758952"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0642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B73301-6786-4866-A74A-31B2279EC600}"/>
              </a:ext>
            </a:extLst>
          </p:cNvPr>
          <p:cNvSpPr>
            <a:spLocks noGrp="1"/>
          </p:cNvSpPr>
          <p:nvPr>
            <p:ph type="title"/>
          </p:nvPr>
        </p:nvSpPr>
        <p:spPr/>
        <p:txBody>
          <a:bodyPr/>
          <a:lstStyle/>
          <a:p>
            <a:r>
              <a:rPr lang="es-AR" b="1" dirty="0"/>
              <a:t>CALCULO DE LA MATERIA PRIMA</a:t>
            </a:r>
            <a:endParaRPr lang="es-AR" dirty="0"/>
          </a:p>
        </p:txBody>
      </p:sp>
      <p:sp>
        <p:nvSpPr>
          <p:cNvPr id="3" name="Marcador de número de diapositiva 2">
            <a:extLst>
              <a:ext uri="{FF2B5EF4-FFF2-40B4-BE49-F238E27FC236}">
                <a16:creationId xmlns:a16="http://schemas.microsoft.com/office/drawing/2014/main" id="{FF0E3B00-0612-4A44-A621-77DBD3A78552}"/>
              </a:ext>
            </a:extLst>
          </p:cNvPr>
          <p:cNvSpPr>
            <a:spLocks noGrp="1"/>
          </p:cNvSpPr>
          <p:nvPr>
            <p:ph type="sldNum" sz="quarter" idx="12"/>
          </p:nvPr>
        </p:nvSpPr>
        <p:spPr/>
        <p:txBody>
          <a:bodyPr/>
          <a:lstStyle/>
          <a:p>
            <a:fld id="{D57F1E4F-1CFF-5643-939E-217C01CDF565}" type="slidenum">
              <a:rPr lang="en-US" smtClean="0"/>
              <a:pPr/>
              <a:t>13</a:t>
            </a:fld>
            <a:endParaRPr lang="en-US" dirty="0"/>
          </a:p>
        </p:txBody>
      </p:sp>
      <p:sp>
        <p:nvSpPr>
          <p:cNvPr id="5" name="Rectángulo 4">
            <a:extLst>
              <a:ext uri="{FF2B5EF4-FFF2-40B4-BE49-F238E27FC236}">
                <a16:creationId xmlns:a16="http://schemas.microsoft.com/office/drawing/2014/main" id="{8011C7C8-0958-4E2A-A599-A93A5D87BBB7}"/>
              </a:ext>
            </a:extLst>
          </p:cNvPr>
          <p:cNvSpPr/>
          <p:nvPr/>
        </p:nvSpPr>
        <p:spPr>
          <a:xfrm>
            <a:off x="2938272" y="2263572"/>
            <a:ext cx="6096000" cy="4247317"/>
          </a:xfrm>
          <a:prstGeom prst="rect">
            <a:avLst/>
          </a:prstGeom>
        </p:spPr>
        <p:txBody>
          <a:bodyPr>
            <a:spAutoFit/>
          </a:bodyPr>
          <a:lstStyle/>
          <a:p>
            <a:r>
              <a:rPr lang="es-AR" b="1" dirty="0">
                <a:solidFill>
                  <a:srgbClr val="000000"/>
                </a:solidFill>
                <a:latin typeface="Calibri" panose="020F0502020204030204" pitchFamily="34" charset="0"/>
              </a:rPr>
              <a:t>PROCESO 1	</a:t>
            </a:r>
            <a:r>
              <a:rPr lang="es-AR" dirty="0">
                <a:solidFill>
                  <a:srgbClr val="000000"/>
                </a:solidFill>
                <a:latin typeface="Calibri" panose="020F0502020204030204" pitchFamily="34" charset="0"/>
              </a:rPr>
              <a:t>						</a:t>
            </a:r>
          </a:p>
          <a:p>
            <a:r>
              <a:rPr lang="es-AR" b="1" dirty="0">
                <a:solidFill>
                  <a:srgbClr val="000000"/>
                </a:solidFill>
                <a:latin typeface="Calibri" panose="020F0502020204030204" pitchFamily="34" charset="0"/>
              </a:rPr>
              <a:t>Encuentro el R1	</a:t>
            </a:r>
            <a:r>
              <a:rPr lang="es-AR" dirty="0">
                <a:solidFill>
                  <a:srgbClr val="000000"/>
                </a:solidFill>
                <a:latin typeface="Calibri" panose="020F0502020204030204" pitchFamily="34" charset="0"/>
              </a:rPr>
              <a:t>						</a:t>
            </a:r>
          </a:p>
          <a:p>
            <a:r>
              <a:rPr lang="es-ES" dirty="0">
                <a:solidFill>
                  <a:srgbClr val="000000"/>
                </a:solidFill>
                <a:latin typeface="Calibri" panose="020F0502020204030204" pitchFamily="34" charset="0"/>
              </a:rPr>
              <a:t>100	      125	 entonces	  125 - 100  =	25 kg			</a:t>
            </a:r>
          </a:p>
          <a:p>
            <a:r>
              <a:rPr lang="es-AR" dirty="0">
                <a:solidFill>
                  <a:srgbClr val="000000"/>
                </a:solidFill>
                <a:latin typeface="Calibri" panose="020F0502020204030204" pitchFamily="34" charset="0"/>
              </a:rPr>
              <a:t>0,8							</a:t>
            </a:r>
          </a:p>
          <a:p>
            <a:r>
              <a:rPr lang="es-AR" dirty="0">
                <a:solidFill>
                  <a:srgbClr val="000000"/>
                </a:solidFill>
                <a:latin typeface="Calibri" panose="020F0502020204030204" pitchFamily="34" charset="0"/>
              </a:rPr>
              <a:t>							</a:t>
            </a:r>
          </a:p>
          <a:p>
            <a:r>
              <a:rPr lang="es-AR" b="1" dirty="0">
                <a:solidFill>
                  <a:srgbClr val="000000"/>
                </a:solidFill>
                <a:latin typeface="Calibri" panose="020F0502020204030204" pitchFamily="34" charset="0"/>
              </a:rPr>
              <a:t>Encuentro la M1	</a:t>
            </a:r>
            <a:r>
              <a:rPr lang="es-AR" dirty="0">
                <a:solidFill>
                  <a:srgbClr val="000000"/>
                </a:solidFill>
                <a:latin typeface="Calibri" panose="020F0502020204030204" pitchFamily="34" charset="0"/>
              </a:rPr>
              <a:t>						</a:t>
            </a:r>
          </a:p>
          <a:p>
            <a:r>
              <a:rPr lang="es-ES" dirty="0">
                <a:solidFill>
                  <a:srgbClr val="000000"/>
                </a:solidFill>
                <a:latin typeface="Calibri" panose="020F0502020204030204" pitchFamily="34" charset="0"/>
              </a:rPr>
              <a:t>125	      135,87	entonces	135,87 - 125 =	10,87 kg		</a:t>
            </a:r>
            <a:r>
              <a:rPr lang="es-AR" dirty="0">
                <a:solidFill>
                  <a:srgbClr val="000000"/>
                </a:solidFill>
                <a:latin typeface="Calibri" panose="020F0502020204030204" pitchFamily="34" charset="0"/>
              </a:rPr>
              <a:t> 0,92 </a:t>
            </a:r>
            <a:r>
              <a:rPr lang="es-ES" dirty="0">
                <a:solidFill>
                  <a:srgbClr val="000000"/>
                </a:solidFill>
                <a:latin typeface="Calibri" panose="020F0502020204030204" pitchFamily="34" charset="0"/>
              </a:rPr>
              <a:t>	</a:t>
            </a:r>
          </a:p>
          <a:p>
            <a:r>
              <a:rPr lang="es-AR" dirty="0">
                <a:solidFill>
                  <a:srgbClr val="000000"/>
                </a:solidFill>
                <a:latin typeface="Calibri" panose="020F0502020204030204" pitchFamily="34" charset="0"/>
              </a:rPr>
              <a:t>					</a:t>
            </a:r>
          </a:p>
          <a:p>
            <a:r>
              <a:rPr lang="es-AR" dirty="0">
                <a:solidFill>
                  <a:srgbClr val="000000"/>
                </a:solidFill>
                <a:latin typeface="Calibri" panose="020F0502020204030204" pitchFamily="34" charset="0"/>
              </a:rPr>
              <a:t>						</a:t>
            </a:r>
          </a:p>
          <a:p>
            <a:r>
              <a:rPr lang="es-AR" dirty="0">
                <a:solidFill>
                  <a:srgbClr val="000000"/>
                </a:solidFill>
                <a:latin typeface="Calibri" panose="020F0502020204030204" pitchFamily="34" charset="0"/>
              </a:rPr>
              <a:t>Resumiendo:							</a:t>
            </a:r>
          </a:p>
          <a:p>
            <a:r>
              <a:rPr lang="es-AR" dirty="0">
                <a:solidFill>
                  <a:srgbClr val="000000"/>
                </a:solidFill>
                <a:latin typeface="Calibri" panose="020F0502020204030204" pitchFamily="34" charset="0"/>
              </a:rPr>
              <a:t>							</a:t>
            </a:r>
          </a:p>
          <a:p>
            <a:r>
              <a:rPr lang="es-ES" dirty="0">
                <a:solidFill>
                  <a:srgbClr val="000000"/>
                </a:solidFill>
                <a:latin typeface="Calibri" panose="020F0502020204030204" pitchFamily="34" charset="0"/>
              </a:rPr>
              <a:t>M1=	10,87	kg	Y1=	135,87	kg		</a:t>
            </a:r>
          </a:p>
          <a:p>
            <a:r>
              <a:rPr lang="es-AR" dirty="0">
                <a:solidFill>
                  <a:srgbClr val="000000"/>
                </a:solidFill>
                <a:latin typeface="Calibri" panose="020F0502020204030204" pitchFamily="34" charset="0"/>
              </a:rPr>
              <a:t>R1=	25	kg					</a:t>
            </a:r>
          </a:p>
          <a:p>
            <a:r>
              <a:rPr lang="es-AR" dirty="0">
                <a:solidFill>
                  <a:srgbClr val="000000"/>
                </a:solidFill>
                <a:latin typeface="Calibri" panose="020F0502020204030204" pitchFamily="34" charset="0"/>
              </a:rPr>
              <a:t>							</a:t>
            </a:r>
          </a:p>
        </p:txBody>
      </p:sp>
      <p:cxnSp>
        <p:nvCxnSpPr>
          <p:cNvPr id="7" name="Conector recto 6">
            <a:extLst>
              <a:ext uri="{FF2B5EF4-FFF2-40B4-BE49-F238E27FC236}">
                <a16:creationId xmlns:a16="http://schemas.microsoft.com/office/drawing/2014/main" id="{B5FD1490-170D-44F8-A8A0-D18740D6D9C8}"/>
              </a:ext>
            </a:extLst>
          </p:cNvPr>
          <p:cNvCxnSpPr/>
          <p:nvPr/>
        </p:nvCxnSpPr>
        <p:spPr>
          <a:xfrm>
            <a:off x="2938272" y="3127248"/>
            <a:ext cx="5273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B47857E7-2353-4842-90A2-A61B6FDC15A8}"/>
              </a:ext>
            </a:extLst>
          </p:cNvPr>
          <p:cNvCxnSpPr/>
          <p:nvPr/>
        </p:nvCxnSpPr>
        <p:spPr>
          <a:xfrm>
            <a:off x="2938272" y="4248731"/>
            <a:ext cx="527304"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CuadroTexto 8">
            <a:extLst>
              <a:ext uri="{FF2B5EF4-FFF2-40B4-BE49-F238E27FC236}">
                <a16:creationId xmlns:a16="http://schemas.microsoft.com/office/drawing/2014/main" id="{252BD8FD-CF81-4DF7-BC12-D7DB18B7B54F}"/>
              </a:ext>
            </a:extLst>
          </p:cNvPr>
          <p:cNvSpPr txBox="1"/>
          <p:nvPr/>
        </p:nvSpPr>
        <p:spPr>
          <a:xfrm>
            <a:off x="3374136" y="2942582"/>
            <a:ext cx="402336" cy="369332"/>
          </a:xfrm>
          <a:prstGeom prst="rect">
            <a:avLst/>
          </a:prstGeom>
          <a:noFill/>
        </p:spPr>
        <p:txBody>
          <a:bodyPr wrap="square" rtlCol="0">
            <a:spAutoFit/>
          </a:bodyPr>
          <a:lstStyle/>
          <a:p>
            <a:r>
              <a:rPr lang="es-AR" dirty="0"/>
              <a:t>=</a:t>
            </a:r>
          </a:p>
        </p:txBody>
      </p:sp>
      <p:sp>
        <p:nvSpPr>
          <p:cNvPr id="10" name="CuadroTexto 9">
            <a:extLst>
              <a:ext uri="{FF2B5EF4-FFF2-40B4-BE49-F238E27FC236}">
                <a16:creationId xmlns:a16="http://schemas.microsoft.com/office/drawing/2014/main" id="{29D0D654-87C0-47F7-84FF-D4CFA7C7496A}"/>
              </a:ext>
            </a:extLst>
          </p:cNvPr>
          <p:cNvSpPr txBox="1"/>
          <p:nvPr/>
        </p:nvSpPr>
        <p:spPr>
          <a:xfrm>
            <a:off x="3465576" y="4064065"/>
            <a:ext cx="402336" cy="369332"/>
          </a:xfrm>
          <a:prstGeom prst="rect">
            <a:avLst/>
          </a:prstGeom>
          <a:noFill/>
        </p:spPr>
        <p:txBody>
          <a:bodyPr wrap="square" rtlCol="0">
            <a:spAutoFit/>
          </a:bodyPr>
          <a:lstStyle/>
          <a:p>
            <a:r>
              <a:rPr lang="es-AR" dirty="0"/>
              <a:t>=</a:t>
            </a:r>
          </a:p>
        </p:txBody>
      </p:sp>
    </p:spTree>
    <p:extLst>
      <p:ext uri="{BB962C8B-B14F-4D97-AF65-F5344CB8AC3E}">
        <p14:creationId xmlns:p14="http://schemas.microsoft.com/office/powerpoint/2010/main" val="2153083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83C6D0-4295-4BBE-8AA5-B204402B6E11}"/>
              </a:ext>
            </a:extLst>
          </p:cNvPr>
          <p:cNvSpPr>
            <a:spLocks noGrp="1"/>
          </p:cNvSpPr>
          <p:nvPr>
            <p:ph type="title"/>
          </p:nvPr>
        </p:nvSpPr>
        <p:spPr/>
        <p:txBody>
          <a:bodyPr/>
          <a:lstStyle/>
          <a:p>
            <a:r>
              <a:rPr lang="es-AR" b="1" dirty="0"/>
              <a:t>CALCULO DE LA MATERIA PRIMA</a:t>
            </a:r>
            <a:endParaRPr lang="es-AR" dirty="0"/>
          </a:p>
        </p:txBody>
      </p:sp>
      <p:sp>
        <p:nvSpPr>
          <p:cNvPr id="3" name="Marcador de número de diapositiva 2">
            <a:extLst>
              <a:ext uri="{FF2B5EF4-FFF2-40B4-BE49-F238E27FC236}">
                <a16:creationId xmlns:a16="http://schemas.microsoft.com/office/drawing/2014/main" id="{2D928772-288E-4C97-949F-AA4E54B4C517}"/>
              </a:ext>
            </a:extLst>
          </p:cNvPr>
          <p:cNvSpPr>
            <a:spLocks noGrp="1"/>
          </p:cNvSpPr>
          <p:nvPr>
            <p:ph type="sldNum" sz="quarter" idx="12"/>
          </p:nvPr>
        </p:nvSpPr>
        <p:spPr/>
        <p:txBody>
          <a:bodyPr/>
          <a:lstStyle/>
          <a:p>
            <a:fld id="{D57F1E4F-1CFF-5643-939E-217C01CDF565}" type="slidenum">
              <a:rPr lang="en-US" smtClean="0"/>
              <a:pPr/>
              <a:t>14</a:t>
            </a:fld>
            <a:endParaRPr lang="en-US" dirty="0"/>
          </a:p>
        </p:txBody>
      </p:sp>
      <mc:AlternateContent xmlns:mc="http://schemas.openxmlformats.org/markup-compatibility/2006" xmlns:a14="http://schemas.microsoft.com/office/drawing/2010/main">
        <mc:Choice Requires="a14">
          <p:sp>
            <p:nvSpPr>
              <p:cNvPr id="5" name="CuadroTexto 20">
                <a:extLst>
                  <a:ext uri="{FF2B5EF4-FFF2-40B4-BE49-F238E27FC236}">
                    <a16:creationId xmlns:a16="http://schemas.microsoft.com/office/drawing/2014/main" id="{3EBA435E-25B7-4C34-A9F9-EFB9E1A19F52}"/>
                  </a:ext>
                </a:extLst>
              </p:cNvPr>
              <p:cNvSpPr txBox="1"/>
              <p:nvPr/>
            </p:nvSpPr>
            <p:spPr>
              <a:xfrm>
                <a:off x="7069964" y="6925173"/>
                <a:ext cx="98614" cy="169277"/>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s-AR" sz="1100" i="1">
                          <a:latin typeface="Cambria Math" panose="02040503050406030204" pitchFamily="18" charset="0"/>
                          <a:ea typeface="Cambria Math" panose="02040503050406030204" pitchFamily="18" charset="0"/>
                        </a:rPr>
                        <m:t>=</m:t>
                      </m:r>
                    </m:oMath>
                  </m:oMathPara>
                </a14:m>
                <a:endParaRPr lang="es-AR" sz="1100"/>
              </a:p>
            </p:txBody>
          </p:sp>
        </mc:Choice>
        <mc:Fallback xmlns="">
          <p:sp>
            <p:nvSpPr>
              <p:cNvPr id="5" name="CuadroTexto 20">
                <a:extLst>
                  <a:ext uri="{FF2B5EF4-FFF2-40B4-BE49-F238E27FC236}">
                    <a16:creationId xmlns:a16="http://schemas.microsoft.com/office/drawing/2014/main" id="{3EBA435E-25B7-4C34-A9F9-EFB9E1A19F52}"/>
                  </a:ext>
                </a:extLst>
              </p:cNvPr>
              <p:cNvSpPr txBox="1">
                <a:spLocks noRot="1" noChangeAspect="1" noMove="1" noResize="1" noEditPoints="1" noAdjustHandles="1" noChangeArrowheads="1" noChangeShapeType="1" noTextEdit="1"/>
              </p:cNvSpPr>
              <p:nvPr/>
            </p:nvSpPr>
            <p:spPr>
              <a:xfrm>
                <a:off x="7069964" y="6925173"/>
                <a:ext cx="98614" cy="169277"/>
              </a:xfrm>
              <a:prstGeom prst="rect">
                <a:avLst/>
              </a:prstGeom>
              <a:blipFill>
                <a:blip r:embed="rId2"/>
                <a:stretch>
                  <a:fillRect l="-37500" r="-3750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6" name="CuadroTexto 21">
                <a:extLst>
                  <a:ext uri="{FF2B5EF4-FFF2-40B4-BE49-F238E27FC236}">
                    <a16:creationId xmlns:a16="http://schemas.microsoft.com/office/drawing/2014/main" id="{01CE06E6-3BB1-40D5-945D-6A9125C3B580}"/>
                  </a:ext>
                </a:extLst>
              </p:cNvPr>
              <p:cNvSpPr txBox="1"/>
              <p:nvPr/>
            </p:nvSpPr>
            <p:spPr>
              <a:xfrm>
                <a:off x="9175121" y="6919593"/>
                <a:ext cx="698519" cy="169277"/>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s-AR" sz="1100" i="1">
                          <a:latin typeface="Cambria Math" panose="02040503050406030204" pitchFamily="18" charset="0"/>
                          <a:ea typeface="Cambria Math" panose="02040503050406030204" pitchFamily="18" charset="0"/>
                        </a:rPr>
                        <m:t>=</m:t>
                      </m:r>
                    </m:oMath>
                  </m:oMathPara>
                </a14:m>
                <a:endParaRPr lang="es-AR" sz="1100"/>
              </a:p>
            </p:txBody>
          </p:sp>
        </mc:Choice>
        <mc:Fallback xmlns="">
          <p:sp>
            <p:nvSpPr>
              <p:cNvPr id="6" name="CuadroTexto 21">
                <a:extLst>
                  <a:ext uri="{FF2B5EF4-FFF2-40B4-BE49-F238E27FC236}">
                    <a16:creationId xmlns:a16="http://schemas.microsoft.com/office/drawing/2014/main" id="{01CE06E6-3BB1-40D5-945D-6A9125C3B580}"/>
                  </a:ext>
                </a:extLst>
              </p:cNvPr>
              <p:cNvSpPr txBox="1">
                <a:spLocks noRot="1" noChangeAspect="1" noMove="1" noResize="1" noEditPoints="1" noAdjustHandles="1" noChangeArrowheads="1" noChangeShapeType="1" noTextEdit="1"/>
              </p:cNvSpPr>
              <p:nvPr/>
            </p:nvSpPr>
            <p:spPr>
              <a:xfrm>
                <a:off x="9175121" y="6919593"/>
                <a:ext cx="698519" cy="169277"/>
              </a:xfrm>
              <a:prstGeom prst="rect">
                <a:avLst/>
              </a:prstGeom>
              <a:blipFill>
                <a:blip r:embed="rId3"/>
                <a:stretch>
                  <a:fillRect/>
                </a:stretch>
              </a:blipFill>
            </p:spPr>
            <p:txBody>
              <a:bodyPr/>
              <a:lstStyle/>
              <a:p>
                <a:r>
                  <a:rPr lang="es-AR">
                    <a:noFill/>
                  </a:rPr>
                  <a:t> </a:t>
                </a:r>
              </a:p>
            </p:txBody>
          </p:sp>
        </mc:Fallback>
      </mc:AlternateContent>
      <p:sp>
        <p:nvSpPr>
          <p:cNvPr id="7" name="Rectángulo 6">
            <a:extLst>
              <a:ext uri="{FF2B5EF4-FFF2-40B4-BE49-F238E27FC236}">
                <a16:creationId xmlns:a16="http://schemas.microsoft.com/office/drawing/2014/main" id="{34548CC3-F51F-4291-8942-70A23E1A9972}"/>
              </a:ext>
            </a:extLst>
          </p:cNvPr>
          <p:cNvSpPr/>
          <p:nvPr/>
        </p:nvSpPr>
        <p:spPr>
          <a:xfrm>
            <a:off x="2962656" y="2236690"/>
            <a:ext cx="7312152" cy="4524315"/>
          </a:xfrm>
          <a:prstGeom prst="rect">
            <a:avLst/>
          </a:prstGeom>
        </p:spPr>
        <p:txBody>
          <a:bodyPr wrap="square">
            <a:spAutoFit/>
          </a:bodyPr>
          <a:lstStyle/>
          <a:p>
            <a:r>
              <a:rPr lang="es-AR" b="1" dirty="0">
                <a:solidFill>
                  <a:srgbClr val="000000"/>
                </a:solidFill>
                <a:latin typeface="Calibri" panose="020F0502020204030204" pitchFamily="34" charset="0"/>
              </a:rPr>
              <a:t>PROCESO 2	</a:t>
            </a:r>
            <a:r>
              <a:rPr lang="es-AR" dirty="0">
                <a:solidFill>
                  <a:srgbClr val="000000"/>
                </a:solidFill>
                <a:latin typeface="Calibri" panose="020F0502020204030204" pitchFamily="34" charset="0"/>
              </a:rPr>
              <a:t>						</a:t>
            </a:r>
          </a:p>
          <a:p>
            <a:r>
              <a:rPr lang="es-AR" b="1" dirty="0">
                <a:solidFill>
                  <a:srgbClr val="000000"/>
                </a:solidFill>
                <a:latin typeface="Calibri" panose="020F0502020204030204" pitchFamily="34" charset="0"/>
              </a:rPr>
              <a:t>Encuentro el R2	</a:t>
            </a:r>
            <a:r>
              <a:rPr lang="es-AR" dirty="0">
                <a:solidFill>
                  <a:srgbClr val="000000"/>
                </a:solidFill>
                <a:latin typeface="Calibri" panose="020F0502020204030204" pitchFamily="34" charset="0"/>
              </a:rPr>
              <a:t>						</a:t>
            </a:r>
          </a:p>
          <a:p>
            <a:r>
              <a:rPr lang="es-ES" dirty="0">
                <a:solidFill>
                  <a:srgbClr val="000000"/>
                </a:solidFill>
                <a:latin typeface="Calibri" panose="020F0502020204030204" pitchFamily="34" charset="0"/>
              </a:rPr>
              <a:t>135,87	      147,68 kg	 entonces	  147,68 kg – 135,87 kg  =  11,81 kg	</a:t>
            </a:r>
          </a:p>
          <a:p>
            <a:r>
              <a:rPr lang="es-ES" dirty="0">
                <a:solidFill>
                  <a:srgbClr val="000000"/>
                </a:solidFill>
                <a:latin typeface="Calibri" panose="020F0502020204030204" pitchFamily="34" charset="0"/>
              </a:rPr>
              <a:t>0,92	</a:t>
            </a:r>
          </a:p>
          <a:p>
            <a:r>
              <a:rPr lang="es-AR" dirty="0">
                <a:solidFill>
                  <a:srgbClr val="000000"/>
                </a:solidFill>
                <a:latin typeface="Calibri" panose="020F0502020204030204" pitchFamily="34" charset="0"/>
              </a:rPr>
              <a:t>							</a:t>
            </a:r>
          </a:p>
          <a:p>
            <a:r>
              <a:rPr lang="es-AR" dirty="0">
                <a:solidFill>
                  <a:srgbClr val="000000"/>
                </a:solidFill>
                <a:latin typeface="Calibri" panose="020F0502020204030204" pitchFamily="34" charset="0"/>
              </a:rPr>
              <a:t>							</a:t>
            </a:r>
          </a:p>
          <a:p>
            <a:r>
              <a:rPr lang="es-AR" b="1" dirty="0">
                <a:solidFill>
                  <a:srgbClr val="000000"/>
                </a:solidFill>
                <a:latin typeface="Calibri" panose="020F0502020204030204" pitchFamily="34" charset="0"/>
              </a:rPr>
              <a:t>Encuentro la M2	</a:t>
            </a:r>
            <a:r>
              <a:rPr lang="es-AR" dirty="0">
                <a:solidFill>
                  <a:srgbClr val="000000"/>
                </a:solidFill>
                <a:latin typeface="Calibri" panose="020F0502020204030204" pitchFamily="34" charset="0"/>
              </a:rPr>
              <a:t>						</a:t>
            </a:r>
          </a:p>
          <a:p>
            <a:r>
              <a:rPr lang="es-ES" dirty="0">
                <a:solidFill>
                  <a:srgbClr val="000000"/>
                </a:solidFill>
                <a:latin typeface="Calibri" panose="020F0502020204030204" pitchFamily="34" charset="0"/>
              </a:rPr>
              <a:t>147,68	      152,25 kg	entonces	152,25 – 147,68 =	4,57 kg		</a:t>
            </a:r>
            <a:r>
              <a:rPr lang="es-AR" dirty="0">
                <a:solidFill>
                  <a:srgbClr val="000000"/>
                </a:solidFill>
                <a:latin typeface="Calibri" panose="020F0502020204030204" pitchFamily="34" charset="0"/>
              </a:rPr>
              <a:t> </a:t>
            </a:r>
          </a:p>
          <a:p>
            <a:r>
              <a:rPr lang="es-AR" dirty="0">
                <a:solidFill>
                  <a:srgbClr val="000000"/>
                </a:solidFill>
                <a:latin typeface="Calibri" panose="020F0502020204030204" pitchFamily="34" charset="0"/>
              </a:rPr>
              <a:t>0,97 </a:t>
            </a:r>
            <a:r>
              <a:rPr lang="es-ES" dirty="0">
                <a:solidFill>
                  <a:srgbClr val="000000"/>
                </a:solidFill>
                <a:latin typeface="Calibri" panose="020F0502020204030204" pitchFamily="34" charset="0"/>
              </a:rPr>
              <a:t>	</a:t>
            </a:r>
          </a:p>
          <a:p>
            <a:r>
              <a:rPr lang="es-AR" dirty="0">
                <a:solidFill>
                  <a:srgbClr val="000000"/>
                </a:solidFill>
                <a:latin typeface="Calibri" panose="020F0502020204030204" pitchFamily="34" charset="0"/>
              </a:rPr>
              <a:t>					</a:t>
            </a:r>
          </a:p>
          <a:p>
            <a:r>
              <a:rPr lang="es-AR" dirty="0">
                <a:solidFill>
                  <a:srgbClr val="000000"/>
                </a:solidFill>
                <a:latin typeface="Calibri" panose="020F0502020204030204" pitchFamily="34" charset="0"/>
              </a:rPr>
              <a:t>						</a:t>
            </a:r>
          </a:p>
          <a:p>
            <a:r>
              <a:rPr lang="es-AR" dirty="0">
                <a:solidFill>
                  <a:srgbClr val="000000"/>
                </a:solidFill>
                <a:latin typeface="Calibri" panose="020F0502020204030204" pitchFamily="34" charset="0"/>
              </a:rPr>
              <a:t>Resumiendo:							</a:t>
            </a:r>
          </a:p>
          <a:p>
            <a:r>
              <a:rPr lang="es-AR" dirty="0">
                <a:solidFill>
                  <a:srgbClr val="000000"/>
                </a:solidFill>
                <a:latin typeface="Calibri" panose="020F0502020204030204" pitchFamily="34" charset="0"/>
              </a:rPr>
              <a:t>							</a:t>
            </a:r>
          </a:p>
          <a:p>
            <a:r>
              <a:rPr lang="es-ES" dirty="0">
                <a:solidFill>
                  <a:srgbClr val="000000"/>
                </a:solidFill>
                <a:latin typeface="Calibri" panose="020F0502020204030204" pitchFamily="34" charset="0"/>
              </a:rPr>
              <a:t>M2 =4,57	kg	Y2=	152,25	kg		</a:t>
            </a:r>
          </a:p>
          <a:p>
            <a:r>
              <a:rPr lang="es-AR" dirty="0">
                <a:solidFill>
                  <a:srgbClr val="000000"/>
                </a:solidFill>
                <a:latin typeface="Calibri" panose="020F0502020204030204" pitchFamily="34" charset="0"/>
              </a:rPr>
              <a:t>R2=	11,81kg					</a:t>
            </a:r>
          </a:p>
          <a:p>
            <a:r>
              <a:rPr lang="es-AR" dirty="0">
                <a:solidFill>
                  <a:srgbClr val="000000"/>
                </a:solidFill>
                <a:latin typeface="Calibri" panose="020F0502020204030204" pitchFamily="34" charset="0"/>
              </a:rPr>
              <a:t>							</a:t>
            </a:r>
          </a:p>
        </p:txBody>
      </p:sp>
      <mc:AlternateContent xmlns:mc="http://schemas.openxmlformats.org/markup-compatibility/2006" xmlns:a14="http://schemas.microsoft.com/office/drawing/2010/main">
        <mc:Choice Requires="a14">
          <p:sp>
            <p:nvSpPr>
              <p:cNvPr id="9" name="CuadroTexto 20">
                <a:extLst>
                  <a:ext uri="{FF2B5EF4-FFF2-40B4-BE49-F238E27FC236}">
                    <a16:creationId xmlns:a16="http://schemas.microsoft.com/office/drawing/2014/main" id="{3EBA435E-25B7-4C34-A9F9-EFB9E1A19F52}"/>
                  </a:ext>
                </a:extLst>
              </p:cNvPr>
              <p:cNvSpPr txBox="1"/>
              <p:nvPr/>
            </p:nvSpPr>
            <p:spPr>
              <a:xfrm>
                <a:off x="10095769" y="4854322"/>
                <a:ext cx="76200" cy="171450"/>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s-AR" sz="1100" i="1">
                          <a:latin typeface="Cambria Math" panose="02040503050406030204" pitchFamily="18" charset="0"/>
                          <a:ea typeface="Cambria Math" panose="02040503050406030204" pitchFamily="18" charset="0"/>
                        </a:rPr>
                        <m:t>=</m:t>
                      </m:r>
                    </m:oMath>
                  </m:oMathPara>
                </a14:m>
                <a:endParaRPr lang="es-AR" sz="1100"/>
              </a:p>
            </p:txBody>
          </p:sp>
        </mc:Choice>
        <mc:Fallback xmlns="">
          <p:sp>
            <p:nvSpPr>
              <p:cNvPr id="9" name="CuadroTexto 20">
                <a:extLst>
                  <a:ext uri="{FF2B5EF4-FFF2-40B4-BE49-F238E27FC236}">
                    <a16:creationId xmlns:a16="http://schemas.microsoft.com/office/drawing/2014/main" id="{3EBA435E-25B7-4C34-A9F9-EFB9E1A19F52}"/>
                  </a:ext>
                </a:extLst>
              </p:cNvPr>
              <p:cNvSpPr txBox="1">
                <a:spLocks noRot="1" noChangeAspect="1" noMove="1" noResize="1" noEditPoints="1" noAdjustHandles="1" noChangeArrowheads="1" noChangeShapeType="1" noTextEdit="1"/>
              </p:cNvSpPr>
              <p:nvPr/>
            </p:nvSpPr>
            <p:spPr>
              <a:xfrm>
                <a:off x="10095769" y="4854322"/>
                <a:ext cx="76200" cy="171450"/>
              </a:xfrm>
              <a:prstGeom prst="rect">
                <a:avLst/>
              </a:prstGeom>
              <a:blipFill>
                <a:blip r:embed="rId4"/>
                <a:stretch>
                  <a:fillRect l="-38462" r="-7692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0" name="CuadroTexto 21">
                <a:extLst>
                  <a:ext uri="{FF2B5EF4-FFF2-40B4-BE49-F238E27FC236}">
                    <a16:creationId xmlns:a16="http://schemas.microsoft.com/office/drawing/2014/main" id="{01CE06E6-3BB1-40D5-945D-6A9125C3B580}"/>
                  </a:ext>
                </a:extLst>
              </p:cNvPr>
              <p:cNvSpPr txBox="1"/>
              <p:nvPr/>
            </p:nvSpPr>
            <p:spPr>
              <a:xfrm>
                <a:off x="12321444" y="4849560"/>
                <a:ext cx="539750" cy="173037"/>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s-AR" sz="1100" i="1">
                          <a:latin typeface="Cambria Math" panose="02040503050406030204" pitchFamily="18" charset="0"/>
                          <a:ea typeface="Cambria Math" panose="02040503050406030204" pitchFamily="18" charset="0"/>
                        </a:rPr>
                        <m:t>=</m:t>
                      </m:r>
                    </m:oMath>
                  </m:oMathPara>
                </a14:m>
                <a:endParaRPr lang="es-AR" sz="1100"/>
              </a:p>
            </p:txBody>
          </p:sp>
        </mc:Choice>
        <mc:Fallback xmlns="">
          <p:sp>
            <p:nvSpPr>
              <p:cNvPr id="10" name="CuadroTexto 21">
                <a:extLst>
                  <a:ext uri="{FF2B5EF4-FFF2-40B4-BE49-F238E27FC236}">
                    <a16:creationId xmlns:a16="http://schemas.microsoft.com/office/drawing/2014/main" id="{01CE06E6-3BB1-40D5-945D-6A9125C3B580}"/>
                  </a:ext>
                </a:extLst>
              </p:cNvPr>
              <p:cNvSpPr txBox="1">
                <a:spLocks noRot="1" noChangeAspect="1" noMove="1" noResize="1" noEditPoints="1" noAdjustHandles="1" noChangeArrowheads="1" noChangeShapeType="1" noTextEdit="1"/>
              </p:cNvSpPr>
              <p:nvPr/>
            </p:nvSpPr>
            <p:spPr>
              <a:xfrm>
                <a:off x="12321444" y="4849560"/>
                <a:ext cx="539750" cy="173037"/>
              </a:xfrm>
              <a:prstGeom prst="rect">
                <a:avLst/>
              </a:prstGeom>
              <a:blipFill>
                <a:blip r:embed="rId5"/>
                <a:stretch>
                  <a:fillRect/>
                </a:stretch>
              </a:blipFill>
            </p:spPr>
            <p:txBody>
              <a:bodyPr/>
              <a:lstStyle/>
              <a:p>
                <a:r>
                  <a:rPr lang="es-AR">
                    <a:noFill/>
                  </a:rPr>
                  <a:t> </a:t>
                </a:r>
              </a:p>
            </p:txBody>
          </p:sp>
        </mc:Fallback>
      </mc:AlternateContent>
      <p:cxnSp>
        <p:nvCxnSpPr>
          <p:cNvPr id="12" name="Conector recto 11">
            <a:extLst>
              <a:ext uri="{FF2B5EF4-FFF2-40B4-BE49-F238E27FC236}">
                <a16:creationId xmlns:a16="http://schemas.microsoft.com/office/drawing/2014/main" id="{79B81802-9C1D-4F26-901F-A9F3CB28EB2F}"/>
              </a:ext>
            </a:extLst>
          </p:cNvPr>
          <p:cNvCxnSpPr/>
          <p:nvPr/>
        </p:nvCxnSpPr>
        <p:spPr>
          <a:xfrm>
            <a:off x="2953512" y="3118104"/>
            <a:ext cx="8321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4C9A7A10-18B0-471E-8CFE-1B9937B5C458}"/>
              </a:ext>
            </a:extLst>
          </p:cNvPr>
          <p:cNvCxnSpPr/>
          <p:nvPr/>
        </p:nvCxnSpPr>
        <p:spPr>
          <a:xfrm>
            <a:off x="2953512" y="4498848"/>
            <a:ext cx="832104"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CuadroTexto 13">
            <a:extLst>
              <a:ext uri="{FF2B5EF4-FFF2-40B4-BE49-F238E27FC236}">
                <a16:creationId xmlns:a16="http://schemas.microsoft.com/office/drawing/2014/main" id="{EFC50A55-0BC7-42B5-ABCF-7D660EC1F538}"/>
              </a:ext>
            </a:extLst>
          </p:cNvPr>
          <p:cNvSpPr txBox="1"/>
          <p:nvPr/>
        </p:nvSpPr>
        <p:spPr>
          <a:xfrm>
            <a:off x="3896058" y="4314181"/>
            <a:ext cx="283464" cy="369332"/>
          </a:xfrm>
          <a:prstGeom prst="rect">
            <a:avLst/>
          </a:prstGeom>
          <a:noFill/>
        </p:spPr>
        <p:txBody>
          <a:bodyPr wrap="square" rtlCol="0">
            <a:spAutoFit/>
          </a:bodyPr>
          <a:lstStyle/>
          <a:p>
            <a:r>
              <a:rPr lang="es-AR" dirty="0"/>
              <a:t>=</a:t>
            </a:r>
          </a:p>
        </p:txBody>
      </p:sp>
      <p:sp>
        <p:nvSpPr>
          <p:cNvPr id="15" name="CuadroTexto 14">
            <a:extLst>
              <a:ext uri="{FF2B5EF4-FFF2-40B4-BE49-F238E27FC236}">
                <a16:creationId xmlns:a16="http://schemas.microsoft.com/office/drawing/2014/main" id="{C7D589EE-C670-4A06-861A-5C2D169FD8FF}"/>
              </a:ext>
            </a:extLst>
          </p:cNvPr>
          <p:cNvSpPr txBox="1"/>
          <p:nvPr/>
        </p:nvSpPr>
        <p:spPr>
          <a:xfrm>
            <a:off x="3896058" y="2933438"/>
            <a:ext cx="283464" cy="369332"/>
          </a:xfrm>
          <a:prstGeom prst="rect">
            <a:avLst/>
          </a:prstGeom>
          <a:noFill/>
        </p:spPr>
        <p:txBody>
          <a:bodyPr wrap="square" rtlCol="0">
            <a:spAutoFit/>
          </a:bodyPr>
          <a:lstStyle/>
          <a:p>
            <a:r>
              <a:rPr lang="es-AR" dirty="0"/>
              <a:t>=</a:t>
            </a:r>
          </a:p>
        </p:txBody>
      </p:sp>
    </p:spTree>
    <p:extLst>
      <p:ext uri="{BB962C8B-B14F-4D97-AF65-F5344CB8AC3E}">
        <p14:creationId xmlns:p14="http://schemas.microsoft.com/office/powerpoint/2010/main" val="30632189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83C6D0-4295-4BBE-8AA5-B204402B6E11}"/>
              </a:ext>
            </a:extLst>
          </p:cNvPr>
          <p:cNvSpPr>
            <a:spLocks noGrp="1"/>
          </p:cNvSpPr>
          <p:nvPr>
            <p:ph type="title"/>
          </p:nvPr>
        </p:nvSpPr>
        <p:spPr/>
        <p:txBody>
          <a:bodyPr/>
          <a:lstStyle/>
          <a:p>
            <a:r>
              <a:rPr lang="es-AR" b="1" dirty="0"/>
              <a:t>CALCULO DE LA MATERIA PRIMA</a:t>
            </a:r>
            <a:endParaRPr lang="es-AR" dirty="0"/>
          </a:p>
        </p:txBody>
      </p:sp>
      <p:sp>
        <p:nvSpPr>
          <p:cNvPr id="3" name="Marcador de número de diapositiva 2">
            <a:extLst>
              <a:ext uri="{FF2B5EF4-FFF2-40B4-BE49-F238E27FC236}">
                <a16:creationId xmlns:a16="http://schemas.microsoft.com/office/drawing/2014/main" id="{2D928772-288E-4C97-949F-AA4E54B4C517}"/>
              </a:ext>
            </a:extLst>
          </p:cNvPr>
          <p:cNvSpPr>
            <a:spLocks noGrp="1"/>
          </p:cNvSpPr>
          <p:nvPr>
            <p:ph type="sldNum" sz="quarter" idx="12"/>
          </p:nvPr>
        </p:nvSpPr>
        <p:spPr/>
        <p:txBody>
          <a:bodyPr/>
          <a:lstStyle/>
          <a:p>
            <a:fld id="{D57F1E4F-1CFF-5643-939E-217C01CDF565}" type="slidenum">
              <a:rPr lang="en-US" smtClean="0"/>
              <a:pPr/>
              <a:t>15</a:t>
            </a:fld>
            <a:endParaRPr lang="en-US" dirty="0"/>
          </a:p>
        </p:txBody>
      </p:sp>
      <mc:AlternateContent xmlns:mc="http://schemas.openxmlformats.org/markup-compatibility/2006" xmlns:a14="http://schemas.microsoft.com/office/drawing/2010/main">
        <mc:Choice Requires="a14">
          <p:sp>
            <p:nvSpPr>
              <p:cNvPr id="5" name="CuadroTexto 20">
                <a:extLst>
                  <a:ext uri="{FF2B5EF4-FFF2-40B4-BE49-F238E27FC236}">
                    <a16:creationId xmlns:a16="http://schemas.microsoft.com/office/drawing/2014/main" id="{3EBA435E-25B7-4C34-A9F9-EFB9E1A19F52}"/>
                  </a:ext>
                </a:extLst>
              </p:cNvPr>
              <p:cNvSpPr txBox="1"/>
              <p:nvPr/>
            </p:nvSpPr>
            <p:spPr>
              <a:xfrm>
                <a:off x="7069964" y="6925173"/>
                <a:ext cx="98614" cy="169277"/>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s-AR" sz="1100" i="1">
                          <a:latin typeface="Cambria Math" panose="02040503050406030204" pitchFamily="18" charset="0"/>
                          <a:ea typeface="Cambria Math" panose="02040503050406030204" pitchFamily="18" charset="0"/>
                        </a:rPr>
                        <m:t>=</m:t>
                      </m:r>
                    </m:oMath>
                  </m:oMathPara>
                </a14:m>
                <a:endParaRPr lang="es-AR" sz="1100"/>
              </a:p>
            </p:txBody>
          </p:sp>
        </mc:Choice>
        <mc:Fallback xmlns="">
          <p:sp>
            <p:nvSpPr>
              <p:cNvPr id="5" name="CuadroTexto 20">
                <a:extLst>
                  <a:ext uri="{FF2B5EF4-FFF2-40B4-BE49-F238E27FC236}">
                    <a16:creationId xmlns:a16="http://schemas.microsoft.com/office/drawing/2014/main" id="{3EBA435E-25B7-4C34-A9F9-EFB9E1A19F52}"/>
                  </a:ext>
                </a:extLst>
              </p:cNvPr>
              <p:cNvSpPr txBox="1">
                <a:spLocks noRot="1" noChangeAspect="1" noMove="1" noResize="1" noEditPoints="1" noAdjustHandles="1" noChangeArrowheads="1" noChangeShapeType="1" noTextEdit="1"/>
              </p:cNvSpPr>
              <p:nvPr/>
            </p:nvSpPr>
            <p:spPr>
              <a:xfrm>
                <a:off x="7069964" y="6925173"/>
                <a:ext cx="98614" cy="169277"/>
              </a:xfrm>
              <a:prstGeom prst="rect">
                <a:avLst/>
              </a:prstGeom>
              <a:blipFill>
                <a:blip r:embed="rId2"/>
                <a:stretch>
                  <a:fillRect l="-37500" r="-3750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6" name="CuadroTexto 21">
                <a:extLst>
                  <a:ext uri="{FF2B5EF4-FFF2-40B4-BE49-F238E27FC236}">
                    <a16:creationId xmlns:a16="http://schemas.microsoft.com/office/drawing/2014/main" id="{01CE06E6-3BB1-40D5-945D-6A9125C3B580}"/>
                  </a:ext>
                </a:extLst>
              </p:cNvPr>
              <p:cNvSpPr txBox="1"/>
              <p:nvPr/>
            </p:nvSpPr>
            <p:spPr>
              <a:xfrm>
                <a:off x="9175121" y="6919593"/>
                <a:ext cx="698519" cy="169277"/>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s-AR" sz="1100" i="1">
                          <a:latin typeface="Cambria Math" panose="02040503050406030204" pitchFamily="18" charset="0"/>
                          <a:ea typeface="Cambria Math" panose="02040503050406030204" pitchFamily="18" charset="0"/>
                        </a:rPr>
                        <m:t>=</m:t>
                      </m:r>
                    </m:oMath>
                  </m:oMathPara>
                </a14:m>
                <a:endParaRPr lang="es-AR" sz="1100"/>
              </a:p>
            </p:txBody>
          </p:sp>
        </mc:Choice>
        <mc:Fallback xmlns="">
          <p:sp>
            <p:nvSpPr>
              <p:cNvPr id="6" name="CuadroTexto 21">
                <a:extLst>
                  <a:ext uri="{FF2B5EF4-FFF2-40B4-BE49-F238E27FC236}">
                    <a16:creationId xmlns:a16="http://schemas.microsoft.com/office/drawing/2014/main" id="{01CE06E6-3BB1-40D5-945D-6A9125C3B580}"/>
                  </a:ext>
                </a:extLst>
              </p:cNvPr>
              <p:cNvSpPr txBox="1">
                <a:spLocks noRot="1" noChangeAspect="1" noMove="1" noResize="1" noEditPoints="1" noAdjustHandles="1" noChangeArrowheads="1" noChangeShapeType="1" noTextEdit="1"/>
              </p:cNvSpPr>
              <p:nvPr/>
            </p:nvSpPr>
            <p:spPr>
              <a:xfrm>
                <a:off x="9175121" y="6919593"/>
                <a:ext cx="698519" cy="169277"/>
              </a:xfrm>
              <a:prstGeom prst="rect">
                <a:avLst/>
              </a:prstGeom>
              <a:blipFill>
                <a:blip r:embed="rId3"/>
                <a:stretch>
                  <a:fillRect/>
                </a:stretch>
              </a:blipFill>
            </p:spPr>
            <p:txBody>
              <a:bodyPr/>
              <a:lstStyle/>
              <a:p>
                <a:r>
                  <a:rPr lang="es-AR">
                    <a:noFill/>
                  </a:rPr>
                  <a:t> </a:t>
                </a:r>
              </a:p>
            </p:txBody>
          </p:sp>
        </mc:Fallback>
      </mc:AlternateContent>
      <p:sp>
        <p:nvSpPr>
          <p:cNvPr id="7" name="Rectángulo 6">
            <a:extLst>
              <a:ext uri="{FF2B5EF4-FFF2-40B4-BE49-F238E27FC236}">
                <a16:creationId xmlns:a16="http://schemas.microsoft.com/office/drawing/2014/main" id="{34548CC3-F51F-4291-8942-70A23E1A9972}"/>
              </a:ext>
            </a:extLst>
          </p:cNvPr>
          <p:cNvSpPr/>
          <p:nvPr/>
        </p:nvSpPr>
        <p:spPr>
          <a:xfrm>
            <a:off x="2962656" y="2236690"/>
            <a:ext cx="7312152" cy="4524315"/>
          </a:xfrm>
          <a:prstGeom prst="rect">
            <a:avLst/>
          </a:prstGeom>
        </p:spPr>
        <p:txBody>
          <a:bodyPr wrap="square">
            <a:spAutoFit/>
          </a:bodyPr>
          <a:lstStyle/>
          <a:p>
            <a:r>
              <a:rPr lang="es-AR" b="1" dirty="0">
                <a:solidFill>
                  <a:srgbClr val="000000"/>
                </a:solidFill>
                <a:latin typeface="Calibri" panose="020F0502020204030204" pitchFamily="34" charset="0"/>
              </a:rPr>
              <a:t>PROCESO 3	</a:t>
            </a:r>
            <a:r>
              <a:rPr lang="es-AR" dirty="0">
                <a:solidFill>
                  <a:srgbClr val="000000"/>
                </a:solidFill>
                <a:latin typeface="Calibri" panose="020F0502020204030204" pitchFamily="34" charset="0"/>
              </a:rPr>
              <a:t>						</a:t>
            </a:r>
          </a:p>
          <a:p>
            <a:r>
              <a:rPr lang="es-AR" b="1" dirty="0">
                <a:solidFill>
                  <a:srgbClr val="000000"/>
                </a:solidFill>
                <a:latin typeface="Calibri" panose="020F0502020204030204" pitchFamily="34" charset="0"/>
              </a:rPr>
              <a:t>Encuentro el R3	</a:t>
            </a:r>
            <a:r>
              <a:rPr lang="es-AR" dirty="0">
                <a:solidFill>
                  <a:srgbClr val="000000"/>
                </a:solidFill>
                <a:latin typeface="Calibri" panose="020F0502020204030204" pitchFamily="34" charset="0"/>
              </a:rPr>
              <a:t>						</a:t>
            </a:r>
          </a:p>
          <a:p>
            <a:r>
              <a:rPr lang="es-ES" dirty="0">
                <a:solidFill>
                  <a:srgbClr val="000000"/>
                </a:solidFill>
                <a:latin typeface="Calibri" panose="020F0502020204030204" pitchFamily="34" charset="0"/>
              </a:rPr>
              <a:t>152,25	      160,27 kg	 entonces	  160,27 kg – 152,25 kg  =  8,01 kg	</a:t>
            </a:r>
          </a:p>
          <a:p>
            <a:r>
              <a:rPr lang="es-ES" dirty="0">
                <a:solidFill>
                  <a:srgbClr val="000000"/>
                </a:solidFill>
                <a:latin typeface="Calibri" panose="020F0502020204030204" pitchFamily="34" charset="0"/>
              </a:rPr>
              <a:t>0,95	</a:t>
            </a:r>
          </a:p>
          <a:p>
            <a:r>
              <a:rPr lang="es-AR" dirty="0">
                <a:solidFill>
                  <a:srgbClr val="000000"/>
                </a:solidFill>
                <a:latin typeface="Calibri" panose="020F0502020204030204" pitchFamily="34" charset="0"/>
              </a:rPr>
              <a:t>							</a:t>
            </a:r>
          </a:p>
          <a:p>
            <a:r>
              <a:rPr lang="es-AR" dirty="0">
                <a:solidFill>
                  <a:srgbClr val="000000"/>
                </a:solidFill>
                <a:latin typeface="Calibri" panose="020F0502020204030204" pitchFamily="34" charset="0"/>
              </a:rPr>
              <a:t>							</a:t>
            </a:r>
          </a:p>
          <a:p>
            <a:r>
              <a:rPr lang="es-AR" b="1" dirty="0">
                <a:solidFill>
                  <a:srgbClr val="000000"/>
                </a:solidFill>
                <a:latin typeface="Calibri" panose="020F0502020204030204" pitchFamily="34" charset="0"/>
              </a:rPr>
              <a:t>Encuentro la M3	</a:t>
            </a:r>
            <a:r>
              <a:rPr lang="es-AR" dirty="0">
                <a:solidFill>
                  <a:srgbClr val="000000"/>
                </a:solidFill>
                <a:latin typeface="Calibri" panose="020F0502020204030204" pitchFamily="34" charset="0"/>
              </a:rPr>
              <a:t>						</a:t>
            </a:r>
          </a:p>
          <a:p>
            <a:r>
              <a:rPr lang="es-ES" dirty="0">
                <a:solidFill>
                  <a:srgbClr val="000000"/>
                </a:solidFill>
                <a:latin typeface="Calibri" panose="020F0502020204030204" pitchFamily="34" charset="0"/>
              </a:rPr>
              <a:t>160,27	      163,54 kg	entonces	163,54 kg – 160,27 kg =	3,27 kg		</a:t>
            </a:r>
            <a:r>
              <a:rPr lang="es-AR" dirty="0">
                <a:solidFill>
                  <a:srgbClr val="000000"/>
                </a:solidFill>
                <a:latin typeface="Calibri" panose="020F0502020204030204" pitchFamily="34" charset="0"/>
              </a:rPr>
              <a:t> </a:t>
            </a:r>
          </a:p>
          <a:p>
            <a:r>
              <a:rPr lang="es-AR" dirty="0">
                <a:solidFill>
                  <a:srgbClr val="000000"/>
                </a:solidFill>
                <a:latin typeface="Calibri" panose="020F0502020204030204" pitchFamily="34" charset="0"/>
              </a:rPr>
              <a:t>0,98 </a:t>
            </a:r>
            <a:r>
              <a:rPr lang="es-ES" dirty="0">
                <a:solidFill>
                  <a:srgbClr val="000000"/>
                </a:solidFill>
                <a:latin typeface="Calibri" panose="020F0502020204030204" pitchFamily="34" charset="0"/>
              </a:rPr>
              <a:t>	</a:t>
            </a:r>
          </a:p>
          <a:p>
            <a:r>
              <a:rPr lang="es-AR" dirty="0">
                <a:solidFill>
                  <a:srgbClr val="000000"/>
                </a:solidFill>
                <a:latin typeface="Calibri" panose="020F0502020204030204" pitchFamily="34" charset="0"/>
              </a:rPr>
              <a:t>					</a:t>
            </a:r>
          </a:p>
          <a:p>
            <a:r>
              <a:rPr lang="es-AR" dirty="0">
                <a:solidFill>
                  <a:srgbClr val="000000"/>
                </a:solidFill>
                <a:latin typeface="Calibri" panose="020F0502020204030204" pitchFamily="34" charset="0"/>
              </a:rPr>
              <a:t>						</a:t>
            </a:r>
          </a:p>
          <a:p>
            <a:r>
              <a:rPr lang="es-AR" dirty="0">
                <a:solidFill>
                  <a:srgbClr val="000000"/>
                </a:solidFill>
                <a:latin typeface="Calibri" panose="020F0502020204030204" pitchFamily="34" charset="0"/>
              </a:rPr>
              <a:t>Resumiendo:							</a:t>
            </a:r>
          </a:p>
          <a:p>
            <a:r>
              <a:rPr lang="es-AR" dirty="0">
                <a:solidFill>
                  <a:srgbClr val="000000"/>
                </a:solidFill>
                <a:latin typeface="Calibri" panose="020F0502020204030204" pitchFamily="34" charset="0"/>
              </a:rPr>
              <a:t>							</a:t>
            </a:r>
          </a:p>
          <a:p>
            <a:r>
              <a:rPr lang="es-ES" dirty="0">
                <a:solidFill>
                  <a:srgbClr val="000000"/>
                </a:solidFill>
                <a:latin typeface="Calibri" panose="020F0502020204030204" pitchFamily="34" charset="0"/>
              </a:rPr>
              <a:t>M3 =3,27	kg	  Y3 =   163,54	kg		</a:t>
            </a:r>
          </a:p>
          <a:p>
            <a:r>
              <a:rPr lang="es-AR" dirty="0">
                <a:solidFill>
                  <a:srgbClr val="000000"/>
                </a:solidFill>
                <a:latin typeface="Calibri" panose="020F0502020204030204" pitchFamily="34" charset="0"/>
              </a:rPr>
              <a:t>R3=	8,01kg					</a:t>
            </a:r>
          </a:p>
          <a:p>
            <a:r>
              <a:rPr lang="es-AR" dirty="0">
                <a:solidFill>
                  <a:srgbClr val="000000"/>
                </a:solidFill>
                <a:latin typeface="Calibri" panose="020F0502020204030204" pitchFamily="34" charset="0"/>
              </a:rPr>
              <a:t>							</a:t>
            </a:r>
          </a:p>
        </p:txBody>
      </p:sp>
      <mc:AlternateContent xmlns:mc="http://schemas.openxmlformats.org/markup-compatibility/2006" xmlns:a14="http://schemas.microsoft.com/office/drawing/2010/main">
        <mc:Choice Requires="a14">
          <p:sp>
            <p:nvSpPr>
              <p:cNvPr id="9" name="CuadroTexto 20">
                <a:extLst>
                  <a:ext uri="{FF2B5EF4-FFF2-40B4-BE49-F238E27FC236}">
                    <a16:creationId xmlns:a16="http://schemas.microsoft.com/office/drawing/2014/main" id="{3EBA435E-25B7-4C34-A9F9-EFB9E1A19F52}"/>
                  </a:ext>
                </a:extLst>
              </p:cNvPr>
              <p:cNvSpPr txBox="1"/>
              <p:nvPr/>
            </p:nvSpPr>
            <p:spPr>
              <a:xfrm>
                <a:off x="10095769" y="4854322"/>
                <a:ext cx="76200" cy="171450"/>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s-AR" sz="1100" i="1">
                          <a:latin typeface="Cambria Math" panose="02040503050406030204" pitchFamily="18" charset="0"/>
                          <a:ea typeface="Cambria Math" panose="02040503050406030204" pitchFamily="18" charset="0"/>
                        </a:rPr>
                        <m:t>=</m:t>
                      </m:r>
                    </m:oMath>
                  </m:oMathPara>
                </a14:m>
                <a:endParaRPr lang="es-AR" sz="1100"/>
              </a:p>
            </p:txBody>
          </p:sp>
        </mc:Choice>
        <mc:Fallback xmlns="">
          <p:sp>
            <p:nvSpPr>
              <p:cNvPr id="9" name="CuadroTexto 20">
                <a:extLst>
                  <a:ext uri="{FF2B5EF4-FFF2-40B4-BE49-F238E27FC236}">
                    <a16:creationId xmlns:a16="http://schemas.microsoft.com/office/drawing/2014/main" id="{3EBA435E-25B7-4C34-A9F9-EFB9E1A19F52}"/>
                  </a:ext>
                </a:extLst>
              </p:cNvPr>
              <p:cNvSpPr txBox="1">
                <a:spLocks noRot="1" noChangeAspect="1" noMove="1" noResize="1" noEditPoints="1" noAdjustHandles="1" noChangeArrowheads="1" noChangeShapeType="1" noTextEdit="1"/>
              </p:cNvSpPr>
              <p:nvPr/>
            </p:nvSpPr>
            <p:spPr>
              <a:xfrm>
                <a:off x="10095769" y="4854322"/>
                <a:ext cx="76200" cy="171450"/>
              </a:xfrm>
              <a:prstGeom prst="rect">
                <a:avLst/>
              </a:prstGeom>
              <a:blipFill>
                <a:blip r:embed="rId4"/>
                <a:stretch>
                  <a:fillRect l="-38462" r="-7692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0" name="CuadroTexto 21">
                <a:extLst>
                  <a:ext uri="{FF2B5EF4-FFF2-40B4-BE49-F238E27FC236}">
                    <a16:creationId xmlns:a16="http://schemas.microsoft.com/office/drawing/2014/main" id="{01CE06E6-3BB1-40D5-945D-6A9125C3B580}"/>
                  </a:ext>
                </a:extLst>
              </p:cNvPr>
              <p:cNvSpPr txBox="1"/>
              <p:nvPr/>
            </p:nvSpPr>
            <p:spPr>
              <a:xfrm>
                <a:off x="12321444" y="4849560"/>
                <a:ext cx="539750" cy="173037"/>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s-AR" sz="1100" i="1">
                          <a:latin typeface="Cambria Math" panose="02040503050406030204" pitchFamily="18" charset="0"/>
                          <a:ea typeface="Cambria Math" panose="02040503050406030204" pitchFamily="18" charset="0"/>
                        </a:rPr>
                        <m:t>=</m:t>
                      </m:r>
                    </m:oMath>
                  </m:oMathPara>
                </a14:m>
                <a:endParaRPr lang="es-AR" sz="1100"/>
              </a:p>
            </p:txBody>
          </p:sp>
        </mc:Choice>
        <mc:Fallback xmlns="">
          <p:sp>
            <p:nvSpPr>
              <p:cNvPr id="10" name="CuadroTexto 21">
                <a:extLst>
                  <a:ext uri="{FF2B5EF4-FFF2-40B4-BE49-F238E27FC236}">
                    <a16:creationId xmlns:a16="http://schemas.microsoft.com/office/drawing/2014/main" id="{01CE06E6-3BB1-40D5-945D-6A9125C3B580}"/>
                  </a:ext>
                </a:extLst>
              </p:cNvPr>
              <p:cNvSpPr txBox="1">
                <a:spLocks noRot="1" noChangeAspect="1" noMove="1" noResize="1" noEditPoints="1" noAdjustHandles="1" noChangeArrowheads="1" noChangeShapeType="1" noTextEdit="1"/>
              </p:cNvSpPr>
              <p:nvPr/>
            </p:nvSpPr>
            <p:spPr>
              <a:xfrm>
                <a:off x="12321444" y="4849560"/>
                <a:ext cx="539750" cy="173037"/>
              </a:xfrm>
              <a:prstGeom prst="rect">
                <a:avLst/>
              </a:prstGeom>
              <a:blipFill>
                <a:blip r:embed="rId5"/>
                <a:stretch>
                  <a:fillRect/>
                </a:stretch>
              </a:blipFill>
            </p:spPr>
            <p:txBody>
              <a:bodyPr/>
              <a:lstStyle/>
              <a:p>
                <a:r>
                  <a:rPr lang="es-AR">
                    <a:noFill/>
                  </a:rPr>
                  <a:t> </a:t>
                </a:r>
              </a:p>
            </p:txBody>
          </p:sp>
        </mc:Fallback>
      </mc:AlternateContent>
      <p:cxnSp>
        <p:nvCxnSpPr>
          <p:cNvPr id="12" name="Conector recto 11">
            <a:extLst>
              <a:ext uri="{FF2B5EF4-FFF2-40B4-BE49-F238E27FC236}">
                <a16:creationId xmlns:a16="http://schemas.microsoft.com/office/drawing/2014/main" id="{79B81802-9C1D-4F26-901F-A9F3CB28EB2F}"/>
              </a:ext>
            </a:extLst>
          </p:cNvPr>
          <p:cNvCxnSpPr/>
          <p:nvPr/>
        </p:nvCxnSpPr>
        <p:spPr>
          <a:xfrm>
            <a:off x="2953512" y="3118104"/>
            <a:ext cx="8321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4C9A7A10-18B0-471E-8CFE-1B9937B5C458}"/>
              </a:ext>
            </a:extLst>
          </p:cNvPr>
          <p:cNvCxnSpPr/>
          <p:nvPr/>
        </p:nvCxnSpPr>
        <p:spPr>
          <a:xfrm>
            <a:off x="2953512" y="4498848"/>
            <a:ext cx="832104"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CuadroTexto 13">
            <a:extLst>
              <a:ext uri="{FF2B5EF4-FFF2-40B4-BE49-F238E27FC236}">
                <a16:creationId xmlns:a16="http://schemas.microsoft.com/office/drawing/2014/main" id="{EFC50A55-0BC7-42B5-ABCF-7D660EC1F538}"/>
              </a:ext>
            </a:extLst>
          </p:cNvPr>
          <p:cNvSpPr txBox="1"/>
          <p:nvPr/>
        </p:nvSpPr>
        <p:spPr>
          <a:xfrm>
            <a:off x="3896058" y="4314181"/>
            <a:ext cx="283464" cy="369332"/>
          </a:xfrm>
          <a:prstGeom prst="rect">
            <a:avLst/>
          </a:prstGeom>
          <a:noFill/>
        </p:spPr>
        <p:txBody>
          <a:bodyPr wrap="square" rtlCol="0">
            <a:spAutoFit/>
          </a:bodyPr>
          <a:lstStyle/>
          <a:p>
            <a:r>
              <a:rPr lang="es-AR" dirty="0"/>
              <a:t>=</a:t>
            </a:r>
          </a:p>
        </p:txBody>
      </p:sp>
      <p:sp>
        <p:nvSpPr>
          <p:cNvPr id="15" name="CuadroTexto 14">
            <a:extLst>
              <a:ext uri="{FF2B5EF4-FFF2-40B4-BE49-F238E27FC236}">
                <a16:creationId xmlns:a16="http://schemas.microsoft.com/office/drawing/2014/main" id="{C7D589EE-C670-4A06-861A-5C2D169FD8FF}"/>
              </a:ext>
            </a:extLst>
          </p:cNvPr>
          <p:cNvSpPr txBox="1"/>
          <p:nvPr/>
        </p:nvSpPr>
        <p:spPr>
          <a:xfrm>
            <a:off x="3896058" y="2933438"/>
            <a:ext cx="283464" cy="369332"/>
          </a:xfrm>
          <a:prstGeom prst="rect">
            <a:avLst/>
          </a:prstGeom>
          <a:noFill/>
        </p:spPr>
        <p:txBody>
          <a:bodyPr wrap="square" rtlCol="0">
            <a:spAutoFit/>
          </a:bodyPr>
          <a:lstStyle/>
          <a:p>
            <a:r>
              <a:rPr lang="es-AR" dirty="0"/>
              <a:t>=</a:t>
            </a:r>
          </a:p>
        </p:txBody>
      </p:sp>
      <mc:AlternateContent xmlns:mc="http://schemas.openxmlformats.org/markup-compatibility/2006" xmlns:a14="http://schemas.microsoft.com/office/drawing/2010/main">
        <mc:Choice Requires="a14">
          <p:sp>
            <p:nvSpPr>
              <p:cNvPr id="16" name="CuadroTexto 23">
                <a:extLst>
                  <a:ext uri="{FF2B5EF4-FFF2-40B4-BE49-F238E27FC236}">
                    <a16:creationId xmlns:a16="http://schemas.microsoft.com/office/drawing/2014/main" id="{E7040046-0091-4ACA-91B7-A167B2618517}"/>
                  </a:ext>
                </a:extLst>
              </p:cNvPr>
              <p:cNvSpPr txBox="1"/>
              <p:nvPr/>
            </p:nvSpPr>
            <p:spPr>
              <a:xfrm>
                <a:off x="11068622" y="6123843"/>
                <a:ext cx="136525" cy="171450"/>
              </a:xfrm>
              <a:prstGeom prst="rect">
                <a:avLst/>
              </a:prstGeom>
              <a:noFill/>
            </p:spPr>
            <p:style>
              <a:lnRef idx="0">
                <a:scrgbClr r="0" g="0" b="0"/>
              </a:lnRef>
              <a:fillRef idx="0">
                <a:scrgbClr r="0" g="0" b="0"/>
              </a:fillRef>
              <a:effectRef idx="0">
                <a:scrgbClr r="0" g="0" b="0"/>
              </a:effectRef>
              <a:fontRef idx="minor">
                <a:schemeClr val="tx1"/>
              </a:fontRef>
            </p:style>
            <p:txBody>
              <a:bodyPr wrap="non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s-AR" sz="1100" i="1">
                          <a:latin typeface="Cambria Math" panose="02040503050406030204" pitchFamily="18" charset="0"/>
                          <a:ea typeface="Cambria Math" panose="02040503050406030204" pitchFamily="18" charset="0"/>
                        </a:rPr>
                        <m:t>=</m:t>
                      </m:r>
                    </m:oMath>
                  </m:oMathPara>
                </a14:m>
                <a:endParaRPr lang="es-AR" sz="1100"/>
              </a:p>
            </p:txBody>
          </p:sp>
        </mc:Choice>
        <mc:Fallback xmlns="">
          <p:sp>
            <p:nvSpPr>
              <p:cNvPr id="16" name="CuadroTexto 23">
                <a:extLst>
                  <a:ext uri="{FF2B5EF4-FFF2-40B4-BE49-F238E27FC236}">
                    <a16:creationId xmlns:a16="http://schemas.microsoft.com/office/drawing/2014/main" id="{E7040046-0091-4ACA-91B7-A167B2618517}"/>
                  </a:ext>
                </a:extLst>
              </p:cNvPr>
              <p:cNvSpPr txBox="1">
                <a:spLocks noRot="1" noChangeAspect="1" noMove="1" noResize="1" noEditPoints="1" noAdjustHandles="1" noChangeArrowheads="1" noChangeShapeType="1" noTextEdit="1"/>
              </p:cNvSpPr>
              <p:nvPr/>
            </p:nvSpPr>
            <p:spPr>
              <a:xfrm>
                <a:off x="11068622" y="6123843"/>
                <a:ext cx="136525" cy="171450"/>
              </a:xfrm>
              <a:prstGeom prst="rect">
                <a:avLst/>
              </a:prstGeom>
              <a:blipFill>
                <a:blip r:embed="rId2"/>
                <a:stretch>
                  <a:fillRect l="-13636" r="-13636"/>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7" name="CuadroTexto 24">
                <a:extLst>
                  <a:ext uri="{FF2B5EF4-FFF2-40B4-BE49-F238E27FC236}">
                    <a16:creationId xmlns:a16="http://schemas.microsoft.com/office/drawing/2014/main" id="{8EAFE1F9-5E1B-487B-89FB-A79C118A87E4}"/>
                  </a:ext>
                </a:extLst>
              </p:cNvPr>
              <p:cNvSpPr txBox="1"/>
              <p:nvPr/>
            </p:nvSpPr>
            <p:spPr>
              <a:xfrm>
                <a:off x="13541947" y="6131781"/>
                <a:ext cx="152400" cy="171450"/>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s-AR" sz="1100" i="1">
                          <a:latin typeface="Cambria Math" panose="02040503050406030204" pitchFamily="18" charset="0"/>
                          <a:ea typeface="Cambria Math" panose="02040503050406030204" pitchFamily="18" charset="0"/>
                        </a:rPr>
                        <m:t>=</m:t>
                      </m:r>
                    </m:oMath>
                  </m:oMathPara>
                </a14:m>
                <a:endParaRPr lang="es-AR" sz="1100"/>
              </a:p>
            </p:txBody>
          </p:sp>
        </mc:Choice>
        <mc:Fallback xmlns="">
          <p:sp>
            <p:nvSpPr>
              <p:cNvPr id="17" name="CuadroTexto 24">
                <a:extLst>
                  <a:ext uri="{FF2B5EF4-FFF2-40B4-BE49-F238E27FC236}">
                    <a16:creationId xmlns:a16="http://schemas.microsoft.com/office/drawing/2014/main" id="{8EAFE1F9-5E1B-487B-89FB-A79C118A87E4}"/>
                  </a:ext>
                </a:extLst>
              </p:cNvPr>
              <p:cNvSpPr txBox="1">
                <a:spLocks noRot="1" noChangeAspect="1" noMove="1" noResize="1" noEditPoints="1" noAdjustHandles="1" noChangeArrowheads="1" noChangeShapeType="1" noTextEdit="1"/>
              </p:cNvSpPr>
              <p:nvPr/>
            </p:nvSpPr>
            <p:spPr>
              <a:xfrm>
                <a:off x="13541947" y="6131781"/>
                <a:ext cx="152400" cy="171450"/>
              </a:xfrm>
              <a:prstGeom prst="rect">
                <a:avLst/>
              </a:prstGeom>
              <a:blipFill>
                <a:blip r:embed="rId4"/>
                <a:stretch>
                  <a:fillRect l="-4000" r="-8000"/>
                </a:stretch>
              </a:blipFill>
            </p:spPr>
            <p:txBody>
              <a:bodyPr/>
              <a:lstStyle/>
              <a:p>
                <a:r>
                  <a:rPr lang="es-AR">
                    <a:noFill/>
                  </a:rPr>
                  <a:t> </a:t>
                </a:r>
              </a:p>
            </p:txBody>
          </p:sp>
        </mc:Fallback>
      </mc:AlternateContent>
    </p:spTree>
    <p:extLst>
      <p:ext uri="{BB962C8B-B14F-4D97-AF65-F5344CB8AC3E}">
        <p14:creationId xmlns:p14="http://schemas.microsoft.com/office/powerpoint/2010/main" val="6298873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CA9237-F4E1-4DEB-B3C8-BF9846CFDEFD}"/>
              </a:ext>
            </a:extLst>
          </p:cNvPr>
          <p:cNvSpPr>
            <a:spLocks noGrp="1"/>
          </p:cNvSpPr>
          <p:nvPr>
            <p:ph type="title"/>
          </p:nvPr>
        </p:nvSpPr>
        <p:spPr/>
        <p:txBody>
          <a:bodyPr/>
          <a:lstStyle/>
          <a:p>
            <a:r>
              <a:rPr lang="es-AR" b="1" dirty="0">
                <a:solidFill>
                  <a:schemeClr val="tx1">
                    <a:lumMod val="75000"/>
                    <a:lumOff val="25000"/>
                  </a:schemeClr>
                </a:solidFill>
              </a:rPr>
              <a:t>CALCULO DE LA MATERIA PRIMA</a:t>
            </a:r>
            <a:endParaRPr lang="es-AR" dirty="0">
              <a:solidFill>
                <a:schemeClr val="tx1">
                  <a:lumMod val="75000"/>
                  <a:lumOff val="25000"/>
                </a:schemeClr>
              </a:solidFill>
            </a:endParaRPr>
          </a:p>
        </p:txBody>
      </p:sp>
      <p:sp>
        <p:nvSpPr>
          <p:cNvPr id="3" name="Marcador de número de diapositiva 2">
            <a:extLst>
              <a:ext uri="{FF2B5EF4-FFF2-40B4-BE49-F238E27FC236}">
                <a16:creationId xmlns:a16="http://schemas.microsoft.com/office/drawing/2014/main" id="{89D080B0-BD75-46D4-92D0-EE491E2ACD8B}"/>
              </a:ext>
            </a:extLst>
          </p:cNvPr>
          <p:cNvSpPr>
            <a:spLocks noGrp="1"/>
          </p:cNvSpPr>
          <p:nvPr>
            <p:ph type="sldNum" sz="quarter" idx="12"/>
          </p:nvPr>
        </p:nvSpPr>
        <p:spPr/>
        <p:txBody>
          <a:bodyPr/>
          <a:lstStyle/>
          <a:p>
            <a:fld id="{D57F1E4F-1CFF-5643-939E-217C01CDF565}" type="slidenum">
              <a:rPr lang="en-US" smtClean="0"/>
              <a:pPr/>
              <a:t>16</a:t>
            </a:fld>
            <a:endParaRPr lang="en-US" dirty="0"/>
          </a:p>
        </p:txBody>
      </p:sp>
      <p:sp>
        <p:nvSpPr>
          <p:cNvPr id="5" name="CuadroTexto 4">
            <a:extLst>
              <a:ext uri="{FF2B5EF4-FFF2-40B4-BE49-F238E27FC236}">
                <a16:creationId xmlns:a16="http://schemas.microsoft.com/office/drawing/2014/main" id="{20315487-D4FD-483B-A1C3-CA58B73DE505}"/>
              </a:ext>
            </a:extLst>
          </p:cNvPr>
          <p:cNvSpPr txBox="1"/>
          <p:nvPr/>
        </p:nvSpPr>
        <p:spPr>
          <a:xfrm>
            <a:off x="2880360" y="1975104"/>
            <a:ext cx="2395728" cy="369332"/>
          </a:xfrm>
          <a:prstGeom prst="rect">
            <a:avLst/>
          </a:prstGeom>
          <a:noFill/>
        </p:spPr>
        <p:txBody>
          <a:bodyPr wrap="square" rtlCol="0">
            <a:spAutoFit/>
          </a:bodyPr>
          <a:lstStyle/>
          <a:p>
            <a:r>
              <a:rPr lang="es-AR" dirty="0">
                <a:solidFill>
                  <a:schemeClr val="tx1">
                    <a:lumMod val="75000"/>
                    <a:lumOff val="25000"/>
                  </a:schemeClr>
                </a:solidFill>
              </a:rPr>
              <a:t>Por lo tanto</a:t>
            </a:r>
          </a:p>
        </p:txBody>
      </p:sp>
      <p:sp>
        <p:nvSpPr>
          <p:cNvPr id="6" name="CuadroTexto 5">
            <a:extLst>
              <a:ext uri="{FF2B5EF4-FFF2-40B4-BE49-F238E27FC236}">
                <a16:creationId xmlns:a16="http://schemas.microsoft.com/office/drawing/2014/main" id="{EF0EF16A-89D7-48C2-9E87-5A4942BAF0C0}"/>
              </a:ext>
            </a:extLst>
          </p:cNvPr>
          <p:cNvSpPr txBox="1"/>
          <p:nvPr/>
        </p:nvSpPr>
        <p:spPr>
          <a:xfrm>
            <a:off x="2880360" y="2688336"/>
            <a:ext cx="4663440" cy="369332"/>
          </a:xfrm>
          <a:prstGeom prst="rect">
            <a:avLst/>
          </a:prstGeom>
          <a:noFill/>
        </p:spPr>
        <p:txBody>
          <a:bodyPr wrap="square" rtlCol="0">
            <a:spAutoFit/>
          </a:bodyPr>
          <a:lstStyle/>
          <a:p>
            <a:r>
              <a:rPr lang="es-AR" dirty="0">
                <a:solidFill>
                  <a:schemeClr val="tx1">
                    <a:lumMod val="75000"/>
                    <a:lumOff val="25000"/>
                  </a:schemeClr>
                </a:solidFill>
              </a:rPr>
              <a:t>Merma total = M1 + M2 + M3 =18,71 kg</a:t>
            </a:r>
          </a:p>
        </p:txBody>
      </p:sp>
      <p:sp>
        <p:nvSpPr>
          <p:cNvPr id="7" name="CuadroTexto 6">
            <a:extLst>
              <a:ext uri="{FF2B5EF4-FFF2-40B4-BE49-F238E27FC236}">
                <a16:creationId xmlns:a16="http://schemas.microsoft.com/office/drawing/2014/main" id="{8851ECDA-483F-492F-8BF9-5E6753FD95C5}"/>
              </a:ext>
            </a:extLst>
          </p:cNvPr>
          <p:cNvSpPr txBox="1"/>
          <p:nvPr/>
        </p:nvSpPr>
        <p:spPr>
          <a:xfrm>
            <a:off x="2880360" y="3431001"/>
            <a:ext cx="4526280" cy="369332"/>
          </a:xfrm>
          <a:prstGeom prst="rect">
            <a:avLst/>
          </a:prstGeom>
          <a:noFill/>
        </p:spPr>
        <p:txBody>
          <a:bodyPr wrap="square" rtlCol="0">
            <a:spAutoFit/>
          </a:bodyPr>
          <a:lstStyle/>
          <a:p>
            <a:r>
              <a:rPr lang="es-AR" dirty="0">
                <a:solidFill>
                  <a:schemeClr val="tx1">
                    <a:lumMod val="75000"/>
                    <a:lumOff val="25000"/>
                  </a:schemeClr>
                </a:solidFill>
              </a:rPr>
              <a:t>Recorte total = R1 + R2 + R3 = 44,83 kg</a:t>
            </a:r>
          </a:p>
        </p:txBody>
      </p:sp>
      <p:sp>
        <p:nvSpPr>
          <p:cNvPr id="8" name="CuadroTexto 7">
            <a:extLst>
              <a:ext uri="{FF2B5EF4-FFF2-40B4-BE49-F238E27FC236}">
                <a16:creationId xmlns:a16="http://schemas.microsoft.com/office/drawing/2014/main" id="{E85A0A3A-AF8E-48F0-A6D7-11E426E89D26}"/>
              </a:ext>
            </a:extLst>
          </p:cNvPr>
          <p:cNvSpPr txBox="1"/>
          <p:nvPr/>
        </p:nvSpPr>
        <p:spPr>
          <a:xfrm>
            <a:off x="2948940" y="4173666"/>
            <a:ext cx="4526280" cy="369332"/>
          </a:xfrm>
          <a:prstGeom prst="rect">
            <a:avLst/>
          </a:prstGeom>
          <a:noFill/>
        </p:spPr>
        <p:txBody>
          <a:bodyPr wrap="square" rtlCol="0">
            <a:spAutoFit/>
          </a:bodyPr>
          <a:lstStyle/>
          <a:p>
            <a:r>
              <a:rPr lang="es-AR" dirty="0">
                <a:solidFill>
                  <a:schemeClr val="tx1">
                    <a:lumMod val="75000"/>
                    <a:lumOff val="25000"/>
                  </a:schemeClr>
                </a:solidFill>
              </a:rPr>
              <a:t>Producto terminado = 100 kg</a:t>
            </a:r>
          </a:p>
        </p:txBody>
      </p:sp>
      <p:sp>
        <p:nvSpPr>
          <p:cNvPr id="9" name="CuadroTexto 8">
            <a:extLst>
              <a:ext uri="{FF2B5EF4-FFF2-40B4-BE49-F238E27FC236}">
                <a16:creationId xmlns:a16="http://schemas.microsoft.com/office/drawing/2014/main" id="{632309C4-D636-4B99-BA94-C2160DD20891}"/>
              </a:ext>
            </a:extLst>
          </p:cNvPr>
          <p:cNvSpPr txBox="1"/>
          <p:nvPr/>
        </p:nvSpPr>
        <p:spPr>
          <a:xfrm>
            <a:off x="3017520" y="4916331"/>
            <a:ext cx="6272784" cy="369332"/>
          </a:xfrm>
          <a:prstGeom prst="rect">
            <a:avLst/>
          </a:prstGeom>
          <a:noFill/>
        </p:spPr>
        <p:txBody>
          <a:bodyPr wrap="square" rtlCol="0">
            <a:spAutoFit/>
          </a:bodyPr>
          <a:lstStyle/>
          <a:p>
            <a:r>
              <a:rPr lang="es-AR" dirty="0">
                <a:solidFill>
                  <a:schemeClr val="tx1">
                    <a:lumMod val="75000"/>
                    <a:lumOff val="25000"/>
                  </a:schemeClr>
                </a:solidFill>
              </a:rPr>
              <a:t>Cantidad de MP para calcular el costo = 118,71 kg</a:t>
            </a:r>
          </a:p>
        </p:txBody>
      </p:sp>
      <p:sp>
        <p:nvSpPr>
          <p:cNvPr id="10" name="CuadroTexto 9">
            <a:extLst>
              <a:ext uri="{FF2B5EF4-FFF2-40B4-BE49-F238E27FC236}">
                <a16:creationId xmlns:a16="http://schemas.microsoft.com/office/drawing/2014/main" id="{9C1AFFDC-142F-4CC4-86B5-B47BE7E9480D}"/>
              </a:ext>
            </a:extLst>
          </p:cNvPr>
          <p:cNvSpPr txBox="1"/>
          <p:nvPr/>
        </p:nvSpPr>
        <p:spPr>
          <a:xfrm>
            <a:off x="2948940" y="5524005"/>
            <a:ext cx="4526280" cy="369332"/>
          </a:xfrm>
          <a:prstGeom prst="rect">
            <a:avLst/>
          </a:prstGeom>
          <a:noFill/>
        </p:spPr>
        <p:txBody>
          <a:bodyPr wrap="square" rtlCol="0">
            <a:spAutoFit/>
          </a:bodyPr>
          <a:lstStyle/>
          <a:p>
            <a:r>
              <a:rPr lang="es-AR" dirty="0">
                <a:solidFill>
                  <a:schemeClr val="tx1">
                    <a:lumMod val="75000"/>
                    <a:lumOff val="25000"/>
                  </a:schemeClr>
                </a:solidFill>
              </a:rPr>
              <a:t>163,53 kg – RT = 118,71 kg</a:t>
            </a:r>
          </a:p>
        </p:txBody>
      </p:sp>
      <p:sp>
        <p:nvSpPr>
          <p:cNvPr id="11" name="CuadroTexto 10">
            <a:extLst>
              <a:ext uri="{FF2B5EF4-FFF2-40B4-BE49-F238E27FC236}">
                <a16:creationId xmlns:a16="http://schemas.microsoft.com/office/drawing/2014/main" id="{B90A5906-5959-413C-BAFA-8FF01EECD244}"/>
              </a:ext>
            </a:extLst>
          </p:cNvPr>
          <p:cNvSpPr txBox="1"/>
          <p:nvPr/>
        </p:nvSpPr>
        <p:spPr>
          <a:xfrm>
            <a:off x="2948940" y="5978494"/>
            <a:ext cx="4526280" cy="369332"/>
          </a:xfrm>
          <a:prstGeom prst="rect">
            <a:avLst/>
          </a:prstGeom>
          <a:noFill/>
        </p:spPr>
        <p:txBody>
          <a:bodyPr wrap="square" rtlCol="0">
            <a:spAutoFit/>
          </a:bodyPr>
          <a:lstStyle/>
          <a:p>
            <a:r>
              <a:rPr lang="es-AR" dirty="0">
                <a:solidFill>
                  <a:schemeClr val="tx1">
                    <a:lumMod val="75000"/>
                    <a:lumOff val="25000"/>
                  </a:schemeClr>
                </a:solidFill>
              </a:rPr>
              <a:t>100 kg +  MT   = 118,71 kg</a:t>
            </a:r>
          </a:p>
        </p:txBody>
      </p:sp>
    </p:spTree>
    <p:extLst>
      <p:ext uri="{BB962C8B-B14F-4D97-AF65-F5344CB8AC3E}">
        <p14:creationId xmlns:p14="http://schemas.microsoft.com/office/powerpoint/2010/main" val="31612264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7D5AFF-E302-450F-9D03-DFB761A35CC4}"/>
              </a:ext>
            </a:extLst>
          </p:cNvPr>
          <p:cNvSpPr>
            <a:spLocks noGrp="1"/>
          </p:cNvSpPr>
          <p:nvPr>
            <p:ph type="title"/>
          </p:nvPr>
        </p:nvSpPr>
        <p:spPr/>
        <p:txBody>
          <a:bodyPr/>
          <a:lstStyle/>
          <a:p>
            <a:r>
              <a:rPr lang="es-AR" b="1" dirty="0">
                <a:solidFill>
                  <a:schemeClr val="tx1">
                    <a:lumMod val="75000"/>
                    <a:lumOff val="25000"/>
                  </a:schemeClr>
                </a:solidFill>
              </a:rPr>
              <a:t>COSTOS INDIRECTOS</a:t>
            </a:r>
            <a:endParaRPr lang="es-AR" dirty="0">
              <a:solidFill>
                <a:schemeClr val="tx1">
                  <a:lumMod val="75000"/>
                  <a:lumOff val="25000"/>
                </a:schemeClr>
              </a:solidFill>
            </a:endParaRPr>
          </a:p>
        </p:txBody>
      </p:sp>
      <p:sp>
        <p:nvSpPr>
          <p:cNvPr id="3" name="Marcador de número de diapositiva 2">
            <a:extLst>
              <a:ext uri="{FF2B5EF4-FFF2-40B4-BE49-F238E27FC236}">
                <a16:creationId xmlns:a16="http://schemas.microsoft.com/office/drawing/2014/main" id="{20182476-5186-47D8-B84F-19FAB3781A47}"/>
              </a:ext>
            </a:extLst>
          </p:cNvPr>
          <p:cNvSpPr>
            <a:spLocks noGrp="1"/>
          </p:cNvSpPr>
          <p:nvPr>
            <p:ph type="sldNum" sz="quarter" idx="12"/>
          </p:nvPr>
        </p:nvSpPr>
        <p:spPr/>
        <p:txBody>
          <a:bodyPr/>
          <a:lstStyle/>
          <a:p>
            <a:fld id="{D57F1E4F-1CFF-5643-939E-217C01CDF565}" type="slidenum">
              <a:rPr lang="en-US" smtClean="0"/>
              <a:pPr/>
              <a:t>17</a:t>
            </a:fld>
            <a:endParaRPr lang="en-US" dirty="0"/>
          </a:p>
        </p:txBody>
      </p:sp>
      <p:sp>
        <p:nvSpPr>
          <p:cNvPr id="4" name="Text Box 26">
            <a:extLst>
              <a:ext uri="{FF2B5EF4-FFF2-40B4-BE49-F238E27FC236}">
                <a16:creationId xmlns:a16="http://schemas.microsoft.com/office/drawing/2014/main" id="{64BD5EA1-B410-4554-A624-2D55CEF0BC33}"/>
              </a:ext>
            </a:extLst>
          </p:cNvPr>
          <p:cNvSpPr txBox="1">
            <a:spLocks noChangeArrowheads="1"/>
          </p:cNvSpPr>
          <p:nvPr/>
        </p:nvSpPr>
        <p:spPr bwMode="auto">
          <a:xfrm>
            <a:off x="1335662" y="3796909"/>
            <a:ext cx="22177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b="1" dirty="0">
                <a:solidFill>
                  <a:schemeClr val="tx1">
                    <a:lumMod val="75000"/>
                    <a:lumOff val="25000"/>
                  </a:schemeClr>
                </a:solidFill>
                <a:latin typeface="+mj-lt"/>
              </a:rPr>
              <a:t>Costo Indirecto</a:t>
            </a:r>
            <a:endParaRPr lang="es-ES" altLang="es-AR" b="1" dirty="0">
              <a:solidFill>
                <a:schemeClr val="tx1">
                  <a:lumMod val="75000"/>
                  <a:lumOff val="25000"/>
                </a:schemeClr>
              </a:solidFill>
              <a:latin typeface="+mj-lt"/>
            </a:endParaRPr>
          </a:p>
        </p:txBody>
      </p:sp>
      <p:sp>
        <p:nvSpPr>
          <p:cNvPr id="5" name="AutoShape 27">
            <a:extLst>
              <a:ext uri="{FF2B5EF4-FFF2-40B4-BE49-F238E27FC236}">
                <a16:creationId xmlns:a16="http://schemas.microsoft.com/office/drawing/2014/main" id="{0420683A-15A6-437A-9138-8ABCCC9426A0}"/>
              </a:ext>
            </a:extLst>
          </p:cNvPr>
          <p:cNvSpPr>
            <a:spLocks/>
          </p:cNvSpPr>
          <p:nvPr/>
        </p:nvSpPr>
        <p:spPr bwMode="auto">
          <a:xfrm>
            <a:off x="3284040" y="2308122"/>
            <a:ext cx="525405" cy="3541904"/>
          </a:xfrm>
          <a:prstGeom prst="leftBrace">
            <a:avLst>
              <a:gd name="adj1" fmla="val 74726"/>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6" name="Text Box 28">
            <a:extLst>
              <a:ext uri="{FF2B5EF4-FFF2-40B4-BE49-F238E27FC236}">
                <a16:creationId xmlns:a16="http://schemas.microsoft.com/office/drawing/2014/main" id="{85F3B51E-8854-477E-893C-14968587E7E9}"/>
              </a:ext>
            </a:extLst>
          </p:cNvPr>
          <p:cNvSpPr txBox="1">
            <a:spLocks noChangeArrowheads="1"/>
          </p:cNvSpPr>
          <p:nvPr/>
        </p:nvSpPr>
        <p:spPr bwMode="auto">
          <a:xfrm>
            <a:off x="3676359" y="2897571"/>
            <a:ext cx="332765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b="1" dirty="0">
                <a:solidFill>
                  <a:schemeClr val="tx1">
                    <a:lumMod val="75000"/>
                    <a:lumOff val="25000"/>
                  </a:schemeClr>
                </a:solidFill>
                <a:latin typeface="+mj-lt"/>
              </a:rPr>
              <a:t>Costo de la Mano de Obra Indirecta</a:t>
            </a:r>
            <a:endParaRPr lang="es-ES" altLang="es-AR" b="1" dirty="0">
              <a:solidFill>
                <a:schemeClr val="tx1">
                  <a:lumMod val="75000"/>
                  <a:lumOff val="25000"/>
                </a:schemeClr>
              </a:solidFill>
              <a:latin typeface="+mj-lt"/>
            </a:endParaRPr>
          </a:p>
        </p:txBody>
      </p:sp>
      <p:sp>
        <p:nvSpPr>
          <p:cNvPr id="7" name="Text Box 29">
            <a:extLst>
              <a:ext uri="{FF2B5EF4-FFF2-40B4-BE49-F238E27FC236}">
                <a16:creationId xmlns:a16="http://schemas.microsoft.com/office/drawing/2014/main" id="{3312E147-F023-4238-86A5-84FE63B1ABB1}"/>
              </a:ext>
            </a:extLst>
          </p:cNvPr>
          <p:cNvSpPr txBox="1">
            <a:spLocks noChangeArrowheads="1"/>
          </p:cNvSpPr>
          <p:nvPr/>
        </p:nvSpPr>
        <p:spPr bwMode="auto">
          <a:xfrm>
            <a:off x="3487933" y="5005809"/>
            <a:ext cx="29368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b="1" dirty="0">
                <a:solidFill>
                  <a:schemeClr val="tx1">
                    <a:lumMod val="75000"/>
                    <a:lumOff val="25000"/>
                  </a:schemeClr>
                </a:solidFill>
                <a:latin typeface="+mj-lt"/>
              </a:rPr>
              <a:t>Gastos Generales de Fabricación</a:t>
            </a:r>
            <a:endParaRPr lang="es-ES" altLang="es-AR" b="1" dirty="0">
              <a:solidFill>
                <a:schemeClr val="tx1">
                  <a:lumMod val="75000"/>
                  <a:lumOff val="25000"/>
                </a:schemeClr>
              </a:solidFill>
              <a:latin typeface="+mj-lt"/>
            </a:endParaRPr>
          </a:p>
        </p:txBody>
      </p:sp>
      <p:sp>
        <p:nvSpPr>
          <p:cNvPr id="8" name="AutoShape 30">
            <a:extLst>
              <a:ext uri="{FF2B5EF4-FFF2-40B4-BE49-F238E27FC236}">
                <a16:creationId xmlns:a16="http://schemas.microsoft.com/office/drawing/2014/main" id="{07FE31C1-31A2-42E1-9F26-46C90D355581}"/>
              </a:ext>
            </a:extLst>
          </p:cNvPr>
          <p:cNvSpPr>
            <a:spLocks/>
          </p:cNvSpPr>
          <p:nvPr/>
        </p:nvSpPr>
        <p:spPr bwMode="auto">
          <a:xfrm>
            <a:off x="6344639" y="4831088"/>
            <a:ext cx="160337" cy="990791"/>
          </a:xfrm>
          <a:prstGeom prst="leftBrace">
            <a:avLst>
              <a:gd name="adj1" fmla="val 6722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9" name="Text Box 31">
            <a:extLst>
              <a:ext uri="{FF2B5EF4-FFF2-40B4-BE49-F238E27FC236}">
                <a16:creationId xmlns:a16="http://schemas.microsoft.com/office/drawing/2014/main" id="{5D15A268-6493-456D-8360-4617237614F1}"/>
              </a:ext>
            </a:extLst>
          </p:cNvPr>
          <p:cNvSpPr txBox="1">
            <a:spLocks noChangeArrowheads="1"/>
          </p:cNvSpPr>
          <p:nvPr/>
        </p:nvSpPr>
        <p:spPr bwMode="auto">
          <a:xfrm>
            <a:off x="6678687" y="4898549"/>
            <a:ext cx="432117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dirty="0">
                <a:latin typeface="+mj-lt"/>
              </a:rPr>
              <a:t>Energía, combustibles, materiales de consumo, amortizaciones, seguros, etc.</a:t>
            </a:r>
            <a:endParaRPr lang="es-ES" altLang="es-AR" dirty="0">
              <a:latin typeface="+mj-lt"/>
            </a:endParaRPr>
          </a:p>
        </p:txBody>
      </p:sp>
      <p:sp>
        <p:nvSpPr>
          <p:cNvPr id="10" name="AutoShape 30">
            <a:extLst>
              <a:ext uri="{FF2B5EF4-FFF2-40B4-BE49-F238E27FC236}">
                <a16:creationId xmlns:a16="http://schemas.microsoft.com/office/drawing/2014/main" id="{0E772FC7-ED18-44CF-876D-BF4168890A3A}"/>
              </a:ext>
            </a:extLst>
          </p:cNvPr>
          <p:cNvSpPr>
            <a:spLocks/>
          </p:cNvSpPr>
          <p:nvPr/>
        </p:nvSpPr>
        <p:spPr bwMode="auto">
          <a:xfrm>
            <a:off x="6894430" y="2235058"/>
            <a:ext cx="264794" cy="1861454"/>
          </a:xfrm>
          <a:prstGeom prst="leftBrace">
            <a:avLst>
              <a:gd name="adj1" fmla="val 6722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11" name="Text Box 9">
            <a:extLst>
              <a:ext uri="{FF2B5EF4-FFF2-40B4-BE49-F238E27FC236}">
                <a16:creationId xmlns:a16="http://schemas.microsoft.com/office/drawing/2014/main" id="{325C47E6-77ED-414E-832C-CB96652FC82C}"/>
              </a:ext>
            </a:extLst>
          </p:cNvPr>
          <p:cNvSpPr txBox="1">
            <a:spLocks noChangeArrowheads="1"/>
          </p:cNvSpPr>
          <p:nvPr/>
        </p:nvSpPr>
        <p:spPr bwMode="auto">
          <a:xfrm>
            <a:off x="7024046" y="2264302"/>
            <a:ext cx="168561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dirty="0">
                <a:solidFill>
                  <a:schemeClr val="tx1">
                    <a:lumMod val="75000"/>
                    <a:lumOff val="25000"/>
                  </a:schemeClr>
                </a:solidFill>
                <a:latin typeface="+mj-lt"/>
              </a:rPr>
              <a:t>Sueldos de producción</a:t>
            </a:r>
            <a:endParaRPr lang="es-ES" altLang="es-AR" dirty="0">
              <a:solidFill>
                <a:schemeClr val="tx1">
                  <a:lumMod val="75000"/>
                  <a:lumOff val="25000"/>
                </a:schemeClr>
              </a:solidFill>
              <a:latin typeface="+mj-lt"/>
            </a:endParaRPr>
          </a:p>
        </p:txBody>
      </p:sp>
      <p:sp>
        <p:nvSpPr>
          <p:cNvPr id="12" name="AutoShape 10">
            <a:extLst>
              <a:ext uri="{FF2B5EF4-FFF2-40B4-BE49-F238E27FC236}">
                <a16:creationId xmlns:a16="http://schemas.microsoft.com/office/drawing/2014/main" id="{026E6D05-6E82-4926-8B4A-5633422D6400}"/>
              </a:ext>
            </a:extLst>
          </p:cNvPr>
          <p:cNvSpPr>
            <a:spLocks/>
          </p:cNvSpPr>
          <p:nvPr/>
        </p:nvSpPr>
        <p:spPr bwMode="auto">
          <a:xfrm>
            <a:off x="8709659" y="1964510"/>
            <a:ext cx="129616" cy="1092433"/>
          </a:xfrm>
          <a:prstGeom prst="leftBrace">
            <a:avLst>
              <a:gd name="adj1" fmla="val 12592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13" name="Text Box 11">
            <a:extLst>
              <a:ext uri="{FF2B5EF4-FFF2-40B4-BE49-F238E27FC236}">
                <a16:creationId xmlns:a16="http://schemas.microsoft.com/office/drawing/2014/main" id="{B7E13DDC-7343-4EC0-847D-46A32C8591F6}"/>
              </a:ext>
            </a:extLst>
          </p:cNvPr>
          <p:cNvSpPr txBox="1">
            <a:spLocks noChangeArrowheads="1"/>
          </p:cNvSpPr>
          <p:nvPr/>
        </p:nvSpPr>
        <p:spPr bwMode="auto">
          <a:xfrm>
            <a:off x="8877235" y="1938790"/>
            <a:ext cx="339902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dirty="0">
                <a:solidFill>
                  <a:schemeClr val="tx1">
                    <a:lumMod val="75000"/>
                    <a:lumOff val="25000"/>
                  </a:schemeClr>
                </a:solidFill>
                <a:latin typeface="+mj-lt"/>
              </a:rPr>
              <a:t>Supervisor</a:t>
            </a:r>
            <a:endParaRPr lang="es-ES" altLang="es-AR" dirty="0">
              <a:solidFill>
                <a:schemeClr val="tx1">
                  <a:lumMod val="75000"/>
                  <a:lumOff val="25000"/>
                </a:schemeClr>
              </a:solidFill>
              <a:latin typeface="+mj-lt"/>
            </a:endParaRPr>
          </a:p>
        </p:txBody>
      </p:sp>
      <p:sp>
        <p:nvSpPr>
          <p:cNvPr id="14" name="Text Box 12">
            <a:extLst>
              <a:ext uri="{FF2B5EF4-FFF2-40B4-BE49-F238E27FC236}">
                <a16:creationId xmlns:a16="http://schemas.microsoft.com/office/drawing/2014/main" id="{290D98CF-2DB7-4A16-B5B4-CD5D820B4300}"/>
              </a:ext>
            </a:extLst>
          </p:cNvPr>
          <p:cNvSpPr txBox="1">
            <a:spLocks noChangeArrowheads="1"/>
          </p:cNvSpPr>
          <p:nvPr/>
        </p:nvSpPr>
        <p:spPr bwMode="auto">
          <a:xfrm>
            <a:off x="8877722" y="2201020"/>
            <a:ext cx="29368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dirty="0">
                <a:solidFill>
                  <a:schemeClr val="tx1">
                    <a:lumMod val="75000"/>
                    <a:lumOff val="25000"/>
                  </a:schemeClr>
                </a:solidFill>
                <a:latin typeface="+mj-lt"/>
              </a:rPr>
              <a:t>Jefe de fabrica</a:t>
            </a:r>
            <a:endParaRPr lang="es-ES" altLang="es-AR" dirty="0">
              <a:solidFill>
                <a:schemeClr val="tx1">
                  <a:lumMod val="75000"/>
                  <a:lumOff val="25000"/>
                </a:schemeClr>
              </a:solidFill>
              <a:latin typeface="+mj-lt"/>
            </a:endParaRPr>
          </a:p>
        </p:txBody>
      </p:sp>
      <p:sp>
        <p:nvSpPr>
          <p:cNvPr id="15" name="Text Box 13">
            <a:extLst>
              <a:ext uri="{FF2B5EF4-FFF2-40B4-BE49-F238E27FC236}">
                <a16:creationId xmlns:a16="http://schemas.microsoft.com/office/drawing/2014/main" id="{326C411F-C34E-489A-82F4-840E7B46EDCB}"/>
              </a:ext>
            </a:extLst>
          </p:cNvPr>
          <p:cNvSpPr txBox="1">
            <a:spLocks noChangeArrowheads="1"/>
          </p:cNvSpPr>
          <p:nvPr/>
        </p:nvSpPr>
        <p:spPr bwMode="auto">
          <a:xfrm>
            <a:off x="8922876" y="2479792"/>
            <a:ext cx="29368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dirty="0">
                <a:solidFill>
                  <a:schemeClr val="tx1">
                    <a:lumMod val="75000"/>
                    <a:lumOff val="25000"/>
                  </a:schemeClr>
                </a:solidFill>
                <a:latin typeface="+mj-lt"/>
              </a:rPr>
              <a:t>Ingeniería Industrial</a:t>
            </a:r>
            <a:endParaRPr lang="es-ES" altLang="es-AR" dirty="0">
              <a:solidFill>
                <a:schemeClr val="tx1">
                  <a:lumMod val="75000"/>
                  <a:lumOff val="25000"/>
                </a:schemeClr>
              </a:solidFill>
              <a:latin typeface="+mj-lt"/>
            </a:endParaRPr>
          </a:p>
        </p:txBody>
      </p:sp>
      <p:sp>
        <p:nvSpPr>
          <p:cNvPr id="16" name="Text Box 14">
            <a:extLst>
              <a:ext uri="{FF2B5EF4-FFF2-40B4-BE49-F238E27FC236}">
                <a16:creationId xmlns:a16="http://schemas.microsoft.com/office/drawing/2014/main" id="{B17A6AB0-C3E8-4459-B85F-123BC3DE6DAA}"/>
              </a:ext>
            </a:extLst>
          </p:cNvPr>
          <p:cNvSpPr txBox="1">
            <a:spLocks noChangeArrowheads="1"/>
          </p:cNvSpPr>
          <p:nvPr/>
        </p:nvSpPr>
        <p:spPr bwMode="auto">
          <a:xfrm>
            <a:off x="8929087" y="2739403"/>
            <a:ext cx="29368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dirty="0">
                <a:solidFill>
                  <a:schemeClr val="tx1">
                    <a:lumMod val="75000"/>
                    <a:lumOff val="25000"/>
                  </a:schemeClr>
                </a:solidFill>
                <a:latin typeface="+mj-lt"/>
              </a:rPr>
              <a:t>Control de calidad</a:t>
            </a:r>
            <a:endParaRPr lang="es-ES" altLang="es-AR" dirty="0">
              <a:solidFill>
                <a:schemeClr val="tx1">
                  <a:lumMod val="75000"/>
                  <a:lumOff val="25000"/>
                </a:schemeClr>
              </a:solidFill>
              <a:latin typeface="+mj-lt"/>
            </a:endParaRPr>
          </a:p>
        </p:txBody>
      </p:sp>
      <p:sp>
        <p:nvSpPr>
          <p:cNvPr id="17" name="Text Box 15">
            <a:extLst>
              <a:ext uri="{FF2B5EF4-FFF2-40B4-BE49-F238E27FC236}">
                <a16:creationId xmlns:a16="http://schemas.microsoft.com/office/drawing/2014/main" id="{16A3A81C-CC49-483E-B956-F76F08198A3D}"/>
              </a:ext>
            </a:extLst>
          </p:cNvPr>
          <p:cNvSpPr txBox="1">
            <a:spLocks noChangeArrowheads="1"/>
          </p:cNvSpPr>
          <p:nvPr/>
        </p:nvSpPr>
        <p:spPr bwMode="auto">
          <a:xfrm>
            <a:off x="7092832" y="3794290"/>
            <a:ext cx="11713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dirty="0">
                <a:solidFill>
                  <a:schemeClr val="tx1">
                    <a:lumMod val="75000"/>
                    <a:lumOff val="25000"/>
                  </a:schemeClr>
                </a:solidFill>
                <a:latin typeface="+mj-lt"/>
              </a:rPr>
              <a:t>Jornales</a:t>
            </a:r>
            <a:endParaRPr lang="es-ES" altLang="es-AR" dirty="0">
              <a:solidFill>
                <a:schemeClr val="tx1">
                  <a:lumMod val="75000"/>
                  <a:lumOff val="25000"/>
                </a:schemeClr>
              </a:solidFill>
              <a:latin typeface="+mj-lt"/>
            </a:endParaRPr>
          </a:p>
        </p:txBody>
      </p:sp>
      <p:sp>
        <p:nvSpPr>
          <p:cNvPr id="18" name="AutoShape 16">
            <a:extLst>
              <a:ext uri="{FF2B5EF4-FFF2-40B4-BE49-F238E27FC236}">
                <a16:creationId xmlns:a16="http://schemas.microsoft.com/office/drawing/2014/main" id="{44FA2E2F-B3D3-4E32-AF3B-2960C52AD058}"/>
              </a:ext>
            </a:extLst>
          </p:cNvPr>
          <p:cNvSpPr>
            <a:spLocks/>
          </p:cNvSpPr>
          <p:nvPr/>
        </p:nvSpPr>
        <p:spPr bwMode="auto">
          <a:xfrm>
            <a:off x="8391670" y="3269934"/>
            <a:ext cx="239605" cy="1336407"/>
          </a:xfrm>
          <a:prstGeom prst="leftBrace">
            <a:avLst>
              <a:gd name="adj1" fmla="val 75741"/>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19" name="Text Box 17">
            <a:extLst>
              <a:ext uri="{FF2B5EF4-FFF2-40B4-BE49-F238E27FC236}">
                <a16:creationId xmlns:a16="http://schemas.microsoft.com/office/drawing/2014/main" id="{5E6D73FF-E8E7-48F1-8FE4-788AB7DF78CC}"/>
              </a:ext>
            </a:extLst>
          </p:cNvPr>
          <p:cNvSpPr txBox="1">
            <a:spLocks noChangeArrowheads="1"/>
          </p:cNvSpPr>
          <p:nvPr/>
        </p:nvSpPr>
        <p:spPr bwMode="auto">
          <a:xfrm>
            <a:off x="8567736" y="3203253"/>
            <a:ext cx="29368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ES" altLang="es-AR" dirty="0">
                <a:latin typeface="+mj-lt"/>
              </a:rPr>
              <a:t>Operarios de limpieza</a:t>
            </a:r>
          </a:p>
        </p:txBody>
      </p:sp>
      <p:sp>
        <p:nvSpPr>
          <p:cNvPr id="21" name="Text Box 17">
            <a:extLst>
              <a:ext uri="{FF2B5EF4-FFF2-40B4-BE49-F238E27FC236}">
                <a16:creationId xmlns:a16="http://schemas.microsoft.com/office/drawing/2014/main" id="{FAA7D02A-E628-462E-9B03-4B3CEA489B4F}"/>
              </a:ext>
            </a:extLst>
          </p:cNvPr>
          <p:cNvSpPr txBox="1">
            <a:spLocks noChangeArrowheads="1"/>
          </p:cNvSpPr>
          <p:nvPr/>
        </p:nvSpPr>
        <p:spPr bwMode="auto">
          <a:xfrm>
            <a:off x="8587769" y="3547886"/>
            <a:ext cx="29368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AR" altLang="es-AR" dirty="0">
                <a:latin typeface="+mj-lt"/>
              </a:rPr>
              <a:t>Mantenimiento</a:t>
            </a:r>
            <a:endParaRPr lang="es-ES" altLang="es-AR" dirty="0">
              <a:latin typeface="+mj-lt"/>
            </a:endParaRPr>
          </a:p>
        </p:txBody>
      </p:sp>
      <p:sp>
        <p:nvSpPr>
          <p:cNvPr id="22" name="Text Box 17">
            <a:extLst>
              <a:ext uri="{FF2B5EF4-FFF2-40B4-BE49-F238E27FC236}">
                <a16:creationId xmlns:a16="http://schemas.microsoft.com/office/drawing/2014/main" id="{3FBD52C0-E784-4124-85A1-A55A0558B813}"/>
              </a:ext>
            </a:extLst>
          </p:cNvPr>
          <p:cNvSpPr txBox="1">
            <a:spLocks noChangeArrowheads="1"/>
          </p:cNvSpPr>
          <p:nvPr/>
        </p:nvSpPr>
        <p:spPr bwMode="auto">
          <a:xfrm>
            <a:off x="8590595" y="3892377"/>
            <a:ext cx="29368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ES" altLang="es-AR" dirty="0">
                <a:latin typeface="+mj-lt"/>
              </a:rPr>
              <a:t>Almacenes</a:t>
            </a:r>
          </a:p>
        </p:txBody>
      </p:sp>
      <p:sp>
        <p:nvSpPr>
          <p:cNvPr id="23" name="Text Box 17">
            <a:extLst>
              <a:ext uri="{FF2B5EF4-FFF2-40B4-BE49-F238E27FC236}">
                <a16:creationId xmlns:a16="http://schemas.microsoft.com/office/drawing/2014/main" id="{6FED8C15-9B0A-4CFB-9F0D-04AC6BE2AEE8}"/>
              </a:ext>
            </a:extLst>
          </p:cNvPr>
          <p:cNvSpPr txBox="1">
            <a:spLocks noChangeArrowheads="1"/>
          </p:cNvSpPr>
          <p:nvPr/>
        </p:nvSpPr>
        <p:spPr bwMode="auto">
          <a:xfrm>
            <a:off x="8603581" y="4237010"/>
            <a:ext cx="305137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s-ES" altLang="es-AR" dirty="0">
                <a:latin typeface="+mj-lt"/>
              </a:rPr>
              <a:t>Movimientos y transportes</a:t>
            </a:r>
          </a:p>
        </p:txBody>
      </p:sp>
    </p:spTree>
    <p:extLst>
      <p:ext uri="{BB962C8B-B14F-4D97-AF65-F5344CB8AC3E}">
        <p14:creationId xmlns:p14="http://schemas.microsoft.com/office/powerpoint/2010/main" val="517394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p:bldP spid="8" grpId="0" animBg="1"/>
      <p:bldP spid="9" grpId="0"/>
      <p:bldP spid="10" grpId="0" animBg="1"/>
      <p:bldP spid="11" grpId="0"/>
      <p:bldP spid="12" grpId="0" animBg="1"/>
      <p:bldP spid="13" grpId="0"/>
      <p:bldP spid="14" grpId="0"/>
      <p:bldP spid="15" grpId="0"/>
      <p:bldP spid="16" grpId="0"/>
      <p:bldP spid="17" grpId="0"/>
      <p:bldP spid="18" grpId="0" animBg="1"/>
      <p:bldP spid="19" grpId="0"/>
      <p:bldP spid="21" grpId="0"/>
      <p:bldP spid="22" grpId="0"/>
      <p:bldP spid="2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Text Box 4">
            <a:extLst>
              <a:ext uri="{FF2B5EF4-FFF2-40B4-BE49-F238E27FC236}">
                <a16:creationId xmlns:a16="http://schemas.microsoft.com/office/drawing/2014/main" id="{FFA39026-D94C-4B8C-A1F5-034EDBB98739}"/>
              </a:ext>
            </a:extLst>
          </p:cNvPr>
          <p:cNvSpPr txBox="1">
            <a:spLocks noChangeArrowheads="1"/>
          </p:cNvSpPr>
          <p:nvPr/>
        </p:nvSpPr>
        <p:spPr bwMode="auto">
          <a:xfrm>
            <a:off x="1754506" y="673162"/>
            <a:ext cx="787717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200" b="1" dirty="0">
                <a:solidFill>
                  <a:schemeClr val="tx1">
                    <a:lumMod val="75000"/>
                    <a:lumOff val="25000"/>
                  </a:schemeClr>
                </a:solidFill>
                <a:latin typeface="Century Gothic" panose="020B0502020202020204" pitchFamily="34" charset="0"/>
                <a:cs typeface="Arial" charset="0"/>
              </a:rPr>
              <a:t>COSTO INDIRECTO</a:t>
            </a:r>
          </a:p>
        </p:txBody>
      </p:sp>
      <p:sp>
        <p:nvSpPr>
          <p:cNvPr id="17413" name="Rectangle 5">
            <a:extLst>
              <a:ext uri="{FF2B5EF4-FFF2-40B4-BE49-F238E27FC236}">
                <a16:creationId xmlns:a16="http://schemas.microsoft.com/office/drawing/2014/main" id="{1751EF9D-78C1-456F-9162-A879C84B10C9}"/>
              </a:ext>
            </a:extLst>
          </p:cNvPr>
          <p:cNvSpPr>
            <a:spLocks noChangeArrowheads="1"/>
          </p:cNvSpPr>
          <p:nvPr/>
        </p:nvSpPr>
        <p:spPr bwMode="auto">
          <a:xfrm>
            <a:off x="2065402" y="2227552"/>
            <a:ext cx="9217025"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spcBef>
                <a:spcPct val="50000"/>
              </a:spcBef>
            </a:pPr>
            <a:r>
              <a:rPr lang="es-ES" altLang="es-AR" sz="2000" b="1" u="sng" dirty="0">
                <a:solidFill>
                  <a:schemeClr val="tx1">
                    <a:lumMod val="75000"/>
                    <a:lumOff val="25000"/>
                  </a:schemeClr>
                </a:solidFill>
                <a:latin typeface="Century Gothic" panose="020B0502020202020204" pitchFamily="34" charset="0"/>
              </a:rPr>
              <a:t>Mano de Obra Indirecta</a:t>
            </a:r>
            <a:endParaRPr lang="es-ES" altLang="es-AR" sz="2000" b="1" dirty="0">
              <a:solidFill>
                <a:schemeClr val="tx1">
                  <a:lumMod val="75000"/>
                  <a:lumOff val="25000"/>
                </a:schemeClr>
              </a:solidFill>
              <a:latin typeface="Century Gothic" panose="020B0502020202020204" pitchFamily="34" charset="0"/>
            </a:endParaRPr>
          </a:p>
          <a:p>
            <a:pPr marL="800100" lvl="1" indent="-342900" algn="just">
              <a:spcBef>
                <a:spcPct val="50000"/>
              </a:spcBef>
              <a:buClr>
                <a:srgbClr val="92D050"/>
              </a:buClr>
              <a:buFont typeface="Arial" panose="020B0604020202020204" pitchFamily="34" charset="0"/>
              <a:buChar char="•"/>
            </a:pPr>
            <a:r>
              <a:rPr lang="es-ES" altLang="es-AR" sz="2000" dirty="0">
                <a:solidFill>
                  <a:schemeClr val="tx1">
                    <a:lumMod val="75000"/>
                    <a:lumOff val="25000"/>
                  </a:schemeClr>
                </a:solidFill>
                <a:latin typeface="Century Gothic" panose="020B0502020202020204" pitchFamily="34" charset="0"/>
              </a:rPr>
              <a:t>es toda aquella mano de obra que no puede ser imputada directamente al costo del producto, dado que no interviene directamente en la transformación del producto, sino que su intervención está dedicada a toda la actividad fabril en su conjunto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4B5E84-7826-48C4-82C9-22EFBBDE8AB8}"/>
              </a:ext>
            </a:extLst>
          </p:cNvPr>
          <p:cNvSpPr>
            <a:spLocks noGrp="1"/>
          </p:cNvSpPr>
          <p:nvPr>
            <p:ph type="title"/>
          </p:nvPr>
        </p:nvSpPr>
        <p:spPr>
          <a:xfrm>
            <a:off x="1730582" y="707011"/>
            <a:ext cx="8911687" cy="719453"/>
          </a:xfrm>
        </p:spPr>
        <p:txBody>
          <a:bodyPr>
            <a:normAutofit fontScale="90000"/>
          </a:bodyPr>
          <a:lstStyle/>
          <a:p>
            <a:r>
              <a:rPr lang="es-MX" altLang="es-AR" b="1" dirty="0">
                <a:solidFill>
                  <a:schemeClr val="tx1">
                    <a:lumMod val="75000"/>
                    <a:lumOff val="25000"/>
                  </a:schemeClr>
                </a:solidFill>
                <a:latin typeface="Century Gothic" panose="020B0502020202020204" pitchFamily="34" charset="0"/>
                <a:cs typeface="Arial" charset="0"/>
              </a:rPr>
              <a:t>COSTO INDIRECTO</a:t>
            </a:r>
            <a:br>
              <a:rPr lang="es-MX" altLang="es-AR" b="1" dirty="0">
                <a:solidFill>
                  <a:schemeClr val="tx1">
                    <a:lumMod val="75000"/>
                    <a:lumOff val="25000"/>
                  </a:schemeClr>
                </a:solidFill>
                <a:latin typeface="Century Gothic" panose="020B0502020202020204" pitchFamily="34" charset="0"/>
                <a:cs typeface="Arial" charset="0"/>
              </a:rPr>
            </a:br>
            <a:endParaRPr lang="es-AR" dirty="0"/>
          </a:p>
        </p:txBody>
      </p:sp>
      <p:sp>
        <p:nvSpPr>
          <p:cNvPr id="4" name="Marcador de número de diapositiva 3">
            <a:extLst>
              <a:ext uri="{FF2B5EF4-FFF2-40B4-BE49-F238E27FC236}">
                <a16:creationId xmlns:a16="http://schemas.microsoft.com/office/drawing/2014/main" id="{A3FE4095-4CE5-48B8-9D9F-43F42ACB0816}"/>
              </a:ext>
            </a:extLst>
          </p:cNvPr>
          <p:cNvSpPr>
            <a:spLocks noGrp="1"/>
          </p:cNvSpPr>
          <p:nvPr>
            <p:ph type="sldNum" sz="quarter" idx="12"/>
          </p:nvPr>
        </p:nvSpPr>
        <p:spPr/>
        <p:txBody>
          <a:bodyPr/>
          <a:lstStyle/>
          <a:p>
            <a:fld id="{D57F1E4F-1CFF-5643-939E-217C01CDF565}" type="slidenum">
              <a:rPr lang="en-US" smtClean="0"/>
              <a:pPr/>
              <a:t>19</a:t>
            </a:fld>
            <a:endParaRPr lang="en-US" dirty="0"/>
          </a:p>
        </p:txBody>
      </p:sp>
      <p:sp>
        <p:nvSpPr>
          <p:cNvPr id="5" name="Rectangle 6">
            <a:extLst>
              <a:ext uri="{FF2B5EF4-FFF2-40B4-BE49-F238E27FC236}">
                <a16:creationId xmlns:a16="http://schemas.microsoft.com/office/drawing/2014/main" id="{750471C3-2103-438F-866E-168A327A4073}"/>
              </a:ext>
            </a:extLst>
          </p:cNvPr>
          <p:cNvSpPr>
            <a:spLocks noChangeArrowheads="1"/>
          </p:cNvSpPr>
          <p:nvPr/>
        </p:nvSpPr>
        <p:spPr bwMode="auto">
          <a:xfrm>
            <a:off x="1830326" y="2145917"/>
            <a:ext cx="8712200"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tabLst>
                <a:tab pos="273050" algn="l"/>
              </a:tabLst>
              <a:defRPr>
                <a:solidFill>
                  <a:schemeClr val="tx1"/>
                </a:solidFill>
                <a:latin typeface="Arial" panose="020B0604020202020204" pitchFamily="34" charset="0"/>
                <a:cs typeface="Arial" panose="020B0604020202020204" pitchFamily="34" charset="0"/>
              </a:defRPr>
            </a:lvl1pPr>
            <a:lvl2pPr marL="742950" indent="-285750">
              <a:tabLst>
                <a:tab pos="273050" algn="l"/>
              </a:tabLst>
              <a:defRPr>
                <a:solidFill>
                  <a:schemeClr val="tx1"/>
                </a:solidFill>
                <a:latin typeface="Arial" panose="020B0604020202020204" pitchFamily="34" charset="0"/>
                <a:cs typeface="Arial" panose="020B0604020202020204" pitchFamily="34" charset="0"/>
              </a:defRPr>
            </a:lvl2pPr>
            <a:lvl3pPr marL="1143000" indent="-228600">
              <a:tabLst>
                <a:tab pos="273050" algn="l"/>
              </a:tabLst>
              <a:defRPr>
                <a:solidFill>
                  <a:schemeClr val="tx1"/>
                </a:solidFill>
                <a:latin typeface="Arial" panose="020B0604020202020204" pitchFamily="34" charset="0"/>
                <a:cs typeface="Arial" panose="020B0604020202020204" pitchFamily="34" charset="0"/>
              </a:defRPr>
            </a:lvl3pPr>
            <a:lvl4pPr marL="1600200" indent="-228600">
              <a:tabLst>
                <a:tab pos="273050" algn="l"/>
              </a:tabLst>
              <a:defRPr>
                <a:solidFill>
                  <a:schemeClr val="tx1"/>
                </a:solidFill>
                <a:latin typeface="Arial" panose="020B0604020202020204" pitchFamily="34" charset="0"/>
                <a:cs typeface="Arial" panose="020B0604020202020204" pitchFamily="34" charset="0"/>
              </a:defRPr>
            </a:lvl4pPr>
            <a:lvl5pPr marL="2057400" indent="-228600">
              <a:tabLst>
                <a:tab pos="27305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27305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27305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27305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273050" algn="l"/>
              </a:tabLst>
              <a:defRPr>
                <a:solidFill>
                  <a:schemeClr val="tx1"/>
                </a:solidFill>
                <a:latin typeface="Arial" panose="020B0604020202020204" pitchFamily="34" charset="0"/>
                <a:cs typeface="Arial" panose="020B0604020202020204" pitchFamily="34" charset="0"/>
              </a:defRPr>
            </a:lvl9pPr>
          </a:lstStyle>
          <a:p>
            <a:pPr algn="just">
              <a:spcBef>
                <a:spcPct val="50000"/>
              </a:spcBef>
              <a:buClr>
                <a:srgbClr val="92D050"/>
              </a:buClr>
              <a:buFontTx/>
              <a:buChar char="•"/>
            </a:pPr>
            <a:r>
              <a:rPr lang="es-ES" altLang="es-AR" sz="2000" b="1" dirty="0">
                <a:solidFill>
                  <a:schemeClr val="tx1">
                    <a:lumMod val="75000"/>
                    <a:lumOff val="25000"/>
                  </a:schemeClr>
                </a:solidFill>
                <a:latin typeface="Century Gothic" panose="020B0502020202020204" pitchFamily="34" charset="0"/>
              </a:rPr>
              <a:t>Sueldos de taller</a:t>
            </a:r>
          </a:p>
          <a:p>
            <a:pPr lvl="1" algn="just">
              <a:spcBef>
                <a:spcPct val="50000"/>
              </a:spcBef>
              <a:buClr>
                <a:srgbClr val="92D050"/>
              </a:buClr>
              <a:buFontTx/>
              <a:buChar char="•"/>
            </a:pPr>
            <a:r>
              <a:rPr lang="es-ES" altLang="es-AR" sz="2000" dirty="0">
                <a:solidFill>
                  <a:schemeClr val="tx1">
                    <a:lumMod val="75000"/>
                    <a:lumOff val="25000"/>
                  </a:schemeClr>
                </a:solidFill>
                <a:latin typeface="Century Gothic" panose="020B0502020202020204" pitchFamily="34" charset="0"/>
              </a:rPr>
              <a:t> Supervisores de Planta</a:t>
            </a:r>
          </a:p>
          <a:p>
            <a:pPr marL="800100" lvl="1" indent="-342900" algn="just">
              <a:spcBef>
                <a:spcPct val="50000"/>
              </a:spcBef>
              <a:buClr>
                <a:srgbClr val="92D050"/>
              </a:buClr>
              <a:buFont typeface="Arial" panose="020B0604020202020204" pitchFamily="34" charset="0"/>
              <a:buChar char="•"/>
            </a:pPr>
            <a:r>
              <a:rPr lang="es-ES" altLang="es-AR" sz="2000" dirty="0">
                <a:solidFill>
                  <a:schemeClr val="tx1">
                    <a:lumMod val="75000"/>
                    <a:lumOff val="25000"/>
                  </a:schemeClr>
                </a:solidFill>
                <a:latin typeface="Century Gothic" panose="020B0502020202020204" pitchFamily="34" charset="0"/>
              </a:rPr>
              <a:t>Jefes de Taller, </a:t>
            </a:r>
          </a:p>
          <a:p>
            <a:pPr marL="800100" lvl="1" indent="-342900" algn="just">
              <a:spcBef>
                <a:spcPct val="50000"/>
              </a:spcBef>
              <a:buClr>
                <a:srgbClr val="92D050"/>
              </a:buClr>
              <a:buFont typeface="Arial" panose="020B0604020202020204" pitchFamily="34" charset="0"/>
              <a:buChar char="•"/>
            </a:pPr>
            <a:r>
              <a:rPr lang="es-ES" altLang="es-AR" sz="2000" dirty="0">
                <a:solidFill>
                  <a:schemeClr val="tx1">
                    <a:lumMod val="75000"/>
                    <a:lumOff val="25000"/>
                  </a:schemeClr>
                </a:solidFill>
                <a:latin typeface="Century Gothic" panose="020B0502020202020204" pitchFamily="34" charset="0"/>
              </a:rPr>
              <a:t> Administrativos de Taller, etc.</a:t>
            </a:r>
          </a:p>
        </p:txBody>
      </p:sp>
      <p:sp>
        <p:nvSpPr>
          <p:cNvPr id="6" name="Rectangle 7">
            <a:extLst>
              <a:ext uri="{FF2B5EF4-FFF2-40B4-BE49-F238E27FC236}">
                <a16:creationId xmlns:a16="http://schemas.microsoft.com/office/drawing/2014/main" id="{1ACC5CE9-085D-491F-9E6E-B6BA31D5E783}"/>
              </a:ext>
            </a:extLst>
          </p:cNvPr>
          <p:cNvSpPr>
            <a:spLocks noChangeArrowheads="1"/>
          </p:cNvSpPr>
          <p:nvPr/>
        </p:nvSpPr>
        <p:spPr bwMode="auto">
          <a:xfrm>
            <a:off x="1830326" y="4250364"/>
            <a:ext cx="9738231"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77800" indent="-177800">
              <a:tabLst>
                <a:tab pos="273050" algn="l"/>
              </a:tabLst>
              <a:defRPr>
                <a:solidFill>
                  <a:schemeClr val="tx1"/>
                </a:solidFill>
                <a:latin typeface="Arial" panose="020B0604020202020204" pitchFamily="34" charset="0"/>
                <a:cs typeface="Arial" panose="020B0604020202020204" pitchFamily="34" charset="0"/>
              </a:defRPr>
            </a:lvl1pPr>
            <a:lvl2pPr marL="742950" indent="-285750">
              <a:tabLst>
                <a:tab pos="273050" algn="l"/>
              </a:tabLst>
              <a:defRPr>
                <a:solidFill>
                  <a:schemeClr val="tx1"/>
                </a:solidFill>
                <a:latin typeface="Arial" panose="020B0604020202020204" pitchFamily="34" charset="0"/>
                <a:cs typeface="Arial" panose="020B0604020202020204" pitchFamily="34" charset="0"/>
              </a:defRPr>
            </a:lvl2pPr>
            <a:lvl3pPr marL="1143000" indent="-228600">
              <a:tabLst>
                <a:tab pos="273050" algn="l"/>
              </a:tabLst>
              <a:defRPr>
                <a:solidFill>
                  <a:schemeClr val="tx1"/>
                </a:solidFill>
                <a:latin typeface="Arial" panose="020B0604020202020204" pitchFamily="34" charset="0"/>
                <a:cs typeface="Arial" panose="020B0604020202020204" pitchFamily="34" charset="0"/>
              </a:defRPr>
            </a:lvl3pPr>
            <a:lvl4pPr marL="1600200" indent="-228600">
              <a:tabLst>
                <a:tab pos="273050" algn="l"/>
              </a:tabLst>
              <a:defRPr>
                <a:solidFill>
                  <a:schemeClr val="tx1"/>
                </a:solidFill>
                <a:latin typeface="Arial" panose="020B0604020202020204" pitchFamily="34" charset="0"/>
                <a:cs typeface="Arial" panose="020B0604020202020204" pitchFamily="34" charset="0"/>
              </a:defRPr>
            </a:lvl4pPr>
            <a:lvl5pPr marL="2057400" indent="-228600">
              <a:tabLst>
                <a:tab pos="27305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27305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27305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27305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273050" algn="l"/>
              </a:tabLst>
              <a:defRPr>
                <a:solidFill>
                  <a:schemeClr val="tx1"/>
                </a:solidFill>
                <a:latin typeface="Arial" panose="020B0604020202020204" pitchFamily="34" charset="0"/>
                <a:cs typeface="Arial" panose="020B0604020202020204" pitchFamily="34" charset="0"/>
              </a:defRPr>
            </a:lvl9pPr>
          </a:lstStyle>
          <a:p>
            <a:pPr algn="just">
              <a:spcBef>
                <a:spcPct val="50000"/>
              </a:spcBef>
              <a:buClr>
                <a:srgbClr val="92D050"/>
              </a:buClr>
              <a:buFontTx/>
              <a:buChar char="•"/>
            </a:pPr>
            <a:r>
              <a:rPr lang="es-ES" altLang="es-AR" sz="2000" b="1" dirty="0">
                <a:solidFill>
                  <a:schemeClr val="tx1">
                    <a:lumMod val="75000"/>
                    <a:lumOff val="25000"/>
                  </a:schemeClr>
                </a:solidFill>
                <a:latin typeface="Century Gothic" panose="020B0502020202020204" pitchFamily="34" charset="0"/>
              </a:rPr>
              <a:t>Jornales de Taller</a:t>
            </a:r>
          </a:p>
          <a:p>
            <a:pPr marL="908050" lvl="1" indent="-342900" algn="just">
              <a:spcBef>
                <a:spcPct val="50000"/>
              </a:spcBef>
              <a:buClr>
                <a:srgbClr val="92D050"/>
              </a:buClr>
              <a:buFont typeface="Arial" panose="020B0604020202020204" pitchFamily="34" charset="0"/>
              <a:buChar char="•"/>
            </a:pPr>
            <a:r>
              <a:rPr lang="es-ES" altLang="es-AR" sz="2000" dirty="0">
                <a:solidFill>
                  <a:schemeClr val="tx1">
                    <a:lumMod val="75000"/>
                    <a:lumOff val="25000"/>
                  </a:schemeClr>
                </a:solidFill>
                <a:latin typeface="Century Gothic" panose="020B0502020202020204" pitchFamily="34" charset="0"/>
              </a:rPr>
              <a:t>Ayudantes Generales (personal de limpieza, carga y descarga, etc.) </a:t>
            </a:r>
          </a:p>
          <a:p>
            <a:pPr marL="908050" lvl="1" indent="-342900" algn="just">
              <a:spcBef>
                <a:spcPct val="50000"/>
              </a:spcBef>
              <a:buClr>
                <a:srgbClr val="92D050"/>
              </a:buClr>
              <a:buFont typeface="Arial" panose="020B0604020202020204" pitchFamily="34" charset="0"/>
              <a:buChar char="•"/>
            </a:pPr>
            <a:r>
              <a:rPr lang="es-ES" altLang="es-AR" sz="2000" dirty="0">
                <a:solidFill>
                  <a:schemeClr val="tx1">
                    <a:lumMod val="75000"/>
                    <a:lumOff val="25000"/>
                  </a:schemeClr>
                </a:solidFill>
                <a:latin typeface="Century Gothic" panose="020B0502020202020204" pitchFamily="34" charset="0"/>
              </a:rPr>
              <a:t>Transporte (guinches, </a:t>
            </a:r>
            <a:r>
              <a:rPr lang="es-ES" altLang="es-AR" sz="2000" dirty="0" err="1">
                <a:solidFill>
                  <a:schemeClr val="tx1">
                    <a:lumMod val="75000"/>
                    <a:lumOff val="25000"/>
                  </a:schemeClr>
                </a:solidFill>
                <a:latin typeface="Century Gothic" panose="020B0502020202020204" pitchFamily="34" charset="0"/>
              </a:rPr>
              <a:t>autoelevadores</a:t>
            </a:r>
            <a:r>
              <a:rPr lang="es-ES" altLang="es-AR" sz="2000" dirty="0">
                <a:solidFill>
                  <a:schemeClr val="tx1">
                    <a:lumMod val="75000"/>
                    <a:lumOff val="25000"/>
                  </a:schemeClr>
                </a:solidFill>
                <a:latin typeface="Century Gothic" panose="020B0502020202020204" pitchFamily="34" charset="0"/>
              </a:rPr>
              <a:t>, zorras, etc.)</a:t>
            </a:r>
          </a:p>
          <a:p>
            <a:pPr marL="908050" lvl="1" indent="-342900" algn="just">
              <a:spcBef>
                <a:spcPct val="50000"/>
              </a:spcBef>
              <a:buClr>
                <a:srgbClr val="92D050"/>
              </a:buClr>
              <a:buFont typeface="Arial" panose="020B0604020202020204" pitchFamily="34" charset="0"/>
              <a:buChar char="•"/>
            </a:pPr>
            <a:r>
              <a:rPr lang="es-ES" altLang="es-AR" sz="2000" dirty="0">
                <a:solidFill>
                  <a:schemeClr val="tx1">
                    <a:lumMod val="75000"/>
                    <a:lumOff val="25000"/>
                  </a:schemeClr>
                </a:solidFill>
                <a:latin typeface="Century Gothic" panose="020B0502020202020204" pitchFamily="34" charset="0"/>
              </a:rPr>
              <a:t>Engrasador</a:t>
            </a:r>
          </a:p>
          <a:p>
            <a:pPr marL="908050" lvl="1" indent="-342900" algn="just">
              <a:spcBef>
                <a:spcPct val="50000"/>
              </a:spcBef>
              <a:buClr>
                <a:srgbClr val="92D050"/>
              </a:buClr>
              <a:buFont typeface="Arial" panose="020B0604020202020204" pitchFamily="34" charset="0"/>
              <a:buChar char="•"/>
            </a:pPr>
            <a:r>
              <a:rPr lang="es-ES" altLang="es-AR" sz="2000" dirty="0">
                <a:solidFill>
                  <a:schemeClr val="tx1">
                    <a:lumMod val="75000"/>
                    <a:lumOff val="25000"/>
                  </a:schemeClr>
                </a:solidFill>
                <a:latin typeface="Century Gothic" panose="020B0502020202020204" pitchFamily="34" charset="0"/>
              </a:rPr>
              <a:t>Etc.</a:t>
            </a:r>
          </a:p>
        </p:txBody>
      </p:sp>
      <p:sp>
        <p:nvSpPr>
          <p:cNvPr id="9" name="CuadroTexto 8">
            <a:extLst>
              <a:ext uri="{FF2B5EF4-FFF2-40B4-BE49-F238E27FC236}">
                <a16:creationId xmlns:a16="http://schemas.microsoft.com/office/drawing/2014/main" id="{4BF6AEAA-1E38-4873-A1C8-65CB22E06A56}"/>
              </a:ext>
            </a:extLst>
          </p:cNvPr>
          <p:cNvSpPr txBox="1"/>
          <p:nvPr/>
        </p:nvSpPr>
        <p:spPr>
          <a:xfrm>
            <a:off x="1793813" y="1426464"/>
            <a:ext cx="7699248" cy="400110"/>
          </a:xfrm>
          <a:prstGeom prst="rect">
            <a:avLst/>
          </a:prstGeom>
          <a:noFill/>
        </p:spPr>
        <p:txBody>
          <a:bodyPr wrap="square" rtlCol="0">
            <a:spAutoFit/>
          </a:bodyPr>
          <a:lstStyle/>
          <a:p>
            <a:r>
              <a:rPr lang="es-AR" sz="2000" b="1" dirty="0">
                <a:solidFill>
                  <a:schemeClr val="tx1">
                    <a:lumMod val="75000"/>
                    <a:lumOff val="25000"/>
                  </a:schemeClr>
                </a:solidFill>
              </a:rPr>
              <a:t>Esta mano de obra indirecta esta integrada por:</a:t>
            </a:r>
          </a:p>
        </p:txBody>
      </p:sp>
    </p:spTree>
    <p:extLst>
      <p:ext uri="{BB962C8B-B14F-4D97-AF65-F5344CB8AC3E}">
        <p14:creationId xmlns:p14="http://schemas.microsoft.com/office/powerpoint/2010/main" val="2645263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F261A3-3577-4E34-AC79-519420D6D84C}"/>
              </a:ext>
            </a:extLst>
          </p:cNvPr>
          <p:cNvSpPr>
            <a:spLocks noGrp="1"/>
          </p:cNvSpPr>
          <p:nvPr>
            <p:ph type="title"/>
          </p:nvPr>
        </p:nvSpPr>
        <p:spPr>
          <a:xfrm>
            <a:off x="1793750" y="645350"/>
            <a:ext cx="8911687" cy="649988"/>
          </a:xfrm>
        </p:spPr>
        <p:txBody>
          <a:bodyPr anchor="ctr">
            <a:normAutofit/>
          </a:bodyPr>
          <a:lstStyle/>
          <a:p>
            <a:r>
              <a:rPr lang="es-MX" altLang="es-AR" sz="3200" b="1" dirty="0">
                <a:solidFill>
                  <a:schemeClr val="tx1">
                    <a:lumMod val="75000"/>
                    <a:lumOff val="25000"/>
                  </a:schemeClr>
                </a:solidFill>
                <a:latin typeface="Century Gothic" panose="020B0502020202020204" pitchFamily="34" charset="0"/>
                <a:cs typeface="Arial" charset="0"/>
              </a:rPr>
              <a:t>COSTO INDIRECTO</a:t>
            </a:r>
            <a:endParaRPr lang="es-AR" sz="3200" dirty="0">
              <a:solidFill>
                <a:schemeClr val="tx1">
                  <a:lumMod val="75000"/>
                  <a:lumOff val="25000"/>
                </a:schemeClr>
              </a:solidFill>
            </a:endParaRPr>
          </a:p>
        </p:txBody>
      </p:sp>
      <p:sp>
        <p:nvSpPr>
          <p:cNvPr id="3" name="Marcador de número de diapositiva 2">
            <a:extLst>
              <a:ext uri="{FF2B5EF4-FFF2-40B4-BE49-F238E27FC236}">
                <a16:creationId xmlns:a16="http://schemas.microsoft.com/office/drawing/2014/main" id="{C5B84F3F-BFF9-4B3C-A360-1D8980C20372}"/>
              </a:ext>
            </a:extLst>
          </p:cNvPr>
          <p:cNvSpPr>
            <a:spLocks noGrp="1"/>
          </p:cNvSpPr>
          <p:nvPr>
            <p:ph type="sldNum" sz="quarter" idx="12"/>
          </p:nvPr>
        </p:nvSpPr>
        <p:spPr/>
        <p:txBody>
          <a:bodyPr/>
          <a:lstStyle/>
          <a:p>
            <a:fld id="{D57F1E4F-1CFF-5643-939E-217C01CDF565}" type="slidenum">
              <a:rPr lang="en-US" smtClean="0"/>
              <a:pPr/>
              <a:t>20</a:t>
            </a:fld>
            <a:endParaRPr lang="en-US" dirty="0"/>
          </a:p>
        </p:txBody>
      </p:sp>
      <p:sp>
        <p:nvSpPr>
          <p:cNvPr id="4" name="Rectangle 8">
            <a:extLst>
              <a:ext uri="{FF2B5EF4-FFF2-40B4-BE49-F238E27FC236}">
                <a16:creationId xmlns:a16="http://schemas.microsoft.com/office/drawing/2014/main" id="{A34239D0-443C-48D3-909D-7CCE854D7360}"/>
              </a:ext>
            </a:extLst>
          </p:cNvPr>
          <p:cNvSpPr>
            <a:spLocks noChangeArrowheads="1"/>
          </p:cNvSpPr>
          <p:nvPr/>
        </p:nvSpPr>
        <p:spPr bwMode="auto">
          <a:xfrm>
            <a:off x="1793750" y="1976867"/>
            <a:ext cx="8785225" cy="4555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177800" indent="-177800" algn="just">
              <a:spcBef>
                <a:spcPct val="50000"/>
              </a:spcBef>
              <a:buClr>
                <a:srgbClr val="92D050"/>
              </a:buClr>
              <a:buFontTx/>
              <a:buChar char="•"/>
              <a:tabLst>
                <a:tab pos="273050" algn="l"/>
              </a:tabLst>
            </a:pPr>
            <a:r>
              <a:rPr lang="es-ES" altLang="es-AR" sz="2000" b="1" dirty="0">
                <a:solidFill>
                  <a:schemeClr val="tx1">
                    <a:lumMod val="75000"/>
                    <a:lumOff val="25000"/>
                  </a:schemeClr>
                </a:solidFill>
                <a:latin typeface="Century Gothic" panose="020B0502020202020204" pitchFamily="34" charset="0"/>
                <a:cs typeface="Arial" panose="020B0604020202020204" pitchFamily="34" charset="0"/>
              </a:rPr>
              <a:t>Sueldos y Jornales de Servicios Auxiliares</a:t>
            </a:r>
          </a:p>
          <a:p>
            <a:pPr marL="635000" lvl="1" indent="-177800" algn="just">
              <a:spcBef>
                <a:spcPct val="50000"/>
              </a:spcBef>
              <a:buClr>
                <a:srgbClr val="92D050"/>
              </a:buClr>
              <a:buFontTx/>
              <a:buChar char="•"/>
              <a:tabLst>
                <a:tab pos="273050" algn="l"/>
              </a:tabLst>
            </a:pPr>
            <a:r>
              <a:rPr lang="es-ES" altLang="es-AR" sz="2000" dirty="0">
                <a:solidFill>
                  <a:schemeClr val="tx1">
                    <a:lumMod val="75000"/>
                    <a:lumOff val="25000"/>
                  </a:schemeClr>
                </a:solidFill>
                <a:latin typeface="Century Gothic" panose="020B0502020202020204" pitchFamily="34" charset="0"/>
                <a:cs typeface="Arial" panose="020B0604020202020204" pitchFamily="34" charset="0"/>
              </a:rPr>
              <a:t>Almacenes</a:t>
            </a:r>
          </a:p>
          <a:p>
            <a:pPr marL="635000" lvl="1" indent="-177800" algn="just">
              <a:spcBef>
                <a:spcPct val="50000"/>
              </a:spcBef>
              <a:buClr>
                <a:srgbClr val="92D050"/>
              </a:buClr>
              <a:buFontTx/>
              <a:buChar char="•"/>
              <a:tabLst>
                <a:tab pos="273050" algn="l"/>
              </a:tabLst>
            </a:pPr>
            <a:r>
              <a:rPr lang="es-ES" altLang="es-AR" sz="2000" dirty="0">
                <a:solidFill>
                  <a:schemeClr val="tx1">
                    <a:lumMod val="75000"/>
                    <a:lumOff val="25000"/>
                  </a:schemeClr>
                </a:solidFill>
                <a:latin typeface="Century Gothic" panose="020B0502020202020204" pitchFamily="34" charset="0"/>
                <a:cs typeface="Arial" panose="020B0604020202020204" pitchFamily="34" charset="0"/>
              </a:rPr>
              <a:t>Mantenimiento</a:t>
            </a:r>
          </a:p>
          <a:p>
            <a:pPr marL="635000" lvl="1" indent="-177800" algn="just">
              <a:spcBef>
                <a:spcPct val="50000"/>
              </a:spcBef>
              <a:buClr>
                <a:srgbClr val="92D050"/>
              </a:buClr>
              <a:buFontTx/>
              <a:buChar char="•"/>
              <a:tabLst>
                <a:tab pos="273050" algn="l"/>
              </a:tabLst>
            </a:pPr>
            <a:r>
              <a:rPr lang="es-ES" altLang="es-AR" sz="2000" dirty="0">
                <a:solidFill>
                  <a:schemeClr val="tx1">
                    <a:lumMod val="75000"/>
                    <a:lumOff val="25000"/>
                  </a:schemeClr>
                </a:solidFill>
                <a:latin typeface="Century Gothic" panose="020B0502020202020204" pitchFamily="34" charset="0"/>
                <a:cs typeface="Arial" panose="020B0604020202020204" pitchFamily="34" charset="0"/>
              </a:rPr>
              <a:t>Control de Calidad</a:t>
            </a:r>
          </a:p>
          <a:p>
            <a:pPr marL="635000" lvl="1" indent="-177800" algn="just">
              <a:spcBef>
                <a:spcPct val="50000"/>
              </a:spcBef>
              <a:buClr>
                <a:srgbClr val="92D050"/>
              </a:buClr>
              <a:buFontTx/>
              <a:buChar char="•"/>
              <a:tabLst>
                <a:tab pos="273050" algn="l"/>
              </a:tabLst>
            </a:pPr>
            <a:r>
              <a:rPr lang="es-ES" altLang="es-AR" sz="2000" dirty="0">
                <a:solidFill>
                  <a:schemeClr val="tx1">
                    <a:lumMod val="75000"/>
                    <a:lumOff val="25000"/>
                  </a:schemeClr>
                </a:solidFill>
                <a:latin typeface="Century Gothic" panose="020B0502020202020204" pitchFamily="34" charset="0"/>
                <a:cs typeface="Arial" panose="020B0604020202020204" pitchFamily="34" charset="0"/>
              </a:rPr>
              <a:t>Abastecimiento</a:t>
            </a:r>
          </a:p>
          <a:p>
            <a:pPr marL="635000" lvl="1" indent="-177800" algn="just">
              <a:spcBef>
                <a:spcPct val="50000"/>
              </a:spcBef>
              <a:buClr>
                <a:srgbClr val="92D050"/>
              </a:buClr>
              <a:buFontTx/>
              <a:buChar char="•"/>
              <a:tabLst>
                <a:tab pos="273050" algn="l"/>
              </a:tabLst>
            </a:pPr>
            <a:r>
              <a:rPr lang="es-ES" altLang="es-AR" sz="2000" dirty="0">
                <a:solidFill>
                  <a:schemeClr val="tx1">
                    <a:lumMod val="75000"/>
                    <a:lumOff val="25000"/>
                  </a:schemeClr>
                </a:solidFill>
                <a:latin typeface="Century Gothic" panose="020B0502020202020204" pitchFamily="34" charset="0"/>
                <a:cs typeface="Arial" panose="020B0604020202020204" pitchFamily="34" charset="0"/>
              </a:rPr>
              <a:t>Servicio de  Vigilancia</a:t>
            </a:r>
          </a:p>
          <a:p>
            <a:pPr marL="635000" lvl="1" indent="-177800" algn="just">
              <a:spcBef>
                <a:spcPct val="50000"/>
              </a:spcBef>
              <a:buClr>
                <a:srgbClr val="92D050"/>
              </a:buClr>
              <a:buFontTx/>
              <a:buChar char="•"/>
              <a:tabLst>
                <a:tab pos="273050" algn="l"/>
              </a:tabLst>
            </a:pPr>
            <a:r>
              <a:rPr lang="es-ES" altLang="es-AR" sz="2000" dirty="0">
                <a:solidFill>
                  <a:schemeClr val="tx1">
                    <a:lumMod val="75000"/>
                    <a:lumOff val="25000"/>
                  </a:schemeClr>
                </a:solidFill>
                <a:latin typeface="Century Gothic" panose="020B0502020202020204" pitchFamily="34" charset="0"/>
                <a:cs typeface="Arial" panose="020B0604020202020204" pitchFamily="34" charset="0"/>
              </a:rPr>
              <a:t>Ingeniería Industrial</a:t>
            </a:r>
          </a:p>
          <a:p>
            <a:pPr marL="635000" lvl="1" indent="-177800" algn="just">
              <a:spcBef>
                <a:spcPct val="50000"/>
              </a:spcBef>
              <a:buClr>
                <a:srgbClr val="92D050"/>
              </a:buClr>
              <a:buFontTx/>
              <a:buChar char="•"/>
              <a:tabLst>
                <a:tab pos="273050" algn="l"/>
              </a:tabLst>
            </a:pPr>
            <a:r>
              <a:rPr lang="es-ES" altLang="es-AR" sz="2000" dirty="0">
                <a:solidFill>
                  <a:schemeClr val="tx1">
                    <a:lumMod val="75000"/>
                    <a:lumOff val="25000"/>
                  </a:schemeClr>
                </a:solidFill>
                <a:latin typeface="Century Gothic" panose="020B0502020202020204" pitchFamily="34" charset="0"/>
                <a:cs typeface="Arial" panose="020B0604020202020204" pitchFamily="34" charset="0"/>
              </a:rPr>
              <a:t>Seguridad Industrial,</a:t>
            </a:r>
          </a:p>
          <a:p>
            <a:pPr marL="635000" lvl="1" indent="-177800" algn="just">
              <a:spcBef>
                <a:spcPct val="50000"/>
              </a:spcBef>
              <a:buClr>
                <a:srgbClr val="92D050"/>
              </a:buClr>
              <a:buFontTx/>
              <a:buChar char="•"/>
              <a:tabLst>
                <a:tab pos="273050" algn="l"/>
              </a:tabLst>
            </a:pPr>
            <a:r>
              <a:rPr lang="es-ES" altLang="es-AR" sz="2000" dirty="0">
                <a:solidFill>
                  <a:schemeClr val="tx1">
                    <a:lumMod val="75000"/>
                    <a:lumOff val="25000"/>
                  </a:schemeClr>
                </a:solidFill>
                <a:latin typeface="Century Gothic" panose="020B0502020202020204" pitchFamily="34" charset="0"/>
                <a:cs typeface="Arial" panose="020B0604020202020204" pitchFamily="34" charset="0"/>
              </a:rPr>
              <a:t>Aseguramiento de la Calidad</a:t>
            </a:r>
          </a:p>
          <a:p>
            <a:pPr marL="635000" lvl="1" indent="-177800" algn="just">
              <a:spcBef>
                <a:spcPct val="50000"/>
              </a:spcBef>
              <a:buClr>
                <a:srgbClr val="92D050"/>
              </a:buClr>
              <a:buFontTx/>
              <a:buChar char="•"/>
              <a:tabLst>
                <a:tab pos="273050" algn="l"/>
              </a:tabLst>
            </a:pPr>
            <a:r>
              <a:rPr lang="es-ES" altLang="es-AR" sz="2000" dirty="0">
                <a:solidFill>
                  <a:schemeClr val="tx1">
                    <a:lumMod val="75000"/>
                    <a:lumOff val="25000"/>
                  </a:schemeClr>
                </a:solidFill>
                <a:latin typeface="Century Gothic" panose="020B0502020202020204" pitchFamily="34" charset="0"/>
                <a:cs typeface="Arial" panose="020B0604020202020204" pitchFamily="34" charset="0"/>
              </a:rPr>
              <a:t>etc.</a:t>
            </a:r>
          </a:p>
        </p:txBody>
      </p:sp>
    </p:spTree>
    <p:extLst>
      <p:ext uri="{BB962C8B-B14F-4D97-AF65-F5344CB8AC3E}">
        <p14:creationId xmlns:p14="http://schemas.microsoft.com/office/powerpoint/2010/main" val="599434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52C166-4395-4993-AF68-36CD3361048F}"/>
              </a:ext>
            </a:extLst>
          </p:cNvPr>
          <p:cNvSpPr>
            <a:spLocks noGrp="1"/>
          </p:cNvSpPr>
          <p:nvPr>
            <p:ph type="title"/>
          </p:nvPr>
        </p:nvSpPr>
        <p:spPr>
          <a:xfrm>
            <a:off x="1842550" y="697262"/>
            <a:ext cx="8911687" cy="1280890"/>
          </a:xfrm>
        </p:spPr>
        <p:txBody>
          <a:bodyPr>
            <a:normAutofit/>
          </a:bodyPr>
          <a:lstStyle/>
          <a:p>
            <a:r>
              <a:rPr lang="es-MX" altLang="es-AR" sz="3200" b="1" dirty="0">
                <a:solidFill>
                  <a:schemeClr val="tx1">
                    <a:lumMod val="75000"/>
                    <a:lumOff val="25000"/>
                  </a:schemeClr>
                </a:solidFill>
                <a:latin typeface="Century Gothic" panose="020B0502020202020204" pitchFamily="34" charset="0"/>
                <a:cs typeface="Arial" charset="0"/>
              </a:rPr>
              <a:t>COSTO INDIRECTO</a:t>
            </a:r>
            <a:endParaRPr lang="es-AR" sz="3200" dirty="0">
              <a:solidFill>
                <a:schemeClr val="tx1">
                  <a:lumMod val="75000"/>
                  <a:lumOff val="25000"/>
                </a:schemeClr>
              </a:solidFill>
            </a:endParaRPr>
          </a:p>
        </p:txBody>
      </p:sp>
      <p:sp>
        <p:nvSpPr>
          <p:cNvPr id="3" name="Marcador de número de diapositiva 2">
            <a:extLst>
              <a:ext uri="{FF2B5EF4-FFF2-40B4-BE49-F238E27FC236}">
                <a16:creationId xmlns:a16="http://schemas.microsoft.com/office/drawing/2014/main" id="{37A02B82-20DB-4AF1-8951-DE08F5F4629B}"/>
              </a:ext>
            </a:extLst>
          </p:cNvPr>
          <p:cNvSpPr>
            <a:spLocks noGrp="1"/>
          </p:cNvSpPr>
          <p:nvPr>
            <p:ph type="sldNum" sz="quarter" idx="12"/>
          </p:nvPr>
        </p:nvSpPr>
        <p:spPr/>
        <p:txBody>
          <a:bodyPr/>
          <a:lstStyle/>
          <a:p>
            <a:fld id="{D57F1E4F-1CFF-5643-939E-217C01CDF565}" type="slidenum">
              <a:rPr lang="en-US" smtClean="0"/>
              <a:pPr/>
              <a:t>21</a:t>
            </a:fld>
            <a:endParaRPr lang="en-US" dirty="0"/>
          </a:p>
        </p:txBody>
      </p:sp>
      <p:sp>
        <p:nvSpPr>
          <p:cNvPr id="4" name="Rectangle 9">
            <a:extLst>
              <a:ext uri="{FF2B5EF4-FFF2-40B4-BE49-F238E27FC236}">
                <a16:creationId xmlns:a16="http://schemas.microsoft.com/office/drawing/2014/main" id="{15AEEBC1-8CD4-4189-89E0-015F90C44C56}"/>
              </a:ext>
            </a:extLst>
          </p:cNvPr>
          <p:cNvSpPr>
            <a:spLocks noChangeArrowheads="1"/>
          </p:cNvSpPr>
          <p:nvPr/>
        </p:nvSpPr>
        <p:spPr bwMode="auto">
          <a:xfrm>
            <a:off x="1967486" y="2434842"/>
            <a:ext cx="8785225"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tabLst>
                <a:tab pos="273050" algn="l"/>
              </a:tabLst>
              <a:defRPr>
                <a:solidFill>
                  <a:schemeClr val="tx1"/>
                </a:solidFill>
                <a:latin typeface="Arial" panose="020B0604020202020204" pitchFamily="34" charset="0"/>
                <a:cs typeface="Arial" panose="020B0604020202020204" pitchFamily="34" charset="0"/>
              </a:defRPr>
            </a:lvl1pPr>
            <a:lvl2pPr marL="742950" indent="-285750">
              <a:tabLst>
                <a:tab pos="273050" algn="l"/>
              </a:tabLst>
              <a:defRPr>
                <a:solidFill>
                  <a:schemeClr val="tx1"/>
                </a:solidFill>
                <a:latin typeface="Arial" panose="020B0604020202020204" pitchFamily="34" charset="0"/>
                <a:cs typeface="Arial" panose="020B0604020202020204" pitchFamily="34" charset="0"/>
              </a:defRPr>
            </a:lvl2pPr>
            <a:lvl3pPr marL="1143000" indent="-228600">
              <a:tabLst>
                <a:tab pos="273050" algn="l"/>
              </a:tabLst>
              <a:defRPr>
                <a:solidFill>
                  <a:schemeClr val="tx1"/>
                </a:solidFill>
                <a:latin typeface="Arial" panose="020B0604020202020204" pitchFamily="34" charset="0"/>
                <a:cs typeface="Arial" panose="020B0604020202020204" pitchFamily="34" charset="0"/>
              </a:defRPr>
            </a:lvl3pPr>
            <a:lvl4pPr marL="1600200" indent="-228600">
              <a:tabLst>
                <a:tab pos="273050" algn="l"/>
              </a:tabLst>
              <a:defRPr>
                <a:solidFill>
                  <a:schemeClr val="tx1"/>
                </a:solidFill>
                <a:latin typeface="Arial" panose="020B0604020202020204" pitchFamily="34" charset="0"/>
                <a:cs typeface="Arial" panose="020B0604020202020204" pitchFamily="34" charset="0"/>
              </a:defRPr>
            </a:lvl4pPr>
            <a:lvl5pPr marL="2057400" indent="-228600">
              <a:tabLst>
                <a:tab pos="27305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27305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27305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27305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273050" algn="l"/>
              </a:tabLst>
              <a:defRPr>
                <a:solidFill>
                  <a:schemeClr val="tx1"/>
                </a:solidFill>
                <a:latin typeface="Arial" panose="020B0604020202020204" pitchFamily="34" charset="0"/>
                <a:cs typeface="Arial" panose="020B0604020202020204" pitchFamily="34" charset="0"/>
              </a:defRPr>
            </a:lvl9pPr>
          </a:lstStyle>
          <a:p>
            <a:pPr algn="just">
              <a:spcBef>
                <a:spcPct val="50000"/>
              </a:spcBef>
              <a:buClr>
                <a:srgbClr val="92D050"/>
              </a:buClr>
              <a:buFontTx/>
              <a:buChar char="•"/>
            </a:pPr>
            <a:r>
              <a:rPr lang="es-ES" altLang="es-AR" sz="2000" b="1" dirty="0">
                <a:solidFill>
                  <a:schemeClr val="tx1">
                    <a:lumMod val="75000"/>
                    <a:lumOff val="25000"/>
                  </a:schemeClr>
                </a:solidFill>
                <a:latin typeface="Century Gothic" panose="020B0502020202020204" pitchFamily="34" charset="0"/>
              </a:rPr>
              <a:t>Sueldos de Administrativos y Dirección</a:t>
            </a:r>
          </a:p>
          <a:p>
            <a:pPr lvl="1" algn="just">
              <a:spcBef>
                <a:spcPct val="50000"/>
              </a:spcBef>
              <a:buClr>
                <a:srgbClr val="92D050"/>
              </a:buClr>
              <a:buFontTx/>
              <a:buChar char="•"/>
            </a:pPr>
            <a:r>
              <a:rPr lang="es-ES" altLang="es-AR" sz="2000" dirty="0">
                <a:solidFill>
                  <a:schemeClr val="tx1">
                    <a:lumMod val="75000"/>
                    <a:lumOff val="25000"/>
                  </a:schemeClr>
                </a:solidFill>
                <a:latin typeface="Century Gothic" panose="020B0502020202020204" pitchFamily="34" charset="0"/>
              </a:rPr>
              <a:t>Director de Producción</a:t>
            </a:r>
          </a:p>
          <a:p>
            <a:pPr lvl="1" algn="just">
              <a:spcBef>
                <a:spcPct val="50000"/>
              </a:spcBef>
              <a:buClr>
                <a:srgbClr val="92D050"/>
              </a:buClr>
              <a:buFontTx/>
              <a:buChar char="•"/>
            </a:pPr>
            <a:r>
              <a:rPr lang="es-ES" altLang="es-AR" sz="2000" dirty="0">
                <a:solidFill>
                  <a:schemeClr val="tx1">
                    <a:lumMod val="75000"/>
                    <a:lumOff val="25000"/>
                  </a:schemeClr>
                </a:solidFill>
                <a:latin typeface="Century Gothic" panose="020B0502020202020204" pitchFamily="34" charset="0"/>
              </a:rPr>
              <a:t>Gerente de Planta</a:t>
            </a:r>
          </a:p>
          <a:p>
            <a:pPr lvl="1" algn="just">
              <a:spcBef>
                <a:spcPct val="50000"/>
              </a:spcBef>
              <a:buClr>
                <a:srgbClr val="92D050"/>
              </a:buClr>
              <a:buFontTx/>
              <a:buChar char="•"/>
            </a:pPr>
            <a:r>
              <a:rPr lang="es-ES" altLang="es-AR" sz="2000" dirty="0">
                <a:solidFill>
                  <a:schemeClr val="tx1">
                    <a:lumMod val="75000"/>
                    <a:lumOff val="25000"/>
                  </a:schemeClr>
                </a:solidFill>
                <a:latin typeface="Century Gothic" panose="020B0502020202020204" pitchFamily="34" charset="0"/>
              </a:rPr>
              <a:t>Administrativos de Planta</a:t>
            </a:r>
          </a:p>
          <a:p>
            <a:pPr lvl="1" algn="just">
              <a:spcBef>
                <a:spcPct val="50000"/>
              </a:spcBef>
              <a:buClr>
                <a:srgbClr val="92D050"/>
              </a:buClr>
              <a:buFontTx/>
              <a:buChar char="•"/>
            </a:pPr>
            <a:r>
              <a:rPr lang="es-ES" altLang="es-AR" sz="2000" dirty="0">
                <a:solidFill>
                  <a:schemeClr val="tx1">
                    <a:lumMod val="75000"/>
                    <a:lumOff val="25000"/>
                  </a:schemeClr>
                </a:solidFill>
                <a:latin typeface="Century Gothic" panose="020B0502020202020204" pitchFamily="34" charset="0"/>
              </a:rPr>
              <a:t>etc.</a:t>
            </a:r>
          </a:p>
        </p:txBody>
      </p:sp>
    </p:spTree>
    <p:extLst>
      <p:ext uri="{BB962C8B-B14F-4D97-AF65-F5344CB8AC3E}">
        <p14:creationId xmlns:p14="http://schemas.microsoft.com/office/powerpoint/2010/main" val="4166410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52C166-4395-4993-AF68-36CD3361048F}"/>
              </a:ext>
            </a:extLst>
          </p:cNvPr>
          <p:cNvSpPr>
            <a:spLocks noGrp="1"/>
          </p:cNvSpPr>
          <p:nvPr>
            <p:ph type="title"/>
          </p:nvPr>
        </p:nvSpPr>
        <p:spPr>
          <a:xfrm>
            <a:off x="1842550" y="697262"/>
            <a:ext cx="8911687" cy="1280890"/>
          </a:xfrm>
        </p:spPr>
        <p:txBody>
          <a:bodyPr>
            <a:normAutofit/>
          </a:bodyPr>
          <a:lstStyle/>
          <a:p>
            <a:r>
              <a:rPr lang="es-MX" altLang="es-AR" sz="3200" b="1" dirty="0">
                <a:solidFill>
                  <a:schemeClr val="tx1">
                    <a:lumMod val="75000"/>
                    <a:lumOff val="25000"/>
                  </a:schemeClr>
                </a:solidFill>
                <a:latin typeface="Century Gothic" panose="020B0502020202020204" pitchFamily="34" charset="0"/>
                <a:cs typeface="Arial" charset="0"/>
              </a:rPr>
              <a:t>COSTO INDIRECTO</a:t>
            </a:r>
            <a:endParaRPr lang="es-AR" sz="3200" dirty="0">
              <a:solidFill>
                <a:schemeClr val="tx1">
                  <a:lumMod val="75000"/>
                  <a:lumOff val="25000"/>
                </a:schemeClr>
              </a:solidFill>
            </a:endParaRPr>
          </a:p>
        </p:txBody>
      </p:sp>
      <p:sp>
        <p:nvSpPr>
          <p:cNvPr id="3" name="Marcador de número de diapositiva 2">
            <a:extLst>
              <a:ext uri="{FF2B5EF4-FFF2-40B4-BE49-F238E27FC236}">
                <a16:creationId xmlns:a16="http://schemas.microsoft.com/office/drawing/2014/main" id="{37A02B82-20DB-4AF1-8951-DE08F5F4629B}"/>
              </a:ext>
            </a:extLst>
          </p:cNvPr>
          <p:cNvSpPr>
            <a:spLocks noGrp="1"/>
          </p:cNvSpPr>
          <p:nvPr>
            <p:ph type="sldNum" sz="quarter" idx="12"/>
          </p:nvPr>
        </p:nvSpPr>
        <p:spPr/>
        <p:txBody>
          <a:bodyPr/>
          <a:lstStyle/>
          <a:p>
            <a:fld id="{D57F1E4F-1CFF-5643-939E-217C01CDF565}" type="slidenum">
              <a:rPr lang="en-US" smtClean="0"/>
              <a:pPr/>
              <a:t>22</a:t>
            </a:fld>
            <a:endParaRPr lang="en-US" dirty="0"/>
          </a:p>
        </p:txBody>
      </p:sp>
      <p:sp>
        <p:nvSpPr>
          <p:cNvPr id="5" name="Rectangle 5">
            <a:extLst>
              <a:ext uri="{FF2B5EF4-FFF2-40B4-BE49-F238E27FC236}">
                <a16:creationId xmlns:a16="http://schemas.microsoft.com/office/drawing/2014/main" id="{3C1DD8E6-93A4-4650-9E7A-3B3CC5688CED}"/>
              </a:ext>
            </a:extLst>
          </p:cNvPr>
          <p:cNvSpPr>
            <a:spLocks noChangeArrowheads="1"/>
          </p:cNvSpPr>
          <p:nvPr/>
        </p:nvSpPr>
        <p:spPr bwMode="auto">
          <a:xfrm>
            <a:off x="1842551" y="2376958"/>
            <a:ext cx="8453594"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indent="-342900" algn="just">
              <a:spcBef>
                <a:spcPct val="50000"/>
              </a:spcBef>
              <a:buClr>
                <a:srgbClr val="92D050"/>
              </a:buClr>
              <a:buFont typeface="Arial" panose="020B0604020202020204" pitchFamily="34" charset="0"/>
              <a:buChar char="•"/>
            </a:pPr>
            <a:r>
              <a:rPr lang="es-ES" altLang="es-AR" sz="2000" b="1" dirty="0">
                <a:solidFill>
                  <a:schemeClr val="tx1">
                    <a:lumMod val="75000"/>
                    <a:lumOff val="25000"/>
                  </a:schemeClr>
                </a:solidFill>
                <a:latin typeface="Century Gothic" panose="020B0502020202020204" pitchFamily="34" charset="0"/>
              </a:rPr>
              <a:t>Gastos Generales de Fabricación</a:t>
            </a:r>
            <a:r>
              <a:rPr lang="es-ES" altLang="es-AR" sz="2000" dirty="0">
                <a:solidFill>
                  <a:schemeClr val="tx1">
                    <a:lumMod val="75000"/>
                    <a:lumOff val="25000"/>
                  </a:schemeClr>
                </a:solidFill>
                <a:latin typeface="Century Gothic" panose="020B0502020202020204" pitchFamily="34" charset="0"/>
              </a:rPr>
              <a:t> </a:t>
            </a:r>
          </a:p>
          <a:p>
            <a:pPr marL="1085850" lvl="1" indent="-342900" algn="just">
              <a:spcBef>
                <a:spcPct val="50000"/>
              </a:spcBef>
              <a:buClr>
                <a:srgbClr val="92D050"/>
              </a:buClr>
              <a:buFont typeface="Arial" panose="020B0604020202020204" pitchFamily="34" charset="0"/>
              <a:buChar char="•"/>
            </a:pPr>
            <a:r>
              <a:rPr lang="es-ES" altLang="es-AR" sz="2000" dirty="0">
                <a:solidFill>
                  <a:schemeClr val="tx1">
                    <a:lumMod val="75000"/>
                    <a:lumOff val="25000"/>
                  </a:schemeClr>
                </a:solidFill>
                <a:latin typeface="Century Gothic" panose="020B0502020202020204" pitchFamily="34" charset="0"/>
              </a:rPr>
              <a:t>son aquellos gastos vinculados directamente con la producción, que si bien no forman parte del costo directo, resultan indispensables para el funcionamiento de la fábrica</a:t>
            </a:r>
          </a:p>
        </p:txBody>
      </p:sp>
    </p:spTree>
    <p:extLst>
      <p:ext uri="{BB962C8B-B14F-4D97-AF65-F5344CB8AC3E}">
        <p14:creationId xmlns:p14="http://schemas.microsoft.com/office/powerpoint/2010/main" val="1028490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52C166-4395-4993-AF68-36CD3361048F}"/>
              </a:ext>
            </a:extLst>
          </p:cNvPr>
          <p:cNvSpPr>
            <a:spLocks noGrp="1"/>
          </p:cNvSpPr>
          <p:nvPr>
            <p:ph type="title"/>
          </p:nvPr>
        </p:nvSpPr>
        <p:spPr>
          <a:xfrm>
            <a:off x="1842550" y="697262"/>
            <a:ext cx="8911687" cy="1280890"/>
          </a:xfrm>
        </p:spPr>
        <p:txBody>
          <a:bodyPr>
            <a:normAutofit/>
          </a:bodyPr>
          <a:lstStyle/>
          <a:p>
            <a:r>
              <a:rPr lang="es-MX" altLang="es-AR" sz="3200" b="1" dirty="0">
                <a:solidFill>
                  <a:schemeClr val="tx1">
                    <a:lumMod val="75000"/>
                    <a:lumOff val="25000"/>
                  </a:schemeClr>
                </a:solidFill>
                <a:latin typeface="Century Gothic" panose="020B0502020202020204" pitchFamily="34" charset="0"/>
                <a:cs typeface="Arial" charset="0"/>
              </a:rPr>
              <a:t>COSTO INDIRECTO</a:t>
            </a:r>
            <a:endParaRPr lang="es-AR" sz="3200" dirty="0">
              <a:solidFill>
                <a:schemeClr val="tx1">
                  <a:lumMod val="75000"/>
                  <a:lumOff val="25000"/>
                </a:schemeClr>
              </a:solidFill>
            </a:endParaRPr>
          </a:p>
        </p:txBody>
      </p:sp>
      <p:sp>
        <p:nvSpPr>
          <p:cNvPr id="3" name="Marcador de número de diapositiva 2">
            <a:extLst>
              <a:ext uri="{FF2B5EF4-FFF2-40B4-BE49-F238E27FC236}">
                <a16:creationId xmlns:a16="http://schemas.microsoft.com/office/drawing/2014/main" id="{37A02B82-20DB-4AF1-8951-DE08F5F4629B}"/>
              </a:ext>
            </a:extLst>
          </p:cNvPr>
          <p:cNvSpPr>
            <a:spLocks noGrp="1"/>
          </p:cNvSpPr>
          <p:nvPr>
            <p:ph type="sldNum" sz="quarter" idx="12"/>
          </p:nvPr>
        </p:nvSpPr>
        <p:spPr/>
        <p:txBody>
          <a:bodyPr/>
          <a:lstStyle/>
          <a:p>
            <a:fld id="{D57F1E4F-1CFF-5643-939E-217C01CDF565}" type="slidenum">
              <a:rPr lang="en-US" smtClean="0"/>
              <a:pPr/>
              <a:t>23</a:t>
            </a:fld>
            <a:endParaRPr lang="en-US" dirty="0"/>
          </a:p>
        </p:txBody>
      </p:sp>
      <p:sp>
        <p:nvSpPr>
          <p:cNvPr id="5" name="Rectangle 6">
            <a:extLst>
              <a:ext uri="{FF2B5EF4-FFF2-40B4-BE49-F238E27FC236}">
                <a16:creationId xmlns:a16="http://schemas.microsoft.com/office/drawing/2014/main" id="{C27011CB-9B17-4DA5-B155-49A3A7B3D128}"/>
              </a:ext>
            </a:extLst>
          </p:cNvPr>
          <p:cNvSpPr>
            <a:spLocks noChangeArrowheads="1"/>
          </p:cNvSpPr>
          <p:nvPr/>
        </p:nvSpPr>
        <p:spPr bwMode="auto">
          <a:xfrm>
            <a:off x="1437763" y="1557464"/>
            <a:ext cx="84248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77800">
              <a:tabLst>
                <a:tab pos="273050" algn="l"/>
              </a:tabLst>
              <a:defRPr>
                <a:solidFill>
                  <a:schemeClr val="tx1"/>
                </a:solidFill>
                <a:latin typeface="Arial" panose="020B0604020202020204" pitchFamily="34" charset="0"/>
                <a:cs typeface="Arial" panose="020B0604020202020204" pitchFamily="34" charset="0"/>
              </a:defRPr>
            </a:lvl1pPr>
            <a:lvl2pPr marL="742950" indent="-285750">
              <a:tabLst>
                <a:tab pos="273050" algn="l"/>
              </a:tabLst>
              <a:defRPr>
                <a:solidFill>
                  <a:schemeClr val="tx1"/>
                </a:solidFill>
                <a:latin typeface="Arial" panose="020B0604020202020204" pitchFamily="34" charset="0"/>
                <a:cs typeface="Arial" panose="020B0604020202020204" pitchFamily="34" charset="0"/>
              </a:defRPr>
            </a:lvl2pPr>
            <a:lvl3pPr marL="1143000" indent="-228600">
              <a:tabLst>
                <a:tab pos="273050" algn="l"/>
              </a:tabLst>
              <a:defRPr>
                <a:solidFill>
                  <a:schemeClr val="tx1"/>
                </a:solidFill>
                <a:latin typeface="Arial" panose="020B0604020202020204" pitchFamily="34" charset="0"/>
                <a:cs typeface="Arial" panose="020B0604020202020204" pitchFamily="34" charset="0"/>
              </a:defRPr>
            </a:lvl3pPr>
            <a:lvl4pPr marL="1600200" indent="-228600">
              <a:tabLst>
                <a:tab pos="273050" algn="l"/>
              </a:tabLst>
              <a:defRPr>
                <a:solidFill>
                  <a:schemeClr val="tx1"/>
                </a:solidFill>
                <a:latin typeface="Arial" panose="020B0604020202020204" pitchFamily="34" charset="0"/>
                <a:cs typeface="Arial" panose="020B0604020202020204" pitchFamily="34" charset="0"/>
              </a:defRPr>
            </a:lvl4pPr>
            <a:lvl5pPr marL="2057400" indent="-228600">
              <a:tabLst>
                <a:tab pos="27305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27305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27305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27305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273050" algn="l"/>
              </a:tabLst>
              <a:defRPr>
                <a:solidFill>
                  <a:schemeClr val="tx1"/>
                </a:solidFill>
                <a:latin typeface="Arial" panose="020B0604020202020204" pitchFamily="34" charset="0"/>
                <a:cs typeface="Arial" panose="020B0604020202020204" pitchFamily="34" charset="0"/>
              </a:defRPr>
            </a:lvl9pPr>
          </a:lstStyle>
          <a:p>
            <a:pPr>
              <a:spcBef>
                <a:spcPct val="50000"/>
              </a:spcBef>
              <a:buClr>
                <a:srgbClr val="92D050"/>
              </a:buClr>
              <a:buFontTx/>
              <a:buChar char="•"/>
            </a:pPr>
            <a:r>
              <a:rPr lang="es-ES" altLang="es-AR" sz="2000" b="1" dirty="0">
                <a:solidFill>
                  <a:schemeClr val="tx1">
                    <a:lumMod val="75000"/>
                    <a:lumOff val="25000"/>
                  </a:schemeClr>
                </a:solidFill>
                <a:latin typeface="Century Gothic" panose="020B0502020202020204" pitchFamily="34" charset="0"/>
              </a:rPr>
              <a:t>Materiales</a:t>
            </a:r>
          </a:p>
        </p:txBody>
      </p:sp>
      <p:sp>
        <p:nvSpPr>
          <p:cNvPr id="6" name="Text Box 7">
            <a:extLst>
              <a:ext uri="{FF2B5EF4-FFF2-40B4-BE49-F238E27FC236}">
                <a16:creationId xmlns:a16="http://schemas.microsoft.com/office/drawing/2014/main" id="{86C187E2-58AF-42E4-9CC1-3E1FCAE5ED1D}"/>
              </a:ext>
            </a:extLst>
          </p:cNvPr>
          <p:cNvSpPr txBox="1">
            <a:spLocks noChangeArrowheads="1"/>
          </p:cNvSpPr>
          <p:nvPr/>
        </p:nvSpPr>
        <p:spPr bwMode="auto">
          <a:xfrm>
            <a:off x="1749108" y="2084301"/>
            <a:ext cx="9345612"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just">
              <a:spcBef>
                <a:spcPct val="50000"/>
              </a:spcBef>
              <a:buClr>
                <a:srgbClr val="92D050"/>
              </a:buClr>
              <a:buFont typeface="Arial" panose="020B0604020202020204" pitchFamily="34" charset="0"/>
              <a:buChar char="•"/>
              <a:defRPr/>
            </a:pPr>
            <a:r>
              <a:rPr lang="es-ES" altLang="es-AR" sz="2000" dirty="0">
                <a:latin typeface="Tahoma" pitchFamily="34" charset="0"/>
                <a:cs typeface="Arial" charset="0"/>
              </a:rPr>
              <a:t> </a:t>
            </a:r>
            <a:r>
              <a:rPr lang="es-ES" altLang="es-AR" b="1" dirty="0">
                <a:solidFill>
                  <a:schemeClr val="tx1">
                    <a:lumMod val="75000"/>
                    <a:lumOff val="25000"/>
                  </a:schemeClr>
                </a:solidFill>
                <a:effectLst>
                  <a:outerShdw blurRad="38100" dist="38100" dir="2700000" algn="tl">
                    <a:srgbClr val="C0C0C0"/>
                  </a:outerShdw>
                </a:effectLst>
                <a:latin typeface="Century Gothic" panose="020B0502020202020204" pitchFamily="34" charset="0"/>
                <a:cs typeface="Arial" charset="0"/>
              </a:rPr>
              <a:t>Insumos para la fabricación que forman parte del producto</a:t>
            </a:r>
            <a:r>
              <a:rPr lang="es-ES" altLang="es-AR" dirty="0">
                <a:solidFill>
                  <a:schemeClr val="tx1">
                    <a:lumMod val="75000"/>
                    <a:lumOff val="25000"/>
                  </a:schemeClr>
                </a:solidFill>
                <a:latin typeface="Century Gothic" panose="020B0502020202020204" pitchFamily="34" charset="0"/>
                <a:cs typeface="Arial" charset="0"/>
              </a:rPr>
              <a:t> </a:t>
            </a:r>
          </a:p>
          <a:p>
            <a:pPr marL="800100" lvl="1" indent="-342900" algn="just">
              <a:spcBef>
                <a:spcPct val="50000"/>
              </a:spcBef>
              <a:buClr>
                <a:srgbClr val="92D050"/>
              </a:buClr>
              <a:buFont typeface="Arial" panose="020B0604020202020204" pitchFamily="34" charset="0"/>
              <a:buChar char="•"/>
              <a:defRPr/>
            </a:pPr>
            <a:r>
              <a:rPr lang="es-ES" altLang="es-AR" dirty="0">
                <a:solidFill>
                  <a:schemeClr val="tx1">
                    <a:lumMod val="75000"/>
                    <a:lumOff val="25000"/>
                  </a:schemeClr>
                </a:solidFill>
                <a:latin typeface="Century Gothic" panose="020B0502020202020204" pitchFamily="34" charset="0"/>
                <a:cs typeface="Arial" charset="0"/>
              </a:rPr>
              <a:t>Este rubro comprende materiales, que si bien forman parte del producto, no son considerados materia prima directa</a:t>
            </a:r>
          </a:p>
          <a:p>
            <a:pPr marL="800100" lvl="1" indent="-342900" algn="just">
              <a:spcBef>
                <a:spcPct val="50000"/>
              </a:spcBef>
              <a:buClr>
                <a:srgbClr val="92D050"/>
              </a:buClr>
              <a:buFont typeface="Arial" panose="020B0604020202020204" pitchFamily="34" charset="0"/>
              <a:buChar char="•"/>
              <a:defRPr/>
            </a:pPr>
            <a:r>
              <a:rPr lang="es-ES" altLang="es-AR" dirty="0">
                <a:solidFill>
                  <a:schemeClr val="tx1">
                    <a:lumMod val="75000"/>
                    <a:lumOff val="25000"/>
                  </a:schemeClr>
                </a:solidFill>
                <a:latin typeface="Century Gothic" panose="020B0502020202020204" pitchFamily="34" charset="0"/>
                <a:cs typeface="Arial" charset="0"/>
              </a:rPr>
              <a:t> Ejemplos: aceites, refrigerantes, pegamento, herramientas, etc.</a:t>
            </a:r>
          </a:p>
        </p:txBody>
      </p:sp>
      <p:sp>
        <p:nvSpPr>
          <p:cNvPr id="7" name="Text Box 8">
            <a:extLst>
              <a:ext uri="{FF2B5EF4-FFF2-40B4-BE49-F238E27FC236}">
                <a16:creationId xmlns:a16="http://schemas.microsoft.com/office/drawing/2014/main" id="{E471DB81-6929-4C64-94DA-8B81B5EC9357}"/>
              </a:ext>
            </a:extLst>
          </p:cNvPr>
          <p:cNvSpPr txBox="1">
            <a:spLocks noChangeArrowheads="1"/>
          </p:cNvSpPr>
          <p:nvPr/>
        </p:nvSpPr>
        <p:spPr bwMode="auto">
          <a:xfrm>
            <a:off x="1749108" y="3893990"/>
            <a:ext cx="9274175" cy="2369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just">
              <a:spcBef>
                <a:spcPct val="50000"/>
              </a:spcBef>
              <a:buClr>
                <a:srgbClr val="92D050"/>
              </a:buClr>
              <a:buFont typeface="Arial" panose="020B0604020202020204" pitchFamily="34" charset="0"/>
              <a:buChar char="•"/>
              <a:defRPr/>
            </a:pPr>
            <a:r>
              <a:rPr lang="es-AR" altLang="es-AR" sz="2000" dirty="0">
                <a:latin typeface="Tahoma" pitchFamily="34" charset="0"/>
                <a:cs typeface="Arial" charset="0"/>
              </a:rPr>
              <a:t> </a:t>
            </a:r>
            <a:r>
              <a:rPr lang="es-AR" altLang="es-AR" b="1" dirty="0">
                <a:solidFill>
                  <a:schemeClr val="tx1">
                    <a:lumMod val="75000"/>
                    <a:lumOff val="25000"/>
                  </a:schemeClr>
                </a:solidFill>
                <a:effectLst>
                  <a:outerShdw blurRad="38100" dist="38100" dir="2700000" algn="tl">
                    <a:srgbClr val="C0C0C0"/>
                  </a:outerShdw>
                </a:effectLst>
                <a:latin typeface="Century Gothic" panose="020B0502020202020204" pitchFamily="34" charset="0"/>
                <a:cs typeface="Arial" charset="0"/>
              </a:rPr>
              <a:t>Insumos generales para el taller</a:t>
            </a:r>
            <a:endParaRPr lang="es-AR" altLang="es-AR" dirty="0">
              <a:solidFill>
                <a:schemeClr val="tx1">
                  <a:lumMod val="75000"/>
                  <a:lumOff val="25000"/>
                </a:schemeClr>
              </a:solidFill>
              <a:latin typeface="Century Gothic" panose="020B0502020202020204" pitchFamily="34" charset="0"/>
              <a:cs typeface="Arial" charset="0"/>
            </a:endParaRPr>
          </a:p>
          <a:p>
            <a:pPr marL="800100" lvl="1" indent="-342900" algn="just">
              <a:spcBef>
                <a:spcPct val="50000"/>
              </a:spcBef>
              <a:buClr>
                <a:srgbClr val="92D050"/>
              </a:buClr>
              <a:buFont typeface="Arial" panose="020B0604020202020204" pitchFamily="34" charset="0"/>
              <a:buChar char="•"/>
              <a:defRPr/>
            </a:pPr>
            <a:r>
              <a:rPr lang="es-AR" altLang="es-AR" dirty="0">
                <a:solidFill>
                  <a:schemeClr val="tx1">
                    <a:lumMod val="75000"/>
                    <a:lumOff val="25000"/>
                  </a:schemeClr>
                </a:solidFill>
                <a:latin typeface="Century Gothic" panose="020B0502020202020204" pitchFamily="34" charset="0"/>
                <a:cs typeface="Arial" charset="0"/>
              </a:rPr>
              <a:t>Este rubro comprende insumos para máquinas y equipos que se consumen, en general en el término de un año, que no son inventariables, y que por lo tanto no se amortizan. </a:t>
            </a:r>
          </a:p>
          <a:p>
            <a:pPr marL="800100" lvl="1" indent="-342900" algn="just">
              <a:spcBef>
                <a:spcPct val="50000"/>
              </a:spcBef>
              <a:buClr>
                <a:srgbClr val="92D050"/>
              </a:buClr>
              <a:buFont typeface="Arial" panose="020B0604020202020204" pitchFamily="34" charset="0"/>
              <a:buChar char="•"/>
              <a:defRPr/>
            </a:pPr>
            <a:r>
              <a:rPr lang="es-AR" altLang="es-AR" dirty="0">
                <a:solidFill>
                  <a:schemeClr val="tx1">
                    <a:lumMod val="75000"/>
                    <a:lumOff val="25000"/>
                  </a:schemeClr>
                </a:solidFill>
                <a:latin typeface="Century Gothic" panose="020B0502020202020204" pitchFamily="34" charset="0"/>
                <a:cs typeface="Arial" charset="0"/>
              </a:rPr>
              <a:t>Ejemplos: repuestos, papel de lija, tela esmeril, cepillos, limas, pinceles, mechas, roscas, discos para amoladora, </a:t>
            </a:r>
            <a:r>
              <a:rPr lang="es-ES" altLang="es-AR" dirty="0">
                <a:solidFill>
                  <a:schemeClr val="tx1">
                    <a:lumMod val="75000"/>
                    <a:lumOff val="25000"/>
                  </a:schemeClr>
                </a:solidFill>
                <a:latin typeface="Century Gothic" panose="020B0502020202020204" pitchFamily="34" charset="0"/>
                <a:cs typeface="Arial" charset="0"/>
              </a:rPr>
              <a:t>brocas cilíndricas,</a:t>
            </a:r>
            <a:r>
              <a:rPr lang="es-AR" altLang="es-AR" dirty="0">
                <a:solidFill>
                  <a:schemeClr val="tx1">
                    <a:lumMod val="75000"/>
                    <a:lumOff val="25000"/>
                  </a:schemeClr>
                </a:solidFill>
                <a:latin typeface="Century Gothic" panose="020B0502020202020204" pitchFamily="34" charset="0"/>
                <a:cs typeface="Arial" charset="0"/>
              </a:rPr>
              <a:t> elementos de limpieza, </a:t>
            </a:r>
            <a:r>
              <a:rPr lang="es-ES" altLang="es-AR" dirty="0">
                <a:solidFill>
                  <a:schemeClr val="tx1">
                    <a:lumMod val="75000"/>
                    <a:lumOff val="25000"/>
                  </a:schemeClr>
                </a:solidFill>
                <a:latin typeface="Century Gothic" panose="020B0502020202020204" pitchFamily="34" charset="0"/>
                <a:cs typeface="Arial" charset="0"/>
              </a:rPr>
              <a:t> aditivos, combustibles</a:t>
            </a:r>
            <a:r>
              <a:rPr lang="es-AR" altLang="es-AR" dirty="0">
                <a:solidFill>
                  <a:schemeClr val="tx1">
                    <a:lumMod val="75000"/>
                    <a:lumOff val="25000"/>
                  </a:schemeClr>
                </a:solidFill>
                <a:latin typeface="Century Gothic" panose="020B0502020202020204" pitchFamily="34" charset="0"/>
                <a:cs typeface="Arial" charset="0"/>
              </a:rPr>
              <a:t>,</a:t>
            </a:r>
            <a:r>
              <a:rPr lang="es-AR" altLang="es-AR" sz="2000" dirty="0">
                <a:solidFill>
                  <a:schemeClr val="tx1">
                    <a:lumMod val="75000"/>
                    <a:lumOff val="25000"/>
                  </a:schemeClr>
                </a:solidFill>
                <a:latin typeface="Century Gothic" panose="020B0502020202020204" pitchFamily="34" charset="0"/>
                <a:cs typeface="Arial" charset="0"/>
              </a:rPr>
              <a:t> </a:t>
            </a:r>
            <a:r>
              <a:rPr lang="es-AR" altLang="es-AR" dirty="0">
                <a:solidFill>
                  <a:schemeClr val="tx1">
                    <a:lumMod val="75000"/>
                    <a:lumOff val="25000"/>
                  </a:schemeClr>
                </a:solidFill>
                <a:latin typeface="Century Gothic" panose="020B0502020202020204" pitchFamily="34" charset="0"/>
                <a:cs typeface="Arial" charset="0"/>
              </a:rPr>
              <a:t>etc.</a:t>
            </a:r>
            <a:endParaRPr lang="es-ES" altLang="es-AR" dirty="0">
              <a:solidFill>
                <a:schemeClr val="tx1">
                  <a:lumMod val="75000"/>
                  <a:lumOff val="25000"/>
                </a:schemeClr>
              </a:solidFill>
              <a:latin typeface="Century Gothic" panose="020B0502020202020204" pitchFamily="34" charset="0"/>
              <a:cs typeface="Arial" charset="0"/>
            </a:endParaRPr>
          </a:p>
        </p:txBody>
      </p:sp>
    </p:spTree>
    <p:extLst>
      <p:ext uri="{BB962C8B-B14F-4D97-AF65-F5344CB8AC3E}">
        <p14:creationId xmlns:p14="http://schemas.microsoft.com/office/powerpoint/2010/main" val="3633880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52C166-4395-4993-AF68-36CD3361048F}"/>
              </a:ext>
            </a:extLst>
          </p:cNvPr>
          <p:cNvSpPr>
            <a:spLocks noGrp="1"/>
          </p:cNvSpPr>
          <p:nvPr>
            <p:ph type="title"/>
          </p:nvPr>
        </p:nvSpPr>
        <p:spPr>
          <a:xfrm>
            <a:off x="1842550" y="697262"/>
            <a:ext cx="8911687" cy="1280890"/>
          </a:xfrm>
        </p:spPr>
        <p:txBody>
          <a:bodyPr>
            <a:normAutofit/>
          </a:bodyPr>
          <a:lstStyle/>
          <a:p>
            <a:r>
              <a:rPr lang="es-MX" altLang="es-AR" sz="3200" b="1" dirty="0">
                <a:solidFill>
                  <a:schemeClr val="tx1">
                    <a:lumMod val="75000"/>
                    <a:lumOff val="25000"/>
                  </a:schemeClr>
                </a:solidFill>
                <a:latin typeface="Century Gothic" panose="020B0502020202020204" pitchFamily="34" charset="0"/>
                <a:cs typeface="Arial" charset="0"/>
              </a:rPr>
              <a:t>COSTO INDIRECTO</a:t>
            </a:r>
            <a:endParaRPr lang="es-AR" sz="3200" dirty="0">
              <a:solidFill>
                <a:schemeClr val="tx1">
                  <a:lumMod val="75000"/>
                  <a:lumOff val="25000"/>
                </a:schemeClr>
              </a:solidFill>
            </a:endParaRPr>
          </a:p>
        </p:txBody>
      </p:sp>
      <p:sp>
        <p:nvSpPr>
          <p:cNvPr id="3" name="Marcador de número de diapositiva 2">
            <a:extLst>
              <a:ext uri="{FF2B5EF4-FFF2-40B4-BE49-F238E27FC236}">
                <a16:creationId xmlns:a16="http://schemas.microsoft.com/office/drawing/2014/main" id="{37A02B82-20DB-4AF1-8951-DE08F5F4629B}"/>
              </a:ext>
            </a:extLst>
          </p:cNvPr>
          <p:cNvSpPr>
            <a:spLocks noGrp="1"/>
          </p:cNvSpPr>
          <p:nvPr>
            <p:ph type="sldNum" sz="quarter" idx="12"/>
          </p:nvPr>
        </p:nvSpPr>
        <p:spPr/>
        <p:txBody>
          <a:bodyPr/>
          <a:lstStyle/>
          <a:p>
            <a:fld id="{D57F1E4F-1CFF-5643-939E-217C01CDF565}" type="slidenum">
              <a:rPr lang="en-US" smtClean="0"/>
              <a:pPr/>
              <a:t>24</a:t>
            </a:fld>
            <a:endParaRPr lang="en-US" dirty="0"/>
          </a:p>
        </p:txBody>
      </p:sp>
      <p:sp>
        <p:nvSpPr>
          <p:cNvPr id="5" name="Rectangle 9">
            <a:extLst>
              <a:ext uri="{FF2B5EF4-FFF2-40B4-BE49-F238E27FC236}">
                <a16:creationId xmlns:a16="http://schemas.microsoft.com/office/drawing/2014/main" id="{8B6C66A2-70FA-4E51-8150-6DC21356E6AC}"/>
              </a:ext>
            </a:extLst>
          </p:cNvPr>
          <p:cNvSpPr>
            <a:spLocks noChangeArrowheads="1"/>
          </p:cNvSpPr>
          <p:nvPr/>
        </p:nvSpPr>
        <p:spPr bwMode="auto">
          <a:xfrm>
            <a:off x="1842550" y="1864894"/>
            <a:ext cx="9705975"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tabLst>
                <a:tab pos="273050" algn="l"/>
              </a:tabLst>
              <a:defRPr>
                <a:solidFill>
                  <a:schemeClr val="tx1"/>
                </a:solidFill>
                <a:latin typeface="Arial" panose="020B0604020202020204" pitchFamily="34" charset="0"/>
                <a:cs typeface="Arial" panose="020B0604020202020204" pitchFamily="34" charset="0"/>
              </a:defRPr>
            </a:lvl1pPr>
            <a:lvl2pPr marL="742950" indent="-285750">
              <a:tabLst>
                <a:tab pos="273050" algn="l"/>
              </a:tabLst>
              <a:defRPr>
                <a:solidFill>
                  <a:schemeClr val="tx1"/>
                </a:solidFill>
                <a:latin typeface="Arial" panose="020B0604020202020204" pitchFamily="34" charset="0"/>
                <a:cs typeface="Arial" panose="020B0604020202020204" pitchFamily="34" charset="0"/>
              </a:defRPr>
            </a:lvl2pPr>
            <a:lvl3pPr marL="1143000" indent="-228600">
              <a:tabLst>
                <a:tab pos="273050" algn="l"/>
              </a:tabLst>
              <a:defRPr>
                <a:solidFill>
                  <a:schemeClr val="tx1"/>
                </a:solidFill>
                <a:latin typeface="Arial" panose="020B0604020202020204" pitchFamily="34" charset="0"/>
                <a:cs typeface="Arial" panose="020B0604020202020204" pitchFamily="34" charset="0"/>
              </a:defRPr>
            </a:lvl3pPr>
            <a:lvl4pPr marL="1600200" indent="-228600">
              <a:tabLst>
                <a:tab pos="273050" algn="l"/>
              </a:tabLst>
              <a:defRPr>
                <a:solidFill>
                  <a:schemeClr val="tx1"/>
                </a:solidFill>
                <a:latin typeface="Arial" panose="020B0604020202020204" pitchFamily="34" charset="0"/>
                <a:cs typeface="Arial" panose="020B0604020202020204" pitchFamily="34" charset="0"/>
              </a:defRPr>
            </a:lvl4pPr>
            <a:lvl5pPr marL="2057400" indent="-228600">
              <a:tabLst>
                <a:tab pos="27305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27305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27305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27305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273050" algn="l"/>
              </a:tabLst>
              <a:defRPr>
                <a:solidFill>
                  <a:schemeClr val="tx1"/>
                </a:solidFill>
                <a:latin typeface="Arial" panose="020B0604020202020204" pitchFamily="34" charset="0"/>
                <a:cs typeface="Arial" panose="020B0604020202020204" pitchFamily="34" charset="0"/>
              </a:defRPr>
            </a:lvl9pPr>
          </a:lstStyle>
          <a:p>
            <a:pPr algn="just">
              <a:spcBef>
                <a:spcPct val="50000"/>
              </a:spcBef>
              <a:buClr>
                <a:srgbClr val="92D050"/>
              </a:buClr>
              <a:buFontTx/>
              <a:buChar char="•"/>
            </a:pPr>
            <a:r>
              <a:rPr lang="es-ES" altLang="es-AR" b="1" dirty="0">
                <a:solidFill>
                  <a:schemeClr val="tx1">
                    <a:lumMod val="75000"/>
                    <a:lumOff val="25000"/>
                  </a:schemeClr>
                </a:solidFill>
                <a:latin typeface="Century Gothic" panose="020B0502020202020204" pitchFamily="34" charset="0"/>
              </a:rPr>
              <a:t>Gastos de la Fábrica</a:t>
            </a:r>
          </a:p>
          <a:p>
            <a:pPr lvl="1" algn="just">
              <a:spcBef>
                <a:spcPct val="50000"/>
              </a:spcBef>
              <a:buClr>
                <a:srgbClr val="92D050"/>
              </a:buClr>
              <a:buFontTx/>
              <a:buChar char="•"/>
            </a:pPr>
            <a:r>
              <a:rPr lang="es-ES" altLang="es-AR" dirty="0">
                <a:solidFill>
                  <a:schemeClr val="tx1">
                    <a:lumMod val="75000"/>
                    <a:lumOff val="25000"/>
                  </a:schemeClr>
                </a:solidFill>
                <a:latin typeface="Century Gothic" panose="020B0502020202020204" pitchFamily="34" charset="0"/>
              </a:rPr>
              <a:t> Amortizaciones de máquinas y equipos</a:t>
            </a:r>
          </a:p>
          <a:p>
            <a:pPr lvl="1" algn="just">
              <a:spcBef>
                <a:spcPct val="50000"/>
              </a:spcBef>
              <a:buClr>
                <a:srgbClr val="92D050"/>
              </a:buClr>
              <a:buFontTx/>
              <a:buChar char="•"/>
            </a:pPr>
            <a:r>
              <a:rPr lang="es-ES" altLang="es-AR" dirty="0">
                <a:solidFill>
                  <a:schemeClr val="tx1">
                    <a:lumMod val="75000"/>
                    <a:lumOff val="25000"/>
                  </a:schemeClr>
                </a:solidFill>
                <a:latin typeface="Century Gothic" panose="020B0502020202020204" pitchFamily="34" charset="0"/>
              </a:rPr>
              <a:t> Seguros de Fábrica</a:t>
            </a:r>
          </a:p>
          <a:p>
            <a:pPr lvl="1" algn="just">
              <a:spcBef>
                <a:spcPct val="50000"/>
              </a:spcBef>
              <a:buClr>
                <a:srgbClr val="92D050"/>
              </a:buClr>
              <a:buFontTx/>
              <a:buChar char="•"/>
            </a:pPr>
            <a:r>
              <a:rPr lang="es-ES" altLang="es-AR" dirty="0">
                <a:solidFill>
                  <a:schemeClr val="tx1">
                    <a:lumMod val="75000"/>
                    <a:lumOff val="25000"/>
                  </a:schemeClr>
                </a:solidFill>
                <a:latin typeface="Century Gothic" panose="020B0502020202020204" pitchFamily="34" charset="0"/>
              </a:rPr>
              <a:t>Servicios (fuerza motriz, luz, gas, etc.)</a:t>
            </a:r>
          </a:p>
          <a:p>
            <a:pPr lvl="1" algn="just">
              <a:spcBef>
                <a:spcPct val="50000"/>
              </a:spcBef>
              <a:buClr>
                <a:srgbClr val="92D050"/>
              </a:buClr>
              <a:buFontTx/>
              <a:buChar char="•"/>
            </a:pPr>
            <a:r>
              <a:rPr lang="es-ES" altLang="es-AR" dirty="0">
                <a:solidFill>
                  <a:schemeClr val="tx1">
                    <a:lumMod val="75000"/>
                    <a:lumOff val="25000"/>
                  </a:schemeClr>
                </a:solidFill>
                <a:latin typeface="Century Gothic" panose="020B0502020202020204" pitchFamily="34" charset="0"/>
              </a:rPr>
              <a:t>Impuestos inmobiliarios de Fábrica</a:t>
            </a:r>
          </a:p>
          <a:p>
            <a:pPr lvl="1" algn="just">
              <a:spcBef>
                <a:spcPct val="50000"/>
              </a:spcBef>
              <a:buClr>
                <a:srgbClr val="92D050"/>
              </a:buClr>
              <a:buFontTx/>
              <a:buChar char="•"/>
            </a:pPr>
            <a:r>
              <a:rPr lang="es-ES" altLang="es-AR" dirty="0">
                <a:solidFill>
                  <a:schemeClr val="tx1">
                    <a:lumMod val="75000"/>
                    <a:lumOff val="25000"/>
                  </a:schemeClr>
                </a:solidFill>
                <a:latin typeface="Century Gothic" panose="020B0502020202020204" pitchFamily="34" charset="0"/>
              </a:rPr>
              <a:t>Alquiler del taller o del  depósito</a:t>
            </a:r>
          </a:p>
          <a:p>
            <a:pPr lvl="1" algn="just">
              <a:spcBef>
                <a:spcPct val="50000"/>
              </a:spcBef>
              <a:buClr>
                <a:srgbClr val="92D050"/>
              </a:buClr>
              <a:buFontTx/>
              <a:buChar char="•"/>
            </a:pPr>
            <a:r>
              <a:rPr lang="es-ES" altLang="es-AR" dirty="0">
                <a:solidFill>
                  <a:schemeClr val="tx1">
                    <a:lumMod val="75000"/>
                    <a:lumOff val="25000"/>
                  </a:schemeClr>
                </a:solidFill>
                <a:latin typeface="Century Gothic" panose="020B0502020202020204" pitchFamily="34" charset="0"/>
              </a:rPr>
              <a:t>Mantenimiento</a:t>
            </a:r>
          </a:p>
          <a:p>
            <a:pPr lvl="1" algn="just">
              <a:spcBef>
                <a:spcPct val="50000"/>
              </a:spcBef>
              <a:buClr>
                <a:srgbClr val="92D050"/>
              </a:buClr>
              <a:buFontTx/>
              <a:buChar char="•"/>
            </a:pPr>
            <a:r>
              <a:rPr lang="es-ES" altLang="es-AR" dirty="0">
                <a:solidFill>
                  <a:schemeClr val="tx1">
                    <a:lumMod val="75000"/>
                    <a:lumOff val="25000"/>
                  </a:schemeClr>
                </a:solidFill>
                <a:latin typeface="Century Gothic" panose="020B0502020202020204" pitchFamily="34" charset="0"/>
              </a:rPr>
              <a:t>Reparación de máquinas y equipos</a:t>
            </a:r>
          </a:p>
          <a:p>
            <a:pPr lvl="1" algn="just">
              <a:spcBef>
                <a:spcPct val="50000"/>
              </a:spcBef>
              <a:buClr>
                <a:srgbClr val="92D050"/>
              </a:buClr>
              <a:buFontTx/>
              <a:buChar char="•"/>
            </a:pPr>
            <a:r>
              <a:rPr lang="es-ES" altLang="es-AR" dirty="0">
                <a:solidFill>
                  <a:schemeClr val="tx1">
                    <a:lumMod val="75000"/>
                    <a:lumOff val="25000"/>
                  </a:schemeClr>
                </a:solidFill>
                <a:latin typeface="Century Gothic" panose="020B0502020202020204" pitchFamily="34" charset="0"/>
              </a:rPr>
              <a:t>etc.</a:t>
            </a:r>
          </a:p>
        </p:txBody>
      </p:sp>
    </p:spTree>
    <p:extLst>
      <p:ext uri="{BB962C8B-B14F-4D97-AF65-F5344CB8AC3E}">
        <p14:creationId xmlns:p14="http://schemas.microsoft.com/office/powerpoint/2010/main" val="3857769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Espiral">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2368</TotalTime>
  <Words>1222</Words>
  <Application>Microsoft Office PowerPoint</Application>
  <PresentationFormat>Panorámica</PresentationFormat>
  <Paragraphs>271</Paragraphs>
  <Slides>24</Slides>
  <Notes>0</Notes>
  <HiddenSlides>0</HiddenSlides>
  <MMClips>0</MMClips>
  <ScaleCrop>false</ScaleCrop>
  <HeadingPairs>
    <vt:vector size="8" baseType="variant">
      <vt:variant>
        <vt:lpstr>Fuentes usadas</vt:lpstr>
      </vt:variant>
      <vt:variant>
        <vt:i4>8</vt:i4>
      </vt:variant>
      <vt:variant>
        <vt:lpstr>Tema</vt:lpstr>
      </vt:variant>
      <vt:variant>
        <vt:i4>1</vt:i4>
      </vt:variant>
      <vt:variant>
        <vt:lpstr>Servidores OLE incrustados</vt:lpstr>
      </vt:variant>
      <vt:variant>
        <vt:i4>1</vt:i4>
      </vt:variant>
      <vt:variant>
        <vt:lpstr>Títulos de diapositiva</vt:lpstr>
      </vt:variant>
      <vt:variant>
        <vt:i4>24</vt:i4>
      </vt:variant>
    </vt:vector>
  </HeadingPairs>
  <TitlesOfParts>
    <vt:vector size="34" baseType="lpstr">
      <vt:lpstr>Arial</vt:lpstr>
      <vt:lpstr>Calibri</vt:lpstr>
      <vt:lpstr>Cambria Math</vt:lpstr>
      <vt:lpstr>Century Gothic</vt:lpstr>
      <vt:lpstr>Tahoma</vt:lpstr>
      <vt:lpstr>Times New Roman</vt:lpstr>
      <vt:lpstr>Wingdings</vt:lpstr>
      <vt:lpstr>Wingdings 3</vt:lpstr>
      <vt:lpstr>Espiral</vt:lpstr>
      <vt:lpstr>Worksheet</vt:lpstr>
      <vt:lpstr>COSTOS Y PRESUPUESTOS</vt:lpstr>
      <vt:lpstr>CLASIFICACION DE LOS COSTOS</vt:lpstr>
      <vt:lpstr>DIRECTOS e INDIRECTOS</vt:lpstr>
      <vt:lpstr> COSTO DIRECTO</vt:lpstr>
      <vt:lpstr>COSTO DIRECTO</vt:lpstr>
      <vt:lpstr>COSTO DIRECTO</vt:lpstr>
      <vt:lpstr>COSTO DIRECTO</vt:lpstr>
      <vt:lpstr>COSTO DIRECTO</vt:lpstr>
      <vt:lpstr>COSTO DIRECTO</vt:lpstr>
      <vt:lpstr>COSTO DIRECTO</vt:lpstr>
      <vt:lpstr>CALCULO DE LA MATERIA PRIMA</vt:lpstr>
      <vt:lpstr>CALCULO DE LA MATERIA PRIMA</vt:lpstr>
      <vt:lpstr>CALCULO DE LA MATERIA PRIMA</vt:lpstr>
      <vt:lpstr>CALCULO DE LA MATERIA PRIMA</vt:lpstr>
      <vt:lpstr>CALCULO DE LA MATERIA PRIMA</vt:lpstr>
      <vt:lpstr>CALCULO DE LA MATERIA PRIMA</vt:lpstr>
      <vt:lpstr>COSTOS INDIRECTOS</vt:lpstr>
      <vt:lpstr>Presentación de PowerPoint</vt:lpstr>
      <vt:lpstr>COSTO INDIRECTO </vt:lpstr>
      <vt:lpstr>COSTO INDIRECTO</vt:lpstr>
      <vt:lpstr>COSTO INDIRECTO</vt:lpstr>
      <vt:lpstr>COSTO INDIRECTO</vt:lpstr>
      <vt:lpstr>COSTO INDIRECTO</vt:lpstr>
      <vt:lpstr>COSTO INDIRECTO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COSTOS Y PRESUPUESTOS</dc:title>
  <dc:creator>gustavo massucco</dc:creator>
  <cp:lastModifiedBy>gustavo massucco</cp:lastModifiedBy>
  <cp:revision>125</cp:revision>
  <dcterms:created xsi:type="dcterms:W3CDTF">2020-04-19T20:11:04Z</dcterms:created>
  <dcterms:modified xsi:type="dcterms:W3CDTF">2020-05-22T21:22:53Z</dcterms:modified>
</cp:coreProperties>
</file>