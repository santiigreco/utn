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Nunito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0929C3-887E-4BC6-9BA5-C103F83A1B02}">
  <a:tblStyle styleId="{8C0929C3-887E-4BC6-9BA5-C103F83A1B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f44ce845d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f44ce845d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e85ca71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e85ca71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e85ca715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e85ca715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f44ce845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f44ce845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f671a36e3_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f671a36e3_2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f44ce845d_4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f44ce845d_4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f44ce845d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f44ce845d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f44ce845d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f44ce845d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f44ce845d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7f44ce845d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f671a36e3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7f671a36e3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f44ce845d_4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f44ce845d_4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f6648ea7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f6648ea7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f6648ea7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f6648ea7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f44ce845d_4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f44ce845d_4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f44ce845d_4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f44ce845d_4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f671a36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f671a36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f671a36e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f671a36e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f671a36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f671a36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f671a36e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f671a36e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7f44ce845d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7f44ce845d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f44ce845d_3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7f44ce845d_3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7f44ce845d_3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7f44ce845d_3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7f44ce845d_3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7f44ce845d_3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7f44ce845d_3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7f44ce845d_3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f44ce845d_3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7f44ce845d_3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f44ce845d_3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7f44ce845d_3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7f44ce845d_3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7f44ce845d_3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7f44ce845d_3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7f44ce845d_3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7f44ce845d_3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7f44ce845d_3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DE COSTEO PREDETERMINADO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s" sz="1382"/>
              <a:t>GRUPO 1</a:t>
            </a:r>
            <a:endParaRPr sz="1382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382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s" sz="1382"/>
              <a:t>Integrantes:</a:t>
            </a:r>
            <a:endParaRPr sz="1382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s" sz="1382"/>
              <a:t> </a:t>
            </a:r>
            <a:endParaRPr sz="1382"/>
          </a:p>
          <a:p>
            <a:pPr marL="457200" lvl="0" indent="-31638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83"/>
              <a:buChar char="●"/>
            </a:pPr>
            <a:r>
              <a:rPr lang="es" sz="1382"/>
              <a:t>Cabral, Laura Carolina</a:t>
            </a:r>
            <a:endParaRPr sz="1382"/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82"/>
          </a:p>
          <a:p>
            <a:pPr marL="457200" lvl="0" indent="-31638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83"/>
              <a:buChar char="●"/>
            </a:pPr>
            <a:r>
              <a:rPr lang="es" sz="1382"/>
              <a:t>Pitteri, Federico Gabriel</a:t>
            </a:r>
            <a:endParaRPr sz="1382"/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82"/>
          </a:p>
          <a:p>
            <a:pPr marL="457200" lvl="0" indent="-31638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83"/>
              <a:buChar char="●"/>
            </a:pPr>
            <a:r>
              <a:rPr lang="es" sz="1382"/>
              <a:t>Olsen, Axel</a:t>
            </a:r>
            <a:endParaRPr sz="138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son los costos predeterminados?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2787025" y="1565725"/>
            <a:ext cx="55602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Costos que se establecen previos al inicio de los procesos productivos, mediante herramientas estadísticas, estudios ingenieriles y experiencias previas</a:t>
            </a:r>
            <a:endParaRPr sz="16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Son costos que representan lo que ocurrirá durante un periodo de tiempo determinado</a:t>
            </a:r>
            <a:endParaRPr sz="16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24384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División de costos predeterminados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363150" y="947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u="sng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 u="sng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           </a:t>
            </a:r>
            <a:endParaRPr sz="2400" b="1" u="sng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u="sng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Costos </a:t>
            </a:r>
            <a:endParaRPr sz="20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Predeterminados</a:t>
            </a:r>
            <a:endParaRPr sz="20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2964639" y="1127613"/>
            <a:ext cx="2879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Costos Estimados</a:t>
            </a:r>
            <a:endParaRPr sz="24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2964638" y="3428288"/>
            <a:ext cx="2735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Costos Estándar</a:t>
            </a:r>
            <a:endParaRPr sz="24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2665751" y="1021850"/>
            <a:ext cx="144600" cy="3600600"/>
          </a:xfrm>
          <a:prstGeom prst="leftBrace">
            <a:avLst>
              <a:gd name="adj1" fmla="val 207692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844350" y="2606301"/>
            <a:ext cx="3240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Directo o variable</a:t>
            </a:r>
            <a:endParaRPr sz="20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844350" y="4110713"/>
            <a:ext cx="3240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Integral o por Absorción</a:t>
            </a:r>
            <a:endParaRPr sz="20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510150" y="2606300"/>
            <a:ext cx="334200" cy="2075700"/>
          </a:xfrm>
          <a:prstGeom prst="leftBrace">
            <a:avLst>
              <a:gd name="adj1" fmla="val 207692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311700" y="308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COSTO ESTIMADO</a:t>
            </a:r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1200950" y="1084050"/>
            <a:ext cx="7030500" cy="30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3429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7600">
                <a:solidFill>
                  <a:srgbClr val="3F3F3F"/>
                </a:solidFill>
              </a:rPr>
              <a:t>Los costos estimados permiten:</a:t>
            </a:r>
            <a:endParaRPr sz="7600">
              <a:solidFill>
                <a:srgbClr val="3F3F3F"/>
              </a:solidFill>
            </a:endParaRPr>
          </a:p>
          <a:p>
            <a:pPr marL="3429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7600">
              <a:solidFill>
                <a:srgbClr val="3F3F3F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❖"/>
            </a:pPr>
            <a:r>
              <a:rPr lang="es" sz="7600">
                <a:solidFill>
                  <a:srgbClr val="3F3F3F"/>
                </a:solidFill>
              </a:rPr>
              <a:t>Anticipar los costos de producción</a:t>
            </a:r>
            <a:endParaRPr sz="7600">
              <a:solidFill>
                <a:srgbClr val="3F3F3F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7600">
              <a:solidFill>
                <a:srgbClr val="3F3F3F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❖"/>
            </a:pPr>
            <a:r>
              <a:rPr lang="es" sz="7600">
                <a:solidFill>
                  <a:srgbClr val="3F3F3F"/>
                </a:solidFill>
              </a:rPr>
              <a:t>Evaluar y compararlo con el precio conocido en el mercado</a:t>
            </a:r>
            <a:endParaRPr sz="7600">
              <a:solidFill>
                <a:srgbClr val="3F3F3F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7600">
              <a:solidFill>
                <a:srgbClr val="3F3F3F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❖"/>
            </a:pPr>
            <a:r>
              <a:rPr lang="es" sz="7600">
                <a:solidFill>
                  <a:srgbClr val="3F3F3F"/>
                </a:solidFill>
              </a:rPr>
              <a:t>Simplificar la contabilidad anticipando la elaboración de los estados financieros</a:t>
            </a:r>
            <a:endParaRPr sz="7600">
              <a:solidFill>
                <a:srgbClr val="3F3F3F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0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D1DC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COSTO ESTANDAR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3F3F3F"/>
                </a:solidFill>
              </a:rPr>
              <a:t>Puntos claves del costo estándar:</a:t>
            </a:r>
            <a:endParaRPr sz="1900">
              <a:solidFill>
                <a:srgbClr val="3F3F3F"/>
              </a:solidFill>
            </a:endParaRP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F3F3F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❖"/>
            </a:pPr>
            <a:r>
              <a:rPr lang="es" sz="1900">
                <a:solidFill>
                  <a:srgbClr val="3F3F3F"/>
                </a:solidFill>
              </a:rPr>
              <a:t>Es el más avanzado de los predeterminados y está basado en estudios técnicos o científicos.</a:t>
            </a:r>
            <a:endParaRPr sz="1900">
              <a:solidFill>
                <a:srgbClr val="3F3F3F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F3F3F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❖"/>
            </a:pPr>
            <a:r>
              <a:rPr lang="es" sz="1900">
                <a:solidFill>
                  <a:srgbClr val="3F3F3F"/>
                </a:solidFill>
              </a:rPr>
              <a:t>Por su forma  representa un instrumento de medición de eficiencia de una industria, ya que están en función de la eficiencia de trabajo de la misma.</a:t>
            </a:r>
            <a:endParaRPr sz="17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 idx="4294967295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USOS DE CADA UNO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540075" y="1131575"/>
            <a:ext cx="8383800" cy="3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highlight>
                  <a:srgbClr val="FF00FF"/>
                </a:highlight>
                <a:latin typeface="Roboto"/>
                <a:ea typeface="Roboto"/>
                <a:cs typeface="Roboto"/>
                <a:sym typeface="Roboto"/>
              </a:rPr>
              <a:t>COSTOS ESTIMADOS</a:t>
            </a:r>
            <a:endParaRPr sz="1600">
              <a:highlight>
                <a:srgbClr val="FF00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Proyectos a largo plazo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Variabilidad de costos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Nuevas empresas o productos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Proyectos únicos o poco frecuentes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highlight>
                <a:srgbClr val="FF00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highlight>
                  <a:srgbClr val="FF00FF"/>
                </a:highlight>
                <a:latin typeface="Roboto"/>
                <a:ea typeface="Roboto"/>
                <a:cs typeface="Roboto"/>
                <a:sym typeface="Roboto"/>
              </a:rPr>
              <a:t>COSTOS ESTANDAR</a:t>
            </a:r>
            <a:endParaRPr sz="1600">
              <a:highlight>
                <a:srgbClr val="FF00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Producción en masa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Control de costos a largo plazo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Análisis de variaciones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Medición del desempeño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</a:t>
            </a:r>
            <a:endParaRPr/>
          </a:p>
        </p:txBody>
      </p:sp>
      <p:graphicFrame>
        <p:nvGraphicFramePr>
          <p:cNvPr id="129" name="Google Shape;129;p19"/>
          <p:cNvGraphicFramePr/>
          <p:nvPr/>
        </p:nvGraphicFramePr>
        <p:xfrm>
          <a:off x="1106800" y="119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{8C0929C3-887E-4BC6-9BA5-C103F83A1B02}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COSTOS ESTIMADOS</a:t>
                      </a:r>
                      <a:endParaRPr sz="1500" b="1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COSTOS ESTANDAR</a:t>
                      </a:r>
                      <a:endParaRPr sz="1500" b="1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 utilizan para producciones con órdenes especiales.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Sirven para “controlar” la eficiencia de las operaciones.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Se contabilizan a costos históricos actualizados.</a:t>
                      </a:r>
                      <a:endParaRPr sz="15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 utilizan para producciones de proceso continuo.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No forman parte de la contabilidad de costos de la empresa.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Forman parte de la contabilidad de costos de la empresa.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 los utiliza como un “techo”.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Se lo considera como un “piso”.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311700" y="308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 DE LOS COSTOS PREDETERMINADOS</a:t>
            </a:r>
            <a:endParaRPr/>
          </a:p>
        </p:txBody>
      </p:sp>
      <p:graphicFrame>
        <p:nvGraphicFramePr>
          <p:cNvPr id="135" name="Google Shape;135;p20"/>
          <p:cNvGraphicFramePr/>
          <p:nvPr/>
        </p:nvGraphicFramePr>
        <p:xfrm>
          <a:off x="952500" y="106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{8C0929C3-887E-4BC6-9BA5-C103F83A1B02}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COSTOS ESTIMADOS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COSTOS ESTANDAR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Pueden utilizarse para propósitos de planeación en la elaboración de presupuestos.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Al compararlos con los costos reales, y mediante el principio de excepción, ayudan a vigilar las ineficiencias.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lvl="0" indent="-21590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De fácil y rápido diseño y mantenimiento. 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Sirve como base para la fijación del precio de venta.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2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Suelen ser el primer paso para el diseño de un sistema de costos estándar, a partir del perfeccionamiento de dichos costos estimados. 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Si son razonablemente próximos a los costos reales pueden ser utilizados para la elaboración de estados financieros con fines externos. 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300"/>
              <a:t>REQUERIMIENTOS PARA APLICACIÓN DEL COSTO ESTANDAR</a:t>
            </a:r>
            <a:endParaRPr sz="2300"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Selección minuciosa de materiales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Estudio de métodos y tiempos de las operaciones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Estudios ingenieriles de maquinaria y equipo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Definición previa de niveles de producción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Departamentalización de la empresa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Correcta distribución de los gastos de fabricación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Fijación de volúmenes de fabricación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Rígidos principios de calidad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DESVENTAJAS DE LOS COSTOS PREDETERMINADOS</a:t>
            </a:r>
            <a:endParaRPr/>
          </a:p>
        </p:txBody>
      </p:sp>
      <p:graphicFrame>
        <p:nvGraphicFramePr>
          <p:cNvPr id="147" name="Google Shape;147;p22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{8C0929C3-887E-4BC6-9BA5-C103F83A1B02}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COSTOS ESTIMADOS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COSTO ESTANDAR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No sirven para controlar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Laborioso diseño y manutención en el tiempo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Se basan en costos de periodos anteriores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Rigidez en situaciones de cambio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Pueden arrastrar errores propios de lo actuado anteriormente en la empresa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Roboto"/>
                          <a:ea typeface="Roboto"/>
                          <a:cs typeface="Roboto"/>
                          <a:sym typeface="Roboto"/>
                        </a:rPr>
                        <a:t>No aconsejables para empresas con sistemas de costeo por órdenes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556025" y="890125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s" sz="1600" b="1">
                <a:solidFill>
                  <a:schemeClr val="dk2"/>
                </a:solidFill>
              </a:rPr>
              <a:t>ESTÁNDAR FÍSICO NORMAL / cantidad:</a:t>
            </a:r>
            <a:r>
              <a:rPr lang="es" sz="1600">
                <a:solidFill>
                  <a:schemeClr val="dk2"/>
                </a:solidFill>
              </a:rPr>
              <a:t> </a:t>
            </a:r>
            <a:endParaRPr sz="1600"/>
          </a:p>
        </p:txBody>
      </p:sp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5736200" y="890125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0"/>
              <a:t>2.</a:t>
            </a:r>
            <a:r>
              <a:rPr lang="es"/>
              <a:t> </a:t>
            </a:r>
            <a:r>
              <a:rPr lang="es" sz="1800" b="1">
                <a:solidFill>
                  <a:schemeClr val="dk2"/>
                </a:solidFill>
              </a:rPr>
              <a:t>VALOR ESTÁNDAR VARIABLE / precio: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11700" y="1923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NORMALIZACIÓN DE LAS OPERACIONES</a:t>
            </a:r>
            <a:endParaRPr sz="2100"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783075" y="1735850"/>
            <a:ext cx="35331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Tienen en cuenta un porcentaje de desperdicio o ineficiencia de acuerdo con la realidad, y solo se modifica ante un cambio en las especificaciones o en los métodos de producción</a:t>
            </a:r>
            <a:endParaRPr sz="15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highlight>
                  <a:srgbClr val="D5A6BD"/>
                </a:highlight>
              </a:rPr>
              <a:t>Sector responsable:</a:t>
            </a:r>
            <a:endParaRPr sz="1500">
              <a:highlight>
                <a:srgbClr val="D5A6BD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Producción</a:t>
            </a:r>
            <a:endParaRPr sz="15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025" y="3772225"/>
            <a:ext cx="2945600" cy="11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4899175" y="1735850"/>
            <a:ext cx="3933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Este valor se ajusta de forma periódica en función a los precios o bien cuando ocurren diferencias importantes</a:t>
            </a:r>
            <a:endParaRPr sz="15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highlight>
                  <a:srgbClr val="D5A6BD"/>
                </a:highlight>
              </a:rPr>
              <a:t>Sector responsable:</a:t>
            </a:r>
            <a:endParaRPr sz="1500">
              <a:highlight>
                <a:srgbClr val="D5A6BD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Compras</a:t>
            </a:r>
            <a:endParaRPr sz="15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Personal</a:t>
            </a:r>
            <a:endParaRPr sz="15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Financiero</a:t>
            </a:r>
            <a:endParaRPr sz="15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9176" y="2690850"/>
            <a:ext cx="1067550" cy="80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888" y="3337200"/>
            <a:ext cx="1067573" cy="7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2998" y="3681398"/>
            <a:ext cx="719894" cy="6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311700" y="1242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Fijación de estándar</a:t>
            </a: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1"/>
          </p:nvPr>
        </p:nvSpPr>
        <p:spPr>
          <a:xfrm>
            <a:off x="311700" y="732000"/>
            <a:ext cx="8520600" cy="3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/>
              <a:t>Estándar de materia prima</a:t>
            </a:r>
            <a:endParaRPr sz="20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determina en base a al producto del estándar físico por el valor estándar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Costo STD de M.P.  = Cantidad unit STD M.P. x Costo unit STD M.P</a:t>
            </a:r>
            <a:endParaRPr>
              <a:solidFill>
                <a:srgbClr val="CC33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33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33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>
              <a:solidFill>
                <a:srgbClr val="CC33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257200" y="2623225"/>
            <a:ext cx="3857652" cy="1851606"/>
          </a:xfrm>
          <a:prstGeom prst="flowChartDocumen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A partir de las especificaciones del producto a costear se determina la cantidad expresada en unidades (Kg, litros, etc) contenidos en la unidad del producto final en la unidad que este se exprese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5046100" y="2687525"/>
            <a:ext cx="3709044" cy="1851606"/>
          </a:xfrm>
          <a:prstGeom prst="flowChartDocumen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Es definido por el área de abastecimiento y se expresa en $/unidad de medida de la materia prima/material utilizado en el producto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" name="Google Shape;169;p24"/>
          <p:cNvCxnSpPr/>
          <p:nvPr/>
        </p:nvCxnSpPr>
        <p:spPr>
          <a:xfrm flipH="1">
            <a:off x="2893200" y="2185975"/>
            <a:ext cx="1131600" cy="57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24"/>
          <p:cNvCxnSpPr/>
          <p:nvPr/>
        </p:nvCxnSpPr>
        <p:spPr>
          <a:xfrm flipH="1">
            <a:off x="7136575" y="2160275"/>
            <a:ext cx="12900" cy="66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" name="Google Shape;171;p24"/>
          <p:cNvSpPr/>
          <p:nvPr/>
        </p:nvSpPr>
        <p:spPr>
          <a:xfrm>
            <a:off x="3343275" y="1761650"/>
            <a:ext cx="2507400" cy="398700"/>
          </a:xfrm>
          <a:prstGeom prst="rect">
            <a:avLst/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6107900" y="1774500"/>
            <a:ext cx="2340300" cy="398700"/>
          </a:xfrm>
          <a:prstGeom prst="rect">
            <a:avLst/>
          </a:prstGeom>
          <a:noFill/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311700" y="1242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Fijación de estándar</a:t>
            </a:r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body" idx="1"/>
          </p:nvPr>
        </p:nvSpPr>
        <p:spPr>
          <a:xfrm>
            <a:off x="311700" y="655800"/>
            <a:ext cx="8520600" cy="4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/>
              <a:t>Estándar de mano de obra directa</a:t>
            </a:r>
            <a:endParaRPr sz="20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Se determina en base al producto del tiempo estándar por el valor estándar de los salarios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CC3300"/>
                </a:solidFill>
              </a:rPr>
              <a:t>Costo STD de M.O.D. = Tiempo unit STD MOD x Costo unit STD MOD</a:t>
            </a:r>
            <a:endParaRPr>
              <a:solidFill>
                <a:srgbClr val="CC33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33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CC33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El costo estándar definirá una cantidad de horas estándar aplicadas a la producción de la unidad de producto y una tarifa definida como estándar asociada una categoría de operario y definida para cada categoría</a:t>
            </a:r>
            <a:endParaRPr sz="1600"/>
          </a:p>
        </p:txBody>
      </p:sp>
      <p:pic>
        <p:nvPicPr>
          <p:cNvPr id="179" name="Google Shape;17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13" y="2267850"/>
            <a:ext cx="9020177" cy="6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311700" y="1242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Fijación de estándar</a:t>
            </a:r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body" idx="1"/>
          </p:nvPr>
        </p:nvSpPr>
        <p:spPr>
          <a:xfrm>
            <a:off x="311700" y="655800"/>
            <a:ext cx="8520600" cy="4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/>
              <a:t>Estándar de Gastos Indirectos de fabricación</a:t>
            </a:r>
            <a:endParaRPr sz="1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 caracteriza por por tener una estructura semejante al estándar de MOD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Surge del cociente entre los gastos indirectos globales y el factor representativo de la producción que se tome como base de distribución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 aplican a la producción sobre la base de insumos reales o nivel de actividad medido en horas, unidades, etc. multiplicados por una tasa predeterminada de aplicación de Costos Indirectos. 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311700" y="29425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Costo total estándar</a:t>
            </a:r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388875" y="10241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3F3F3F"/>
                </a:solidFill>
              </a:rPr>
              <a:t>COSTO TOTAL STANDARD DIRECTO O VARIABLE</a:t>
            </a:r>
            <a:endParaRPr sz="1900" b="1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33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highlight>
                  <a:srgbClr val="FFFF00"/>
                </a:highlight>
              </a:rPr>
              <a:t>Costo STD = Costo STD M.P. + Costo STD M.O.D.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b="1">
                <a:solidFill>
                  <a:srgbClr val="3F3F3F"/>
                </a:solidFill>
              </a:rPr>
              <a:t>COSTO TOTAL STANDARD INTEGRAL O POR ABSORCIÓN</a:t>
            </a:r>
            <a:endParaRPr sz="1900" b="1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33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highlight>
                  <a:srgbClr val="FFFF00"/>
                </a:highlight>
              </a:rPr>
              <a:t>Costo STD = Costo STD M.P. + Costo STD MOD + Costo STD CIF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CC33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b="1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Variaciones en estándar</a:t>
            </a:r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la diferencia entre el costo estándar y el costo real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1560452" y="2283593"/>
            <a:ext cx="6023100" cy="576300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Variaciones en STD = Costo STD – Costo Real </a:t>
            </a:r>
            <a:endParaRPr sz="2000">
              <a:solidFill>
                <a:srgbClr val="CC33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Variaciones en estándar</a:t>
            </a:r>
            <a:endParaRPr/>
          </a:p>
        </p:txBody>
      </p:sp>
      <p:sp>
        <p:nvSpPr>
          <p:cNvPr id="204" name="Google Shape;204;p2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 respecto a la </a:t>
            </a:r>
            <a:r>
              <a:rPr lang="es" b="1"/>
              <a:t>materia prima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aplica la variación en estándar de precio de la materia prima 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(V</a:t>
            </a:r>
            <a:r>
              <a:rPr lang="es" sz="2000" baseline="-25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PMP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aplica la variación en estándar de cantidad de materia prima 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(V</a:t>
            </a:r>
            <a:r>
              <a:rPr lang="es" sz="2000" baseline="-25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QMP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2062045" y="2283610"/>
            <a:ext cx="5019900" cy="576300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PMP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P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P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(P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P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2062049" y="3819900"/>
            <a:ext cx="5019900" cy="576300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QMP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P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P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P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(Q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Variaciones en estándar</a:t>
            </a:r>
            <a:endParaRPr/>
          </a:p>
        </p:txBody>
      </p:sp>
      <p:sp>
        <p:nvSpPr>
          <p:cNvPr id="212" name="Google Shape;212;p3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8323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 respecto a la </a:t>
            </a:r>
            <a:r>
              <a:rPr lang="es" b="1"/>
              <a:t>mano de obra</a:t>
            </a:r>
            <a:endParaRPr b="1"/>
          </a:p>
          <a:p>
            <a:pPr marL="3175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variación en estándar de costo de mano de obra directa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(V</a:t>
            </a:r>
            <a:r>
              <a:rPr lang="es" sz="2000" baseline="-25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CMOD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175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175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175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175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175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"/>
              <a:t>La variación en estándar de cantidad o eficiencia de mano de obra directa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(V</a:t>
            </a:r>
            <a:r>
              <a:rPr lang="es" sz="2000" baseline="-25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QMOD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1838839" y="2416185"/>
            <a:ext cx="5466300" cy="576300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CMOD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C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C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(C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C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1838850" y="3731125"/>
            <a:ext cx="5466300" cy="576300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QMOD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C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C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C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x (Q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Q</a:t>
            </a:r>
            <a:r>
              <a:rPr lang="es" sz="2000" baseline="-25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" sz="2000">
                <a:solidFill>
                  <a:srgbClr val="CC33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Variaciones en estándar</a:t>
            </a:r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 respecto a los </a:t>
            </a:r>
            <a:r>
              <a:rPr lang="es" b="1"/>
              <a:t>costos indirectos de fabricación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sp>
        <p:nvSpPr>
          <p:cNvPr id="221" name="Google Shape;221;p31"/>
          <p:cNvSpPr txBox="1"/>
          <p:nvPr/>
        </p:nvSpPr>
        <p:spPr>
          <a:xfrm>
            <a:off x="2510700" y="2457025"/>
            <a:ext cx="41226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 similar, pero no igual a las variaciones de mano de obra directo y materias primas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Variaciones en estándar</a:t>
            </a:r>
            <a:endParaRPr/>
          </a:p>
        </p:txBody>
      </p:sp>
      <p:sp>
        <p:nvSpPr>
          <p:cNvPr id="227" name="Google Shape;227;p32"/>
          <p:cNvSpPr/>
          <p:nvPr/>
        </p:nvSpPr>
        <p:spPr>
          <a:xfrm>
            <a:off x="0" y="1093738"/>
            <a:ext cx="9906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 variación del presupuesto se puede dividir en 3 variaciones: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0" y="1601400"/>
            <a:ext cx="99060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7525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53010"/>
              </a:buClr>
              <a:buSzPts val="2000"/>
              <a:buFont typeface="Arial"/>
              <a:buChar char="•"/>
            </a:pP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8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Una variación de precio (gasto) (Vp(g)): </a:t>
            </a:r>
            <a:endParaRPr sz="18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4625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  El Gasto se pagó a un precio diferente del estándar.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0" y="2393700"/>
            <a:ext cx="99060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7525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3010"/>
              </a:buClr>
              <a:buSzPts val="2000"/>
              <a:buChar char="•"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8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Una Variación de eficiencia (Ve): </a:t>
            </a:r>
            <a:endParaRPr sz="18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El Gasto se utilizó para un consumo específico distinto al considerado en el estándar.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0" y="3102450"/>
            <a:ext cx="91440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7525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3010"/>
              </a:buClr>
              <a:buSzPts val="2000"/>
              <a:buChar char="•"/>
            </a:pPr>
            <a:r>
              <a:rPr lang="es" sz="2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8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Una Variación de volumen de producción (Vv): </a:t>
            </a:r>
            <a:endParaRPr sz="18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El nivel de actividad fue diferente al considerado al establecer el estándar de gastos por lo que en la realidad serán distintos los coeficientes de distribución.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DE COSTEO ESTÁNDAR</a:t>
            </a:r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Calcular el costo STD de 100 kg terminados de barra de latón de aleación (Cu 58%, Zn 40%, Pb 2%) de 2'' de diámetro, con los siguientes datos estandarizados para cada una de las 3 secciones productivas, en el cual los recortes se reciclan totalmente en el proceso productivo, y el costo STD de la materia prima utilizada es: Cu 2,10 $/kg., Zn 1,50 $/kg., Pb 0,60 $/kg.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34"/>
          <p:cNvGraphicFramePr/>
          <p:nvPr/>
        </p:nvGraphicFramePr>
        <p:xfrm>
          <a:off x="952500" y="118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{8C0929C3-887E-4BC6-9BA5-C103F83A1B02}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Sección</a:t>
                      </a:r>
                      <a:endParaRPr/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HH utilizadas cada 100 kg (salientes)</a:t>
                      </a:r>
                      <a:endParaRPr/>
                    </a:p>
                  </a:txBody>
                  <a:tcPr marL="28575" marR="28575" marT="91425" marB="91425" anchor="ctr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Costo STD de conversión</a:t>
                      </a:r>
                      <a:endParaRPr/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Mermas</a:t>
                      </a:r>
                      <a:endParaRPr/>
                    </a:p>
                  </a:txBody>
                  <a:tcPr marL="28575" marR="2857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Desperdicios</a:t>
                      </a:r>
                      <a:endParaRPr/>
                    </a:p>
                  </a:txBody>
                  <a:tcPr marL="91425" marR="91425" marT="91425" marB="91425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(MOD+GG) $ / HH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Fundición</a:t>
                      </a: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0,7</a:t>
                      </a: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30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6%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20%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Prensa</a:t>
                      </a: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0,45</a:t>
                      </a: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45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1%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16%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Trefilación</a:t>
                      </a: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0,7</a:t>
                      </a:r>
                      <a:endParaRPr/>
                    </a:p>
                  </a:txBody>
                  <a:tcPr marL="28575" marR="28575" marT="91425" marB="91425" anchor="b">
                    <a:lnL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2%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35%</a:t>
                      </a:r>
                      <a:endParaRPr/>
                    </a:p>
                  </a:txBody>
                  <a:tcPr marL="28575" marR="28575" marT="91425" marB="91425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5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/>
          <p:nvPr/>
        </p:nvSpPr>
        <p:spPr>
          <a:xfrm>
            <a:off x="738475" y="2670938"/>
            <a:ext cx="456900" cy="350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5"/>
          <p:cNvSpPr/>
          <p:nvPr/>
        </p:nvSpPr>
        <p:spPr>
          <a:xfrm>
            <a:off x="1349375" y="2281538"/>
            <a:ext cx="1450500" cy="112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Merma= 6%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Recortes= 20%</a:t>
            </a:r>
            <a:endParaRPr/>
          </a:p>
        </p:txBody>
      </p:sp>
      <p:sp>
        <p:nvSpPr>
          <p:cNvPr id="248" name="Google Shape;248;p35"/>
          <p:cNvSpPr/>
          <p:nvPr/>
        </p:nvSpPr>
        <p:spPr>
          <a:xfrm>
            <a:off x="2953875" y="2670938"/>
            <a:ext cx="456900" cy="350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3564775" y="2281538"/>
            <a:ext cx="1450500" cy="112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Merma= 1%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Recortes= 16%</a:t>
            </a:r>
            <a:endParaRPr/>
          </a:p>
        </p:txBody>
      </p:sp>
      <p:sp>
        <p:nvSpPr>
          <p:cNvPr id="250" name="Google Shape;250;p35"/>
          <p:cNvSpPr/>
          <p:nvPr/>
        </p:nvSpPr>
        <p:spPr>
          <a:xfrm>
            <a:off x="5169275" y="2670938"/>
            <a:ext cx="456900" cy="350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5"/>
          <p:cNvSpPr/>
          <p:nvPr/>
        </p:nvSpPr>
        <p:spPr>
          <a:xfrm>
            <a:off x="5780175" y="2281538"/>
            <a:ext cx="1450500" cy="112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Merma= 2%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Recortes= 35%</a:t>
            </a:r>
            <a:endParaRPr/>
          </a:p>
        </p:txBody>
      </p:sp>
      <p:sp>
        <p:nvSpPr>
          <p:cNvPr id="252" name="Google Shape;252;p35"/>
          <p:cNvSpPr/>
          <p:nvPr/>
        </p:nvSpPr>
        <p:spPr>
          <a:xfrm>
            <a:off x="7384675" y="2670938"/>
            <a:ext cx="456900" cy="350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7430350" y="3124038"/>
            <a:ext cx="894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100 kg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35"/>
          <p:cNvSpPr txBox="1"/>
          <p:nvPr/>
        </p:nvSpPr>
        <p:spPr>
          <a:xfrm>
            <a:off x="1314550" y="1543063"/>
            <a:ext cx="14505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Fundición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3564775" y="1543063"/>
            <a:ext cx="14505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Prensa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5780175" y="1543063"/>
            <a:ext cx="14505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Trefilación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Cuentas</a:t>
            </a:r>
            <a:endParaRPr/>
          </a:p>
        </p:txBody>
      </p:sp>
      <p:sp>
        <p:nvSpPr>
          <p:cNvPr id="262" name="Google Shape;262;p3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Trefilación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65% ___ 100kg                      Por lo tanto, se recortó </a:t>
            </a:r>
            <a:r>
              <a:rPr lang="es" b="1"/>
              <a:t>53,8461kg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100% ___x= 153,8461kg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98%___ 153,8461kg             Por lo tanto, se tiene de merma </a:t>
            </a:r>
            <a:r>
              <a:rPr lang="es" b="1"/>
              <a:t>3,14kg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100%___x= 156,9858kg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Entonces 100kg+53,8461kg+3,14kg= </a:t>
            </a:r>
            <a:r>
              <a:rPr lang="es" b="1"/>
              <a:t>156,99kg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Cuentas</a:t>
            </a:r>
            <a:endParaRPr/>
          </a:p>
        </p:txBody>
      </p:sp>
      <p:sp>
        <p:nvSpPr>
          <p:cNvPr id="268" name="Google Shape;268;p37"/>
          <p:cNvSpPr txBox="1">
            <a:spLocks noGrp="1"/>
          </p:cNvSpPr>
          <p:nvPr>
            <p:ph type="body" idx="1"/>
          </p:nvPr>
        </p:nvSpPr>
        <p:spPr>
          <a:xfrm>
            <a:off x="311700" y="13009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Prensa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84% ___ 156,99kg                      Por lo tanto, se recortó </a:t>
            </a:r>
            <a:r>
              <a:rPr lang="es" b="1"/>
              <a:t>29,902kg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100% ___x= 186,8928kg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99%___ 186,8928kg                   Por lo tanto, se tiene de merma </a:t>
            </a:r>
            <a:r>
              <a:rPr lang="es" b="1"/>
              <a:t>1,888kg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100%___x= 188,7806kg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Entonces 156,99kg+29,902kg+1,888kg= </a:t>
            </a:r>
            <a:r>
              <a:rPr lang="es" b="1"/>
              <a:t>188,78kg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Cuentas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body" idx="1"/>
          </p:nvPr>
        </p:nvSpPr>
        <p:spPr>
          <a:xfrm>
            <a:off x="311700" y="13009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Fundición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80% ___ 188,78kg                      Por lo tanto, se recortó </a:t>
            </a:r>
            <a:r>
              <a:rPr lang="es" b="1"/>
              <a:t>47,194kg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100% ___x= 235,975kg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94%___ 235,975kg                   Por lo tanto, se tiene de merma </a:t>
            </a:r>
            <a:r>
              <a:rPr lang="es" b="1"/>
              <a:t>15,062kg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100%___x= 251,0372kg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Entonces 188,78kg+47,194kg+15,062kg= </a:t>
            </a:r>
            <a:r>
              <a:rPr lang="es" b="1"/>
              <a:t>251,03kg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Cuentas</a:t>
            </a:r>
            <a:endParaRPr/>
          </a:p>
        </p:txBody>
      </p:sp>
      <p:sp>
        <p:nvSpPr>
          <p:cNvPr id="280" name="Google Shape;280;p39"/>
          <p:cNvSpPr txBox="1">
            <a:spLocks noGrp="1"/>
          </p:cNvSpPr>
          <p:nvPr>
            <p:ph type="body" idx="1"/>
          </p:nvPr>
        </p:nvSpPr>
        <p:spPr>
          <a:xfrm>
            <a:off x="311700" y="12007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</a:rPr>
              <a:t>I</a:t>
            </a:r>
            <a:r>
              <a:rPr lang="es" sz="1650">
                <a:solidFill>
                  <a:srgbClr val="000000"/>
                </a:solidFill>
              </a:rPr>
              <a:t>ngresan en el horno </a:t>
            </a:r>
            <a:r>
              <a:rPr lang="es" sz="1650" b="1">
                <a:solidFill>
                  <a:srgbClr val="000000"/>
                </a:solidFill>
              </a:rPr>
              <a:t>251,03kg </a:t>
            </a:r>
            <a:r>
              <a:rPr lang="es" sz="1650">
                <a:solidFill>
                  <a:srgbClr val="000000"/>
                </a:solidFill>
              </a:rPr>
              <a:t>de aleación (ya sean lingotes o recortes recuperados)</a:t>
            </a:r>
            <a:endParaRPr sz="165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>
                <a:solidFill>
                  <a:srgbClr val="000000"/>
                </a:solidFill>
              </a:rPr>
              <a:t>La cantidad de materia prima necesaria son 100 Kg. De PT + 20,089 Kg. de Merma total</a:t>
            </a:r>
            <a:endParaRPr sz="165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5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 b="1">
                <a:solidFill>
                  <a:srgbClr val="000000"/>
                </a:solidFill>
              </a:rPr>
              <a:t>La cantidad de materia prima necesaria son 120,089 Kg.</a:t>
            </a:r>
            <a:endParaRPr sz="165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Cuentas </a:t>
            </a:r>
            <a:endParaRPr/>
          </a:p>
        </p:txBody>
      </p:sp>
      <p:graphicFrame>
        <p:nvGraphicFramePr>
          <p:cNvPr id="286" name="Google Shape;286;p40"/>
          <p:cNvGraphicFramePr/>
          <p:nvPr/>
        </p:nvGraphicFramePr>
        <p:xfrm>
          <a:off x="311700" y="188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{8C0929C3-887E-4BC6-9BA5-C103F83A1B02}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Cobre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120,089kg x 0,58 x 2,10$/kg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$146,27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Zinc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120,089kg x 0,4 x 1,50$/kg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$72,05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Plomo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120,089kg x 0,02 x 0,60$/kg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$1,44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7" name="Google Shape;287;p40"/>
          <p:cNvSpPr txBox="1"/>
          <p:nvPr/>
        </p:nvSpPr>
        <p:spPr>
          <a:xfrm>
            <a:off x="311700" y="1482463"/>
            <a:ext cx="361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Cálculo del costo de la materia prima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40"/>
          <p:cNvSpPr txBox="1"/>
          <p:nvPr/>
        </p:nvSpPr>
        <p:spPr>
          <a:xfrm>
            <a:off x="5272775" y="3165138"/>
            <a:ext cx="2277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$219,76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—--------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100 kg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=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2,20 $/kg 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Cuentas</a:t>
            </a:r>
            <a:endParaRPr/>
          </a:p>
        </p:txBody>
      </p:sp>
      <p:graphicFrame>
        <p:nvGraphicFramePr>
          <p:cNvPr id="294" name="Google Shape;294;p41"/>
          <p:cNvGraphicFramePr/>
          <p:nvPr/>
        </p:nvGraphicFramePr>
        <p:xfrm>
          <a:off x="311700" y="193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{8C0929C3-887E-4BC6-9BA5-C103F83A1B02}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Trefilación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100kg x 0,7HH/100kg x 20$/HH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$14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Prensa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156,99kg x 0,45HH/100kg x 45$/HH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$31,79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Fundición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188,78kg x 0,7HH/100kg x 30$/HH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$39,64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5" name="Google Shape;295;p41"/>
          <p:cNvSpPr txBox="1"/>
          <p:nvPr/>
        </p:nvSpPr>
        <p:spPr>
          <a:xfrm>
            <a:off x="311700" y="1531100"/>
            <a:ext cx="361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Cálculo del costo de la mano de obra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41"/>
          <p:cNvSpPr txBox="1"/>
          <p:nvPr/>
        </p:nvSpPr>
        <p:spPr>
          <a:xfrm>
            <a:off x="5924200" y="3136000"/>
            <a:ext cx="1626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$85,43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—--------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100kg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=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0,85 $/kg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Cuentas</a:t>
            </a:r>
            <a:endParaRPr/>
          </a:p>
        </p:txBody>
      </p:sp>
      <p:sp>
        <p:nvSpPr>
          <p:cNvPr id="302" name="Google Shape;302;p42"/>
          <p:cNvSpPr txBox="1"/>
          <p:nvPr/>
        </p:nvSpPr>
        <p:spPr>
          <a:xfrm>
            <a:off x="2461500" y="1682125"/>
            <a:ext cx="3558600" cy="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Costo total de 100kg de barra de latón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2569500" y="2625250"/>
            <a:ext cx="41130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$219,76+$85,43= $305,19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                                —--------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                                   100kg de barra trefilada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Nunito"/>
                <a:ea typeface="Nunito"/>
                <a:cs typeface="Nunito"/>
                <a:sym typeface="Nunito"/>
              </a:rPr>
              <a:t>                                       =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Nunito"/>
                <a:ea typeface="Nunito"/>
                <a:cs typeface="Nunito"/>
                <a:sym typeface="Nunito"/>
              </a:rPr>
              <a:t>                                3,05 $/kg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1646</Words>
  <Application>Microsoft Office PowerPoint</Application>
  <PresentationFormat>Presentación en pantalla (16:9)</PresentationFormat>
  <Paragraphs>270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Noto Sans Symbols</vt:lpstr>
      <vt:lpstr>Arial</vt:lpstr>
      <vt:lpstr>Nunito</vt:lpstr>
      <vt:lpstr>Roboto</vt:lpstr>
      <vt:lpstr>Century Gothic</vt:lpstr>
      <vt:lpstr>Geometric</vt:lpstr>
      <vt:lpstr>SISTEMA DE COSTEO PREDETERMINADO</vt:lpstr>
      <vt:lpstr>¿Qué son los costos predeterminados?</vt:lpstr>
      <vt:lpstr>División de costos predeterminados</vt:lpstr>
      <vt:lpstr>COSTO ESTIMADO</vt:lpstr>
      <vt:lpstr>COSTO ESTANDAR</vt:lpstr>
      <vt:lpstr>USOS DE CADA UNO</vt:lpstr>
      <vt:lpstr>Características</vt:lpstr>
      <vt:lpstr>VENTAJAS DE LOS COSTOS PREDETERMINADOS</vt:lpstr>
      <vt:lpstr>REQUERIMIENTOS PARA APLICACIÓN DEL COSTO ESTANDAR</vt:lpstr>
      <vt:lpstr>DESVENTAJAS DE LOS COSTOS PREDETERMINADOS</vt:lpstr>
      <vt:lpstr>ESTÁNDAR FÍSICO NORMAL / cantidad: </vt:lpstr>
      <vt:lpstr>Fijación de estándar</vt:lpstr>
      <vt:lpstr>Fijación de estándar</vt:lpstr>
      <vt:lpstr>Fijación de estándar</vt:lpstr>
      <vt:lpstr>Costo total estándar</vt:lpstr>
      <vt:lpstr>Variaciones en estándar</vt:lpstr>
      <vt:lpstr>Variaciones en estándar</vt:lpstr>
      <vt:lpstr>Variaciones en estándar</vt:lpstr>
      <vt:lpstr>Variaciones en estándar</vt:lpstr>
      <vt:lpstr>Variaciones en estándar</vt:lpstr>
      <vt:lpstr>EJERCICIO DE COSTEO ESTÁNDAR</vt:lpstr>
      <vt:lpstr>Presentación de PowerPoint</vt:lpstr>
      <vt:lpstr>Presentación de PowerPoint</vt:lpstr>
      <vt:lpstr>Cuentas</vt:lpstr>
      <vt:lpstr>Cuentas</vt:lpstr>
      <vt:lpstr>Cuentas</vt:lpstr>
      <vt:lpstr>Cuentas</vt:lpstr>
      <vt:lpstr>Cuentas </vt:lpstr>
      <vt:lpstr>Cuentas</vt:lpstr>
      <vt:lpstr>Cuentas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COSTEO PREDETERMINADO</dc:title>
  <dc:creator>gustavo massucco</dc:creator>
  <cp:lastModifiedBy>gustavo massucco</cp:lastModifiedBy>
  <cp:revision>1</cp:revision>
  <dcterms:modified xsi:type="dcterms:W3CDTF">2023-09-18T11:45:12Z</dcterms:modified>
</cp:coreProperties>
</file>