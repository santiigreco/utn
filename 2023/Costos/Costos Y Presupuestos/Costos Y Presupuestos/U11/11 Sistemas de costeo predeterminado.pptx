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2"/>
  </p:notesMasterIdLst>
  <p:sldIdLst>
    <p:sldId id="356" r:id="rId2"/>
    <p:sldId id="380" r:id="rId3"/>
    <p:sldId id="397" r:id="rId4"/>
    <p:sldId id="398" r:id="rId5"/>
    <p:sldId id="400" r:id="rId6"/>
    <p:sldId id="399" r:id="rId7"/>
    <p:sldId id="401" r:id="rId8"/>
    <p:sldId id="402" r:id="rId9"/>
    <p:sldId id="403" r:id="rId10"/>
    <p:sldId id="404" r:id="rId11"/>
    <p:sldId id="405" r:id="rId12"/>
    <p:sldId id="406" r:id="rId13"/>
    <p:sldId id="407" r:id="rId14"/>
    <p:sldId id="283" r:id="rId15"/>
    <p:sldId id="409" r:id="rId16"/>
    <p:sldId id="381" r:id="rId17"/>
    <p:sldId id="284" r:id="rId18"/>
    <p:sldId id="382" r:id="rId19"/>
    <p:sldId id="410" r:id="rId20"/>
    <p:sldId id="270" r:id="rId21"/>
    <p:sldId id="271" r:id="rId22"/>
    <p:sldId id="411" r:id="rId23"/>
    <p:sldId id="383" r:id="rId24"/>
    <p:sldId id="265" r:id="rId25"/>
    <p:sldId id="412" r:id="rId26"/>
    <p:sldId id="272" r:id="rId27"/>
    <p:sldId id="408" r:id="rId28"/>
    <p:sldId id="266" r:id="rId29"/>
    <p:sldId id="273" r:id="rId30"/>
    <p:sldId id="413" r:id="rId31"/>
    <p:sldId id="274" r:id="rId32"/>
    <p:sldId id="275" r:id="rId33"/>
    <p:sldId id="276" r:id="rId34"/>
    <p:sldId id="414" r:id="rId35"/>
    <p:sldId id="277" r:id="rId36"/>
    <p:sldId id="278" r:id="rId37"/>
    <p:sldId id="279" r:id="rId38"/>
    <p:sldId id="415" r:id="rId39"/>
    <p:sldId id="280" r:id="rId40"/>
    <p:sldId id="282"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massucco" initials="gm" lastIdx="1" clrIdx="0">
    <p:extLst>
      <p:ext uri="{19B8F6BF-5375-455C-9EA6-DF929625EA0E}">
        <p15:presenceInfo xmlns:p15="http://schemas.microsoft.com/office/powerpoint/2012/main" userId="S::gmassucco@frba.utn.edu.ar::1271f782-c2a0-484f-8edc-abfea8ad4a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04" autoAdjust="0"/>
    <p:restoredTop sz="94665" autoAdjust="0"/>
  </p:normalViewPr>
  <p:slideViewPr>
    <p:cSldViewPr snapToGrid="0">
      <p:cViewPr varScale="1">
        <p:scale>
          <a:sx n="93" d="100"/>
          <a:sy n="93" d="100"/>
        </p:scale>
        <p:origin x="720" y="82"/>
      </p:cViewPr>
      <p:guideLst>
        <p:guide orient="horz" pos="2160"/>
        <p:guide pos="3840"/>
      </p:guideLst>
    </p:cSldViewPr>
  </p:slideViewPr>
  <p:outlineViewPr>
    <p:cViewPr>
      <p:scale>
        <a:sx n="33" d="100"/>
        <a:sy n="33" d="100"/>
      </p:scale>
      <p:origin x="0" y="-10493"/>
    </p:cViewPr>
  </p:outlineViewPr>
  <p:notesTextViewPr>
    <p:cViewPr>
      <p:scale>
        <a:sx n="1" d="1"/>
        <a:sy n="1" d="1"/>
      </p:scale>
      <p:origin x="0" y="0"/>
    </p:cViewPr>
  </p:notesTextViewPr>
  <p:sorterViewPr>
    <p:cViewPr>
      <p:scale>
        <a:sx n="100" d="100"/>
        <a:sy n="100" d="100"/>
      </p:scale>
      <p:origin x="0" y="-58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441F-8982-4902-B1FE-08DF82218E62}" type="datetimeFigureOut">
              <a:rPr lang="es-AR" smtClean="0"/>
              <a:t>31/8/2021</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7D551-39DC-4B61-9B7A-D9ED28759857}" type="slidenum">
              <a:rPr lang="es-AR" smtClean="0"/>
              <a:t>‹Nº›</a:t>
            </a:fld>
            <a:endParaRPr lang="es-AR"/>
          </a:p>
        </p:txBody>
      </p:sp>
    </p:spTree>
    <p:extLst>
      <p:ext uri="{BB962C8B-B14F-4D97-AF65-F5344CB8AC3E}">
        <p14:creationId xmlns:p14="http://schemas.microsoft.com/office/powerpoint/2010/main" val="244033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Century Gothic" panose="020B0502020202020204" pitchFamily="34" charset="0"/>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Century Gothic" panose="020B0502020202020204" pitchFamily="34" charset="0"/>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Century Gothic" panose="020B0502020202020204" pitchFamily="34" charset="0"/>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Century Gothic" panose="020B0502020202020204" pitchFamily="34" charset="0"/>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609600" y="274639"/>
            <a:ext cx="10972800" cy="5851525"/>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Tree>
    <p:extLst>
      <p:ext uri="{BB962C8B-B14F-4D97-AF65-F5344CB8AC3E}">
        <p14:creationId xmlns:p14="http://schemas.microsoft.com/office/powerpoint/2010/main" val="77489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 id="2147483665" r:id="rId17"/>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2589213" y="1619547"/>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COSTOS Y PRESUPUESTOS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462754" y="4171390"/>
            <a:ext cx="89154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SISTEMAS DE COSTEO PREDETERMINADO</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3108035" y="3023361"/>
            <a:ext cx="8396578" cy="400110"/>
          </a:xfrm>
          <a:prstGeom prst="rect">
            <a:avLst/>
          </a:prstGeom>
          <a:noFill/>
        </p:spPr>
        <p:txBody>
          <a:bodyPr wrap="square" rtlCol="0">
            <a:spAutoFit/>
          </a:bodyPr>
          <a:lstStyle/>
          <a:p>
            <a:r>
              <a:rPr lang="es-AR" sz="2000" dirty="0"/>
              <a:t>Ingeniero Gustavo Massucco</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435892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Text Box 5">
            <a:extLst>
              <a:ext uri="{FF2B5EF4-FFF2-40B4-BE49-F238E27FC236}">
                <a16:creationId xmlns:a16="http://schemas.microsoft.com/office/drawing/2014/main" id="{4442E0B1-ECCF-4C27-BA40-34499D5711C1}"/>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COSTEO PREDETERMINADO</a:t>
            </a:r>
          </a:p>
        </p:txBody>
      </p:sp>
      <p:sp>
        <p:nvSpPr>
          <p:cNvPr id="7175" name="Rectangle 7">
            <a:extLst>
              <a:ext uri="{FF2B5EF4-FFF2-40B4-BE49-F238E27FC236}">
                <a16:creationId xmlns:a16="http://schemas.microsoft.com/office/drawing/2014/main" id="{B3EC5F66-6607-4C00-BDB6-3E5F89610C3A}"/>
              </a:ext>
            </a:extLst>
          </p:cNvPr>
          <p:cNvSpPr>
            <a:spLocks noChangeArrowheads="1"/>
          </p:cNvSpPr>
          <p:nvPr/>
        </p:nvSpPr>
        <p:spPr bwMode="auto">
          <a:xfrm>
            <a:off x="1216025" y="3141663"/>
            <a:ext cx="2719388"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spcBef>
                <a:spcPct val="20000"/>
              </a:spcBef>
              <a:defRPr/>
            </a:pPr>
            <a:r>
              <a:rPr lang="es-AR" sz="2400" b="1" u="sng" dirty="0">
                <a:effectLst>
                  <a:outerShdw blurRad="38100" dist="38100" dir="2700000" algn="tl">
                    <a:srgbClr val="C0C0C0"/>
                  </a:outerShdw>
                </a:effectLst>
                <a:latin typeface="Century Gothic" panose="020B0502020202020204" pitchFamily="34" charset="0"/>
                <a:cs typeface="Arial" charset="0"/>
              </a:rPr>
              <a:t>Costos Predeterminados</a:t>
            </a:r>
            <a:endParaRPr lang="es-ES" sz="2400" b="1" u="sng" dirty="0">
              <a:effectLst>
                <a:outerShdw blurRad="38100" dist="38100" dir="2700000" algn="tl">
                  <a:srgbClr val="C0C0C0"/>
                </a:outerShdw>
              </a:effectLst>
              <a:latin typeface="Century Gothic" panose="020B0502020202020204" pitchFamily="34" charset="0"/>
              <a:cs typeface="Arial" charset="0"/>
            </a:endParaRPr>
          </a:p>
        </p:txBody>
      </p:sp>
      <p:sp>
        <p:nvSpPr>
          <p:cNvPr id="7182" name="Rectangle 14">
            <a:extLst>
              <a:ext uri="{FF2B5EF4-FFF2-40B4-BE49-F238E27FC236}">
                <a16:creationId xmlns:a16="http://schemas.microsoft.com/office/drawing/2014/main" id="{36E44DCA-6CED-4ED1-AB64-77ADE12F419B}"/>
              </a:ext>
            </a:extLst>
          </p:cNvPr>
          <p:cNvSpPr>
            <a:spLocks noChangeArrowheads="1"/>
          </p:cNvSpPr>
          <p:nvPr/>
        </p:nvSpPr>
        <p:spPr bwMode="auto">
          <a:xfrm>
            <a:off x="4151314" y="1989138"/>
            <a:ext cx="28797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defRPr/>
            </a:pPr>
            <a:r>
              <a:rPr lang="es-AR" sz="2400" b="1" dirty="0">
                <a:effectLst>
                  <a:outerShdw blurRad="38100" dist="38100" dir="2700000" algn="tl">
                    <a:srgbClr val="C0C0C0"/>
                  </a:outerShdw>
                </a:effectLst>
                <a:latin typeface="Century Gothic" panose="020B0502020202020204" pitchFamily="34" charset="0"/>
                <a:cs typeface="Arial" charset="0"/>
              </a:rPr>
              <a:t>Costos Estimados</a:t>
            </a:r>
            <a:endParaRPr lang="es-ES" sz="2400" b="1" dirty="0">
              <a:effectLst>
                <a:outerShdw blurRad="38100" dist="38100" dir="2700000" algn="tl">
                  <a:srgbClr val="C0C0C0"/>
                </a:outerShdw>
              </a:effectLst>
              <a:latin typeface="Century Gothic" panose="020B0502020202020204" pitchFamily="34" charset="0"/>
              <a:cs typeface="Arial" charset="0"/>
            </a:endParaRPr>
          </a:p>
        </p:txBody>
      </p:sp>
      <p:sp>
        <p:nvSpPr>
          <p:cNvPr id="7183" name="Rectangle 15">
            <a:extLst>
              <a:ext uri="{FF2B5EF4-FFF2-40B4-BE49-F238E27FC236}">
                <a16:creationId xmlns:a16="http://schemas.microsoft.com/office/drawing/2014/main" id="{C700BCE3-ACC9-4512-9E86-71F85AC40A42}"/>
              </a:ext>
            </a:extLst>
          </p:cNvPr>
          <p:cNvSpPr>
            <a:spLocks noChangeArrowheads="1"/>
          </p:cNvSpPr>
          <p:nvPr/>
        </p:nvSpPr>
        <p:spPr bwMode="auto">
          <a:xfrm>
            <a:off x="4151313" y="4292600"/>
            <a:ext cx="273526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defRPr/>
            </a:pPr>
            <a:r>
              <a:rPr lang="es-AR" sz="2400" b="1" dirty="0">
                <a:effectLst>
                  <a:outerShdw blurRad="38100" dist="38100" dir="2700000" algn="tl">
                    <a:srgbClr val="C0C0C0"/>
                  </a:outerShdw>
                </a:effectLst>
                <a:latin typeface="Century Gothic" panose="020B0502020202020204" pitchFamily="34" charset="0"/>
                <a:cs typeface="Arial" charset="0"/>
              </a:rPr>
              <a:t>Costos Estándar</a:t>
            </a:r>
            <a:endParaRPr lang="es-ES" sz="2400" b="1" dirty="0">
              <a:effectLst>
                <a:outerShdw blurRad="38100" dist="38100" dir="2700000" algn="tl">
                  <a:srgbClr val="C0C0C0"/>
                </a:outerShdw>
              </a:effectLst>
              <a:latin typeface="Century Gothic" panose="020B0502020202020204" pitchFamily="34" charset="0"/>
              <a:cs typeface="Arial" charset="0"/>
            </a:endParaRPr>
          </a:p>
        </p:txBody>
      </p:sp>
      <p:sp>
        <p:nvSpPr>
          <p:cNvPr id="7185" name="AutoShape 17">
            <a:extLst>
              <a:ext uri="{FF2B5EF4-FFF2-40B4-BE49-F238E27FC236}">
                <a16:creationId xmlns:a16="http://schemas.microsoft.com/office/drawing/2014/main" id="{1497A191-5EEC-4171-9AED-919AE354F885}"/>
              </a:ext>
            </a:extLst>
          </p:cNvPr>
          <p:cNvSpPr>
            <a:spLocks/>
          </p:cNvSpPr>
          <p:nvPr/>
        </p:nvSpPr>
        <p:spPr bwMode="auto">
          <a:xfrm>
            <a:off x="4006851" y="1844675"/>
            <a:ext cx="144463" cy="3600450"/>
          </a:xfrm>
          <a:prstGeom prst="leftBrace">
            <a:avLst>
              <a:gd name="adj1" fmla="val 20769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dirty="0">
              <a:latin typeface="Century Gothic" panose="020B0502020202020204" pitchFamily="34" charset="0"/>
            </a:endParaRPr>
          </a:p>
        </p:txBody>
      </p:sp>
      <p:sp>
        <p:nvSpPr>
          <p:cNvPr id="7189" name="Rectangle 21">
            <a:extLst>
              <a:ext uri="{FF2B5EF4-FFF2-40B4-BE49-F238E27FC236}">
                <a16:creationId xmlns:a16="http://schemas.microsoft.com/office/drawing/2014/main" id="{0AAE0F5C-D509-4210-BA2C-BF66D612A310}"/>
              </a:ext>
            </a:extLst>
          </p:cNvPr>
          <p:cNvSpPr>
            <a:spLocks noChangeArrowheads="1"/>
          </p:cNvSpPr>
          <p:nvPr/>
        </p:nvSpPr>
        <p:spPr bwMode="auto">
          <a:xfrm>
            <a:off x="7185025" y="3685601"/>
            <a:ext cx="324008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defRPr/>
            </a:pPr>
            <a:r>
              <a:rPr lang="es-AR" sz="2000" b="1" dirty="0">
                <a:effectLst>
                  <a:outerShdw blurRad="38100" dist="38100" dir="2700000" algn="tl">
                    <a:srgbClr val="C0C0C0"/>
                  </a:outerShdw>
                </a:effectLst>
                <a:latin typeface="Century Gothic" panose="020B0502020202020204" pitchFamily="34" charset="0"/>
                <a:cs typeface="Arial" charset="0"/>
              </a:rPr>
              <a:t>Directo o variable</a:t>
            </a:r>
            <a:endParaRPr lang="es-ES" sz="2000" b="1" dirty="0">
              <a:effectLst>
                <a:outerShdw blurRad="38100" dist="38100" dir="2700000" algn="tl">
                  <a:srgbClr val="C0C0C0"/>
                </a:outerShdw>
              </a:effectLst>
              <a:latin typeface="Century Gothic" panose="020B0502020202020204" pitchFamily="34" charset="0"/>
              <a:cs typeface="Arial" charset="0"/>
            </a:endParaRPr>
          </a:p>
        </p:txBody>
      </p:sp>
      <p:sp>
        <p:nvSpPr>
          <p:cNvPr id="7191" name="AutoShape 23">
            <a:extLst>
              <a:ext uri="{FF2B5EF4-FFF2-40B4-BE49-F238E27FC236}">
                <a16:creationId xmlns:a16="http://schemas.microsoft.com/office/drawing/2014/main" id="{043192EA-5F18-4C03-959B-D262C4BA5AA7}"/>
              </a:ext>
            </a:extLst>
          </p:cNvPr>
          <p:cNvSpPr>
            <a:spLocks/>
          </p:cNvSpPr>
          <p:nvPr/>
        </p:nvSpPr>
        <p:spPr bwMode="auto">
          <a:xfrm>
            <a:off x="6816725" y="3573463"/>
            <a:ext cx="71438" cy="1943100"/>
          </a:xfrm>
          <a:prstGeom prst="leftBrace">
            <a:avLst>
              <a:gd name="adj1" fmla="val 22666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dirty="0">
              <a:latin typeface="Century Gothic" panose="020B0502020202020204" pitchFamily="34" charset="0"/>
            </a:endParaRPr>
          </a:p>
        </p:txBody>
      </p:sp>
      <p:sp>
        <p:nvSpPr>
          <p:cNvPr id="10" name="9 CuadroTexto">
            <a:extLst>
              <a:ext uri="{FF2B5EF4-FFF2-40B4-BE49-F238E27FC236}">
                <a16:creationId xmlns:a16="http://schemas.microsoft.com/office/drawing/2014/main" id="{B9D4B4D2-6D2F-45FF-B7C4-EC30A71A7108}"/>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cs typeface="Arial" charset="0"/>
              </a:rPr>
              <a:t>1                                       Costos Predeterminados</a:t>
            </a:r>
          </a:p>
        </p:txBody>
      </p:sp>
      <p:sp>
        <p:nvSpPr>
          <p:cNvPr id="11" name="Rectangle 21">
            <a:extLst>
              <a:ext uri="{FF2B5EF4-FFF2-40B4-BE49-F238E27FC236}">
                <a16:creationId xmlns:a16="http://schemas.microsoft.com/office/drawing/2014/main" id="{B58740F0-9BBC-449C-83BF-D7895BA445CD}"/>
              </a:ext>
            </a:extLst>
          </p:cNvPr>
          <p:cNvSpPr>
            <a:spLocks noChangeArrowheads="1"/>
          </p:cNvSpPr>
          <p:nvPr/>
        </p:nvSpPr>
        <p:spPr bwMode="auto">
          <a:xfrm>
            <a:off x="7185025" y="5021263"/>
            <a:ext cx="324008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defRPr/>
            </a:pPr>
            <a:r>
              <a:rPr lang="es-AR" sz="2000" b="1" dirty="0">
                <a:effectLst>
                  <a:outerShdw blurRad="38100" dist="38100" dir="2700000" algn="tl">
                    <a:srgbClr val="C0C0C0"/>
                  </a:outerShdw>
                </a:effectLst>
                <a:latin typeface="Century Gothic" panose="020B0502020202020204" pitchFamily="34" charset="0"/>
                <a:cs typeface="Arial" charset="0"/>
              </a:rPr>
              <a:t>Integral o por Absorción</a:t>
            </a:r>
            <a:endParaRPr lang="es-ES" sz="2000" b="1" dirty="0">
              <a:effectLst>
                <a:outerShdw blurRad="38100" dist="38100" dir="2700000" algn="tl">
                  <a:srgbClr val="C0C0C0"/>
                </a:outerShdw>
              </a:effectLst>
              <a:latin typeface="Century Gothic" panose="020B0502020202020204" pitchFamily="34" charset="0"/>
              <a:cs typeface="Arial" charset="0"/>
            </a:endParaRPr>
          </a:p>
        </p:txBody>
      </p:sp>
      <p:sp>
        <p:nvSpPr>
          <p:cNvPr id="3" name="Marcador de número de diapositiva 2">
            <a:extLst>
              <a:ext uri="{FF2B5EF4-FFF2-40B4-BE49-F238E27FC236}">
                <a16:creationId xmlns:a16="http://schemas.microsoft.com/office/drawing/2014/main" id="{8CD2D2C3-658C-4A98-8E6F-414711B0C0BF}"/>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8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8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9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7182" grpId="0"/>
      <p:bldP spid="7183" grpId="0"/>
      <p:bldP spid="7185" grpId="0" animBg="1"/>
      <p:bldP spid="7189" grpId="0"/>
      <p:bldP spid="7191" grpId="0" animBg="1"/>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351585" y="2276872"/>
            <a:ext cx="7408333" cy="2207579"/>
          </a:xfrm>
        </p:spPr>
        <p:txBody>
          <a:bodyPr>
            <a:noAutofit/>
          </a:bodyPr>
          <a:lstStyle/>
          <a:p>
            <a:pPr algn="ctr">
              <a:buFont typeface="Wingdings" panose="05000000000000000000" pitchFamily="2" charset="2"/>
              <a:buChar char="§"/>
            </a:pPr>
            <a:r>
              <a:rPr lang="es-AR" sz="2000" dirty="0"/>
              <a:t>Son costos determinados con anticipación al inicio del proceso de manufactura, a partir de herramientas estadísticas, estudios de ingeniería industrial y/o la experiencia .</a:t>
            </a:r>
          </a:p>
          <a:p>
            <a:pPr marL="0" indent="0" algn="ctr">
              <a:buNone/>
            </a:pPr>
            <a:endParaRPr lang="es-AR" sz="2000" dirty="0"/>
          </a:p>
          <a:p>
            <a:pPr algn="ctr">
              <a:buFont typeface="Wingdings" panose="05000000000000000000" pitchFamily="2" charset="2"/>
              <a:buChar char="§"/>
            </a:pPr>
            <a:r>
              <a:rPr lang="es-AR" sz="2000" dirty="0"/>
              <a:t>Se diferencian de los costos históricos en que éstos se obtienen después de haberse fabricado el producto.</a:t>
            </a:r>
          </a:p>
        </p:txBody>
      </p:sp>
      <p:sp>
        <p:nvSpPr>
          <p:cNvPr id="3" name="2 Título"/>
          <p:cNvSpPr>
            <a:spLocks noGrp="1"/>
          </p:cNvSpPr>
          <p:nvPr>
            <p:ph type="title"/>
          </p:nvPr>
        </p:nvSpPr>
        <p:spPr>
          <a:xfrm>
            <a:off x="2592925" y="624110"/>
            <a:ext cx="8911687" cy="1010137"/>
          </a:xfrm>
        </p:spPr>
        <p:txBody>
          <a:bodyPr/>
          <a:lstStyle/>
          <a:p>
            <a:r>
              <a:rPr lang="es-AR" b="1" dirty="0"/>
              <a:t>DEFINICION</a:t>
            </a:r>
          </a:p>
        </p:txBody>
      </p:sp>
      <p:pic>
        <p:nvPicPr>
          <p:cNvPr id="1026" name="Picture 2" descr="C:\Users\Gustavo\AppData\Local\Microsoft\Windows\Temporary Internet Files\Content.IE5\OPDBLDM3\MC900289985[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44272" y="4899343"/>
            <a:ext cx="1709936" cy="1853277"/>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número de diapositiva 4">
            <a:extLst>
              <a:ext uri="{FF2B5EF4-FFF2-40B4-BE49-F238E27FC236}">
                <a16:creationId xmlns:a16="http://schemas.microsoft.com/office/drawing/2014/main" id="{330A2064-9971-495A-A575-3790D1C9963C}"/>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2306763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391833" y="1704840"/>
            <a:ext cx="8480955" cy="4209331"/>
          </a:xfrm>
        </p:spPr>
        <p:txBody>
          <a:bodyPr>
            <a:noAutofit/>
          </a:bodyPr>
          <a:lstStyle/>
          <a:p>
            <a:r>
              <a:rPr lang="es-AR" sz="2000" b="1" dirty="0"/>
              <a:t>COSTO ESTIMADO</a:t>
            </a:r>
          </a:p>
          <a:p>
            <a:pPr marL="0" indent="0">
              <a:buNone/>
            </a:pPr>
            <a:r>
              <a:rPr lang="es-AR" sz="2000" dirty="0"/>
              <a:t>	Costos de Predeterminación generales y no profundos, fijados a partir de la experiencia y medidas subjetivas, realizadas con observaciones no muy rigurosas, basadas en la experiencia modificada, en atención a ciertas condiciones futuras</a:t>
            </a:r>
          </a:p>
          <a:p>
            <a:pPr marL="0" indent="0">
              <a:buNone/>
            </a:pPr>
            <a:endParaRPr lang="es-AR" sz="2000" dirty="0"/>
          </a:p>
          <a:p>
            <a:pPr marL="0" indent="0">
              <a:buNone/>
            </a:pPr>
            <a:endParaRPr lang="es-AR" sz="2000" dirty="0"/>
          </a:p>
          <a:p>
            <a:r>
              <a:rPr lang="es-AR" sz="2000" b="1" dirty="0"/>
              <a:t>COSTO ESTANDAR</a:t>
            </a:r>
          </a:p>
          <a:p>
            <a:pPr marL="0" indent="0">
              <a:buNone/>
            </a:pPr>
            <a:r>
              <a:rPr lang="es-AR" sz="2000" dirty="0"/>
              <a:t>	Es un costo predeterminado el cual indica lo que debería costar un producto o servicio en condiciones de eficiencia, calculados con base en estudios científicos y detallados.</a:t>
            </a:r>
          </a:p>
        </p:txBody>
      </p:sp>
      <p:sp>
        <p:nvSpPr>
          <p:cNvPr id="3" name="2 Título"/>
          <p:cNvSpPr>
            <a:spLocks noGrp="1"/>
          </p:cNvSpPr>
          <p:nvPr>
            <p:ph type="title"/>
          </p:nvPr>
        </p:nvSpPr>
        <p:spPr>
          <a:xfrm>
            <a:off x="2592925" y="624110"/>
            <a:ext cx="8911687" cy="776673"/>
          </a:xfrm>
        </p:spPr>
        <p:txBody>
          <a:bodyPr>
            <a:normAutofit/>
          </a:bodyPr>
          <a:lstStyle/>
          <a:p>
            <a:r>
              <a:rPr lang="es-AR" b="1" dirty="0"/>
              <a:t>COSTOS PREDETERMINADOS</a:t>
            </a:r>
          </a:p>
        </p:txBody>
      </p:sp>
      <p:sp>
        <p:nvSpPr>
          <p:cNvPr id="5" name="Marcador de número de diapositiva 4">
            <a:extLst>
              <a:ext uri="{FF2B5EF4-FFF2-40B4-BE49-F238E27FC236}">
                <a16:creationId xmlns:a16="http://schemas.microsoft.com/office/drawing/2014/main" id="{7E609437-7015-449F-A2A5-E20F0800D3CB}"/>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047208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752318" y="1774949"/>
            <a:ext cx="8577670" cy="3777283"/>
          </a:xfrm>
        </p:spPr>
        <p:txBody>
          <a:bodyPr>
            <a:noAutofit/>
          </a:bodyPr>
          <a:lstStyle/>
          <a:p>
            <a:pPr marL="0" indent="0">
              <a:buNone/>
            </a:pPr>
            <a:r>
              <a:rPr lang="es-AR" sz="2000" dirty="0"/>
              <a:t>En toda actividad productiva es necesaria una herramienta que le permita al productor: </a:t>
            </a:r>
          </a:p>
          <a:p>
            <a:pPr marL="0" indent="0">
              <a:buNone/>
            </a:pPr>
            <a:endParaRPr lang="es-AR" sz="2000" dirty="0"/>
          </a:p>
          <a:p>
            <a:pPr>
              <a:buFont typeface="Wingdings" panose="05000000000000000000" pitchFamily="2" charset="2"/>
              <a:buChar char="§"/>
            </a:pPr>
            <a:r>
              <a:rPr lang="es-AR" sz="2000" dirty="0"/>
              <a:t>anticipar los costos de producción, para fijar los precios de venta </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valuarlo y compararlo con el precio conocido en el mercado</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simplificar la contabilidad anticipando la elaboración de los estados financieros</a:t>
            </a:r>
          </a:p>
          <a:p>
            <a:pPr marL="457200" indent="-457200">
              <a:buFont typeface="+mj-lt"/>
              <a:buAutoNum type="arabicPeriod"/>
            </a:pPr>
            <a:endParaRPr lang="es-AR" sz="2000" dirty="0"/>
          </a:p>
        </p:txBody>
      </p:sp>
      <p:sp>
        <p:nvSpPr>
          <p:cNvPr id="3" name="2 Título"/>
          <p:cNvSpPr>
            <a:spLocks noGrp="1"/>
          </p:cNvSpPr>
          <p:nvPr>
            <p:ph type="title"/>
          </p:nvPr>
        </p:nvSpPr>
        <p:spPr>
          <a:xfrm>
            <a:off x="2592925" y="624110"/>
            <a:ext cx="8911687" cy="681658"/>
          </a:xfrm>
        </p:spPr>
        <p:txBody>
          <a:bodyPr>
            <a:normAutofit/>
          </a:bodyPr>
          <a:lstStyle/>
          <a:p>
            <a:r>
              <a:rPr lang="es-AR" b="1" dirty="0"/>
              <a:t>COSTO ESTIMADOS</a:t>
            </a:r>
          </a:p>
        </p:txBody>
      </p:sp>
      <p:sp>
        <p:nvSpPr>
          <p:cNvPr id="5" name="Marcador de número de diapositiva 4">
            <a:extLst>
              <a:ext uri="{FF2B5EF4-FFF2-40B4-BE49-F238E27FC236}">
                <a16:creationId xmlns:a16="http://schemas.microsoft.com/office/drawing/2014/main" id="{D7406551-2131-4803-A61F-47DFBE19B667}"/>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1982026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714017" y="2324591"/>
            <a:ext cx="8459001" cy="3941323"/>
          </a:xfrm>
        </p:spPr>
        <p:txBody>
          <a:bodyPr>
            <a:noAutofit/>
          </a:bodyPr>
          <a:lstStyle/>
          <a:p>
            <a:pPr>
              <a:buFont typeface="Wingdings" panose="05000000000000000000" pitchFamily="2" charset="2"/>
              <a:buChar char="§"/>
            </a:pPr>
            <a:r>
              <a:rPr lang="es-AR" sz="2000" dirty="0"/>
              <a:t> Dar un conocimiento anticipado de los costos de producción para estar en condiciones de fijar los precios de venta, previamente a la fabricación.</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Valuar por anticipado, la costeabilidad de la producción de acuerdo con la comparación con el precio conocido en el mercado.</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Simplifica la Contabilidad de Costos y anticipa la elaboración de los Estados Financieros que muchas veces, por esperar la información real, resultan inoportunos.</a:t>
            </a:r>
          </a:p>
        </p:txBody>
      </p:sp>
      <p:sp>
        <p:nvSpPr>
          <p:cNvPr id="3" name="2 Título"/>
          <p:cNvSpPr>
            <a:spLocks noGrp="1"/>
          </p:cNvSpPr>
          <p:nvPr>
            <p:ph type="title"/>
          </p:nvPr>
        </p:nvSpPr>
        <p:spPr>
          <a:xfrm>
            <a:off x="2592925" y="624110"/>
            <a:ext cx="8911687" cy="766945"/>
          </a:xfrm>
        </p:spPr>
        <p:txBody>
          <a:bodyPr>
            <a:normAutofit/>
          </a:bodyPr>
          <a:lstStyle/>
          <a:p>
            <a:r>
              <a:rPr lang="es-AR" b="1" dirty="0"/>
              <a:t>COSTOS ESTIMADOS</a:t>
            </a:r>
          </a:p>
        </p:txBody>
      </p:sp>
      <p:sp>
        <p:nvSpPr>
          <p:cNvPr id="4" name="CuadroTexto 3">
            <a:extLst>
              <a:ext uri="{FF2B5EF4-FFF2-40B4-BE49-F238E27FC236}">
                <a16:creationId xmlns:a16="http://schemas.microsoft.com/office/drawing/2014/main" id="{C63C7520-FCC0-4EC9-A67C-8E69CEEA1A29}"/>
              </a:ext>
            </a:extLst>
          </p:cNvPr>
          <p:cNvSpPr txBox="1"/>
          <p:nvPr/>
        </p:nvSpPr>
        <p:spPr>
          <a:xfrm>
            <a:off x="2714017" y="1673157"/>
            <a:ext cx="3492229" cy="400110"/>
          </a:xfrm>
          <a:prstGeom prst="rect">
            <a:avLst/>
          </a:prstGeom>
          <a:noFill/>
        </p:spPr>
        <p:txBody>
          <a:bodyPr wrap="square" rtlCol="0">
            <a:spAutoFit/>
          </a:bodyPr>
          <a:lstStyle/>
          <a:p>
            <a:r>
              <a:rPr lang="es-AR" sz="2000" b="1" dirty="0"/>
              <a:t>OBJETIVOS:</a:t>
            </a:r>
          </a:p>
        </p:txBody>
      </p:sp>
      <p:sp>
        <p:nvSpPr>
          <p:cNvPr id="6" name="Marcador de número de diapositiva 5">
            <a:extLst>
              <a:ext uri="{FF2B5EF4-FFF2-40B4-BE49-F238E27FC236}">
                <a16:creationId xmlns:a16="http://schemas.microsoft.com/office/drawing/2014/main" id="{895FC003-D0E2-4846-AA95-9C650DEE0D16}"/>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2628881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904047" y="2335371"/>
            <a:ext cx="8268778" cy="2617630"/>
          </a:xfrm>
        </p:spPr>
        <p:txBody>
          <a:bodyPr>
            <a:noAutofit/>
          </a:bodyPr>
          <a:lstStyle/>
          <a:p>
            <a:pPr>
              <a:buFont typeface="Wingdings" panose="05000000000000000000" pitchFamily="2" charset="2"/>
              <a:buChar char="§"/>
            </a:pPr>
            <a:r>
              <a:rPr lang="es-AR" sz="2000" dirty="0"/>
              <a:t>Es el mas avanzado de los predeterminados y esta basado en estudios técnicos o científicos. </a:t>
            </a:r>
          </a:p>
          <a:p>
            <a:pPr>
              <a:buFont typeface="Wingdings" panose="05000000000000000000" pitchFamily="2" charset="2"/>
              <a:buChar char="§"/>
            </a:pPr>
            <a:endParaRPr lang="es-AR" sz="2000" dirty="0"/>
          </a:p>
          <a:p>
            <a:pPr>
              <a:buFont typeface="Wingdings" panose="05000000000000000000" pitchFamily="2" charset="2"/>
              <a:buChar char="§"/>
            </a:pPr>
            <a:endParaRPr lang="es-AR" sz="2000" dirty="0"/>
          </a:p>
          <a:p>
            <a:pPr>
              <a:buFont typeface="Wingdings" panose="05000000000000000000" pitchFamily="2" charset="2"/>
              <a:buChar char="§"/>
            </a:pPr>
            <a:r>
              <a:rPr lang="es-AR" sz="2000" dirty="0"/>
              <a:t>Por su forma  representa un instrumento de medición de eficiencia de una industria, ya que están en función de la eficiencia de trabajo de la misma.</a:t>
            </a:r>
          </a:p>
          <a:p>
            <a:pPr marL="0" indent="0">
              <a:buNone/>
            </a:pPr>
            <a:endParaRPr lang="es-AR" sz="2000" dirty="0"/>
          </a:p>
        </p:txBody>
      </p:sp>
      <p:sp>
        <p:nvSpPr>
          <p:cNvPr id="3" name="2 Título"/>
          <p:cNvSpPr>
            <a:spLocks noGrp="1"/>
          </p:cNvSpPr>
          <p:nvPr>
            <p:ph type="title"/>
          </p:nvPr>
        </p:nvSpPr>
        <p:spPr>
          <a:xfrm>
            <a:off x="2592925" y="624110"/>
            <a:ext cx="8911687" cy="864222"/>
          </a:xfrm>
        </p:spPr>
        <p:txBody>
          <a:bodyPr>
            <a:normAutofit/>
          </a:bodyPr>
          <a:lstStyle/>
          <a:p>
            <a:r>
              <a:rPr lang="es-AR" b="1" dirty="0"/>
              <a:t>COSTO ESTANDAR</a:t>
            </a:r>
          </a:p>
        </p:txBody>
      </p:sp>
      <p:sp>
        <p:nvSpPr>
          <p:cNvPr id="5" name="Marcador de número de diapositiva 4">
            <a:extLst>
              <a:ext uri="{FF2B5EF4-FFF2-40B4-BE49-F238E27FC236}">
                <a16:creationId xmlns:a16="http://schemas.microsoft.com/office/drawing/2014/main" id="{0E50789B-9940-4F5E-AB37-DC577AD561A1}"/>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3369150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2589213" y="1657350"/>
            <a:ext cx="8915399" cy="2262781"/>
          </a:xfrm>
        </p:spPr>
        <p:txBody>
          <a:bodyPr/>
          <a:lstStyle/>
          <a:p>
            <a:r>
              <a:rPr lang="es-AR" dirty="0"/>
              <a:t>Ventajas de los costos predeterminados</a:t>
            </a:r>
          </a:p>
        </p:txBody>
      </p:sp>
      <p:sp>
        <p:nvSpPr>
          <p:cNvPr id="3" name="Marcador de número de diapositiva 2">
            <a:extLst>
              <a:ext uri="{FF2B5EF4-FFF2-40B4-BE49-F238E27FC236}">
                <a16:creationId xmlns:a16="http://schemas.microsoft.com/office/drawing/2014/main" id="{BB59F5CE-16B3-4EAF-B32F-01C062514800}"/>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179853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684224" y="1591056"/>
            <a:ext cx="7688501" cy="3049038"/>
          </a:xfrm>
        </p:spPr>
        <p:txBody>
          <a:bodyPr numCol="1">
            <a:noAutofit/>
          </a:bodyPr>
          <a:lstStyle/>
          <a:p>
            <a:pPr>
              <a:buFont typeface="Wingdings" panose="05000000000000000000" pitchFamily="2" charset="2"/>
              <a:buChar char="§"/>
            </a:pPr>
            <a:r>
              <a:rPr lang="es-AR" sz="2000" dirty="0"/>
              <a:t>Pueden utilizarse para propósitos de planeación en la elaboración de presupuestos . </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De fácil y rápido diseño y mantenimiento. </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Suelen ser el primer paso para el diseño de un sistema de costos estándar, a partir del perfeccionamiento de dichos costos estimados. </a:t>
            </a:r>
          </a:p>
          <a:p>
            <a:endParaRPr lang="es-AR" sz="2000" dirty="0"/>
          </a:p>
          <a:p>
            <a:pPr marL="0" indent="0">
              <a:buNone/>
            </a:pPr>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a:p>
            <a:endParaRPr lang="es-AR" sz="2000" dirty="0"/>
          </a:p>
        </p:txBody>
      </p:sp>
      <p:sp>
        <p:nvSpPr>
          <p:cNvPr id="3" name="2 Título"/>
          <p:cNvSpPr>
            <a:spLocks noGrp="1"/>
          </p:cNvSpPr>
          <p:nvPr>
            <p:ph type="title"/>
          </p:nvPr>
        </p:nvSpPr>
        <p:spPr>
          <a:xfrm>
            <a:off x="1981200" y="338328"/>
            <a:ext cx="8147248" cy="1252728"/>
          </a:xfrm>
        </p:spPr>
        <p:txBody>
          <a:bodyPr>
            <a:normAutofit/>
          </a:bodyPr>
          <a:lstStyle/>
          <a:p>
            <a:r>
              <a:rPr lang="es-AR" b="1" dirty="0"/>
              <a:t>Sistema de Costo Estimado</a:t>
            </a:r>
            <a:br>
              <a:rPr lang="es-AR" dirty="0"/>
            </a:br>
            <a:endParaRPr lang="es-AR" dirty="0"/>
          </a:p>
        </p:txBody>
      </p:sp>
      <p:sp>
        <p:nvSpPr>
          <p:cNvPr id="5" name="Marcador de número de diapositiva 4">
            <a:extLst>
              <a:ext uri="{FF2B5EF4-FFF2-40B4-BE49-F238E27FC236}">
                <a16:creationId xmlns:a16="http://schemas.microsoft.com/office/drawing/2014/main" id="{BAE3EC3E-1812-4404-AA28-A998247935C1}"/>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2348304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2979852" y="2018256"/>
            <a:ext cx="8280919" cy="3744416"/>
          </a:xfrm>
        </p:spPr>
        <p:txBody>
          <a:bodyPr>
            <a:normAutofit/>
          </a:bodyPr>
          <a:lstStyle/>
          <a:p>
            <a:pPr>
              <a:buFont typeface="Wingdings" panose="05000000000000000000" pitchFamily="2" charset="2"/>
              <a:buChar char="§"/>
            </a:pPr>
            <a:r>
              <a:rPr lang="es-AR" sz="2000" dirty="0"/>
              <a:t>Al compararlos con los costos reales, y mediante el principio de excepción, ayudan a vigilar las ineficiencias.</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Sirve como base para la fijación del precio de venta.</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Si son razonablemente próximos a los costos reales pueden no sólo ser utilizados con fines de planeación y control interno, sino para la elaboración de estados financieros con fines externos. </a:t>
            </a:r>
          </a:p>
        </p:txBody>
      </p:sp>
      <p:sp>
        <p:nvSpPr>
          <p:cNvPr id="3" name="2 Título"/>
          <p:cNvSpPr>
            <a:spLocks noGrp="1"/>
          </p:cNvSpPr>
          <p:nvPr>
            <p:ph type="title"/>
          </p:nvPr>
        </p:nvSpPr>
        <p:spPr>
          <a:xfrm>
            <a:off x="2592925" y="624110"/>
            <a:ext cx="8911687" cy="893405"/>
          </a:xfrm>
        </p:spPr>
        <p:txBody>
          <a:bodyPr>
            <a:normAutofit/>
          </a:bodyPr>
          <a:lstStyle/>
          <a:p>
            <a:r>
              <a:rPr lang="es-AR" b="1" dirty="0"/>
              <a:t>Sistema de Costo Estándar</a:t>
            </a:r>
          </a:p>
        </p:txBody>
      </p:sp>
      <p:sp>
        <p:nvSpPr>
          <p:cNvPr id="5" name="Marcador de número de diapositiva 4">
            <a:extLst>
              <a:ext uri="{FF2B5EF4-FFF2-40B4-BE49-F238E27FC236}">
                <a16:creationId xmlns:a16="http://schemas.microsoft.com/office/drawing/2014/main" id="{2714BD80-6A34-4718-89E6-BEE92D849331}"/>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120820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p:txBody>
          <a:bodyPr>
            <a:normAutofit fontScale="90000"/>
          </a:bodyPr>
          <a:lstStyle/>
          <a:p>
            <a:r>
              <a:rPr lang="es-AR" dirty="0"/>
              <a:t>Limitaciones y desventajas de los costos predeterminados</a:t>
            </a:r>
          </a:p>
        </p:txBody>
      </p:sp>
      <p:sp>
        <p:nvSpPr>
          <p:cNvPr id="3" name="Marcador de número de diapositiva 2">
            <a:extLst>
              <a:ext uri="{FF2B5EF4-FFF2-40B4-BE49-F238E27FC236}">
                <a16:creationId xmlns:a16="http://schemas.microsoft.com/office/drawing/2014/main" id="{60192CF7-32BB-4BBF-B525-B460987F85C7}"/>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3371226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3063602" y="1905000"/>
            <a:ext cx="7596832" cy="2530813"/>
          </a:xfrm>
        </p:spPr>
        <p:txBody>
          <a:bodyPr>
            <a:noAutofit/>
          </a:bodyPr>
          <a:lstStyle/>
          <a:p>
            <a:pPr>
              <a:buFont typeface="Wingdings" panose="05000000000000000000" pitchFamily="2" charset="2"/>
              <a:buChar char="§"/>
            </a:pPr>
            <a:r>
              <a:rPr lang="es-AR" sz="2000" dirty="0"/>
              <a:t>Sólo se utilizan para planificar, no para controlar</a:t>
            </a:r>
          </a:p>
          <a:p>
            <a:pPr marL="0" indent="0">
              <a:buNone/>
            </a:pPr>
            <a:endParaRPr lang="es-AR" sz="2000" dirty="0"/>
          </a:p>
          <a:p>
            <a:pPr>
              <a:buFont typeface="Wingdings" panose="05000000000000000000" pitchFamily="2" charset="2"/>
              <a:buChar char="§"/>
            </a:pPr>
            <a:r>
              <a:rPr lang="es-AR" sz="2000" dirty="0"/>
              <a:t>Se estiman en base a costos de períodos anteriores.</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Es posible que estén cargados con ineficiencias propias de lo actuado anteriormente en la empresa .</a:t>
            </a:r>
          </a:p>
        </p:txBody>
      </p:sp>
      <p:sp>
        <p:nvSpPr>
          <p:cNvPr id="4" name="2 Título"/>
          <p:cNvSpPr>
            <a:spLocks noGrp="1"/>
          </p:cNvSpPr>
          <p:nvPr>
            <p:ph type="title"/>
          </p:nvPr>
        </p:nvSpPr>
        <p:spPr>
          <a:xfrm>
            <a:off x="2592925" y="624110"/>
            <a:ext cx="8911687" cy="844767"/>
          </a:xfrm>
        </p:spPr>
        <p:txBody>
          <a:bodyPr>
            <a:normAutofit fontScale="90000"/>
          </a:bodyPr>
          <a:lstStyle/>
          <a:p>
            <a:r>
              <a:rPr lang="es-AR" sz="4000" b="1" dirty="0"/>
              <a:t>Sistema de Costo Estimado</a:t>
            </a:r>
            <a:br>
              <a:rPr lang="es-AR" dirty="0"/>
            </a:br>
            <a:endParaRPr lang="es-AR" dirty="0"/>
          </a:p>
        </p:txBody>
      </p:sp>
      <p:sp>
        <p:nvSpPr>
          <p:cNvPr id="5" name="Marcador de número de diapositiva 4">
            <a:extLst>
              <a:ext uri="{FF2B5EF4-FFF2-40B4-BE49-F238E27FC236}">
                <a16:creationId xmlns:a16="http://schemas.microsoft.com/office/drawing/2014/main" id="{68D314F9-F4E6-4AED-9E6F-8F79FD7B80C9}"/>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659271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3094800" y="2116422"/>
            <a:ext cx="7380808" cy="2625155"/>
          </a:xfrm>
        </p:spPr>
        <p:txBody>
          <a:bodyPr>
            <a:normAutofit/>
          </a:bodyPr>
          <a:lstStyle/>
          <a:p>
            <a:pPr>
              <a:buFont typeface="Wingdings" panose="05000000000000000000" pitchFamily="2" charset="2"/>
              <a:buChar char="§"/>
            </a:pPr>
            <a:r>
              <a:rPr lang="es-AR" sz="2000" dirty="0"/>
              <a:t>Laboriosos para diseñar y mantener en el tiempo. </a:t>
            </a:r>
          </a:p>
          <a:p>
            <a:pPr>
              <a:buFont typeface="Wingdings" panose="05000000000000000000" pitchFamily="2" charset="2"/>
              <a:buChar char="§"/>
            </a:pPr>
            <a:endParaRPr lang="es-AR" sz="2000" dirty="0"/>
          </a:p>
          <a:p>
            <a:pPr>
              <a:buFont typeface="Wingdings" panose="05000000000000000000" pitchFamily="2" charset="2"/>
              <a:buChar char="§"/>
            </a:pPr>
            <a:r>
              <a:rPr lang="es-AR" sz="2000" dirty="0"/>
              <a:t>No son aconsejables para  industrias que posean sistemas de costeos por ordenes, está indicado para industrias con  operaciones repetitivas (por proceso) </a:t>
            </a:r>
          </a:p>
        </p:txBody>
      </p:sp>
      <p:sp>
        <p:nvSpPr>
          <p:cNvPr id="4" name="2 Título"/>
          <p:cNvSpPr>
            <a:spLocks noGrp="1"/>
          </p:cNvSpPr>
          <p:nvPr>
            <p:ph type="title"/>
          </p:nvPr>
        </p:nvSpPr>
        <p:spPr/>
        <p:txBody>
          <a:bodyPr>
            <a:normAutofit/>
          </a:bodyPr>
          <a:lstStyle/>
          <a:p>
            <a:r>
              <a:rPr lang="es-AR" b="1" dirty="0"/>
              <a:t>Sistema de Costo Estándar</a:t>
            </a:r>
          </a:p>
        </p:txBody>
      </p:sp>
      <p:sp>
        <p:nvSpPr>
          <p:cNvPr id="5" name="Marcador de número de diapositiva 4">
            <a:extLst>
              <a:ext uri="{FF2B5EF4-FFF2-40B4-BE49-F238E27FC236}">
                <a16:creationId xmlns:a16="http://schemas.microsoft.com/office/drawing/2014/main" id="{78AB2424-EB9D-47DC-AC03-8E3BA85A202A}"/>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216387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a:extLst>
              <a:ext uri="{FF2B5EF4-FFF2-40B4-BE49-F238E27FC236}">
                <a16:creationId xmlns:a16="http://schemas.microsoft.com/office/drawing/2014/main" id="{FEED67C8-CF6A-428B-B0F0-0E6A0137C85C}"/>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ahoma" pitchFamily="34" charset="0"/>
              </a:defRPr>
            </a:lvl1pPr>
            <a:lvl2pPr marL="742950" indent="-285750" eaLnBrk="0" hangingPunct="0">
              <a:defRPr sz="2000">
                <a:solidFill>
                  <a:schemeClr val="tx1"/>
                </a:solidFill>
                <a:latin typeface="Tahoma" pitchFamily="34" charset="0"/>
              </a:defRPr>
            </a:lvl2pPr>
            <a:lvl3pPr marL="1143000" indent="-228600" eaLnBrk="0" hangingPunct="0">
              <a:defRPr sz="2000">
                <a:solidFill>
                  <a:schemeClr val="tx1"/>
                </a:solidFill>
                <a:latin typeface="Tahoma" pitchFamily="34" charset="0"/>
              </a:defRPr>
            </a:lvl3pPr>
            <a:lvl4pPr marL="1600200" indent="-228600" eaLnBrk="0" hangingPunct="0">
              <a:defRPr sz="2000">
                <a:solidFill>
                  <a:schemeClr val="tx1"/>
                </a:solidFill>
                <a:latin typeface="Tahoma" pitchFamily="34" charset="0"/>
              </a:defRPr>
            </a:lvl4pPr>
            <a:lvl5pPr marL="2057400" indent="-228600" eaLnBrk="0" hangingPunct="0">
              <a:defRPr sz="2000">
                <a:solidFill>
                  <a:schemeClr val="tx1"/>
                </a:solidFill>
                <a:latin typeface="Tahoma" pitchFamily="34" charset="0"/>
              </a:defRPr>
            </a:lvl5pPr>
            <a:lvl6pPr marL="2514600" indent="-228600" eaLnBrk="0" fontAlgn="base" hangingPunct="0">
              <a:spcBef>
                <a:spcPct val="0"/>
              </a:spcBef>
              <a:spcAft>
                <a:spcPct val="0"/>
              </a:spcAft>
              <a:defRPr sz="2000">
                <a:solidFill>
                  <a:schemeClr val="tx1"/>
                </a:solidFill>
                <a:latin typeface="Tahoma" pitchFamily="34" charset="0"/>
              </a:defRPr>
            </a:lvl6pPr>
            <a:lvl7pPr marL="2971800" indent="-228600" eaLnBrk="0" fontAlgn="base" hangingPunct="0">
              <a:spcBef>
                <a:spcPct val="0"/>
              </a:spcBef>
              <a:spcAft>
                <a:spcPct val="0"/>
              </a:spcAft>
              <a:defRPr sz="2000">
                <a:solidFill>
                  <a:schemeClr val="tx1"/>
                </a:solidFill>
                <a:latin typeface="Tahoma" pitchFamily="34" charset="0"/>
              </a:defRPr>
            </a:lvl7pPr>
            <a:lvl8pPr marL="3429000" indent="-228600" eaLnBrk="0" fontAlgn="base" hangingPunct="0">
              <a:spcBef>
                <a:spcPct val="0"/>
              </a:spcBef>
              <a:spcAft>
                <a:spcPct val="0"/>
              </a:spcAft>
              <a:defRPr sz="2000">
                <a:solidFill>
                  <a:schemeClr val="tx1"/>
                </a:solidFill>
                <a:latin typeface="Tahoma" pitchFamily="34" charset="0"/>
              </a:defRPr>
            </a:lvl8pPr>
            <a:lvl9pPr marL="3886200" indent="-228600" eaLnBrk="0" fontAlgn="base" hangingPunct="0">
              <a:spcBef>
                <a:spcPct val="0"/>
              </a:spcBef>
              <a:spcAft>
                <a:spcPct val="0"/>
              </a:spcAft>
              <a:defRPr sz="2000">
                <a:solidFill>
                  <a:schemeClr val="tx1"/>
                </a:solidFill>
                <a:latin typeface="Tahoma" pitchFamily="34" charset="0"/>
              </a:defRPr>
            </a:lvl9pPr>
          </a:lstStyle>
          <a:p>
            <a:pPr eaLnBrk="1" hangingPunct="1">
              <a:defRPr/>
            </a:pPr>
            <a:r>
              <a:rPr lang="es-MX" sz="3600" b="1" dirty="0">
                <a:solidFill>
                  <a:schemeClr val="tx1">
                    <a:lumMod val="75000"/>
                    <a:lumOff val="25000"/>
                  </a:schemeClr>
                </a:solidFill>
                <a:latin typeface="+mj-lt"/>
                <a:cs typeface="Arial" charset="0"/>
              </a:rPr>
              <a:t>CARACTERÍSTICAS</a:t>
            </a:r>
          </a:p>
        </p:txBody>
      </p:sp>
      <p:sp>
        <p:nvSpPr>
          <p:cNvPr id="5" name="Rectangle 7">
            <a:extLst>
              <a:ext uri="{FF2B5EF4-FFF2-40B4-BE49-F238E27FC236}">
                <a16:creationId xmlns:a16="http://schemas.microsoft.com/office/drawing/2014/main" id="{2FCD0366-9397-4C19-BBE3-5788C6B2C84F}"/>
              </a:ext>
            </a:extLst>
          </p:cNvPr>
          <p:cNvSpPr>
            <a:spLocks noChangeArrowheads="1"/>
          </p:cNvSpPr>
          <p:nvPr/>
        </p:nvSpPr>
        <p:spPr bwMode="auto">
          <a:xfrm>
            <a:off x="1595283" y="1389460"/>
            <a:ext cx="9906000"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u="sng" dirty="0">
                <a:latin typeface="+mj-lt"/>
              </a:rPr>
              <a:t>COSTOS ESTIMADOS:</a:t>
            </a:r>
            <a:endParaRPr lang="es-ES" altLang="es-AR" sz="2000" u="sng" dirty="0">
              <a:latin typeface="+mj-lt"/>
            </a:endParaRPr>
          </a:p>
        </p:txBody>
      </p:sp>
      <p:sp>
        <p:nvSpPr>
          <p:cNvPr id="6" name="Rectangle 10">
            <a:extLst>
              <a:ext uri="{FF2B5EF4-FFF2-40B4-BE49-F238E27FC236}">
                <a16:creationId xmlns:a16="http://schemas.microsoft.com/office/drawing/2014/main" id="{C503EBCB-8174-4349-83AA-CE2C54A90429}"/>
              </a:ext>
            </a:extLst>
          </p:cNvPr>
          <p:cNvSpPr>
            <a:spLocks noChangeArrowheads="1"/>
          </p:cNvSpPr>
          <p:nvPr/>
        </p:nvSpPr>
        <p:spPr bwMode="auto">
          <a:xfrm>
            <a:off x="2121104" y="2023270"/>
            <a:ext cx="99060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1"/>
              </a:buClr>
              <a:buFontTx/>
              <a:buChar char="•"/>
            </a:pPr>
            <a:r>
              <a:rPr lang="es-AR" altLang="es-AR" sz="2000" dirty="0">
                <a:latin typeface="+mj-lt"/>
              </a:rPr>
              <a:t> Se basa en costos promedios de producciones anteriores.</a:t>
            </a:r>
            <a:endParaRPr lang="es-ES" altLang="es-AR" sz="2000" dirty="0">
              <a:latin typeface="+mj-lt"/>
            </a:endParaRPr>
          </a:p>
        </p:txBody>
      </p:sp>
      <p:sp>
        <p:nvSpPr>
          <p:cNvPr id="7" name="Rectangle 11">
            <a:extLst>
              <a:ext uri="{FF2B5EF4-FFF2-40B4-BE49-F238E27FC236}">
                <a16:creationId xmlns:a16="http://schemas.microsoft.com/office/drawing/2014/main" id="{E9BEE5B7-D832-4167-B57D-858D84F73752}"/>
              </a:ext>
            </a:extLst>
          </p:cNvPr>
          <p:cNvSpPr>
            <a:spLocks noChangeArrowheads="1"/>
          </p:cNvSpPr>
          <p:nvPr/>
        </p:nvSpPr>
        <p:spPr bwMode="auto">
          <a:xfrm>
            <a:off x="2145890" y="3962765"/>
            <a:ext cx="9906000"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1"/>
              </a:buClr>
              <a:buFontTx/>
              <a:buChar char="•"/>
            </a:pPr>
            <a:r>
              <a:rPr lang="es-AR" altLang="es-AR" sz="2000" dirty="0">
                <a:latin typeface="+mj-lt"/>
              </a:rPr>
              <a:t> Están sujetos a constantes rectificaciones.</a:t>
            </a:r>
            <a:endParaRPr lang="es-ES" altLang="es-AR" sz="2000" dirty="0">
              <a:latin typeface="+mj-lt"/>
            </a:endParaRPr>
          </a:p>
        </p:txBody>
      </p:sp>
      <p:sp>
        <p:nvSpPr>
          <p:cNvPr id="8" name="Rectangle 12">
            <a:extLst>
              <a:ext uri="{FF2B5EF4-FFF2-40B4-BE49-F238E27FC236}">
                <a16:creationId xmlns:a16="http://schemas.microsoft.com/office/drawing/2014/main" id="{863582BA-C3AA-419F-A232-C59AC0EE5025}"/>
              </a:ext>
            </a:extLst>
          </p:cNvPr>
          <p:cNvSpPr>
            <a:spLocks noChangeArrowheads="1"/>
          </p:cNvSpPr>
          <p:nvPr/>
        </p:nvSpPr>
        <p:spPr bwMode="auto">
          <a:xfrm>
            <a:off x="2161765" y="2697125"/>
            <a:ext cx="9906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1"/>
              </a:buClr>
              <a:buFontTx/>
              <a:buChar char="•"/>
            </a:pPr>
            <a:r>
              <a:rPr lang="es-AR" altLang="es-AR" sz="2000" dirty="0">
                <a:latin typeface="+mj-lt"/>
              </a:rPr>
              <a:t> Se utilizan para producciones con ordenes especiales.</a:t>
            </a:r>
            <a:endParaRPr lang="es-ES" altLang="es-AR" sz="2000" dirty="0">
              <a:latin typeface="+mj-lt"/>
            </a:endParaRPr>
          </a:p>
        </p:txBody>
      </p:sp>
      <p:sp>
        <p:nvSpPr>
          <p:cNvPr id="9" name="Rectangle 12">
            <a:extLst>
              <a:ext uri="{FF2B5EF4-FFF2-40B4-BE49-F238E27FC236}">
                <a16:creationId xmlns:a16="http://schemas.microsoft.com/office/drawing/2014/main" id="{B1907400-BB39-43EB-85F5-8448223CB42B}"/>
              </a:ext>
            </a:extLst>
          </p:cNvPr>
          <p:cNvSpPr>
            <a:spLocks noChangeArrowheads="1"/>
          </p:cNvSpPr>
          <p:nvPr/>
        </p:nvSpPr>
        <p:spPr bwMode="auto">
          <a:xfrm>
            <a:off x="2161765" y="3334377"/>
            <a:ext cx="9906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1"/>
              </a:buClr>
              <a:buFontTx/>
              <a:buChar char="•"/>
            </a:pPr>
            <a:r>
              <a:rPr lang="es-AR" altLang="es-AR" sz="2000" dirty="0">
                <a:latin typeface="+mj-lt"/>
              </a:rPr>
              <a:t> Se contabilizan a costos históricos actualizados.</a:t>
            </a:r>
            <a:endParaRPr lang="es-ES" altLang="es-AR" sz="2000" dirty="0">
              <a:latin typeface="+mj-lt"/>
            </a:endParaRPr>
          </a:p>
        </p:txBody>
      </p:sp>
      <p:sp>
        <p:nvSpPr>
          <p:cNvPr id="10" name="Rectangle 12">
            <a:extLst>
              <a:ext uri="{FF2B5EF4-FFF2-40B4-BE49-F238E27FC236}">
                <a16:creationId xmlns:a16="http://schemas.microsoft.com/office/drawing/2014/main" id="{4AFB356E-4D38-437C-9492-FCD20B578629}"/>
              </a:ext>
            </a:extLst>
          </p:cNvPr>
          <p:cNvSpPr>
            <a:spLocks noChangeArrowheads="1"/>
          </p:cNvSpPr>
          <p:nvPr/>
        </p:nvSpPr>
        <p:spPr bwMode="auto">
          <a:xfrm>
            <a:off x="2161765" y="4542202"/>
            <a:ext cx="9906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1"/>
              </a:buClr>
              <a:buFontTx/>
              <a:buChar char="•"/>
            </a:pPr>
            <a:r>
              <a:rPr lang="es-AR" altLang="es-AR" sz="2000" dirty="0">
                <a:latin typeface="+mj-lt"/>
              </a:rPr>
              <a:t> No forman parte de la contabilidad de costos de la empresa.</a:t>
            </a:r>
            <a:endParaRPr lang="es-ES" altLang="es-AR" sz="2000" dirty="0">
              <a:latin typeface="+mj-lt"/>
            </a:endParaRPr>
          </a:p>
        </p:txBody>
      </p:sp>
      <p:sp>
        <p:nvSpPr>
          <p:cNvPr id="16" name="Rectangle 12">
            <a:extLst>
              <a:ext uri="{FF2B5EF4-FFF2-40B4-BE49-F238E27FC236}">
                <a16:creationId xmlns:a16="http://schemas.microsoft.com/office/drawing/2014/main" id="{028B0F2D-9446-4B1C-BF3F-6D590EC47EE3}"/>
              </a:ext>
            </a:extLst>
          </p:cNvPr>
          <p:cNvSpPr>
            <a:spLocks noChangeArrowheads="1"/>
          </p:cNvSpPr>
          <p:nvPr/>
        </p:nvSpPr>
        <p:spPr bwMode="auto">
          <a:xfrm>
            <a:off x="2161765" y="5193077"/>
            <a:ext cx="9906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1"/>
              </a:buClr>
              <a:buFontTx/>
              <a:buChar char="•"/>
            </a:pPr>
            <a:r>
              <a:rPr lang="es-AR" altLang="es-AR" sz="2000" dirty="0">
                <a:latin typeface="+mj-lt"/>
              </a:rPr>
              <a:t> Se los utiliza como un “techo”.</a:t>
            </a:r>
            <a:endParaRPr lang="es-ES" altLang="es-AR" sz="2000" dirty="0">
              <a:latin typeface="+mj-lt"/>
            </a:endParaRPr>
          </a:p>
        </p:txBody>
      </p:sp>
      <p:sp>
        <p:nvSpPr>
          <p:cNvPr id="3" name="Marcador de número de diapositiva 2">
            <a:extLst>
              <a:ext uri="{FF2B5EF4-FFF2-40B4-BE49-F238E27FC236}">
                <a16:creationId xmlns:a16="http://schemas.microsoft.com/office/drawing/2014/main" id="{0D01F7A3-137D-457C-8A1F-83D1003F3AE1}"/>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in)">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ox(in)">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a:extLst>
              <a:ext uri="{FF2B5EF4-FFF2-40B4-BE49-F238E27FC236}">
                <a16:creationId xmlns:a16="http://schemas.microsoft.com/office/drawing/2014/main" id="{FEED67C8-CF6A-428B-B0F0-0E6A0137C85C}"/>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ahoma" pitchFamily="34" charset="0"/>
              </a:defRPr>
            </a:lvl1pPr>
            <a:lvl2pPr marL="742950" indent="-285750" eaLnBrk="0" hangingPunct="0">
              <a:defRPr sz="2000">
                <a:solidFill>
                  <a:schemeClr val="tx1"/>
                </a:solidFill>
                <a:latin typeface="Tahoma" pitchFamily="34" charset="0"/>
              </a:defRPr>
            </a:lvl2pPr>
            <a:lvl3pPr marL="1143000" indent="-228600" eaLnBrk="0" hangingPunct="0">
              <a:defRPr sz="2000">
                <a:solidFill>
                  <a:schemeClr val="tx1"/>
                </a:solidFill>
                <a:latin typeface="Tahoma" pitchFamily="34" charset="0"/>
              </a:defRPr>
            </a:lvl3pPr>
            <a:lvl4pPr marL="1600200" indent="-228600" eaLnBrk="0" hangingPunct="0">
              <a:defRPr sz="2000">
                <a:solidFill>
                  <a:schemeClr val="tx1"/>
                </a:solidFill>
                <a:latin typeface="Tahoma" pitchFamily="34" charset="0"/>
              </a:defRPr>
            </a:lvl4pPr>
            <a:lvl5pPr marL="2057400" indent="-228600" eaLnBrk="0" hangingPunct="0">
              <a:defRPr sz="2000">
                <a:solidFill>
                  <a:schemeClr val="tx1"/>
                </a:solidFill>
                <a:latin typeface="Tahoma" pitchFamily="34" charset="0"/>
              </a:defRPr>
            </a:lvl5pPr>
            <a:lvl6pPr marL="2514600" indent="-228600" eaLnBrk="0" fontAlgn="base" hangingPunct="0">
              <a:spcBef>
                <a:spcPct val="0"/>
              </a:spcBef>
              <a:spcAft>
                <a:spcPct val="0"/>
              </a:spcAft>
              <a:defRPr sz="2000">
                <a:solidFill>
                  <a:schemeClr val="tx1"/>
                </a:solidFill>
                <a:latin typeface="Tahoma" pitchFamily="34" charset="0"/>
              </a:defRPr>
            </a:lvl6pPr>
            <a:lvl7pPr marL="2971800" indent="-228600" eaLnBrk="0" fontAlgn="base" hangingPunct="0">
              <a:spcBef>
                <a:spcPct val="0"/>
              </a:spcBef>
              <a:spcAft>
                <a:spcPct val="0"/>
              </a:spcAft>
              <a:defRPr sz="2000">
                <a:solidFill>
                  <a:schemeClr val="tx1"/>
                </a:solidFill>
                <a:latin typeface="Tahoma" pitchFamily="34" charset="0"/>
              </a:defRPr>
            </a:lvl7pPr>
            <a:lvl8pPr marL="3429000" indent="-228600" eaLnBrk="0" fontAlgn="base" hangingPunct="0">
              <a:spcBef>
                <a:spcPct val="0"/>
              </a:spcBef>
              <a:spcAft>
                <a:spcPct val="0"/>
              </a:spcAft>
              <a:defRPr sz="2000">
                <a:solidFill>
                  <a:schemeClr val="tx1"/>
                </a:solidFill>
                <a:latin typeface="Tahoma" pitchFamily="34" charset="0"/>
              </a:defRPr>
            </a:lvl8pPr>
            <a:lvl9pPr marL="3886200" indent="-228600" eaLnBrk="0" fontAlgn="base" hangingPunct="0">
              <a:spcBef>
                <a:spcPct val="0"/>
              </a:spcBef>
              <a:spcAft>
                <a:spcPct val="0"/>
              </a:spcAft>
              <a:defRPr sz="2000">
                <a:solidFill>
                  <a:schemeClr val="tx1"/>
                </a:solidFill>
                <a:latin typeface="Tahoma" pitchFamily="34" charset="0"/>
              </a:defRPr>
            </a:lvl9pPr>
          </a:lstStyle>
          <a:p>
            <a:pPr eaLnBrk="1" hangingPunct="1">
              <a:defRPr/>
            </a:pPr>
            <a:r>
              <a:rPr lang="es-MX" sz="3600" b="1" dirty="0">
                <a:solidFill>
                  <a:schemeClr val="tx1">
                    <a:lumMod val="75000"/>
                    <a:lumOff val="25000"/>
                  </a:schemeClr>
                </a:solidFill>
                <a:latin typeface="+mj-lt"/>
                <a:cs typeface="Arial" charset="0"/>
              </a:rPr>
              <a:t>CARACTERÍSTICAS</a:t>
            </a:r>
          </a:p>
        </p:txBody>
      </p:sp>
      <p:sp>
        <p:nvSpPr>
          <p:cNvPr id="11" name="Rectangle 12">
            <a:extLst>
              <a:ext uri="{FF2B5EF4-FFF2-40B4-BE49-F238E27FC236}">
                <a16:creationId xmlns:a16="http://schemas.microsoft.com/office/drawing/2014/main" id="{61260762-B255-462C-9494-07CC4B5891DA}"/>
              </a:ext>
            </a:extLst>
          </p:cNvPr>
          <p:cNvSpPr>
            <a:spLocks noChangeArrowheads="1"/>
          </p:cNvSpPr>
          <p:nvPr/>
        </p:nvSpPr>
        <p:spPr bwMode="auto">
          <a:xfrm>
            <a:off x="1387476" y="1422537"/>
            <a:ext cx="9906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61950" indent="0" eaLnBrk="1" hangingPunct="1">
              <a:spcBef>
                <a:spcPct val="20000"/>
              </a:spcBef>
              <a:buClr>
                <a:schemeClr val="accent1"/>
              </a:buClr>
            </a:pPr>
            <a:r>
              <a:rPr lang="es-AR" altLang="es-AR" sz="2000" u="sng" dirty="0">
                <a:latin typeface="+mj-lt"/>
              </a:rPr>
              <a:t>COSTOS ESTÁNDAR.</a:t>
            </a:r>
            <a:endParaRPr lang="es-ES" altLang="es-AR" sz="2000" u="sng" dirty="0">
              <a:latin typeface="+mj-lt"/>
            </a:endParaRPr>
          </a:p>
        </p:txBody>
      </p:sp>
      <p:sp>
        <p:nvSpPr>
          <p:cNvPr id="12" name="Rectangle 12">
            <a:extLst>
              <a:ext uri="{FF2B5EF4-FFF2-40B4-BE49-F238E27FC236}">
                <a16:creationId xmlns:a16="http://schemas.microsoft.com/office/drawing/2014/main" id="{0F5566A4-7048-4390-AF3D-25873F8D255E}"/>
              </a:ext>
            </a:extLst>
          </p:cNvPr>
          <p:cNvSpPr>
            <a:spLocks noChangeArrowheads="1"/>
          </p:cNvSpPr>
          <p:nvPr/>
        </p:nvSpPr>
        <p:spPr bwMode="auto">
          <a:xfrm>
            <a:off x="1765300" y="2411170"/>
            <a:ext cx="9906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Sirven para “controlar” la eficiencia de las operaciones.</a:t>
            </a:r>
            <a:endParaRPr lang="es-ES" altLang="es-AR" sz="2000" dirty="0">
              <a:latin typeface="+mj-lt"/>
            </a:endParaRPr>
          </a:p>
        </p:txBody>
      </p:sp>
      <p:sp>
        <p:nvSpPr>
          <p:cNvPr id="13" name="Rectangle 12">
            <a:extLst>
              <a:ext uri="{FF2B5EF4-FFF2-40B4-BE49-F238E27FC236}">
                <a16:creationId xmlns:a16="http://schemas.microsoft.com/office/drawing/2014/main" id="{D9524BA1-FB76-4FBA-B988-5834E18C2B99}"/>
              </a:ext>
            </a:extLst>
          </p:cNvPr>
          <p:cNvSpPr>
            <a:spLocks noChangeArrowheads="1"/>
          </p:cNvSpPr>
          <p:nvPr/>
        </p:nvSpPr>
        <p:spPr bwMode="auto">
          <a:xfrm>
            <a:off x="1765299" y="2980000"/>
            <a:ext cx="9906001"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Se utilizan para producciones de proceso continuo.</a:t>
            </a:r>
            <a:endParaRPr lang="es-ES" altLang="es-AR" sz="2000" dirty="0">
              <a:latin typeface="+mj-lt"/>
            </a:endParaRPr>
          </a:p>
        </p:txBody>
      </p:sp>
      <p:sp>
        <p:nvSpPr>
          <p:cNvPr id="14" name="Rectangle 12">
            <a:extLst>
              <a:ext uri="{FF2B5EF4-FFF2-40B4-BE49-F238E27FC236}">
                <a16:creationId xmlns:a16="http://schemas.microsoft.com/office/drawing/2014/main" id="{2205EE70-4EF1-492E-A41F-FA20837E33B4}"/>
              </a:ext>
            </a:extLst>
          </p:cNvPr>
          <p:cNvSpPr>
            <a:spLocks noChangeArrowheads="1"/>
          </p:cNvSpPr>
          <p:nvPr/>
        </p:nvSpPr>
        <p:spPr bwMode="auto">
          <a:xfrm>
            <a:off x="1741128" y="3515033"/>
            <a:ext cx="9906001"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Forman parte de la contabilidad de costos de la empresa.</a:t>
            </a:r>
            <a:endParaRPr lang="es-ES" altLang="es-AR" sz="2000" dirty="0">
              <a:latin typeface="+mj-lt"/>
            </a:endParaRPr>
          </a:p>
        </p:txBody>
      </p:sp>
      <p:sp>
        <p:nvSpPr>
          <p:cNvPr id="15" name="Rectangle 12">
            <a:extLst>
              <a:ext uri="{FF2B5EF4-FFF2-40B4-BE49-F238E27FC236}">
                <a16:creationId xmlns:a16="http://schemas.microsoft.com/office/drawing/2014/main" id="{3AF46869-9889-437C-8201-34EA8C223F3B}"/>
              </a:ext>
            </a:extLst>
          </p:cNvPr>
          <p:cNvSpPr>
            <a:spLocks noChangeArrowheads="1"/>
          </p:cNvSpPr>
          <p:nvPr/>
        </p:nvSpPr>
        <p:spPr bwMode="auto">
          <a:xfrm>
            <a:off x="1765300" y="4080274"/>
            <a:ext cx="9906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Se lo considera como un “piso”.</a:t>
            </a:r>
            <a:endParaRPr lang="es-ES" altLang="es-AR" sz="2000" dirty="0">
              <a:latin typeface="+mj-lt"/>
            </a:endParaRPr>
          </a:p>
        </p:txBody>
      </p:sp>
      <p:sp>
        <p:nvSpPr>
          <p:cNvPr id="3" name="Marcador de número de diapositiva 2">
            <a:extLst>
              <a:ext uri="{FF2B5EF4-FFF2-40B4-BE49-F238E27FC236}">
                <a16:creationId xmlns:a16="http://schemas.microsoft.com/office/drawing/2014/main" id="{0D01F7A3-137D-457C-8A1F-83D1003F3AE1}"/>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20149366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ox(in)">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ox(in)">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ox(in)">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 name="Rectangle 61">
            <a:extLst>
              <a:ext uri="{FF2B5EF4-FFF2-40B4-BE49-F238E27FC236}">
                <a16:creationId xmlns:a16="http://schemas.microsoft.com/office/drawing/2014/main" id="{D59872B1-C833-472F-A422-A8BAB98BE930}"/>
              </a:ext>
            </a:extLst>
          </p:cNvPr>
          <p:cNvSpPr>
            <a:spLocks noChangeArrowheads="1"/>
          </p:cNvSpPr>
          <p:nvPr/>
        </p:nvSpPr>
        <p:spPr bwMode="auto">
          <a:xfrm>
            <a:off x="1125537" y="1262227"/>
            <a:ext cx="9906000"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El Costo Estándar está basado en especificaciones técnicas para la determinación de los “estándares de cantidad de materia prima”, de “gastos generales”, y los “estándares de tiempo para la cantidad de mano de obra”. Se confeccionan para cada centro de producción y para cada máquina. </a:t>
            </a:r>
          </a:p>
        </p:txBody>
      </p:sp>
      <p:sp>
        <p:nvSpPr>
          <p:cNvPr id="4163" name="Text Box 67">
            <a:extLst>
              <a:ext uri="{FF2B5EF4-FFF2-40B4-BE49-F238E27FC236}">
                <a16:creationId xmlns:a16="http://schemas.microsoft.com/office/drawing/2014/main" id="{C3841960-B8FA-4FED-B997-308644068875}"/>
              </a:ext>
            </a:extLst>
          </p:cNvPr>
          <p:cNvSpPr txBox="1">
            <a:spLocks noChangeArrowheads="1"/>
          </p:cNvSpPr>
          <p:nvPr/>
        </p:nvSpPr>
        <p:spPr bwMode="auto">
          <a:xfrm>
            <a:off x="1387476" y="257175"/>
            <a:ext cx="88122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COSTO ESTANDAR</a:t>
            </a:r>
          </a:p>
        </p:txBody>
      </p:sp>
      <p:sp>
        <p:nvSpPr>
          <p:cNvPr id="7" name="Rectangle 30">
            <a:extLst>
              <a:ext uri="{FF2B5EF4-FFF2-40B4-BE49-F238E27FC236}">
                <a16:creationId xmlns:a16="http://schemas.microsoft.com/office/drawing/2014/main" id="{807A09AC-960B-48E8-9A8E-247F74374132}"/>
              </a:ext>
            </a:extLst>
          </p:cNvPr>
          <p:cNvSpPr>
            <a:spLocks noChangeArrowheads="1"/>
          </p:cNvSpPr>
          <p:nvPr/>
        </p:nvSpPr>
        <p:spPr bwMode="auto">
          <a:xfrm>
            <a:off x="1127125" y="3101976"/>
            <a:ext cx="9906000"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Su importancia radica en su ayuda para la aplicación de precios y trazado de planes de producción, es </a:t>
            </a:r>
            <a:r>
              <a:rPr lang="es-AR" altLang="es-AR" sz="2000">
                <a:latin typeface="+mj-lt"/>
              </a:rPr>
              <a:t>posible fijar </a:t>
            </a:r>
            <a:r>
              <a:rPr lang="es-AR" altLang="es-AR" sz="2000" dirty="0">
                <a:latin typeface="+mj-lt"/>
              </a:rPr>
              <a:t>precios de venta anticipados con escaso margen de error.</a:t>
            </a:r>
          </a:p>
          <a:p>
            <a:pPr algn="just" eaLnBrk="1" hangingPunct="1">
              <a:spcBef>
                <a:spcPct val="20000"/>
              </a:spcBef>
            </a:pPr>
            <a:endParaRPr lang="es-ES" altLang="es-AR" sz="2000" dirty="0">
              <a:latin typeface="+mj-lt"/>
            </a:endParaRPr>
          </a:p>
        </p:txBody>
      </p:sp>
      <p:sp>
        <p:nvSpPr>
          <p:cNvPr id="8" name="Rectangle 31">
            <a:extLst>
              <a:ext uri="{FF2B5EF4-FFF2-40B4-BE49-F238E27FC236}">
                <a16:creationId xmlns:a16="http://schemas.microsoft.com/office/drawing/2014/main" id="{C955D19F-6B91-403D-ADCC-62CFA92ABCAE}"/>
              </a:ext>
            </a:extLst>
          </p:cNvPr>
          <p:cNvSpPr>
            <a:spLocks noChangeArrowheads="1"/>
          </p:cNvSpPr>
          <p:nvPr/>
        </p:nvSpPr>
        <p:spPr bwMode="auto">
          <a:xfrm>
            <a:off x="1127125" y="4476370"/>
            <a:ext cx="9906000"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Se recomienda aplicar en casos de producciones repetitivas, es decir, en industrias de proceso continuo, especialmente, para fabricación de artículos diversos en un solo centro de costos y aún en un solo proceso productivo (industrias envasadoras de frutas de conserva).</a:t>
            </a:r>
            <a:endParaRPr lang="es-ES" altLang="es-AR" sz="2000" dirty="0">
              <a:latin typeface="+mj-lt"/>
            </a:endParaRPr>
          </a:p>
        </p:txBody>
      </p:sp>
      <p:sp>
        <p:nvSpPr>
          <p:cNvPr id="3" name="Marcador de número de diapositiva 2">
            <a:extLst>
              <a:ext uri="{FF2B5EF4-FFF2-40B4-BE49-F238E27FC236}">
                <a16:creationId xmlns:a16="http://schemas.microsoft.com/office/drawing/2014/main" id="{9F366112-8483-435C-979D-8379845DA884}"/>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DEADF73-22BA-4880-8AEB-3C82FC929173}"/>
              </a:ext>
            </a:extLst>
          </p:cNvPr>
          <p:cNvSpPr>
            <a:spLocks noChangeArrowheads="1"/>
          </p:cNvSpPr>
          <p:nvPr/>
        </p:nvSpPr>
        <p:spPr bwMode="auto">
          <a:xfrm>
            <a:off x="1141413" y="1287462"/>
            <a:ext cx="9906000"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dirty="0">
                <a:latin typeface="+mj-lt"/>
              </a:rPr>
              <a:t>El Costeo Estándar requiere:</a:t>
            </a:r>
            <a:endParaRPr lang="es-ES" altLang="es-AR" sz="2000" dirty="0">
              <a:latin typeface="+mj-lt"/>
            </a:endParaRPr>
          </a:p>
        </p:txBody>
      </p:sp>
      <p:sp>
        <p:nvSpPr>
          <p:cNvPr id="5" name="Rectangle 10">
            <a:extLst>
              <a:ext uri="{FF2B5EF4-FFF2-40B4-BE49-F238E27FC236}">
                <a16:creationId xmlns:a16="http://schemas.microsoft.com/office/drawing/2014/main" id="{75FEB56C-2FB2-435A-9CC7-CB15168A19C1}"/>
              </a:ext>
            </a:extLst>
          </p:cNvPr>
          <p:cNvSpPr>
            <a:spLocks noChangeArrowheads="1"/>
          </p:cNvSpPr>
          <p:nvPr/>
        </p:nvSpPr>
        <p:spPr bwMode="auto">
          <a:xfrm>
            <a:off x="2420361" y="1792689"/>
            <a:ext cx="900545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Una selección minuciosa de materiales.</a:t>
            </a:r>
            <a:endParaRPr lang="es-ES" altLang="es-AR" sz="2000" dirty="0">
              <a:latin typeface="+mj-lt"/>
            </a:endParaRPr>
          </a:p>
        </p:txBody>
      </p:sp>
      <p:sp>
        <p:nvSpPr>
          <p:cNvPr id="6" name="Rectangle 11">
            <a:extLst>
              <a:ext uri="{FF2B5EF4-FFF2-40B4-BE49-F238E27FC236}">
                <a16:creationId xmlns:a16="http://schemas.microsoft.com/office/drawing/2014/main" id="{123770C6-F842-4A54-A5F2-78C0FFA4E766}"/>
              </a:ext>
            </a:extLst>
          </p:cNvPr>
          <p:cNvSpPr>
            <a:spLocks noChangeArrowheads="1"/>
          </p:cNvSpPr>
          <p:nvPr/>
        </p:nvSpPr>
        <p:spPr bwMode="auto">
          <a:xfrm>
            <a:off x="2420361" y="2224489"/>
            <a:ext cx="9005455"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Un estudio de métodos y tiempos de las operaciones.</a:t>
            </a:r>
            <a:endParaRPr lang="es-ES" altLang="es-AR" sz="2000" dirty="0">
              <a:latin typeface="+mj-lt"/>
            </a:endParaRPr>
          </a:p>
        </p:txBody>
      </p:sp>
      <p:sp>
        <p:nvSpPr>
          <p:cNvPr id="7" name="Rectangle 12">
            <a:extLst>
              <a:ext uri="{FF2B5EF4-FFF2-40B4-BE49-F238E27FC236}">
                <a16:creationId xmlns:a16="http://schemas.microsoft.com/office/drawing/2014/main" id="{AB5A7E4F-95A3-42D0-8BA4-663CF0B2D155}"/>
              </a:ext>
            </a:extLst>
          </p:cNvPr>
          <p:cNvSpPr>
            <a:spLocks noChangeArrowheads="1"/>
          </p:cNvSpPr>
          <p:nvPr/>
        </p:nvSpPr>
        <p:spPr bwMode="auto">
          <a:xfrm>
            <a:off x="2420361" y="2727728"/>
            <a:ext cx="900545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Un estudio de ingeniería, de maquinaria y de equipo.</a:t>
            </a:r>
            <a:endParaRPr lang="es-ES" altLang="es-AR" sz="2000" dirty="0">
              <a:latin typeface="+mj-lt"/>
            </a:endParaRPr>
          </a:p>
        </p:txBody>
      </p:sp>
      <p:sp>
        <p:nvSpPr>
          <p:cNvPr id="8" name="Text Box 8">
            <a:extLst>
              <a:ext uri="{FF2B5EF4-FFF2-40B4-BE49-F238E27FC236}">
                <a16:creationId xmlns:a16="http://schemas.microsoft.com/office/drawing/2014/main" id="{F4DA9512-65AC-431A-B1C5-0AF5880FC9BC}"/>
              </a:ext>
            </a:extLst>
          </p:cNvPr>
          <p:cNvSpPr txBox="1">
            <a:spLocks noChangeArrowheads="1"/>
          </p:cNvSpPr>
          <p:nvPr/>
        </p:nvSpPr>
        <p:spPr bwMode="auto">
          <a:xfrm>
            <a:off x="1311579" y="348848"/>
            <a:ext cx="88122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latin typeface="+mj-lt"/>
                <a:cs typeface="Arial" charset="0"/>
              </a:rPr>
              <a:t>COSTO ESTANDAR</a:t>
            </a:r>
          </a:p>
        </p:txBody>
      </p:sp>
      <p:sp>
        <p:nvSpPr>
          <p:cNvPr id="9" name="Rectangle 12">
            <a:extLst>
              <a:ext uri="{FF2B5EF4-FFF2-40B4-BE49-F238E27FC236}">
                <a16:creationId xmlns:a16="http://schemas.microsoft.com/office/drawing/2014/main" id="{23FC480A-4BE4-4860-AC59-2FC63DC4E8EB}"/>
              </a:ext>
            </a:extLst>
          </p:cNvPr>
          <p:cNvSpPr>
            <a:spLocks noChangeArrowheads="1"/>
          </p:cNvSpPr>
          <p:nvPr/>
        </p:nvSpPr>
        <p:spPr bwMode="auto">
          <a:xfrm>
            <a:off x="2436236" y="3159528"/>
            <a:ext cx="900545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Definición de niveles de producción.</a:t>
            </a:r>
            <a:endParaRPr lang="es-ES" altLang="es-AR" sz="2000" dirty="0">
              <a:latin typeface="+mj-lt"/>
            </a:endParaRPr>
          </a:p>
        </p:txBody>
      </p:sp>
      <p:sp>
        <p:nvSpPr>
          <p:cNvPr id="10" name="Rectangle 12">
            <a:extLst>
              <a:ext uri="{FF2B5EF4-FFF2-40B4-BE49-F238E27FC236}">
                <a16:creationId xmlns:a16="http://schemas.microsoft.com/office/drawing/2014/main" id="{044BABF5-B2D5-4995-A6E0-880B28493408}"/>
              </a:ext>
            </a:extLst>
          </p:cNvPr>
          <p:cNvSpPr>
            <a:spLocks noChangeArrowheads="1"/>
          </p:cNvSpPr>
          <p:nvPr/>
        </p:nvSpPr>
        <p:spPr bwMode="auto">
          <a:xfrm>
            <a:off x="2436236" y="3591328"/>
            <a:ext cx="900545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Departamentalización de la empresa.</a:t>
            </a:r>
            <a:endParaRPr lang="es-ES" altLang="es-AR" sz="2000" dirty="0">
              <a:latin typeface="+mj-lt"/>
            </a:endParaRPr>
          </a:p>
        </p:txBody>
      </p:sp>
      <p:sp>
        <p:nvSpPr>
          <p:cNvPr id="11" name="Rectangle 12">
            <a:extLst>
              <a:ext uri="{FF2B5EF4-FFF2-40B4-BE49-F238E27FC236}">
                <a16:creationId xmlns:a16="http://schemas.microsoft.com/office/drawing/2014/main" id="{87DBB47E-D1B5-4599-B06E-FF1268BA1C5C}"/>
              </a:ext>
            </a:extLst>
          </p:cNvPr>
          <p:cNvSpPr>
            <a:spLocks noChangeArrowheads="1"/>
          </p:cNvSpPr>
          <p:nvPr/>
        </p:nvSpPr>
        <p:spPr bwMode="auto">
          <a:xfrm>
            <a:off x="2434648" y="4024715"/>
            <a:ext cx="900545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eaLnBrk="1" hangingPunct="1">
              <a:spcBef>
                <a:spcPct val="20000"/>
              </a:spcBef>
              <a:buClr>
                <a:schemeClr val="accent1"/>
              </a:buClr>
              <a:buFont typeface="Arial" panose="020B0604020202020204" pitchFamily="34" charset="0"/>
              <a:buChar char="•"/>
            </a:pPr>
            <a:r>
              <a:rPr lang="es-AR" altLang="es-AR" sz="2000" dirty="0">
                <a:latin typeface="+mj-lt"/>
              </a:rPr>
              <a:t> Correcta distribución de los gastos de fabricación.</a:t>
            </a:r>
            <a:endParaRPr lang="es-ES" altLang="es-AR" sz="2000" dirty="0">
              <a:latin typeface="+mj-lt"/>
            </a:endParaRPr>
          </a:p>
        </p:txBody>
      </p:sp>
      <p:sp>
        <p:nvSpPr>
          <p:cNvPr id="12" name="Rectangle 12">
            <a:extLst>
              <a:ext uri="{FF2B5EF4-FFF2-40B4-BE49-F238E27FC236}">
                <a16:creationId xmlns:a16="http://schemas.microsoft.com/office/drawing/2014/main" id="{D6529E9F-AC8E-441E-801C-D31231B5FF35}"/>
              </a:ext>
            </a:extLst>
          </p:cNvPr>
          <p:cNvSpPr>
            <a:spLocks noChangeArrowheads="1"/>
          </p:cNvSpPr>
          <p:nvPr/>
        </p:nvSpPr>
        <p:spPr bwMode="auto">
          <a:xfrm>
            <a:off x="2418773" y="4364039"/>
            <a:ext cx="828256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1"/>
              </a:buClr>
              <a:buFontTx/>
              <a:buChar char="•"/>
            </a:pPr>
            <a:r>
              <a:rPr lang="es-AR" altLang="es-AR" sz="2000" dirty="0">
                <a:latin typeface="+mj-lt"/>
              </a:rPr>
              <a:t>    Fijación del volumen de fabricación (decisión empresaria).</a:t>
            </a:r>
            <a:endParaRPr lang="es-ES" altLang="es-AR" sz="2000" dirty="0">
              <a:latin typeface="+mj-lt"/>
            </a:endParaRPr>
          </a:p>
        </p:txBody>
      </p:sp>
      <p:sp>
        <p:nvSpPr>
          <p:cNvPr id="13" name="Rectangle 12">
            <a:extLst>
              <a:ext uri="{FF2B5EF4-FFF2-40B4-BE49-F238E27FC236}">
                <a16:creationId xmlns:a16="http://schemas.microsoft.com/office/drawing/2014/main" id="{5954F4C9-BEAA-4443-9A55-E56E35EFEE61}"/>
              </a:ext>
            </a:extLst>
          </p:cNvPr>
          <p:cNvSpPr>
            <a:spLocks noChangeArrowheads="1"/>
          </p:cNvSpPr>
          <p:nvPr/>
        </p:nvSpPr>
        <p:spPr bwMode="auto">
          <a:xfrm>
            <a:off x="2420361" y="4795838"/>
            <a:ext cx="900545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704850" indent="-342900" algn="just" eaLnBrk="1" hangingPunct="1">
              <a:spcBef>
                <a:spcPct val="20000"/>
              </a:spcBef>
              <a:buClr>
                <a:schemeClr val="accent1"/>
              </a:buClr>
              <a:buFont typeface="Arial" panose="020B0604020202020204" pitchFamily="34" charset="0"/>
              <a:buChar char="•"/>
            </a:pPr>
            <a:r>
              <a:rPr lang="es-AR" altLang="es-AR" sz="2000" dirty="0">
                <a:latin typeface="+mj-lt"/>
              </a:rPr>
              <a:t> Rígidos principios de calidad, dado que cumplen el rol de “COSTO OBJETIVO”.</a:t>
            </a:r>
            <a:endParaRPr lang="es-ES" altLang="es-AR" sz="2000" dirty="0">
              <a:latin typeface="+mj-lt"/>
            </a:endParaRPr>
          </a:p>
        </p:txBody>
      </p:sp>
      <p:sp>
        <p:nvSpPr>
          <p:cNvPr id="3" name="Marcador de número de diapositiva 2">
            <a:extLst>
              <a:ext uri="{FF2B5EF4-FFF2-40B4-BE49-F238E27FC236}">
                <a16:creationId xmlns:a16="http://schemas.microsoft.com/office/drawing/2014/main" id="{DE106E76-9DC8-4BA3-98DF-D2461FF1C7E5}"/>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9" name="Text Box 9">
            <a:extLst>
              <a:ext uri="{FF2B5EF4-FFF2-40B4-BE49-F238E27FC236}">
                <a16:creationId xmlns:a16="http://schemas.microsoft.com/office/drawing/2014/main" id="{2F1EC048-6E53-40B6-8D53-2E7C324583E3}"/>
              </a:ext>
            </a:extLst>
          </p:cNvPr>
          <p:cNvSpPr txBox="1">
            <a:spLocks noChangeArrowheads="1"/>
          </p:cNvSpPr>
          <p:nvPr/>
        </p:nvSpPr>
        <p:spPr bwMode="auto">
          <a:xfrm>
            <a:off x="1403351" y="402048"/>
            <a:ext cx="96773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NORMALIZACIÓN DE LAS OPERACIONES</a:t>
            </a:r>
          </a:p>
        </p:txBody>
      </p:sp>
      <p:sp>
        <p:nvSpPr>
          <p:cNvPr id="10250" name="Rectangle 10">
            <a:extLst>
              <a:ext uri="{FF2B5EF4-FFF2-40B4-BE49-F238E27FC236}">
                <a16:creationId xmlns:a16="http://schemas.microsoft.com/office/drawing/2014/main" id="{D99FB16C-418E-4061-AD37-A47CE1C4CD28}"/>
              </a:ext>
            </a:extLst>
          </p:cNvPr>
          <p:cNvSpPr>
            <a:spLocks noChangeArrowheads="1"/>
          </p:cNvSpPr>
          <p:nvPr/>
        </p:nvSpPr>
        <p:spPr bwMode="auto">
          <a:xfrm>
            <a:off x="1143000" y="1481976"/>
            <a:ext cx="9906000" cy="900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Para poder implantar y operar un sistema de costeo estándar es necesario que las operaciones fabriles estén normalizadas, para lo cual resulta necesario establecer dos magnitudes:</a:t>
            </a:r>
            <a:endParaRPr lang="es-ES" altLang="es-AR" sz="2000" dirty="0">
              <a:latin typeface="+mj-lt"/>
            </a:endParaRPr>
          </a:p>
        </p:txBody>
      </p:sp>
      <p:sp>
        <p:nvSpPr>
          <p:cNvPr id="10251" name="Rectangle 11">
            <a:extLst>
              <a:ext uri="{FF2B5EF4-FFF2-40B4-BE49-F238E27FC236}">
                <a16:creationId xmlns:a16="http://schemas.microsoft.com/office/drawing/2014/main" id="{D1581E17-7C0B-445F-8AE4-9EBB7099A96D}"/>
              </a:ext>
            </a:extLst>
          </p:cNvPr>
          <p:cNvSpPr>
            <a:spLocks noChangeArrowheads="1"/>
          </p:cNvSpPr>
          <p:nvPr/>
        </p:nvSpPr>
        <p:spPr bwMode="auto">
          <a:xfrm>
            <a:off x="949734" y="2920653"/>
            <a:ext cx="10584631" cy="238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61950" indent="0" algn="just" eaLnBrk="1" hangingPunct="1">
              <a:spcBef>
                <a:spcPct val="20000"/>
              </a:spcBef>
            </a:pPr>
            <a:r>
              <a:rPr lang="es-AR" altLang="es-AR" sz="2000" b="1" u="sng" dirty="0">
                <a:latin typeface="+mj-lt"/>
              </a:rPr>
              <a:t>Estándar físico normal o cantidad</a:t>
            </a:r>
            <a:r>
              <a:rPr lang="es-AR" altLang="es-AR" sz="2000" dirty="0">
                <a:latin typeface="+mj-lt"/>
              </a:rPr>
              <a:t>: </a:t>
            </a:r>
          </a:p>
          <a:p>
            <a:pPr algn="just" eaLnBrk="1" hangingPunct="1">
              <a:spcBef>
                <a:spcPct val="20000"/>
              </a:spcBef>
              <a:buFontTx/>
              <a:buChar char="•"/>
            </a:pPr>
            <a:endParaRPr lang="es-AR" altLang="es-AR" sz="2000" dirty="0">
              <a:latin typeface="+mj-lt"/>
            </a:endParaRPr>
          </a:p>
          <a:p>
            <a:pPr marL="704850" indent="-342900" algn="just" eaLnBrk="1" hangingPunct="1">
              <a:spcBef>
                <a:spcPct val="20000"/>
              </a:spcBef>
              <a:buClr>
                <a:schemeClr val="accent1"/>
              </a:buClr>
              <a:buFont typeface="Arial" panose="020B0604020202020204" pitchFamily="34" charset="0"/>
              <a:buChar char="•"/>
            </a:pPr>
            <a:r>
              <a:rPr lang="es-AR" altLang="es-AR" sz="2000" dirty="0">
                <a:latin typeface="+mj-lt"/>
              </a:rPr>
              <a:t> Tiene en cuenta un porcentaje de desperdicio o ineficiencia de acuerdo con      			la realidad, y sólo se modifica ante un cambio en las 							especificaciones o en los métodos de producción. </a:t>
            </a:r>
          </a:p>
          <a:p>
            <a:pPr marL="704850" indent="-342900" algn="just" eaLnBrk="1" hangingPunct="1">
              <a:spcBef>
                <a:spcPct val="20000"/>
              </a:spcBef>
              <a:buClr>
                <a:schemeClr val="accent1"/>
              </a:buClr>
              <a:buFont typeface="Arial" panose="020B0604020202020204" pitchFamily="34" charset="0"/>
              <a:buChar char="•"/>
            </a:pPr>
            <a:endParaRPr lang="es-AR" altLang="es-AR" sz="2000" dirty="0">
              <a:latin typeface="+mj-lt"/>
            </a:endParaRPr>
          </a:p>
          <a:p>
            <a:pPr marL="704850" indent="-342900" algn="just" eaLnBrk="1" hangingPunct="1">
              <a:spcBef>
                <a:spcPct val="20000"/>
              </a:spcBef>
              <a:buClr>
                <a:schemeClr val="accent1"/>
              </a:buClr>
              <a:buFont typeface="Arial" panose="020B0604020202020204" pitchFamily="34" charset="0"/>
              <a:buChar char="•"/>
            </a:pPr>
            <a:r>
              <a:rPr lang="es-AR" altLang="es-AR" sz="2000" dirty="0">
                <a:latin typeface="+mj-lt"/>
              </a:rPr>
              <a:t>La responsabilidad es del sector productivo.</a:t>
            </a:r>
            <a:endParaRPr lang="es-ES" altLang="es-AR" sz="2000" dirty="0">
              <a:latin typeface="+mj-lt"/>
            </a:endParaRPr>
          </a:p>
        </p:txBody>
      </p:sp>
      <p:sp>
        <p:nvSpPr>
          <p:cNvPr id="3" name="Marcador de número de diapositiva 2">
            <a:extLst>
              <a:ext uri="{FF2B5EF4-FFF2-40B4-BE49-F238E27FC236}">
                <a16:creationId xmlns:a16="http://schemas.microsoft.com/office/drawing/2014/main" id="{40DCA77F-3F31-47F9-9F90-B7B3D784DC85}"/>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0" grpId="0"/>
      <p:bldP spid="1025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9" name="Text Box 9">
            <a:extLst>
              <a:ext uri="{FF2B5EF4-FFF2-40B4-BE49-F238E27FC236}">
                <a16:creationId xmlns:a16="http://schemas.microsoft.com/office/drawing/2014/main" id="{2F1EC048-6E53-40B6-8D53-2E7C324583E3}"/>
              </a:ext>
            </a:extLst>
          </p:cNvPr>
          <p:cNvSpPr txBox="1">
            <a:spLocks noChangeArrowheads="1"/>
          </p:cNvSpPr>
          <p:nvPr/>
        </p:nvSpPr>
        <p:spPr bwMode="auto">
          <a:xfrm>
            <a:off x="1403351" y="402048"/>
            <a:ext cx="96773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NORMALIZACIÓN DE LAS OPERACIONES</a:t>
            </a:r>
          </a:p>
        </p:txBody>
      </p:sp>
      <p:sp>
        <p:nvSpPr>
          <p:cNvPr id="10252" name="Rectangle 12">
            <a:extLst>
              <a:ext uri="{FF2B5EF4-FFF2-40B4-BE49-F238E27FC236}">
                <a16:creationId xmlns:a16="http://schemas.microsoft.com/office/drawing/2014/main" id="{5F1FE9CD-856F-40F5-A184-344C1A5EFDC9}"/>
              </a:ext>
            </a:extLst>
          </p:cNvPr>
          <p:cNvSpPr>
            <a:spLocks noChangeArrowheads="1"/>
          </p:cNvSpPr>
          <p:nvPr/>
        </p:nvSpPr>
        <p:spPr bwMode="auto">
          <a:xfrm>
            <a:off x="1174750" y="2312987"/>
            <a:ext cx="9562076"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61950" indent="0" algn="just" eaLnBrk="1" hangingPunct="1">
              <a:spcBef>
                <a:spcPct val="20000"/>
              </a:spcBef>
            </a:pPr>
            <a:r>
              <a:rPr lang="es-AR" altLang="es-AR" sz="2000" b="1" u="sng" dirty="0">
                <a:latin typeface="+mj-lt"/>
              </a:rPr>
              <a:t>Valor estándar variable o precio</a:t>
            </a:r>
            <a:r>
              <a:rPr lang="es-AR" altLang="es-AR" sz="2000" dirty="0">
                <a:latin typeface="+mj-lt"/>
              </a:rPr>
              <a:t>: </a:t>
            </a:r>
          </a:p>
          <a:p>
            <a:pPr algn="just" eaLnBrk="1" hangingPunct="1">
              <a:spcBef>
                <a:spcPct val="20000"/>
              </a:spcBef>
              <a:buFontTx/>
              <a:buChar char="•"/>
            </a:pPr>
            <a:endParaRPr lang="es-AR" altLang="es-AR" sz="2000" dirty="0">
              <a:latin typeface="+mj-lt"/>
            </a:endParaRPr>
          </a:p>
          <a:p>
            <a:pPr marL="800100" lvl="1" indent="-342900" algn="just">
              <a:spcBef>
                <a:spcPct val="20000"/>
              </a:spcBef>
              <a:buClr>
                <a:schemeClr val="accent1"/>
              </a:buClr>
              <a:buFont typeface="Arial" panose="020B0604020202020204" pitchFamily="34" charset="0"/>
              <a:buChar char="•"/>
            </a:pPr>
            <a:r>
              <a:rPr lang="es-AR" altLang="es-AR" sz="2000" dirty="0">
                <a:latin typeface="+mj-lt"/>
              </a:rPr>
              <a:t>Se lo ajusta periódicamente en función a los precios o bien cuando ocurren diferencias importantes.</a:t>
            </a:r>
          </a:p>
          <a:p>
            <a:pPr marL="800100" lvl="1" indent="-342900" algn="just">
              <a:spcBef>
                <a:spcPct val="20000"/>
              </a:spcBef>
              <a:buClr>
                <a:schemeClr val="accent1"/>
              </a:buClr>
              <a:buFont typeface="Arial" panose="020B0604020202020204" pitchFamily="34" charset="0"/>
              <a:buChar char="•"/>
            </a:pPr>
            <a:endParaRPr lang="es-AR" altLang="es-AR" sz="2000" dirty="0">
              <a:latin typeface="+mj-lt"/>
            </a:endParaRPr>
          </a:p>
          <a:p>
            <a:pPr marL="800100" lvl="1" indent="-342900" algn="just">
              <a:spcBef>
                <a:spcPct val="20000"/>
              </a:spcBef>
              <a:buClr>
                <a:schemeClr val="accent1"/>
              </a:buClr>
              <a:buFont typeface="Arial" panose="020B0604020202020204" pitchFamily="34" charset="0"/>
              <a:buChar char="•"/>
            </a:pPr>
            <a:r>
              <a:rPr lang="es-AR" altLang="es-AR" sz="2000" dirty="0">
                <a:latin typeface="+mj-lt"/>
              </a:rPr>
              <a:t> La responsabilidad es:</a:t>
            </a:r>
          </a:p>
          <a:p>
            <a:pPr marL="1257300" lvl="2" indent="-342900" algn="just">
              <a:spcBef>
                <a:spcPct val="20000"/>
              </a:spcBef>
              <a:buClr>
                <a:schemeClr val="accent1"/>
              </a:buClr>
              <a:buFont typeface="Arial" panose="020B0604020202020204" pitchFamily="34" charset="0"/>
              <a:buChar char="•"/>
            </a:pPr>
            <a:r>
              <a:rPr lang="es-AR" altLang="es-AR" sz="2000" dirty="0">
                <a:latin typeface="+mj-lt"/>
              </a:rPr>
              <a:t> Del sector Compras en lo relativo a precios de materiales</a:t>
            </a:r>
          </a:p>
          <a:p>
            <a:pPr marL="1257300" lvl="2" indent="-342900" algn="just">
              <a:spcBef>
                <a:spcPct val="20000"/>
              </a:spcBef>
              <a:buClr>
                <a:schemeClr val="accent1"/>
              </a:buClr>
              <a:buFont typeface="Arial" panose="020B0604020202020204" pitchFamily="34" charset="0"/>
              <a:buChar char="•"/>
            </a:pPr>
            <a:r>
              <a:rPr lang="es-AR" altLang="es-AR" sz="2000" dirty="0">
                <a:latin typeface="+mj-lt"/>
              </a:rPr>
              <a:t> Del sector Personal, en lo relativo a Salarios </a:t>
            </a:r>
          </a:p>
          <a:p>
            <a:pPr marL="1257300" lvl="2" indent="-342900" algn="just">
              <a:spcBef>
                <a:spcPct val="20000"/>
              </a:spcBef>
              <a:buClr>
                <a:schemeClr val="accent1"/>
              </a:buClr>
              <a:buFont typeface="Arial" panose="020B0604020202020204" pitchFamily="34" charset="0"/>
              <a:buChar char="•"/>
            </a:pPr>
            <a:r>
              <a:rPr lang="es-AR" altLang="es-AR" sz="2000" dirty="0">
                <a:latin typeface="+mj-lt"/>
              </a:rPr>
              <a:t> Del sector Financiero en lo relativo a amortizaciones, seguros e   impuestos.</a:t>
            </a:r>
            <a:endParaRPr lang="es-ES" altLang="es-AR" sz="2000" dirty="0">
              <a:latin typeface="+mj-lt"/>
            </a:endParaRPr>
          </a:p>
        </p:txBody>
      </p:sp>
      <p:sp>
        <p:nvSpPr>
          <p:cNvPr id="3" name="Marcador de número de diapositiva 2">
            <a:extLst>
              <a:ext uri="{FF2B5EF4-FFF2-40B4-BE49-F238E27FC236}">
                <a16:creationId xmlns:a16="http://schemas.microsoft.com/office/drawing/2014/main" id="{40DCA77F-3F31-47F9-9F90-B7B3D784DC85}"/>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24168518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a:extLst>
              <a:ext uri="{FF2B5EF4-FFF2-40B4-BE49-F238E27FC236}">
                <a16:creationId xmlns:a16="http://schemas.microsoft.com/office/drawing/2014/main" id="{629C9DEF-6165-4CDB-8A47-BB9F856B3127}"/>
              </a:ext>
            </a:extLst>
          </p:cNvPr>
          <p:cNvSpPr txBox="1">
            <a:spLocks noChangeArrowheads="1"/>
          </p:cNvSpPr>
          <p:nvPr/>
        </p:nvSpPr>
        <p:spPr bwMode="auto">
          <a:xfrm>
            <a:off x="1495424" y="185738"/>
            <a:ext cx="88122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COSTO ESTANDAR</a:t>
            </a:r>
          </a:p>
        </p:txBody>
      </p:sp>
      <p:sp>
        <p:nvSpPr>
          <p:cNvPr id="17413" name="Rectangle 5">
            <a:extLst>
              <a:ext uri="{FF2B5EF4-FFF2-40B4-BE49-F238E27FC236}">
                <a16:creationId xmlns:a16="http://schemas.microsoft.com/office/drawing/2014/main" id="{8FB8D414-1AC7-4FD4-9460-7C364423CDA4}"/>
              </a:ext>
            </a:extLst>
          </p:cNvPr>
          <p:cNvSpPr>
            <a:spLocks noChangeArrowheads="1"/>
          </p:cNvSpPr>
          <p:nvPr/>
        </p:nvSpPr>
        <p:spPr bwMode="auto">
          <a:xfrm>
            <a:off x="1250948" y="1052513"/>
            <a:ext cx="99060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mj-lt"/>
              </a:rPr>
              <a:t>Cuando se compra una materia prima, ingresa al depósito como  Precio Estándar.</a:t>
            </a:r>
            <a:endParaRPr lang="es-ES" altLang="es-AR" sz="2000" dirty="0">
              <a:latin typeface="+mj-lt"/>
            </a:endParaRPr>
          </a:p>
        </p:txBody>
      </p:sp>
      <p:sp>
        <p:nvSpPr>
          <p:cNvPr id="17414" name="Rectangle 6">
            <a:extLst>
              <a:ext uri="{FF2B5EF4-FFF2-40B4-BE49-F238E27FC236}">
                <a16:creationId xmlns:a16="http://schemas.microsoft.com/office/drawing/2014/main" id="{421A100A-B32D-422D-9B35-7131FD1E1C78}"/>
              </a:ext>
            </a:extLst>
          </p:cNvPr>
          <p:cNvSpPr>
            <a:spLocks noChangeArrowheads="1"/>
          </p:cNvSpPr>
          <p:nvPr/>
        </p:nvSpPr>
        <p:spPr bwMode="auto">
          <a:xfrm>
            <a:off x="1235073" y="1773238"/>
            <a:ext cx="9906000"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mj-lt"/>
              </a:rPr>
              <a:t>Cuando se liquida una producción, el Producto Terminado ingresa al depósito de expedición como Costo Estándar.</a:t>
            </a:r>
          </a:p>
          <a:p>
            <a:pPr algn="just" eaLnBrk="1" hangingPunct="1">
              <a:spcBef>
                <a:spcPct val="20000"/>
              </a:spcBef>
            </a:pPr>
            <a:r>
              <a:rPr lang="es-ES_tradnl" altLang="es-AR" sz="2000" dirty="0">
                <a:latin typeface="+mj-lt"/>
              </a:rPr>
              <a:t>Del mismo modo, el costo de producción de la mercadería vendida también es un Costo Estándar</a:t>
            </a:r>
            <a:r>
              <a:rPr lang="es-ES" altLang="es-AR" sz="2000" dirty="0">
                <a:latin typeface="+mj-lt"/>
              </a:rPr>
              <a:t> </a:t>
            </a:r>
            <a:r>
              <a:rPr lang="es-ES_tradnl" altLang="es-AR" sz="2000" dirty="0">
                <a:latin typeface="+mj-lt"/>
              </a:rPr>
              <a:t>.</a:t>
            </a:r>
            <a:endParaRPr lang="es-ES" altLang="es-AR" sz="2000" dirty="0">
              <a:latin typeface="+mj-lt"/>
            </a:endParaRPr>
          </a:p>
        </p:txBody>
      </p:sp>
      <p:sp>
        <p:nvSpPr>
          <p:cNvPr id="17415" name="Rectangle 7">
            <a:extLst>
              <a:ext uri="{FF2B5EF4-FFF2-40B4-BE49-F238E27FC236}">
                <a16:creationId xmlns:a16="http://schemas.microsoft.com/office/drawing/2014/main" id="{840ADE31-00E4-4B5A-AD43-B162D3C4269E}"/>
              </a:ext>
            </a:extLst>
          </p:cNvPr>
          <p:cNvSpPr>
            <a:spLocks noChangeArrowheads="1"/>
          </p:cNvSpPr>
          <p:nvPr/>
        </p:nvSpPr>
        <p:spPr bwMode="auto">
          <a:xfrm>
            <a:off x="1235073" y="4049714"/>
            <a:ext cx="9906000"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mj-lt"/>
              </a:rPr>
              <a:t>Como la realidad puede no coincidir con los estándares establecidos, se analizan las Variaciones, que pueden ser de precio (dado que el precio real no es el estándar) o de eficiencia (dado que el consumo específico del recurso no es el estándar).</a:t>
            </a:r>
            <a:endParaRPr lang="es-ES" altLang="es-AR" sz="2000" dirty="0">
              <a:latin typeface="+mj-lt"/>
            </a:endParaRPr>
          </a:p>
        </p:txBody>
      </p:sp>
      <p:sp>
        <p:nvSpPr>
          <p:cNvPr id="17438" name="Rectangle 30">
            <a:extLst>
              <a:ext uri="{FF2B5EF4-FFF2-40B4-BE49-F238E27FC236}">
                <a16:creationId xmlns:a16="http://schemas.microsoft.com/office/drawing/2014/main" id="{44A485A3-B70F-4270-B773-AC1B30A29C31}"/>
              </a:ext>
            </a:extLst>
          </p:cNvPr>
          <p:cNvSpPr>
            <a:spLocks noChangeArrowheads="1"/>
          </p:cNvSpPr>
          <p:nvPr/>
        </p:nvSpPr>
        <p:spPr bwMode="auto">
          <a:xfrm>
            <a:off x="1355724" y="3424238"/>
            <a:ext cx="9705975" cy="576262"/>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dirty="0">
                <a:solidFill>
                  <a:srgbClr val="CC3300"/>
                </a:solidFill>
                <a:latin typeface="+mj-lt"/>
              </a:rPr>
              <a:t>Costo STD = STD físico normal (cantidad) x STD variable (precio)</a:t>
            </a:r>
            <a:endParaRPr lang="es-ES" altLang="es-AR" sz="2000" dirty="0">
              <a:solidFill>
                <a:srgbClr val="CC3300"/>
              </a:solidFill>
              <a:latin typeface="+mj-lt"/>
            </a:endParaRPr>
          </a:p>
        </p:txBody>
      </p:sp>
      <p:sp>
        <p:nvSpPr>
          <p:cNvPr id="17444" name="Rectangle 36">
            <a:extLst>
              <a:ext uri="{FF2B5EF4-FFF2-40B4-BE49-F238E27FC236}">
                <a16:creationId xmlns:a16="http://schemas.microsoft.com/office/drawing/2014/main" id="{29D6CA50-62C1-4DC8-8DEF-C31F27B0656F}"/>
              </a:ext>
            </a:extLst>
          </p:cNvPr>
          <p:cNvSpPr>
            <a:spLocks noChangeArrowheads="1"/>
          </p:cNvSpPr>
          <p:nvPr/>
        </p:nvSpPr>
        <p:spPr bwMode="auto">
          <a:xfrm>
            <a:off x="2243137" y="5578476"/>
            <a:ext cx="7705725" cy="576263"/>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pPr>
            <a:r>
              <a:rPr lang="es-AR" altLang="es-AR" sz="2000" dirty="0">
                <a:solidFill>
                  <a:srgbClr val="CC3300"/>
                </a:solidFill>
                <a:latin typeface="+mj-lt"/>
              </a:rPr>
              <a:t>Variaciones en STD = Costo STD – Costo Real </a:t>
            </a:r>
            <a:endParaRPr lang="es-ES" altLang="es-AR" sz="2000" dirty="0">
              <a:solidFill>
                <a:srgbClr val="CC3300"/>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7438"/>
                                        </p:tgtEl>
                                        <p:attrNameLst>
                                          <p:attrName>style.visibility</p:attrName>
                                        </p:attrNameLst>
                                      </p:cBhvr>
                                      <p:to>
                                        <p:strVal val="visible"/>
                                      </p:to>
                                    </p:set>
                                    <p:animEffect transition="in" filter="blinds(horizontal)">
                                      <p:cBhvr>
                                        <p:cTn id="19" dur="500"/>
                                        <p:tgtEl>
                                          <p:spTgt spid="1743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7444"/>
                                        </p:tgtEl>
                                        <p:attrNameLst>
                                          <p:attrName>style.visibility</p:attrName>
                                        </p:attrNameLst>
                                      </p:cBhvr>
                                      <p:to>
                                        <p:strVal val="visible"/>
                                      </p:to>
                                    </p:set>
                                    <p:animEffect transition="in" filter="blinds(horizontal)">
                                      <p:cBhvr>
                                        <p:cTn id="22" dur="500"/>
                                        <p:tgtEl>
                                          <p:spTgt spid="17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P spid="17414" grpId="0"/>
      <p:bldP spid="17415" grpId="0"/>
      <p:bldP spid="17438" grpId="0" animBg="1"/>
      <p:bldP spid="1744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Rectangle 6">
            <a:extLst>
              <a:ext uri="{FF2B5EF4-FFF2-40B4-BE49-F238E27FC236}">
                <a16:creationId xmlns:a16="http://schemas.microsoft.com/office/drawing/2014/main" id="{97A8BF9E-DC9A-4CA5-B540-490F377063B8}"/>
              </a:ext>
            </a:extLst>
          </p:cNvPr>
          <p:cNvSpPr>
            <a:spLocks noChangeArrowheads="1"/>
          </p:cNvSpPr>
          <p:nvPr/>
        </p:nvSpPr>
        <p:spPr bwMode="auto">
          <a:xfrm>
            <a:off x="1127125" y="3193026"/>
            <a:ext cx="9906000" cy="158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mj-lt"/>
              </a:rPr>
              <a:t>De esta forma y según la especificación del producto a costear (elaborada por Ingeniería de Producto o Industrial de Planta) tendremos, para las materias primas o materiales, una determinada cantidad expresada en unidades, kg, litros, etc. contenidos en la unidad de producto final en la unidad que éste se exprese</a:t>
            </a:r>
            <a:r>
              <a:rPr lang="es-AR" altLang="es-AR" sz="2000" dirty="0">
                <a:latin typeface="+mj-lt"/>
              </a:rPr>
              <a:t>.</a:t>
            </a:r>
            <a:endParaRPr lang="es-ES" altLang="es-AR" sz="2000" dirty="0">
              <a:latin typeface="+mj-lt"/>
            </a:endParaRPr>
          </a:p>
        </p:txBody>
      </p:sp>
      <p:sp>
        <p:nvSpPr>
          <p:cNvPr id="21511" name="Text Box 7">
            <a:extLst>
              <a:ext uri="{FF2B5EF4-FFF2-40B4-BE49-F238E27FC236}">
                <a16:creationId xmlns:a16="http://schemas.microsoft.com/office/drawing/2014/main" id="{2D6E9D03-29D4-42CB-B090-FBFAA0D830F1}"/>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FIJACIÓN DE ESTANDAR</a:t>
            </a:r>
          </a:p>
        </p:txBody>
      </p:sp>
      <p:sp>
        <p:nvSpPr>
          <p:cNvPr id="21513" name="Rectangle 9">
            <a:extLst>
              <a:ext uri="{FF2B5EF4-FFF2-40B4-BE49-F238E27FC236}">
                <a16:creationId xmlns:a16="http://schemas.microsoft.com/office/drawing/2014/main" id="{69EEB25D-C191-4F57-97EA-E1DB726EEE8E}"/>
              </a:ext>
            </a:extLst>
          </p:cNvPr>
          <p:cNvSpPr>
            <a:spLocks noChangeArrowheads="1"/>
          </p:cNvSpPr>
          <p:nvPr/>
        </p:nvSpPr>
        <p:spPr bwMode="auto">
          <a:xfrm>
            <a:off x="1127125" y="1125539"/>
            <a:ext cx="9906000"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AR" sz="2000" b="1" u="sng" dirty="0">
                <a:effectLst>
                  <a:outerShdw blurRad="38100" dist="38100" dir="2700000" algn="tl">
                    <a:srgbClr val="C0C0C0"/>
                  </a:outerShdw>
                </a:effectLst>
                <a:latin typeface="+mj-lt"/>
                <a:cs typeface="Arial" charset="0"/>
              </a:rPr>
              <a:t>Estándar de Materia Prima</a:t>
            </a:r>
            <a:r>
              <a:rPr lang="es-AR" sz="2000" dirty="0">
                <a:latin typeface="+mj-lt"/>
                <a:cs typeface="Arial" charset="0"/>
              </a:rPr>
              <a:t>: </a:t>
            </a:r>
          </a:p>
          <a:p>
            <a:pPr marL="174625" algn="just">
              <a:spcBef>
                <a:spcPct val="20000"/>
              </a:spcBef>
              <a:defRPr/>
            </a:pPr>
            <a:endParaRPr lang="es-AR" sz="2000" dirty="0">
              <a:latin typeface="+mj-lt"/>
              <a:cs typeface="Arial" charset="0"/>
            </a:endParaRPr>
          </a:p>
          <a:p>
            <a:pPr marL="174625" algn="just">
              <a:spcBef>
                <a:spcPct val="20000"/>
              </a:spcBef>
              <a:defRPr/>
            </a:pPr>
            <a:r>
              <a:rPr lang="es-AR" sz="2000" dirty="0">
                <a:latin typeface="+mj-lt"/>
                <a:cs typeface="Arial" charset="0"/>
              </a:rPr>
              <a:t>Se determina en base al producto del estándar físico o cantidad por el valor estándar o precio.</a:t>
            </a:r>
            <a:endParaRPr lang="es-ES" sz="2000" dirty="0">
              <a:latin typeface="+mj-lt"/>
              <a:cs typeface="Arial" charset="0"/>
            </a:endParaRPr>
          </a:p>
        </p:txBody>
      </p:sp>
      <p:sp>
        <p:nvSpPr>
          <p:cNvPr id="3" name="Marcador de número de diapositiva 2">
            <a:extLst>
              <a:ext uri="{FF2B5EF4-FFF2-40B4-BE49-F238E27FC236}">
                <a16:creationId xmlns:a16="http://schemas.microsoft.com/office/drawing/2014/main" id="{4E658177-D9FD-4D60-B5C5-DA701AAA0A7B}"/>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p:bldP spid="215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Text Box 7">
            <a:extLst>
              <a:ext uri="{FF2B5EF4-FFF2-40B4-BE49-F238E27FC236}">
                <a16:creationId xmlns:a16="http://schemas.microsoft.com/office/drawing/2014/main" id="{2D6E9D03-29D4-42CB-B090-FBFAA0D830F1}"/>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FIJACIÓN DE ESTANDAR</a:t>
            </a:r>
          </a:p>
        </p:txBody>
      </p:sp>
      <p:sp>
        <p:nvSpPr>
          <p:cNvPr id="21517" name="Rectangle 13">
            <a:extLst>
              <a:ext uri="{FF2B5EF4-FFF2-40B4-BE49-F238E27FC236}">
                <a16:creationId xmlns:a16="http://schemas.microsoft.com/office/drawing/2014/main" id="{42A6B6D1-8A02-4A18-B10A-589D31CAF582}"/>
              </a:ext>
            </a:extLst>
          </p:cNvPr>
          <p:cNvSpPr>
            <a:spLocks noChangeArrowheads="1"/>
          </p:cNvSpPr>
          <p:nvPr/>
        </p:nvSpPr>
        <p:spPr bwMode="auto">
          <a:xfrm>
            <a:off x="1143000" y="1674864"/>
            <a:ext cx="9906000" cy="158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mj-lt"/>
              </a:rPr>
              <a:t>El precio estándar definido por el área de abastecimiento se expresará en $/ unidad de medida de la materia prima o material utilizado en el producto. De la multiplicación de ambos surgirá el costo estándar para la materia prima</a:t>
            </a:r>
            <a:r>
              <a:rPr lang="es-ES" altLang="es-AR" sz="2000" dirty="0">
                <a:latin typeface="+mj-lt"/>
              </a:rPr>
              <a:t> </a:t>
            </a:r>
            <a:r>
              <a:rPr lang="es-AR" altLang="es-AR" sz="2000" dirty="0">
                <a:latin typeface="+mj-lt"/>
              </a:rPr>
              <a:t>.</a:t>
            </a:r>
            <a:endParaRPr lang="es-ES" altLang="es-AR" sz="2000" dirty="0">
              <a:latin typeface="+mj-lt"/>
            </a:endParaRPr>
          </a:p>
        </p:txBody>
      </p:sp>
      <p:sp>
        <p:nvSpPr>
          <p:cNvPr id="21518" name="Rectangle 14">
            <a:extLst>
              <a:ext uri="{FF2B5EF4-FFF2-40B4-BE49-F238E27FC236}">
                <a16:creationId xmlns:a16="http://schemas.microsoft.com/office/drawing/2014/main" id="{42797B52-7ADA-497E-B32F-17440F4B9B14}"/>
              </a:ext>
            </a:extLst>
          </p:cNvPr>
          <p:cNvSpPr>
            <a:spLocks noChangeArrowheads="1"/>
          </p:cNvSpPr>
          <p:nvPr/>
        </p:nvSpPr>
        <p:spPr bwMode="auto">
          <a:xfrm>
            <a:off x="2074606" y="3942736"/>
            <a:ext cx="8278762" cy="512762"/>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dirty="0">
                <a:solidFill>
                  <a:srgbClr val="CC3300"/>
                </a:solidFill>
                <a:latin typeface="+mj-lt"/>
              </a:rPr>
              <a:t>Costo STD de M.P.  = Cantidad </a:t>
            </a:r>
            <a:r>
              <a:rPr lang="es-AR" altLang="es-AR" sz="2000" dirty="0" err="1">
                <a:solidFill>
                  <a:srgbClr val="CC3300"/>
                </a:solidFill>
                <a:latin typeface="+mj-lt"/>
              </a:rPr>
              <a:t>unit</a:t>
            </a:r>
            <a:r>
              <a:rPr lang="es-AR" altLang="es-AR" sz="2000" dirty="0">
                <a:solidFill>
                  <a:srgbClr val="CC3300"/>
                </a:solidFill>
                <a:latin typeface="+mj-lt"/>
              </a:rPr>
              <a:t> STD M.P. x Costo </a:t>
            </a:r>
            <a:r>
              <a:rPr lang="es-AR" altLang="es-AR" sz="2000" dirty="0" err="1">
                <a:solidFill>
                  <a:srgbClr val="CC3300"/>
                </a:solidFill>
                <a:latin typeface="+mj-lt"/>
              </a:rPr>
              <a:t>unit</a:t>
            </a:r>
            <a:r>
              <a:rPr lang="es-AR" altLang="es-AR" sz="2000" dirty="0">
                <a:solidFill>
                  <a:srgbClr val="CC3300"/>
                </a:solidFill>
                <a:latin typeface="+mj-lt"/>
              </a:rPr>
              <a:t> STD M.P.</a:t>
            </a:r>
            <a:endParaRPr lang="es-ES" altLang="es-AR" sz="2000" dirty="0">
              <a:solidFill>
                <a:srgbClr val="CC3300"/>
              </a:solidFill>
              <a:latin typeface="+mj-lt"/>
            </a:endParaRPr>
          </a:p>
        </p:txBody>
      </p:sp>
      <p:sp>
        <p:nvSpPr>
          <p:cNvPr id="3" name="Marcador de número de diapositiva 2">
            <a:extLst>
              <a:ext uri="{FF2B5EF4-FFF2-40B4-BE49-F238E27FC236}">
                <a16:creationId xmlns:a16="http://schemas.microsoft.com/office/drawing/2014/main" id="{4E658177-D9FD-4D60-B5C5-DA701AAA0A7B}"/>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21662520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21518"/>
                                        </p:tgtEl>
                                        <p:attrNameLst>
                                          <p:attrName>style.visibility</p:attrName>
                                        </p:attrNameLst>
                                      </p:cBhvr>
                                      <p:to>
                                        <p:strVal val="visible"/>
                                      </p:to>
                                    </p:set>
                                    <p:animEffect transition="in" filter="wipe(down)">
                                      <p:cBhvr>
                                        <p:cTn id="11" dur="500"/>
                                        <p:tgtEl>
                                          <p:spTgt spid="21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7" grpId="0"/>
      <p:bldP spid="215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4">
            <a:extLst>
              <a:ext uri="{FF2B5EF4-FFF2-40B4-BE49-F238E27FC236}">
                <a16:creationId xmlns:a16="http://schemas.microsoft.com/office/drawing/2014/main" id="{4CFE4972-4204-43DC-A88B-45749DE4C250}"/>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FIJACIÓN DE ESTANDAR</a:t>
            </a:r>
          </a:p>
        </p:txBody>
      </p:sp>
      <p:sp>
        <p:nvSpPr>
          <p:cNvPr id="11276" name="Rectangle 12">
            <a:extLst>
              <a:ext uri="{FF2B5EF4-FFF2-40B4-BE49-F238E27FC236}">
                <a16:creationId xmlns:a16="http://schemas.microsoft.com/office/drawing/2014/main" id="{03CC88B0-3FD4-4876-8FD6-034237605742}"/>
              </a:ext>
            </a:extLst>
          </p:cNvPr>
          <p:cNvSpPr>
            <a:spLocks noChangeArrowheads="1"/>
          </p:cNvSpPr>
          <p:nvPr/>
        </p:nvSpPr>
        <p:spPr bwMode="auto">
          <a:xfrm>
            <a:off x="1143000" y="1193801"/>
            <a:ext cx="9906000"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Century Gothic" panose="020B0502020202020204" pitchFamily="34" charset="0"/>
              </a:rPr>
              <a:t>Las cantidades de materiales se establecen de acuerdo a especificaciones y deben contemplar las ineficiencias (mermas, desperdicios, recortes y rechazos por fallas de fabricación).</a:t>
            </a:r>
            <a:endParaRPr lang="es-ES" altLang="es-AR" sz="2000" dirty="0">
              <a:latin typeface="Century Gothic" panose="020B0502020202020204" pitchFamily="34" charset="0"/>
            </a:endParaRPr>
          </a:p>
        </p:txBody>
      </p:sp>
      <p:graphicFrame>
        <p:nvGraphicFramePr>
          <p:cNvPr id="11277" name="Object 13">
            <a:extLst>
              <a:ext uri="{FF2B5EF4-FFF2-40B4-BE49-F238E27FC236}">
                <a16:creationId xmlns:a16="http://schemas.microsoft.com/office/drawing/2014/main" id="{F0D3CA36-F018-4BC3-852B-3D5DFAC805A9}"/>
              </a:ext>
            </a:extLst>
          </p:cNvPr>
          <p:cNvGraphicFramePr>
            <a:graphicFrameLocks noGrp="1" noChangeAspect="1"/>
          </p:cNvGraphicFramePr>
          <p:nvPr>
            <p:ph/>
            <p:extLst>
              <p:ext uri="{D42A27DB-BD31-4B8C-83A1-F6EECF244321}">
                <p14:modId xmlns:p14="http://schemas.microsoft.com/office/powerpoint/2010/main" val="652760455"/>
              </p:ext>
            </p:extLst>
          </p:nvPr>
        </p:nvGraphicFramePr>
        <p:xfrm>
          <a:off x="1531938" y="4572000"/>
          <a:ext cx="9690100" cy="690563"/>
        </p:xfrm>
        <a:graphic>
          <a:graphicData uri="http://schemas.openxmlformats.org/presentationml/2006/ole">
            <mc:AlternateContent xmlns:mc="http://schemas.openxmlformats.org/markup-compatibility/2006">
              <mc:Choice xmlns:v="urn:schemas-microsoft-com:vml" Requires="v">
                <p:oleObj name="Ecuación" r:id="rId2" imgW="5880100" imgH="419100" progId="Equation.3">
                  <p:embed/>
                </p:oleObj>
              </mc:Choice>
              <mc:Fallback>
                <p:oleObj name="Ecuación" r:id="rId2" imgW="5880100" imgH="419100" progId="Equation.3">
                  <p:embed/>
                  <p:pic>
                    <p:nvPicPr>
                      <p:cNvPr id="11277" name="Object 13">
                        <a:extLst>
                          <a:ext uri="{FF2B5EF4-FFF2-40B4-BE49-F238E27FC236}">
                            <a16:creationId xmlns:a16="http://schemas.microsoft.com/office/drawing/2014/main" id="{F0D3CA36-F018-4BC3-852B-3D5DFAC805A9}"/>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8" y="4572000"/>
                        <a:ext cx="9690100"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30" name="Rectangle 66">
            <a:extLst>
              <a:ext uri="{FF2B5EF4-FFF2-40B4-BE49-F238E27FC236}">
                <a16:creationId xmlns:a16="http://schemas.microsoft.com/office/drawing/2014/main" id="{7344EDFC-4C5D-49D1-9D42-E4E586507CF9}"/>
              </a:ext>
            </a:extLst>
          </p:cNvPr>
          <p:cNvSpPr>
            <a:spLocks noChangeArrowheads="1"/>
          </p:cNvSpPr>
          <p:nvPr/>
        </p:nvSpPr>
        <p:spPr bwMode="auto">
          <a:xfrm>
            <a:off x="1143000" y="2992438"/>
            <a:ext cx="990600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Century Gothic" panose="020B0502020202020204" pitchFamily="34" charset="0"/>
              </a:rPr>
              <a:t>Es decir, para una materia prima que se integre al producto en </a:t>
            </a:r>
            <a:r>
              <a:rPr lang="es-ES_tradnl" altLang="es-AR" sz="2000" dirty="0" err="1">
                <a:latin typeface="Century Gothic" panose="020B0502020202020204" pitchFamily="34" charset="0"/>
              </a:rPr>
              <a:t>Kgr</a:t>
            </a:r>
            <a:r>
              <a:rPr lang="es-ES_tradnl" altLang="es-AR" sz="2000" dirty="0">
                <a:latin typeface="Century Gothic" panose="020B0502020202020204" pitchFamily="34" charset="0"/>
              </a:rPr>
              <a:t>/unidad y cuyo precio estándar se exprese en $/ Kg, el costo será:</a:t>
            </a:r>
            <a:endParaRPr lang="es-ES" altLang="es-AR" sz="2000" dirty="0">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3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11277"/>
                                        </p:tgtEl>
                                        <p:attrNameLst>
                                          <p:attrName>style.visibility</p:attrName>
                                        </p:attrNameLst>
                                      </p:cBhvr>
                                      <p:to>
                                        <p:strVal val="visible"/>
                                      </p:to>
                                    </p:set>
                                    <p:animEffect transition="in" filter="wipe(down)">
                                      <p:cBhvr>
                                        <p:cTn id="15" dur="500"/>
                                        <p:tgtEl>
                                          <p:spTgt spid="11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6" grpId="0"/>
      <p:bldP spid="1133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8" name="Rectangle 10">
            <a:extLst>
              <a:ext uri="{FF2B5EF4-FFF2-40B4-BE49-F238E27FC236}">
                <a16:creationId xmlns:a16="http://schemas.microsoft.com/office/drawing/2014/main" id="{E445BE35-EC54-4FBC-A267-82B9991CC784}"/>
              </a:ext>
            </a:extLst>
          </p:cNvPr>
          <p:cNvSpPr>
            <a:spLocks noChangeArrowheads="1"/>
          </p:cNvSpPr>
          <p:nvPr/>
        </p:nvSpPr>
        <p:spPr bwMode="auto">
          <a:xfrm>
            <a:off x="1313938" y="1381177"/>
            <a:ext cx="9906000" cy="3121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AR" sz="2000" b="1" u="sng" dirty="0">
                <a:effectLst>
                  <a:outerShdw blurRad="38100" dist="38100" dir="2700000" algn="tl">
                    <a:srgbClr val="C0C0C0"/>
                  </a:outerShdw>
                </a:effectLst>
                <a:latin typeface="Century Gothic" panose="020B0502020202020204" pitchFamily="34" charset="0"/>
                <a:cs typeface="Arial" charset="0"/>
              </a:rPr>
              <a:t>Estándar de Mano de Obra Directa</a:t>
            </a:r>
            <a:r>
              <a:rPr lang="es-AR" sz="2000" b="1" dirty="0">
                <a:latin typeface="Century Gothic" panose="020B0502020202020204" pitchFamily="34" charset="0"/>
                <a:cs typeface="Arial" charset="0"/>
              </a:rPr>
              <a:t>: </a:t>
            </a:r>
          </a:p>
          <a:p>
            <a:pPr marL="174625" algn="just">
              <a:spcBef>
                <a:spcPct val="20000"/>
              </a:spcBef>
              <a:defRPr/>
            </a:pPr>
            <a:endParaRPr lang="es-AR" sz="2000" dirty="0">
              <a:latin typeface="Century Gothic" panose="020B0502020202020204" pitchFamily="34" charset="0"/>
              <a:cs typeface="Arial" charset="0"/>
            </a:endParaRPr>
          </a:p>
          <a:p>
            <a:pPr marL="174625" algn="just">
              <a:spcBef>
                <a:spcPct val="20000"/>
              </a:spcBef>
              <a:defRPr/>
            </a:pPr>
            <a:r>
              <a:rPr lang="es-AR" sz="2000" dirty="0">
                <a:latin typeface="Century Gothic" panose="020B0502020202020204" pitchFamily="34" charset="0"/>
                <a:cs typeface="Arial" charset="0"/>
              </a:rPr>
              <a:t>Se determina en base al producto del tiempo estándar por el valor estándar de los salarios. </a:t>
            </a:r>
          </a:p>
          <a:p>
            <a:pPr marL="174625" algn="just">
              <a:spcBef>
                <a:spcPct val="20000"/>
              </a:spcBef>
              <a:defRPr/>
            </a:pPr>
            <a:endParaRPr lang="es-AR" sz="2000" dirty="0">
              <a:latin typeface="Century Gothic" panose="020B0502020202020204" pitchFamily="34" charset="0"/>
              <a:cs typeface="Arial" charset="0"/>
            </a:endParaRPr>
          </a:p>
          <a:p>
            <a:pPr marL="174625" algn="just">
              <a:spcBef>
                <a:spcPct val="20000"/>
              </a:spcBef>
              <a:defRPr/>
            </a:pPr>
            <a:r>
              <a:rPr lang="es-AR" sz="2000" dirty="0">
                <a:latin typeface="Century Gothic" panose="020B0502020202020204" pitchFamily="34" charset="0"/>
                <a:cs typeface="Arial" charset="0"/>
              </a:rPr>
              <a:t>La determinación de los tiempos estándar de fabricación de cada producto debe estar precedida por la normalización de las operaciones productivas y a la determinación de las horas-máquina.</a:t>
            </a:r>
            <a:endParaRPr lang="es-ES" sz="2000" dirty="0">
              <a:latin typeface="Century Gothic" panose="020B0502020202020204" pitchFamily="34" charset="0"/>
              <a:cs typeface="Arial" charset="0"/>
            </a:endParaRPr>
          </a:p>
        </p:txBody>
      </p:sp>
      <p:sp>
        <p:nvSpPr>
          <p:cNvPr id="12300" name="Text Box 12">
            <a:extLst>
              <a:ext uri="{FF2B5EF4-FFF2-40B4-BE49-F238E27FC236}">
                <a16:creationId xmlns:a16="http://schemas.microsoft.com/office/drawing/2014/main" id="{1D9BC7D2-C366-45A9-91F0-52C78A4C4922}"/>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FIJACIÓN DE ESTANDARD</a:t>
            </a:r>
          </a:p>
        </p:txBody>
      </p:sp>
      <p:sp>
        <p:nvSpPr>
          <p:cNvPr id="12301" name="Rectangle 13">
            <a:extLst>
              <a:ext uri="{FF2B5EF4-FFF2-40B4-BE49-F238E27FC236}">
                <a16:creationId xmlns:a16="http://schemas.microsoft.com/office/drawing/2014/main" id="{DFAD98F1-D0CA-4C8D-BA23-2E10E57F60DF}"/>
              </a:ext>
            </a:extLst>
          </p:cNvPr>
          <p:cNvSpPr>
            <a:spLocks noChangeArrowheads="1"/>
          </p:cNvSpPr>
          <p:nvPr/>
        </p:nvSpPr>
        <p:spPr bwMode="auto">
          <a:xfrm>
            <a:off x="1968912" y="5084252"/>
            <a:ext cx="8581102" cy="576262"/>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dirty="0">
                <a:solidFill>
                  <a:srgbClr val="CC3300"/>
                </a:solidFill>
                <a:latin typeface="Century Gothic" panose="020B0502020202020204" pitchFamily="34" charset="0"/>
              </a:rPr>
              <a:t>Costo STD de M.O.D. = Tiempo </a:t>
            </a:r>
            <a:r>
              <a:rPr lang="es-AR" altLang="es-AR" sz="2000" dirty="0" err="1">
                <a:solidFill>
                  <a:srgbClr val="CC3300"/>
                </a:solidFill>
                <a:latin typeface="Century Gothic" panose="020B0502020202020204" pitchFamily="34" charset="0"/>
              </a:rPr>
              <a:t>unit</a:t>
            </a:r>
            <a:r>
              <a:rPr lang="es-AR" altLang="es-AR" sz="2000" dirty="0">
                <a:solidFill>
                  <a:srgbClr val="CC3300"/>
                </a:solidFill>
                <a:latin typeface="Century Gothic" panose="020B0502020202020204" pitchFamily="34" charset="0"/>
              </a:rPr>
              <a:t> STD MOD x Costo </a:t>
            </a:r>
            <a:r>
              <a:rPr lang="es-AR" altLang="es-AR" sz="2000" dirty="0" err="1">
                <a:solidFill>
                  <a:srgbClr val="CC3300"/>
                </a:solidFill>
                <a:latin typeface="Century Gothic" panose="020B0502020202020204" pitchFamily="34" charset="0"/>
              </a:rPr>
              <a:t>unit</a:t>
            </a:r>
            <a:r>
              <a:rPr lang="es-AR" altLang="es-AR" sz="2000" dirty="0">
                <a:solidFill>
                  <a:srgbClr val="CC3300"/>
                </a:solidFill>
                <a:latin typeface="Century Gothic" panose="020B0502020202020204" pitchFamily="34" charset="0"/>
              </a:rPr>
              <a:t> STD MOD</a:t>
            </a:r>
            <a:endParaRPr lang="es-ES" altLang="es-AR" sz="2000" dirty="0">
              <a:solidFill>
                <a:srgbClr val="CC3300"/>
              </a:solidFill>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2301"/>
                                        </p:tgtEl>
                                        <p:attrNameLst>
                                          <p:attrName>style.visibility</p:attrName>
                                        </p:attrNameLst>
                                      </p:cBhvr>
                                      <p:to>
                                        <p:strVal val="visible"/>
                                      </p:to>
                                    </p:set>
                                    <p:animEffect transition="in" filter="wipe(down)">
                                      <p:cBhvr>
                                        <p:cTn id="11" dur="500"/>
                                        <p:tgtEl>
                                          <p:spTgt spid="12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8" grpId="0"/>
      <p:bldP spid="1230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0" name="Text Box 12">
            <a:extLst>
              <a:ext uri="{FF2B5EF4-FFF2-40B4-BE49-F238E27FC236}">
                <a16:creationId xmlns:a16="http://schemas.microsoft.com/office/drawing/2014/main" id="{1D9BC7D2-C366-45A9-91F0-52C78A4C4922}"/>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FIJACIÓN DE ESTANDARD</a:t>
            </a:r>
          </a:p>
        </p:txBody>
      </p:sp>
      <p:sp>
        <p:nvSpPr>
          <p:cNvPr id="12303" name="Rectangle 15">
            <a:extLst>
              <a:ext uri="{FF2B5EF4-FFF2-40B4-BE49-F238E27FC236}">
                <a16:creationId xmlns:a16="http://schemas.microsoft.com/office/drawing/2014/main" id="{2BB2C63E-0232-489C-8783-2947AE27597A}"/>
              </a:ext>
            </a:extLst>
          </p:cNvPr>
          <p:cNvSpPr>
            <a:spLocks noChangeArrowheads="1"/>
          </p:cNvSpPr>
          <p:nvPr/>
        </p:nvSpPr>
        <p:spPr bwMode="auto">
          <a:xfrm>
            <a:off x="1143000" y="1983248"/>
            <a:ext cx="9906000"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Century Gothic" panose="020B0502020202020204" pitchFamily="34" charset="0"/>
              </a:rPr>
              <a:t>Es decir que el costo estándar definirá una cantidad de horas estándar aplicadas a la producción de la unidad de producto y una tarifa definida como estándar asociada a una categoría de operario y definida para cada categoría (en este caso debemos descomponer las horas estándar por cada una de ellas).</a:t>
            </a:r>
            <a:r>
              <a:rPr lang="es-ES" altLang="es-AR" sz="2000" dirty="0">
                <a:latin typeface="Century Gothic" panose="020B0502020202020204" pitchFamily="34" charset="0"/>
              </a:rPr>
              <a:t> </a:t>
            </a:r>
          </a:p>
        </p:txBody>
      </p:sp>
      <p:graphicFrame>
        <p:nvGraphicFramePr>
          <p:cNvPr id="12304" name="Object 16">
            <a:extLst>
              <a:ext uri="{FF2B5EF4-FFF2-40B4-BE49-F238E27FC236}">
                <a16:creationId xmlns:a16="http://schemas.microsoft.com/office/drawing/2014/main" id="{9B935F93-0838-447D-BD36-F27C8C75BBE5}"/>
              </a:ext>
            </a:extLst>
          </p:cNvPr>
          <p:cNvGraphicFramePr>
            <a:graphicFrameLocks noGrp="1" noChangeAspect="1"/>
          </p:cNvGraphicFramePr>
          <p:nvPr>
            <p:ph/>
            <p:extLst>
              <p:ext uri="{D42A27DB-BD31-4B8C-83A1-F6EECF244321}">
                <p14:modId xmlns:p14="http://schemas.microsoft.com/office/powerpoint/2010/main" val="1900335032"/>
              </p:ext>
            </p:extLst>
          </p:nvPr>
        </p:nvGraphicFramePr>
        <p:xfrm>
          <a:off x="1271587" y="4279234"/>
          <a:ext cx="9777413" cy="658812"/>
        </p:xfrm>
        <a:graphic>
          <a:graphicData uri="http://schemas.openxmlformats.org/presentationml/2006/ole">
            <mc:AlternateContent xmlns:mc="http://schemas.openxmlformats.org/markup-compatibility/2006">
              <mc:Choice xmlns:v="urn:schemas-microsoft-com:vml" Requires="v">
                <p:oleObj name="Ecuación" r:id="rId2" imgW="5842000" imgH="393700" progId="Equation.3">
                  <p:embed/>
                </p:oleObj>
              </mc:Choice>
              <mc:Fallback>
                <p:oleObj name="Ecuación" r:id="rId2" imgW="5842000" imgH="393700" progId="Equation.3">
                  <p:embed/>
                  <p:pic>
                    <p:nvPicPr>
                      <p:cNvPr id="12304" name="Object 16">
                        <a:extLst>
                          <a:ext uri="{FF2B5EF4-FFF2-40B4-BE49-F238E27FC236}">
                            <a16:creationId xmlns:a16="http://schemas.microsoft.com/office/drawing/2014/main" id="{9B935F93-0838-447D-BD36-F27C8C75BBE5}"/>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587" y="4279234"/>
                        <a:ext cx="9777413" cy="65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027911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303"/>
                                        </p:tgtEl>
                                        <p:attrNameLst>
                                          <p:attrName>style.visibility</p:attrName>
                                        </p:attrNameLst>
                                      </p:cBhvr>
                                      <p:to>
                                        <p:strVal val="visible"/>
                                      </p:to>
                                    </p:set>
                                    <p:animEffect transition="in" filter="wipe(down)">
                                      <p:cBhvr>
                                        <p:cTn id="7" dur="500"/>
                                        <p:tgtEl>
                                          <p:spTgt spid="123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2304"/>
                                        </p:tgtEl>
                                        <p:attrNameLst>
                                          <p:attrName>style.visibility</p:attrName>
                                        </p:attrNameLst>
                                      </p:cBhvr>
                                      <p:to>
                                        <p:strVal val="visible"/>
                                      </p:to>
                                    </p:set>
                                    <p:animEffect transition="in" filter="wipe(down)">
                                      <p:cBhvr>
                                        <p:cTn id="12" dur="500"/>
                                        <p:tgtEl>
                                          <p:spTgt spid="12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4">
            <a:extLst>
              <a:ext uri="{FF2B5EF4-FFF2-40B4-BE49-F238E27FC236}">
                <a16:creationId xmlns:a16="http://schemas.microsoft.com/office/drawing/2014/main" id="{238A949D-2851-48B2-96DF-ED761F3F7DA3}"/>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FIJACIÓN DE ESTANDARD</a:t>
            </a:r>
          </a:p>
        </p:txBody>
      </p:sp>
      <p:sp>
        <p:nvSpPr>
          <p:cNvPr id="23557" name="Rectangle 5">
            <a:extLst>
              <a:ext uri="{FF2B5EF4-FFF2-40B4-BE49-F238E27FC236}">
                <a16:creationId xmlns:a16="http://schemas.microsoft.com/office/drawing/2014/main" id="{59755316-36A7-49EA-BE5D-0F56202F5256}"/>
              </a:ext>
            </a:extLst>
          </p:cNvPr>
          <p:cNvSpPr>
            <a:spLocks noChangeArrowheads="1"/>
          </p:cNvSpPr>
          <p:nvPr/>
        </p:nvSpPr>
        <p:spPr bwMode="auto">
          <a:xfrm>
            <a:off x="1311579" y="1533526"/>
            <a:ext cx="9906000" cy="3736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AR" sz="2000" b="1" u="sng" dirty="0">
                <a:effectLst>
                  <a:outerShdw blurRad="38100" dist="38100" dir="2700000" algn="tl">
                    <a:srgbClr val="C0C0C0"/>
                  </a:outerShdw>
                </a:effectLst>
                <a:latin typeface="Century Gothic" panose="020B0502020202020204" pitchFamily="34" charset="0"/>
                <a:cs typeface="Arial" charset="0"/>
              </a:rPr>
              <a:t>Estándar de Gastos Indirectos de Fabricación</a:t>
            </a:r>
            <a:r>
              <a:rPr lang="es-AR" sz="2000" b="1" dirty="0">
                <a:latin typeface="Century Gothic" panose="020B0502020202020204" pitchFamily="34" charset="0"/>
                <a:cs typeface="Arial" charset="0"/>
              </a:rPr>
              <a:t>:</a:t>
            </a:r>
          </a:p>
          <a:p>
            <a:pPr marL="174625" algn="just">
              <a:spcBef>
                <a:spcPct val="20000"/>
              </a:spcBef>
              <a:defRPr/>
            </a:pPr>
            <a:r>
              <a:rPr lang="es-AR" sz="2000" dirty="0">
                <a:latin typeface="Century Gothic" panose="020B0502020202020204" pitchFamily="34" charset="0"/>
                <a:cs typeface="Arial" charset="0"/>
              </a:rPr>
              <a:t> </a:t>
            </a:r>
          </a:p>
          <a:p>
            <a:pPr marL="174625" algn="just">
              <a:spcBef>
                <a:spcPct val="20000"/>
              </a:spcBef>
              <a:defRPr/>
            </a:pPr>
            <a:r>
              <a:rPr lang="es-ES_tradnl" sz="2000" dirty="0">
                <a:latin typeface="Century Gothic" panose="020B0502020202020204" pitchFamily="34" charset="0"/>
                <a:cs typeface="Arial" charset="0"/>
              </a:rPr>
              <a:t>Su estructura es semejante al estándar de MOD ya que en la mayoría de los casos se aplica con el mismo estándar físico [$/HH, $/HM o %], y la tarifa es reemplazada por la Cuota de Asignación o aplicación de gastos indirectos.</a:t>
            </a:r>
          </a:p>
          <a:p>
            <a:pPr marL="174625" algn="just">
              <a:spcBef>
                <a:spcPct val="20000"/>
              </a:spcBef>
              <a:defRPr/>
            </a:pPr>
            <a:endParaRPr lang="es-ES_tradnl" sz="2000" dirty="0">
              <a:latin typeface="Century Gothic" panose="020B0502020202020204" pitchFamily="34" charset="0"/>
              <a:cs typeface="Arial" charset="0"/>
            </a:endParaRPr>
          </a:p>
          <a:p>
            <a:pPr marL="174625" algn="just">
              <a:spcBef>
                <a:spcPct val="20000"/>
              </a:spcBef>
              <a:defRPr/>
            </a:pPr>
            <a:r>
              <a:rPr lang="es-AR" sz="2000" dirty="0">
                <a:latin typeface="Century Gothic" panose="020B0502020202020204" pitchFamily="34" charset="0"/>
                <a:cs typeface="Arial" charset="0"/>
              </a:rPr>
              <a:t>La cuota de gastos indirectos surge del cociente entre los gastos indirectos globales y el factor representativo de la producción que se tome como base de distribución.</a:t>
            </a:r>
          </a:p>
          <a:p>
            <a:pPr marL="174625" algn="just">
              <a:spcBef>
                <a:spcPct val="20000"/>
              </a:spcBef>
              <a:defRPr/>
            </a:pPr>
            <a:r>
              <a:rPr lang="es-AR" sz="2000" dirty="0">
                <a:latin typeface="Century Gothic" panose="020B0502020202020204" pitchFamily="34" charset="0"/>
                <a:cs typeface="Arial" charset="0"/>
              </a:rPr>
              <a:t> </a:t>
            </a:r>
          </a:p>
        </p:txBody>
      </p:sp>
      <p:sp>
        <p:nvSpPr>
          <p:cNvPr id="3" name="Marcador de número de diapositiva 2">
            <a:extLst>
              <a:ext uri="{FF2B5EF4-FFF2-40B4-BE49-F238E27FC236}">
                <a16:creationId xmlns:a16="http://schemas.microsoft.com/office/drawing/2014/main" id="{301A02FD-81E4-47AD-84DF-DE7F9D4D18C5}"/>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4">
            <a:extLst>
              <a:ext uri="{FF2B5EF4-FFF2-40B4-BE49-F238E27FC236}">
                <a16:creationId xmlns:a16="http://schemas.microsoft.com/office/drawing/2014/main" id="{238A949D-2851-48B2-96DF-ED761F3F7DA3}"/>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FIJACIÓN DE ESTANDARD</a:t>
            </a:r>
          </a:p>
        </p:txBody>
      </p:sp>
      <p:sp>
        <p:nvSpPr>
          <p:cNvPr id="23557" name="Rectangle 5">
            <a:extLst>
              <a:ext uri="{FF2B5EF4-FFF2-40B4-BE49-F238E27FC236}">
                <a16:creationId xmlns:a16="http://schemas.microsoft.com/office/drawing/2014/main" id="{59755316-36A7-49EA-BE5D-0F56202F5256}"/>
              </a:ext>
            </a:extLst>
          </p:cNvPr>
          <p:cNvSpPr>
            <a:spLocks noChangeArrowheads="1"/>
          </p:cNvSpPr>
          <p:nvPr/>
        </p:nvSpPr>
        <p:spPr bwMode="auto">
          <a:xfrm>
            <a:off x="1143000" y="1310610"/>
            <a:ext cx="9906000" cy="3425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AR" sz="2000" dirty="0">
                <a:latin typeface="Century Gothic" panose="020B0502020202020204" pitchFamily="34" charset="0"/>
                <a:cs typeface="Arial" charset="0"/>
              </a:rPr>
              <a:t> </a:t>
            </a:r>
          </a:p>
          <a:p>
            <a:pPr marL="174625" algn="just">
              <a:spcBef>
                <a:spcPct val="20000"/>
              </a:spcBef>
              <a:defRPr/>
            </a:pPr>
            <a:r>
              <a:rPr lang="es-ES_tradnl" sz="2000" dirty="0">
                <a:latin typeface="Century Gothic" panose="020B0502020202020204" pitchFamily="34" charset="0"/>
                <a:cs typeface="Arial" charset="0"/>
              </a:rPr>
              <a:t>Los costos de materiales directos y mano de obra directa se pueden asignar fácilmente a órdenes de trabajo, departamentos o a productos, pero no así los gastos de fabricación indirectos.</a:t>
            </a:r>
          </a:p>
          <a:p>
            <a:pPr marL="174625" algn="just">
              <a:spcBef>
                <a:spcPct val="20000"/>
              </a:spcBef>
              <a:defRPr/>
            </a:pPr>
            <a:endParaRPr lang="es-ES_tradnl" sz="2000" dirty="0">
              <a:latin typeface="Century Gothic" panose="020B0502020202020204" pitchFamily="34" charset="0"/>
              <a:cs typeface="Arial" charset="0"/>
            </a:endParaRPr>
          </a:p>
          <a:p>
            <a:pPr marL="174625" algn="just">
              <a:spcBef>
                <a:spcPct val="20000"/>
              </a:spcBef>
              <a:defRPr/>
            </a:pPr>
            <a:endParaRPr lang="es-AR" sz="2000" dirty="0">
              <a:latin typeface="Century Gothic" panose="020B0502020202020204" pitchFamily="34" charset="0"/>
              <a:cs typeface="Arial" charset="0"/>
            </a:endParaRPr>
          </a:p>
          <a:p>
            <a:pPr marL="174625" algn="just">
              <a:spcBef>
                <a:spcPct val="20000"/>
              </a:spcBef>
              <a:defRPr/>
            </a:pPr>
            <a:r>
              <a:rPr lang="es-AR" sz="2000" dirty="0">
                <a:latin typeface="Century Gothic" panose="020B0502020202020204" pitchFamily="34" charset="0"/>
                <a:cs typeface="Arial" charset="0"/>
              </a:rPr>
              <a:t>Presupuestar los gastos indirectos futuros y establecer el nivel de actividad sobre los que se distribuirán dichos gastos son los dos problemas básicos para determinar la cuota estándar de gastos indirectos.</a:t>
            </a:r>
            <a:endParaRPr lang="es-ES" sz="2000" dirty="0">
              <a:latin typeface="Century Gothic" panose="020B0502020202020204" pitchFamily="34" charset="0"/>
              <a:cs typeface="Arial" charset="0"/>
            </a:endParaRPr>
          </a:p>
        </p:txBody>
      </p:sp>
      <p:sp>
        <p:nvSpPr>
          <p:cNvPr id="23558" name="Rectangle 6">
            <a:extLst>
              <a:ext uri="{FF2B5EF4-FFF2-40B4-BE49-F238E27FC236}">
                <a16:creationId xmlns:a16="http://schemas.microsoft.com/office/drawing/2014/main" id="{A9311C47-AAB5-4EC9-941F-24987EAB6E05}"/>
              </a:ext>
            </a:extLst>
          </p:cNvPr>
          <p:cNvSpPr>
            <a:spLocks noChangeArrowheads="1"/>
          </p:cNvSpPr>
          <p:nvPr/>
        </p:nvSpPr>
        <p:spPr bwMode="auto">
          <a:xfrm>
            <a:off x="1311579" y="5062155"/>
            <a:ext cx="9906000"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Century Gothic" panose="020B0502020202020204" pitchFamily="34" charset="0"/>
              </a:rPr>
              <a:t>Los gastos indirectos se aplican a la producción sobre la base de insumos reales o nivel de actividad medido en horas, unidades, etc. multiplicados por una </a:t>
            </a:r>
            <a:r>
              <a:rPr lang="es-ES_tradnl" altLang="es-AR" sz="2000" i="1" dirty="0">
                <a:latin typeface="Century Gothic" panose="020B0502020202020204" pitchFamily="34" charset="0"/>
              </a:rPr>
              <a:t>tasa predeterminada de aplicación de Costos Indirectos.</a:t>
            </a:r>
            <a:r>
              <a:rPr lang="es-ES" altLang="es-AR" sz="2000" dirty="0">
                <a:latin typeface="Century Gothic" panose="020B0502020202020204" pitchFamily="34" charset="0"/>
              </a:rPr>
              <a:t> </a:t>
            </a:r>
          </a:p>
        </p:txBody>
      </p:sp>
      <p:sp>
        <p:nvSpPr>
          <p:cNvPr id="3" name="Marcador de número de diapositiva 2">
            <a:extLst>
              <a:ext uri="{FF2B5EF4-FFF2-40B4-BE49-F238E27FC236}">
                <a16:creationId xmlns:a16="http://schemas.microsoft.com/office/drawing/2014/main" id="{301A02FD-81E4-47AD-84DF-DE7F9D4D18C5}"/>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34962316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2355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4F861477-4441-4554-A5CA-EFD2F917F854}"/>
              </a:ext>
            </a:extLst>
          </p:cNvPr>
          <p:cNvSpPr>
            <a:spLocks noChangeArrowheads="1"/>
          </p:cNvSpPr>
          <p:nvPr/>
        </p:nvSpPr>
        <p:spPr bwMode="auto">
          <a:xfrm>
            <a:off x="1311579" y="1152907"/>
            <a:ext cx="9906000" cy="268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Century Gothic" panose="020B0502020202020204" pitchFamily="34" charset="0"/>
              </a:rPr>
              <a:t>Es la diferencia entre el costo estándar y el costo real, pudiendo resultar favorable o desfavorable, indicando la medida, la causa y el área donde se produjo el desvío. </a:t>
            </a:r>
          </a:p>
          <a:p>
            <a:pPr algn="just" eaLnBrk="1" hangingPunct="1">
              <a:spcBef>
                <a:spcPct val="20000"/>
              </a:spcBef>
            </a:pPr>
            <a:r>
              <a:rPr lang="es-AR" altLang="es-AR" sz="2000" dirty="0">
                <a:latin typeface="Century Gothic" panose="020B0502020202020204" pitchFamily="34" charset="0"/>
              </a:rPr>
              <a:t>Siendo dos las variables que forman el costo estándar (cantidades y precios) también son dos los tipos de variaciones: </a:t>
            </a:r>
          </a:p>
          <a:p>
            <a:pPr algn="just" eaLnBrk="1" hangingPunct="1">
              <a:spcBef>
                <a:spcPct val="20000"/>
              </a:spcBef>
            </a:pPr>
            <a:endParaRPr lang="es-AR" altLang="es-AR" sz="2000" dirty="0">
              <a:latin typeface="Century Gothic" panose="020B0502020202020204" pitchFamily="34" charset="0"/>
            </a:endParaRPr>
          </a:p>
          <a:p>
            <a:pPr marL="1085850" lvl="1" indent="-342900" algn="just">
              <a:spcBef>
                <a:spcPct val="20000"/>
              </a:spcBef>
              <a:buClr>
                <a:schemeClr val="accent1"/>
              </a:buClr>
              <a:buFont typeface="Arial" panose="020B0604020202020204" pitchFamily="34" charset="0"/>
              <a:buChar char="•"/>
            </a:pPr>
            <a:r>
              <a:rPr lang="es-AR" altLang="es-AR" sz="2000" dirty="0">
                <a:latin typeface="Century Gothic" panose="020B0502020202020204" pitchFamily="34" charset="0"/>
              </a:rPr>
              <a:t>variaciones en estándar por cantidad</a:t>
            </a:r>
          </a:p>
          <a:p>
            <a:pPr marL="1085850" lvl="1" indent="-342900" algn="just">
              <a:spcBef>
                <a:spcPct val="20000"/>
              </a:spcBef>
              <a:buClr>
                <a:schemeClr val="accent1"/>
              </a:buClr>
              <a:buFont typeface="Arial" panose="020B0604020202020204" pitchFamily="34" charset="0"/>
              <a:buChar char="•"/>
            </a:pPr>
            <a:r>
              <a:rPr lang="es-AR" altLang="es-AR" sz="2000" dirty="0">
                <a:latin typeface="Century Gothic" panose="020B0502020202020204" pitchFamily="34" charset="0"/>
              </a:rPr>
              <a:t>variaciones en estándar por precio.</a:t>
            </a:r>
          </a:p>
          <a:p>
            <a:pPr algn="just" eaLnBrk="1" hangingPunct="1">
              <a:spcBef>
                <a:spcPct val="20000"/>
              </a:spcBef>
            </a:pPr>
            <a:endParaRPr lang="es-AR" altLang="es-AR" sz="2000" dirty="0">
              <a:latin typeface="Century Gothic" panose="020B0502020202020204" pitchFamily="34" charset="0"/>
            </a:endParaRPr>
          </a:p>
          <a:p>
            <a:pPr algn="just" eaLnBrk="1" hangingPunct="1">
              <a:spcBef>
                <a:spcPct val="20000"/>
              </a:spcBef>
            </a:pPr>
            <a:r>
              <a:rPr lang="es-AR" altLang="es-AR" sz="2000" dirty="0">
                <a:latin typeface="Century Gothic" panose="020B0502020202020204" pitchFamily="34" charset="0"/>
              </a:rPr>
              <a:t> Aunque en el ámbito de los gastos indirectos existe la variación por volumen productivo dado que dicha variable interviene en la determinación de la cuota estándar de gastos indirectos.</a:t>
            </a:r>
            <a:endParaRPr lang="es-ES" altLang="es-AR" sz="2000" dirty="0">
              <a:latin typeface="Century Gothic" panose="020B0502020202020204" pitchFamily="34" charset="0"/>
            </a:endParaRPr>
          </a:p>
        </p:txBody>
      </p:sp>
      <p:sp>
        <p:nvSpPr>
          <p:cNvPr id="13317" name="Text Box 5">
            <a:extLst>
              <a:ext uri="{FF2B5EF4-FFF2-40B4-BE49-F238E27FC236}">
                <a16:creationId xmlns:a16="http://schemas.microsoft.com/office/drawing/2014/main" id="{CDA8B9ED-6F7B-42BA-871E-B23412285A99}"/>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13318" name="Rectangle 6">
            <a:extLst>
              <a:ext uri="{FF2B5EF4-FFF2-40B4-BE49-F238E27FC236}">
                <a16:creationId xmlns:a16="http://schemas.microsoft.com/office/drawing/2014/main" id="{760A5D10-769B-4018-9760-8E1633BACDD1}"/>
              </a:ext>
            </a:extLst>
          </p:cNvPr>
          <p:cNvSpPr>
            <a:spLocks noChangeArrowheads="1"/>
          </p:cNvSpPr>
          <p:nvPr/>
        </p:nvSpPr>
        <p:spPr bwMode="auto">
          <a:xfrm>
            <a:off x="2921002" y="5705093"/>
            <a:ext cx="6022974" cy="576263"/>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pPr>
            <a:r>
              <a:rPr lang="es-AR" altLang="es-AR" sz="2000" dirty="0">
                <a:solidFill>
                  <a:srgbClr val="CC3300"/>
                </a:solidFill>
                <a:latin typeface="Century Gothic" panose="020B0502020202020204" pitchFamily="34" charset="0"/>
              </a:rPr>
              <a:t>Variaciones en STD = Costo STD – Costo Real </a:t>
            </a:r>
            <a:endParaRPr lang="es-ES" altLang="es-AR" sz="2000" dirty="0">
              <a:solidFill>
                <a:srgbClr val="CC3300"/>
              </a:solidFill>
              <a:latin typeface="Century Gothic" panose="020B0502020202020204" pitchFamily="34" charset="0"/>
            </a:endParaRPr>
          </a:p>
        </p:txBody>
      </p:sp>
      <p:sp>
        <p:nvSpPr>
          <p:cNvPr id="3" name="Marcador de número de diapositiva 2">
            <a:extLst>
              <a:ext uri="{FF2B5EF4-FFF2-40B4-BE49-F238E27FC236}">
                <a16:creationId xmlns:a16="http://schemas.microsoft.com/office/drawing/2014/main" id="{38C0937B-2075-41E5-BF4C-E4989F5E943B}"/>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13318"/>
                                        </p:tgtEl>
                                        <p:attrNameLst>
                                          <p:attrName>style.visibility</p:attrName>
                                        </p:attrNameLst>
                                      </p:cBhvr>
                                      <p:to>
                                        <p:strVal val="visible"/>
                                      </p:to>
                                    </p:set>
                                    <p:animEffect transition="in" filter="blinds(horizontal)">
                                      <p:cBhvr>
                                        <p:cTn id="9" dur="5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1331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Text Box 6">
            <a:extLst>
              <a:ext uri="{FF2B5EF4-FFF2-40B4-BE49-F238E27FC236}">
                <a16:creationId xmlns:a16="http://schemas.microsoft.com/office/drawing/2014/main" id="{840E7B54-D0CF-425F-8DAE-2D6941F5EBC3}"/>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26631" name="Rectangle 7">
            <a:extLst>
              <a:ext uri="{FF2B5EF4-FFF2-40B4-BE49-F238E27FC236}">
                <a16:creationId xmlns:a16="http://schemas.microsoft.com/office/drawing/2014/main" id="{FD481AE2-E9B0-4DE2-A071-C4B3E82E9038}"/>
              </a:ext>
            </a:extLst>
          </p:cNvPr>
          <p:cNvSpPr>
            <a:spLocks noChangeArrowheads="1"/>
          </p:cNvSpPr>
          <p:nvPr/>
        </p:nvSpPr>
        <p:spPr bwMode="auto">
          <a:xfrm>
            <a:off x="1143000" y="1415551"/>
            <a:ext cx="9906000" cy="1056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AR" sz="2000" b="1" u="sng" dirty="0">
                <a:effectLst>
                  <a:outerShdw blurRad="38100" dist="38100" dir="2700000" algn="tl">
                    <a:srgbClr val="C0C0C0"/>
                  </a:outerShdw>
                </a:effectLst>
                <a:latin typeface="Century Gothic" panose="020B0502020202020204" pitchFamily="34" charset="0"/>
                <a:cs typeface="Arial" charset="0"/>
              </a:rPr>
              <a:t>Variaciones en Estándar de Materia Prima</a:t>
            </a:r>
            <a:r>
              <a:rPr lang="es-AR" sz="2000" dirty="0">
                <a:latin typeface="Century Gothic" panose="020B0502020202020204" pitchFamily="34" charset="0"/>
                <a:cs typeface="Arial" charset="0"/>
              </a:rPr>
              <a:t>: </a:t>
            </a:r>
          </a:p>
          <a:p>
            <a:pPr marL="174625" algn="just">
              <a:spcBef>
                <a:spcPct val="20000"/>
              </a:spcBef>
              <a:defRPr/>
            </a:pPr>
            <a:endParaRPr lang="es-AR" sz="2000" dirty="0">
              <a:latin typeface="Century Gothic" panose="020B0502020202020204" pitchFamily="34" charset="0"/>
              <a:cs typeface="Arial" charset="0"/>
            </a:endParaRPr>
          </a:p>
          <a:p>
            <a:pPr marL="174625" algn="just">
              <a:spcBef>
                <a:spcPct val="20000"/>
              </a:spcBef>
              <a:defRPr/>
            </a:pPr>
            <a:r>
              <a:rPr lang="es-AR" sz="2000" dirty="0">
                <a:latin typeface="Century Gothic" panose="020B0502020202020204" pitchFamily="34" charset="0"/>
                <a:cs typeface="Arial" charset="0"/>
              </a:rPr>
              <a:t>Se determina en base al producto del estándar físico o cantidad por el valor estándar o precio. </a:t>
            </a:r>
            <a:endParaRPr lang="es-ES" sz="2000" dirty="0">
              <a:latin typeface="Century Gothic" panose="020B0502020202020204" pitchFamily="34" charset="0"/>
              <a:cs typeface="Arial" charset="0"/>
            </a:endParaRPr>
          </a:p>
        </p:txBody>
      </p:sp>
      <p:sp>
        <p:nvSpPr>
          <p:cNvPr id="26632" name="Rectangle 8">
            <a:extLst>
              <a:ext uri="{FF2B5EF4-FFF2-40B4-BE49-F238E27FC236}">
                <a16:creationId xmlns:a16="http://schemas.microsoft.com/office/drawing/2014/main" id="{8E65AAA0-BDC4-49EA-8A64-00D3E8FAC282}"/>
              </a:ext>
            </a:extLst>
          </p:cNvPr>
          <p:cNvSpPr>
            <a:spLocks noChangeArrowheads="1"/>
          </p:cNvSpPr>
          <p:nvPr/>
        </p:nvSpPr>
        <p:spPr bwMode="auto">
          <a:xfrm>
            <a:off x="1108382" y="3521956"/>
            <a:ext cx="99060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ES_tradnl" sz="2000" dirty="0">
                <a:latin typeface="Century Gothic" panose="020B0502020202020204" pitchFamily="34" charset="0"/>
                <a:cs typeface="Arial" charset="0"/>
              </a:rPr>
              <a:t>Supongamos que se compra cierta cantidad real Q</a:t>
            </a:r>
            <a:r>
              <a:rPr lang="es-ES_tradnl" sz="2000" baseline="-25000" dirty="0">
                <a:latin typeface="Century Gothic" panose="020B0502020202020204" pitchFamily="34" charset="0"/>
                <a:cs typeface="Arial" charset="0"/>
              </a:rPr>
              <a:t>R</a:t>
            </a:r>
            <a:r>
              <a:rPr lang="es-ES_tradnl" sz="2000" dirty="0">
                <a:latin typeface="Century Gothic" panose="020B0502020202020204" pitchFamily="34" charset="0"/>
                <a:cs typeface="Arial" charset="0"/>
              </a:rPr>
              <a:t> de materia prima a un cierto precio real P</a:t>
            </a:r>
            <a:r>
              <a:rPr lang="es-ES_tradnl" sz="2000" baseline="-25000" dirty="0">
                <a:latin typeface="Century Gothic" panose="020B0502020202020204" pitchFamily="34" charset="0"/>
                <a:cs typeface="Arial" charset="0"/>
              </a:rPr>
              <a:t>R</a:t>
            </a:r>
            <a:r>
              <a:rPr lang="es-ES_tradnl" sz="2000" dirty="0">
                <a:latin typeface="Century Gothic" panose="020B0502020202020204" pitchFamily="34" charset="0"/>
                <a:cs typeface="Arial" charset="0"/>
              </a:rPr>
              <a:t>. El valor de compra será </a:t>
            </a:r>
            <a:r>
              <a:rPr lang="es-ES_tradnl" sz="2000" dirty="0">
                <a:effectLst>
                  <a:outerShdw blurRad="38100" dist="38100" dir="2700000" algn="tl">
                    <a:srgbClr val="C0C0C0"/>
                  </a:outerShdw>
                </a:effectLst>
                <a:latin typeface="Century Gothic" panose="020B0502020202020204" pitchFamily="34" charset="0"/>
                <a:cs typeface="Arial" charset="0"/>
              </a:rPr>
              <a:t>Q</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x P</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endParaRPr lang="es-ES" sz="2000" baseline="-25000" dirty="0">
              <a:effectLst>
                <a:outerShdw blurRad="38100" dist="38100" dir="2700000" algn="tl">
                  <a:srgbClr val="C0C0C0"/>
                </a:outerShdw>
              </a:effectLst>
              <a:latin typeface="Century Gothic" panose="020B0502020202020204" pitchFamily="34" charset="0"/>
              <a:cs typeface="Arial" charset="0"/>
            </a:endParaRPr>
          </a:p>
        </p:txBody>
      </p:sp>
      <p:sp>
        <p:nvSpPr>
          <p:cNvPr id="3" name="Marcador de número de diapositiva 2">
            <a:extLst>
              <a:ext uri="{FF2B5EF4-FFF2-40B4-BE49-F238E27FC236}">
                <a16:creationId xmlns:a16="http://schemas.microsoft.com/office/drawing/2014/main" id="{A7087F29-410A-47A0-9D1C-DF89D2A5B5F6}"/>
              </a:ext>
            </a:extLst>
          </p:cNvPr>
          <p:cNvSpPr>
            <a:spLocks noGrp="1"/>
          </p:cNvSpPr>
          <p:nvPr>
            <p:ph type="sldNum" sz="quarter" idx="12"/>
          </p:nvPr>
        </p:nvSpPr>
        <p:spPr>
          <a:xfrm>
            <a:off x="379108" y="800124"/>
            <a:ext cx="779767" cy="365125"/>
          </a:xfrm>
        </p:spPr>
        <p:txBody>
          <a:bodyPr/>
          <a:lstStyle/>
          <a:p>
            <a:fld id="{D57F1E4F-1CFF-5643-939E-217C01CDF565}" type="slidenum">
              <a:rPr lang="en-US" smtClean="0"/>
              <a:pPr/>
              <a:t>29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1" grpId="0"/>
      <p:bldP spid="266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Text Box 6">
            <a:extLst>
              <a:ext uri="{FF2B5EF4-FFF2-40B4-BE49-F238E27FC236}">
                <a16:creationId xmlns:a16="http://schemas.microsoft.com/office/drawing/2014/main" id="{840E7B54-D0CF-425F-8DAE-2D6941F5EBC3}"/>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26633" name="Rectangle 9">
            <a:extLst>
              <a:ext uri="{FF2B5EF4-FFF2-40B4-BE49-F238E27FC236}">
                <a16:creationId xmlns:a16="http://schemas.microsoft.com/office/drawing/2014/main" id="{3A97C906-A531-4D01-AD43-3D5D20D039FD}"/>
              </a:ext>
            </a:extLst>
          </p:cNvPr>
          <p:cNvSpPr>
            <a:spLocks noChangeArrowheads="1"/>
          </p:cNvSpPr>
          <p:nvPr/>
        </p:nvSpPr>
        <p:spPr bwMode="auto">
          <a:xfrm>
            <a:off x="1215616" y="1948656"/>
            <a:ext cx="99060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ES_tradnl" sz="2000" dirty="0">
                <a:latin typeface="Century Gothic" panose="020B0502020202020204" pitchFamily="34" charset="0"/>
                <a:cs typeface="Arial" charset="0"/>
              </a:rPr>
              <a:t>Al almacén de materia prima ingresará a un precio estándar </a:t>
            </a:r>
            <a:r>
              <a:rPr lang="es-ES_tradnl" sz="2000" dirty="0" err="1">
                <a:latin typeface="Century Gothic" panose="020B0502020202020204" pitchFamily="34" charset="0"/>
                <a:cs typeface="Arial" charset="0"/>
              </a:rPr>
              <a:t>P</a:t>
            </a:r>
            <a:r>
              <a:rPr lang="es-ES_tradnl" sz="2000" baseline="-25000" dirty="0" err="1">
                <a:latin typeface="Century Gothic" panose="020B0502020202020204" pitchFamily="34" charset="0"/>
                <a:cs typeface="Arial" charset="0"/>
              </a:rPr>
              <a:t>s</a:t>
            </a:r>
            <a:r>
              <a:rPr lang="es-ES_tradnl" sz="2000" dirty="0">
                <a:latin typeface="Century Gothic" panose="020B0502020202020204" pitchFamily="34" charset="0"/>
                <a:cs typeface="Arial" charset="0"/>
              </a:rPr>
              <a:t> especificado o permitido, o sea </a:t>
            </a:r>
            <a:r>
              <a:rPr lang="es-ES_tradnl" sz="2000" dirty="0">
                <a:effectLst>
                  <a:outerShdw blurRad="38100" dist="38100" dir="2700000" algn="tl">
                    <a:srgbClr val="C0C0C0"/>
                  </a:outerShdw>
                </a:effectLst>
                <a:latin typeface="Century Gothic" panose="020B0502020202020204" pitchFamily="34" charset="0"/>
                <a:cs typeface="Arial" charset="0"/>
              </a:rPr>
              <a:t>Q</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x P</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endParaRPr lang="es-ES" sz="2000" baseline="-25000" dirty="0">
              <a:effectLst>
                <a:outerShdw blurRad="38100" dist="38100" dir="2700000" algn="tl">
                  <a:srgbClr val="C0C0C0"/>
                </a:outerShdw>
              </a:effectLst>
              <a:latin typeface="Century Gothic" panose="020B0502020202020204" pitchFamily="34" charset="0"/>
              <a:cs typeface="Arial" charset="0"/>
            </a:endParaRPr>
          </a:p>
        </p:txBody>
      </p:sp>
      <p:sp>
        <p:nvSpPr>
          <p:cNvPr id="26634" name="Rectangle 10">
            <a:extLst>
              <a:ext uri="{FF2B5EF4-FFF2-40B4-BE49-F238E27FC236}">
                <a16:creationId xmlns:a16="http://schemas.microsoft.com/office/drawing/2014/main" id="{CA506C74-0A8F-4B60-8720-077834A3C3F9}"/>
              </a:ext>
            </a:extLst>
          </p:cNvPr>
          <p:cNvSpPr>
            <a:spLocks noChangeArrowheads="1"/>
          </p:cNvSpPr>
          <p:nvPr/>
        </p:nvSpPr>
        <p:spPr bwMode="auto">
          <a:xfrm>
            <a:off x="1215616" y="3142455"/>
            <a:ext cx="9906000" cy="158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ES_tradnl" sz="2000" dirty="0">
                <a:latin typeface="Century Gothic" panose="020B0502020202020204" pitchFamily="34" charset="0"/>
                <a:cs typeface="Arial" charset="0"/>
              </a:rPr>
              <a:t>La variación en estándar de precio de materia prima (V</a:t>
            </a:r>
            <a:r>
              <a:rPr lang="es-ES_tradnl" sz="2000" baseline="-25000" dirty="0">
                <a:latin typeface="Century Gothic" panose="020B0502020202020204" pitchFamily="34" charset="0"/>
                <a:cs typeface="Arial" charset="0"/>
              </a:rPr>
              <a:t>PMP</a:t>
            </a:r>
            <a:r>
              <a:rPr lang="es-ES_tradnl" sz="2000" dirty="0">
                <a:latin typeface="Century Gothic" panose="020B0502020202020204" pitchFamily="34" charset="0"/>
                <a:cs typeface="Arial" charset="0"/>
              </a:rPr>
              <a:t>) será un egreso para la empresa que se cargará al nudo de ventas o a cuenta de ganancias y pérdidas automáticamente, o sea que:     </a:t>
            </a:r>
            <a:r>
              <a:rPr lang="es-ES_tradnl" sz="2000" dirty="0" err="1">
                <a:effectLst>
                  <a:outerShdw blurRad="38100" dist="38100" dir="2700000" algn="tl">
                    <a:srgbClr val="C0C0C0"/>
                  </a:outerShdw>
                </a:effectLst>
                <a:latin typeface="Century Gothic" panose="020B0502020202020204" pitchFamily="34" charset="0"/>
                <a:cs typeface="Arial" charset="0"/>
              </a:rPr>
              <a:t>Q</a:t>
            </a:r>
            <a:r>
              <a:rPr lang="es-ES_tradnl" sz="2000" baseline="-25000" dirty="0" err="1">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x P</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 </a:t>
            </a:r>
            <a:r>
              <a:rPr lang="es-ES_tradnl" sz="2000" dirty="0" err="1">
                <a:effectLst>
                  <a:outerShdw blurRad="38100" dist="38100" dir="2700000" algn="tl">
                    <a:srgbClr val="C0C0C0"/>
                  </a:outerShdw>
                </a:effectLst>
                <a:latin typeface="Century Gothic" panose="020B0502020202020204" pitchFamily="34" charset="0"/>
                <a:cs typeface="Arial" charset="0"/>
              </a:rPr>
              <a:t>Q</a:t>
            </a:r>
            <a:r>
              <a:rPr lang="es-ES_tradnl" sz="2000" baseline="-25000" dirty="0" err="1">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x P</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 V</a:t>
            </a:r>
            <a:r>
              <a:rPr lang="es-ES_tradnl" sz="2000" baseline="-25000" dirty="0">
                <a:effectLst>
                  <a:outerShdw blurRad="38100" dist="38100" dir="2700000" algn="tl">
                    <a:srgbClr val="C0C0C0"/>
                  </a:outerShdw>
                </a:effectLst>
                <a:latin typeface="Century Gothic" panose="020B0502020202020204" pitchFamily="34" charset="0"/>
                <a:cs typeface="Arial" charset="0"/>
              </a:rPr>
              <a:t>PMP</a:t>
            </a:r>
            <a:endParaRPr lang="es-ES" sz="2000" baseline="-25000" dirty="0">
              <a:effectLst>
                <a:outerShdw blurRad="38100" dist="38100" dir="2700000" algn="tl">
                  <a:srgbClr val="C0C0C0"/>
                </a:outerShdw>
              </a:effectLst>
              <a:latin typeface="Century Gothic" panose="020B0502020202020204" pitchFamily="34" charset="0"/>
              <a:cs typeface="Arial" charset="0"/>
            </a:endParaRPr>
          </a:p>
        </p:txBody>
      </p:sp>
      <p:sp>
        <p:nvSpPr>
          <p:cNvPr id="8" name="Rectangle 5">
            <a:extLst>
              <a:ext uri="{FF2B5EF4-FFF2-40B4-BE49-F238E27FC236}">
                <a16:creationId xmlns:a16="http://schemas.microsoft.com/office/drawing/2014/main" id="{A6A44618-7C45-432B-9534-C89740778538}"/>
              </a:ext>
            </a:extLst>
          </p:cNvPr>
          <p:cNvSpPr>
            <a:spLocks noChangeArrowheads="1"/>
          </p:cNvSpPr>
          <p:nvPr/>
        </p:nvSpPr>
        <p:spPr bwMode="auto">
          <a:xfrm>
            <a:off x="3514520" y="5124860"/>
            <a:ext cx="5019880" cy="576263"/>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ES_tradnl" altLang="es-AR" sz="2000" dirty="0">
                <a:solidFill>
                  <a:srgbClr val="CC3300"/>
                </a:solidFill>
                <a:latin typeface="Century Gothic" panose="020B0502020202020204" pitchFamily="34" charset="0"/>
              </a:rPr>
              <a:t>V</a:t>
            </a:r>
            <a:r>
              <a:rPr lang="es-ES_tradnl" altLang="es-AR" sz="2000" baseline="-25000" dirty="0">
                <a:solidFill>
                  <a:srgbClr val="CC3300"/>
                </a:solidFill>
                <a:latin typeface="Century Gothic" panose="020B0502020202020204" pitchFamily="34" charset="0"/>
              </a:rPr>
              <a:t>PMP</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P</a:t>
            </a:r>
            <a:r>
              <a:rPr lang="es-ES_tradnl" altLang="es-AR" sz="2000" baseline="-25000" dirty="0">
                <a:solidFill>
                  <a:srgbClr val="CC3300"/>
                </a:solidFill>
                <a:latin typeface="Century Gothic" panose="020B0502020202020204" pitchFamily="34" charset="0"/>
              </a:rPr>
              <a:t>R</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P</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(P</a:t>
            </a:r>
            <a:r>
              <a:rPr lang="es-ES_tradnl" altLang="es-AR" sz="2000" baseline="-25000" dirty="0">
                <a:solidFill>
                  <a:srgbClr val="CC3300"/>
                </a:solidFill>
                <a:latin typeface="Century Gothic" panose="020B0502020202020204" pitchFamily="34" charset="0"/>
              </a:rPr>
              <a:t>R</a:t>
            </a:r>
            <a:r>
              <a:rPr lang="es-ES_tradnl" altLang="es-AR" sz="2000" dirty="0">
                <a:solidFill>
                  <a:srgbClr val="CC3300"/>
                </a:solidFill>
                <a:latin typeface="Century Gothic" panose="020B0502020202020204" pitchFamily="34" charset="0"/>
              </a:rPr>
              <a:t> – P</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a:t>
            </a:r>
            <a:r>
              <a:rPr lang="es-ES_tradnl" altLang="es-AR" sz="2000" dirty="0">
                <a:latin typeface="Century Gothic" panose="020B0502020202020204" pitchFamily="34" charset="0"/>
              </a:rPr>
              <a:t> </a:t>
            </a:r>
            <a:endParaRPr lang="es-ES" altLang="es-AR" sz="2000" dirty="0">
              <a:latin typeface="Century Gothic" panose="020B0502020202020204" pitchFamily="34" charset="0"/>
            </a:endParaRPr>
          </a:p>
        </p:txBody>
      </p:sp>
      <p:sp>
        <p:nvSpPr>
          <p:cNvPr id="3" name="Marcador de número de diapositiva 2">
            <a:extLst>
              <a:ext uri="{FF2B5EF4-FFF2-40B4-BE49-F238E27FC236}">
                <a16:creationId xmlns:a16="http://schemas.microsoft.com/office/drawing/2014/main" id="{A7087F29-410A-47A0-9D1C-DF89D2A5B5F6}"/>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Tree>
    <p:extLst>
      <p:ext uri="{BB962C8B-B14F-4D97-AF65-F5344CB8AC3E}">
        <p14:creationId xmlns:p14="http://schemas.microsoft.com/office/powerpoint/2010/main" val="3619544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3" grpId="0"/>
      <p:bldP spid="26634" grpId="0"/>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a:extLst>
              <a:ext uri="{FF2B5EF4-FFF2-40B4-BE49-F238E27FC236}">
                <a16:creationId xmlns:a16="http://schemas.microsoft.com/office/drawing/2014/main" id="{5ACAE09A-71D3-47A2-82D0-8D1FD0F5F8E6}"/>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27654" name="Rectangle 6">
            <a:extLst>
              <a:ext uri="{FF2B5EF4-FFF2-40B4-BE49-F238E27FC236}">
                <a16:creationId xmlns:a16="http://schemas.microsoft.com/office/drawing/2014/main" id="{CC176D89-2555-4DB4-BC90-8B88D45EF3E8}"/>
              </a:ext>
            </a:extLst>
          </p:cNvPr>
          <p:cNvSpPr>
            <a:spLocks noChangeArrowheads="1"/>
          </p:cNvSpPr>
          <p:nvPr/>
        </p:nvSpPr>
        <p:spPr bwMode="auto">
          <a:xfrm>
            <a:off x="1143000" y="1295914"/>
            <a:ext cx="9906000" cy="111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Es decir que V</a:t>
            </a:r>
            <a:r>
              <a:rPr lang="es-ES_tradnl" sz="2000" baseline="-25000" dirty="0">
                <a:effectLst>
                  <a:outerShdw blurRad="38100" dist="38100" dir="2700000" algn="tl">
                    <a:srgbClr val="C0C0C0"/>
                  </a:outerShdw>
                </a:effectLst>
                <a:latin typeface="Century Gothic" panose="020B0502020202020204" pitchFamily="34" charset="0"/>
                <a:cs typeface="Arial" charset="0"/>
              </a:rPr>
              <a:t>PMP</a:t>
            </a:r>
            <a:r>
              <a:rPr lang="es-ES_tradnl" sz="2000" dirty="0">
                <a:effectLst>
                  <a:outerShdw blurRad="38100" dist="38100" dir="2700000" algn="tl">
                    <a:srgbClr val="C0C0C0"/>
                  </a:outerShdw>
                </a:effectLst>
                <a:latin typeface="Century Gothic" panose="020B0502020202020204" pitchFamily="34" charset="0"/>
                <a:cs typeface="Arial" charset="0"/>
              </a:rPr>
              <a:t> existe solamente cuando se compra la materia prima (siempre que el precio real resulte diferente al establecido como estándar).</a:t>
            </a:r>
            <a:r>
              <a:rPr lang="es-ES" sz="2000" dirty="0">
                <a:effectLst>
                  <a:outerShdw blurRad="38100" dist="38100" dir="2700000" algn="tl">
                    <a:srgbClr val="C0C0C0"/>
                  </a:outerShdw>
                </a:effectLst>
                <a:latin typeface="Century Gothic" panose="020B0502020202020204" pitchFamily="34" charset="0"/>
                <a:cs typeface="Arial" charset="0"/>
              </a:rPr>
              <a:t> </a:t>
            </a:r>
          </a:p>
        </p:txBody>
      </p:sp>
      <p:sp>
        <p:nvSpPr>
          <p:cNvPr id="27655" name="Rectangle 7">
            <a:extLst>
              <a:ext uri="{FF2B5EF4-FFF2-40B4-BE49-F238E27FC236}">
                <a16:creationId xmlns:a16="http://schemas.microsoft.com/office/drawing/2014/main" id="{77C171AB-E540-4DA9-AA44-3BC5E2669ECB}"/>
              </a:ext>
            </a:extLst>
          </p:cNvPr>
          <p:cNvSpPr>
            <a:spLocks noChangeArrowheads="1"/>
          </p:cNvSpPr>
          <p:nvPr/>
        </p:nvSpPr>
        <p:spPr bwMode="auto">
          <a:xfrm>
            <a:off x="1127125" y="2492376"/>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ES_tradnl" sz="2000" dirty="0">
                <a:latin typeface="Century Gothic" panose="020B0502020202020204" pitchFamily="34" charset="0"/>
                <a:cs typeface="Arial" charset="0"/>
              </a:rPr>
              <a:t>Supongamos que la producción demanda una cierta cantidad Q</a:t>
            </a:r>
            <a:r>
              <a:rPr lang="es-ES_tradnl" sz="2000" baseline="-25000" dirty="0">
                <a:latin typeface="Century Gothic" panose="020B0502020202020204" pitchFamily="34" charset="0"/>
                <a:cs typeface="Arial" charset="0"/>
              </a:rPr>
              <a:t>R</a:t>
            </a:r>
            <a:r>
              <a:rPr lang="es-ES_tradnl" sz="2000" dirty="0">
                <a:latin typeface="Century Gothic" panose="020B0502020202020204" pitchFamily="34" charset="0"/>
                <a:cs typeface="Arial" charset="0"/>
              </a:rPr>
              <a:t> consumida de materia prima, que ya está valorizada a estándar: </a:t>
            </a:r>
          </a:p>
          <a:p>
            <a:pPr marL="174625" algn="just">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										Q</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x P</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 sz="2000" dirty="0">
                <a:latin typeface="Century Gothic" panose="020B0502020202020204" pitchFamily="34" charset="0"/>
                <a:cs typeface="Arial" charset="0"/>
              </a:rPr>
              <a:t> </a:t>
            </a:r>
          </a:p>
        </p:txBody>
      </p:sp>
      <p:sp>
        <p:nvSpPr>
          <p:cNvPr id="27656" name="Rectangle 8">
            <a:extLst>
              <a:ext uri="{FF2B5EF4-FFF2-40B4-BE49-F238E27FC236}">
                <a16:creationId xmlns:a16="http://schemas.microsoft.com/office/drawing/2014/main" id="{FFFB8AA2-CE02-469C-8D9F-FEB6E2D72EC5}"/>
              </a:ext>
            </a:extLst>
          </p:cNvPr>
          <p:cNvSpPr>
            <a:spLocks noChangeArrowheads="1"/>
          </p:cNvSpPr>
          <p:nvPr/>
        </p:nvSpPr>
        <p:spPr bwMode="auto">
          <a:xfrm>
            <a:off x="1127125" y="3789364"/>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ES_tradnl" sz="2000" dirty="0">
                <a:latin typeface="Century Gothic" panose="020B0502020202020204" pitchFamily="34" charset="0"/>
                <a:cs typeface="Arial" charset="0"/>
              </a:rPr>
              <a:t>Sin embargo en la producción en proceso a estándar, la cantidad consumida permitida deberá ser la estándar predeterminada</a:t>
            </a:r>
            <a:r>
              <a:rPr lang="es-ES" sz="2000" dirty="0">
                <a:latin typeface="Century Gothic" panose="020B0502020202020204" pitchFamily="34" charset="0"/>
                <a:cs typeface="Arial" charset="0"/>
              </a:rPr>
              <a:t>:     </a:t>
            </a:r>
          </a:p>
          <a:p>
            <a:pPr marL="174625" algn="just">
              <a:spcBef>
                <a:spcPct val="20000"/>
              </a:spcBef>
              <a:defRPr/>
            </a:pPr>
            <a:r>
              <a:rPr lang="es-ES" sz="2000" dirty="0">
                <a:effectLst>
                  <a:outerShdw blurRad="38100" dist="38100" dir="2700000" algn="tl">
                    <a:srgbClr val="C0C0C0"/>
                  </a:outerShdw>
                </a:effectLst>
                <a:latin typeface="Century Gothic" panose="020B0502020202020204" pitchFamily="34" charset="0"/>
                <a:cs typeface="Arial" charset="0"/>
              </a:rPr>
              <a:t>										</a:t>
            </a:r>
            <a:r>
              <a:rPr lang="es-ES_tradnl" sz="2000" dirty="0">
                <a:effectLst>
                  <a:outerShdw blurRad="38100" dist="38100" dir="2700000" algn="tl">
                    <a:srgbClr val="C0C0C0"/>
                  </a:outerShdw>
                </a:effectLst>
                <a:latin typeface="Century Gothic" panose="020B0502020202020204" pitchFamily="34" charset="0"/>
                <a:cs typeface="Arial" charset="0"/>
              </a:rPr>
              <a:t>Q</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x P</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 sz="2000" dirty="0">
                <a:latin typeface="Century Gothic" panose="020B0502020202020204" pitchFamily="34" charset="0"/>
                <a:cs typeface="Arial" charset="0"/>
              </a:rPr>
              <a:t> </a:t>
            </a:r>
          </a:p>
        </p:txBody>
      </p:sp>
      <p:sp>
        <p:nvSpPr>
          <p:cNvPr id="27657" name="Rectangle 9">
            <a:extLst>
              <a:ext uri="{FF2B5EF4-FFF2-40B4-BE49-F238E27FC236}">
                <a16:creationId xmlns:a16="http://schemas.microsoft.com/office/drawing/2014/main" id="{0B65C889-6E78-48C4-8417-2A6B06CA1C2E}"/>
              </a:ext>
            </a:extLst>
          </p:cNvPr>
          <p:cNvSpPr>
            <a:spLocks noChangeArrowheads="1"/>
          </p:cNvSpPr>
          <p:nvPr/>
        </p:nvSpPr>
        <p:spPr bwMode="auto">
          <a:xfrm>
            <a:off x="1127125" y="5084763"/>
            <a:ext cx="99060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4625" algn="just">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Siendo Q</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la cantidad de materia prima que debió utilizarse en la producción real de acuerdo con el consumo estándar.</a:t>
            </a:r>
            <a:r>
              <a:rPr lang="es-ES" sz="2000" dirty="0">
                <a:effectLst>
                  <a:outerShdw blurRad="38100" dist="38100" dir="2700000" algn="tl">
                    <a:srgbClr val="C0C0C0"/>
                  </a:outerShdw>
                </a:effectLst>
                <a:latin typeface="Century Gothic" panose="020B0502020202020204" pitchFamily="34" charset="0"/>
                <a:cs typeface="Arial" charset="0"/>
              </a:rPr>
              <a:t> </a:t>
            </a:r>
          </a:p>
        </p:txBody>
      </p:sp>
      <p:sp>
        <p:nvSpPr>
          <p:cNvPr id="3" name="Marcador de número de diapositiva 2">
            <a:extLst>
              <a:ext uri="{FF2B5EF4-FFF2-40B4-BE49-F238E27FC236}">
                <a16:creationId xmlns:a16="http://schemas.microsoft.com/office/drawing/2014/main" id="{93584B3C-6035-426E-936D-E842BB973618}"/>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654"/>
                                        </p:tgtEl>
                                        <p:attrNameLst>
                                          <p:attrName>style.visibility</p:attrName>
                                        </p:attrNameLst>
                                      </p:cBhvr>
                                      <p:to>
                                        <p:strVal val="visible"/>
                                      </p:to>
                                    </p:set>
                                    <p:animEffect transition="in" filter="wipe(down)">
                                      <p:cBhvr>
                                        <p:cTn id="7" dur="500"/>
                                        <p:tgtEl>
                                          <p:spTgt spid="276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765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765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7657"/>
                                        </p:tgtEl>
                                        <p:attrNameLst>
                                          <p:attrName>style.visibility</p:attrName>
                                        </p:attrNameLst>
                                      </p:cBhvr>
                                      <p:to>
                                        <p:strVal val="visible"/>
                                      </p:to>
                                    </p:set>
                                    <p:animEffect transition="in" filter="wipe(down)">
                                      <p:cBhvr>
                                        <p:cTn id="20" dur="500"/>
                                        <p:tgtEl>
                                          <p:spTgt spid="27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p:bldP spid="27655" grpId="0"/>
      <p:bldP spid="27656" grpId="0"/>
      <p:bldP spid="2765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Text Box 4">
            <a:extLst>
              <a:ext uri="{FF2B5EF4-FFF2-40B4-BE49-F238E27FC236}">
                <a16:creationId xmlns:a16="http://schemas.microsoft.com/office/drawing/2014/main" id="{0799BD80-7AD7-4061-B247-C41746398A95}"/>
              </a:ext>
            </a:extLst>
          </p:cNvPr>
          <p:cNvSpPr txBox="1">
            <a:spLocks noChangeArrowheads="1"/>
          </p:cNvSpPr>
          <p:nvPr/>
        </p:nvSpPr>
        <p:spPr bwMode="auto">
          <a:xfrm>
            <a:off x="1311579" y="157164"/>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28677" name="Rectangle 5">
            <a:extLst>
              <a:ext uri="{FF2B5EF4-FFF2-40B4-BE49-F238E27FC236}">
                <a16:creationId xmlns:a16="http://schemas.microsoft.com/office/drawing/2014/main" id="{15541EDB-F27C-4972-9879-D7EAE5CFF9E2}"/>
              </a:ext>
            </a:extLst>
          </p:cNvPr>
          <p:cNvSpPr>
            <a:spLocks noChangeArrowheads="1"/>
          </p:cNvSpPr>
          <p:nvPr/>
        </p:nvSpPr>
        <p:spPr bwMode="auto">
          <a:xfrm>
            <a:off x="1692275" y="1152907"/>
            <a:ext cx="9829800" cy="158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ES_tradnl" sz="2000" dirty="0">
                <a:latin typeface="Century Gothic" panose="020B0502020202020204" pitchFamily="34" charset="0"/>
                <a:cs typeface="Arial" charset="0"/>
              </a:rPr>
              <a:t>La </a:t>
            </a:r>
            <a:r>
              <a:rPr lang="es-ES_tradnl" sz="2000" b="1" dirty="0">
                <a:latin typeface="Century Gothic" panose="020B0502020202020204" pitchFamily="34" charset="0"/>
                <a:cs typeface="Arial" charset="0"/>
              </a:rPr>
              <a:t>variación</a:t>
            </a:r>
            <a:r>
              <a:rPr lang="es-ES_tradnl" sz="2000" dirty="0">
                <a:latin typeface="Century Gothic" panose="020B0502020202020204" pitchFamily="34" charset="0"/>
                <a:cs typeface="Arial" charset="0"/>
              </a:rPr>
              <a:t> en estándar de </a:t>
            </a:r>
            <a:r>
              <a:rPr lang="es-ES_tradnl" sz="2000" b="1" dirty="0">
                <a:latin typeface="Century Gothic" panose="020B0502020202020204" pitchFamily="34" charset="0"/>
                <a:cs typeface="Arial" charset="0"/>
              </a:rPr>
              <a:t>cantidad de materia prima (V</a:t>
            </a:r>
            <a:r>
              <a:rPr lang="es-ES_tradnl" sz="2000" b="1" baseline="-25000" dirty="0">
                <a:latin typeface="Century Gothic" panose="020B0502020202020204" pitchFamily="34" charset="0"/>
                <a:cs typeface="Arial" charset="0"/>
              </a:rPr>
              <a:t>QMP</a:t>
            </a:r>
            <a:r>
              <a:rPr lang="es-ES_tradnl" sz="2000" b="1" dirty="0">
                <a:latin typeface="Century Gothic" panose="020B0502020202020204" pitchFamily="34" charset="0"/>
                <a:cs typeface="Arial" charset="0"/>
              </a:rPr>
              <a:t>) </a:t>
            </a:r>
            <a:r>
              <a:rPr lang="es-ES_tradnl" sz="2000" dirty="0">
                <a:latin typeface="Century Gothic" panose="020B0502020202020204" pitchFamily="34" charset="0"/>
                <a:cs typeface="Arial" charset="0"/>
              </a:rPr>
              <a:t>será un egreso para la empresa que se cargará al nudo de ventas o a cuenta de ganancias y pérdidas automáticamente, o sea que: </a:t>
            </a:r>
          </a:p>
          <a:p>
            <a:pPr marL="3175">
              <a:spcBef>
                <a:spcPct val="20000"/>
              </a:spcBef>
              <a:defRPr/>
            </a:pPr>
            <a:endParaRPr lang="es-ES_tradnl" sz="2000" dirty="0">
              <a:effectLst>
                <a:outerShdw blurRad="38100" dist="38100" dir="2700000" algn="tl">
                  <a:srgbClr val="C0C0C0"/>
                </a:outerShdw>
              </a:effectLst>
              <a:latin typeface="Century Gothic" panose="020B0502020202020204" pitchFamily="34" charset="0"/>
              <a:cs typeface="Arial" charset="0"/>
            </a:endParaRPr>
          </a:p>
          <a:p>
            <a:pPr marL="3175">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								Q</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x P</a:t>
            </a:r>
            <a:r>
              <a:rPr lang="es-ES_tradnl" sz="2000" baseline="-25000" dirty="0">
                <a:effectLst>
                  <a:outerShdw blurRad="38100" dist="38100" dir="2700000" algn="tl">
                    <a:srgbClr val="C0C0C0"/>
                  </a:outerShdw>
                </a:effectLst>
                <a:latin typeface="Century Gothic" panose="020B0502020202020204" pitchFamily="34" charset="0"/>
                <a:cs typeface="Arial" charset="0"/>
              </a:rPr>
              <a:t>S </a:t>
            </a:r>
            <a:r>
              <a:rPr lang="es-ES_tradnl" sz="2000" dirty="0">
                <a:effectLst>
                  <a:outerShdw blurRad="38100" dist="38100" dir="2700000" algn="tl">
                    <a:srgbClr val="C0C0C0"/>
                  </a:outerShdw>
                </a:effectLst>
                <a:latin typeface="Century Gothic" panose="020B0502020202020204" pitchFamily="34" charset="0"/>
                <a:cs typeface="Arial" charset="0"/>
              </a:rPr>
              <a:t>= Q</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x P</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 V</a:t>
            </a:r>
            <a:r>
              <a:rPr lang="es-ES_tradnl" sz="2000" baseline="-25000" dirty="0">
                <a:effectLst>
                  <a:outerShdw blurRad="38100" dist="38100" dir="2700000" algn="tl">
                    <a:srgbClr val="C0C0C0"/>
                  </a:outerShdw>
                </a:effectLst>
                <a:latin typeface="Century Gothic" panose="020B0502020202020204" pitchFamily="34" charset="0"/>
                <a:cs typeface="Arial" charset="0"/>
              </a:rPr>
              <a:t>QMP</a:t>
            </a:r>
            <a:endParaRPr lang="es-ES" sz="2000" baseline="-25000" dirty="0">
              <a:effectLst>
                <a:outerShdw blurRad="38100" dist="38100" dir="2700000" algn="tl">
                  <a:srgbClr val="C0C0C0"/>
                </a:outerShdw>
              </a:effectLst>
              <a:latin typeface="Century Gothic" panose="020B0502020202020204" pitchFamily="34" charset="0"/>
              <a:cs typeface="Arial" charset="0"/>
            </a:endParaRPr>
          </a:p>
        </p:txBody>
      </p:sp>
      <p:sp>
        <p:nvSpPr>
          <p:cNvPr id="28679" name="Rectangle 7">
            <a:extLst>
              <a:ext uri="{FF2B5EF4-FFF2-40B4-BE49-F238E27FC236}">
                <a16:creationId xmlns:a16="http://schemas.microsoft.com/office/drawing/2014/main" id="{1C1BEABB-3E52-49C0-876B-67760E552D43}"/>
              </a:ext>
            </a:extLst>
          </p:cNvPr>
          <p:cNvSpPr>
            <a:spLocks noChangeArrowheads="1"/>
          </p:cNvSpPr>
          <p:nvPr/>
        </p:nvSpPr>
        <p:spPr bwMode="auto">
          <a:xfrm>
            <a:off x="1533218" y="4367468"/>
            <a:ext cx="9688512" cy="2087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Century Gothic" panose="020B0502020202020204" pitchFamily="34" charset="0"/>
              </a:rPr>
              <a:t>Al analizar ambas expresiones de variación de materia prima, tanto de precio como de eficiencia, las cantidades puestas en juego no necesariamente son las mismas (por eso se denominan distinto). </a:t>
            </a:r>
          </a:p>
          <a:p>
            <a:pPr algn="just" eaLnBrk="1" hangingPunct="1">
              <a:spcBef>
                <a:spcPct val="20000"/>
              </a:spcBef>
            </a:pPr>
            <a:r>
              <a:rPr lang="es-ES_tradnl" altLang="es-AR" sz="2000" dirty="0">
                <a:latin typeface="Century Gothic" panose="020B0502020202020204" pitchFamily="34" charset="0"/>
              </a:rPr>
              <a:t>Sólo coincidirán cuando la cantidad adquirida en un ejercicio coincida exactamente con la cantidad consumida en la producción, aunque rara vez suceda.</a:t>
            </a:r>
            <a:endParaRPr lang="es-ES" altLang="es-AR" sz="2000" dirty="0">
              <a:latin typeface="Century Gothic" panose="020B0502020202020204" pitchFamily="34" charset="0"/>
            </a:endParaRPr>
          </a:p>
        </p:txBody>
      </p:sp>
      <p:sp>
        <p:nvSpPr>
          <p:cNvPr id="6" name="Rectangle 6">
            <a:extLst>
              <a:ext uri="{FF2B5EF4-FFF2-40B4-BE49-F238E27FC236}">
                <a16:creationId xmlns:a16="http://schemas.microsoft.com/office/drawing/2014/main" id="{FF7693B1-80D7-4572-8E99-3E7B830CBC77}"/>
              </a:ext>
            </a:extLst>
          </p:cNvPr>
          <p:cNvSpPr>
            <a:spLocks noChangeArrowheads="1"/>
          </p:cNvSpPr>
          <p:nvPr/>
        </p:nvSpPr>
        <p:spPr bwMode="auto">
          <a:xfrm>
            <a:off x="3474244" y="3372644"/>
            <a:ext cx="6265862" cy="576263"/>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ES_tradnl" altLang="es-AR" sz="2000" dirty="0">
                <a:solidFill>
                  <a:srgbClr val="CC3300"/>
                </a:solidFill>
                <a:latin typeface="Century Gothic" panose="020B0502020202020204" pitchFamily="34" charset="0"/>
              </a:rPr>
              <a:t>V</a:t>
            </a:r>
            <a:r>
              <a:rPr lang="es-ES_tradnl" altLang="es-AR" sz="2000" baseline="-25000" dirty="0">
                <a:solidFill>
                  <a:srgbClr val="CC3300"/>
                </a:solidFill>
                <a:latin typeface="Century Gothic" panose="020B0502020202020204" pitchFamily="34" charset="0"/>
              </a:rPr>
              <a:t>QMP</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R</a:t>
            </a:r>
            <a:r>
              <a:rPr lang="es-ES_tradnl" altLang="es-AR" sz="2000" dirty="0">
                <a:solidFill>
                  <a:srgbClr val="CC3300"/>
                </a:solidFill>
                <a:latin typeface="Century Gothic" panose="020B0502020202020204" pitchFamily="34" charset="0"/>
              </a:rPr>
              <a:t> x P</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P</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 P</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(Q</a:t>
            </a:r>
            <a:r>
              <a:rPr lang="es-ES_tradnl" altLang="es-AR" sz="2000" baseline="-25000" dirty="0">
                <a:solidFill>
                  <a:srgbClr val="CC3300"/>
                </a:solidFill>
                <a:latin typeface="Century Gothic" panose="020B0502020202020204" pitchFamily="34" charset="0"/>
              </a:rPr>
              <a:t>R</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a:t>
            </a:r>
            <a:r>
              <a:rPr lang="es-ES_tradnl" altLang="es-AR" sz="2000" dirty="0">
                <a:latin typeface="Century Gothic" panose="020B0502020202020204" pitchFamily="34" charset="0"/>
              </a:rPr>
              <a:t> </a:t>
            </a:r>
            <a:endParaRPr lang="es-ES" altLang="es-AR" sz="2000" dirty="0">
              <a:latin typeface="Century Gothic" panose="020B0502020202020204" pitchFamily="34" charset="0"/>
            </a:endParaRPr>
          </a:p>
        </p:txBody>
      </p:sp>
      <p:sp>
        <p:nvSpPr>
          <p:cNvPr id="3" name="Marcador de número de diapositiva 2">
            <a:extLst>
              <a:ext uri="{FF2B5EF4-FFF2-40B4-BE49-F238E27FC236}">
                <a16:creationId xmlns:a16="http://schemas.microsoft.com/office/drawing/2014/main" id="{FC298625-F59A-476B-8C0A-F005B30BE33B}"/>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p:bldP spid="28679" grpId="0"/>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a:extLst>
              <a:ext uri="{FF2B5EF4-FFF2-40B4-BE49-F238E27FC236}">
                <a16:creationId xmlns:a16="http://schemas.microsoft.com/office/drawing/2014/main" id="{A909DF01-1792-40F9-9F71-1A5B5F6A9199}"/>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29701" name="Rectangle 5">
            <a:extLst>
              <a:ext uri="{FF2B5EF4-FFF2-40B4-BE49-F238E27FC236}">
                <a16:creationId xmlns:a16="http://schemas.microsoft.com/office/drawing/2014/main" id="{EAA42FF2-455C-4418-A14D-9AC8295310D0}"/>
              </a:ext>
            </a:extLst>
          </p:cNvPr>
          <p:cNvSpPr>
            <a:spLocks noChangeArrowheads="1"/>
          </p:cNvSpPr>
          <p:nvPr/>
        </p:nvSpPr>
        <p:spPr bwMode="auto">
          <a:xfrm>
            <a:off x="1143000" y="1166022"/>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AR" sz="2000" b="1" u="sng" dirty="0">
                <a:effectLst>
                  <a:outerShdw blurRad="38100" dist="38100" dir="2700000" algn="tl">
                    <a:srgbClr val="C0C0C0"/>
                  </a:outerShdw>
                </a:effectLst>
                <a:latin typeface="Century Gothic" panose="020B0502020202020204" pitchFamily="34" charset="0"/>
                <a:cs typeface="Arial" charset="0"/>
              </a:rPr>
              <a:t>Variaciones en Estándar de Mano de Obra Directa</a:t>
            </a:r>
            <a:r>
              <a:rPr lang="es-AR" sz="2000" b="1" dirty="0">
                <a:latin typeface="Century Gothic" panose="020B0502020202020204" pitchFamily="34" charset="0"/>
                <a:cs typeface="Arial" charset="0"/>
              </a:rPr>
              <a:t>:</a:t>
            </a:r>
            <a:r>
              <a:rPr lang="es-AR" sz="2000" dirty="0">
                <a:latin typeface="Century Gothic" panose="020B0502020202020204" pitchFamily="34" charset="0"/>
                <a:cs typeface="Arial" charset="0"/>
              </a:rPr>
              <a:t> </a:t>
            </a:r>
          </a:p>
          <a:p>
            <a:pPr marL="3175" algn="just">
              <a:spcBef>
                <a:spcPct val="20000"/>
              </a:spcBef>
              <a:defRPr/>
            </a:pPr>
            <a:endParaRPr lang="es-AR" sz="2000" dirty="0">
              <a:latin typeface="Century Gothic" panose="020B0502020202020204" pitchFamily="34" charset="0"/>
              <a:cs typeface="Arial" charset="0"/>
            </a:endParaRPr>
          </a:p>
          <a:p>
            <a:pPr marL="3175" algn="just">
              <a:spcBef>
                <a:spcPct val="20000"/>
              </a:spcBef>
              <a:defRPr/>
            </a:pPr>
            <a:r>
              <a:rPr lang="es-AR" sz="2000" dirty="0">
                <a:latin typeface="Century Gothic" panose="020B0502020202020204" pitchFamily="34" charset="0"/>
                <a:cs typeface="Arial" charset="0"/>
              </a:rPr>
              <a:t>S</a:t>
            </a:r>
            <a:r>
              <a:rPr lang="es-ES_tradnl" sz="2000" dirty="0" err="1">
                <a:latin typeface="Century Gothic" panose="020B0502020202020204" pitchFamily="34" charset="0"/>
                <a:cs typeface="Arial" charset="0"/>
              </a:rPr>
              <a:t>upongamos</a:t>
            </a:r>
            <a:r>
              <a:rPr lang="es-ES_tradnl" sz="2000" dirty="0">
                <a:latin typeface="Century Gothic" panose="020B0502020202020204" pitchFamily="34" charset="0"/>
                <a:cs typeface="Arial" charset="0"/>
              </a:rPr>
              <a:t> que se utiliza una cierta cantidad real de horas trabajadas de mano de obra directa Q</a:t>
            </a:r>
            <a:r>
              <a:rPr lang="es-ES_tradnl" sz="2000" baseline="-25000" dirty="0">
                <a:latin typeface="Century Gothic" panose="020B0502020202020204" pitchFamily="34" charset="0"/>
                <a:cs typeface="Arial" charset="0"/>
              </a:rPr>
              <a:t>R</a:t>
            </a:r>
            <a:r>
              <a:rPr lang="es-ES_tradnl" sz="2000" dirty="0">
                <a:latin typeface="Century Gothic" panose="020B0502020202020204" pitchFamily="34" charset="0"/>
                <a:cs typeface="Arial" charset="0"/>
              </a:rPr>
              <a:t> a un cierto costo real C</a:t>
            </a:r>
            <a:r>
              <a:rPr lang="es-ES_tradnl" sz="2000" baseline="-25000" dirty="0">
                <a:latin typeface="Century Gothic" panose="020B0502020202020204" pitchFamily="34" charset="0"/>
                <a:cs typeface="Arial" charset="0"/>
              </a:rPr>
              <a:t>R</a:t>
            </a:r>
            <a:r>
              <a:rPr lang="es-ES" sz="2000" dirty="0">
                <a:latin typeface="Century Gothic" panose="020B0502020202020204" pitchFamily="34" charset="0"/>
                <a:cs typeface="Arial" charset="0"/>
              </a:rPr>
              <a:t> por hora.</a:t>
            </a:r>
          </a:p>
        </p:txBody>
      </p:sp>
      <p:sp>
        <p:nvSpPr>
          <p:cNvPr id="29702" name="Rectangle 6">
            <a:extLst>
              <a:ext uri="{FF2B5EF4-FFF2-40B4-BE49-F238E27FC236}">
                <a16:creationId xmlns:a16="http://schemas.microsoft.com/office/drawing/2014/main" id="{84012FF4-48B0-49FE-A1DE-04AFC737F4B9}"/>
              </a:ext>
            </a:extLst>
          </p:cNvPr>
          <p:cNvSpPr>
            <a:spLocks noChangeArrowheads="1"/>
          </p:cNvSpPr>
          <p:nvPr/>
        </p:nvSpPr>
        <p:spPr bwMode="auto">
          <a:xfrm>
            <a:off x="1143000" y="3071018"/>
            <a:ext cx="9906000"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spcBef>
                <a:spcPct val="20000"/>
              </a:spcBef>
              <a:defRPr/>
            </a:pPr>
            <a:r>
              <a:rPr lang="es-ES_tradnl" sz="2000" dirty="0">
                <a:latin typeface="Century Gothic" panose="020B0502020202020204" pitchFamily="34" charset="0"/>
                <a:cs typeface="Arial" charset="0"/>
              </a:rPr>
              <a:t>La liquidación real de jornales será: </a:t>
            </a:r>
            <a:endParaRPr lang="es-ES_tradnl" sz="2000" dirty="0">
              <a:effectLst>
                <a:outerShdw blurRad="38100" dist="38100" dir="2700000" algn="tl">
                  <a:srgbClr val="C0C0C0"/>
                </a:outerShdw>
              </a:effectLst>
              <a:latin typeface="Century Gothic" panose="020B0502020202020204" pitchFamily="34" charset="0"/>
              <a:cs typeface="Arial" charset="0"/>
            </a:endParaRPr>
          </a:p>
          <a:p>
            <a:pPr marL="3175">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										Q</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x C</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endParaRPr lang="es-ES" sz="2000" baseline="-25000" dirty="0">
              <a:effectLst>
                <a:outerShdw blurRad="38100" dist="38100" dir="2700000" algn="tl">
                  <a:srgbClr val="C0C0C0"/>
                </a:outerShdw>
              </a:effectLst>
              <a:latin typeface="Century Gothic" panose="020B0502020202020204" pitchFamily="34" charset="0"/>
              <a:cs typeface="Arial" charset="0"/>
            </a:endParaRPr>
          </a:p>
        </p:txBody>
      </p:sp>
      <p:sp>
        <p:nvSpPr>
          <p:cNvPr id="29703" name="Rectangle 7">
            <a:extLst>
              <a:ext uri="{FF2B5EF4-FFF2-40B4-BE49-F238E27FC236}">
                <a16:creationId xmlns:a16="http://schemas.microsoft.com/office/drawing/2014/main" id="{CF88DE61-3F58-4E5B-8F3E-7A0D596B584F}"/>
              </a:ext>
            </a:extLst>
          </p:cNvPr>
          <p:cNvSpPr>
            <a:spLocks noChangeArrowheads="1"/>
          </p:cNvSpPr>
          <p:nvPr/>
        </p:nvSpPr>
        <p:spPr bwMode="auto">
          <a:xfrm>
            <a:off x="1143000" y="4539454"/>
            <a:ext cx="9906000"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ES_tradnl" sz="2000" dirty="0">
                <a:latin typeface="Century Gothic" panose="020B0502020202020204" pitchFamily="34" charset="0"/>
                <a:cs typeface="Arial" charset="0"/>
              </a:rPr>
              <a:t>En producción en proceso las horas trabajadas se valorizarán a un costo estándar C</a:t>
            </a:r>
            <a:r>
              <a:rPr lang="es-ES_tradnl" sz="2000" baseline="-25000" dirty="0">
                <a:latin typeface="Century Gothic" panose="020B0502020202020204" pitchFamily="34" charset="0"/>
                <a:cs typeface="Arial" charset="0"/>
              </a:rPr>
              <a:t>S</a:t>
            </a:r>
            <a:r>
              <a:rPr lang="es-ES_tradnl" sz="2000" dirty="0">
                <a:latin typeface="Century Gothic" panose="020B0502020202020204" pitchFamily="34" charset="0"/>
                <a:cs typeface="Arial" charset="0"/>
              </a:rPr>
              <a:t> especificado o permitido, o sea: </a:t>
            </a:r>
            <a:endParaRPr lang="es-ES_tradnl" sz="2000" dirty="0">
              <a:effectLst>
                <a:outerShdw blurRad="38100" dist="38100" dir="2700000" algn="tl">
                  <a:srgbClr val="C0C0C0"/>
                </a:outerShdw>
              </a:effectLst>
              <a:latin typeface="Century Gothic" panose="020B0502020202020204" pitchFamily="34" charset="0"/>
              <a:cs typeface="Arial" charset="0"/>
            </a:endParaRPr>
          </a:p>
          <a:p>
            <a:pPr marL="3175" algn="just">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										 Q</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x C</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endParaRPr lang="es-ES" sz="2000" baseline="-25000" dirty="0">
              <a:effectLst>
                <a:outerShdw blurRad="38100" dist="38100" dir="2700000" algn="tl">
                  <a:srgbClr val="C0C0C0"/>
                </a:outerShdw>
              </a:effectLst>
              <a:latin typeface="Century Gothic" panose="020B0502020202020204" pitchFamily="34" charset="0"/>
              <a:cs typeface="Arial" charset="0"/>
            </a:endParaRPr>
          </a:p>
        </p:txBody>
      </p:sp>
      <p:sp>
        <p:nvSpPr>
          <p:cNvPr id="3" name="Marcador de número de diapositiva 2">
            <a:extLst>
              <a:ext uri="{FF2B5EF4-FFF2-40B4-BE49-F238E27FC236}">
                <a16:creationId xmlns:a16="http://schemas.microsoft.com/office/drawing/2014/main" id="{A1855263-85CC-48FC-9F7A-1D62DCEA48F6}"/>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29702"/>
                                        </p:tgtEl>
                                        <p:attrNameLst>
                                          <p:attrName>style.visibility</p:attrName>
                                        </p:attrNameLst>
                                      </p:cBhvr>
                                      <p:to>
                                        <p:strVal val="visible"/>
                                      </p:to>
                                    </p:set>
                                    <p:animEffect transition="in" filter="wipe(down)">
                                      <p:cBhvr>
                                        <p:cTn id="11" dur="500"/>
                                        <p:tgtEl>
                                          <p:spTgt spid="2970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9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p:bldP spid="29702" grpId="0"/>
      <p:bldP spid="2970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a:extLst>
              <a:ext uri="{FF2B5EF4-FFF2-40B4-BE49-F238E27FC236}">
                <a16:creationId xmlns:a16="http://schemas.microsoft.com/office/drawing/2014/main" id="{A909DF01-1792-40F9-9F71-1A5B5F6A9199}"/>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29704" name="Rectangle 8">
            <a:extLst>
              <a:ext uri="{FF2B5EF4-FFF2-40B4-BE49-F238E27FC236}">
                <a16:creationId xmlns:a16="http://schemas.microsoft.com/office/drawing/2014/main" id="{5C017ADF-A1F7-4DEA-A010-D6CC14EE667B}"/>
              </a:ext>
            </a:extLst>
          </p:cNvPr>
          <p:cNvSpPr>
            <a:spLocks noChangeArrowheads="1"/>
          </p:cNvSpPr>
          <p:nvPr/>
        </p:nvSpPr>
        <p:spPr bwMode="auto">
          <a:xfrm>
            <a:off x="1143000" y="2094602"/>
            <a:ext cx="9906000"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ES_tradnl" sz="2000" dirty="0">
                <a:latin typeface="Century Gothic" panose="020B0502020202020204" pitchFamily="34" charset="0"/>
                <a:cs typeface="Arial" charset="0"/>
              </a:rPr>
              <a:t>La variación en estándar de costo de mano de obra directa (V</a:t>
            </a:r>
            <a:r>
              <a:rPr lang="es-ES_tradnl" sz="2000" baseline="-25000" dirty="0">
                <a:latin typeface="Century Gothic" panose="020B0502020202020204" pitchFamily="34" charset="0"/>
                <a:cs typeface="Arial" charset="0"/>
              </a:rPr>
              <a:t>CMOD</a:t>
            </a:r>
            <a:r>
              <a:rPr lang="es-ES_tradnl" sz="2000" dirty="0">
                <a:latin typeface="Century Gothic" panose="020B0502020202020204" pitchFamily="34" charset="0"/>
                <a:cs typeface="Arial" charset="0"/>
              </a:rPr>
              <a:t>) resultará un egreso para la empresa que se cargará al nudo de ventas o a cuenta de ganancias y pérdidas automáticamente: </a:t>
            </a:r>
          </a:p>
          <a:p>
            <a:pPr marL="3175" algn="just">
              <a:spcBef>
                <a:spcPct val="20000"/>
              </a:spcBef>
              <a:defRPr/>
            </a:pPr>
            <a:endParaRPr lang="es-ES_tradnl" sz="2000" dirty="0">
              <a:latin typeface="Century Gothic" panose="020B0502020202020204" pitchFamily="34" charset="0"/>
              <a:cs typeface="Arial" charset="0"/>
            </a:endParaRPr>
          </a:p>
          <a:p>
            <a:pPr marL="3175">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							</a:t>
            </a:r>
            <a:r>
              <a:rPr lang="es-ES_tradnl" sz="2000" dirty="0" err="1">
                <a:effectLst>
                  <a:outerShdw blurRad="38100" dist="38100" dir="2700000" algn="tl">
                    <a:srgbClr val="C0C0C0"/>
                  </a:outerShdw>
                </a:effectLst>
                <a:latin typeface="Century Gothic" panose="020B0502020202020204" pitchFamily="34" charset="0"/>
                <a:cs typeface="Arial" charset="0"/>
              </a:rPr>
              <a:t>Q</a:t>
            </a:r>
            <a:r>
              <a:rPr lang="es-ES_tradnl" sz="2000" baseline="-25000" dirty="0" err="1">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x C</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 </a:t>
            </a:r>
            <a:r>
              <a:rPr lang="es-ES_tradnl" sz="2000" dirty="0" err="1">
                <a:effectLst>
                  <a:outerShdw blurRad="38100" dist="38100" dir="2700000" algn="tl">
                    <a:srgbClr val="C0C0C0"/>
                  </a:outerShdw>
                </a:effectLst>
                <a:latin typeface="Century Gothic" panose="020B0502020202020204" pitchFamily="34" charset="0"/>
                <a:cs typeface="Arial" charset="0"/>
              </a:rPr>
              <a:t>Q</a:t>
            </a:r>
            <a:r>
              <a:rPr lang="es-ES_tradnl" sz="2000" baseline="-25000" dirty="0" err="1">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x C</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 V</a:t>
            </a:r>
            <a:r>
              <a:rPr lang="es-ES_tradnl" sz="2000" baseline="-25000" dirty="0">
                <a:effectLst>
                  <a:outerShdw blurRad="38100" dist="38100" dir="2700000" algn="tl">
                    <a:srgbClr val="C0C0C0"/>
                  </a:outerShdw>
                </a:effectLst>
                <a:latin typeface="Century Gothic" panose="020B0502020202020204" pitchFamily="34" charset="0"/>
                <a:cs typeface="Arial" charset="0"/>
              </a:rPr>
              <a:t>CMOD</a:t>
            </a:r>
            <a:endParaRPr lang="es-ES" sz="2000" baseline="-25000" dirty="0">
              <a:effectLst>
                <a:outerShdw blurRad="38100" dist="38100" dir="2700000" algn="tl">
                  <a:srgbClr val="C0C0C0"/>
                </a:outerShdw>
              </a:effectLst>
              <a:latin typeface="Century Gothic" panose="020B0502020202020204" pitchFamily="34" charset="0"/>
              <a:cs typeface="Arial" charset="0"/>
            </a:endParaRPr>
          </a:p>
        </p:txBody>
      </p:sp>
      <p:sp>
        <p:nvSpPr>
          <p:cNvPr id="8" name="Rectangle 9">
            <a:extLst>
              <a:ext uri="{FF2B5EF4-FFF2-40B4-BE49-F238E27FC236}">
                <a16:creationId xmlns:a16="http://schemas.microsoft.com/office/drawing/2014/main" id="{3A371575-27EC-420B-AD81-A36A17F2ED26}"/>
              </a:ext>
            </a:extLst>
          </p:cNvPr>
          <p:cNvSpPr>
            <a:spLocks noChangeArrowheads="1"/>
          </p:cNvSpPr>
          <p:nvPr/>
        </p:nvSpPr>
        <p:spPr bwMode="auto">
          <a:xfrm>
            <a:off x="3362914" y="4692060"/>
            <a:ext cx="5466172" cy="576262"/>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ES_tradnl" altLang="es-AR" sz="2000" dirty="0">
                <a:solidFill>
                  <a:srgbClr val="CC3300"/>
                </a:solidFill>
                <a:latin typeface="Century Gothic" panose="020B0502020202020204" pitchFamily="34" charset="0"/>
              </a:rPr>
              <a:t>V</a:t>
            </a:r>
            <a:r>
              <a:rPr lang="es-ES_tradnl" altLang="es-AR" sz="2000" baseline="-25000" dirty="0">
                <a:solidFill>
                  <a:srgbClr val="CC3300"/>
                </a:solidFill>
                <a:latin typeface="Century Gothic" panose="020B0502020202020204" pitchFamily="34" charset="0"/>
              </a:rPr>
              <a:t>CMOD</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C</a:t>
            </a:r>
            <a:r>
              <a:rPr lang="es-ES_tradnl" altLang="es-AR" sz="2000" baseline="-25000" dirty="0">
                <a:solidFill>
                  <a:srgbClr val="CC3300"/>
                </a:solidFill>
                <a:latin typeface="Century Gothic" panose="020B0502020202020204" pitchFamily="34" charset="0"/>
              </a:rPr>
              <a:t>R</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C</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(C</a:t>
            </a:r>
            <a:r>
              <a:rPr lang="es-ES_tradnl" altLang="es-AR" sz="2000" baseline="-25000" dirty="0">
                <a:solidFill>
                  <a:srgbClr val="CC3300"/>
                </a:solidFill>
                <a:latin typeface="Century Gothic" panose="020B0502020202020204" pitchFamily="34" charset="0"/>
              </a:rPr>
              <a:t>R</a:t>
            </a:r>
            <a:r>
              <a:rPr lang="es-ES_tradnl" altLang="es-AR" sz="2000" dirty="0">
                <a:solidFill>
                  <a:srgbClr val="CC3300"/>
                </a:solidFill>
                <a:latin typeface="Century Gothic" panose="020B0502020202020204" pitchFamily="34" charset="0"/>
              </a:rPr>
              <a:t> – C</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a:t>
            </a:r>
            <a:r>
              <a:rPr lang="es-ES_tradnl" altLang="es-AR" sz="2000" dirty="0">
                <a:latin typeface="Century Gothic" panose="020B0502020202020204" pitchFamily="34" charset="0"/>
              </a:rPr>
              <a:t> </a:t>
            </a:r>
            <a:endParaRPr lang="es-ES" altLang="es-AR" sz="2000" dirty="0">
              <a:latin typeface="Century Gothic" panose="020B0502020202020204" pitchFamily="34" charset="0"/>
            </a:endParaRPr>
          </a:p>
        </p:txBody>
      </p:sp>
      <p:sp>
        <p:nvSpPr>
          <p:cNvPr id="3" name="Marcador de número de diapositiva 2">
            <a:extLst>
              <a:ext uri="{FF2B5EF4-FFF2-40B4-BE49-F238E27FC236}">
                <a16:creationId xmlns:a16="http://schemas.microsoft.com/office/drawing/2014/main" id="{A1855263-85CC-48FC-9F7A-1D62DCEA48F6}"/>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Tree>
    <p:extLst>
      <p:ext uri="{BB962C8B-B14F-4D97-AF65-F5344CB8AC3E}">
        <p14:creationId xmlns:p14="http://schemas.microsoft.com/office/powerpoint/2010/main" val="1565445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4" grpId="0"/>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a:extLst>
              <a:ext uri="{FF2B5EF4-FFF2-40B4-BE49-F238E27FC236}">
                <a16:creationId xmlns:a16="http://schemas.microsoft.com/office/drawing/2014/main" id="{729AD003-981B-4826-B74E-CC772A8F1093}"/>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30725" name="Rectangle 5">
            <a:extLst>
              <a:ext uri="{FF2B5EF4-FFF2-40B4-BE49-F238E27FC236}">
                <a16:creationId xmlns:a16="http://schemas.microsoft.com/office/drawing/2014/main" id="{FD769A5F-FF3B-47A4-A1F0-88F7DAF4E372}"/>
              </a:ext>
            </a:extLst>
          </p:cNvPr>
          <p:cNvSpPr>
            <a:spLocks noChangeArrowheads="1"/>
          </p:cNvSpPr>
          <p:nvPr/>
        </p:nvSpPr>
        <p:spPr bwMode="auto">
          <a:xfrm>
            <a:off x="1219200" y="1295781"/>
            <a:ext cx="9829800"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ES_tradnl" sz="2000" dirty="0">
                <a:latin typeface="Century Gothic" panose="020B0502020202020204" pitchFamily="34" charset="0"/>
                <a:cs typeface="Arial" charset="0"/>
              </a:rPr>
              <a:t>Sin embargo, en la producción en proceso a estándar la cantidad necesaria o permitida deberá ser la estándar predeterminada, o sea: </a:t>
            </a:r>
          </a:p>
          <a:p>
            <a:pPr marL="3175" algn="just">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										Q</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x C</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latin typeface="Century Gothic" panose="020B0502020202020204" pitchFamily="34" charset="0"/>
                <a:cs typeface="Arial" charset="0"/>
              </a:rPr>
              <a:t> </a:t>
            </a:r>
            <a:endParaRPr lang="es-ES" sz="2000" dirty="0">
              <a:latin typeface="Century Gothic" panose="020B0502020202020204" pitchFamily="34" charset="0"/>
              <a:cs typeface="Arial" charset="0"/>
            </a:endParaRPr>
          </a:p>
        </p:txBody>
      </p:sp>
      <p:sp>
        <p:nvSpPr>
          <p:cNvPr id="30726" name="Rectangle 6">
            <a:extLst>
              <a:ext uri="{FF2B5EF4-FFF2-40B4-BE49-F238E27FC236}">
                <a16:creationId xmlns:a16="http://schemas.microsoft.com/office/drawing/2014/main" id="{A8EBFD6D-AB30-4364-A034-88D0C2AA9357}"/>
              </a:ext>
            </a:extLst>
          </p:cNvPr>
          <p:cNvSpPr>
            <a:spLocks noChangeArrowheads="1"/>
          </p:cNvSpPr>
          <p:nvPr/>
        </p:nvSpPr>
        <p:spPr bwMode="auto">
          <a:xfrm>
            <a:off x="1200150" y="2349500"/>
            <a:ext cx="9848850" cy="11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Siendo Q</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la cantidad de mano de obra directa que debió utilizarse en la producción real de acuerdo con el consumo horario estándar.</a:t>
            </a:r>
            <a:r>
              <a:rPr lang="es-ES" sz="2000" dirty="0">
                <a:effectLst>
                  <a:outerShdw blurRad="38100" dist="38100" dir="2700000" algn="tl">
                    <a:srgbClr val="C0C0C0"/>
                  </a:outerShdw>
                </a:effectLst>
                <a:latin typeface="Century Gothic" panose="020B0502020202020204" pitchFamily="34" charset="0"/>
                <a:cs typeface="Arial" charset="0"/>
              </a:rPr>
              <a:t> </a:t>
            </a:r>
          </a:p>
        </p:txBody>
      </p:sp>
      <p:sp>
        <p:nvSpPr>
          <p:cNvPr id="30727" name="Rectangle 7">
            <a:extLst>
              <a:ext uri="{FF2B5EF4-FFF2-40B4-BE49-F238E27FC236}">
                <a16:creationId xmlns:a16="http://schemas.microsoft.com/office/drawing/2014/main" id="{FBA508AD-04AD-4330-BE40-2DE0101C619F}"/>
              </a:ext>
            </a:extLst>
          </p:cNvPr>
          <p:cNvSpPr>
            <a:spLocks noChangeArrowheads="1"/>
          </p:cNvSpPr>
          <p:nvPr/>
        </p:nvSpPr>
        <p:spPr bwMode="auto">
          <a:xfrm>
            <a:off x="1235075" y="3502026"/>
            <a:ext cx="9829800"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ES_tradnl" sz="2000" dirty="0">
                <a:latin typeface="Century Gothic" panose="020B0502020202020204" pitchFamily="34" charset="0"/>
                <a:cs typeface="Arial" charset="0"/>
              </a:rPr>
              <a:t>La variación en estándar de cantidad o eficiencia de mano de obra directa (V</a:t>
            </a:r>
            <a:r>
              <a:rPr lang="es-ES_tradnl" sz="2000" baseline="-25000" dirty="0">
                <a:latin typeface="Century Gothic" panose="020B0502020202020204" pitchFamily="34" charset="0"/>
                <a:cs typeface="Arial" charset="0"/>
              </a:rPr>
              <a:t>QMOD</a:t>
            </a:r>
            <a:r>
              <a:rPr lang="es-ES_tradnl" sz="2000" dirty="0">
                <a:latin typeface="Century Gothic" panose="020B0502020202020204" pitchFamily="34" charset="0"/>
                <a:cs typeface="Arial" charset="0"/>
              </a:rPr>
              <a:t>) será un egreso para la empresa que se cargará al nudo de ventas o a cuenta de ganancias y pérdidas, o sea que:</a:t>
            </a:r>
            <a:r>
              <a:rPr lang="es-ES" sz="2000" dirty="0">
                <a:latin typeface="Century Gothic" panose="020B0502020202020204" pitchFamily="34" charset="0"/>
                <a:cs typeface="Arial" charset="0"/>
              </a:rPr>
              <a:t>      </a:t>
            </a:r>
          </a:p>
          <a:p>
            <a:pPr marL="3175" algn="just">
              <a:spcBef>
                <a:spcPct val="20000"/>
              </a:spcBef>
              <a:defRPr/>
            </a:pPr>
            <a:r>
              <a:rPr lang="es-ES" sz="2000" dirty="0">
                <a:effectLst>
                  <a:outerShdw blurRad="38100" dist="38100" dir="2700000" algn="tl">
                    <a:srgbClr val="C0C0C0"/>
                  </a:outerShdw>
                </a:effectLst>
                <a:latin typeface="Century Gothic" panose="020B0502020202020204" pitchFamily="34" charset="0"/>
                <a:cs typeface="Arial" charset="0"/>
              </a:rPr>
              <a:t>								</a:t>
            </a:r>
            <a:r>
              <a:rPr lang="es-ES_tradnl" sz="2000" dirty="0">
                <a:effectLst>
                  <a:outerShdw blurRad="38100" dist="38100" dir="2700000" algn="tl">
                    <a:srgbClr val="C0C0C0"/>
                  </a:outerShdw>
                </a:effectLst>
                <a:latin typeface="Century Gothic" panose="020B0502020202020204" pitchFamily="34" charset="0"/>
                <a:cs typeface="Arial" charset="0"/>
              </a:rPr>
              <a:t>Q</a:t>
            </a:r>
            <a:r>
              <a:rPr lang="es-ES_tradnl" sz="2000" baseline="-25000" dirty="0">
                <a:effectLst>
                  <a:outerShdw blurRad="38100" dist="38100" dir="2700000" algn="tl">
                    <a:srgbClr val="C0C0C0"/>
                  </a:outerShdw>
                </a:effectLst>
                <a:latin typeface="Century Gothic" panose="020B0502020202020204" pitchFamily="34" charset="0"/>
                <a:cs typeface="Arial" charset="0"/>
              </a:rPr>
              <a:t>R</a:t>
            </a:r>
            <a:r>
              <a:rPr lang="es-ES_tradnl" sz="2000" dirty="0">
                <a:effectLst>
                  <a:outerShdw blurRad="38100" dist="38100" dir="2700000" algn="tl">
                    <a:srgbClr val="C0C0C0"/>
                  </a:outerShdw>
                </a:effectLst>
                <a:latin typeface="Century Gothic" panose="020B0502020202020204" pitchFamily="34" charset="0"/>
                <a:cs typeface="Arial" charset="0"/>
              </a:rPr>
              <a:t> x C</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 Q</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x C</a:t>
            </a:r>
            <a:r>
              <a:rPr lang="es-ES_tradnl" sz="2000" baseline="-25000" dirty="0">
                <a:effectLst>
                  <a:outerShdw blurRad="38100" dist="38100" dir="2700000" algn="tl">
                    <a:srgbClr val="C0C0C0"/>
                  </a:outerShdw>
                </a:effectLst>
                <a:latin typeface="Century Gothic" panose="020B0502020202020204" pitchFamily="34" charset="0"/>
                <a:cs typeface="Arial" charset="0"/>
              </a:rPr>
              <a:t>S</a:t>
            </a:r>
            <a:r>
              <a:rPr lang="es-ES_tradnl" sz="2000" dirty="0">
                <a:effectLst>
                  <a:outerShdw blurRad="38100" dist="38100" dir="2700000" algn="tl">
                    <a:srgbClr val="C0C0C0"/>
                  </a:outerShdw>
                </a:effectLst>
                <a:latin typeface="Century Gothic" panose="020B0502020202020204" pitchFamily="34" charset="0"/>
                <a:cs typeface="Arial" charset="0"/>
              </a:rPr>
              <a:t> + V</a:t>
            </a:r>
            <a:r>
              <a:rPr lang="es-ES_tradnl" sz="2000" baseline="-25000" dirty="0">
                <a:effectLst>
                  <a:outerShdw blurRad="38100" dist="38100" dir="2700000" algn="tl">
                    <a:srgbClr val="C0C0C0"/>
                  </a:outerShdw>
                </a:effectLst>
                <a:latin typeface="Century Gothic" panose="020B0502020202020204" pitchFamily="34" charset="0"/>
                <a:cs typeface="Arial" charset="0"/>
              </a:rPr>
              <a:t>QMOD</a:t>
            </a:r>
            <a:endParaRPr lang="es-ES" sz="2000" baseline="-25000" dirty="0">
              <a:effectLst>
                <a:outerShdw blurRad="38100" dist="38100" dir="2700000" algn="tl">
                  <a:srgbClr val="C0C0C0"/>
                </a:outerShdw>
              </a:effectLst>
              <a:latin typeface="Century Gothic" panose="020B0502020202020204" pitchFamily="34" charset="0"/>
              <a:cs typeface="Arial" charset="0"/>
            </a:endParaRPr>
          </a:p>
        </p:txBody>
      </p:sp>
      <p:sp>
        <p:nvSpPr>
          <p:cNvPr id="7" name="Rectangle 8">
            <a:extLst>
              <a:ext uri="{FF2B5EF4-FFF2-40B4-BE49-F238E27FC236}">
                <a16:creationId xmlns:a16="http://schemas.microsoft.com/office/drawing/2014/main" id="{CDECB8A1-3ED1-4832-97E0-B68FB721811B}"/>
              </a:ext>
            </a:extLst>
          </p:cNvPr>
          <p:cNvSpPr>
            <a:spLocks noChangeArrowheads="1"/>
          </p:cNvSpPr>
          <p:nvPr/>
        </p:nvSpPr>
        <p:spPr bwMode="auto">
          <a:xfrm>
            <a:off x="3614405" y="5636835"/>
            <a:ext cx="5577553" cy="576262"/>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ES_tradnl" altLang="es-AR" sz="2000" dirty="0">
                <a:solidFill>
                  <a:srgbClr val="CC3300"/>
                </a:solidFill>
                <a:latin typeface="Century Gothic" panose="020B0502020202020204" pitchFamily="34" charset="0"/>
              </a:rPr>
              <a:t>V</a:t>
            </a:r>
            <a:r>
              <a:rPr lang="es-ES_tradnl" altLang="es-AR" sz="2000" baseline="-25000" dirty="0">
                <a:solidFill>
                  <a:srgbClr val="CC3300"/>
                </a:solidFill>
                <a:latin typeface="Century Gothic" panose="020B0502020202020204" pitchFamily="34" charset="0"/>
              </a:rPr>
              <a:t>QMOD</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R</a:t>
            </a:r>
            <a:r>
              <a:rPr lang="es-ES_tradnl" altLang="es-AR" sz="2000" dirty="0">
                <a:solidFill>
                  <a:srgbClr val="CC3300"/>
                </a:solidFill>
                <a:latin typeface="Century Gothic" panose="020B0502020202020204" pitchFamily="34" charset="0"/>
              </a:rPr>
              <a:t> x C</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C</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 C</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 x (Q</a:t>
            </a:r>
            <a:r>
              <a:rPr lang="es-ES_tradnl" altLang="es-AR" sz="2000" baseline="-25000" dirty="0">
                <a:solidFill>
                  <a:srgbClr val="CC3300"/>
                </a:solidFill>
                <a:latin typeface="Century Gothic" panose="020B0502020202020204" pitchFamily="34" charset="0"/>
              </a:rPr>
              <a:t>R</a:t>
            </a:r>
            <a:r>
              <a:rPr lang="es-ES_tradnl" altLang="es-AR" sz="2000" dirty="0">
                <a:solidFill>
                  <a:srgbClr val="CC3300"/>
                </a:solidFill>
                <a:latin typeface="Century Gothic" panose="020B0502020202020204" pitchFamily="34" charset="0"/>
              </a:rPr>
              <a:t> – Q</a:t>
            </a:r>
            <a:r>
              <a:rPr lang="es-ES_tradnl" altLang="es-AR" sz="2000" baseline="-25000" dirty="0">
                <a:solidFill>
                  <a:srgbClr val="CC3300"/>
                </a:solidFill>
                <a:latin typeface="Century Gothic" panose="020B0502020202020204" pitchFamily="34" charset="0"/>
              </a:rPr>
              <a:t>S</a:t>
            </a:r>
            <a:r>
              <a:rPr lang="es-ES_tradnl" altLang="es-AR" sz="2000" dirty="0">
                <a:solidFill>
                  <a:srgbClr val="CC3300"/>
                </a:solidFill>
                <a:latin typeface="Century Gothic" panose="020B0502020202020204" pitchFamily="34" charset="0"/>
              </a:rPr>
              <a:t>)</a:t>
            </a:r>
            <a:r>
              <a:rPr lang="es-ES_tradnl" altLang="es-AR" sz="2000" dirty="0">
                <a:latin typeface="Century Gothic" panose="020B0502020202020204" pitchFamily="34" charset="0"/>
              </a:rPr>
              <a:t> </a:t>
            </a:r>
            <a:endParaRPr lang="es-ES" altLang="es-AR" sz="2000" dirty="0">
              <a:latin typeface="Century Gothic" panose="020B0502020202020204" pitchFamily="34" charset="0"/>
            </a:endParaRPr>
          </a:p>
        </p:txBody>
      </p:sp>
      <p:sp>
        <p:nvSpPr>
          <p:cNvPr id="3" name="Marcador de número de diapositiva 2">
            <a:extLst>
              <a:ext uri="{FF2B5EF4-FFF2-40B4-BE49-F238E27FC236}">
                <a16:creationId xmlns:a16="http://schemas.microsoft.com/office/drawing/2014/main" id="{137B98BD-FFF2-4949-9AB4-47C1CDA077E9}"/>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30726"/>
                                        </p:tgtEl>
                                        <p:attrNameLst>
                                          <p:attrName>style.visibility</p:attrName>
                                        </p:attrNameLst>
                                      </p:cBhvr>
                                      <p:to>
                                        <p:strVal val="visible"/>
                                      </p:to>
                                    </p:set>
                                    <p:animEffect transition="in" filter="wipe(down)">
                                      <p:cBhvr>
                                        <p:cTn id="11" dur="500"/>
                                        <p:tgtEl>
                                          <p:spTgt spid="3072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072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30726" grpId="0"/>
      <p:bldP spid="30727" grpId="0"/>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ext Box 4">
            <a:extLst>
              <a:ext uri="{FF2B5EF4-FFF2-40B4-BE49-F238E27FC236}">
                <a16:creationId xmlns:a16="http://schemas.microsoft.com/office/drawing/2014/main" id="{4119CB27-B96C-4633-A1BA-311BF3CB7C54}"/>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31749" name="Rectangle 5">
            <a:extLst>
              <a:ext uri="{FF2B5EF4-FFF2-40B4-BE49-F238E27FC236}">
                <a16:creationId xmlns:a16="http://schemas.microsoft.com/office/drawing/2014/main" id="{EF915EA2-93CD-4F2F-98A7-C0312480E503}"/>
              </a:ext>
            </a:extLst>
          </p:cNvPr>
          <p:cNvSpPr>
            <a:spLocks noChangeArrowheads="1"/>
          </p:cNvSpPr>
          <p:nvPr/>
        </p:nvSpPr>
        <p:spPr bwMode="auto">
          <a:xfrm>
            <a:off x="1219200" y="1270000"/>
            <a:ext cx="9829800" cy="263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ES_tradnl" sz="2000" b="1" u="sng" dirty="0">
                <a:effectLst>
                  <a:outerShdw blurRad="38100" dist="38100" dir="2700000" algn="tl">
                    <a:srgbClr val="C0C0C0"/>
                  </a:outerShdw>
                </a:effectLst>
                <a:latin typeface="Century Gothic" panose="020B0502020202020204" pitchFamily="34" charset="0"/>
                <a:cs typeface="Arial" charset="0"/>
              </a:rPr>
              <a:t>Conclusión</a:t>
            </a:r>
            <a:r>
              <a:rPr lang="es-ES_tradnl" sz="2000" b="1" dirty="0">
                <a:effectLst>
                  <a:outerShdw blurRad="38100" dist="38100" dir="2700000" algn="tl">
                    <a:srgbClr val="C0C0C0"/>
                  </a:outerShdw>
                </a:effectLst>
                <a:latin typeface="Century Gothic" panose="020B0502020202020204" pitchFamily="34" charset="0"/>
                <a:cs typeface="Arial" charset="0"/>
              </a:rPr>
              <a:t>: </a:t>
            </a:r>
          </a:p>
          <a:p>
            <a:pPr marL="3175" algn="just">
              <a:spcBef>
                <a:spcPct val="20000"/>
              </a:spcBef>
              <a:defRPr/>
            </a:pPr>
            <a:endParaRPr lang="es-ES_tradnl" sz="2000" dirty="0">
              <a:effectLst>
                <a:outerShdw blurRad="38100" dist="38100" dir="2700000" algn="tl">
                  <a:srgbClr val="C0C0C0"/>
                </a:outerShdw>
              </a:effectLst>
              <a:latin typeface="Century Gothic" panose="020B0502020202020204" pitchFamily="34" charset="0"/>
              <a:cs typeface="Arial" charset="0"/>
            </a:endParaRPr>
          </a:p>
          <a:p>
            <a:pPr marL="3175" algn="just">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Considerando que no tenemos costos indirectos de fabricación, podemos ver que la producción terminada quedó toda valorizada a estándar y por lo tanto el costo de ventas estará a estándar y la contribución marginal de la misma forma, dado que las variaciones se cargarán al Cuadro de Resultados por debajo de la contribución marginal y en cada período en que se produzcan, como debe ser por tratarse de ineficiencias. </a:t>
            </a:r>
          </a:p>
          <a:p>
            <a:pPr marL="3175" algn="just">
              <a:spcBef>
                <a:spcPct val="20000"/>
              </a:spcBef>
              <a:defRPr/>
            </a:pPr>
            <a:endParaRPr lang="es-ES_tradnl" sz="2000" dirty="0">
              <a:effectLst>
                <a:outerShdw blurRad="38100" dist="38100" dir="2700000" algn="tl">
                  <a:srgbClr val="C0C0C0"/>
                </a:outerShdw>
              </a:effectLst>
              <a:latin typeface="Century Gothic" panose="020B0502020202020204" pitchFamily="34" charset="0"/>
              <a:cs typeface="Arial" charset="0"/>
            </a:endParaRPr>
          </a:p>
          <a:p>
            <a:pPr marL="3175" algn="just">
              <a:spcBef>
                <a:spcPct val="20000"/>
              </a:spcBef>
              <a:defRPr/>
            </a:pPr>
            <a:r>
              <a:rPr lang="es-ES_tradnl" sz="2000" dirty="0">
                <a:effectLst>
                  <a:outerShdw blurRad="38100" dist="38100" dir="2700000" algn="tl">
                    <a:srgbClr val="C0C0C0"/>
                  </a:outerShdw>
                </a:effectLst>
                <a:latin typeface="Century Gothic" panose="020B0502020202020204" pitchFamily="34" charset="0"/>
                <a:cs typeface="Arial" charset="0"/>
              </a:rPr>
              <a:t>Por tal motivo, resulta importante tener en cuenta que al cambiar un costo estándar se deben revalorizar todos los inventarios.</a:t>
            </a:r>
            <a:endParaRPr lang="es-ES" sz="2000" dirty="0">
              <a:effectLst>
                <a:outerShdw blurRad="38100" dist="38100" dir="2700000" algn="tl">
                  <a:srgbClr val="C0C0C0"/>
                </a:outerShdw>
              </a:effectLst>
              <a:latin typeface="Century Gothic" panose="020B0502020202020204" pitchFamily="34" charset="0"/>
              <a:cs typeface="Arial" charset="0"/>
            </a:endParaRPr>
          </a:p>
        </p:txBody>
      </p:sp>
      <p:sp>
        <p:nvSpPr>
          <p:cNvPr id="3" name="Marcador de número de diapositiva 2">
            <a:extLst>
              <a:ext uri="{FF2B5EF4-FFF2-40B4-BE49-F238E27FC236}">
                <a16:creationId xmlns:a16="http://schemas.microsoft.com/office/drawing/2014/main" id="{8D2B0A1F-49FB-41A4-82FF-4288C9C4F540}"/>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wipe(down)">
                                      <p:cBhvr>
                                        <p:cTn id="7" dur="500"/>
                                        <p:tgtEl>
                                          <p:spTgt spid="31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a:extLst>
              <a:ext uri="{FF2B5EF4-FFF2-40B4-BE49-F238E27FC236}">
                <a16:creationId xmlns:a16="http://schemas.microsoft.com/office/drawing/2014/main" id="{A44DCC8D-BE4A-47B3-826B-1E8F4ACA2839}"/>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32773" name="Rectangle 5">
            <a:extLst>
              <a:ext uri="{FF2B5EF4-FFF2-40B4-BE49-F238E27FC236}">
                <a16:creationId xmlns:a16="http://schemas.microsoft.com/office/drawing/2014/main" id="{5B09C4CE-DC07-47B2-805F-B18CD24E2F46}"/>
              </a:ext>
            </a:extLst>
          </p:cNvPr>
          <p:cNvSpPr>
            <a:spLocks noChangeArrowheads="1"/>
          </p:cNvSpPr>
          <p:nvPr/>
        </p:nvSpPr>
        <p:spPr bwMode="auto">
          <a:xfrm>
            <a:off x="1127125" y="1052512"/>
            <a:ext cx="9906000" cy="2447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175" algn="just">
              <a:spcBef>
                <a:spcPct val="20000"/>
              </a:spcBef>
              <a:defRPr/>
            </a:pPr>
            <a:r>
              <a:rPr lang="es-AR" sz="2000" b="1" u="sng" dirty="0">
                <a:effectLst>
                  <a:outerShdw blurRad="38100" dist="38100" dir="2700000" algn="tl">
                    <a:srgbClr val="C0C0C0"/>
                  </a:outerShdw>
                </a:effectLst>
                <a:latin typeface="Century Gothic" panose="020B0502020202020204" pitchFamily="34" charset="0"/>
                <a:cs typeface="Arial" charset="0"/>
              </a:rPr>
              <a:t>Variación en Estándar de Costos Indirectos de Fabricación</a:t>
            </a:r>
            <a:r>
              <a:rPr lang="es-AR" sz="2000" dirty="0">
                <a:latin typeface="Century Gothic" panose="020B0502020202020204" pitchFamily="34" charset="0"/>
                <a:cs typeface="Arial" charset="0"/>
              </a:rPr>
              <a:t>:</a:t>
            </a:r>
          </a:p>
          <a:p>
            <a:pPr marL="3175" algn="just">
              <a:spcBef>
                <a:spcPct val="20000"/>
              </a:spcBef>
              <a:defRPr/>
            </a:pPr>
            <a:endParaRPr lang="es-AR" sz="2000" dirty="0">
              <a:latin typeface="Century Gothic" panose="020B0502020202020204" pitchFamily="34" charset="0"/>
              <a:cs typeface="Arial" charset="0"/>
            </a:endParaRPr>
          </a:p>
          <a:p>
            <a:pPr marL="3175" algn="just">
              <a:spcBef>
                <a:spcPct val="20000"/>
              </a:spcBef>
              <a:defRPr/>
            </a:pPr>
            <a:r>
              <a:rPr lang="es-AR" sz="2000" dirty="0">
                <a:latin typeface="Century Gothic" panose="020B0502020202020204" pitchFamily="34" charset="0"/>
                <a:cs typeface="Arial" charset="0"/>
              </a:rPr>
              <a:t> </a:t>
            </a:r>
          </a:p>
          <a:p>
            <a:pPr marL="3175" algn="just">
              <a:spcBef>
                <a:spcPct val="20000"/>
              </a:spcBef>
              <a:defRPr/>
            </a:pPr>
            <a:r>
              <a:rPr lang="es-ES_tradnl" sz="2000" dirty="0">
                <a:latin typeface="Century Gothic" panose="020B0502020202020204" pitchFamily="34" charset="0"/>
                <a:cs typeface="Arial" charset="0"/>
              </a:rPr>
              <a:t>Resulta similar a las variaciones de materias primas y de mano de obra directa. Los costos estándar se comparan con los reales como un medio para evaluar el desempeño. Sin embargo el procedimiento específico es totalmente diferente</a:t>
            </a:r>
            <a:r>
              <a:rPr lang="es-ES" sz="2000" dirty="0">
                <a:latin typeface="Century Gothic" panose="020B0502020202020204" pitchFamily="34" charset="0"/>
                <a:cs typeface="Arial" charset="0"/>
              </a:rPr>
              <a:t>.</a:t>
            </a:r>
          </a:p>
        </p:txBody>
      </p:sp>
      <p:sp>
        <p:nvSpPr>
          <p:cNvPr id="32774" name="Rectangle 6">
            <a:extLst>
              <a:ext uri="{FF2B5EF4-FFF2-40B4-BE49-F238E27FC236}">
                <a16:creationId xmlns:a16="http://schemas.microsoft.com/office/drawing/2014/main" id="{B0273BDC-20F8-4849-B679-961B4B2D2E45}"/>
              </a:ext>
            </a:extLst>
          </p:cNvPr>
          <p:cNvSpPr>
            <a:spLocks noChangeArrowheads="1"/>
          </p:cNvSpPr>
          <p:nvPr/>
        </p:nvSpPr>
        <p:spPr bwMode="auto">
          <a:xfrm>
            <a:off x="1245211" y="4131957"/>
            <a:ext cx="9906000" cy="1187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17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Century Gothic" panose="020B0502020202020204" pitchFamily="34" charset="0"/>
              </a:rPr>
              <a:t>Supongamos un presupuesto para la empresa que posee un nivel de actividad presupuestado de una cierta cantidad de horas de mano de obra directa. </a:t>
            </a:r>
          </a:p>
        </p:txBody>
      </p:sp>
      <p:sp>
        <p:nvSpPr>
          <p:cNvPr id="3" name="Marcador de número de diapositiva 2">
            <a:extLst>
              <a:ext uri="{FF2B5EF4-FFF2-40B4-BE49-F238E27FC236}">
                <a16:creationId xmlns:a16="http://schemas.microsoft.com/office/drawing/2014/main" id="{DE63B8D0-AC03-4A25-B9EF-1AFA62ABEBEC}"/>
              </a:ext>
            </a:extLst>
          </p:cNvPr>
          <p:cNvSpPr>
            <a:spLocks noGrp="1"/>
          </p:cNvSpPr>
          <p:nvPr>
            <p:ph type="sldNum" sz="quarter" idx="12"/>
          </p:nvPr>
        </p:nvSpPr>
        <p:spPr/>
        <p:txBody>
          <a:bodyPr/>
          <a:lstStyle/>
          <a:p>
            <a:fld id="{D57F1E4F-1CFF-5643-939E-217C01CDF565}" type="slidenum">
              <a:rPr lang="en-US" smtClean="0"/>
              <a:pPr/>
              <a:t>37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p:bldP spid="3277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a:extLst>
              <a:ext uri="{FF2B5EF4-FFF2-40B4-BE49-F238E27FC236}">
                <a16:creationId xmlns:a16="http://schemas.microsoft.com/office/drawing/2014/main" id="{A44DCC8D-BE4A-47B3-826B-1E8F4ACA2839}"/>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32774" name="Rectangle 6">
            <a:extLst>
              <a:ext uri="{FF2B5EF4-FFF2-40B4-BE49-F238E27FC236}">
                <a16:creationId xmlns:a16="http://schemas.microsoft.com/office/drawing/2014/main" id="{B0273BDC-20F8-4849-B679-961B4B2D2E45}"/>
              </a:ext>
            </a:extLst>
          </p:cNvPr>
          <p:cNvSpPr>
            <a:spLocks noChangeArrowheads="1"/>
          </p:cNvSpPr>
          <p:nvPr/>
        </p:nvSpPr>
        <p:spPr bwMode="auto">
          <a:xfrm>
            <a:off x="1211826" y="2018020"/>
            <a:ext cx="9906000" cy="304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17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_tradnl" altLang="es-AR" sz="2000" dirty="0">
                <a:latin typeface="Century Gothic" panose="020B0502020202020204" pitchFamily="34" charset="0"/>
              </a:rPr>
              <a:t>Si el nivel de actividad se midiera en otras bases, horas máquina, unidades, etc., se usarían estas en lugar de horas de MOD. </a:t>
            </a:r>
          </a:p>
          <a:p>
            <a:pPr algn="just" eaLnBrk="1" hangingPunct="1">
              <a:spcBef>
                <a:spcPct val="20000"/>
              </a:spcBef>
            </a:pPr>
            <a:endParaRPr lang="es-ES_tradnl" altLang="es-AR" sz="2000" dirty="0">
              <a:latin typeface="Century Gothic" panose="020B0502020202020204" pitchFamily="34" charset="0"/>
            </a:endParaRPr>
          </a:p>
          <a:p>
            <a:pPr algn="just" eaLnBrk="1" hangingPunct="1">
              <a:spcBef>
                <a:spcPct val="20000"/>
              </a:spcBef>
            </a:pPr>
            <a:endParaRPr lang="es-ES_tradnl" altLang="es-AR" sz="2000" dirty="0">
              <a:latin typeface="Century Gothic" panose="020B0502020202020204" pitchFamily="34" charset="0"/>
            </a:endParaRPr>
          </a:p>
          <a:p>
            <a:pPr algn="just" eaLnBrk="1" hangingPunct="1">
              <a:spcBef>
                <a:spcPct val="20000"/>
              </a:spcBef>
            </a:pPr>
            <a:r>
              <a:rPr lang="es-ES_tradnl" altLang="es-AR" sz="2000" dirty="0">
                <a:latin typeface="Century Gothic" panose="020B0502020202020204" pitchFamily="34" charset="0"/>
              </a:rPr>
              <a:t>El análisis de costos indirectos de fabricación exige más detalle que el de variaciones de mano de obra y materias primas, ya que se debe tener en cuenta la variación de volumen además de las de precio y eficiencia, es decir, la pérdida por capacidad ociosa.</a:t>
            </a:r>
            <a:endParaRPr lang="es-ES" altLang="es-AR" sz="2000" dirty="0">
              <a:latin typeface="Century Gothic" panose="020B0502020202020204" pitchFamily="34" charset="0"/>
            </a:endParaRPr>
          </a:p>
        </p:txBody>
      </p:sp>
      <p:sp>
        <p:nvSpPr>
          <p:cNvPr id="3" name="Marcador de número de diapositiva 2">
            <a:extLst>
              <a:ext uri="{FF2B5EF4-FFF2-40B4-BE49-F238E27FC236}">
                <a16:creationId xmlns:a16="http://schemas.microsoft.com/office/drawing/2014/main" id="{DE63B8D0-AC03-4A25-B9EF-1AFA62ABEBEC}"/>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Tree>
    <p:extLst>
      <p:ext uri="{BB962C8B-B14F-4D97-AF65-F5344CB8AC3E}">
        <p14:creationId xmlns:p14="http://schemas.microsoft.com/office/powerpoint/2010/main" val="5841958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a:extLst>
              <a:ext uri="{FF2B5EF4-FFF2-40B4-BE49-F238E27FC236}">
                <a16:creationId xmlns:a16="http://schemas.microsoft.com/office/drawing/2014/main" id="{A431C8BF-05CB-4D70-BFB1-5A71265CCD2F}"/>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VARIACIONES EN ESTANDAR</a:t>
            </a:r>
          </a:p>
        </p:txBody>
      </p:sp>
      <p:sp>
        <p:nvSpPr>
          <p:cNvPr id="33797" name="Rectangle 5">
            <a:extLst>
              <a:ext uri="{FF2B5EF4-FFF2-40B4-BE49-F238E27FC236}">
                <a16:creationId xmlns:a16="http://schemas.microsoft.com/office/drawing/2014/main" id="{5726968A-3A9C-4381-A79C-74A273E38D5D}"/>
              </a:ext>
            </a:extLst>
          </p:cNvPr>
          <p:cNvSpPr>
            <a:spLocks noChangeArrowheads="1"/>
          </p:cNvSpPr>
          <p:nvPr/>
        </p:nvSpPr>
        <p:spPr bwMode="auto">
          <a:xfrm>
            <a:off x="1127125" y="1163638"/>
            <a:ext cx="99060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1"/>
              </a:buClr>
            </a:pPr>
            <a:r>
              <a:rPr lang="es-ES_tradnl" altLang="es-AR" sz="2000" dirty="0">
                <a:latin typeface="Century Gothic" panose="020B0502020202020204" pitchFamily="34" charset="0"/>
              </a:rPr>
              <a:t>La variación del presupuesto se puede dividir en 3 variaciones:</a:t>
            </a:r>
            <a:r>
              <a:rPr lang="es-ES" altLang="es-AR" sz="2000" dirty="0">
                <a:latin typeface="Century Gothic" panose="020B0502020202020204" pitchFamily="34" charset="0"/>
              </a:rPr>
              <a:t> </a:t>
            </a:r>
          </a:p>
        </p:txBody>
      </p:sp>
      <p:sp>
        <p:nvSpPr>
          <p:cNvPr id="33798" name="Rectangle 6">
            <a:extLst>
              <a:ext uri="{FF2B5EF4-FFF2-40B4-BE49-F238E27FC236}">
                <a16:creationId xmlns:a16="http://schemas.microsoft.com/office/drawing/2014/main" id="{4D7B2A44-6C5C-42CB-97F9-F5C0BE97DCC7}"/>
              </a:ext>
            </a:extLst>
          </p:cNvPr>
          <p:cNvSpPr>
            <a:spLocks noChangeArrowheads="1"/>
          </p:cNvSpPr>
          <p:nvPr/>
        </p:nvSpPr>
        <p:spPr bwMode="auto">
          <a:xfrm>
            <a:off x="1058197" y="1931988"/>
            <a:ext cx="99060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517525" indent="-342900" eaLnBrk="1" hangingPunct="1">
              <a:spcBef>
                <a:spcPct val="20000"/>
              </a:spcBef>
              <a:buClr>
                <a:schemeClr val="accent1"/>
              </a:buClr>
              <a:buFont typeface="Arial" panose="020B0604020202020204" pitchFamily="34" charset="0"/>
              <a:buChar char="•"/>
            </a:pPr>
            <a:r>
              <a:rPr lang="es-ES" altLang="es-AR" sz="2000" dirty="0">
                <a:latin typeface="Century Gothic" panose="020B0502020202020204" pitchFamily="34" charset="0"/>
              </a:rPr>
              <a:t> </a:t>
            </a:r>
            <a:r>
              <a:rPr lang="es-ES_tradnl" altLang="es-AR" sz="2000" u="sng" dirty="0">
                <a:latin typeface="Century Gothic" panose="020B0502020202020204" pitchFamily="34" charset="0"/>
              </a:rPr>
              <a:t>Una variación de precio (gasto) (</a:t>
            </a:r>
            <a:r>
              <a:rPr lang="es-ES_tradnl" altLang="es-AR" sz="2000" b="1" u="sng" dirty="0" err="1">
                <a:latin typeface="Century Gothic" panose="020B0502020202020204" pitchFamily="34" charset="0"/>
              </a:rPr>
              <a:t>Vp</a:t>
            </a:r>
            <a:r>
              <a:rPr lang="es-ES_tradnl" altLang="es-AR" sz="2000" b="1" u="sng" dirty="0">
                <a:latin typeface="Century Gothic" panose="020B0502020202020204" pitchFamily="34" charset="0"/>
              </a:rPr>
              <a:t>(g)</a:t>
            </a:r>
            <a:r>
              <a:rPr lang="es-ES_tradnl" altLang="es-AR" sz="2000" u="sng" dirty="0">
                <a:latin typeface="Century Gothic" panose="020B0502020202020204" pitchFamily="34" charset="0"/>
              </a:rPr>
              <a:t>)</a:t>
            </a:r>
            <a:r>
              <a:rPr lang="es-ES_tradnl" altLang="es-AR" sz="2000" dirty="0">
                <a:latin typeface="Century Gothic" panose="020B0502020202020204" pitchFamily="34" charset="0"/>
              </a:rPr>
              <a:t>: </a:t>
            </a:r>
          </a:p>
          <a:p>
            <a:pPr eaLnBrk="1" hangingPunct="1">
              <a:spcBef>
                <a:spcPct val="20000"/>
              </a:spcBef>
              <a:buClr>
                <a:schemeClr val="accent1"/>
              </a:buClr>
            </a:pPr>
            <a:r>
              <a:rPr lang="es-ES_tradnl" altLang="es-AR" sz="2000" dirty="0">
                <a:latin typeface="Century Gothic" panose="020B0502020202020204" pitchFamily="34" charset="0"/>
              </a:rPr>
              <a:t>	  El Gasto se pagó a un precio diferente del estándar</a:t>
            </a:r>
            <a:r>
              <a:rPr lang="es-ES" altLang="es-AR" sz="2000" dirty="0">
                <a:latin typeface="Century Gothic" panose="020B0502020202020204" pitchFamily="34" charset="0"/>
              </a:rPr>
              <a:t>.</a:t>
            </a:r>
          </a:p>
        </p:txBody>
      </p:sp>
      <p:sp>
        <p:nvSpPr>
          <p:cNvPr id="33799" name="Rectangle 7">
            <a:extLst>
              <a:ext uri="{FF2B5EF4-FFF2-40B4-BE49-F238E27FC236}">
                <a16:creationId xmlns:a16="http://schemas.microsoft.com/office/drawing/2014/main" id="{8C2CC4D5-2F81-4206-B54F-73A9803562E7}"/>
              </a:ext>
            </a:extLst>
          </p:cNvPr>
          <p:cNvSpPr>
            <a:spLocks noChangeArrowheads="1"/>
          </p:cNvSpPr>
          <p:nvPr/>
        </p:nvSpPr>
        <p:spPr bwMode="auto">
          <a:xfrm>
            <a:off x="1092968" y="3177105"/>
            <a:ext cx="9906000" cy="1098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517525" indent="-342900" algn="just" eaLnBrk="1" hangingPunct="1">
              <a:spcBef>
                <a:spcPct val="20000"/>
              </a:spcBef>
              <a:buClr>
                <a:schemeClr val="accent1"/>
              </a:buClr>
              <a:buFont typeface="Arial" panose="020B0604020202020204" pitchFamily="34" charset="0"/>
              <a:buChar char="•"/>
            </a:pPr>
            <a:r>
              <a:rPr lang="es-ES" altLang="es-AR" sz="2000" dirty="0">
                <a:latin typeface="Century Gothic" panose="020B0502020202020204" pitchFamily="34" charset="0"/>
              </a:rPr>
              <a:t> </a:t>
            </a:r>
            <a:r>
              <a:rPr lang="es-ES_tradnl" altLang="es-AR" sz="2000" u="sng" dirty="0">
                <a:latin typeface="Century Gothic" panose="020B0502020202020204" pitchFamily="34" charset="0"/>
              </a:rPr>
              <a:t>Una Variación de eficiencia (</a:t>
            </a:r>
            <a:r>
              <a:rPr lang="es-ES_tradnl" altLang="es-AR" sz="2000" b="1" u="sng" dirty="0">
                <a:latin typeface="Century Gothic" panose="020B0502020202020204" pitchFamily="34" charset="0"/>
              </a:rPr>
              <a:t>Ve</a:t>
            </a:r>
            <a:r>
              <a:rPr lang="es-ES_tradnl" altLang="es-AR" sz="2000" u="sng" dirty="0">
                <a:latin typeface="Century Gothic" panose="020B0502020202020204" pitchFamily="34" charset="0"/>
              </a:rPr>
              <a:t>)</a:t>
            </a:r>
            <a:r>
              <a:rPr lang="es-ES_tradnl" altLang="es-AR" sz="2000" dirty="0">
                <a:latin typeface="Century Gothic" panose="020B0502020202020204" pitchFamily="34" charset="0"/>
              </a:rPr>
              <a:t>: </a:t>
            </a:r>
          </a:p>
          <a:p>
            <a:pPr algn="just" eaLnBrk="1" hangingPunct="1">
              <a:spcBef>
                <a:spcPct val="20000"/>
              </a:spcBef>
              <a:buClr>
                <a:schemeClr val="accent1"/>
              </a:buClr>
            </a:pPr>
            <a:r>
              <a:rPr lang="es-ES_tradnl" altLang="es-AR" sz="2000" dirty="0">
                <a:latin typeface="Century Gothic" panose="020B0502020202020204" pitchFamily="34" charset="0"/>
              </a:rPr>
              <a:t>	 El Gasto se utilizó para un consumo específico distinto al considerado en 	    	 el estándar</a:t>
            </a:r>
            <a:r>
              <a:rPr lang="es-ES" altLang="es-AR" sz="2000" dirty="0">
                <a:latin typeface="Century Gothic" panose="020B0502020202020204" pitchFamily="34" charset="0"/>
              </a:rPr>
              <a:t>.</a:t>
            </a:r>
          </a:p>
        </p:txBody>
      </p:sp>
      <p:sp>
        <p:nvSpPr>
          <p:cNvPr id="33800" name="Rectangle 8">
            <a:extLst>
              <a:ext uri="{FF2B5EF4-FFF2-40B4-BE49-F238E27FC236}">
                <a16:creationId xmlns:a16="http://schemas.microsoft.com/office/drawing/2014/main" id="{E4095793-5555-49F2-B164-A187AAB3512A}"/>
              </a:ext>
            </a:extLst>
          </p:cNvPr>
          <p:cNvSpPr>
            <a:spLocks noChangeArrowheads="1"/>
          </p:cNvSpPr>
          <p:nvPr/>
        </p:nvSpPr>
        <p:spPr bwMode="auto">
          <a:xfrm>
            <a:off x="1120775" y="4716464"/>
            <a:ext cx="9906000" cy="1098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517525" indent="-342900" eaLnBrk="1" hangingPunct="1">
              <a:spcBef>
                <a:spcPct val="20000"/>
              </a:spcBef>
              <a:buClr>
                <a:schemeClr val="accent1"/>
              </a:buClr>
              <a:buFont typeface="Arial" panose="020B0604020202020204" pitchFamily="34" charset="0"/>
              <a:buChar char="•"/>
            </a:pPr>
            <a:r>
              <a:rPr lang="es-ES" altLang="es-AR" sz="2000" dirty="0">
                <a:latin typeface="Century Gothic" panose="020B0502020202020204" pitchFamily="34" charset="0"/>
              </a:rPr>
              <a:t> </a:t>
            </a:r>
            <a:r>
              <a:rPr lang="es-ES_tradnl" altLang="es-AR" sz="2000" u="sng" dirty="0">
                <a:latin typeface="Century Gothic" panose="020B0502020202020204" pitchFamily="34" charset="0"/>
              </a:rPr>
              <a:t>Una Variación de volumen de producción (</a:t>
            </a:r>
            <a:r>
              <a:rPr lang="es-ES_tradnl" altLang="es-AR" sz="2000" b="1" u="sng" dirty="0" err="1">
                <a:latin typeface="Century Gothic" panose="020B0502020202020204" pitchFamily="34" charset="0"/>
              </a:rPr>
              <a:t>Vv</a:t>
            </a:r>
            <a:r>
              <a:rPr lang="es-ES_tradnl" altLang="es-AR" sz="2000" u="sng" dirty="0">
                <a:latin typeface="Century Gothic" panose="020B0502020202020204" pitchFamily="34" charset="0"/>
              </a:rPr>
              <a:t>)</a:t>
            </a:r>
            <a:r>
              <a:rPr lang="es-ES_tradnl" altLang="es-AR" sz="2000" dirty="0">
                <a:latin typeface="Century Gothic" panose="020B0502020202020204" pitchFamily="34" charset="0"/>
              </a:rPr>
              <a:t>: </a:t>
            </a:r>
          </a:p>
          <a:p>
            <a:pPr eaLnBrk="1" hangingPunct="1">
              <a:spcBef>
                <a:spcPct val="20000"/>
              </a:spcBef>
              <a:buClr>
                <a:schemeClr val="accent1"/>
              </a:buClr>
            </a:pPr>
            <a:r>
              <a:rPr lang="es-ES_tradnl" altLang="es-AR" sz="2000" dirty="0">
                <a:latin typeface="Century Gothic" panose="020B0502020202020204" pitchFamily="34" charset="0"/>
              </a:rPr>
              <a:t>	  El nivel de actividad fue diferente al considerado al establecer el 	  	 	  estándar de gastos por lo que en la realidad serán distintos los 	 	 	 	  coeficientes de distribución</a:t>
            </a:r>
            <a:r>
              <a:rPr lang="es-ES" altLang="es-AR" sz="2000" dirty="0">
                <a:latin typeface="Century Gothic" panose="020B0502020202020204" pitchFamily="34" charset="0"/>
              </a:rPr>
              <a:t>.</a:t>
            </a:r>
          </a:p>
        </p:txBody>
      </p:sp>
      <p:sp>
        <p:nvSpPr>
          <p:cNvPr id="3" name="Marcador de número de diapositiva 2">
            <a:extLst>
              <a:ext uri="{FF2B5EF4-FFF2-40B4-BE49-F238E27FC236}">
                <a16:creationId xmlns:a16="http://schemas.microsoft.com/office/drawing/2014/main" id="{57A39DE4-E583-4409-9DEB-0519A92BB452}"/>
              </a:ext>
            </a:extLst>
          </p:cNvPr>
          <p:cNvSpPr>
            <a:spLocks noGrp="1"/>
          </p:cNvSpPr>
          <p:nvPr>
            <p:ph type="sldNum" sz="quarter" idx="12"/>
          </p:nvPr>
        </p:nvSpPr>
        <p:spPr/>
        <p:txBody>
          <a:bodyPr/>
          <a:lstStyle/>
          <a:p>
            <a:fld id="{D57F1E4F-1CFF-5643-939E-217C01CDF565}" type="slidenum">
              <a:rPr lang="en-US" smtClean="0"/>
              <a:pPr/>
              <a:t>39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8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p:bldP spid="33798" grpId="0"/>
      <p:bldP spid="33799" grpId="0"/>
      <p:bldP spid="3380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Text Box 4">
            <a:extLst>
              <a:ext uri="{FF2B5EF4-FFF2-40B4-BE49-F238E27FC236}">
                <a16:creationId xmlns:a16="http://schemas.microsoft.com/office/drawing/2014/main" id="{A9D5FD71-15B8-47DF-8CF2-B012DBFAA619}"/>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3600" b="1" dirty="0">
                <a:solidFill>
                  <a:schemeClr val="tx1">
                    <a:lumMod val="75000"/>
                    <a:lumOff val="25000"/>
                  </a:schemeClr>
                </a:solidFill>
                <a:effectLst>
                  <a:outerShdw blurRad="38100" dist="38100" dir="2700000" algn="tl">
                    <a:srgbClr val="C0C0C0"/>
                  </a:outerShdw>
                </a:effectLst>
                <a:latin typeface="+mj-lt"/>
                <a:cs typeface="Arial" charset="0"/>
              </a:rPr>
              <a:t>COSTO TOTAL ESTANDAR</a:t>
            </a:r>
          </a:p>
        </p:txBody>
      </p:sp>
      <p:sp>
        <p:nvSpPr>
          <p:cNvPr id="35845" name="Rectangle 5">
            <a:extLst>
              <a:ext uri="{FF2B5EF4-FFF2-40B4-BE49-F238E27FC236}">
                <a16:creationId xmlns:a16="http://schemas.microsoft.com/office/drawing/2014/main" id="{617615BA-0EBD-447F-94F5-4C24EEE398CF}"/>
              </a:ext>
            </a:extLst>
          </p:cNvPr>
          <p:cNvSpPr>
            <a:spLocks noChangeArrowheads="1"/>
          </p:cNvSpPr>
          <p:nvPr/>
        </p:nvSpPr>
        <p:spPr bwMode="auto">
          <a:xfrm>
            <a:off x="1271589" y="5122863"/>
            <a:ext cx="9705975" cy="792162"/>
          </a:xfrm>
          <a:prstGeom prst="rect">
            <a:avLst/>
          </a:prstGeom>
          <a:noFill/>
          <a:ln w="2857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pPr>
            <a:endParaRPr lang="es-AR" altLang="es-AR" sz="2000" dirty="0">
              <a:solidFill>
                <a:srgbClr val="CC3300"/>
              </a:solidFill>
              <a:latin typeface="+mj-lt"/>
            </a:endParaRPr>
          </a:p>
          <a:p>
            <a:pPr algn="ctr" eaLnBrk="1" hangingPunct="1">
              <a:spcBef>
                <a:spcPct val="20000"/>
              </a:spcBef>
            </a:pPr>
            <a:r>
              <a:rPr lang="es-AR" altLang="es-AR" sz="2000" dirty="0">
                <a:solidFill>
                  <a:srgbClr val="CC3300"/>
                </a:solidFill>
                <a:latin typeface="+mj-lt"/>
              </a:rPr>
              <a:t>Costo STD = Costo STD M.P. + Costo STD MOD + Costo STD CIF</a:t>
            </a:r>
          </a:p>
          <a:p>
            <a:pPr algn="ctr" eaLnBrk="1" hangingPunct="1">
              <a:spcBef>
                <a:spcPct val="20000"/>
              </a:spcBef>
            </a:pPr>
            <a:endParaRPr lang="es-ES" altLang="es-AR" sz="2000" dirty="0">
              <a:solidFill>
                <a:srgbClr val="CC3300"/>
              </a:solidFill>
              <a:latin typeface="+mj-lt"/>
            </a:endParaRPr>
          </a:p>
        </p:txBody>
      </p:sp>
      <p:sp>
        <p:nvSpPr>
          <p:cNvPr id="35846" name="Text Box 6">
            <a:extLst>
              <a:ext uri="{FF2B5EF4-FFF2-40B4-BE49-F238E27FC236}">
                <a16:creationId xmlns:a16="http://schemas.microsoft.com/office/drawing/2014/main" id="{C795C013-7ED9-45D1-8B64-1C91F26DC534}"/>
              </a:ext>
            </a:extLst>
          </p:cNvPr>
          <p:cNvSpPr txBox="1">
            <a:spLocks noChangeArrowheads="1"/>
          </p:cNvSpPr>
          <p:nvPr/>
        </p:nvSpPr>
        <p:spPr bwMode="auto">
          <a:xfrm>
            <a:off x="1311579" y="4625091"/>
            <a:ext cx="9459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2000" b="1" dirty="0">
                <a:solidFill>
                  <a:schemeClr val="tx1">
                    <a:lumMod val="75000"/>
                    <a:lumOff val="25000"/>
                  </a:schemeClr>
                </a:solidFill>
                <a:effectLst>
                  <a:outerShdw blurRad="38100" dist="38100" dir="2700000" algn="tl">
                    <a:srgbClr val="C0C0C0"/>
                  </a:outerShdw>
                </a:effectLst>
                <a:latin typeface="+mj-lt"/>
                <a:cs typeface="Arial" charset="0"/>
              </a:rPr>
              <a:t>COSTO TOTAL STANDARD INTEGRAL O POR ABSORCIÓN</a:t>
            </a:r>
          </a:p>
        </p:txBody>
      </p:sp>
      <p:sp>
        <p:nvSpPr>
          <p:cNvPr id="35847" name="Rectangle 7">
            <a:extLst>
              <a:ext uri="{FF2B5EF4-FFF2-40B4-BE49-F238E27FC236}">
                <a16:creationId xmlns:a16="http://schemas.microsoft.com/office/drawing/2014/main" id="{134AF7BD-665C-490D-95E0-0DEB36456799}"/>
              </a:ext>
            </a:extLst>
          </p:cNvPr>
          <p:cNvSpPr>
            <a:spLocks noChangeArrowheads="1"/>
          </p:cNvSpPr>
          <p:nvPr/>
        </p:nvSpPr>
        <p:spPr bwMode="auto">
          <a:xfrm>
            <a:off x="1847850" y="3228975"/>
            <a:ext cx="7920038" cy="885825"/>
          </a:xfrm>
          <a:prstGeom prst="rect">
            <a:avLst/>
          </a:prstGeom>
          <a:noFill/>
          <a:ln w="2857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pPr>
            <a:endParaRPr lang="es-AR" altLang="es-AR" sz="2000" dirty="0">
              <a:solidFill>
                <a:srgbClr val="CC3300"/>
              </a:solidFill>
              <a:latin typeface="+mj-lt"/>
            </a:endParaRPr>
          </a:p>
          <a:p>
            <a:pPr algn="ctr" eaLnBrk="1" hangingPunct="1">
              <a:spcBef>
                <a:spcPct val="20000"/>
              </a:spcBef>
            </a:pPr>
            <a:r>
              <a:rPr lang="es-AR" altLang="es-AR" sz="2000" dirty="0">
                <a:solidFill>
                  <a:srgbClr val="CC3300"/>
                </a:solidFill>
                <a:latin typeface="+mj-lt"/>
              </a:rPr>
              <a:t>Costo STD = Costo STD M.P. + Costo STD M.O.D.</a:t>
            </a:r>
          </a:p>
          <a:p>
            <a:pPr algn="ctr" eaLnBrk="1" hangingPunct="1">
              <a:spcBef>
                <a:spcPct val="20000"/>
              </a:spcBef>
            </a:pPr>
            <a:endParaRPr lang="es-ES" altLang="es-AR" sz="2000" dirty="0">
              <a:solidFill>
                <a:srgbClr val="CC3300"/>
              </a:solidFill>
              <a:latin typeface="+mj-lt"/>
            </a:endParaRPr>
          </a:p>
        </p:txBody>
      </p:sp>
      <p:sp>
        <p:nvSpPr>
          <p:cNvPr id="35848" name="Text Box 8">
            <a:extLst>
              <a:ext uri="{FF2B5EF4-FFF2-40B4-BE49-F238E27FC236}">
                <a16:creationId xmlns:a16="http://schemas.microsoft.com/office/drawing/2014/main" id="{03B71CC6-1100-4F9C-AD9B-CA37DDCA1BF9}"/>
              </a:ext>
            </a:extLst>
          </p:cNvPr>
          <p:cNvSpPr txBox="1">
            <a:spLocks noChangeArrowheads="1"/>
          </p:cNvSpPr>
          <p:nvPr/>
        </p:nvSpPr>
        <p:spPr bwMode="auto">
          <a:xfrm>
            <a:off x="1316038" y="2601913"/>
            <a:ext cx="88122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sz="2000" b="1" dirty="0">
                <a:solidFill>
                  <a:schemeClr val="tx1">
                    <a:lumMod val="75000"/>
                    <a:lumOff val="25000"/>
                  </a:schemeClr>
                </a:solidFill>
                <a:effectLst>
                  <a:outerShdw blurRad="38100" dist="38100" dir="2700000" algn="tl">
                    <a:srgbClr val="C0C0C0"/>
                  </a:outerShdw>
                </a:effectLst>
                <a:latin typeface="+mj-lt"/>
                <a:cs typeface="Arial" charset="0"/>
              </a:rPr>
              <a:t>COSTO TOTAL STANDARD DIRECTO O VARIABLE</a:t>
            </a:r>
          </a:p>
        </p:txBody>
      </p:sp>
      <p:sp>
        <p:nvSpPr>
          <p:cNvPr id="35849" name="Rectangle 9">
            <a:extLst>
              <a:ext uri="{FF2B5EF4-FFF2-40B4-BE49-F238E27FC236}">
                <a16:creationId xmlns:a16="http://schemas.microsoft.com/office/drawing/2014/main" id="{931E602C-4C3E-4EE4-8D86-828FE4B1E72E}"/>
              </a:ext>
            </a:extLst>
          </p:cNvPr>
          <p:cNvSpPr>
            <a:spLocks noChangeArrowheads="1"/>
          </p:cNvSpPr>
          <p:nvPr/>
        </p:nvSpPr>
        <p:spPr bwMode="auto">
          <a:xfrm>
            <a:off x="1271589" y="1239414"/>
            <a:ext cx="9906000"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17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Para establecer el costo total estándar de un artículo determinado, deben sumarse los costos estándar de cada uno de los elementos componentes, de acuerdo al sistema de costeo histórico que utilice la empresa.</a:t>
            </a:r>
            <a:endParaRPr lang="es-ES" altLang="es-AR" sz="2000" dirty="0">
              <a:latin typeface="+mj-lt"/>
            </a:endParaRPr>
          </a:p>
        </p:txBody>
      </p:sp>
      <p:sp>
        <p:nvSpPr>
          <p:cNvPr id="4" name="Marcador de número de diapositiva 3">
            <a:extLst>
              <a:ext uri="{FF2B5EF4-FFF2-40B4-BE49-F238E27FC236}">
                <a16:creationId xmlns:a16="http://schemas.microsoft.com/office/drawing/2014/main" id="{E87F7528-B498-4A68-B013-01D4AC1286ED}"/>
              </a:ext>
            </a:extLst>
          </p:cNvPr>
          <p:cNvSpPr>
            <a:spLocks noGrp="1"/>
          </p:cNvSpPr>
          <p:nvPr>
            <p:ph type="sldNum" sz="quarter" idx="12"/>
          </p:nvPr>
        </p:nvSpPr>
        <p:spPr/>
        <p:txBody>
          <a:bodyPr/>
          <a:lstStyle/>
          <a:p>
            <a:fld id="{D57F1E4F-1CFF-5643-939E-217C01CDF565}" type="slidenum">
              <a:rPr lang="en-US" smtClean="0"/>
              <a:pPr/>
              <a:t>40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5847"/>
                                        </p:tgtEl>
                                        <p:attrNameLst>
                                          <p:attrName>style.visibility</p:attrName>
                                        </p:attrNameLst>
                                      </p:cBhvr>
                                      <p:to>
                                        <p:strVal val="visible"/>
                                      </p:to>
                                    </p:set>
                                    <p:animEffect transition="in" filter="wipe(down)">
                                      <p:cBhvr>
                                        <p:cTn id="15" dur="500"/>
                                        <p:tgtEl>
                                          <p:spTgt spid="3584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584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5845"/>
                                        </p:tgtEl>
                                        <p:attrNameLst>
                                          <p:attrName>style.visibility</p:attrName>
                                        </p:attrNameLst>
                                      </p:cBhvr>
                                      <p:to>
                                        <p:strVal val="visible"/>
                                      </p:to>
                                    </p:set>
                                    <p:animEffect transition="in" filter="wipe(down)">
                                      <p:cBhvr>
                                        <p:cTn id="24"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animBg="1"/>
      <p:bldP spid="35846" grpId="0"/>
      <p:bldP spid="35847" grpId="0" animBg="1"/>
      <p:bldP spid="35848" grpId="0"/>
      <p:bldP spid="35849" grpId="0"/>
    </p:bldLst>
  </p:timing>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5756</TotalTime>
  <Words>2970</Words>
  <Application>Microsoft Office PowerPoint</Application>
  <PresentationFormat>Panorámica</PresentationFormat>
  <Paragraphs>285</Paragraphs>
  <Slides>40</Slides>
  <Notes>0</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40</vt:i4>
      </vt:variant>
    </vt:vector>
  </HeadingPairs>
  <TitlesOfParts>
    <vt:vector size="48" baseType="lpstr">
      <vt:lpstr>Arial</vt:lpstr>
      <vt:lpstr>Calibri</vt:lpstr>
      <vt:lpstr>Century Gothic</vt:lpstr>
      <vt:lpstr>Tahoma</vt:lpstr>
      <vt:lpstr>Wingdings</vt:lpstr>
      <vt:lpstr>Wingdings 3</vt:lpstr>
      <vt:lpstr>Espiral</vt:lpstr>
      <vt:lpstr>Ecuación</vt:lpstr>
      <vt:lpstr>COSTOS Y PRESUPUESTOS</vt:lpstr>
      <vt:lpstr>Presentación de PowerPoint</vt:lpstr>
      <vt:lpstr>DEFINICION</vt:lpstr>
      <vt:lpstr>COSTOS PREDETERMINADOS</vt:lpstr>
      <vt:lpstr>COSTO ESTIMADOS</vt:lpstr>
      <vt:lpstr>COSTOS ESTIMADOS</vt:lpstr>
      <vt:lpstr>COSTO ESTANDAR</vt:lpstr>
      <vt:lpstr>Ventajas de los costos predeterminados</vt:lpstr>
      <vt:lpstr>Sistema de Costo Estimado </vt:lpstr>
      <vt:lpstr>Sistema de Costo Estándar</vt:lpstr>
      <vt:lpstr>Limitaciones y desventajas de los costos predeterminados</vt:lpstr>
      <vt:lpstr>Sistema de Costo Estimado </vt:lpstr>
      <vt:lpstr>Sistema de Costo Estándar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COSTOS Y PRESUPUESTOS</dc:title>
  <dc:creator>gustavo massucco</dc:creator>
  <cp:lastModifiedBy>gustavo massucco</cp:lastModifiedBy>
  <cp:revision>261</cp:revision>
  <dcterms:created xsi:type="dcterms:W3CDTF">2020-04-19T20:11:04Z</dcterms:created>
  <dcterms:modified xsi:type="dcterms:W3CDTF">2021-08-31T18:41:41Z</dcterms:modified>
</cp:coreProperties>
</file>