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48"/>
    <p:sldId id="257" r:id="rId49"/>
    <p:sldId id="258" r:id="rId50"/>
    <p:sldId id="259" r:id="rId51"/>
    <p:sldId id="260" r:id="rId52"/>
    <p:sldId id="261" r:id="rId53"/>
    <p:sldId id="262" r:id="rId54"/>
    <p:sldId id="263" r:id="rId55"/>
    <p:sldId id="264" r:id="rId56"/>
    <p:sldId id="265" r:id="rId57"/>
    <p:sldId id="266" r:id="rId58"/>
    <p:sldId id="267" r:id="rId59"/>
    <p:sldId id="268" r:id="rId60"/>
    <p:sldId id="269" r:id="rId61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Playfair Display" charset="1" panose="00000000000000000000"/>
      <p:regular r:id="rId10"/>
    </p:embeddedFont>
    <p:embeddedFont>
      <p:font typeface="Playfair Display Bold" charset="1" panose="00000000000000000000"/>
      <p:regular r:id="rId11"/>
    </p:embeddedFont>
    <p:embeddedFont>
      <p:font typeface="Playfair Display Italics" charset="1" panose="00000000000000000000"/>
      <p:regular r:id="rId12"/>
    </p:embeddedFont>
    <p:embeddedFont>
      <p:font typeface="Playfair Display Bold Italics" charset="1" panose="00000000000000000000"/>
      <p:regular r:id="rId13"/>
    </p:embeddedFont>
    <p:embeddedFont>
      <p:font typeface="Playfair Display Medium" charset="1" panose="00000000000000000000"/>
      <p:regular r:id="rId14"/>
    </p:embeddedFont>
    <p:embeddedFont>
      <p:font typeface="Playfair Display Medium Italics" charset="1" panose="00000000000000000000"/>
      <p:regular r:id="rId15"/>
    </p:embeddedFont>
    <p:embeddedFont>
      <p:font typeface="Playfair Display Semi-Bold" charset="1" panose="00000000000000000000"/>
      <p:regular r:id="rId16"/>
    </p:embeddedFont>
    <p:embeddedFont>
      <p:font typeface="Playfair Display Semi-Bold Italics" charset="1" panose="00000000000000000000"/>
      <p:regular r:id="rId17"/>
    </p:embeddedFont>
    <p:embeddedFont>
      <p:font typeface="Playfair Display Ultra-Bold" charset="1" panose="00000000000000000000"/>
      <p:regular r:id="rId18"/>
    </p:embeddedFont>
    <p:embeddedFont>
      <p:font typeface="Playfair Display Ultra-Bold Italics" charset="1" panose="00000000000000000000"/>
      <p:regular r:id="rId19"/>
    </p:embeddedFont>
    <p:embeddedFont>
      <p:font typeface="Playfair Display Heavy" charset="1" panose="00000000000000000000"/>
      <p:regular r:id="rId20"/>
    </p:embeddedFont>
    <p:embeddedFont>
      <p:font typeface="Playfair Display Heavy Italics" charset="1" panose="00000000000000000000"/>
      <p:regular r:id="rId21"/>
    </p:embeddedFont>
    <p:embeddedFont>
      <p:font typeface="Open Sans" charset="1" panose="020B0606030504020204"/>
      <p:regular r:id="rId22"/>
    </p:embeddedFont>
    <p:embeddedFont>
      <p:font typeface="Open Sans Bold" charset="1" panose="020B0806030504020204"/>
      <p:regular r:id="rId23"/>
    </p:embeddedFont>
    <p:embeddedFont>
      <p:font typeface="Open Sans Italics" charset="1" panose="020B0606030504020204"/>
      <p:regular r:id="rId24"/>
    </p:embeddedFont>
    <p:embeddedFont>
      <p:font typeface="Open Sans Bold Italics" charset="1" panose="020B0806030504020204"/>
      <p:regular r:id="rId25"/>
    </p:embeddedFont>
    <p:embeddedFont>
      <p:font typeface="Open Sans Light" charset="1" panose="020B0306030504020204"/>
      <p:regular r:id="rId26"/>
    </p:embeddedFont>
    <p:embeddedFont>
      <p:font typeface="Open Sans Light Italics" charset="1" panose="020B0306030504020204"/>
      <p:regular r:id="rId27"/>
    </p:embeddedFont>
    <p:embeddedFont>
      <p:font typeface="Open Sans Ultra-Bold" charset="1" panose="00000000000000000000"/>
      <p:regular r:id="rId28"/>
    </p:embeddedFont>
    <p:embeddedFont>
      <p:font typeface="Open Sans Ultra-Bold Italics" charset="1" panose="00000000000000000000"/>
      <p:regular r:id="rId29"/>
    </p:embeddedFont>
    <p:embeddedFont>
      <p:font typeface="Montserrat" charset="1" panose="00000500000000000000"/>
      <p:regular r:id="rId30"/>
    </p:embeddedFont>
    <p:embeddedFont>
      <p:font typeface="Montserrat Bold" charset="1" panose="00000800000000000000"/>
      <p:regular r:id="rId31"/>
    </p:embeddedFont>
    <p:embeddedFont>
      <p:font typeface="Montserrat Italics" charset="1" panose="00000500000000000000"/>
      <p:regular r:id="rId32"/>
    </p:embeddedFont>
    <p:embeddedFont>
      <p:font typeface="Montserrat Bold Italics" charset="1" panose="00000800000000000000"/>
      <p:regular r:id="rId33"/>
    </p:embeddedFont>
    <p:embeddedFont>
      <p:font typeface="Montserrat Thin" charset="1" panose="00000300000000000000"/>
      <p:regular r:id="rId34"/>
    </p:embeddedFont>
    <p:embeddedFont>
      <p:font typeface="Montserrat Thin Italics" charset="1" panose="00000300000000000000"/>
      <p:regular r:id="rId35"/>
    </p:embeddedFont>
    <p:embeddedFont>
      <p:font typeface="Montserrat Extra-Light" charset="1" panose="00000300000000000000"/>
      <p:regular r:id="rId36"/>
    </p:embeddedFont>
    <p:embeddedFont>
      <p:font typeface="Montserrat Extra-Light Italics" charset="1" panose="00000300000000000000"/>
      <p:regular r:id="rId37"/>
    </p:embeddedFont>
    <p:embeddedFont>
      <p:font typeface="Montserrat Light" charset="1" panose="00000400000000000000"/>
      <p:regular r:id="rId38"/>
    </p:embeddedFont>
    <p:embeddedFont>
      <p:font typeface="Montserrat Light Italics" charset="1" panose="00000400000000000000"/>
      <p:regular r:id="rId39"/>
    </p:embeddedFont>
    <p:embeddedFont>
      <p:font typeface="Montserrat Medium" charset="1" panose="00000600000000000000"/>
      <p:regular r:id="rId40"/>
    </p:embeddedFont>
    <p:embeddedFont>
      <p:font typeface="Montserrat Medium Italics" charset="1" panose="00000600000000000000"/>
      <p:regular r:id="rId41"/>
    </p:embeddedFont>
    <p:embeddedFont>
      <p:font typeface="Montserrat Semi-Bold" charset="1" panose="00000700000000000000"/>
      <p:regular r:id="rId42"/>
    </p:embeddedFont>
    <p:embeddedFont>
      <p:font typeface="Montserrat Semi-Bold Italics" charset="1" panose="00000700000000000000"/>
      <p:regular r:id="rId43"/>
    </p:embeddedFont>
    <p:embeddedFont>
      <p:font typeface="Montserrat Ultra-Bold" charset="1" panose="00000900000000000000"/>
      <p:regular r:id="rId44"/>
    </p:embeddedFont>
    <p:embeddedFont>
      <p:font typeface="Montserrat Ultra-Bold Italics" charset="1" panose="00000900000000000000"/>
      <p:regular r:id="rId45"/>
    </p:embeddedFont>
    <p:embeddedFont>
      <p:font typeface="Montserrat Heavy" charset="1" panose="00000A00000000000000"/>
      <p:regular r:id="rId46"/>
    </p:embeddedFont>
    <p:embeddedFont>
      <p:font typeface="Montserrat Heavy Italics" charset="1" panose="00000A0000000000000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slides/slide1.xml" Type="http://schemas.openxmlformats.org/officeDocument/2006/relationships/slide"/><Relationship Id="rId49" Target="slides/slide2.xml" Type="http://schemas.openxmlformats.org/officeDocument/2006/relationships/slide"/><Relationship Id="rId5" Target="tableStyles.xml" Type="http://schemas.openxmlformats.org/officeDocument/2006/relationships/tableStyles"/><Relationship Id="rId50" Target="slides/slide3.xml" Type="http://schemas.openxmlformats.org/officeDocument/2006/relationships/slide"/><Relationship Id="rId51" Target="slides/slide4.xml" Type="http://schemas.openxmlformats.org/officeDocument/2006/relationships/slide"/><Relationship Id="rId52" Target="slides/slide5.xml" Type="http://schemas.openxmlformats.org/officeDocument/2006/relationships/slide"/><Relationship Id="rId53" Target="slides/slide6.xml" Type="http://schemas.openxmlformats.org/officeDocument/2006/relationships/slide"/><Relationship Id="rId54" Target="slides/slide7.xml" Type="http://schemas.openxmlformats.org/officeDocument/2006/relationships/slide"/><Relationship Id="rId55" Target="slides/slide8.xml" Type="http://schemas.openxmlformats.org/officeDocument/2006/relationships/slide"/><Relationship Id="rId56" Target="slides/slide9.xml" Type="http://schemas.openxmlformats.org/officeDocument/2006/relationships/slide"/><Relationship Id="rId57" Target="slides/slide10.xml" Type="http://schemas.openxmlformats.org/officeDocument/2006/relationships/slide"/><Relationship Id="rId58" Target="slides/slide11.xml" Type="http://schemas.openxmlformats.org/officeDocument/2006/relationships/slide"/><Relationship Id="rId59" Target="slides/slide12.xml" Type="http://schemas.openxmlformats.org/officeDocument/2006/relationships/slide"/><Relationship Id="rId6" Target="fonts/font6.fntdata" Type="http://schemas.openxmlformats.org/officeDocument/2006/relationships/font"/><Relationship Id="rId60" Target="slides/slide13.xml" Type="http://schemas.openxmlformats.org/officeDocument/2006/relationships/slide"/><Relationship Id="rId61" Target="slides/slide14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www.scielo.org.co/pdf/cuco/v12n30/v12n30a02.pdf" TargetMode="External" Type="http://schemas.openxmlformats.org/officeDocument/2006/relationships/hyperlink"/><Relationship Id="rId3" Target="http://www.scielo.org.co/pdf/cuco/v12n30/v12n30a02.pdf" TargetMode="External" Type="http://schemas.openxmlformats.org/officeDocument/2006/relationships/hyperlink"/><Relationship Id="rId4" Target="http://www.scielo.org.co/pdf/cuco/v12n30/v12n30a02.pdf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14748" y="9555569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BF7F1"/>
                </a:solidFill>
                <a:latin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14748" y="9555569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BF7F1"/>
                </a:solidFill>
                <a:latin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38586" y="914400"/>
            <a:ext cx="4466828" cy="995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>
                <a:solidFill>
                  <a:srgbClr val="000000"/>
                </a:solidFill>
                <a:latin typeface="Playfair Display Bold"/>
              </a:rPr>
              <a:t>Introducción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879539"/>
            <a:ext cx="8984820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Montserrat"/>
              </a:rPr>
              <a:t>Este es un tema clave para optimizar los costos en las empresas. El enfoque de Costos ABC permite identificar y asignar los costos de manera más precisa, lo que ayuda a tomar decisiones estratégicas. En esta presentación, exploraremos los conceptos básicos y beneficios de esta metodología.</a:t>
            </a:r>
          </a:p>
          <a:p>
            <a:pPr algn="ctr">
              <a:lnSpc>
                <a:spcPts val="44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914748" y="9555569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BF7F1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71128" y="1073150"/>
            <a:ext cx="7601744" cy="202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>
                <a:solidFill>
                  <a:srgbClr val="000000"/>
                </a:solidFill>
                <a:latin typeface="Playfair Display Bold"/>
              </a:rPr>
              <a:t>¿Qué es el Costo ABC?</a:t>
            </a:r>
          </a:p>
          <a:p>
            <a:pPr algn="ctr">
              <a:lnSpc>
                <a:spcPts val="81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1721" y="3030843"/>
            <a:ext cx="8700558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</a:rPr>
              <a:t> Es un método de contabilidad de costos que asigna los gastos a los productos o servicios en función de su consumo de recursos. A diferencia del método tradicional, el Costo ABC considera múltiples factores y actividades que generan costos. Esto permite una asignación más precisa y una toma de decisiones informada.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914748" y="9555569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91818"/>
                </a:solidFill>
                <a:latin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1351" y="1565932"/>
            <a:ext cx="13345297" cy="8229600"/>
          </a:xfrm>
          <a:custGeom>
            <a:avLst/>
            <a:gdLst/>
            <a:ahLst/>
            <a:cxnLst/>
            <a:rect r="r" b="b" t="t" l="l"/>
            <a:pathLst>
              <a:path h="8229600" w="13345297">
                <a:moveTo>
                  <a:pt x="0" y="0"/>
                </a:moveTo>
                <a:lnTo>
                  <a:pt x="13345298" y="0"/>
                </a:lnTo>
                <a:lnTo>
                  <a:pt x="133452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6667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3749851" y="218034"/>
            <a:ext cx="11234886" cy="995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>
                <a:solidFill>
                  <a:srgbClr val="000000"/>
                </a:solidFill>
                <a:latin typeface="Playfair Display Bold"/>
              </a:rPr>
              <a:t>Implementación del sistema ABC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914748" y="9555569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91818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393965" y="734187"/>
            <a:ext cx="8644070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>
                <a:solidFill>
                  <a:srgbClr val="FFFFFF"/>
                </a:solidFill>
                <a:latin typeface="Playfair Display Bold"/>
              </a:rPr>
              <a:t>Implementación del  ABC</a:t>
            </a:r>
          </a:p>
          <a:p>
            <a:pPr algn="ctr">
              <a:lnSpc>
                <a:spcPts val="81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393965" y="2245585"/>
            <a:ext cx="8894035" cy="728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</a:rPr>
              <a:t>Etapa 1: Comprensión de la estructura de costos.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</a:rPr>
              <a:t>Etapa 2: Análisis de los procesos.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</a:rPr>
              <a:t>Etapa 3: Análisis de las actividades.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</a:rPr>
              <a:t>Etapa 4: Agrupamiento de las actividades (simplificación).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</a:rPr>
              <a:t>Etapa 5: Determinación de los inductores (cost drivers) de recursos.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</a:rPr>
              <a:t>Etapa 6: Determinación de los objetos de costos (productos, servicios, departamentos).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</a:rPr>
              <a:t>Etapa 7: Determinación de los inductores (cost drivers) de las actividades.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914748" y="9555569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BF7F1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205979" y="914400"/>
            <a:ext cx="9020042" cy="305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>
                <a:solidFill>
                  <a:srgbClr val="FFFFFF"/>
                </a:solidFill>
                <a:latin typeface="Playfair Display Bold"/>
              </a:rPr>
              <a:t>Cost drivers de actividades</a:t>
            </a:r>
          </a:p>
          <a:p>
            <a:pPr algn="ctr">
              <a:lnSpc>
                <a:spcPts val="81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919752" y="4023912"/>
            <a:ext cx="9716454" cy="416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</a:rPr>
              <a:t>Cost drivers de operaciones o de transacción</a:t>
            </a:r>
          </a:p>
          <a:p>
            <a:pPr>
              <a:lnSpc>
                <a:spcPts val="4199"/>
              </a:lnSpc>
            </a:pPr>
          </a:p>
          <a:p>
            <a:pPr>
              <a:lnSpc>
                <a:spcPts val="4199"/>
              </a:lnSpc>
            </a:pPr>
          </a:p>
          <a:p>
            <a:pPr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</a:rPr>
              <a:t>Cost drivers de tiempo o duración</a:t>
            </a:r>
          </a:p>
          <a:p>
            <a:pPr>
              <a:lnSpc>
                <a:spcPts val="4199"/>
              </a:lnSpc>
            </a:pPr>
          </a:p>
          <a:p>
            <a:pPr>
              <a:lnSpc>
                <a:spcPts val="4199"/>
              </a:lnSpc>
            </a:pPr>
          </a:p>
          <a:p>
            <a:pPr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Montserrat"/>
              </a:rPr>
              <a:t>Cost drivers de intensidad</a:t>
            </a:r>
          </a:p>
          <a:p>
            <a:pPr algn="ctr">
              <a:lnSpc>
                <a:spcPts val="41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914748" y="9555569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BF7F1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9233" y="1815297"/>
            <a:ext cx="15969534" cy="7984767"/>
          </a:xfrm>
          <a:custGeom>
            <a:avLst/>
            <a:gdLst/>
            <a:ahLst/>
            <a:cxnLst/>
            <a:rect r="r" b="b" t="t" l="l"/>
            <a:pathLst>
              <a:path h="7984767" w="15969534">
                <a:moveTo>
                  <a:pt x="0" y="0"/>
                </a:moveTo>
                <a:lnTo>
                  <a:pt x="15969534" y="0"/>
                </a:lnTo>
                <a:lnTo>
                  <a:pt x="15969534" y="7984767"/>
                </a:lnTo>
                <a:lnTo>
                  <a:pt x="0" y="7984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69201" y="355318"/>
            <a:ext cx="8631238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000000"/>
                </a:solidFill>
                <a:latin typeface="Playfair Display Bold"/>
              </a:rPr>
              <a:t>Diferencia entre métodos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914748" y="9555569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91818"/>
                </a:solidFill>
                <a:latin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6895" y="286070"/>
            <a:ext cx="12934210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layfair Display Bold"/>
              </a:rPr>
              <a:t>Beneficios del modelo</a:t>
            </a:r>
          </a:p>
          <a:p>
            <a:pPr algn="ctr">
              <a:lnSpc>
                <a:spcPts val="784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456184" y="1804039"/>
            <a:ext cx="8544865" cy="1543050"/>
            <a:chOff x="0" y="0"/>
            <a:chExt cx="2250499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0499" cy="406400"/>
            </a:xfrm>
            <a:custGeom>
              <a:avLst/>
              <a:gdLst/>
              <a:ahLst/>
              <a:cxnLst/>
              <a:rect r="r" b="b" t="t" l="l"/>
              <a:pathLst>
                <a:path h="406400" w="2250499">
                  <a:moveTo>
                    <a:pt x="225049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2250499" y="406400"/>
                  </a:lnTo>
                  <a:lnTo>
                    <a:pt x="2148899" y="203200"/>
                  </a:lnTo>
                  <a:lnTo>
                    <a:pt x="225049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88900" y="-38100"/>
              <a:ext cx="635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6184" y="4762935"/>
            <a:ext cx="8544865" cy="1543050"/>
            <a:chOff x="0" y="0"/>
            <a:chExt cx="2250499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0499" cy="406400"/>
            </a:xfrm>
            <a:custGeom>
              <a:avLst/>
              <a:gdLst/>
              <a:ahLst/>
              <a:cxnLst/>
              <a:rect r="r" b="b" t="t" l="l"/>
              <a:pathLst>
                <a:path h="406400" w="2250499">
                  <a:moveTo>
                    <a:pt x="225049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2250499" y="406400"/>
                  </a:lnTo>
                  <a:lnTo>
                    <a:pt x="2148899" y="203200"/>
                  </a:lnTo>
                  <a:lnTo>
                    <a:pt x="225049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88900" y="-38100"/>
              <a:ext cx="635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6184" y="7715250"/>
            <a:ext cx="8544865" cy="1543050"/>
            <a:chOff x="0" y="0"/>
            <a:chExt cx="2250499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0499" cy="406400"/>
            </a:xfrm>
            <a:custGeom>
              <a:avLst/>
              <a:gdLst/>
              <a:ahLst/>
              <a:cxnLst/>
              <a:rect r="r" b="b" t="t" l="l"/>
              <a:pathLst>
                <a:path h="406400" w="2250499">
                  <a:moveTo>
                    <a:pt x="225049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2250499" y="406400"/>
                  </a:lnTo>
                  <a:lnTo>
                    <a:pt x="2148899" y="203200"/>
                  </a:lnTo>
                  <a:lnTo>
                    <a:pt x="225049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88900" y="-38100"/>
              <a:ext cx="635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01049" y="3219885"/>
            <a:ext cx="8544865" cy="1543050"/>
            <a:chOff x="0" y="0"/>
            <a:chExt cx="2250499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0499" cy="406400"/>
            </a:xfrm>
            <a:custGeom>
              <a:avLst/>
              <a:gdLst/>
              <a:ahLst/>
              <a:cxnLst/>
              <a:rect r="r" b="b" t="t" l="l"/>
              <a:pathLst>
                <a:path h="406400" w="2250499">
                  <a:moveTo>
                    <a:pt x="225049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2250499" y="406400"/>
                  </a:lnTo>
                  <a:lnTo>
                    <a:pt x="2148899" y="203200"/>
                  </a:lnTo>
                  <a:lnTo>
                    <a:pt x="225049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88900" y="-38100"/>
              <a:ext cx="635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91728" y="6172200"/>
            <a:ext cx="8544865" cy="1543050"/>
            <a:chOff x="0" y="0"/>
            <a:chExt cx="2250499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50499" cy="406400"/>
            </a:xfrm>
            <a:custGeom>
              <a:avLst/>
              <a:gdLst/>
              <a:ahLst/>
              <a:cxnLst/>
              <a:rect r="r" b="b" t="t" l="l"/>
              <a:pathLst>
                <a:path h="406400" w="2250499">
                  <a:moveTo>
                    <a:pt x="2250499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2250499" y="406400"/>
                  </a:lnTo>
                  <a:lnTo>
                    <a:pt x="2148899" y="203200"/>
                  </a:lnTo>
                  <a:lnTo>
                    <a:pt x="225049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88900" y="-38100"/>
              <a:ext cx="635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846311" y="2192818"/>
            <a:ext cx="765491" cy="765491"/>
          </a:xfrm>
          <a:custGeom>
            <a:avLst/>
            <a:gdLst/>
            <a:ahLst/>
            <a:cxnLst/>
            <a:rect r="r" b="b" t="t" l="l"/>
            <a:pathLst>
              <a:path h="765491" w="765491">
                <a:moveTo>
                  <a:pt x="0" y="0"/>
                </a:moveTo>
                <a:lnTo>
                  <a:pt x="765491" y="0"/>
                </a:lnTo>
                <a:lnTo>
                  <a:pt x="765491" y="765491"/>
                </a:lnTo>
                <a:lnTo>
                  <a:pt x="0" y="765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402768" y="3609985"/>
            <a:ext cx="751407" cy="762850"/>
          </a:xfrm>
          <a:custGeom>
            <a:avLst/>
            <a:gdLst/>
            <a:ahLst/>
            <a:cxnLst/>
            <a:rect r="r" b="b" t="t" l="l"/>
            <a:pathLst>
              <a:path h="762850" w="751407">
                <a:moveTo>
                  <a:pt x="0" y="0"/>
                </a:moveTo>
                <a:lnTo>
                  <a:pt x="751407" y="0"/>
                </a:lnTo>
                <a:lnTo>
                  <a:pt x="751407" y="762850"/>
                </a:lnTo>
                <a:lnTo>
                  <a:pt x="0" y="762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846311" y="5151715"/>
            <a:ext cx="830926" cy="765491"/>
          </a:xfrm>
          <a:custGeom>
            <a:avLst/>
            <a:gdLst/>
            <a:ahLst/>
            <a:cxnLst/>
            <a:rect r="r" b="b" t="t" l="l"/>
            <a:pathLst>
              <a:path h="765491" w="830926">
                <a:moveTo>
                  <a:pt x="0" y="0"/>
                </a:moveTo>
                <a:lnTo>
                  <a:pt x="830926" y="0"/>
                </a:lnTo>
                <a:lnTo>
                  <a:pt x="830926" y="765491"/>
                </a:lnTo>
                <a:lnTo>
                  <a:pt x="0" y="7654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402768" y="6560980"/>
            <a:ext cx="707035" cy="765491"/>
          </a:xfrm>
          <a:custGeom>
            <a:avLst/>
            <a:gdLst/>
            <a:ahLst/>
            <a:cxnLst/>
            <a:rect r="r" b="b" t="t" l="l"/>
            <a:pathLst>
              <a:path h="765491" w="707035">
                <a:moveTo>
                  <a:pt x="0" y="0"/>
                </a:moveTo>
                <a:lnTo>
                  <a:pt x="707035" y="0"/>
                </a:lnTo>
                <a:lnTo>
                  <a:pt x="707035" y="765490"/>
                </a:lnTo>
                <a:lnTo>
                  <a:pt x="0" y="7654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887641" y="8227753"/>
            <a:ext cx="748267" cy="765491"/>
          </a:xfrm>
          <a:custGeom>
            <a:avLst/>
            <a:gdLst/>
            <a:ahLst/>
            <a:cxnLst/>
            <a:rect r="r" b="b" t="t" l="l"/>
            <a:pathLst>
              <a:path h="765491" w="748267">
                <a:moveTo>
                  <a:pt x="0" y="0"/>
                </a:moveTo>
                <a:lnTo>
                  <a:pt x="748267" y="0"/>
                </a:lnTo>
                <a:lnTo>
                  <a:pt x="748267" y="765491"/>
                </a:lnTo>
                <a:lnTo>
                  <a:pt x="0" y="7654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13234" y="2163130"/>
            <a:ext cx="8830766" cy="774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</a:rPr>
              <a:t>Precisión en la asignación de costos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</a:rPr>
              <a:t>Mejora la toma de decisiones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r">
              <a:lnSpc>
                <a:spcPts val="4759"/>
              </a:lnSpc>
            </a:pPr>
          </a:p>
          <a:p>
            <a:pPr algn="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Open Sans"/>
              </a:rPr>
              <a:t>Identificación de actividades ineficientes . ..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515671" y="3665913"/>
            <a:ext cx="7515622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</a:rPr>
              <a:t>Adaptabilidad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</a:rPr>
              <a:t>Transparencia y rendición de cuentas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7914748" y="9555569"/>
            <a:ext cx="2468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91818"/>
                </a:solidFill>
                <a:latin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0867" y="2489608"/>
            <a:ext cx="8286198" cy="1543050"/>
            <a:chOff x="0" y="0"/>
            <a:chExt cx="2182373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2373" cy="406400"/>
            </a:xfrm>
            <a:custGeom>
              <a:avLst/>
              <a:gdLst/>
              <a:ahLst/>
              <a:cxnLst/>
              <a:rect r="r" b="b" t="t" l="l"/>
              <a:pathLst>
                <a:path h="406400" w="2182373">
                  <a:moveTo>
                    <a:pt x="2182373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2182373" y="406400"/>
                  </a:lnTo>
                  <a:lnTo>
                    <a:pt x="2080773" y="203200"/>
                  </a:lnTo>
                  <a:lnTo>
                    <a:pt x="218237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88900" y="-38100"/>
              <a:ext cx="635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0867" y="5441923"/>
            <a:ext cx="8286198" cy="1543050"/>
            <a:chOff x="0" y="0"/>
            <a:chExt cx="2182373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373" cy="406400"/>
            </a:xfrm>
            <a:custGeom>
              <a:avLst/>
              <a:gdLst/>
              <a:ahLst/>
              <a:cxnLst/>
              <a:rect r="r" b="b" t="t" l="l"/>
              <a:pathLst>
                <a:path h="406400" w="2182373">
                  <a:moveTo>
                    <a:pt x="2182373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2182373" y="406400"/>
                  </a:lnTo>
                  <a:lnTo>
                    <a:pt x="2080773" y="203200"/>
                  </a:lnTo>
                  <a:lnTo>
                    <a:pt x="218237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88900" y="-38100"/>
              <a:ext cx="635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3898873"/>
            <a:ext cx="8286198" cy="1543050"/>
            <a:chOff x="0" y="0"/>
            <a:chExt cx="218237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2373" cy="406400"/>
            </a:xfrm>
            <a:custGeom>
              <a:avLst/>
              <a:gdLst/>
              <a:ahLst/>
              <a:cxnLst/>
              <a:rect r="r" b="b" t="t" l="l"/>
              <a:pathLst>
                <a:path h="406400" w="2182373">
                  <a:moveTo>
                    <a:pt x="2182373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2182373" y="406400"/>
                  </a:lnTo>
                  <a:lnTo>
                    <a:pt x="2080773" y="203200"/>
                  </a:lnTo>
                  <a:lnTo>
                    <a:pt x="218237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88900" y="-38100"/>
              <a:ext cx="635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6983090"/>
            <a:ext cx="8286198" cy="1543050"/>
            <a:chOff x="0" y="0"/>
            <a:chExt cx="2182373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2373" cy="406400"/>
            </a:xfrm>
            <a:custGeom>
              <a:avLst/>
              <a:gdLst/>
              <a:ahLst/>
              <a:cxnLst/>
              <a:rect r="r" b="b" t="t" l="l"/>
              <a:pathLst>
                <a:path h="406400" w="2182373">
                  <a:moveTo>
                    <a:pt x="2182373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2182373" y="406400"/>
                  </a:lnTo>
                  <a:lnTo>
                    <a:pt x="2080773" y="203200"/>
                  </a:lnTo>
                  <a:lnTo>
                    <a:pt x="218237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88900" y="-38100"/>
              <a:ext cx="635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575967" y="2881209"/>
            <a:ext cx="759847" cy="759847"/>
          </a:xfrm>
          <a:custGeom>
            <a:avLst/>
            <a:gdLst/>
            <a:ahLst/>
            <a:cxnLst/>
            <a:rect r="r" b="b" t="t" l="l"/>
            <a:pathLst>
              <a:path h="759847" w="759847">
                <a:moveTo>
                  <a:pt x="0" y="0"/>
                </a:moveTo>
                <a:lnTo>
                  <a:pt x="759847" y="0"/>
                </a:lnTo>
                <a:lnTo>
                  <a:pt x="759847" y="759847"/>
                </a:lnTo>
                <a:lnTo>
                  <a:pt x="0" y="759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907064" y="2805815"/>
            <a:ext cx="910635" cy="910635"/>
          </a:xfrm>
          <a:custGeom>
            <a:avLst/>
            <a:gdLst/>
            <a:ahLst/>
            <a:cxnLst/>
            <a:rect r="r" b="b" t="t" l="l"/>
            <a:pathLst>
              <a:path h="910635" w="910635">
                <a:moveTo>
                  <a:pt x="0" y="0"/>
                </a:moveTo>
                <a:lnTo>
                  <a:pt x="910635" y="0"/>
                </a:lnTo>
                <a:lnTo>
                  <a:pt x="910635" y="910635"/>
                </a:lnTo>
                <a:lnTo>
                  <a:pt x="0" y="910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61802" y="4158330"/>
            <a:ext cx="875636" cy="1024135"/>
          </a:xfrm>
          <a:custGeom>
            <a:avLst/>
            <a:gdLst/>
            <a:ahLst/>
            <a:cxnLst/>
            <a:rect r="r" b="b" t="t" l="l"/>
            <a:pathLst>
              <a:path h="1024135" w="875636">
                <a:moveTo>
                  <a:pt x="0" y="0"/>
                </a:moveTo>
                <a:lnTo>
                  <a:pt x="875635" y="0"/>
                </a:lnTo>
                <a:lnTo>
                  <a:pt x="875635" y="1024135"/>
                </a:lnTo>
                <a:lnTo>
                  <a:pt x="0" y="10241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863610" y="5758130"/>
            <a:ext cx="890145" cy="910635"/>
          </a:xfrm>
          <a:custGeom>
            <a:avLst/>
            <a:gdLst/>
            <a:ahLst/>
            <a:cxnLst/>
            <a:rect r="r" b="b" t="t" l="l"/>
            <a:pathLst>
              <a:path h="910635" w="890145">
                <a:moveTo>
                  <a:pt x="0" y="0"/>
                </a:moveTo>
                <a:lnTo>
                  <a:pt x="890145" y="0"/>
                </a:lnTo>
                <a:lnTo>
                  <a:pt x="890145" y="910635"/>
                </a:lnTo>
                <a:lnTo>
                  <a:pt x="0" y="9106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77916" y="2891609"/>
            <a:ext cx="8830766" cy="714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</a:rPr>
              <a:t>Costoso de implementar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</a:rPr>
              <a:t>Puede ser excesivamente detallado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r">
              <a:lnSpc>
                <a:spcPts val="4759"/>
              </a:lnSpc>
            </a:pPr>
          </a:p>
          <a:p>
            <a:pPr algn="r">
              <a:lnSpc>
                <a:spcPts val="4480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319999" y="7299298"/>
            <a:ext cx="759242" cy="910635"/>
          </a:xfrm>
          <a:custGeom>
            <a:avLst/>
            <a:gdLst/>
            <a:ahLst/>
            <a:cxnLst/>
            <a:rect r="r" b="b" t="t" l="l"/>
            <a:pathLst>
              <a:path h="910635" w="759242">
                <a:moveTo>
                  <a:pt x="0" y="0"/>
                </a:moveTo>
                <a:lnTo>
                  <a:pt x="759241" y="0"/>
                </a:lnTo>
                <a:lnTo>
                  <a:pt x="759241" y="910634"/>
                </a:lnTo>
                <a:lnTo>
                  <a:pt x="0" y="910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676895" y="545873"/>
            <a:ext cx="12934210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layfair Display Bold"/>
              </a:rPr>
              <a:t>Desventajas</a:t>
            </a:r>
            <a:r>
              <a:rPr lang="en-US" sz="5600">
                <a:solidFill>
                  <a:srgbClr val="000000"/>
                </a:solidFill>
                <a:latin typeface="Playfair Display Bold"/>
              </a:rPr>
              <a:t> del modelo</a:t>
            </a:r>
          </a:p>
          <a:p>
            <a:pPr algn="ctr">
              <a:lnSpc>
                <a:spcPts val="784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560046" y="4389728"/>
            <a:ext cx="7454106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</a:rPr>
              <a:t>Complicado de mantener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</a:rPr>
              <a:t>Requiere una comprensión profunda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791319" y="9555569"/>
            <a:ext cx="4937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BF7F1"/>
                </a:solidFill>
                <a:latin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0100" y="710311"/>
            <a:ext cx="7912497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000000"/>
                </a:solidFill>
                <a:latin typeface="Playfair Display Bold"/>
              </a:rPr>
              <a:t>Ejemplos de Aplicación</a:t>
            </a:r>
          </a:p>
          <a:p>
            <a:pPr algn="ctr">
              <a:lnSpc>
                <a:spcPts val="81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8708" y="2518361"/>
            <a:ext cx="9006585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</a:rPr>
              <a:t>El Costo ABC se puede aplicar en diversos sectores, como la manufactura, servicios y salud. Por ejemplo, en una empresa de manufactura, el Costo ABC puede ayudar a identificar los productos más rentables y los que generan mayores costos. En el sector de servicios, puede ayudar a entender el costo de cada actividad y optimizar los recursos. En el ámbito de la salud, puede ayudar a analizar los costos de los procedimientos médicos y mejorar la eficiencia.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671935" y="9515774"/>
            <a:ext cx="4937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91818"/>
                </a:solidFill>
                <a:latin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75806" y="1994122"/>
            <a:ext cx="4336389" cy="111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Playfair Display Bold"/>
              </a:rPr>
              <a:t>Conclusión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745721"/>
            <a:ext cx="16230600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Montserrat"/>
              </a:rPr>
              <a:t>El enfoque de </a:t>
            </a:r>
            <a:r>
              <a:rPr lang="en-US" sz="3399">
                <a:solidFill>
                  <a:srgbClr val="000000"/>
                </a:solidFill>
                <a:latin typeface="Montserrat Bold"/>
              </a:rPr>
              <a:t>Costos ABC</a:t>
            </a:r>
            <a:r>
              <a:rPr lang="en-US" sz="3399">
                <a:solidFill>
                  <a:srgbClr val="000000"/>
                </a:solidFill>
                <a:latin typeface="Montserrat"/>
              </a:rPr>
              <a:t> es una metodología efectiva para optimizar los costos en las empresas. Permite una asignación más precisa de los recursos y una toma de decisiones informada. Al implementar el Costo ABC, las empresas pueden identificar oportunidades de mejora y maximizar su rentabilidad. Es una herramienta poderosa para la gestión estratégica y la optimización de costos en cualquier sector.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671935" y="9575466"/>
            <a:ext cx="4937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BF7F1"/>
                </a:solidFill>
                <a:latin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9101" y="4185917"/>
            <a:ext cx="14689799" cy="172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39"/>
              </a:lnSpc>
            </a:pPr>
            <a:r>
              <a:rPr lang="en-US" sz="10099">
                <a:solidFill>
                  <a:srgbClr val="FFFFFF"/>
                </a:solidFill>
                <a:latin typeface="Playfair Display Bold"/>
              </a:rPr>
              <a:t>¡Gracias por su atencion!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18318" y="1516582"/>
            <a:ext cx="4786312" cy="111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Playfair Display Bold"/>
              </a:rPr>
              <a:t>Blibliografía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80195"/>
            <a:ext cx="1623060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06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55645"/>
            <a:ext cx="16230600" cy="451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Open Sans"/>
                <a:hlinkClick r:id="rId2" tooltip="http://www.scielo.org.co/pdf/cuco/v12n30/v12n30a02.pdf"/>
              </a:rPr>
              <a:t>https://www.abcm-strategy.com/activity-based-costing/elementos-del-costeo-abc/#:~:text=%C2%BFQu%C3%A9%20es%20Driver%20de%20Recursos,%2C%20Tiempo%20por%20Actividad%2C%20etc.</a:t>
            </a:r>
          </a:p>
          <a:p>
            <a:pPr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Open Sans"/>
                <a:hlinkClick r:id="rId3" tooltip="http://www.scielo.org.co/pdf/cuco/v12n30/v12n30a02.pdf"/>
              </a:rPr>
              <a:t>https://www.tdx.cat/bitstream/handle/10803/8805/cap2.pdf</a:t>
            </a:r>
          </a:p>
          <a:p>
            <a:pPr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Open Sans"/>
                <a:hlinkClick r:id="rId4" tooltip="http://www.scielo.org.co/pdf/cuco/v12n30/v12n30a02.pdf"/>
              </a:rPr>
              <a:t>https://www.youtube.com/watch?v=aXN7P9Ndg3I&amp;list=PLKuY4HVdcWi5-7WWsgBIeKRuEB_P85L86&amp;index=18</a:t>
            </a:r>
          </a:p>
          <a:p>
            <a:pPr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Open Sans"/>
              </a:rPr>
              <a:t>http://www.scielo.org.co/pdf/cuco/v12n30/v12n30a02.pdf</a:t>
            </a:r>
          </a:p>
          <a:p>
            <a:pPr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Open Sans"/>
              </a:rPr>
              <a:t>https://www.eleconomista.es/diccionario-de-economia/modelo-de-coste-abc</a:t>
            </a:r>
          </a:p>
          <a:p>
            <a:pPr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Open Sans"/>
              </a:rPr>
              <a:t>https://docs.google.com/presentation/d/19c0LOfGZQkglXe2ureM17gvdjwXrd4wI/edit</a:t>
            </a:r>
          </a:p>
          <a:p>
            <a:pPr>
              <a:lnSpc>
                <a:spcPts val="3079"/>
              </a:lnSpc>
            </a:pPr>
          </a:p>
          <a:p>
            <a:pPr>
              <a:lnSpc>
                <a:spcPts val="2800"/>
              </a:lnSpc>
            </a:pPr>
          </a:p>
          <a:p>
            <a:pPr>
              <a:lnSpc>
                <a:spcPts val="2800"/>
              </a:lnSpc>
            </a:pPr>
          </a:p>
          <a:p>
            <a:pPr>
              <a:lnSpc>
                <a:spcPts val="2800"/>
              </a:lnSpc>
            </a:pPr>
          </a:p>
          <a:p>
            <a:pPr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DAFwC3nqQIo</dc:identifier>
  <dcterms:modified xsi:type="dcterms:W3CDTF">2011-08-01T06:04:30Z</dcterms:modified>
  <cp:revision>1</cp:revision>
  <dc:title>ABC</dc:title>
</cp:coreProperties>
</file>