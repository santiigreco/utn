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3"/>
  </p:notesMasterIdLst>
  <p:sldIdLst>
    <p:sldId id="356" r:id="rId2"/>
    <p:sldId id="357" r:id="rId3"/>
    <p:sldId id="358" r:id="rId4"/>
    <p:sldId id="359" r:id="rId5"/>
    <p:sldId id="360" r:id="rId6"/>
    <p:sldId id="361" r:id="rId7"/>
    <p:sldId id="362" r:id="rId8"/>
    <p:sldId id="363" r:id="rId9"/>
    <p:sldId id="364" r:id="rId10"/>
    <p:sldId id="365" r:id="rId11"/>
    <p:sldId id="366" r:id="rId12"/>
    <p:sldId id="367" r:id="rId13"/>
    <p:sldId id="368" r:id="rId14"/>
    <p:sldId id="369" r:id="rId15"/>
    <p:sldId id="370" r:id="rId16"/>
    <p:sldId id="371" r:id="rId17"/>
    <p:sldId id="372" r:id="rId18"/>
    <p:sldId id="373" r:id="rId19"/>
    <p:sldId id="374" r:id="rId20"/>
    <p:sldId id="375" r:id="rId21"/>
    <p:sldId id="376" r:id="rId22"/>
    <p:sldId id="377" r:id="rId23"/>
    <p:sldId id="378" r:id="rId24"/>
    <p:sldId id="379" r:id="rId25"/>
    <p:sldId id="380" r:id="rId26"/>
    <p:sldId id="381" r:id="rId27"/>
    <p:sldId id="382" r:id="rId28"/>
    <p:sldId id="383" r:id="rId29"/>
    <p:sldId id="384" r:id="rId30"/>
    <p:sldId id="385" r:id="rId31"/>
    <p:sldId id="386" r:id="rId32"/>
    <p:sldId id="387" r:id="rId33"/>
    <p:sldId id="388" r:id="rId34"/>
    <p:sldId id="389" r:id="rId35"/>
    <p:sldId id="390" r:id="rId36"/>
    <p:sldId id="391" r:id="rId37"/>
    <p:sldId id="393" r:id="rId38"/>
    <p:sldId id="394" r:id="rId39"/>
    <p:sldId id="395" r:id="rId40"/>
    <p:sldId id="396" r:id="rId41"/>
    <p:sldId id="397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stavo massucco" initials="gm" lastIdx="1" clrIdx="0">
    <p:extLst>
      <p:ext uri="{19B8F6BF-5375-455C-9EA6-DF929625EA0E}">
        <p15:presenceInfo xmlns:p15="http://schemas.microsoft.com/office/powerpoint/2012/main" userId="S::gmassucco@frba.utn.edu.ar::1271f782-c2a0-484f-8edc-abfea8ad4a0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6" autoAdjust="0"/>
    <p:restoredTop sz="94665" autoAdjust="0"/>
  </p:normalViewPr>
  <p:slideViewPr>
    <p:cSldViewPr snapToGrid="0">
      <p:cViewPr varScale="1">
        <p:scale>
          <a:sx n="95" d="100"/>
          <a:sy n="95" d="100"/>
        </p:scale>
        <p:origin x="521" y="6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8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A441F-8982-4902-B1FE-08DF82218E62}" type="datetimeFigureOut">
              <a:rPr lang="es-AR" smtClean="0"/>
              <a:t>22/9/2020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57D551-39DC-4B61-9B7A-D9ED2875985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40336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Century Gothic" panose="020B0502020202020204" pitchFamily="34" charset="0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Century Gothic" panose="020B0502020202020204" pitchFamily="34" charset="0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Century Gothic" panose="020B0502020202020204" pitchFamily="34" charset="0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Century Gothic" panose="020B0502020202020204" pitchFamily="34" charset="0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5">
            <a:extLst>
              <a:ext uri="{FF2B5EF4-FFF2-40B4-BE49-F238E27FC236}">
                <a16:creationId xmlns:a16="http://schemas.microsoft.com/office/drawing/2014/main" id="{F5642E8C-FD90-47FB-9533-A90C5141EDEF}"/>
              </a:ext>
            </a:extLst>
          </p:cNvPr>
          <p:cNvSpPr txBox="1">
            <a:spLocks noGrp="1" noChangeArrowheads="1"/>
          </p:cNvSpPr>
          <p:nvPr>
            <p:ph type="ctrTitle"/>
          </p:nvPr>
        </p:nvSpPr>
        <p:spPr bwMode="auto">
          <a:xfrm>
            <a:off x="1842593" y="804676"/>
            <a:ext cx="89154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s-MX" altLang="es-AR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COSTOS Y PRESUPUESTOS</a:t>
            </a:r>
          </a:p>
        </p:txBody>
      </p:sp>
      <p:sp>
        <p:nvSpPr>
          <p:cNvPr id="5" name="Text Box 26">
            <a:extLst>
              <a:ext uri="{FF2B5EF4-FFF2-40B4-BE49-F238E27FC236}">
                <a16:creationId xmlns:a16="http://schemas.microsoft.com/office/drawing/2014/main" id="{27735A57-3B03-42B6-BDFC-E5E8B31EF7BE}"/>
              </a:ext>
            </a:extLst>
          </p:cNvPr>
          <p:cNvSpPr txBox="1">
            <a:spLocks noGrp="1" noChangeArrowheads="1"/>
          </p:cNvSpPr>
          <p:nvPr>
            <p:ph type="subTitle" idx="1"/>
          </p:nvPr>
        </p:nvSpPr>
        <p:spPr bwMode="auto">
          <a:xfrm>
            <a:off x="1524816" y="2733938"/>
            <a:ext cx="9550953" cy="1390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s-MX" altLang="es-AR" sz="4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COSTO POR ACTIVIDADES - ABC</a:t>
            </a:r>
          </a:p>
          <a:p>
            <a:pPr algn="ctr" eaLnBrk="1" hangingPunct="1">
              <a:defRPr/>
            </a:pPr>
            <a:r>
              <a:rPr lang="es-MX" altLang="es-AR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  <a:t>(ACTIVIY BASED COSTING)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9FA0E92-5CE1-472E-A758-7CE737D9664B}"/>
              </a:ext>
            </a:extLst>
          </p:cNvPr>
          <p:cNvSpPr txBox="1"/>
          <p:nvPr/>
        </p:nvSpPr>
        <p:spPr>
          <a:xfrm>
            <a:off x="2520805" y="6085342"/>
            <a:ext cx="83965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Ingeniero Gustavo Massucco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674575-47D4-476C-8772-8197234B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892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6166BC6-FCEE-4C18-BCE1-71E57EF04A3B}"/>
              </a:ext>
            </a:extLst>
          </p:cNvPr>
          <p:cNvSpPr txBox="1"/>
          <p:nvPr/>
        </p:nvSpPr>
        <p:spPr>
          <a:xfrm>
            <a:off x="2383277" y="1838528"/>
            <a:ext cx="891168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Como se ha dicho anteriormente, el costo de la Materia Prima y de la Mano de Obra Directa es posible conocerla con exactitud.</a:t>
            </a:r>
          </a:p>
          <a:p>
            <a:endParaRPr lang="es-AR" sz="2000" dirty="0"/>
          </a:p>
          <a:p>
            <a:r>
              <a:rPr lang="es-AR" sz="2000" dirty="0"/>
              <a:t>Sin embargo uno de los problemas mas complejos en la definición de costos totales es la asignación de los </a:t>
            </a:r>
            <a:r>
              <a:rPr lang="es-AR" sz="2000" b="1" dirty="0"/>
              <a:t>gastos indirectos o generales.</a:t>
            </a:r>
          </a:p>
          <a:p>
            <a:endParaRPr lang="es-AR" sz="2000" b="1" dirty="0"/>
          </a:p>
          <a:p>
            <a:r>
              <a:rPr lang="es-AR" sz="2000" dirty="0"/>
              <a:t>Su mala distribución ocasionara que nuestro costo no sea real y termine “penalizando” al producto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520B063-0142-4EF9-9B44-DF348857031F}"/>
              </a:ext>
            </a:extLst>
          </p:cNvPr>
          <p:cNvSpPr txBox="1"/>
          <p:nvPr/>
        </p:nvSpPr>
        <p:spPr>
          <a:xfrm>
            <a:off x="2383277" y="4680531"/>
            <a:ext cx="89116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O por el contrario,  como el reintegro de estos </a:t>
            </a:r>
            <a:r>
              <a:rPr lang="es-AR" sz="2000" b="1" dirty="0"/>
              <a:t>gastos indirectos </a:t>
            </a:r>
            <a:r>
              <a:rPr lang="es-AR" sz="2000" dirty="0"/>
              <a:t>se prevé para un  determinado volumen de ventas, si alguno de los productos no cumple con esta cantidad, esa porción de </a:t>
            </a:r>
            <a:r>
              <a:rPr lang="es-AR" sz="2000" b="1" dirty="0"/>
              <a:t>gastos indirectos </a:t>
            </a:r>
            <a:r>
              <a:rPr lang="es-AR" sz="2000" dirty="0"/>
              <a:t>no ingresara a la empresa.</a:t>
            </a:r>
          </a:p>
        </p:txBody>
      </p:sp>
    </p:spTree>
    <p:extLst>
      <p:ext uri="{BB962C8B-B14F-4D97-AF65-F5344CB8AC3E}">
        <p14:creationId xmlns:p14="http://schemas.microsoft.com/office/powerpoint/2010/main" val="2260852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6166BC6-FCEE-4C18-BCE1-71E57EF04A3B}"/>
              </a:ext>
            </a:extLst>
          </p:cNvPr>
          <p:cNvSpPr txBox="1"/>
          <p:nvPr/>
        </p:nvSpPr>
        <p:spPr>
          <a:xfrm>
            <a:off x="2373552" y="1551562"/>
            <a:ext cx="89116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Para llevar adelante esta distribución de gastos es que se utilizan distintas </a:t>
            </a:r>
            <a:r>
              <a:rPr lang="es-AR" sz="2000" b="1" dirty="0"/>
              <a:t>“bases de distribución”, </a:t>
            </a:r>
            <a:r>
              <a:rPr lang="es-AR" sz="2000" dirty="0"/>
              <a:t>mediante las cuales se busca la apropiación de estos gastos generales.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EC54AB2-4113-4C8B-BBCE-94026D85310E}"/>
              </a:ext>
            </a:extLst>
          </p:cNvPr>
          <p:cNvSpPr txBox="1"/>
          <p:nvPr/>
        </p:nvSpPr>
        <p:spPr>
          <a:xfrm>
            <a:off x="2373553" y="2747187"/>
            <a:ext cx="891168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En general para realizar esto es que se utiliza la variable mas significativa o intensiva del proceso productivo, como por ejemplo:</a:t>
            </a:r>
          </a:p>
          <a:p>
            <a:pPr marL="457200" indent="-45720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sz="2000" b="1" dirty="0"/>
              <a:t>la MP</a:t>
            </a:r>
          </a:p>
          <a:p>
            <a:pPr marL="457200" indent="-45720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sz="2000" b="1" dirty="0"/>
              <a:t>la MOD</a:t>
            </a:r>
          </a:p>
          <a:p>
            <a:pPr marL="457200" indent="-45720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sz="2000" b="1" dirty="0"/>
              <a:t>el  Costo Directo</a:t>
            </a:r>
            <a:r>
              <a:rPr lang="es-AR" sz="2000" dirty="0"/>
              <a:t>.</a:t>
            </a:r>
          </a:p>
          <a:p>
            <a:endParaRPr lang="es-AR" sz="2000" dirty="0"/>
          </a:p>
          <a:p>
            <a:r>
              <a:rPr lang="es-AR" sz="2000" dirty="0"/>
              <a:t>De no existir ninguna variable representativa es posible utilizar otras, como por ejemplo:</a:t>
            </a:r>
          </a:p>
          <a:p>
            <a:pPr marL="342900" indent="-34290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sz="2000" b="1" dirty="0"/>
              <a:t> las unidades físicas</a:t>
            </a:r>
          </a:p>
          <a:p>
            <a:pPr marL="342900" indent="-34290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sz="2000" b="1" dirty="0"/>
              <a:t> las Horas Hombre</a:t>
            </a:r>
          </a:p>
          <a:p>
            <a:pPr marL="342900" indent="-34290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sz="2000" b="1" dirty="0"/>
              <a:t> las Horas Maquina</a:t>
            </a:r>
          </a:p>
          <a:p>
            <a:pPr marL="342900" indent="-34290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sz="2000" b="1" dirty="0"/>
              <a:t> etc.</a:t>
            </a:r>
          </a:p>
        </p:txBody>
      </p:sp>
    </p:spTree>
    <p:extLst>
      <p:ext uri="{BB962C8B-B14F-4D97-AF65-F5344CB8AC3E}">
        <p14:creationId xmlns:p14="http://schemas.microsoft.com/office/powerpoint/2010/main" val="490654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6166BC6-FCEE-4C18-BCE1-71E57EF04A3B}"/>
              </a:ext>
            </a:extLst>
          </p:cNvPr>
          <p:cNvSpPr txBox="1"/>
          <p:nvPr/>
        </p:nvSpPr>
        <p:spPr>
          <a:xfrm>
            <a:off x="2373552" y="1551562"/>
            <a:ext cx="89116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Veamos el siguiente ejemplo donde utilizaremos a la MOD como base de distribución de los gastos indirectos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EC54AB2-4113-4C8B-BBCE-94026D85310E}"/>
              </a:ext>
            </a:extLst>
          </p:cNvPr>
          <p:cNvSpPr txBox="1"/>
          <p:nvPr/>
        </p:nvSpPr>
        <p:spPr>
          <a:xfrm>
            <a:off x="2373553" y="2747187"/>
            <a:ext cx="89116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/>
              <a:t>Una fabrica se compone de 4 secciones cuyos gastos indirectos por sección son: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AF512B2-588D-4C94-9EC0-64F2DB031120}"/>
              </a:ext>
            </a:extLst>
          </p:cNvPr>
          <p:cNvSpPr txBox="1"/>
          <p:nvPr/>
        </p:nvSpPr>
        <p:spPr>
          <a:xfrm>
            <a:off x="2373552" y="3635035"/>
            <a:ext cx="2577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Gastos Generales:</a:t>
            </a:r>
          </a:p>
        </p:txBody>
      </p:sp>
      <p:graphicFrame>
        <p:nvGraphicFramePr>
          <p:cNvPr id="6" name="Tabla 7">
            <a:extLst>
              <a:ext uri="{FF2B5EF4-FFF2-40B4-BE49-F238E27FC236}">
                <a16:creationId xmlns:a16="http://schemas.microsoft.com/office/drawing/2014/main" id="{73FCDD2F-ED08-45BD-B1C9-405EB1E0F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238619"/>
              </p:ext>
            </p:extLst>
          </p:nvPr>
        </p:nvGraphicFramePr>
        <p:xfrm>
          <a:off x="2450290" y="4111165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8316780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86308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GASTOS GENERALES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645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SECCION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$ 120.000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536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SECCION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$ 90.000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856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SECCION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$ 10.000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442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SECCION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$ 50.000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656331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4048C8D8-4448-4EAA-AE2D-D21EADF4D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210098"/>
              </p:ext>
            </p:extLst>
          </p:nvPr>
        </p:nvGraphicFramePr>
        <p:xfrm>
          <a:off x="2450290" y="596536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532988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91817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GASTO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$ 270.000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216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3206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6166BC6-FCEE-4C18-BCE1-71E57EF04A3B}"/>
              </a:ext>
            </a:extLst>
          </p:cNvPr>
          <p:cNvSpPr txBox="1"/>
          <p:nvPr/>
        </p:nvSpPr>
        <p:spPr>
          <a:xfrm>
            <a:off x="2373552" y="1885390"/>
            <a:ext cx="90637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Supongamos que esta producción es </a:t>
            </a:r>
            <a:r>
              <a:rPr lang="es-AR" sz="2000" b="1" dirty="0"/>
              <a:t>Mano de Obra Directa </a:t>
            </a:r>
            <a:r>
              <a:rPr lang="es-AR" sz="2000" dirty="0"/>
              <a:t>intensiva, por lo que elegimos a esta variable directa como  </a:t>
            </a:r>
            <a:r>
              <a:rPr lang="es-AR" sz="2000" b="1" dirty="0"/>
              <a:t>base de distribución</a:t>
            </a:r>
            <a:r>
              <a:rPr lang="es-AR" sz="2000" dirty="0"/>
              <a:t>.</a:t>
            </a:r>
          </a:p>
          <a:p>
            <a:r>
              <a:rPr lang="es-AR" sz="2000" dirty="0"/>
              <a:t>El gasto de MOD para cada una de las secciones será: </a:t>
            </a:r>
          </a:p>
        </p:txBody>
      </p:sp>
      <p:graphicFrame>
        <p:nvGraphicFramePr>
          <p:cNvPr id="6" name="Tabla 7">
            <a:extLst>
              <a:ext uri="{FF2B5EF4-FFF2-40B4-BE49-F238E27FC236}">
                <a16:creationId xmlns:a16="http://schemas.microsoft.com/office/drawing/2014/main" id="{73FCDD2F-ED08-45BD-B1C9-405EB1E0F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905395"/>
              </p:ext>
            </p:extLst>
          </p:nvPr>
        </p:nvGraphicFramePr>
        <p:xfrm>
          <a:off x="2765395" y="3301358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8316780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86308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MOD POR 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645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MANO DE OBRA DIRECTA </a:t>
                      </a:r>
                      <a:r>
                        <a:rPr lang="es-AR" sz="1400" b="1" dirty="0"/>
                        <a:t>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$ 400.000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536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MANO DE OBRA DIRECTA </a:t>
                      </a:r>
                      <a:r>
                        <a:rPr lang="es-AR" sz="1400" b="1" dirty="0"/>
                        <a:t>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$ 300.000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856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MANO DE OBRA DIRECTA </a:t>
                      </a:r>
                      <a:r>
                        <a:rPr lang="es-AR" sz="1400" b="1" dirty="0"/>
                        <a:t>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$ 250.000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442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MANO DE OBRA DIRECTA </a:t>
                      </a:r>
                      <a:r>
                        <a:rPr lang="es-AR" sz="1400" b="1" dirty="0"/>
                        <a:t>(D)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$ 200.000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656331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90E38AE8-853C-48C5-9598-CA1236AC1C05}"/>
              </a:ext>
            </a:extLst>
          </p:cNvPr>
          <p:cNvSpPr txBox="1"/>
          <p:nvPr/>
        </p:nvSpPr>
        <p:spPr>
          <a:xfrm>
            <a:off x="2374018" y="5460369"/>
            <a:ext cx="89116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Por lo tanto si dividimos la cantidad de $ consumidos en Gastos Generales de cada sección, por la cantidad de $ consumidos en concepto de MOD de cada una, obtendremos la cantidad de $ de Gastos Generales que absorberá cada sección por cada $ de MOD, veamos:</a:t>
            </a:r>
          </a:p>
        </p:txBody>
      </p:sp>
    </p:spTree>
    <p:extLst>
      <p:ext uri="{BB962C8B-B14F-4D97-AF65-F5344CB8AC3E}">
        <p14:creationId xmlns:p14="http://schemas.microsoft.com/office/powerpoint/2010/main" val="2187862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6166BC6-FCEE-4C18-BCE1-71E57EF04A3B}"/>
              </a:ext>
            </a:extLst>
          </p:cNvPr>
          <p:cNvSpPr txBox="1"/>
          <p:nvPr/>
        </p:nvSpPr>
        <p:spPr>
          <a:xfrm>
            <a:off x="2164303" y="2519087"/>
            <a:ext cx="1462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Sección A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8D57192-D2B1-4B2A-BD94-658ACDAC310A}"/>
              </a:ext>
            </a:extLst>
          </p:cNvPr>
          <p:cNvSpPr txBox="1"/>
          <p:nvPr/>
        </p:nvSpPr>
        <p:spPr>
          <a:xfrm>
            <a:off x="3557678" y="2605857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1394B44-208A-41C3-94CB-61BC75B7A528}"/>
              </a:ext>
            </a:extLst>
          </p:cNvPr>
          <p:cNvSpPr txBox="1"/>
          <p:nvPr/>
        </p:nvSpPr>
        <p:spPr>
          <a:xfrm>
            <a:off x="3973738" y="2319512"/>
            <a:ext cx="4941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120.000  $ de </a:t>
            </a:r>
            <a:r>
              <a:rPr lang="es-AR" sz="2000" dirty="0" err="1"/>
              <a:t>Gtos</a:t>
            </a:r>
            <a:r>
              <a:rPr lang="es-AR" sz="2000" dirty="0"/>
              <a:t> Generales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378E834-1E05-4ADF-A9A0-89C95E619E15}"/>
              </a:ext>
            </a:extLst>
          </p:cNvPr>
          <p:cNvSpPr txBox="1"/>
          <p:nvPr/>
        </p:nvSpPr>
        <p:spPr>
          <a:xfrm>
            <a:off x="4311684" y="2871938"/>
            <a:ext cx="4083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400.000  $ de MOD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DB79729-0829-41A7-8FCC-D2EB243E8E74}"/>
              </a:ext>
            </a:extLst>
          </p:cNvPr>
          <p:cNvSpPr txBox="1"/>
          <p:nvPr/>
        </p:nvSpPr>
        <p:spPr>
          <a:xfrm>
            <a:off x="7812153" y="2603418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0070EC4-EC8B-4B05-BFD6-76A194571719}"/>
              </a:ext>
            </a:extLst>
          </p:cNvPr>
          <p:cNvSpPr txBox="1"/>
          <p:nvPr/>
        </p:nvSpPr>
        <p:spPr>
          <a:xfrm>
            <a:off x="8218263" y="2562859"/>
            <a:ext cx="795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0,3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9DA8164-6CCF-45BC-B597-8FE37EA19CC4}"/>
              </a:ext>
            </a:extLst>
          </p:cNvPr>
          <p:cNvSpPr txBox="1"/>
          <p:nvPr/>
        </p:nvSpPr>
        <p:spPr>
          <a:xfrm>
            <a:off x="8817388" y="2396961"/>
            <a:ext cx="3150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$ de </a:t>
            </a:r>
            <a:r>
              <a:rPr lang="es-AR" sz="2000" dirty="0" err="1"/>
              <a:t>Gtos</a:t>
            </a:r>
            <a:r>
              <a:rPr lang="es-AR" sz="2000" dirty="0"/>
              <a:t> Generales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02114FE-1470-4E9A-831E-126A907D698F}"/>
              </a:ext>
            </a:extLst>
          </p:cNvPr>
          <p:cNvSpPr txBox="1"/>
          <p:nvPr/>
        </p:nvSpPr>
        <p:spPr>
          <a:xfrm>
            <a:off x="9253315" y="2908285"/>
            <a:ext cx="3120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$ de MOD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4E13DAE-5BCD-4399-9C34-2BAE07FF05E4}"/>
              </a:ext>
            </a:extLst>
          </p:cNvPr>
          <p:cNvCxnSpPr>
            <a:cxnSpLocks/>
          </p:cNvCxnSpPr>
          <p:nvPr/>
        </p:nvCxnSpPr>
        <p:spPr>
          <a:xfrm>
            <a:off x="3935365" y="2790523"/>
            <a:ext cx="37967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7AB74457-3945-44A4-9ECB-D2F576703091}"/>
              </a:ext>
            </a:extLst>
          </p:cNvPr>
          <p:cNvCxnSpPr/>
          <p:nvPr/>
        </p:nvCxnSpPr>
        <p:spPr>
          <a:xfrm>
            <a:off x="8795602" y="2768206"/>
            <a:ext cx="26886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A45C89B-FD1E-4AD0-AE97-B27D3BDE1485}"/>
              </a:ext>
            </a:extLst>
          </p:cNvPr>
          <p:cNvSpPr txBox="1"/>
          <p:nvPr/>
        </p:nvSpPr>
        <p:spPr>
          <a:xfrm>
            <a:off x="2164303" y="4546512"/>
            <a:ext cx="1462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Sección B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27F09C9-C88E-466D-BF21-66A8F87B8235}"/>
              </a:ext>
            </a:extLst>
          </p:cNvPr>
          <p:cNvSpPr txBox="1"/>
          <p:nvPr/>
        </p:nvSpPr>
        <p:spPr>
          <a:xfrm>
            <a:off x="3557678" y="4633282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672A204-983B-4506-9C65-36F158CF2935}"/>
              </a:ext>
            </a:extLst>
          </p:cNvPr>
          <p:cNvSpPr txBox="1"/>
          <p:nvPr/>
        </p:nvSpPr>
        <p:spPr>
          <a:xfrm>
            <a:off x="3973738" y="4346937"/>
            <a:ext cx="4941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90.000  $ de </a:t>
            </a:r>
            <a:r>
              <a:rPr lang="es-AR" sz="2000" dirty="0" err="1"/>
              <a:t>Gtos</a:t>
            </a:r>
            <a:r>
              <a:rPr lang="es-AR" sz="2000" dirty="0"/>
              <a:t> Generales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72366F8-6EB9-4C1D-83FA-94A70EAC7E64}"/>
              </a:ext>
            </a:extLst>
          </p:cNvPr>
          <p:cNvSpPr txBox="1"/>
          <p:nvPr/>
        </p:nvSpPr>
        <p:spPr>
          <a:xfrm>
            <a:off x="4311684" y="4899363"/>
            <a:ext cx="4083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300.000  $ de MOD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B7F24B5-7C16-4F90-9156-7AC159D6E3AC}"/>
              </a:ext>
            </a:extLst>
          </p:cNvPr>
          <p:cNvSpPr txBox="1"/>
          <p:nvPr/>
        </p:nvSpPr>
        <p:spPr>
          <a:xfrm>
            <a:off x="7812153" y="4630843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ADA5F6E-3402-4F07-8C42-A7BC4F32413B}"/>
              </a:ext>
            </a:extLst>
          </p:cNvPr>
          <p:cNvSpPr txBox="1"/>
          <p:nvPr/>
        </p:nvSpPr>
        <p:spPr>
          <a:xfrm>
            <a:off x="8218263" y="4553937"/>
            <a:ext cx="795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0,3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2F48CC9-0E75-471E-B9C0-88409FB4FA42}"/>
              </a:ext>
            </a:extLst>
          </p:cNvPr>
          <p:cNvSpPr txBox="1"/>
          <p:nvPr/>
        </p:nvSpPr>
        <p:spPr>
          <a:xfrm>
            <a:off x="8817388" y="4388039"/>
            <a:ext cx="3150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$ de </a:t>
            </a:r>
            <a:r>
              <a:rPr lang="es-AR" sz="2000" dirty="0" err="1"/>
              <a:t>Gtos</a:t>
            </a:r>
            <a:r>
              <a:rPr lang="es-AR" sz="2000" dirty="0"/>
              <a:t> Generales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1BB8CC3-C3E0-4E1D-92E9-A0CF366B8003}"/>
              </a:ext>
            </a:extLst>
          </p:cNvPr>
          <p:cNvSpPr txBox="1"/>
          <p:nvPr/>
        </p:nvSpPr>
        <p:spPr>
          <a:xfrm>
            <a:off x="9253315" y="4899363"/>
            <a:ext cx="3120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$ de MOD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D9B0EDD-6688-4079-8EE4-E7249CED012A}"/>
              </a:ext>
            </a:extLst>
          </p:cNvPr>
          <p:cNvCxnSpPr>
            <a:cxnSpLocks/>
          </p:cNvCxnSpPr>
          <p:nvPr/>
        </p:nvCxnSpPr>
        <p:spPr>
          <a:xfrm>
            <a:off x="3935365" y="4817948"/>
            <a:ext cx="37967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91EC67B7-876C-490B-B2A7-D8A99F4BB3F6}"/>
              </a:ext>
            </a:extLst>
          </p:cNvPr>
          <p:cNvCxnSpPr/>
          <p:nvPr/>
        </p:nvCxnSpPr>
        <p:spPr>
          <a:xfrm>
            <a:off x="8795602" y="4795631"/>
            <a:ext cx="26886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93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6166BC6-FCEE-4C18-BCE1-71E57EF04A3B}"/>
              </a:ext>
            </a:extLst>
          </p:cNvPr>
          <p:cNvSpPr txBox="1"/>
          <p:nvPr/>
        </p:nvSpPr>
        <p:spPr>
          <a:xfrm>
            <a:off x="2164303" y="2519087"/>
            <a:ext cx="1462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Sección C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8D57192-D2B1-4B2A-BD94-658ACDAC310A}"/>
              </a:ext>
            </a:extLst>
          </p:cNvPr>
          <p:cNvSpPr txBox="1"/>
          <p:nvPr/>
        </p:nvSpPr>
        <p:spPr>
          <a:xfrm>
            <a:off x="3557678" y="2605857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1394B44-208A-41C3-94CB-61BC75B7A528}"/>
              </a:ext>
            </a:extLst>
          </p:cNvPr>
          <p:cNvSpPr txBox="1"/>
          <p:nvPr/>
        </p:nvSpPr>
        <p:spPr>
          <a:xfrm>
            <a:off x="3973738" y="2319512"/>
            <a:ext cx="4941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10.000  $ de </a:t>
            </a:r>
            <a:r>
              <a:rPr lang="es-AR" sz="2000" dirty="0" err="1"/>
              <a:t>Gtos</a:t>
            </a:r>
            <a:r>
              <a:rPr lang="es-AR" sz="2000" dirty="0"/>
              <a:t> Generales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378E834-1E05-4ADF-A9A0-89C95E619E15}"/>
              </a:ext>
            </a:extLst>
          </p:cNvPr>
          <p:cNvSpPr txBox="1"/>
          <p:nvPr/>
        </p:nvSpPr>
        <p:spPr>
          <a:xfrm>
            <a:off x="4311684" y="2871938"/>
            <a:ext cx="4083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250.000  $ de MOD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DB79729-0829-41A7-8FCC-D2EB243E8E74}"/>
              </a:ext>
            </a:extLst>
          </p:cNvPr>
          <p:cNvSpPr txBox="1"/>
          <p:nvPr/>
        </p:nvSpPr>
        <p:spPr>
          <a:xfrm>
            <a:off x="7812153" y="2603418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0070EC4-EC8B-4B05-BFD6-76A194571719}"/>
              </a:ext>
            </a:extLst>
          </p:cNvPr>
          <p:cNvSpPr txBox="1"/>
          <p:nvPr/>
        </p:nvSpPr>
        <p:spPr>
          <a:xfrm>
            <a:off x="8119727" y="2515172"/>
            <a:ext cx="795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0,04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9DA8164-6CCF-45BC-B597-8FE37EA19CC4}"/>
              </a:ext>
            </a:extLst>
          </p:cNvPr>
          <p:cNvSpPr txBox="1"/>
          <p:nvPr/>
        </p:nvSpPr>
        <p:spPr>
          <a:xfrm>
            <a:off x="8817388" y="2360614"/>
            <a:ext cx="3150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$ de </a:t>
            </a:r>
            <a:r>
              <a:rPr lang="es-AR" sz="2000" dirty="0" err="1"/>
              <a:t>Gtos</a:t>
            </a:r>
            <a:r>
              <a:rPr lang="es-AR" sz="2000" dirty="0"/>
              <a:t> Generales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02114FE-1470-4E9A-831E-126A907D698F}"/>
              </a:ext>
            </a:extLst>
          </p:cNvPr>
          <p:cNvSpPr txBox="1"/>
          <p:nvPr/>
        </p:nvSpPr>
        <p:spPr>
          <a:xfrm>
            <a:off x="9253315" y="2871938"/>
            <a:ext cx="3120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$ de MOD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4E13DAE-5BCD-4399-9C34-2BAE07FF05E4}"/>
              </a:ext>
            </a:extLst>
          </p:cNvPr>
          <p:cNvCxnSpPr>
            <a:cxnSpLocks/>
          </p:cNvCxnSpPr>
          <p:nvPr/>
        </p:nvCxnSpPr>
        <p:spPr>
          <a:xfrm>
            <a:off x="3935365" y="2790523"/>
            <a:ext cx="37967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7AB74457-3945-44A4-9ECB-D2F576703091}"/>
              </a:ext>
            </a:extLst>
          </p:cNvPr>
          <p:cNvCxnSpPr/>
          <p:nvPr/>
        </p:nvCxnSpPr>
        <p:spPr>
          <a:xfrm>
            <a:off x="8795602" y="2768206"/>
            <a:ext cx="26886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A45C89B-FD1E-4AD0-AE97-B27D3BDE1485}"/>
              </a:ext>
            </a:extLst>
          </p:cNvPr>
          <p:cNvSpPr txBox="1"/>
          <p:nvPr/>
        </p:nvSpPr>
        <p:spPr>
          <a:xfrm>
            <a:off x="2164303" y="4546512"/>
            <a:ext cx="1462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Sección D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27F09C9-C88E-466D-BF21-66A8F87B8235}"/>
              </a:ext>
            </a:extLst>
          </p:cNvPr>
          <p:cNvSpPr txBox="1"/>
          <p:nvPr/>
        </p:nvSpPr>
        <p:spPr>
          <a:xfrm>
            <a:off x="3557678" y="4633282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672A204-983B-4506-9C65-36F158CF2935}"/>
              </a:ext>
            </a:extLst>
          </p:cNvPr>
          <p:cNvSpPr txBox="1"/>
          <p:nvPr/>
        </p:nvSpPr>
        <p:spPr>
          <a:xfrm>
            <a:off x="3973738" y="4346937"/>
            <a:ext cx="4941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50.000  $ de </a:t>
            </a:r>
            <a:r>
              <a:rPr lang="es-AR" sz="2000" dirty="0" err="1"/>
              <a:t>Gtos</a:t>
            </a:r>
            <a:r>
              <a:rPr lang="es-AR" sz="2000" dirty="0"/>
              <a:t> Generales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72366F8-6EB9-4C1D-83FA-94A70EAC7E64}"/>
              </a:ext>
            </a:extLst>
          </p:cNvPr>
          <p:cNvSpPr txBox="1"/>
          <p:nvPr/>
        </p:nvSpPr>
        <p:spPr>
          <a:xfrm>
            <a:off x="4311684" y="4899363"/>
            <a:ext cx="4083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200.000  $ de MOD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B7F24B5-7C16-4F90-9156-7AC159D6E3AC}"/>
              </a:ext>
            </a:extLst>
          </p:cNvPr>
          <p:cNvSpPr txBox="1"/>
          <p:nvPr/>
        </p:nvSpPr>
        <p:spPr>
          <a:xfrm>
            <a:off x="7812153" y="4630843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ADA5F6E-3402-4F07-8C42-A7BC4F32413B}"/>
              </a:ext>
            </a:extLst>
          </p:cNvPr>
          <p:cNvSpPr txBox="1"/>
          <p:nvPr/>
        </p:nvSpPr>
        <p:spPr>
          <a:xfrm>
            <a:off x="8128812" y="4553937"/>
            <a:ext cx="795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0,25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2F48CC9-0E75-471E-B9C0-88409FB4FA42}"/>
              </a:ext>
            </a:extLst>
          </p:cNvPr>
          <p:cNvSpPr txBox="1"/>
          <p:nvPr/>
        </p:nvSpPr>
        <p:spPr>
          <a:xfrm>
            <a:off x="8817388" y="4388039"/>
            <a:ext cx="3150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$ de </a:t>
            </a:r>
            <a:r>
              <a:rPr lang="es-AR" sz="2000" dirty="0" err="1"/>
              <a:t>Gtos</a:t>
            </a:r>
            <a:r>
              <a:rPr lang="es-AR" sz="2000" dirty="0"/>
              <a:t> Generales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1BB8CC3-C3E0-4E1D-92E9-A0CF366B8003}"/>
              </a:ext>
            </a:extLst>
          </p:cNvPr>
          <p:cNvSpPr txBox="1"/>
          <p:nvPr/>
        </p:nvSpPr>
        <p:spPr>
          <a:xfrm>
            <a:off x="9253315" y="4899363"/>
            <a:ext cx="3120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$ de MOD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D9B0EDD-6688-4079-8EE4-E7249CED012A}"/>
              </a:ext>
            </a:extLst>
          </p:cNvPr>
          <p:cNvCxnSpPr>
            <a:cxnSpLocks/>
          </p:cNvCxnSpPr>
          <p:nvPr/>
        </p:nvCxnSpPr>
        <p:spPr>
          <a:xfrm>
            <a:off x="3935365" y="4817948"/>
            <a:ext cx="37967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91EC67B7-876C-490B-B2A7-D8A99F4BB3F6}"/>
              </a:ext>
            </a:extLst>
          </p:cNvPr>
          <p:cNvCxnSpPr/>
          <p:nvPr/>
        </p:nvCxnSpPr>
        <p:spPr>
          <a:xfrm>
            <a:off x="8795602" y="4795631"/>
            <a:ext cx="26886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460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BACF2F9-1990-4BFB-B393-D1292C73164A}"/>
              </a:ext>
            </a:extLst>
          </p:cNvPr>
          <p:cNvSpPr txBox="1"/>
          <p:nvPr/>
        </p:nvSpPr>
        <p:spPr>
          <a:xfrm>
            <a:off x="2592925" y="2146852"/>
            <a:ext cx="87575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Distribuyendo estos Gastos Generales de acuerdo a la cantidad de MOD consumidas en cada sector será su absorción.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C34E362-C2FA-4C38-BD75-CFF6233545A6}"/>
              </a:ext>
            </a:extLst>
          </p:cNvPr>
          <p:cNvSpPr txBox="1"/>
          <p:nvPr/>
        </p:nvSpPr>
        <p:spPr>
          <a:xfrm>
            <a:off x="2592925" y="4003263"/>
            <a:ext cx="8757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Teniendo en cuenta la distribución anterior, supongamos que se producen </a:t>
            </a:r>
            <a:r>
              <a:rPr lang="es-AR" sz="2000" b="1" dirty="0"/>
              <a:t>1000 unidades </a:t>
            </a:r>
            <a:r>
              <a:rPr lang="es-AR" sz="2000" dirty="0"/>
              <a:t>de producto utilizando las siguientes cantidades de MP y MOD</a:t>
            </a:r>
          </a:p>
        </p:txBody>
      </p:sp>
    </p:spTree>
    <p:extLst>
      <p:ext uri="{BB962C8B-B14F-4D97-AF65-F5344CB8AC3E}">
        <p14:creationId xmlns:p14="http://schemas.microsoft.com/office/powerpoint/2010/main" val="2798522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2B5FCBEF-9EB8-4023-BD7C-BA6C10984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040576"/>
              </p:ext>
            </p:extLst>
          </p:nvPr>
        </p:nvGraphicFramePr>
        <p:xfrm>
          <a:off x="2717800" y="1981936"/>
          <a:ext cx="81279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5191807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9068148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16367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sz="2000" dirty="0"/>
                        <a:t>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/>
                        <a:t>MATERIA PRIMA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/>
                        <a:t>MANO DE OBRA DIRECTA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535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2000" dirty="0"/>
                        <a:t>SECCION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000" dirty="0"/>
                        <a:t>$ 1.800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000" dirty="0"/>
                        <a:t>$ 2.200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334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2000" dirty="0"/>
                        <a:t>SECCION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000" dirty="0"/>
                        <a:t>$ 2.400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000" dirty="0"/>
                        <a:t>$ 1.300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187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2000" dirty="0"/>
                        <a:t>SECCION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000" dirty="0"/>
                        <a:t>$ 800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000" dirty="0"/>
                        <a:t>$ 500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494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2000" dirty="0"/>
                        <a:t>SECCION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000" dirty="0"/>
                        <a:t>$ 1.000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000" dirty="0"/>
                        <a:t>$ 800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615044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8A3786C-EB8F-4384-9711-5C371FCC4AE8}"/>
              </a:ext>
            </a:extLst>
          </p:cNvPr>
          <p:cNvSpPr txBox="1"/>
          <p:nvPr/>
        </p:nvSpPr>
        <p:spPr>
          <a:xfrm>
            <a:off x="2743200" y="1461052"/>
            <a:ext cx="3747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 err="1"/>
              <a:t>Qprod</a:t>
            </a:r>
            <a:r>
              <a:rPr lang="es-AR" sz="2000" dirty="0"/>
              <a:t>.: 1.000 u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CDC65F-64E7-4058-A617-74CE5E5AFD1A}"/>
              </a:ext>
            </a:extLst>
          </p:cNvPr>
          <p:cNvSpPr txBox="1"/>
          <p:nvPr/>
        </p:nvSpPr>
        <p:spPr>
          <a:xfrm>
            <a:off x="2912165" y="5257800"/>
            <a:ext cx="79336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Si distribuyo los Gastos Generales utilizando a la </a:t>
            </a:r>
            <a:r>
              <a:rPr lang="es-AR" sz="2000" b="1" dirty="0"/>
              <a:t>MOD</a:t>
            </a:r>
            <a:r>
              <a:rPr lang="es-AR" sz="2000" dirty="0"/>
              <a:t> como </a:t>
            </a:r>
            <a:r>
              <a:rPr lang="es-AR" sz="2000" b="1" dirty="0"/>
              <a:t>base de distribución </a:t>
            </a:r>
            <a:r>
              <a:rPr lang="es-AR" sz="2000" dirty="0"/>
              <a:t>, puedo poner:</a:t>
            </a:r>
          </a:p>
        </p:txBody>
      </p:sp>
    </p:spTree>
    <p:extLst>
      <p:ext uri="{BB962C8B-B14F-4D97-AF65-F5344CB8AC3E}">
        <p14:creationId xmlns:p14="http://schemas.microsoft.com/office/powerpoint/2010/main" val="1888765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072A70-B97E-4397-AA43-70A303963DE0}"/>
              </a:ext>
            </a:extLst>
          </p:cNvPr>
          <p:cNvSpPr txBox="1"/>
          <p:nvPr/>
        </p:nvSpPr>
        <p:spPr>
          <a:xfrm>
            <a:off x="2592925" y="1730368"/>
            <a:ext cx="8706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Sección A    2.200 $ MOD x 0,3  $ </a:t>
            </a:r>
            <a:r>
              <a:rPr lang="es-AR" sz="2000" dirty="0" err="1"/>
              <a:t>Gtos</a:t>
            </a:r>
            <a:r>
              <a:rPr lang="es-AR" sz="2000" dirty="0"/>
              <a:t> </a:t>
            </a:r>
            <a:r>
              <a:rPr lang="es-AR" sz="2000" dirty="0" err="1"/>
              <a:t>Grales</a:t>
            </a:r>
            <a:r>
              <a:rPr lang="es-AR" sz="2000" dirty="0"/>
              <a:t>      </a:t>
            </a:r>
            <a:r>
              <a:rPr lang="es-AR" sz="2000" b="1" dirty="0"/>
              <a:t>660 $ de </a:t>
            </a:r>
            <a:r>
              <a:rPr lang="es-AR" sz="2000" b="1" dirty="0" err="1"/>
              <a:t>Gtos</a:t>
            </a:r>
            <a:r>
              <a:rPr lang="es-AR" sz="2000" b="1" dirty="0"/>
              <a:t> </a:t>
            </a:r>
            <a:r>
              <a:rPr lang="es-AR" sz="2000" b="1" dirty="0" err="1"/>
              <a:t>Grales</a:t>
            </a:r>
            <a:endParaRPr lang="es-AR" sz="2000" b="1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94CC431-79A5-4D7C-96F6-5BD90581E0F1}"/>
              </a:ext>
            </a:extLst>
          </p:cNvPr>
          <p:cNvCxnSpPr>
            <a:cxnSpLocks/>
          </p:cNvCxnSpPr>
          <p:nvPr/>
        </p:nvCxnSpPr>
        <p:spPr>
          <a:xfrm>
            <a:off x="6524125" y="2055350"/>
            <a:ext cx="17444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21C323F-4868-4691-9732-D5ED7158CC6C}"/>
              </a:ext>
            </a:extLst>
          </p:cNvPr>
          <p:cNvSpPr txBox="1"/>
          <p:nvPr/>
        </p:nvSpPr>
        <p:spPr>
          <a:xfrm>
            <a:off x="6946264" y="2089136"/>
            <a:ext cx="1669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$ MOD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1282320-8CE9-4197-8BF8-FFD13B1D8B9B}"/>
              </a:ext>
            </a:extLst>
          </p:cNvPr>
          <p:cNvCxnSpPr>
            <a:cxnSpLocks/>
            <a:endCxn id="12" idx="0"/>
          </p:cNvCxnSpPr>
          <p:nvPr/>
        </p:nvCxnSpPr>
        <p:spPr>
          <a:xfrm flipV="1">
            <a:off x="7196668" y="2089136"/>
            <a:ext cx="584483" cy="3693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F4123B20-FD47-4A85-BE81-279D461273C3}"/>
              </a:ext>
            </a:extLst>
          </p:cNvPr>
          <p:cNvCxnSpPr>
            <a:cxnSpLocks/>
          </p:cNvCxnSpPr>
          <p:nvPr/>
        </p:nvCxnSpPr>
        <p:spPr>
          <a:xfrm flipV="1">
            <a:off x="5014559" y="1761146"/>
            <a:ext cx="584483" cy="3693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1642592-291E-4F05-B662-3BF697BB2548}"/>
              </a:ext>
            </a:extLst>
          </p:cNvPr>
          <p:cNvSpPr txBox="1"/>
          <p:nvPr/>
        </p:nvSpPr>
        <p:spPr>
          <a:xfrm>
            <a:off x="3898666" y="1842951"/>
            <a:ext cx="31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3C52A4F-7D01-4F12-A444-761325BBB5EE}"/>
              </a:ext>
            </a:extLst>
          </p:cNvPr>
          <p:cNvSpPr txBox="1"/>
          <p:nvPr/>
        </p:nvSpPr>
        <p:spPr>
          <a:xfrm>
            <a:off x="8221540" y="1870684"/>
            <a:ext cx="31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34EF494-6F1E-40D7-8E11-3986E14D7C01}"/>
              </a:ext>
            </a:extLst>
          </p:cNvPr>
          <p:cNvSpPr txBox="1"/>
          <p:nvPr/>
        </p:nvSpPr>
        <p:spPr>
          <a:xfrm>
            <a:off x="2592924" y="4866059"/>
            <a:ext cx="8911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Sección D      800 $ MOD x 0,25 $ </a:t>
            </a:r>
            <a:r>
              <a:rPr lang="es-AR" sz="2000" dirty="0" err="1"/>
              <a:t>Gtos</a:t>
            </a:r>
            <a:r>
              <a:rPr lang="es-AR" sz="2000" dirty="0"/>
              <a:t> </a:t>
            </a:r>
            <a:r>
              <a:rPr lang="es-AR" sz="2000" dirty="0" err="1"/>
              <a:t>Grales</a:t>
            </a:r>
            <a:r>
              <a:rPr lang="es-AR" sz="2000" dirty="0"/>
              <a:t>        </a:t>
            </a:r>
            <a:r>
              <a:rPr lang="es-AR" sz="2000" b="1" dirty="0"/>
              <a:t>200 $ de </a:t>
            </a:r>
            <a:r>
              <a:rPr lang="es-AR" sz="2000" b="1" dirty="0" err="1"/>
              <a:t>Gtos</a:t>
            </a:r>
            <a:r>
              <a:rPr lang="es-AR" sz="2000" b="1" dirty="0"/>
              <a:t> </a:t>
            </a:r>
            <a:r>
              <a:rPr lang="es-AR" sz="2000" b="1" dirty="0" err="1"/>
              <a:t>Grales</a:t>
            </a:r>
            <a:endParaRPr lang="es-AR" sz="2000" b="1" dirty="0"/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5DD25DC3-47B5-42B8-A659-59BEFEF14226}"/>
              </a:ext>
            </a:extLst>
          </p:cNvPr>
          <p:cNvCxnSpPr>
            <a:cxnSpLocks/>
          </p:cNvCxnSpPr>
          <p:nvPr/>
        </p:nvCxnSpPr>
        <p:spPr>
          <a:xfrm>
            <a:off x="6524124" y="5191041"/>
            <a:ext cx="17444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FF5F9ACF-A7C6-405C-BC41-8B9A490A3AB9}"/>
              </a:ext>
            </a:extLst>
          </p:cNvPr>
          <p:cNvSpPr txBox="1"/>
          <p:nvPr/>
        </p:nvSpPr>
        <p:spPr>
          <a:xfrm>
            <a:off x="6946263" y="5224827"/>
            <a:ext cx="1669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$ MOD</a:t>
            </a: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82598A55-44DC-4208-9254-C65981CFE033}"/>
              </a:ext>
            </a:extLst>
          </p:cNvPr>
          <p:cNvCxnSpPr>
            <a:cxnSpLocks/>
            <a:endCxn id="36" idx="0"/>
          </p:cNvCxnSpPr>
          <p:nvPr/>
        </p:nvCxnSpPr>
        <p:spPr>
          <a:xfrm flipV="1">
            <a:off x="7196667" y="5224827"/>
            <a:ext cx="584483" cy="3693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CFAC333F-62F1-4507-9762-B267BECA1265}"/>
              </a:ext>
            </a:extLst>
          </p:cNvPr>
          <p:cNvCxnSpPr>
            <a:cxnSpLocks/>
          </p:cNvCxnSpPr>
          <p:nvPr/>
        </p:nvCxnSpPr>
        <p:spPr>
          <a:xfrm flipV="1">
            <a:off x="5014558" y="4896837"/>
            <a:ext cx="584483" cy="3693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F2706A9-8E5C-47F1-8923-35956548AC41}"/>
              </a:ext>
            </a:extLst>
          </p:cNvPr>
          <p:cNvSpPr txBox="1"/>
          <p:nvPr/>
        </p:nvSpPr>
        <p:spPr>
          <a:xfrm>
            <a:off x="3939855" y="4978642"/>
            <a:ext cx="31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5EB5A40-13AF-4BFB-88EC-ACD06DB907B3}"/>
              </a:ext>
            </a:extLst>
          </p:cNvPr>
          <p:cNvSpPr txBox="1"/>
          <p:nvPr/>
        </p:nvSpPr>
        <p:spPr>
          <a:xfrm>
            <a:off x="8221539" y="5006375"/>
            <a:ext cx="31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DEBBA546-8B85-49F2-8836-C437EDBB2EB4}"/>
              </a:ext>
            </a:extLst>
          </p:cNvPr>
          <p:cNvSpPr txBox="1"/>
          <p:nvPr/>
        </p:nvSpPr>
        <p:spPr>
          <a:xfrm>
            <a:off x="2619763" y="2798439"/>
            <a:ext cx="8706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Sección B    1.300 $ MOD x 0,3  $ </a:t>
            </a:r>
            <a:r>
              <a:rPr lang="es-AR" sz="2000" dirty="0" err="1"/>
              <a:t>Gtos</a:t>
            </a:r>
            <a:r>
              <a:rPr lang="es-AR" sz="2000" dirty="0"/>
              <a:t> </a:t>
            </a:r>
            <a:r>
              <a:rPr lang="es-AR" sz="2000" dirty="0" err="1"/>
              <a:t>Grales</a:t>
            </a:r>
            <a:r>
              <a:rPr lang="es-AR" sz="2000" dirty="0"/>
              <a:t>      </a:t>
            </a:r>
            <a:r>
              <a:rPr lang="es-AR" sz="2000" b="1" dirty="0"/>
              <a:t>390 $ de </a:t>
            </a:r>
            <a:r>
              <a:rPr lang="es-AR" sz="2000" b="1" dirty="0" err="1"/>
              <a:t>Gtos</a:t>
            </a:r>
            <a:r>
              <a:rPr lang="es-AR" sz="2000" b="1" dirty="0"/>
              <a:t> </a:t>
            </a:r>
            <a:r>
              <a:rPr lang="es-AR" sz="2000" b="1" dirty="0" err="1"/>
              <a:t>Grales</a:t>
            </a:r>
            <a:endParaRPr lang="es-AR" sz="2000" b="1" dirty="0"/>
          </a:p>
        </p:txBody>
      </p: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51E2A08E-7578-4E99-8B69-4083710A8DE7}"/>
              </a:ext>
            </a:extLst>
          </p:cNvPr>
          <p:cNvCxnSpPr>
            <a:cxnSpLocks/>
          </p:cNvCxnSpPr>
          <p:nvPr/>
        </p:nvCxnSpPr>
        <p:spPr>
          <a:xfrm>
            <a:off x="6550963" y="3123421"/>
            <a:ext cx="17444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B2A3758-5CEB-40F2-9C0D-6433BD2B8F43}"/>
              </a:ext>
            </a:extLst>
          </p:cNvPr>
          <p:cNvSpPr txBox="1"/>
          <p:nvPr/>
        </p:nvSpPr>
        <p:spPr>
          <a:xfrm>
            <a:off x="6973102" y="3157207"/>
            <a:ext cx="1669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$ MOD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A668D7D7-2FD4-4E27-A7EF-8A0A3DFD0398}"/>
              </a:ext>
            </a:extLst>
          </p:cNvPr>
          <p:cNvCxnSpPr>
            <a:cxnSpLocks/>
            <a:endCxn id="43" idx="0"/>
          </p:cNvCxnSpPr>
          <p:nvPr/>
        </p:nvCxnSpPr>
        <p:spPr>
          <a:xfrm flipV="1">
            <a:off x="7223506" y="3157207"/>
            <a:ext cx="584483" cy="3693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92FB1E5D-F0FB-4C4F-9A60-979871DAE302}"/>
              </a:ext>
            </a:extLst>
          </p:cNvPr>
          <p:cNvCxnSpPr>
            <a:cxnSpLocks/>
          </p:cNvCxnSpPr>
          <p:nvPr/>
        </p:nvCxnSpPr>
        <p:spPr>
          <a:xfrm flipV="1">
            <a:off x="5041397" y="2829217"/>
            <a:ext cx="584483" cy="3693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4FC7E32A-2D1F-4AB9-93CB-78DEB61EE09A}"/>
              </a:ext>
            </a:extLst>
          </p:cNvPr>
          <p:cNvSpPr txBox="1"/>
          <p:nvPr/>
        </p:nvSpPr>
        <p:spPr>
          <a:xfrm>
            <a:off x="3925504" y="2911022"/>
            <a:ext cx="31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96368D6C-64BB-435A-99FC-54D8462732CE}"/>
              </a:ext>
            </a:extLst>
          </p:cNvPr>
          <p:cNvSpPr txBox="1"/>
          <p:nvPr/>
        </p:nvSpPr>
        <p:spPr>
          <a:xfrm>
            <a:off x="8248378" y="2938755"/>
            <a:ext cx="31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1BDEBEF-6DD5-448B-B3FA-A078E3027FA4}"/>
              </a:ext>
            </a:extLst>
          </p:cNvPr>
          <p:cNvSpPr txBox="1"/>
          <p:nvPr/>
        </p:nvSpPr>
        <p:spPr>
          <a:xfrm>
            <a:off x="2619763" y="3769070"/>
            <a:ext cx="8706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Sección C    500 $ MOD x 0,04  $ </a:t>
            </a:r>
            <a:r>
              <a:rPr lang="es-AR" sz="2000" dirty="0" err="1"/>
              <a:t>Gtos</a:t>
            </a:r>
            <a:r>
              <a:rPr lang="es-AR" sz="2000" dirty="0"/>
              <a:t> </a:t>
            </a:r>
            <a:r>
              <a:rPr lang="es-AR" sz="2000" dirty="0" err="1"/>
              <a:t>Grales</a:t>
            </a:r>
            <a:r>
              <a:rPr lang="es-AR" sz="2000" dirty="0"/>
              <a:t>         </a:t>
            </a:r>
            <a:r>
              <a:rPr lang="es-AR" sz="2000" b="1" dirty="0"/>
              <a:t>20 $ de </a:t>
            </a:r>
            <a:r>
              <a:rPr lang="es-AR" sz="2000" b="1" dirty="0" err="1"/>
              <a:t>Gtos</a:t>
            </a:r>
            <a:r>
              <a:rPr lang="es-AR" sz="2000" b="1" dirty="0"/>
              <a:t> </a:t>
            </a:r>
            <a:r>
              <a:rPr lang="es-AR" sz="2000" b="1" dirty="0" err="1"/>
              <a:t>Grales</a:t>
            </a:r>
            <a:endParaRPr lang="es-AR" sz="2000" b="1" dirty="0"/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78CE4932-AD1A-4600-9943-BDA94C0EA4D7}"/>
              </a:ext>
            </a:extLst>
          </p:cNvPr>
          <p:cNvCxnSpPr>
            <a:cxnSpLocks/>
          </p:cNvCxnSpPr>
          <p:nvPr/>
        </p:nvCxnSpPr>
        <p:spPr>
          <a:xfrm>
            <a:off x="6573552" y="4053589"/>
            <a:ext cx="17444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E2E851CC-5A60-4F20-BD0C-A8373887BDA1}"/>
              </a:ext>
            </a:extLst>
          </p:cNvPr>
          <p:cNvSpPr txBox="1"/>
          <p:nvPr/>
        </p:nvSpPr>
        <p:spPr>
          <a:xfrm>
            <a:off x="6995691" y="4087375"/>
            <a:ext cx="1669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$ MOD</a:t>
            </a:r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7990CAEE-B61A-46EE-9FF5-5AE87A9C79A6}"/>
              </a:ext>
            </a:extLst>
          </p:cNvPr>
          <p:cNvCxnSpPr>
            <a:cxnSpLocks/>
            <a:endCxn id="50" idx="0"/>
          </p:cNvCxnSpPr>
          <p:nvPr/>
        </p:nvCxnSpPr>
        <p:spPr>
          <a:xfrm flipV="1">
            <a:off x="7246095" y="4087375"/>
            <a:ext cx="584483" cy="3693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BEC4B7EA-DDFA-461B-BF70-7D69351B3839}"/>
              </a:ext>
            </a:extLst>
          </p:cNvPr>
          <p:cNvCxnSpPr>
            <a:cxnSpLocks/>
          </p:cNvCxnSpPr>
          <p:nvPr/>
        </p:nvCxnSpPr>
        <p:spPr>
          <a:xfrm flipV="1">
            <a:off x="5063986" y="3759385"/>
            <a:ext cx="584483" cy="3693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F800F337-6824-4C06-877D-A23701FF5D38}"/>
              </a:ext>
            </a:extLst>
          </p:cNvPr>
          <p:cNvSpPr txBox="1"/>
          <p:nvPr/>
        </p:nvSpPr>
        <p:spPr>
          <a:xfrm>
            <a:off x="3948093" y="3841190"/>
            <a:ext cx="31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7210568A-96DA-479D-9EB8-254120D35EF9}"/>
              </a:ext>
            </a:extLst>
          </p:cNvPr>
          <p:cNvSpPr txBox="1"/>
          <p:nvPr/>
        </p:nvSpPr>
        <p:spPr>
          <a:xfrm>
            <a:off x="8270967" y="3868923"/>
            <a:ext cx="31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56213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BACF2F9-1990-4BFB-B393-D1292C73164A}"/>
              </a:ext>
            </a:extLst>
          </p:cNvPr>
          <p:cNvSpPr txBox="1"/>
          <p:nvPr/>
        </p:nvSpPr>
        <p:spPr>
          <a:xfrm>
            <a:off x="2269656" y="1371600"/>
            <a:ext cx="87575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Y recordando que el costo de un producto esta representado por la expresión: </a:t>
            </a:r>
          </a:p>
          <a:p>
            <a:r>
              <a:rPr lang="es-AR" sz="2000" dirty="0"/>
              <a:t>					</a:t>
            </a:r>
            <a:r>
              <a:rPr lang="es-AR" sz="2000" b="1" dirty="0"/>
              <a:t>MP + MOD + </a:t>
            </a:r>
            <a:r>
              <a:rPr lang="es-AR" sz="2000" b="1" dirty="0" err="1"/>
              <a:t>Gtos</a:t>
            </a:r>
            <a:r>
              <a:rPr lang="es-AR" sz="2000" b="1" dirty="0"/>
              <a:t> </a:t>
            </a:r>
            <a:r>
              <a:rPr lang="es-AR" sz="2000" b="1" dirty="0" err="1"/>
              <a:t>Grales</a:t>
            </a:r>
            <a:r>
              <a:rPr lang="es-AR" sz="2000" dirty="0"/>
              <a:t> </a:t>
            </a:r>
          </a:p>
          <a:p>
            <a:r>
              <a:rPr lang="es-AR" sz="2000" dirty="0"/>
              <a:t>puedo completar el siguiente cuadro consolidando el costo total por sección </a:t>
            </a:r>
          </a:p>
        </p:txBody>
      </p:sp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6007745A-85FE-4129-A1F2-64C878963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847144"/>
              </p:ext>
            </p:extLst>
          </p:nvPr>
        </p:nvGraphicFramePr>
        <p:xfrm>
          <a:off x="2435654" y="3096603"/>
          <a:ext cx="787350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4192124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864010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1726120"/>
                    </a:ext>
                  </a:extLst>
                </a:gridCol>
                <a:gridCol w="1741805">
                  <a:extLst>
                    <a:ext uri="{9D8B030D-6E8A-4147-A177-3AD203B41FA5}">
                      <a16:colId xmlns:a16="http://schemas.microsoft.com/office/drawing/2014/main" val="3892399527"/>
                    </a:ext>
                  </a:extLst>
                </a:gridCol>
                <a:gridCol w="1254897">
                  <a:extLst>
                    <a:ext uri="{9D8B030D-6E8A-4147-A177-3AD203B41FA5}">
                      <a16:colId xmlns:a16="http://schemas.microsoft.com/office/drawing/2014/main" val="3514552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MOD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GTOS GRALES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COSTO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836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SECCION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dirty="0"/>
                        <a:t>$1.800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$ 2.200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$ 4.660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508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SECCION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dirty="0"/>
                        <a:t>$ 2.400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$ 1.300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$ 4.090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320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SECCION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dirty="0"/>
                        <a:t>$ 800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$ 1.320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938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SECCION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dirty="0"/>
                        <a:t>$ 1.000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$ 2.000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836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1" dirty="0"/>
                        <a:t>COSTO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1" dirty="0"/>
                        <a:t>$ 12.070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08381"/>
                  </a:ext>
                </a:extLst>
              </a:tr>
            </a:tbl>
          </a:graphicData>
        </a:graphic>
      </p:graphicFrame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A4780CE-9B3D-43C3-9FB6-8BDADBA1FB23}"/>
              </a:ext>
            </a:extLst>
          </p:cNvPr>
          <p:cNvCxnSpPr/>
          <p:nvPr/>
        </p:nvCxnSpPr>
        <p:spPr>
          <a:xfrm>
            <a:off x="9053384" y="4959157"/>
            <a:ext cx="125577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D505BAD5-3C63-44DA-BD10-5304AF62C25F}"/>
              </a:ext>
            </a:extLst>
          </p:cNvPr>
          <p:cNvSpPr txBox="1"/>
          <p:nvPr/>
        </p:nvSpPr>
        <p:spPr>
          <a:xfrm>
            <a:off x="4586514" y="5624286"/>
            <a:ext cx="4405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COSTO UNITARIO = $12,07</a:t>
            </a:r>
          </a:p>
        </p:txBody>
      </p:sp>
    </p:spTree>
    <p:extLst>
      <p:ext uri="{BB962C8B-B14F-4D97-AF65-F5344CB8AC3E}">
        <p14:creationId xmlns:p14="http://schemas.microsoft.com/office/powerpoint/2010/main" val="1779637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6166BC6-FCEE-4C18-BCE1-71E57EF04A3B}"/>
              </a:ext>
            </a:extLst>
          </p:cNvPr>
          <p:cNvSpPr txBox="1"/>
          <p:nvPr/>
        </p:nvSpPr>
        <p:spPr>
          <a:xfrm>
            <a:off x="2373552" y="1373326"/>
            <a:ext cx="90637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Consideremos , ahora, que esta producción es </a:t>
            </a:r>
            <a:r>
              <a:rPr lang="es-AR" sz="2000" b="1" dirty="0"/>
              <a:t>Materia Prima Intensiva</a:t>
            </a:r>
            <a:r>
              <a:rPr lang="es-AR" sz="2000" dirty="0"/>
              <a:t>, manteniendo los mismos Gastos Generales.</a:t>
            </a:r>
          </a:p>
          <a:p>
            <a:r>
              <a:rPr lang="es-AR" sz="2000" dirty="0"/>
              <a:t>Elegiremos, por lo tanto, a esta variable directa como nueva   </a:t>
            </a:r>
            <a:r>
              <a:rPr lang="es-AR" sz="2000" b="1" dirty="0"/>
              <a:t>base de distribución</a:t>
            </a:r>
            <a:r>
              <a:rPr lang="es-AR" sz="2000" dirty="0"/>
              <a:t>.</a:t>
            </a:r>
          </a:p>
          <a:p>
            <a:r>
              <a:rPr lang="es-AR" sz="2000" dirty="0"/>
              <a:t>El gasto de MP para cada una de las secciones será: </a:t>
            </a:r>
          </a:p>
        </p:txBody>
      </p:sp>
      <p:graphicFrame>
        <p:nvGraphicFramePr>
          <p:cNvPr id="6" name="Tabla 7">
            <a:extLst>
              <a:ext uri="{FF2B5EF4-FFF2-40B4-BE49-F238E27FC236}">
                <a16:creationId xmlns:a16="http://schemas.microsoft.com/office/drawing/2014/main" id="{73FCDD2F-ED08-45BD-B1C9-405EB1E0F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6093"/>
              </p:ext>
            </p:extLst>
          </p:nvPr>
        </p:nvGraphicFramePr>
        <p:xfrm>
          <a:off x="2765395" y="3301358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8316780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86308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MP POR 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645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MATERIA PRIMA </a:t>
                      </a:r>
                      <a:r>
                        <a:rPr lang="es-AR" sz="1400" b="1" dirty="0"/>
                        <a:t>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$ 300.000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536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MATERIA PRIMA </a:t>
                      </a:r>
                      <a:r>
                        <a:rPr lang="es-AR" sz="1400" b="1" dirty="0"/>
                        <a:t>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$ 200.000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856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MATERIA PRIMA </a:t>
                      </a:r>
                      <a:r>
                        <a:rPr lang="es-AR" sz="1400" b="1" dirty="0"/>
                        <a:t>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$ 100.000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442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MATERIA PRIMA </a:t>
                      </a:r>
                      <a:r>
                        <a:rPr lang="es-AR" sz="1400" b="1" dirty="0"/>
                        <a:t>(D)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$ 150.000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656331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90E38AE8-853C-48C5-9598-CA1236AC1C05}"/>
              </a:ext>
            </a:extLst>
          </p:cNvPr>
          <p:cNvSpPr txBox="1"/>
          <p:nvPr/>
        </p:nvSpPr>
        <p:spPr>
          <a:xfrm>
            <a:off x="2374018" y="5460369"/>
            <a:ext cx="89116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Por lo tanto si dividimos la cantidad de $ consumidos en Gastos Generales de cada sección, por la cantidad de $ consumidos en concepto de MP de cada una, obtendremos la cantidad de $ de Gastos Generales que absorberá cada sección por cada $ de MP, veamos:</a:t>
            </a:r>
          </a:p>
        </p:txBody>
      </p:sp>
    </p:spTree>
    <p:extLst>
      <p:ext uri="{BB962C8B-B14F-4D97-AF65-F5344CB8AC3E}">
        <p14:creationId xmlns:p14="http://schemas.microsoft.com/office/powerpoint/2010/main" val="4031568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6166BC6-FCEE-4C18-BCE1-71E57EF04A3B}"/>
              </a:ext>
            </a:extLst>
          </p:cNvPr>
          <p:cNvSpPr txBox="1"/>
          <p:nvPr/>
        </p:nvSpPr>
        <p:spPr>
          <a:xfrm>
            <a:off x="2164303" y="2519087"/>
            <a:ext cx="1462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Sección A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8D57192-D2B1-4B2A-BD94-658ACDAC310A}"/>
              </a:ext>
            </a:extLst>
          </p:cNvPr>
          <p:cNvSpPr txBox="1"/>
          <p:nvPr/>
        </p:nvSpPr>
        <p:spPr>
          <a:xfrm>
            <a:off x="3557678" y="2605857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1394B44-208A-41C3-94CB-61BC75B7A528}"/>
              </a:ext>
            </a:extLst>
          </p:cNvPr>
          <p:cNvSpPr txBox="1"/>
          <p:nvPr/>
        </p:nvSpPr>
        <p:spPr>
          <a:xfrm>
            <a:off x="3973738" y="2319512"/>
            <a:ext cx="4941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120.000  $ de </a:t>
            </a:r>
            <a:r>
              <a:rPr lang="es-AR" sz="2000" dirty="0" err="1"/>
              <a:t>Gtos</a:t>
            </a:r>
            <a:r>
              <a:rPr lang="es-AR" sz="2000" dirty="0"/>
              <a:t> Generales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378E834-1E05-4ADF-A9A0-89C95E619E15}"/>
              </a:ext>
            </a:extLst>
          </p:cNvPr>
          <p:cNvSpPr txBox="1"/>
          <p:nvPr/>
        </p:nvSpPr>
        <p:spPr>
          <a:xfrm>
            <a:off x="4311684" y="2871938"/>
            <a:ext cx="4083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300.000  $ de MP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DB79729-0829-41A7-8FCC-D2EB243E8E74}"/>
              </a:ext>
            </a:extLst>
          </p:cNvPr>
          <p:cNvSpPr txBox="1"/>
          <p:nvPr/>
        </p:nvSpPr>
        <p:spPr>
          <a:xfrm>
            <a:off x="7812153" y="2603418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0070EC4-EC8B-4B05-BFD6-76A194571719}"/>
              </a:ext>
            </a:extLst>
          </p:cNvPr>
          <p:cNvSpPr txBox="1"/>
          <p:nvPr/>
        </p:nvSpPr>
        <p:spPr>
          <a:xfrm>
            <a:off x="8218263" y="2562859"/>
            <a:ext cx="795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0,4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9DA8164-6CCF-45BC-B597-8FE37EA19CC4}"/>
              </a:ext>
            </a:extLst>
          </p:cNvPr>
          <p:cNvSpPr txBox="1"/>
          <p:nvPr/>
        </p:nvSpPr>
        <p:spPr>
          <a:xfrm>
            <a:off x="8817388" y="2396961"/>
            <a:ext cx="3150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$ de </a:t>
            </a:r>
            <a:r>
              <a:rPr lang="es-AR" sz="2000" dirty="0" err="1"/>
              <a:t>Gtos</a:t>
            </a:r>
            <a:r>
              <a:rPr lang="es-AR" sz="2000" dirty="0"/>
              <a:t> Generales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02114FE-1470-4E9A-831E-126A907D698F}"/>
              </a:ext>
            </a:extLst>
          </p:cNvPr>
          <p:cNvSpPr txBox="1"/>
          <p:nvPr/>
        </p:nvSpPr>
        <p:spPr>
          <a:xfrm>
            <a:off x="9253315" y="2908285"/>
            <a:ext cx="3120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$ de MP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4E13DAE-5BCD-4399-9C34-2BAE07FF05E4}"/>
              </a:ext>
            </a:extLst>
          </p:cNvPr>
          <p:cNvCxnSpPr>
            <a:cxnSpLocks/>
          </p:cNvCxnSpPr>
          <p:nvPr/>
        </p:nvCxnSpPr>
        <p:spPr>
          <a:xfrm>
            <a:off x="3935365" y="2790523"/>
            <a:ext cx="37967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7AB74457-3945-44A4-9ECB-D2F576703091}"/>
              </a:ext>
            </a:extLst>
          </p:cNvPr>
          <p:cNvCxnSpPr/>
          <p:nvPr/>
        </p:nvCxnSpPr>
        <p:spPr>
          <a:xfrm>
            <a:off x="8795602" y="2768206"/>
            <a:ext cx="26886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A45C89B-FD1E-4AD0-AE97-B27D3BDE1485}"/>
              </a:ext>
            </a:extLst>
          </p:cNvPr>
          <p:cNvSpPr txBox="1"/>
          <p:nvPr/>
        </p:nvSpPr>
        <p:spPr>
          <a:xfrm>
            <a:off x="2164303" y="4546512"/>
            <a:ext cx="1462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Sección B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27F09C9-C88E-466D-BF21-66A8F87B8235}"/>
              </a:ext>
            </a:extLst>
          </p:cNvPr>
          <p:cNvSpPr txBox="1"/>
          <p:nvPr/>
        </p:nvSpPr>
        <p:spPr>
          <a:xfrm>
            <a:off x="3557678" y="4633282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672A204-983B-4506-9C65-36F158CF2935}"/>
              </a:ext>
            </a:extLst>
          </p:cNvPr>
          <p:cNvSpPr txBox="1"/>
          <p:nvPr/>
        </p:nvSpPr>
        <p:spPr>
          <a:xfrm>
            <a:off x="3973738" y="4346937"/>
            <a:ext cx="4941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90.000  $ de </a:t>
            </a:r>
            <a:r>
              <a:rPr lang="es-AR" sz="2000" dirty="0" err="1"/>
              <a:t>Gtos</a:t>
            </a:r>
            <a:r>
              <a:rPr lang="es-AR" sz="2000" dirty="0"/>
              <a:t> Generales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72366F8-6EB9-4C1D-83FA-94A70EAC7E64}"/>
              </a:ext>
            </a:extLst>
          </p:cNvPr>
          <p:cNvSpPr txBox="1"/>
          <p:nvPr/>
        </p:nvSpPr>
        <p:spPr>
          <a:xfrm>
            <a:off x="4311684" y="4899363"/>
            <a:ext cx="4083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200.000  $ de MP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B7F24B5-7C16-4F90-9156-7AC159D6E3AC}"/>
              </a:ext>
            </a:extLst>
          </p:cNvPr>
          <p:cNvSpPr txBox="1"/>
          <p:nvPr/>
        </p:nvSpPr>
        <p:spPr>
          <a:xfrm>
            <a:off x="7812153" y="4630843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ADA5F6E-3402-4F07-8C42-A7BC4F32413B}"/>
              </a:ext>
            </a:extLst>
          </p:cNvPr>
          <p:cNvSpPr txBox="1"/>
          <p:nvPr/>
        </p:nvSpPr>
        <p:spPr>
          <a:xfrm>
            <a:off x="8218263" y="4553937"/>
            <a:ext cx="795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0,45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2F48CC9-0E75-471E-B9C0-88409FB4FA42}"/>
              </a:ext>
            </a:extLst>
          </p:cNvPr>
          <p:cNvSpPr txBox="1"/>
          <p:nvPr/>
        </p:nvSpPr>
        <p:spPr>
          <a:xfrm>
            <a:off x="8817388" y="4388039"/>
            <a:ext cx="3150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$ de </a:t>
            </a:r>
            <a:r>
              <a:rPr lang="es-AR" sz="2000" dirty="0" err="1"/>
              <a:t>Gtos</a:t>
            </a:r>
            <a:r>
              <a:rPr lang="es-AR" sz="2000" dirty="0"/>
              <a:t> Generales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1BB8CC3-C3E0-4E1D-92E9-A0CF366B8003}"/>
              </a:ext>
            </a:extLst>
          </p:cNvPr>
          <p:cNvSpPr txBox="1"/>
          <p:nvPr/>
        </p:nvSpPr>
        <p:spPr>
          <a:xfrm>
            <a:off x="9253315" y="4899363"/>
            <a:ext cx="3120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$ de MP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D9B0EDD-6688-4079-8EE4-E7249CED012A}"/>
              </a:ext>
            </a:extLst>
          </p:cNvPr>
          <p:cNvCxnSpPr>
            <a:cxnSpLocks/>
          </p:cNvCxnSpPr>
          <p:nvPr/>
        </p:nvCxnSpPr>
        <p:spPr>
          <a:xfrm>
            <a:off x="3935365" y="4817948"/>
            <a:ext cx="37967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91EC67B7-876C-490B-B2A7-D8A99F4BB3F6}"/>
              </a:ext>
            </a:extLst>
          </p:cNvPr>
          <p:cNvCxnSpPr/>
          <p:nvPr/>
        </p:nvCxnSpPr>
        <p:spPr>
          <a:xfrm>
            <a:off x="8914474" y="4795631"/>
            <a:ext cx="26886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760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6166BC6-FCEE-4C18-BCE1-71E57EF04A3B}"/>
              </a:ext>
            </a:extLst>
          </p:cNvPr>
          <p:cNvSpPr txBox="1"/>
          <p:nvPr/>
        </p:nvSpPr>
        <p:spPr>
          <a:xfrm>
            <a:off x="2164303" y="2519087"/>
            <a:ext cx="1462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Sección C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8D57192-D2B1-4B2A-BD94-658ACDAC310A}"/>
              </a:ext>
            </a:extLst>
          </p:cNvPr>
          <p:cNvSpPr txBox="1"/>
          <p:nvPr/>
        </p:nvSpPr>
        <p:spPr>
          <a:xfrm>
            <a:off x="3557678" y="2605857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1394B44-208A-41C3-94CB-61BC75B7A528}"/>
              </a:ext>
            </a:extLst>
          </p:cNvPr>
          <p:cNvSpPr txBox="1"/>
          <p:nvPr/>
        </p:nvSpPr>
        <p:spPr>
          <a:xfrm>
            <a:off x="3973738" y="2319512"/>
            <a:ext cx="4941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10.000  $ de </a:t>
            </a:r>
            <a:r>
              <a:rPr lang="es-AR" sz="2000" dirty="0" err="1"/>
              <a:t>Gtos</a:t>
            </a:r>
            <a:r>
              <a:rPr lang="es-AR" sz="2000" dirty="0"/>
              <a:t> Generales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378E834-1E05-4ADF-A9A0-89C95E619E15}"/>
              </a:ext>
            </a:extLst>
          </p:cNvPr>
          <p:cNvSpPr txBox="1"/>
          <p:nvPr/>
        </p:nvSpPr>
        <p:spPr>
          <a:xfrm>
            <a:off x="4311684" y="2871938"/>
            <a:ext cx="4083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100.000  $ de MP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DB79729-0829-41A7-8FCC-D2EB243E8E74}"/>
              </a:ext>
            </a:extLst>
          </p:cNvPr>
          <p:cNvSpPr txBox="1"/>
          <p:nvPr/>
        </p:nvSpPr>
        <p:spPr>
          <a:xfrm>
            <a:off x="7812153" y="2603418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0070EC4-EC8B-4B05-BFD6-76A194571719}"/>
              </a:ext>
            </a:extLst>
          </p:cNvPr>
          <p:cNvSpPr txBox="1"/>
          <p:nvPr/>
        </p:nvSpPr>
        <p:spPr>
          <a:xfrm>
            <a:off x="8119727" y="2515172"/>
            <a:ext cx="795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0,10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9DA8164-6CCF-45BC-B597-8FE37EA19CC4}"/>
              </a:ext>
            </a:extLst>
          </p:cNvPr>
          <p:cNvSpPr txBox="1"/>
          <p:nvPr/>
        </p:nvSpPr>
        <p:spPr>
          <a:xfrm>
            <a:off x="8817388" y="2360614"/>
            <a:ext cx="3150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$ de </a:t>
            </a:r>
            <a:r>
              <a:rPr lang="es-AR" sz="2000" dirty="0" err="1"/>
              <a:t>Gtos</a:t>
            </a:r>
            <a:r>
              <a:rPr lang="es-AR" sz="2000" dirty="0"/>
              <a:t> Generales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02114FE-1470-4E9A-831E-126A907D698F}"/>
              </a:ext>
            </a:extLst>
          </p:cNvPr>
          <p:cNvSpPr txBox="1"/>
          <p:nvPr/>
        </p:nvSpPr>
        <p:spPr>
          <a:xfrm>
            <a:off x="9253315" y="2871938"/>
            <a:ext cx="3120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$ de MP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4E13DAE-5BCD-4399-9C34-2BAE07FF05E4}"/>
              </a:ext>
            </a:extLst>
          </p:cNvPr>
          <p:cNvCxnSpPr>
            <a:cxnSpLocks/>
          </p:cNvCxnSpPr>
          <p:nvPr/>
        </p:nvCxnSpPr>
        <p:spPr>
          <a:xfrm>
            <a:off x="3935365" y="2790523"/>
            <a:ext cx="37967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7AB74457-3945-44A4-9ECB-D2F576703091}"/>
              </a:ext>
            </a:extLst>
          </p:cNvPr>
          <p:cNvCxnSpPr/>
          <p:nvPr/>
        </p:nvCxnSpPr>
        <p:spPr>
          <a:xfrm>
            <a:off x="8795602" y="2768206"/>
            <a:ext cx="26886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A45C89B-FD1E-4AD0-AE97-B27D3BDE1485}"/>
              </a:ext>
            </a:extLst>
          </p:cNvPr>
          <p:cNvSpPr txBox="1"/>
          <p:nvPr/>
        </p:nvSpPr>
        <p:spPr>
          <a:xfrm>
            <a:off x="2164303" y="4546512"/>
            <a:ext cx="1462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Sección D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27F09C9-C88E-466D-BF21-66A8F87B8235}"/>
              </a:ext>
            </a:extLst>
          </p:cNvPr>
          <p:cNvSpPr txBox="1"/>
          <p:nvPr/>
        </p:nvSpPr>
        <p:spPr>
          <a:xfrm>
            <a:off x="3557678" y="4633282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672A204-983B-4506-9C65-36F158CF2935}"/>
              </a:ext>
            </a:extLst>
          </p:cNvPr>
          <p:cNvSpPr txBox="1"/>
          <p:nvPr/>
        </p:nvSpPr>
        <p:spPr>
          <a:xfrm>
            <a:off x="3973738" y="4346937"/>
            <a:ext cx="4941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50.000  $ de </a:t>
            </a:r>
            <a:r>
              <a:rPr lang="es-AR" sz="2000" dirty="0" err="1"/>
              <a:t>Gtos</a:t>
            </a:r>
            <a:r>
              <a:rPr lang="es-AR" sz="2000" dirty="0"/>
              <a:t> Generales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72366F8-6EB9-4C1D-83FA-94A70EAC7E64}"/>
              </a:ext>
            </a:extLst>
          </p:cNvPr>
          <p:cNvSpPr txBox="1"/>
          <p:nvPr/>
        </p:nvSpPr>
        <p:spPr>
          <a:xfrm>
            <a:off x="4311684" y="4899363"/>
            <a:ext cx="4083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150.000  $ de MP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B7F24B5-7C16-4F90-9156-7AC159D6E3AC}"/>
              </a:ext>
            </a:extLst>
          </p:cNvPr>
          <p:cNvSpPr txBox="1"/>
          <p:nvPr/>
        </p:nvSpPr>
        <p:spPr>
          <a:xfrm>
            <a:off x="7812153" y="4630843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ADA5F6E-3402-4F07-8C42-A7BC4F32413B}"/>
              </a:ext>
            </a:extLst>
          </p:cNvPr>
          <p:cNvSpPr txBox="1"/>
          <p:nvPr/>
        </p:nvSpPr>
        <p:spPr>
          <a:xfrm>
            <a:off x="8128812" y="4553937"/>
            <a:ext cx="795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0,33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2F48CC9-0E75-471E-B9C0-88409FB4FA42}"/>
              </a:ext>
            </a:extLst>
          </p:cNvPr>
          <p:cNvSpPr txBox="1"/>
          <p:nvPr/>
        </p:nvSpPr>
        <p:spPr>
          <a:xfrm>
            <a:off x="8817388" y="4388039"/>
            <a:ext cx="3150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$ de </a:t>
            </a:r>
            <a:r>
              <a:rPr lang="es-AR" sz="2000" dirty="0" err="1"/>
              <a:t>Gtos</a:t>
            </a:r>
            <a:r>
              <a:rPr lang="es-AR" sz="2000" dirty="0"/>
              <a:t> Generales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1BB8CC3-C3E0-4E1D-92E9-A0CF366B8003}"/>
              </a:ext>
            </a:extLst>
          </p:cNvPr>
          <p:cNvSpPr txBox="1"/>
          <p:nvPr/>
        </p:nvSpPr>
        <p:spPr>
          <a:xfrm>
            <a:off x="9253315" y="4899363"/>
            <a:ext cx="3120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$ de MP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D9B0EDD-6688-4079-8EE4-E7249CED012A}"/>
              </a:ext>
            </a:extLst>
          </p:cNvPr>
          <p:cNvCxnSpPr>
            <a:cxnSpLocks/>
          </p:cNvCxnSpPr>
          <p:nvPr/>
        </p:nvCxnSpPr>
        <p:spPr>
          <a:xfrm>
            <a:off x="3935365" y="4817948"/>
            <a:ext cx="37967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91EC67B7-876C-490B-B2A7-D8A99F4BB3F6}"/>
              </a:ext>
            </a:extLst>
          </p:cNvPr>
          <p:cNvCxnSpPr/>
          <p:nvPr/>
        </p:nvCxnSpPr>
        <p:spPr>
          <a:xfrm>
            <a:off x="8795602" y="4795631"/>
            <a:ext cx="26886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667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BACF2F9-1990-4BFB-B393-D1292C73164A}"/>
              </a:ext>
            </a:extLst>
          </p:cNvPr>
          <p:cNvSpPr txBox="1"/>
          <p:nvPr/>
        </p:nvSpPr>
        <p:spPr>
          <a:xfrm>
            <a:off x="2592925" y="2146852"/>
            <a:ext cx="87575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Distribuyendo estos Gastos Generales de acuerdo a la cantidad de MP consumidas en cada sector será su absorción.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C34E362-C2FA-4C38-BD75-CFF6233545A6}"/>
              </a:ext>
            </a:extLst>
          </p:cNvPr>
          <p:cNvSpPr txBox="1"/>
          <p:nvPr/>
        </p:nvSpPr>
        <p:spPr>
          <a:xfrm>
            <a:off x="2592925" y="4003263"/>
            <a:ext cx="8757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Teniendo en cuenta la distribución anterior, supongamos que se producen </a:t>
            </a:r>
            <a:r>
              <a:rPr lang="es-AR" sz="2000" b="1" dirty="0"/>
              <a:t>1000 unidades </a:t>
            </a:r>
            <a:r>
              <a:rPr lang="es-AR" sz="2000" dirty="0"/>
              <a:t>de producto utilizando las siguientes cantidades de MP y MOD</a:t>
            </a:r>
          </a:p>
        </p:txBody>
      </p:sp>
    </p:spTree>
    <p:extLst>
      <p:ext uri="{BB962C8B-B14F-4D97-AF65-F5344CB8AC3E}">
        <p14:creationId xmlns:p14="http://schemas.microsoft.com/office/powerpoint/2010/main" val="2890513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2B5FCBEF-9EB8-4023-BD7C-BA6C1098404F}"/>
              </a:ext>
            </a:extLst>
          </p:cNvPr>
          <p:cNvGraphicFramePr>
            <a:graphicFrameLocks noGrp="1"/>
          </p:cNvGraphicFramePr>
          <p:nvPr/>
        </p:nvGraphicFramePr>
        <p:xfrm>
          <a:off x="2717800" y="1981936"/>
          <a:ext cx="81279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5191807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9068148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16367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sz="2000" dirty="0"/>
                        <a:t>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/>
                        <a:t>MATERIA PRIMA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/>
                        <a:t>MANO DE OBRA DIRECTA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535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2000" dirty="0"/>
                        <a:t>SECCION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000" dirty="0"/>
                        <a:t>$ 1.800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000" dirty="0"/>
                        <a:t>$ 2.200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334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2000" dirty="0"/>
                        <a:t>SECCION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000" dirty="0"/>
                        <a:t>$ 2.400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000" dirty="0"/>
                        <a:t>$ 1.300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187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2000" dirty="0"/>
                        <a:t>SECCION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000" dirty="0"/>
                        <a:t>$ 800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000" dirty="0"/>
                        <a:t>$ 500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494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2000" dirty="0"/>
                        <a:t>SECCION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000" dirty="0"/>
                        <a:t>$ 1.000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2000" dirty="0"/>
                        <a:t>$ 800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615044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8A3786C-EB8F-4384-9711-5C371FCC4AE8}"/>
              </a:ext>
            </a:extLst>
          </p:cNvPr>
          <p:cNvSpPr txBox="1"/>
          <p:nvPr/>
        </p:nvSpPr>
        <p:spPr>
          <a:xfrm>
            <a:off x="2743200" y="1461052"/>
            <a:ext cx="3747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 err="1"/>
              <a:t>Qprod</a:t>
            </a:r>
            <a:r>
              <a:rPr lang="es-AR" sz="2000" dirty="0"/>
              <a:t>.: 1.000 u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CDC65F-64E7-4058-A617-74CE5E5AFD1A}"/>
              </a:ext>
            </a:extLst>
          </p:cNvPr>
          <p:cNvSpPr txBox="1"/>
          <p:nvPr/>
        </p:nvSpPr>
        <p:spPr>
          <a:xfrm>
            <a:off x="2912165" y="5257800"/>
            <a:ext cx="79336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Si distribuyo los Gastos Generales utilizando a la </a:t>
            </a:r>
            <a:r>
              <a:rPr lang="es-AR" sz="2000" b="1" dirty="0"/>
              <a:t>MP</a:t>
            </a:r>
            <a:r>
              <a:rPr lang="es-AR" sz="2000" dirty="0"/>
              <a:t> como </a:t>
            </a:r>
            <a:r>
              <a:rPr lang="es-AR" sz="2000" b="1" dirty="0"/>
              <a:t>base de distribución </a:t>
            </a:r>
            <a:r>
              <a:rPr lang="es-AR" sz="2000" dirty="0"/>
              <a:t>, puedo poner:</a:t>
            </a:r>
          </a:p>
        </p:txBody>
      </p:sp>
    </p:spTree>
    <p:extLst>
      <p:ext uri="{BB962C8B-B14F-4D97-AF65-F5344CB8AC3E}">
        <p14:creationId xmlns:p14="http://schemas.microsoft.com/office/powerpoint/2010/main" val="2810099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072A70-B97E-4397-AA43-70A303963DE0}"/>
              </a:ext>
            </a:extLst>
          </p:cNvPr>
          <p:cNvSpPr txBox="1"/>
          <p:nvPr/>
        </p:nvSpPr>
        <p:spPr>
          <a:xfrm>
            <a:off x="2592925" y="1730368"/>
            <a:ext cx="8706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Sección A   1.800 $ MP x 0,4  $ </a:t>
            </a:r>
            <a:r>
              <a:rPr lang="es-AR" sz="2000" dirty="0" err="1"/>
              <a:t>Gtos</a:t>
            </a:r>
            <a:r>
              <a:rPr lang="es-AR" sz="2000" dirty="0"/>
              <a:t> </a:t>
            </a:r>
            <a:r>
              <a:rPr lang="es-AR" sz="2000" dirty="0" err="1"/>
              <a:t>Grales</a:t>
            </a:r>
            <a:r>
              <a:rPr lang="es-AR" sz="2000" dirty="0"/>
              <a:t>         </a:t>
            </a:r>
            <a:r>
              <a:rPr lang="es-AR" sz="2000" b="1" dirty="0"/>
              <a:t>720 $ de </a:t>
            </a:r>
            <a:r>
              <a:rPr lang="es-AR" sz="2000" b="1" dirty="0" err="1"/>
              <a:t>Gtos</a:t>
            </a:r>
            <a:r>
              <a:rPr lang="es-AR" sz="2000" b="1" dirty="0"/>
              <a:t> </a:t>
            </a:r>
            <a:r>
              <a:rPr lang="es-AR" sz="2000" b="1" dirty="0" err="1"/>
              <a:t>Grales</a:t>
            </a:r>
            <a:endParaRPr lang="es-AR" sz="2000" b="1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94CC431-79A5-4D7C-96F6-5BD90581E0F1}"/>
              </a:ext>
            </a:extLst>
          </p:cNvPr>
          <p:cNvCxnSpPr>
            <a:cxnSpLocks/>
          </p:cNvCxnSpPr>
          <p:nvPr/>
        </p:nvCxnSpPr>
        <p:spPr>
          <a:xfrm>
            <a:off x="6148253" y="2055350"/>
            <a:ext cx="17444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21C323F-4868-4691-9732-D5ED7158CC6C}"/>
              </a:ext>
            </a:extLst>
          </p:cNvPr>
          <p:cNvSpPr txBox="1"/>
          <p:nvPr/>
        </p:nvSpPr>
        <p:spPr>
          <a:xfrm>
            <a:off x="6667974" y="2089136"/>
            <a:ext cx="1669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$ MP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1282320-8CE9-4197-8BF8-FFD13B1D8B9B}"/>
              </a:ext>
            </a:extLst>
          </p:cNvPr>
          <p:cNvCxnSpPr>
            <a:cxnSpLocks/>
            <a:endCxn id="12" idx="0"/>
          </p:cNvCxnSpPr>
          <p:nvPr/>
        </p:nvCxnSpPr>
        <p:spPr>
          <a:xfrm flipV="1">
            <a:off x="6918378" y="2089136"/>
            <a:ext cx="584483" cy="3693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F4123B20-FD47-4A85-BE81-279D461273C3}"/>
              </a:ext>
            </a:extLst>
          </p:cNvPr>
          <p:cNvCxnSpPr>
            <a:cxnSpLocks/>
          </p:cNvCxnSpPr>
          <p:nvPr/>
        </p:nvCxnSpPr>
        <p:spPr>
          <a:xfrm flipV="1">
            <a:off x="5014559" y="1761146"/>
            <a:ext cx="584483" cy="3693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1642592-291E-4F05-B662-3BF697BB2548}"/>
              </a:ext>
            </a:extLst>
          </p:cNvPr>
          <p:cNvSpPr txBox="1"/>
          <p:nvPr/>
        </p:nvSpPr>
        <p:spPr>
          <a:xfrm>
            <a:off x="3898666" y="1842951"/>
            <a:ext cx="31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3C52A4F-7D01-4F12-A444-761325BBB5EE}"/>
              </a:ext>
            </a:extLst>
          </p:cNvPr>
          <p:cNvSpPr txBox="1"/>
          <p:nvPr/>
        </p:nvSpPr>
        <p:spPr>
          <a:xfrm>
            <a:off x="7937476" y="1863128"/>
            <a:ext cx="31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34EF494-6F1E-40D7-8E11-3986E14D7C01}"/>
              </a:ext>
            </a:extLst>
          </p:cNvPr>
          <p:cNvSpPr txBox="1"/>
          <p:nvPr/>
        </p:nvSpPr>
        <p:spPr>
          <a:xfrm>
            <a:off x="2592924" y="4866059"/>
            <a:ext cx="8911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Sección D     1.000 $ MP x 0,33  $ </a:t>
            </a:r>
            <a:r>
              <a:rPr lang="es-AR" sz="2000" dirty="0" err="1"/>
              <a:t>Gtos</a:t>
            </a:r>
            <a:r>
              <a:rPr lang="es-AR" sz="2000" dirty="0"/>
              <a:t> </a:t>
            </a:r>
            <a:r>
              <a:rPr lang="es-AR" sz="2000" dirty="0" err="1"/>
              <a:t>Grales</a:t>
            </a:r>
            <a:r>
              <a:rPr lang="es-AR" sz="2000" dirty="0"/>
              <a:t>       </a:t>
            </a:r>
            <a:r>
              <a:rPr lang="es-AR" sz="2000" b="1" dirty="0"/>
              <a:t>330 $ de </a:t>
            </a:r>
            <a:r>
              <a:rPr lang="es-AR" sz="2000" b="1" dirty="0" err="1"/>
              <a:t>Gtos</a:t>
            </a:r>
            <a:r>
              <a:rPr lang="es-AR" sz="2000" b="1" dirty="0"/>
              <a:t> </a:t>
            </a:r>
            <a:r>
              <a:rPr lang="es-AR" sz="2000" b="1" dirty="0" err="1"/>
              <a:t>Grales</a:t>
            </a:r>
            <a:endParaRPr lang="es-AR" sz="2000" b="1" dirty="0"/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5DD25DC3-47B5-42B8-A659-59BEFEF14226}"/>
              </a:ext>
            </a:extLst>
          </p:cNvPr>
          <p:cNvCxnSpPr>
            <a:cxnSpLocks/>
          </p:cNvCxnSpPr>
          <p:nvPr/>
        </p:nvCxnSpPr>
        <p:spPr>
          <a:xfrm>
            <a:off x="6437388" y="5191041"/>
            <a:ext cx="17444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FF5F9ACF-A7C6-405C-BC41-8B9A490A3AB9}"/>
              </a:ext>
            </a:extLst>
          </p:cNvPr>
          <p:cNvSpPr txBox="1"/>
          <p:nvPr/>
        </p:nvSpPr>
        <p:spPr>
          <a:xfrm>
            <a:off x="6946263" y="5224827"/>
            <a:ext cx="1669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$ MP</a:t>
            </a: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82598A55-44DC-4208-9254-C65981CFE033}"/>
              </a:ext>
            </a:extLst>
          </p:cNvPr>
          <p:cNvCxnSpPr>
            <a:cxnSpLocks/>
            <a:endCxn id="36" idx="0"/>
          </p:cNvCxnSpPr>
          <p:nvPr/>
        </p:nvCxnSpPr>
        <p:spPr>
          <a:xfrm flipV="1">
            <a:off x="7196667" y="5224827"/>
            <a:ext cx="584483" cy="3693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CFAC333F-62F1-4507-9762-B267BECA1265}"/>
              </a:ext>
            </a:extLst>
          </p:cNvPr>
          <p:cNvCxnSpPr>
            <a:cxnSpLocks/>
          </p:cNvCxnSpPr>
          <p:nvPr/>
        </p:nvCxnSpPr>
        <p:spPr>
          <a:xfrm flipV="1">
            <a:off x="5014558" y="4896837"/>
            <a:ext cx="584483" cy="3693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F2706A9-8E5C-47F1-8923-35956548AC41}"/>
              </a:ext>
            </a:extLst>
          </p:cNvPr>
          <p:cNvSpPr txBox="1"/>
          <p:nvPr/>
        </p:nvSpPr>
        <p:spPr>
          <a:xfrm>
            <a:off x="3939855" y="4978642"/>
            <a:ext cx="31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5EB5A40-13AF-4BFB-88EC-ACD06DB907B3}"/>
              </a:ext>
            </a:extLst>
          </p:cNvPr>
          <p:cNvSpPr txBox="1"/>
          <p:nvPr/>
        </p:nvSpPr>
        <p:spPr>
          <a:xfrm>
            <a:off x="8221539" y="5006375"/>
            <a:ext cx="31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DEBBA546-8B85-49F2-8836-C437EDBB2EB4}"/>
              </a:ext>
            </a:extLst>
          </p:cNvPr>
          <p:cNvSpPr txBox="1"/>
          <p:nvPr/>
        </p:nvSpPr>
        <p:spPr>
          <a:xfrm>
            <a:off x="2619763" y="2798439"/>
            <a:ext cx="8706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Sección B    2.400 $ MP x 0,45  $ </a:t>
            </a:r>
            <a:r>
              <a:rPr lang="es-AR" sz="2000" dirty="0" err="1"/>
              <a:t>Gtos</a:t>
            </a:r>
            <a:r>
              <a:rPr lang="es-AR" sz="2000" dirty="0"/>
              <a:t> </a:t>
            </a:r>
            <a:r>
              <a:rPr lang="es-AR" sz="2000" dirty="0" err="1"/>
              <a:t>Grales</a:t>
            </a:r>
            <a:r>
              <a:rPr lang="es-AR" sz="2000" dirty="0"/>
              <a:t>      </a:t>
            </a:r>
            <a:r>
              <a:rPr lang="es-AR" sz="2000" b="1" dirty="0"/>
              <a:t>1.080 $ de </a:t>
            </a:r>
            <a:r>
              <a:rPr lang="es-AR" sz="2000" b="1" dirty="0" err="1"/>
              <a:t>Gtos</a:t>
            </a:r>
            <a:r>
              <a:rPr lang="es-AR" sz="2000" b="1" dirty="0"/>
              <a:t> </a:t>
            </a:r>
            <a:r>
              <a:rPr lang="es-AR" sz="2000" b="1" dirty="0" err="1"/>
              <a:t>Grales</a:t>
            </a:r>
            <a:endParaRPr lang="es-AR" sz="2000" b="1" dirty="0"/>
          </a:p>
        </p:txBody>
      </p: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51E2A08E-7578-4E99-8B69-4083710A8DE7}"/>
              </a:ext>
            </a:extLst>
          </p:cNvPr>
          <p:cNvCxnSpPr>
            <a:cxnSpLocks/>
          </p:cNvCxnSpPr>
          <p:nvPr/>
        </p:nvCxnSpPr>
        <p:spPr>
          <a:xfrm>
            <a:off x="6182311" y="3123421"/>
            <a:ext cx="17444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B2A3758-5CEB-40F2-9C0D-6433BD2B8F43}"/>
              </a:ext>
            </a:extLst>
          </p:cNvPr>
          <p:cNvSpPr txBox="1"/>
          <p:nvPr/>
        </p:nvSpPr>
        <p:spPr>
          <a:xfrm>
            <a:off x="6691194" y="3157207"/>
            <a:ext cx="1669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$ MP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A668D7D7-2FD4-4E27-A7EF-8A0A3DFD0398}"/>
              </a:ext>
            </a:extLst>
          </p:cNvPr>
          <p:cNvCxnSpPr>
            <a:cxnSpLocks/>
            <a:endCxn id="43" idx="0"/>
          </p:cNvCxnSpPr>
          <p:nvPr/>
        </p:nvCxnSpPr>
        <p:spPr>
          <a:xfrm flipV="1">
            <a:off x="6941598" y="3157207"/>
            <a:ext cx="584483" cy="3693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92FB1E5D-F0FB-4C4F-9A60-979871DAE302}"/>
              </a:ext>
            </a:extLst>
          </p:cNvPr>
          <p:cNvCxnSpPr>
            <a:cxnSpLocks/>
          </p:cNvCxnSpPr>
          <p:nvPr/>
        </p:nvCxnSpPr>
        <p:spPr>
          <a:xfrm flipV="1">
            <a:off x="5041397" y="2829217"/>
            <a:ext cx="584483" cy="3693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4FC7E32A-2D1F-4AB9-93CB-78DEB61EE09A}"/>
              </a:ext>
            </a:extLst>
          </p:cNvPr>
          <p:cNvSpPr txBox="1"/>
          <p:nvPr/>
        </p:nvSpPr>
        <p:spPr>
          <a:xfrm>
            <a:off x="3925504" y="2911022"/>
            <a:ext cx="31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96368D6C-64BB-435A-99FC-54D8462732CE}"/>
              </a:ext>
            </a:extLst>
          </p:cNvPr>
          <p:cNvSpPr txBox="1"/>
          <p:nvPr/>
        </p:nvSpPr>
        <p:spPr>
          <a:xfrm>
            <a:off x="7964592" y="2924969"/>
            <a:ext cx="31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1BDEBEF-6DD5-448B-B3FA-A078E3027FA4}"/>
              </a:ext>
            </a:extLst>
          </p:cNvPr>
          <p:cNvSpPr txBox="1"/>
          <p:nvPr/>
        </p:nvSpPr>
        <p:spPr>
          <a:xfrm>
            <a:off x="2619763" y="3769070"/>
            <a:ext cx="8706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Sección C     800 $ MP x 0,10  $ </a:t>
            </a:r>
            <a:r>
              <a:rPr lang="es-AR" sz="2000" dirty="0" err="1"/>
              <a:t>Gtos</a:t>
            </a:r>
            <a:r>
              <a:rPr lang="es-AR" sz="2000" dirty="0"/>
              <a:t> </a:t>
            </a:r>
            <a:r>
              <a:rPr lang="es-AR" sz="2000" dirty="0" err="1"/>
              <a:t>Grales</a:t>
            </a:r>
            <a:r>
              <a:rPr lang="es-AR" sz="2000" dirty="0"/>
              <a:t>           </a:t>
            </a:r>
            <a:r>
              <a:rPr lang="es-AR" sz="2000" b="1" dirty="0"/>
              <a:t>80 $ de </a:t>
            </a:r>
            <a:r>
              <a:rPr lang="es-AR" sz="2000" b="1" dirty="0" err="1"/>
              <a:t>Gtos</a:t>
            </a:r>
            <a:r>
              <a:rPr lang="es-AR" sz="2000" b="1" dirty="0"/>
              <a:t> </a:t>
            </a:r>
            <a:r>
              <a:rPr lang="es-AR" sz="2000" b="1" dirty="0" err="1"/>
              <a:t>Grales</a:t>
            </a:r>
            <a:endParaRPr lang="es-AR" sz="2000" b="1" dirty="0"/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78CE4932-AD1A-4600-9943-BDA94C0EA4D7}"/>
              </a:ext>
            </a:extLst>
          </p:cNvPr>
          <p:cNvCxnSpPr>
            <a:cxnSpLocks/>
          </p:cNvCxnSpPr>
          <p:nvPr/>
        </p:nvCxnSpPr>
        <p:spPr>
          <a:xfrm>
            <a:off x="6208522" y="4053589"/>
            <a:ext cx="17444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E2E851CC-5A60-4F20-BD0C-A8373887BDA1}"/>
              </a:ext>
            </a:extLst>
          </p:cNvPr>
          <p:cNvSpPr txBox="1"/>
          <p:nvPr/>
        </p:nvSpPr>
        <p:spPr>
          <a:xfrm>
            <a:off x="6688483" y="4087375"/>
            <a:ext cx="1669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$ MP</a:t>
            </a:r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7990CAEE-B61A-46EE-9FF5-5AE87A9C79A6}"/>
              </a:ext>
            </a:extLst>
          </p:cNvPr>
          <p:cNvCxnSpPr>
            <a:cxnSpLocks/>
            <a:endCxn id="50" idx="0"/>
          </p:cNvCxnSpPr>
          <p:nvPr/>
        </p:nvCxnSpPr>
        <p:spPr>
          <a:xfrm flipV="1">
            <a:off x="6938887" y="4087375"/>
            <a:ext cx="584483" cy="3693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BEC4B7EA-DDFA-461B-BF70-7D69351B3839}"/>
              </a:ext>
            </a:extLst>
          </p:cNvPr>
          <p:cNvCxnSpPr>
            <a:cxnSpLocks/>
          </p:cNvCxnSpPr>
          <p:nvPr/>
        </p:nvCxnSpPr>
        <p:spPr>
          <a:xfrm flipV="1">
            <a:off x="5063986" y="3759385"/>
            <a:ext cx="584483" cy="3693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F800F337-6824-4C06-877D-A23701FF5D38}"/>
              </a:ext>
            </a:extLst>
          </p:cNvPr>
          <p:cNvSpPr txBox="1"/>
          <p:nvPr/>
        </p:nvSpPr>
        <p:spPr>
          <a:xfrm>
            <a:off x="3948093" y="3841190"/>
            <a:ext cx="31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7210568A-96DA-479D-9EB8-254120D35EF9}"/>
              </a:ext>
            </a:extLst>
          </p:cNvPr>
          <p:cNvSpPr txBox="1"/>
          <p:nvPr/>
        </p:nvSpPr>
        <p:spPr>
          <a:xfrm>
            <a:off x="7978223" y="3868923"/>
            <a:ext cx="31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493401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BACF2F9-1990-4BFB-B393-D1292C73164A}"/>
              </a:ext>
            </a:extLst>
          </p:cNvPr>
          <p:cNvSpPr txBox="1"/>
          <p:nvPr/>
        </p:nvSpPr>
        <p:spPr>
          <a:xfrm>
            <a:off x="2269656" y="1371600"/>
            <a:ext cx="87575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Y recordando que el costo de un producto esta representado por la expresión: </a:t>
            </a:r>
          </a:p>
          <a:p>
            <a:r>
              <a:rPr lang="es-AR" sz="2000" dirty="0"/>
              <a:t>					</a:t>
            </a:r>
            <a:r>
              <a:rPr lang="es-AR" sz="2000" b="1" dirty="0"/>
              <a:t>MP + MOD + </a:t>
            </a:r>
            <a:r>
              <a:rPr lang="es-AR" sz="2000" b="1" dirty="0" err="1"/>
              <a:t>Gtos</a:t>
            </a:r>
            <a:r>
              <a:rPr lang="es-AR" sz="2000" b="1" dirty="0"/>
              <a:t> </a:t>
            </a:r>
            <a:r>
              <a:rPr lang="es-AR" sz="2000" b="1" dirty="0" err="1"/>
              <a:t>Grales</a:t>
            </a:r>
            <a:r>
              <a:rPr lang="es-AR" sz="2000" dirty="0"/>
              <a:t> </a:t>
            </a:r>
          </a:p>
          <a:p>
            <a:r>
              <a:rPr lang="es-AR" sz="2000" dirty="0"/>
              <a:t>puedo completar el siguiente cuadro consolidando el costo total por sección </a:t>
            </a:r>
          </a:p>
        </p:txBody>
      </p:sp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6007745A-85FE-4129-A1F2-64C878963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482062"/>
              </p:ext>
            </p:extLst>
          </p:nvPr>
        </p:nvGraphicFramePr>
        <p:xfrm>
          <a:off x="2435654" y="3096603"/>
          <a:ext cx="787350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4192124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864010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1726120"/>
                    </a:ext>
                  </a:extLst>
                </a:gridCol>
                <a:gridCol w="1741805">
                  <a:extLst>
                    <a:ext uri="{9D8B030D-6E8A-4147-A177-3AD203B41FA5}">
                      <a16:colId xmlns:a16="http://schemas.microsoft.com/office/drawing/2014/main" val="3892399527"/>
                    </a:ext>
                  </a:extLst>
                </a:gridCol>
                <a:gridCol w="1254897">
                  <a:extLst>
                    <a:ext uri="{9D8B030D-6E8A-4147-A177-3AD203B41FA5}">
                      <a16:colId xmlns:a16="http://schemas.microsoft.com/office/drawing/2014/main" val="3514552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MOD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GTOS GRALES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COSTO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836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SECCION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dirty="0"/>
                        <a:t>$1.800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$ 2.200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$ 4.720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508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SECCION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dirty="0"/>
                        <a:t>$ 2.400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$ 1.300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$ 1.080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$ 4.780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320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SECCION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dirty="0"/>
                        <a:t>$ 800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$ 1.380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938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SECCION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dirty="0"/>
                        <a:t>$ 1.000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$ 2.130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836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1" dirty="0"/>
                        <a:t>COSTO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1" dirty="0"/>
                        <a:t>$ 13.010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08381"/>
                  </a:ext>
                </a:extLst>
              </a:tr>
            </a:tbl>
          </a:graphicData>
        </a:graphic>
      </p:graphicFrame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A4780CE-9B3D-43C3-9FB6-8BDADBA1FB23}"/>
              </a:ext>
            </a:extLst>
          </p:cNvPr>
          <p:cNvCxnSpPr/>
          <p:nvPr/>
        </p:nvCxnSpPr>
        <p:spPr>
          <a:xfrm>
            <a:off x="9053384" y="4959157"/>
            <a:ext cx="125577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D505BAD5-3C63-44DA-BD10-5304AF62C25F}"/>
              </a:ext>
            </a:extLst>
          </p:cNvPr>
          <p:cNvSpPr txBox="1"/>
          <p:nvPr/>
        </p:nvSpPr>
        <p:spPr>
          <a:xfrm>
            <a:off x="4586514" y="5624286"/>
            <a:ext cx="4405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COSTO UNITARIO = $13,01</a:t>
            </a:r>
          </a:p>
        </p:txBody>
      </p:sp>
    </p:spTree>
    <p:extLst>
      <p:ext uri="{BB962C8B-B14F-4D97-AF65-F5344CB8AC3E}">
        <p14:creationId xmlns:p14="http://schemas.microsoft.com/office/powerpoint/2010/main" val="993714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7A1E625-78EC-4961-ABF0-284EA04FF129}"/>
              </a:ext>
            </a:extLst>
          </p:cNvPr>
          <p:cNvSpPr txBox="1"/>
          <p:nvPr/>
        </p:nvSpPr>
        <p:spPr>
          <a:xfrm>
            <a:off x="2689412" y="1783976"/>
            <a:ext cx="505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Analicemos otro ejemplo: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75B0B09-6581-4F1D-976B-EF3E129B10D3}"/>
              </a:ext>
            </a:extLst>
          </p:cNvPr>
          <p:cNvSpPr txBox="1"/>
          <p:nvPr/>
        </p:nvSpPr>
        <p:spPr>
          <a:xfrm>
            <a:off x="2357718" y="2228752"/>
            <a:ext cx="91468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En una empresa industrial se elaboran por mes 1.000 unidades del producto “A”; 1.500 unidades del producto “B” y 2.500 unidades del producto “C”.</a:t>
            </a:r>
          </a:p>
          <a:p>
            <a:r>
              <a:rPr lang="es-AR" dirty="0"/>
              <a:t>Los </a:t>
            </a:r>
            <a:r>
              <a:rPr lang="es-AR" b="1" dirty="0"/>
              <a:t>gastos generales han sido de $10.000 </a:t>
            </a:r>
            <a:r>
              <a:rPr lang="es-AR" dirty="0"/>
              <a:t>en el mismo período.</a:t>
            </a:r>
          </a:p>
          <a:p>
            <a:r>
              <a:rPr lang="es-AR" dirty="0"/>
              <a:t>A  continuación se detallan los costos de materia prima, mano de obra directa, horas hombre y horas maquina consumida </a:t>
            </a:r>
            <a:r>
              <a:rPr lang="es-AR" b="1" dirty="0"/>
              <a:t>por cada unidad </a:t>
            </a:r>
            <a:r>
              <a:rPr lang="es-AR" dirty="0"/>
              <a:t>de producto elaborado</a:t>
            </a:r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4143A433-9E52-4B22-967E-7936C7D7D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23671"/>
              </p:ext>
            </p:extLst>
          </p:nvPr>
        </p:nvGraphicFramePr>
        <p:xfrm>
          <a:off x="2592925" y="4163527"/>
          <a:ext cx="8128002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873323799"/>
                    </a:ext>
                  </a:extLst>
                </a:gridCol>
                <a:gridCol w="1458126">
                  <a:extLst>
                    <a:ext uri="{9D8B030D-6E8A-4147-A177-3AD203B41FA5}">
                      <a16:colId xmlns:a16="http://schemas.microsoft.com/office/drawing/2014/main" val="477067882"/>
                    </a:ext>
                  </a:extLst>
                </a:gridCol>
                <a:gridCol w="1251208">
                  <a:extLst>
                    <a:ext uri="{9D8B030D-6E8A-4147-A177-3AD203B41FA5}">
                      <a16:colId xmlns:a16="http://schemas.microsoft.com/office/drawing/2014/main" val="381561681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9835754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122557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342950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Artículo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Producción (u)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MP      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MOD        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Hs / Hombre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Hs / Máquina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080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0,50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0,20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0,1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600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0,80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0,30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0,3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993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2.500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0,40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0,15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0,2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985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1" dirty="0"/>
                        <a:t>5.000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62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047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BACF2F9-1990-4BFB-B393-D1292C73164A}"/>
              </a:ext>
            </a:extLst>
          </p:cNvPr>
          <p:cNvSpPr txBox="1"/>
          <p:nvPr/>
        </p:nvSpPr>
        <p:spPr>
          <a:xfrm>
            <a:off x="2592925" y="2146852"/>
            <a:ext cx="87575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Encontrar el costo de producción de cada producto utilizando distintas bases de distribución para los $</a:t>
            </a:r>
            <a:r>
              <a:rPr lang="es-AR" sz="2000" b="1" dirty="0"/>
              <a:t>10.000</a:t>
            </a:r>
            <a:r>
              <a:rPr lang="es-AR" sz="2000" dirty="0"/>
              <a:t> de gastos indirectos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DDC0B0C-216B-41B8-B9BD-7C62EC5D9969}"/>
              </a:ext>
            </a:extLst>
          </p:cNvPr>
          <p:cNvSpPr txBox="1"/>
          <p:nvPr/>
        </p:nvSpPr>
        <p:spPr>
          <a:xfrm>
            <a:off x="2662518" y="3290047"/>
            <a:ext cx="4787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1).- Método de las unidades producidas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60AE03-3322-4430-8D05-3F442E109C0D}"/>
              </a:ext>
            </a:extLst>
          </p:cNvPr>
          <p:cNvSpPr txBox="1"/>
          <p:nvPr/>
        </p:nvSpPr>
        <p:spPr>
          <a:xfrm>
            <a:off x="2868706" y="3980329"/>
            <a:ext cx="76468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En el mes se elabora un total de 5.000 unidades de producto, si vamos a utilizar las unidades producidas como base de distribución, cada una absorberá: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AB28A2A-1A20-429F-BE87-6C9CE3D84509}"/>
              </a:ext>
            </a:extLst>
          </p:cNvPr>
          <p:cNvSpPr txBox="1"/>
          <p:nvPr/>
        </p:nvSpPr>
        <p:spPr>
          <a:xfrm>
            <a:off x="2985247" y="5342965"/>
            <a:ext cx="284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$10.000 de </a:t>
            </a:r>
            <a:r>
              <a:rPr lang="es-AR" dirty="0" err="1"/>
              <a:t>Gtos</a:t>
            </a:r>
            <a:r>
              <a:rPr lang="es-AR" dirty="0"/>
              <a:t> </a:t>
            </a:r>
            <a:r>
              <a:rPr lang="es-AR" dirty="0" err="1"/>
              <a:t>Grales</a:t>
            </a:r>
            <a:endParaRPr lang="es-AR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8CD04E0-508C-4953-8679-0693F22AA501}"/>
              </a:ext>
            </a:extLst>
          </p:cNvPr>
          <p:cNvSpPr txBox="1"/>
          <p:nvPr/>
        </p:nvSpPr>
        <p:spPr>
          <a:xfrm>
            <a:off x="3437217" y="5844584"/>
            <a:ext cx="2135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5.000 unidades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3C5239CF-5560-4CAD-97EE-02D1B54C3765}"/>
              </a:ext>
            </a:extLst>
          </p:cNvPr>
          <p:cNvCxnSpPr/>
          <p:nvPr/>
        </p:nvCxnSpPr>
        <p:spPr>
          <a:xfrm>
            <a:off x="2985247" y="5712297"/>
            <a:ext cx="299421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9BE144E-E414-42F8-805A-AE40317FDA40}"/>
              </a:ext>
            </a:extLst>
          </p:cNvPr>
          <p:cNvSpPr txBox="1"/>
          <p:nvPr/>
        </p:nvSpPr>
        <p:spPr>
          <a:xfrm>
            <a:off x="6008969" y="5527631"/>
            <a:ext cx="407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2C0075D-99EC-494E-A341-1744B3E09216}"/>
              </a:ext>
            </a:extLst>
          </p:cNvPr>
          <p:cNvSpPr txBox="1"/>
          <p:nvPr/>
        </p:nvSpPr>
        <p:spPr>
          <a:xfrm>
            <a:off x="6416116" y="5432208"/>
            <a:ext cx="326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2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8257F78-171B-43B2-A5B7-4B7A08B3C096}"/>
              </a:ext>
            </a:extLst>
          </p:cNvPr>
          <p:cNvSpPr txBox="1"/>
          <p:nvPr/>
        </p:nvSpPr>
        <p:spPr>
          <a:xfrm>
            <a:off x="6852773" y="5342965"/>
            <a:ext cx="284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$ de </a:t>
            </a:r>
            <a:r>
              <a:rPr lang="es-AR" dirty="0" err="1"/>
              <a:t>Gtos</a:t>
            </a:r>
            <a:r>
              <a:rPr lang="es-AR" dirty="0"/>
              <a:t> </a:t>
            </a:r>
            <a:r>
              <a:rPr lang="es-AR" dirty="0" err="1"/>
              <a:t>Grales</a:t>
            </a:r>
            <a:r>
              <a:rPr lang="es-AR" dirty="0"/>
              <a:t>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29D17F9-9CC6-4BBE-B09C-F001566C97A2}"/>
              </a:ext>
            </a:extLst>
          </p:cNvPr>
          <p:cNvSpPr txBox="1"/>
          <p:nvPr/>
        </p:nvSpPr>
        <p:spPr>
          <a:xfrm>
            <a:off x="7294660" y="5792575"/>
            <a:ext cx="2135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unidad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7957E58D-A5FA-40D9-A4C8-8C3E7E10710F}"/>
              </a:ext>
            </a:extLst>
          </p:cNvPr>
          <p:cNvCxnSpPr>
            <a:cxnSpLocks/>
          </p:cNvCxnSpPr>
          <p:nvPr/>
        </p:nvCxnSpPr>
        <p:spPr>
          <a:xfrm flipV="1">
            <a:off x="6852773" y="5712297"/>
            <a:ext cx="2270686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202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BACF2F9-1990-4BFB-B393-D1292C73164A}"/>
              </a:ext>
            </a:extLst>
          </p:cNvPr>
          <p:cNvSpPr txBox="1"/>
          <p:nvPr/>
        </p:nvSpPr>
        <p:spPr>
          <a:xfrm>
            <a:off x="2592925" y="2146852"/>
            <a:ext cx="87575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Y recordando que el costo del producto se obtiene como:</a:t>
            </a:r>
          </a:p>
          <a:p>
            <a:r>
              <a:rPr lang="es-AR" sz="2000" b="1" dirty="0"/>
              <a:t>MP + MOD + </a:t>
            </a:r>
            <a:r>
              <a:rPr lang="es-AR" sz="2000" b="1" dirty="0" err="1"/>
              <a:t>Gtos</a:t>
            </a:r>
            <a:r>
              <a:rPr lang="es-AR" sz="2000" b="1" dirty="0"/>
              <a:t> </a:t>
            </a:r>
            <a:r>
              <a:rPr lang="es-AR" sz="2000" b="1" dirty="0" err="1"/>
              <a:t>Grales</a:t>
            </a:r>
            <a:endParaRPr lang="es-AR" sz="20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7324FC4-E8D1-4069-9E40-2CA07FBDFA71}"/>
              </a:ext>
            </a:extLst>
          </p:cNvPr>
          <p:cNvSpPr txBox="1"/>
          <p:nvPr/>
        </p:nvSpPr>
        <p:spPr>
          <a:xfrm>
            <a:off x="2752165" y="3361765"/>
            <a:ext cx="6508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/>
              <a:t>Prod</a:t>
            </a:r>
            <a:r>
              <a:rPr lang="es-AR" dirty="0"/>
              <a:t> A = $ 2 + $ 0,50 + $ 2 = $ 4,50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66ACB74-69F5-4C15-B02F-BECAB86F5647}"/>
              </a:ext>
            </a:extLst>
          </p:cNvPr>
          <p:cNvSpPr txBox="1"/>
          <p:nvPr/>
        </p:nvSpPr>
        <p:spPr>
          <a:xfrm>
            <a:off x="2752165" y="4034117"/>
            <a:ext cx="6508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/>
              <a:t>Prod</a:t>
            </a:r>
            <a:r>
              <a:rPr lang="es-AR" dirty="0"/>
              <a:t> B = $ 3 + $ 0,80 + $ 2 = $ 5,80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AEC3B6B-936C-4E60-ACF5-6E285350A7BE}"/>
              </a:ext>
            </a:extLst>
          </p:cNvPr>
          <p:cNvSpPr txBox="1"/>
          <p:nvPr/>
        </p:nvSpPr>
        <p:spPr>
          <a:xfrm>
            <a:off x="2770094" y="4860650"/>
            <a:ext cx="6508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/>
              <a:t>Prod</a:t>
            </a:r>
            <a:r>
              <a:rPr lang="es-AR" dirty="0"/>
              <a:t> C = $ 1 + $ 0,40 + $ 2 = $ 3,40</a:t>
            </a:r>
          </a:p>
        </p:txBody>
      </p:sp>
    </p:spTree>
    <p:extLst>
      <p:ext uri="{BB962C8B-B14F-4D97-AF65-F5344CB8AC3E}">
        <p14:creationId xmlns:p14="http://schemas.microsoft.com/office/powerpoint/2010/main" val="2423785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DDC0B0C-216B-41B8-B9BD-7C62EC5D9969}"/>
              </a:ext>
            </a:extLst>
          </p:cNvPr>
          <p:cNvSpPr txBox="1"/>
          <p:nvPr/>
        </p:nvSpPr>
        <p:spPr>
          <a:xfrm>
            <a:off x="2374903" y="1728207"/>
            <a:ext cx="5898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2).- Método del costo de la Materia Prima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60AE03-3322-4430-8D05-3F442E109C0D}"/>
              </a:ext>
            </a:extLst>
          </p:cNvPr>
          <p:cNvSpPr txBox="1"/>
          <p:nvPr/>
        </p:nvSpPr>
        <p:spPr>
          <a:xfrm>
            <a:off x="2909048" y="2602596"/>
            <a:ext cx="764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Primero calculo la materia prima consumida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ADC3BA7-B311-4FAD-BC4A-0EF9B6908F23}"/>
              </a:ext>
            </a:extLst>
          </p:cNvPr>
          <p:cNvSpPr txBox="1"/>
          <p:nvPr/>
        </p:nvSpPr>
        <p:spPr>
          <a:xfrm>
            <a:off x="3284819" y="3442816"/>
            <a:ext cx="53212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/>
              <a:t>Prod</a:t>
            </a:r>
            <a:r>
              <a:rPr lang="es-AR" dirty="0"/>
              <a:t> A = 1.000 u x $ 2 c/u = $ 2.000</a:t>
            </a:r>
          </a:p>
          <a:p>
            <a:endParaRPr lang="es-AR" dirty="0"/>
          </a:p>
          <a:p>
            <a:r>
              <a:rPr lang="es-AR" dirty="0" err="1"/>
              <a:t>Prod</a:t>
            </a:r>
            <a:r>
              <a:rPr lang="es-AR" dirty="0"/>
              <a:t> B = 1.500 u x $ 3 c/u = $ 4.500</a:t>
            </a:r>
          </a:p>
          <a:p>
            <a:endParaRPr lang="es-AR" dirty="0"/>
          </a:p>
          <a:p>
            <a:r>
              <a:rPr lang="es-AR" dirty="0" err="1"/>
              <a:t>Prod</a:t>
            </a:r>
            <a:r>
              <a:rPr lang="es-AR" dirty="0"/>
              <a:t> C = 2.500 u x $ 1 c/u = $ 2.500</a:t>
            </a:r>
          </a:p>
          <a:p>
            <a:endParaRPr lang="es-AR" dirty="0"/>
          </a:p>
          <a:p>
            <a:r>
              <a:rPr lang="es-AR" dirty="0"/>
              <a:t>Total de MP consumida       $ 9.000</a:t>
            </a:r>
          </a:p>
          <a:p>
            <a:endParaRPr lang="es-AR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2FACEC5B-8B8A-488E-B615-B003242A6AFD}"/>
              </a:ext>
            </a:extLst>
          </p:cNvPr>
          <p:cNvCxnSpPr/>
          <p:nvPr/>
        </p:nvCxnSpPr>
        <p:spPr>
          <a:xfrm flipV="1">
            <a:off x="6212542" y="4994954"/>
            <a:ext cx="1221709" cy="116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8760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60AE03-3322-4430-8D05-3F442E109C0D}"/>
              </a:ext>
            </a:extLst>
          </p:cNvPr>
          <p:cNvSpPr txBox="1"/>
          <p:nvPr/>
        </p:nvSpPr>
        <p:spPr>
          <a:xfrm>
            <a:off x="2389095" y="2192962"/>
            <a:ext cx="7646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Por lo tanto el consumo fue de $ 9.000 de MP, si quiero distribuir $ 10.000 de Gastos Generales en $ 9.000 , será: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AB28A2A-1A20-429F-BE87-6C9CE3D84509}"/>
              </a:ext>
            </a:extLst>
          </p:cNvPr>
          <p:cNvSpPr txBox="1"/>
          <p:nvPr/>
        </p:nvSpPr>
        <p:spPr>
          <a:xfrm>
            <a:off x="3101788" y="3834042"/>
            <a:ext cx="284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$10.000 de </a:t>
            </a:r>
            <a:r>
              <a:rPr lang="es-AR" dirty="0" err="1"/>
              <a:t>Gtos</a:t>
            </a:r>
            <a:r>
              <a:rPr lang="es-AR" dirty="0"/>
              <a:t> </a:t>
            </a:r>
            <a:r>
              <a:rPr lang="es-AR" dirty="0" err="1"/>
              <a:t>Grales</a:t>
            </a:r>
            <a:endParaRPr lang="es-AR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8CD04E0-508C-4953-8679-0693F22AA501}"/>
              </a:ext>
            </a:extLst>
          </p:cNvPr>
          <p:cNvSpPr txBox="1"/>
          <p:nvPr/>
        </p:nvSpPr>
        <p:spPr>
          <a:xfrm>
            <a:off x="3553758" y="4335661"/>
            <a:ext cx="2135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$9.000 de MP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3C5239CF-5560-4CAD-97EE-02D1B54C3765}"/>
              </a:ext>
            </a:extLst>
          </p:cNvPr>
          <p:cNvCxnSpPr/>
          <p:nvPr/>
        </p:nvCxnSpPr>
        <p:spPr>
          <a:xfrm>
            <a:off x="3101788" y="4203374"/>
            <a:ext cx="299421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9BE144E-E414-42F8-805A-AE40317FDA40}"/>
              </a:ext>
            </a:extLst>
          </p:cNvPr>
          <p:cNvSpPr txBox="1"/>
          <p:nvPr/>
        </p:nvSpPr>
        <p:spPr>
          <a:xfrm>
            <a:off x="6125510" y="4018708"/>
            <a:ext cx="407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2C0075D-99EC-494E-A341-1744B3E09216}"/>
              </a:ext>
            </a:extLst>
          </p:cNvPr>
          <p:cNvSpPr txBox="1"/>
          <p:nvPr/>
        </p:nvSpPr>
        <p:spPr>
          <a:xfrm>
            <a:off x="6532657" y="3923285"/>
            <a:ext cx="915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1,11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8257F78-171B-43B2-A5B7-4B7A08B3C096}"/>
              </a:ext>
            </a:extLst>
          </p:cNvPr>
          <p:cNvSpPr txBox="1"/>
          <p:nvPr/>
        </p:nvSpPr>
        <p:spPr>
          <a:xfrm>
            <a:off x="7263658" y="3830924"/>
            <a:ext cx="284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$ de </a:t>
            </a:r>
            <a:r>
              <a:rPr lang="es-AR" dirty="0" err="1"/>
              <a:t>Gtos</a:t>
            </a:r>
            <a:r>
              <a:rPr lang="es-AR" dirty="0"/>
              <a:t> </a:t>
            </a:r>
            <a:r>
              <a:rPr lang="es-AR" dirty="0" err="1"/>
              <a:t>Grales</a:t>
            </a:r>
            <a:r>
              <a:rPr lang="es-AR" dirty="0"/>
              <a:t>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29D17F9-9CC6-4BBE-B09C-F001566C97A2}"/>
              </a:ext>
            </a:extLst>
          </p:cNvPr>
          <p:cNvSpPr txBox="1"/>
          <p:nvPr/>
        </p:nvSpPr>
        <p:spPr>
          <a:xfrm>
            <a:off x="7705545" y="4280534"/>
            <a:ext cx="2135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$ de MP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7957E58D-A5FA-40D9-A4C8-8C3E7E10710F}"/>
              </a:ext>
            </a:extLst>
          </p:cNvPr>
          <p:cNvCxnSpPr>
            <a:cxnSpLocks/>
          </p:cNvCxnSpPr>
          <p:nvPr/>
        </p:nvCxnSpPr>
        <p:spPr>
          <a:xfrm flipV="1">
            <a:off x="7263658" y="4200256"/>
            <a:ext cx="2270686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174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BACF2F9-1990-4BFB-B393-D1292C73164A}"/>
              </a:ext>
            </a:extLst>
          </p:cNvPr>
          <p:cNvSpPr txBox="1"/>
          <p:nvPr/>
        </p:nvSpPr>
        <p:spPr>
          <a:xfrm>
            <a:off x="2592925" y="2146852"/>
            <a:ext cx="8757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O sea que por cada $ de MP se le asignaran 1,11 $ de </a:t>
            </a:r>
            <a:r>
              <a:rPr lang="es-AR" sz="2000" dirty="0" err="1"/>
              <a:t>Gtos</a:t>
            </a:r>
            <a:r>
              <a:rPr lang="es-AR" sz="2000" dirty="0"/>
              <a:t> </a:t>
            </a:r>
            <a:r>
              <a:rPr lang="es-AR" sz="2000" dirty="0" err="1"/>
              <a:t>Grales</a:t>
            </a:r>
            <a:r>
              <a:rPr lang="es-AR" sz="2000" dirty="0"/>
              <a:t>,</a:t>
            </a:r>
          </a:p>
          <a:p>
            <a:r>
              <a:rPr lang="es-AR" sz="2000" dirty="0"/>
              <a:t>y recordando que el costo del producto se obtiene como:</a:t>
            </a:r>
          </a:p>
          <a:p>
            <a:r>
              <a:rPr lang="es-AR" sz="2000" b="1" dirty="0"/>
              <a:t>MP + MOD + </a:t>
            </a:r>
            <a:r>
              <a:rPr lang="es-AR" sz="2000" b="1" dirty="0" err="1"/>
              <a:t>Gtos</a:t>
            </a:r>
            <a:r>
              <a:rPr lang="es-AR" sz="2000" b="1" dirty="0"/>
              <a:t> </a:t>
            </a:r>
            <a:r>
              <a:rPr lang="es-AR" sz="2000" b="1" dirty="0" err="1"/>
              <a:t>Grales</a:t>
            </a:r>
            <a:r>
              <a:rPr lang="es-AR" sz="2000" b="1" dirty="0"/>
              <a:t>, </a:t>
            </a:r>
            <a:r>
              <a:rPr lang="es-AR" sz="2000" dirty="0"/>
              <a:t>puedo calcular el costo</a:t>
            </a:r>
            <a:r>
              <a:rPr lang="es-AR" sz="2000" b="1" dirty="0"/>
              <a:t>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7324FC4-E8D1-4069-9E40-2CA07FBDFA71}"/>
              </a:ext>
            </a:extLst>
          </p:cNvPr>
          <p:cNvSpPr txBox="1"/>
          <p:nvPr/>
        </p:nvSpPr>
        <p:spPr>
          <a:xfrm>
            <a:off x="3541059" y="3753101"/>
            <a:ext cx="6508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/>
              <a:t>Prod</a:t>
            </a:r>
            <a:r>
              <a:rPr lang="es-AR" dirty="0"/>
              <a:t> A = $ 2 + $ 0,50 + $ 2 x 1,11  = $ 4,72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66ACB74-69F5-4C15-B02F-BECAB86F5647}"/>
              </a:ext>
            </a:extLst>
          </p:cNvPr>
          <p:cNvSpPr txBox="1"/>
          <p:nvPr/>
        </p:nvSpPr>
        <p:spPr>
          <a:xfrm>
            <a:off x="3541059" y="4425453"/>
            <a:ext cx="6508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/>
              <a:t>Prod</a:t>
            </a:r>
            <a:r>
              <a:rPr lang="es-AR" dirty="0"/>
              <a:t> B = $ 3 + $ 0,80 + $ 3 x 1,11   = $ 7,13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AEC3B6B-936C-4E60-ACF5-6E285350A7BE}"/>
              </a:ext>
            </a:extLst>
          </p:cNvPr>
          <p:cNvSpPr txBox="1"/>
          <p:nvPr/>
        </p:nvSpPr>
        <p:spPr>
          <a:xfrm>
            <a:off x="3558988" y="5251986"/>
            <a:ext cx="6508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/>
              <a:t>Prod</a:t>
            </a:r>
            <a:r>
              <a:rPr lang="es-AR" dirty="0"/>
              <a:t> C = $ 1 + $ 0,40 + $ 1 x 1,11  = $ 2,51</a:t>
            </a:r>
          </a:p>
        </p:txBody>
      </p:sp>
    </p:spTree>
    <p:extLst>
      <p:ext uri="{BB962C8B-B14F-4D97-AF65-F5344CB8AC3E}">
        <p14:creationId xmlns:p14="http://schemas.microsoft.com/office/powerpoint/2010/main" val="31292251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DDC0B0C-216B-41B8-B9BD-7C62EC5D9969}"/>
              </a:ext>
            </a:extLst>
          </p:cNvPr>
          <p:cNvSpPr txBox="1"/>
          <p:nvPr/>
        </p:nvSpPr>
        <p:spPr>
          <a:xfrm>
            <a:off x="2374903" y="1728207"/>
            <a:ext cx="5898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3).- Método de las Horas Hombre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60AE03-3322-4430-8D05-3F442E109C0D}"/>
              </a:ext>
            </a:extLst>
          </p:cNvPr>
          <p:cNvSpPr txBox="1"/>
          <p:nvPr/>
        </p:nvSpPr>
        <p:spPr>
          <a:xfrm>
            <a:off x="2909048" y="2602596"/>
            <a:ext cx="764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Primero calculo las Horas Hombre consumidas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ADC3BA7-B311-4FAD-BC4A-0EF9B6908F23}"/>
              </a:ext>
            </a:extLst>
          </p:cNvPr>
          <p:cNvSpPr txBox="1"/>
          <p:nvPr/>
        </p:nvSpPr>
        <p:spPr>
          <a:xfrm>
            <a:off x="3284819" y="3442816"/>
            <a:ext cx="53212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/>
              <a:t>Prod</a:t>
            </a:r>
            <a:r>
              <a:rPr lang="es-AR" dirty="0"/>
              <a:t> A = 1.000 u x 0,2 HH/u =    200 HH</a:t>
            </a:r>
          </a:p>
          <a:p>
            <a:endParaRPr lang="es-AR" dirty="0"/>
          </a:p>
          <a:p>
            <a:r>
              <a:rPr lang="es-AR" dirty="0" err="1"/>
              <a:t>Prod</a:t>
            </a:r>
            <a:r>
              <a:rPr lang="es-AR" dirty="0"/>
              <a:t> B = 1.500 u x 0,3 HH/u =     450 HH</a:t>
            </a:r>
          </a:p>
          <a:p>
            <a:endParaRPr lang="es-AR" dirty="0"/>
          </a:p>
          <a:p>
            <a:r>
              <a:rPr lang="es-AR" dirty="0" err="1"/>
              <a:t>Prod</a:t>
            </a:r>
            <a:r>
              <a:rPr lang="es-AR" dirty="0"/>
              <a:t> C = 2.500 u x 0,15 HH/u =   375 HH</a:t>
            </a:r>
          </a:p>
          <a:p>
            <a:endParaRPr lang="es-AR" dirty="0"/>
          </a:p>
          <a:p>
            <a:r>
              <a:rPr lang="es-AR" b="1" dirty="0"/>
              <a:t>Total de HH consumida            1.025 HH</a:t>
            </a:r>
          </a:p>
          <a:p>
            <a:endParaRPr lang="es-AR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2FACEC5B-8B8A-488E-B615-B003242A6AFD}"/>
              </a:ext>
            </a:extLst>
          </p:cNvPr>
          <p:cNvCxnSpPr/>
          <p:nvPr/>
        </p:nvCxnSpPr>
        <p:spPr>
          <a:xfrm flipV="1">
            <a:off x="6633881" y="4994954"/>
            <a:ext cx="1221709" cy="116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68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60AE03-3322-4430-8D05-3F442E109C0D}"/>
              </a:ext>
            </a:extLst>
          </p:cNvPr>
          <p:cNvSpPr txBox="1"/>
          <p:nvPr/>
        </p:nvSpPr>
        <p:spPr>
          <a:xfrm>
            <a:off x="2389095" y="2192962"/>
            <a:ext cx="7646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Por lo tanto el consumo fue de  1.025 HH, si quiero distribuir $ 10.000 de Gastos Generales en 1.025 HH, será: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AB28A2A-1A20-429F-BE87-6C9CE3D84509}"/>
              </a:ext>
            </a:extLst>
          </p:cNvPr>
          <p:cNvSpPr txBox="1"/>
          <p:nvPr/>
        </p:nvSpPr>
        <p:spPr>
          <a:xfrm>
            <a:off x="3101788" y="3834042"/>
            <a:ext cx="284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$10.000 de </a:t>
            </a:r>
            <a:r>
              <a:rPr lang="es-AR" dirty="0" err="1"/>
              <a:t>Gtos</a:t>
            </a:r>
            <a:r>
              <a:rPr lang="es-AR" dirty="0"/>
              <a:t> </a:t>
            </a:r>
            <a:r>
              <a:rPr lang="es-AR" dirty="0" err="1"/>
              <a:t>Grales</a:t>
            </a:r>
            <a:endParaRPr lang="es-AR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8CD04E0-508C-4953-8679-0693F22AA501}"/>
              </a:ext>
            </a:extLst>
          </p:cNvPr>
          <p:cNvSpPr txBox="1"/>
          <p:nvPr/>
        </p:nvSpPr>
        <p:spPr>
          <a:xfrm>
            <a:off x="3553758" y="4335661"/>
            <a:ext cx="2135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1.025 HH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3C5239CF-5560-4CAD-97EE-02D1B54C3765}"/>
              </a:ext>
            </a:extLst>
          </p:cNvPr>
          <p:cNvCxnSpPr/>
          <p:nvPr/>
        </p:nvCxnSpPr>
        <p:spPr>
          <a:xfrm>
            <a:off x="3101788" y="4203374"/>
            <a:ext cx="299421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9BE144E-E414-42F8-805A-AE40317FDA40}"/>
              </a:ext>
            </a:extLst>
          </p:cNvPr>
          <p:cNvSpPr txBox="1"/>
          <p:nvPr/>
        </p:nvSpPr>
        <p:spPr>
          <a:xfrm>
            <a:off x="6125510" y="4018708"/>
            <a:ext cx="407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2C0075D-99EC-494E-A341-1744B3E09216}"/>
              </a:ext>
            </a:extLst>
          </p:cNvPr>
          <p:cNvSpPr txBox="1"/>
          <p:nvPr/>
        </p:nvSpPr>
        <p:spPr>
          <a:xfrm>
            <a:off x="6532657" y="3923285"/>
            <a:ext cx="915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9,76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8257F78-171B-43B2-A5B7-4B7A08B3C096}"/>
              </a:ext>
            </a:extLst>
          </p:cNvPr>
          <p:cNvSpPr txBox="1"/>
          <p:nvPr/>
        </p:nvSpPr>
        <p:spPr>
          <a:xfrm>
            <a:off x="7263658" y="3830924"/>
            <a:ext cx="284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$ de </a:t>
            </a:r>
            <a:r>
              <a:rPr lang="es-AR" dirty="0" err="1"/>
              <a:t>Gtos</a:t>
            </a:r>
            <a:r>
              <a:rPr lang="es-AR" dirty="0"/>
              <a:t> </a:t>
            </a:r>
            <a:r>
              <a:rPr lang="es-AR" dirty="0" err="1"/>
              <a:t>Grales</a:t>
            </a:r>
            <a:r>
              <a:rPr lang="es-AR" dirty="0"/>
              <a:t>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29D17F9-9CC6-4BBE-B09C-F001566C97A2}"/>
              </a:ext>
            </a:extLst>
          </p:cNvPr>
          <p:cNvSpPr txBox="1"/>
          <p:nvPr/>
        </p:nvSpPr>
        <p:spPr>
          <a:xfrm>
            <a:off x="8037238" y="4292561"/>
            <a:ext cx="2135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HH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7957E58D-A5FA-40D9-A4C8-8C3E7E10710F}"/>
              </a:ext>
            </a:extLst>
          </p:cNvPr>
          <p:cNvCxnSpPr>
            <a:cxnSpLocks/>
          </p:cNvCxnSpPr>
          <p:nvPr/>
        </p:nvCxnSpPr>
        <p:spPr>
          <a:xfrm flipV="1">
            <a:off x="7263658" y="4200256"/>
            <a:ext cx="2270686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4033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BACF2F9-1990-4BFB-B393-D1292C73164A}"/>
              </a:ext>
            </a:extLst>
          </p:cNvPr>
          <p:cNvSpPr txBox="1"/>
          <p:nvPr/>
        </p:nvSpPr>
        <p:spPr>
          <a:xfrm>
            <a:off x="2568156" y="1662599"/>
            <a:ext cx="875756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O sea que por cada HH consumida se le asignaran 9,76 $ de </a:t>
            </a:r>
            <a:r>
              <a:rPr lang="es-AR" sz="2000" dirty="0" err="1"/>
              <a:t>Gtos</a:t>
            </a:r>
            <a:r>
              <a:rPr lang="es-AR" sz="2000" dirty="0"/>
              <a:t> </a:t>
            </a:r>
            <a:r>
              <a:rPr lang="es-AR" sz="2000" dirty="0" err="1"/>
              <a:t>Grales</a:t>
            </a:r>
            <a:r>
              <a:rPr lang="es-AR" sz="2000" dirty="0"/>
              <a:t>,</a:t>
            </a:r>
          </a:p>
          <a:p>
            <a:r>
              <a:rPr lang="es-AR" sz="2000" dirty="0"/>
              <a:t>y recordando, como siempre, que el costo del producto viene dado por la expresión:</a:t>
            </a:r>
          </a:p>
          <a:p>
            <a:r>
              <a:rPr lang="es-AR" sz="2000" b="1" dirty="0"/>
              <a:t>                                  MP + MOD + </a:t>
            </a:r>
            <a:r>
              <a:rPr lang="es-AR" sz="2000" b="1" dirty="0" err="1"/>
              <a:t>Gtos</a:t>
            </a:r>
            <a:r>
              <a:rPr lang="es-AR" sz="2000" b="1" dirty="0"/>
              <a:t> </a:t>
            </a:r>
            <a:r>
              <a:rPr lang="es-AR" sz="2000" b="1" dirty="0" err="1"/>
              <a:t>Grales</a:t>
            </a:r>
            <a:endParaRPr lang="es-AR" sz="2000" b="1" dirty="0"/>
          </a:p>
          <a:p>
            <a:endParaRPr lang="es-AR" sz="2000" b="1" dirty="0"/>
          </a:p>
          <a:p>
            <a:r>
              <a:rPr lang="es-AR" sz="2000" dirty="0"/>
              <a:t>puedo calcular el costo de cada producto como</a:t>
            </a:r>
            <a:r>
              <a:rPr lang="es-AR" sz="2000" b="1" dirty="0"/>
              <a:t>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7324FC4-E8D1-4069-9E40-2CA07FBDFA71}"/>
              </a:ext>
            </a:extLst>
          </p:cNvPr>
          <p:cNvSpPr txBox="1"/>
          <p:nvPr/>
        </p:nvSpPr>
        <p:spPr>
          <a:xfrm>
            <a:off x="3618880" y="4297850"/>
            <a:ext cx="6508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/>
              <a:t>Prod</a:t>
            </a:r>
            <a:r>
              <a:rPr lang="es-AR" dirty="0"/>
              <a:t> A = $ 2 + $ 0,50 + 0,2 x 9,76  = $ 4,45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66ACB74-69F5-4C15-B02F-BECAB86F5647}"/>
              </a:ext>
            </a:extLst>
          </p:cNvPr>
          <p:cNvSpPr txBox="1"/>
          <p:nvPr/>
        </p:nvSpPr>
        <p:spPr>
          <a:xfrm>
            <a:off x="3618880" y="4970202"/>
            <a:ext cx="6508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/>
              <a:t>Prod</a:t>
            </a:r>
            <a:r>
              <a:rPr lang="es-AR" dirty="0"/>
              <a:t> B = $ 3 + $ 0,80 + 0,3 x 9,76   = $ 6,73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AEC3B6B-936C-4E60-ACF5-6E285350A7BE}"/>
              </a:ext>
            </a:extLst>
          </p:cNvPr>
          <p:cNvSpPr txBox="1"/>
          <p:nvPr/>
        </p:nvSpPr>
        <p:spPr>
          <a:xfrm>
            <a:off x="3636809" y="5718911"/>
            <a:ext cx="6508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/>
              <a:t>Prod</a:t>
            </a:r>
            <a:r>
              <a:rPr lang="es-AR" dirty="0"/>
              <a:t> C = $ 1 + $ 0,40 + 0,15 x 9,76 = $ 2,86</a:t>
            </a:r>
          </a:p>
        </p:txBody>
      </p:sp>
    </p:spTree>
    <p:extLst>
      <p:ext uri="{BB962C8B-B14F-4D97-AF65-F5344CB8AC3E}">
        <p14:creationId xmlns:p14="http://schemas.microsoft.com/office/powerpoint/2010/main" val="3068720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BACF2F9-1990-4BFB-B393-D1292C73164A}"/>
              </a:ext>
            </a:extLst>
          </p:cNvPr>
          <p:cNvSpPr txBox="1"/>
          <p:nvPr/>
        </p:nvSpPr>
        <p:spPr>
          <a:xfrm>
            <a:off x="2592925" y="2146852"/>
            <a:ext cx="8757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Analizando los costos finales encontrados vemos que la dispersión en los mismos es grande y es ocasionada por la base de distribución utilizada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C34E362-C2FA-4C38-BD75-CFF6233545A6}"/>
              </a:ext>
            </a:extLst>
          </p:cNvPr>
          <p:cNvSpPr txBox="1"/>
          <p:nvPr/>
        </p:nvSpPr>
        <p:spPr>
          <a:xfrm>
            <a:off x="2592925" y="3695486"/>
            <a:ext cx="875756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Utilizar distintas bases de distribución nos puede inducir a un error conceptual, imaginemos dos sectores de una empresa productiva donde en uno de ellos  se realizan tareas totalmente manuales y en la otra tareas totalmente automatizadas.</a:t>
            </a:r>
          </a:p>
          <a:p>
            <a:r>
              <a:rPr lang="es-AR" sz="2000" dirty="0"/>
              <a:t>Si utilizamos como base de distribución la MOD estaríamos castigando la sección mano de obra intensiva, ya que absorbería la carga mayor de GIF tales como amortización y seguros de la sección automatizada</a:t>
            </a:r>
          </a:p>
        </p:txBody>
      </p:sp>
    </p:spTree>
    <p:extLst>
      <p:ext uri="{BB962C8B-B14F-4D97-AF65-F5344CB8AC3E}">
        <p14:creationId xmlns:p14="http://schemas.microsoft.com/office/powerpoint/2010/main" val="34551581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B3CDD-3755-44EB-97B4-7F2F0E16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/>
          <a:lstStyle/>
          <a:p>
            <a:r>
              <a:rPr lang="es-AR" b="1" dirty="0"/>
              <a:t>DISTRIBUCION DE GASTOS INDIRECTOS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65F9F-BAE2-496B-B276-F00E3550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BACF2F9-1990-4BFB-B393-D1292C73164A}"/>
              </a:ext>
            </a:extLst>
          </p:cNvPr>
          <p:cNvSpPr txBox="1"/>
          <p:nvPr/>
        </p:nvSpPr>
        <p:spPr>
          <a:xfrm>
            <a:off x="2592925" y="2146852"/>
            <a:ext cx="87575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/>
              <a:t>Para llevar adelante una transformación e instrumentar un sistema  de Costos Basados en Actividades (ABC) se debe analizar el impacto de los GIF respecto de las variables directas.</a:t>
            </a:r>
          </a:p>
          <a:p>
            <a:r>
              <a:rPr lang="es-AR" sz="2000" dirty="0"/>
              <a:t>Cuando la incidencia de los GIF sobre los directos llega a ser relevante, es el momento de cambiar de sistema.</a:t>
            </a:r>
          </a:p>
        </p:txBody>
      </p:sp>
    </p:spTree>
    <p:extLst>
      <p:ext uri="{BB962C8B-B14F-4D97-AF65-F5344CB8AC3E}">
        <p14:creationId xmlns:p14="http://schemas.microsoft.com/office/powerpoint/2010/main" val="23054913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605FF-90AD-4742-843E-E24315A67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244731"/>
            <a:ext cx="8911687" cy="640445"/>
          </a:xfrm>
        </p:spPr>
        <p:txBody>
          <a:bodyPr/>
          <a:lstStyle/>
          <a:p>
            <a:r>
              <a:rPr lang="es-MX" altLang="es-AR" b="1" dirty="0">
                <a:cs typeface="Arial" charset="0"/>
              </a:rPr>
              <a:t>ACTIVITY BASED COSTING (ABC)</a:t>
            </a:r>
            <a:endParaRPr lang="es-AR" b="1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EC1E4A5-0DD6-450C-802D-B4CF0075A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B5BAACDC-6F57-4988-AD56-4D65F55B9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611" y="956779"/>
            <a:ext cx="99060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s-ES" altLang="es-AR" sz="2000" dirty="0">
                <a:latin typeface="+mj-lt"/>
                <a:cs typeface="Arial" charset="0"/>
              </a:rPr>
              <a:t>Mientras los Costos Tradicionales acumulan los Costos en los Centros de Costos, o Áreas Funcionales, y luego los distribuyen entre los productos o servicios (Objetos de Costos), el </a:t>
            </a:r>
            <a:r>
              <a:rPr lang="es-ES" altLang="es-AR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Sistema de Costeo ABC</a:t>
            </a:r>
            <a:r>
              <a:rPr lang="es-ES" altLang="es-AR" sz="2000" dirty="0">
                <a:latin typeface="+mj-lt"/>
                <a:cs typeface="Arial" charset="0"/>
              </a:rPr>
              <a:t> se cuestiona cuáles son las Actividades que en esos centros </a:t>
            </a:r>
            <a:r>
              <a:rPr lang="es-ES" altLang="es-AR" sz="2000" dirty="0" err="1">
                <a:latin typeface="+mj-lt"/>
                <a:cs typeface="Arial" charset="0"/>
              </a:rPr>
              <a:t>ó</a:t>
            </a:r>
            <a:r>
              <a:rPr lang="es-ES" altLang="es-AR" sz="2000" dirty="0">
                <a:latin typeface="+mj-lt"/>
                <a:cs typeface="Arial" charset="0"/>
              </a:rPr>
              <a:t> áreas se realizan, cuánto cuesta cada una de ellas y luego las distribuye entre los Objetos de Costos. Los productos no consumen costos indirectos sino actividades , y las actividades son las que consumen costos indirectos.</a:t>
            </a:r>
          </a:p>
        </p:txBody>
      </p:sp>
      <p:pic>
        <p:nvPicPr>
          <p:cNvPr id="5" name="Picture 14">
            <a:extLst>
              <a:ext uri="{FF2B5EF4-FFF2-40B4-BE49-F238E27FC236}">
                <a16:creationId xmlns:a16="http://schemas.microsoft.com/office/drawing/2014/main" id="{5988E43F-D27D-488A-9E38-85BF60AD1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088" y="3190876"/>
            <a:ext cx="7048500" cy="352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796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3AE8C8A-513E-4076-85D6-CE65EBAA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386244C5-90E4-47C1-91A2-9FA70EF07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388" y="623888"/>
            <a:ext cx="8912225" cy="747712"/>
          </a:xfrm>
        </p:spPr>
        <p:txBody>
          <a:bodyPr/>
          <a:lstStyle/>
          <a:p>
            <a:r>
              <a:rPr lang="es-MX" altLang="es-AR" b="1" dirty="0">
                <a:cs typeface="Arial" charset="0"/>
              </a:rPr>
              <a:t>ACTIVITY BASED COSTING (ABC)</a:t>
            </a:r>
            <a:endParaRPr lang="es-AR" b="1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F8229F5-31D4-4993-ACC5-7C26E2FDB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579" y="1583550"/>
            <a:ext cx="9906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s-ES" altLang="es-AR" sz="20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Proceso</a:t>
            </a:r>
            <a:r>
              <a:rPr lang="es-ES" altLang="es-AR" sz="2000" dirty="0">
                <a:latin typeface="+mj-lt"/>
                <a:cs typeface="Arial" charset="0"/>
              </a:rPr>
              <a:t>:  Conjunto de Actividades interrelacionadas, que reciben insumos y crea un producto de valor para el cliente. 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086248E-96A3-412E-92C9-F3701AB2F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1286" y="2340181"/>
            <a:ext cx="9906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s-ES" altLang="es-AR" sz="20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Actividad</a:t>
            </a:r>
            <a:r>
              <a:rPr lang="es-ES" altLang="es-AR" sz="2000" dirty="0">
                <a:latin typeface="+mj-lt"/>
                <a:cs typeface="Arial" charset="0"/>
              </a:rPr>
              <a:t>:  Es un conjunto de tareas o acciones que generan costos y es necesario realizarlas para satisfacer las necesidades de los clientes internos y externos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DB97EDB6-6B3D-46CC-B04E-E7171B56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1286" y="3579782"/>
            <a:ext cx="9906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" altLang="es-AR" sz="2000" b="1" dirty="0">
                <a:latin typeface="+mj-lt"/>
              </a:rPr>
              <a:t>Clasificación de las actividades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BA5FD3C-0B36-4DAA-A9D8-DA166BC9A4D2}"/>
              </a:ext>
            </a:extLst>
          </p:cNvPr>
          <p:cNvSpPr txBox="1"/>
          <p:nvPr/>
        </p:nvSpPr>
        <p:spPr>
          <a:xfrm>
            <a:off x="2101174" y="4231532"/>
            <a:ext cx="61284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Según las funciones en la empresa:</a:t>
            </a:r>
          </a:p>
          <a:p>
            <a:endParaRPr lang="es-AR" dirty="0"/>
          </a:p>
          <a:p>
            <a:pPr marL="742950" lvl="1" indent="-28575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dirty="0"/>
              <a:t>Investigación y desarrollo</a:t>
            </a:r>
          </a:p>
          <a:p>
            <a:pPr marL="742950" lvl="1" indent="-28575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dirty="0"/>
              <a:t>Logística</a:t>
            </a:r>
          </a:p>
          <a:p>
            <a:pPr marL="742950" lvl="1" indent="-28575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dirty="0"/>
              <a:t>Producción</a:t>
            </a:r>
          </a:p>
          <a:p>
            <a:pPr marL="742950" lvl="1" indent="-28575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dirty="0"/>
              <a:t>Comercialización</a:t>
            </a:r>
          </a:p>
          <a:p>
            <a:pPr marL="742950" lvl="1" indent="-28575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dirty="0"/>
              <a:t>Administración</a:t>
            </a:r>
          </a:p>
          <a:p>
            <a:pPr marL="742950" lvl="1" indent="-285750">
              <a:buClr>
                <a:srgbClr val="92D050"/>
              </a:buClr>
              <a:buFont typeface="Arial" panose="020B0604020202020204" pitchFamily="34" charset="0"/>
              <a:buChar char="•"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95183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3AE8C8A-513E-4076-85D6-CE65EBAA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386244C5-90E4-47C1-91A2-9FA70EF07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388" y="623888"/>
            <a:ext cx="8912225" cy="747712"/>
          </a:xfrm>
        </p:spPr>
        <p:txBody>
          <a:bodyPr/>
          <a:lstStyle/>
          <a:p>
            <a:r>
              <a:rPr lang="es-MX" altLang="es-AR" b="1" dirty="0">
                <a:cs typeface="Arial" charset="0"/>
              </a:rPr>
              <a:t>ACTIVITY BASED COSTING (ABC)</a:t>
            </a:r>
            <a:endParaRPr lang="es-AR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BA5FD3C-0B36-4DAA-A9D8-DA166BC9A4D2}"/>
              </a:ext>
            </a:extLst>
          </p:cNvPr>
          <p:cNvSpPr txBox="1"/>
          <p:nvPr/>
        </p:nvSpPr>
        <p:spPr>
          <a:xfrm>
            <a:off x="2149812" y="1760707"/>
            <a:ext cx="61284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Según su relación con los productos o servicios:</a:t>
            </a:r>
          </a:p>
          <a:p>
            <a:endParaRPr lang="es-AR" dirty="0"/>
          </a:p>
          <a:p>
            <a:pPr marL="742950" lvl="1" indent="-28575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dirty="0"/>
              <a:t>Actividades principales</a:t>
            </a:r>
          </a:p>
          <a:p>
            <a:pPr marL="742950" lvl="1" indent="-28575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dirty="0"/>
              <a:t>Actividades secundarias</a:t>
            </a:r>
          </a:p>
          <a:p>
            <a:pPr marL="742950" lvl="1" indent="-285750">
              <a:buClr>
                <a:srgbClr val="92D050"/>
              </a:buClr>
              <a:buFont typeface="Arial" panose="020B0604020202020204" pitchFamily="34" charset="0"/>
              <a:buChar char="•"/>
            </a:pPr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E102A6EE-B9D5-471A-9869-1B0A70DF7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6677" y="3466078"/>
            <a:ext cx="99060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s-ES" altLang="es-AR" sz="20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Inductor de costo o </a:t>
            </a:r>
            <a:r>
              <a:rPr lang="es-ES" altLang="es-AR" sz="2000" b="1" u="sng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Cost</a:t>
            </a:r>
            <a:r>
              <a:rPr lang="es-ES" altLang="es-AR" sz="20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 Driver</a:t>
            </a:r>
            <a:r>
              <a:rPr lang="es-ES" altLang="es-AR" sz="2000" dirty="0">
                <a:latin typeface="+mj-lt"/>
                <a:cs typeface="Arial" charset="0"/>
              </a:rPr>
              <a:t>:  es el factor que determina la ocurrencia de la actividad.</a:t>
            </a:r>
          </a:p>
          <a:p>
            <a:pPr algn="just" eaLnBrk="1" hangingPunct="1">
              <a:defRPr/>
            </a:pPr>
            <a:r>
              <a:rPr lang="es-ES" altLang="es-AR" sz="2000" dirty="0">
                <a:latin typeface="+mj-lt"/>
                <a:cs typeface="Arial" charset="0"/>
              </a:rPr>
              <a:t>Es la variable mas representativa que llevara el costo unitario de la actividad</a:t>
            </a:r>
          </a:p>
          <a:p>
            <a:pPr algn="just" eaLnBrk="1" hangingPunct="1">
              <a:defRPr/>
            </a:pPr>
            <a:endParaRPr lang="es-ES" altLang="es-AR" sz="2000" dirty="0">
              <a:latin typeface="+mj-lt"/>
              <a:cs typeface="Arial" charset="0"/>
            </a:endParaRPr>
          </a:p>
          <a:p>
            <a:pPr algn="just" eaLnBrk="1" hangingPunct="1">
              <a:defRPr/>
            </a:pPr>
            <a:r>
              <a:rPr lang="es-ES" altLang="es-AR" sz="2000" b="1" dirty="0">
                <a:latin typeface="+mj-lt"/>
                <a:cs typeface="Arial" charset="0"/>
              </a:rPr>
              <a:t>Ej.:   </a:t>
            </a:r>
            <a:r>
              <a:rPr lang="es-ES" altLang="es-AR" sz="2000" dirty="0">
                <a:latin typeface="+mj-lt"/>
                <a:cs typeface="Arial" charset="0"/>
              </a:rPr>
              <a:t>Si definimos en una embotelladora </a:t>
            </a:r>
          </a:p>
          <a:p>
            <a:pPr marL="800100" lvl="1" indent="-342900" algn="just">
              <a:buClr>
                <a:srgbClr val="92D050"/>
              </a:buClr>
              <a:buFont typeface="Arial" panose="020B0604020202020204" pitchFamily="34" charset="0"/>
              <a:buChar char="•"/>
              <a:defRPr/>
            </a:pPr>
            <a:r>
              <a:rPr lang="es-ES" altLang="es-AR" sz="2000" dirty="0">
                <a:latin typeface="+mj-lt"/>
                <a:cs typeface="Arial" charset="0"/>
              </a:rPr>
              <a:t>Actividad: emisión de ordenes de compra</a:t>
            </a:r>
          </a:p>
          <a:p>
            <a:pPr marL="800100" lvl="1" indent="-342900" algn="just">
              <a:buClr>
                <a:srgbClr val="92D050"/>
              </a:buClr>
              <a:buFont typeface="Arial" panose="020B0604020202020204" pitchFamily="34" charset="0"/>
              <a:buChar char="•"/>
              <a:defRPr/>
            </a:pPr>
            <a:r>
              <a:rPr lang="es-ES" altLang="es-AR" sz="2000" dirty="0">
                <a:latin typeface="+mj-lt"/>
                <a:cs typeface="Arial" charset="0"/>
              </a:rPr>
              <a:t>Inductor de costos (</a:t>
            </a:r>
            <a:r>
              <a:rPr lang="es-ES" altLang="es-AR" sz="2000" dirty="0" err="1">
                <a:latin typeface="+mj-lt"/>
                <a:cs typeface="Arial" charset="0"/>
              </a:rPr>
              <a:t>cost</a:t>
            </a:r>
            <a:r>
              <a:rPr lang="es-ES" altLang="es-AR" sz="2000" dirty="0">
                <a:latin typeface="+mj-lt"/>
                <a:cs typeface="Arial" charset="0"/>
              </a:rPr>
              <a:t> driver): Numero de ordenes de compra emitidas</a:t>
            </a:r>
          </a:p>
        </p:txBody>
      </p:sp>
    </p:spTree>
    <p:extLst>
      <p:ext uri="{BB962C8B-B14F-4D97-AF65-F5344CB8AC3E}">
        <p14:creationId xmlns:p14="http://schemas.microsoft.com/office/powerpoint/2010/main" val="32359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B86694-2BAA-49AB-B204-0527E7482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345" y="136977"/>
            <a:ext cx="9756843" cy="1199246"/>
          </a:xfrm>
        </p:spPr>
        <p:txBody>
          <a:bodyPr>
            <a:normAutofit fontScale="90000"/>
          </a:bodyPr>
          <a:lstStyle/>
          <a:p>
            <a:pPr algn="ctr"/>
            <a:r>
              <a:rPr lang="es-MX" altLang="es-AR" sz="4000" b="1" dirty="0">
                <a:effectLst>
                  <a:outerShdw blurRad="38100" dist="38100" dir="2700000" algn="tl">
                    <a:srgbClr val="C0C0C0"/>
                  </a:outerShdw>
                </a:effectLst>
                <a:cs typeface="Arial" charset="0"/>
              </a:rPr>
              <a:t>METODO TRADICIONAL DE DISTRIBUCION DE GASTOS INDIRECTOS</a:t>
            </a:r>
            <a:br>
              <a:rPr lang="es-MX" altLang="es-AR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</a:br>
            <a:endParaRPr lang="es-AR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B70ED4-0020-491F-866B-44551654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Line 11">
            <a:extLst>
              <a:ext uri="{FF2B5EF4-FFF2-40B4-BE49-F238E27FC236}">
                <a16:creationId xmlns:a16="http://schemas.microsoft.com/office/drawing/2014/main" id="{579A3CE4-8963-4315-B4A5-D4698DF24E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13942" y="3435350"/>
            <a:ext cx="422275" cy="15287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5" name="Line 12">
            <a:extLst>
              <a:ext uri="{FF2B5EF4-FFF2-40B4-BE49-F238E27FC236}">
                <a16:creationId xmlns:a16="http://schemas.microsoft.com/office/drawing/2014/main" id="{77859923-61AA-4F13-87D8-90DB84F102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0229" y="3435350"/>
            <a:ext cx="1885950" cy="15287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586970FD-5F34-458E-919A-F9AEDCD51E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5991" y="3435350"/>
            <a:ext cx="1239838" cy="15287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7" name="Line 14">
            <a:extLst>
              <a:ext uri="{FF2B5EF4-FFF2-40B4-BE49-F238E27FC236}">
                <a16:creationId xmlns:a16="http://schemas.microsoft.com/office/drawing/2014/main" id="{971A91FD-475D-4A28-B692-7D51BD23C3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1166" y="3435350"/>
            <a:ext cx="1873250" cy="15287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8" name="Line 15">
            <a:extLst>
              <a:ext uri="{FF2B5EF4-FFF2-40B4-BE49-F238E27FC236}">
                <a16:creationId xmlns:a16="http://schemas.microsoft.com/office/drawing/2014/main" id="{DFA56B26-92E2-41A3-AAFB-5BA03CEB42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12479" y="3435351"/>
            <a:ext cx="1079500" cy="15589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3" name="Oval 20">
            <a:extLst>
              <a:ext uri="{FF2B5EF4-FFF2-40B4-BE49-F238E27FC236}">
                <a16:creationId xmlns:a16="http://schemas.microsoft.com/office/drawing/2014/main" id="{1207D9A2-BAD6-49A5-AE7F-64E3A2371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7780" y="4965701"/>
            <a:ext cx="581025" cy="454025"/>
          </a:xfrm>
          <a:prstGeom prst="ellipse">
            <a:avLst/>
          </a:prstGeom>
          <a:solidFill>
            <a:srgbClr val="FF0000">
              <a:alpha val="50195"/>
            </a:srgbClr>
          </a:solidFill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4" name="Oval 21">
            <a:extLst>
              <a:ext uri="{FF2B5EF4-FFF2-40B4-BE49-F238E27FC236}">
                <a16:creationId xmlns:a16="http://schemas.microsoft.com/office/drawing/2014/main" id="{F82171E3-7635-4EDE-BB3E-0145025F8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2192" y="4965701"/>
            <a:ext cx="582613" cy="454025"/>
          </a:xfrm>
          <a:prstGeom prst="ellipse">
            <a:avLst/>
          </a:prstGeom>
          <a:solidFill>
            <a:srgbClr val="FF0000">
              <a:alpha val="50195"/>
            </a:srgbClr>
          </a:solidFill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5" name="Oval 22">
            <a:extLst>
              <a:ext uri="{FF2B5EF4-FFF2-40B4-BE49-F238E27FC236}">
                <a16:creationId xmlns:a16="http://schemas.microsoft.com/office/drawing/2014/main" id="{AC133DE1-CA59-45DE-9D7E-8A743E065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1367" y="4965701"/>
            <a:ext cx="582613" cy="454025"/>
          </a:xfrm>
          <a:prstGeom prst="ellipse">
            <a:avLst/>
          </a:prstGeom>
          <a:solidFill>
            <a:srgbClr val="FF0000">
              <a:alpha val="50195"/>
            </a:srgbClr>
          </a:solidFill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6" name="Oval 23">
            <a:extLst>
              <a:ext uri="{FF2B5EF4-FFF2-40B4-BE49-F238E27FC236}">
                <a16:creationId xmlns:a16="http://schemas.microsoft.com/office/drawing/2014/main" id="{CB2D5A99-3BD8-48B7-ADD2-312AD091B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8954" y="4967288"/>
            <a:ext cx="582612" cy="454025"/>
          </a:xfrm>
          <a:prstGeom prst="ellipse">
            <a:avLst/>
          </a:prstGeom>
          <a:solidFill>
            <a:srgbClr val="FF0000">
              <a:alpha val="50195"/>
            </a:srgbClr>
          </a:solidFill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26" name="Text Box 33">
            <a:extLst>
              <a:ext uri="{FF2B5EF4-FFF2-40B4-BE49-F238E27FC236}">
                <a16:creationId xmlns:a16="http://schemas.microsoft.com/office/drawing/2014/main" id="{14C2208A-0309-4C55-88E6-7F4108D95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5268" y="4832350"/>
            <a:ext cx="2498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ES" altLang="es-A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PRODUCTOS O SERVICIOS</a:t>
            </a:r>
          </a:p>
          <a:p>
            <a:endParaRPr lang="es-ES" altLang="es-AR" sz="2400" dirty="0">
              <a:latin typeface="Times New Roman" panose="02020603050405020304" pitchFamily="18" charset="0"/>
            </a:endParaRPr>
          </a:p>
        </p:txBody>
      </p:sp>
      <p:sp>
        <p:nvSpPr>
          <p:cNvPr id="29" name="Text Box 37">
            <a:extLst>
              <a:ext uri="{FF2B5EF4-FFF2-40B4-BE49-F238E27FC236}">
                <a16:creationId xmlns:a16="http://schemas.microsoft.com/office/drawing/2014/main" id="{9C4713A4-09A7-4235-B953-8F2EEE946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4280" y="3105150"/>
            <a:ext cx="1584325" cy="323850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s-AR" altLang="es-AR" sz="15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cs typeface="Arial" charset="0"/>
              </a:rPr>
              <a:t>Finanzas</a:t>
            </a:r>
            <a:endParaRPr lang="es-ES" altLang="es-AR" sz="1500" b="1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cs typeface="Arial" charset="0"/>
            </a:endParaRPr>
          </a:p>
        </p:txBody>
      </p:sp>
      <p:sp>
        <p:nvSpPr>
          <p:cNvPr id="30" name="Text Box 38">
            <a:extLst>
              <a:ext uri="{FF2B5EF4-FFF2-40B4-BE49-F238E27FC236}">
                <a16:creationId xmlns:a16="http://schemas.microsoft.com/office/drawing/2014/main" id="{6539757A-7145-453D-8ED3-2694CA44F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7079" y="3105150"/>
            <a:ext cx="1655762" cy="323850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s-AR" altLang="es-AR" sz="15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cs typeface="Arial" charset="0"/>
              </a:rPr>
              <a:t>Administración</a:t>
            </a:r>
            <a:endParaRPr lang="es-ES" altLang="es-AR" sz="1500" b="1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cs typeface="Arial" charset="0"/>
            </a:endParaRPr>
          </a:p>
        </p:txBody>
      </p:sp>
      <p:sp>
        <p:nvSpPr>
          <p:cNvPr id="31" name="Text Box 39">
            <a:extLst>
              <a:ext uri="{FF2B5EF4-FFF2-40B4-BE49-F238E27FC236}">
                <a16:creationId xmlns:a16="http://schemas.microsoft.com/office/drawing/2014/main" id="{18FDDDE1-D5DD-4A95-9786-E293B6919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604" y="3105150"/>
            <a:ext cx="1655762" cy="323850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s-AR" altLang="es-AR" sz="15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cs typeface="Arial" charset="0"/>
              </a:rPr>
              <a:t>Producción</a:t>
            </a:r>
            <a:endParaRPr lang="es-ES" altLang="es-AR" sz="1500" b="1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cs typeface="Arial" charset="0"/>
            </a:endParaRPr>
          </a:p>
        </p:txBody>
      </p:sp>
      <p:sp>
        <p:nvSpPr>
          <p:cNvPr id="32" name="Text Box 40">
            <a:extLst>
              <a:ext uri="{FF2B5EF4-FFF2-40B4-BE49-F238E27FC236}">
                <a16:creationId xmlns:a16="http://schemas.microsoft.com/office/drawing/2014/main" id="{5D1536F7-6B64-44E3-ADBF-84A096051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0804" y="3105150"/>
            <a:ext cx="1873250" cy="323850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s-AR" altLang="es-AR" sz="15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cs typeface="Arial" charset="0"/>
              </a:rPr>
              <a:t>Comercialización</a:t>
            </a:r>
            <a:endParaRPr lang="es-ES" altLang="es-AR" sz="1500" b="1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cs typeface="Arial" charset="0"/>
            </a:endParaRPr>
          </a:p>
        </p:txBody>
      </p:sp>
      <p:sp>
        <p:nvSpPr>
          <p:cNvPr id="33" name="Text Box 41">
            <a:extLst>
              <a:ext uri="{FF2B5EF4-FFF2-40B4-BE49-F238E27FC236}">
                <a16:creationId xmlns:a16="http://schemas.microsoft.com/office/drawing/2014/main" id="{C0277099-86BD-4A14-BD33-C51C3F087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604" y="1574800"/>
            <a:ext cx="6911975" cy="330200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ES" altLang="es-AR" sz="1500" b="1" dirty="0">
                <a:latin typeface="+mj-lt"/>
              </a:rPr>
              <a:t>GASTOS GENERALES</a:t>
            </a:r>
          </a:p>
        </p:txBody>
      </p:sp>
      <p:sp>
        <p:nvSpPr>
          <p:cNvPr id="34" name="Line 42">
            <a:extLst>
              <a:ext uri="{FF2B5EF4-FFF2-40B4-BE49-F238E27FC236}">
                <a16:creationId xmlns:a16="http://schemas.microsoft.com/office/drawing/2014/main" id="{6F084DE6-F4B0-4D39-B9F6-3D9387F3CB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5765" y="1905001"/>
            <a:ext cx="1" cy="11937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35" name="Line 43">
            <a:extLst>
              <a:ext uri="{FF2B5EF4-FFF2-40B4-BE49-F238E27FC236}">
                <a16:creationId xmlns:a16="http://schemas.microsoft.com/office/drawing/2014/main" id="{59F35641-3860-416E-9368-356894C431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64552" y="1905001"/>
            <a:ext cx="1" cy="11937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36" name="Line 44">
            <a:extLst>
              <a:ext uri="{FF2B5EF4-FFF2-40B4-BE49-F238E27FC236}">
                <a16:creationId xmlns:a16="http://schemas.microsoft.com/office/drawing/2014/main" id="{E900115B-E8CE-4116-9616-B2855C4DA9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36215" y="1905001"/>
            <a:ext cx="1" cy="119379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37" name="Line 45">
            <a:extLst>
              <a:ext uri="{FF2B5EF4-FFF2-40B4-BE49-F238E27FC236}">
                <a16:creationId xmlns:a16="http://schemas.microsoft.com/office/drawing/2014/main" id="{637B29D9-5C2E-4BF3-BB17-EBAC147F76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665002" y="1905001"/>
            <a:ext cx="1" cy="120014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38" name="Text Box 33">
            <a:extLst>
              <a:ext uri="{FF2B5EF4-FFF2-40B4-BE49-F238E27FC236}">
                <a16:creationId xmlns:a16="http://schemas.microsoft.com/office/drawing/2014/main" id="{D435F989-28E4-4553-8A64-0EA4CE1EF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8291" y="4699001"/>
            <a:ext cx="2498725" cy="1199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ES" altLang="es-A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En función de una variable directa del producto</a:t>
            </a:r>
          </a:p>
          <a:p>
            <a:endParaRPr lang="es-ES" altLang="es-AR" sz="2400" dirty="0">
              <a:latin typeface="Times New Roman" panose="02020603050405020304" pitchFamily="18" charset="0"/>
            </a:endParaRPr>
          </a:p>
        </p:txBody>
      </p:sp>
      <p:sp>
        <p:nvSpPr>
          <p:cNvPr id="39" name="Cerrar llave 38">
            <a:extLst>
              <a:ext uri="{FF2B5EF4-FFF2-40B4-BE49-F238E27FC236}">
                <a16:creationId xmlns:a16="http://schemas.microsoft.com/office/drawing/2014/main" id="{D3961B62-295B-4E12-A8CA-B0A1F7D5DC7E}"/>
              </a:ext>
            </a:extLst>
          </p:cNvPr>
          <p:cNvSpPr/>
          <p:nvPr/>
        </p:nvSpPr>
        <p:spPr>
          <a:xfrm>
            <a:off x="9181707" y="4832350"/>
            <a:ext cx="302321" cy="72072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3074116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26" grpId="0"/>
      <p:bldP spid="29" grpId="0" animBg="1"/>
      <p:bldP spid="30" grpId="0" animBg="1"/>
      <p:bldP spid="31" grpId="0" animBg="1"/>
      <p:bldP spid="32" grpId="0" animBg="1"/>
      <p:bldP spid="33" grpId="0" animBg="1"/>
      <p:bldP spid="3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B86694-2BAA-49AB-B204-0527E7482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797" y="200929"/>
            <a:ext cx="8911687" cy="640445"/>
          </a:xfrm>
        </p:spPr>
        <p:txBody>
          <a:bodyPr>
            <a:normAutofit fontScale="90000"/>
          </a:bodyPr>
          <a:lstStyle/>
          <a:p>
            <a:r>
              <a:rPr lang="es-MX" altLang="es-AR" sz="4000" b="1" dirty="0">
                <a:effectLst>
                  <a:outerShdw blurRad="38100" dist="38100" dir="2700000" algn="tl">
                    <a:srgbClr val="C0C0C0"/>
                  </a:outerShdw>
                </a:effectLst>
                <a:cs typeface="Arial" charset="0"/>
              </a:rPr>
              <a:t>ESQUEMA DEL ABC SIMPLE</a:t>
            </a:r>
            <a:br>
              <a:rPr lang="es-MX" altLang="es-AR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rial" charset="0"/>
              </a:rPr>
            </a:br>
            <a:endParaRPr lang="es-AR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B70ED4-0020-491F-866B-44551654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Line 11">
            <a:extLst>
              <a:ext uri="{FF2B5EF4-FFF2-40B4-BE49-F238E27FC236}">
                <a16:creationId xmlns:a16="http://schemas.microsoft.com/office/drawing/2014/main" id="{579A3CE4-8963-4315-B4A5-D4698DF24E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42504" y="2409825"/>
            <a:ext cx="422275" cy="15287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5" name="Line 12">
            <a:extLst>
              <a:ext uri="{FF2B5EF4-FFF2-40B4-BE49-F238E27FC236}">
                <a16:creationId xmlns:a16="http://schemas.microsoft.com/office/drawing/2014/main" id="{77859923-61AA-4F13-87D8-90DB84F102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8791" y="2409825"/>
            <a:ext cx="1885950" cy="15287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586970FD-5F34-458E-919A-F9AEDCD51E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4553" y="2409825"/>
            <a:ext cx="1239838" cy="15287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7" name="Line 14">
            <a:extLst>
              <a:ext uri="{FF2B5EF4-FFF2-40B4-BE49-F238E27FC236}">
                <a16:creationId xmlns:a16="http://schemas.microsoft.com/office/drawing/2014/main" id="{971A91FD-475D-4A28-B692-7D51BD23C3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59728" y="2409825"/>
            <a:ext cx="1873250" cy="15287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8" name="Line 15">
            <a:extLst>
              <a:ext uri="{FF2B5EF4-FFF2-40B4-BE49-F238E27FC236}">
                <a16:creationId xmlns:a16="http://schemas.microsoft.com/office/drawing/2014/main" id="{DFA56B26-92E2-41A3-AAFB-5BA03CEB42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41041" y="2409826"/>
            <a:ext cx="1079500" cy="15589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9" name="Line 16">
            <a:extLst>
              <a:ext uri="{FF2B5EF4-FFF2-40B4-BE49-F238E27FC236}">
                <a16:creationId xmlns:a16="http://schemas.microsoft.com/office/drawing/2014/main" id="{0AEC9E14-6A23-459D-B90A-698983D5D0E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8904" y="4395788"/>
            <a:ext cx="436563" cy="15906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0" name="Line 17">
            <a:extLst>
              <a:ext uri="{FF2B5EF4-FFF2-40B4-BE49-F238E27FC236}">
                <a16:creationId xmlns:a16="http://schemas.microsoft.com/office/drawing/2014/main" id="{77AB3195-42CE-43B7-A3E6-31FE66EEED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80291" y="4395788"/>
            <a:ext cx="436562" cy="15906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1" name="Line 18">
            <a:extLst>
              <a:ext uri="{FF2B5EF4-FFF2-40B4-BE49-F238E27FC236}">
                <a16:creationId xmlns:a16="http://schemas.microsoft.com/office/drawing/2014/main" id="{11F65F20-C928-4F15-A672-7EC000D7A8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3928" y="4395788"/>
            <a:ext cx="2325688" cy="15906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2" name="Line 19">
            <a:extLst>
              <a:ext uri="{FF2B5EF4-FFF2-40B4-BE49-F238E27FC236}">
                <a16:creationId xmlns:a16="http://schemas.microsoft.com/office/drawing/2014/main" id="{6238E437-7D9A-4FA5-91D1-7B01F0DA5ED1}"/>
              </a:ext>
            </a:extLst>
          </p:cNvPr>
          <p:cNvSpPr>
            <a:spLocks noChangeShapeType="1"/>
          </p:cNvSpPr>
          <p:nvPr/>
        </p:nvSpPr>
        <p:spPr bwMode="auto">
          <a:xfrm>
            <a:off x="8469617" y="4395788"/>
            <a:ext cx="581025" cy="15906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3" name="Oval 20">
            <a:extLst>
              <a:ext uri="{FF2B5EF4-FFF2-40B4-BE49-F238E27FC236}">
                <a16:creationId xmlns:a16="http://schemas.microsoft.com/office/drawing/2014/main" id="{1207D9A2-BAD6-49A5-AE7F-64E3A2371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342" y="3940176"/>
            <a:ext cx="581025" cy="454025"/>
          </a:xfrm>
          <a:prstGeom prst="ellipse">
            <a:avLst/>
          </a:prstGeom>
          <a:solidFill>
            <a:srgbClr val="FF0000">
              <a:alpha val="50195"/>
            </a:srgbClr>
          </a:solidFill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4" name="Oval 21">
            <a:extLst>
              <a:ext uri="{FF2B5EF4-FFF2-40B4-BE49-F238E27FC236}">
                <a16:creationId xmlns:a16="http://schemas.microsoft.com/office/drawing/2014/main" id="{F82171E3-7635-4EDE-BB3E-0145025F8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0754" y="3940176"/>
            <a:ext cx="582613" cy="454025"/>
          </a:xfrm>
          <a:prstGeom prst="ellipse">
            <a:avLst/>
          </a:prstGeom>
          <a:solidFill>
            <a:srgbClr val="FF0000">
              <a:alpha val="50195"/>
            </a:srgbClr>
          </a:solidFill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5" name="Oval 22">
            <a:extLst>
              <a:ext uri="{FF2B5EF4-FFF2-40B4-BE49-F238E27FC236}">
                <a16:creationId xmlns:a16="http://schemas.microsoft.com/office/drawing/2014/main" id="{AC133DE1-CA59-45DE-9D7E-8A743E065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9929" y="3940176"/>
            <a:ext cx="582613" cy="454025"/>
          </a:xfrm>
          <a:prstGeom prst="ellipse">
            <a:avLst/>
          </a:prstGeom>
          <a:solidFill>
            <a:srgbClr val="FF0000">
              <a:alpha val="50195"/>
            </a:srgbClr>
          </a:solidFill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6" name="Oval 23">
            <a:extLst>
              <a:ext uri="{FF2B5EF4-FFF2-40B4-BE49-F238E27FC236}">
                <a16:creationId xmlns:a16="http://schemas.microsoft.com/office/drawing/2014/main" id="{CB2D5A99-3BD8-48B7-ADD2-312AD091B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7516" y="3941763"/>
            <a:ext cx="582612" cy="454025"/>
          </a:xfrm>
          <a:prstGeom prst="ellipse">
            <a:avLst/>
          </a:prstGeom>
          <a:solidFill>
            <a:srgbClr val="FF0000">
              <a:alpha val="50195"/>
            </a:srgbClr>
          </a:solidFill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7" name="Oval 24">
            <a:extLst>
              <a:ext uri="{FF2B5EF4-FFF2-40B4-BE49-F238E27FC236}">
                <a16:creationId xmlns:a16="http://schemas.microsoft.com/office/drawing/2014/main" id="{1153D89B-2609-44C8-A622-ECABB796A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5779" y="5986463"/>
            <a:ext cx="582613" cy="455613"/>
          </a:xfrm>
          <a:prstGeom prst="ellipse">
            <a:avLst/>
          </a:prstGeom>
          <a:solidFill>
            <a:srgbClr val="0000FF">
              <a:alpha val="50195"/>
            </a:srgbClr>
          </a:solidFill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8" name="Oval 25">
            <a:extLst>
              <a:ext uri="{FF2B5EF4-FFF2-40B4-BE49-F238E27FC236}">
                <a16:creationId xmlns:a16="http://schemas.microsoft.com/office/drawing/2014/main" id="{2BB96B4D-F0A1-43F0-99FF-B8200BA13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3366" y="5986463"/>
            <a:ext cx="582612" cy="455613"/>
          </a:xfrm>
          <a:prstGeom prst="ellipse">
            <a:avLst/>
          </a:prstGeom>
          <a:solidFill>
            <a:srgbClr val="0000FF">
              <a:alpha val="50195"/>
            </a:srgbClr>
          </a:solidFill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19" name="Oval 26">
            <a:extLst>
              <a:ext uri="{FF2B5EF4-FFF2-40B4-BE49-F238E27FC236}">
                <a16:creationId xmlns:a16="http://schemas.microsoft.com/office/drawing/2014/main" id="{1FD3DFDC-6715-4F55-86E6-2C7F91AF8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954" y="5986463"/>
            <a:ext cx="582613" cy="455613"/>
          </a:xfrm>
          <a:prstGeom prst="ellipse">
            <a:avLst/>
          </a:prstGeom>
          <a:solidFill>
            <a:srgbClr val="0000FF">
              <a:alpha val="50195"/>
            </a:srgbClr>
          </a:solidFill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20" name="Oval 27">
            <a:extLst>
              <a:ext uri="{FF2B5EF4-FFF2-40B4-BE49-F238E27FC236}">
                <a16:creationId xmlns:a16="http://schemas.microsoft.com/office/drawing/2014/main" id="{630D1971-97F1-4192-828D-27A3511D4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8541" y="5986463"/>
            <a:ext cx="582612" cy="455613"/>
          </a:xfrm>
          <a:prstGeom prst="ellipse">
            <a:avLst/>
          </a:prstGeom>
          <a:solidFill>
            <a:srgbClr val="0000FF">
              <a:alpha val="50195"/>
            </a:srgbClr>
          </a:solidFill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21" name="Oval 28">
            <a:extLst>
              <a:ext uri="{FF2B5EF4-FFF2-40B4-BE49-F238E27FC236}">
                <a16:creationId xmlns:a16="http://schemas.microsoft.com/office/drawing/2014/main" id="{EF81C587-EC22-4BC2-94D6-50B0AF091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9779" y="5986463"/>
            <a:ext cx="582613" cy="455613"/>
          </a:xfrm>
          <a:prstGeom prst="ellipse">
            <a:avLst/>
          </a:prstGeom>
          <a:solidFill>
            <a:srgbClr val="0000FF">
              <a:alpha val="50195"/>
            </a:srgbClr>
          </a:solidFill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22" name="Line 29">
            <a:extLst>
              <a:ext uri="{FF2B5EF4-FFF2-40B4-BE49-F238E27FC236}">
                <a16:creationId xmlns:a16="http://schemas.microsoft.com/office/drawing/2014/main" id="{1726D2A4-CB26-4A02-883A-D78855C283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97879" y="4395788"/>
            <a:ext cx="436563" cy="15906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3" name="Line 30">
            <a:extLst>
              <a:ext uri="{FF2B5EF4-FFF2-40B4-BE49-F238E27FC236}">
                <a16:creationId xmlns:a16="http://schemas.microsoft.com/office/drawing/2014/main" id="{7985F0EB-FE7B-4B7A-A058-22ECFA6BC7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5466" y="4395788"/>
            <a:ext cx="436562" cy="15906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4" name="Text Box 31">
            <a:extLst>
              <a:ext uri="{FF2B5EF4-FFF2-40B4-BE49-F238E27FC236}">
                <a16:creationId xmlns:a16="http://schemas.microsoft.com/office/drawing/2014/main" id="{715D69E1-6514-44FD-9F52-5687CEFC1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6042" y="3921125"/>
            <a:ext cx="2498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ES" altLang="es-AR" sz="2400" b="1">
                <a:solidFill>
                  <a:srgbClr val="FF0000"/>
                </a:solidFill>
                <a:latin typeface="+mj-lt"/>
              </a:rPr>
              <a:t>ACTIVIDADES</a:t>
            </a:r>
            <a:endParaRPr lang="es-ES" altLang="es-AR" sz="2400">
              <a:latin typeface="+mj-lt"/>
            </a:endParaRPr>
          </a:p>
        </p:txBody>
      </p:sp>
      <p:sp>
        <p:nvSpPr>
          <p:cNvPr id="25" name="Text Box 32">
            <a:extLst>
              <a:ext uri="{FF2B5EF4-FFF2-40B4-BE49-F238E27FC236}">
                <a16:creationId xmlns:a16="http://schemas.microsoft.com/office/drawing/2014/main" id="{F4FBA2BB-FE4E-4905-95FC-80F2C6C6A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604" y="4784726"/>
            <a:ext cx="2881313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ES" altLang="es-AR" sz="2400" b="1">
                <a:latin typeface="+mj-lt"/>
              </a:rPr>
              <a:t>COST DRIVERS DE ACTIVIDADES</a:t>
            </a:r>
            <a:endParaRPr lang="es-ES" altLang="es-AR" sz="2400">
              <a:latin typeface="+mj-lt"/>
            </a:endParaRPr>
          </a:p>
        </p:txBody>
      </p:sp>
      <p:sp>
        <p:nvSpPr>
          <p:cNvPr id="26" name="Text Box 33">
            <a:extLst>
              <a:ext uri="{FF2B5EF4-FFF2-40B4-BE49-F238E27FC236}">
                <a16:creationId xmlns:a16="http://schemas.microsoft.com/office/drawing/2014/main" id="{14C2208A-0309-4C55-88E6-7F4108D95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504" y="5794376"/>
            <a:ext cx="24987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ES" altLang="es-AR" sz="2400" b="1">
                <a:solidFill>
                  <a:srgbClr val="0000FF"/>
                </a:solidFill>
                <a:latin typeface="+mj-lt"/>
              </a:rPr>
              <a:t>PRODUCTOS O SERVICIOS</a:t>
            </a:r>
          </a:p>
          <a:p>
            <a:endParaRPr lang="es-ES" altLang="es-AR" sz="2400">
              <a:latin typeface="+mj-lt"/>
            </a:endParaRPr>
          </a:p>
        </p:txBody>
      </p:sp>
      <p:sp>
        <p:nvSpPr>
          <p:cNvPr id="27" name="Text Box 34">
            <a:extLst>
              <a:ext uri="{FF2B5EF4-FFF2-40B4-BE49-F238E27FC236}">
                <a16:creationId xmlns:a16="http://schemas.microsoft.com/office/drawing/2014/main" id="{AC93B3AE-13DE-4453-B5AC-986654CBC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579" y="2770188"/>
            <a:ext cx="2906713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ES" altLang="es-AR" sz="2400" b="1" dirty="0">
                <a:latin typeface="+mj-lt"/>
              </a:rPr>
              <a:t>COST DRIVERS </a:t>
            </a:r>
          </a:p>
          <a:p>
            <a:pPr algn="ctr"/>
            <a:r>
              <a:rPr lang="es-ES" altLang="es-AR" sz="2400" b="1" dirty="0">
                <a:latin typeface="+mj-lt"/>
              </a:rPr>
              <a:t>DE RECURSOS</a:t>
            </a:r>
            <a:endParaRPr lang="es-ES" altLang="es-AR" sz="2400" dirty="0">
              <a:latin typeface="+mj-lt"/>
            </a:endParaRPr>
          </a:p>
        </p:txBody>
      </p:sp>
      <p:sp>
        <p:nvSpPr>
          <p:cNvPr id="28" name="Line 36">
            <a:extLst>
              <a:ext uri="{FF2B5EF4-FFF2-40B4-BE49-F238E27FC236}">
                <a16:creationId xmlns:a16="http://schemas.microsoft.com/office/drawing/2014/main" id="{A0D46CB2-50B2-4287-A193-25B9E8B9EB3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6491" y="4425951"/>
            <a:ext cx="436562" cy="15906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9" name="Text Box 37">
            <a:extLst>
              <a:ext uri="{FF2B5EF4-FFF2-40B4-BE49-F238E27FC236}">
                <a16:creationId xmlns:a16="http://schemas.microsoft.com/office/drawing/2014/main" id="{9C4713A4-09A7-4235-B953-8F2EEE946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2842" y="2079625"/>
            <a:ext cx="1584325" cy="323850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s-AR" altLang="es-AR" sz="1500" b="1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cs typeface="Arial" charset="0"/>
              </a:rPr>
              <a:t>Finanzas</a:t>
            </a:r>
            <a:endParaRPr lang="es-ES" altLang="es-AR" sz="1500" b="1">
              <a:effectLst>
                <a:outerShdw blurRad="38100" dist="38100" dir="2700000" algn="tl">
                  <a:srgbClr val="FFFFFF"/>
                </a:outerShdw>
              </a:effectLst>
              <a:latin typeface="+mj-lt"/>
              <a:cs typeface="Arial" charset="0"/>
            </a:endParaRPr>
          </a:p>
        </p:txBody>
      </p:sp>
      <p:sp>
        <p:nvSpPr>
          <p:cNvPr id="30" name="Text Box 38">
            <a:extLst>
              <a:ext uri="{FF2B5EF4-FFF2-40B4-BE49-F238E27FC236}">
                <a16:creationId xmlns:a16="http://schemas.microsoft.com/office/drawing/2014/main" id="{6539757A-7145-453D-8ED3-2694CA44F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5641" y="2079625"/>
            <a:ext cx="1655762" cy="323850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s-AR" altLang="es-AR" sz="1500" b="1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cs typeface="Arial" charset="0"/>
              </a:rPr>
              <a:t>Administración</a:t>
            </a:r>
            <a:endParaRPr lang="es-ES" altLang="es-AR" sz="1500" b="1">
              <a:effectLst>
                <a:outerShdw blurRad="38100" dist="38100" dir="2700000" algn="tl">
                  <a:srgbClr val="FFFFFF"/>
                </a:outerShdw>
              </a:effectLst>
              <a:latin typeface="+mj-lt"/>
              <a:cs typeface="Arial" charset="0"/>
            </a:endParaRPr>
          </a:p>
        </p:txBody>
      </p:sp>
      <p:sp>
        <p:nvSpPr>
          <p:cNvPr id="31" name="Text Box 39">
            <a:extLst>
              <a:ext uri="{FF2B5EF4-FFF2-40B4-BE49-F238E27FC236}">
                <a16:creationId xmlns:a16="http://schemas.microsoft.com/office/drawing/2014/main" id="{18FDDDE1-D5DD-4A95-9786-E293B6919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2166" y="2079625"/>
            <a:ext cx="1655762" cy="323850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s-AR" altLang="es-AR" sz="15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cs typeface="Arial" charset="0"/>
              </a:rPr>
              <a:t>Producción</a:t>
            </a:r>
            <a:endParaRPr lang="es-ES" altLang="es-AR" sz="1500" b="1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cs typeface="Arial" charset="0"/>
            </a:endParaRPr>
          </a:p>
        </p:txBody>
      </p:sp>
      <p:sp>
        <p:nvSpPr>
          <p:cNvPr id="32" name="Text Box 40">
            <a:extLst>
              <a:ext uri="{FF2B5EF4-FFF2-40B4-BE49-F238E27FC236}">
                <a16:creationId xmlns:a16="http://schemas.microsoft.com/office/drawing/2014/main" id="{5D1536F7-6B64-44E3-ADBF-84A096051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366" y="2079625"/>
            <a:ext cx="1873250" cy="323850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s-AR" altLang="es-AR" sz="15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cs typeface="Arial" charset="0"/>
              </a:rPr>
              <a:t>Comercialización</a:t>
            </a:r>
            <a:endParaRPr lang="es-ES" altLang="es-AR" sz="1500" b="1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cs typeface="Arial" charset="0"/>
            </a:endParaRPr>
          </a:p>
        </p:txBody>
      </p:sp>
      <p:sp>
        <p:nvSpPr>
          <p:cNvPr id="33" name="Text Box 41">
            <a:extLst>
              <a:ext uri="{FF2B5EF4-FFF2-40B4-BE49-F238E27FC236}">
                <a16:creationId xmlns:a16="http://schemas.microsoft.com/office/drawing/2014/main" id="{C0277099-86BD-4A14-BD33-C51C3F087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604" y="1574800"/>
            <a:ext cx="6911975" cy="330200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ES" altLang="es-AR" sz="1500" b="1" dirty="0">
                <a:latin typeface="+mj-lt"/>
              </a:rPr>
              <a:t>GASTOS GENERALES</a:t>
            </a:r>
          </a:p>
        </p:txBody>
      </p:sp>
      <p:sp>
        <p:nvSpPr>
          <p:cNvPr id="34" name="Line 42">
            <a:extLst>
              <a:ext uri="{FF2B5EF4-FFF2-40B4-BE49-F238E27FC236}">
                <a16:creationId xmlns:a16="http://schemas.microsoft.com/office/drawing/2014/main" id="{6F084DE6-F4B0-4D39-B9F6-3D9387F3CB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5766" y="1905001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35" name="Line 43">
            <a:extLst>
              <a:ext uri="{FF2B5EF4-FFF2-40B4-BE49-F238E27FC236}">
                <a16:creationId xmlns:a16="http://schemas.microsoft.com/office/drawing/2014/main" id="{59F35641-3860-416E-9368-356894C43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4553" y="1905001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36" name="Line 44">
            <a:extLst>
              <a:ext uri="{FF2B5EF4-FFF2-40B4-BE49-F238E27FC236}">
                <a16:creationId xmlns:a16="http://schemas.microsoft.com/office/drawing/2014/main" id="{E900115B-E8CE-4116-9616-B2855C4DA9D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6216" y="1905001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37" name="Line 45">
            <a:extLst>
              <a:ext uri="{FF2B5EF4-FFF2-40B4-BE49-F238E27FC236}">
                <a16:creationId xmlns:a16="http://schemas.microsoft.com/office/drawing/2014/main" id="{637B29D9-5C2E-4BF3-BB17-EBAC147F76E4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5003" y="1905001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5553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4" grpId="0"/>
      <p:bldP spid="25" grpId="0"/>
      <p:bldP spid="26" grpId="0"/>
      <p:bldP spid="27" grpId="0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4123965-AF3E-49E3-B440-FF8ED6582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221B2BF-1658-454B-BFF3-A6506B8E541B}"/>
              </a:ext>
            </a:extLst>
          </p:cNvPr>
          <p:cNvGrpSpPr/>
          <p:nvPr/>
        </p:nvGrpSpPr>
        <p:grpSpPr>
          <a:xfrm>
            <a:off x="6720479" y="2580420"/>
            <a:ext cx="941966" cy="2034734"/>
            <a:chOff x="8150331" y="1656534"/>
            <a:chExt cx="991675" cy="2170754"/>
          </a:xfrm>
        </p:grpSpPr>
        <p:sp>
          <p:nvSpPr>
            <p:cNvPr id="5" name="Paralelogramo 4">
              <a:extLst>
                <a:ext uri="{FF2B5EF4-FFF2-40B4-BE49-F238E27FC236}">
                  <a16:creationId xmlns:a16="http://schemas.microsoft.com/office/drawing/2014/main" id="{29ACE722-1AE2-47A3-B719-EF7C86BF3354}"/>
                </a:ext>
              </a:extLst>
            </p:cNvPr>
            <p:cNvSpPr/>
            <p:nvPr/>
          </p:nvSpPr>
          <p:spPr>
            <a:xfrm rot="1636330">
              <a:off x="8203236" y="1656534"/>
              <a:ext cx="885640" cy="411070"/>
            </a:xfrm>
            <a:prstGeom prst="parallelogram">
              <a:avLst>
                <a:gd name="adj" fmla="val 16122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D4B531B9-3414-4E35-BAF1-8E53F9EE22D5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31" y="1842038"/>
              <a:ext cx="7949" cy="18619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42648C54-BC7C-4102-8B6A-326EFF340A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4901" y="1939696"/>
              <a:ext cx="1" cy="18875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B8467529-99D9-4BE3-ACB6-B11B3AD7F557}"/>
                </a:ext>
              </a:extLst>
            </p:cNvPr>
            <p:cNvCxnSpPr>
              <a:cxnSpLocks/>
            </p:cNvCxnSpPr>
            <p:nvPr/>
          </p:nvCxnSpPr>
          <p:spPr>
            <a:xfrm>
              <a:off x="9142006" y="1876162"/>
              <a:ext cx="0" cy="18278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EACE0634-405D-4DFF-AE9E-E01538BA46CF}"/>
                </a:ext>
              </a:extLst>
            </p:cNvPr>
            <p:cNvCxnSpPr>
              <a:cxnSpLocks/>
            </p:cNvCxnSpPr>
            <p:nvPr/>
          </p:nvCxnSpPr>
          <p:spPr>
            <a:xfrm>
              <a:off x="8158280" y="3704005"/>
              <a:ext cx="196620" cy="123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9919C971-FBC8-4791-980F-8A6DB5AF9A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4901" y="3704005"/>
              <a:ext cx="787105" cy="123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D12F0E1B-B547-4BC0-9D98-68D30214B6E2}"/>
              </a:ext>
            </a:extLst>
          </p:cNvPr>
          <p:cNvGrpSpPr/>
          <p:nvPr/>
        </p:nvGrpSpPr>
        <p:grpSpPr>
          <a:xfrm>
            <a:off x="5571434" y="2692471"/>
            <a:ext cx="991675" cy="2170754"/>
            <a:chOff x="8150331" y="1656534"/>
            <a:chExt cx="991675" cy="2170754"/>
          </a:xfrm>
        </p:grpSpPr>
        <p:sp>
          <p:nvSpPr>
            <p:cNvPr id="12" name="Paralelogramo 11">
              <a:extLst>
                <a:ext uri="{FF2B5EF4-FFF2-40B4-BE49-F238E27FC236}">
                  <a16:creationId xmlns:a16="http://schemas.microsoft.com/office/drawing/2014/main" id="{BEE9DAAE-4E95-45E1-B2F5-8E20F8C24EA9}"/>
                </a:ext>
              </a:extLst>
            </p:cNvPr>
            <p:cNvSpPr/>
            <p:nvPr/>
          </p:nvSpPr>
          <p:spPr>
            <a:xfrm rot="1636330">
              <a:off x="8203236" y="1656534"/>
              <a:ext cx="885640" cy="411070"/>
            </a:xfrm>
            <a:prstGeom prst="parallelogram">
              <a:avLst>
                <a:gd name="adj" fmla="val 16122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E32BCB7A-CA2A-4046-8ACD-72299A4FEE68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31" y="1842038"/>
              <a:ext cx="7949" cy="18619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45A5FD0F-E133-4DA4-BA25-FC695DBCCB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4901" y="1939696"/>
              <a:ext cx="1" cy="18875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ABFDA40C-5346-4BE8-94F4-4B50021AD394}"/>
                </a:ext>
              </a:extLst>
            </p:cNvPr>
            <p:cNvCxnSpPr>
              <a:cxnSpLocks/>
            </p:cNvCxnSpPr>
            <p:nvPr/>
          </p:nvCxnSpPr>
          <p:spPr>
            <a:xfrm>
              <a:off x="9142006" y="1876162"/>
              <a:ext cx="0" cy="18278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5A5585DD-4B85-4139-A292-A19B4744C84B}"/>
                </a:ext>
              </a:extLst>
            </p:cNvPr>
            <p:cNvCxnSpPr>
              <a:cxnSpLocks/>
            </p:cNvCxnSpPr>
            <p:nvPr/>
          </p:nvCxnSpPr>
          <p:spPr>
            <a:xfrm>
              <a:off x="8158280" y="3704005"/>
              <a:ext cx="196620" cy="123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15F698F-2A09-462B-A26E-4BA6A7D7A3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4901" y="3704005"/>
              <a:ext cx="787105" cy="123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1D9EC3FB-CDF3-4A83-AB95-8E7D950956A3}"/>
              </a:ext>
            </a:extLst>
          </p:cNvPr>
          <p:cNvGrpSpPr/>
          <p:nvPr/>
        </p:nvGrpSpPr>
        <p:grpSpPr>
          <a:xfrm>
            <a:off x="4455193" y="2912099"/>
            <a:ext cx="991675" cy="2170754"/>
            <a:chOff x="8150331" y="1656534"/>
            <a:chExt cx="991675" cy="2170754"/>
          </a:xfrm>
        </p:grpSpPr>
        <p:sp>
          <p:nvSpPr>
            <p:cNvPr id="19" name="Paralelogramo 18">
              <a:extLst>
                <a:ext uri="{FF2B5EF4-FFF2-40B4-BE49-F238E27FC236}">
                  <a16:creationId xmlns:a16="http://schemas.microsoft.com/office/drawing/2014/main" id="{434011BB-80B0-4FFB-AAB7-48A8C360EE59}"/>
                </a:ext>
              </a:extLst>
            </p:cNvPr>
            <p:cNvSpPr/>
            <p:nvPr/>
          </p:nvSpPr>
          <p:spPr>
            <a:xfrm rot="1636330">
              <a:off x="8203236" y="1656534"/>
              <a:ext cx="885640" cy="411070"/>
            </a:xfrm>
            <a:prstGeom prst="parallelogram">
              <a:avLst>
                <a:gd name="adj" fmla="val 16122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BDF50EF4-5819-41E6-84B4-B50CDDC55D75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31" y="1842038"/>
              <a:ext cx="7949" cy="18619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E2E30582-1DEF-4751-81AE-4EB81A5BD3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4901" y="1939696"/>
              <a:ext cx="1" cy="18875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E7D11E2A-C699-4287-9BDD-642AA1E7E919}"/>
                </a:ext>
              </a:extLst>
            </p:cNvPr>
            <p:cNvCxnSpPr>
              <a:cxnSpLocks/>
            </p:cNvCxnSpPr>
            <p:nvPr/>
          </p:nvCxnSpPr>
          <p:spPr>
            <a:xfrm>
              <a:off x="9142006" y="1876162"/>
              <a:ext cx="0" cy="18278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830E4376-E516-43CD-98AD-641E4C55926F}"/>
                </a:ext>
              </a:extLst>
            </p:cNvPr>
            <p:cNvCxnSpPr>
              <a:cxnSpLocks/>
            </p:cNvCxnSpPr>
            <p:nvPr/>
          </p:nvCxnSpPr>
          <p:spPr>
            <a:xfrm>
              <a:off x="8158280" y="3704005"/>
              <a:ext cx="196620" cy="123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A20B5A77-273D-4B59-B4F8-EEF2B96FDB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4901" y="3704005"/>
              <a:ext cx="787105" cy="123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B8A6E1F3-FCA8-4D33-AAA4-96665C331255}"/>
              </a:ext>
            </a:extLst>
          </p:cNvPr>
          <p:cNvSpPr/>
          <p:nvPr/>
        </p:nvSpPr>
        <p:spPr>
          <a:xfrm rot="1420242">
            <a:off x="4836705" y="5136250"/>
            <a:ext cx="1255079" cy="422339"/>
          </a:xfrm>
          <a:prstGeom prst="parallelogram">
            <a:avLst>
              <a:gd name="adj" fmla="val 1612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5D106FDC-9F92-469B-95A3-5CF1AEDC973B}"/>
              </a:ext>
            </a:extLst>
          </p:cNvPr>
          <p:cNvSpPr/>
          <p:nvPr/>
        </p:nvSpPr>
        <p:spPr>
          <a:xfrm rot="1420242">
            <a:off x="5904286" y="4935274"/>
            <a:ext cx="1255079" cy="422339"/>
          </a:xfrm>
          <a:prstGeom prst="parallelogram">
            <a:avLst>
              <a:gd name="adj" fmla="val 1612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Paralelogramo 26">
            <a:extLst>
              <a:ext uri="{FF2B5EF4-FFF2-40B4-BE49-F238E27FC236}">
                <a16:creationId xmlns:a16="http://schemas.microsoft.com/office/drawing/2014/main" id="{2A88F624-A145-43D9-8F2D-D2D7F766B5B0}"/>
              </a:ext>
            </a:extLst>
          </p:cNvPr>
          <p:cNvSpPr/>
          <p:nvPr/>
        </p:nvSpPr>
        <p:spPr>
          <a:xfrm rot="1420242">
            <a:off x="7019430" y="4709554"/>
            <a:ext cx="1255079" cy="422339"/>
          </a:xfrm>
          <a:prstGeom prst="parallelogram">
            <a:avLst>
              <a:gd name="adj" fmla="val 1612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Paralelogramo 27">
            <a:extLst>
              <a:ext uri="{FF2B5EF4-FFF2-40B4-BE49-F238E27FC236}">
                <a16:creationId xmlns:a16="http://schemas.microsoft.com/office/drawing/2014/main" id="{F0E06970-2103-450C-A1DC-A385775689E2}"/>
              </a:ext>
            </a:extLst>
          </p:cNvPr>
          <p:cNvSpPr/>
          <p:nvPr/>
        </p:nvSpPr>
        <p:spPr>
          <a:xfrm rot="1420242">
            <a:off x="5475732" y="5540733"/>
            <a:ext cx="1255079" cy="422339"/>
          </a:xfrm>
          <a:prstGeom prst="parallelogram">
            <a:avLst>
              <a:gd name="adj" fmla="val 1612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Paralelogramo 28">
            <a:extLst>
              <a:ext uri="{FF2B5EF4-FFF2-40B4-BE49-F238E27FC236}">
                <a16:creationId xmlns:a16="http://schemas.microsoft.com/office/drawing/2014/main" id="{38DB27CD-6F98-4836-9559-658E32C0EACB}"/>
              </a:ext>
            </a:extLst>
          </p:cNvPr>
          <p:cNvSpPr/>
          <p:nvPr/>
        </p:nvSpPr>
        <p:spPr>
          <a:xfrm rot="1420242">
            <a:off x="6543313" y="5339757"/>
            <a:ext cx="1255079" cy="422339"/>
          </a:xfrm>
          <a:prstGeom prst="parallelogram">
            <a:avLst>
              <a:gd name="adj" fmla="val 1612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Paralelogramo 29">
            <a:extLst>
              <a:ext uri="{FF2B5EF4-FFF2-40B4-BE49-F238E27FC236}">
                <a16:creationId xmlns:a16="http://schemas.microsoft.com/office/drawing/2014/main" id="{FBA3416E-AB6B-466C-BC5E-1ED8E6A2FE62}"/>
              </a:ext>
            </a:extLst>
          </p:cNvPr>
          <p:cNvSpPr/>
          <p:nvPr/>
        </p:nvSpPr>
        <p:spPr>
          <a:xfrm rot="1420242">
            <a:off x="7658457" y="5114037"/>
            <a:ext cx="1255079" cy="422339"/>
          </a:xfrm>
          <a:prstGeom prst="parallelogram">
            <a:avLst>
              <a:gd name="adj" fmla="val 1612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Título 1">
            <a:extLst>
              <a:ext uri="{FF2B5EF4-FFF2-40B4-BE49-F238E27FC236}">
                <a16:creationId xmlns:a16="http://schemas.microsoft.com/office/drawing/2014/main" id="{B99E1A29-FFB9-4B72-9219-2AA377002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250" y="247651"/>
            <a:ext cx="8910638" cy="767656"/>
          </a:xfrm>
        </p:spPr>
        <p:txBody>
          <a:bodyPr/>
          <a:lstStyle/>
          <a:p>
            <a:r>
              <a:rPr lang="es-MX" altLang="es-AR" b="1" dirty="0">
                <a:cs typeface="Arial" charset="0"/>
              </a:rPr>
              <a:t>ACTIVITY BASED COSTING (ABC)</a:t>
            </a:r>
            <a:endParaRPr lang="es-AR" b="1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4A7B21D-4F07-4EA0-975D-BF947D06328A}"/>
              </a:ext>
            </a:extLst>
          </p:cNvPr>
          <p:cNvSpPr txBox="1"/>
          <p:nvPr/>
        </p:nvSpPr>
        <p:spPr>
          <a:xfrm>
            <a:off x="3779027" y="2482418"/>
            <a:ext cx="1564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/>
              <a:t>CIRUGIA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7550066-E1DB-41B9-819B-94FF1DB58BF9}"/>
              </a:ext>
            </a:extLst>
          </p:cNvPr>
          <p:cNvSpPr txBox="1"/>
          <p:nvPr/>
        </p:nvSpPr>
        <p:spPr>
          <a:xfrm>
            <a:off x="5237034" y="2168060"/>
            <a:ext cx="1564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/>
              <a:t>IMAGENES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E0880EA-10E8-43DE-9A58-BE8D72EDB44B}"/>
              </a:ext>
            </a:extLst>
          </p:cNvPr>
          <p:cNvSpPr txBox="1"/>
          <p:nvPr/>
        </p:nvSpPr>
        <p:spPr>
          <a:xfrm>
            <a:off x="6987445" y="1978142"/>
            <a:ext cx="1801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/>
              <a:t>ENFERMERIA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D288A612-98B5-4A22-B45C-843C07FF7C35}"/>
              </a:ext>
            </a:extLst>
          </p:cNvPr>
          <p:cNvCxnSpPr>
            <a:cxnSpLocks/>
          </p:cNvCxnSpPr>
          <p:nvPr/>
        </p:nvCxnSpPr>
        <p:spPr>
          <a:xfrm flipH="1">
            <a:off x="3995487" y="5581654"/>
            <a:ext cx="759093" cy="153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391C535A-CF93-4D38-A286-41153D8FD5E5}"/>
              </a:ext>
            </a:extLst>
          </p:cNvPr>
          <p:cNvCxnSpPr>
            <a:cxnSpLocks/>
          </p:cNvCxnSpPr>
          <p:nvPr/>
        </p:nvCxnSpPr>
        <p:spPr>
          <a:xfrm flipH="1">
            <a:off x="4365140" y="5996275"/>
            <a:ext cx="759093" cy="153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A44ED4E-E037-4FDB-9F55-E1242F1AC357}"/>
              </a:ext>
            </a:extLst>
          </p:cNvPr>
          <p:cNvSpPr txBox="1"/>
          <p:nvPr/>
        </p:nvSpPr>
        <p:spPr>
          <a:xfrm>
            <a:off x="2254250" y="5581654"/>
            <a:ext cx="1482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Paciente 1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8083A2CD-4171-413D-9584-6BBDB6448BC0}"/>
              </a:ext>
            </a:extLst>
          </p:cNvPr>
          <p:cNvSpPr txBox="1"/>
          <p:nvPr/>
        </p:nvSpPr>
        <p:spPr>
          <a:xfrm>
            <a:off x="2657602" y="6103386"/>
            <a:ext cx="1482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Paciente 2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CE04ABF-D06C-4F38-9D45-CF8C78001211}"/>
              </a:ext>
            </a:extLst>
          </p:cNvPr>
          <p:cNvSpPr txBox="1"/>
          <p:nvPr/>
        </p:nvSpPr>
        <p:spPr>
          <a:xfrm>
            <a:off x="6787085" y="2921812"/>
            <a:ext cx="2001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b="1" dirty="0"/>
              <a:t>Actividad: </a:t>
            </a:r>
          </a:p>
          <a:p>
            <a:r>
              <a:rPr lang="es-AR" sz="1600" b="1" dirty="0" err="1"/>
              <a:t>hs</a:t>
            </a:r>
            <a:r>
              <a:rPr lang="es-AR" sz="1600" b="1" dirty="0"/>
              <a:t> de enfermería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B777B32-905B-455D-8E7C-B6D9DD209575}"/>
              </a:ext>
            </a:extLst>
          </p:cNvPr>
          <p:cNvSpPr txBox="1"/>
          <p:nvPr/>
        </p:nvSpPr>
        <p:spPr>
          <a:xfrm>
            <a:off x="5352702" y="3504868"/>
            <a:ext cx="1617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b="1" dirty="0"/>
              <a:t>Actividad: </a:t>
            </a:r>
            <a:r>
              <a:rPr lang="es-AR" sz="1600" b="1" dirty="0" err="1"/>
              <a:t>Rx</a:t>
            </a:r>
            <a:endParaRPr lang="es-AR" sz="1600" b="1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BFC49E84-110A-429F-9C90-EC6F333FBF36}"/>
              </a:ext>
            </a:extLst>
          </p:cNvPr>
          <p:cNvSpPr txBox="1"/>
          <p:nvPr/>
        </p:nvSpPr>
        <p:spPr>
          <a:xfrm>
            <a:off x="3612059" y="3708266"/>
            <a:ext cx="22026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b="1" dirty="0"/>
              <a:t>Actividad: </a:t>
            </a:r>
          </a:p>
          <a:p>
            <a:r>
              <a:rPr lang="es-AR" sz="1600" b="1" dirty="0" err="1"/>
              <a:t>hs</a:t>
            </a:r>
            <a:r>
              <a:rPr lang="es-AR" sz="1600" b="1" dirty="0"/>
              <a:t> de quirófano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51E684DC-DB94-4049-9B2C-C67E47069CDA}"/>
              </a:ext>
            </a:extLst>
          </p:cNvPr>
          <p:cNvSpPr txBox="1"/>
          <p:nvPr/>
        </p:nvSpPr>
        <p:spPr>
          <a:xfrm>
            <a:off x="7367353" y="4767953"/>
            <a:ext cx="419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b="1" dirty="0">
                <a:solidFill>
                  <a:schemeClr val="bg1"/>
                </a:solidFill>
              </a:rPr>
              <a:t>E1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A2041557-238A-4599-9FB9-C87C5712B096}"/>
              </a:ext>
            </a:extLst>
          </p:cNvPr>
          <p:cNvSpPr txBox="1"/>
          <p:nvPr/>
        </p:nvSpPr>
        <p:spPr>
          <a:xfrm>
            <a:off x="8322597" y="5119154"/>
            <a:ext cx="4170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b="1" dirty="0">
                <a:solidFill>
                  <a:schemeClr val="bg1"/>
                </a:solidFill>
              </a:rPr>
              <a:t>E2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73CEE249-9184-4BC5-A9A3-2F70DCAE9F46}"/>
              </a:ext>
            </a:extLst>
          </p:cNvPr>
          <p:cNvSpPr txBox="1"/>
          <p:nvPr/>
        </p:nvSpPr>
        <p:spPr>
          <a:xfrm>
            <a:off x="6192448" y="4925125"/>
            <a:ext cx="787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b="1" dirty="0">
                <a:solidFill>
                  <a:schemeClr val="bg1"/>
                </a:solidFill>
              </a:rPr>
              <a:t>E1+ R1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9820DA3A-3664-4779-B2BD-6F9C0C5449C5}"/>
              </a:ext>
            </a:extLst>
          </p:cNvPr>
          <p:cNvSpPr txBox="1"/>
          <p:nvPr/>
        </p:nvSpPr>
        <p:spPr>
          <a:xfrm>
            <a:off x="7000807" y="5338568"/>
            <a:ext cx="4170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b="1" dirty="0">
                <a:solidFill>
                  <a:schemeClr val="bg1"/>
                </a:solidFill>
              </a:rPr>
              <a:t>E2</a:t>
            </a:r>
          </a:p>
        </p:txBody>
      </p:sp>
      <p:sp>
        <p:nvSpPr>
          <p:cNvPr id="56" name="Arco 55">
            <a:extLst>
              <a:ext uri="{FF2B5EF4-FFF2-40B4-BE49-F238E27FC236}">
                <a16:creationId xmlns:a16="http://schemas.microsoft.com/office/drawing/2014/main" id="{EE9355D3-2ED4-45B1-AFDD-C7E37F83DE4D}"/>
              </a:ext>
            </a:extLst>
          </p:cNvPr>
          <p:cNvSpPr/>
          <p:nvPr/>
        </p:nvSpPr>
        <p:spPr>
          <a:xfrm rot="11655505">
            <a:off x="4715782" y="3296860"/>
            <a:ext cx="1318825" cy="2085718"/>
          </a:xfrm>
          <a:prstGeom prst="arc">
            <a:avLst>
              <a:gd name="adj1" fmla="val 16200000"/>
              <a:gd name="adj2" fmla="val 211483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1FCA8113-A995-42E0-8EE2-974C4B3970EE}"/>
              </a:ext>
            </a:extLst>
          </p:cNvPr>
          <p:cNvSpPr txBox="1"/>
          <p:nvPr/>
        </p:nvSpPr>
        <p:spPr>
          <a:xfrm>
            <a:off x="9557460" y="3826020"/>
            <a:ext cx="24416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b="1" dirty="0"/>
              <a:t>Inductores:</a:t>
            </a:r>
          </a:p>
          <a:p>
            <a:r>
              <a:rPr lang="es-AR" sz="1400" b="1" dirty="0"/>
              <a:t>E</a:t>
            </a:r>
            <a:r>
              <a:rPr lang="es-AR" sz="1400" dirty="0"/>
              <a:t>: Hs de enfermería</a:t>
            </a:r>
          </a:p>
          <a:p>
            <a:r>
              <a:rPr lang="es-AR" sz="1400" b="1" dirty="0" err="1"/>
              <a:t>Rx</a:t>
            </a:r>
            <a:r>
              <a:rPr lang="es-AR" sz="1400" dirty="0"/>
              <a:t>: Cantidad de placas</a:t>
            </a:r>
          </a:p>
          <a:p>
            <a:r>
              <a:rPr lang="es-AR" sz="1400" b="1" dirty="0"/>
              <a:t>Q</a:t>
            </a:r>
            <a:r>
              <a:rPr lang="es-AR" sz="1400" dirty="0"/>
              <a:t>: Hs quirófano </a:t>
            </a:r>
          </a:p>
        </p:txBody>
      </p:sp>
      <p:sp>
        <p:nvSpPr>
          <p:cNvPr id="58" name="Arco 57">
            <a:extLst>
              <a:ext uri="{FF2B5EF4-FFF2-40B4-BE49-F238E27FC236}">
                <a16:creationId xmlns:a16="http://schemas.microsoft.com/office/drawing/2014/main" id="{FD80228D-8B3F-4530-A1F9-370B87A36E78}"/>
              </a:ext>
            </a:extLst>
          </p:cNvPr>
          <p:cNvSpPr/>
          <p:nvPr/>
        </p:nvSpPr>
        <p:spPr>
          <a:xfrm rot="10310107">
            <a:off x="7440949" y="2651760"/>
            <a:ext cx="1536707" cy="2632576"/>
          </a:xfrm>
          <a:prstGeom prst="arc">
            <a:avLst>
              <a:gd name="adj1" fmla="val 16265936"/>
              <a:gd name="adj2" fmla="val 94638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3A246A37-86EA-40DD-B3FC-B67AD9C67442}"/>
              </a:ext>
            </a:extLst>
          </p:cNvPr>
          <p:cNvSpPr txBox="1"/>
          <p:nvPr/>
        </p:nvSpPr>
        <p:spPr>
          <a:xfrm>
            <a:off x="4874382" y="5182376"/>
            <a:ext cx="14189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b="1" dirty="0">
                <a:solidFill>
                  <a:schemeClr val="bg1"/>
                </a:solidFill>
              </a:rPr>
              <a:t>E1+ R1 + Q1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F553CB6B-2DD2-4866-A026-A386059C35B0}"/>
              </a:ext>
            </a:extLst>
          </p:cNvPr>
          <p:cNvSpPr txBox="1"/>
          <p:nvPr/>
        </p:nvSpPr>
        <p:spPr>
          <a:xfrm>
            <a:off x="5734920" y="5580522"/>
            <a:ext cx="1116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b="1" dirty="0">
                <a:solidFill>
                  <a:schemeClr val="bg1"/>
                </a:solidFill>
              </a:rPr>
              <a:t>E2 + Q2</a:t>
            </a:r>
          </a:p>
        </p:txBody>
      </p:sp>
      <p:sp>
        <p:nvSpPr>
          <p:cNvPr id="61" name="Arco 60">
            <a:extLst>
              <a:ext uri="{FF2B5EF4-FFF2-40B4-BE49-F238E27FC236}">
                <a16:creationId xmlns:a16="http://schemas.microsoft.com/office/drawing/2014/main" id="{10FE921D-1AFC-47BD-804D-50344AFE92EB}"/>
              </a:ext>
            </a:extLst>
          </p:cNvPr>
          <p:cNvSpPr/>
          <p:nvPr/>
        </p:nvSpPr>
        <p:spPr>
          <a:xfrm rot="10310107">
            <a:off x="5046768" y="3110000"/>
            <a:ext cx="1536707" cy="2632576"/>
          </a:xfrm>
          <a:prstGeom prst="arc">
            <a:avLst>
              <a:gd name="adj1" fmla="val 16265936"/>
              <a:gd name="adj2" fmla="val 94638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93B94DC7-B4BD-45A1-9C35-43627A877FEE}"/>
              </a:ext>
            </a:extLst>
          </p:cNvPr>
          <p:cNvCxnSpPr>
            <a:cxnSpLocks/>
          </p:cNvCxnSpPr>
          <p:nvPr/>
        </p:nvCxnSpPr>
        <p:spPr>
          <a:xfrm flipH="1">
            <a:off x="8150986" y="4642100"/>
            <a:ext cx="759093" cy="153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21F31255-AB60-4E53-8DBA-A1811254A748}"/>
              </a:ext>
            </a:extLst>
          </p:cNvPr>
          <p:cNvCxnSpPr>
            <a:cxnSpLocks/>
          </p:cNvCxnSpPr>
          <p:nvPr/>
        </p:nvCxnSpPr>
        <p:spPr>
          <a:xfrm flipH="1">
            <a:off x="8694053" y="5034719"/>
            <a:ext cx="759093" cy="153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Arco 63">
            <a:extLst>
              <a:ext uri="{FF2B5EF4-FFF2-40B4-BE49-F238E27FC236}">
                <a16:creationId xmlns:a16="http://schemas.microsoft.com/office/drawing/2014/main" id="{E2C87448-5959-427D-88D6-2201B956A7C4}"/>
              </a:ext>
            </a:extLst>
          </p:cNvPr>
          <p:cNvSpPr/>
          <p:nvPr/>
        </p:nvSpPr>
        <p:spPr>
          <a:xfrm rot="11655505">
            <a:off x="7029766" y="2928397"/>
            <a:ext cx="1318825" cy="2085718"/>
          </a:xfrm>
          <a:prstGeom prst="arc">
            <a:avLst>
              <a:gd name="adj1" fmla="val 16200000"/>
              <a:gd name="adj2" fmla="val 211483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5" name="Arco 64">
            <a:extLst>
              <a:ext uri="{FF2B5EF4-FFF2-40B4-BE49-F238E27FC236}">
                <a16:creationId xmlns:a16="http://schemas.microsoft.com/office/drawing/2014/main" id="{1D7EEF0A-1B4E-4855-A1B6-DA78DDE9C1DC}"/>
              </a:ext>
            </a:extLst>
          </p:cNvPr>
          <p:cNvSpPr/>
          <p:nvPr/>
        </p:nvSpPr>
        <p:spPr>
          <a:xfrm rot="11655505">
            <a:off x="5848161" y="3080797"/>
            <a:ext cx="1318825" cy="2085718"/>
          </a:xfrm>
          <a:prstGeom prst="arc">
            <a:avLst>
              <a:gd name="adj1" fmla="val 16200000"/>
              <a:gd name="adj2" fmla="val 211483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611401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7BDE879-4B8C-4C8B-8C67-FBF83A874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B03053-F31E-4997-8FCB-EDFA2F49A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25" y="1676127"/>
            <a:ext cx="424815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_tradnl" altLang="es-AR" sz="2000">
                <a:latin typeface="+mj-lt"/>
              </a:rPr>
              <a:t>Visitar al cliente</a:t>
            </a:r>
            <a:endParaRPr lang="es-ES" altLang="es-AR" sz="2000">
              <a:latin typeface="+mj-lt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D0BD90-EDCB-4B56-9AC2-F7E320EFF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25" y="2222227"/>
            <a:ext cx="4249738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_tradnl" altLang="es-AR" sz="2000">
                <a:latin typeface="+mj-lt"/>
              </a:rPr>
              <a:t>Tomar el pedido</a:t>
            </a:r>
            <a:endParaRPr lang="es-ES" altLang="es-AR" sz="2000">
              <a:latin typeface="+mj-lt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8E1B740-A348-4F62-B77C-B20B7A87B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25" y="2758794"/>
            <a:ext cx="424815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_tradnl" altLang="es-AR" sz="2000" dirty="0">
                <a:latin typeface="+mj-lt"/>
              </a:rPr>
              <a:t>Analizar el crédito del cliente</a:t>
            </a:r>
            <a:endParaRPr lang="es-ES" altLang="es-AR" sz="2000" dirty="0">
              <a:latin typeface="+mj-lt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85FD065A-E565-4F01-AFAA-6B8022DE1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25" y="3335057"/>
            <a:ext cx="424815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_tradnl" altLang="es-AR" sz="2000">
                <a:latin typeface="+mj-lt"/>
              </a:rPr>
              <a:t>Preparar el despacho</a:t>
            </a:r>
            <a:endParaRPr lang="es-ES" altLang="es-AR" sz="2000">
              <a:latin typeface="+mj-lt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6D8109CD-0E92-4E8A-8307-612476859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25" y="3911319"/>
            <a:ext cx="424815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_tradnl" altLang="es-AR" sz="2000">
                <a:latin typeface="+mj-lt"/>
              </a:rPr>
              <a:t>Emitir el remito</a:t>
            </a:r>
            <a:endParaRPr lang="es-ES" altLang="es-AR" sz="2000">
              <a:latin typeface="+mj-lt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BA63212D-8A5E-4557-BC86-CA08D7142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25" y="4487582"/>
            <a:ext cx="424815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_tradnl" altLang="es-AR" sz="2000">
                <a:latin typeface="+mj-lt"/>
              </a:rPr>
              <a:t>Entregar la mercadería</a:t>
            </a:r>
            <a:endParaRPr lang="es-ES" altLang="es-AR" sz="2000">
              <a:latin typeface="+mj-lt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95E9CFAC-946E-482C-A2EA-9F50B2DCD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25" y="5063844"/>
            <a:ext cx="424815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_tradnl" altLang="es-AR" sz="2000">
                <a:latin typeface="+mj-lt"/>
              </a:rPr>
              <a:t>Analizar el crédito del cliente</a:t>
            </a:r>
            <a:endParaRPr lang="es-ES" altLang="es-AR" sz="2000">
              <a:latin typeface="+mj-lt"/>
            </a:endParaRP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5F3D3EDD-A7DC-42A5-86C5-30A807D82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25" y="5640107"/>
            <a:ext cx="424815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_tradnl" altLang="es-AR" sz="2000">
                <a:latin typeface="+mj-lt"/>
              </a:rPr>
              <a:t>Recibir el remito conformado</a:t>
            </a:r>
            <a:endParaRPr lang="es-ES" altLang="es-AR" sz="2000">
              <a:latin typeface="+mj-lt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837AA66C-F48A-4451-A629-704322550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25" y="6214782"/>
            <a:ext cx="424815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_tradnl" altLang="es-AR" sz="2000" dirty="0">
                <a:latin typeface="+mj-lt"/>
              </a:rPr>
              <a:t>Facturar y cobrar</a:t>
            </a:r>
            <a:endParaRPr lang="es-ES" altLang="es-AR" sz="2000" dirty="0">
              <a:latin typeface="+mj-lt"/>
            </a:endParaRP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B9FE2B3E-A966-4659-97E9-CF57E04D3C8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626959" y="1016450"/>
            <a:ext cx="101652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s-MX" altLang="es-AR" sz="2800" b="1" dirty="0">
                <a:cs typeface="Arial" charset="0"/>
              </a:rPr>
              <a:t>EJEMPLO: ACTIVIDADES EN EL PROCESO DE VENTAS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3304A295-2CBB-4F5F-B0F5-59DE0635B0BC}"/>
              </a:ext>
            </a:extLst>
          </p:cNvPr>
          <p:cNvSpPr txBox="1">
            <a:spLocks/>
          </p:cNvSpPr>
          <p:nvPr/>
        </p:nvSpPr>
        <p:spPr>
          <a:xfrm>
            <a:off x="2254250" y="247651"/>
            <a:ext cx="8910638" cy="7676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MX" altLang="es-AR" b="1" dirty="0">
                <a:cs typeface="Arial" charset="0"/>
              </a:rPr>
              <a:t>ACTIVITY BASED COSTING (ABC)</a:t>
            </a: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1586814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E6081C6-CD93-497F-BDCA-161E5303B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638309C0-B99A-4046-8BE6-1D5FBCDD0879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734532" y="623888"/>
            <a:ext cx="100112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s-MX" altLang="es-AR" sz="3600" b="1" dirty="0">
                <a:cs typeface="Arial" charset="0"/>
              </a:rPr>
              <a:t>ETAPAS PARA LA IMPLEMENTACIÓN DEL ABC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86563A-0539-4A16-987D-0B9735949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377" y="1324380"/>
            <a:ext cx="9906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s-ES" altLang="es-AR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Etapa 1</a:t>
            </a:r>
            <a:r>
              <a:rPr lang="es-ES" altLang="es-AR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) </a:t>
            </a:r>
            <a:r>
              <a:rPr lang="es-ES" altLang="es-AR" sz="20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Obtener un perfil preliminar de la estructura de costos de la empresa  </a:t>
            </a:r>
            <a:r>
              <a:rPr lang="es-ES" altLang="es-AR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		   </a:t>
            </a:r>
            <a:r>
              <a:rPr lang="es-ES" altLang="es-AR" sz="20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a analizar</a:t>
            </a:r>
            <a:r>
              <a:rPr lang="es-ES" altLang="es-AR" sz="2000" b="1" dirty="0">
                <a:latin typeface="+mj-lt"/>
                <a:cs typeface="Arial" charset="0"/>
              </a:rPr>
              <a:t>: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F2F73D-8BC5-43E8-8B88-D769D4AF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502" y="2158711"/>
            <a:ext cx="9906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_tradnl" altLang="es-AR" sz="2000" dirty="0">
                <a:latin typeface="+mj-lt"/>
              </a:rPr>
              <a:t>Permite hacer una delimitación de los campos principales de acción posterior al conocer cuales son los Sectores de mayor costo y por ende aquellos con los que se puede obtener mejores resultados.</a:t>
            </a:r>
            <a:r>
              <a:rPr lang="es-ES" altLang="es-AR" sz="2000" dirty="0">
                <a:latin typeface="+mj-lt"/>
              </a:rPr>
              <a:t> 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F02161E-2AAA-4AE4-8FDA-753762DC7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502" y="3380887"/>
            <a:ext cx="9906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es-ES" altLang="es-AR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Etapa 2) </a:t>
            </a:r>
            <a:r>
              <a:rPr lang="es-ES" altLang="es-AR" sz="20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Realizar un análisis de los Procesos</a:t>
            </a:r>
            <a:r>
              <a:rPr lang="es-ES" altLang="es-AR" sz="2000" dirty="0">
                <a:latin typeface="+mj-lt"/>
                <a:cs typeface="Arial" charset="0"/>
              </a:rPr>
              <a:t>: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5C63792A-F5A6-42EB-92BE-5BEC38BEB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502" y="3786592"/>
            <a:ext cx="9906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_tradnl" altLang="es-AR" sz="2000" dirty="0">
                <a:latin typeface="+mj-lt"/>
              </a:rPr>
              <a:t>Conviene revisar los procesos y sus objetivos para examinar si dentro del mismo, ciertas actividades son necesarias y si agregan valor.</a:t>
            </a:r>
            <a:r>
              <a:rPr lang="es-ES" altLang="es-AR" sz="2000" dirty="0">
                <a:latin typeface="+mj-lt"/>
              </a:rPr>
              <a:t> 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5365679D-2FE9-45D3-A92F-09F28C7B7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502" y="4625487"/>
            <a:ext cx="9906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es-ES" altLang="es-AR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Etapa 3) </a:t>
            </a:r>
            <a:r>
              <a:rPr lang="es-ES" altLang="es-AR" sz="20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Analizar las Actividades</a:t>
            </a:r>
            <a:r>
              <a:rPr lang="es-ES" altLang="es-AR" sz="2000" dirty="0">
                <a:latin typeface="+mj-lt"/>
                <a:cs typeface="Arial" charset="0"/>
              </a:rPr>
              <a:t>: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062C5507-AEF2-4CC4-BC21-6807FA9F9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502" y="5056792"/>
            <a:ext cx="99060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_tradnl" altLang="es-AR" sz="2000" dirty="0">
                <a:latin typeface="+mj-lt"/>
              </a:rPr>
              <a:t>Relevar las Actividades constitutivas de los Procesos descriptos anteriormente, para luego pasar a un análisis en detalle de las Actividades más importantes, por ser las más onerosas, o por ser </a:t>
            </a:r>
            <a:r>
              <a:rPr lang="es-ES_tradnl" altLang="es-AR" sz="2000" dirty="0" err="1">
                <a:latin typeface="+mj-lt"/>
              </a:rPr>
              <a:t>un“cuello</a:t>
            </a:r>
            <a:r>
              <a:rPr lang="es-ES_tradnl" altLang="es-AR" sz="2000" dirty="0">
                <a:latin typeface="+mj-lt"/>
              </a:rPr>
              <a:t> de botella” y prever si se puede prescindir o simplificar algunas de ellas.</a:t>
            </a:r>
          </a:p>
        </p:txBody>
      </p:sp>
    </p:spTree>
    <p:extLst>
      <p:ext uri="{BB962C8B-B14F-4D97-AF65-F5344CB8AC3E}">
        <p14:creationId xmlns:p14="http://schemas.microsoft.com/office/powerpoint/2010/main" val="1613672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E6081C6-CD93-497F-BDCA-161E5303B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638309C0-B99A-4046-8BE6-1D5FBCDD0879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734532" y="623888"/>
            <a:ext cx="100112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s-MX" altLang="es-AR" sz="3600" b="1" dirty="0">
                <a:cs typeface="Arial" charset="0"/>
              </a:rPr>
              <a:t>ETAPAS PARA LA IMPLEMENTACIÓN DEL ABC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D34A97F2-618B-43B6-8C93-7CA72997B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83" y="1759313"/>
            <a:ext cx="9906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es-ES" altLang="es-AR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Etapa 4) </a:t>
            </a:r>
            <a:r>
              <a:rPr lang="es-ES" altLang="es-AR" sz="20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Agrupar las Actividades</a:t>
            </a:r>
            <a:r>
              <a:rPr lang="es-ES" altLang="es-AR" sz="2000" b="1" dirty="0">
                <a:latin typeface="+mj-lt"/>
                <a:cs typeface="Arial" charset="0"/>
              </a:rPr>
              <a:t>: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CD7D8976-BE49-4261-8D32-416690F37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83" y="2305615"/>
            <a:ext cx="99060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_tradnl" altLang="es-AR" sz="2000" dirty="0">
                <a:latin typeface="+mj-lt"/>
              </a:rPr>
              <a:t>Cuando encontramos Actividades de poca relevancia económica, que apuntan al mismo objetivo, y que suponemos que utilizarán los mismos </a:t>
            </a:r>
            <a:r>
              <a:rPr lang="es-ES_tradnl" altLang="es-AR" sz="2000" dirty="0" err="1">
                <a:latin typeface="+mj-lt"/>
              </a:rPr>
              <a:t>cost</a:t>
            </a:r>
            <a:r>
              <a:rPr lang="es-ES_tradnl" altLang="es-AR" sz="2000" dirty="0">
                <a:latin typeface="+mj-lt"/>
              </a:rPr>
              <a:t> drivers para ser distribuidas entre los Objetos de Costos, o cuando</a:t>
            </a:r>
            <a:r>
              <a:rPr lang="es-ES" altLang="es-AR" sz="2000" dirty="0">
                <a:latin typeface="+mj-lt"/>
              </a:rPr>
              <a:t> </a:t>
            </a:r>
            <a:r>
              <a:rPr lang="es-ES_tradnl" altLang="es-AR" sz="2000" dirty="0">
                <a:latin typeface="+mj-lt"/>
              </a:rPr>
              <a:t>aparece una misma Actividad realizada en distintos Sectores de la Empresa</a:t>
            </a:r>
            <a:r>
              <a:rPr lang="es-ES" altLang="es-AR" sz="2000" dirty="0">
                <a:latin typeface="+mj-lt"/>
              </a:rPr>
              <a:t> y se puede </a:t>
            </a:r>
            <a:r>
              <a:rPr lang="es-ES_tradnl" altLang="es-AR" sz="2000" dirty="0">
                <a:latin typeface="+mj-lt"/>
              </a:rPr>
              <a:t>conformar con ellas un nuevo Centro de Costo</a:t>
            </a:r>
            <a:r>
              <a:rPr lang="es-ES" altLang="es-AR" sz="2000" dirty="0">
                <a:latin typeface="+mj-lt"/>
              </a:rPr>
              <a:t>, con el objetivo de </a:t>
            </a:r>
            <a:r>
              <a:rPr lang="es-ES_tradnl" altLang="es-AR" sz="2000" dirty="0">
                <a:latin typeface="+mj-lt"/>
              </a:rPr>
              <a:t>no aumentar innecesariamente su cantidad</a:t>
            </a:r>
            <a:r>
              <a:rPr lang="es-ES" altLang="es-AR" sz="2000" dirty="0">
                <a:latin typeface="+mj-lt"/>
              </a:rPr>
              <a:t> dado </a:t>
            </a:r>
            <a:r>
              <a:rPr lang="es-ES_tradnl" altLang="es-AR" sz="2000" dirty="0">
                <a:latin typeface="+mj-lt"/>
              </a:rPr>
              <a:t>que cada una requerirá tareas de control y administración también separadas.</a:t>
            </a:r>
            <a:r>
              <a:rPr lang="es-ES" altLang="es-AR" sz="2000" dirty="0">
                <a:latin typeface="+mj-lt"/>
              </a:rPr>
              <a:t> 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01037470-6658-463A-9BB6-14D95FA73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422" y="4868743"/>
            <a:ext cx="9906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es-ES" altLang="es-AR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Etapa 5) </a:t>
            </a:r>
            <a:r>
              <a:rPr lang="es-ES" altLang="es-AR" sz="20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Determinar los </a:t>
            </a:r>
            <a:r>
              <a:rPr lang="es-ES" altLang="es-AR" sz="2000" b="1" u="sng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Cost</a:t>
            </a:r>
            <a:r>
              <a:rPr lang="es-ES" altLang="es-AR" sz="20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 Drivers de Recursos</a:t>
            </a:r>
            <a:r>
              <a:rPr lang="es-ES" altLang="es-AR" sz="2000" b="1" dirty="0">
                <a:latin typeface="+mj-lt"/>
                <a:cs typeface="Arial" charset="0"/>
              </a:rPr>
              <a:t>: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B3A5821-DF07-47BF-8E5E-E202B5261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422" y="5267403"/>
            <a:ext cx="9906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_tradnl" altLang="es-AR" sz="2000">
                <a:latin typeface="+mj-lt"/>
              </a:rPr>
              <a:t>Se establecerá el grado de utilización que de los recursos  hacen las Actividades. Los recursos se distribuyen entre las Actividades mediante inductores relacionados con el tiempo (Horas Hombre, Horas Máquina, etc.)</a:t>
            </a:r>
            <a:r>
              <a:rPr lang="es-ES" altLang="es-AR" sz="200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499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E6081C6-CD93-497F-BDCA-161E5303B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638309C0-B99A-4046-8BE6-1D5FBCDD0879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734532" y="623888"/>
            <a:ext cx="100112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s-MX" altLang="es-AR" sz="3600" b="1" dirty="0">
                <a:cs typeface="Arial" charset="0"/>
              </a:rPr>
              <a:t>ETAPAS PARA LA IMPLEMENTACIÓN DEL ABC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201599-3A94-4920-A3E9-F127A599F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502" y="1966908"/>
            <a:ext cx="9906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es-ES" altLang="es-AR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Etapa 6) </a:t>
            </a:r>
            <a:r>
              <a:rPr lang="es-ES" altLang="es-AR" sz="20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Determinar los Objetos de Costos</a:t>
            </a:r>
            <a:r>
              <a:rPr lang="es-ES" altLang="es-AR" sz="2000" b="1" dirty="0">
                <a:latin typeface="+mj-lt"/>
                <a:cs typeface="Arial" charset="0"/>
              </a:rPr>
              <a:t>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D5F888-A064-451A-8907-DD3054F46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502" y="2371224"/>
            <a:ext cx="99060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_tradnl" altLang="es-AR" sz="2000">
                <a:latin typeface="+mj-lt"/>
              </a:rPr>
              <a:t>No sólo se definen como Objetos de Costos los productos o servicios que se comercializan, sino que en ocasiones la Dirección puede necesitar evaluar elementos que no se comercializan, como costos de información, o de tareas de staff interno, por lo que éstos también podrán ser Objetos de Costos.</a:t>
            </a:r>
            <a:r>
              <a:rPr lang="es-ES" altLang="es-AR" sz="2000">
                <a:latin typeface="+mj-lt"/>
              </a:rPr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B4BCB3-1685-4B26-A739-35AAD6ACF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502" y="3840158"/>
            <a:ext cx="9906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es-ES" altLang="es-AR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Etapa 7) </a:t>
            </a:r>
            <a:r>
              <a:rPr lang="es-ES" altLang="es-AR" sz="20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Determinar los </a:t>
            </a:r>
            <a:r>
              <a:rPr lang="es-ES" altLang="es-AR" sz="2000" b="1" u="sng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Cost</a:t>
            </a:r>
            <a:r>
              <a:rPr lang="es-ES" altLang="es-AR" sz="20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 Drivers de Actividades</a:t>
            </a:r>
            <a:r>
              <a:rPr lang="es-ES" altLang="es-AR" sz="2000" b="1" dirty="0">
                <a:latin typeface="+mj-lt"/>
                <a:cs typeface="Arial" charset="0"/>
              </a:rPr>
              <a:t>:</a:t>
            </a: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AF4A8307-0401-4596-B969-FF2B709AB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502" y="4294381"/>
            <a:ext cx="9906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_tradnl" altLang="es-AR" sz="2000" dirty="0">
                <a:latin typeface="+mj-lt"/>
              </a:rPr>
              <a:t>Aquí se definirá el costo indirecto a asignar a cada producto o servicio.</a:t>
            </a:r>
          </a:p>
          <a:p>
            <a:pPr eaLnBrk="1" hangingPunct="1"/>
            <a:r>
              <a:rPr lang="es-ES_tradnl" altLang="es-AR" sz="2000" dirty="0">
                <a:latin typeface="+mj-lt"/>
              </a:rPr>
              <a:t>Es decir el output de las Actividades, y cuánto de las mismas es consumido por los distintos Objetos de Costos</a:t>
            </a:r>
            <a:r>
              <a:rPr lang="es-ES" altLang="es-AR" sz="20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061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E6081C6-CD93-497F-BDCA-161E5303B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638309C0-B99A-4046-8BE6-1D5FBCDD0879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734532" y="623888"/>
            <a:ext cx="100112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s-MX" altLang="es-AR" sz="3600" b="1" dirty="0">
                <a:cs typeface="Arial" charset="0"/>
              </a:rPr>
              <a:t>ETAPAS PARA LA IMPLEMENTACIÓN DEL ABC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57D088A-6943-44CB-A6FA-94E04BCE5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579" y="1432730"/>
            <a:ext cx="9906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ES" altLang="es-AR" sz="2000" dirty="0">
                <a:latin typeface="+mj-lt"/>
              </a:rPr>
              <a:t>Los </a:t>
            </a:r>
            <a:r>
              <a:rPr lang="es-ES" altLang="es-AR" sz="2000" dirty="0" err="1">
                <a:latin typeface="+mj-lt"/>
              </a:rPr>
              <a:t>Cost</a:t>
            </a:r>
            <a:r>
              <a:rPr lang="es-ES" altLang="es-AR" sz="2000" dirty="0">
                <a:latin typeface="+mj-lt"/>
              </a:rPr>
              <a:t> Drivers de Actividades pueden ser de distintos tipos: 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46BF8CE5-01EE-4E67-A871-E4641162F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579" y="2048977"/>
            <a:ext cx="99060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342900" indent="-342900" algn="just" eaLnBrk="1" hangingPunct="1">
              <a:buClr>
                <a:srgbClr val="92D050"/>
              </a:buClr>
              <a:buFont typeface="Arial" panose="020B0604020202020204" pitchFamily="34" charset="0"/>
              <a:buChar char="•"/>
              <a:defRPr/>
            </a:pPr>
            <a:r>
              <a:rPr lang="es-ES" altLang="es-AR" sz="2000" b="1" u="sng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Cost</a:t>
            </a:r>
            <a:r>
              <a:rPr lang="es-ES" altLang="es-AR" sz="20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 Drivers de Operaciones</a:t>
            </a:r>
            <a:r>
              <a:rPr lang="es-ES" altLang="es-AR" sz="2000" dirty="0">
                <a:latin typeface="+mj-lt"/>
                <a:cs typeface="Arial" charset="0"/>
              </a:rPr>
              <a:t>: La cantidad de operaciones o transacciones realizadas para cada Objeto de Costos, será la cuota de Costos de dicha Actividad asignada al mismo. Por ejemplo cantidad de Facturas realizadas para cada producto. 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738FEA56-9B67-4F97-A51F-B95F2A8C6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579" y="3592027"/>
            <a:ext cx="99060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 eaLnBrk="1" hangingPunct="1">
              <a:buClr>
                <a:srgbClr val="92D050"/>
              </a:buClr>
              <a:buFont typeface="Arial" panose="020B0604020202020204" pitchFamily="34" charset="0"/>
              <a:buChar char="•"/>
              <a:defRPr/>
            </a:pPr>
            <a:r>
              <a:rPr lang="es-ES_tradnl" altLang="es-AR" sz="2000" b="1" u="sng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Cost</a:t>
            </a:r>
            <a:r>
              <a:rPr lang="es-ES_tradnl" altLang="es-AR" sz="20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Drivers de Tiempo</a:t>
            </a:r>
            <a:r>
              <a:rPr lang="es-ES_tradnl" altLang="es-AR" sz="2000" dirty="0">
                <a:latin typeface="+mj-lt"/>
              </a:rPr>
              <a:t>: En este caso interesa la duración de la Actividad para su aplicación a cada Objeto de Costos. </a:t>
            </a:r>
            <a:endParaRPr lang="es-ES" altLang="es-AR" sz="2000" dirty="0">
              <a:latin typeface="+mj-lt"/>
            </a:endParaRPr>
          </a:p>
          <a:p>
            <a:pPr eaLnBrk="1" hangingPunct="1">
              <a:defRPr/>
            </a:pPr>
            <a:r>
              <a:rPr lang="es-ES" altLang="es-AR" sz="2000" dirty="0">
                <a:latin typeface="+mj-lt"/>
              </a:rPr>
              <a:t>     Las Actividades relacionadas con el mantenimiento, se distribuyen haciendo mención al tiempo que cada Objeto utiliza de ellas. 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49BE084F-9E26-4317-873E-D51378D0D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579" y="5081005"/>
            <a:ext cx="9906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 eaLnBrk="1" hangingPunct="1">
              <a:buClr>
                <a:srgbClr val="92D050"/>
              </a:buClr>
              <a:buFont typeface="Arial" panose="020B0604020202020204" pitchFamily="34" charset="0"/>
              <a:buChar char="•"/>
              <a:defRPr/>
            </a:pPr>
            <a:r>
              <a:rPr lang="es-ES_tradnl" altLang="es-AR" sz="2000" b="1" u="sng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Cost</a:t>
            </a:r>
            <a:r>
              <a:rPr lang="es-ES_tradnl" altLang="es-AR" sz="20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Drivers de Intensidad</a:t>
            </a:r>
            <a:r>
              <a:rPr lang="es-ES_tradnl" altLang="es-AR" sz="2000" dirty="0">
                <a:latin typeface="+mj-lt"/>
              </a:rPr>
              <a:t>: A veces la dedicación que se le brinda a cada Actividad, podrá servir (en caso de poder medirlo) como base de distribución.</a:t>
            </a:r>
            <a:endParaRPr lang="es-ES" altLang="es-AR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9381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E6081C6-CD93-497F-BDCA-161E5303B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57D088A-6943-44CB-A6FA-94E04BCE5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579" y="1432730"/>
            <a:ext cx="9906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ES" altLang="es-AR" sz="2000" dirty="0">
                <a:latin typeface="+mj-lt"/>
              </a:rPr>
              <a:t>CONCLUSIONES: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46BF8CE5-01EE-4E67-A871-E4641162F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579" y="2112663"/>
            <a:ext cx="9906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342900" indent="-342900" algn="just" eaLnBrk="1" hangingPunct="1">
              <a:buClr>
                <a:srgbClr val="92D050"/>
              </a:buClr>
              <a:buFont typeface="Arial" panose="020B0604020202020204" pitchFamily="34" charset="0"/>
              <a:buChar char="•"/>
              <a:defRPr/>
            </a:pPr>
            <a:r>
              <a:rPr lang="es-ES" altLang="es-AR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</a:rPr>
              <a:t>El análisis ABC lleva en si mismo un gran número de  tareas de exploración y razonamiento </a:t>
            </a:r>
            <a:endParaRPr lang="es-ES" altLang="es-AR" sz="2000" dirty="0">
              <a:latin typeface="+mj-lt"/>
              <a:cs typeface="Arial" charset="0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738FEA56-9B67-4F97-A51F-B95F2A8C6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579" y="3041440"/>
            <a:ext cx="9906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 eaLnBrk="1" hangingPunct="1">
              <a:buClr>
                <a:srgbClr val="92D050"/>
              </a:buClr>
              <a:buFont typeface="Arial" panose="020B0604020202020204" pitchFamily="34" charset="0"/>
              <a:buChar char="•"/>
              <a:defRPr/>
            </a:pPr>
            <a:r>
              <a:rPr lang="es-ES" altLang="es-AR" sz="2000" dirty="0">
                <a:latin typeface="+mj-lt"/>
              </a:rPr>
              <a:t>Durante las primeras etapas descriptas será intensivo el relevamiento y análisis de las operaciones, pudiendo definir a este conjunto de actividades como de exploración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49BE084F-9E26-4317-873E-D51378D0D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579" y="4277994"/>
            <a:ext cx="9906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 eaLnBrk="1" hangingPunct="1">
              <a:buClr>
                <a:srgbClr val="92D050"/>
              </a:buClr>
              <a:buFont typeface="Arial" panose="020B0604020202020204" pitchFamily="34" charset="0"/>
              <a:buChar char="•"/>
              <a:defRPr/>
            </a:pPr>
            <a:r>
              <a:rPr lang="es-ES" altLang="es-AR" sz="2000" dirty="0">
                <a:latin typeface="+mj-lt"/>
              </a:rPr>
              <a:t>En las últimas, en cambio, se requiere de un profundo conocimiento de las necesidades de información de las empresas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1D3E4C4-DFFF-4994-BB3B-DE2D03FBAA09}"/>
              </a:ext>
            </a:extLst>
          </p:cNvPr>
          <p:cNvSpPr txBox="1">
            <a:spLocks/>
          </p:cNvSpPr>
          <p:nvPr/>
        </p:nvSpPr>
        <p:spPr>
          <a:xfrm>
            <a:off x="2188262" y="525163"/>
            <a:ext cx="8910638" cy="7676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MX" altLang="es-AR" b="1" dirty="0">
                <a:cs typeface="Arial" charset="0"/>
              </a:rPr>
              <a:t>ACTIVITY BASED COSTING (ABC)</a:t>
            </a:r>
            <a:endParaRPr lang="es-AR" b="1" dirty="0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3B0ED49-FD62-4751-A9A9-201FA3736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698" y="5171958"/>
            <a:ext cx="9906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 eaLnBrk="1" hangingPunct="1">
              <a:buClr>
                <a:srgbClr val="92D050"/>
              </a:buClr>
              <a:buFont typeface="Arial" panose="020B0604020202020204" pitchFamily="34" charset="0"/>
              <a:buChar char="•"/>
              <a:defRPr/>
            </a:pPr>
            <a:r>
              <a:rPr lang="es-ES" altLang="es-AR" sz="2000" dirty="0">
                <a:latin typeface="+mj-lt"/>
              </a:rPr>
              <a:t>Es por esto que deberá ser realizado por un grupo multidisciplinario de profesionales involucrando desde la alta gerencia de la empresa hasta los niveles ejecutores de las actividades </a:t>
            </a:r>
          </a:p>
        </p:txBody>
      </p:sp>
    </p:spTree>
    <p:extLst>
      <p:ext uri="{BB962C8B-B14F-4D97-AF65-F5344CB8AC3E}">
        <p14:creationId xmlns:p14="http://schemas.microsoft.com/office/powerpoint/2010/main" val="139425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theme/theme1.xml><?xml version="1.0" encoding="utf-8"?>
<a:theme xmlns:a="http://schemas.openxmlformats.org/drawingml/2006/main" name="Espiral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8086</TotalTime>
  <Words>3165</Words>
  <Application>Microsoft Office PowerPoint</Application>
  <PresentationFormat>Panorámica</PresentationFormat>
  <Paragraphs>528</Paragraphs>
  <Slides>41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8" baseType="lpstr">
      <vt:lpstr>Arial</vt:lpstr>
      <vt:lpstr>Calibri</vt:lpstr>
      <vt:lpstr>Century Gothic</vt:lpstr>
      <vt:lpstr>Tahoma</vt:lpstr>
      <vt:lpstr>Times New Roman</vt:lpstr>
      <vt:lpstr>Wingdings 3</vt:lpstr>
      <vt:lpstr>Espiral</vt:lpstr>
      <vt:lpstr>COSTOS Y PRESUPUESTOS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DISTRIBUCION DE GASTOS INDIRECTOS</vt:lpstr>
      <vt:lpstr>ACTIVITY BASED COSTING (ABC)</vt:lpstr>
      <vt:lpstr>ACTIVITY BASED COSTING (ABC)</vt:lpstr>
      <vt:lpstr>ACTIVITY BASED COSTING (ABC)</vt:lpstr>
      <vt:lpstr>METODO TRADICIONAL DE DISTRIBUCION DE GASTOS INDIRECTOS </vt:lpstr>
      <vt:lpstr>ESQUEMA DEL ABC SIMPLE </vt:lpstr>
      <vt:lpstr>ACTIVITY BASED COSTING (ABC)</vt:lpstr>
      <vt:lpstr>EJEMPLO: ACTIVIDADES EN EL PROCESO DE VENTAS</vt:lpstr>
      <vt:lpstr>ETAPAS PARA LA IMPLEMENTACIÓN DEL ABC</vt:lpstr>
      <vt:lpstr>ETAPAS PARA LA IMPLEMENTACIÓN DEL ABC</vt:lpstr>
      <vt:lpstr>ETAPAS PARA LA IMPLEMENTACIÓN DEL ABC</vt:lpstr>
      <vt:lpstr>ETAPAS PARA LA IMPLEMENTACIÓN DEL ABC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COSTOS Y PRESUPUESTOS</dc:title>
  <dc:creator>gustavo massucco</dc:creator>
  <cp:lastModifiedBy>gustavo massucco</cp:lastModifiedBy>
  <cp:revision>329</cp:revision>
  <dcterms:created xsi:type="dcterms:W3CDTF">2020-04-19T20:11:04Z</dcterms:created>
  <dcterms:modified xsi:type="dcterms:W3CDTF">2020-09-22T20:33:00Z</dcterms:modified>
</cp:coreProperties>
</file>