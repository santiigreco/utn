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9" r:id="rId2"/>
    <p:sldId id="38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4" r:id="rId26"/>
    <p:sldId id="285" r:id="rId27"/>
    <p:sldId id="286" r:id="rId28"/>
    <p:sldId id="287" r:id="rId29"/>
    <p:sldId id="289" r:id="rId30"/>
    <p:sldId id="288" r:id="rId31"/>
    <p:sldId id="290" r:id="rId32"/>
    <p:sldId id="291" r:id="rId33"/>
    <p:sldId id="292" r:id="rId34"/>
    <p:sldId id="293" r:id="rId35"/>
    <p:sldId id="294" r:id="rId36"/>
    <p:sldId id="295" r:id="rId37"/>
    <p:sldId id="297" r:id="rId38"/>
    <p:sldId id="298" r:id="rId39"/>
    <p:sldId id="300" r:id="rId40"/>
    <p:sldId id="301" r:id="rId41"/>
    <p:sldId id="302" r:id="rId42"/>
    <p:sldId id="305" r:id="rId43"/>
    <p:sldId id="306" r:id="rId44"/>
    <p:sldId id="304" r:id="rId45"/>
    <p:sldId id="307" r:id="rId46"/>
    <p:sldId id="308" r:id="rId47"/>
    <p:sldId id="309" r:id="rId48"/>
    <p:sldId id="310" r:id="rId49"/>
    <p:sldId id="311" r:id="rId50"/>
    <p:sldId id="313" r:id="rId51"/>
    <p:sldId id="314" r:id="rId52"/>
    <p:sldId id="315" r:id="rId53"/>
    <p:sldId id="316" r:id="rId54"/>
    <p:sldId id="317" r:id="rId55"/>
    <p:sldId id="320" r:id="rId56"/>
    <p:sldId id="319" r:id="rId57"/>
    <p:sldId id="318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3" r:id="rId70"/>
    <p:sldId id="334" r:id="rId71"/>
    <p:sldId id="337" r:id="rId72"/>
    <p:sldId id="388" r:id="rId73"/>
    <p:sldId id="336" r:id="rId74"/>
    <p:sldId id="339" r:id="rId75"/>
    <p:sldId id="340" r:id="rId76"/>
    <p:sldId id="341" r:id="rId77"/>
    <p:sldId id="342" r:id="rId78"/>
    <p:sldId id="382" r:id="rId79"/>
    <p:sldId id="345" r:id="rId80"/>
    <p:sldId id="346" r:id="rId81"/>
    <p:sldId id="347" r:id="rId82"/>
    <p:sldId id="348" r:id="rId83"/>
    <p:sldId id="350" r:id="rId84"/>
    <p:sldId id="351" r:id="rId85"/>
    <p:sldId id="353" r:id="rId86"/>
    <p:sldId id="354" r:id="rId87"/>
    <p:sldId id="355" r:id="rId88"/>
    <p:sldId id="356" r:id="rId89"/>
    <p:sldId id="357" r:id="rId90"/>
    <p:sldId id="358" r:id="rId91"/>
    <p:sldId id="359" r:id="rId92"/>
    <p:sldId id="360" r:id="rId93"/>
    <p:sldId id="361" r:id="rId94"/>
    <p:sldId id="362" r:id="rId95"/>
    <p:sldId id="363" r:id="rId96"/>
    <p:sldId id="364" r:id="rId97"/>
    <p:sldId id="365" r:id="rId98"/>
    <p:sldId id="366" r:id="rId99"/>
    <p:sldId id="367" r:id="rId100"/>
    <p:sldId id="368" r:id="rId101"/>
    <p:sldId id="369" r:id="rId102"/>
    <p:sldId id="370" r:id="rId103"/>
    <p:sldId id="371" r:id="rId104"/>
    <p:sldId id="372" r:id="rId105"/>
    <p:sldId id="373" r:id="rId106"/>
    <p:sldId id="374" r:id="rId107"/>
    <p:sldId id="375" r:id="rId108"/>
    <p:sldId id="376" r:id="rId109"/>
    <p:sldId id="377" r:id="rId110"/>
    <p:sldId id="378" r:id="rId111"/>
    <p:sldId id="379" r:id="rId112"/>
    <p:sldId id="381" r:id="rId113"/>
    <p:sldId id="383" r:id="rId114"/>
    <p:sldId id="384" r:id="rId115"/>
    <p:sldId id="385" r:id="rId116"/>
    <p:sldId id="386" r:id="rId11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18"/>
      <p:bold r:id="rId119"/>
      <p:italic r:id="rId120"/>
      <p:boldItalic r:id="rId121"/>
    </p:embeddedFont>
    <p:embeddedFont>
      <p:font typeface="Calibri Light" panose="020F0302020204030204" pitchFamily="34" charset="0"/>
      <p:regular r:id="rId122"/>
      <p:italic r:id="rId123"/>
    </p:embeddedFont>
    <p:embeddedFont>
      <p:font typeface="Roboto" panose="02000000000000000000" pitchFamily="2" charset="0"/>
      <p:regular r:id="rId124"/>
      <p:bold r:id="rId125"/>
      <p:italic r:id="rId126"/>
      <p:boldItalic r:id="rId1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C - 23" id="{8D306A23-266A-4D81-95F4-29F702DC32AF}">
          <p14:sldIdLst>
            <p14:sldId id="259"/>
            <p14:sldId id="387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4"/>
            <p14:sldId id="285"/>
            <p14:sldId id="286"/>
            <p14:sldId id="287"/>
            <p14:sldId id="289"/>
            <p14:sldId id="288"/>
          </p14:sldIdLst>
        </p14:section>
        <p14:section name="ABC 25" id="{8CFF9551-A89E-40C9-B54E-A8264C5DEEA9}">
          <p14:sldIdLst>
            <p14:sldId id="290"/>
            <p14:sldId id="291"/>
            <p14:sldId id="292"/>
            <p14:sldId id="293"/>
            <p14:sldId id="294"/>
            <p14:sldId id="295"/>
            <p14:sldId id="297"/>
            <p14:sldId id="298"/>
            <p14:sldId id="300"/>
            <p14:sldId id="301"/>
            <p14:sldId id="302"/>
            <p14:sldId id="305"/>
            <p14:sldId id="306"/>
            <p14:sldId id="304"/>
            <p14:sldId id="307"/>
            <p14:sldId id="308"/>
            <p14:sldId id="309"/>
            <p14:sldId id="310"/>
            <p14:sldId id="311"/>
            <p14:sldId id="313"/>
            <p14:sldId id="314"/>
            <p14:sldId id="315"/>
            <p14:sldId id="316"/>
            <p14:sldId id="317"/>
            <p14:sldId id="320"/>
            <p14:sldId id="319"/>
            <p14:sldId id="318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3"/>
            <p14:sldId id="334"/>
            <p14:sldId id="337"/>
            <p14:sldId id="388"/>
            <p14:sldId id="336"/>
          </p14:sldIdLst>
        </p14:section>
        <p14:section name="ABC - 26" id="{F017BBEF-4B3B-4307-8168-922CE6FB79D9}">
          <p14:sldIdLst>
            <p14:sldId id="339"/>
            <p14:sldId id="340"/>
            <p14:sldId id="341"/>
            <p14:sldId id="342"/>
            <p14:sldId id="382"/>
            <p14:sldId id="345"/>
            <p14:sldId id="346"/>
            <p14:sldId id="347"/>
            <p14:sldId id="348"/>
            <p14:sldId id="350"/>
            <p14:sldId id="351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1"/>
            <p14:sldId id="383"/>
            <p14:sldId id="384"/>
            <p14:sldId id="385"/>
            <p14:sldId id="3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92C"/>
    <a:srgbClr val="FF4E41"/>
    <a:srgbClr val="191C3B"/>
    <a:srgbClr val="1F4E79"/>
    <a:srgbClr val="272C5B"/>
    <a:srgbClr val="3238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4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1638" y="66"/>
      </p:cViewPr>
      <p:guideLst>
        <p:guide orient="horz" pos="2183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6.fntdata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1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7.fntdata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font" Target="fonts/font2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3.fntdata"/><Relationship Id="rId125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4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632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952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797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0877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1475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4947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923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3008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77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26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37773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BDFAE-212E-4FC1-A657-097B8E33719D}" type="datetimeFigureOut">
              <a:rPr lang="es-AR" smtClean="0"/>
              <a:t>2/10/2023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7A8CB-83B0-4135-95CD-F0293758F43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828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0A48ED9D-EB29-8988-9896-ACD152630490}"/>
              </a:ext>
            </a:extLst>
          </p:cNvPr>
          <p:cNvSpPr txBox="1"/>
          <p:nvPr/>
        </p:nvSpPr>
        <p:spPr>
          <a:xfrm>
            <a:off x="342900" y="5218443"/>
            <a:ext cx="6052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Grupo 6 – </a:t>
            </a:r>
            <a:r>
              <a:rPr lang="es-419" sz="2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Marándola</a:t>
            </a:r>
            <a:r>
              <a:rPr lang="es-419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/ </a:t>
            </a:r>
            <a:r>
              <a:rPr lang="es-419" sz="2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Maubert</a:t>
            </a:r>
            <a:endParaRPr lang="es-419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1342B8-0BA6-B41C-EF54-0723CA058AFB}"/>
              </a:ext>
            </a:extLst>
          </p:cNvPr>
          <p:cNvSpPr txBox="1"/>
          <p:nvPr/>
        </p:nvSpPr>
        <p:spPr>
          <a:xfrm>
            <a:off x="342899" y="5615995"/>
            <a:ext cx="7600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lang="es-AR" sz="3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5CD477-F1B4-168E-2642-991A00C2CEF2}"/>
              </a:ext>
            </a:extLst>
          </p:cNvPr>
          <p:cNvSpPr txBox="1"/>
          <p:nvPr/>
        </p:nvSpPr>
        <p:spPr>
          <a:xfrm>
            <a:off x="342899" y="6126365"/>
            <a:ext cx="524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402013" algn="l"/>
              </a:tabLst>
            </a:pPr>
            <a:r>
              <a:rPr lang="es-AR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Ejemplos prácticos</a:t>
            </a:r>
            <a:endParaRPr lang="es-419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B60C39B-72C3-917F-179B-DC0D30E6206C}"/>
              </a:ext>
            </a:extLst>
          </p:cNvPr>
          <p:cNvSpPr/>
          <p:nvPr/>
        </p:nvSpPr>
        <p:spPr>
          <a:xfrm>
            <a:off x="202293" y="5191125"/>
            <a:ext cx="87086" cy="1451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860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323876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lang="es-AR" b="1" dirty="0">
                <a:solidFill>
                  <a:srgbClr val="323876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402013" algn="l"/>
              </a:tabLst>
            </a:pPr>
            <a:r>
              <a:rPr lang="es-AR" sz="1400" b="1" dirty="0">
                <a:solidFill>
                  <a:srgbClr val="323876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lang="es-419" sz="1400" dirty="0">
                <a:solidFill>
                  <a:srgbClr val="323876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48ED9D-EB29-8988-9896-ACD152630490}"/>
              </a:ext>
            </a:extLst>
          </p:cNvPr>
          <p:cNvSpPr txBox="1"/>
          <p:nvPr/>
        </p:nvSpPr>
        <p:spPr>
          <a:xfrm>
            <a:off x="449472" y="2736502"/>
            <a:ext cx="81720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Sea una empresa que produce 2 artículos </a:t>
            </a:r>
            <a:r>
              <a:rPr lang="es-419" sz="2800" b="1" dirty="0">
                <a:solidFill>
                  <a:srgbClr val="FF4E4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</a:t>
            </a:r>
            <a:r>
              <a:rPr lang="es-419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y </a:t>
            </a:r>
            <a:r>
              <a:rPr lang="es-419" sz="2800" b="1" dirty="0">
                <a:solidFill>
                  <a:srgbClr val="FEC92C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</a:t>
            </a:r>
            <a:r>
              <a:rPr lang="es-419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con </a:t>
            </a:r>
            <a:r>
              <a:rPr lang="es-419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idéntica cantidad de horas </a:t>
            </a:r>
            <a:r>
              <a:rPr lang="es-419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mano de obra directa. Tenemos los siguientes datos.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2873174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48ED9D-EB29-8988-9896-ACD152630490}"/>
              </a:ext>
            </a:extLst>
          </p:cNvPr>
          <p:cNvSpPr txBox="1"/>
          <p:nvPr/>
        </p:nvSpPr>
        <p:spPr>
          <a:xfrm>
            <a:off x="921778" y="1226581"/>
            <a:ext cx="73004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Sea una empresa que produce 2 artículos </a:t>
            </a:r>
            <a:r>
              <a:rPr kumimoji="0" lang="es-419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y </a:t>
            </a:r>
            <a:r>
              <a:rPr kumimoji="0" lang="es-419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con </a:t>
            </a:r>
            <a:r>
              <a:rPr kumimoji="0" lang="es-41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idéntica cantidad de horas 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mano de obra directa. Tenemos los siguientes datos.</a:t>
            </a:r>
            <a:endParaRPr kumimoji="0" lang="es-A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F32D29D2-65A1-95F7-2FCB-08C260910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742011"/>
              </p:ext>
            </p:extLst>
          </p:nvPr>
        </p:nvGraphicFramePr>
        <p:xfrm>
          <a:off x="921781" y="2139170"/>
          <a:ext cx="7300440" cy="3675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088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460088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460088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460088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460088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93812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4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1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1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26.000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566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48ED9D-EB29-8988-9896-ACD152630490}"/>
              </a:ext>
            </a:extLst>
          </p:cNvPr>
          <p:cNvSpPr txBox="1"/>
          <p:nvPr/>
        </p:nvSpPr>
        <p:spPr>
          <a:xfrm>
            <a:off x="640274" y="5367005"/>
            <a:ext cx="7936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de materiales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el artículo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$300.000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para el artículo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$250.000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de 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$80.000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en partes iguales. 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F32D29D2-65A1-95F7-2FCB-08C260910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879447"/>
              </p:ext>
            </p:extLst>
          </p:nvPr>
        </p:nvGraphicFramePr>
        <p:xfrm>
          <a:off x="958290" y="1415479"/>
          <a:ext cx="7300440" cy="3675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088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460088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460088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460088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460088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93812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4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1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1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26.000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26267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37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3234680"/>
            <a:ext cx="81720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028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507297"/>
              </p:ext>
            </p:extLst>
          </p:nvPr>
        </p:nvGraphicFramePr>
        <p:xfrm>
          <a:off x="1506200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26.000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EDB105F-DC77-6FA6-2A39-68EBEB9BDB3F}"/>
              </a:ext>
            </a:extLst>
          </p:cNvPr>
          <p:cNvSpPr/>
          <p:nvPr/>
        </p:nvSpPr>
        <p:spPr>
          <a:xfrm>
            <a:off x="7729538" y="1815303"/>
            <a:ext cx="1414462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2399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5065"/>
              </p:ext>
            </p:extLst>
          </p:nvPr>
        </p:nvGraphicFramePr>
        <p:xfrm>
          <a:off x="833100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26.000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EDB105F-DC77-6FA6-2A39-68EBEB9BDB3F}"/>
              </a:ext>
            </a:extLst>
          </p:cNvPr>
          <p:cNvSpPr/>
          <p:nvPr/>
        </p:nvSpPr>
        <p:spPr>
          <a:xfrm>
            <a:off x="8288338" y="1815303"/>
            <a:ext cx="1414462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451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924384"/>
              </p:ext>
            </p:extLst>
          </p:nvPr>
        </p:nvGraphicFramePr>
        <p:xfrm>
          <a:off x="-424200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 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</a:t>
                      </a:r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</a:t>
                      </a:r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EDB105F-DC77-6FA6-2A39-68EBEB9BDB3F}"/>
              </a:ext>
            </a:extLst>
          </p:cNvPr>
          <p:cNvSpPr/>
          <p:nvPr/>
        </p:nvSpPr>
        <p:spPr>
          <a:xfrm>
            <a:off x="7048500" y="181530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56B524-EB68-0FAE-9A74-74C972990118}"/>
              </a:ext>
            </a:extLst>
          </p:cNvPr>
          <p:cNvSpPr/>
          <p:nvPr/>
        </p:nvSpPr>
        <p:spPr>
          <a:xfrm>
            <a:off x="-1" y="1879835"/>
            <a:ext cx="329882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9F224F-1C6D-EA55-4FFE-2C0DFEBB27E4}"/>
              </a:ext>
            </a:extLst>
          </p:cNvPr>
          <p:cNvSpPr txBox="1"/>
          <p:nvPr/>
        </p:nvSpPr>
        <p:spPr>
          <a:xfrm>
            <a:off x="515184" y="3646782"/>
            <a:ext cx="236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Sumo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eventos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ambos artículos. 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3074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306959"/>
              </p:ext>
            </p:extLst>
          </p:nvPr>
        </p:nvGraphicFramePr>
        <p:xfrm>
          <a:off x="-424200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EDB105F-DC77-6FA6-2A39-68EBEB9BDB3F}"/>
              </a:ext>
            </a:extLst>
          </p:cNvPr>
          <p:cNvSpPr/>
          <p:nvPr/>
        </p:nvSpPr>
        <p:spPr>
          <a:xfrm>
            <a:off x="7048500" y="181530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56B524-EB68-0FAE-9A74-74C972990118}"/>
              </a:ext>
            </a:extLst>
          </p:cNvPr>
          <p:cNvSpPr/>
          <p:nvPr/>
        </p:nvSpPr>
        <p:spPr>
          <a:xfrm>
            <a:off x="-1" y="1879835"/>
            <a:ext cx="329882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9F224F-1C6D-EA55-4FFE-2C0DFEBB27E4}"/>
              </a:ext>
            </a:extLst>
          </p:cNvPr>
          <p:cNvSpPr txBox="1"/>
          <p:nvPr/>
        </p:nvSpPr>
        <p:spPr>
          <a:xfrm>
            <a:off x="515184" y="3646782"/>
            <a:ext cx="236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Sumo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eventos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ambos artículos. 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070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906413"/>
              </p:ext>
            </p:extLst>
          </p:nvPr>
        </p:nvGraphicFramePr>
        <p:xfrm>
          <a:off x="-424200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 / 5.000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 / 8.000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 / 600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 / 40.000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 / 750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EDB105F-DC77-6FA6-2A39-68EBEB9BDB3F}"/>
              </a:ext>
            </a:extLst>
          </p:cNvPr>
          <p:cNvSpPr/>
          <p:nvPr/>
        </p:nvSpPr>
        <p:spPr>
          <a:xfrm>
            <a:off x="8293100" y="181530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0E5402B-E183-4F34-6AF6-87AC3536091A}"/>
              </a:ext>
            </a:extLst>
          </p:cNvPr>
          <p:cNvSpPr/>
          <p:nvPr/>
        </p:nvSpPr>
        <p:spPr>
          <a:xfrm>
            <a:off x="-38100" y="1815302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0C24E21-B8EC-A5DF-D42A-7B3EFB549845}"/>
              </a:ext>
            </a:extLst>
          </p:cNvPr>
          <p:cNvSpPr/>
          <p:nvPr/>
        </p:nvSpPr>
        <p:spPr>
          <a:xfrm>
            <a:off x="3309938" y="1815302"/>
            <a:ext cx="2478088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F255050-8DA9-7FEF-5778-988D3178745F}"/>
              </a:ext>
            </a:extLst>
          </p:cNvPr>
          <p:cNvSpPr txBox="1"/>
          <p:nvPr/>
        </p:nvSpPr>
        <p:spPr>
          <a:xfrm>
            <a:off x="3473846" y="3138951"/>
            <a:ext cx="2196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unitarios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división entre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incurrido 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eventos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22FA62F8-BE9C-F13D-97AF-57EE1DF8D4DA}"/>
              </a:ext>
            </a:extLst>
          </p:cNvPr>
          <p:cNvSpPr/>
          <p:nvPr/>
        </p:nvSpPr>
        <p:spPr>
          <a:xfrm>
            <a:off x="3309938" y="2743200"/>
            <a:ext cx="976312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10AF77F6-5648-9DF1-2465-058870ABF854}"/>
              </a:ext>
            </a:extLst>
          </p:cNvPr>
          <p:cNvSpPr/>
          <p:nvPr/>
        </p:nvSpPr>
        <p:spPr>
          <a:xfrm>
            <a:off x="4857752" y="2743200"/>
            <a:ext cx="976312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igno de división 14">
            <a:extLst>
              <a:ext uri="{FF2B5EF4-FFF2-40B4-BE49-F238E27FC236}">
                <a16:creationId xmlns:a16="http://schemas.microsoft.com/office/drawing/2014/main" id="{614238AA-6D25-A7DC-663E-E6188414D793}"/>
              </a:ext>
            </a:extLst>
          </p:cNvPr>
          <p:cNvSpPr/>
          <p:nvPr/>
        </p:nvSpPr>
        <p:spPr>
          <a:xfrm>
            <a:off x="4362647" y="2651289"/>
            <a:ext cx="399653" cy="479095"/>
          </a:xfrm>
          <a:prstGeom prst="mathDivide">
            <a:avLst>
              <a:gd name="adj1" fmla="val 9378"/>
              <a:gd name="adj2" fmla="val 5880"/>
              <a:gd name="adj3" fmla="val 104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6311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943497"/>
              </p:ext>
            </p:extLst>
          </p:nvPr>
        </p:nvGraphicFramePr>
        <p:xfrm>
          <a:off x="-424200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EDB105F-DC77-6FA6-2A39-68EBEB9BDB3F}"/>
              </a:ext>
            </a:extLst>
          </p:cNvPr>
          <p:cNvSpPr/>
          <p:nvPr/>
        </p:nvSpPr>
        <p:spPr>
          <a:xfrm>
            <a:off x="8293100" y="181530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0E5402B-E183-4F34-6AF6-87AC3536091A}"/>
              </a:ext>
            </a:extLst>
          </p:cNvPr>
          <p:cNvSpPr/>
          <p:nvPr/>
        </p:nvSpPr>
        <p:spPr>
          <a:xfrm>
            <a:off x="-38100" y="1815302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0C24E21-B8EC-A5DF-D42A-7B3EFB549845}"/>
              </a:ext>
            </a:extLst>
          </p:cNvPr>
          <p:cNvSpPr/>
          <p:nvPr/>
        </p:nvSpPr>
        <p:spPr>
          <a:xfrm>
            <a:off x="3309938" y="1815302"/>
            <a:ext cx="2478088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F255050-8DA9-7FEF-5778-988D3178745F}"/>
              </a:ext>
            </a:extLst>
          </p:cNvPr>
          <p:cNvSpPr txBox="1"/>
          <p:nvPr/>
        </p:nvSpPr>
        <p:spPr>
          <a:xfrm>
            <a:off x="3473846" y="3138951"/>
            <a:ext cx="2196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unitarios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división entre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incurrido 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eventos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662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351069"/>
              </p:ext>
            </p:extLst>
          </p:nvPr>
        </p:nvGraphicFramePr>
        <p:xfrm>
          <a:off x="-2441685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46 </a:t>
                      </a:r>
                      <a:endParaRPr lang="es-AR" sz="1050" dirty="0">
                        <a:solidFill>
                          <a:srgbClr val="FEC92C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 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20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135</a:t>
                      </a:r>
                      <a:endParaRPr lang="es-AR" sz="1050" dirty="0">
                        <a:solidFill>
                          <a:srgbClr val="FEC92C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8</a:t>
                      </a:r>
                      <a:endParaRPr lang="es-AR" sz="1050" dirty="0">
                        <a:solidFill>
                          <a:srgbClr val="FEC92C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120</a:t>
                      </a:r>
                      <a:endParaRPr lang="es-AR" sz="1050" dirty="0">
                        <a:solidFill>
                          <a:srgbClr val="FEC92C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EDB105F-DC77-6FA6-2A39-68EBEB9BDB3F}"/>
              </a:ext>
            </a:extLst>
          </p:cNvPr>
          <p:cNvSpPr/>
          <p:nvPr/>
        </p:nvSpPr>
        <p:spPr>
          <a:xfrm>
            <a:off x="7523843" y="1815301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0E5402B-E183-4F34-6AF6-87AC3536091A}"/>
              </a:ext>
            </a:extLst>
          </p:cNvPr>
          <p:cNvSpPr/>
          <p:nvPr/>
        </p:nvSpPr>
        <p:spPr>
          <a:xfrm>
            <a:off x="-2456200" y="1632749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E14897A-5CAD-10B1-B47C-9D108F0C4847}"/>
              </a:ext>
            </a:extLst>
          </p:cNvPr>
          <p:cNvSpPr/>
          <p:nvPr/>
        </p:nvSpPr>
        <p:spPr>
          <a:xfrm>
            <a:off x="2533649" y="1537161"/>
            <a:ext cx="246697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FE2E29-2395-AC2F-15F3-5916138780BD}"/>
              </a:ext>
            </a:extLst>
          </p:cNvPr>
          <p:cNvSpPr txBox="1"/>
          <p:nvPr/>
        </p:nvSpPr>
        <p:spPr>
          <a:xfrm>
            <a:off x="4596399" y="5983980"/>
            <a:ext cx="3347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Gastos Indirectos de Fabricación</a:t>
            </a:r>
            <a:endParaRPr kumimoji="0" lang="es-419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multiplicación entre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DC830B38-61A6-69BB-AC1E-DF18B1BF5ACB}"/>
              </a:ext>
            </a:extLst>
          </p:cNvPr>
          <p:cNvSpPr/>
          <p:nvPr/>
        </p:nvSpPr>
        <p:spPr>
          <a:xfrm>
            <a:off x="2533649" y="2743200"/>
            <a:ext cx="976312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45940B-A979-D296-B1B2-523D8274FCF6}"/>
              </a:ext>
            </a:extLst>
          </p:cNvPr>
          <p:cNvSpPr/>
          <p:nvPr/>
        </p:nvSpPr>
        <p:spPr>
          <a:xfrm>
            <a:off x="4081463" y="2743200"/>
            <a:ext cx="976312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8D00099F-F987-9E89-DE54-A0917C7C5FCC}"/>
              </a:ext>
            </a:extLst>
          </p:cNvPr>
          <p:cNvSpPr/>
          <p:nvPr/>
        </p:nvSpPr>
        <p:spPr>
          <a:xfrm>
            <a:off x="3581398" y="2686838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6386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576945"/>
              </p:ext>
            </p:extLst>
          </p:nvPr>
        </p:nvGraphicFramePr>
        <p:xfrm>
          <a:off x="-2441685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96.000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EDB105F-DC77-6FA6-2A39-68EBEB9BDB3F}"/>
              </a:ext>
            </a:extLst>
          </p:cNvPr>
          <p:cNvSpPr/>
          <p:nvPr/>
        </p:nvSpPr>
        <p:spPr>
          <a:xfrm>
            <a:off x="7523843" y="1815301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0E5402B-E183-4F34-6AF6-87AC3536091A}"/>
              </a:ext>
            </a:extLst>
          </p:cNvPr>
          <p:cNvSpPr/>
          <p:nvPr/>
        </p:nvSpPr>
        <p:spPr>
          <a:xfrm>
            <a:off x="-2456200" y="1632749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E14897A-5CAD-10B1-B47C-9D108F0C4847}"/>
              </a:ext>
            </a:extLst>
          </p:cNvPr>
          <p:cNvSpPr/>
          <p:nvPr/>
        </p:nvSpPr>
        <p:spPr>
          <a:xfrm>
            <a:off x="2533649" y="1537161"/>
            <a:ext cx="246697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FE2E29-2395-AC2F-15F3-5916138780BD}"/>
              </a:ext>
            </a:extLst>
          </p:cNvPr>
          <p:cNvSpPr txBox="1"/>
          <p:nvPr/>
        </p:nvSpPr>
        <p:spPr>
          <a:xfrm>
            <a:off x="4583471" y="5983980"/>
            <a:ext cx="3347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Gastos Indirectos de Fabricación</a:t>
            </a:r>
            <a:endParaRPr kumimoji="0" lang="es-419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multiplicación entre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962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020964"/>
              </p:ext>
            </p:extLst>
          </p:nvPr>
        </p:nvGraphicFramePr>
        <p:xfrm>
          <a:off x="-3394185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96.000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 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F0E5402B-E183-4F34-6AF6-87AC3536091A}"/>
              </a:ext>
            </a:extLst>
          </p:cNvPr>
          <p:cNvSpPr/>
          <p:nvPr/>
        </p:nvSpPr>
        <p:spPr>
          <a:xfrm>
            <a:off x="-3434100" y="1632749"/>
            <a:ext cx="4990168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E14897A-5CAD-10B1-B47C-9D108F0C4847}"/>
              </a:ext>
            </a:extLst>
          </p:cNvPr>
          <p:cNvSpPr/>
          <p:nvPr/>
        </p:nvSpPr>
        <p:spPr>
          <a:xfrm>
            <a:off x="5312227" y="1724983"/>
            <a:ext cx="122373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E5AD20-7751-E71F-63DA-76404C6C8F2B}"/>
              </a:ext>
            </a:extLst>
          </p:cNvPr>
          <p:cNvSpPr/>
          <p:nvPr/>
        </p:nvSpPr>
        <p:spPr>
          <a:xfrm>
            <a:off x="2833322" y="1800789"/>
            <a:ext cx="122373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FE2E29-2395-AC2F-15F3-5916138780BD}"/>
              </a:ext>
            </a:extLst>
          </p:cNvPr>
          <p:cNvSpPr txBox="1"/>
          <p:nvPr/>
        </p:nvSpPr>
        <p:spPr>
          <a:xfrm>
            <a:off x="3513138" y="6225313"/>
            <a:ext cx="204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Repito el mismo proceso para el artículo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77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80796"/>
              </p:ext>
            </p:extLst>
          </p:nvPr>
        </p:nvGraphicFramePr>
        <p:xfrm>
          <a:off x="-3394185" y="20439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96.000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F0E5402B-E183-4F34-6AF6-87AC3536091A}"/>
              </a:ext>
            </a:extLst>
          </p:cNvPr>
          <p:cNvSpPr/>
          <p:nvPr/>
        </p:nvSpPr>
        <p:spPr>
          <a:xfrm>
            <a:off x="-3434100" y="1632749"/>
            <a:ext cx="4990168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E9738F2-1EA1-4138-69F8-945198C8B58D}"/>
              </a:ext>
            </a:extLst>
          </p:cNvPr>
          <p:cNvSpPr/>
          <p:nvPr/>
        </p:nvSpPr>
        <p:spPr>
          <a:xfrm>
            <a:off x="5312227" y="1724983"/>
            <a:ext cx="122373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0AB8A29-BDC9-2379-1CE2-101EC4244AFB}"/>
              </a:ext>
            </a:extLst>
          </p:cNvPr>
          <p:cNvSpPr/>
          <p:nvPr/>
        </p:nvSpPr>
        <p:spPr>
          <a:xfrm>
            <a:off x="2833322" y="1800789"/>
            <a:ext cx="122373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3613C1-6B61-2E8E-B796-27D456D71A40}"/>
              </a:ext>
            </a:extLst>
          </p:cNvPr>
          <p:cNvSpPr txBox="1"/>
          <p:nvPr/>
        </p:nvSpPr>
        <p:spPr>
          <a:xfrm>
            <a:off x="3513138" y="6225313"/>
            <a:ext cx="204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Repito el mismo proceso para el artículo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3527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050955"/>
              </p:ext>
            </p:extLst>
          </p:nvPr>
        </p:nvGraphicFramePr>
        <p:xfrm>
          <a:off x="-5413485" y="18153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96.000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E355677-0CB0-47CF-9A13-A0AECA43C915}"/>
              </a:ext>
            </a:extLst>
          </p:cNvPr>
          <p:cNvSpPr/>
          <p:nvPr/>
        </p:nvSpPr>
        <p:spPr>
          <a:xfrm>
            <a:off x="-1712058" y="1601693"/>
            <a:ext cx="4990168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430932-A8D2-7D94-0C21-1AEF6FE5B8EF}"/>
              </a:ext>
            </a:extLst>
          </p:cNvPr>
          <p:cNvSpPr txBox="1"/>
          <p:nvPr/>
        </p:nvSpPr>
        <p:spPr>
          <a:xfrm>
            <a:off x="515184" y="3646782"/>
            <a:ext cx="236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Calculo el GIF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ambos artículos. 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Tabla 2">
            <a:extLst>
              <a:ext uri="{FF2B5EF4-FFF2-40B4-BE49-F238E27FC236}">
                <a16:creationId xmlns:a16="http://schemas.microsoft.com/office/drawing/2014/main" id="{8DFB76E6-825E-BDBB-6C9F-4EF8C739B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646603"/>
              </p:ext>
            </p:extLst>
          </p:nvPr>
        </p:nvGraphicFramePr>
        <p:xfrm>
          <a:off x="3290810" y="5780631"/>
          <a:ext cx="2485626" cy="534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$ 379.000</a:t>
                      </a:r>
                      <a:endParaRPr lang="es-AR" sz="1600" b="1" dirty="0">
                        <a:solidFill>
                          <a:srgbClr val="FF4E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$ 502.000</a:t>
                      </a:r>
                      <a:endParaRPr lang="es-AR" sz="1600" b="1" dirty="0">
                        <a:solidFill>
                          <a:srgbClr val="FEC92C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EB22A8E-5ADC-EEAB-8E35-7C1A45702595}"/>
              </a:ext>
            </a:extLst>
          </p:cNvPr>
          <p:cNvSpPr txBox="1"/>
          <p:nvPr/>
        </p:nvSpPr>
        <p:spPr>
          <a:xfrm>
            <a:off x="3387187" y="6369566"/>
            <a:ext cx="236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72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/>
        </p:nvGraphicFramePr>
        <p:xfrm>
          <a:off x="-1863835" y="18153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94.200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219.800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E355677-0CB0-47CF-9A13-A0AECA43C915}"/>
              </a:ext>
            </a:extLst>
          </p:cNvPr>
          <p:cNvSpPr/>
          <p:nvPr/>
        </p:nvSpPr>
        <p:spPr>
          <a:xfrm>
            <a:off x="-1974850" y="1601693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AF7E5315-73E5-D9BE-4919-B570F9E6D593}"/>
              </a:ext>
            </a:extLst>
          </p:cNvPr>
          <p:cNvGraphicFramePr>
            <a:graphicFrameLocks noGrp="1"/>
          </p:cNvGraphicFramePr>
          <p:nvPr/>
        </p:nvGraphicFramePr>
        <p:xfrm>
          <a:off x="352547" y="1846812"/>
          <a:ext cx="1242813" cy="384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</a:tblGrid>
              <a:tr h="542603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4475B37-4C29-E25A-B074-568D47A30932}"/>
              </a:ext>
            </a:extLst>
          </p:cNvPr>
          <p:cNvSpPr/>
          <p:nvPr/>
        </p:nvSpPr>
        <p:spPr>
          <a:xfrm>
            <a:off x="4353325" y="1601693"/>
            <a:ext cx="5060121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804D0E-057D-91BA-436A-F6228DFC18E4}"/>
              </a:ext>
            </a:extLst>
          </p:cNvPr>
          <p:cNvSpPr txBox="1"/>
          <p:nvPr/>
        </p:nvSpPr>
        <p:spPr>
          <a:xfrm>
            <a:off x="4691448" y="3605758"/>
            <a:ext cx="4383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Calculo 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Unitarios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 dividiendo a las unidades producidas.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Tabla 2">
            <a:extLst>
              <a:ext uri="{FF2B5EF4-FFF2-40B4-BE49-F238E27FC236}">
                <a16:creationId xmlns:a16="http://schemas.microsoft.com/office/drawing/2014/main" id="{8DFB76E6-825E-BDBB-6C9F-4EF8C739B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769231"/>
              </p:ext>
            </p:extLst>
          </p:nvPr>
        </p:nvGraphicFramePr>
        <p:xfrm>
          <a:off x="5639025" y="2192976"/>
          <a:ext cx="2485626" cy="534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$ 379.000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$ 502.000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EB22A8E-5ADC-EEAB-8E35-7C1A45702595}"/>
              </a:ext>
            </a:extLst>
          </p:cNvPr>
          <p:cNvSpPr txBox="1"/>
          <p:nvPr/>
        </p:nvSpPr>
        <p:spPr>
          <a:xfrm>
            <a:off x="5735402" y="2781911"/>
            <a:ext cx="236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2525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/>
        </p:nvGraphicFramePr>
        <p:xfrm>
          <a:off x="-1863835" y="18153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94.200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219.800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E355677-0CB0-47CF-9A13-A0AECA43C915}"/>
              </a:ext>
            </a:extLst>
          </p:cNvPr>
          <p:cNvSpPr/>
          <p:nvPr/>
        </p:nvSpPr>
        <p:spPr>
          <a:xfrm>
            <a:off x="-1974850" y="1601693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AF7E5315-73E5-D9BE-4919-B570F9E6D593}"/>
              </a:ext>
            </a:extLst>
          </p:cNvPr>
          <p:cNvGraphicFramePr>
            <a:graphicFrameLocks noGrp="1"/>
          </p:cNvGraphicFramePr>
          <p:nvPr/>
        </p:nvGraphicFramePr>
        <p:xfrm>
          <a:off x="352547" y="1846812"/>
          <a:ext cx="1242813" cy="384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</a:tblGrid>
              <a:tr h="542603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4475B37-4C29-E25A-B074-568D47A30932}"/>
              </a:ext>
            </a:extLst>
          </p:cNvPr>
          <p:cNvSpPr/>
          <p:nvPr/>
        </p:nvSpPr>
        <p:spPr>
          <a:xfrm>
            <a:off x="4353325" y="1601693"/>
            <a:ext cx="5060121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804D0E-057D-91BA-436A-F6228DFC18E4}"/>
              </a:ext>
            </a:extLst>
          </p:cNvPr>
          <p:cNvSpPr txBox="1"/>
          <p:nvPr/>
        </p:nvSpPr>
        <p:spPr>
          <a:xfrm>
            <a:off x="4691448" y="3605758"/>
            <a:ext cx="4383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Calculo 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Unitarios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 dividiendo a las unidades producidas.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3CF400-20D0-1321-21FB-DDFD182CA000}"/>
              </a:ext>
            </a:extLst>
          </p:cNvPr>
          <p:cNvSpPr txBox="1"/>
          <p:nvPr/>
        </p:nvSpPr>
        <p:spPr>
          <a:xfrm>
            <a:off x="4691448" y="4738809"/>
            <a:ext cx="4383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GIFu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$ 379.000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/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5.000 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B7B320-8817-3963-BF7F-00866ACCDE55}"/>
              </a:ext>
            </a:extLst>
          </p:cNvPr>
          <p:cNvSpPr txBox="1"/>
          <p:nvPr/>
        </p:nvSpPr>
        <p:spPr>
          <a:xfrm>
            <a:off x="4691448" y="5256307"/>
            <a:ext cx="4383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GIFu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B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$ 502.000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20.000 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Tabla 2">
            <a:extLst>
              <a:ext uri="{FF2B5EF4-FFF2-40B4-BE49-F238E27FC236}">
                <a16:creationId xmlns:a16="http://schemas.microsoft.com/office/drawing/2014/main" id="{8DFB76E6-825E-BDBB-6C9F-4EF8C739B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19475"/>
              </p:ext>
            </p:extLst>
          </p:nvPr>
        </p:nvGraphicFramePr>
        <p:xfrm>
          <a:off x="5639025" y="2192976"/>
          <a:ext cx="2485626" cy="534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$ 379.000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$ 502.000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EB22A8E-5ADC-EEAB-8E35-7C1A45702595}"/>
              </a:ext>
            </a:extLst>
          </p:cNvPr>
          <p:cNvSpPr txBox="1"/>
          <p:nvPr/>
        </p:nvSpPr>
        <p:spPr>
          <a:xfrm>
            <a:off x="5735402" y="2781911"/>
            <a:ext cx="236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718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de fabricación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3CF400-20D0-1321-21FB-DDFD182CA000}"/>
              </a:ext>
            </a:extLst>
          </p:cNvPr>
          <p:cNvSpPr txBox="1"/>
          <p:nvPr/>
        </p:nvSpPr>
        <p:spPr>
          <a:xfrm>
            <a:off x="2343551" y="3113209"/>
            <a:ext cx="43838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GIFu</a:t>
            </a: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$ 75,80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36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B7B320-8817-3963-BF7F-00866ACCDE55}"/>
              </a:ext>
            </a:extLst>
          </p:cNvPr>
          <p:cNvSpPr txBox="1"/>
          <p:nvPr/>
        </p:nvSpPr>
        <p:spPr>
          <a:xfrm>
            <a:off x="2343551" y="3877450"/>
            <a:ext cx="4383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GIFu</a:t>
            </a: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B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$ 25,10 </a:t>
            </a:r>
          </a:p>
        </p:txBody>
      </p:sp>
    </p:spTree>
    <p:extLst>
      <p:ext uri="{BB962C8B-B14F-4D97-AF65-F5344CB8AC3E}">
        <p14:creationId xmlns:p14="http://schemas.microsoft.com/office/powerpoint/2010/main" val="3795373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3234680"/>
            <a:ext cx="8172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115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5ED6A0-9E8E-1C0A-2C11-2C8995C87DB1}"/>
              </a:ext>
            </a:extLst>
          </p:cNvPr>
          <p:cNvSpPr txBox="1"/>
          <p:nvPr/>
        </p:nvSpPr>
        <p:spPr>
          <a:xfrm>
            <a:off x="1414767" y="3105834"/>
            <a:ext cx="6314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+ </a:t>
            </a: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+ </a:t>
            </a: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</a:p>
        </p:txBody>
      </p:sp>
    </p:spTree>
    <p:extLst>
      <p:ext uri="{BB962C8B-B14F-4D97-AF65-F5344CB8AC3E}">
        <p14:creationId xmlns:p14="http://schemas.microsoft.com/office/powerpoint/2010/main" val="804006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5ED6A0-9E8E-1C0A-2C11-2C8995C87DB1}"/>
              </a:ext>
            </a:extLst>
          </p:cNvPr>
          <p:cNvSpPr txBox="1"/>
          <p:nvPr/>
        </p:nvSpPr>
        <p:spPr>
          <a:xfrm>
            <a:off x="1414767" y="3105834"/>
            <a:ext cx="6314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+ </a:t>
            </a: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+ </a:t>
            </a:r>
            <a:r>
              <a:rPr kumimoji="0" lang="es-419" sz="3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BDB1B16-BAA3-27C4-F741-474A6705231A}"/>
              </a:ext>
            </a:extLst>
          </p:cNvPr>
          <p:cNvSpPr txBox="1"/>
          <p:nvPr/>
        </p:nvSpPr>
        <p:spPr>
          <a:xfrm>
            <a:off x="603763" y="5629759"/>
            <a:ext cx="7936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de materiales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el artículo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$300.000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para el artículo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$250.000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de 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$80.000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en partes iguales. 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827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5ED6A0-9E8E-1C0A-2C11-2C8995C87DB1}"/>
              </a:ext>
            </a:extLst>
          </p:cNvPr>
          <p:cNvSpPr txBox="1"/>
          <p:nvPr/>
        </p:nvSpPr>
        <p:spPr>
          <a:xfrm>
            <a:off x="485983" y="3105834"/>
            <a:ext cx="81720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A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$300.000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$40.000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BDB1B16-BAA3-27C4-F741-474A6705231A}"/>
              </a:ext>
            </a:extLst>
          </p:cNvPr>
          <p:cNvSpPr txBox="1"/>
          <p:nvPr/>
        </p:nvSpPr>
        <p:spPr>
          <a:xfrm>
            <a:off x="603763" y="5629759"/>
            <a:ext cx="7936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de materiales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el artículo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$300.000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para el artículo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$250.000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de 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$80.000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en partes iguales. 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904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5ED6A0-9E8E-1C0A-2C11-2C8995C87DB1}"/>
              </a:ext>
            </a:extLst>
          </p:cNvPr>
          <p:cNvSpPr txBox="1"/>
          <p:nvPr/>
        </p:nvSpPr>
        <p:spPr>
          <a:xfrm>
            <a:off x="485983" y="3105834"/>
            <a:ext cx="81720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A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$300.000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$40.000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</a:p>
        </p:txBody>
      </p:sp>
      <p:graphicFrame>
        <p:nvGraphicFramePr>
          <p:cNvPr id="4" name="Tabla 2">
            <a:extLst>
              <a:ext uri="{FF2B5EF4-FFF2-40B4-BE49-F238E27FC236}">
                <a16:creationId xmlns:a16="http://schemas.microsoft.com/office/drawing/2014/main" id="{AAC2B892-6627-C7F9-A535-9A0323580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810093"/>
              </p:ext>
            </p:extLst>
          </p:nvPr>
        </p:nvGraphicFramePr>
        <p:xfrm>
          <a:off x="3292675" y="1923769"/>
          <a:ext cx="2485626" cy="534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$ 379.000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$ 502.000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CA991EFA-09CD-F7EC-1B8C-694B594A6DE7}"/>
              </a:ext>
            </a:extLst>
          </p:cNvPr>
          <p:cNvSpPr txBox="1"/>
          <p:nvPr/>
        </p:nvSpPr>
        <p:spPr>
          <a:xfrm>
            <a:off x="3389052" y="2512704"/>
            <a:ext cx="236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747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5ED6A0-9E8E-1C0A-2C11-2C8995C87DB1}"/>
              </a:ext>
            </a:extLst>
          </p:cNvPr>
          <p:cNvSpPr txBox="1"/>
          <p:nvPr/>
        </p:nvSpPr>
        <p:spPr>
          <a:xfrm>
            <a:off x="485984" y="3167390"/>
            <a:ext cx="817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A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$300.000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$40.000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$379.000 </a:t>
            </a:r>
          </a:p>
        </p:txBody>
      </p:sp>
      <p:graphicFrame>
        <p:nvGraphicFramePr>
          <p:cNvPr id="4" name="Tabla 2">
            <a:extLst>
              <a:ext uri="{FF2B5EF4-FFF2-40B4-BE49-F238E27FC236}">
                <a16:creationId xmlns:a16="http://schemas.microsoft.com/office/drawing/2014/main" id="{AAC2B892-6627-C7F9-A535-9A0323580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629796"/>
              </p:ext>
            </p:extLst>
          </p:nvPr>
        </p:nvGraphicFramePr>
        <p:xfrm>
          <a:off x="3292675" y="1923769"/>
          <a:ext cx="2485626" cy="534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$ 379.000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$ 502.000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CA991EFA-09CD-F7EC-1B8C-694B594A6DE7}"/>
              </a:ext>
            </a:extLst>
          </p:cNvPr>
          <p:cNvSpPr txBox="1"/>
          <p:nvPr/>
        </p:nvSpPr>
        <p:spPr>
          <a:xfrm>
            <a:off x="3389052" y="2512704"/>
            <a:ext cx="236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2DB8963-FFCE-C6FB-D538-7EE63261820D}"/>
              </a:ext>
            </a:extLst>
          </p:cNvPr>
          <p:cNvSpPr txBox="1"/>
          <p:nvPr/>
        </p:nvSpPr>
        <p:spPr>
          <a:xfrm>
            <a:off x="485984" y="3714354"/>
            <a:ext cx="817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B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$300.000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$40.000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lang="es-AR" sz="2800" b="1" dirty="0">
                <a:solidFill>
                  <a:srgbClr val="FEC92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$502.000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7124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5ED6A0-9E8E-1C0A-2C11-2C8995C87DB1}"/>
              </a:ext>
            </a:extLst>
          </p:cNvPr>
          <p:cNvSpPr txBox="1"/>
          <p:nvPr/>
        </p:nvSpPr>
        <p:spPr>
          <a:xfrm>
            <a:off x="485984" y="3167390"/>
            <a:ext cx="817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A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$ 719.000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13F6A9A-8708-2148-0D5C-1D78C693A500}"/>
              </a:ext>
            </a:extLst>
          </p:cNvPr>
          <p:cNvSpPr txBox="1"/>
          <p:nvPr/>
        </p:nvSpPr>
        <p:spPr>
          <a:xfrm>
            <a:off x="485984" y="3690610"/>
            <a:ext cx="817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B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$ 842.000 </a:t>
            </a:r>
          </a:p>
        </p:txBody>
      </p:sp>
    </p:spTree>
    <p:extLst>
      <p:ext uri="{BB962C8B-B14F-4D97-AF65-F5344CB8AC3E}">
        <p14:creationId xmlns:p14="http://schemas.microsoft.com/office/powerpoint/2010/main" val="1070466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2561"/>
              </p:ext>
            </p:extLst>
          </p:nvPr>
        </p:nvGraphicFramePr>
        <p:xfrm>
          <a:off x="-1863835" y="18153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94.200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219.800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E355677-0CB0-47CF-9A13-A0AECA43C915}"/>
              </a:ext>
            </a:extLst>
          </p:cNvPr>
          <p:cNvSpPr/>
          <p:nvPr/>
        </p:nvSpPr>
        <p:spPr>
          <a:xfrm>
            <a:off x="-1974850" y="1601693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AF7E5315-73E5-D9BE-4919-B570F9E6D593}"/>
              </a:ext>
            </a:extLst>
          </p:cNvPr>
          <p:cNvGraphicFramePr>
            <a:graphicFrameLocks noGrp="1"/>
          </p:cNvGraphicFramePr>
          <p:nvPr/>
        </p:nvGraphicFramePr>
        <p:xfrm>
          <a:off x="352547" y="1846812"/>
          <a:ext cx="1242813" cy="384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</a:tblGrid>
              <a:tr h="542603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4475B37-4C29-E25A-B074-568D47A30932}"/>
              </a:ext>
            </a:extLst>
          </p:cNvPr>
          <p:cNvSpPr/>
          <p:nvPr/>
        </p:nvSpPr>
        <p:spPr>
          <a:xfrm>
            <a:off x="4353325" y="1601693"/>
            <a:ext cx="5060121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804D0E-057D-91BA-436A-F6228DFC18E4}"/>
              </a:ext>
            </a:extLst>
          </p:cNvPr>
          <p:cNvSpPr txBox="1"/>
          <p:nvPr/>
        </p:nvSpPr>
        <p:spPr>
          <a:xfrm>
            <a:off x="4572000" y="1815303"/>
            <a:ext cx="4383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Divido por la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lang="es-419" sz="20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obtener el costo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unitario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6474D2-B9A9-CE8B-2A0A-A5F3E0B71C38}"/>
              </a:ext>
            </a:extLst>
          </p:cNvPr>
          <p:cNvSpPr txBox="1"/>
          <p:nvPr/>
        </p:nvSpPr>
        <p:spPr>
          <a:xfrm>
            <a:off x="4690923" y="2552217"/>
            <a:ext cx="408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A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$ 719.000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0FF4F73-611F-4AD4-3976-37FB0B348DC1}"/>
              </a:ext>
            </a:extLst>
          </p:cNvPr>
          <p:cNvSpPr txBox="1"/>
          <p:nvPr/>
        </p:nvSpPr>
        <p:spPr>
          <a:xfrm>
            <a:off x="4690923" y="2967335"/>
            <a:ext cx="408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B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$ 842.000 </a:t>
            </a:r>
            <a:endParaRPr kumimoji="0" lang="es-419" sz="2400" b="1" i="0" u="none" strike="noStrike" kern="1200" cap="none" spc="0" normalizeH="0" baseline="0" noProof="0" dirty="0">
              <a:ln>
                <a:noFill/>
              </a:ln>
              <a:solidFill>
                <a:srgbClr val="FF4E4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22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1255"/>
              </p:ext>
            </p:extLst>
          </p:nvPr>
        </p:nvGraphicFramePr>
        <p:xfrm>
          <a:off x="-1863835" y="18153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94.200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219.800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E355677-0CB0-47CF-9A13-A0AECA43C915}"/>
              </a:ext>
            </a:extLst>
          </p:cNvPr>
          <p:cNvSpPr/>
          <p:nvPr/>
        </p:nvSpPr>
        <p:spPr>
          <a:xfrm>
            <a:off x="-1974850" y="1601693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AF7E5315-73E5-D9BE-4919-B570F9E6D593}"/>
              </a:ext>
            </a:extLst>
          </p:cNvPr>
          <p:cNvGraphicFramePr>
            <a:graphicFrameLocks noGrp="1"/>
          </p:cNvGraphicFramePr>
          <p:nvPr/>
        </p:nvGraphicFramePr>
        <p:xfrm>
          <a:off x="352547" y="1846812"/>
          <a:ext cx="1242813" cy="384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</a:tblGrid>
              <a:tr h="542603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4475B37-4C29-E25A-B074-568D47A30932}"/>
              </a:ext>
            </a:extLst>
          </p:cNvPr>
          <p:cNvSpPr/>
          <p:nvPr/>
        </p:nvSpPr>
        <p:spPr>
          <a:xfrm>
            <a:off x="4353325" y="1601693"/>
            <a:ext cx="479067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D0951BF-3832-30E3-E559-84AB740F9525}"/>
              </a:ext>
            </a:extLst>
          </p:cNvPr>
          <p:cNvSpPr txBox="1"/>
          <p:nvPr/>
        </p:nvSpPr>
        <p:spPr>
          <a:xfrm>
            <a:off x="4495865" y="3825183"/>
            <a:ext cx="4432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A </a:t>
            </a:r>
            <a:r>
              <a:rPr kumimoji="0" lang="es-419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$ 719.000 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5.000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5D2FBA5-053C-34BE-8A1C-C8B37DE9735A}"/>
              </a:ext>
            </a:extLst>
          </p:cNvPr>
          <p:cNvSpPr txBox="1"/>
          <p:nvPr/>
        </p:nvSpPr>
        <p:spPr>
          <a:xfrm>
            <a:off x="4572000" y="1815303"/>
            <a:ext cx="4383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Divido por la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lang="es-419" sz="20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obtener el costo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unitario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2920FC3-B0DC-BE64-F6A0-20FB4F0EA922}"/>
              </a:ext>
            </a:extLst>
          </p:cNvPr>
          <p:cNvSpPr txBox="1"/>
          <p:nvPr/>
        </p:nvSpPr>
        <p:spPr>
          <a:xfrm>
            <a:off x="4690923" y="2552217"/>
            <a:ext cx="408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A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$ 719.000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1BD40A2-4D5F-808C-949F-F00760F5901C}"/>
              </a:ext>
            </a:extLst>
          </p:cNvPr>
          <p:cNvSpPr txBox="1"/>
          <p:nvPr/>
        </p:nvSpPr>
        <p:spPr>
          <a:xfrm>
            <a:off x="4690923" y="2967335"/>
            <a:ext cx="408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B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$ 842.000 </a:t>
            </a:r>
            <a:endParaRPr kumimoji="0" lang="es-419" sz="2400" b="1" i="0" u="none" strike="noStrike" kern="1200" cap="none" spc="0" normalizeH="0" baseline="0" noProof="0" dirty="0">
              <a:ln>
                <a:noFill/>
              </a:ln>
              <a:solidFill>
                <a:srgbClr val="FF4E4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250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077745"/>
              </p:ext>
            </p:extLst>
          </p:nvPr>
        </p:nvGraphicFramePr>
        <p:xfrm>
          <a:off x="-1863835" y="18153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94.200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219.800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E355677-0CB0-47CF-9A13-A0AECA43C915}"/>
              </a:ext>
            </a:extLst>
          </p:cNvPr>
          <p:cNvSpPr/>
          <p:nvPr/>
        </p:nvSpPr>
        <p:spPr>
          <a:xfrm>
            <a:off x="-1974850" y="1601693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AF7E5315-73E5-D9BE-4919-B570F9E6D593}"/>
              </a:ext>
            </a:extLst>
          </p:cNvPr>
          <p:cNvGraphicFramePr>
            <a:graphicFrameLocks noGrp="1"/>
          </p:cNvGraphicFramePr>
          <p:nvPr/>
        </p:nvGraphicFramePr>
        <p:xfrm>
          <a:off x="352547" y="1846812"/>
          <a:ext cx="1242813" cy="384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</a:tblGrid>
              <a:tr h="542603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4475B37-4C29-E25A-B074-568D47A30932}"/>
              </a:ext>
            </a:extLst>
          </p:cNvPr>
          <p:cNvSpPr/>
          <p:nvPr/>
        </p:nvSpPr>
        <p:spPr>
          <a:xfrm>
            <a:off x="4353325" y="1601693"/>
            <a:ext cx="479067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D0951BF-3832-30E3-E559-84AB740F9525}"/>
              </a:ext>
            </a:extLst>
          </p:cNvPr>
          <p:cNvSpPr txBox="1"/>
          <p:nvPr/>
        </p:nvSpPr>
        <p:spPr>
          <a:xfrm>
            <a:off x="4495865" y="3825183"/>
            <a:ext cx="4432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A </a:t>
            </a:r>
            <a:r>
              <a:rPr kumimoji="0" lang="es-419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$ 719.000 / 5.000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5D2FBA5-053C-34BE-8A1C-C8B37DE9735A}"/>
              </a:ext>
            </a:extLst>
          </p:cNvPr>
          <p:cNvSpPr txBox="1"/>
          <p:nvPr/>
        </p:nvSpPr>
        <p:spPr>
          <a:xfrm>
            <a:off x="4572000" y="1815303"/>
            <a:ext cx="4383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Divido por la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para obtener el costo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unitario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2920FC3-B0DC-BE64-F6A0-20FB4F0EA922}"/>
              </a:ext>
            </a:extLst>
          </p:cNvPr>
          <p:cNvSpPr txBox="1"/>
          <p:nvPr/>
        </p:nvSpPr>
        <p:spPr>
          <a:xfrm>
            <a:off x="4690923" y="2552217"/>
            <a:ext cx="408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A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$ 719.000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1BD40A2-4D5F-808C-949F-F00760F5901C}"/>
              </a:ext>
            </a:extLst>
          </p:cNvPr>
          <p:cNvSpPr txBox="1"/>
          <p:nvPr/>
        </p:nvSpPr>
        <p:spPr>
          <a:xfrm>
            <a:off x="4690923" y="2967335"/>
            <a:ext cx="4086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total B </a:t>
            </a: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4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$ 842.000 </a:t>
            </a:r>
            <a:endParaRPr kumimoji="0" lang="es-419" sz="2400" b="1" i="0" u="none" strike="noStrike" kern="1200" cap="none" spc="0" normalizeH="0" baseline="0" noProof="0" dirty="0">
              <a:ln>
                <a:noFill/>
              </a:ln>
              <a:solidFill>
                <a:srgbClr val="FF4E4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E7E166-DEC0-419A-9B80-18670C311E2B}"/>
              </a:ext>
            </a:extLst>
          </p:cNvPr>
          <p:cNvSpPr txBox="1"/>
          <p:nvPr/>
        </p:nvSpPr>
        <p:spPr>
          <a:xfrm>
            <a:off x="4495865" y="4161513"/>
            <a:ext cx="4432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B </a:t>
            </a:r>
            <a:r>
              <a:rPr kumimoji="0" lang="es-419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$ 842.000 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sz="1600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20</a:t>
            </a: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.000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9648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 unitario total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artículo.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0B958F6D-4B31-4126-DFB9-AA595C8DA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097251"/>
              </p:ext>
            </p:extLst>
          </p:nvPr>
        </p:nvGraphicFramePr>
        <p:xfrm>
          <a:off x="-1863835" y="1815303"/>
          <a:ext cx="11185317" cy="38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242813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</a:tblGrid>
              <a:tr h="5345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A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B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FEC92C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46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81.000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135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314.000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94.200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219.800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72.000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20.000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 aplica </a:t>
                      </a:r>
                    </a:p>
                    <a:p>
                      <a:pPr algn="ctr"/>
                      <a:r>
                        <a:rPr lang="es-AR" sz="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(unidades producidas)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E355677-0CB0-47CF-9A13-A0AECA43C915}"/>
              </a:ext>
            </a:extLst>
          </p:cNvPr>
          <p:cNvSpPr/>
          <p:nvPr/>
        </p:nvSpPr>
        <p:spPr>
          <a:xfrm>
            <a:off x="-1974850" y="1601693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AF7E5315-73E5-D9BE-4919-B570F9E6D593}"/>
              </a:ext>
            </a:extLst>
          </p:cNvPr>
          <p:cNvGraphicFramePr>
            <a:graphicFrameLocks noGrp="1"/>
          </p:cNvGraphicFramePr>
          <p:nvPr/>
        </p:nvGraphicFramePr>
        <p:xfrm>
          <a:off x="352547" y="1846812"/>
          <a:ext cx="1242813" cy="384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13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</a:tblGrid>
              <a:tr h="542603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51092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4475B37-4C29-E25A-B074-568D47A30932}"/>
              </a:ext>
            </a:extLst>
          </p:cNvPr>
          <p:cNvSpPr/>
          <p:nvPr/>
        </p:nvSpPr>
        <p:spPr>
          <a:xfrm>
            <a:off x="4353325" y="1601693"/>
            <a:ext cx="479067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804D0E-057D-91BA-436A-F6228DFC18E4}"/>
              </a:ext>
            </a:extLst>
          </p:cNvPr>
          <p:cNvSpPr txBox="1"/>
          <p:nvPr/>
        </p:nvSpPr>
        <p:spPr>
          <a:xfrm>
            <a:off x="4550002" y="1859862"/>
            <a:ext cx="4383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Divido por la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para obtener el costo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unitario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total.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D0951BF-3832-30E3-E559-84AB740F9525}"/>
              </a:ext>
            </a:extLst>
          </p:cNvPr>
          <p:cNvSpPr txBox="1"/>
          <p:nvPr/>
        </p:nvSpPr>
        <p:spPr>
          <a:xfrm>
            <a:off x="4550002" y="3260795"/>
            <a:ext cx="44321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A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 143,80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9A3A7B8-147A-06E2-1957-666AD0E55D4C}"/>
              </a:ext>
            </a:extLst>
          </p:cNvPr>
          <p:cNvSpPr txBox="1"/>
          <p:nvPr/>
        </p:nvSpPr>
        <p:spPr>
          <a:xfrm>
            <a:off x="4572000" y="4377270"/>
            <a:ext cx="44321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B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FEC9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  42,10   </a:t>
            </a:r>
          </a:p>
        </p:txBody>
      </p:sp>
    </p:spTree>
    <p:extLst>
      <p:ext uri="{BB962C8B-B14F-4D97-AF65-F5344CB8AC3E}">
        <p14:creationId xmlns:p14="http://schemas.microsoft.com/office/powerpoint/2010/main" val="4018930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48ED9D-EB29-8988-9896-ACD152630490}"/>
              </a:ext>
            </a:extLst>
          </p:cNvPr>
          <p:cNvSpPr txBox="1"/>
          <p:nvPr/>
        </p:nvSpPr>
        <p:spPr>
          <a:xfrm>
            <a:off x="485984" y="1617296"/>
            <a:ext cx="81720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Una empresa fabrica</a:t>
            </a:r>
            <a:r>
              <a:rPr kumimoji="0" lang="es-419" sz="2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los productos </a:t>
            </a:r>
            <a:r>
              <a:rPr kumimoji="0" lang="es-419" sz="2800" b="1" i="0" u="none" strike="noStrike" kern="1200" cap="none" spc="0" normalizeH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2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  <a:r>
              <a:rPr kumimoji="0" lang="es-419" sz="28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800" baseline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Todos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los productos requieren la misma cantidad de horas de mano de obra directa.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lang="es-419" sz="2800" b="1" dirty="0">
                <a:solidFill>
                  <a:srgbClr val="FF4E4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para </a:t>
            </a:r>
            <a:r>
              <a:rPr lang="es-419" sz="28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lang="es-419" sz="2800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$ 450.000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419" sz="2800" dirty="0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$1.200.000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95034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39F5D0F-EE19-5C1F-2CD8-41D68255A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816889"/>
              </p:ext>
            </p:extLst>
          </p:nvPr>
        </p:nvGraphicFramePr>
        <p:xfrm>
          <a:off x="1502061" y="1562791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6E075388-341F-3256-9B4E-4C37C82E8427}"/>
              </a:ext>
            </a:extLst>
          </p:cNvPr>
          <p:cNvSpPr/>
          <p:nvPr/>
        </p:nvSpPr>
        <p:spPr>
          <a:xfrm>
            <a:off x="7613650" y="1284649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7831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</a:t>
            </a:r>
            <a:r>
              <a:rPr kumimoji="0" lang="es-419" sz="20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totales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</a:t>
            </a:r>
            <a:r>
              <a:rPr lang="es-419" sz="20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producto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39192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</a:t>
            </a:r>
            <a:r>
              <a:rPr kumimoji="0" lang="es-419" sz="18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</a:t>
            </a:r>
            <a:r>
              <a:rPr lang="es-419" sz="1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producto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445631"/>
              </p:ext>
            </p:extLst>
          </p:nvPr>
        </p:nvGraphicFramePr>
        <p:xfrm>
          <a:off x="1489361" y="1969191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AEA4B6D-C7B5-4A71-BB89-70E7F417B96D}"/>
              </a:ext>
            </a:extLst>
          </p:cNvPr>
          <p:cNvSpPr/>
          <p:nvPr/>
        </p:nvSpPr>
        <p:spPr>
          <a:xfrm>
            <a:off x="7600950" y="1691049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032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295827"/>
              </p:ext>
            </p:extLst>
          </p:nvPr>
        </p:nvGraphicFramePr>
        <p:xfrm>
          <a:off x="1006761" y="1969191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</a:p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</a:p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</a:t>
                      </a: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</a:t>
                      </a:r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</a:t>
                      </a: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+ </a:t>
                      </a:r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</a:t>
                      </a: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No aplica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(unidades producidas)</a:t>
                      </a:r>
                      <a:endParaRPr kumimoji="0" lang="es-A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AEA4B6D-C7B5-4A71-BB89-70E7F417B96D}"/>
              </a:ext>
            </a:extLst>
          </p:cNvPr>
          <p:cNvSpPr/>
          <p:nvPr/>
        </p:nvSpPr>
        <p:spPr>
          <a:xfrm>
            <a:off x="8121650" y="1691049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7061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9261"/>
              </p:ext>
            </p:extLst>
          </p:nvPr>
        </p:nvGraphicFramePr>
        <p:xfrm>
          <a:off x="1006761" y="1969191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No aplica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(unidades producidas)</a:t>
                      </a:r>
                      <a:endParaRPr kumimoji="0" lang="es-A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AEA4B6D-C7B5-4A71-BB89-70E7F417B96D}"/>
              </a:ext>
            </a:extLst>
          </p:cNvPr>
          <p:cNvSpPr/>
          <p:nvPr/>
        </p:nvSpPr>
        <p:spPr>
          <a:xfrm>
            <a:off x="8121650" y="1691049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402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480837"/>
              </p:ext>
            </p:extLst>
          </p:nvPr>
        </p:nvGraphicFramePr>
        <p:xfrm>
          <a:off x="-47339" y="1969191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</a:t>
                      </a:r>
                      <a:b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/ </a:t>
                      </a:r>
                      <a:r>
                        <a:rPr lang="es-A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/ </a:t>
                      </a:r>
                      <a:r>
                        <a:rPr lang="es-A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/  </a:t>
                      </a:r>
                      <a:r>
                        <a:rPr lang="es-A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/ </a:t>
                      </a:r>
                      <a:r>
                        <a:rPr lang="es-A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/ </a:t>
                      </a:r>
                      <a:r>
                        <a:rPr lang="es-A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No aplica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(unidades producidas)</a:t>
                      </a:r>
                      <a:endParaRPr kumimoji="0" lang="es-A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02678" y="188652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16251" y="1790935"/>
            <a:ext cx="303212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416908-FFCA-7A9D-61D7-EBE45E15D9E8}"/>
              </a:ext>
            </a:extLst>
          </p:cNvPr>
          <p:cNvSpPr txBox="1"/>
          <p:nvPr/>
        </p:nvSpPr>
        <p:spPr>
          <a:xfrm>
            <a:off x="3437334" y="3174996"/>
            <a:ext cx="2196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unitarios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división entre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incurrido 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eventos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B2A888D-9724-F525-4AF0-D9EC724F2613}"/>
              </a:ext>
            </a:extLst>
          </p:cNvPr>
          <p:cNvSpPr/>
          <p:nvPr/>
        </p:nvSpPr>
        <p:spPr>
          <a:xfrm>
            <a:off x="3009900" y="2794000"/>
            <a:ext cx="1220983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1A5BBC92-8F4B-378D-4565-F96E063681EE}"/>
              </a:ext>
            </a:extLst>
          </p:cNvPr>
          <p:cNvSpPr/>
          <p:nvPr/>
        </p:nvSpPr>
        <p:spPr>
          <a:xfrm>
            <a:off x="4787900" y="2794000"/>
            <a:ext cx="1266827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igno de división 14">
            <a:extLst>
              <a:ext uri="{FF2B5EF4-FFF2-40B4-BE49-F238E27FC236}">
                <a16:creationId xmlns:a16="http://schemas.microsoft.com/office/drawing/2014/main" id="{E718C202-2922-079C-0EFC-63071ECAD5DA}"/>
              </a:ext>
            </a:extLst>
          </p:cNvPr>
          <p:cNvSpPr/>
          <p:nvPr/>
        </p:nvSpPr>
        <p:spPr>
          <a:xfrm>
            <a:off x="4303910" y="2702089"/>
            <a:ext cx="399653" cy="479095"/>
          </a:xfrm>
          <a:prstGeom prst="mathDivide">
            <a:avLst>
              <a:gd name="adj1" fmla="val 9378"/>
              <a:gd name="adj2" fmla="val 5880"/>
              <a:gd name="adj3" fmla="val 104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4496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33515"/>
              </p:ext>
            </p:extLst>
          </p:nvPr>
        </p:nvGraphicFramePr>
        <p:xfrm>
          <a:off x="-47339" y="1969191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No aplica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(unidades producidas)</a:t>
                      </a:r>
                      <a:endParaRPr kumimoji="0" lang="es-A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02678" y="188652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16251" y="1790935"/>
            <a:ext cx="303212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416908-FFCA-7A9D-61D7-EBE45E15D9E8}"/>
              </a:ext>
            </a:extLst>
          </p:cNvPr>
          <p:cNvSpPr txBox="1"/>
          <p:nvPr/>
        </p:nvSpPr>
        <p:spPr>
          <a:xfrm>
            <a:off x="3437334" y="3174996"/>
            <a:ext cx="2196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unitarios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división entre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incurrido 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eventos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B2A888D-9724-F525-4AF0-D9EC724F2613}"/>
              </a:ext>
            </a:extLst>
          </p:cNvPr>
          <p:cNvSpPr/>
          <p:nvPr/>
        </p:nvSpPr>
        <p:spPr>
          <a:xfrm>
            <a:off x="3022600" y="2794000"/>
            <a:ext cx="1220983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1A5BBC92-8F4B-378D-4565-F96E063681EE}"/>
              </a:ext>
            </a:extLst>
          </p:cNvPr>
          <p:cNvSpPr/>
          <p:nvPr/>
        </p:nvSpPr>
        <p:spPr>
          <a:xfrm>
            <a:off x="4787900" y="2794000"/>
            <a:ext cx="1266827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igno de división 14">
            <a:extLst>
              <a:ext uri="{FF2B5EF4-FFF2-40B4-BE49-F238E27FC236}">
                <a16:creationId xmlns:a16="http://schemas.microsoft.com/office/drawing/2014/main" id="{E718C202-2922-079C-0EFC-63071ECAD5DA}"/>
              </a:ext>
            </a:extLst>
          </p:cNvPr>
          <p:cNvSpPr/>
          <p:nvPr/>
        </p:nvSpPr>
        <p:spPr>
          <a:xfrm>
            <a:off x="4303910" y="2702089"/>
            <a:ext cx="399653" cy="479095"/>
          </a:xfrm>
          <a:prstGeom prst="mathDivide">
            <a:avLst>
              <a:gd name="adj1" fmla="val 9378"/>
              <a:gd name="adj2" fmla="val 5880"/>
              <a:gd name="adj3" fmla="val 104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2308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47820"/>
              </p:ext>
            </p:extLst>
          </p:nvPr>
        </p:nvGraphicFramePr>
        <p:xfrm>
          <a:off x="-1063339" y="1969191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 450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 160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 222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 160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 480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02678" y="188652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16251" y="1790935"/>
            <a:ext cx="303212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CCAA9E-EA67-7CCF-B05E-82CDAC1E6E8C}"/>
              </a:ext>
            </a:extLst>
          </p:cNvPr>
          <p:cNvSpPr txBox="1"/>
          <p:nvPr/>
        </p:nvSpPr>
        <p:spPr>
          <a:xfrm>
            <a:off x="3111500" y="3174996"/>
            <a:ext cx="28067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Gastos Indirectos de Fabricación</a:t>
            </a:r>
            <a:endParaRPr kumimoji="0" lang="es-419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multiplicación entre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</a:t>
            </a: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D9D662AD-26F9-205B-C587-A324970BBB7A}"/>
              </a:ext>
            </a:extLst>
          </p:cNvPr>
          <p:cNvSpPr/>
          <p:nvPr/>
        </p:nvSpPr>
        <p:spPr>
          <a:xfrm>
            <a:off x="3009900" y="2794000"/>
            <a:ext cx="1220983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89630ADC-6023-9A05-5F7D-193283470268}"/>
              </a:ext>
            </a:extLst>
          </p:cNvPr>
          <p:cNvSpPr/>
          <p:nvPr/>
        </p:nvSpPr>
        <p:spPr>
          <a:xfrm>
            <a:off x="4787900" y="2794000"/>
            <a:ext cx="1266827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igno de multiplicación 15">
            <a:extLst>
              <a:ext uri="{FF2B5EF4-FFF2-40B4-BE49-F238E27FC236}">
                <a16:creationId xmlns:a16="http://schemas.microsoft.com/office/drawing/2014/main" id="{4E4FBC86-B666-7DA2-BC98-0ED479F94AE6}"/>
              </a:ext>
            </a:extLst>
          </p:cNvPr>
          <p:cNvSpPr/>
          <p:nvPr/>
        </p:nvSpPr>
        <p:spPr>
          <a:xfrm>
            <a:off x="4270372" y="2742282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500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602772"/>
              </p:ext>
            </p:extLst>
          </p:nvPr>
        </p:nvGraphicFramePr>
        <p:xfrm>
          <a:off x="-1063339" y="1969191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$ 1.200.000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02678" y="188652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16251" y="1790935"/>
            <a:ext cx="303212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CCAA9E-EA67-7CCF-B05E-82CDAC1E6E8C}"/>
              </a:ext>
            </a:extLst>
          </p:cNvPr>
          <p:cNvSpPr txBox="1"/>
          <p:nvPr/>
        </p:nvSpPr>
        <p:spPr>
          <a:xfrm>
            <a:off x="3111500" y="3174996"/>
            <a:ext cx="28067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Gastos Indirectos de Fabricación</a:t>
            </a:r>
            <a:endParaRPr kumimoji="0" lang="es-419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multiplicación entre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</a:t>
            </a: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D9D662AD-26F9-205B-C587-A324970BBB7A}"/>
              </a:ext>
            </a:extLst>
          </p:cNvPr>
          <p:cNvSpPr/>
          <p:nvPr/>
        </p:nvSpPr>
        <p:spPr>
          <a:xfrm>
            <a:off x="3009900" y="2794000"/>
            <a:ext cx="1220983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89630ADC-6023-9A05-5F7D-193283470268}"/>
              </a:ext>
            </a:extLst>
          </p:cNvPr>
          <p:cNvSpPr/>
          <p:nvPr/>
        </p:nvSpPr>
        <p:spPr>
          <a:xfrm>
            <a:off x="4787900" y="2794000"/>
            <a:ext cx="1266827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igno de multiplicación 15">
            <a:extLst>
              <a:ext uri="{FF2B5EF4-FFF2-40B4-BE49-F238E27FC236}">
                <a16:creationId xmlns:a16="http://schemas.microsoft.com/office/drawing/2014/main" id="{4E4FBC86-B666-7DA2-BC98-0ED479F94AE6}"/>
              </a:ext>
            </a:extLst>
          </p:cNvPr>
          <p:cNvSpPr/>
          <p:nvPr/>
        </p:nvSpPr>
        <p:spPr>
          <a:xfrm>
            <a:off x="4270372" y="2742282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094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633572"/>
              </p:ext>
            </p:extLst>
          </p:nvPr>
        </p:nvGraphicFramePr>
        <p:xfrm>
          <a:off x="-2086452" y="1969190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* 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02678" y="188652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03551" y="1790935"/>
            <a:ext cx="201612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3875C5C-2F32-38E3-A3FD-7EC93DD6243F}"/>
              </a:ext>
            </a:extLst>
          </p:cNvPr>
          <p:cNvSpPr txBox="1"/>
          <p:nvPr/>
        </p:nvSpPr>
        <p:spPr>
          <a:xfrm>
            <a:off x="2989263" y="3477226"/>
            <a:ext cx="204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Repito el mismo proceso para el </a:t>
            </a:r>
            <a:r>
              <a:rPr lang="es-419" sz="12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producto </a:t>
            </a:r>
            <a:r>
              <a:rPr lang="es-419" sz="12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lang="es-419" sz="12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8FB7C5CB-F0B0-23A8-8184-DC80EA36B344}"/>
              </a:ext>
            </a:extLst>
          </p:cNvPr>
          <p:cNvSpPr/>
          <p:nvPr/>
        </p:nvSpPr>
        <p:spPr>
          <a:xfrm>
            <a:off x="3009901" y="2794000"/>
            <a:ext cx="698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96B1FEA0-064D-8991-B822-AF50F6F25645}"/>
              </a:ext>
            </a:extLst>
          </p:cNvPr>
          <p:cNvSpPr/>
          <p:nvPr/>
        </p:nvSpPr>
        <p:spPr>
          <a:xfrm>
            <a:off x="6062522" y="2794000"/>
            <a:ext cx="1008205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67FAE351-19C8-C6BD-849F-0F860743436C}"/>
              </a:ext>
            </a:extLst>
          </p:cNvPr>
          <p:cNvSpPr/>
          <p:nvPr/>
        </p:nvSpPr>
        <p:spPr>
          <a:xfrm>
            <a:off x="3711577" y="2730341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1F9BF9B9-4B2D-EED6-CF2B-5838D1EA43D8}"/>
              </a:ext>
            </a:extLst>
          </p:cNvPr>
          <p:cNvSpPr/>
          <p:nvPr/>
        </p:nvSpPr>
        <p:spPr>
          <a:xfrm>
            <a:off x="4167193" y="2789916"/>
            <a:ext cx="836604" cy="29935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510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914904"/>
              </p:ext>
            </p:extLst>
          </p:nvPr>
        </p:nvGraphicFramePr>
        <p:xfrm>
          <a:off x="-2086452" y="1969190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400.000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02678" y="188652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03551" y="1790935"/>
            <a:ext cx="201612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3875C5C-2F32-38E3-A3FD-7EC93DD6243F}"/>
              </a:ext>
            </a:extLst>
          </p:cNvPr>
          <p:cNvSpPr txBox="1"/>
          <p:nvPr/>
        </p:nvSpPr>
        <p:spPr>
          <a:xfrm>
            <a:off x="2989263" y="3477226"/>
            <a:ext cx="204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Repito el mismo proceso para el producto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8FB7C5CB-F0B0-23A8-8184-DC80EA36B344}"/>
              </a:ext>
            </a:extLst>
          </p:cNvPr>
          <p:cNvSpPr/>
          <p:nvPr/>
        </p:nvSpPr>
        <p:spPr>
          <a:xfrm>
            <a:off x="3009901" y="2794000"/>
            <a:ext cx="698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96B1FEA0-064D-8991-B822-AF50F6F25645}"/>
              </a:ext>
            </a:extLst>
          </p:cNvPr>
          <p:cNvSpPr/>
          <p:nvPr/>
        </p:nvSpPr>
        <p:spPr>
          <a:xfrm>
            <a:off x="6062522" y="2794000"/>
            <a:ext cx="1008205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67FAE351-19C8-C6BD-849F-0F860743436C}"/>
              </a:ext>
            </a:extLst>
          </p:cNvPr>
          <p:cNvSpPr/>
          <p:nvPr/>
        </p:nvSpPr>
        <p:spPr>
          <a:xfrm>
            <a:off x="3711577" y="2730341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1F9BF9B9-4B2D-EED6-CF2B-5838D1EA43D8}"/>
              </a:ext>
            </a:extLst>
          </p:cNvPr>
          <p:cNvSpPr/>
          <p:nvPr/>
        </p:nvSpPr>
        <p:spPr>
          <a:xfrm>
            <a:off x="4167193" y="2789916"/>
            <a:ext cx="836604" cy="29935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611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39545"/>
              </p:ext>
            </p:extLst>
          </p:nvPr>
        </p:nvGraphicFramePr>
        <p:xfrm>
          <a:off x="-3077052" y="1969190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450</a:t>
                      </a: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222</a:t>
                      </a:r>
                      <a:endParaRPr lang="es-AR" sz="1100" b="0" i="0" u="none" strike="noStrike" dirty="0">
                        <a:solidFill>
                          <a:srgbClr val="00B0F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</a:t>
                      </a: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* 480 </a:t>
                      </a:r>
                      <a:endParaRPr lang="es-AR" sz="1100" b="0" i="0" u="none" strike="noStrike" dirty="0">
                        <a:solidFill>
                          <a:srgbClr val="00B0F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2750652" y="1815303"/>
            <a:ext cx="4752269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0C078FA-6F63-A3BD-5798-01B58CEE4E73}"/>
              </a:ext>
            </a:extLst>
          </p:cNvPr>
          <p:cNvSpPr/>
          <p:nvPr/>
        </p:nvSpPr>
        <p:spPr>
          <a:xfrm>
            <a:off x="3037429" y="1790935"/>
            <a:ext cx="100434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5F0D566-6DC1-B8D4-D8B1-B8F0B12D63D3}"/>
              </a:ext>
            </a:extLst>
          </p:cNvPr>
          <p:cNvSpPr/>
          <p:nvPr/>
        </p:nvSpPr>
        <p:spPr>
          <a:xfrm>
            <a:off x="5084622" y="1601693"/>
            <a:ext cx="19949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27837F-58A2-EDC3-0913-1BC3B10F0C5E}"/>
              </a:ext>
            </a:extLst>
          </p:cNvPr>
          <p:cNvSpPr txBox="1"/>
          <p:nvPr/>
        </p:nvSpPr>
        <p:spPr>
          <a:xfrm>
            <a:off x="5040172" y="3477226"/>
            <a:ext cx="204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Repito el mismo proceso para el producto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F3BFF86-5851-330C-4814-84D8C976033E}"/>
              </a:ext>
            </a:extLst>
          </p:cNvPr>
          <p:cNvSpPr/>
          <p:nvPr/>
        </p:nvSpPr>
        <p:spPr>
          <a:xfrm>
            <a:off x="3030538" y="2794000"/>
            <a:ext cx="317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0200330F-1606-80B3-4671-AC30FF63F23E}"/>
              </a:ext>
            </a:extLst>
          </p:cNvPr>
          <p:cNvSpPr/>
          <p:nvPr/>
        </p:nvSpPr>
        <p:spPr>
          <a:xfrm>
            <a:off x="5071922" y="2794000"/>
            <a:ext cx="1998805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51E2B311-918F-E428-CFA9-7149B9EE42DE}"/>
              </a:ext>
            </a:extLst>
          </p:cNvPr>
          <p:cNvSpPr/>
          <p:nvPr/>
        </p:nvSpPr>
        <p:spPr>
          <a:xfrm>
            <a:off x="3306235" y="2730341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8B02B398-395D-53D9-51BE-E4EBB75A9EA5}"/>
              </a:ext>
            </a:extLst>
          </p:cNvPr>
          <p:cNvSpPr/>
          <p:nvPr/>
        </p:nvSpPr>
        <p:spPr>
          <a:xfrm>
            <a:off x="3718990" y="2793999"/>
            <a:ext cx="317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175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172954"/>
              </p:ext>
            </p:extLst>
          </p:nvPr>
        </p:nvGraphicFramePr>
        <p:xfrm>
          <a:off x="-3077052" y="1969190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$ 155.556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25.556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$ 1.198.125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399.375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$ 4.800.000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2750652" y="1815303"/>
            <a:ext cx="4752269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0C078FA-6F63-A3BD-5798-01B58CEE4E73}"/>
              </a:ext>
            </a:extLst>
          </p:cNvPr>
          <p:cNvSpPr/>
          <p:nvPr/>
        </p:nvSpPr>
        <p:spPr>
          <a:xfrm>
            <a:off x="3037429" y="1790935"/>
            <a:ext cx="100434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5F0D566-6DC1-B8D4-D8B1-B8F0B12D63D3}"/>
              </a:ext>
            </a:extLst>
          </p:cNvPr>
          <p:cNvSpPr/>
          <p:nvPr/>
        </p:nvSpPr>
        <p:spPr>
          <a:xfrm>
            <a:off x="5084622" y="1601693"/>
            <a:ext cx="19949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27837F-58A2-EDC3-0913-1BC3B10F0C5E}"/>
              </a:ext>
            </a:extLst>
          </p:cNvPr>
          <p:cNvSpPr txBox="1"/>
          <p:nvPr/>
        </p:nvSpPr>
        <p:spPr>
          <a:xfrm>
            <a:off x="5040172" y="3477226"/>
            <a:ext cx="204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Repito el mismo proceso para el </a:t>
            </a:r>
            <a:r>
              <a:rPr lang="es-419" sz="12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producto </a:t>
            </a:r>
            <a:r>
              <a:rPr lang="es-419" sz="1200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lang="es-419" sz="12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F3BFF86-5851-330C-4814-84D8C976033E}"/>
              </a:ext>
            </a:extLst>
          </p:cNvPr>
          <p:cNvSpPr/>
          <p:nvPr/>
        </p:nvSpPr>
        <p:spPr>
          <a:xfrm>
            <a:off x="3030538" y="2794000"/>
            <a:ext cx="317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0200330F-1606-80B3-4671-AC30FF63F23E}"/>
              </a:ext>
            </a:extLst>
          </p:cNvPr>
          <p:cNvSpPr/>
          <p:nvPr/>
        </p:nvSpPr>
        <p:spPr>
          <a:xfrm>
            <a:off x="5071922" y="2794000"/>
            <a:ext cx="1998805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51E2B311-918F-E428-CFA9-7149B9EE42DE}"/>
              </a:ext>
            </a:extLst>
          </p:cNvPr>
          <p:cNvSpPr/>
          <p:nvPr/>
        </p:nvSpPr>
        <p:spPr>
          <a:xfrm>
            <a:off x="3306235" y="2730341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8B02B398-395D-53D9-51BE-E4EBB75A9EA5}"/>
              </a:ext>
            </a:extLst>
          </p:cNvPr>
          <p:cNvSpPr/>
          <p:nvPr/>
        </p:nvSpPr>
        <p:spPr>
          <a:xfrm>
            <a:off x="3718990" y="2793999"/>
            <a:ext cx="317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765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920009"/>
              </p:ext>
            </p:extLst>
          </p:nvPr>
        </p:nvGraphicFramePr>
        <p:xfrm>
          <a:off x="-2527301" y="1616147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$ 155.400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$ 1.200.000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400.000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$ 4.800.000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1482249" y="1550012"/>
            <a:ext cx="7078523" cy="4497925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ruz 3">
            <a:extLst>
              <a:ext uri="{FF2B5EF4-FFF2-40B4-BE49-F238E27FC236}">
                <a16:creationId xmlns:a16="http://schemas.microsoft.com/office/drawing/2014/main" id="{68E248E0-A0D9-EAE3-3362-50904A269C47}"/>
              </a:ext>
            </a:extLst>
          </p:cNvPr>
          <p:cNvSpPr/>
          <p:nvPr/>
        </p:nvSpPr>
        <p:spPr>
          <a:xfrm>
            <a:off x="5954446" y="2744697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34E32EB7-EEF2-4AEF-72EF-E2CF05E14C3A}"/>
              </a:ext>
            </a:extLst>
          </p:cNvPr>
          <p:cNvSpPr/>
          <p:nvPr/>
        </p:nvSpPr>
        <p:spPr>
          <a:xfrm>
            <a:off x="5954446" y="3377319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ruz 8">
            <a:extLst>
              <a:ext uri="{FF2B5EF4-FFF2-40B4-BE49-F238E27FC236}">
                <a16:creationId xmlns:a16="http://schemas.microsoft.com/office/drawing/2014/main" id="{38DC1137-360E-584D-F0AB-DBEB13141FE8}"/>
              </a:ext>
            </a:extLst>
          </p:cNvPr>
          <p:cNvSpPr/>
          <p:nvPr/>
        </p:nvSpPr>
        <p:spPr>
          <a:xfrm>
            <a:off x="5954446" y="3929454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Cruz 17">
            <a:extLst>
              <a:ext uri="{FF2B5EF4-FFF2-40B4-BE49-F238E27FC236}">
                <a16:creationId xmlns:a16="http://schemas.microsoft.com/office/drawing/2014/main" id="{F3777980-ABA6-8E9A-72A6-7920EB1C90D9}"/>
              </a:ext>
            </a:extLst>
          </p:cNvPr>
          <p:cNvSpPr/>
          <p:nvPr/>
        </p:nvSpPr>
        <p:spPr>
          <a:xfrm>
            <a:off x="5954446" y="4562076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42988"/>
              </p:ext>
            </p:extLst>
          </p:nvPr>
        </p:nvGraphicFramePr>
        <p:xfrm>
          <a:off x="5607475" y="6011277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X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Y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Z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E3ECBAA-D6B8-FAD6-D571-457ED06C294F}"/>
              </a:ext>
            </a:extLst>
          </p:cNvPr>
          <p:cNvSpPr txBox="1"/>
          <p:nvPr/>
        </p:nvSpPr>
        <p:spPr>
          <a:xfrm>
            <a:off x="1061618" y="3150329"/>
            <a:ext cx="372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Finalmente obtengo los </a:t>
            </a:r>
            <a:r>
              <a:rPr kumimoji="0" lang="es-41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al sumar los totales de </a:t>
            </a:r>
            <a:r>
              <a:rPr kumimoji="0" lang="es-41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83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841416"/>
              </p:ext>
            </p:extLst>
          </p:nvPr>
        </p:nvGraphicFramePr>
        <p:xfrm>
          <a:off x="-2527301" y="1616147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25.530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$ 1.200.000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400.000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$ 4.800.000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1482249" y="1550012"/>
            <a:ext cx="7078523" cy="4497925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ruz 3">
            <a:extLst>
              <a:ext uri="{FF2B5EF4-FFF2-40B4-BE49-F238E27FC236}">
                <a16:creationId xmlns:a16="http://schemas.microsoft.com/office/drawing/2014/main" id="{68E248E0-A0D9-EAE3-3362-50904A269C47}"/>
              </a:ext>
            </a:extLst>
          </p:cNvPr>
          <p:cNvSpPr/>
          <p:nvPr/>
        </p:nvSpPr>
        <p:spPr>
          <a:xfrm>
            <a:off x="6983146" y="2744697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34E32EB7-EEF2-4AEF-72EF-E2CF05E14C3A}"/>
              </a:ext>
            </a:extLst>
          </p:cNvPr>
          <p:cNvSpPr/>
          <p:nvPr/>
        </p:nvSpPr>
        <p:spPr>
          <a:xfrm>
            <a:off x="6983146" y="3377319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ruz 8">
            <a:extLst>
              <a:ext uri="{FF2B5EF4-FFF2-40B4-BE49-F238E27FC236}">
                <a16:creationId xmlns:a16="http://schemas.microsoft.com/office/drawing/2014/main" id="{38DC1137-360E-584D-F0AB-DBEB13141FE8}"/>
              </a:ext>
            </a:extLst>
          </p:cNvPr>
          <p:cNvSpPr/>
          <p:nvPr/>
        </p:nvSpPr>
        <p:spPr>
          <a:xfrm>
            <a:off x="6983146" y="3929454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ruz 17">
            <a:extLst>
              <a:ext uri="{FF2B5EF4-FFF2-40B4-BE49-F238E27FC236}">
                <a16:creationId xmlns:a16="http://schemas.microsoft.com/office/drawing/2014/main" id="{F3777980-ABA6-8E9A-72A6-7920EB1C90D9}"/>
              </a:ext>
            </a:extLst>
          </p:cNvPr>
          <p:cNvSpPr/>
          <p:nvPr/>
        </p:nvSpPr>
        <p:spPr>
          <a:xfrm>
            <a:off x="6983146" y="4562076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23718"/>
              </p:ext>
            </p:extLst>
          </p:nvPr>
        </p:nvGraphicFramePr>
        <p:xfrm>
          <a:off x="5607475" y="6011277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Y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Z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E3ECBAA-D6B8-FAD6-D571-457ED06C294F}"/>
              </a:ext>
            </a:extLst>
          </p:cNvPr>
          <p:cNvSpPr txBox="1"/>
          <p:nvPr/>
        </p:nvSpPr>
        <p:spPr>
          <a:xfrm>
            <a:off x="1061618" y="3150329"/>
            <a:ext cx="372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Finalmente obtengo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al sumar los totales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468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286751"/>
              </p:ext>
            </p:extLst>
          </p:nvPr>
        </p:nvGraphicFramePr>
        <p:xfrm>
          <a:off x="-2527301" y="1616147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418.470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$ 1.200.000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400.000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$ 4.800.000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1482249" y="1550012"/>
            <a:ext cx="7078523" cy="4497925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ruz 3">
            <a:extLst>
              <a:ext uri="{FF2B5EF4-FFF2-40B4-BE49-F238E27FC236}">
                <a16:creationId xmlns:a16="http://schemas.microsoft.com/office/drawing/2014/main" id="{68E248E0-A0D9-EAE3-3362-50904A269C47}"/>
              </a:ext>
            </a:extLst>
          </p:cNvPr>
          <p:cNvSpPr/>
          <p:nvPr/>
        </p:nvSpPr>
        <p:spPr>
          <a:xfrm>
            <a:off x="7999146" y="2744697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34E32EB7-EEF2-4AEF-72EF-E2CF05E14C3A}"/>
              </a:ext>
            </a:extLst>
          </p:cNvPr>
          <p:cNvSpPr/>
          <p:nvPr/>
        </p:nvSpPr>
        <p:spPr>
          <a:xfrm>
            <a:off x="7999146" y="3377319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ruz 8">
            <a:extLst>
              <a:ext uri="{FF2B5EF4-FFF2-40B4-BE49-F238E27FC236}">
                <a16:creationId xmlns:a16="http://schemas.microsoft.com/office/drawing/2014/main" id="{38DC1137-360E-584D-F0AB-DBEB13141FE8}"/>
              </a:ext>
            </a:extLst>
          </p:cNvPr>
          <p:cNvSpPr/>
          <p:nvPr/>
        </p:nvSpPr>
        <p:spPr>
          <a:xfrm>
            <a:off x="7999146" y="3929454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ruz 17">
            <a:extLst>
              <a:ext uri="{FF2B5EF4-FFF2-40B4-BE49-F238E27FC236}">
                <a16:creationId xmlns:a16="http://schemas.microsoft.com/office/drawing/2014/main" id="{F3777980-ABA6-8E9A-72A6-7920EB1C90D9}"/>
              </a:ext>
            </a:extLst>
          </p:cNvPr>
          <p:cNvSpPr/>
          <p:nvPr/>
        </p:nvSpPr>
        <p:spPr>
          <a:xfrm>
            <a:off x="7999146" y="4562076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731361"/>
              </p:ext>
            </p:extLst>
          </p:nvPr>
        </p:nvGraphicFramePr>
        <p:xfrm>
          <a:off x="5607475" y="6011277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Z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E3ECBAA-D6B8-FAD6-D571-457ED06C294F}"/>
              </a:ext>
            </a:extLst>
          </p:cNvPr>
          <p:cNvSpPr txBox="1"/>
          <p:nvPr/>
        </p:nvSpPr>
        <p:spPr>
          <a:xfrm>
            <a:off x="1061618" y="3150329"/>
            <a:ext cx="372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Finalmente obtengo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al sumar los totales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05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51157"/>
              </p:ext>
            </p:extLst>
          </p:nvPr>
        </p:nvGraphicFramePr>
        <p:xfrm>
          <a:off x="-2527301" y="1616147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$4.500.000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$ 2.025.000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1.350.000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$ 1.125.000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$1.600.000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640.000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$ 720.000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$ 600.000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222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$ 155.400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25.530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418.889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$6.390.000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$ 1.200.000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400.000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$ 4.792.500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$ 240.000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$ 36.000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$ 144.000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1482249" y="1550012"/>
            <a:ext cx="7078523" cy="4497925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566906"/>
              </p:ext>
            </p:extLst>
          </p:nvPr>
        </p:nvGraphicFramePr>
        <p:xfrm>
          <a:off x="5607475" y="6011277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7.207.470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E3ECBAA-D6B8-FAD6-D571-457ED06C294F}"/>
              </a:ext>
            </a:extLst>
          </p:cNvPr>
          <p:cNvSpPr txBox="1"/>
          <p:nvPr/>
        </p:nvSpPr>
        <p:spPr>
          <a:xfrm>
            <a:off x="1061618" y="3150329"/>
            <a:ext cx="372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Finalmente obtengo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al sumar los totales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568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15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384C96-754C-C543-23F2-08FA8F355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071843"/>
              </p:ext>
            </p:extLst>
          </p:nvPr>
        </p:nvGraphicFramePr>
        <p:xfrm>
          <a:off x="1892399" y="1937702"/>
          <a:ext cx="5084235" cy="414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759443"/>
              </p:ext>
            </p:extLst>
          </p:nvPr>
        </p:nvGraphicFramePr>
        <p:xfrm>
          <a:off x="5820963" y="1937702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7.207.470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4EE1D17F-4148-EA21-6B82-5EED75EE075B}"/>
              </a:ext>
            </a:extLst>
          </p:cNvPr>
          <p:cNvSpPr txBox="1"/>
          <p:nvPr/>
        </p:nvSpPr>
        <p:spPr>
          <a:xfrm>
            <a:off x="5820963" y="2545189"/>
            <a:ext cx="305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384C96-754C-C543-23F2-08FA8F355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790772"/>
              </p:ext>
            </p:extLst>
          </p:nvPr>
        </p:nvGraphicFramePr>
        <p:xfrm>
          <a:off x="485984" y="1937702"/>
          <a:ext cx="5084235" cy="414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  <a:endParaRPr lang="es-AR" sz="1100" b="0" i="0" u="none" strike="noStrike" dirty="0">
                        <a:solidFill>
                          <a:srgbClr val="272C5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2664174-BD60-B5EC-FE3D-6EC9E1DA9D17}"/>
              </a:ext>
            </a:extLst>
          </p:cNvPr>
          <p:cNvSpPr txBox="1"/>
          <p:nvPr/>
        </p:nvSpPr>
        <p:spPr>
          <a:xfrm>
            <a:off x="5695590" y="3547769"/>
            <a:ext cx="3301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Divido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la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unidades producidas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028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540803"/>
              </p:ext>
            </p:extLst>
          </p:nvPr>
        </p:nvGraphicFramePr>
        <p:xfrm>
          <a:off x="5820963" y="1937702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7.207.470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4EE1D17F-4148-EA21-6B82-5EED75EE075B}"/>
              </a:ext>
            </a:extLst>
          </p:cNvPr>
          <p:cNvSpPr txBox="1"/>
          <p:nvPr/>
        </p:nvSpPr>
        <p:spPr>
          <a:xfrm>
            <a:off x="5820963" y="2545189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384C96-754C-C543-23F2-08FA8F355C44}"/>
              </a:ext>
            </a:extLst>
          </p:cNvPr>
          <p:cNvGraphicFramePr>
            <a:graphicFrameLocks noGrp="1"/>
          </p:cNvGraphicFramePr>
          <p:nvPr/>
        </p:nvGraphicFramePr>
        <p:xfrm>
          <a:off x="485984" y="1937702"/>
          <a:ext cx="5084235" cy="414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  <a:endParaRPr lang="es-AR" sz="1100" b="0" i="0" u="none" strike="noStrike" dirty="0">
                        <a:solidFill>
                          <a:srgbClr val="272C5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8695799-518E-CBAC-D733-A98AA9C5CF52}"/>
              </a:ext>
            </a:extLst>
          </p:cNvPr>
          <p:cNvSpPr txBox="1"/>
          <p:nvPr/>
        </p:nvSpPr>
        <p:spPr>
          <a:xfrm>
            <a:off x="5820962" y="3075057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X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algn="ctr">
              <a:defRPr/>
            </a:pPr>
            <a:r>
              <a:rPr lang="es-AR" sz="2000" b="1" i="0" u="none" strike="noStrike" dirty="0">
                <a:solidFill>
                  <a:srgbClr val="FF4E4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$ 3.656.400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 </a:t>
            </a:r>
            <a:r>
              <a:rPr lang="es-AR" sz="2000" b="0" i="0" u="none" strike="noStrik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40.000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4A42AD-0BDD-6AE2-DCCE-ED288AE77E0A}"/>
              </a:ext>
            </a:extLst>
          </p:cNvPr>
          <p:cNvSpPr txBox="1"/>
          <p:nvPr/>
        </p:nvSpPr>
        <p:spPr>
          <a:xfrm>
            <a:off x="5820961" y="3782943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Y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algn="ctr">
              <a:defRPr/>
            </a:pPr>
            <a:r>
              <a:rPr lang="es-AR" sz="2000" b="1" i="0" u="none" strike="noStrike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$ 2.475.530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 </a:t>
            </a:r>
            <a:r>
              <a:rPr lang="es-AR" sz="2000" b="0" i="0" u="none" strike="noStrik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16.000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038E65-DC49-17DD-2EF8-FDA704D72007}"/>
              </a:ext>
            </a:extLst>
          </p:cNvPr>
          <p:cNvSpPr txBox="1"/>
          <p:nvPr/>
        </p:nvSpPr>
        <p:spPr>
          <a:xfrm>
            <a:off x="5820960" y="4506694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Z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algn="ctr">
              <a:defRPr/>
            </a:pPr>
            <a:r>
              <a:rPr lang="es-AR" sz="2000" b="1" i="0" u="none" strike="noStrike" dirty="0">
                <a:solidFill>
                  <a:srgbClr val="FF4E4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AR" sz="2000" b="1" i="0" u="none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$ 7.207.470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 </a:t>
            </a:r>
            <a:r>
              <a:rPr lang="es-AR" sz="2000" b="0" i="0" u="none" strike="noStrik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120.000 </a:t>
            </a:r>
          </a:p>
        </p:txBody>
      </p:sp>
    </p:spTree>
    <p:extLst>
      <p:ext uri="{BB962C8B-B14F-4D97-AF65-F5344CB8AC3E}">
        <p14:creationId xmlns:p14="http://schemas.microsoft.com/office/powerpoint/2010/main" val="1669628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079959"/>
              </p:ext>
            </p:extLst>
          </p:nvPr>
        </p:nvGraphicFramePr>
        <p:xfrm>
          <a:off x="5820963" y="1937702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7.207.470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4EE1D17F-4148-EA21-6B82-5EED75EE075B}"/>
              </a:ext>
            </a:extLst>
          </p:cNvPr>
          <p:cNvSpPr txBox="1"/>
          <p:nvPr/>
        </p:nvSpPr>
        <p:spPr>
          <a:xfrm>
            <a:off x="5820963" y="2545189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384C96-754C-C543-23F2-08FA8F355C44}"/>
              </a:ext>
            </a:extLst>
          </p:cNvPr>
          <p:cNvGraphicFramePr>
            <a:graphicFrameLocks noGrp="1"/>
          </p:cNvGraphicFramePr>
          <p:nvPr/>
        </p:nvGraphicFramePr>
        <p:xfrm>
          <a:off x="485984" y="1937702"/>
          <a:ext cx="5084235" cy="414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1.885 </a:t>
                      </a:r>
                      <a:endParaRPr lang="es-AR" sz="1100" b="0" i="0" u="none" strike="noStrike" dirty="0">
                        <a:solidFill>
                          <a:srgbClr val="272C5B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rgbClr val="272C5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272C5B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8695799-518E-CBAC-D733-A98AA9C5CF52}"/>
              </a:ext>
            </a:extLst>
          </p:cNvPr>
          <p:cNvSpPr txBox="1"/>
          <p:nvPr/>
        </p:nvSpPr>
        <p:spPr>
          <a:xfrm>
            <a:off x="5820962" y="3075057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X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$ 91,41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4A42AD-0BDD-6AE2-DCCE-ED288AE77E0A}"/>
              </a:ext>
            </a:extLst>
          </p:cNvPr>
          <p:cNvSpPr txBox="1"/>
          <p:nvPr/>
        </p:nvSpPr>
        <p:spPr>
          <a:xfrm>
            <a:off x="5820961" y="3782943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Y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$ 154,72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038E65-DC49-17DD-2EF8-FDA704D72007}"/>
              </a:ext>
            </a:extLst>
          </p:cNvPr>
          <p:cNvSpPr txBox="1"/>
          <p:nvPr/>
        </p:nvSpPr>
        <p:spPr>
          <a:xfrm>
            <a:off x="5820960" y="4506694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Z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$ 60,06 </a:t>
            </a:r>
          </a:p>
        </p:txBody>
      </p:sp>
    </p:spTree>
    <p:extLst>
      <p:ext uri="{BB962C8B-B14F-4D97-AF65-F5344CB8AC3E}">
        <p14:creationId xmlns:p14="http://schemas.microsoft.com/office/powerpoint/2010/main" val="1155826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8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E035F4-77B6-807F-32AA-76BC9A36A87B}"/>
              </a:ext>
            </a:extLst>
          </p:cNvPr>
          <p:cNvSpPr txBox="1"/>
          <p:nvPr/>
        </p:nvSpPr>
        <p:spPr>
          <a:xfrm>
            <a:off x="668442" y="2858987"/>
            <a:ext cx="7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$ 450.000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$1.200.000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778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E035F4-77B6-807F-32AA-76BC9A36A87B}"/>
              </a:ext>
            </a:extLst>
          </p:cNvPr>
          <p:cNvSpPr txBox="1"/>
          <p:nvPr/>
        </p:nvSpPr>
        <p:spPr>
          <a:xfrm>
            <a:off x="668442" y="2858987"/>
            <a:ext cx="7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lang="es-419" b="1" dirty="0">
                <a:solidFill>
                  <a:srgbClr val="FF4E4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lang="es-419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lang="es-419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$ 450.000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419" dirty="0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$1.200.000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FF4B239E-9C1A-E0F3-B8FB-366E937C0F01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4138337" y="1930024"/>
            <a:ext cx="674587" cy="1107140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4E1ED76C-DBC1-4035-47DD-BA1C30830684}"/>
              </a:ext>
            </a:extLst>
          </p:cNvPr>
          <p:cNvSpPr/>
          <p:nvPr/>
        </p:nvSpPr>
        <p:spPr>
          <a:xfrm>
            <a:off x="3190290" y="2820887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DD8B800-09BF-BB7F-63F9-4BF0EF1E85C9}"/>
              </a:ext>
            </a:extLst>
          </p:cNvPr>
          <p:cNvSpPr txBox="1"/>
          <p:nvPr/>
        </p:nvSpPr>
        <p:spPr>
          <a:xfrm>
            <a:off x="5118526" y="1717359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$ 450.000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741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4F6C53-A1F1-B55C-522F-001950C45334}"/>
              </a:ext>
            </a:extLst>
          </p:cNvPr>
          <p:cNvSpPr txBox="1"/>
          <p:nvPr/>
        </p:nvSpPr>
        <p:spPr>
          <a:xfrm>
            <a:off x="668442" y="2858987"/>
            <a:ext cx="7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lang="es-419" b="1" dirty="0">
                <a:solidFill>
                  <a:srgbClr val="FF4E4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lang="es-419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lang="es-419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$ 450.000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419" dirty="0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lang="es-419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$1.200.000</a:t>
            </a:r>
            <a:r>
              <a:rPr lang="es-419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07134B5B-8763-268C-585C-C3A1DA6958C3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 rot="16200000" flipH="1">
            <a:off x="5829495" y="3914590"/>
            <a:ext cx="839753" cy="1220642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2997A-F684-1303-15E8-1E714DA49D40}"/>
              </a:ext>
            </a:extLst>
          </p:cNvPr>
          <p:cNvSpPr/>
          <p:nvPr/>
        </p:nvSpPr>
        <p:spPr>
          <a:xfrm>
            <a:off x="4907280" y="4059316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38E188-08C8-988F-92DB-451AB37356A3}"/>
              </a:ext>
            </a:extLst>
          </p:cNvPr>
          <p:cNvSpPr txBox="1"/>
          <p:nvPr/>
        </p:nvSpPr>
        <p:spPr>
          <a:xfrm>
            <a:off x="5413584" y="4944788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lang="es-419" sz="20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$1.200.000 / 3</a:t>
            </a:r>
            <a:endParaRPr lang="es-AR" sz="2000" dirty="0"/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FBF053D8-19F1-ABE3-C095-FB9BB2802666}"/>
              </a:ext>
            </a:extLst>
          </p:cNvPr>
          <p:cNvCxnSpPr>
            <a:cxnSpLocks/>
            <a:stCxn id="25" idx="0"/>
          </p:cNvCxnSpPr>
          <p:nvPr/>
        </p:nvCxnSpPr>
        <p:spPr>
          <a:xfrm rot="5400000" flipH="1" flipV="1">
            <a:off x="4138337" y="1930024"/>
            <a:ext cx="674587" cy="1107140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8B7CBEE-9679-04EC-281F-FC79177F6787}"/>
              </a:ext>
            </a:extLst>
          </p:cNvPr>
          <p:cNvSpPr/>
          <p:nvPr/>
        </p:nvSpPr>
        <p:spPr>
          <a:xfrm>
            <a:off x="3190290" y="2820887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6932698-15CF-13C2-4055-AF9F4EFE265D}"/>
              </a:ext>
            </a:extLst>
          </p:cNvPr>
          <p:cNvSpPr txBox="1"/>
          <p:nvPr/>
        </p:nvSpPr>
        <p:spPr>
          <a:xfrm>
            <a:off x="5118526" y="1717359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$ 450.000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088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4F6C53-A1F1-B55C-522F-001950C45334}"/>
              </a:ext>
            </a:extLst>
          </p:cNvPr>
          <p:cNvSpPr txBox="1"/>
          <p:nvPr/>
        </p:nvSpPr>
        <p:spPr>
          <a:xfrm>
            <a:off x="668442" y="2858987"/>
            <a:ext cx="7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$ 450.000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$1.200.000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07134B5B-8763-268C-585C-C3A1DA6958C3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 rot="16200000" flipH="1">
            <a:off x="5829495" y="3914590"/>
            <a:ext cx="839753" cy="1220642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2997A-F684-1303-15E8-1E714DA49D40}"/>
              </a:ext>
            </a:extLst>
          </p:cNvPr>
          <p:cNvSpPr/>
          <p:nvPr/>
        </p:nvSpPr>
        <p:spPr>
          <a:xfrm>
            <a:off x="4907280" y="4059316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38E188-08C8-988F-92DB-451AB37356A3}"/>
              </a:ext>
            </a:extLst>
          </p:cNvPr>
          <p:cNvSpPr txBox="1"/>
          <p:nvPr/>
        </p:nvSpPr>
        <p:spPr>
          <a:xfrm>
            <a:off x="5413584" y="4944788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$400.000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FBF053D8-19F1-ABE3-C095-FB9BB2802666}"/>
              </a:ext>
            </a:extLst>
          </p:cNvPr>
          <p:cNvCxnSpPr>
            <a:cxnSpLocks/>
            <a:stCxn id="25" idx="0"/>
          </p:cNvCxnSpPr>
          <p:nvPr/>
        </p:nvCxnSpPr>
        <p:spPr>
          <a:xfrm rot="5400000" flipH="1" flipV="1">
            <a:off x="4138337" y="1930024"/>
            <a:ext cx="674587" cy="1107140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8B7CBEE-9679-04EC-281F-FC79177F6787}"/>
              </a:ext>
            </a:extLst>
          </p:cNvPr>
          <p:cNvSpPr/>
          <p:nvPr/>
        </p:nvSpPr>
        <p:spPr>
          <a:xfrm>
            <a:off x="3190290" y="2820887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5F9CD3-4178-9C8C-746E-84B558C3A92F}"/>
              </a:ext>
            </a:extLst>
          </p:cNvPr>
          <p:cNvSpPr txBox="1"/>
          <p:nvPr/>
        </p:nvSpPr>
        <p:spPr>
          <a:xfrm>
            <a:off x="5118526" y="1717359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$ 450.000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1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4535488" y="3173125"/>
            <a:ext cx="4528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MP +</a:t>
            </a:r>
            <a:r>
              <a:rPr kumimoji="0" lang="es-419" sz="32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MOD</a:t>
            </a:r>
            <a:endParaRPr kumimoji="0" lang="es-A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F4D60FA0-A812-6F04-7B09-392FBC244B1A}"/>
              </a:ext>
            </a:extLst>
          </p:cNvPr>
          <p:cNvSpPr/>
          <p:nvPr/>
        </p:nvSpPr>
        <p:spPr>
          <a:xfrm>
            <a:off x="2743200" y="3273525"/>
            <a:ext cx="1616343" cy="369332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89FE0B-E70F-4167-C12A-27083E625648}"/>
              </a:ext>
            </a:extLst>
          </p:cNvPr>
          <p:cNvSpPr txBox="1"/>
          <p:nvPr/>
        </p:nvSpPr>
        <p:spPr>
          <a:xfrm>
            <a:off x="454918" y="3713167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$400.000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318BAB-D112-40D1-935F-08A85BEFDDDD}"/>
              </a:ext>
            </a:extLst>
          </p:cNvPr>
          <p:cNvSpPr txBox="1"/>
          <p:nvPr/>
        </p:nvSpPr>
        <p:spPr>
          <a:xfrm>
            <a:off x="454918" y="2811860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$ 450.000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921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38E188-08C8-988F-92DB-451AB37356A3}"/>
              </a:ext>
            </a:extLst>
          </p:cNvPr>
          <p:cNvSpPr txBox="1"/>
          <p:nvPr/>
        </p:nvSpPr>
        <p:spPr>
          <a:xfrm>
            <a:off x="454918" y="3713167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$400.000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C38FA7D-C799-EF7D-D1C1-669B83AB7E9C}"/>
              </a:ext>
            </a:extLst>
          </p:cNvPr>
          <p:cNvSpPr txBox="1"/>
          <p:nvPr/>
        </p:nvSpPr>
        <p:spPr>
          <a:xfrm>
            <a:off x="454918" y="2811860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$ 450.000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2990572" y="2564206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lang="es-419" sz="2800" b="1" dirty="0">
                <a:solidFill>
                  <a:srgbClr val="FF4E4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$ 265.000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$400.000</a:t>
            </a:r>
            <a:endParaRPr kumimoji="0" lang="es-A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2990572" y="3167956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lang="es-419" sz="2800" b="1" dirty="0">
                <a:solidFill>
                  <a:srgbClr val="FF4E4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sz="28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$ 450.000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$400.000</a:t>
            </a:r>
            <a:endParaRPr kumimoji="0" lang="es-A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2990572" y="3773455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419" sz="2800" b="1" dirty="0" err="1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sz="28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lang="es-419" sz="2800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$ 1.200.000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$400.000</a:t>
            </a:r>
            <a:endParaRPr kumimoji="0" lang="es-A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21795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38E188-08C8-988F-92DB-451AB37356A3}"/>
              </a:ext>
            </a:extLst>
          </p:cNvPr>
          <p:cNvSpPr txBox="1"/>
          <p:nvPr/>
        </p:nvSpPr>
        <p:spPr>
          <a:xfrm>
            <a:off x="454918" y="3713167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$400.000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C38FA7D-C799-EF7D-D1C1-669B83AB7E9C}"/>
              </a:ext>
            </a:extLst>
          </p:cNvPr>
          <p:cNvSpPr txBox="1"/>
          <p:nvPr/>
        </p:nvSpPr>
        <p:spPr>
          <a:xfrm>
            <a:off x="454918" y="2811860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$ 450.000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2990572" y="2564206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$ 665.000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2990572" y="3167956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2990572" y="3773455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</p:spTree>
    <p:extLst>
      <p:ext uri="{BB962C8B-B14F-4D97-AF65-F5344CB8AC3E}">
        <p14:creationId xmlns:p14="http://schemas.microsoft.com/office/powerpoint/2010/main" val="220471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207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1542320" y="3734648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$ 665.000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1542320" y="4338398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1542320" y="4943897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C19451-D1E9-D2DE-6362-66D026FAD0A1}"/>
              </a:ext>
            </a:extLst>
          </p:cNvPr>
          <p:cNvSpPr txBox="1"/>
          <p:nvPr/>
        </p:nvSpPr>
        <p:spPr>
          <a:xfrm>
            <a:off x="1246188" y="1923023"/>
            <a:ext cx="657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convertir un costo total en uno unitario, basta con dividirlo por la cantidad de unidades producidas de cada producto.</a:t>
            </a: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919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-681736" y="3710098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$ 665.000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-681736" y="4313848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-681736" y="4919347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C19451-D1E9-D2DE-6362-66D026FAD0A1}"/>
              </a:ext>
            </a:extLst>
          </p:cNvPr>
          <p:cNvSpPr txBox="1"/>
          <p:nvPr/>
        </p:nvSpPr>
        <p:spPr>
          <a:xfrm>
            <a:off x="1246188" y="1923023"/>
            <a:ext cx="657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convertir un costo total en uno unitario, basta con dividirlo por la cantidad de unidades producidas de cada producto.</a:t>
            </a: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F9AE9C1-8D7F-081B-1A26-A223E60FB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329220"/>
              </p:ext>
            </p:extLst>
          </p:nvPr>
        </p:nvGraphicFramePr>
        <p:xfrm>
          <a:off x="4655716" y="3662911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-529336" y="1766998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$ 665.000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-529336" y="2127396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-529336" y="2492261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F9AE9C1-8D7F-081B-1A26-A223E60FB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32011"/>
              </p:ext>
            </p:extLst>
          </p:nvPr>
        </p:nvGraphicFramePr>
        <p:xfrm>
          <a:off x="4808116" y="1719811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F1FCC5DD-30E4-AA6D-FDAE-909715C50597}"/>
              </a:ext>
            </a:extLst>
          </p:cNvPr>
          <p:cNvSpPr txBox="1"/>
          <p:nvPr/>
        </p:nvSpPr>
        <p:spPr>
          <a:xfrm>
            <a:off x="0" y="3284558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$ 665.000 / </a:t>
            </a:r>
            <a:r>
              <a:rPr lang="es-AR" sz="3200" b="1" i="0" u="none" strike="noStrike" dirty="0">
                <a:solidFill>
                  <a:srgbClr val="FF4E4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40.000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0310D7-07EA-1FF9-5E87-A383AF32BAC4}"/>
              </a:ext>
            </a:extLst>
          </p:cNvPr>
          <p:cNvSpPr txBox="1"/>
          <p:nvPr/>
        </p:nvSpPr>
        <p:spPr>
          <a:xfrm>
            <a:off x="0" y="3848156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/ </a:t>
            </a:r>
            <a:r>
              <a:rPr lang="es-AR" sz="3200" b="1" i="0" u="none" strike="noStrike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16.000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6BD29A-5EFB-B01C-1E96-3A01E0382ED0}"/>
              </a:ext>
            </a:extLst>
          </p:cNvPr>
          <p:cNvSpPr txBox="1"/>
          <p:nvPr/>
        </p:nvSpPr>
        <p:spPr>
          <a:xfrm>
            <a:off x="0" y="4479721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/ </a:t>
            </a:r>
            <a:r>
              <a:rPr lang="es-AR" sz="3200" b="1" i="0" u="none" strike="noStrike" dirty="0">
                <a:solidFill>
                  <a:srgbClr val="0070C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120.000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5208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-529336" y="1766998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$ 665.000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-529336" y="2127396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-529336" y="2492261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F9AE9C1-8D7F-081B-1A26-A223E60FBDD7}"/>
              </a:ext>
            </a:extLst>
          </p:cNvPr>
          <p:cNvGraphicFramePr>
            <a:graphicFrameLocks noGrp="1"/>
          </p:cNvGraphicFramePr>
          <p:nvPr/>
        </p:nvGraphicFramePr>
        <p:xfrm>
          <a:off x="4808116" y="1719811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F1FCC5DD-30E4-AA6D-FDAE-909715C50597}"/>
              </a:ext>
            </a:extLst>
          </p:cNvPr>
          <p:cNvSpPr txBox="1"/>
          <p:nvPr/>
        </p:nvSpPr>
        <p:spPr>
          <a:xfrm>
            <a:off x="0" y="3284558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17</a:t>
            </a:r>
            <a:endParaRPr kumimoji="0" lang="es-419" sz="3200" b="1" i="0" u="none" strike="noStrike" kern="1200" cap="none" spc="0" normalizeH="0" baseline="0" noProof="0" dirty="0">
              <a:ln>
                <a:noFill/>
              </a:ln>
              <a:solidFill>
                <a:srgbClr val="FF4E4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0310D7-07EA-1FF9-5E87-A383AF32BAC4}"/>
              </a:ext>
            </a:extLst>
          </p:cNvPr>
          <p:cNvSpPr txBox="1"/>
          <p:nvPr/>
        </p:nvSpPr>
        <p:spPr>
          <a:xfrm>
            <a:off x="0" y="3848156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46</a:t>
            </a:r>
            <a:endParaRPr kumimoji="0" lang="es-419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6BD29A-5EFB-B01C-1E96-3A01E0382ED0}"/>
              </a:ext>
            </a:extLst>
          </p:cNvPr>
          <p:cNvSpPr txBox="1"/>
          <p:nvPr/>
        </p:nvSpPr>
        <p:spPr>
          <a:xfrm>
            <a:off x="0" y="4479721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7</a:t>
            </a:r>
            <a:endParaRPr kumimoji="0" lang="es-419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198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628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3203903"/>
            <a:ext cx="8831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sz="28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(M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 + MOD + GIF) / Unidades</a:t>
            </a:r>
          </a:p>
        </p:txBody>
      </p:sp>
    </p:spTree>
    <p:extLst>
      <p:ext uri="{BB962C8B-B14F-4D97-AF65-F5344CB8AC3E}">
        <p14:creationId xmlns:p14="http://schemas.microsoft.com/office/powerpoint/2010/main" val="42070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3203903"/>
            <a:ext cx="8831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 (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+ MOD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cxnSp>
        <p:nvCxnSpPr>
          <p:cNvPr id="2" name="Conector: angular 1">
            <a:extLst>
              <a:ext uri="{FF2B5EF4-FFF2-40B4-BE49-F238E27FC236}">
                <a16:creationId xmlns:a16="http://schemas.microsoft.com/office/drawing/2014/main" id="{DA74C56F-9686-E320-7348-29CFF04BEE02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5198639" y="2239380"/>
            <a:ext cx="674587" cy="1107140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A741C963-47AD-3331-6724-A0389CCA92E4}"/>
              </a:ext>
            </a:extLst>
          </p:cNvPr>
          <p:cNvSpPr/>
          <p:nvPr/>
        </p:nvSpPr>
        <p:spPr>
          <a:xfrm>
            <a:off x="4250592" y="3130243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AD7A0A-2697-C6EA-6CB0-773F46BBA67D}"/>
              </a:ext>
            </a:extLst>
          </p:cNvPr>
          <p:cNvSpPr txBox="1"/>
          <p:nvPr/>
        </p:nvSpPr>
        <p:spPr>
          <a:xfrm>
            <a:off x="6140728" y="2194146"/>
            <a:ext cx="2504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endParaRPr kumimoji="0" lang="es-419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70B9FB-3F81-3D86-B58D-DE3C95EC555D}"/>
              </a:ext>
            </a:extLst>
          </p:cNvPr>
          <p:cNvSpPr txBox="1"/>
          <p:nvPr/>
        </p:nvSpPr>
        <p:spPr>
          <a:xfrm>
            <a:off x="6980378" y="2337715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54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1713703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kumimoji="0" lang="es-419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F52DD8D-5AC9-DFCC-2462-332798445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17055"/>
              </p:ext>
            </p:extLst>
          </p:nvPr>
        </p:nvGraphicFramePr>
        <p:xfrm>
          <a:off x="4590628" y="3132363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5F9FBED8-E0FB-F98A-C913-A2B9B5B12AF1}"/>
              </a:ext>
            </a:extLst>
          </p:cNvPr>
          <p:cNvSpPr txBox="1"/>
          <p:nvPr/>
        </p:nvSpPr>
        <p:spPr>
          <a:xfrm>
            <a:off x="573429" y="2403165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$ 665.000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4D1AF6-0C74-16C3-DF9A-43476EC80875}"/>
              </a:ext>
            </a:extLst>
          </p:cNvPr>
          <p:cNvSpPr txBox="1"/>
          <p:nvPr/>
        </p:nvSpPr>
        <p:spPr>
          <a:xfrm>
            <a:off x="573429" y="2763563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9D2390-E3FA-5D13-0361-650D12A41D92}"/>
              </a:ext>
            </a:extLst>
          </p:cNvPr>
          <p:cNvSpPr txBox="1"/>
          <p:nvPr/>
        </p:nvSpPr>
        <p:spPr>
          <a:xfrm>
            <a:off x="573429" y="3128428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BB81A47-EA15-BC1A-09A2-DA2AE4C6D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879357"/>
              </p:ext>
            </p:extLst>
          </p:nvPr>
        </p:nvGraphicFramePr>
        <p:xfrm>
          <a:off x="853158" y="3998201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7.207.470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B750FDE3-127C-C5BD-262E-7DD825D40508}"/>
              </a:ext>
            </a:extLst>
          </p:cNvPr>
          <p:cNvSpPr txBox="1"/>
          <p:nvPr/>
        </p:nvSpPr>
        <p:spPr>
          <a:xfrm>
            <a:off x="853158" y="4605688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EA5FBB-4F9D-9EDD-E256-52C575A7360E}"/>
              </a:ext>
            </a:extLst>
          </p:cNvPr>
          <p:cNvSpPr txBox="1"/>
          <p:nvPr/>
        </p:nvSpPr>
        <p:spPr>
          <a:xfrm>
            <a:off x="3903699" y="2067155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78DB31-F0B4-7BAE-626B-138A6C449682}"/>
              </a:ext>
            </a:extLst>
          </p:cNvPr>
          <p:cNvSpPr txBox="1"/>
          <p:nvPr/>
        </p:nvSpPr>
        <p:spPr>
          <a:xfrm>
            <a:off x="1391044" y="4801900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C3CCE51-2808-FF50-624E-A5CEC966903A}"/>
              </a:ext>
            </a:extLst>
          </p:cNvPr>
          <p:cNvSpPr txBox="1"/>
          <p:nvPr/>
        </p:nvSpPr>
        <p:spPr>
          <a:xfrm>
            <a:off x="1362017" y="3524626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</a:t>
            </a:r>
            <a:endParaRPr kumimoji="0" lang="es-419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E9C0C18-A374-B99C-EED6-2585316BF622}"/>
              </a:ext>
            </a:extLst>
          </p:cNvPr>
          <p:cNvSpPr txBox="1"/>
          <p:nvPr/>
        </p:nvSpPr>
        <p:spPr>
          <a:xfrm>
            <a:off x="5717786" y="4295943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la consigna</a:t>
            </a:r>
          </a:p>
        </p:txBody>
      </p:sp>
    </p:spTree>
    <p:extLst>
      <p:ext uri="{BB962C8B-B14F-4D97-AF65-F5344CB8AC3E}">
        <p14:creationId xmlns:p14="http://schemas.microsoft.com/office/powerpoint/2010/main" val="1774357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1713703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kumimoji="0" lang="es-419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F52DD8D-5AC9-DFCC-2462-332798445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03692"/>
              </p:ext>
            </p:extLst>
          </p:nvPr>
        </p:nvGraphicFramePr>
        <p:xfrm>
          <a:off x="4834515" y="3853486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5F9FBED8-E0FB-F98A-C913-A2B9B5B12AF1}"/>
              </a:ext>
            </a:extLst>
          </p:cNvPr>
          <p:cNvSpPr txBox="1"/>
          <p:nvPr/>
        </p:nvSpPr>
        <p:spPr>
          <a:xfrm>
            <a:off x="2754278" y="5306048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$ 665.000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4D1AF6-0C74-16C3-DF9A-43476EC80875}"/>
              </a:ext>
            </a:extLst>
          </p:cNvPr>
          <p:cNvSpPr txBox="1"/>
          <p:nvPr/>
        </p:nvSpPr>
        <p:spPr>
          <a:xfrm>
            <a:off x="2754278" y="5666446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9D2390-E3FA-5D13-0361-650D12A41D92}"/>
              </a:ext>
            </a:extLst>
          </p:cNvPr>
          <p:cNvSpPr txBox="1"/>
          <p:nvPr/>
        </p:nvSpPr>
        <p:spPr>
          <a:xfrm>
            <a:off x="2754278" y="6031311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BB81A47-EA15-BC1A-09A2-DA2AE4C6D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65008"/>
              </p:ext>
            </p:extLst>
          </p:nvPr>
        </p:nvGraphicFramePr>
        <p:xfrm>
          <a:off x="840458" y="3873854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7.207.470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B750FDE3-127C-C5BD-262E-7DD825D40508}"/>
              </a:ext>
            </a:extLst>
          </p:cNvPr>
          <p:cNvSpPr txBox="1"/>
          <p:nvPr/>
        </p:nvSpPr>
        <p:spPr>
          <a:xfrm>
            <a:off x="840458" y="4481341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59977F0-4CA8-6B53-BA66-1E9034645F08}"/>
              </a:ext>
            </a:extLst>
          </p:cNvPr>
          <p:cNvSpPr txBox="1"/>
          <p:nvPr/>
        </p:nvSpPr>
        <p:spPr>
          <a:xfrm>
            <a:off x="585333" y="2239394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$ 665.000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AR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$ 3.656.400 ) / 40.000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D69EB92-E8EE-00C6-FCD8-704F635205CC}"/>
              </a:ext>
            </a:extLst>
          </p:cNvPr>
          <p:cNvSpPr txBox="1"/>
          <p:nvPr/>
        </p:nvSpPr>
        <p:spPr>
          <a:xfrm>
            <a:off x="585333" y="2681465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 $ 735.000 +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$ 2.475.530 ) / 16.000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A2E4D30-F6D1-0796-BB36-5F9CE983E4A9}"/>
              </a:ext>
            </a:extLst>
          </p:cNvPr>
          <p:cNvSpPr txBox="1"/>
          <p:nvPr/>
        </p:nvSpPr>
        <p:spPr>
          <a:xfrm>
            <a:off x="546092" y="3139332"/>
            <a:ext cx="830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($ 850.000 +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$ 7.207.470 ) / 120.000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D3C65F9-75D3-F85F-271E-8F1276B51A4A}"/>
              </a:ext>
            </a:extLst>
          </p:cNvPr>
          <p:cNvSpPr txBox="1"/>
          <p:nvPr/>
        </p:nvSpPr>
        <p:spPr>
          <a:xfrm>
            <a:off x="3514974" y="6456034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E0C40D-ABCC-450C-A099-C64A5B268444}"/>
              </a:ext>
            </a:extLst>
          </p:cNvPr>
          <p:cNvSpPr txBox="1"/>
          <p:nvPr/>
        </p:nvSpPr>
        <p:spPr>
          <a:xfrm>
            <a:off x="1362017" y="4758340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</a:t>
            </a:r>
            <a:endParaRPr kumimoji="0" lang="es-419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F924F0E-5E79-9627-E060-CF2C3546B232}"/>
              </a:ext>
            </a:extLst>
          </p:cNvPr>
          <p:cNvSpPr txBox="1"/>
          <p:nvPr/>
        </p:nvSpPr>
        <p:spPr>
          <a:xfrm>
            <a:off x="5804870" y="5065201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la consigna</a:t>
            </a:r>
          </a:p>
        </p:txBody>
      </p:sp>
    </p:spTree>
    <p:extLst>
      <p:ext uri="{BB962C8B-B14F-4D97-AF65-F5344CB8AC3E}">
        <p14:creationId xmlns:p14="http://schemas.microsoft.com/office/powerpoint/2010/main" val="3008012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1713703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kumimoji="0" lang="es-419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F52DD8D-5AC9-DFCC-2462-332798445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092172"/>
              </p:ext>
            </p:extLst>
          </p:nvPr>
        </p:nvGraphicFramePr>
        <p:xfrm>
          <a:off x="4834515" y="3853486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FFFF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5F9FBED8-E0FB-F98A-C913-A2B9B5B12AF1}"/>
              </a:ext>
            </a:extLst>
          </p:cNvPr>
          <p:cNvSpPr txBox="1"/>
          <p:nvPr/>
        </p:nvSpPr>
        <p:spPr>
          <a:xfrm>
            <a:off x="2754278" y="5306048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</a:t>
            </a:r>
            <a:r>
              <a:rPr lang="es-419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$ 665.000 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4D1AF6-0C74-16C3-DF9A-43476EC80875}"/>
              </a:ext>
            </a:extLst>
          </p:cNvPr>
          <p:cNvSpPr txBox="1"/>
          <p:nvPr/>
        </p:nvSpPr>
        <p:spPr>
          <a:xfrm>
            <a:off x="2754278" y="5666446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9D2390-E3FA-5D13-0361-650D12A41D92}"/>
              </a:ext>
            </a:extLst>
          </p:cNvPr>
          <p:cNvSpPr txBox="1"/>
          <p:nvPr/>
        </p:nvSpPr>
        <p:spPr>
          <a:xfrm>
            <a:off x="2754278" y="6031311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BB81A47-EA15-BC1A-09A2-DA2AE4C6D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027107"/>
              </p:ext>
            </p:extLst>
          </p:nvPr>
        </p:nvGraphicFramePr>
        <p:xfrm>
          <a:off x="840458" y="3873854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FF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7.207.470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B750FDE3-127C-C5BD-262E-7DD825D40508}"/>
              </a:ext>
            </a:extLst>
          </p:cNvPr>
          <p:cNvSpPr txBox="1"/>
          <p:nvPr/>
        </p:nvSpPr>
        <p:spPr>
          <a:xfrm>
            <a:off x="840458" y="4481341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59977F0-4CA8-6B53-BA66-1E9034645F08}"/>
              </a:ext>
            </a:extLst>
          </p:cNvPr>
          <p:cNvSpPr txBox="1"/>
          <p:nvPr/>
        </p:nvSpPr>
        <p:spPr>
          <a:xfrm>
            <a:off x="585333" y="2239394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$ 665.000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AR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$ 3.656.400</a:t>
            </a:r>
            <a:r>
              <a:rPr kumimoji="0" lang="es-A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) / </a:t>
            </a:r>
            <a:r>
              <a:rPr kumimoji="0" lang="es-AR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40.000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D69EB92-E8EE-00C6-FCD8-704F635205CC}"/>
              </a:ext>
            </a:extLst>
          </p:cNvPr>
          <p:cNvSpPr txBox="1"/>
          <p:nvPr/>
        </p:nvSpPr>
        <p:spPr>
          <a:xfrm>
            <a:off x="585333" y="2681465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 $ 735.000 +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$ 2.475.530 ) / 16.000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A2E4D30-F6D1-0796-BB36-5F9CE983E4A9}"/>
              </a:ext>
            </a:extLst>
          </p:cNvPr>
          <p:cNvSpPr txBox="1"/>
          <p:nvPr/>
        </p:nvSpPr>
        <p:spPr>
          <a:xfrm>
            <a:off x="546092" y="3139332"/>
            <a:ext cx="830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($ 850.000 +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$ 7.207.470 ) / 120.000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D3C65F9-75D3-F85F-271E-8F1276B51A4A}"/>
              </a:ext>
            </a:extLst>
          </p:cNvPr>
          <p:cNvSpPr txBox="1"/>
          <p:nvPr/>
        </p:nvSpPr>
        <p:spPr>
          <a:xfrm>
            <a:off x="3514974" y="6456034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E0C40D-ABCC-450C-A099-C64A5B268444}"/>
              </a:ext>
            </a:extLst>
          </p:cNvPr>
          <p:cNvSpPr txBox="1"/>
          <p:nvPr/>
        </p:nvSpPr>
        <p:spPr>
          <a:xfrm>
            <a:off x="1362017" y="4758340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</a:t>
            </a:r>
            <a:endParaRPr kumimoji="0" lang="es-419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F924F0E-5E79-9627-E060-CF2C3546B232}"/>
              </a:ext>
            </a:extLst>
          </p:cNvPr>
          <p:cNvSpPr txBox="1"/>
          <p:nvPr/>
        </p:nvSpPr>
        <p:spPr>
          <a:xfrm>
            <a:off x="5804870" y="5065201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la consigna</a:t>
            </a:r>
          </a:p>
        </p:txBody>
      </p:sp>
    </p:spTree>
    <p:extLst>
      <p:ext uri="{BB962C8B-B14F-4D97-AF65-F5344CB8AC3E}">
        <p14:creationId xmlns:p14="http://schemas.microsoft.com/office/powerpoint/2010/main" val="2635192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1713703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kumimoji="0" lang="es-419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61BA443E-0866-BAC5-3E0E-2A00CD8CA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817368"/>
              </p:ext>
            </p:extLst>
          </p:nvPr>
        </p:nvGraphicFramePr>
        <p:xfrm>
          <a:off x="4834515" y="3853486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20FC8F37-60B9-3228-6C0B-814A09C667F9}"/>
              </a:ext>
            </a:extLst>
          </p:cNvPr>
          <p:cNvSpPr txBox="1"/>
          <p:nvPr/>
        </p:nvSpPr>
        <p:spPr>
          <a:xfrm>
            <a:off x="2754278" y="5306048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$ 665.000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D0F476C-E894-DAC6-8274-485697278BD0}"/>
              </a:ext>
            </a:extLst>
          </p:cNvPr>
          <p:cNvSpPr txBox="1"/>
          <p:nvPr/>
        </p:nvSpPr>
        <p:spPr>
          <a:xfrm>
            <a:off x="2754278" y="5666446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EC86184-5117-A01E-036C-F05C0197C176}"/>
              </a:ext>
            </a:extLst>
          </p:cNvPr>
          <p:cNvSpPr txBox="1"/>
          <p:nvPr/>
        </p:nvSpPr>
        <p:spPr>
          <a:xfrm>
            <a:off x="2754278" y="6031311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0693D8F2-D3EB-8457-AB0B-AA6D888BA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404305"/>
              </p:ext>
            </p:extLst>
          </p:nvPr>
        </p:nvGraphicFramePr>
        <p:xfrm>
          <a:off x="840458" y="3873854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3.656.400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2.475.530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 7.207.470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E742466E-3C38-1BC9-A731-E43D70E28756}"/>
              </a:ext>
            </a:extLst>
          </p:cNvPr>
          <p:cNvSpPr txBox="1"/>
          <p:nvPr/>
        </p:nvSpPr>
        <p:spPr>
          <a:xfrm>
            <a:off x="840458" y="4481341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DDB9402-E619-619A-68C9-9F3B2C30B0D6}"/>
              </a:ext>
            </a:extLst>
          </p:cNvPr>
          <p:cNvSpPr txBox="1"/>
          <p:nvPr/>
        </p:nvSpPr>
        <p:spPr>
          <a:xfrm>
            <a:off x="3514974" y="6456034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3961E5C-E778-8729-4A30-44AF1B98E91F}"/>
              </a:ext>
            </a:extLst>
          </p:cNvPr>
          <p:cNvSpPr txBox="1"/>
          <p:nvPr/>
        </p:nvSpPr>
        <p:spPr>
          <a:xfrm>
            <a:off x="1362017" y="4758340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</a:t>
            </a:r>
            <a:endParaRPr kumimoji="0" lang="es-419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23AB77A-AB7B-AB97-2CB3-7A67252A0670}"/>
              </a:ext>
            </a:extLst>
          </p:cNvPr>
          <p:cNvSpPr txBox="1"/>
          <p:nvPr/>
        </p:nvSpPr>
        <p:spPr>
          <a:xfrm>
            <a:off x="5804870" y="5065201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la consigna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141AAD4-B51A-6F9C-92B0-426773AAD10D}"/>
              </a:ext>
            </a:extLst>
          </p:cNvPr>
          <p:cNvSpPr txBox="1"/>
          <p:nvPr/>
        </p:nvSpPr>
        <p:spPr>
          <a:xfrm>
            <a:off x="585333" y="2239394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$ 108,04</a:t>
            </a:r>
            <a:endParaRPr kumimoji="0" lang="es-419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AD7F83-4668-843E-31DD-EEF681D225E6}"/>
              </a:ext>
            </a:extLst>
          </p:cNvPr>
          <p:cNvSpPr txBox="1"/>
          <p:nvPr/>
        </p:nvSpPr>
        <p:spPr>
          <a:xfrm>
            <a:off x="585333" y="2681465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419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</a:t>
            </a:r>
            <a:r>
              <a:rPr kumimoji="0" lang="es-AR" sz="2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$ 200,65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C1EBFDF-443A-265F-B586-AB724AC22E7A}"/>
              </a:ext>
            </a:extLst>
          </p:cNvPr>
          <p:cNvSpPr txBox="1"/>
          <p:nvPr/>
        </p:nvSpPr>
        <p:spPr>
          <a:xfrm>
            <a:off x="546092" y="3139332"/>
            <a:ext cx="830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419" sz="28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</a:t>
            </a:r>
            <a:r>
              <a:rPr kumimoji="0" lang="es-AR" sz="2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$ 60,06 </a:t>
            </a:r>
            <a:endParaRPr kumimoji="0" lang="es-419" sz="2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210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48ED9D-EB29-8988-9896-ACD152630490}"/>
              </a:ext>
            </a:extLst>
          </p:cNvPr>
          <p:cNvSpPr txBox="1"/>
          <p:nvPr/>
        </p:nvSpPr>
        <p:spPr>
          <a:xfrm>
            <a:off x="485984" y="1617296"/>
            <a:ext cx="81720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Una empresa fabrica los productos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Todos los productos requieren la misma cantidad de horas de mano de obra directa.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para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$ 150.000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$999.000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1735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39F5D0F-EE19-5C1F-2CD8-41D68255A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581197"/>
              </p:ext>
            </p:extLst>
          </p:nvPr>
        </p:nvGraphicFramePr>
        <p:xfrm>
          <a:off x="1502061" y="1562791"/>
          <a:ext cx="11185317" cy="400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6E075388-341F-3256-9B4E-4C37C82E8427}"/>
              </a:ext>
            </a:extLst>
          </p:cNvPr>
          <p:cNvSpPr/>
          <p:nvPr/>
        </p:nvSpPr>
        <p:spPr>
          <a:xfrm>
            <a:off x="7627425" y="1320184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C57622-3185-CD17-415D-DD0AB7DD7177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0C9263-E7D3-1477-44A3-C95281A0A942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4203380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ACF314F-2687-F0A6-AB49-8C6CCB6E76C8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F37123-B0C5-9FC9-DA12-A76AA65595C2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3219939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699047"/>
              </p:ext>
            </p:extLst>
          </p:nvPr>
        </p:nvGraphicFramePr>
        <p:xfrm>
          <a:off x="1590960" y="1969191"/>
          <a:ext cx="11185317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AEA4B6D-C7B5-4A71-BB89-70E7F417B96D}"/>
              </a:ext>
            </a:extLst>
          </p:cNvPr>
          <p:cNvSpPr/>
          <p:nvPr/>
        </p:nvSpPr>
        <p:spPr>
          <a:xfrm>
            <a:off x="7727210" y="1726584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A121A93-5BE9-2FBF-8EC0-3DE246C9C847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757534-CA8D-5092-B512-F77FF1E36236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1463191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463977"/>
              </p:ext>
            </p:extLst>
          </p:nvPr>
        </p:nvGraphicFramePr>
        <p:xfrm>
          <a:off x="1489361" y="1969191"/>
          <a:ext cx="11065496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897026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AEA4B6D-C7B5-4A71-BB89-70E7F417B96D}"/>
              </a:ext>
            </a:extLst>
          </p:cNvPr>
          <p:cNvSpPr/>
          <p:nvPr/>
        </p:nvSpPr>
        <p:spPr>
          <a:xfrm>
            <a:off x="8628036" y="1726584"/>
            <a:ext cx="383691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C5EE2F6-77A2-AA1B-AA41-6D64623EECBC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ACA84B-75C8-D28B-4919-79E5EB6D333D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4077945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4A3B046-37F1-72D7-68FE-91EA92EB117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D4DEF-77CB-755A-F84A-A918EC08A6E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33007"/>
              </p:ext>
            </p:extLst>
          </p:nvPr>
        </p:nvGraphicFramePr>
        <p:xfrm>
          <a:off x="-47339" y="1969191"/>
          <a:ext cx="11185317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02678" y="188652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16251" y="1790935"/>
            <a:ext cx="303212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416908-FFCA-7A9D-61D7-EBE45E15D9E8}"/>
              </a:ext>
            </a:extLst>
          </p:cNvPr>
          <p:cNvSpPr txBox="1"/>
          <p:nvPr/>
        </p:nvSpPr>
        <p:spPr>
          <a:xfrm>
            <a:off x="3437334" y="3174996"/>
            <a:ext cx="2196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unitarios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división entre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incurrido 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eventos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B2A888D-9724-F525-4AF0-D9EC724F2613}"/>
              </a:ext>
            </a:extLst>
          </p:cNvPr>
          <p:cNvSpPr/>
          <p:nvPr/>
        </p:nvSpPr>
        <p:spPr>
          <a:xfrm>
            <a:off x="3009900" y="2794000"/>
            <a:ext cx="1220983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1A5BBC92-8F4B-378D-4565-F96E063681EE}"/>
              </a:ext>
            </a:extLst>
          </p:cNvPr>
          <p:cNvSpPr/>
          <p:nvPr/>
        </p:nvSpPr>
        <p:spPr>
          <a:xfrm>
            <a:off x="4787900" y="2794000"/>
            <a:ext cx="1266827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igno de división 14">
            <a:extLst>
              <a:ext uri="{FF2B5EF4-FFF2-40B4-BE49-F238E27FC236}">
                <a16:creationId xmlns:a16="http://schemas.microsoft.com/office/drawing/2014/main" id="{E718C202-2922-079C-0EFC-63071ECAD5DA}"/>
              </a:ext>
            </a:extLst>
          </p:cNvPr>
          <p:cNvSpPr/>
          <p:nvPr/>
        </p:nvSpPr>
        <p:spPr>
          <a:xfrm>
            <a:off x="4303910" y="2702089"/>
            <a:ext cx="399653" cy="479095"/>
          </a:xfrm>
          <a:prstGeom prst="mathDivide">
            <a:avLst>
              <a:gd name="adj1" fmla="val 9378"/>
              <a:gd name="adj2" fmla="val 5880"/>
              <a:gd name="adj3" fmla="val 104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81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43716"/>
              </p:ext>
            </p:extLst>
          </p:nvPr>
        </p:nvGraphicFramePr>
        <p:xfrm>
          <a:off x="-47339" y="1969191"/>
          <a:ext cx="11185317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02678" y="1886523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16251" y="1790935"/>
            <a:ext cx="303212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416908-FFCA-7A9D-61D7-EBE45E15D9E8}"/>
              </a:ext>
            </a:extLst>
          </p:cNvPr>
          <p:cNvSpPr txBox="1"/>
          <p:nvPr/>
        </p:nvSpPr>
        <p:spPr>
          <a:xfrm>
            <a:off x="3437334" y="3174996"/>
            <a:ext cx="2196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unitarios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división entre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incurrido 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eventos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B2A888D-9724-F525-4AF0-D9EC724F2613}"/>
              </a:ext>
            </a:extLst>
          </p:cNvPr>
          <p:cNvSpPr/>
          <p:nvPr/>
        </p:nvSpPr>
        <p:spPr>
          <a:xfrm>
            <a:off x="3022600" y="2794000"/>
            <a:ext cx="1220983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1A5BBC92-8F4B-378D-4565-F96E063681EE}"/>
              </a:ext>
            </a:extLst>
          </p:cNvPr>
          <p:cNvSpPr/>
          <p:nvPr/>
        </p:nvSpPr>
        <p:spPr>
          <a:xfrm>
            <a:off x="4787900" y="2794000"/>
            <a:ext cx="1266827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igno de división 14">
            <a:extLst>
              <a:ext uri="{FF2B5EF4-FFF2-40B4-BE49-F238E27FC236}">
                <a16:creationId xmlns:a16="http://schemas.microsoft.com/office/drawing/2014/main" id="{E718C202-2922-079C-0EFC-63071ECAD5DA}"/>
              </a:ext>
            </a:extLst>
          </p:cNvPr>
          <p:cNvSpPr/>
          <p:nvPr/>
        </p:nvSpPr>
        <p:spPr>
          <a:xfrm>
            <a:off x="4303910" y="2702089"/>
            <a:ext cx="399653" cy="479095"/>
          </a:xfrm>
          <a:prstGeom prst="mathDivide">
            <a:avLst>
              <a:gd name="adj1" fmla="val 9378"/>
              <a:gd name="adj2" fmla="val 5880"/>
              <a:gd name="adj3" fmla="val 104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BCA153-3112-E466-F47C-06C1CE98A051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A663731-1D0E-1BE9-4C42-EE901A911F43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439235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391690"/>
              </p:ext>
            </p:extLst>
          </p:nvPr>
        </p:nvGraphicFramePr>
        <p:xfrm>
          <a:off x="-1063339" y="1969191"/>
          <a:ext cx="11185317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15378" y="1700217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16251" y="1790935"/>
            <a:ext cx="303212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CCAA9E-EA67-7CCF-B05E-82CDAC1E6E8C}"/>
              </a:ext>
            </a:extLst>
          </p:cNvPr>
          <p:cNvSpPr txBox="1"/>
          <p:nvPr/>
        </p:nvSpPr>
        <p:spPr>
          <a:xfrm>
            <a:off x="3111500" y="3174996"/>
            <a:ext cx="28067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Gastos Indirectos de Fabricación</a:t>
            </a:r>
            <a:endParaRPr kumimoji="0" lang="es-419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multiplicación entre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</a:t>
            </a: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D9D662AD-26F9-205B-C587-A324970BBB7A}"/>
              </a:ext>
            </a:extLst>
          </p:cNvPr>
          <p:cNvSpPr/>
          <p:nvPr/>
        </p:nvSpPr>
        <p:spPr>
          <a:xfrm>
            <a:off x="3009900" y="2794000"/>
            <a:ext cx="1220983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89630ADC-6023-9A05-5F7D-193283470268}"/>
              </a:ext>
            </a:extLst>
          </p:cNvPr>
          <p:cNvSpPr/>
          <p:nvPr/>
        </p:nvSpPr>
        <p:spPr>
          <a:xfrm>
            <a:off x="4787900" y="2794000"/>
            <a:ext cx="1266827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igno de multiplicación 15">
            <a:extLst>
              <a:ext uri="{FF2B5EF4-FFF2-40B4-BE49-F238E27FC236}">
                <a16:creationId xmlns:a16="http://schemas.microsoft.com/office/drawing/2014/main" id="{4E4FBC86-B666-7DA2-BC98-0ED479F94AE6}"/>
              </a:ext>
            </a:extLst>
          </p:cNvPr>
          <p:cNvSpPr/>
          <p:nvPr/>
        </p:nvSpPr>
        <p:spPr>
          <a:xfrm>
            <a:off x="4270372" y="2742282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A0B6F5-20B0-F824-1C84-10570B9DEF12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2DB376-BAC7-58BD-585A-2F2771BD1A23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729864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52303"/>
              </p:ext>
            </p:extLst>
          </p:nvPr>
        </p:nvGraphicFramePr>
        <p:xfrm>
          <a:off x="-1063339" y="1969191"/>
          <a:ext cx="11185317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110764" y="1678022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16251" y="1790935"/>
            <a:ext cx="3032126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CCAA9E-EA67-7CCF-B05E-82CDAC1E6E8C}"/>
              </a:ext>
            </a:extLst>
          </p:cNvPr>
          <p:cNvSpPr txBox="1"/>
          <p:nvPr/>
        </p:nvSpPr>
        <p:spPr>
          <a:xfrm>
            <a:off x="3111500" y="3174996"/>
            <a:ext cx="28067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Obtengo los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Gastos Indirectos de Fabricación</a:t>
            </a:r>
            <a:endParaRPr kumimoji="0" lang="es-419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 partir de la multiplicación entre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</a:t>
            </a: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 </a:t>
            </a:r>
            <a:r>
              <a:rPr kumimoji="0" lang="es-419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cantidad de eventos</a:t>
            </a:r>
            <a:r>
              <a:rPr kumimoji="0" lang="es-419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D9D662AD-26F9-205B-C587-A324970BBB7A}"/>
              </a:ext>
            </a:extLst>
          </p:cNvPr>
          <p:cNvSpPr/>
          <p:nvPr/>
        </p:nvSpPr>
        <p:spPr>
          <a:xfrm>
            <a:off x="3009900" y="2794000"/>
            <a:ext cx="1220983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89630ADC-6023-9A05-5F7D-193283470268}"/>
              </a:ext>
            </a:extLst>
          </p:cNvPr>
          <p:cNvSpPr/>
          <p:nvPr/>
        </p:nvSpPr>
        <p:spPr>
          <a:xfrm>
            <a:off x="4787900" y="2794000"/>
            <a:ext cx="1266827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igno de multiplicación 15">
            <a:extLst>
              <a:ext uri="{FF2B5EF4-FFF2-40B4-BE49-F238E27FC236}">
                <a16:creationId xmlns:a16="http://schemas.microsoft.com/office/drawing/2014/main" id="{4E4FBC86-B666-7DA2-BC98-0ED479F94AE6}"/>
              </a:ext>
            </a:extLst>
          </p:cNvPr>
          <p:cNvSpPr/>
          <p:nvPr/>
        </p:nvSpPr>
        <p:spPr>
          <a:xfrm>
            <a:off x="4270372" y="2742282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F65590-B90B-6E53-3755-2BB298919B79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86DD2F-BEDE-3DF7-0A4A-A4664BC61646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1640876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6B00531-EFEF-D42F-0411-065811A6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156088"/>
              </p:ext>
            </p:extLst>
          </p:nvPr>
        </p:nvGraphicFramePr>
        <p:xfrm>
          <a:off x="-2086452" y="1969190"/>
          <a:ext cx="11185317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63D4FC6-5A9B-569A-32A9-77630225C491}"/>
              </a:ext>
            </a:extLst>
          </p:cNvPr>
          <p:cNvSpPr/>
          <p:nvPr/>
        </p:nvSpPr>
        <p:spPr>
          <a:xfrm>
            <a:off x="8080685" y="1790935"/>
            <a:ext cx="2095500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BD0068-3FC5-5A15-9210-14DE6597ECD6}"/>
              </a:ext>
            </a:extLst>
          </p:cNvPr>
          <p:cNvSpPr/>
          <p:nvPr/>
        </p:nvSpPr>
        <p:spPr>
          <a:xfrm>
            <a:off x="-1760052" y="1815303"/>
            <a:ext cx="3733457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A22638-FCDE-3C9D-9377-3A3F52220791}"/>
              </a:ext>
            </a:extLst>
          </p:cNvPr>
          <p:cNvSpPr/>
          <p:nvPr/>
        </p:nvSpPr>
        <p:spPr>
          <a:xfrm>
            <a:off x="3003551" y="1790935"/>
            <a:ext cx="201612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3875C5C-2F32-38E3-A3FD-7EC93DD6243F}"/>
              </a:ext>
            </a:extLst>
          </p:cNvPr>
          <p:cNvSpPr txBox="1"/>
          <p:nvPr/>
        </p:nvSpPr>
        <p:spPr>
          <a:xfrm>
            <a:off x="2989263" y="3477226"/>
            <a:ext cx="204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Repito el mismo proceso para el producto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8FB7C5CB-F0B0-23A8-8184-DC80EA36B344}"/>
              </a:ext>
            </a:extLst>
          </p:cNvPr>
          <p:cNvSpPr/>
          <p:nvPr/>
        </p:nvSpPr>
        <p:spPr>
          <a:xfrm>
            <a:off x="3009901" y="2794000"/>
            <a:ext cx="698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96B1FEA0-064D-8991-B822-AF50F6F25645}"/>
              </a:ext>
            </a:extLst>
          </p:cNvPr>
          <p:cNvSpPr/>
          <p:nvPr/>
        </p:nvSpPr>
        <p:spPr>
          <a:xfrm>
            <a:off x="6062522" y="2794000"/>
            <a:ext cx="1008205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67FAE351-19C8-C6BD-849F-0F860743436C}"/>
              </a:ext>
            </a:extLst>
          </p:cNvPr>
          <p:cNvSpPr/>
          <p:nvPr/>
        </p:nvSpPr>
        <p:spPr>
          <a:xfrm>
            <a:off x="3711577" y="2730341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1F9BF9B9-4B2D-EED6-CF2B-5838D1EA43D8}"/>
              </a:ext>
            </a:extLst>
          </p:cNvPr>
          <p:cNvSpPr/>
          <p:nvPr/>
        </p:nvSpPr>
        <p:spPr>
          <a:xfrm>
            <a:off x="4167193" y="2789916"/>
            <a:ext cx="836604" cy="29935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56CF41-CF24-38B4-D753-6A3AE7AEE3E5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632305-15FB-169A-9D33-1626D38EEF9A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1445551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758749"/>
              </p:ext>
            </p:extLst>
          </p:nvPr>
        </p:nvGraphicFramePr>
        <p:xfrm>
          <a:off x="-3077052" y="1969190"/>
          <a:ext cx="11185317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2750652" y="1815303"/>
            <a:ext cx="4752269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0C078FA-6F63-A3BD-5798-01B58CEE4E73}"/>
              </a:ext>
            </a:extLst>
          </p:cNvPr>
          <p:cNvSpPr/>
          <p:nvPr/>
        </p:nvSpPr>
        <p:spPr>
          <a:xfrm>
            <a:off x="3037429" y="1790935"/>
            <a:ext cx="1004345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5F0D566-6DC1-B8D4-D8B1-B8F0B12D63D3}"/>
              </a:ext>
            </a:extLst>
          </p:cNvPr>
          <p:cNvSpPr/>
          <p:nvPr/>
        </p:nvSpPr>
        <p:spPr>
          <a:xfrm>
            <a:off x="5084622" y="1601693"/>
            <a:ext cx="19949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27837F-58A2-EDC3-0913-1BC3B10F0C5E}"/>
              </a:ext>
            </a:extLst>
          </p:cNvPr>
          <p:cNvSpPr txBox="1"/>
          <p:nvPr/>
        </p:nvSpPr>
        <p:spPr>
          <a:xfrm>
            <a:off x="5040172" y="3477226"/>
            <a:ext cx="204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Repito el mismo proceso para el producto </a:t>
            </a: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F3BFF86-5851-330C-4814-84D8C976033E}"/>
              </a:ext>
            </a:extLst>
          </p:cNvPr>
          <p:cNvSpPr/>
          <p:nvPr/>
        </p:nvSpPr>
        <p:spPr>
          <a:xfrm>
            <a:off x="3030538" y="2794000"/>
            <a:ext cx="317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0200330F-1606-80B3-4671-AC30FF63F23E}"/>
              </a:ext>
            </a:extLst>
          </p:cNvPr>
          <p:cNvSpPr/>
          <p:nvPr/>
        </p:nvSpPr>
        <p:spPr>
          <a:xfrm>
            <a:off x="5071922" y="2794000"/>
            <a:ext cx="1998805" cy="29527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51E2B311-918F-E428-CFA9-7149B9EE42DE}"/>
              </a:ext>
            </a:extLst>
          </p:cNvPr>
          <p:cNvSpPr/>
          <p:nvPr/>
        </p:nvSpPr>
        <p:spPr>
          <a:xfrm>
            <a:off x="3306235" y="2730341"/>
            <a:ext cx="428628" cy="407998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8B02B398-395D-53D9-51BE-E4EBB75A9EA5}"/>
              </a:ext>
            </a:extLst>
          </p:cNvPr>
          <p:cNvSpPr/>
          <p:nvPr/>
        </p:nvSpPr>
        <p:spPr>
          <a:xfrm>
            <a:off x="3718990" y="2793999"/>
            <a:ext cx="317500" cy="28068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88B85D-153E-57F0-41F2-41C4FC24F9E3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88FF21-821F-4821-EC1C-DDED0B7D2CAB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3135042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869411"/>
              </p:ext>
            </p:extLst>
          </p:nvPr>
        </p:nvGraphicFramePr>
        <p:xfrm>
          <a:off x="-2527301" y="1616147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1482249" y="1550012"/>
            <a:ext cx="7078523" cy="4497925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ruz 3">
            <a:extLst>
              <a:ext uri="{FF2B5EF4-FFF2-40B4-BE49-F238E27FC236}">
                <a16:creationId xmlns:a16="http://schemas.microsoft.com/office/drawing/2014/main" id="{68E248E0-A0D9-EAE3-3362-50904A269C47}"/>
              </a:ext>
            </a:extLst>
          </p:cNvPr>
          <p:cNvSpPr/>
          <p:nvPr/>
        </p:nvSpPr>
        <p:spPr>
          <a:xfrm>
            <a:off x="5954446" y="2744697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34E32EB7-EEF2-4AEF-72EF-E2CF05E14C3A}"/>
              </a:ext>
            </a:extLst>
          </p:cNvPr>
          <p:cNvSpPr/>
          <p:nvPr/>
        </p:nvSpPr>
        <p:spPr>
          <a:xfrm>
            <a:off x="5954446" y="3377319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ruz 8">
            <a:extLst>
              <a:ext uri="{FF2B5EF4-FFF2-40B4-BE49-F238E27FC236}">
                <a16:creationId xmlns:a16="http://schemas.microsoft.com/office/drawing/2014/main" id="{38DC1137-360E-584D-F0AB-DBEB13141FE8}"/>
              </a:ext>
            </a:extLst>
          </p:cNvPr>
          <p:cNvSpPr/>
          <p:nvPr/>
        </p:nvSpPr>
        <p:spPr>
          <a:xfrm>
            <a:off x="5954446" y="3929454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ruz 17">
            <a:extLst>
              <a:ext uri="{FF2B5EF4-FFF2-40B4-BE49-F238E27FC236}">
                <a16:creationId xmlns:a16="http://schemas.microsoft.com/office/drawing/2014/main" id="{F3777980-ABA6-8E9A-72A6-7920EB1C90D9}"/>
              </a:ext>
            </a:extLst>
          </p:cNvPr>
          <p:cNvSpPr/>
          <p:nvPr/>
        </p:nvSpPr>
        <p:spPr>
          <a:xfrm>
            <a:off x="5954446" y="4562076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/>
        </p:nvGraphicFramePr>
        <p:xfrm>
          <a:off x="5607475" y="6011277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X</a:t>
                      </a:r>
                      <a:endParaRPr lang="es-AR" sz="1100" b="0" i="0" u="none" strike="noStrike" dirty="0">
                        <a:solidFill>
                          <a:srgbClr val="FF4E4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Y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Z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E3ECBAA-D6B8-FAD6-D571-457ED06C294F}"/>
              </a:ext>
            </a:extLst>
          </p:cNvPr>
          <p:cNvSpPr txBox="1"/>
          <p:nvPr/>
        </p:nvSpPr>
        <p:spPr>
          <a:xfrm>
            <a:off x="1061618" y="3150329"/>
            <a:ext cx="372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Finalmente obtengo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al sumar los totales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C6C06BA-DB4E-017B-2500-9D3D28E33CE8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CA050B1-BD75-DC46-BC40-B77F1F639374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74603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004623"/>
              </p:ext>
            </p:extLst>
          </p:nvPr>
        </p:nvGraphicFramePr>
        <p:xfrm>
          <a:off x="-2527301" y="1616147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1482249" y="1550012"/>
            <a:ext cx="7078523" cy="4497925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ruz 3">
            <a:extLst>
              <a:ext uri="{FF2B5EF4-FFF2-40B4-BE49-F238E27FC236}">
                <a16:creationId xmlns:a16="http://schemas.microsoft.com/office/drawing/2014/main" id="{68E248E0-A0D9-EAE3-3362-50904A269C47}"/>
              </a:ext>
            </a:extLst>
          </p:cNvPr>
          <p:cNvSpPr/>
          <p:nvPr/>
        </p:nvSpPr>
        <p:spPr>
          <a:xfrm>
            <a:off x="6983146" y="2744697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34E32EB7-EEF2-4AEF-72EF-E2CF05E14C3A}"/>
              </a:ext>
            </a:extLst>
          </p:cNvPr>
          <p:cNvSpPr/>
          <p:nvPr/>
        </p:nvSpPr>
        <p:spPr>
          <a:xfrm>
            <a:off x="6983146" y="3377319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ruz 8">
            <a:extLst>
              <a:ext uri="{FF2B5EF4-FFF2-40B4-BE49-F238E27FC236}">
                <a16:creationId xmlns:a16="http://schemas.microsoft.com/office/drawing/2014/main" id="{38DC1137-360E-584D-F0AB-DBEB13141FE8}"/>
              </a:ext>
            </a:extLst>
          </p:cNvPr>
          <p:cNvSpPr/>
          <p:nvPr/>
        </p:nvSpPr>
        <p:spPr>
          <a:xfrm>
            <a:off x="6983146" y="3929454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ruz 17">
            <a:extLst>
              <a:ext uri="{FF2B5EF4-FFF2-40B4-BE49-F238E27FC236}">
                <a16:creationId xmlns:a16="http://schemas.microsoft.com/office/drawing/2014/main" id="{F3777980-ABA6-8E9A-72A6-7920EB1C90D9}"/>
              </a:ext>
            </a:extLst>
          </p:cNvPr>
          <p:cNvSpPr/>
          <p:nvPr/>
        </p:nvSpPr>
        <p:spPr>
          <a:xfrm>
            <a:off x="6983146" y="4562076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043"/>
              </p:ext>
            </p:extLst>
          </p:nvPr>
        </p:nvGraphicFramePr>
        <p:xfrm>
          <a:off x="5607475" y="6011277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Y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Z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E3ECBAA-D6B8-FAD6-D571-457ED06C294F}"/>
              </a:ext>
            </a:extLst>
          </p:cNvPr>
          <p:cNvSpPr txBox="1"/>
          <p:nvPr/>
        </p:nvSpPr>
        <p:spPr>
          <a:xfrm>
            <a:off x="1061618" y="3150329"/>
            <a:ext cx="372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Finalmente obtengo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al sumar los totales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23A733D-AAF2-A380-DACE-01769C6B49A1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4683D4D-C96E-6344-4D85-967260C9E444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1001399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035270"/>
              </p:ext>
            </p:extLst>
          </p:nvPr>
        </p:nvGraphicFramePr>
        <p:xfrm>
          <a:off x="-2527301" y="1616147"/>
          <a:ext cx="11185317" cy="418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1482249" y="1550012"/>
            <a:ext cx="7078523" cy="4497925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ruz 3">
            <a:extLst>
              <a:ext uri="{FF2B5EF4-FFF2-40B4-BE49-F238E27FC236}">
                <a16:creationId xmlns:a16="http://schemas.microsoft.com/office/drawing/2014/main" id="{68E248E0-A0D9-EAE3-3362-50904A269C47}"/>
              </a:ext>
            </a:extLst>
          </p:cNvPr>
          <p:cNvSpPr/>
          <p:nvPr/>
        </p:nvSpPr>
        <p:spPr>
          <a:xfrm>
            <a:off x="7999146" y="2744697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34E32EB7-EEF2-4AEF-72EF-E2CF05E14C3A}"/>
              </a:ext>
            </a:extLst>
          </p:cNvPr>
          <p:cNvSpPr/>
          <p:nvPr/>
        </p:nvSpPr>
        <p:spPr>
          <a:xfrm>
            <a:off x="7999146" y="3377319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ruz 8">
            <a:extLst>
              <a:ext uri="{FF2B5EF4-FFF2-40B4-BE49-F238E27FC236}">
                <a16:creationId xmlns:a16="http://schemas.microsoft.com/office/drawing/2014/main" id="{38DC1137-360E-584D-F0AB-DBEB13141FE8}"/>
              </a:ext>
            </a:extLst>
          </p:cNvPr>
          <p:cNvSpPr/>
          <p:nvPr/>
        </p:nvSpPr>
        <p:spPr>
          <a:xfrm>
            <a:off x="7999146" y="3929454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ruz 17">
            <a:extLst>
              <a:ext uri="{FF2B5EF4-FFF2-40B4-BE49-F238E27FC236}">
                <a16:creationId xmlns:a16="http://schemas.microsoft.com/office/drawing/2014/main" id="{F3777980-ABA6-8E9A-72A6-7920EB1C90D9}"/>
              </a:ext>
            </a:extLst>
          </p:cNvPr>
          <p:cNvSpPr/>
          <p:nvPr/>
        </p:nvSpPr>
        <p:spPr>
          <a:xfrm>
            <a:off x="7999146" y="4562076"/>
            <a:ext cx="288000" cy="288410"/>
          </a:xfrm>
          <a:prstGeom prst="plus">
            <a:avLst>
              <a:gd name="adj" fmla="val 33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90278"/>
              </p:ext>
            </p:extLst>
          </p:nvPr>
        </p:nvGraphicFramePr>
        <p:xfrm>
          <a:off x="5607475" y="6011277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$ 1.392.632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de Z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E3ECBAA-D6B8-FAD6-D571-457ED06C294F}"/>
              </a:ext>
            </a:extLst>
          </p:cNvPr>
          <p:cNvSpPr txBox="1"/>
          <p:nvPr/>
        </p:nvSpPr>
        <p:spPr>
          <a:xfrm>
            <a:off x="1061618" y="3150329"/>
            <a:ext cx="372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Finalmente obtengo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al sumar los totales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FF1AAD-9BB7-C2CB-BB2A-347F1C8F52B8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344C029-308E-C081-0FD8-C396C557504F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682722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D16C4E-E79F-7C6C-84D9-41F4EEE67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275728"/>
              </p:ext>
            </p:extLst>
          </p:nvPr>
        </p:nvGraphicFramePr>
        <p:xfrm>
          <a:off x="-2527301" y="1616147"/>
          <a:ext cx="11185317" cy="40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3585051204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9384502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930247342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460698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Costos incurridos </a:t>
                      </a:r>
                      <a:r>
                        <a:rPr lang="es-AR" sz="12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($)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Eventos totales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unitario del inductor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Y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GIF que absorbe </a:t>
                      </a:r>
                      <a:r>
                        <a:rPr lang="es-AR" sz="1050" b="1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Z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$2.500.000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625.000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750.000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1.125.000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$660.000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99.000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297.000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$ 264.000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$ 880.000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1760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220.000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316.800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343.200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$290.000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22.900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265.939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 6.332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17.729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1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$ 90.000 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$ 54.000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 22.500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$ 13.500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AR" sz="11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9D44FDB2-AC36-122C-C88D-E6950FB77F58}"/>
              </a:ext>
            </a:extLst>
          </p:cNvPr>
          <p:cNvSpPr/>
          <p:nvPr/>
        </p:nvSpPr>
        <p:spPr>
          <a:xfrm>
            <a:off x="-1482249" y="1550012"/>
            <a:ext cx="7078523" cy="4497925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293017"/>
              </p:ext>
            </p:extLst>
          </p:nvPr>
        </p:nvGraphicFramePr>
        <p:xfrm>
          <a:off x="5607475" y="6011277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$ 1.392.632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$ 1.763.429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E3ECBAA-D6B8-FAD6-D571-457ED06C294F}"/>
              </a:ext>
            </a:extLst>
          </p:cNvPr>
          <p:cNvSpPr txBox="1"/>
          <p:nvPr/>
        </p:nvSpPr>
        <p:spPr>
          <a:xfrm>
            <a:off x="1061618" y="3150329"/>
            <a:ext cx="372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Finalmente obtengo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al sumar los totales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C95120-111F-6212-1F00-531A5A106BC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D0CAAF-4CAA-7E18-3104-4EF9D722437B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477264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AB4BED-4646-E69D-9635-9C380BDD5928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E51097-5A8B-A3AC-0428-C0AAFD0D844A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182093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384C96-754C-C543-23F2-08FA8F355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938515"/>
              </p:ext>
            </p:extLst>
          </p:nvPr>
        </p:nvGraphicFramePr>
        <p:xfrm>
          <a:off x="1892399" y="1937702"/>
          <a:ext cx="5084235" cy="414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29963ED7-E42D-2A78-223A-E8A45C55A1FD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54231E-90CD-E8A2-8DE0-CF6F3B13BFA6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1934284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299211"/>
              </p:ext>
            </p:extLst>
          </p:nvPr>
        </p:nvGraphicFramePr>
        <p:xfrm>
          <a:off x="5820963" y="1937702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$ 1.392.632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$ 1.763.429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4EE1D17F-4148-EA21-6B82-5EED75EE075B}"/>
              </a:ext>
            </a:extLst>
          </p:cNvPr>
          <p:cNvSpPr txBox="1"/>
          <p:nvPr/>
        </p:nvSpPr>
        <p:spPr>
          <a:xfrm>
            <a:off x="5820963" y="2545189"/>
            <a:ext cx="305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384C96-754C-C543-23F2-08FA8F355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85697"/>
              </p:ext>
            </p:extLst>
          </p:nvPr>
        </p:nvGraphicFramePr>
        <p:xfrm>
          <a:off x="485984" y="1937702"/>
          <a:ext cx="5084235" cy="414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2664174-BD60-B5EC-FE3D-6EC9E1DA9D17}"/>
              </a:ext>
            </a:extLst>
          </p:cNvPr>
          <p:cNvSpPr txBox="1"/>
          <p:nvPr/>
        </p:nvSpPr>
        <p:spPr>
          <a:xfrm>
            <a:off x="5695590" y="3547769"/>
            <a:ext cx="3301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Divido 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totales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la cantidad de unidades producidas.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FA5810-D64D-7347-915D-16B992D2C7AB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B9C568-61D2-E5FF-14FA-0CEF13806395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3630535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946280"/>
              </p:ext>
            </p:extLst>
          </p:nvPr>
        </p:nvGraphicFramePr>
        <p:xfrm>
          <a:off x="5820963" y="1937702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$ 1.392.632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$ 1.763.429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4EE1D17F-4148-EA21-6B82-5EED75EE075B}"/>
              </a:ext>
            </a:extLst>
          </p:cNvPr>
          <p:cNvSpPr txBox="1"/>
          <p:nvPr/>
        </p:nvSpPr>
        <p:spPr>
          <a:xfrm>
            <a:off x="5820963" y="2545189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384C96-754C-C543-23F2-08FA8F355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714754"/>
              </p:ext>
            </p:extLst>
          </p:nvPr>
        </p:nvGraphicFramePr>
        <p:xfrm>
          <a:off x="485984" y="1937702"/>
          <a:ext cx="5084235" cy="414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8695799-518E-CBAC-D733-A98AA9C5CF52}"/>
              </a:ext>
            </a:extLst>
          </p:cNvPr>
          <p:cNvSpPr txBox="1"/>
          <p:nvPr/>
        </p:nvSpPr>
        <p:spPr>
          <a:xfrm>
            <a:off x="5820962" y="3075057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X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</a:t>
            </a:r>
            <a:r>
              <a:rPr lang="es-AR" sz="2000" b="1" i="0" u="none" strike="noStrike" dirty="0">
                <a:solidFill>
                  <a:srgbClr val="FF4E4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$ 1.263.939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 </a:t>
            </a:r>
            <a:r>
              <a:rPr lang="es-AR" sz="20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kumimoji="0" lang="es-A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0.000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4A42AD-0BDD-6AE2-DCCE-ED288AE77E0A}"/>
              </a:ext>
            </a:extLst>
          </p:cNvPr>
          <p:cNvSpPr txBox="1"/>
          <p:nvPr/>
        </p:nvSpPr>
        <p:spPr>
          <a:xfrm>
            <a:off x="5820961" y="3782943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Y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2000" b="1" i="0" u="none" strike="noStrike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$ 1.392.632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 </a:t>
            </a:r>
            <a:r>
              <a:rPr kumimoji="0" lang="es-A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6.000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038E65-DC49-17DD-2EF8-FDA704D72007}"/>
              </a:ext>
            </a:extLst>
          </p:cNvPr>
          <p:cNvSpPr txBox="1"/>
          <p:nvPr/>
        </p:nvSpPr>
        <p:spPr>
          <a:xfrm>
            <a:off x="5820960" y="4506694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Z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algn="ctr">
              <a:defRPr/>
            </a:pPr>
            <a:r>
              <a:rPr lang="es-AR" sz="2000" b="1" i="0" u="none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$ 1.763.429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/ </a:t>
            </a:r>
            <a:r>
              <a:rPr kumimoji="0" lang="es-A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12.000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B36508-69D6-73E7-70B4-E90C7F0FA7B2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CB577FC-C86C-C34C-3C9C-F91028A0E28A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1107576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indirectos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fabricación para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89C40C-FC8D-4781-DABA-40E54F64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483939"/>
              </p:ext>
            </p:extLst>
          </p:nvPr>
        </p:nvGraphicFramePr>
        <p:xfrm>
          <a:off x="5820963" y="1937702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$ 1.392.632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$ 1.763.429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4EE1D17F-4148-EA21-6B82-5EED75EE075B}"/>
              </a:ext>
            </a:extLst>
          </p:cNvPr>
          <p:cNvSpPr txBox="1"/>
          <p:nvPr/>
        </p:nvSpPr>
        <p:spPr>
          <a:xfrm>
            <a:off x="5820963" y="2545189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384C96-754C-C543-23F2-08FA8F355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049189"/>
              </p:ext>
            </p:extLst>
          </p:nvPr>
        </p:nvGraphicFramePr>
        <p:xfrm>
          <a:off x="485984" y="1937702"/>
          <a:ext cx="5084235" cy="414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0577334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Inductores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Preparación de máquinas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Hombre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724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Inspecciones de calidad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inspecciones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747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Órdenes de producción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órdenes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9564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Horas máquina trabajadas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Hs / Máquina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1.400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10778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Recibos de material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N°</a:t>
                      </a:r>
                      <a:r>
                        <a:rPr lang="es-A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de recibos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0337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8695799-518E-CBAC-D733-A98AA9C5CF52}"/>
              </a:ext>
            </a:extLst>
          </p:cNvPr>
          <p:cNvSpPr txBox="1"/>
          <p:nvPr/>
        </p:nvSpPr>
        <p:spPr>
          <a:xfrm>
            <a:off x="5820962" y="3075057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X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$ 42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4A42AD-0BDD-6AE2-DCCE-ED288AE77E0A}"/>
              </a:ext>
            </a:extLst>
          </p:cNvPr>
          <p:cNvSpPr txBox="1"/>
          <p:nvPr/>
        </p:nvSpPr>
        <p:spPr>
          <a:xfrm>
            <a:off x="5820961" y="3782943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Y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$ </a:t>
            </a:r>
            <a:r>
              <a:rPr lang="es-AR" sz="20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232</a:t>
            </a:r>
            <a:endParaRPr kumimoji="0" lang="es-AR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038E65-DC49-17DD-2EF8-FDA704D72007}"/>
              </a:ext>
            </a:extLst>
          </p:cNvPr>
          <p:cNvSpPr txBox="1"/>
          <p:nvPr/>
        </p:nvSpPr>
        <p:spPr>
          <a:xfrm>
            <a:off x="5820960" y="4506694"/>
            <a:ext cx="3050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Z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$ </a:t>
            </a:r>
            <a:r>
              <a:rPr lang="es-AR" sz="2000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147</a:t>
            </a:r>
            <a:endParaRPr kumimoji="0" lang="es-AR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DBB37F-C247-12D2-952A-733E75C1D41F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1C6FF74-F3A1-5B15-B64E-991998EE9A79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335597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5E0B4D-2F1D-5E37-8E9E-90AF84F23701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68CEE78-AD59-6390-9248-F2CF89661A96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55768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E035F4-77B6-807F-32AA-76BC9A36A87B}"/>
              </a:ext>
            </a:extLst>
          </p:cNvPr>
          <p:cNvSpPr txBox="1"/>
          <p:nvPr/>
        </p:nvSpPr>
        <p:spPr>
          <a:xfrm>
            <a:off x="668442" y="2858987"/>
            <a:ext cx="7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$999.000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57585C-42C8-2006-5DA8-4A389BF2EA2D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19D192-8F9E-E770-BE59-08EA1822FCED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801159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E035F4-77B6-807F-32AA-76BC9A36A87B}"/>
              </a:ext>
            </a:extLst>
          </p:cNvPr>
          <p:cNvSpPr txBox="1"/>
          <p:nvPr/>
        </p:nvSpPr>
        <p:spPr>
          <a:xfrm>
            <a:off x="668442" y="2858987"/>
            <a:ext cx="7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$999.000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FF4B239E-9C1A-E0F3-B8FB-366E937C0F01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4138337" y="1930024"/>
            <a:ext cx="674587" cy="1107140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4E1ED76C-DBC1-4035-47DD-BA1C30830684}"/>
              </a:ext>
            </a:extLst>
          </p:cNvPr>
          <p:cNvSpPr/>
          <p:nvPr/>
        </p:nvSpPr>
        <p:spPr>
          <a:xfrm>
            <a:off x="3190290" y="2820887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DD8B800-09BF-BB7F-63F9-4BF0EF1E85C9}"/>
              </a:ext>
            </a:extLst>
          </p:cNvPr>
          <p:cNvSpPr txBox="1"/>
          <p:nvPr/>
        </p:nvSpPr>
        <p:spPr>
          <a:xfrm>
            <a:off x="5118526" y="1717359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$ 150.000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FF0CC2-D0FA-FC92-6645-293D1EA986FE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E15C6A-45C9-9694-0744-BDB18466FB4F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47871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4F6C53-A1F1-B55C-522F-001950C45334}"/>
              </a:ext>
            </a:extLst>
          </p:cNvPr>
          <p:cNvSpPr txBox="1"/>
          <p:nvPr/>
        </p:nvSpPr>
        <p:spPr>
          <a:xfrm>
            <a:off x="668442" y="2858987"/>
            <a:ext cx="7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$999.000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07134B5B-8763-268C-585C-C3A1DA6958C3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 rot="16200000" flipH="1">
            <a:off x="5829495" y="3914590"/>
            <a:ext cx="839753" cy="1220642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2997A-F684-1303-15E8-1E714DA49D40}"/>
              </a:ext>
            </a:extLst>
          </p:cNvPr>
          <p:cNvSpPr/>
          <p:nvPr/>
        </p:nvSpPr>
        <p:spPr>
          <a:xfrm>
            <a:off x="4907280" y="4059316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38E188-08C8-988F-92DB-451AB37356A3}"/>
              </a:ext>
            </a:extLst>
          </p:cNvPr>
          <p:cNvSpPr txBox="1"/>
          <p:nvPr/>
        </p:nvSpPr>
        <p:spPr>
          <a:xfrm>
            <a:off x="5413584" y="4944788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$999.000 / 3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FBF053D8-19F1-ABE3-C095-FB9BB2802666}"/>
              </a:ext>
            </a:extLst>
          </p:cNvPr>
          <p:cNvCxnSpPr>
            <a:cxnSpLocks/>
            <a:stCxn id="25" idx="0"/>
          </p:cNvCxnSpPr>
          <p:nvPr/>
        </p:nvCxnSpPr>
        <p:spPr>
          <a:xfrm rot="5400000" flipH="1" flipV="1">
            <a:off x="4138337" y="1930024"/>
            <a:ext cx="674587" cy="1107140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8B7CBEE-9679-04EC-281F-FC79177F6787}"/>
              </a:ext>
            </a:extLst>
          </p:cNvPr>
          <p:cNvSpPr/>
          <p:nvPr/>
        </p:nvSpPr>
        <p:spPr>
          <a:xfrm>
            <a:off x="3190290" y="2820887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6932698-15CF-13C2-4055-AF9F4EFE265D}"/>
              </a:ext>
            </a:extLst>
          </p:cNvPr>
          <p:cNvSpPr txBox="1"/>
          <p:nvPr/>
        </p:nvSpPr>
        <p:spPr>
          <a:xfrm>
            <a:off x="5118526" y="1717359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$ 150.000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EEB9C82-9923-3E60-A60E-1988AE6B8FBD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2A343F-C442-BA88-DC13-4CC098962AC1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666867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4F6C53-A1F1-B55C-522F-001950C45334}"/>
              </a:ext>
            </a:extLst>
          </p:cNvPr>
          <p:cNvSpPr txBox="1"/>
          <p:nvPr/>
        </p:nvSpPr>
        <p:spPr>
          <a:xfrm>
            <a:off x="668442" y="2858987"/>
            <a:ext cx="7807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Materia Prima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, y para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$ 150.000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El costo total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mano de obra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los tres productos es de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$999.000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07134B5B-8763-268C-585C-C3A1DA6958C3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 rot="16200000" flipH="1">
            <a:off x="5829495" y="3914590"/>
            <a:ext cx="839753" cy="1220642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2997A-F684-1303-15E8-1E714DA49D40}"/>
              </a:ext>
            </a:extLst>
          </p:cNvPr>
          <p:cNvSpPr/>
          <p:nvPr/>
        </p:nvSpPr>
        <p:spPr>
          <a:xfrm>
            <a:off x="4907280" y="4059316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38E188-08C8-988F-92DB-451AB37356A3}"/>
              </a:ext>
            </a:extLst>
          </p:cNvPr>
          <p:cNvSpPr txBox="1"/>
          <p:nvPr/>
        </p:nvSpPr>
        <p:spPr>
          <a:xfrm>
            <a:off x="5413584" y="4944788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$333.000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FBF053D8-19F1-ABE3-C095-FB9BB2802666}"/>
              </a:ext>
            </a:extLst>
          </p:cNvPr>
          <p:cNvCxnSpPr>
            <a:cxnSpLocks/>
            <a:stCxn id="25" idx="0"/>
          </p:cNvCxnSpPr>
          <p:nvPr/>
        </p:nvCxnSpPr>
        <p:spPr>
          <a:xfrm rot="5400000" flipH="1" flipV="1">
            <a:off x="4138337" y="1930024"/>
            <a:ext cx="674587" cy="1107140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8B7CBEE-9679-04EC-281F-FC79177F6787}"/>
              </a:ext>
            </a:extLst>
          </p:cNvPr>
          <p:cNvSpPr/>
          <p:nvPr/>
        </p:nvSpPr>
        <p:spPr>
          <a:xfrm>
            <a:off x="3190290" y="2820887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5F9CD3-4178-9C8C-746E-84B558C3A92F}"/>
              </a:ext>
            </a:extLst>
          </p:cNvPr>
          <p:cNvSpPr txBox="1"/>
          <p:nvPr/>
        </p:nvSpPr>
        <p:spPr>
          <a:xfrm>
            <a:off x="5118526" y="1717359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$ 150.000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6E3927-72F2-3E61-C82A-9CFDE8FEB6C3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DB7F09-3052-60D1-1D8D-1487457F984D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675140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4535488" y="3173125"/>
            <a:ext cx="4528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MP + MOD</a:t>
            </a:r>
            <a:endParaRPr kumimoji="0" lang="es-A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F4D60FA0-A812-6F04-7B09-392FBC244B1A}"/>
              </a:ext>
            </a:extLst>
          </p:cNvPr>
          <p:cNvSpPr/>
          <p:nvPr/>
        </p:nvSpPr>
        <p:spPr>
          <a:xfrm>
            <a:off x="2743200" y="3273525"/>
            <a:ext cx="1616343" cy="369332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89FE0B-E70F-4167-C12A-27083E625648}"/>
              </a:ext>
            </a:extLst>
          </p:cNvPr>
          <p:cNvSpPr txBox="1"/>
          <p:nvPr/>
        </p:nvSpPr>
        <p:spPr>
          <a:xfrm>
            <a:off x="454918" y="3713167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$333.000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318BAB-D112-40D1-935F-08A85BEFDDDD}"/>
              </a:ext>
            </a:extLst>
          </p:cNvPr>
          <p:cNvSpPr txBox="1"/>
          <p:nvPr/>
        </p:nvSpPr>
        <p:spPr>
          <a:xfrm>
            <a:off x="454918" y="2811860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$ 150.000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533BEF-9199-C188-610C-C35DEBEE8928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330A5EC-7B31-F54F-814C-A589AD7C62CD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111921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38E188-08C8-988F-92DB-451AB37356A3}"/>
              </a:ext>
            </a:extLst>
          </p:cNvPr>
          <p:cNvSpPr txBox="1"/>
          <p:nvPr/>
        </p:nvSpPr>
        <p:spPr>
          <a:xfrm>
            <a:off x="454918" y="3713167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$333.000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C38FA7D-C799-EF7D-D1C1-669B83AB7E9C}"/>
              </a:ext>
            </a:extLst>
          </p:cNvPr>
          <p:cNvSpPr txBox="1"/>
          <p:nvPr/>
        </p:nvSpPr>
        <p:spPr>
          <a:xfrm>
            <a:off x="454918" y="2811860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$ 150.000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2990572" y="2564206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$ 165.000 +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$333.000</a:t>
            </a:r>
            <a:endParaRPr kumimoji="0" lang="es-A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2990572" y="3167956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$ 135.000 +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$333.000</a:t>
            </a:r>
            <a:endParaRPr kumimoji="0" lang="es-A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2990572" y="3773455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$ 150.000 +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$333.000</a:t>
            </a:r>
            <a:endParaRPr kumimoji="0" lang="es-A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942299-D56F-A00C-65CF-5115BC9FA034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F1B135-2B1C-7AC2-216E-B7F5F933F625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3626972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totales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38E188-08C8-988F-92DB-451AB37356A3}"/>
              </a:ext>
            </a:extLst>
          </p:cNvPr>
          <p:cNvSpPr txBox="1"/>
          <p:nvPr/>
        </p:nvSpPr>
        <p:spPr>
          <a:xfrm>
            <a:off x="454918" y="3713167"/>
            <a:ext cx="2892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MOD 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$333.000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C38FA7D-C799-EF7D-D1C1-669B83AB7E9C}"/>
              </a:ext>
            </a:extLst>
          </p:cNvPr>
          <p:cNvSpPr txBox="1"/>
          <p:nvPr/>
        </p:nvSpPr>
        <p:spPr>
          <a:xfrm>
            <a:off x="454918" y="2811860"/>
            <a:ext cx="2504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$ 165.000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$ 135.000</a:t>
            </a: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$ 150.000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2990572" y="2564206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$ 498.000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2990572" y="3167956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$ 468.000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2990572" y="3773455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$ 483.000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B5D57C-061A-D901-9917-7B29543C8EE8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62CAC9-D5F5-F1A2-ADCA-AD2BF56B57A6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4188970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0D3D204-B7E5-4AD1-EB4F-BBB6231ACB7F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E8228D6-C685-4664-5C7C-F72EFC0AEDAE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04776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1542320" y="3734648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$ 498.000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1542320" y="4338398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$ 468.000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1542320" y="4943897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$ 483.000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C19451-D1E9-D2DE-6362-66D026FAD0A1}"/>
              </a:ext>
            </a:extLst>
          </p:cNvPr>
          <p:cNvSpPr txBox="1"/>
          <p:nvPr/>
        </p:nvSpPr>
        <p:spPr>
          <a:xfrm>
            <a:off x="1246188" y="1923023"/>
            <a:ext cx="657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convertir un costo total en uno unitario, basta con dividirlo por la cantidad de unidades producidas de cada producto.</a:t>
            </a: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F14DABF-7910-A4F2-6E8B-8DAAE93BE9C1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4FA51D-82D6-F034-EFE6-FE96082DD979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3387085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-681736" y="3710098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$ 498.000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-681736" y="4313848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$ 468.000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-681736" y="4919347"/>
            <a:ext cx="598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$ 483.000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C19451-D1E9-D2DE-6362-66D026FAD0A1}"/>
              </a:ext>
            </a:extLst>
          </p:cNvPr>
          <p:cNvSpPr txBox="1"/>
          <p:nvPr/>
        </p:nvSpPr>
        <p:spPr>
          <a:xfrm>
            <a:off x="1246188" y="1923023"/>
            <a:ext cx="657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Para convertir un costo total en uno unitario, basta con dividirlo por la cantidad de unidades producidas de cada producto.</a:t>
            </a: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F9AE9C1-8D7F-081B-1A26-A223E60FB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488671"/>
              </p:ext>
            </p:extLst>
          </p:nvPr>
        </p:nvGraphicFramePr>
        <p:xfrm>
          <a:off x="4655716" y="3662911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52468BC2-0E6A-03E2-EAE5-9DD8C253EBC7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C83C54-C645-0580-9129-2FA26B68D071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92021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AD42E-7BBA-A7F9-EF72-690D8445D700}"/>
              </a:ext>
            </a:extLst>
          </p:cNvPr>
          <p:cNvSpPr txBox="1"/>
          <p:nvPr/>
        </p:nvSpPr>
        <p:spPr>
          <a:xfrm>
            <a:off x="-529336" y="1766998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$ 498.000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D601DB-A5A6-198B-69F9-4F97B98E7348}"/>
              </a:ext>
            </a:extLst>
          </p:cNvPr>
          <p:cNvSpPr txBox="1"/>
          <p:nvPr/>
        </p:nvSpPr>
        <p:spPr>
          <a:xfrm>
            <a:off x="-529336" y="2127396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$ 468.000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CA093-3EA4-B85E-D238-75DB1002646B}"/>
              </a:ext>
            </a:extLst>
          </p:cNvPr>
          <p:cNvSpPr txBox="1"/>
          <p:nvPr/>
        </p:nvSpPr>
        <p:spPr>
          <a:xfrm>
            <a:off x="-529336" y="2492261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$ 483.000 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F9AE9C1-8D7F-081B-1A26-A223E60FB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081212"/>
              </p:ext>
            </p:extLst>
          </p:nvPr>
        </p:nvGraphicFramePr>
        <p:xfrm>
          <a:off x="4808116" y="1719811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F1FCC5DD-30E4-AA6D-FDAE-909715C50597}"/>
              </a:ext>
            </a:extLst>
          </p:cNvPr>
          <p:cNvSpPr txBox="1"/>
          <p:nvPr/>
        </p:nvSpPr>
        <p:spPr>
          <a:xfrm>
            <a:off x="0" y="3284558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$ 665.000 / </a:t>
            </a:r>
            <a:r>
              <a:rPr kumimoji="0" lang="es-AR" sz="32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30.000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0310D7-07EA-1FF9-5E87-A383AF32BAC4}"/>
              </a:ext>
            </a:extLst>
          </p:cNvPr>
          <p:cNvSpPr txBox="1"/>
          <p:nvPr/>
        </p:nvSpPr>
        <p:spPr>
          <a:xfrm>
            <a:off x="0" y="3848156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$ 735.000 / </a:t>
            </a:r>
            <a:r>
              <a:rPr kumimoji="0" lang="es-AR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6.000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6BD29A-5EFB-B01C-1E96-3A01E0382ED0}"/>
              </a:ext>
            </a:extLst>
          </p:cNvPr>
          <p:cNvSpPr txBox="1"/>
          <p:nvPr/>
        </p:nvSpPr>
        <p:spPr>
          <a:xfrm>
            <a:off x="0" y="4479721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$ 850.000 / </a:t>
            </a:r>
            <a:r>
              <a:rPr kumimoji="0" lang="es-A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12.000</a:t>
            </a:r>
            <a:r>
              <a:rPr kumimoji="0" lang="es-419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163732-19E7-F1AF-D24E-3376035B25C6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C994AC1-3AA4-209D-93E2-672BE3B3435D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885528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directos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1FCC5DD-30E4-AA6D-FDAE-909715C50597}"/>
              </a:ext>
            </a:extLst>
          </p:cNvPr>
          <p:cNvSpPr txBox="1"/>
          <p:nvPr/>
        </p:nvSpPr>
        <p:spPr>
          <a:xfrm>
            <a:off x="0" y="3284558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17</a:t>
            </a:r>
            <a:endParaRPr kumimoji="0" lang="es-419" sz="3200" b="1" i="0" u="none" strike="noStrike" kern="1200" cap="none" spc="0" normalizeH="0" baseline="0" noProof="0" dirty="0">
              <a:ln>
                <a:noFill/>
              </a:ln>
              <a:solidFill>
                <a:srgbClr val="FF4E4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0310D7-07EA-1FF9-5E87-A383AF32BAC4}"/>
              </a:ext>
            </a:extLst>
          </p:cNvPr>
          <p:cNvSpPr txBox="1"/>
          <p:nvPr/>
        </p:nvSpPr>
        <p:spPr>
          <a:xfrm>
            <a:off x="0" y="3848156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123</a:t>
            </a:r>
            <a:endParaRPr kumimoji="0" lang="es-419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6BD29A-5EFB-B01C-1E96-3A01E0382ED0}"/>
              </a:ext>
            </a:extLst>
          </p:cNvPr>
          <p:cNvSpPr txBox="1"/>
          <p:nvPr/>
        </p:nvSpPr>
        <p:spPr>
          <a:xfrm>
            <a:off x="0" y="4479721"/>
            <a:ext cx="914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CDUnitario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71</a:t>
            </a:r>
            <a:endParaRPr kumimoji="0" lang="es-419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BBBF34-4184-ADA1-E2D4-9802DC1071EA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FB2E61B-C092-1720-FF57-1E2B2F9B62A6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5992DFF-FC3E-FCCC-C133-35A742A7590E}"/>
              </a:ext>
            </a:extLst>
          </p:cNvPr>
          <p:cNvSpPr txBox="1"/>
          <p:nvPr/>
        </p:nvSpPr>
        <p:spPr>
          <a:xfrm>
            <a:off x="-529336" y="1766998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$ 498.000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2DD5871-375A-424E-EC79-ED6BB30B430D}"/>
              </a:ext>
            </a:extLst>
          </p:cNvPr>
          <p:cNvSpPr txBox="1"/>
          <p:nvPr/>
        </p:nvSpPr>
        <p:spPr>
          <a:xfrm>
            <a:off x="-529336" y="2127396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$ 468.000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6513E2E-39C7-B784-3371-3855A45EE54A}"/>
              </a:ext>
            </a:extLst>
          </p:cNvPr>
          <p:cNvSpPr txBox="1"/>
          <p:nvPr/>
        </p:nvSpPr>
        <p:spPr>
          <a:xfrm>
            <a:off x="-529336" y="2492261"/>
            <a:ext cx="598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$ 483.000 </a:t>
            </a:r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1A4ACD8-9ED5-5D9D-75A1-FC77F6C0F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999690"/>
              </p:ext>
            </p:extLst>
          </p:nvPr>
        </p:nvGraphicFramePr>
        <p:xfrm>
          <a:off x="4808116" y="1719811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36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49472" y="3265458"/>
            <a:ext cx="817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C3B607E-E841-49D0-35E1-42BADE5247B7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F02692-8F42-C844-168F-6B9CDF10417C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325666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3203903"/>
            <a:ext cx="8831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(MP + MOD + GIF) / Unidades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7D99BA9-ECDE-753F-0720-9648BACD40D3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940806B-D22D-097E-CB76-46CBD046BD8E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654353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3203903"/>
            <a:ext cx="8831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 (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MP + MOD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cxnSp>
        <p:nvCxnSpPr>
          <p:cNvPr id="2" name="Conector: angular 1">
            <a:extLst>
              <a:ext uri="{FF2B5EF4-FFF2-40B4-BE49-F238E27FC236}">
                <a16:creationId xmlns:a16="http://schemas.microsoft.com/office/drawing/2014/main" id="{DA74C56F-9686-E320-7348-29CFF04BEE02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5198639" y="2239380"/>
            <a:ext cx="674587" cy="1107140"/>
          </a:xfrm>
          <a:prstGeom prst="bentConnector2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A741C963-47AD-3331-6724-A0389CCA92E4}"/>
              </a:ext>
            </a:extLst>
          </p:cNvPr>
          <p:cNvSpPr/>
          <p:nvPr/>
        </p:nvSpPr>
        <p:spPr>
          <a:xfrm>
            <a:off x="4250592" y="3130243"/>
            <a:ext cx="14635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AD7A0A-2697-C6EA-6CB0-773F46BBA67D}"/>
              </a:ext>
            </a:extLst>
          </p:cNvPr>
          <p:cNvSpPr txBox="1"/>
          <p:nvPr/>
        </p:nvSpPr>
        <p:spPr>
          <a:xfrm>
            <a:off x="6140728" y="2194146"/>
            <a:ext cx="2504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endParaRPr kumimoji="0" lang="es-419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70B9FB-3F81-3D86-B58D-DE3C95EC555D}"/>
              </a:ext>
            </a:extLst>
          </p:cNvPr>
          <p:cNvSpPr txBox="1"/>
          <p:nvPr/>
        </p:nvSpPr>
        <p:spPr>
          <a:xfrm>
            <a:off x="6980378" y="2337715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C181E8-4B3A-6E35-65B5-814EBDAD8C4E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6ABF71-A429-999F-C443-07F96FDEAA78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3930271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1BE3E0-930A-CBDA-CC02-197DA3D687C8}"/>
              </a:ext>
            </a:extLst>
          </p:cNvPr>
          <p:cNvSpPr/>
          <p:nvPr/>
        </p:nvSpPr>
        <p:spPr>
          <a:xfrm>
            <a:off x="6062522" y="1601693"/>
            <a:ext cx="1004344" cy="4674397"/>
          </a:xfrm>
          <a:prstGeom prst="rect">
            <a:avLst/>
          </a:prstGeom>
          <a:solidFill>
            <a:srgbClr val="191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1713703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kumimoji="0" lang="es-419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F52DD8D-5AC9-DFCC-2462-332798445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852751"/>
              </p:ext>
            </p:extLst>
          </p:nvPr>
        </p:nvGraphicFramePr>
        <p:xfrm>
          <a:off x="4590628" y="3132363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5F9FBED8-E0FB-F98A-C913-A2B9B5B12AF1}"/>
              </a:ext>
            </a:extLst>
          </p:cNvPr>
          <p:cNvSpPr txBox="1"/>
          <p:nvPr/>
        </p:nvSpPr>
        <p:spPr>
          <a:xfrm>
            <a:off x="573429" y="2403165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$ 498.000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4D1AF6-0C74-16C3-DF9A-43476EC80875}"/>
              </a:ext>
            </a:extLst>
          </p:cNvPr>
          <p:cNvSpPr txBox="1"/>
          <p:nvPr/>
        </p:nvSpPr>
        <p:spPr>
          <a:xfrm>
            <a:off x="573429" y="2763563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$ 468.000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9D2390-E3FA-5D13-0361-650D12A41D92}"/>
              </a:ext>
            </a:extLst>
          </p:cNvPr>
          <p:cNvSpPr txBox="1"/>
          <p:nvPr/>
        </p:nvSpPr>
        <p:spPr>
          <a:xfrm>
            <a:off x="573429" y="3128428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$ 483.000 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BB81A47-EA15-BC1A-09A2-DA2AE4C6D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978538"/>
              </p:ext>
            </p:extLst>
          </p:nvPr>
        </p:nvGraphicFramePr>
        <p:xfrm>
          <a:off x="853158" y="3998201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$ 1.392.632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$ 1.763.429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B750FDE3-127C-C5BD-262E-7DD825D40508}"/>
              </a:ext>
            </a:extLst>
          </p:cNvPr>
          <p:cNvSpPr txBox="1"/>
          <p:nvPr/>
        </p:nvSpPr>
        <p:spPr>
          <a:xfrm>
            <a:off x="853158" y="4605688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C4CB56B-304C-F642-68E0-A83DF26AA420}"/>
              </a:ext>
            </a:extLst>
          </p:cNvPr>
          <p:cNvSpPr txBox="1"/>
          <p:nvPr/>
        </p:nvSpPr>
        <p:spPr>
          <a:xfrm>
            <a:off x="1334125" y="3553151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30FD3FD-CDA4-0EAF-D1EA-EF0400457560}"/>
              </a:ext>
            </a:extLst>
          </p:cNvPr>
          <p:cNvSpPr txBox="1"/>
          <p:nvPr/>
        </p:nvSpPr>
        <p:spPr>
          <a:xfrm>
            <a:off x="1374717" y="4882687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el punto </a:t>
            </a:r>
            <a:r>
              <a:rPr kumimoji="0" lang="es-419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</a:t>
            </a:r>
            <a:endParaRPr kumimoji="0" lang="es-419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BEFE032-C90D-CD53-2C99-8834F81D8AA3}"/>
              </a:ext>
            </a:extLst>
          </p:cNvPr>
          <p:cNvSpPr txBox="1"/>
          <p:nvPr/>
        </p:nvSpPr>
        <p:spPr>
          <a:xfrm>
            <a:off x="5560983" y="4344078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la consigna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EA5FBB-4F9D-9EDD-E256-52C575A7360E}"/>
              </a:ext>
            </a:extLst>
          </p:cNvPr>
          <p:cNvSpPr txBox="1"/>
          <p:nvPr/>
        </p:nvSpPr>
        <p:spPr>
          <a:xfrm>
            <a:off x="3903699" y="2067155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39D9B1A-D1F2-89C7-2DF8-BED5D62E8B26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AECA6BC-1EF8-075C-63AD-8EC8B1C6C9E4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1440360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1713703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kumimoji="0" lang="es-419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F52DD8D-5AC9-DFCC-2462-332798445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47080"/>
              </p:ext>
            </p:extLst>
          </p:nvPr>
        </p:nvGraphicFramePr>
        <p:xfrm>
          <a:off x="4834515" y="3853486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BB81A47-EA15-BC1A-09A2-DA2AE4C6D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159566"/>
              </p:ext>
            </p:extLst>
          </p:nvPr>
        </p:nvGraphicFramePr>
        <p:xfrm>
          <a:off x="840458" y="3873854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$ 1.392.632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$ 1.763.429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B750FDE3-127C-C5BD-262E-7DD825D40508}"/>
              </a:ext>
            </a:extLst>
          </p:cNvPr>
          <p:cNvSpPr txBox="1"/>
          <p:nvPr/>
        </p:nvSpPr>
        <p:spPr>
          <a:xfrm>
            <a:off x="840458" y="4481341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30FD3FD-CDA4-0EAF-D1EA-EF0400457560}"/>
              </a:ext>
            </a:extLst>
          </p:cNvPr>
          <p:cNvSpPr txBox="1"/>
          <p:nvPr/>
        </p:nvSpPr>
        <p:spPr>
          <a:xfrm>
            <a:off x="1362017" y="4758340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el punto </a:t>
            </a:r>
            <a:r>
              <a:rPr kumimoji="0" lang="es-419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</a:t>
            </a:r>
            <a:endParaRPr kumimoji="0" lang="es-419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BEFE032-C90D-CD53-2C99-8834F81D8AA3}"/>
              </a:ext>
            </a:extLst>
          </p:cNvPr>
          <p:cNvSpPr txBox="1"/>
          <p:nvPr/>
        </p:nvSpPr>
        <p:spPr>
          <a:xfrm>
            <a:off x="5804870" y="5065201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la consigna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59977F0-4CA8-6B53-BA66-1E9034645F08}"/>
              </a:ext>
            </a:extLst>
          </p:cNvPr>
          <p:cNvSpPr txBox="1"/>
          <p:nvPr/>
        </p:nvSpPr>
        <p:spPr>
          <a:xfrm>
            <a:off x="585333" y="2239394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 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498.000</a:t>
            </a:r>
            <a:r>
              <a:rPr kumimoji="0" lang="es-419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</a:t>
            </a:r>
            <a:r>
              <a:rPr kumimoji="0" lang="es-A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$ 1.263.939 ) / 30.000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D69EB92-E8EE-00C6-FCD8-704F635205CC}"/>
              </a:ext>
            </a:extLst>
          </p:cNvPr>
          <p:cNvSpPr txBox="1"/>
          <p:nvPr/>
        </p:nvSpPr>
        <p:spPr>
          <a:xfrm>
            <a:off x="585333" y="2681465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 $ 468.000 +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$ 1.392.632 ) / 6.000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A2E4D30-F6D1-0796-BB36-5F9CE983E4A9}"/>
              </a:ext>
            </a:extLst>
          </p:cNvPr>
          <p:cNvSpPr txBox="1"/>
          <p:nvPr/>
        </p:nvSpPr>
        <p:spPr>
          <a:xfrm>
            <a:off x="546092" y="3139332"/>
            <a:ext cx="830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($ 483.000 +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$ 1.763.429) / 12.000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D78A32-ED98-65DE-3BE8-B1030799C3FF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D4A890D-2DEC-2DE0-3E32-52CB31683603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AD0AAF9-FAED-E25A-8A01-BF6986B65A75}"/>
              </a:ext>
            </a:extLst>
          </p:cNvPr>
          <p:cNvSpPr txBox="1"/>
          <p:nvPr/>
        </p:nvSpPr>
        <p:spPr>
          <a:xfrm>
            <a:off x="3514974" y="6456034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FF3B8DE-8553-9A09-B125-12077FBB39B7}"/>
              </a:ext>
            </a:extLst>
          </p:cNvPr>
          <p:cNvSpPr txBox="1"/>
          <p:nvPr/>
        </p:nvSpPr>
        <p:spPr>
          <a:xfrm>
            <a:off x="2785595" y="5313302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$ 498.000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3F12F1C-8558-854F-CEB2-A3CB46288367}"/>
              </a:ext>
            </a:extLst>
          </p:cNvPr>
          <p:cNvSpPr txBox="1"/>
          <p:nvPr/>
        </p:nvSpPr>
        <p:spPr>
          <a:xfrm>
            <a:off x="2785595" y="5673700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$ 468.000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BC251D1-1407-48AA-BF16-585871362F7E}"/>
              </a:ext>
            </a:extLst>
          </p:cNvPr>
          <p:cNvSpPr txBox="1"/>
          <p:nvPr/>
        </p:nvSpPr>
        <p:spPr>
          <a:xfrm>
            <a:off x="2785595" y="6038565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$ 483.000 </a:t>
            </a:r>
          </a:p>
        </p:txBody>
      </p:sp>
    </p:spTree>
    <p:extLst>
      <p:ext uri="{BB962C8B-B14F-4D97-AF65-F5344CB8AC3E}">
        <p14:creationId xmlns:p14="http://schemas.microsoft.com/office/powerpoint/2010/main" val="1924813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56200" y="1713703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kumimoji="0" lang="es-419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+ GIF) / Unidades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61BA443E-0866-BAC5-3E0E-2A00CD8CA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204193"/>
              </p:ext>
            </p:extLst>
          </p:nvPr>
        </p:nvGraphicFramePr>
        <p:xfrm>
          <a:off x="4834515" y="3853486"/>
          <a:ext cx="4067388" cy="113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59482273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958556850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4931595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2073466631"/>
                    </a:ext>
                  </a:extLst>
                </a:gridCol>
              </a:tblGrid>
              <a:tr h="373291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Actividades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FF4E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X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5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Y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rgbClr val="00B0F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Artículo Z</a:t>
                      </a:r>
                    </a:p>
                    <a:p>
                      <a:pPr algn="ctr"/>
                      <a:r>
                        <a:rPr lang="es-AR" sz="105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Cantidad de eventos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499390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Unidades producidas</a:t>
                      </a:r>
                    </a:p>
                  </a:txBody>
                  <a:tcPr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6.000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12.000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0693D8F2-D3EB-8457-AB0B-AA6D888BA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053909"/>
              </p:ext>
            </p:extLst>
          </p:nvPr>
        </p:nvGraphicFramePr>
        <p:xfrm>
          <a:off x="840458" y="3873854"/>
          <a:ext cx="3050541" cy="54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7">
                  <a:extLst>
                    <a:ext uri="{9D8B030D-6E8A-4147-A177-3AD203B41FA5}">
                      <a16:colId xmlns:a16="http://schemas.microsoft.com/office/drawing/2014/main" val="2764565988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4069935809"/>
                    </a:ext>
                  </a:extLst>
                </a:gridCol>
                <a:gridCol w="1016847">
                  <a:extLst>
                    <a:ext uri="{9D8B030D-6E8A-4147-A177-3AD203B41FA5}">
                      <a16:colId xmlns:a16="http://schemas.microsoft.com/office/drawing/2014/main" val="1882255000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FF4E4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$ 1.263.939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s-A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$ 1.392.632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100" b="1" i="0" u="none" strike="noStrike" dirty="0">
                          <a:solidFill>
                            <a:srgbClr val="00B0F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$ 1.763.429 </a:t>
                      </a:r>
                    </a:p>
                  </a:txBody>
                  <a:tcPr marL="9525" marR="9525" marT="9525" marB="0" anchor="ctr">
                    <a:solidFill>
                      <a:srgbClr val="19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33917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E742466E-3C38-1BC9-A731-E43D70E28756}"/>
              </a:ext>
            </a:extLst>
          </p:cNvPr>
          <p:cNvSpPr txBox="1"/>
          <p:nvPr/>
        </p:nvSpPr>
        <p:spPr>
          <a:xfrm>
            <a:off x="840458" y="4481341"/>
            <a:ext cx="3050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GIF totales</a:t>
            </a:r>
            <a:r>
              <a:rPr kumimoji="0" lang="es-419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por producto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DDB9402-E619-619A-68C9-9F3B2C30B0D6}"/>
              </a:ext>
            </a:extLst>
          </p:cNvPr>
          <p:cNvSpPr txBox="1"/>
          <p:nvPr/>
        </p:nvSpPr>
        <p:spPr>
          <a:xfrm>
            <a:off x="3514974" y="6456034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Calculado en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3961E5C-E778-8729-4A30-44AF1B98E91F}"/>
              </a:ext>
            </a:extLst>
          </p:cNvPr>
          <p:cNvSpPr txBox="1"/>
          <p:nvPr/>
        </p:nvSpPr>
        <p:spPr>
          <a:xfrm>
            <a:off x="1362017" y="4758340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el punto </a:t>
            </a:r>
            <a:r>
              <a:rPr kumimoji="0" lang="es-419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a)</a:t>
            </a:r>
            <a:endParaRPr kumimoji="0" lang="es-419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23AB77A-AB7B-AB97-2CB3-7A67252A0670}"/>
              </a:ext>
            </a:extLst>
          </p:cNvPr>
          <p:cNvSpPr txBox="1"/>
          <p:nvPr/>
        </p:nvSpPr>
        <p:spPr>
          <a:xfrm>
            <a:off x="5804870" y="5065201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la consigna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141AAD4-B51A-6F9C-92B0-426773AAD10D}"/>
              </a:ext>
            </a:extLst>
          </p:cNvPr>
          <p:cNvSpPr txBox="1"/>
          <p:nvPr/>
        </p:nvSpPr>
        <p:spPr>
          <a:xfrm>
            <a:off x="585333" y="2239394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$ 59</a:t>
            </a:r>
            <a:endParaRPr kumimoji="0" lang="es-419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AD7F83-4668-843E-31DD-EEF681D225E6}"/>
              </a:ext>
            </a:extLst>
          </p:cNvPr>
          <p:cNvSpPr txBox="1"/>
          <p:nvPr/>
        </p:nvSpPr>
        <p:spPr>
          <a:xfrm>
            <a:off x="585333" y="2681465"/>
            <a:ext cx="8084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$ 310,11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C1EBFDF-443A-265F-B586-AB724AC22E7A}"/>
              </a:ext>
            </a:extLst>
          </p:cNvPr>
          <p:cNvSpPr txBox="1"/>
          <p:nvPr/>
        </p:nvSpPr>
        <p:spPr>
          <a:xfrm>
            <a:off x="546092" y="3139332"/>
            <a:ext cx="830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CUTotal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</a:t>
            </a:r>
            <a:r>
              <a:rPr kumimoji="0" lang="es-A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$ 187,20 </a:t>
            </a:r>
            <a:endParaRPr kumimoji="0" lang="es-419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C27D18-9AD0-8C24-785D-571D224A9D72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CE5388-6289-126D-B8FE-B9BC8AE17314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E21A84-8990-5287-263A-81BCE309CCF3}"/>
              </a:ext>
            </a:extLst>
          </p:cNvPr>
          <p:cNvSpPr txBox="1"/>
          <p:nvPr/>
        </p:nvSpPr>
        <p:spPr>
          <a:xfrm>
            <a:off x="2785595" y="5313302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X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$ 498.000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31277C-A56B-B8A8-8803-B52BCE2E1C71}"/>
              </a:ext>
            </a:extLst>
          </p:cNvPr>
          <p:cNvSpPr txBox="1"/>
          <p:nvPr/>
        </p:nvSpPr>
        <p:spPr>
          <a:xfrm>
            <a:off x="2785595" y="5673700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Y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$ 468.000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3DCB0B-11A0-82C7-199D-5A9568F3862D}"/>
              </a:ext>
            </a:extLst>
          </p:cNvPr>
          <p:cNvSpPr txBox="1"/>
          <p:nvPr/>
        </p:nvSpPr>
        <p:spPr>
          <a:xfrm>
            <a:off x="2785595" y="6038565"/>
            <a:ext cx="352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CDTotal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Z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=  $ 483.000 </a:t>
            </a:r>
          </a:p>
        </p:txBody>
      </p:sp>
    </p:spTree>
    <p:extLst>
      <p:ext uri="{BB962C8B-B14F-4D97-AF65-F5344CB8AC3E}">
        <p14:creationId xmlns:p14="http://schemas.microsoft.com/office/powerpoint/2010/main" val="58788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19688" y="3265458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s-419" sz="20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Indirecto Unitario + Costo Directo Unitario </a:t>
            </a:r>
            <a:endParaRPr kumimoji="0" lang="es-419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C27D18-9AD0-8C24-785D-571D224A9D72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CE5388-6289-126D-B8FE-B9BC8AE17314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2385370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19688" y="3265458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Indirecto Unitario + Costo Directo Unitario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C27D18-9AD0-8C24-785D-571D224A9D72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CE5388-6289-126D-B8FE-B9BC8AE17314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30B26B-3017-496F-0939-291A5ECBAF6F}"/>
              </a:ext>
            </a:extLst>
          </p:cNvPr>
          <p:cNvSpPr txBox="1"/>
          <p:nvPr/>
        </p:nvSpPr>
        <p:spPr>
          <a:xfrm>
            <a:off x="3531776" y="3665568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527E58-009D-081D-35AC-34DDE9AD496A}"/>
              </a:ext>
            </a:extLst>
          </p:cNvPr>
          <p:cNvSpPr txBox="1"/>
          <p:nvPr/>
        </p:nvSpPr>
        <p:spPr>
          <a:xfrm>
            <a:off x="6241531" y="3651322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143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19688" y="3265458"/>
            <a:ext cx="8831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Indirecto Unitario + Costo Directo Unitario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C27D18-9AD0-8C24-785D-571D224A9D72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CE5388-6289-126D-B8FE-B9BC8AE17314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30B26B-3017-496F-0939-291A5ECBAF6F}"/>
              </a:ext>
            </a:extLst>
          </p:cNvPr>
          <p:cNvSpPr txBox="1"/>
          <p:nvPr/>
        </p:nvSpPr>
        <p:spPr>
          <a:xfrm>
            <a:off x="3531776" y="3665568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527E58-009D-081D-35AC-34DDE9AD496A}"/>
              </a:ext>
            </a:extLst>
          </p:cNvPr>
          <p:cNvSpPr txBox="1"/>
          <p:nvPr/>
        </p:nvSpPr>
        <p:spPr>
          <a:xfrm>
            <a:off x="6241531" y="3651322"/>
            <a:ext cx="2007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Desde el punto </a:t>
            </a: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d)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DF21F6-B707-3B5D-56BE-2920E7538DB4}"/>
              </a:ext>
            </a:extLst>
          </p:cNvPr>
          <p:cNvSpPr txBox="1"/>
          <p:nvPr/>
        </p:nvSpPr>
        <p:spPr>
          <a:xfrm>
            <a:off x="2739706" y="2625006"/>
            <a:ext cx="3501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indirecto unitario X</a:t>
            </a:r>
            <a:endParaRPr kumimoji="0" lang="es-419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$ 42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62A68D5-7C8F-883E-DAF4-691C2FFE1489}"/>
              </a:ext>
            </a:extLst>
          </p:cNvPr>
          <p:cNvSpPr txBox="1"/>
          <p:nvPr/>
        </p:nvSpPr>
        <p:spPr>
          <a:xfrm>
            <a:off x="5605660" y="2617375"/>
            <a:ext cx="3501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directo unitario X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$ 17 </a:t>
            </a:r>
          </a:p>
        </p:txBody>
      </p:sp>
    </p:spTree>
    <p:extLst>
      <p:ext uri="{BB962C8B-B14F-4D97-AF65-F5344CB8AC3E}">
        <p14:creationId xmlns:p14="http://schemas.microsoft.com/office/powerpoint/2010/main" val="1989425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103585-4A7C-4FEF-7917-EC5FCB0456BF}"/>
              </a:ext>
            </a:extLst>
          </p:cNvPr>
          <p:cNvSpPr txBox="1"/>
          <p:nvPr/>
        </p:nvSpPr>
        <p:spPr>
          <a:xfrm>
            <a:off x="485984" y="1167829"/>
            <a:ext cx="81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e)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Los </a:t>
            </a: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costos totales unitarios </a:t>
            </a:r>
            <a:r>
              <a:rPr kumimoji="0" lang="es-419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 cada producto.</a:t>
            </a: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C4695-4B94-8F14-C2F4-360E97A9C28E}"/>
              </a:ext>
            </a:extLst>
          </p:cNvPr>
          <p:cNvSpPr txBox="1"/>
          <p:nvPr/>
        </p:nvSpPr>
        <p:spPr>
          <a:xfrm>
            <a:off x="119688" y="3075057"/>
            <a:ext cx="8831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Costo Unitario Total </a:t>
            </a:r>
            <a:r>
              <a:rPr kumimoji="0" lang="es-419" sz="4000" b="1" i="0" u="none" strike="noStrike" kern="1200" cap="none" spc="0" normalizeH="0" baseline="0" noProof="0" dirty="0">
                <a:ln>
                  <a:noFill/>
                </a:ln>
                <a:solidFill>
                  <a:srgbClr val="FF4E4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X</a:t>
            </a:r>
            <a:r>
              <a:rPr kumimoji="0" lang="es-419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kumimoji="0" lang="es-419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= </a:t>
            </a:r>
            <a:r>
              <a:rPr kumimoji="0" lang="es-AR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$ 59</a:t>
            </a:r>
            <a:endParaRPr kumimoji="0" lang="es-419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C27D18-9AD0-8C24-785D-571D224A9D72}"/>
              </a:ext>
            </a:extLst>
          </p:cNvPr>
          <p:cNvSpPr txBox="1"/>
          <p:nvPr/>
        </p:nvSpPr>
        <p:spPr>
          <a:xfrm>
            <a:off x="312400" y="303768"/>
            <a:ext cx="42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Costeo Basado en Actividades (ABC)</a:t>
            </a:r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CE5388-6289-126D-B8FE-B9BC8AE17314}"/>
              </a:ext>
            </a:extLst>
          </p:cNvPr>
          <p:cNvSpPr txBox="1"/>
          <p:nvPr/>
        </p:nvSpPr>
        <p:spPr>
          <a:xfrm>
            <a:off x="312400" y="581910"/>
            <a:ext cx="605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2013" algn="l"/>
              </a:tabLst>
              <a:defRPr/>
            </a:pPr>
            <a:r>
              <a:rPr kumimoji="0" lang="es-AR" sz="1400" b="1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Ejemplo práctico - </a:t>
            </a:r>
            <a:r>
              <a:rPr kumimoji="0" lang="es-419" sz="1400" b="0" i="0" u="none" strike="noStrike" kern="1200" cap="none" spc="0" normalizeH="0" baseline="0" noProof="0" dirty="0">
                <a:ln>
                  <a:noFill/>
                </a:ln>
                <a:solidFill>
                  <a:srgbClr val="32387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Ejercicio 26</a:t>
            </a:r>
          </a:p>
        </p:txBody>
      </p:sp>
    </p:spTree>
    <p:extLst>
      <p:ext uri="{BB962C8B-B14F-4D97-AF65-F5344CB8AC3E}">
        <p14:creationId xmlns:p14="http://schemas.microsoft.com/office/powerpoint/2010/main" val="4235722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1848</TotalTime>
  <Words>12998</Words>
  <Application>Microsoft Office PowerPoint</Application>
  <PresentationFormat>Presentación en pantalla (4:3)</PresentationFormat>
  <Paragraphs>4420</Paragraphs>
  <Slides>116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116</vt:i4>
      </vt:variant>
    </vt:vector>
  </HeadingPairs>
  <TitlesOfParts>
    <vt:vector size="121" baseType="lpstr">
      <vt:lpstr>Calibri Light</vt:lpstr>
      <vt:lpstr>Arial</vt:lpstr>
      <vt:lpstr>Roboto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Lucas Marándola</dc:creator>
  <cp:lastModifiedBy>Lucas Marándola</cp:lastModifiedBy>
  <cp:revision>68</cp:revision>
  <dcterms:created xsi:type="dcterms:W3CDTF">2023-09-16T12:40:59Z</dcterms:created>
  <dcterms:modified xsi:type="dcterms:W3CDTF">2023-10-02T05:05:47Z</dcterms:modified>
</cp:coreProperties>
</file>