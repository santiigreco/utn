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57" r:id="rId3"/>
    <p:sldId id="258" r:id="rId4"/>
    <p:sldId id="260" r:id="rId5"/>
    <p:sldId id="261" r:id="rId6"/>
    <p:sldId id="262" r:id="rId7"/>
    <p:sldId id="263" r:id="rId8"/>
    <p:sldId id="264" r:id="rId9"/>
    <p:sldId id="279" r:id="rId10"/>
    <p:sldId id="275" r:id="rId11"/>
    <p:sldId id="278" r:id="rId12"/>
    <p:sldId id="280" r:id="rId13"/>
    <p:sldId id="281" r:id="rId14"/>
    <p:sldId id="282" r:id="rId15"/>
    <p:sldId id="308" r:id="rId16"/>
    <p:sldId id="283" r:id="rId17"/>
    <p:sldId id="284" r:id="rId18"/>
    <p:sldId id="285" r:id="rId19"/>
    <p:sldId id="28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stavo massucco" initials="gm" lastIdx="1" clrIdx="0">
    <p:extLst>
      <p:ext uri="{19B8F6BF-5375-455C-9EA6-DF929625EA0E}">
        <p15:presenceInfo xmlns:p15="http://schemas.microsoft.com/office/powerpoint/2012/main" userId="S::gmassucco@frba.utn.edu.ar::1271f782-c2a0-484f-8edc-abfea8ad4a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06" autoAdjust="0"/>
    <p:restoredTop sz="94660"/>
  </p:normalViewPr>
  <p:slideViewPr>
    <p:cSldViewPr snapToGrid="0">
      <p:cViewPr varScale="1">
        <p:scale>
          <a:sx n="87" d="100"/>
          <a:sy n="87" d="100"/>
        </p:scale>
        <p:origin x="821" y="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A441F-8982-4902-B1FE-08DF82218E62}" type="datetimeFigureOut">
              <a:rPr lang="es-AR" smtClean="0"/>
              <a:t>22/5/2020</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7D551-39DC-4B61-9B7A-D9ED28759857}" type="slidenum">
              <a:rPr lang="es-AR" smtClean="0"/>
              <a:t>‹Nº›</a:t>
            </a:fld>
            <a:endParaRPr lang="es-AR"/>
          </a:p>
        </p:txBody>
      </p:sp>
    </p:spTree>
    <p:extLst>
      <p:ext uri="{BB962C8B-B14F-4D97-AF65-F5344CB8AC3E}">
        <p14:creationId xmlns:p14="http://schemas.microsoft.com/office/powerpoint/2010/main" val="244033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CF7B4BB-03EF-451D-BBA6-ED00A57A62CB}"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B7EBBE1-416B-4530-A6FD-224597E99CC4}"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54DCA0A-ABF4-4F3F-993F-65A1806D3AAC}"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E527A7B-6E68-424B-A9EF-37377A07F488}"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0A24D3-82C1-45E3-9DBE-6B00DC1EA990}" type="datetime1">
              <a:rPr lang="en-US" smtClean="0"/>
              <a:t>5/22/2020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67BA0B5-4871-4F70-BF0D-1BCA91754AB6}" type="datetime1">
              <a:rPr lang="en-US" smtClean="0"/>
              <a:t>5/22/2020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60FA87-353A-4389-83B5-6EE5940F537B}" type="datetime1">
              <a:rPr lang="en-US" smtClean="0"/>
              <a:t>5/22/2020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3F49699-7C54-4EE2-92B2-680E205E50D5}"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B196675-ED22-4877-A84D-C1CBBFF553D9}"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03E8B3-EFE2-4E3E-8E9A-E1C6FBE85499}"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B6E334A-C4E7-419D-8AD7-B6AAB5AE08A4}"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6E1A55FA-2C17-435D-B9C7-8495D4486FB8}"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23A0FCC-C021-401D-ABB8-125B48448C81}"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597705F0-173F-4CFC-9A4F-6403EE4ABF40}"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7FB9DE0-81C1-4452-8C90-F5EF3AD8E15C}"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06A32CA-D89C-48D1-937B-99B9E0300ED1}"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609600" y="274639"/>
            <a:ext cx="10972800" cy="5851525"/>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Tree>
    <p:extLst>
      <p:ext uri="{BB962C8B-B14F-4D97-AF65-F5344CB8AC3E}">
        <p14:creationId xmlns:p14="http://schemas.microsoft.com/office/powerpoint/2010/main" val="3420353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670D72C-4043-460A-8EC5-878FD1386D85}" type="datetime1">
              <a:rPr lang="en-US" smtClean="0"/>
              <a:t>5/22/2020</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 id="2147483665" r:id="rId17"/>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2589213" y="1619547"/>
            <a:ext cx="8915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COSTOS Y PRESUPUESTOS</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589213" y="4776788"/>
            <a:ext cx="8915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Clasificación de los costos</a:t>
            </a:r>
          </a:p>
        </p:txBody>
      </p:sp>
      <p:sp>
        <p:nvSpPr>
          <p:cNvPr id="6" name="CuadroTexto 5">
            <a:extLst>
              <a:ext uri="{FF2B5EF4-FFF2-40B4-BE49-F238E27FC236}">
                <a16:creationId xmlns:a16="http://schemas.microsoft.com/office/drawing/2014/main" id="{D9FA0E92-5CE1-472E-A758-7CE737D9664B}"/>
              </a:ext>
            </a:extLst>
          </p:cNvPr>
          <p:cNvSpPr txBox="1"/>
          <p:nvPr/>
        </p:nvSpPr>
        <p:spPr>
          <a:xfrm>
            <a:off x="3108035" y="3023361"/>
            <a:ext cx="8396578" cy="400110"/>
          </a:xfrm>
          <a:prstGeom prst="rect">
            <a:avLst/>
          </a:prstGeom>
          <a:noFill/>
        </p:spPr>
        <p:txBody>
          <a:bodyPr wrap="square" rtlCol="0">
            <a:spAutoFit/>
          </a:bodyPr>
          <a:lstStyle/>
          <a:p>
            <a:r>
              <a:rPr lang="es-AR" sz="2000" dirty="0"/>
              <a:t>Ingeniero Gustavo Massucco</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4286319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ACC0CD-BC50-497F-90A9-C6CEBA985B6E}"/>
              </a:ext>
            </a:extLst>
          </p:cNvPr>
          <p:cNvSpPr>
            <a:spLocks noGrp="1"/>
          </p:cNvSpPr>
          <p:nvPr>
            <p:ph type="title"/>
          </p:nvPr>
        </p:nvSpPr>
        <p:spPr/>
        <p:txBody>
          <a:bodyPr>
            <a:normAutofit/>
          </a:bodyPr>
          <a:lstStyle/>
          <a:p>
            <a:r>
              <a:rPr lang="es-AR" b="1" dirty="0">
                <a:solidFill>
                  <a:schemeClr val="tx1">
                    <a:lumMod val="75000"/>
                    <a:lumOff val="25000"/>
                  </a:schemeClr>
                </a:solidFill>
              </a:rPr>
              <a:t>COSTOS INDUSTRIALES</a:t>
            </a:r>
          </a:p>
        </p:txBody>
      </p:sp>
      <p:sp>
        <p:nvSpPr>
          <p:cNvPr id="4" name="Marcador de número de diapositiva 3">
            <a:extLst>
              <a:ext uri="{FF2B5EF4-FFF2-40B4-BE49-F238E27FC236}">
                <a16:creationId xmlns:a16="http://schemas.microsoft.com/office/drawing/2014/main" id="{CDE73CC8-046B-46ED-9954-1C61F504E3FE}"/>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
        <p:nvSpPr>
          <p:cNvPr id="5" name="CuadroTexto 4">
            <a:extLst>
              <a:ext uri="{FF2B5EF4-FFF2-40B4-BE49-F238E27FC236}">
                <a16:creationId xmlns:a16="http://schemas.microsoft.com/office/drawing/2014/main" id="{342D253A-FC86-4C51-935C-3C7A6D14DED4}"/>
              </a:ext>
            </a:extLst>
          </p:cNvPr>
          <p:cNvSpPr txBox="1"/>
          <p:nvPr/>
        </p:nvSpPr>
        <p:spPr>
          <a:xfrm>
            <a:off x="2194560" y="2521059"/>
            <a:ext cx="8375904" cy="2308324"/>
          </a:xfrm>
          <a:prstGeom prst="rect">
            <a:avLst/>
          </a:prstGeom>
          <a:noFill/>
        </p:spPr>
        <p:txBody>
          <a:bodyPr wrap="square" rtlCol="0">
            <a:spAutoFit/>
          </a:bodyPr>
          <a:lstStyle/>
          <a:p>
            <a:r>
              <a:rPr lang="es-AR" sz="3600" b="1" dirty="0">
                <a:solidFill>
                  <a:schemeClr val="tx1">
                    <a:lumMod val="75000"/>
                    <a:lumOff val="25000"/>
                  </a:schemeClr>
                </a:solidFill>
              </a:rPr>
              <a:t>Definición de costo</a:t>
            </a:r>
            <a:r>
              <a:rPr lang="es-AR" sz="3600" dirty="0">
                <a:solidFill>
                  <a:schemeClr val="tx1">
                    <a:lumMod val="75000"/>
                    <a:lumOff val="25000"/>
                  </a:schemeClr>
                </a:solidFill>
              </a:rPr>
              <a:t>:</a:t>
            </a:r>
          </a:p>
          <a:p>
            <a:pPr marL="285750" indent="-285750">
              <a:buClr>
                <a:srgbClr val="92D050"/>
              </a:buClr>
              <a:buFont typeface="Arial" panose="020B0604020202020204" pitchFamily="34" charset="0"/>
              <a:buChar char="•"/>
            </a:pPr>
            <a:r>
              <a:rPr lang="es-AR" sz="3600" dirty="0">
                <a:solidFill>
                  <a:schemeClr val="tx1">
                    <a:lumMod val="75000"/>
                    <a:lumOff val="25000"/>
                  </a:schemeClr>
                </a:solidFill>
              </a:rPr>
              <a:t>La suma total de dinero insumida por la producción de un bien o servicio se denomina </a:t>
            </a:r>
            <a:r>
              <a:rPr lang="es-AR" sz="3600" b="1" dirty="0">
                <a:solidFill>
                  <a:schemeClr val="tx1">
                    <a:lumMod val="75000"/>
                    <a:lumOff val="25000"/>
                  </a:schemeClr>
                </a:solidFill>
              </a:rPr>
              <a:t>costo</a:t>
            </a:r>
          </a:p>
        </p:txBody>
      </p:sp>
    </p:spTree>
    <p:extLst>
      <p:ext uri="{BB962C8B-B14F-4D97-AF65-F5344CB8AC3E}">
        <p14:creationId xmlns:p14="http://schemas.microsoft.com/office/powerpoint/2010/main" val="93144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D35022-027D-4FA3-B2A0-D5FD22858933}"/>
              </a:ext>
            </a:extLst>
          </p:cNvPr>
          <p:cNvSpPr>
            <a:spLocks noGrp="1"/>
          </p:cNvSpPr>
          <p:nvPr>
            <p:ph type="title"/>
          </p:nvPr>
        </p:nvSpPr>
        <p:spPr/>
        <p:txBody>
          <a:bodyPr/>
          <a:lstStyle/>
          <a:p>
            <a:r>
              <a:rPr lang="es-AR" b="1" dirty="0">
                <a:solidFill>
                  <a:schemeClr val="tx1">
                    <a:lumMod val="75000"/>
                    <a:lumOff val="25000"/>
                  </a:schemeClr>
                </a:solidFill>
              </a:rPr>
              <a:t>COSTOS INDUSTRIALES</a:t>
            </a:r>
            <a:endParaRPr lang="es-AR" dirty="0"/>
          </a:p>
        </p:txBody>
      </p:sp>
      <p:sp>
        <p:nvSpPr>
          <p:cNvPr id="4" name="Marcador de número de diapositiva 3">
            <a:extLst>
              <a:ext uri="{FF2B5EF4-FFF2-40B4-BE49-F238E27FC236}">
                <a16:creationId xmlns:a16="http://schemas.microsoft.com/office/drawing/2014/main" id="{E25DF3A3-6433-499E-9F42-86F2C4E6C2B5}"/>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5" name="CuadroTexto 4">
            <a:extLst>
              <a:ext uri="{FF2B5EF4-FFF2-40B4-BE49-F238E27FC236}">
                <a16:creationId xmlns:a16="http://schemas.microsoft.com/office/drawing/2014/main" id="{9C3618AC-9976-4CB6-9AF1-AFF4CA2EDD13}"/>
              </a:ext>
            </a:extLst>
          </p:cNvPr>
          <p:cNvSpPr txBox="1"/>
          <p:nvPr/>
        </p:nvSpPr>
        <p:spPr>
          <a:xfrm>
            <a:off x="2295144" y="1666495"/>
            <a:ext cx="4187952" cy="369332"/>
          </a:xfrm>
          <a:prstGeom prst="rect">
            <a:avLst/>
          </a:prstGeom>
          <a:noFill/>
        </p:spPr>
        <p:txBody>
          <a:bodyPr wrap="square" rtlCol="0">
            <a:spAutoFit/>
          </a:bodyPr>
          <a:lstStyle/>
          <a:p>
            <a:r>
              <a:rPr lang="es-AR" b="1" dirty="0"/>
              <a:t>COSTO TOTAL</a:t>
            </a:r>
          </a:p>
        </p:txBody>
      </p:sp>
      <p:sp>
        <p:nvSpPr>
          <p:cNvPr id="6" name="CuadroTexto 5">
            <a:extLst>
              <a:ext uri="{FF2B5EF4-FFF2-40B4-BE49-F238E27FC236}">
                <a16:creationId xmlns:a16="http://schemas.microsoft.com/office/drawing/2014/main" id="{EC27B39A-5876-4871-A33B-2562273A921F}"/>
              </a:ext>
            </a:extLst>
          </p:cNvPr>
          <p:cNvSpPr txBox="1"/>
          <p:nvPr/>
        </p:nvSpPr>
        <p:spPr>
          <a:xfrm>
            <a:off x="2592925" y="2233947"/>
            <a:ext cx="6779675" cy="923330"/>
          </a:xfrm>
          <a:prstGeom prst="rect">
            <a:avLst/>
          </a:prstGeom>
          <a:noFill/>
        </p:spPr>
        <p:txBody>
          <a:bodyPr wrap="square" rtlCol="0">
            <a:spAutoFit/>
          </a:bodyPr>
          <a:lstStyle/>
          <a:p>
            <a:r>
              <a:rPr lang="es-AR" dirty="0"/>
              <a:t>Si se considera al costo de producción durante un determinado periodo de tiempo se habla de un costo total</a:t>
            </a:r>
          </a:p>
        </p:txBody>
      </p:sp>
      <p:sp>
        <p:nvSpPr>
          <p:cNvPr id="7" name="CuadroTexto 6">
            <a:extLst>
              <a:ext uri="{FF2B5EF4-FFF2-40B4-BE49-F238E27FC236}">
                <a16:creationId xmlns:a16="http://schemas.microsoft.com/office/drawing/2014/main" id="{1B3D8E0D-2F8B-495F-B362-D4FA716E5E0B}"/>
              </a:ext>
            </a:extLst>
          </p:cNvPr>
          <p:cNvSpPr txBox="1"/>
          <p:nvPr/>
        </p:nvSpPr>
        <p:spPr>
          <a:xfrm>
            <a:off x="2258568" y="3429000"/>
            <a:ext cx="4187952" cy="369332"/>
          </a:xfrm>
          <a:prstGeom prst="rect">
            <a:avLst/>
          </a:prstGeom>
          <a:noFill/>
        </p:spPr>
        <p:txBody>
          <a:bodyPr wrap="square" rtlCol="0">
            <a:spAutoFit/>
          </a:bodyPr>
          <a:lstStyle/>
          <a:p>
            <a:r>
              <a:rPr lang="es-AR" b="1" dirty="0"/>
              <a:t>COSTO UNITARIO</a:t>
            </a:r>
          </a:p>
        </p:txBody>
      </p:sp>
      <p:sp>
        <p:nvSpPr>
          <p:cNvPr id="8" name="CuadroTexto 7">
            <a:extLst>
              <a:ext uri="{FF2B5EF4-FFF2-40B4-BE49-F238E27FC236}">
                <a16:creationId xmlns:a16="http://schemas.microsoft.com/office/drawing/2014/main" id="{B9F6E8FF-CB98-4716-9778-5DE62E848886}"/>
              </a:ext>
            </a:extLst>
          </p:cNvPr>
          <p:cNvSpPr txBox="1"/>
          <p:nvPr/>
        </p:nvSpPr>
        <p:spPr>
          <a:xfrm>
            <a:off x="2556349" y="3969543"/>
            <a:ext cx="6779675" cy="923330"/>
          </a:xfrm>
          <a:prstGeom prst="rect">
            <a:avLst/>
          </a:prstGeom>
          <a:noFill/>
        </p:spPr>
        <p:txBody>
          <a:bodyPr wrap="square" rtlCol="0">
            <a:spAutoFit/>
          </a:bodyPr>
          <a:lstStyle/>
          <a:p>
            <a:r>
              <a:rPr lang="es-AR" dirty="0"/>
              <a:t>Si se considera al costo de producción, de una unidad, durante un determinado periodo de tiempo se habla de un costo unitario</a:t>
            </a:r>
          </a:p>
        </p:txBody>
      </p:sp>
      <p:sp>
        <p:nvSpPr>
          <p:cNvPr id="9" name="CuadroTexto 8">
            <a:extLst>
              <a:ext uri="{FF2B5EF4-FFF2-40B4-BE49-F238E27FC236}">
                <a16:creationId xmlns:a16="http://schemas.microsoft.com/office/drawing/2014/main" id="{536F7BBC-CC0D-4DCB-B149-6B248F1D5DE0}"/>
              </a:ext>
            </a:extLst>
          </p:cNvPr>
          <p:cNvSpPr txBox="1"/>
          <p:nvPr/>
        </p:nvSpPr>
        <p:spPr>
          <a:xfrm>
            <a:off x="1888836" y="5461329"/>
            <a:ext cx="7904388" cy="1015663"/>
          </a:xfrm>
          <a:prstGeom prst="rect">
            <a:avLst/>
          </a:prstGeom>
          <a:noFill/>
        </p:spPr>
        <p:txBody>
          <a:bodyPr wrap="square" rtlCol="0">
            <a:spAutoFit/>
          </a:bodyPr>
          <a:lstStyle/>
          <a:p>
            <a:r>
              <a:rPr lang="es-AR" sz="2000" dirty="0"/>
              <a:t>El costo total y el unitario cargan con la incidencias del capital fijo a través de la amortización y de la totalidad del capital circulante insumido</a:t>
            </a:r>
          </a:p>
        </p:txBody>
      </p:sp>
    </p:spTree>
    <p:extLst>
      <p:ext uri="{BB962C8B-B14F-4D97-AF65-F5344CB8AC3E}">
        <p14:creationId xmlns:p14="http://schemas.microsoft.com/office/powerpoint/2010/main" val="2138242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2E1C94-9995-4D47-93A2-F2724532DB5F}"/>
              </a:ext>
            </a:extLst>
          </p:cNvPr>
          <p:cNvSpPr>
            <a:spLocks noGrp="1"/>
          </p:cNvSpPr>
          <p:nvPr>
            <p:ph type="title"/>
          </p:nvPr>
        </p:nvSpPr>
        <p:spPr/>
        <p:txBody>
          <a:bodyPr/>
          <a:lstStyle/>
          <a:p>
            <a:r>
              <a:rPr lang="es-AR" b="1" dirty="0">
                <a:solidFill>
                  <a:schemeClr val="tx1">
                    <a:lumMod val="75000"/>
                    <a:lumOff val="25000"/>
                  </a:schemeClr>
                </a:solidFill>
              </a:rPr>
              <a:t>ESTRUCTURA DEL COSTO</a:t>
            </a:r>
          </a:p>
        </p:txBody>
      </p:sp>
      <p:sp>
        <p:nvSpPr>
          <p:cNvPr id="3" name="Marcador de número de diapositiva 2">
            <a:extLst>
              <a:ext uri="{FF2B5EF4-FFF2-40B4-BE49-F238E27FC236}">
                <a16:creationId xmlns:a16="http://schemas.microsoft.com/office/drawing/2014/main" id="{B3992221-E608-4495-8DC4-B1FCBC5DA86E}"/>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4" name="CuadroTexto 3">
            <a:extLst>
              <a:ext uri="{FF2B5EF4-FFF2-40B4-BE49-F238E27FC236}">
                <a16:creationId xmlns:a16="http://schemas.microsoft.com/office/drawing/2014/main" id="{01B013ED-DD7C-49A4-9A3A-E21231E13E86}"/>
              </a:ext>
            </a:extLst>
          </p:cNvPr>
          <p:cNvSpPr txBox="1"/>
          <p:nvPr/>
        </p:nvSpPr>
        <p:spPr>
          <a:xfrm>
            <a:off x="2459736" y="1489501"/>
            <a:ext cx="8129016" cy="830997"/>
          </a:xfrm>
          <a:prstGeom prst="rect">
            <a:avLst/>
          </a:prstGeom>
          <a:noFill/>
        </p:spPr>
        <p:txBody>
          <a:bodyPr wrap="square" rtlCol="0">
            <a:spAutoFit/>
          </a:bodyPr>
          <a:lstStyle/>
          <a:p>
            <a:r>
              <a:rPr lang="es-AR" sz="2400" dirty="0"/>
              <a:t>El costo de un producto estará definido por la siguiente expresión:</a:t>
            </a:r>
          </a:p>
        </p:txBody>
      </p:sp>
      <p:sp>
        <p:nvSpPr>
          <p:cNvPr id="5" name="CuadroTexto 4">
            <a:extLst>
              <a:ext uri="{FF2B5EF4-FFF2-40B4-BE49-F238E27FC236}">
                <a16:creationId xmlns:a16="http://schemas.microsoft.com/office/drawing/2014/main" id="{FAE907B5-0576-48D3-9748-F45F39EE3FF1}"/>
              </a:ext>
            </a:extLst>
          </p:cNvPr>
          <p:cNvSpPr txBox="1"/>
          <p:nvPr/>
        </p:nvSpPr>
        <p:spPr>
          <a:xfrm>
            <a:off x="3854796" y="2887271"/>
            <a:ext cx="6995160" cy="461665"/>
          </a:xfrm>
          <a:prstGeom prst="rect">
            <a:avLst/>
          </a:prstGeom>
          <a:noFill/>
        </p:spPr>
        <p:txBody>
          <a:bodyPr wrap="square" rtlCol="0" anchor="ctr">
            <a:spAutoFit/>
          </a:bodyPr>
          <a:lstStyle/>
          <a:p>
            <a:r>
              <a:rPr lang="es-AR" sz="2400" b="1" dirty="0"/>
              <a:t>COSTO = MP + MOD + GIF</a:t>
            </a:r>
          </a:p>
        </p:txBody>
      </p:sp>
      <p:sp>
        <p:nvSpPr>
          <p:cNvPr id="6" name="CuadroTexto 5">
            <a:extLst>
              <a:ext uri="{FF2B5EF4-FFF2-40B4-BE49-F238E27FC236}">
                <a16:creationId xmlns:a16="http://schemas.microsoft.com/office/drawing/2014/main" id="{4559D413-D1C1-46E8-AB1C-807190060A54}"/>
              </a:ext>
            </a:extLst>
          </p:cNvPr>
          <p:cNvSpPr txBox="1"/>
          <p:nvPr/>
        </p:nvSpPr>
        <p:spPr>
          <a:xfrm>
            <a:off x="2656932" y="3579983"/>
            <a:ext cx="2395728" cy="369332"/>
          </a:xfrm>
          <a:prstGeom prst="rect">
            <a:avLst/>
          </a:prstGeom>
          <a:noFill/>
        </p:spPr>
        <p:txBody>
          <a:bodyPr wrap="square" rtlCol="0">
            <a:spAutoFit/>
          </a:bodyPr>
          <a:lstStyle/>
          <a:p>
            <a:r>
              <a:rPr lang="es-AR" dirty="0"/>
              <a:t>Siendo:</a:t>
            </a:r>
          </a:p>
        </p:txBody>
      </p:sp>
      <p:sp>
        <p:nvSpPr>
          <p:cNvPr id="7" name="CuadroTexto 6">
            <a:extLst>
              <a:ext uri="{FF2B5EF4-FFF2-40B4-BE49-F238E27FC236}">
                <a16:creationId xmlns:a16="http://schemas.microsoft.com/office/drawing/2014/main" id="{29E25819-5164-4595-864B-8A8B18FB0592}"/>
              </a:ext>
            </a:extLst>
          </p:cNvPr>
          <p:cNvSpPr txBox="1"/>
          <p:nvPr/>
        </p:nvSpPr>
        <p:spPr>
          <a:xfrm>
            <a:off x="2592924" y="4034649"/>
            <a:ext cx="6871116" cy="646331"/>
          </a:xfrm>
          <a:prstGeom prst="rect">
            <a:avLst/>
          </a:prstGeom>
          <a:noFill/>
        </p:spPr>
        <p:txBody>
          <a:bodyPr wrap="square" rtlCol="0">
            <a:spAutoFit/>
          </a:bodyPr>
          <a:lstStyle/>
          <a:p>
            <a:r>
              <a:rPr lang="es-AR" b="1" dirty="0"/>
              <a:t>MP</a:t>
            </a:r>
            <a:r>
              <a:rPr lang="es-AR" dirty="0"/>
              <a:t> , es la materia prima, es decir el material utilizado para     	confeccionar el producto</a:t>
            </a:r>
          </a:p>
        </p:txBody>
      </p:sp>
      <p:sp>
        <p:nvSpPr>
          <p:cNvPr id="8" name="CuadroTexto 7">
            <a:extLst>
              <a:ext uri="{FF2B5EF4-FFF2-40B4-BE49-F238E27FC236}">
                <a16:creationId xmlns:a16="http://schemas.microsoft.com/office/drawing/2014/main" id="{26C91EE4-5C2A-4C86-B3F9-536F61C36150}"/>
              </a:ext>
            </a:extLst>
          </p:cNvPr>
          <p:cNvSpPr txBox="1"/>
          <p:nvPr/>
        </p:nvSpPr>
        <p:spPr>
          <a:xfrm>
            <a:off x="2592924" y="4905028"/>
            <a:ext cx="6871116" cy="923330"/>
          </a:xfrm>
          <a:prstGeom prst="rect">
            <a:avLst/>
          </a:prstGeom>
          <a:noFill/>
        </p:spPr>
        <p:txBody>
          <a:bodyPr wrap="square" rtlCol="0">
            <a:spAutoFit/>
          </a:bodyPr>
          <a:lstStyle/>
          <a:p>
            <a:r>
              <a:rPr lang="es-AR" b="1" dirty="0"/>
              <a:t>MOD</a:t>
            </a:r>
            <a:r>
              <a:rPr lang="es-AR" dirty="0"/>
              <a:t> , es la mano de obra directa, es la que transforma 	 	   física o químicamente a la materia prima y es las que 	   le 	agrega valor al producto</a:t>
            </a:r>
          </a:p>
        </p:txBody>
      </p:sp>
      <p:sp>
        <p:nvSpPr>
          <p:cNvPr id="9" name="CuadroTexto 8">
            <a:extLst>
              <a:ext uri="{FF2B5EF4-FFF2-40B4-BE49-F238E27FC236}">
                <a16:creationId xmlns:a16="http://schemas.microsoft.com/office/drawing/2014/main" id="{B8E6C351-48CD-45C4-ABD1-4A4547F2378A}"/>
              </a:ext>
            </a:extLst>
          </p:cNvPr>
          <p:cNvSpPr txBox="1"/>
          <p:nvPr/>
        </p:nvSpPr>
        <p:spPr>
          <a:xfrm>
            <a:off x="2068401" y="6077520"/>
            <a:ext cx="8911686" cy="369332"/>
          </a:xfrm>
          <a:prstGeom prst="rect">
            <a:avLst/>
          </a:prstGeom>
          <a:noFill/>
        </p:spPr>
        <p:txBody>
          <a:bodyPr wrap="square" rtlCol="0">
            <a:spAutoFit/>
          </a:bodyPr>
          <a:lstStyle/>
          <a:p>
            <a:r>
              <a:rPr lang="es-AR" dirty="0"/>
              <a:t>A esta primer parte del costo la llamaremos </a:t>
            </a:r>
            <a:r>
              <a:rPr lang="es-AR" b="1" dirty="0"/>
              <a:t>“costo directo” </a:t>
            </a:r>
            <a:r>
              <a:rPr lang="es-AR" dirty="0"/>
              <a:t>o </a:t>
            </a:r>
            <a:r>
              <a:rPr lang="es-AR" b="1" dirty="0"/>
              <a:t>“costo primo”</a:t>
            </a:r>
          </a:p>
        </p:txBody>
      </p:sp>
    </p:spTree>
    <p:extLst>
      <p:ext uri="{BB962C8B-B14F-4D97-AF65-F5344CB8AC3E}">
        <p14:creationId xmlns:p14="http://schemas.microsoft.com/office/powerpoint/2010/main" val="251810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A0DB0A-B2D4-433F-8F96-EF27A0002115}"/>
              </a:ext>
            </a:extLst>
          </p:cNvPr>
          <p:cNvSpPr>
            <a:spLocks noGrp="1"/>
          </p:cNvSpPr>
          <p:nvPr>
            <p:ph type="title"/>
          </p:nvPr>
        </p:nvSpPr>
        <p:spPr/>
        <p:txBody>
          <a:bodyPr/>
          <a:lstStyle/>
          <a:p>
            <a:r>
              <a:rPr lang="es-AR" b="1" dirty="0">
                <a:solidFill>
                  <a:schemeClr val="tx1">
                    <a:lumMod val="75000"/>
                    <a:lumOff val="25000"/>
                  </a:schemeClr>
                </a:solidFill>
              </a:rPr>
              <a:t>ESTRUCTURA DEL COSTO</a:t>
            </a:r>
            <a:endParaRPr lang="es-AR" dirty="0"/>
          </a:p>
        </p:txBody>
      </p:sp>
      <p:sp>
        <p:nvSpPr>
          <p:cNvPr id="3" name="Marcador de número de diapositiva 2">
            <a:extLst>
              <a:ext uri="{FF2B5EF4-FFF2-40B4-BE49-F238E27FC236}">
                <a16:creationId xmlns:a16="http://schemas.microsoft.com/office/drawing/2014/main" id="{A96CEE63-A144-4863-AFEA-B323599041AA}"/>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4" name="CuadroTexto 3">
            <a:extLst>
              <a:ext uri="{FF2B5EF4-FFF2-40B4-BE49-F238E27FC236}">
                <a16:creationId xmlns:a16="http://schemas.microsoft.com/office/drawing/2014/main" id="{F43DF604-E2A4-4A61-9AEE-F2762C8D3039}"/>
              </a:ext>
            </a:extLst>
          </p:cNvPr>
          <p:cNvSpPr txBox="1"/>
          <p:nvPr/>
        </p:nvSpPr>
        <p:spPr>
          <a:xfrm>
            <a:off x="2203704" y="1828800"/>
            <a:ext cx="7104888" cy="923330"/>
          </a:xfrm>
          <a:prstGeom prst="rect">
            <a:avLst/>
          </a:prstGeom>
          <a:noFill/>
        </p:spPr>
        <p:txBody>
          <a:bodyPr wrap="square" rtlCol="0">
            <a:spAutoFit/>
          </a:bodyPr>
          <a:lstStyle/>
          <a:p>
            <a:r>
              <a:rPr lang="es-AR" dirty="0">
                <a:solidFill>
                  <a:schemeClr val="tx1">
                    <a:lumMod val="75000"/>
                    <a:lumOff val="25000"/>
                  </a:schemeClr>
                </a:solidFill>
              </a:rPr>
              <a:t>A esta primer parte del costo se agrega una segunda formada por todos los gastos que demanda la estructura de apoyo:</a:t>
            </a:r>
          </a:p>
        </p:txBody>
      </p:sp>
      <p:sp>
        <p:nvSpPr>
          <p:cNvPr id="5" name="CuadroTexto 4">
            <a:extLst>
              <a:ext uri="{FF2B5EF4-FFF2-40B4-BE49-F238E27FC236}">
                <a16:creationId xmlns:a16="http://schemas.microsoft.com/office/drawing/2014/main" id="{F49072A9-2F3F-4A4F-B7B0-0268C0FA8DC3}"/>
              </a:ext>
            </a:extLst>
          </p:cNvPr>
          <p:cNvSpPr txBox="1"/>
          <p:nvPr/>
        </p:nvSpPr>
        <p:spPr>
          <a:xfrm>
            <a:off x="2592924" y="3145536"/>
            <a:ext cx="7730652" cy="1477328"/>
          </a:xfrm>
          <a:prstGeom prst="rect">
            <a:avLst/>
          </a:prstGeom>
          <a:noFill/>
        </p:spPr>
        <p:txBody>
          <a:bodyPr wrap="square" rtlCol="0">
            <a:spAutoFit/>
          </a:bodyPr>
          <a:lstStyle/>
          <a:p>
            <a:pPr>
              <a:buClr>
                <a:srgbClr val="92D050"/>
              </a:buClr>
            </a:pPr>
            <a:r>
              <a:rPr lang="es-AR" dirty="0">
                <a:solidFill>
                  <a:schemeClr val="tx1">
                    <a:lumMod val="75000"/>
                    <a:lumOff val="25000"/>
                  </a:schemeClr>
                </a:solidFill>
              </a:rPr>
              <a:t>Acercar a los puestos de trabajo,</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Los materiales y semielaborados</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Las herramientas</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Retiro de productos terminados</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Limpieza del lugar de trabajo y las maquinas y equipos  </a:t>
            </a:r>
          </a:p>
        </p:txBody>
      </p:sp>
      <p:sp>
        <p:nvSpPr>
          <p:cNvPr id="7" name="CuadroTexto 6">
            <a:extLst>
              <a:ext uri="{FF2B5EF4-FFF2-40B4-BE49-F238E27FC236}">
                <a16:creationId xmlns:a16="http://schemas.microsoft.com/office/drawing/2014/main" id="{A03B141D-C64A-4B2B-B126-C962359AD153}"/>
              </a:ext>
            </a:extLst>
          </p:cNvPr>
          <p:cNvSpPr txBox="1"/>
          <p:nvPr/>
        </p:nvSpPr>
        <p:spPr>
          <a:xfrm>
            <a:off x="2075688" y="4953001"/>
            <a:ext cx="8439912" cy="646331"/>
          </a:xfrm>
          <a:prstGeom prst="rect">
            <a:avLst/>
          </a:prstGeom>
          <a:noFill/>
        </p:spPr>
        <p:txBody>
          <a:bodyPr wrap="square" rtlCol="0">
            <a:spAutoFit/>
          </a:bodyPr>
          <a:lstStyle/>
          <a:p>
            <a:r>
              <a:rPr lang="es-AR" dirty="0">
                <a:solidFill>
                  <a:schemeClr val="tx1">
                    <a:lumMod val="75000"/>
                    <a:lumOff val="25000"/>
                  </a:schemeClr>
                </a:solidFill>
              </a:rPr>
              <a:t>Se genera así otro tipo de mano de obra que al no agregar valor al producto la diferenciaremos y la llamaremos </a:t>
            </a:r>
            <a:r>
              <a:rPr lang="es-AR" b="1" dirty="0">
                <a:solidFill>
                  <a:schemeClr val="tx1">
                    <a:lumMod val="75000"/>
                    <a:lumOff val="25000"/>
                  </a:schemeClr>
                </a:solidFill>
              </a:rPr>
              <a:t>“mano de obra indirecta”</a:t>
            </a:r>
          </a:p>
        </p:txBody>
      </p:sp>
    </p:spTree>
    <p:extLst>
      <p:ext uri="{BB962C8B-B14F-4D97-AF65-F5344CB8AC3E}">
        <p14:creationId xmlns:p14="http://schemas.microsoft.com/office/powerpoint/2010/main" val="1422642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0E339F-7A8B-4AC2-8E6F-9010D5D7D0AE}"/>
              </a:ext>
            </a:extLst>
          </p:cNvPr>
          <p:cNvSpPr>
            <a:spLocks noGrp="1"/>
          </p:cNvSpPr>
          <p:nvPr>
            <p:ph type="title"/>
          </p:nvPr>
        </p:nvSpPr>
        <p:spPr/>
        <p:txBody>
          <a:bodyPr/>
          <a:lstStyle/>
          <a:p>
            <a:r>
              <a:rPr lang="es-AR" b="1" dirty="0">
                <a:solidFill>
                  <a:schemeClr val="tx1">
                    <a:lumMod val="75000"/>
                    <a:lumOff val="25000"/>
                  </a:schemeClr>
                </a:solidFill>
              </a:rPr>
              <a:t>ESTRUCTURA DEL COSTO</a:t>
            </a:r>
            <a:endParaRPr lang="es-AR"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99BCD546-4773-46D9-80D6-E3BF8746248E}"/>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
        <p:nvSpPr>
          <p:cNvPr id="4" name="CuadroTexto 3">
            <a:extLst>
              <a:ext uri="{FF2B5EF4-FFF2-40B4-BE49-F238E27FC236}">
                <a16:creationId xmlns:a16="http://schemas.microsoft.com/office/drawing/2014/main" id="{881263AD-F97B-485F-851A-6E3B57267A4A}"/>
              </a:ext>
            </a:extLst>
          </p:cNvPr>
          <p:cNvSpPr txBox="1"/>
          <p:nvPr/>
        </p:nvSpPr>
        <p:spPr>
          <a:xfrm>
            <a:off x="2212848" y="1905000"/>
            <a:ext cx="6903720" cy="369332"/>
          </a:xfrm>
          <a:prstGeom prst="rect">
            <a:avLst/>
          </a:prstGeom>
          <a:noFill/>
        </p:spPr>
        <p:txBody>
          <a:bodyPr wrap="square" rtlCol="0">
            <a:spAutoFit/>
          </a:bodyPr>
          <a:lstStyle/>
          <a:p>
            <a:r>
              <a:rPr lang="es-AR" dirty="0"/>
              <a:t>A esta MOI se le agregan otros gastos indirectos como: </a:t>
            </a:r>
          </a:p>
        </p:txBody>
      </p:sp>
      <p:sp>
        <p:nvSpPr>
          <p:cNvPr id="5" name="CuadroTexto 4">
            <a:extLst>
              <a:ext uri="{FF2B5EF4-FFF2-40B4-BE49-F238E27FC236}">
                <a16:creationId xmlns:a16="http://schemas.microsoft.com/office/drawing/2014/main" id="{CEADEDBE-2AE2-4953-BB1E-90C060042627}"/>
              </a:ext>
            </a:extLst>
          </p:cNvPr>
          <p:cNvSpPr txBox="1"/>
          <p:nvPr/>
        </p:nvSpPr>
        <p:spPr>
          <a:xfrm>
            <a:off x="2990088" y="2697480"/>
            <a:ext cx="5733288" cy="1754326"/>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dirty="0">
                <a:solidFill>
                  <a:schemeClr val="tx1">
                    <a:lumMod val="75000"/>
                    <a:lumOff val="25000"/>
                  </a:schemeClr>
                </a:solidFill>
              </a:rPr>
              <a:t>El costo de los combustibles</a:t>
            </a:r>
          </a:p>
          <a:p>
            <a:pPr marL="285750" indent="-285750">
              <a:buClr>
                <a:srgbClr val="92D050"/>
              </a:buClr>
              <a:buFont typeface="Arial" panose="020B0604020202020204" pitchFamily="34" charset="0"/>
              <a:buChar char="•"/>
            </a:pPr>
            <a:r>
              <a:rPr lang="es-AR" dirty="0">
                <a:solidFill>
                  <a:schemeClr val="tx1">
                    <a:lumMod val="75000"/>
                    <a:lumOff val="25000"/>
                  </a:schemeClr>
                </a:solidFill>
              </a:rPr>
              <a:t>Costo de lubricantes</a:t>
            </a:r>
          </a:p>
          <a:p>
            <a:pPr marL="285750" indent="-285750">
              <a:buClr>
                <a:srgbClr val="92D050"/>
              </a:buClr>
              <a:buFont typeface="Arial" panose="020B0604020202020204" pitchFamily="34" charset="0"/>
              <a:buChar char="•"/>
            </a:pPr>
            <a:r>
              <a:rPr lang="es-AR" dirty="0">
                <a:solidFill>
                  <a:schemeClr val="tx1">
                    <a:lumMod val="75000"/>
                    <a:lumOff val="25000"/>
                  </a:schemeClr>
                </a:solidFill>
              </a:rPr>
              <a:t>Costo de refrigerantes</a:t>
            </a:r>
          </a:p>
          <a:p>
            <a:pPr marL="285750" indent="-285750">
              <a:buClr>
                <a:srgbClr val="92D050"/>
              </a:buClr>
              <a:buFont typeface="Arial" panose="020B0604020202020204" pitchFamily="34" charset="0"/>
              <a:buChar char="•"/>
            </a:pPr>
            <a:r>
              <a:rPr lang="es-AR" dirty="0">
                <a:solidFill>
                  <a:schemeClr val="tx1">
                    <a:lumMod val="75000"/>
                    <a:lumOff val="25000"/>
                  </a:schemeClr>
                </a:solidFill>
              </a:rPr>
              <a:t>Herramientas</a:t>
            </a:r>
          </a:p>
          <a:p>
            <a:pPr marL="285750" indent="-285750">
              <a:buClr>
                <a:srgbClr val="92D050"/>
              </a:buClr>
              <a:buFont typeface="Arial" panose="020B0604020202020204" pitchFamily="34" charset="0"/>
              <a:buChar char="•"/>
            </a:pPr>
            <a:r>
              <a:rPr lang="es-AR" dirty="0">
                <a:solidFill>
                  <a:schemeClr val="tx1">
                    <a:lumMod val="75000"/>
                    <a:lumOff val="25000"/>
                  </a:schemeClr>
                </a:solidFill>
              </a:rPr>
              <a:t>Otros accesorios requeridos por las maquinas</a:t>
            </a:r>
          </a:p>
          <a:p>
            <a:pPr marL="285750" indent="-285750">
              <a:buClr>
                <a:srgbClr val="92D050"/>
              </a:buClr>
              <a:buFont typeface="Arial" panose="020B0604020202020204" pitchFamily="34" charset="0"/>
              <a:buChar char="•"/>
            </a:pPr>
            <a:r>
              <a:rPr lang="es-AR" dirty="0" err="1">
                <a:solidFill>
                  <a:schemeClr val="tx1">
                    <a:lumMod val="75000"/>
                    <a:lumOff val="25000"/>
                  </a:schemeClr>
                </a:solidFill>
              </a:rPr>
              <a:t>etc</a:t>
            </a:r>
            <a:endParaRPr lang="es-AR" dirty="0">
              <a:solidFill>
                <a:schemeClr val="tx1">
                  <a:lumMod val="75000"/>
                  <a:lumOff val="25000"/>
                </a:schemeClr>
              </a:solidFill>
            </a:endParaRPr>
          </a:p>
        </p:txBody>
      </p:sp>
      <p:sp>
        <p:nvSpPr>
          <p:cNvPr id="6" name="CuadroTexto 5">
            <a:extLst>
              <a:ext uri="{FF2B5EF4-FFF2-40B4-BE49-F238E27FC236}">
                <a16:creationId xmlns:a16="http://schemas.microsoft.com/office/drawing/2014/main" id="{47ED937A-8756-4922-AD0E-7057CBC36727}"/>
              </a:ext>
            </a:extLst>
          </p:cNvPr>
          <p:cNvSpPr txBox="1"/>
          <p:nvPr/>
        </p:nvSpPr>
        <p:spPr>
          <a:xfrm>
            <a:off x="2276856" y="4874954"/>
            <a:ext cx="6903720" cy="1200329"/>
          </a:xfrm>
          <a:prstGeom prst="rect">
            <a:avLst/>
          </a:prstGeom>
          <a:noFill/>
        </p:spPr>
        <p:txBody>
          <a:bodyPr wrap="square" rtlCol="0">
            <a:spAutoFit/>
          </a:bodyPr>
          <a:lstStyle/>
          <a:p>
            <a:r>
              <a:rPr lang="es-AR" dirty="0"/>
              <a:t>A esta MOI mas los gastos indirectos anteriores se los agrupa en </a:t>
            </a:r>
            <a:r>
              <a:rPr lang="es-AR" b="1" dirty="0">
                <a:solidFill>
                  <a:schemeClr val="tx1">
                    <a:lumMod val="75000"/>
                    <a:lumOff val="25000"/>
                  </a:schemeClr>
                </a:solidFill>
              </a:rPr>
              <a:t>“Gastos Indirectos de Fabricación”, </a:t>
            </a:r>
            <a:r>
              <a:rPr lang="es-AR" dirty="0">
                <a:solidFill>
                  <a:schemeClr val="tx1">
                    <a:lumMod val="75000"/>
                    <a:lumOff val="25000"/>
                  </a:schemeClr>
                </a:solidFill>
              </a:rPr>
              <a:t>que sumados al costo primo nos entregan el </a:t>
            </a:r>
            <a:r>
              <a:rPr lang="es-AR" b="1" dirty="0">
                <a:solidFill>
                  <a:schemeClr val="tx1">
                    <a:lumMod val="75000"/>
                    <a:lumOff val="25000"/>
                  </a:schemeClr>
                </a:solidFill>
              </a:rPr>
              <a:t>“Costo de Producción” </a:t>
            </a:r>
            <a:r>
              <a:rPr lang="es-AR" dirty="0">
                <a:solidFill>
                  <a:schemeClr val="tx1">
                    <a:lumMod val="75000"/>
                    <a:lumOff val="25000"/>
                  </a:schemeClr>
                </a:solidFill>
              </a:rPr>
              <a:t>del producto</a:t>
            </a:r>
            <a:endParaRPr lang="es-AR" b="1" dirty="0">
              <a:solidFill>
                <a:schemeClr val="tx1">
                  <a:lumMod val="75000"/>
                  <a:lumOff val="25000"/>
                </a:schemeClr>
              </a:solidFill>
            </a:endParaRPr>
          </a:p>
        </p:txBody>
      </p:sp>
    </p:spTree>
    <p:extLst>
      <p:ext uri="{BB962C8B-B14F-4D97-AF65-F5344CB8AC3E}">
        <p14:creationId xmlns:p14="http://schemas.microsoft.com/office/powerpoint/2010/main" val="2758890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C8601C-3D77-4B74-8ACC-13B24C1AF341}"/>
              </a:ext>
            </a:extLst>
          </p:cNvPr>
          <p:cNvSpPr>
            <a:spLocks noGrp="1"/>
          </p:cNvSpPr>
          <p:nvPr>
            <p:ph type="title"/>
          </p:nvPr>
        </p:nvSpPr>
        <p:spPr>
          <a:xfrm>
            <a:off x="2653767" y="691551"/>
            <a:ext cx="8911687" cy="1280890"/>
          </a:xfrm>
        </p:spPr>
        <p:txBody>
          <a:bodyPr/>
          <a:lstStyle/>
          <a:p>
            <a:r>
              <a:rPr lang="es-AR" b="1" dirty="0">
                <a:solidFill>
                  <a:schemeClr val="tx1">
                    <a:lumMod val="75000"/>
                    <a:lumOff val="25000"/>
                  </a:schemeClr>
                </a:solidFill>
              </a:rPr>
              <a:t>ESTRUCTURA DEL COSTO</a:t>
            </a:r>
            <a:endParaRPr lang="es-AR"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FDBD7F76-F842-4CC8-ABA8-7A2D4F9DED73}"/>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
        <p:nvSpPr>
          <p:cNvPr id="4" name="Text Box 6">
            <a:extLst>
              <a:ext uri="{FF2B5EF4-FFF2-40B4-BE49-F238E27FC236}">
                <a16:creationId xmlns:a16="http://schemas.microsoft.com/office/drawing/2014/main" id="{AC29CD44-06B4-4C8D-8C7B-644952CFBB35}"/>
              </a:ext>
            </a:extLst>
          </p:cNvPr>
          <p:cNvSpPr txBox="1">
            <a:spLocks noChangeArrowheads="1"/>
          </p:cNvSpPr>
          <p:nvPr/>
        </p:nvSpPr>
        <p:spPr bwMode="auto">
          <a:xfrm>
            <a:off x="3145536" y="3674458"/>
            <a:ext cx="2163850" cy="707886"/>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2000" dirty="0">
                <a:latin typeface="+mn-lt"/>
              </a:rPr>
              <a:t>Materia Prima Directa</a:t>
            </a:r>
            <a:endParaRPr lang="es-ES" altLang="es-AR" sz="2000" dirty="0">
              <a:latin typeface="+mn-lt"/>
            </a:endParaRPr>
          </a:p>
        </p:txBody>
      </p:sp>
      <p:sp>
        <p:nvSpPr>
          <p:cNvPr id="5" name="Text Box 7">
            <a:extLst>
              <a:ext uri="{FF2B5EF4-FFF2-40B4-BE49-F238E27FC236}">
                <a16:creationId xmlns:a16="http://schemas.microsoft.com/office/drawing/2014/main" id="{09F1853F-4F2F-402D-9588-071C7A808F10}"/>
              </a:ext>
            </a:extLst>
          </p:cNvPr>
          <p:cNvSpPr txBox="1">
            <a:spLocks noChangeArrowheads="1"/>
          </p:cNvSpPr>
          <p:nvPr/>
        </p:nvSpPr>
        <p:spPr bwMode="auto">
          <a:xfrm>
            <a:off x="3145536" y="2972178"/>
            <a:ext cx="2180146" cy="724281"/>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2000" dirty="0">
                <a:latin typeface="+mj-lt"/>
              </a:rPr>
              <a:t>Mano de Obra Directa</a:t>
            </a:r>
            <a:endParaRPr lang="es-ES" altLang="es-AR" sz="2000" dirty="0">
              <a:latin typeface="+mj-lt"/>
            </a:endParaRPr>
          </a:p>
        </p:txBody>
      </p:sp>
      <p:sp>
        <p:nvSpPr>
          <p:cNvPr id="6" name="Rectangle 8">
            <a:extLst>
              <a:ext uri="{FF2B5EF4-FFF2-40B4-BE49-F238E27FC236}">
                <a16:creationId xmlns:a16="http://schemas.microsoft.com/office/drawing/2014/main" id="{084A61AC-3A64-4993-B5EA-86A0EF38DB34}"/>
              </a:ext>
            </a:extLst>
          </p:cNvPr>
          <p:cNvSpPr>
            <a:spLocks noChangeArrowheads="1"/>
          </p:cNvSpPr>
          <p:nvPr/>
        </p:nvSpPr>
        <p:spPr bwMode="auto">
          <a:xfrm>
            <a:off x="5309386" y="4391110"/>
            <a:ext cx="1800225" cy="1732316"/>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AR" altLang="es-AR" sz="2000" dirty="0">
                <a:latin typeface="+mj-lt"/>
              </a:rPr>
              <a:t>COSTO </a:t>
            </a:r>
          </a:p>
          <a:p>
            <a:pPr algn="ctr" eaLnBrk="1" hangingPunct="1"/>
            <a:r>
              <a:rPr lang="es-AR" altLang="es-AR" sz="2000" dirty="0">
                <a:latin typeface="+mj-lt"/>
              </a:rPr>
              <a:t>INDIRECTO</a:t>
            </a:r>
            <a:endParaRPr lang="es-ES" altLang="es-AR" sz="2000" dirty="0">
              <a:latin typeface="+mj-lt"/>
            </a:endParaRPr>
          </a:p>
        </p:txBody>
      </p:sp>
      <p:sp>
        <p:nvSpPr>
          <p:cNvPr id="7" name="Text Box 9">
            <a:extLst>
              <a:ext uri="{FF2B5EF4-FFF2-40B4-BE49-F238E27FC236}">
                <a16:creationId xmlns:a16="http://schemas.microsoft.com/office/drawing/2014/main" id="{76EFBD34-95B1-4A33-90AD-467E9F891627}"/>
              </a:ext>
            </a:extLst>
          </p:cNvPr>
          <p:cNvSpPr txBox="1">
            <a:spLocks noChangeArrowheads="1"/>
          </p:cNvSpPr>
          <p:nvPr/>
        </p:nvSpPr>
        <p:spPr bwMode="auto">
          <a:xfrm>
            <a:off x="3145536" y="5107762"/>
            <a:ext cx="2163850" cy="1015663"/>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2000" dirty="0">
                <a:latin typeface="+mj-lt"/>
              </a:rPr>
              <a:t>Gastos Generales de Fabricación</a:t>
            </a:r>
            <a:endParaRPr lang="es-ES" altLang="es-AR" sz="2000" dirty="0">
              <a:latin typeface="+mj-lt"/>
            </a:endParaRPr>
          </a:p>
        </p:txBody>
      </p:sp>
      <p:sp>
        <p:nvSpPr>
          <p:cNvPr id="8" name="Text Box 10">
            <a:extLst>
              <a:ext uri="{FF2B5EF4-FFF2-40B4-BE49-F238E27FC236}">
                <a16:creationId xmlns:a16="http://schemas.microsoft.com/office/drawing/2014/main" id="{0EFABE35-5862-4AE6-898E-AB7D53520233}"/>
              </a:ext>
            </a:extLst>
          </p:cNvPr>
          <p:cNvSpPr txBox="1">
            <a:spLocks noChangeArrowheads="1"/>
          </p:cNvSpPr>
          <p:nvPr/>
        </p:nvSpPr>
        <p:spPr bwMode="auto">
          <a:xfrm>
            <a:off x="3145536" y="4391110"/>
            <a:ext cx="2163850" cy="707886"/>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2000" dirty="0">
                <a:latin typeface="+mn-lt"/>
              </a:rPr>
              <a:t>Mano de Obra Indirecta</a:t>
            </a:r>
            <a:endParaRPr lang="es-ES" altLang="es-AR" sz="2000" dirty="0">
              <a:latin typeface="+mn-lt"/>
            </a:endParaRPr>
          </a:p>
        </p:txBody>
      </p:sp>
      <p:sp>
        <p:nvSpPr>
          <p:cNvPr id="9" name="Rectangle 11">
            <a:extLst>
              <a:ext uri="{FF2B5EF4-FFF2-40B4-BE49-F238E27FC236}">
                <a16:creationId xmlns:a16="http://schemas.microsoft.com/office/drawing/2014/main" id="{A493B7AB-EA0F-448A-B4F3-FDE12CFFCBA8}"/>
              </a:ext>
            </a:extLst>
          </p:cNvPr>
          <p:cNvSpPr>
            <a:spLocks noChangeArrowheads="1"/>
          </p:cNvSpPr>
          <p:nvPr/>
        </p:nvSpPr>
        <p:spPr bwMode="auto">
          <a:xfrm>
            <a:off x="7109609" y="2978356"/>
            <a:ext cx="1816521" cy="3145069"/>
          </a:xfrm>
          <a:prstGeom prst="rect">
            <a:avLst/>
          </a:prstGeom>
          <a:solidFill>
            <a:srgbClr val="00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AR" altLang="es-AR" sz="2000" dirty="0">
                <a:latin typeface="+mn-lt"/>
              </a:rPr>
              <a:t>COSTO </a:t>
            </a:r>
          </a:p>
          <a:p>
            <a:pPr algn="ctr" eaLnBrk="1" hangingPunct="1"/>
            <a:r>
              <a:rPr lang="es-AR" altLang="es-AR" sz="2000" dirty="0">
                <a:latin typeface="+mn-lt"/>
              </a:rPr>
              <a:t>DE </a:t>
            </a:r>
          </a:p>
          <a:p>
            <a:pPr algn="ctr" eaLnBrk="1" hangingPunct="1"/>
            <a:r>
              <a:rPr lang="es-AR" altLang="es-AR" sz="2000" dirty="0">
                <a:latin typeface="+mn-lt"/>
              </a:rPr>
              <a:t>PRODUCCIÓN</a:t>
            </a:r>
            <a:endParaRPr lang="es-ES" altLang="es-AR" sz="2000" dirty="0">
              <a:latin typeface="+mn-lt"/>
            </a:endParaRPr>
          </a:p>
        </p:txBody>
      </p:sp>
      <p:sp>
        <p:nvSpPr>
          <p:cNvPr id="10" name="Rectangle 12">
            <a:extLst>
              <a:ext uri="{FF2B5EF4-FFF2-40B4-BE49-F238E27FC236}">
                <a16:creationId xmlns:a16="http://schemas.microsoft.com/office/drawing/2014/main" id="{02BEBA0C-C6DE-46A2-B9F1-A37B8E9E8DE6}"/>
              </a:ext>
            </a:extLst>
          </p:cNvPr>
          <p:cNvSpPr>
            <a:spLocks noChangeArrowheads="1"/>
          </p:cNvSpPr>
          <p:nvPr/>
        </p:nvSpPr>
        <p:spPr bwMode="auto">
          <a:xfrm>
            <a:off x="5309386" y="2969591"/>
            <a:ext cx="1800225" cy="1412753"/>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AR" altLang="es-AR" sz="2000" dirty="0">
                <a:latin typeface="+mj-lt"/>
              </a:rPr>
              <a:t>COSTO </a:t>
            </a:r>
          </a:p>
          <a:p>
            <a:pPr algn="ctr" eaLnBrk="1" hangingPunct="1"/>
            <a:r>
              <a:rPr lang="es-AR" altLang="es-AR" sz="2000" dirty="0">
                <a:latin typeface="+mj-lt"/>
              </a:rPr>
              <a:t>DIRECTO</a:t>
            </a:r>
          </a:p>
          <a:p>
            <a:pPr algn="ctr" eaLnBrk="1" hangingPunct="1"/>
            <a:r>
              <a:rPr lang="es-AR" altLang="es-AR" sz="2000" dirty="0">
                <a:latin typeface="+mj-lt"/>
              </a:rPr>
              <a:t>(costo primo)</a:t>
            </a:r>
            <a:endParaRPr lang="es-ES" altLang="es-AR" sz="2000" dirty="0">
              <a:latin typeface="+mj-lt"/>
            </a:endParaRPr>
          </a:p>
        </p:txBody>
      </p:sp>
      <p:sp>
        <p:nvSpPr>
          <p:cNvPr id="11" name="CuadroTexto 10">
            <a:extLst>
              <a:ext uri="{FF2B5EF4-FFF2-40B4-BE49-F238E27FC236}">
                <a16:creationId xmlns:a16="http://schemas.microsoft.com/office/drawing/2014/main" id="{EB2953FA-5938-436F-84C2-EDC3E5E93EDF}"/>
              </a:ext>
            </a:extLst>
          </p:cNvPr>
          <p:cNvSpPr txBox="1"/>
          <p:nvPr/>
        </p:nvSpPr>
        <p:spPr>
          <a:xfrm>
            <a:off x="2282024" y="1725433"/>
            <a:ext cx="2965837" cy="369332"/>
          </a:xfrm>
          <a:prstGeom prst="rect">
            <a:avLst/>
          </a:prstGeom>
          <a:noFill/>
        </p:spPr>
        <p:txBody>
          <a:bodyPr wrap="square" rtlCol="0">
            <a:spAutoFit/>
          </a:bodyPr>
          <a:lstStyle/>
          <a:p>
            <a:r>
              <a:rPr lang="es-AR" b="1" dirty="0">
                <a:solidFill>
                  <a:schemeClr val="tx1">
                    <a:lumMod val="75000"/>
                    <a:lumOff val="25000"/>
                  </a:schemeClr>
                </a:solidFill>
              </a:rPr>
              <a:t>Resumiendo:</a:t>
            </a:r>
          </a:p>
        </p:txBody>
      </p:sp>
    </p:spTree>
    <p:extLst>
      <p:ext uri="{BB962C8B-B14F-4D97-AF65-F5344CB8AC3E}">
        <p14:creationId xmlns:p14="http://schemas.microsoft.com/office/powerpoint/2010/main" val="409162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960558-24F1-4528-8AA3-68306D864A64}"/>
              </a:ext>
            </a:extLst>
          </p:cNvPr>
          <p:cNvSpPr>
            <a:spLocks noGrp="1"/>
          </p:cNvSpPr>
          <p:nvPr>
            <p:ph type="title"/>
          </p:nvPr>
        </p:nvSpPr>
        <p:spPr/>
        <p:txBody>
          <a:bodyPr/>
          <a:lstStyle/>
          <a:p>
            <a:r>
              <a:rPr lang="es-AR" b="1" dirty="0">
                <a:solidFill>
                  <a:schemeClr val="tx1">
                    <a:lumMod val="75000"/>
                    <a:lumOff val="25000"/>
                  </a:schemeClr>
                </a:solidFill>
              </a:rPr>
              <a:t>ESTRUCTURA DEL COSTO</a:t>
            </a:r>
            <a:endParaRPr lang="es-AR"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252D3D5B-3DE4-4786-A9B6-6E8392CC11E3}"/>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4" name="Text Box 6">
            <a:extLst>
              <a:ext uri="{FF2B5EF4-FFF2-40B4-BE49-F238E27FC236}">
                <a16:creationId xmlns:a16="http://schemas.microsoft.com/office/drawing/2014/main" id="{CDCBB33B-DACA-4C9A-BD99-262B8405C660}"/>
              </a:ext>
            </a:extLst>
          </p:cNvPr>
          <p:cNvSpPr txBox="1">
            <a:spLocks noChangeArrowheads="1"/>
          </p:cNvSpPr>
          <p:nvPr/>
        </p:nvSpPr>
        <p:spPr bwMode="auto">
          <a:xfrm>
            <a:off x="1379537" y="1650200"/>
            <a:ext cx="94329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50000"/>
              </a:spcBef>
            </a:pPr>
            <a:r>
              <a:rPr lang="es-AR" altLang="es-AR" sz="2200" dirty="0">
                <a:latin typeface="+mj-lt"/>
              </a:rPr>
              <a:t>El proceso de Comercialización da origen a gastos que se clasifican en tres áreas operativas:</a:t>
            </a:r>
            <a:endParaRPr lang="es-ES" altLang="es-AR" sz="2200" dirty="0">
              <a:latin typeface="+mj-lt"/>
            </a:endParaRPr>
          </a:p>
        </p:txBody>
      </p:sp>
      <p:sp>
        <p:nvSpPr>
          <p:cNvPr id="5" name="Text Box 7">
            <a:extLst>
              <a:ext uri="{FF2B5EF4-FFF2-40B4-BE49-F238E27FC236}">
                <a16:creationId xmlns:a16="http://schemas.microsoft.com/office/drawing/2014/main" id="{2B50BBCE-317C-43B6-887F-C2AA512BEAFF}"/>
              </a:ext>
            </a:extLst>
          </p:cNvPr>
          <p:cNvSpPr txBox="1">
            <a:spLocks noChangeArrowheads="1"/>
          </p:cNvSpPr>
          <p:nvPr/>
        </p:nvSpPr>
        <p:spPr bwMode="auto">
          <a:xfrm>
            <a:off x="1795462" y="2416963"/>
            <a:ext cx="8872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eaLnBrk="1" hangingPunct="1">
              <a:spcBef>
                <a:spcPct val="50000"/>
              </a:spcBef>
              <a:buClr>
                <a:srgbClr val="92D050"/>
              </a:buClr>
              <a:buFont typeface="Arial" panose="020B0604020202020204" pitchFamily="34" charset="0"/>
              <a:buChar char="•"/>
              <a:defRPr/>
            </a:pPr>
            <a:r>
              <a:rPr lang="es-AR" altLang="es-AR" sz="2400" dirty="0">
                <a:latin typeface="Tahoma" pitchFamily="34" charset="0"/>
                <a:cs typeface="Arial" charset="0"/>
              </a:rPr>
              <a:t> </a:t>
            </a:r>
            <a:r>
              <a:rPr lang="es-AR" altLang="es-AR" sz="2000" dirty="0">
                <a:effectLst>
                  <a:outerShdw blurRad="38100" dist="38100" dir="2700000" algn="tl">
                    <a:srgbClr val="C0C0C0"/>
                  </a:outerShdw>
                </a:effectLst>
                <a:latin typeface="+mj-lt"/>
                <a:cs typeface="Arial" charset="0"/>
              </a:rPr>
              <a:t>COMERCIALIZACIÓN (Distribución y Venta)</a:t>
            </a:r>
            <a:endParaRPr lang="es-ES" altLang="es-AR" sz="2000" dirty="0">
              <a:effectLst>
                <a:outerShdw blurRad="38100" dist="38100" dir="2700000" algn="tl">
                  <a:srgbClr val="C0C0C0"/>
                </a:outerShdw>
              </a:effectLst>
              <a:latin typeface="+mj-lt"/>
              <a:cs typeface="Arial" charset="0"/>
            </a:endParaRPr>
          </a:p>
        </p:txBody>
      </p:sp>
      <p:sp>
        <p:nvSpPr>
          <p:cNvPr id="6" name="Text Box 8">
            <a:extLst>
              <a:ext uri="{FF2B5EF4-FFF2-40B4-BE49-F238E27FC236}">
                <a16:creationId xmlns:a16="http://schemas.microsoft.com/office/drawing/2014/main" id="{A5A49A7C-28FC-4B79-8F98-AB07EECB5F90}"/>
              </a:ext>
            </a:extLst>
          </p:cNvPr>
          <p:cNvSpPr txBox="1">
            <a:spLocks noChangeArrowheads="1"/>
          </p:cNvSpPr>
          <p:nvPr/>
        </p:nvSpPr>
        <p:spPr bwMode="auto">
          <a:xfrm>
            <a:off x="1811337" y="2848763"/>
            <a:ext cx="8872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spcBef>
                <a:spcPct val="50000"/>
              </a:spcBef>
              <a:buClr>
                <a:srgbClr val="92D050"/>
              </a:buClr>
              <a:buFont typeface="Arial" panose="020B0604020202020204" pitchFamily="34" charset="0"/>
              <a:buChar char="•"/>
            </a:pPr>
            <a:r>
              <a:rPr lang="es-AR" altLang="es-AR" sz="2400" dirty="0">
                <a:latin typeface="Tahoma" panose="020B0604030504040204" pitchFamily="34" charset="0"/>
              </a:rPr>
              <a:t> </a:t>
            </a:r>
            <a:r>
              <a:rPr lang="es-AR" altLang="es-AR" sz="2000" dirty="0">
                <a:latin typeface="+mj-lt"/>
              </a:rPr>
              <a:t>ADMINISTRACIÓN</a:t>
            </a:r>
            <a:endParaRPr lang="es-ES" altLang="es-AR" sz="2000" dirty="0">
              <a:latin typeface="+mj-lt"/>
            </a:endParaRPr>
          </a:p>
        </p:txBody>
      </p:sp>
      <p:sp>
        <p:nvSpPr>
          <p:cNvPr id="7" name="Text Box 9">
            <a:extLst>
              <a:ext uri="{FF2B5EF4-FFF2-40B4-BE49-F238E27FC236}">
                <a16:creationId xmlns:a16="http://schemas.microsoft.com/office/drawing/2014/main" id="{8E700E63-5955-4A08-AF4D-7F65953B12C9}"/>
              </a:ext>
            </a:extLst>
          </p:cNvPr>
          <p:cNvSpPr txBox="1">
            <a:spLocks noChangeArrowheads="1"/>
          </p:cNvSpPr>
          <p:nvPr/>
        </p:nvSpPr>
        <p:spPr bwMode="auto">
          <a:xfrm>
            <a:off x="1839912" y="3269450"/>
            <a:ext cx="88725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spcBef>
                <a:spcPct val="50000"/>
              </a:spcBef>
              <a:buClr>
                <a:srgbClr val="92D050"/>
              </a:buClr>
              <a:buFont typeface="Arial" panose="020B0604020202020204" pitchFamily="34" charset="0"/>
              <a:buChar char="•"/>
            </a:pPr>
            <a:r>
              <a:rPr lang="es-AR" altLang="es-AR" sz="2000" b="1" dirty="0">
                <a:latin typeface="Tahoma" panose="020B0604030504040204" pitchFamily="34" charset="0"/>
              </a:rPr>
              <a:t> </a:t>
            </a:r>
            <a:r>
              <a:rPr lang="es-AR" altLang="es-AR" sz="2000" dirty="0">
                <a:latin typeface="+mj-lt"/>
              </a:rPr>
              <a:t>FINANZAS</a:t>
            </a:r>
            <a:endParaRPr lang="es-ES" altLang="es-AR" sz="2000" dirty="0">
              <a:latin typeface="+mj-lt"/>
            </a:endParaRPr>
          </a:p>
        </p:txBody>
      </p:sp>
      <p:sp>
        <p:nvSpPr>
          <p:cNvPr id="8" name="Text Box 10">
            <a:extLst>
              <a:ext uri="{FF2B5EF4-FFF2-40B4-BE49-F238E27FC236}">
                <a16:creationId xmlns:a16="http://schemas.microsoft.com/office/drawing/2014/main" id="{E9E6B8A4-8E90-495E-8CA4-EDF9C8E77DD7}"/>
              </a:ext>
            </a:extLst>
          </p:cNvPr>
          <p:cNvSpPr txBox="1">
            <a:spLocks noChangeArrowheads="1"/>
          </p:cNvSpPr>
          <p:nvPr/>
        </p:nvSpPr>
        <p:spPr bwMode="auto">
          <a:xfrm>
            <a:off x="1666875" y="3582188"/>
            <a:ext cx="9217025"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2200" dirty="0">
                <a:latin typeface="+mj-lt"/>
              </a:rPr>
              <a:t>Por lo tanto, el Precio de Venta quedará determinado por:</a:t>
            </a:r>
            <a:endParaRPr lang="es-ES" altLang="es-AR" sz="2200" dirty="0">
              <a:latin typeface="+mj-lt"/>
            </a:endParaRPr>
          </a:p>
        </p:txBody>
      </p:sp>
      <p:sp>
        <p:nvSpPr>
          <p:cNvPr id="9" name="Rectangle 11">
            <a:extLst>
              <a:ext uri="{FF2B5EF4-FFF2-40B4-BE49-F238E27FC236}">
                <a16:creationId xmlns:a16="http://schemas.microsoft.com/office/drawing/2014/main" id="{DE4467AE-72F4-44E5-BBA3-6CAC8D4BACFF}"/>
              </a:ext>
            </a:extLst>
          </p:cNvPr>
          <p:cNvSpPr>
            <a:spLocks noChangeArrowheads="1"/>
          </p:cNvSpPr>
          <p:nvPr/>
        </p:nvSpPr>
        <p:spPr bwMode="auto">
          <a:xfrm>
            <a:off x="2098675" y="4098125"/>
            <a:ext cx="3024187" cy="936625"/>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AR" altLang="es-AR" sz="1900" dirty="0">
                <a:latin typeface="+mj-lt"/>
              </a:rPr>
              <a:t>COSTO DE PRODUCCIÓN</a:t>
            </a:r>
            <a:endParaRPr lang="es-ES" altLang="es-AR" sz="1900" dirty="0">
              <a:latin typeface="+mj-lt"/>
            </a:endParaRPr>
          </a:p>
        </p:txBody>
      </p:sp>
      <p:sp>
        <p:nvSpPr>
          <p:cNvPr id="10" name="Rectangle 12" descr="Diagonal hacia arriba ancha">
            <a:extLst>
              <a:ext uri="{FF2B5EF4-FFF2-40B4-BE49-F238E27FC236}">
                <a16:creationId xmlns:a16="http://schemas.microsoft.com/office/drawing/2014/main" id="{C27C0982-A31E-4141-80C6-24FF689F3ECA}"/>
              </a:ext>
            </a:extLst>
          </p:cNvPr>
          <p:cNvSpPr>
            <a:spLocks noChangeArrowheads="1"/>
          </p:cNvSpPr>
          <p:nvPr/>
        </p:nvSpPr>
        <p:spPr bwMode="auto">
          <a:xfrm>
            <a:off x="5080000" y="4098125"/>
            <a:ext cx="3024188" cy="936625"/>
          </a:xfrm>
          <a:prstGeom prst="rect">
            <a:avLst/>
          </a:prstGeom>
          <a:blipFill dpi="0" rotWithShape="0">
            <a:blip r:embed="rId2"/>
            <a:srcRect/>
            <a:tile tx="0" ty="0" sx="100000" sy="100000" flip="none" algn="tl"/>
          </a:blip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AR" altLang="es-AR" sz="2000" dirty="0">
                <a:latin typeface="+mj-lt"/>
              </a:rPr>
              <a:t>GASTOS COMERCIALES,</a:t>
            </a:r>
          </a:p>
          <a:p>
            <a:pPr algn="ctr" eaLnBrk="1" hangingPunct="1"/>
            <a:r>
              <a:rPr lang="es-AR" altLang="es-AR" sz="2000" dirty="0">
                <a:latin typeface="+mj-lt"/>
              </a:rPr>
              <a:t>ADMINISTRATIVOS, y</a:t>
            </a:r>
          </a:p>
          <a:p>
            <a:pPr algn="ctr" eaLnBrk="1" hangingPunct="1"/>
            <a:r>
              <a:rPr lang="es-AR" altLang="es-AR" sz="2000" dirty="0">
                <a:latin typeface="+mj-lt"/>
              </a:rPr>
              <a:t>FINANCIEROS</a:t>
            </a:r>
            <a:endParaRPr lang="es-ES" altLang="es-AR" sz="2000" dirty="0">
              <a:latin typeface="+mj-lt"/>
            </a:endParaRPr>
          </a:p>
        </p:txBody>
      </p:sp>
      <p:sp>
        <p:nvSpPr>
          <p:cNvPr id="11" name="Rectangle 13" descr="Diagonal hacia arriba ancha">
            <a:extLst>
              <a:ext uri="{FF2B5EF4-FFF2-40B4-BE49-F238E27FC236}">
                <a16:creationId xmlns:a16="http://schemas.microsoft.com/office/drawing/2014/main" id="{9773312F-8339-4F2F-90AB-5F3DDFE6BF8D}"/>
              </a:ext>
            </a:extLst>
          </p:cNvPr>
          <p:cNvSpPr>
            <a:spLocks noChangeArrowheads="1"/>
          </p:cNvSpPr>
          <p:nvPr/>
        </p:nvSpPr>
        <p:spPr bwMode="auto">
          <a:xfrm>
            <a:off x="8104188" y="4098125"/>
            <a:ext cx="2449512" cy="936625"/>
          </a:xfrm>
          <a:prstGeom prst="rect">
            <a:avLst/>
          </a:prstGeom>
          <a:blipFill dpi="0" rotWithShape="0">
            <a:blip r:embed="rId3"/>
            <a:srcRect/>
            <a:tile tx="0" ty="0" sx="100000" sy="100000" flip="none" algn="tl"/>
          </a:blip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AR" altLang="es-AR" sz="2000" dirty="0">
                <a:latin typeface="+mj-lt"/>
              </a:rPr>
              <a:t>BENEFICIO</a:t>
            </a:r>
            <a:endParaRPr lang="es-ES" altLang="es-AR" sz="2000" dirty="0">
              <a:latin typeface="+mj-lt"/>
            </a:endParaRPr>
          </a:p>
        </p:txBody>
      </p:sp>
      <p:sp>
        <p:nvSpPr>
          <p:cNvPr id="12" name="Line 14">
            <a:extLst>
              <a:ext uri="{FF2B5EF4-FFF2-40B4-BE49-F238E27FC236}">
                <a16:creationId xmlns:a16="http://schemas.microsoft.com/office/drawing/2014/main" id="{0C6FF30B-58F7-4B2A-8B61-51F8427A718C}"/>
              </a:ext>
            </a:extLst>
          </p:cNvPr>
          <p:cNvSpPr>
            <a:spLocks noChangeShapeType="1"/>
          </p:cNvSpPr>
          <p:nvPr/>
        </p:nvSpPr>
        <p:spPr bwMode="auto">
          <a:xfrm>
            <a:off x="2080538" y="5384551"/>
            <a:ext cx="6023649" cy="10562"/>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3" name="Text Box 15">
            <a:extLst>
              <a:ext uri="{FF2B5EF4-FFF2-40B4-BE49-F238E27FC236}">
                <a16:creationId xmlns:a16="http://schemas.microsoft.com/office/drawing/2014/main" id="{FBE16B00-9F80-4CA8-BC8D-3292894F7329}"/>
              </a:ext>
            </a:extLst>
          </p:cNvPr>
          <p:cNvSpPr txBox="1">
            <a:spLocks noChangeArrowheads="1"/>
          </p:cNvSpPr>
          <p:nvPr/>
        </p:nvSpPr>
        <p:spPr bwMode="auto">
          <a:xfrm>
            <a:off x="4071938" y="5034750"/>
            <a:ext cx="23764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COSTO DE VENTA</a:t>
            </a:r>
            <a:endParaRPr lang="es-ES" altLang="es-AR" dirty="0">
              <a:latin typeface="+mj-lt"/>
            </a:endParaRPr>
          </a:p>
        </p:txBody>
      </p:sp>
      <p:sp>
        <p:nvSpPr>
          <p:cNvPr id="14" name="Line 16">
            <a:extLst>
              <a:ext uri="{FF2B5EF4-FFF2-40B4-BE49-F238E27FC236}">
                <a16:creationId xmlns:a16="http://schemas.microsoft.com/office/drawing/2014/main" id="{AC75D430-C0B8-4272-96E7-3E58C18DFE98}"/>
              </a:ext>
            </a:extLst>
          </p:cNvPr>
          <p:cNvSpPr>
            <a:spLocks noChangeShapeType="1"/>
          </p:cNvSpPr>
          <p:nvPr/>
        </p:nvSpPr>
        <p:spPr bwMode="auto">
          <a:xfrm>
            <a:off x="2089605" y="5744913"/>
            <a:ext cx="8464095" cy="6351"/>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5" name="Line 18">
            <a:extLst>
              <a:ext uri="{FF2B5EF4-FFF2-40B4-BE49-F238E27FC236}">
                <a16:creationId xmlns:a16="http://schemas.microsoft.com/office/drawing/2014/main" id="{3185684E-82E9-47D9-A51A-EE56A65EB6E2}"/>
              </a:ext>
            </a:extLst>
          </p:cNvPr>
          <p:cNvSpPr>
            <a:spLocks noChangeShapeType="1"/>
          </p:cNvSpPr>
          <p:nvPr/>
        </p:nvSpPr>
        <p:spPr bwMode="auto">
          <a:xfrm>
            <a:off x="2089606" y="5034750"/>
            <a:ext cx="0" cy="7921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6" name="Line 19">
            <a:extLst>
              <a:ext uri="{FF2B5EF4-FFF2-40B4-BE49-F238E27FC236}">
                <a16:creationId xmlns:a16="http://schemas.microsoft.com/office/drawing/2014/main" id="{50FB5A24-6458-426B-8BAA-E37AE5CEDACD}"/>
              </a:ext>
            </a:extLst>
          </p:cNvPr>
          <p:cNvSpPr>
            <a:spLocks noChangeShapeType="1"/>
          </p:cNvSpPr>
          <p:nvPr/>
        </p:nvSpPr>
        <p:spPr bwMode="auto">
          <a:xfrm>
            <a:off x="10553700" y="5034750"/>
            <a:ext cx="0" cy="7921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 name="Line 20">
            <a:extLst>
              <a:ext uri="{FF2B5EF4-FFF2-40B4-BE49-F238E27FC236}">
                <a16:creationId xmlns:a16="http://schemas.microsoft.com/office/drawing/2014/main" id="{0D4188C8-8796-469F-8C06-206279B35FA7}"/>
              </a:ext>
            </a:extLst>
          </p:cNvPr>
          <p:cNvSpPr>
            <a:spLocks noChangeShapeType="1"/>
          </p:cNvSpPr>
          <p:nvPr/>
        </p:nvSpPr>
        <p:spPr bwMode="auto">
          <a:xfrm>
            <a:off x="8104188" y="4963313"/>
            <a:ext cx="0" cy="431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8" name="Text Box 17">
            <a:extLst>
              <a:ext uri="{FF2B5EF4-FFF2-40B4-BE49-F238E27FC236}">
                <a16:creationId xmlns:a16="http://schemas.microsoft.com/office/drawing/2014/main" id="{90553157-B035-48F0-8D6A-75203438569F}"/>
              </a:ext>
            </a:extLst>
          </p:cNvPr>
          <p:cNvSpPr txBox="1">
            <a:spLocks noChangeArrowheads="1"/>
          </p:cNvSpPr>
          <p:nvPr/>
        </p:nvSpPr>
        <p:spPr bwMode="auto">
          <a:xfrm>
            <a:off x="4547393" y="5396813"/>
            <a:ext cx="4199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PRECIO DE VENTA (MERCADO)</a:t>
            </a:r>
            <a:endParaRPr lang="es-ES" altLang="es-AR" dirty="0">
              <a:latin typeface="+mj-lt"/>
            </a:endParaRPr>
          </a:p>
        </p:txBody>
      </p:sp>
    </p:spTree>
    <p:extLst>
      <p:ext uri="{BB962C8B-B14F-4D97-AF65-F5344CB8AC3E}">
        <p14:creationId xmlns:p14="http://schemas.microsoft.com/office/powerpoint/2010/main" val="324864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3"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FD2AD-5DD3-4168-A2D6-CDF7E0E0B135}"/>
              </a:ext>
            </a:extLst>
          </p:cNvPr>
          <p:cNvSpPr>
            <a:spLocks noGrp="1"/>
          </p:cNvSpPr>
          <p:nvPr>
            <p:ph type="title"/>
          </p:nvPr>
        </p:nvSpPr>
        <p:spPr/>
        <p:txBody>
          <a:bodyPr/>
          <a:lstStyle/>
          <a:p>
            <a:r>
              <a:rPr lang="es-AR" b="1" dirty="0">
                <a:solidFill>
                  <a:schemeClr val="tx1">
                    <a:lumMod val="75000"/>
                    <a:lumOff val="25000"/>
                  </a:schemeClr>
                </a:solidFill>
              </a:rPr>
              <a:t>ESTRUCTURA DEL COSTO</a:t>
            </a:r>
            <a:endParaRPr lang="es-AR" dirty="0"/>
          </a:p>
        </p:txBody>
      </p:sp>
      <p:sp>
        <p:nvSpPr>
          <p:cNvPr id="3" name="Marcador de número de diapositiva 2">
            <a:extLst>
              <a:ext uri="{FF2B5EF4-FFF2-40B4-BE49-F238E27FC236}">
                <a16:creationId xmlns:a16="http://schemas.microsoft.com/office/drawing/2014/main" id="{827421CD-7136-4BFE-846D-9A8FB034B173}"/>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
        <p:nvSpPr>
          <p:cNvPr id="4" name="CuadroTexto 3">
            <a:extLst>
              <a:ext uri="{FF2B5EF4-FFF2-40B4-BE49-F238E27FC236}">
                <a16:creationId xmlns:a16="http://schemas.microsoft.com/office/drawing/2014/main" id="{52A30114-654C-4F8C-B0FF-12EB9AAD2379}"/>
              </a:ext>
            </a:extLst>
          </p:cNvPr>
          <p:cNvSpPr txBox="1"/>
          <p:nvPr/>
        </p:nvSpPr>
        <p:spPr>
          <a:xfrm>
            <a:off x="2386584" y="2221992"/>
            <a:ext cx="7891272" cy="2308324"/>
          </a:xfrm>
          <a:prstGeom prst="rect">
            <a:avLst/>
          </a:prstGeom>
          <a:noFill/>
        </p:spPr>
        <p:txBody>
          <a:bodyPr wrap="square" rtlCol="0">
            <a:spAutoFit/>
          </a:bodyPr>
          <a:lstStyle/>
          <a:p>
            <a:r>
              <a:rPr lang="es-AR" sz="2400" dirty="0"/>
              <a:t>Los gastos generales de </a:t>
            </a:r>
            <a:r>
              <a:rPr lang="es-AR" sz="2400" b="1" dirty="0"/>
              <a:t>comercialización</a:t>
            </a:r>
            <a:r>
              <a:rPr lang="es-AR" sz="2400" dirty="0"/>
              <a:t>, </a:t>
            </a:r>
            <a:r>
              <a:rPr lang="es-AR" sz="2400" b="1" dirty="0"/>
              <a:t>administración</a:t>
            </a:r>
            <a:r>
              <a:rPr lang="es-AR" sz="2400" dirty="0"/>
              <a:t> y </a:t>
            </a:r>
            <a:r>
              <a:rPr lang="es-AR" sz="2400" b="1" dirty="0"/>
              <a:t>finanzas</a:t>
            </a:r>
            <a:r>
              <a:rPr lang="es-AR" sz="2400" dirty="0"/>
              <a:t> integran partidas que no se agregan al costo inventariable del producto pero que contribuyen a formar el costo de comercialización, que junto con el margen de utilidad forma el </a:t>
            </a:r>
            <a:r>
              <a:rPr lang="es-AR" sz="2400" b="1" dirty="0"/>
              <a:t>precio de venta</a:t>
            </a:r>
          </a:p>
        </p:txBody>
      </p:sp>
    </p:spTree>
    <p:extLst>
      <p:ext uri="{BB962C8B-B14F-4D97-AF65-F5344CB8AC3E}">
        <p14:creationId xmlns:p14="http://schemas.microsoft.com/office/powerpoint/2010/main" val="3766015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4">
            <a:extLst>
              <a:ext uri="{FF2B5EF4-FFF2-40B4-BE49-F238E27FC236}">
                <a16:creationId xmlns:a16="http://schemas.microsoft.com/office/drawing/2014/main" id="{99227F1E-4BEE-40AF-8DAB-992A5333D424}"/>
              </a:ext>
            </a:extLst>
          </p:cNvPr>
          <p:cNvSpPr txBox="1">
            <a:spLocks noChangeArrowheads="1"/>
          </p:cNvSpPr>
          <p:nvPr/>
        </p:nvSpPr>
        <p:spPr bwMode="auto">
          <a:xfrm>
            <a:off x="1416049" y="257175"/>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s-AR" sz="3600" b="1" dirty="0">
                <a:solidFill>
                  <a:schemeClr val="tx1">
                    <a:lumMod val="75000"/>
                    <a:lumOff val="25000"/>
                  </a:schemeClr>
                </a:solidFill>
              </a:rPr>
              <a:t>ESTRUCTURA DEL COSTO</a:t>
            </a:r>
            <a:endParaRPr lang="es-MX" altLang="es-AR" sz="3600" i="1" dirty="0">
              <a:solidFill>
                <a:schemeClr val="tx1">
                  <a:lumMod val="75000"/>
                  <a:lumOff val="25000"/>
                </a:schemeClr>
              </a:solidFill>
              <a:effectLst>
                <a:outerShdw blurRad="38100" dist="38100" dir="2700000" algn="tl">
                  <a:srgbClr val="C0C0C0"/>
                </a:outerShdw>
              </a:effectLst>
              <a:latin typeface="Tahoma" pitchFamily="34" charset="0"/>
              <a:cs typeface="Arial" charset="0"/>
            </a:endParaRPr>
          </a:p>
        </p:txBody>
      </p:sp>
      <p:graphicFrame>
        <p:nvGraphicFramePr>
          <p:cNvPr id="21611" name="Group 107">
            <a:extLst>
              <a:ext uri="{FF2B5EF4-FFF2-40B4-BE49-F238E27FC236}">
                <a16:creationId xmlns:a16="http://schemas.microsoft.com/office/drawing/2014/main" id="{FE4ACAF2-E084-4A55-AB10-61926D8F8EB3}"/>
              </a:ext>
            </a:extLst>
          </p:cNvPr>
          <p:cNvGraphicFramePr>
            <a:graphicFrameLocks noGrp="1"/>
          </p:cNvGraphicFramePr>
          <p:nvPr>
            <p:ph/>
            <p:extLst>
              <p:ext uri="{D42A27DB-BD31-4B8C-83A1-F6EECF244321}">
                <p14:modId xmlns:p14="http://schemas.microsoft.com/office/powerpoint/2010/main" val="2831129269"/>
              </p:ext>
            </p:extLst>
          </p:nvPr>
        </p:nvGraphicFramePr>
        <p:xfrm>
          <a:off x="1416049" y="1268411"/>
          <a:ext cx="9450390" cy="4729574"/>
        </p:xfrm>
        <a:graphic>
          <a:graphicData uri="http://schemas.openxmlformats.org/drawingml/2006/table">
            <a:tbl>
              <a:tblPr/>
              <a:tblGrid>
                <a:gridCol w="1435052">
                  <a:extLst>
                    <a:ext uri="{9D8B030D-6E8A-4147-A177-3AD203B41FA5}">
                      <a16:colId xmlns:a16="http://schemas.microsoft.com/office/drawing/2014/main" val="20000"/>
                    </a:ext>
                  </a:extLst>
                </a:gridCol>
                <a:gridCol w="192082">
                  <a:extLst>
                    <a:ext uri="{9D8B030D-6E8A-4147-A177-3AD203B41FA5}">
                      <a16:colId xmlns:a16="http://schemas.microsoft.com/office/drawing/2014/main" val="20001"/>
                    </a:ext>
                  </a:extLst>
                </a:gridCol>
                <a:gridCol w="208274">
                  <a:extLst>
                    <a:ext uri="{9D8B030D-6E8A-4147-A177-3AD203B41FA5}">
                      <a16:colId xmlns:a16="http://schemas.microsoft.com/office/drawing/2014/main" val="20002"/>
                    </a:ext>
                  </a:extLst>
                </a:gridCol>
                <a:gridCol w="1152486">
                  <a:extLst>
                    <a:ext uri="{9D8B030D-6E8A-4147-A177-3AD203B41FA5}">
                      <a16:colId xmlns:a16="http://schemas.microsoft.com/office/drawing/2014/main" val="20003"/>
                    </a:ext>
                  </a:extLst>
                </a:gridCol>
                <a:gridCol w="246054">
                  <a:extLst>
                    <a:ext uri="{9D8B030D-6E8A-4147-A177-3AD203B41FA5}">
                      <a16:colId xmlns:a16="http://schemas.microsoft.com/office/drawing/2014/main" val="20004"/>
                    </a:ext>
                  </a:extLst>
                </a:gridCol>
                <a:gridCol w="1357267">
                  <a:extLst>
                    <a:ext uri="{9D8B030D-6E8A-4147-A177-3AD203B41FA5}">
                      <a16:colId xmlns:a16="http://schemas.microsoft.com/office/drawing/2014/main" val="20005"/>
                    </a:ext>
                  </a:extLst>
                </a:gridCol>
                <a:gridCol w="247642">
                  <a:extLst>
                    <a:ext uri="{9D8B030D-6E8A-4147-A177-3AD203B41FA5}">
                      <a16:colId xmlns:a16="http://schemas.microsoft.com/office/drawing/2014/main" val="20006"/>
                    </a:ext>
                  </a:extLst>
                </a:gridCol>
                <a:gridCol w="1355680">
                  <a:extLst>
                    <a:ext uri="{9D8B030D-6E8A-4147-A177-3AD203B41FA5}">
                      <a16:colId xmlns:a16="http://schemas.microsoft.com/office/drawing/2014/main" val="20007"/>
                    </a:ext>
                  </a:extLst>
                </a:gridCol>
                <a:gridCol w="246054">
                  <a:extLst>
                    <a:ext uri="{9D8B030D-6E8A-4147-A177-3AD203B41FA5}">
                      <a16:colId xmlns:a16="http://schemas.microsoft.com/office/drawing/2014/main" val="20008"/>
                    </a:ext>
                  </a:extLst>
                </a:gridCol>
                <a:gridCol w="1362029">
                  <a:extLst>
                    <a:ext uri="{9D8B030D-6E8A-4147-A177-3AD203B41FA5}">
                      <a16:colId xmlns:a16="http://schemas.microsoft.com/office/drawing/2014/main" val="20009"/>
                    </a:ext>
                  </a:extLst>
                </a:gridCol>
                <a:gridCol w="246055">
                  <a:extLst>
                    <a:ext uri="{9D8B030D-6E8A-4147-A177-3AD203B41FA5}">
                      <a16:colId xmlns:a16="http://schemas.microsoft.com/office/drawing/2014/main" val="20010"/>
                    </a:ext>
                  </a:extLst>
                </a:gridCol>
                <a:gridCol w="1401715">
                  <a:extLst>
                    <a:ext uri="{9D8B030D-6E8A-4147-A177-3AD203B41FA5}">
                      <a16:colId xmlns:a16="http://schemas.microsoft.com/office/drawing/2014/main" val="20011"/>
                    </a:ext>
                  </a:extLst>
                </a:gridCol>
              </a:tblGrid>
              <a:tr h="1493420">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MATERIA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PRIMA DIRECTA</a:t>
                      </a: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lnTlToBr>
                      <a:noFill/>
                    </a:lnTlToBr>
                    <a:lnBlToTr>
                      <a:noFill/>
                    </a:lnBlToTr>
                    <a:noFill/>
                  </a:tcPr>
                </a:tc>
                <a:tc gridSpan="2">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cap="flat">
                      <a:noFill/>
                    </a:lnT>
                    <a:lnB>
                      <a:noFill/>
                    </a:lnB>
                    <a:lnTlToBr>
                      <a:noFill/>
                    </a:lnTlToBr>
                    <a:lnBlToTr>
                      <a:noFill/>
                    </a:lnBlToTr>
                    <a:noFill/>
                  </a:tcPr>
                </a:tc>
                <a:tc hMerge="1">
                  <a:txBody>
                    <a:bodyPr/>
                    <a:lstStyle/>
                    <a:p>
                      <a:endParaRPr lang="es-AR"/>
                    </a:p>
                  </a:txBody>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MANO de OBRA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AR" altLang="es-AR" sz="2000" b="1" i="0" u="none" strike="noStrike" cap="none" normalizeH="0" baseline="0" dirty="0">
                          <a:ln>
                            <a:noFill/>
                          </a:ln>
                          <a:solidFill>
                            <a:schemeClr val="tx1">
                              <a:lumMod val="75000"/>
                              <a:lumOff val="25000"/>
                            </a:schemeClr>
                          </a:solidFill>
                          <a:effectLst/>
                          <a:latin typeface="+mj-lt"/>
                          <a:cs typeface="Arial" charset="0"/>
                        </a:rPr>
                        <a:t>DIREC</a:t>
                      </a:r>
                      <a:endParaRPr kumimoji="0" lang="es-ES"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cap="fla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GASTOS</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AR" altLang="es-AR" sz="2000" b="1" i="0" u="none" strike="noStrike" cap="none" normalizeH="0" baseline="0" dirty="0">
                          <a:ln>
                            <a:noFill/>
                          </a:ln>
                          <a:solidFill>
                            <a:schemeClr val="tx1">
                              <a:lumMod val="75000"/>
                              <a:lumOff val="25000"/>
                            </a:schemeClr>
                          </a:solidFill>
                          <a:effectLst/>
                          <a:latin typeface="+mj-lt"/>
                          <a:cs typeface="Arial" charset="0"/>
                        </a:rPr>
                        <a:t>GRALES.</a:t>
                      </a:r>
                      <a:endParaRPr kumimoji="0" lang="es-ES" altLang="es-AR" sz="2000" b="1" i="0" u="none" strike="noStrike" cap="none" normalizeH="0" baseline="0" dirty="0">
                        <a:ln>
                          <a:noFill/>
                        </a:ln>
                        <a:solidFill>
                          <a:schemeClr val="tx1">
                            <a:lumMod val="75000"/>
                            <a:lumOff val="25000"/>
                          </a:schemeClr>
                        </a:solidFill>
                        <a:effectLst/>
                        <a:latin typeface="+mj-lt"/>
                        <a:cs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de FABRIC.</a:t>
                      </a: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cap="fla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GASTOS</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COM.</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AR" altLang="es-AR" sz="2000" b="1" i="0" u="none" strike="noStrike" cap="none" normalizeH="0" baseline="0" dirty="0">
                          <a:ln>
                            <a:noFill/>
                          </a:ln>
                          <a:solidFill>
                            <a:schemeClr val="tx1">
                              <a:lumMod val="75000"/>
                              <a:lumOff val="25000"/>
                            </a:schemeClr>
                          </a:solidFill>
                          <a:effectLst/>
                          <a:latin typeface="+mj-lt"/>
                          <a:cs typeface="Arial" charset="0"/>
                        </a:rPr>
                        <a:t>ADMIN.</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AR" altLang="es-AR" sz="2000" b="1" i="0" u="none" strike="noStrike" cap="none" normalizeH="0" baseline="0" dirty="0">
                          <a:ln>
                            <a:noFill/>
                          </a:ln>
                          <a:solidFill>
                            <a:schemeClr val="tx1">
                              <a:lumMod val="75000"/>
                              <a:lumOff val="25000"/>
                            </a:schemeClr>
                          </a:solidFill>
                          <a:effectLst/>
                          <a:latin typeface="+mj-lt"/>
                          <a:cs typeface="Arial" charset="0"/>
                        </a:rPr>
                        <a:t>FINANC.</a:t>
                      </a:r>
                      <a:endParaRPr kumimoji="0" lang="es-ES"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cap="fla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UTILID.</a:t>
                      </a: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cap="fla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AR" altLang="es-AR" sz="2000" b="1" i="0" u="none" strike="noStrike" cap="none" normalizeH="0" baseline="0" dirty="0">
                          <a:ln>
                            <a:noFill/>
                          </a:ln>
                          <a:solidFill>
                            <a:schemeClr val="tx1">
                              <a:lumMod val="75000"/>
                              <a:lumOff val="25000"/>
                            </a:schemeClr>
                          </a:solidFill>
                          <a:effectLst/>
                          <a:latin typeface="+mj-lt"/>
                          <a:cs typeface="Arial" charset="0"/>
                        </a:rPr>
                        <a:t>IVA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AR" altLang="es-AR" sz="2000" b="1" i="0" u="none" strike="noStrike" cap="none" normalizeH="0" baseline="0" dirty="0">
                          <a:ln>
                            <a:noFill/>
                          </a:ln>
                          <a:solidFill>
                            <a:schemeClr val="tx1">
                              <a:lumMod val="75000"/>
                              <a:lumOff val="25000"/>
                            </a:schemeClr>
                          </a:solidFill>
                          <a:effectLst/>
                          <a:latin typeface="+mj-lt"/>
                          <a:cs typeface="Arial" charset="0"/>
                        </a:rPr>
                        <a:t>DEVOL.</a:t>
                      </a:r>
                      <a:endParaRPr kumimoji="0" lang="es-ES" altLang="es-AR" sz="2000" b="1" i="0" u="none" strike="noStrike" cap="none" normalizeH="0" baseline="0" dirty="0">
                        <a:ln>
                          <a:noFill/>
                        </a:ln>
                        <a:solidFill>
                          <a:schemeClr val="tx1">
                            <a:lumMod val="75000"/>
                            <a:lumOff val="25000"/>
                          </a:schemeClr>
                        </a:solidFill>
                        <a:effectLst/>
                        <a:latin typeface="+mj-lt"/>
                        <a:cs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DESC. Y</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BONIF.</a:t>
                      </a:r>
                    </a:p>
                  </a:txBody>
                  <a:tcPr marL="91437" marR="91437" marT="45711" marB="45711" horzOverflow="overflow">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3617">
                <a:tc gridSpan="4">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a:ln>
                            <a:noFill/>
                          </a:ln>
                          <a:solidFill>
                            <a:schemeClr val="tx1">
                              <a:lumMod val="75000"/>
                              <a:lumOff val="25000"/>
                            </a:schemeClr>
                          </a:solidFill>
                          <a:effectLst/>
                          <a:latin typeface="+mj-lt"/>
                          <a:cs typeface="Arial" charset="0"/>
                        </a:rPr>
                        <a:t>COSTO PRIMO</a:t>
                      </a:r>
                    </a:p>
                  </a:txBody>
                  <a:tcPr marL="91437" marR="91437" marT="45711" marB="45711" horzOverflow="overflow">
                    <a:lnL w="28575" cap="flat" cmpd="sng" algn="ctr">
                      <a:solidFill>
                        <a:srgbClr val="FF3300"/>
                      </a:solidFill>
                      <a:prstDash val="sysDot"/>
                      <a:round/>
                      <a:headEnd type="none" w="med" len="med"/>
                      <a:tailEnd type="none" w="med" len="med"/>
                    </a:lnL>
                    <a:lnR w="28575" cap="flat" cmpd="sng" algn="ctr">
                      <a:solidFill>
                        <a:srgbClr val="FF3300"/>
                      </a:solidFill>
                      <a:prstDash val="sysDot"/>
                      <a:round/>
                      <a:headEnd type="none" w="med" len="med"/>
                      <a:tailEnd type="none" w="med" len="med"/>
                    </a:lnR>
                    <a:lnT w="28575" cap="flat" cmpd="sng" algn="ctr">
                      <a:solidFill>
                        <a:srgbClr val="FF3300"/>
                      </a:solidFill>
                      <a:prstDash val="solid"/>
                      <a:round/>
                      <a:headEnd type="none" w="med" len="med"/>
                      <a:tailEnd type="none" w="med" len="med"/>
                    </a:lnT>
                    <a:lnB>
                      <a:noFill/>
                    </a:lnB>
                    <a:lnTlToBr>
                      <a:noFill/>
                    </a:lnTlToBr>
                    <a:lnBlToTr>
                      <a:noFill/>
                    </a:lnBlToTr>
                    <a:noFill/>
                  </a:tcPr>
                </a:tc>
                <a:tc hMerge="1">
                  <a:txBody>
                    <a:bodyPr/>
                    <a:lstStyle/>
                    <a:p>
                      <a:endParaRPr lang="es-AR"/>
                    </a:p>
                  </a:txBody>
                  <a:tcPr/>
                </a:tc>
                <a:tc hMerge="1">
                  <a:txBody>
                    <a:bodyPr/>
                    <a:lstStyle/>
                    <a:p>
                      <a:endParaRPr lang="es-AR"/>
                    </a:p>
                  </a:txBody>
                  <a:tcPr/>
                </a:tc>
                <a:tc hMerge="1">
                  <a:txBody>
                    <a:bodyPr/>
                    <a:lstStyle/>
                    <a:p>
                      <a:endParaRPr lang="es-AR"/>
                    </a:p>
                  </a:txBody>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ysDot"/>
                      <a:round/>
                      <a:headEnd type="none" w="med" len="med"/>
                      <a:tailEnd type="none" w="med" len="med"/>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w="28575" cap="flat" cmpd="sng" algn="ctr">
                      <a:solidFill>
                        <a:srgbClr val="FF3300"/>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w="28575" cap="flat" cmpd="sng" algn="ctr">
                      <a:solidFill>
                        <a:srgbClr val="FF3300"/>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w="28575" cap="flat" cmpd="sng" algn="ctr">
                      <a:solidFill>
                        <a:srgbClr val="FF3300"/>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a:noFill/>
                    </a:lnL>
                    <a:lnR cap="flat">
                      <a:noFill/>
                    </a:lnR>
                    <a:lnT w="28575" cap="flat" cmpd="sng" algn="ctr">
                      <a:solidFill>
                        <a:srgbClr val="FF33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700986">
                <a:tc gridSpan="2">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cap="flat">
                      <a:noFill/>
                    </a:lnL>
                    <a:lnR>
                      <a:noFill/>
                    </a:lnR>
                    <a:lnT>
                      <a:noFill/>
                    </a:lnT>
                    <a:lnB>
                      <a:noFill/>
                    </a:lnB>
                    <a:lnTlToBr>
                      <a:noFill/>
                    </a:lnTlToBr>
                    <a:lnBlToTr>
                      <a:noFill/>
                    </a:lnBlToTr>
                    <a:noFill/>
                  </a:tcPr>
                </a:tc>
                <a:tc hMerge="1">
                  <a:txBody>
                    <a:bodyPr/>
                    <a:lstStyle/>
                    <a:p>
                      <a:endParaRPr lang="es-AR"/>
                    </a:p>
                  </a:txBody>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w="28575" cap="flat" cmpd="sng" algn="ctr">
                      <a:solidFill>
                        <a:srgbClr val="FF3300"/>
                      </a:solidFill>
                      <a:prstDash val="sysDot"/>
                      <a:round/>
                      <a:headEnd type="none" w="med" len="med"/>
                      <a:tailEnd type="none" w="med" len="med"/>
                    </a:lnR>
                    <a:lnT>
                      <a:noFill/>
                    </a:lnT>
                    <a:lnB>
                      <a:noFill/>
                    </a:lnB>
                    <a:lnTlToBr>
                      <a:noFill/>
                    </a:lnTlToBr>
                    <a:lnBlToTr>
                      <a:noFill/>
                    </a:lnBlToTr>
                    <a:noFill/>
                  </a:tcPr>
                </a:tc>
                <a:tc gridSpan="3">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a:ln>
                            <a:noFill/>
                          </a:ln>
                          <a:solidFill>
                            <a:schemeClr val="tx1">
                              <a:lumMod val="75000"/>
                              <a:lumOff val="25000"/>
                            </a:schemeClr>
                          </a:solidFill>
                          <a:effectLst/>
                          <a:latin typeface="+mj-lt"/>
                          <a:cs typeface="Arial" charset="0"/>
                        </a:rPr>
                        <a:t>COSTO DE CONVERSIÓN</a:t>
                      </a:r>
                    </a:p>
                  </a:txBody>
                  <a:tcPr marL="91437" marR="91437" marT="45711" marB="45711" horzOverflow="overflow">
                    <a:lnL w="28575" cap="flat" cmpd="sng" algn="ctr">
                      <a:solidFill>
                        <a:srgbClr val="FF3300"/>
                      </a:solidFill>
                      <a:prstDash val="sysDot"/>
                      <a:round/>
                      <a:headEnd type="none" w="med" len="med"/>
                      <a:tailEnd type="none" w="med" len="med"/>
                    </a:lnL>
                    <a:lnR w="28575" cap="flat" cmpd="sng" algn="ctr">
                      <a:solidFill>
                        <a:srgbClr val="FF3300"/>
                      </a:solidFill>
                      <a:prstDash val="sysDot"/>
                      <a:round/>
                      <a:headEnd type="none" w="med" len="med"/>
                      <a:tailEnd type="none" w="med" len="med"/>
                    </a:lnR>
                    <a:lnT>
                      <a:noFill/>
                    </a:lnT>
                    <a:lnB>
                      <a:noFill/>
                    </a:lnB>
                    <a:lnTlToBr>
                      <a:noFill/>
                    </a:lnTlToBr>
                    <a:lnBlToTr>
                      <a:noFill/>
                    </a:lnBlToTr>
                    <a:noFill/>
                  </a:tcPr>
                </a:tc>
                <a:tc hMerge="1">
                  <a:txBody>
                    <a:bodyPr/>
                    <a:lstStyle/>
                    <a:p>
                      <a:endParaRPr lang="es-AR"/>
                    </a:p>
                  </a:txBody>
                  <a:tcPr/>
                </a:tc>
                <a:tc hMerge="1">
                  <a:txBody>
                    <a:bodyPr/>
                    <a:lstStyle/>
                    <a:p>
                      <a:endParaRPr lang="es-AR"/>
                    </a:p>
                  </a:txBody>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ysDot"/>
                      <a:round/>
                      <a:headEnd type="none" w="med" len="med"/>
                      <a:tailEnd type="none" w="med" len="med"/>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60584">
                <a:tc gridSpan="6">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COSTO DE PRODUCCIÓN</a:t>
                      </a:r>
                    </a:p>
                  </a:txBody>
                  <a:tcPr marL="91437" marR="91437" marT="45711" marB="45711" horzOverflow="overflow">
                    <a:lnL w="28575" cap="flat" cmpd="sng" algn="ctr">
                      <a:solidFill>
                        <a:srgbClr val="FF3300"/>
                      </a:solidFill>
                      <a:prstDash val="sysDot"/>
                      <a:round/>
                      <a:headEnd type="none" w="med" len="med"/>
                      <a:tailEnd type="none" w="med" len="med"/>
                    </a:lnL>
                    <a:lnR w="28575" cap="flat" cmpd="sng" algn="ctr">
                      <a:solidFill>
                        <a:srgbClr val="FF3300"/>
                      </a:solidFill>
                      <a:prstDash val="sysDot"/>
                      <a:round/>
                      <a:headEnd type="none" w="med" len="med"/>
                      <a:tailEnd type="none" w="med" len="med"/>
                    </a:lnR>
                    <a:lnT>
                      <a:noFill/>
                    </a:lnT>
                    <a:lnB>
                      <a:noFill/>
                    </a:lnB>
                    <a:lnTlToBr>
                      <a:noFill/>
                    </a:lnTlToBr>
                    <a:lnBlToTr>
                      <a:noFill/>
                    </a:lnBlToTr>
                    <a:noFill/>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ysDot"/>
                      <a:round/>
                      <a:headEnd type="none" w="med" len="med"/>
                      <a:tailEnd type="none" w="med" len="med"/>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95203">
                <a:tc gridSpan="8">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a:ln>
                            <a:noFill/>
                          </a:ln>
                          <a:solidFill>
                            <a:schemeClr val="tx1">
                              <a:lumMod val="75000"/>
                              <a:lumOff val="25000"/>
                            </a:schemeClr>
                          </a:solidFill>
                          <a:effectLst/>
                          <a:latin typeface="+mj-lt"/>
                          <a:cs typeface="Arial" charset="0"/>
                        </a:rPr>
                        <a:t>COSTO DE VENTA</a:t>
                      </a:r>
                    </a:p>
                  </a:txBody>
                  <a:tcPr marL="91437" marR="91437" marT="45711" marB="45711" horzOverflow="overflow">
                    <a:lnL w="28575" cap="flat" cmpd="sng" algn="ctr">
                      <a:solidFill>
                        <a:srgbClr val="FF3300"/>
                      </a:solidFill>
                      <a:prstDash val="sysDot"/>
                      <a:round/>
                      <a:headEnd type="none" w="med" len="med"/>
                      <a:tailEnd type="none" w="med" len="med"/>
                    </a:lnL>
                    <a:lnR w="28575" cap="flat" cmpd="sng" algn="ctr">
                      <a:solidFill>
                        <a:srgbClr val="FF3300"/>
                      </a:solidFill>
                      <a:prstDash val="sysDot"/>
                      <a:round/>
                      <a:headEnd type="none" w="med" len="med"/>
                      <a:tailEnd type="none" w="med" len="med"/>
                    </a:lnR>
                    <a:lnT>
                      <a:noFill/>
                    </a:lnT>
                    <a:lnB>
                      <a:noFill/>
                    </a:lnB>
                    <a:lnTlToBr>
                      <a:noFill/>
                    </a:lnTlToBr>
                    <a:lnBlToTr>
                      <a:noFill/>
                    </a:lnBlToTr>
                    <a:noFill/>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ysDot"/>
                      <a:round/>
                      <a:headEnd type="none" w="med" len="med"/>
                      <a:tailEnd type="none" w="med" len="med"/>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92029">
                <a:tc gridSpan="10">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a:ln>
                            <a:noFill/>
                          </a:ln>
                          <a:solidFill>
                            <a:schemeClr val="tx1">
                              <a:lumMod val="75000"/>
                              <a:lumOff val="25000"/>
                            </a:schemeClr>
                          </a:solidFill>
                          <a:effectLst/>
                          <a:latin typeface="+mj-lt"/>
                          <a:cs typeface="Arial" charset="0"/>
                        </a:rPr>
                        <a:t>PRECIO DE VENTA NETO</a:t>
                      </a:r>
                    </a:p>
                  </a:txBody>
                  <a:tcPr marL="91437" marR="91437" marT="45711" marB="45711" horzOverflow="overflow">
                    <a:lnL w="28575" cap="flat" cmpd="sng" algn="ctr">
                      <a:solidFill>
                        <a:srgbClr val="FF3300"/>
                      </a:solidFill>
                      <a:prstDash val="sysDot"/>
                      <a:round/>
                      <a:headEnd type="none" w="med" len="med"/>
                      <a:tailEnd type="none" w="med" len="med"/>
                    </a:lnL>
                    <a:lnR w="28575" cap="flat" cmpd="sng" algn="ctr">
                      <a:solidFill>
                        <a:srgbClr val="FF3300"/>
                      </a:solidFill>
                      <a:prstDash val="sysDot"/>
                      <a:round/>
                      <a:headEnd type="none" w="med" len="med"/>
                      <a:tailEnd type="none" w="med" len="med"/>
                    </a:lnR>
                    <a:lnT>
                      <a:noFill/>
                    </a:lnT>
                    <a:lnB>
                      <a:noFill/>
                    </a:lnB>
                    <a:lnTlToBr>
                      <a:noFill/>
                    </a:lnTlToBr>
                    <a:lnBlToTr>
                      <a:noFill/>
                    </a:lnBlToTr>
                    <a:noFill/>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a:ln>
                          <a:noFill/>
                        </a:ln>
                        <a:solidFill>
                          <a:schemeClr val="tx1">
                            <a:lumMod val="75000"/>
                            <a:lumOff val="25000"/>
                          </a:schemeClr>
                        </a:solidFill>
                        <a:effectLst/>
                        <a:latin typeface="+mj-lt"/>
                        <a:cs typeface="Arial" charset="0"/>
                      </a:endParaRPr>
                    </a:p>
                  </a:txBody>
                  <a:tcPr marL="91437" marR="91437" marT="45711" marB="45711" horzOverflow="overflow">
                    <a:lnL w="28575" cap="flat" cmpd="sng" algn="ctr">
                      <a:solidFill>
                        <a:srgbClr val="FF3300"/>
                      </a:solidFill>
                      <a:prstDash val="sysDot"/>
                      <a:round/>
                      <a:headEnd type="none" w="med" len="med"/>
                      <a:tailEnd type="none" w="med" len="med"/>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2000" b="1" i="0" u="none" strike="noStrike" cap="none" normalizeH="0" baseline="0" dirty="0">
                        <a:ln>
                          <a:noFill/>
                        </a:ln>
                        <a:solidFill>
                          <a:schemeClr val="tx1">
                            <a:lumMod val="75000"/>
                            <a:lumOff val="25000"/>
                          </a:schemeClr>
                        </a:solidFill>
                        <a:effectLst/>
                        <a:latin typeface="+mj-lt"/>
                        <a:cs typeface="Arial" charset="0"/>
                      </a:endParaRPr>
                    </a:p>
                  </a:txBody>
                  <a:tcPr marL="91437" marR="91437" marT="45711" marB="4571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93617">
                <a:tc gridSpan="12">
                  <a:txBody>
                    <a:bodyPr/>
                    <a:lstStyle>
                      <a:lvl1pPr>
                        <a:spcBef>
                          <a:spcPct val="20000"/>
                        </a:spcBef>
                        <a:defRPr sz="2800">
                          <a:solidFill>
                            <a:schemeClr val="tx1"/>
                          </a:solidFill>
                          <a:latin typeface="Arial" charset="0"/>
                          <a:cs typeface="Arial" charset="0"/>
                        </a:defRPr>
                      </a:lvl1pPr>
                      <a:lvl2pPr>
                        <a:spcBef>
                          <a:spcPct val="20000"/>
                        </a:spcBef>
                        <a:defRPr sz="2400">
                          <a:solidFill>
                            <a:schemeClr val="tx1"/>
                          </a:solidFill>
                          <a:latin typeface="Arial" charset="0"/>
                          <a:cs typeface="Arial" charset="0"/>
                        </a:defRPr>
                      </a:lvl2pPr>
                      <a:lvl3pPr>
                        <a:spcBef>
                          <a:spcPct val="20000"/>
                        </a:spcBef>
                        <a:defRPr sz="2000">
                          <a:solidFill>
                            <a:schemeClr val="tx1"/>
                          </a:solidFill>
                          <a:latin typeface="Arial" charset="0"/>
                          <a:cs typeface="Arial" charset="0"/>
                        </a:defRPr>
                      </a:lvl3pPr>
                      <a:lvl4pPr>
                        <a:spcBef>
                          <a:spcPct val="20000"/>
                        </a:spcBef>
                        <a:defRPr>
                          <a:solidFill>
                            <a:schemeClr val="tx1"/>
                          </a:solidFill>
                          <a:latin typeface="Arial" charset="0"/>
                          <a:cs typeface="Arial" charset="0"/>
                        </a:defRPr>
                      </a:lvl4pPr>
                      <a:lvl5pPr>
                        <a:spcBef>
                          <a:spcPct val="20000"/>
                        </a:spcBef>
                        <a:defRPr>
                          <a:solidFill>
                            <a:schemeClr val="tx1"/>
                          </a:solidFill>
                          <a:latin typeface="Arial" charset="0"/>
                          <a:cs typeface="Arial" charset="0"/>
                        </a:defRPr>
                      </a:lvl5pPr>
                      <a:lvl6pPr fontAlgn="base">
                        <a:spcBef>
                          <a:spcPct val="20000"/>
                        </a:spcBef>
                        <a:spcAft>
                          <a:spcPct val="0"/>
                        </a:spcAft>
                        <a:defRPr>
                          <a:solidFill>
                            <a:schemeClr val="tx1"/>
                          </a:solidFill>
                          <a:latin typeface="Arial" charset="0"/>
                          <a:cs typeface="Arial" charset="0"/>
                        </a:defRPr>
                      </a:lvl6pPr>
                      <a:lvl7pPr fontAlgn="base">
                        <a:spcBef>
                          <a:spcPct val="20000"/>
                        </a:spcBef>
                        <a:spcAft>
                          <a:spcPct val="0"/>
                        </a:spcAft>
                        <a:defRPr>
                          <a:solidFill>
                            <a:schemeClr val="tx1"/>
                          </a:solidFill>
                          <a:latin typeface="Arial" charset="0"/>
                          <a:cs typeface="Arial" charset="0"/>
                        </a:defRPr>
                      </a:lvl7pPr>
                      <a:lvl8pPr fontAlgn="base">
                        <a:spcBef>
                          <a:spcPct val="20000"/>
                        </a:spcBef>
                        <a:spcAft>
                          <a:spcPct val="0"/>
                        </a:spcAft>
                        <a:defRPr>
                          <a:solidFill>
                            <a:schemeClr val="tx1"/>
                          </a:solidFill>
                          <a:latin typeface="Arial" charset="0"/>
                          <a:cs typeface="Arial" charset="0"/>
                        </a:defRPr>
                      </a:lvl8pPr>
                      <a:lvl9pPr fontAlgn="base">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altLang="es-AR" sz="2000" b="1" i="0" u="none" strike="noStrike" cap="none" normalizeH="0" baseline="0" dirty="0">
                          <a:ln>
                            <a:noFill/>
                          </a:ln>
                          <a:solidFill>
                            <a:schemeClr val="tx1">
                              <a:lumMod val="75000"/>
                              <a:lumOff val="25000"/>
                            </a:schemeClr>
                          </a:solidFill>
                          <a:effectLst/>
                          <a:latin typeface="+mj-lt"/>
                          <a:cs typeface="Arial" charset="0"/>
                        </a:rPr>
                        <a:t>PRECIO DE VENTA BRUTO</a:t>
                      </a:r>
                    </a:p>
                  </a:txBody>
                  <a:tcPr marL="91437" marR="91437" marT="45711" marB="45711" horzOverflow="overflow">
                    <a:lnL w="28575" cap="flat" cmpd="sng" algn="ctr">
                      <a:solidFill>
                        <a:srgbClr val="FF3300"/>
                      </a:solidFill>
                      <a:prstDash val="sysDot"/>
                      <a:round/>
                      <a:headEnd type="none" w="med" len="med"/>
                      <a:tailEnd type="none" w="med" len="med"/>
                    </a:lnL>
                    <a:lnR w="28575" cap="flat" cmpd="sng" algn="ctr">
                      <a:solidFill>
                        <a:srgbClr val="FF3300"/>
                      </a:solidFill>
                      <a:prstDash val="sysDot"/>
                      <a:round/>
                      <a:headEnd type="none" w="med" len="med"/>
                      <a:tailEnd type="none" w="med" len="med"/>
                    </a:lnR>
                    <a:lnT>
                      <a:noFill/>
                    </a:lnT>
                    <a:lnB cap="flat">
                      <a:noFill/>
                    </a:lnB>
                    <a:lnTlToBr>
                      <a:noFill/>
                    </a:lnTlToBr>
                    <a:lnBlToTr>
                      <a:noFill/>
                    </a:lnBlToTr>
                    <a:noFill/>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10006"/>
                  </a:ext>
                </a:extLst>
              </a:tr>
            </a:tbl>
          </a:graphicData>
        </a:graphic>
      </p:graphicFrame>
      <p:sp>
        <p:nvSpPr>
          <p:cNvPr id="17489" name="Line 110">
            <a:extLst>
              <a:ext uri="{FF2B5EF4-FFF2-40B4-BE49-F238E27FC236}">
                <a16:creationId xmlns:a16="http://schemas.microsoft.com/office/drawing/2014/main" id="{C19483BC-6076-40DA-9CC2-DFBB573F1968}"/>
              </a:ext>
            </a:extLst>
          </p:cNvPr>
          <p:cNvSpPr>
            <a:spLocks noChangeShapeType="1"/>
          </p:cNvSpPr>
          <p:nvPr/>
        </p:nvSpPr>
        <p:spPr bwMode="auto">
          <a:xfrm flipH="1">
            <a:off x="1487488" y="2924175"/>
            <a:ext cx="431800" cy="0"/>
          </a:xfrm>
          <a:prstGeom prst="line">
            <a:avLst/>
          </a:prstGeom>
          <a:noFill/>
          <a:ln w="9525">
            <a:solidFill>
              <a:srgbClr val="FF33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490" name="Line 111">
            <a:extLst>
              <a:ext uri="{FF2B5EF4-FFF2-40B4-BE49-F238E27FC236}">
                <a16:creationId xmlns:a16="http://schemas.microsoft.com/office/drawing/2014/main" id="{2C551562-AD44-4499-ACE0-8FC7D67C41B0}"/>
              </a:ext>
            </a:extLst>
          </p:cNvPr>
          <p:cNvSpPr>
            <a:spLocks noChangeShapeType="1"/>
          </p:cNvSpPr>
          <p:nvPr/>
        </p:nvSpPr>
        <p:spPr bwMode="auto">
          <a:xfrm flipH="1">
            <a:off x="3287713" y="3573463"/>
            <a:ext cx="360362" cy="0"/>
          </a:xfrm>
          <a:prstGeom prst="line">
            <a:avLst/>
          </a:prstGeom>
          <a:noFill/>
          <a:ln w="9525">
            <a:solidFill>
              <a:srgbClr val="FF33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491" name="Line 112">
            <a:extLst>
              <a:ext uri="{FF2B5EF4-FFF2-40B4-BE49-F238E27FC236}">
                <a16:creationId xmlns:a16="http://schemas.microsoft.com/office/drawing/2014/main" id="{4B7D7CCC-6635-4CDE-9C8F-5BC952C2255E}"/>
              </a:ext>
            </a:extLst>
          </p:cNvPr>
          <p:cNvSpPr>
            <a:spLocks noChangeShapeType="1"/>
          </p:cNvSpPr>
          <p:nvPr/>
        </p:nvSpPr>
        <p:spPr bwMode="auto">
          <a:xfrm flipH="1">
            <a:off x="1487489" y="4149725"/>
            <a:ext cx="503237" cy="0"/>
          </a:xfrm>
          <a:prstGeom prst="line">
            <a:avLst/>
          </a:prstGeom>
          <a:noFill/>
          <a:ln w="9525">
            <a:solidFill>
              <a:srgbClr val="FF33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492" name="Line 113">
            <a:extLst>
              <a:ext uri="{FF2B5EF4-FFF2-40B4-BE49-F238E27FC236}">
                <a16:creationId xmlns:a16="http://schemas.microsoft.com/office/drawing/2014/main" id="{C7B31330-70C1-4F97-8BD7-D353DC080150}"/>
              </a:ext>
            </a:extLst>
          </p:cNvPr>
          <p:cNvSpPr>
            <a:spLocks noChangeShapeType="1"/>
          </p:cNvSpPr>
          <p:nvPr/>
        </p:nvSpPr>
        <p:spPr bwMode="auto">
          <a:xfrm flipH="1">
            <a:off x="1487489" y="4652963"/>
            <a:ext cx="1800225" cy="0"/>
          </a:xfrm>
          <a:prstGeom prst="line">
            <a:avLst/>
          </a:prstGeom>
          <a:noFill/>
          <a:ln w="9525">
            <a:solidFill>
              <a:srgbClr val="FF33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493" name="Line 114">
            <a:extLst>
              <a:ext uri="{FF2B5EF4-FFF2-40B4-BE49-F238E27FC236}">
                <a16:creationId xmlns:a16="http://schemas.microsoft.com/office/drawing/2014/main" id="{0B25F9FC-6F49-40C6-972A-62672258361F}"/>
              </a:ext>
            </a:extLst>
          </p:cNvPr>
          <p:cNvSpPr>
            <a:spLocks noChangeShapeType="1"/>
          </p:cNvSpPr>
          <p:nvPr/>
        </p:nvSpPr>
        <p:spPr bwMode="auto">
          <a:xfrm flipH="1">
            <a:off x="1487488" y="5157788"/>
            <a:ext cx="2101850" cy="0"/>
          </a:xfrm>
          <a:prstGeom prst="line">
            <a:avLst/>
          </a:prstGeom>
          <a:noFill/>
          <a:ln w="9525">
            <a:solidFill>
              <a:srgbClr val="FF33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494" name="Line 115">
            <a:extLst>
              <a:ext uri="{FF2B5EF4-FFF2-40B4-BE49-F238E27FC236}">
                <a16:creationId xmlns:a16="http://schemas.microsoft.com/office/drawing/2014/main" id="{0A668BF3-D454-49BD-BB32-AE740482500F}"/>
              </a:ext>
            </a:extLst>
          </p:cNvPr>
          <p:cNvSpPr>
            <a:spLocks noChangeShapeType="1"/>
          </p:cNvSpPr>
          <p:nvPr/>
        </p:nvSpPr>
        <p:spPr bwMode="auto">
          <a:xfrm flipH="1">
            <a:off x="1487489" y="5589588"/>
            <a:ext cx="2808287" cy="0"/>
          </a:xfrm>
          <a:prstGeom prst="line">
            <a:avLst/>
          </a:prstGeom>
          <a:noFill/>
          <a:ln w="9525">
            <a:solidFill>
              <a:srgbClr val="FF33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495" name="Line 116">
            <a:extLst>
              <a:ext uri="{FF2B5EF4-FFF2-40B4-BE49-F238E27FC236}">
                <a16:creationId xmlns:a16="http://schemas.microsoft.com/office/drawing/2014/main" id="{7E0F25C2-6C67-47EE-B9F7-96BFE4139B18}"/>
              </a:ext>
            </a:extLst>
          </p:cNvPr>
          <p:cNvSpPr>
            <a:spLocks noChangeShapeType="1"/>
          </p:cNvSpPr>
          <p:nvPr/>
        </p:nvSpPr>
        <p:spPr bwMode="auto">
          <a:xfrm flipH="1">
            <a:off x="3863975" y="2924175"/>
            <a:ext cx="431800" cy="0"/>
          </a:xfrm>
          <a:prstGeom prst="line">
            <a:avLst/>
          </a:prstGeom>
          <a:noFill/>
          <a:ln w="9525">
            <a:solidFill>
              <a:srgbClr val="FF3300"/>
            </a:solidFill>
            <a:prstDash val="lg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496" name="Line 117">
            <a:extLst>
              <a:ext uri="{FF2B5EF4-FFF2-40B4-BE49-F238E27FC236}">
                <a16:creationId xmlns:a16="http://schemas.microsoft.com/office/drawing/2014/main" id="{AD7DA488-91D5-44A8-B28C-98CDA324FC83}"/>
              </a:ext>
            </a:extLst>
          </p:cNvPr>
          <p:cNvSpPr>
            <a:spLocks noChangeShapeType="1"/>
          </p:cNvSpPr>
          <p:nvPr/>
        </p:nvSpPr>
        <p:spPr bwMode="auto">
          <a:xfrm flipH="1">
            <a:off x="5519738" y="3644900"/>
            <a:ext cx="360362" cy="0"/>
          </a:xfrm>
          <a:prstGeom prst="line">
            <a:avLst/>
          </a:prstGeom>
          <a:noFill/>
          <a:ln w="9525">
            <a:solidFill>
              <a:srgbClr val="FF3300"/>
            </a:solidFill>
            <a:prstDash val="lg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497" name="Line 118">
            <a:extLst>
              <a:ext uri="{FF2B5EF4-FFF2-40B4-BE49-F238E27FC236}">
                <a16:creationId xmlns:a16="http://schemas.microsoft.com/office/drawing/2014/main" id="{E6C10AC8-BDE0-4689-8E47-FD4D7C8DC0F9}"/>
              </a:ext>
            </a:extLst>
          </p:cNvPr>
          <p:cNvSpPr>
            <a:spLocks noChangeShapeType="1"/>
          </p:cNvSpPr>
          <p:nvPr/>
        </p:nvSpPr>
        <p:spPr bwMode="auto">
          <a:xfrm flipH="1">
            <a:off x="5448300" y="4149725"/>
            <a:ext cx="431800" cy="0"/>
          </a:xfrm>
          <a:prstGeom prst="line">
            <a:avLst/>
          </a:prstGeom>
          <a:noFill/>
          <a:ln w="9525">
            <a:solidFill>
              <a:srgbClr val="FF3300"/>
            </a:solidFill>
            <a:prstDash val="lg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498" name="Line 119">
            <a:extLst>
              <a:ext uri="{FF2B5EF4-FFF2-40B4-BE49-F238E27FC236}">
                <a16:creationId xmlns:a16="http://schemas.microsoft.com/office/drawing/2014/main" id="{30A127A1-EA91-4196-95A5-676DC27D7E74}"/>
              </a:ext>
            </a:extLst>
          </p:cNvPr>
          <p:cNvSpPr>
            <a:spLocks noChangeShapeType="1"/>
          </p:cNvSpPr>
          <p:nvPr/>
        </p:nvSpPr>
        <p:spPr bwMode="auto">
          <a:xfrm flipH="1">
            <a:off x="5735639" y="4652963"/>
            <a:ext cx="1728787" cy="0"/>
          </a:xfrm>
          <a:prstGeom prst="line">
            <a:avLst/>
          </a:prstGeom>
          <a:noFill/>
          <a:ln w="9525">
            <a:solidFill>
              <a:srgbClr val="FF3300"/>
            </a:solidFill>
            <a:prstDash val="lg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499" name="Line 120">
            <a:extLst>
              <a:ext uri="{FF2B5EF4-FFF2-40B4-BE49-F238E27FC236}">
                <a16:creationId xmlns:a16="http://schemas.microsoft.com/office/drawing/2014/main" id="{37DEED42-3FAD-4FC6-91AE-7C53BDA99F6E}"/>
              </a:ext>
            </a:extLst>
          </p:cNvPr>
          <p:cNvSpPr>
            <a:spLocks noChangeShapeType="1"/>
          </p:cNvSpPr>
          <p:nvPr/>
        </p:nvSpPr>
        <p:spPr bwMode="auto">
          <a:xfrm flipH="1">
            <a:off x="6959600" y="5157788"/>
            <a:ext cx="2160588" cy="0"/>
          </a:xfrm>
          <a:prstGeom prst="line">
            <a:avLst/>
          </a:prstGeom>
          <a:noFill/>
          <a:ln w="9525">
            <a:solidFill>
              <a:srgbClr val="FF3300"/>
            </a:solidFill>
            <a:prstDash val="lg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7500" name="Line 121">
            <a:extLst>
              <a:ext uri="{FF2B5EF4-FFF2-40B4-BE49-F238E27FC236}">
                <a16:creationId xmlns:a16="http://schemas.microsoft.com/office/drawing/2014/main" id="{242D2707-F238-454F-B70E-A07F55C0C1DF}"/>
              </a:ext>
            </a:extLst>
          </p:cNvPr>
          <p:cNvSpPr>
            <a:spLocks noChangeShapeType="1"/>
          </p:cNvSpPr>
          <p:nvPr/>
        </p:nvSpPr>
        <p:spPr bwMode="auto">
          <a:xfrm flipH="1">
            <a:off x="7896226" y="5661025"/>
            <a:ext cx="2879725" cy="0"/>
          </a:xfrm>
          <a:prstGeom prst="line">
            <a:avLst/>
          </a:prstGeom>
          <a:noFill/>
          <a:ln w="9525">
            <a:solidFill>
              <a:srgbClr val="FF3300"/>
            </a:solidFill>
            <a:prstDash val="lg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78483C-B060-4995-9125-DA1CAB046247}"/>
              </a:ext>
            </a:extLst>
          </p:cNvPr>
          <p:cNvSpPr>
            <a:spLocks noGrp="1"/>
          </p:cNvSpPr>
          <p:nvPr>
            <p:ph type="title"/>
          </p:nvPr>
        </p:nvSpPr>
        <p:spPr/>
        <p:txBody>
          <a:bodyPr/>
          <a:lstStyle/>
          <a:p>
            <a:r>
              <a:rPr lang="es-AR" b="1" dirty="0">
                <a:solidFill>
                  <a:schemeClr val="tx1">
                    <a:lumMod val="75000"/>
                    <a:lumOff val="25000"/>
                  </a:schemeClr>
                </a:solidFill>
              </a:rPr>
              <a:t>CLASIFICACION DE LOS COSTOS</a:t>
            </a:r>
          </a:p>
        </p:txBody>
      </p:sp>
      <p:sp>
        <p:nvSpPr>
          <p:cNvPr id="3" name="Marcador de número de diapositiva 2">
            <a:extLst>
              <a:ext uri="{FF2B5EF4-FFF2-40B4-BE49-F238E27FC236}">
                <a16:creationId xmlns:a16="http://schemas.microsoft.com/office/drawing/2014/main" id="{D80295A3-B8B6-4E1D-A862-C564C30F4336}"/>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4" name="CuadroTexto 3">
            <a:extLst>
              <a:ext uri="{FF2B5EF4-FFF2-40B4-BE49-F238E27FC236}">
                <a16:creationId xmlns:a16="http://schemas.microsoft.com/office/drawing/2014/main" id="{4F6BDD42-C4D3-4AF0-B152-9058F5035813}"/>
              </a:ext>
            </a:extLst>
          </p:cNvPr>
          <p:cNvSpPr txBox="1"/>
          <p:nvPr/>
        </p:nvSpPr>
        <p:spPr>
          <a:xfrm>
            <a:off x="2702652" y="3241744"/>
            <a:ext cx="7995828" cy="1938992"/>
          </a:xfrm>
          <a:prstGeom prst="rect">
            <a:avLst/>
          </a:prstGeom>
          <a:noFill/>
        </p:spPr>
        <p:txBody>
          <a:bodyPr wrap="square" rtlCol="0">
            <a:spAutoFit/>
          </a:bodyPr>
          <a:lstStyle/>
          <a:p>
            <a:r>
              <a:rPr lang="es-AR" sz="2400" dirty="0"/>
              <a:t>Clasificar los costos consiste en agrupar sistemáticamente por tipos, de manera de reunir en grupos a los que poseen ciertas características comunes que los diferencian de los agrupados en otras categorías</a:t>
            </a:r>
          </a:p>
        </p:txBody>
      </p:sp>
      <p:sp>
        <p:nvSpPr>
          <p:cNvPr id="5" name="CuadroTexto 4">
            <a:extLst>
              <a:ext uri="{FF2B5EF4-FFF2-40B4-BE49-F238E27FC236}">
                <a16:creationId xmlns:a16="http://schemas.microsoft.com/office/drawing/2014/main" id="{5B04A6FE-9E3B-4BB7-BD7A-9F5BD33A0E0A}"/>
              </a:ext>
            </a:extLst>
          </p:cNvPr>
          <p:cNvSpPr txBox="1"/>
          <p:nvPr/>
        </p:nvSpPr>
        <p:spPr>
          <a:xfrm>
            <a:off x="2702652" y="2505456"/>
            <a:ext cx="2911764" cy="523220"/>
          </a:xfrm>
          <a:prstGeom prst="rect">
            <a:avLst/>
          </a:prstGeom>
          <a:noFill/>
        </p:spPr>
        <p:txBody>
          <a:bodyPr wrap="square" rtlCol="0">
            <a:spAutoFit/>
          </a:bodyPr>
          <a:lstStyle/>
          <a:p>
            <a:r>
              <a:rPr lang="es-AR" sz="2800" b="1" dirty="0"/>
              <a:t>DEFINICION</a:t>
            </a:r>
          </a:p>
        </p:txBody>
      </p:sp>
    </p:spTree>
    <p:extLst>
      <p:ext uri="{BB962C8B-B14F-4D97-AF65-F5344CB8AC3E}">
        <p14:creationId xmlns:p14="http://schemas.microsoft.com/office/powerpoint/2010/main" val="1644889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034786-FBC5-4603-B34C-AF0DCA575EF7}"/>
              </a:ext>
            </a:extLst>
          </p:cNvPr>
          <p:cNvSpPr>
            <a:spLocks noGrp="1"/>
          </p:cNvSpPr>
          <p:nvPr>
            <p:ph type="title"/>
          </p:nvPr>
        </p:nvSpPr>
        <p:spPr/>
        <p:txBody>
          <a:bodyPr/>
          <a:lstStyle/>
          <a:p>
            <a:r>
              <a:rPr lang="es-AR" b="1" dirty="0">
                <a:solidFill>
                  <a:schemeClr val="tx1">
                    <a:lumMod val="75000"/>
                    <a:lumOff val="25000"/>
                  </a:schemeClr>
                </a:solidFill>
              </a:rPr>
              <a:t>CLASIFICACION DE LOS COSTOS</a:t>
            </a:r>
            <a:endParaRPr lang="es-AR" dirty="0"/>
          </a:p>
        </p:txBody>
      </p:sp>
      <p:sp>
        <p:nvSpPr>
          <p:cNvPr id="3" name="Marcador de número de diapositiva 2">
            <a:extLst>
              <a:ext uri="{FF2B5EF4-FFF2-40B4-BE49-F238E27FC236}">
                <a16:creationId xmlns:a16="http://schemas.microsoft.com/office/drawing/2014/main" id="{325C2BD6-95D9-4B38-A00C-D197627A95EB}"/>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4" name="CuadroTexto 3">
            <a:extLst>
              <a:ext uri="{FF2B5EF4-FFF2-40B4-BE49-F238E27FC236}">
                <a16:creationId xmlns:a16="http://schemas.microsoft.com/office/drawing/2014/main" id="{CDE023D4-E224-4FE5-875D-1901D8E57439}"/>
              </a:ext>
            </a:extLst>
          </p:cNvPr>
          <p:cNvSpPr txBox="1"/>
          <p:nvPr/>
        </p:nvSpPr>
        <p:spPr>
          <a:xfrm>
            <a:off x="2080260" y="1997389"/>
            <a:ext cx="4910328" cy="369332"/>
          </a:xfrm>
          <a:prstGeom prst="rect">
            <a:avLst/>
          </a:prstGeom>
          <a:noFill/>
        </p:spPr>
        <p:txBody>
          <a:bodyPr wrap="square" rtlCol="0">
            <a:spAutoFit/>
          </a:bodyPr>
          <a:lstStyle/>
          <a:p>
            <a:r>
              <a:rPr lang="es-AR" dirty="0"/>
              <a:t>Diferencia entre </a:t>
            </a:r>
            <a:r>
              <a:rPr lang="es-AR" b="1" dirty="0"/>
              <a:t>gasto</a:t>
            </a:r>
            <a:r>
              <a:rPr lang="es-AR" dirty="0"/>
              <a:t> y </a:t>
            </a:r>
            <a:r>
              <a:rPr lang="es-AR" b="1" dirty="0"/>
              <a:t>costo</a:t>
            </a:r>
          </a:p>
        </p:txBody>
      </p:sp>
      <p:sp>
        <p:nvSpPr>
          <p:cNvPr id="5" name="CuadroTexto 4">
            <a:extLst>
              <a:ext uri="{FF2B5EF4-FFF2-40B4-BE49-F238E27FC236}">
                <a16:creationId xmlns:a16="http://schemas.microsoft.com/office/drawing/2014/main" id="{ED2E32F7-8023-4F42-AE54-7FDDAD173D30}"/>
              </a:ext>
            </a:extLst>
          </p:cNvPr>
          <p:cNvSpPr txBox="1"/>
          <p:nvPr/>
        </p:nvSpPr>
        <p:spPr>
          <a:xfrm>
            <a:off x="2112264" y="2604529"/>
            <a:ext cx="9162288" cy="2308324"/>
          </a:xfrm>
          <a:prstGeom prst="rect">
            <a:avLst/>
          </a:prstGeom>
          <a:noFill/>
        </p:spPr>
        <p:txBody>
          <a:bodyPr wrap="square" rtlCol="0">
            <a:spAutoFit/>
          </a:bodyPr>
          <a:lstStyle/>
          <a:p>
            <a:r>
              <a:rPr lang="es-AR" b="1" dirty="0"/>
              <a:t>GASTO</a:t>
            </a:r>
          </a:p>
          <a:p>
            <a:endParaRPr lang="es-AR" dirty="0"/>
          </a:p>
          <a:p>
            <a:r>
              <a:rPr lang="es-AR" dirty="0"/>
              <a:t>Se entiende por gasto o desembolso a toda salida de dinero, es el hecho económico cuya realización es necesaria para atender la adquisición de:</a:t>
            </a:r>
          </a:p>
          <a:p>
            <a:pPr marL="742950" lvl="1" indent="-285750">
              <a:buFont typeface="Arial" panose="020B0604020202020204" pitchFamily="34" charset="0"/>
              <a:buChar char="•"/>
            </a:pPr>
            <a:r>
              <a:rPr lang="es-AR" dirty="0"/>
              <a:t>Bienes o servicios</a:t>
            </a:r>
          </a:p>
          <a:p>
            <a:pPr marL="742950" lvl="1" indent="-285750">
              <a:buFont typeface="Arial" panose="020B0604020202020204" pitchFamily="34" charset="0"/>
              <a:buChar char="•"/>
            </a:pPr>
            <a:r>
              <a:rPr lang="es-AR" dirty="0"/>
              <a:t>Compra de materia prima</a:t>
            </a:r>
          </a:p>
          <a:p>
            <a:pPr marL="742950" lvl="1" indent="-285750">
              <a:buFont typeface="Arial" panose="020B0604020202020204" pitchFamily="34" charset="0"/>
              <a:buChar char="•"/>
            </a:pPr>
            <a:r>
              <a:rPr lang="es-AR" dirty="0"/>
              <a:t>Compra del edificio, seguros</a:t>
            </a:r>
          </a:p>
          <a:p>
            <a:pPr marL="742950" lvl="1" indent="-285750">
              <a:buFont typeface="Arial" panose="020B0604020202020204" pitchFamily="34" charset="0"/>
              <a:buChar char="•"/>
            </a:pPr>
            <a:r>
              <a:rPr lang="es-AR" dirty="0" err="1"/>
              <a:t>Etc</a:t>
            </a:r>
            <a:endParaRPr lang="es-AR" dirty="0"/>
          </a:p>
        </p:txBody>
      </p:sp>
      <p:sp>
        <p:nvSpPr>
          <p:cNvPr id="6" name="CuadroTexto 5">
            <a:extLst>
              <a:ext uri="{FF2B5EF4-FFF2-40B4-BE49-F238E27FC236}">
                <a16:creationId xmlns:a16="http://schemas.microsoft.com/office/drawing/2014/main" id="{91DDFE2E-BD11-413D-B774-2B7F198EFF84}"/>
              </a:ext>
            </a:extLst>
          </p:cNvPr>
          <p:cNvSpPr txBox="1"/>
          <p:nvPr/>
        </p:nvSpPr>
        <p:spPr>
          <a:xfrm>
            <a:off x="2112264" y="4892504"/>
            <a:ext cx="8732520" cy="923330"/>
          </a:xfrm>
          <a:prstGeom prst="rect">
            <a:avLst/>
          </a:prstGeom>
          <a:noFill/>
        </p:spPr>
        <p:txBody>
          <a:bodyPr wrap="square" rtlCol="0">
            <a:spAutoFit/>
          </a:bodyPr>
          <a:lstStyle/>
          <a:p>
            <a:r>
              <a:rPr lang="es-AR" dirty="0"/>
              <a:t>Mediante estos gastos se dota a la empresa de inversiones y equipamiento necesario para que se encuentre en condiciones de producir</a:t>
            </a:r>
          </a:p>
          <a:p>
            <a:endParaRPr lang="es-AR" dirty="0"/>
          </a:p>
        </p:txBody>
      </p:sp>
    </p:spTree>
    <p:extLst>
      <p:ext uri="{BB962C8B-B14F-4D97-AF65-F5344CB8AC3E}">
        <p14:creationId xmlns:p14="http://schemas.microsoft.com/office/powerpoint/2010/main" val="1661085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D50CFE-67EF-4944-9AC3-79DFE93549B2}"/>
              </a:ext>
            </a:extLst>
          </p:cNvPr>
          <p:cNvSpPr>
            <a:spLocks noGrp="1"/>
          </p:cNvSpPr>
          <p:nvPr>
            <p:ph type="title"/>
          </p:nvPr>
        </p:nvSpPr>
        <p:spPr/>
        <p:txBody>
          <a:bodyPr/>
          <a:lstStyle/>
          <a:p>
            <a:r>
              <a:rPr lang="es-AR" b="1" dirty="0">
                <a:solidFill>
                  <a:schemeClr val="tx1">
                    <a:lumMod val="75000"/>
                    <a:lumOff val="25000"/>
                  </a:schemeClr>
                </a:solidFill>
              </a:rPr>
              <a:t>CLASIFICACION DE LOS COSTOS</a:t>
            </a:r>
            <a:endParaRPr lang="es-AR" dirty="0"/>
          </a:p>
        </p:txBody>
      </p:sp>
      <p:sp>
        <p:nvSpPr>
          <p:cNvPr id="3" name="Marcador de número de diapositiva 2">
            <a:extLst>
              <a:ext uri="{FF2B5EF4-FFF2-40B4-BE49-F238E27FC236}">
                <a16:creationId xmlns:a16="http://schemas.microsoft.com/office/drawing/2014/main" id="{5C0F05A3-F76B-49A6-B40C-5141D2B8FA57}"/>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
        <p:nvSpPr>
          <p:cNvPr id="4" name="CuadroTexto 3">
            <a:extLst>
              <a:ext uri="{FF2B5EF4-FFF2-40B4-BE49-F238E27FC236}">
                <a16:creationId xmlns:a16="http://schemas.microsoft.com/office/drawing/2014/main" id="{7B886E76-1EC1-46DA-9C08-4E0DE8A31A85}"/>
              </a:ext>
            </a:extLst>
          </p:cNvPr>
          <p:cNvSpPr txBox="1"/>
          <p:nvPr/>
        </p:nvSpPr>
        <p:spPr>
          <a:xfrm>
            <a:off x="2267712" y="2176272"/>
            <a:ext cx="7516368" cy="1200329"/>
          </a:xfrm>
          <a:prstGeom prst="rect">
            <a:avLst/>
          </a:prstGeom>
          <a:noFill/>
        </p:spPr>
        <p:txBody>
          <a:bodyPr wrap="square" rtlCol="0">
            <a:spAutoFit/>
          </a:bodyPr>
          <a:lstStyle/>
          <a:p>
            <a:r>
              <a:rPr lang="es-AR" b="1" dirty="0"/>
              <a:t>COSTO</a:t>
            </a:r>
          </a:p>
          <a:p>
            <a:endParaRPr lang="es-AR" dirty="0"/>
          </a:p>
          <a:p>
            <a:r>
              <a:rPr lang="es-AR" dirty="0"/>
              <a:t>Es el consumo de bienes económicos, factores de la producción ya adquiridos, gastos que se operan en el proceso productivo.</a:t>
            </a:r>
          </a:p>
        </p:txBody>
      </p:sp>
      <p:sp>
        <p:nvSpPr>
          <p:cNvPr id="5" name="CuadroTexto 4">
            <a:extLst>
              <a:ext uri="{FF2B5EF4-FFF2-40B4-BE49-F238E27FC236}">
                <a16:creationId xmlns:a16="http://schemas.microsoft.com/office/drawing/2014/main" id="{41564172-B882-40C6-8DEB-99EBD6144E18}"/>
              </a:ext>
            </a:extLst>
          </p:cNvPr>
          <p:cNvSpPr txBox="1"/>
          <p:nvPr/>
        </p:nvSpPr>
        <p:spPr>
          <a:xfrm>
            <a:off x="2267712" y="3877056"/>
            <a:ext cx="9043416" cy="1754326"/>
          </a:xfrm>
          <a:prstGeom prst="rect">
            <a:avLst/>
          </a:prstGeom>
          <a:noFill/>
        </p:spPr>
        <p:txBody>
          <a:bodyPr wrap="square" rtlCol="0">
            <a:spAutoFit/>
          </a:bodyPr>
          <a:lstStyle/>
          <a:p>
            <a:r>
              <a:rPr lang="es-AR" dirty="0"/>
              <a:t>Por ejemplo cuando se adquieren bienes de uso, MP, se contratan seguros, </a:t>
            </a:r>
            <a:r>
              <a:rPr lang="es-AR" dirty="0" err="1"/>
              <a:t>etc</a:t>
            </a:r>
            <a:r>
              <a:rPr lang="es-AR" dirty="0"/>
              <a:t>, todos ellos no son, en si mismos, costos, sino que se convertirán en costos al utilizarse, cuando se consume  MP en el proceso productivo, cuando se  deprecian las maquinas y carga su amortización al producto.</a:t>
            </a:r>
          </a:p>
          <a:p>
            <a:r>
              <a:rPr lang="es-AR" dirty="0"/>
              <a:t>Es decir, los gastos se convertirán en costos recién al ser consumidos en el proceso productivo</a:t>
            </a:r>
          </a:p>
        </p:txBody>
      </p:sp>
    </p:spTree>
    <p:extLst>
      <p:ext uri="{BB962C8B-B14F-4D97-AF65-F5344CB8AC3E}">
        <p14:creationId xmlns:p14="http://schemas.microsoft.com/office/powerpoint/2010/main" val="3006842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E8DD7C-E77F-4D9B-80BE-3B83D3A51685}"/>
              </a:ext>
            </a:extLst>
          </p:cNvPr>
          <p:cNvSpPr>
            <a:spLocks noGrp="1"/>
          </p:cNvSpPr>
          <p:nvPr>
            <p:ph type="title"/>
          </p:nvPr>
        </p:nvSpPr>
        <p:spPr>
          <a:xfrm>
            <a:off x="2547204" y="416360"/>
            <a:ext cx="8911687" cy="1280890"/>
          </a:xfrm>
        </p:spPr>
        <p:txBody>
          <a:bodyPr/>
          <a:lstStyle/>
          <a:p>
            <a:r>
              <a:rPr lang="es-AR" b="1" dirty="0">
                <a:solidFill>
                  <a:schemeClr val="tx1">
                    <a:lumMod val="75000"/>
                    <a:lumOff val="25000"/>
                  </a:schemeClr>
                </a:solidFill>
              </a:rPr>
              <a:t>CLASIFICACION DE LOS COSTOS</a:t>
            </a:r>
            <a:endParaRPr lang="es-AR" dirty="0"/>
          </a:p>
        </p:txBody>
      </p:sp>
      <p:sp>
        <p:nvSpPr>
          <p:cNvPr id="3" name="Marcador de número de diapositiva 2">
            <a:extLst>
              <a:ext uri="{FF2B5EF4-FFF2-40B4-BE49-F238E27FC236}">
                <a16:creationId xmlns:a16="http://schemas.microsoft.com/office/drawing/2014/main" id="{3CEF76F3-A239-4B4B-B71B-585028247838}"/>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4" name="CuadroTexto 3">
            <a:extLst>
              <a:ext uri="{FF2B5EF4-FFF2-40B4-BE49-F238E27FC236}">
                <a16:creationId xmlns:a16="http://schemas.microsoft.com/office/drawing/2014/main" id="{397A62AF-98DA-40E2-9B68-B87A5804D400}"/>
              </a:ext>
            </a:extLst>
          </p:cNvPr>
          <p:cNvSpPr txBox="1"/>
          <p:nvPr/>
        </p:nvSpPr>
        <p:spPr>
          <a:xfrm>
            <a:off x="2340864" y="1374084"/>
            <a:ext cx="7854696" cy="646331"/>
          </a:xfrm>
          <a:prstGeom prst="rect">
            <a:avLst/>
          </a:prstGeom>
          <a:noFill/>
        </p:spPr>
        <p:txBody>
          <a:bodyPr wrap="square" rtlCol="0">
            <a:spAutoFit/>
          </a:bodyPr>
          <a:lstStyle/>
          <a:p>
            <a:r>
              <a:rPr lang="es-AR" dirty="0">
                <a:solidFill>
                  <a:schemeClr val="tx1">
                    <a:lumMod val="75000"/>
                    <a:lumOff val="25000"/>
                  </a:schemeClr>
                </a:solidFill>
              </a:rPr>
              <a:t>Los costos pueden clasificarse de acuerdo con la índole de los bienes que lo componen:</a:t>
            </a:r>
          </a:p>
        </p:txBody>
      </p:sp>
      <p:sp>
        <p:nvSpPr>
          <p:cNvPr id="5" name="CuadroTexto 4">
            <a:extLst>
              <a:ext uri="{FF2B5EF4-FFF2-40B4-BE49-F238E27FC236}">
                <a16:creationId xmlns:a16="http://schemas.microsoft.com/office/drawing/2014/main" id="{675A48CE-48C7-4F3B-84DD-C97538AB0339}"/>
              </a:ext>
            </a:extLst>
          </p:cNvPr>
          <p:cNvSpPr txBox="1"/>
          <p:nvPr/>
        </p:nvSpPr>
        <p:spPr>
          <a:xfrm>
            <a:off x="2340864" y="2275344"/>
            <a:ext cx="7223760" cy="1477328"/>
          </a:xfrm>
          <a:prstGeom prst="rect">
            <a:avLst/>
          </a:prstGeom>
          <a:noFill/>
        </p:spPr>
        <p:txBody>
          <a:bodyPr wrap="square" rtlCol="0">
            <a:spAutoFit/>
          </a:bodyPr>
          <a:lstStyle/>
          <a:p>
            <a:pPr marL="285750" indent="-285750">
              <a:buClr>
                <a:srgbClr val="92D050"/>
              </a:buClr>
              <a:buFont typeface="Wingdings" panose="05000000000000000000" pitchFamily="2" charset="2"/>
              <a:buChar char="§"/>
            </a:pPr>
            <a:r>
              <a:rPr lang="es-AR" dirty="0">
                <a:solidFill>
                  <a:schemeClr val="tx1">
                    <a:lumMod val="75000"/>
                    <a:lumOff val="25000"/>
                  </a:schemeClr>
                </a:solidFill>
              </a:rPr>
              <a:t>En cuanto a la </a:t>
            </a:r>
            <a:r>
              <a:rPr lang="es-AR" b="1" dirty="0">
                <a:solidFill>
                  <a:schemeClr val="tx1">
                    <a:lumMod val="75000"/>
                    <a:lumOff val="25000"/>
                  </a:schemeClr>
                </a:solidFill>
              </a:rPr>
              <a:t>función</a:t>
            </a:r>
            <a:r>
              <a:rPr lang="es-AR" dirty="0">
                <a:solidFill>
                  <a:schemeClr val="tx1">
                    <a:lumMod val="75000"/>
                    <a:lumOff val="25000"/>
                  </a:schemeClr>
                </a:solidFill>
              </a:rPr>
              <a:t> a que se destinan serán:</a:t>
            </a:r>
            <a:endParaRPr lang="es-AR" b="1" dirty="0">
              <a:solidFill>
                <a:schemeClr val="tx1">
                  <a:lumMod val="75000"/>
                  <a:lumOff val="25000"/>
                </a:schemeClr>
              </a:solidFill>
            </a:endParaRP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De producción</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De distribución</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De financiación</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De administración</a:t>
            </a:r>
          </a:p>
        </p:txBody>
      </p:sp>
      <p:sp>
        <p:nvSpPr>
          <p:cNvPr id="6" name="CuadroTexto 5">
            <a:extLst>
              <a:ext uri="{FF2B5EF4-FFF2-40B4-BE49-F238E27FC236}">
                <a16:creationId xmlns:a16="http://schemas.microsoft.com/office/drawing/2014/main" id="{A2AB1EBB-2BDF-4429-AE1A-D7C3B5BD0341}"/>
              </a:ext>
            </a:extLst>
          </p:cNvPr>
          <p:cNvSpPr txBox="1"/>
          <p:nvPr/>
        </p:nvSpPr>
        <p:spPr>
          <a:xfrm>
            <a:off x="2382612" y="3948074"/>
            <a:ext cx="7223760" cy="1200329"/>
          </a:xfrm>
          <a:prstGeom prst="rect">
            <a:avLst/>
          </a:prstGeom>
          <a:noFill/>
        </p:spPr>
        <p:txBody>
          <a:bodyPr wrap="square" rtlCol="0">
            <a:spAutoFit/>
          </a:bodyPr>
          <a:lstStyle/>
          <a:p>
            <a:pPr marL="285750" indent="-285750">
              <a:buClr>
                <a:srgbClr val="92D050"/>
              </a:buClr>
              <a:buFont typeface="Wingdings" panose="05000000000000000000" pitchFamily="2" charset="2"/>
              <a:buChar char="§"/>
            </a:pPr>
            <a:r>
              <a:rPr lang="es-AR" dirty="0">
                <a:solidFill>
                  <a:schemeClr val="tx1">
                    <a:lumMod val="75000"/>
                    <a:lumOff val="25000"/>
                  </a:schemeClr>
                </a:solidFill>
              </a:rPr>
              <a:t>En cuanto a la </a:t>
            </a:r>
            <a:r>
              <a:rPr lang="es-AR" b="1" dirty="0">
                <a:solidFill>
                  <a:schemeClr val="tx1">
                    <a:lumMod val="75000"/>
                    <a:lumOff val="25000"/>
                  </a:schemeClr>
                </a:solidFill>
              </a:rPr>
              <a:t>forma que se cargan al producto o departamento</a:t>
            </a:r>
            <a:r>
              <a:rPr lang="es-AR" dirty="0">
                <a:solidFill>
                  <a:schemeClr val="tx1">
                    <a:lumMod val="75000"/>
                    <a:lumOff val="25000"/>
                  </a:schemeClr>
                </a:solidFill>
              </a:rPr>
              <a:t>:</a:t>
            </a:r>
            <a:endParaRPr lang="es-AR" b="1" dirty="0">
              <a:solidFill>
                <a:schemeClr val="tx1">
                  <a:lumMod val="75000"/>
                  <a:lumOff val="25000"/>
                </a:schemeClr>
              </a:solidFill>
            </a:endParaRP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Costos directos</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Costos indirectos</a:t>
            </a:r>
          </a:p>
        </p:txBody>
      </p:sp>
      <p:sp>
        <p:nvSpPr>
          <p:cNvPr id="7" name="CuadroTexto 6">
            <a:extLst>
              <a:ext uri="{FF2B5EF4-FFF2-40B4-BE49-F238E27FC236}">
                <a16:creationId xmlns:a16="http://schemas.microsoft.com/office/drawing/2014/main" id="{3D39CF30-4594-43A6-A776-9E7BD9AC2CAC}"/>
              </a:ext>
            </a:extLst>
          </p:cNvPr>
          <p:cNvSpPr txBox="1"/>
          <p:nvPr/>
        </p:nvSpPr>
        <p:spPr>
          <a:xfrm>
            <a:off x="2382612" y="5343805"/>
            <a:ext cx="7223760" cy="923330"/>
          </a:xfrm>
          <a:prstGeom prst="rect">
            <a:avLst/>
          </a:prstGeom>
          <a:noFill/>
        </p:spPr>
        <p:txBody>
          <a:bodyPr wrap="square" rtlCol="0">
            <a:spAutoFit/>
          </a:bodyPr>
          <a:lstStyle/>
          <a:p>
            <a:pPr marL="285750" indent="-285750">
              <a:buClr>
                <a:srgbClr val="92D050"/>
              </a:buClr>
              <a:buFont typeface="Wingdings" panose="05000000000000000000" pitchFamily="2" charset="2"/>
              <a:buChar char="§"/>
            </a:pPr>
            <a:r>
              <a:rPr lang="es-AR" dirty="0">
                <a:solidFill>
                  <a:schemeClr val="tx1">
                    <a:lumMod val="75000"/>
                    <a:lumOff val="25000"/>
                  </a:schemeClr>
                </a:solidFill>
              </a:rPr>
              <a:t>En cuanto a su </a:t>
            </a:r>
            <a:r>
              <a:rPr lang="es-AR" b="1" dirty="0">
                <a:solidFill>
                  <a:schemeClr val="tx1">
                    <a:lumMod val="75000"/>
                    <a:lumOff val="25000"/>
                  </a:schemeClr>
                </a:solidFill>
              </a:rPr>
              <a:t>grado de variabilidad</a:t>
            </a:r>
            <a:r>
              <a:rPr lang="es-AR" dirty="0">
                <a:solidFill>
                  <a:schemeClr val="tx1">
                    <a:lumMod val="75000"/>
                    <a:lumOff val="25000"/>
                  </a:schemeClr>
                </a:solidFill>
              </a:rPr>
              <a:t>:</a:t>
            </a:r>
            <a:endParaRPr lang="es-AR" b="1" dirty="0">
              <a:solidFill>
                <a:schemeClr val="tx1">
                  <a:lumMod val="75000"/>
                  <a:lumOff val="25000"/>
                </a:schemeClr>
              </a:solidFill>
            </a:endParaRP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Costos fijos</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Costos variables</a:t>
            </a:r>
          </a:p>
        </p:txBody>
      </p:sp>
    </p:spTree>
    <p:extLst>
      <p:ext uri="{BB962C8B-B14F-4D97-AF65-F5344CB8AC3E}">
        <p14:creationId xmlns:p14="http://schemas.microsoft.com/office/powerpoint/2010/main" val="2639081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1188720" y="961708"/>
            <a:ext cx="1055363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CLASIFICACION DE LOS COSTOS</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269173" y="3551492"/>
            <a:ext cx="8915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Costos Funcionales</a:t>
            </a:r>
          </a:p>
        </p:txBody>
      </p:sp>
      <p:sp>
        <p:nvSpPr>
          <p:cNvPr id="6" name="CuadroTexto 5">
            <a:extLst>
              <a:ext uri="{FF2B5EF4-FFF2-40B4-BE49-F238E27FC236}">
                <a16:creationId xmlns:a16="http://schemas.microsoft.com/office/drawing/2014/main" id="{D9FA0E92-5CE1-472E-A758-7CE737D9664B}"/>
              </a:ext>
            </a:extLst>
          </p:cNvPr>
          <p:cNvSpPr txBox="1"/>
          <p:nvPr/>
        </p:nvSpPr>
        <p:spPr>
          <a:xfrm>
            <a:off x="1654139" y="2039102"/>
            <a:ext cx="8396578" cy="400110"/>
          </a:xfrm>
          <a:prstGeom prst="rect">
            <a:avLst/>
          </a:prstGeom>
          <a:noFill/>
        </p:spPr>
        <p:txBody>
          <a:bodyPr wrap="square" rtlCol="0">
            <a:spAutoFit/>
          </a:bodyPr>
          <a:lstStyle/>
          <a:p>
            <a:r>
              <a:rPr lang="es-AR" sz="2000" dirty="0"/>
              <a:t>Según su función</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2098383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3162E3-41E5-4FC7-93BD-C7AD41ECAFEC}"/>
              </a:ext>
            </a:extLst>
          </p:cNvPr>
          <p:cNvSpPr>
            <a:spLocks noGrp="1"/>
          </p:cNvSpPr>
          <p:nvPr>
            <p:ph type="title"/>
          </p:nvPr>
        </p:nvSpPr>
        <p:spPr>
          <a:xfrm>
            <a:off x="2084832" y="512462"/>
            <a:ext cx="8911687" cy="1280890"/>
          </a:xfrm>
        </p:spPr>
        <p:txBody>
          <a:bodyPr/>
          <a:lstStyle/>
          <a:p>
            <a:r>
              <a:rPr lang="es-AR" b="1" dirty="0">
                <a:solidFill>
                  <a:schemeClr val="tx1">
                    <a:lumMod val="75000"/>
                    <a:lumOff val="25000"/>
                  </a:schemeClr>
                </a:solidFill>
              </a:rPr>
              <a:t>FUNCIONALES</a:t>
            </a:r>
            <a:endParaRPr lang="es-AR" dirty="0"/>
          </a:p>
        </p:txBody>
      </p:sp>
      <p:sp>
        <p:nvSpPr>
          <p:cNvPr id="3" name="Marcador de número de diapositiva 2">
            <a:extLst>
              <a:ext uri="{FF2B5EF4-FFF2-40B4-BE49-F238E27FC236}">
                <a16:creationId xmlns:a16="http://schemas.microsoft.com/office/drawing/2014/main" id="{B58B9CDD-C44F-4886-BB5D-E986F06EA1C9}"/>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4" name="CuadroTexto 3">
            <a:extLst>
              <a:ext uri="{FF2B5EF4-FFF2-40B4-BE49-F238E27FC236}">
                <a16:creationId xmlns:a16="http://schemas.microsoft.com/office/drawing/2014/main" id="{DCE13A93-BC46-467F-A0CD-910590F84F3C}"/>
              </a:ext>
            </a:extLst>
          </p:cNvPr>
          <p:cNvSpPr txBox="1"/>
          <p:nvPr/>
        </p:nvSpPr>
        <p:spPr>
          <a:xfrm>
            <a:off x="2084832" y="2075688"/>
            <a:ext cx="8275320" cy="3231654"/>
          </a:xfrm>
          <a:prstGeom prst="rect">
            <a:avLst/>
          </a:prstGeom>
          <a:noFill/>
        </p:spPr>
        <p:txBody>
          <a:bodyPr wrap="square" rtlCol="0">
            <a:spAutoFit/>
          </a:bodyPr>
          <a:lstStyle/>
          <a:p>
            <a:pPr marL="285750" indent="-285750">
              <a:buClr>
                <a:srgbClr val="92D050"/>
              </a:buClr>
              <a:buFont typeface="Wingdings" panose="05000000000000000000" pitchFamily="2" charset="2"/>
              <a:buChar char="§"/>
            </a:pPr>
            <a:r>
              <a:rPr lang="es-AR" b="1" dirty="0">
                <a:solidFill>
                  <a:schemeClr val="tx1">
                    <a:lumMod val="75000"/>
                    <a:lumOff val="25000"/>
                  </a:schemeClr>
                </a:solidFill>
              </a:rPr>
              <a:t>PRODUCCION</a:t>
            </a:r>
          </a:p>
          <a:p>
            <a:pPr lvl="1">
              <a:buClr>
                <a:srgbClr val="92D050"/>
              </a:buClr>
            </a:pPr>
            <a:endParaRPr lang="es-AR" dirty="0">
              <a:solidFill>
                <a:schemeClr val="tx1">
                  <a:lumMod val="75000"/>
                  <a:lumOff val="25000"/>
                </a:schemeClr>
              </a:solidFill>
            </a:endParaRPr>
          </a:p>
          <a:p>
            <a:pPr lvl="1">
              <a:buClr>
                <a:srgbClr val="92D050"/>
              </a:buClr>
            </a:pPr>
            <a:r>
              <a:rPr lang="es-AR" dirty="0">
                <a:solidFill>
                  <a:schemeClr val="tx1">
                    <a:lumMod val="75000"/>
                    <a:lumOff val="25000"/>
                  </a:schemeClr>
                </a:solidFill>
              </a:rPr>
              <a:t>Comprenden todas las fases que se hallan vinculadas con el proceso de elaboración, desde que se adquieren los materiales hasta que los productos terminados salen de fabrica, comprenden las áreas de :</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Planeamiento y control de la producción</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Compras</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Almacén de materias primas producción</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Servicios de fabrica </a:t>
            </a:r>
          </a:p>
          <a:p>
            <a:endParaRPr lang="es-AR" sz="2400" b="1" dirty="0"/>
          </a:p>
        </p:txBody>
      </p:sp>
    </p:spTree>
    <p:extLst>
      <p:ext uri="{BB962C8B-B14F-4D97-AF65-F5344CB8AC3E}">
        <p14:creationId xmlns:p14="http://schemas.microsoft.com/office/powerpoint/2010/main" val="3808814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74A38C-AF81-4E98-82E3-E20702E5DF4D}"/>
              </a:ext>
            </a:extLst>
          </p:cNvPr>
          <p:cNvSpPr>
            <a:spLocks noGrp="1"/>
          </p:cNvSpPr>
          <p:nvPr>
            <p:ph type="title"/>
          </p:nvPr>
        </p:nvSpPr>
        <p:spPr>
          <a:xfrm>
            <a:off x="2084832" y="512462"/>
            <a:ext cx="8911687" cy="1280890"/>
          </a:xfrm>
        </p:spPr>
        <p:txBody>
          <a:bodyPr/>
          <a:lstStyle/>
          <a:p>
            <a:r>
              <a:rPr lang="es-AR" b="1" dirty="0">
                <a:solidFill>
                  <a:schemeClr val="tx1">
                    <a:lumMod val="75000"/>
                    <a:lumOff val="25000"/>
                  </a:schemeClr>
                </a:solidFill>
              </a:rPr>
              <a:t>FUNCIONALES</a:t>
            </a:r>
            <a:endParaRPr lang="es-AR" dirty="0"/>
          </a:p>
        </p:txBody>
      </p:sp>
      <p:sp>
        <p:nvSpPr>
          <p:cNvPr id="3" name="Marcador de número de diapositiva 2">
            <a:extLst>
              <a:ext uri="{FF2B5EF4-FFF2-40B4-BE49-F238E27FC236}">
                <a16:creationId xmlns:a16="http://schemas.microsoft.com/office/drawing/2014/main" id="{19A4A1A1-5907-465F-8A12-A45122DD6CE8}"/>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
        <p:nvSpPr>
          <p:cNvPr id="4" name="CuadroTexto 3">
            <a:extLst>
              <a:ext uri="{FF2B5EF4-FFF2-40B4-BE49-F238E27FC236}">
                <a16:creationId xmlns:a16="http://schemas.microsoft.com/office/drawing/2014/main" id="{442286A8-71AB-4DD5-9524-5428BCDA9C85}"/>
              </a:ext>
            </a:extLst>
          </p:cNvPr>
          <p:cNvSpPr txBox="1"/>
          <p:nvPr/>
        </p:nvSpPr>
        <p:spPr>
          <a:xfrm>
            <a:off x="2084832" y="2075688"/>
            <a:ext cx="8275320" cy="4339650"/>
          </a:xfrm>
          <a:prstGeom prst="rect">
            <a:avLst/>
          </a:prstGeom>
          <a:noFill/>
        </p:spPr>
        <p:txBody>
          <a:bodyPr wrap="square" rtlCol="0">
            <a:spAutoFit/>
          </a:bodyPr>
          <a:lstStyle/>
          <a:p>
            <a:pPr marL="285750" indent="-285750">
              <a:buClr>
                <a:srgbClr val="92D050"/>
              </a:buClr>
              <a:buFont typeface="Wingdings" panose="05000000000000000000" pitchFamily="2" charset="2"/>
              <a:buChar char="§"/>
            </a:pPr>
            <a:r>
              <a:rPr lang="es-AR" b="1" dirty="0">
                <a:solidFill>
                  <a:schemeClr val="tx1">
                    <a:lumMod val="75000"/>
                    <a:lumOff val="25000"/>
                  </a:schemeClr>
                </a:solidFill>
              </a:rPr>
              <a:t>DISTRIBUCION</a:t>
            </a:r>
          </a:p>
          <a:p>
            <a:pPr lvl="1">
              <a:buClr>
                <a:srgbClr val="92D050"/>
              </a:buClr>
            </a:pPr>
            <a:endParaRPr lang="es-AR" dirty="0">
              <a:solidFill>
                <a:schemeClr val="tx1">
                  <a:lumMod val="75000"/>
                  <a:lumOff val="25000"/>
                </a:schemeClr>
              </a:solidFill>
            </a:endParaRPr>
          </a:p>
          <a:p>
            <a:pPr lvl="1">
              <a:buClr>
                <a:srgbClr val="92D050"/>
              </a:buClr>
            </a:pPr>
            <a:r>
              <a:rPr lang="es-AR" dirty="0">
                <a:solidFill>
                  <a:schemeClr val="tx1">
                    <a:lumMod val="75000"/>
                    <a:lumOff val="25000"/>
                  </a:schemeClr>
                </a:solidFill>
              </a:rPr>
              <a:t>Comprenden todas las operaciones a partir de que el producto es puesto en el deposito de producto terminado en condiciones de ser vendido hasta el momento de su entrega a los compradores.</a:t>
            </a:r>
          </a:p>
          <a:p>
            <a:pPr lvl="1">
              <a:buClr>
                <a:srgbClr val="92D050"/>
              </a:buClr>
            </a:pPr>
            <a:r>
              <a:rPr lang="es-AR" dirty="0">
                <a:solidFill>
                  <a:schemeClr val="tx1">
                    <a:lumMod val="75000"/>
                    <a:lumOff val="25000"/>
                  </a:schemeClr>
                </a:solidFill>
              </a:rPr>
              <a:t>Comprende los costos para efectuar las ventas y entregarlas a los clientes, abarcando la promoción y el mantenimiento de los mercados.</a:t>
            </a:r>
          </a:p>
          <a:p>
            <a:pPr lvl="1">
              <a:buClr>
                <a:srgbClr val="92D050"/>
              </a:buClr>
            </a:pPr>
            <a:r>
              <a:rPr lang="es-AR" dirty="0">
                <a:solidFill>
                  <a:schemeClr val="tx1">
                    <a:lumMod val="75000"/>
                    <a:lumOff val="25000"/>
                  </a:schemeClr>
                </a:solidFill>
              </a:rPr>
              <a:t>Los mas comunes son:</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De realización de las ventas</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De propaganda y promoción</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De depósitos</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De transporte</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De crédito y cobranza</a:t>
            </a:r>
          </a:p>
          <a:p>
            <a:endParaRPr lang="es-AR" sz="2400" b="1" dirty="0"/>
          </a:p>
        </p:txBody>
      </p:sp>
    </p:spTree>
    <p:extLst>
      <p:ext uri="{BB962C8B-B14F-4D97-AF65-F5344CB8AC3E}">
        <p14:creationId xmlns:p14="http://schemas.microsoft.com/office/powerpoint/2010/main" val="3508356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74A38C-AF81-4E98-82E3-E20702E5DF4D}"/>
              </a:ext>
            </a:extLst>
          </p:cNvPr>
          <p:cNvSpPr>
            <a:spLocks noGrp="1"/>
          </p:cNvSpPr>
          <p:nvPr>
            <p:ph type="title"/>
          </p:nvPr>
        </p:nvSpPr>
        <p:spPr>
          <a:xfrm>
            <a:off x="2084832" y="512462"/>
            <a:ext cx="8911687" cy="1280890"/>
          </a:xfrm>
        </p:spPr>
        <p:txBody>
          <a:bodyPr/>
          <a:lstStyle/>
          <a:p>
            <a:r>
              <a:rPr lang="es-AR" b="1" dirty="0">
                <a:solidFill>
                  <a:schemeClr val="tx1">
                    <a:lumMod val="75000"/>
                    <a:lumOff val="25000"/>
                  </a:schemeClr>
                </a:solidFill>
              </a:rPr>
              <a:t>FUNCIONALES</a:t>
            </a:r>
            <a:endParaRPr lang="es-AR" dirty="0"/>
          </a:p>
        </p:txBody>
      </p:sp>
      <p:sp>
        <p:nvSpPr>
          <p:cNvPr id="3" name="Marcador de número de diapositiva 2">
            <a:extLst>
              <a:ext uri="{FF2B5EF4-FFF2-40B4-BE49-F238E27FC236}">
                <a16:creationId xmlns:a16="http://schemas.microsoft.com/office/drawing/2014/main" id="{19A4A1A1-5907-465F-8A12-A45122DD6CE8}"/>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
        <p:nvSpPr>
          <p:cNvPr id="4" name="CuadroTexto 3">
            <a:extLst>
              <a:ext uri="{FF2B5EF4-FFF2-40B4-BE49-F238E27FC236}">
                <a16:creationId xmlns:a16="http://schemas.microsoft.com/office/drawing/2014/main" id="{442286A8-71AB-4DD5-9524-5428BCDA9C85}"/>
              </a:ext>
            </a:extLst>
          </p:cNvPr>
          <p:cNvSpPr txBox="1"/>
          <p:nvPr/>
        </p:nvSpPr>
        <p:spPr>
          <a:xfrm>
            <a:off x="2084832" y="2075688"/>
            <a:ext cx="8275320" cy="4616648"/>
          </a:xfrm>
          <a:prstGeom prst="rect">
            <a:avLst/>
          </a:prstGeom>
          <a:noFill/>
        </p:spPr>
        <p:txBody>
          <a:bodyPr wrap="square" rtlCol="0">
            <a:spAutoFit/>
          </a:bodyPr>
          <a:lstStyle/>
          <a:p>
            <a:pPr marL="285750" indent="-285750">
              <a:buClr>
                <a:srgbClr val="92D050"/>
              </a:buClr>
              <a:buFont typeface="Wingdings" panose="05000000000000000000" pitchFamily="2" charset="2"/>
              <a:buChar char="§"/>
            </a:pPr>
            <a:r>
              <a:rPr lang="es-AR" b="1" dirty="0">
                <a:solidFill>
                  <a:schemeClr val="tx1">
                    <a:lumMod val="75000"/>
                    <a:lumOff val="25000"/>
                  </a:schemeClr>
                </a:solidFill>
              </a:rPr>
              <a:t>FINANCIACION</a:t>
            </a:r>
          </a:p>
          <a:p>
            <a:pPr lvl="1">
              <a:buClr>
                <a:srgbClr val="92D050"/>
              </a:buClr>
            </a:pPr>
            <a:endParaRPr lang="es-AR" dirty="0">
              <a:solidFill>
                <a:schemeClr val="tx1">
                  <a:lumMod val="75000"/>
                  <a:lumOff val="25000"/>
                </a:schemeClr>
              </a:solidFill>
            </a:endParaRPr>
          </a:p>
          <a:p>
            <a:pPr lvl="1">
              <a:buClr>
                <a:srgbClr val="92D050"/>
              </a:buClr>
            </a:pPr>
            <a:r>
              <a:rPr lang="es-AR" dirty="0">
                <a:solidFill>
                  <a:schemeClr val="tx1">
                    <a:lumMod val="75000"/>
                    <a:lumOff val="25000"/>
                  </a:schemeClr>
                </a:solidFill>
              </a:rPr>
              <a:t>Comprenden las actividades destinadas a proveer el capital necesario para el mejor desarrollo de todas las operaciones de la empresa.</a:t>
            </a:r>
          </a:p>
          <a:p>
            <a:pPr lvl="1">
              <a:buClr>
                <a:srgbClr val="92D050"/>
              </a:buClr>
            </a:pPr>
            <a:r>
              <a:rPr lang="es-AR" dirty="0">
                <a:solidFill>
                  <a:schemeClr val="tx1">
                    <a:lumMod val="75000"/>
                    <a:lumOff val="25000"/>
                  </a:schemeClr>
                </a:solidFill>
              </a:rPr>
              <a:t>La gestión financiera interviene no solo en la obtención de créditos sino que se encarga de la administración de los recursos financieros y que las inversiones  se realicen al menor costo.</a:t>
            </a:r>
          </a:p>
          <a:p>
            <a:pPr lvl="1">
              <a:buClr>
                <a:srgbClr val="92D050"/>
              </a:buClr>
            </a:pPr>
            <a:r>
              <a:rPr lang="es-AR" dirty="0">
                <a:solidFill>
                  <a:schemeClr val="tx1">
                    <a:lumMod val="75000"/>
                    <a:lumOff val="25000"/>
                  </a:schemeClr>
                </a:solidFill>
              </a:rPr>
              <a:t>Son rubros contables de esta función los:</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Intereses a acreedores</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Intereses por operaciones de pago con garantía real</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Intereses por pagos de impuestos</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Costos de créditos y cobranzas</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Políticas de descuentos</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Gestión de incobrables</a:t>
            </a:r>
          </a:p>
          <a:p>
            <a:endParaRPr lang="es-AR" sz="2400" b="1" dirty="0"/>
          </a:p>
        </p:txBody>
      </p:sp>
    </p:spTree>
    <p:extLst>
      <p:ext uri="{BB962C8B-B14F-4D97-AF65-F5344CB8AC3E}">
        <p14:creationId xmlns:p14="http://schemas.microsoft.com/office/powerpoint/2010/main" val="246818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74A38C-AF81-4E98-82E3-E20702E5DF4D}"/>
              </a:ext>
            </a:extLst>
          </p:cNvPr>
          <p:cNvSpPr>
            <a:spLocks noGrp="1"/>
          </p:cNvSpPr>
          <p:nvPr>
            <p:ph type="title"/>
          </p:nvPr>
        </p:nvSpPr>
        <p:spPr>
          <a:xfrm>
            <a:off x="2084832" y="512462"/>
            <a:ext cx="8911687" cy="1280890"/>
          </a:xfrm>
        </p:spPr>
        <p:txBody>
          <a:bodyPr/>
          <a:lstStyle/>
          <a:p>
            <a:r>
              <a:rPr lang="es-AR" b="1" dirty="0">
                <a:solidFill>
                  <a:schemeClr val="tx1">
                    <a:lumMod val="75000"/>
                    <a:lumOff val="25000"/>
                  </a:schemeClr>
                </a:solidFill>
              </a:rPr>
              <a:t>FUNCIONALES</a:t>
            </a:r>
            <a:endParaRPr lang="es-AR" dirty="0"/>
          </a:p>
        </p:txBody>
      </p:sp>
      <p:sp>
        <p:nvSpPr>
          <p:cNvPr id="3" name="Marcador de número de diapositiva 2">
            <a:extLst>
              <a:ext uri="{FF2B5EF4-FFF2-40B4-BE49-F238E27FC236}">
                <a16:creationId xmlns:a16="http://schemas.microsoft.com/office/drawing/2014/main" id="{19A4A1A1-5907-465F-8A12-A45122DD6CE8}"/>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
        <p:nvSpPr>
          <p:cNvPr id="4" name="CuadroTexto 3">
            <a:extLst>
              <a:ext uri="{FF2B5EF4-FFF2-40B4-BE49-F238E27FC236}">
                <a16:creationId xmlns:a16="http://schemas.microsoft.com/office/drawing/2014/main" id="{442286A8-71AB-4DD5-9524-5428BCDA9C85}"/>
              </a:ext>
            </a:extLst>
          </p:cNvPr>
          <p:cNvSpPr txBox="1"/>
          <p:nvPr/>
        </p:nvSpPr>
        <p:spPr>
          <a:xfrm>
            <a:off x="2084832" y="2075688"/>
            <a:ext cx="8275320" cy="2123658"/>
          </a:xfrm>
          <a:prstGeom prst="rect">
            <a:avLst/>
          </a:prstGeom>
          <a:noFill/>
        </p:spPr>
        <p:txBody>
          <a:bodyPr wrap="square" rtlCol="0">
            <a:spAutoFit/>
          </a:bodyPr>
          <a:lstStyle/>
          <a:p>
            <a:pPr marL="285750" indent="-285750">
              <a:buClr>
                <a:srgbClr val="92D050"/>
              </a:buClr>
              <a:buFont typeface="Wingdings" panose="05000000000000000000" pitchFamily="2" charset="2"/>
              <a:buChar char="§"/>
            </a:pPr>
            <a:r>
              <a:rPr lang="es-AR" b="1" dirty="0">
                <a:solidFill>
                  <a:schemeClr val="tx1">
                    <a:lumMod val="75000"/>
                    <a:lumOff val="25000"/>
                  </a:schemeClr>
                </a:solidFill>
              </a:rPr>
              <a:t>ADMINISTRACION</a:t>
            </a:r>
          </a:p>
          <a:p>
            <a:pPr lvl="1">
              <a:buClr>
                <a:srgbClr val="92D050"/>
              </a:buClr>
            </a:pPr>
            <a:endParaRPr lang="es-AR" dirty="0">
              <a:solidFill>
                <a:schemeClr val="tx1">
                  <a:lumMod val="75000"/>
                  <a:lumOff val="25000"/>
                </a:schemeClr>
              </a:solidFill>
            </a:endParaRPr>
          </a:p>
          <a:p>
            <a:pPr lvl="1">
              <a:buClr>
                <a:srgbClr val="92D050"/>
              </a:buClr>
            </a:pPr>
            <a:r>
              <a:rPr lang="es-AR" dirty="0">
                <a:solidFill>
                  <a:schemeClr val="tx1">
                    <a:lumMod val="75000"/>
                    <a:lumOff val="25000"/>
                  </a:schemeClr>
                </a:solidFill>
              </a:rPr>
              <a:t>Comprenden las funciones de:</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Dirección</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Planeamiento</a:t>
            </a:r>
          </a:p>
          <a:p>
            <a:pPr marL="1257300" lvl="2" indent="-342900">
              <a:buClr>
                <a:srgbClr val="92D050"/>
              </a:buClr>
              <a:buFont typeface="Arial" panose="020B0604020202020204" pitchFamily="34" charset="0"/>
              <a:buChar char="•"/>
            </a:pPr>
            <a:r>
              <a:rPr lang="es-AR" dirty="0">
                <a:solidFill>
                  <a:schemeClr val="tx1">
                    <a:lumMod val="75000"/>
                    <a:lumOff val="25000"/>
                  </a:schemeClr>
                </a:solidFill>
              </a:rPr>
              <a:t>Gestión general de la empresa</a:t>
            </a:r>
          </a:p>
          <a:p>
            <a:endParaRPr lang="es-AR" sz="2400" b="1" dirty="0"/>
          </a:p>
        </p:txBody>
      </p:sp>
    </p:spTree>
    <p:extLst>
      <p:ext uri="{BB962C8B-B14F-4D97-AF65-F5344CB8AC3E}">
        <p14:creationId xmlns:p14="http://schemas.microsoft.com/office/powerpoint/2010/main" val="3962485445"/>
      </p:ext>
    </p:extLst>
  </p:cSld>
  <p:clrMapOvr>
    <a:masterClrMapping/>
  </p:clrMapOvr>
</p:sld>
</file>

<file path=ppt/theme/theme1.xml><?xml version="1.0" encoding="utf-8"?>
<a:theme xmlns:a="http://schemas.openxmlformats.org/drawingml/2006/main" name="Espiral">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2360</TotalTime>
  <Words>1050</Words>
  <Application>Microsoft Office PowerPoint</Application>
  <PresentationFormat>Panorámica</PresentationFormat>
  <Paragraphs>179</Paragraphs>
  <Slides>19</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19</vt:i4>
      </vt:variant>
    </vt:vector>
  </HeadingPairs>
  <TitlesOfParts>
    <vt:vector size="26" baseType="lpstr">
      <vt:lpstr>Arial</vt:lpstr>
      <vt:lpstr>Calibri</vt:lpstr>
      <vt:lpstr>Century Gothic</vt:lpstr>
      <vt:lpstr>Tahoma</vt:lpstr>
      <vt:lpstr>Wingdings</vt:lpstr>
      <vt:lpstr>Wingdings 3</vt:lpstr>
      <vt:lpstr>Espiral</vt:lpstr>
      <vt:lpstr>COSTOS Y PRESUPUESTOS</vt:lpstr>
      <vt:lpstr>COSTOS INDUSTRIALES</vt:lpstr>
      <vt:lpstr>COSTOS INDUSTRIALES</vt:lpstr>
      <vt:lpstr>ESTRUCTURA DEL COSTO</vt:lpstr>
      <vt:lpstr>ESTRUCTURA DEL COSTO</vt:lpstr>
      <vt:lpstr>ESTRUCTURA DEL COSTO</vt:lpstr>
      <vt:lpstr>ESTRUCTURA DEL COSTO</vt:lpstr>
      <vt:lpstr>ESTRUCTURA DEL COSTO</vt:lpstr>
      <vt:lpstr>ESTRUCTURA DEL COSTO</vt:lpstr>
      <vt:lpstr>Presentación de PowerPoint</vt:lpstr>
      <vt:lpstr>CLASIFICACION DE LOS COSTOS</vt:lpstr>
      <vt:lpstr>CLASIFICACION DE LOS COSTOS</vt:lpstr>
      <vt:lpstr>CLASIFICACION DE LOS COSTOS</vt:lpstr>
      <vt:lpstr>CLASIFICACION DE LOS COSTOS</vt:lpstr>
      <vt:lpstr>CLASIFICACION DE LOS COSTOS</vt:lpstr>
      <vt:lpstr>FUNCIONALES</vt:lpstr>
      <vt:lpstr>FUNCIONALES</vt:lpstr>
      <vt:lpstr>FUNCIONALES</vt:lpstr>
      <vt:lpstr>FUNCIONALES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COSTOS Y PRESUPUESTOS</dc:title>
  <dc:creator>gustavo massucco</dc:creator>
  <cp:lastModifiedBy>gustavo massucco</cp:lastModifiedBy>
  <cp:revision>124</cp:revision>
  <dcterms:created xsi:type="dcterms:W3CDTF">2020-04-19T20:11:04Z</dcterms:created>
  <dcterms:modified xsi:type="dcterms:W3CDTF">2020-05-22T21:22:30Z</dcterms:modified>
</cp:coreProperties>
</file>