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83" r:id="rId4"/>
    <p:sldId id="282" r:id="rId5"/>
    <p:sldId id="384" r:id="rId6"/>
    <p:sldId id="386" r:id="rId7"/>
    <p:sldId id="28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14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C9B8A1-6640-4F38-BB4E-1E9F9C2C19B9}" type="datetimeFigureOut">
              <a:rPr lang="es-AR" smtClean="0"/>
              <a:t>26/3/2023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0F97B9-2656-415E-A184-23FE4FB7E54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66305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EE2AAB2-65CB-4D67-BAD3-5C8D9202A1C6}" type="datetime1">
              <a:rPr lang="en-US" smtClean="0"/>
              <a:t>3/26/2023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4D5B-DD50-48B9-8403-486347AFB6DB}" type="datetime1">
              <a:rPr lang="en-US" smtClean="0"/>
              <a:t>3/26/2023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73D0386-E5DC-4EBB-A814-AF517805B9D3}" type="datetime1">
              <a:rPr lang="en-US" smtClean="0"/>
              <a:t>3/26/2023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51A7B-4D5F-4ECE-83D8-126F76342843}" type="datetime1">
              <a:rPr lang="en-US" smtClean="0"/>
              <a:t>3/26/2023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377B-FEE7-46DA-BCD5-55A056AA613B}" type="datetime1">
              <a:rPr lang="en-US" smtClean="0"/>
              <a:t>3/26/2023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19E75-FF2C-49D5-A665-0ADE60EC2095}" type="datetime1">
              <a:rPr lang="en-US" smtClean="0"/>
              <a:t>3/26/2023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9D4F-38AF-4CF1-B2DB-49EF040A229A}" type="datetime1">
              <a:rPr lang="en-US" smtClean="0"/>
              <a:t>3/26/2023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3245EC2-CADF-412E-863E-46E813BA6128}" type="datetime1">
              <a:rPr lang="en-US" smtClean="0"/>
              <a:t>3/26/2023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88DE-ACD6-4235-BA31-F547B3B2DFAD}" type="datetime1">
              <a:rPr lang="en-US" smtClean="0"/>
              <a:t>3/26/2023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568CD-B1BF-4247-80FD-9D1C3470751E}" type="datetime1">
              <a:rPr lang="en-US" smtClean="0"/>
              <a:t>3/26/2023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C10B516-518F-4CD1-B61B-4EA5BC3EFC90}" type="datetime1">
              <a:rPr lang="en-US" smtClean="0"/>
              <a:t>3/26/2023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0FEEB4C-B754-4B45-9205-0B15E6E0C20A}" type="datetime1">
              <a:rPr lang="en-US" smtClean="0"/>
              <a:t>3/26/2023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gmassucco@frba.utn.edu.ar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306E6-1B10-404B-9241-555AA660FC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COSTOS Y PRESUPUESTOS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30CFD5-6EBA-4A5F-BB6A-F8A38D307D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Ingeniero Gustavo Massucco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B4190FB-1187-46FD-9AF2-9104188A7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078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38C4D-20A5-45D1-927A-3B5258C10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COSTOS Y PRESUPUESTOS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B4953-6F02-48C0-9576-D823F5E5B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681582"/>
            <a:ext cx="11227374" cy="887458"/>
          </a:xfrm>
        </p:spPr>
        <p:txBody>
          <a:bodyPr anchor="t">
            <a:normAutofit lnSpcReduction="10000"/>
          </a:bodyPr>
          <a:lstStyle/>
          <a:p>
            <a:r>
              <a:rPr lang="es-ES" sz="2400" dirty="0"/>
              <a:t>Profesor: </a:t>
            </a:r>
            <a:r>
              <a:rPr lang="es-ES" sz="2400" dirty="0" err="1"/>
              <a:t>Ing</a:t>
            </a:r>
            <a:r>
              <a:rPr lang="es-ES" sz="2400" dirty="0"/>
              <a:t> Gustavo Massucco</a:t>
            </a:r>
          </a:p>
          <a:p>
            <a:pPr lvl="1"/>
            <a:r>
              <a:rPr lang="es-ES" u="sng" dirty="0">
                <a:hlinkClick r:id="rId2"/>
              </a:rPr>
              <a:t>gmassucco@frba.utn.edu.ar</a:t>
            </a:r>
            <a:endParaRPr lang="es-ES" u="sng" dirty="0"/>
          </a:p>
          <a:p>
            <a:pPr marL="324000" lvl="1" indent="0">
              <a:buNone/>
            </a:pPr>
            <a:endParaRPr lang="es-ES" u="sng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2359990-780C-4BBA-A3AB-A6018C4F5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9EDEF6C-9D91-4978-8B5E-E7E3F18D83A4}"/>
              </a:ext>
            </a:extLst>
          </p:cNvPr>
          <p:cNvSpPr txBox="1">
            <a:spLocks/>
          </p:cNvSpPr>
          <p:nvPr/>
        </p:nvSpPr>
        <p:spPr>
          <a:xfrm>
            <a:off x="581192" y="4176418"/>
            <a:ext cx="11227374" cy="88745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400" dirty="0"/>
              <a:t>JTP: Lic. Valeria Orlando</a:t>
            </a:r>
          </a:p>
          <a:p>
            <a:pPr lvl="1"/>
            <a:r>
              <a:rPr lang="es-ES" u="sng" dirty="0">
                <a:hlinkClick r:id="rId2"/>
              </a:rPr>
              <a:t>vorlando@frba.utn.edu.ar</a:t>
            </a:r>
            <a:endParaRPr lang="es-ES" u="sng" dirty="0"/>
          </a:p>
          <a:p>
            <a:pPr marL="324000" lvl="1" indent="0">
              <a:buFont typeface="Wingdings 2" panose="05020102010507070707" pitchFamily="18" charset="2"/>
              <a:buNone/>
            </a:pPr>
            <a:endParaRPr lang="es-ES" u="sng" dirty="0"/>
          </a:p>
        </p:txBody>
      </p:sp>
    </p:spTree>
    <p:extLst>
      <p:ext uri="{BB962C8B-B14F-4D97-AF65-F5344CB8AC3E}">
        <p14:creationId xmlns:p14="http://schemas.microsoft.com/office/powerpoint/2010/main" val="190653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38C4D-20A5-45D1-927A-3B5258C10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COSTOS Y PRESUPUESTOS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2359990-780C-4BBA-A3AB-A6018C4F5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03396A9-A480-4E14-B8D4-4799CD476BD0}"/>
              </a:ext>
            </a:extLst>
          </p:cNvPr>
          <p:cNvSpPr txBox="1"/>
          <p:nvPr/>
        </p:nvSpPr>
        <p:spPr>
          <a:xfrm>
            <a:off x="879868" y="2398085"/>
            <a:ext cx="9810954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sz="2000" dirty="0" err="1">
                <a:solidFill>
                  <a:schemeClr val="tx2"/>
                </a:solidFill>
              </a:rPr>
              <a:t>Bibliografia</a:t>
            </a:r>
            <a:r>
              <a:rPr lang="es-AR" sz="2000" dirty="0">
                <a:solidFill>
                  <a:schemeClr val="tx2"/>
                </a:solidFill>
              </a:rPr>
              <a:t>:</a:t>
            </a:r>
          </a:p>
          <a:p>
            <a:pPr>
              <a:buClr>
                <a:schemeClr val="accent2"/>
              </a:buClr>
            </a:pPr>
            <a:endParaRPr lang="es-AR" dirty="0"/>
          </a:p>
          <a:p>
            <a:pPr marL="742950" lvl="1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sz="2000" b="1" dirty="0">
                <a:solidFill>
                  <a:schemeClr val="tx2"/>
                </a:solidFill>
              </a:rPr>
              <a:t>“Tratado de contabilidad y costos”  </a:t>
            </a:r>
          </a:p>
          <a:p>
            <a:pPr lvl="2">
              <a:buClr>
                <a:schemeClr val="accent2"/>
              </a:buClr>
            </a:pPr>
            <a:r>
              <a:rPr lang="es-AR" sz="2000" dirty="0">
                <a:solidFill>
                  <a:schemeClr val="tx2"/>
                </a:solidFill>
              </a:rPr>
              <a:t>	Autor: Carlos </a:t>
            </a:r>
            <a:r>
              <a:rPr lang="es-AR" sz="2000" dirty="0" err="1">
                <a:solidFill>
                  <a:schemeClr val="tx2"/>
                </a:solidFill>
              </a:rPr>
              <a:t>Gimenez</a:t>
            </a:r>
            <a:r>
              <a:rPr lang="es-AR" sz="2000" dirty="0">
                <a:solidFill>
                  <a:schemeClr val="tx2"/>
                </a:solidFill>
              </a:rPr>
              <a:t> - Ed. Macchi</a:t>
            </a:r>
          </a:p>
          <a:p>
            <a:pPr lvl="2">
              <a:buClr>
                <a:schemeClr val="accent2"/>
              </a:buClr>
            </a:pPr>
            <a:endParaRPr lang="es-AR" sz="2000" dirty="0">
              <a:solidFill>
                <a:schemeClr val="tx2"/>
              </a:solidFill>
            </a:endParaRPr>
          </a:p>
          <a:p>
            <a:pPr marL="742950" lvl="1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sz="2000" b="1" dirty="0">
                <a:solidFill>
                  <a:schemeClr val="tx2"/>
                </a:solidFill>
              </a:rPr>
              <a:t>“Costos”  </a:t>
            </a:r>
          </a:p>
          <a:p>
            <a:pPr lvl="2">
              <a:buClr>
                <a:schemeClr val="accent2"/>
              </a:buClr>
            </a:pPr>
            <a:r>
              <a:rPr lang="es-AR" sz="2000" dirty="0">
                <a:solidFill>
                  <a:schemeClr val="tx2"/>
                </a:solidFill>
              </a:rPr>
              <a:t>	Autor: Carlos </a:t>
            </a:r>
            <a:r>
              <a:rPr lang="es-AR" sz="2000" dirty="0" err="1">
                <a:solidFill>
                  <a:schemeClr val="tx2"/>
                </a:solidFill>
              </a:rPr>
              <a:t>Vazquez</a:t>
            </a:r>
            <a:r>
              <a:rPr lang="es-AR" sz="2000" dirty="0">
                <a:solidFill>
                  <a:schemeClr val="tx2"/>
                </a:solidFill>
              </a:rPr>
              <a:t> – Ed Macchi</a:t>
            </a:r>
          </a:p>
          <a:p>
            <a:pPr lvl="2">
              <a:buClr>
                <a:schemeClr val="accent2"/>
              </a:buClr>
            </a:pPr>
            <a:endParaRPr lang="es-AR" sz="2000" dirty="0">
              <a:solidFill>
                <a:schemeClr val="tx2"/>
              </a:solidFill>
            </a:endParaRPr>
          </a:p>
          <a:p>
            <a:pPr marL="742950" lvl="1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sz="2000" b="1" dirty="0">
                <a:solidFill>
                  <a:schemeClr val="tx2"/>
                </a:solidFill>
              </a:rPr>
              <a:t>“Costos para empresarios”</a:t>
            </a:r>
          </a:p>
          <a:p>
            <a:pPr lvl="2">
              <a:buClr>
                <a:schemeClr val="accent2"/>
              </a:buClr>
            </a:pPr>
            <a:r>
              <a:rPr lang="es-AR" sz="2000" dirty="0">
                <a:solidFill>
                  <a:schemeClr val="tx2"/>
                </a:solidFill>
              </a:rPr>
              <a:t>	Autor: Juan Carlos </a:t>
            </a:r>
            <a:r>
              <a:rPr lang="es-AR" sz="2000" dirty="0" err="1">
                <a:solidFill>
                  <a:schemeClr val="tx2"/>
                </a:solidFill>
              </a:rPr>
              <a:t>Gimenez</a:t>
            </a:r>
            <a:r>
              <a:rPr lang="es-AR" sz="2000" dirty="0">
                <a:solidFill>
                  <a:schemeClr val="tx2"/>
                </a:solidFill>
              </a:rPr>
              <a:t> y colaboradores</a:t>
            </a:r>
          </a:p>
          <a:p>
            <a:pPr lvl="2">
              <a:buClr>
                <a:schemeClr val="accent2"/>
              </a:buClr>
            </a:pPr>
            <a:endParaRPr lang="es-AR" sz="2000" dirty="0">
              <a:solidFill>
                <a:schemeClr val="tx2"/>
              </a:solidFill>
            </a:endParaRPr>
          </a:p>
          <a:p>
            <a:pPr marL="742950" lvl="1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sz="2000" b="1" dirty="0">
                <a:solidFill>
                  <a:schemeClr val="tx2"/>
                </a:solidFill>
              </a:rPr>
              <a:t>“Sistema de costeo ABC”</a:t>
            </a:r>
          </a:p>
          <a:p>
            <a:pPr lvl="2">
              <a:buClr>
                <a:schemeClr val="accent2"/>
              </a:buClr>
            </a:pPr>
            <a:r>
              <a:rPr lang="es-AR" sz="2000" dirty="0">
                <a:solidFill>
                  <a:schemeClr val="tx2"/>
                </a:solidFill>
              </a:rPr>
              <a:t>	Autor: Eduardo </a:t>
            </a:r>
            <a:r>
              <a:rPr lang="es-AR" sz="2000" dirty="0" err="1">
                <a:solidFill>
                  <a:schemeClr val="tx2"/>
                </a:solidFill>
              </a:rPr>
              <a:t>Bendersky</a:t>
            </a:r>
            <a:endParaRPr lang="es-AR" sz="2000" dirty="0">
              <a:solidFill>
                <a:schemeClr val="tx2"/>
              </a:solidFill>
            </a:endParaRPr>
          </a:p>
          <a:p>
            <a:pPr marL="742950" lvl="1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s-AR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974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FB02A2-C64E-4033-871E-3E8FB38DE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COSTOS Y PRESUPUESTOS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A2FAA8-F36B-4A41-ACEC-ECBB30C4A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642959"/>
            <a:ext cx="11029615" cy="3678303"/>
          </a:xfrm>
        </p:spPr>
        <p:txBody>
          <a:bodyPr anchor="t">
            <a:normAutofit/>
          </a:bodyPr>
          <a:lstStyle/>
          <a:p>
            <a:r>
              <a:rPr lang="es-AR" sz="2000" b="1" dirty="0"/>
              <a:t>Apuntes de cátedra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AR" sz="2000" dirty="0"/>
              <a:t>BL6CT3  “Costos Industriales” – Autor Jorge Cosentino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AR" sz="2000" dirty="0"/>
              <a:t>DP1 “Trabajos Prácticos”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AR" sz="2000" dirty="0"/>
              <a:t>Trabajos Prácticos 1er cuatrimestre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AR" sz="2000" dirty="0"/>
              <a:t>Trabajos Prácticos 2do cuatrimestre 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CEC0D12-51D6-467A-BC8A-6203BB668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653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6B18B2-F5C0-0178-7C26-C0DB7A2E6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086" y="0"/>
            <a:ext cx="8928992" cy="523220"/>
          </a:xfrm>
        </p:spPr>
        <p:txBody>
          <a:bodyPr>
            <a:normAutofit/>
          </a:bodyPr>
          <a:lstStyle/>
          <a:p>
            <a:r>
              <a:rPr lang="es-AR" dirty="0">
                <a:solidFill>
                  <a:schemeClr val="tx1"/>
                </a:solidFill>
              </a:rPr>
              <a:t>Herramientas preferidas por los empleadores</a:t>
            </a:r>
            <a:r>
              <a:rPr lang="es-AR" dirty="0"/>
              <a:t>. </a:t>
            </a:r>
          </a:p>
        </p:txBody>
      </p:sp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26DAE2B-DCA3-ADBD-DB9C-00212F97F7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675" t="24768" r="11806" b="32677"/>
          <a:stretch/>
        </p:blipFill>
        <p:spPr bwMode="auto">
          <a:xfrm>
            <a:off x="2855640" y="2060848"/>
            <a:ext cx="6869884" cy="446449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E02D439-EB9F-166A-464E-DFFD7DF47760}"/>
              </a:ext>
            </a:extLst>
          </p:cNvPr>
          <p:cNvSpPr txBox="1"/>
          <p:nvPr/>
        </p:nvSpPr>
        <p:spPr>
          <a:xfrm>
            <a:off x="2099556" y="938091"/>
            <a:ext cx="79928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Según las últimas investigaciones y conclusiones, los empleadores buscan candidatos que tengan las siguientes habilidades:</a:t>
            </a:r>
          </a:p>
        </p:txBody>
      </p:sp>
    </p:spTree>
    <p:extLst>
      <p:ext uri="{BB962C8B-B14F-4D97-AF65-F5344CB8AC3E}">
        <p14:creationId xmlns:p14="http://schemas.microsoft.com/office/powerpoint/2010/main" val="4277600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6B18B2-F5C0-0178-7C26-C0DB7A2E6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232" y="15878"/>
            <a:ext cx="8928992" cy="523220"/>
          </a:xfrm>
        </p:spPr>
        <p:txBody>
          <a:bodyPr>
            <a:normAutofit/>
          </a:bodyPr>
          <a:lstStyle/>
          <a:p>
            <a:r>
              <a:rPr lang="es-AR" dirty="0">
                <a:solidFill>
                  <a:schemeClr val="tx1"/>
                </a:solidFill>
              </a:rPr>
              <a:t>Herramientas preferidas por los empleadores. </a:t>
            </a:r>
          </a:p>
        </p:txBody>
      </p:sp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36885EF5-646C-C355-0F1A-F0DBE184BF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708" t="49666" r="27469" b="28512"/>
          <a:stretch/>
        </p:blipFill>
        <p:spPr bwMode="auto">
          <a:xfrm>
            <a:off x="2687895" y="1996550"/>
            <a:ext cx="6816209" cy="32403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EEE4498-8426-0562-F7CE-3450BD98D887}"/>
              </a:ext>
            </a:extLst>
          </p:cNvPr>
          <p:cNvSpPr txBox="1"/>
          <p:nvPr/>
        </p:nvSpPr>
        <p:spPr>
          <a:xfrm>
            <a:off x="2855640" y="5661248"/>
            <a:ext cx="65281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Referencia sugerida Pearson</a:t>
            </a:r>
            <a:r>
              <a:rPr lang="es-AR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(2019). </a:t>
            </a:r>
            <a:r>
              <a:rPr lang="es-AR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Opportunity</a:t>
            </a:r>
            <a:r>
              <a:rPr lang="es-AR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AR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s-AR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AR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Higher</a:t>
            </a:r>
            <a:r>
              <a:rPr lang="es-AR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AR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Education</a:t>
            </a:r>
            <a:r>
              <a:rPr lang="es-AR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es-AR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s-AR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Era </a:t>
            </a:r>
            <a:r>
              <a:rPr lang="es-AR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es-AR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AR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s-AR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AR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Talent</a:t>
            </a:r>
            <a:r>
              <a:rPr lang="es-AR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AR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Economy</a:t>
            </a:r>
            <a:r>
              <a:rPr lang="es-AR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London: Pearson. 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76574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979BC44-E588-4E07-A639-A57F59AE4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1E18573-7D7B-409C-B753-2B2A728750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02" t="16650" r="43841" b="13132"/>
          <a:stretch/>
        </p:blipFill>
        <p:spPr>
          <a:xfrm>
            <a:off x="2262928" y="459643"/>
            <a:ext cx="7122943" cy="631080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164C614-5A4F-469F-8F6D-E51B2B9F6F1D}"/>
              </a:ext>
            </a:extLst>
          </p:cNvPr>
          <p:cNvSpPr txBox="1"/>
          <p:nvPr/>
        </p:nvSpPr>
        <p:spPr>
          <a:xfrm>
            <a:off x="4574042" y="76263"/>
            <a:ext cx="4124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MERCURIO - CHILE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8314339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1857</TotalTime>
  <Words>183</Words>
  <Application>Microsoft Office PowerPoint</Application>
  <PresentationFormat>Panorámica</PresentationFormat>
  <Paragraphs>37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Arial</vt:lpstr>
      <vt:lpstr>Calibri</vt:lpstr>
      <vt:lpstr>Gill Sans MT</vt:lpstr>
      <vt:lpstr>Roboto Light</vt:lpstr>
      <vt:lpstr>Wingdings 2</vt:lpstr>
      <vt:lpstr>Dividend</vt:lpstr>
      <vt:lpstr>COSTOS Y PRESUPUESTOS</vt:lpstr>
      <vt:lpstr>COSTOS Y PRESUPUESTOS</vt:lpstr>
      <vt:lpstr>COSTOS Y PRESUPUESTOS</vt:lpstr>
      <vt:lpstr>COSTOS Y PRESUPUESTOS</vt:lpstr>
      <vt:lpstr>Herramientas preferidas por los empleadores. </vt:lpstr>
      <vt:lpstr>Herramientas preferidas por los empleadores. 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Capitulo  : Producción y costos</dc:title>
  <dc:creator>gustavo massucco</dc:creator>
  <cp:lastModifiedBy>gustavo massucco</cp:lastModifiedBy>
  <cp:revision>114</cp:revision>
  <dcterms:created xsi:type="dcterms:W3CDTF">2020-03-18T15:15:03Z</dcterms:created>
  <dcterms:modified xsi:type="dcterms:W3CDTF">2023-03-26T21:59:07Z</dcterms:modified>
</cp:coreProperties>
</file>