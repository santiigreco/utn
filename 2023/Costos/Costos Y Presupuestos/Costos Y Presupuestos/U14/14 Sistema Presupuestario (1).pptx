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70" r:id="rId3"/>
    <p:sldId id="271" r:id="rId4"/>
    <p:sldId id="269" r:id="rId5"/>
    <p:sldId id="259" r:id="rId6"/>
    <p:sldId id="272" r:id="rId7"/>
    <p:sldId id="282" r:id="rId8"/>
    <p:sldId id="258" r:id="rId9"/>
    <p:sldId id="274" r:id="rId10"/>
    <p:sldId id="262" r:id="rId11"/>
    <p:sldId id="263" r:id="rId12"/>
    <p:sldId id="275" r:id="rId13"/>
    <p:sldId id="264" r:id="rId14"/>
    <p:sldId id="265" r:id="rId15"/>
    <p:sldId id="266" r:id="rId16"/>
    <p:sldId id="267" r:id="rId17"/>
    <p:sldId id="276" r:id="rId18"/>
    <p:sldId id="290" r:id="rId19"/>
    <p:sldId id="278" r:id="rId20"/>
    <p:sldId id="279" r:id="rId21"/>
    <p:sldId id="280" r:id="rId22"/>
    <p:sldId id="309" r:id="rId23"/>
    <p:sldId id="281" r:id="rId24"/>
    <p:sldId id="283" r:id="rId25"/>
    <p:sldId id="284" r:id="rId26"/>
    <p:sldId id="285" r:id="rId27"/>
    <p:sldId id="286" r:id="rId28"/>
    <p:sldId id="287" r:id="rId29"/>
    <p:sldId id="288" r:id="rId30"/>
    <p:sldId id="289" r:id="rId31"/>
    <p:sldId id="291" r:id="rId32"/>
    <p:sldId id="292" r:id="rId33"/>
    <p:sldId id="293" r:id="rId34"/>
    <p:sldId id="294" r:id="rId35"/>
    <p:sldId id="295" r:id="rId36"/>
    <p:sldId id="296" r:id="rId37"/>
    <p:sldId id="297" r:id="rId38"/>
    <p:sldId id="298" r:id="rId39"/>
    <p:sldId id="299" r:id="rId40"/>
    <p:sldId id="304" r:id="rId41"/>
    <p:sldId id="300" r:id="rId42"/>
    <p:sldId id="305" r:id="rId43"/>
    <p:sldId id="302" r:id="rId44"/>
    <p:sldId id="303" r:id="rId45"/>
    <p:sldId id="301" r:id="rId46"/>
    <p:sldId id="306" r:id="rId47"/>
    <p:sldId id="307" r:id="rId48"/>
    <p:sldId id="308"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10/30/2022</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‹Nº›</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10/30/2022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447191" y="2824269"/>
            <a:ext cx="4645152" cy="264445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412362" y="2821491"/>
            <a:ext cx="4645152" cy="263737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10/30/2022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10/30/2022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10/30/2022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10/30/2022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609600" y="274639"/>
            <a:ext cx="10972800" cy="5851525"/>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Tree>
    <p:extLst>
      <p:ext uri="{BB962C8B-B14F-4D97-AF65-F5344CB8AC3E}">
        <p14:creationId xmlns:p14="http://schemas.microsoft.com/office/powerpoint/2010/main" val="531808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10/30/2022</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‹Nº›</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 name="Text Box 20">
            <a:extLst>
              <a:ext uri="{FF2B5EF4-FFF2-40B4-BE49-F238E27FC236}">
                <a16:creationId xmlns:a16="http://schemas.microsoft.com/office/drawing/2014/main" id="{D6FE80F3-C066-43B3-9D4D-B06B0B8152F3}"/>
              </a:ext>
            </a:extLst>
          </p:cNvPr>
          <p:cNvSpPr txBox="1">
            <a:spLocks noChangeArrowheads="1"/>
          </p:cNvSpPr>
          <p:nvPr/>
        </p:nvSpPr>
        <p:spPr bwMode="auto">
          <a:xfrm>
            <a:off x="1724946" y="840359"/>
            <a:ext cx="925699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lang="es-MX" altLang="es-AR" sz="4800" dirty="0">
                <a:latin typeface="Century Gothic" panose="020B0502020202020204" pitchFamily="34" charset="0"/>
              </a:rPr>
              <a:t>COSTOS Y PRESUPUESTOS</a:t>
            </a:r>
          </a:p>
        </p:txBody>
      </p:sp>
      <p:sp>
        <p:nvSpPr>
          <p:cNvPr id="3093" name="Text Box 21">
            <a:extLst>
              <a:ext uri="{FF2B5EF4-FFF2-40B4-BE49-F238E27FC236}">
                <a16:creationId xmlns:a16="http://schemas.microsoft.com/office/drawing/2014/main" id="{A0F24E4C-3283-4B1E-BBB8-BFCD3C05082A}"/>
              </a:ext>
            </a:extLst>
          </p:cNvPr>
          <p:cNvSpPr txBox="1">
            <a:spLocks noChangeArrowheads="1"/>
          </p:cNvSpPr>
          <p:nvPr/>
        </p:nvSpPr>
        <p:spPr bwMode="auto">
          <a:xfrm>
            <a:off x="3155823" y="2497360"/>
            <a:ext cx="588035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lang="es-MX" altLang="es-AR" sz="4000" dirty="0">
                <a:effectLst>
                  <a:outerShdw blurRad="38100" dist="38100" dir="2700000" algn="tl">
                    <a:srgbClr val="C0C0C0"/>
                  </a:outerShdw>
                </a:effectLst>
                <a:latin typeface="Century Gothic" panose="020B0502020202020204" pitchFamily="34" charset="0"/>
              </a:rPr>
              <a:t>Sistema Presupuestario</a:t>
            </a:r>
          </a:p>
        </p:txBody>
      </p:sp>
      <p:sp>
        <p:nvSpPr>
          <p:cNvPr id="3094" name="Text Box 22">
            <a:extLst>
              <a:ext uri="{FF2B5EF4-FFF2-40B4-BE49-F238E27FC236}">
                <a16:creationId xmlns:a16="http://schemas.microsoft.com/office/drawing/2014/main" id="{A0955041-514B-4BFA-B857-7C9426A09C34}"/>
              </a:ext>
            </a:extLst>
          </p:cNvPr>
          <p:cNvSpPr txBox="1">
            <a:spLocks noChangeArrowheads="1"/>
          </p:cNvSpPr>
          <p:nvPr/>
        </p:nvSpPr>
        <p:spPr bwMode="auto">
          <a:xfrm>
            <a:off x="530352" y="5212842"/>
            <a:ext cx="40142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lang="es-MX" altLang="es-AR" sz="2400" dirty="0">
                <a:effectLst>
                  <a:outerShdw blurRad="38100" dist="38100" dir="2700000" algn="tl">
                    <a:srgbClr val="C0C0C0"/>
                  </a:outerShdw>
                </a:effectLst>
                <a:latin typeface="Century Gothic" panose="020B0502020202020204" pitchFamily="34" charset="0"/>
              </a:rPr>
              <a:t>Ing. Gustavo Massucco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5">
            <a:extLst>
              <a:ext uri="{FF2B5EF4-FFF2-40B4-BE49-F238E27FC236}">
                <a16:creationId xmlns:a16="http://schemas.microsoft.com/office/drawing/2014/main" id="{0F0469D6-FAB9-4415-B8E5-B9DF80EC599A}"/>
              </a:ext>
            </a:extLst>
          </p:cNvPr>
          <p:cNvSpPr>
            <a:spLocks noChangeArrowheads="1"/>
          </p:cNvSpPr>
          <p:nvPr/>
        </p:nvSpPr>
        <p:spPr bwMode="auto">
          <a:xfrm>
            <a:off x="1054100" y="1343025"/>
            <a:ext cx="9906000" cy="1372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Century Gothic" panose="020B0502020202020204" pitchFamily="34" charset="0"/>
              </a:rPr>
              <a:t>Se define como un plan integrado y coordinado, expresado en términos monetarios, respecto de las operaciones y recursos que forman parte de la empresa (cuantificación de ingresos y gastos) para un período determinado, con el fin de lograr los objetivos planificados por la alta gerencia.</a:t>
            </a:r>
          </a:p>
        </p:txBody>
      </p:sp>
      <p:sp>
        <p:nvSpPr>
          <p:cNvPr id="17414" name="Rectangle 6">
            <a:extLst>
              <a:ext uri="{FF2B5EF4-FFF2-40B4-BE49-F238E27FC236}">
                <a16:creationId xmlns:a16="http://schemas.microsoft.com/office/drawing/2014/main" id="{3875089D-FAC8-4BBA-9E57-B98BA52B03FF}"/>
              </a:ext>
            </a:extLst>
          </p:cNvPr>
          <p:cNvSpPr>
            <a:spLocks noChangeArrowheads="1"/>
          </p:cNvSpPr>
          <p:nvPr/>
        </p:nvSpPr>
        <p:spPr bwMode="auto">
          <a:xfrm>
            <a:off x="1054100" y="3048636"/>
            <a:ext cx="99060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Century Gothic" panose="020B0502020202020204" pitchFamily="34" charset="0"/>
              </a:rPr>
              <a:t>Es un conjunto coordinado de estándares o patrones de operación recomendables para un período determinado. </a:t>
            </a:r>
          </a:p>
        </p:txBody>
      </p:sp>
      <p:sp>
        <p:nvSpPr>
          <p:cNvPr id="17415" name="Rectangle 7">
            <a:extLst>
              <a:ext uri="{FF2B5EF4-FFF2-40B4-BE49-F238E27FC236}">
                <a16:creationId xmlns:a16="http://schemas.microsoft.com/office/drawing/2014/main" id="{5503FBF1-74AA-4B37-9DED-F70115A7DFF2}"/>
              </a:ext>
            </a:extLst>
          </p:cNvPr>
          <p:cNvSpPr>
            <a:spLocks noChangeArrowheads="1"/>
          </p:cNvSpPr>
          <p:nvPr/>
        </p:nvSpPr>
        <p:spPr bwMode="auto">
          <a:xfrm>
            <a:off x="1085850" y="4005263"/>
            <a:ext cx="9906000"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a:latin typeface="Century Gothic" panose="020B0502020202020204" pitchFamily="34" charset="0"/>
              </a:rPr>
              <a:t>Para que una empresa pueda sobrevivir en un mercado, donde existe  gran cantidad de competidores necesita establecer una serie de objetivos de largo plazo, que luego se irán plasmando en acciones para establecer metas concretas de corto plazo en cada centro de responsabilidad.</a:t>
            </a:r>
          </a:p>
        </p:txBody>
      </p:sp>
      <p:sp>
        <p:nvSpPr>
          <p:cNvPr id="6" name="5 CuadroTexto">
            <a:extLst>
              <a:ext uri="{FF2B5EF4-FFF2-40B4-BE49-F238E27FC236}">
                <a16:creationId xmlns:a16="http://schemas.microsoft.com/office/drawing/2014/main" id="{73236497-3205-4B73-AB99-2B6722049EA0}"/>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                                          Sistema Presupuestario</a:t>
            </a:r>
          </a:p>
        </p:txBody>
      </p:sp>
      <p:sp>
        <p:nvSpPr>
          <p:cNvPr id="2" name="Título 1">
            <a:extLst>
              <a:ext uri="{FF2B5EF4-FFF2-40B4-BE49-F238E27FC236}">
                <a16:creationId xmlns:a16="http://schemas.microsoft.com/office/drawing/2014/main" id="{C4BB9EE1-E380-43FA-B903-3DB64ED964CD}"/>
              </a:ext>
            </a:extLst>
          </p:cNvPr>
          <p:cNvSpPr>
            <a:spLocks noGrp="1"/>
          </p:cNvSpPr>
          <p:nvPr>
            <p:ph type="title" idx="4294967295"/>
          </p:nvPr>
        </p:nvSpPr>
        <p:spPr>
          <a:xfrm>
            <a:off x="2580069" y="484855"/>
            <a:ext cx="7478331" cy="557403"/>
          </a:xfrm>
        </p:spPr>
        <p:txBody>
          <a:bodyPr>
            <a:noAutofit/>
          </a:bodyPr>
          <a:lstStyle/>
          <a:p>
            <a:r>
              <a:rPr lang="es-MX" altLang="es-AR" sz="3600" b="1" dirty="0">
                <a:solidFill>
                  <a:schemeClr val="tx1">
                    <a:lumMod val="75000"/>
                    <a:lumOff val="25000"/>
                  </a:schemeClr>
                </a:solidFill>
                <a:latin typeface="Century Gothic" panose="020B0502020202020204" pitchFamily="34" charset="0"/>
              </a:rPr>
              <a:t>PRESUPUESTO DE LA EMPRESA</a:t>
            </a:r>
            <a:endParaRPr lang="es-AR" sz="36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P spid="17414" grpId="0"/>
      <p:bldP spid="174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73" name="Text Box 141">
            <a:extLst>
              <a:ext uri="{FF2B5EF4-FFF2-40B4-BE49-F238E27FC236}">
                <a16:creationId xmlns:a16="http://schemas.microsoft.com/office/drawing/2014/main" id="{44FD4FCE-B563-420B-B0D1-8353CC2B9165}"/>
              </a:ext>
            </a:extLst>
          </p:cNvPr>
          <p:cNvSpPr txBox="1">
            <a:spLocks noChangeArrowheads="1"/>
          </p:cNvSpPr>
          <p:nvPr/>
        </p:nvSpPr>
        <p:spPr bwMode="auto">
          <a:xfrm>
            <a:off x="2900362" y="309849"/>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Century Gothic" panose="020B0502020202020204" pitchFamily="34" charset="0"/>
              </a:rPr>
              <a:t>CICLO DE </a:t>
            </a:r>
            <a:r>
              <a:rPr lang="es-MX" altLang="es-AR" sz="3600" b="1" dirty="0">
                <a:solidFill>
                  <a:schemeClr val="tx1">
                    <a:lumMod val="75000"/>
                    <a:lumOff val="25000"/>
                  </a:schemeClr>
                </a:solidFill>
                <a:latin typeface="Century Gothic" panose="020B0502020202020204" pitchFamily="34" charset="0"/>
              </a:rPr>
              <a:t>PLANIFICACIÓN</a:t>
            </a:r>
          </a:p>
        </p:txBody>
      </p:sp>
      <p:sp>
        <p:nvSpPr>
          <p:cNvPr id="4099" name="AutoShape 178">
            <a:extLst>
              <a:ext uri="{FF2B5EF4-FFF2-40B4-BE49-F238E27FC236}">
                <a16:creationId xmlns:a16="http://schemas.microsoft.com/office/drawing/2014/main" id="{9C7F07FD-9077-432C-81C5-C49E62087693}"/>
              </a:ext>
            </a:extLst>
          </p:cNvPr>
          <p:cNvSpPr>
            <a:spLocks noChangeArrowheads="1"/>
          </p:cNvSpPr>
          <p:nvPr/>
        </p:nvSpPr>
        <p:spPr bwMode="auto">
          <a:xfrm>
            <a:off x="4151313" y="1484314"/>
            <a:ext cx="647700" cy="288925"/>
          </a:xfrm>
          <a:prstGeom prst="notchedRightArrow">
            <a:avLst>
              <a:gd name="adj1" fmla="val 50000"/>
              <a:gd name="adj2" fmla="val 56044"/>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graphicFrame>
        <p:nvGraphicFramePr>
          <p:cNvPr id="18738" name="Group 306">
            <a:extLst>
              <a:ext uri="{FF2B5EF4-FFF2-40B4-BE49-F238E27FC236}">
                <a16:creationId xmlns:a16="http://schemas.microsoft.com/office/drawing/2014/main" id="{671AE285-362C-4209-A8F2-FC8B41190FCC}"/>
              </a:ext>
            </a:extLst>
          </p:cNvPr>
          <p:cNvGraphicFramePr>
            <a:graphicFrameLocks noGrp="1"/>
          </p:cNvGraphicFramePr>
          <p:nvPr>
            <p:ph idx="4294967295"/>
            <p:extLst>
              <p:ext uri="{D42A27DB-BD31-4B8C-83A1-F6EECF244321}">
                <p14:modId xmlns:p14="http://schemas.microsoft.com/office/powerpoint/2010/main" val="2388848271"/>
              </p:ext>
            </p:extLst>
          </p:nvPr>
        </p:nvGraphicFramePr>
        <p:xfrm>
          <a:off x="1600200" y="1341438"/>
          <a:ext cx="8915400" cy="579437"/>
        </p:xfrm>
        <a:graphic>
          <a:graphicData uri="http://schemas.openxmlformats.org/drawingml/2006/table">
            <a:tbl>
              <a:tblPr/>
              <a:tblGrid>
                <a:gridCol w="2352675">
                  <a:extLst>
                    <a:ext uri="{9D8B030D-6E8A-4147-A177-3AD203B41FA5}">
                      <a16:colId xmlns:a16="http://schemas.microsoft.com/office/drawing/2014/main" val="20000"/>
                    </a:ext>
                  </a:extLst>
                </a:gridCol>
                <a:gridCol w="982663">
                  <a:extLst>
                    <a:ext uri="{9D8B030D-6E8A-4147-A177-3AD203B41FA5}">
                      <a16:colId xmlns:a16="http://schemas.microsoft.com/office/drawing/2014/main" val="20001"/>
                    </a:ext>
                  </a:extLst>
                </a:gridCol>
                <a:gridCol w="2219325">
                  <a:extLst>
                    <a:ext uri="{9D8B030D-6E8A-4147-A177-3AD203B41FA5}">
                      <a16:colId xmlns:a16="http://schemas.microsoft.com/office/drawing/2014/main" val="20002"/>
                    </a:ext>
                  </a:extLst>
                </a:gridCol>
                <a:gridCol w="1176337">
                  <a:extLst>
                    <a:ext uri="{9D8B030D-6E8A-4147-A177-3AD203B41FA5}">
                      <a16:colId xmlns:a16="http://schemas.microsoft.com/office/drawing/2014/main" val="20003"/>
                    </a:ext>
                  </a:extLst>
                </a:gridCol>
                <a:gridCol w="2184400">
                  <a:extLst>
                    <a:ext uri="{9D8B030D-6E8A-4147-A177-3AD203B41FA5}">
                      <a16:colId xmlns:a16="http://schemas.microsoft.com/office/drawing/2014/main" val="20004"/>
                    </a:ext>
                  </a:extLst>
                </a:gridCol>
              </a:tblGrid>
              <a:tr h="579437">
                <a:tc>
                  <a:txBody>
                    <a:bodyPr/>
                    <a:lstStyle>
                      <a:lvl1pPr>
                        <a:spcBef>
                          <a:spcPct val="20000"/>
                        </a:spcBef>
                        <a:tabLst>
                          <a:tab pos="571500" algn="l"/>
                        </a:tabLst>
                        <a:defRPr sz="2800">
                          <a:solidFill>
                            <a:schemeClr val="tx1"/>
                          </a:solidFill>
                          <a:latin typeface="Arial" pitchFamily="34" charset="0"/>
                          <a:cs typeface="Arial" pitchFamily="34" charset="0"/>
                        </a:defRPr>
                      </a:lvl1pPr>
                      <a:lvl2pPr>
                        <a:spcBef>
                          <a:spcPct val="20000"/>
                        </a:spcBef>
                        <a:tabLst>
                          <a:tab pos="571500" algn="l"/>
                        </a:tabLst>
                        <a:defRPr sz="2400">
                          <a:solidFill>
                            <a:schemeClr val="tx1"/>
                          </a:solidFill>
                          <a:latin typeface="Arial" pitchFamily="34" charset="0"/>
                          <a:cs typeface="Arial" pitchFamily="34" charset="0"/>
                        </a:defRPr>
                      </a:lvl2pPr>
                      <a:lvl3pPr>
                        <a:spcBef>
                          <a:spcPct val="20000"/>
                        </a:spcBef>
                        <a:tabLst>
                          <a:tab pos="571500" algn="l"/>
                        </a:tabLst>
                        <a:defRPr sz="2000">
                          <a:solidFill>
                            <a:schemeClr val="tx1"/>
                          </a:solidFill>
                          <a:latin typeface="Arial" pitchFamily="34" charset="0"/>
                          <a:cs typeface="Arial" pitchFamily="34" charset="0"/>
                        </a:defRPr>
                      </a:lvl3pPr>
                      <a:lvl4pPr>
                        <a:spcBef>
                          <a:spcPct val="20000"/>
                        </a:spcBef>
                        <a:tabLst>
                          <a:tab pos="571500" algn="l"/>
                        </a:tabLst>
                        <a:defRPr>
                          <a:solidFill>
                            <a:schemeClr val="tx1"/>
                          </a:solidFill>
                          <a:latin typeface="Arial" pitchFamily="34" charset="0"/>
                          <a:cs typeface="Arial" pitchFamily="34" charset="0"/>
                        </a:defRPr>
                      </a:lvl4pPr>
                      <a:lvl5pPr>
                        <a:spcBef>
                          <a:spcPct val="20000"/>
                        </a:spcBef>
                        <a:tabLst>
                          <a:tab pos="571500" algn="l"/>
                        </a:tabLst>
                        <a:defRPr>
                          <a:solidFill>
                            <a:schemeClr val="tx1"/>
                          </a:solidFill>
                          <a:latin typeface="Arial" pitchFamily="34" charset="0"/>
                          <a:cs typeface="Arial" pitchFamily="34" charset="0"/>
                        </a:defRPr>
                      </a:lvl5pPr>
                      <a:lvl6pPr fontAlgn="base">
                        <a:spcBef>
                          <a:spcPct val="20000"/>
                        </a:spcBef>
                        <a:spcAft>
                          <a:spcPct val="0"/>
                        </a:spcAft>
                        <a:tabLst>
                          <a:tab pos="571500" algn="l"/>
                        </a:tabLst>
                        <a:defRPr>
                          <a:solidFill>
                            <a:schemeClr val="tx1"/>
                          </a:solidFill>
                          <a:latin typeface="Arial" pitchFamily="34" charset="0"/>
                          <a:cs typeface="Arial" pitchFamily="34" charset="0"/>
                        </a:defRPr>
                      </a:lvl6pPr>
                      <a:lvl7pPr fontAlgn="base">
                        <a:spcBef>
                          <a:spcPct val="20000"/>
                        </a:spcBef>
                        <a:spcAft>
                          <a:spcPct val="0"/>
                        </a:spcAft>
                        <a:tabLst>
                          <a:tab pos="571500" algn="l"/>
                        </a:tabLst>
                        <a:defRPr>
                          <a:solidFill>
                            <a:schemeClr val="tx1"/>
                          </a:solidFill>
                          <a:latin typeface="Arial" pitchFamily="34" charset="0"/>
                          <a:cs typeface="Arial" pitchFamily="34" charset="0"/>
                        </a:defRPr>
                      </a:lvl7pPr>
                      <a:lvl8pPr fontAlgn="base">
                        <a:spcBef>
                          <a:spcPct val="20000"/>
                        </a:spcBef>
                        <a:spcAft>
                          <a:spcPct val="0"/>
                        </a:spcAft>
                        <a:tabLst>
                          <a:tab pos="571500" algn="l"/>
                        </a:tabLst>
                        <a:defRPr>
                          <a:solidFill>
                            <a:schemeClr val="tx1"/>
                          </a:solidFill>
                          <a:latin typeface="Arial" pitchFamily="34" charset="0"/>
                          <a:cs typeface="Arial" pitchFamily="34" charset="0"/>
                        </a:defRPr>
                      </a:lvl8pPr>
                      <a:lvl9pPr fontAlgn="base">
                        <a:spcBef>
                          <a:spcPct val="20000"/>
                        </a:spcBef>
                        <a:spcAft>
                          <a:spcPct val="0"/>
                        </a:spcAft>
                        <a:tabLst>
                          <a:tab pos="571500" algn="l"/>
                        </a:tabLst>
                        <a:defRPr>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tab pos="571500" algn="l"/>
                        </a:tabLst>
                      </a:pPr>
                      <a:r>
                        <a:rPr kumimoji="0" lang="es-ES" altLang="es-AR" sz="1600" b="1" i="0" u="none" strike="noStrike" cap="none" normalizeH="0" baseline="0" dirty="0">
                          <a:ln>
                            <a:noFill/>
                          </a:ln>
                          <a:solidFill>
                            <a:schemeClr val="tx1"/>
                          </a:solidFill>
                          <a:effectLst>
                            <a:outerShdw blurRad="38100" dist="38100" dir="2700000" algn="tl">
                              <a:srgbClr val="C0C0C0"/>
                            </a:outerShdw>
                          </a:effectLst>
                          <a:latin typeface="Century Gothic" panose="020B0502020202020204" pitchFamily="34" charset="0"/>
                          <a:cs typeface="Times New Roman" pitchFamily="18" charset="0"/>
                        </a:rPr>
                        <a:t>PLANIFICACIÓN ESTRATEGICA</a:t>
                      </a:r>
                      <a:endParaRPr kumimoji="0" lang="es-ES" altLang="es-AR" sz="1600" b="1" i="0" u="none" strike="noStrike" cap="none" normalizeH="0" baseline="0" dirty="0">
                        <a:ln>
                          <a:noFill/>
                        </a:ln>
                        <a:solidFill>
                          <a:schemeClr val="tx1"/>
                        </a:solidFill>
                        <a:effectLst>
                          <a:outerShdw blurRad="38100" dist="38100" dir="2700000" algn="tl">
                            <a:srgbClr val="C0C0C0"/>
                          </a:outerShdw>
                        </a:effectLst>
                        <a:latin typeface="Century Gothic" panose="020B0502020202020204" pitchFamily="34" charset="0"/>
                        <a:cs typeface="Arial" pitchFamily="34"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cs typeface="Arial" pitchFamily="34" charset="0"/>
                        </a:defRPr>
                      </a:lvl1pPr>
                      <a:lvl2pPr>
                        <a:spcBef>
                          <a:spcPct val="20000"/>
                        </a:spcBef>
                        <a:defRPr sz="2400">
                          <a:solidFill>
                            <a:schemeClr val="tx1"/>
                          </a:solidFill>
                          <a:latin typeface="Arial" pitchFamily="34" charset="0"/>
                          <a:cs typeface="Arial" pitchFamily="34" charset="0"/>
                        </a:defRPr>
                      </a:lvl2pPr>
                      <a:lvl3pPr>
                        <a:spcBef>
                          <a:spcPct val="20000"/>
                        </a:spcBef>
                        <a:defRPr sz="2000">
                          <a:solidFill>
                            <a:schemeClr val="tx1"/>
                          </a:solidFill>
                          <a:latin typeface="Arial" pitchFamily="34" charset="0"/>
                          <a:cs typeface="Arial" pitchFamily="34" charset="0"/>
                        </a:defRPr>
                      </a:lvl3pPr>
                      <a:lvl4pPr>
                        <a:spcBef>
                          <a:spcPct val="20000"/>
                        </a:spcBef>
                        <a:defRPr>
                          <a:solidFill>
                            <a:schemeClr val="tx1"/>
                          </a:solidFill>
                          <a:latin typeface="Arial" pitchFamily="34" charset="0"/>
                          <a:cs typeface="Arial" pitchFamily="34" charset="0"/>
                        </a:defRPr>
                      </a:lvl4pPr>
                      <a:lvl5pPr>
                        <a:spcBef>
                          <a:spcPct val="20000"/>
                        </a:spcBef>
                        <a:defRPr>
                          <a:solidFill>
                            <a:schemeClr val="tx1"/>
                          </a:solidFill>
                          <a:latin typeface="Arial" pitchFamily="34" charset="0"/>
                          <a:cs typeface="Arial" pitchFamily="34" charset="0"/>
                        </a:defRPr>
                      </a:lvl5pPr>
                      <a:lvl6pPr fontAlgn="base">
                        <a:spcBef>
                          <a:spcPct val="20000"/>
                        </a:spcBef>
                        <a:spcAft>
                          <a:spcPct val="0"/>
                        </a:spcAft>
                        <a:defRPr>
                          <a:solidFill>
                            <a:schemeClr val="tx1"/>
                          </a:solidFill>
                          <a:latin typeface="Arial" pitchFamily="34" charset="0"/>
                          <a:cs typeface="Arial" pitchFamily="34" charset="0"/>
                        </a:defRPr>
                      </a:lvl6pPr>
                      <a:lvl7pPr fontAlgn="base">
                        <a:spcBef>
                          <a:spcPct val="20000"/>
                        </a:spcBef>
                        <a:spcAft>
                          <a:spcPct val="0"/>
                        </a:spcAft>
                        <a:defRPr>
                          <a:solidFill>
                            <a:schemeClr val="tx1"/>
                          </a:solidFill>
                          <a:latin typeface="Arial" pitchFamily="34" charset="0"/>
                          <a:cs typeface="Arial" pitchFamily="34" charset="0"/>
                        </a:defRPr>
                      </a:lvl7pPr>
                      <a:lvl8pPr fontAlgn="base">
                        <a:spcBef>
                          <a:spcPct val="20000"/>
                        </a:spcBef>
                        <a:spcAft>
                          <a:spcPct val="0"/>
                        </a:spcAft>
                        <a:defRPr>
                          <a:solidFill>
                            <a:schemeClr val="tx1"/>
                          </a:solidFill>
                          <a:latin typeface="Arial" pitchFamily="34" charset="0"/>
                          <a:cs typeface="Arial" pitchFamily="34" charset="0"/>
                        </a:defRPr>
                      </a:lvl8pPr>
                      <a:lvl9pPr fontAlgn="base">
                        <a:spcBef>
                          <a:spcPct val="20000"/>
                        </a:spcBef>
                        <a:spcAft>
                          <a:spcPct val="0"/>
                        </a:spcAft>
                        <a:defRPr>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1600" b="1" i="0" u="none" strike="noStrike" cap="none" normalizeH="0" baseline="0">
                        <a:ln>
                          <a:noFill/>
                        </a:ln>
                        <a:solidFill>
                          <a:schemeClr val="tx1"/>
                        </a:solidFill>
                        <a:effectLst>
                          <a:outerShdw blurRad="38100" dist="38100" dir="2700000" algn="tl">
                            <a:srgbClr val="C0C0C0"/>
                          </a:outerShdw>
                        </a:effectLst>
                        <a:latin typeface="Century Gothic" panose="020B0502020202020204" pitchFamily="34" charset="0"/>
                        <a:cs typeface="Arial" pitchFamily="34"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tabLst>
                          <a:tab pos="571500" algn="l"/>
                        </a:tabLst>
                        <a:defRPr sz="2800">
                          <a:solidFill>
                            <a:schemeClr val="tx1"/>
                          </a:solidFill>
                          <a:latin typeface="Arial" pitchFamily="34" charset="0"/>
                          <a:cs typeface="Arial" pitchFamily="34" charset="0"/>
                        </a:defRPr>
                      </a:lvl1pPr>
                      <a:lvl2pPr>
                        <a:spcBef>
                          <a:spcPct val="20000"/>
                        </a:spcBef>
                        <a:tabLst>
                          <a:tab pos="571500" algn="l"/>
                        </a:tabLst>
                        <a:defRPr sz="2400">
                          <a:solidFill>
                            <a:schemeClr val="tx1"/>
                          </a:solidFill>
                          <a:latin typeface="Arial" pitchFamily="34" charset="0"/>
                          <a:cs typeface="Arial" pitchFamily="34" charset="0"/>
                        </a:defRPr>
                      </a:lvl2pPr>
                      <a:lvl3pPr>
                        <a:spcBef>
                          <a:spcPct val="20000"/>
                        </a:spcBef>
                        <a:tabLst>
                          <a:tab pos="571500" algn="l"/>
                        </a:tabLst>
                        <a:defRPr sz="2000">
                          <a:solidFill>
                            <a:schemeClr val="tx1"/>
                          </a:solidFill>
                          <a:latin typeface="Arial" pitchFamily="34" charset="0"/>
                          <a:cs typeface="Arial" pitchFamily="34" charset="0"/>
                        </a:defRPr>
                      </a:lvl3pPr>
                      <a:lvl4pPr>
                        <a:spcBef>
                          <a:spcPct val="20000"/>
                        </a:spcBef>
                        <a:tabLst>
                          <a:tab pos="571500" algn="l"/>
                        </a:tabLst>
                        <a:defRPr>
                          <a:solidFill>
                            <a:schemeClr val="tx1"/>
                          </a:solidFill>
                          <a:latin typeface="Arial" pitchFamily="34" charset="0"/>
                          <a:cs typeface="Arial" pitchFamily="34" charset="0"/>
                        </a:defRPr>
                      </a:lvl4pPr>
                      <a:lvl5pPr>
                        <a:spcBef>
                          <a:spcPct val="20000"/>
                        </a:spcBef>
                        <a:tabLst>
                          <a:tab pos="571500" algn="l"/>
                        </a:tabLst>
                        <a:defRPr>
                          <a:solidFill>
                            <a:schemeClr val="tx1"/>
                          </a:solidFill>
                          <a:latin typeface="Arial" pitchFamily="34" charset="0"/>
                          <a:cs typeface="Arial" pitchFamily="34" charset="0"/>
                        </a:defRPr>
                      </a:lvl5pPr>
                      <a:lvl6pPr fontAlgn="base">
                        <a:spcBef>
                          <a:spcPct val="20000"/>
                        </a:spcBef>
                        <a:spcAft>
                          <a:spcPct val="0"/>
                        </a:spcAft>
                        <a:tabLst>
                          <a:tab pos="571500" algn="l"/>
                        </a:tabLst>
                        <a:defRPr>
                          <a:solidFill>
                            <a:schemeClr val="tx1"/>
                          </a:solidFill>
                          <a:latin typeface="Arial" pitchFamily="34" charset="0"/>
                          <a:cs typeface="Arial" pitchFamily="34" charset="0"/>
                        </a:defRPr>
                      </a:lvl6pPr>
                      <a:lvl7pPr fontAlgn="base">
                        <a:spcBef>
                          <a:spcPct val="20000"/>
                        </a:spcBef>
                        <a:spcAft>
                          <a:spcPct val="0"/>
                        </a:spcAft>
                        <a:tabLst>
                          <a:tab pos="571500" algn="l"/>
                        </a:tabLst>
                        <a:defRPr>
                          <a:solidFill>
                            <a:schemeClr val="tx1"/>
                          </a:solidFill>
                          <a:latin typeface="Arial" pitchFamily="34" charset="0"/>
                          <a:cs typeface="Arial" pitchFamily="34" charset="0"/>
                        </a:defRPr>
                      </a:lvl7pPr>
                      <a:lvl8pPr fontAlgn="base">
                        <a:spcBef>
                          <a:spcPct val="20000"/>
                        </a:spcBef>
                        <a:spcAft>
                          <a:spcPct val="0"/>
                        </a:spcAft>
                        <a:tabLst>
                          <a:tab pos="571500" algn="l"/>
                        </a:tabLst>
                        <a:defRPr>
                          <a:solidFill>
                            <a:schemeClr val="tx1"/>
                          </a:solidFill>
                          <a:latin typeface="Arial" pitchFamily="34" charset="0"/>
                          <a:cs typeface="Arial" pitchFamily="34" charset="0"/>
                        </a:defRPr>
                      </a:lvl8pPr>
                      <a:lvl9pPr fontAlgn="base">
                        <a:spcBef>
                          <a:spcPct val="20000"/>
                        </a:spcBef>
                        <a:spcAft>
                          <a:spcPct val="0"/>
                        </a:spcAft>
                        <a:tabLst>
                          <a:tab pos="571500" algn="l"/>
                        </a:tabLst>
                        <a:defRPr>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tab pos="571500" algn="l"/>
                        </a:tabLst>
                      </a:pPr>
                      <a:r>
                        <a:rPr kumimoji="0" lang="es-ES" altLang="es-AR" sz="1600" b="1" i="0" u="none" strike="noStrike" cap="none" normalizeH="0" baseline="0">
                          <a:ln>
                            <a:noFill/>
                          </a:ln>
                          <a:solidFill>
                            <a:schemeClr val="tx1"/>
                          </a:solidFill>
                          <a:effectLst>
                            <a:outerShdw blurRad="38100" dist="38100" dir="2700000" algn="tl">
                              <a:srgbClr val="C0C0C0"/>
                            </a:outerShdw>
                          </a:effectLst>
                          <a:latin typeface="Century Gothic" panose="020B0502020202020204" pitchFamily="34" charset="0"/>
                          <a:cs typeface="Times New Roman" pitchFamily="18" charset="0"/>
                        </a:rPr>
                        <a:t>PLANIFICACIÓN OPERACIONAL </a:t>
                      </a:r>
                      <a:endParaRPr kumimoji="0" lang="es-ES" altLang="es-AR" sz="1600" b="1" i="0" u="none" strike="noStrike" cap="none" normalizeH="0" baseline="0">
                        <a:ln>
                          <a:noFill/>
                        </a:ln>
                        <a:solidFill>
                          <a:schemeClr val="tx1"/>
                        </a:solidFill>
                        <a:effectLst>
                          <a:outerShdw blurRad="38100" dist="38100" dir="2700000" algn="tl">
                            <a:srgbClr val="C0C0C0"/>
                          </a:outerShdw>
                        </a:effectLst>
                        <a:latin typeface="Century Gothic" panose="020B0502020202020204" pitchFamily="34" charset="0"/>
                        <a:cs typeface="Arial" pitchFamily="34"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itchFamily="34" charset="0"/>
                          <a:cs typeface="Arial" pitchFamily="34" charset="0"/>
                        </a:defRPr>
                      </a:lvl1pPr>
                      <a:lvl2pPr>
                        <a:spcBef>
                          <a:spcPct val="20000"/>
                        </a:spcBef>
                        <a:defRPr sz="2400">
                          <a:solidFill>
                            <a:schemeClr val="tx1"/>
                          </a:solidFill>
                          <a:latin typeface="Arial" pitchFamily="34" charset="0"/>
                          <a:cs typeface="Arial" pitchFamily="34" charset="0"/>
                        </a:defRPr>
                      </a:lvl2pPr>
                      <a:lvl3pPr>
                        <a:spcBef>
                          <a:spcPct val="20000"/>
                        </a:spcBef>
                        <a:defRPr sz="2000">
                          <a:solidFill>
                            <a:schemeClr val="tx1"/>
                          </a:solidFill>
                          <a:latin typeface="Arial" pitchFamily="34" charset="0"/>
                          <a:cs typeface="Arial" pitchFamily="34" charset="0"/>
                        </a:defRPr>
                      </a:lvl3pPr>
                      <a:lvl4pPr>
                        <a:spcBef>
                          <a:spcPct val="20000"/>
                        </a:spcBef>
                        <a:defRPr>
                          <a:solidFill>
                            <a:schemeClr val="tx1"/>
                          </a:solidFill>
                          <a:latin typeface="Arial" pitchFamily="34" charset="0"/>
                          <a:cs typeface="Arial" pitchFamily="34" charset="0"/>
                        </a:defRPr>
                      </a:lvl4pPr>
                      <a:lvl5pPr>
                        <a:spcBef>
                          <a:spcPct val="20000"/>
                        </a:spcBef>
                        <a:defRPr>
                          <a:solidFill>
                            <a:schemeClr val="tx1"/>
                          </a:solidFill>
                          <a:latin typeface="Arial" pitchFamily="34" charset="0"/>
                          <a:cs typeface="Arial" pitchFamily="34" charset="0"/>
                        </a:defRPr>
                      </a:lvl5pPr>
                      <a:lvl6pPr fontAlgn="base">
                        <a:spcBef>
                          <a:spcPct val="20000"/>
                        </a:spcBef>
                        <a:spcAft>
                          <a:spcPct val="0"/>
                        </a:spcAft>
                        <a:defRPr>
                          <a:solidFill>
                            <a:schemeClr val="tx1"/>
                          </a:solidFill>
                          <a:latin typeface="Arial" pitchFamily="34" charset="0"/>
                          <a:cs typeface="Arial" pitchFamily="34" charset="0"/>
                        </a:defRPr>
                      </a:lvl6pPr>
                      <a:lvl7pPr fontAlgn="base">
                        <a:spcBef>
                          <a:spcPct val="20000"/>
                        </a:spcBef>
                        <a:spcAft>
                          <a:spcPct val="0"/>
                        </a:spcAft>
                        <a:defRPr>
                          <a:solidFill>
                            <a:schemeClr val="tx1"/>
                          </a:solidFill>
                          <a:latin typeface="Arial" pitchFamily="34" charset="0"/>
                          <a:cs typeface="Arial" pitchFamily="34" charset="0"/>
                        </a:defRPr>
                      </a:lvl7pPr>
                      <a:lvl8pPr fontAlgn="base">
                        <a:spcBef>
                          <a:spcPct val="20000"/>
                        </a:spcBef>
                        <a:spcAft>
                          <a:spcPct val="0"/>
                        </a:spcAft>
                        <a:defRPr>
                          <a:solidFill>
                            <a:schemeClr val="tx1"/>
                          </a:solidFill>
                          <a:latin typeface="Arial" pitchFamily="34" charset="0"/>
                          <a:cs typeface="Arial" pitchFamily="34" charset="0"/>
                        </a:defRPr>
                      </a:lvl8pPr>
                      <a:lvl9pPr fontAlgn="base">
                        <a:spcBef>
                          <a:spcPct val="20000"/>
                        </a:spcBef>
                        <a:spcAft>
                          <a:spcPct val="0"/>
                        </a:spcAft>
                        <a:defRPr>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s-AR" altLang="es-AR" sz="1600" b="1" i="0" u="none" strike="noStrike" cap="none" normalizeH="0" baseline="0">
                        <a:ln>
                          <a:noFill/>
                        </a:ln>
                        <a:solidFill>
                          <a:schemeClr val="tx1"/>
                        </a:solidFill>
                        <a:effectLst>
                          <a:outerShdw blurRad="38100" dist="38100" dir="2700000" algn="tl">
                            <a:srgbClr val="C0C0C0"/>
                          </a:outerShdw>
                        </a:effectLst>
                        <a:latin typeface="Century Gothic" panose="020B0502020202020204" pitchFamily="34" charset="0"/>
                        <a:cs typeface="Arial" pitchFamily="34"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tabLst>
                          <a:tab pos="571500" algn="l"/>
                        </a:tabLst>
                        <a:defRPr sz="2800">
                          <a:solidFill>
                            <a:schemeClr val="tx1"/>
                          </a:solidFill>
                          <a:latin typeface="Arial" pitchFamily="34" charset="0"/>
                          <a:cs typeface="Arial" pitchFamily="34" charset="0"/>
                        </a:defRPr>
                      </a:lvl1pPr>
                      <a:lvl2pPr>
                        <a:spcBef>
                          <a:spcPct val="20000"/>
                        </a:spcBef>
                        <a:tabLst>
                          <a:tab pos="571500" algn="l"/>
                        </a:tabLst>
                        <a:defRPr sz="2400">
                          <a:solidFill>
                            <a:schemeClr val="tx1"/>
                          </a:solidFill>
                          <a:latin typeface="Arial" pitchFamily="34" charset="0"/>
                          <a:cs typeface="Arial" pitchFamily="34" charset="0"/>
                        </a:defRPr>
                      </a:lvl2pPr>
                      <a:lvl3pPr>
                        <a:spcBef>
                          <a:spcPct val="20000"/>
                        </a:spcBef>
                        <a:tabLst>
                          <a:tab pos="571500" algn="l"/>
                        </a:tabLst>
                        <a:defRPr sz="2000">
                          <a:solidFill>
                            <a:schemeClr val="tx1"/>
                          </a:solidFill>
                          <a:latin typeface="Arial" pitchFamily="34" charset="0"/>
                          <a:cs typeface="Arial" pitchFamily="34" charset="0"/>
                        </a:defRPr>
                      </a:lvl3pPr>
                      <a:lvl4pPr>
                        <a:spcBef>
                          <a:spcPct val="20000"/>
                        </a:spcBef>
                        <a:tabLst>
                          <a:tab pos="571500" algn="l"/>
                        </a:tabLst>
                        <a:defRPr>
                          <a:solidFill>
                            <a:schemeClr val="tx1"/>
                          </a:solidFill>
                          <a:latin typeface="Arial" pitchFamily="34" charset="0"/>
                          <a:cs typeface="Arial" pitchFamily="34" charset="0"/>
                        </a:defRPr>
                      </a:lvl4pPr>
                      <a:lvl5pPr>
                        <a:spcBef>
                          <a:spcPct val="20000"/>
                        </a:spcBef>
                        <a:tabLst>
                          <a:tab pos="571500" algn="l"/>
                        </a:tabLst>
                        <a:defRPr>
                          <a:solidFill>
                            <a:schemeClr val="tx1"/>
                          </a:solidFill>
                          <a:latin typeface="Arial" pitchFamily="34" charset="0"/>
                          <a:cs typeface="Arial" pitchFamily="34" charset="0"/>
                        </a:defRPr>
                      </a:lvl5pPr>
                      <a:lvl6pPr fontAlgn="base">
                        <a:spcBef>
                          <a:spcPct val="20000"/>
                        </a:spcBef>
                        <a:spcAft>
                          <a:spcPct val="0"/>
                        </a:spcAft>
                        <a:tabLst>
                          <a:tab pos="571500" algn="l"/>
                        </a:tabLst>
                        <a:defRPr>
                          <a:solidFill>
                            <a:schemeClr val="tx1"/>
                          </a:solidFill>
                          <a:latin typeface="Arial" pitchFamily="34" charset="0"/>
                          <a:cs typeface="Arial" pitchFamily="34" charset="0"/>
                        </a:defRPr>
                      </a:lvl6pPr>
                      <a:lvl7pPr fontAlgn="base">
                        <a:spcBef>
                          <a:spcPct val="20000"/>
                        </a:spcBef>
                        <a:spcAft>
                          <a:spcPct val="0"/>
                        </a:spcAft>
                        <a:tabLst>
                          <a:tab pos="571500" algn="l"/>
                        </a:tabLst>
                        <a:defRPr>
                          <a:solidFill>
                            <a:schemeClr val="tx1"/>
                          </a:solidFill>
                          <a:latin typeface="Arial" pitchFamily="34" charset="0"/>
                          <a:cs typeface="Arial" pitchFamily="34" charset="0"/>
                        </a:defRPr>
                      </a:lvl7pPr>
                      <a:lvl8pPr fontAlgn="base">
                        <a:spcBef>
                          <a:spcPct val="20000"/>
                        </a:spcBef>
                        <a:spcAft>
                          <a:spcPct val="0"/>
                        </a:spcAft>
                        <a:tabLst>
                          <a:tab pos="571500" algn="l"/>
                        </a:tabLst>
                        <a:defRPr>
                          <a:solidFill>
                            <a:schemeClr val="tx1"/>
                          </a:solidFill>
                          <a:latin typeface="Arial" pitchFamily="34" charset="0"/>
                          <a:cs typeface="Arial" pitchFamily="34" charset="0"/>
                        </a:defRPr>
                      </a:lvl8pPr>
                      <a:lvl9pPr fontAlgn="base">
                        <a:spcBef>
                          <a:spcPct val="20000"/>
                        </a:spcBef>
                        <a:spcAft>
                          <a:spcPct val="0"/>
                        </a:spcAft>
                        <a:tabLst>
                          <a:tab pos="571500" algn="l"/>
                        </a:tabLst>
                        <a:defRPr>
                          <a:solidFill>
                            <a:schemeClr val="tx1"/>
                          </a:solidFill>
                          <a:latin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tab pos="571500" algn="l"/>
                        </a:tabLst>
                      </a:pPr>
                      <a:r>
                        <a:rPr kumimoji="0" lang="es-ES" altLang="es-AR" sz="1600" b="1" i="0" u="none" strike="noStrike" cap="none" normalizeH="0" baseline="0" dirty="0">
                          <a:ln>
                            <a:noFill/>
                          </a:ln>
                          <a:solidFill>
                            <a:schemeClr val="tx1"/>
                          </a:solidFill>
                          <a:effectLst>
                            <a:outerShdw blurRad="38100" dist="38100" dir="2700000" algn="tl">
                              <a:srgbClr val="C0C0C0"/>
                            </a:outerShdw>
                          </a:effectLst>
                          <a:latin typeface="Century Gothic" panose="020B0502020202020204" pitchFamily="34" charset="0"/>
                          <a:cs typeface="Times New Roman" pitchFamily="18" charset="0"/>
                        </a:rPr>
                        <a:t>SISTEMA PRESUPUESTARIO</a:t>
                      </a:r>
                      <a:endParaRPr kumimoji="0" lang="es-ES" altLang="es-AR" sz="1600" b="1" i="0" u="none" strike="noStrike" cap="none" normalizeH="0" baseline="0" dirty="0">
                        <a:ln>
                          <a:noFill/>
                        </a:ln>
                        <a:solidFill>
                          <a:schemeClr val="tx1"/>
                        </a:solidFill>
                        <a:effectLst>
                          <a:outerShdw blurRad="38100" dist="38100" dir="2700000" algn="tl">
                            <a:srgbClr val="C0C0C0"/>
                          </a:outerShdw>
                        </a:effectLst>
                        <a:latin typeface="Century Gothic" panose="020B0502020202020204" pitchFamily="34" charset="0"/>
                        <a:cs typeface="Arial" pitchFamily="34" charset="0"/>
                      </a:endParaRPr>
                    </a:p>
                  </a:txBody>
                  <a:tcPr marT="45745" marB="4574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114" name="AutoShape 307">
            <a:extLst>
              <a:ext uri="{FF2B5EF4-FFF2-40B4-BE49-F238E27FC236}">
                <a16:creationId xmlns:a16="http://schemas.microsoft.com/office/drawing/2014/main" id="{6F7E1F3B-E9B4-40CF-AFA0-C389EE76A4D4}"/>
              </a:ext>
            </a:extLst>
          </p:cNvPr>
          <p:cNvSpPr>
            <a:spLocks noChangeArrowheads="1"/>
          </p:cNvSpPr>
          <p:nvPr/>
        </p:nvSpPr>
        <p:spPr bwMode="auto">
          <a:xfrm>
            <a:off x="7391400" y="1484314"/>
            <a:ext cx="647700" cy="288925"/>
          </a:xfrm>
          <a:prstGeom prst="notchedRightArrow">
            <a:avLst>
              <a:gd name="adj1" fmla="val 50000"/>
              <a:gd name="adj2" fmla="val 56044"/>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8740" name="Rectangle 308">
            <a:extLst>
              <a:ext uri="{FF2B5EF4-FFF2-40B4-BE49-F238E27FC236}">
                <a16:creationId xmlns:a16="http://schemas.microsoft.com/office/drawing/2014/main" id="{85DA9AF0-5F19-48CC-B4E1-2B9373213000}"/>
              </a:ext>
            </a:extLst>
          </p:cNvPr>
          <p:cNvSpPr>
            <a:spLocks noChangeArrowheads="1"/>
          </p:cNvSpPr>
          <p:nvPr/>
        </p:nvSpPr>
        <p:spPr bwMode="auto">
          <a:xfrm>
            <a:off x="1158875" y="2336610"/>
            <a:ext cx="9906000" cy="115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Century Gothic" panose="020B0502020202020204" pitchFamily="34" charset="0"/>
              </a:rPr>
              <a:t>1°) La planificación estratégica es el punto de partida del proceso presupuestario y supone la fijación de los objetivos de largo plazo fijando las grandes líneas de actuación para un período que iría de los 3 a los 5 años.</a:t>
            </a:r>
          </a:p>
        </p:txBody>
      </p:sp>
      <p:sp>
        <p:nvSpPr>
          <p:cNvPr id="18741" name="Rectangle 309">
            <a:extLst>
              <a:ext uri="{FF2B5EF4-FFF2-40B4-BE49-F238E27FC236}">
                <a16:creationId xmlns:a16="http://schemas.microsoft.com/office/drawing/2014/main" id="{3DD53BB4-CEC3-46AA-9C41-B73945046E59}"/>
              </a:ext>
            </a:extLst>
          </p:cNvPr>
          <p:cNvSpPr>
            <a:spLocks noChangeArrowheads="1"/>
          </p:cNvSpPr>
          <p:nvPr/>
        </p:nvSpPr>
        <p:spPr bwMode="auto">
          <a:xfrm>
            <a:off x="1158875" y="3646488"/>
            <a:ext cx="9906000" cy="989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Century Gothic" panose="020B0502020202020204" pitchFamily="34" charset="0"/>
              </a:rPr>
              <a:t>2°) La planificación operacional es de corto plazo y consiste en los planes de acción necesarios para concretar los objetivos intermedios fijados en la planificación estratégica.</a:t>
            </a:r>
          </a:p>
        </p:txBody>
      </p:sp>
      <p:sp>
        <p:nvSpPr>
          <p:cNvPr id="18742" name="Rectangle 310">
            <a:extLst>
              <a:ext uri="{FF2B5EF4-FFF2-40B4-BE49-F238E27FC236}">
                <a16:creationId xmlns:a16="http://schemas.microsoft.com/office/drawing/2014/main" id="{61BCC74D-3F7B-4167-BDAF-E02923C8A70F}"/>
              </a:ext>
            </a:extLst>
          </p:cNvPr>
          <p:cNvSpPr>
            <a:spLocks noChangeArrowheads="1"/>
          </p:cNvSpPr>
          <p:nvPr/>
        </p:nvSpPr>
        <p:spPr bwMode="auto">
          <a:xfrm>
            <a:off x="1158875" y="4870450"/>
            <a:ext cx="9906000" cy="989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Century Gothic" panose="020B0502020202020204" pitchFamily="34" charset="0"/>
              </a:rPr>
              <a:t>3°) El sistema presupuestario supone la  cuantificación y valoración de los objetivos correspondientes al plan de acción del primer año de la planificación operacional.</a:t>
            </a:r>
          </a:p>
        </p:txBody>
      </p:sp>
      <p:sp>
        <p:nvSpPr>
          <p:cNvPr id="22" name="21 CuadroTexto">
            <a:extLst>
              <a:ext uri="{FF2B5EF4-FFF2-40B4-BE49-F238E27FC236}">
                <a16:creationId xmlns:a16="http://schemas.microsoft.com/office/drawing/2014/main" id="{E7F603E0-A4AD-4F47-BD5F-97DCF0912332}"/>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7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74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7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0" grpId="0"/>
      <p:bldP spid="18741" grpId="0"/>
      <p:bldP spid="1874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6389" name="Rectangle 5">
            <a:extLst>
              <a:ext uri="{FF2B5EF4-FFF2-40B4-BE49-F238E27FC236}">
                <a16:creationId xmlns:a16="http://schemas.microsoft.com/office/drawing/2014/main" id="{B503E685-06FD-4BBA-A7A8-D8F7075811C7}"/>
              </a:ext>
            </a:extLst>
          </p:cNvPr>
          <p:cNvSpPr>
            <a:spLocks noChangeArrowheads="1"/>
          </p:cNvSpPr>
          <p:nvPr/>
        </p:nvSpPr>
        <p:spPr bwMode="auto">
          <a:xfrm>
            <a:off x="1143001" y="3644900"/>
            <a:ext cx="9777413" cy="244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77813" indent="-106363">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endParaRPr lang="es-AR" altLang="es-AR" sz="2600" b="1"/>
          </a:p>
        </p:txBody>
      </p:sp>
      <p:sp>
        <p:nvSpPr>
          <p:cNvPr id="16390" name="Rectangle 6">
            <a:extLst>
              <a:ext uri="{FF2B5EF4-FFF2-40B4-BE49-F238E27FC236}">
                <a16:creationId xmlns:a16="http://schemas.microsoft.com/office/drawing/2014/main" id="{F8A889E5-8A61-40A4-B98E-1C2E3EE8CF1C}"/>
              </a:ext>
            </a:extLst>
          </p:cNvPr>
          <p:cNvSpPr>
            <a:spLocks noChangeArrowheads="1"/>
          </p:cNvSpPr>
          <p:nvPr/>
        </p:nvSpPr>
        <p:spPr bwMode="auto">
          <a:xfrm>
            <a:off x="1143001" y="1259777"/>
            <a:ext cx="9906000" cy="106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Método descendente o de dirección centralizada: Consiste en marcar los objetivos del sistema presupuestario desde la dirección de la empresa, que a su vez, fija las líneas generales de organización y realización.</a:t>
            </a:r>
          </a:p>
        </p:txBody>
      </p:sp>
      <p:sp>
        <p:nvSpPr>
          <p:cNvPr id="16391" name="Text Box 7">
            <a:extLst>
              <a:ext uri="{FF2B5EF4-FFF2-40B4-BE49-F238E27FC236}">
                <a16:creationId xmlns:a16="http://schemas.microsoft.com/office/drawing/2014/main" id="{5A6FB363-C4CC-4C2B-9916-343CA7B9679C}"/>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ELABORACIÓN DEL PRESUPUESTO</a:t>
            </a:r>
          </a:p>
        </p:txBody>
      </p:sp>
      <p:sp>
        <p:nvSpPr>
          <p:cNvPr id="16392" name="Rectangle 8">
            <a:extLst>
              <a:ext uri="{FF2B5EF4-FFF2-40B4-BE49-F238E27FC236}">
                <a16:creationId xmlns:a16="http://schemas.microsoft.com/office/drawing/2014/main" id="{74ACDCDB-F9E6-4821-BC19-C074BA50A6A2}"/>
              </a:ext>
            </a:extLst>
          </p:cNvPr>
          <p:cNvSpPr>
            <a:spLocks noChangeArrowheads="1"/>
          </p:cNvSpPr>
          <p:nvPr/>
        </p:nvSpPr>
        <p:spPr bwMode="auto">
          <a:xfrm>
            <a:off x="1127125" y="2670876"/>
            <a:ext cx="9906000" cy="1069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Método ascendente o de dirección descentralizada: El presupuesto se basa en los pronósticos fijados por los gerentes de cada centro de responsabilidad. Se debe:</a:t>
            </a:r>
          </a:p>
        </p:txBody>
      </p:sp>
      <p:sp>
        <p:nvSpPr>
          <p:cNvPr id="16393" name="Rectangle 9">
            <a:extLst>
              <a:ext uri="{FF2B5EF4-FFF2-40B4-BE49-F238E27FC236}">
                <a16:creationId xmlns:a16="http://schemas.microsoft.com/office/drawing/2014/main" id="{33637468-998B-42FD-80B1-8254E0E1AC88}"/>
              </a:ext>
            </a:extLst>
          </p:cNvPr>
          <p:cNvSpPr>
            <a:spLocks noChangeArrowheads="1"/>
          </p:cNvSpPr>
          <p:nvPr/>
        </p:nvSpPr>
        <p:spPr bwMode="auto">
          <a:xfrm>
            <a:off x="1474597" y="3753555"/>
            <a:ext cx="9906000" cy="1765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Determinar las distintas áreas de la empresa.</a:t>
            </a:r>
          </a:p>
          <a:p>
            <a:pPr algn="just" eaLnBrk="1" hangingPunct="1">
              <a:spcBef>
                <a:spcPct val="20000"/>
              </a:spcBef>
              <a:buClr>
                <a:schemeClr val="accent3">
                  <a:lumMod val="50000"/>
                </a:schemeClr>
              </a:buClr>
              <a:buFontTx/>
              <a:buChar char="•"/>
            </a:pPr>
            <a:r>
              <a:rPr lang="es-ES" altLang="es-AR" sz="2000" dirty="0">
                <a:latin typeface="+mj-lt"/>
              </a:rPr>
              <a:t> Identificar al responsable de cada área que se encargue de la     	elaboración del presupuesto.</a:t>
            </a:r>
          </a:p>
          <a:p>
            <a:pPr algn="just" eaLnBrk="1" hangingPunct="1">
              <a:spcBef>
                <a:spcPct val="20000"/>
              </a:spcBef>
              <a:buClr>
                <a:schemeClr val="accent3">
                  <a:lumMod val="50000"/>
                </a:schemeClr>
              </a:buClr>
              <a:buFontTx/>
              <a:buChar char="•"/>
            </a:pPr>
            <a:r>
              <a:rPr lang="es-ES" altLang="es-AR" sz="2000" dirty="0">
                <a:latin typeface="+mj-lt"/>
              </a:rPr>
              <a:t> Establecer el grado de delegación correspondiente a cada área en la 	realización del presupuesto.</a:t>
            </a:r>
          </a:p>
        </p:txBody>
      </p:sp>
      <p:sp>
        <p:nvSpPr>
          <p:cNvPr id="7" name="6 CuadroTexto">
            <a:extLst>
              <a:ext uri="{FF2B5EF4-FFF2-40B4-BE49-F238E27FC236}">
                <a16:creationId xmlns:a16="http://schemas.microsoft.com/office/drawing/2014/main" id="{C649D5EC-62EF-4BE2-A8B1-E6E20A612BC3}"/>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                                          Sistema Presupuestario</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63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9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9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p:bldP spid="16390" grpId="0"/>
      <p:bldP spid="16392" grpId="0"/>
      <p:bldP spid="1639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6156" name="Rectangle 12">
            <a:extLst>
              <a:ext uri="{FF2B5EF4-FFF2-40B4-BE49-F238E27FC236}">
                <a16:creationId xmlns:a16="http://schemas.microsoft.com/office/drawing/2014/main" id="{FDC0E29A-9324-4E57-8A87-B562850D5925}"/>
              </a:ext>
            </a:extLst>
          </p:cNvPr>
          <p:cNvSpPr>
            <a:spLocks noChangeArrowheads="1"/>
          </p:cNvSpPr>
          <p:nvPr/>
        </p:nvSpPr>
        <p:spPr bwMode="auto">
          <a:xfrm>
            <a:off x="1214438" y="1125538"/>
            <a:ext cx="9777412" cy="1084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A la dirección le corresponde aceptar o rechazar los presupuestos propuestos por cada centro de responsabilidad, solicitando revisiones o cambios en ellos</a:t>
            </a:r>
            <a:r>
              <a:rPr lang="es-AR" altLang="es-AR" sz="2000" dirty="0">
                <a:latin typeface="+mj-lt"/>
              </a:rPr>
              <a:t>.</a:t>
            </a:r>
            <a:endParaRPr lang="es-ES" altLang="es-AR" sz="2000" dirty="0">
              <a:latin typeface="+mj-lt"/>
            </a:endParaRPr>
          </a:p>
        </p:txBody>
      </p:sp>
      <p:sp>
        <p:nvSpPr>
          <p:cNvPr id="6161" name="Text Box 17">
            <a:extLst>
              <a:ext uri="{FF2B5EF4-FFF2-40B4-BE49-F238E27FC236}">
                <a16:creationId xmlns:a16="http://schemas.microsoft.com/office/drawing/2014/main" id="{CE84C918-4D87-4EBA-856B-99D4599D9DEE}"/>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APROBACIÓN DEL PRESUPUESTO</a:t>
            </a:r>
          </a:p>
        </p:txBody>
      </p:sp>
      <p:sp>
        <p:nvSpPr>
          <p:cNvPr id="6167" name="Rectangle 23">
            <a:extLst>
              <a:ext uri="{FF2B5EF4-FFF2-40B4-BE49-F238E27FC236}">
                <a16:creationId xmlns:a16="http://schemas.microsoft.com/office/drawing/2014/main" id="{15226CF0-0863-45EB-9853-80C8DF613235}"/>
              </a:ext>
            </a:extLst>
          </p:cNvPr>
          <p:cNvSpPr>
            <a:spLocks noChangeArrowheads="1"/>
          </p:cNvSpPr>
          <p:nvPr/>
        </p:nvSpPr>
        <p:spPr bwMode="auto">
          <a:xfrm>
            <a:off x="1200151" y="2392365"/>
            <a:ext cx="9777413" cy="1695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Una vez aceptados los presupuestos de los distintos centros, deberán consolidarse para obtener el presupuesto de la empresa, a partir de aquí se obtendrá el cuadro de resultados proforma, que junto con el presupuesto financiero y el balance general proforma compondrán el presupuesto consolidado de la empresa </a:t>
            </a:r>
            <a:r>
              <a:rPr lang="es-AR" altLang="es-AR" sz="2000" dirty="0">
                <a:latin typeface="+mj-lt"/>
              </a:rPr>
              <a:t>.</a:t>
            </a:r>
            <a:endParaRPr lang="es-ES" altLang="es-AR" sz="2000" dirty="0">
              <a:latin typeface="+mj-lt"/>
            </a:endParaRPr>
          </a:p>
        </p:txBody>
      </p:sp>
      <p:sp>
        <p:nvSpPr>
          <p:cNvPr id="6168" name="Rectangle 24">
            <a:extLst>
              <a:ext uri="{FF2B5EF4-FFF2-40B4-BE49-F238E27FC236}">
                <a16:creationId xmlns:a16="http://schemas.microsoft.com/office/drawing/2014/main" id="{E30AFC4D-FADD-4CD1-AD04-F6828E9469C2}"/>
              </a:ext>
            </a:extLst>
          </p:cNvPr>
          <p:cNvSpPr>
            <a:spLocks noChangeArrowheads="1"/>
          </p:cNvSpPr>
          <p:nvPr/>
        </p:nvSpPr>
        <p:spPr bwMode="auto">
          <a:xfrm>
            <a:off x="1198437" y="4399409"/>
            <a:ext cx="9777413" cy="93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presupuesto consolidado es aprobado por el máximo órgano gestor (Asamblea General de socios, Consejo de Administración, Consejeros Delegados o la Dirección)</a:t>
            </a:r>
            <a:r>
              <a:rPr lang="es-AR" altLang="es-AR" sz="2000" dirty="0">
                <a:latin typeface="+mj-lt"/>
              </a:rPr>
              <a:t>.</a:t>
            </a:r>
            <a:endParaRPr lang="es-ES" altLang="es-AR" sz="2000" dirty="0">
              <a:latin typeface="+mj-lt"/>
            </a:endParaRPr>
          </a:p>
        </p:txBody>
      </p:sp>
      <p:sp>
        <p:nvSpPr>
          <p:cNvPr id="6" name="5 CuadroTexto">
            <a:extLst>
              <a:ext uri="{FF2B5EF4-FFF2-40B4-BE49-F238E27FC236}">
                <a16:creationId xmlns:a16="http://schemas.microsoft.com/office/drawing/2014/main" id="{E98588CA-9015-450C-8839-B85216AC583B}"/>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                                          Sistema Presupuestario</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6" grpId="0"/>
      <p:bldP spid="6167" grpId="0"/>
      <p:bldP spid="616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a:extLst>
              <a:ext uri="{FF2B5EF4-FFF2-40B4-BE49-F238E27FC236}">
                <a16:creationId xmlns:a16="http://schemas.microsoft.com/office/drawing/2014/main" id="{E3FC8BC8-E833-4C6F-81C6-353B4E793E6D}"/>
              </a:ext>
            </a:extLst>
          </p:cNvPr>
          <p:cNvSpPr>
            <a:spLocks noChangeArrowheads="1"/>
          </p:cNvSpPr>
          <p:nvPr/>
        </p:nvSpPr>
        <p:spPr bwMode="auto">
          <a:xfrm>
            <a:off x="1223011" y="1241204"/>
            <a:ext cx="9777412" cy="1718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dirty="0">
                <a:latin typeface="+mj-lt"/>
              </a:rPr>
              <a:t>Posibilitar la coordinación de las actividades, dado que los presupuestos fijan las metas de acción, sirven como medio de control, ayudan a descubrir debilidades en la estructura de la organización, identifican problemas de comunicación, de fijación de responsabilidades y de relaciones de trabajo. </a:t>
            </a:r>
          </a:p>
        </p:txBody>
      </p:sp>
      <p:sp>
        <p:nvSpPr>
          <p:cNvPr id="20485" name="Text Box 5">
            <a:extLst>
              <a:ext uri="{FF2B5EF4-FFF2-40B4-BE49-F238E27FC236}">
                <a16:creationId xmlns:a16="http://schemas.microsoft.com/office/drawing/2014/main" id="{CEAB0E01-418F-4FEC-9F6B-2546DBDCE518}"/>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OBJETIVOS DEL PRESUPUESTO</a:t>
            </a:r>
          </a:p>
        </p:txBody>
      </p:sp>
      <p:sp>
        <p:nvSpPr>
          <p:cNvPr id="20489" name="Rectangle 9">
            <a:extLst>
              <a:ext uri="{FF2B5EF4-FFF2-40B4-BE49-F238E27FC236}">
                <a16:creationId xmlns:a16="http://schemas.microsoft.com/office/drawing/2014/main" id="{2630A148-A7C7-4FA6-9974-FEBA1F93DD1F}"/>
              </a:ext>
            </a:extLst>
          </p:cNvPr>
          <p:cNvSpPr>
            <a:spLocks noChangeArrowheads="1"/>
          </p:cNvSpPr>
          <p:nvPr/>
        </p:nvSpPr>
        <p:spPr bwMode="auto">
          <a:xfrm>
            <a:off x="1243013" y="3142234"/>
            <a:ext cx="9777412" cy="44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dirty="0">
                <a:latin typeface="+mj-lt"/>
              </a:rPr>
              <a:t>Cuantificar los objetivos fijados en las distintas divisiones operativas. </a:t>
            </a:r>
          </a:p>
        </p:txBody>
      </p:sp>
      <p:sp>
        <p:nvSpPr>
          <p:cNvPr id="20490" name="Rectangle 10">
            <a:extLst>
              <a:ext uri="{FF2B5EF4-FFF2-40B4-BE49-F238E27FC236}">
                <a16:creationId xmlns:a16="http://schemas.microsoft.com/office/drawing/2014/main" id="{D8A9D570-1DDA-488D-9573-7F6C2D456549}"/>
              </a:ext>
            </a:extLst>
          </p:cNvPr>
          <p:cNvSpPr>
            <a:spLocks noChangeArrowheads="1"/>
          </p:cNvSpPr>
          <p:nvPr/>
        </p:nvSpPr>
        <p:spPr bwMode="auto">
          <a:xfrm>
            <a:off x="1233297" y="3898550"/>
            <a:ext cx="9777413" cy="44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dirty="0">
                <a:latin typeface="+mj-lt"/>
              </a:rPr>
              <a:t>Motivar a los responsables en relación con los planes predefinidos. </a:t>
            </a:r>
          </a:p>
        </p:txBody>
      </p:sp>
      <p:sp>
        <p:nvSpPr>
          <p:cNvPr id="20492" name="Rectangle 12">
            <a:extLst>
              <a:ext uri="{FF2B5EF4-FFF2-40B4-BE49-F238E27FC236}">
                <a16:creationId xmlns:a16="http://schemas.microsoft.com/office/drawing/2014/main" id="{1B3AB08F-E658-491C-81F8-5F7F2174199C}"/>
              </a:ext>
            </a:extLst>
          </p:cNvPr>
          <p:cNvSpPr>
            <a:spLocks noChangeArrowheads="1"/>
          </p:cNvSpPr>
          <p:nvPr/>
        </p:nvSpPr>
        <p:spPr bwMode="auto">
          <a:xfrm>
            <a:off x="1249943" y="4653976"/>
            <a:ext cx="11899820" cy="440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dirty="0">
                <a:latin typeface="+mj-lt"/>
              </a:rPr>
              <a:t>Controlar el grado de consecución de los objetivos y de los planes. </a:t>
            </a:r>
          </a:p>
        </p:txBody>
      </p:sp>
      <p:sp>
        <p:nvSpPr>
          <p:cNvPr id="7" name="6 CuadroTexto">
            <a:extLst>
              <a:ext uri="{FF2B5EF4-FFF2-40B4-BE49-F238E27FC236}">
                <a16:creationId xmlns:a16="http://schemas.microsoft.com/office/drawing/2014/main" id="{E872DC25-E405-4345-B83A-A27A79A07A62}"/>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5                                          Sistema Presupuestario</a:t>
            </a:r>
          </a:p>
        </p:txBody>
      </p:sp>
      <p:cxnSp>
        <p:nvCxnSpPr>
          <p:cNvPr id="3" name="Conector recto 2">
            <a:extLst>
              <a:ext uri="{FF2B5EF4-FFF2-40B4-BE49-F238E27FC236}">
                <a16:creationId xmlns:a16="http://schemas.microsoft.com/office/drawing/2014/main" id="{CC85BD71-8980-41F5-B442-6A2FB2BA7F41}"/>
              </a:ext>
            </a:extLst>
          </p:cNvPr>
          <p:cNvCxnSpPr/>
          <p:nvPr/>
        </p:nvCxnSpPr>
        <p:spPr>
          <a:xfrm flipH="1">
            <a:off x="1362456" y="923544"/>
            <a:ext cx="2502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9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P spid="20489" grpId="0"/>
      <p:bldP spid="20490" grpId="0"/>
      <p:bldP spid="2049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a:extLst>
              <a:ext uri="{FF2B5EF4-FFF2-40B4-BE49-F238E27FC236}">
                <a16:creationId xmlns:a16="http://schemas.microsoft.com/office/drawing/2014/main" id="{86CA9142-4E99-44DA-8067-D069AA10231D}"/>
              </a:ext>
            </a:extLst>
          </p:cNvPr>
          <p:cNvSpPr>
            <a:spLocks noChangeArrowheads="1"/>
          </p:cNvSpPr>
          <p:nvPr/>
        </p:nvSpPr>
        <p:spPr bwMode="auto">
          <a:xfrm>
            <a:off x="1214438" y="1106489"/>
            <a:ext cx="9777412" cy="289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Presupuesto Rígido</a:t>
            </a:r>
            <a:r>
              <a:rPr lang="es-ES" altLang="es-AR" sz="2000" i="1" dirty="0">
                <a:latin typeface="+mj-lt"/>
              </a:rPr>
              <a:t>: </a:t>
            </a:r>
          </a:p>
          <a:p>
            <a:pPr algn="just" eaLnBrk="1" hangingPunct="1">
              <a:spcBef>
                <a:spcPct val="20000"/>
              </a:spcBef>
            </a:pPr>
            <a:r>
              <a:rPr lang="es-ES" altLang="es-AR" sz="2000" dirty="0">
                <a:latin typeface="+mj-lt"/>
              </a:rPr>
              <a:t>consiste en la preparación de un presupuesto para un determinado volumen de actividad estimado, no realizándose ningún tipo de ajuste cuando la actividad real difiere de la estimada. Se da en empresas cuyos gastos se mantienen fijos independientemente del nivel de actividad que se produzca (se da en organizaciones sin fines de lucro cuyas partidas presupuestarias son fijas).</a:t>
            </a:r>
          </a:p>
        </p:txBody>
      </p:sp>
      <p:sp>
        <p:nvSpPr>
          <p:cNvPr id="30725" name="Text Box 5">
            <a:extLst>
              <a:ext uri="{FF2B5EF4-FFF2-40B4-BE49-F238E27FC236}">
                <a16:creationId xmlns:a16="http://schemas.microsoft.com/office/drawing/2014/main" id="{6220B60D-DC54-4BDC-81D3-13B55361256B}"/>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TÉCNICAS DE PRESUPUESTACIÓN</a:t>
            </a:r>
          </a:p>
        </p:txBody>
      </p:sp>
      <p:sp>
        <p:nvSpPr>
          <p:cNvPr id="30726" name="Rectangle 6">
            <a:extLst>
              <a:ext uri="{FF2B5EF4-FFF2-40B4-BE49-F238E27FC236}">
                <a16:creationId xmlns:a16="http://schemas.microsoft.com/office/drawing/2014/main" id="{1360B18D-A275-44A0-8321-4EF19C40B7BF}"/>
              </a:ext>
            </a:extLst>
          </p:cNvPr>
          <p:cNvSpPr>
            <a:spLocks noChangeArrowheads="1"/>
          </p:cNvSpPr>
          <p:nvPr/>
        </p:nvSpPr>
        <p:spPr bwMode="auto">
          <a:xfrm>
            <a:off x="1207293" y="3732530"/>
            <a:ext cx="9777413"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Presupuesto Flexible</a:t>
            </a:r>
            <a:r>
              <a:rPr lang="es-ES" altLang="es-AR" sz="2000" i="1" dirty="0">
                <a:latin typeface="+mj-lt"/>
              </a:rPr>
              <a:t>: </a:t>
            </a:r>
          </a:p>
          <a:p>
            <a:pPr algn="just" eaLnBrk="1" hangingPunct="1">
              <a:spcBef>
                <a:spcPct val="20000"/>
              </a:spcBef>
            </a:pPr>
            <a:r>
              <a:rPr lang="es-ES" altLang="es-AR" sz="2000" dirty="0">
                <a:latin typeface="+mj-lt"/>
              </a:rPr>
              <a:t>cuando los costos dependen de los niveles de actividad, lo que requiere un previo análisis de costos de toda la empresa para identificar el grado de variabilidad con respecto al nivel de actividad (costos fijos y variables). </a:t>
            </a:r>
          </a:p>
        </p:txBody>
      </p:sp>
      <p:sp>
        <p:nvSpPr>
          <p:cNvPr id="5" name="4 CuadroTexto">
            <a:extLst>
              <a:ext uri="{FF2B5EF4-FFF2-40B4-BE49-F238E27FC236}">
                <a16:creationId xmlns:a16="http://schemas.microsoft.com/office/drawing/2014/main" id="{9CEAE266-7C4B-48DF-AF93-EABAA8295F67}"/>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6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9" name="Text Box 73">
            <a:extLst>
              <a:ext uri="{FF2B5EF4-FFF2-40B4-BE49-F238E27FC236}">
                <a16:creationId xmlns:a16="http://schemas.microsoft.com/office/drawing/2014/main" id="{C9C3F8FA-0E08-45A2-8CCB-3E41ABCC074A}"/>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TÉCNICAS DE PRESUPUESTACIÓN</a:t>
            </a:r>
          </a:p>
        </p:txBody>
      </p:sp>
      <p:sp>
        <p:nvSpPr>
          <p:cNvPr id="4170" name="Rectangle 74">
            <a:extLst>
              <a:ext uri="{FF2B5EF4-FFF2-40B4-BE49-F238E27FC236}">
                <a16:creationId xmlns:a16="http://schemas.microsoft.com/office/drawing/2014/main" id="{4FA35CE6-A60D-45D6-B868-F174B0CF529E}"/>
              </a:ext>
            </a:extLst>
          </p:cNvPr>
          <p:cNvSpPr>
            <a:spLocks noChangeArrowheads="1"/>
          </p:cNvSpPr>
          <p:nvPr/>
        </p:nvSpPr>
        <p:spPr bwMode="auto">
          <a:xfrm>
            <a:off x="1214438" y="1052513"/>
            <a:ext cx="9777412" cy="22759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Presupuesto Base Cero</a:t>
            </a:r>
            <a:r>
              <a:rPr lang="es-ES" altLang="es-AR" sz="2000" dirty="0">
                <a:latin typeface="+mj-lt"/>
              </a:rPr>
              <a:t>: </a:t>
            </a:r>
          </a:p>
          <a:p>
            <a:pPr algn="just" eaLnBrk="1" hangingPunct="1">
              <a:spcBef>
                <a:spcPct val="20000"/>
              </a:spcBef>
            </a:pPr>
            <a:r>
              <a:rPr lang="es-ES" altLang="es-AR" sz="2000" dirty="0">
                <a:latin typeface="+mj-lt"/>
              </a:rPr>
              <a:t>los presupuestos de gastos se formulan a partir de cero, por lo que esta técnica supone que una actividad puede ser eliminada si no se justifica su beneficio. </a:t>
            </a:r>
          </a:p>
          <a:p>
            <a:pPr algn="just" eaLnBrk="1" hangingPunct="1">
              <a:spcBef>
                <a:spcPct val="20000"/>
              </a:spcBef>
            </a:pPr>
            <a:r>
              <a:rPr lang="es-ES" altLang="es-AR" sz="2000" dirty="0">
                <a:latin typeface="+mj-lt"/>
              </a:rPr>
              <a:t>Obliga a justificar, mediante un análisis costo-beneficio, cualquier incremento de las actividades, estableciendo un orden de prelación de las actividades a realizar de acuerdo con el beneficio que reporten, y su importancia dentro del contexto global de la empresa.</a:t>
            </a:r>
          </a:p>
        </p:txBody>
      </p:sp>
      <p:sp>
        <p:nvSpPr>
          <p:cNvPr id="4171" name="Rectangle 75">
            <a:extLst>
              <a:ext uri="{FF2B5EF4-FFF2-40B4-BE49-F238E27FC236}">
                <a16:creationId xmlns:a16="http://schemas.microsoft.com/office/drawing/2014/main" id="{1A8F5042-B8D1-43EB-9DC2-52B68E2C79F8}"/>
              </a:ext>
            </a:extLst>
          </p:cNvPr>
          <p:cNvSpPr>
            <a:spLocks noChangeArrowheads="1"/>
          </p:cNvSpPr>
          <p:nvPr/>
        </p:nvSpPr>
        <p:spPr bwMode="auto">
          <a:xfrm>
            <a:off x="1207293" y="3794633"/>
            <a:ext cx="9777413"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Presupuesto Maestro:</a:t>
            </a:r>
            <a:r>
              <a:rPr lang="es-ES" altLang="es-AR" sz="2000" dirty="0">
                <a:latin typeface="+mj-lt"/>
              </a:rPr>
              <a:t> </a:t>
            </a:r>
          </a:p>
          <a:p>
            <a:pPr algn="just" eaLnBrk="1" hangingPunct="1">
              <a:spcBef>
                <a:spcPct val="20000"/>
              </a:spcBef>
            </a:pPr>
            <a:r>
              <a:rPr lang="es-ES" altLang="es-AR" sz="2000" dirty="0">
                <a:latin typeface="+mj-lt"/>
              </a:rPr>
              <a:t>Abarca las </a:t>
            </a:r>
            <a:r>
              <a:rPr lang="es-ES" altLang="es-AR" sz="2000" b="1" dirty="0">
                <a:latin typeface="+mj-lt"/>
              </a:rPr>
              <a:t>decisiones de operación </a:t>
            </a:r>
            <a:r>
              <a:rPr lang="es-ES" altLang="es-AR" sz="2000" dirty="0">
                <a:latin typeface="+mj-lt"/>
              </a:rPr>
              <a:t>(relacionadas con la adquisición y utilización de recursos escasos) y las </a:t>
            </a:r>
            <a:r>
              <a:rPr lang="es-ES" altLang="es-AR" sz="2000" b="1" dirty="0">
                <a:latin typeface="+mj-lt"/>
              </a:rPr>
              <a:t>decisiones de financiamiento </a:t>
            </a:r>
            <a:r>
              <a:rPr lang="es-ES" altLang="es-AR" sz="2000" dirty="0">
                <a:latin typeface="+mj-lt"/>
              </a:rPr>
              <a:t>(relacionadas con la obtención de fondos para adquirir recursos). Se trabaja con </a:t>
            </a:r>
            <a:r>
              <a:rPr lang="es-ES" altLang="es-AR" sz="2000" b="1" dirty="0">
                <a:latin typeface="+mj-lt"/>
              </a:rPr>
              <a:t>información futura </a:t>
            </a:r>
            <a:r>
              <a:rPr lang="es-ES" altLang="es-AR" sz="2000" dirty="0">
                <a:latin typeface="+mj-lt"/>
              </a:rPr>
              <a:t>esperada en lugar de información histórica.</a:t>
            </a:r>
          </a:p>
        </p:txBody>
      </p:sp>
      <p:sp>
        <p:nvSpPr>
          <p:cNvPr id="5" name="4 CuadroTexto">
            <a:extLst>
              <a:ext uri="{FF2B5EF4-FFF2-40B4-BE49-F238E27FC236}">
                <a16:creationId xmlns:a16="http://schemas.microsoft.com/office/drawing/2014/main" id="{45C6F93C-7677-4397-8036-505A38EC18CE}"/>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7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0" grpId="0"/>
      <p:bldP spid="417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Text Box 4">
            <a:extLst>
              <a:ext uri="{FF2B5EF4-FFF2-40B4-BE49-F238E27FC236}">
                <a16:creationId xmlns:a16="http://schemas.microsoft.com/office/drawing/2014/main" id="{2518ED9B-717A-449C-B27E-742ABC5E859A}"/>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SISTEMA PRESUPUESTARIO</a:t>
            </a:r>
          </a:p>
        </p:txBody>
      </p:sp>
      <p:sp>
        <p:nvSpPr>
          <p:cNvPr id="22538" name="Rectangle 10">
            <a:extLst>
              <a:ext uri="{FF2B5EF4-FFF2-40B4-BE49-F238E27FC236}">
                <a16:creationId xmlns:a16="http://schemas.microsoft.com/office/drawing/2014/main" id="{2C383FE8-3B15-4DB4-A0CF-26DB11917E18}"/>
              </a:ext>
            </a:extLst>
          </p:cNvPr>
          <p:cNvSpPr>
            <a:spLocks noChangeArrowheads="1"/>
          </p:cNvSpPr>
          <p:nvPr/>
        </p:nvSpPr>
        <p:spPr bwMode="auto">
          <a:xfrm>
            <a:off x="965835" y="3047491"/>
            <a:ext cx="2432050" cy="792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eaLnBrk="1" hangingPunct="1">
              <a:defRPr/>
            </a:pPr>
            <a:r>
              <a:rPr lang="es-AR" altLang="es-AR" sz="2400" b="1" dirty="0">
                <a:effectLst>
                  <a:outerShdw blurRad="38100" dist="38100" dir="2700000" algn="tl">
                    <a:srgbClr val="C0C0C0"/>
                  </a:outerShdw>
                </a:effectLst>
                <a:latin typeface="+mj-lt"/>
              </a:rPr>
              <a:t>Sistema Presupuestario</a:t>
            </a:r>
            <a:endParaRPr lang="es-ES" altLang="es-AR" sz="2400" b="1" dirty="0">
              <a:effectLst>
                <a:outerShdw blurRad="38100" dist="38100" dir="2700000" algn="tl">
                  <a:srgbClr val="C0C0C0"/>
                </a:outerShdw>
              </a:effectLst>
              <a:latin typeface="+mj-lt"/>
            </a:endParaRPr>
          </a:p>
        </p:txBody>
      </p:sp>
      <p:sp>
        <p:nvSpPr>
          <p:cNvPr id="22539" name="Rectangle 11">
            <a:extLst>
              <a:ext uri="{FF2B5EF4-FFF2-40B4-BE49-F238E27FC236}">
                <a16:creationId xmlns:a16="http://schemas.microsoft.com/office/drawing/2014/main" id="{F6FA5E3E-A3F7-43C3-9A3A-CC528416F53A}"/>
              </a:ext>
            </a:extLst>
          </p:cNvPr>
          <p:cNvSpPr>
            <a:spLocks noChangeArrowheads="1"/>
          </p:cNvSpPr>
          <p:nvPr/>
        </p:nvSpPr>
        <p:spPr bwMode="auto">
          <a:xfrm>
            <a:off x="3542347" y="1031366"/>
            <a:ext cx="1944688"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eaLnBrk="1" hangingPunct="1">
              <a:defRPr/>
            </a:pPr>
            <a:r>
              <a:rPr lang="es-AR" altLang="es-AR" sz="2000" dirty="0">
                <a:effectLst>
                  <a:outerShdw blurRad="38100" dist="38100" dir="2700000" algn="tl">
                    <a:srgbClr val="C0C0C0"/>
                  </a:outerShdw>
                </a:effectLst>
                <a:latin typeface="+mj-lt"/>
              </a:rPr>
              <a:t>Presupuesto Operativo</a:t>
            </a:r>
            <a:endParaRPr lang="es-ES" altLang="es-AR" sz="2000" dirty="0">
              <a:effectLst>
                <a:outerShdw blurRad="38100" dist="38100" dir="2700000" algn="tl">
                  <a:srgbClr val="C0C0C0"/>
                </a:outerShdw>
              </a:effectLst>
              <a:latin typeface="+mj-lt"/>
            </a:endParaRPr>
          </a:p>
        </p:txBody>
      </p:sp>
      <p:sp>
        <p:nvSpPr>
          <p:cNvPr id="22540" name="Rectangle 12">
            <a:extLst>
              <a:ext uri="{FF2B5EF4-FFF2-40B4-BE49-F238E27FC236}">
                <a16:creationId xmlns:a16="http://schemas.microsoft.com/office/drawing/2014/main" id="{4E621F5A-6304-44D0-A914-B0603A9A34A9}"/>
              </a:ext>
            </a:extLst>
          </p:cNvPr>
          <p:cNvSpPr>
            <a:spLocks noChangeArrowheads="1"/>
          </p:cNvSpPr>
          <p:nvPr/>
        </p:nvSpPr>
        <p:spPr bwMode="auto">
          <a:xfrm>
            <a:off x="5774374" y="815466"/>
            <a:ext cx="34575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800">
                <a:effectLst>
                  <a:outerShdw blurRad="38100" dist="38100" dir="2700000" algn="tl">
                    <a:srgbClr val="C0C0C0"/>
                  </a:outerShdw>
                </a:effectLst>
                <a:latin typeface="+mj-lt"/>
              </a:rPr>
              <a:t>Presupuesto de Ventas</a:t>
            </a:r>
            <a:endParaRPr lang="es-ES" altLang="es-AR" sz="1800">
              <a:effectLst>
                <a:outerShdw blurRad="38100" dist="38100" dir="2700000" algn="tl">
                  <a:srgbClr val="C0C0C0"/>
                </a:outerShdw>
              </a:effectLst>
              <a:latin typeface="+mj-lt"/>
            </a:endParaRPr>
          </a:p>
        </p:txBody>
      </p:sp>
      <p:sp>
        <p:nvSpPr>
          <p:cNvPr id="22542" name="Rectangle 14">
            <a:extLst>
              <a:ext uri="{FF2B5EF4-FFF2-40B4-BE49-F238E27FC236}">
                <a16:creationId xmlns:a16="http://schemas.microsoft.com/office/drawing/2014/main" id="{697909A2-1BE9-4A21-8E42-4880C0AB7B27}"/>
              </a:ext>
            </a:extLst>
          </p:cNvPr>
          <p:cNvSpPr>
            <a:spLocks noChangeArrowheads="1"/>
          </p:cNvSpPr>
          <p:nvPr/>
        </p:nvSpPr>
        <p:spPr bwMode="auto">
          <a:xfrm>
            <a:off x="3397886" y="2039428"/>
            <a:ext cx="2376487" cy="86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eaLnBrk="1" hangingPunct="1">
              <a:defRPr/>
            </a:pPr>
            <a:r>
              <a:rPr lang="es-AR" altLang="es-AR" sz="2000" dirty="0">
                <a:effectLst>
                  <a:outerShdw blurRad="38100" dist="38100" dir="2700000" algn="tl">
                    <a:srgbClr val="C0C0C0"/>
                  </a:outerShdw>
                </a:effectLst>
                <a:latin typeface="+mj-lt"/>
              </a:rPr>
              <a:t>Presupuesto de Inversiones</a:t>
            </a:r>
            <a:endParaRPr lang="es-ES" altLang="es-AR" sz="2000" dirty="0">
              <a:effectLst>
                <a:outerShdw blurRad="38100" dist="38100" dir="2700000" algn="tl">
                  <a:srgbClr val="C0C0C0"/>
                </a:outerShdw>
              </a:effectLst>
              <a:latin typeface="+mj-lt"/>
            </a:endParaRPr>
          </a:p>
        </p:txBody>
      </p:sp>
      <p:sp>
        <p:nvSpPr>
          <p:cNvPr id="22543" name="Rectangle 15">
            <a:extLst>
              <a:ext uri="{FF2B5EF4-FFF2-40B4-BE49-F238E27FC236}">
                <a16:creationId xmlns:a16="http://schemas.microsoft.com/office/drawing/2014/main" id="{BB5C7BEA-3065-4221-BA4E-BE9C5F175F44}"/>
              </a:ext>
            </a:extLst>
          </p:cNvPr>
          <p:cNvSpPr>
            <a:spLocks noChangeArrowheads="1"/>
          </p:cNvSpPr>
          <p:nvPr/>
        </p:nvSpPr>
        <p:spPr bwMode="auto">
          <a:xfrm>
            <a:off x="5775960" y="2183891"/>
            <a:ext cx="38163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800">
                <a:effectLst>
                  <a:outerShdw blurRad="38100" dist="38100" dir="2700000" algn="tl">
                    <a:srgbClr val="C0C0C0"/>
                  </a:outerShdw>
                </a:effectLst>
                <a:latin typeface="+mj-lt"/>
              </a:rPr>
              <a:t>Compra de Bienes de Uso</a:t>
            </a:r>
            <a:endParaRPr lang="es-ES" altLang="es-AR" sz="1800">
              <a:effectLst>
                <a:outerShdw blurRad="38100" dist="38100" dir="2700000" algn="tl">
                  <a:srgbClr val="C0C0C0"/>
                </a:outerShdw>
              </a:effectLst>
              <a:latin typeface="+mj-lt"/>
            </a:endParaRPr>
          </a:p>
        </p:txBody>
      </p:sp>
      <p:sp>
        <p:nvSpPr>
          <p:cNvPr id="22544" name="Rectangle 16">
            <a:extLst>
              <a:ext uri="{FF2B5EF4-FFF2-40B4-BE49-F238E27FC236}">
                <a16:creationId xmlns:a16="http://schemas.microsoft.com/office/drawing/2014/main" id="{F75F4A99-13B1-4E7B-8253-CE4266157AFD}"/>
              </a:ext>
            </a:extLst>
          </p:cNvPr>
          <p:cNvSpPr>
            <a:spLocks noChangeArrowheads="1"/>
          </p:cNvSpPr>
          <p:nvPr/>
        </p:nvSpPr>
        <p:spPr bwMode="auto">
          <a:xfrm>
            <a:off x="9233661" y="2097594"/>
            <a:ext cx="2531112"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600" dirty="0">
                <a:effectLst>
                  <a:outerShdw blurRad="38100" dist="38100" dir="2700000" algn="tl">
                    <a:srgbClr val="C0C0C0"/>
                  </a:outerShdw>
                </a:effectLst>
                <a:latin typeface="+mj-lt"/>
              </a:rPr>
              <a:t>Evaluación de Proyectos de Inversión</a:t>
            </a:r>
            <a:endParaRPr lang="es-ES" altLang="es-AR" sz="1600" dirty="0">
              <a:effectLst>
                <a:outerShdw blurRad="38100" dist="38100" dir="2700000" algn="tl">
                  <a:srgbClr val="C0C0C0"/>
                </a:outerShdw>
              </a:effectLst>
              <a:latin typeface="+mj-lt"/>
            </a:endParaRPr>
          </a:p>
        </p:txBody>
      </p:sp>
      <p:sp>
        <p:nvSpPr>
          <p:cNvPr id="22546" name="AutoShape 18">
            <a:extLst>
              <a:ext uri="{FF2B5EF4-FFF2-40B4-BE49-F238E27FC236}">
                <a16:creationId xmlns:a16="http://schemas.microsoft.com/office/drawing/2014/main" id="{42278851-88AE-499E-9A0D-E05ECBF534B8}"/>
              </a:ext>
            </a:extLst>
          </p:cNvPr>
          <p:cNvSpPr>
            <a:spLocks/>
          </p:cNvSpPr>
          <p:nvPr/>
        </p:nvSpPr>
        <p:spPr bwMode="auto">
          <a:xfrm>
            <a:off x="3472499" y="922530"/>
            <a:ext cx="142875" cy="4967287"/>
          </a:xfrm>
          <a:prstGeom prst="leftBrace">
            <a:avLst>
              <a:gd name="adj1" fmla="val 28972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2547" name="AutoShape 19">
            <a:extLst>
              <a:ext uri="{FF2B5EF4-FFF2-40B4-BE49-F238E27FC236}">
                <a16:creationId xmlns:a16="http://schemas.microsoft.com/office/drawing/2014/main" id="{4C579A67-7408-496D-80EE-A8A054BA2D2E}"/>
              </a:ext>
            </a:extLst>
          </p:cNvPr>
          <p:cNvSpPr>
            <a:spLocks/>
          </p:cNvSpPr>
          <p:nvPr/>
        </p:nvSpPr>
        <p:spPr bwMode="auto">
          <a:xfrm>
            <a:off x="5633086" y="849505"/>
            <a:ext cx="142875" cy="1150937"/>
          </a:xfrm>
          <a:prstGeom prst="leftBrace">
            <a:avLst>
              <a:gd name="adj1" fmla="val 6713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2548" name="AutoShape 20">
            <a:extLst>
              <a:ext uri="{FF2B5EF4-FFF2-40B4-BE49-F238E27FC236}">
                <a16:creationId xmlns:a16="http://schemas.microsoft.com/office/drawing/2014/main" id="{3FF2D3D0-8036-425B-B80B-1A30BF2CA9FA}"/>
              </a:ext>
            </a:extLst>
          </p:cNvPr>
          <p:cNvSpPr>
            <a:spLocks/>
          </p:cNvSpPr>
          <p:nvPr/>
        </p:nvSpPr>
        <p:spPr bwMode="auto">
          <a:xfrm>
            <a:off x="5631498" y="2073467"/>
            <a:ext cx="144462" cy="576263"/>
          </a:xfrm>
          <a:prstGeom prst="leftBrace">
            <a:avLst>
              <a:gd name="adj1" fmla="val 3324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2550" name="Rectangle 22">
            <a:extLst>
              <a:ext uri="{FF2B5EF4-FFF2-40B4-BE49-F238E27FC236}">
                <a16:creationId xmlns:a16="http://schemas.microsoft.com/office/drawing/2014/main" id="{08391EC9-710D-49C8-9417-34BDC38B22B0}"/>
              </a:ext>
            </a:extLst>
          </p:cNvPr>
          <p:cNvSpPr>
            <a:spLocks noChangeArrowheads="1"/>
          </p:cNvSpPr>
          <p:nvPr/>
        </p:nvSpPr>
        <p:spPr bwMode="auto">
          <a:xfrm>
            <a:off x="1038860" y="1320291"/>
            <a:ext cx="2432050" cy="7921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eaLnBrk="1" hangingPunct="1">
              <a:defRPr/>
            </a:pPr>
            <a:r>
              <a:rPr lang="es-AR" altLang="es-AR" sz="2400" b="1" dirty="0">
                <a:solidFill>
                  <a:schemeClr val="bg1"/>
                </a:solidFill>
                <a:latin typeface="+mj-lt"/>
              </a:rPr>
              <a:t>Presupuesto Maestro</a:t>
            </a:r>
            <a:r>
              <a:rPr lang="es-AR" altLang="es-AR" sz="2400" b="1" u="sng" dirty="0">
                <a:solidFill>
                  <a:schemeClr val="bg1"/>
                </a:solidFill>
                <a:latin typeface="+mj-lt"/>
              </a:rPr>
              <a:t> </a:t>
            </a:r>
            <a:endParaRPr lang="es-ES" altLang="es-AR" sz="2400" b="1" u="sng" dirty="0">
              <a:solidFill>
                <a:schemeClr val="bg1"/>
              </a:solidFill>
              <a:latin typeface="+mj-lt"/>
            </a:endParaRPr>
          </a:p>
        </p:txBody>
      </p:sp>
      <p:sp>
        <p:nvSpPr>
          <p:cNvPr id="10253" name="Line 23">
            <a:extLst>
              <a:ext uri="{FF2B5EF4-FFF2-40B4-BE49-F238E27FC236}">
                <a16:creationId xmlns:a16="http://schemas.microsoft.com/office/drawing/2014/main" id="{638D6E7B-6161-4587-9729-61D23AB64E66}"/>
              </a:ext>
            </a:extLst>
          </p:cNvPr>
          <p:cNvSpPr>
            <a:spLocks noChangeShapeType="1"/>
          </p:cNvSpPr>
          <p:nvPr/>
        </p:nvSpPr>
        <p:spPr bwMode="auto">
          <a:xfrm>
            <a:off x="2246948" y="2073466"/>
            <a:ext cx="0" cy="9350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2552" name="Rectangle 24">
            <a:extLst>
              <a:ext uri="{FF2B5EF4-FFF2-40B4-BE49-F238E27FC236}">
                <a16:creationId xmlns:a16="http://schemas.microsoft.com/office/drawing/2014/main" id="{913453E9-54C5-418B-830F-E038D7B1C109}"/>
              </a:ext>
            </a:extLst>
          </p:cNvPr>
          <p:cNvSpPr>
            <a:spLocks noChangeArrowheads="1"/>
          </p:cNvSpPr>
          <p:nvPr/>
        </p:nvSpPr>
        <p:spPr bwMode="auto">
          <a:xfrm>
            <a:off x="5775960" y="1104392"/>
            <a:ext cx="4032250"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800" dirty="0">
                <a:effectLst>
                  <a:outerShdw blurRad="38100" dist="38100" dir="2700000" algn="tl">
                    <a:srgbClr val="C0C0C0"/>
                  </a:outerShdw>
                </a:effectLst>
                <a:latin typeface="+mj-lt"/>
              </a:rPr>
              <a:t>Presupuesto de Producción</a:t>
            </a:r>
            <a:endParaRPr lang="es-ES" altLang="es-AR" sz="1800" dirty="0">
              <a:effectLst>
                <a:outerShdw blurRad="38100" dist="38100" dir="2700000" algn="tl">
                  <a:srgbClr val="C0C0C0"/>
                </a:outerShdw>
              </a:effectLst>
              <a:latin typeface="+mj-lt"/>
            </a:endParaRPr>
          </a:p>
        </p:txBody>
      </p:sp>
      <p:sp>
        <p:nvSpPr>
          <p:cNvPr id="22553" name="Rectangle 25">
            <a:extLst>
              <a:ext uri="{FF2B5EF4-FFF2-40B4-BE49-F238E27FC236}">
                <a16:creationId xmlns:a16="http://schemas.microsoft.com/office/drawing/2014/main" id="{854CE085-3DBE-4F07-9DA8-240B8D327C27}"/>
              </a:ext>
            </a:extLst>
          </p:cNvPr>
          <p:cNvSpPr>
            <a:spLocks noChangeArrowheads="1"/>
          </p:cNvSpPr>
          <p:nvPr/>
        </p:nvSpPr>
        <p:spPr bwMode="auto">
          <a:xfrm>
            <a:off x="5775960" y="1391729"/>
            <a:ext cx="3816350"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800">
                <a:effectLst>
                  <a:outerShdw blurRad="38100" dist="38100" dir="2700000" algn="tl">
                    <a:srgbClr val="C0C0C0"/>
                  </a:outerShdw>
                </a:effectLst>
                <a:latin typeface="+mj-lt"/>
              </a:rPr>
              <a:t>Presupuesto de Compras</a:t>
            </a:r>
            <a:endParaRPr lang="es-ES" altLang="es-AR" sz="1800">
              <a:effectLst>
                <a:outerShdw blurRad="38100" dist="38100" dir="2700000" algn="tl">
                  <a:srgbClr val="C0C0C0"/>
                </a:outerShdw>
              </a:effectLst>
              <a:latin typeface="+mj-lt"/>
            </a:endParaRPr>
          </a:p>
        </p:txBody>
      </p:sp>
      <p:sp>
        <p:nvSpPr>
          <p:cNvPr id="22554" name="Rectangle 26">
            <a:extLst>
              <a:ext uri="{FF2B5EF4-FFF2-40B4-BE49-F238E27FC236}">
                <a16:creationId xmlns:a16="http://schemas.microsoft.com/office/drawing/2014/main" id="{BB47CB58-E62A-454E-A4E6-A3E042072A1E}"/>
              </a:ext>
            </a:extLst>
          </p:cNvPr>
          <p:cNvSpPr>
            <a:spLocks noChangeArrowheads="1"/>
          </p:cNvSpPr>
          <p:nvPr/>
        </p:nvSpPr>
        <p:spPr bwMode="auto">
          <a:xfrm>
            <a:off x="5775961" y="1679066"/>
            <a:ext cx="3457575"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800">
                <a:effectLst>
                  <a:outerShdw blurRad="38100" dist="38100" dir="2700000" algn="tl">
                    <a:srgbClr val="C0C0C0"/>
                  </a:outerShdw>
                </a:effectLst>
                <a:latin typeface="+mj-lt"/>
              </a:rPr>
              <a:t>Presupuesto de Gastos</a:t>
            </a:r>
            <a:endParaRPr lang="es-ES" altLang="es-AR" sz="1800">
              <a:effectLst>
                <a:outerShdw blurRad="38100" dist="38100" dir="2700000" algn="tl">
                  <a:srgbClr val="C0C0C0"/>
                </a:outerShdw>
              </a:effectLst>
              <a:latin typeface="+mj-lt"/>
            </a:endParaRPr>
          </a:p>
        </p:txBody>
      </p:sp>
      <p:sp>
        <p:nvSpPr>
          <p:cNvPr id="22558" name="Rectangle 30">
            <a:extLst>
              <a:ext uri="{FF2B5EF4-FFF2-40B4-BE49-F238E27FC236}">
                <a16:creationId xmlns:a16="http://schemas.microsoft.com/office/drawing/2014/main" id="{8F2CEC8E-1BE4-455D-87EF-B1AF85EAE0D3}"/>
              </a:ext>
            </a:extLst>
          </p:cNvPr>
          <p:cNvSpPr>
            <a:spLocks noChangeArrowheads="1"/>
          </p:cNvSpPr>
          <p:nvPr/>
        </p:nvSpPr>
        <p:spPr bwMode="auto">
          <a:xfrm>
            <a:off x="3615374" y="3479291"/>
            <a:ext cx="1944687"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eaLnBrk="1" hangingPunct="1">
              <a:defRPr/>
            </a:pPr>
            <a:r>
              <a:rPr lang="es-AR" altLang="es-AR" sz="2000">
                <a:effectLst>
                  <a:outerShdw blurRad="38100" dist="38100" dir="2700000" algn="tl">
                    <a:srgbClr val="C0C0C0"/>
                  </a:outerShdw>
                </a:effectLst>
                <a:latin typeface="+mj-lt"/>
              </a:rPr>
              <a:t>Presupuesto Financiero</a:t>
            </a:r>
            <a:endParaRPr lang="es-ES" altLang="es-AR" sz="2000">
              <a:effectLst>
                <a:outerShdw blurRad="38100" dist="38100" dir="2700000" algn="tl">
                  <a:srgbClr val="C0C0C0"/>
                </a:outerShdw>
              </a:effectLst>
              <a:latin typeface="+mj-lt"/>
            </a:endParaRPr>
          </a:p>
        </p:txBody>
      </p:sp>
      <p:sp>
        <p:nvSpPr>
          <p:cNvPr id="22559" name="AutoShape 31">
            <a:extLst>
              <a:ext uri="{FF2B5EF4-FFF2-40B4-BE49-F238E27FC236}">
                <a16:creationId xmlns:a16="http://schemas.microsoft.com/office/drawing/2014/main" id="{F7827258-FF9E-4AD0-AE5E-C753B4EB4B5A}"/>
              </a:ext>
            </a:extLst>
          </p:cNvPr>
          <p:cNvSpPr>
            <a:spLocks/>
          </p:cNvSpPr>
          <p:nvPr/>
        </p:nvSpPr>
        <p:spPr bwMode="auto">
          <a:xfrm>
            <a:off x="5633086" y="2865630"/>
            <a:ext cx="142875" cy="2016125"/>
          </a:xfrm>
          <a:prstGeom prst="leftBrace">
            <a:avLst>
              <a:gd name="adj1" fmla="val 11759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2560" name="Rectangle 32">
            <a:extLst>
              <a:ext uri="{FF2B5EF4-FFF2-40B4-BE49-F238E27FC236}">
                <a16:creationId xmlns:a16="http://schemas.microsoft.com/office/drawing/2014/main" id="{DDAB345F-F3BB-4240-A1CE-E5A140A81128}"/>
              </a:ext>
            </a:extLst>
          </p:cNvPr>
          <p:cNvSpPr>
            <a:spLocks noChangeArrowheads="1"/>
          </p:cNvSpPr>
          <p:nvPr/>
        </p:nvSpPr>
        <p:spPr bwMode="auto">
          <a:xfrm>
            <a:off x="5704524" y="3163378"/>
            <a:ext cx="143827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eaLnBrk="1" hangingPunct="1">
              <a:defRPr/>
            </a:pPr>
            <a:r>
              <a:rPr lang="es-AR" altLang="es-AR" sz="1800">
                <a:effectLst>
                  <a:outerShdw blurRad="38100" dist="38100" dir="2700000" algn="tl">
                    <a:srgbClr val="C0C0C0"/>
                  </a:outerShdw>
                </a:effectLst>
                <a:latin typeface="+mj-lt"/>
              </a:rPr>
              <a:t>De Ingresos</a:t>
            </a:r>
            <a:endParaRPr lang="es-ES" altLang="es-AR" sz="1800">
              <a:effectLst>
                <a:outerShdw blurRad="38100" dist="38100" dir="2700000" algn="tl">
                  <a:srgbClr val="C0C0C0"/>
                </a:outerShdw>
              </a:effectLst>
              <a:latin typeface="+mj-lt"/>
            </a:endParaRPr>
          </a:p>
        </p:txBody>
      </p:sp>
      <p:sp>
        <p:nvSpPr>
          <p:cNvPr id="22561" name="Rectangle 33">
            <a:extLst>
              <a:ext uri="{FF2B5EF4-FFF2-40B4-BE49-F238E27FC236}">
                <a16:creationId xmlns:a16="http://schemas.microsoft.com/office/drawing/2014/main" id="{5934A870-5042-48B4-8CD5-DFBC9EB3E557}"/>
              </a:ext>
            </a:extLst>
          </p:cNvPr>
          <p:cNvSpPr>
            <a:spLocks noChangeArrowheads="1"/>
          </p:cNvSpPr>
          <p:nvPr/>
        </p:nvSpPr>
        <p:spPr bwMode="auto">
          <a:xfrm>
            <a:off x="7215824" y="2688716"/>
            <a:ext cx="4049584"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buFontTx/>
              <a:buChar char="•"/>
              <a:defRPr/>
            </a:pPr>
            <a:r>
              <a:rPr lang="es-AR" altLang="es-AR" sz="1800" dirty="0">
                <a:effectLst>
                  <a:outerShdw blurRad="38100" dist="38100" dir="2700000" algn="tl">
                    <a:srgbClr val="C0C0C0"/>
                  </a:outerShdw>
                </a:effectLst>
                <a:latin typeface="+mj-lt"/>
              </a:rPr>
              <a:t> Cobranzas por operaciones realizadas al inicio del período</a:t>
            </a:r>
            <a:endParaRPr lang="es-ES" altLang="es-AR" sz="1800" dirty="0">
              <a:effectLst>
                <a:outerShdw blurRad="38100" dist="38100" dir="2700000" algn="tl">
                  <a:srgbClr val="C0C0C0"/>
                </a:outerShdw>
              </a:effectLst>
              <a:latin typeface="+mj-lt"/>
            </a:endParaRPr>
          </a:p>
        </p:txBody>
      </p:sp>
      <p:sp>
        <p:nvSpPr>
          <p:cNvPr id="22562" name="Rectangle 34">
            <a:extLst>
              <a:ext uri="{FF2B5EF4-FFF2-40B4-BE49-F238E27FC236}">
                <a16:creationId xmlns:a16="http://schemas.microsoft.com/office/drawing/2014/main" id="{5C35FC1C-7CBB-43DE-893E-A4E8B7257FFD}"/>
              </a:ext>
            </a:extLst>
          </p:cNvPr>
          <p:cNvSpPr>
            <a:spLocks noChangeArrowheads="1"/>
          </p:cNvSpPr>
          <p:nvPr/>
        </p:nvSpPr>
        <p:spPr bwMode="auto">
          <a:xfrm>
            <a:off x="7215824" y="3264978"/>
            <a:ext cx="3513137"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buFontTx/>
              <a:buChar char="•"/>
              <a:defRPr/>
            </a:pPr>
            <a:r>
              <a:rPr lang="es-AR" altLang="es-AR" sz="1800" dirty="0">
                <a:effectLst>
                  <a:outerShdw blurRad="38100" dist="38100" dir="2700000" algn="tl">
                    <a:srgbClr val="C0C0C0"/>
                  </a:outerShdw>
                </a:effectLst>
                <a:latin typeface="+mj-lt"/>
              </a:rPr>
              <a:t> Cobranzas por operaciones planeadas en el presupuesto</a:t>
            </a:r>
            <a:endParaRPr lang="es-ES" altLang="es-AR" sz="1800" dirty="0">
              <a:effectLst>
                <a:outerShdw blurRad="38100" dist="38100" dir="2700000" algn="tl">
                  <a:srgbClr val="C0C0C0"/>
                </a:outerShdw>
              </a:effectLst>
              <a:latin typeface="+mj-lt"/>
            </a:endParaRPr>
          </a:p>
        </p:txBody>
      </p:sp>
      <p:sp>
        <p:nvSpPr>
          <p:cNvPr id="22565" name="Rectangle 37">
            <a:extLst>
              <a:ext uri="{FF2B5EF4-FFF2-40B4-BE49-F238E27FC236}">
                <a16:creationId xmlns:a16="http://schemas.microsoft.com/office/drawing/2014/main" id="{203ADDA3-6862-4A47-8C5B-4FC59ED765DF}"/>
              </a:ext>
            </a:extLst>
          </p:cNvPr>
          <p:cNvSpPr>
            <a:spLocks noChangeArrowheads="1"/>
          </p:cNvSpPr>
          <p:nvPr/>
        </p:nvSpPr>
        <p:spPr bwMode="auto">
          <a:xfrm>
            <a:off x="7215824" y="3912678"/>
            <a:ext cx="3958144"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buFontTx/>
              <a:buChar char="•"/>
              <a:defRPr/>
            </a:pPr>
            <a:r>
              <a:rPr lang="es-AR" altLang="es-AR" sz="1800" dirty="0">
                <a:effectLst>
                  <a:outerShdw blurRad="38100" dist="38100" dir="2700000" algn="tl">
                    <a:srgbClr val="C0C0C0"/>
                  </a:outerShdw>
                </a:effectLst>
                <a:latin typeface="+mj-lt"/>
              </a:rPr>
              <a:t> Pagos por operaciones realizadas al inicio del período</a:t>
            </a:r>
            <a:endParaRPr lang="es-ES" altLang="es-AR" sz="1800" dirty="0">
              <a:effectLst>
                <a:outerShdw blurRad="38100" dist="38100" dir="2700000" algn="tl">
                  <a:srgbClr val="C0C0C0"/>
                </a:outerShdw>
              </a:effectLst>
              <a:latin typeface="+mj-lt"/>
            </a:endParaRPr>
          </a:p>
        </p:txBody>
      </p:sp>
      <p:sp>
        <p:nvSpPr>
          <p:cNvPr id="22566" name="Rectangle 38">
            <a:extLst>
              <a:ext uri="{FF2B5EF4-FFF2-40B4-BE49-F238E27FC236}">
                <a16:creationId xmlns:a16="http://schemas.microsoft.com/office/drawing/2014/main" id="{75179DD9-E8B1-451D-AA83-F6E9BE417BAB}"/>
              </a:ext>
            </a:extLst>
          </p:cNvPr>
          <p:cNvSpPr>
            <a:spLocks noChangeArrowheads="1"/>
          </p:cNvSpPr>
          <p:nvPr/>
        </p:nvSpPr>
        <p:spPr bwMode="auto">
          <a:xfrm>
            <a:off x="7215824" y="4488941"/>
            <a:ext cx="351313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buFontTx/>
              <a:buChar char="•"/>
              <a:defRPr/>
            </a:pPr>
            <a:r>
              <a:rPr lang="es-AR" altLang="es-AR" sz="1800">
                <a:effectLst>
                  <a:outerShdw blurRad="38100" dist="38100" dir="2700000" algn="tl">
                    <a:srgbClr val="C0C0C0"/>
                  </a:outerShdw>
                </a:effectLst>
                <a:latin typeface="+mj-lt"/>
              </a:rPr>
              <a:t> Pagos por operaciones planeadas en el presupuesto</a:t>
            </a:r>
            <a:endParaRPr lang="es-ES" altLang="es-AR" sz="1800">
              <a:effectLst>
                <a:outerShdw blurRad="38100" dist="38100" dir="2700000" algn="tl">
                  <a:srgbClr val="C0C0C0"/>
                </a:outerShdw>
              </a:effectLst>
              <a:latin typeface="+mj-lt"/>
            </a:endParaRPr>
          </a:p>
        </p:txBody>
      </p:sp>
      <p:sp>
        <p:nvSpPr>
          <p:cNvPr id="22576" name="Rectangle 48">
            <a:extLst>
              <a:ext uri="{FF2B5EF4-FFF2-40B4-BE49-F238E27FC236}">
                <a16:creationId xmlns:a16="http://schemas.microsoft.com/office/drawing/2014/main" id="{A086F95A-CB14-422A-8EC9-3E960FD06F7F}"/>
              </a:ext>
            </a:extLst>
          </p:cNvPr>
          <p:cNvSpPr>
            <a:spLocks noChangeArrowheads="1"/>
          </p:cNvSpPr>
          <p:nvPr/>
        </p:nvSpPr>
        <p:spPr bwMode="auto">
          <a:xfrm>
            <a:off x="5733098" y="4330190"/>
            <a:ext cx="14097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eaLnBrk="1" hangingPunct="1">
              <a:defRPr/>
            </a:pPr>
            <a:r>
              <a:rPr lang="es-AR" altLang="es-AR" sz="1800">
                <a:effectLst>
                  <a:outerShdw blurRad="38100" dist="38100" dir="2700000" algn="tl">
                    <a:srgbClr val="C0C0C0"/>
                  </a:outerShdw>
                </a:effectLst>
                <a:latin typeface="+mj-lt"/>
              </a:rPr>
              <a:t>De Egresos</a:t>
            </a:r>
            <a:endParaRPr lang="es-ES" altLang="es-AR" sz="1800">
              <a:effectLst>
                <a:outerShdw blurRad="38100" dist="38100" dir="2700000" algn="tl">
                  <a:srgbClr val="C0C0C0"/>
                </a:outerShdw>
              </a:effectLst>
              <a:latin typeface="+mj-lt"/>
            </a:endParaRPr>
          </a:p>
        </p:txBody>
      </p:sp>
      <p:sp>
        <p:nvSpPr>
          <p:cNvPr id="22577" name="AutoShape 49">
            <a:extLst>
              <a:ext uri="{FF2B5EF4-FFF2-40B4-BE49-F238E27FC236}">
                <a16:creationId xmlns:a16="http://schemas.microsoft.com/office/drawing/2014/main" id="{97036B57-E3EA-4FD9-828F-B60C342B25AA}"/>
              </a:ext>
            </a:extLst>
          </p:cNvPr>
          <p:cNvSpPr>
            <a:spLocks/>
          </p:cNvSpPr>
          <p:nvPr/>
        </p:nvSpPr>
        <p:spPr bwMode="auto">
          <a:xfrm>
            <a:off x="7144385" y="2792605"/>
            <a:ext cx="71438" cy="1152525"/>
          </a:xfrm>
          <a:prstGeom prst="leftBrace">
            <a:avLst>
              <a:gd name="adj1" fmla="val 13444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2578" name="AutoShape 50">
            <a:extLst>
              <a:ext uri="{FF2B5EF4-FFF2-40B4-BE49-F238E27FC236}">
                <a16:creationId xmlns:a16="http://schemas.microsoft.com/office/drawing/2014/main" id="{EEA4AA36-89F2-4C06-BC49-F9D7D0807AAE}"/>
              </a:ext>
            </a:extLst>
          </p:cNvPr>
          <p:cNvSpPr>
            <a:spLocks/>
          </p:cNvSpPr>
          <p:nvPr/>
        </p:nvSpPr>
        <p:spPr bwMode="auto">
          <a:xfrm>
            <a:off x="7144385" y="4016567"/>
            <a:ext cx="71438" cy="1152525"/>
          </a:xfrm>
          <a:prstGeom prst="leftBrace">
            <a:avLst>
              <a:gd name="adj1" fmla="val 13444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2579" name="Rectangle 51">
            <a:extLst>
              <a:ext uri="{FF2B5EF4-FFF2-40B4-BE49-F238E27FC236}">
                <a16:creationId xmlns:a16="http://schemas.microsoft.com/office/drawing/2014/main" id="{79C3607C-459D-43D7-9B6F-3BED43D3415E}"/>
              </a:ext>
            </a:extLst>
          </p:cNvPr>
          <p:cNvSpPr>
            <a:spLocks noChangeArrowheads="1"/>
          </p:cNvSpPr>
          <p:nvPr/>
        </p:nvSpPr>
        <p:spPr bwMode="auto">
          <a:xfrm>
            <a:off x="3615374" y="5136641"/>
            <a:ext cx="1944687"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eaLnBrk="1" hangingPunct="1">
              <a:defRPr/>
            </a:pPr>
            <a:r>
              <a:rPr lang="es-AR" altLang="es-AR" sz="2000">
                <a:effectLst>
                  <a:outerShdw blurRad="38100" dist="38100" dir="2700000" algn="tl">
                    <a:srgbClr val="C0C0C0"/>
                  </a:outerShdw>
                </a:effectLst>
                <a:latin typeface="+mj-lt"/>
              </a:rPr>
              <a:t>Estados de Síntesis</a:t>
            </a:r>
            <a:endParaRPr lang="es-ES" altLang="es-AR" sz="2000">
              <a:effectLst>
                <a:outerShdw blurRad="38100" dist="38100" dir="2700000" algn="tl">
                  <a:srgbClr val="C0C0C0"/>
                </a:outerShdw>
              </a:effectLst>
              <a:latin typeface="+mj-lt"/>
            </a:endParaRPr>
          </a:p>
        </p:txBody>
      </p:sp>
      <p:sp>
        <p:nvSpPr>
          <p:cNvPr id="22581" name="AutoShape 53">
            <a:extLst>
              <a:ext uri="{FF2B5EF4-FFF2-40B4-BE49-F238E27FC236}">
                <a16:creationId xmlns:a16="http://schemas.microsoft.com/office/drawing/2014/main" id="{B664BC88-6DFB-4F74-A8ED-8E568521CF02}"/>
              </a:ext>
            </a:extLst>
          </p:cNvPr>
          <p:cNvSpPr>
            <a:spLocks/>
          </p:cNvSpPr>
          <p:nvPr/>
        </p:nvSpPr>
        <p:spPr bwMode="auto">
          <a:xfrm>
            <a:off x="5629910" y="5024629"/>
            <a:ext cx="146050" cy="863600"/>
          </a:xfrm>
          <a:prstGeom prst="leftBrace">
            <a:avLst>
              <a:gd name="adj1" fmla="val 4927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22582" name="Rectangle 54">
            <a:extLst>
              <a:ext uri="{FF2B5EF4-FFF2-40B4-BE49-F238E27FC236}">
                <a16:creationId xmlns:a16="http://schemas.microsoft.com/office/drawing/2014/main" id="{078F09FB-40AD-4D7D-A5CC-69E71F54384B}"/>
              </a:ext>
            </a:extLst>
          </p:cNvPr>
          <p:cNvSpPr>
            <a:spLocks noChangeArrowheads="1"/>
          </p:cNvSpPr>
          <p:nvPr/>
        </p:nvSpPr>
        <p:spPr bwMode="auto">
          <a:xfrm>
            <a:off x="5775961" y="5136641"/>
            <a:ext cx="4264151"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800" dirty="0">
                <a:effectLst>
                  <a:outerShdw blurRad="38100" dist="38100" dir="2700000" algn="tl">
                    <a:srgbClr val="C0C0C0"/>
                  </a:outerShdw>
                </a:effectLst>
                <a:latin typeface="+mj-lt"/>
              </a:rPr>
              <a:t>Cuadro de Resultados proforma</a:t>
            </a:r>
            <a:endParaRPr lang="es-ES" altLang="es-AR" sz="1800" dirty="0">
              <a:effectLst>
                <a:outerShdw blurRad="38100" dist="38100" dir="2700000" algn="tl">
                  <a:srgbClr val="C0C0C0"/>
                </a:outerShdw>
              </a:effectLst>
              <a:latin typeface="+mj-lt"/>
            </a:endParaRPr>
          </a:p>
        </p:txBody>
      </p:sp>
      <p:sp>
        <p:nvSpPr>
          <p:cNvPr id="22583" name="Rectangle 55">
            <a:extLst>
              <a:ext uri="{FF2B5EF4-FFF2-40B4-BE49-F238E27FC236}">
                <a16:creationId xmlns:a16="http://schemas.microsoft.com/office/drawing/2014/main" id="{D281A879-2E31-492D-8F47-8843978C06B5}"/>
              </a:ext>
            </a:extLst>
          </p:cNvPr>
          <p:cNvSpPr>
            <a:spLocks noChangeArrowheads="1"/>
          </p:cNvSpPr>
          <p:nvPr/>
        </p:nvSpPr>
        <p:spPr bwMode="auto">
          <a:xfrm>
            <a:off x="5774372" y="5497003"/>
            <a:ext cx="3817937"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800" dirty="0">
                <a:effectLst>
                  <a:outerShdw blurRad="38100" dist="38100" dir="2700000" algn="tl">
                    <a:srgbClr val="C0C0C0"/>
                  </a:outerShdw>
                </a:effectLst>
                <a:latin typeface="+mj-lt"/>
              </a:rPr>
              <a:t>Balance General proforma</a:t>
            </a:r>
            <a:endParaRPr lang="es-ES" altLang="es-AR" sz="1800" dirty="0">
              <a:effectLst>
                <a:outerShdw blurRad="38100" dist="38100" dir="2700000" algn="tl">
                  <a:srgbClr val="C0C0C0"/>
                </a:outerShdw>
              </a:effectLst>
              <a:latin typeface="+mj-lt"/>
            </a:endParaRPr>
          </a:p>
        </p:txBody>
      </p:sp>
      <p:sp>
        <p:nvSpPr>
          <p:cNvPr id="10271" name="Line 64">
            <a:extLst>
              <a:ext uri="{FF2B5EF4-FFF2-40B4-BE49-F238E27FC236}">
                <a16:creationId xmlns:a16="http://schemas.microsoft.com/office/drawing/2014/main" id="{2313E885-DC42-4690-B2CB-E66367B1AC2E}"/>
              </a:ext>
            </a:extLst>
          </p:cNvPr>
          <p:cNvSpPr>
            <a:spLocks noChangeShapeType="1"/>
          </p:cNvSpPr>
          <p:nvPr/>
        </p:nvSpPr>
        <p:spPr bwMode="auto">
          <a:xfrm flipH="1" flipV="1">
            <a:off x="8809227" y="2361598"/>
            <a:ext cx="422722" cy="415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10272" name="Line 66">
            <a:extLst>
              <a:ext uri="{FF2B5EF4-FFF2-40B4-BE49-F238E27FC236}">
                <a16:creationId xmlns:a16="http://schemas.microsoft.com/office/drawing/2014/main" id="{C9570F55-2C53-49D2-A2FE-3749CF05894F}"/>
              </a:ext>
            </a:extLst>
          </p:cNvPr>
          <p:cNvSpPr>
            <a:spLocks noChangeShapeType="1"/>
          </p:cNvSpPr>
          <p:nvPr/>
        </p:nvSpPr>
        <p:spPr bwMode="auto">
          <a:xfrm flipH="1" flipV="1">
            <a:off x="8476295" y="1859245"/>
            <a:ext cx="675069" cy="168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2596" name="Rectangle 68">
            <a:extLst>
              <a:ext uri="{FF2B5EF4-FFF2-40B4-BE49-F238E27FC236}">
                <a16:creationId xmlns:a16="http://schemas.microsoft.com/office/drawing/2014/main" id="{9DAAB96E-FA1C-4354-96E2-3DA647633709}"/>
              </a:ext>
            </a:extLst>
          </p:cNvPr>
          <p:cNvSpPr>
            <a:spLocks noChangeArrowheads="1"/>
          </p:cNvSpPr>
          <p:nvPr/>
        </p:nvSpPr>
        <p:spPr bwMode="auto">
          <a:xfrm>
            <a:off x="9111107" y="1548765"/>
            <a:ext cx="2445131"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pitchFamily="34" charset="0"/>
                <a:cs typeface="Arial" pitchFamily="34" charset="0"/>
              </a:defRPr>
            </a:lvl1pPr>
            <a:lvl2pPr marL="828675" indent="-285750" algn="ctr">
              <a:spcBef>
                <a:spcPct val="20000"/>
              </a:spcBef>
              <a:defRPr sz="2800">
                <a:solidFill>
                  <a:schemeClr val="tx1"/>
                </a:solidFill>
                <a:latin typeface="Arial" pitchFamily="34" charset="0"/>
                <a:cs typeface="Arial" pitchFamily="34" charset="0"/>
              </a:defRPr>
            </a:lvl2pPr>
            <a:lvl3pPr marL="1236663" indent="-228600" algn="ctr">
              <a:spcBef>
                <a:spcPct val="20000"/>
              </a:spcBef>
              <a:defRPr sz="2400">
                <a:solidFill>
                  <a:schemeClr val="tx1"/>
                </a:solidFill>
                <a:latin typeface="Arial" pitchFamily="34" charset="0"/>
                <a:cs typeface="Arial" pitchFamily="34" charset="0"/>
              </a:defRPr>
            </a:lvl3pPr>
            <a:lvl4pPr marL="1644650" indent="-228600" algn="ctr">
              <a:spcBef>
                <a:spcPct val="20000"/>
              </a:spcBef>
              <a:defRPr sz="2000">
                <a:solidFill>
                  <a:schemeClr val="tx1"/>
                </a:solidFill>
                <a:latin typeface="Arial" pitchFamily="34" charset="0"/>
                <a:cs typeface="Arial" pitchFamily="34" charset="0"/>
              </a:defRPr>
            </a:lvl4pPr>
            <a:lvl5pPr marL="2057400" indent="-228600" algn="ctr">
              <a:spcBef>
                <a:spcPct val="20000"/>
              </a:spcBef>
              <a:defRPr sz="2000">
                <a:solidFill>
                  <a:schemeClr val="tx1"/>
                </a:solidFill>
                <a:latin typeface="Arial" pitchFamily="34" charset="0"/>
                <a:cs typeface="Arial" pitchFamily="34" charset="0"/>
              </a:defRPr>
            </a:lvl5pPr>
            <a:lvl6pPr marL="2514600" indent="-228600" algn="ctr" fontAlgn="base">
              <a:spcBef>
                <a:spcPct val="20000"/>
              </a:spcBef>
              <a:spcAft>
                <a:spcPct val="0"/>
              </a:spcAft>
              <a:defRPr sz="2000">
                <a:solidFill>
                  <a:schemeClr val="tx1"/>
                </a:solidFill>
                <a:latin typeface="Arial" pitchFamily="34" charset="0"/>
                <a:cs typeface="Arial" pitchFamily="34" charset="0"/>
              </a:defRPr>
            </a:lvl6pPr>
            <a:lvl7pPr marL="2971800" indent="-228600" algn="ctr" fontAlgn="base">
              <a:spcBef>
                <a:spcPct val="20000"/>
              </a:spcBef>
              <a:spcAft>
                <a:spcPct val="0"/>
              </a:spcAft>
              <a:defRPr sz="2000">
                <a:solidFill>
                  <a:schemeClr val="tx1"/>
                </a:solidFill>
                <a:latin typeface="Arial" pitchFamily="34" charset="0"/>
                <a:cs typeface="Arial" pitchFamily="34" charset="0"/>
              </a:defRPr>
            </a:lvl7pPr>
            <a:lvl8pPr marL="3429000" indent="-228600" algn="ctr" fontAlgn="base">
              <a:spcBef>
                <a:spcPct val="20000"/>
              </a:spcBef>
              <a:spcAft>
                <a:spcPct val="0"/>
              </a:spcAft>
              <a:defRPr sz="2000">
                <a:solidFill>
                  <a:schemeClr val="tx1"/>
                </a:solidFill>
                <a:latin typeface="Arial" pitchFamily="34" charset="0"/>
                <a:cs typeface="Arial" pitchFamily="34" charset="0"/>
              </a:defRPr>
            </a:lvl8pPr>
            <a:lvl9pPr marL="3886200" indent="-228600" algn="ctr" fontAlgn="base">
              <a:spcBef>
                <a:spcPct val="20000"/>
              </a:spcBef>
              <a:spcAft>
                <a:spcPct val="0"/>
              </a:spcAft>
              <a:defRPr sz="2000">
                <a:solidFill>
                  <a:schemeClr val="tx1"/>
                </a:solidFill>
                <a:latin typeface="Arial" pitchFamily="34" charset="0"/>
                <a:cs typeface="Arial" pitchFamily="34" charset="0"/>
              </a:defRPr>
            </a:lvl9pPr>
          </a:lstStyle>
          <a:p>
            <a:pPr algn="l" eaLnBrk="1" hangingPunct="1">
              <a:defRPr/>
            </a:pPr>
            <a:r>
              <a:rPr lang="es-AR" altLang="es-AR" sz="1600" dirty="0">
                <a:effectLst>
                  <a:outerShdw blurRad="38100" dist="38100" dir="2700000" algn="tl">
                    <a:srgbClr val="C0C0C0"/>
                  </a:outerShdw>
                </a:effectLst>
                <a:latin typeface="+mj-lt"/>
              </a:rPr>
              <a:t>Comercialización, Administración, etc.</a:t>
            </a:r>
            <a:endParaRPr lang="es-ES" altLang="es-AR" sz="1600" dirty="0">
              <a:effectLst>
                <a:outerShdw blurRad="38100" dist="38100" dir="2700000" algn="tl">
                  <a:srgbClr val="C0C0C0"/>
                </a:outerShdw>
              </a:effectLst>
              <a:latin typeface="+mj-lt"/>
            </a:endParaRPr>
          </a:p>
        </p:txBody>
      </p:sp>
      <p:sp>
        <p:nvSpPr>
          <p:cNvPr id="34" name="33 CuadroTexto">
            <a:extLst>
              <a:ext uri="{FF2B5EF4-FFF2-40B4-BE49-F238E27FC236}">
                <a16:creationId xmlns:a16="http://schemas.microsoft.com/office/drawing/2014/main" id="{1E6BA21C-55FD-452E-9DC0-820A4252411E}"/>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8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53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54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5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54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54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54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55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5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5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5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558"/>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55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56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56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56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56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56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57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2577"/>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257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2579"/>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58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258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258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2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8" grpId="0" animBg="1"/>
      <p:bldP spid="22539" grpId="0"/>
      <p:bldP spid="22540" grpId="0"/>
      <p:bldP spid="22542" grpId="0"/>
      <p:bldP spid="22543" grpId="0"/>
      <p:bldP spid="22544" grpId="0"/>
      <p:bldP spid="22546" grpId="0" animBg="1"/>
      <p:bldP spid="22547" grpId="0" animBg="1"/>
      <p:bldP spid="22548" grpId="0" animBg="1"/>
      <p:bldP spid="22550" grpId="0" animBg="1"/>
      <p:bldP spid="22552" grpId="0"/>
      <p:bldP spid="22553" grpId="0"/>
      <p:bldP spid="22554" grpId="0"/>
      <p:bldP spid="22558" grpId="0"/>
      <p:bldP spid="22559" grpId="0" animBg="1"/>
      <p:bldP spid="22560" grpId="0"/>
      <p:bldP spid="22561" grpId="0"/>
      <p:bldP spid="22562" grpId="0"/>
      <p:bldP spid="22565" grpId="0"/>
      <p:bldP spid="22566" grpId="0"/>
      <p:bldP spid="22576" grpId="0"/>
      <p:bldP spid="22577" grpId="0" animBg="1"/>
      <p:bldP spid="22578" grpId="0" animBg="1"/>
      <p:bldP spid="22579" grpId="0"/>
      <p:bldP spid="22581" grpId="0" animBg="1"/>
      <p:bldP spid="22582" grpId="0"/>
      <p:bldP spid="22583" grpId="0"/>
      <p:bldP spid="2259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0" name="Text Box 64">
            <a:extLst>
              <a:ext uri="{FF2B5EF4-FFF2-40B4-BE49-F238E27FC236}">
                <a16:creationId xmlns:a16="http://schemas.microsoft.com/office/drawing/2014/main" id="{4975F7EE-8B4E-4398-86C2-72BC2EC1F334}"/>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SISTEMA PRESUPUESTARIO</a:t>
            </a:r>
          </a:p>
        </p:txBody>
      </p:sp>
      <p:sp>
        <p:nvSpPr>
          <p:cNvPr id="9281" name="Rectangle 65">
            <a:extLst>
              <a:ext uri="{FF2B5EF4-FFF2-40B4-BE49-F238E27FC236}">
                <a16:creationId xmlns:a16="http://schemas.microsoft.com/office/drawing/2014/main" id="{8538CA57-8453-4008-991F-7C8FB8D7C489}"/>
              </a:ext>
            </a:extLst>
          </p:cNvPr>
          <p:cNvSpPr>
            <a:spLocks noChangeArrowheads="1"/>
          </p:cNvSpPr>
          <p:nvPr/>
        </p:nvSpPr>
        <p:spPr bwMode="auto">
          <a:xfrm>
            <a:off x="1207294" y="2462530"/>
            <a:ext cx="9777412" cy="164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Los presupuestos de inversiones cuantifican las necesidades en bienes de capital que la empresa espera generar en un período como consecuencia de las decisiones tomadas en la planificación estratégica. Dicho presupuesto involucra la evaluación económica de los proyectos de inversión y el presupuesto financiero de largo plazo.</a:t>
            </a:r>
          </a:p>
        </p:txBody>
      </p:sp>
      <p:sp>
        <p:nvSpPr>
          <p:cNvPr id="9283" name="Rectangle 67">
            <a:extLst>
              <a:ext uri="{FF2B5EF4-FFF2-40B4-BE49-F238E27FC236}">
                <a16:creationId xmlns:a16="http://schemas.microsoft.com/office/drawing/2014/main" id="{B2B18DBB-4BA6-4037-A053-DB21578CD903}"/>
              </a:ext>
            </a:extLst>
          </p:cNvPr>
          <p:cNvSpPr>
            <a:spLocks noChangeArrowheads="1"/>
          </p:cNvSpPr>
          <p:nvPr/>
        </p:nvSpPr>
        <p:spPr bwMode="auto">
          <a:xfrm>
            <a:off x="1207293" y="4221447"/>
            <a:ext cx="9777413" cy="971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A partir de los presupuestos operativos y de inversiones se configurará el presupuesto de caja para finalmente formular el balance general de síntesis basada en previsiones.</a:t>
            </a:r>
          </a:p>
        </p:txBody>
      </p:sp>
      <p:sp>
        <p:nvSpPr>
          <p:cNvPr id="9286" name="Rectangle 70">
            <a:extLst>
              <a:ext uri="{FF2B5EF4-FFF2-40B4-BE49-F238E27FC236}">
                <a16:creationId xmlns:a16="http://schemas.microsoft.com/office/drawing/2014/main" id="{8949A249-2955-43E1-860E-511A1D92810C}"/>
              </a:ext>
            </a:extLst>
          </p:cNvPr>
          <p:cNvSpPr>
            <a:spLocks noChangeArrowheads="1"/>
          </p:cNvSpPr>
          <p:nvPr/>
        </p:nvSpPr>
        <p:spPr bwMode="auto">
          <a:xfrm>
            <a:off x="1207293" y="1049338"/>
            <a:ext cx="9777413" cy="1446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Los presupuestos operativos describen todo lo relacionado con las actividades de explotación que prevé llevar a cabo la empresa en el próximo período anual, y que luego permitirán formular los estados económicos y financieros.</a:t>
            </a:r>
          </a:p>
        </p:txBody>
      </p:sp>
      <p:sp>
        <p:nvSpPr>
          <p:cNvPr id="6" name="5 CuadroTexto">
            <a:extLst>
              <a:ext uri="{FF2B5EF4-FFF2-40B4-BE49-F238E27FC236}">
                <a16:creationId xmlns:a16="http://schemas.microsoft.com/office/drawing/2014/main" id="{DD4A1C8C-0FF8-437D-AB53-593225667692}"/>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9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8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81" grpId="0"/>
      <p:bldP spid="9283" grpId="0"/>
      <p:bldP spid="928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9" name="Text Box 19">
            <a:extLst>
              <a:ext uri="{FF2B5EF4-FFF2-40B4-BE49-F238E27FC236}">
                <a16:creationId xmlns:a16="http://schemas.microsoft.com/office/drawing/2014/main" id="{CB475AE3-7771-428F-8A58-4ADDC26D0A43}"/>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VENTAS</a:t>
            </a:r>
          </a:p>
        </p:txBody>
      </p:sp>
      <p:sp>
        <p:nvSpPr>
          <p:cNvPr id="10260" name="Rectangle 20">
            <a:extLst>
              <a:ext uri="{FF2B5EF4-FFF2-40B4-BE49-F238E27FC236}">
                <a16:creationId xmlns:a16="http://schemas.microsoft.com/office/drawing/2014/main" id="{002BC5C1-A98D-4C39-B13D-5E6D8B591D7D}"/>
              </a:ext>
            </a:extLst>
          </p:cNvPr>
          <p:cNvSpPr>
            <a:spLocks noChangeArrowheads="1"/>
          </p:cNvSpPr>
          <p:nvPr/>
        </p:nvSpPr>
        <p:spPr bwMode="auto">
          <a:xfrm>
            <a:off x="1214438" y="1052513"/>
            <a:ext cx="9777412" cy="165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solidFill>
                  <a:schemeClr val="tx1">
                    <a:lumMod val="75000"/>
                    <a:lumOff val="25000"/>
                  </a:schemeClr>
                </a:solidFill>
                <a:latin typeface="+mj-lt"/>
              </a:rPr>
              <a:t>El presupuesto comienza con la formulación del Plan de Ventas para el período, generalmente de un año, expresado en unidades de producto, en conjunto con el área fabril y financiera, basado en técnicas de pronóstico.</a:t>
            </a:r>
          </a:p>
        </p:txBody>
      </p:sp>
      <p:sp>
        <p:nvSpPr>
          <p:cNvPr id="10261" name="Rectangle 21">
            <a:extLst>
              <a:ext uri="{FF2B5EF4-FFF2-40B4-BE49-F238E27FC236}">
                <a16:creationId xmlns:a16="http://schemas.microsoft.com/office/drawing/2014/main" id="{EF10439E-D20D-458B-B7FD-314716D7E72D}"/>
              </a:ext>
            </a:extLst>
          </p:cNvPr>
          <p:cNvSpPr>
            <a:spLocks noChangeArrowheads="1"/>
          </p:cNvSpPr>
          <p:nvPr/>
        </p:nvSpPr>
        <p:spPr bwMode="auto">
          <a:xfrm>
            <a:off x="1200150" y="2286000"/>
            <a:ext cx="9777413"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solidFill>
                  <a:schemeClr val="tx1">
                    <a:lumMod val="75000"/>
                    <a:lumOff val="25000"/>
                  </a:schemeClr>
                </a:solidFill>
                <a:latin typeface="+mj-lt"/>
              </a:rPr>
              <a:t>El pronóstico de ventas es la estimación anticipada de las ventas, en cantidad y precio, teniendo en cuenta las circunstancias que condicionan su variación, como ser:</a:t>
            </a:r>
          </a:p>
        </p:txBody>
      </p:sp>
      <p:sp>
        <p:nvSpPr>
          <p:cNvPr id="10262" name="Rectangle 22">
            <a:extLst>
              <a:ext uri="{FF2B5EF4-FFF2-40B4-BE49-F238E27FC236}">
                <a16:creationId xmlns:a16="http://schemas.microsoft.com/office/drawing/2014/main" id="{15982EA7-07B5-46FA-BD6E-D99546C93CC3}"/>
              </a:ext>
            </a:extLst>
          </p:cNvPr>
          <p:cNvSpPr>
            <a:spLocks noChangeArrowheads="1"/>
          </p:cNvSpPr>
          <p:nvPr/>
        </p:nvSpPr>
        <p:spPr bwMode="auto">
          <a:xfrm>
            <a:off x="1305878" y="3477609"/>
            <a:ext cx="9777412"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dirty="0">
                <a:solidFill>
                  <a:schemeClr val="tx1">
                    <a:lumMod val="75000"/>
                    <a:lumOff val="25000"/>
                  </a:schemeClr>
                </a:solidFill>
                <a:latin typeface="+mj-lt"/>
              </a:rPr>
              <a:t> Los cambios tecnológicos que supongan una variación significativa en el mercado.</a:t>
            </a:r>
          </a:p>
        </p:txBody>
      </p:sp>
      <p:sp>
        <p:nvSpPr>
          <p:cNvPr id="10263" name="Rectangle 23">
            <a:extLst>
              <a:ext uri="{FF2B5EF4-FFF2-40B4-BE49-F238E27FC236}">
                <a16:creationId xmlns:a16="http://schemas.microsoft.com/office/drawing/2014/main" id="{10D38914-2E5F-44B4-A1CF-A32044A34584}"/>
              </a:ext>
            </a:extLst>
          </p:cNvPr>
          <p:cNvSpPr>
            <a:spLocks noChangeArrowheads="1"/>
          </p:cNvSpPr>
          <p:nvPr/>
        </p:nvSpPr>
        <p:spPr bwMode="auto">
          <a:xfrm>
            <a:off x="1305878" y="4196746"/>
            <a:ext cx="977741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ct val="20000"/>
              </a:spcBef>
              <a:buClr>
                <a:schemeClr val="accent3">
                  <a:lumMod val="50000"/>
                </a:schemeClr>
              </a:buClr>
              <a:buFont typeface="Arial" panose="020B0604020202020204" pitchFamily="34" charset="0"/>
              <a:buChar char="•"/>
            </a:pPr>
            <a:r>
              <a:rPr lang="es-ES" altLang="es-AR" sz="2000">
                <a:solidFill>
                  <a:schemeClr val="tx1">
                    <a:lumMod val="75000"/>
                    <a:lumOff val="25000"/>
                  </a:schemeClr>
                </a:solidFill>
                <a:latin typeface="+mj-lt"/>
              </a:rPr>
              <a:t> Los cambios de hábitos de compra de los consumidores. </a:t>
            </a:r>
          </a:p>
        </p:txBody>
      </p:sp>
      <p:sp>
        <p:nvSpPr>
          <p:cNvPr id="10264" name="Rectangle 24">
            <a:extLst>
              <a:ext uri="{FF2B5EF4-FFF2-40B4-BE49-F238E27FC236}">
                <a16:creationId xmlns:a16="http://schemas.microsoft.com/office/drawing/2014/main" id="{A45FB497-C771-4690-974C-FE6D63EC8BE6}"/>
              </a:ext>
            </a:extLst>
          </p:cNvPr>
          <p:cNvSpPr>
            <a:spLocks noChangeArrowheads="1"/>
          </p:cNvSpPr>
          <p:nvPr/>
        </p:nvSpPr>
        <p:spPr bwMode="auto">
          <a:xfrm>
            <a:off x="1305878" y="4658709"/>
            <a:ext cx="977741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ct val="20000"/>
              </a:spcBef>
              <a:buClr>
                <a:schemeClr val="accent3">
                  <a:lumMod val="50000"/>
                </a:schemeClr>
              </a:buClr>
              <a:buFont typeface="Arial" panose="020B0604020202020204" pitchFamily="34" charset="0"/>
              <a:buChar char="•"/>
            </a:pPr>
            <a:r>
              <a:rPr lang="es-ES" altLang="es-AR" sz="2000">
                <a:solidFill>
                  <a:schemeClr val="tx1">
                    <a:lumMod val="75000"/>
                    <a:lumOff val="25000"/>
                  </a:schemeClr>
                </a:solidFill>
                <a:latin typeface="+mj-lt"/>
              </a:rPr>
              <a:t> Los cambios en la legislación de importación y exportación</a:t>
            </a:r>
          </a:p>
        </p:txBody>
      </p:sp>
      <p:sp>
        <p:nvSpPr>
          <p:cNvPr id="10266" name="Rectangle 26">
            <a:extLst>
              <a:ext uri="{FF2B5EF4-FFF2-40B4-BE49-F238E27FC236}">
                <a16:creationId xmlns:a16="http://schemas.microsoft.com/office/drawing/2014/main" id="{3A8C0523-0F3B-411C-91CC-8AD591DB1509}"/>
              </a:ext>
            </a:extLst>
          </p:cNvPr>
          <p:cNvSpPr>
            <a:spLocks noChangeArrowheads="1"/>
          </p:cNvSpPr>
          <p:nvPr/>
        </p:nvSpPr>
        <p:spPr bwMode="auto">
          <a:xfrm>
            <a:off x="1291591" y="5061934"/>
            <a:ext cx="9777413"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a:solidFill>
                  <a:schemeClr val="tx1">
                    <a:lumMod val="75000"/>
                    <a:lumOff val="25000"/>
                  </a:schemeClr>
                </a:solidFill>
                <a:latin typeface="+mj-lt"/>
              </a:rPr>
              <a:t> Los cambios en la coyuntura económica que modifiquen las tendencias de consumo. </a:t>
            </a:r>
          </a:p>
        </p:txBody>
      </p:sp>
      <p:sp>
        <p:nvSpPr>
          <p:cNvPr id="9" name="8 CuadroTexto">
            <a:extLst>
              <a:ext uri="{FF2B5EF4-FFF2-40B4-BE49-F238E27FC236}">
                <a16:creationId xmlns:a16="http://schemas.microsoft.com/office/drawing/2014/main" id="{F45E1425-4CBF-4837-ABCA-C41D4BBC245C}"/>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10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6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6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6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0" grpId="0"/>
      <p:bldP spid="10261" grpId="0"/>
      <p:bldP spid="10262" grpId="0"/>
      <p:bldP spid="10263" grpId="0"/>
      <p:bldP spid="10264" grpId="0"/>
      <p:bldP spid="1026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5">
            <a:extLst>
              <a:ext uri="{FF2B5EF4-FFF2-40B4-BE49-F238E27FC236}">
                <a16:creationId xmlns:a16="http://schemas.microsoft.com/office/drawing/2014/main" id="{4685F9E5-3770-4616-9179-C7247962334F}"/>
              </a:ext>
            </a:extLst>
          </p:cNvPr>
          <p:cNvSpPr>
            <a:spLocks noChangeArrowheads="1"/>
          </p:cNvSpPr>
          <p:nvPr/>
        </p:nvSpPr>
        <p:spPr bwMode="auto">
          <a:xfrm>
            <a:off x="1200151" y="1185546"/>
            <a:ext cx="9777413" cy="84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solidFill>
                  <a:schemeClr val="tx1">
                    <a:lumMod val="75000"/>
                    <a:lumOff val="25000"/>
                  </a:schemeClr>
                </a:solidFill>
                <a:latin typeface="+mj-lt"/>
              </a:rPr>
              <a:t>Para poder establecer los pronósticos relativos al volumen de ventas, se debe tener en cuenta dos variables:</a:t>
            </a:r>
          </a:p>
        </p:txBody>
      </p:sp>
      <p:sp>
        <p:nvSpPr>
          <p:cNvPr id="23562" name="Text Box 10">
            <a:extLst>
              <a:ext uri="{FF2B5EF4-FFF2-40B4-BE49-F238E27FC236}">
                <a16:creationId xmlns:a16="http://schemas.microsoft.com/office/drawing/2014/main" id="{4F6EB89C-5F23-4D55-9513-B044C631DCD4}"/>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VENTAS</a:t>
            </a:r>
          </a:p>
        </p:txBody>
      </p:sp>
      <p:sp>
        <p:nvSpPr>
          <p:cNvPr id="23563" name="Rectangle 11">
            <a:extLst>
              <a:ext uri="{FF2B5EF4-FFF2-40B4-BE49-F238E27FC236}">
                <a16:creationId xmlns:a16="http://schemas.microsoft.com/office/drawing/2014/main" id="{FC52D8CF-2803-4C94-A6F5-B0B76BFFC3A7}"/>
              </a:ext>
            </a:extLst>
          </p:cNvPr>
          <p:cNvSpPr>
            <a:spLocks noChangeArrowheads="1"/>
          </p:cNvSpPr>
          <p:nvPr/>
        </p:nvSpPr>
        <p:spPr bwMode="auto">
          <a:xfrm>
            <a:off x="1200151" y="1968661"/>
            <a:ext cx="9777413" cy="84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ES" altLang="es-AR" sz="2000" i="1" dirty="0">
                <a:solidFill>
                  <a:schemeClr val="tx1">
                    <a:lumMod val="75000"/>
                    <a:lumOff val="25000"/>
                  </a:schemeClr>
                </a:solidFill>
                <a:latin typeface="+mj-lt"/>
              </a:rPr>
              <a:t> </a:t>
            </a:r>
            <a:r>
              <a:rPr lang="es-ES" altLang="es-AR" sz="2000" b="1" dirty="0">
                <a:solidFill>
                  <a:schemeClr val="tx1">
                    <a:lumMod val="75000"/>
                    <a:lumOff val="25000"/>
                  </a:schemeClr>
                </a:solidFill>
                <a:latin typeface="+mj-lt"/>
              </a:rPr>
              <a:t>Externas</a:t>
            </a:r>
            <a:r>
              <a:rPr lang="es-ES" altLang="es-AR" sz="2000" i="1" dirty="0">
                <a:solidFill>
                  <a:schemeClr val="tx1">
                    <a:lumMod val="75000"/>
                    <a:lumOff val="25000"/>
                  </a:schemeClr>
                </a:solidFill>
                <a:latin typeface="+mj-lt"/>
              </a:rPr>
              <a:t>: conocimiento del mercado, es decir evolución de la competencia y poder adquisitivo de los consumidores.</a:t>
            </a:r>
          </a:p>
        </p:txBody>
      </p:sp>
      <p:sp>
        <p:nvSpPr>
          <p:cNvPr id="23564" name="Rectangle 12">
            <a:extLst>
              <a:ext uri="{FF2B5EF4-FFF2-40B4-BE49-F238E27FC236}">
                <a16:creationId xmlns:a16="http://schemas.microsoft.com/office/drawing/2014/main" id="{66E5BBE5-0E7A-4013-96EC-6D5E76E04D3C}"/>
              </a:ext>
            </a:extLst>
          </p:cNvPr>
          <p:cNvSpPr>
            <a:spLocks noChangeArrowheads="1"/>
          </p:cNvSpPr>
          <p:nvPr/>
        </p:nvSpPr>
        <p:spPr bwMode="auto">
          <a:xfrm>
            <a:off x="1200151" y="2744948"/>
            <a:ext cx="9777413" cy="122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ES" altLang="es-AR" sz="2000" i="1" dirty="0">
                <a:solidFill>
                  <a:schemeClr val="tx1">
                    <a:lumMod val="75000"/>
                    <a:lumOff val="25000"/>
                  </a:schemeClr>
                </a:solidFill>
                <a:latin typeface="+mj-lt"/>
              </a:rPr>
              <a:t> </a:t>
            </a:r>
            <a:r>
              <a:rPr lang="es-ES" altLang="es-AR" sz="2000" b="1" dirty="0">
                <a:solidFill>
                  <a:schemeClr val="tx1">
                    <a:lumMod val="75000"/>
                    <a:lumOff val="25000"/>
                  </a:schemeClr>
                </a:solidFill>
                <a:latin typeface="+mj-lt"/>
              </a:rPr>
              <a:t>Internas</a:t>
            </a:r>
            <a:r>
              <a:rPr lang="es-ES" altLang="es-AR" sz="2000" i="1" dirty="0">
                <a:solidFill>
                  <a:schemeClr val="tx1">
                    <a:lumMod val="75000"/>
                    <a:lumOff val="25000"/>
                  </a:schemeClr>
                </a:solidFill>
                <a:latin typeface="+mj-lt"/>
              </a:rPr>
              <a:t>: potencialidad y características de la empresa, es decir, los medios de producción y medios comerciales como ser los canales de ventas y la calidad de los vendedores.</a:t>
            </a:r>
          </a:p>
        </p:txBody>
      </p:sp>
      <p:sp>
        <p:nvSpPr>
          <p:cNvPr id="23565" name="Rectangle 13">
            <a:extLst>
              <a:ext uri="{FF2B5EF4-FFF2-40B4-BE49-F238E27FC236}">
                <a16:creationId xmlns:a16="http://schemas.microsoft.com/office/drawing/2014/main" id="{2D52233C-F879-4C5B-BB41-342C2ED92ECE}"/>
              </a:ext>
            </a:extLst>
          </p:cNvPr>
          <p:cNvSpPr>
            <a:spLocks noChangeArrowheads="1"/>
          </p:cNvSpPr>
          <p:nvPr/>
        </p:nvSpPr>
        <p:spPr bwMode="auto">
          <a:xfrm>
            <a:off x="1198435" y="3859849"/>
            <a:ext cx="9777413" cy="164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solidFill>
                  <a:schemeClr val="tx1">
                    <a:lumMod val="75000"/>
                    <a:lumOff val="25000"/>
                  </a:schemeClr>
                </a:solidFill>
                <a:latin typeface="+mj-lt"/>
              </a:rPr>
              <a:t>A fin de elaborar un buen pronóstico de ventas, se puede obtener información sobre la tendencia de cada producto, en base al registro histórico de las ventas en unidades de cada producto, durante un período de 2 o más años.</a:t>
            </a:r>
          </a:p>
        </p:txBody>
      </p:sp>
      <p:sp>
        <p:nvSpPr>
          <p:cNvPr id="23566" name="Rectangle 14">
            <a:extLst>
              <a:ext uri="{FF2B5EF4-FFF2-40B4-BE49-F238E27FC236}">
                <a16:creationId xmlns:a16="http://schemas.microsoft.com/office/drawing/2014/main" id="{4426BA71-641F-4A0B-B22D-19CCC4E483B3}"/>
              </a:ext>
            </a:extLst>
          </p:cNvPr>
          <p:cNvSpPr>
            <a:spLocks noChangeArrowheads="1"/>
          </p:cNvSpPr>
          <p:nvPr/>
        </p:nvSpPr>
        <p:spPr bwMode="auto">
          <a:xfrm>
            <a:off x="1198435" y="5262085"/>
            <a:ext cx="9777413" cy="82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i="1" dirty="0">
                <a:solidFill>
                  <a:schemeClr val="tx1">
                    <a:lumMod val="75000"/>
                    <a:lumOff val="25000"/>
                  </a:schemeClr>
                </a:solidFill>
                <a:latin typeface="+mj-lt"/>
              </a:rPr>
              <a:t>La tendencia se determina por el método de los cuadrados mínimos o mediante recta de tendencia, como se muestra a continuación.</a:t>
            </a:r>
          </a:p>
        </p:txBody>
      </p:sp>
      <p:sp>
        <p:nvSpPr>
          <p:cNvPr id="8" name="7 CuadroTexto">
            <a:extLst>
              <a:ext uri="{FF2B5EF4-FFF2-40B4-BE49-F238E27FC236}">
                <a16:creationId xmlns:a16="http://schemas.microsoft.com/office/drawing/2014/main" id="{06DAB28E-E914-457C-AA0D-EC5AEC0B3111}"/>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11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6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6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5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23563" grpId="0"/>
      <p:bldP spid="23564" grpId="0"/>
      <p:bldP spid="23565" grpId="0"/>
      <p:bldP spid="2356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5" name="Text Box 21">
            <a:extLst>
              <a:ext uri="{FF2B5EF4-FFF2-40B4-BE49-F238E27FC236}">
                <a16:creationId xmlns:a16="http://schemas.microsoft.com/office/drawing/2014/main" id="{144C3511-1C6B-4758-9AB9-8E4FFBAD9B81}"/>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VENTAS</a:t>
            </a:r>
          </a:p>
        </p:txBody>
      </p:sp>
      <p:grpSp>
        <p:nvGrpSpPr>
          <p:cNvPr id="14339" name="Group 22">
            <a:extLst>
              <a:ext uri="{FF2B5EF4-FFF2-40B4-BE49-F238E27FC236}">
                <a16:creationId xmlns:a16="http://schemas.microsoft.com/office/drawing/2014/main" id="{85E57393-662C-40D1-8DC0-E3419F3A92E0}"/>
              </a:ext>
            </a:extLst>
          </p:cNvPr>
          <p:cNvGrpSpPr>
            <a:grpSpLocks noChangeAspect="1"/>
          </p:cNvGrpSpPr>
          <p:nvPr/>
        </p:nvGrpSpPr>
        <p:grpSpPr bwMode="auto">
          <a:xfrm>
            <a:off x="1708668" y="1235772"/>
            <a:ext cx="8929687" cy="4749801"/>
            <a:chOff x="1716" y="1624"/>
            <a:chExt cx="8460" cy="4500"/>
          </a:xfrm>
        </p:grpSpPr>
        <p:sp>
          <p:nvSpPr>
            <p:cNvPr id="14341" name="AutoShape 23">
              <a:extLst>
                <a:ext uri="{FF2B5EF4-FFF2-40B4-BE49-F238E27FC236}">
                  <a16:creationId xmlns:a16="http://schemas.microsoft.com/office/drawing/2014/main" id="{38F41242-CF0F-48E9-AB61-8377FEE0E8D4}"/>
                </a:ext>
              </a:extLst>
            </p:cNvPr>
            <p:cNvSpPr>
              <a:spLocks noChangeAspect="1" noChangeArrowheads="1"/>
            </p:cNvSpPr>
            <p:nvPr/>
          </p:nvSpPr>
          <p:spPr bwMode="auto">
            <a:xfrm>
              <a:off x="1716" y="1624"/>
              <a:ext cx="8460" cy="4500"/>
            </a:xfrm>
            <a:prstGeom prst="rect">
              <a:avLst/>
            </a:prstGeom>
            <a:solidFill>
              <a:srgbClr val="CCFFFF"/>
            </a:solidFill>
            <a:ln w="25400">
              <a:solidFill>
                <a:schemeClr val="tx1"/>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4344" name="Line 26">
              <a:extLst>
                <a:ext uri="{FF2B5EF4-FFF2-40B4-BE49-F238E27FC236}">
                  <a16:creationId xmlns:a16="http://schemas.microsoft.com/office/drawing/2014/main" id="{E8BFEB0A-C529-4E65-8B64-66CEF0651D96}"/>
                </a:ext>
              </a:extLst>
            </p:cNvPr>
            <p:cNvSpPr>
              <a:spLocks noChangeShapeType="1"/>
            </p:cNvSpPr>
            <p:nvPr/>
          </p:nvSpPr>
          <p:spPr bwMode="auto">
            <a:xfrm flipH="1">
              <a:off x="3142" y="4856"/>
              <a:ext cx="1" cy="7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45" name="Line 27">
              <a:extLst>
                <a:ext uri="{FF2B5EF4-FFF2-40B4-BE49-F238E27FC236}">
                  <a16:creationId xmlns:a16="http://schemas.microsoft.com/office/drawing/2014/main" id="{96D6B6F5-33F4-48BE-99D5-E5C292AED056}"/>
                </a:ext>
              </a:extLst>
            </p:cNvPr>
            <p:cNvSpPr>
              <a:spLocks noChangeShapeType="1"/>
            </p:cNvSpPr>
            <p:nvPr/>
          </p:nvSpPr>
          <p:spPr bwMode="auto">
            <a:xfrm>
              <a:off x="3321" y="5017"/>
              <a:ext cx="1" cy="5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46" name="Line 28">
              <a:extLst>
                <a:ext uri="{FF2B5EF4-FFF2-40B4-BE49-F238E27FC236}">
                  <a16:creationId xmlns:a16="http://schemas.microsoft.com/office/drawing/2014/main" id="{3038A4D2-CA5D-409D-87B6-FC5BC376EAC0}"/>
                </a:ext>
              </a:extLst>
            </p:cNvPr>
            <p:cNvSpPr>
              <a:spLocks noChangeShapeType="1"/>
            </p:cNvSpPr>
            <p:nvPr/>
          </p:nvSpPr>
          <p:spPr bwMode="auto">
            <a:xfrm>
              <a:off x="3501" y="5017"/>
              <a:ext cx="1" cy="5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47" name="Line 29">
              <a:extLst>
                <a:ext uri="{FF2B5EF4-FFF2-40B4-BE49-F238E27FC236}">
                  <a16:creationId xmlns:a16="http://schemas.microsoft.com/office/drawing/2014/main" id="{E5956B59-DEA3-41D3-9E34-2E174FCF131F}"/>
                </a:ext>
              </a:extLst>
            </p:cNvPr>
            <p:cNvSpPr>
              <a:spLocks noChangeShapeType="1"/>
            </p:cNvSpPr>
            <p:nvPr/>
          </p:nvSpPr>
          <p:spPr bwMode="auto">
            <a:xfrm>
              <a:off x="3681" y="4837"/>
              <a:ext cx="1" cy="7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48" name="Line 30">
              <a:extLst>
                <a:ext uri="{FF2B5EF4-FFF2-40B4-BE49-F238E27FC236}">
                  <a16:creationId xmlns:a16="http://schemas.microsoft.com/office/drawing/2014/main" id="{AABEB436-2C45-4C7E-9905-FA83ABD5240E}"/>
                </a:ext>
              </a:extLst>
            </p:cNvPr>
            <p:cNvSpPr>
              <a:spLocks noChangeShapeType="1"/>
            </p:cNvSpPr>
            <p:nvPr/>
          </p:nvSpPr>
          <p:spPr bwMode="auto">
            <a:xfrm>
              <a:off x="3856" y="4856"/>
              <a:ext cx="6" cy="7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49" name="Line 31">
              <a:extLst>
                <a:ext uri="{FF2B5EF4-FFF2-40B4-BE49-F238E27FC236}">
                  <a16:creationId xmlns:a16="http://schemas.microsoft.com/office/drawing/2014/main" id="{10A4E3E0-B4A7-4883-8F9E-22379C2449DD}"/>
                </a:ext>
              </a:extLst>
            </p:cNvPr>
            <p:cNvSpPr>
              <a:spLocks noChangeShapeType="1"/>
            </p:cNvSpPr>
            <p:nvPr/>
          </p:nvSpPr>
          <p:spPr bwMode="auto">
            <a:xfrm>
              <a:off x="4037" y="4855"/>
              <a:ext cx="5" cy="70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0" name="Line 32">
              <a:extLst>
                <a:ext uri="{FF2B5EF4-FFF2-40B4-BE49-F238E27FC236}">
                  <a16:creationId xmlns:a16="http://schemas.microsoft.com/office/drawing/2014/main" id="{783B111A-F3DD-4478-90A6-D9EE3FA81F8D}"/>
                </a:ext>
              </a:extLst>
            </p:cNvPr>
            <p:cNvSpPr>
              <a:spLocks noChangeShapeType="1"/>
            </p:cNvSpPr>
            <p:nvPr/>
          </p:nvSpPr>
          <p:spPr bwMode="auto">
            <a:xfrm>
              <a:off x="4216" y="4855"/>
              <a:ext cx="6" cy="7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1" name="Line 33">
              <a:extLst>
                <a:ext uri="{FF2B5EF4-FFF2-40B4-BE49-F238E27FC236}">
                  <a16:creationId xmlns:a16="http://schemas.microsoft.com/office/drawing/2014/main" id="{A6866542-6806-41FC-BD87-353DA45618B3}"/>
                </a:ext>
              </a:extLst>
            </p:cNvPr>
            <p:cNvSpPr>
              <a:spLocks noChangeShapeType="1"/>
            </p:cNvSpPr>
            <p:nvPr/>
          </p:nvSpPr>
          <p:spPr bwMode="auto">
            <a:xfrm flipH="1">
              <a:off x="4402" y="4715"/>
              <a:ext cx="2" cy="8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2" name="Line 34">
              <a:extLst>
                <a:ext uri="{FF2B5EF4-FFF2-40B4-BE49-F238E27FC236}">
                  <a16:creationId xmlns:a16="http://schemas.microsoft.com/office/drawing/2014/main" id="{520A12C9-465D-4E82-9E9D-6B462E92FA4B}"/>
                </a:ext>
              </a:extLst>
            </p:cNvPr>
            <p:cNvSpPr>
              <a:spLocks noChangeShapeType="1"/>
            </p:cNvSpPr>
            <p:nvPr/>
          </p:nvSpPr>
          <p:spPr bwMode="auto">
            <a:xfrm>
              <a:off x="4581" y="4477"/>
              <a:ext cx="1" cy="10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3" name="Line 35">
              <a:extLst>
                <a:ext uri="{FF2B5EF4-FFF2-40B4-BE49-F238E27FC236}">
                  <a16:creationId xmlns:a16="http://schemas.microsoft.com/office/drawing/2014/main" id="{5C9B58B9-7B40-4F5E-B301-BECB256D41A2}"/>
                </a:ext>
              </a:extLst>
            </p:cNvPr>
            <p:cNvSpPr>
              <a:spLocks noChangeShapeType="1"/>
            </p:cNvSpPr>
            <p:nvPr/>
          </p:nvSpPr>
          <p:spPr bwMode="auto">
            <a:xfrm>
              <a:off x="4742" y="3885"/>
              <a:ext cx="9" cy="166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4" name="Line 36">
              <a:extLst>
                <a:ext uri="{FF2B5EF4-FFF2-40B4-BE49-F238E27FC236}">
                  <a16:creationId xmlns:a16="http://schemas.microsoft.com/office/drawing/2014/main" id="{15301489-0E2D-448F-A80C-7C096271942F}"/>
                </a:ext>
              </a:extLst>
            </p:cNvPr>
            <p:cNvSpPr>
              <a:spLocks noChangeShapeType="1"/>
            </p:cNvSpPr>
            <p:nvPr/>
          </p:nvSpPr>
          <p:spPr bwMode="auto">
            <a:xfrm>
              <a:off x="4940" y="4137"/>
              <a:ext cx="2" cy="14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5" name="Line 37">
              <a:extLst>
                <a:ext uri="{FF2B5EF4-FFF2-40B4-BE49-F238E27FC236}">
                  <a16:creationId xmlns:a16="http://schemas.microsoft.com/office/drawing/2014/main" id="{1C61B311-EF7B-4F11-8239-7462AC473965}"/>
                </a:ext>
              </a:extLst>
            </p:cNvPr>
            <p:cNvSpPr>
              <a:spLocks noChangeShapeType="1"/>
            </p:cNvSpPr>
            <p:nvPr/>
          </p:nvSpPr>
          <p:spPr bwMode="auto">
            <a:xfrm>
              <a:off x="5120" y="4506"/>
              <a:ext cx="2" cy="10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6" name="Line 38">
              <a:extLst>
                <a:ext uri="{FF2B5EF4-FFF2-40B4-BE49-F238E27FC236}">
                  <a16:creationId xmlns:a16="http://schemas.microsoft.com/office/drawing/2014/main" id="{0862DDD2-A673-4162-A511-A723B5940F3D}"/>
                </a:ext>
              </a:extLst>
            </p:cNvPr>
            <p:cNvSpPr>
              <a:spLocks noChangeShapeType="1"/>
            </p:cNvSpPr>
            <p:nvPr/>
          </p:nvSpPr>
          <p:spPr bwMode="auto">
            <a:xfrm>
              <a:off x="5293" y="4693"/>
              <a:ext cx="9" cy="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7" name="Line 39">
              <a:extLst>
                <a:ext uri="{FF2B5EF4-FFF2-40B4-BE49-F238E27FC236}">
                  <a16:creationId xmlns:a16="http://schemas.microsoft.com/office/drawing/2014/main" id="{290751ED-7CCC-4D26-B97B-06A9DCB84916}"/>
                </a:ext>
              </a:extLst>
            </p:cNvPr>
            <p:cNvSpPr>
              <a:spLocks noChangeShapeType="1"/>
            </p:cNvSpPr>
            <p:nvPr/>
          </p:nvSpPr>
          <p:spPr bwMode="auto">
            <a:xfrm>
              <a:off x="5477" y="4546"/>
              <a:ext cx="5" cy="10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8" name="Line 40">
              <a:extLst>
                <a:ext uri="{FF2B5EF4-FFF2-40B4-BE49-F238E27FC236}">
                  <a16:creationId xmlns:a16="http://schemas.microsoft.com/office/drawing/2014/main" id="{C3C04E17-FF24-4C85-A3B3-875FEB7B9EFB}"/>
                </a:ext>
              </a:extLst>
            </p:cNvPr>
            <p:cNvSpPr>
              <a:spLocks noChangeShapeType="1"/>
            </p:cNvSpPr>
            <p:nvPr/>
          </p:nvSpPr>
          <p:spPr bwMode="auto">
            <a:xfrm flipH="1">
              <a:off x="5662" y="4365"/>
              <a:ext cx="1" cy="1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59" name="Line 41">
              <a:extLst>
                <a:ext uri="{FF2B5EF4-FFF2-40B4-BE49-F238E27FC236}">
                  <a16:creationId xmlns:a16="http://schemas.microsoft.com/office/drawing/2014/main" id="{1B2261CC-32BC-4C97-875D-ECA834BE6322}"/>
                </a:ext>
              </a:extLst>
            </p:cNvPr>
            <p:cNvSpPr>
              <a:spLocks noChangeShapeType="1"/>
            </p:cNvSpPr>
            <p:nvPr/>
          </p:nvSpPr>
          <p:spPr bwMode="auto">
            <a:xfrm flipH="1">
              <a:off x="5842" y="4337"/>
              <a:ext cx="12" cy="1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0" name="Line 42">
              <a:extLst>
                <a:ext uri="{FF2B5EF4-FFF2-40B4-BE49-F238E27FC236}">
                  <a16:creationId xmlns:a16="http://schemas.microsoft.com/office/drawing/2014/main" id="{A6F5A611-598B-46AB-844E-14B58420B81B}"/>
                </a:ext>
              </a:extLst>
            </p:cNvPr>
            <p:cNvSpPr>
              <a:spLocks noChangeShapeType="1"/>
            </p:cNvSpPr>
            <p:nvPr/>
          </p:nvSpPr>
          <p:spPr bwMode="auto">
            <a:xfrm flipH="1">
              <a:off x="6022" y="4337"/>
              <a:ext cx="1" cy="1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1" name="Line 43">
              <a:extLst>
                <a:ext uri="{FF2B5EF4-FFF2-40B4-BE49-F238E27FC236}">
                  <a16:creationId xmlns:a16="http://schemas.microsoft.com/office/drawing/2014/main" id="{EEF5E46C-D064-4B43-BB85-307D310B1EEB}"/>
                </a:ext>
              </a:extLst>
            </p:cNvPr>
            <p:cNvSpPr>
              <a:spLocks noChangeShapeType="1"/>
            </p:cNvSpPr>
            <p:nvPr/>
          </p:nvSpPr>
          <p:spPr bwMode="auto">
            <a:xfrm flipH="1">
              <a:off x="6202" y="4365"/>
              <a:ext cx="2" cy="1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2" name="Line 44">
              <a:extLst>
                <a:ext uri="{FF2B5EF4-FFF2-40B4-BE49-F238E27FC236}">
                  <a16:creationId xmlns:a16="http://schemas.microsoft.com/office/drawing/2014/main" id="{4CA3F4E2-A328-4525-8FA4-A96A83E1B037}"/>
                </a:ext>
              </a:extLst>
            </p:cNvPr>
            <p:cNvSpPr>
              <a:spLocks noChangeShapeType="1"/>
            </p:cNvSpPr>
            <p:nvPr/>
          </p:nvSpPr>
          <p:spPr bwMode="auto">
            <a:xfrm>
              <a:off x="6377" y="4314"/>
              <a:ext cx="5" cy="12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3" name="Line 45">
              <a:extLst>
                <a:ext uri="{FF2B5EF4-FFF2-40B4-BE49-F238E27FC236}">
                  <a16:creationId xmlns:a16="http://schemas.microsoft.com/office/drawing/2014/main" id="{BEA044EA-4940-4225-BCB6-DDC581F66DCF}"/>
                </a:ext>
              </a:extLst>
            </p:cNvPr>
            <p:cNvSpPr>
              <a:spLocks noChangeShapeType="1"/>
            </p:cNvSpPr>
            <p:nvPr/>
          </p:nvSpPr>
          <p:spPr bwMode="auto">
            <a:xfrm flipH="1">
              <a:off x="6562" y="3954"/>
              <a:ext cx="1" cy="1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4" name="Line 46">
              <a:extLst>
                <a:ext uri="{FF2B5EF4-FFF2-40B4-BE49-F238E27FC236}">
                  <a16:creationId xmlns:a16="http://schemas.microsoft.com/office/drawing/2014/main" id="{41119F9F-4FAE-4F54-9F0A-6F314F27F98D}"/>
                </a:ext>
              </a:extLst>
            </p:cNvPr>
            <p:cNvSpPr>
              <a:spLocks noChangeShapeType="1"/>
            </p:cNvSpPr>
            <p:nvPr/>
          </p:nvSpPr>
          <p:spPr bwMode="auto">
            <a:xfrm flipH="1">
              <a:off x="6742" y="3353"/>
              <a:ext cx="9" cy="22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5" name="Line 47">
              <a:extLst>
                <a:ext uri="{FF2B5EF4-FFF2-40B4-BE49-F238E27FC236}">
                  <a16:creationId xmlns:a16="http://schemas.microsoft.com/office/drawing/2014/main" id="{9DADBEF0-F2FE-4136-B2FF-B54C6F107598}"/>
                </a:ext>
              </a:extLst>
            </p:cNvPr>
            <p:cNvSpPr>
              <a:spLocks noChangeShapeType="1"/>
            </p:cNvSpPr>
            <p:nvPr/>
          </p:nvSpPr>
          <p:spPr bwMode="auto">
            <a:xfrm>
              <a:off x="6921" y="3037"/>
              <a:ext cx="1" cy="25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6" name="Line 48">
              <a:extLst>
                <a:ext uri="{FF2B5EF4-FFF2-40B4-BE49-F238E27FC236}">
                  <a16:creationId xmlns:a16="http://schemas.microsoft.com/office/drawing/2014/main" id="{67019A30-C4B1-443B-8C88-8E5A5E0EE854}"/>
                </a:ext>
              </a:extLst>
            </p:cNvPr>
            <p:cNvSpPr>
              <a:spLocks noChangeShapeType="1"/>
            </p:cNvSpPr>
            <p:nvPr/>
          </p:nvSpPr>
          <p:spPr bwMode="auto">
            <a:xfrm>
              <a:off x="7099" y="3326"/>
              <a:ext cx="3" cy="22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7" name="Line 49">
              <a:extLst>
                <a:ext uri="{FF2B5EF4-FFF2-40B4-BE49-F238E27FC236}">
                  <a16:creationId xmlns:a16="http://schemas.microsoft.com/office/drawing/2014/main" id="{F579A410-CD3E-48D1-9762-8454CD82EF4A}"/>
                </a:ext>
              </a:extLst>
            </p:cNvPr>
            <p:cNvSpPr>
              <a:spLocks noChangeShapeType="1"/>
            </p:cNvSpPr>
            <p:nvPr/>
          </p:nvSpPr>
          <p:spPr bwMode="auto">
            <a:xfrm flipH="1">
              <a:off x="7282" y="3702"/>
              <a:ext cx="2" cy="18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8" name="Line 50">
              <a:extLst>
                <a:ext uri="{FF2B5EF4-FFF2-40B4-BE49-F238E27FC236}">
                  <a16:creationId xmlns:a16="http://schemas.microsoft.com/office/drawing/2014/main" id="{16665F2F-5700-4CE7-879E-51048C2C7273}"/>
                </a:ext>
              </a:extLst>
            </p:cNvPr>
            <p:cNvSpPr>
              <a:spLocks noChangeShapeType="1"/>
            </p:cNvSpPr>
            <p:nvPr/>
          </p:nvSpPr>
          <p:spPr bwMode="auto">
            <a:xfrm>
              <a:off x="7460" y="4076"/>
              <a:ext cx="2" cy="14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69" name="Line 51">
              <a:extLst>
                <a:ext uri="{FF2B5EF4-FFF2-40B4-BE49-F238E27FC236}">
                  <a16:creationId xmlns:a16="http://schemas.microsoft.com/office/drawing/2014/main" id="{A5F5E313-1E8A-40FC-9DFE-D3B7D5B2EAF7}"/>
                </a:ext>
              </a:extLst>
            </p:cNvPr>
            <p:cNvSpPr>
              <a:spLocks noChangeShapeType="1"/>
            </p:cNvSpPr>
            <p:nvPr/>
          </p:nvSpPr>
          <p:spPr bwMode="auto">
            <a:xfrm>
              <a:off x="7639" y="4097"/>
              <a:ext cx="3" cy="14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70" name="Line 52">
              <a:extLst>
                <a:ext uri="{FF2B5EF4-FFF2-40B4-BE49-F238E27FC236}">
                  <a16:creationId xmlns:a16="http://schemas.microsoft.com/office/drawing/2014/main" id="{140D4A0D-6052-4555-A567-6F482CAFAD42}"/>
                </a:ext>
              </a:extLst>
            </p:cNvPr>
            <p:cNvSpPr>
              <a:spLocks noChangeShapeType="1"/>
            </p:cNvSpPr>
            <p:nvPr/>
          </p:nvSpPr>
          <p:spPr bwMode="auto">
            <a:xfrm>
              <a:off x="7815" y="4076"/>
              <a:ext cx="7" cy="14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71" name="Line 53">
              <a:extLst>
                <a:ext uri="{FF2B5EF4-FFF2-40B4-BE49-F238E27FC236}">
                  <a16:creationId xmlns:a16="http://schemas.microsoft.com/office/drawing/2014/main" id="{63A019DB-AFE2-4489-82E4-E35BF87BC6A9}"/>
                </a:ext>
              </a:extLst>
            </p:cNvPr>
            <p:cNvSpPr>
              <a:spLocks noChangeShapeType="1"/>
            </p:cNvSpPr>
            <p:nvPr/>
          </p:nvSpPr>
          <p:spPr bwMode="auto">
            <a:xfrm>
              <a:off x="8002" y="3926"/>
              <a:ext cx="0" cy="1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72" name="Line 54">
              <a:extLst>
                <a:ext uri="{FF2B5EF4-FFF2-40B4-BE49-F238E27FC236}">
                  <a16:creationId xmlns:a16="http://schemas.microsoft.com/office/drawing/2014/main" id="{CEED2AB3-E353-47DB-837D-9E3577AC3D78}"/>
                </a:ext>
              </a:extLst>
            </p:cNvPr>
            <p:cNvSpPr>
              <a:spLocks noChangeShapeType="1"/>
            </p:cNvSpPr>
            <p:nvPr/>
          </p:nvSpPr>
          <p:spPr bwMode="auto">
            <a:xfrm>
              <a:off x="8182" y="3894"/>
              <a:ext cx="0" cy="16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73" name="Line 55">
              <a:extLst>
                <a:ext uri="{FF2B5EF4-FFF2-40B4-BE49-F238E27FC236}">
                  <a16:creationId xmlns:a16="http://schemas.microsoft.com/office/drawing/2014/main" id="{1DC3302A-5BF6-47A9-9745-5B1728FFC9C9}"/>
                </a:ext>
              </a:extLst>
            </p:cNvPr>
            <p:cNvSpPr>
              <a:spLocks noChangeShapeType="1"/>
            </p:cNvSpPr>
            <p:nvPr/>
          </p:nvSpPr>
          <p:spPr bwMode="auto">
            <a:xfrm flipH="1">
              <a:off x="8362" y="3920"/>
              <a:ext cx="4" cy="16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74" name="Line 56">
              <a:extLst>
                <a:ext uri="{FF2B5EF4-FFF2-40B4-BE49-F238E27FC236}">
                  <a16:creationId xmlns:a16="http://schemas.microsoft.com/office/drawing/2014/main" id="{95BAEFB2-3386-4994-851B-A049C43E9DAF}"/>
                </a:ext>
              </a:extLst>
            </p:cNvPr>
            <p:cNvSpPr>
              <a:spLocks noChangeShapeType="1"/>
            </p:cNvSpPr>
            <p:nvPr/>
          </p:nvSpPr>
          <p:spPr bwMode="auto">
            <a:xfrm flipH="1">
              <a:off x="8542" y="3785"/>
              <a:ext cx="7" cy="17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75" name="Line 57">
              <a:extLst>
                <a:ext uri="{FF2B5EF4-FFF2-40B4-BE49-F238E27FC236}">
                  <a16:creationId xmlns:a16="http://schemas.microsoft.com/office/drawing/2014/main" id="{9EA42251-25E9-4AF9-816A-80C402782F15}"/>
                </a:ext>
              </a:extLst>
            </p:cNvPr>
            <p:cNvSpPr>
              <a:spLocks noChangeShapeType="1"/>
            </p:cNvSpPr>
            <p:nvPr/>
          </p:nvSpPr>
          <p:spPr bwMode="auto">
            <a:xfrm>
              <a:off x="8719" y="3577"/>
              <a:ext cx="3" cy="19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76" name="Line 58">
              <a:extLst>
                <a:ext uri="{FF2B5EF4-FFF2-40B4-BE49-F238E27FC236}">
                  <a16:creationId xmlns:a16="http://schemas.microsoft.com/office/drawing/2014/main" id="{8599FAF0-F0E1-4023-829E-51C62B17EE66}"/>
                </a:ext>
              </a:extLst>
            </p:cNvPr>
            <p:cNvSpPr>
              <a:spLocks noChangeShapeType="1"/>
            </p:cNvSpPr>
            <p:nvPr/>
          </p:nvSpPr>
          <p:spPr bwMode="auto">
            <a:xfrm flipH="1">
              <a:off x="8902" y="3203"/>
              <a:ext cx="6" cy="23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77" name="Line 59">
              <a:extLst>
                <a:ext uri="{FF2B5EF4-FFF2-40B4-BE49-F238E27FC236}">
                  <a16:creationId xmlns:a16="http://schemas.microsoft.com/office/drawing/2014/main" id="{5AA71358-A392-44C2-9109-34C35904AB04}"/>
                </a:ext>
              </a:extLst>
            </p:cNvPr>
            <p:cNvSpPr>
              <a:spLocks noChangeShapeType="1"/>
            </p:cNvSpPr>
            <p:nvPr/>
          </p:nvSpPr>
          <p:spPr bwMode="auto">
            <a:xfrm flipH="1">
              <a:off x="9102" y="2516"/>
              <a:ext cx="3" cy="304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80" name="Line 62">
              <a:extLst>
                <a:ext uri="{FF2B5EF4-FFF2-40B4-BE49-F238E27FC236}">
                  <a16:creationId xmlns:a16="http://schemas.microsoft.com/office/drawing/2014/main" id="{2ADD60A3-4601-411C-AE13-93549CB2B6A7}"/>
                </a:ext>
              </a:extLst>
            </p:cNvPr>
            <p:cNvSpPr>
              <a:spLocks noChangeShapeType="1"/>
            </p:cNvSpPr>
            <p:nvPr/>
          </p:nvSpPr>
          <p:spPr bwMode="auto">
            <a:xfrm flipV="1">
              <a:off x="2241" y="3397"/>
              <a:ext cx="7020" cy="16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4381" name="WordArt 63">
              <a:extLst>
                <a:ext uri="{FF2B5EF4-FFF2-40B4-BE49-F238E27FC236}">
                  <a16:creationId xmlns:a16="http://schemas.microsoft.com/office/drawing/2014/main" id="{B67985B4-A53F-446D-AD46-561585B4CFC6}"/>
                </a:ext>
              </a:extLst>
            </p:cNvPr>
            <p:cNvSpPr>
              <a:spLocks noChangeArrowheads="1" noChangeShapeType="1" noTextEdit="1"/>
            </p:cNvSpPr>
            <p:nvPr/>
          </p:nvSpPr>
          <p:spPr bwMode="auto">
            <a:xfrm>
              <a:off x="2033" y="1854"/>
              <a:ext cx="7722" cy="357"/>
            </a:xfrm>
            <a:prstGeom prst="rect">
              <a:avLst/>
            </a:prstGeom>
            <a:ln>
              <a:solidFill>
                <a:schemeClr val="tx1"/>
              </a:solidFill>
            </a:ln>
          </p:spPr>
          <p:txBody>
            <a:bodyPr wrap="none" fromWordArt="1">
              <a:prstTxWarp prst="textPlain">
                <a:avLst>
                  <a:gd name="adj" fmla="val 50000"/>
                </a:avLst>
              </a:prstTxWarp>
            </a:bodyPr>
            <a:lstStyle/>
            <a:p>
              <a:pPr algn="ctr"/>
              <a:endParaRPr lang="es-AR" sz="1000" b="1" kern="10" dirty="0">
                <a:ln w="9525">
                  <a:solidFill>
                    <a:srgbClr val="FFFF99"/>
                  </a:solidFill>
                  <a:round/>
                  <a:headEnd/>
                  <a:tailEnd/>
                </a:ln>
                <a:solidFill>
                  <a:schemeClr val="tx1">
                    <a:lumMod val="75000"/>
                    <a:lumOff val="25000"/>
                  </a:schemeClr>
                </a:solidFill>
                <a:latin typeface="+mj-lt"/>
              </a:endParaRPr>
            </a:p>
          </p:txBody>
        </p:sp>
        <p:sp>
          <p:nvSpPr>
            <p:cNvPr id="14382" name="Line 64">
              <a:extLst>
                <a:ext uri="{FF2B5EF4-FFF2-40B4-BE49-F238E27FC236}">
                  <a16:creationId xmlns:a16="http://schemas.microsoft.com/office/drawing/2014/main" id="{A448836A-FA78-45CD-A889-9B3FBAD83333}"/>
                </a:ext>
              </a:extLst>
            </p:cNvPr>
            <p:cNvSpPr>
              <a:spLocks noChangeShapeType="1"/>
            </p:cNvSpPr>
            <p:nvPr/>
          </p:nvSpPr>
          <p:spPr bwMode="auto">
            <a:xfrm>
              <a:off x="2421" y="5557"/>
              <a:ext cx="7335" cy="1"/>
            </a:xfrm>
            <a:prstGeom prst="line">
              <a:avLst/>
            </a:prstGeom>
            <a:noFill/>
            <a:ln w="254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s-AR"/>
            </a:p>
          </p:txBody>
        </p:sp>
        <p:sp>
          <p:nvSpPr>
            <p:cNvPr id="14383" name="Text Box 65">
              <a:extLst>
                <a:ext uri="{FF2B5EF4-FFF2-40B4-BE49-F238E27FC236}">
                  <a16:creationId xmlns:a16="http://schemas.microsoft.com/office/drawing/2014/main" id="{C6738342-9B7D-41D9-AB80-22B761E0251A}"/>
                </a:ext>
              </a:extLst>
            </p:cNvPr>
            <p:cNvSpPr txBox="1">
              <a:spLocks noChangeArrowheads="1"/>
            </p:cNvSpPr>
            <p:nvPr/>
          </p:nvSpPr>
          <p:spPr bwMode="auto">
            <a:xfrm>
              <a:off x="2601" y="5557"/>
              <a:ext cx="6912" cy="360"/>
            </a:xfrm>
            <a:prstGeom prst="rect">
              <a:avLst/>
            </a:prstGeom>
            <a:solidFill>
              <a:srgbClr val="CC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300" dirty="0">
                  <a:latin typeface="Times New Roman" panose="02020603050405020304" pitchFamily="18" charset="0"/>
                </a:rPr>
                <a:t>  E  F  M A M  J   </a:t>
              </a:r>
              <a:r>
                <a:rPr lang="es-ES_tradnl" altLang="es-AR" sz="1300" dirty="0" err="1">
                  <a:latin typeface="Times New Roman" panose="02020603050405020304" pitchFamily="18" charset="0"/>
                </a:rPr>
                <a:t>J</a:t>
              </a:r>
              <a:r>
                <a:rPr lang="es-ES_tradnl" altLang="es-AR" sz="1300" dirty="0">
                  <a:latin typeface="Times New Roman" panose="02020603050405020304" pitchFamily="18" charset="0"/>
                </a:rPr>
                <a:t>   A  S  O  N  D E  F  M  A  M  J   </a:t>
              </a:r>
              <a:r>
                <a:rPr lang="es-ES_tradnl" altLang="es-AR" sz="1300" dirty="0" err="1">
                  <a:latin typeface="Times New Roman" panose="02020603050405020304" pitchFamily="18" charset="0"/>
                </a:rPr>
                <a:t>J</a:t>
              </a:r>
              <a:r>
                <a:rPr lang="es-ES_tradnl" altLang="es-AR" sz="1300" dirty="0">
                  <a:latin typeface="Times New Roman" panose="02020603050405020304" pitchFamily="18" charset="0"/>
                </a:rPr>
                <a:t>   A  S  O  N  D  E  F M  A  M  J   </a:t>
              </a:r>
              <a:r>
                <a:rPr lang="es-ES_tradnl" altLang="es-AR" sz="1300" dirty="0" err="1">
                  <a:latin typeface="Times New Roman" panose="02020603050405020304" pitchFamily="18" charset="0"/>
                </a:rPr>
                <a:t>J</a:t>
              </a:r>
              <a:r>
                <a:rPr lang="es-ES_tradnl" altLang="es-AR" sz="1300" dirty="0">
                  <a:latin typeface="Times New Roman" panose="02020603050405020304" pitchFamily="18" charset="0"/>
                </a:rPr>
                <a:t>  A   S  O  N  D</a:t>
              </a:r>
              <a:endParaRPr lang="es-ES" altLang="es-AR" sz="1300" dirty="0"/>
            </a:p>
          </p:txBody>
        </p:sp>
        <p:sp>
          <p:nvSpPr>
            <p:cNvPr id="14384" name="Line 66">
              <a:extLst>
                <a:ext uri="{FF2B5EF4-FFF2-40B4-BE49-F238E27FC236}">
                  <a16:creationId xmlns:a16="http://schemas.microsoft.com/office/drawing/2014/main" id="{D9B893CE-9C66-4EB2-BC6B-D5D7A75C93D8}"/>
                </a:ext>
              </a:extLst>
            </p:cNvPr>
            <p:cNvSpPr>
              <a:spLocks noChangeShapeType="1"/>
            </p:cNvSpPr>
            <p:nvPr/>
          </p:nvSpPr>
          <p:spPr bwMode="auto">
            <a:xfrm flipV="1">
              <a:off x="2961" y="4651"/>
              <a:ext cx="5" cy="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14385" name="Text Box 67">
              <a:extLst>
                <a:ext uri="{FF2B5EF4-FFF2-40B4-BE49-F238E27FC236}">
                  <a16:creationId xmlns:a16="http://schemas.microsoft.com/office/drawing/2014/main" id="{97F4FE36-4633-4855-BCA5-F344FFAE5853}"/>
                </a:ext>
              </a:extLst>
            </p:cNvPr>
            <p:cNvSpPr txBox="1">
              <a:spLocks noChangeArrowheads="1"/>
            </p:cNvSpPr>
            <p:nvPr/>
          </p:nvSpPr>
          <p:spPr bwMode="auto">
            <a:xfrm>
              <a:off x="3141" y="3577"/>
              <a:ext cx="888" cy="297"/>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600" b="1" dirty="0">
                  <a:latin typeface="+mj-lt"/>
                </a:rPr>
                <a:t>AÑO  1</a:t>
              </a:r>
              <a:endParaRPr lang="es-ES" altLang="es-AR" sz="1600" b="1" dirty="0">
                <a:latin typeface="+mj-lt"/>
              </a:endParaRPr>
            </a:p>
          </p:txBody>
        </p:sp>
        <p:sp>
          <p:nvSpPr>
            <p:cNvPr id="14386" name="Text Box 68">
              <a:extLst>
                <a:ext uri="{FF2B5EF4-FFF2-40B4-BE49-F238E27FC236}">
                  <a16:creationId xmlns:a16="http://schemas.microsoft.com/office/drawing/2014/main" id="{15DDF783-50DB-4017-B85A-F319B55CE9A3}"/>
                </a:ext>
              </a:extLst>
            </p:cNvPr>
            <p:cNvSpPr txBox="1">
              <a:spLocks noChangeArrowheads="1"/>
            </p:cNvSpPr>
            <p:nvPr/>
          </p:nvSpPr>
          <p:spPr bwMode="auto">
            <a:xfrm>
              <a:off x="5121" y="3037"/>
              <a:ext cx="898" cy="316"/>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600" b="1" dirty="0">
                  <a:latin typeface="+mj-lt"/>
                </a:rPr>
                <a:t>AÑO  2</a:t>
              </a:r>
              <a:endParaRPr lang="es-ES" altLang="es-AR" sz="1600" b="1" dirty="0">
                <a:latin typeface="+mj-lt"/>
              </a:endParaRPr>
            </a:p>
          </p:txBody>
        </p:sp>
        <p:sp>
          <p:nvSpPr>
            <p:cNvPr id="14387" name="Text Box 69">
              <a:extLst>
                <a:ext uri="{FF2B5EF4-FFF2-40B4-BE49-F238E27FC236}">
                  <a16:creationId xmlns:a16="http://schemas.microsoft.com/office/drawing/2014/main" id="{06976958-D9B4-46C4-A412-BDEE05FE0B55}"/>
                </a:ext>
              </a:extLst>
            </p:cNvPr>
            <p:cNvSpPr txBox="1">
              <a:spLocks noChangeArrowheads="1"/>
            </p:cNvSpPr>
            <p:nvPr/>
          </p:nvSpPr>
          <p:spPr bwMode="auto">
            <a:xfrm>
              <a:off x="7461" y="2497"/>
              <a:ext cx="900" cy="287"/>
            </a:xfrm>
            <a:prstGeom prst="rect">
              <a:avLst/>
            </a:prstGeom>
            <a:solidFill>
              <a:srgbClr val="CCFF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600" b="1">
                  <a:latin typeface="+mj-lt"/>
                </a:rPr>
                <a:t>AÑO  3</a:t>
              </a:r>
              <a:endParaRPr lang="es-ES" altLang="es-AR" sz="1600" b="1">
                <a:latin typeface="+mj-lt"/>
              </a:endParaRPr>
            </a:p>
          </p:txBody>
        </p:sp>
        <p:sp>
          <p:nvSpPr>
            <p:cNvPr id="14388" name="Line 70">
              <a:extLst>
                <a:ext uri="{FF2B5EF4-FFF2-40B4-BE49-F238E27FC236}">
                  <a16:creationId xmlns:a16="http://schemas.microsoft.com/office/drawing/2014/main" id="{9CC91A61-8BF8-4999-BF6B-4CCCCA20CCF1}"/>
                </a:ext>
              </a:extLst>
            </p:cNvPr>
            <p:cNvSpPr>
              <a:spLocks noChangeShapeType="1"/>
            </p:cNvSpPr>
            <p:nvPr/>
          </p:nvSpPr>
          <p:spPr bwMode="auto">
            <a:xfrm flipH="1">
              <a:off x="2772" y="2498"/>
              <a:ext cx="14" cy="3058"/>
            </a:xfrm>
            <a:prstGeom prst="line">
              <a:avLst/>
            </a:prstGeom>
            <a:noFill/>
            <a:ln w="9525">
              <a:solidFill>
                <a:schemeClr val="tx1"/>
              </a:solidFill>
              <a:round/>
              <a:headEnd type="stealth"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14389" name="Text Box 71">
              <a:extLst>
                <a:ext uri="{FF2B5EF4-FFF2-40B4-BE49-F238E27FC236}">
                  <a16:creationId xmlns:a16="http://schemas.microsoft.com/office/drawing/2014/main" id="{29E94F80-47C9-4B55-B1F6-0FF8557754CB}"/>
                </a:ext>
              </a:extLst>
            </p:cNvPr>
            <p:cNvSpPr txBox="1">
              <a:spLocks noChangeArrowheads="1"/>
            </p:cNvSpPr>
            <p:nvPr/>
          </p:nvSpPr>
          <p:spPr bwMode="auto">
            <a:xfrm>
              <a:off x="1902" y="2278"/>
              <a:ext cx="897" cy="331"/>
            </a:xfrm>
            <a:prstGeom prst="rect">
              <a:avLst/>
            </a:prstGeom>
            <a:noFill/>
            <a:ln w="9525" algn="ctr">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600" b="1" dirty="0">
                  <a:latin typeface="+mj-lt"/>
                </a:rPr>
                <a:t>Ventas</a:t>
              </a:r>
              <a:endParaRPr lang="es-ES" altLang="es-AR" sz="1600" b="1" dirty="0">
                <a:latin typeface="+mj-lt"/>
              </a:endParaRPr>
            </a:p>
          </p:txBody>
        </p:sp>
      </p:grpSp>
      <p:sp>
        <p:nvSpPr>
          <p:cNvPr id="53" name="52 CuadroTexto">
            <a:extLst>
              <a:ext uri="{FF2B5EF4-FFF2-40B4-BE49-F238E27FC236}">
                <a16:creationId xmlns:a16="http://schemas.microsoft.com/office/drawing/2014/main" id="{42D14A6D-1956-49C6-8AAA-CC44C1B88208}"/>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12                                          Sistema Presupuestario</a:t>
            </a:r>
          </a:p>
        </p:txBody>
      </p:sp>
      <p:sp>
        <p:nvSpPr>
          <p:cNvPr id="2" name="CuadroTexto 1">
            <a:extLst>
              <a:ext uri="{FF2B5EF4-FFF2-40B4-BE49-F238E27FC236}">
                <a16:creationId xmlns:a16="http://schemas.microsoft.com/office/drawing/2014/main" id="{4B941D99-6788-406D-ACAB-160A2AE9D09E}"/>
              </a:ext>
            </a:extLst>
          </p:cNvPr>
          <p:cNvSpPr txBox="1"/>
          <p:nvPr/>
        </p:nvSpPr>
        <p:spPr>
          <a:xfrm>
            <a:off x="2043336" y="1485849"/>
            <a:ext cx="8442107" cy="369332"/>
          </a:xfrm>
          <a:prstGeom prst="rect">
            <a:avLst/>
          </a:prstGeom>
          <a:noFill/>
        </p:spPr>
        <p:txBody>
          <a:bodyPr wrap="square" rtlCol="0">
            <a:spAutoFit/>
          </a:bodyPr>
          <a:lstStyle/>
          <a:p>
            <a:r>
              <a:rPr lang="es-AR" b="1" dirty="0">
                <a:solidFill>
                  <a:schemeClr val="tx1">
                    <a:lumMod val="75000"/>
                    <a:lumOff val="25000"/>
                  </a:schemeClr>
                </a:solidFill>
              </a:rPr>
              <a:t>TENDENCIA DE VENTAS ASCENDENTE CON ESTACIONALIDAD EN VERANO</a:t>
            </a:r>
          </a:p>
        </p:txBody>
      </p:sp>
      <p:sp>
        <p:nvSpPr>
          <p:cNvPr id="4" name="Forma libre: forma 3">
            <a:extLst>
              <a:ext uri="{FF2B5EF4-FFF2-40B4-BE49-F238E27FC236}">
                <a16:creationId xmlns:a16="http://schemas.microsoft.com/office/drawing/2014/main" id="{44C2A9C1-ABF0-4DAA-8B28-1CD2DD3E2931}"/>
              </a:ext>
            </a:extLst>
          </p:cNvPr>
          <p:cNvSpPr/>
          <p:nvPr/>
        </p:nvSpPr>
        <p:spPr>
          <a:xfrm>
            <a:off x="4896374" y="3624044"/>
            <a:ext cx="0" cy="41945"/>
          </a:xfrm>
          <a:custGeom>
            <a:avLst/>
            <a:gdLst>
              <a:gd name="connsiteX0" fmla="*/ 0 w 0"/>
              <a:gd name="connsiteY0" fmla="*/ 41945 h 41945"/>
              <a:gd name="connsiteX1" fmla="*/ 0 w 0"/>
              <a:gd name="connsiteY1" fmla="*/ 0 h 41945"/>
            </a:gdLst>
            <a:ahLst/>
            <a:cxnLst>
              <a:cxn ang="0">
                <a:pos x="connsiteX0" y="connsiteY0"/>
              </a:cxn>
              <a:cxn ang="0">
                <a:pos x="connsiteX1" y="connsiteY1"/>
              </a:cxn>
            </a:cxnLst>
            <a:rect l="l" t="t" r="r" b="b"/>
            <a:pathLst>
              <a:path h="41945">
                <a:moveTo>
                  <a:pt x="0" y="41945"/>
                </a:moveTo>
                <a:lnTo>
                  <a:pt x="0"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Forma libre: forma 4">
            <a:extLst>
              <a:ext uri="{FF2B5EF4-FFF2-40B4-BE49-F238E27FC236}">
                <a16:creationId xmlns:a16="http://schemas.microsoft.com/office/drawing/2014/main" id="{672E96D4-B6BB-47BE-B641-6BE08E10CBC7}"/>
              </a:ext>
            </a:extLst>
          </p:cNvPr>
          <p:cNvSpPr/>
          <p:nvPr/>
        </p:nvSpPr>
        <p:spPr>
          <a:xfrm>
            <a:off x="4896706" y="2726155"/>
            <a:ext cx="2301848" cy="1749510"/>
          </a:xfrm>
          <a:custGeom>
            <a:avLst/>
            <a:gdLst>
              <a:gd name="connsiteX0" fmla="*/ 0 w 2268940"/>
              <a:gd name="connsiteY0" fmla="*/ 868869 h 1711180"/>
              <a:gd name="connsiteX1" fmla="*/ 7588 w 2268940"/>
              <a:gd name="connsiteY1" fmla="*/ 887840 h 1711180"/>
              <a:gd name="connsiteX2" fmla="*/ 15177 w 2268940"/>
              <a:gd name="connsiteY2" fmla="*/ 895429 h 1711180"/>
              <a:gd name="connsiteX3" fmla="*/ 18971 w 2268940"/>
              <a:gd name="connsiteY3" fmla="*/ 906811 h 1711180"/>
              <a:gd name="connsiteX4" fmla="*/ 30353 w 2268940"/>
              <a:gd name="connsiteY4" fmla="*/ 910605 h 1711180"/>
              <a:gd name="connsiteX5" fmla="*/ 64501 w 2268940"/>
              <a:gd name="connsiteY5" fmla="*/ 929576 h 1711180"/>
              <a:gd name="connsiteX6" fmla="*/ 75884 w 2268940"/>
              <a:gd name="connsiteY6" fmla="*/ 933371 h 1711180"/>
              <a:gd name="connsiteX7" fmla="*/ 83472 w 2268940"/>
              <a:gd name="connsiteY7" fmla="*/ 944753 h 1711180"/>
              <a:gd name="connsiteX8" fmla="*/ 98649 w 2268940"/>
              <a:gd name="connsiteY8" fmla="*/ 952341 h 1711180"/>
              <a:gd name="connsiteX9" fmla="*/ 110031 w 2268940"/>
              <a:gd name="connsiteY9" fmla="*/ 959930 h 1711180"/>
              <a:gd name="connsiteX10" fmla="*/ 136591 w 2268940"/>
              <a:gd name="connsiteY10" fmla="*/ 982695 h 1711180"/>
              <a:gd name="connsiteX11" fmla="*/ 151767 w 2268940"/>
              <a:gd name="connsiteY11" fmla="*/ 1005460 h 1711180"/>
              <a:gd name="connsiteX12" fmla="*/ 159356 w 2268940"/>
              <a:gd name="connsiteY12" fmla="*/ 1013049 h 1711180"/>
              <a:gd name="connsiteX13" fmla="*/ 174533 w 2268940"/>
              <a:gd name="connsiteY13" fmla="*/ 1032019 h 1711180"/>
              <a:gd name="connsiteX14" fmla="*/ 185915 w 2268940"/>
              <a:gd name="connsiteY14" fmla="*/ 1077550 h 1711180"/>
              <a:gd name="connsiteX15" fmla="*/ 193503 w 2268940"/>
              <a:gd name="connsiteY15" fmla="*/ 1115492 h 1711180"/>
              <a:gd name="connsiteX16" fmla="*/ 208680 w 2268940"/>
              <a:gd name="connsiteY16" fmla="*/ 1138257 h 1711180"/>
              <a:gd name="connsiteX17" fmla="*/ 216269 w 2268940"/>
              <a:gd name="connsiteY17" fmla="*/ 1149639 h 1711180"/>
              <a:gd name="connsiteX18" fmla="*/ 223857 w 2268940"/>
              <a:gd name="connsiteY18" fmla="*/ 1172405 h 1711180"/>
              <a:gd name="connsiteX19" fmla="*/ 231445 w 2268940"/>
              <a:gd name="connsiteY19" fmla="*/ 1183787 h 1711180"/>
              <a:gd name="connsiteX20" fmla="*/ 239034 w 2268940"/>
              <a:gd name="connsiteY20" fmla="*/ 1206552 h 1711180"/>
              <a:gd name="connsiteX21" fmla="*/ 242828 w 2268940"/>
              <a:gd name="connsiteY21" fmla="*/ 1217935 h 1711180"/>
              <a:gd name="connsiteX22" fmla="*/ 250416 w 2268940"/>
              <a:gd name="connsiteY22" fmla="*/ 1229317 h 1711180"/>
              <a:gd name="connsiteX23" fmla="*/ 254211 w 2268940"/>
              <a:gd name="connsiteY23" fmla="*/ 1263465 h 1711180"/>
              <a:gd name="connsiteX24" fmla="*/ 261799 w 2268940"/>
              <a:gd name="connsiteY24" fmla="*/ 1286230 h 1711180"/>
              <a:gd name="connsiteX25" fmla="*/ 269387 w 2268940"/>
              <a:gd name="connsiteY25" fmla="*/ 1308995 h 1711180"/>
              <a:gd name="connsiteX26" fmla="*/ 280770 w 2268940"/>
              <a:gd name="connsiteY26" fmla="*/ 1343143 h 1711180"/>
              <a:gd name="connsiteX27" fmla="*/ 284564 w 2268940"/>
              <a:gd name="connsiteY27" fmla="*/ 1354526 h 1711180"/>
              <a:gd name="connsiteX28" fmla="*/ 292152 w 2268940"/>
              <a:gd name="connsiteY28" fmla="*/ 1388673 h 1711180"/>
              <a:gd name="connsiteX29" fmla="*/ 299741 w 2268940"/>
              <a:gd name="connsiteY29" fmla="*/ 1415233 h 1711180"/>
              <a:gd name="connsiteX30" fmla="*/ 307329 w 2268940"/>
              <a:gd name="connsiteY30" fmla="*/ 1426615 h 1711180"/>
              <a:gd name="connsiteX31" fmla="*/ 314918 w 2268940"/>
              <a:gd name="connsiteY31" fmla="*/ 1434204 h 1711180"/>
              <a:gd name="connsiteX32" fmla="*/ 326300 w 2268940"/>
              <a:gd name="connsiteY32" fmla="*/ 1437998 h 1711180"/>
              <a:gd name="connsiteX33" fmla="*/ 345271 w 2268940"/>
              <a:gd name="connsiteY33" fmla="*/ 1453175 h 1711180"/>
              <a:gd name="connsiteX34" fmla="*/ 364242 w 2268940"/>
              <a:gd name="connsiteY34" fmla="*/ 1468351 h 1711180"/>
              <a:gd name="connsiteX35" fmla="*/ 375625 w 2268940"/>
              <a:gd name="connsiteY35" fmla="*/ 1487322 h 1711180"/>
              <a:gd name="connsiteX36" fmla="*/ 390801 w 2268940"/>
              <a:gd name="connsiteY36" fmla="*/ 1506293 h 1711180"/>
              <a:gd name="connsiteX37" fmla="*/ 394596 w 2268940"/>
              <a:gd name="connsiteY37" fmla="*/ 1517676 h 1711180"/>
              <a:gd name="connsiteX38" fmla="*/ 409772 w 2268940"/>
              <a:gd name="connsiteY38" fmla="*/ 1536647 h 1711180"/>
              <a:gd name="connsiteX39" fmla="*/ 417361 w 2268940"/>
              <a:gd name="connsiteY39" fmla="*/ 1548029 h 1711180"/>
              <a:gd name="connsiteX40" fmla="*/ 432538 w 2268940"/>
              <a:gd name="connsiteY40" fmla="*/ 1567000 h 1711180"/>
              <a:gd name="connsiteX41" fmla="*/ 436332 w 2268940"/>
              <a:gd name="connsiteY41" fmla="*/ 1578383 h 1711180"/>
              <a:gd name="connsiteX42" fmla="*/ 447714 w 2268940"/>
              <a:gd name="connsiteY42" fmla="*/ 1585971 h 1711180"/>
              <a:gd name="connsiteX43" fmla="*/ 455303 w 2268940"/>
              <a:gd name="connsiteY43" fmla="*/ 1608737 h 1711180"/>
              <a:gd name="connsiteX44" fmla="*/ 478068 w 2268940"/>
              <a:gd name="connsiteY44" fmla="*/ 1639090 h 1711180"/>
              <a:gd name="connsiteX45" fmla="*/ 493245 w 2268940"/>
              <a:gd name="connsiteY45" fmla="*/ 1661855 h 1711180"/>
              <a:gd name="connsiteX46" fmla="*/ 504627 w 2268940"/>
              <a:gd name="connsiteY46" fmla="*/ 1688415 h 1711180"/>
              <a:gd name="connsiteX47" fmla="*/ 534981 w 2268940"/>
              <a:gd name="connsiteY47" fmla="*/ 1711180 h 1711180"/>
              <a:gd name="connsiteX48" fmla="*/ 584305 w 2268940"/>
              <a:gd name="connsiteY48" fmla="*/ 1707385 h 1711180"/>
              <a:gd name="connsiteX49" fmla="*/ 607070 w 2268940"/>
              <a:gd name="connsiteY49" fmla="*/ 1703591 h 1711180"/>
              <a:gd name="connsiteX50" fmla="*/ 629835 w 2268940"/>
              <a:gd name="connsiteY50" fmla="*/ 1688415 h 1711180"/>
              <a:gd name="connsiteX51" fmla="*/ 637424 w 2268940"/>
              <a:gd name="connsiteY51" fmla="*/ 1677032 h 1711180"/>
              <a:gd name="connsiteX52" fmla="*/ 648806 w 2268940"/>
              <a:gd name="connsiteY52" fmla="*/ 1673238 h 1711180"/>
              <a:gd name="connsiteX53" fmla="*/ 660189 w 2268940"/>
              <a:gd name="connsiteY53" fmla="*/ 1665649 h 1711180"/>
              <a:gd name="connsiteX54" fmla="*/ 671572 w 2268940"/>
              <a:gd name="connsiteY54" fmla="*/ 1654267 h 1711180"/>
              <a:gd name="connsiteX55" fmla="*/ 694337 w 2268940"/>
              <a:gd name="connsiteY55" fmla="*/ 1639090 h 1711180"/>
              <a:gd name="connsiteX56" fmla="*/ 724690 w 2268940"/>
              <a:gd name="connsiteY56" fmla="*/ 1612531 h 1711180"/>
              <a:gd name="connsiteX57" fmla="*/ 755044 w 2268940"/>
              <a:gd name="connsiteY57" fmla="*/ 1578383 h 1711180"/>
              <a:gd name="connsiteX58" fmla="*/ 766426 w 2268940"/>
              <a:gd name="connsiteY58" fmla="*/ 1567000 h 1711180"/>
              <a:gd name="connsiteX59" fmla="*/ 781603 w 2268940"/>
              <a:gd name="connsiteY59" fmla="*/ 1548029 h 1711180"/>
              <a:gd name="connsiteX60" fmla="*/ 796780 w 2268940"/>
              <a:gd name="connsiteY60" fmla="*/ 1529058 h 1711180"/>
              <a:gd name="connsiteX61" fmla="*/ 808162 w 2268940"/>
              <a:gd name="connsiteY61" fmla="*/ 1506293 h 1711180"/>
              <a:gd name="connsiteX62" fmla="*/ 815751 w 2268940"/>
              <a:gd name="connsiteY62" fmla="*/ 1498705 h 1711180"/>
              <a:gd name="connsiteX63" fmla="*/ 823339 w 2268940"/>
              <a:gd name="connsiteY63" fmla="*/ 1487322 h 1711180"/>
              <a:gd name="connsiteX64" fmla="*/ 842310 w 2268940"/>
              <a:gd name="connsiteY64" fmla="*/ 1468351 h 1711180"/>
              <a:gd name="connsiteX65" fmla="*/ 849899 w 2268940"/>
              <a:gd name="connsiteY65" fmla="*/ 1460763 h 1711180"/>
              <a:gd name="connsiteX66" fmla="*/ 861281 w 2268940"/>
              <a:gd name="connsiteY66" fmla="*/ 1453175 h 1711180"/>
              <a:gd name="connsiteX67" fmla="*/ 868869 w 2268940"/>
              <a:gd name="connsiteY67" fmla="*/ 1445586 h 1711180"/>
              <a:gd name="connsiteX68" fmla="*/ 884046 w 2268940"/>
              <a:gd name="connsiteY68" fmla="*/ 1437998 h 1711180"/>
              <a:gd name="connsiteX69" fmla="*/ 906811 w 2268940"/>
              <a:gd name="connsiteY69" fmla="*/ 1422821 h 1711180"/>
              <a:gd name="connsiteX70" fmla="*/ 918194 w 2268940"/>
              <a:gd name="connsiteY70" fmla="*/ 1415233 h 1711180"/>
              <a:gd name="connsiteX71" fmla="*/ 929577 w 2268940"/>
              <a:gd name="connsiteY71" fmla="*/ 1407644 h 1711180"/>
              <a:gd name="connsiteX72" fmla="*/ 937165 w 2268940"/>
              <a:gd name="connsiteY72" fmla="*/ 1396262 h 1711180"/>
              <a:gd name="connsiteX73" fmla="*/ 956136 w 2268940"/>
              <a:gd name="connsiteY73" fmla="*/ 1377291 h 1711180"/>
              <a:gd name="connsiteX74" fmla="*/ 986489 w 2268940"/>
              <a:gd name="connsiteY74" fmla="*/ 1354526 h 1711180"/>
              <a:gd name="connsiteX75" fmla="*/ 1013049 w 2268940"/>
              <a:gd name="connsiteY75" fmla="*/ 1346937 h 1711180"/>
              <a:gd name="connsiteX76" fmla="*/ 1024431 w 2268940"/>
              <a:gd name="connsiteY76" fmla="*/ 1339349 h 1711180"/>
              <a:gd name="connsiteX77" fmla="*/ 1403850 w 2268940"/>
              <a:gd name="connsiteY77" fmla="*/ 1343143 h 1711180"/>
              <a:gd name="connsiteX78" fmla="*/ 1426616 w 2268940"/>
              <a:gd name="connsiteY78" fmla="*/ 1350732 h 1711180"/>
              <a:gd name="connsiteX79" fmla="*/ 1464557 w 2268940"/>
              <a:gd name="connsiteY79" fmla="*/ 1362114 h 1711180"/>
              <a:gd name="connsiteX80" fmla="*/ 1475940 w 2268940"/>
              <a:gd name="connsiteY80" fmla="*/ 1365908 h 1711180"/>
              <a:gd name="connsiteX81" fmla="*/ 1513882 w 2268940"/>
              <a:gd name="connsiteY81" fmla="*/ 1373497 h 1711180"/>
              <a:gd name="connsiteX82" fmla="*/ 1627708 w 2268940"/>
              <a:gd name="connsiteY82" fmla="*/ 1365908 h 1711180"/>
              <a:gd name="connsiteX83" fmla="*/ 1661855 w 2268940"/>
              <a:gd name="connsiteY83" fmla="*/ 1354526 h 1711180"/>
              <a:gd name="connsiteX84" fmla="*/ 1673238 w 2268940"/>
              <a:gd name="connsiteY84" fmla="*/ 1350732 h 1711180"/>
              <a:gd name="connsiteX85" fmla="*/ 1696003 w 2268940"/>
              <a:gd name="connsiteY85" fmla="*/ 1335555 h 1711180"/>
              <a:gd name="connsiteX86" fmla="*/ 1703591 w 2268940"/>
              <a:gd name="connsiteY86" fmla="*/ 1327966 h 1711180"/>
              <a:gd name="connsiteX87" fmla="*/ 1726357 w 2268940"/>
              <a:gd name="connsiteY87" fmla="*/ 1312790 h 1711180"/>
              <a:gd name="connsiteX88" fmla="*/ 1730151 w 2268940"/>
              <a:gd name="connsiteY88" fmla="*/ 1301407 h 1711180"/>
              <a:gd name="connsiteX89" fmla="*/ 1745328 w 2268940"/>
              <a:gd name="connsiteY89" fmla="*/ 1278642 h 1711180"/>
              <a:gd name="connsiteX90" fmla="*/ 1752916 w 2268940"/>
              <a:gd name="connsiteY90" fmla="*/ 1248288 h 1711180"/>
              <a:gd name="connsiteX91" fmla="*/ 1756710 w 2268940"/>
              <a:gd name="connsiteY91" fmla="*/ 1210346 h 1711180"/>
              <a:gd name="connsiteX92" fmla="*/ 1764299 w 2268940"/>
              <a:gd name="connsiteY92" fmla="*/ 1187581 h 1711180"/>
              <a:gd name="connsiteX93" fmla="*/ 1771887 w 2268940"/>
              <a:gd name="connsiteY93" fmla="*/ 1164816 h 1711180"/>
              <a:gd name="connsiteX94" fmla="*/ 1775681 w 2268940"/>
              <a:gd name="connsiteY94" fmla="*/ 1153434 h 1711180"/>
              <a:gd name="connsiteX95" fmla="*/ 1790858 w 2268940"/>
              <a:gd name="connsiteY95" fmla="*/ 1130668 h 1711180"/>
              <a:gd name="connsiteX96" fmla="*/ 1802240 w 2268940"/>
              <a:gd name="connsiteY96" fmla="*/ 1119286 h 1711180"/>
              <a:gd name="connsiteX97" fmla="*/ 1809829 w 2268940"/>
              <a:gd name="connsiteY97" fmla="*/ 1104109 h 1711180"/>
              <a:gd name="connsiteX98" fmla="*/ 1825006 w 2268940"/>
              <a:gd name="connsiteY98" fmla="*/ 1085138 h 1711180"/>
              <a:gd name="connsiteX99" fmla="*/ 1836388 w 2268940"/>
              <a:gd name="connsiteY99" fmla="*/ 1050990 h 1711180"/>
              <a:gd name="connsiteX100" fmla="*/ 1843977 w 2268940"/>
              <a:gd name="connsiteY100" fmla="*/ 1028225 h 1711180"/>
              <a:gd name="connsiteX101" fmla="*/ 1851565 w 2268940"/>
              <a:gd name="connsiteY101" fmla="*/ 1016843 h 1711180"/>
              <a:gd name="connsiteX102" fmla="*/ 1874330 w 2268940"/>
              <a:gd name="connsiteY102" fmla="*/ 997872 h 1711180"/>
              <a:gd name="connsiteX103" fmla="*/ 1893301 w 2268940"/>
              <a:gd name="connsiteY103" fmla="*/ 963724 h 1711180"/>
              <a:gd name="connsiteX104" fmla="*/ 1904684 w 2268940"/>
              <a:gd name="connsiteY104" fmla="*/ 952341 h 1711180"/>
              <a:gd name="connsiteX105" fmla="*/ 1919860 w 2268940"/>
              <a:gd name="connsiteY105" fmla="*/ 906811 h 1711180"/>
              <a:gd name="connsiteX106" fmla="*/ 1923655 w 2268940"/>
              <a:gd name="connsiteY106" fmla="*/ 895429 h 1711180"/>
              <a:gd name="connsiteX107" fmla="*/ 1927449 w 2268940"/>
              <a:gd name="connsiteY107" fmla="*/ 884046 h 1711180"/>
              <a:gd name="connsiteX108" fmla="*/ 1931243 w 2268940"/>
              <a:gd name="connsiteY108" fmla="*/ 857487 h 1711180"/>
              <a:gd name="connsiteX109" fmla="*/ 1938831 w 2268940"/>
              <a:gd name="connsiteY109" fmla="*/ 830927 h 1711180"/>
              <a:gd name="connsiteX110" fmla="*/ 1942625 w 2268940"/>
              <a:gd name="connsiteY110" fmla="*/ 785397 h 1711180"/>
              <a:gd name="connsiteX111" fmla="*/ 1946420 w 2268940"/>
              <a:gd name="connsiteY111" fmla="*/ 774015 h 1711180"/>
              <a:gd name="connsiteX112" fmla="*/ 1950214 w 2268940"/>
              <a:gd name="connsiteY112" fmla="*/ 709513 h 1711180"/>
              <a:gd name="connsiteX113" fmla="*/ 1954008 w 2268940"/>
              <a:gd name="connsiteY113" fmla="*/ 698131 h 1711180"/>
              <a:gd name="connsiteX114" fmla="*/ 1957802 w 2268940"/>
              <a:gd name="connsiteY114" fmla="*/ 679160 h 1711180"/>
              <a:gd name="connsiteX115" fmla="*/ 1961596 w 2268940"/>
              <a:gd name="connsiteY115" fmla="*/ 667777 h 1711180"/>
              <a:gd name="connsiteX116" fmla="*/ 1965391 w 2268940"/>
              <a:gd name="connsiteY116" fmla="*/ 652600 h 1711180"/>
              <a:gd name="connsiteX117" fmla="*/ 1976773 w 2268940"/>
              <a:gd name="connsiteY117" fmla="*/ 618453 h 1711180"/>
              <a:gd name="connsiteX118" fmla="*/ 1988156 w 2268940"/>
              <a:gd name="connsiteY118" fmla="*/ 584305 h 1711180"/>
              <a:gd name="connsiteX119" fmla="*/ 1991950 w 2268940"/>
              <a:gd name="connsiteY119" fmla="*/ 572922 h 1711180"/>
              <a:gd name="connsiteX120" fmla="*/ 2003333 w 2268940"/>
              <a:gd name="connsiteY120" fmla="*/ 546363 h 1711180"/>
              <a:gd name="connsiteX121" fmla="*/ 2014715 w 2268940"/>
              <a:gd name="connsiteY121" fmla="*/ 508421 h 1711180"/>
              <a:gd name="connsiteX122" fmla="*/ 2018509 w 2268940"/>
              <a:gd name="connsiteY122" fmla="*/ 497039 h 1711180"/>
              <a:gd name="connsiteX123" fmla="*/ 2022303 w 2268940"/>
              <a:gd name="connsiteY123" fmla="*/ 485656 h 1711180"/>
              <a:gd name="connsiteX124" fmla="*/ 2029892 w 2268940"/>
              <a:gd name="connsiteY124" fmla="*/ 474273 h 1711180"/>
              <a:gd name="connsiteX125" fmla="*/ 2033686 w 2268940"/>
              <a:gd name="connsiteY125" fmla="*/ 459097 h 1711180"/>
              <a:gd name="connsiteX126" fmla="*/ 2037480 w 2268940"/>
              <a:gd name="connsiteY126" fmla="*/ 447714 h 1711180"/>
              <a:gd name="connsiteX127" fmla="*/ 2048863 w 2268940"/>
              <a:gd name="connsiteY127" fmla="*/ 405978 h 1711180"/>
              <a:gd name="connsiteX128" fmla="*/ 2056451 w 2268940"/>
              <a:gd name="connsiteY128" fmla="*/ 383213 h 1711180"/>
              <a:gd name="connsiteX129" fmla="*/ 2064040 w 2268940"/>
              <a:gd name="connsiteY129" fmla="*/ 375624 h 1711180"/>
              <a:gd name="connsiteX130" fmla="*/ 2079216 w 2268940"/>
              <a:gd name="connsiteY130" fmla="*/ 352859 h 1711180"/>
              <a:gd name="connsiteX131" fmla="*/ 2086805 w 2268940"/>
              <a:gd name="connsiteY131" fmla="*/ 341477 h 1711180"/>
              <a:gd name="connsiteX132" fmla="*/ 2094393 w 2268940"/>
              <a:gd name="connsiteY132" fmla="*/ 333888 h 1711180"/>
              <a:gd name="connsiteX133" fmla="*/ 2105776 w 2268940"/>
              <a:gd name="connsiteY133" fmla="*/ 314917 h 1711180"/>
              <a:gd name="connsiteX134" fmla="*/ 2117158 w 2268940"/>
              <a:gd name="connsiteY134" fmla="*/ 295946 h 1711180"/>
              <a:gd name="connsiteX135" fmla="*/ 2124747 w 2268940"/>
              <a:gd name="connsiteY135" fmla="*/ 269387 h 1711180"/>
              <a:gd name="connsiteX136" fmla="*/ 2132335 w 2268940"/>
              <a:gd name="connsiteY136" fmla="*/ 246622 h 1711180"/>
              <a:gd name="connsiteX137" fmla="*/ 2147512 w 2268940"/>
              <a:gd name="connsiteY137" fmla="*/ 201092 h 1711180"/>
              <a:gd name="connsiteX138" fmla="*/ 2158894 w 2268940"/>
              <a:gd name="connsiteY138" fmla="*/ 166944 h 1711180"/>
              <a:gd name="connsiteX139" fmla="*/ 2162689 w 2268940"/>
              <a:gd name="connsiteY139" fmla="*/ 155561 h 1711180"/>
              <a:gd name="connsiteX140" fmla="*/ 2170277 w 2268940"/>
              <a:gd name="connsiteY140" fmla="*/ 144179 h 1711180"/>
              <a:gd name="connsiteX141" fmla="*/ 2185454 w 2268940"/>
              <a:gd name="connsiteY141" fmla="*/ 125208 h 1711180"/>
              <a:gd name="connsiteX142" fmla="*/ 2200630 w 2268940"/>
              <a:gd name="connsiteY142" fmla="*/ 102443 h 1711180"/>
              <a:gd name="connsiteX143" fmla="*/ 2204425 w 2268940"/>
              <a:gd name="connsiteY143" fmla="*/ 91060 h 1711180"/>
              <a:gd name="connsiteX144" fmla="*/ 2223396 w 2268940"/>
              <a:gd name="connsiteY144" fmla="*/ 72089 h 1711180"/>
              <a:gd name="connsiteX145" fmla="*/ 2230984 w 2268940"/>
              <a:gd name="connsiteY145" fmla="*/ 60707 h 1711180"/>
              <a:gd name="connsiteX146" fmla="*/ 2234778 w 2268940"/>
              <a:gd name="connsiteY146" fmla="*/ 49324 h 1711180"/>
              <a:gd name="connsiteX147" fmla="*/ 2249955 w 2268940"/>
              <a:gd name="connsiteY147" fmla="*/ 34147 h 1711180"/>
              <a:gd name="connsiteX148" fmla="*/ 2253749 w 2268940"/>
              <a:gd name="connsiteY148" fmla="*/ 22765 h 1711180"/>
              <a:gd name="connsiteX149" fmla="*/ 2261338 w 2268940"/>
              <a:gd name="connsiteY149" fmla="*/ 15176 h 1711180"/>
              <a:gd name="connsiteX150" fmla="*/ 2268926 w 2268940"/>
              <a:gd name="connsiteY150" fmla="*/ 0 h 1711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2268940" h="1711180">
                <a:moveTo>
                  <a:pt x="0" y="868869"/>
                </a:moveTo>
                <a:cubicBezTo>
                  <a:pt x="2529" y="875193"/>
                  <a:pt x="4209" y="881927"/>
                  <a:pt x="7588" y="887840"/>
                </a:cubicBezTo>
                <a:cubicBezTo>
                  <a:pt x="9363" y="890946"/>
                  <a:pt x="13336" y="892361"/>
                  <a:pt x="15177" y="895429"/>
                </a:cubicBezTo>
                <a:cubicBezTo>
                  <a:pt x="17235" y="898858"/>
                  <a:pt x="16143" y="903983"/>
                  <a:pt x="18971" y="906811"/>
                </a:cubicBezTo>
                <a:cubicBezTo>
                  <a:pt x="21799" y="909639"/>
                  <a:pt x="26677" y="909030"/>
                  <a:pt x="30353" y="910605"/>
                </a:cubicBezTo>
                <a:cubicBezTo>
                  <a:pt x="55922" y="921564"/>
                  <a:pt x="35731" y="915191"/>
                  <a:pt x="64501" y="929576"/>
                </a:cubicBezTo>
                <a:cubicBezTo>
                  <a:pt x="68078" y="931365"/>
                  <a:pt x="72090" y="932106"/>
                  <a:pt x="75884" y="933371"/>
                </a:cubicBezTo>
                <a:cubicBezTo>
                  <a:pt x="78413" y="937165"/>
                  <a:pt x="79969" y="941834"/>
                  <a:pt x="83472" y="944753"/>
                </a:cubicBezTo>
                <a:cubicBezTo>
                  <a:pt x="87817" y="948374"/>
                  <a:pt x="93738" y="949535"/>
                  <a:pt x="98649" y="952341"/>
                </a:cubicBezTo>
                <a:cubicBezTo>
                  <a:pt x="102608" y="954603"/>
                  <a:pt x="106569" y="956962"/>
                  <a:pt x="110031" y="959930"/>
                </a:cubicBezTo>
                <a:cubicBezTo>
                  <a:pt x="142222" y="987524"/>
                  <a:pt x="110466" y="965280"/>
                  <a:pt x="136591" y="982695"/>
                </a:cubicBezTo>
                <a:cubicBezTo>
                  <a:pt x="141650" y="990283"/>
                  <a:pt x="145318" y="999011"/>
                  <a:pt x="151767" y="1005460"/>
                </a:cubicBezTo>
                <a:cubicBezTo>
                  <a:pt x="154297" y="1007990"/>
                  <a:pt x="157121" y="1010255"/>
                  <a:pt x="159356" y="1013049"/>
                </a:cubicBezTo>
                <a:cubicBezTo>
                  <a:pt x="178497" y="1036975"/>
                  <a:pt x="156213" y="1013701"/>
                  <a:pt x="174533" y="1032019"/>
                </a:cubicBezTo>
                <a:cubicBezTo>
                  <a:pt x="183795" y="1059806"/>
                  <a:pt x="181536" y="1049084"/>
                  <a:pt x="185915" y="1077550"/>
                </a:cubicBezTo>
                <a:cubicBezTo>
                  <a:pt x="186957" y="1084326"/>
                  <a:pt x="188365" y="1106243"/>
                  <a:pt x="193503" y="1115492"/>
                </a:cubicBezTo>
                <a:cubicBezTo>
                  <a:pt x="197932" y="1123464"/>
                  <a:pt x="203621" y="1130669"/>
                  <a:pt x="208680" y="1138257"/>
                </a:cubicBezTo>
                <a:lnTo>
                  <a:pt x="216269" y="1149639"/>
                </a:lnTo>
                <a:cubicBezTo>
                  <a:pt x="218798" y="1157228"/>
                  <a:pt x="219420" y="1165749"/>
                  <a:pt x="223857" y="1172405"/>
                </a:cubicBezTo>
                <a:cubicBezTo>
                  <a:pt x="226386" y="1176199"/>
                  <a:pt x="229593" y="1179620"/>
                  <a:pt x="231445" y="1183787"/>
                </a:cubicBezTo>
                <a:cubicBezTo>
                  <a:pt x="234694" y="1191096"/>
                  <a:pt x="236504" y="1198964"/>
                  <a:pt x="239034" y="1206552"/>
                </a:cubicBezTo>
                <a:cubicBezTo>
                  <a:pt x="240299" y="1210346"/>
                  <a:pt x="240609" y="1214607"/>
                  <a:pt x="242828" y="1217935"/>
                </a:cubicBezTo>
                <a:lnTo>
                  <a:pt x="250416" y="1229317"/>
                </a:lnTo>
                <a:cubicBezTo>
                  <a:pt x="251681" y="1240700"/>
                  <a:pt x="251965" y="1252235"/>
                  <a:pt x="254211" y="1263465"/>
                </a:cubicBezTo>
                <a:cubicBezTo>
                  <a:pt x="255780" y="1271308"/>
                  <a:pt x="259270" y="1278642"/>
                  <a:pt x="261799" y="1286230"/>
                </a:cubicBezTo>
                <a:lnTo>
                  <a:pt x="269387" y="1308995"/>
                </a:lnTo>
                <a:lnTo>
                  <a:pt x="280770" y="1343143"/>
                </a:lnTo>
                <a:cubicBezTo>
                  <a:pt x="282035" y="1346937"/>
                  <a:pt x="283594" y="1350646"/>
                  <a:pt x="284564" y="1354526"/>
                </a:cubicBezTo>
                <a:cubicBezTo>
                  <a:pt x="293824" y="1391565"/>
                  <a:pt x="282510" y="1345287"/>
                  <a:pt x="292152" y="1388673"/>
                </a:cubicBezTo>
                <a:cubicBezTo>
                  <a:pt x="293123" y="1393044"/>
                  <a:pt x="297208" y="1410166"/>
                  <a:pt x="299741" y="1415233"/>
                </a:cubicBezTo>
                <a:cubicBezTo>
                  <a:pt x="301780" y="1419311"/>
                  <a:pt x="304480" y="1423054"/>
                  <a:pt x="307329" y="1426615"/>
                </a:cubicBezTo>
                <a:cubicBezTo>
                  <a:pt x="309564" y="1429409"/>
                  <a:pt x="311850" y="1432363"/>
                  <a:pt x="314918" y="1434204"/>
                </a:cubicBezTo>
                <a:cubicBezTo>
                  <a:pt x="318347" y="1436262"/>
                  <a:pt x="322506" y="1436733"/>
                  <a:pt x="326300" y="1437998"/>
                </a:cubicBezTo>
                <a:cubicBezTo>
                  <a:pt x="344624" y="1456319"/>
                  <a:pt x="321339" y="1434029"/>
                  <a:pt x="345271" y="1453175"/>
                </a:cubicBezTo>
                <a:cubicBezTo>
                  <a:pt x="372292" y="1474792"/>
                  <a:pt x="329224" y="1445006"/>
                  <a:pt x="364242" y="1468351"/>
                </a:cubicBezTo>
                <a:cubicBezTo>
                  <a:pt x="374990" y="1500598"/>
                  <a:pt x="360000" y="1461281"/>
                  <a:pt x="375625" y="1487322"/>
                </a:cubicBezTo>
                <a:cubicBezTo>
                  <a:pt x="387844" y="1507686"/>
                  <a:pt x="368130" y="1491179"/>
                  <a:pt x="390801" y="1506293"/>
                </a:cubicBezTo>
                <a:cubicBezTo>
                  <a:pt x="392066" y="1510087"/>
                  <a:pt x="392807" y="1514099"/>
                  <a:pt x="394596" y="1517676"/>
                </a:cubicBezTo>
                <a:cubicBezTo>
                  <a:pt x="402379" y="1533241"/>
                  <a:pt x="400364" y="1524887"/>
                  <a:pt x="409772" y="1536647"/>
                </a:cubicBezTo>
                <a:cubicBezTo>
                  <a:pt x="412621" y="1540208"/>
                  <a:pt x="414512" y="1544468"/>
                  <a:pt x="417361" y="1548029"/>
                </a:cubicBezTo>
                <a:cubicBezTo>
                  <a:pt x="438987" y="1575061"/>
                  <a:pt x="409180" y="1531968"/>
                  <a:pt x="432538" y="1567000"/>
                </a:cubicBezTo>
                <a:cubicBezTo>
                  <a:pt x="433803" y="1570794"/>
                  <a:pt x="433834" y="1575260"/>
                  <a:pt x="436332" y="1578383"/>
                </a:cubicBezTo>
                <a:cubicBezTo>
                  <a:pt x="439180" y="1581944"/>
                  <a:pt x="445297" y="1582104"/>
                  <a:pt x="447714" y="1585971"/>
                </a:cubicBezTo>
                <a:cubicBezTo>
                  <a:pt x="451954" y="1592754"/>
                  <a:pt x="450866" y="1602081"/>
                  <a:pt x="455303" y="1608737"/>
                </a:cubicBezTo>
                <a:cubicBezTo>
                  <a:pt x="472463" y="1634478"/>
                  <a:pt x="464030" y="1625054"/>
                  <a:pt x="478068" y="1639090"/>
                </a:cubicBezTo>
                <a:cubicBezTo>
                  <a:pt x="487089" y="1666156"/>
                  <a:pt x="474297" y="1633434"/>
                  <a:pt x="493245" y="1661855"/>
                </a:cubicBezTo>
                <a:cubicBezTo>
                  <a:pt x="515808" y="1695699"/>
                  <a:pt x="471236" y="1645485"/>
                  <a:pt x="504627" y="1688415"/>
                </a:cubicBezTo>
                <a:cubicBezTo>
                  <a:pt x="519885" y="1708032"/>
                  <a:pt x="518040" y="1705532"/>
                  <a:pt x="534981" y="1711180"/>
                </a:cubicBezTo>
                <a:cubicBezTo>
                  <a:pt x="551422" y="1709915"/>
                  <a:pt x="567906" y="1709111"/>
                  <a:pt x="584305" y="1707385"/>
                </a:cubicBezTo>
                <a:cubicBezTo>
                  <a:pt x="591956" y="1706580"/>
                  <a:pt x="599969" y="1706550"/>
                  <a:pt x="607070" y="1703591"/>
                </a:cubicBezTo>
                <a:cubicBezTo>
                  <a:pt x="615488" y="1700083"/>
                  <a:pt x="629835" y="1688415"/>
                  <a:pt x="629835" y="1688415"/>
                </a:cubicBezTo>
                <a:cubicBezTo>
                  <a:pt x="632365" y="1684621"/>
                  <a:pt x="633863" y="1679881"/>
                  <a:pt x="637424" y="1677032"/>
                </a:cubicBezTo>
                <a:cubicBezTo>
                  <a:pt x="640547" y="1674534"/>
                  <a:pt x="645229" y="1675027"/>
                  <a:pt x="648806" y="1673238"/>
                </a:cubicBezTo>
                <a:cubicBezTo>
                  <a:pt x="652885" y="1671199"/>
                  <a:pt x="656686" y="1668568"/>
                  <a:pt x="660189" y="1665649"/>
                </a:cubicBezTo>
                <a:cubicBezTo>
                  <a:pt x="664311" y="1662214"/>
                  <a:pt x="667336" y="1657561"/>
                  <a:pt x="671572" y="1654267"/>
                </a:cubicBezTo>
                <a:cubicBezTo>
                  <a:pt x="678771" y="1648668"/>
                  <a:pt x="687888" y="1645539"/>
                  <a:pt x="694337" y="1639090"/>
                </a:cubicBezTo>
                <a:cubicBezTo>
                  <a:pt x="716532" y="1616895"/>
                  <a:pt x="705867" y="1625080"/>
                  <a:pt x="724690" y="1612531"/>
                </a:cubicBezTo>
                <a:cubicBezTo>
                  <a:pt x="738233" y="1592218"/>
                  <a:pt x="729053" y="1604375"/>
                  <a:pt x="755044" y="1578383"/>
                </a:cubicBezTo>
                <a:cubicBezTo>
                  <a:pt x="758838" y="1574589"/>
                  <a:pt x="763449" y="1571464"/>
                  <a:pt x="766426" y="1567000"/>
                </a:cubicBezTo>
                <a:cubicBezTo>
                  <a:pt x="789793" y="1531954"/>
                  <a:pt x="759970" y="1575072"/>
                  <a:pt x="781603" y="1548029"/>
                </a:cubicBezTo>
                <a:cubicBezTo>
                  <a:pt x="800743" y="1524103"/>
                  <a:pt x="778460" y="1547378"/>
                  <a:pt x="796780" y="1529058"/>
                </a:cubicBezTo>
                <a:cubicBezTo>
                  <a:pt x="800787" y="1517038"/>
                  <a:pt x="799757" y="1516799"/>
                  <a:pt x="808162" y="1506293"/>
                </a:cubicBezTo>
                <a:cubicBezTo>
                  <a:pt x="810397" y="1503500"/>
                  <a:pt x="813516" y="1501498"/>
                  <a:pt x="815751" y="1498705"/>
                </a:cubicBezTo>
                <a:cubicBezTo>
                  <a:pt x="818600" y="1495144"/>
                  <a:pt x="820336" y="1490754"/>
                  <a:pt x="823339" y="1487322"/>
                </a:cubicBezTo>
                <a:cubicBezTo>
                  <a:pt x="829228" y="1480592"/>
                  <a:pt x="835986" y="1474675"/>
                  <a:pt x="842310" y="1468351"/>
                </a:cubicBezTo>
                <a:cubicBezTo>
                  <a:pt x="844840" y="1465822"/>
                  <a:pt x="846923" y="1462747"/>
                  <a:pt x="849899" y="1460763"/>
                </a:cubicBezTo>
                <a:cubicBezTo>
                  <a:pt x="853693" y="1458234"/>
                  <a:pt x="857720" y="1456024"/>
                  <a:pt x="861281" y="1453175"/>
                </a:cubicBezTo>
                <a:cubicBezTo>
                  <a:pt x="864074" y="1450940"/>
                  <a:pt x="865893" y="1447570"/>
                  <a:pt x="868869" y="1445586"/>
                </a:cubicBezTo>
                <a:cubicBezTo>
                  <a:pt x="873575" y="1442449"/>
                  <a:pt x="879196" y="1440908"/>
                  <a:pt x="884046" y="1437998"/>
                </a:cubicBezTo>
                <a:cubicBezTo>
                  <a:pt x="891866" y="1433306"/>
                  <a:pt x="899223" y="1427880"/>
                  <a:pt x="906811" y="1422821"/>
                </a:cubicBezTo>
                <a:lnTo>
                  <a:pt x="918194" y="1415233"/>
                </a:lnTo>
                <a:lnTo>
                  <a:pt x="929577" y="1407644"/>
                </a:lnTo>
                <a:cubicBezTo>
                  <a:pt x="932106" y="1403850"/>
                  <a:pt x="934162" y="1399694"/>
                  <a:pt x="937165" y="1396262"/>
                </a:cubicBezTo>
                <a:cubicBezTo>
                  <a:pt x="943054" y="1389532"/>
                  <a:pt x="949812" y="1383615"/>
                  <a:pt x="956136" y="1377291"/>
                </a:cubicBezTo>
                <a:cubicBezTo>
                  <a:pt x="965126" y="1368300"/>
                  <a:pt x="973612" y="1358818"/>
                  <a:pt x="986489" y="1354526"/>
                </a:cubicBezTo>
                <a:cubicBezTo>
                  <a:pt x="1002819" y="1349083"/>
                  <a:pt x="993992" y="1351702"/>
                  <a:pt x="1013049" y="1346937"/>
                </a:cubicBezTo>
                <a:cubicBezTo>
                  <a:pt x="1016843" y="1344408"/>
                  <a:pt x="1019871" y="1339393"/>
                  <a:pt x="1024431" y="1339349"/>
                </a:cubicBezTo>
                <a:lnTo>
                  <a:pt x="1403850" y="1343143"/>
                </a:lnTo>
                <a:cubicBezTo>
                  <a:pt x="1411846" y="1343369"/>
                  <a:pt x="1418856" y="1348792"/>
                  <a:pt x="1426616" y="1350732"/>
                </a:cubicBezTo>
                <a:cubicBezTo>
                  <a:pt x="1449553" y="1356466"/>
                  <a:pt x="1436844" y="1352877"/>
                  <a:pt x="1464557" y="1362114"/>
                </a:cubicBezTo>
                <a:cubicBezTo>
                  <a:pt x="1468351" y="1363379"/>
                  <a:pt x="1471995" y="1365251"/>
                  <a:pt x="1475940" y="1365908"/>
                </a:cubicBezTo>
                <a:cubicBezTo>
                  <a:pt x="1503849" y="1370559"/>
                  <a:pt x="1491242" y="1367836"/>
                  <a:pt x="1513882" y="1373497"/>
                </a:cubicBezTo>
                <a:cubicBezTo>
                  <a:pt x="1525440" y="1372994"/>
                  <a:pt x="1598323" y="1372689"/>
                  <a:pt x="1627708" y="1365908"/>
                </a:cubicBezTo>
                <a:cubicBezTo>
                  <a:pt x="1627713" y="1365907"/>
                  <a:pt x="1656161" y="1356424"/>
                  <a:pt x="1661855" y="1354526"/>
                </a:cubicBezTo>
                <a:lnTo>
                  <a:pt x="1673238" y="1350732"/>
                </a:lnTo>
                <a:cubicBezTo>
                  <a:pt x="1680826" y="1345673"/>
                  <a:pt x="1689555" y="1342004"/>
                  <a:pt x="1696003" y="1335555"/>
                </a:cubicBezTo>
                <a:cubicBezTo>
                  <a:pt x="1698532" y="1333025"/>
                  <a:pt x="1700729" y="1330112"/>
                  <a:pt x="1703591" y="1327966"/>
                </a:cubicBezTo>
                <a:cubicBezTo>
                  <a:pt x="1710887" y="1322494"/>
                  <a:pt x="1726357" y="1312790"/>
                  <a:pt x="1726357" y="1312790"/>
                </a:cubicBezTo>
                <a:cubicBezTo>
                  <a:pt x="1727622" y="1308996"/>
                  <a:pt x="1728209" y="1304903"/>
                  <a:pt x="1730151" y="1301407"/>
                </a:cubicBezTo>
                <a:cubicBezTo>
                  <a:pt x="1734580" y="1293435"/>
                  <a:pt x="1745328" y="1278642"/>
                  <a:pt x="1745328" y="1278642"/>
                </a:cubicBezTo>
                <a:cubicBezTo>
                  <a:pt x="1747857" y="1268524"/>
                  <a:pt x="1751878" y="1258666"/>
                  <a:pt x="1752916" y="1248288"/>
                </a:cubicBezTo>
                <a:cubicBezTo>
                  <a:pt x="1754181" y="1235641"/>
                  <a:pt x="1754368" y="1222839"/>
                  <a:pt x="1756710" y="1210346"/>
                </a:cubicBezTo>
                <a:cubicBezTo>
                  <a:pt x="1758184" y="1202484"/>
                  <a:pt x="1761769" y="1195169"/>
                  <a:pt x="1764299" y="1187581"/>
                </a:cubicBezTo>
                <a:lnTo>
                  <a:pt x="1771887" y="1164816"/>
                </a:lnTo>
                <a:cubicBezTo>
                  <a:pt x="1773152" y="1161022"/>
                  <a:pt x="1772853" y="1156262"/>
                  <a:pt x="1775681" y="1153434"/>
                </a:cubicBezTo>
                <a:cubicBezTo>
                  <a:pt x="1795987" y="1133125"/>
                  <a:pt x="1767883" y="1162832"/>
                  <a:pt x="1790858" y="1130668"/>
                </a:cubicBezTo>
                <a:cubicBezTo>
                  <a:pt x="1793977" y="1126302"/>
                  <a:pt x="1799121" y="1123652"/>
                  <a:pt x="1802240" y="1119286"/>
                </a:cubicBezTo>
                <a:cubicBezTo>
                  <a:pt x="1805528" y="1114683"/>
                  <a:pt x="1807023" y="1109020"/>
                  <a:pt x="1809829" y="1104109"/>
                </a:cubicBezTo>
                <a:cubicBezTo>
                  <a:pt x="1816211" y="1092941"/>
                  <a:pt x="1816696" y="1093448"/>
                  <a:pt x="1825006" y="1085138"/>
                </a:cubicBezTo>
                <a:lnTo>
                  <a:pt x="1836388" y="1050990"/>
                </a:lnTo>
                <a:cubicBezTo>
                  <a:pt x="1836389" y="1050986"/>
                  <a:pt x="1843975" y="1028228"/>
                  <a:pt x="1843977" y="1028225"/>
                </a:cubicBezTo>
                <a:cubicBezTo>
                  <a:pt x="1846506" y="1024431"/>
                  <a:pt x="1848646" y="1020346"/>
                  <a:pt x="1851565" y="1016843"/>
                </a:cubicBezTo>
                <a:cubicBezTo>
                  <a:pt x="1860696" y="1005885"/>
                  <a:pt x="1863135" y="1005334"/>
                  <a:pt x="1874330" y="997872"/>
                </a:cubicBezTo>
                <a:cubicBezTo>
                  <a:pt x="1879737" y="987058"/>
                  <a:pt x="1886152" y="973256"/>
                  <a:pt x="1893301" y="963724"/>
                </a:cubicBezTo>
                <a:cubicBezTo>
                  <a:pt x="1896521" y="959431"/>
                  <a:pt x="1900890" y="956135"/>
                  <a:pt x="1904684" y="952341"/>
                </a:cubicBezTo>
                <a:lnTo>
                  <a:pt x="1919860" y="906811"/>
                </a:lnTo>
                <a:lnTo>
                  <a:pt x="1923655" y="895429"/>
                </a:lnTo>
                <a:lnTo>
                  <a:pt x="1927449" y="884046"/>
                </a:lnTo>
                <a:cubicBezTo>
                  <a:pt x="1928714" y="875193"/>
                  <a:pt x="1929643" y="866286"/>
                  <a:pt x="1931243" y="857487"/>
                </a:cubicBezTo>
                <a:cubicBezTo>
                  <a:pt x="1933149" y="847006"/>
                  <a:pt x="1935580" y="840680"/>
                  <a:pt x="1938831" y="830927"/>
                </a:cubicBezTo>
                <a:cubicBezTo>
                  <a:pt x="1940096" y="815750"/>
                  <a:pt x="1940612" y="800493"/>
                  <a:pt x="1942625" y="785397"/>
                </a:cubicBezTo>
                <a:cubicBezTo>
                  <a:pt x="1943154" y="781433"/>
                  <a:pt x="1946022" y="777994"/>
                  <a:pt x="1946420" y="774015"/>
                </a:cubicBezTo>
                <a:cubicBezTo>
                  <a:pt x="1948563" y="752584"/>
                  <a:pt x="1948071" y="730944"/>
                  <a:pt x="1950214" y="709513"/>
                </a:cubicBezTo>
                <a:cubicBezTo>
                  <a:pt x="1950612" y="705534"/>
                  <a:pt x="1953038" y="702011"/>
                  <a:pt x="1954008" y="698131"/>
                </a:cubicBezTo>
                <a:cubicBezTo>
                  <a:pt x="1955572" y="691875"/>
                  <a:pt x="1956238" y="685416"/>
                  <a:pt x="1957802" y="679160"/>
                </a:cubicBezTo>
                <a:cubicBezTo>
                  <a:pt x="1958772" y="675280"/>
                  <a:pt x="1960497" y="671623"/>
                  <a:pt x="1961596" y="667777"/>
                </a:cubicBezTo>
                <a:cubicBezTo>
                  <a:pt x="1963029" y="662763"/>
                  <a:pt x="1963893" y="657595"/>
                  <a:pt x="1965391" y="652600"/>
                </a:cubicBezTo>
                <a:cubicBezTo>
                  <a:pt x="1965396" y="652583"/>
                  <a:pt x="1974873" y="624153"/>
                  <a:pt x="1976773" y="618453"/>
                </a:cubicBezTo>
                <a:lnTo>
                  <a:pt x="1988156" y="584305"/>
                </a:lnTo>
                <a:cubicBezTo>
                  <a:pt x="1989421" y="580511"/>
                  <a:pt x="1990980" y="576802"/>
                  <a:pt x="1991950" y="572922"/>
                </a:cubicBezTo>
                <a:cubicBezTo>
                  <a:pt x="1996850" y="553322"/>
                  <a:pt x="1992852" y="562085"/>
                  <a:pt x="2003333" y="546363"/>
                </a:cubicBezTo>
                <a:cubicBezTo>
                  <a:pt x="2009067" y="523427"/>
                  <a:pt x="2005478" y="536131"/>
                  <a:pt x="2014715" y="508421"/>
                </a:cubicBezTo>
                <a:lnTo>
                  <a:pt x="2018509" y="497039"/>
                </a:lnTo>
                <a:cubicBezTo>
                  <a:pt x="2019774" y="493245"/>
                  <a:pt x="2020084" y="488984"/>
                  <a:pt x="2022303" y="485656"/>
                </a:cubicBezTo>
                <a:lnTo>
                  <a:pt x="2029892" y="474273"/>
                </a:lnTo>
                <a:cubicBezTo>
                  <a:pt x="2031157" y="469214"/>
                  <a:pt x="2032254" y="464111"/>
                  <a:pt x="2033686" y="459097"/>
                </a:cubicBezTo>
                <a:cubicBezTo>
                  <a:pt x="2034785" y="455251"/>
                  <a:pt x="2036510" y="451594"/>
                  <a:pt x="2037480" y="447714"/>
                </a:cubicBezTo>
                <a:cubicBezTo>
                  <a:pt x="2048205" y="404812"/>
                  <a:pt x="2032584" y="454815"/>
                  <a:pt x="2048863" y="405978"/>
                </a:cubicBezTo>
                <a:lnTo>
                  <a:pt x="2056451" y="383213"/>
                </a:lnTo>
                <a:cubicBezTo>
                  <a:pt x="2058981" y="380683"/>
                  <a:pt x="2061894" y="378486"/>
                  <a:pt x="2064040" y="375624"/>
                </a:cubicBezTo>
                <a:cubicBezTo>
                  <a:pt x="2069512" y="368328"/>
                  <a:pt x="2074157" y="360447"/>
                  <a:pt x="2079216" y="352859"/>
                </a:cubicBezTo>
                <a:cubicBezTo>
                  <a:pt x="2081745" y="349065"/>
                  <a:pt x="2083581" y="344702"/>
                  <a:pt x="2086805" y="341477"/>
                </a:cubicBezTo>
                <a:lnTo>
                  <a:pt x="2094393" y="333888"/>
                </a:lnTo>
                <a:cubicBezTo>
                  <a:pt x="2105140" y="301647"/>
                  <a:pt x="2090151" y="340957"/>
                  <a:pt x="2105776" y="314917"/>
                </a:cubicBezTo>
                <a:cubicBezTo>
                  <a:pt x="2120555" y="290286"/>
                  <a:pt x="2097928" y="315178"/>
                  <a:pt x="2117158" y="295946"/>
                </a:cubicBezTo>
                <a:cubicBezTo>
                  <a:pt x="2129905" y="257705"/>
                  <a:pt x="2110458" y="317016"/>
                  <a:pt x="2124747" y="269387"/>
                </a:cubicBezTo>
                <a:cubicBezTo>
                  <a:pt x="2127046" y="261726"/>
                  <a:pt x="2129806" y="254210"/>
                  <a:pt x="2132335" y="246622"/>
                </a:cubicBezTo>
                <a:lnTo>
                  <a:pt x="2147512" y="201092"/>
                </a:lnTo>
                <a:lnTo>
                  <a:pt x="2158894" y="166944"/>
                </a:lnTo>
                <a:cubicBezTo>
                  <a:pt x="2160159" y="163150"/>
                  <a:pt x="2160470" y="158889"/>
                  <a:pt x="2162689" y="155561"/>
                </a:cubicBezTo>
                <a:cubicBezTo>
                  <a:pt x="2165218" y="151767"/>
                  <a:pt x="2167429" y="147740"/>
                  <a:pt x="2170277" y="144179"/>
                </a:cubicBezTo>
                <a:cubicBezTo>
                  <a:pt x="2191910" y="117136"/>
                  <a:pt x="2162087" y="160254"/>
                  <a:pt x="2185454" y="125208"/>
                </a:cubicBezTo>
                <a:cubicBezTo>
                  <a:pt x="2194474" y="98144"/>
                  <a:pt x="2181684" y="130861"/>
                  <a:pt x="2200630" y="102443"/>
                </a:cubicBezTo>
                <a:cubicBezTo>
                  <a:pt x="2202849" y="99115"/>
                  <a:pt x="2202025" y="94260"/>
                  <a:pt x="2204425" y="91060"/>
                </a:cubicBezTo>
                <a:cubicBezTo>
                  <a:pt x="2209791" y="83906"/>
                  <a:pt x="2218435" y="79530"/>
                  <a:pt x="2223396" y="72089"/>
                </a:cubicBezTo>
                <a:lnTo>
                  <a:pt x="2230984" y="60707"/>
                </a:lnTo>
                <a:cubicBezTo>
                  <a:pt x="2232249" y="56913"/>
                  <a:pt x="2232453" y="52579"/>
                  <a:pt x="2234778" y="49324"/>
                </a:cubicBezTo>
                <a:cubicBezTo>
                  <a:pt x="2238936" y="43502"/>
                  <a:pt x="2249955" y="34147"/>
                  <a:pt x="2249955" y="34147"/>
                </a:cubicBezTo>
                <a:cubicBezTo>
                  <a:pt x="2251220" y="30353"/>
                  <a:pt x="2251691" y="26194"/>
                  <a:pt x="2253749" y="22765"/>
                </a:cubicBezTo>
                <a:cubicBezTo>
                  <a:pt x="2255590" y="19697"/>
                  <a:pt x="2259103" y="17970"/>
                  <a:pt x="2261338" y="15176"/>
                </a:cubicBezTo>
                <a:cubicBezTo>
                  <a:pt x="2269628" y="4814"/>
                  <a:pt x="2268926" y="7779"/>
                  <a:pt x="2268926" y="0"/>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Forma libre: forma 5">
            <a:extLst>
              <a:ext uri="{FF2B5EF4-FFF2-40B4-BE49-F238E27FC236}">
                <a16:creationId xmlns:a16="http://schemas.microsoft.com/office/drawing/2014/main" id="{0595D2ED-373C-4237-8EC7-053564FFCEC3}"/>
              </a:ext>
            </a:extLst>
          </p:cNvPr>
          <p:cNvSpPr/>
          <p:nvPr/>
        </p:nvSpPr>
        <p:spPr>
          <a:xfrm>
            <a:off x="7212141" y="2176966"/>
            <a:ext cx="2301848" cy="1669596"/>
          </a:xfrm>
          <a:custGeom>
            <a:avLst/>
            <a:gdLst>
              <a:gd name="connsiteX0" fmla="*/ 0 w 2287348"/>
              <a:gd name="connsiteY0" fmla="*/ 569139 h 1728998"/>
              <a:gd name="connsiteX1" fmla="*/ 5394 w 2287348"/>
              <a:gd name="connsiteY1" fmla="*/ 582626 h 1728998"/>
              <a:gd name="connsiteX2" fmla="*/ 13486 w 2287348"/>
              <a:gd name="connsiteY2" fmla="*/ 585323 h 1728998"/>
              <a:gd name="connsiteX3" fmla="*/ 29670 w 2287348"/>
              <a:gd name="connsiteY3" fmla="*/ 596113 h 1728998"/>
              <a:gd name="connsiteX4" fmla="*/ 37762 w 2287348"/>
              <a:gd name="connsiteY4" fmla="*/ 604205 h 1728998"/>
              <a:gd name="connsiteX5" fmla="*/ 48552 w 2287348"/>
              <a:gd name="connsiteY5" fmla="*/ 620389 h 1728998"/>
              <a:gd name="connsiteX6" fmla="*/ 56644 w 2287348"/>
              <a:gd name="connsiteY6" fmla="*/ 628481 h 1728998"/>
              <a:gd name="connsiteX7" fmla="*/ 67433 w 2287348"/>
              <a:gd name="connsiteY7" fmla="*/ 644665 h 1728998"/>
              <a:gd name="connsiteX8" fmla="*/ 70130 w 2287348"/>
              <a:gd name="connsiteY8" fmla="*/ 652757 h 1728998"/>
              <a:gd name="connsiteX9" fmla="*/ 83617 w 2287348"/>
              <a:gd name="connsiteY9" fmla="*/ 668941 h 1728998"/>
              <a:gd name="connsiteX10" fmla="*/ 97104 w 2287348"/>
              <a:gd name="connsiteY10" fmla="*/ 693217 h 1728998"/>
              <a:gd name="connsiteX11" fmla="*/ 102499 w 2287348"/>
              <a:gd name="connsiteY11" fmla="*/ 701309 h 1728998"/>
              <a:gd name="connsiteX12" fmla="*/ 113288 w 2287348"/>
              <a:gd name="connsiteY12" fmla="*/ 725585 h 1728998"/>
              <a:gd name="connsiteX13" fmla="*/ 118683 w 2287348"/>
              <a:gd name="connsiteY13" fmla="*/ 741769 h 1728998"/>
              <a:gd name="connsiteX14" fmla="*/ 121380 w 2287348"/>
              <a:gd name="connsiteY14" fmla="*/ 752559 h 1728998"/>
              <a:gd name="connsiteX15" fmla="*/ 126775 w 2287348"/>
              <a:gd name="connsiteY15" fmla="*/ 768743 h 1728998"/>
              <a:gd name="connsiteX16" fmla="*/ 132169 w 2287348"/>
              <a:gd name="connsiteY16" fmla="*/ 776835 h 1728998"/>
              <a:gd name="connsiteX17" fmla="*/ 137564 w 2287348"/>
              <a:gd name="connsiteY17" fmla="*/ 795716 h 1728998"/>
              <a:gd name="connsiteX18" fmla="*/ 148353 w 2287348"/>
              <a:gd name="connsiteY18" fmla="*/ 811900 h 1728998"/>
              <a:gd name="connsiteX19" fmla="*/ 156446 w 2287348"/>
              <a:gd name="connsiteY19" fmla="*/ 828085 h 1728998"/>
              <a:gd name="connsiteX20" fmla="*/ 167235 w 2287348"/>
              <a:gd name="connsiteY20" fmla="*/ 852361 h 1728998"/>
              <a:gd name="connsiteX21" fmla="*/ 178024 w 2287348"/>
              <a:gd name="connsiteY21" fmla="*/ 884729 h 1728998"/>
              <a:gd name="connsiteX22" fmla="*/ 180722 w 2287348"/>
              <a:gd name="connsiteY22" fmla="*/ 892821 h 1728998"/>
              <a:gd name="connsiteX23" fmla="*/ 191511 w 2287348"/>
              <a:gd name="connsiteY23" fmla="*/ 917097 h 1728998"/>
              <a:gd name="connsiteX24" fmla="*/ 194208 w 2287348"/>
              <a:gd name="connsiteY24" fmla="*/ 927886 h 1728998"/>
              <a:gd name="connsiteX25" fmla="*/ 196906 w 2287348"/>
              <a:gd name="connsiteY25" fmla="*/ 935978 h 1728998"/>
              <a:gd name="connsiteX26" fmla="*/ 199603 w 2287348"/>
              <a:gd name="connsiteY26" fmla="*/ 949465 h 1728998"/>
              <a:gd name="connsiteX27" fmla="*/ 202300 w 2287348"/>
              <a:gd name="connsiteY27" fmla="*/ 965649 h 1728998"/>
              <a:gd name="connsiteX28" fmla="*/ 213090 w 2287348"/>
              <a:gd name="connsiteY28" fmla="*/ 992623 h 1728998"/>
              <a:gd name="connsiteX29" fmla="*/ 215787 w 2287348"/>
              <a:gd name="connsiteY29" fmla="*/ 1006109 h 1728998"/>
              <a:gd name="connsiteX30" fmla="*/ 226576 w 2287348"/>
              <a:gd name="connsiteY30" fmla="*/ 1024991 h 1728998"/>
              <a:gd name="connsiteX31" fmla="*/ 229274 w 2287348"/>
              <a:gd name="connsiteY31" fmla="*/ 1038477 h 1728998"/>
              <a:gd name="connsiteX32" fmla="*/ 240063 w 2287348"/>
              <a:gd name="connsiteY32" fmla="*/ 1065451 h 1728998"/>
              <a:gd name="connsiteX33" fmla="*/ 242761 w 2287348"/>
              <a:gd name="connsiteY33" fmla="*/ 1076240 h 1728998"/>
              <a:gd name="connsiteX34" fmla="*/ 245458 w 2287348"/>
              <a:gd name="connsiteY34" fmla="*/ 1089727 h 1728998"/>
              <a:gd name="connsiteX35" fmla="*/ 250853 w 2287348"/>
              <a:gd name="connsiteY35" fmla="*/ 1100516 h 1728998"/>
              <a:gd name="connsiteX36" fmla="*/ 256247 w 2287348"/>
              <a:gd name="connsiteY36" fmla="*/ 1116700 h 1728998"/>
              <a:gd name="connsiteX37" fmla="*/ 258945 w 2287348"/>
              <a:gd name="connsiteY37" fmla="*/ 1124792 h 1728998"/>
              <a:gd name="connsiteX38" fmla="*/ 269734 w 2287348"/>
              <a:gd name="connsiteY38" fmla="*/ 1140977 h 1728998"/>
              <a:gd name="connsiteX39" fmla="*/ 272431 w 2287348"/>
              <a:gd name="connsiteY39" fmla="*/ 1149069 h 1728998"/>
              <a:gd name="connsiteX40" fmla="*/ 285918 w 2287348"/>
              <a:gd name="connsiteY40" fmla="*/ 1165253 h 1728998"/>
              <a:gd name="connsiteX41" fmla="*/ 294010 w 2287348"/>
              <a:gd name="connsiteY41" fmla="*/ 1181437 h 1728998"/>
              <a:gd name="connsiteX42" fmla="*/ 304800 w 2287348"/>
              <a:gd name="connsiteY42" fmla="*/ 1197621 h 1728998"/>
              <a:gd name="connsiteX43" fmla="*/ 307497 w 2287348"/>
              <a:gd name="connsiteY43" fmla="*/ 1205713 h 1728998"/>
              <a:gd name="connsiteX44" fmla="*/ 315589 w 2287348"/>
              <a:gd name="connsiteY44" fmla="*/ 1213805 h 1728998"/>
              <a:gd name="connsiteX45" fmla="*/ 323681 w 2287348"/>
              <a:gd name="connsiteY45" fmla="*/ 1224594 h 1728998"/>
              <a:gd name="connsiteX46" fmla="*/ 326378 w 2287348"/>
              <a:gd name="connsiteY46" fmla="*/ 1232686 h 1728998"/>
              <a:gd name="connsiteX47" fmla="*/ 345260 w 2287348"/>
              <a:gd name="connsiteY47" fmla="*/ 1256962 h 1728998"/>
              <a:gd name="connsiteX48" fmla="*/ 358746 w 2287348"/>
              <a:gd name="connsiteY48" fmla="*/ 1281238 h 1728998"/>
              <a:gd name="connsiteX49" fmla="*/ 369536 w 2287348"/>
              <a:gd name="connsiteY49" fmla="*/ 1297423 h 1728998"/>
              <a:gd name="connsiteX50" fmla="*/ 377628 w 2287348"/>
              <a:gd name="connsiteY50" fmla="*/ 1305515 h 1728998"/>
              <a:gd name="connsiteX51" fmla="*/ 391115 w 2287348"/>
              <a:gd name="connsiteY51" fmla="*/ 1329791 h 1728998"/>
              <a:gd name="connsiteX52" fmla="*/ 396509 w 2287348"/>
              <a:gd name="connsiteY52" fmla="*/ 1337883 h 1728998"/>
              <a:gd name="connsiteX53" fmla="*/ 407299 w 2287348"/>
              <a:gd name="connsiteY53" fmla="*/ 1370251 h 1728998"/>
              <a:gd name="connsiteX54" fmla="*/ 409996 w 2287348"/>
              <a:gd name="connsiteY54" fmla="*/ 1378343 h 1728998"/>
              <a:gd name="connsiteX55" fmla="*/ 423483 w 2287348"/>
              <a:gd name="connsiteY55" fmla="*/ 1402619 h 1728998"/>
              <a:gd name="connsiteX56" fmla="*/ 426180 w 2287348"/>
              <a:gd name="connsiteY56" fmla="*/ 1416106 h 1728998"/>
              <a:gd name="connsiteX57" fmla="*/ 428877 w 2287348"/>
              <a:gd name="connsiteY57" fmla="*/ 1424198 h 1728998"/>
              <a:gd name="connsiteX58" fmla="*/ 436969 w 2287348"/>
              <a:gd name="connsiteY58" fmla="*/ 1451171 h 1728998"/>
              <a:gd name="connsiteX59" fmla="*/ 439667 w 2287348"/>
              <a:gd name="connsiteY59" fmla="*/ 1459263 h 1728998"/>
              <a:gd name="connsiteX60" fmla="*/ 442364 w 2287348"/>
              <a:gd name="connsiteY60" fmla="*/ 1467355 h 1728998"/>
              <a:gd name="connsiteX61" fmla="*/ 450456 w 2287348"/>
              <a:gd name="connsiteY61" fmla="*/ 1569854 h 1728998"/>
              <a:gd name="connsiteX62" fmla="*/ 455851 w 2287348"/>
              <a:gd name="connsiteY62" fmla="*/ 1586038 h 1728998"/>
              <a:gd name="connsiteX63" fmla="*/ 461246 w 2287348"/>
              <a:gd name="connsiteY63" fmla="*/ 1594131 h 1728998"/>
              <a:gd name="connsiteX64" fmla="*/ 474732 w 2287348"/>
              <a:gd name="connsiteY64" fmla="*/ 1634591 h 1728998"/>
              <a:gd name="connsiteX65" fmla="*/ 477430 w 2287348"/>
              <a:gd name="connsiteY65" fmla="*/ 1642683 h 1728998"/>
              <a:gd name="connsiteX66" fmla="*/ 480127 w 2287348"/>
              <a:gd name="connsiteY66" fmla="*/ 1650775 h 1728998"/>
              <a:gd name="connsiteX67" fmla="*/ 490916 w 2287348"/>
              <a:gd name="connsiteY67" fmla="*/ 1666959 h 1728998"/>
              <a:gd name="connsiteX68" fmla="*/ 499008 w 2287348"/>
              <a:gd name="connsiteY68" fmla="*/ 1675051 h 1728998"/>
              <a:gd name="connsiteX69" fmla="*/ 509798 w 2287348"/>
              <a:gd name="connsiteY69" fmla="*/ 1691235 h 1728998"/>
              <a:gd name="connsiteX70" fmla="*/ 515192 w 2287348"/>
              <a:gd name="connsiteY70" fmla="*/ 1699327 h 1728998"/>
              <a:gd name="connsiteX71" fmla="*/ 547561 w 2287348"/>
              <a:gd name="connsiteY71" fmla="*/ 1710116 h 1728998"/>
              <a:gd name="connsiteX72" fmla="*/ 555653 w 2287348"/>
              <a:gd name="connsiteY72" fmla="*/ 1712814 h 1728998"/>
              <a:gd name="connsiteX73" fmla="*/ 620389 w 2287348"/>
              <a:gd name="connsiteY73" fmla="*/ 1715511 h 1728998"/>
              <a:gd name="connsiteX74" fmla="*/ 636573 w 2287348"/>
              <a:gd name="connsiteY74" fmla="*/ 1720906 h 1728998"/>
              <a:gd name="connsiteX75" fmla="*/ 644665 w 2287348"/>
              <a:gd name="connsiteY75" fmla="*/ 1723603 h 1728998"/>
              <a:gd name="connsiteX76" fmla="*/ 666244 w 2287348"/>
              <a:gd name="connsiteY76" fmla="*/ 1728998 h 1728998"/>
              <a:gd name="connsiteX77" fmla="*/ 809203 w 2287348"/>
              <a:gd name="connsiteY77" fmla="*/ 1723603 h 1728998"/>
              <a:gd name="connsiteX78" fmla="*/ 817295 w 2287348"/>
              <a:gd name="connsiteY78" fmla="*/ 1720906 h 1728998"/>
              <a:gd name="connsiteX79" fmla="*/ 879334 w 2287348"/>
              <a:gd name="connsiteY79" fmla="*/ 1718208 h 1728998"/>
              <a:gd name="connsiteX80" fmla="*/ 890123 w 2287348"/>
              <a:gd name="connsiteY80" fmla="*/ 1715511 h 1728998"/>
              <a:gd name="connsiteX81" fmla="*/ 922492 w 2287348"/>
              <a:gd name="connsiteY81" fmla="*/ 1710116 h 1728998"/>
              <a:gd name="connsiteX82" fmla="*/ 938676 w 2287348"/>
              <a:gd name="connsiteY82" fmla="*/ 1699327 h 1728998"/>
              <a:gd name="connsiteX83" fmla="*/ 954860 w 2287348"/>
              <a:gd name="connsiteY83" fmla="*/ 1688538 h 1728998"/>
              <a:gd name="connsiteX84" fmla="*/ 962952 w 2287348"/>
              <a:gd name="connsiteY84" fmla="*/ 1683143 h 1728998"/>
              <a:gd name="connsiteX85" fmla="*/ 973741 w 2287348"/>
              <a:gd name="connsiteY85" fmla="*/ 1675051 h 1728998"/>
              <a:gd name="connsiteX86" fmla="*/ 984530 w 2287348"/>
              <a:gd name="connsiteY86" fmla="*/ 1669656 h 1728998"/>
              <a:gd name="connsiteX87" fmla="*/ 995320 w 2287348"/>
              <a:gd name="connsiteY87" fmla="*/ 1666959 h 1728998"/>
              <a:gd name="connsiteX88" fmla="*/ 1003412 w 2287348"/>
              <a:gd name="connsiteY88" fmla="*/ 1664262 h 1728998"/>
              <a:gd name="connsiteX89" fmla="*/ 1011504 w 2287348"/>
              <a:gd name="connsiteY89" fmla="*/ 1656169 h 1728998"/>
              <a:gd name="connsiteX90" fmla="*/ 1030385 w 2287348"/>
              <a:gd name="connsiteY90" fmla="*/ 1642683 h 1728998"/>
              <a:gd name="connsiteX91" fmla="*/ 1043872 w 2287348"/>
              <a:gd name="connsiteY91" fmla="*/ 1629196 h 1728998"/>
              <a:gd name="connsiteX92" fmla="*/ 1049267 w 2287348"/>
              <a:gd name="connsiteY92" fmla="*/ 1621104 h 1728998"/>
              <a:gd name="connsiteX93" fmla="*/ 1065451 w 2287348"/>
              <a:gd name="connsiteY93" fmla="*/ 1607617 h 1728998"/>
              <a:gd name="connsiteX94" fmla="*/ 1068148 w 2287348"/>
              <a:gd name="connsiteY94" fmla="*/ 1599525 h 1728998"/>
              <a:gd name="connsiteX95" fmla="*/ 1087030 w 2287348"/>
              <a:gd name="connsiteY95" fmla="*/ 1575249 h 1728998"/>
              <a:gd name="connsiteX96" fmla="*/ 1089727 w 2287348"/>
              <a:gd name="connsiteY96" fmla="*/ 1567157 h 1728998"/>
              <a:gd name="connsiteX97" fmla="*/ 1105911 w 2287348"/>
              <a:gd name="connsiteY97" fmla="*/ 1553670 h 1728998"/>
              <a:gd name="connsiteX98" fmla="*/ 1114003 w 2287348"/>
              <a:gd name="connsiteY98" fmla="*/ 1542881 h 1728998"/>
              <a:gd name="connsiteX99" fmla="*/ 1124792 w 2287348"/>
              <a:gd name="connsiteY99" fmla="*/ 1534789 h 1728998"/>
              <a:gd name="connsiteX100" fmla="*/ 1140976 w 2287348"/>
              <a:gd name="connsiteY100" fmla="*/ 1521302 h 1728998"/>
              <a:gd name="connsiteX101" fmla="*/ 1159858 w 2287348"/>
              <a:gd name="connsiteY101" fmla="*/ 1502421 h 1728998"/>
              <a:gd name="connsiteX102" fmla="*/ 1165253 w 2287348"/>
              <a:gd name="connsiteY102" fmla="*/ 1494329 h 1728998"/>
              <a:gd name="connsiteX103" fmla="*/ 1173345 w 2287348"/>
              <a:gd name="connsiteY103" fmla="*/ 1491631 h 1728998"/>
              <a:gd name="connsiteX104" fmla="*/ 1181437 w 2287348"/>
              <a:gd name="connsiteY104" fmla="*/ 1486237 h 1728998"/>
              <a:gd name="connsiteX105" fmla="*/ 1219200 w 2287348"/>
              <a:gd name="connsiteY105" fmla="*/ 1488934 h 1728998"/>
              <a:gd name="connsiteX106" fmla="*/ 1227292 w 2287348"/>
              <a:gd name="connsiteY106" fmla="*/ 1491631 h 1728998"/>
              <a:gd name="connsiteX107" fmla="*/ 1251568 w 2287348"/>
              <a:gd name="connsiteY107" fmla="*/ 1494329 h 1728998"/>
              <a:gd name="connsiteX108" fmla="*/ 1262357 w 2287348"/>
              <a:gd name="connsiteY108" fmla="*/ 1497026 h 1728998"/>
              <a:gd name="connsiteX109" fmla="*/ 1278541 w 2287348"/>
              <a:gd name="connsiteY109" fmla="*/ 1502421 h 1728998"/>
              <a:gd name="connsiteX110" fmla="*/ 1292028 w 2287348"/>
              <a:gd name="connsiteY110" fmla="*/ 1505118 h 1728998"/>
              <a:gd name="connsiteX111" fmla="*/ 1308212 w 2287348"/>
              <a:gd name="connsiteY111" fmla="*/ 1510513 h 1728998"/>
              <a:gd name="connsiteX112" fmla="*/ 1316304 w 2287348"/>
              <a:gd name="connsiteY112" fmla="*/ 1513210 h 1728998"/>
              <a:gd name="connsiteX113" fmla="*/ 1327093 w 2287348"/>
              <a:gd name="connsiteY113" fmla="*/ 1515908 h 1728998"/>
              <a:gd name="connsiteX114" fmla="*/ 1343277 w 2287348"/>
              <a:gd name="connsiteY114" fmla="*/ 1521302 h 1728998"/>
              <a:gd name="connsiteX115" fmla="*/ 1351369 w 2287348"/>
              <a:gd name="connsiteY115" fmla="*/ 1526697 h 1728998"/>
              <a:gd name="connsiteX116" fmla="*/ 1364856 w 2287348"/>
              <a:gd name="connsiteY116" fmla="*/ 1529394 h 1728998"/>
              <a:gd name="connsiteX117" fmla="*/ 1372948 w 2287348"/>
              <a:gd name="connsiteY117" fmla="*/ 1532092 h 1728998"/>
              <a:gd name="connsiteX118" fmla="*/ 1394527 w 2287348"/>
              <a:gd name="connsiteY118" fmla="*/ 1537486 h 1728998"/>
              <a:gd name="connsiteX119" fmla="*/ 1488934 w 2287348"/>
              <a:gd name="connsiteY119" fmla="*/ 1534789 h 1728998"/>
              <a:gd name="connsiteX120" fmla="*/ 1507815 w 2287348"/>
              <a:gd name="connsiteY120" fmla="*/ 1529394 h 1728998"/>
              <a:gd name="connsiteX121" fmla="*/ 1529394 w 2287348"/>
              <a:gd name="connsiteY121" fmla="*/ 1524000 h 1728998"/>
              <a:gd name="connsiteX122" fmla="*/ 1540184 w 2287348"/>
              <a:gd name="connsiteY122" fmla="*/ 1515908 h 1728998"/>
              <a:gd name="connsiteX123" fmla="*/ 1550973 w 2287348"/>
              <a:gd name="connsiteY123" fmla="*/ 1513210 h 1728998"/>
              <a:gd name="connsiteX124" fmla="*/ 1569854 w 2287348"/>
              <a:gd name="connsiteY124" fmla="*/ 1505118 h 1728998"/>
              <a:gd name="connsiteX125" fmla="*/ 1577946 w 2287348"/>
              <a:gd name="connsiteY125" fmla="*/ 1497026 h 1728998"/>
              <a:gd name="connsiteX126" fmla="*/ 1594130 w 2287348"/>
              <a:gd name="connsiteY126" fmla="*/ 1483539 h 1728998"/>
              <a:gd name="connsiteX127" fmla="*/ 1602223 w 2287348"/>
              <a:gd name="connsiteY127" fmla="*/ 1478145 h 1728998"/>
              <a:gd name="connsiteX128" fmla="*/ 1613012 w 2287348"/>
              <a:gd name="connsiteY128" fmla="*/ 1470053 h 1728998"/>
              <a:gd name="connsiteX129" fmla="*/ 1621104 w 2287348"/>
              <a:gd name="connsiteY129" fmla="*/ 1464658 h 1728998"/>
              <a:gd name="connsiteX130" fmla="*/ 1629196 w 2287348"/>
              <a:gd name="connsiteY130" fmla="*/ 1456566 h 1728998"/>
              <a:gd name="connsiteX131" fmla="*/ 1653472 w 2287348"/>
              <a:gd name="connsiteY131" fmla="*/ 1443079 h 1728998"/>
              <a:gd name="connsiteX132" fmla="*/ 1669656 w 2287348"/>
              <a:gd name="connsiteY132" fmla="*/ 1426895 h 1728998"/>
              <a:gd name="connsiteX133" fmla="*/ 1675051 w 2287348"/>
              <a:gd name="connsiteY133" fmla="*/ 1418803 h 1728998"/>
              <a:gd name="connsiteX134" fmla="*/ 1685840 w 2287348"/>
              <a:gd name="connsiteY134" fmla="*/ 1405316 h 1728998"/>
              <a:gd name="connsiteX135" fmla="*/ 1691235 w 2287348"/>
              <a:gd name="connsiteY135" fmla="*/ 1394527 h 1728998"/>
              <a:gd name="connsiteX136" fmla="*/ 1704722 w 2287348"/>
              <a:gd name="connsiteY136" fmla="*/ 1378343 h 1728998"/>
              <a:gd name="connsiteX137" fmla="*/ 1712814 w 2287348"/>
              <a:gd name="connsiteY137" fmla="*/ 1359462 h 1728998"/>
              <a:gd name="connsiteX138" fmla="*/ 1715511 w 2287348"/>
              <a:gd name="connsiteY138" fmla="*/ 1351369 h 1728998"/>
              <a:gd name="connsiteX139" fmla="*/ 1728998 w 2287348"/>
              <a:gd name="connsiteY139" fmla="*/ 1324396 h 1728998"/>
              <a:gd name="connsiteX140" fmla="*/ 1734392 w 2287348"/>
              <a:gd name="connsiteY140" fmla="*/ 1313607 h 1728998"/>
              <a:gd name="connsiteX141" fmla="*/ 1739787 w 2287348"/>
              <a:gd name="connsiteY141" fmla="*/ 1297423 h 1728998"/>
              <a:gd name="connsiteX142" fmla="*/ 1742484 w 2287348"/>
              <a:gd name="connsiteY142" fmla="*/ 1283936 h 1728998"/>
              <a:gd name="connsiteX143" fmla="*/ 1747879 w 2287348"/>
              <a:gd name="connsiteY143" fmla="*/ 1275844 h 1728998"/>
              <a:gd name="connsiteX144" fmla="*/ 1761366 w 2287348"/>
              <a:gd name="connsiteY144" fmla="*/ 1251568 h 1728998"/>
              <a:gd name="connsiteX145" fmla="*/ 1780247 w 2287348"/>
              <a:gd name="connsiteY145" fmla="*/ 1238081 h 1728998"/>
              <a:gd name="connsiteX146" fmla="*/ 1793734 w 2287348"/>
              <a:gd name="connsiteY146" fmla="*/ 1229989 h 1728998"/>
              <a:gd name="connsiteX147" fmla="*/ 1812615 w 2287348"/>
              <a:gd name="connsiteY147" fmla="*/ 1221897 h 1728998"/>
              <a:gd name="connsiteX148" fmla="*/ 1820707 w 2287348"/>
              <a:gd name="connsiteY148" fmla="*/ 1213805 h 1728998"/>
              <a:gd name="connsiteX149" fmla="*/ 1836892 w 2287348"/>
              <a:gd name="connsiteY149" fmla="*/ 1203015 h 1728998"/>
              <a:gd name="connsiteX150" fmla="*/ 1844984 w 2287348"/>
              <a:gd name="connsiteY150" fmla="*/ 1197621 h 1728998"/>
              <a:gd name="connsiteX151" fmla="*/ 1855773 w 2287348"/>
              <a:gd name="connsiteY151" fmla="*/ 1186831 h 1728998"/>
              <a:gd name="connsiteX152" fmla="*/ 1869260 w 2287348"/>
              <a:gd name="connsiteY152" fmla="*/ 1170647 h 1728998"/>
              <a:gd name="connsiteX153" fmla="*/ 1882746 w 2287348"/>
              <a:gd name="connsiteY153" fmla="*/ 1162555 h 1728998"/>
              <a:gd name="connsiteX154" fmla="*/ 1890838 w 2287348"/>
              <a:gd name="connsiteY154" fmla="*/ 1154463 h 1728998"/>
              <a:gd name="connsiteX155" fmla="*/ 1898930 w 2287348"/>
              <a:gd name="connsiteY155" fmla="*/ 1149069 h 1728998"/>
              <a:gd name="connsiteX156" fmla="*/ 1907023 w 2287348"/>
              <a:gd name="connsiteY156" fmla="*/ 1140977 h 1728998"/>
              <a:gd name="connsiteX157" fmla="*/ 1915115 w 2287348"/>
              <a:gd name="connsiteY157" fmla="*/ 1138279 h 1728998"/>
              <a:gd name="connsiteX158" fmla="*/ 1920509 w 2287348"/>
              <a:gd name="connsiteY158" fmla="*/ 1122095 h 1728998"/>
              <a:gd name="connsiteX159" fmla="*/ 1923207 w 2287348"/>
              <a:gd name="connsiteY159" fmla="*/ 1114003 h 1728998"/>
              <a:gd name="connsiteX160" fmla="*/ 1933996 w 2287348"/>
              <a:gd name="connsiteY160" fmla="*/ 1092424 h 1728998"/>
              <a:gd name="connsiteX161" fmla="*/ 1944785 w 2287348"/>
              <a:gd name="connsiteY161" fmla="*/ 1070846 h 1728998"/>
              <a:gd name="connsiteX162" fmla="*/ 1947483 w 2287348"/>
              <a:gd name="connsiteY162" fmla="*/ 1054662 h 1728998"/>
              <a:gd name="connsiteX163" fmla="*/ 1960969 w 2287348"/>
              <a:gd name="connsiteY163" fmla="*/ 1033083 h 1728998"/>
              <a:gd name="connsiteX164" fmla="*/ 1971759 w 2287348"/>
              <a:gd name="connsiteY164" fmla="*/ 1008807 h 1728998"/>
              <a:gd name="connsiteX165" fmla="*/ 1974456 w 2287348"/>
              <a:gd name="connsiteY165" fmla="*/ 992623 h 1728998"/>
              <a:gd name="connsiteX166" fmla="*/ 1982548 w 2287348"/>
              <a:gd name="connsiteY166" fmla="*/ 984531 h 1728998"/>
              <a:gd name="connsiteX167" fmla="*/ 1990640 w 2287348"/>
              <a:gd name="connsiteY167" fmla="*/ 971044 h 1728998"/>
              <a:gd name="connsiteX168" fmla="*/ 1996035 w 2287348"/>
              <a:gd name="connsiteY168" fmla="*/ 962952 h 1728998"/>
              <a:gd name="connsiteX169" fmla="*/ 2001430 w 2287348"/>
              <a:gd name="connsiteY169" fmla="*/ 952162 h 1728998"/>
              <a:gd name="connsiteX170" fmla="*/ 2009522 w 2287348"/>
              <a:gd name="connsiteY170" fmla="*/ 941373 h 1728998"/>
              <a:gd name="connsiteX171" fmla="*/ 2023008 w 2287348"/>
              <a:gd name="connsiteY171" fmla="*/ 919794 h 1728998"/>
              <a:gd name="connsiteX172" fmla="*/ 2028403 w 2287348"/>
              <a:gd name="connsiteY172" fmla="*/ 906308 h 1728998"/>
              <a:gd name="connsiteX173" fmla="*/ 2031100 w 2287348"/>
              <a:gd name="connsiteY173" fmla="*/ 898215 h 1728998"/>
              <a:gd name="connsiteX174" fmla="*/ 2039192 w 2287348"/>
              <a:gd name="connsiteY174" fmla="*/ 887426 h 1728998"/>
              <a:gd name="connsiteX175" fmla="*/ 2041890 w 2287348"/>
              <a:gd name="connsiteY175" fmla="*/ 876637 h 1728998"/>
              <a:gd name="connsiteX176" fmla="*/ 2044587 w 2287348"/>
              <a:gd name="connsiteY176" fmla="*/ 863150 h 1728998"/>
              <a:gd name="connsiteX177" fmla="*/ 2049982 w 2287348"/>
              <a:gd name="connsiteY177" fmla="*/ 852361 h 1728998"/>
              <a:gd name="connsiteX178" fmla="*/ 2052679 w 2287348"/>
              <a:gd name="connsiteY178" fmla="*/ 841571 h 1728998"/>
              <a:gd name="connsiteX179" fmla="*/ 2055376 w 2287348"/>
              <a:gd name="connsiteY179" fmla="*/ 833479 h 1728998"/>
              <a:gd name="connsiteX180" fmla="*/ 2060771 w 2287348"/>
              <a:gd name="connsiteY180" fmla="*/ 809203 h 1728998"/>
              <a:gd name="connsiteX181" fmla="*/ 2066166 w 2287348"/>
              <a:gd name="connsiteY181" fmla="*/ 793019 h 1728998"/>
              <a:gd name="connsiteX182" fmla="*/ 2068863 w 2287348"/>
              <a:gd name="connsiteY182" fmla="*/ 784927 h 1728998"/>
              <a:gd name="connsiteX183" fmla="*/ 2074258 w 2287348"/>
              <a:gd name="connsiteY183" fmla="*/ 760651 h 1728998"/>
              <a:gd name="connsiteX184" fmla="*/ 2079653 w 2287348"/>
              <a:gd name="connsiteY184" fmla="*/ 749862 h 1728998"/>
              <a:gd name="connsiteX185" fmla="*/ 2082350 w 2287348"/>
              <a:gd name="connsiteY185" fmla="*/ 733677 h 1728998"/>
              <a:gd name="connsiteX186" fmla="*/ 2090442 w 2287348"/>
              <a:gd name="connsiteY186" fmla="*/ 709401 h 1728998"/>
              <a:gd name="connsiteX187" fmla="*/ 2093139 w 2287348"/>
              <a:gd name="connsiteY187" fmla="*/ 698612 h 1728998"/>
              <a:gd name="connsiteX188" fmla="*/ 2098534 w 2287348"/>
              <a:gd name="connsiteY188" fmla="*/ 682428 h 1728998"/>
              <a:gd name="connsiteX189" fmla="*/ 2106626 w 2287348"/>
              <a:gd name="connsiteY189" fmla="*/ 641968 h 1728998"/>
              <a:gd name="connsiteX190" fmla="*/ 2114718 w 2287348"/>
              <a:gd name="connsiteY190" fmla="*/ 612297 h 1728998"/>
              <a:gd name="connsiteX191" fmla="*/ 2117415 w 2287348"/>
              <a:gd name="connsiteY191" fmla="*/ 577231 h 1728998"/>
              <a:gd name="connsiteX192" fmla="*/ 2120113 w 2287348"/>
              <a:gd name="connsiteY192" fmla="*/ 566442 h 1728998"/>
              <a:gd name="connsiteX193" fmla="*/ 2122810 w 2287348"/>
              <a:gd name="connsiteY193" fmla="*/ 552955 h 1728998"/>
              <a:gd name="connsiteX194" fmla="*/ 2128205 w 2287348"/>
              <a:gd name="connsiteY194" fmla="*/ 531377 h 1728998"/>
              <a:gd name="connsiteX195" fmla="*/ 2138994 w 2287348"/>
              <a:gd name="connsiteY195" fmla="*/ 512495 h 1728998"/>
              <a:gd name="connsiteX196" fmla="*/ 2144389 w 2287348"/>
              <a:gd name="connsiteY196" fmla="*/ 496311 h 1728998"/>
              <a:gd name="connsiteX197" fmla="*/ 2149784 w 2287348"/>
              <a:gd name="connsiteY197" fmla="*/ 485522 h 1728998"/>
              <a:gd name="connsiteX198" fmla="*/ 2160573 w 2287348"/>
              <a:gd name="connsiteY198" fmla="*/ 466640 h 1728998"/>
              <a:gd name="connsiteX199" fmla="*/ 2171362 w 2287348"/>
              <a:gd name="connsiteY199" fmla="*/ 428877 h 1728998"/>
              <a:gd name="connsiteX200" fmla="*/ 2176757 w 2287348"/>
              <a:gd name="connsiteY200" fmla="*/ 412693 h 1728998"/>
              <a:gd name="connsiteX201" fmla="*/ 2179454 w 2287348"/>
              <a:gd name="connsiteY201" fmla="*/ 404601 h 1728998"/>
              <a:gd name="connsiteX202" fmla="*/ 2182152 w 2287348"/>
              <a:gd name="connsiteY202" fmla="*/ 396509 h 1728998"/>
              <a:gd name="connsiteX203" fmla="*/ 2184849 w 2287348"/>
              <a:gd name="connsiteY203" fmla="*/ 369536 h 1728998"/>
              <a:gd name="connsiteX204" fmla="*/ 2187546 w 2287348"/>
              <a:gd name="connsiteY204" fmla="*/ 361444 h 1728998"/>
              <a:gd name="connsiteX205" fmla="*/ 2195638 w 2287348"/>
              <a:gd name="connsiteY205" fmla="*/ 334470 h 1728998"/>
              <a:gd name="connsiteX206" fmla="*/ 2198336 w 2287348"/>
              <a:gd name="connsiteY206" fmla="*/ 326378 h 1728998"/>
              <a:gd name="connsiteX207" fmla="*/ 2209125 w 2287348"/>
              <a:gd name="connsiteY207" fmla="*/ 304800 h 1728998"/>
              <a:gd name="connsiteX208" fmla="*/ 2222612 w 2287348"/>
              <a:gd name="connsiteY208" fmla="*/ 280523 h 1728998"/>
              <a:gd name="connsiteX209" fmla="*/ 2228007 w 2287348"/>
              <a:gd name="connsiteY209" fmla="*/ 272431 h 1728998"/>
              <a:gd name="connsiteX210" fmla="*/ 2230704 w 2287348"/>
              <a:gd name="connsiteY210" fmla="*/ 264339 h 1728998"/>
              <a:gd name="connsiteX211" fmla="*/ 2233401 w 2287348"/>
              <a:gd name="connsiteY211" fmla="*/ 253550 h 1728998"/>
              <a:gd name="connsiteX212" fmla="*/ 2238796 w 2287348"/>
              <a:gd name="connsiteY212" fmla="*/ 245458 h 1728998"/>
              <a:gd name="connsiteX213" fmla="*/ 2241493 w 2287348"/>
              <a:gd name="connsiteY213" fmla="*/ 223879 h 1728998"/>
              <a:gd name="connsiteX214" fmla="*/ 2246888 w 2287348"/>
              <a:gd name="connsiteY214" fmla="*/ 207695 h 1728998"/>
              <a:gd name="connsiteX215" fmla="*/ 2249585 w 2287348"/>
              <a:gd name="connsiteY215" fmla="*/ 107893 h 1728998"/>
              <a:gd name="connsiteX216" fmla="*/ 2254980 w 2287348"/>
              <a:gd name="connsiteY216" fmla="*/ 91709 h 1728998"/>
              <a:gd name="connsiteX217" fmla="*/ 2263072 w 2287348"/>
              <a:gd name="connsiteY217" fmla="*/ 67433 h 1728998"/>
              <a:gd name="connsiteX218" fmla="*/ 2265769 w 2287348"/>
              <a:gd name="connsiteY218" fmla="*/ 59341 h 1728998"/>
              <a:gd name="connsiteX219" fmla="*/ 2268467 w 2287348"/>
              <a:gd name="connsiteY219" fmla="*/ 51249 h 1728998"/>
              <a:gd name="connsiteX220" fmla="*/ 2271164 w 2287348"/>
              <a:gd name="connsiteY220" fmla="*/ 32368 h 1728998"/>
              <a:gd name="connsiteX221" fmla="*/ 2273861 w 2287348"/>
              <a:gd name="connsiteY221" fmla="*/ 24276 h 1728998"/>
              <a:gd name="connsiteX222" fmla="*/ 2276559 w 2287348"/>
              <a:gd name="connsiteY222" fmla="*/ 13486 h 1728998"/>
              <a:gd name="connsiteX223" fmla="*/ 2279256 w 2287348"/>
              <a:gd name="connsiteY223" fmla="*/ 5394 h 1728998"/>
              <a:gd name="connsiteX224" fmla="*/ 2287348 w 2287348"/>
              <a:gd name="connsiteY224" fmla="*/ 0 h 1728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2287348" h="1728998">
                <a:moveTo>
                  <a:pt x="0" y="569139"/>
                </a:moveTo>
                <a:cubicBezTo>
                  <a:pt x="1798" y="573635"/>
                  <a:pt x="2294" y="578906"/>
                  <a:pt x="5394" y="582626"/>
                </a:cubicBezTo>
                <a:cubicBezTo>
                  <a:pt x="7214" y="584810"/>
                  <a:pt x="11001" y="583942"/>
                  <a:pt x="13486" y="585323"/>
                </a:cubicBezTo>
                <a:cubicBezTo>
                  <a:pt x="19154" y="588472"/>
                  <a:pt x="25085" y="591528"/>
                  <a:pt x="29670" y="596113"/>
                </a:cubicBezTo>
                <a:cubicBezTo>
                  <a:pt x="32367" y="598810"/>
                  <a:pt x="35420" y="601194"/>
                  <a:pt x="37762" y="604205"/>
                </a:cubicBezTo>
                <a:cubicBezTo>
                  <a:pt x="41743" y="609323"/>
                  <a:pt x="43967" y="615804"/>
                  <a:pt x="48552" y="620389"/>
                </a:cubicBezTo>
                <a:lnTo>
                  <a:pt x="56644" y="628481"/>
                </a:lnTo>
                <a:cubicBezTo>
                  <a:pt x="63057" y="647722"/>
                  <a:pt x="53963" y="624460"/>
                  <a:pt x="67433" y="644665"/>
                </a:cubicBezTo>
                <a:cubicBezTo>
                  <a:pt x="69010" y="647031"/>
                  <a:pt x="68858" y="650214"/>
                  <a:pt x="70130" y="652757"/>
                </a:cubicBezTo>
                <a:cubicBezTo>
                  <a:pt x="73885" y="660267"/>
                  <a:pt x="77653" y="662977"/>
                  <a:pt x="83617" y="668941"/>
                </a:cubicBezTo>
                <a:cubicBezTo>
                  <a:pt x="88366" y="683183"/>
                  <a:pt x="84738" y="674668"/>
                  <a:pt x="97104" y="693217"/>
                </a:cubicBezTo>
                <a:lnTo>
                  <a:pt x="102499" y="701309"/>
                </a:lnTo>
                <a:cubicBezTo>
                  <a:pt x="108918" y="720569"/>
                  <a:pt x="104739" y="712762"/>
                  <a:pt x="113288" y="725585"/>
                </a:cubicBezTo>
                <a:cubicBezTo>
                  <a:pt x="115086" y="730980"/>
                  <a:pt x="117304" y="736252"/>
                  <a:pt x="118683" y="741769"/>
                </a:cubicBezTo>
                <a:cubicBezTo>
                  <a:pt x="119582" y="745366"/>
                  <a:pt x="120315" y="749008"/>
                  <a:pt x="121380" y="752559"/>
                </a:cubicBezTo>
                <a:cubicBezTo>
                  <a:pt x="123014" y="758006"/>
                  <a:pt x="123621" y="764011"/>
                  <a:pt x="126775" y="768743"/>
                </a:cubicBezTo>
                <a:lnTo>
                  <a:pt x="132169" y="776835"/>
                </a:lnTo>
                <a:cubicBezTo>
                  <a:pt x="132803" y="779370"/>
                  <a:pt x="135807" y="792553"/>
                  <a:pt x="137564" y="795716"/>
                </a:cubicBezTo>
                <a:cubicBezTo>
                  <a:pt x="140713" y="801384"/>
                  <a:pt x="146302" y="805749"/>
                  <a:pt x="148353" y="811900"/>
                </a:cubicBezTo>
                <a:cubicBezTo>
                  <a:pt x="152076" y="823068"/>
                  <a:pt x="149474" y="817626"/>
                  <a:pt x="156446" y="828085"/>
                </a:cubicBezTo>
                <a:cubicBezTo>
                  <a:pt x="162865" y="847345"/>
                  <a:pt x="158686" y="839538"/>
                  <a:pt x="167235" y="852361"/>
                </a:cubicBezTo>
                <a:lnTo>
                  <a:pt x="178024" y="884729"/>
                </a:lnTo>
                <a:cubicBezTo>
                  <a:pt x="178923" y="887426"/>
                  <a:pt x="179145" y="890455"/>
                  <a:pt x="180722" y="892821"/>
                </a:cubicBezTo>
                <a:cubicBezTo>
                  <a:pt x="187805" y="903447"/>
                  <a:pt x="187660" y="901692"/>
                  <a:pt x="191511" y="917097"/>
                </a:cubicBezTo>
                <a:cubicBezTo>
                  <a:pt x="192410" y="920693"/>
                  <a:pt x="193190" y="924322"/>
                  <a:pt x="194208" y="927886"/>
                </a:cubicBezTo>
                <a:cubicBezTo>
                  <a:pt x="194989" y="930620"/>
                  <a:pt x="196216" y="933220"/>
                  <a:pt x="196906" y="935978"/>
                </a:cubicBezTo>
                <a:cubicBezTo>
                  <a:pt x="198018" y="940426"/>
                  <a:pt x="198783" y="944954"/>
                  <a:pt x="199603" y="949465"/>
                </a:cubicBezTo>
                <a:cubicBezTo>
                  <a:pt x="200581" y="954846"/>
                  <a:pt x="200974" y="960343"/>
                  <a:pt x="202300" y="965649"/>
                </a:cubicBezTo>
                <a:cubicBezTo>
                  <a:pt x="205633" y="978980"/>
                  <a:pt x="207510" y="981462"/>
                  <a:pt x="213090" y="992623"/>
                </a:cubicBezTo>
                <a:cubicBezTo>
                  <a:pt x="213989" y="997118"/>
                  <a:pt x="214337" y="1001760"/>
                  <a:pt x="215787" y="1006109"/>
                </a:cubicBezTo>
                <a:cubicBezTo>
                  <a:pt x="218068" y="1012952"/>
                  <a:pt x="222631" y="1019072"/>
                  <a:pt x="226576" y="1024991"/>
                </a:cubicBezTo>
                <a:cubicBezTo>
                  <a:pt x="227475" y="1029486"/>
                  <a:pt x="227824" y="1034128"/>
                  <a:pt x="229274" y="1038477"/>
                </a:cubicBezTo>
                <a:cubicBezTo>
                  <a:pt x="240443" y="1071980"/>
                  <a:pt x="228829" y="1020526"/>
                  <a:pt x="240063" y="1065451"/>
                </a:cubicBezTo>
                <a:cubicBezTo>
                  <a:pt x="240962" y="1069047"/>
                  <a:pt x="241957" y="1072621"/>
                  <a:pt x="242761" y="1076240"/>
                </a:cubicBezTo>
                <a:cubicBezTo>
                  <a:pt x="243756" y="1080715"/>
                  <a:pt x="244008" y="1085378"/>
                  <a:pt x="245458" y="1089727"/>
                </a:cubicBezTo>
                <a:cubicBezTo>
                  <a:pt x="246730" y="1093542"/>
                  <a:pt x="249360" y="1096783"/>
                  <a:pt x="250853" y="1100516"/>
                </a:cubicBezTo>
                <a:cubicBezTo>
                  <a:pt x="252965" y="1105796"/>
                  <a:pt x="254449" y="1111305"/>
                  <a:pt x="256247" y="1116700"/>
                </a:cubicBezTo>
                <a:cubicBezTo>
                  <a:pt x="257146" y="1119397"/>
                  <a:pt x="257368" y="1122426"/>
                  <a:pt x="258945" y="1124792"/>
                </a:cubicBezTo>
                <a:lnTo>
                  <a:pt x="269734" y="1140977"/>
                </a:lnTo>
                <a:cubicBezTo>
                  <a:pt x="270633" y="1143674"/>
                  <a:pt x="271159" y="1146526"/>
                  <a:pt x="272431" y="1149069"/>
                </a:cubicBezTo>
                <a:cubicBezTo>
                  <a:pt x="276186" y="1156579"/>
                  <a:pt x="279954" y="1159289"/>
                  <a:pt x="285918" y="1165253"/>
                </a:cubicBezTo>
                <a:cubicBezTo>
                  <a:pt x="292697" y="1185592"/>
                  <a:pt x="283552" y="1160522"/>
                  <a:pt x="294010" y="1181437"/>
                </a:cubicBezTo>
                <a:cubicBezTo>
                  <a:pt x="301817" y="1197052"/>
                  <a:pt x="289458" y="1182281"/>
                  <a:pt x="304800" y="1197621"/>
                </a:cubicBezTo>
                <a:cubicBezTo>
                  <a:pt x="305699" y="1200318"/>
                  <a:pt x="305920" y="1203347"/>
                  <a:pt x="307497" y="1205713"/>
                </a:cubicBezTo>
                <a:cubicBezTo>
                  <a:pt x="309613" y="1208887"/>
                  <a:pt x="313106" y="1210909"/>
                  <a:pt x="315589" y="1213805"/>
                </a:cubicBezTo>
                <a:cubicBezTo>
                  <a:pt x="318515" y="1217218"/>
                  <a:pt x="320984" y="1220998"/>
                  <a:pt x="323681" y="1224594"/>
                </a:cubicBezTo>
                <a:cubicBezTo>
                  <a:pt x="324580" y="1227291"/>
                  <a:pt x="324997" y="1230201"/>
                  <a:pt x="326378" y="1232686"/>
                </a:cubicBezTo>
                <a:cubicBezTo>
                  <a:pt x="334443" y="1247203"/>
                  <a:pt x="335431" y="1247133"/>
                  <a:pt x="345260" y="1256962"/>
                </a:cubicBezTo>
                <a:cubicBezTo>
                  <a:pt x="350007" y="1271205"/>
                  <a:pt x="346380" y="1262688"/>
                  <a:pt x="358746" y="1281238"/>
                </a:cubicBezTo>
                <a:lnTo>
                  <a:pt x="369536" y="1297423"/>
                </a:lnTo>
                <a:lnTo>
                  <a:pt x="377628" y="1305515"/>
                </a:lnTo>
                <a:cubicBezTo>
                  <a:pt x="382375" y="1319759"/>
                  <a:pt x="378747" y="1311239"/>
                  <a:pt x="391115" y="1329791"/>
                </a:cubicBezTo>
                <a:cubicBezTo>
                  <a:pt x="392913" y="1332488"/>
                  <a:pt x="395484" y="1334808"/>
                  <a:pt x="396509" y="1337883"/>
                </a:cubicBezTo>
                <a:lnTo>
                  <a:pt x="407299" y="1370251"/>
                </a:lnTo>
                <a:cubicBezTo>
                  <a:pt x="408198" y="1372948"/>
                  <a:pt x="408419" y="1375977"/>
                  <a:pt x="409996" y="1378343"/>
                </a:cubicBezTo>
                <a:cubicBezTo>
                  <a:pt x="418028" y="1390391"/>
                  <a:pt x="420635" y="1391228"/>
                  <a:pt x="423483" y="1402619"/>
                </a:cubicBezTo>
                <a:cubicBezTo>
                  <a:pt x="424595" y="1407067"/>
                  <a:pt x="425068" y="1411658"/>
                  <a:pt x="426180" y="1416106"/>
                </a:cubicBezTo>
                <a:cubicBezTo>
                  <a:pt x="426869" y="1418864"/>
                  <a:pt x="428096" y="1421464"/>
                  <a:pt x="428877" y="1424198"/>
                </a:cubicBezTo>
                <a:cubicBezTo>
                  <a:pt x="437024" y="1452711"/>
                  <a:pt x="424160" y="1412744"/>
                  <a:pt x="436969" y="1451171"/>
                </a:cubicBezTo>
                <a:lnTo>
                  <a:pt x="439667" y="1459263"/>
                </a:lnTo>
                <a:lnTo>
                  <a:pt x="442364" y="1467355"/>
                </a:lnTo>
                <a:cubicBezTo>
                  <a:pt x="445239" y="1559369"/>
                  <a:pt x="435958" y="1526359"/>
                  <a:pt x="450456" y="1569854"/>
                </a:cubicBezTo>
                <a:cubicBezTo>
                  <a:pt x="450458" y="1569859"/>
                  <a:pt x="455848" y="1586034"/>
                  <a:pt x="455851" y="1586038"/>
                </a:cubicBezTo>
                <a:lnTo>
                  <a:pt x="461246" y="1594131"/>
                </a:lnTo>
                <a:lnTo>
                  <a:pt x="474732" y="1634591"/>
                </a:lnTo>
                <a:lnTo>
                  <a:pt x="477430" y="1642683"/>
                </a:lnTo>
                <a:cubicBezTo>
                  <a:pt x="478329" y="1645380"/>
                  <a:pt x="478550" y="1648409"/>
                  <a:pt x="480127" y="1650775"/>
                </a:cubicBezTo>
                <a:cubicBezTo>
                  <a:pt x="483723" y="1656170"/>
                  <a:pt x="486331" y="1662374"/>
                  <a:pt x="490916" y="1666959"/>
                </a:cubicBezTo>
                <a:cubicBezTo>
                  <a:pt x="493613" y="1669656"/>
                  <a:pt x="496666" y="1672040"/>
                  <a:pt x="499008" y="1675051"/>
                </a:cubicBezTo>
                <a:cubicBezTo>
                  <a:pt x="502989" y="1680169"/>
                  <a:pt x="506201" y="1685840"/>
                  <a:pt x="509798" y="1691235"/>
                </a:cubicBezTo>
                <a:cubicBezTo>
                  <a:pt x="511596" y="1693932"/>
                  <a:pt x="512117" y="1698302"/>
                  <a:pt x="515192" y="1699327"/>
                </a:cubicBezTo>
                <a:lnTo>
                  <a:pt x="547561" y="1710116"/>
                </a:lnTo>
                <a:cubicBezTo>
                  <a:pt x="550258" y="1711015"/>
                  <a:pt x="552812" y="1712696"/>
                  <a:pt x="555653" y="1712814"/>
                </a:cubicBezTo>
                <a:lnTo>
                  <a:pt x="620389" y="1715511"/>
                </a:lnTo>
                <a:lnTo>
                  <a:pt x="636573" y="1720906"/>
                </a:lnTo>
                <a:cubicBezTo>
                  <a:pt x="639270" y="1721805"/>
                  <a:pt x="641907" y="1722913"/>
                  <a:pt x="644665" y="1723603"/>
                </a:cubicBezTo>
                <a:lnTo>
                  <a:pt x="666244" y="1728998"/>
                </a:lnTo>
                <a:cubicBezTo>
                  <a:pt x="682259" y="1728497"/>
                  <a:pt x="782377" y="1725838"/>
                  <a:pt x="809203" y="1723603"/>
                </a:cubicBezTo>
                <a:cubicBezTo>
                  <a:pt x="812036" y="1723367"/>
                  <a:pt x="814460" y="1721124"/>
                  <a:pt x="817295" y="1720906"/>
                </a:cubicBezTo>
                <a:cubicBezTo>
                  <a:pt x="837933" y="1719318"/>
                  <a:pt x="858654" y="1719107"/>
                  <a:pt x="879334" y="1718208"/>
                </a:cubicBezTo>
                <a:cubicBezTo>
                  <a:pt x="882930" y="1717309"/>
                  <a:pt x="886459" y="1716075"/>
                  <a:pt x="890123" y="1715511"/>
                </a:cubicBezTo>
                <a:cubicBezTo>
                  <a:pt x="895064" y="1714751"/>
                  <a:pt x="914415" y="1714603"/>
                  <a:pt x="922492" y="1710116"/>
                </a:cubicBezTo>
                <a:cubicBezTo>
                  <a:pt x="928160" y="1706967"/>
                  <a:pt x="933281" y="1702923"/>
                  <a:pt x="938676" y="1699327"/>
                </a:cubicBezTo>
                <a:lnTo>
                  <a:pt x="954860" y="1688538"/>
                </a:lnTo>
                <a:cubicBezTo>
                  <a:pt x="957557" y="1686740"/>
                  <a:pt x="960359" y="1685088"/>
                  <a:pt x="962952" y="1683143"/>
                </a:cubicBezTo>
                <a:cubicBezTo>
                  <a:pt x="966548" y="1680446"/>
                  <a:pt x="969929" y="1677434"/>
                  <a:pt x="973741" y="1675051"/>
                </a:cubicBezTo>
                <a:cubicBezTo>
                  <a:pt x="977151" y="1672920"/>
                  <a:pt x="980765" y="1671068"/>
                  <a:pt x="984530" y="1669656"/>
                </a:cubicBezTo>
                <a:cubicBezTo>
                  <a:pt x="988001" y="1668354"/>
                  <a:pt x="991755" y="1667977"/>
                  <a:pt x="995320" y="1666959"/>
                </a:cubicBezTo>
                <a:cubicBezTo>
                  <a:pt x="998054" y="1666178"/>
                  <a:pt x="1000715" y="1665161"/>
                  <a:pt x="1003412" y="1664262"/>
                </a:cubicBezTo>
                <a:cubicBezTo>
                  <a:pt x="1006109" y="1661564"/>
                  <a:pt x="1008608" y="1658652"/>
                  <a:pt x="1011504" y="1656169"/>
                </a:cubicBezTo>
                <a:cubicBezTo>
                  <a:pt x="1017362" y="1651148"/>
                  <a:pt x="1023978" y="1646953"/>
                  <a:pt x="1030385" y="1642683"/>
                </a:cubicBezTo>
                <a:cubicBezTo>
                  <a:pt x="1044772" y="1621104"/>
                  <a:pt x="1025889" y="1647179"/>
                  <a:pt x="1043872" y="1629196"/>
                </a:cubicBezTo>
                <a:cubicBezTo>
                  <a:pt x="1046164" y="1626904"/>
                  <a:pt x="1047192" y="1623594"/>
                  <a:pt x="1049267" y="1621104"/>
                </a:cubicBezTo>
                <a:cubicBezTo>
                  <a:pt x="1055757" y="1613316"/>
                  <a:pt x="1057494" y="1612922"/>
                  <a:pt x="1065451" y="1607617"/>
                </a:cubicBezTo>
                <a:cubicBezTo>
                  <a:pt x="1066350" y="1604920"/>
                  <a:pt x="1066767" y="1602010"/>
                  <a:pt x="1068148" y="1599525"/>
                </a:cubicBezTo>
                <a:cubicBezTo>
                  <a:pt x="1076213" y="1585008"/>
                  <a:pt x="1077201" y="1585078"/>
                  <a:pt x="1087030" y="1575249"/>
                </a:cubicBezTo>
                <a:cubicBezTo>
                  <a:pt x="1087929" y="1572552"/>
                  <a:pt x="1088150" y="1569523"/>
                  <a:pt x="1089727" y="1567157"/>
                </a:cubicBezTo>
                <a:cubicBezTo>
                  <a:pt x="1098563" y="1553903"/>
                  <a:pt x="1095961" y="1563620"/>
                  <a:pt x="1105911" y="1553670"/>
                </a:cubicBezTo>
                <a:cubicBezTo>
                  <a:pt x="1109090" y="1550491"/>
                  <a:pt x="1110824" y="1546060"/>
                  <a:pt x="1114003" y="1542881"/>
                </a:cubicBezTo>
                <a:cubicBezTo>
                  <a:pt x="1117182" y="1539702"/>
                  <a:pt x="1121379" y="1537715"/>
                  <a:pt x="1124792" y="1534789"/>
                </a:cubicBezTo>
                <a:cubicBezTo>
                  <a:pt x="1142965" y="1519212"/>
                  <a:pt x="1123091" y="1533226"/>
                  <a:pt x="1140976" y="1521302"/>
                </a:cubicBezTo>
                <a:cubicBezTo>
                  <a:pt x="1153343" y="1502752"/>
                  <a:pt x="1145615" y="1507168"/>
                  <a:pt x="1159858" y="1502421"/>
                </a:cubicBezTo>
                <a:cubicBezTo>
                  <a:pt x="1161656" y="1499724"/>
                  <a:pt x="1162722" y="1496354"/>
                  <a:pt x="1165253" y="1494329"/>
                </a:cubicBezTo>
                <a:cubicBezTo>
                  <a:pt x="1167473" y="1492553"/>
                  <a:pt x="1170802" y="1492903"/>
                  <a:pt x="1173345" y="1491631"/>
                </a:cubicBezTo>
                <a:cubicBezTo>
                  <a:pt x="1176244" y="1490181"/>
                  <a:pt x="1178740" y="1488035"/>
                  <a:pt x="1181437" y="1486237"/>
                </a:cubicBezTo>
                <a:cubicBezTo>
                  <a:pt x="1194025" y="1487136"/>
                  <a:pt x="1206667" y="1487460"/>
                  <a:pt x="1219200" y="1488934"/>
                </a:cubicBezTo>
                <a:cubicBezTo>
                  <a:pt x="1222024" y="1489266"/>
                  <a:pt x="1224487" y="1491164"/>
                  <a:pt x="1227292" y="1491631"/>
                </a:cubicBezTo>
                <a:cubicBezTo>
                  <a:pt x="1235323" y="1492970"/>
                  <a:pt x="1243476" y="1493430"/>
                  <a:pt x="1251568" y="1494329"/>
                </a:cubicBezTo>
                <a:cubicBezTo>
                  <a:pt x="1255164" y="1495228"/>
                  <a:pt x="1258806" y="1495961"/>
                  <a:pt x="1262357" y="1497026"/>
                </a:cubicBezTo>
                <a:cubicBezTo>
                  <a:pt x="1267804" y="1498660"/>
                  <a:pt x="1272965" y="1501306"/>
                  <a:pt x="1278541" y="1502421"/>
                </a:cubicBezTo>
                <a:cubicBezTo>
                  <a:pt x="1283037" y="1503320"/>
                  <a:pt x="1287605" y="1503912"/>
                  <a:pt x="1292028" y="1505118"/>
                </a:cubicBezTo>
                <a:cubicBezTo>
                  <a:pt x="1297514" y="1506614"/>
                  <a:pt x="1302817" y="1508715"/>
                  <a:pt x="1308212" y="1510513"/>
                </a:cubicBezTo>
                <a:cubicBezTo>
                  <a:pt x="1310909" y="1511412"/>
                  <a:pt x="1313546" y="1512520"/>
                  <a:pt x="1316304" y="1513210"/>
                </a:cubicBezTo>
                <a:cubicBezTo>
                  <a:pt x="1319900" y="1514109"/>
                  <a:pt x="1323542" y="1514843"/>
                  <a:pt x="1327093" y="1515908"/>
                </a:cubicBezTo>
                <a:cubicBezTo>
                  <a:pt x="1332540" y="1517542"/>
                  <a:pt x="1343277" y="1521302"/>
                  <a:pt x="1343277" y="1521302"/>
                </a:cubicBezTo>
                <a:cubicBezTo>
                  <a:pt x="1345974" y="1523100"/>
                  <a:pt x="1348334" y="1525559"/>
                  <a:pt x="1351369" y="1526697"/>
                </a:cubicBezTo>
                <a:cubicBezTo>
                  <a:pt x="1355662" y="1528307"/>
                  <a:pt x="1360408" y="1528282"/>
                  <a:pt x="1364856" y="1529394"/>
                </a:cubicBezTo>
                <a:cubicBezTo>
                  <a:pt x="1367614" y="1530084"/>
                  <a:pt x="1370190" y="1531402"/>
                  <a:pt x="1372948" y="1532092"/>
                </a:cubicBezTo>
                <a:lnTo>
                  <a:pt x="1394527" y="1537486"/>
                </a:lnTo>
                <a:cubicBezTo>
                  <a:pt x="1425996" y="1536587"/>
                  <a:pt x="1457493" y="1536401"/>
                  <a:pt x="1488934" y="1534789"/>
                </a:cubicBezTo>
                <a:cubicBezTo>
                  <a:pt x="1495288" y="1534463"/>
                  <a:pt x="1501724" y="1530917"/>
                  <a:pt x="1507815" y="1529394"/>
                </a:cubicBezTo>
                <a:lnTo>
                  <a:pt x="1529394" y="1524000"/>
                </a:lnTo>
                <a:cubicBezTo>
                  <a:pt x="1532991" y="1521303"/>
                  <a:pt x="1536163" y="1517919"/>
                  <a:pt x="1540184" y="1515908"/>
                </a:cubicBezTo>
                <a:cubicBezTo>
                  <a:pt x="1543500" y="1514250"/>
                  <a:pt x="1547409" y="1514228"/>
                  <a:pt x="1550973" y="1513210"/>
                </a:cubicBezTo>
                <a:cubicBezTo>
                  <a:pt x="1556845" y="1511532"/>
                  <a:pt x="1565056" y="1508545"/>
                  <a:pt x="1569854" y="1505118"/>
                </a:cubicBezTo>
                <a:cubicBezTo>
                  <a:pt x="1572958" y="1502901"/>
                  <a:pt x="1575095" y="1499560"/>
                  <a:pt x="1577946" y="1497026"/>
                </a:cubicBezTo>
                <a:cubicBezTo>
                  <a:pt x="1583195" y="1492361"/>
                  <a:pt x="1588587" y="1487850"/>
                  <a:pt x="1594130" y="1483539"/>
                </a:cubicBezTo>
                <a:cubicBezTo>
                  <a:pt x="1596689" y="1481549"/>
                  <a:pt x="1599585" y="1480029"/>
                  <a:pt x="1602223" y="1478145"/>
                </a:cubicBezTo>
                <a:cubicBezTo>
                  <a:pt x="1605881" y="1475532"/>
                  <a:pt x="1609354" y="1472666"/>
                  <a:pt x="1613012" y="1470053"/>
                </a:cubicBezTo>
                <a:cubicBezTo>
                  <a:pt x="1615650" y="1468169"/>
                  <a:pt x="1618614" y="1466733"/>
                  <a:pt x="1621104" y="1464658"/>
                </a:cubicBezTo>
                <a:cubicBezTo>
                  <a:pt x="1624034" y="1462216"/>
                  <a:pt x="1626022" y="1458682"/>
                  <a:pt x="1629196" y="1456566"/>
                </a:cubicBezTo>
                <a:cubicBezTo>
                  <a:pt x="1633433" y="1453741"/>
                  <a:pt x="1648342" y="1448209"/>
                  <a:pt x="1653472" y="1443079"/>
                </a:cubicBezTo>
                <a:cubicBezTo>
                  <a:pt x="1673546" y="1423005"/>
                  <a:pt x="1650585" y="1439609"/>
                  <a:pt x="1669656" y="1426895"/>
                </a:cubicBezTo>
                <a:cubicBezTo>
                  <a:pt x="1671454" y="1424198"/>
                  <a:pt x="1673106" y="1421396"/>
                  <a:pt x="1675051" y="1418803"/>
                </a:cubicBezTo>
                <a:cubicBezTo>
                  <a:pt x="1678505" y="1414197"/>
                  <a:pt x="1682647" y="1410106"/>
                  <a:pt x="1685840" y="1405316"/>
                </a:cubicBezTo>
                <a:cubicBezTo>
                  <a:pt x="1688070" y="1401970"/>
                  <a:pt x="1689240" y="1398018"/>
                  <a:pt x="1691235" y="1394527"/>
                </a:cubicBezTo>
                <a:cubicBezTo>
                  <a:pt x="1696242" y="1385765"/>
                  <a:pt x="1697284" y="1385781"/>
                  <a:pt x="1704722" y="1378343"/>
                </a:cubicBezTo>
                <a:cubicBezTo>
                  <a:pt x="1711048" y="1359362"/>
                  <a:pt x="1702813" y="1382799"/>
                  <a:pt x="1712814" y="1359462"/>
                </a:cubicBezTo>
                <a:cubicBezTo>
                  <a:pt x="1713934" y="1356848"/>
                  <a:pt x="1714319" y="1353951"/>
                  <a:pt x="1715511" y="1351369"/>
                </a:cubicBezTo>
                <a:cubicBezTo>
                  <a:pt x="1719723" y="1342242"/>
                  <a:pt x="1724502" y="1333387"/>
                  <a:pt x="1728998" y="1324396"/>
                </a:cubicBezTo>
                <a:cubicBezTo>
                  <a:pt x="1730796" y="1320800"/>
                  <a:pt x="1733120" y="1317421"/>
                  <a:pt x="1734392" y="1313607"/>
                </a:cubicBezTo>
                <a:cubicBezTo>
                  <a:pt x="1736190" y="1308212"/>
                  <a:pt x="1738672" y="1302999"/>
                  <a:pt x="1739787" y="1297423"/>
                </a:cubicBezTo>
                <a:cubicBezTo>
                  <a:pt x="1740686" y="1292927"/>
                  <a:pt x="1740874" y="1288229"/>
                  <a:pt x="1742484" y="1283936"/>
                </a:cubicBezTo>
                <a:cubicBezTo>
                  <a:pt x="1743622" y="1280901"/>
                  <a:pt x="1746081" y="1278541"/>
                  <a:pt x="1747879" y="1275844"/>
                </a:cubicBezTo>
                <a:cubicBezTo>
                  <a:pt x="1750819" y="1267023"/>
                  <a:pt x="1753120" y="1257753"/>
                  <a:pt x="1761366" y="1251568"/>
                </a:cubicBezTo>
                <a:cubicBezTo>
                  <a:pt x="1769275" y="1245636"/>
                  <a:pt x="1772362" y="1243009"/>
                  <a:pt x="1780247" y="1238081"/>
                </a:cubicBezTo>
                <a:cubicBezTo>
                  <a:pt x="1784693" y="1235302"/>
                  <a:pt x="1789045" y="1232334"/>
                  <a:pt x="1793734" y="1229989"/>
                </a:cubicBezTo>
                <a:cubicBezTo>
                  <a:pt x="1805476" y="1224118"/>
                  <a:pt x="1799516" y="1231254"/>
                  <a:pt x="1812615" y="1221897"/>
                </a:cubicBezTo>
                <a:cubicBezTo>
                  <a:pt x="1815719" y="1219680"/>
                  <a:pt x="1817696" y="1216147"/>
                  <a:pt x="1820707" y="1213805"/>
                </a:cubicBezTo>
                <a:cubicBezTo>
                  <a:pt x="1825825" y="1209824"/>
                  <a:pt x="1831497" y="1206612"/>
                  <a:pt x="1836892" y="1203015"/>
                </a:cubicBezTo>
                <a:cubicBezTo>
                  <a:pt x="1839589" y="1201217"/>
                  <a:pt x="1842692" y="1199913"/>
                  <a:pt x="1844984" y="1197621"/>
                </a:cubicBezTo>
                <a:cubicBezTo>
                  <a:pt x="1848580" y="1194024"/>
                  <a:pt x="1852463" y="1190693"/>
                  <a:pt x="1855773" y="1186831"/>
                </a:cubicBezTo>
                <a:cubicBezTo>
                  <a:pt x="1863996" y="1177237"/>
                  <a:pt x="1858038" y="1179064"/>
                  <a:pt x="1869260" y="1170647"/>
                </a:cubicBezTo>
                <a:cubicBezTo>
                  <a:pt x="1873454" y="1167501"/>
                  <a:pt x="1878552" y="1165701"/>
                  <a:pt x="1882746" y="1162555"/>
                </a:cubicBezTo>
                <a:cubicBezTo>
                  <a:pt x="1885798" y="1160266"/>
                  <a:pt x="1887907" y="1156905"/>
                  <a:pt x="1890838" y="1154463"/>
                </a:cubicBezTo>
                <a:cubicBezTo>
                  <a:pt x="1893328" y="1152388"/>
                  <a:pt x="1896440" y="1151144"/>
                  <a:pt x="1898930" y="1149069"/>
                </a:cubicBezTo>
                <a:cubicBezTo>
                  <a:pt x="1901861" y="1146627"/>
                  <a:pt x="1903849" y="1143093"/>
                  <a:pt x="1907023" y="1140977"/>
                </a:cubicBezTo>
                <a:cubicBezTo>
                  <a:pt x="1909389" y="1139400"/>
                  <a:pt x="1912418" y="1139178"/>
                  <a:pt x="1915115" y="1138279"/>
                </a:cubicBezTo>
                <a:lnTo>
                  <a:pt x="1920509" y="1122095"/>
                </a:lnTo>
                <a:cubicBezTo>
                  <a:pt x="1921408" y="1119398"/>
                  <a:pt x="1921630" y="1116369"/>
                  <a:pt x="1923207" y="1114003"/>
                </a:cubicBezTo>
                <a:cubicBezTo>
                  <a:pt x="1933496" y="1098568"/>
                  <a:pt x="1924097" y="1113871"/>
                  <a:pt x="1933996" y="1092424"/>
                </a:cubicBezTo>
                <a:cubicBezTo>
                  <a:pt x="1937366" y="1085123"/>
                  <a:pt x="1944785" y="1070846"/>
                  <a:pt x="1944785" y="1070846"/>
                </a:cubicBezTo>
                <a:cubicBezTo>
                  <a:pt x="1945684" y="1065451"/>
                  <a:pt x="1945911" y="1059900"/>
                  <a:pt x="1947483" y="1054662"/>
                </a:cubicBezTo>
                <a:cubicBezTo>
                  <a:pt x="1949952" y="1046430"/>
                  <a:pt x="1955981" y="1039733"/>
                  <a:pt x="1960969" y="1033083"/>
                </a:cubicBezTo>
                <a:cubicBezTo>
                  <a:pt x="1967389" y="1013824"/>
                  <a:pt x="1963210" y="1021630"/>
                  <a:pt x="1971759" y="1008807"/>
                </a:cubicBezTo>
                <a:cubicBezTo>
                  <a:pt x="1972658" y="1003412"/>
                  <a:pt x="1972235" y="997621"/>
                  <a:pt x="1974456" y="992623"/>
                </a:cubicBezTo>
                <a:cubicBezTo>
                  <a:pt x="1976005" y="989137"/>
                  <a:pt x="1980259" y="987583"/>
                  <a:pt x="1982548" y="984531"/>
                </a:cubicBezTo>
                <a:cubicBezTo>
                  <a:pt x="1985694" y="980337"/>
                  <a:pt x="1987861" y="975490"/>
                  <a:pt x="1990640" y="971044"/>
                </a:cubicBezTo>
                <a:cubicBezTo>
                  <a:pt x="1992358" y="968295"/>
                  <a:pt x="1994427" y="965767"/>
                  <a:pt x="1996035" y="962952"/>
                </a:cubicBezTo>
                <a:cubicBezTo>
                  <a:pt x="1998030" y="959461"/>
                  <a:pt x="1999299" y="955572"/>
                  <a:pt x="2001430" y="952162"/>
                </a:cubicBezTo>
                <a:cubicBezTo>
                  <a:pt x="2003813" y="948350"/>
                  <a:pt x="2007339" y="945303"/>
                  <a:pt x="2009522" y="941373"/>
                </a:cubicBezTo>
                <a:cubicBezTo>
                  <a:pt x="2022293" y="918383"/>
                  <a:pt x="2006796" y="936006"/>
                  <a:pt x="2023008" y="919794"/>
                </a:cubicBezTo>
                <a:cubicBezTo>
                  <a:pt x="2024806" y="915299"/>
                  <a:pt x="2026703" y="910841"/>
                  <a:pt x="2028403" y="906308"/>
                </a:cubicBezTo>
                <a:cubicBezTo>
                  <a:pt x="2029401" y="903646"/>
                  <a:pt x="2029689" y="900684"/>
                  <a:pt x="2031100" y="898215"/>
                </a:cubicBezTo>
                <a:cubicBezTo>
                  <a:pt x="2033330" y="894312"/>
                  <a:pt x="2036495" y="891022"/>
                  <a:pt x="2039192" y="887426"/>
                </a:cubicBezTo>
                <a:cubicBezTo>
                  <a:pt x="2040091" y="883830"/>
                  <a:pt x="2041086" y="880256"/>
                  <a:pt x="2041890" y="876637"/>
                </a:cubicBezTo>
                <a:cubicBezTo>
                  <a:pt x="2042885" y="872162"/>
                  <a:pt x="2043137" y="867499"/>
                  <a:pt x="2044587" y="863150"/>
                </a:cubicBezTo>
                <a:cubicBezTo>
                  <a:pt x="2045859" y="859335"/>
                  <a:pt x="2048184" y="855957"/>
                  <a:pt x="2049982" y="852361"/>
                </a:cubicBezTo>
                <a:cubicBezTo>
                  <a:pt x="2050881" y="848764"/>
                  <a:pt x="2051661" y="845136"/>
                  <a:pt x="2052679" y="841571"/>
                </a:cubicBezTo>
                <a:cubicBezTo>
                  <a:pt x="2053460" y="838837"/>
                  <a:pt x="2054686" y="836237"/>
                  <a:pt x="2055376" y="833479"/>
                </a:cubicBezTo>
                <a:cubicBezTo>
                  <a:pt x="2059221" y="818101"/>
                  <a:pt x="2056623" y="823029"/>
                  <a:pt x="2060771" y="809203"/>
                </a:cubicBezTo>
                <a:cubicBezTo>
                  <a:pt x="2062405" y="803756"/>
                  <a:pt x="2064368" y="798414"/>
                  <a:pt x="2066166" y="793019"/>
                </a:cubicBezTo>
                <a:cubicBezTo>
                  <a:pt x="2067065" y="790322"/>
                  <a:pt x="2068305" y="787715"/>
                  <a:pt x="2068863" y="784927"/>
                </a:cubicBezTo>
                <a:cubicBezTo>
                  <a:pt x="2069594" y="781272"/>
                  <a:pt x="2072627" y="764999"/>
                  <a:pt x="2074258" y="760651"/>
                </a:cubicBezTo>
                <a:cubicBezTo>
                  <a:pt x="2075670" y="756886"/>
                  <a:pt x="2077855" y="753458"/>
                  <a:pt x="2079653" y="749862"/>
                </a:cubicBezTo>
                <a:cubicBezTo>
                  <a:pt x="2080552" y="744467"/>
                  <a:pt x="2080941" y="738962"/>
                  <a:pt x="2082350" y="733677"/>
                </a:cubicBezTo>
                <a:cubicBezTo>
                  <a:pt x="2084548" y="725435"/>
                  <a:pt x="2088373" y="717676"/>
                  <a:pt x="2090442" y="709401"/>
                </a:cubicBezTo>
                <a:cubicBezTo>
                  <a:pt x="2091341" y="705805"/>
                  <a:pt x="2092074" y="702163"/>
                  <a:pt x="2093139" y="698612"/>
                </a:cubicBezTo>
                <a:cubicBezTo>
                  <a:pt x="2094773" y="693165"/>
                  <a:pt x="2097217" y="687960"/>
                  <a:pt x="2098534" y="682428"/>
                </a:cubicBezTo>
                <a:cubicBezTo>
                  <a:pt x="2101720" y="669048"/>
                  <a:pt x="2103290" y="655311"/>
                  <a:pt x="2106626" y="641968"/>
                </a:cubicBezTo>
                <a:cubicBezTo>
                  <a:pt x="2112711" y="617631"/>
                  <a:pt x="2109677" y="627423"/>
                  <a:pt x="2114718" y="612297"/>
                </a:cubicBezTo>
                <a:cubicBezTo>
                  <a:pt x="2115617" y="600608"/>
                  <a:pt x="2116045" y="588874"/>
                  <a:pt x="2117415" y="577231"/>
                </a:cubicBezTo>
                <a:cubicBezTo>
                  <a:pt x="2117848" y="573549"/>
                  <a:pt x="2119309" y="570061"/>
                  <a:pt x="2120113" y="566442"/>
                </a:cubicBezTo>
                <a:cubicBezTo>
                  <a:pt x="2121108" y="561967"/>
                  <a:pt x="2121779" y="557422"/>
                  <a:pt x="2122810" y="552955"/>
                </a:cubicBezTo>
                <a:cubicBezTo>
                  <a:pt x="2124477" y="545731"/>
                  <a:pt x="2124092" y="537546"/>
                  <a:pt x="2128205" y="531377"/>
                </a:cubicBezTo>
                <a:cubicBezTo>
                  <a:pt x="2133074" y="524074"/>
                  <a:pt x="2135570" y="521056"/>
                  <a:pt x="2138994" y="512495"/>
                </a:cubicBezTo>
                <a:cubicBezTo>
                  <a:pt x="2141106" y="507215"/>
                  <a:pt x="2141846" y="501397"/>
                  <a:pt x="2144389" y="496311"/>
                </a:cubicBezTo>
                <a:cubicBezTo>
                  <a:pt x="2146187" y="492715"/>
                  <a:pt x="2147789" y="489013"/>
                  <a:pt x="2149784" y="485522"/>
                </a:cubicBezTo>
                <a:cubicBezTo>
                  <a:pt x="2156270" y="474171"/>
                  <a:pt x="2155140" y="480221"/>
                  <a:pt x="2160573" y="466640"/>
                </a:cubicBezTo>
                <a:cubicBezTo>
                  <a:pt x="2170972" y="440644"/>
                  <a:pt x="2161122" y="459596"/>
                  <a:pt x="2171362" y="428877"/>
                </a:cubicBezTo>
                <a:lnTo>
                  <a:pt x="2176757" y="412693"/>
                </a:lnTo>
                <a:lnTo>
                  <a:pt x="2179454" y="404601"/>
                </a:lnTo>
                <a:lnTo>
                  <a:pt x="2182152" y="396509"/>
                </a:lnTo>
                <a:cubicBezTo>
                  <a:pt x="2183051" y="387518"/>
                  <a:pt x="2183475" y="378467"/>
                  <a:pt x="2184849" y="369536"/>
                </a:cubicBezTo>
                <a:cubicBezTo>
                  <a:pt x="2185281" y="366726"/>
                  <a:pt x="2186765" y="364178"/>
                  <a:pt x="2187546" y="361444"/>
                </a:cubicBezTo>
                <a:cubicBezTo>
                  <a:pt x="2195693" y="332930"/>
                  <a:pt x="2182830" y="372895"/>
                  <a:pt x="2195638" y="334470"/>
                </a:cubicBezTo>
                <a:cubicBezTo>
                  <a:pt x="2196537" y="331773"/>
                  <a:pt x="2197064" y="328921"/>
                  <a:pt x="2198336" y="326378"/>
                </a:cubicBezTo>
                <a:cubicBezTo>
                  <a:pt x="2201932" y="319185"/>
                  <a:pt x="2206581" y="312429"/>
                  <a:pt x="2209125" y="304800"/>
                </a:cubicBezTo>
                <a:cubicBezTo>
                  <a:pt x="2213874" y="290558"/>
                  <a:pt x="2210247" y="299072"/>
                  <a:pt x="2222612" y="280523"/>
                </a:cubicBezTo>
                <a:lnTo>
                  <a:pt x="2228007" y="272431"/>
                </a:lnTo>
                <a:cubicBezTo>
                  <a:pt x="2228906" y="269734"/>
                  <a:pt x="2229923" y="267073"/>
                  <a:pt x="2230704" y="264339"/>
                </a:cubicBezTo>
                <a:cubicBezTo>
                  <a:pt x="2231722" y="260775"/>
                  <a:pt x="2231941" y="256957"/>
                  <a:pt x="2233401" y="253550"/>
                </a:cubicBezTo>
                <a:cubicBezTo>
                  <a:pt x="2234678" y="250570"/>
                  <a:pt x="2236998" y="248155"/>
                  <a:pt x="2238796" y="245458"/>
                </a:cubicBezTo>
                <a:cubicBezTo>
                  <a:pt x="2239695" y="238265"/>
                  <a:pt x="2239974" y="230967"/>
                  <a:pt x="2241493" y="223879"/>
                </a:cubicBezTo>
                <a:cubicBezTo>
                  <a:pt x="2242684" y="218319"/>
                  <a:pt x="2246888" y="207695"/>
                  <a:pt x="2246888" y="207695"/>
                </a:cubicBezTo>
                <a:cubicBezTo>
                  <a:pt x="2247787" y="174428"/>
                  <a:pt x="2247269" y="141092"/>
                  <a:pt x="2249585" y="107893"/>
                </a:cubicBezTo>
                <a:cubicBezTo>
                  <a:pt x="2249981" y="102220"/>
                  <a:pt x="2253182" y="97104"/>
                  <a:pt x="2254980" y="91709"/>
                </a:cubicBezTo>
                <a:lnTo>
                  <a:pt x="2263072" y="67433"/>
                </a:lnTo>
                <a:lnTo>
                  <a:pt x="2265769" y="59341"/>
                </a:lnTo>
                <a:lnTo>
                  <a:pt x="2268467" y="51249"/>
                </a:lnTo>
                <a:cubicBezTo>
                  <a:pt x="2269366" y="44955"/>
                  <a:pt x="2269917" y="38602"/>
                  <a:pt x="2271164" y="32368"/>
                </a:cubicBezTo>
                <a:cubicBezTo>
                  <a:pt x="2271722" y="29580"/>
                  <a:pt x="2273080" y="27010"/>
                  <a:pt x="2273861" y="24276"/>
                </a:cubicBezTo>
                <a:cubicBezTo>
                  <a:pt x="2274880" y="20711"/>
                  <a:pt x="2275540" y="17051"/>
                  <a:pt x="2276559" y="13486"/>
                </a:cubicBezTo>
                <a:cubicBezTo>
                  <a:pt x="2277340" y="10752"/>
                  <a:pt x="2277480" y="7614"/>
                  <a:pt x="2279256" y="5394"/>
                </a:cubicBezTo>
                <a:cubicBezTo>
                  <a:pt x="2281281" y="2863"/>
                  <a:pt x="2287348" y="0"/>
                  <a:pt x="2287348" y="0"/>
                </a:cubicBezTo>
              </a:path>
            </a:pathLst>
          </a:cu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es-AR"/>
          </a:p>
        </p:txBody>
      </p:sp>
      <p:sp>
        <p:nvSpPr>
          <p:cNvPr id="7" name="Forma libre: forma 6">
            <a:extLst>
              <a:ext uri="{FF2B5EF4-FFF2-40B4-BE49-F238E27FC236}">
                <a16:creationId xmlns:a16="http://schemas.microsoft.com/office/drawing/2014/main" id="{C156FF71-DB6F-4637-AF7B-D8E3D5DA50EB}"/>
              </a:ext>
            </a:extLst>
          </p:cNvPr>
          <p:cNvSpPr/>
          <p:nvPr/>
        </p:nvSpPr>
        <p:spPr>
          <a:xfrm>
            <a:off x="2828393" y="3623868"/>
            <a:ext cx="2080155" cy="1206894"/>
          </a:xfrm>
          <a:custGeom>
            <a:avLst/>
            <a:gdLst>
              <a:gd name="connsiteX0" fmla="*/ 0 w 2081537"/>
              <a:gd name="connsiteY0" fmla="*/ 616226 h 1206894"/>
              <a:gd name="connsiteX1" fmla="*/ 2839 w 2081537"/>
              <a:gd name="connsiteY1" fmla="*/ 630425 h 1206894"/>
              <a:gd name="connsiteX2" fmla="*/ 22718 w 2081537"/>
              <a:gd name="connsiteY2" fmla="*/ 655982 h 1206894"/>
              <a:gd name="connsiteX3" fmla="*/ 39756 w 2081537"/>
              <a:gd name="connsiteY3" fmla="*/ 667341 h 1206894"/>
              <a:gd name="connsiteX4" fmla="*/ 45436 w 2081537"/>
              <a:gd name="connsiteY4" fmla="*/ 675861 h 1206894"/>
              <a:gd name="connsiteX5" fmla="*/ 62474 w 2081537"/>
              <a:gd name="connsiteY5" fmla="*/ 690059 h 1206894"/>
              <a:gd name="connsiteX6" fmla="*/ 73833 w 2081537"/>
              <a:gd name="connsiteY6" fmla="*/ 707098 h 1206894"/>
              <a:gd name="connsiteX7" fmla="*/ 79513 w 2081537"/>
              <a:gd name="connsiteY7" fmla="*/ 715617 h 1206894"/>
              <a:gd name="connsiteX8" fmla="*/ 90872 w 2081537"/>
              <a:gd name="connsiteY8" fmla="*/ 729816 h 1206894"/>
              <a:gd name="connsiteX9" fmla="*/ 93711 w 2081537"/>
              <a:gd name="connsiteY9" fmla="*/ 738335 h 1206894"/>
              <a:gd name="connsiteX10" fmla="*/ 105070 w 2081537"/>
              <a:gd name="connsiteY10" fmla="*/ 755374 h 1206894"/>
              <a:gd name="connsiteX11" fmla="*/ 110750 w 2081537"/>
              <a:gd name="connsiteY11" fmla="*/ 763893 h 1206894"/>
              <a:gd name="connsiteX12" fmla="*/ 127788 w 2081537"/>
              <a:gd name="connsiteY12" fmla="*/ 775252 h 1206894"/>
              <a:gd name="connsiteX13" fmla="*/ 144827 w 2081537"/>
              <a:gd name="connsiteY13" fmla="*/ 780931 h 1206894"/>
              <a:gd name="connsiteX14" fmla="*/ 153346 w 2081537"/>
              <a:gd name="connsiteY14" fmla="*/ 783771 h 1206894"/>
              <a:gd name="connsiteX15" fmla="*/ 161865 w 2081537"/>
              <a:gd name="connsiteY15" fmla="*/ 789451 h 1206894"/>
              <a:gd name="connsiteX16" fmla="*/ 173224 w 2081537"/>
              <a:gd name="connsiteY16" fmla="*/ 792290 h 1206894"/>
              <a:gd name="connsiteX17" fmla="*/ 181744 w 2081537"/>
              <a:gd name="connsiteY17" fmla="*/ 795130 h 1206894"/>
              <a:gd name="connsiteX18" fmla="*/ 198782 w 2081537"/>
              <a:gd name="connsiteY18" fmla="*/ 806489 h 1206894"/>
              <a:gd name="connsiteX19" fmla="*/ 210141 w 2081537"/>
              <a:gd name="connsiteY19" fmla="*/ 823528 h 1206894"/>
              <a:gd name="connsiteX20" fmla="*/ 215821 w 2081537"/>
              <a:gd name="connsiteY20" fmla="*/ 832047 h 1206894"/>
              <a:gd name="connsiteX21" fmla="*/ 224340 w 2081537"/>
              <a:gd name="connsiteY21" fmla="*/ 843406 h 1206894"/>
              <a:gd name="connsiteX22" fmla="*/ 235699 w 2081537"/>
              <a:gd name="connsiteY22" fmla="*/ 860444 h 1206894"/>
              <a:gd name="connsiteX23" fmla="*/ 241378 w 2081537"/>
              <a:gd name="connsiteY23" fmla="*/ 868964 h 1206894"/>
              <a:gd name="connsiteX24" fmla="*/ 244218 w 2081537"/>
              <a:gd name="connsiteY24" fmla="*/ 877483 h 1206894"/>
              <a:gd name="connsiteX25" fmla="*/ 252737 w 2081537"/>
              <a:gd name="connsiteY25" fmla="*/ 886002 h 1206894"/>
              <a:gd name="connsiteX26" fmla="*/ 258417 w 2081537"/>
              <a:gd name="connsiteY26" fmla="*/ 894521 h 1206894"/>
              <a:gd name="connsiteX27" fmla="*/ 266936 w 2081537"/>
              <a:gd name="connsiteY27" fmla="*/ 903041 h 1206894"/>
              <a:gd name="connsiteX28" fmla="*/ 272616 w 2081537"/>
              <a:gd name="connsiteY28" fmla="*/ 911560 h 1206894"/>
              <a:gd name="connsiteX29" fmla="*/ 289654 w 2081537"/>
              <a:gd name="connsiteY29" fmla="*/ 928598 h 1206894"/>
              <a:gd name="connsiteX30" fmla="*/ 295334 w 2081537"/>
              <a:gd name="connsiteY30" fmla="*/ 937118 h 1206894"/>
              <a:gd name="connsiteX31" fmla="*/ 303853 w 2081537"/>
              <a:gd name="connsiteY31" fmla="*/ 942797 h 1206894"/>
              <a:gd name="connsiteX32" fmla="*/ 320891 w 2081537"/>
              <a:gd name="connsiteY32" fmla="*/ 959836 h 1206894"/>
              <a:gd name="connsiteX33" fmla="*/ 326571 w 2081537"/>
              <a:gd name="connsiteY33" fmla="*/ 968355 h 1206894"/>
              <a:gd name="connsiteX34" fmla="*/ 335090 w 2081537"/>
              <a:gd name="connsiteY34" fmla="*/ 974035 h 1206894"/>
              <a:gd name="connsiteX35" fmla="*/ 340770 w 2081537"/>
              <a:gd name="connsiteY35" fmla="*/ 982554 h 1206894"/>
              <a:gd name="connsiteX36" fmla="*/ 357808 w 2081537"/>
              <a:gd name="connsiteY36" fmla="*/ 996753 h 1206894"/>
              <a:gd name="connsiteX37" fmla="*/ 380526 w 2081537"/>
              <a:gd name="connsiteY37" fmla="*/ 1016631 h 1206894"/>
              <a:gd name="connsiteX38" fmla="*/ 391885 w 2081537"/>
              <a:gd name="connsiteY38" fmla="*/ 1022310 h 1206894"/>
              <a:gd name="connsiteX39" fmla="*/ 408924 w 2081537"/>
              <a:gd name="connsiteY39" fmla="*/ 1033669 h 1206894"/>
              <a:gd name="connsiteX40" fmla="*/ 411764 w 2081537"/>
              <a:gd name="connsiteY40" fmla="*/ 1042189 h 1206894"/>
              <a:gd name="connsiteX41" fmla="*/ 428802 w 2081537"/>
              <a:gd name="connsiteY41" fmla="*/ 1053548 h 1206894"/>
              <a:gd name="connsiteX42" fmla="*/ 440161 w 2081537"/>
              <a:gd name="connsiteY42" fmla="*/ 1067746 h 1206894"/>
              <a:gd name="connsiteX43" fmla="*/ 443001 w 2081537"/>
              <a:gd name="connsiteY43" fmla="*/ 1076266 h 1206894"/>
              <a:gd name="connsiteX44" fmla="*/ 462879 w 2081537"/>
              <a:gd name="connsiteY44" fmla="*/ 1101823 h 1206894"/>
              <a:gd name="connsiteX45" fmla="*/ 471398 w 2081537"/>
              <a:gd name="connsiteY45" fmla="*/ 1107503 h 1206894"/>
              <a:gd name="connsiteX46" fmla="*/ 491277 w 2081537"/>
              <a:gd name="connsiteY46" fmla="*/ 1133061 h 1206894"/>
              <a:gd name="connsiteX47" fmla="*/ 499796 w 2081537"/>
              <a:gd name="connsiteY47" fmla="*/ 1150099 h 1206894"/>
              <a:gd name="connsiteX48" fmla="*/ 508315 w 2081537"/>
              <a:gd name="connsiteY48" fmla="*/ 1155779 h 1206894"/>
              <a:gd name="connsiteX49" fmla="*/ 531033 w 2081537"/>
              <a:gd name="connsiteY49" fmla="*/ 1175657 h 1206894"/>
              <a:gd name="connsiteX50" fmla="*/ 548072 w 2081537"/>
              <a:gd name="connsiteY50" fmla="*/ 1181336 h 1206894"/>
              <a:gd name="connsiteX51" fmla="*/ 570790 w 2081537"/>
              <a:gd name="connsiteY51" fmla="*/ 1189856 h 1206894"/>
              <a:gd name="connsiteX52" fmla="*/ 587828 w 2081537"/>
              <a:gd name="connsiteY52" fmla="*/ 1195535 h 1206894"/>
              <a:gd name="connsiteX53" fmla="*/ 596347 w 2081537"/>
              <a:gd name="connsiteY53" fmla="*/ 1198375 h 1206894"/>
              <a:gd name="connsiteX54" fmla="*/ 607706 w 2081537"/>
              <a:gd name="connsiteY54" fmla="*/ 1201215 h 1206894"/>
              <a:gd name="connsiteX55" fmla="*/ 624745 w 2081537"/>
              <a:gd name="connsiteY55" fmla="*/ 1206894 h 1206894"/>
              <a:gd name="connsiteX56" fmla="*/ 735495 w 2081537"/>
              <a:gd name="connsiteY56" fmla="*/ 1204054 h 1206894"/>
              <a:gd name="connsiteX57" fmla="*/ 752534 w 2081537"/>
              <a:gd name="connsiteY57" fmla="*/ 1195535 h 1206894"/>
              <a:gd name="connsiteX58" fmla="*/ 769572 w 2081537"/>
              <a:gd name="connsiteY58" fmla="*/ 1178497 h 1206894"/>
              <a:gd name="connsiteX59" fmla="*/ 786611 w 2081537"/>
              <a:gd name="connsiteY59" fmla="*/ 1169977 h 1206894"/>
              <a:gd name="connsiteX60" fmla="*/ 800809 w 2081537"/>
              <a:gd name="connsiteY60" fmla="*/ 1152939 h 1206894"/>
              <a:gd name="connsiteX61" fmla="*/ 817848 w 2081537"/>
              <a:gd name="connsiteY61" fmla="*/ 1141580 h 1206894"/>
              <a:gd name="connsiteX62" fmla="*/ 834887 w 2081537"/>
              <a:gd name="connsiteY62" fmla="*/ 1130221 h 1206894"/>
              <a:gd name="connsiteX63" fmla="*/ 851925 w 2081537"/>
              <a:gd name="connsiteY63" fmla="*/ 1118862 h 1206894"/>
              <a:gd name="connsiteX64" fmla="*/ 860444 w 2081537"/>
              <a:gd name="connsiteY64" fmla="*/ 1116022 h 1206894"/>
              <a:gd name="connsiteX65" fmla="*/ 877483 w 2081537"/>
              <a:gd name="connsiteY65" fmla="*/ 1101823 h 1206894"/>
              <a:gd name="connsiteX66" fmla="*/ 886002 w 2081537"/>
              <a:gd name="connsiteY66" fmla="*/ 1096144 h 1206894"/>
              <a:gd name="connsiteX67" fmla="*/ 903041 w 2081537"/>
              <a:gd name="connsiteY67" fmla="*/ 1076266 h 1206894"/>
              <a:gd name="connsiteX68" fmla="*/ 920079 w 2081537"/>
              <a:gd name="connsiteY68" fmla="*/ 1059227 h 1206894"/>
              <a:gd name="connsiteX69" fmla="*/ 922919 w 2081537"/>
              <a:gd name="connsiteY69" fmla="*/ 1050708 h 1206894"/>
              <a:gd name="connsiteX70" fmla="*/ 939957 w 2081537"/>
              <a:gd name="connsiteY70" fmla="*/ 1036509 h 1206894"/>
              <a:gd name="connsiteX71" fmla="*/ 951316 w 2081537"/>
              <a:gd name="connsiteY71" fmla="*/ 1019471 h 1206894"/>
              <a:gd name="connsiteX72" fmla="*/ 959836 w 2081537"/>
              <a:gd name="connsiteY72" fmla="*/ 1002432 h 1206894"/>
              <a:gd name="connsiteX73" fmla="*/ 965515 w 2081537"/>
              <a:gd name="connsiteY73" fmla="*/ 991073 h 1206894"/>
              <a:gd name="connsiteX74" fmla="*/ 979714 w 2081537"/>
              <a:gd name="connsiteY74" fmla="*/ 974035 h 1206894"/>
              <a:gd name="connsiteX75" fmla="*/ 991073 w 2081537"/>
              <a:gd name="connsiteY75" fmla="*/ 968355 h 1206894"/>
              <a:gd name="connsiteX76" fmla="*/ 1062067 w 2081537"/>
              <a:gd name="connsiteY76" fmla="*/ 974035 h 1206894"/>
              <a:gd name="connsiteX77" fmla="*/ 1070586 w 2081537"/>
              <a:gd name="connsiteY77" fmla="*/ 979714 h 1206894"/>
              <a:gd name="connsiteX78" fmla="*/ 1090464 w 2081537"/>
              <a:gd name="connsiteY78" fmla="*/ 993913 h 1206894"/>
              <a:gd name="connsiteX79" fmla="*/ 1098983 w 2081537"/>
              <a:gd name="connsiteY79" fmla="*/ 996753 h 1206894"/>
              <a:gd name="connsiteX80" fmla="*/ 1127381 w 2081537"/>
              <a:gd name="connsiteY80" fmla="*/ 1019471 h 1206894"/>
              <a:gd name="connsiteX81" fmla="*/ 1135900 w 2081537"/>
              <a:gd name="connsiteY81" fmla="*/ 1022310 h 1206894"/>
              <a:gd name="connsiteX82" fmla="*/ 1144419 w 2081537"/>
              <a:gd name="connsiteY82" fmla="*/ 1025150 h 1206894"/>
              <a:gd name="connsiteX83" fmla="*/ 1527786 w 2081537"/>
              <a:gd name="connsiteY83" fmla="*/ 1022310 h 1206894"/>
              <a:gd name="connsiteX84" fmla="*/ 1550504 w 2081537"/>
              <a:gd name="connsiteY84" fmla="*/ 1016631 h 1206894"/>
              <a:gd name="connsiteX85" fmla="*/ 1559023 w 2081537"/>
              <a:gd name="connsiteY85" fmla="*/ 1010951 h 1206894"/>
              <a:gd name="connsiteX86" fmla="*/ 1570382 w 2081537"/>
              <a:gd name="connsiteY86" fmla="*/ 1005272 h 1206894"/>
              <a:gd name="connsiteX87" fmla="*/ 1587421 w 2081537"/>
              <a:gd name="connsiteY87" fmla="*/ 993913 h 1206894"/>
              <a:gd name="connsiteX88" fmla="*/ 1595940 w 2081537"/>
              <a:gd name="connsiteY88" fmla="*/ 991073 h 1206894"/>
              <a:gd name="connsiteX89" fmla="*/ 1621498 w 2081537"/>
              <a:gd name="connsiteY89" fmla="*/ 976874 h 1206894"/>
              <a:gd name="connsiteX90" fmla="*/ 1638536 w 2081537"/>
              <a:gd name="connsiteY90" fmla="*/ 962676 h 1206894"/>
              <a:gd name="connsiteX91" fmla="*/ 1647055 w 2081537"/>
              <a:gd name="connsiteY91" fmla="*/ 959836 h 1206894"/>
              <a:gd name="connsiteX92" fmla="*/ 1666934 w 2081537"/>
              <a:gd name="connsiteY92" fmla="*/ 939958 h 1206894"/>
              <a:gd name="connsiteX93" fmla="*/ 1672613 w 2081537"/>
              <a:gd name="connsiteY93" fmla="*/ 931438 h 1206894"/>
              <a:gd name="connsiteX94" fmla="*/ 1689652 w 2081537"/>
              <a:gd name="connsiteY94" fmla="*/ 914400 h 1206894"/>
              <a:gd name="connsiteX95" fmla="*/ 1698171 w 2081537"/>
              <a:gd name="connsiteY95" fmla="*/ 903041 h 1206894"/>
              <a:gd name="connsiteX96" fmla="*/ 1715209 w 2081537"/>
              <a:gd name="connsiteY96" fmla="*/ 877483 h 1206894"/>
              <a:gd name="connsiteX97" fmla="*/ 1720889 w 2081537"/>
              <a:gd name="connsiteY97" fmla="*/ 868964 h 1206894"/>
              <a:gd name="connsiteX98" fmla="*/ 1726568 w 2081537"/>
              <a:gd name="connsiteY98" fmla="*/ 860444 h 1206894"/>
              <a:gd name="connsiteX99" fmla="*/ 1735088 w 2081537"/>
              <a:gd name="connsiteY99" fmla="*/ 851925 h 1206894"/>
              <a:gd name="connsiteX100" fmla="*/ 1743607 w 2081537"/>
              <a:gd name="connsiteY100" fmla="*/ 834887 h 1206894"/>
              <a:gd name="connsiteX101" fmla="*/ 1752126 w 2081537"/>
              <a:gd name="connsiteY101" fmla="*/ 823528 h 1206894"/>
              <a:gd name="connsiteX102" fmla="*/ 1763485 w 2081537"/>
              <a:gd name="connsiteY102" fmla="*/ 815008 h 1206894"/>
              <a:gd name="connsiteX103" fmla="*/ 1769165 w 2081537"/>
              <a:gd name="connsiteY103" fmla="*/ 806489 h 1206894"/>
              <a:gd name="connsiteX104" fmla="*/ 1786203 w 2081537"/>
              <a:gd name="connsiteY104" fmla="*/ 789451 h 1206894"/>
              <a:gd name="connsiteX105" fmla="*/ 1794723 w 2081537"/>
              <a:gd name="connsiteY105" fmla="*/ 780931 h 1206894"/>
              <a:gd name="connsiteX106" fmla="*/ 1803242 w 2081537"/>
              <a:gd name="connsiteY106" fmla="*/ 772412 h 1206894"/>
              <a:gd name="connsiteX107" fmla="*/ 1814601 w 2081537"/>
              <a:gd name="connsiteY107" fmla="*/ 755374 h 1206894"/>
              <a:gd name="connsiteX108" fmla="*/ 1825960 w 2081537"/>
              <a:gd name="connsiteY108" fmla="*/ 744015 h 1206894"/>
              <a:gd name="connsiteX109" fmla="*/ 1837319 w 2081537"/>
              <a:gd name="connsiteY109" fmla="*/ 726976 h 1206894"/>
              <a:gd name="connsiteX110" fmla="*/ 1842998 w 2081537"/>
              <a:gd name="connsiteY110" fmla="*/ 718457 h 1206894"/>
              <a:gd name="connsiteX111" fmla="*/ 1851518 w 2081537"/>
              <a:gd name="connsiteY111" fmla="*/ 712777 h 1206894"/>
              <a:gd name="connsiteX112" fmla="*/ 1862877 w 2081537"/>
              <a:gd name="connsiteY112" fmla="*/ 687220 h 1206894"/>
              <a:gd name="connsiteX113" fmla="*/ 1871396 w 2081537"/>
              <a:gd name="connsiteY113" fmla="*/ 675861 h 1206894"/>
              <a:gd name="connsiteX114" fmla="*/ 1882755 w 2081537"/>
              <a:gd name="connsiteY114" fmla="*/ 658822 h 1206894"/>
              <a:gd name="connsiteX115" fmla="*/ 1888434 w 2081537"/>
              <a:gd name="connsiteY115" fmla="*/ 650303 h 1206894"/>
              <a:gd name="connsiteX116" fmla="*/ 1905473 w 2081537"/>
              <a:gd name="connsiteY116" fmla="*/ 627585 h 1206894"/>
              <a:gd name="connsiteX117" fmla="*/ 1911152 w 2081537"/>
              <a:gd name="connsiteY117" fmla="*/ 619066 h 1206894"/>
              <a:gd name="connsiteX118" fmla="*/ 1925351 w 2081537"/>
              <a:gd name="connsiteY118" fmla="*/ 599187 h 1206894"/>
              <a:gd name="connsiteX119" fmla="*/ 1939550 w 2081537"/>
              <a:gd name="connsiteY119" fmla="*/ 582149 h 1206894"/>
              <a:gd name="connsiteX120" fmla="*/ 1942390 w 2081537"/>
              <a:gd name="connsiteY120" fmla="*/ 573630 h 1206894"/>
              <a:gd name="connsiteX121" fmla="*/ 1956588 w 2081537"/>
              <a:gd name="connsiteY121" fmla="*/ 550912 h 1206894"/>
              <a:gd name="connsiteX122" fmla="*/ 1959428 w 2081537"/>
              <a:gd name="connsiteY122" fmla="*/ 542392 h 1206894"/>
              <a:gd name="connsiteX123" fmla="*/ 1962268 w 2081537"/>
              <a:gd name="connsiteY123" fmla="*/ 528194 h 1206894"/>
              <a:gd name="connsiteX124" fmla="*/ 1967947 w 2081537"/>
              <a:gd name="connsiteY124" fmla="*/ 516835 h 1206894"/>
              <a:gd name="connsiteX125" fmla="*/ 1973627 w 2081537"/>
              <a:gd name="connsiteY125" fmla="*/ 502636 h 1206894"/>
              <a:gd name="connsiteX126" fmla="*/ 1976467 w 2081537"/>
              <a:gd name="connsiteY126" fmla="*/ 491277 h 1206894"/>
              <a:gd name="connsiteX127" fmla="*/ 1982146 w 2081537"/>
              <a:gd name="connsiteY127" fmla="*/ 474238 h 1206894"/>
              <a:gd name="connsiteX128" fmla="*/ 1984986 w 2081537"/>
              <a:gd name="connsiteY128" fmla="*/ 465719 h 1206894"/>
              <a:gd name="connsiteX129" fmla="*/ 1990665 w 2081537"/>
              <a:gd name="connsiteY129" fmla="*/ 454360 h 1206894"/>
              <a:gd name="connsiteX130" fmla="*/ 1993505 w 2081537"/>
              <a:gd name="connsiteY130" fmla="*/ 443001 h 1206894"/>
              <a:gd name="connsiteX131" fmla="*/ 1999185 w 2081537"/>
              <a:gd name="connsiteY131" fmla="*/ 425962 h 1206894"/>
              <a:gd name="connsiteX132" fmla="*/ 2002024 w 2081537"/>
              <a:gd name="connsiteY132" fmla="*/ 414603 h 1206894"/>
              <a:gd name="connsiteX133" fmla="*/ 2007704 w 2081537"/>
              <a:gd name="connsiteY133" fmla="*/ 406084 h 1206894"/>
              <a:gd name="connsiteX134" fmla="*/ 2013383 w 2081537"/>
              <a:gd name="connsiteY134" fmla="*/ 386206 h 1206894"/>
              <a:gd name="connsiteX135" fmla="*/ 2016223 w 2081537"/>
              <a:gd name="connsiteY135" fmla="*/ 374847 h 1206894"/>
              <a:gd name="connsiteX136" fmla="*/ 2019063 w 2081537"/>
              <a:gd name="connsiteY136" fmla="*/ 366328 h 1206894"/>
              <a:gd name="connsiteX137" fmla="*/ 2021903 w 2081537"/>
              <a:gd name="connsiteY137" fmla="*/ 352129 h 1206894"/>
              <a:gd name="connsiteX138" fmla="*/ 2027582 w 2081537"/>
              <a:gd name="connsiteY138" fmla="*/ 335090 h 1206894"/>
              <a:gd name="connsiteX139" fmla="*/ 2030422 w 2081537"/>
              <a:gd name="connsiteY139" fmla="*/ 298174 h 1206894"/>
              <a:gd name="connsiteX140" fmla="*/ 2033262 w 2081537"/>
              <a:gd name="connsiteY140" fmla="*/ 244218 h 1206894"/>
              <a:gd name="connsiteX141" fmla="*/ 2036101 w 2081537"/>
              <a:gd name="connsiteY141" fmla="*/ 235699 h 1206894"/>
              <a:gd name="connsiteX142" fmla="*/ 2041781 w 2081537"/>
              <a:gd name="connsiteY142" fmla="*/ 212981 h 1206894"/>
              <a:gd name="connsiteX143" fmla="*/ 2044621 w 2081537"/>
              <a:gd name="connsiteY143" fmla="*/ 201622 h 1206894"/>
              <a:gd name="connsiteX144" fmla="*/ 2050300 w 2081537"/>
              <a:gd name="connsiteY144" fmla="*/ 184584 h 1206894"/>
              <a:gd name="connsiteX145" fmla="*/ 2053140 w 2081537"/>
              <a:gd name="connsiteY145" fmla="*/ 176064 h 1206894"/>
              <a:gd name="connsiteX146" fmla="*/ 2061659 w 2081537"/>
              <a:gd name="connsiteY146" fmla="*/ 130628 h 1206894"/>
              <a:gd name="connsiteX147" fmla="*/ 2067339 w 2081537"/>
              <a:gd name="connsiteY147" fmla="*/ 42596 h 1206894"/>
              <a:gd name="connsiteX148" fmla="*/ 2075858 w 2081537"/>
              <a:gd name="connsiteY148" fmla="*/ 17038 h 1206894"/>
              <a:gd name="connsiteX149" fmla="*/ 2078698 w 2081537"/>
              <a:gd name="connsiteY149" fmla="*/ 8519 h 1206894"/>
              <a:gd name="connsiteX150" fmla="*/ 2081537 w 2081537"/>
              <a:gd name="connsiteY150" fmla="*/ 0 h 1206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2081537" h="1206894">
                <a:moveTo>
                  <a:pt x="0" y="616226"/>
                </a:moveTo>
                <a:cubicBezTo>
                  <a:pt x="946" y="620959"/>
                  <a:pt x="842" y="626031"/>
                  <a:pt x="2839" y="630425"/>
                </a:cubicBezTo>
                <a:cubicBezTo>
                  <a:pt x="6195" y="637809"/>
                  <a:pt x="15391" y="650283"/>
                  <a:pt x="22718" y="655982"/>
                </a:cubicBezTo>
                <a:cubicBezTo>
                  <a:pt x="28106" y="660173"/>
                  <a:pt x="39756" y="667341"/>
                  <a:pt x="39756" y="667341"/>
                </a:cubicBezTo>
                <a:cubicBezTo>
                  <a:pt x="41649" y="670181"/>
                  <a:pt x="43022" y="673447"/>
                  <a:pt x="45436" y="675861"/>
                </a:cubicBezTo>
                <a:cubicBezTo>
                  <a:pt x="61844" y="692269"/>
                  <a:pt x="46191" y="669124"/>
                  <a:pt x="62474" y="690059"/>
                </a:cubicBezTo>
                <a:cubicBezTo>
                  <a:pt x="66665" y="695447"/>
                  <a:pt x="70047" y="701418"/>
                  <a:pt x="73833" y="707098"/>
                </a:cubicBezTo>
                <a:lnTo>
                  <a:pt x="79513" y="715617"/>
                </a:lnTo>
                <a:cubicBezTo>
                  <a:pt x="86648" y="737029"/>
                  <a:pt x="76193" y="711466"/>
                  <a:pt x="90872" y="729816"/>
                </a:cubicBezTo>
                <a:cubicBezTo>
                  <a:pt x="92742" y="732153"/>
                  <a:pt x="92257" y="735718"/>
                  <a:pt x="93711" y="738335"/>
                </a:cubicBezTo>
                <a:cubicBezTo>
                  <a:pt x="97026" y="744302"/>
                  <a:pt x="101284" y="749694"/>
                  <a:pt x="105070" y="755374"/>
                </a:cubicBezTo>
                <a:cubicBezTo>
                  <a:pt x="106963" y="758214"/>
                  <a:pt x="107910" y="762000"/>
                  <a:pt x="110750" y="763893"/>
                </a:cubicBezTo>
                <a:cubicBezTo>
                  <a:pt x="116429" y="767679"/>
                  <a:pt x="121312" y="773094"/>
                  <a:pt x="127788" y="775252"/>
                </a:cubicBezTo>
                <a:lnTo>
                  <a:pt x="144827" y="780931"/>
                </a:lnTo>
                <a:cubicBezTo>
                  <a:pt x="147667" y="781878"/>
                  <a:pt x="150856" y="782110"/>
                  <a:pt x="153346" y="783771"/>
                </a:cubicBezTo>
                <a:cubicBezTo>
                  <a:pt x="156186" y="785664"/>
                  <a:pt x="158728" y="788107"/>
                  <a:pt x="161865" y="789451"/>
                </a:cubicBezTo>
                <a:cubicBezTo>
                  <a:pt x="165452" y="790988"/>
                  <a:pt x="169471" y="791218"/>
                  <a:pt x="173224" y="792290"/>
                </a:cubicBezTo>
                <a:cubicBezTo>
                  <a:pt x="176102" y="793112"/>
                  <a:pt x="178904" y="794183"/>
                  <a:pt x="181744" y="795130"/>
                </a:cubicBezTo>
                <a:cubicBezTo>
                  <a:pt x="187423" y="798916"/>
                  <a:pt x="194996" y="800810"/>
                  <a:pt x="198782" y="806489"/>
                </a:cubicBezTo>
                <a:lnTo>
                  <a:pt x="210141" y="823528"/>
                </a:lnTo>
                <a:cubicBezTo>
                  <a:pt x="212034" y="826368"/>
                  <a:pt x="213773" y="829317"/>
                  <a:pt x="215821" y="832047"/>
                </a:cubicBezTo>
                <a:cubicBezTo>
                  <a:pt x="218661" y="835833"/>
                  <a:pt x="221626" y="839529"/>
                  <a:pt x="224340" y="843406"/>
                </a:cubicBezTo>
                <a:cubicBezTo>
                  <a:pt x="228254" y="848998"/>
                  <a:pt x="231913" y="854765"/>
                  <a:pt x="235699" y="860444"/>
                </a:cubicBezTo>
                <a:cubicBezTo>
                  <a:pt x="237592" y="863284"/>
                  <a:pt x="240299" y="865726"/>
                  <a:pt x="241378" y="868964"/>
                </a:cubicBezTo>
                <a:cubicBezTo>
                  <a:pt x="242325" y="871804"/>
                  <a:pt x="242558" y="874992"/>
                  <a:pt x="244218" y="877483"/>
                </a:cubicBezTo>
                <a:cubicBezTo>
                  <a:pt x="246446" y="880824"/>
                  <a:pt x="250166" y="882917"/>
                  <a:pt x="252737" y="886002"/>
                </a:cubicBezTo>
                <a:cubicBezTo>
                  <a:pt x="254922" y="888624"/>
                  <a:pt x="256232" y="891899"/>
                  <a:pt x="258417" y="894521"/>
                </a:cubicBezTo>
                <a:cubicBezTo>
                  <a:pt x="260988" y="897606"/>
                  <a:pt x="264365" y="899956"/>
                  <a:pt x="266936" y="903041"/>
                </a:cubicBezTo>
                <a:cubicBezTo>
                  <a:pt x="269121" y="905663"/>
                  <a:pt x="270349" y="909009"/>
                  <a:pt x="272616" y="911560"/>
                </a:cubicBezTo>
                <a:cubicBezTo>
                  <a:pt x="277952" y="917563"/>
                  <a:pt x="285199" y="921915"/>
                  <a:pt x="289654" y="928598"/>
                </a:cubicBezTo>
                <a:cubicBezTo>
                  <a:pt x="291547" y="931438"/>
                  <a:pt x="292920" y="934704"/>
                  <a:pt x="295334" y="937118"/>
                </a:cubicBezTo>
                <a:cubicBezTo>
                  <a:pt x="297747" y="939531"/>
                  <a:pt x="301302" y="940530"/>
                  <a:pt x="303853" y="942797"/>
                </a:cubicBezTo>
                <a:cubicBezTo>
                  <a:pt x="309856" y="948133"/>
                  <a:pt x="316435" y="953153"/>
                  <a:pt x="320891" y="959836"/>
                </a:cubicBezTo>
                <a:cubicBezTo>
                  <a:pt x="322784" y="962676"/>
                  <a:pt x="324158" y="965942"/>
                  <a:pt x="326571" y="968355"/>
                </a:cubicBezTo>
                <a:cubicBezTo>
                  <a:pt x="328984" y="970768"/>
                  <a:pt x="332250" y="972142"/>
                  <a:pt x="335090" y="974035"/>
                </a:cubicBezTo>
                <a:cubicBezTo>
                  <a:pt x="336983" y="976875"/>
                  <a:pt x="338357" y="980141"/>
                  <a:pt x="340770" y="982554"/>
                </a:cubicBezTo>
                <a:cubicBezTo>
                  <a:pt x="363107" y="1004890"/>
                  <a:pt x="334547" y="968840"/>
                  <a:pt x="357808" y="996753"/>
                </a:cubicBezTo>
                <a:cubicBezTo>
                  <a:pt x="368962" y="1010137"/>
                  <a:pt x="357274" y="1005006"/>
                  <a:pt x="380526" y="1016631"/>
                </a:cubicBezTo>
                <a:cubicBezTo>
                  <a:pt x="384312" y="1018524"/>
                  <a:pt x="388255" y="1020132"/>
                  <a:pt x="391885" y="1022310"/>
                </a:cubicBezTo>
                <a:cubicBezTo>
                  <a:pt x="397738" y="1025822"/>
                  <a:pt x="408924" y="1033669"/>
                  <a:pt x="408924" y="1033669"/>
                </a:cubicBezTo>
                <a:cubicBezTo>
                  <a:pt x="409871" y="1036509"/>
                  <a:pt x="409647" y="1040072"/>
                  <a:pt x="411764" y="1042189"/>
                </a:cubicBezTo>
                <a:cubicBezTo>
                  <a:pt x="416590" y="1047016"/>
                  <a:pt x="428802" y="1053548"/>
                  <a:pt x="428802" y="1053548"/>
                </a:cubicBezTo>
                <a:cubicBezTo>
                  <a:pt x="435941" y="1074963"/>
                  <a:pt x="425480" y="1049395"/>
                  <a:pt x="440161" y="1067746"/>
                </a:cubicBezTo>
                <a:cubicBezTo>
                  <a:pt x="442031" y="1070084"/>
                  <a:pt x="441547" y="1073649"/>
                  <a:pt x="443001" y="1076266"/>
                </a:cubicBezTo>
                <a:cubicBezTo>
                  <a:pt x="448460" y="1086093"/>
                  <a:pt x="454315" y="1094686"/>
                  <a:pt x="462879" y="1101823"/>
                </a:cubicBezTo>
                <a:cubicBezTo>
                  <a:pt x="465501" y="1104008"/>
                  <a:pt x="468558" y="1105610"/>
                  <a:pt x="471398" y="1107503"/>
                </a:cubicBezTo>
                <a:cubicBezTo>
                  <a:pt x="484985" y="1127883"/>
                  <a:pt x="477930" y="1119714"/>
                  <a:pt x="491277" y="1133061"/>
                </a:cubicBezTo>
                <a:cubicBezTo>
                  <a:pt x="493587" y="1139992"/>
                  <a:pt x="494289" y="1144592"/>
                  <a:pt x="499796" y="1150099"/>
                </a:cubicBezTo>
                <a:cubicBezTo>
                  <a:pt x="502209" y="1152512"/>
                  <a:pt x="505475" y="1153886"/>
                  <a:pt x="508315" y="1155779"/>
                </a:cubicBezTo>
                <a:cubicBezTo>
                  <a:pt x="514941" y="1165717"/>
                  <a:pt x="516836" y="1170925"/>
                  <a:pt x="531033" y="1175657"/>
                </a:cubicBezTo>
                <a:lnTo>
                  <a:pt x="548072" y="1181336"/>
                </a:lnTo>
                <a:cubicBezTo>
                  <a:pt x="562896" y="1191220"/>
                  <a:pt x="550007" y="1184188"/>
                  <a:pt x="570790" y="1189856"/>
                </a:cubicBezTo>
                <a:cubicBezTo>
                  <a:pt x="576566" y="1191431"/>
                  <a:pt x="582149" y="1193642"/>
                  <a:pt x="587828" y="1195535"/>
                </a:cubicBezTo>
                <a:cubicBezTo>
                  <a:pt x="590668" y="1196482"/>
                  <a:pt x="593443" y="1197649"/>
                  <a:pt x="596347" y="1198375"/>
                </a:cubicBezTo>
                <a:cubicBezTo>
                  <a:pt x="600133" y="1199322"/>
                  <a:pt x="603968" y="1200094"/>
                  <a:pt x="607706" y="1201215"/>
                </a:cubicBezTo>
                <a:cubicBezTo>
                  <a:pt x="613440" y="1202935"/>
                  <a:pt x="624745" y="1206894"/>
                  <a:pt x="624745" y="1206894"/>
                </a:cubicBezTo>
                <a:cubicBezTo>
                  <a:pt x="661662" y="1205947"/>
                  <a:pt x="698608" y="1205810"/>
                  <a:pt x="735495" y="1204054"/>
                </a:cubicBezTo>
                <a:cubicBezTo>
                  <a:pt x="740710" y="1203806"/>
                  <a:pt x="748984" y="1198690"/>
                  <a:pt x="752534" y="1195535"/>
                </a:cubicBezTo>
                <a:cubicBezTo>
                  <a:pt x="758537" y="1190199"/>
                  <a:pt x="761952" y="1181037"/>
                  <a:pt x="769572" y="1178497"/>
                </a:cubicBezTo>
                <a:cubicBezTo>
                  <a:pt x="781329" y="1174578"/>
                  <a:pt x="775600" y="1177317"/>
                  <a:pt x="786611" y="1169977"/>
                </a:cubicBezTo>
                <a:cubicBezTo>
                  <a:pt x="791659" y="1162404"/>
                  <a:pt x="793240" y="1158826"/>
                  <a:pt x="800809" y="1152939"/>
                </a:cubicBezTo>
                <a:cubicBezTo>
                  <a:pt x="806197" y="1148748"/>
                  <a:pt x="812168" y="1145366"/>
                  <a:pt x="817848" y="1141580"/>
                </a:cubicBezTo>
                <a:lnTo>
                  <a:pt x="834887" y="1130221"/>
                </a:lnTo>
                <a:lnTo>
                  <a:pt x="851925" y="1118862"/>
                </a:lnTo>
                <a:cubicBezTo>
                  <a:pt x="854765" y="1117915"/>
                  <a:pt x="857767" y="1117361"/>
                  <a:pt x="860444" y="1116022"/>
                </a:cubicBezTo>
                <a:cubicBezTo>
                  <a:pt x="871026" y="1110731"/>
                  <a:pt x="868057" y="1109678"/>
                  <a:pt x="877483" y="1101823"/>
                </a:cubicBezTo>
                <a:cubicBezTo>
                  <a:pt x="880105" y="1099638"/>
                  <a:pt x="883380" y="1098329"/>
                  <a:pt x="886002" y="1096144"/>
                </a:cubicBezTo>
                <a:cubicBezTo>
                  <a:pt x="898162" y="1086011"/>
                  <a:pt x="891764" y="1088796"/>
                  <a:pt x="903041" y="1076266"/>
                </a:cubicBezTo>
                <a:cubicBezTo>
                  <a:pt x="908414" y="1070296"/>
                  <a:pt x="920079" y="1059227"/>
                  <a:pt x="920079" y="1059227"/>
                </a:cubicBezTo>
                <a:cubicBezTo>
                  <a:pt x="921026" y="1056387"/>
                  <a:pt x="921259" y="1053199"/>
                  <a:pt x="922919" y="1050708"/>
                </a:cubicBezTo>
                <a:cubicBezTo>
                  <a:pt x="927292" y="1044149"/>
                  <a:pt x="933672" y="1040700"/>
                  <a:pt x="939957" y="1036509"/>
                </a:cubicBezTo>
                <a:cubicBezTo>
                  <a:pt x="943743" y="1030830"/>
                  <a:pt x="949158" y="1025946"/>
                  <a:pt x="951316" y="1019471"/>
                </a:cubicBezTo>
                <a:cubicBezTo>
                  <a:pt x="956524" y="1003848"/>
                  <a:pt x="951026" y="1017849"/>
                  <a:pt x="959836" y="1002432"/>
                </a:cubicBezTo>
                <a:cubicBezTo>
                  <a:pt x="961936" y="998757"/>
                  <a:pt x="963415" y="994748"/>
                  <a:pt x="965515" y="991073"/>
                </a:cubicBezTo>
                <a:cubicBezTo>
                  <a:pt x="968950" y="985062"/>
                  <a:pt x="974045" y="978085"/>
                  <a:pt x="979714" y="974035"/>
                </a:cubicBezTo>
                <a:cubicBezTo>
                  <a:pt x="983159" y="971574"/>
                  <a:pt x="987287" y="970248"/>
                  <a:pt x="991073" y="968355"/>
                </a:cubicBezTo>
                <a:cubicBezTo>
                  <a:pt x="1022652" y="978883"/>
                  <a:pt x="973733" y="963435"/>
                  <a:pt x="1062067" y="974035"/>
                </a:cubicBezTo>
                <a:cubicBezTo>
                  <a:pt x="1065455" y="974442"/>
                  <a:pt x="1067809" y="977730"/>
                  <a:pt x="1070586" y="979714"/>
                </a:cubicBezTo>
                <a:cubicBezTo>
                  <a:pt x="1073582" y="981854"/>
                  <a:pt x="1086007" y="991684"/>
                  <a:pt x="1090464" y="993913"/>
                </a:cubicBezTo>
                <a:cubicBezTo>
                  <a:pt x="1093141" y="995252"/>
                  <a:pt x="1096143" y="995806"/>
                  <a:pt x="1098983" y="996753"/>
                </a:cubicBezTo>
                <a:cubicBezTo>
                  <a:pt x="1113662" y="1018771"/>
                  <a:pt x="1103867" y="1011633"/>
                  <a:pt x="1127381" y="1019471"/>
                </a:cubicBezTo>
                <a:lnTo>
                  <a:pt x="1135900" y="1022310"/>
                </a:lnTo>
                <a:lnTo>
                  <a:pt x="1144419" y="1025150"/>
                </a:lnTo>
                <a:lnTo>
                  <a:pt x="1527786" y="1022310"/>
                </a:lnTo>
                <a:cubicBezTo>
                  <a:pt x="1531125" y="1022262"/>
                  <a:pt x="1545962" y="1018902"/>
                  <a:pt x="1550504" y="1016631"/>
                </a:cubicBezTo>
                <a:cubicBezTo>
                  <a:pt x="1553557" y="1015105"/>
                  <a:pt x="1556060" y="1012644"/>
                  <a:pt x="1559023" y="1010951"/>
                </a:cubicBezTo>
                <a:cubicBezTo>
                  <a:pt x="1562698" y="1008851"/>
                  <a:pt x="1566752" y="1007450"/>
                  <a:pt x="1570382" y="1005272"/>
                </a:cubicBezTo>
                <a:cubicBezTo>
                  <a:pt x="1576235" y="1001760"/>
                  <a:pt x="1580945" y="996072"/>
                  <a:pt x="1587421" y="993913"/>
                </a:cubicBezTo>
                <a:cubicBezTo>
                  <a:pt x="1590261" y="992966"/>
                  <a:pt x="1593323" y="992527"/>
                  <a:pt x="1595940" y="991073"/>
                </a:cubicBezTo>
                <a:cubicBezTo>
                  <a:pt x="1625232" y="974799"/>
                  <a:pt x="1602221" y="983300"/>
                  <a:pt x="1621498" y="976874"/>
                </a:cubicBezTo>
                <a:cubicBezTo>
                  <a:pt x="1627779" y="970593"/>
                  <a:pt x="1630628" y="966630"/>
                  <a:pt x="1638536" y="962676"/>
                </a:cubicBezTo>
                <a:cubicBezTo>
                  <a:pt x="1641213" y="961337"/>
                  <a:pt x="1644215" y="960783"/>
                  <a:pt x="1647055" y="959836"/>
                </a:cubicBezTo>
                <a:cubicBezTo>
                  <a:pt x="1653681" y="953210"/>
                  <a:pt x="1661737" y="947755"/>
                  <a:pt x="1666934" y="939958"/>
                </a:cubicBezTo>
                <a:cubicBezTo>
                  <a:pt x="1668827" y="937118"/>
                  <a:pt x="1670345" y="933989"/>
                  <a:pt x="1672613" y="931438"/>
                </a:cubicBezTo>
                <a:cubicBezTo>
                  <a:pt x="1677949" y="925435"/>
                  <a:pt x="1684833" y="920826"/>
                  <a:pt x="1689652" y="914400"/>
                </a:cubicBezTo>
                <a:cubicBezTo>
                  <a:pt x="1692492" y="910614"/>
                  <a:pt x="1695457" y="906918"/>
                  <a:pt x="1698171" y="903041"/>
                </a:cubicBezTo>
                <a:cubicBezTo>
                  <a:pt x="1698190" y="903014"/>
                  <a:pt x="1712360" y="881756"/>
                  <a:pt x="1715209" y="877483"/>
                </a:cubicBezTo>
                <a:lnTo>
                  <a:pt x="1720889" y="868964"/>
                </a:lnTo>
                <a:cubicBezTo>
                  <a:pt x="1722782" y="866124"/>
                  <a:pt x="1724154" y="862857"/>
                  <a:pt x="1726568" y="860444"/>
                </a:cubicBezTo>
                <a:cubicBezTo>
                  <a:pt x="1729408" y="857604"/>
                  <a:pt x="1732517" y="855010"/>
                  <a:pt x="1735088" y="851925"/>
                </a:cubicBezTo>
                <a:cubicBezTo>
                  <a:pt x="1748575" y="835741"/>
                  <a:pt x="1734296" y="851182"/>
                  <a:pt x="1743607" y="834887"/>
                </a:cubicBezTo>
                <a:cubicBezTo>
                  <a:pt x="1745955" y="830778"/>
                  <a:pt x="1748779" y="826875"/>
                  <a:pt x="1752126" y="823528"/>
                </a:cubicBezTo>
                <a:cubicBezTo>
                  <a:pt x="1755473" y="820181"/>
                  <a:pt x="1760138" y="818355"/>
                  <a:pt x="1763485" y="815008"/>
                </a:cubicBezTo>
                <a:cubicBezTo>
                  <a:pt x="1765898" y="812595"/>
                  <a:pt x="1766898" y="809040"/>
                  <a:pt x="1769165" y="806489"/>
                </a:cubicBezTo>
                <a:cubicBezTo>
                  <a:pt x="1774501" y="800486"/>
                  <a:pt x="1780524" y="795130"/>
                  <a:pt x="1786203" y="789451"/>
                </a:cubicBezTo>
                <a:lnTo>
                  <a:pt x="1794723" y="780931"/>
                </a:lnTo>
                <a:cubicBezTo>
                  <a:pt x="1797563" y="778091"/>
                  <a:pt x="1801014" y="775753"/>
                  <a:pt x="1803242" y="772412"/>
                </a:cubicBezTo>
                <a:cubicBezTo>
                  <a:pt x="1807028" y="766733"/>
                  <a:pt x="1809774" y="760201"/>
                  <a:pt x="1814601" y="755374"/>
                </a:cubicBezTo>
                <a:cubicBezTo>
                  <a:pt x="1818387" y="751588"/>
                  <a:pt x="1822615" y="748196"/>
                  <a:pt x="1825960" y="744015"/>
                </a:cubicBezTo>
                <a:cubicBezTo>
                  <a:pt x="1830224" y="738685"/>
                  <a:pt x="1833533" y="732656"/>
                  <a:pt x="1837319" y="726976"/>
                </a:cubicBezTo>
                <a:cubicBezTo>
                  <a:pt x="1839212" y="724136"/>
                  <a:pt x="1840158" y="720350"/>
                  <a:pt x="1842998" y="718457"/>
                </a:cubicBezTo>
                <a:lnTo>
                  <a:pt x="1851518" y="712777"/>
                </a:lnTo>
                <a:cubicBezTo>
                  <a:pt x="1854512" y="705292"/>
                  <a:pt x="1858453" y="694298"/>
                  <a:pt x="1862877" y="687220"/>
                </a:cubicBezTo>
                <a:cubicBezTo>
                  <a:pt x="1865385" y="683207"/>
                  <a:pt x="1868682" y="679738"/>
                  <a:pt x="1871396" y="675861"/>
                </a:cubicBezTo>
                <a:cubicBezTo>
                  <a:pt x="1875310" y="670269"/>
                  <a:pt x="1878969" y="664502"/>
                  <a:pt x="1882755" y="658822"/>
                </a:cubicBezTo>
                <a:cubicBezTo>
                  <a:pt x="1884648" y="655982"/>
                  <a:pt x="1886386" y="653033"/>
                  <a:pt x="1888434" y="650303"/>
                </a:cubicBezTo>
                <a:cubicBezTo>
                  <a:pt x="1894114" y="642730"/>
                  <a:pt x="1900222" y="635461"/>
                  <a:pt x="1905473" y="627585"/>
                </a:cubicBezTo>
                <a:cubicBezTo>
                  <a:pt x="1907366" y="624745"/>
                  <a:pt x="1909168" y="621843"/>
                  <a:pt x="1911152" y="619066"/>
                </a:cubicBezTo>
                <a:cubicBezTo>
                  <a:pt x="1915518" y="612954"/>
                  <a:pt x="1921519" y="605893"/>
                  <a:pt x="1925351" y="599187"/>
                </a:cubicBezTo>
                <a:cubicBezTo>
                  <a:pt x="1934219" y="583668"/>
                  <a:pt x="1926169" y="591069"/>
                  <a:pt x="1939550" y="582149"/>
                </a:cubicBezTo>
                <a:cubicBezTo>
                  <a:pt x="1940497" y="579309"/>
                  <a:pt x="1940957" y="576258"/>
                  <a:pt x="1942390" y="573630"/>
                </a:cubicBezTo>
                <a:cubicBezTo>
                  <a:pt x="1946666" y="565790"/>
                  <a:pt x="1953764" y="559384"/>
                  <a:pt x="1956588" y="550912"/>
                </a:cubicBezTo>
                <a:cubicBezTo>
                  <a:pt x="1957535" y="548072"/>
                  <a:pt x="1958702" y="545296"/>
                  <a:pt x="1959428" y="542392"/>
                </a:cubicBezTo>
                <a:cubicBezTo>
                  <a:pt x="1960599" y="537710"/>
                  <a:pt x="1960742" y="532773"/>
                  <a:pt x="1962268" y="528194"/>
                </a:cubicBezTo>
                <a:cubicBezTo>
                  <a:pt x="1963607" y="524178"/>
                  <a:pt x="1966228" y="520703"/>
                  <a:pt x="1967947" y="516835"/>
                </a:cubicBezTo>
                <a:cubicBezTo>
                  <a:pt x="1970017" y="512177"/>
                  <a:pt x="1972015" y="507472"/>
                  <a:pt x="1973627" y="502636"/>
                </a:cubicBezTo>
                <a:cubicBezTo>
                  <a:pt x="1974861" y="498933"/>
                  <a:pt x="1975346" y="495015"/>
                  <a:pt x="1976467" y="491277"/>
                </a:cubicBezTo>
                <a:cubicBezTo>
                  <a:pt x="1978187" y="485543"/>
                  <a:pt x="1980253" y="479918"/>
                  <a:pt x="1982146" y="474238"/>
                </a:cubicBezTo>
                <a:cubicBezTo>
                  <a:pt x="1983093" y="471398"/>
                  <a:pt x="1983647" y="468396"/>
                  <a:pt x="1984986" y="465719"/>
                </a:cubicBezTo>
                <a:cubicBezTo>
                  <a:pt x="1986879" y="461933"/>
                  <a:pt x="1989179" y="458324"/>
                  <a:pt x="1990665" y="454360"/>
                </a:cubicBezTo>
                <a:cubicBezTo>
                  <a:pt x="1992035" y="450706"/>
                  <a:pt x="1992383" y="446739"/>
                  <a:pt x="1993505" y="443001"/>
                </a:cubicBezTo>
                <a:cubicBezTo>
                  <a:pt x="1995225" y="437267"/>
                  <a:pt x="1997733" y="431770"/>
                  <a:pt x="1999185" y="425962"/>
                </a:cubicBezTo>
                <a:cubicBezTo>
                  <a:pt x="2000131" y="422176"/>
                  <a:pt x="2000487" y="418190"/>
                  <a:pt x="2002024" y="414603"/>
                </a:cubicBezTo>
                <a:cubicBezTo>
                  <a:pt x="2003368" y="411466"/>
                  <a:pt x="2005811" y="408924"/>
                  <a:pt x="2007704" y="406084"/>
                </a:cubicBezTo>
                <a:cubicBezTo>
                  <a:pt x="2016583" y="370572"/>
                  <a:pt x="2005236" y="414724"/>
                  <a:pt x="2013383" y="386206"/>
                </a:cubicBezTo>
                <a:cubicBezTo>
                  <a:pt x="2014455" y="382453"/>
                  <a:pt x="2015151" y="378600"/>
                  <a:pt x="2016223" y="374847"/>
                </a:cubicBezTo>
                <a:cubicBezTo>
                  <a:pt x="2017045" y="371969"/>
                  <a:pt x="2018337" y="369232"/>
                  <a:pt x="2019063" y="366328"/>
                </a:cubicBezTo>
                <a:cubicBezTo>
                  <a:pt x="2020234" y="361645"/>
                  <a:pt x="2020633" y="356786"/>
                  <a:pt x="2021903" y="352129"/>
                </a:cubicBezTo>
                <a:cubicBezTo>
                  <a:pt x="2023478" y="346353"/>
                  <a:pt x="2027582" y="335090"/>
                  <a:pt x="2027582" y="335090"/>
                </a:cubicBezTo>
                <a:cubicBezTo>
                  <a:pt x="2028529" y="322785"/>
                  <a:pt x="2029652" y="310492"/>
                  <a:pt x="2030422" y="298174"/>
                </a:cubicBezTo>
                <a:cubicBezTo>
                  <a:pt x="2031546" y="280199"/>
                  <a:pt x="2031632" y="262154"/>
                  <a:pt x="2033262" y="244218"/>
                </a:cubicBezTo>
                <a:cubicBezTo>
                  <a:pt x="2033533" y="241237"/>
                  <a:pt x="2035313" y="238587"/>
                  <a:pt x="2036101" y="235699"/>
                </a:cubicBezTo>
                <a:cubicBezTo>
                  <a:pt x="2038155" y="228168"/>
                  <a:pt x="2039888" y="220554"/>
                  <a:pt x="2041781" y="212981"/>
                </a:cubicBezTo>
                <a:cubicBezTo>
                  <a:pt x="2042728" y="209195"/>
                  <a:pt x="2043387" y="205325"/>
                  <a:pt x="2044621" y="201622"/>
                </a:cubicBezTo>
                <a:lnTo>
                  <a:pt x="2050300" y="184584"/>
                </a:lnTo>
                <a:cubicBezTo>
                  <a:pt x="2051247" y="181744"/>
                  <a:pt x="2052414" y="178968"/>
                  <a:pt x="2053140" y="176064"/>
                </a:cubicBezTo>
                <a:cubicBezTo>
                  <a:pt x="2058506" y="154599"/>
                  <a:pt x="2059967" y="152627"/>
                  <a:pt x="2061659" y="130628"/>
                </a:cubicBezTo>
                <a:cubicBezTo>
                  <a:pt x="2063914" y="101310"/>
                  <a:pt x="2058041" y="70492"/>
                  <a:pt x="2067339" y="42596"/>
                </a:cubicBezTo>
                <a:lnTo>
                  <a:pt x="2075858" y="17038"/>
                </a:lnTo>
                <a:lnTo>
                  <a:pt x="2078698" y="8519"/>
                </a:lnTo>
                <a:lnTo>
                  <a:pt x="2081537" y="0"/>
                </a:lnTo>
              </a:path>
            </a:pathLst>
          </a:cu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es-AR"/>
          </a:p>
        </p:txBody>
      </p:sp>
      <p:cxnSp>
        <p:nvCxnSpPr>
          <p:cNvPr id="8" name="Conector recto 7">
            <a:extLst>
              <a:ext uri="{FF2B5EF4-FFF2-40B4-BE49-F238E27FC236}">
                <a16:creationId xmlns:a16="http://schemas.microsoft.com/office/drawing/2014/main" id="{D5061BE5-BC9C-6ACC-2613-827B0E8342B4}"/>
              </a:ext>
            </a:extLst>
          </p:cNvPr>
          <p:cNvCxnSpPr/>
          <p:nvPr/>
        </p:nvCxnSpPr>
        <p:spPr>
          <a:xfrm>
            <a:off x="1350818" y="4169468"/>
            <a:ext cx="0" cy="305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8" name="Text Box 20">
            <a:extLst>
              <a:ext uri="{FF2B5EF4-FFF2-40B4-BE49-F238E27FC236}">
                <a16:creationId xmlns:a16="http://schemas.microsoft.com/office/drawing/2014/main" id="{A6C6CBA7-6A42-41A8-ADAB-0011A4723CB1}"/>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VENTAS</a:t>
            </a:r>
          </a:p>
        </p:txBody>
      </p:sp>
      <p:sp>
        <p:nvSpPr>
          <p:cNvPr id="12309" name="Rectangle 21">
            <a:extLst>
              <a:ext uri="{FF2B5EF4-FFF2-40B4-BE49-F238E27FC236}">
                <a16:creationId xmlns:a16="http://schemas.microsoft.com/office/drawing/2014/main" id="{63C5C341-07C2-47BD-A9A0-A2F323E6234D}"/>
              </a:ext>
            </a:extLst>
          </p:cNvPr>
          <p:cNvSpPr>
            <a:spLocks noChangeArrowheads="1"/>
          </p:cNvSpPr>
          <p:nvPr/>
        </p:nvSpPr>
        <p:spPr bwMode="auto">
          <a:xfrm>
            <a:off x="1207293" y="1290709"/>
            <a:ext cx="9777413" cy="1509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siguiente paso consiste en transformar el Plan de Ventas en Programa de Ventas. Si bien los planes se expresan en unidades anuales de producto, los programas distribuyen esta cifra en forma periódica, en general mes a mes, con la finalidad de analizar las necesidades de almacenamiento de stocks. </a:t>
            </a:r>
          </a:p>
        </p:txBody>
      </p:sp>
      <p:sp>
        <p:nvSpPr>
          <p:cNvPr id="12310" name="Rectangle 22">
            <a:extLst>
              <a:ext uri="{FF2B5EF4-FFF2-40B4-BE49-F238E27FC236}">
                <a16:creationId xmlns:a16="http://schemas.microsoft.com/office/drawing/2014/main" id="{8CBCD46B-24B4-4474-A982-2CC6CDCB1C28}"/>
              </a:ext>
            </a:extLst>
          </p:cNvPr>
          <p:cNvSpPr>
            <a:spLocks noChangeArrowheads="1"/>
          </p:cNvSpPr>
          <p:nvPr/>
        </p:nvSpPr>
        <p:spPr bwMode="auto">
          <a:xfrm>
            <a:off x="1207292" y="3077851"/>
            <a:ext cx="9777413" cy="196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Se debe tener en cuenta que ciertos bienes tienen ventas con marcadas estacionalidades, y que aunque se procura mantener un nivel constante de actividad, habrá máximos y mínimos en el stock de productos terminados que requieren espacios suficientes en los almacenes para establecer su factibilidad, para evitar el quiebre de stocks durante los meses de mayor actividad. </a:t>
            </a:r>
          </a:p>
        </p:txBody>
      </p:sp>
      <p:sp>
        <p:nvSpPr>
          <p:cNvPr id="5" name="4 CuadroTexto">
            <a:extLst>
              <a:ext uri="{FF2B5EF4-FFF2-40B4-BE49-F238E27FC236}">
                <a16:creationId xmlns:a16="http://schemas.microsoft.com/office/drawing/2014/main" id="{877B7AB0-C1D4-4D72-8DF4-9985A3114DBE}"/>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13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9" grpId="0"/>
      <p:bldP spid="123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 name="Text Box 10">
            <a:extLst>
              <a:ext uri="{FF2B5EF4-FFF2-40B4-BE49-F238E27FC236}">
                <a16:creationId xmlns:a16="http://schemas.microsoft.com/office/drawing/2014/main" id="{3B7C1B7F-F0AC-4D3B-9D2B-76F03E932D0A}"/>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VENTAS</a:t>
            </a:r>
          </a:p>
        </p:txBody>
      </p:sp>
      <p:grpSp>
        <p:nvGrpSpPr>
          <p:cNvPr id="16387" name="Group 11">
            <a:extLst>
              <a:ext uri="{FF2B5EF4-FFF2-40B4-BE49-F238E27FC236}">
                <a16:creationId xmlns:a16="http://schemas.microsoft.com/office/drawing/2014/main" id="{40984AD9-DC21-483D-8707-6573E69BC415}"/>
              </a:ext>
            </a:extLst>
          </p:cNvPr>
          <p:cNvGrpSpPr>
            <a:grpSpLocks/>
          </p:cNvGrpSpPr>
          <p:nvPr/>
        </p:nvGrpSpPr>
        <p:grpSpPr bwMode="auto">
          <a:xfrm>
            <a:off x="2233510" y="1192547"/>
            <a:ext cx="8353425" cy="4681537"/>
            <a:chOff x="2445" y="4351"/>
            <a:chExt cx="8794" cy="5060"/>
          </a:xfrm>
        </p:grpSpPr>
        <p:sp>
          <p:nvSpPr>
            <p:cNvPr id="16389" name="AutoShape 12">
              <a:extLst>
                <a:ext uri="{FF2B5EF4-FFF2-40B4-BE49-F238E27FC236}">
                  <a16:creationId xmlns:a16="http://schemas.microsoft.com/office/drawing/2014/main" id="{DC375352-121B-4A34-9B1F-B54AC5088A72}"/>
                </a:ext>
              </a:extLst>
            </p:cNvPr>
            <p:cNvSpPr>
              <a:spLocks noChangeArrowheads="1"/>
            </p:cNvSpPr>
            <p:nvPr/>
          </p:nvSpPr>
          <p:spPr bwMode="auto">
            <a:xfrm>
              <a:off x="2445" y="4351"/>
              <a:ext cx="8794" cy="5060"/>
            </a:xfrm>
            <a:prstGeom prst="rect">
              <a:avLst/>
            </a:prstGeom>
            <a:solidFill>
              <a:srgbClr val="FFFF99"/>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dirty="0"/>
            </a:p>
          </p:txBody>
        </p:sp>
        <p:sp>
          <p:nvSpPr>
            <p:cNvPr id="16390" name="Oval 13">
              <a:extLst>
                <a:ext uri="{FF2B5EF4-FFF2-40B4-BE49-F238E27FC236}">
                  <a16:creationId xmlns:a16="http://schemas.microsoft.com/office/drawing/2014/main" id="{FB1A1B17-C798-4D2F-9164-B6C0BA63D2F4}"/>
                </a:ext>
              </a:extLst>
            </p:cNvPr>
            <p:cNvSpPr>
              <a:spLocks noChangeArrowheads="1"/>
            </p:cNvSpPr>
            <p:nvPr/>
          </p:nvSpPr>
          <p:spPr bwMode="auto">
            <a:xfrm>
              <a:off x="4581" y="5533"/>
              <a:ext cx="2700" cy="2520"/>
            </a:xfrm>
            <a:prstGeom prst="ellipse">
              <a:avLst/>
            </a:prstGeom>
            <a:solidFill>
              <a:srgbClr val="CCFFFF"/>
            </a:solidFill>
            <a:ln w="381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16391" name="Oval 14">
              <a:extLst>
                <a:ext uri="{FF2B5EF4-FFF2-40B4-BE49-F238E27FC236}">
                  <a16:creationId xmlns:a16="http://schemas.microsoft.com/office/drawing/2014/main" id="{991A3205-DB85-4339-A3DD-936B67FCD9F1}"/>
                </a:ext>
              </a:extLst>
            </p:cNvPr>
            <p:cNvSpPr>
              <a:spLocks noChangeArrowheads="1"/>
            </p:cNvSpPr>
            <p:nvPr/>
          </p:nvSpPr>
          <p:spPr bwMode="auto">
            <a:xfrm>
              <a:off x="4728" y="5777"/>
              <a:ext cx="2400" cy="2748"/>
            </a:xfrm>
            <a:prstGeom prst="ellipse">
              <a:avLst/>
            </a:prstGeom>
            <a:solidFill>
              <a:srgbClr val="FF0000">
                <a:alpha val="25098"/>
              </a:srgbClr>
            </a:solidFill>
            <a:ln w="2540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500" b="1" dirty="0">
                  <a:latin typeface="Times New Roman" panose="02020603050405020304" pitchFamily="18" charset="0"/>
                </a:rPr>
                <a:t>    11   12    1</a:t>
              </a:r>
            </a:p>
            <a:p>
              <a:pPr eaLnBrk="1" hangingPunct="1"/>
              <a:r>
                <a:rPr lang="es-ES_tradnl" altLang="es-AR" sz="1500" b="1" dirty="0">
                  <a:latin typeface="Times New Roman" panose="02020603050405020304" pitchFamily="18" charset="0"/>
                </a:rPr>
                <a:t>10                     2</a:t>
              </a:r>
            </a:p>
            <a:p>
              <a:pPr eaLnBrk="1" hangingPunct="1"/>
              <a:r>
                <a:rPr lang="es-ES_tradnl" altLang="es-AR" sz="1500" b="1" dirty="0">
                  <a:latin typeface="Times New Roman" panose="02020603050405020304" pitchFamily="18" charset="0"/>
                </a:rPr>
                <a:t>  9                       3 </a:t>
              </a:r>
            </a:p>
            <a:p>
              <a:pPr eaLnBrk="1" hangingPunct="1"/>
              <a:r>
                <a:rPr lang="es-ES_tradnl" altLang="es-AR" sz="1500" b="1" dirty="0">
                  <a:latin typeface="Times New Roman" panose="02020603050405020304" pitchFamily="18" charset="0"/>
                </a:rPr>
                <a:t>8                    4</a:t>
              </a:r>
            </a:p>
            <a:p>
              <a:pPr eaLnBrk="1" hangingPunct="1"/>
              <a:r>
                <a:rPr lang="es-ES_tradnl" altLang="es-AR" sz="1500" b="1" dirty="0">
                  <a:latin typeface="Times New Roman" panose="02020603050405020304" pitchFamily="18" charset="0"/>
                </a:rPr>
                <a:t>   7               5</a:t>
              </a:r>
            </a:p>
            <a:p>
              <a:pPr eaLnBrk="1" hangingPunct="1"/>
              <a:r>
                <a:rPr lang="es-ES_tradnl" altLang="es-AR" sz="1500" b="1" dirty="0">
                  <a:latin typeface="Times New Roman" panose="02020603050405020304" pitchFamily="18" charset="0"/>
                </a:rPr>
                <a:t>             6</a:t>
              </a:r>
              <a:endParaRPr lang="es-ES" altLang="es-AR" sz="1500" b="1" dirty="0"/>
            </a:p>
          </p:txBody>
        </p:sp>
        <p:sp>
          <p:nvSpPr>
            <p:cNvPr id="16392" name="Line 15">
              <a:extLst>
                <a:ext uri="{FF2B5EF4-FFF2-40B4-BE49-F238E27FC236}">
                  <a16:creationId xmlns:a16="http://schemas.microsoft.com/office/drawing/2014/main" id="{2F1B74A2-612E-4306-A872-6CF96AB68780}"/>
                </a:ext>
              </a:extLst>
            </p:cNvPr>
            <p:cNvSpPr>
              <a:spLocks noChangeShapeType="1"/>
            </p:cNvSpPr>
            <p:nvPr/>
          </p:nvSpPr>
          <p:spPr bwMode="auto">
            <a:xfrm>
              <a:off x="4581" y="6793"/>
              <a:ext cx="270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6393" name="Line 16">
              <a:extLst>
                <a:ext uri="{FF2B5EF4-FFF2-40B4-BE49-F238E27FC236}">
                  <a16:creationId xmlns:a16="http://schemas.microsoft.com/office/drawing/2014/main" id="{EA4C1F69-D2E4-4E4F-AD65-20C62D703392}"/>
                </a:ext>
              </a:extLst>
            </p:cNvPr>
            <p:cNvSpPr>
              <a:spLocks noChangeShapeType="1"/>
            </p:cNvSpPr>
            <p:nvPr/>
          </p:nvSpPr>
          <p:spPr bwMode="auto">
            <a:xfrm>
              <a:off x="5841" y="4993"/>
              <a:ext cx="1" cy="37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6394" name="Line 17">
              <a:extLst>
                <a:ext uri="{FF2B5EF4-FFF2-40B4-BE49-F238E27FC236}">
                  <a16:creationId xmlns:a16="http://schemas.microsoft.com/office/drawing/2014/main" id="{6C07EE20-287E-4F8C-B2B7-A75976F81AC8}"/>
                </a:ext>
              </a:extLst>
            </p:cNvPr>
            <p:cNvSpPr>
              <a:spLocks noChangeShapeType="1"/>
            </p:cNvSpPr>
            <p:nvPr/>
          </p:nvSpPr>
          <p:spPr bwMode="auto">
            <a:xfrm rot="20609484">
              <a:off x="4953" y="5887"/>
              <a:ext cx="1890" cy="18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6395" name="Line 18">
              <a:extLst>
                <a:ext uri="{FF2B5EF4-FFF2-40B4-BE49-F238E27FC236}">
                  <a16:creationId xmlns:a16="http://schemas.microsoft.com/office/drawing/2014/main" id="{30E156C8-9F1E-415C-A98E-9775E2001CBA}"/>
                </a:ext>
              </a:extLst>
            </p:cNvPr>
            <p:cNvSpPr>
              <a:spLocks noChangeShapeType="1"/>
            </p:cNvSpPr>
            <p:nvPr/>
          </p:nvSpPr>
          <p:spPr bwMode="auto">
            <a:xfrm rot="20864393" flipV="1">
              <a:off x="4640" y="6371"/>
              <a:ext cx="2547" cy="7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6396" name="Line 19">
              <a:extLst>
                <a:ext uri="{FF2B5EF4-FFF2-40B4-BE49-F238E27FC236}">
                  <a16:creationId xmlns:a16="http://schemas.microsoft.com/office/drawing/2014/main" id="{DABB6714-61A5-47BB-A93B-2EFDB95B0F93}"/>
                </a:ext>
              </a:extLst>
            </p:cNvPr>
            <p:cNvSpPr>
              <a:spLocks noChangeShapeType="1"/>
            </p:cNvSpPr>
            <p:nvPr/>
          </p:nvSpPr>
          <p:spPr bwMode="auto">
            <a:xfrm rot="21151794">
              <a:off x="5336" y="5654"/>
              <a:ext cx="1086" cy="236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6397" name="Line 20">
              <a:extLst>
                <a:ext uri="{FF2B5EF4-FFF2-40B4-BE49-F238E27FC236}">
                  <a16:creationId xmlns:a16="http://schemas.microsoft.com/office/drawing/2014/main" id="{9B3421E4-6CBF-44D2-8B9D-F745AE5390AE}"/>
                </a:ext>
              </a:extLst>
            </p:cNvPr>
            <p:cNvSpPr>
              <a:spLocks noChangeShapeType="1"/>
            </p:cNvSpPr>
            <p:nvPr/>
          </p:nvSpPr>
          <p:spPr bwMode="auto">
            <a:xfrm rot="255592" flipH="1">
              <a:off x="5362" y="5541"/>
              <a:ext cx="1048" cy="23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16398" name="Line 21">
              <a:extLst>
                <a:ext uri="{FF2B5EF4-FFF2-40B4-BE49-F238E27FC236}">
                  <a16:creationId xmlns:a16="http://schemas.microsoft.com/office/drawing/2014/main" id="{7272B7E1-96D9-4AEB-BC57-417A261542F9}"/>
                </a:ext>
              </a:extLst>
            </p:cNvPr>
            <p:cNvSpPr>
              <a:spLocks noChangeShapeType="1"/>
            </p:cNvSpPr>
            <p:nvPr/>
          </p:nvSpPr>
          <p:spPr bwMode="auto">
            <a:xfrm rot="21597949" flipH="1">
              <a:off x="5118" y="6793"/>
              <a:ext cx="723" cy="1364"/>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399" name="Line 22">
              <a:extLst>
                <a:ext uri="{FF2B5EF4-FFF2-40B4-BE49-F238E27FC236}">
                  <a16:creationId xmlns:a16="http://schemas.microsoft.com/office/drawing/2014/main" id="{A849CD67-2B90-4992-9E3A-1BA303421A7D}"/>
                </a:ext>
              </a:extLst>
            </p:cNvPr>
            <p:cNvSpPr>
              <a:spLocks noChangeShapeType="1"/>
            </p:cNvSpPr>
            <p:nvPr/>
          </p:nvSpPr>
          <p:spPr bwMode="auto">
            <a:xfrm>
              <a:off x="5841" y="6793"/>
              <a:ext cx="0" cy="1714"/>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0" name="Line 23">
              <a:extLst>
                <a:ext uri="{FF2B5EF4-FFF2-40B4-BE49-F238E27FC236}">
                  <a16:creationId xmlns:a16="http://schemas.microsoft.com/office/drawing/2014/main" id="{21B4522A-9545-4D0D-9874-E8B7FA9F2CA9}"/>
                </a:ext>
              </a:extLst>
            </p:cNvPr>
            <p:cNvSpPr>
              <a:spLocks noChangeShapeType="1"/>
            </p:cNvSpPr>
            <p:nvPr/>
          </p:nvSpPr>
          <p:spPr bwMode="auto">
            <a:xfrm>
              <a:off x="5851" y="6793"/>
              <a:ext cx="869" cy="1386"/>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1" name="Line 24">
              <a:extLst>
                <a:ext uri="{FF2B5EF4-FFF2-40B4-BE49-F238E27FC236}">
                  <a16:creationId xmlns:a16="http://schemas.microsoft.com/office/drawing/2014/main" id="{D765B11B-5C23-40F1-B585-FF3E1EF0D56F}"/>
                </a:ext>
              </a:extLst>
            </p:cNvPr>
            <p:cNvSpPr>
              <a:spLocks noChangeShapeType="1"/>
            </p:cNvSpPr>
            <p:nvPr/>
          </p:nvSpPr>
          <p:spPr bwMode="auto">
            <a:xfrm rot="2286689" flipH="1">
              <a:off x="5059" y="6517"/>
              <a:ext cx="486" cy="1159"/>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2" name="Line 25">
              <a:extLst>
                <a:ext uri="{FF2B5EF4-FFF2-40B4-BE49-F238E27FC236}">
                  <a16:creationId xmlns:a16="http://schemas.microsoft.com/office/drawing/2014/main" id="{2BBB13C4-BD03-4FE4-A4DB-CE285B314BF8}"/>
                </a:ext>
              </a:extLst>
            </p:cNvPr>
            <p:cNvSpPr>
              <a:spLocks noChangeShapeType="1"/>
            </p:cNvSpPr>
            <p:nvPr/>
          </p:nvSpPr>
          <p:spPr bwMode="auto">
            <a:xfrm rot="21597949">
              <a:off x="5841" y="6800"/>
              <a:ext cx="1238" cy="65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3" name="Line 26">
              <a:extLst>
                <a:ext uri="{FF2B5EF4-FFF2-40B4-BE49-F238E27FC236}">
                  <a16:creationId xmlns:a16="http://schemas.microsoft.com/office/drawing/2014/main" id="{785019C3-C8DD-45E9-9C42-BF6BFF01E6B5}"/>
                </a:ext>
              </a:extLst>
            </p:cNvPr>
            <p:cNvSpPr>
              <a:spLocks noChangeShapeType="1"/>
            </p:cNvSpPr>
            <p:nvPr/>
          </p:nvSpPr>
          <p:spPr bwMode="auto">
            <a:xfrm rot="-2051">
              <a:off x="5898" y="6793"/>
              <a:ext cx="1202" cy="1"/>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4" name="Line 27">
              <a:extLst>
                <a:ext uri="{FF2B5EF4-FFF2-40B4-BE49-F238E27FC236}">
                  <a16:creationId xmlns:a16="http://schemas.microsoft.com/office/drawing/2014/main" id="{D8D72C4B-20ED-44AA-9F20-16E25D7A97FB}"/>
                </a:ext>
              </a:extLst>
            </p:cNvPr>
            <p:cNvSpPr>
              <a:spLocks noChangeShapeType="1"/>
            </p:cNvSpPr>
            <p:nvPr/>
          </p:nvSpPr>
          <p:spPr bwMode="auto">
            <a:xfrm rot="2297504" flipH="1">
              <a:off x="4902" y="6463"/>
              <a:ext cx="814" cy="66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5" name="Line 28">
              <a:extLst>
                <a:ext uri="{FF2B5EF4-FFF2-40B4-BE49-F238E27FC236}">
                  <a16:creationId xmlns:a16="http://schemas.microsoft.com/office/drawing/2014/main" id="{351A6561-580C-4A56-8A45-EBC4C91D6FE8}"/>
                </a:ext>
              </a:extLst>
            </p:cNvPr>
            <p:cNvSpPr>
              <a:spLocks noChangeShapeType="1"/>
            </p:cNvSpPr>
            <p:nvPr/>
          </p:nvSpPr>
          <p:spPr bwMode="auto">
            <a:xfrm rot="21597949" flipV="1">
              <a:off x="5840" y="5792"/>
              <a:ext cx="3" cy="99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6" name="Line 29">
              <a:extLst>
                <a:ext uri="{FF2B5EF4-FFF2-40B4-BE49-F238E27FC236}">
                  <a16:creationId xmlns:a16="http://schemas.microsoft.com/office/drawing/2014/main" id="{9D10304E-8146-4E9A-B6C2-8714084BD29E}"/>
                </a:ext>
              </a:extLst>
            </p:cNvPr>
            <p:cNvSpPr>
              <a:spLocks noChangeShapeType="1"/>
            </p:cNvSpPr>
            <p:nvPr/>
          </p:nvSpPr>
          <p:spPr bwMode="auto">
            <a:xfrm rot="33567" flipV="1">
              <a:off x="5850" y="5878"/>
              <a:ext cx="486" cy="924"/>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7" name="Line 30">
              <a:extLst>
                <a:ext uri="{FF2B5EF4-FFF2-40B4-BE49-F238E27FC236}">
                  <a16:creationId xmlns:a16="http://schemas.microsoft.com/office/drawing/2014/main" id="{16289CE1-BA95-44CF-98EE-6928FE26937C}"/>
                </a:ext>
              </a:extLst>
            </p:cNvPr>
            <p:cNvSpPr>
              <a:spLocks noChangeShapeType="1"/>
            </p:cNvSpPr>
            <p:nvPr/>
          </p:nvSpPr>
          <p:spPr bwMode="auto">
            <a:xfrm rot="1228702" flipV="1">
              <a:off x="5971" y="6095"/>
              <a:ext cx="729" cy="856"/>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08" name="Line 31">
              <a:extLst>
                <a:ext uri="{FF2B5EF4-FFF2-40B4-BE49-F238E27FC236}">
                  <a16:creationId xmlns:a16="http://schemas.microsoft.com/office/drawing/2014/main" id="{C268EAAE-CCE5-4388-AF2D-7C894185A8D8}"/>
                </a:ext>
              </a:extLst>
            </p:cNvPr>
            <p:cNvSpPr>
              <a:spLocks noChangeShapeType="1"/>
            </p:cNvSpPr>
            <p:nvPr/>
          </p:nvSpPr>
          <p:spPr bwMode="auto">
            <a:xfrm rot="690136" flipH="1" flipV="1">
              <a:off x="5261" y="6031"/>
              <a:ext cx="658" cy="684"/>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16410" name="Line 33">
              <a:extLst>
                <a:ext uri="{FF2B5EF4-FFF2-40B4-BE49-F238E27FC236}">
                  <a16:creationId xmlns:a16="http://schemas.microsoft.com/office/drawing/2014/main" id="{35342D6F-2412-458F-844B-3955DB4AD1C7}"/>
                </a:ext>
              </a:extLst>
            </p:cNvPr>
            <p:cNvSpPr>
              <a:spLocks noChangeShapeType="1"/>
            </p:cNvSpPr>
            <p:nvPr/>
          </p:nvSpPr>
          <p:spPr bwMode="auto">
            <a:xfrm rot="21275147" flipH="1" flipV="1">
              <a:off x="4996" y="6288"/>
              <a:ext cx="833" cy="554"/>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grpSp>
      <p:sp>
        <p:nvSpPr>
          <p:cNvPr id="26" name="25 CuadroTexto">
            <a:extLst>
              <a:ext uri="{FF2B5EF4-FFF2-40B4-BE49-F238E27FC236}">
                <a16:creationId xmlns:a16="http://schemas.microsoft.com/office/drawing/2014/main" id="{6D845387-9F0A-4262-BF4E-9C0D61EEE75D}"/>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14                                          Sistema Presupuestario</a:t>
            </a:r>
          </a:p>
        </p:txBody>
      </p:sp>
      <p:sp>
        <p:nvSpPr>
          <p:cNvPr id="2" name="CuadroTexto 1">
            <a:extLst>
              <a:ext uri="{FF2B5EF4-FFF2-40B4-BE49-F238E27FC236}">
                <a16:creationId xmlns:a16="http://schemas.microsoft.com/office/drawing/2014/main" id="{D655853F-4ACD-403F-BC22-DFE2D7DD1754}"/>
              </a:ext>
            </a:extLst>
          </p:cNvPr>
          <p:cNvSpPr txBox="1"/>
          <p:nvPr/>
        </p:nvSpPr>
        <p:spPr>
          <a:xfrm>
            <a:off x="2954122" y="1359294"/>
            <a:ext cx="7004115" cy="400110"/>
          </a:xfrm>
          <a:prstGeom prst="rect">
            <a:avLst/>
          </a:prstGeom>
          <a:noFill/>
        </p:spPr>
        <p:txBody>
          <a:bodyPr wrap="square" rtlCol="0">
            <a:spAutoFit/>
          </a:bodyPr>
          <a:lstStyle/>
          <a:p>
            <a:r>
              <a:rPr lang="es-AR" sz="2000" b="1" dirty="0"/>
              <a:t>ESTACIONALIDAD DE INVIERNO EN LAS VENTAS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9" name="Text Box 13">
            <a:extLst>
              <a:ext uri="{FF2B5EF4-FFF2-40B4-BE49-F238E27FC236}">
                <a16:creationId xmlns:a16="http://schemas.microsoft.com/office/drawing/2014/main" id="{13BC2710-439E-4B86-A53B-5BD6A2486366}"/>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VENTAS</a:t>
            </a:r>
          </a:p>
        </p:txBody>
      </p:sp>
      <p:sp>
        <p:nvSpPr>
          <p:cNvPr id="14350" name="Rectangle 14">
            <a:extLst>
              <a:ext uri="{FF2B5EF4-FFF2-40B4-BE49-F238E27FC236}">
                <a16:creationId xmlns:a16="http://schemas.microsoft.com/office/drawing/2014/main" id="{B5EF5F83-0B7C-4A1D-8F2E-CC8A87891C59}"/>
              </a:ext>
            </a:extLst>
          </p:cNvPr>
          <p:cNvSpPr>
            <a:spLocks noChangeArrowheads="1"/>
          </p:cNvSpPr>
          <p:nvPr/>
        </p:nvSpPr>
        <p:spPr bwMode="auto">
          <a:xfrm>
            <a:off x="1200151" y="1139825"/>
            <a:ext cx="9777413" cy="1989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73025"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método gráfico para determinar la estacionalidad consiste en tomar las ventas anuales del ejercicio anterior y dividirlas por 12 para establecer un promedio mensual de ventas,(se puede hacer por productos, por grupo de productos y/o por las ventas totales del año). Tomando a este valor como radio se traza una circunferencia (circulo en celeste).Luego se divide el círculo resultante en 12 partes, y se marcan las ventas reales de cada mes en el radio respectivo (elipse en rojo). </a:t>
            </a:r>
          </a:p>
        </p:txBody>
      </p:sp>
      <p:sp>
        <p:nvSpPr>
          <p:cNvPr id="14351" name="Rectangle 15">
            <a:extLst>
              <a:ext uri="{FF2B5EF4-FFF2-40B4-BE49-F238E27FC236}">
                <a16:creationId xmlns:a16="http://schemas.microsoft.com/office/drawing/2014/main" id="{8D21884D-D9DF-41A3-ADAC-A83D0A1D43E6}"/>
              </a:ext>
            </a:extLst>
          </p:cNvPr>
          <p:cNvSpPr>
            <a:spLocks noChangeArrowheads="1"/>
          </p:cNvSpPr>
          <p:nvPr/>
        </p:nvSpPr>
        <p:spPr bwMode="auto">
          <a:xfrm>
            <a:off x="1207293" y="3442436"/>
            <a:ext cx="9777413"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87313"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2060575" indent="-457200">
              <a:defRPr>
                <a:solidFill>
                  <a:schemeClr val="tx1"/>
                </a:solidFill>
                <a:latin typeface="Arial" panose="020B0604020202020204" pitchFamily="34" charset="0"/>
                <a:cs typeface="Arial" panose="020B0604020202020204" pitchFamily="34" charset="0"/>
              </a:defRPr>
            </a:lvl3pPr>
            <a:lvl4pPr marL="2620963" indent="-381000">
              <a:defRPr>
                <a:solidFill>
                  <a:schemeClr val="tx1"/>
                </a:solidFill>
                <a:latin typeface="Arial" panose="020B0604020202020204" pitchFamily="34" charset="0"/>
                <a:cs typeface="Arial" panose="020B0604020202020204" pitchFamily="34" charset="0"/>
              </a:defRPr>
            </a:lvl4pPr>
            <a:lvl5pPr marL="3181350" indent="-381000">
              <a:defRPr>
                <a:solidFill>
                  <a:schemeClr val="tx1"/>
                </a:solidFill>
                <a:latin typeface="Arial" panose="020B0604020202020204" pitchFamily="34" charset="0"/>
                <a:cs typeface="Arial" panose="020B0604020202020204" pitchFamily="34" charset="0"/>
              </a:defRPr>
            </a:lvl5pPr>
            <a:lvl6pPr marL="363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957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552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5010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Dada la capacidad para financiarse y almacenar stock surge la formulación del </a:t>
            </a:r>
            <a:r>
              <a:rPr lang="es-ES" altLang="es-AR" sz="2000" u="sng" dirty="0">
                <a:latin typeface="+mj-lt"/>
              </a:rPr>
              <a:t>Plan de Fabricación</a:t>
            </a:r>
            <a:r>
              <a:rPr lang="es-ES" altLang="es-AR" sz="2000" dirty="0">
                <a:latin typeface="+mj-lt"/>
              </a:rPr>
              <a:t> teniendo en cuenta:</a:t>
            </a:r>
          </a:p>
        </p:txBody>
      </p:sp>
      <p:sp>
        <p:nvSpPr>
          <p:cNvPr id="14352" name="Rectangle 16">
            <a:extLst>
              <a:ext uri="{FF2B5EF4-FFF2-40B4-BE49-F238E27FC236}">
                <a16:creationId xmlns:a16="http://schemas.microsoft.com/office/drawing/2014/main" id="{5F53C153-239E-4F1A-A492-872BAD15D9C7}"/>
              </a:ext>
            </a:extLst>
          </p:cNvPr>
          <p:cNvSpPr>
            <a:spLocks noChangeArrowheads="1"/>
          </p:cNvSpPr>
          <p:nvPr/>
        </p:nvSpPr>
        <p:spPr bwMode="auto">
          <a:xfrm>
            <a:off x="1859666" y="4555946"/>
            <a:ext cx="8135938" cy="650875"/>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571500" algn="l"/>
              </a:tabLst>
              <a:defRPr>
                <a:solidFill>
                  <a:schemeClr val="tx1"/>
                </a:solidFill>
                <a:latin typeface="Arial" pitchFamily="34" charset="0"/>
                <a:cs typeface="Arial" pitchFamily="34" charset="0"/>
              </a:defRPr>
            </a:lvl1pPr>
            <a:lvl2pPr>
              <a:tabLst>
                <a:tab pos="571500" algn="l"/>
              </a:tabLst>
              <a:defRPr>
                <a:solidFill>
                  <a:schemeClr val="tx1"/>
                </a:solidFill>
                <a:latin typeface="Arial" pitchFamily="34" charset="0"/>
                <a:cs typeface="Arial" pitchFamily="34" charset="0"/>
              </a:defRPr>
            </a:lvl2pPr>
            <a:lvl3pPr>
              <a:tabLst>
                <a:tab pos="571500" algn="l"/>
              </a:tabLst>
              <a:defRPr>
                <a:solidFill>
                  <a:schemeClr val="tx1"/>
                </a:solidFill>
                <a:latin typeface="Arial" pitchFamily="34" charset="0"/>
                <a:cs typeface="Arial" pitchFamily="34" charset="0"/>
              </a:defRPr>
            </a:lvl3pPr>
            <a:lvl4pPr>
              <a:tabLst>
                <a:tab pos="571500" algn="l"/>
              </a:tabLst>
              <a:defRPr>
                <a:solidFill>
                  <a:schemeClr val="tx1"/>
                </a:solidFill>
                <a:latin typeface="Arial" pitchFamily="34" charset="0"/>
                <a:cs typeface="Arial" pitchFamily="34" charset="0"/>
              </a:defRPr>
            </a:lvl4pPr>
            <a:lvl5pPr>
              <a:tabLst>
                <a:tab pos="571500" algn="l"/>
              </a:tabLst>
              <a:defRPr>
                <a:solidFill>
                  <a:schemeClr val="tx1"/>
                </a:solidFill>
                <a:latin typeface="Arial" pitchFamily="34" charset="0"/>
                <a:cs typeface="Arial" pitchFamily="34" charset="0"/>
              </a:defRPr>
            </a:lvl5pPr>
            <a:lvl6pPr fontAlgn="base">
              <a:spcBef>
                <a:spcPct val="0"/>
              </a:spcBef>
              <a:spcAft>
                <a:spcPct val="0"/>
              </a:spcAft>
              <a:tabLst>
                <a:tab pos="571500" algn="l"/>
              </a:tabLst>
              <a:defRPr>
                <a:solidFill>
                  <a:schemeClr val="tx1"/>
                </a:solidFill>
                <a:latin typeface="Arial" pitchFamily="34" charset="0"/>
                <a:cs typeface="Arial" pitchFamily="34" charset="0"/>
              </a:defRPr>
            </a:lvl6pPr>
            <a:lvl7pPr fontAlgn="base">
              <a:spcBef>
                <a:spcPct val="0"/>
              </a:spcBef>
              <a:spcAft>
                <a:spcPct val="0"/>
              </a:spcAft>
              <a:tabLst>
                <a:tab pos="571500" algn="l"/>
              </a:tabLst>
              <a:defRPr>
                <a:solidFill>
                  <a:schemeClr val="tx1"/>
                </a:solidFill>
                <a:latin typeface="Arial" pitchFamily="34" charset="0"/>
                <a:cs typeface="Arial" pitchFamily="34" charset="0"/>
              </a:defRPr>
            </a:lvl7pPr>
            <a:lvl8pPr fontAlgn="base">
              <a:spcBef>
                <a:spcPct val="0"/>
              </a:spcBef>
              <a:spcAft>
                <a:spcPct val="0"/>
              </a:spcAft>
              <a:tabLst>
                <a:tab pos="571500" algn="l"/>
              </a:tabLst>
              <a:defRPr>
                <a:solidFill>
                  <a:schemeClr val="tx1"/>
                </a:solidFill>
                <a:latin typeface="Arial" pitchFamily="34" charset="0"/>
                <a:cs typeface="Arial" pitchFamily="34" charset="0"/>
              </a:defRPr>
            </a:lvl8pPr>
            <a:lvl9pPr fontAlgn="base">
              <a:spcBef>
                <a:spcPct val="0"/>
              </a:spcBef>
              <a:spcAft>
                <a:spcPct val="0"/>
              </a:spcAft>
              <a:tabLst>
                <a:tab pos="571500" algn="l"/>
              </a:tabLst>
              <a:defRPr>
                <a:solidFill>
                  <a:schemeClr val="tx1"/>
                </a:solidFill>
                <a:latin typeface="Arial" pitchFamily="34" charset="0"/>
                <a:cs typeface="Arial" pitchFamily="34" charset="0"/>
              </a:defRPr>
            </a:lvl9pPr>
          </a:lstStyle>
          <a:p>
            <a:pPr algn="ctr" eaLnBrk="1" hangingPunct="1">
              <a:defRPr/>
            </a:pPr>
            <a:r>
              <a:rPr lang="es-ES" altLang="es-AR" b="1" dirty="0">
                <a:solidFill>
                  <a:srgbClr val="CC3300"/>
                </a:solidFill>
                <a:effectLst>
                  <a:outerShdw blurRad="38100" dist="38100" dir="2700000" algn="tl">
                    <a:srgbClr val="C0C0C0"/>
                  </a:outerShdw>
                </a:effectLst>
                <a:latin typeface="+mj-lt"/>
              </a:rPr>
              <a:t>Stock al inicio del período + Cantidad a producir (Plan de Fabricación) = Cantidad a vender (Plan de Ventas) + Stock al final del período</a:t>
            </a:r>
          </a:p>
        </p:txBody>
      </p:sp>
      <p:sp>
        <p:nvSpPr>
          <p:cNvPr id="6" name="5 CuadroTexto">
            <a:extLst>
              <a:ext uri="{FF2B5EF4-FFF2-40B4-BE49-F238E27FC236}">
                <a16:creationId xmlns:a16="http://schemas.microsoft.com/office/drawing/2014/main" id="{ABC68AFE-31AE-47BA-8109-3A36CA00267E}"/>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15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0" grpId="0"/>
      <p:bldP spid="1435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Text Box 6">
            <a:extLst>
              <a:ext uri="{FF2B5EF4-FFF2-40B4-BE49-F238E27FC236}">
                <a16:creationId xmlns:a16="http://schemas.microsoft.com/office/drawing/2014/main" id="{BE7BFBDD-92C5-4A3A-9776-D1B9D6FC720A}"/>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VENTAS</a:t>
            </a:r>
          </a:p>
        </p:txBody>
      </p:sp>
      <p:sp>
        <p:nvSpPr>
          <p:cNvPr id="24583" name="Rectangle 7">
            <a:extLst>
              <a:ext uri="{FF2B5EF4-FFF2-40B4-BE49-F238E27FC236}">
                <a16:creationId xmlns:a16="http://schemas.microsoft.com/office/drawing/2014/main" id="{0BDF6D05-AA45-48B4-B24D-959112855AB6}"/>
              </a:ext>
            </a:extLst>
          </p:cNvPr>
          <p:cNvSpPr>
            <a:spLocks noChangeArrowheads="1"/>
          </p:cNvSpPr>
          <p:nvPr/>
        </p:nvSpPr>
        <p:spPr bwMode="auto">
          <a:xfrm>
            <a:off x="1243013" y="1068388"/>
            <a:ext cx="9777413" cy="1052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Resulta prudente determinar el stock al final del período en base a las circunstancias financieras, y a las capacidades de almacenamiento y de mercado. </a:t>
            </a:r>
          </a:p>
        </p:txBody>
      </p:sp>
      <p:sp>
        <p:nvSpPr>
          <p:cNvPr id="24584" name="Rectangle 8">
            <a:extLst>
              <a:ext uri="{FF2B5EF4-FFF2-40B4-BE49-F238E27FC236}">
                <a16:creationId xmlns:a16="http://schemas.microsoft.com/office/drawing/2014/main" id="{19302DB1-9987-4DA2-9ED6-3D75B534D87F}"/>
              </a:ext>
            </a:extLst>
          </p:cNvPr>
          <p:cNvSpPr>
            <a:spLocks noChangeArrowheads="1"/>
          </p:cNvSpPr>
          <p:nvPr/>
        </p:nvSpPr>
        <p:spPr bwMode="auto">
          <a:xfrm>
            <a:off x="1257300" y="2247902"/>
            <a:ext cx="9777412" cy="1322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Hasta aquí solo se ha trabajado con unidades de producto y para la formulación del presupuesto de ventas es necesario convertirlas en unidades monetarias multiplicando por el precio, estándar o estimado, de las unidades a vender.  </a:t>
            </a:r>
          </a:p>
        </p:txBody>
      </p:sp>
      <p:sp>
        <p:nvSpPr>
          <p:cNvPr id="24585" name="Rectangle 9">
            <a:extLst>
              <a:ext uri="{FF2B5EF4-FFF2-40B4-BE49-F238E27FC236}">
                <a16:creationId xmlns:a16="http://schemas.microsoft.com/office/drawing/2014/main" id="{6FACB3F9-4F8F-45B3-9376-EB623F5B544C}"/>
              </a:ext>
            </a:extLst>
          </p:cNvPr>
          <p:cNvSpPr>
            <a:spLocks noChangeArrowheads="1"/>
          </p:cNvSpPr>
          <p:nvPr/>
        </p:nvSpPr>
        <p:spPr bwMode="auto">
          <a:xfrm>
            <a:off x="1227695" y="3696864"/>
            <a:ext cx="9777412" cy="76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patrón diseñado se utilizará como punto de partida para elaborar el Plan, el Programa y Presupuesto de Producción.</a:t>
            </a:r>
          </a:p>
        </p:txBody>
      </p:sp>
      <p:sp>
        <p:nvSpPr>
          <p:cNvPr id="24586" name="Rectangle 10">
            <a:extLst>
              <a:ext uri="{FF2B5EF4-FFF2-40B4-BE49-F238E27FC236}">
                <a16:creationId xmlns:a16="http://schemas.microsoft.com/office/drawing/2014/main" id="{25AA6821-5727-428E-97E4-A612F1DCE7E0}"/>
              </a:ext>
            </a:extLst>
          </p:cNvPr>
          <p:cNvSpPr>
            <a:spLocks noChangeArrowheads="1"/>
          </p:cNvSpPr>
          <p:nvPr/>
        </p:nvSpPr>
        <p:spPr bwMode="auto">
          <a:xfrm>
            <a:off x="1207294" y="4590498"/>
            <a:ext cx="9777412" cy="1052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87313"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A su vez, el programa de producción permitirá elaborar los Programas de Consumo y Compras de materias primas, de Gastos en Mano de Obra Directa y de Gastos de Operación.</a:t>
            </a:r>
          </a:p>
        </p:txBody>
      </p:sp>
      <p:sp>
        <p:nvSpPr>
          <p:cNvPr id="7" name="6 CuadroTexto">
            <a:extLst>
              <a:ext uri="{FF2B5EF4-FFF2-40B4-BE49-F238E27FC236}">
                <a16:creationId xmlns:a16="http://schemas.microsoft.com/office/drawing/2014/main" id="{8550018B-6743-427B-A77D-0C0DAFD31D0F}"/>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16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8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58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p:bldP spid="24584" grpId="0"/>
      <p:bldP spid="24585" grpId="0"/>
      <p:bldP spid="2458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 Box 4">
            <a:extLst>
              <a:ext uri="{FF2B5EF4-FFF2-40B4-BE49-F238E27FC236}">
                <a16:creationId xmlns:a16="http://schemas.microsoft.com/office/drawing/2014/main" id="{12F2AF90-53B2-4353-B694-7E1110221930}"/>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PRODUCCIÓN</a:t>
            </a:r>
          </a:p>
        </p:txBody>
      </p:sp>
      <p:sp>
        <p:nvSpPr>
          <p:cNvPr id="40965" name="Rectangle 5">
            <a:extLst>
              <a:ext uri="{FF2B5EF4-FFF2-40B4-BE49-F238E27FC236}">
                <a16:creationId xmlns:a16="http://schemas.microsoft.com/office/drawing/2014/main" id="{FF013005-11DB-437F-9BC2-751AF4B48EF3}"/>
              </a:ext>
            </a:extLst>
          </p:cNvPr>
          <p:cNvSpPr>
            <a:spLocks noChangeArrowheads="1"/>
          </p:cNvSpPr>
          <p:nvPr/>
        </p:nvSpPr>
        <p:spPr bwMode="auto">
          <a:xfrm>
            <a:off x="1200151" y="1068388"/>
            <a:ext cx="9777413" cy="468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programa de ventas, donde se indica el número de unidades que se espera vender en el período presupuestado supone el punto de partida del plan de producción.</a:t>
            </a:r>
          </a:p>
          <a:p>
            <a:pPr algn="just" eaLnBrk="1" hangingPunct="1">
              <a:spcBef>
                <a:spcPct val="20000"/>
              </a:spcBef>
            </a:pPr>
            <a:endParaRPr lang="es-ES" altLang="es-AR" sz="2000" dirty="0">
              <a:latin typeface="+mj-lt"/>
            </a:endParaRPr>
          </a:p>
          <a:p>
            <a:pPr algn="just" eaLnBrk="1" hangingPunct="1">
              <a:spcBef>
                <a:spcPct val="20000"/>
              </a:spcBef>
            </a:pPr>
            <a:r>
              <a:rPr lang="es-ES" altLang="es-AR" sz="2000" dirty="0">
                <a:latin typeface="+mj-lt"/>
              </a:rPr>
              <a:t>El plan de producción indica la estimación del número de unidades a producir, y será el punto de partida de los presupuestos de producción y posteriormente de compras.</a:t>
            </a:r>
          </a:p>
          <a:p>
            <a:pPr algn="just" eaLnBrk="1" hangingPunct="1">
              <a:spcBef>
                <a:spcPct val="20000"/>
              </a:spcBef>
            </a:pPr>
            <a:endParaRPr lang="es-ES" altLang="es-AR" sz="2000" dirty="0">
              <a:latin typeface="+mj-lt"/>
            </a:endParaRPr>
          </a:p>
          <a:p>
            <a:pPr algn="just" eaLnBrk="1" hangingPunct="1">
              <a:spcBef>
                <a:spcPct val="20000"/>
              </a:spcBef>
            </a:pPr>
            <a:r>
              <a:rPr lang="es-ES" altLang="es-AR" sz="2000" dirty="0">
                <a:latin typeface="+mj-lt"/>
              </a:rPr>
              <a:t>Previamente a la elaboración del plan de producción, deberá haberse aprobado el programa y el presupuesto de ventas. Es importante que exista la máxima coordinación entre ambos con el fin de evitar posibles desajustes, como que la capacidad productiva no permita cumplir con el presupuesto de ventas, o por el contrario, que el plan de producción resulte excesivo, en función a lo indicado en el presupuesto de ventas.</a:t>
            </a:r>
          </a:p>
        </p:txBody>
      </p:sp>
      <p:sp>
        <p:nvSpPr>
          <p:cNvPr id="4" name="3 CuadroTexto">
            <a:extLst>
              <a:ext uri="{FF2B5EF4-FFF2-40B4-BE49-F238E27FC236}">
                <a16:creationId xmlns:a16="http://schemas.microsoft.com/office/drawing/2014/main" id="{7A228BC8-2F46-4DA3-B9C0-022CE42772B4}"/>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17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1" name="Text Box 7">
            <a:extLst>
              <a:ext uri="{FF2B5EF4-FFF2-40B4-BE49-F238E27FC236}">
                <a16:creationId xmlns:a16="http://schemas.microsoft.com/office/drawing/2014/main" id="{A7F12F15-EDDC-4FC7-B964-E596A9A0E6D9}"/>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PRODUCCIÓN</a:t>
            </a:r>
          </a:p>
        </p:txBody>
      </p:sp>
      <p:sp>
        <p:nvSpPr>
          <p:cNvPr id="26632" name="Rectangle 8">
            <a:extLst>
              <a:ext uri="{FF2B5EF4-FFF2-40B4-BE49-F238E27FC236}">
                <a16:creationId xmlns:a16="http://schemas.microsoft.com/office/drawing/2014/main" id="{70411560-B41A-4A26-BE04-9B5BACF57C58}"/>
              </a:ext>
            </a:extLst>
          </p:cNvPr>
          <p:cNvSpPr>
            <a:spLocks noChangeArrowheads="1"/>
          </p:cNvSpPr>
          <p:nvPr/>
        </p:nvSpPr>
        <p:spPr bwMode="auto">
          <a:xfrm>
            <a:off x="1200151" y="1068389"/>
            <a:ext cx="9777413" cy="1297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En el presupuesto de producción se valoran en unidades monetarias las unidades de producto que se fabricarán según el programa de producción. Mediante técnicas de costos predeterminados (estándar o estimado) se determina el costo de los productos terminados en base al:</a:t>
            </a:r>
          </a:p>
        </p:txBody>
      </p:sp>
      <p:sp>
        <p:nvSpPr>
          <p:cNvPr id="26633" name="Rectangle 9">
            <a:extLst>
              <a:ext uri="{FF2B5EF4-FFF2-40B4-BE49-F238E27FC236}">
                <a16:creationId xmlns:a16="http://schemas.microsoft.com/office/drawing/2014/main" id="{061CDED1-3246-46E5-AB31-376FA031F9E1}"/>
              </a:ext>
            </a:extLst>
          </p:cNvPr>
          <p:cNvSpPr>
            <a:spLocks noChangeArrowheads="1"/>
          </p:cNvSpPr>
          <p:nvPr/>
        </p:nvSpPr>
        <p:spPr bwMode="auto">
          <a:xfrm>
            <a:off x="1329293" y="2449511"/>
            <a:ext cx="9777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73025">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a:t>
            </a:r>
            <a:r>
              <a:rPr lang="es-ES" altLang="es-AR" sz="2000" i="1" dirty="0">
                <a:latin typeface="+mj-lt"/>
              </a:rPr>
              <a:t>Costo de las materias primas.</a:t>
            </a:r>
          </a:p>
        </p:txBody>
      </p:sp>
      <p:sp>
        <p:nvSpPr>
          <p:cNvPr id="26634" name="Rectangle 10">
            <a:extLst>
              <a:ext uri="{FF2B5EF4-FFF2-40B4-BE49-F238E27FC236}">
                <a16:creationId xmlns:a16="http://schemas.microsoft.com/office/drawing/2014/main" id="{02EAC12B-04E2-45A8-BD5F-55FAFE2EA961}"/>
              </a:ext>
            </a:extLst>
          </p:cNvPr>
          <p:cNvSpPr>
            <a:spLocks noChangeArrowheads="1"/>
          </p:cNvSpPr>
          <p:nvPr/>
        </p:nvSpPr>
        <p:spPr bwMode="auto">
          <a:xfrm>
            <a:off x="1329293" y="2809873"/>
            <a:ext cx="9777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73025">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a:latin typeface="+mj-lt"/>
              </a:rPr>
              <a:t> </a:t>
            </a:r>
            <a:r>
              <a:rPr lang="es-ES" altLang="es-AR" sz="2000" i="1">
                <a:latin typeface="+mj-lt"/>
              </a:rPr>
              <a:t>Costo de la mano de obra directa.</a:t>
            </a:r>
          </a:p>
        </p:txBody>
      </p:sp>
      <p:sp>
        <p:nvSpPr>
          <p:cNvPr id="26635" name="Rectangle 11">
            <a:extLst>
              <a:ext uri="{FF2B5EF4-FFF2-40B4-BE49-F238E27FC236}">
                <a16:creationId xmlns:a16="http://schemas.microsoft.com/office/drawing/2014/main" id="{9C866D62-85E2-4093-81D4-54C8D668C598}"/>
              </a:ext>
            </a:extLst>
          </p:cNvPr>
          <p:cNvSpPr>
            <a:spLocks noChangeArrowheads="1"/>
          </p:cNvSpPr>
          <p:nvPr/>
        </p:nvSpPr>
        <p:spPr bwMode="auto">
          <a:xfrm>
            <a:off x="1400730" y="3154361"/>
            <a:ext cx="97774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16033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i="1">
                <a:latin typeface="+mj-lt"/>
              </a:rPr>
              <a:t> Gastos Indirectos de Fabricación.</a:t>
            </a:r>
          </a:p>
        </p:txBody>
      </p:sp>
      <p:sp>
        <p:nvSpPr>
          <p:cNvPr id="26636" name="Rectangle 12">
            <a:extLst>
              <a:ext uri="{FF2B5EF4-FFF2-40B4-BE49-F238E27FC236}">
                <a16:creationId xmlns:a16="http://schemas.microsoft.com/office/drawing/2014/main" id="{6AA61B76-D8CE-4851-8419-CA0CABD5F844}"/>
              </a:ext>
            </a:extLst>
          </p:cNvPr>
          <p:cNvSpPr>
            <a:spLocks noChangeArrowheads="1"/>
          </p:cNvSpPr>
          <p:nvPr/>
        </p:nvSpPr>
        <p:spPr bwMode="auto">
          <a:xfrm>
            <a:off x="1200151" y="3818730"/>
            <a:ext cx="9777413" cy="1408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Luego se utiliza el sistema de costos que mejor se adapte a la empresa para determinar el costo unitario estimado o estándar de los productos terminados. El procedimiento seguido consiste en realizar los presupuestos que nos darán los distintos costos unitarios. </a:t>
            </a:r>
          </a:p>
        </p:txBody>
      </p:sp>
      <p:sp>
        <p:nvSpPr>
          <p:cNvPr id="8" name="7 CuadroTexto">
            <a:extLst>
              <a:ext uri="{FF2B5EF4-FFF2-40B4-BE49-F238E27FC236}">
                <a16:creationId xmlns:a16="http://schemas.microsoft.com/office/drawing/2014/main" id="{526D1EB9-DC73-4C17-9703-CFD664A4BB45}"/>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18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3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3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3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6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2" grpId="0"/>
      <p:bldP spid="26633" grpId="0"/>
      <p:bldP spid="26634" grpId="0"/>
      <p:bldP spid="26635" grpId="0"/>
      <p:bldP spid="2663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5" name="Rectangle 7">
            <a:extLst>
              <a:ext uri="{FF2B5EF4-FFF2-40B4-BE49-F238E27FC236}">
                <a16:creationId xmlns:a16="http://schemas.microsoft.com/office/drawing/2014/main" id="{3CCB51FA-9A77-4646-AC91-0D6458A13E3C}"/>
              </a:ext>
            </a:extLst>
          </p:cNvPr>
          <p:cNvSpPr>
            <a:spLocks noChangeArrowheads="1"/>
          </p:cNvSpPr>
          <p:nvPr/>
        </p:nvSpPr>
        <p:spPr bwMode="auto">
          <a:xfrm>
            <a:off x="1200151" y="917558"/>
            <a:ext cx="9777413" cy="203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solidFill>
                  <a:schemeClr val="tx1">
                    <a:lumMod val="75000"/>
                    <a:lumOff val="25000"/>
                  </a:schemeClr>
                </a:solidFill>
                <a:latin typeface="+mj-lt"/>
              </a:rPr>
              <a:t>Presupuesto de Materias Primas</a:t>
            </a:r>
            <a:r>
              <a:rPr lang="es-ES" altLang="es-AR" sz="2000" dirty="0">
                <a:solidFill>
                  <a:schemeClr val="tx1">
                    <a:lumMod val="75000"/>
                    <a:lumOff val="25000"/>
                  </a:schemeClr>
                </a:solidFill>
                <a:latin typeface="+mj-lt"/>
              </a:rPr>
              <a:t>: </a:t>
            </a:r>
          </a:p>
          <a:p>
            <a:pPr algn="just" eaLnBrk="1" hangingPunct="1">
              <a:spcBef>
                <a:spcPct val="20000"/>
              </a:spcBef>
            </a:pPr>
            <a:r>
              <a:rPr lang="es-ES" altLang="es-AR" sz="2000" dirty="0">
                <a:solidFill>
                  <a:schemeClr val="tx1">
                    <a:lumMod val="75000"/>
                    <a:lumOff val="25000"/>
                  </a:schemeClr>
                </a:solidFill>
                <a:latin typeface="+mj-lt"/>
              </a:rPr>
              <a:t>Es consecuencia directa del programa de producción ya que, dependiendo de las unidades que se prevea fabricar y de la cantidad de materia prima necesaria para la producción de una unidad de producto, se podrá determinar las necesidades de compra de materias así como los consumos previstos. Se divide en: </a:t>
            </a:r>
          </a:p>
        </p:txBody>
      </p:sp>
      <p:sp>
        <p:nvSpPr>
          <p:cNvPr id="27656" name="Text Box 8">
            <a:extLst>
              <a:ext uri="{FF2B5EF4-FFF2-40B4-BE49-F238E27FC236}">
                <a16:creationId xmlns:a16="http://schemas.microsoft.com/office/drawing/2014/main" id="{B8AF6259-6466-411D-B10D-01D95B7FF679}"/>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PRODUCCIÓN</a:t>
            </a:r>
          </a:p>
        </p:txBody>
      </p:sp>
      <p:sp>
        <p:nvSpPr>
          <p:cNvPr id="27657" name="Rectangle 9">
            <a:extLst>
              <a:ext uri="{FF2B5EF4-FFF2-40B4-BE49-F238E27FC236}">
                <a16:creationId xmlns:a16="http://schemas.microsoft.com/office/drawing/2014/main" id="{971E07A6-F407-4E32-B916-CDDDC97AE26E}"/>
              </a:ext>
            </a:extLst>
          </p:cNvPr>
          <p:cNvSpPr>
            <a:spLocks noChangeArrowheads="1"/>
          </p:cNvSpPr>
          <p:nvPr/>
        </p:nvSpPr>
        <p:spPr bwMode="auto">
          <a:xfrm>
            <a:off x="2001429" y="2936859"/>
            <a:ext cx="9777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16033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solidFill>
                  <a:schemeClr val="tx1">
                    <a:lumMod val="75000"/>
                    <a:lumOff val="25000"/>
                  </a:schemeClr>
                </a:solidFill>
                <a:latin typeface="+mj-lt"/>
              </a:rPr>
              <a:t> Presupuesto de Consumo de Materias Primas.</a:t>
            </a:r>
          </a:p>
        </p:txBody>
      </p:sp>
      <p:sp>
        <p:nvSpPr>
          <p:cNvPr id="27658" name="Rectangle 10">
            <a:extLst>
              <a:ext uri="{FF2B5EF4-FFF2-40B4-BE49-F238E27FC236}">
                <a16:creationId xmlns:a16="http://schemas.microsoft.com/office/drawing/2014/main" id="{E4E4689F-A38B-4A4F-A186-6541ED6E055A}"/>
              </a:ext>
            </a:extLst>
          </p:cNvPr>
          <p:cNvSpPr>
            <a:spLocks noChangeArrowheads="1"/>
          </p:cNvSpPr>
          <p:nvPr/>
        </p:nvSpPr>
        <p:spPr bwMode="auto">
          <a:xfrm>
            <a:off x="2001429" y="3440096"/>
            <a:ext cx="9777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16033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a:solidFill>
                  <a:schemeClr val="tx1">
                    <a:lumMod val="75000"/>
                    <a:lumOff val="25000"/>
                  </a:schemeClr>
                </a:solidFill>
                <a:latin typeface="+mj-lt"/>
              </a:rPr>
              <a:t> Presupuesto de Compras de Materias Primas.</a:t>
            </a:r>
          </a:p>
        </p:txBody>
      </p:sp>
      <p:sp>
        <p:nvSpPr>
          <p:cNvPr id="27660" name="Rectangle 12">
            <a:extLst>
              <a:ext uri="{FF2B5EF4-FFF2-40B4-BE49-F238E27FC236}">
                <a16:creationId xmlns:a16="http://schemas.microsoft.com/office/drawing/2014/main" id="{96C8BA8A-8226-4075-B38E-1F51DA24517F}"/>
              </a:ext>
            </a:extLst>
          </p:cNvPr>
          <p:cNvSpPr>
            <a:spLocks noChangeArrowheads="1"/>
          </p:cNvSpPr>
          <p:nvPr/>
        </p:nvSpPr>
        <p:spPr bwMode="auto">
          <a:xfrm>
            <a:off x="1674191" y="3984608"/>
            <a:ext cx="8280400" cy="650875"/>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571500" algn="l"/>
              </a:tabLst>
              <a:defRPr>
                <a:solidFill>
                  <a:schemeClr val="tx1"/>
                </a:solidFill>
                <a:latin typeface="Arial" pitchFamily="34" charset="0"/>
                <a:cs typeface="Arial" pitchFamily="34" charset="0"/>
              </a:defRPr>
            </a:lvl1pPr>
            <a:lvl2pPr>
              <a:tabLst>
                <a:tab pos="571500" algn="l"/>
              </a:tabLst>
              <a:defRPr>
                <a:solidFill>
                  <a:schemeClr val="tx1"/>
                </a:solidFill>
                <a:latin typeface="Arial" pitchFamily="34" charset="0"/>
                <a:cs typeface="Arial" pitchFamily="34" charset="0"/>
              </a:defRPr>
            </a:lvl2pPr>
            <a:lvl3pPr>
              <a:tabLst>
                <a:tab pos="571500" algn="l"/>
              </a:tabLst>
              <a:defRPr>
                <a:solidFill>
                  <a:schemeClr val="tx1"/>
                </a:solidFill>
                <a:latin typeface="Arial" pitchFamily="34" charset="0"/>
                <a:cs typeface="Arial" pitchFamily="34" charset="0"/>
              </a:defRPr>
            </a:lvl3pPr>
            <a:lvl4pPr>
              <a:tabLst>
                <a:tab pos="571500" algn="l"/>
              </a:tabLst>
              <a:defRPr>
                <a:solidFill>
                  <a:schemeClr val="tx1"/>
                </a:solidFill>
                <a:latin typeface="Arial" pitchFamily="34" charset="0"/>
                <a:cs typeface="Arial" pitchFamily="34" charset="0"/>
              </a:defRPr>
            </a:lvl4pPr>
            <a:lvl5pPr>
              <a:tabLst>
                <a:tab pos="571500" algn="l"/>
              </a:tabLst>
              <a:defRPr>
                <a:solidFill>
                  <a:schemeClr val="tx1"/>
                </a:solidFill>
                <a:latin typeface="Arial" pitchFamily="34" charset="0"/>
                <a:cs typeface="Arial" pitchFamily="34" charset="0"/>
              </a:defRPr>
            </a:lvl5pPr>
            <a:lvl6pPr fontAlgn="base">
              <a:spcBef>
                <a:spcPct val="0"/>
              </a:spcBef>
              <a:spcAft>
                <a:spcPct val="0"/>
              </a:spcAft>
              <a:tabLst>
                <a:tab pos="571500" algn="l"/>
              </a:tabLst>
              <a:defRPr>
                <a:solidFill>
                  <a:schemeClr val="tx1"/>
                </a:solidFill>
                <a:latin typeface="Arial" pitchFamily="34" charset="0"/>
                <a:cs typeface="Arial" pitchFamily="34" charset="0"/>
              </a:defRPr>
            </a:lvl6pPr>
            <a:lvl7pPr fontAlgn="base">
              <a:spcBef>
                <a:spcPct val="0"/>
              </a:spcBef>
              <a:spcAft>
                <a:spcPct val="0"/>
              </a:spcAft>
              <a:tabLst>
                <a:tab pos="571500" algn="l"/>
              </a:tabLst>
              <a:defRPr>
                <a:solidFill>
                  <a:schemeClr val="tx1"/>
                </a:solidFill>
                <a:latin typeface="Arial" pitchFamily="34" charset="0"/>
                <a:cs typeface="Arial" pitchFamily="34" charset="0"/>
              </a:defRPr>
            </a:lvl7pPr>
            <a:lvl8pPr fontAlgn="base">
              <a:spcBef>
                <a:spcPct val="0"/>
              </a:spcBef>
              <a:spcAft>
                <a:spcPct val="0"/>
              </a:spcAft>
              <a:tabLst>
                <a:tab pos="571500" algn="l"/>
              </a:tabLst>
              <a:defRPr>
                <a:solidFill>
                  <a:schemeClr val="tx1"/>
                </a:solidFill>
                <a:latin typeface="Arial" pitchFamily="34" charset="0"/>
                <a:cs typeface="Arial" pitchFamily="34" charset="0"/>
              </a:defRPr>
            </a:lvl8pPr>
            <a:lvl9pPr fontAlgn="base">
              <a:spcBef>
                <a:spcPct val="0"/>
              </a:spcBef>
              <a:spcAft>
                <a:spcPct val="0"/>
              </a:spcAft>
              <a:tabLst>
                <a:tab pos="571500" algn="l"/>
              </a:tabLst>
              <a:defRPr>
                <a:solidFill>
                  <a:schemeClr val="tx1"/>
                </a:solidFill>
                <a:latin typeface="Arial" pitchFamily="34" charset="0"/>
                <a:cs typeface="Arial" pitchFamily="34" charset="0"/>
              </a:defRPr>
            </a:lvl9pPr>
          </a:lstStyle>
          <a:p>
            <a:pPr algn="ctr" eaLnBrk="1" hangingPunct="1">
              <a:defRPr/>
            </a:pPr>
            <a:r>
              <a:rPr lang="es-ES" altLang="es-AR" dirty="0">
                <a:solidFill>
                  <a:srgbClr val="CC3300"/>
                </a:solidFill>
                <a:effectLst>
                  <a:outerShdw blurRad="38100" dist="38100" dir="2700000" algn="tl">
                    <a:srgbClr val="C0C0C0"/>
                  </a:outerShdw>
                </a:effectLst>
                <a:latin typeface="+mj-lt"/>
              </a:rPr>
              <a:t>Stock de M. P. al inicio del período + Presupuesto de Compras de M. P. = Presupuesto de Consumo de M. P. + Stock de M. P. al final del período</a:t>
            </a:r>
          </a:p>
        </p:txBody>
      </p:sp>
      <p:sp>
        <p:nvSpPr>
          <p:cNvPr id="27661" name="Rectangle 13">
            <a:extLst>
              <a:ext uri="{FF2B5EF4-FFF2-40B4-BE49-F238E27FC236}">
                <a16:creationId xmlns:a16="http://schemas.microsoft.com/office/drawing/2014/main" id="{6A8BC21E-4340-4232-B675-A44478C02D12}"/>
              </a:ext>
            </a:extLst>
          </p:cNvPr>
          <p:cNvSpPr>
            <a:spLocks noChangeArrowheads="1"/>
          </p:cNvSpPr>
          <p:nvPr/>
        </p:nvSpPr>
        <p:spPr bwMode="auto">
          <a:xfrm>
            <a:off x="1207293" y="4909579"/>
            <a:ext cx="9777413"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solidFill>
                  <a:schemeClr val="tx1">
                    <a:lumMod val="75000"/>
                    <a:lumOff val="25000"/>
                  </a:schemeClr>
                </a:solidFill>
                <a:latin typeface="+mj-lt"/>
              </a:rPr>
              <a:t>Presupuesto de Gastos Indirectos de Fabricación</a:t>
            </a:r>
            <a:r>
              <a:rPr lang="es-ES" altLang="es-AR" sz="2000" dirty="0">
                <a:solidFill>
                  <a:schemeClr val="tx1">
                    <a:lumMod val="75000"/>
                    <a:lumOff val="25000"/>
                  </a:schemeClr>
                </a:solidFill>
                <a:latin typeface="+mj-lt"/>
              </a:rPr>
              <a:t>: </a:t>
            </a:r>
          </a:p>
          <a:p>
            <a:pPr algn="just" eaLnBrk="1" hangingPunct="1">
              <a:spcBef>
                <a:spcPct val="20000"/>
              </a:spcBef>
            </a:pPr>
            <a:r>
              <a:rPr lang="es-ES" altLang="es-AR" sz="2000" dirty="0">
                <a:solidFill>
                  <a:schemeClr val="tx1">
                    <a:lumMod val="75000"/>
                    <a:lumOff val="25000"/>
                  </a:schemeClr>
                </a:solidFill>
                <a:latin typeface="+mj-lt"/>
              </a:rPr>
              <a:t>Mano de obra indirecta, gastos generales, amortizaciones, materiales.</a:t>
            </a:r>
          </a:p>
        </p:txBody>
      </p:sp>
      <p:sp>
        <p:nvSpPr>
          <p:cNvPr id="8" name="7 CuadroTexto">
            <a:extLst>
              <a:ext uri="{FF2B5EF4-FFF2-40B4-BE49-F238E27FC236}">
                <a16:creationId xmlns:a16="http://schemas.microsoft.com/office/drawing/2014/main" id="{CF7D5301-5964-4F02-BEC4-D5DF3ABE09EA}"/>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19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p:bldP spid="27657" grpId="0"/>
      <p:bldP spid="27658" grpId="0"/>
      <p:bldP spid="2766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Text Box 7">
            <a:extLst>
              <a:ext uri="{FF2B5EF4-FFF2-40B4-BE49-F238E27FC236}">
                <a16:creationId xmlns:a16="http://schemas.microsoft.com/office/drawing/2014/main" id="{31CFC05D-7B2A-4F06-B574-3E7531EB1DEC}"/>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PRODUCCIÓN</a:t>
            </a:r>
          </a:p>
        </p:txBody>
      </p:sp>
      <p:sp>
        <p:nvSpPr>
          <p:cNvPr id="28681" name="Rectangle 9">
            <a:extLst>
              <a:ext uri="{FF2B5EF4-FFF2-40B4-BE49-F238E27FC236}">
                <a16:creationId xmlns:a16="http://schemas.microsoft.com/office/drawing/2014/main" id="{F85BC9FE-BFEB-4444-9A06-5791C774B1ED}"/>
              </a:ext>
            </a:extLst>
          </p:cNvPr>
          <p:cNvSpPr>
            <a:spLocks noChangeArrowheads="1"/>
          </p:cNvSpPr>
          <p:nvPr/>
        </p:nvSpPr>
        <p:spPr bwMode="auto">
          <a:xfrm>
            <a:off x="1200151" y="1154937"/>
            <a:ext cx="9777413" cy="2539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Presupuesto de Mano de Obra Directa</a:t>
            </a:r>
            <a:r>
              <a:rPr lang="es-ES" altLang="es-AR" sz="2000" dirty="0">
                <a:latin typeface="+mj-lt"/>
              </a:rPr>
              <a:t>: </a:t>
            </a:r>
          </a:p>
          <a:p>
            <a:pPr algn="just" eaLnBrk="1" hangingPunct="1">
              <a:spcBef>
                <a:spcPct val="20000"/>
              </a:spcBef>
            </a:pPr>
            <a:r>
              <a:rPr lang="es-ES" altLang="es-AR" sz="2000" dirty="0">
                <a:latin typeface="+mj-lt"/>
              </a:rPr>
              <a:t>Determina la mano de obra necesaria para desarrollar la producción prevista en el programa de producción. </a:t>
            </a:r>
          </a:p>
          <a:p>
            <a:pPr algn="just" eaLnBrk="1" hangingPunct="1">
              <a:spcBef>
                <a:spcPct val="20000"/>
              </a:spcBef>
            </a:pPr>
            <a:r>
              <a:rPr lang="es-ES" altLang="es-AR" sz="2000" dirty="0">
                <a:latin typeface="+mj-lt"/>
              </a:rPr>
              <a:t>Verifica si el potencial de mano de obra disponible es suficiente para cumplir con el programa de producción. </a:t>
            </a:r>
          </a:p>
          <a:p>
            <a:pPr algn="just" eaLnBrk="1" hangingPunct="1">
              <a:spcBef>
                <a:spcPct val="20000"/>
              </a:spcBef>
            </a:pPr>
            <a:r>
              <a:rPr lang="es-ES" altLang="es-AR" sz="2000" dirty="0">
                <a:latin typeface="+mj-lt"/>
              </a:rPr>
              <a:t>En caso de precisar una mayor cantidad de mano de obra, este programa permite comprobar si las necesidades serán continuas, con lo que podrá contratarse nuevo personal, o bien si las necesidades serán puntuales, pudiendo cubrir las vacantes con horas extras o contratar personal temporal.</a:t>
            </a:r>
          </a:p>
        </p:txBody>
      </p:sp>
      <p:sp>
        <p:nvSpPr>
          <p:cNvPr id="28682" name="Rectangle 10">
            <a:extLst>
              <a:ext uri="{FF2B5EF4-FFF2-40B4-BE49-F238E27FC236}">
                <a16:creationId xmlns:a16="http://schemas.microsoft.com/office/drawing/2014/main" id="{6C122615-BB40-406A-BFEA-E7674D7C07CE}"/>
              </a:ext>
            </a:extLst>
          </p:cNvPr>
          <p:cNvSpPr>
            <a:spLocks noChangeArrowheads="1"/>
          </p:cNvSpPr>
          <p:nvPr/>
        </p:nvSpPr>
        <p:spPr bwMode="auto">
          <a:xfrm>
            <a:off x="1207293" y="4371594"/>
            <a:ext cx="9777413" cy="120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presupuesto de mano de obra directa se obtiene mediante el producto de la cantidad estándar o estimada de horas hombre por el costo estándar o estimado de la hora hombre.</a:t>
            </a:r>
          </a:p>
        </p:txBody>
      </p:sp>
      <p:sp>
        <p:nvSpPr>
          <p:cNvPr id="5" name="4 CuadroTexto">
            <a:extLst>
              <a:ext uri="{FF2B5EF4-FFF2-40B4-BE49-F238E27FC236}">
                <a16:creationId xmlns:a16="http://schemas.microsoft.com/office/drawing/2014/main" id="{57803927-500C-4917-A556-190D9807C9AF}"/>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20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1" grpId="0"/>
      <p:bldP spid="2868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Text Box 4">
            <a:extLst>
              <a:ext uri="{FF2B5EF4-FFF2-40B4-BE49-F238E27FC236}">
                <a16:creationId xmlns:a16="http://schemas.microsoft.com/office/drawing/2014/main" id="{46B14BDD-2C97-4CC3-920A-59A505B0009F}"/>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ESQUEMA PRESUPUESTARIO</a:t>
            </a:r>
          </a:p>
        </p:txBody>
      </p:sp>
      <p:grpSp>
        <p:nvGrpSpPr>
          <p:cNvPr id="23555" name="Group 5">
            <a:extLst>
              <a:ext uri="{FF2B5EF4-FFF2-40B4-BE49-F238E27FC236}">
                <a16:creationId xmlns:a16="http://schemas.microsoft.com/office/drawing/2014/main" id="{08272E9D-2817-44DF-BBA6-36A50B1E116C}"/>
              </a:ext>
            </a:extLst>
          </p:cNvPr>
          <p:cNvGrpSpPr>
            <a:grpSpLocks noChangeAspect="1"/>
          </p:cNvGrpSpPr>
          <p:nvPr/>
        </p:nvGrpSpPr>
        <p:grpSpPr bwMode="auto">
          <a:xfrm>
            <a:off x="1487489" y="1195389"/>
            <a:ext cx="9137294" cy="4826000"/>
            <a:chOff x="1701" y="8224"/>
            <a:chExt cx="8460" cy="4500"/>
          </a:xfrm>
        </p:grpSpPr>
        <p:sp>
          <p:nvSpPr>
            <p:cNvPr id="23570" name="AutoShape 6">
              <a:extLst>
                <a:ext uri="{FF2B5EF4-FFF2-40B4-BE49-F238E27FC236}">
                  <a16:creationId xmlns:a16="http://schemas.microsoft.com/office/drawing/2014/main" id="{B1E1DF9F-42B0-4A72-AEFD-11D3E61DF265}"/>
                </a:ext>
              </a:extLst>
            </p:cNvPr>
            <p:cNvSpPr>
              <a:spLocks noChangeAspect="1" noChangeArrowheads="1"/>
            </p:cNvSpPr>
            <p:nvPr/>
          </p:nvSpPr>
          <p:spPr bwMode="auto">
            <a:xfrm>
              <a:off x="1701" y="8224"/>
              <a:ext cx="8460" cy="4500"/>
            </a:xfrm>
            <a:prstGeom prst="rect">
              <a:avLst/>
            </a:prstGeom>
            <a:solidFill>
              <a:srgbClr val="CC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dirty="0">
                <a:latin typeface="+mj-lt"/>
              </a:endParaRPr>
            </a:p>
          </p:txBody>
        </p:sp>
        <p:sp>
          <p:nvSpPr>
            <p:cNvPr id="23571" name="AutoShape 7">
              <a:extLst>
                <a:ext uri="{FF2B5EF4-FFF2-40B4-BE49-F238E27FC236}">
                  <a16:creationId xmlns:a16="http://schemas.microsoft.com/office/drawing/2014/main" id="{0EE3D94D-6B5E-4752-B421-62E73275D6FE}"/>
                </a:ext>
              </a:extLst>
            </p:cNvPr>
            <p:cNvSpPr>
              <a:spLocks noChangeArrowheads="1"/>
            </p:cNvSpPr>
            <p:nvPr/>
          </p:nvSpPr>
          <p:spPr bwMode="auto">
            <a:xfrm>
              <a:off x="3321" y="9124"/>
              <a:ext cx="1260" cy="721"/>
            </a:xfrm>
            <a:prstGeom prst="flowChartProcess">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b="1" dirty="0">
                  <a:latin typeface="Times New Roman" panose="02020603050405020304" pitchFamily="18" charset="0"/>
                </a:rPr>
                <a:t>PLAN DE</a:t>
              </a:r>
              <a:r>
                <a:rPr lang="es-ES_tradnl" altLang="es-AR" dirty="0">
                  <a:latin typeface="Times New Roman" panose="02020603050405020304" pitchFamily="18" charset="0"/>
                </a:rPr>
                <a:t> </a:t>
              </a:r>
              <a:r>
                <a:rPr lang="es-ES_tradnl" altLang="es-AR" b="1" dirty="0">
                  <a:latin typeface="Times New Roman" panose="02020603050405020304" pitchFamily="18" charset="0"/>
                </a:rPr>
                <a:t>VENTAS</a:t>
              </a:r>
              <a:endParaRPr lang="es-ES" altLang="es-AR" dirty="0"/>
            </a:p>
          </p:txBody>
        </p:sp>
        <p:sp>
          <p:nvSpPr>
            <p:cNvPr id="23572" name="AutoShape 8">
              <a:extLst>
                <a:ext uri="{FF2B5EF4-FFF2-40B4-BE49-F238E27FC236}">
                  <a16:creationId xmlns:a16="http://schemas.microsoft.com/office/drawing/2014/main" id="{D153A0D6-AE4B-42AD-AD8B-A0FEE92F6866}"/>
                </a:ext>
              </a:extLst>
            </p:cNvPr>
            <p:cNvSpPr>
              <a:spLocks noChangeArrowheads="1"/>
            </p:cNvSpPr>
            <p:nvPr/>
          </p:nvSpPr>
          <p:spPr bwMode="auto">
            <a:xfrm>
              <a:off x="5481" y="9124"/>
              <a:ext cx="1980" cy="721"/>
            </a:xfrm>
            <a:prstGeom prst="flowChartProcess">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b="1" dirty="0">
                  <a:latin typeface="Times New Roman" panose="02020603050405020304" pitchFamily="18" charset="0"/>
                </a:rPr>
                <a:t>PROGRAMA DE VENTAS</a:t>
              </a:r>
              <a:endParaRPr lang="es-ES" altLang="es-AR" dirty="0"/>
            </a:p>
          </p:txBody>
        </p:sp>
        <p:sp>
          <p:nvSpPr>
            <p:cNvPr id="23573" name="AutoShape 9">
              <a:extLst>
                <a:ext uri="{FF2B5EF4-FFF2-40B4-BE49-F238E27FC236}">
                  <a16:creationId xmlns:a16="http://schemas.microsoft.com/office/drawing/2014/main" id="{91B948A2-E651-4D1A-93C2-EBB015EA97B6}"/>
                </a:ext>
              </a:extLst>
            </p:cNvPr>
            <p:cNvSpPr>
              <a:spLocks noChangeArrowheads="1"/>
            </p:cNvSpPr>
            <p:nvPr/>
          </p:nvSpPr>
          <p:spPr bwMode="auto">
            <a:xfrm>
              <a:off x="8541" y="9124"/>
              <a:ext cx="1619" cy="721"/>
            </a:xfrm>
            <a:prstGeom prst="flowChartProcess">
              <a:avLst/>
            </a:prstGeom>
            <a:solidFill>
              <a:srgbClr val="FFFFFF"/>
            </a:solidFill>
            <a:ln w="25400">
              <a:solidFill>
                <a:srgbClr val="000000"/>
              </a:solidFill>
              <a:miter lim="800000"/>
              <a:headEnd/>
              <a:tailEnd/>
            </a:ln>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b="1">
                  <a:latin typeface="Times New Roman" panose="02020603050405020304" pitchFamily="18" charset="0"/>
                </a:rPr>
                <a:t>PRESUPUESTO </a:t>
              </a:r>
            </a:p>
            <a:p>
              <a:pPr algn="ctr" eaLnBrk="1" hangingPunct="1"/>
              <a:r>
                <a:rPr lang="es-ES_tradnl" altLang="es-AR" b="1">
                  <a:latin typeface="Times New Roman" panose="02020603050405020304" pitchFamily="18" charset="0"/>
                </a:rPr>
                <a:t>DE VENTAS</a:t>
              </a:r>
              <a:endParaRPr lang="es-ES" altLang="es-AR"/>
            </a:p>
          </p:txBody>
        </p:sp>
        <p:sp>
          <p:nvSpPr>
            <p:cNvPr id="23574" name="AutoShape 10">
              <a:extLst>
                <a:ext uri="{FF2B5EF4-FFF2-40B4-BE49-F238E27FC236}">
                  <a16:creationId xmlns:a16="http://schemas.microsoft.com/office/drawing/2014/main" id="{720DDE13-1867-44D4-A979-87543888BCB4}"/>
                </a:ext>
              </a:extLst>
            </p:cNvPr>
            <p:cNvSpPr>
              <a:spLocks noChangeArrowheads="1"/>
            </p:cNvSpPr>
            <p:nvPr/>
          </p:nvSpPr>
          <p:spPr bwMode="auto">
            <a:xfrm>
              <a:off x="2961" y="11104"/>
              <a:ext cx="1800" cy="720"/>
            </a:xfrm>
            <a:prstGeom prst="flowChartProcess">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b="1">
                  <a:latin typeface="Times New Roman" panose="02020603050405020304" pitchFamily="18" charset="0"/>
                </a:rPr>
                <a:t>PLAN DE</a:t>
              </a:r>
              <a:r>
                <a:rPr lang="es-ES_tradnl" altLang="es-AR">
                  <a:latin typeface="Times New Roman" panose="02020603050405020304" pitchFamily="18" charset="0"/>
                </a:rPr>
                <a:t> </a:t>
              </a:r>
              <a:r>
                <a:rPr lang="es-ES_tradnl" altLang="es-AR" b="1">
                  <a:latin typeface="Times New Roman" panose="02020603050405020304" pitchFamily="18" charset="0"/>
                </a:rPr>
                <a:t>PRODUCCION</a:t>
              </a:r>
              <a:endParaRPr lang="es-ES_tradnl" altLang="es-AR">
                <a:latin typeface="Times New Roman" panose="02020603050405020304" pitchFamily="18" charset="0"/>
              </a:endParaRPr>
            </a:p>
            <a:p>
              <a:pPr eaLnBrk="1" hangingPunct="1"/>
              <a:endParaRPr lang="es-ES" altLang="es-AR"/>
            </a:p>
          </p:txBody>
        </p:sp>
        <p:sp>
          <p:nvSpPr>
            <p:cNvPr id="23575" name="AutoShape 11">
              <a:extLst>
                <a:ext uri="{FF2B5EF4-FFF2-40B4-BE49-F238E27FC236}">
                  <a16:creationId xmlns:a16="http://schemas.microsoft.com/office/drawing/2014/main" id="{198B9182-BC2C-4C95-98B8-80CBF2656110}"/>
                </a:ext>
              </a:extLst>
            </p:cNvPr>
            <p:cNvSpPr>
              <a:spLocks noChangeArrowheads="1"/>
            </p:cNvSpPr>
            <p:nvPr/>
          </p:nvSpPr>
          <p:spPr bwMode="auto">
            <a:xfrm>
              <a:off x="5481" y="11104"/>
              <a:ext cx="2160" cy="720"/>
            </a:xfrm>
            <a:prstGeom prst="flowChartProcess">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b="1">
                  <a:latin typeface="Times New Roman" panose="02020603050405020304" pitchFamily="18" charset="0"/>
                </a:rPr>
                <a:t>PROGRAMA DE PRODUCCION</a:t>
              </a:r>
            </a:p>
            <a:p>
              <a:pPr algn="ctr" eaLnBrk="1" hangingPunct="1"/>
              <a:endParaRPr lang="es-ES" altLang="es-AR"/>
            </a:p>
          </p:txBody>
        </p:sp>
        <p:sp>
          <p:nvSpPr>
            <p:cNvPr id="23576" name="AutoShape 12">
              <a:extLst>
                <a:ext uri="{FF2B5EF4-FFF2-40B4-BE49-F238E27FC236}">
                  <a16:creationId xmlns:a16="http://schemas.microsoft.com/office/drawing/2014/main" id="{C69C15D7-B218-4A6A-9F63-0719F77191A0}"/>
                </a:ext>
              </a:extLst>
            </p:cNvPr>
            <p:cNvSpPr>
              <a:spLocks noChangeArrowheads="1"/>
            </p:cNvSpPr>
            <p:nvPr/>
          </p:nvSpPr>
          <p:spPr bwMode="auto">
            <a:xfrm>
              <a:off x="8181" y="11104"/>
              <a:ext cx="1980" cy="720"/>
            </a:xfrm>
            <a:prstGeom prst="flowChartProcess">
              <a:avLst/>
            </a:prstGeom>
            <a:solidFill>
              <a:srgbClr val="FFFFFF"/>
            </a:solidFill>
            <a:ln w="25400">
              <a:solidFill>
                <a:srgbClr val="000000"/>
              </a:solidFill>
              <a:miter lim="800000"/>
              <a:headEnd/>
              <a:tailEnd/>
            </a:ln>
          </p:spPr>
          <p:txBody>
            <a:bodyPr wrap="none"/>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b="1">
                  <a:latin typeface="Times New Roman" panose="02020603050405020304" pitchFamily="18" charset="0"/>
                </a:rPr>
                <a:t>PRESUPUESTO DE </a:t>
              </a:r>
            </a:p>
            <a:p>
              <a:pPr algn="ctr" eaLnBrk="1" hangingPunct="1"/>
              <a:r>
                <a:rPr lang="es-ES_tradnl" altLang="es-AR" b="1">
                  <a:latin typeface="Times New Roman" panose="02020603050405020304" pitchFamily="18" charset="0"/>
                </a:rPr>
                <a:t>PRODUCCION</a:t>
              </a:r>
            </a:p>
            <a:p>
              <a:pPr algn="ctr" eaLnBrk="1" hangingPunct="1"/>
              <a:endParaRPr lang="es-ES" altLang="es-AR"/>
            </a:p>
          </p:txBody>
        </p:sp>
        <p:sp>
          <p:nvSpPr>
            <p:cNvPr id="23577" name="AutoShape 13">
              <a:extLst>
                <a:ext uri="{FF2B5EF4-FFF2-40B4-BE49-F238E27FC236}">
                  <a16:creationId xmlns:a16="http://schemas.microsoft.com/office/drawing/2014/main" id="{63D1D03E-2A4D-48FD-A933-5074D7F3D578}"/>
                </a:ext>
              </a:extLst>
            </p:cNvPr>
            <p:cNvSpPr>
              <a:spLocks noChangeArrowheads="1"/>
            </p:cNvSpPr>
            <p:nvPr/>
          </p:nvSpPr>
          <p:spPr bwMode="auto">
            <a:xfrm>
              <a:off x="1881" y="10024"/>
              <a:ext cx="1440" cy="720"/>
            </a:xfrm>
            <a:prstGeom prst="flowChartProcess">
              <a:avLst/>
            </a:prstGeom>
            <a:solidFill>
              <a:srgbClr val="FF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b="1">
                  <a:latin typeface="Times New Roman" panose="02020603050405020304" pitchFamily="18" charset="0"/>
                </a:rPr>
                <a:t>NIVEL DE</a:t>
              </a:r>
            </a:p>
            <a:p>
              <a:pPr algn="ctr" eaLnBrk="1" hangingPunct="1"/>
              <a:r>
                <a:rPr lang="es-ES_tradnl" altLang="es-AR" b="1">
                  <a:latin typeface="Times New Roman" panose="02020603050405020304" pitchFamily="18" charset="0"/>
                </a:rPr>
                <a:t>STOCK</a:t>
              </a:r>
              <a:endParaRPr lang="es-ES" altLang="es-AR"/>
            </a:p>
          </p:txBody>
        </p:sp>
        <p:sp>
          <p:nvSpPr>
            <p:cNvPr id="23578" name="Line 14">
              <a:extLst>
                <a:ext uri="{FF2B5EF4-FFF2-40B4-BE49-F238E27FC236}">
                  <a16:creationId xmlns:a16="http://schemas.microsoft.com/office/drawing/2014/main" id="{13D21D91-2628-40C1-8082-D8853960C994}"/>
                </a:ext>
              </a:extLst>
            </p:cNvPr>
            <p:cNvSpPr>
              <a:spLocks noChangeShapeType="1"/>
            </p:cNvSpPr>
            <p:nvPr/>
          </p:nvSpPr>
          <p:spPr bwMode="auto">
            <a:xfrm>
              <a:off x="2421" y="9304"/>
              <a:ext cx="0" cy="7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23579" name="Line 15">
              <a:extLst>
                <a:ext uri="{FF2B5EF4-FFF2-40B4-BE49-F238E27FC236}">
                  <a16:creationId xmlns:a16="http://schemas.microsoft.com/office/drawing/2014/main" id="{34E65B36-714F-4B02-8C37-D4CD82EF9093}"/>
                </a:ext>
              </a:extLst>
            </p:cNvPr>
            <p:cNvSpPr>
              <a:spLocks noChangeShapeType="1"/>
            </p:cNvSpPr>
            <p:nvPr/>
          </p:nvSpPr>
          <p:spPr bwMode="auto">
            <a:xfrm>
              <a:off x="2421" y="10744"/>
              <a:ext cx="0" cy="7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23580" name="Line 16">
              <a:extLst>
                <a:ext uri="{FF2B5EF4-FFF2-40B4-BE49-F238E27FC236}">
                  <a16:creationId xmlns:a16="http://schemas.microsoft.com/office/drawing/2014/main" id="{21016312-7699-42B3-999F-D5ABC0711A5C}"/>
                </a:ext>
              </a:extLst>
            </p:cNvPr>
            <p:cNvSpPr>
              <a:spLocks noChangeShapeType="1"/>
            </p:cNvSpPr>
            <p:nvPr/>
          </p:nvSpPr>
          <p:spPr bwMode="auto">
            <a:xfrm>
              <a:off x="2421" y="9304"/>
              <a:ext cx="90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23581" name="Line 17">
              <a:extLst>
                <a:ext uri="{FF2B5EF4-FFF2-40B4-BE49-F238E27FC236}">
                  <a16:creationId xmlns:a16="http://schemas.microsoft.com/office/drawing/2014/main" id="{1B021E65-0D64-4F99-9ED1-2AF774254302}"/>
                </a:ext>
              </a:extLst>
            </p:cNvPr>
            <p:cNvSpPr>
              <a:spLocks noChangeShapeType="1"/>
            </p:cNvSpPr>
            <p:nvPr/>
          </p:nvSpPr>
          <p:spPr bwMode="auto">
            <a:xfrm>
              <a:off x="4581" y="9304"/>
              <a:ext cx="90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23582" name="Line 18">
              <a:extLst>
                <a:ext uri="{FF2B5EF4-FFF2-40B4-BE49-F238E27FC236}">
                  <a16:creationId xmlns:a16="http://schemas.microsoft.com/office/drawing/2014/main" id="{5C612BFA-BA9E-40B9-B8A5-58264082131E}"/>
                </a:ext>
              </a:extLst>
            </p:cNvPr>
            <p:cNvSpPr>
              <a:spLocks noChangeShapeType="1"/>
            </p:cNvSpPr>
            <p:nvPr/>
          </p:nvSpPr>
          <p:spPr bwMode="auto">
            <a:xfrm>
              <a:off x="7461" y="9304"/>
              <a:ext cx="108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23583" name="Line 19">
              <a:extLst>
                <a:ext uri="{FF2B5EF4-FFF2-40B4-BE49-F238E27FC236}">
                  <a16:creationId xmlns:a16="http://schemas.microsoft.com/office/drawing/2014/main" id="{BDCE4CB7-3A54-424B-A85C-6F7900C15502}"/>
                </a:ext>
              </a:extLst>
            </p:cNvPr>
            <p:cNvSpPr>
              <a:spLocks noChangeShapeType="1"/>
            </p:cNvSpPr>
            <p:nvPr/>
          </p:nvSpPr>
          <p:spPr bwMode="auto">
            <a:xfrm>
              <a:off x="7641" y="11464"/>
              <a:ext cx="54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23584" name="Line 20">
              <a:extLst>
                <a:ext uri="{FF2B5EF4-FFF2-40B4-BE49-F238E27FC236}">
                  <a16:creationId xmlns:a16="http://schemas.microsoft.com/office/drawing/2014/main" id="{E9AD46F8-7E42-41AC-A238-B957C6EA33EE}"/>
                </a:ext>
              </a:extLst>
            </p:cNvPr>
            <p:cNvSpPr>
              <a:spLocks noChangeShapeType="1"/>
            </p:cNvSpPr>
            <p:nvPr/>
          </p:nvSpPr>
          <p:spPr bwMode="auto">
            <a:xfrm>
              <a:off x="4761" y="11464"/>
              <a:ext cx="72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23585" name="Line 21">
              <a:extLst>
                <a:ext uri="{FF2B5EF4-FFF2-40B4-BE49-F238E27FC236}">
                  <a16:creationId xmlns:a16="http://schemas.microsoft.com/office/drawing/2014/main" id="{A8BA5F8A-A012-4829-9A76-B3C191EEE033}"/>
                </a:ext>
              </a:extLst>
            </p:cNvPr>
            <p:cNvSpPr>
              <a:spLocks noChangeShapeType="1"/>
            </p:cNvSpPr>
            <p:nvPr/>
          </p:nvSpPr>
          <p:spPr bwMode="auto">
            <a:xfrm>
              <a:off x="2421" y="11464"/>
              <a:ext cx="54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grpSp>
      <p:sp>
        <p:nvSpPr>
          <p:cNvPr id="23556" name="Text Box 22">
            <a:extLst>
              <a:ext uri="{FF2B5EF4-FFF2-40B4-BE49-F238E27FC236}">
                <a16:creationId xmlns:a16="http://schemas.microsoft.com/office/drawing/2014/main" id="{62355113-C7F5-41DE-84FA-9B4B5519A542}"/>
              </a:ext>
            </a:extLst>
          </p:cNvPr>
          <p:cNvSpPr txBox="1">
            <a:spLocks noChangeArrowheads="1"/>
          </p:cNvSpPr>
          <p:nvPr/>
        </p:nvSpPr>
        <p:spPr bwMode="auto">
          <a:xfrm>
            <a:off x="1487488" y="1989138"/>
            <a:ext cx="1441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latin typeface="Times New Roman" panose="02020603050405020304" pitchFamily="18" charset="0"/>
              </a:rPr>
              <a:t>PRONOSTICO</a:t>
            </a:r>
            <a:endParaRPr lang="es-ES" altLang="es-AR" sz="1400" b="1" dirty="0">
              <a:latin typeface="Times New Roman" panose="02020603050405020304" pitchFamily="18" charset="0"/>
            </a:endParaRPr>
          </a:p>
        </p:txBody>
      </p:sp>
      <p:sp>
        <p:nvSpPr>
          <p:cNvPr id="23557" name="Text Box 23">
            <a:extLst>
              <a:ext uri="{FF2B5EF4-FFF2-40B4-BE49-F238E27FC236}">
                <a16:creationId xmlns:a16="http://schemas.microsoft.com/office/drawing/2014/main" id="{7C3FD1DC-62F1-43CE-8C66-577D0BE58466}"/>
              </a:ext>
            </a:extLst>
          </p:cNvPr>
          <p:cNvSpPr txBox="1">
            <a:spLocks noChangeArrowheads="1"/>
          </p:cNvSpPr>
          <p:nvPr/>
        </p:nvSpPr>
        <p:spPr bwMode="auto">
          <a:xfrm>
            <a:off x="2742204" y="1307056"/>
            <a:ext cx="14414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latin typeface="Times New Roman" panose="02020603050405020304" pitchFamily="18" charset="0"/>
              </a:rPr>
              <a:t>TENDENCIA</a:t>
            </a:r>
            <a:endParaRPr lang="es-ES" altLang="es-AR" sz="1400" b="1" dirty="0">
              <a:latin typeface="Times New Roman" panose="02020603050405020304" pitchFamily="18" charset="0"/>
            </a:endParaRPr>
          </a:p>
        </p:txBody>
      </p:sp>
      <p:sp>
        <p:nvSpPr>
          <p:cNvPr id="23558" name="Line 24">
            <a:extLst>
              <a:ext uri="{FF2B5EF4-FFF2-40B4-BE49-F238E27FC236}">
                <a16:creationId xmlns:a16="http://schemas.microsoft.com/office/drawing/2014/main" id="{FA4D47AE-35CA-4584-9DE2-9F4494F04974}"/>
              </a:ext>
            </a:extLst>
          </p:cNvPr>
          <p:cNvSpPr>
            <a:spLocks noChangeShapeType="1"/>
          </p:cNvSpPr>
          <p:nvPr/>
        </p:nvSpPr>
        <p:spPr bwMode="auto">
          <a:xfrm>
            <a:off x="2640013" y="1412875"/>
            <a:ext cx="647700"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59" name="Line 25">
            <a:extLst>
              <a:ext uri="{FF2B5EF4-FFF2-40B4-BE49-F238E27FC236}">
                <a16:creationId xmlns:a16="http://schemas.microsoft.com/office/drawing/2014/main" id="{167B8B79-E30F-4B32-87B9-C30006DB5362}"/>
              </a:ext>
            </a:extLst>
          </p:cNvPr>
          <p:cNvSpPr>
            <a:spLocks noChangeShapeType="1"/>
          </p:cNvSpPr>
          <p:nvPr/>
        </p:nvSpPr>
        <p:spPr bwMode="auto">
          <a:xfrm>
            <a:off x="4943475" y="1412875"/>
            <a:ext cx="647700" cy="6477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AR"/>
          </a:p>
        </p:txBody>
      </p:sp>
      <p:sp>
        <p:nvSpPr>
          <p:cNvPr id="23560" name="Text Box 26">
            <a:extLst>
              <a:ext uri="{FF2B5EF4-FFF2-40B4-BE49-F238E27FC236}">
                <a16:creationId xmlns:a16="http://schemas.microsoft.com/office/drawing/2014/main" id="{0E96BC1A-ABA6-4DC4-8ED3-95A4FB336024}"/>
              </a:ext>
            </a:extLst>
          </p:cNvPr>
          <p:cNvSpPr txBox="1">
            <a:spLocks noChangeArrowheads="1"/>
          </p:cNvSpPr>
          <p:nvPr/>
        </p:nvSpPr>
        <p:spPr bwMode="auto">
          <a:xfrm>
            <a:off x="5042286" y="1295245"/>
            <a:ext cx="1944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latin typeface="Times New Roman" panose="02020603050405020304" pitchFamily="18" charset="0"/>
              </a:rPr>
              <a:t>ESTACIONALIDAD</a:t>
            </a:r>
            <a:endParaRPr lang="es-ES" altLang="es-AR" sz="1400" b="1" dirty="0">
              <a:latin typeface="Times New Roman" panose="02020603050405020304" pitchFamily="18" charset="0"/>
            </a:endParaRPr>
          </a:p>
        </p:txBody>
      </p:sp>
      <p:sp>
        <p:nvSpPr>
          <p:cNvPr id="23561" name="Text Box 27">
            <a:extLst>
              <a:ext uri="{FF2B5EF4-FFF2-40B4-BE49-F238E27FC236}">
                <a16:creationId xmlns:a16="http://schemas.microsoft.com/office/drawing/2014/main" id="{3AA332D5-ED5F-44A1-8060-EBBF146C9C3F}"/>
              </a:ext>
            </a:extLst>
          </p:cNvPr>
          <p:cNvSpPr txBox="1">
            <a:spLocks noChangeArrowheads="1"/>
          </p:cNvSpPr>
          <p:nvPr/>
        </p:nvSpPr>
        <p:spPr bwMode="auto">
          <a:xfrm>
            <a:off x="3216275" y="2997200"/>
            <a:ext cx="1441450" cy="471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latin typeface="Times New Roman" panose="02020603050405020304" pitchFamily="18" charset="0"/>
              </a:rPr>
              <a:t>Q</a:t>
            </a:r>
            <a:r>
              <a:rPr lang="es-AR" altLang="es-AR" sz="1600" b="1" baseline="-25000" dirty="0">
                <a:latin typeface="Times New Roman" panose="02020603050405020304" pitchFamily="18" charset="0"/>
              </a:rPr>
              <a:t> A VENDER TOTAL</a:t>
            </a:r>
            <a:endParaRPr lang="es-ES" altLang="es-AR" sz="1600" b="1" baseline="-25000" dirty="0">
              <a:latin typeface="Times New Roman" panose="02020603050405020304" pitchFamily="18" charset="0"/>
            </a:endParaRPr>
          </a:p>
        </p:txBody>
      </p:sp>
      <p:sp>
        <p:nvSpPr>
          <p:cNvPr id="23562" name="Text Box 28">
            <a:extLst>
              <a:ext uri="{FF2B5EF4-FFF2-40B4-BE49-F238E27FC236}">
                <a16:creationId xmlns:a16="http://schemas.microsoft.com/office/drawing/2014/main" id="{DFDE0C97-02C3-47FE-8365-13479BC387EC}"/>
              </a:ext>
            </a:extLst>
          </p:cNvPr>
          <p:cNvSpPr txBox="1">
            <a:spLocks noChangeArrowheads="1"/>
          </p:cNvSpPr>
          <p:nvPr/>
        </p:nvSpPr>
        <p:spPr bwMode="auto">
          <a:xfrm>
            <a:off x="6022975" y="2997200"/>
            <a:ext cx="144145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latin typeface="Times New Roman" panose="02020603050405020304" pitchFamily="18" charset="0"/>
              </a:rPr>
              <a:t>Q</a:t>
            </a:r>
            <a:r>
              <a:rPr lang="es-AR" altLang="es-AR" sz="1600" b="1" baseline="-25000" dirty="0">
                <a:latin typeface="Times New Roman" panose="02020603050405020304" pitchFamily="18" charset="0"/>
              </a:rPr>
              <a:t> A VENDER </a:t>
            </a:r>
          </a:p>
          <a:p>
            <a:pPr algn="ctr" eaLnBrk="1" hangingPunct="1">
              <a:spcBef>
                <a:spcPct val="50000"/>
              </a:spcBef>
            </a:pPr>
            <a:r>
              <a:rPr lang="es-AR" altLang="es-AR" sz="1600" b="1" baseline="-25000" dirty="0">
                <a:latin typeface="Times New Roman" panose="02020603050405020304" pitchFamily="18" charset="0"/>
              </a:rPr>
              <a:t>MES A MES</a:t>
            </a:r>
            <a:endParaRPr lang="es-ES" altLang="es-AR" sz="1600" b="1" baseline="-25000" dirty="0">
              <a:latin typeface="Times New Roman" panose="02020603050405020304" pitchFamily="18" charset="0"/>
            </a:endParaRPr>
          </a:p>
        </p:txBody>
      </p:sp>
      <p:sp>
        <p:nvSpPr>
          <p:cNvPr id="23563" name="Text Box 29">
            <a:extLst>
              <a:ext uri="{FF2B5EF4-FFF2-40B4-BE49-F238E27FC236}">
                <a16:creationId xmlns:a16="http://schemas.microsoft.com/office/drawing/2014/main" id="{342FA7D0-DEA5-440B-8674-415EDD4C21CE}"/>
              </a:ext>
            </a:extLst>
          </p:cNvPr>
          <p:cNvSpPr txBox="1">
            <a:spLocks noChangeArrowheads="1"/>
          </p:cNvSpPr>
          <p:nvPr/>
        </p:nvSpPr>
        <p:spPr bwMode="auto">
          <a:xfrm>
            <a:off x="8832850" y="2997200"/>
            <a:ext cx="172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a:latin typeface="Times New Roman" panose="02020603050405020304" pitchFamily="18" charset="0"/>
              </a:rPr>
              <a:t>Q</a:t>
            </a:r>
            <a:r>
              <a:rPr lang="es-AR" altLang="es-AR" sz="1600" b="1" baseline="-25000">
                <a:latin typeface="Times New Roman" panose="02020603050405020304" pitchFamily="18" charset="0"/>
              </a:rPr>
              <a:t> A VENDER</a:t>
            </a:r>
            <a:r>
              <a:rPr lang="es-AR" altLang="es-AR" sz="1600" b="1">
                <a:latin typeface="Times New Roman" panose="02020603050405020304" pitchFamily="18" charset="0"/>
              </a:rPr>
              <a:t> x PV</a:t>
            </a:r>
            <a:r>
              <a:rPr lang="es-AR" altLang="es-AR" sz="1600" b="1" baseline="-25000">
                <a:latin typeface="Times New Roman" panose="02020603050405020304" pitchFamily="18" charset="0"/>
              </a:rPr>
              <a:t>U</a:t>
            </a:r>
            <a:endParaRPr lang="es-ES" altLang="es-AR" sz="1600" b="1" baseline="-25000">
              <a:latin typeface="Times New Roman" panose="02020603050405020304" pitchFamily="18" charset="0"/>
            </a:endParaRPr>
          </a:p>
        </p:txBody>
      </p:sp>
      <p:sp>
        <p:nvSpPr>
          <p:cNvPr id="23564" name="Text Box 30">
            <a:extLst>
              <a:ext uri="{FF2B5EF4-FFF2-40B4-BE49-F238E27FC236}">
                <a16:creationId xmlns:a16="http://schemas.microsoft.com/office/drawing/2014/main" id="{DBCBF8A3-A396-44AF-B726-5CA6FDDD86F0}"/>
              </a:ext>
            </a:extLst>
          </p:cNvPr>
          <p:cNvSpPr txBox="1">
            <a:spLocks noChangeArrowheads="1"/>
          </p:cNvSpPr>
          <p:nvPr/>
        </p:nvSpPr>
        <p:spPr bwMode="auto">
          <a:xfrm>
            <a:off x="3143250" y="5157788"/>
            <a:ext cx="1441450" cy="471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latin typeface="Times New Roman" panose="02020603050405020304" pitchFamily="18" charset="0"/>
              </a:rPr>
              <a:t>Q</a:t>
            </a:r>
            <a:r>
              <a:rPr lang="es-AR" altLang="es-AR" sz="1600" b="1" baseline="-25000" dirty="0">
                <a:latin typeface="Times New Roman" panose="02020603050405020304" pitchFamily="18" charset="0"/>
              </a:rPr>
              <a:t> A PRODUCIR TOTAL</a:t>
            </a:r>
            <a:endParaRPr lang="es-ES" altLang="es-AR" sz="1600" b="1" baseline="-25000" dirty="0">
              <a:latin typeface="Times New Roman" panose="02020603050405020304" pitchFamily="18" charset="0"/>
            </a:endParaRPr>
          </a:p>
        </p:txBody>
      </p:sp>
      <p:sp>
        <p:nvSpPr>
          <p:cNvPr id="23565" name="Text Box 31">
            <a:extLst>
              <a:ext uri="{FF2B5EF4-FFF2-40B4-BE49-F238E27FC236}">
                <a16:creationId xmlns:a16="http://schemas.microsoft.com/office/drawing/2014/main" id="{69536BF8-5B52-4092-81CD-947382CCA3B2}"/>
              </a:ext>
            </a:extLst>
          </p:cNvPr>
          <p:cNvSpPr txBox="1">
            <a:spLocks noChangeArrowheads="1"/>
          </p:cNvSpPr>
          <p:nvPr/>
        </p:nvSpPr>
        <p:spPr bwMode="auto">
          <a:xfrm>
            <a:off x="6094413" y="5157788"/>
            <a:ext cx="1441450" cy="471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dirty="0">
                <a:latin typeface="Times New Roman" panose="02020603050405020304" pitchFamily="18" charset="0"/>
              </a:rPr>
              <a:t>Q</a:t>
            </a:r>
            <a:r>
              <a:rPr lang="es-AR" altLang="es-AR" sz="1600" b="1" baseline="-25000" dirty="0">
                <a:latin typeface="Times New Roman" panose="02020603050405020304" pitchFamily="18" charset="0"/>
              </a:rPr>
              <a:t> A PRODUCIR MES A MES</a:t>
            </a:r>
            <a:endParaRPr lang="es-ES" altLang="es-AR" sz="1600" b="1" baseline="-25000" dirty="0">
              <a:latin typeface="Times New Roman" panose="02020603050405020304" pitchFamily="18" charset="0"/>
            </a:endParaRPr>
          </a:p>
        </p:txBody>
      </p:sp>
      <p:sp>
        <p:nvSpPr>
          <p:cNvPr id="23566" name="Text Box 32">
            <a:extLst>
              <a:ext uri="{FF2B5EF4-FFF2-40B4-BE49-F238E27FC236}">
                <a16:creationId xmlns:a16="http://schemas.microsoft.com/office/drawing/2014/main" id="{12111FB4-A864-41B9-807A-A96495FDF1C7}"/>
              </a:ext>
            </a:extLst>
          </p:cNvPr>
          <p:cNvSpPr txBox="1">
            <a:spLocks noChangeArrowheads="1"/>
          </p:cNvSpPr>
          <p:nvPr/>
        </p:nvSpPr>
        <p:spPr bwMode="auto">
          <a:xfrm>
            <a:off x="8832850" y="5157788"/>
            <a:ext cx="172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400" b="1">
                <a:latin typeface="Times New Roman" panose="02020603050405020304" pitchFamily="18" charset="0"/>
              </a:rPr>
              <a:t>Q</a:t>
            </a:r>
            <a:r>
              <a:rPr lang="es-AR" altLang="es-AR" sz="1600" b="1" baseline="-25000">
                <a:latin typeface="Times New Roman" panose="02020603050405020304" pitchFamily="18" charset="0"/>
              </a:rPr>
              <a:t> A PRODUCIR</a:t>
            </a:r>
            <a:r>
              <a:rPr lang="es-AR" altLang="es-AR" sz="1600" b="1">
                <a:latin typeface="Times New Roman" panose="02020603050405020304" pitchFamily="18" charset="0"/>
              </a:rPr>
              <a:t> x C</a:t>
            </a:r>
            <a:r>
              <a:rPr lang="es-AR" altLang="es-AR" sz="1600" b="1" baseline="-25000">
                <a:latin typeface="Times New Roman" panose="02020603050405020304" pitchFamily="18" charset="0"/>
              </a:rPr>
              <a:t>U</a:t>
            </a:r>
            <a:endParaRPr lang="es-ES" altLang="es-AR" sz="1600" b="1" baseline="-25000">
              <a:latin typeface="Times New Roman" panose="02020603050405020304" pitchFamily="18" charset="0"/>
            </a:endParaRPr>
          </a:p>
        </p:txBody>
      </p:sp>
      <p:sp>
        <p:nvSpPr>
          <p:cNvPr id="60449" name="Text Box 33">
            <a:extLst>
              <a:ext uri="{FF2B5EF4-FFF2-40B4-BE49-F238E27FC236}">
                <a16:creationId xmlns:a16="http://schemas.microsoft.com/office/drawing/2014/main" id="{509B1B1E-15B0-4249-9524-F63357435B89}"/>
              </a:ext>
            </a:extLst>
          </p:cNvPr>
          <p:cNvSpPr txBox="1">
            <a:spLocks noChangeArrowheads="1"/>
          </p:cNvSpPr>
          <p:nvPr/>
        </p:nvSpPr>
        <p:spPr bwMode="auto">
          <a:xfrm>
            <a:off x="7857585" y="5452747"/>
            <a:ext cx="27024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spcBef>
                <a:spcPct val="50000"/>
              </a:spcBef>
              <a:defRPr/>
            </a:pPr>
            <a:r>
              <a:rPr lang="es-AR" altLang="es-AR" sz="1600" dirty="0">
                <a:effectLst>
                  <a:outerShdw blurRad="38100" dist="38100" dir="2700000" algn="tl">
                    <a:srgbClr val="C0C0C0"/>
                  </a:outerShdw>
                </a:effectLst>
                <a:latin typeface="Times New Roman" pitchFamily="18" charset="0"/>
              </a:rPr>
              <a:t>(C</a:t>
            </a:r>
            <a:r>
              <a:rPr lang="es-AR" altLang="es-AR" sz="1600" baseline="-25000" dirty="0">
                <a:effectLst>
                  <a:outerShdw blurRad="38100" dist="38100" dir="2700000" algn="tl">
                    <a:srgbClr val="C0C0C0"/>
                  </a:outerShdw>
                </a:effectLst>
                <a:latin typeface="Times New Roman" pitchFamily="18" charset="0"/>
              </a:rPr>
              <a:t>U</a:t>
            </a:r>
            <a:r>
              <a:rPr lang="es-AR" altLang="es-AR" sz="1600" dirty="0">
                <a:effectLst>
                  <a:outerShdw blurRad="38100" dist="38100" dir="2700000" algn="tl">
                    <a:srgbClr val="C0C0C0"/>
                  </a:outerShdw>
                </a:effectLst>
                <a:latin typeface="Times New Roman" pitchFamily="18" charset="0"/>
              </a:rPr>
              <a:t> = Costo Predeterminado)</a:t>
            </a:r>
            <a:endParaRPr lang="es-ES" altLang="es-AR" sz="1600" baseline="-25000" dirty="0">
              <a:effectLst>
                <a:outerShdw blurRad="38100" dist="38100" dir="2700000" algn="tl">
                  <a:srgbClr val="C0C0C0"/>
                </a:outerShdw>
              </a:effectLst>
              <a:latin typeface="Times New Roman" pitchFamily="18" charset="0"/>
            </a:endParaRPr>
          </a:p>
        </p:txBody>
      </p:sp>
      <p:sp>
        <p:nvSpPr>
          <p:cNvPr id="60450" name="Text Box 34">
            <a:extLst>
              <a:ext uri="{FF2B5EF4-FFF2-40B4-BE49-F238E27FC236}">
                <a16:creationId xmlns:a16="http://schemas.microsoft.com/office/drawing/2014/main" id="{5F1AF61E-A1F5-476F-A52A-20123EE03FA8}"/>
              </a:ext>
            </a:extLst>
          </p:cNvPr>
          <p:cNvSpPr txBox="1">
            <a:spLocks noChangeArrowheads="1"/>
          </p:cNvSpPr>
          <p:nvPr/>
        </p:nvSpPr>
        <p:spPr bwMode="auto">
          <a:xfrm>
            <a:off x="7664552" y="3363818"/>
            <a:ext cx="289549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spcBef>
                <a:spcPct val="50000"/>
              </a:spcBef>
              <a:defRPr/>
            </a:pPr>
            <a:r>
              <a:rPr lang="es-AR" altLang="es-AR" sz="1600" dirty="0">
                <a:effectLst>
                  <a:outerShdw blurRad="38100" dist="38100" dir="2700000" algn="tl">
                    <a:srgbClr val="C0C0C0"/>
                  </a:outerShdw>
                </a:effectLst>
                <a:latin typeface="Times New Roman" pitchFamily="18" charset="0"/>
              </a:rPr>
              <a:t>(PV</a:t>
            </a:r>
            <a:r>
              <a:rPr lang="es-AR" altLang="es-AR" sz="1600" baseline="-25000" dirty="0">
                <a:effectLst>
                  <a:outerShdw blurRad="38100" dist="38100" dir="2700000" algn="tl">
                    <a:srgbClr val="C0C0C0"/>
                  </a:outerShdw>
                </a:effectLst>
                <a:latin typeface="Times New Roman" pitchFamily="18" charset="0"/>
              </a:rPr>
              <a:t>U</a:t>
            </a:r>
            <a:r>
              <a:rPr lang="es-AR" altLang="es-AR" sz="1600" dirty="0">
                <a:effectLst>
                  <a:outerShdw blurRad="38100" dist="38100" dir="2700000" algn="tl">
                    <a:srgbClr val="C0C0C0"/>
                  </a:outerShdw>
                </a:effectLst>
                <a:latin typeface="Times New Roman" pitchFamily="18" charset="0"/>
              </a:rPr>
              <a:t> = Precio Predeterminado)</a:t>
            </a:r>
            <a:endParaRPr lang="es-ES" altLang="es-AR" sz="1600" baseline="-25000" dirty="0">
              <a:effectLst>
                <a:outerShdw blurRad="38100" dist="38100" dir="2700000" algn="tl">
                  <a:srgbClr val="C0C0C0"/>
                </a:outerShdw>
              </a:effectLst>
              <a:latin typeface="Times New Roman" pitchFamily="18" charset="0"/>
            </a:endParaRPr>
          </a:p>
        </p:txBody>
      </p:sp>
      <p:sp>
        <p:nvSpPr>
          <p:cNvPr id="33" name="32 CuadroTexto">
            <a:extLst>
              <a:ext uri="{FF2B5EF4-FFF2-40B4-BE49-F238E27FC236}">
                <a16:creationId xmlns:a16="http://schemas.microsoft.com/office/drawing/2014/main" id="{23BBDA01-5BF5-4EED-93E0-AF8675AF8B46}"/>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21                                          Sistema Presupuestario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Text Box 6">
            <a:extLst>
              <a:ext uri="{FF2B5EF4-FFF2-40B4-BE49-F238E27FC236}">
                <a16:creationId xmlns:a16="http://schemas.microsoft.com/office/drawing/2014/main" id="{11597BD3-2E1F-4120-8A68-6F85A24ED80D}"/>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COMPRAS</a:t>
            </a:r>
          </a:p>
        </p:txBody>
      </p:sp>
      <p:sp>
        <p:nvSpPr>
          <p:cNvPr id="29703" name="Rectangle 7">
            <a:extLst>
              <a:ext uri="{FF2B5EF4-FFF2-40B4-BE49-F238E27FC236}">
                <a16:creationId xmlns:a16="http://schemas.microsoft.com/office/drawing/2014/main" id="{DAF1D34E-FA7E-45AC-B8A6-6C746A2791C2}"/>
              </a:ext>
            </a:extLst>
          </p:cNvPr>
          <p:cNvSpPr>
            <a:spLocks noChangeArrowheads="1"/>
          </p:cNvSpPr>
          <p:nvPr/>
        </p:nvSpPr>
        <p:spPr bwMode="auto">
          <a:xfrm>
            <a:off x="1200151" y="1068388"/>
            <a:ext cx="9777413" cy="1698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En base al programa de producción, se </a:t>
            </a:r>
            <a:r>
              <a:rPr lang="es-ES" altLang="es-AR" sz="2000" b="1" dirty="0">
                <a:latin typeface="+mj-lt"/>
              </a:rPr>
              <a:t>planifica</a:t>
            </a:r>
            <a:r>
              <a:rPr lang="es-ES" altLang="es-AR" sz="2000" dirty="0">
                <a:latin typeface="+mj-lt"/>
              </a:rPr>
              <a:t> la provisión de materia prima, materiales consumibles, o semielaborados en la cantidad y luego se </a:t>
            </a:r>
            <a:r>
              <a:rPr lang="es-ES" altLang="es-AR" sz="2000" b="1" dirty="0">
                <a:latin typeface="+mj-lt"/>
              </a:rPr>
              <a:t>programa</a:t>
            </a:r>
            <a:r>
              <a:rPr lang="es-ES" altLang="es-AR" sz="2000" dirty="0">
                <a:latin typeface="+mj-lt"/>
              </a:rPr>
              <a:t> de acuerdo al momento que se precisen, teniendo en cuenta los plazos de entrega por parte de los proveedores, el costo de las órdenes de compra y la reducción de los costos de almacenamiento.</a:t>
            </a:r>
          </a:p>
        </p:txBody>
      </p:sp>
      <p:sp>
        <p:nvSpPr>
          <p:cNvPr id="29704" name="Rectangle 8">
            <a:extLst>
              <a:ext uri="{FF2B5EF4-FFF2-40B4-BE49-F238E27FC236}">
                <a16:creationId xmlns:a16="http://schemas.microsoft.com/office/drawing/2014/main" id="{7F85591E-479E-439C-98A3-0A326FAFF093}"/>
              </a:ext>
            </a:extLst>
          </p:cNvPr>
          <p:cNvSpPr>
            <a:spLocks noChangeArrowheads="1"/>
          </p:cNvSpPr>
          <p:nvPr/>
        </p:nvSpPr>
        <p:spPr bwMode="auto">
          <a:xfrm>
            <a:off x="1207293" y="2849560"/>
            <a:ext cx="9777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ES" altLang="es-AR" sz="2000" dirty="0">
                <a:latin typeface="+mj-lt"/>
              </a:rPr>
              <a:t>Las órdenes de compra deben cursarse teniendo en cuenta:</a:t>
            </a:r>
          </a:p>
        </p:txBody>
      </p:sp>
      <p:sp>
        <p:nvSpPr>
          <p:cNvPr id="29705" name="Rectangle 9">
            <a:extLst>
              <a:ext uri="{FF2B5EF4-FFF2-40B4-BE49-F238E27FC236}">
                <a16:creationId xmlns:a16="http://schemas.microsoft.com/office/drawing/2014/main" id="{7141BD70-5FF9-438E-A083-7D16DF38477D}"/>
              </a:ext>
            </a:extLst>
          </p:cNvPr>
          <p:cNvSpPr>
            <a:spLocks noChangeArrowheads="1"/>
          </p:cNvSpPr>
          <p:nvPr/>
        </p:nvSpPr>
        <p:spPr bwMode="auto">
          <a:xfrm>
            <a:off x="1207293" y="3252785"/>
            <a:ext cx="9777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eaLnBrk="1" hangingPunct="1">
              <a:spcBef>
                <a:spcPct val="20000"/>
              </a:spcBef>
              <a:buClr>
                <a:schemeClr val="accent3">
                  <a:lumMod val="50000"/>
                </a:schemeClr>
              </a:buClr>
              <a:buFont typeface="Arial" panose="020B0604020202020204" pitchFamily="34" charset="0"/>
              <a:buChar char="•"/>
            </a:pPr>
            <a:r>
              <a:rPr lang="es-ES" altLang="es-AR" sz="2000" b="1" dirty="0">
                <a:latin typeface="+mj-lt"/>
              </a:rPr>
              <a:t>Los quiebres de stocks:</a:t>
            </a:r>
            <a:r>
              <a:rPr lang="es-ES" altLang="es-AR" sz="2000" dirty="0">
                <a:latin typeface="+mj-lt"/>
              </a:rPr>
              <a:t> evitar quedar desprovisto de stocks</a:t>
            </a:r>
          </a:p>
        </p:txBody>
      </p:sp>
      <p:sp>
        <p:nvSpPr>
          <p:cNvPr id="29706" name="Rectangle 10">
            <a:extLst>
              <a:ext uri="{FF2B5EF4-FFF2-40B4-BE49-F238E27FC236}">
                <a16:creationId xmlns:a16="http://schemas.microsoft.com/office/drawing/2014/main" id="{E49B5ED7-6BA0-42CE-B5C8-3D49887623B0}"/>
              </a:ext>
            </a:extLst>
          </p:cNvPr>
          <p:cNvSpPr>
            <a:spLocks noChangeArrowheads="1"/>
          </p:cNvSpPr>
          <p:nvPr/>
        </p:nvSpPr>
        <p:spPr bwMode="auto">
          <a:xfrm>
            <a:off x="1207293" y="3684586"/>
            <a:ext cx="9777413" cy="128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b="1" dirty="0">
                <a:latin typeface="+mj-lt"/>
              </a:rPr>
              <a:t>El stock de seguridad:</a:t>
            </a:r>
            <a:r>
              <a:rPr lang="es-ES" altLang="es-AR" sz="2000" dirty="0">
                <a:latin typeface="+mj-lt"/>
              </a:rPr>
              <a:t> necesario por ciertas eventualidades (retraso de los proveedores, aumento de la demanda, etc.), para evitar el quiebre de stocks.</a:t>
            </a:r>
          </a:p>
        </p:txBody>
      </p:sp>
      <p:sp>
        <p:nvSpPr>
          <p:cNvPr id="29707" name="Rectangle 11">
            <a:extLst>
              <a:ext uri="{FF2B5EF4-FFF2-40B4-BE49-F238E27FC236}">
                <a16:creationId xmlns:a16="http://schemas.microsoft.com/office/drawing/2014/main" id="{C75E4288-4F3F-43AE-A171-CDD1276DBFCB}"/>
              </a:ext>
            </a:extLst>
          </p:cNvPr>
          <p:cNvSpPr>
            <a:spLocks noChangeArrowheads="1"/>
          </p:cNvSpPr>
          <p:nvPr/>
        </p:nvSpPr>
        <p:spPr bwMode="auto">
          <a:xfrm>
            <a:off x="1219041" y="4664867"/>
            <a:ext cx="8080506" cy="776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b="1" dirty="0">
                <a:latin typeface="+mj-lt"/>
              </a:rPr>
              <a:t>El stock medio: </a:t>
            </a:r>
            <a:r>
              <a:rPr lang="es-ES" altLang="es-AR" sz="2000" dirty="0">
                <a:latin typeface="+mj-lt"/>
              </a:rPr>
              <a:t>es aquel que en promedio, debe permanecer en el almacén .</a:t>
            </a:r>
          </a:p>
        </p:txBody>
      </p:sp>
      <p:sp>
        <p:nvSpPr>
          <p:cNvPr id="8" name="7 CuadroTexto">
            <a:extLst>
              <a:ext uri="{FF2B5EF4-FFF2-40B4-BE49-F238E27FC236}">
                <a16:creationId xmlns:a16="http://schemas.microsoft.com/office/drawing/2014/main" id="{4C252478-CF9D-496A-869E-48F043C6D93B}"/>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22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70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7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70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7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p:bldP spid="29704" grpId="0"/>
      <p:bldP spid="29705" grpId="0"/>
      <p:bldP spid="29706" grpId="0"/>
      <p:bldP spid="2970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ext Box 4">
            <a:extLst>
              <a:ext uri="{FF2B5EF4-FFF2-40B4-BE49-F238E27FC236}">
                <a16:creationId xmlns:a16="http://schemas.microsoft.com/office/drawing/2014/main" id="{A94AC612-0386-477E-8FD7-EF6BA2E7D350}"/>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COMPRAS</a:t>
            </a:r>
          </a:p>
        </p:txBody>
      </p:sp>
      <p:sp>
        <p:nvSpPr>
          <p:cNvPr id="31749" name="Rectangle 5">
            <a:extLst>
              <a:ext uri="{FF2B5EF4-FFF2-40B4-BE49-F238E27FC236}">
                <a16:creationId xmlns:a16="http://schemas.microsoft.com/office/drawing/2014/main" id="{49B401C4-B522-4E38-981F-7CA2FA192DEA}"/>
              </a:ext>
            </a:extLst>
          </p:cNvPr>
          <p:cNvSpPr>
            <a:spLocks noChangeArrowheads="1"/>
          </p:cNvSpPr>
          <p:nvPr/>
        </p:nvSpPr>
        <p:spPr bwMode="auto">
          <a:xfrm>
            <a:off x="1200151" y="1139826"/>
            <a:ext cx="9777413" cy="1296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solidFill>
                  <a:schemeClr val="tx1">
                    <a:lumMod val="75000"/>
                    <a:lumOff val="25000"/>
                  </a:schemeClr>
                </a:solidFill>
                <a:latin typeface="+mj-lt"/>
              </a:rPr>
              <a:t>El stock mínimo: </a:t>
            </a:r>
            <a:r>
              <a:rPr lang="es-ES" altLang="es-AR" sz="2000" dirty="0">
                <a:solidFill>
                  <a:schemeClr val="tx1">
                    <a:lumMod val="75000"/>
                    <a:lumOff val="25000"/>
                  </a:schemeClr>
                </a:solidFill>
                <a:latin typeface="+mj-lt"/>
              </a:rPr>
              <a:t>es aquel que determina la necesidad de lanzar un nuevo pedido considerando que existe un plazo de tiempo desde que se lanza el pedido hasta que se entrega el producto, teniendo en cuenta el consumo de material en el transcurso de dicho pedido.</a:t>
            </a:r>
          </a:p>
        </p:txBody>
      </p:sp>
      <p:sp>
        <p:nvSpPr>
          <p:cNvPr id="31750" name="Rectangle 6">
            <a:extLst>
              <a:ext uri="{FF2B5EF4-FFF2-40B4-BE49-F238E27FC236}">
                <a16:creationId xmlns:a16="http://schemas.microsoft.com/office/drawing/2014/main" id="{6904D9A5-0534-4196-B819-733D8BD08F14}"/>
              </a:ext>
            </a:extLst>
          </p:cNvPr>
          <p:cNvSpPr>
            <a:spLocks noChangeArrowheads="1"/>
          </p:cNvSpPr>
          <p:nvPr/>
        </p:nvSpPr>
        <p:spPr bwMode="auto">
          <a:xfrm>
            <a:off x="1200151" y="2624137"/>
            <a:ext cx="9777413" cy="84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solidFill>
                  <a:schemeClr val="tx1">
                    <a:lumMod val="75000"/>
                    <a:lumOff val="25000"/>
                  </a:schemeClr>
                </a:solidFill>
                <a:latin typeface="+mj-lt"/>
              </a:rPr>
              <a:t>El stock máximo: </a:t>
            </a:r>
            <a:r>
              <a:rPr lang="es-ES" altLang="es-AR" sz="2000" dirty="0">
                <a:solidFill>
                  <a:schemeClr val="tx1">
                    <a:lumMod val="75000"/>
                    <a:lumOff val="25000"/>
                  </a:schemeClr>
                </a:solidFill>
                <a:latin typeface="+mj-lt"/>
              </a:rPr>
              <a:t>es aquel que determina la capacidad de almacenamiento y/o de financiamiento.</a:t>
            </a:r>
          </a:p>
        </p:txBody>
      </p:sp>
      <p:sp>
        <p:nvSpPr>
          <p:cNvPr id="31751" name="Rectangle 7">
            <a:extLst>
              <a:ext uri="{FF2B5EF4-FFF2-40B4-BE49-F238E27FC236}">
                <a16:creationId xmlns:a16="http://schemas.microsoft.com/office/drawing/2014/main" id="{100117EE-DC33-4940-BD5E-4D90B46BE075}"/>
              </a:ext>
            </a:extLst>
          </p:cNvPr>
          <p:cNvSpPr>
            <a:spLocks noChangeArrowheads="1"/>
          </p:cNvSpPr>
          <p:nvPr/>
        </p:nvSpPr>
        <p:spPr bwMode="auto">
          <a:xfrm>
            <a:off x="1207294" y="3467100"/>
            <a:ext cx="9777412"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73263" indent="-457200">
              <a:defRPr>
                <a:solidFill>
                  <a:schemeClr val="tx1"/>
                </a:solidFill>
                <a:latin typeface="Arial" panose="020B0604020202020204" pitchFamily="34" charset="0"/>
                <a:cs typeface="Arial" panose="020B0604020202020204" pitchFamily="34" charset="0"/>
              </a:defRPr>
            </a:lvl3pPr>
            <a:lvl4pPr marL="2533650" indent="-381000">
              <a:defRPr>
                <a:solidFill>
                  <a:schemeClr val="tx1"/>
                </a:solidFill>
                <a:latin typeface="Arial" panose="020B0604020202020204" pitchFamily="34" charset="0"/>
                <a:cs typeface="Arial" panose="020B0604020202020204" pitchFamily="34" charset="0"/>
              </a:defRPr>
            </a:lvl4pPr>
            <a:lvl5pPr marL="3094038" indent="-381000">
              <a:defRPr>
                <a:solidFill>
                  <a:schemeClr val="tx1"/>
                </a:solidFill>
                <a:latin typeface="Arial" panose="020B0604020202020204" pitchFamily="34" charset="0"/>
                <a:cs typeface="Arial" panose="020B0604020202020204" pitchFamily="34" charset="0"/>
              </a:defRPr>
            </a:lvl5pPr>
            <a:lvl6pPr marL="35512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084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656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22838"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solidFill>
                  <a:schemeClr val="tx1">
                    <a:lumMod val="75000"/>
                    <a:lumOff val="25000"/>
                  </a:schemeClr>
                </a:solidFill>
                <a:latin typeface="+mj-lt"/>
              </a:rPr>
              <a:t>El Presupuesto de compras se compone, a su vez, de cuatro presupuestos que son los siguientes:</a:t>
            </a:r>
          </a:p>
        </p:txBody>
      </p:sp>
      <p:sp>
        <p:nvSpPr>
          <p:cNvPr id="31752" name="Rectangle 8">
            <a:extLst>
              <a:ext uri="{FF2B5EF4-FFF2-40B4-BE49-F238E27FC236}">
                <a16:creationId xmlns:a16="http://schemas.microsoft.com/office/drawing/2014/main" id="{501620D0-4A44-4B6A-A54A-1126B6A29635}"/>
              </a:ext>
            </a:extLst>
          </p:cNvPr>
          <p:cNvSpPr>
            <a:spLocks noChangeArrowheads="1"/>
          </p:cNvSpPr>
          <p:nvPr/>
        </p:nvSpPr>
        <p:spPr bwMode="auto">
          <a:xfrm>
            <a:off x="1214438" y="4330700"/>
            <a:ext cx="9777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16033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solidFill>
                  <a:schemeClr val="tx1">
                    <a:lumMod val="75000"/>
                    <a:lumOff val="25000"/>
                  </a:schemeClr>
                </a:solidFill>
                <a:latin typeface="+mj-lt"/>
              </a:rPr>
              <a:t> Presupuesto de Consumos.</a:t>
            </a:r>
          </a:p>
        </p:txBody>
      </p:sp>
      <p:sp>
        <p:nvSpPr>
          <p:cNvPr id="31753" name="Rectangle 9">
            <a:extLst>
              <a:ext uri="{FF2B5EF4-FFF2-40B4-BE49-F238E27FC236}">
                <a16:creationId xmlns:a16="http://schemas.microsoft.com/office/drawing/2014/main" id="{C89C8B37-749A-426B-9FA1-699140AA3B67}"/>
              </a:ext>
            </a:extLst>
          </p:cNvPr>
          <p:cNvSpPr>
            <a:spLocks noChangeArrowheads="1"/>
          </p:cNvSpPr>
          <p:nvPr/>
        </p:nvSpPr>
        <p:spPr bwMode="auto">
          <a:xfrm>
            <a:off x="1228725" y="4646613"/>
            <a:ext cx="97774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16033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a:solidFill>
                  <a:schemeClr val="tx1">
                    <a:lumMod val="75000"/>
                    <a:lumOff val="25000"/>
                  </a:schemeClr>
                </a:solidFill>
                <a:latin typeface="+mj-lt"/>
              </a:rPr>
              <a:t> Presupuesto de Pedidos.</a:t>
            </a:r>
          </a:p>
        </p:txBody>
      </p:sp>
      <p:sp>
        <p:nvSpPr>
          <p:cNvPr id="31754" name="Rectangle 10">
            <a:extLst>
              <a:ext uri="{FF2B5EF4-FFF2-40B4-BE49-F238E27FC236}">
                <a16:creationId xmlns:a16="http://schemas.microsoft.com/office/drawing/2014/main" id="{1D8D1C4D-662B-4265-AD38-5496ED976C3C}"/>
              </a:ext>
            </a:extLst>
          </p:cNvPr>
          <p:cNvSpPr>
            <a:spLocks noChangeArrowheads="1"/>
          </p:cNvSpPr>
          <p:nvPr/>
        </p:nvSpPr>
        <p:spPr bwMode="auto">
          <a:xfrm>
            <a:off x="1228725" y="4965700"/>
            <a:ext cx="97774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16033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a:solidFill>
                  <a:schemeClr val="tx1">
                    <a:lumMod val="75000"/>
                    <a:lumOff val="25000"/>
                  </a:schemeClr>
                </a:solidFill>
                <a:latin typeface="+mj-lt"/>
              </a:rPr>
              <a:t> Presupuesto de Entrega.</a:t>
            </a:r>
          </a:p>
        </p:txBody>
      </p:sp>
      <p:sp>
        <p:nvSpPr>
          <p:cNvPr id="31755" name="Rectangle 11">
            <a:extLst>
              <a:ext uri="{FF2B5EF4-FFF2-40B4-BE49-F238E27FC236}">
                <a16:creationId xmlns:a16="http://schemas.microsoft.com/office/drawing/2014/main" id="{9F5BBAA4-B430-4ED6-B560-88B1C85C7ADF}"/>
              </a:ext>
            </a:extLst>
          </p:cNvPr>
          <p:cNvSpPr>
            <a:spLocks noChangeArrowheads="1"/>
          </p:cNvSpPr>
          <p:nvPr/>
        </p:nvSpPr>
        <p:spPr bwMode="auto">
          <a:xfrm>
            <a:off x="1228725" y="5295900"/>
            <a:ext cx="97774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16033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58975" indent="-457200">
              <a:defRPr>
                <a:solidFill>
                  <a:schemeClr val="tx1"/>
                </a:solidFill>
                <a:latin typeface="Arial" panose="020B0604020202020204" pitchFamily="34" charset="0"/>
                <a:cs typeface="Arial" panose="020B0604020202020204" pitchFamily="34" charset="0"/>
              </a:defRPr>
            </a:lvl3pPr>
            <a:lvl4pPr marL="2519363" indent="-381000">
              <a:defRPr>
                <a:solidFill>
                  <a:schemeClr val="tx1"/>
                </a:solidFill>
                <a:latin typeface="Arial" panose="020B0604020202020204" pitchFamily="34" charset="0"/>
                <a:cs typeface="Arial" panose="020B0604020202020204" pitchFamily="34" charset="0"/>
              </a:defRPr>
            </a:lvl4pPr>
            <a:lvl5pPr marL="3079750" indent="-381000">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a:solidFill>
                  <a:schemeClr val="tx1">
                    <a:lumMod val="75000"/>
                    <a:lumOff val="25000"/>
                  </a:schemeClr>
                </a:solidFill>
                <a:latin typeface="+mj-lt"/>
              </a:rPr>
              <a:t> Presupuesto de Stocks.</a:t>
            </a:r>
          </a:p>
        </p:txBody>
      </p:sp>
      <p:sp>
        <p:nvSpPr>
          <p:cNvPr id="10" name="9 CuadroTexto">
            <a:extLst>
              <a:ext uri="{FF2B5EF4-FFF2-40B4-BE49-F238E27FC236}">
                <a16:creationId xmlns:a16="http://schemas.microsoft.com/office/drawing/2014/main" id="{C157AFF3-1753-4A6B-9391-6A42B715F704}"/>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23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5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5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75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75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75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7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P spid="31750" grpId="0"/>
      <p:bldP spid="31751" grpId="0"/>
      <p:bldP spid="31752" grpId="0"/>
      <p:bldP spid="31753" grpId="0"/>
      <p:bldP spid="31754" grpId="0"/>
      <p:bldP spid="3175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a:extLst>
              <a:ext uri="{FF2B5EF4-FFF2-40B4-BE49-F238E27FC236}">
                <a16:creationId xmlns:a16="http://schemas.microsoft.com/office/drawing/2014/main" id="{22D942B5-568D-41B5-B9C3-3D70A6F9B41A}"/>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GASTOS</a:t>
            </a:r>
          </a:p>
        </p:txBody>
      </p:sp>
      <p:sp>
        <p:nvSpPr>
          <p:cNvPr id="32774" name="Rectangle 6">
            <a:extLst>
              <a:ext uri="{FF2B5EF4-FFF2-40B4-BE49-F238E27FC236}">
                <a16:creationId xmlns:a16="http://schemas.microsoft.com/office/drawing/2014/main" id="{FE3332C0-6349-43C8-A301-164961060D52}"/>
              </a:ext>
            </a:extLst>
          </p:cNvPr>
          <p:cNvSpPr>
            <a:spLocks noChangeArrowheads="1"/>
          </p:cNvSpPr>
          <p:nvPr/>
        </p:nvSpPr>
        <p:spPr bwMode="auto">
          <a:xfrm>
            <a:off x="1200151" y="1068389"/>
            <a:ext cx="9777413"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solidFill>
                  <a:schemeClr val="tx1">
                    <a:lumMod val="75000"/>
                    <a:lumOff val="25000"/>
                  </a:schemeClr>
                </a:solidFill>
                <a:latin typeface="+mj-lt"/>
              </a:rPr>
              <a:t>Presupuesto de Gastos de Comercialización</a:t>
            </a:r>
            <a:r>
              <a:rPr lang="es-ES" altLang="es-AR" sz="2000" dirty="0">
                <a:latin typeface="+mj-lt"/>
              </a:rPr>
              <a:t>: dependerá del presupuesto de ventas y se divide en:</a:t>
            </a:r>
          </a:p>
        </p:txBody>
      </p:sp>
      <p:sp>
        <p:nvSpPr>
          <p:cNvPr id="32775" name="Rectangle 7">
            <a:extLst>
              <a:ext uri="{FF2B5EF4-FFF2-40B4-BE49-F238E27FC236}">
                <a16:creationId xmlns:a16="http://schemas.microsoft.com/office/drawing/2014/main" id="{EADEEFB3-2F5C-4AB1-A74C-8F5C1B67FE86}"/>
              </a:ext>
            </a:extLst>
          </p:cNvPr>
          <p:cNvSpPr>
            <a:spLocks noChangeArrowheads="1"/>
          </p:cNvSpPr>
          <p:nvPr/>
        </p:nvSpPr>
        <p:spPr bwMode="auto">
          <a:xfrm>
            <a:off x="1200151" y="1873250"/>
            <a:ext cx="9777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3538" indent="-347663">
              <a:tabLst>
                <a:tab pos="261938" algn="l"/>
              </a:tabLst>
              <a:defRPr>
                <a:solidFill>
                  <a:schemeClr val="tx1"/>
                </a:solidFill>
                <a:latin typeface="Arial" panose="020B0604020202020204" pitchFamily="34" charset="0"/>
                <a:cs typeface="Arial" panose="020B0604020202020204" pitchFamily="34" charset="0"/>
              </a:defRPr>
            </a:lvl1pPr>
            <a:lvl2pPr marL="1423988" indent="-533400">
              <a:tabLst>
                <a:tab pos="261938" algn="l"/>
              </a:tabLst>
              <a:defRPr>
                <a:solidFill>
                  <a:schemeClr val="tx1"/>
                </a:solidFill>
                <a:latin typeface="Arial" panose="020B0604020202020204" pitchFamily="34" charset="0"/>
                <a:cs typeface="Arial" panose="020B0604020202020204" pitchFamily="34" charset="0"/>
              </a:defRPr>
            </a:lvl2pPr>
            <a:lvl3pPr marL="1958975" indent="-457200">
              <a:tabLst>
                <a:tab pos="261938" algn="l"/>
              </a:tabLst>
              <a:defRPr>
                <a:solidFill>
                  <a:schemeClr val="tx1"/>
                </a:solidFill>
                <a:latin typeface="Arial" panose="020B0604020202020204" pitchFamily="34" charset="0"/>
                <a:cs typeface="Arial" panose="020B0604020202020204" pitchFamily="34" charset="0"/>
              </a:defRPr>
            </a:lvl3pPr>
            <a:lvl4pPr marL="2519363" indent="-381000">
              <a:tabLst>
                <a:tab pos="261938" algn="l"/>
              </a:tabLst>
              <a:defRPr>
                <a:solidFill>
                  <a:schemeClr val="tx1"/>
                </a:solidFill>
                <a:latin typeface="Arial" panose="020B0604020202020204" pitchFamily="34" charset="0"/>
                <a:cs typeface="Arial" panose="020B0604020202020204" pitchFamily="34" charset="0"/>
              </a:defRPr>
            </a:lvl4pPr>
            <a:lvl5pPr marL="3079750" indent="-381000">
              <a:tabLst>
                <a:tab pos="261938" algn="l"/>
              </a:tabLst>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a:t>
            </a:r>
            <a:r>
              <a:rPr lang="es-ES" altLang="es-AR" sz="2000" b="1" dirty="0">
                <a:latin typeface="+mj-lt"/>
              </a:rPr>
              <a:t>Presupuesto de Gastos de Expedición y Distribución</a:t>
            </a:r>
            <a:r>
              <a:rPr lang="es-ES" altLang="es-AR" sz="2000" dirty="0">
                <a:latin typeface="+mj-lt"/>
              </a:rPr>
              <a:t>:</a:t>
            </a:r>
          </a:p>
        </p:txBody>
      </p:sp>
      <p:sp>
        <p:nvSpPr>
          <p:cNvPr id="32777" name="Rectangle 9">
            <a:extLst>
              <a:ext uri="{FF2B5EF4-FFF2-40B4-BE49-F238E27FC236}">
                <a16:creationId xmlns:a16="http://schemas.microsoft.com/office/drawing/2014/main" id="{DDE2179C-2A22-4060-8C9C-86FE6AAA2448}"/>
              </a:ext>
            </a:extLst>
          </p:cNvPr>
          <p:cNvSpPr>
            <a:spLocks noChangeArrowheads="1"/>
          </p:cNvSpPr>
          <p:nvPr/>
        </p:nvSpPr>
        <p:spPr bwMode="auto">
          <a:xfrm>
            <a:off x="1214438" y="4184944"/>
            <a:ext cx="9777412" cy="1856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3538" indent="-347663">
              <a:tabLst>
                <a:tab pos="261938" algn="l"/>
              </a:tabLst>
              <a:defRPr>
                <a:solidFill>
                  <a:schemeClr val="tx1"/>
                </a:solidFill>
                <a:latin typeface="Arial" panose="020B0604020202020204" pitchFamily="34" charset="0"/>
                <a:cs typeface="Arial" panose="020B0604020202020204" pitchFamily="34" charset="0"/>
              </a:defRPr>
            </a:lvl1pPr>
            <a:lvl2pPr marL="1423988" indent="-533400">
              <a:tabLst>
                <a:tab pos="261938" algn="l"/>
              </a:tabLst>
              <a:defRPr>
                <a:solidFill>
                  <a:schemeClr val="tx1"/>
                </a:solidFill>
                <a:latin typeface="Arial" panose="020B0604020202020204" pitchFamily="34" charset="0"/>
                <a:cs typeface="Arial" panose="020B0604020202020204" pitchFamily="34" charset="0"/>
              </a:defRPr>
            </a:lvl2pPr>
            <a:lvl3pPr marL="1958975" indent="-457200">
              <a:tabLst>
                <a:tab pos="261938" algn="l"/>
              </a:tabLst>
              <a:defRPr>
                <a:solidFill>
                  <a:schemeClr val="tx1"/>
                </a:solidFill>
                <a:latin typeface="Arial" panose="020B0604020202020204" pitchFamily="34" charset="0"/>
                <a:cs typeface="Arial" panose="020B0604020202020204" pitchFamily="34" charset="0"/>
              </a:defRPr>
            </a:lvl3pPr>
            <a:lvl4pPr marL="2519363" indent="-381000">
              <a:tabLst>
                <a:tab pos="261938" algn="l"/>
              </a:tabLst>
              <a:defRPr>
                <a:solidFill>
                  <a:schemeClr val="tx1"/>
                </a:solidFill>
                <a:latin typeface="Arial" panose="020B0604020202020204" pitchFamily="34" charset="0"/>
                <a:cs typeface="Arial" panose="020B0604020202020204" pitchFamily="34" charset="0"/>
              </a:defRPr>
            </a:lvl4pPr>
            <a:lvl5pPr marL="3079750" indent="-381000">
              <a:tabLst>
                <a:tab pos="261938" algn="l"/>
              </a:tabLst>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a:t>
            </a:r>
            <a:r>
              <a:rPr lang="es-ES" altLang="es-AR" sz="2000" b="1" dirty="0">
                <a:latin typeface="+mj-lt"/>
              </a:rPr>
              <a:t>Presupuesto de Gastos de Publicidad y Propaganda</a:t>
            </a:r>
            <a:r>
              <a:rPr lang="es-ES" altLang="es-AR" sz="2000" dirty="0">
                <a:latin typeface="+mj-lt"/>
              </a:rPr>
              <a:t>:</a:t>
            </a:r>
          </a:p>
        </p:txBody>
      </p:sp>
      <p:sp>
        <p:nvSpPr>
          <p:cNvPr id="32779" name="Rectangle 11">
            <a:extLst>
              <a:ext uri="{FF2B5EF4-FFF2-40B4-BE49-F238E27FC236}">
                <a16:creationId xmlns:a16="http://schemas.microsoft.com/office/drawing/2014/main" id="{E6F3B6FA-81CC-4E67-AF3D-DDDCBA18714F}"/>
              </a:ext>
            </a:extLst>
          </p:cNvPr>
          <p:cNvSpPr>
            <a:spLocks noChangeArrowheads="1"/>
          </p:cNvSpPr>
          <p:nvPr/>
        </p:nvSpPr>
        <p:spPr bwMode="auto">
          <a:xfrm>
            <a:off x="1631950" y="2292350"/>
            <a:ext cx="9417050" cy="243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261938" algn="l"/>
                <a:tab pos="266700" algn="l"/>
              </a:tabLst>
              <a:defRPr>
                <a:solidFill>
                  <a:schemeClr val="tx1"/>
                </a:solidFill>
                <a:latin typeface="Arial" panose="020B0604020202020204" pitchFamily="34" charset="0"/>
                <a:cs typeface="Arial" panose="020B0604020202020204" pitchFamily="34" charset="0"/>
              </a:defRPr>
            </a:lvl1pPr>
            <a:lvl2pPr marL="1423988" indent="-533400">
              <a:tabLst>
                <a:tab pos="261938" algn="l"/>
                <a:tab pos="266700" algn="l"/>
              </a:tabLst>
              <a:defRPr>
                <a:solidFill>
                  <a:schemeClr val="tx1"/>
                </a:solidFill>
                <a:latin typeface="Arial" panose="020B0604020202020204" pitchFamily="34" charset="0"/>
                <a:cs typeface="Arial" panose="020B0604020202020204" pitchFamily="34" charset="0"/>
              </a:defRPr>
            </a:lvl2pPr>
            <a:lvl3pPr marL="1978025" indent="-457200">
              <a:tabLst>
                <a:tab pos="261938" algn="l"/>
                <a:tab pos="266700" algn="l"/>
              </a:tabLst>
              <a:defRPr>
                <a:solidFill>
                  <a:schemeClr val="tx1"/>
                </a:solidFill>
                <a:latin typeface="Arial" panose="020B0604020202020204" pitchFamily="34" charset="0"/>
                <a:cs typeface="Arial" panose="020B0604020202020204" pitchFamily="34" charset="0"/>
              </a:defRPr>
            </a:lvl3pPr>
            <a:lvl4pPr marL="2538413" indent="-381000">
              <a:tabLst>
                <a:tab pos="261938" algn="l"/>
                <a:tab pos="266700" algn="l"/>
              </a:tabLst>
              <a:defRPr>
                <a:solidFill>
                  <a:schemeClr val="tx1"/>
                </a:solidFill>
                <a:latin typeface="Arial" panose="020B0604020202020204" pitchFamily="34" charset="0"/>
                <a:cs typeface="Arial" panose="020B0604020202020204" pitchFamily="34" charset="0"/>
              </a:defRPr>
            </a:lvl4pPr>
            <a:lvl5pPr marL="3098800" indent="-381000">
              <a:tabLst>
                <a:tab pos="261938" algn="l"/>
                <a:tab pos="266700" algn="l"/>
              </a:tabLst>
              <a:defRPr>
                <a:solidFill>
                  <a:schemeClr val="tx1"/>
                </a:solidFill>
                <a:latin typeface="Arial" panose="020B0604020202020204" pitchFamily="34" charset="0"/>
                <a:cs typeface="Arial" panose="020B0604020202020204" pitchFamily="34" charset="0"/>
              </a:defRPr>
            </a:lvl5pPr>
            <a:lvl6pPr marL="3556000" indent="-381000" eaLnBrk="0" fontAlgn="base" hangingPunct="0">
              <a:spcBef>
                <a:spcPct val="0"/>
              </a:spcBef>
              <a:spcAft>
                <a:spcPct val="0"/>
              </a:spcAft>
              <a:tabLst>
                <a:tab pos="261938" algn="l"/>
                <a:tab pos="266700" algn="l"/>
              </a:tabLst>
              <a:defRPr>
                <a:solidFill>
                  <a:schemeClr val="tx1"/>
                </a:solidFill>
                <a:latin typeface="Arial" panose="020B0604020202020204" pitchFamily="34" charset="0"/>
                <a:cs typeface="Arial" panose="020B0604020202020204" pitchFamily="34" charset="0"/>
              </a:defRPr>
            </a:lvl6pPr>
            <a:lvl7pPr marL="4013200" indent="-381000" eaLnBrk="0" fontAlgn="base" hangingPunct="0">
              <a:spcBef>
                <a:spcPct val="0"/>
              </a:spcBef>
              <a:spcAft>
                <a:spcPct val="0"/>
              </a:spcAft>
              <a:tabLst>
                <a:tab pos="261938" algn="l"/>
                <a:tab pos="266700" algn="l"/>
              </a:tabLst>
              <a:defRPr>
                <a:solidFill>
                  <a:schemeClr val="tx1"/>
                </a:solidFill>
                <a:latin typeface="Arial" panose="020B0604020202020204" pitchFamily="34" charset="0"/>
                <a:cs typeface="Arial" panose="020B0604020202020204" pitchFamily="34" charset="0"/>
              </a:defRPr>
            </a:lvl7pPr>
            <a:lvl8pPr marL="4470400" indent="-381000" eaLnBrk="0" fontAlgn="base" hangingPunct="0">
              <a:spcBef>
                <a:spcPct val="0"/>
              </a:spcBef>
              <a:spcAft>
                <a:spcPct val="0"/>
              </a:spcAft>
              <a:tabLst>
                <a:tab pos="261938" algn="l"/>
                <a:tab pos="266700" algn="l"/>
              </a:tabLst>
              <a:defRPr>
                <a:solidFill>
                  <a:schemeClr val="tx1"/>
                </a:solidFill>
                <a:latin typeface="Arial" panose="020B0604020202020204" pitchFamily="34" charset="0"/>
                <a:cs typeface="Arial" panose="020B0604020202020204" pitchFamily="34" charset="0"/>
              </a:defRPr>
            </a:lvl8pPr>
            <a:lvl9pPr marL="4927600" indent="-381000" eaLnBrk="0" fontAlgn="base" hangingPunct="0">
              <a:spcBef>
                <a:spcPct val="0"/>
              </a:spcBef>
              <a:spcAft>
                <a:spcPct val="0"/>
              </a:spcAft>
              <a:tabLst>
                <a:tab pos="261938" algn="l"/>
                <a:tab pos="266700" algn="l"/>
              </a:tabLs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Cuantifica los recursos a emplear para cumplir con el plan de ventas en cuanto al almacenamiento y distribución de los productos teniendo en cuenta los descuentos y bonificaciones previstas por los vendedores, los gastos de los vendedores, las instalaciones, las amortizaciones, las previsiones por incobrables, etc.</a:t>
            </a:r>
          </a:p>
        </p:txBody>
      </p:sp>
      <p:sp>
        <p:nvSpPr>
          <p:cNvPr id="32780" name="Rectangle 12">
            <a:extLst>
              <a:ext uri="{FF2B5EF4-FFF2-40B4-BE49-F238E27FC236}">
                <a16:creationId xmlns:a16="http://schemas.microsoft.com/office/drawing/2014/main" id="{F04D1F53-0CCA-49D9-8E2C-ECDDF0DFD4DE}"/>
              </a:ext>
            </a:extLst>
          </p:cNvPr>
          <p:cNvSpPr>
            <a:spLocks noChangeArrowheads="1"/>
          </p:cNvSpPr>
          <p:nvPr/>
        </p:nvSpPr>
        <p:spPr bwMode="auto">
          <a:xfrm>
            <a:off x="1647825" y="4725033"/>
            <a:ext cx="9417050" cy="84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9050">
              <a:tabLst>
                <a:tab pos="95250" algn="l"/>
                <a:tab pos="261938" algn="l"/>
              </a:tabLst>
              <a:defRPr>
                <a:solidFill>
                  <a:schemeClr val="tx1"/>
                </a:solidFill>
                <a:latin typeface="Arial" panose="020B0604020202020204" pitchFamily="34" charset="0"/>
                <a:cs typeface="Arial" panose="020B0604020202020204" pitchFamily="34" charset="0"/>
              </a:defRPr>
            </a:lvl1pPr>
            <a:lvl2pPr marL="1423988" indent="-533400">
              <a:tabLst>
                <a:tab pos="95250" algn="l"/>
                <a:tab pos="261938" algn="l"/>
              </a:tabLst>
              <a:defRPr>
                <a:solidFill>
                  <a:schemeClr val="tx1"/>
                </a:solidFill>
                <a:latin typeface="Arial" panose="020B0604020202020204" pitchFamily="34" charset="0"/>
                <a:cs typeface="Arial" panose="020B0604020202020204" pitchFamily="34" charset="0"/>
              </a:defRPr>
            </a:lvl2pPr>
            <a:lvl3pPr marL="1978025" indent="-457200">
              <a:tabLst>
                <a:tab pos="95250" algn="l"/>
                <a:tab pos="261938" algn="l"/>
              </a:tabLst>
              <a:defRPr>
                <a:solidFill>
                  <a:schemeClr val="tx1"/>
                </a:solidFill>
                <a:latin typeface="Arial" panose="020B0604020202020204" pitchFamily="34" charset="0"/>
                <a:cs typeface="Arial" panose="020B0604020202020204" pitchFamily="34" charset="0"/>
              </a:defRPr>
            </a:lvl3pPr>
            <a:lvl4pPr marL="2538413" indent="-381000">
              <a:tabLst>
                <a:tab pos="95250" algn="l"/>
                <a:tab pos="261938" algn="l"/>
              </a:tabLst>
              <a:defRPr>
                <a:solidFill>
                  <a:schemeClr val="tx1"/>
                </a:solidFill>
                <a:latin typeface="Arial" panose="020B0604020202020204" pitchFamily="34" charset="0"/>
                <a:cs typeface="Arial" panose="020B0604020202020204" pitchFamily="34" charset="0"/>
              </a:defRPr>
            </a:lvl4pPr>
            <a:lvl5pPr marL="3098800" indent="-381000">
              <a:tabLst>
                <a:tab pos="95250" algn="l"/>
                <a:tab pos="261938" algn="l"/>
              </a:tabLst>
              <a:defRPr>
                <a:solidFill>
                  <a:schemeClr val="tx1"/>
                </a:solidFill>
                <a:latin typeface="Arial" panose="020B0604020202020204" pitchFamily="34" charset="0"/>
                <a:cs typeface="Arial" panose="020B0604020202020204" pitchFamily="34" charset="0"/>
              </a:defRPr>
            </a:lvl5pPr>
            <a:lvl6pPr marL="3556000" indent="-381000" eaLnBrk="0" fontAlgn="base" hangingPunct="0">
              <a:spcBef>
                <a:spcPct val="0"/>
              </a:spcBef>
              <a:spcAft>
                <a:spcPct val="0"/>
              </a:spcAft>
              <a:tabLst>
                <a:tab pos="95250" algn="l"/>
                <a:tab pos="261938" algn="l"/>
              </a:tabLst>
              <a:defRPr>
                <a:solidFill>
                  <a:schemeClr val="tx1"/>
                </a:solidFill>
                <a:latin typeface="Arial" panose="020B0604020202020204" pitchFamily="34" charset="0"/>
                <a:cs typeface="Arial" panose="020B0604020202020204" pitchFamily="34" charset="0"/>
              </a:defRPr>
            </a:lvl6pPr>
            <a:lvl7pPr marL="4013200" indent="-381000" eaLnBrk="0" fontAlgn="base" hangingPunct="0">
              <a:spcBef>
                <a:spcPct val="0"/>
              </a:spcBef>
              <a:spcAft>
                <a:spcPct val="0"/>
              </a:spcAft>
              <a:tabLst>
                <a:tab pos="95250" algn="l"/>
                <a:tab pos="261938" algn="l"/>
              </a:tabLst>
              <a:defRPr>
                <a:solidFill>
                  <a:schemeClr val="tx1"/>
                </a:solidFill>
                <a:latin typeface="Arial" panose="020B0604020202020204" pitchFamily="34" charset="0"/>
                <a:cs typeface="Arial" panose="020B0604020202020204" pitchFamily="34" charset="0"/>
              </a:defRPr>
            </a:lvl7pPr>
            <a:lvl8pPr marL="4470400" indent="-381000" eaLnBrk="0" fontAlgn="base" hangingPunct="0">
              <a:spcBef>
                <a:spcPct val="0"/>
              </a:spcBef>
              <a:spcAft>
                <a:spcPct val="0"/>
              </a:spcAft>
              <a:tabLst>
                <a:tab pos="95250" algn="l"/>
                <a:tab pos="261938" algn="l"/>
              </a:tabLst>
              <a:defRPr>
                <a:solidFill>
                  <a:schemeClr val="tx1"/>
                </a:solidFill>
                <a:latin typeface="Arial" panose="020B0604020202020204" pitchFamily="34" charset="0"/>
                <a:cs typeface="Arial" panose="020B0604020202020204" pitchFamily="34" charset="0"/>
              </a:defRPr>
            </a:lvl8pPr>
            <a:lvl9pPr marL="4927600" indent="-381000" eaLnBrk="0" fontAlgn="base" hangingPunct="0">
              <a:spcBef>
                <a:spcPct val="0"/>
              </a:spcBef>
              <a:spcAft>
                <a:spcPct val="0"/>
              </a:spcAft>
              <a:tabLst>
                <a:tab pos="95250" algn="l"/>
                <a:tab pos="261938" algn="l"/>
              </a:tabLs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Resulta difícil medir la eficacia de la publicidad dado el tiempo transcurrido entre la publicidad y la venta.</a:t>
            </a:r>
          </a:p>
        </p:txBody>
      </p:sp>
      <p:sp>
        <p:nvSpPr>
          <p:cNvPr id="8" name="7 CuadroTexto">
            <a:extLst>
              <a:ext uri="{FF2B5EF4-FFF2-40B4-BE49-F238E27FC236}">
                <a16:creationId xmlns:a16="http://schemas.microsoft.com/office/drawing/2014/main" id="{EAA560AE-D695-4B79-AEB6-E5901FF4CD56}"/>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24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77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7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p:bldP spid="32775" grpId="0"/>
      <p:bldP spid="32777" grpId="0"/>
      <p:bldP spid="32779" grpId="0"/>
      <p:bldP spid="3278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a:extLst>
              <a:ext uri="{FF2B5EF4-FFF2-40B4-BE49-F238E27FC236}">
                <a16:creationId xmlns:a16="http://schemas.microsoft.com/office/drawing/2014/main" id="{E9CD3208-59C1-44E5-9830-AC395C11E967}"/>
              </a:ext>
            </a:extLst>
          </p:cNvPr>
          <p:cNvSpPr txBox="1">
            <a:spLocks noChangeArrowheads="1"/>
          </p:cNvSpPr>
          <p:nvPr/>
        </p:nvSpPr>
        <p:spPr bwMode="auto">
          <a:xfrm>
            <a:off x="1387476" y="185738"/>
            <a:ext cx="8164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DE INVERSIONES</a:t>
            </a:r>
          </a:p>
        </p:txBody>
      </p:sp>
      <p:sp>
        <p:nvSpPr>
          <p:cNvPr id="33797" name="Rectangle 5">
            <a:extLst>
              <a:ext uri="{FF2B5EF4-FFF2-40B4-BE49-F238E27FC236}">
                <a16:creationId xmlns:a16="http://schemas.microsoft.com/office/drawing/2014/main" id="{4DB205B6-8333-4B55-B2E6-CDF680DB300F}"/>
              </a:ext>
            </a:extLst>
          </p:cNvPr>
          <p:cNvSpPr>
            <a:spLocks noChangeArrowheads="1"/>
          </p:cNvSpPr>
          <p:nvPr/>
        </p:nvSpPr>
        <p:spPr bwMode="auto">
          <a:xfrm>
            <a:off x="1200151" y="1068388"/>
            <a:ext cx="9777413" cy="2560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objetivo fundamental del </a:t>
            </a:r>
            <a:r>
              <a:rPr lang="es-ES" altLang="es-AR" sz="2000" b="1" dirty="0">
                <a:latin typeface="+mj-lt"/>
              </a:rPr>
              <a:t>presupuesto de inversiones  </a:t>
            </a:r>
            <a:r>
              <a:rPr lang="es-ES" altLang="es-AR" sz="2000" dirty="0">
                <a:latin typeface="+mj-lt"/>
              </a:rPr>
              <a:t>es establecer el conjunto de activos o inversiones necesarias para alcanzar la capacidad operativa con que va a contar la empresa a largo plazo. Una decisión de inversión supone la aplicación actual de los recursos financieros, de la que se espera obtener una rentabilidad aceptable a lo largo de su vida útil. </a:t>
            </a:r>
            <a:r>
              <a:rPr lang="es-ES" altLang="es-AR" sz="2000" b="1" dirty="0">
                <a:latin typeface="+mj-lt"/>
              </a:rPr>
              <a:t>Las decisiones vinculadas con el Presupuesto de inversiones deben ser cuidadosamente analizadas </a:t>
            </a:r>
            <a:r>
              <a:rPr lang="es-ES" altLang="es-AR" sz="2000" dirty="0">
                <a:latin typeface="+mj-lt"/>
              </a:rPr>
              <a:t>por parte de la dirección de la empresa. El </a:t>
            </a:r>
            <a:r>
              <a:rPr lang="es-ES" altLang="es-AR" sz="2000" b="1" dirty="0">
                <a:latin typeface="+mj-lt"/>
              </a:rPr>
              <a:t>análisis abarca tres etapas</a:t>
            </a:r>
            <a:r>
              <a:rPr lang="es-ES" altLang="es-AR" sz="2000" dirty="0">
                <a:latin typeface="+mj-lt"/>
              </a:rPr>
              <a:t>:</a:t>
            </a:r>
          </a:p>
        </p:txBody>
      </p:sp>
      <p:sp>
        <p:nvSpPr>
          <p:cNvPr id="33798" name="Rectangle 6">
            <a:extLst>
              <a:ext uri="{FF2B5EF4-FFF2-40B4-BE49-F238E27FC236}">
                <a16:creationId xmlns:a16="http://schemas.microsoft.com/office/drawing/2014/main" id="{11794D52-E480-40F1-A5F2-F2FE4EA74F64}"/>
              </a:ext>
            </a:extLst>
          </p:cNvPr>
          <p:cNvSpPr>
            <a:spLocks noChangeArrowheads="1"/>
          </p:cNvSpPr>
          <p:nvPr/>
        </p:nvSpPr>
        <p:spPr bwMode="auto">
          <a:xfrm>
            <a:off x="1207294" y="3870620"/>
            <a:ext cx="97774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3538" indent="-347663">
              <a:tabLst>
                <a:tab pos="261938" algn="l"/>
              </a:tabLst>
              <a:defRPr>
                <a:solidFill>
                  <a:schemeClr val="tx1"/>
                </a:solidFill>
                <a:latin typeface="Arial" panose="020B0604020202020204" pitchFamily="34" charset="0"/>
                <a:cs typeface="Arial" panose="020B0604020202020204" pitchFamily="34" charset="0"/>
              </a:defRPr>
            </a:lvl1pPr>
            <a:lvl2pPr marL="1423988" indent="-533400">
              <a:tabLst>
                <a:tab pos="261938" algn="l"/>
              </a:tabLst>
              <a:defRPr>
                <a:solidFill>
                  <a:schemeClr val="tx1"/>
                </a:solidFill>
                <a:latin typeface="Arial" panose="020B0604020202020204" pitchFamily="34" charset="0"/>
                <a:cs typeface="Arial" panose="020B0604020202020204" pitchFamily="34" charset="0"/>
              </a:defRPr>
            </a:lvl2pPr>
            <a:lvl3pPr marL="1958975" indent="-457200">
              <a:tabLst>
                <a:tab pos="261938" algn="l"/>
              </a:tabLst>
              <a:defRPr>
                <a:solidFill>
                  <a:schemeClr val="tx1"/>
                </a:solidFill>
                <a:latin typeface="Arial" panose="020B0604020202020204" pitchFamily="34" charset="0"/>
                <a:cs typeface="Arial" panose="020B0604020202020204" pitchFamily="34" charset="0"/>
              </a:defRPr>
            </a:lvl3pPr>
            <a:lvl4pPr marL="2519363" indent="-381000">
              <a:tabLst>
                <a:tab pos="261938" algn="l"/>
              </a:tabLst>
              <a:defRPr>
                <a:solidFill>
                  <a:schemeClr val="tx1"/>
                </a:solidFill>
                <a:latin typeface="Arial" panose="020B0604020202020204" pitchFamily="34" charset="0"/>
                <a:cs typeface="Arial" panose="020B0604020202020204" pitchFamily="34" charset="0"/>
              </a:defRPr>
            </a:lvl4pPr>
            <a:lvl5pPr marL="3079750" indent="-381000">
              <a:tabLst>
                <a:tab pos="261938" algn="l"/>
              </a:tabLst>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i="1" dirty="0">
                <a:latin typeface="+mj-lt"/>
              </a:rPr>
              <a:t> Estimación de los flujos netos de caja de los proyectos.</a:t>
            </a:r>
          </a:p>
        </p:txBody>
      </p:sp>
      <p:sp>
        <p:nvSpPr>
          <p:cNvPr id="33799" name="Rectangle 7">
            <a:extLst>
              <a:ext uri="{FF2B5EF4-FFF2-40B4-BE49-F238E27FC236}">
                <a16:creationId xmlns:a16="http://schemas.microsoft.com/office/drawing/2014/main" id="{E74915E4-09B2-4D9E-9B1B-D23BFA90A50E}"/>
              </a:ext>
            </a:extLst>
          </p:cNvPr>
          <p:cNvSpPr>
            <a:spLocks noChangeArrowheads="1"/>
          </p:cNvSpPr>
          <p:nvPr/>
        </p:nvSpPr>
        <p:spPr bwMode="auto">
          <a:xfrm>
            <a:off x="1207294" y="4216696"/>
            <a:ext cx="9777412"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3538" indent="-347663">
              <a:tabLst>
                <a:tab pos="261938" algn="l"/>
              </a:tabLst>
              <a:defRPr>
                <a:solidFill>
                  <a:schemeClr val="tx1"/>
                </a:solidFill>
                <a:latin typeface="Arial" panose="020B0604020202020204" pitchFamily="34" charset="0"/>
                <a:cs typeface="Arial" panose="020B0604020202020204" pitchFamily="34" charset="0"/>
              </a:defRPr>
            </a:lvl1pPr>
            <a:lvl2pPr marL="1423988" indent="-533400">
              <a:tabLst>
                <a:tab pos="261938" algn="l"/>
              </a:tabLst>
              <a:defRPr>
                <a:solidFill>
                  <a:schemeClr val="tx1"/>
                </a:solidFill>
                <a:latin typeface="Arial" panose="020B0604020202020204" pitchFamily="34" charset="0"/>
                <a:cs typeface="Arial" panose="020B0604020202020204" pitchFamily="34" charset="0"/>
              </a:defRPr>
            </a:lvl2pPr>
            <a:lvl3pPr marL="1958975" indent="-457200">
              <a:tabLst>
                <a:tab pos="261938" algn="l"/>
              </a:tabLst>
              <a:defRPr>
                <a:solidFill>
                  <a:schemeClr val="tx1"/>
                </a:solidFill>
                <a:latin typeface="Arial" panose="020B0604020202020204" pitchFamily="34" charset="0"/>
                <a:cs typeface="Arial" panose="020B0604020202020204" pitchFamily="34" charset="0"/>
              </a:defRPr>
            </a:lvl3pPr>
            <a:lvl4pPr marL="2519363" indent="-381000">
              <a:tabLst>
                <a:tab pos="261938" algn="l"/>
              </a:tabLst>
              <a:defRPr>
                <a:solidFill>
                  <a:schemeClr val="tx1"/>
                </a:solidFill>
                <a:latin typeface="Arial" panose="020B0604020202020204" pitchFamily="34" charset="0"/>
                <a:cs typeface="Arial" panose="020B0604020202020204" pitchFamily="34" charset="0"/>
              </a:defRPr>
            </a:lvl4pPr>
            <a:lvl5pPr marL="3079750" indent="-381000">
              <a:tabLst>
                <a:tab pos="261938" algn="l"/>
              </a:tabLst>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ES" altLang="es-AR" sz="2000" i="1">
                <a:latin typeface="+mj-lt"/>
              </a:rPr>
              <a:t> Evaluación y selección de los proyectos de inversión, que total o parcialmente, se pondrán en marcha.</a:t>
            </a:r>
          </a:p>
        </p:txBody>
      </p:sp>
      <p:sp>
        <p:nvSpPr>
          <p:cNvPr id="33802" name="Rectangle 10">
            <a:extLst>
              <a:ext uri="{FF2B5EF4-FFF2-40B4-BE49-F238E27FC236}">
                <a16:creationId xmlns:a16="http://schemas.microsoft.com/office/drawing/2014/main" id="{103CF79C-3C2E-4F3E-AEE4-D6484FBB1078}"/>
              </a:ext>
            </a:extLst>
          </p:cNvPr>
          <p:cNvSpPr>
            <a:spLocks noChangeArrowheads="1"/>
          </p:cNvSpPr>
          <p:nvPr/>
        </p:nvSpPr>
        <p:spPr bwMode="auto">
          <a:xfrm>
            <a:off x="1207294" y="4965995"/>
            <a:ext cx="9777412"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63538" indent="-347663">
              <a:tabLst>
                <a:tab pos="261938" algn="l"/>
              </a:tabLst>
              <a:defRPr>
                <a:solidFill>
                  <a:schemeClr val="tx1"/>
                </a:solidFill>
                <a:latin typeface="Arial" panose="020B0604020202020204" pitchFamily="34" charset="0"/>
                <a:cs typeface="Arial" panose="020B0604020202020204" pitchFamily="34" charset="0"/>
              </a:defRPr>
            </a:lvl1pPr>
            <a:lvl2pPr marL="1423988" indent="-533400">
              <a:tabLst>
                <a:tab pos="261938" algn="l"/>
              </a:tabLst>
              <a:defRPr>
                <a:solidFill>
                  <a:schemeClr val="tx1"/>
                </a:solidFill>
                <a:latin typeface="Arial" panose="020B0604020202020204" pitchFamily="34" charset="0"/>
                <a:cs typeface="Arial" panose="020B0604020202020204" pitchFamily="34" charset="0"/>
              </a:defRPr>
            </a:lvl2pPr>
            <a:lvl3pPr marL="1958975" indent="-457200">
              <a:tabLst>
                <a:tab pos="261938" algn="l"/>
              </a:tabLst>
              <a:defRPr>
                <a:solidFill>
                  <a:schemeClr val="tx1"/>
                </a:solidFill>
                <a:latin typeface="Arial" panose="020B0604020202020204" pitchFamily="34" charset="0"/>
                <a:cs typeface="Arial" panose="020B0604020202020204" pitchFamily="34" charset="0"/>
              </a:defRPr>
            </a:lvl3pPr>
            <a:lvl4pPr marL="2519363" indent="-381000">
              <a:tabLst>
                <a:tab pos="261938" algn="l"/>
              </a:tabLst>
              <a:defRPr>
                <a:solidFill>
                  <a:schemeClr val="tx1"/>
                </a:solidFill>
                <a:latin typeface="Arial" panose="020B0604020202020204" pitchFamily="34" charset="0"/>
                <a:cs typeface="Arial" panose="020B0604020202020204" pitchFamily="34" charset="0"/>
              </a:defRPr>
            </a:lvl4pPr>
            <a:lvl5pPr marL="3079750" indent="-381000">
              <a:tabLst>
                <a:tab pos="261938" algn="l"/>
              </a:tabLst>
              <a:defRPr>
                <a:solidFill>
                  <a:schemeClr val="tx1"/>
                </a:solidFill>
                <a:latin typeface="Arial" panose="020B0604020202020204" pitchFamily="34" charset="0"/>
                <a:cs typeface="Arial" panose="020B0604020202020204" pitchFamily="34" charset="0"/>
              </a:defRPr>
            </a:lvl5pPr>
            <a:lvl6pPr marL="35369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6pPr>
            <a:lvl7pPr marL="39941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7pPr>
            <a:lvl8pPr marL="44513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8pPr>
            <a:lvl9pPr marL="4908550" indent="-381000" eaLnBrk="0" fontAlgn="base" hangingPunct="0">
              <a:spcBef>
                <a:spcPct val="0"/>
              </a:spcBef>
              <a:spcAft>
                <a:spcPct val="0"/>
              </a:spcAft>
              <a:tabLst>
                <a:tab pos="261938" algn="l"/>
              </a:tabLs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i="1">
                <a:latin typeface="+mj-lt"/>
              </a:rPr>
              <a:t> Seguimiento y revisión de los proyectos seleccionados.</a:t>
            </a:r>
          </a:p>
        </p:txBody>
      </p:sp>
      <p:sp>
        <p:nvSpPr>
          <p:cNvPr id="7" name="6 CuadroTexto">
            <a:extLst>
              <a:ext uri="{FF2B5EF4-FFF2-40B4-BE49-F238E27FC236}">
                <a16:creationId xmlns:a16="http://schemas.microsoft.com/office/drawing/2014/main" id="{65EDA3CC-CD7A-44E0-A4FA-B3CD76F3247B}"/>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25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8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p:bldP spid="33798" grpId="0"/>
      <p:bldP spid="33799" grpId="0"/>
      <p:bldP spid="3380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a:extLst>
              <a:ext uri="{FF2B5EF4-FFF2-40B4-BE49-F238E27FC236}">
                <a16:creationId xmlns:a16="http://schemas.microsoft.com/office/drawing/2014/main" id="{BDB40B34-1F8F-48B9-9ECC-1FCDEFD7F537}"/>
              </a:ext>
            </a:extLst>
          </p:cNvPr>
          <p:cNvSpPr txBox="1">
            <a:spLocks noChangeArrowheads="1"/>
          </p:cNvSpPr>
          <p:nvPr/>
        </p:nvSpPr>
        <p:spPr bwMode="auto">
          <a:xfrm>
            <a:off x="1343025" y="185739"/>
            <a:ext cx="8985250"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500" b="1" dirty="0">
                <a:solidFill>
                  <a:schemeClr val="tx1">
                    <a:lumMod val="75000"/>
                    <a:lumOff val="25000"/>
                  </a:schemeClr>
                </a:solidFill>
                <a:effectLst>
                  <a:outerShdw blurRad="38100" dist="38100" dir="2700000" algn="tl">
                    <a:srgbClr val="C0C0C0"/>
                  </a:outerShdw>
                </a:effectLst>
                <a:latin typeface="+mj-lt"/>
              </a:rPr>
              <a:t>CLASIFICACIÓN DE INVERSIONES</a:t>
            </a:r>
          </a:p>
        </p:txBody>
      </p:sp>
      <p:sp>
        <p:nvSpPr>
          <p:cNvPr id="34821" name="Rectangle 5">
            <a:extLst>
              <a:ext uri="{FF2B5EF4-FFF2-40B4-BE49-F238E27FC236}">
                <a16:creationId xmlns:a16="http://schemas.microsoft.com/office/drawing/2014/main" id="{191A8EA7-2D32-4C19-A137-4FFA7AD78347}"/>
              </a:ext>
            </a:extLst>
          </p:cNvPr>
          <p:cNvSpPr>
            <a:spLocks noChangeArrowheads="1"/>
          </p:cNvSpPr>
          <p:nvPr/>
        </p:nvSpPr>
        <p:spPr bwMode="auto">
          <a:xfrm>
            <a:off x="1200151" y="1068389"/>
            <a:ext cx="9777413"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Inversiones Materiales:</a:t>
            </a:r>
            <a:r>
              <a:rPr lang="es-ES" altLang="es-AR" sz="2000" dirty="0">
                <a:latin typeface="+mj-lt"/>
              </a:rPr>
              <a:t> compras de bienes de capital, como construcciones de edificios, instalaciones, máquinas, etc.</a:t>
            </a:r>
          </a:p>
        </p:txBody>
      </p:sp>
      <p:sp>
        <p:nvSpPr>
          <p:cNvPr id="34822" name="Rectangle 6">
            <a:extLst>
              <a:ext uri="{FF2B5EF4-FFF2-40B4-BE49-F238E27FC236}">
                <a16:creationId xmlns:a16="http://schemas.microsoft.com/office/drawing/2014/main" id="{B1B735D6-A574-4A76-8FFF-06DB57E55EE3}"/>
              </a:ext>
            </a:extLst>
          </p:cNvPr>
          <p:cNvSpPr>
            <a:spLocks noChangeArrowheads="1"/>
          </p:cNvSpPr>
          <p:nvPr/>
        </p:nvSpPr>
        <p:spPr bwMode="auto">
          <a:xfrm>
            <a:off x="1200151" y="1803400"/>
            <a:ext cx="9777413"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Inversiones Intelectuales:</a:t>
            </a:r>
            <a:r>
              <a:rPr lang="es-ES" altLang="es-AR" sz="2000" dirty="0">
                <a:latin typeface="+mj-lt"/>
              </a:rPr>
              <a:t> inversiones realizadas en I&amp;D previo a cierta producción, la formación y capacitación del personal y las inversiones comerciales en publicidad. Inversiones en bienes intangibles (llaves de negocio, cartera de clientes, patente o royalty, </a:t>
            </a:r>
            <a:r>
              <a:rPr lang="es-ES" altLang="es-AR" sz="2000" dirty="0" err="1">
                <a:latin typeface="+mj-lt"/>
              </a:rPr>
              <a:t>etc</a:t>
            </a:r>
            <a:r>
              <a:rPr lang="es-ES" altLang="es-AR" sz="2000" dirty="0">
                <a:latin typeface="+mj-lt"/>
              </a:rPr>
              <a:t>).</a:t>
            </a:r>
          </a:p>
        </p:txBody>
      </p:sp>
      <p:sp>
        <p:nvSpPr>
          <p:cNvPr id="34823" name="Rectangle 7">
            <a:extLst>
              <a:ext uri="{FF2B5EF4-FFF2-40B4-BE49-F238E27FC236}">
                <a16:creationId xmlns:a16="http://schemas.microsoft.com/office/drawing/2014/main" id="{0A979BC4-A880-4FBE-AF22-49731C87AFB1}"/>
              </a:ext>
            </a:extLst>
          </p:cNvPr>
          <p:cNvSpPr>
            <a:spLocks noChangeArrowheads="1"/>
          </p:cNvSpPr>
          <p:nvPr/>
        </p:nvSpPr>
        <p:spPr bwMode="auto">
          <a:xfrm>
            <a:off x="1200151" y="3218304"/>
            <a:ext cx="9777413"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ES" altLang="es-AR" sz="2000" b="1" dirty="0">
                <a:latin typeface="+mj-lt"/>
              </a:rPr>
              <a:t>Inversiones en Mantenimiento: </a:t>
            </a:r>
            <a:r>
              <a:rPr lang="es-ES" altLang="es-AR" sz="2000" dirty="0">
                <a:latin typeface="+mj-lt"/>
              </a:rPr>
              <a:t>para poder incrementar la capacidad productiva de la empresa.</a:t>
            </a:r>
          </a:p>
        </p:txBody>
      </p:sp>
      <p:sp>
        <p:nvSpPr>
          <p:cNvPr id="34824" name="Rectangle 8">
            <a:extLst>
              <a:ext uri="{FF2B5EF4-FFF2-40B4-BE49-F238E27FC236}">
                <a16:creationId xmlns:a16="http://schemas.microsoft.com/office/drawing/2014/main" id="{51FEDA3D-52B8-4CF6-989F-0B992F4E6CB8}"/>
              </a:ext>
            </a:extLst>
          </p:cNvPr>
          <p:cNvSpPr>
            <a:spLocks noChangeArrowheads="1"/>
          </p:cNvSpPr>
          <p:nvPr/>
        </p:nvSpPr>
        <p:spPr bwMode="auto">
          <a:xfrm>
            <a:off x="1200151" y="4008880"/>
            <a:ext cx="9777413"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Inversiones en Productividad: </a:t>
            </a:r>
            <a:r>
              <a:rPr lang="es-ES" altLang="es-AR" sz="2000" dirty="0">
                <a:latin typeface="+mj-lt"/>
              </a:rPr>
              <a:t>para mejorar la calidad de los productos, la disminución de costos de fabricación, </a:t>
            </a:r>
            <a:r>
              <a:rPr lang="es-ES" altLang="es-AR" sz="2000" dirty="0" err="1">
                <a:latin typeface="+mj-lt"/>
              </a:rPr>
              <a:t>etc</a:t>
            </a:r>
            <a:r>
              <a:rPr lang="es-ES" altLang="es-AR" sz="2000" dirty="0">
                <a:latin typeface="+mj-lt"/>
              </a:rPr>
              <a:t> .</a:t>
            </a:r>
          </a:p>
        </p:txBody>
      </p:sp>
      <p:sp>
        <p:nvSpPr>
          <p:cNvPr id="34825" name="Rectangle 9">
            <a:extLst>
              <a:ext uri="{FF2B5EF4-FFF2-40B4-BE49-F238E27FC236}">
                <a16:creationId xmlns:a16="http://schemas.microsoft.com/office/drawing/2014/main" id="{3869F867-82C8-4184-9E2C-2F4A70DB3FA6}"/>
              </a:ext>
            </a:extLst>
          </p:cNvPr>
          <p:cNvSpPr>
            <a:spLocks noChangeArrowheads="1"/>
          </p:cNvSpPr>
          <p:nvPr/>
        </p:nvSpPr>
        <p:spPr bwMode="auto">
          <a:xfrm>
            <a:off x="1200151" y="4801042"/>
            <a:ext cx="9777413"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Inversiones Estratégicas: </a:t>
            </a:r>
            <a:r>
              <a:rPr lang="es-ES" altLang="es-AR" sz="2000" dirty="0">
                <a:latin typeface="+mj-lt"/>
              </a:rPr>
              <a:t>basadas en criterios de rentabilidad a largo plazo, vinculadas con las áreas de I&amp;D.</a:t>
            </a:r>
          </a:p>
        </p:txBody>
      </p:sp>
      <p:sp>
        <p:nvSpPr>
          <p:cNvPr id="8" name="7 CuadroTexto">
            <a:extLst>
              <a:ext uri="{FF2B5EF4-FFF2-40B4-BE49-F238E27FC236}">
                <a16:creationId xmlns:a16="http://schemas.microsoft.com/office/drawing/2014/main" id="{9958DCBF-A946-422C-8DC9-B60A8794DCD3}"/>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26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2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8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p:bldP spid="34822" grpId="0"/>
      <p:bldP spid="34823" grpId="0"/>
      <p:bldP spid="34824" grpId="0"/>
      <p:bldP spid="348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7" name="Text Box 7">
            <a:extLst>
              <a:ext uri="{FF2B5EF4-FFF2-40B4-BE49-F238E27FC236}">
                <a16:creationId xmlns:a16="http://schemas.microsoft.com/office/drawing/2014/main" id="{74FDB445-A386-4766-815D-5F89EAFC335A}"/>
              </a:ext>
            </a:extLst>
          </p:cNvPr>
          <p:cNvSpPr txBox="1">
            <a:spLocks noChangeArrowheads="1"/>
          </p:cNvSpPr>
          <p:nvPr/>
        </p:nvSpPr>
        <p:spPr bwMode="auto">
          <a:xfrm>
            <a:off x="1387476" y="185738"/>
            <a:ext cx="102923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latin typeface="+mj-lt"/>
              </a:rPr>
              <a:t>SELECCIÓN DE PROYECTOS DE INVERSIÓN</a:t>
            </a:r>
          </a:p>
        </p:txBody>
      </p:sp>
      <p:sp>
        <p:nvSpPr>
          <p:cNvPr id="35848" name="Rectangle 8">
            <a:extLst>
              <a:ext uri="{FF2B5EF4-FFF2-40B4-BE49-F238E27FC236}">
                <a16:creationId xmlns:a16="http://schemas.microsoft.com/office/drawing/2014/main" id="{76924092-6112-4CBA-B25A-51EDDAE0D615}"/>
              </a:ext>
            </a:extLst>
          </p:cNvPr>
          <p:cNvSpPr>
            <a:spLocks noChangeArrowheads="1"/>
          </p:cNvSpPr>
          <p:nvPr/>
        </p:nvSpPr>
        <p:spPr bwMode="auto">
          <a:xfrm>
            <a:off x="1200151" y="1068389"/>
            <a:ext cx="9777413"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Proyectos Independientes</a:t>
            </a:r>
            <a:r>
              <a:rPr lang="es-ES" altLang="es-AR" sz="2000" dirty="0">
                <a:latin typeface="+mj-lt"/>
              </a:rPr>
              <a:t>:</a:t>
            </a:r>
          </a:p>
          <a:p>
            <a:pPr algn="just" eaLnBrk="1" hangingPunct="1">
              <a:spcBef>
                <a:spcPct val="20000"/>
              </a:spcBef>
            </a:pPr>
            <a:r>
              <a:rPr lang="es-ES" altLang="es-AR" sz="2000" dirty="0">
                <a:latin typeface="+mj-lt"/>
              </a:rPr>
              <a:t>son aquellos que cada uno puede realizarse con independencia de los restantes.</a:t>
            </a:r>
          </a:p>
        </p:txBody>
      </p:sp>
      <p:sp>
        <p:nvSpPr>
          <p:cNvPr id="35849" name="Rectangle 9">
            <a:extLst>
              <a:ext uri="{FF2B5EF4-FFF2-40B4-BE49-F238E27FC236}">
                <a16:creationId xmlns:a16="http://schemas.microsoft.com/office/drawing/2014/main" id="{F0D59FF5-79FD-4ABC-8D06-F660CE6FDF85}"/>
              </a:ext>
            </a:extLst>
          </p:cNvPr>
          <p:cNvSpPr>
            <a:spLocks noChangeArrowheads="1"/>
          </p:cNvSpPr>
          <p:nvPr/>
        </p:nvSpPr>
        <p:spPr bwMode="auto">
          <a:xfrm>
            <a:off x="1207293" y="2308225"/>
            <a:ext cx="9777413" cy="129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Proyectos Complementarios</a:t>
            </a:r>
            <a:r>
              <a:rPr lang="es-ES" altLang="es-AR" sz="2000" dirty="0">
                <a:latin typeface="+mj-lt"/>
              </a:rPr>
              <a:t>: </a:t>
            </a:r>
          </a:p>
          <a:p>
            <a:pPr algn="just" eaLnBrk="1" hangingPunct="1">
              <a:spcBef>
                <a:spcPct val="20000"/>
              </a:spcBef>
            </a:pPr>
            <a:r>
              <a:rPr lang="es-ES" altLang="es-AR" sz="2000" dirty="0">
                <a:latin typeface="+mj-lt"/>
              </a:rPr>
              <a:t>son aquellos cuya relación es de dependencia y pueden complementarse en el espacio o en el tiempo o pueden ser sucesivos o secuénciales por lo que los resultados de ciertas inversiones conducen a la realización de otras.</a:t>
            </a:r>
          </a:p>
        </p:txBody>
      </p:sp>
      <p:sp>
        <p:nvSpPr>
          <p:cNvPr id="35850" name="Rectangle 10">
            <a:extLst>
              <a:ext uri="{FF2B5EF4-FFF2-40B4-BE49-F238E27FC236}">
                <a16:creationId xmlns:a16="http://schemas.microsoft.com/office/drawing/2014/main" id="{47FB6CF4-A4F8-4C10-B24B-A0C0BB9A425F}"/>
              </a:ext>
            </a:extLst>
          </p:cNvPr>
          <p:cNvSpPr>
            <a:spLocks noChangeArrowheads="1"/>
          </p:cNvSpPr>
          <p:nvPr/>
        </p:nvSpPr>
        <p:spPr bwMode="auto">
          <a:xfrm>
            <a:off x="1207293" y="4085999"/>
            <a:ext cx="9777413" cy="129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Proyectos Mutuamente Excluyentes</a:t>
            </a:r>
            <a:r>
              <a:rPr lang="es-ES" altLang="es-AR" sz="2000" dirty="0">
                <a:latin typeface="+mj-lt"/>
              </a:rPr>
              <a:t>: </a:t>
            </a:r>
          </a:p>
          <a:p>
            <a:pPr algn="just" eaLnBrk="1" hangingPunct="1">
              <a:spcBef>
                <a:spcPct val="20000"/>
              </a:spcBef>
            </a:pPr>
            <a:r>
              <a:rPr lang="es-ES" altLang="es-AR" sz="2000" dirty="0">
                <a:latin typeface="+mj-lt"/>
              </a:rPr>
              <a:t>se evalúan distintas inversiones alternativas que permiten llevar a cabo una misma operación industrial o comercial.</a:t>
            </a:r>
          </a:p>
        </p:txBody>
      </p:sp>
      <p:sp>
        <p:nvSpPr>
          <p:cNvPr id="6" name="5 CuadroTexto">
            <a:extLst>
              <a:ext uri="{FF2B5EF4-FFF2-40B4-BE49-F238E27FC236}">
                <a16:creationId xmlns:a16="http://schemas.microsoft.com/office/drawing/2014/main" id="{5B91E492-828E-46F9-BBEA-42C82B13A670}"/>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27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p:bldP spid="35849" grpId="0"/>
      <p:bldP spid="3585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 Box 4">
            <a:extLst>
              <a:ext uri="{FF2B5EF4-FFF2-40B4-BE49-F238E27FC236}">
                <a16:creationId xmlns:a16="http://schemas.microsoft.com/office/drawing/2014/main" id="{1769EC3A-F953-4A8C-836E-C5F016A1A670}"/>
              </a:ext>
            </a:extLst>
          </p:cNvPr>
          <p:cNvSpPr txBox="1">
            <a:spLocks noChangeArrowheads="1"/>
          </p:cNvSpPr>
          <p:nvPr/>
        </p:nvSpPr>
        <p:spPr bwMode="auto">
          <a:xfrm>
            <a:off x="1200149" y="185738"/>
            <a:ext cx="103005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EVALUACIÓN DE PROYECTOS DE INVERSIÓN</a:t>
            </a:r>
          </a:p>
        </p:txBody>
      </p:sp>
      <p:sp>
        <p:nvSpPr>
          <p:cNvPr id="36869" name="Rectangle 5">
            <a:extLst>
              <a:ext uri="{FF2B5EF4-FFF2-40B4-BE49-F238E27FC236}">
                <a16:creationId xmlns:a16="http://schemas.microsoft.com/office/drawing/2014/main" id="{07919B13-6D3F-40EE-B0CE-4DA5B60D68FE}"/>
              </a:ext>
            </a:extLst>
          </p:cNvPr>
          <p:cNvSpPr>
            <a:spLocks noChangeArrowheads="1"/>
          </p:cNvSpPr>
          <p:nvPr/>
        </p:nvSpPr>
        <p:spPr bwMode="auto">
          <a:xfrm>
            <a:off x="1200151" y="1068389"/>
            <a:ext cx="9777413"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La evaluación económica y financiera de los proyectos se basan en la Tasa de Oportunidad de los Inversores:</a:t>
            </a:r>
          </a:p>
        </p:txBody>
      </p:sp>
      <p:sp>
        <p:nvSpPr>
          <p:cNvPr id="36870" name="Rectangle 6">
            <a:extLst>
              <a:ext uri="{FF2B5EF4-FFF2-40B4-BE49-F238E27FC236}">
                <a16:creationId xmlns:a16="http://schemas.microsoft.com/office/drawing/2014/main" id="{8EAA1E9C-67B5-44E6-B281-791E6BF159EE}"/>
              </a:ext>
            </a:extLst>
          </p:cNvPr>
          <p:cNvSpPr>
            <a:spLocks noChangeArrowheads="1"/>
          </p:cNvSpPr>
          <p:nvPr/>
        </p:nvSpPr>
        <p:spPr bwMode="auto">
          <a:xfrm>
            <a:off x="1200151" y="1933576"/>
            <a:ext cx="9777413"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ES" altLang="es-AR" sz="2000" dirty="0">
                <a:latin typeface="+mj-lt"/>
              </a:rPr>
              <a:t> </a:t>
            </a:r>
            <a:r>
              <a:rPr lang="es-ES" altLang="es-AR" sz="2000" b="1" dirty="0">
                <a:latin typeface="+mj-lt"/>
              </a:rPr>
              <a:t>Valor Actual Neto</a:t>
            </a:r>
            <a:r>
              <a:rPr lang="es-ES" altLang="es-AR" sz="2000" dirty="0">
                <a:latin typeface="+mj-lt"/>
              </a:rPr>
              <a:t>: es el beneficio extraordinario que paga el proyecto por encima de la tasa requerida por el inversor.</a:t>
            </a:r>
          </a:p>
        </p:txBody>
      </p:sp>
      <p:graphicFrame>
        <p:nvGraphicFramePr>
          <p:cNvPr id="36920" name="Group 56">
            <a:extLst>
              <a:ext uri="{FF2B5EF4-FFF2-40B4-BE49-F238E27FC236}">
                <a16:creationId xmlns:a16="http://schemas.microsoft.com/office/drawing/2014/main" id="{9F857B29-4D3D-4F72-AF7D-8F855C420000}"/>
              </a:ext>
            </a:extLst>
          </p:cNvPr>
          <p:cNvGraphicFramePr>
            <a:graphicFrameLocks noGrp="1"/>
          </p:cNvGraphicFramePr>
          <p:nvPr>
            <p:ph idx="4294967295"/>
            <p:extLst>
              <p:ext uri="{D42A27DB-BD31-4B8C-83A1-F6EECF244321}">
                <p14:modId xmlns:p14="http://schemas.microsoft.com/office/powerpoint/2010/main" val="2007870507"/>
              </p:ext>
            </p:extLst>
          </p:nvPr>
        </p:nvGraphicFramePr>
        <p:xfrm>
          <a:off x="2034381" y="2749550"/>
          <a:ext cx="8137525" cy="1311275"/>
        </p:xfrm>
        <a:graphic>
          <a:graphicData uri="http://schemas.openxmlformats.org/drawingml/2006/table">
            <a:tbl>
              <a:tblPr/>
              <a:tblGrid>
                <a:gridCol w="8137525">
                  <a:extLst>
                    <a:ext uri="{9D8B030D-6E8A-4147-A177-3AD203B41FA5}">
                      <a16:colId xmlns:a16="http://schemas.microsoft.com/office/drawing/2014/main" val="20000"/>
                    </a:ext>
                  </a:extLst>
                </a:gridCol>
              </a:tblGrid>
              <a:tr h="1311275">
                <a:tc>
                  <a:txBody>
                    <a:bodyPr/>
                    <a:lstStyle>
                      <a:lvl1pPr marL="342900" indent="-342900">
                        <a:spcBef>
                          <a:spcPct val="20000"/>
                        </a:spcBef>
                        <a:tabLst>
                          <a:tab pos="571500" algn="l"/>
                        </a:tabLst>
                        <a:defRPr sz="2800">
                          <a:solidFill>
                            <a:schemeClr val="tx1"/>
                          </a:solidFill>
                          <a:latin typeface="Arial" pitchFamily="34" charset="0"/>
                          <a:cs typeface="Arial" pitchFamily="34" charset="0"/>
                        </a:defRPr>
                      </a:lvl1pPr>
                      <a:lvl2pPr marL="742950" indent="-285750">
                        <a:spcBef>
                          <a:spcPct val="20000"/>
                        </a:spcBef>
                        <a:tabLst>
                          <a:tab pos="571500" algn="l"/>
                        </a:tabLst>
                        <a:defRPr sz="2400">
                          <a:solidFill>
                            <a:schemeClr val="tx1"/>
                          </a:solidFill>
                          <a:latin typeface="Arial" pitchFamily="34" charset="0"/>
                          <a:cs typeface="Arial" pitchFamily="34" charset="0"/>
                        </a:defRPr>
                      </a:lvl2pPr>
                      <a:lvl3pPr marL="1143000" indent="-228600">
                        <a:spcBef>
                          <a:spcPct val="20000"/>
                        </a:spcBef>
                        <a:tabLst>
                          <a:tab pos="571500" algn="l"/>
                        </a:tabLst>
                        <a:defRPr sz="2000">
                          <a:solidFill>
                            <a:schemeClr val="tx1"/>
                          </a:solidFill>
                          <a:latin typeface="Arial" pitchFamily="34" charset="0"/>
                          <a:cs typeface="Arial" pitchFamily="34" charset="0"/>
                        </a:defRPr>
                      </a:lvl3pPr>
                      <a:lvl4pPr marL="1600200" indent="-228600">
                        <a:spcBef>
                          <a:spcPct val="20000"/>
                        </a:spcBef>
                        <a:tabLst>
                          <a:tab pos="571500" algn="l"/>
                        </a:tabLst>
                        <a:defRPr>
                          <a:solidFill>
                            <a:schemeClr val="tx1"/>
                          </a:solidFill>
                          <a:latin typeface="Arial" pitchFamily="34" charset="0"/>
                          <a:cs typeface="Arial" pitchFamily="34" charset="0"/>
                        </a:defRPr>
                      </a:lvl4pPr>
                      <a:lvl5pPr marL="2057400" indent="-228600">
                        <a:spcBef>
                          <a:spcPct val="20000"/>
                        </a:spcBef>
                        <a:tabLst>
                          <a:tab pos="571500" algn="l"/>
                        </a:tabLst>
                        <a:defRPr>
                          <a:solidFill>
                            <a:schemeClr val="tx1"/>
                          </a:solidFill>
                          <a:latin typeface="Arial" pitchFamily="34" charset="0"/>
                          <a:cs typeface="Arial" pitchFamily="34" charset="0"/>
                        </a:defRPr>
                      </a:lvl5pPr>
                      <a:lvl6pPr marL="2514600" indent="-228600" fontAlgn="base">
                        <a:spcBef>
                          <a:spcPct val="20000"/>
                        </a:spcBef>
                        <a:spcAft>
                          <a:spcPct val="0"/>
                        </a:spcAft>
                        <a:tabLst>
                          <a:tab pos="571500" algn="l"/>
                        </a:tabLst>
                        <a:defRPr>
                          <a:solidFill>
                            <a:schemeClr val="tx1"/>
                          </a:solidFill>
                          <a:latin typeface="Arial" pitchFamily="34" charset="0"/>
                          <a:cs typeface="Arial" pitchFamily="34" charset="0"/>
                        </a:defRPr>
                      </a:lvl6pPr>
                      <a:lvl7pPr marL="2971800" indent="-228600" fontAlgn="base">
                        <a:spcBef>
                          <a:spcPct val="20000"/>
                        </a:spcBef>
                        <a:spcAft>
                          <a:spcPct val="0"/>
                        </a:spcAft>
                        <a:tabLst>
                          <a:tab pos="571500" algn="l"/>
                        </a:tabLst>
                        <a:defRPr>
                          <a:solidFill>
                            <a:schemeClr val="tx1"/>
                          </a:solidFill>
                          <a:latin typeface="Arial" pitchFamily="34" charset="0"/>
                          <a:cs typeface="Arial" pitchFamily="34" charset="0"/>
                        </a:defRPr>
                      </a:lvl7pPr>
                      <a:lvl8pPr marL="3429000" indent="-228600" fontAlgn="base">
                        <a:spcBef>
                          <a:spcPct val="20000"/>
                        </a:spcBef>
                        <a:spcAft>
                          <a:spcPct val="0"/>
                        </a:spcAft>
                        <a:tabLst>
                          <a:tab pos="571500" algn="l"/>
                        </a:tabLst>
                        <a:defRPr>
                          <a:solidFill>
                            <a:schemeClr val="tx1"/>
                          </a:solidFill>
                          <a:latin typeface="Arial" pitchFamily="34" charset="0"/>
                          <a:cs typeface="Arial" pitchFamily="34" charset="0"/>
                        </a:defRPr>
                      </a:lvl8pPr>
                      <a:lvl9pPr marL="3886200" indent="-228600" fontAlgn="base">
                        <a:spcBef>
                          <a:spcPct val="20000"/>
                        </a:spcBef>
                        <a:spcAft>
                          <a:spcPct val="0"/>
                        </a:spcAft>
                        <a:tabLst>
                          <a:tab pos="571500" algn="l"/>
                        </a:tabLst>
                        <a:defRPr>
                          <a:solidFill>
                            <a:schemeClr val="tx1"/>
                          </a:solidFill>
                          <a:latin typeface="Arial" pitchFamily="34" charset="0"/>
                          <a:cs typeface="Arial"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tab pos="571500" algn="l"/>
                        </a:tabLst>
                      </a:pPr>
                      <a:r>
                        <a:rPr kumimoji="0" lang="es-ES" altLang="es-AR" sz="2000" b="0" i="0" u="none" strike="noStrike" cap="none" normalizeH="0" baseline="0" dirty="0">
                          <a:ln>
                            <a:noFill/>
                          </a:ln>
                          <a:solidFill>
                            <a:schemeClr val="tx1"/>
                          </a:solidFill>
                          <a:effectLst/>
                          <a:latin typeface="+mj-lt"/>
                          <a:cs typeface="Times New Roman" pitchFamily="18" charset="0"/>
                        </a:rPr>
                        <a:t>VAN = + ∑ Flujos netos de caja actualizados – Inversión inicial.</a:t>
                      </a:r>
                    </a:p>
                    <a:p>
                      <a:pPr marL="342900" marR="0" lvl="0" indent="-342900" algn="l" defTabSz="914400" rtl="0" eaLnBrk="0" fontAlgn="base" latinLnBrk="0" hangingPunct="0">
                        <a:lnSpc>
                          <a:spcPct val="100000"/>
                        </a:lnSpc>
                        <a:spcBef>
                          <a:spcPct val="0"/>
                        </a:spcBef>
                        <a:spcAft>
                          <a:spcPct val="0"/>
                        </a:spcAft>
                        <a:buClrTx/>
                        <a:buSzTx/>
                        <a:buFontTx/>
                        <a:buNone/>
                        <a:tabLst>
                          <a:tab pos="571500" algn="l"/>
                        </a:tabLst>
                      </a:pPr>
                      <a:r>
                        <a:rPr kumimoji="0" lang="es-ES" altLang="es-AR" sz="2000" b="0" i="0" u="none" strike="noStrike" cap="none" normalizeH="0" baseline="0" dirty="0">
                          <a:ln>
                            <a:noFill/>
                          </a:ln>
                          <a:solidFill>
                            <a:schemeClr val="tx1"/>
                          </a:solidFill>
                          <a:effectLst/>
                          <a:latin typeface="+mj-lt"/>
                          <a:cs typeface="Times New Roman" pitchFamily="18" charset="0"/>
                        </a:rPr>
                        <a:t>Si:   VAN = 0     INDIFERENCIA</a:t>
                      </a:r>
                      <a:endParaRPr kumimoji="0" lang="es-ES" altLang="es-AR" sz="2000" b="0" i="0" u="none" strike="noStrike" cap="none" normalizeH="0" baseline="0" dirty="0">
                        <a:ln>
                          <a:noFill/>
                        </a:ln>
                        <a:solidFill>
                          <a:schemeClr val="tx1"/>
                        </a:solidFill>
                        <a:effectLst/>
                        <a:latin typeface="+mj-lt"/>
                        <a:cs typeface="Times New Roman" pitchFamily="18" charset="0"/>
                        <a:sym typeface="Monotype Sorts"/>
                      </a:endParaRPr>
                    </a:p>
                    <a:p>
                      <a:pPr marL="342900" marR="0" lvl="0" indent="-342900" algn="l" defTabSz="914400" rtl="0" eaLnBrk="0" fontAlgn="base" latinLnBrk="0" hangingPunct="0">
                        <a:lnSpc>
                          <a:spcPct val="100000"/>
                        </a:lnSpc>
                        <a:spcBef>
                          <a:spcPct val="0"/>
                        </a:spcBef>
                        <a:spcAft>
                          <a:spcPct val="0"/>
                        </a:spcAft>
                        <a:buClrTx/>
                        <a:buSzTx/>
                        <a:buFontTx/>
                        <a:buNone/>
                        <a:tabLst>
                          <a:tab pos="571500" algn="l"/>
                        </a:tabLst>
                      </a:pPr>
                      <a:r>
                        <a:rPr kumimoji="0" lang="es-ES" altLang="es-AR" sz="2000" b="0" i="0" u="none" strike="noStrike" cap="none" normalizeH="0" baseline="0" dirty="0">
                          <a:ln>
                            <a:noFill/>
                          </a:ln>
                          <a:solidFill>
                            <a:schemeClr val="tx1"/>
                          </a:solidFill>
                          <a:effectLst/>
                          <a:latin typeface="+mj-lt"/>
                          <a:cs typeface="Times New Roman" pitchFamily="18" charset="0"/>
                          <a:sym typeface="Monotype Sorts"/>
                        </a:rPr>
                        <a:t>        VAN &gt; 0    </a:t>
                      </a:r>
                      <a:r>
                        <a:rPr kumimoji="0" lang="es-ES" altLang="es-AR" sz="2000" b="0" i="0" u="none" strike="noStrike" cap="none" normalizeH="0" baseline="0" dirty="0">
                          <a:ln>
                            <a:noFill/>
                          </a:ln>
                          <a:solidFill>
                            <a:schemeClr val="tx1"/>
                          </a:solidFill>
                          <a:effectLst/>
                          <a:latin typeface="+mj-lt"/>
                          <a:cs typeface="Times New Roman" pitchFamily="18" charset="0"/>
                        </a:rPr>
                        <a:t> EL PROYECTO ES ACEPTABLE</a:t>
                      </a:r>
                      <a:endParaRPr kumimoji="0" lang="es-ES" altLang="es-AR" sz="2000" b="0" i="0" u="none" strike="noStrike" cap="none" normalizeH="0" baseline="0" dirty="0">
                        <a:ln>
                          <a:noFill/>
                        </a:ln>
                        <a:solidFill>
                          <a:schemeClr val="tx1"/>
                        </a:solidFill>
                        <a:effectLst/>
                        <a:latin typeface="+mj-lt"/>
                        <a:cs typeface="Times New Roman" pitchFamily="18" charset="0"/>
                        <a:sym typeface="Monotype Sorts"/>
                      </a:endParaRPr>
                    </a:p>
                    <a:p>
                      <a:pPr marL="342900" marR="0" lvl="0" indent="-342900" algn="l" defTabSz="914400" rtl="0" eaLnBrk="0" fontAlgn="base" latinLnBrk="0" hangingPunct="0">
                        <a:lnSpc>
                          <a:spcPct val="100000"/>
                        </a:lnSpc>
                        <a:spcBef>
                          <a:spcPct val="0"/>
                        </a:spcBef>
                        <a:spcAft>
                          <a:spcPct val="0"/>
                        </a:spcAft>
                        <a:buClrTx/>
                        <a:buSzTx/>
                        <a:buFontTx/>
                        <a:buNone/>
                        <a:tabLst>
                          <a:tab pos="571500" algn="l"/>
                        </a:tabLst>
                      </a:pPr>
                      <a:r>
                        <a:rPr kumimoji="0" lang="es-ES" altLang="es-AR" sz="2000" b="0" i="0" u="none" strike="noStrike" cap="none" normalizeH="0" baseline="0" dirty="0">
                          <a:ln>
                            <a:noFill/>
                          </a:ln>
                          <a:solidFill>
                            <a:schemeClr val="tx1"/>
                          </a:solidFill>
                          <a:effectLst/>
                          <a:latin typeface="+mj-lt"/>
                          <a:cs typeface="Times New Roman" pitchFamily="18" charset="0"/>
                          <a:sym typeface="Monotype Sorts"/>
                        </a:rPr>
                        <a:t>        VAN &lt; 0    </a:t>
                      </a:r>
                      <a:r>
                        <a:rPr kumimoji="0" lang="es-ES" altLang="es-AR" sz="2000" b="0" i="0" u="none" strike="noStrike" cap="none" normalizeH="0" baseline="0" dirty="0">
                          <a:ln>
                            <a:noFill/>
                          </a:ln>
                          <a:solidFill>
                            <a:schemeClr val="tx1"/>
                          </a:solidFill>
                          <a:effectLst/>
                          <a:latin typeface="+mj-lt"/>
                          <a:cs typeface="Times New Roman" pitchFamily="18" charset="0"/>
                        </a:rPr>
                        <a:t> EL PROYECTO DEBE SER RECHAZADO</a:t>
                      </a:r>
                      <a:endParaRPr kumimoji="0" lang="es-ES" altLang="es-AR" sz="2000" b="0" i="0" u="none" strike="noStrike" cap="none" normalizeH="0" baseline="0" dirty="0">
                        <a:ln>
                          <a:noFill/>
                        </a:ln>
                        <a:solidFill>
                          <a:schemeClr val="tx1"/>
                        </a:solidFill>
                        <a:effectLst/>
                        <a:latin typeface="+mj-lt"/>
                        <a:cs typeface="Times New Roman" pitchFamily="18" charset="0"/>
                        <a:sym typeface="Monotype Sorts"/>
                      </a:endParaRPr>
                    </a:p>
                  </a:txBody>
                  <a:tcPr marT="45742" marB="457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6891" name="Rectangle 27">
            <a:extLst>
              <a:ext uri="{FF2B5EF4-FFF2-40B4-BE49-F238E27FC236}">
                <a16:creationId xmlns:a16="http://schemas.microsoft.com/office/drawing/2014/main" id="{41F82130-D6A5-478D-967C-0DC15E238D65}"/>
              </a:ext>
            </a:extLst>
          </p:cNvPr>
          <p:cNvSpPr>
            <a:spLocks noChangeArrowheads="1"/>
          </p:cNvSpPr>
          <p:nvPr/>
        </p:nvSpPr>
        <p:spPr bwMode="auto">
          <a:xfrm>
            <a:off x="1214438" y="4221163"/>
            <a:ext cx="9777412" cy="48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a:t>
            </a:r>
            <a:r>
              <a:rPr lang="es-ES" altLang="es-AR" sz="2000" b="1" dirty="0">
                <a:latin typeface="+mj-lt"/>
              </a:rPr>
              <a:t>Rentabilidad sobre la inversión</a:t>
            </a:r>
            <a:r>
              <a:rPr lang="es-ES" altLang="es-AR" sz="2000" dirty="0">
                <a:latin typeface="+mj-lt"/>
              </a:rPr>
              <a:t>:</a:t>
            </a:r>
          </a:p>
        </p:txBody>
      </p:sp>
      <p:sp>
        <p:nvSpPr>
          <p:cNvPr id="30732" name="Rectangle 28">
            <a:extLst>
              <a:ext uri="{FF2B5EF4-FFF2-40B4-BE49-F238E27FC236}">
                <a16:creationId xmlns:a16="http://schemas.microsoft.com/office/drawing/2014/main" id="{166775E6-C14B-4F96-921F-28EA398A18A6}"/>
              </a:ext>
            </a:extLst>
          </p:cNvPr>
          <p:cNvSpPr>
            <a:spLocks noChangeArrowheads="1"/>
          </p:cNvSpPr>
          <p:nvPr/>
        </p:nvSpPr>
        <p:spPr bwMode="auto">
          <a:xfrm>
            <a:off x="2351088" y="4724400"/>
            <a:ext cx="8208962" cy="40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571500" algn="l"/>
              </a:tabLst>
              <a:defRPr>
                <a:solidFill>
                  <a:schemeClr val="tx1"/>
                </a:solidFill>
                <a:latin typeface="Arial" panose="020B0604020202020204" pitchFamily="34" charset="0"/>
                <a:cs typeface="Arial" panose="020B0604020202020204" pitchFamily="34" charset="0"/>
              </a:defRPr>
            </a:lvl1pPr>
            <a:lvl2pPr marL="742950" indent="-285750">
              <a:tabLst>
                <a:tab pos="571500" algn="l"/>
              </a:tabLst>
              <a:defRPr>
                <a:solidFill>
                  <a:schemeClr val="tx1"/>
                </a:solidFill>
                <a:latin typeface="Arial" panose="020B0604020202020204" pitchFamily="34" charset="0"/>
                <a:cs typeface="Arial" panose="020B0604020202020204" pitchFamily="34" charset="0"/>
              </a:defRPr>
            </a:lvl2pPr>
            <a:lvl3pPr marL="1143000" indent="-228600">
              <a:tabLst>
                <a:tab pos="571500" algn="l"/>
              </a:tabLst>
              <a:defRPr>
                <a:solidFill>
                  <a:schemeClr val="tx1"/>
                </a:solidFill>
                <a:latin typeface="Arial" panose="020B0604020202020204" pitchFamily="34" charset="0"/>
                <a:cs typeface="Arial" panose="020B0604020202020204" pitchFamily="34" charset="0"/>
              </a:defRPr>
            </a:lvl3pPr>
            <a:lvl4pPr marL="1600200" indent="-228600">
              <a:tabLst>
                <a:tab pos="571500" algn="l"/>
              </a:tabLst>
              <a:defRPr>
                <a:solidFill>
                  <a:schemeClr val="tx1"/>
                </a:solidFill>
                <a:latin typeface="Arial" panose="020B0604020202020204" pitchFamily="34" charset="0"/>
                <a:cs typeface="Arial" panose="020B0604020202020204" pitchFamily="34" charset="0"/>
              </a:defRPr>
            </a:lvl4pPr>
            <a:lvl5pPr marL="2057400" indent="-228600">
              <a:tabLst>
                <a:tab pos="5715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AR" sz="2000" dirty="0">
                <a:latin typeface="+mj-lt"/>
              </a:rPr>
              <a:t>ROI = ∑ Flujos netos de caja (sin actualizar) / Inversión inicial</a:t>
            </a:r>
          </a:p>
        </p:txBody>
      </p:sp>
      <p:sp>
        <p:nvSpPr>
          <p:cNvPr id="36904" name="Rectangle 40">
            <a:extLst>
              <a:ext uri="{FF2B5EF4-FFF2-40B4-BE49-F238E27FC236}">
                <a16:creationId xmlns:a16="http://schemas.microsoft.com/office/drawing/2014/main" id="{98A1E74B-9144-4F26-8836-50AC0E9F2F10}"/>
              </a:ext>
            </a:extLst>
          </p:cNvPr>
          <p:cNvSpPr>
            <a:spLocks noChangeArrowheads="1"/>
          </p:cNvSpPr>
          <p:nvPr/>
        </p:nvSpPr>
        <p:spPr bwMode="auto">
          <a:xfrm>
            <a:off x="1200151" y="5214939"/>
            <a:ext cx="977741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a:t>
            </a:r>
            <a:r>
              <a:rPr lang="es-ES" altLang="es-AR" sz="2000" b="1" dirty="0">
                <a:latin typeface="+mj-lt"/>
              </a:rPr>
              <a:t>Tasa Interna de Rentabilidad</a:t>
            </a:r>
            <a:r>
              <a:rPr lang="es-ES" altLang="es-AR" sz="2000" dirty="0">
                <a:latin typeface="+mj-lt"/>
              </a:rPr>
              <a:t>: VAN </a:t>
            </a:r>
            <a:r>
              <a:rPr lang="es-ES" altLang="es-AR" sz="2000" baseline="-25000" dirty="0">
                <a:latin typeface="+mj-lt"/>
              </a:rPr>
              <a:t>(TIR) </a:t>
            </a:r>
            <a:r>
              <a:rPr lang="es-ES" altLang="es-AR" sz="2000" dirty="0">
                <a:latin typeface="+mj-lt"/>
              </a:rPr>
              <a:t>= 0</a:t>
            </a:r>
          </a:p>
        </p:txBody>
      </p:sp>
      <p:sp>
        <p:nvSpPr>
          <p:cNvPr id="30734" name="Rectangle 42">
            <a:extLst>
              <a:ext uri="{FF2B5EF4-FFF2-40B4-BE49-F238E27FC236}">
                <a16:creationId xmlns:a16="http://schemas.microsoft.com/office/drawing/2014/main" id="{65A47BD7-4BBD-4C6E-ABD7-CC48879DD7B2}"/>
              </a:ext>
            </a:extLst>
          </p:cNvPr>
          <p:cNvSpPr>
            <a:spLocks noChangeArrowheads="1"/>
          </p:cNvSpPr>
          <p:nvPr/>
        </p:nvSpPr>
        <p:spPr bwMode="auto">
          <a:xfrm>
            <a:off x="3506789" y="30062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tabLst>
                <a:tab pos="571500" algn="l"/>
              </a:tabLst>
              <a:defRPr>
                <a:solidFill>
                  <a:schemeClr val="tx1"/>
                </a:solidFill>
                <a:latin typeface="Arial" panose="020B0604020202020204" pitchFamily="34" charset="0"/>
                <a:cs typeface="Arial" panose="020B0604020202020204" pitchFamily="34" charset="0"/>
              </a:defRPr>
            </a:lvl1pPr>
            <a:lvl2pPr marL="742950" indent="-285750">
              <a:tabLst>
                <a:tab pos="571500" algn="l"/>
              </a:tabLst>
              <a:defRPr>
                <a:solidFill>
                  <a:schemeClr val="tx1"/>
                </a:solidFill>
                <a:latin typeface="Arial" panose="020B0604020202020204" pitchFamily="34" charset="0"/>
                <a:cs typeface="Arial" panose="020B0604020202020204" pitchFamily="34" charset="0"/>
              </a:defRPr>
            </a:lvl2pPr>
            <a:lvl3pPr marL="1143000" indent="-228600">
              <a:tabLst>
                <a:tab pos="571500" algn="l"/>
              </a:tabLst>
              <a:defRPr>
                <a:solidFill>
                  <a:schemeClr val="tx1"/>
                </a:solidFill>
                <a:latin typeface="Arial" panose="020B0604020202020204" pitchFamily="34" charset="0"/>
                <a:cs typeface="Arial" panose="020B0604020202020204" pitchFamily="34" charset="0"/>
              </a:defRPr>
            </a:lvl3pPr>
            <a:lvl4pPr marL="1600200" indent="-228600">
              <a:tabLst>
                <a:tab pos="571500" algn="l"/>
              </a:tabLst>
              <a:defRPr>
                <a:solidFill>
                  <a:schemeClr val="tx1"/>
                </a:solidFill>
                <a:latin typeface="Arial" panose="020B0604020202020204" pitchFamily="34" charset="0"/>
                <a:cs typeface="Arial" panose="020B0604020202020204" pitchFamily="34" charset="0"/>
              </a:defRPr>
            </a:lvl4pPr>
            <a:lvl5pPr marL="2057400" indent="-228600">
              <a:tabLst>
                <a:tab pos="5715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36921" name="Rectangle 57">
            <a:extLst>
              <a:ext uri="{FF2B5EF4-FFF2-40B4-BE49-F238E27FC236}">
                <a16:creationId xmlns:a16="http://schemas.microsoft.com/office/drawing/2014/main" id="{73174240-73CE-4388-A557-E142E92A4857}"/>
              </a:ext>
            </a:extLst>
          </p:cNvPr>
          <p:cNvSpPr>
            <a:spLocks noChangeArrowheads="1"/>
          </p:cNvSpPr>
          <p:nvPr/>
        </p:nvSpPr>
        <p:spPr bwMode="auto">
          <a:xfrm>
            <a:off x="1200151" y="5661026"/>
            <a:ext cx="977741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a:t>
            </a:r>
            <a:r>
              <a:rPr lang="es-ES" altLang="es-AR" sz="2000" b="1" dirty="0">
                <a:latin typeface="+mj-lt"/>
              </a:rPr>
              <a:t>Período de Recupero de la Inversión (</a:t>
            </a:r>
            <a:r>
              <a:rPr lang="es-ES" altLang="es-AR" sz="2000" b="1" dirty="0" err="1">
                <a:latin typeface="+mj-lt"/>
              </a:rPr>
              <a:t>Payback</a:t>
            </a:r>
            <a:r>
              <a:rPr lang="es-ES" altLang="es-AR" sz="2000" b="1" dirty="0">
                <a:latin typeface="+mj-lt"/>
              </a:rPr>
              <a:t>)</a:t>
            </a:r>
          </a:p>
        </p:txBody>
      </p:sp>
      <p:sp>
        <p:nvSpPr>
          <p:cNvPr id="16" name="15 CuadroTexto">
            <a:extLst>
              <a:ext uri="{FF2B5EF4-FFF2-40B4-BE49-F238E27FC236}">
                <a16:creationId xmlns:a16="http://schemas.microsoft.com/office/drawing/2014/main" id="{983E0449-7F55-499F-BA55-08E2551E06E9}"/>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28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7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9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90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9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p:bldP spid="36870" grpId="0"/>
      <p:bldP spid="36891" grpId="0"/>
      <p:bldP spid="36904" grpId="0"/>
      <p:bldP spid="369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4">
            <a:extLst>
              <a:ext uri="{FF2B5EF4-FFF2-40B4-BE49-F238E27FC236}">
                <a16:creationId xmlns:a16="http://schemas.microsoft.com/office/drawing/2014/main" id="{8474496F-FBF2-4940-807C-E9AC4E97C527}"/>
              </a:ext>
            </a:extLst>
          </p:cNvPr>
          <p:cNvSpPr txBox="1">
            <a:spLocks noChangeArrowheads="1"/>
          </p:cNvSpPr>
          <p:nvPr/>
        </p:nvSpPr>
        <p:spPr bwMode="auto">
          <a:xfrm>
            <a:off x="1343025" y="185738"/>
            <a:ext cx="6769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FINANCIERO</a:t>
            </a:r>
          </a:p>
        </p:txBody>
      </p:sp>
      <p:sp>
        <p:nvSpPr>
          <p:cNvPr id="39943" name="Rectangle 7">
            <a:extLst>
              <a:ext uri="{FF2B5EF4-FFF2-40B4-BE49-F238E27FC236}">
                <a16:creationId xmlns:a16="http://schemas.microsoft.com/office/drawing/2014/main" id="{5C1BA64A-1C9B-4D4F-9538-D62936032BF4}"/>
              </a:ext>
            </a:extLst>
          </p:cNvPr>
          <p:cNvSpPr>
            <a:spLocks noChangeArrowheads="1"/>
          </p:cNvSpPr>
          <p:nvPr/>
        </p:nvSpPr>
        <p:spPr bwMode="auto">
          <a:xfrm>
            <a:off x="1200151" y="1025525"/>
            <a:ext cx="9777413" cy="71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solidFill>
                  <a:schemeClr val="tx1">
                    <a:lumMod val="75000"/>
                    <a:lumOff val="25000"/>
                  </a:schemeClr>
                </a:solidFill>
                <a:latin typeface="+mj-lt"/>
              </a:rPr>
              <a:t>Se </a:t>
            </a:r>
            <a:r>
              <a:rPr lang="es-ES" altLang="es-AR" sz="2000" b="1" dirty="0">
                <a:solidFill>
                  <a:schemeClr val="tx1">
                    <a:lumMod val="75000"/>
                    <a:lumOff val="25000"/>
                  </a:schemeClr>
                </a:solidFill>
                <a:latin typeface="+mj-lt"/>
              </a:rPr>
              <a:t>establecen los ingresos </a:t>
            </a:r>
            <a:r>
              <a:rPr lang="es-ES" altLang="es-AR" sz="2000" dirty="0">
                <a:solidFill>
                  <a:schemeClr val="tx1">
                    <a:lumMod val="75000"/>
                    <a:lumOff val="25000"/>
                  </a:schemeClr>
                </a:solidFill>
                <a:latin typeface="+mj-lt"/>
              </a:rPr>
              <a:t>(Presupuesto de Cobranzas) acorde al presupuesto de ventas y al equilibrio contable: </a:t>
            </a:r>
          </a:p>
        </p:txBody>
      </p:sp>
      <p:sp>
        <p:nvSpPr>
          <p:cNvPr id="31748" name="Rectangle 8">
            <a:extLst>
              <a:ext uri="{FF2B5EF4-FFF2-40B4-BE49-F238E27FC236}">
                <a16:creationId xmlns:a16="http://schemas.microsoft.com/office/drawing/2014/main" id="{273FFDA4-F6D2-44D2-8701-8BBE2AA36A83}"/>
              </a:ext>
            </a:extLst>
          </p:cNvPr>
          <p:cNvSpPr>
            <a:spLocks noChangeArrowheads="1"/>
          </p:cNvSpPr>
          <p:nvPr/>
        </p:nvSpPr>
        <p:spPr bwMode="auto">
          <a:xfrm>
            <a:off x="1343025" y="1961152"/>
            <a:ext cx="9432925" cy="558800"/>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571500" algn="l"/>
              </a:tabLst>
              <a:defRPr>
                <a:solidFill>
                  <a:schemeClr val="tx1"/>
                </a:solidFill>
                <a:latin typeface="Arial" panose="020B0604020202020204" pitchFamily="34" charset="0"/>
                <a:cs typeface="Arial" panose="020B0604020202020204" pitchFamily="34" charset="0"/>
              </a:defRPr>
            </a:lvl1pPr>
            <a:lvl2pPr marL="742950" indent="-285750">
              <a:tabLst>
                <a:tab pos="571500" algn="l"/>
              </a:tabLst>
              <a:defRPr>
                <a:solidFill>
                  <a:schemeClr val="tx1"/>
                </a:solidFill>
                <a:latin typeface="Arial" panose="020B0604020202020204" pitchFamily="34" charset="0"/>
                <a:cs typeface="Arial" panose="020B0604020202020204" pitchFamily="34" charset="0"/>
              </a:defRPr>
            </a:lvl2pPr>
            <a:lvl3pPr marL="1143000" indent="-228600">
              <a:tabLst>
                <a:tab pos="571500" algn="l"/>
              </a:tabLst>
              <a:defRPr>
                <a:solidFill>
                  <a:schemeClr val="tx1"/>
                </a:solidFill>
                <a:latin typeface="Arial" panose="020B0604020202020204" pitchFamily="34" charset="0"/>
                <a:cs typeface="Arial" panose="020B0604020202020204" pitchFamily="34" charset="0"/>
              </a:defRPr>
            </a:lvl3pPr>
            <a:lvl4pPr marL="1600200" indent="-228600">
              <a:tabLst>
                <a:tab pos="571500" algn="l"/>
              </a:tabLst>
              <a:defRPr>
                <a:solidFill>
                  <a:schemeClr val="tx1"/>
                </a:solidFill>
                <a:latin typeface="Arial" panose="020B0604020202020204" pitchFamily="34" charset="0"/>
                <a:cs typeface="Arial" panose="020B0604020202020204" pitchFamily="34" charset="0"/>
              </a:defRPr>
            </a:lvl4pPr>
            <a:lvl5pPr marL="2057400" indent="-228600">
              <a:tabLst>
                <a:tab pos="5715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5715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AR" sz="1500" b="1" dirty="0">
                <a:solidFill>
                  <a:srgbClr val="CC3300"/>
                </a:solidFill>
                <a:latin typeface="+mj-lt"/>
              </a:rPr>
              <a:t>Facturas pendientes de cobro al inicio del período + Facturas del período (Presupuesto de Ventas) = Facturas a cobrar (Presupuesto de Cobranzas) + Facturas no cobradas al final del período</a:t>
            </a:r>
          </a:p>
        </p:txBody>
      </p:sp>
      <p:sp>
        <p:nvSpPr>
          <p:cNvPr id="39945" name="Rectangle 9">
            <a:extLst>
              <a:ext uri="{FF2B5EF4-FFF2-40B4-BE49-F238E27FC236}">
                <a16:creationId xmlns:a16="http://schemas.microsoft.com/office/drawing/2014/main" id="{70044D24-86AE-4065-9D45-3969FF0041ED}"/>
              </a:ext>
            </a:extLst>
          </p:cNvPr>
          <p:cNvSpPr>
            <a:spLocks noChangeArrowheads="1"/>
          </p:cNvSpPr>
          <p:nvPr/>
        </p:nvSpPr>
        <p:spPr bwMode="auto">
          <a:xfrm>
            <a:off x="1193671" y="2862312"/>
            <a:ext cx="9777413" cy="278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solidFill>
                  <a:schemeClr val="tx1">
                    <a:lumMod val="75000"/>
                    <a:lumOff val="25000"/>
                  </a:schemeClr>
                </a:solidFill>
                <a:latin typeface="+mj-lt"/>
              </a:rPr>
              <a:t>En el presupuesto de cobranzas se deberá tener en cuenta el crédito concedido a los clientes, considerar que no se cobra todo lo que se factura ya que habrán clientes favorecidos con bonificaciones por pronto pago o con descuentos por cantidad comprada, se debe considerar un porcentaje de clientes incobrables y otros morosos, que generan en algunos casos pérdidas irrecuperables y en otros, planes de pagos mediante retornos por legales (intereses ganados, recupero de gastos financieros, etc.)</a:t>
            </a:r>
          </a:p>
        </p:txBody>
      </p:sp>
      <p:sp>
        <p:nvSpPr>
          <p:cNvPr id="6" name="5 CuadroTexto">
            <a:extLst>
              <a:ext uri="{FF2B5EF4-FFF2-40B4-BE49-F238E27FC236}">
                <a16:creationId xmlns:a16="http://schemas.microsoft.com/office/drawing/2014/main" id="{3806685D-3BFB-49CC-84C8-D70CFDB2F958}"/>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29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3" grpId="0"/>
      <p:bldP spid="3994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a:extLst>
              <a:ext uri="{FF2B5EF4-FFF2-40B4-BE49-F238E27FC236}">
                <a16:creationId xmlns:a16="http://schemas.microsoft.com/office/drawing/2014/main" id="{63364FD3-A326-4242-A5B1-C10401249941}"/>
              </a:ext>
            </a:extLst>
          </p:cNvPr>
          <p:cNvSpPr txBox="1">
            <a:spLocks noChangeArrowheads="1"/>
          </p:cNvSpPr>
          <p:nvPr/>
        </p:nvSpPr>
        <p:spPr bwMode="auto">
          <a:xfrm>
            <a:off x="1285875" y="188913"/>
            <a:ext cx="6769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FINANCIERO</a:t>
            </a:r>
          </a:p>
        </p:txBody>
      </p:sp>
      <p:sp>
        <p:nvSpPr>
          <p:cNvPr id="41989" name="Rectangle 5">
            <a:extLst>
              <a:ext uri="{FF2B5EF4-FFF2-40B4-BE49-F238E27FC236}">
                <a16:creationId xmlns:a16="http://schemas.microsoft.com/office/drawing/2014/main" id="{14AEDDA6-5615-4F73-BE5C-FEAF16B6966B}"/>
              </a:ext>
            </a:extLst>
          </p:cNvPr>
          <p:cNvSpPr>
            <a:spLocks noChangeArrowheads="1"/>
          </p:cNvSpPr>
          <p:nvPr/>
        </p:nvSpPr>
        <p:spPr bwMode="auto">
          <a:xfrm>
            <a:off x="1143001" y="1071563"/>
            <a:ext cx="9777413" cy="235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Para </a:t>
            </a:r>
            <a:r>
              <a:rPr lang="es-ES" altLang="es-AR" sz="2000" b="1" dirty="0">
                <a:latin typeface="+mj-lt"/>
              </a:rPr>
              <a:t>calcular los egresos </a:t>
            </a:r>
            <a:r>
              <a:rPr lang="es-ES" altLang="es-AR" sz="2000" dirty="0">
                <a:latin typeface="+mj-lt"/>
              </a:rPr>
              <a:t>de la caja (Presupuesto de Pagos), la empresa utilizará los </a:t>
            </a:r>
            <a:r>
              <a:rPr lang="es-ES" altLang="es-AR" sz="2000" b="1" dirty="0">
                <a:latin typeface="+mj-lt"/>
              </a:rPr>
              <a:t>Presupuestos de Producción, de Compras y de Gastos Operativos </a:t>
            </a:r>
            <a:r>
              <a:rPr lang="es-ES" altLang="es-AR" sz="2000" dirty="0">
                <a:latin typeface="+mj-lt"/>
              </a:rPr>
              <a:t>por área (administración y comercialización). </a:t>
            </a:r>
          </a:p>
          <a:p>
            <a:pPr algn="just" eaLnBrk="1" hangingPunct="1">
              <a:spcBef>
                <a:spcPct val="20000"/>
              </a:spcBef>
            </a:pPr>
            <a:r>
              <a:rPr lang="es-ES" altLang="es-AR" sz="2000" dirty="0">
                <a:latin typeface="+mj-lt"/>
              </a:rPr>
              <a:t>Además del </a:t>
            </a:r>
            <a:r>
              <a:rPr lang="es-ES" altLang="es-AR" sz="2000" b="1" dirty="0">
                <a:latin typeface="+mj-lt"/>
              </a:rPr>
              <a:t>Presupuesto de Inversiones</a:t>
            </a:r>
            <a:r>
              <a:rPr lang="es-ES" altLang="es-AR" sz="2000" dirty="0">
                <a:latin typeface="+mj-lt"/>
              </a:rPr>
              <a:t>, en todos los casos los valores deberán ajustarse a las modalidades de pago. </a:t>
            </a:r>
          </a:p>
          <a:p>
            <a:pPr algn="just" eaLnBrk="1" hangingPunct="1">
              <a:spcBef>
                <a:spcPct val="20000"/>
              </a:spcBef>
            </a:pPr>
            <a:r>
              <a:rPr lang="es-ES" altLang="es-AR" sz="2000" dirty="0">
                <a:latin typeface="+mj-lt"/>
              </a:rPr>
              <a:t>Con estos presupuestos se determina el nivel de caja previsto. Este nivel de caja debe someterse a frecuentes ajustes debido a:</a:t>
            </a:r>
          </a:p>
        </p:txBody>
      </p:sp>
      <p:sp>
        <p:nvSpPr>
          <p:cNvPr id="41991" name="Rectangle 7">
            <a:extLst>
              <a:ext uri="{FF2B5EF4-FFF2-40B4-BE49-F238E27FC236}">
                <a16:creationId xmlns:a16="http://schemas.microsoft.com/office/drawing/2014/main" id="{70727DC4-D411-4B37-824D-59C4F3CAFEC3}"/>
              </a:ext>
            </a:extLst>
          </p:cNvPr>
          <p:cNvSpPr>
            <a:spLocks noChangeArrowheads="1"/>
          </p:cNvSpPr>
          <p:nvPr/>
        </p:nvSpPr>
        <p:spPr bwMode="auto">
          <a:xfrm>
            <a:off x="2864323" y="3670300"/>
            <a:ext cx="97774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Aumento o disminución de las ventas.</a:t>
            </a:r>
          </a:p>
        </p:txBody>
      </p:sp>
      <p:sp>
        <p:nvSpPr>
          <p:cNvPr id="41992" name="Rectangle 8">
            <a:extLst>
              <a:ext uri="{FF2B5EF4-FFF2-40B4-BE49-F238E27FC236}">
                <a16:creationId xmlns:a16="http://schemas.microsoft.com/office/drawing/2014/main" id="{9910CF85-A0B3-4736-B9D8-87B023F135E8}"/>
              </a:ext>
            </a:extLst>
          </p:cNvPr>
          <p:cNvSpPr>
            <a:spLocks noChangeArrowheads="1"/>
          </p:cNvSpPr>
          <p:nvPr/>
        </p:nvSpPr>
        <p:spPr bwMode="auto">
          <a:xfrm>
            <a:off x="2864323" y="4102100"/>
            <a:ext cx="97774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dirty="0">
                <a:latin typeface="+mj-lt"/>
              </a:rPr>
              <a:t> Dificultades de cobranzas.</a:t>
            </a:r>
          </a:p>
        </p:txBody>
      </p:sp>
      <p:sp>
        <p:nvSpPr>
          <p:cNvPr id="41993" name="Rectangle 9">
            <a:extLst>
              <a:ext uri="{FF2B5EF4-FFF2-40B4-BE49-F238E27FC236}">
                <a16:creationId xmlns:a16="http://schemas.microsoft.com/office/drawing/2014/main" id="{C53C1853-1E4C-416D-B456-81B30C97AF8F}"/>
              </a:ext>
            </a:extLst>
          </p:cNvPr>
          <p:cNvSpPr>
            <a:spLocks noChangeArrowheads="1"/>
          </p:cNvSpPr>
          <p:nvPr/>
        </p:nvSpPr>
        <p:spPr bwMode="auto">
          <a:xfrm>
            <a:off x="2864323" y="4535488"/>
            <a:ext cx="97774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a:latin typeface="+mj-lt"/>
              </a:rPr>
              <a:t> Aumento en los salarios.</a:t>
            </a:r>
          </a:p>
        </p:txBody>
      </p:sp>
      <p:sp>
        <p:nvSpPr>
          <p:cNvPr id="41994" name="Rectangle 10">
            <a:extLst>
              <a:ext uri="{FF2B5EF4-FFF2-40B4-BE49-F238E27FC236}">
                <a16:creationId xmlns:a16="http://schemas.microsoft.com/office/drawing/2014/main" id="{1B150535-6281-4B4D-87A6-85DA7F005F64}"/>
              </a:ext>
            </a:extLst>
          </p:cNvPr>
          <p:cNvSpPr>
            <a:spLocks noChangeArrowheads="1"/>
          </p:cNvSpPr>
          <p:nvPr/>
        </p:nvSpPr>
        <p:spPr bwMode="auto">
          <a:xfrm>
            <a:off x="2864323" y="4967288"/>
            <a:ext cx="97774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ES" altLang="es-AR" sz="2000">
                <a:latin typeface="+mj-lt"/>
              </a:rPr>
              <a:t> Variación en los precios de materias primas.</a:t>
            </a:r>
          </a:p>
        </p:txBody>
      </p:sp>
      <p:sp>
        <p:nvSpPr>
          <p:cNvPr id="8" name="7 CuadroTexto">
            <a:extLst>
              <a:ext uri="{FF2B5EF4-FFF2-40B4-BE49-F238E27FC236}">
                <a16:creationId xmlns:a16="http://schemas.microsoft.com/office/drawing/2014/main" id="{2DB97FDA-19C7-49C5-AED0-520696E6D17E}"/>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30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9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9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9" grpId="0"/>
      <p:bldP spid="41991" grpId="0"/>
      <p:bldP spid="41992" grpId="0"/>
      <p:bldP spid="41993" grpId="0"/>
      <p:bldP spid="4199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 Box 4">
            <a:extLst>
              <a:ext uri="{FF2B5EF4-FFF2-40B4-BE49-F238E27FC236}">
                <a16:creationId xmlns:a16="http://schemas.microsoft.com/office/drawing/2014/main" id="{D2C93EC8-14D2-4F3B-BFFE-8DBBAE2332A7}"/>
              </a:ext>
            </a:extLst>
          </p:cNvPr>
          <p:cNvSpPr txBox="1">
            <a:spLocks noChangeArrowheads="1"/>
          </p:cNvSpPr>
          <p:nvPr/>
        </p:nvSpPr>
        <p:spPr bwMode="auto">
          <a:xfrm>
            <a:off x="1285875" y="188913"/>
            <a:ext cx="6769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FINANCIERO</a:t>
            </a:r>
          </a:p>
        </p:txBody>
      </p:sp>
      <p:grpSp>
        <p:nvGrpSpPr>
          <p:cNvPr id="33795" name="Group 5">
            <a:extLst>
              <a:ext uri="{FF2B5EF4-FFF2-40B4-BE49-F238E27FC236}">
                <a16:creationId xmlns:a16="http://schemas.microsoft.com/office/drawing/2014/main" id="{4558DF9D-3126-4151-9759-09ABA071E2CE}"/>
              </a:ext>
            </a:extLst>
          </p:cNvPr>
          <p:cNvGrpSpPr>
            <a:grpSpLocks noChangeAspect="1"/>
          </p:cNvGrpSpPr>
          <p:nvPr/>
        </p:nvGrpSpPr>
        <p:grpSpPr bwMode="auto">
          <a:xfrm>
            <a:off x="2135188" y="1268414"/>
            <a:ext cx="8064500" cy="4759325"/>
            <a:chOff x="1701" y="517"/>
            <a:chExt cx="8460" cy="5940"/>
          </a:xfrm>
        </p:grpSpPr>
        <p:sp>
          <p:nvSpPr>
            <p:cNvPr id="33797" name="AutoShape 6">
              <a:extLst>
                <a:ext uri="{FF2B5EF4-FFF2-40B4-BE49-F238E27FC236}">
                  <a16:creationId xmlns:a16="http://schemas.microsoft.com/office/drawing/2014/main" id="{0DCB3A5B-1CC9-4D5B-BA06-8512D6C19098}"/>
                </a:ext>
              </a:extLst>
            </p:cNvPr>
            <p:cNvSpPr>
              <a:spLocks noChangeAspect="1" noChangeArrowheads="1"/>
            </p:cNvSpPr>
            <p:nvPr/>
          </p:nvSpPr>
          <p:spPr bwMode="auto">
            <a:xfrm>
              <a:off x="1701" y="517"/>
              <a:ext cx="8460" cy="5940"/>
            </a:xfrm>
            <a:prstGeom prst="rect">
              <a:avLst/>
            </a:prstGeom>
            <a:solidFill>
              <a:srgbClr val="CCFFFF"/>
            </a:solidFill>
            <a:ln w="2540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33798" name="Line 7">
              <a:extLst>
                <a:ext uri="{FF2B5EF4-FFF2-40B4-BE49-F238E27FC236}">
                  <a16:creationId xmlns:a16="http://schemas.microsoft.com/office/drawing/2014/main" id="{C49FB125-F294-427F-8724-81756F86C634}"/>
                </a:ext>
              </a:extLst>
            </p:cNvPr>
            <p:cNvSpPr>
              <a:spLocks noChangeShapeType="1"/>
            </p:cNvSpPr>
            <p:nvPr/>
          </p:nvSpPr>
          <p:spPr bwMode="auto">
            <a:xfrm>
              <a:off x="3321" y="1778"/>
              <a:ext cx="1" cy="4139"/>
            </a:xfrm>
            <a:prstGeom prst="line">
              <a:avLst/>
            </a:prstGeom>
            <a:noFill/>
            <a:ln w="25400">
              <a:solidFill>
                <a:srgbClr val="0000FF"/>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799" name="Line 8">
              <a:extLst>
                <a:ext uri="{FF2B5EF4-FFF2-40B4-BE49-F238E27FC236}">
                  <a16:creationId xmlns:a16="http://schemas.microsoft.com/office/drawing/2014/main" id="{EC2F64D9-43F0-4543-B177-D6232E77A93E}"/>
                </a:ext>
              </a:extLst>
            </p:cNvPr>
            <p:cNvSpPr>
              <a:spLocks noChangeShapeType="1"/>
            </p:cNvSpPr>
            <p:nvPr/>
          </p:nvSpPr>
          <p:spPr bwMode="auto">
            <a:xfrm>
              <a:off x="3321" y="5017"/>
              <a:ext cx="5220" cy="1"/>
            </a:xfrm>
            <a:prstGeom prst="line">
              <a:avLst/>
            </a:prstGeom>
            <a:noFill/>
            <a:ln w="25400">
              <a:solidFill>
                <a:srgbClr val="0000FF"/>
              </a:solidFill>
              <a:round/>
              <a:headE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0" name="Line 9">
              <a:extLst>
                <a:ext uri="{FF2B5EF4-FFF2-40B4-BE49-F238E27FC236}">
                  <a16:creationId xmlns:a16="http://schemas.microsoft.com/office/drawing/2014/main" id="{9B3FB1D1-49CA-4F83-9C4D-950EE39907E4}"/>
                </a:ext>
              </a:extLst>
            </p:cNvPr>
            <p:cNvSpPr>
              <a:spLocks noChangeShapeType="1"/>
            </p:cNvSpPr>
            <p:nvPr/>
          </p:nvSpPr>
          <p:spPr bwMode="auto">
            <a:xfrm flipV="1">
              <a:off x="3321" y="3037"/>
              <a:ext cx="4860" cy="1"/>
            </a:xfrm>
            <a:prstGeom prst="line">
              <a:avLst/>
            </a:prstGeom>
            <a:noFill/>
            <a:ln w="25400">
              <a:solidFill>
                <a:srgbClr val="99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1" name="Line 10">
              <a:extLst>
                <a:ext uri="{FF2B5EF4-FFF2-40B4-BE49-F238E27FC236}">
                  <a16:creationId xmlns:a16="http://schemas.microsoft.com/office/drawing/2014/main" id="{98991CD1-69CC-4400-89EA-25C4649C697A}"/>
                </a:ext>
              </a:extLst>
            </p:cNvPr>
            <p:cNvSpPr>
              <a:spLocks noChangeShapeType="1"/>
            </p:cNvSpPr>
            <p:nvPr/>
          </p:nvSpPr>
          <p:spPr bwMode="auto">
            <a:xfrm>
              <a:off x="3321" y="4477"/>
              <a:ext cx="4860" cy="1"/>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2" name="Line 11">
              <a:extLst>
                <a:ext uri="{FF2B5EF4-FFF2-40B4-BE49-F238E27FC236}">
                  <a16:creationId xmlns:a16="http://schemas.microsoft.com/office/drawing/2014/main" id="{99F508EC-C4F6-4092-BA52-465166533A3F}"/>
                </a:ext>
              </a:extLst>
            </p:cNvPr>
            <p:cNvSpPr>
              <a:spLocks noChangeShapeType="1"/>
            </p:cNvSpPr>
            <p:nvPr/>
          </p:nvSpPr>
          <p:spPr bwMode="auto">
            <a:xfrm>
              <a:off x="3861" y="2497"/>
              <a:ext cx="1" cy="252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3" name="Line 12">
              <a:extLst>
                <a:ext uri="{FF2B5EF4-FFF2-40B4-BE49-F238E27FC236}">
                  <a16:creationId xmlns:a16="http://schemas.microsoft.com/office/drawing/2014/main" id="{8D7A31B9-C558-4F42-8191-0EF0D0587A94}"/>
                </a:ext>
              </a:extLst>
            </p:cNvPr>
            <p:cNvSpPr>
              <a:spLocks noChangeShapeType="1"/>
            </p:cNvSpPr>
            <p:nvPr/>
          </p:nvSpPr>
          <p:spPr bwMode="auto">
            <a:xfrm>
              <a:off x="4220" y="2857"/>
              <a:ext cx="1" cy="216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4" name="Line 13">
              <a:extLst>
                <a:ext uri="{FF2B5EF4-FFF2-40B4-BE49-F238E27FC236}">
                  <a16:creationId xmlns:a16="http://schemas.microsoft.com/office/drawing/2014/main" id="{6DFE3EA8-6B7C-4945-A10D-0DE3850CDF4F}"/>
                </a:ext>
              </a:extLst>
            </p:cNvPr>
            <p:cNvSpPr>
              <a:spLocks noChangeShapeType="1"/>
            </p:cNvSpPr>
            <p:nvPr/>
          </p:nvSpPr>
          <p:spPr bwMode="auto">
            <a:xfrm>
              <a:off x="4580" y="3404"/>
              <a:ext cx="1" cy="161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5" name="Line 14">
              <a:extLst>
                <a:ext uri="{FF2B5EF4-FFF2-40B4-BE49-F238E27FC236}">
                  <a16:creationId xmlns:a16="http://schemas.microsoft.com/office/drawing/2014/main" id="{2405EC60-E632-41F8-90CF-48CED187936E}"/>
                </a:ext>
              </a:extLst>
            </p:cNvPr>
            <p:cNvSpPr>
              <a:spLocks noChangeShapeType="1"/>
            </p:cNvSpPr>
            <p:nvPr/>
          </p:nvSpPr>
          <p:spPr bwMode="auto">
            <a:xfrm>
              <a:off x="4940" y="4477"/>
              <a:ext cx="1" cy="54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6" name="Line 15">
              <a:extLst>
                <a:ext uri="{FF2B5EF4-FFF2-40B4-BE49-F238E27FC236}">
                  <a16:creationId xmlns:a16="http://schemas.microsoft.com/office/drawing/2014/main" id="{9A58B462-CBDE-477E-9B3E-56BAE0F9B172}"/>
                </a:ext>
              </a:extLst>
            </p:cNvPr>
            <p:cNvSpPr>
              <a:spLocks noChangeShapeType="1"/>
            </p:cNvSpPr>
            <p:nvPr/>
          </p:nvSpPr>
          <p:spPr bwMode="auto">
            <a:xfrm flipH="1">
              <a:off x="5659" y="5017"/>
              <a:ext cx="1" cy="211"/>
            </a:xfrm>
            <a:prstGeom prst="line">
              <a:avLst/>
            </a:prstGeom>
            <a:noFill/>
            <a:ln w="444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7" name="Line 16">
              <a:extLst>
                <a:ext uri="{FF2B5EF4-FFF2-40B4-BE49-F238E27FC236}">
                  <a16:creationId xmlns:a16="http://schemas.microsoft.com/office/drawing/2014/main" id="{094B06B4-53C4-4F11-BF8D-CD780192B114}"/>
                </a:ext>
              </a:extLst>
            </p:cNvPr>
            <p:cNvSpPr>
              <a:spLocks noChangeShapeType="1"/>
            </p:cNvSpPr>
            <p:nvPr/>
          </p:nvSpPr>
          <p:spPr bwMode="auto">
            <a:xfrm flipH="1">
              <a:off x="6019" y="5017"/>
              <a:ext cx="1" cy="191"/>
            </a:xfrm>
            <a:prstGeom prst="line">
              <a:avLst/>
            </a:prstGeom>
            <a:noFill/>
            <a:ln w="412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8" name="Line 17">
              <a:extLst>
                <a:ext uri="{FF2B5EF4-FFF2-40B4-BE49-F238E27FC236}">
                  <a16:creationId xmlns:a16="http://schemas.microsoft.com/office/drawing/2014/main" id="{5D77E33D-7970-468D-8CF3-B57B02396F73}"/>
                </a:ext>
              </a:extLst>
            </p:cNvPr>
            <p:cNvSpPr>
              <a:spLocks noChangeShapeType="1"/>
            </p:cNvSpPr>
            <p:nvPr/>
          </p:nvSpPr>
          <p:spPr bwMode="auto">
            <a:xfrm flipH="1">
              <a:off x="6380" y="5017"/>
              <a:ext cx="5" cy="180"/>
            </a:xfrm>
            <a:prstGeom prst="line">
              <a:avLst/>
            </a:prstGeom>
            <a:noFill/>
            <a:ln w="412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09" name="Line 18">
              <a:extLst>
                <a:ext uri="{FF2B5EF4-FFF2-40B4-BE49-F238E27FC236}">
                  <a16:creationId xmlns:a16="http://schemas.microsoft.com/office/drawing/2014/main" id="{81BFB68F-BB0F-4CD8-A319-0D55D1309014}"/>
                </a:ext>
              </a:extLst>
            </p:cNvPr>
            <p:cNvSpPr>
              <a:spLocks noChangeShapeType="1"/>
            </p:cNvSpPr>
            <p:nvPr/>
          </p:nvSpPr>
          <p:spPr bwMode="auto">
            <a:xfrm>
              <a:off x="6741" y="4477"/>
              <a:ext cx="1" cy="54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10" name="Line 19">
              <a:extLst>
                <a:ext uri="{FF2B5EF4-FFF2-40B4-BE49-F238E27FC236}">
                  <a16:creationId xmlns:a16="http://schemas.microsoft.com/office/drawing/2014/main" id="{C27DE00E-3745-4131-9B1C-AD14113F3E6F}"/>
                </a:ext>
              </a:extLst>
            </p:cNvPr>
            <p:cNvSpPr>
              <a:spLocks noChangeShapeType="1"/>
            </p:cNvSpPr>
            <p:nvPr/>
          </p:nvSpPr>
          <p:spPr bwMode="auto">
            <a:xfrm>
              <a:off x="7095" y="3870"/>
              <a:ext cx="7" cy="114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11" name="Line 20">
              <a:extLst>
                <a:ext uri="{FF2B5EF4-FFF2-40B4-BE49-F238E27FC236}">
                  <a16:creationId xmlns:a16="http://schemas.microsoft.com/office/drawing/2014/main" id="{691A964A-F536-4598-B95D-3320A8D9E800}"/>
                </a:ext>
              </a:extLst>
            </p:cNvPr>
            <p:cNvSpPr>
              <a:spLocks noChangeShapeType="1"/>
            </p:cNvSpPr>
            <p:nvPr/>
          </p:nvSpPr>
          <p:spPr bwMode="auto">
            <a:xfrm flipH="1">
              <a:off x="7462" y="2808"/>
              <a:ext cx="7" cy="2209"/>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12" name="Line 21">
              <a:extLst>
                <a:ext uri="{FF2B5EF4-FFF2-40B4-BE49-F238E27FC236}">
                  <a16:creationId xmlns:a16="http://schemas.microsoft.com/office/drawing/2014/main" id="{17D3D22A-B6D3-42E7-BB55-C7730B5F9B0E}"/>
                </a:ext>
              </a:extLst>
            </p:cNvPr>
            <p:cNvSpPr>
              <a:spLocks noChangeShapeType="1"/>
            </p:cNvSpPr>
            <p:nvPr/>
          </p:nvSpPr>
          <p:spPr bwMode="auto">
            <a:xfrm flipH="1">
              <a:off x="7821" y="2156"/>
              <a:ext cx="1" cy="286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13" name="Text Box 22">
              <a:extLst>
                <a:ext uri="{FF2B5EF4-FFF2-40B4-BE49-F238E27FC236}">
                  <a16:creationId xmlns:a16="http://schemas.microsoft.com/office/drawing/2014/main" id="{481A4CB8-AAD6-4B92-886D-711BE8169866}"/>
                </a:ext>
              </a:extLst>
            </p:cNvPr>
            <p:cNvSpPr txBox="1">
              <a:spLocks noChangeArrowheads="1"/>
            </p:cNvSpPr>
            <p:nvPr/>
          </p:nvSpPr>
          <p:spPr bwMode="auto">
            <a:xfrm>
              <a:off x="3501" y="5377"/>
              <a:ext cx="4681"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500">
                  <a:latin typeface="Times New Roman" panose="02020603050405020304" pitchFamily="18" charset="0"/>
                </a:rPr>
                <a:t>  </a:t>
              </a:r>
              <a:r>
                <a:rPr lang="es-ES_tradnl" altLang="es-AR" sz="1500" b="1">
                  <a:latin typeface="Times New Roman" panose="02020603050405020304" pitchFamily="18" charset="0"/>
                </a:rPr>
                <a:t>E    F     M    A   M     J      J     A    S     O     N    D</a:t>
              </a:r>
              <a:endParaRPr lang="es-ES" altLang="es-AR" sz="1500"/>
            </a:p>
          </p:txBody>
        </p:sp>
        <p:sp>
          <p:nvSpPr>
            <p:cNvPr id="33814" name="Freeform 23">
              <a:extLst>
                <a:ext uri="{FF2B5EF4-FFF2-40B4-BE49-F238E27FC236}">
                  <a16:creationId xmlns:a16="http://schemas.microsoft.com/office/drawing/2014/main" id="{6FEC47B0-9DF1-43C2-8CBF-F2894797FFCD}"/>
                </a:ext>
              </a:extLst>
            </p:cNvPr>
            <p:cNvSpPr>
              <a:spLocks/>
            </p:cNvSpPr>
            <p:nvPr/>
          </p:nvSpPr>
          <p:spPr bwMode="auto">
            <a:xfrm>
              <a:off x="3862" y="2176"/>
              <a:ext cx="3953" cy="3053"/>
            </a:xfrm>
            <a:custGeom>
              <a:avLst/>
              <a:gdLst>
                <a:gd name="T0" fmla="*/ 0 w 3945"/>
                <a:gd name="T1" fmla="*/ 330 h 3053"/>
                <a:gd name="T2" fmla="*/ 180 w 3945"/>
                <a:gd name="T3" fmla="*/ 480 h 3053"/>
                <a:gd name="T4" fmla="*/ 255 w 3945"/>
                <a:gd name="T5" fmla="*/ 570 h 3053"/>
                <a:gd name="T6" fmla="*/ 390 w 3945"/>
                <a:gd name="T7" fmla="*/ 765 h 3053"/>
                <a:gd name="T8" fmla="*/ 480 w 3945"/>
                <a:gd name="T9" fmla="*/ 945 h 3053"/>
                <a:gd name="T10" fmla="*/ 540 w 3945"/>
                <a:gd name="T11" fmla="*/ 1020 h 3053"/>
                <a:gd name="T12" fmla="*/ 660 w 3945"/>
                <a:gd name="T13" fmla="*/ 1155 h 3053"/>
                <a:gd name="T14" fmla="*/ 780 w 3945"/>
                <a:gd name="T15" fmla="*/ 1335 h 3053"/>
                <a:gd name="T16" fmla="*/ 810 w 3945"/>
                <a:gd name="T17" fmla="*/ 1425 h 3053"/>
                <a:gd name="T18" fmla="*/ 825 w 3945"/>
                <a:gd name="T19" fmla="*/ 1470 h 3053"/>
                <a:gd name="T20" fmla="*/ 900 w 3945"/>
                <a:gd name="T21" fmla="*/ 1680 h 3053"/>
                <a:gd name="T22" fmla="*/ 915 w 3945"/>
                <a:gd name="T23" fmla="*/ 1830 h 3053"/>
                <a:gd name="T24" fmla="*/ 945 w 3945"/>
                <a:gd name="T25" fmla="*/ 1920 h 3053"/>
                <a:gd name="T26" fmla="*/ 960 w 3945"/>
                <a:gd name="T27" fmla="*/ 1965 h 3053"/>
                <a:gd name="T28" fmla="*/ 975 w 3945"/>
                <a:gd name="T29" fmla="*/ 2070 h 3053"/>
                <a:gd name="T30" fmla="*/ 1005 w 3945"/>
                <a:gd name="T31" fmla="*/ 2115 h 3053"/>
                <a:gd name="T32" fmla="*/ 1050 w 3945"/>
                <a:gd name="T33" fmla="*/ 2295 h 3053"/>
                <a:gd name="T34" fmla="*/ 1080 w 3945"/>
                <a:gd name="T35" fmla="*/ 2415 h 3053"/>
                <a:gd name="T36" fmla="*/ 1140 w 3945"/>
                <a:gd name="T37" fmla="*/ 2490 h 3053"/>
                <a:gd name="T38" fmla="*/ 1260 w 3945"/>
                <a:gd name="T39" fmla="*/ 2685 h 3053"/>
                <a:gd name="T40" fmla="*/ 1350 w 3945"/>
                <a:gd name="T41" fmla="*/ 2775 h 3053"/>
                <a:gd name="T42" fmla="*/ 1395 w 3945"/>
                <a:gd name="T43" fmla="*/ 2820 h 3053"/>
                <a:gd name="T44" fmla="*/ 1545 w 3945"/>
                <a:gd name="T45" fmla="*/ 2970 h 3053"/>
                <a:gd name="T46" fmla="*/ 1590 w 3945"/>
                <a:gd name="T47" fmla="*/ 2985 h 3053"/>
                <a:gd name="T48" fmla="*/ 1680 w 3945"/>
                <a:gd name="T49" fmla="*/ 3045 h 3053"/>
                <a:gd name="T50" fmla="*/ 2415 w 3945"/>
                <a:gd name="T51" fmla="*/ 3030 h 3053"/>
                <a:gd name="T52" fmla="*/ 2445 w 3945"/>
                <a:gd name="T53" fmla="*/ 3030 h 3053"/>
                <a:gd name="T54" fmla="*/ 2535 w 3945"/>
                <a:gd name="T55" fmla="*/ 3000 h 3053"/>
                <a:gd name="T56" fmla="*/ 2580 w 3945"/>
                <a:gd name="T57" fmla="*/ 2880 h 3053"/>
                <a:gd name="T58" fmla="*/ 2625 w 3945"/>
                <a:gd name="T59" fmla="*/ 2850 h 3053"/>
                <a:gd name="T60" fmla="*/ 2700 w 3945"/>
                <a:gd name="T61" fmla="*/ 2715 h 3053"/>
                <a:gd name="T62" fmla="*/ 2790 w 3945"/>
                <a:gd name="T63" fmla="*/ 2535 h 3053"/>
                <a:gd name="T64" fmla="*/ 2850 w 3945"/>
                <a:gd name="T65" fmla="*/ 2355 h 3053"/>
                <a:gd name="T66" fmla="*/ 2895 w 3945"/>
                <a:gd name="T67" fmla="*/ 2310 h 3053"/>
                <a:gd name="T68" fmla="*/ 2955 w 3945"/>
                <a:gd name="T69" fmla="*/ 2220 h 3053"/>
                <a:gd name="T70" fmla="*/ 2985 w 3945"/>
                <a:gd name="T71" fmla="*/ 2130 h 3053"/>
                <a:gd name="T72" fmla="*/ 3075 w 3945"/>
                <a:gd name="T73" fmla="*/ 1950 h 3053"/>
                <a:gd name="T74" fmla="*/ 3165 w 3945"/>
                <a:gd name="T75" fmla="*/ 1770 h 3053"/>
                <a:gd name="T76" fmla="*/ 3240 w 3945"/>
                <a:gd name="T77" fmla="*/ 1680 h 3053"/>
                <a:gd name="T78" fmla="*/ 3255 w 3945"/>
                <a:gd name="T79" fmla="*/ 1635 h 3053"/>
                <a:gd name="T80" fmla="*/ 3315 w 3945"/>
                <a:gd name="T81" fmla="*/ 1545 h 3053"/>
                <a:gd name="T82" fmla="*/ 3330 w 3945"/>
                <a:gd name="T83" fmla="*/ 1440 h 3053"/>
                <a:gd name="T84" fmla="*/ 3360 w 3945"/>
                <a:gd name="T85" fmla="*/ 1410 h 3053"/>
                <a:gd name="T86" fmla="*/ 3390 w 3945"/>
                <a:gd name="T87" fmla="*/ 1215 h 3053"/>
                <a:gd name="T88" fmla="*/ 3390 w 3945"/>
                <a:gd name="T89" fmla="*/ 1320 h 3053"/>
                <a:gd name="T90" fmla="*/ 3405 w 3945"/>
                <a:gd name="T91" fmla="*/ 1110 h 3053"/>
                <a:gd name="T92" fmla="*/ 3435 w 3945"/>
                <a:gd name="T93" fmla="*/ 1065 h 3053"/>
                <a:gd name="T94" fmla="*/ 3555 w 3945"/>
                <a:gd name="T95" fmla="*/ 705 h 3053"/>
                <a:gd name="T96" fmla="*/ 3585 w 3945"/>
                <a:gd name="T97" fmla="*/ 630 h 3053"/>
                <a:gd name="T98" fmla="*/ 3630 w 3945"/>
                <a:gd name="T99" fmla="*/ 585 h 3053"/>
                <a:gd name="T100" fmla="*/ 3660 w 3945"/>
                <a:gd name="T101" fmla="*/ 510 h 3053"/>
                <a:gd name="T102" fmla="*/ 3720 w 3945"/>
                <a:gd name="T103" fmla="*/ 330 h 3053"/>
                <a:gd name="T104" fmla="*/ 3840 w 3945"/>
                <a:gd name="T105" fmla="*/ 105 h 3053"/>
                <a:gd name="T106" fmla="*/ 3855 w 3945"/>
                <a:gd name="T107" fmla="*/ 60 h 3053"/>
                <a:gd name="T108" fmla="*/ 3945 w 3945"/>
                <a:gd name="T109" fmla="*/ 0 h 30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945" h="3053">
                  <a:moveTo>
                    <a:pt x="0" y="330"/>
                  </a:moveTo>
                  <a:cubicBezTo>
                    <a:pt x="132" y="339"/>
                    <a:pt x="76" y="411"/>
                    <a:pt x="180" y="480"/>
                  </a:cubicBezTo>
                  <a:cubicBezTo>
                    <a:pt x="190" y="510"/>
                    <a:pt x="250" y="539"/>
                    <a:pt x="255" y="570"/>
                  </a:cubicBezTo>
                  <a:cubicBezTo>
                    <a:pt x="330" y="660"/>
                    <a:pt x="356" y="697"/>
                    <a:pt x="390" y="765"/>
                  </a:cubicBezTo>
                  <a:cubicBezTo>
                    <a:pt x="525" y="930"/>
                    <a:pt x="403" y="713"/>
                    <a:pt x="480" y="945"/>
                  </a:cubicBezTo>
                  <a:cubicBezTo>
                    <a:pt x="492" y="982"/>
                    <a:pt x="510" y="1050"/>
                    <a:pt x="540" y="1020"/>
                  </a:cubicBezTo>
                  <a:cubicBezTo>
                    <a:pt x="578" y="1105"/>
                    <a:pt x="592" y="1087"/>
                    <a:pt x="660" y="1155"/>
                  </a:cubicBezTo>
                  <a:cubicBezTo>
                    <a:pt x="682" y="1220"/>
                    <a:pt x="741" y="1276"/>
                    <a:pt x="780" y="1335"/>
                  </a:cubicBezTo>
                  <a:cubicBezTo>
                    <a:pt x="798" y="1361"/>
                    <a:pt x="800" y="1395"/>
                    <a:pt x="810" y="1425"/>
                  </a:cubicBezTo>
                  <a:cubicBezTo>
                    <a:pt x="815" y="1440"/>
                    <a:pt x="825" y="1470"/>
                    <a:pt x="825" y="1470"/>
                  </a:cubicBezTo>
                  <a:cubicBezTo>
                    <a:pt x="839" y="1578"/>
                    <a:pt x="829" y="1609"/>
                    <a:pt x="900" y="1680"/>
                  </a:cubicBezTo>
                  <a:cubicBezTo>
                    <a:pt x="905" y="1730"/>
                    <a:pt x="906" y="1781"/>
                    <a:pt x="915" y="1830"/>
                  </a:cubicBezTo>
                  <a:cubicBezTo>
                    <a:pt x="921" y="1861"/>
                    <a:pt x="935" y="1890"/>
                    <a:pt x="945" y="1920"/>
                  </a:cubicBezTo>
                  <a:cubicBezTo>
                    <a:pt x="950" y="1935"/>
                    <a:pt x="960" y="1965"/>
                    <a:pt x="960" y="1965"/>
                  </a:cubicBezTo>
                  <a:cubicBezTo>
                    <a:pt x="965" y="2000"/>
                    <a:pt x="965" y="2036"/>
                    <a:pt x="975" y="2070"/>
                  </a:cubicBezTo>
                  <a:cubicBezTo>
                    <a:pt x="980" y="2087"/>
                    <a:pt x="997" y="2099"/>
                    <a:pt x="1005" y="2115"/>
                  </a:cubicBezTo>
                  <a:cubicBezTo>
                    <a:pt x="1035" y="2175"/>
                    <a:pt x="1012" y="2238"/>
                    <a:pt x="1050" y="2295"/>
                  </a:cubicBezTo>
                  <a:cubicBezTo>
                    <a:pt x="1055" y="2345"/>
                    <a:pt x="1069" y="2366"/>
                    <a:pt x="1080" y="2415"/>
                  </a:cubicBezTo>
                  <a:cubicBezTo>
                    <a:pt x="1084" y="2433"/>
                    <a:pt x="1132" y="2474"/>
                    <a:pt x="1140" y="2490"/>
                  </a:cubicBezTo>
                  <a:cubicBezTo>
                    <a:pt x="1172" y="2554"/>
                    <a:pt x="1208" y="2633"/>
                    <a:pt x="1260" y="2685"/>
                  </a:cubicBezTo>
                  <a:cubicBezTo>
                    <a:pt x="1290" y="2715"/>
                    <a:pt x="1320" y="2745"/>
                    <a:pt x="1350" y="2775"/>
                  </a:cubicBezTo>
                  <a:cubicBezTo>
                    <a:pt x="1365" y="2790"/>
                    <a:pt x="1395" y="2820"/>
                    <a:pt x="1395" y="2820"/>
                  </a:cubicBezTo>
                  <a:cubicBezTo>
                    <a:pt x="1422" y="2900"/>
                    <a:pt x="1474" y="2923"/>
                    <a:pt x="1545" y="2970"/>
                  </a:cubicBezTo>
                  <a:cubicBezTo>
                    <a:pt x="1558" y="2979"/>
                    <a:pt x="1576" y="2977"/>
                    <a:pt x="1590" y="2985"/>
                  </a:cubicBezTo>
                  <a:cubicBezTo>
                    <a:pt x="1622" y="3003"/>
                    <a:pt x="1680" y="3045"/>
                    <a:pt x="1680" y="3045"/>
                  </a:cubicBezTo>
                  <a:cubicBezTo>
                    <a:pt x="1925" y="3040"/>
                    <a:pt x="2171" y="3053"/>
                    <a:pt x="2415" y="3030"/>
                  </a:cubicBezTo>
                  <a:cubicBezTo>
                    <a:pt x="2440" y="3028"/>
                    <a:pt x="2427" y="3048"/>
                    <a:pt x="2445" y="3030"/>
                  </a:cubicBezTo>
                  <a:cubicBezTo>
                    <a:pt x="2474" y="3001"/>
                    <a:pt x="2498" y="3012"/>
                    <a:pt x="2535" y="3000"/>
                  </a:cubicBezTo>
                  <a:cubicBezTo>
                    <a:pt x="2545" y="2985"/>
                    <a:pt x="2610" y="2865"/>
                    <a:pt x="2580" y="2880"/>
                  </a:cubicBezTo>
                  <a:cubicBezTo>
                    <a:pt x="2593" y="2867"/>
                    <a:pt x="2613" y="2864"/>
                    <a:pt x="2625" y="2850"/>
                  </a:cubicBezTo>
                  <a:cubicBezTo>
                    <a:pt x="2681" y="2787"/>
                    <a:pt x="2679" y="2777"/>
                    <a:pt x="2700" y="2715"/>
                  </a:cubicBezTo>
                  <a:cubicBezTo>
                    <a:pt x="2714" y="2616"/>
                    <a:pt x="2745" y="2610"/>
                    <a:pt x="2790" y="2535"/>
                  </a:cubicBezTo>
                  <a:cubicBezTo>
                    <a:pt x="2811" y="2473"/>
                    <a:pt x="2807" y="2406"/>
                    <a:pt x="2850" y="2355"/>
                  </a:cubicBezTo>
                  <a:cubicBezTo>
                    <a:pt x="2864" y="2339"/>
                    <a:pt x="2882" y="2327"/>
                    <a:pt x="2895" y="2310"/>
                  </a:cubicBezTo>
                  <a:cubicBezTo>
                    <a:pt x="2917" y="2282"/>
                    <a:pt x="2944" y="2254"/>
                    <a:pt x="2955" y="2220"/>
                  </a:cubicBezTo>
                  <a:cubicBezTo>
                    <a:pt x="2965" y="2190"/>
                    <a:pt x="2985" y="2130"/>
                    <a:pt x="2985" y="2130"/>
                  </a:cubicBezTo>
                  <a:cubicBezTo>
                    <a:pt x="2999" y="2030"/>
                    <a:pt x="2995" y="2003"/>
                    <a:pt x="3075" y="1950"/>
                  </a:cubicBezTo>
                  <a:cubicBezTo>
                    <a:pt x="3091" y="1903"/>
                    <a:pt x="3134" y="1808"/>
                    <a:pt x="3165" y="1770"/>
                  </a:cubicBezTo>
                  <a:cubicBezTo>
                    <a:pt x="3206" y="1720"/>
                    <a:pt x="3212" y="1736"/>
                    <a:pt x="3240" y="1680"/>
                  </a:cubicBezTo>
                  <a:cubicBezTo>
                    <a:pt x="3247" y="1666"/>
                    <a:pt x="3247" y="1649"/>
                    <a:pt x="3255" y="1635"/>
                  </a:cubicBezTo>
                  <a:cubicBezTo>
                    <a:pt x="3273" y="1603"/>
                    <a:pt x="3304" y="1579"/>
                    <a:pt x="3315" y="1545"/>
                  </a:cubicBezTo>
                  <a:cubicBezTo>
                    <a:pt x="3325" y="1515"/>
                    <a:pt x="3320" y="1470"/>
                    <a:pt x="3330" y="1440"/>
                  </a:cubicBezTo>
                  <a:cubicBezTo>
                    <a:pt x="3335" y="1425"/>
                    <a:pt x="3355" y="1425"/>
                    <a:pt x="3360" y="1410"/>
                  </a:cubicBezTo>
                  <a:cubicBezTo>
                    <a:pt x="3365" y="1395"/>
                    <a:pt x="3385" y="1230"/>
                    <a:pt x="3390" y="1215"/>
                  </a:cubicBezTo>
                  <a:cubicBezTo>
                    <a:pt x="3395" y="1200"/>
                    <a:pt x="3390" y="1320"/>
                    <a:pt x="3390" y="1320"/>
                  </a:cubicBezTo>
                  <a:cubicBezTo>
                    <a:pt x="3395" y="1265"/>
                    <a:pt x="3395" y="1164"/>
                    <a:pt x="3405" y="1110"/>
                  </a:cubicBezTo>
                  <a:cubicBezTo>
                    <a:pt x="3410" y="1079"/>
                    <a:pt x="3435" y="1065"/>
                    <a:pt x="3435" y="1065"/>
                  </a:cubicBezTo>
                  <a:cubicBezTo>
                    <a:pt x="3443" y="960"/>
                    <a:pt x="3522" y="814"/>
                    <a:pt x="3555" y="705"/>
                  </a:cubicBezTo>
                  <a:cubicBezTo>
                    <a:pt x="3560" y="688"/>
                    <a:pt x="3570" y="640"/>
                    <a:pt x="3585" y="630"/>
                  </a:cubicBezTo>
                  <a:cubicBezTo>
                    <a:pt x="3690" y="570"/>
                    <a:pt x="3574" y="616"/>
                    <a:pt x="3630" y="585"/>
                  </a:cubicBezTo>
                  <a:cubicBezTo>
                    <a:pt x="3630" y="495"/>
                    <a:pt x="3660" y="510"/>
                    <a:pt x="3660" y="510"/>
                  </a:cubicBezTo>
                  <a:cubicBezTo>
                    <a:pt x="3676" y="461"/>
                    <a:pt x="3704" y="379"/>
                    <a:pt x="3720" y="330"/>
                  </a:cubicBezTo>
                  <a:cubicBezTo>
                    <a:pt x="3795" y="195"/>
                    <a:pt x="3795" y="180"/>
                    <a:pt x="3840" y="105"/>
                  </a:cubicBezTo>
                  <a:cubicBezTo>
                    <a:pt x="3885" y="75"/>
                    <a:pt x="3844" y="71"/>
                    <a:pt x="3855" y="60"/>
                  </a:cubicBezTo>
                  <a:cubicBezTo>
                    <a:pt x="3880" y="35"/>
                    <a:pt x="3945" y="0"/>
                    <a:pt x="3945" y="0"/>
                  </a:cubicBezTo>
                </a:path>
              </a:pathLst>
            </a:custGeom>
            <a:noFill/>
            <a:ln w="25400"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15" name="Text Box 24">
              <a:extLst>
                <a:ext uri="{FF2B5EF4-FFF2-40B4-BE49-F238E27FC236}">
                  <a16:creationId xmlns:a16="http://schemas.microsoft.com/office/drawing/2014/main" id="{D651981E-030D-47DF-A2ED-A74123232CBA}"/>
                </a:ext>
              </a:extLst>
            </p:cNvPr>
            <p:cNvSpPr txBox="1">
              <a:spLocks noChangeArrowheads="1"/>
            </p:cNvSpPr>
            <p:nvPr/>
          </p:nvSpPr>
          <p:spPr bwMode="auto">
            <a:xfrm>
              <a:off x="2070" y="1440"/>
              <a:ext cx="180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600" b="1" dirty="0">
                  <a:latin typeface="Times New Roman" panose="02020603050405020304" pitchFamily="18" charset="0"/>
                </a:rPr>
                <a:t>Nivel de caja</a:t>
              </a:r>
              <a:endParaRPr lang="es-ES" altLang="es-AR" sz="1600" dirty="0"/>
            </a:p>
          </p:txBody>
        </p:sp>
        <p:sp>
          <p:nvSpPr>
            <p:cNvPr id="33816" name="Text Box 25">
              <a:extLst>
                <a:ext uri="{FF2B5EF4-FFF2-40B4-BE49-F238E27FC236}">
                  <a16:creationId xmlns:a16="http://schemas.microsoft.com/office/drawing/2014/main" id="{871BAB68-4FE8-4E5B-9DE7-801135D5BE4F}"/>
                </a:ext>
              </a:extLst>
            </p:cNvPr>
            <p:cNvSpPr txBox="1">
              <a:spLocks noChangeArrowheads="1"/>
            </p:cNvSpPr>
            <p:nvPr/>
          </p:nvSpPr>
          <p:spPr bwMode="auto">
            <a:xfrm>
              <a:off x="2241" y="2857"/>
              <a:ext cx="126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b="1">
                  <a:latin typeface="Times New Roman" panose="02020603050405020304" pitchFamily="18" charset="0"/>
                </a:rPr>
                <a:t>Máximo</a:t>
              </a:r>
              <a:endParaRPr lang="es-ES" altLang="es-AR"/>
            </a:p>
          </p:txBody>
        </p:sp>
        <p:sp>
          <p:nvSpPr>
            <p:cNvPr id="33817" name="Text Box 26">
              <a:extLst>
                <a:ext uri="{FF2B5EF4-FFF2-40B4-BE49-F238E27FC236}">
                  <a16:creationId xmlns:a16="http://schemas.microsoft.com/office/drawing/2014/main" id="{3F58555D-9490-4D22-97CD-1B53460A5EE1}"/>
                </a:ext>
              </a:extLst>
            </p:cNvPr>
            <p:cNvSpPr txBox="1">
              <a:spLocks noChangeArrowheads="1"/>
            </p:cNvSpPr>
            <p:nvPr/>
          </p:nvSpPr>
          <p:spPr bwMode="auto">
            <a:xfrm>
              <a:off x="2241" y="4297"/>
              <a:ext cx="126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b="1">
                  <a:latin typeface="Times New Roman" panose="02020603050405020304" pitchFamily="18" charset="0"/>
                </a:rPr>
                <a:t>Mínimo</a:t>
              </a:r>
              <a:endParaRPr lang="es-ES" altLang="es-AR"/>
            </a:p>
          </p:txBody>
        </p:sp>
        <p:sp>
          <p:nvSpPr>
            <p:cNvPr id="33818" name="Text Box 27">
              <a:extLst>
                <a:ext uri="{FF2B5EF4-FFF2-40B4-BE49-F238E27FC236}">
                  <a16:creationId xmlns:a16="http://schemas.microsoft.com/office/drawing/2014/main" id="{32C39F68-7A16-4B61-AA2B-E953B4D0073B}"/>
                </a:ext>
              </a:extLst>
            </p:cNvPr>
            <p:cNvSpPr txBox="1">
              <a:spLocks noChangeArrowheads="1"/>
            </p:cNvSpPr>
            <p:nvPr/>
          </p:nvSpPr>
          <p:spPr bwMode="auto">
            <a:xfrm>
              <a:off x="2961" y="4837"/>
              <a:ext cx="54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b="1">
                  <a:latin typeface="Times New Roman" panose="02020603050405020304" pitchFamily="18" charset="0"/>
                </a:rPr>
                <a:t>0</a:t>
              </a:r>
              <a:endParaRPr lang="es-ES" altLang="es-AR"/>
            </a:p>
          </p:txBody>
        </p:sp>
        <p:sp>
          <p:nvSpPr>
            <p:cNvPr id="33819" name="Text Box 28">
              <a:extLst>
                <a:ext uri="{FF2B5EF4-FFF2-40B4-BE49-F238E27FC236}">
                  <a16:creationId xmlns:a16="http://schemas.microsoft.com/office/drawing/2014/main" id="{D29E61D9-A9BA-4FB7-80A0-A5AEC13DA268}"/>
                </a:ext>
              </a:extLst>
            </p:cNvPr>
            <p:cNvSpPr txBox="1">
              <a:spLocks noChangeArrowheads="1"/>
            </p:cNvSpPr>
            <p:nvPr/>
          </p:nvSpPr>
          <p:spPr bwMode="auto">
            <a:xfrm>
              <a:off x="5301" y="2317"/>
              <a:ext cx="144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600" b="1">
                  <a:latin typeface="Times New Roman" panose="02020603050405020304" pitchFamily="18" charset="0"/>
                </a:rPr>
                <a:t>$ Sobrante</a:t>
              </a:r>
              <a:endParaRPr lang="es-ES" altLang="es-AR" sz="1600"/>
            </a:p>
          </p:txBody>
        </p:sp>
        <p:sp>
          <p:nvSpPr>
            <p:cNvPr id="33820" name="Text Box 29">
              <a:extLst>
                <a:ext uri="{FF2B5EF4-FFF2-40B4-BE49-F238E27FC236}">
                  <a16:creationId xmlns:a16="http://schemas.microsoft.com/office/drawing/2014/main" id="{2DB9D28C-A0F9-45EC-A1D4-DA6846938E8B}"/>
                </a:ext>
              </a:extLst>
            </p:cNvPr>
            <p:cNvSpPr txBox="1">
              <a:spLocks noChangeArrowheads="1"/>
            </p:cNvSpPr>
            <p:nvPr/>
          </p:nvSpPr>
          <p:spPr bwMode="auto">
            <a:xfrm>
              <a:off x="8538" y="4837"/>
              <a:ext cx="10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s-ES_tradnl" altLang="es-AR" sz="1600" b="1" dirty="0">
                  <a:latin typeface="Times New Roman" panose="02020603050405020304" pitchFamily="18" charset="0"/>
                </a:rPr>
                <a:t>Meses</a:t>
              </a:r>
              <a:endParaRPr lang="es-ES" altLang="es-AR" sz="1600" dirty="0"/>
            </a:p>
          </p:txBody>
        </p:sp>
        <p:sp>
          <p:nvSpPr>
            <p:cNvPr id="33821" name="Line 30">
              <a:extLst>
                <a:ext uri="{FF2B5EF4-FFF2-40B4-BE49-F238E27FC236}">
                  <a16:creationId xmlns:a16="http://schemas.microsoft.com/office/drawing/2014/main" id="{073E1F70-14FE-45DA-8329-E3DE1D0FB07B}"/>
                </a:ext>
              </a:extLst>
            </p:cNvPr>
            <p:cNvSpPr>
              <a:spLocks noChangeShapeType="1"/>
            </p:cNvSpPr>
            <p:nvPr/>
          </p:nvSpPr>
          <p:spPr bwMode="auto">
            <a:xfrm flipH="1">
              <a:off x="4221" y="2497"/>
              <a:ext cx="1080" cy="36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22" name="Line 31">
              <a:extLst>
                <a:ext uri="{FF2B5EF4-FFF2-40B4-BE49-F238E27FC236}">
                  <a16:creationId xmlns:a16="http://schemas.microsoft.com/office/drawing/2014/main" id="{AF6BE855-FC6D-47C6-B22E-2FF2D96AD4D2}"/>
                </a:ext>
              </a:extLst>
            </p:cNvPr>
            <p:cNvSpPr>
              <a:spLocks noChangeShapeType="1"/>
            </p:cNvSpPr>
            <p:nvPr/>
          </p:nvSpPr>
          <p:spPr bwMode="auto">
            <a:xfrm>
              <a:off x="6679" y="2497"/>
              <a:ext cx="900"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33823" name="Text Box 32">
              <a:extLst>
                <a:ext uri="{FF2B5EF4-FFF2-40B4-BE49-F238E27FC236}">
                  <a16:creationId xmlns:a16="http://schemas.microsoft.com/office/drawing/2014/main" id="{535C6BFC-F577-4992-914D-E2BC3AE188FD}"/>
                </a:ext>
              </a:extLst>
            </p:cNvPr>
            <p:cNvSpPr txBox="1">
              <a:spLocks noChangeArrowheads="1"/>
            </p:cNvSpPr>
            <p:nvPr/>
          </p:nvSpPr>
          <p:spPr bwMode="auto">
            <a:xfrm>
              <a:off x="5121" y="3577"/>
              <a:ext cx="1440"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600" b="1">
                  <a:latin typeface="Times New Roman" panose="02020603050405020304" pitchFamily="18" charset="0"/>
                </a:rPr>
                <a:t>Bache Financiero</a:t>
              </a:r>
              <a:endParaRPr lang="es-ES" altLang="es-AR" sz="1600"/>
            </a:p>
          </p:txBody>
        </p:sp>
        <p:sp>
          <p:nvSpPr>
            <p:cNvPr id="33824" name="Line 33">
              <a:extLst>
                <a:ext uri="{FF2B5EF4-FFF2-40B4-BE49-F238E27FC236}">
                  <a16:creationId xmlns:a16="http://schemas.microsoft.com/office/drawing/2014/main" id="{025941B6-CC8E-415D-A06B-C3C42662BA2D}"/>
                </a:ext>
              </a:extLst>
            </p:cNvPr>
            <p:cNvSpPr>
              <a:spLocks noChangeShapeType="1"/>
            </p:cNvSpPr>
            <p:nvPr/>
          </p:nvSpPr>
          <p:spPr bwMode="auto">
            <a:xfrm>
              <a:off x="5840" y="4297"/>
              <a:ext cx="1" cy="7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s-AR"/>
            </a:p>
          </p:txBody>
        </p:sp>
        <p:sp>
          <p:nvSpPr>
            <p:cNvPr id="43042" name="Text Box 34">
              <a:extLst>
                <a:ext uri="{FF2B5EF4-FFF2-40B4-BE49-F238E27FC236}">
                  <a16:creationId xmlns:a16="http://schemas.microsoft.com/office/drawing/2014/main" id="{D4E9666E-F71A-4DC3-A2FA-BA6A4F69A488}"/>
                </a:ext>
              </a:extLst>
            </p:cNvPr>
            <p:cNvSpPr txBox="1">
              <a:spLocks noChangeArrowheads="1"/>
            </p:cNvSpPr>
            <p:nvPr/>
          </p:nvSpPr>
          <p:spPr bwMode="auto">
            <a:xfrm>
              <a:off x="2782" y="697"/>
              <a:ext cx="6660" cy="5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eaLnBrk="1" hangingPunct="1">
                <a:defRPr/>
              </a:pPr>
              <a:r>
                <a:rPr lang="es-ES_tradnl" altLang="es-AR" sz="1900" b="1" dirty="0">
                  <a:solidFill>
                    <a:srgbClr val="993300"/>
                  </a:solidFill>
                  <a:effectLst>
                    <a:outerShdw blurRad="38100" dist="38100" dir="2700000" algn="tl">
                      <a:srgbClr val="C0C0C0"/>
                    </a:outerShdw>
                  </a:effectLst>
                  <a:latin typeface="+mj-lt"/>
                </a:rPr>
                <a:t>CONTROL DEL NIVEL DE LA CAJA DE LA EMPRESA</a:t>
              </a:r>
              <a:endParaRPr lang="es-ES" altLang="es-AR" sz="1900" b="1" dirty="0">
                <a:effectLst>
                  <a:outerShdw blurRad="38100" dist="38100" dir="2700000" algn="tl">
                    <a:srgbClr val="C0C0C0"/>
                  </a:outerShdw>
                </a:effectLst>
                <a:latin typeface="+mj-lt"/>
              </a:endParaRPr>
            </a:p>
          </p:txBody>
        </p:sp>
      </p:grpSp>
      <p:sp>
        <p:nvSpPr>
          <p:cNvPr id="33" name="32 CuadroTexto">
            <a:extLst>
              <a:ext uri="{FF2B5EF4-FFF2-40B4-BE49-F238E27FC236}">
                <a16:creationId xmlns:a16="http://schemas.microsoft.com/office/drawing/2014/main" id="{A359DAE5-41E5-442C-A2BD-1011276E583C}"/>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31                                          Sistema Presupuestario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a:extLst>
              <a:ext uri="{FF2B5EF4-FFF2-40B4-BE49-F238E27FC236}">
                <a16:creationId xmlns:a16="http://schemas.microsoft.com/office/drawing/2014/main" id="{76D1D32F-D6A9-41E9-93E3-0DDA7A15B2F8}"/>
              </a:ext>
            </a:extLst>
          </p:cNvPr>
          <p:cNvSpPr txBox="1">
            <a:spLocks noChangeArrowheads="1"/>
          </p:cNvSpPr>
          <p:nvPr/>
        </p:nvSpPr>
        <p:spPr bwMode="auto">
          <a:xfrm>
            <a:off x="1285875" y="188913"/>
            <a:ext cx="6769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FINANCIERO</a:t>
            </a:r>
          </a:p>
        </p:txBody>
      </p:sp>
      <p:sp>
        <p:nvSpPr>
          <p:cNvPr id="44037" name="Rectangle 5">
            <a:extLst>
              <a:ext uri="{FF2B5EF4-FFF2-40B4-BE49-F238E27FC236}">
                <a16:creationId xmlns:a16="http://schemas.microsoft.com/office/drawing/2014/main" id="{F4DABAC3-2895-404A-89D1-FC5B0791C2AE}"/>
              </a:ext>
            </a:extLst>
          </p:cNvPr>
          <p:cNvSpPr>
            <a:spLocks noChangeArrowheads="1"/>
          </p:cNvSpPr>
          <p:nvPr/>
        </p:nvSpPr>
        <p:spPr bwMode="auto">
          <a:xfrm>
            <a:off x="1143001" y="1014414"/>
            <a:ext cx="9777413" cy="516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gráfico anterior muestra una típica evolución de la caja de una empresa que negocia productos con estacionalidad de verano, el control del nivel de la caja, permite determinar:</a:t>
            </a:r>
          </a:p>
          <a:p>
            <a:pPr algn="just" eaLnBrk="1" hangingPunct="1">
              <a:spcBef>
                <a:spcPct val="20000"/>
              </a:spcBef>
            </a:pPr>
            <a:endParaRPr lang="es-ES" altLang="es-AR" sz="2000" dirty="0">
              <a:latin typeface="+mj-lt"/>
            </a:endParaRPr>
          </a:p>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dirty="0">
                <a:latin typeface="+mj-lt"/>
              </a:rPr>
              <a:t>Ingresos excedentes en los meses de noviembre, diciembre, enero y febrero.</a:t>
            </a:r>
          </a:p>
          <a:p>
            <a:pPr marL="342900" indent="-342900" algn="just" eaLnBrk="1" hangingPunct="1">
              <a:spcBef>
                <a:spcPct val="20000"/>
              </a:spcBef>
              <a:buClr>
                <a:schemeClr val="accent3">
                  <a:lumMod val="50000"/>
                </a:schemeClr>
              </a:buClr>
              <a:buFont typeface="Arial" panose="020B0604020202020204" pitchFamily="34" charset="0"/>
              <a:buChar char="•"/>
            </a:pPr>
            <a:r>
              <a:rPr lang="es-ES" altLang="es-AR" sz="2000" dirty="0">
                <a:latin typeface="+mj-lt"/>
              </a:rPr>
              <a:t>Ingresos insuficientes para los meses de mayo, junio, julio y agosto. </a:t>
            </a:r>
          </a:p>
          <a:p>
            <a:pPr algn="just" eaLnBrk="1" hangingPunct="1">
              <a:spcBef>
                <a:spcPct val="20000"/>
              </a:spcBef>
            </a:pPr>
            <a:endParaRPr lang="es-ES" altLang="es-AR" sz="2000" dirty="0">
              <a:latin typeface="+mj-lt"/>
            </a:endParaRPr>
          </a:p>
          <a:p>
            <a:pPr algn="just" eaLnBrk="1" hangingPunct="1">
              <a:spcBef>
                <a:spcPct val="20000"/>
              </a:spcBef>
            </a:pPr>
            <a:r>
              <a:rPr lang="es-ES" altLang="es-AR" sz="2000" dirty="0">
                <a:latin typeface="+mj-lt"/>
              </a:rPr>
              <a:t>El valor acumulado se denomina bache financiero y representa un riesgo para la empresa ya que de no tomar las previsiones adecuadas pone en riesgo su continuidad</a:t>
            </a:r>
          </a:p>
        </p:txBody>
      </p:sp>
      <p:sp>
        <p:nvSpPr>
          <p:cNvPr id="4" name="3 CuadroTexto">
            <a:extLst>
              <a:ext uri="{FF2B5EF4-FFF2-40B4-BE49-F238E27FC236}">
                <a16:creationId xmlns:a16="http://schemas.microsoft.com/office/drawing/2014/main" id="{A1F5624C-09AD-4A59-A567-ECB275A08BE1}"/>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32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Text Box 4">
            <a:extLst>
              <a:ext uri="{FF2B5EF4-FFF2-40B4-BE49-F238E27FC236}">
                <a16:creationId xmlns:a16="http://schemas.microsoft.com/office/drawing/2014/main" id="{3B75AFF6-B832-40E9-B238-4307A84A7225}"/>
              </a:ext>
            </a:extLst>
          </p:cNvPr>
          <p:cNvSpPr txBox="1">
            <a:spLocks noChangeArrowheads="1"/>
          </p:cNvSpPr>
          <p:nvPr/>
        </p:nvSpPr>
        <p:spPr bwMode="auto">
          <a:xfrm>
            <a:off x="1285875" y="188913"/>
            <a:ext cx="6769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PRESUPUESTO FINANCIERO</a:t>
            </a:r>
          </a:p>
        </p:txBody>
      </p:sp>
      <p:sp>
        <p:nvSpPr>
          <p:cNvPr id="45061" name="Rectangle 5">
            <a:extLst>
              <a:ext uri="{FF2B5EF4-FFF2-40B4-BE49-F238E27FC236}">
                <a16:creationId xmlns:a16="http://schemas.microsoft.com/office/drawing/2014/main" id="{16F22ABD-3DE8-4742-82EB-099250559668}"/>
              </a:ext>
            </a:extLst>
          </p:cNvPr>
          <p:cNvSpPr>
            <a:spLocks noChangeArrowheads="1"/>
          </p:cNvSpPr>
          <p:nvPr/>
        </p:nvSpPr>
        <p:spPr bwMode="auto">
          <a:xfrm>
            <a:off x="1143001" y="1361885"/>
            <a:ext cx="9777413" cy="2295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La caja de la empresa siempre debe hacer frente a sus necesidades, pero sin embargo no debe haber exceso de efectivo o disponibilidades bancarias excesivas sin aprovechamiento. Esta herramienta de control tratará de poner en evidencia la existencia de descubiertos bancarios, que siempre resultan muy costosos. La rentabilidad del servicio financiero se puede medir como el “cociente entre los gastos financieros y las utilidades antes de impuestos a las ganancias. </a:t>
            </a:r>
          </a:p>
        </p:txBody>
      </p:sp>
      <p:sp>
        <p:nvSpPr>
          <p:cNvPr id="45062" name="Rectangle 6">
            <a:extLst>
              <a:ext uri="{FF2B5EF4-FFF2-40B4-BE49-F238E27FC236}">
                <a16:creationId xmlns:a16="http://schemas.microsoft.com/office/drawing/2014/main" id="{634F85F9-9990-48BE-B7C7-442104B37752}"/>
              </a:ext>
            </a:extLst>
          </p:cNvPr>
          <p:cNvSpPr>
            <a:spLocks noChangeArrowheads="1"/>
          </p:cNvSpPr>
          <p:nvPr/>
        </p:nvSpPr>
        <p:spPr bwMode="auto">
          <a:xfrm>
            <a:off x="1207293" y="3841750"/>
            <a:ext cx="9777413" cy="1080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Una falta de liquidez puede provenir de una caída en las cobranzas debido a una disminución de las ventas, un atraso en las entregas, aumentos de los servicios, aumento de los salarios y en los precios de las materias primas, etc.</a:t>
            </a:r>
          </a:p>
        </p:txBody>
      </p:sp>
      <p:sp>
        <p:nvSpPr>
          <p:cNvPr id="5" name="4 CuadroTexto">
            <a:extLst>
              <a:ext uri="{FF2B5EF4-FFF2-40B4-BE49-F238E27FC236}">
                <a16:creationId xmlns:a16="http://schemas.microsoft.com/office/drawing/2014/main" id="{05D2107B-50AB-42C6-8220-44B3CDB94E58}"/>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33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1" grpId="0"/>
      <p:bldP spid="4506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4">
            <a:extLst>
              <a:ext uri="{FF2B5EF4-FFF2-40B4-BE49-F238E27FC236}">
                <a16:creationId xmlns:a16="http://schemas.microsoft.com/office/drawing/2014/main" id="{E83839F1-ED45-4AF5-8ABC-5F73500CD0B1}"/>
              </a:ext>
            </a:extLst>
          </p:cNvPr>
          <p:cNvSpPr txBox="1">
            <a:spLocks noChangeArrowheads="1"/>
          </p:cNvSpPr>
          <p:nvPr/>
        </p:nvSpPr>
        <p:spPr bwMode="auto">
          <a:xfrm>
            <a:off x="1285875" y="188913"/>
            <a:ext cx="6769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ESTADOS DE SÍNTESIS</a:t>
            </a:r>
          </a:p>
        </p:txBody>
      </p:sp>
      <p:sp>
        <p:nvSpPr>
          <p:cNvPr id="46085" name="Rectangle 5">
            <a:extLst>
              <a:ext uri="{FF2B5EF4-FFF2-40B4-BE49-F238E27FC236}">
                <a16:creationId xmlns:a16="http://schemas.microsoft.com/office/drawing/2014/main" id="{D46085A9-7A27-4476-BB9B-0DE8F412F6ED}"/>
              </a:ext>
            </a:extLst>
          </p:cNvPr>
          <p:cNvSpPr>
            <a:spLocks noChangeArrowheads="1"/>
          </p:cNvSpPr>
          <p:nvPr/>
        </p:nvSpPr>
        <p:spPr bwMode="auto">
          <a:xfrm>
            <a:off x="1143000" y="1303339"/>
            <a:ext cx="9906000" cy="414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Constituyen un resumen integrador de los presupuestos operativos</a:t>
            </a:r>
            <a:r>
              <a:rPr lang="es-ES" altLang="es-AR" sz="2000" dirty="0">
                <a:latin typeface="+mj-lt"/>
              </a:rPr>
              <a:t>, </a:t>
            </a:r>
            <a:r>
              <a:rPr lang="es-ES" altLang="es-AR" sz="2000" b="1" dirty="0">
                <a:latin typeface="+mj-lt"/>
              </a:rPr>
              <a:t>de</a:t>
            </a:r>
            <a:r>
              <a:rPr lang="es-ES" altLang="es-AR" sz="2000" dirty="0">
                <a:latin typeface="+mj-lt"/>
              </a:rPr>
              <a:t> </a:t>
            </a:r>
            <a:r>
              <a:rPr lang="es-ES" altLang="es-AR" sz="2000" b="1" dirty="0">
                <a:latin typeface="+mj-lt"/>
              </a:rPr>
              <a:t>inversiones y financiero</a:t>
            </a:r>
            <a:r>
              <a:rPr lang="es-ES" altLang="es-AR" sz="2000" dirty="0">
                <a:latin typeface="+mj-lt"/>
              </a:rPr>
              <a:t>, que se materializa en un Cuadro de Resultados proforma y en un Balance General proforma (estado de origen y de aplicación de fondos). </a:t>
            </a:r>
          </a:p>
          <a:p>
            <a:pPr algn="just" eaLnBrk="1" hangingPunct="1">
              <a:spcBef>
                <a:spcPct val="20000"/>
              </a:spcBef>
            </a:pPr>
            <a:r>
              <a:rPr lang="es-ES" altLang="es-AR" sz="2000" dirty="0">
                <a:latin typeface="+mj-lt"/>
              </a:rPr>
              <a:t>De esta manera el Presupuesto tiene una utilidad más global que la que se obtiene con los presupuestos parciales ya que estos documentos registran, de manera resumida, los efectos que se deriven tanto en la situación económica como en la patrimonial de las previsiones que se realizan en todas las áreas de la Empresa.</a:t>
            </a:r>
          </a:p>
        </p:txBody>
      </p:sp>
      <p:sp>
        <p:nvSpPr>
          <p:cNvPr id="4" name="3 CuadroTexto">
            <a:extLst>
              <a:ext uri="{FF2B5EF4-FFF2-40B4-BE49-F238E27FC236}">
                <a16:creationId xmlns:a16="http://schemas.microsoft.com/office/drawing/2014/main" id="{997E1BB8-BAE7-4482-ABEF-A9549399252E}"/>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34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 Box 4">
            <a:extLst>
              <a:ext uri="{FF2B5EF4-FFF2-40B4-BE49-F238E27FC236}">
                <a16:creationId xmlns:a16="http://schemas.microsoft.com/office/drawing/2014/main" id="{F76CA3AA-832D-471E-855E-FA99FBA9BE2E}"/>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CUADRO DE RESULTADOS PROFORMA</a:t>
            </a:r>
          </a:p>
        </p:txBody>
      </p:sp>
      <p:sp>
        <p:nvSpPr>
          <p:cNvPr id="47109" name="Rectangle 5">
            <a:extLst>
              <a:ext uri="{FF2B5EF4-FFF2-40B4-BE49-F238E27FC236}">
                <a16:creationId xmlns:a16="http://schemas.microsoft.com/office/drawing/2014/main" id="{1C28384E-AE25-4599-97AE-8218950954A0}"/>
              </a:ext>
            </a:extLst>
          </p:cNvPr>
          <p:cNvSpPr>
            <a:spLocks noChangeArrowheads="1"/>
          </p:cNvSpPr>
          <p:nvPr/>
        </p:nvSpPr>
        <p:spPr bwMode="auto">
          <a:xfrm>
            <a:off x="1143000" y="1063626"/>
            <a:ext cx="9906000" cy="1651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Con el Cuadro de Resultados proforma se obtiene la expectativa de beneficios esperados por la empresa en el ejercicio económico a presupuestar. Mientras que el Cuadro de Resultados de la empresa procedente de la Contabilidad General se refiere al pasado, el proforma pronostica el futuro</a:t>
            </a:r>
          </a:p>
        </p:txBody>
      </p:sp>
      <p:sp>
        <p:nvSpPr>
          <p:cNvPr id="47110" name="Rectangle 6">
            <a:extLst>
              <a:ext uri="{FF2B5EF4-FFF2-40B4-BE49-F238E27FC236}">
                <a16:creationId xmlns:a16="http://schemas.microsoft.com/office/drawing/2014/main" id="{CF8A0CC4-CA06-416B-BEEC-FD6C5BA1FB69}"/>
              </a:ext>
            </a:extLst>
          </p:cNvPr>
          <p:cNvSpPr>
            <a:spLocks noChangeArrowheads="1"/>
          </p:cNvSpPr>
          <p:nvPr/>
        </p:nvSpPr>
        <p:spPr bwMode="auto">
          <a:xfrm>
            <a:off x="1127125" y="3041651"/>
            <a:ext cx="9906000" cy="1651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Para su elaboración, la organización deberá dedicarse a la obtención de los distintos presupuestos parciales (ventas, gastos de comercialización, materias primas, producción, gastos indirectos de fabricación, gastos fijos de estructura y el cálculo de las amortizaciones de los bienes de uso. Se debe tener en cuenta que:</a:t>
            </a:r>
          </a:p>
        </p:txBody>
      </p:sp>
      <p:sp>
        <p:nvSpPr>
          <p:cNvPr id="37893" name="Rectangle 7">
            <a:extLst>
              <a:ext uri="{FF2B5EF4-FFF2-40B4-BE49-F238E27FC236}">
                <a16:creationId xmlns:a16="http://schemas.microsoft.com/office/drawing/2014/main" id="{B5B72A9A-9E67-4289-B902-B1E2B38C28B4}"/>
              </a:ext>
            </a:extLst>
          </p:cNvPr>
          <p:cNvSpPr>
            <a:spLocks noChangeArrowheads="1"/>
          </p:cNvSpPr>
          <p:nvPr/>
        </p:nvSpPr>
        <p:spPr bwMode="auto">
          <a:xfrm>
            <a:off x="842328" y="5019676"/>
            <a:ext cx="10679111" cy="338554"/>
          </a:xfrm>
          <a:prstGeom prst="rect">
            <a:avLst/>
          </a:prstGeom>
          <a:noFill/>
          <a:ln w="9525">
            <a:solidFill>
              <a:srgbClr val="CC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AR" sz="1600" b="1" dirty="0">
                <a:solidFill>
                  <a:srgbClr val="CC3300"/>
                </a:solidFill>
                <a:latin typeface="+mj-lt"/>
              </a:rPr>
              <a:t>Costo de Ventas = Presupuesto de producción terminada del período + Stock final – Stock inicial </a:t>
            </a:r>
          </a:p>
        </p:txBody>
      </p:sp>
      <p:sp>
        <p:nvSpPr>
          <p:cNvPr id="6" name="5 CuadroTexto">
            <a:extLst>
              <a:ext uri="{FF2B5EF4-FFF2-40B4-BE49-F238E27FC236}">
                <a16:creationId xmlns:a16="http://schemas.microsoft.com/office/drawing/2014/main" id="{470DC262-3E8F-4452-973E-0EB9D9ECA85E}"/>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35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p:bldP spid="471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Text Box 4">
            <a:extLst>
              <a:ext uri="{FF2B5EF4-FFF2-40B4-BE49-F238E27FC236}">
                <a16:creationId xmlns:a16="http://schemas.microsoft.com/office/drawing/2014/main" id="{00065DB8-D4DB-42C6-8770-ECD8DA01197B}"/>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BALANCE GENERAL PROFORMA</a:t>
            </a:r>
          </a:p>
        </p:txBody>
      </p:sp>
      <p:sp>
        <p:nvSpPr>
          <p:cNvPr id="48133" name="Rectangle 5">
            <a:extLst>
              <a:ext uri="{FF2B5EF4-FFF2-40B4-BE49-F238E27FC236}">
                <a16:creationId xmlns:a16="http://schemas.microsoft.com/office/drawing/2014/main" id="{4562C870-9015-463B-8F88-D4EB86F575A9}"/>
              </a:ext>
            </a:extLst>
          </p:cNvPr>
          <p:cNvSpPr>
            <a:spLocks noChangeArrowheads="1"/>
          </p:cNvSpPr>
          <p:nvPr/>
        </p:nvSpPr>
        <p:spPr bwMode="auto">
          <a:xfrm>
            <a:off x="1143000" y="1158877"/>
            <a:ext cx="9906000" cy="391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Representa la síntesis presupuestaria de los bienes, derechos, obligaciones y del Patrimonio Neto esperado por la empresa al final del periodo presupuestado. Permite obtener la misma información que facilita el Balance General, cuando se elabora históricamente en la Contabilidad General.</a:t>
            </a:r>
          </a:p>
          <a:p>
            <a:pPr algn="just" eaLnBrk="1" hangingPunct="1">
              <a:spcBef>
                <a:spcPct val="20000"/>
              </a:spcBef>
            </a:pPr>
            <a:endParaRPr lang="es-ES" altLang="es-AR" sz="2000" dirty="0">
              <a:latin typeface="+mj-lt"/>
            </a:endParaRPr>
          </a:p>
          <a:p>
            <a:pPr algn="just" eaLnBrk="1" hangingPunct="1">
              <a:spcBef>
                <a:spcPct val="20000"/>
              </a:spcBef>
            </a:pPr>
            <a:r>
              <a:rPr lang="es-ES" altLang="es-AR" sz="2000" dirty="0">
                <a:latin typeface="+mj-lt"/>
              </a:rPr>
              <a:t>En el Balance proforma se sintetizan las diversas informaciones obtenidas en la elaboración de los diferentes presupuestos parciales. </a:t>
            </a:r>
          </a:p>
          <a:p>
            <a:pPr algn="just" eaLnBrk="1" hangingPunct="1">
              <a:spcBef>
                <a:spcPct val="20000"/>
              </a:spcBef>
            </a:pPr>
            <a:endParaRPr lang="es-ES" altLang="es-AR" sz="2000" dirty="0">
              <a:latin typeface="+mj-lt"/>
            </a:endParaRPr>
          </a:p>
          <a:p>
            <a:pPr algn="just" eaLnBrk="1" hangingPunct="1">
              <a:spcBef>
                <a:spcPct val="20000"/>
              </a:spcBef>
            </a:pPr>
            <a:r>
              <a:rPr lang="es-ES" altLang="es-AR" sz="2000" dirty="0">
                <a:latin typeface="+mj-lt"/>
              </a:rPr>
              <a:t>La diferencia entre el Balance Proforma y el Cuadro de Resultados proforma radica en que no resulta necesario elaborarlo para periodos inferiores al año, dado que interesa saber cuál es la situación patrimonial al final del año.</a:t>
            </a:r>
          </a:p>
        </p:txBody>
      </p:sp>
      <p:sp>
        <p:nvSpPr>
          <p:cNvPr id="4" name="3 CuadroTexto">
            <a:extLst>
              <a:ext uri="{FF2B5EF4-FFF2-40B4-BE49-F238E27FC236}">
                <a16:creationId xmlns:a16="http://schemas.microsoft.com/office/drawing/2014/main" id="{EE47AE51-D6AF-4175-8588-1A254D18BBED}"/>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36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a:extLst>
              <a:ext uri="{FF2B5EF4-FFF2-40B4-BE49-F238E27FC236}">
                <a16:creationId xmlns:a16="http://schemas.microsoft.com/office/drawing/2014/main" id="{F9DE9BAB-7F51-4B6C-91B0-938818D5F68D}"/>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latin typeface="+mj-lt"/>
              </a:rPr>
              <a:t>BALANCE GENERAL PROFORMA</a:t>
            </a:r>
          </a:p>
        </p:txBody>
      </p:sp>
      <p:sp>
        <p:nvSpPr>
          <p:cNvPr id="49157" name="Rectangle 5">
            <a:extLst>
              <a:ext uri="{FF2B5EF4-FFF2-40B4-BE49-F238E27FC236}">
                <a16:creationId xmlns:a16="http://schemas.microsoft.com/office/drawing/2014/main" id="{B2E35F00-9267-4C6F-AE66-94B9FC9E64AE}"/>
              </a:ext>
            </a:extLst>
          </p:cNvPr>
          <p:cNvSpPr>
            <a:spLocks noChangeArrowheads="1"/>
          </p:cNvSpPr>
          <p:nvPr/>
        </p:nvSpPr>
        <p:spPr bwMode="auto">
          <a:xfrm>
            <a:off x="1143000" y="948436"/>
            <a:ext cx="9906000" cy="534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Balance General proforma puede obtenerse de la síntesis de los siguientes documentos: </a:t>
            </a:r>
          </a:p>
        </p:txBody>
      </p:sp>
      <p:sp>
        <p:nvSpPr>
          <p:cNvPr id="49158" name="Rectangle 6">
            <a:extLst>
              <a:ext uri="{FF2B5EF4-FFF2-40B4-BE49-F238E27FC236}">
                <a16:creationId xmlns:a16="http://schemas.microsoft.com/office/drawing/2014/main" id="{96F42193-163F-44EB-9151-C9DEA49469EB}"/>
              </a:ext>
            </a:extLst>
          </p:cNvPr>
          <p:cNvSpPr>
            <a:spLocks noChangeArrowheads="1"/>
          </p:cNvSpPr>
          <p:nvPr/>
        </p:nvSpPr>
        <p:spPr bwMode="auto">
          <a:xfrm>
            <a:off x="1141413" y="1740599"/>
            <a:ext cx="9906001" cy="27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dirty="0">
                <a:latin typeface="+mj-lt"/>
              </a:rPr>
              <a:t> Presupuesto de Inversiones.</a:t>
            </a:r>
            <a:endParaRPr lang="es-ES" altLang="es-AR" sz="2000" dirty="0">
              <a:latin typeface="+mj-lt"/>
            </a:endParaRPr>
          </a:p>
        </p:txBody>
      </p:sp>
      <p:sp>
        <p:nvSpPr>
          <p:cNvPr id="49159" name="Rectangle 7">
            <a:extLst>
              <a:ext uri="{FF2B5EF4-FFF2-40B4-BE49-F238E27FC236}">
                <a16:creationId xmlns:a16="http://schemas.microsoft.com/office/drawing/2014/main" id="{6995C8BF-DAD4-4AA5-8805-ED694744924D}"/>
              </a:ext>
            </a:extLst>
          </p:cNvPr>
          <p:cNvSpPr>
            <a:spLocks noChangeArrowheads="1"/>
          </p:cNvSpPr>
          <p:nvPr/>
        </p:nvSpPr>
        <p:spPr bwMode="auto">
          <a:xfrm>
            <a:off x="1127125" y="2100961"/>
            <a:ext cx="9906000" cy="27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a:latin typeface="+mj-lt"/>
              </a:rPr>
              <a:t> Presupuesto de Compras.</a:t>
            </a:r>
            <a:endParaRPr lang="es-ES" altLang="es-AR" sz="2000">
              <a:latin typeface="+mj-lt"/>
            </a:endParaRPr>
          </a:p>
        </p:txBody>
      </p:sp>
      <p:sp>
        <p:nvSpPr>
          <p:cNvPr id="49160" name="Rectangle 8">
            <a:extLst>
              <a:ext uri="{FF2B5EF4-FFF2-40B4-BE49-F238E27FC236}">
                <a16:creationId xmlns:a16="http://schemas.microsoft.com/office/drawing/2014/main" id="{B3A98397-83C4-4C83-A0F8-A59DC878B00E}"/>
              </a:ext>
            </a:extLst>
          </p:cNvPr>
          <p:cNvSpPr>
            <a:spLocks noChangeArrowheads="1"/>
          </p:cNvSpPr>
          <p:nvPr/>
        </p:nvSpPr>
        <p:spPr bwMode="auto">
          <a:xfrm>
            <a:off x="1127125" y="2461324"/>
            <a:ext cx="9906000" cy="27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a:latin typeface="+mj-lt"/>
              </a:rPr>
              <a:t> Presupuesto Financiero.</a:t>
            </a:r>
            <a:endParaRPr lang="es-ES" altLang="es-AR" sz="2000">
              <a:latin typeface="+mj-lt"/>
            </a:endParaRPr>
          </a:p>
        </p:txBody>
      </p:sp>
      <p:sp>
        <p:nvSpPr>
          <p:cNvPr id="49161" name="Rectangle 9">
            <a:extLst>
              <a:ext uri="{FF2B5EF4-FFF2-40B4-BE49-F238E27FC236}">
                <a16:creationId xmlns:a16="http://schemas.microsoft.com/office/drawing/2014/main" id="{1B7EB66C-02D4-4A99-BAE9-4FB6DD14D78A}"/>
              </a:ext>
            </a:extLst>
          </p:cNvPr>
          <p:cNvSpPr>
            <a:spLocks noChangeArrowheads="1"/>
          </p:cNvSpPr>
          <p:nvPr/>
        </p:nvSpPr>
        <p:spPr bwMode="auto">
          <a:xfrm>
            <a:off x="1127125" y="2864549"/>
            <a:ext cx="9906000" cy="27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a:latin typeface="+mj-lt"/>
              </a:rPr>
              <a:t> Cuadro de Resultados pro-forma.</a:t>
            </a:r>
            <a:endParaRPr lang="es-ES" altLang="es-AR" sz="2000">
              <a:latin typeface="+mj-lt"/>
            </a:endParaRPr>
          </a:p>
        </p:txBody>
      </p:sp>
      <p:sp>
        <p:nvSpPr>
          <p:cNvPr id="49162" name="Rectangle 10">
            <a:extLst>
              <a:ext uri="{FF2B5EF4-FFF2-40B4-BE49-F238E27FC236}">
                <a16:creationId xmlns:a16="http://schemas.microsoft.com/office/drawing/2014/main" id="{88797CF2-107C-4D8E-8D31-F3E892CD980B}"/>
              </a:ext>
            </a:extLst>
          </p:cNvPr>
          <p:cNvSpPr>
            <a:spLocks noChangeArrowheads="1"/>
          </p:cNvSpPr>
          <p:nvPr/>
        </p:nvSpPr>
        <p:spPr bwMode="auto">
          <a:xfrm>
            <a:off x="1127125" y="3253486"/>
            <a:ext cx="9906000" cy="27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a:latin typeface="+mj-lt"/>
              </a:rPr>
              <a:t> Balance General al inicio del período.</a:t>
            </a:r>
            <a:endParaRPr lang="es-ES" altLang="es-AR" sz="2000">
              <a:latin typeface="+mj-lt"/>
            </a:endParaRPr>
          </a:p>
        </p:txBody>
      </p:sp>
      <p:sp>
        <p:nvSpPr>
          <p:cNvPr id="49163" name="Rectangle 11">
            <a:extLst>
              <a:ext uri="{FF2B5EF4-FFF2-40B4-BE49-F238E27FC236}">
                <a16:creationId xmlns:a16="http://schemas.microsoft.com/office/drawing/2014/main" id="{CDC3D0B4-41BA-45B4-8833-C2788450C3F0}"/>
              </a:ext>
            </a:extLst>
          </p:cNvPr>
          <p:cNvSpPr>
            <a:spLocks noChangeArrowheads="1"/>
          </p:cNvSpPr>
          <p:nvPr/>
        </p:nvSpPr>
        <p:spPr bwMode="auto">
          <a:xfrm>
            <a:off x="1143000" y="3650361"/>
            <a:ext cx="9906000" cy="51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a:latin typeface="+mj-lt"/>
              </a:rPr>
              <a:t>El saldo de las partidas que componen el Balance General pro-forma se obtiene extrayendo el saldo de las cuentas: </a:t>
            </a:r>
          </a:p>
        </p:txBody>
      </p:sp>
      <p:sp>
        <p:nvSpPr>
          <p:cNvPr id="49164" name="Rectangle 12">
            <a:extLst>
              <a:ext uri="{FF2B5EF4-FFF2-40B4-BE49-F238E27FC236}">
                <a16:creationId xmlns:a16="http://schemas.microsoft.com/office/drawing/2014/main" id="{9F39E857-FA1B-4565-861D-12A6F230F3A9}"/>
              </a:ext>
            </a:extLst>
          </p:cNvPr>
          <p:cNvSpPr>
            <a:spLocks noChangeArrowheads="1"/>
          </p:cNvSpPr>
          <p:nvPr/>
        </p:nvSpPr>
        <p:spPr bwMode="auto">
          <a:xfrm>
            <a:off x="1127125" y="4442524"/>
            <a:ext cx="9906000" cy="27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a:latin typeface="+mj-lt"/>
              </a:rPr>
              <a:t> </a:t>
            </a:r>
            <a:r>
              <a:rPr lang="es-ES" altLang="es-AR" sz="2000">
                <a:latin typeface="+mj-lt"/>
              </a:rPr>
              <a:t>Caja y Bancos: del presupuesto de financiero</a:t>
            </a:r>
            <a:r>
              <a:rPr lang="es-AR" altLang="es-AR" sz="2000">
                <a:latin typeface="+mj-lt"/>
              </a:rPr>
              <a:t>.</a:t>
            </a:r>
            <a:endParaRPr lang="es-ES" altLang="es-AR" sz="2000">
              <a:latin typeface="+mj-lt"/>
            </a:endParaRPr>
          </a:p>
        </p:txBody>
      </p:sp>
      <p:sp>
        <p:nvSpPr>
          <p:cNvPr id="49165" name="Rectangle 13">
            <a:extLst>
              <a:ext uri="{FF2B5EF4-FFF2-40B4-BE49-F238E27FC236}">
                <a16:creationId xmlns:a16="http://schemas.microsoft.com/office/drawing/2014/main" id="{F3BF04AF-695B-449D-B862-7CDF47334A84}"/>
              </a:ext>
            </a:extLst>
          </p:cNvPr>
          <p:cNvSpPr>
            <a:spLocks noChangeArrowheads="1"/>
          </p:cNvSpPr>
          <p:nvPr/>
        </p:nvSpPr>
        <p:spPr bwMode="auto">
          <a:xfrm>
            <a:off x="1127125" y="4802888"/>
            <a:ext cx="99060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AR" altLang="es-AR" sz="2000">
                <a:latin typeface="+mj-lt"/>
              </a:rPr>
              <a:t> </a:t>
            </a:r>
            <a:r>
              <a:rPr lang="es-ES" altLang="es-AR" sz="2000">
                <a:latin typeface="+mj-lt"/>
              </a:rPr>
              <a:t>Existencias: del presupuesto de compras y de la política de stock prevista</a:t>
            </a:r>
            <a:r>
              <a:rPr lang="es-AR" altLang="es-AR" sz="2000">
                <a:latin typeface="+mj-lt"/>
              </a:rPr>
              <a:t>.</a:t>
            </a:r>
            <a:endParaRPr lang="es-ES" altLang="es-AR" sz="2000">
              <a:latin typeface="+mj-lt"/>
            </a:endParaRPr>
          </a:p>
        </p:txBody>
      </p:sp>
      <p:sp>
        <p:nvSpPr>
          <p:cNvPr id="49167" name="Rectangle 15">
            <a:extLst>
              <a:ext uri="{FF2B5EF4-FFF2-40B4-BE49-F238E27FC236}">
                <a16:creationId xmlns:a16="http://schemas.microsoft.com/office/drawing/2014/main" id="{4B58DA76-17D3-4BDC-BEAE-2A502A2A031D}"/>
              </a:ext>
            </a:extLst>
          </p:cNvPr>
          <p:cNvSpPr>
            <a:spLocks noChangeArrowheads="1"/>
          </p:cNvSpPr>
          <p:nvPr/>
        </p:nvSpPr>
        <p:spPr bwMode="auto">
          <a:xfrm>
            <a:off x="1143700" y="5217256"/>
            <a:ext cx="99060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dirty="0">
                <a:latin typeface="+mj-lt"/>
              </a:rPr>
              <a:t> </a:t>
            </a:r>
            <a:r>
              <a:rPr lang="es-ES" altLang="es-AR" sz="2000" dirty="0">
                <a:latin typeface="+mj-lt"/>
              </a:rPr>
              <a:t>Pérdidas y Ganancias: del Cuadro de Resultados proforma</a:t>
            </a:r>
            <a:r>
              <a:rPr lang="es-AR" altLang="es-AR" sz="2000" dirty="0">
                <a:latin typeface="+mj-lt"/>
              </a:rPr>
              <a:t>.</a:t>
            </a:r>
            <a:endParaRPr lang="es-ES" altLang="es-AR" sz="2000" dirty="0">
              <a:latin typeface="+mj-lt"/>
            </a:endParaRPr>
          </a:p>
        </p:txBody>
      </p:sp>
      <p:sp>
        <p:nvSpPr>
          <p:cNvPr id="13" name="12 CuadroTexto">
            <a:extLst>
              <a:ext uri="{FF2B5EF4-FFF2-40B4-BE49-F238E27FC236}">
                <a16:creationId xmlns:a16="http://schemas.microsoft.com/office/drawing/2014/main" id="{7F240E2E-749F-4895-9532-E73713035325}"/>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37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15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16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16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16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916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916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916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p:bldP spid="49158" grpId="0"/>
      <p:bldP spid="49159" grpId="0"/>
      <p:bldP spid="49160" grpId="0"/>
      <p:bldP spid="49161" grpId="0"/>
      <p:bldP spid="49162" grpId="0"/>
      <p:bldP spid="49163" grpId="0"/>
      <p:bldP spid="49164" grpId="0"/>
      <p:bldP spid="49165" grpId="0"/>
      <p:bldP spid="4916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Text Box 4">
            <a:extLst>
              <a:ext uri="{FF2B5EF4-FFF2-40B4-BE49-F238E27FC236}">
                <a16:creationId xmlns:a16="http://schemas.microsoft.com/office/drawing/2014/main" id="{27FA013A-DAA5-493E-AEBF-DC5F9AD37BE7}"/>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BALANCE GENERAL PROFORMA</a:t>
            </a:r>
          </a:p>
        </p:txBody>
      </p:sp>
      <p:sp>
        <p:nvSpPr>
          <p:cNvPr id="50181" name="Rectangle 5">
            <a:extLst>
              <a:ext uri="{FF2B5EF4-FFF2-40B4-BE49-F238E27FC236}">
                <a16:creationId xmlns:a16="http://schemas.microsoft.com/office/drawing/2014/main" id="{A63F494B-8779-467E-A516-46D9A28AFAD3}"/>
              </a:ext>
            </a:extLst>
          </p:cNvPr>
          <p:cNvSpPr>
            <a:spLocks noChangeArrowheads="1"/>
          </p:cNvSpPr>
          <p:nvPr/>
        </p:nvSpPr>
        <p:spPr bwMode="auto">
          <a:xfrm>
            <a:off x="1143000" y="1158877"/>
            <a:ext cx="9906000" cy="980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t>También, se puede obtener el saldo final al añadir los aumentos y las disminuciones previstas según los distintos presupuestos parciales, al saldo inicial procedente del Balance General al inicio del periodo, de las cuentas:</a:t>
            </a:r>
          </a:p>
        </p:txBody>
      </p:sp>
      <p:sp>
        <p:nvSpPr>
          <p:cNvPr id="50182" name="Rectangle 6">
            <a:extLst>
              <a:ext uri="{FF2B5EF4-FFF2-40B4-BE49-F238E27FC236}">
                <a16:creationId xmlns:a16="http://schemas.microsoft.com/office/drawing/2014/main" id="{1424E93E-4F65-44EC-9C2A-44EB3CA7C1E7}"/>
              </a:ext>
            </a:extLst>
          </p:cNvPr>
          <p:cNvSpPr>
            <a:spLocks noChangeArrowheads="1"/>
          </p:cNvSpPr>
          <p:nvPr/>
        </p:nvSpPr>
        <p:spPr bwMode="auto">
          <a:xfrm>
            <a:off x="2078101" y="2368106"/>
            <a:ext cx="99060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i="1" dirty="0"/>
              <a:t> </a:t>
            </a:r>
            <a:r>
              <a:rPr lang="es-ES" altLang="es-AR" sz="2000" i="1" dirty="0"/>
              <a:t>Bienes de Uso</a:t>
            </a:r>
            <a:r>
              <a:rPr lang="es-AR" altLang="es-AR" sz="2000" i="1" dirty="0"/>
              <a:t>.</a:t>
            </a:r>
            <a:endParaRPr lang="es-ES" altLang="es-AR" sz="2000" i="1" dirty="0"/>
          </a:p>
        </p:txBody>
      </p:sp>
      <p:sp>
        <p:nvSpPr>
          <p:cNvPr id="50183" name="Rectangle 7">
            <a:extLst>
              <a:ext uri="{FF2B5EF4-FFF2-40B4-BE49-F238E27FC236}">
                <a16:creationId xmlns:a16="http://schemas.microsoft.com/office/drawing/2014/main" id="{60AF2AAC-5B3C-4EC7-AC1E-62F8C7371DBF}"/>
              </a:ext>
            </a:extLst>
          </p:cNvPr>
          <p:cNvSpPr>
            <a:spLocks noChangeArrowheads="1"/>
          </p:cNvSpPr>
          <p:nvPr/>
        </p:nvSpPr>
        <p:spPr bwMode="auto">
          <a:xfrm>
            <a:off x="2078101" y="2761806"/>
            <a:ext cx="99060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i="1" dirty="0"/>
              <a:t> </a:t>
            </a:r>
            <a:r>
              <a:rPr lang="es-ES" altLang="es-AR" sz="2000" i="1" dirty="0"/>
              <a:t>Bienes Intangibles</a:t>
            </a:r>
            <a:r>
              <a:rPr lang="es-AR" altLang="es-AR" sz="2000" i="1" dirty="0"/>
              <a:t>.</a:t>
            </a:r>
            <a:endParaRPr lang="es-ES" altLang="es-AR" sz="2000" i="1" dirty="0"/>
          </a:p>
        </p:txBody>
      </p:sp>
      <p:sp>
        <p:nvSpPr>
          <p:cNvPr id="50184" name="Rectangle 8">
            <a:extLst>
              <a:ext uri="{FF2B5EF4-FFF2-40B4-BE49-F238E27FC236}">
                <a16:creationId xmlns:a16="http://schemas.microsoft.com/office/drawing/2014/main" id="{FA2B9785-EE47-4A27-9010-D74234753AB4}"/>
              </a:ext>
            </a:extLst>
          </p:cNvPr>
          <p:cNvSpPr>
            <a:spLocks noChangeArrowheads="1"/>
          </p:cNvSpPr>
          <p:nvPr/>
        </p:nvSpPr>
        <p:spPr bwMode="auto">
          <a:xfrm>
            <a:off x="2078101" y="3122168"/>
            <a:ext cx="99060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i="1"/>
              <a:t> </a:t>
            </a:r>
            <a:r>
              <a:rPr lang="es-ES" altLang="es-AR" sz="2000" i="1"/>
              <a:t>Amortizaciones Acumuladas</a:t>
            </a:r>
            <a:r>
              <a:rPr lang="es-AR" altLang="es-AR" sz="2000" i="1"/>
              <a:t>.</a:t>
            </a:r>
            <a:endParaRPr lang="es-ES" altLang="es-AR" sz="2000" i="1"/>
          </a:p>
        </p:txBody>
      </p:sp>
      <p:sp>
        <p:nvSpPr>
          <p:cNvPr id="50185" name="Rectangle 9">
            <a:extLst>
              <a:ext uri="{FF2B5EF4-FFF2-40B4-BE49-F238E27FC236}">
                <a16:creationId xmlns:a16="http://schemas.microsoft.com/office/drawing/2014/main" id="{29286DB7-9A65-4F4A-90EF-26501D789A93}"/>
              </a:ext>
            </a:extLst>
          </p:cNvPr>
          <p:cNvSpPr>
            <a:spLocks noChangeArrowheads="1"/>
          </p:cNvSpPr>
          <p:nvPr/>
        </p:nvSpPr>
        <p:spPr bwMode="auto">
          <a:xfrm>
            <a:off x="2078101" y="3520631"/>
            <a:ext cx="99060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i="1"/>
              <a:t> </a:t>
            </a:r>
            <a:r>
              <a:rPr lang="es-ES" altLang="es-AR" sz="2000" i="1"/>
              <a:t>Deudas de corto y de largo plazo</a:t>
            </a:r>
            <a:r>
              <a:rPr lang="es-AR" altLang="es-AR" sz="2000" i="1"/>
              <a:t>.</a:t>
            </a:r>
            <a:endParaRPr lang="es-ES" altLang="es-AR" sz="2000" i="1"/>
          </a:p>
        </p:txBody>
      </p:sp>
      <p:sp>
        <p:nvSpPr>
          <p:cNvPr id="50186" name="Rectangle 10">
            <a:extLst>
              <a:ext uri="{FF2B5EF4-FFF2-40B4-BE49-F238E27FC236}">
                <a16:creationId xmlns:a16="http://schemas.microsoft.com/office/drawing/2014/main" id="{C2448FD7-B7CC-4B9A-8D89-3C199C5B9B26}"/>
              </a:ext>
            </a:extLst>
          </p:cNvPr>
          <p:cNvSpPr>
            <a:spLocks noChangeArrowheads="1"/>
          </p:cNvSpPr>
          <p:nvPr/>
        </p:nvSpPr>
        <p:spPr bwMode="auto">
          <a:xfrm>
            <a:off x="2078101" y="3914331"/>
            <a:ext cx="99060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i="1"/>
              <a:t> </a:t>
            </a:r>
            <a:r>
              <a:rPr lang="es-ES" altLang="es-AR" sz="2000" i="1"/>
              <a:t>Capital Social</a:t>
            </a:r>
            <a:r>
              <a:rPr lang="es-AR" altLang="es-AR" sz="2000" i="1"/>
              <a:t>.</a:t>
            </a:r>
            <a:endParaRPr lang="es-ES" altLang="es-AR" sz="2000" i="1"/>
          </a:p>
        </p:txBody>
      </p:sp>
      <p:sp>
        <p:nvSpPr>
          <p:cNvPr id="50187" name="Rectangle 11">
            <a:extLst>
              <a:ext uri="{FF2B5EF4-FFF2-40B4-BE49-F238E27FC236}">
                <a16:creationId xmlns:a16="http://schemas.microsoft.com/office/drawing/2014/main" id="{E2C9BAC7-096C-45E1-91DC-D1E7DB523474}"/>
              </a:ext>
            </a:extLst>
          </p:cNvPr>
          <p:cNvSpPr>
            <a:spLocks noChangeArrowheads="1"/>
          </p:cNvSpPr>
          <p:nvPr/>
        </p:nvSpPr>
        <p:spPr bwMode="auto">
          <a:xfrm>
            <a:off x="2078101" y="4312793"/>
            <a:ext cx="99060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i="1"/>
              <a:t> </a:t>
            </a:r>
            <a:r>
              <a:rPr lang="es-ES" altLang="es-AR" sz="2000" i="1"/>
              <a:t>Reservas</a:t>
            </a:r>
            <a:r>
              <a:rPr lang="es-AR" altLang="es-AR" sz="2000" i="1"/>
              <a:t>.</a:t>
            </a:r>
            <a:endParaRPr lang="es-ES" altLang="es-AR" sz="2000" i="1"/>
          </a:p>
        </p:txBody>
      </p:sp>
      <p:sp>
        <p:nvSpPr>
          <p:cNvPr id="10" name="9 CuadroTexto">
            <a:extLst>
              <a:ext uri="{FF2B5EF4-FFF2-40B4-BE49-F238E27FC236}">
                <a16:creationId xmlns:a16="http://schemas.microsoft.com/office/drawing/2014/main" id="{AEA77D06-38FA-4ED0-945E-ABC774BBE5D0}"/>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38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8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8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8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8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18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P spid="50182" grpId="0"/>
      <p:bldP spid="50183" grpId="0"/>
      <p:bldP spid="50184" grpId="0"/>
      <p:bldP spid="50185" grpId="0"/>
      <p:bldP spid="50186" grpId="0"/>
      <p:bldP spid="5018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Text Box 4">
            <a:extLst>
              <a:ext uri="{FF2B5EF4-FFF2-40B4-BE49-F238E27FC236}">
                <a16:creationId xmlns:a16="http://schemas.microsoft.com/office/drawing/2014/main" id="{1DFE23D4-0060-4D59-9153-DD628C1FAF53}"/>
              </a:ext>
            </a:extLst>
          </p:cNvPr>
          <p:cNvSpPr txBox="1">
            <a:spLocks noChangeArrowheads="1"/>
          </p:cNvSpPr>
          <p:nvPr/>
        </p:nvSpPr>
        <p:spPr bwMode="auto">
          <a:xfrm>
            <a:off x="1200150" y="188913"/>
            <a:ext cx="94186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ESQUEMA DEL CONTROL PRESUPUESTARIO</a:t>
            </a:r>
          </a:p>
        </p:txBody>
      </p:sp>
      <p:grpSp>
        <p:nvGrpSpPr>
          <p:cNvPr id="46083" name="Group 5">
            <a:extLst>
              <a:ext uri="{FF2B5EF4-FFF2-40B4-BE49-F238E27FC236}">
                <a16:creationId xmlns:a16="http://schemas.microsoft.com/office/drawing/2014/main" id="{0F07D6EC-3DD0-40AA-B3E9-12999FF2EF73}"/>
              </a:ext>
            </a:extLst>
          </p:cNvPr>
          <p:cNvGrpSpPr>
            <a:grpSpLocks noChangeAspect="1"/>
          </p:cNvGrpSpPr>
          <p:nvPr/>
        </p:nvGrpSpPr>
        <p:grpSpPr bwMode="auto">
          <a:xfrm>
            <a:off x="1811337" y="999363"/>
            <a:ext cx="8569325" cy="4895850"/>
            <a:chOff x="1701" y="1693"/>
            <a:chExt cx="8460" cy="6120"/>
          </a:xfrm>
        </p:grpSpPr>
        <p:sp>
          <p:nvSpPr>
            <p:cNvPr id="46086" name="AutoShape 6">
              <a:extLst>
                <a:ext uri="{FF2B5EF4-FFF2-40B4-BE49-F238E27FC236}">
                  <a16:creationId xmlns:a16="http://schemas.microsoft.com/office/drawing/2014/main" id="{592FA04D-7403-4D5D-92BC-625CF992478C}"/>
                </a:ext>
              </a:extLst>
            </p:cNvPr>
            <p:cNvSpPr>
              <a:spLocks noChangeAspect="1" noChangeArrowheads="1"/>
            </p:cNvSpPr>
            <p:nvPr/>
          </p:nvSpPr>
          <p:spPr bwMode="auto">
            <a:xfrm>
              <a:off x="1701" y="1693"/>
              <a:ext cx="8460" cy="6120"/>
            </a:xfrm>
            <a:prstGeom prst="rect">
              <a:avLst/>
            </a:prstGeom>
            <a:solidFill>
              <a:srgbClr val="CC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s-AR" altLang="es-AR"/>
            </a:p>
          </p:txBody>
        </p:sp>
        <p:sp>
          <p:nvSpPr>
            <p:cNvPr id="46087" name="AutoShape 7">
              <a:extLst>
                <a:ext uri="{FF2B5EF4-FFF2-40B4-BE49-F238E27FC236}">
                  <a16:creationId xmlns:a16="http://schemas.microsoft.com/office/drawing/2014/main" id="{143C665A-66E2-4128-B538-4878624B4960}"/>
                </a:ext>
              </a:extLst>
            </p:cNvPr>
            <p:cNvSpPr>
              <a:spLocks noChangeArrowheads="1"/>
            </p:cNvSpPr>
            <p:nvPr/>
          </p:nvSpPr>
          <p:spPr bwMode="auto">
            <a:xfrm>
              <a:off x="4581" y="2953"/>
              <a:ext cx="1440" cy="72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a:latin typeface="Times New Roman" panose="02020603050405020304" pitchFamily="18" charset="0"/>
                </a:rPr>
                <a:t>Estándar (Patrón)</a:t>
              </a:r>
              <a:endParaRPr lang="es-ES" altLang="es-AR" sz="1700"/>
            </a:p>
          </p:txBody>
        </p:sp>
        <p:sp>
          <p:nvSpPr>
            <p:cNvPr id="46088" name="AutoShape 8">
              <a:extLst>
                <a:ext uri="{FF2B5EF4-FFF2-40B4-BE49-F238E27FC236}">
                  <a16:creationId xmlns:a16="http://schemas.microsoft.com/office/drawing/2014/main" id="{AC628700-315F-4C57-B01B-7D0DE3A7C07B}"/>
                </a:ext>
              </a:extLst>
            </p:cNvPr>
            <p:cNvSpPr>
              <a:spLocks noChangeArrowheads="1"/>
            </p:cNvSpPr>
            <p:nvPr/>
          </p:nvSpPr>
          <p:spPr bwMode="auto">
            <a:xfrm>
              <a:off x="2241" y="4393"/>
              <a:ext cx="1440" cy="108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a:latin typeface="Times New Roman" panose="02020603050405020304" pitchFamily="18" charset="0"/>
                </a:rPr>
                <a:t>Empresa </a:t>
              </a:r>
            </a:p>
            <a:p>
              <a:pPr algn="ctr" eaLnBrk="1" hangingPunct="1"/>
              <a:r>
                <a:rPr lang="es-ES_tradnl" altLang="es-AR" sz="1700" b="1">
                  <a:latin typeface="Times New Roman" panose="02020603050405020304" pitchFamily="18" charset="0"/>
                </a:rPr>
                <a:t>o </a:t>
              </a:r>
            </a:p>
            <a:p>
              <a:pPr algn="ctr" eaLnBrk="1" hangingPunct="1"/>
              <a:r>
                <a:rPr lang="es-ES_tradnl" altLang="es-AR" sz="1700" b="1">
                  <a:latin typeface="Times New Roman" panose="02020603050405020304" pitchFamily="18" charset="0"/>
                </a:rPr>
                <a:t>Sección</a:t>
              </a:r>
              <a:endParaRPr lang="es-ES" altLang="es-AR" sz="1700"/>
            </a:p>
          </p:txBody>
        </p:sp>
        <p:sp>
          <p:nvSpPr>
            <p:cNvPr id="46089" name="AutoShape 9">
              <a:extLst>
                <a:ext uri="{FF2B5EF4-FFF2-40B4-BE49-F238E27FC236}">
                  <a16:creationId xmlns:a16="http://schemas.microsoft.com/office/drawing/2014/main" id="{9B5BC99F-F386-4572-9818-9BBBD1CE8452}"/>
                </a:ext>
              </a:extLst>
            </p:cNvPr>
            <p:cNvSpPr>
              <a:spLocks noChangeArrowheads="1"/>
            </p:cNvSpPr>
            <p:nvPr/>
          </p:nvSpPr>
          <p:spPr bwMode="auto">
            <a:xfrm>
              <a:off x="4401" y="4393"/>
              <a:ext cx="1440" cy="108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a:latin typeface="Times New Roman" panose="02020603050405020304" pitchFamily="18" charset="0"/>
                </a:rPr>
                <a:t>Informe de operación</a:t>
              </a:r>
              <a:endParaRPr lang="es-ES" altLang="es-AR" sz="1700"/>
            </a:p>
          </p:txBody>
        </p:sp>
        <p:sp>
          <p:nvSpPr>
            <p:cNvPr id="46090" name="AutoShape 10">
              <a:extLst>
                <a:ext uri="{FF2B5EF4-FFF2-40B4-BE49-F238E27FC236}">
                  <a16:creationId xmlns:a16="http://schemas.microsoft.com/office/drawing/2014/main" id="{DB0A7160-F86A-4186-8ACF-2B63E2AEEE2B}"/>
                </a:ext>
              </a:extLst>
            </p:cNvPr>
            <p:cNvSpPr>
              <a:spLocks noChangeArrowheads="1"/>
            </p:cNvSpPr>
            <p:nvPr/>
          </p:nvSpPr>
          <p:spPr bwMode="auto">
            <a:xfrm>
              <a:off x="6561" y="4393"/>
              <a:ext cx="3240" cy="1440"/>
            </a:xfrm>
            <a:prstGeom prst="flowChartDecision">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600" b="1">
                  <a:latin typeface="Times New Roman" panose="02020603050405020304" pitchFamily="18" charset="0"/>
                </a:rPr>
                <a:t>Comparación (Control)</a:t>
              </a:r>
              <a:endParaRPr lang="es-ES" altLang="es-AR" sz="1600"/>
            </a:p>
          </p:txBody>
        </p:sp>
        <p:sp>
          <p:nvSpPr>
            <p:cNvPr id="46091" name="AutoShape 11">
              <a:extLst>
                <a:ext uri="{FF2B5EF4-FFF2-40B4-BE49-F238E27FC236}">
                  <a16:creationId xmlns:a16="http://schemas.microsoft.com/office/drawing/2014/main" id="{77382B53-67F9-4365-801A-BD26C977D0CB}"/>
                </a:ext>
              </a:extLst>
            </p:cNvPr>
            <p:cNvSpPr>
              <a:spLocks noChangeArrowheads="1"/>
            </p:cNvSpPr>
            <p:nvPr/>
          </p:nvSpPr>
          <p:spPr bwMode="auto">
            <a:xfrm>
              <a:off x="7281" y="6373"/>
              <a:ext cx="1800" cy="108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700" b="1">
                  <a:latin typeface="Times New Roman" panose="02020603050405020304" pitchFamily="18" charset="0"/>
                </a:rPr>
                <a:t>Informe sobre Variaciones</a:t>
              </a:r>
              <a:endParaRPr lang="es-ES" altLang="es-AR" sz="1700"/>
            </a:p>
          </p:txBody>
        </p:sp>
        <p:sp>
          <p:nvSpPr>
            <p:cNvPr id="46092" name="AutoShape 12">
              <a:extLst>
                <a:ext uri="{FF2B5EF4-FFF2-40B4-BE49-F238E27FC236}">
                  <a16:creationId xmlns:a16="http://schemas.microsoft.com/office/drawing/2014/main" id="{59FC48CB-702B-4AAF-B295-26D23C3E6970}"/>
                </a:ext>
              </a:extLst>
            </p:cNvPr>
            <p:cNvSpPr>
              <a:spLocks noChangeArrowheads="1"/>
            </p:cNvSpPr>
            <p:nvPr/>
          </p:nvSpPr>
          <p:spPr bwMode="auto">
            <a:xfrm>
              <a:off x="4401" y="6373"/>
              <a:ext cx="1440" cy="1080"/>
            </a:xfrm>
            <a:prstGeom prst="flowChartProcess">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_tradnl" altLang="es-AR" sz="1600" b="1">
                  <a:latin typeface="Times New Roman" panose="02020603050405020304" pitchFamily="18" charset="0"/>
                </a:rPr>
                <a:t>Decisión para la corrección</a:t>
              </a:r>
              <a:endParaRPr lang="es-ES" altLang="es-AR" sz="1600"/>
            </a:p>
          </p:txBody>
        </p:sp>
        <p:sp>
          <p:nvSpPr>
            <p:cNvPr id="46093" name="Line 13">
              <a:extLst>
                <a:ext uri="{FF2B5EF4-FFF2-40B4-BE49-F238E27FC236}">
                  <a16:creationId xmlns:a16="http://schemas.microsoft.com/office/drawing/2014/main" id="{D7B00F33-753B-42E9-AA54-551EF4AC1C94}"/>
                </a:ext>
              </a:extLst>
            </p:cNvPr>
            <p:cNvSpPr>
              <a:spLocks noChangeShapeType="1"/>
            </p:cNvSpPr>
            <p:nvPr/>
          </p:nvSpPr>
          <p:spPr bwMode="auto">
            <a:xfrm>
              <a:off x="3681" y="5113"/>
              <a:ext cx="720" cy="1"/>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094" name="Line 14">
              <a:extLst>
                <a:ext uri="{FF2B5EF4-FFF2-40B4-BE49-F238E27FC236}">
                  <a16:creationId xmlns:a16="http://schemas.microsoft.com/office/drawing/2014/main" id="{97CA667F-6B67-448A-AFE2-233947FACB9F}"/>
                </a:ext>
              </a:extLst>
            </p:cNvPr>
            <p:cNvSpPr>
              <a:spLocks noChangeShapeType="1"/>
            </p:cNvSpPr>
            <p:nvPr/>
          </p:nvSpPr>
          <p:spPr bwMode="auto">
            <a:xfrm>
              <a:off x="5841" y="5113"/>
              <a:ext cx="720" cy="1"/>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095" name="Line 15">
              <a:extLst>
                <a:ext uri="{FF2B5EF4-FFF2-40B4-BE49-F238E27FC236}">
                  <a16:creationId xmlns:a16="http://schemas.microsoft.com/office/drawing/2014/main" id="{173CBB53-7F0A-4082-9509-13702AA0A5BC}"/>
                </a:ext>
              </a:extLst>
            </p:cNvPr>
            <p:cNvSpPr>
              <a:spLocks noChangeShapeType="1"/>
            </p:cNvSpPr>
            <p:nvPr/>
          </p:nvSpPr>
          <p:spPr bwMode="auto">
            <a:xfrm>
              <a:off x="8181" y="5833"/>
              <a:ext cx="1" cy="54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096" name="Line 16">
              <a:extLst>
                <a:ext uri="{FF2B5EF4-FFF2-40B4-BE49-F238E27FC236}">
                  <a16:creationId xmlns:a16="http://schemas.microsoft.com/office/drawing/2014/main" id="{DDE30B23-9001-4CC9-A0FC-7D900CA18CBD}"/>
                </a:ext>
              </a:extLst>
            </p:cNvPr>
            <p:cNvSpPr>
              <a:spLocks noChangeShapeType="1"/>
            </p:cNvSpPr>
            <p:nvPr/>
          </p:nvSpPr>
          <p:spPr bwMode="auto">
            <a:xfrm flipH="1">
              <a:off x="5841" y="6913"/>
              <a:ext cx="144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097" name="Line 17">
              <a:extLst>
                <a:ext uri="{FF2B5EF4-FFF2-40B4-BE49-F238E27FC236}">
                  <a16:creationId xmlns:a16="http://schemas.microsoft.com/office/drawing/2014/main" id="{17B3C595-06C8-4C76-A2EE-C9FA9F346A69}"/>
                </a:ext>
              </a:extLst>
            </p:cNvPr>
            <p:cNvSpPr>
              <a:spLocks noChangeShapeType="1"/>
            </p:cNvSpPr>
            <p:nvPr/>
          </p:nvSpPr>
          <p:spPr bwMode="auto">
            <a:xfrm flipH="1">
              <a:off x="1881" y="6913"/>
              <a:ext cx="25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46098" name="Line 18">
              <a:extLst>
                <a:ext uri="{FF2B5EF4-FFF2-40B4-BE49-F238E27FC236}">
                  <a16:creationId xmlns:a16="http://schemas.microsoft.com/office/drawing/2014/main" id="{27AC9C90-58B5-424F-9822-48BE4234253B}"/>
                </a:ext>
              </a:extLst>
            </p:cNvPr>
            <p:cNvSpPr>
              <a:spLocks noChangeShapeType="1"/>
            </p:cNvSpPr>
            <p:nvPr/>
          </p:nvSpPr>
          <p:spPr bwMode="auto">
            <a:xfrm flipV="1">
              <a:off x="1881" y="3313"/>
              <a:ext cx="1" cy="1800"/>
            </a:xfrm>
            <a:prstGeom prst="line">
              <a:avLst/>
            </a:prstGeom>
            <a:noFill/>
            <a:ln w="254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s-AR"/>
            </a:p>
          </p:txBody>
        </p:sp>
        <p:sp>
          <p:nvSpPr>
            <p:cNvPr id="46099" name="Line 19">
              <a:extLst>
                <a:ext uri="{FF2B5EF4-FFF2-40B4-BE49-F238E27FC236}">
                  <a16:creationId xmlns:a16="http://schemas.microsoft.com/office/drawing/2014/main" id="{AB76C403-2D51-42B4-A1E2-1373EC1E7F83}"/>
                </a:ext>
              </a:extLst>
            </p:cNvPr>
            <p:cNvSpPr>
              <a:spLocks noChangeShapeType="1"/>
            </p:cNvSpPr>
            <p:nvPr/>
          </p:nvSpPr>
          <p:spPr bwMode="auto">
            <a:xfrm>
              <a:off x="1881" y="3313"/>
              <a:ext cx="2700" cy="0"/>
            </a:xfrm>
            <a:prstGeom prst="line">
              <a:avLst/>
            </a:prstGeom>
            <a:noFill/>
            <a:ln w="254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100" name="Line 20">
              <a:extLst>
                <a:ext uri="{FF2B5EF4-FFF2-40B4-BE49-F238E27FC236}">
                  <a16:creationId xmlns:a16="http://schemas.microsoft.com/office/drawing/2014/main" id="{68E9A918-DCF8-4F65-A792-3A50B148B06C}"/>
                </a:ext>
              </a:extLst>
            </p:cNvPr>
            <p:cNvSpPr>
              <a:spLocks noChangeShapeType="1"/>
            </p:cNvSpPr>
            <p:nvPr/>
          </p:nvSpPr>
          <p:spPr bwMode="auto">
            <a:xfrm flipV="1">
              <a:off x="1881" y="5113"/>
              <a:ext cx="0" cy="180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101" name="Line 21">
              <a:extLst>
                <a:ext uri="{FF2B5EF4-FFF2-40B4-BE49-F238E27FC236}">
                  <a16:creationId xmlns:a16="http://schemas.microsoft.com/office/drawing/2014/main" id="{40234FDA-0EC9-473B-89FD-63DE90106E63}"/>
                </a:ext>
              </a:extLst>
            </p:cNvPr>
            <p:cNvSpPr>
              <a:spLocks noChangeShapeType="1"/>
            </p:cNvSpPr>
            <p:nvPr/>
          </p:nvSpPr>
          <p:spPr bwMode="auto">
            <a:xfrm>
              <a:off x="1881" y="5113"/>
              <a:ext cx="36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sp>
          <p:nvSpPr>
            <p:cNvPr id="46102" name="Line 22">
              <a:extLst>
                <a:ext uri="{FF2B5EF4-FFF2-40B4-BE49-F238E27FC236}">
                  <a16:creationId xmlns:a16="http://schemas.microsoft.com/office/drawing/2014/main" id="{44CF8B04-1AD2-4ACA-9CAD-3A52D7D5CB3A}"/>
                </a:ext>
              </a:extLst>
            </p:cNvPr>
            <p:cNvSpPr>
              <a:spLocks noChangeShapeType="1"/>
            </p:cNvSpPr>
            <p:nvPr/>
          </p:nvSpPr>
          <p:spPr bwMode="auto">
            <a:xfrm>
              <a:off x="6021" y="3313"/>
              <a:ext cx="216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s-AR"/>
            </a:p>
          </p:txBody>
        </p:sp>
        <p:sp>
          <p:nvSpPr>
            <p:cNvPr id="46103" name="Line 23">
              <a:extLst>
                <a:ext uri="{FF2B5EF4-FFF2-40B4-BE49-F238E27FC236}">
                  <a16:creationId xmlns:a16="http://schemas.microsoft.com/office/drawing/2014/main" id="{586CC9CE-8C3F-4934-B3C0-8FF877532BE3}"/>
                </a:ext>
              </a:extLst>
            </p:cNvPr>
            <p:cNvSpPr>
              <a:spLocks noChangeShapeType="1"/>
            </p:cNvSpPr>
            <p:nvPr/>
          </p:nvSpPr>
          <p:spPr bwMode="auto">
            <a:xfrm>
              <a:off x="8181" y="3313"/>
              <a:ext cx="1" cy="108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s-AR"/>
            </a:p>
          </p:txBody>
        </p:sp>
      </p:grpSp>
      <p:sp>
        <p:nvSpPr>
          <p:cNvPr id="46084" name="Text Box 24">
            <a:extLst>
              <a:ext uri="{FF2B5EF4-FFF2-40B4-BE49-F238E27FC236}">
                <a16:creationId xmlns:a16="http://schemas.microsoft.com/office/drawing/2014/main" id="{B9E7F9A4-CA35-4ED6-A533-426E08CFF5A5}"/>
              </a:ext>
            </a:extLst>
          </p:cNvPr>
          <p:cNvSpPr txBox="1">
            <a:spLocks noChangeArrowheads="1"/>
          </p:cNvSpPr>
          <p:nvPr/>
        </p:nvSpPr>
        <p:spPr bwMode="auto">
          <a:xfrm>
            <a:off x="2301200" y="4580965"/>
            <a:ext cx="1800225" cy="877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s-AR" altLang="es-AR" sz="1700" b="1" dirty="0">
                <a:latin typeface="Times New Roman" panose="02020603050405020304" pitchFamily="18" charset="0"/>
              </a:rPr>
              <a:t>Control Retroalimentado (</a:t>
            </a:r>
            <a:r>
              <a:rPr lang="es-AR" altLang="es-AR" sz="1700" b="1" dirty="0" err="1">
                <a:latin typeface="Times New Roman" panose="02020603050405020304" pitchFamily="18" charset="0"/>
              </a:rPr>
              <a:t>Feed</a:t>
            </a:r>
            <a:r>
              <a:rPr lang="es-AR" altLang="es-AR" sz="1700" b="1" dirty="0">
                <a:latin typeface="Times New Roman" panose="02020603050405020304" pitchFamily="18" charset="0"/>
              </a:rPr>
              <a:t> back)</a:t>
            </a:r>
            <a:endParaRPr lang="es-ES" altLang="es-AR" sz="1700" b="1" dirty="0">
              <a:latin typeface="Times New Roman" panose="02020603050405020304" pitchFamily="18" charset="0"/>
            </a:endParaRPr>
          </a:p>
        </p:txBody>
      </p:sp>
      <p:sp>
        <p:nvSpPr>
          <p:cNvPr id="23" name="22 CuadroTexto">
            <a:extLst>
              <a:ext uri="{FF2B5EF4-FFF2-40B4-BE49-F238E27FC236}">
                <a16:creationId xmlns:a16="http://schemas.microsoft.com/office/drawing/2014/main" id="{49871110-3F05-4860-BA70-055092CD722C}"/>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41                                          Sistema Presupuestario</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Text Box 4">
            <a:extLst>
              <a:ext uri="{FF2B5EF4-FFF2-40B4-BE49-F238E27FC236}">
                <a16:creationId xmlns:a16="http://schemas.microsoft.com/office/drawing/2014/main" id="{C4CA762E-F201-4AAC-8251-9EFB17E14B1E}"/>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CONTROL PRESUPUESTARIO</a:t>
            </a:r>
          </a:p>
        </p:txBody>
      </p:sp>
      <p:sp>
        <p:nvSpPr>
          <p:cNvPr id="51205" name="Rectangle 5">
            <a:extLst>
              <a:ext uri="{FF2B5EF4-FFF2-40B4-BE49-F238E27FC236}">
                <a16:creationId xmlns:a16="http://schemas.microsoft.com/office/drawing/2014/main" id="{7DB22F73-8D68-4625-A24E-B8A4590A2F29}"/>
              </a:ext>
            </a:extLst>
          </p:cNvPr>
          <p:cNvSpPr>
            <a:spLocks noChangeArrowheads="1"/>
          </p:cNvSpPr>
          <p:nvPr/>
        </p:nvSpPr>
        <p:spPr bwMode="auto">
          <a:xfrm>
            <a:off x="1143000" y="1158875"/>
            <a:ext cx="9906000" cy="355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control presupuestario consiste en la comparación de los valores medidos en las variables económico - financieras por su actividad real, con los que se evaluaron y determinaron en los correspondientes presupuestos, para determinar las causas que generaron la aparición de estas diferencias.</a:t>
            </a:r>
          </a:p>
          <a:p>
            <a:pPr algn="just" eaLnBrk="1" hangingPunct="1">
              <a:spcBef>
                <a:spcPct val="20000"/>
              </a:spcBef>
            </a:pPr>
            <a:endParaRPr lang="es-ES" altLang="es-AR" sz="2000" dirty="0">
              <a:latin typeface="+mj-lt"/>
            </a:endParaRPr>
          </a:p>
          <a:p>
            <a:pPr algn="just" eaLnBrk="1" hangingPunct="1">
              <a:spcBef>
                <a:spcPct val="20000"/>
              </a:spcBef>
            </a:pPr>
            <a:r>
              <a:rPr lang="es-ES" altLang="es-AR" sz="2000" dirty="0">
                <a:latin typeface="+mj-lt"/>
              </a:rPr>
              <a:t>La característica del control es la comparación. Además de calcular las desviaciones (diferencia entre lo real y lo presupuestado) y su posterior análisis y estudio, permite revisar las decisiones y determinar si la empresa mantiene un rumbo dentro de los límites establecidos por la dirección</a:t>
            </a:r>
          </a:p>
        </p:txBody>
      </p:sp>
      <p:sp>
        <p:nvSpPr>
          <p:cNvPr id="4" name="3 CuadroTexto">
            <a:extLst>
              <a:ext uri="{FF2B5EF4-FFF2-40B4-BE49-F238E27FC236}">
                <a16:creationId xmlns:a16="http://schemas.microsoft.com/office/drawing/2014/main" id="{8B1F2316-B485-4D15-82C2-1E59EED6D2CC}"/>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39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Text Box 4">
            <a:extLst>
              <a:ext uri="{FF2B5EF4-FFF2-40B4-BE49-F238E27FC236}">
                <a16:creationId xmlns:a16="http://schemas.microsoft.com/office/drawing/2014/main" id="{89AC9C1C-64F1-449B-98EA-36344BE90F54}"/>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i="1" dirty="0">
                <a:solidFill>
                  <a:schemeClr val="tx1">
                    <a:lumMod val="75000"/>
                    <a:lumOff val="25000"/>
                  </a:schemeClr>
                </a:solidFill>
                <a:effectLst>
                  <a:outerShdw blurRad="38100" dist="38100" dir="2700000" algn="tl">
                    <a:srgbClr val="C0C0C0"/>
                  </a:outerShdw>
                </a:effectLst>
                <a:latin typeface="+mj-lt"/>
              </a:rPr>
              <a:t>CONTROL PRESUPUESTARIO</a:t>
            </a:r>
          </a:p>
        </p:txBody>
      </p:sp>
      <p:sp>
        <p:nvSpPr>
          <p:cNvPr id="56325" name="Rectangle 5">
            <a:extLst>
              <a:ext uri="{FF2B5EF4-FFF2-40B4-BE49-F238E27FC236}">
                <a16:creationId xmlns:a16="http://schemas.microsoft.com/office/drawing/2014/main" id="{DD32ADDD-CF85-456D-85E0-95679A6EC5CE}"/>
              </a:ext>
            </a:extLst>
          </p:cNvPr>
          <p:cNvSpPr>
            <a:spLocks noChangeArrowheads="1"/>
          </p:cNvSpPr>
          <p:nvPr/>
        </p:nvSpPr>
        <p:spPr bwMode="auto">
          <a:xfrm>
            <a:off x="1200151" y="1109663"/>
            <a:ext cx="9777413" cy="498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Una vez establecido el estándar, este queda como patrón de comparación para confrontar con los hechos reales, la información sobre estos se obtiene de la empresa o sección de la misma, y de los informes sobre las variaciones que realiza la Dirección de la empresa, la corrección esperada se concreta por la gestión de los responsables designados. </a:t>
            </a:r>
          </a:p>
          <a:p>
            <a:pPr algn="just" eaLnBrk="1" hangingPunct="1">
              <a:spcBef>
                <a:spcPct val="20000"/>
              </a:spcBef>
            </a:pPr>
            <a:r>
              <a:rPr lang="es-ES" altLang="es-AR" sz="2000" dirty="0">
                <a:latin typeface="+mj-lt"/>
              </a:rPr>
              <a:t>La Dirección actúa, “por excepción”, sólo en caso en que los desvíos sean mayores a un límite establecido como aceptable, y por tratarse de procesos continuos, los desvíos no se producen a saltos bruscos, por lo que se hace necesario fijar los lapsos dentro de los cuales se hace el muestreo. </a:t>
            </a:r>
          </a:p>
          <a:p>
            <a:pPr algn="just" eaLnBrk="1" hangingPunct="1">
              <a:spcBef>
                <a:spcPct val="20000"/>
              </a:spcBef>
            </a:pPr>
            <a:r>
              <a:rPr lang="es-ES" altLang="es-AR" sz="2000" dirty="0">
                <a:latin typeface="+mj-lt"/>
              </a:rPr>
              <a:t>Si estos son demasiado largos las correcciones llegarán tarde, en cambio si son muy frecuentes muchos de ellos no detectan diferencias generando un derroche innecesario, por lo que se recomienda tomar lapsos de aproximadamente la décima parte del evento a controlar.</a:t>
            </a:r>
          </a:p>
        </p:txBody>
      </p:sp>
      <p:sp>
        <p:nvSpPr>
          <p:cNvPr id="4" name="3 CuadroTexto">
            <a:extLst>
              <a:ext uri="{FF2B5EF4-FFF2-40B4-BE49-F238E27FC236}">
                <a16:creationId xmlns:a16="http://schemas.microsoft.com/office/drawing/2014/main" id="{F7655369-EA74-4D75-9D93-9C20A398A2D9}"/>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40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Text Box 4">
            <a:extLst>
              <a:ext uri="{FF2B5EF4-FFF2-40B4-BE49-F238E27FC236}">
                <a16:creationId xmlns:a16="http://schemas.microsoft.com/office/drawing/2014/main" id="{E0CA6B89-7545-45D6-A4D9-DFFEE39B90B5}"/>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ETAPAS DEL CONTROL PRESUPUESTARIO</a:t>
            </a:r>
          </a:p>
        </p:txBody>
      </p:sp>
      <p:sp>
        <p:nvSpPr>
          <p:cNvPr id="53253" name="Rectangle 5">
            <a:extLst>
              <a:ext uri="{FF2B5EF4-FFF2-40B4-BE49-F238E27FC236}">
                <a16:creationId xmlns:a16="http://schemas.microsoft.com/office/drawing/2014/main" id="{79B17DC8-6307-4064-98BD-9B37B6D0DE6A}"/>
              </a:ext>
            </a:extLst>
          </p:cNvPr>
          <p:cNvSpPr>
            <a:spLocks noChangeArrowheads="1"/>
          </p:cNvSpPr>
          <p:nvPr/>
        </p:nvSpPr>
        <p:spPr bwMode="auto">
          <a:xfrm>
            <a:off x="1200150" y="1247395"/>
            <a:ext cx="9777413" cy="1468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Comparación de los pronósticos con los resultados reales</a:t>
            </a:r>
            <a:r>
              <a:rPr lang="es-ES" altLang="es-AR" sz="2000" dirty="0">
                <a:latin typeface="+mj-lt"/>
              </a:rPr>
              <a:t>:</a:t>
            </a:r>
          </a:p>
          <a:p>
            <a:pPr algn="just" eaLnBrk="1" hangingPunct="1">
              <a:spcBef>
                <a:spcPct val="20000"/>
              </a:spcBef>
            </a:pPr>
            <a:r>
              <a:rPr lang="es-ES" altLang="es-AR" sz="2000" dirty="0">
                <a:latin typeface="+mj-lt"/>
              </a:rPr>
              <a:t>La comparación de lo presupuestado con lo real está supeditada a cómo se hayan establecido las bases de referencia para el control (índices de ventas, precios y costos estándar o estimados, índices financieros, etc.)</a:t>
            </a:r>
          </a:p>
        </p:txBody>
      </p:sp>
      <p:sp>
        <p:nvSpPr>
          <p:cNvPr id="53254" name="Rectangle 6">
            <a:extLst>
              <a:ext uri="{FF2B5EF4-FFF2-40B4-BE49-F238E27FC236}">
                <a16:creationId xmlns:a16="http://schemas.microsoft.com/office/drawing/2014/main" id="{00321CC6-5125-43C9-801C-2CD5F9D877FC}"/>
              </a:ext>
            </a:extLst>
          </p:cNvPr>
          <p:cNvSpPr>
            <a:spLocks noChangeArrowheads="1"/>
          </p:cNvSpPr>
          <p:nvPr/>
        </p:nvSpPr>
        <p:spPr bwMode="auto">
          <a:xfrm>
            <a:off x="1200151" y="2984501"/>
            <a:ext cx="9777413"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Análisis de las variaciones</a:t>
            </a:r>
            <a:r>
              <a:rPr lang="es-ES" altLang="es-AR" sz="2000" dirty="0">
                <a:latin typeface="+mj-lt"/>
              </a:rPr>
              <a:t>: </a:t>
            </a:r>
          </a:p>
          <a:p>
            <a:pPr algn="just" eaLnBrk="1" hangingPunct="1">
              <a:spcBef>
                <a:spcPct val="20000"/>
              </a:spcBef>
            </a:pPr>
            <a:r>
              <a:rPr lang="es-ES" altLang="es-AR" sz="2000" dirty="0">
                <a:latin typeface="+mj-lt"/>
              </a:rPr>
              <a:t>De la etapa anterior se obtiene una variación global que se deberá desglosar para poder medir su incidencia. Cada desvío se deberá atribuir a un responsable para que estos puedan determinar las causas y adoptar las medidas necesarias para su corrección. Estos desvíos pueden suceder por: Variaciones en el volumen de actividad, variaciones en los precios o en los costos, variaciones sobre rendimiento en cantidad o en calidad, etc.</a:t>
            </a:r>
          </a:p>
        </p:txBody>
      </p:sp>
      <p:sp>
        <p:nvSpPr>
          <p:cNvPr id="5" name="4 CuadroTexto">
            <a:extLst>
              <a:ext uri="{FF2B5EF4-FFF2-40B4-BE49-F238E27FC236}">
                <a16:creationId xmlns:a16="http://schemas.microsoft.com/office/drawing/2014/main" id="{76087F35-0224-4903-B6ED-0AC2008DDF3D}"/>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42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P spid="5325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Text Box 4">
            <a:extLst>
              <a:ext uri="{FF2B5EF4-FFF2-40B4-BE49-F238E27FC236}">
                <a16:creationId xmlns:a16="http://schemas.microsoft.com/office/drawing/2014/main" id="{656B04D0-71AB-499D-B52A-B90998F66881}"/>
              </a:ext>
            </a:extLst>
          </p:cNvPr>
          <p:cNvSpPr txBox="1">
            <a:spLocks noChangeArrowheads="1"/>
          </p:cNvSpPr>
          <p:nvPr/>
        </p:nvSpPr>
        <p:spPr bwMode="auto">
          <a:xfrm>
            <a:off x="1200150" y="188913"/>
            <a:ext cx="94186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ETAPAS DEL CONTROL PRESUPUESTARIO</a:t>
            </a:r>
          </a:p>
        </p:txBody>
      </p:sp>
      <p:sp>
        <p:nvSpPr>
          <p:cNvPr id="54277" name="Rectangle 5">
            <a:extLst>
              <a:ext uri="{FF2B5EF4-FFF2-40B4-BE49-F238E27FC236}">
                <a16:creationId xmlns:a16="http://schemas.microsoft.com/office/drawing/2014/main" id="{FAB10651-2291-4895-A09B-E9F1BCCF48CC}"/>
              </a:ext>
            </a:extLst>
          </p:cNvPr>
          <p:cNvSpPr>
            <a:spLocks noChangeArrowheads="1"/>
          </p:cNvSpPr>
          <p:nvPr/>
        </p:nvSpPr>
        <p:spPr bwMode="auto">
          <a:xfrm>
            <a:off x="1200150" y="835245"/>
            <a:ext cx="9777413" cy="2350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Corrección de las variaciones: </a:t>
            </a:r>
          </a:p>
          <a:p>
            <a:pPr algn="just" eaLnBrk="1" hangingPunct="1">
              <a:spcBef>
                <a:spcPct val="20000"/>
              </a:spcBef>
            </a:pPr>
            <a:r>
              <a:rPr lang="es-ES" altLang="es-AR" sz="2000" dirty="0">
                <a:latin typeface="+mj-lt"/>
              </a:rPr>
              <a:t>Supone una modificación de las situaciones puestas de manifiesto a través del cálculo de las variaciones. Puede implicar una modificación de los presupuestos fijados a fin de adecuarlas a las nuevas circunstancias, o puede implicar una rectificación en la línea de actuación de las distintas áreas, a fin de que dicha gestión se mantenga dentro de los límites establecidos como tolerables.</a:t>
            </a:r>
          </a:p>
        </p:txBody>
      </p:sp>
      <p:sp>
        <p:nvSpPr>
          <p:cNvPr id="54278" name="Rectangle 6">
            <a:extLst>
              <a:ext uri="{FF2B5EF4-FFF2-40B4-BE49-F238E27FC236}">
                <a16:creationId xmlns:a16="http://schemas.microsoft.com/office/drawing/2014/main" id="{4E802DFC-40C3-459B-B62A-7EF205293405}"/>
              </a:ext>
            </a:extLst>
          </p:cNvPr>
          <p:cNvSpPr>
            <a:spLocks noChangeArrowheads="1"/>
          </p:cNvSpPr>
          <p:nvPr/>
        </p:nvSpPr>
        <p:spPr bwMode="auto">
          <a:xfrm>
            <a:off x="1207293" y="3429000"/>
            <a:ext cx="9777413" cy="145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lgn="ctr">
              <a:spcBef>
                <a:spcPct val="20000"/>
              </a:spcBef>
              <a:defRPr sz="3200">
                <a:solidFill>
                  <a:schemeClr val="tx1"/>
                </a:solidFill>
                <a:latin typeface="Arial" pitchFamily="34" charset="0"/>
                <a:cs typeface="Arial" pitchFamily="34" charset="0"/>
              </a:defRPr>
            </a:lvl1pPr>
            <a:lvl2pPr marL="1423988" indent="-533400" algn="ctr">
              <a:spcBef>
                <a:spcPct val="20000"/>
              </a:spcBef>
              <a:defRPr sz="2800">
                <a:solidFill>
                  <a:schemeClr val="tx1"/>
                </a:solidFill>
                <a:latin typeface="Arial" pitchFamily="34" charset="0"/>
                <a:cs typeface="Arial" pitchFamily="34" charset="0"/>
              </a:defRPr>
            </a:lvl2pPr>
            <a:lvl3pPr marL="1987550" indent="-457200" algn="ctr">
              <a:spcBef>
                <a:spcPct val="20000"/>
              </a:spcBef>
              <a:defRPr sz="2400">
                <a:solidFill>
                  <a:schemeClr val="tx1"/>
                </a:solidFill>
                <a:latin typeface="Arial" pitchFamily="34" charset="0"/>
                <a:cs typeface="Arial" pitchFamily="34" charset="0"/>
              </a:defRPr>
            </a:lvl3pPr>
            <a:lvl4pPr marL="2547938" indent="-381000" algn="ctr">
              <a:spcBef>
                <a:spcPct val="20000"/>
              </a:spcBef>
              <a:defRPr sz="2000">
                <a:solidFill>
                  <a:schemeClr val="tx1"/>
                </a:solidFill>
                <a:latin typeface="Arial" pitchFamily="34" charset="0"/>
                <a:cs typeface="Arial" pitchFamily="34" charset="0"/>
              </a:defRPr>
            </a:lvl4pPr>
            <a:lvl5pPr marL="3108325" indent="-381000" algn="ctr">
              <a:spcBef>
                <a:spcPct val="20000"/>
              </a:spcBef>
              <a:defRPr sz="2000">
                <a:solidFill>
                  <a:schemeClr val="tx1"/>
                </a:solidFill>
                <a:latin typeface="Arial" pitchFamily="34" charset="0"/>
                <a:cs typeface="Arial" pitchFamily="34" charset="0"/>
              </a:defRPr>
            </a:lvl5pPr>
            <a:lvl6pPr marL="3565525" indent="-381000" algn="ctr" fontAlgn="base">
              <a:spcBef>
                <a:spcPct val="20000"/>
              </a:spcBef>
              <a:spcAft>
                <a:spcPct val="0"/>
              </a:spcAft>
              <a:defRPr sz="2000">
                <a:solidFill>
                  <a:schemeClr val="tx1"/>
                </a:solidFill>
                <a:latin typeface="Arial" pitchFamily="34" charset="0"/>
                <a:cs typeface="Arial" pitchFamily="34" charset="0"/>
              </a:defRPr>
            </a:lvl6pPr>
            <a:lvl7pPr marL="4022725" indent="-381000" algn="ctr" fontAlgn="base">
              <a:spcBef>
                <a:spcPct val="20000"/>
              </a:spcBef>
              <a:spcAft>
                <a:spcPct val="0"/>
              </a:spcAft>
              <a:defRPr sz="2000">
                <a:solidFill>
                  <a:schemeClr val="tx1"/>
                </a:solidFill>
                <a:latin typeface="Arial" pitchFamily="34" charset="0"/>
                <a:cs typeface="Arial" pitchFamily="34" charset="0"/>
              </a:defRPr>
            </a:lvl7pPr>
            <a:lvl8pPr marL="4479925" indent="-381000" algn="ctr" fontAlgn="base">
              <a:spcBef>
                <a:spcPct val="20000"/>
              </a:spcBef>
              <a:spcAft>
                <a:spcPct val="0"/>
              </a:spcAft>
              <a:defRPr sz="2000">
                <a:solidFill>
                  <a:schemeClr val="tx1"/>
                </a:solidFill>
                <a:latin typeface="Arial" pitchFamily="34" charset="0"/>
                <a:cs typeface="Arial" pitchFamily="34" charset="0"/>
              </a:defRPr>
            </a:lvl8pPr>
            <a:lvl9pPr marL="4937125" indent="-381000" algn="ctr" fontAlgn="base">
              <a:spcBef>
                <a:spcPct val="20000"/>
              </a:spcBef>
              <a:spcAft>
                <a:spcPct val="0"/>
              </a:spcAft>
              <a:defRPr sz="2000">
                <a:solidFill>
                  <a:schemeClr val="tx1"/>
                </a:solidFill>
                <a:latin typeface="Arial" pitchFamily="34" charset="0"/>
                <a:cs typeface="Arial" pitchFamily="34" charset="0"/>
              </a:defRPr>
            </a:lvl9pPr>
          </a:lstStyle>
          <a:p>
            <a:pPr algn="just" eaLnBrk="1" hangingPunct="1">
              <a:defRPr/>
            </a:pPr>
            <a:r>
              <a:rPr lang="es-ES" altLang="es-AR" sz="2000" dirty="0">
                <a:latin typeface="+mj-lt"/>
              </a:rPr>
              <a:t>El control presupuestario tiene como objetivo el suministro de información demandada por la empresa (la actuación y los logros, elaboración de planes y fijación de estándares) que permita tomar decisiones de gestión. </a:t>
            </a:r>
            <a:r>
              <a:rPr lang="es-ES" altLang="es-AR" sz="2000" b="1" dirty="0">
                <a:effectLst>
                  <a:outerShdw blurRad="38100" dist="38100" dir="2700000" algn="tl">
                    <a:srgbClr val="C0C0C0"/>
                  </a:outerShdw>
                </a:effectLst>
                <a:latin typeface="+mj-lt"/>
              </a:rPr>
              <a:t>Este proceso de control se inicia una vez aprobado el presupuesto</a:t>
            </a:r>
            <a:r>
              <a:rPr lang="es-ES" altLang="es-AR" sz="2000" dirty="0">
                <a:effectLst>
                  <a:outerShdw blurRad="38100" dist="38100" dir="2700000" algn="tl">
                    <a:srgbClr val="C0C0C0"/>
                  </a:outerShdw>
                </a:effectLst>
                <a:latin typeface="+mj-lt"/>
              </a:rPr>
              <a:t>.</a:t>
            </a:r>
          </a:p>
        </p:txBody>
      </p:sp>
      <p:sp>
        <p:nvSpPr>
          <p:cNvPr id="5" name="4 CuadroTexto">
            <a:extLst>
              <a:ext uri="{FF2B5EF4-FFF2-40B4-BE49-F238E27FC236}">
                <a16:creationId xmlns:a16="http://schemas.microsoft.com/office/drawing/2014/main" id="{11AF42F5-B50F-46E2-9152-47FF11994A5A}"/>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43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p:bldP spid="5427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Text Box 4">
            <a:extLst>
              <a:ext uri="{FF2B5EF4-FFF2-40B4-BE49-F238E27FC236}">
                <a16:creationId xmlns:a16="http://schemas.microsoft.com/office/drawing/2014/main" id="{0D7489B9-2D7B-4495-97B6-CA5430D12AEA}"/>
              </a:ext>
            </a:extLst>
          </p:cNvPr>
          <p:cNvSpPr txBox="1">
            <a:spLocks noChangeArrowheads="1"/>
          </p:cNvSpPr>
          <p:nvPr/>
        </p:nvSpPr>
        <p:spPr bwMode="auto">
          <a:xfrm>
            <a:off x="1200150" y="188913"/>
            <a:ext cx="94186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VENTAJAS DEL CONTROL PRESUPUESTARIO</a:t>
            </a:r>
          </a:p>
        </p:txBody>
      </p:sp>
      <p:sp>
        <p:nvSpPr>
          <p:cNvPr id="52229" name="Rectangle 5">
            <a:extLst>
              <a:ext uri="{FF2B5EF4-FFF2-40B4-BE49-F238E27FC236}">
                <a16:creationId xmlns:a16="http://schemas.microsoft.com/office/drawing/2014/main" id="{E6A19ACE-0F65-4B7E-A0DF-18463FE3114F}"/>
              </a:ext>
            </a:extLst>
          </p:cNvPr>
          <p:cNvSpPr>
            <a:spLocks noChangeArrowheads="1"/>
          </p:cNvSpPr>
          <p:nvPr/>
        </p:nvSpPr>
        <p:spPr bwMode="auto">
          <a:xfrm>
            <a:off x="1127125" y="1196975"/>
            <a:ext cx="9906000" cy="460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AR" altLang="es-AR" sz="2000" dirty="0">
                <a:latin typeface="+mj-lt"/>
              </a:rPr>
              <a:t> </a:t>
            </a:r>
            <a:r>
              <a:rPr lang="es-ES" altLang="es-AR" sz="2000" dirty="0">
                <a:latin typeface="+mj-lt"/>
              </a:rPr>
              <a:t>Permite establecer previsiones razonables, a través del seguimiento</a:t>
            </a:r>
            <a:r>
              <a:rPr lang="es-AR" altLang="es-AR" sz="2000" dirty="0">
                <a:latin typeface="+mj-lt"/>
              </a:rPr>
              <a:t>.</a:t>
            </a:r>
            <a:endParaRPr lang="es-ES" altLang="es-AR" sz="2000" dirty="0">
              <a:latin typeface="+mj-lt"/>
            </a:endParaRPr>
          </a:p>
        </p:txBody>
      </p:sp>
      <p:sp>
        <p:nvSpPr>
          <p:cNvPr id="52230" name="Rectangle 6">
            <a:extLst>
              <a:ext uri="{FF2B5EF4-FFF2-40B4-BE49-F238E27FC236}">
                <a16:creationId xmlns:a16="http://schemas.microsoft.com/office/drawing/2014/main" id="{E9B93119-659C-472B-A36D-4B5F8D1FBC97}"/>
              </a:ext>
            </a:extLst>
          </p:cNvPr>
          <p:cNvSpPr>
            <a:spLocks noChangeArrowheads="1"/>
          </p:cNvSpPr>
          <p:nvPr/>
        </p:nvSpPr>
        <p:spPr bwMode="auto">
          <a:xfrm>
            <a:off x="1127125" y="1742250"/>
            <a:ext cx="99060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AR" altLang="es-AR" sz="2000" dirty="0">
                <a:latin typeface="+mj-lt"/>
              </a:rPr>
              <a:t> </a:t>
            </a:r>
            <a:r>
              <a:rPr lang="es-ES" altLang="es-AR" sz="2000" dirty="0">
                <a:latin typeface="+mj-lt"/>
              </a:rPr>
              <a:t>Permite realizar un análisis continúo de los acontecimientos para modificar los programas y actualizarlos</a:t>
            </a:r>
            <a:r>
              <a:rPr lang="es-AR" altLang="es-AR" sz="2000" dirty="0">
                <a:latin typeface="+mj-lt"/>
              </a:rPr>
              <a:t>.</a:t>
            </a:r>
            <a:endParaRPr lang="es-ES" altLang="es-AR" sz="2000" dirty="0">
              <a:latin typeface="+mj-lt"/>
            </a:endParaRPr>
          </a:p>
        </p:txBody>
      </p:sp>
      <p:sp>
        <p:nvSpPr>
          <p:cNvPr id="52232" name="Rectangle 8">
            <a:extLst>
              <a:ext uri="{FF2B5EF4-FFF2-40B4-BE49-F238E27FC236}">
                <a16:creationId xmlns:a16="http://schemas.microsoft.com/office/drawing/2014/main" id="{37B908FD-A9BC-431C-BA9D-CF7D847205F7}"/>
              </a:ext>
            </a:extLst>
          </p:cNvPr>
          <p:cNvSpPr>
            <a:spLocks noChangeArrowheads="1"/>
          </p:cNvSpPr>
          <p:nvPr/>
        </p:nvSpPr>
        <p:spPr bwMode="auto">
          <a:xfrm>
            <a:off x="1127125" y="2557845"/>
            <a:ext cx="9906000"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accent3">
                  <a:lumMod val="50000"/>
                </a:schemeClr>
              </a:buClr>
              <a:buFontTx/>
              <a:buChar char="•"/>
            </a:pPr>
            <a:r>
              <a:rPr lang="es-AR" altLang="es-AR" sz="2000" dirty="0">
                <a:latin typeface="+mj-lt"/>
              </a:rPr>
              <a:t> </a:t>
            </a:r>
            <a:r>
              <a:rPr lang="es-ES" altLang="es-AR" sz="2000" dirty="0">
                <a:latin typeface="+mj-lt"/>
              </a:rPr>
              <a:t>Supone investigar las causas de las variaciones</a:t>
            </a:r>
            <a:r>
              <a:rPr lang="es-AR" altLang="es-AR" sz="2000" dirty="0">
                <a:latin typeface="+mj-lt"/>
              </a:rPr>
              <a:t>.</a:t>
            </a:r>
            <a:endParaRPr lang="es-ES" altLang="es-AR" sz="2000" dirty="0">
              <a:latin typeface="+mj-lt"/>
            </a:endParaRPr>
          </a:p>
        </p:txBody>
      </p:sp>
      <p:sp>
        <p:nvSpPr>
          <p:cNvPr id="52233" name="Rectangle 9">
            <a:extLst>
              <a:ext uri="{FF2B5EF4-FFF2-40B4-BE49-F238E27FC236}">
                <a16:creationId xmlns:a16="http://schemas.microsoft.com/office/drawing/2014/main" id="{E2D06127-D495-4EA0-A07E-774DD2D04131}"/>
              </a:ext>
            </a:extLst>
          </p:cNvPr>
          <p:cNvSpPr>
            <a:spLocks noChangeArrowheads="1"/>
          </p:cNvSpPr>
          <p:nvPr/>
        </p:nvSpPr>
        <p:spPr bwMode="auto">
          <a:xfrm>
            <a:off x="1127125" y="3118231"/>
            <a:ext cx="99060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AR" altLang="es-AR" sz="2000" dirty="0">
                <a:latin typeface="+mj-lt"/>
              </a:rPr>
              <a:t> </a:t>
            </a:r>
            <a:r>
              <a:rPr lang="es-ES" altLang="es-AR" sz="2000" dirty="0">
                <a:latin typeface="+mj-lt"/>
              </a:rPr>
              <a:t>Es un instrumento de dirección, ya que en cada momento, cada departamento puede conocer su situación presupuestaria</a:t>
            </a:r>
            <a:r>
              <a:rPr lang="es-AR" altLang="es-AR" sz="2000" dirty="0">
                <a:latin typeface="+mj-lt"/>
              </a:rPr>
              <a:t>.</a:t>
            </a:r>
            <a:endParaRPr lang="es-ES" altLang="es-AR" sz="2000" dirty="0">
              <a:latin typeface="+mj-lt"/>
            </a:endParaRPr>
          </a:p>
        </p:txBody>
      </p:sp>
      <p:sp>
        <p:nvSpPr>
          <p:cNvPr id="52234" name="Rectangle 10">
            <a:extLst>
              <a:ext uri="{FF2B5EF4-FFF2-40B4-BE49-F238E27FC236}">
                <a16:creationId xmlns:a16="http://schemas.microsoft.com/office/drawing/2014/main" id="{E7378C44-7C25-454E-ABF9-A13C4F5CBFF8}"/>
              </a:ext>
            </a:extLst>
          </p:cNvPr>
          <p:cNvSpPr>
            <a:spLocks noChangeArrowheads="1"/>
          </p:cNvSpPr>
          <p:nvPr/>
        </p:nvSpPr>
        <p:spPr bwMode="auto">
          <a:xfrm>
            <a:off x="1127125" y="3912806"/>
            <a:ext cx="9906000" cy="692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AR" altLang="es-AR" sz="2000" dirty="0">
                <a:latin typeface="+mj-lt"/>
              </a:rPr>
              <a:t> </a:t>
            </a:r>
            <a:r>
              <a:rPr lang="es-ES" altLang="es-AR" sz="2000" dirty="0">
                <a:latin typeface="+mj-lt"/>
              </a:rPr>
              <a:t>Se consigue racionalizar el proceso de toma de decisiones y el análisis de los resultados</a:t>
            </a:r>
            <a:r>
              <a:rPr lang="es-AR" altLang="es-AR" sz="2000" dirty="0">
                <a:latin typeface="+mj-lt"/>
              </a:rPr>
              <a:t>.</a:t>
            </a:r>
            <a:endParaRPr lang="es-ES" altLang="es-AR" sz="2000" dirty="0">
              <a:latin typeface="+mj-lt"/>
            </a:endParaRPr>
          </a:p>
        </p:txBody>
      </p:sp>
      <p:sp>
        <p:nvSpPr>
          <p:cNvPr id="52235" name="Rectangle 11">
            <a:extLst>
              <a:ext uri="{FF2B5EF4-FFF2-40B4-BE49-F238E27FC236}">
                <a16:creationId xmlns:a16="http://schemas.microsoft.com/office/drawing/2014/main" id="{1FA3710E-ED24-4C6E-80E9-754E242E1FB4}"/>
              </a:ext>
            </a:extLst>
          </p:cNvPr>
          <p:cNvSpPr>
            <a:spLocks noChangeArrowheads="1"/>
          </p:cNvSpPr>
          <p:nvPr/>
        </p:nvSpPr>
        <p:spPr bwMode="auto">
          <a:xfrm>
            <a:off x="1143000" y="4748529"/>
            <a:ext cx="9906000" cy="692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chemeClr val="accent3">
                  <a:lumMod val="50000"/>
                </a:schemeClr>
              </a:buClr>
              <a:buFontTx/>
              <a:buChar char="•"/>
            </a:pPr>
            <a:r>
              <a:rPr lang="es-AR" altLang="es-AR" sz="2000" dirty="0">
                <a:latin typeface="+mj-lt"/>
              </a:rPr>
              <a:t> </a:t>
            </a:r>
            <a:r>
              <a:rPr lang="es-ES" altLang="es-AR" sz="2000" dirty="0">
                <a:latin typeface="+mj-lt"/>
              </a:rPr>
              <a:t>Es un medio de precisar responsabilidades de las personas y los departamentos</a:t>
            </a:r>
            <a:r>
              <a:rPr lang="es-AR" altLang="es-AR" sz="2000" dirty="0">
                <a:latin typeface="+mj-lt"/>
              </a:rPr>
              <a:t>.</a:t>
            </a:r>
            <a:endParaRPr lang="es-ES" altLang="es-AR" sz="2000" dirty="0">
              <a:latin typeface="+mj-lt"/>
            </a:endParaRPr>
          </a:p>
        </p:txBody>
      </p:sp>
      <p:sp>
        <p:nvSpPr>
          <p:cNvPr id="9" name="8 CuadroTexto">
            <a:extLst>
              <a:ext uri="{FF2B5EF4-FFF2-40B4-BE49-F238E27FC236}">
                <a16:creationId xmlns:a16="http://schemas.microsoft.com/office/drawing/2014/main" id="{4A74C3B7-0B43-482E-9AFD-0474C1132C82}"/>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44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3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3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3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23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52230" grpId="0"/>
      <p:bldP spid="52232" grpId="0"/>
      <p:bldP spid="52233" grpId="0"/>
      <p:bldP spid="52234" grpId="0"/>
      <p:bldP spid="522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Text Box 4">
            <a:extLst>
              <a:ext uri="{FF2B5EF4-FFF2-40B4-BE49-F238E27FC236}">
                <a16:creationId xmlns:a16="http://schemas.microsoft.com/office/drawing/2014/main" id="{4D7ED2CA-E42B-47DA-A553-5511642AD3A3}"/>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INFORMES DE OPERACIÓN</a:t>
            </a:r>
          </a:p>
        </p:txBody>
      </p:sp>
      <p:sp>
        <p:nvSpPr>
          <p:cNvPr id="57349" name="Rectangle 5">
            <a:extLst>
              <a:ext uri="{FF2B5EF4-FFF2-40B4-BE49-F238E27FC236}">
                <a16:creationId xmlns:a16="http://schemas.microsoft.com/office/drawing/2014/main" id="{371442DC-E122-44A3-8DFC-08793E9C7BB8}"/>
              </a:ext>
            </a:extLst>
          </p:cNvPr>
          <p:cNvSpPr>
            <a:spLocks noChangeArrowheads="1"/>
          </p:cNvSpPr>
          <p:nvPr/>
        </p:nvSpPr>
        <p:spPr bwMode="auto">
          <a:xfrm>
            <a:off x="1063626" y="1494157"/>
            <a:ext cx="9777413" cy="3397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Informes de Rutina</a:t>
            </a:r>
            <a:r>
              <a:rPr lang="es-ES" altLang="es-AR" sz="2000" dirty="0">
                <a:latin typeface="+mj-lt"/>
              </a:rPr>
              <a:t>: </a:t>
            </a:r>
          </a:p>
          <a:p>
            <a:pPr algn="just" eaLnBrk="1" hangingPunct="1">
              <a:spcBef>
                <a:spcPct val="20000"/>
              </a:spcBef>
            </a:pPr>
            <a:r>
              <a:rPr lang="es-ES" altLang="es-AR" sz="2000" b="1" dirty="0">
                <a:latin typeface="+mj-lt"/>
              </a:rPr>
              <a:t>Se producen con cierta periodicidad</a:t>
            </a:r>
            <a:r>
              <a:rPr lang="es-ES" altLang="es-AR" sz="2000" dirty="0">
                <a:latin typeface="+mj-lt"/>
              </a:rPr>
              <a:t>, en este caso similar a la temporalidad con que se realiza el control. Por lo tanto, se generan con distinta frecuencia atendiendo a las distintas responsabilidades asignadas a los miembros de la organización elegidos para dirigir, son muy frecuentes en la base de la pirámide que forma habitualmente el organigrama de la empresa, dado que se gestiona con un horizonte temporal de corto plazo, lo cual permite realizar las correcciones a tiempo, en la medida que la gestión involucra el mediano y el largo plazo los informes de rutina se hacen menos frecuentes, respondiendo a la temporalidad mencionada anteriormente.</a:t>
            </a:r>
          </a:p>
        </p:txBody>
      </p:sp>
      <p:sp>
        <p:nvSpPr>
          <p:cNvPr id="4" name="3 CuadroTexto">
            <a:extLst>
              <a:ext uri="{FF2B5EF4-FFF2-40B4-BE49-F238E27FC236}">
                <a16:creationId xmlns:a16="http://schemas.microsoft.com/office/drawing/2014/main" id="{645E87F5-3038-4287-9B1F-4E32EC45415E}"/>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45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Text Box 4">
            <a:extLst>
              <a:ext uri="{FF2B5EF4-FFF2-40B4-BE49-F238E27FC236}">
                <a16:creationId xmlns:a16="http://schemas.microsoft.com/office/drawing/2014/main" id="{C8F4CAB3-8F6E-4A59-B274-F2CC35DC0C11}"/>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INFORMES DE OPERACIÓN</a:t>
            </a:r>
          </a:p>
        </p:txBody>
      </p:sp>
      <p:sp>
        <p:nvSpPr>
          <p:cNvPr id="58373" name="Rectangle 5">
            <a:extLst>
              <a:ext uri="{FF2B5EF4-FFF2-40B4-BE49-F238E27FC236}">
                <a16:creationId xmlns:a16="http://schemas.microsoft.com/office/drawing/2014/main" id="{4B82E745-5EB3-4F6D-AE23-00FC4F07A068}"/>
              </a:ext>
            </a:extLst>
          </p:cNvPr>
          <p:cNvSpPr>
            <a:spLocks noChangeArrowheads="1"/>
          </p:cNvSpPr>
          <p:nvPr/>
        </p:nvSpPr>
        <p:spPr bwMode="auto">
          <a:xfrm>
            <a:off x="1200151" y="1082676"/>
            <a:ext cx="9777413"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Informes de Excepción</a:t>
            </a:r>
            <a:r>
              <a:rPr lang="es-ES" altLang="es-AR" sz="2000" dirty="0">
                <a:latin typeface="+mj-lt"/>
              </a:rPr>
              <a:t>: </a:t>
            </a:r>
          </a:p>
          <a:p>
            <a:pPr algn="just" eaLnBrk="1" hangingPunct="1">
              <a:spcBef>
                <a:spcPct val="20000"/>
              </a:spcBef>
            </a:pPr>
            <a:r>
              <a:rPr lang="es-ES" altLang="es-AR" sz="2000" dirty="0">
                <a:latin typeface="+mj-lt"/>
              </a:rPr>
              <a:t>Se elaboran cuando el estudio de los resultados del control pone de manifiesto desvíos importantes o cuando ocurren situaciones que ponen en riesgo el desarrollo normal de las actividades, es decir, que </a:t>
            </a:r>
            <a:r>
              <a:rPr lang="es-ES" altLang="es-AR" sz="2000" b="1" dirty="0">
                <a:latin typeface="+mj-lt"/>
              </a:rPr>
              <a:t>se elabora en situaciones excepcionales </a:t>
            </a:r>
            <a:r>
              <a:rPr lang="es-ES" altLang="es-AR" sz="2000" dirty="0">
                <a:latin typeface="+mj-lt"/>
              </a:rPr>
              <a:t>y por lo tanto debe estar dirigido a la máxima autoridad presente en la empresa en ese momento, para que tome las medidas correctivas desde la perspectiva más conveniente para la organización.</a:t>
            </a:r>
          </a:p>
          <a:p>
            <a:pPr algn="just" eaLnBrk="1" hangingPunct="1">
              <a:spcBef>
                <a:spcPct val="20000"/>
              </a:spcBef>
            </a:pPr>
            <a:r>
              <a:rPr lang="es-ES" altLang="es-AR" sz="2000" dirty="0">
                <a:latin typeface="+mj-lt"/>
              </a:rPr>
              <a:t>Cuando no hay variaciones significativas, un informe de excepción no debe producirse, en cambio, un informe de rutina debe realizarse existan o no desvíos, por el mero cumplimiento de los períodos establecidos en el control.</a:t>
            </a:r>
          </a:p>
        </p:txBody>
      </p:sp>
      <p:sp>
        <p:nvSpPr>
          <p:cNvPr id="4" name="3 CuadroTexto">
            <a:extLst>
              <a:ext uri="{FF2B5EF4-FFF2-40B4-BE49-F238E27FC236}">
                <a16:creationId xmlns:a16="http://schemas.microsoft.com/office/drawing/2014/main" id="{F5973D29-4B4E-4960-9BBF-C30CC2DF2605}"/>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46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Text Box 4">
            <a:extLst>
              <a:ext uri="{FF2B5EF4-FFF2-40B4-BE49-F238E27FC236}">
                <a16:creationId xmlns:a16="http://schemas.microsoft.com/office/drawing/2014/main" id="{3851E0FA-3AAE-4BF9-8E30-B625955B9DD4}"/>
              </a:ext>
            </a:extLst>
          </p:cNvPr>
          <p:cNvSpPr txBox="1">
            <a:spLocks noChangeArrowheads="1"/>
          </p:cNvSpPr>
          <p:nvPr/>
        </p:nvSpPr>
        <p:spPr bwMode="auto">
          <a:xfrm>
            <a:off x="1200150" y="188913"/>
            <a:ext cx="941863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s-MX" altLang="es-AR" sz="3600" b="1" dirty="0">
                <a:solidFill>
                  <a:schemeClr val="tx1">
                    <a:lumMod val="75000"/>
                    <a:lumOff val="25000"/>
                  </a:schemeClr>
                </a:solidFill>
                <a:effectLst>
                  <a:outerShdw blurRad="38100" dist="38100" dir="2700000" algn="tl">
                    <a:srgbClr val="C0C0C0"/>
                  </a:outerShdw>
                </a:effectLst>
                <a:latin typeface="+mj-lt"/>
              </a:rPr>
              <a:t>CONTENIDO DE LOS INFORMES</a:t>
            </a:r>
          </a:p>
        </p:txBody>
      </p:sp>
      <p:sp>
        <p:nvSpPr>
          <p:cNvPr id="59397" name="Rectangle 5">
            <a:extLst>
              <a:ext uri="{FF2B5EF4-FFF2-40B4-BE49-F238E27FC236}">
                <a16:creationId xmlns:a16="http://schemas.microsoft.com/office/drawing/2014/main" id="{CCB532C5-3E96-4322-AF51-33AD85A2A72D}"/>
              </a:ext>
            </a:extLst>
          </p:cNvPr>
          <p:cNvSpPr>
            <a:spLocks noChangeArrowheads="1"/>
          </p:cNvSpPr>
          <p:nvPr/>
        </p:nvSpPr>
        <p:spPr bwMode="auto">
          <a:xfrm>
            <a:off x="1200151" y="1154115"/>
            <a:ext cx="9777413" cy="1461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Informes cuantitativos</a:t>
            </a:r>
            <a:r>
              <a:rPr lang="es-ES" altLang="es-AR" sz="2000" dirty="0">
                <a:latin typeface="+mj-lt"/>
              </a:rPr>
              <a:t>: </a:t>
            </a:r>
          </a:p>
          <a:p>
            <a:pPr algn="just" eaLnBrk="1" hangingPunct="1">
              <a:spcBef>
                <a:spcPct val="20000"/>
              </a:spcBef>
            </a:pPr>
            <a:r>
              <a:rPr lang="es-ES" altLang="es-AR" sz="2000" dirty="0">
                <a:latin typeface="+mj-lt"/>
              </a:rPr>
              <a:t>Se deberán presentar </a:t>
            </a:r>
            <a:r>
              <a:rPr lang="es-ES" altLang="es-AR" sz="2000" b="1" dirty="0">
                <a:latin typeface="+mj-lt"/>
              </a:rPr>
              <a:t>cifras presupuestadas frente a las reales</a:t>
            </a:r>
            <a:r>
              <a:rPr lang="es-ES" altLang="es-AR" sz="2000" dirty="0">
                <a:latin typeface="+mj-lt"/>
              </a:rPr>
              <a:t>. </a:t>
            </a:r>
          </a:p>
          <a:p>
            <a:pPr algn="just">
              <a:spcBef>
                <a:spcPct val="20000"/>
              </a:spcBef>
            </a:pPr>
            <a:r>
              <a:rPr lang="es-ES" altLang="es-AR" sz="2000" dirty="0">
                <a:latin typeface="+mj-lt"/>
              </a:rPr>
              <a:t>Acompañado con los desvíos, porcentajes y datos complementarios que ilustren mejor la situación.</a:t>
            </a:r>
          </a:p>
        </p:txBody>
      </p:sp>
      <p:sp>
        <p:nvSpPr>
          <p:cNvPr id="59398" name="Rectangle 6">
            <a:extLst>
              <a:ext uri="{FF2B5EF4-FFF2-40B4-BE49-F238E27FC236}">
                <a16:creationId xmlns:a16="http://schemas.microsoft.com/office/drawing/2014/main" id="{7630FC55-36DA-4D4D-8170-A2AEA7157B33}"/>
              </a:ext>
            </a:extLst>
          </p:cNvPr>
          <p:cNvSpPr>
            <a:spLocks noChangeArrowheads="1"/>
          </p:cNvSpPr>
          <p:nvPr/>
        </p:nvSpPr>
        <p:spPr bwMode="auto">
          <a:xfrm>
            <a:off x="1200151" y="2954338"/>
            <a:ext cx="9777413" cy="2376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4288">
              <a:defRPr>
                <a:solidFill>
                  <a:schemeClr val="tx1"/>
                </a:solidFill>
                <a:latin typeface="Arial" panose="020B0604020202020204" pitchFamily="34" charset="0"/>
                <a:cs typeface="Arial" panose="020B0604020202020204" pitchFamily="34" charset="0"/>
              </a:defRPr>
            </a:lvl1pPr>
            <a:lvl2pPr marL="1423988" indent="-533400">
              <a:defRPr>
                <a:solidFill>
                  <a:schemeClr val="tx1"/>
                </a:solidFill>
                <a:latin typeface="Arial" panose="020B0604020202020204" pitchFamily="34" charset="0"/>
                <a:cs typeface="Arial" panose="020B0604020202020204" pitchFamily="34" charset="0"/>
              </a:defRPr>
            </a:lvl2pPr>
            <a:lvl3pPr marL="1987550" indent="-457200">
              <a:defRPr>
                <a:solidFill>
                  <a:schemeClr val="tx1"/>
                </a:solidFill>
                <a:latin typeface="Arial" panose="020B0604020202020204" pitchFamily="34" charset="0"/>
                <a:cs typeface="Arial" panose="020B0604020202020204" pitchFamily="34" charset="0"/>
              </a:defRPr>
            </a:lvl3pPr>
            <a:lvl4pPr marL="2547938" indent="-381000">
              <a:defRPr>
                <a:solidFill>
                  <a:schemeClr val="tx1"/>
                </a:solidFill>
                <a:latin typeface="Arial" panose="020B0604020202020204" pitchFamily="34" charset="0"/>
                <a:cs typeface="Arial" panose="020B0604020202020204" pitchFamily="34" charset="0"/>
              </a:defRPr>
            </a:lvl4pPr>
            <a:lvl5pPr marL="3108325" indent="-381000">
              <a:defRPr>
                <a:solidFill>
                  <a:schemeClr val="tx1"/>
                </a:solidFill>
                <a:latin typeface="Arial" panose="020B0604020202020204" pitchFamily="34" charset="0"/>
                <a:cs typeface="Arial" panose="020B0604020202020204" pitchFamily="34" charset="0"/>
              </a:defRPr>
            </a:lvl5pPr>
            <a:lvl6pPr marL="35655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40227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44799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937125" indent="-381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latin typeface="+mj-lt"/>
              </a:rPr>
              <a:t>Informes orientados</a:t>
            </a:r>
            <a:r>
              <a:rPr lang="es-ES" altLang="es-AR" sz="2000" dirty="0">
                <a:latin typeface="+mj-lt"/>
              </a:rPr>
              <a:t>: </a:t>
            </a:r>
          </a:p>
          <a:p>
            <a:pPr algn="just" eaLnBrk="1" hangingPunct="1">
              <a:spcBef>
                <a:spcPct val="20000"/>
              </a:spcBef>
            </a:pPr>
            <a:r>
              <a:rPr lang="es-ES" altLang="es-AR" sz="2000" b="1" dirty="0">
                <a:latin typeface="+mj-lt"/>
              </a:rPr>
              <a:t>No sólo se incluyen datos, desvíos y porcentajes, sino comentarios sobre la situación y análisis de las variaciones. </a:t>
            </a:r>
          </a:p>
          <a:p>
            <a:pPr algn="just" eaLnBrk="1" hangingPunct="1">
              <a:spcBef>
                <a:spcPct val="20000"/>
              </a:spcBef>
            </a:pPr>
            <a:r>
              <a:rPr lang="es-ES" altLang="es-AR" sz="2000" dirty="0">
                <a:latin typeface="+mj-lt"/>
              </a:rPr>
              <a:t>El responsable de dicho control emite juicios sobre los desvíos, los justifica o los pone de manifiesto, evitando una posterior solicitud de justificación, ya que pueden realizarse directamente o luego de una reunión con cada responsable de gestión. </a:t>
            </a:r>
          </a:p>
        </p:txBody>
      </p:sp>
      <p:sp>
        <p:nvSpPr>
          <p:cNvPr id="5" name="4 CuadroTexto">
            <a:extLst>
              <a:ext uri="{FF2B5EF4-FFF2-40B4-BE49-F238E27FC236}">
                <a16:creationId xmlns:a16="http://schemas.microsoft.com/office/drawing/2014/main" id="{81B9E022-7FB6-43FD-A3F2-44DD3652FFBB}"/>
              </a:ext>
            </a:extLst>
          </p:cNvPr>
          <p:cNvSpPr txBox="1"/>
          <p:nvPr/>
        </p:nvSpPr>
        <p:spPr>
          <a:xfrm>
            <a:off x="4721226" y="6276975"/>
            <a:ext cx="6119813" cy="323850"/>
          </a:xfrm>
          <a:prstGeom prst="rect">
            <a:avLst/>
          </a:prstGeom>
          <a:solidFill>
            <a:schemeClr val="bg1"/>
          </a:solidFill>
        </p:spPr>
        <p:txBody>
          <a:bodyPr>
            <a:spAutoFit/>
          </a:bodyPr>
          <a:lstStyle/>
          <a:p>
            <a:pPr algn="r" eaLnBrk="1" hangingPunct="1">
              <a:defRPr/>
            </a:pPr>
            <a:r>
              <a:rPr lang="es-AR" sz="1500" b="1" dirty="0">
                <a:latin typeface="+mj-lt"/>
              </a:rPr>
              <a:t>47                                          Sistema Presupuestario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p:bldP spid="59398" grpId="0"/>
    </p:bldLst>
  </p:timing>
</p:sld>
</file>

<file path=ppt/theme/theme1.xml><?xml version="1.0" encoding="utf-8"?>
<a:theme xmlns:a="http://schemas.openxmlformats.org/drawingml/2006/main" name="Galería">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emplate/>
  <TotalTime>436</TotalTime>
  <Words>5209</Words>
  <Application>Microsoft Office PowerPoint</Application>
  <PresentationFormat>Panorámica</PresentationFormat>
  <Paragraphs>363</Paragraphs>
  <Slides>48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48</vt:i4>
      </vt:variant>
    </vt:vector>
  </HeadingPairs>
  <TitlesOfParts>
    <vt:vector size="52" baseType="lpstr">
      <vt:lpstr>Arial</vt:lpstr>
      <vt:lpstr>Century Gothic</vt:lpstr>
      <vt:lpstr>Times New Roman</vt:lpstr>
      <vt:lpstr>Galería</vt:lpstr>
      <vt:lpstr>Presentación de PowerPoint</vt:lpstr>
      <vt:lpstr>PRESUPUESTO DE LA EMPRESA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gustavo massucco</dc:creator>
  <cp:lastModifiedBy>gustavo massucco</cp:lastModifiedBy>
  <cp:revision>52</cp:revision>
  <dcterms:created xsi:type="dcterms:W3CDTF">2020-10-25T11:25:05Z</dcterms:created>
  <dcterms:modified xsi:type="dcterms:W3CDTF">2022-10-30T23:22:45Z</dcterms:modified>
</cp:coreProperties>
</file>