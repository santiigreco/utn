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8288000" cy="10287000"/>
  <p:notesSz cx="6858000" cy="9144000"/>
  <p:embeddedFontLst>
    <p:embeddedFont>
      <p:font typeface="Calibri" panose="020F0502020204030204" pitchFamily="34" charset="0"/>
      <p:regular r:id="rId44"/>
      <p:bold r:id="rId45"/>
      <p:italic r:id="rId46"/>
      <p:boldItalic r:id="rId47"/>
    </p:embeddedFont>
    <p:embeddedFont>
      <p:font typeface="HK Grotesk" pitchFamily="2" charset="77"/>
      <p:regular r:id="rId48"/>
    </p:embeddedFont>
    <p:embeddedFont>
      <p:font typeface="HK Grotesk Bold" pitchFamily="2" charset="77"/>
      <p:regular r:id="rId49"/>
      <p:bold r:id="rId50"/>
    </p:embeddedFont>
    <p:embeddedFont>
      <p:font typeface="HK Grotesk Light" pitchFamily="2" charset="77"/>
      <p:regular r:id="rId51"/>
    </p:embeddedFont>
    <p:embeddedFont>
      <p:font typeface="HK Grotesk Medium" pitchFamily="2" charset="77"/>
      <p:regular r:id="rId52"/>
    </p:embeddedFont>
    <p:embeddedFont>
      <p:font typeface="HK Grotesk Semi-Bold" pitchFamily="2" charset="77"/>
      <p:regular r:id="rId53"/>
      <p:bold r:id="rId54"/>
    </p:embeddedFont>
    <p:embeddedFont>
      <p:font typeface="Open Sans" panose="020B0606030504020204" pitchFamily="34" charset="0"/>
      <p:regular r:id="rId55"/>
      <p:bold r:id="rId56"/>
      <p:italic r:id="rId57"/>
      <p:boldItalic r:id="rId58"/>
    </p:embeddedFont>
    <p:embeddedFont>
      <p:font typeface="Open Sans Bold" panose="020B0806030504020204" pitchFamily="34" charset="0"/>
      <p:regular r:id="rId59"/>
      <p:bold r:id="rId6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autoAdjust="0"/>
    <p:restoredTop sz="94513" autoAdjust="0"/>
  </p:normalViewPr>
  <p:slideViewPr>
    <p:cSldViewPr>
      <p:cViewPr varScale="1">
        <p:scale>
          <a:sx n="80" d="100"/>
          <a:sy n="80" d="100"/>
        </p:scale>
        <p:origin x="280"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4.fntdata"/><Relationship Id="rId50" Type="http://schemas.openxmlformats.org/officeDocument/2006/relationships/font" Target="fonts/font7.fntdata"/><Relationship Id="rId55" Type="http://schemas.openxmlformats.org/officeDocument/2006/relationships/font" Target="fonts/font12.fntdata"/><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font" Target="fonts/font10.fntdata"/><Relationship Id="rId58" Type="http://schemas.openxmlformats.org/officeDocument/2006/relationships/font" Target="fonts/font15.fntdata"/><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5.fntdata"/><Relationship Id="rId56" Type="http://schemas.openxmlformats.org/officeDocument/2006/relationships/font" Target="fonts/font13.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59"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1.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 Id="rId57" Type="http://schemas.openxmlformats.org/officeDocument/2006/relationships/font" Target="fonts/font1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font" Target="fonts/font9.fntdata"/><Relationship Id="rId60"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10/23/23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10/23/23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10/23/23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10/23/23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10/23/23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10/23/23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10/23/23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svg"/><Relationship Id="rId3" Type="http://schemas.openxmlformats.org/officeDocument/2006/relationships/image" Target="../media/image18.svg"/><Relationship Id="rId7" Type="http://schemas.openxmlformats.org/officeDocument/2006/relationships/image" Target="../media/image22.svg"/><Relationship Id="rId12" Type="http://schemas.openxmlformats.org/officeDocument/2006/relationships/image" Target="../media/image27.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svg"/><Relationship Id="rId5" Type="http://schemas.openxmlformats.org/officeDocument/2006/relationships/image" Target="../media/image20.sv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581859" y="4139126"/>
            <a:ext cx="6525551" cy="5445869"/>
          </a:xfrm>
          <a:custGeom>
            <a:avLst/>
            <a:gdLst/>
            <a:ahLst/>
            <a:cxnLst/>
            <a:rect l="l" t="t" r="r" b="b"/>
            <a:pathLst>
              <a:path w="6525551" h="5445869">
                <a:moveTo>
                  <a:pt x="0" y="0"/>
                </a:moveTo>
                <a:lnTo>
                  <a:pt x="6525551" y="0"/>
                </a:lnTo>
                <a:lnTo>
                  <a:pt x="6525551" y="5445869"/>
                </a:lnTo>
                <a:lnTo>
                  <a:pt x="0" y="54458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8694617" y="5315183"/>
            <a:ext cx="8564683" cy="940435"/>
          </a:xfrm>
          <a:prstGeom prst="rect">
            <a:avLst/>
          </a:prstGeom>
        </p:spPr>
        <p:txBody>
          <a:bodyPr lIns="0" tIns="0" rIns="0" bIns="0" rtlCol="0" anchor="t">
            <a:spAutoFit/>
          </a:bodyPr>
          <a:lstStyle/>
          <a:p>
            <a:pPr algn="r">
              <a:lnSpc>
                <a:spcPts val="3814"/>
              </a:lnSpc>
            </a:pPr>
            <a:r>
              <a:rPr lang="en-US" sz="2724">
                <a:solidFill>
                  <a:srgbClr val="FFFFFF"/>
                </a:solidFill>
                <a:latin typeface="HK Grotesk"/>
              </a:rPr>
              <a:t>Nicolás Abadía, Agustina Fishman, Bruno Isola, Tomás Infantino,  Sofía Sampedro y Felipe Sarmiento</a:t>
            </a:r>
          </a:p>
        </p:txBody>
      </p:sp>
      <p:sp>
        <p:nvSpPr>
          <p:cNvPr id="4" name="TextBox 4"/>
          <p:cNvSpPr txBox="1"/>
          <p:nvPr/>
        </p:nvSpPr>
        <p:spPr>
          <a:xfrm>
            <a:off x="4533369" y="2099150"/>
            <a:ext cx="12725931" cy="3061335"/>
          </a:xfrm>
          <a:prstGeom prst="rect">
            <a:avLst/>
          </a:prstGeom>
        </p:spPr>
        <p:txBody>
          <a:bodyPr lIns="0" tIns="0" rIns="0" bIns="0" rtlCol="0" anchor="t">
            <a:spAutoFit/>
          </a:bodyPr>
          <a:lstStyle/>
          <a:p>
            <a:pPr algn="r">
              <a:lnSpc>
                <a:spcPts val="11775"/>
              </a:lnSpc>
            </a:pPr>
            <a:r>
              <a:rPr lang="en-US" sz="11775">
                <a:solidFill>
                  <a:srgbClr val="009490"/>
                </a:solidFill>
                <a:latin typeface="HK Grotesk Bold"/>
              </a:rPr>
              <a:t>Sistema Presupuestario</a:t>
            </a:r>
          </a:p>
        </p:txBody>
      </p:sp>
      <p:sp>
        <p:nvSpPr>
          <p:cNvPr id="5" name="TextBox 5"/>
          <p:cNvSpPr txBox="1"/>
          <p:nvPr/>
        </p:nvSpPr>
        <p:spPr>
          <a:xfrm>
            <a:off x="12383502" y="1409403"/>
            <a:ext cx="4403435" cy="249298"/>
          </a:xfrm>
          <a:prstGeom prst="rect">
            <a:avLst/>
          </a:prstGeom>
        </p:spPr>
        <p:txBody>
          <a:bodyPr lIns="0" tIns="0" rIns="0" bIns="0" rtlCol="0" anchor="t">
            <a:spAutoFit/>
          </a:bodyPr>
          <a:lstStyle/>
          <a:p>
            <a:pPr algn="r">
              <a:lnSpc>
                <a:spcPts val="1982"/>
              </a:lnSpc>
            </a:pPr>
            <a:r>
              <a:rPr lang="en-US" sz="1725" spc="207">
                <a:solidFill>
                  <a:srgbClr val="FFFFFF"/>
                </a:solidFill>
                <a:latin typeface="HK Grotesk Bold"/>
              </a:rPr>
              <a:t>COSTOS Y PRESUPUESTOS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5779609" y="3205129"/>
            <a:ext cx="1551742" cy="679450"/>
          </a:xfrm>
          <a:prstGeom prst="rect">
            <a:avLst/>
          </a:prstGeom>
        </p:spPr>
        <p:txBody>
          <a:bodyPr lIns="0" tIns="0" rIns="0" bIns="0" rtlCol="0" anchor="t">
            <a:spAutoFit/>
          </a:bodyPr>
          <a:lstStyle/>
          <a:p>
            <a:pPr algn="ctr">
              <a:lnSpc>
                <a:spcPts val="5599"/>
              </a:lnSpc>
            </a:pPr>
            <a:r>
              <a:rPr lang="en-US" sz="3999">
                <a:solidFill>
                  <a:srgbClr val="FFFFFF"/>
                </a:solidFill>
                <a:latin typeface="HK Grotesk"/>
              </a:rPr>
              <a:t>Integra</a:t>
            </a:r>
          </a:p>
        </p:txBody>
      </p:sp>
      <p:sp>
        <p:nvSpPr>
          <p:cNvPr id="3" name="TextBox 3"/>
          <p:cNvSpPr txBox="1"/>
          <p:nvPr/>
        </p:nvSpPr>
        <p:spPr>
          <a:xfrm>
            <a:off x="5536840" y="6396565"/>
            <a:ext cx="2037278" cy="679450"/>
          </a:xfrm>
          <a:prstGeom prst="rect">
            <a:avLst/>
          </a:prstGeom>
        </p:spPr>
        <p:txBody>
          <a:bodyPr lIns="0" tIns="0" rIns="0" bIns="0" rtlCol="0" anchor="t">
            <a:spAutoFit/>
          </a:bodyPr>
          <a:lstStyle/>
          <a:p>
            <a:pPr algn="ctr">
              <a:lnSpc>
                <a:spcPts val="5599"/>
              </a:lnSpc>
            </a:pPr>
            <a:r>
              <a:rPr lang="en-US" sz="3999">
                <a:solidFill>
                  <a:srgbClr val="FFFFFF"/>
                </a:solidFill>
                <a:latin typeface="HK Grotesk"/>
              </a:rPr>
              <a:t>Coordina</a:t>
            </a:r>
          </a:p>
        </p:txBody>
      </p:sp>
      <p:sp>
        <p:nvSpPr>
          <p:cNvPr id="4" name="Freeform 4"/>
          <p:cNvSpPr/>
          <p:nvPr/>
        </p:nvSpPr>
        <p:spPr>
          <a:xfrm>
            <a:off x="15105238" y="3609514"/>
            <a:ext cx="1194834" cy="1194834"/>
          </a:xfrm>
          <a:custGeom>
            <a:avLst/>
            <a:gdLst/>
            <a:ahLst/>
            <a:cxnLst/>
            <a:rect l="l" t="t" r="r" b="b"/>
            <a:pathLst>
              <a:path w="1194834" h="1194834">
                <a:moveTo>
                  <a:pt x="0" y="0"/>
                </a:moveTo>
                <a:lnTo>
                  <a:pt x="1194834" y="0"/>
                </a:lnTo>
                <a:lnTo>
                  <a:pt x="1194834" y="1194834"/>
                </a:lnTo>
                <a:lnTo>
                  <a:pt x="0" y="11948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AutoShape 5"/>
          <p:cNvSpPr/>
          <p:nvPr/>
        </p:nvSpPr>
        <p:spPr>
          <a:xfrm flipV="1">
            <a:off x="3818274" y="3582955"/>
            <a:ext cx="1961334" cy="1575021"/>
          </a:xfrm>
          <a:prstGeom prst="line">
            <a:avLst/>
          </a:prstGeom>
          <a:ln w="66675" cap="flat">
            <a:solidFill>
              <a:srgbClr val="FFFFFF"/>
            </a:solidFill>
            <a:prstDash val="solid"/>
            <a:headEnd type="none" w="sm" len="sm"/>
            <a:tailEnd type="arrow" w="med" len="sm"/>
          </a:ln>
        </p:spPr>
      </p:sp>
      <p:sp>
        <p:nvSpPr>
          <p:cNvPr id="6" name="AutoShape 6"/>
          <p:cNvSpPr/>
          <p:nvPr/>
        </p:nvSpPr>
        <p:spPr>
          <a:xfrm>
            <a:off x="3818274" y="5157976"/>
            <a:ext cx="1718566" cy="1616414"/>
          </a:xfrm>
          <a:prstGeom prst="line">
            <a:avLst/>
          </a:prstGeom>
          <a:ln w="66675" cap="flat">
            <a:solidFill>
              <a:srgbClr val="FFFFFF"/>
            </a:solidFill>
            <a:prstDash val="solid"/>
            <a:headEnd type="none" w="sm" len="sm"/>
            <a:tailEnd type="arrow" w="med" len="sm"/>
          </a:ln>
        </p:spPr>
      </p:sp>
      <p:sp>
        <p:nvSpPr>
          <p:cNvPr id="7" name="AutoShape 7"/>
          <p:cNvSpPr/>
          <p:nvPr/>
        </p:nvSpPr>
        <p:spPr>
          <a:xfrm flipV="1">
            <a:off x="7574119" y="5157976"/>
            <a:ext cx="1721554" cy="1616414"/>
          </a:xfrm>
          <a:prstGeom prst="line">
            <a:avLst/>
          </a:prstGeom>
          <a:ln w="66675" cap="flat">
            <a:solidFill>
              <a:srgbClr val="FFFFFF"/>
            </a:solidFill>
            <a:prstDash val="solid"/>
            <a:headEnd type="none" w="sm" len="sm"/>
            <a:tailEnd type="arrow" w="med" len="sm"/>
          </a:ln>
        </p:spPr>
      </p:sp>
      <p:sp>
        <p:nvSpPr>
          <p:cNvPr id="8" name="AutoShape 8"/>
          <p:cNvSpPr/>
          <p:nvPr/>
        </p:nvSpPr>
        <p:spPr>
          <a:xfrm>
            <a:off x="7331350" y="3582955"/>
            <a:ext cx="1964322" cy="1575021"/>
          </a:xfrm>
          <a:prstGeom prst="line">
            <a:avLst/>
          </a:prstGeom>
          <a:ln w="66675" cap="flat">
            <a:solidFill>
              <a:srgbClr val="FFFFFF"/>
            </a:solidFill>
            <a:prstDash val="solid"/>
            <a:headEnd type="none" w="sm" len="sm"/>
            <a:tailEnd type="arrow" w="med" len="sm"/>
          </a:ln>
        </p:spPr>
      </p:sp>
      <p:sp>
        <p:nvSpPr>
          <p:cNvPr id="9" name="AutoShape 9"/>
          <p:cNvSpPr/>
          <p:nvPr/>
        </p:nvSpPr>
        <p:spPr>
          <a:xfrm flipV="1">
            <a:off x="12050778" y="5133692"/>
            <a:ext cx="2626153" cy="24284"/>
          </a:xfrm>
          <a:prstGeom prst="line">
            <a:avLst/>
          </a:prstGeom>
          <a:ln w="66675" cap="flat">
            <a:solidFill>
              <a:srgbClr val="FFFFFF"/>
            </a:solidFill>
            <a:prstDash val="solid"/>
            <a:headEnd type="none" w="sm" len="sm"/>
            <a:tailEnd type="arrow" w="med" len="sm"/>
          </a:ln>
        </p:spPr>
      </p:sp>
      <p:sp>
        <p:nvSpPr>
          <p:cNvPr id="10" name="Freeform 10"/>
          <p:cNvSpPr/>
          <p:nvPr/>
        </p:nvSpPr>
        <p:spPr>
          <a:xfrm>
            <a:off x="9822258" y="6531492"/>
            <a:ext cx="1641358" cy="1742755"/>
          </a:xfrm>
          <a:custGeom>
            <a:avLst/>
            <a:gdLst/>
            <a:ahLst/>
            <a:cxnLst/>
            <a:rect l="l" t="t" r="r" b="b"/>
            <a:pathLst>
              <a:path w="1641358" h="1742755">
                <a:moveTo>
                  <a:pt x="0" y="0"/>
                </a:moveTo>
                <a:lnTo>
                  <a:pt x="1641359" y="0"/>
                </a:lnTo>
                <a:lnTo>
                  <a:pt x="1641359" y="1742755"/>
                </a:lnTo>
                <a:lnTo>
                  <a:pt x="0" y="174275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a:off x="5901262" y="4265446"/>
            <a:ext cx="1308436" cy="1889438"/>
          </a:xfrm>
          <a:custGeom>
            <a:avLst/>
            <a:gdLst/>
            <a:ahLst/>
            <a:cxnLst/>
            <a:rect l="l" t="t" r="r" b="b"/>
            <a:pathLst>
              <a:path w="1308436" h="1889438">
                <a:moveTo>
                  <a:pt x="0" y="0"/>
                </a:moveTo>
                <a:lnTo>
                  <a:pt x="1308435" y="0"/>
                </a:lnTo>
                <a:lnTo>
                  <a:pt x="1308435" y="1889437"/>
                </a:lnTo>
                <a:lnTo>
                  <a:pt x="0" y="18894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a:off x="1028700" y="3536130"/>
            <a:ext cx="2789574" cy="3243691"/>
          </a:xfrm>
          <a:custGeom>
            <a:avLst/>
            <a:gdLst/>
            <a:ahLst/>
            <a:cxnLst/>
            <a:rect l="l" t="t" r="r" b="b"/>
            <a:pathLst>
              <a:path w="2789574" h="3243691">
                <a:moveTo>
                  <a:pt x="0" y="0"/>
                </a:moveTo>
                <a:lnTo>
                  <a:pt x="2789574" y="0"/>
                </a:lnTo>
                <a:lnTo>
                  <a:pt x="2789574" y="3243691"/>
                </a:lnTo>
                <a:lnTo>
                  <a:pt x="0" y="324369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3" name="TextBox 13"/>
          <p:cNvSpPr txBox="1"/>
          <p:nvPr/>
        </p:nvSpPr>
        <p:spPr>
          <a:xfrm>
            <a:off x="14676931" y="4755867"/>
            <a:ext cx="2051447" cy="679450"/>
          </a:xfrm>
          <a:prstGeom prst="rect">
            <a:avLst/>
          </a:prstGeom>
        </p:spPr>
        <p:txBody>
          <a:bodyPr lIns="0" tIns="0" rIns="0" bIns="0" rtlCol="0" anchor="t">
            <a:spAutoFit/>
          </a:bodyPr>
          <a:lstStyle/>
          <a:p>
            <a:pPr algn="ctr">
              <a:lnSpc>
                <a:spcPts val="5599"/>
              </a:lnSpc>
            </a:pPr>
            <a:r>
              <a:rPr lang="en-US" sz="3999">
                <a:solidFill>
                  <a:srgbClr val="FFFFFF"/>
                </a:solidFill>
                <a:latin typeface="HK Grotesk"/>
              </a:rPr>
              <a:t>Objetivos</a:t>
            </a:r>
          </a:p>
        </p:txBody>
      </p:sp>
      <p:sp>
        <p:nvSpPr>
          <p:cNvPr id="14" name="TextBox 14"/>
          <p:cNvSpPr txBox="1"/>
          <p:nvPr/>
        </p:nvSpPr>
        <p:spPr>
          <a:xfrm>
            <a:off x="3818274" y="304806"/>
            <a:ext cx="10651451" cy="1295389"/>
          </a:xfrm>
          <a:prstGeom prst="rect">
            <a:avLst/>
          </a:prstGeom>
        </p:spPr>
        <p:txBody>
          <a:bodyPr lIns="0" tIns="0" rIns="0" bIns="0" rtlCol="0" anchor="t">
            <a:spAutoFit/>
          </a:bodyPr>
          <a:lstStyle/>
          <a:p>
            <a:pPr algn="ctr">
              <a:lnSpc>
                <a:spcPts val="10500"/>
              </a:lnSpc>
            </a:pPr>
            <a:r>
              <a:rPr lang="en-US" sz="7500">
                <a:solidFill>
                  <a:srgbClr val="009490"/>
                </a:solidFill>
                <a:latin typeface="HK Grotesk Bold"/>
              </a:rPr>
              <a:t>¿Qué es un presupuesto?</a:t>
            </a:r>
          </a:p>
        </p:txBody>
      </p:sp>
      <p:sp>
        <p:nvSpPr>
          <p:cNvPr id="15" name="TextBox 15"/>
          <p:cNvSpPr txBox="1"/>
          <p:nvPr/>
        </p:nvSpPr>
        <p:spPr>
          <a:xfrm>
            <a:off x="9295672" y="4075301"/>
            <a:ext cx="2755106" cy="2089150"/>
          </a:xfrm>
          <a:prstGeom prst="rect">
            <a:avLst/>
          </a:prstGeom>
        </p:spPr>
        <p:txBody>
          <a:bodyPr lIns="0" tIns="0" rIns="0" bIns="0" rtlCol="0" anchor="t">
            <a:spAutoFit/>
          </a:bodyPr>
          <a:lstStyle/>
          <a:p>
            <a:pPr algn="ctr">
              <a:lnSpc>
                <a:spcPts val="5599"/>
              </a:lnSpc>
            </a:pPr>
            <a:r>
              <a:rPr lang="en-US" sz="3999">
                <a:solidFill>
                  <a:srgbClr val="FFFFFF"/>
                </a:solidFill>
                <a:latin typeface="HK Grotesk"/>
              </a:rPr>
              <a:t>Operaciones</a:t>
            </a:r>
          </a:p>
          <a:p>
            <a:pPr algn="ctr">
              <a:lnSpc>
                <a:spcPts val="5599"/>
              </a:lnSpc>
            </a:pPr>
            <a:r>
              <a:rPr lang="en-US" sz="3999">
                <a:solidFill>
                  <a:srgbClr val="FFFFFF"/>
                </a:solidFill>
                <a:latin typeface="HK Grotesk"/>
              </a:rPr>
              <a:t>y</a:t>
            </a:r>
          </a:p>
          <a:p>
            <a:pPr algn="ctr">
              <a:lnSpc>
                <a:spcPts val="5599"/>
              </a:lnSpc>
            </a:pPr>
            <a:r>
              <a:rPr lang="en-US" sz="3999">
                <a:solidFill>
                  <a:srgbClr val="FFFFFF"/>
                </a:solidFill>
                <a:latin typeface="HK Grotesk"/>
              </a:rPr>
              <a:t>Recursos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4126825" y="304800"/>
            <a:ext cx="10034349" cy="1295400"/>
          </a:xfrm>
          <a:prstGeom prst="rect">
            <a:avLst/>
          </a:prstGeom>
        </p:spPr>
        <p:txBody>
          <a:bodyPr lIns="0" tIns="0" rIns="0" bIns="0" rtlCol="0" anchor="t">
            <a:spAutoFit/>
          </a:bodyPr>
          <a:lstStyle/>
          <a:p>
            <a:pPr algn="ctr">
              <a:lnSpc>
                <a:spcPts val="10500"/>
              </a:lnSpc>
            </a:pPr>
            <a:r>
              <a:rPr lang="en-US" sz="7500">
                <a:solidFill>
                  <a:srgbClr val="009490"/>
                </a:solidFill>
                <a:latin typeface="Open Sans Bold"/>
              </a:rPr>
              <a:t>Ciclo de planificación</a:t>
            </a:r>
          </a:p>
        </p:txBody>
      </p:sp>
      <p:sp>
        <p:nvSpPr>
          <p:cNvPr id="3" name="TextBox 3"/>
          <p:cNvSpPr txBox="1"/>
          <p:nvPr/>
        </p:nvSpPr>
        <p:spPr>
          <a:xfrm>
            <a:off x="1489710" y="2909888"/>
            <a:ext cx="7784068" cy="863600"/>
          </a:xfrm>
          <a:prstGeom prst="rect">
            <a:avLst/>
          </a:prstGeom>
        </p:spPr>
        <p:txBody>
          <a:bodyPr lIns="0" tIns="0" rIns="0" bIns="0" rtlCol="0" anchor="t">
            <a:spAutoFit/>
          </a:bodyPr>
          <a:lstStyle/>
          <a:p>
            <a:pPr algn="ctr">
              <a:lnSpc>
                <a:spcPts val="7000"/>
              </a:lnSpc>
            </a:pPr>
            <a:r>
              <a:rPr lang="en-US" sz="5000">
                <a:solidFill>
                  <a:srgbClr val="FFFFFF"/>
                </a:solidFill>
                <a:latin typeface="Open Sans Bold"/>
              </a:rPr>
              <a:t>Planificación estratégica</a:t>
            </a:r>
          </a:p>
        </p:txBody>
      </p:sp>
      <p:sp>
        <p:nvSpPr>
          <p:cNvPr id="4" name="TextBox 4"/>
          <p:cNvSpPr txBox="1"/>
          <p:nvPr/>
        </p:nvSpPr>
        <p:spPr>
          <a:xfrm>
            <a:off x="5613737" y="4659313"/>
            <a:ext cx="7982545" cy="863600"/>
          </a:xfrm>
          <a:prstGeom prst="rect">
            <a:avLst/>
          </a:prstGeom>
        </p:spPr>
        <p:txBody>
          <a:bodyPr lIns="0" tIns="0" rIns="0" bIns="0" rtlCol="0" anchor="t">
            <a:spAutoFit/>
          </a:bodyPr>
          <a:lstStyle/>
          <a:p>
            <a:pPr algn="ctr">
              <a:lnSpc>
                <a:spcPts val="7000"/>
              </a:lnSpc>
            </a:pPr>
            <a:r>
              <a:rPr lang="en-US" sz="5000">
                <a:solidFill>
                  <a:srgbClr val="FFFFFF"/>
                </a:solidFill>
                <a:latin typeface="Open Sans Bold"/>
              </a:rPr>
              <a:t>Planificación operacional</a:t>
            </a:r>
          </a:p>
        </p:txBody>
      </p:sp>
      <p:sp>
        <p:nvSpPr>
          <p:cNvPr id="5" name="TextBox 5"/>
          <p:cNvSpPr txBox="1"/>
          <p:nvPr/>
        </p:nvSpPr>
        <p:spPr>
          <a:xfrm>
            <a:off x="9273778" y="6408737"/>
            <a:ext cx="7524512" cy="863600"/>
          </a:xfrm>
          <a:prstGeom prst="rect">
            <a:avLst/>
          </a:prstGeom>
        </p:spPr>
        <p:txBody>
          <a:bodyPr lIns="0" tIns="0" rIns="0" bIns="0" rtlCol="0" anchor="t">
            <a:spAutoFit/>
          </a:bodyPr>
          <a:lstStyle/>
          <a:p>
            <a:pPr algn="ctr">
              <a:lnSpc>
                <a:spcPts val="7000"/>
              </a:lnSpc>
            </a:pPr>
            <a:r>
              <a:rPr lang="en-US" sz="5000">
                <a:solidFill>
                  <a:srgbClr val="FFFFFF"/>
                </a:solidFill>
                <a:latin typeface="Open Sans Bold"/>
              </a:rPr>
              <a:t>Sistema presupuestario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7547525" y="3482023"/>
            <a:ext cx="3192951" cy="4114800"/>
          </a:xfrm>
          <a:custGeom>
            <a:avLst/>
            <a:gdLst/>
            <a:ahLst/>
            <a:cxnLst/>
            <a:rect l="l" t="t" r="r" b="b"/>
            <a:pathLst>
              <a:path w="3192951" h="4114800">
                <a:moveTo>
                  <a:pt x="0" y="0"/>
                </a:moveTo>
                <a:lnTo>
                  <a:pt x="3192950" y="0"/>
                </a:lnTo>
                <a:lnTo>
                  <a:pt x="319295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6612969" y="304800"/>
            <a:ext cx="5062061" cy="1295400"/>
          </a:xfrm>
          <a:prstGeom prst="rect">
            <a:avLst/>
          </a:prstGeom>
        </p:spPr>
        <p:txBody>
          <a:bodyPr lIns="0" tIns="0" rIns="0" bIns="0" rtlCol="0" anchor="t">
            <a:spAutoFit/>
          </a:bodyPr>
          <a:lstStyle/>
          <a:p>
            <a:pPr algn="ctr">
              <a:lnSpc>
                <a:spcPts val="10500"/>
              </a:lnSpc>
            </a:pPr>
            <a:r>
              <a:rPr lang="en-US" sz="7500">
                <a:solidFill>
                  <a:srgbClr val="009490"/>
                </a:solidFill>
                <a:latin typeface="HK Grotesk Bold"/>
              </a:rPr>
              <a:t>Elaboración</a:t>
            </a:r>
          </a:p>
        </p:txBody>
      </p:sp>
      <p:sp>
        <p:nvSpPr>
          <p:cNvPr id="4" name="TextBox 4"/>
          <p:cNvSpPr txBox="1"/>
          <p:nvPr/>
        </p:nvSpPr>
        <p:spPr>
          <a:xfrm>
            <a:off x="1348145" y="4114800"/>
            <a:ext cx="3816787" cy="2744470"/>
          </a:xfrm>
          <a:prstGeom prst="rect">
            <a:avLst/>
          </a:prstGeom>
        </p:spPr>
        <p:txBody>
          <a:bodyPr lIns="0" tIns="0" rIns="0" bIns="0" rtlCol="0" anchor="t">
            <a:spAutoFit/>
          </a:bodyPr>
          <a:lstStyle/>
          <a:p>
            <a:pPr algn="ctr">
              <a:lnSpc>
                <a:spcPts val="7279"/>
              </a:lnSpc>
            </a:pPr>
            <a:r>
              <a:rPr lang="en-US" sz="5199">
                <a:solidFill>
                  <a:srgbClr val="FFFFFF"/>
                </a:solidFill>
                <a:latin typeface="HK Grotesk Bold"/>
              </a:rPr>
              <a:t>Descendente</a:t>
            </a:r>
          </a:p>
          <a:p>
            <a:pPr algn="ctr">
              <a:lnSpc>
                <a:spcPts val="7279"/>
              </a:lnSpc>
            </a:pPr>
            <a:r>
              <a:rPr lang="en-US" sz="5199">
                <a:solidFill>
                  <a:srgbClr val="FFFFFF"/>
                </a:solidFill>
                <a:latin typeface="HK Grotesk Bold"/>
              </a:rPr>
              <a:t>o</a:t>
            </a:r>
          </a:p>
          <a:p>
            <a:pPr algn="ctr">
              <a:lnSpc>
                <a:spcPts val="7279"/>
              </a:lnSpc>
            </a:pPr>
            <a:r>
              <a:rPr lang="en-US" sz="5199">
                <a:solidFill>
                  <a:srgbClr val="FFFFFF"/>
                </a:solidFill>
                <a:latin typeface="HK Grotesk Bold"/>
              </a:rPr>
              <a:t>Centralizada</a:t>
            </a:r>
          </a:p>
        </p:txBody>
      </p:sp>
      <p:sp>
        <p:nvSpPr>
          <p:cNvPr id="5" name="TextBox 5"/>
          <p:cNvSpPr txBox="1"/>
          <p:nvPr/>
        </p:nvSpPr>
        <p:spPr>
          <a:xfrm>
            <a:off x="13104019" y="4114800"/>
            <a:ext cx="4723447" cy="2744470"/>
          </a:xfrm>
          <a:prstGeom prst="rect">
            <a:avLst/>
          </a:prstGeom>
        </p:spPr>
        <p:txBody>
          <a:bodyPr lIns="0" tIns="0" rIns="0" bIns="0" rtlCol="0" anchor="t">
            <a:spAutoFit/>
          </a:bodyPr>
          <a:lstStyle/>
          <a:p>
            <a:pPr algn="ctr">
              <a:lnSpc>
                <a:spcPts val="7279"/>
              </a:lnSpc>
            </a:pPr>
            <a:r>
              <a:rPr lang="en-US" sz="5199">
                <a:solidFill>
                  <a:srgbClr val="FFFFFF"/>
                </a:solidFill>
                <a:latin typeface="HK Grotesk Bold"/>
              </a:rPr>
              <a:t>Ascendente</a:t>
            </a:r>
          </a:p>
          <a:p>
            <a:pPr algn="ctr">
              <a:lnSpc>
                <a:spcPts val="7279"/>
              </a:lnSpc>
            </a:pPr>
            <a:r>
              <a:rPr lang="en-US" sz="5199">
                <a:solidFill>
                  <a:srgbClr val="FFFFFF"/>
                </a:solidFill>
                <a:latin typeface="HK Grotesk Bold"/>
              </a:rPr>
              <a:t>o</a:t>
            </a:r>
          </a:p>
          <a:p>
            <a:pPr algn="ctr">
              <a:lnSpc>
                <a:spcPts val="7279"/>
              </a:lnSpc>
            </a:pPr>
            <a:r>
              <a:rPr lang="en-US" sz="5199">
                <a:solidFill>
                  <a:srgbClr val="FFFFFF"/>
                </a:solidFill>
                <a:latin typeface="HK Grotesk Bold"/>
              </a:rPr>
              <a:t>Descentralizada</a:t>
            </a:r>
          </a:p>
        </p:txBody>
      </p:sp>
      <p:sp>
        <p:nvSpPr>
          <p:cNvPr id="6" name="AutoShape 6"/>
          <p:cNvSpPr/>
          <p:nvPr/>
        </p:nvSpPr>
        <p:spPr>
          <a:xfrm>
            <a:off x="6346031" y="3482023"/>
            <a:ext cx="0" cy="4114800"/>
          </a:xfrm>
          <a:prstGeom prst="line">
            <a:avLst/>
          </a:prstGeom>
          <a:ln w="95250" cap="flat">
            <a:solidFill>
              <a:srgbClr val="FFFFFF"/>
            </a:solidFill>
            <a:prstDash val="solid"/>
            <a:headEnd type="none" w="sm" len="sm"/>
            <a:tailEnd type="triangle" w="lg" len="med"/>
          </a:ln>
        </p:spPr>
      </p:sp>
      <p:sp>
        <p:nvSpPr>
          <p:cNvPr id="7" name="AutoShape 7"/>
          <p:cNvSpPr/>
          <p:nvPr/>
        </p:nvSpPr>
        <p:spPr>
          <a:xfrm flipV="1">
            <a:off x="11922919" y="3482023"/>
            <a:ext cx="0" cy="4114800"/>
          </a:xfrm>
          <a:prstGeom prst="line">
            <a:avLst/>
          </a:prstGeom>
          <a:ln w="95250" cap="flat">
            <a:solidFill>
              <a:srgbClr val="FFFFFF"/>
            </a:solidFill>
            <a:prstDash val="solid"/>
            <a:headEnd type="none" w="sm" len="sm"/>
            <a:tailEnd type="triangle" w="lg" len="me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697861" y="304800"/>
            <a:ext cx="4892278" cy="1295400"/>
          </a:xfrm>
          <a:prstGeom prst="rect">
            <a:avLst/>
          </a:prstGeom>
        </p:spPr>
        <p:txBody>
          <a:bodyPr lIns="0" tIns="0" rIns="0" bIns="0" rtlCol="0" anchor="t">
            <a:spAutoFit/>
          </a:bodyPr>
          <a:lstStyle/>
          <a:p>
            <a:pPr algn="ctr">
              <a:lnSpc>
                <a:spcPts val="10500"/>
              </a:lnSpc>
            </a:pPr>
            <a:r>
              <a:rPr lang="en-US" sz="7500">
                <a:solidFill>
                  <a:srgbClr val="009490"/>
                </a:solidFill>
                <a:latin typeface="HK Grotesk Bold"/>
              </a:rPr>
              <a:t>Aprobación</a:t>
            </a:r>
          </a:p>
        </p:txBody>
      </p:sp>
      <p:sp>
        <p:nvSpPr>
          <p:cNvPr id="3" name="TextBox 3"/>
          <p:cNvSpPr txBox="1"/>
          <p:nvPr/>
        </p:nvSpPr>
        <p:spPr>
          <a:xfrm>
            <a:off x="1182469" y="2163820"/>
            <a:ext cx="3055501" cy="1393825"/>
          </a:xfrm>
          <a:prstGeom prst="rect">
            <a:avLst/>
          </a:prstGeom>
        </p:spPr>
        <p:txBody>
          <a:bodyPr lIns="0" tIns="0" rIns="0" bIns="0" rtlCol="0" anchor="t">
            <a:spAutoFit/>
          </a:bodyPr>
          <a:lstStyle/>
          <a:p>
            <a:pPr algn="ctr">
              <a:lnSpc>
                <a:spcPts val="5600"/>
              </a:lnSpc>
            </a:pPr>
            <a:r>
              <a:rPr lang="en-US" sz="4000">
                <a:solidFill>
                  <a:srgbClr val="FFFFFF"/>
                </a:solidFill>
                <a:latin typeface="HK Grotesk"/>
              </a:rPr>
              <a:t>Presupuestos </a:t>
            </a:r>
          </a:p>
          <a:p>
            <a:pPr algn="ctr">
              <a:lnSpc>
                <a:spcPts val="5600"/>
              </a:lnSpc>
            </a:pPr>
            <a:r>
              <a:rPr lang="en-US" sz="4000">
                <a:solidFill>
                  <a:srgbClr val="FFFFFF"/>
                </a:solidFill>
                <a:latin typeface="HK Grotesk"/>
              </a:rPr>
              <a:t>por área</a:t>
            </a:r>
          </a:p>
        </p:txBody>
      </p:sp>
      <p:sp>
        <p:nvSpPr>
          <p:cNvPr id="4" name="TextBox 4"/>
          <p:cNvSpPr txBox="1"/>
          <p:nvPr/>
        </p:nvSpPr>
        <p:spPr>
          <a:xfrm>
            <a:off x="5968879" y="2525770"/>
            <a:ext cx="1721287" cy="679450"/>
          </a:xfrm>
          <a:prstGeom prst="rect">
            <a:avLst/>
          </a:prstGeom>
        </p:spPr>
        <p:txBody>
          <a:bodyPr lIns="0" tIns="0" rIns="0" bIns="0" rtlCol="0" anchor="t">
            <a:spAutoFit/>
          </a:bodyPr>
          <a:lstStyle/>
          <a:p>
            <a:pPr algn="ctr">
              <a:lnSpc>
                <a:spcPts val="5599"/>
              </a:lnSpc>
            </a:pPr>
            <a:r>
              <a:rPr lang="en-US" sz="3999">
                <a:solidFill>
                  <a:srgbClr val="FFFFFF"/>
                </a:solidFill>
                <a:latin typeface="HK Grotesk"/>
              </a:rPr>
              <a:t>Aceptar</a:t>
            </a:r>
          </a:p>
        </p:txBody>
      </p:sp>
      <p:sp>
        <p:nvSpPr>
          <p:cNvPr id="5" name="TextBox 5"/>
          <p:cNvSpPr txBox="1"/>
          <p:nvPr/>
        </p:nvSpPr>
        <p:spPr>
          <a:xfrm>
            <a:off x="1701879" y="5324158"/>
            <a:ext cx="2016681" cy="679450"/>
          </a:xfrm>
          <a:prstGeom prst="rect">
            <a:avLst/>
          </a:prstGeom>
        </p:spPr>
        <p:txBody>
          <a:bodyPr lIns="0" tIns="0" rIns="0" bIns="0" rtlCol="0" anchor="t">
            <a:spAutoFit/>
          </a:bodyPr>
          <a:lstStyle/>
          <a:p>
            <a:pPr algn="ctr">
              <a:lnSpc>
                <a:spcPts val="5599"/>
              </a:lnSpc>
            </a:pPr>
            <a:r>
              <a:rPr lang="en-US" sz="3999">
                <a:solidFill>
                  <a:srgbClr val="FFFFFF"/>
                </a:solidFill>
                <a:latin typeface="HK Grotesk"/>
              </a:rPr>
              <a:t>Rechazar</a:t>
            </a:r>
          </a:p>
        </p:txBody>
      </p:sp>
      <p:sp>
        <p:nvSpPr>
          <p:cNvPr id="6" name="TextBox 6"/>
          <p:cNvSpPr txBox="1"/>
          <p:nvPr/>
        </p:nvSpPr>
        <p:spPr>
          <a:xfrm>
            <a:off x="9997613" y="2544820"/>
            <a:ext cx="4466392" cy="679450"/>
          </a:xfrm>
          <a:prstGeom prst="rect">
            <a:avLst/>
          </a:prstGeom>
        </p:spPr>
        <p:txBody>
          <a:bodyPr lIns="0" tIns="0" rIns="0" bIns="0" rtlCol="0" anchor="t">
            <a:spAutoFit/>
          </a:bodyPr>
          <a:lstStyle/>
          <a:p>
            <a:pPr algn="ctr">
              <a:lnSpc>
                <a:spcPts val="5599"/>
              </a:lnSpc>
            </a:pPr>
            <a:r>
              <a:rPr lang="en-US" sz="3999">
                <a:solidFill>
                  <a:srgbClr val="FFFFFF"/>
                </a:solidFill>
                <a:latin typeface="HK Grotesk"/>
              </a:rPr>
              <a:t>Presupuesto general</a:t>
            </a:r>
          </a:p>
        </p:txBody>
      </p:sp>
      <p:sp>
        <p:nvSpPr>
          <p:cNvPr id="7" name="TextBox 7"/>
          <p:cNvSpPr txBox="1"/>
          <p:nvPr/>
        </p:nvSpPr>
        <p:spPr>
          <a:xfrm>
            <a:off x="6876693" y="4864625"/>
            <a:ext cx="4713446" cy="1384300"/>
          </a:xfrm>
          <a:prstGeom prst="rect">
            <a:avLst/>
          </a:prstGeom>
        </p:spPr>
        <p:txBody>
          <a:bodyPr lIns="0" tIns="0" rIns="0" bIns="0" rtlCol="0" anchor="t">
            <a:spAutoFit/>
          </a:bodyPr>
          <a:lstStyle/>
          <a:p>
            <a:pPr algn="ctr">
              <a:lnSpc>
                <a:spcPts val="5599"/>
              </a:lnSpc>
            </a:pPr>
            <a:r>
              <a:rPr lang="en-US" sz="3999">
                <a:solidFill>
                  <a:srgbClr val="FFFFFF"/>
                </a:solidFill>
                <a:latin typeface="HK Grotesk"/>
              </a:rPr>
              <a:t>Cuadro de resultados</a:t>
            </a:r>
          </a:p>
          <a:p>
            <a:pPr algn="ctr">
              <a:lnSpc>
                <a:spcPts val="5599"/>
              </a:lnSpc>
            </a:pPr>
            <a:r>
              <a:rPr lang="en-US" sz="3999">
                <a:solidFill>
                  <a:srgbClr val="FFFFFF"/>
                </a:solidFill>
                <a:latin typeface="HK Grotesk"/>
              </a:rPr>
              <a:t>de proforma</a:t>
            </a:r>
          </a:p>
        </p:txBody>
      </p:sp>
      <p:sp>
        <p:nvSpPr>
          <p:cNvPr id="8" name="TextBox 8"/>
          <p:cNvSpPr txBox="1"/>
          <p:nvPr/>
        </p:nvSpPr>
        <p:spPr>
          <a:xfrm>
            <a:off x="1796117" y="8110932"/>
            <a:ext cx="2441853" cy="679450"/>
          </a:xfrm>
          <a:prstGeom prst="rect">
            <a:avLst/>
          </a:prstGeom>
        </p:spPr>
        <p:txBody>
          <a:bodyPr lIns="0" tIns="0" rIns="0" bIns="0" rtlCol="0" anchor="t">
            <a:spAutoFit/>
          </a:bodyPr>
          <a:lstStyle/>
          <a:p>
            <a:pPr algn="ctr">
              <a:lnSpc>
                <a:spcPts val="5599"/>
              </a:lnSpc>
            </a:pPr>
            <a:r>
              <a:rPr lang="en-US" sz="3999">
                <a:solidFill>
                  <a:srgbClr val="FFFFFF"/>
                </a:solidFill>
                <a:latin typeface="HK Grotesk"/>
              </a:rPr>
              <a:t>Aceptación</a:t>
            </a:r>
          </a:p>
        </p:txBody>
      </p:sp>
      <p:sp>
        <p:nvSpPr>
          <p:cNvPr id="9" name="TextBox 9"/>
          <p:cNvSpPr txBox="1"/>
          <p:nvPr/>
        </p:nvSpPr>
        <p:spPr>
          <a:xfrm>
            <a:off x="13616272" y="4823051"/>
            <a:ext cx="3616523" cy="1384300"/>
          </a:xfrm>
          <a:prstGeom prst="rect">
            <a:avLst/>
          </a:prstGeom>
        </p:spPr>
        <p:txBody>
          <a:bodyPr lIns="0" tIns="0" rIns="0" bIns="0" rtlCol="0" anchor="t">
            <a:spAutoFit/>
          </a:bodyPr>
          <a:lstStyle/>
          <a:p>
            <a:pPr algn="ctr">
              <a:lnSpc>
                <a:spcPts val="5599"/>
              </a:lnSpc>
            </a:pPr>
            <a:r>
              <a:rPr lang="en-US" sz="3999">
                <a:solidFill>
                  <a:srgbClr val="FFFFFF"/>
                </a:solidFill>
                <a:latin typeface="HK Grotesk"/>
              </a:rPr>
              <a:t>Balance general </a:t>
            </a:r>
          </a:p>
          <a:p>
            <a:pPr algn="ctr">
              <a:lnSpc>
                <a:spcPts val="5599"/>
              </a:lnSpc>
            </a:pPr>
            <a:r>
              <a:rPr lang="en-US" sz="3999">
                <a:solidFill>
                  <a:srgbClr val="FFFFFF"/>
                </a:solidFill>
                <a:latin typeface="HK Grotesk"/>
              </a:rPr>
              <a:t>de proforma</a:t>
            </a:r>
          </a:p>
        </p:txBody>
      </p:sp>
      <p:sp>
        <p:nvSpPr>
          <p:cNvPr id="10" name="TextBox 10"/>
          <p:cNvSpPr txBox="1"/>
          <p:nvPr/>
        </p:nvSpPr>
        <p:spPr>
          <a:xfrm>
            <a:off x="9464521" y="7806132"/>
            <a:ext cx="5470922" cy="1384300"/>
          </a:xfrm>
          <a:prstGeom prst="rect">
            <a:avLst/>
          </a:prstGeom>
        </p:spPr>
        <p:txBody>
          <a:bodyPr lIns="0" tIns="0" rIns="0" bIns="0" rtlCol="0" anchor="t">
            <a:spAutoFit/>
          </a:bodyPr>
          <a:lstStyle/>
          <a:p>
            <a:pPr algn="ctr">
              <a:lnSpc>
                <a:spcPts val="5599"/>
              </a:lnSpc>
            </a:pPr>
            <a:r>
              <a:rPr lang="en-US" sz="3999">
                <a:solidFill>
                  <a:srgbClr val="FFFFFF"/>
                </a:solidFill>
                <a:latin typeface="HK Grotesk"/>
              </a:rPr>
              <a:t>Presupuesto consolidado</a:t>
            </a:r>
          </a:p>
          <a:p>
            <a:pPr algn="ctr">
              <a:lnSpc>
                <a:spcPts val="5599"/>
              </a:lnSpc>
            </a:pPr>
            <a:r>
              <a:rPr lang="en-US" sz="3999">
                <a:solidFill>
                  <a:srgbClr val="FFFFFF"/>
                </a:solidFill>
                <a:latin typeface="HK Grotesk"/>
              </a:rPr>
              <a:t>de la empresa</a:t>
            </a:r>
          </a:p>
        </p:txBody>
      </p:sp>
      <p:sp>
        <p:nvSpPr>
          <p:cNvPr id="11" name="AutoShape 11"/>
          <p:cNvSpPr/>
          <p:nvPr/>
        </p:nvSpPr>
        <p:spPr>
          <a:xfrm>
            <a:off x="4237970" y="2903595"/>
            <a:ext cx="1730909" cy="0"/>
          </a:xfrm>
          <a:prstGeom prst="line">
            <a:avLst/>
          </a:prstGeom>
          <a:ln w="95250" cap="flat">
            <a:solidFill>
              <a:srgbClr val="FFFFFF"/>
            </a:solidFill>
            <a:prstDash val="solid"/>
            <a:headEnd type="none" w="sm" len="sm"/>
            <a:tailEnd type="triangle" w="lg" len="med"/>
          </a:ln>
        </p:spPr>
      </p:sp>
      <p:sp>
        <p:nvSpPr>
          <p:cNvPr id="12" name="AutoShape 12"/>
          <p:cNvSpPr/>
          <p:nvPr/>
        </p:nvSpPr>
        <p:spPr>
          <a:xfrm>
            <a:off x="2710220" y="3557645"/>
            <a:ext cx="0" cy="1842712"/>
          </a:xfrm>
          <a:prstGeom prst="line">
            <a:avLst/>
          </a:prstGeom>
          <a:ln w="95250" cap="flat">
            <a:solidFill>
              <a:srgbClr val="FFFFFF"/>
            </a:solidFill>
            <a:prstDash val="solid"/>
            <a:headEnd type="none" w="sm" len="sm"/>
            <a:tailEnd type="triangle" w="lg" len="med"/>
          </a:ln>
        </p:spPr>
      </p:sp>
      <p:sp>
        <p:nvSpPr>
          <p:cNvPr id="13" name="AutoShape 13"/>
          <p:cNvSpPr/>
          <p:nvPr/>
        </p:nvSpPr>
        <p:spPr>
          <a:xfrm>
            <a:off x="7690166" y="2903595"/>
            <a:ext cx="2307447" cy="19050"/>
          </a:xfrm>
          <a:prstGeom prst="line">
            <a:avLst/>
          </a:prstGeom>
          <a:ln w="95250" cap="flat">
            <a:solidFill>
              <a:srgbClr val="FFFFFF"/>
            </a:solidFill>
            <a:prstDash val="solid"/>
            <a:headEnd type="none" w="sm" len="sm"/>
            <a:tailEnd type="triangle" w="lg" len="med"/>
          </a:ln>
        </p:spPr>
      </p:sp>
      <p:sp>
        <p:nvSpPr>
          <p:cNvPr id="14" name="AutoShape 14"/>
          <p:cNvSpPr/>
          <p:nvPr/>
        </p:nvSpPr>
        <p:spPr>
          <a:xfrm flipH="1">
            <a:off x="9233416" y="3224270"/>
            <a:ext cx="2997393" cy="1716555"/>
          </a:xfrm>
          <a:prstGeom prst="line">
            <a:avLst/>
          </a:prstGeom>
          <a:ln w="95250" cap="flat">
            <a:solidFill>
              <a:srgbClr val="FFFFFF"/>
            </a:solidFill>
            <a:prstDash val="solid"/>
            <a:headEnd type="none" w="sm" len="sm"/>
            <a:tailEnd type="triangle" w="lg" len="med"/>
          </a:ln>
        </p:spPr>
      </p:sp>
      <p:sp>
        <p:nvSpPr>
          <p:cNvPr id="15" name="AutoShape 15"/>
          <p:cNvSpPr/>
          <p:nvPr/>
        </p:nvSpPr>
        <p:spPr>
          <a:xfrm>
            <a:off x="12230809" y="3224270"/>
            <a:ext cx="3193725" cy="1674981"/>
          </a:xfrm>
          <a:prstGeom prst="line">
            <a:avLst/>
          </a:prstGeom>
          <a:ln w="95250" cap="flat">
            <a:solidFill>
              <a:srgbClr val="FFFFFF"/>
            </a:solidFill>
            <a:prstDash val="solid"/>
            <a:headEnd type="none" w="sm" len="sm"/>
            <a:tailEnd type="triangle" w="lg" len="med"/>
          </a:ln>
        </p:spPr>
      </p:sp>
      <p:sp>
        <p:nvSpPr>
          <p:cNvPr id="16" name="AutoShape 16"/>
          <p:cNvSpPr/>
          <p:nvPr/>
        </p:nvSpPr>
        <p:spPr>
          <a:xfrm>
            <a:off x="9233416" y="6248925"/>
            <a:ext cx="2966566" cy="1633407"/>
          </a:xfrm>
          <a:prstGeom prst="line">
            <a:avLst/>
          </a:prstGeom>
          <a:ln w="95250" cap="flat">
            <a:solidFill>
              <a:srgbClr val="FFFFFF"/>
            </a:solidFill>
            <a:prstDash val="solid"/>
            <a:headEnd type="none" w="sm" len="sm"/>
            <a:tailEnd type="triangle" w="lg" len="med"/>
          </a:ln>
        </p:spPr>
      </p:sp>
      <p:sp>
        <p:nvSpPr>
          <p:cNvPr id="17" name="AutoShape 17"/>
          <p:cNvSpPr/>
          <p:nvPr/>
        </p:nvSpPr>
        <p:spPr>
          <a:xfrm flipH="1">
            <a:off x="12199982" y="6207351"/>
            <a:ext cx="3224553" cy="1674981"/>
          </a:xfrm>
          <a:prstGeom prst="line">
            <a:avLst/>
          </a:prstGeom>
          <a:ln w="95250" cap="flat">
            <a:solidFill>
              <a:srgbClr val="FFFFFF"/>
            </a:solidFill>
            <a:prstDash val="solid"/>
            <a:headEnd type="none" w="sm" len="sm"/>
            <a:tailEnd type="triangle" w="lg" len="med"/>
          </a:ln>
        </p:spPr>
      </p:sp>
      <p:sp>
        <p:nvSpPr>
          <p:cNvPr id="18" name="AutoShape 18"/>
          <p:cNvSpPr/>
          <p:nvPr/>
        </p:nvSpPr>
        <p:spPr>
          <a:xfrm flipH="1" flipV="1">
            <a:off x="4237970" y="8488757"/>
            <a:ext cx="5226550" cy="47625"/>
          </a:xfrm>
          <a:prstGeom prst="line">
            <a:avLst/>
          </a:prstGeom>
          <a:ln w="95250" cap="flat">
            <a:solidFill>
              <a:srgbClr val="FFFFFF"/>
            </a:solidFill>
            <a:prstDash val="solid"/>
            <a:headEnd type="none" w="sm" len="sm"/>
            <a:tailEnd type="triangle" w="lg" len="med"/>
          </a:ln>
        </p:spPr>
      </p:sp>
      <p:sp>
        <p:nvSpPr>
          <p:cNvPr id="19" name="AutoShape 19"/>
          <p:cNvSpPr/>
          <p:nvPr/>
        </p:nvSpPr>
        <p:spPr>
          <a:xfrm flipH="1">
            <a:off x="12199982" y="3224270"/>
            <a:ext cx="28953" cy="4658062"/>
          </a:xfrm>
          <a:prstGeom prst="line">
            <a:avLst/>
          </a:prstGeom>
          <a:ln w="95250" cap="flat">
            <a:solidFill>
              <a:srgbClr val="FFFFFF"/>
            </a:solidFill>
            <a:prstDash val="solid"/>
            <a:headEnd type="none" w="sm" len="sm"/>
            <a:tailEnd type="arrow" w="med" len="sm"/>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7035194" y="419100"/>
            <a:ext cx="4217610" cy="1295400"/>
          </a:xfrm>
          <a:prstGeom prst="rect">
            <a:avLst/>
          </a:prstGeom>
        </p:spPr>
        <p:txBody>
          <a:bodyPr wrap="square" lIns="0" tIns="0" rIns="0" bIns="0" rtlCol="0" anchor="t">
            <a:spAutoFit/>
          </a:bodyPr>
          <a:lstStyle/>
          <a:p>
            <a:pPr algn="ctr">
              <a:lnSpc>
                <a:spcPts val="10500"/>
              </a:lnSpc>
            </a:pPr>
            <a:r>
              <a:rPr lang="en-US" sz="7500" dirty="0" err="1">
                <a:solidFill>
                  <a:srgbClr val="009490"/>
                </a:solidFill>
                <a:latin typeface="HK Grotesk Bold"/>
              </a:rPr>
              <a:t>Objetivos</a:t>
            </a:r>
            <a:endParaRPr lang="en-US" sz="7500" dirty="0">
              <a:solidFill>
                <a:srgbClr val="009490"/>
              </a:solidFill>
              <a:latin typeface="HK Grotesk Bold"/>
            </a:endParaRPr>
          </a:p>
        </p:txBody>
      </p:sp>
      <p:sp>
        <p:nvSpPr>
          <p:cNvPr id="3" name="TextBox 3"/>
          <p:cNvSpPr txBox="1"/>
          <p:nvPr/>
        </p:nvSpPr>
        <p:spPr>
          <a:xfrm>
            <a:off x="4129512" y="2278063"/>
            <a:ext cx="10028975" cy="863600"/>
          </a:xfrm>
          <a:prstGeom prst="rect">
            <a:avLst/>
          </a:prstGeom>
        </p:spPr>
        <p:txBody>
          <a:bodyPr lIns="0" tIns="0" rIns="0" bIns="0" rtlCol="0" anchor="t">
            <a:spAutoFit/>
          </a:bodyPr>
          <a:lstStyle/>
          <a:p>
            <a:pPr algn="ctr">
              <a:lnSpc>
                <a:spcPts val="7000"/>
              </a:lnSpc>
            </a:pPr>
            <a:r>
              <a:rPr lang="en-US" sz="5000">
                <a:solidFill>
                  <a:srgbClr val="FFFFFF"/>
                </a:solidFill>
                <a:latin typeface="HK Grotesk"/>
              </a:rPr>
              <a:t>Coordinación de actividades</a:t>
            </a:r>
          </a:p>
        </p:txBody>
      </p:sp>
      <p:sp>
        <p:nvSpPr>
          <p:cNvPr id="4" name="TextBox 4"/>
          <p:cNvSpPr txBox="1"/>
          <p:nvPr/>
        </p:nvSpPr>
        <p:spPr>
          <a:xfrm>
            <a:off x="4129512" y="3865563"/>
            <a:ext cx="10028975" cy="863600"/>
          </a:xfrm>
          <a:prstGeom prst="rect">
            <a:avLst/>
          </a:prstGeom>
        </p:spPr>
        <p:txBody>
          <a:bodyPr lIns="0" tIns="0" rIns="0" bIns="0" rtlCol="0" anchor="t">
            <a:spAutoFit/>
          </a:bodyPr>
          <a:lstStyle/>
          <a:p>
            <a:pPr algn="ctr">
              <a:lnSpc>
                <a:spcPts val="7000"/>
              </a:lnSpc>
            </a:pPr>
            <a:r>
              <a:rPr lang="en-US" sz="5000">
                <a:solidFill>
                  <a:srgbClr val="FFFFFF"/>
                </a:solidFill>
                <a:latin typeface="HK Grotesk"/>
              </a:rPr>
              <a:t>Medio de control</a:t>
            </a:r>
          </a:p>
        </p:txBody>
      </p:sp>
      <p:sp>
        <p:nvSpPr>
          <p:cNvPr id="5" name="TextBox 5"/>
          <p:cNvSpPr txBox="1"/>
          <p:nvPr/>
        </p:nvSpPr>
        <p:spPr>
          <a:xfrm>
            <a:off x="4129512" y="5453063"/>
            <a:ext cx="10028975" cy="863600"/>
          </a:xfrm>
          <a:prstGeom prst="rect">
            <a:avLst/>
          </a:prstGeom>
        </p:spPr>
        <p:txBody>
          <a:bodyPr lIns="0" tIns="0" rIns="0" bIns="0" rtlCol="0" anchor="t">
            <a:spAutoFit/>
          </a:bodyPr>
          <a:lstStyle/>
          <a:p>
            <a:pPr algn="ctr">
              <a:lnSpc>
                <a:spcPts val="7000"/>
              </a:lnSpc>
            </a:pPr>
            <a:r>
              <a:rPr lang="en-US" sz="5000">
                <a:solidFill>
                  <a:srgbClr val="FFFFFF"/>
                </a:solidFill>
                <a:latin typeface="HK Grotesk"/>
              </a:rPr>
              <a:t>Ayuda a identificar problemas</a:t>
            </a:r>
          </a:p>
        </p:txBody>
      </p:sp>
      <p:sp>
        <p:nvSpPr>
          <p:cNvPr id="6" name="TextBox 6"/>
          <p:cNvSpPr txBox="1"/>
          <p:nvPr/>
        </p:nvSpPr>
        <p:spPr>
          <a:xfrm>
            <a:off x="4129512" y="7040562"/>
            <a:ext cx="10028975" cy="863600"/>
          </a:xfrm>
          <a:prstGeom prst="rect">
            <a:avLst/>
          </a:prstGeom>
        </p:spPr>
        <p:txBody>
          <a:bodyPr lIns="0" tIns="0" rIns="0" bIns="0" rtlCol="0" anchor="t">
            <a:spAutoFit/>
          </a:bodyPr>
          <a:lstStyle/>
          <a:p>
            <a:pPr algn="ctr">
              <a:lnSpc>
                <a:spcPts val="7000"/>
              </a:lnSpc>
            </a:pPr>
            <a:r>
              <a:rPr lang="en-US" sz="5000">
                <a:solidFill>
                  <a:srgbClr val="FFFFFF"/>
                </a:solidFill>
                <a:latin typeface="HK Grotesk"/>
              </a:rPr>
              <a:t>Cuantifica y planifica objetivos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3045976" y="580068"/>
            <a:ext cx="12196049" cy="1295400"/>
          </a:xfrm>
          <a:prstGeom prst="rect">
            <a:avLst/>
          </a:prstGeom>
        </p:spPr>
        <p:txBody>
          <a:bodyPr lIns="0" tIns="0" rIns="0" bIns="0" rtlCol="0" anchor="t">
            <a:spAutoFit/>
          </a:bodyPr>
          <a:lstStyle/>
          <a:p>
            <a:pPr algn="ctr">
              <a:lnSpc>
                <a:spcPts val="10500"/>
              </a:lnSpc>
            </a:pPr>
            <a:r>
              <a:rPr lang="en-US" sz="7500">
                <a:solidFill>
                  <a:srgbClr val="009490"/>
                </a:solidFill>
                <a:latin typeface="HK Grotesk Bold"/>
              </a:rPr>
              <a:t>Técnicas de presupuestación</a:t>
            </a:r>
          </a:p>
        </p:txBody>
      </p:sp>
      <p:sp>
        <p:nvSpPr>
          <p:cNvPr id="3" name="TextBox 3"/>
          <p:cNvSpPr txBox="1"/>
          <p:nvPr/>
        </p:nvSpPr>
        <p:spPr>
          <a:xfrm>
            <a:off x="2655510" y="3132768"/>
            <a:ext cx="5278279" cy="863600"/>
          </a:xfrm>
          <a:prstGeom prst="rect">
            <a:avLst/>
          </a:prstGeom>
        </p:spPr>
        <p:txBody>
          <a:bodyPr lIns="0" tIns="0" rIns="0" bIns="0" rtlCol="0" anchor="t">
            <a:spAutoFit/>
          </a:bodyPr>
          <a:lstStyle/>
          <a:p>
            <a:pPr algn="ctr">
              <a:lnSpc>
                <a:spcPts val="7000"/>
              </a:lnSpc>
            </a:pPr>
            <a:r>
              <a:rPr lang="en-US" sz="5000">
                <a:solidFill>
                  <a:srgbClr val="FFFFFF"/>
                </a:solidFill>
                <a:latin typeface="HK Grotesk Bold"/>
              </a:rPr>
              <a:t>Presupuesto rígido</a:t>
            </a:r>
          </a:p>
        </p:txBody>
      </p:sp>
      <p:sp>
        <p:nvSpPr>
          <p:cNvPr id="4" name="TextBox 4"/>
          <p:cNvSpPr txBox="1"/>
          <p:nvPr/>
        </p:nvSpPr>
        <p:spPr>
          <a:xfrm>
            <a:off x="9864030" y="3891593"/>
            <a:ext cx="5741789" cy="863600"/>
          </a:xfrm>
          <a:prstGeom prst="rect">
            <a:avLst/>
          </a:prstGeom>
        </p:spPr>
        <p:txBody>
          <a:bodyPr lIns="0" tIns="0" rIns="0" bIns="0" rtlCol="0" anchor="t">
            <a:spAutoFit/>
          </a:bodyPr>
          <a:lstStyle/>
          <a:p>
            <a:pPr algn="ctr">
              <a:lnSpc>
                <a:spcPts val="7000"/>
              </a:lnSpc>
            </a:pPr>
            <a:r>
              <a:rPr lang="en-US" sz="5000">
                <a:solidFill>
                  <a:srgbClr val="FFFFFF"/>
                </a:solidFill>
                <a:latin typeface="HK Grotesk Bold"/>
              </a:rPr>
              <a:t>Presupuesto flexible</a:t>
            </a:r>
          </a:p>
        </p:txBody>
      </p:sp>
      <p:sp>
        <p:nvSpPr>
          <p:cNvPr id="5" name="TextBox 5"/>
          <p:cNvSpPr txBox="1"/>
          <p:nvPr/>
        </p:nvSpPr>
        <p:spPr>
          <a:xfrm>
            <a:off x="2708970" y="5256790"/>
            <a:ext cx="6365915" cy="863600"/>
          </a:xfrm>
          <a:prstGeom prst="rect">
            <a:avLst/>
          </a:prstGeom>
        </p:spPr>
        <p:txBody>
          <a:bodyPr lIns="0" tIns="0" rIns="0" bIns="0" rtlCol="0" anchor="t">
            <a:spAutoFit/>
          </a:bodyPr>
          <a:lstStyle/>
          <a:p>
            <a:pPr algn="ctr">
              <a:lnSpc>
                <a:spcPts val="7000"/>
              </a:lnSpc>
            </a:pPr>
            <a:r>
              <a:rPr lang="en-US" sz="5000">
                <a:solidFill>
                  <a:srgbClr val="FFFFFF"/>
                </a:solidFill>
                <a:latin typeface="HK Grotesk Bold"/>
              </a:rPr>
              <a:t>Presupuesto base cero</a:t>
            </a:r>
          </a:p>
        </p:txBody>
      </p:sp>
      <p:sp>
        <p:nvSpPr>
          <p:cNvPr id="6" name="TextBox 6"/>
          <p:cNvSpPr txBox="1"/>
          <p:nvPr/>
        </p:nvSpPr>
        <p:spPr>
          <a:xfrm>
            <a:off x="9590246" y="6625215"/>
            <a:ext cx="5980867" cy="863600"/>
          </a:xfrm>
          <a:prstGeom prst="rect">
            <a:avLst/>
          </a:prstGeom>
        </p:spPr>
        <p:txBody>
          <a:bodyPr lIns="0" tIns="0" rIns="0" bIns="0" rtlCol="0" anchor="t">
            <a:spAutoFit/>
          </a:bodyPr>
          <a:lstStyle/>
          <a:p>
            <a:pPr algn="ctr">
              <a:lnSpc>
                <a:spcPts val="7000"/>
              </a:lnSpc>
            </a:pPr>
            <a:r>
              <a:rPr lang="en-US" sz="5000">
                <a:solidFill>
                  <a:srgbClr val="FFFFFF"/>
                </a:solidFill>
                <a:latin typeface="HK Grotesk Bold"/>
              </a:rPr>
              <a:t>Presupuesto maestro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AutoShape 2"/>
          <p:cNvSpPr/>
          <p:nvPr/>
        </p:nvSpPr>
        <p:spPr>
          <a:xfrm>
            <a:off x="1028700" y="1690688"/>
            <a:ext cx="16230600" cy="0"/>
          </a:xfrm>
          <a:prstGeom prst="line">
            <a:avLst/>
          </a:prstGeom>
          <a:ln w="9525" cap="flat">
            <a:solidFill>
              <a:srgbClr val="BDC2C5"/>
            </a:solidFill>
            <a:prstDash val="solid"/>
            <a:headEnd type="none" w="sm" len="sm"/>
            <a:tailEnd type="none" w="sm" len="sm"/>
          </a:ln>
        </p:spPr>
      </p:sp>
      <p:sp>
        <p:nvSpPr>
          <p:cNvPr id="3" name="Freeform 3"/>
          <p:cNvSpPr/>
          <p:nvPr/>
        </p:nvSpPr>
        <p:spPr>
          <a:xfrm>
            <a:off x="8738848" y="2265045"/>
            <a:ext cx="221409" cy="1932940"/>
          </a:xfrm>
          <a:custGeom>
            <a:avLst/>
            <a:gdLst/>
            <a:ahLst/>
            <a:cxnLst/>
            <a:rect l="l" t="t" r="r" b="b"/>
            <a:pathLst>
              <a:path w="221409" h="1932940">
                <a:moveTo>
                  <a:pt x="0" y="0"/>
                </a:moveTo>
                <a:lnTo>
                  <a:pt x="221409" y="0"/>
                </a:lnTo>
                <a:lnTo>
                  <a:pt x="221409" y="1932940"/>
                </a:lnTo>
                <a:lnTo>
                  <a:pt x="0" y="19329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9398407" y="2276629"/>
            <a:ext cx="6433180" cy="521335"/>
          </a:xfrm>
          <a:prstGeom prst="rect">
            <a:avLst/>
          </a:prstGeom>
        </p:spPr>
        <p:txBody>
          <a:bodyPr lIns="0" tIns="0" rIns="0" bIns="0" rtlCol="0" anchor="t">
            <a:spAutoFit/>
          </a:bodyPr>
          <a:lstStyle/>
          <a:p>
            <a:pPr>
              <a:lnSpc>
                <a:spcPts val="4160"/>
              </a:lnSpc>
              <a:spcBef>
                <a:spcPct val="0"/>
              </a:spcBef>
            </a:pPr>
            <a:r>
              <a:rPr lang="en-US" sz="3200">
                <a:solidFill>
                  <a:srgbClr val="009490"/>
                </a:solidFill>
                <a:latin typeface="HK Grotesk Bold"/>
              </a:rPr>
              <a:t>Presupuesto de Ventas</a:t>
            </a:r>
          </a:p>
        </p:txBody>
      </p:sp>
      <p:sp>
        <p:nvSpPr>
          <p:cNvPr id="5" name="TextBox 5"/>
          <p:cNvSpPr txBox="1"/>
          <p:nvPr/>
        </p:nvSpPr>
        <p:spPr>
          <a:xfrm>
            <a:off x="9398407" y="2780184"/>
            <a:ext cx="5175802"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Presupuesto de Produccion</a:t>
            </a:r>
          </a:p>
        </p:txBody>
      </p:sp>
      <p:sp>
        <p:nvSpPr>
          <p:cNvPr id="6" name="TextBox 6"/>
          <p:cNvSpPr txBox="1"/>
          <p:nvPr/>
        </p:nvSpPr>
        <p:spPr>
          <a:xfrm>
            <a:off x="9398407" y="3283739"/>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Presupuesto de Compras</a:t>
            </a:r>
          </a:p>
        </p:txBody>
      </p:sp>
      <p:sp>
        <p:nvSpPr>
          <p:cNvPr id="7" name="TextBox 7"/>
          <p:cNvSpPr txBox="1"/>
          <p:nvPr/>
        </p:nvSpPr>
        <p:spPr>
          <a:xfrm>
            <a:off x="9398407" y="3766974"/>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Presupuesto de Gastos</a:t>
            </a:r>
          </a:p>
        </p:txBody>
      </p:sp>
      <p:sp>
        <p:nvSpPr>
          <p:cNvPr id="8" name="TextBox 8"/>
          <p:cNvSpPr txBox="1"/>
          <p:nvPr/>
        </p:nvSpPr>
        <p:spPr>
          <a:xfrm>
            <a:off x="10368528" y="4683930"/>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Compra de Bienes de Uso</a:t>
            </a:r>
          </a:p>
        </p:txBody>
      </p:sp>
      <p:sp>
        <p:nvSpPr>
          <p:cNvPr id="9" name="Freeform 9"/>
          <p:cNvSpPr/>
          <p:nvPr/>
        </p:nvSpPr>
        <p:spPr>
          <a:xfrm>
            <a:off x="4460793" y="2124075"/>
            <a:ext cx="793790" cy="6929910"/>
          </a:xfrm>
          <a:custGeom>
            <a:avLst/>
            <a:gdLst/>
            <a:ahLst/>
            <a:cxnLst/>
            <a:rect l="l" t="t" r="r" b="b"/>
            <a:pathLst>
              <a:path w="793790" h="6929910">
                <a:moveTo>
                  <a:pt x="0" y="0"/>
                </a:moveTo>
                <a:lnTo>
                  <a:pt x="793789" y="0"/>
                </a:lnTo>
                <a:lnTo>
                  <a:pt x="793789" y="6929910"/>
                </a:lnTo>
                <a:lnTo>
                  <a:pt x="0" y="69299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TextBox 10"/>
          <p:cNvSpPr txBox="1"/>
          <p:nvPr/>
        </p:nvSpPr>
        <p:spPr>
          <a:xfrm>
            <a:off x="647700" y="361950"/>
            <a:ext cx="11095596" cy="1104900"/>
          </a:xfrm>
          <a:prstGeom prst="rect">
            <a:avLst/>
          </a:prstGeom>
        </p:spPr>
        <p:txBody>
          <a:bodyPr lIns="0" tIns="0" rIns="0" bIns="0" rtlCol="0" anchor="t">
            <a:spAutoFit/>
          </a:bodyPr>
          <a:lstStyle/>
          <a:p>
            <a:pPr marL="0" lvl="0" indent="0" algn="l">
              <a:lnSpc>
                <a:spcPts val="8640"/>
              </a:lnSpc>
              <a:spcBef>
                <a:spcPct val="0"/>
              </a:spcBef>
            </a:pPr>
            <a:r>
              <a:rPr lang="en-US" sz="7200">
                <a:solidFill>
                  <a:srgbClr val="009490"/>
                </a:solidFill>
                <a:latin typeface="HK Grotesk Bold"/>
              </a:rPr>
              <a:t>Sistema Presupuestario</a:t>
            </a:r>
          </a:p>
        </p:txBody>
      </p:sp>
      <p:sp>
        <p:nvSpPr>
          <p:cNvPr id="11" name="TextBox 11"/>
          <p:cNvSpPr txBox="1"/>
          <p:nvPr/>
        </p:nvSpPr>
        <p:spPr>
          <a:xfrm>
            <a:off x="5476163" y="4421993"/>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Presupuesto de Inversiones</a:t>
            </a:r>
          </a:p>
        </p:txBody>
      </p:sp>
      <p:sp>
        <p:nvSpPr>
          <p:cNvPr id="12" name="TextBox 12"/>
          <p:cNvSpPr txBox="1"/>
          <p:nvPr/>
        </p:nvSpPr>
        <p:spPr>
          <a:xfrm>
            <a:off x="5476163" y="2759864"/>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009490"/>
                </a:solidFill>
                <a:latin typeface="HK Grotesk Bold"/>
              </a:rPr>
              <a:t>Presupuesto Operativo</a:t>
            </a:r>
          </a:p>
        </p:txBody>
      </p:sp>
      <p:sp>
        <p:nvSpPr>
          <p:cNvPr id="13" name="TextBox 13"/>
          <p:cNvSpPr txBox="1"/>
          <p:nvPr/>
        </p:nvSpPr>
        <p:spPr>
          <a:xfrm>
            <a:off x="1415505" y="4925548"/>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Sistema Presupuestario</a:t>
            </a:r>
          </a:p>
        </p:txBody>
      </p:sp>
      <p:sp>
        <p:nvSpPr>
          <p:cNvPr id="14" name="TextBox 14"/>
          <p:cNvSpPr txBox="1"/>
          <p:nvPr/>
        </p:nvSpPr>
        <p:spPr>
          <a:xfrm>
            <a:off x="5476163" y="6105378"/>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Presupuesto Financiero</a:t>
            </a:r>
          </a:p>
        </p:txBody>
      </p:sp>
      <p:sp>
        <p:nvSpPr>
          <p:cNvPr id="15" name="TextBox 15"/>
          <p:cNvSpPr txBox="1"/>
          <p:nvPr/>
        </p:nvSpPr>
        <p:spPr>
          <a:xfrm>
            <a:off x="5476163" y="7788763"/>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Estados de Sintesis</a:t>
            </a:r>
          </a:p>
        </p:txBody>
      </p:sp>
      <p:sp>
        <p:nvSpPr>
          <p:cNvPr id="16" name="TextBox 16"/>
          <p:cNvSpPr txBox="1"/>
          <p:nvPr/>
        </p:nvSpPr>
        <p:spPr>
          <a:xfrm>
            <a:off x="9040583" y="6039806"/>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De Ingresos</a:t>
            </a:r>
          </a:p>
        </p:txBody>
      </p:sp>
      <p:sp>
        <p:nvSpPr>
          <p:cNvPr id="17" name="TextBox 17"/>
          <p:cNvSpPr txBox="1"/>
          <p:nvPr/>
        </p:nvSpPr>
        <p:spPr>
          <a:xfrm>
            <a:off x="9040583" y="6629253"/>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De Egresos</a:t>
            </a:r>
          </a:p>
        </p:txBody>
      </p:sp>
      <p:sp>
        <p:nvSpPr>
          <p:cNvPr id="18" name="TextBox 18"/>
          <p:cNvSpPr txBox="1"/>
          <p:nvPr/>
        </p:nvSpPr>
        <p:spPr>
          <a:xfrm>
            <a:off x="9040583" y="7787478"/>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Cuadro de resultados proforma</a:t>
            </a:r>
          </a:p>
        </p:txBody>
      </p:sp>
      <p:sp>
        <p:nvSpPr>
          <p:cNvPr id="19" name="TextBox 19"/>
          <p:cNvSpPr txBox="1"/>
          <p:nvPr/>
        </p:nvSpPr>
        <p:spPr>
          <a:xfrm>
            <a:off x="9040583" y="8291033"/>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Balance general Proforma</a:t>
            </a:r>
          </a:p>
        </p:txBody>
      </p:sp>
      <p:sp>
        <p:nvSpPr>
          <p:cNvPr id="20" name="AutoShape 20"/>
          <p:cNvSpPr/>
          <p:nvPr/>
        </p:nvSpPr>
        <p:spPr>
          <a:xfrm flipH="1">
            <a:off x="8586448" y="4982698"/>
            <a:ext cx="1496330" cy="0"/>
          </a:xfrm>
          <a:prstGeom prst="line">
            <a:avLst/>
          </a:prstGeom>
          <a:ln w="38100" cap="flat">
            <a:solidFill>
              <a:srgbClr val="FFFFFF"/>
            </a:solidFill>
            <a:prstDash val="solid"/>
            <a:headEnd type="none" w="sm" len="sm"/>
            <a:tailEnd type="arrow" w="med" len="sm"/>
          </a:ln>
        </p:spPr>
      </p:sp>
      <p:sp>
        <p:nvSpPr>
          <p:cNvPr id="21" name="Freeform 21"/>
          <p:cNvSpPr/>
          <p:nvPr/>
        </p:nvSpPr>
        <p:spPr>
          <a:xfrm>
            <a:off x="8586448" y="5891700"/>
            <a:ext cx="168385" cy="1470025"/>
          </a:xfrm>
          <a:custGeom>
            <a:avLst/>
            <a:gdLst/>
            <a:ahLst/>
            <a:cxnLst/>
            <a:rect l="l" t="t" r="r" b="b"/>
            <a:pathLst>
              <a:path w="168385" h="1470025">
                <a:moveTo>
                  <a:pt x="0" y="0"/>
                </a:moveTo>
                <a:lnTo>
                  <a:pt x="168385" y="0"/>
                </a:lnTo>
                <a:lnTo>
                  <a:pt x="168385" y="1470025"/>
                </a:lnTo>
                <a:lnTo>
                  <a:pt x="0" y="14700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2" name="Freeform 22"/>
          <p:cNvSpPr/>
          <p:nvPr/>
        </p:nvSpPr>
        <p:spPr>
          <a:xfrm>
            <a:off x="8586448" y="7583960"/>
            <a:ext cx="168385" cy="1470025"/>
          </a:xfrm>
          <a:custGeom>
            <a:avLst/>
            <a:gdLst/>
            <a:ahLst/>
            <a:cxnLst/>
            <a:rect l="l" t="t" r="r" b="b"/>
            <a:pathLst>
              <a:path w="168385" h="1470025">
                <a:moveTo>
                  <a:pt x="0" y="0"/>
                </a:moveTo>
                <a:lnTo>
                  <a:pt x="168385" y="0"/>
                </a:lnTo>
                <a:lnTo>
                  <a:pt x="168385" y="1470025"/>
                </a:lnTo>
                <a:lnTo>
                  <a:pt x="0" y="14700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AutoShape 2"/>
          <p:cNvSpPr/>
          <p:nvPr/>
        </p:nvSpPr>
        <p:spPr>
          <a:xfrm>
            <a:off x="1028700" y="2128838"/>
            <a:ext cx="16230600" cy="0"/>
          </a:xfrm>
          <a:prstGeom prst="line">
            <a:avLst/>
          </a:prstGeom>
          <a:ln w="9525" cap="flat">
            <a:solidFill>
              <a:srgbClr val="BDC2C5"/>
            </a:solidFill>
            <a:prstDash val="solid"/>
            <a:headEnd type="none" w="sm" len="sm"/>
            <a:tailEnd type="none" w="sm" len="sm"/>
          </a:ln>
        </p:spPr>
      </p:sp>
      <p:sp>
        <p:nvSpPr>
          <p:cNvPr id="3" name="TextBox 3"/>
          <p:cNvSpPr txBox="1"/>
          <p:nvPr/>
        </p:nvSpPr>
        <p:spPr>
          <a:xfrm>
            <a:off x="1028700" y="1019175"/>
            <a:ext cx="11095596" cy="1104900"/>
          </a:xfrm>
          <a:prstGeom prst="rect">
            <a:avLst/>
          </a:prstGeom>
        </p:spPr>
        <p:txBody>
          <a:bodyPr lIns="0" tIns="0" rIns="0" bIns="0" rtlCol="0" anchor="t">
            <a:spAutoFit/>
          </a:bodyPr>
          <a:lstStyle/>
          <a:p>
            <a:pPr marL="0" lvl="0" indent="0" algn="l">
              <a:lnSpc>
                <a:spcPts val="8640"/>
              </a:lnSpc>
              <a:spcBef>
                <a:spcPct val="0"/>
              </a:spcBef>
            </a:pPr>
            <a:r>
              <a:rPr lang="en-US" sz="7200">
                <a:solidFill>
                  <a:srgbClr val="009490"/>
                </a:solidFill>
                <a:latin typeface="HK Grotesk Bold"/>
              </a:rPr>
              <a:t>Presupuesto de Ventas</a:t>
            </a:r>
          </a:p>
        </p:txBody>
      </p:sp>
      <p:sp>
        <p:nvSpPr>
          <p:cNvPr id="4" name="TextBox 4"/>
          <p:cNvSpPr txBox="1"/>
          <p:nvPr/>
        </p:nvSpPr>
        <p:spPr>
          <a:xfrm>
            <a:off x="-2507519" y="2531492"/>
            <a:ext cx="14207474" cy="515379"/>
          </a:xfrm>
          <a:prstGeom prst="rect">
            <a:avLst/>
          </a:prstGeom>
        </p:spPr>
        <p:txBody>
          <a:bodyPr lIns="0" tIns="0" rIns="0" bIns="0" rtlCol="0" anchor="t">
            <a:spAutoFit/>
          </a:bodyPr>
          <a:lstStyle/>
          <a:p>
            <a:pPr algn="ctr">
              <a:lnSpc>
                <a:spcPts val="4190"/>
              </a:lnSpc>
              <a:spcBef>
                <a:spcPct val="0"/>
              </a:spcBef>
            </a:pPr>
            <a:r>
              <a:rPr lang="en-US" sz="3223">
                <a:solidFill>
                  <a:srgbClr val="FFFFFF"/>
                </a:solidFill>
                <a:latin typeface="HK Grotesk Bold"/>
              </a:rPr>
              <a:t>1- Pronostico de Ventas o Plan de Ventas</a:t>
            </a:r>
          </a:p>
        </p:txBody>
      </p:sp>
      <p:sp>
        <p:nvSpPr>
          <p:cNvPr id="5" name="TextBox 5"/>
          <p:cNvSpPr txBox="1"/>
          <p:nvPr/>
        </p:nvSpPr>
        <p:spPr>
          <a:xfrm>
            <a:off x="-3096337" y="3018296"/>
            <a:ext cx="14207474" cy="1043123"/>
          </a:xfrm>
          <a:prstGeom prst="rect">
            <a:avLst/>
          </a:prstGeom>
        </p:spPr>
        <p:txBody>
          <a:bodyPr lIns="0" tIns="0" rIns="0" bIns="0" rtlCol="0" anchor="t">
            <a:spAutoFit/>
          </a:bodyPr>
          <a:lstStyle/>
          <a:p>
            <a:pPr marL="695983" lvl="1" indent="-347992" algn="ctr">
              <a:lnSpc>
                <a:spcPts val="4190"/>
              </a:lnSpc>
              <a:buFont typeface="Arial"/>
              <a:buChar char="•"/>
            </a:pPr>
            <a:r>
              <a:rPr lang="en-US" sz="3223">
                <a:solidFill>
                  <a:srgbClr val="FFFFFF"/>
                </a:solidFill>
                <a:latin typeface="HK Grotesk Bold"/>
              </a:rPr>
              <a:t>-Variables Externas</a:t>
            </a:r>
          </a:p>
          <a:p>
            <a:pPr algn="ctr">
              <a:lnSpc>
                <a:spcPts val="4190"/>
              </a:lnSpc>
              <a:spcBef>
                <a:spcPct val="0"/>
              </a:spcBef>
            </a:pPr>
            <a:r>
              <a:rPr lang="en-US" sz="3223">
                <a:solidFill>
                  <a:srgbClr val="FFFFFF"/>
                </a:solidFill>
                <a:latin typeface="HK Grotesk Bold"/>
              </a:rPr>
              <a:t>     -Variables Internas</a:t>
            </a:r>
          </a:p>
        </p:txBody>
      </p:sp>
      <p:sp>
        <p:nvSpPr>
          <p:cNvPr id="6" name="Freeform 6"/>
          <p:cNvSpPr/>
          <p:nvPr/>
        </p:nvSpPr>
        <p:spPr>
          <a:xfrm>
            <a:off x="6576498" y="3554145"/>
            <a:ext cx="10704957" cy="5858317"/>
          </a:xfrm>
          <a:custGeom>
            <a:avLst/>
            <a:gdLst/>
            <a:ahLst/>
            <a:cxnLst/>
            <a:rect l="l" t="t" r="r" b="b"/>
            <a:pathLst>
              <a:path w="10704957" h="5858317">
                <a:moveTo>
                  <a:pt x="0" y="0"/>
                </a:moveTo>
                <a:lnTo>
                  <a:pt x="10704957" y="0"/>
                </a:lnTo>
                <a:lnTo>
                  <a:pt x="10704957" y="5858317"/>
                </a:lnTo>
                <a:lnTo>
                  <a:pt x="0" y="5858317"/>
                </a:lnTo>
                <a:lnTo>
                  <a:pt x="0" y="0"/>
                </a:lnTo>
                <a:close/>
              </a:path>
            </a:pathLst>
          </a:custGeom>
          <a:blipFill>
            <a:blip r:embed="rId2"/>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AutoShape 2"/>
          <p:cNvSpPr/>
          <p:nvPr/>
        </p:nvSpPr>
        <p:spPr>
          <a:xfrm>
            <a:off x="1028700" y="2128838"/>
            <a:ext cx="16230600" cy="0"/>
          </a:xfrm>
          <a:prstGeom prst="line">
            <a:avLst/>
          </a:prstGeom>
          <a:ln w="9525" cap="flat">
            <a:solidFill>
              <a:srgbClr val="BDC2C5"/>
            </a:solidFill>
            <a:prstDash val="solid"/>
            <a:headEnd type="none" w="sm" len="sm"/>
            <a:tailEnd type="none" w="sm" len="sm"/>
          </a:ln>
        </p:spPr>
      </p:sp>
      <p:sp>
        <p:nvSpPr>
          <p:cNvPr id="3" name="Freeform 3"/>
          <p:cNvSpPr/>
          <p:nvPr/>
        </p:nvSpPr>
        <p:spPr>
          <a:xfrm>
            <a:off x="5972824" y="3485021"/>
            <a:ext cx="6342353" cy="5434601"/>
          </a:xfrm>
          <a:custGeom>
            <a:avLst/>
            <a:gdLst/>
            <a:ahLst/>
            <a:cxnLst/>
            <a:rect l="l" t="t" r="r" b="b"/>
            <a:pathLst>
              <a:path w="6342353" h="5434601">
                <a:moveTo>
                  <a:pt x="0" y="0"/>
                </a:moveTo>
                <a:lnTo>
                  <a:pt x="6342352" y="0"/>
                </a:lnTo>
                <a:lnTo>
                  <a:pt x="6342352" y="5434601"/>
                </a:lnTo>
                <a:lnTo>
                  <a:pt x="0" y="5434601"/>
                </a:lnTo>
                <a:lnTo>
                  <a:pt x="0" y="0"/>
                </a:lnTo>
                <a:close/>
              </a:path>
            </a:pathLst>
          </a:custGeom>
          <a:blipFill>
            <a:blip r:embed="rId2"/>
            <a:stretch>
              <a:fillRect l="-2930" t="-3420" r="-35170" b="-2850"/>
            </a:stretch>
          </a:blipFill>
        </p:spPr>
      </p:sp>
      <p:sp>
        <p:nvSpPr>
          <p:cNvPr id="4" name="TextBox 4"/>
          <p:cNvSpPr txBox="1"/>
          <p:nvPr/>
        </p:nvSpPr>
        <p:spPr>
          <a:xfrm>
            <a:off x="1028700" y="1019175"/>
            <a:ext cx="11095596" cy="1104900"/>
          </a:xfrm>
          <a:prstGeom prst="rect">
            <a:avLst/>
          </a:prstGeom>
        </p:spPr>
        <p:txBody>
          <a:bodyPr lIns="0" tIns="0" rIns="0" bIns="0" rtlCol="0" anchor="t">
            <a:spAutoFit/>
          </a:bodyPr>
          <a:lstStyle/>
          <a:p>
            <a:pPr marL="0" lvl="0" indent="0" algn="l">
              <a:lnSpc>
                <a:spcPts val="8640"/>
              </a:lnSpc>
              <a:spcBef>
                <a:spcPct val="0"/>
              </a:spcBef>
            </a:pPr>
            <a:r>
              <a:rPr lang="en-US" sz="7200">
                <a:solidFill>
                  <a:srgbClr val="009490"/>
                </a:solidFill>
                <a:latin typeface="HK Grotesk Bold"/>
              </a:rPr>
              <a:t>Presupuesto de Ventas</a:t>
            </a:r>
          </a:p>
        </p:txBody>
      </p:sp>
      <p:sp>
        <p:nvSpPr>
          <p:cNvPr id="5" name="TextBox 5"/>
          <p:cNvSpPr txBox="1"/>
          <p:nvPr/>
        </p:nvSpPr>
        <p:spPr>
          <a:xfrm>
            <a:off x="-2083178" y="2531492"/>
            <a:ext cx="14207474" cy="515379"/>
          </a:xfrm>
          <a:prstGeom prst="rect">
            <a:avLst/>
          </a:prstGeom>
        </p:spPr>
        <p:txBody>
          <a:bodyPr lIns="0" tIns="0" rIns="0" bIns="0" rtlCol="0" anchor="t">
            <a:spAutoFit/>
          </a:bodyPr>
          <a:lstStyle/>
          <a:p>
            <a:pPr algn="ctr">
              <a:lnSpc>
                <a:spcPts val="4190"/>
              </a:lnSpc>
              <a:spcBef>
                <a:spcPct val="0"/>
              </a:spcBef>
            </a:pPr>
            <a:r>
              <a:rPr lang="en-US" sz="3223">
                <a:solidFill>
                  <a:srgbClr val="FFFFFF"/>
                </a:solidFill>
                <a:latin typeface="HK Grotesk Bold"/>
              </a:rPr>
              <a:t>2- Programa de Ventas (Estacionalidades)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AutoShape 2"/>
          <p:cNvSpPr/>
          <p:nvPr/>
        </p:nvSpPr>
        <p:spPr>
          <a:xfrm>
            <a:off x="1028700" y="2128838"/>
            <a:ext cx="16230600" cy="0"/>
          </a:xfrm>
          <a:prstGeom prst="line">
            <a:avLst/>
          </a:prstGeom>
          <a:ln w="9525" cap="flat">
            <a:solidFill>
              <a:srgbClr val="BDC2C5"/>
            </a:solidFill>
            <a:prstDash val="solid"/>
            <a:headEnd type="none" w="sm" len="sm"/>
            <a:tailEnd type="none" w="sm" len="sm"/>
          </a:ln>
        </p:spPr>
      </p:sp>
      <p:sp>
        <p:nvSpPr>
          <p:cNvPr id="3" name="TextBox 3"/>
          <p:cNvSpPr txBox="1"/>
          <p:nvPr/>
        </p:nvSpPr>
        <p:spPr>
          <a:xfrm>
            <a:off x="1028700" y="1019175"/>
            <a:ext cx="11095596" cy="1104900"/>
          </a:xfrm>
          <a:prstGeom prst="rect">
            <a:avLst/>
          </a:prstGeom>
        </p:spPr>
        <p:txBody>
          <a:bodyPr lIns="0" tIns="0" rIns="0" bIns="0" rtlCol="0" anchor="t">
            <a:spAutoFit/>
          </a:bodyPr>
          <a:lstStyle/>
          <a:p>
            <a:pPr marL="0" lvl="0" indent="0" algn="l">
              <a:lnSpc>
                <a:spcPts val="8640"/>
              </a:lnSpc>
              <a:spcBef>
                <a:spcPct val="0"/>
              </a:spcBef>
            </a:pPr>
            <a:r>
              <a:rPr lang="en-US" sz="7200">
                <a:solidFill>
                  <a:srgbClr val="009490"/>
                </a:solidFill>
                <a:latin typeface="HK Grotesk Bold"/>
              </a:rPr>
              <a:t>Presupuesto de Ventas</a:t>
            </a:r>
          </a:p>
        </p:txBody>
      </p:sp>
      <p:sp>
        <p:nvSpPr>
          <p:cNvPr id="4" name="TextBox 4"/>
          <p:cNvSpPr txBox="1"/>
          <p:nvPr/>
        </p:nvSpPr>
        <p:spPr>
          <a:xfrm>
            <a:off x="-3884269" y="2531492"/>
            <a:ext cx="14207474" cy="515379"/>
          </a:xfrm>
          <a:prstGeom prst="rect">
            <a:avLst/>
          </a:prstGeom>
        </p:spPr>
        <p:txBody>
          <a:bodyPr lIns="0" tIns="0" rIns="0" bIns="0" rtlCol="0" anchor="t">
            <a:spAutoFit/>
          </a:bodyPr>
          <a:lstStyle/>
          <a:p>
            <a:pPr algn="ctr">
              <a:lnSpc>
                <a:spcPts val="4190"/>
              </a:lnSpc>
              <a:spcBef>
                <a:spcPct val="0"/>
              </a:spcBef>
            </a:pPr>
            <a:r>
              <a:rPr lang="en-US" sz="3223">
                <a:solidFill>
                  <a:srgbClr val="FFFFFF"/>
                </a:solidFill>
                <a:latin typeface="HK Grotesk Bold"/>
              </a:rPr>
              <a:t>3- Plan de Fabricacion</a:t>
            </a:r>
          </a:p>
        </p:txBody>
      </p:sp>
      <p:sp>
        <p:nvSpPr>
          <p:cNvPr id="5" name="TextBox 5"/>
          <p:cNvSpPr txBox="1"/>
          <p:nvPr/>
        </p:nvSpPr>
        <p:spPr>
          <a:xfrm>
            <a:off x="2187893" y="4519930"/>
            <a:ext cx="13912215" cy="1180465"/>
          </a:xfrm>
          <a:prstGeom prst="rect">
            <a:avLst/>
          </a:prstGeom>
        </p:spPr>
        <p:txBody>
          <a:bodyPr lIns="0" tIns="0" rIns="0" bIns="0" rtlCol="0" anchor="t">
            <a:spAutoFit/>
          </a:bodyPr>
          <a:lstStyle/>
          <a:p>
            <a:pPr algn="ctr">
              <a:lnSpc>
                <a:spcPts val="4759"/>
              </a:lnSpc>
            </a:pPr>
            <a:r>
              <a:rPr lang="en-US" sz="3399">
                <a:solidFill>
                  <a:srgbClr val="009490"/>
                </a:solidFill>
                <a:latin typeface="Open Sans"/>
              </a:rPr>
              <a:t>Stock al inicio del período + Cantidad a producir (plan de fabricación) </a:t>
            </a:r>
          </a:p>
          <a:p>
            <a:pPr algn="ctr">
              <a:lnSpc>
                <a:spcPts val="4759"/>
              </a:lnSpc>
            </a:pPr>
            <a:r>
              <a:rPr lang="en-US" sz="3399">
                <a:solidFill>
                  <a:srgbClr val="009490"/>
                </a:solidFill>
                <a:latin typeface="Open Sans"/>
              </a:rPr>
              <a:t>= Cantidad a vender (Plan de ventas) + Stock al final del período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AutoShape 2"/>
          <p:cNvSpPr/>
          <p:nvPr/>
        </p:nvSpPr>
        <p:spPr>
          <a:xfrm>
            <a:off x="1028700" y="1690688"/>
            <a:ext cx="16230600" cy="0"/>
          </a:xfrm>
          <a:prstGeom prst="line">
            <a:avLst/>
          </a:prstGeom>
          <a:ln w="9525" cap="flat">
            <a:solidFill>
              <a:srgbClr val="BDC2C5"/>
            </a:solidFill>
            <a:prstDash val="solid"/>
            <a:headEnd type="none" w="sm" len="sm"/>
            <a:tailEnd type="none" w="sm" len="sm"/>
          </a:ln>
        </p:spPr>
      </p:sp>
      <p:sp>
        <p:nvSpPr>
          <p:cNvPr id="3" name="Freeform 3"/>
          <p:cNvSpPr/>
          <p:nvPr/>
        </p:nvSpPr>
        <p:spPr>
          <a:xfrm>
            <a:off x="8738848" y="2265045"/>
            <a:ext cx="221409" cy="1932940"/>
          </a:xfrm>
          <a:custGeom>
            <a:avLst/>
            <a:gdLst/>
            <a:ahLst/>
            <a:cxnLst/>
            <a:rect l="l" t="t" r="r" b="b"/>
            <a:pathLst>
              <a:path w="221409" h="1932940">
                <a:moveTo>
                  <a:pt x="0" y="0"/>
                </a:moveTo>
                <a:lnTo>
                  <a:pt x="221409" y="0"/>
                </a:lnTo>
                <a:lnTo>
                  <a:pt x="221409" y="1932940"/>
                </a:lnTo>
                <a:lnTo>
                  <a:pt x="0" y="19329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9398407" y="2276629"/>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Presupuesto de Ventas</a:t>
            </a:r>
          </a:p>
        </p:txBody>
      </p:sp>
      <p:sp>
        <p:nvSpPr>
          <p:cNvPr id="5" name="TextBox 5"/>
          <p:cNvSpPr txBox="1"/>
          <p:nvPr/>
        </p:nvSpPr>
        <p:spPr>
          <a:xfrm>
            <a:off x="9398407" y="2780184"/>
            <a:ext cx="5175802" cy="521335"/>
          </a:xfrm>
          <a:prstGeom prst="rect">
            <a:avLst/>
          </a:prstGeom>
        </p:spPr>
        <p:txBody>
          <a:bodyPr lIns="0" tIns="0" rIns="0" bIns="0" rtlCol="0" anchor="t">
            <a:spAutoFit/>
          </a:bodyPr>
          <a:lstStyle/>
          <a:p>
            <a:pPr>
              <a:lnSpc>
                <a:spcPts val="4160"/>
              </a:lnSpc>
              <a:spcBef>
                <a:spcPct val="0"/>
              </a:spcBef>
            </a:pPr>
            <a:r>
              <a:rPr lang="en-US" sz="3200">
                <a:solidFill>
                  <a:srgbClr val="009490"/>
                </a:solidFill>
                <a:latin typeface="HK Grotesk Bold"/>
              </a:rPr>
              <a:t>Presupuesto de Produccion</a:t>
            </a:r>
          </a:p>
        </p:txBody>
      </p:sp>
      <p:sp>
        <p:nvSpPr>
          <p:cNvPr id="6" name="TextBox 6"/>
          <p:cNvSpPr txBox="1"/>
          <p:nvPr/>
        </p:nvSpPr>
        <p:spPr>
          <a:xfrm>
            <a:off x="9398407" y="3283739"/>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Presupuesto de Compras</a:t>
            </a:r>
          </a:p>
        </p:txBody>
      </p:sp>
      <p:sp>
        <p:nvSpPr>
          <p:cNvPr id="7" name="TextBox 7"/>
          <p:cNvSpPr txBox="1"/>
          <p:nvPr/>
        </p:nvSpPr>
        <p:spPr>
          <a:xfrm>
            <a:off x="9398407" y="3766974"/>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Presupuesto de Gastos</a:t>
            </a:r>
          </a:p>
        </p:txBody>
      </p:sp>
      <p:sp>
        <p:nvSpPr>
          <p:cNvPr id="8" name="TextBox 8"/>
          <p:cNvSpPr txBox="1"/>
          <p:nvPr/>
        </p:nvSpPr>
        <p:spPr>
          <a:xfrm>
            <a:off x="10368528" y="4683930"/>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Compra de Bienes de Uso</a:t>
            </a:r>
          </a:p>
        </p:txBody>
      </p:sp>
      <p:sp>
        <p:nvSpPr>
          <p:cNvPr id="9" name="Freeform 9"/>
          <p:cNvSpPr/>
          <p:nvPr/>
        </p:nvSpPr>
        <p:spPr>
          <a:xfrm>
            <a:off x="4460793" y="2124075"/>
            <a:ext cx="793790" cy="6929910"/>
          </a:xfrm>
          <a:custGeom>
            <a:avLst/>
            <a:gdLst/>
            <a:ahLst/>
            <a:cxnLst/>
            <a:rect l="l" t="t" r="r" b="b"/>
            <a:pathLst>
              <a:path w="793790" h="6929910">
                <a:moveTo>
                  <a:pt x="0" y="0"/>
                </a:moveTo>
                <a:lnTo>
                  <a:pt x="793789" y="0"/>
                </a:lnTo>
                <a:lnTo>
                  <a:pt x="793789" y="6929910"/>
                </a:lnTo>
                <a:lnTo>
                  <a:pt x="0" y="69299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TextBox 10"/>
          <p:cNvSpPr txBox="1"/>
          <p:nvPr/>
        </p:nvSpPr>
        <p:spPr>
          <a:xfrm>
            <a:off x="647700" y="361950"/>
            <a:ext cx="11095596" cy="1104900"/>
          </a:xfrm>
          <a:prstGeom prst="rect">
            <a:avLst/>
          </a:prstGeom>
        </p:spPr>
        <p:txBody>
          <a:bodyPr lIns="0" tIns="0" rIns="0" bIns="0" rtlCol="0" anchor="t">
            <a:spAutoFit/>
          </a:bodyPr>
          <a:lstStyle/>
          <a:p>
            <a:pPr marL="0" lvl="0" indent="0" algn="l">
              <a:lnSpc>
                <a:spcPts val="8640"/>
              </a:lnSpc>
              <a:spcBef>
                <a:spcPct val="0"/>
              </a:spcBef>
            </a:pPr>
            <a:r>
              <a:rPr lang="en-US" sz="7200">
                <a:solidFill>
                  <a:srgbClr val="009490"/>
                </a:solidFill>
                <a:latin typeface="HK Grotesk Bold"/>
              </a:rPr>
              <a:t>Sistema Presupuestario</a:t>
            </a:r>
          </a:p>
        </p:txBody>
      </p:sp>
      <p:sp>
        <p:nvSpPr>
          <p:cNvPr id="11" name="TextBox 11"/>
          <p:cNvSpPr txBox="1"/>
          <p:nvPr/>
        </p:nvSpPr>
        <p:spPr>
          <a:xfrm>
            <a:off x="5476163" y="4421993"/>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Presupuesto de Inversiones</a:t>
            </a:r>
          </a:p>
        </p:txBody>
      </p:sp>
      <p:sp>
        <p:nvSpPr>
          <p:cNvPr id="12" name="TextBox 12"/>
          <p:cNvSpPr txBox="1"/>
          <p:nvPr/>
        </p:nvSpPr>
        <p:spPr>
          <a:xfrm>
            <a:off x="5476163" y="2759864"/>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009490"/>
                </a:solidFill>
                <a:latin typeface="HK Grotesk Bold"/>
              </a:rPr>
              <a:t>Presupuesto Operativo</a:t>
            </a:r>
          </a:p>
        </p:txBody>
      </p:sp>
      <p:sp>
        <p:nvSpPr>
          <p:cNvPr id="13" name="TextBox 13"/>
          <p:cNvSpPr txBox="1"/>
          <p:nvPr/>
        </p:nvSpPr>
        <p:spPr>
          <a:xfrm>
            <a:off x="1415505" y="4925548"/>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Sistema Presupuestario</a:t>
            </a:r>
          </a:p>
        </p:txBody>
      </p:sp>
      <p:sp>
        <p:nvSpPr>
          <p:cNvPr id="14" name="TextBox 14"/>
          <p:cNvSpPr txBox="1"/>
          <p:nvPr/>
        </p:nvSpPr>
        <p:spPr>
          <a:xfrm>
            <a:off x="5476163" y="6105378"/>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Presupuesto Financiero</a:t>
            </a:r>
          </a:p>
        </p:txBody>
      </p:sp>
      <p:sp>
        <p:nvSpPr>
          <p:cNvPr id="15" name="TextBox 15"/>
          <p:cNvSpPr txBox="1"/>
          <p:nvPr/>
        </p:nvSpPr>
        <p:spPr>
          <a:xfrm>
            <a:off x="5476163" y="7788763"/>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Estados de Sintesis</a:t>
            </a:r>
          </a:p>
        </p:txBody>
      </p:sp>
      <p:sp>
        <p:nvSpPr>
          <p:cNvPr id="16" name="TextBox 16"/>
          <p:cNvSpPr txBox="1"/>
          <p:nvPr/>
        </p:nvSpPr>
        <p:spPr>
          <a:xfrm>
            <a:off x="9040583" y="6039806"/>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De Ingresos</a:t>
            </a:r>
          </a:p>
        </p:txBody>
      </p:sp>
      <p:sp>
        <p:nvSpPr>
          <p:cNvPr id="17" name="TextBox 17"/>
          <p:cNvSpPr txBox="1"/>
          <p:nvPr/>
        </p:nvSpPr>
        <p:spPr>
          <a:xfrm>
            <a:off x="9040583" y="6629253"/>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De Egresos</a:t>
            </a:r>
          </a:p>
        </p:txBody>
      </p:sp>
      <p:sp>
        <p:nvSpPr>
          <p:cNvPr id="18" name="TextBox 18"/>
          <p:cNvSpPr txBox="1"/>
          <p:nvPr/>
        </p:nvSpPr>
        <p:spPr>
          <a:xfrm>
            <a:off x="9040583" y="7787478"/>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Cuadro de resultados proforma</a:t>
            </a:r>
          </a:p>
        </p:txBody>
      </p:sp>
      <p:sp>
        <p:nvSpPr>
          <p:cNvPr id="19" name="TextBox 19"/>
          <p:cNvSpPr txBox="1"/>
          <p:nvPr/>
        </p:nvSpPr>
        <p:spPr>
          <a:xfrm>
            <a:off x="9040583" y="8291033"/>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Balance general Proforma</a:t>
            </a:r>
          </a:p>
        </p:txBody>
      </p:sp>
      <p:sp>
        <p:nvSpPr>
          <p:cNvPr id="20" name="AutoShape 20"/>
          <p:cNvSpPr/>
          <p:nvPr/>
        </p:nvSpPr>
        <p:spPr>
          <a:xfrm flipH="1">
            <a:off x="8586448" y="4982698"/>
            <a:ext cx="1496330" cy="0"/>
          </a:xfrm>
          <a:prstGeom prst="line">
            <a:avLst/>
          </a:prstGeom>
          <a:ln w="38100" cap="flat">
            <a:solidFill>
              <a:srgbClr val="FFFFFF"/>
            </a:solidFill>
            <a:prstDash val="solid"/>
            <a:headEnd type="none" w="sm" len="sm"/>
            <a:tailEnd type="arrow" w="med" len="sm"/>
          </a:ln>
        </p:spPr>
      </p:sp>
      <p:sp>
        <p:nvSpPr>
          <p:cNvPr id="21" name="Freeform 21"/>
          <p:cNvSpPr/>
          <p:nvPr/>
        </p:nvSpPr>
        <p:spPr>
          <a:xfrm>
            <a:off x="8586448" y="5891700"/>
            <a:ext cx="168385" cy="1470025"/>
          </a:xfrm>
          <a:custGeom>
            <a:avLst/>
            <a:gdLst/>
            <a:ahLst/>
            <a:cxnLst/>
            <a:rect l="l" t="t" r="r" b="b"/>
            <a:pathLst>
              <a:path w="168385" h="1470025">
                <a:moveTo>
                  <a:pt x="0" y="0"/>
                </a:moveTo>
                <a:lnTo>
                  <a:pt x="168385" y="0"/>
                </a:lnTo>
                <a:lnTo>
                  <a:pt x="168385" y="1470025"/>
                </a:lnTo>
                <a:lnTo>
                  <a:pt x="0" y="14700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2" name="Freeform 22"/>
          <p:cNvSpPr/>
          <p:nvPr/>
        </p:nvSpPr>
        <p:spPr>
          <a:xfrm>
            <a:off x="8586448" y="7583960"/>
            <a:ext cx="168385" cy="1470025"/>
          </a:xfrm>
          <a:custGeom>
            <a:avLst/>
            <a:gdLst/>
            <a:ahLst/>
            <a:cxnLst/>
            <a:rect l="l" t="t" r="r" b="b"/>
            <a:pathLst>
              <a:path w="168385" h="1470025">
                <a:moveTo>
                  <a:pt x="0" y="0"/>
                </a:moveTo>
                <a:lnTo>
                  <a:pt x="168385" y="0"/>
                </a:lnTo>
                <a:lnTo>
                  <a:pt x="168385" y="1470025"/>
                </a:lnTo>
                <a:lnTo>
                  <a:pt x="0" y="14700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6387495" y="4920433"/>
            <a:ext cx="3104584" cy="1380471"/>
            <a:chOff x="0" y="0"/>
            <a:chExt cx="1187669" cy="528104"/>
          </a:xfrm>
        </p:grpSpPr>
        <p:sp>
          <p:nvSpPr>
            <p:cNvPr id="3" name="Freeform 3"/>
            <p:cNvSpPr/>
            <p:nvPr/>
          </p:nvSpPr>
          <p:spPr>
            <a:xfrm>
              <a:off x="0" y="0"/>
              <a:ext cx="1187669" cy="528104"/>
            </a:xfrm>
            <a:custGeom>
              <a:avLst/>
              <a:gdLst/>
              <a:ahLst/>
              <a:cxnLst/>
              <a:rect l="l" t="t" r="r" b="b"/>
              <a:pathLst>
                <a:path w="1187669" h="528104">
                  <a:moveTo>
                    <a:pt x="1187669" y="264052"/>
                  </a:moveTo>
                  <a:lnTo>
                    <a:pt x="781269" y="0"/>
                  </a:lnTo>
                  <a:lnTo>
                    <a:pt x="781269" y="203200"/>
                  </a:lnTo>
                  <a:lnTo>
                    <a:pt x="0" y="203200"/>
                  </a:lnTo>
                  <a:lnTo>
                    <a:pt x="0" y="324904"/>
                  </a:lnTo>
                  <a:lnTo>
                    <a:pt x="781269" y="324904"/>
                  </a:lnTo>
                  <a:lnTo>
                    <a:pt x="781269" y="528104"/>
                  </a:lnTo>
                  <a:lnTo>
                    <a:pt x="1187669" y="264052"/>
                  </a:lnTo>
                  <a:close/>
                </a:path>
              </a:pathLst>
            </a:custGeom>
            <a:solidFill>
              <a:srgbClr val="009490"/>
            </a:solidFill>
          </p:spPr>
        </p:sp>
        <p:sp>
          <p:nvSpPr>
            <p:cNvPr id="4" name="TextBox 4"/>
            <p:cNvSpPr txBox="1"/>
            <p:nvPr/>
          </p:nvSpPr>
          <p:spPr>
            <a:xfrm>
              <a:off x="0" y="165100"/>
              <a:ext cx="1086069" cy="159804"/>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3371314" y="876300"/>
            <a:ext cx="11545372" cy="1295400"/>
          </a:xfrm>
          <a:prstGeom prst="rect">
            <a:avLst/>
          </a:prstGeom>
        </p:spPr>
        <p:txBody>
          <a:bodyPr lIns="0" tIns="0" rIns="0" bIns="0" rtlCol="0" anchor="t">
            <a:spAutoFit/>
          </a:bodyPr>
          <a:lstStyle/>
          <a:p>
            <a:pPr algn="ctr">
              <a:lnSpc>
                <a:spcPts val="10500"/>
              </a:lnSpc>
            </a:pPr>
            <a:r>
              <a:rPr lang="en-US" sz="7500">
                <a:solidFill>
                  <a:srgbClr val="009490"/>
                </a:solidFill>
                <a:latin typeface="HK Grotesk Bold"/>
              </a:rPr>
              <a:t>Presupuesto de produccion</a:t>
            </a:r>
          </a:p>
        </p:txBody>
      </p:sp>
      <p:sp>
        <p:nvSpPr>
          <p:cNvPr id="6" name="TextBox 6"/>
          <p:cNvSpPr txBox="1"/>
          <p:nvPr/>
        </p:nvSpPr>
        <p:spPr>
          <a:xfrm>
            <a:off x="1553275" y="5206808"/>
            <a:ext cx="4344472" cy="721996"/>
          </a:xfrm>
          <a:prstGeom prst="rect">
            <a:avLst/>
          </a:prstGeom>
        </p:spPr>
        <p:txBody>
          <a:bodyPr lIns="0" tIns="0" rIns="0" bIns="0" rtlCol="0" anchor="t">
            <a:spAutoFit/>
          </a:bodyPr>
          <a:lstStyle/>
          <a:p>
            <a:pPr algn="ctr">
              <a:lnSpc>
                <a:spcPts val="5879"/>
              </a:lnSpc>
            </a:pPr>
            <a:r>
              <a:rPr lang="en-US" sz="4199">
                <a:solidFill>
                  <a:srgbClr val="FFFFFF"/>
                </a:solidFill>
                <a:latin typeface="HK Grotesk"/>
              </a:rPr>
              <a:t>Programa de venta</a:t>
            </a:r>
          </a:p>
        </p:txBody>
      </p:sp>
      <p:sp>
        <p:nvSpPr>
          <p:cNvPr id="7" name="TextBox 7"/>
          <p:cNvSpPr txBox="1"/>
          <p:nvPr/>
        </p:nvSpPr>
        <p:spPr>
          <a:xfrm>
            <a:off x="10763336" y="3714829"/>
            <a:ext cx="4432816" cy="721996"/>
          </a:xfrm>
          <a:prstGeom prst="rect">
            <a:avLst/>
          </a:prstGeom>
        </p:spPr>
        <p:txBody>
          <a:bodyPr lIns="0" tIns="0" rIns="0" bIns="0" rtlCol="0" anchor="t">
            <a:spAutoFit/>
          </a:bodyPr>
          <a:lstStyle/>
          <a:p>
            <a:pPr algn="ctr">
              <a:lnSpc>
                <a:spcPts val="5879"/>
              </a:lnSpc>
            </a:pPr>
            <a:r>
              <a:rPr lang="en-US" sz="4199">
                <a:solidFill>
                  <a:srgbClr val="FFFFFF"/>
                </a:solidFill>
                <a:latin typeface="HK Grotesk"/>
              </a:rPr>
              <a:t>Plan de producción</a:t>
            </a:r>
          </a:p>
        </p:txBody>
      </p:sp>
      <p:sp>
        <p:nvSpPr>
          <p:cNvPr id="8" name="TextBox 8"/>
          <p:cNvSpPr txBox="1"/>
          <p:nvPr/>
        </p:nvSpPr>
        <p:spPr>
          <a:xfrm>
            <a:off x="9492078" y="4977573"/>
            <a:ext cx="7242647" cy="2353231"/>
          </a:xfrm>
          <a:prstGeom prst="rect">
            <a:avLst/>
          </a:prstGeom>
        </p:spPr>
        <p:txBody>
          <a:bodyPr lIns="0" tIns="0" rIns="0" bIns="0" rtlCol="0" anchor="t">
            <a:spAutoFit/>
          </a:bodyPr>
          <a:lstStyle/>
          <a:p>
            <a:pPr marL="713811" lvl="1" indent="-356905" algn="ctr">
              <a:lnSpc>
                <a:spcPts val="4628"/>
              </a:lnSpc>
              <a:buFont typeface="Arial"/>
              <a:buChar char="•"/>
            </a:pPr>
            <a:r>
              <a:rPr lang="en-US" sz="3306">
                <a:solidFill>
                  <a:srgbClr val="FFFFFF"/>
                </a:solidFill>
                <a:latin typeface="HK Grotesk"/>
              </a:rPr>
              <a:t>Estimación numero unidades producir</a:t>
            </a:r>
          </a:p>
          <a:p>
            <a:pPr marL="734059" lvl="1" indent="-367030" algn="ctr">
              <a:lnSpc>
                <a:spcPts val="4759"/>
              </a:lnSpc>
              <a:buFont typeface="Arial"/>
              <a:buChar char="•"/>
            </a:pPr>
            <a:r>
              <a:rPr lang="en-US" sz="3399">
                <a:solidFill>
                  <a:srgbClr val="FFFFFF"/>
                </a:solidFill>
                <a:latin typeface="HK Grotesk"/>
              </a:rPr>
              <a:t>Punto partida → Presupuesto producción y compras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3371314" y="876300"/>
            <a:ext cx="11545372" cy="1295400"/>
          </a:xfrm>
          <a:prstGeom prst="rect">
            <a:avLst/>
          </a:prstGeom>
        </p:spPr>
        <p:txBody>
          <a:bodyPr lIns="0" tIns="0" rIns="0" bIns="0" rtlCol="0" anchor="t">
            <a:spAutoFit/>
          </a:bodyPr>
          <a:lstStyle/>
          <a:p>
            <a:pPr algn="ctr">
              <a:lnSpc>
                <a:spcPts val="10500"/>
              </a:lnSpc>
            </a:pPr>
            <a:r>
              <a:rPr lang="en-US" sz="7500">
                <a:solidFill>
                  <a:srgbClr val="009490"/>
                </a:solidFill>
                <a:latin typeface="HK Grotesk Bold"/>
              </a:rPr>
              <a:t>Presupuesto de produccion</a:t>
            </a:r>
          </a:p>
        </p:txBody>
      </p:sp>
      <p:sp>
        <p:nvSpPr>
          <p:cNvPr id="3" name="TextBox 3"/>
          <p:cNvSpPr txBox="1"/>
          <p:nvPr/>
        </p:nvSpPr>
        <p:spPr>
          <a:xfrm>
            <a:off x="2981016" y="4106208"/>
            <a:ext cx="8490344" cy="4311650"/>
          </a:xfrm>
          <a:prstGeom prst="rect">
            <a:avLst/>
          </a:prstGeom>
        </p:spPr>
        <p:txBody>
          <a:bodyPr lIns="0" tIns="0" rIns="0" bIns="0" rtlCol="0" anchor="t">
            <a:spAutoFit/>
          </a:bodyPr>
          <a:lstStyle/>
          <a:p>
            <a:pPr marL="755649" lvl="1" indent="-377824">
              <a:lnSpc>
                <a:spcPts val="4899"/>
              </a:lnSpc>
              <a:buFont typeface="Arial"/>
              <a:buChar char="•"/>
            </a:pPr>
            <a:r>
              <a:rPr lang="en-US" sz="3499">
                <a:solidFill>
                  <a:srgbClr val="FFFFFF"/>
                </a:solidFill>
                <a:latin typeface="HK Grotesk"/>
              </a:rPr>
              <a:t>Valoración → Unidades monetarias</a:t>
            </a:r>
          </a:p>
          <a:p>
            <a:pPr marL="755649" lvl="1" indent="-377824">
              <a:lnSpc>
                <a:spcPts val="4899"/>
              </a:lnSpc>
              <a:buFont typeface="Arial"/>
              <a:buChar char="•"/>
            </a:pPr>
            <a:r>
              <a:rPr lang="en-US" sz="3499">
                <a:solidFill>
                  <a:srgbClr val="FFFFFF"/>
                </a:solidFill>
                <a:latin typeface="HK Grotesk"/>
              </a:rPr>
              <a:t>Técnicas de costeo →</a:t>
            </a:r>
          </a:p>
          <a:p>
            <a:pPr>
              <a:lnSpc>
                <a:spcPts val="4899"/>
              </a:lnSpc>
            </a:pPr>
            <a:endParaRPr lang="en-US" sz="3499">
              <a:solidFill>
                <a:srgbClr val="FFFFFF"/>
              </a:solidFill>
              <a:latin typeface="HK Grotesk"/>
            </a:endParaRPr>
          </a:p>
          <a:p>
            <a:pPr>
              <a:lnSpc>
                <a:spcPts val="4899"/>
              </a:lnSpc>
            </a:pPr>
            <a:endParaRPr lang="en-US" sz="3499">
              <a:solidFill>
                <a:srgbClr val="FFFFFF"/>
              </a:solidFill>
              <a:latin typeface="HK Grotesk"/>
            </a:endParaRPr>
          </a:p>
          <a:p>
            <a:pPr>
              <a:lnSpc>
                <a:spcPts val="4899"/>
              </a:lnSpc>
            </a:pPr>
            <a:endParaRPr lang="en-US" sz="3499">
              <a:solidFill>
                <a:srgbClr val="FFFFFF"/>
              </a:solidFill>
              <a:latin typeface="HK Grotesk"/>
            </a:endParaRPr>
          </a:p>
          <a:p>
            <a:pPr marL="755649" lvl="1" indent="-377824">
              <a:lnSpc>
                <a:spcPts val="4899"/>
              </a:lnSpc>
              <a:buFont typeface="Arial"/>
              <a:buChar char="•"/>
            </a:pPr>
            <a:r>
              <a:rPr lang="en-US" sz="3499">
                <a:solidFill>
                  <a:srgbClr val="FFFFFF"/>
                </a:solidFill>
                <a:latin typeface="HK Grotesk"/>
              </a:rPr>
              <a:t>Determinar costo unitario </a:t>
            </a:r>
          </a:p>
          <a:p>
            <a:pPr algn="ctr">
              <a:lnSpc>
                <a:spcPts val="4899"/>
              </a:lnSpc>
            </a:pPr>
            <a:endParaRPr lang="en-US" sz="3499">
              <a:solidFill>
                <a:srgbClr val="FFFFFF"/>
              </a:solidFill>
              <a:latin typeface="HK Grotesk"/>
            </a:endParaRPr>
          </a:p>
        </p:txBody>
      </p:sp>
      <p:sp>
        <p:nvSpPr>
          <p:cNvPr id="4" name="TextBox 4"/>
          <p:cNvSpPr txBox="1"/>
          <p:nvPr/>
        </p:nvSpPr>
        <p:spPr>
          <a:xfrm>
            <a:off x="8922705" y="4615884"/>
            <a:ext cx="6384279" cy="2454275"/>
          </a:xfrm>
          <a:prstGeom prst="rect">
            <a:avLst/>
          </a:prstGeom>
        </p:spPr>
        <p:txBody>
          <a:bodyPr lIns="0" tIns="0" rIns="0" bIns="0" rtlCol="0" anchor="t">
            <a:spAutoFit/>
          </a:bodyPr>
          <a:lstStyle/>
          <a:p>
            <a:pPr>
              <a:lnSpc>
                <a:spcPts val="4899"/>
              </a:lnSpc>
            </a:pPr>
            <a:r>
              <a:rPr lang="en-US" sz="3499">
                <a:solidFill>
                  <a:srgbClr val="FFFFFF"/>
                </a:solidFill>
                <a:latin typeface="HK Grotesk"/>
              </a:rPr>
              <a:t>- Costo Materia Prima</a:t>
            </a:r>
          </a:p>
          <a:p>
            <a:pPr>
              <a:lnSpc>
                <a:spcPts val="4899"/>
              </a:lnSpc>
            </a:pPr>
            <a:r>
              <a:rPr lang="en-US" sz="3499">
                <a:solidFill>
                  <a:srgbClr val="FFFFFF"/>
                </a:solidFill>
                <a:latin typeface="HK Grotesk"/>
              </a:rPr>
              <a:t>- Costo Mano de Obra Directa</a:t>
            </a:r>
          </a:p>
          <a:p>
            <a:pPr>
              <a:lnSpc>
                <a:spcPts val="4899"/>
              </a:lnSpc>
            </a:pPr>
            <a:r>
              <a:rPr lang="en-US" sz="3499">
                <a:solidFill>
                  <a:srgbClr val="FFFFFF"/>
                </a:solidFill>
                <a:latin typeface="HK Grotesk"/>
              </a:rPr>
              <a:t>- Gastos Indirectos de fabricación</a:t>
            </a:r>
          </a:p>
        </p:txBody>
      </p:sp>
      <p:sp>
        <p:nvSpPr>
          <p:cNvPr id="5" name="TextBox 5"/>
          <p:cNvSpPr txBox="1"/>
          <p:nvPr/>
        </p:nvSpPr>
        <p:spPr>
          <a:xfrm>
            <a:off x="3267183" y="2833316"/>
            <a:ext cx="6281738" cy="721996"/>
          </a:xfrm>
          <a:prstGeom prst="rect">
            <a:avLst/>
          </a:prstGeom>
        </p:spPr>
        <p:txBody>
          <a:bodyPr lIns="0" tIns="0" rIns="0" bIns="0" rtlCol="0" anchor="t">
            <a:spAutoFit/>
          </a:bodyPr>
          <a:lstStyle/>
          <a:p>
            <a:pPr algn="ctr">
              <a:lnSpc>
                <a:spcPts val="5879"/>
              </a:lnSpc>
            </a:pPr>
            <a:r>
              <a:rPr lang="en-US" sz="4199">
                <a:solidFill>
                  <a:srgbClr val="FFFFFF"/>
                </a:solidFill>
                <a:latin typeface="HK Grotesk"/>
              </a:rPr>
              <a:t>Presupuesto de producción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3371314" y="876300"/>
            <a:ext cx="11545372" cy="1295400"/>
          </a:xfrm>
          <a:prstGeom prst="rect">
            <a:avLst/>
          </a:prstGeom>
        </p:spPr>
        <p:txBody>
          <a:bodyPr lIns="0" tIns="0" rIns="0" bIns="0" rtlCol="0" anchor="t">
            <a:spAutoFit/>
          </a:bodyPr>
          <a:lstStyle/>
          <a:p>
            <a:pPr algn="ctr">
              <a:lnSpc>
                <a:spcPts val="10500"/>
              </a:lnSpc>
            </a:pPr>
            <a:r>
              <a:rPr lang="en-US" sz="7500">
                <a:solidFill>
                  <a:srgbClr val="009490"/>
                </a:solidFill>
                <a:latin typeface="HK Grotesk Bold"/>
              </a:rPr>
              <a:t>Presupuesto de produccion</a:t>
            </a:r>
          </a:p>
        </p:txBody>
      </p:sp>
      <p:sp>
        <p:nvSpPr>
          <p:cNvPr id="3" name="TextBox 3"/>
          <p:cNvSpPr txBox="1"/>
          <p:nvPr/>
        </p:nvSpPr>
        <p:spPr>
          <a:xfrm>
            <a:off x="2842195" y="2865223"/>
            <a:ext cx="7514630" cy="721996"/>
          </a:xfrm>
          <a:prstGeom prst="rect">
            <a:avLst/>
          </a:prstGeom>
        </p:spPr>
        <p:txBody>
          <a:bodyPr lIns="0" tIns="0" rIns="0" bIns="0" rtlCol="0" anchor="t">
            <a:spAutoFit/>
          </a:bodyPr>
          <a:lstStyle/>
          <a:p>
            <a:pPr algn="ctr">
              <a:lnSpc>
                <a:spcPts val="5879"/>
              </a:lnSpc>
            </a:pPr>
            <a:r>
              <a:rPr lang="en-US" sz="4199">
                <a:solidFill>
                  <a:srgbClr val="FFFFFF"/>
                </a:solidFill>
                <a:latin typeface="HK Grotesk"/>
              </a:rPr>
              <a:t>Presupuesto de materias primas </a:t>
            </a:r>
          </a:p>
        </p:txBody>
      </p:sp>
      <p:sp>
        <p:nvSpPr>
          <p:cNvPr id="4" name="TextBox 4"/>
          <p:cNvSpPr txBox="1"/>
          <p:nvPr/>
        </p:nvSpPr>
        <p:spPr>
          <a:xfrm>
            <a:off x="2485186" y="4131970"/>
            <a:ext cx="9700268" cy="1780540"/>
          </a:xfrm>
          <a:prstGeom prst="rect">
            <a:avLst/>
          </a:prstGeom>
        </p:spPr>
        <p:txBody>
          <a:bodyPr lIns="0" tIns="0" rIns="0" bIns="0" rtlCol="0" anchor="t">
            <a:spAutoFit/>
          </a:bodyPr>
          <a:lstStyle/>
          <a:p>
            <a:pPr marL="734059" lvl="1" indent="-367030">
              <a:lnSpc>
                <a:spcPts val="4759"/>
              </a:lnSpc>
              <a:buFont typeface="Arial"/>
              <a:buChar char="•"/>
            </a:pPr>
            <a:r>
              <a:rPr lang="en-US" sz="3399">
                <a:solidFill>
                  <a:srgbClr val="FFFFFF"/>
                </a:solidFill>
                <a:latin typeface="HK Grotesk"/>
              </a:rPr>
              <a:t>Depende Programa de producción</a:t>
            </a:r>
          </a:p>
          <a:p>
            <a:pPr marL="734059" lvl="1" indent="-367030">
              <a:lnSpc>
                <a:spcPts val="4759"/>
              </a:lnSpc>
              <a:buFont typeface="Arial"/>
              <a:buChar char="•"/>
            </a:pPr>
            <a:r>
              <a:rPr lang="en-US" sz="3399">
                <a:solidFill>
                  <a:srgbClr val="FFFFFF"/>
                </a:solidFill>
                <a:latin typeface="HK Grotesk"/>
              </a:rPr>
              <a:t>Tiene en cuenta cantidad materia prima → necesaria  </a:t>
            </a:r>
          </a:p>
        </p:txBody>
      </p:sp>
      <p:sp>
        <p:nvSpPr>
          <p:cNvPr id="5" name="TextBox 5"/>
          <p:cNvSpPr txBox="1"/>
          <p:nvPr/>
        </p:nvSpPr>
        <p:spPr>
          <a:xfrm>
            <a:off x="12332258" y="4732045"/>
            <a:ext cx="2187892" cy="1180465"/>
          </a:xfrm>
          <a:prstGeom prst="rect">
            <a:avLst/>
          </a:prstGeom>
        </p:spPr>
        <p:txBody>
          <a:bodyPr lIns="0" tIns="0" rIns="0" bIns="0" rtlCol="0" anchor="t">
            <a:spAutoFit/>
          </a:bodyPr>
          <a:lstStyle/>
          <a:p>
            <a:pPr>
              <a:lnSpc>
                <a:spcPts val="4759"/>
              </a:lnSpc>
            </a:pPr>
            <a:r>
              <a:rPr lang="en-US" sz="3399">
                <a:solidFill>
                  <a:srgbClr val="FFFFFF"/>
                </a:solidFill>
                <a:latin typeface="HK Grotesk"/>
              </a:rPr>
              <a:t>- Consumo </a:t>
            </a:r>
          </a:p>
          <a:p>
            <a:pPr>
              <a:lnSpc>
                <a:spcPts val="4759"/>
              </a:lnSpc>
            </a:pPr>
            <a:r>
              <a:rPr lang="en-US" sz="3399">
                <a:solidFill>
                  <a:srgbClr val="FFFFFF"/>
                </a:solidFill>
                <a:latin typeface="HK Grotesk"/>
              </a:rPr>
              <a:t>- Compra</a:t>
            </a:r>
          </a:p>
        </p:txBody>
      </p:sp>
      <p:sp>
        <p:nvSpPr>
          <p:cNvPr id="6" name="TextBox 6"/>
          <p:cNvSpPr txBox="1"/>
          <p:nvPr/>
        </p:nvSpPr>
        <p:spPr>
          <a:xfrm>
            <a:off x="178243" y="6199244"/>
            <a:ext cx="17931515" cy="1261110"/>
          </a:xfrm>
          <a:prstGeom prst="rect">
            <a:avLst/>
          </a:prstGeom>
        </p:spPr>
        <p:txBody>
          <a:bodyPr lIns="0" tIns="0" rIns="0" bIns="0" rtlCol="0" anchor="t">
            <a:spAutoFit/>
          </a:bodyPr>
          <a:lstStyle/>
          <a:p>
            <a:pPr algn="ctr">
              <a:lnSpc>
                <a:spcPts val="5040"/>
              </a:lnSpc>
              <a:spcBef>
                <a:spcPct val="0"/>
              </a:spcBef>
            </a:pPr>
            <a:r>
              <a:rPr lang="en-US" sz="3600">
                <a:solidFill>
                  <a:srgbClr val="009490"/>
                </a:solidFill>
                <a:latin typeface="HK Grotesk"/>
              </a:rPr>
              <a:t>Stock de M. P. I + Presupuesto de Compras de M. P. = Presupuesto de Consumo de M. P. + Stock de M. P. F</a:t>
            </a:r>
          </a:p>
        </p:txBody>
      </p:sp>
      <p:sp>
        <p:nvSpPr>
          <p:cNvPr id="7" name="TextBox 7"/>
          <p:cNvSpPr txBox="1"/>
          <p:nvPr/>
        </p:nvSpPr>
        <p:spPr>
          <a:xfrm>
            <a:off x="915492" y="7650854"/>
            <a:ext cx="8050265" cy="721996"/>
          </a:xfrm>
          <a:prstGeom prst="rect">
            <a:avLst/>
          </a:prstGeom>
        </p:spPr>
        <p:txBody>
          <a:bodyPr lIns="0" tIns="0" rIns="0" bIns="0" rtlCol="0" anchor="t">
            <a:spAutoFit/>
          </a:bodyPr>
          <a:lstStyle/>
          <a:p>
            <a:pPr algn="ctr">
              <a:lnSpc>
                <a:spcPts val="5879"/>
              </a:lnSpc>
            </a:pPr>
            <a:r>
              <a:rPr lang="en-US" sz="4199">
                <a:solidFill>
                  <a:srgbClr val="FFFFFF"/>
                </a:solidFill>
                <a:latin typeface="HK Grotesk"/>
              </a:rPr>
              <a:t>Presupuesto de materias primas </a:t>
            </a:r>
          </a:p>
        </p:txBody>
      </p:sp>
      <p:sp>
        <p:nvSpPr>
          <p:cNvPr id="8" name="AutoShape 8"/>
          <p:cNvSpPr/>
          <p:nvPr/>
        </p:nvSpPr>
        <p:spPr>
          <a:xfrm flipV="1">
            <a:off x="8965757" y="8388090"/>
            <a:ext cx="2596368" cy="19050"/>
          </a:xfrm>
          <a:prstGeom prst="line">
            <a:avLst/>
          </a:prstGeom>
          <a:ln w="38100" cap="flat">
            <a:solidFill>
              <a:srgbClr val="FFFFFF"/>
            </a:solidFill>
            <a:prstDash val="solid"/>
            <a:headEnd type="none" w="sm" len="sm"/>
            <a:tailEnd type="arrow" w="med" len="sm"/>
          </a:ln>
        </p:spPr>
      </p:sp>
      <p:sp>
        <p:nvSpPr>
          <p:cNvPr id="9" name="TextBox 9"/>
          <p:cNvSpPr txBox="1"/>
          <p:nvPr/>
        </p:nvSpPr>
        <p:spPr>
          <a:xfrm>
            <a:off x="11562265" y="7173970"/>
            <a:ext cx="5182434" cy="2380615"/>
          </a:xfrm>
          <a:prstGeom prst="rect">
            <a:avLst/>
          </a:prstGeom>
        </p:spPr>
        <p:txBody>
          <a:bodyPr lIns="0" tIns="0" rIns="0" bIns="0" rtlCol="0" anchor="t">
            <a:spAutoFit/>
          </a:bodyPr>
          <a:lstStyle/>
          <a:p>
            <a:pPr marL="734059" lvl="1" indent="-367030" algn="just">
              <a:lnSpc>
                <a:spcPts val="4759"/>
              </a:lnSpc>
              <a:buFont typeface="Arial"/>
              <a:buChar char="•"/>
            </a:pPr>
            <a:r>
              <a:rPr lang="en-US" sz="3399">
                <a:solidFill>
                  <a:srgbClr val="FFFFFF"/>
                </a:solidFill>
                <a:latin typeface="HK Grotesk"/>
              </a:rPr>
              <a:t>Mano de Obra Indirecta</a:t>
            </a:r>
          </a:p>
          <a:p>
            <a:pPr marL="734059" lvl="1" indent="-367030" algn="just">
              <a:lnSpc>
                <a:spcPts val="4759"/>
              </a:lnSpc>
              <a:buFont typeface="Arial"/>
              <a:buChar char="•"/>
            </a:pPr>
            <a:r>
              <a:rPr lang="en-US" sz="3399">
                <a:solidFill>
                  <a:srgbClr val="FFFFFF"/>
                </a:solidFill>
                <a:latin typeface="HK Grotesk"/>
              </a:rPr>
              <a:t>Gastos Generales</a:t>
            </a:r>
          </a:p>
          <a:p>
            <a:pPr marL="734059" lvl="1" indent="-367030" algn="just">
              <a:lnSpc>
                <a:spcPts val="4759"/>
              </a:lnSpc>
              <a:buFont typeface="Arial"/>
              <a:buChar char="•"/>
            </a:pPr>
            <a:r>
              <a:rPr lang="en-US" sz="3399">
                <a:solidFill>
                  <a:srgbClr val="FFFFFF"/>
                </a:solidFill>
                <a:latin typeface="HK Grotesk"/>
              </a:rPr>
              <a:t>Amortizaciones</a:t>
            </a:r>
          </a:p>
          <a:p>
            <a:pPr marL="734059" lvl="1" indent="-367030" algn="just">
              <a:lnSpc>
                <a:spcPts val="4759"/>
              </a:lnSpc>
              <a:buFont typeface="Arial"/>
              <a:buChar char="•"/>
            </a:pPr>
            <a:r>
              <a:rPr lang="en-US" sz="3399">
                <a:solidFill>
                  <a:srgbClr val="FFFFFF"/>
                </a:solidFill>
                <a:latin typeface="HK Grotesk"/>
              </a:rPr>
              <a:t>Materiales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3371314" y="876300"/>
            <a:ext cx="11545372" cy="1295400"/>
          </a:xfrm>
          <a:prstGeom prst="rect">
            <a:avLst/>
          </a:prstGeom>
        </p:spPr>
        <p:txBody>
          <a:bodyPr lIns="0" tIns="0" rIns="0" bIns="0" rtlCol="0" anchor="t">
            <a:spAutoFit/>
          </a:bodyPr>
          <a:lstStyle/>
          <a:p>
            <a:pPr algn="ctr">
              <a:lnSpc>
                <a:spcPts val="10500"/>
              </a:lnSpc>
            </a:pPr>
            <a:r>
              <a:rPr lang="en-US" sz="7500">
                <a:solidFill>
                  <a:srgbClr val="009490"/>
                </a:solidFill>
                <a:latin typeface="HK Grotesk Bold"/>
              </a:rPr>
              <a:t>Presupuesto de produccion</a:t>
            </a:r>
          </a:p>
        </p:txBody>
      </p:sp>
      <p:sp>
        <p:nvSpPr>
          <p:cNvPr id="3" name="TextBox 3"/>
          <p:cNvSpPr txBox="1"/>
          <p:nvPr/>
        </p:nvSpPr>
        <p:spPr>
          <a:xfrm>
            <a:off x="2372082" y="2787361"/>
            <a:ext cx="8811339" cy="721996"/>
          </a:xfrm>
          <a:prstGeom prst="rect">
            <a:avLst/>
          </a:prstGeom>
        </p:spPr>
        <p:txBody>
          <a:bodyPr lIns="0" tIns="0" rIns="0" bIns="0" rtlCol="0" anchor="t">
            <a:spAutoFit/>
          </a:bodyPr>
          <a:lstStyle/>
          <a:p>
            <a:pPr algn="ctr">
              <a:lnSpc>
                <a:spcPts val="5879"/>
              </a:lnSpc>
            </a:pPr>
            <a:r>
              <a:rPr lang="en-US" sz="4199">
                <a:solidFill>
                  <a:srgbClr val="FFFFFF"/>
                </a:solidFill>
                <a:latin typeface="HK Grotesk"/>
              </a:rPr>
              <a:t>Presupuesto de Mano de Obra Directa</a:t>
            </a:r>
          </a:p>
        </p:txBody>
      </p:sp>
      <p:sp>
        <p:nvSpPr>
          <p:cNvPr id="4" name="TextBox 4"/>
          <p:cNvSpPr txBox="1"/>
          <p:nvPr/>
        </p:nvSpPr>
        <p:spPr>
          <a:xfrm>
            <a:off x="2663428" y="4054109"/>
            <a:ext cx="9700268" cy="1180465"/>
          </a:xfrm>
          <a:prstGeom prst="rect">
            <a:avLst/>
          </a:prstGeom>
        </p:spPr>
        <p:txBody>
          <a:bodyPr lIns="0" tIns="0" rIns="0" bIns="0" rtlCol="0" anchor="t">
            <a:spAutoFit/>
          </a:bodyPr>
          <a:lstStyle/>
          <a:p>
            <a:pPr marL="734059" lvl="1" indent="-367030">
              <a:lnSpc>
                <a:spcPts val="4759"/>
              </a:lnSpc>
              <a:buFont typeface="Arial"/>
              <a:buChar char="•"/>
            </a:pPr>
            <a:r>
              <a:rPr lang="en-US" sz="3399">
                <a:solidFill>
                  <a:srgbClr val="FFFFFF"/>
                </a:solidFill>
                <a:latin typeface="HK Grotesk"/>
              </a:rPr>
              <a:t>Depende Programa de producción</a:t>
            </a:r>
          </a:p>
          <a:p>
            <a:pPr marL="734059" lvl="1" indent="-367030">
              <a:lnSpc>
                <a:spcPts val="4759"/>
              </a:lnSpc>
              <a:buFont typeface="Arial"/>
              <a:buChar char="•"/>
            </a:pPr>
            <a:r>
              <a:rPr lang="en-US" sz="3399">
                <a:solidFill>
                  <a:srgbClr val="FFFFFF"/>
                </a:solidFill>
                <a:latin typeface="HK Grotesk"/>
              </a:rPr>
              <a:t>Verificar disponibilidad → </a:t>
            </a:r>
          </a:p>
        </p:txBody>
      </p:sp>
      <p:sp>
        <p:nvSpPr>
          <p:cNvPr id="5" name="TextBox 5"/>
          <p:cNvSpPr txBox="1"/>
          <p:nvPr/>
        </p:nvSpPr>
        <p:spPr>
          <a:xfrm>
            <a:off x="8762052" y="4611004"/>
            <a:ext cx="7743523" cy="1780540"/>
          </a:xfrm>
          <a:prstGeom prst="rect">
            <a:avLst/>
          </a:prstGeom>
        </p:spPr>
        <p:txBody>
          <a:bodyPr lIns="0" tIns="0" rIns="0" bIns="0" rtlCol="0" anchor="t">
            <a:spAutoFit/>
          </a:bodyPr>
          <a:lstStyle/>
          <a:p>
            <a:pPr>
              <a:lnSpc>
                <a:spcPts val="4759"/>
              </a:lnSpc>
            </a:pPr>
            <a:r>
              <a:rPr lang="en-US" sz="3399">
                <a:solidFill>
                  <a:srgbClr val="FFFFFF"/>
                </a:solidFill>
                <a:latin typeface="HK Grotesk"/>
              </a:rPr>
              <a:t>- Continua → Nuevo personal</a:t>
            </a:r>
          </a:p>
          <a:p>
            <a:pPr>
              <a:lnSpc>
                <a:spcPts val="4759"/>
              </a:lnSpc>
            </a:pPr>
            <a:r>
              <a:rPr lang="en-US" sz="3399">
                <a:solidFill>
                  <a:srgbClr val="FFFFFF"/>
                </a:solidFill>
                <a:latin typeface="HK Grotesk"/>
              </a:rPr>
              <a:t>- Puntuales → Horas extras/Personal temporal</a:t>
            </a:r>
          </a:p>
        </p:txBody>
      </p:sp>
      <p:sp>
        <p:nvSpPr>
          <p:cNvPr id="6" name="TextBox 6"/>
          <p:cNvSpPr txBox="1"/>
          <p:nvPr/>
        </p:nvSpPr>
        <p:spPr>
          <a:xfrm>
            <a:off x="0" y="7124969"/>
            <a:ext cx="18288000" cy="622935"/>
          </a:xfrm>
          <a:prstGeom prst="rect">
            <a:avLst/>
          </a:prstGeom>
        </p:spPr>
        <p:txBody>
          <a:bodyPr lIns="0" tIns="0" rIns="0" bIns="0" rtlCol="0" anchor="t">
            <a:spAutoFit/>
          </a:bodyPr>
          <a:lstStyle/>
          <a:p>
            <a:pPr algn="ctr">
              <a:lnSpc>
                <a:spcPts val="5040"/>
              </a:lnSpc>
              <a:spcBef>
                <a:spcPct val="0"/>
              </a:spcBef>
            </a:pPr>
            <a:r>
              <a:rPr lang="en-US" sz="3600">
                <a:solidFill>
                  <a:srgbClr val="009490"/>
                </a:solidFill>
                <a:latin typeface="HK Grotesk"/>
              </a:rPr>
              <a:t> Presupuesto de Mano de Obra Directa = Cant. Horas Hombre* Costo Hora Hombre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3371314" y="876300"/>
            <a:ext cx="11545372" cy="1295400"/>
          </a:xfrm>
          <a:prstGeom prst="rect">
            <a:avLst/>
          </a:prstGeom>
        </p:spPr>
        <p:txBody>
          <a:bodyPr lIns="0" tIns="0" rIns="0" bIns="0" rtlCol="0" anchor="t">
            <a:spAutoFit/>
          </a:bodyPr>
          <a:lstStyle/>
          <a:p>
            <a:pPr algn="ctr">
              <a:lnSpc>
                <a:spcPts val="10500"/>
              </a:lnSpc>
            </a:pPr>
            <a:r>
              <a:rPr lang="en-US" sz="7500">
                <a:solidFill>
                  <a:srgbClr val="009490"/>
                </a:solidFill>
                <a:latin typeface="HK Grotesk Bold"/>
              </a:rPr>
              <a:t>Presupuesto de produccion</a:t>
            </a:r>
          </a:p>
        </p:txBody>
      </p:sp>
      <p:sp>
        <p:nvSpPr>
          <p:cNvPr id="3" name="TextBox 3"/>
          <p:cNvSpPr txBox="1"/>
          <p:nvPr/>
        </p:nvSpPr>
        <p:spPr>
          <a:xfrm>
            <a:off x="2372082" y="2865223"/>
            <a:ext cx="8811339" cy="721996"/>
          </a:xfrm>
          <a:prstGeom prst="rect">
            <a:avLst/>
          </a:prstGeom>
        </p:spPr>
        <p:txBody>
          <a:bodyPr lIns="0" tIns="0" rIns="0" bIns="0" rtlCol="0" anchor="t">
            <a:spAutoFit/>
          </a:bodyPr>
          <a:lstStyle/>
          <a:p>
            <a:pPr algn="ctr">
              <a:lnSpc>
                <a:spcPts val="5879"/>
              </a:lnSpc>
            </a:pPr>
            <a:r>
              <a:rPr lang="en-US" sz="4199">
                <a:solidFill>
                  <a:srgbClr val="FFFFFF"/>
                </a:solidFill>
                <a:latin typeface="HK Grotesk"/>
              </a:rPr>
              <a:t>Presupuesto de Mano de Obra Directa</a:t>
            </a:r>
          </a:p>
        </p:txBody>
      </p:sp>
      <p:sp>
        <p:nvSpPr>
          <p:cNvPr id="4" name="TextBox 4"/>
          <p:cNvSpPr txBox="1"/>
          <p:nvPr/>
        </p:nvSpPr>
        <p:spPr>
          <a:xfrm>
            <a:off x="2663428" y="4131970"/>
            <a:ext cx="9700268" cy="1180465"/>
          </a:xfrm>
          <a:prstGeom prst="rect">
            <a:avLst/>
          </a:prstGeom>
        </p:spPr>
        <p:txBody>
          <a:bodyPr lIns="0" tIns="0" rIns="0" bIns="0" rtlCol="0" anchor="t">
            <a:spAutoFit/>
          </a:bodyPr>
          <a:lstStyle/>
          <a:p>
            <a:pPr marL="734059" lvl="1" indent="-367030">
              <a:lnSpc>
                <a:spcPts val="4759"/>
              </a:lnSpc>
              <a:buFont typeface="Arial"/>
              <a:buChar char="•"/>
            </a:pPr>
            <a:r>
              <a:rPr lang="en-US" sz="3399">
                <a:solidFill>
                  <a:srgbClr val="FFFFFF"/>
                </a:solidFill>
                <a:latin typeface="HK Grotesk"/>
              </a:rPr>
              <a:t>Depende Programa de producción</a:t>
            </a:r>
          </a:p>
          <a:p>
            <a:pPr marL="734059" lvl="1" indent="-367030">
              <a:lnSpc>
                <a:spcPts val="4759"/>
              </a:lnSpc>
              <a:buFont typeface="Arial"/>
              <a:buChar char="•"/>
            </a:pPr>
            <a:r>
              <a:rPr lang="en-US" sz="3399">
                <a:solidFill>
                  <a:srgbClr val="FFFFFF"/>
                </a:solidFill>
                <a:latin typeface="HK Grotesk"/>
              </a:rPr>
              <a:t>Verificar disponibilidad → </a:t>
            </a:r>
          </a:p>
        </p:txBody>
      </p:sp>
      <p:sp>
        <p:nvSpPr>
          <p:cNvPr id="5" name="TextBox 5"/>
          <p:cNvSpPr txBox="1"/>
          <p:nvPr/>
        </p:nvSpPr>
        <p:spPr>
          <a:xfrm>
            <a:off x="8762052" y="4688865"/>
            <a:ext cx="7743523" cy="1780540"/>
          </a:xfrm>
          <a:prstGeom prst="rect">
            <a:avLst/>
          </a:prstGeom>
        </p:spPr>
        <p:txBody>
          <a:bodyPr lIns="0" tIns="0" rIns="0" bIns="0" rtlCol="0" anchor="t">
            <a:spAutoFit/>
          </a:bodyPr>
          <a:lstStyle/>
          <a:p>
            <a:pPr>
              <a:lnSpc>
                <a:spcPts val="4759"/>
              </a:lnSpc>
            </a:pPr>
            <a:r>
              <a:rPr lang="en-US" sz="3399">
                <a:solidFill>
                  <a:srgbClr val="FFFFFF"/>
                </a:solidFill>
                <a:latin typeface="HK Grotesk"/>
              </a:rPr>
              <a:t>- Continua → Nuevo personal</a:t>
            </a:r>
          </a:p>
          <a:p>
            <a:pPr>
              <a:lnSpc>
                <a:spcPts val="4759"/>
              </a:lnSpc>
            </a:pPr>
            <a:r>
              <a:rPr lang="en-US" sz="3399">
                <a:solidFill>
                  <a:srgbClr val="FFFFFF"/>
                </a:solidFill>
                <a:latin typeface="HK Grotesk"/>
              </a:rPr>
              <a:t>- Puntuales → Horas extras/Personal temporal</a:t>
            </a:r>
          </a:p>
        </p:txBody>
      </p:sp>
      <p:sp>
        <p:nvSpPr>
          <p:cNvPr id="6" name="TextBox 6"/>
          <p:cNvSpPr txBox="1"/>
          <p:nvPr/>
        </p:nvSpPr>
        <p:spPr>
          <a:xfrm>
            <a:off x="0" y="7202830"/>
            <a:ext cx="18288000" cy="622935"/>
          </a:xfrm>
          <a:prstGeom prst="rect">
            <a:avLst/>
          </a:prstGeom>
        </p:spPr>
        <p:txBody>
          <a:bodyPr lIns="0" tIns="0" rIns="0" bIns="0" rtlCol="0" anchor="t">
            <a:spAutoFit/>
          </a:bodyPr>
          <a:lstStyle/>
          <a:p>
            <a:pPr algn="ctr">
              <a:lnSpc>
                <a:spcPts val="5040"/>
              </a:lnSpc>
              <a:spcBef>
                <a:spcPct val="0"/>
              </a:spcBef>
            </a:pPr>
            <a:r>
              <a:rPr lang="en-US" sz="3600">
                <a:solidFill>
                  <a:srgbClr val="009490"/>
                </a:solidFill>
                <a:latin typeface="HK Grotesk"/>
              </a:rPr>
              <a:t> Presupuesto de Mano de Obra Directa = Cant. Horas Hombre* Costo Hora Hombre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3892689" y="545278"/>
            <a:ext cx="10502623" cy="1295400"/>
          </a:xfrm>
          <a:prstGeom prst="rect">
            <a:avLst/>
          </a:prstGeom>
        </p:spPr>
        <p:txBody>
          <a:bodyPr lIns="0" tIns="0" rIns="0" bIns="0" rtlCol="0" anchor="t">
            <a:spAutoFit/>
          </a:bodyPr>
          <a:lstStyle/>
          <a:p>
            <a:pPr algn="ctr">
              <a:lnSpc>
                <a:spcPts val="10500"/>
              </a:lnSpc>
            </a:pPr>
            <a:r>
              <a:rPr lang="en-US" sz="7500">
                <a:solidFill>
                  <a:srgbClr val="009490"/>
                </a:solidFill>
                <a:latin typeface="HK Grotesk Bold"/>
              </a:rPr>
              <a:t>Esquema Presupuestario</a:t>
            </a:r>
          </a:p>
        </p:txBody>
      </p:sp>
      <p:sp>
        <p:nvSpPr>
          <p:cNvPr id="3" name="AutoShape 3"/>
          <p:cNvSpPr/>
          <p:nvPr/>
        </p:nvSpPr>
        <p:spPr>
          <a:xfrm flipV="1">
            <a:off x="2485369" y="3768486"/>
            <a:ext cx="2621677" cy="499745"/>
          </a:xfrm>
          <a:prstGeom prst="line">
            <a:avLst/>
          </a:prstGeom>
          <a:ln w="38100" cap="flat">
            <a:solidFill>
              <a:srgbClr val="FFFFFF"/>
            </a:solidFill>
            <a:prstDash val="solid"/>
            <a:headEnd type="none" w="sm" len="sm"/>
            <a:tailEnd type="arrow" w="med" len="sm"/>
          </a:ln>
        </p:spPr>
      </p:sp>
      <p:grpSp>
        <p:nvGrpSpPr>
          <p:cNvPr id="4" name="Group 4"/>
          <p:cNvGrpSpPr/>
          <p:nvPr/>
        </p:nvGrpSpPr>
        <p:grpSpPr>
          <a:xfrm>
            <a:off x="14086502" y="2865872"/>
            <a:ext cx="3172798" cy="1690928"/>
            <a:chOff x="0" y="0"/>
            <a:chExt cx="835634" cy="445347"/>
          </a:xfrm>
        </p:grpSpPr>
        <p:sp>
          <p:nvSpPr>
            <p:cNvPr id="5" name="Freeform 5"/>
            <p:cNvSpPr/>
            <p:nvPr/>
          </p:nvSpPr>
          <p:spPr>
            <a:xfrm>
              <a:off x="0" y="0"/>
              <a:ext cx="835634" cy="445347"/>
            </a:xfrm>
            <a:custGeom>
              <a:avLst/>
              <a:gdLst/>
              <a:ahLst/>
              <a:cxnLst/>
              <a:rect l="l" t="t" r="r" b="b"/>
              <a:pathLst>
                <a:path w="835634" h="445347">
                  <a:moveTo>
                    <a:pt x="0" y="0"/>
                  </a:moveTo>
                  <a:lnTo>
                    <a:pt x="835634" y="0"/>
                  </a:lnTo>
                  <a:lnTo>
                    <a:pt x="835634" y="445347"/>
                  </a:lnTo>
                  <a:lnTo>
                    <a:pt x="0" y="445347"/>
                  </a:lnTo>
                  <a:close/>
                </a:path>
              </a:pathLst>
            </a:custGeom>
            <a:solidFill>
              <a:srgbClr val="009490"/>
            </a:solidFill>
          </p:spPr>
        </p:sp>
        <p:sp>
          <p:nvSpPr>
            <p:cNvPr id="6" name="TextBox 6"/>
            <p:cNvSpPr txBox="1"/>
            <p:nvPr/>
          </p:nvSpPr>
          <p:spPr>
            <a:xfrm>
              <a:off x="0" y="-38100"/>
              <a:ext cx="835634" cy="483447"/>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14090709" y="3125866"/>
            <a:ext cx="3168591" cy="1180465"/>
          </a:xfrm>
          <a:prstGeom prst="rect">
            <a:avLst/>
          </a:prstGeom>
        </p:spPr>
        <p:txBody>
          <a:bodyPr lIns="0" tIns="0" rIns="0" bIns="0" rtlCol="0" anchor="t">
            <a:spAutoFit/>
          </a:bodyPr>
          <a:lstStyle/>
          <a:p>
            <a:pPr algn="ctr">
              <a:lnSpc>
                <a:spcPts val="4759"/>
              </a:lnSpc>
            </a:pPr>
            <a:r>
              <a:rPr lang="en-US" sz="3399">
                <a:solidFill>
                  <a:srgbClr val="FFFFFF"/>
                </a:solidFill>
                <a:latin typeface="HK Grotesk"/>
              </a:rPr>
              <a:t>PRESUPUESTO VENTA</a:t>
            </a:r>
          </a:p>
        </p:txBody>
      </p:sp>
      <p:sp>
        <p:nvSpPr>
          <p:cNvPr id="8" name="AutoShape 8"/>
          <p:cNvSpPr/>
          <p:nvPr/>
        </p:nvSpPr>
        <p:spPr>
          <a:xfrm>
            <a:off x="7460677" y="3806586"/>
            <a:ext cx="1871106" cy="0"/>
          </a:xfrm>
          <a:prstGeom prst="line">
            <a:avLst/>
          </a:prstGeom>
          <a:ln w="38100" cap="flat">
            <a:solidFill>
              <a:srgbClr val="FFFFFF"/>
            </a:solidFill>
            <a:prstDash val="solid"/>
            <a:headEnd type="none" w="sm" len="sm"/>
            <a:tailEnd type="arrow" w="med" len="sm"/>
          </a:ln>
        </p:spPr>
      </p:sp>
      <p:sp>
        <p:nvSpPr>
          <p:cNvPr id="9" name="AutoShape 9"/>
          <p:cNvSpPr/>
          <p:nvPr/>
        </p:nvSpPr>
        <p:spPr>
          <a:xfrm>
            <a:off x="12219602" y="3730386"/>
            <a:ext cx="1871106" cy="0"/>
          </a:xfrm>
          <a:prstGeom prst="line">
            <a:avLst/>
          </a:prstGeom>
          <a:ln w="38100" cap="flat">
            <a:solidFill>
              <a:srgbClr val="FFFFFF"/>
            </a:solidFill>
            <a:prstDash val="solid"/>
            <a:headEnd type="none" w="sm" len="sm"/>
            <a:tailEnd type="arrow" w="med" len="sm"/>
          </a:ln>
        </p:spPr>
      </p:sp>
      <p:sp>
        <p:nvSpPr>
          <p:cNvPr id="10" name="AutoShape 10"/>
          <p:cNvSpPr/>
          <p:nvPr/>
        </p:nvSpPr>
        <p:spPr>
          <a:xfrm>
            <a:off x="2485369" y="6465128"/>
            <a:ext cx="2621677" cy="1237989"/>
          </a:xfrm>
          <a:prstGeom prst="line">
            <a:avLst/>
          </a:prstGeom>
          <a:ln w="38100" cap="flat">
            <a:solidFill>
              <a:srgbClr val="FFFFFF"/>
            </a:solidFill>
            <a:prstDash val="solid"/>
            <a:headEnd type="none" w="sm" len="sm"/>
            <a:tailEnd type="arrow" w="med" len="sm"/>
          </a:ln>
        </p:spPr>
      </p:sp>
      <p:grpSp>
        <p:nvGrpSpPr>
          <p:cNvPr id="11" name="Group 11"/>
          <p:cNvGrpSpPr/>
          <p:nvPr/>
        </p:nvGrpSpPr>
        <p:grpSpPr>
          <a:xfrm>
            <a:off x="5107047" y="6914800"/>
            <a:ext cx="2888358" cy="1690928"/>
            <a:chOff x="0" y="0"/>
            <a:chExt cx="760720" cy="445347"/>
          </a:xfrm>
        </p:grpSpPr>
        <p:sp>
          <p:nvSpPr>
            <p:cNvPr id="12" name="Freeform 12"/>
            <p:cNvSpPr/>
            <p:nvPr/>
          </p:nvSpPr>
          <p:spPr>
            <a:xfrm>
              <a:off x="0" y="0"/>
              <a:ext cx="760720" cy="445347"/>
            </a:xfrm>
            <a:custGeom>
              <a:avLst/>
              <a:gdLst/>
              <a:ahLst/>
              <a:cxnLst/>
              <a:rect l="l" t="t" r="r" b="b"/>
              <a:pathLst>
                <a:path w="760720" h="445347">
                  <a:moveTo>
                    <a:pt x="0" y="0"/>
                  </a:moveTo>
                  <a:lnTo>
                    <a:pt x="760720" y="0"/>
                  </a:lnTo>
                  <a:lnTo>
                    <a:pt x="760720" y="445347"/>
                  </a:lnTo>
                  <a:lnTo>
                    <a:pt x="0" y="445347"/>
                  </a:lnTo>
                  <a:close/>
                </a:path>
              </a:pathLst>
            </a:custGeom>
            <a:solidFill>
              <a:srgbClr val="009490"/>
            </a:solidFill>
          </p:spPr>
        </p:sp>
        <p:sp>
          <p:nvSpPr>
            <p:cNvPr id="13" name="TextBox 13"/>
            <p:cNvSpPr txBox="1"/>
            <p:nvPr/>
          </p:nvSpPr>
          <p:spPr>
            <a:xfrm>
              <a:off x="0" y="-38100"/>
              <a:ext cx="760720" cy="483447"/>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5107047" y="7098596"/>
            <a:ext cx="2888358" cy="1180465"/>
          </a:xfrm>
          <a:prstGeom prst="rect">
            <a:avLst/>
          </a:prstGeom>
        </p:spPr>
        <p:txBody>
          <a:bodyPr lIns="0" tIns="0" rIns="0" bIns="0" rtlCol="0" anchor="t">
            <a:spAutoFit/>
          </a:bodyPr>
          <a:lstStyle/>
          <a:p>
            <a:pPr algn="ctr">
              <a:lnSpc>
                <a:spcPts val="4759"/>
              </a:lnSpc>
            </a:pPr>
            <a:r>
              <a:rPr lang="en-US" sz="3399">
                <a:solidFill>
                  <a:srgbClr val="FFFFFF"/>
                </a:solidFill>
                <a:latin typeface="HK Grotesk"/>
              </a:rPr>
              <a:t>PLAN PRODUCCION</a:t>
            </a:r>
          </a:p>
        </p:txBody>
      </p:sp>
      <p:grpSp>
        <p:nvGrpSpPr>
          <p:cNvPr id="15" name="Group 15"/>
          <p:cNvGrpSpPr/>
          <p:nvPr/>
        </p:nvGrpSpPr>
        <p:grpSpPr>
          <a:xfrm>
            <a:off x="9332055" y="6914800"/>
            <a:ext cx="3117255" cy="1690928"/>
            <a:chOff x="0" y="0"/>
            <a:chExt cx="821005" cy="445347"/>
          </a:xfrm>
        </p:grpSpPr>
        <p:sp>
          <p:nvSpPr>
            <p:cNvPr id="16" name="Freeform 16"/>
            <p:cNvSpPr/>
            <p:nvPr/>
          </p:nvSpPr>
          <p:spPr>
            <a:xfrm>
              <a:off x="0" y="0"/>
              <a:ext cx="821006" cy="445347"/>
            </a:xfrm>
            <a:custGeom>
              <a:avLst/>
              <a:gdLst/>
              <a:ahLst/>
              <a:cxnLst/>
              <a:rect l="l" t="t" r="r" b="b"/>
              <a:pathLst>
                <a:path w="821006" h="445347">
                  <a:moveTo>
                    <a:pt x="0" y="0"/>
                  </a:moveTo>
                  <a:lnTo>
                    <a:pt x="821006" y="0"/>
                  </a:lnTo>
                  <a:lnTo>
                    <a:pt x="821006" y="445347"/>
                  </a:lnTo>
                  <a:lnTo>
                    <a:pt x="0" y="445347"/>
                  </a:lnTo>
                  <a:close/>
                </a:path>
              </a:pathLst>
            </a:custGeom>
            <a:solidFill>
              <a:srgbClr val="009490"/>
            </a:solidFill>
          </p:spPr>
        </p:sp>
        <p:sp>
          <p:nvSpPr>
            <p:cNvPr id="17" name="TextBox 17"/>
            <p:cNvSpPr txBox="1"/>
            <p:nvPr/>
          </p:nvSpPr>
          <p:spPr>
            <a:xfrm>
              <a:off x="0" y="-38100"/>
              <a:ext cx="821005" cy="483447"/>
            </a:xfrm>
            <a:prstGeom prst="rect">
              <a:avLst/>
            </a:prstGeom>
          </p:spPr>
          <p:txBody>
            <a:bodyPr lIns="50800" tIns="50800" rIns="50800" bIns="50800" rtlCol="0" anchor="ctr"/>
            <a:lstStyle/>
            <a:p>
              <a:pPr algn="ctr">
                <a:lnSpc>
                  <a:spcPts val="2659"/>
                </a:lnSpc>
              </a:pPr>
              <a:endParaRPr/>
            </a:p>
          </p:txBody>
        </p:sp>
      </p:grpSp>
      <p:sp>
        <p:nvSpPr>
          <p:cNvPr id="18" name="TextBox 18"/>
          <p:cNvSpPr txBox="1"/>
          <p:nvPr/>
        </p:nvSpPr>
        <p:spPr>
          <a:xfrm>
            <a:off x="9331783" y="7022396"/>
            <a:ext cx="3117527" cy="1180465"/>
          </a:xfrm>
          <a:prstGeom prst="rect">
            <a:avLst/>
          </a:prstGeom>
        </p:spPr>
        <p:txBody>
          <a:bodyPr lIns="0" tIns="0" rIns="0" bIns="0" rtlCol="0" anchor="t">
            <a:spAutoFit/>
          </a:bodyPr>
          <a:lstStyle/>
          <a:p>
            <a:pPr algn="ctr">
              <a:lnSpc>
                <a:spcPts val="4759"/>
              </a:lnSpc>
            </a:pPr>
            <a:r>
              <a:rPr lang="en-US" sz="3399">
                <a:solidFill>
                  <a:srgbClr val="FFFFFF"/>
                </a:solidFill>
                <a:latin typeface="HK Grotesk"/>
              </a:rPr>
              <a:t>PROGRAMA PRODUCCION</a:t>
            </a:r>
          </a:p>
        </p:txBody>
      </p:sp>
      <p:grpSp>
        <p:nvGrpSpPr>
          <p:cNvPr id="19" name="Group 19"/>
          <p:cNvGrpSpPr/>
          <p:nvPr/>
        </p:nvGrpSpPr>
        <p:grpSpPr>
          <a:xfrm>
            <a:off x="14086502" y="6819552"/>
            <a:ext cx="3172798" cy="1690928"/>
            <a:chOff x="0" y="0"/>
            <a:chExt cx="835634" cy="445347"/>
          </a:xfrm>
        </p:grpSpPr>
        <p:sp>
          <p:nvSpPr>
            <p:cNvPr id="20" name="Freeform 20"/>
            <p:cNvSpPr/>
            <p:nvPr/>
          </p:nvSpPr>
          <p:spPr>
            <a:xfrm>
              <a:off x="0" y="0"/>
              <a:ext cx="835634" cy="445347"/>
            </a:xfrm>
            <a:custGeom>
              <a:avLst/>
              <a:gdLst/>
              <a:ahLst/>
              <a:cxnLst/>
              <a:rect l="l" t="t" r="r" b="b"/>
              <a:pathLst>
                <a:path w="835634" h="445347">
                  <a:moveTo>
                    <a:pt x="0" y="0"/>
                  </a:moveTo>
                  <a:lnTo>
                    <a:pt x="835634" y="0"/>
                  </a:lnTo>
                  <a:lnTo>
                    <a:pt x="835634" y="445347"/>
                  </a:lnTo>
                  <a:lnTo>
                    <a:pt x="0" y="445347"/>
                  </a:lnTo>
                  <a:close/>
                </a:path>
              </a:pathLst>
            </a:custGeom>
            <a:solidFill>
              <a:srgbClr val="009490"/>
            </a:solidFill>
          </p:spPr>
        </p:sp>
        <p:sp>
          <p:nvSpPr>
            <p:cNvPr id="21" name="TextBox 21"/>
            <p:cNvSpPr txBox="1"/>
            <p:nvPr/>
          </p:nvSpPr>
          <p:spPr>
            <a:xfrm>
              <a:off x="0" y="-38100"/>
              <a:ext cx="835634" cy="483447"/>
            </a:xfrm>
            <a:prstGeom prst="rect">
              <a:avLst/>
            </a:prstGeom>
          </p:spPr>
          <p:txBody>
            <a:bodyPr lIns="50800" tIns="50800" rIns="50800" bIns="50800" rtlCol="0" anchor="ctr"/>
            <a:lstStyle/>
            <a:p>
              <a:pPr algn="ctr">
                <a:lnSpc>
                  <a:spcPts val="2659"/>
                </a:lnSpc>
              </a:pPr>
              <a:endParaRPr/>
            </a:p>
          </p:txBody>
        </p:sp>
      </p:grpSp>
      <p:sp>
        <p:nvSpPr>
          <p:cNvPr id="22" name="TextBox 22"/>
          <p:cNvSpPr txBox="1"/>
          <p:nvPr/>
        </p:nvSpPr>
        <p:spPr>
          <a:xfrm>
            <a:off x="14090709" y="7060496"/>
            <a:ext cx="3168591" cy="1180465"/>
          </a:xfrm>
          <a:prstGeom prst="rect">
            <a:avLst/>
          </a:prstGeom>
        </p:spPr>
        <p:txBody>
          <a:bodyPr lIns="0" tIns="0" rIns="0" bIns="0" rtlCol="0" anchor="t">
            <a:spAutoFit/>
          </a:bodyPr>
          <a:lstStyle/>
          <a:p>
            <a:pPr algn="ctr">
              <a:lnSpc>
                <a:spcPts val="4759"/>
              </a:lnSpc>
            </a:pPr>
            <a:r>
              <a:rPr lang="en-US" sz="3399">
                <a:solidFill>
                  <a:srgbClr val="FFFFFF"/>
                </a:solidFill>
                <a:latin typeface="HK Grotesk"/>
              </a:rPr>
              <a:t>PRESUPUESTO PRODUCCION</a:t>
            </a:r>
          </a:p>
        </p:txBody>
      </p:sp>
      <p:sp>
        <p:nvSpPr>
          <p:cNvPr id="23" name="AutoShape 23"/>
          <p:cNvSpPr/>
          <p:nvPr/>
        </p:nvSpPr>
        <p:spPr>
          <a:xfrm>
            <a:off x="8396230" y="7722166"/>
            <a:ext cx="935553" cy="19050"/>
          </a:xfrm>
          <a:prstGeom prst="line">
            <a:avLst/>
          </a:prstGeom>
          <a:ln w="38100" cap="flat">
            <a:solidFill>
              <a:srgbClr val="FFFFFF"/>
            </a:solidFill>
            <a:prstDash val="solid"/>
            <a:headEnd type="none" w="sm" len="sm"/>
            <a:tailEnd type="arrow" w="med" len="sm"/>
          </a:ln>
        </p:spPr>
      </p:sp>
      <p:sp>
        <p:nvSpPr>
          <p:cNvPr id="24" name="AutoShape 24"/>
          <p:cNvSpPr/>
          <p:nvPr/>
        </p:nvSpPr>
        <p:spPr>
          <a:xfrm>
            <a:off x="12449310" y="7645966"/>
            <a:ext cx="1641399" cy="19050"/>
          </a:xfrm>
          <a:prstGeom prst="line">
            <a:avLst/>
          </a:prstGeom>
          <a:ln w="38100" cap="flat">
            <a:solidFill>
              <a:srgbClr val="FFFFFF"/>
            </a:solidFill>
            <a:prstDash val="solid"/>
            <a:headEnd type="none" w="sm" len="sm"/>
            <a:tailEnd type="arrow" w="med" len="sm"/>
          </a:ln>
        </p:spPr>
      </p:sp>
      <p:grpSp>
        <p:nvGrpSpPr>
          <p:cNvPr id="25" name="Group 25"/>
          <p:cNvGrpSpPr/>
          <p:nvPr/>
        </p:nvGrpSpPr>
        <p:grpSpPr>
          <a:xfrm>
            <a:off x="1308554" y="4774200"/>
            <a:ext cx="2353630" cy="1690928"/>
            <a:chOff x="0" y="0"/>
            <a:chExt cx="619886" cy="445347"/>
          </a:xfrm>
        </p:grpSpPr>
        <p:sp>
          <p:nvSpPr>
            <p:cNvPr id="26" name="Freeform 26"/>
            <p:cNvSpPr/>
            <p:nvPr/>
          </p:nvSpPr>
          <p:spPr>
            <a:xfrm>
              <a:off x="0" y="0"/>
              <a:ext cx="619886" cy="445347"/>
            </a:xfrm>
            <a:custGeom>
              <a:avLst/>
              <a:gdLst/>
              <a:ahLst/>
              <a:cxnLst/>
              <a:rect l="l" t="t" r="r" b="b"/>
              <a:pathLst>
                <a:path w="619886" h="445347">
                  <a:moveTo>
                    <a:pt x="0" y="0"/>
                  </a:moveTo>
                  <a:lnTo>
                    <a:pt x="619886" y="0"/>
                  </a:lnTo>
                  <a:lnTo>
                    <a:pt x="619886" y="445347"/>
                  </a:lnTo>
                  <a:lnTo>
                    <a:pt x="0" y="445347"/>
                  </a:lnTo>
                  <a:close/>
                </a:path>
              </a:pathLst>
            </a:custGeom>
            <a:solidFill>
              <a:srgbClr val="009490"/>
            </a:solidFill>
          </p:spPr>
        </p:sp>
        <p:sp>
          <p:nvSpPr>
            <p:cNvPr id="27" name="TextBox 27"/>
            <p:cNvSpPr txBox="1"/>
            <p:nvPr/>
          </p:nvSpPr>
          <p:spPr>
            <a:xfrm>
              <a:off x="0" y="-38100"/>
              <a:ext cx="619886" cy="483447"/>
            </a:xfrm>
            <a:prstGeom prst="rect">
              <a:avLst/>
            </a:prstGeom>
          </p:spPr>
          <p:txBody>
            <a:bodyPr lIns="50800" tIns="50800" rIns="50800" bIns="50800" rtlCol="0" anchor="ctr"/>
            <a:lstStyle/>
            <a:p>
              <a:pPr algn="ctr">
                <a:lnSpc>
                  <a:spcPts val="2659"/>
                </a:lnSpc>
              </a:pPr>
              <a:endParaRPr/>
            </a:p>
          </p:txBody>
        </p:sp>
      </p:grpSp>
      <p:sp>
        <p:nvSpPr>
          <p:cNvPr id="28" name="TextBox 28"/>
          <p:cNvSpPr txBox="1"/>
          <p:nvPr/>
        </p:nvSpPr>
        <p:spPr>
          <a:xfrm>
            <a:off x="1308554" y="5003731"/>
            <a:ext cx="2353630" cy="1180465"/>
          </a:xfrm>
          <a:prstGeom prst="rect">
            <a:avLst/>
          </a:prstGeom>
        </p:spPr>
        <p:txBody>
          <a:bodyPr lIns="0" tIns="0" rIns="0" bIns="0" rtlCol="0" anchor="t">
            <a:spAutoFit/>
          </a:bodyPr>
          <a:lstStyle/>
          <a:p>
            <a:pPr algn="ctr">
              <a:lnSpc>
                <a:spcPts val="4759"/>
              </a:lnSpc>
            </a:pPr>
            <a:r>
              <a:rPr lang="en-US" sz="3399">
                <a:solidFill>
                  <a:srgbClr val="FFFFFF"/>
                </a:solidFill>
                <a:latin typeface="HK Grotesk"/>
              </a:rPr>
              <a:t>NIVEL DE STOCK</a:t>
            </a:r>
          </a:p>
        </p:txBody>
      </p:sp>
      <p:grpSp>
        <p:nvGrpSpPr>
          <p:cNvPr id="29" name="Group 29"/>
          <p:cNvGrpSpPr/>
          <p:nvPr/>
        </p:nvGrpSpPr>
        <p:grpSpPr>
          <a:xfrm>
            <a:off x="5107047" y="2865872"/>
            <a:ext cx="2353630" cy="1786178"/>
            <a:chOff x="0" y="0"/>
            <a:chExt cx="619886" cy="470434"/>
          </a:xfrm>
        </p:grpSpPr>
        <p:sp>
          <p:nvSpPr>
            <p:cNvPr id="30" name="Freeform 30"/>
            <p:cNvSpPr/>
            <p:nvPr/>
          </p:nvSpPr>
          <p:spPr>
            <a:xfrm>
              <a:off x="0" y="0"/>
              <a:ext cx="619886" cy="470434"/>
            </a:xfrm>
            <a:custGeom>
              <a:avLst/>
              <a:gdLst/>
              <a:ahLst/>
              <a:cxnLst/>
              <a:rect l="l" t="t" r="r" b="b"/>
              <a:pathLst>
                <a:path w="619886" h="470434">
                  <a:moveTo>
                    <a:pt x="0" y="0"/>
                  </a:moveTo>
                  <a:lnTo>
                    <a:pt x="619886" y="0"/>
                  </a:lnTo>
                  <a:lnTo>
                    <a:pt x="619886" y="470434"/>
                  </a:lnTo>
                  <a:lnTo>
                    <a:pt x="0" y="470434"/>
                  </a:lnTo>
                  <a:close/>
                </a:path>
              </a:pathLst>
            </a:custGeom>
            <a:solidFill>
              <a:srgbClr val="009490"/>
            </a:solidFill>
          </p:spPr>
        </p:sp>
        <p:sp>
          <p:nvSpPr>
            <p:cNvPr id="31" name="TextBox 31"/>
            <p:cNvSpPr txBox="1"/>
            <p:nvPr/>
          </p:nvSpPr>
          <p:spPr>
            <a:xfrm>
              <a:off x="0" y="-38100"/>
              <a:ext cx="619886" cy="508534"/>
            </a:xfrm>
            <a:prstGeom prst="rect">
              <a:avLst/>
            </a:prstGeom>
          </p:spPr>
          <p:txBody>
            <a:bodyPr lIns="50800" tIns="50800" rIns="50800" bIns="50800" rtlCol="0" anchor="ctr"/>
            <a:lstStyle/>
            <a:p>
              <a:pPr algn="ctr">
                <a:lnSpc>
                  <a:spcPts val="2659"/>
                </a:lnSpc>
              </a:pPr>
              <a:endParaRPr/>
            </a:p>
          </p:txBody>
        </p:sp>
      </p:grpSp>
      <p:sp>
        <p:nvSpPr>
          <p:cNvPr id="32" name="TextBox 32"/>
          <p:cNvSpPr txBox="1"/>
          <p:nvPr/>
        </p:nvSpPr>
        <p:spPr>
          <a:xfrm>
            <a:off x="5107047" y="3163966"/>
            <a:ext cx="2353630" cy="1180465"/>
          </a:xfrm>
          <a:prstGeom prst="rect">
            <a:avLst/>
          </a:prstGeom>
        </p:spPr>
        <p:txBody>
          <a:bodyPr lIns="0" tIns="0" rIns="0" bIns="0" rtlCol="0" anchor="t">
            <a:spAutoFit/>
          </a:bodyPr>
          <a:lstStyle/>
          <a:p>
            <a:pPr algn="ctr">
              <a:lnSpc>
                <a:spcPts val="4759"/>
              </a:lnSpc>
            </a:pPr>
            <a:r>
              <a:rPr lang="en-US" sz="3399">
                <a:solidFill>
                  <a:srgbClr val="FFFFFF"/>
                </a:solidFill>
                <a:latin typeface="HK Grotesk"/>
              </a:rPr>
              <a:t>NIVEL DE VENTA</a:t>
            </a:r>
          </a:p>
        </p:txBody>
      </p:sp>
      <p:grpSp>
        <p:nvGrpSpPr>
          <p:cNvPr id="33" name="Group 33"/>
          <p:cNvGrpSpPr/>
          <p:nvPr/>
        </p:nvGrpSpPr>
        <p:grpSpPr>
          <a:xfrm>
            <a:off x="9332055" y="2865872"/>
            <a:ext cx="2887548" cy="1786178"/>
            <a:chOff x="0" y="0"/>
            <a:chExt cx="760506" cy="470434"/>
          </a:xfrm>
        </p:grpSpPr>
        <p:sp>
          <p:nvSpPr>
            <p:cNvPr id="34" name="Freeform 34"/>
            <p:cNvSpPr/>
            <p:nvPr/>
          </p:nvSpPr>
          <p:spPr>
            <a:xfrm>
              <a:off x="0" y="0"/>
              <a:ext cx="760506" cy="470434"/>
            </a:xfrm>
            <a:custGeom>
              <a:avLst/>
              <a:gdLst/>
              <a:ahLst/>
              <a:cxnLst/>
              <a:rect l="l" t="t" r="r" b="b"/>
              <a:pathLst>
                <a:path w="760506" h="470434">
                  <a:moveTo>
                    <a:pt x="0" y="0"/>
                  </a:moveTo>
                  <a:lnTo>
                    <a:pt x="760506" y="0"/>
                  </a:lnTo>
                  <a:lnTo>
                    <a:pt x="760506" y="470434"/>
                  </a:lnTo>
                  <a:lnTo>
                    <a:pt x="0" y="470434"/>
                  </a:lnTo>
                  <a:close/>
                </a:path>
              </a:pathLst>
            </a:custGeom>
            <a:solidFill>
              <a:srgbClr val="009490"/>
            </a:solidFill>
          </p:spPr>
        </p:sp>
        <p:sp>
          <p:nvSpPr>
            <p:cNvPr id="35" name="TextBox 35"/>
            <p:cNvSpPr txBox="1"/>
            <p:nvPr/>
          </p:nvSpPr>
          <p:spPr>
            <a:xfrm>
              <a:off x="0" y="-38100"/>
              <a:ext cx="760506" cy="508534"/>
            </a:xfrm>
            <a:prstGeom prst="rect">
              <a:avLst/>
            </a:prstGeom>
          </p:spPr>
          <p:txBody>
            <a:bodyPr lIns="50800" tIns="50800" rIns="50800" bIns="50800" rtlCol="0" anchor="ctr"/>
            <a:lstStyle/>
            <a:p>
              <a:pPr algn="ctr">
                <a:lnSpc>
                  <a:spcPts val="2659"/>
                </a:lnSpc>
              </a:pPr>
              <a:endParaRPr/>
            </a:p>
          </p:txBody>
        </p:sp>
      </p:grpSp>
      <p:sp>
        <p:nvSpPr>
          <p:cNvPr id="36" name="TextBox 36"/>
          <p:cNvSpPr txBox="1"/>
          <p:nvPr/>
        </p:nvSpPr>
        <p:spPr>
          <a:xfrm>
            <a:off x="9331783" y="3087766"/>
            <a:ext cx="2761042" cy="1180465"/>
          </a:xfrm>
          <a:prstGeom prst="rect">
            <a:avLst/>
          </a:prstGeom>
        </p:spPr>
        <p:txBody>
          <a:bodyPr lIns="0" tIns="0" rIns="0" bIns="0" rtlCol="0" anchor="t">
            <a:spAutoFit/>
          </a:bodyPr>
          <a:lstStyle/>
          <a:p>
            <a:pPr algn="ctr">
              <a:lnSpc>
                <a:spcPts val="4759"/>
              </a:lnSpc>
            </a:pPr>
            <a:r>
              <a:rPr lang="en-US" sz="3399">
                <a:solidFill>
                  <a:srgbClr val="FFFFFF"/>
                </a:solidFill>
                <a:latin typeface="HK Grotesk"/>
              </a:rPr>
              <a:t>PROGRAMA VENTA</a:t>
            </a:r>
          </a:p>
        </p:txBody>
      </p:sp>
      <p:sp>
        <p:nvSpPr>
          <p:cNvPr id="37" name="TextBox 37"/>
          <p:cNvSpPr txBox="1"/>
          <p:nvPr/>
        </p:nvSpPr>
        <p:spPr>
          <a:xfrm>
            <a:off x="1028700" y="3087766"/>
            <a:ext cx="3302771" cy="580390"/>
          </a:xfrm>
          <a:prstGeom prst="rect">
            <a:avLst/>
          </a:prstGeom>
        </p:spPr>
        <p:txBody>
          <a:bodyPr lIns="0" tIns="0" rIns="0" bIns="0" rtlCol="0" anchor="t">
            <a:spAutoFit/>
          </a:bodyPr>
          <a:lstStyle/>
          <a:p>
            <a:pPr algn="ctr">
              <a:lnSpc>
                <a:spcPts val="4759"/>
              </a:lnSpc>
            </a:pPr>
            <a:r>
              <a:rPr lang="en-US" sz="3399">
                <a:solidFill>
                  <a:srgbClr val="FFFFFF"/>
                </a:solidFill>
                <a:latin typeface="HK Grotesk"/>
              </a:rPr>
              <a:t>PRONOSTICO</a:t>
            </a:r>
          </a:p>
        </p:txBody>
      </p:sp>
      <p:sp>
        <p:nvSpPr>
          <p:cNvPr id="38" name="TextBox 38"/>
          <p:cNvSpPr txBox="1"/>
          <p:nvPr/>
        </p:nvSpPr>
        <p:spPr>
          <a:xfrm>
            <a:off x="14405203" y="4613950"/>
            <a:ext cx="2539603" cy="621030"/>
          </a:xfrm>
          <a:prstGeom prst="rect">
            <a:avLst/>
          </a:prstGeom>
        </p:spPr>
        <p:txBody>
          <a:bodyPr lIns="0" tIns="0" rIns="0" bIns="0" rtlCol="0" anchor="t">
            <a:spAutoFit/>
          </a:bodyPr>
          <a:lstStyle/>
          <a:p>
            <a:pPr algn="ctr">
              <a:lnSpc>
                <a:spcPts val="2520"/>
              </a:lnSpc>
            </a:pPr>
            <a:r>
              <a:rPr lang="en-US" sz="1800">
                <a:solidFill>
                  <a:srgbClr val="FFFFFF"/>
                </a:solidFill>
                <a:latin typeface="HK Grotesk"/>
              </a:rPr>
              <a:t>Qvender* PV</a:t>
            </a:r>
          </a:p>
          <a:p>
            <a:pPr algn="ctr">
              <a:lnSpc>
                <a:spcPts val="2520"/>
              </a:lnSpc>
            </a:pPr>
            <a:r>
              <a:rPr lang="en-US" sz="1800">
                <a:solidFill>
                  <a:srgbClr val="FFFFFF"/>
                </a:solidFill>
                <a:latin typeface="HK Grotesk"/>
              </a:rPr>
              <a:t>(PV= Precio determinado)</a:t>
            </a:r>
          </a:p>
        </p:txBody>
      </p:sp>
      <p:sp>
        <p:nvSpPr>
          <p:cNvPr id="39" name="TextBox 39"/>
          <p:cNvSpPr txBox="1"/>
          <p:nvPr/>
        </p:nvSpPr>
        <p:spPr>
          <a:xfrm>
            <a:off x="14256553" y="8472380"/>
            <a:ext cx="2836902" cy="621030"/>
          </a:xfrm>
          <a:prstGeom prst="rect">
            <a:avLst/>
          </a:prstGeom>
        </p:spPr>
        <p:txBody>
          <a:bodyPr lIns="0" tIns="0" rIns="0" bIns="0" rtlCol="0" anchor="t">
            <a:spAutoFit/>
          </a:bodyPr>
          <a:lstStyle/>
          <a:p>
            <a:pPr algn="ctr">
              <a:lnSpc>
                <a:spcPts val="2520"/>
              </a:lnSpc>
            </a:pPr>
            <a:r>
              <a:rPr lang="en-US" sz="1800">
                <a:solidFill>
                  <a:srgbClr val="FFFFFF"/>
                </a:solidFill>
                <a:latin typeface="HK Grotesk"/>
              </a:rPr>
              <a:t>Qproducir* Cu</a:t>
            </a:r>
          </a:p>
          <a:p>
            <a:pPr algn="ctr">
              <a:lnSpc>
                <a:spcPts val="2520"/>
              </a:lnSpc>
            </a:pPr>
            <a:r>
              <a:rPr lang="en-US" sz="1800">
                <a:solidFill>
                  <a:srgbClr val="FFFFFF"/>
                </a:solidFill>
                <a:latin typeface="HK Grotesk"/>
              </a:rPr>
              <a:t>(Cu=Costo predeterminado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AutoShape 2"/>
          <p:cNvSpPr/>
          <p:nvPr/>
        </p:nvSpPr>
        <p:spPr>
          <a:xfrm>
            <a:off x="1028700" y="1690688"/>
            <a:ext cx="16230600" cy="0"/>
          </a:xfrm>
          <a:prstGeom prst="line">
            <a:avLst/>
          </a:prstGeom>
          <a:ln w="9525" cap="flat">
            <a:solidFill>
              <a:srgbClr val="BDC2C5"/>
            </a:solidFill>
            <a:prstDash val="solid"/>
            <a:headEnd type="none" w="sm" len="sm"/>
            <a:tailEnd type="none" w="sm" len="sm"/>
          </a:ln>
        </p:spPr>
      </p:sp>
      <p:sp>
        <p:nvSpPr>
          <p:cNvPr id="3" name="Freeform 3"/>
          <p:cNvSpPr/>
          <p:nvPr/>
        </p:nvSpPr>
        <p:spPr>
          <a:xfrm>
            <a:off x="8738848" y="2265045"/>
            <a:ext cx="221409" cy="1932940"/>
          </a:xfrm>
          <a:custGeom>
            <a:avLst/>
            <a:gdLst/>
            <a:ahLst/>
            <a:cxnLst/>
            <a:rect l="l" t="t" r="r" b="b"/>
            <a:pathLst>
              <a:path w="221409" h="1932940">
                <a:moveTo>
                  <a:pt x="0" y="0"/>
                </a:moveTo>
                <a:lnTo>
                  <a:pt x="221409" y="0"/>
                </a:lnTo>
                <a:lnTo>
                  <a:pt x="221409" y="1932940"/>
                </a:lnTo>
                <a:lnTo>
                  <a:pt x="0" y="19329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9398407" y="2276629"/>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Presupuesto de Ventas</a:t>
            </a:r>
          </a:p>
        </p:txBody>
      </p:sp>
      <p:sp>
        <p:nvSpPr>
          <p:cNvPr id="5" name="TextBox 5"/>
          <p:cNvSpPr txBox="1"/>
          <p:nvPr/>
        </p:nvSpPr>
        <p:spPr>
          <a:xfrm>
            <a:off x="9398407" y="2780184"/>
            <a:ext cx="5175802"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Presupuesto de Produccion</a:t>
            </a:r>
          </a:p>
        </p:txBody>
      </p:sp>
      <p:sp>
        <p:nvSpPr>
          <p:cNvPr id="6" name="TextBox 6"/>
          <p:cNvSpPr txBox="1"/>
          <p:nvPr/>
        </p:nvSpPr>
        <p:spPr>
          <a:xfrm>
            <a:off x="9398407" y="3283739"/>
            <a:ext cx="6433180" cy="521335"/>
          </a:xfrm>
          <a:prstGeom prst="rect">
            <a:avLst/>
          </a:prstGeom>
        </p:spPr>
        <p:txBody>
          <a:bodyPr lIns="0" tIns="0" rIns="0" bIns="0" rtlCol="0" anchor="t">
            <a:spAutoFit/>
          </a:bodyPr>
          <a:lstStyle/>
          <a:p>
            <a:pPr>
              <a:lnSpc>
                <a:spcPts val="4160"/>
              </a:lnSpc>
              <a:spcBef>
                <a:spcPct val="0"/>
              </a:spcBef>
            </a:pPr>
            <a:r>
              <a:rPr lang="en-US" sz="3200">
                <a:solidFill>
                  <a:srgbClr val="009490"/>
                </a:solidFill>
                <a:latin typeface="HK Grotesk Bold"/>
              </a:rPr>
              <a:t>Presupuesto de Compras</a:t>
            </a:r>
          </a:p>
        </p:txBody>
      </p:sp>
      <p:sp>
        <p:nvSpPr>
          <p:cNvPr id="7" name="TextBox 7"/>
          <p:cNvSpPr txBox="1"/>
          <p:nvPr/>
        </p:nvSpPr>
        <p:spPr>
          <a:xfrm>
            <a:off x="9398407" y="3766974"/>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Presupuesto de Gastos</a:t>
            </a:r>
          </a:p>
        </p:txBody>
      </p:sp>
      <p:sp>
        <p:nvSpPr>
          <p:cNvPr id="8" name="TextBox 8"/>
          <p:cNvSpPr txBox="1"/>
          <p:nvPr/>
        </p:nvSpPr>
        <p:spPr>
          <a:xfrm>
            <a:off x="10368528" y="4683930"/>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Compra de Bienes de Uso</a:t>
            </a:r>
          </a:p>
        </p:txBody>
      </p:sp>
      <p:sp>
        <p:nvSpPr>
          <p:cNvPr id="9" name="Freeform 9"/>
          <p:cNvSpPr/>
          <p:nvPr/>
        </p:nvSpPr>
        <p:spPr>
          <a:xfrm>
            <a:off x="4460793" y="2124075"/>
            <a:ext cx="793790" cy="6929910"/>
          </a:xfrm>
          <a:custGeom>
            <a:avLst/>
            <a:gdLst/>
            <a:ahLst/>
            <a:cxnLst/>
            <a:rect l="l" t="t" r="r" b="b"/>
            <a:pathLst>
              <a:path w="793790" h="6929910">
                <a:moveTo>
                  <a:pt x="0" y="0"/>
                </a:moveTo>
                <a:lnTo>
                  <a:pt x="793789" y="0"/>
                </a:lnTo>
                <a:lnTo>
                  <a:pt x="793789" y="6929910"/>
                </a:lnTo>
                <a:lnTo>
                  <a:pt x="0" y="69299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TextBox 10"/>
          <p:cNvSpPr txBox="1"/>
          <p:nvPr/>
        </p:nvSpPr>
        <p:spPr>
          <a:xfrm>
            <a:off x="647700" y="361950"/>
            <a:ext cx="11095596" cy="1104900"/>
          </a:xfrm>
          <a:prstGeom prst="rect">
            <a:avLst/>
          </a:prstGeom>
        </p:spPr>
        <p:txBody>
          <a:bodyPr lIns="0" tIns="0" rIns="0" bIns="0" rtlCol="0" anchor="t">
            <a:spAutoFit/>
          </a:bodyPr>
          <a:lstStyle/>
          <a:p>
            <a:pPr marL="0" lvl="0" indent="0" algn="l">
              <a:lnSpc>
                <a:spcPts val="8640"/>
              </a:lnSpc>
              <a:spcBef>
                <a:spcPct val="0"/>
              </a:spcBef>
            </a:pPr>
            <a:r>
              <a:rPr lang="en-US" sz="7200">
                <a:solidFill>
                  <a:srgbClr val="009490"/>
                </a:solidFill>
                <a:latin typeface="HK Grotesk Bold"/>
              </a:rPr>
              <a:t>Sistema Presupuestario</a:t>
            </a:r>
          </a:p>
        </p:txBody>
      </p:sp>
      <p:sp>
        <p:nvSpPr>
          <p:cNvPr id="11" name="TextBox 11"/>
          <p:cNvSpPr txBox="1"/>
          <p:nvPr/>
        </p:nvSpPr>
        <p:spPr>
          <a:xfrm>
            <a:off x="5476163" y="4421993"/>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Presupuesto de Inversiones</a:t>
            </a:r>
          </a:p>
        </p:txBody>
      </p:sp>
      <p:sp>
        <p:nvSpPr>
          <p:cNvPr id="12" name="TextBox 12"/>
          <p:cNvSpPr txBox="1"/>
          <p:nvPr/>
        </p:nvSpPr>
        <p:spPr>
          <a:xfrm>
            <a:off x="5476163" y="2759864"/>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009490"/>
                </a:solidFill>
                <a:latin typeface="HK Grotesk Bold"/>
              </a:rPr>
              <a:t>Presupuesto Operativo</a:t>
            </a:r>
          </a:p>
        </p:txBody>
      </p:sp>
      <p:sp>
        <p:nvSpPr>
          <p:cNvPr id="13" name="TextBox 13"/>
          <p:cNvSpPr txBox="1"/>
          <p:nvPr/>
        </p:nvSpPr>
        <p:spPr>
          <a:xfrm>
            <a:off x="1415505" y="4925548"/>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Sistema Presupuestario</a:t>
            </a:r>
          </a:p>
        </p:txBody>
      </p:sp>
      <p:sp>
        <p:nvSpPr>
          <p:cNvPr id="14" name="TextBox 14"/>
          <p:cNvSpPr txBox="1"/>
          <p:nvPr/>
        </p:nvSpPr>
        <p:spPr>
          <a:xfrm>
            <a:off x="5476163" y="6105378"/>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Presupuesto Financiero</a:t>
            </a:r>
          </a:p>
        </p:txBody>
      </p:sp>
      <p:sp>
        <p:nvSpPr>
          <p:cNvPr id="15" name="TextBox 15"/>
          <p:cNvSpPr txBox="1"/>
          <p:nvPr/>
        </p:nvSpPr>
        <p:spPr>
          <a:xfrm>
            <a:off x="5476163" y="7788763"/>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Estados de Sintesis</a:t>
            </a:r>
          </a:p>
        </p:txBody>
      </p:sp>
      <p:sp>
        <p:nvSpPr>
          <p:cNvPr id="16" name="TextBox 16"/>
          <p:cNvSpPr txBox="1"/>
          <p:nvPr/>
        </p:nvSpPr>
        <p:spPr>
          <a:xfrm>
            <a:off x="9040583" y="6039806"/>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De Ingresos</a:t>
            </a:r>
          </a:p>
        </p:txBody>
      </p:sp>
      <p:sp>
        <p:nvSpPr>
          <p:cNvPr id="17" name="TextBox 17"/>
          <p:cNvSpPr txBox="1"/>
          <p:nvPr/>
        </p:nvSpPr>
        <p:spPr>
          <a:xfrm>
            <a:off x="9040583" y="6629253"/>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De Egresos</a:t>
            </a:r>
          </a:p>
        </p:txBody>
      </p:sp>
      <p:sp>
        <p:nvSpPr>
          <p:cNvPr id="18" name="TextBox 18"/>
          <p:cNvSpPr txBox="1"/>
          <p:nvPr/>
        </p:nvSpPr>
        <p:spPr>
          <a:xfrm>
            <a:off x="9040583" y="7787478"/>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Cuadro de resultados proforma</a:t>
            </a:r>
          </a:p>
        </p:txBody>
      </p:sp>
      <p:sp>
        <p:nvSpPr>
          <p:cNvPr id="19" name="TextBox 19"/>
          <p:cNvSpPr txBox="1"/>
          <p:nvPr/>
        </p:nvSpPr>
        <p:spPr>
          <a:xfrm>
            <a:off x="9040583" y="8291033"/>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Balance general Proforma</a:t>
            </a:r>
          </a:p>
        </p:txBody>
      </p:sp>
      <p:sp>
        <p:nvSpPr>
          <p:cNvPr id="20" name="AutoShape 20"/>
          <p:cNvSpPr/>
          <p:nvPr/>
        </p:nvSpPr>
        <p:spPr>
          <a:xfrm flipH="1">
            <a:off x="8586448" y="4982698"/>
            <a:ext cx="1496330" cy="0"/>
          </a:xfrm>
          <a:prstGeom prst="line">
            <a:avLst/>
          </a:prstGeom>
          <a:ln w="38100" cap="flat">
            <a:solidFill>
              <a:srgbClr val="FFFFFF"/>
            </a:solidFill>
            <a:prstDash val="solid"/>
            <a:headEnd type="none" w="sm" len="sm"/>
            <a:tailEnd type="arrow" w="med" len="sm"/>
          </a:ln>
        </p:spPr>
      </p:sp>
      <p:sp>
        <p:nvSpPr>
          <p:cNvPr id="21" name="Freeform 21"/>
          <p:cNvSpPr/>
          <p:nvPr/>
        </p:nvSpPr>
        <p:spPr>
          <a:xfrm>
            <a:off x="8586448" y="5891700"/>
            <a:ext cx="168385" cy="1470025"/>
          </a:xfrm>
          <a:custGeom>
            <a:avLst/>
            <a:gdLst/>
            <a:ahLst/>
            <a:cxnLst/>
            <a:rect l="l" t="t" r="r" b="b"/>
            <a:pathLst>
              <a:path w="168385" h="1470025">
                <a:moveTo>
                  <a:pt x="0" y="0"/>
                </a:moveTo>
                <a:lnTo>
                  <a:pt x="168385" y="0"/>
                </a:lnTo>
                <a:lnTo>
                  <a:pt x="168385" y="1470025"/>
                </a:lnTo>
                <a:lnTo>
                  <a:pt x="0" y="14700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2" name="Freeform 22"/>
          <p:cNvSpPr/>
          <p:nvPr/>
        </p:nvSpPr>
        <p:spPr>
          <a:xfrm>
            <a:off x="8586448" y="7583960"/>
            <a:ext cx="168385" cy="1470025"/>
          </a:xfrm>
          <a:custGeom>
            <a:avLst/>
            <a:gdLst/>
            <a:ahLst/>
            <a:cxnLst/>
            <a:rect l="l" t="t" r="r" b="b"/>
            <a:pathLst>
              <a:path w="168385" h="1470025">
                <a:moveTo>
                  <a:pt x="0" y="0"/>
                </a:moveTo>
                <a:lnTo>
                  <a:pt x="168385" y="0"/>
                </a:lnTo>
                <a:lnTo>
                  <a:pt x="168385" y="1470025"/>
                </a:lnTo>
                <a:lnTo>
                  <a:pt x="0" y="14700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3646914" y="495272"/>
            <a:ext cx="10994172" cy="1295400"/>
          </a:xfrm>
          <a:prstGeom prst="rect">
            <a:avLst/>
          </a:prstGeom>
        </p:spPr>
        <p:txBody>
          <a:bodyPr wrap="square" lIns="0" tIns="0" rIns="0" bIns="0" rtlCol="0" anchor="t">
            <a:spAutoFit/>
          </a:bodyPr>
          <a:lstStyle/>
          <a:p>
            <a:pPr algn="ctr">
              <a:lnSpc>
                <a:spcPts val="10500"/>
              </a:lnSpc>
            </a:pPr>
            <a:r>
              <a:rPr lang="en-US" sz="7500" dirty="0" err="1">
                <a:solidFill>
                  <a:srgbClr val="009490"/>
                </a:solidFill>
                <a:latin typeface="HK Grotesk Bold"/>
              </a:rPr>
              <a:t>Presupuesto</a:t>
            </a:r>
            <a:r>
              <a:rPr lang="en-US" sz="7500" dirty="0">
                <a:solidFill>
                  <a:srgbClr val="009490"/>
                </a:solidFill>
                <a:latin typeface="HK Grotesk Bold"/>
              </a:rPr>
              <a:t> de </a:t>
            </a:r>
            <a:r>
              <a:rPr lang="en-US" sz="7500" dirty="0" err="1">
                <a:solidFill>
                  <a:srgbClr val="009490"/>
                </a:solidFill>
                <a:latin typeface="HK Grotesk Bold"/>
              </a:rPr>
              <a:t>compras</a:t>
            </a:r>
            <a:endParaRPr lang="en-US" sz="7500" dirty="0">
              <a:solidFill>
                <a:srgbClr val="009490"/>
              </a:solidFill>
              <a:latin typeface="HK Grotesk Bold"/>
            </a:endParaRPr>
          </a:p>
        </p:txBody>
      </p:sp>
      <p:grpSp>
        <p:nvGrpSpPr>
          <p:cNvPr id="3" name="Group 3"/>
          <p:cNvGrpSpPr/>
          <p:nvPr/>
        </p:nvGrpSpPr>
        <p:grpSpPr>
          <a:xfrm>
            <a:off x="1028700" y="1840678"/>
            <a:ext cx="18306835" cy="7714615"/>
            <a:chOff x="0" y="0"/>
            <a:chExt cx="24409113" cy="10286153"/>
          </a:xfrm>
        </p:grpSpPr>
        <p:sp>
          <p:nvSpPr>
            <p:cNvPr id="4" name="TextBox 4"/>
            <p:cNvSpPr txBox="1"/>
            <p:nvPr/>
          </p:nvSpPr>
          <p:spPr>
            <a:xfrm>
              <a:off x="0" y="-66675"/>
              <a:ext cx="24409113" cy="10352828"/>
            </a:xfrm>
            <a:prstGeom prst="rect">
              <a:avLst/>
            </a:prstGeom>
          </p:spPr>
          <p:txBody>
            <a:bodyPr lIns="0" tIns="0" rIns="0" bIns="0" rtlCol="0" anchor="t">
              <a:spAutoFit/>
            </a:bodyPr>
            <a:lstStyle/>
            <a:p>
              <a:pPr marL="734059" lvl="1" indent="-367030">
                <a:lnSpc>
                  <a:spcPts val="4759"/>
                </a:lnSpc>
                <a:buFont typeface="Arial"/>
                <a:buChar char="•"/>
              </a:pPr>
              <a:r>
                <a:rPr lang="en-US" sz="3399" dirty="0" err="1">
                  <a:solidFill>
                    <a:srgbClr val="FFFFFF"/>
                  </a:solidFill>
                  <a:latin typeface="HK Grotesk"/>
                </a:rPr>
                <a:t>Depende</a:t>
              </a:r>
              <a:r>
                <a:rPr lang="en-US" sz="3399" dirty="0">
                  <a:solidFill>
                    <a:srgbClr val="FFFFFF"/>
                  </a:solidFill>
                  <a:latin typeface="HK Grotesk"/>
                </a:rPr>
                <a:t> </a:t>
              </a:r>
              <a:r>
                <a:rPr lang="en-US" sz="3399" dirty="0" err="1">
                  <a:solidFill>
                    <a:srgbClr val="FFFFFF"/>
                  </a:solidFill>
                  <a:latin typeface="HK Grotesk"/>
                </a:rPr>
                <a:t>Programa</a:t>
              </a:r>
              <a:r>
                <a:rPr lang="en-US" sz="3399" dirty="0">
                  <a:solidFill>
                    <a:srgbClr val="FFFFFF"/>
                  </a:solidFill>
                  <a:latin typeface="HK Grotesk"/>
                </a:rPr>
                <a:t> de </a:t>
              </a:r>
              <a:r>
                <a:rPr lang="en-US" sz="3399" dirty="0" err="1">
                  <a:solidFill>
                    <a:srgbClr val="FFFFFF"/>
                  </a:solidFill>
                  <a:latin typeface="HK Grotesk"/>
                </a:rPr>
                <a:t>producción</a:t>
              </a:r>
              <a:endParaRPr lang="en-US" sz="3399" dirty="0">
                <a:solidFill>
                  <a:srgbClr val="FFFFFF"/>
                </a:solidFill>
                <a:latin typeface="HK Grotesk"/>
              </a:endParaRPr>
            </a:p>
            <a:p>
              <a:pPr>
                <a:lnSpc>
                  <a:spcPts val="4759"/>
                </a:lnSpc>
              </a:pPr>
              <a:endParaRPr lang="en-US" sz="3399" dirty="0">
                <a:solidFill>
                  <a:srgbClr val="FFFFFF"/>
                </a:solidFill>
                <a:latin typeface="HK Grotesk"/>
              </a:endParaRPr>
            </a:p>
            <a:p>
              <a:pPr marL="734059" lvl="1" indent="-367030">
                <a:lnSpc>
                  <a:spcPts val="4759"/>
                </a:lnSpc>
                <a:buFont typeface="Arial"/>
                <a:buChar char="•"/>
              </a:pPr>
              <a:r>
                <a:rPr lang="en-US" sz="3399" dirty="0" err="1">
                  <a:solidFill>
                    <a:srgbClr val="FFFFFF"/>
                  </a:solidFill>
                  <a:latin typeface="HK Grotesk"/>
                </a:rPr>
                <a:t>Planifica</a:t>
              </a:r>
              <a:r>
                <a:rPr lang="en-US" sz="3399" dirty="0">
                  <a:solidFill>
                    <a:srgbClr val="FFFFFF"/>
                  </a:solidFill>
                  <a:latin typeface="HK Grotesk"/>
                </a:rPr>
                <a:t> </a:t>
              </a:r>
              <a:r>
                <a:rPr lang="en-US" sz="3399" dirty="0" err="1">
                  <a:solidFill>
                    <a:srgbClr val="FFFFFF"/>
                  </a:solidFill>
                  <a:latin typeface="HK Grotesk"/>
                </a:rPr>
                <a:t>provisión</a:t>
              </a:r>
              <a:r>
                <a:rPr lang="en-US" sz="3399" dirty="0">
                  <a:solidFill>
                    <a:srgbClr val="FFFFFF"/>
                  </a:solidFill>
                  <a:latin typeface="HK Grotesk"/>
                </a:rPr>
                <a:t> →</a:t>
              </a:r>
            </a:p>
            <a:p>
              <a:pPr>
                <a:lnSpc>
                  <a:spcPts val="4759"/>
                </a:lnSpc>
              </a:pPr>
              <a:endParaRPr lang="en-US" sz="3399" dirty="0">
                <a:solidFill>
                  <a:srgbClr val="FFFFFF"/>
                </a:solidFill>
                <a:latin typeface="HK Grotesk"/>
              </a:endParaRPr>
            </a:p>
            <a:p>
              <a:pPr>
                <a:lnSpc>
                  <a:spcPts val="4759"/>
                </a:lnSpc>
              </a:pPr>
              <a:r>
                <a:rPr lang="en-US" sz="3399" dirty="0">
                  <a:solidFill>
                    <a:srgbClr val="FFFFFF"/>
                  </a:solidFill>
                  <a:latin typeface="HK Grotesk"/>
                </a:rPr>
                <a:t>  </a:t>
              </a:r>
            </a:p>
            <a:p>
              <a:pPr marL="734059" lvl="1" indent="-367030">
                <a:lnSpc>
                  <a:spcPts val="4759"/>
                </a:lnSpc>
                <a:buFont typeface="Arial"/>
                <a:buChar char="•"/>
              </a:pPr>
              <a:r>
                <a:rPr lang="en-US" sz="3399" dirty="0" err="1">
                  <a:solidFill>
                    <a:srgbClr val="FFFFFF"/>
                  </a:solidFill>
                  <a:latin typeface="HK Grotesk"/>
                </a:rPr>
                <a:t>Programa</a:t>
              </a:r>
              <a:r>
                <a:rPr lang="en-US" sz="3399" dirty="0">
                  <a:solidFill>
                    <a:srgbClr val="FFFFFF"/>
                  </a:solidFill>
                  <a:latin typeface="HK Grotesk"/>
                </a:rPr>
                <a:t> </a:t>
              </a:r>
              <a:r>
                <a:rPr lang="en-US" sz="3399" dirty="0" err="1">
                  <a:solidFill>
                    <a:srgbClr val="FFFFFF"/>
                  </a:solidFill>
                  <a:latin typeface="HK Grotesk"/>
                </a:rPr>
                <a:t>entrega</a:t>
              </a:r>
              <a:r>
                <a:rPr lang="en-US" sz="3399" dirty="0">
                  <a:solidFill>
                    <a:srgbClr val="FFFFFF"/>
                  </a:solidFill>
                  <a:latin typeface="HK Grotesk"/>
                </a:rPr>
                <a:t> → </a:t>
              </a:r>
              <a:r>
                <a:rPr lang="en-US" sz="3399" dirty="0" err="1">
                  <a:solidFill>
                    <a:srgbClr val="FFFFFF"/>
                  </a:solidFill>
                  <a:latin typeface="HK Grotesk"/>
                </a:rPr>
                <a:t>Plazo</a:t>
              </a:r>
              <a:r>
                <a:rPr lang="en-US" sz="3399" dirty="0">
                  <a:solidFill>
                    <a:srgbClr val="FFFFFF"/>
                  </a:solidFill>
                  <a:latin typeface="HK Grotesk"/>
                </a:rPr>
                <a:t> </a:t>
              </a:r>
              <a:r>
                <a:rPr lang="en-US" sz="3399" dirty="0" err="1">
                  <a:solidFill>
                    <a:srgbClr val="FFFFFF"/>
                  </a:solidFill>
                  <a:latin typeface="HK Grotesk"/>
                </a:rPr>
                <a:t>entrega</a:t>
              </a:r>
              <a:r>
                <a:rPr lang="en-US" sz="3399" dirty="0">
                  <a:solidFill>
                    <a:srgbClr val="FFFFFF"/>
                  </a:solidFill>
                  <a:latin typeface="HK Grotesk"/>
                </a:rPr>
                <a:t>, </a:t>
              </a:r>
              <a:r>
                <a:rPr lang="en-US" sz="3399" dirty="0" err="1">
                  <a:solidFill>
                    <a:srgbClr val="FFFFFF"/>
                  </a:solidFill>
                  <a:latin typeface="HK Grotesk"/>
                </a:rPr>
                <a:t>Costos</a:t>
              </a:r>
              <a:r>
                <a:rPr lang="en-US" sz="3399" dirty="0">
                  <a:solidFill>
                    <a:srgbClr val="FFFFFF"/>
                  </a:solidFill>
                  <a:latin typeface="HK Grotesk"/>
                </a:rPr>
                <a:t> </a:t>
              </a:r>
              <a:r>
                <a:rPr lang="en-US" sz="3399" dirty="0" err="1">
                  <a:solidFill>
                    <a:srgbClr val="FFFFFF"/>
                  </a:solidFill>
                  <a:latin typeface="HK Grotesk"/>
                </a:rPr>
                <a:t>ordenes</a:t>
              </a:r>
              <a:r>
                <a:rPr lang="en-US" sz="3399" dirty="0">
                  <a:solidFill>
                    <a:srgbClr val="FFFFFF"/>
                  </a:solidFill>
                  <a:latin typeface="HK Grotesk"/>
                </a:rPr>
                <a:t> de </a:t>
              </a:r>
              <a:r>
                <a:rPr lang="en-US" sz="3399" dirty="0" err="1">
                  <a:solidFill>
                    <a:srgbClr val="FFFFFF"/>
                  </a:solidFill>
                  <a:latin typeface="HK Grotesk"/>
                </a:rPr>
                <a:t>compra</a:t>
              </a:r>
              <a:r>
                <a:rPr lang="en-US" sz="3399" dirty="0">
                  <a:solidFill>
                    <a:srgbClr val="FFFFFF"/>
                  </a:solidFill>
                  <a:latin typeface="HK Grotesk"/>
                </a:rPr>
                <a:t>, </a:t>
              </a:r>
              <a:r>
                <a:rPr lang="en-US" sz="3399" dirty="0" err="1">
                  <a:solidFill>
                    <a:srgbClr val="FFFFFF"/>
                  </a:solidFill>
                  <a:latin typeface="HK Grotesk"/>
                </a:rPr>
                <a:t>Almacenamiento</a:t>
              </a:r>
              <a:endParaRPr lang="en-US" sz="3399" dirty="0">
                <a:solidFill>
                  <a:srgbClr val="FFFFFF"/>
                </a:solidFill>
                <a:latin typeface="HK Grotesk"/>
              </a:endParaRPr>
            </a:p>
            <a:p>
              <a:pPr>
                <a:lnSpc>
                  <a:spcPts val="4759"/>
                </a:lnSpc>
              </a:pPr>
              <a:endParaRPr lang="en-US" sz="3399" dirty="0">
                <a:solidFill>
                  <a:srgbClr val="FFFFFF"/>
                </a:solidFill>
                <a:latin typeface="HK Grotesk"/>
              </a:endParaRPr>
            </a:p>
            <a:p>
              <a:pPr marL="734059" lvl="1" indent="-367030">
                <a:lnSpc>
                  <a:spcPts val="4759"/>
                </a:lnSpc>
                <a:buFont typeface="Arial"/>
                <a:buChar char="•"/>
              </a:pPr>
              <a:r>
                <a:rPr lang="en-US" sz="3399" dirty="0">
                  <a:solidFill>
                    <a:srgbClr val="FFFFFF"/>
                  </a:solidFill>
                  <a:latin typeface="HK Grotesk"/>
                </a:rPr>
                <a:t>Tener </a:t>
              </a:r>
              <a:r>
                <a:rPr lang="en-US" sz="3399" dirty="0" err="1">
                  <a:solidFill>
                    <a:srgbClr val="FFFFFF"/>
                  </a:solidFill>
                  <a:latin typeface="HK Grotesk"/>
                </a:rPr>
                <a:t>en</a:t>
              </a:r>
              <a:r>
                <a:rPr lang="en-US" sz="3399" dirty="0">
                  <a:solidFill>
                    <a:srgbClr val="FFFFFF"/>
                  </a:solidFill>
                  <a:latin typeface="HK Grotesk"/>
                </a:rPr>
                <a:t> </a:t>
              </a:r>
              <a:r>
                <a:rPr lang="en-US" sz="3399" dirty="0" err="1">
                  <a:solidFill>
                    <a:srgbClr val="FFFFFF"/>
                  </a:solidFill>
                  <a:latin typeface="HK Grotesk"/>
                </a:rPr>
                <a:t>cuenta</a:t>
              </a:r>
              <a:r>
                <a:rPr lang="en-US" sz="3399" dirty="0">
                  <a:solidFill>
                    <a:srgbClr val="FFFFFF"/>
                  </a:solidFill>
                  <a:latin typeface="HK Grotesk"/>
                </a:rPr>
                <a:t> a la hora </a:t>
              </a:r>
              <a:r>
                <a:rPr lang="en-US" sz="3399" dirty="0" err="1">
                  <a:solidFill>
                    <a:srgbClr val="FFFFFF"/>
                  </a:solidFill>
                  <a:latin typeface="HK Grotesk"/>
                </a:rPr>
                <a:t>orden</a:t>
              </a:r>
              <a:r>
                <a:rPr lang="en-US" sz="3399" dirty="0">
                  <a:solidFill>
                    <a:srgbClr val="FFFFFF"/>
                  </a:solidFill>
                  <a:latin typeface="HK Grotesk"/>
                </a:rPr>
                <a:t> de </a:t>
              </a:r>
              <a:r>
                <a:rPr lang="en-US" sz="3399" dirty="0" err="1">
                  <a:solidFill>
                    <a:srgbClr val="FFFFFF"/>
                  </a:solidFill>
                  <a:latin typeface="HK Grotesk"/>
                </a:rPr>
                <a:t>compra</a:t>
              </a:r>
              <a:r>
                <a:rPr lang="en-US" sz="3399" dirty="0">
                  <a:solidFill>
                    <a:srgbClr val="FFFFFF"/>
                  </a:solidFill>
                  <a:latin typeface="HK Grotesk"/>
                </a:rPr>
                <a:t>: </a:t>
              </a:r>
            </a:p>
            <a:p>
              <a:pPr marL="2202178" lvl="3" indent="-550545">
                <a:lnSpc>
                  <a:spcPts val="4759"/>
                </a:lnSpc>
                <a:buFont typeface="Arial"/>
                <a:buChar char="￭"/>
              </a:pPr>
              <a:r>
                <a:rPr lang="en-US" sz="3399" dirty="0">
                  <a:solidFill>
                    <a:srgbClr val="FFFFFF"/>
                  </a:solidFill>
                  <a:latin typeface="HK Grotesk"/>
                </a:rPr>
                <a:t> </a:t>
              </a:r>
              <a:r>
                <a:rPr lang="en-US" sz="3399" dirty="0" err="1">
                  <a:solidFill>
                    <a:srgbClr val="FFFFFF"/>
                  </a:solidFill>
                  <a:latin typeface="HK Grotesk"/>
                </a:rPr>
                <a:t>Quiebre</a:t>
              </a:r>
              <a:r>
                <a:rPr lang="en-US" sz="3399" dirty="0">
                  <a:solidFill>
                    <a:srgbClr val="FFFFFF"/>
                  </a:solidFill>
                  <a:latin typeface="HK Grotesk"/>
                </a:rPr>
                <a:t> Stock = </a:t>
              </a:r>
              <a:r>
                <a:rPr lang="en-US" sz="3399" dirty="0" err="1">
                  <a:solidFill>
                    <a:srgbClr val="FFFFFF"/>
                  </a:solidFill>
                  <a:latin typeface="HK Grotesk"/>
                </a:rPr>
                <a:t>Evitar</a:t>
              </a:r>
              <a:r>
                <a:rPr lang="en-US" sz="3399" dirty="0">
                  <a:solidFill>
                    <a:srgbClr val="FFFFFF"/>
                  </a:solidFill>
                  <a:latin typeface="HK Grotesk"/>
                </a:rPr>
                <a:t> </a:t>
              </a:r>
              <a:r>
                <a:rPr lang="en-US" sz="3399" dirty="0" err="1">
                  <a:solidFill>
                    <a:srgbClr val="FFFFFF"/>
                  </a:solidFill>
                  <a:latin typeface="HK Grotesk"/>
                </a:rPr>
                <a:t>quedarse</a:t>
              </a:r>
              <a:r>
                <a:rPr lang="en-US" sz="3399" dirty="0">
                  <a:solidFill>
                    <a:srgbClr val="FFFFFF"/>
                  </a:solidFill>
                  <a:latin typeface="HK Grotesk"/>
                </a:rPr>
                <a:t> sin stock</a:t>
              </a:r>
            </a:p>
            <a:p>
              <a:pPr marL="2202178" lvl="3" indent="-550545">
                <a:lnSpc>
                  <a:spcPts val="4759"/>
                </a:lnSpc>
                <a:buFont typeface="Arial"/>
                <a:buChar char="￭"/>
              </a:pPr>
              <a:r>
                <a:rPr lang="en-US" sz="3399" dirty="0">
                  <a:solidFill>
                    <a:srgbClr val="FFFFFF"/>
                  </a:solidFill>
                  <a:latin typeface="HK Grotesk"/>
                </a:rPr>
                <a:t> Stock </a:t>
              </a:r>
              <a:r>
                <a:rPr lang="en-US" sz="3399" dirty="0" err="1">
                  <a:solidFill>
                    <a:srgbClr val="FFFFFF"/>
                  </a:solidFill>
                  <a:latin typeface="HK Grotesk"/>
                </a:rPr>
                <a:t>seguridad</a:t>
              </a:r>
              <a:r>
                <a:rPr lang="en-US" sz="3399" dirty="0">
                  <a:solidFill>
                    <a:srgbClr val="FFFFFF"/>
                  </a:solidFill>
                  <a:latin typeface="HK Grotesk"/>
                </a:rPr>
                <a:t> = </a:t>
              </a:r>
              <a:r>
                <a:rPr lang="en-US" sz="3399" dirty="0" err="1">
                  <a:solidFill>
                    <a:srgbClr val="FFFFFF"/>
                  </a:solidFill>
                  <a:latin typeface="HK Grotesk"/>
                </a:rPr>
                <a:t>Eventualidades</a:t>
              </a:r>
              <a:r>
                <a:rPr lang="en-US" sz="3399" dirty="0">
                  <a:solidFill>
                    <a:srgbClr val="FFFFFF"/>
                  </a:solidFill>
                  <a:latin typeface="HK Grotesk"/>
                </a:rPr>
                <a:t> </a:t>
              </a:r>
              <a:r>
                <a:rPr lang="en-US" sz="3399" dirty="0" err="1">
                  <a:solidFill>
                    <a:srgbClr val="FFFFFF"/>
                  </a:solidFill>
                  <a:latin typeface="HK Grotesk"/>
                </a:rPr>
                <a:t>evitar</a:t>
              </a:r>
              <a:r>
                <a:rPr lang="en-US" sz="3399" dirty="0">
                  <a:solidFill>
                    <a:srgbClr val="FFFFFF"/>
                  </a:solidFill>
                  <a:latin typeface="HK Grotesk"/>
                </a:rPr>
                <a:t> </a:t>
              </a:r>
              <a:r>
                <a:rPr lang="en-US" sz="3399" dirty="0" err="1">
                  <a:solidFill>
                    <a:srgbClr val="FFFFFF"/>
                  </a:solidFill>
                  <a:latin typeface="HK Grotesk"/>
                </a:rPr>
                <a:t>quedarse</a:t>
              </a:r>
              <a:r>
                <a:rPr lang="en-US" sz="3399" dirty="0">
                  <a:solidFill>
                    <a:srgbClr val="FFFFFF"/>
                  </a:solidFill>
                  <a:latin typeface="HK Grotesk"/>
                </a:rPr>
                <a:t> sin stock</a:t>
              </a:r>
            </a:p>
            <a:p>
              <a:pPr marL="2202178" lvl="3" indent="-550545">
                <a:lnSpc>
                  <a:spcPts val="4759"/>
                </a:lnSpc>
                <a:buFont typeface="Arial"/>
                <a:buChar char="￭"/>
              </a:pPr>
              <a:r>
                <a:rPr lang="en-US" sz="3399" dirty="0">
                  <a:solidFill>
                    <a:srgbClr val="FFFFFF"/>
                  </a:solidFill>
                  <a:latin typeface="HK Grotesk"/>
                </a:rPr>
                <a:t> Stock medio = </a:t>
              </a:r>
              <a:r>
                <a:rPr lang="en-US" sz="3399" dirty="0" err="1">
                  <a:solidFill>
                    <a:srgbClr val="FFFFFF"/>
                  </a:solidFill>
                  <a:latin typeface="HK Grotesk"/>
                </a:rPr>
                <a:t>Permanece</a:t>
              </a:r>
              <a:r>
                <a:rPr lang="en-US" sz="3399" dirty="0">
                  <a:solidFill>
                    <a:srgbClr val="FFFFFF"/>
                  </a:solidFill>
                  <a:latin typeface="HK Grotesk"/>
                </a:rPr>
                <a:t> </a:t>
              </a:r>
              <a:r>
                <a:rPr lang="en-US" sz="3399" dirty="0" err="1">
                  <a:solidFill>
                    <a:srgbClr val="FFFFFF"/>
                  </a:solidFill>
                  <a:latin typeface="HK Grotesk"/>
                </a:rPr>
                <a:t>en</a:t>
              </a:r>
              <a:r>
                <a:rPr lang="en-US" sz="3399" dirty="0">
                  <a:solidFill>
                    <a:srgbClr val="FFFFFF"/>
                  </a:solidFill>
                  <a:latin typeface="HK Grotesk"/>
                </a:rPr>
                <a:t> </a:t>
              </a:r>
              <a:r>
                <a:rPr lang="en-US" sz="3399" dirty="0" err="1">
                  <a:solidFill>
                    <a:srgbClr val="FFFFFF"/>
                  </a:solidFill>
                  <a:latin typeface="HK Grotesk"/>
                </a:rPr>
                <a:t>almacén</a:t>
              </a:r>
              <a:endParaRPr lang="en-US" sz="3399" dirty="0">
                <a:solidFill>
                  <a:srgbClr val="FFFFFF"/>
                </a:solidFill>
                <a:latin typeface="HK Grotesk"/>
              </a:endParaRPr>
            </a:p>
            <a:p>
              <a:pPr marL="2202178" lvl="3" indent="-550545">
                <a:lnSpc>
                  <a:spcPts val="4759"/>
                </a:lnSpc>
                <a:buFont typeface="Arial"/>
                <a:buChar char="￭"/>
              </a:pPr>
              <a:r>
                <a:rPr lang="en-US" sz="3399" dirty="0">
                  <a:solidFill>
                    <a:srgbClr val="FFFFFF"/>
                  </a:solidFill>
                  <a:latin typeface="HK Grotesk"/>
                </a:rPr>
                <a:t> Stock </a:t>
              </a:r>
              <a:r>
                <a:rPr lang="en-US" sz="3399" dirty="0" err="1">
                  <a:solidFill>
                    <a:srgbClr val="FFFFFF"/>
                  </a:solidFill>
                  <a:latin typeface="HK Grotesk"/>
                </a:rPr>
                <a:t>minimo</a:t>
              </a:r>
              <a:r>
                <a:rPr lang="en-US" sz="3399" dirty="0">
                  <a:solidFill>
                    <a:srgbClr val="FFFFFF"/>
                  </a:solidFill>
                  <a:latin typeface="HK Grotesk"/>
                </a:rPr>
                <a:t> = </a:t>
              </a:r>
              <a:r>
                <a:rPr lang="en-US" sz="3399" dirty="0" err="1">
                  <a:solidFill>
                    <a:srgbClr val="FFFFFF"/>
                  </a:solidFill>
                  <a:latin typeface="HK Grotesk"/>
                </a:rPr>
                <a:t>Determina</a:t>
              </a:r>
              <a:r>
                <a:rPr lang="en-US" sz="3399" dirty="0">
                  <a:solidFill>
                    <a:srgbClr val="FFFFFF"/>
                  </a:solidFill>
                  <a:latin typeface="HK Grotesk"/>
                </a:rPr>
                <a:t> </a:t>
              </a:r>
              <a:r>
                <a:rPr lang="en-US" sz="3399" dirty="0" err="1">
                  <a:solidFill>
                    <a:srgbClr val="FFFFFF"/>
                  </a:solidFill>
                  <a:latin typeface="HK Grotesk"/>
                </a:rPr>
                <a:t>hacer</a:t>
              </a:r>
              <a:r>
                <a:rPr lang="en-US" sz="3399" dirty="0">
                  <a:solidFill>
                    <a:srgbClr val="FFFFFF"/>
                  </a:solidFill>
                  <a:latin typeface="HK Grotesk"/>
                </a:rPr>
                <a:t> nuevo </a:t>
              </a:r>
              <a:r>
                <a:rPr lang="en-US" sz="3399" dirty="0" err="1">
                  <a:solidFill>
                    <a:srgbClr val="FFFFFF"/>
                  </a:solidFill>
                  <a:latin typeface="HK Grotesk"/>
                </a:rPr>
                <a:t>pedido</a:t>
              </a:r>
              <a:endParaRPr lang="en-US" sz="3399" dirty="0">
                <a:solidFill>
                  <a:srgbClr val="FFFFFF"/>
                </a:solidFill>
                <a:latin typeface="HK Grotesk"/>
              </a:endParaRPr>
            </a:p>
            <a:p>
              <a:pPr marL="2202178" lvl="3" indent="-550545">
                <a:lnSpc>
                  <a:spcPts val="4759"/>
                </a:lnSpc>
                <a:buFont typeface="Arial"/>
                <a:buChar char="￭"/>
              </a:pPr>
              <a:r>
                <a:rPr lang="en-US" sz="3399" dirty="0">
                  <a:solidFill>
                    <a:srgbClr val="FFFFFF"/>
                  </a:solidFill>
                  <a:latin typeface="HK Grotesk"/>
                </a:rPr>
                <a:t>Stock </a:t>
              </a:r>
              <a:r>
                <a:rPr lang="en-US" sz="3399" dirty="0" err="1">
                  <a:solidFill>
                    <a:srgbClr val="FFFFFF"/>
                  </a:solidFill>
                  <a:latin typeface="HK Grotesk"/>
                </a:rPr>
                <a:t>maximo</a:t>
              </a:r>
              <a:r>
                <a:rPr lang="en-US" sz="3399" dirty="0">
                  <a:solidFill>
                    <a:srgbClr val="FFFFFF"/>
                  </a:solidFill>
                  <a:latin typeface="HK Grotesk"/>
                </a:rPr>
                <a:t> = </a:t>
              </a:r>
              <a:r>
                <a:rPr lang="en-US" sz="3399" dirty="0" err="1">
                  <a:solidFill>
                    <a:srgbClr val="FFFFFF"/>
                  </a:solidFill>
                  <a:latin typeface="HK Grotesk"/>
                </a:rPr>
                <a:t>Capacidad</a:t>
              </a:r>
              <a:r>
                <a:rPr lang="en-US" sz="3399" dirty="0">
                  <a:solidFill>
                    <a:srgbClr val="FFFFFF"/>
                  </a:solidFill>
                  <a:latin typeface="HK Grotesk"/>
                </a:rPr>
                <a:t> </a:t>
              </a:r>
              <a:r>
                <a:rPr lang="en-US" sz="3399" dirty="0" err="1">
                  <a:solidFill>
                    <a:srgbClr val="FFFFFF"/>
                  </a:solidFill>
                  <a:latin typeface="HK Grotesk"/>
                </a:rPr>
                <a:t>almacenamiento</a:t>
              </a:r>
              <a:r>
                <a:rPr lang="en-US" sz="3399" dirty="0">
                  <a:solidFill>
                    <a:srgbClr val="FFFFFF"/>
                  </a:solidFill>
                  <a:latin typeface="HK Grotesk"/>
                </a:rPr>
                <a:t>/ </a:t>
              </a:r>
              <a:r>
                <a:rPr lang="en-US" sz="3399" dirty="0" err="1">
                  <a:solidFill>
                    <a:srgbClr val="FFFFFF"/>
                  </a:solidFill>
                  <a:latin typeface="HK Grotesk"/>
                </a:rPr>
                <a:t>financiamiento</a:t>
              </a:r>
              <a:endParaRPr lang="en-US" sz="3399" dirty="0">
                <a:solidFill>
                  <a:srgbClr val="FFFFFF"/>
                </a:solidFill>
                <a:latin typeface="HK Grotesk"/>
              </a:endParaRPr>
            </a:p>
          </p:txBody>
        </p:sp>
        <p:sp>
          <p:nvSpPr>
            <p:cNvPr id="5" name="TextBox 5"/>
            <p:cNvSpPr txBox="1"/>
            <p:nvPr/>
          </p:nvSpPr>
          <p:spPr>
            <a:xfrm>
              <a:off x="6544064" y="1359265"/>
              <a:ext cx="8552673" cy="2351828"/>
            </a:xfrm>
            <a:prstGeom prst="rect">
              <a:avLst/>
            </a:prstGeom>
          </p:spPr>
          <p:txBody>
            <a:bodyPr lIns="0" tIns="0" rIns="0" bIns="0" rtlCol="0" anchor="t">
              <a:spAutoFit/>
            </a:bodyPr>
            <a:lstStyle/>
            <a:p>
              <a:pPr>
                <a:lnSpc>
                  <a:spcPts val="4759"/>
                </a:lnSpc>
              </a:pPr>
              <a:r>
                <a:rPr lang="en-US" sz="3399">
                  <a:solidFill>
                    <a:srgbClr val="FFFFFF"/>
                  </a:solidFill>
                  <a:latin typeface="HK Grotesk"/>
                </a:rPr>
                <a:t>- Materia prima</a:t>
              </a:r>
            </a:p>
            <a:p>
              <a:pPr>
                <a:lnSpc>
                  <a:spcPts val="4759"/>
                </a:lnSpc>
              </a:pPr>
              <a:r>
                <a:rPr lang="en-US" sz="3399">
                  <a:solidFill>
                    <a:srgbClr val="FFFFFF"/>
                  </a:solidFill>
                  <a:latin typeface="HK Grotesk"/>
                </a:rPr>
                <a:t>- Material consumible</a:t>
              </a:r>
            </a:p>
            <a:p>
              <a:pPr>
                <a:lnSpc>
                  <a:spcPts val="4759"/>
                </a:lnSpc>
              </a:pPr>
              <a:r>
                <a:rPr lang="en-US" sz="3399">
                  <a:solidFill>
                    <a:srgbClr val="FFFFFF"/>
                  </a:solidFill>
                  <a:latin typeface="HK Grotesk"/>
                </a:rPr>
                <a:t>- Semielaborados </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AutoShape 2"/>
          <p:cNvSpPr/>
          <p:nvPr/>
        </p:nvSpPr>
        <p:spPr>
          <a:xfrm>
            <a:off x="1028700" y="1690688"/>
            <a:ext cx="16230600" cy="0"/>
          </a:xfrm>
          <a:prstGeom prst="line">
            <a:avLst/>
          </a:prstGeom>
          <a:ln w="9525" cap="flat">
            <a:solidFill>
              <a:srgbClr val="BDC2C5"/>
            </a:solidFill>
            <a:prstDash val="solid"/>
            <a:headEnd type="none" w="sm" len="sm"/>
            <a:tailEnd type="none" w="sm" len="sm"/>
          </a:ln>
        </p:spPr>
      </p:sp>
      <p:sp>
        <p:nvSpPr>
          <p:cNvPr id="3" name="Freeform 3"/>
          <p:cNvSpPr/>
          <p:nvPr/>
        </p:nvSpPr>
        <p:spPr>
          <a:xfrm>
            <a:off x="8738848" y="2265045"/>
            <a:ext cx="221409" cy="1932940"/>
          </a:xfrm>
          <a:custGeom>
            <a:avLst/>
            <a:gdLst/>
            <a:ahLst/>
            <a:cxnLst/>
            <a:rect l="l" t="t" r="r" b="b"/>
            <a:pathLst>
              <a:path w="221409" h="1932940">
                <a:moveTo>
                  <a:pt x="0" y="0"/>
                </a:moveTo>
                <a:lnTo>
                  <a:pt x="221409" y="0"/>
                </a:lnTo>
                <a:lnTo>
                  <a:pt x="221409" y="1932940"/>
                </a:lnTo>
                <a:lnTo>
                  <a:pt x="0" y="19329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9398407" y="2276629"/>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Presupuesto de Ventas</a:t>
            </a:r>
          </a:p>
        </p:txBody>
      </p:sp>
      <p:sp>
        <p:nvSpPr>
          <p:cNvPr id="5" name="TextBox 5"/>
          <p:cNvSpPr txBox="1"/>
          <p:nvPr/>
        </p:nvSpPr>
        <p:spPr>
          <a:xfrm>
            <a:off x="9398407" y="2780184"/>
            <a:ext cx="5175802"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Presupuesto de Produccion</a:t>
            </a:r>
          </a:p>
        </p:txBody>
      </p:sp>
      <p:sp>
        <p:nvSpPr>
          <p:cNvPr id="6" name="TextBox 6"/>
          <p:cNvSpPr txBox="1"/>
          <p:nvPr/>
        </p:nvSpPr>
        <p:spPr>
          <a:xfrm>
            <a:off x="9398407" y="3283739"/>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Presupuesto de Compras</a:t>
            </a:r>
          </a:p>
        </p:txBody>
      </p:sp>
      <p:sp>
        <p:nvSpPr>
          <p:cNvPr id="7" name="TextBox 7"/>
          <p:cNvSpPr txBox="1"/>
          <p:nvPr/>
        </p:nvSpPr>
        <p:spPr>
          <a:xfrm>
            <a:off x="9398407" y="3766974"/>
            <a:ext cx="6433180" cy="521335"/>
          </a:xfrm>
          <a:prstGeom prst="rect">
            <a:avLst/>
          </a:prstGeom>
        </p:spPr>
        <p:txBody>
          <a:bodyPr lIns="0" tIns="0" rIns="0" bIns="0" rtlCol="0" anchor="t">
            <a:spAutoFit/>
          </a:bodyPr>
          <a:lstStyle/>
          <a:p>
            <a:pPr>
              <a:lnSpc>
                <a:spcPts val="4160"/>
              </a:lnSpc>
              <a:spcBef>
                <a:spcPct val="0"/>
              </a:spcBef>
            </a:pPr>
            <a:r>
              <a:rPr lang="en-US" sz="3200">
                <a:solidFill>
                  <a:srgbClr val="009490"/>
                </a:solidFill>
                <a:latin typeface="HK Grotesk Bold"/>
              </a:rPr>
              <a:t>Presupuesto de Gastos</a:t>
            </a:r>
          </a:p>
        </p:txBody>
      </p:sp>
      <p:sp>
        <p:nvSpPr>
          <p:cNvPr id="8" name="TextBox 8"/>
          <p:cNvSpPr txBox="1"/>
          <p:nvPr/>
        </p:nvSpPr>
        <p:spPr>
          <a:xfrm>
            <a:off x="10368528" y="4683930"/>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Compra de Bienes de Uso</a:t>
            </a:r>
          </a:p>
        </p:txBody>
      </p:sp>
      <p:sp>
        <p:nvSpPr>
          <p:cNvPr id="9" name="Freeform 9"/>
          <p:cNvSpPr/>
          <p:nvPr/>
        </p:nvSpPr>
        <p:spPr>
          <a:xfrm>
            <a:off x="4460793" y="2124075"/>
            <a:ext cx="793790" cy="6929910"/>
          </a:xfrm>
          <a:custGeom>
            <a:avLst/>
            <a:gdLst/>
            <a:ahLst/>
            <a:cxnLst/>
            <a:rect l="l" t="t" r="r" b="b"/>
            <a:pathLst>
              <a:path w="793790" h="6929910">
                <a:moveTo>
                  <a:pt x="0" y="0"/>
                </a:moveTo>
                <a:lnTo>
                  <a:pt x="793789" y="0"/>
                </a:lnTo>
                <a:lnTo>
                  <a:pt x="793789" y="6929910"/>
                </a:lnTo>
                <a:lnTo>
                  <a:pt x="0" y="69299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TextBox 10"/>
          <p:cNvSpPr txBox="1"/>
          <p:nvPr/>
        </p:nvSpPr>
        <p:spPr>
          <a:xfrm>
            <a:off x="647700" y="361950"/>
            <a:ext cx="11095596" cy="1104900"/>
          </a:xfrm>
          <a:prstGeom prst="rect">
            <a:avLst/>
          </a:prstGeom>
        </p:spPr>
        <p:txBody>
          <a:bodyPr lIns="0" tIns="0" rIns="0" bIns="0" rtlCol="0" anchor="t">
            <a:spAutoFit/>
          </a:bodyPr>
          <a:lstStyle/>
          <a:p>
            <a:pPr marL="0" lvl="0" indent="0" algn="l">
              <a:lnSpc>
                <a:spcPts val="8640"/>
              </a:lnSpc>
              <a:spcBef>
                <a:spcPct val="0"/>
              </a:spcBef>
            </a:pPr>
            <a:r>
              <a:rPr lang="en-US" sz="7200">
                <a:solidFill>
                  <a:srgbClr val="009490"/>
                </a:solidFill>
                <a:latin typeface="HK Grotesk Bold"/>
              </a:rPr>
              <a:t>Sistema Presupuestario</a:t>
            </a:r>
          </a:p>
        </p:txBody>
      </p:sp>
      <p:sp>
        <p:nvSpPr>
          <p:cNvPr id="11" name="TextBox 11"/>
          <p:cNvSpPr txBox="1"/>
          <p:nvPr/>
        </p:nvSpPr>
        <p:spPr>
          <a:xfrm>
            <a:off x="5476163" y="4421993"/>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Presupuesto de Inversiones</a:t>
            </a:r>
          </a:p>
        </p:txBody>
      </p:sp>
      <p:sp>
        <p:nvSpPr>
          <p:cNvPr id="12" name="TextBox 12"/>
          <p:cNvSpPr txBox="1"/>
          <p:nvPr/>
        </p:nvSpPr>
        <p:spPr>
          <a:xfrm>
            <a:off x="5476163" y="2759864"/>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009490"/>
                </a:solidFill>
                <a:latin typeface="HK Grotesk Bold"/>
              </a:rPr>
              <a:t>Presupuesto Operativo</a:t>
            </a:r>
          </a:p>
        </p:txBody>
      </p:sp>
      <p:sp>
        <p:nvSpPr>
          <p:cNvPr id="13" name="TextBox 13"/>
          <p:cNvSpPr txBox="1"/>
          <p:nvPr/>
        </p:nvSpPr>
        <p:spPr>
          <a:xfrm>
            <a:off x="1415505" y="4925548"/>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Sistema Presupuestario</a:t>
            </a:r>
          </a:p>
        </p:txBody>
      </p:sp>
      <p:sp>
        <p:nvSpPr>
          <p:cNvPr id="14" name="TextBox 14"/>
          <p:cNvSpPr txBox="1"/>
          <p:nvPr/>
        </p:nvSpPr>
        <p:spPr>
          <a:xfrm>
            <a:off x="5476163" y="6105378"/>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Presupuesto Financiero</a:t>
            </a:r>
          </a:p>
        </p:txBody>
      </p:sp>
      <p:sp>
        <p:nvSpPr>
          <p:cNvPr id="15" name="TextBox 15"/>
          <p:cNvSpPr txBox="1"/>
          <p:nvPr/>
        </p:nvSpPr>
        <p:spPr>
          <a:xfrm>
            <a:off x="5476163" y="7788763"/>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Estados de Sintesis</a:t>
            </a:r>
          </a:p>
        </p:txBody>
      </p:sp>
      <p:sp>
        <p:nvSpPr>
          <p:cNvPr id="16" name="TextBox 16"/>
          <p:cNvSpPr txBox="1"/>
          <p:nvPr/>
        </p:nvSpPr>
        <p:spPr>
          <a:xfrm>
            <a:off x="9040583" y="6039806"/>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De Ingresos</a:t>
            </a:r>
          </a:p>
        </p:txBody>
      </p:sp>
      <p:sp>
        <p:nvSpPr>
          <p:cNvPr id="17" name="TextBox 17"/>
          <p:cNvSpPr txBox="1"/>
          <p:nvPr/>
        </p:nvSpPr>
        <p:spPr>
          <a:xfrm>
            <a:off x="9040583" y="6629253"/>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De Egresos</a:t>
            </a:r>
          </a:p>
        </p:txBody>
      </p:sp>
      <p:sp>
        <p:nvSpPr>
          <p:cNvPr id="18" name="TextBox 18"/>
          <p:cNvSpPr txBox="1"/>
          <p:nvPr/>
        </p:nvSpPr>
        <p:spPr>
          <a:xfrm>
            <a:off x="9040583" y="7787478"/>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Cuadro de resultados proforma</a:t>
            </a:r>
          </a:p>
        </p:txBody>
      </p:sp>
      <p:sp>
        <p:nvSpPr>
          <p:cNvPr id="19" name="TextBox 19"/>
          <p:cNvSpPr txBox="1"/>
          <p:nvPr/>
        </p:nvSpPr>
        <p:spPr>
          <a:xfrm>
            <a:off x="9040583" y="8291033"/>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Balance general Proforma</a:t>
            </a:r>
          </a:p>
        </p:txBody>
      </p:sp>
      <p:sp>
        <p:nvSpPr>
          <p:cNvPr id="20" name="AutoShape 20"/>
          <p:cNvSpPr/>
          <p:nvPr/>
        </p:nvSpPr>
        <p:spPr>
          <a:xfrm flipH="1">
            <a:off x="8586448" y="4982698"/>
            <a:ext cx="1496330" cy="0"/>
          </a:xfrm>
          <a:prstGeom prst="line">
            <a:avLst/>
          </a:prstGeom>
          <a:ln w="38100" cap="flat">
            <a:solidFill>
              <a:srgbClr val="FFFFFF"/>
            </a:solidFill>
            <a:prstDash val="solid"/>
            <a:headEnd type="none" w="sm" len="sm"/>
            <a:tailEnd type="arrow" w="med" len="sm"/>
          </a:ln>
        </p:spPr>
      </p:sp>
      <p:sp>
        <p:nvSpPr>
          <p:cNvPr id="21" name="Freeform 21"/>
          <p:cNvSpPr/>
          <p:nvPr/>
        </p:nvSpPr>
        <p:spPr>
          <a:xfrm>
            <a:off x="8586448" y="5891700"/>
            <a:ext cx="168385" cy="1470025"/>
          </a:xfrm>
          <a:custGeom>
            <a:avLst/>
            <a:gdLst/>
            <a:ahLst/>
            <a:cxnLst/>
            <a:rect l="l" t="t" r="r" b="b"/>
            <a:pathLst>
              <a:path w="168385" h="1470025">
                <a:moveTo>
                  <a:pt x="0" y="0"/>
                </a:moveTo>
                <a:lnTo>
                  <a:pt x="168385" y="0"/>
                </a:lnTo>
                <a:lnTo>
                  <a:pt x="168385" y="1470025"/>
                </a:lnTo>
                <a:lnTo>
                  <a:pt x="0" y="14700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2" name="Freeform 22"/>
          <p:cNvSpPr/>
          <p:nvPr/>
        </p:nvSpPr>
        <p:spPr>
          <a:xfrm>
            <a:off x="8586448" y="7583960"/>
            <a:ext cx="168385" cy="1470025"/>
          </a:xfrm>
          <a:custGeom>
            <a:avLst/>
            <a:gdLst/>
            <a:ahLst/>
            <a:cxnLst/>
            <a:rect l="l" t="t" r="r" b="b"/>
            <a:pathLst>
              <a:path w="168385" h="1470025">
                <a:moveTo>
                  <a:pt x="0" y="0"/>
                </a:moveTo>
                <a:lnTo>
                  <a:pt x="168385" y="0"/>
                </a:lnTo>
                <a:lnTo>
                  <a:pt x="168385" y="1470025"/>
                </a:lnTo>
                <a:lnTo>
                  <a:pt x="0" y="14700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4411028" y="876300"/>
            <a:ext cx="9465945" cy="1295400"/>
          </a:xfrm>
          <a:prstGeom prst="rect">
            <a:avLst/>
          </a:prstGeom>
        </p:spPr>
        <p:txBody>
          <a:bodyPr lIns="0" tIns="0" rIns="0" bIns="0" rtlCol="0" anchor="t">
            <a:spAutoFit/>
          </a:bodyPr>
          <a:lstStyle/>
          <a:p>
            <a:pPr algn="ctr">
              <a:lnSpc>
                <a:spcPts val="10500"/>
              </a:lnSpc>
            </a:pPr>
            <a:r>
              <a:rPr lang="en-US" sz="7500">
                <a:solidFill>
                  <a:srgbClr val="009490"/>
                </a:solidFill>
                <a:latin typeface="HK Grotesk Bold"/>
              </a:rPr>
              <a:t>Presupuesto de gastos</a:t>
            </a:r>
          </a:p>
        </p:txBody>
      </p:sp>
      <p:sp>
        <p:nvSpPr>
          <p:cNvPr id="3" name="TextBox 3"/>
          <p:cNvSpPr txBox="1"/>
          <p:nvPr/>
        </p:nvSpPr>
        <p:spPr>
          <a:xfrm>
            <a:off x="1836666" y="2884763"/>
            <a:ext cx="14614669" cy="4780915"/>
          </a:xfrm>
          <a:prstGeom prst="rect">
            <a:avLst/>
          </a:prstGeom>
        </p:spPr>
        <p:txBody>
          <a:bodyPr lIns="0" tIns="0" rIns="0" bIns="0" rtlCol="0" anchor="t">
            <a:spAutoFit/>
          </a:bodyPr>
          <a:lstStyle/>
          <a:p>
            <a:pPr marL="734059" lvl="1" indent="-367030">
              <a:lnSpc>
                <a:spcPts val="4759"/>
              </a:lnSpc>
              <a:buFont typeface="Arial"/>
              <a:buChar char="•"/>
            </a:pPr>
            <a:r>
              <a:rPr lang="en-US" sz="3399">
                <a:solidFill>
                  <a:srgbClr val="FFFFFF"/>
                </a:solidFill>
                <a:latin typeface="HK Grotesk"/>
              </a:rPr>
              <a:t>Presupuesto Gastos Comercialización → Presupuesto venta</a:t>
            </a:r>
          </a:p>
          <a:p>
            <a:pPr>
              <a:lnSpc>
                <a:spcPts val="4759"/>
              </a:lnSpc>
            </a:pPr>
            <a:endParaRPr lang="en-US" sz="3399">
              <a:solidFill>
                <a:srgbClr val="FFFFFF"/>
              </a:solidFill>
              <a:latin typeface="HK Grotesk"/>
            </a:endParaRPr>
          </a:p>
          <a:p>
            <a:pPr>
              <a:lnSpc>
                <a:spcPts val="4759"/>
              </a:lnSpc>
            </a:pPr>
            <a:r>
              <a:rPr lang="en-US" sz="3399">
                <a:solidFill>
                  <a:srgbClr val="FFFFFF"/>
                </a:solidFill>
                <a:latin typeface="HK Grotesk"/>
              </a:rPr>
              <a:t>  </a:t>
            </a:r>
          </a:p>
          <a:p>
            <a:pPr marL="734059" lvl="1" indent="-367030">
              <a:lnSpc>
                <a:spcPts val="4759"/>
              </a:lnSpc>
              <a:buFont typeface="Arial"/>
              <a:buChar char="•"/>
            </a:pPr>
            <a:r>
              <a:rPr lang="en-US" sz="3399">
                <a:solidFill>
                  <a:srgbClr val="FFFFFF"/>
                </a:solidFill>
                <a:latin typeface="HK Grotesk"/>
              </a:rPr>
              <a:t>Presupuesto Gastos Expedición y Distribución → Almacenamiento, Distribución, Descuentos, Gasto Vendedores</a:t>
            </a:r>
          </a:p>
          <a:p>
            <a:pPr>
              <a:lnSpc>
                <a:spcPts val="4759"/>
              </a:lnSpc>
            </a:pPr>
            <a:endParaRPr lang="en-US" sz="3399">
              <a:solidFill>
                <a:srgbClr val="FFFFFF"/>
              </a:solidFill>
              <a:latin typeface="HK Grotesk"/>
            </a:endParaRPr>
          </a:p>
          <a:p>
            <a:pPr marL="734059" lvl="1" indent="-367030">
              <a:lnSpc>
                <a:spcPts val="4759"/>
              </a:lnSpc>
              <a:buFont typeface="Arial"/>
              <a:buChar char="•"/>
            </a:pPr>
            <a:r>
              <a:rPr lang="en-US" sz="3399">
                <a:solidFill>
                  <a:srgbClr val="FFFFFF"/>
                </a:solidFill>
                <a:latin typeface="HK Grotesk"/>
              </a:rPr>
              <a:t>Presupuesto Gastos Expedición y Distribución →  Destinado a publicidad  →  Plan de Marketing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AutoShape 2"/>
          <p:cNvSpPr/>
          <p:nvPr/>
        </p:nvSpPr>
        <p:spPr>
          <a:xfrm>
            <a:off x="1028700" y="1690688"/>
            <a:ext cx="16230600" cy="0"/>
          </a:xfrm>
          <a:prstGeom prst="line">
            <a:avLst/>
          </a:prstGeom>
          <a:ln w="9525" cap="flat">
            <a:solidFill>
              <a:srgbClr val="BDC2C5"/>
            </a:solidFill>
            <a:prstDash val="solid"/>
            <a:headEnd type="none" w="sm" len="sm"/>
            <a:tailEnd type="none" w="sm" len="sm"/>
          </a:ln>
        </p:spPr>
      </p:sp>
      <p:sp>
        <p:nvSpPr>
          <p:cNvPr id="3" name="Freeform 3"/>
          <p:cNvSpPr/>
          <p:nvPr/>
        </p:nvSpPr>
        <p:spPr>
          <a:xfrm>
            <a:off x="8738848" y="2265045"/>
            <a:ext cx="221409" cy="1932940"/>
          </a:xfrm>
          <a:custGeom>
            <a:avLst/>
            <a:gdLst/>
            <a:ahLst/>
            <a:cxnLst/>
            <a:rect l="l" t="t" r="r" b="b"/>
            <a:pathLst>
              <a:path w="221409" h="1932940">
                <a:moveTo>
                  <a:pt x="0" y="0"/>
                </a:moveTo>
                <a:lnTo>
                  <a:pt x="221409" y="0"/>
                </a:lnTo>
                <a:lnTo>
                  <a:pt x="221409" y="1932940"/>
                </a:lnTo>
                <a:lnTo>
                  <a:pt x="0" y="19329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9398407" y="2276629"/>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Presupuesto de Ventas</a:t>
            </a:r>
          </a:p>
        </p:txBody>
      </p:sp>
      <p:sp>
        <p:nvSpPr>
          <p:cNvPr id="5" name="TextBox 5"/>
          <p:cNvSpPr txBox="1"/>
          <p:nvPr/>
        </p:nvSpPr>
        <p:spPr>
          <a:xfrm>
            <a:off x="9398407" y="2780184"/>
            <a:ext cx="5175802"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Presupuesto de Produccion</a:t>
            </a:r>
          </a:p>
        </p:txBody>
      </p:sp>
      <p:sp>
        <p:nvSpPr>
          <p:cNvPr id="6" name="TextBox 6"/>
          <p:cNvSpPr txBox="1"/>
          <p:nvPr/>
        </p:nvSpPr>
        <p:spPr>
          <a:xfrm>
            <a:off x="9398407" y="3283739"/>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Presupuesto de Compras</a:t>
            </a:r>
          </a:p>
        </p:txBody>
      </p:sp>
      <p:sp>
        <p:nvSpPr>
          <p:cNvPr id="7" name="TextBox 7"/>
          <p:cNvSpPr txBox="1"/>
          <p:nvPr/>
        </p:nvSpPr>
        <p:spPr>
          <a:xfrm>
            <a:off x="9398407" y="3766974"/>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Presupuesto de Gastos</a:t>
            </a:r>
          </a:p>
        </p:txBody>
      </p:sp>
      <p:sp>
        <p:nvSpPr>
          <p:cNvPr id="8" name="TextBox 8"/>
          <p:cNvSpPr txBox="1"/>
          <p:nvPr/>
        </p:nvSpPr>
        <p:spPr>
          <a:xfrm>
            <a:off x="10368528" y="4683930"/>
            <a:ext cx="6433180" cy="521335"/>
          </a:xfrm>
          <a:prstGeom prst="rect">
            <a:avLst/>
          </a:prstGeom>
        </p:spPr>
        <p:txBody>
          <a:bodyPr lIns="0" tIns="0" rIns="0" bIns="0" rtlCol="0" anchor="t">
            <a:spAutoFit/>
          </a:bodyPr>
          <a:lstStyle/>
          <a:p>
            <a:pPr>
              <a:lnSpc>
                <a:spcPts val="4160"/>
              </a:lnSpc>
              <a:spcBef>
                <a:spcPct val="0"/>
              </a:spcBef>
            </a:pPr>
            <a:r>
              <a:rPr lang="en-US" sz="3200">
                <a:solidFill>
                  <a:srgbClr val="009490"/>
                </a:solidFill>
                <a:latin typeface="HK Grotesk Bold"/>
              </a:rPr>
              <a:t>Compra de Bienes de Uso</a:t>
            </a:r>
          </a:p>
        </p:txBody>
      </p:sp>
      <p:sp>
        <p:nvSpPr>
          <p:cNvPr id="9" name="Freeform 9"/>
          <p:cNvSpPr/>
          <p:nvPr/>
        </p:nvSpPr>
        <p:spPr>
          <a:xfrm>
            <a:off x="4460793" y="2124075"/>
            <a:ext cx="793790" cy="6929910"/>
          </a:xfrm>
          <a:custGeom>
            <a:avLst/>
            <a:gdLst/>
            <a:ahLst/>
            <a:cxnLst/>
            <a:rect l="l" t="t" r="r" b="b"/>
            <a:pathLst>
              <a:path w="793790" h="6929910">
                <a:moveTo>
                  <a:pt x="0" y="0"/>
                </a:moveTo>
                <a:lnTo>
                  <a:pt x="793789" y="0"/>
                </a:lnTo>
                <a:lnTo>
                  <a:pt x="793789" y="6929910"/>
                </a:lnTo>
                <a:lnTo>
                  <a:pt x="0" y="69299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TextBox 10"/>
          <p:cNvSpPr txBox="1"/>
          <p:nvPr/>
        </p:nvSpPr>
        <p:spPr>
          <a:xfrm>
            <a:off x="647700" y="361950"/>
            <a:ext cx="11095596" cy="1104900"/>
          </a:xfrm>
          <a:prstGeom prst="rect">
            <a:avLst/>
          </a:prstGeom>
        </p:spPr>
        <p:txBody>
          <a:bodyPr lIns="0" tIns="0" rIns="0" bIns="0" rtlCol="0" anchor="t">
            <a:spAutoFit/>
          </a:bodyPr>
          <a:lstStyle/>
          <a:p>
            <a:pPr marL="0" lvl="0" indent="0" algn="l">
              <a:lnSpc>
                <a:spcPts val="8640"/>
              </a:lnSpc>
              <a:spcBef>
                <a:spcPct val="0"/>
              </a:spcBef>
            </a:pPr>
            <a:r>
              <a:rPr lang="en-US" sz="7200">
                <a:solidFill>
                  <a:srgbClr val="009490"/>
                </a:solidFill>
                <a:latin typeface="HK Grotesk Bold"/>
              </a:rPr>
              <a:t>Sistema Presupuestario</a:t>
            </a:r>
          </a:p>
        </p:txBody>
      </p:sp>
      <p:sp>
        <p:nvSpPr>
          <p:cNvPr id="11" name="TextBox 11"/>
          <p:cNvSpPr txBox="1"/>
          <p:nvPr/>
        </p:nvSpPr>
        <p:spPr>
          <a:xfrm>
            <a:off x="5476163" y="4421993"/>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009490"/>
                </a:solidFill>
                <a:latin typeface="HK Grotesk Bold"/>
              </a:rPr>
              <a:t>Presupuesto de Inversiones</a:t>
            </a:r>
          </a:p>
        </p:txBody>
      </p:sp>
      <p:sp>
        <p:nvSpPr>
          <p:cNvPr id="12" name="TextBox 12"/>
          <p:cNvSpPr txBox="1"/>
          <p:nvPr/>
        </p:nvSpPr>
        <p:spPr>
          <a:xfrm>
            <a:off x="5476163" y="2759864"/>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Presupuesto Operativo</a:t>
            </a:r>
          </a:p>
        </p:txBody>
      </p:sp>
      <p:sp>
        <p:nvSpPr>
          <p:cNvPr id="13" name="TextBox 13"/>
          <p:cNvSpPr txBox="1"/>
          <p:nvPr/>
        </p:nvSpPr>
        <p:spPr>
          <a:xfrm>
            <a:off x="1415505" y="4925548"/>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Sistema Presupuestario</a:t>
            </a:r>
          </a:p>
        </p:txBody>
      </p:sp>
      <p:sp>
        <p:nvSpPr>
          <p:cNvPr id="14" name="TextBox 14"/>
          <p:cNvSpPr txBox="1"/>
          <p:nvPr/>
        </p:nvSpPr>
        <p:spPr>
          <a:xfrm>
            <a:off x="5476163" y="6105378"/>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Presupuesto Financiero</a:t>
            </a:r>
          </a:p>
        </p:txBody>
      </p:sp>
      <p:sp>
        <p:nvSpPr>
          <p:cNvPr id="15" name="TextBox 15"/>
          <p:cNvSpPr txBox="1"/>
          <p:nvPr/>
        </p:nvSpPr>
        <p:spPr>
          <a:xfrm>
            <a:off x="5476163" y="7788763"/>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Estados de Sintesis</a:t>
            </a:r>
          </a:p>
        </p:txBody>
      </p:sp>
      <p:sp>
        <p:nvSpPr>
          <p:cNvPr id="16" name="TextBox 16"/>
          <p:cNvSpPr txBox="1"/>
          <p:nvPr/>
        </p:nvSpPr>
        <p:spPr>
          <a:xfrm>
            <a:off x="9040583" y="6039806"/>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De Ingresos</a:t>
            </a:r>
          </a:p>
        </p:txBody>
      </p:sp>
      <p:sp>
        <p:nvSpPr>
          <p:cNvPr id="17" name="TextBox 17"/>
          <p:cNvSpPr txBox="1"/>
          <p:nvPr/>
        </p:nvSpPr>
        <p:spPr>
          <a:xfrm>
            <a:off x="9040583" y="6629253"/>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De Egresos</a:t>
            </a:r>
          </a:p>
        </p:txBody>
      </p:sp>
      <p:sp>
        <p:nvSpPr>
          <p:cNvPr id="18" name="TextBox 18"/>
          <p:cNvSpPr txBox="1"/>
          <p:nvPr/>
        </p:nvSpPr>
        <p:spPr>
          <a:xfrm>
            <a:off x="9040583" y="7787478"/>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Cuadro de resultados proforma</a:t>
            </a:r>
          </a:p>
        </p:txBody>
      </p:sp>
      <p:sp>
        <p:nvSpPr>
          <p:cNvPr id="19" name="TextBox 19"/>
          <p:cNvSpPr txBox="1"/>
          <p:nvPr/>
        </p:nvSpPr>
        <p:spPr>
          <a:xfrm>
            <a:off x="9040583" y="8291033"/>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Balance general Proforma</a:t>
            </a:r>
          </a:p>
        </p:txBody>
      </p:sp>
      <p:sp>
        <p:nvSpPr>
          <p:cNvPr id="20" name="AutoShape 20"/>
          <p:cNvSpPr/>
          <p:nvPr/>
        </p:nvSpPr>
        <p:spPr>
          <a:xfrm flipH="1">
            <a:off x="8586448" y="4982698"/>
            <a:ext cx="1496330" cy="0"/>
          </a:xfrm>
          <a:prstGeom prst="line">
            <a:avLst/>
          </a:prstGeom>
          <a:ln w="38100" cap="flat">
            <a:solidFill>
              <a:srgbClr val="FFFFFF"/>
            </a:solidFill>
            <a:prstDash val="solid"/>
            <a:headEnd type="none" w="sm" len="sm"/>
            <a:tailEnd type="arrow" w="med" len="sm"/>
          </a:ln>
        </p:spPr>
      </p:sp>
      <p:sp>
        <p:nvSpPr>
          <p:cNvPr id="21" name="Freeform 21"/>
          <p:cNvSpPr/>
          <p:nvPr/>
        </p:nvSpPr>
        <p:spPr>
          <a:xfrm>
            <a:off x="8586448" y="5891700"/>
            <a:ext cx="168385" cy="1470025"/>
          </a:xfrm>
          <a:custGeom>
            <a:avLst/>
            <a:gdLst/>
            <a:ahLst/>
            <a:cxnLst/>
            <a:rect l="l" t="t" r="r" b="b"/>
            <a:pathLst>
              <a:path w="168385" h="1470025">
                <a:moveTo>
                  <a:pt x="0" y="0"/>
                </a:moveTo>
                <a:lnTo>
                  <a:pt x="168385" y="0"/>
                </a:lnTo>
                <a:lnTo>
                  <a:pt x="168385" y="1470025"/>
                </a:lnTo>
                <a:lnTo>
                  <a:pt x="0" y="14700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2" name="Freeform 22"/>
          <p:cNvSpPr/>
          <p:nvPr/>
        </p:nvSpPr>
        <p:spPr>
          <a:xfrm>
            <a:off x="8586448" y="7583960"/>
            <a:ext cx="168385" cy="1470025"/>
          </a:xfrm>
          <a:custGeom>
            <a:avLst/>
            <a:gdLst/>
            <a:ahLst/>
            <a:cxnLst/>
            <a:rect l="l" t="t" r="r" b="b"/>
            <a:pathLst>
              <a:path w="168385" h="1470025">
                <a:moveTo>
                  <a:pt x="0" y="0"/>
                </a:moveTo>
                <a:lnTo>
                  <a:pt x="168385" y="0"/>
                </a:lnTo>
                <a:lnTo>
                  <a:pt x="168385" y="1470025"/>
                </a:lnTo>
                <a:lnTo>
                  <a:pt x="0" y="14700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AutoShape 2"/>
          <p:cNvSpPr/>
          <p:nvPr/>
        </p:nvSpPr>
        <p:spPr>
          <a:xfrm>
            <a:off x="1028700" y="2128838"/>
            <a:ext cx="16230600" cy="0"/>
          </a:xfrm>
          <a:prstGeom prst="line">
            <a:avLst/>
          </a:prstGeom>
          <a:ln w="9525" cap="flat">
            <a:solidFill>
              <a:srgbClr val="BDC2C5"/>
            </a:solidFill>
            <a:prstDash val="solid"/>
            <a:headEnd type="none" w="sm" len="sm"/>
            <a:tailEnd type="none" w="sm" len="sm"/>
          </a:ln>
        </p:spPr>
      </p:sp>
      <p:sp>
        <p:nvSpPr>
          <p:cNvPr id="3" name="TextBox 3"/>
          <p:cNvSpPr txBox="1"/>
          <p:nvPr/>
        </p:nvSpPr>
        <p:spPr>
          <a:xfrm>
            <a:off x="1028700" y="855889"/>
            <a:ext cx="12360109" cy="1104900"/>
          </a:xfrm>
          <a:prstGeom prst="rect">
            <a:avLst/>
          </a:prstGeom>
        </p:spPr>
        <p:txBody>
          <a:bodyPr lIns="0" tIns="0" rIns="0" bIns="0" rtlCol="0" anchor="t">
            <a:spAutoFit/>
          </a:bodyPr>
          <a:lstStyle/>
          <a:p>
            <a:pPr marL="0" lvl="0" indent="0" algn="l">
              <a:lnSpc>
                <a:spcPts val="8640"/>
              </a:lnSpc>
              <a:spcBef>
                <a:spcPct val="0"/>
              </a:spcBef>
            </a:pPr>
            <a:r>
              <a:rPr lang="en-US" sz="7200">
                <a:solidFill>
                  <a:srgbClr val="009490"/>
                </a:solidFill>
                <a:latin typeface="HK Grotesk Bold"/>
              </a:rPr>
              <a:t>Presupuesto de Inversiones</a:t>
            </a:r>
          </a:p>
        </p:txBody>
      </p:sp>
      <p:sp>
        <p:nvSpPr>
          <p:cNvPr id="4" name="TextBox 4"/>
          <p:cNvSpPr txBox="1"/>
          <p:nvPr/>
        </p:nvSpPr>
        <p:spPr>
          <a:xfrm>
            <a:off x="955221" y="2505114"/>
            <a:ext cx="16304079" cy="1635125"/>
          </a:xfrm>
          <a:prstGeom prst="rect">
            <a:avLst/>
          </a:prstGeom>
        </p:spPr>
        <p:txBody>
          <a:bodyPr lIns="0" tIns="0" rIns="0" bIns="0" rtlCol="0" anchor="t">
            <a:spAutoFit/>
          </a:bodyPr>
          <a:lstStyle/>
          <a:p>
            <a:pPr>
              <a:lnSpc>
                <a:spcPts val="3249"/>
              </a:lnSpc>
            </a:pPr>
            <a:r>
              <a:rPr lang="en-US" sz="2499">
                <a:solidFill>
                  <a:srgbClr val="FFFFFF"/>
                </a:solidFill>
                <a:latin typeface="HK Grotesk Light"/>
              </a:rPr>
              <a:t>Determina cuáles </a:t>
            </a:r>
            <a:r>
              <a:rPr lang="en-US" sz="2499">
                <a:solidFill>
                  <a:srgbClr val="FFFFFF"/>
                </a:solidFill>
                <a:latin typeface="HK Grotesk Bold"/>
              </a:rPr>
              <a:t>activos o inversiones</a:t>
            </a:r>
            <a:r>
              <a:rPr lang="en-US" sz="2499">
                <a:solidFill>
                  <a:srgbClr val="FFFFFF"/>
                </a:solidFill>
                <a:latin typeface="HK Grotesk Light"/>
              </a:rPr>
              <a:t> son necesarios para que una empresa funcione de manera efectiva a </a:t>
            </a:r>
            <a:r>
              <a:rPr lang="en-US" sz="2499">
                <a:solidFill>
                  <a:srgbClr val="FFFFFF"/>
                </a:solidFill>
                <a:latin typeface="HK Grotesk Bold"/>
              </a:rPr>
              <a:t>largo plazo</a:t>
            </a:r>
            <a:r>
              <a:rPr lang="en-US" sz="2499">
                <a:solidFill>
                  <a:srgbClr val="FFFFFF"/>
                </a:solidFill>
                <a:latin typeface="HK Grotesk Light"/>
              </a:rPr>
              <a:t>. Estas decisiones de inversión son muy importantes y deben ser evaluadas cuidadosamente por la dirección de la empresa. El proceso de análisis de inversiones consta de tres etapas clave:</a:t>
            </a:r>
          </a:p>
          <a:p>
            <a:pPr>
              <a:lnSpc>
                <a:spcPts val="3249"/>
              </a:lnSpc>
            </a:pPr>
            <a:endParaRPr lang="en-US" sz="2499">
              <a:solidFill>
                <a:srgbClr val="FFFFFF"/>
              </a:solidFill>
              <a:latin typeface="HK Grotesk Light"/>
            </a:endParaRPr>
          </a:p>
        </p:txBody>
      </p:sp>
      <p:grpSp>
        <p:nvGrpSpPr>
          <p:cNvPr id="5" name="Group 5"/>
          <p:cNvGrpSpPr/>
          <p:nvPr/>
        </p:nvGrpSpPr>
        <p:grpSpPr>
          <a:xfrm>
            <a:off x="955221" y="4140239"/>
            <a:ext cx="16304079" cy="1403574"/>
            <a:chOff x="0" y="0"/>
            <a:chExt cx="21738771" cy="1871431"/>
          </a:xfrm>
        </p:grpSpPr>
        <p:sp>
          <p:nvSpPr>
            <p:cNvPr id="6" name="TextBox 6"/>
            <p:cNvSpPr txBox="1"/>
            <p:nvPr/>
          </p:nvSpPr>
          <p:spPr>
            <a:xfrm>
              <a:off x="0" y="805690"/>
              <a:ext cx="21738771" cy="1078442"/>
            </a:xfrm>
            <a:prstGeom prst="rect">
              <a:avLst/>
            </a:prstGeom>
          </p:spPr>
          <p:txBody>
            <a:bodyPr lIns="0" tIns="0" rIns="0" bIns="0" rtlCol="0" anchor="t">
              <a:spAutoFit/>
            </a:bodyPr>
            <a:lstStyle/>
            <a:p>
              <a:pPr algn="just">
                <a:lnSpc>
                  <a:spcPts val="3249"/>
                </a:lnSpc>
              </a:pPr>
              <a:r>
                <a:rPr lang="en-US" sz="2499">
                  <a:solidFill>
                    <a:srgbClr val="FFFFFF"/>
                  </a:solidFill>
                  <a:latin typeface="HK Grotesk Light"/>
                </a:rPr>
                <a:t>En esta etapa, se trata de </a:t>
              </a:r>
              <a:r>
                <a:rPr lang="en-US" sz="2499">
                  <a:solidFill>
                    <a:srgbClr val="FFFFFF"/>
                  </a:solidFill>
                  <a:latin typeface="HK Grotesk Bold"/>
                </a:rPr>
                <a:t>prever cuánto dinero se ganará y cuánto se gastará en un proyecto</a:t>
              </a:r>
              <a:r>
                <a:rPr lang="en-US" sz="2499">
                  <a:solidFill>
                    <a:srgbClr val="FFFFFF"/>
                  </a:solidFill>
                  <a:latin typeface="HK Grotesk Light"/>
                </a:rPr>
                <a:t>. La idea es saber cuánto beneficio o pérdida económica generará la inversión</a:t>
              </a:r>
            </a:p>
          </p:txBody>
        </p:sp>
        <p:sp>
          <p:nvSpPr>
            <p:cNvPr id="7" name="TextBox 7"/>
            <p:cNvSpPr txBox="1"/>
            <p:nvPr/>
          </p:nvSpPr>
          <p:spPr>
            <a:xfrm>
              <a:off x="0" y="-38100"/>
              <a:ext cx="21738771" cy="682413"/>
            </a:xfrm>
            <a:prstGeom prst="rect">
              <a:avLst/>
            </a:prstGeom>
          </p:spPr>
          <p:txBody>
            <a:bodyPr lIns="0" tIns="0" rIns="0" bIns="0" rtlCol="0" anchor="t">
              <a:spAutoFit/>
            </a:bodyPr>
            <a:lstStyle/>
            <a:p>
              <a:pPr>
                <a:lnSpc>
                  <a:spcPts val="4160"/>
                </a:lnSpc>
              </a:pPr>
              <a:r>
                <a:rPr lang="en-US" sz="3200">
                  <a:solidFill>
                    <a:srgbClr val="009490"/>
                  </a:solidFill>
                  <a:latin typeface="HK Grotesk Bold"/>
                </a:rPr>
                <a:t>Estimación de los flujos de efectivo: </a:t>
              </a:r>
            </a:p>
          </p:txBody>
        </p:sp>
      </p:grpSp>
      <p:grpSp>
        <p:nvGrpSpPr>
          <p:cNvPr id="8" name="Group 8"/>
          <p:cNvGrpSpPr/>
          <p:nvPr/>
        </p:nvGrpSpPr>
        <p:grpSpPr>
          <a:xfrm>
            <a:off x="1028700" y="5943863"/>
            <a:ext cx="16230600" cy="1500742"/>
            <a:chOff x="0" y="0"/>
            <a:chExt cx="21640800" cy="2000990"/>
          </a:xfrm>
        </p:grpSpPr>
        <p:sp>
          <p:nvSpPr>
            <p:cNvPr id="9" name="TextBox 9"/>
            <p:cNvSpPr txBox="1"/>
            <p:nvPr/>
          </p:nvSpPr>
          <p:spPr>
            <a:xfrm>
              <a:off x="0" y="-38100"/>
              <a:ext cx="21640800" cy="682413"/>
            </a:xfrm>
            <a:prstGeom prst="rect">
              <a:avLst/>
            </a:prstGeom>
          </p:spPr>
          <p:txBody>
            <a:bodyPr lIns="0" tIns="0" rIns="0" bIns="0" rtlCol="0" anchor="t">
              <a:spAutoFit/>
            </a:bodyPr>
            <a:lstStyle/>
            <a:p>
              <a:pPr>
                <a:lnSpc>
                  <a:spcPts val="4160"/>
                </a:lnSpc>
              </a:pPr>
              <a:r>
                <a:rPr lang="en-US" sz="3200">
                  <a:solidFill>
                    <a:srgbClr val="009490"/>
                  </a:solidFill>
                  <a:latin typeface="HK Grotesk Bold"/>
                </a:rPr>
                <a:t>Evaluación y selección de proyectos:</a:t>
              </a:r>
            </a:p>
          </p:txBody>
        </p:sp>
        <p:sp>
          <p:nvSpPr>
            <p:cNvPr id="10" name="TextBox 10"/>
            <p:cNvSpPr txBox="1"/>
            <p:nvPr/>
          </p:nvSpPr>
          <p:spPr>
            <a:xfrm>
              <a:off x="0" y="935248"/>
              <a:ext cx="21640800" cy="1078442"/>
            </a:xfrm>
            <a:prstGeom prst="rect">
              <a:avLst/>
            </a:prstGeom>
          </p:spPr>
          <p:txBody>
            <a:bodyPr lIns="0" tIns="0" rIns="0" bIns="0" rtlCol="0" anchor="t">
              <a:spAutoFit/>
            </a:bodyPr>
            <a:lstStyle/>
            <a:p>
              <a:pPr>
                <a:lnSpc>
                  <a:spcPts val="3249"/>
                </a:lnSpc>
                <a:spcBef>
                  <a:spcPct val="0"/>
                </a:spcBef>
              </a:pPr>
              <a:r>
                <a:rPr lang="en-US" sz="2499">
                  <a:solidFill>
                    <a:srgbClr val="FFFFFF"/>
                  </a:solidFill>
                  <a:latin typeface="HK Grotesk Light"/>
                </a:rPr>
                <a:t>En esta fase, se analizan </a:t>
              </a:r>
              <a:r>
                <a:rPr lang="en-US" sz="2499">
                  <a:solidFill>
                    <a:srgbClr val="FFFFFF"/>
                  </a:solidFill>
                  <a:latin typeface="HK Grotesk Bold"/>
                </a:rPr>
                <a:t>diferentes proyectos de inversión</a:t>
              </a:r>
              <a:r>
                <a:rPr lang="en-US" sz="2499">
                  <a:solidFill>
                    <a:srgbClr val="FFFFFF"/>
                  </a:solidFill>
                  <a:latin typeface="HK Grotesk Light"/>
                </a:rPr>
                <a:t> y se </a:t>
              </a:r>
              <a:r>
                <a:rPr lang="en-US" sz="2499">
                  <a:solidFill>
                    <a:srgbClr val="FFFFFF"/>
                  </a:solidFill>
                  <a:latin typeface="HK Grotesk Bold"/>
                </a:rPr>
                <a:t>comparan</a:t>
              </a:r>
              <a:r>
                <a:rPr lang="en-US" sz="2499">
                  <a:solidFill>
                    <a:srgbClr val="FFFFFF"/>
                  </a:solidFill>
                  <a:latin typeface="HK Grotesk Light"/>
                </a:rPr>
                <a:t> para elegir cuáles son los mejores en términos de ganancias, riesgos y otros factores importantes.</a:t>
              </a:r>
            </a:p>
          </p:txBody>
        </p:sp>
      </p:grpSp>
      <p:grpSp>
        <p:nvGrpSpPr>
          <p:cNvPr id="11" name="Group 11"/>
          <p:cNvGrpSpPr/>
          <p:nvPr/>
        </p:nvGrpSpPr>
        <p:grpSpPr>
          <a:xfrm>
            <a:off x="1028700" y="7725038"/>
            <a:ext cx="16230600" cy="1910317"/>
            <a:chOff x="0" y="0"/>
            <a:chExt cx="21640800" cy="2547090"/>
          </a:xfrm>
        </p:grpSpPr>
        <p:sp>
          <p:nvSpPr>
            <p:cNvPr id="12" name="TextBox 12"/>
            <p:cNvSpPr txBox="1"/>
            <p:nvPr/>
          </p:nvSpPr>
          <p:spPr>
            <a:xfrm>
              <a:off x="0" y="-38100"/>
              <a:ext cx="21640800" cy="682413"/>
            </a:xfrm>
            <a:prstGeom prst="rect">
              <a:avLst/>
            </a:prstGeom>
          </p:spPr>
          <p:txBody>
            <a:bodyPr lIns="0" tIns="0" rIns="0" bIns="0" rtlCol="0" anchor="t">
              <a:spAutoFit/>
            </a:bodyPr>
            <a:lstStyle/>
            <a:p>
              <a:pPr>
                <a:lnSpc>
                  <a:spcPts val="4160"/>
                </a:lnSpc>
              </a:pPr>
              <a:r>
                <a:rPr lang="en-US" sz="3200">
                  <a:solidFill>
                    <a:srgbClr val="009490"/>
                  </a:solidFill>
                  <a:latin typeface="HK Grotesk Bold"/>
                </a:rPr>
                <a:t>Seguimiento y revisión de proyectos:</a:t>
              </a:r>
            </a:p>
          </p:txBody>
        </p:sp>
        <p:sp>
          <p:nvSpPr>
            <p:cNvPr id="13" name="TextBox 13"/>
            <p:cNvSpPr txBox="1"/>
            <p:nvPr/>
          </p:nvSpPr>
          <p:spPr>
            <a:xfrm>
              <a:off x="0" y="935248"/>
              <a:ext cx="21640800" cy="1624542"/>
            </a:xfrm>
            <a:prstGeom prst="rect">
              <a:avLst/>
            </a:prstGeom>
          </p:spPr>
          <p:txBody>
            <a:bodyPr lIns="0" tIns="0" rIns="0" bIns="0" rtlCol="0" anchor="t">
              <a:spAutoFit/>
            </a:bodyPr>
            <a:lstStyle/>
            <a:p>
              <a:pPr>
                <a:lnSpc>
                  <a:spcPts val="3249"/>
                </a:lnSpc>
                <a:spcBef>
                  <a:spcPct val="0"/>
                </a:spcBef>
              </a:pPr>
              <a:r>
                <a:rPr lang="en-US" sz="2499">
                  <a:solidFill>
                    <a:srgbClr val="FFFFFF"/>
                  </a:solidFill>
                  <a:latin typeface="HK Grotesk Light"/>
                </a:rPr>
                <a:t>Una vez que has empezado un proyecto, se debe </a:t>
              </a:r>
              <a:r>
                <a:rPr lang="en-US" sz="2499">
                  <a:solidFill>
                    <a:srgbClr val="FFFFFF"/>
                  </a:solidFill>
                  <a:latin typeface="HK Grotesk Bold"/>
                </a:rPr>
                <a:t>realizar un seguimiento</a:t>
              </a:r>
              <a:r>
                <a:rPr lang="en-US" sz="2499">
                  <a:solidFill>
                    <a:srgbClr val="FFFFFF"/>
                  </a:solidFill>
                  <a:latin typeface="HK Grotesk Light"/>
                </a:rPr>
                <a:t> de cómo van las cosas. Si no se están obteniendo los resultados esperados o surgen problemas, se debe ajustar el enfoque para asegurar de que la inversión sea exitosa a largo plazo.</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AutoShape 2"/>
          <p:cNvSpPr/>
          <p:nvPr/>
        </p:nvSpPr>
        <p:spPr>
          <a:xfrm>
            <a:off x="1028700" y="2128838"/>
            <a:ext cx="16230600" cy="0"/>
          </a:xfrm>
          <a:prstGeom prst="line">
            <a:avLst/>
          </a:prstGeom>
          <a:ln w="9525" cap="flat">
            <a:solidFill>
              <a:srgbClr val="FFFFFF"/>
            </a:solidFill>
            <a:prstDash val="solid"/>
            <a:headEnd type="none" w="sm" len="sm"/>
            <a:tailEnd type="none" w="sm" len="sm"/>
          </a:ln>
        </p:spPr>
      </p:sp>
      <p:sp>
        <p:nvSpPr>
          <p:cNvPr id="3" name="Freeform 3"/>
          <p:cNvSpPr/>
          <p:nvPr/>
        </p:nvSpPr>
        <p:spPr>
          <a:xfrm>
            <a:off x="2793573" y="3772759"/>
            <a:ext cx="1562757" cy="1289274"/>
          </a:xfrm>
          <a:custGeom>
            <a:avLst/>
            <a:gdLst/>
            <a:ahLst/>
            <a:cxnLst/>
            <a:rect l="l" t="t" r="r" b="b"/>
            <a:pathLst>
              <a:path w="1562757" h="1289274">
                <a:moveTo>
                  <a:pt x="0" y="0"/>
                </a:moveTo>
                <a:lnTo>
                  <a:pt x="1562757" y="0"/>
                </a:lnTo>
                <a:lnTo>
                  <a:pt x="1562757" y="1289274"/>
                </a:lnTo>
                <a:lnTo>
                  <a:pt x="0" y="128927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8662966" y="3772759"/>
            <a:ext cx="1301103" cy="1289274"/>
          </a:xfrm>
          <a:custGeom>
            <a:avLst/>
            <a:gdLst/>
            <a:ahLst/>
            <a:cxnLst/>
            <a:rect l="l" t="t" r="r" b="b"/>
            <a:pathLst>
              <a:path w="1301103" h="1289274">
                <a:moveTo>
                  <a:pt x="0" y="0"/>
                </a:moveTo>
                <a:lnTo>
                  <a:pt x="1301102" y="0"/>
                </a:lnTo>
                <a:lnTo>
                  <a:pt x="1301102" y="1289274"/>
                </a:lnTo>
                <a:lnTo>
                  <a:pt x="0" y="12892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4524400" y="4065201"/>
            <a:ext cx="992741" cy="1289274"/>
          </a:xfrm>
          <a:custGeom>
            <a:avLst/>
            <a:gdLst/>
            <a:ahLst/>
            <a:cxnLst/>
            <a:rect l="l" t="t" r="r" b="b"/>
            <a:pathLst>
              <a:path w="992741" h="1289274">
                <a:moveTo>
                  <a:pt x="0" y="0"/>
                </a:moveTo>
                <a:lnTo>
                  <a:pt x="992741" y="0"/>
                </a:lnTo>
                <a:lnTo>
                  <a:pt x="992741" y="1289274"/>
                </a:lnTo>
                <a:lnTo>
                  <a:pt x="0" y="12892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2823619" y="7335675"/>
            <a:ext cx="1471354" cy="1289274"/>
          </a:xfrm>
          <a:custGeom>
            <a:avLst/>
            <a:gdLst/>
            <a:ahLst/>
            <a:cxnLst/>
            <a:rect l="l" t="t" r="r" b="b"/>
            <a:pathLst>
              <a:path w="1471354" h="1289274">
                <a:moveTo>
                  <a:pt x="0" y="0"/>
                </a:moveTo>
                <a:lnTo>
                  <a:pt x="1471354" y="0"/>
                </a:lnTo>
                <a:lnTo>
                  <a:pt x="1471354" y="1289275"/>
                </a:lnTo>
                <a:lnTo>
                  <a:pt x="0" y="12892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a:off x="8532181" y="7335675"/>
            <a:ext cx="1223639" cy="1289274"/>
          </a:xfrm>
          <a:custGeom>
            <a:avLst/>
            <a:gdLst/>
            <a:ahLst/>
            <a:cxnLst/>
            <a:rect l="l" t="t" r="r" b="b"/>
            <a:pathLst>
              <a:path w="1223639" h="1289274">
                <a:moveTo>
                  <a:pt x="0" y="0"/>
                </a:moveTo>
                <a:lnTo>
                  <a:pt x="1223638" y="0"/>
                </a:lnTo>
                <a:lnTo>
                  <a:pt x="1223638" y="1289275"/>
                </a:lnTo>
                <a:lnTo>
                  <a:pt x="0" y="128927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14399314" y="7335675"/>
            <a:ext cx="1211601" cy="1258319"/>
          </a:xfrm>
          <a:custGeom>
            <a:avLst/>
            <a:gdLst/>
            <a:ahLst/>
            <a:cxnLst/>
            <a:rect l="l" t="t" r="r" b="b"/>
            <a:pathLst>
              <a:path w="1211601" h="1258319">
                <a:moveTo>
                  <a:pt x="0" y="0"/>
                </a:moveTo>
                <a:lnTo>
                  <a:pt x="1211601" y="0"/>
                </a:lnTo>
                <a:lnTo>
                  <a:pt x="1211601" y="1258320"/>
                </a:lnTo>
                <a:lnTo>
                  <a:pt x="0" y="125832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TextBox 9"/>
          <p:cNvSpPr txBox="1"/>
          <p:nvPr/>
        </p:nvSpPr>
        <p:spPr>
          <a:xfrm>
            <a:off x="1028700" y="855889"/>
            <a:ext cx="10523347" cy="1104900"/>
          </a:xfrm>
          <a:prstGeom prst="rect">
            <a:avLst/>
          </a:prstGeom>
        </p:spPr>
        <p:txBody>
          <a:bodyPr lIns="0" tIns="0" rIns="0" bIns="0" rtlCol="0" anchor="t">
            <a:spAutoFit/>
          </a:bodyPr>
          <a:lstStyle/>
          <a:p>
            <a:pPr marL="0" lvl="0" indent="0" algn="l">
              <a:lnSpc>
                <a:spcPts val="8640"/>
              </a:lnSpc>
              <a:spcBef>
                <a:spcPct val="0"/>
              </a:spcBef>
            </a:pPr>
            <a:r>
              <a:rPr lang="en-US" sz="7200">
                <a:solidFill>
                  <a:srgbClr val="009490"/>
                </a:solidFill>
                <a:latin typeface="HK Grotesk Bold"/>
              </a:rPr>
              <a:t>Tipos de Inversiones</a:t>
            </a:r>
          </a:p>
        </p:txBody>
      </p:sp>
      <p:sp>
        <p:nvSpPr>
          <p:cNvPr id="10" name="TextBox 10"/>
          <p:cNvSpPr txBox="1"/>
          <p:nvPr/>
        </p:nvSpPr>
        <p:spPr>
          <a:xfrm>
            <a:off x="1320766" y="3013708"/>
            <a:ext cx="4508372" cy="495300"/>
          </a:xfrm>
          <a:prstGeom prst="rect">
            <a:avLst/>
          </a:prstGeom>
        </p:spPr>
        <p:txBody>
          <a:bodyPr lIns="0" tIns="0" rIns="0" bIns="0" rtlCol="0" anchor="t">
            <a:spAutoFit/>
          </a:bodyPr>
          <a:lstStyle/>
          <a:p>
            <a:pPr algn="ctr">
              <a:lnSpc>
                <a:spcPts val="3840"/>
              </a:lnSpc>
            </a:pPr>
            <a:r>
              <a:rPr lang="en-US" sz="3200">
                <a:solidFill>
                  <a:srgbClr val="009490"/>
                </a:solidFill>
                <a:latin typeface="HK Grotesk Medium"/>
              </a:rPr>
              <a:t>Inversiones Materiales</a:t>
            </a:r>
          </a:p>
        </p:txBody>
      </p:sp>
      <p:sp>
        <p:nvSpPr>
          <p:cNvPr id="11" name="TextBox 11"/>
          <p:cNvSpPr txBox="1"/>
          <p:nvPr/>
        </p:nvSpPr>
        <p:spPr>
          <a:xfrm>
            <a:off x="7059331" y="3013708"/>
            <a:ext cx="4508372" cy="495300"/>
          </a:xfrm>
          <a:prstGeom prst="rect">
            <a:avLst/>
          </a:prstGeom>
        </p:spPr>
        <p:txBody>
          <a:bodyPr lIns="0" tIns="0" rIns="0" bIns="0" rtlCol="0" anchor="t">
            <a:spAutoFit/>
          </a:bodyPr>
          <a:lstStyle/>
          <a:p>
            <a:pPr algn="ctr">
              <a:lnSpc>
                <a:spcPts val="3840"/>
              </a:lnSpc>
            </a:pPr>
            <a:r>
              <a:rPr lang="en-US" sz="3200">
                <a:solidFill>
                  <a:srgbClr val="009490"/>
                </a:solidFill>
                <a:latin typeface="HK Grotesk Medium"/>
              </a:rPr>
              <a:t>Inversiones Intelectuales</a:t>
            </a:r>
          </a:p>
        </p:txBody>
      </p:sp>
      <p:sp>
        <p:nvSpPr>
          <p:cNvPr id="12" name="TextBox 12"/>
          <p:cNvSpPr txBox="1"/>
          <p:nvPr/>
        </p:nvSpPr>
        <p:spPr>
          <a:xfrm>
            <a:off x="12766584" y="2770820"/>
            <a:ext cx="4508372" cy="981075"/>
          </a:xfrm>
          <a:prstGeom prst="rect">
            <a:avLst/>
          </a:prstGeom>
        </p:spPr>
        <p:txBody>
          <a:bodyPr lIns="0" tIns="0" rIns="0" bIns="0" rtlCol="0" anchor="t">
            <a:spAutoFit/>
          </a:bodyPr>
          <a:lstStyle/>
          <a:p>
            <a:pPr algn="ctr">
              <a:lnSpc>
                <a:spcPts val="3840"/>
              </a:lnSpc>
            </a:pPr>
            <a:r>
              <a:rPr lang="en-US" sz="3200">
                <a:solidFill>
                  <a:srgbClr val="009490"/>
                </a:solidFill>
                <a:latin typeface="HK Grotesk Medium"/>
              </a:rPr>
              <a:t>Inversiones en Bienes Intangibles</a:t>
            </a:r>
          </a:p>
        </p:txBody>
      </p:sp>
      <p:sp>
        <p:nvSpPr>
          <p:cNvPr id="13" name="TextBox 13"/>
          <p:cNvSpPr txBox="1"/>
          <p:nvPr/>
        </p:nvSpPr>
        <p:spPr>
          <a:xfrm>
            <a:off x="1305110" y="5849775"/>
            <a:ext cx="4508372" cy="981075"/>
          </a:xfrm>
          <a:prstGeom prst="rect">
            <a:avLst/>
          </a:prstGeom>
        </p:spPr>
        <p:txBody>
          <a:bodyPr lIns="0" tIns="0" rIns="0" bIns="0" rtlCol="0" anchor="t">
            <a:spAutoFit/>
          </a:bodyPr>
          <a:lstStyle/>
          <a:p>
            <a:pPr algn="ctr">
              <a:lnSpc>
                <a:spcPts val="3840"/>
              </a:lnSpc>
            </a:pPr>
            <a:r>
              <a:rPr lang="en-US" sz="3200">
                <a:solidFill>
                  <a:srgbClr val="009490"/>
                </a:solidFill>
                <a:latin typeface="HK Grotesk Medium"/>
              </a:rPr>
              <a:t>Inversiones en Mantenimiento</a:t>
            </a:r>
          </a:p>
        </p:txBody>
      </p:sp>
      <p:sp>
        <p:nvSpPr>
          <p:cNvPr id="14" name="TextBox 14"/>
          <p:cNvSpPr txBox="1"/>
          <p:nvPr/>
        </p:nvSpPr>
        <p:spPr>
          <a:xfrm>
            <a:off x="7043675" y="5849775"/>
            <a:ext cx="4508372" cy="981075"/>
          </a:xfrm>
          <a:prstGeom prst="rect">
            <a:avLst/>
          </a:prstGeom>
        </p:spPr>
        <p:txBody>
          <a:bodyPr lIns="0" tIns="0" rIns="0" bIns="0" rtlCol="0" anchor="t">
            <a:spAutoFit/>
          </a:bodyPr>
          <a:lstStyle/>
          <a:p>
            <a:pPr algn="ctr">
              <a:lnSpc>
                <a:spcPts val="3840"/>
              </a:lnSpc>
            </a:pPr>
            <a:r>
              <a:rPr lang="en-US" sz="3200">
                <a:solidFill>
                  <a:srgbClr val="009490"/>
                </a:solidFill>
                <a:latin typeface="HK Grotesk Medium"/>
              </a:rPr>
              <a:t>Inversiones en Productividad</a:t>
            </a:r>
          </a:p>
        </p:txBody>
      </p:sp>
      <p:sp>
        <p:nvSpPr>
          <p:cNvPr id="15" name="TextBox 15"/>
          <p:cNvSpPr txBox="1"/>
          <p:nvPr/>
        </p:nvSpPr>
        <p:spPr>
          <a:xfrm>
            <a:off x="12750928" y="6092663"/>
            <a:ext cx="4508372" cy="495300"/>
          </a:xfrm>
          <a:prstGeom prst="rect">
            <a:avLst/>
          </a:prstGeom>
        </p:spPr>
        <p:txBody>
          <a:bodyPr lIns="0" tIns="0" rIns="0" bIns="0" rtlCol="0" anchor="t">
            <a:spAutoFit/>
          </a:bodyPr>
          <a:lstStyle/>
          <a:p>
            <a:pPr algn="ctr">
              <a:lnSpc>
                <a:spcPts val="3840"/>
              </a:lnSpc>
            </a:pPr>
            <a:r>
              <a:rPr lang="en-US" sz="3200">
                <a:solidFill>
                  <a:srgbClr val="009490"/>
                </a:solidFill>
                <a:latin typeface="HK Grotesk Medium"/>
              </a:rPr>
              <a:t>Inversiones Estratégicas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AutoShape 2"/>
          <p:cNvSpPr/>
          <p:nvPr/>
        </p:nvSpPr>
        <p:spPr>
          <a:xfrm>
            <a:off x="1028700" y="2119313"/>
            <a:ext cx="16230600" cy="0"/>
          </a:xfrm>
          <a:prstGeom prst="line">
            <a:avLst/>
          </a:prstGeom>
          <a:ln w="9525" cap="flat">
            <a:solidFill>
              <a:srgbClr val="BDC2C5"/>
            </a:solidFill>
            <a:prstDash val="solid"/>
            <a:headEnd type="none" w="sm" len="sm"/>
            <a:tailEnd type="none" w="sm" len="sm"/>
          </a:ln>
        </p:spPr>
      </p:sp>
      <p:sp>
        <p:nvSpPr>
          <p:cNvPr id="3" name="TextBox 3"/>
          <p:cNvSpPr txBox="1"/>
          <p:nvPr/>
        </p:nvSpPr>
        <p:spPr>
          <a:xfrm>
            <a:off x="1028700" y="783771"/>
            <a:ext cx="15352429" cy="1085850"/>
          </a:xfrm>
          <a:prstGeom prst="rect">
            <a:avLst/>
          </a:prstGeom>
        </p:spPr>
        <p:txBody>
          <a:bodyPr lIns="0" tIns="0" rIns="0" bIns="0" rtlCol="0" anchor="t">
            <a:spAutoFit/>
          </a:bodyPr>
          <a:lstStyle/>
          <a:p>
            <a:pPr marL="0" lvl="0" indent="0" algn="l">
              <a:lnSpc>
                <a:spcPts val="8550"/>
              </a:lnSpc>
              <a:spcBef>
                <a:spcPct val="0"/>
              </a:spcBef>
            </a:pPr>
            <a:r>
              <a:rPr lang="en-US" sz="7125">
                <a:solidFill>
                  <a:srgbClr val="009490"/>
                </a:solidFill>
                <a:latin typeface="HK Grotesk Bold"/>
              </a:rPr>
              <a:t>Selección de Proyectos de Inversión</a:t>
            </a:r>
          </a:p>
        </p:txBody>
      </p:sp>
      <p:sp>
        <p:nvSpPr>
          <p:cNvPr id="4" name="TextBox 4"/>
          <p:cNvSpPr txBox="1"/>
          <p:nvPr/>
        </p:nvSpPr>
        <p:spPr>
          <a:xfrm>
            <a:off x="1305110" y="4488770"/>
            <a:ext cx="4508372" cy="2863533"/>
          </a:xfrm>
          <a:prstGeom prst="rect">
            <a:avLst/>
          </a:prstGeom>
        </p:spPr>
        <p:txBody>
          <a:bodyPr lIns="0" tIns="0" rIns="0" bIns="0" rtlCol="0" anchor="t">
            <a:spAutoFit/>
          </a:bodyPr>
          <a:lstStyle/>
          <a:p>
            <a:pPr algn="ctr">
              <a:lnSpc>
                <a:spcPts val="3282"/>
              </a:lnSpc>
            </a:pPr>
            <a:r>
              <a:rPr lang="en-US" sz="2524">
                <a:solidFill>
                  <a:srgbClr val="FFFFFF"/>
                </a:solidFill>
                <a:latin typeface="HK Grotesk Medium"/>
              </a:rPr>
              <a:t>Estos son proyectos que pueden realizarse por separado, sin depender de otros. Cada proyecto tiene su propio propósito y se puede llevar a cabo sin considerar los demás. </a:t>
            </a:r>
          </a:p>
        </p:txBody>
      </p:sp>
      <p:sp>
        <p:nvSpPr>
          <p:cNvPr id="5" name="TextBox 5"/>
          <p:cNvSpPr txBox="1"/>
          <p:nvPr/>
        </p:nvSpPr>
        <p:spPr>
          <a:xfrm>
            <a:off x="1305110" y="3228725"/>
            <a:ext cx="4508372" cy="981075"/>
          </a:xfrm>
          <a:prstGeom prst="rect">
            <a:avLst/>
          </a:prstGeom>
        </p:spPr>
        <p:txBody>
          <a:bodyPr lIns="0" tIns="0" rIns="0" bIns="0" rtlCol="0" anchor="t">
            <a:spAutoFit/>
          </a:bodyPr>
          <a:lstStyle/>
          <a:p>
            <a:pPr algn="ctr">
              <a:lnSpc>
                <a:spcPts val="3840"/>
              </a:lnSpc>
            </a:pPr>
            <a:r>
              <a:rPr lang="en-US" sz="3200">
                <a:solidFill>
                  <a:srgbClr val="009490"/>
                </a:solidFill>
                <a:latin typeface="HK Grotesk Medium"/>
              </a:rPr>
              <a:t>Proyectos Independientes:</a:t>
            </a:r>
          </a:p>
        </p:txBody>
      </p:sp>
      <p:sp>
        <p:nvSpPr>
          <p:cNvPr id="6" name="TextBox 6"/>
          <p:cNvSpPr txBox="1"/>
          <p:nvPr/>
        </p:nvSpPr>
        <p:spPr>
          <a:xfrm>
            <a:off x="6889814" y="4488770"/>
            <a:ext cx="4508372" cy="3682683"/>
          </a:xfrm>
          <a:prstGeom prst="rect">
            <a:avLst/>
          </a:prstGeom>
        </p:spPr>
        <p:txBody>
          <a:bodyPr lIns="0" tIns="0" rIns="0" bIns="0" rtlCol="0" anchor="t">
            <a:spAutoFit/>
          </a:bodyPr>
          <a:lstStyle/>
          <a:p>
            <a:pPr algn="ctr">
              <a:lnSpc>
                <a:spcPts val="3282"/>
              </a:lnSpc>
            </a:pPr>
            <a:r>
              <a:rPr lang="en-US" sz="2524">
                <a:solidFill>
                  <a:srgbClr val="FFFFFF"/>
                </a:solidFill>
                <a:latin typeface="HK Grotesk Medium"/>
              </a:rPr>
              <a:t>Los proyectos complementarios están relacionados y se benefician mutuamente. Pueden estar vinculados en el espacio o en el tiempo. La realización de uno puede llevar a la realización de otro, y juntos pueden ser más efectivos.</a:t>
            </a:r>
          </a:p>
          <a:p>
            <a:pPr algn="ctr">
              <a:lnSpc>
                <a:spcPts val="3282"/>
              </a:lnSpc>
            </a:pPr>
            <a:endParaRPr lang="en-US" sz="2524">
              <a:solidFill>
                <a:srgbClr val="FFFFFF"/>
              </a:solidFill>
              <a:latin typeface="HK Grotesk Medium"/>
            </a:endParaRPr>
          </a:p>
        </p:txBody>
      </p:sp>
      <p:sp>
        <p:nvSpPr>
          <p:cNvPr id="7" name="TextBox 7"/>
          <p:cNvSpPr txBox="1"/>
          <p:nvPr/>
        </p:nvSpPr>
        <p:spPr>
          <a:xfrm>
            <a:off x="6889818" y="3228725"/>
            <a:ext cx="4508372" cy="981075"/>
          </a:xfrm>
          <a:prstGeom prst="rect">
            <a:avLst/>
          </a:prstGeom>
        </p:spPr>
        <p:txBody>
          <a:bodyPr lIns="0" tIns="0" rIns="0" bIns="0" rtlCol="0" anchor="t">
            <a:spAutoFit/>
          </a:bodyPr>
          <a:lstStyle/>
          <a:p>
            <a:pPr algn="ctr">
              <a:lnSpc>
                <a:spcPts val="3840"/>
              </a:lnSpc>
            </a:pPr>
            <a:r>
              <a:rPr lang="en-US" sz="3200">
                <a:solidFill>
                  <a:srgbClr val="009490"/>
                </a:solidFill>
                <a:latin typeface="HK Grotesk Medium"/>
              </a:rPr>
              <a:t>Proyectos Complementarios:</a:t>
            </a:r>
          </a:p>
        </p:txBody>
      </p:sp>
      <p:sp>
        <p:nvSpPr>
          <p:cNvPr id="8" name="TextBox 8"/>
          <p:cNvSpPr txBox="1"/>
          <p:nvPr/>
        </p:nvSpPr>
        <p:spPr>
          <a:xfrm>
            <a:off x="12474518" y="4488770"/>
            <a:ext cx="4508372" cy="2863533"/>
          </a:xfrm>
          <a:prstGeom prst="rect">
            <a:avLst/>
          </a:prstGeom>
        </p:spPr>
        <p:txBody>
          <a:bodyPr lIns="0" tIns="0" rIns="0" bIns="0" rtlCol="0" anchor="t">
            <a:spAutoFit/>
          </a:bodyPr>
          <a:lstStyle/>
          <a:p>
            <a:pPr algn="ctr">
              <a:lnSpc>
                <a:spcPts val="3282"/>
              </a:lnSpc>
            </a:pPr>
            <a:r>
              <a:rPr lang="en-US" sz="2524">
                <a:solidFill>
                  <a:srgbClr val="FFFFFF"/>
                </a:solidFill>
                <a:latin typeface="HK Grotesk Medium"/>
              </a:rPr>
              <a:t>Se comparan diferentes inversiones alternativas que buscan lograr la misma meta. Sin embargo, debido a limitaciones de recursos, solo se puede elegir una de ellas. </a:t>
            </a:r>
          </a:p>
          <a:p>
            <a:pPr algn="ctr">
              <a:lnSpc>
                <a:spcPts val="3282"/>
              </a:lnSpc>
            </a:pPr>
            <a:endParaRPr lang="en-US" sz="2524">
              <a:solidFill>
                <a:srgbClr val="FFFFFF"/>
              </a:solidFill>
              <a:latin typeface="HK Grotesk Medium"/>
            </a:endParaRPr>
          </a:p>
        </p:txBody>
      </p:sp>
      <p:sp>
        <p:nvSpPr>
          <p:cNvPr id="9" name="TextBox 9"/>
          <p:cNvSpPr txBox="1"/>
          <p:nvPr/>
        </p:nvSpPr>
        <p:spPr>
          <a:xfrm>
            <a:off x="12474518" y="3228725"/>
            <a:ext cx="4508372" cy="981075"/>
          </a:xfrm>
          <a:prstGeom prst="rect">
            <a:avLst/>
          </a:prstGeom>
        </p:spPr>
        <p:txBody>
          <a:bodyPr lIns="0" tIns="0" rIns="0" bIns="0" rtlCol="0" anchor="t">
            <a:spAutoFit/>
          </a:bodyPr>
          <a:lstStyle/>
          <a:p>
            <a:pPr algn="ctr">
              <a:lnSpc>
                <a:spcPts val="3840"/>
              </a:lnSpc>
            </a:pPr>
            <a:r>
              <a:rPr lang="en-US" sz="3200">
                <a:solidFill>
                  <a:srgbClr val="009490"/>
                </a:solidFill>
                <a:latin typeface="HK Grotesk Medium"/>
              </a:rPr>
              <a:t>Proyectos Mutuamente Excluyentes: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1184952" y="3538537"/>
            <a:ext cx="6074348" cy="3295650"/>
          </a:xfrm>
          <a:prstGeom prst="rect">
            <a:avLst/>
          </a:prstGeom>
        </p:spPr>
        <p:txBody>
          <a:bodyPr lIns="0" tIns="0" rIns="0" bIns="0" rtlCol="0" anchor="t">
            <a:spAutoFit/>
          </a:bodyPr>
          <a:lstStyle/>
          <a:p>
            <a:pPr marL="0" lvl="0" indent="0" algn="ctr">
              <a:lnSpc>
                <a:spcPts val="8640"/>
              </a:lnSpc>
              <a:spcBef>
                <a:spcPct val="0"/>
              </a:spcBef>
            </a:pPr>
            <a:r>
              <a:rPr lang="en-US" sz="7200">
                <a:solidFill>
                  <a:srgbClr val="009490"/>
                </a:solidFill>
                <a:latin typeface="HK Grotesk Bold"/>
              </a:rPr>
              <a:t>Evaluación de Proyectos de Inversión</a:t>
            </a:r>
          </a:p>
        </p:txBody>
      </p:sp>
      <p:grpSp>
        <p:nvGrpSpPr>
          <p:cNvPr id="3" name="Group 3"/>
          <p:cNvGrpSpPr/>
          <p:nvPr/>
        </p:nvGrpSpPr>
        <p:grpSpPr>
          <a:xfrm>
            <a:off x="386915" y="794826"/>
            <a:ext cx="8533213" cy="1721900"/>
            <a:chOff x="0" y="0"/>
            <a:chExt cx="11377617" cy="2295866"/>
          </a:xfrm>
        </p:grpSpPr>
        <p:sp>
          <p:nvSpPr>
            <p:cNvPr id="4" name="TextBox 4"/>
            <p:cNvSpPr txBox="1"/>
            <p:nvPr/>
          </p:nvSpPr>
          <p:spPr>
            <a:xfrm>
              <a:off x="0" y="-9525"/>
              <a:ext cx="11377617" cy="657225"/>
            </a:xfrm>
            <a:prstGeom prst="rect">
              <a:avLst/>
            </a:prstGeom>
          </p:spPr>
          <p:txBody>
            <a:bodyPr lIns="0" tIns="0" rIns="0" bIns="0" rtlCol="0" anchor="t">
              <a:spAutoFit/>
            </a:bodyPr>
            <a:lstStyle/>
            <a:p>
              <a:pPr>
                <a:lnSpc>
                  <a:spcPts val="3840"/>
                </a:lnSpc>
              </a:pPr>
              <a:r>
                <a:rPr lang="en-US" sz="3200">
                  <a:solidFill>
                    <a:srgbClr val="FFFFFF"/>
                  </a:solidFill>
                  <a:latin typeface="HK Grotesk Bold"/>
                </a:rPr>
                <a:t>Valor Actual Neto (VAN)</a:t>
              </a:r>
            </a:p>
          </p:txBody>
        </p:sp>
        <p:sp>
          <p:nvSpPr>
            <p:cNvPr id="5" name="TextBox 5"/>
            <p:cNvSpPr txBox="1"/>
            <p:nvPr/>
          </p:nvSpPr>
          <p:spPr>
            <a:xfrm>
              <a:off x="0" y="773136"/>
              <a:ext cx="11377617" cy="1522730"/>
            </a:xfrm>
            <a:prstGeom prst="rect">
              <a:avLst/>
            </a:prstGeom>
          </p:spPr>
          <p:txBody>
            <a:bodyPr lIns="0" tIns="0" rIns="0" bIns="0" rtlCol="0" anchor="t">
              <a:spAutoFit/>
            </a:bodyPr>
            <a:lstStyle/>
            <a:p>
              <a:pPr>
                <a:lnSpc>
                  <a:spcPts val="3022"/>
                </a:lnSpc>
              </a:pPr>
              <a:r>
                <a:rPr lang="en-US" sz="2324">
                  <a:solidFill>
                    <a:srgbClr val="FFFFFF"/>
                  </a:solidFill>
                  <a:latin typeface="HK Grotesk Medium"/>
                </a:rPr>
                <a:t>Es el beneficio extraordinario que paga el proyecto por encima de la tasa requerida por el inversor.</a:t>
              </a:r>
            </a:p>
            <a:p>
              <a:pPr>
                <a:lnSpc>
                  <a:spcPts val="3022"/>
                </a:lnSpc>
              </a:pPr>
              <a:r>
                <a:rPr lang="en-US" sz="2324">
                  <a:solidFill>
                    <a:srgbClr val="009490"/>
                  </a:solidFill>
                  <a:latin typeface="HK Grotesk Medium"/>
                </a:rPr>
                <a:t>VAN = + ∑ Flujos netos de caja actualizados – Inversión inicial</a:t>
              </a:r>
            </a:p>
          </p:txBody>
        </p:sp>
      </p:grpSp>
      <p:grpSp>
        <p:nvGrpSpPr>
          <p:cNvPr id="6" name="Group 6"/>
          <p:cNvGrpSpPr/>
          <p:nvPr/>
        </p:nvGrpSpPr>
        <p:grpSpPr>
          <a:xfrm>
            <a:off x="386915" y="2992975"/>
            <a:ext cx="8533213" cy="1721900"/>
            <a:chOff x="0" y="0"/>
            <a:chExt cx="11377617" cy="2295866"/>
          </a:xfrm>
        </p:grpSpPr>
        <p:sp>
          <p:nvSpPr>
            <p:cNvPr id="7" name="TextBox 7"/>
            <p:cNvSpPr txBox="1"/>
            <p:nvPr/>
          </p:nvSpPr>
          <p:spPr>
            <a:xfrm>
              <a:off x="0" y="-9525"/>
              <a:ext cx="11377617" cy="657225"/>
            </a:xfrm>
            <a:prstGeom prst="rect">
              <a:avLst/>
            </a:prstGeom>
          </p:spPr>
          <p:txBody>
            <a:bodyPr lIns="0" tIns="0" rIns="0" bIns="0" rtlCol="0" anchor="t">
              <a:spAutoFit/>
            </a:bodyPr>
            <a:lstStyle/>
            <a:p>
              <a:pPr>
                <a:lnSpc>
                  <a:spcPts val="3840"/>
                </a:lnSpc>
              </a:pPr>
              <a:r>
                <a:rPr lang="en-US" sz="3200">
                  <a:solidFill>
                    <a:srgbClr val="FFFFFF"/>
                  </a:solidFill>
                  <a:latin typeface="HK Grotesk Bold"/>
                </a:rPr>
                <a:t>Rentabilidad sobre la Inversión (ROI):</a:t>
              </a:r>
            </a:p>
          </p:txBody>
        </p:sp>
        <p:sp>
          <p:nvSpPr>
            <p:cNvPr id="8" name="TextBox 8"/>
            <p:cNvSpPr txBox="1"/>
            <p:nvPr/>
          </p:nvSpPr>
          <p:spPr>
            <a:xfrm>
              <a:off x="0" y="773136"/>
              <a:ext cx="11377617" cy="1522730"/>
            </a:xfrm>
            <a:prstGeom prst="rect">
              <a:avLst/>
            </a:prstGeom>
          </p:spPr>
          <p:txBody>
            <a:bodyPr lIns="0" tIns="0" rIns="0" bIns="0" rtlCol="0" anchor="t">
              <a:spAutoFit/>
            </a:bodyPr>
            <a:lstStyle/>
            <a:p>
              <a:pPr>
                <a:lnSpc>
                  <a:spcPts val="3022"/>
                </a:lnSpc>
              </a:pPr>
              <a:r>
                <a:rPr lang="en-US" sz="2324">
                  <a:solidFill>
                    <a:srgbClr val="FFFFFF"/>
                  </a:solidFill>
                  <a:latin typeface="HK Grotesk"/>
                </a:rPr>
                <a:t>El ROI es una medida que compara la ganancia neta generada por un proyecto con el costo de la inversión inicial. </a:t>
              </a:r>
            </a:p>
            <a:p>
              <a:pPr>
                <a:lnSpc>
                  <a:spcPts val="3022"/>
                </a:lnSpc>
              </a:pPr>
              <a:r>
                <a:rPr lang="en-US" sz="2324">
                  <a:solidFill>
                    <a:srgbClr val="009490"/>
                  </a:solidFill>
                  <a:latin typeface="HK Grotesk"/>
                </a:rPr>
                <a:t>ROI = ∑ Flujos netos de caja sin actualizar / Inversión inicial</a:t>
              </a:r>
            </a:p>
          </p:txBody>
        </p:sp>
      </p:grpSp>
      <p:grpSp>
        <p:nvGrpSpPr>
          <p:cNvPr id="9" name="Group 9"/>
          <p:cNvGrpSpPr/>
          <p:nvPr/>
        </p:nvGrpSpPr>
        <p:grpSpPr>
          <a:xfrm>
            <a:off x="386915" y="7770275"/>
            <a:ext cx="8533213" cy="1721900"/>
            <a:chOff x="0" y="0"/>
            <a:chExt cx="11377617" cy="2295866"/>
          </a:xfrm>
        </p:grpSpPr>
        <p:sp>
          <p:nvSpPr>
            <p:cNvPr id="10" name="TextBox 10"/>
            <p:cNvSpPr txBox="1"/>
            <p:nvPr/>
          </p:nvSpPr>
          <p:spPr>
            <a:xfrm>
              <a:off x="0" y="-9525"/>
              <a:ext cx="11377617" cy="657225"/>
            </a:xfrm>
            <a:prstGeom prst="rect">
              <a:avLst/>
            </a:prstGeom>
          </p:spPr>
          <p:txBody>
            <a:bodyPr lIns="0" tIns="0" rIns="0" bIns="0" rtlCol="0" anchor="t">
              <a:spAutoFit/>
            </a:bodyPr>
            <a:lstStyle/>
            <a:p>
              <a:pPr>
                <a:lnSpc>
                  <a:spcPts val="3840"/>
                </a:lnSpc>
              </a:pPr>
              <a:r>
                <a:rPr lang="en-US" sz="3200">
                  <a:solidFill>
                    <a:srgbClr val="FFFFFF"/>
                  </a:solidFill>
                  <a:latin typeface="HK Grotesk Bold"/>
                </a:rPr>
                <a:t>Período de Recupero de la Inversión (Payback):</a:t>
              </a:r>
            </a:p>
          </p:txBody>
        </p:sp>
        <p:sp>
          <p:nvSpPr>
            <p:cNvPr id="11" name="TextBox 11"/>
            <p:cNvSpPr txBox="1"/>
            <p:nvPr/>
          </p:nvSpPr>
          <p:spPr>
            <a:xfrm>
              <a:off x="0" y="773136"/>
              <a:ext cx="11377617" cy="1522730"/>
            </a:xfrm>
            <a:prstGeom prst="rect">
              <a:avLst/>
            </a:prstGeom>
          </p:spPr>
          <p:txBody>
            <a:bodyPr lIns="0" tIns="0" rIns="0" bIns="0" rtlCol="0" anchor="t">
              <a:spAutoFit/>
            </a:bodyPr>
            <a:lstStyle/>
            <a:p>
              <a:pPr>
                <a:lnSpc>
                  <a:spcPts val="3022"/>
                </a:lnSpc>
              </a:pPr>
              <a:r>
                <a:rPr lang="en-US" sz="2324">
                  <a:solidFill>
                    <a:srgbClr val="FFFFFF"/>
                  </a:solidFill>
                  <a:latin typeface="HK Grotesk Medium"/>
                </a:rPr>
                <a:t>El período de recuperación indica cuánto tiempo se necesita para que los flujos de efectivo acumulados del proyecto igualen la inversión inicial. </a:t>
              </a:r>
            </a:p>
          </p:txBody>
        </p:sp>
      </p:grpSp>
      <p:grpSp>
        <p:nvGrpSpPr>
          <p:cNvPr id="12" name="Group 12"/>
          <p:cNvGrpSpPr/>
          <p:nvPr/>
        </p:nvGrpSpPr>
        <p:grpSpPr>
          <a:xfrm>
            <a:off x="386915" y="5191125"/>
            <a:ext cx="8533213" cy="2102900"/>
            <a:chOff x="0" y="0"/>
            <a:chExt cx="11377617" cy="2803866"/>
          </a:xfrm>
        </p:grpSpPr>
        <p:sp>
          <p:nvSpPr>
            <p:cNvPr id="13" name="TextBox 13"/>
            <p:cNvSpPr txBox="1"/>
            <p:nvPr/>
          </p:nvSpPr>
          <p:spPr>
            <a:xfrm>
              <a:off x="0" y="-9525"/>
              <a:ext cx="11377617" cy="657225"/>
            </a:xfrm>
            <a:prstGeom prst="rect">
              <a:avLst/>
            </a:prstGeom>
          </p:spPr>
          <p:txBody>
            <a:bodyPr lIns="0" tIns="0" rIns="0" bIns="0" rtlCol="0" anchor="t">
              <a:spAutoFit/>
            </a:bodyPr>
            <a:lstStyle/>
            <a:p>
              <a:pPr>
                <a:lnSpc>
                  <a:spcPts val="3840"/>
                </a:lnSpc>
              </a:pPr>
              <a:r>
                <a:rPr lang="en-US" sz="3200">
                  <a:solidFill>
                    <a:srgbClr val="FFFFFF"/>
                  </a:solidFill>
                  <a:latin typeface="HK Grotesk Bold"/>
                </a:rPr>
                <a:t>Tasa Interna de Rentabilidad (TIR):</a:t>
              </a:r>
            </a:p>
          </p:txBody>
        </p:sp>
        <p:sp>
          <p:nvSpPr>
            <p:cNvPr id="14" name="TextBox 14"/>
            <p:cNvSpPr txBox="1"/>
            <p:nvPr/>
          </p:nvSpPr>
          <p:spPr>
            <a:xfrm>
              <a:off x="0" y="773136"/>
              <a:ext cx="11377617" cy="2030730"/>
            </a:xfrm>
            <a:prstGeom prst="rect">
              <a:avLst/>
            </a:prstGeom>
          </p:spPr>
          <p:txBody>
            <a:bodyPr lIns="0" tIns="0" rIns="0" bIns="0" rtlCol="0" anchor="t">
              <a:spAutoFit/>
            </a:bodyPr>
            <a:lstStyle/>
            <a:p>
              <a:pPr>
                <a:lnSpc>
                  <a:spcPts val="3022"/>
                </a:lnSpc>
              </a:pPr>
              <a:r>
                <a:rPr lang="en-US" sz="2324">
                  <a:solidFill>
                    <a:srgbClr val="FFFFFF"/>
                  </a:solidFill>
                  <a:latin typeface="HK Grotesk Medium"/>
                </a:rPr>
                <a:t>La TIR es la tasa de descuento que hace que el VAN de un proyecto sea igual a cero. En otras palabras, representa la tasa de rendimiento que el proyecto generará. </a:t>
              </a:r>
            </a:p>
            <a:p>
              <a:pPr>
                <a:lnSpc>
                  <a:spcPts val="3022"/>
                </a:lnSpc>
              </a:pPr>
              <a:r>
                <a:rPr lang="en-US" sz="2324">
                  <a:solidFill>
                    <a:srgbClr val="009490"/>
                  </a:solidFill>
                  <a:latin typeface="HK Grotesk Medium"/>
                </a:rPr>
                <a:t>VAN</a:t>
              </a:r>
              <a:r>
                <a:rPr lang="en-US" sz="2324">
                  <a:solidFill>
                    <a:srgbClr val="FFFFFF"/>
                  </a:solidFill>
                  <a:latin typeface="HK Grotesk Medium"/>
                </a:rPr>
                <a:t> </a:t>
              </a:r>
              <a:r>
                <a:rPr lang="en-US" sz="2324">
                  <a:solidFill>
                    <a:srgbClr val="009490"/>
                  </a:solidFill>
                  <a:latin typeface="HK Grotesk Medium"/>
                </a:rPr>
                <a:t>(TIR) = 0</a:t>
              </a:r>
            </a:p>
          </p:txBody>
        </p:sp>
      </p:grpSp>
      <p:sp>
        <p:nvSpPr>
          <p:cNvPr id="15" name="AutoShape 15"/>
          <p:cNvSpPr/>
          <p:nvPr/>
        </p:nvSpPr>
        <p:spPr>
          <a:xfrm>
            <a:off x="9763683" y="-5598575"/>
            <a:ext cx="0" cy="16230600"/>
          </a:xfrm>
          <a:prstGeom prst="line">
            <a:avLst/>
          </a:prstGeom>
          <a:ln w="9525" cap="flat">
            <a:solidFill>
              <a:srgbClr val="BDC2C5"/>
            </a:solidFill>
            <a:prstDash val="solid"/>
            <a:headEnd type="none" w="sm" len="sm"/>
            <a:tailEnd type="none" w="sm" len="sm"/>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AutoShape 2"/>
          <p:cNvSpPr/>
          <p:nvPr/>
        </p:nvSpPr>
        <p:spPr>
          <a:xfrm>
            <a:off x="1028700" y="1690688"/>
            <a:ext cx="16230600" cy="0"/>
          </a:xfrm>
          <a:prstGeom prst="line">
            <a:avLst/>
          </a:prstGeom>
          <a:ln w="9525" cap="flat">
            <a:solidFill>
              <a:srgbClr val="BDC2C5"/>
            </a:solidFill>
            <a:prstDash val="solid"/>
            <a:headEnd type="none" w="sm" len="sm"/>
            <a:tailEnd type="none" w="sm" len="sm"/>
          </a:ln>
        </p:spPr>
      </p:sp>
      <p:sp>
        <p:nvSpPr>
          <p:cNvPr id="3" name="Freeform 3"/>
          <p:cNvSpPr/>
          <p:nvPr/>
        </p:nvSpPr>
        <p:spPr>
          <a:xfrm>
            <a:off x="8738848" y="2265045"/>
            <a:ext cx="221409" cy="1932940"/>
          </a:xfrm>
          <a:custGeom>
            <a:avLst/>
            <a:gdLst/>
            <a:ahLst/>
            <a:cxnLst/>
            <a:rect l="l" t="t" r="r" b="b"/>
            <a:pathLst>
              <a:path w="221409" h="1932940">
                <a:moveTo>
                  <a:pt x="0" y="0"/>
                </a:moveTo>
                <a:lnTo>
                  <a:pt x="221409" y="0"/>
                </a:lnTo>
                <a:lnTo>
                  <a:pt x="221409" y="1932940"/>
                </a:lnTo>
                <a:lnTo>
                  <a:pt x="0" y="19329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9398407" y="2276629"/>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Presupuesto de Ventas</a:t>
            </a:r>
          </a:p>
        </p:txBody>
      </p:sp>
      <p:sp>
        <p:nvSpPr>
          <p:cNvPr id="5" name="TextBox 5"/>
          <p:cNvSpPr txBox="1"/>
          <p:nvPr/>
        </p:nvSpPr>
        <p:spPr>
          <a:xfrm>
            <a:off x="9398407" y="2780184"/>
            <a:ext cx="5175802"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Presupuesto de Produccion</a:t>
            </a:r>
          </a:p>
        </p:txBody>
      </p:sp>
      <p:sp>
        <p:nvSpPr>
          <p:cNvPr id="6" name="TextBox 6"/>
          <p:cNvSpPr txBox="1"/>
          <p:nvPr/>
        </p:nvSpPr>
        <p:spPr>
          <a:xfrm>
            <a:off x="9398407" y="3283739"/>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Presupuesto de Compras</a:t>
            </a:r>
          </a:p>
        </p:txBody>
      </p:sp>
      <p:sp>
        <p:nvSpPr>
          <p:cNvPr id="7" name="TextBox 7"/>
          <p:cNvSpPr txBox="1"/>
          <p:nvPr/>
        </p:nvSpPr>
        <p:spPr>
          <a:xfrm>
            <a:off x="9398407" y="3766974"/>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Presupuesto de Gastos</a:t>
            </a:r>
          </a:p>
        </p:txBody>
      </p:sp>
      <p:sp>
        <p:nvSpPr>
          <p:cNvPr id="8" name="TextBox 8"/>
          <p:cNvSpPr txBox="1"/>
          <p:nvPr/>
        </p:nvSpPr>
        <p:spPr>
          <a:xfrm>
            <a:off x="10368528" y="4683930"/>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Compra de Bienes de Uso</a:t>
            </a:r>
          </a:p>
        </p:txBody>
      </p:sp>
      <p:sp>
        <p:nvSpPr>
          <p:cNvPr id="9" name="Freeform 9"/>
          <p:cNvSpPr/>
          <p:nvPr/>
        </p:nvSpPr>
        <p:spPr>
          <a:xfrm>
            <a:off x="4460793" y="2124075"/>
            <a:ext cx="793790" cy="6929910"/>
          </a:xfrm>
          <a:custGeom>
            <a:avLst/>
            <a:gdLst/>
            <a:ahLst/>
            <a:cxnLst/>
            <a:rect l="l" t="t" r="r" b="b"/>
            <a:pathLst>
              <a:path w="793790" h="6929910">
                <a:moveTo>
                  <a:pt x="0" y="0"/>
                </a:moveTo>
                <a:lnTo>
                  <a:pt x="793789" y="0"/>
                </a:lnTo>
                <a:lnTo>
                  <a:pt x="793789" y="6929910"/>
                </a:lnTo>
                <a:lnTo>
                  <a:pt x="0" y="69299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TextBox 10"/>
          <p:cNvSpPr txBox="1"/>
          <p:nvPr/>
        </p:nvSpPr>
        <p:spPr>
          <a:xfrm>
            <a:off x="647700" y="361950"/>
            <a:ext cx="11095596" cy="1104900"/>
          </a:xfrm>
          <a:prstGeom prst="rect">
            <a:avLst/>
          </a:prstGeom>
        </p:spPr>
        <p:txBody>
          <a:bodyPr lIns="0" tIns="0" rIns="0" bIns="0" rtlCol="0" anchor="t">
            <a:spAutoFit/>
          </a:bodyPr>
          <a:lstStyle/>
          <a:p>
            <a:pPr marL="0" lvl="0" indent="0" algn="l">
              <a:lnSpc>
                <a:spcPts val="8640"/>
              </a:lnSpc>
              <a:spcBef>
                <a:spcPct val="0"/>
              </a:spcBef>
            </a:pPr>
            <a:r>
              <a:rPr lang="en-US" sz="7200">
                <a:solidFill>
                  <a:srgbClr val="009490"/>
                </a:solidFill>
                <a:latin typeface="HK Grotesk Bold"/>
              </a:rPr>
              <a:t>Sistema Presupuestario</a:t>
            </a:r>
          </a:p>
        </p:txBody>
      </p:sp>
      <p:sp>
        <p:nvSpPr>
          <p:cNvPr id="11" name="TextBox 11"/>
          <p:cNvSpPr txBox="1"/>
          <p:nvPr/>
        </p:nvSpPr>
        <p:spPr>
          <a:xfrm>
            <a:off x="5476163" y="4421993"/>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Presupuesto de Inversiones</a:t>
            </a:r>
          </a:p>
        </p:txBody>
      </p:sp>
      <p:sp>
        <p:nvSpPr>
          <p:cNvPr id="12" name="TextBox 12"/>
          <p:cNvSpPr txBox="1"/>
          <p:nvPr/>
        </p:nvSpPr>
        <p:spPr>
          <a:xfrm>
            <a:off x="5476163" y="2759864"/>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Presupuesto Operativo</a:t>
            </a:r>
          </a:p>
        </p:txBody>
      </p:sp>
      <p:sp>
        <p:nvSpPr>
          <p:cNvPr id="13" name="TextBox 13"/>
          <p:cNvSpPr txBox="1"/>
          <p:nvPr/>
        </p:nvSpPr>
        <p:spPr>
          <a:xfrm>
            <a:off x="1415505" y="4925548"/>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Sistema Presupuestario</a:t>
            </a:r>
          </a:p>
        </p:txBody>
      </p:sp>
      <p:sp>
        <p:nvSpPr>
          <p:cNvPr id="14" name="TextBox 14"/>
          <p:cNvSpPr txBox="1"/>
          <p:nvPr/>
        </p:nvSpPr>
        <p:spPr>
          <a:xfrm>
            <a:off x="5476163" y="6105378"/>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009490"/>
                </a:solidFill>
                <a:latin typeface="HK Grotesk Bold"/>
              </a:rPr>
              <a:t>Presupuesto Financiero</a:t>
            </a:r>
          </a:p>
        </p:txBody>
      </p:sp>
      <p:sp>
        <p:nvSpPr>
          <p:cNvPr id="15" name="TextBox 15"/>
          <p:cNvSpPr txBox="1"/>
          <p:nvPr/>
        </p:nvSpPr>
        <p:spPr>
          <a:xfrm>
            <a:off x="5476163" y="7788763"/>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Estados de Sintesis</a:t>
            </a:r>
          </a:p>
        </p:txBody>
      </p:sp>
      <p:sp>
        <p:nvSpPr>
          <p:cNvPr id="16" name="TextBox 16"/>
          <p:cNvSpPr txBox="1"/>
          <p:nvPr/>
        </p:nvSpPr>
        <p:spPr>
          <a:xfrm>
            <a:off x="9040583" y="6039806"/>
            <a:ext cx="6433180" cy="521335"/>
          </a:xfrm>
          <a:prstGeom prst="rect">
            <a:avLst/>
          </a:prstGeom>
        </p:spPr>
        <p:txBody>
          <a:bodyPr lIns="0" tIns="0" rIns="0" bIns="0" rtlCol="0" anchor="t">
            <a:spAutoFit/>
          </a:bodyPr>
          <a:lstStyle/>
          <a:p>
            <a:pPr>
              <a:lnSpc>
                <a:spcPts val="4160"/>
              </a:lnSpc>
              <a:spcBef>
                <a:spcPct val="0"/>
              </a:spcBef>
            </a:pPr>
            <a:r>
              <a:rPr lang="en-US" sz="3200">
                <a:solidFill>
                  <a:srgbClr val="009490"/>
                </a:solidFill>
                <a:latin typeface="HK Grotesk Bold"/>
              </a:rPr>
              <a:t>De Ingresos</a:t>
            </a:r>
          </a:p>
        </p:txBody>
      </p:sp>
      <p:sp>
        <p:nvSpPr>
          <p:cNvPr id="17" name="TextBox 17"/>
          <p:cNvSpPr txBox="1"/>
          <p:nvPr/>
        </p:nvSpPr>
        <p:spPr>
          <a:xfrm>
            <a:off x="9040583" y="6629253"/>
            <a:ext cx="6433180" cy="521335"/>
          </a:xfrm>
          <a:prstGeom prst="rect">
            <a:avLst/>
          </a:prstGeom>
        </p:spPr>
        <p:txBody>
          <a:bodyPr lIns="0" tIns="0" rIns="0" bIns="0" rtlCol="0" anchor="t">
            <a:spAutoFit/>
          </a:bodyPr>
          <a:lstStyle/>
          <a:p>
            <a:pPr>
              <a:lnSpc>
                <a:spcPts val="4160"/>
              </a:lnSpc>
              <a:spcBef>
                <a:spcPct val="0"/>
              </a:spcBef>
            </a:pPr>
            <a:r>
              <a:rPr lang="en-US" sz="3200">
                <a:solidFill>
                  <a:srgbClr val="009490"/>
                </a:solidFill>
                <a:latin typeface="HK Grotesk Bold"/>
              </a:rPr>
              <a:t>De Egresos</a:t>
            </a:r>
          </a:p>
        </p:txBody>
      </p:sp>
      <p:sp>
        <p:nvSpPr>
          <p:cNvPr id="18" name="TextBox 18"/>
          <p:cNvSpPr txBox="1"/>
          <p:nvPr/>
        </p:nvSpPr>
        <p:spPr>
          <a:xfrm>
            <a:off x="9040583" y="7787478"/>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Cuadro de resultados proforma</a:t>
            </a:r>
          </a:p>
        </p:txBody>
      </p:sp>
      <p:sp>
        <p:nvSpPr>
          <p:cNvPr id="19" name="TextBox 19"/>
          <p:cNvSpPr txBox="1"/>
          <p:nvPr/>
        </p:nvSpPr>
        <p:spPr>
          <a:xfrm>
            <a:off x="9040583" y="8291033"/>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Balance general Proforma</a:t>
            </a:r>
          </a:p>
        </p:txBody>
      </p:sp>
      <p:sp>
        <p:nvSpPr>
          <p:cNvPr id="20" name="AutoShape 20"/>
          <p:cNvSpPr/>
          <p:nvPr/>
        </p:nvSpPr>
        <p:spPr>
          <a:xfrm flipH="1">
            <a:off x="8586448" y="4982698"/>
            <a:ext cx="1496330" cy="0"/>
          </a:xfrm>
          <a:prstGeom prst="line">
            <a:avLst/>
          </a:prstGeom>
          <a:ln w="38100" cap="flat">
            <a:solidFill>
              <a:srgbClr val="FFFFFF"/>
            </a:solidFill>
            <a:prstDash val="solid"/>
            <a:headEnd type="none" w="sm" len="sm"/>
            <a:tailEnd type="arrow" w="med" len="sm"/>
          </a:ln>
        </p:spPr>
      </p:sp>
      <p:sp>
        <p:nvSpPr>
          <p:cNvPr id="21" name="Freeform 21"/>
          <p:cNvSpPr/>
          <p:nvPr/>
        </p:nvSpPr>
        <p:spPr>
          <a:xfrm>
            <a:off x="8586448" y="5891700"/>
            <a:ext cx="168385" cy="1470025"/>
          </a:xfrm>
          <a:custGeom>
            <a:avLst/>
            <a:gdLst/>
            <a:ahLst/>
            <a:cxnLst/>
            <a:rect l="l" t="t" r="r" b="b"/>
            <a:pathLst>
              <a:path w="168385" h="1470025">
                <a:moveTo>
                  <a:pt x="0" y="0"/>
                </a:moveTo>
                <a:lnTo>
                  <a:pt x="168385" y="0"/>
                </a:lnTo>
                <a:lnTo>
                  <a:pt x="168385" y="1470025"/>
                </a:lnTo>
                <a:lnTo>
                  <a:pt x="0" y="14700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2" name="Freeform 22"/>
          <p:cNvSpPr/>
          <p:nvPr/>
        </p:nvSpPr>
        <p:spPr>
          <a:xfrm>
            <a:off x="8586448" y="7583960"/>
            <a:ext cx="168385" cy="1470025"/>
          </a:xfrm>
          <a:custGeom>
            <a:avLst/>
            <a:gdLst/>
            <a:ahLst/>
            <a:cxnLst/>
            <a:rect l="l" t="t" r="r" b="b"/>
            <a:pathLst>
              <a:path w="168385" h="1470025">
                <a:moveTo>
                  <a:pt x="0" y="0"/>
                </a:moveTo>
                <a:lnTo>
                  <a:pt x="168385" y="0"/>
                </a:lnTo>
                <a:lnTo>
                  <a:pt x="168385" y="1470025"/>
                </a:lnTo>
                <a:lnTo>
                  <a:pt x="0" y="14700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AutoShape 2"/>
          <p:cNvSpPr/>
          <p:nvPr/>
        </p:nvSpPr>
        <p:spPr>
          <a:xfrm>
            <a:off x="1028700" y="2128838"/>
            <a:ext cx="16230600" cy="0"/>
          </a:xfrm>
          <a:prstGeom prst="line">
            <a:avLst/>
          </a:prstGeom>
          <a:ln w="9525" cap="flat">
            <a:solidFill>
              <a:srgbClr val="BDC2C5"/>
            </a:solidFill>
            <a:prstDash val="solid"/>
            <a:headEnd type="none" w="sm" len="sm"/>
            <a:tailEnd type="none" w="sm" len="sm"/>
          </a:ln>
        </p:spPr>
      </p:sp>
      <p:sp>
        <p:nvSpPr>
          <p:cNvPr id="3" name="TextBox 3"/>
          <p:cNvSpPr txBox="1"/>
          <p:nvPr/>
        </p:nvSpPr>
        <p:spPr>
          <a:xfrm>
            <a:off x="1028700" y="2535369"/>
            <a:ext cx="16230600" cy="2606993"/>
          </a:xfrm>
          <a:prstGeom prst="rect">
            <a:avLst/>
          </a:prstGeom>
        </p:spPr>
        <p:txBody>
          <a:bodyPr lIns="0" tIns="0" rIns="0" bIns="0" rtlCol="0" anchor="t">
            <a:spAutoFit/>
          </a:bodyPr>
          <a:lstStyle/>
          <a:p>
            <a:pPr>
              <a:lnSpc>
                <a:spcPts val="4192"/>
              </a:lnSpc>
            </a:pPr>
            <a:r>
              <a:rPr lang="en-US" sz="3224">
                <a:solidFill>
                  <a:srgbClr val="FFFFFF"/>
                </a:solidFill>
                <a:latin typeface="HK Grotesk"/>
              </a:rPr>
              <a:t>Un presupuesto financiero es una </a:t>
            </a:r>
            <a:r>
              <a:rPr lang="en-US" sz="3224">
                <a:solidFill>
                  <a:srgbClr val="FFFFFF"/>
                </a:solidFill>
                <a:latin typeface="HK Grotesk Bold"/>
              </a:rPr>
              <a:t>herramienta</a:t>
            </a:r>
            <a:r>
              <a:rPr lang="en-US" sz="3224">
                <a:solidFill>
                  <a:srgbClr val="FFFFFF"/>
                </a:solidFill>
                <a:latin typeface="HK Grotesk"/>
              </a:rPr>
              <a:t> que se utiliza para </a:t>
            </a:r>
            <a:r>
              <a:rPr lang="en-US" sz="3224">
                <a:solidFill>
                  <a:srgbClr val="FFFFFF"/>
                </a:solidFill>
                <a:latin typeface="HK Grotesk Bold"/>
              </a:rPr>
              <a:t>planificar y controlar</a:t>
            </a:r>
            <a:r>
              <a:rPr lang="en-US" sz="3224">
                <a:solidFill>
                  <a:srgbClr val="FFFFFF"/>
                </a:solidFill>
                <a:latin typeface="HK Grotesk"/>
              </a:rPr>
              <a:t> sus actividades financieras. El objetivo principal del presupuesto financiero es </a:t>
            </a:r>
            <a:r>
              <a:rPr lang="en-US" sz="3224">
                <a:solidFill>
                  <a:srgbClr val="FFFFFF"/>
                </a:solidFill>
                <a:latin typeface="HK Grotesk Bold"/>
              </a:rPr>
              <a:t>prever los ingresos, gastos y flujos de efectivo</a:t>
            </a:r>
            <a:r>
              <a:rPr lang="en-US" sz="3224">
                <a:solidFill>
                  <a:srgbClr val="FFFFFF"/>
                </a:solidFill>
                <a:latin typeface="HK Grotesk"/>
              </a:rPr>
              <a:t> de la organización para asegurarse de que se cumplan los objetivos financieros y para tomar decisiones informadas sobre la asignación de recursos.</a:t>
            </a:r>
          </a:p>
        </p:txBody>
      </p:sp>
      <p:sp>
        <p:nvSpPr>
          <p:cNvPr id="4" name="TextBox 4"/>
          <p:cNvSpPr txBox="1"/>
          <p:nvPr/>
        </p:nvSpPr>
        <p:spPr>
          <a:xfrm>
            <a:off x="1028700" y="855889"/>
            <a:ext cx="10845855" cy="1104900"/>
          </a:xfrm>
          <a:prstGeom prst="rect">
            <a:avLst/>
          </a:prstGeom>
        </p:spPr>
        <p:txBody>
          <a:bodyPr lIns="0" tIns="0" rIns="0" bIns="0" rtlCol="0" anchor="t">
            <a:spAutoFit/>
          </a:bodyPr>
          <a:lstStyle/>
          <a:p>
            <a:pPr marL="0" lvl="0" indent="0" algn="l">
              <a:lnSpc>
                <a:spcPts val="8640"/>
              </a:lnSpc>
              <a:spcBef>
                <a:spcPct val="0"/>
              </a:spcBef>
            </a:pPr>
            <a:r>
              <a:rPr lang="en-US" sz="7200">
                <a:solidFill>
                  <a:srgbClr val="009490"/>
                </a:solidFill>
                <a:latin typeface="HK Grotesk Bold"/>
              </a:rPr>
              <a:t>Presupuesto Financiero</a:t>
            </a:r>
          </a:p>
        </p:txBody>
      </p:sp>
      <p:sp>
        <p:nvSpPr>
          <p:cNvPr id="5" name="TextBox 5"/>
          <p:cNvSpPr txBox="1"/>
          <p:nvPr/>
        </p:nvSpPr>
        <p:spPr>
          <a:xfrm>
            <a:off x="1028700" y="5876126"/>
            <a:ext cx="16230600" cy="1466850"/>
          </a:xfrm>
          <a:prstGeom prst="rect">
            <a:avLst/>
          </a:prstGeom>
        </p:spPr>
        <p:txBody>
          <a:bodyPr lIns="0" tIns="0" rIns="0" bIns="0" rtlCol="0" anchor="t">
            <a:spAutoFit/>
          </a:bodyPr>
          <a:lstStyle/>
          <a:p>
            <a:pPr algn="ctr">
              <a:lnSpc>
                <a:spcPts val="3840"/>
              </a:lnSpc>
            </a:pPr>
            <a:r>
              <a:rPr lang="en-US" sz="3200">
                <a:solidFill>
                  <a:srgbClr val="009490"/>
                </a:solidFill>
                <a:latin typeface="HK Grotesk Bold"/>
              </a:rPr>
              <a:t>Facturas pendientes de cobro al inicio del período + Facturas del período (Presupuesto de Ventas) = Facturas a cobrar (Presupuesto de Cobranzas) + Facturas no cobradas al final del período</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32" r="-332" b="-5185"/>
            </a:stretch>
          </a:blipFill>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AutoShape 2"/>
          <p:cNvSpPr/>
          <p:nvPr/>
        </p:nvSpPr>
        <p:spPr>
          <a:xfrm>
            <a:off x="1028700" y="1690688"/>
            <a:ext cx="16230600" cy="0"/>
          </a:xfrm>
          <a:prstGeom prst="line">
            <a:avLst/>
          </a:prstGeom>
          <a:ln w="9525" cap="flat">
            <a:solidFill>
              <a:srgbClr val="BDC2C5"/>
            </a:solidFill>
            <a:prstDash val="solid"/>
            <a:headEnd type="none" w="sm" len="sm"/>
            <a:tailEnd type="none" w="sm" len="sm"/>
          </a:ln>
        </p:spPr>
      </p:sp>
      <p:sp>
        <p:nvSpPr>
          <p:cNvPr id="3" name="Freeform 3"/>
          <p:cNvSpPr/>
          <p:nvPr/>
        </p:nvSpPr>
        <p:spPr>
          <a:xfrm>
            <a:off x="8738848" y="2265045"/>
            <a:ext cx="221409" cy="1932940"/>
          </a:xfrm>
          <a:custGeom>
            <a:avLst/>
            <a:gdLst/>
            <a:ahLst/>
            <a:cxnLst/>
            <a:rect l="l" t="t" r="r" b="b"/>
            <a:pathLst>
              <a:path w="221409" h="1932940">
                <a:moveTo>
                  <a:pt x="0" y="0"/>
                </a:moveTo>
                <a:lnTo>
                  <a:pt x="221409" y="0"/>
                </a:lnTo>
                <a:lnTo>
                  <a:pt x="221409" y="1932940"/>
                </a:lnTo>
                <a:lnTo>
                  <a:pt x="0" y="19329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9398407" y="2276629"/>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Presupuesto de Ventas</a:t>
            </a:r>
          </a:p>
        </p:txBody>
      </p:sp>
      <p:sp>
        <p:nvSpPr>
          <p:cNvPr id="5" name="TextBox 5"/>
          <p:cNvSpPr txBox="1"/>
          <p:nvPr/>
        </p:nvSpPr>
        <p:spPr>
          <a:xfrm>
            <a:off x="9398407" y="2780184"/>
            <a:ext cx="5175802"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Presupuesto de Produccion</a:t>
            </a:r>
          </a:p>
        </p:txBody>
      </p:sp>
      <p:sp>
        <p:nvSpPr>
          <p:cNvPr id="6" name="TextBox 6"/>
          <p:cNvSpPr txBox="1"/>
          <p:nvPr/>
        </p:nvSpPr>
        <p:spPr>
          <a:xfrm>
            <a:off x="9398407" y="3283739"/>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Presupuesto de Compras</a:t>
            </a:r>
          </a:p>
        </p:txBody>
      </p:sp>
      <p:sp>
        <p:nvSpPr>
          <p:cNvPr id="7" name="TextBox 7"/>
          <p:cNvSpPr txBox="1"/>
          <p:nvPr/>
        </p:nvSpPr>
        <p:spPr>
          <a:xfrm>
            <a:off x="9398407" y="3766974"/>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Presupuesto de Gastos</a:t>
            </a:r>
          </a:p>
        </p:txBody>
      </p:sp>
      <p:sp>
        <p:nvSpPr>
          <p:cNvPr id="8" name="TextBox 8"/>
          <p:cNvSpPr txBox="1"/>
          <p:nvPr/>
        </p:nvSpPr>
        <p:spPr>
          <a:xfrm>
            <a:off x="10368528" y="4683930"/>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Compra de Bienes de Uso</a:t>
            </a:r>
          </a:p>
        </p:txBody>
      </p:sp>
      <p:sp>
        <p:nvSpPr>
          <p:cNvPr id="9" name="Freeform 9"/>
          <p:cNvSpPr/>
          <p:nvPr/>
        </p:nvSpPr>
        <p:spPr>
          <a:xfrm>
            <a:off x="4460793" y="2124075"/>
            <a:ext cx="793790" cy="6929910"/>
          </a:xfrm>
          <a:custGeom>
            <a:avLst/>
            <a:gdLst/>
            <a:ahLst/>
            <a:cxnLst/>
            <a:rect l="l" t="t" r="r" b="b"/>
            <a:pathLst>
              <a:path w="793790" h="6929910">
                <a:moveTo>
                  <a:pt x="0" y="0"/>
                </a:moveTo>
                <a:lnTo>
                  <a:pt x="793789" y="0"/>
                </a:lnTo>
                <a:lnTo>
                  <a:pt x="793789" y="6929910"/>
                </a:lnTo>
                <a:lnTo>
                  <a:pt x="0" y="69299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TextBox 10"/>
          <p:cNvSpPr txBox="1"/>
          <p:nvPr/>
        </p:nvSpPr>
        <p:spPr>
          <a:xfrm>
            <a:off x="647700" y="361950"/>
            <a:ext cx="11095596" cy="1104900"/>
          </a:xfrm>
          <a:prstGeom prst="rect">
            <a:avLst/>
          </a:prstGeom>
        </p:spPr>
        <p:txBody>
          <a:bodyPr lIns="0" tIns="0" rIns="0" bIns="0" rtlCol="0" anchor="t">
            <a:spAutoFit/>
          </a:bodyPr>
          <a:lstStyle/>
          <a:p>
            <a:pPr marL="0" lvl="0" indent="0" algn="l">
              <a:lnSpc>
                <a:spcPts val="8640"/>
              </a:lnSpc>
              <a:spcBef>
                <a:spcPct val="0"/>
              </a:spcBef>
            </a:pPr>
            <a:r>
              <a:rPr lang="en-US" sz="7200">
                <a:solidFill>
                  <a:srgbClr val="009490"/>
                </a:solidFill>
                <a:latin typeface="HK Grotesk Bold"/>
              </a:rPr>
              <a:t>Sistema Presupuestario</a:t>
            </a:r>
          </a:p>
        </p:txBody>
      </p:sp>
      <p:sp>
        <p:nvSpPr>
          <p:cNvPr id="11" name="TextBox 11"/>
          <p:cNvSpPr txBox="1"/>
          <p:nvPr/>
        </p:nvSpPr>
        <p:spPr>
          <a:xfrm>
            <a:off x="5476163" y="4421993"/>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Presupuesto de Inversiones</a:t>
            </a:r>
          </a:p>
        </p:txBody>
      </p:sp>
      <p:sp>
        <p:nvSpPr>
          <p:cNvPr id="12" name="TextBox 12"/>
          <p:cNvSpPr txBox="1"/>
          <p:nvPr/>
        </p:nvSpPr>
        <p:spPr>
          <a:xfrm>
            <a:off x="5476163" y="2759864"/>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Presupuesto Operativo</a:t>
            </a:r>
          </a:p>
        </p:txBody>
      </p:sp>
      <p:sp>
        <p:nvSpPr>
          <p:cNvPr id="13" name="TextBox 13"/>
          <p:cNvSpPr txBox="1"/>
          <p:nvPr/>
        </p:nvSpPr>
        <p:spPr>
          <a:xfrm>
            <a:off x="1415505" y="4925548"/>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Sistema Presupuestario</a:t>
            </a:r>
          </a:p>
        </p:txBody>
      </p:sp>
      <p:sp>
        <p:nvSpPr>
          <p:cNvPr id="14" name="TextBox 14"/>
          <p:cNvSpPr txBox="1"/>
          <p:nvPr/>
        </p:nvSpPr>
        <p:spPr>
          <a:xfrm>
            <a:off x="5476163" y="6105378"/>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Presupuesto Financiero</a:t>
            </a:r>
          </a:p>
        </p:txBody>
      </p:sp>
      <p:sp>
        <p:nvSpPr>
          <p:cNvPr id="15" name="TextBox 15"/>
          <p:cNvSpPr txBox="1"/>
          <p:nvPr/>
        </p:nvSpPr>
        <p:spPr>
          <a:xfrm>
            <a:off x="5476163" y="7788763"/>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009490"/>
                </a:solidFill>
                <a:latin typeface="HK Grotesk Bold"/>
              </a:rPr>
              <a:t>Estados de Sintesis</a:t>
            </a:r>
          </a:p>
        </p:txBody>
      </p:sp>
      <p:sp>
        <p:nvSpPr>
          <p:cNvPr id="16" name="TextBox 16"/>
          <p:cNvSpPr txBox="1"/>
          <p:nvPr/>
        </p:nvSpPr>
        <p:spPr>
          <a:xfrm>
            <a:off x="9040583" y="6039806"/>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De Ingresos</a:t>
            </a:r>
          </a:p>
        </p:txBody>
      </p:sp>
      <p:sp>
        <p:nvSpPr>
          <p:cNvPr id="17" name="TextBox 17"/>
          <p:cNvSpPr txBox="1"/>
          <p:nvPr/>
        </p:nvSpPr>
        <p:spPr>
          <a:xfrm>
            <a:off x="9040583" y="6629253"/>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De Egresos</a:t>
            </a:r>
          </a:p>
        </p:txBody>
      </p:sp>
      <p:sp>
        <p:nvSpPr>
          <p:cNvPr id="18" name="TextBox 18"/>
          <p:cNvSpPr txBox="1"/>
          <p:nvPr/>
        </p:nvSpPr>
        <p:spPr>
          <a:xfrm>
            <a:off x="9040583" y="7787478"/>
            <a:ext cx="6433180" cy="521335"/>
          </a:xfrm>
          <a:prstGeom prst="rect">
            <a:avLst/>
          </a:prstGeom>
        </p:spPr>
        <p:txBody>
          <a:bodyPr lIns="0" tIns="0" rIns="0" bIns="0" rtlCol="0" anchor="t">
            <a:spAutoFit/>
          </a:bodyPr>
          <a:lstStyle/>
          <a:p>
            <a:pPr>
              <a:lnSpc>
                <a:spcPts val="4160"/>
              </a:lnSpc>
              <a:spcBef>
                <a:spcPct val="0"/>
              </a:spcBef>
            </a:pPr>
            <a:r>
              <a:rPr lang="en-US" sz="3200">
                <a:solidFill>
                  <a:srgbClr val="009490"/>
                </a:solidFill>
                <a:latin typeface="HK Grotesk Bold"/>
              </a:rPr>
              <a:t>Cuadro de resultados proforma</a:t>
            </a:r>
          </a:p>
        </p:txBody>
      </p:sp>
      <p:sp>
        <p:nvSpPr>
          <p:cNvPr id="19" name="TextBox 19"/>
          <p:cNvSpPr txBox="1"/>
          <p:nvPr/>
        </p:nvSpPr>
        <p:spPr>
          <a:xfrm>
            <a:off x="9040583" y="8291033"/>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Balance general Proforma</a:t>
            </a:r>
          </a:p>
        </p:txBody>
      </p:sp>
      <p:sp>
        <p:nvSpPr>
          <p:cNvPr id="20" name="AutoShape 20"/>
          <p:cNvSpPr/>
          <p:nvPr/>
        </p:nvSpPr>
        <p:spPr>
          <a:xfrm flipH="1">
            <a:off x="8586448" y="4982698"/>
            <a:ext cx="1496330" cy="0"/>
          </a:xfrm>
          <a:prstGeom prst="line">
            <a:avLst/>
          </a:prstGeom>
          <a:ln w="38100" cap="flat">
            <a:solidFill>
              <a:srgbClr val="FFFFFF"/>
            </a:solidFill>
            <a:prstDash val="solid"/>
            <a:headEnd type="none" w="sm" len="sm"/>
            <a:tailEnd type="arrow" w="med" len="sm"/>
          </a:ln>
        </p:spPr>
      </p:sp>
      <p:sp>
        <p:nvSpPr>
          <p:cNvPr id="21" name="Freeform 21"/>
          <p:cNvSpPr/>
          <p:nvPr/>
        </p:nvSpPr>
        <p:spPr>
          <a:xfrm>
            <a:off x="8586448" y="5891700"/>
            <a:ext cx="168385" cy="1470025"/>
          </a:xfrm>
          <a:custGeom>
            <a:avLst/>
            <a:gdLst/>
            <a:ahLst/>
            <a:cxnLst/>
            <a:rect l="l" t="t" r="r" b="b"/>
            <a:pathLst>
              <a:path w="168385" h="1470025">
                <a:moveTo>
                  <a:pt x="0" y="0"/>
                </a:moveTo>
                <a:lnTo>
                  <a:pt x="168385" y="0"/>
                </a:lnTo>
                <a:lnTo>
                  <a:pt x="168385" y="1470025"/>
                </a:lnTo>
                <a:lnTo>
                  <a:pt x="0" y="14700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2" name="Freeform 22"/>
          <p:cNvSpPr/>
          <p:nvPr/>
        </p:nvSpPr>
        <p:spPr>
          <a:xfrm>
            <a:off x="8586448" y="7583960"/>
            <a:ext cx="168385" cy="1470025"/>
          </a:xfrm>
          <a:custGeom>
            <a:avLst/>
            <a:gdLst/>
            <a:ahLst/>
            <a:cxnLst/>
            <a:rect l="l" t="t" r="r" b="b"/>
            <a:pathLst>
              <a:path w="168385" h="1470025">
                <a:moveTo>
                  <a:pt x="0" y="0"/>
                </a:moveTo>
                <a:lnTo>
                  <a:pt x="168385" y="0"/>
                </a:lnTo>
                <a:lnTo>
                  <a:pt x="168385" y="1470025"/>
                </a:lnTo>
                <a:lnTo>
                  <a:pt x="0" y="14700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1019175"/>
            <a:ext cx="9770312" cy="1104900"/>
          </a:xfrm>
          <a:prstGeom prst="rect">
            <a:avLst/>
          </a:prstGeom>
        </p:spPr>
        <p:txBody>
          <a:bodyPr lIns="0" tIns="0" rIns="0" bIns="0" rtlCol="0" anchor="t">
            <a:spAutoFit/>
          </a:bodyPr>
          <a:lstStyle/>
          <a:p>
            <a:pPr marL="0" lvl="0" indent="0" algn="l">
              <a:lnSpc>
                <a:spcPts val="8640"/>
              </a:lnSpc>
              <a:spcBef>
                <a:spcPct val="0"/>
              </a:spcBef>
            </a:pPr>
            <a:r>
              <a:rPr lang="en-US" sz="7200">
                <a:solidFill>
                  <a:srgbClr val="009490"/>
                </a:solidFill>
                <a:latin typeface="HK Grotesk Bold"/>
              </a:rPr>
              <a:t>Estados de Síntesis</a:t>
            </a:r>
          </a:p>
        </p:txBody>
      </p:sp>
      <p:sp>
        <p:nvSpPr>
          <p:cNvPr id="3" name="TextBox 3"/>
          <p:cNvSpPr txBox="1"/>
          <p:nvPr/>
        </p:nvSpPr>
        <p:spPr>
          <a:xfrm>
            <a:off x="1028700" y="2950570"/>
            <a:ext cx="15367597" cy="3285335"/>
          </a:xfrm>
          <a:prstGeom prst="rect">
            <a:avLst/>
          </a:prstGeom>
        </p:spPr>
        <p:txBody>
          <a:bodyPr lIns="0" tIns="0" rIns="0" bIns="0" rtlCol="0" anchor="t">
            <a:spAutoFit/>
          </a:bodyPr>
          <a:lstStyle/>
          <a:p>
            <a:pPr marL="669953" lvl="1" indent="-334976">
              <a:lnSpc>
                <a:spcPts val="3723"/>
              </a:lnSpc>
              <a:buFont typeface="Arial"/>
              <a:buChar char="•"/>
            </a:pPr>
            <a:r>
              <a:rPr lang="en-US" sz="3103">
                <a:solidFill>
                  <a:srgbClr val="FFFFFF"/>
                </a:solidFill>
                <a:latin typeface="HK Grotesk Bold"/>
              </a:rPr>
              <a:t>Constituyen un resumen integrador de los presupuestos operativos, de inversiones y financiero, que se materializa en un Cuadro de Resultados proforma y en un Balance General proforma (estado de origen y de aplicación de fondos). De esta manera el Presupuesto tiene una utilidad más global que la que se obtiene con los presupuestos parciales ya que estos documentos registran, de manera resumida, los efectos que se derivan tanto en la situación económica como en la patrimonial de las previsiones que se realizan en todas las áreas de la Empresa</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1019175"/>
            <a:ext cx="13158621" cy="1104900"/>
          </a:xfrm>
          <a:prstGeom prst="rect">
            <a:avLst/>
          </a:prstGeom>
        </p:spPr>
        <p:txBody>
          <a:bodyPr lIns="0" tIns="0" rIns="0" bIns="0" rtlCol="0" anchor="t">
            <a:spAutoFit/>
          </a:bodyPr>
          <a:lstStyle/>
          <a:p>
            <a:pPr marL="0" lvl="0" indent="0" algn="l">
              <a:lnSpc>
                <a:spcPts val="8640"/>
              </a:lnSpc>
              <a:spcBef>
                <a:spcPct val="0"/>
              </a:spcBef>
            </a:pPr>
            <a:r>
              <a:rPr lang="en-US" sz="7200">
                <a:solidFill>
                  <a:srgbClr val="009490"/>
                </a:solidFill>
                <a:latin typeface="HK Grotesk Bold"/>
              </a:rPr>
              <a:t>Cuadro de Resultados Proforma</a:t>
            </a:r>
          </a:p>
        </p:txBody>
      </p:sp>
      <p:sp>
        <p:nvSpPr>
          <p:cNvPr id="3" name="TextBox 3"/>
          <p:cNvSpPr txBox="1"/>
          <p:nvPr/>
        </p:nvSpPr>
        <p:spPr>
          <a:xfrm>
            <a:off x="1028700" y="3042146"/>
            <a:ext cx="15367597" cy="1881416"/>
          </a:xfrm>
          <a:prstGeom prst="rect">
            <a:avLst/>
          </a:prstGeom>
        </p:spPr>
        <p:txBody>
          <a:bodyPr lIns="0" tIns="0" rIns="0" bIns="0" rtlCol="0" anchor="t">
            <a:spAutoFit/>
          </a:bodyPr>
          <a:lstStyle/>
          <a:p>
            <a:pPr marL="669953" lvl="1" indent="-334976">
              <a:lnSpc>
                <a:spcPts val="3723"/>
              </a:lnSpc>
              <a:buFont typeface="Arial"/>
              <a:buChar char="•"/>
            </a:pPr>
            <a:r>
              <a:rPr lang="en-US" sz="3103">
                <a:solidFill>
                  <a:srgbClr val="FFFFFF"/>
                </a:solidFill>
                <a:latin typeface="HK Grotesk Bold"/>
              </a:rPr>
              <a:t>Con este cuadro se obtiene la expectativa de beneficios esperados por la empresa en el ejercicio económico a presupuestar. Este cuadro de resultados nos permite pronosticar el futuro, a diferencia del cuadro de resultados proveniente de la contabilidad general, que se refiere al pasado.</a:t>
            </a:r>
          </a:p>
        </p:txBody>
      </p:sp>
      <p:sp>
        <p:nvSpPr>
          <p:cNvPr id="4" name="TextBox 4"/>
          <p:cNvSpPr txBox="1"/>
          <p:nvPr/>
        </p:nvSpPr>
        <p:spPr>
          <a:xfrm>
            <a:off x="1028700" y="5514470"/>
            <a:ext cx="15367597" cy="1413443"/>
          </a:xfrm>
          <a:prstGeom prst="rect">
            <a:avLst/>
          </a:prstGeom>
        </p:spPr>
        <p:txBody>
          <a:bodyPr lIns="0" tIns="0" rIns="0" bIns="0" rtlCol="0" anchor="t">
            <a:spAutoFit/>
          </a:bodyPr>
          <a:lstStyle/>
          <a:p>
            <a:pPr marL="669953" lvl="1" indent="-334976">
              <a:lnSpc>
                <a:spcPts val="3723"/>
              </a:lnSpc>
              <a:buFont typeface="Arial"/>
              <a:buChar char="•"/>
            </a:pPr>
            <a:r>
              <a:rPr lang="en-US" sz="3103">
                <a:solidFill>
                  <a:srgbClr val="FFFFFF"/>
                </a:solidFill>
                <a:latin typeface="HK Grotesk Bold"/>
              </a:rPr>
              <a:t>Se elabora a partir de los distintos presupuestos parciales (ventas, gastos de comercialización, materias primas, producción, gastos indirectos de fabricación, gastos fijos de estructura) y el calculo de las amortizaciones de los bienes de uso.</a:t>
            </a:r>
          </a:p>
        </p:txBody>
      </p:sp>
      <p:sp>
        <p:nvSpPr>
          <p:cNvPr id="5" name="TextBox 5"/>
          <p:cNvSpPr txBox="1"/>
          <p:nvPr/>
        </p:nvSpPr>
        <p:spPr>
          <a:xfrm>
            <a:off x="1480478" y="7842313"/>
            <a:ext cx="15327045" cy="1095375"/>
          </a:xfrm>
          <a:prstGeom prst="rect">
            <a:avLst/>
          </a:prstGeom>
        </p:spPr>
        <p:txBody>
          <a:bodyPr lIns="0" tIns="0" rIns="0" bIns="0" rtlCol="0" anchor="t">
            <a:spAutoFit/>
          </a:bodyPr>
          <a:lstStyle/>
          <a:p>
            <a:pPr algn="ctr">
              <a:lnSpc>
                <a:spcPts val="4320"/>
              </a:lnSpc>
              <a:spcBef>
                <a:spcPct val="0"/>
              </a:spcBef>
            </a:pPr>
            <a:r>
              <a:rPr lang="en-US" sz="3600">
                <a:solidFill>
                  <a:srgbClr val="009490"/>
                </a:solidFill>
                <a:latin typeface="HK Grotesk Bold"/>
              </a:rPr>
              <a:t>Costo de Ventas = Presupuesto de producción terminada del período + Stock final – Stock inicial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AutoShape 2"/>
          <p:cNvSpPr/>
          <p:nvPr/>
        </p:nvSpPr>
        <p:spPr>
          <a:xfrm>
            <a:off x="1028700" y="1690688"/>
            <a:ext cx="16230600" cy="0"/>
          </a:xfrm>
          <a:prstGeom prst="line">
            <a:avLst/>
          </a:prstGeom>
          <a:ln w="9525" cap="flat">
            <a:solidFill>
              <a:srgbClr val="BDC2C5"/>
            </a:solidFill>
            <a:prstDash val="solid"/>
            <a:headEnd type="none" w="sm" len="sm"/>
            <a:tailEnd type="none" w="sm" len="sm"/>
          </a:ln>
        </p:spPr>
      </p:sp>
      <p:sp>
        <p:nvSpPr>
          <p:cNvPr id="3" name="Freeform 3"/>
          <p:cNvSpPr/>
          <p:nvPr/>
        </p:nvSpPr>
        <p:spPr>
          <a:xfrm>
            <a:off x="8738848" y="2265045"/>
            <a:ext cx="221409" cy="1932940"/>
          </a:xfrm>
          <a:custGeom>
            <a:avLst/>
            <a:gdLst/>
            <a:ahLst/>
            <a:cxnLst/>
            <a:rect l="l" t="t" r="r" b="b"/>
            <a:pathLst>
              <a:path w="221409" h="1932940">
                <a:moveTo>
                  <a:pt x="0" y="0"/>
                </a:moveTo>
                <a:lnTo>
                  <a:pt x="221409" y="0"/>
                </a:lnTo>
                <a:lnTo>
                  <a:pt x="221409" y="1932940"/>
                </a:lnTo>
                <a:lnTo>
                  <a:pt x="0" y="19329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9398407" y="2276629"/>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Presupuesto de Ventas</a:t>
            </a:r>
          </a:p>
        </p:txBody>
      </p:sp>
      <p:sp>
        <p:nvSpPr>
          <p:cNvPr id="5" name="TextBox 5"/>
          <p:cNvSpPr txBox="1"/>
          <p:nvPr/>
        </p:nvSpPr>
        <p:spPr>
          <a:xfrm>
            <a:off x="9398407" y="2780184"/>
            <a:ext cx="5175802"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Presupuesto de Produccion</a:t>
            </a:r>
          </a:p>
        </p:txBody>
      </p:sp>
      <p:sp>
        <p:nvSpPr>
          <p:cNvPr id="6" name="TextBox 6"/>
          <p:cNvSpPr txBox="1"/>
          <p:nvPr/>
        </p:nvSpPr>
        <p:spPr>
          <a:xfrm>
            <a:off x="9398407" y="3283739"/>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Presupuesto de Compras</a:t>
            </a:r>
          </a:p>
        </p:txBody>
      </p:sp>
      <p:sp>
        <p:nvSpPr>
          <p:cNvPr id="7" name="TextBox 7"/>
          <p:cNvSpPr txBox="1"/>
          <p:nvPr/>
        </p:nvSpPr>
        <p:spPr>
          <a:xfrm>
            <a:off x="9398407" y="3766974"/>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Presupuesto de Gastos</a:t>
            </a:r>
          </a:p>
        </p:txBody>
      </p:sp>
      <p:sp>
        <p:nvSpPr>
          <p:cNvPr id="8" name="TextBox 8"/>
          <p:cNvSpPr txBox="1"/>
          <p:nvPr/>
        </p:nvSpPr>
        <p:spPr>
          <a:xfrm>
            <a:off x="10368528" y="4683930"/>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Compra de Bienes de Uso</a:t>
            </a:r>
          </a:p>
        </p:txBody>
      </p:sp>
      <p:sp>
        <p:nvSpPr>
          <p:cNvPr id="9" name="Freeform 9"/>
          <p:cNvSpPr/>
          <p:nvPr/>
        </p:nvSpPr>
        <p:spPr>
          <a:xfrm>
            <a:off x="4460793" y="2124075"/>
            <a:ext cx="793790" cy="6929910"/>
          </a:xfrm>
          <a:custGeom>
            <a:avLst/>
            <a:gdLst/>
            <a:ahLst/>
            <a:cxnLst/>
            <a:rect l="l" t="t" r="r" b="b"/>
            <a:pathLst>
              <a:path w="793790" h="6929910">
                <a:moveTo>
                  <a:pt x="0" y="0"/>
                </a:moveTo>
                <a:lnTo>
                  <a:pt x="793789" y="0"/>
                </a:lnTo>
                <a:lnTo>
                  <a:pt x="793789" y="6929910"/>
                </a:lnTo>
                <a:lnTo>
                  <a:pt x="0" y="69299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TextBox 10"/>
          <p:cNvSpPr txBox="1"/>
          <p:nvPr/>
        </p:nvSpPr>
        <p:spPr>
          <a:xfrm>
            <a:off x="647700" y="361950"/>
            <a:ext cx="11095596" cy="1104900"/>
          </a:xfrm>
          <a:prstGeom prst="rect">
            <a:avLst/>
          </a:prstGeom>
        </p:spPr>
        <p:txBody>
          <a:bodyPr lIns="0" tIns="0" rIns="0" bIns="0" rtlCol="0" anchor="t">
            <a:spAutoFit/>
          </a:bodyPr>
          <a:lstStyle/>
          <a:p>
            <a:pPr marL="0" lvl="0" indent="0" algn="l">
              <a:lnSpc>
                <a:spcPts val="8640"/>
              </a:lnSpc>
              <a:spcBef>
                <a:spcPct val="0"/>
              </a:spcBef>
            </a:pPr>
            <a:r>
              <a:rPr lang="en-US" sz="7200">
                <a:solidFill>
                  <a:srgbClr val="009490"/>
                </a:solidFill>
                <a:latin typeface="HK Grotesk Bold"/>
              </a:rPr>
              <a:t>Sistema Presupuestario</a:t>
            </a:r>
          </a:p>
        </p:txBody>
      </p:sp>
      <p:sp>
        <p:nvSpPr>
          <p:cNvPr id="11" name="TextBox 11"/>
          <p:cNvSpPr txBox="1"/>
          <p:nvPr/>
        </p:nvSpPr>
        <p:spPr>
          <a:xfrm>
            <a:off x="5476163" y="4421993"/>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Presupuesto de Inversiones</a:t>
            </a:r>
          </a:p>
        </p:txBody>
      </p:sp>
      <p:sp>
        <p:nvSpPr>
          <p:cNvPr id="12" name="TextBox 12"/>
          <p:cNvSpPr txBox="1"/>
          <p:nvPr/>
        </p:nvSpPr>
        <p:spPr>
          <a:xfrm>
            <a:off x="5476163" y="2759864"/>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Presupuesto Operativo</a:t>
            </a:r>
          </a:p>
        </p:txBody>
      </p:sp>
      <p:sp>
        <p:nvSpPr>
          <p:cNvPr id="13" name="TextBox 13"/>
          <p:cNvSpPr txBox="1"/>
          <p:nvPr/>
        </p:nvSpPr>
        <p:spPr>
          <a:xfrm>
            <a:off x="1415505" y="4925548"/>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Sistema Presupuestario</a:t>
            </a:r>
          </a:p>
        </p:txBody>
      </p:sp>
      <p:sp>
        <p:nvSpPr>
          <p:cNvPr id="14" name="TextBox 14"/>
          <p:cNvSpPr txBox="1"/>
          <p:nvPr/>
        </p:nvSpPr>
        <p:spPr>
          <a:xfrm>
            <a:off x="5476163" y="6105378"/>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FFFFFF"/>
                </a:solidFill>
                <a:latin typeface="HK Grotesk Bold"/>
              </a:rPr>
              <a:t>Presupuesto Financiero</a:t>
            </a:r>
          </a:p>
        </p:txBody>
      </p:sp>
      <p:sp>
        <p:nvSpPr>
          <p:cNvPr id="15" name="TextBox 15"/>
          <p:cNvSpPr txBox="1"/>
          <p:nvPr/>
        </p:nvSpPr>
        <p:spPr>
          <a:xfrm>
            <a:off x="5476163" y="7788763"/>
            <a:ext cx="2823707" cy="1045210"/>
          </a:xfrm>
          <a:prstGeom prst="rect">
            <a:avLst/>
          </a:prstGeom>
        </p:spPr>
        <p:txBody>
          <a:bodyPr lIns="0" tIns="0" rIns="0" bIns="0" rtlCol="0" anchor="t">
            <a:spAutoFit/>
          </a:bodyPr>
          <a:lstStyle/>
          <a:p>
            <a:pPr algn="ctr">
              <a:lnSpc>
                <a:spcPts val="4160"/>
              </a:lnSpc>
              <a:spcBef>
                <a:spcPct val="0"/>
              </a:spcBef>
            </a:pPr>
            <a:r>
              <a:rPr lang="en-US" sz="3200">
                <a:solidFill>
                  <a:srgbClr val="009490"/>
                </a:solidFill>
                <a:latin typeface="HK Grotesk Bold"/>
              </a:rPr>
              <a:t>Estados de Sintesis</a:t>
            </a:r>
          </a:p>
        </p:txBody>
      </p:sp>
      <p:sp>
        <p:nvSpPr>
          <p:cNvPr id="16" name="TextBox 16"/>
          <p:cNvSpPr txBox="1"/>
          <p:nvPr/>
        </p:nvSpPr>
        <p:spPr>
          <a:xfrm>
            <a:off x="9040583" y="6039806"/>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De Ingresos</a:t>
            </a:r>
          </a:p>
        </p:txBody>
      </p:sp>
      <p:sp>
        <p:nvSpPr>
          <p:cNvPr id="17" name="TextBox 17"/>
          <p:cNvSpPr txBox="1"/>
          <p:nvPr/>
        </p:nvSpPr>
        <p:spPr>
          <a:xfrm>
            <a:off x="9040583" y="6629253"/>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De Egresos</a:t>
            </a:r>
          </a:p>
        </p:txBody>
      </p:sp>
      <p:sp>
        <p:nvSpPr>
          <p:cNvPr id="18" name="TextBox 18"/>
          <p:cNvSpPr txBox="1"/>
          <p:nvPr/>
        </p:nvSpPr>
        <p:spPr>
          <a:xfrm>
            <a:off x="9040583" y="7787478"/>
            <a:ext cx="6433180" cy="521335"/>
          </a:xfrm>
          <a:prstGeom prst="rect">
            <a:avLst/>
          </a:prstGeom>
        </p:spPr>
        <p:txBody>
          <a:bodyPr lIns="0" tIns="0" rIns="0" bIns="0" rtlCol="0" anchor="t">
            <a:spAutoFit/>
          </a:bodyPr>
          <a:lstStyle/>
          <a:p>
            <a:pPr>
              <a:lnSpc>
                <a:spcPts val="4160"/>
              </a:lnSpc>
              <a:spcBef>
                <a:spcPct val="0"/>
              </a:spcBef>
            </a:pPr>
            <a:r>
              <a:rPr lang="en-US" sz="3200">
                <a:solidFill>
                  <a:srgbClr val="FFFFFF"/>
                </a:solidFill>
                <a:latin typeface="HK Grotesk Bold"/>
              </a:rPr>
              <a:t>Cuadro de resultados proforma</a:t>
            </a:r>
          </a:p>
        </p:txBody>
      </p:sp>
      <p:sp>
        <p:nvSpPr>
          <p:cNvPr id="19" name="TextBox 19"/>
          <p:cNvSpPr txBox="1"/>
          <p:nvPr/>
        </p:nvSpPr>
        <p:spPr>
          <a:xfrm>
            <a:off x="9040583" y="8291033"/>
            <a:ext cx="6433180" cy="521335"/>
          </a:xfrm>
          <a:prstGeom prst="rect">
            <a:avLst/>
          </a:prstGeom>
        </p:spPr>
        <p:txBody>
          <a:bodyPr lIns="0" tIns="0" rIns="0" bIns="0" rtlCol="0" anchor="t">
            <a:spAutoFit/>
          </a:bodyPr>
          <a:lstStyle/>
          <a:p>
            <a:pPr>
              <a:lnSpc>
                <a:spcPts val="4160"/>
              </a:lnSpc>
              <a:spcBef>
                <a:spcPct val="0"/>
              </a:spcBef>
            </a:pPr>
            <a:r>
              <a:rPr lang="en-US" sz="3200">
                <a:solidFill>
                  <a:srgbClr val="009490"/>
                </a:solidFill>
                <a:latin typeface="HK Grotesk Bold"/>
              </a:rPr>
              <a:t>Balance general Proforma</a:t>
            </a:r>
          </a:p>
        </p:txBody>
      </p:sp>
      <p:sp>
        <p:nvSpPr>
          <p:cNvPr id="20" name="AutoShape 20"/>
          <p:cNvSpPr/>
          <p:nvPr/>
        </p:nvSpPr>
        <p:spPr>
          <a:xfrm flipH="1">
            <a:off x="8586448" y="4982698"/>
            <a:ext cx="1496330" cy="0"/>
          </a:xfrm>
          <a:prstGeom prst="line">
            <a:avLst/>
          </a:prstGeom>
          <a:ln w="38100" cap="flat">
            <a:solidFill>
              <a:srgbClr val="FFFFFF"/>
            </a:solidFill>
            <a:prstDash val="solid"/>
            <a:headEnd type="none" w="sm" len="sm"/>
            <a:tailEnd type="arrow" w="med" len="sm"/>
          </a:ln>
        </p:spPr>
      </p:sp>
      <p:sp>
        <p:nvSpPr>
          <p:cNvPr id="21" name="Freeform 21"/>
          <p:cNvSpPr/>
          <p:nvPr/>
        </p:nvSpPr>
        <p:spPr>
          <a:xfrm>
            <a:off x="8586448" y="5891700"/>
            <a:ext cx="168385" cy="1470025"/>
          </a:xfrm>
          <a:custGeom>
            <a:avLst/>
            <a:gdLst/>
            <a:ahLst/>
            <a:cxnLst/>
            <a:rect l="l" t="t" r="r" b="b"/>
            <a:pathLst>
              <a:path w="168385" h="1470025">
                <a:moveTo>
                  <a:pt x="0" y="0"/>
                </a:moveTo>
                <a:lnTo>
                  <a:pt x="168385" y="0"/>
                </a:lnTo>
                <a:lnTo>
                  <a:pt x="168385" y="1470025"/>
                </a:lnTo>
                <a:lnTo>
                  <a:pt x="0" y="14700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2" name="Freeform 22"/>
          <p:cNvSpPr/>
          <p:nvPr/>
        </p:nvSpPr>
        <p:spPr>
          <a:xfrm>
            <a:off x="8586448" y="7583960"/>
            <a:ext cx="168385" cy="1470025"/>
          </a:xfrm>
          <a:custGeom>
            <a:avLst/>
            <a:gdLst/>
            <a:ahLst/>
            <a:cxnLst/>
            <a:rect l="l" t="t" r="r" b="b"/>
            <a:pathLst>
              <a:path w="168385" h="1470025">
                <a:moveTo>
                  <a:pt x="0" y="0"/>
                </a:moveTo>
                <a:lnTo>
                  <a:pt x="168385" y="0"/>
                </a:lnTo>
                <a:lnTo>
                  <a:pt x="168385" y="1470025"/>
                </a:lnTo>
                <a:lnTo>
                  <a:pt x="0" y="14700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1019175"/>
            <a:ext cx="13158621" cy="1104900"/>
          </a:xfrm>
          <a:prstGeom prst="rect">
            <a:avLst/>
          </a:prstGeom>
        </p:spPr>
        <p:txBody>
          <a:bodyPr lIns="0" tIns="0" rIns="0" bIns="0" rtlCol="0" anchor="t">
            <a:spAutoFit/>
          </a:bodyPr>
          <a:lstStyle/>
          <a:p>
            <a:pPr marL="0" lvl="0" indent="0" algn="l">
              <a:lnSpc>
                <a:spcPts val="8640"/>
              </a:lnSpc>
              <a:spcBef>
                <a:spcPct val="0"/>
              </a:spcBef>
            </a:pPr>
            <a:r>
              <a:rPr lang="en-US" sz="7200">
                <a:solidFill>
                  <a:srgbClr val="009490"/>
                </a:solidFill>
                <a:latin typeface="HK Grotesk Bold"/>
              </a:rPr>
              <a:t>Balance General Proforma</a:t>
            </a:r>
          </a:p>
        </p:txBody>
      </p:sp>
      <p:sp>
        <p:nvSpPr>
          <p:cNvPr id="3" name="TextBox 3"/>
          <p:cNvSpPr txBox="1"/>
          <p:nvPr/>
        </p:nvSpPr>
        <p:spPr>
          <a:xfrm>
            <a:off x="1028700" y="3042146"/>
            <a:ext cx="15367597" cy="1881416"/>
          </a:xfrm>
          <a:prstGeom prst="rect">
            <a:avLst/>
          </a:prstGeom>
        </p:spPr>
        <p:txBody>
          <a:bodyPr lIns="0" tIns="0" rIns="0" bIns="0" rtlCol="0" anchor="t">
            <a:spAutoFit/>
          </a:bodyPr>
          <a:lstStyle/>
          <a:p>
            <a:pPr marL="669953" lvl="1" indent="-334976">
              <a:lnSpc>
                <a:spcPts val="3723"/>
              </a:lnSpc>
              <a:buFont typeface="Arial"/>
              <a:buChar char="•"/>
            </a:pPr>
            <a:r>
              <a:rPr lang="en-US" sz="3103">
                <a:solidFill>
                  <a:srgbClr val="FFFFFF"/>
                </a:solidFill>
                <a:latin typeface="HK Grotesk Bold"/>
              </a:rPr>
              <a:t>Representa la síntesis presupuestaria de los bienes, derechos, obligaciones y del Patrimonio Neto esperado por la empresa al final del periodo presupuestado. Permite obtener la misma información que facilita el Balance General, cuando se elabora a través de la Contabilidad General.</a:t>
            </a:r>
          </a:p>
        </p:txBody>
      </p:sp>
      <p:sp>
        <p:nvSpPr>
          <p:cNvPr id="4" name="TextBox 4"/>
          <p:cNvSpPr txBox="1"/>
          <p:nvPr/>
        </p:nvSpPr>
        <p:spPr>
          <a:xfrm>
            <a:off x="1028700" y="5514470"/>
            <a:ext cx="15367597" cy="945471"/>
          </a:xfrm>
          <a:prstGeom prst="rect">
            <a:avLst/>
          </a:prstGeom>
        </p:spPr>
        <p:txBody>
          <a:bodyPr lIns="0" tIns="0" rIns="0" bIns="0" rtlCol="0" anchor="t">
            <a:spAutoFit/>
          </a:bodyPr>
          <a:lstStyle/>
          <a:p>
            <a:pPr marL="669953" lvl="1" indent="-334976">
              <a:lnSpc>
                <a:spcPts val="3723"/>
              </a:lnSpc>
              <a:buFont typeface="Arial"/>
              <a:buChar char="•"/>
            </a:pPr>
            <a:r>
              <a:rPr lang="en-US" sz="3103">
                <a:solidFill>
                  <a:srgbClr val="FFFFFF"/>
                </a:solidFill>
                <a:latin typeface="HK Grotesk Bold"/>
              </a:rPr>
              <a:t>Se sintetizan las diversas informaciones obtenidas en la elaboración de los diferentes presupuestos parciales.</a:t>
            </a:r>
          </a:p>
        </p:txBody>
      </p:sp>
      <p:sp>
        <p:nvSpPr>
          <p:cNvPr id="5" name="TextBox 5"/>
          <p:cNvSpPr txBox="1"/>
          <p:nvPr/>
        </p:nvSpPr>
        <p:spPr>
          <a:xfrm>
            <a:off x="1028700" y="7050491"/>
            <a:ext cx="15367597" cy="1413443"/>
          </a:xfrm>
          <a:prstGeom prst="rect">
            <a:avLst/>
          </a:prstGeom>
        </p:spPr>
        <p:txBody>
          <a:bodyPr lIns="0" tIns="0" rIns="0" bIns="0" rtlCol="0" anchor="t">
            <a:spAutoFit/>
          </a:bodyPr>
          <a:lstStyle/>
          <a:p>
            <a:pPr marL="669953" lvl="1" indent="-334976">
              <a:lnSpc>
                <a:spcPts val="3723"/>
              </a:lnSpc>
              <a:buFont typeface="Arial"/>
              <a:buChar char="•"/>
            </a:pPr>
            <a:r>
              <a:rPr lang="en-US" sz="3103">
                <a:solidFill>
                  <a:srgbClr val="FFFFFF"/>
                </a:solidFill>
                <a:latin typeface="HK Grotesk Bold"/>
              </a:rPr>
              <a:t>La diferencia con el cuadro de resultados proforma radica en que no resulta necesario elaborarlo para periodos inferiores al año, dado que interesa saber cuál es la situación patrimonial al final del año.</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7208137"/>
            <a:ext cx="18288000" cy="3078863"/>
            <a:chOff x="0" y="0"/>
            <a:chExt cx="15913967" cy="2679184"/>
          </a:xfrm>
        </p:grpSpPr>
        <p:sp>
          <p:nvSpPr>
            <p:cNvPr id="3" name="Freeform 3"/>
            <p:cNvSpPr/>
            <p:nvPr/>
          </p:nvSpPr>
          <p:spPr>
            <a:xfrm>
              <a:off x="0" y="0"/>
              <a:ext cx="15913967" cy="2679184"/>
            </a:xfrm>
            <a:custGeom>
              <a:avLst/>
              <a:gdLst/>
              <a:ahLst/>
              <a:cxnLst/>
              <a:rect l="l" t="t" r="r" b="b"/>
              <a:pathLst>
                <a:path w="15913967" h="2679184">
                  <a:moveTo>
                    <a:pt x="0" y="0"/>
                  </a:moveTo>
                  <a:lnTo>
                    <a:pt x="15913967" y="0"/>
                  </a:lnTo>
                  <a:lnTo>
                    <a:pt x="15913967" y="2679184"/>
                  </a:lnTo>
                  <a:lnTo>
                    <a:pt x="0" y="2679184"/>
                  </a:lnTo>
                  <a:close/>
                </a:path>
              </a:pathLst>
            </a:custGeom>
            <a:solidFill>
              <a:srgbClr val="BDC2C5"/>
            </a:solidFill>
          </p:spPr>
        </p:sp>
      </p:grpSp>
      <p:grpSp>
        <p:nvGrpSpPr>
          <p:cNvPr id="4" name="Group 4"/>
          <p:cNvGrpSpPr/>
          <p:nvPr/>
        </p:nvGrpSpPr>
        <p:grpSpPr>
          <a:xfrm>
            <a:off x="8302249" y="0"/>
            <a:ext cx="9985751" cy="7208137"/>
            <a:chOff x="0" y="0"/>
            <a:chExt cx="3377896" cy="2438308"/>
          </a:xfrm>
        </p:grpSpPr>
        <p:sp>
          <p:nvSpPr>
            <p:cNvPr id="5" name="Freeform 5"/>
            <p:cNvSpPr/>
            <p:nvPr/>
          </p:nvSpPr>
          <p:spPr>
            <a:xfrm>
              <a:off x="0" y="0"/>
              <a:ext cx="3377896" cy="2438308"/>
            </a:xfrm>
            <a:custGeom>
              <a:avLst/>
              <a:gdLst/>
              <a:ahLst/>
              <a:cxnLst/>
              <a:rect l="l" t="t" r="r" b="b"/>
              <a:pathLst>
                <a:path w="3377896" h="2438308">
                  <a:moveTo>
                    <a:pt x="0" y="0"/>
                  </a:moveTo>
                  <a:lnTo>
                    <a:pt x="3377896" y="0"/>
                  </a:lnTo>
                  <a:lnTo>
                    <a:pt x="3377896" y="2438308"/>
                  </a:lnTo>
                  <a:lnTo>
                    <a:pt x="0" y="2438308"/>
                  </a:lnTo>
                  <a:close/>
                </a:path>
              </a:pathLst>
            </a:custGeom>
            <a:solidFill>
              <a:srgbClr val="009490"/>
            </a:solidFill>
          </p:spPr>
        </p:sp>
      </p:grpSp>
      <p:grpSp>
        <p:nvGrpSpPr>
          <p:cNvPr id="6" name="Group 6"/>
          <p:cNvGrpSpPr/>
          <p:nvPr/>
        </p:nvGrpSpPr>
        <p:grpSpPr>
          <a:xfrm>
            <a:off x="0" y="0"/>
            <a:ext cx="8302249" cy="7208137"/>
            <a:chOff x="0" y="0"/>
            <a:chExt cx="2808415" cy="2438308"/>
          </a:xfrm>
        </p:grpSpPr>
        <p:sp>
          <p:nvSpPr>
            <p:cNvPr id="7" name="Freeform 7"/>
            <p:cNvSpPr/>
            <p:nvPr/>
          </p:nvSpPr>
          <p:spPr>
            <a:xfrm>
              <a:off x="0" y="0"/>
              <a:ext cx="2808415" cy="2438308"/>
            </a:xfrm>
            <a:custGeom>
              <a:avLst/>
              <a:gdLst/>
              <a:ahLst/>
              <a:cxnLst/>
              <a:rect l="l" t="t" r="r" b="b"/>
              <a:pathLst>
                <a:path w="2808415" h="2438308">
                  <a:moveTo>
                    <a:pt x="0" y="0"/>
                  </a:moveTo>
                  <a:lnTo>
                    <a:pt x="2808415" y="0"/>
                  </a:lnTo>
                  <a:lnTo>
                    <a:pt x="2808415" y="2438308"/>
                  </a:lnTo>
                  <a:lnTo>
                    <a:pt x="0" y="2438308"/>
                  </a:lnTo>
                  <a:close/>
                </a:path>
              </a:pathLst>
            </a:custGeom>
            <a:solidFill>
              <a:srgbClr val="000000"/>
            </a:solidFill>
          </p:spPr>
        </p:sp>
      </p:grpSp>
      <p:sp>
        <p:nvSpPr>
          <p:cNvPr id="8" name="TextBox 8"/>
          <p:cNvSpPr txBox="1"/>
          <p:nvPr/>
        </p:nvSpPr>
        <p:spPr>
          <a:xfrm>
            <a:off x="1340040" y="1028700"/>
            <a:ext cx="5622170" cy="1428750"/>
          </a:xfrm>
          <a:prstGeom prst="rect">
            <a:avLst/>
          </a:prstGeom>
        </p:spPr>
        <p:txBody>
          <a:bodyPr lIns="0" tIns="0" rIns="0" bIns="0" rtlCol="0" anchor="t">
            <a:spAutoFit/>
          </a:bodyPr>
          <a:lstStyle/>
          <a:p>
            <a:pPr algn="ctr">
              <a:lnSpc>
                <a:spcPts val="5625"/>
              </a:lnSpc>
            </a:pPr>
            <a:r>
              <a:rPr lang="en-US" sz="4687">
                <a:solidFill>
                  <a:srgbClr val="FFFFFF"/>
                </a:solidFill>
                <a:latin typeface="HK Grotesk Bold"/>
              </a:rPr>
              <a:t>Obtencion del Balance Proforma</a:t>
            </a:r>
          </a:p>
        </p:txBody>
      </p:sp>
      <p:sp>
        <p:nvSpPr>
          <p:cNvPr id="9" name="TextBox 9"/>
          <p:cNvSpPr txBox="1"/>
          <p:nvPr/>
        </p:nvSpPr>
        <p:spPr>
          <a:xfrm>
            <a:off x="234819" y="3315217"/>
            <a:ext cx="7832611" cy="3267075"/>
          </a:xfrm>
          <a:prstGeom prst="rect">
            <a:avLst/>
          </a:prstGeom>
        </p:spPr>
        <p:txBody>
          <a:bodyPr lIns="0" tIns="0" rIns="0" bIns="0" rtlCol="0" anchor="t">
            <a:spAutoFit/>
          </a:bodyPr>
          <a:lstStyle/>
          <a:p>
            <a:pPr algn="ctr">
              <a:lnSpc>
                <a:spcPts val="3677"/>
              </a:lnSpc>
              <a:spcBef>
                <a:spcPct val="0"/>
              </a:spcBef>
            </a:pPr>
            <a:r>
              <a:rPr lang="en-US" sz="3064">
                <a:solidFill>
                  <a:srgbClr val="FFFFFF"/>
                </a:solidFill>
                <a:latin typeface="HK Grotesk Bold"/>
              </a:rPr>
              <a:t>• Presupuesto de Inversiones. </a:t>
            </a:r>
          </a:p>
          <a:p>
            <a:pPr algn="ctr">
              <a:lnSpc>
                <a:spcPts val="3677"/>
              </a:lnSpc>
              <a:spcBef>
                <a:spcPct val="0"/>
              </a:spcBef>
            </a:pPr>
            <a:r>
              <a:rPr lang="en-US" sz="3064">
                <a:solidFill>
                  <a:srgbClr val="FFFFFF"/>
                </a:solidFill>
                <a:latin typeface="HK Grotesk Bold"/>
              </a:rPr>
              <a:t>• Presupuesto de Compras. </a:t>
            </a:r>
          </a:p>
          <a:p>
            <a:pPr algn="ctr">
              <a:lnSpc>
                <a:spcPts val="3677"/>
              </a:lnSpc>
              <a:spcBef>
                <a:spcPct val="0"/>
              </a:spcBef>
            </a:pPr>
            <a:r>
              <a:rPr lang="en-US" sz="3064">
                <a:solidFill>
                  <a:srgbClr val="FFFFFF"/>
                </a:solidFill>
                <a:latin typeface="HK Grotesk Bold"/>
              </a:rPr>
              <a:t>• Presupuesto Financiero. </a:t>
            </a:r>
          </a:p>
          <a:p>
            <a:pPr algn="ctr">
              <a:lnSpc>
                <a:spcPts val="3677"/>
              </a:lnSpc>
              <a:spcBef>
                <a:spcPct val="0"/>
              </a:spcBef>
            </a:pPr>
            <a:r>
              <a:rPr lang="en-US" sz="3064">
                <a:solidFill>
                  <a:srgbClr val="FFFFFF"/>
                </a:solidFill>
                <a:latin typeface="HK Grotesk Bold"/>
              </a:rPr>
              <a:t>• Cuadro de Resultados pro-forma. </a:t>
            </a:r>
          </a:p>
          <a:p>
            <a:pPr algn="ctr">
              <a:lnSpc>
                <a:spcPts val="3677"/>
              </a:lnSpc>
              <a:spcBef>
                <a:spcPct val="0"/>
              </a:spcBef>
            </a:pPr>
            <a:r>
              <a:rPr lang="en-US" sz="3064">
                <a:solidFill>
                  <a:srgbClr val="FFFFFF"/>
                </a:solidFill>
                <a:latin typeface="HK Grotesk Bold"/>
              </a:rPr>
              <a:t>• Balance General al inicio del período. </a:t>
            </a:r>
          </a:p>
          <a:p>
            <a:pPr algn="ctr">
              <a:lnSpc>
                <a:spcPts val="3677"/>
              </a:lnSpc>
              <a:spcBef>
                <a:spcPct val="0"/>
              </a:spcBef>
            </a:pPr>
            <a:endParaRPr lang="en-US" sz="3064">
              <a:solidFill>
                <a:srgbClr val="FFFFFF"/>
              </a:solidFill>
              <a:latin typeface="HK Grotesk Bold"/>
            </a:endParaRPr>
          </a:p>
          <a:p>
            <a:pPr algn="ctr">
              <a:lnSpc>
                <a:spcPts val="3677"/>
              </a:lnSpc>
              <a:spcBef>
                <a:spcPct val="0"/>
              </a:spcBef>
            </a:pPr>
            <a:endParaRPr lang="en-US" sz="3064">
              <a:solidFill>
                <a:srgbClr val="FFFFFF"/>
              </a:solidFill>
              <a:latin typeface="HK Grotesk Bold"/>
            </a:endParaRPr>
          </a:p>
        </p:txBody>
      </p:sp>
      <p:sp>
        <p:nvSpPr>
          <p:cNvPr id="10" name="TextBox 10"/>
          <p:cNvSpPr txBox="1"/>
          <p:nvPr/>
        </p:nvSpPr>
        <p:spPr>
          <a:xfrm>
            <a:off x="10484040" y="1028700"/>
            <a:ext cx="5622170" cy="1428750"/>
          </a:xfrm>
          <a:prstGeom prst="rect">
            <a:avLst/>
          </a:prstGeom>
        </p:spPr>
        <p:txBody>
          <a:bodyPr lIns="0" tIns="0" rIns="0" bIns="0" rtlCol="0" anchor="t">
            <a:spAutoFit/>
          </a:bodyPr>
          <a:lstStyle/>
          <a:p>
            <a:pPr algn="ctr">
              <a:lnSpc>
                <a:spcPts val="5625"/>
              </a:lnSpc>
            </a:pPr>
            <a:r>
              <a:rPr lang="en-US" sz="4687">
                <a:solidFill>
                  <a:srgbClr val="000000"/>
                </a:solidFill>
                <a:latin typeface="HK Grotesk Bold"/>
              </a:rPr>
              <a:t>Saldo del Balance Proforma</a:t>
            </a:r>
          </a:p>
        </p:txBody>
      </p:sp>
      <p:sp>
        <p:nvSpPr>
          <p:cNvPr id="11" name="TextBox 11"/>
          <p:cNvSpPr txBox="1"/>
          <p:nvPr/>
        </p:nvSpPr>
        <p:spPr>
          <a:xfrm>
            <a:off x="8485145" y="3214061"/>
            <a:ext cx="9619960" cy="3180315"/>
          </a:xfrm>
          <a:prstGeom prst="rect">
            <a:avLst/>
          </a:prstGeom>
        </p:spPr>
        <p:txBody>
          <a:bodyPr lIns="0" tIns="0" rIns="0" bIns="0" rtlCol="0" anchor="t">
            <a:spAutoFit/>
          </a:bodyPr>
          <a:lstStyle/>
          <a:p>
            <a:pPr algn="ctr">
              <a:lnSpc>
                <a:spcPts val="4257"/>
              </a:lnSpc>
              <a:spcBef>
                <a:spcPct val="0"/>
              </a:spcBef>
            </a:pPr>
            <a:r>
              <a:rPr lang="en-US" sz="3040">
                <a:solidFill>
                  <a:srgbClr val="000000"/>
                </a:solidFill>
                <a:latin typeface="HK Grotesk"/>
              </a:rPr>
              <a:t> Se obtiene extrayendo el saldo de: </a:t>
            </a:r>
          </a:p>
          <a:p>
            <a:pPr algn="ctr">
              <a:lnSpc>
                <a:spcPts val="4257"/>
              </a:lnSpc>
              <a:spcBef>
                <a:spcPct val="0"/>
              </a:spcBef>
            </a:pPr>
            <a:r>
              <a:rPr lang="en-US" sz="3040">
                <a:solidFill>
                  <a:srgbClr val="000000"/>
                </a:solidFill>
                <a:latin typeface="HK Grotesk"/>
              </a:rPr>
              <a:t>• Cajas y Bancos: del presupuesto de financiero. </a:t>
            </a:r>
          </a:p>
          <a:p>
            <a:pPr algn="ctr">
              <a:lnSpc>
                <a:spcPts val="4257"/>
              </a:lnSpc>
              <a:spcBef>
                <a:spcPct val="0"/>
              </a:spcBef>
            </a:pPr>
            <a:r>
              <a:rPr lang="en-US" sz="3040">
                <a:solidFill>
                  <a:srgbClr val="000000"/>
                </a:solidFill>
                <a:latin typeface="HK Grotesk"/>
              </a:rPr>
              <a:t>• Existencias: a partir del presupuesto de compras y de la política de stock prevista. </a:t>
            </a:r>
          </a:p>
          <a:p>
            <a:pPr algn="ctr">
              <a:lnSpc>
                <a:spcPts val="4257"/>
              </a:lnSpc>
              <a:spcBef>
                <a:spcPct val="0"/>
              </a:spcBef>
            </a:pPr>
            <a:r>
              <a:rPr lang="en-US" sz="3040">
                <a:solidFill>
                  <a:srgbClr val="000000"/>
                </a:solidFill>
                <a:latin typeface="HK Grotesk"/>
              </a:rPr>
              <a:t>• Pérdidas y Ganancias: del Cuadro de Resultados proforma.</a:t>
            </a:r>
          </a:p>
        </p:txBody>
      </p:sp>
      <p:sp>
        <p:nvSpPr>
          <p:cNvPr id="12" name="TextBox 12"/>
          <p:cNvSpPr txBox="1"/>
          <p:nvPr/>
        </p:nvSpPr>
        <p:spPr>
          <a:xfrm>
            <a:off x="400480" y="7733016"/>
            <a:ext cx="7501290" cy="2284335"/>
          </a:xfrm>
          <a:prstGeom prst="rect">
            <a:avLst/>
          </a:prstGeom>
        </p:spPr>
        <p:txBody>
          <a:bodyPr lIns="0" tIns="0" rIns="0" bIns="0" rtlCol="0" anchor="t">
            <a:spAutoFit/>
          </a:bodyPr>
          <a:lstStyle/>
          <a:p>
            <a:pPr algn="ctr">
              <a:lnSpc>
                <a:spcPts val="3134"/>
              </a:lnSpc>
              <a:spcBef>
                <a:spcPct val="0"/>
              </a:spcBef>
            </a:pPr>
            <a:r>
              <a:rPr lang="en-US" sz="2239">
                <a:solidFill>
                  <a:srgbClr val="000000"/>
                </a:solidFill>
                <a:latin typeface="HK Grotesk"/>
              </a:rPr>
              <a:t> </a:t>
            </a:r>
          </a:p>
          <a:p>
            <a:pPr algn="ctr">
              <a:lnSpc>
                <a:spcPts val="2994"/>
              </a:lnSpc>
              <a:spcBef>
                <a:spcPct val="0"/>
              </a:spcBef>
            </a:pPr>
            <a:r>
              <a:rPr lang="en-US" sz="2139">
                <a:solidFill>
                  <a:srgbClr val="000000"/>
                </a:solidFill>
                <a:latin typeface="HK Grotesk"/>
              </a:rPr>
              <a:t>Se puede obtener  al añadir al saldo inicial procedente del Balance General los aumentos y las disminuciones previstas según los distintos presupuestos parciales al inicio del periodo de las cuentas de:</a:t>
            </a:r>
          </a:p>
          <a:p>
            <a:pPr algn="ctr">
              <a:lnSpc>
                <a:spcPts val="3348"/>
              </a:lnSpc>
              <a:spcBef>
                <a:spcPct val="0"/>
              </a:spcBef>
            </a:pPr>
            <a:endParaRPr lang="en-US" sz="2139">
              <a:solidFill>
                <a:srgbClr val="000000"/>
              </a:solidFill>
              <a:latin typeface="HK Grotesk"/>
            </a:endParaRPr>
          </a:p>
        </p:txBody>
      </p:sp>
      <p:sp>
        <p:nvSpPr>
          <p:cNvPr id="13" name="TextBox 13"/>
          <p:cNvSpPr txBox="1"/>
          <p:nvPr/>
        </p:nvSpPr>
        <p:spPr>
          <a:xfrm>
            <a:off x="10484040" y="7430162"/>
            <a:ext cx="5997306" cy="2556863"/>
          </a:xfrm>
          <a:prstGeom prst="rect">
            <a:avLst/>
          </a:prstGeom>
        </p:spPr>
        <p:txBody>
          <a:bodyPr lIns="0" tIns="0" rIns="0" bIns="0" rtlCol="0" anchor="t">
            <a:spAutoFit/>
          </a:bodyPr>
          <a:lstStyle/>
          <a:p>
            <a:pPr algn="ctr">
              <a:lnSpc>
                <a:spcPts val="3445"/>
              </a:lnSpc>
              <a:spcBef>
                <a:spcPct val="0"/>
              </a:spcBef>
            </a:pPr>
            <a:r>
              <a:rPr lang="en-US" sz="2461">
                <a:solidFill>
                  <a:srgbClr val="000000"/>
                </a:solidFill>
                <a:latin typeface="HK Grotesk"/>
              </a:rPr>
              <a:t>• Bienes de Uso. </a:t>
            </a:r>
          </a:p>
          <a:p>
            <a:pPr algn="ctr">
              <a:lnSpc>
                <a:spcPts val="3445"/>
              </a:lnSpc>
              <a:spcBef>
                <a:spcPct val="0"/>
              </a:spcBef>
            </a:pPr>
            <a:r>
              <a:rPr lang="en-US" sz="2461">
                <a:solidFill>
                  <a:srgbClr val="000000"/>
                </a:solidFill>
                <a:latin typeface="HK Grotesk"/>
              </a:rPr>
              <a:t>• Bienes Intangibles. </a:t>
            </a:r>
          </a:p>
          <a:p>
            <a:pPr algn="ctr">
              <a:lnSpc>
                <a:spcPts val="3445"/>
              </a:lnSpc>
              <a:spcBef>
                <a:spcPct val="0"/>
              </a:spcBef>
            </a:pPr>
            <a:r>
              <a:rPr lang="en-US" sz="2461">
                <a:solidFill>
                  <a:srgbClr val="000000"/>
                </a:solidFill>
                <a:latin typeface="HK Grotesk"/>
              </a:rPr>
              <a:t>• Amortizaciones Acumuladas. </a:t>
            </a:r>
          </a:p>
          <a:p>
            <a:pPr algn="ctr">
              <a:lnSpc>
                <a:spcPts val="3445"/>
              </a:lnSpc>
              <a:spcBef>
                <a:spcPct val="0"/>
              </a:spcBef>
            </a:pPr>
            <a:r>
              <a:rPr lang="en-US" sz="2461">
                <a:solidFill>
                  <a:srgbClr val="000000"/>
                </a:solidFill>
                <a:latin typeface="HK Grotesk"/>
              </a:rPr>
              <a:t>• Deudas de corto y de largo plazo. </a:t>
            </a:r>
          </a:p>
          <a:p>
            <a:pPr algn="ctr">
              <a:lnSpc>
                <a:spcPts val="3445"/>
              </a:lnSpc>
              <a:spcBef>
                <a:spcPct val="0"/>
              </a:spcBef>
            </a:pPr>
            <a:r>
              <a:rPr lang="en-US" sz="2461">
                <a:solidFill>
                  <a:srgbClr val="000000"/>
                </a:solidFill>
                <a:latin typeface="HK Grotesk"/>
              </a:rPr>
              <a:t>• Capital Social. </a:t>
            </a:r>
          </a:p>
          <a:p>
            <a:pPr algn="ctr">
              <a:lnSpc>
                <a:spcPts val="3445"/>
              </a:lnSpc>
              <a:spcBef>
                <a:spcPct val="0"/>
              </a:spcBef>
            </a:pPr>
            <a:r>
              <a:rPr lang="en-US" sz="2461">
                <a:solidFill>
                  <a:srgbClr val="000000"/>
                </a:solidFill>
                <a:latin typeface="HK Grotesk"/>
              </a:rPr>
              <a:t>• Reservas.</a:t>
            </a:r>
          </a:p>
        </p:txBody>
      </p:sp>
      <p:sp>
        <p:nvSpPr>
          <p:cNvPr id="14" name="TextBox 14"/>
          <p:cNvSpPr txBox="1"/>
          <p:nvPr/>
        </p:nvSpPr>
        <p:spPr>
          <a:xfrm>
            <a:off x="787430" y="7275309"/>
            <a:ext cx="7114340" cy="695325"/>
          </a:xfrm>
          <a:prstGeom prst="rect">
            <a:avLst/>
          </a:prstGeom>
        </p:spPr>
        <p:txBody>
          <a:bodyPr lIns="0" tIns="0" rIns="0" bIns="0" rtlCol="0" anchor="t">
            <a:spAutoFit/>
          </a:bodyPr>
          <a:lstStyle/>
          <a:p>
            <a:pPr algn="ctr">
              <a:lnSpc>
                <a:spcPts val="5423"/>
              </a:lnSpc>
            </a:pPr>
            <a:r>
              <a:rPr lang="en-US" sz="4519">
                <a:solidFill>
                  <a:srgbClr val="FFFFFF"/>
                </a:solidFill>
                <a:latin typeface="HK Grotesk Bold"/>
              </a:rPr>
              <a:t>Saldo final del Balance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1019175"/>
            <a:ext cx="9770312" cy="1104900"/>
          </a:xfrm>
          <a:prstGeom prst="rect">
            <a:avLst/>
          </a:prstGeom>
        </p:spPr>
        <p:txBody>
          <a:bodyPr lIns="0" tIns="0" rIns="0" bIns="0" rtlCol="0" anchor="t">
            <a:spAutoFit/>
          </a:bodyPr>
          <a:lstStyle/>
          <a:p>
            <a:pPr marL="0" lvl="0" indent="0" algn="l">
              <a:lnSpc>
                <a:spcPts val="8640"/>
              </a:lnSpc>
              <a:spcBef>
                <a:spcPct val="0"/>
              </a:spcBef>
            </a:pPr>
            <a:r>
              <a:rPr lang="en-US" sz="7200">
                <a:solidFill>
                  <a:srgbClr val="009490"/>
                </a:solidFill>
                <a:latin typeface="HK Grotesk Bold"/>
              </a:rPr>
              <a:t>Control Presupuestario</a:t>
            </a:r>
          </a:p>
        </p:txBody>
      </p:sp>
      <p:sp>
        <p:nvSpPr>
          <p:cNvPr id="3" name="TextBox 3"/>
          <p:cNvSpPr txBox="1"/>
          <p:nvPr/>
        </p:nvSpPr>
        <p:spPr>
          <a:xfrm>
            <a:off x="1028700" y="2950570"/>
            <a:ext cx="14610186" cy="1095375"/>
          </a:xfrm>
          <a:prstGeom prst="rect">
            <a:avLst/>
          </a:prstGeom>
        </p:spPr>
        <p:txBody>
          <a:bodyPr lIns="0" tIns="0" rIns="0" bIns="0" rtlCol="0" anchor="t">
            <a:spAutoFit/>
          </a:bodyPr>
          <a:lstStyle/>
          <a:p>
            <a:pPr marL="777255" lvl="1" indent="-388627">
              <a:lnSpc>
                <a:spcPts val="4320"/>
              </a:lnSpc>
              <a:buFont typeface="Arial"/>
              <a:buChar char="•"/>
            </a:pPr>
            <a:r>
              <a:rPr lang="en-US" sz="3600">
                <a:solidFill>
                  <a:srgbClr val="FFFFFF"/>
                </a:solidFill>
                <a:latin typeface="HK Grotesk Bold"/>
              </a:rPr>
              <a:t>Compara valores medidos de las variables economicas-financieras por actividad real con los determinados en los presupuestos</a:t>
            </a:r>
          </a:p>
        </p:txBody>
      </p:sp>
      <p:sp>
        <p:nvSpPr>
          <p:cNvPr id="4" name="TextBox 4"/>
          <p:cNvSpPr txBox="1"/>
          <p:nvPr/>
        </p:nvSpPr>
        <p:spPr>
          <a:xfrm>
            <a:off x="1028700" y="5369890"/>
            <a:ext cx="14610186" cy="552450"/>
          </a:xfrm>
          <a:prstGeom prst="rect">
            <a:avLst/>
          </a:prstGeom>
        </p:spPr>
        <p:txBody>
          <a:bodyPr lIns="0" tIns="0" rIns="0" bIns="0" rtlCol="0" anchor="t">
            <a:spAutoFit/>
          </a:bodyPr>
          <a:lstStyle/>
          <a:p>
            <a:pPr marL="777255" lvl="1" indent="-388627">
              <a:lnSpc>
                <a:spcPts val="4320"/>
              </a:lnSpc>
              <a:buFont typeface="Arial"/>
              <a:buChar char="•"/>
            </a:pPr>
            <a:r>
              <a:rPr lang="en-US" sz="3600">
                <a:solidFill>
                  <a:srgbClr val="FFFFFF"/>
                </a:solidFill>
                <a:latin typeface="HK Grotesk Bold"/>
              </a:rPr>
              <a:t>¿Cómo funciona? --&gt; Calculo de desviaciones</a:t>
            </a:r>
          </a:p>
        </p:txBody>
      </p:sp>
      <p:sp>
        <p:nvSpPr>
          <p:cNvPr id="5" name="TextBox 5"/>
          <p:cNvSpPr txBox="1"/>
          <p:nvPr/>
        </p:nvSpPr>
        <p:spPr>
          <a:xfrm>
            <a:off x="1028700" y="7246284"/>
            <a:ext cx="14610186" cy="552450"/>
          </a:xfrm>
          <a:prstGeom prst="rect">
            <a:avLst/>
          </a:prstGeom>
        </p:spPr>
        <p:txBody>
          <a:bodyPr lIns="0" tIns="0" rIns="0" bIns="0" rtlCol="0" anchor="t">
            <a:spAutoFit/>
          </a:bodyPr>
          <a:lstStyle/>
          <a:p>
            <a:pPr marL="777255" lvl="1" indent="-388627">
              <a:lnSpc>
                <a:spcPts val="4320"/>
              </a:lnSpc>
              <a:buFont typeface="Arial"/>
              <a:buChar char="•"/>
            </a:pPr>
            <a:r>
              <a:rPr lang="en-US" sz="3600">
                <a:solidFill>
                  <a:srgbClr val="FFFFFF"/>
                </a:solidFill>
                <a:latin typeface="HK Grotesk Bold"/>
              </a:rPr>
              <a:t>Función que cumple la dirección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1028700"/>
            <a:ext cx="16230600" cy="1123950"/>
          </a:xfrm>
          <a:prstGeom prst="rect">
            <a:avLst/>
          </a:prstGeom>
        </p:spPr>
        <p:txBody>
          <a:bodyPr lIns="0" tIns="0" rIns="0" bIns="0" rtlCol="0" anchor="t">
            <a:spAutoFit/>
          </a:bodyPr>
          <a:lstStyle/>
          <a:p>
            <a:pPr marL="0" lvl="0" indent="0" algn="l">
              <a:lnSpc>
                <a:spcPts val="8879"/>
              </a:lnSpc>
              <a:spcBef>
                <a:spcPct val="0"/>
              </a:spcBef>
            </a:pPr>
            <a:r>
              <a:rPr lang="en-US" sz="7399">
                <a:solidFill>
                  <a:srgbClr val="009490"/>
                </a:solidFill>
                <a:latin typeface="HK Grotesk Bold"/>
              </a:rPr>
              <a:t>Estapas del control presupuestario</a:t>
            </a:r>
          </a:p>
        </p:txBody>
      </p:sp>
      <p:sp>
        <p:nvSpPr>
          <p:cNvPr id="3" name="TextBox 3"/>
          <p:cNvSpPr txBox="1"/>
          <p:nvPr/>
        </p:nvSpPr>
        <p:spPr>
          <a:xfrm>
            <a:off x="1428842" y="3891286"/>
            <a:ext cx="5051304" cy="1638300"/>
          </a:xfrm>
          <a:prstGeom prst="rect">
            <a:avLst/>
          </a:prstGeom>
        </p:spPr>
        <p:txBody>
          <a:bodyPr lIns="0" tIns="0" rIns="0" bIns="0" rtlCol="0" anchor="t">
            <a:spAutoFit/>
          </a:bodyPr>
          <a:lstStyle/>
          <a:p>
            <a:pPr>
              <a:lnSpc>
                <a:spcPts val="4320"/>
              </a:lnSpc>
            </a:pPr>
            <a:r>
              <a:rPr lang="en-US" sz="3600">
                <a:solidFill>
                  <a:srgbClr val="FFFFFF"/>
                </a:solidFill>
                <a:latin typeface="HK Grotesk Bold"/>
              </a:rPr>
              <a:t>Comparación de los pronósticos con los resultados reales</a:t>
            </a:r>
          </a:p>
        </p:txBody>
      </p:sp>
      <p:sp>
        <p:nvSpPr>
          <p:cNvPr id="4" name="TextBox 4"/>
          <p:cNvSpPr txBox="1"/>
          <p:nvPr/>
        </p:nvSpPr>
        <p:spPr>
          <a:xfrm>
            <a:off x="7054694" y="3891286"/>
            <a:ext cx="5051304" cy="1095375"/>
          </a:xfrm>
          <a:prstGeom prst="rect">
            <a:avLst/>
          </a:prstGeom>
        </p:spPr>
        <p:txBody>
          <a:bodyPr lIns="0" tIns="0" rIns="0" bIns="0" rtlCol="0" anchor="t">
            <a:spAutoFit/>
          </a:bodyPr>
          <a:lstStyle/>
          <a:p>
            <a:pPr>
              <a:lnSpc>
                <a:spcPts val="4320"/>
              </a:lnSpc>
            </a:pPr>
            <a:r>
              <a:rPr lang="en-US" sz="3600">
                <a:solidFill>
                  <a:srgbClr val="FFFFFF"/>
                </a:solidFill>
                <a:latin typeface="HK Grotesk Bold"/>
              </a:rPr>
              <a:t>Análisis de las desviaciones</a:t>
            </a:r>
          </a:p>
        </p:txBody>
      </p:sp>
      <p:sp>
        <p:nvSpPr>
          <p:cNvPr id="5" name="TextBox 5"/>
          <p:cNvSpPr txBox="1"/>
          <p:nvPr/>
        </p:nvSpPr>
        <p:spPr>
          <a:xfrm>
            <a:off x="12680545" y="3891286"/>
            <a:ext cx="5051304" cy="1095375"/>
          </a:xfrm>
          <a:prstGeom prst="rect">
            <a:avLst/>
          </a:prstGeom>
        </p:spPr>
        <p:txBody>
          <a:bodyPr lIns="0" tIns="0" rIns="0" bIns="0" rtlCol="0" anchor="t">
            <a:spAutoFit/>
          </a:bodyPr>
          <a:lstStyle/>
          <a:p>
            <a:pPr>
              <a:lnSpc>
                <a:spcPts val="4320"/>
              </a:lnSpc>
            </a:pPr>
            <a:r>
              <a:rPr lang="en-US" sz="3600">
                <a:solidFill>
                  <a:srgbClr val="FFFFFF"/>
                </a:solidFill>
                <a:latin typeface="HK Grotesk Bold"/>
              </a:rPr>
              <a:t>Correción de las variaciones</a:t>
            </a:r>
          </a:p>
        </p:txBody>
      </p:sp>
      <p:sp>
        <p:nvSpPr>
          <p:cNvPr id="6" name="TextBox 6"/>
          <p:cNvSpPr txBox="1"/>
          <p:nvPr/>
        </p:nvSpPr>
        <p:spPr>
          <a:xfrm>
            <a:off x="1028700" y="5985783"/>
            <a:ext cx="5051304" cy="1671320"/>
          </a:xfrm>
          <a:prstGeom prst="rect">
            <a:avLst/>
          </a:prstGeom>
        </p:spPr>
        <p:txBody>
          <a:bodyPr lIns="0" tIns="0" rIns="0" bIns="0" rtlCol="0" anchor="t">
            <a:spAutoFit/>
          </a:bodyPr>
          <a:lstStyle/>
          <a:p>
            <a:pPr marL="690881" lvl="1" indent="-345440" algn="just">
              <a:lnSpc>
                <a:spcPts val="4480"/>
              </a:lnSpc>
              <a:buFont typeface="Arial"/>
              <a:buChar char="•"/>
            </a:pPr>
            <a:r>
              <a:rPr lang="en-US" sz="3200" u="none" strike="noStrike">
                <a:solidFill>
                  <a:srgbClr val="009490"/>
                </a:solidFill>
                <a:latin typeface="HK Grotesk Medium"/>
              </a:rPr>
              <a:t>Indice de ventas, precios, costo estandar, costo estimado, etc.</a:t>
            </a:r>
          </a:p>
        </p:txBody>
      </p:sp>
      <p:sp>
        <p:nvSpPr>
          <p:cNvPr id="7" name="TextBox 7"/>
          <p:cNvSpPr txBox="1"/>
          <p:nvPr/>
        </p:nvSpPr>
        <p:spPr>
          <a:xfrm>
            <a:off x="6480147" y="5948686"/>
            <a:ext cx="5051304" cy="3357245"/>
          </a:xfrm>
          <a:prstGeom prst="rect">
            <a:avLst/>
          </a:prstGeom>
        </p:spPr>
        <p:txBody>
          <a:bodyPr lIns="0" tIns="0" rIns="0" bIns="0" rtlCol="0" anchor="t">
            <a:spAutoFit/>
          </a:bodyPr>
          <a:lstStyle/>
          <a:p>
            <a:pPr marL="690881" lvl="1" indent="-345440" algn="just">
              <a:lnSpc>
                <a:spcPts val="4480"/>
              </a:lnSpc>
              <a:buFont typeface="Arial"/>
              <a:buChar char="•"/>
            </a:pPr>
            <a:r>
              <a:rPr lang="en-US" sz="3200" u="none" strike="noStrike">
                <a:solidFill>
                  <a:srgbClr val="009490"/>
                </a:solidFill>
                <a:latin typeface="HK Grotesk Medium"/>
              </a:rPr>
              <a:t>Atribuidas a un responsable</a:t>
            </a:r>
          </a:p>
          <a:p>
            <a:pPr marL="690881" lvl="1" indent="-345440" algn="just">
              <a:lnSpc>
                <a:spcPts val="4480"/>
              </a:lnSpc>
              <a:buFont typeface="Arial"/>
              <a:buChar char="•"/>
            </a:pPr>
            <a:r>
              <a:rPr lang="en-US" sz="3200" u="none" strike="noStrike">
                <a:solidFill>
                  <a:srgbClr val="009490"/>
                </a:solidFill>
                <a:latin typeface="HK Grotesk Medium"/>
              </a:rPr>
              <a:t>Desvio por: Variaciones en el volumen de actividad, en los precios, costos, etc.</a:t>
            </a:r>
          </a:p>
        </p:txBody>
      </p:sp>
      <p:sp>
        <p:nvSpPr>
          <p:cNvPr id="8" name="TextBox 8"/>
          <p:cNvSpPr txBox="1"/>
          <p:nvPr/>
        </p:nvSpPr>
        <p:spPr>
          <a:xfrm>
            <a:off x="12207996" y="5985783"/>
            <a:ext cx="5051304" cy="2233295"/>
          </a:xfrm>
          <a:prstGeom prst="rect">
            <a:avLst/>
          </a:prstGeom>
        </p:spPr>
        <p:txBody>
          <a:bodyPr lIns="0" tIns="0" rIns="0" bIns="0" rtlCol="0" anchor="t">
            <a:spAutoFit/>
          </a:bodyPr>
          <a:lstStyle/>
          <a:p>
            <a:pPr marL="690881" lvl="1" indent="-345440" algn="just">
              <a:lnSpc>
                <a:spcPts val="4480"/>
              </a:lnSpc>
              <a:buFont typeface="Arial"/>
              <a:buChar char="•"/>
            </a:pPr>
            <a:r>
              <a:rPr lang="en-US" sz="3200" u="none" strike="noStrike">
                <a:solidFill>
                  <a:srgbClr val="009490"/>
                </a:solidFill>
                <a:latin typeface="HK Grotesk Medium"/>
              </a:rPr>
              <a:t>Pueden ser modificar el presupuesto o rectificar en la línea de actuación de las distintas áreas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9531494" y="185094"/>
            <a:ext cx="7985134" cy="3501814"/>
          </a:xfrm>
          <a:custGeom>
            <a:avLst/>
            <a:gdLst/>
            <a:ahLst/>
            <a:cxnLst/>
            <a:rect l="l" t="t" r="r" b="b"/>
            <a:pathLst>
              <a:path w="7985134" h="3501814">
                <a:moveTo>
                  <a:pt x="0" y="0"/>
                </a:moveTo>
                <a:lnTo>
                  <a:pt x="7985134" y="0"/>
                </a:lnTo>
                <a:lnTo>
                  <a:pt x="7985134" y="3501814"/>
                </a:lnTo>
                <a:lnTo>
                  <a:pt x="0" y="3501814"/>
                </a:lnTo>
                <a:lnTo>
                  <a:pt x="0" y="0"/>
                </a:lnTo>
                <a:close/>
              </a:path>
            </a:pathLst>
          </a:custGeom>
          <a:blipFill>
            <a:blip r:embed="rId2"/>
            <a:stretch>
              <a:fillRect/>
            </a:stretch>
          </a:blipFill>
        </p:spPr>
      </p:sp>
      <p:sp>
        <p:nvSpPr>
          <p:cNvPr id="3" name="TextBox 3"/>
          <p:cNvSpPr txBox="1"/>
          <p:nvPr/>
        </p:nvSpPr>
        <p:spPr>
          <a:xfrm>
            <a:off x="1028700" y="1019175"/>
            <a:ext cx="14014950" cy="2200275"/>
          </a:xfrm>
          <a:prstGeom prst="rect">
            <a:avLst/>
          </a:prstGeom>
        </p:spPr>
        <p:txBody>
          <a:bodyPr lIns="0" tIns="0" rIns="0" bIns="0" rtlCol="0" anchor="t">
            <a:spAutoFit/>
          </a:bodyPr>
          <a:lstStyle/>
          <a:p>
            <a:pPr marL="0" lvl="0" indent="0" algn="l">
              <a:lnSpc>
                <a:spcPts val="8640"/>
              </a:lnSpc>
              <a:spcBef>
                <a:spcPct val="0"/>
              </a:spcBef>
            </a:pPr>
            <a:r>
              <a:rPr lang="en-US" sz="7200">
                <a:solidFill>
                  <a:srgbClr val="009490"/>
                </a:solidFill>
                <a:latin typeface="HK Grotesk Bold"/>
              </a:rPr>
              <a:t>Ventajas del control presupuestario</a:t>
            </a:r>
          </a:p>
        </p:txBody>
      </p:sp>
      <p:sp>
        <p:nvSpPr>
          <p:cNvPr id="4" name="TextBox 4"/>
          <p:cNvSpPr txBox="1"/>
          <p:nvPr/>
        </p:nvSpPr>
        <p:spPr>
          <a:xfrm>
            <a:off x="1933248" y="4282101"/>
            <a:ext cx="5723398" cy="1109345"/>
          </a:xfrm>
          <a:prstGeom prst="rect">
            <a:avLst/>
          </a:prstGeom>
        </p:spPr>
        <p:txBody>
          <a:bodyPr lIns="0" tIns="0" rIns="0" bIns="0" rtlCol="0" anchor="t">
            <a:spAutoFit/>
          </a:bodyPr>
          <a:lstStyle/>
          <a:p>
            <a:pPr algn="just">
              <a:lnSpc>
                <a:spcPts val="4480"/>
              </a:lnSpc>
            </a:pPr>
            <a:r>
              <a:rPr lang="en-US" sz="3200">
                <a:solidFill>
                  <a:srgbClr val="FFFFFF"/>
                </a:solidFill>
                <a:latin typeface="HK Grotesk Medium"/>
              </a:rPr>
              <a:t>Permite establecer previsiones razonables</a:t>
            </a:r>
          </a:p>
        </p:txBody>
      </p:sp>
      <p:sp>
        <p:nvSpPr>
          <p:cNvPr id="5" name="TextBox 5"/>
          <p:cNvSpPr txBox="1"/>
          <p:nvPr/>
        </p:nvSpPr>
        <p:spPr>
          <a:xfrm>
            <a:off x="10048548" y="4282101"/>
            <a:ext cx="5723398" cy="1109345"/>
          </a:xfrm>
          <a:prstGeom prst="rect">
            <a:avLst/>
          </a:prstGeom>
        </p:spPr>
        <p:txBody>
          <a:bodyPr lIns="0" tIns="0" rIns="0" bIns="0" rtlCol="0" anchor="t">
            <a:spAutoFit/>
          </a:bodyPr>
          <a:lstStyle/>
          <a:p>
            <a:pPr algn="just">
              <a:lnSpc>
                <a:spcPts val="4480"/>
              </a:lnSpc>
            </a:pPr>
            <a:r>
              <a:rPr lang="en-US" sz="3200">
                <a:solidFill>
                  <a:srgbClr val="FFFFFF"/>
                </a:solidFill>
                <a:latin typeface="HK Grotesk Medium"/>
              </a:rPr>
              <a:t>Funciona como instrumento de dirección</a:t>
            </a:r>
          </a:p>
        </p:txBody>
      </p:sp>
      <p:sp>
        <p:nvSpPr>
          <p:cNvPr id="6" name="TextBox 6"/>
          <p:cNvSpPr txBox="1"/>
          <p:nvPr/>
        </p:nvSpPr>
        <p:spPr>
          <a:xfrm>
            <a:off x="1933248" y="6174888"/>
            <a:ext cx="5723398" cy="1671320"/>
          </a:xfrm>
          <a:prstGeom prst="rect">
            <a:avLst/>
          </a:prstGeom>
        </p:spPr>
        <p:txBody>
          <a:bodyPr lIns="0" tIns="0" rIns="0" bIns="0" rtlCol="0" anchor="t">
            <a:spAutoFit/>
          </a:bodyPr>
          <a:lstStyle/>
          <a:p>
            <a:pPr algn="just">
              <a:lnSpc>
                <a:spcPts val="4480"/>
              </a:lnSpc>
            </a:pPr>
            <a:r>
              <a:rPr lang="en-US" sz="3200">
                <a:solidFill>
                  <a:srgbClr val="FFFFFF"/>
                </a:solidFill>
                <a:latin typeface="HK Grotesk Medium"/>
              </a:rPr>
              <a:t>Permite realizar análisis de los acontecimientos para modificar/actualizar programas</a:t>
            </a:r>
          </a:p>
        </p:txBody>
      </p:sp>
      <p:sp>
        <p:nvSpPr>
          <p:cNvPr id="7" name="TextBox 7"/>
          <p:cNvSpPr txBox="1"/>
          <p:nvPr/>
        </p:nvSpPr>
        <p:spPr>
          <a:xfrm>
            <a:off x="10048548" y="6174888"/>
            <a:ext cx="5723398" cy="1671320"/>
          </a:xfrm>
          <a:prstGeom prst="rect">
            <a:avLst/>
          </a:prstGeom>
        </p:spPr>
        <p:txBody>
          <a:bodyPr lIns="0" tIns="0" rIns="0" bIns="0" rtlCol="0" anchor="t">
            <a:spAutoFit/>
          </a:bodyPr>
          <a:lstStyle/>
          <a:p>
            <a:pPr algn="just">
              <a:lnSpc>
                <a:spcPts val="4480"/>
              </a:lnSpc>
            </a:pPr>
            <a:r>
              <a:rPr lang="en-US" sz="3200">
                <a:solidFill>
                  <a:srgbClr val="FFFFFF"/>
                </a:solidFill>
                <a:latin typeface="HK Grotesk Medium"/>
              </a:rPr>
              <a:t>Se racionaliza la toma de decisiones y el análisis de resultados</a:t>
            </a:r>
          </a:p>
        </p:txBody>
      </p:sp>
      <p:sp>
        <p:nvSpPr>
          <p:cNvPr id="8" name="TextBox 8"/>
          <p:cNvSpPr txBox="1"/>
          <p:nvPr/>
        </p:nvSpPr>
        <p:spPr>
          <a:xfrm>
            <a:off x="1933248" y="8710930"/>
            <a:ext cx="5723398" cy="1109345"/>
          </a:xfrm>
          <a:prstGeom prst="rect">
            <a:avLst/>
          </a:prstGeom>
        </p:spPr>
        <p:txBody>
          <a:bodyPr lIns="0" tIns="0" rIns="0" bIns="0" rtlCol="0" anchor="t">
            <a:spAutoFit/>
          </a:bodyPr>
          <a:lstStyle/>
          <a:p>
            <a:pPr algn="just">
              <a:lnSpc>
                <a:spcPts val="4480"/>
              </a:lnSpc>
            </a:pPr>
            <a:r>
              <a:rPr lang="en-US" sz="3200">
                <a:solidFill>
                  <a:srgbClr val="FFFFFF"/>
                </a:solidFill>
                <a:latin typeface="HK Grotesk Medium"/>
              </a:rPr>
              <a:t>Investiga las causas de variaciones</a:t>
            </a:r>
          </a:p>
        </p:txBody>
      </p:sp>
      <p:sp>
        <p:nvSpPr>
          <p:cNvPr id="9" name="TextBox 9"/>
          <p:cNvSpPr txBox="1"/>
          <p:nvPr/>
        </p:nvSpPr>
        <p:spPr>
          <a:xfrm>
            <a:off x="1028700" y="4282101"/>
            <a:ext cx="774988" cy="547370"/>
          </a:xfrm>
          <a:prstGeom prst="rect">
            <a:avLst/>
          </a:prstGeom>
        </p:spPr>
        <p:txBody>
          <a:bodyPr lIns="0" tIns="0" rIns="0" bIns="0" rtlCol="0" anchor="t">
            <a:spAutoFit/>
          </a:bodyPr>
          <a:lstStyle/>
          <a:p>
            <a:pPr algn="just">
              <a:lnSpc>
                <a:spcPts val="4480"/>
              </a:lnSpc>
            </a:pPr>
            <a:r>
              <a:rPr lang="en-US" sz="3200">
                <a:solidFill>
                  <a:srgbClr val="FFFFFF"/>
                </a:solidFill>
                <a:latin typeface="HK Grotesk Semi-Bold"/>
              </a:rPr>
              <a:t>01</a:t>
            </a:r>
          </a:p>
        </p:txBody>
      </p:sp>
      <p:sp>
        <p:nvSpPr>
          <p:cNvPr id="10" name="TextBox 10"/>
          <p:cNvSpPr txBox="1"/>
          <p:nvPr/>
        </p:nvSpPr>
        <p:spPr>
          <a:xfrm>
            <a:off x="9144000" y="4282101"/>
            <a:ext cx="774988" cy="547370"/>
          </a:xfrm>
          <a:prstGeom prst="rect">
            <a:avLst/>
          </a:prstGeom>
        </p:spPr>
        <p:txBody>
          <a:bodyPr lIns="0" tIns="0" rIns="0" bIns="0" rtlCol="0" anchor="t">
            <a:spAutoFit/>
          </a:bodyPr>
          <a:lstStyle/>
          <a:p>
            <a:pPr algn="just">
              <a:lnSpc>
                <a:spcPts val="4480"/>
              </a:lnSpc>
            </a:pPr>
            <a:r>
              <a:rPr lang="en-US" sz="3200">
                <a:solidFill>
                  <a:srgbClr val="FFFFFF"/>
                </a:solidFill>
                <a:latin typeface="HK Grotesk Semi-Bold"/>
              </a:rPr>
              <a:t>04</a:t>
            </a:r>
          </a:p>
        </p:txBody>
      </p:sp>
      <p:sp>
        <p:nvSpPr>
          <p:cNvPr id="11" name="TextBox 11"/>
          <p:cNvSpPr txBox="1"/>
          <p:nvPr/>
        </p:nvSpPr>
        <p:spPr>
          <a:xfrm>
            <a:off x="1028700" y="6174888"/>
            <a:ext cx="774988" cy="547370"/>
          </a:xfrm>
          <a:prstGeom prst="rect">
            <a:avLst/>
          </a:prstGeom>
        </p:spPr>
        <p:txBody>
          <a:bodyPr lIns="0" tIns="0" rIns="0" bIns="0" rtlCol="0" anchor="t">
            <a:spAutoFit/>
          </a:bodyPr>
          <a:lstStyle/>
          <a:p>
            <a:pPr algn="just">
              <a:lnSpc>
                <a:spcPts val="4480"/>
              </a:lnSpc>
            </a:pPr>
            <a:r>
              <a:rPr lang="en-US" sz="3200">
                <a:solidFill>
                  <a:srgbClr val="FFFFFF"/>
                </a:solidFill>
                <a:latin typeface="HK Grotesk Semi-Bold"/>
              </a:rPr>
              <a:t>02</a:t>
            </a:r>
          </a:p>
        </p:txBody>
      </p:sp>
      <p:sp>
        <p:nvSpPr>
          <p:cNvPr id="12" name="TextBox 12"/>
          <p:cNvSpPr txBox="1"/>
          <p:nvPr/>
        </p:nvSpPr>
        <p:spPr>
          <a:xfrm>
            <a:off x="9144000" y="6174888"/>
            <a:ext cx="774988" cy="547370"/>
          </a:xfrm>
          <a:prstGeom prst="rect">
            <a:avLst/>
          </a:prstGeom>
        </p:spPr>
        <p:txBody>
          <a:bodyPr lIns="0" tIns="0" rIns="0" bIns="0" rtlCol="0" anchor="t">
            <a:spAutoFit/>
          </a:bodyPr>
          <a:lstStyle/>
          <a:p>
            <a:pPr algn="just">
              <a:lnSpc>
                <a:spcPts val="4480"/>
              </a:lnSpc>
            </a:pPr>
            <a:r>
              <a:rPr lang="en-US" sz="3200">
                <a:solidFill>
                  <a:srgbClr val="FFFFFF"/>
                </a:solidFill>
                <a:latin typeface="HK Grotesk Semi-Bold"/>
              </a:rPr>
              <a:t>05</a:t>
            </a:r>
          </a:p>
        </p:txBody>
      </p:sp>
      <p:sp>
        <p:nvSpPr>
          <p:cNvPr id="13" name="TextBox 13"/>
          <p:cNvSpPr txBox="1"/>
          <p:nvPr/>
        </p:nvSpPr>
        <p:spPr>
          <a:xfrm>
            <a:off x="1028700" y="8710930"/>
            <a:ext cx="774988" cy="547370"/>
          </a:xfrm>
          <a:prstGeom prst="rect">
            <a:avLst/>
          </a:prstGeom>
        </p:spPr>
        <p:txBody>
          <a:bodyPr lIns="0" tIns="0" rIns="0" bIns="0" rtlCol="0" anchor="t">
            <a:spAutoFit/>
          </a:bodyPr>
          <a:lstStyle/>
          <a:p>
            <a:pPr algn="just">
              <a:lnSpc>
                <a:spcPts val="4480"/>
              </a:lnSpc>
            </a:pPr>
            <a:r>
              <a:rPr lang="en-US" sz="3200">
                <a:solidFill>
                  <a:srgbClr val="FFFFFF"/>
                </a:solidFill>
                <a:latin typeface="HK Grotesk Semi-Bold"/>
              </a:rPr>
              <a:t>03</a:t>
            </a:r>
          </a:p>
        </p:txBody>
      </p:sp>
      <p:sp>
        <p:nvSpPr>
          <p:cNvPr id="14" name="TextBox 14"/>
          <p:cNvSpPr txBox="1"/>
          <p:nvPr/>
        </p:nvSpPr>
        <p:spPr>
          <a:xfrm>
            <a:off x="9144000" y="8710930"/>
            <a:ext cx="774988" cy="547370"/>
          </a:xfrm>
          <a:prstGeom prst="rect">
            <a:avLst/>
          </a:prstGeom>
        </p:spPr>
        <p:txBody>
          <a:bodyPr lIns="0" tIns="0" rIns="0" bIns="0" rtlCol="0" anchor="t">
            <a:spAutoFit/>
          </a:bodyPr>
          <a:lstStyle/>
          <a:p>
            <a:pPr algn="just">
              <a:lnSpc>
                <a:spcPts val="4480"/>
              </a:lnSpc>
            </a:pPr>
            <a:r>
              <a:rPr lang="en-US" sz="3200">
                <a:solidFill>
                  <a:srgbClr val="FFFFFF"/>
                </a:solidFill>
                <a:latin typeface="HK Grotesk Semi-Bold"/>
              </a:rPr>
              <a:t>06</a:t>
            </a:r>
          </a:p>
        </p:txBody>
      </p:sp>
      <p:sp>
        <p:nvSpPr>
          <p:cNvPr id="15" name="TextBox 15"/>
          <p:cNvSpPr txBox="1"/>
          <p:nvPr/>
        </p:nvSpPr>
        <p:spPr>
          <a:xfrm>
            <a:off x="9918988" y="8710930"/>
            <a:ext cx="5723398" cy="1109345"/>
          </a:xfrm>
          <a:prstGeom prst="rect">
            <a:avLst/>
          </a:prstGeom>
        </p:spPr>
        <p:txBody>
          <a:bodyPr lIns="0" tIns="0" rIns="0" bIns="0" rtlCol="0" anchor="t">
            <a:spAutoFit/>
          </a:bodyPr>
          <a:lstStyle/>
          <a:p>
            <a:pPr algn="just">
              <a:lnSpc>
                <a:spcPts val="4480"/>
              </a:lnSpc>
            </a:pPr>
            <a:r>
              <a:rPr lang="en-US" sz="3200">
                <a:solidFill>
                  <a:srgbClr val="FFFFFF"/>
                </a:solidFill>
                <a:latin typeface="HK Grotesk Medium"/>
              </a:rPr>
              <a:t>Precisa responsabilidades de las personas y departamentos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8302249" cy="10287000"/>
            <a:chOff x="0" y="0"/>
            <a:chExt cx="2808415" cy="3479800"/>
          </a:xfrm>
        </p:grpSpPr>
        <p:sp>
          <p:nvSpPr>
            <p:cNvPr id="3" name="Freeform 3"/>
            <p:cNvSpPr/>
            <p:nvPr/>
          </p:nvSpPr>
          <p:spPr>
            <a:xfrm>
              <a:off x="0" y="0"/>
              <a:ext cx="2808415" cy="3479800"/>
            </a:xfrm>
            <a:custGeom>
              <a:avLst/>
              <a:gdLst/>
              <a:ahLst/>
              <a:cxnLst/>
              <a:rect l="l" t="t" r="r" b="b"/>
              <a:pathLst>
                <a:path w="2808415" h="3479800">
                  <a:moveTo>
                    <a:pt x="0" y="0"/>
                  </a:moveTo>
                  <a:lnTo>
                    <a:pt x="2808415" y="0"/>
                  </a:lnTo>
                  <a:lnTo>
                    <a:pt x="2808415" y="3479800"/>
                  </a:lnTo>
                  <a:lnTo>
                    <a:pt x="0" y="3479800"/>
                  </a:lnTo>
                  <a:close/>
                </a:path>
              </a:pathLst>
            </a:custGeom>
            <a:solidFill>
              <a:srgbClr val="000000"/>
            </a:solidFill>
          </p:spPr>
        </p:sp>
      </p:grpSp>
      <p:sp>
        <p:nvSpPr>
          <p:cNvPr id="4" name="Freeform 4"/>
          <p:cNvSpPr/>
          <p:nvPr/>
        </p:nvSpPr>
        <p:spPr>
          <a:xfrm>
            <a:off x="2506071" y="4321603"/>
            <a:ext cx="3299702" cy="3299702"/>
          </a:xfrm>
          <a:custGeom>
            <a:avLst/>
            <a:gdLst/>
            <a:ahLst/>
            <a:cxnLst/>
            <a:rect l="l" t="t" r="r" b="b"/>
            <a:pathLst>
              <a:path w="3299702" h="3299702">
                <a:moveTo>
                  <a:pt x="0" y="0"/>
                </a:moveTo>
                <a:lnTo>
                  <a:pt x="3299702" y="0"/>
                </a:lnTo>
                <a:lnTo>
                  <a:pt x="3299702" y="3299702"/>
                </a:lnTo>
                <a:lnTo>
                  <a:pt x="0" y="3299702"/>
                </a:lnTo>
                <a:lnTo>
                  <a:pt x="0" y="0"/>
                </a:lnTo>
                <a:close/>
              </a:path>
            </a:pathLst>
          </a:custGeom>
          <a:blipFill>
            <a:blip r:embed="rId2"/>
            <a:stretch>
              <a:fillRect/>
            </a:stretch>
          </a:blipFill>
        </p:spPr>
      </p:sp>
      <p:sp>
        <p:nvSpPr>
          <p:cNvPr id="5" name="TextBox 5"/>
          <p:cNvSpPr txBox="1"/>
          <p:nvPr/>
        </p:nvSpPr>
        <p:spPr>
          <a:xfrm>
            <a:off x="1028700" y="1598723"/>
            <a:ext cx="6254443" cy="2171700"/>
          </a:xfrm>
          <a:prstGeom prst="rect">
            <a:avLst/>
          </a:prstGeom>
        </p:spPr>
        <p:txBody>
          <a:bodyPr lIns="0" tIns="0" rIns="0" bIns="0" rtlCol="0" anchor="t">
            <a:spAutoFit/>
          </a:bodyPr>
          <a:lstStyle/>
          <a:p>
            <a:pPr algn="ctr">
              <a:lnSpc>
                <a:spcPts val="8550"/>
              </a:lnSpc>
            </a:pPr>
            <a:r>
              <a:rPr lang="en-US" sz="7125">
                <a:solidFill>
                  <a:srgbClr val="009490"/>
                </a:solidFill>
                <a:latin typeface="HK Grotesk Bold"/>
              </a:rPr>
              <a:t> Informes de Operación</a:t>
            </a:r>
          </a:p>
        </p:txBody>
      </p:sp>
      <p:sp>
        <p:nvSpPr>
          <p:cNvPr id="6" name="TextBox 6"/>
          <p:cNvSpPr txBox="1"/>
          <p:nvPr/>
        </p:nvSpPr>
        <p:spPr>
          <a:xfrm>
            <a:off x="9516623" y="1115488"/>
            <a:ext cx="7559277" cy="1569085"/>
          </a:xfrm>
          <a:prstGeom prst="rect">
            <a:avLst/>
          </a:prstGeom>
        </p:spPr>
        <p:txBody>
          <a:bodyPr lIns="0" tIns="0" rIns="0" bIns="0" rtlCol="0" anchor="t">
            <a:spAutoFit/>
          </a:bodyPr>
          <a:lstStyle/>
          <a:p>
            <a:pPr marL="690881" lvl="1" indent="-345440" algn="just">
              <a:lnSpc>
                <a:spcPts val="4160"/>
              </a:lnSpc>
              <a:buFont typeface="Arial"/>
              <a:buChar char="•"/>
            </a:pPr>
            <a:r>
              <a:rPr lang="en-US" sz="3200">
                <a:solidFill>
                  <a:srgbClr val="009490"/>
                </a:solidFill>
                <a:latin typeface="HK Grotesk Bold"/>
              </a:rPr>
              <a:t>Informes de Rutina: Atienden responsabilidades asignadas a los miembros de la organización</a:t>
            </a:r>
          </a:p>
        </p:txBody>
      </p:sp>
      <p:sp>
        <p:nvSpPr>
          <p:cNvPr id="7" name="TextBox 7"/>
          <p:cNvSpPr txBox="1"/>
          <p:nvPr/>
        </p:nvSpPr>
        <p:spPr>
          <a:xfrm>
            <a:off x="9516623" y="3256073"/>
            <a:ext cx="7559277" cy="2092960"/>
          </a:xfrm>
          <a:prstGeom prst="rect">
            <a:avLst/>
          </a:prstGeom>
        </p:spPr>
        <p:txBody>
          <a:bodyPr lIns="0" tIns="0" rIns="0" bIns="0" rtlCol="0" anchor="t">
            <a:spAutoFit/>
          </a:bodyPr>
          <a:lstStyle/>
          <a:p>
            <a:pPr marL="690881" lvl="1" indent="-345440" algn="just">
              <a:lnSpc>
                <a:spcPts val="4160"/>
              </a:lnSpc>
              <a:buFont typeface="Arial"/>
              <a:buChar char="•"/>
            </a:pPr>
            <a:r>
              <a:rPr lang="en-US" sz="3200">
                <a:solidFill>
                  <a:srgbClr val="009490"/>
                </a:solidFill>
                <a:latin typeface="HK Grotesk Bold"/>
              </a:rPr>
              <a:t>Informes de Excepción: Cuando aparecen desvíos importantes o situaciones que ponen en riesgo el desarrollo normal de actividades</a:t>
            </a:r>
          </a:p>
        </p:txBody>
      </p:sp>
      <p:sp>
        <p:nvSpPr>
          <p:cNvPr id="8" name="TextBox 8"/>
          <p:cNvSpPr txBox="1"/>
          <p:nvPr/>
        </p:nvSpPr>
        <p:spPr>
          <a:xfrm>
            <a:off x="9516623" y="5920533"/>
            <a:ext cx="7559277" cy="1569085"/>
          </a:xfrm>
          <a:prstGeom prst="rect">
            <a:avLst/>
          </a:prstGeom>
        </p:spPr>
        <p:txBody>
          <a:bodyPr lIns="0" tIns="0" rIns="0" bIns="0" rtlCol="0" anchor="t">
            <a:spAutoFit/>
          </a:bodyPr>
          <a:lstStyle/>
          <a:p>
            <a:pPr marL="690881" lvl="1" indent="-345440" algn="just">
              <a:lnSpc>
                <a:spcPts val="4160"/>
              </a:lnSpc>
              <a:buFont typeface="Arial"/>
              <a:buChar char="•"/>
            </a:pPr>
            <a:r>
              <a:rPr lang="en-US" sz="3200">
                <a:solidFill>
                  <a:srgbClr val="009490"/>
                </a:solidFill>
                <a:latin typeface="HK Grotesk Bold"/>
              </a:rPr>
              <a:t>Informes Cuantitativos: Se presentan los desvíos, porcentajes y datos que ilustren mejor la situación</a:t>
            </a:r>
          </a:p>
        </p:txBody>
      </p:sp>
      <p:sp>
        <p:nvSpPr>
          <p:cNvPr id="9" name="TextBox 9"/>
          <p:cNvSpPr txBox="1"/>
          <p:nvPr/>
        </p:nvSpPr>
        <p:spPr>
          <a:xfrm>
            <a:off x="9516623" y="8061117"/>
            <a:ext cx="7559277" cy="1569085"/>
          </a:xfrm>
          <a:prstGeom prst="rect">
            <a:avLst/>
          </a:prstGeom>
        </p:spPr>
        <p:txBody>
          <a:bodyPr lIns="0" tIns="0" rIns="0" bIns="0" rtlCol="0" anchor="t">
            <a:spAutoFit/>
          </a:bodyPr>
          <a:lstStyle/>
          <a:p>
            <a:pPr marL="690881" lvl="1" indent="-345440" algn="just">
              <a:lnSpc>
                <a:spcPts val="4160"/>
              </a:lnSpc>
              <a:buFont typeface="Arial"/>
              <a:buChar char="•"/>
            </a:pPr>
            <a:r>
              <a:rPr lang="en-US" sz="3200">
                <a:solidFill>
                  <a:srgbClr val="009490"/>
                </a:solidFill>
                <a:latin typeface="HK Grotesk Bold"/>
              </a:rPr>
              <a:t>Informes Orientados: El que lo realiza emite juicios, justifica o evita posterior justificación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90" r="-290"/>
            </a:stretch>
          </a:blipFill>
        </p:spPr>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2781034" y="4474845"/>
            <a:ext cx="12725931" cy="1565910"/>
          </a:xfrm>
          <a:prstGeom prst="rect">
            <a:avLst/>
          </a:prstGeom>
        </p:spPr>
        <p:txBody>
          <a:bodyPr lIns="0" tIns="0" rIns="0" bIns="0" rtlCol="0" anchor="t">
            <a:spAutoFit/>
          </a:bodyPr>
          <a:lstStyle/>
          <a:p>
            <a:pPr algn="ctr">
              <a:lnSpc>
                <a:spcPts val="11775"/>
              </a:lnSpc>
            </a:pPr>
            <a:r>
              <a:rPr lang="en-US" sz="11775">
                <a:solidFill>
                  <a:srgbClr val="009490"/>
                </a:solidFill>
                <a:latin typeface="HK Grotesk Bold"/>
              </a:rPr>
              <a:t>¡Muchas gracias!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2116</Words>
  <Application>Microsoft Macintosh PowerPoint</Application>
  <PresentationFormat>Personalizado</PresentationFormat>
  <Paragraphs>351</Paragraphs>
  <Slides>42</Slides>
  <Notes>0</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42</vt:i4>
      </vt:variant>
    </vt:vector>
  </HeadingPairs>
  <TitlesOfParts>
    <vt:vector size="52" baseType="lpstr">
      <vt:lpstr>HK Grotesk</vt:lpstr>
      <vt:lpstr>Open Sans</vt:lpstr>
      <vt:lpstr>HK Grotesk Bold</vt:lpstr>
      <vt:lpstr>Open Sans Bold</vt:lpstr>
      <vt:lpstr>HK Grotesk Light</vt:lpstr>
      <vt:lpstr>Arial</vt:lpstr>
      <vt:lpstr>HK Grotesk Medium</vt:lpstr>
      <vt:lpstr>HK Grotesk Semi-Bold</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 Presupuestario</dc:title>
  <cp:lastModifiedBy>Sofía Sampedro</cp:lastModifiedBy>
  <cp:revision>2</cp:revision>
  <dcterms:created xsi:type="dcterms:W3CDTF">2006-08-16T00:00:00Z</dcterms:created>
  <dcterms:modified xsi:type="dcterms:W3CDTF">2023-10-23T11:43:58Z</dcterms:modified>
  <dc:identifier>DAFx_nc1854</dc:identifier>
</cp:coreProperties>
</file>