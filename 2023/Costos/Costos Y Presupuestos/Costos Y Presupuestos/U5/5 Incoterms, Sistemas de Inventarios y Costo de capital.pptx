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0"/>
  </p:notesMasterIdLst>
  <p:sldIdLst>
    <p:sldId id="256" r:id="rId5"/>
    <p:sldId id="275" r:id="rId6"/>
    <p:sldId id="276" r:id="rId7"/>
    <p:sldId id="277" r:id="rId8"/>
    <p:sldId id="324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25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262" r:id="rId36"/>
    <p:sldId id="263" r:id="rId37"/>
    <p:sldId id="322" r:id="rId38"/>
    <p:sldId id="323" r:id="rId39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stavo massucco" initials="gm" lastIdx="1" clrIdx="0">
    <p:extLst>
      <p:ext uri="{19B8F6BF-5375-455C-9EA6-DF929625EA0E}">
        <p15:presenceInfo xmlns:p15="http://schemas.microsoft.com/office/powerpoint/2012/main" userId="S::gmassucco@frba.utn.edu.ar::1271f782-c2a0-484f-8edc-abfea8ad4a0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59" autoAdjust="0"/>
    <p:restoredTop sz="95545" autoAdjust="0"/>
  </p:normalViewPr>
  <p:slideViewPr>
    <p:cSldViewPr>
      <p:cViewPr varScale="1">
        <p:scale>
          <a:sx n="97" d="100"/>
          <a:sy n="97" d="100"/>
        </p:scale>
        <p:origin x="52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35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D8C4C0-68C5-46B2-8584-FFCA2409C372}" type="datetimeFigureOut">
              <a:rPr lang="es-AR" smtClean="0"/>
              <a:t>9/5/2022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8A543-5AB8-434B-9522-037D486C9E5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036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8A543-5AB8-434B-9522-037D486C9E54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2742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9129-8BF6-44BC-B048-74428EAFD4B9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los estilos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855A4-F9C2-4037-AC68-61BCE3D386E3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los estilos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BA29-E423-4F5B-AE91-91191C17D822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los estilos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los estilos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8656A-AC67-42A4-9A2F-A73C662AB34F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los estilos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los estilos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los estilos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los estilos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E24A-8B99-4749-AD18-B7569E820BA2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06E6-7BE1-41C0-A9CB-47D4BC2B29AB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6FDDE-4078-4344-B9DF-8C1F0D3F61AE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los estilos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los estilos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93B6-6555-48B4-8631-0CE79EFE3FEE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7849D-5B33-482B-A9A4-D32715C1D8D7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los estilos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0A1A-A1F4-4F31-8DB5-DBAEF35438E3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los estilos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41EA8-C6A8-4DEE-ABD8-E711505C9D87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D7EB1F9-18CE-4D87-B0C0-7E47417E4B85}" type="datetime1">
              <a:rPr lang="es-PE" smtClean="0"/>
              <a:t>9/05/2022</a:t>
            </a:fld>
            <a:endParaRPr lang="es-PE" dirty="0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FD2BD31-F28F-4154-BE62-D3584F47C48E}" type="slidenum">
              <a:rPr lang="es-PE" smtClean="0"/>
              <a:t>‹Nº›</a:t>
            </a:fld>
            <a:endParaRPr lang="es-PE" dirty="0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s-PE" sz="5400" dirty="0"/>
              <a:t>COSTOS Y PRESUPUESTOS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27584" y="5472680"/>
            <a:ext cx="5832648" cy="1224136"/>
          </a:xfrm>
        </p:spPr>
        <p:txBody>
          <a:bodyPr>
            <a:normAutofit/>
          </a:bodyPr>
          <a:lstStyle/>
          <a:p>
            <a:pPr algn="l"/>
            <a:r>
              <a:rPr lang="es-PE" sz="24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s-PE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Gustavo Massucco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CF8D23-85D3-49D2-B8AC-A737C76A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</a:t>
            </a:fld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3FDAE4-35D4-4C9C-B7D8-CEB1C00F28E9}"/>
              </a:ext>
            </a:extLst>
          </p:cNvPr>
          <p:cNvSpPr txBox="1"/>
          <p:nvPr/>
        </p:nvSpPr>
        <p:spPr>
          <a:xfrm>
            <a:off x="1356176" y="3054151"/>
            <a:ext cx="5832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latin typeface="+mj-lt"/>
              </a:rPr>
              <a:t>INCOTERMS, SISTEMAS DE INVENTARIOS Y COSTO DE CAPITAL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00"/>
                            </p:stCondLst>
                            <p:childTnLst>
                              <p:par>
                                <p:cTn id="12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26C50-9D62-4979-80A1-4BD15E5E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925095"/>
            <a:ext cx="8229600" cy="1143000"/>
          </a:xfrm>
        </p:spPr>
        <p:txBody>
          <a:bodyPr>
            <a:normAutofit/>
          </a:bodyPr>
          <a:lstStyle/>
          <a:p>
            <a:r>
              <a:rPr lang="es-AR" sz="4000" dirty="0"/>
              <a:t>INCOTERMS </a:t>
            </a:r>
            <a:r>
              <a:rPr lang="es-AR" sz="2400" dirty="0"/>
              <a:t>(COMERCIO EXTERIOR)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281A03-9DA6-480F-965D-9DEFE735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</a:t>
            </a:fld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C95E2D8-C11B-468C-8D00-6452B2557A7D}"/>
              </a:ext>
            </a:extLst>
          </p:cNvPr>
          <p:cNvSpPr txBox="1"/>
          <p:nvPr/>
        </p:nvSpPr>
        <p:spPr>
          <a:xfrm>
            <a:off x="539552" y="2348880"/>
            <a:ext cx="7992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solidFill>
                  <a:schemeClr val="tx2"/>
                </a:solidFill>
              </a:rPr>
              <a:t>FAS</a:t>
            </a:r>
            <a:r>
              <a:rPr lang="es-AR" sz="2000" dirty="0">
                <a:solidFill>
                  <a:schemeClr val="tx2"/>
                </a:solidFill>
              </a:rPr>
              <a:t> : FREE ALONGSIDE SHIP (LIBRE AL COSTADO DEL BARCO)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E7E0BD-0DC1-4B8F-8B19-7C1421592D1B}"/>
              </a:ext>
            </a:extLst>
          </p:cNvPr>
          <p:cNvSpPr txBox="1"/>
          <p:nvPr/>
        </p:nvSpPr>
        <p:spPr>
          <a:xfrm>
            <a:off x="575556" y="3402902"/>
            <a:ext cx="7992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solidFill>
                  <a:schemeClr val="tx2"/>
                </a:solidFill>
              </a:rPr>
              <a:t>FOB</a:t>
            </a:r>
            <a:r>
              <a:rPr lang="es-AR" sz="2000" dirty="0">
                <a:solidFill>
                  <a:schemeClr val="tx2"/>
                </a:solidFill>
              </a:rPr>
              <a:t> : FREE ON BOARD (LIBRE SOBRE EL BARCO)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378D22-AA9E-4F91-8AF8-9BD0AB93725C}"/>
              </a:ext>
            </a:extLst>
          </p:cNvPr>
          <p:cNvSpPr txBox="1"/>
          <p:nvPr/>
        </p:nvSpPr>
        <p:spPr>
          <a:xfrm>
            <a:off x="575556" y="4487693"/>
            <a:ext cx="7992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solidFill>
                  <a:schemeClr val="tx2"/>
                </a:solidFill>
              </a:rPr>
              <a:t>CIF</a:t>
            </a:r>
            <a:r>
              <a:rPr lang="es-AR" sz="2000" dirty="0">
                <a:solidFill>
                  <a:schemeClr val="tx2"/>
                </a:solidFill>
              </a:rPr>
              <a:t> : COST INSURANCE AND FREIGTH (LA COTIZACION     (INCLUYE GASTOS POR SEGURO Y FLETE MARITIMO)</a:t>
            </a:r>
          </a:p>
        </p:txBody>
      </p:sp>
    </p:spTree>
    <p:extLst>
      <p:ext uri="{BB962C8B-B14F-4D97-AF65-F5344CB8AC3E}">
        <p14:creationId xmlns:p14="http://schemas.microsoft.com/office/powerpoint/2010/main" val="1181707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CE9108-D3CD-404A-8442-3E2C1D2D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3</a:t>
            </a:fld>
            <a:endParaRPr lang="es-PE" dirty="0"/>
          </a:p>
        </p:txBody>
      </p:sp>
      <p:pic>
        <p:nvPicPr>
          <p:cNvPr id="6" name="Gráfico 5" descr="Fábrica">
            <a:extLst>
              <a:ext uri="{FF2B5EF4-FFF2-40B4-BE49-F238E27FC236}">
                <a16:creationId xmlns:a16="http://schemas.microsoft.com/office/drawing/2014/main" id="{3002D096-4FBF-42FC-8226-AE31636CA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43" y="2387584"/>
            <a:ext cx="914400" cy="914400"/>
          </a:xfrm>
          <a:prstGeom prst="rect">
            <a:avLst/>
          </a:prstGeom>
        </p:spPr>
      </p:pic>
      <p:pic>
        <p:nvPicPr>
          <p:cNvPr id="8" name="Gráfico 7" descr="Remolcador">
            <a:extLst>
              <a:ext uri="{FF2B5EF4-FFF2-40B4-BE49-F238E27FC236}">
                <a16:creationId xmlns:a16="http://schemas.microsoft.com/office/drawing/2014/main" id="{CCBB641E-24BF-4C22-88A8-BA6E78EF3A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7860" y="2661076"/>
            <a:ext cx="914400" cy="914400"/>
          </a:xfrm>
          <a:prstGeom prst="rect">
            <a:avLst/>
          </a:prstGeom>
        </p:spPr>
      </p:pic>
      <p:pic>
        <p:nvPicPr>
          <p:cNvPr id="10" name="Gráfico 9" descr="Lingotes de oro">
            <a:extLst>
              <a:ext uri="{FF2B5EF4-FFF2-40B4-BE49-F238E27FC236}">
                <a16:creationId xmlns:a16="http://schemas.microsoft.com/office/drawing/2014/main" id="{5C3F7E8F-AD68-428B-B1B7-299567E2B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599" y="2699198"/>
            <a:ext cx="581404" cy="58140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545B012-0265-4974-9E26-B0D32F316421}"/>
              </a:ext>
            </a:extLst>
          </p:cNvPr>
          <p:cNvSpPr/>
          <p:nvPr/>
        </p:nvSpPr>
        <p:spPr>
          <a:xfrm>
            <a:off x="-643" y="2204864"/>
            <a:ext cx="2628427" cy="324036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37F0979-D327-4D2E-B400-78830F1F6E67}"/>
              </a:ext>
            </a:extLst>
          </p:cNvPr>
          <p:cNvSpPr/>
          <p:nvPr/>
        </p:nvSpPr>
        <p:spPr>
          <a:xfrm>
            <a:off x="6515573" y="2161542"/>
            <a:ext cx="2628427" cy="324036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3" name="Gráfico 12" descr="Fábrica">
            <a:extLst>
              <a:ext uri="{FF2B5EF4-FFF2-40B4-BE49-F238E27FC236}">
                <a16:creationId xmlns:a16="http://schemas.microsoft.com/office/drawing/2014/main" id="{1FAA8982-7395-4ABF-ADC4-7AFB292AF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9190" y="2431783"/>
            <a:ext cx="914400" cy="914400"/>
          </a:xfrm>
          <a:prstGeom prst="rect">
            <a:avLst/>
          </a:prstGeom>
        </p:spPr>
      </p:pic>
      <p:pic>
        <p:nvPicPr>
          <p:cNvPr id="14" name="Gráfico 13" descr="Lingotes de oro">
            <a:extLst>
              <a:ext uri="{FF2B5EF4-FFF2-40B4-BE49-F238E27FC236}">
                <a16:creationId xmlns:a16="http://schemas.microsoft.com/office/drawing/2014/main" id="{3BFFC8DD-3ABE-46E3-A1B3-D3302B345A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31174" y="2829100"/>
            <a:ext cx="493099" cy="49309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9A44E32-B4E4-4938-9409-7B65FB437A24}"/>
              </a:ext>
            </a:extLst>
          </p:cNvPr>
          <p:cNvSpPr txBox="1"/>
          <p:nvPr/>
        </p:nvSpPr>
        <p:spPr>
          <a:xfrm>
            <a:off x="7415808" y="1743199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Destino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DEABD7B-40D7-48A3-9BAA-EA6D9C625034}"/>
              </a:ext>
            </a:extLst>
          </p:cNvPr>
          <p:cNvSpPr txBox="1"/>
          <p:nvPr/>
        </p:nvSpPr>
        <p:spPr>
          <a:xfrm>
            <a:off x="103036" y="339081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Ex </a:t>
            </a:r>
            <a:r>
              <a:rPr lang="es-AR" dirty="0" err="1">
                <a:solidFill>
                  <a:schemeClr val="tx2"/>
                </a:solidFill>
              </a:rPr>
              <a:t>Work</a:t>
            </a:r>
            <a:endParaRPr lang="es-AR" dirty="0">
              <a:solidFill>
                <a:schemeClr val="tx2"/>
              </a:solidFill>
            </a:endParaRPr>
          </a:p>
        </p:txBody>
      </p:sp>
      <p:pic>
        <p:nvPicPr>
          <p:cNvPr id="17" name="Gráfico 16" descr="Remolcador">
            <a:extLst>
              <a:ext uri="{FF2B5EF4-FFF2-40B4-BE49-F238E27FC236}">
                <a16:creationId xmlns:a16="http://schemas.microsoft.com/office/drawing/2014/main" id="{B089A55A-4A50-4B2A-8F57-9A3157BBE8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5055" y="2531342"/>
            <a:ext cx="914400" cy="914400"/>
          </a:xfrm>
          <a:prstGeom prst="rect">
            <a:avLst/>
          </a:prstGeom>
        </p:spPr>
      </p:pic>
      <p:pic>
        <p:nvPicPr>
          <p:cNvPr id="18" name="Gráfico 17" descr="Lingotes de oro">
            <a:extLst>
              <a:ext uri="{FF2B5EF4-FFF2-40B4-BE49-F238E27FC236}">
                <a16:creationId xmlns:a16="http://schemas.microsoft.com/office/drawing/2014/main" id="{BA14E976-8C3E-4CB0-86DB-C5992DAFAE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1133" y="2725452"/>
            <a:ext cx="460005" cy="460005"/>
          </a:xfrm>
          <a:prstGeom prst="rect">
            <a:avLst/>
          </a:prstGeom>
        </p:spPr>
      </p:pic>
      <p:pic>
        <p:nvPicPr>
          <p:cNvPr id="19" name="Gráfico 18" descr="Remolcador">
            <a:extLst>
              <a:ext uri="{FF2B5EF4-FFF2-40B4-BE49-F238E27FC236}">
                <a16:creationId xmlns:a16="http://schemas.microsoft.com/office/drawing/2014/main" id="{DE29E68B-45BC-4976-A847-F4D3BD813F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6080" y="4278815"/>
            <a:ext cx="914400" cy="914400"/>
          </a:xfrm>
          <a:prstGeom prst="rect">
            <a:avLst/>
          </a:prstGeom>
        </p:spPr>
      </p:pic>
      <p:pic>
        <p:nvPicPr>
          <p:cNvPr id="20" name="Gráfico 19" descr="Lingotes de oro">
            <a:extLst>
              <a:ext uri="{FF2B5EF4-FFF2-40B4-BE49-F238E27FC236}">
                <a16:creationId xmlns:a16="http://schemas.microsoft.com/office/drawing/2014/main" id="{5C6B34A9-C9FB-48EC-A059-004B13CAF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1680" y="4404820"/>
            <a:ext cx="914400" cy="9144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1AE1D1FF-2D1D-4231-A43A-6F2FE3587E22}"/>
              </a:ext>
            </a:extLst>
          </p:cNvPr>
          <p:cNvSpPr txBox="1"/>
          <p:nvPr/>
        </p:nvSpPr>
        <p:spPr>
          <a:xfrm>
            <a:off x="418530" y="1770112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Origen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FBFFBF5-D00B-4FD7-8EC8-F36658B8F5FF}"/>
              </a:ext>
            </a:extLst>
          </p:cNvPr>
          <p:cNvSpPr txBox="1"/>
          <p:nvPr/>
        </p:nvSpPr>
        <p:spPr>
          <a:xfrm>
            <a:off x="1796226" y="4094149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FAS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4A36CD8-3B3F-464F-A8C0-5B8A57B16E25}"/>
              </a:ext>
            </a:extLst>
          </p:cNvPr>
          <p:cNvSpPr txBox="1"/>
          <p:nvPr/>
        </p:nvSpPr>
        <p:spPr>
          <a:xfrm>
            <a:off x="2730523" y="2292765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FOB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5FD365B-4DDC-4619-9433-35AD4E9D56AA}"/>
              </a:ext>
            </a:extLst>
          </p:cNvPr>
          <p:cNvSpPr txBox="1"/>
          <p:nvPr/>
        </p:nvSpPr>
        <p:spPr>
          <a:xfrm>
            <a:off x="5374194" y="216154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CIF</a:t>
            </a:r>
          </a:p>
        </p:txBody>
      </p:sp>
    </p:spTree>
    <p:extLst>
      <p:ext uri="{BB962C8B-B14F-4D97-AF65-F5344CB8AC3E}">
        <p14:creationId xmlns:p14="http://schemas.microsoft.com/office/powerpoint/2010/main" val="353242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16086A-A73D-4C15-9FAC-FA8F46F58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752" y="1700808"/>
            <a:ext cx="6347048" cy="2808312"/>
          </a:xfrm>
        </p:spPr>
        <p:txBody>
          <a:bodyPr/>
          <a:lstStyle/>
          <a:p>
            <a:r>
              <a:rPr lang="es-AR" sz="2000" dirty="0">
                <a:solidFill>
                  <a:schemeClr val="tx2"/>
                </a:solidFill>
              </a:rPr>
              <a:t>Impuestos a la exportación</a:t>
            </a:r>
          </a:p>
          <a:p>
            <a:r>
              <a:rPr lang="es-AR" sz="2000" dirty="0">
                <a:solidFill>
                  <a:schemeClr val="tx2"/>
                </a:solidFill>
              </a:rPr>
              <a:t>Gastos administrativos</a:t>
            </a:r>
          </a:p>
          <a:p>
            <a:r>
              <a:rPr lang="es-AR" sz="2000" dirty="0">
                <a:solidFill>
                  <a:schemeClr val="tx2"/>
                </a:solidFill>
              </a:rPr>
              <a:t>Gastos aduana (país origen)</a:t>
            </a:r>
          </a:p>
          <a:p>
            <a:r>
              <a:rPr lang="es-AR" sz="2000" dirty="0">
                <a:solidFill>
                  <a:schemeClr val="tx2"/>
                </a:solidFill>
              </a:rPr>
              <a:t>Gastos embarque</a:t>
            </a:r>
          </a:p>
          <a:p>
            <a:r>
              <a:rPr lang="es-AR" sz="2000" dirty="0">
                <a:solidFill>
                  <a:schemeClr val="tx2"/>
                </a:solidFill>
              </a:rPr>
              <a:t>Seguro y flete marítimo</a:t>
            </a:r>
          </a:p>
          <a:p>
            <a:r>
              <a:rPr lang="es-AR" sz="2000" dirty="0">
                <a:solidFill>
                  <a:schemeClr val="tx2"/>
                </a:solidFill>
              </a:rPr>
              <a:t>Gastos administrativos y de depósitos (país destino)</a:t>
            </a:r>
          </a:p>
          <a:p>
            <a:r>
              <a:rPr lang="es-AR" sz="2000" dirty="0">
                <a:solidFill>
                  <a:schemeClr val="tx2"/>
                </a:solidFill>
              </a:rPr>
              <a:t>Transporte y seguro hasta la planta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CE9EC6-D8DC-4F5F-B601-E6DBC581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4</a:t>
            </a:fld>
            <a:endParaRPr lang="es-PE" dirty="0"/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4BBB9027-8666-476C-978B-699110B4F798}"/>
              </a:ext>
            </a:extLst>
          </p:cNvPr>
          <p:cNvCxnSpPr/>
          <p:nvPr/>
        </p:nvCxnSpPr>
        <p:spPr>
          <a:xfrm rot="5400000">
            <a:off x="143508" y="2312876"/>
            <a:ext cx="2376264" cy="1584176"/>
          </a:xfrm>
          <a:prstGeom prst="bentConnector3">
            <a:avLst>
              <a:gd name="adj1" fmla="val 311"/>
            </a:avLst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D8BF4F12-DF83-4B7F-B71B-171155B081E3}"/>
              </a:ext>
            </a:extLst>
          </p:cNvPr>
          <p:cNvCxnSpPr>
            <a:cxnSpLocks/>
          </p:cNvCxnSpPr>
          <p:nvPr/>
        </p:nvCxnSpPr>
        <p:spPr>
          <a:xfrm rot="5400000">
            <a:off x="1295752" y="3248992"/>
            <a:ext cx="936000" cy="1152000"/>
          </a:xfrm>
          <a:prstGeom prst="bentConnector3">
            <a:avLst>
              <a:gd name="adj1" fmla="val 1370"/>
            </a:avLst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6E735AED-7C86-4948-845F-0AAC70426858}"/>
              </a:ext>
            </a:extLst>
          </p:cNvPr>
          <p:cNvCxnSpPr>
            <a:cxnSpLocks/>
          </p:cNvCxnSpPr>
          <p:nvPr/>
        </p:nvCxnSpPr>
        <p:spPr>
          <a:xfrm rot="5400000">
            <a:off x="1820777" y="3774121"/>
            <a:ext cx="533894" cy="504056"/>
          </a:xfrm>
          <a:prstGeom prst="bentConnector3">
            <a:avLst>
              <a:gd name="adj1" fmla="val 115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C5BDD748-62F9-42F1-81C1-EBD69336FD80}"/>
              </a:ext>
            </a:extLst>
          </p:cNvPr>
          <p:cNvCxnSpPr/>
          <p:nvPr/>
        </p:nvCxnSpPr>
        <p:spPr>
          <a:xfrm>
            <a:off x="0" y="4292992"/>
            <a:ext cx="2339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BAF7DED-4AA6-4014-AA6D-452E31B5FE85}"/>
              </a:ext>
            </a:extLst>
          </p:cNvPr>
          <p:cNvSpPr txBox="1"/>
          <p:nvPr/>
        </p:nvSpPr>
        <p:spPr>
          <a:xfrm>
            <a:off x="467544" y="159938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FAS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86F3F92-37E9-4CD3-8A61-BDFCAF27C575}"/>
              </a:ext>
            </a:extLst>
          </p:cNvPr>
          <p:cNvSpPr txBox="1"/>
          <p:nvPr/>
        </p:nvSpPr>
        <p:spPr>
          <a:xfrm>
            <a:off x="1115616" y="298977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FOB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F441961-D1A5-40FB-A8D5-1F211CD61BAA}"/>
              </a:ext>
            </a:extLst>
          </p:cNvPr>
          <p:cNvSpPr txBox="1"/>
          <p:nvPr/>
        </p:nvSpPr>
        <p:spPr>
          <a:xfrm>
            <a:off x="1763752" y="345671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CIF</a:t>
            </a:r>
          </a:p>
        </p:txBody>
      </p:sp>
    </p:spTree>
    <p:extLst>
      <p:ext uri="{BB962C8B-B14F-4D97-AF65-F5344CB8AC3E}">
        <p14:creationId xmlns:p14="http://schemas.microsoft.com/office/powerpoint/2010/main" val="263743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11560" y="2132856"/>
            <a:ext cx="7851648" cy="1828800"/>
          </a:xfrm>
        </p:spPr>
        <p:txBody>
          <a:bodyPr anchor="ctr">
            <a:normAutofit/>
          </a:bodyPr>
          <a:lstStyle/>
          <a:p>
            <a:pPr algn="ctr"/>
            <a:r>
              <a:rPr lang="es-PE" sz="5400" dirty="0"/>
              <a:t>SISTEMAS DE INVENTARIOS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CF8D23-85D3-49D2-B8AC-A737C76A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5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4436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04D46-8652-4528-A0DE-B5518CC5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s-AR" sz="4400" dirty="0"/>
              <a:t>SISTEMAS DE INVENTARIO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ED4EC4-5070-4D55-90B3-0DAAC7FD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6</a:t>
            </a:fld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2BD31D-A59A-48CC-8553-2C9A74F48A2C}"/>
              </a:ext>
            </a:extLst>
          </p:cNvPr>
          <p:cNvSpPr txBox="1"/>
          <p:nvPr/>
        </p:nvSpPr>
        <p:spPr>
          <a:xfrm>
            <a:off x="457200" y="1391063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solidFill>
                  <a:schemeClr val="tx2"/>
                </a:solidFill>
              </a:rPr>
              <a:t>Veamos el siguiente ejemplo - KARDEX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AF3E54-240A-4F04-926F-3655C6A0322D}"/>
              </a:ext>
            </a:extLst>
          </p:cNvPr>
          <p:cNvSpPr txBox="1"/>
          <p:nvPr/>
        </p:nvSpPr>
        <p:spPr>
          <a:xfrm>
            <a:off x="683568" y="2492896"/>
            <a:ext cx="64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solidFill>
                  <a:schemeClr val="tx2"/>
                </a:solidFill>
              </a:rPr>
              <a:t>Inventario Inicial: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2"/>
                </a:solidFill>
              </a:rPr>
              <a:t>31/12/2018 =&gt; 10 unidades a 24 $/u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D401683-FE60-49DE-8F5E-0C92BB7A1210}"/>
              </a:ext>
            </a:extLst>
          </p:cNvPr>
          <p:cNvSpPr txBox="1"/>
          <p:nvPr/>
        </p:nvSpPr>
        <p:spPr>
          <a:xfrm>
            <a:off x="681336" y="3717032"/>
            <a:ext cx="64807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solidFill>
                  <a:schemeClr val="tx2"/>
                </a:solidFill>
              </a:rPr>
              <a:t>Enero de 2019: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2"/>
                </a:solidFill>
              </a:rPr>
              <a:t>Compra MP =&gt; 5 unidades a 36 $/u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2"/>
                </a:solidFill>
              </a:rPr>
              <a:t>Emite una Orden de Producción </a:t>
            </a:r>
            <a:r>
              <a:rPr lang="es-AR" sz="2000" dirty="0" err="1">
                <a:solidFill>
                  <a:schemeClr val="tx2"/>
                </a:solidFill>
              </a:rPr>
              <a:t>Nº</a:t>
            </a:r>
            <a:r>
              <a:rPr lang="es-AR" sz="2000" dirty="0">
                <a:solidFill>
                  <a:schemeClr val="tx2"/>
                </a:solidFill>
              </a:rPr>
              <a:t> 1 por 7 u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EAF908B-F5FA-4D88-8478-8D7E30834ACC}"/>
              </a:ext>
            </a:extLst>
          </p:cNvPr>
          <p:cNvSpPr txBox="1"/>
          <p:nvPr/>
        </p:nvSpPr>
        <p:spPr>
          <a:xfrm>
            <a:off x="457200" y="1866062"/>
            <a:ext cx="6480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UNA EMPRESA REALIZA LOS SIGUIENTES MOVIMIENTOS: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4F550D8-1FEB-417E-AA4C-55E416EDBF05}"/>
              </a:ext>
            </a:extLst>
          </p:cNvPr>
          <p:cNvSpPr txBox="1"/>
          <p:nvPr/>
        </p:nvSpPr>
        <p:spPr>
          <a:xfrm>
            <a:off x="681336" y="5138249"/>
            <a:ext cx="64807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solidFill>
                  <a:schemeClr val="tx2"/>
                </a:solidFill>
              </a:rPr>
              <a:t>Febrero de 2019: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2"/>
                </a:solidFill>
              </a:rPr>
              <a:t>Compra MP =&gt; 6 unidades a 37,20 $/u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chemeClr val="tx2"/>
                </a:solidFill>
              </a:rPr>
              <a:t>Emite una Orden de Producción </a:t>
            </a:r>
            <a:r>
              <a:rPr lang="es-AR" sz="2000" dirty="0" err="1">
                <a:solidFill>
                  <a:schemeClr val="tx2"/>
                </a:solidFill>
              </a:rPr>
              <a:t>Nº</a:t>
            </a:r>
            <a:r>
              <a:rPr lang="es-AR" sz="2000" dirty="0">
                <a:solidFill>
                  <a:schemeClr val="tx2"/>
                </a:solidFill>
              </a:rPr>
              <a:t> 2 por 9 u</a:t>
            </a:r>
          </a:p>
        </p:txBody>
      </p:sp>
    </p:spTree>
    <p:extLst>
      <p:ext uri="{BB962C8B-B14F-4D97-AF65-F5344CB8AC3E}">
        <p14:creationId xmlns:p14="http://schemas.microsoft.com/office/powerpoint/2010/main" val="209683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7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63807" y="2704593"/>
          <a:ext cx="8640240" cy="365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483AD172-41CE-4FF8-AFB7-9E94D5AD10A8}"/>
              </a:ext>
            </a:extLst>
          </p:cNvPr>
          <p:cNvSpPr txBox="1"/>
          <p:nvPr/>
        </p:nvSpPr>
        <p:spPr>
          <a:xfrm>
            <a:off x="538464" y="144818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1)  FIFO</a:t>
            </a:r>
            <a:r>
              <a:rPr lang="es-AR" dirty="0">
                <a:solidFill>
                  <a:schemeClr val="tx2"/>
                </a:solidFill>
              </a:rPr>
              <a:t> = FIRST IN FIRST OUT = PRIMERO ENTRADO PRIMERO SALIDO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69127" y="2040713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Primero veamos su inventario inicial al 31/12/2018:</a:t>
            </a:r>
          </a:p>
        </p:txBody>
      </p:sp>
    </p:spTree>
    <p:extLst>
      <p:ext uri="{BB962C8B-B14F-4D97-AF65-F5344CB8AC3E}">
        <p14:creationId xmlns:p14="http://schemas.microsoft.com/office/powerpoint/2010/main" val="64935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ctr">
            <a:normAutofit/>
          </a:bodyPr>
          <a:lstStyle/>
          <a:p>
            <a:r>
              <a:rPr lang="es-AR" sz="4000" dirty="0"/>
              <a:t>SISTEMAS DE INVENTARIO - FIFO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8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51880" y="2569590"/>
          <a:ext cx="8640240" cy="3685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17046" y="1789898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Enero ‘19 realiza una compra de MP:</a:t>
            </a:r>
          </a:p>
        </p:txBody>
      </p:sp>
    </p:spTree>
    <p:extLst>
      <p:ext uri="{BB962C8B-B14F-4D97-AF65-F5344CB8AC3E}">
        <p14:creationId xmlns:p14="http://schemas.microsoft.com/office/powerpoint/2010/main" val="2216346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ctr">
            <a:normAutofit/>
          </a:bodyPr>
          <a:lstStyle/>
          <a:p>
            <a:r>
              <a:rPr lang="es-AR" sz="4000" dirty="0"/>
              <a:t>SISTEMAS DE INVENTARIO - FIFO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9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51880" y="2397351"/>
          <a:ext cx="8640240" cy="3819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168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72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35334" y="1516651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Enero ‘19 se emite la O/P </a:t>
            </a:r>
            <a:r>
              <a:rPr lang="es-AR" dirty="0" err="1">
                <a:solidFill>
                  <a:schemeClr val="tx2"/>
                </a:solidFill>
              </a:rPr>
              <a:t>Nº</a:t>
            </a:r>
            <a:r>
              <a:rPr lang="es-AR" dirty="0">
                <a:solidFill>
                  <a:schemeClr val="tx2"/>
                </a:solidFill>
              </a:rPr>
              <a:t> 1 por 7 u:</a:t>
            </a:r>
          </a:p>
        </p:txBody>
      </p:sp>
    </p:spTree>
    <p:extLst>
      <p:ext uri="{BB962C8B-B14F-4D97-AF65-F5344CB8AC3E}">
        <p14:creationId xmlns:p14="http://schemas.microsoft.com/office/powerpoint/2010/main" val="4208807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 - FIFO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10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63807" y="2214403"/>
          <a:ext cx="8640240" cy="4227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168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72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Febrero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  <a:p>
                      <a:pPr algn="ctr"/>
                      <a:r>
                        <a:rPr lang="es-AR"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72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  <a:p>
                      <a:pPr algn="ctr"/>
                      <a:r>
                        <a:rPr lang="es-AR" sz="1800" dirty="0"/>
                        <a:t>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45273" y="1333953"/>
            <a:ext cx="807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Febrero ‘19 se realiza una nueva compra de MP:</a:t>
            </a:r>
          </a:p>
          <a:p>
            <a:endParaRPr lang="es-A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9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 - FIFO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11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178834"/>
              </p:ext>
            </p:extLst>
          </p:nvPr>
        </p:nvGraphicFramePr>
        <p:xfrm>
          <a:off x="251880" y="1988840"/>
          <a:ext cx="8640240" cy="4635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168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72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Febrero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  <a:p>
                      <a:pPr algn="ctr"/>
                      <a:r>
                        <a:rPr lang="es-AR"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72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  <a:p>
                      <a:pPr algn="ctr"/>
                      <a:r>
                        <a:rPr lang="es-AR" sz="1800" dirty="0"/>
                        <a:t>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/>
                        <a:t>Febrero 2019</a:t>
                      </a:r>
                    </a:p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2</a:t>
                      </a:r>
                    </a:p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3       5        1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 24    36     37,2     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72   180   37,2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38912" y="1425304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 Febrero ‘19  se  emite  la  O/P  Nº2   por  9 u, quedando el inventario:</a:t>
            </a:r>
          </a:p>
        </p:txBody>
      </p:sp>
    </p:spTree>
    <p:extLst>
      <p:ext uri="{BB962C8B-B14F-4D97-AF65-F5344CB8AC3E}">
        <p14:creationId xmlns:p14="http://schemas.microsoft.com/office/powerpoint/2010/main" val="1125270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12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148680" y="2703815"/>
          <a:ext cx="8640240" cy="365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483AD172-41CE-4FF8-AFB7-9E94D5AD10A8}"/>
              </a:ext>
            </a:extLst>
          </p:cNvPr>
          <p:cNvSpPr txBox="1"/>
          <p:nvPr/>
        </p:nvSpPr>
        <p:spPr>
          <a:xfrm>
            <a:off x="431180" y="144818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2)  LIFO</a:t>
            </a:r>
            <a:r>
              <a:rPr lang="es-AR" dirty="0">
                <a:solidFill>
                  <a:schemeClr val="tx2"/>
                </a:solidFill>
              </a:rPr>
              <a:t> = LAST IN FIRST OUT = ÚLTIMO ENTRADO PRIMERO SALIDO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31180" y="2221849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Primero veamos su inventario inicial al 31/12/2018:</a:t>
            </a:r>
          </a:p>
        </p:txBody>
      </p:sp>
    </p:spTree>
    <p:extLst>
      <p:ext uri="{BB962C8B-B14F-4D97-AF65-F5344CB8AC3E}">
        <p14:creationId xmlns:p14="http://schemas.microsoft.com/office/powerpoint/2010/main" val="149009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ctr">
            <a:normAutofit/>
          </a:bodyPr>
          <a:lstStyle/>
          <a:p>
            <a:r>
              <a:rPr lang="es-AR" sz="4000" dirty="0"/>
              <a:t>SISTEMAS DE INVENTARIO - LIFO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13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51880" y="2569590"/>
          <a:ext cx="8640240" cy="3685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17046" y="1789898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Enero ‘19 realiza una compra de MP:</a:t>
            </a:r>
          </a:p>
        </p:txBody>
      </p:sp>
    </p:spTree>
    <p:extLst>
      <p:ext uri="{BB962C8B-B14F-4D97-AF65-F5344CB8AC3E}">
        <p14:creationId xmlns:p14="http://schemas.microsoft.com/office/powerpoint/2010/main" val="314769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 - LIFO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14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63807" y="2214403"/>
          <a:ext cx="8640240" cy="3819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  <a:p>
                      <a:pPr algn="ctr"/>
                      <a:r>
                        <a:rPr lang="es-AR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180 48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8</a:t>
                      </a:r>
                    </a:p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192</a:t>
                      </a:r>
                    </a:p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44478" y="1353550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Enero ‘19 se emite la O/P </a:t>
            </a:r>
            <a:r>
              <a:rPr lang="es-AR" dirty="0" err="1">
                <a:solidFill>
                  <a:schemeClr val="tx2"/>
                </a:solidFill>
              </a:rPr>
              <a:t>Nº</a:t>
            </a:r>
            <a:r>
              <a:rPr lang="es-AR" dirty="0">
                <a:solidFill>
                  <a:schemeClr val="tx2"/>
                </a:solidFill>
              </a:rPr>
              <a:t> 1 por 7 u:</a:t>
            </a:r>
          </a:p>
        </p:txBody>
      </p:sp>
    </p:spTree>
    <p:extLst>
      <p:ext uri="{BB962C8B-B14F-4D97-AF65-F5344CB8AC3E}">
        <p14:creationId xmlns:p14="http://schemas.microsoft.com/office/powerpoint/2010/main" val="3643036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 - LIFO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15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63807" y="2214403"/>
          <a:ext cx="8640240" cy="3953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  <a:p>
                      <a:pPr algn="ctr"/>
                      <a:r>
                        <a:rPr lang="es-AR"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180 48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192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Febrero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8</a:t>
                      </a:r>
                    </a:p>
                    <a:p>
                      <a:pPr algn="ctr"/>
                      <a:r>
                        <a:rPr lang="es-AR"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192</a:t>
                      </a:r>
                    </a:p>
                    <a:p>
                      <a:pPr algn="ctr"/>
                      <a:r>
                        <a:rPr lang="es-AR" sz="1800" dirty="0"/>
                        <a:t>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45273" y="1333953"/>
            <a:ext cx="807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Febrero ‘19 se realiza una nueva compra de MP:</a:t>
            </a:r>
          </a:p>
          <a:p>
            <a:endParaRPr lang="es-A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89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 - LIFO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16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51880" y="1988840"/>
          <a:ext cx="8640240" cy="4178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5      2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36   24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180   48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192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Febrero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8       6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24    37,2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192   223,2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/>
                        <a:t>Febrero 2019</a:t>
                      </a:r>
                    </a:p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2</a:t>
                      </a:r>
                    </a:p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6      3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37,2 </a:t>
                      </a:r>
                    </a:p>
                    <a:p>
                      <a:pPr algn="ctr"/>
                      <a:r>
                        <a:rPr lang="es-AR" sz="1800" dirty="0"/>
                        <a:t>24    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223,2</a:t>
                      </a:r>
                    </a:p>
                    <a:p>
                      <a:pPr algn="ctr"/>
                      <a:r>
                        <a:rPr lang="es-AR" sz="1800" dirty="0"/>
                        <a:t>72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120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38912" y="1425304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 Febrero ‘19  se  emite  la  O/P  Nº2   por  9 u, quedando el inventario:</a:t>
            </a:r>
          </a:p>
        </p:txBody>
      </p:sp>
    </p:spTree>
    <p:extLst>
      <p:ext uri="{BB962C8B-B14F-4D97-AF65-F5344CB8AC3E}">
        <p14:creationId xmlns:p14="http://schemas.microsoft.com/office/powerpoint/2010/main" val="266605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17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148680" y="2703815"/>
          <a:ext cx="8640240" cy="365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483AD172-41CE-4FF8-AFB7-9E94D5AD10A8}"/>
              </a:ext>
            </a:extLst>
          </p:cNvPr>
          <p:cNvSpPr txBox="1"/>
          <p:nvPr/>
        </p:nvSpPr>
        <p:spPr>
          <a:xfrm>
            <a:off x="431180" y="144818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3)  PPP</a:t>
            </a:r>
            <a:r>
              <a:rPr lang="es-AR" dirty="0">
                <a:solidFill>
                  <a:schemeClr val="tx2"/>
                </a:solidFill>
              </a:rPr>
              <a:t> = PRECIO PROMEDIO PONDERADO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224199" y="1937498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Primero veamos su inventario inicial al 31/12/2018:</a:t>
            </a:r>
          </a:p>
        </p:txBody>
      </p:sp>
    </p:spTree>
    <p:extLst>
      <p:ext uri="{BB962C8B-B14F-4D97-AF65-F5344CB8AC3E}">
        <p14:creationId xmlns:p14="http://schemas.microsoft.com/office/powerpoint/2010/main" val="1012931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 - PPP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18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51880" y="1879749"/>
          <a:ext cx="8640240" cy="365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420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45273" y="1290930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Enero ‘19 realiza una compra de MP: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A6EBC4-E606-4665-9C06-206DD6B52876}"/>
              </a:ext>
            </a:extLst>
          </p:cNvPr>
          <p:cNvSpPr txBox="1"/>
          <p:nvPr/>
        </p:nvSpPr>
        <p:spPr>
          <a:xfrm>
            <a:off x="3392385" y="5729810"/>
            <a:ext cx="2761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180 + 240</a:t>
            </a:r>
          </a:p>
          <a:p>
            <a:r>
              <a:rPr lang="es-AR" dirty="0"/>
              <a:t>       15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FFEA3C9-AFA5-4A9D-AF34-0B59648B0610}"/>
              </a:ext>
            </a:extLst>
          </p:cNvPr>
          <p:cNvCxnSpPr>
            <a:cxnSpLocks/>
          </p:cNvCxnSpPr>
          <p:nvPr/>
        </p:nvCxnSpPr>
        <p:spPr>
          <a:xfrm>
            <a:off x="3205431" y="6055681"/>
            <a:ext cx="1366569" cy="6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298AFCA-AA02-41F1-8F51-872E191E166F}"/>
              </a:ext>
            </a:extLst>
          </p:cNvPr>
          <p:cNvCxnSpPr>
            <a:cxnSpLocks/>
          </p:cNvCxnSpPr>
          <p:nvPr/>
        </p:nvCxnSpPr>
        <p:spPr>
          <a:xfrm flipV="1">
            <a:off x="5086542" y="6066411"/>
            <a:ext cx="905042" cy="10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6155836-ECAD-4996-B4BF-0EA22A146774}"/>
              </a:ext>
            </a:extLst>
          </p:cNvPr>
          <p:cNvSpPr txBox="1"/>
          <p:nvPr/>
        </p:nvSpPr>
        <p:spPr>
          <a:xfrm>
            <a:off x="4677192" y="5892006"/>
            <a:ext cx="339472" cy="37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C318276-DEB3-4149-80CD-3A069EC00A90}"/>
              </a:ext>
            </a:extLst>
          </p:cNvPr>
          <p:cNvSpPr txBox="1"/>
          <p:nvPr/>
        </p:nvSpPr>
        <p:spPr>
          <a:xfrm>
            <a:off x="5314792" y="569023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420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F20092F-3F25-492B-9171-9963739C2463}"/>
              </a:ext>
            </a:extLst>
          </p:cNvPr>
          <p:cNvSpPr txBox="1"/>
          <p:nvPr/>
        </p:nvSpPr>
        <p:spPr>
          <a:xfrm>
            <a:off x="5352915" y="6006809"/>
            <a:ext cx="48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15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4913CFD-E609-4E8B-92F7-7E043FBD5132}"/>
              </a:ext>
            </a:extLst>
          </p:cNvPr>
          <p:cNvSpPr txBox="1"/>
          <p:nvPr/>
        </p:nvSpPr>
        <p:spPr>
          <a:xfrm>
            <a:off x="5991584" y="5873977"/>
            <a:ext cx="339472" cy="37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FCBE8C3-D805-4571-B681-533588CEB8A9}"/>
              </a:ext>
            </a:extLst>
          </p:cNvPr>
          <p:cNvSpPr txBox="1"/>
          <p:nvPr/>
        </p:nvSpPr>
        <p:spPr>
          <a:xfrm>
            <a:off x="6250896" y="5868310"/>
            <a:ext cx="54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391600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 - PPP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19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63807" y="2214403"/>
          <a:ext cx="8640240" cy="365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420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196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44478" y="1353550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Enero ‘19 se emite la O/P </a:t>
            </a:r>
            <a:r>
              <a:rPr lang="es-AR" dirty="0" err="1">
                <a:solidFill>
                  <a:schemeClr val="tx2"/>
                </a:solidFill>
              </a:rPr>
              <a:t>Nº</a:t>
            </a:r>
            <a:r>
              <a:rPr lang="es-AR" dirty="0">
                <a:solidFill>
                  <a:schemeClr val="tx2"/>
                </a:solidFill>
              </a:rPr>
              <a:t> 1 por 7 u:</a:t>
            </a:r>
          </a:p>
        </p:txBody>
      </p:sp>
    </p:spTree>
    <p:extLst>
      <p:ext uri="{BB962C8B-B14F-4D97-AF65-F5344CB8AC3E}">
        <p14:creationId xmlns:p14="http://schemas.microsoft.com/office/powerpoint/2010/main" val="2523157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332656"/>
            <a:ext cx="8214095" cy="1087797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 - PPP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20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71559" y="1621560"/>
          <a:ext cx="8640240" cy="3664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420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196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Febrero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31,9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447,2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17841" y="975229"/>
            <a:ext cx="807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Febrero ‘19 se realiza una nueva compra de MP:</a:t>
            </a:r>
          </a:p>
          <a:p>
            <a:endParaRPr lang="es-AR" dirty="0">
              <a:solidFill>
                <a:schemeClr val="tx2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8865F6-9619-4127-9E1C-040BF4B95395}"/>
              </a:ext>
            </a:extLst>
          </p:cNvPr>
          <p:cNvSpPr txBox="1"/>
          <p:nvPr/>
        </p:nvSpPr>
        <p:spPr>
          <a:xfrm>
            <a:off x="4211960" y="578032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223,2 + 224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DADB5F1-CACF-4694-9021-C6CB9AFE68D8}"/>
              </a:ext>
            </a:extLst>
          </p:cNvPr>
          <p:cNvSpPr txBox="1"/>
          <p:nvPr/>
        </p:nvSpPr>
        <p:spPr>
          <a:xfrm>
            <a:off x="4473797" y="6280523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6 + 8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D2C6DE-2EB2-4AE5-A8EF-B5E0BB46528C}"/>
              </a:ext>
            </a:extLst>
          </p:cNvPr>
          <p:cNvCxnSpPr/>
          <p:nvPr/>
        </p:nvCxnSpPr>
        <p:spPr>
          <a:xfrm>
            <a:off x="4067944" y="6237312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16288E-408C-4F31-A98C-12D832DA0871}"/>
              </a:ext>
            </a:extLst>
          </p:cNvPr>
          <p:cNvSpPr txBox="1"/>
          <p:nvPr/>
        </p:nvSpPr>
        <p:spPr>
          <a:xfrm>
            <a:off x="5584757" y="603634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D0AF8E-E820-4447-8197-5AC43A4637E0}"/>
              </a:ext>
            </a:extLst>
          </p:cNvPr>
          <p:cNvSpPr txBox="1"/>
          <p:nvPr/>
        </p:nvSpPr>
        <p:spPr>
          <a:xfrm>
            <a:off x="5913957" y="5978121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31,9</a:t>
            </a:r>
          </a:p>
        </p:txBody>
      </p:sp>
    </p:spTree>
    <p:extLst>
      <p:ext uri="{BB962C8B-B14F-4D97-AF65-F5344CB8AC3E}">
        <p14:creationId xmlns:p14="http://schemas.microsoft.com/office/powerpoint/2010/main" val="3342067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50A6B3-506B-4884-975E-069B3B71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603165"/>
            <a:ext cx="8229600" cy="1143000"/>
          </a:xfrm>
        </p:spPr>
        <p:txBody>
          <a:bodyPr anchor="t">
            <a:normAutofit/>
          </a:bodyPr>
          <a:lstStyle/>
          <a:p>
            <a:r>
              <a:rPr lang="es-AR" sz="4000" dirty="0"/>
              <a:t>SISTEMAS DE INVENTARIO - PPP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9E5233-27B7-4747-898E-CB11F754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21</a:t>
            </a:fld>
            <a:endParaRPr lang="es-PE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B441D6F7-EE15-43A6-A36B-7522CA39BD9D}"/>
              </a:ext>
            </a:extLst>
          </p:cNvPr>
          <p:cNvGraphicFramePr>
            <a:graphicFrameLocks noGrp="1"/>
          </p:cNvGraphicFramePr>
          <p:nvPr/>
        </p:nvGraphicFramePr>
        <p:xfrm>
          <a:off x="251880" y="1988840"/>
          <a:ext cx="8640240" cy="3889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00">
                  <a:extLst>
                    <a:ext uri="{9D8B030D-6E8A-4147-A177-3AD203B41FA5}">
                      <a16:colId xmlns:a16="http://schemas.microsoft.com/office/drawing/2014/main" val="1282181616"/>
                    </a:ext>
                  </a:extLst>
                </a:gridCol>
                <a:gridCol w="1135040">
                  <a:extLst>
                    <a:ext uri="{9D8B030D-6E8A-4147-A177-3AD203B41FA5}">
                      <a16:colId xmlns:a16="http://schemas.microsoft.com/office/drawing/2014/main" val="14013174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580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63362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1130564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24907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2934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0716049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4879155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39108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2681818"/>
                    </a:ext>
                  </a:extLst>
                </a:gridCol>
              </a:tblGrid>
              <a:tr h="393623">
                <a:tc rowSpan="2">
                  <a:txBody>
                    <a:bodyPr/>
                    <a:lstStyle/>
                    <a:p>
                      <a:pPr algn="ctr"/>
                      <a:r>
                        <a:rPr lang="es-AR" sz="1200" dirty="0"/>
                        <a:t>FECHA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s-AR" sz="1200" dirty="0"/>
                        <a:t>CONCEPTO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ENTRADA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SALIDA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EXISTENCIA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421439"/>
                  </a:ext>
                </a:extLst>
              </a:tr>
              <a:tr h="566555"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err="1"/>
                        <a:t>Cant</a:t>
                      </a:r>
                      <a:r>
                        <a:rPr lang="es-AR" sz="1400" dirty="0"/>
                        <a:t>.</a:t>
                      </a:r>
                    </a:p>
                    <a:p>
                      <a:pPr algn="ctr"/>
                      <a:r>
                        <a:rPr lang="es-AR" sz="1400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Pu                 $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Total    $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29687"/>
                  </a:ext>
                </a:extLst>
              </a:tr>
              <a:tr h="566555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31/12/2018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Inventario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240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4000956"/>
                  </a:ext>
                </a:extLst>
              </a:tr>
              <a:tr h="60737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180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420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937344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Enero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196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0639381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Febrero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/>
                        <a:t>Compra de 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223,2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31,9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447,2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1611718"/>
                  </a:ext>
                </a:extLst>
              </a:tr>
              <a:tr h="5061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/>
                        <a:t>Febrero 2019</a:t>
                      </a:r>
                    </a:p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dirty="0"/>
                        <a:t>O/P </a:t>
                      </a:r>
                      <a:r>
                        <a:rPr lang="es-AR" sz="1400" dirty="0" err="1"/>
                        <a:t>Nº</a:t>
                      </a:r>
                      <a:r>
                        <a:rPr lang="es-AR" sz="1400" dirty="0"/>
                        <a:t> 2</a:t>
                      </a:r>
                    </a:p>
                    <a:p>
                      <a:pPr algn="ctr"/>
                      <a:endParaRPr lang="es-AR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31,9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287,1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31,9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/>
                        <a:t>159,5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1582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5E6305-8A3D-40DF-936D-8D926D723BCC}"/>
              </a:ext>
            </a:extLst>
          </p:cNvPr>
          <p:cNvSpPr txBox="1"/>
          <p:nvPr/>
        </p:nvSpPr>
        <p:spPr>
          <a:xfrm>
            <a:off x="438912" y="1425304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En  Febrero ‘19  se  emite  la  O/P  Nº2   por  9 u, quedando el inventario:</a:t>
            </a:r>
          </a:p>
        </p:txBody>
      </p:sp>
    </p:spTree>
    <p:extLst>
      <p:ext uri="{BB962C8B-B14F-4D97-AF65-F5344CB8AC3E}">
        <p14:creationId xmlns:p14="http://schemas.microsoft.com/office/powerpoint/2010/main" val="2118705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46176" y="2514600"/>
            <a:ext cx="7851648" cy="1828800"/>
          </a:xfrm>
        </p:spPr>
        <p:txBody>
          <a:bodyPr anchor="ctr">
            <a:normAutofit/>
          </a:bodyPr>
          <a:lstStyle/>
          <a:p>
            <a:pPr algn="ctr"/>
            <a:r>
              <a:rPr lang="es-PE" sz="5400" dirty="0"/>
              <a:t>COSTO DE CAPITAL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CF8D23-85D3-49D2-B8AC-A737C76A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22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0663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B81A8-B5B5-4534-9277-F5F698D8D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s-AR" sz="4400" dirty="0"/>
              <a:t>COSTO DE CAPITAL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BAD1EE-064E-4718-9CB9-6FAE8DC4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23</a:t>
            </a:fld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448F75-2C75-4587-919E-A3F7EE67FD48}"/>
              </a:ext>
            </a:extLst>
          </p:cNvPr>
          <p:cNvSpPr txBox="1"/>
          <p:nvPr/>
        </p:nvSpPr>
        <p:spPr>
          <a:xfrm>
            <a:off x="611560" y="1988840"/>
            <a:ext cx="7313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es-AR" dirty="0">
                <a:solidFill>
                  <a:schemeClr val="tx2"/>
                </a:solidFill>
              </a:rPr>
              <a:t>Índice de endeudamiento (</a:t>
            </a:r>
            <a:r>
              <a:rPr lang="es-AR" dirty="0" err="1">
                <a:solidFill>
                  <a:schemeClr val="tx2"/>
                </a:solidFill>
              </a:rPr>
              <a:t>Ie</a:t>
            </a:r>
            <a:r>
              <a:rPr lang="es-AR" dirty="0">
                <a:solidFill>
                  <a:schemeClr val="tx2"/>
                </a:solidFill>
              </a:rPr>
              <a:t>)</a:t>
            </a:r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Mide el porcentaje de los activos de la empresa que son financiados con pasivos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8D084C-FEFC-4414-B5C1-A9494B342921}"/>
              </a:ext>
            </a:extLst>
          </p:cNvPr>
          <p:cNvSpPr txBox="1"/>
          <p:nvPr/>
        </p:nvSpPr>
        <p:spPr>
          <a:xfrm>
            <a:off x="2463552" y="329687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>
                <a:solidFill>
                  <a:schemeClr val="tx2"/>
                </a:solidFill>
              </a:rPr>
              <a:t>Ie</a:t>
            </a:r>
            <a:r>
              <a:rPr lang="es-AR" dirty="0">
                <a:solidFill>
                  <a:schemeClr val="tx2"/>
                </a:solidFill>
              </a:rPr>
              <a:t> =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BC70FA-C7B3-40EA-93C1-8B1B8E22FFFD}"/>
              </a:ext>
            </a:extLst>
          </p:cNvPr>
          <p:cNvSpPr txBox="1"/>
          <p:nvPr/>
        </p:nvSpPr>
        <p:spPr>
          <a:xfrm>
            <a:off x="3347864" y="3053922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Capital prestado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F5654A-3294-4EC2-8749-0435D3CDA497}"/>
              </a:ext>
            </a:extLst>
          </p:cNvPr>
          <p:cNvSpPr txBox="1"/>
          <p:nvPr/>
        </p:nvSpPr>
        <p:spPr>
          <a:xfrm>
            <a:off x="3471664" y="3539823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Activo total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B2BA7B2-BDD9-4302-81F0-9176F7966A28}"/>
              </a:ext>
            </a:extLst>
          </p:cNvPr>
          <p:cNvCxnSpPr/>
          <p:nvPr/>
        </p:nvCxnSpPr>
        <p:spPr>
          <a:xfrm>
            <a:off x="3183632" y="3481538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C4A53A-CF60-43A2-91FA-32370C00CAA5}"/>
              </a:ext>
            </a:extLst>
          </p:cNvPr>
          <p:cNvSpPr txBox="1"/>
          <p:nvPr/>
        </p:nvSpPr>
        <p:spPr>
          <a:xfrm>
            <a:off x="564752" y="4229432"/>
            <a:ext cx="7313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es-AR" dirty="0">
                <a:solidFill>
                  <a:schemeClr val="tx2"/>
                </a:solidFill>
              </a:rPr>
              <a:t>Aporte de capital</a:t>
            </a:r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Mide  la proporción de los activos de la empresa que son financiados por los socios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72C685D-1517-4BD6-8494-4F1121E3D258}"/>
              </a:ext>
            </a:extLst>
          </p:cNvPr>
          <p:cNvSpPr txBox="1"/>
          <p:nvPr/>
        </p:nvSpPr>
        <p:spPr>
          <a:xfrm>
            <a:off x="1752884" y="5715989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Aporte de capital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0817BF0-E19A-4ABB-92E0-C047ECD61736}"/>
              </a:ext>
            </a:extLst>
          </p:cNvPr>
          <p:cNvSpPr txBox="1"/>
          <p:nvPr/>
        </p:nvSpPr>
        <p:spPr>
          <a:xfrm>
            <a:off x="4221372" y="5473039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Capital social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508C6E-6645-42B2-B6C2-A1AF75B87730}"/>
              </a:ext>
            </a:extLst>
          </p:cNvPr>
          <p:cNvSpPr txBox="1"/>
          <p:nvPr/>
        </p:nvSpPr>
        <p:spPr>
          <a:xfrm>
            <a:off x="4345172" y="5958940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Activo total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DC6BBD7-B5EA-40A1-AE08-51E5285DC243}"/>
              </a:ext>
            </a:extLst>
          </p:cNvPr>
          <p:cNvCxnSpPr/>
          <p:nvPr/>
        </p:nvCxnSpPr>
        <p:spPr>
          <a:xfrm>
            <a:off x="4057140" y="5900655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5DED169-AC42-4EF5-8BC0-6A9ED91B04A5}"/>
              </a:ext>
            </a:extLst>
          </p:cNvPr>
          <p:cNvSpPr txBox="1"/>
          <p:nvPr/>
        </p:nvSpPr>
        <p:spPr>
          <a:xfrm>
            <a:off x="3625092" y="571974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163965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F1723-6894-4E9F-9114-E232DBF2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s-AR" sz="4400" dirty="0"/>
              <a:t>COSTO DE CAPITAL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D1F1B9-9CF4-4918-BFEF-9C326DA0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24</a:t>
            </a:fld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7C08BC-80D5-4C89-9EBE-D8C8A172C108}"/>
              </a:ext>
            </a:extLst>
          </p:cNvPr>
          <p:cNvSpPr txBox="1"/>
          <p:nvPr/>
        </p:nvSpPr>
        <p:spPr>
          <a:xfrm>
            <a:off x="1691680" y="2169521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EFECTO PALANCA O “LEVERAGE”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E58F2A-59A5-48A2-8451-D31B182B143C}"/>
              </a:ext>
            </a:extLst>
          </p:cNvPr>
          <p:cNvSpPr txBox="1"/>
          <p:nvPr/>
        </p:nvSpPr>
        <p:spPr>
          <a:xfrm>
            <a:off x="635616" y="3078207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El efecto palanca o </a:t>
            </a:r>
            <a:r>
              <a:rPr lang="es-AR" sz="2400" dirty="0" err="1">
                <a:solidFill>
                  <a:schemeClr val="tx2"/>
                </a:solidFill>
              </a:rPr>
              <a:t>Leverage</a:t>
            </a:r>
            <a:r>
              <a:rPr lang="es-AR" sz="2400" dirty="0">
                <a:solidFill>
                  <a:schemeClr val="tx2"/>
                </a:solidFill>
              </a:rPr>
              <a:t>, se utiliza para mostrar la contribución del capital prestado a la rentabilidad de los recursos propios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9B8DC0-A698-4734-97F1-14D7AA2D06DF}"/>
              </a:ext>
            </a:extLst>
          </p:cNvPr>
          <p:cNvSpPr txBox="1"/>
          <p:nvPr/>
        </p:nvSpPr>
        <p:spPr>
          <a:xfrm>
            <a:off x="611560" y="4885817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Los pasivos incrementan la rentabilidad del Patrimonio Neto cuando tienen un costo menor a la rentabilidad del activo</a:t>
            </a:r>
          </a:p>
        </p:txBody>
      </p:sp>
    </p:spTree>
    <p:extLst>
      <p:ext uri="{BB962C8B-B14F-4D97-AF65-F5344CB8AC3E}">
        <p14:creationId xmlns:p14="http://schemas.microsoft.com/office/powerpoint/2010/main" val="1104270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ED6C7-5CD2-41F9-BD82-09BEE4B6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s-AR" sz="4400" dirty="0"/>
              <a:t>COSTO DE CAPITAL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D4E575-93CD-4684-BF9D-62DC798C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25</a:t>
            </a:fld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0F0B2A-96A0-4613-9EEF-AB0FEC6A4E50}"/>
              </a:ext>
            </a:extLst>
          </p:cNvPr>
          <p:cNvSpPr/>
          <p:nvPr/>
        </p:nvSpPr>
        <p:spPr>
          <a:xfrm>
            <a:off x="683568" y="1556792"/>
            <a:ext cx="3669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EFECTO PALANCA O “LEVERAGE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688A47-548A-4058-AB7B-349542AF496F}"/>
              </a:ext>
            </a:extLst>
          </p:cNvPr>
          <p:cNvSpPr txBox="1"/>
          <p:nvPr/>
        </p:nvSpPr>
        <p:spPr>
          <a:xfrm>
            <a:off x="611560" y="220486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Definimos 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4A05D4-6E22-4BBE-AB13-669288ADC96C}"/>
              </a:ext>
            </a:extLst>
          </p:cNvPr>
          <p:cNvSpPr txBox="1"/>
          <p:nvPr/>
        </p:nvSpPr>
        <p:spPr>
          <a:xfrm>
            <a:off x="688192" y="2870910"/>
            <a:ext cx="6620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ROE (</a:t>
            </a:r>
            <a:r>
              <a:rPr lang="es-AR" dirty="0" err="1">
                <a:solidFill>
                  <a:schemeClr val="tx2"/>
                </a:solidFill>
              </a:rPr>
              <a:t>Return</a:t>
            </a:r>
            <a:r>
              <a:rPr lang="es-AR" dirty="0">
                <a:solidFill>
                  <a:schemeClr val="tx2"/>
                </a:solidFill>
              </a:rPr>
              <a:t> </a:t>
            </a:r>
            <a:r>
              <a:rPr lang="es-AR" dirty="0" err="1">
                <a:solidFill>
                  <a:schemeClr val="tx2"/>
                </a:solidFill>
              </a:rPr>
              <a:t>on</a:t>
            </a:r>
            <a:r>
              <a:rPr lang="es-AR" dirty="0">
                <a:solidFill>
                  <a:schemeClr val="tx2"/>
                </a:solidFill>
              </a:rPr>
              <a:t> </a:t>
            </a:r>
            <a:r>
              <a:rPr lang="es-AR" dirty="0" err="1">
                <a:solidFill>
                  <a:schemeClr val="tx2"/>
                </a:solidFill>
              </a:rPr>
              <a:t>equity</a:t>
            </a:r>
            <a:r>
              <a:rPr lang="es-AR" dirty="0">
                <a:solidFill>
                  <a:schemeClr val="tx2"/>
                </a:solidFill>
              </a:rPr>
              <a:t>), como la rentabilidad del patrimonio neto, es decir del capital propio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DC3A5CC-B87D-4598-BEEE-A6952B5AB066}"/>
              </a:ext>
            </a:extLst>
          </p:cNvPr>
          <p:cNvSpPr txBox="1"/>
          <p:nvPr/>
        </p:nvSpPr>
        <p:spPr>
          <a:xfrm>
            <a:off x="1393032" y="4515564"/>
            <a:ext cx="874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ROE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D79330-6386-4347-B44B-C166C54D9466}"/>
              </a:ext>
            </a:extLst>
          </p:cNvPr>
          <p:cNvSpPr txBox="1"/>
          <p:nvPr/>
        </p:nvSpPr>
        <p:spPr>
          <a:xfrm>
            <a:off x="2166864" y="4499561"/>
            <a:ext cx="3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=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9977D74-D34D-48AC-A429-9DF0477FA1B2}"/>
              </a:ext>
            </a:extLst>
          </p:cNvPr>
          <p:cNvSpPr txBox="1"/>
          <p:nvPr/>
        </p:nvSpPr>
        <p:spPr>
          <a:xfrm>
            <a:off x="3771608" y="4754239"/>
            <a:ext cx="267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Patrimonio Neto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238D58D-DFDE-43C0-AB17-6DC47E8C3465}"/>
              </a:ext>
            </a:extLst>
          </p:cNvPr>
          <p:cNvSpPr txBox="1"/>
          <p:nvPr/>
        </p:nvSpPr>
        <p:spPr>
          <a:xfrm>
            <a:off x="2905200" y="4277361"/>
            <a:ext cx="605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Beneficio final( después de Intereses e IIGG)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8A15D75-897E-4BDB-9434-D5E2B43D2752}"/>
              </a:ext>
            </a:extLst>
          </p:cNvPr>
          <p:cNvCxnSpPr/>
          <p:nvPr/>
        </p:nvCxnSpPr>
        <p:spPr>
          <a:xfrm flipV="1">
            <a:off x="2761184" y="4659580"/>
            <a:ext cx="4464496" cy="40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523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46CE3-B4B1-46E3-989D-92CD774F8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2086"/>
            <a:ext cx="8229600" cy="1143000"/>
          </a:xfrm>
        </p:spPr>
        <p:txBody>
          <a:bodyPr>
            <a:normAutofit/>
          </a:bodyPr>
          <a:lstStyle/>
          <a:p>
            <a:r>
              <a:rPr lang="es-AR" sz="4400" dirty="0"/>
              <a:t>COSTO DE CAPITAL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E7F731-0968-4DFA-A404-28E38D05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26</a:t>
            </a:fld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31D2BD-E532-46DB-97FF-CFDDAA921FDC}"/>
              </a:ext>
            </a:extLst>
          </p:cNvPr>
          <p:cNvSpPr/>
          <p:nvPr/>
        </p:nvSpPr>
        <p:spPr>
          <a:xfrm>
            <a:off x="755576" y="1812800"/>
            <a:ext cx="3669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EFECTO PALANCA O “LEVERAGE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D9CA327-9195-40A1-A260-31042ADB0529}"/>
              </a:ext>
            </a:extLst>
          </p:cNvPr>
          <p:cNvSpPr txBox="1"/>
          <p:nvPr/>
        </p:nvSpPr>
        <p:spPr>
          <a:xfrm>
            <a:off x="688192" y="2870910"/>
            <a:ext cx="662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ROA (</a:t>
            </a:r>
            <a:r>
              <a:rPr lang="es-AR" dirty="0" err="1">
                <a:solidFill>
                  <a:schemeClr val="tx2"/>
                </a:solidFill>
              </a:rPr>
              <a:t>Return</a:t>
            </a:r>
            <a:r>
              <a:rPr lang="es-AR" dirty="0">
                <a:solidFill>
                  <a:schemeClr val="tx2"/>
                </a:solidFill>
              </a:rPr>
              <a:t> </a:t>
            </a:r>
            <a:r>
              <a:rPr lang="es-AR" dirty="0" err="1">
                <a:solidFill>
                  <a:schemeClr val="tx2"/>
                </a:solidFill>
              </a:rPr>
              <a:t>On</a:t>
            </a:r>
            <a:r>
              <a:rPr lang="es-AR" dirty="0">
                <a:solidFill>
                  <a:schemeClr val="tx2"/>
                </a:solidFill>
              </a:rPr>
              <a:t> </a:t>
            </a:r>
            <a:r>
              <a:rPr lang="es-AR" dirty="0" err="1">
                <a:solidFill>
                  <a:schemeClr val="tx2"/>
                </a:solidFill>
              </a:rPr>
              <a:t>Assets</a:t>
            </a:r>
            <a:r>
              <a:rPr lang="es-AR" dirty="0">
                <a:solidFill>
                  <a:schemeClr val="tx2"/>
                </a:solidFill>
              </a:rPr>
              <a:t>), como la rentabilidad sobre los activos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1E2733D-DA42-4021-9D40-479AA03D7718}"/>
              </a:ext>
            </a:extLst>
          </p:cNvPr>
          <p:cNvSpPr txBox="1"/>
          <p:nvPr/>
        </p:nvSpPr>
        <p:spPr>
          <a:xfrm>
            <a:off x="1393032" y="4515564"/>
            <a:ext cx="874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ROA</a:t>
            </a:r>
            <a:r>
              <a:rPr lang="es-AR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2248F0-B8B6-4741-ADD0-67AA2F6C1638}"/>
              </a:ext>
            </a:extLst>
          </p:cNvPr>
          <p:cNvSpPr txBox="1"/>
          <p:nvPr/>
        </p:nvSpPr>
        <p:spPr>
          <a:xfrm>
            <a:off x="2166864" y="4499561"/>
            <a:ext cx="3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=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7DD7741-B824-4971-B4F2-EAB1E66EB652}"/>
              </a:ext>
            </a:extLst>
          </p:cNvPr>
          <p:cNvSpPr txBox="1"/>
          <p:nvPr/>
        </p:nvSpPr>
        <p:spPr>
          <a:xfrm>
            <a:off x="3779912" y="4868893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Activo Total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49DF40-F49B-432E-AC45-4FC7830F8BBE}"/>
              </a:ext>
            </a:extLst>
          </p:cNvPr>
          <p:cNvSpPr txBox="1"/>
          <p:nvPr/>
        </p:nvSpPr>
        <p:spPr>
          <a:xfrm>
            <a:off x="2905200" y="4277361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tx2"/>
                </a:solidFill>
              </a:rPr>
              <a:t>Beneficio ( después de IIGG)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D242EA3-CE2F-489C-905F-CB0A7C166C83}"/>
              </a:ext>
            </a:extLst>
          </p:cNvPr>
          <p:cNvCxnSpPr>
            <a:cxnSpLocks/>
          </p:cNvCxnSpPr>
          <p:nvPr/>
        </p:nvCxnSpPr>
        <p:spPr>
          <a:xfrm>
            <a:off x="2761184" y="4700230"/>
            <a:ext cx="4115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444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468C9-F25A-420D-880B-F897073FA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400" dirty="0"/>
              <a:t>COSTO DE CAPITAL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1C9492-A8D0-4D45-BE47-1518B92B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27</a:t>
            </a:fld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3999C2F-2D7A-45BF-960E-5B00455A1B8D}"/>
              </a:ext>
            </a:extLst>
          </p:cNvPr>
          <p:cNvSpPr/>
          <p:nvPr/>
        </p:nvSpPr>
        <p:spPr>
          <a:xfrm>
            <a:off x="683568" y="1916832"/>
            <a:ext cx="3669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EFECTO PALANCA O “LEVERAGE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3A78581-9FBF-4B22-BAD4-3D4D7B22D44B}"/>
              </a:ext>
            </a:extLst>
          </p:cNvPr>
          <p:cNvSpPr txBox="1"/>
          <p:nvPr/>
        </p:nvSpPr>
        <p:spPr>
          <a:xfrm>
            <a:off x="1242848" y="3081654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Efecto Palanca (EP)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ECBD45-1DE6-42D2-8955-3315BC956174}"/>
              </a:ext>
            </a:extLst>
          </p:cNvPr>
          <p:cNvSpPr txBox="1"/>
          <p:nvPr/>
        </p:nvSpPr>
        <p:spPr>
          <a:xfrm>
            <a:off x="4139952" y="305037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=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8D3D1E8-6AE5-4AA3-AD5D-CDDB40FA023B}"/>
              </a:ext>
            </a:extLst>
          </p:cNvPr>
          <p:cNvSpPr txBox="1"/>
          <p:nvPr/>
        </p:nvSpPr>
        <p:spPr>
          <a:xfrm>
            <a:off x="3399880" y="2928489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ROE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34A5F54-A5DC-44BB-A0D8-136103863928}"/>
              </a:ext>
            </a:extLst>
          </p:cNvPr>
          <p:cNvSpPr txBox="1"/>
          <p:nvPr/>
        </p:nvSpPr>
        <p:spPr>
          <a:xfrm>
            <a:off x="3405309" y="3266701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ROA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3C47C4D-35A7-48E9-9D42-10D3EDFE0B3D}"/>
              </a:ext>
            </a:extLst>
          </p:cNvPr>
          <p:cNvCxnSpPr/>
          <p:nvPr/>
        </p:nvCxnSpPr>
        <p:spPr>
          <a:xfrm>
            <a:off x="3360408" y="3253626"/>
            <a:ext cx="7795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7598892-D0A5-41AA-A735-CFE5D95E1F47}"/>
              </a:ext>
            </a:extLst>
          </p:cNvPr>
          <p:cNvCxnSpPr>
            <a:cxnSpLocks/>
          </p:cNvCxnSpPr>
          <p:nvPr/>
        </p:nvCxnSpPr>
        <p:spPr>
          <a:xfrm>
            <a:off x="4624016" y="2969728"/>
            <a:ext cx="1840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677D946-A102-453C-B4EC-C4A60240580B}"/>
              </a:ext>
            </a:extLst>
          </p:cNvPr>
          <p:cNvSpPr txBox="1"/>
          <p:nvPr/>
        </p:nvSpPr>
        <p:spPr>
          <a:xfrm>
            <a:off x="4716016" y="2632654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Beneficio final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24D54C7-6FE2-4755-97BC-572165947DC5}"/>
              </a:ext>
            </a:extLst>
          </p:cNvPr>
          <p:cNvSpPr txBox="1"/>
          <p:nvPr/>
        </p:nvSpPr>
        <p:spPr>
          <a:xfrm>
            <a:off x="4648626" y="2923022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Patrimonio Neto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F6FEF2B0-6C8F-400C-8378-0BBEF144F875}"/>
              </a:ext>
            </a:extLst>
          </p:cNvPr>
          <p:cNvCxnSpPr>
            <a:cxnSpLocks/>
          </p:cNvCxnSpPr>
          <p:nvPr/>
        </p:nvCxnSpPr>
        <p:spPr>
          <a:xfrm>
            <a:off x="4572000" y="3253626"/>
            <a:ext cx="19442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0130F3E-949A-4B31-8F80-A54DB9042356}"/>
              </a:ext>
            </a:extLst>
          </p:cNvPr>
          <p:cNvCxnSpPr>
            <a:cxnSpLocks/>
          </p:cNvCxnSpPr>
          <p:nvPr/>
        </p:nvCxnSpPr>
        <p:spPr>
          <a:xfrm>
            <a:off x="4680012" y="3501008"/>
            <a:ext cx="17281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211085C-D886-483E-9D98-FECA744FEAFD}"/>
              </a:ext>
            </a:extLst>
          </p:cNvPr>
          <p:cNvSpPr txBox="1"/>
          <p:nvPr/>
        </p:nvSpPr>
        <p:spPr>
          <a:xfrm>
            <a:off x="4928717" y="3219472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Beneficio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D4B2A97-13AB-4820-A660-44A481A12777}"/>
              </a:ext>
            </a:extLst>
          </p:cNvPr>
          <p:cNvSpPr txBox="1"/>
          <p:nvPr/>
        </p:nvSpPr>
        <p:spPr>
          <a:xfrm>
            <a:off x="4841146" y="3463578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Activo Total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A610038-D6EB-4F06-94A7-75713EFA48A8}"/>
              </a:ext>
            </a:extLst>
          </p:cNvPr>
          <p:cNvSpPr txBox="1"/>
          <p:nvPr/>
        </p:nvSpPr>
        <p:spPr>
          <a:xfrm>
            <a:off x="361989" y="3842312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El efecto palanca, puede ser: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6EE391C-513D-40AF-9FA4-82A2C0A315CF}"/>
              </a:ext>
            </a:extLst>
          </p:cNvPr>
          <p:cNvSpPr txBox="1"/>
          <p:nvPr/>
        </p:nvSpPr>
        <p:spPr>
          <a:xfrm>
            <a:off x="797852" y="4310794"/>
            <a:ext cx="6078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2"/>
                </a:solidFill>
              </a:rPr>
              <a:t>EP &gt; 1 =&gt; el financiamiento con crédito ha contribuido a          	    aumentar la rentabilidad del PN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A2D9F46-AEDF-4E1F-9502-CBA3F7B531DF}"/>
              </a:ext>
            </a:extLst>
          </p:cNvPr>
          <p:cNvSpPr txBox="1"/>
          <p:nvPr/>
        </p:nvSpPr>
        <p:spPr>
          <a:xfrm>
            <a:off x="797852" y="4881712"/>
            <a:ext cx="7126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2"/>
                </a:solidFill>
              </a:rPr>
              <a:t>EP = 1 =&gt; el financiamiento con crédito ha sido neutro, es decir no ha 	     	    aumentado ni disminuido la rentabilidad del PN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D04744C-12F7-42CE-AE27-7562DBD151BD}"/>
              </a:ext>
            </a:extLst>
          </p:cNvPr>
          <p:cNvSpPr txBox="1"/>
          <p:nvPr/>
        </p:nvSpPr>
        <p:spPr>
          <a:xfrm>
            <a:off x="775539" y="5546784"/>
            <a:ext cx="7126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2"/>
                </a:solidFill>
              </a:rPr>
              <a:t>EP &lt; 1 =&gt; el financiamiento con crédito ha contribuido a una perdida en  la 	     rentabilidad del PN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52C96AA-B471-4C88-945E-8DFA3F1A28FF}"/>
              </a:ext>
            </a:extLst>
          </p:cNvPr>
          <p:cNvSpPr txBox="1"/>
          <p:nvPr/>
        </p:nvSpPr>
        <p:spPr>
          <a:xfrm>
            <a:off x="3067758" y="3050376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298718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F4DD09-FDFB-46A7-8739-A4B6C5FE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28</a:t>
            </a:fld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B00501-9FC0-47AC-B9BC-61611233B45A}"/>
              </a:ext>
            </a:extLst>
          </p:cNvPr>
          <p:cNvSpPr txBox="1"/>
          <p:nvPr/>
        </p:nvSpPr>
        <p:spPr>
          <a:xfrm>
            <a:off x="611560" y="90872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Ejemplo:</a:t>
            </a:r>
          </a:p>
        </p:txBody>
      </p:sp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AF0FDE77-1FE0-4778-8694-3F2126199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548805"/>
              </p:ext>
            </p:extLst>
          </p:nvPr>
        </p:nvGraphicFramePr>
        <p:xfrm>
          <a:off x="1260475" y="1325563"/>
          <a:ext cx="6729413" cy="397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Worksheet" r:id="rId3" imgW="5895955" imgH="3486170" progId="Excel.Sheet.12">
                  <p:embed/>
                </p:oleObj>
              </mc:Choice>
              <mc:Fallback>
                <p:oleObj name="Worksheet" r:id="rId3" imgW="5895955" imgH="348617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0475" y="1325563"/>
                        <a:ext cx="6729413" cy="3978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046FD5A7-C35D-40B8-D27C-E25BF14D258F}"/>
              </a:ext>
            </a:extLst>
          </p:cNvPr>
          <p:cNvSpPr txBox="1"/>
          <p:nvPr/>
        </p:nvSpPr>
        <p:spPr>
          <a:xfrm>
            <a:off x="2987824" y="5539180"/>
            <a:ext cx="3240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Ie</a:t>
            </a:r>
            <a:r>
              <a:rPr lang="es-AR" dirty="0"/>
              <a:t>: </a:t>
            </a:r>
            <a:r>
              <a:rPr lang="es-AR" dirty="0" err="1"/>
              <a:t>Indice</a:t>
            </a:r>
            <a:r>
              <a:rPr lang="es-AR" dirty="0"/>
              <a:t> de endeudamiento</a:t>
            </a:r>
          </a:p>
          <a:p>
            <a:r>
              <a:rPr lang="es-AR" dirty="0" err="1"/>
              <a:t>Kd</a:t>
            </a:r>
            <a:r>
              <a:rPr lang="es-AR" dirty="0"/>
              <a:t>: Tasa dirigida</a:t>
            </a:r>
          </a:p>
          <a:p>
            <a:r>
              <a:rPr lang="es-AR" dirty="0"/>
              <a:t>Kc: Tasa de corte</a:t>
            </a:r>
          </a:p>
        </p:txBody>
      </p:sp>
    </p:spTree>
    <p:extLst>
      <p:ext uri="{BB962C8B-B14F-4D97-AF65-F5344CB8AC3E}">
        <p14:creationId xmlns:p14="http://schemas.microsoft.com/office/powerpoint/2010/main" val="3160138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1B13E1-7E1B-46C3-B3B7-39CAC962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29</a:t>
            </a:fld>
            <a:endParaRPr lang="es-PE" dirty="0"/>
          </a:p>
        </p:txBody>
      </p:sp>
      <p:graphicFrame>
        <p:nvGraphicFramePr>
          <p:cNvPr id="59" name="Objeto 58">
            <a:extLst>
              <a:ext uri="{FF2B5EF4-FFF2-40B4-BE49-F238E27FC236}">
                <a16:creationId xmlns:a16="http://schemas.microsoft.com/office/drawing/2014/main" id="{7D4B3993-E7BC-4962-A80B-435C689938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41250"/>
              </p:ext>
            </p:extLst>
          </p:nvPr>
        </p:nvGraphicFramePr>
        <p:xfrm>
          <a:off x="694182" y="1516535"/>
          <a:ext cx="7511907" cy="3704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Worksheet" r:id="rId3" imgW="5820355" imgH="2870330" progId="Excel.Sheet.12">
                  <p:embed/>
                </p:oleObj>
              </mc:Choice>
              <mc:Fallback>
                <p:oleObj name="Worksheet" r:id="rId3" imgW="5820355" imgH="287033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4182" y="1516535"/>
                        <a:ext cx="7511907" cy="37047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6" name="Conector recto 20">
            <a:extLst>
              <a:ext uri="{FF2B5EF4-FFF2-40B4-BE49-F238E27FC236}">
                <a16:creationId xmlns:a16="http://schemas.microsoft.com/office/drawing/2014/main" id="{295E1703-B680-4313-BB01-5EA7F6A1B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317500"/>
            <a:ext cx="1543050" cy="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8403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70A5E-EC93-442A-BBE9-256ACEC7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s-AR" sz="4400" dirty="0"/>
              <a:t>TASA DE COSTO DE CAPITAL </a:t>
            </a:r>
            <a:r>
              <a:rPr lang="es-AR" sz="3100" dirty="0"/>
              <a:t>(WACC)</a:t>
            </a:r>
            <a:br>
              <a:rPr lang="es-AR" sz="3100" dirty="0"/>
            </a:br>
            <a:br>
              <a:rPr lang="es-AR" sz="3100" dirty="0"/>
            </a:br>
            <a:endParaRPr lang="es-AR" sz="31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0FD707-CFB4-4F05-8304-F66A9842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30</a:t>
            </a:fld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2AE176-C8CA-4149-81AD-596AB069B8AC}"/>
              </a:ext>
            </a:extLst>
          </p:cNvPr>
          <p:cNvSpPr txBox="1"/>
          <p:nvPr/>
        </p:nvSpPr>
        <p:spPr>
          <a:xfrm>
            <a:off x="611560" y="1628800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>
                <a:solidFill>
                  <a:schemeClr val="tx2"/>
                </a:solidFill>
              </a:rPr>
              <a:t>Weighted</a:t>
            </a:r>
            <a:r>
              <a:rPr lang="es-AR" dirty="0">
                <a:solidFill>
                  <a:schemeClr val="tx2"/>
                </a:solidFill>
              </a:rPr>
              <a:t> </a:t>
            </a:r>
            <a:r>
              <a:rPr lang="es-AR" dirty="0" err="1">
                <a:solidFill>
                  <a:schemeClr val="tx2"/>
                </a:solidFill>
              </a:rPr>
              <a:t>average</a:t>
            </a:r>
            <a:r>
              <a:rPr lang="es-AR" dirty="0">
                <a:solidFill>
                  <a:schemeClr val="tx2"/>
                </a:solidFill>
              </a:rPr>
              <a:t> </a:t>
            </a:r>
            <a:r>
              <a:rPr lang="es-AR" dirty="0" err="1">
                <a:solidFill>
                  <a:schemeClr val="tx2"/>
                </a:solidFill>
              </a:rPr>
              <a:t>cost</a:t>
            </a:r>
            <a:r>
              <a:rPr lang="es-AR" dirty="0">
                <a:solidFill>
                  <a:schemeClr val="tx2"/>
                </a:solidFill>
              </a:rPr>
              <a:t> </a:t>
            </a:r>
            <a:r>
              <a:rPr lang="es-AR" dirty="0" err="1">
                <a:solidFill>
                  <a:schemeClr val="tx2"/>
                </a:solidFill>
              </a:rPr>
              <a:t>of</a:t>
            </a:r>
            <a:r>
              <a:rPr lang="es-AR" dirty="0">
                <a:solidFill>
                  <a:schemeClr val="tx2"/>
                </a:solidFill>
              </a:rPr>
              <a:t> capital (WACC) o Promedio Ponderado del Costo de Capital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BE3203-0935-474C-B192-84FDB6CC919B}"/>
              </a:ext>
            </a:extLst>
          </p:cNvPr>
          <p:cNvSpPr txBox="1"/>
          <p:nvPr/>
        </p:nvSpPr>
        <p:spPr>
          <a:xfrm>
            <a:off x="611560" y="2301812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Es la tasa que se paga por los recursos promediándolos.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896939-5BC9-47DF-A5B7-EE47D35C3AC2}"/>
              </a:ext>
            </a:extLst>
          </p:cNvPr>
          <p:cNvSpPr txBox="1"/>
          <p:nvPr/>
        </p:nvSpPr>
        <p:spPr>
          <a:xfrm>
            <a:off x="611560" y="2724544"/>
            <a:ext cx="7776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Existen dos tipos de recursos,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De deuda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De capital propio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B1322C-9FC2-46E5-8FCC-D44636138A47}"/>
              </a:ext>
            </a:extLst>
          </p:cNvPr>
          <p:cNvSpPr txBox="1"/>
          <p:nvPr/>
        </p:nvSpPr>
        <p:spPr>
          <a:xfrm>
            <a:off x="587016" y="3647874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Cada uno tiene su tasa,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4EBF001-0477-4D39-AB70-68618763D8CD}"/>
              </a:ext>
            </a:extLst>
          </p:cNvPr>
          <p:cNvSpPr txBox="1"/>
          <p:nvPr/>
        </p:nvSpPr>
        <p:spPr>
          <a:xfrm>
            <a:off x="611560" y="4094142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chemeClr val="tx2"/>
                </a:solidFill>
              </a:rPr>
              <a:t>El capital propio</a:t>
            </a:r>
            <a:r>
              <a:rPr lang="es-AR" sz="1600" dirty="0">
                <a:solidFill>
                  <a:schemeClr val="tx2"/>
                </a:solidFill>
              </a:rPr>
              <a:t>, tiene la tasa de corte de la empresa (Kc), es decir la tasa de oportunidad por sobre la cual se aceptan los negocios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DADB53B-D61F-45A3-9FAD-2C6AE9C5AC23}"/>
              </a:ext>
            </a:extLst>
          </p:cNvPr>
          <p:cNvSpPr txBox="1"/>
          <p:nvPr/>
        </p:nvSpPr>
        <p:spPr>
          <a:xfrm>
            <a:off x="587016" y="4822316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chemeClr val="tx2"/>
                </a:solidFill>
              </a:rPr>
              <a:t>El costo de la deuda</a:t>
            </a:r>
            <a:r>
              <a:rPr lang="es-AR" sz="1600" dirty="0">
                <a:solidFill>
                  <a:schemeClr val="tx2"/>
                </a:solidFill>
              </a:rPr>
              <a:t>, tiene la tasa dirigida (</a:t>
            </a:r>
            <a:r>
              <a:rPr lang="es-AR" sz="1600" dirty="0" err="1">
                <a:solidFill>
                  <a:schemeClr val="tx2"/>
                </a:solidFill>
              </a:rPr>
              <a:t>Kd</a:t>
            </a:r>
            <a:r>
              <a:rPr lang="es-AR" sz="1600" dirty="0">
                <a:solidFill>
                  <a:schemeClr val="tx2"/>
                </a:solidFill>
              </a:rPr>
              <a:t>), es decir la tasa que se calcula en bases a intereses pagados por usar capital prestado</a:t>
            </a:r>
          </a:p>
        </p:txBody>
      </p:sp>
    </p:spTree>
    <p:extLst>
      <p:ext uri="{BB962C8B-B14F-4D97-AF65-F5344CB8AC3E}">
        <p14:creationId xmlns:p14="http://schemas.microsoft.com/office/powerpoint/2010/main" val="1972096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ACDAA-4DBE-4809-955E-8DDBD390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s-AR" sz="4000" dirty="0"/>
              <a:t>TASA DE COSTO DE CAPITAL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81AB6C-8638-45EE-9CDD-52A5458A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31</a:t>
            </a:fld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981EA9-D28D-45AB-BF75-343443543F3C}"/>
              </a:ext>
            </a:extLst>
          </p:cNvPr>
          <p:cNvSpPr txBox="1"/>
          <p:nvPr/>
        </p:nvSpPr>
        <p:spPr>
          <a:xfrm>
            <a:off x="323528" y="1847088"/>
            <a:ext cx="7776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chemeClr val="tx2"/>
                </a:solidFill>
              </a:rPr>
              <a:t>Tasa real, </a:t>
            </a:r>
            <a:r>
              <a:rPr lang="es-AR" sz="1600" dirty="0">
                <a:solidFill>
                  <a:schemeClr val="tx2"/>
                </a:solidFill>
              </a:rPr>
              <a:t>los intereses de la deudas están exentos del pago del impuesto a las ganancias por lo que su expresión estará dada por:</a:t>
            </a:r>
          </a:p>
          <a:p>
            <a:pPr lvl="1"/>
            <a:r>
              <a:rPr lang="es-AR" sz="1600" dirty="0">
                <a:solidFill>
                  <a:schemeClr val="tx2"/>
                </a:solidFill>
              </a:rPr>
              <a:t>         </a:t>
            </a:r>
            <a:r>
              <a:rPr lang="es-AR" sz="1600" b="1" dirty="0">
                <a:solidFill>
                  <a:schemeClr val="tx2"/>
                </a:solidFill>
              </a:rPr>
              <a:t>Tasa real = </a:t>
            </a:r>
            <a:r>
              <a:rPr lang="es-AR" sz="1600" b="1" dirty="0" err="1">
                <a:solidFill>
                  <a:schemeClr val="tx2"/>
                </a:solidFill>
              </a:rPr>
              <a:t>Kd</a:t>
            </a:r>
            <a:r>
              <a:rPr lang="es-AR" sz="1600" b="1" dirty="0">
                <a:solidFill>
                  <a:schemeClr val="tx2"/>
                </a:solidFill>
              </a:rPr>
              <a:t> (1 – r)</a:t>
            </a:r>
            <a:r>
              <a:rPr lang="es-AR" sz="1600" dirty="0">
                <a:solidFill>
                  <a:schemeClr val="tx2"/>
                </a:solidFill>
              </a:rPr>
              <a:t>, </a:t>
            </a:r>
          </a:p>
          <a:p>
            <a:pPr lvl="1"/>
            <a:r>
              <a:rPr lang="es-AR" sz="1600" dirty="0">
                <a:solidFill>
                  <a:schemeClr val="tx2"/>
                </a:solidFill>
              </a:rPr>
              <a:t>      siendo “r” la tasa del impuesto a las ganancias.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D1A1D7-485B-4EC8-A7E3-CB3DB6475FB5}"/>
              </a:ext>
            </a:extLst>
          </p:cNvPr>
          <p:cNvSpPr txBox="1"/>
          <p:nvPr/>
        </p:nvSpPr>
        <p:spPr>
          <a:xfrm>
            <a:off x="539552" y="3140968"/>
            <a:ext cx="738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solidFill>
                  <a:schemeClr val="tx2"/>
                </a:solidFill>
              </a:rPr>
              <a:t>Se pueden componer estas dos situaciones dentro de una expresión llamada Tasa promedio del costo de capital (K0)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DD696E-10A6-451F-9FE4-506C1ABE48F7}"/>
              </a:ext>
            </a:extLst>
          </p:cNvPr>
          <p:cNvSpPr txBox="1"/>
          <p:nvPr/>
        </p:nvSpPr>
        <p:spPr>
          <a:xfrm>
            <a:off x="683568" y="4221088"/>
            <a:ext cx="738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                       K0 (WACC)   Kc . PN      </a:t>
            </a:r>
            <a:r>
              <a:rPr lang="es-AR" dirty="0" err="1">
                <a:solidFill>
                  <a:schemeClr val="tx2"/>
                </a:solidFill>
              </a:rPr>
              <a:t>Kd</a:t>
            </a:r>
            <a:r>
              <a:rPr lang="es-AR" dirty="0">
                <a:solidFill>
                  <a:schemeClr val="tx2"/>
                </a:solidFill>
              </a:rPr>
              <a:t> (1 – r) . PT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5F406DC-690D-444B-B982-F51D7B7A3927}"/>
              </a:ext>
            </a:extLst>
          </p:cNvPr>
          <p:cNvCxnSpPr>
            <a:cxnSpLocks/>
          </p:cNvCxnSpPr>
          <p:nvPr/>
        </p:nvCxnSpPr>
        <p:spPr>
          <a:xfrm>
            <a:off x="3779912" y="4524887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7ED17A-E3EC-4498-87D7-A7BA37D7F2E5}"/>
              </a:ext>
            </a:extLst>
          </p:cNvPr>
          <p:cNvSpPr txBox="1"/>
          <p:nvPr/>
        </p:nvSpPr>
        <p:spPr>
          <a:xfrm>
            <a:off x="3599892" y="452265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   AT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18ABA17-59EF-43EA-8F92-2A9FE4AE0432}"/>
              </a:ext>
            </a:extLst>
          </p:cNvPr>
          <p:cNvSpPr txBox="1"/>
          <p:nvPr/>
        </p:nvSpPr>
        <p:spPr>
          <a:xfrm>
            <a:off x="4205699" y="430996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+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A612F1-5E6E-42D6-9DEA-A67AD8D02645}"/>
              </a:ext>
            </a:extLst>
          </p:cNvPr>
          <p:cNvSpPr txBox="1"/>
          <p:nvPr/>
        </p:nvSpPr>
        <p:spPr>
          <a:xfrm>
            <a:off x="5436096" y="452265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 </a:t>
            </a:r>
            <a:r>
              <a:rPr lang="es-AR" dirty="0">
                <a:solidFill>
                  <a:schemeClr val="tx2"/>
                </a:solidFill>
              </a:rPr>
              <a:t>AT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2FD14E5-56C4-4A36-9F01-47CE5821A863}"/>
              </a:ext>
            </a:extLst>
          </p:cNvPr>
          <p:cNvCxnSpPr>
            <a:cxnSpLocks/>
          </p:cNvCxnSpPr>
          <p:nvPr/>
        </p:nvCxnSpPr>
        <p:spPr>
          <a:xfrm>
            <a:off x="5508104" y="4522652"/>
            <a:ext cx="432048" cy="6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243E194-5F8D-4A3F-B59F-7C649BAAA147}"/>
              </a:ext>
            </a:extLst>
          </p:cNvPr>
          <p:cNvSpPr txBox="1"/>
          <p:nvPr/>
        </p:nvSpPr>
        <p:spPr>
          <a:xfrm>
            <a:off x="3165340" y="4270996"/>
            <a:ext cx="28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=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7EC08B-4E4D-4F67-8717-B1883708A4F4}"/>
              </a:ext>
            </a:extLst>
          </p:cNvPr>
          <p:cNvSpPr txBox="1"/>
          <p:nvPr/>
        </p:nvSpPr>
        <p:spPr>
          <a:xfrm>
            <a:off x="899592" y="5733256"/>
            <a:ext cx="5616624" cy="50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1382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4">
            <a:extLst>
              <a:ext uri="{FF2B5EF4-FFF2-40B4-BE49-F238E27FC236}">
                <a16:creationId xmlns:a16="http://schemas.microsoft.com/office/drawing/2014/main" id="{76AD965A-7CEE-4EC0-8251-F185DC750D7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3568" y="2146544"/>
            <a:ext cx="7511562" cy="4451838"/>
            <a:chOff x="1260" y="7202"/>
            <a:chExt cx="9720" cy="5760"/>
          </a:xfrm>
        </p:grpSpPr>
        <p:sp>
          <p:nvSpPr>
            <p:cNvPr id="14345" name="AutoShape 25">
              <a:extLst>
                <a:ext uri="{FF2B5EF4-FFF2-40B4-BE49-F238E27FC236}">
                  <a16:creationId xmlns:a16="http://schemas.microsoft.com/office/drawing/2014/main" id="{E1E8D3B5-3CE6-4D1E-8FC6-613829ACFD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60" y="7202"/>
              <a:ext cx="9720" cy="576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AR" altLang="es-AR" sz="1662">
                <a:solidFill>
                  <a:schemeClr val="tx2"/>
                </a:solidFill>
              </a:endParaRPr>
            </a:p>
          </p:txBody>
        </p:sp>
        <p:sp>
          <p:nvSpPr>
            <p:cNvPr id="14346" name="Line 26">
              <a:extLst>
                <a:ext uri="{FF2B5EF4-FFF2-40B4-BE49-F238E27FC236}">
                  <a16:creationId xmlns:a16="http://schemas.microsoft.com/office/drawing/2014/main" id="{EAF5C282-3E88-4D33-96A5-FEC0C96FE6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" y="7922"/>
              <a:ext cx="0" cy="4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 sz="1662">
                <a:solidFill>
                  <a:schemeClr val="tx2"/>
                </a:solidFill>
              </a:endParaRPr>
            </a:p>
          </p:txBody>
        </p:sp>
        <p:sp>
          <p:nvSpPr>
            <p:cNvPr id="14347" name="Line 27">
              <a:extLst>
                <a:ext uri="{FF2B5EF4-FFF2-40B4-BE49-F238E27FC236}">
                  <a16:creationId xmlns:a16="http://schemas.microsoft.com/office/drawing/2014/main" id="{AFD14907-C7F4-42C7-AAD9-BD5605B71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2242"/>
              <a:ext cx="82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 sz="1662">
                <a:solidFill>
                  <a:schemeClr val="tx2"/>
                </a:solidFill>
              </a:endParaRPr>
            </a:p>
          </p:txBody>
        </p:sp>
        <p:sp>
          <p:nvSpPr>
            <p:cNvPr id="14348" name="Line 28">
              <a:extLst>
                <a:ext uri="{FF2B5EF4-FFF2-40B4-BE49-F238E27FC236}">
                  <a16:creationId xmlns:a16="http://schemas.microsoft.com/office/drawing/2014/main" id="{CC06651D-733C-463B-A5ED-C466D566E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10982"/>
              <a:ext cx="57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 sz="1662">
                <a:solidFill>
                  <a:schemeClr val="tx2"/>
                </a:solidFill>
              </a:endParaRPr>
            </a:p>
          </p:txBody>
        </p:sp>
        <p:sp>
          <p:nvSpPr>
            <p:cNvPr id="14349" name="Freeform 29">
              <a:extLst>
                <a:ext uri="{FF2B5EF4-FFF2-40B4-BE49-F238E27FC236}">
                  <a16:creationId xmlns:a16="http://schemas.microsoft.com/office/drawing/2014/main" id="{F1A14B3E-76FA-49EF-B56E-8876B4386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7460"/>
              <a:ext cx="5855" cy="3553"/>
            </a:xfrm>
            <a:custGeom>
              <a:avLst/>
              <a:gdLst>
                <a:gd name="T0" fmla="*/ 0 w 5855"/>
                <a:gd name="T1" fmla="*/ 2445 h 3553"/>
                <a:gd name="T2" fmla="*/ 180 w 5855"/>
                <a:gd name="T3" fmla="*/ 2804 h 3553"/>
                <a:gd name="T4" fmla="*/ 540 w 5855"/>
                <a:gd name="T5" fmla="*/ 3164 h 3553"/>
                <a:gd name="T6" fmla="*/ 1170 w 5855"/>
                <a:gd name="T7" fmla="*/ 3461 h 3553"/>
                <a:gd name="T8" fmla="*/ 1800 w 5855"/>
                <a:gd name="T9" fmla="*/ 3524 h 3553"/>
                <a:gd name="T10" fmla="*/ 2580 w 5855"/>
                <a:gd name="T11" fmla="*/ 3521 h 3553"/>
                <a:gd name="T12" fmla="*/ 3601 w 5855"/>
                <a:gd name="T13" fmla="*/ 3524 h 3553"/>
                <a:gd name="T14" fmla="*/ 4141 w 5855"/>
                <a:gd name="T15" fmla="*/ 3344 h 3553"/>
                <a:gd name="T16" fmla="*/ 4681 w 5855"/>
                <a:gd name="T17" fmla="*/ 2984 h 3553"/>
                <a:gd name="T18" fmla="*/ 5055 w 5855"/>
                <a:gd name="T19" fmla="*/ 2590 h 3553"/>
                <a:gd name="T20" fmla="*/ 5265 w 5855"/>
                <a:gd name="T21" fmla="*/ 2306 h 3553"/>
                <a:gd name="T22" fmla="*/ 5510 w 5855"/>
                <a:gd name="T23" fmla="*/ 1740 h 3553"/>
                <a:gd name="T24" fmla="*/ 5705 w 5855"/>
                <a:gd name="T25" fmla="*/ 930 h 3553"/>
                <a:gd name="T26" fmla="*/ 5855 w 5855"/>
                <a:gd name="T27" fmla="*/ 0 h 35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855" h="3553">
                  <a:moveTo>
                    <a:pt x="0" y="2445"/>
                  </a:moveTo>
                  <a:cubicBezTo>
                    <a:pt x="45" y="2564"/>
                    <a:pt x="90" y="2684"/>
                    <a:pt x="180" y="2804"/>
                  </a:cubicBezTo>
                  <a:cubicBezTo>
                    <a:pt x="270" y="2924"/>
                    <a:pt x="375" y="3055"/>
                    <a:pt x="540" y="3164"/>
                  </a:cubicBezTo>
                  <a:cubicBezTo>
                    <a:pt x="705" y="3273"/>
                    <a:pt x="960" y="3401"/>
                    <a:pt x="1170" y="3461"/>
                  </a:cubicBezTo>
                  <a:cubicBezTo>
                    <a:pt x="1380" y="3521"/>
                    <a:pt x="1565" y="3514"/>
                    <a:pt x="1800" y="3524"/>
                  </a:cubicBezTo>
                  <a:cubicBezTo>
                    <a:pt x="2035" y="3534"/>
                    <a:pt x="2280" y="3521"/>
                    <a:pt x="2580" y="3521"/>
                  </a:cubicBezTo>
                  <a:cubicBezTo>
                    <a:pt x="2880" y="3521"/>
                    <a:pt x="3341" y="3553"/>
                    <a:pt x="3601" y="3524"/>
                  </a:cubicBezTo>
                  <a:cubicBezTo>
                    <a:pt x="3861" y="3495"/>
                    <a:pt x="3961" y="3434"/>
                    <a:pt x="4141" y="3344"/>
                  </a:cubicBezTo>
                  <a:cubicBezTo>
                    <a:pt x="4321" y="3254"/>
                    <a:pt x="4529" y="3110"/>
                    <a:pt x="4681" y="2984"/>
                  </a:cubicBezTo>
                  <a:cubicBezTo>
                    <a:pt x="4833" y="2858"/>
                    <a:pt x="4958" y="2703"/>
                    <a:pt x="5055" y="2590"/>
                  </a:cubicBezTo>
                  <a:cubicBezTo>
                    <a:pt x="5152" y="2478"/>
                    <a:pt x="5189" y="2448"/>
                    <a:pt x="5265" y="2306"/>
                  </a:cubicBezTo>
                  <a:cubicBezTo>
                    <a:pt x="5341" y="2164"/>
                    <a:pt x="5437" y="1969"/>
                    <a:pt x="5510" y="1740"/>
                  </a:cubicBezTo>
                  <a:cubicBezTo>
                    <a:pt x="5583" y="1511"/>
                    <a:pt x="5648" y="1220"/>
                    <a:pt x="5705" y="930"/>
                  </a:cubicBezTo>
                  <a:cubicBezTo>
                    <a:pt x="5762" y="640"/>
                    <a:pt x="5824" y="194"/>
                    <a:pt x="5855" y="0"/>
                  </a:cubicBezTo>
                </a:path>
              </a:pathLst>
            </a:custGeom>
            <a:noFill/>
            <a:ln w="2540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 sz="1662">
                <a:solidFill>
                  <a:schemeClr val="tx2"/>
                </a:solidFill>
              </a:endParaRPr>
            </a:p>
          </p:txBody>
        </p:sp>
        <p:sp>
          <p:nvSpPr>
            <p:cNvPr id="14350" name="Rectangle 30">
              <a:extLst>
                <a:ext uri="{FF2B5EF4-FFF2-40B4-BE49-F238E27FC236}">
                  <a16:creationId xmlns:a16="http://schemas.microsoft.com/office/drawing/2014/main" id="{3EA09F6B-9112-4A6F-AA63-12404F02B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7202"/>
              <a:ext cx="1980" cy="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AR" altLang="es-AR" sz="2215" b="1">
                <a:solidFill>
                  <a:schemeClr val="tx2"/>
                </a:solidFill>
              </a:endParaRPr>
            </a:p>
          </p:txBody>
        </p:sp>
        <p:sp>
          <p:nvSpPr>
            <p:cNvPr id="14351" name="Rectangle 31">
              <a:extLst>
                <a:ext uri="{FF2B5EF4-FFF2-40B4-BE49-F238E27FC236}">
                  <a16:creationId xmlns:a16="http://schemas.microsoft.com/office/drawing/2014/main" id="{EA8B6BC1-4E6F-4B9F-ABF3-D3A756600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0" y="11342"/>
              <a:ext cx="1980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AR" altLang="es-AR" sz="1477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Índice de endeudamiento</a:t>
              </a:r>
              <a:endParaRPr lang="es-ES" altLang="es-AR" sz="1477" b="1">
                <a:solidFill>
                  <a:schemeClr val="tx2"/>
                </a:solidFill>
              </a:endParaRPr>
            </a:p>
          </p:txBody>
        </p:sp>
        <p:sp>
          <p:nvSpPr>
            <p:cNvPr id="14352" name="Line 32">
              <a:extLst>
                <a:ext uri="{FF2B5EF4-FFF2-40B4-BE49-F238E27FC236}">
                  <a16:creationId xmlns:a16="http://schemas.microsoft.com/office/drawing/2014/main" id="{B53CC56F-CEA4-46E0-B1E9-F664EBB37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10982"/>
              <a:ext cx="0" cy="1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 sz="1662">
                <a:solidFill>
                  <a:schemeClr val="tx2"/>
                </a:solidFill>
              </a:endParaRPr>
            </a:p>
          </p:txBody>
        </p:sp>
        <p:sp>
          <p:nvSpPr>
            <p:cNvPr id="14353" name="Line 33">
              <a:extLst>
                <a:ext uri="{FF2B5EF4-FFF2-40B4-BE49-F238E27FC236}">
                  <a16:creationId xmlns:a16="http://schemas.microsoft.com/office/drawing/2014/main" id="{168389F5-DBFB-4BE2-BFA5-57975093A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0" y="10982"/>
              <a:ext cx="0" cy="1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 sz="1662">
                <a:solidFill>
                  <a:schemeClr val="tx2"/>
                </a:solidFill>
              </a:endParaRPr>
            </a:p>
          </p:txBody>
        </p:sp>
        <p:sp>
          <p:nvSpPr>
            <p:cNvPr id="14354" name="Rectangle 34">
              <a:extLst>
                <a:ext uri="{FF2B5EF4-FFF2-40B4-BE49-F238E27FC236}">
                  <a16:creationId xmlns:a16="http://schemas.microsoft.com/office/drawing/2014/main" id="{575D8703-4CC3-404B-825D-61E60B2F2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2242"/>
              <a:ext cx="6300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AR" altLang="es-AR" sz="1477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E1		   E2                                  máximo</a:t>
              </a:r>
              <a:endParaRPr lang="es-ES" altLang="es-AR" sz="1477" b="1">
                <a:solidFill>
                  <a:schemeClr val="tx2"/>
                </a:solidFill>
              </a:endParaRPr>
            </a:p>
          </p:txBody>
        </p:sp>
        <p:sp>
          <p:nvSpPr>
            <p:cNvPr id="14355" name="Line 35">
              <a:extLst>
                <a:ext uri="{FF2B5EF4-FFF2-40B4-BE49-F238E27FC236}">
                  <a16:creationId xmlns:a16="http://schemas.microsoft.com/office/drawing/2014/main" id="{5F963012-C989-4DAA-B6D7-DFA1BAA1B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20" y="7382"/>
              <a:ext cx="0" cy="48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 sz="1662">
                <a:solidFill>
                  <a:schemeClr val="tx2"/>
                </a:solidFill>
              </a:endParaRPr>
            </a:p>
          </p:txBody>
        </p:sp>
        <p:sp>
          <p:nvSpPr>
            <p:cNvPr id="14356" name="Rectangle 36">
              <a:extLst>
                <a:ext uri="{FF2B5EF4-FFF2-40B4-BE49-F238E27FC236}">
                  <a16:creationId xmlns:a16="http://schemas.microsoft.com/office/drawing/2014/main" id="{839B2746-CC30-47EA-A23D-2C5960C1D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0622"/>
              <a:ext cx="1260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AR" altLang="es-AR" sz="1477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Tasa del </a:t>
              </a:r>
            </a:p>
            <a:p>
              <a:pPr eaLnBrk="1" hangingPunct="1"/>
              <a:r>
                <a:rPr lang="es-AR" altLang="es-AR" sz="1477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Mercado</a:t>
              </a:r>
              <a:endParaRPr lang="es-ES" altLang="es-AR" sz="1477" b="1">
                <a:solidFill>
                  <a:schemeClr val="tx2"/>
                </a:solidFill>
              </a:endParaRPr>
            </a:p>
          </p:txBody>
        </p:sp>
      </p:grpSp>
      <p:sp>
        <p:nvSpPr>
          <p:cNvPr id="14339" name="Text Box 37">
            <a:extLst>
              <a:ext uri="{FF2B5EF4-FFF2-40B4-BE49-F238E27FC236}">
                <a16:creationId xmlns:a16="http://schemas.microsoft.com/office/drawing/2014/main" id="{26F3006A-59DA-4F65-A571-A1B92F5D8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345" y="2664709"/>
            <a:ext cx="864577" cy="348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662" b="1" dirty="0" err="1"/>
              <a:t>K</a:t>
            </a:r>
            <a:r>
              <a:rPr lang="es-AR" altLang="es-AR" sz="1662" b="1" baseline="-25000" dirty="0" err="1"/>
              <a:t>o</a:t>
            </a:r>
            <a:endParaRPr lang="es-ES" altLang="es-AR" sz="1662" b="1" dirty="0"/>
          </a:p>
        </p:txBody>
      </p:sp>
      <p:sp>
        <p:nvSpPr>
          <p:cNvPr id="8230" name="Text Box 38">
            <a:extLst>
              <a:ext uri="{FF2B5EF4-FFF2-40B4-BE49-F238E27FC236}">
                <a16:creationId xmlns:a16="http://schemas.microsoft.com/office/drawing/2014/main" id="{BBD5E05D-65BF-40F9-99CF-AAFC69B43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670" y="435220"/>
            <a:ext cx="693859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s-MX" altLang="es-AR" sz="4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CURVA DEL COSTO DE CAPITAL</a:t>
            </a:r>
          </a:p>
        </p:txBody>
      </p:sp>
      <p:sp>
        <p:nvSpPr>
          <p:cNvPr id="14341" name="Text Box 39">
            <a:extLst>
              <a:ext uri="{FF2B5EF4-FFF2-40B4-BE49-F238E27FC236}">
                <a16:creationId xmlns:a16="http://schemas.microsoft.com/office/drawing/2014/main" id="{84A1E006-6BB0-4F55-8F8C-8CE6C84E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36" y="4618893"/>
            <a:ext cx="864577" cy="348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662" b="1">
                <a:solidFill>
                  <a:srgbClr val="FF3300"/>
                </a:solidFill>
              </a:rPr>
              <a:t>1°</a:t>
            </a:r>
            <a:endParaRPr lang="es-ES" altLang="es-AR" sz="1662" b="1">
              <a:solidFill>
                <a:srgbClr val="FF3300"/>
              </a:solidFill>
            </a:endParaRPr>
          </a:p>
        </p:txBody>
      </p:sp>
      <p:sp>
        <p:nvSpPr>
          <p:cNvPr id="14342" name="Text Box 40">
            <a:extLst>
              <a:ext uri="{FF2B5EF4-FFF2-40B4-BE49-F238E27FC236}">
                <a16:creationId xmlns:a16="http://schemas.microsoft.com/office/drawing/2014/main" id="{A7F6D2F6-232B-4F0E-9ECB-A60CCEF0E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8839" y="4624755"/>
            <a:ext cx="864577" cy="348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662" b="1">
                <a:solidFill>
                  <a:srgbClr val="FF3300"/>
                </a:solidFill>
              </a:rPr>
              <a:t>2°</a:t>
            </a:r>
            <a:endParaRPr lang="es-ES" altLang="es-AR" sz="1662" b="1">
              <a:solidFill>
                <a:srgbClr val="FF3300"/>
              </a:solidFill>
            </a:endParaRPr>
          </a:p>
        </p:txBody>
      </p:sp>
      <p:sp>
        <p:nvSpPr>
          <p:cNvPr id="14343" name="Text Box 41">
            <a:extLst>
              <a:ext uri="{FF2B5EF4-FFF2-40B4-BE49-F238E27FC236}">
                <a16:creationId xmlns:a16="http://schemas.microsoft.com/office/drawing/2014/main" id="{6AFE8B22-8C6D-43BB-B26F-BE72994B9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528" y="4624755"/>
            <a:ext cx="864577" cy="348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662" b="1">
                <a:solidFill>
                  <a:srgbClr val="FF3300"/>
                </a:solidFill>
              </a:rPr>
              <a:t>3°</a:t>
            </a:r>
            <a:endParaRPr lang="es-ES" altLang="es-AR" sz="1662" b="1">
              <a:solidFill>
                <a:srgbClr val="FF33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FFA25BD-30EF-4C28-85B1-300B510CB3E2}"/>
              </a:ext>
            </a:extLst>
          </p:cNvPr>
          <p:cNvSpPr txBox="1"/>
          <p:nvPr/>
        </p:nvSpPr>
        <p:spPr>
          <a:xfrm>
            <a:off x="822671" y="1268760"/>
            <a:ext cx="5842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Es posible graficar esta tasa para distintos momentos de endeudamiento de la empresa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F7BFC22-9010-4725-AD71-B22C5E8A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32</a:t>
            </a:fld>
            <a:endParaRPr lang="es-PE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03F34DFA-76C0-462E-B310-A69532DCA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38" y="1711296"/>
            <a:ext cx="889195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AR" altLang="zh-CN" dirty="0">
                <a:solidFill>
                  <a:schemeClr val="tx2"/>
                </a:solidFill>
                <a:latin typeface="+mn-lt"/>
                <a:ea typeface="SimSun" panose="02010600030101010101" pitchFamily="2" charset="-122"/>
              </a:rPr>
              <a:t>La tasa de costo de capital de una empresa presenta tres etapas relacionadas con el nivel de endeudamiento:</a:t>
            </a:r>
          </a:p>
          <a:p>
            <a:pPr algn="just" eaLnBrk="1" hangingPunct="1"/>
            <a:endParaRPr lang="es-AR" altLang="zh-CN" dirty="0">
              <a:solidFill>
                <a:schemeClr val="tx2"/>
              </a:solidFill>
              <a:latin typeface="+mn-lt"/>
              <a:ea typeface="SimSun" panose="02010600030101010101" pitchFamily="2" charset="-122"/>
            </a:endParaRPr>
          </a:p>
          <a:p>
            <a:pPr lvl="1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s-AR" altLang="zh-CN" dirty="0">
                <a:solidFill>
                  <a:schemeClr val="tx2"/>
                </a:solidFill>
                <a:latin typeface="+mn-lt"/>
                <a:ea typeface="SimSun" panose="02010600030101010101" pitchFamily="2" charset="-122"/>
              </a:rPr>
              <a:t>A pesar del escaso endeudamiento la empresa debe pagar tasas de interés más altas que la tasa de interés del mercado porque prácticamente no se conoce su condición ni trayectoria.</a:t>
            </a:r>
          </a:p>
          <a:p>
            <a:pPr marL="457200" lvl="1" indent="0" algn="just">
              <a:buClr>
                <a:srgbClr val="00B050"/>
              </a:buClr>
            </a:pPr>
            <a:endParaRPr lang="es-AR" altLang="zh-CN" dirty="0">
              <a:solidFill>
                <a:schemeClr val="tx2"/>
              </a:solidFill>
              <a:latin typeface="+mn-lt"/>
              <a:ea typeface="SimSun" panose="02010600030101010101" pitchFamily="2" charset="-122"/>
            </a:endParaRPr>
          </a:p>
          <a:p>
            <a:pPr lvl="1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s-AR" altLang="zh-CN" dirty="0">
                <a:solidFill>
                  <a:schemeClr val="tx2"/>
                </a:solidFill>
                <a:latin typeface="+mn-lt"/>
                <a:ea typeface="SimSun" panose="02010600030101010101" pitchFamily="2" charset="-122"/>
              </a:rPr>
              <a:t>La empresa tiene cierto reconocimiento por parte del mercado financiero y ha cumplido satisfactoriamente con sus compromisos lo cual genera la posibilidad de obtener créditos a la tasa de mercado.</a:t>
            </a:r>
          </a:p>
          <a:p>
            <a:pPr marL="457200" lvl="1" indent="0" algn="just">
              <a:buClr>
                <a:srgbClr val="00B050"/>
              </a:buClr>
            </a:pPr>
            <a:endParaRPr lang="es-AR" altLang="zh-CN" dirty="0">
              <a:solidFill>
                <a:schemeClr val="tx2"/>
              </a:solidFill>
              <a:latin typeface="+mn-lt"/>
              <a:ea typeface="SimSun" panose="02010600030101010101" pitchFamily="2" charset="-122"/>
            </a:endParaRPr>
          </a:p>
          <a:p>
            <a:pPr lvl="1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s-AR" altLang="zh-CN" dirty="0">
                <a:solidFill>
                  <a:schemeClr val="tx2"/>
                </a:solidFill>
                <a:latin typeface="+mn-lt"/>
                <a:ea typeface="SimSun" panose="02010600030101010101" pitchFamily="2" charset="-122"/>
              </a:rPr>
              <a:t> Finalmente el excesivo endeudamiento hace aumentar el riesgo crediticio y como consecuencia de esto la tasa de interés también aumentará.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93FFB799-83AE-4F1F-82F8-8398630D8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670" y="435220"/>
            <a:ext cx="69385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s-MX" altLang="es-AR" sz="36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CURVA DEL COSTO DE CAPITAL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DCA3C61-41AD-4126-BE2E-130CA94E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33</a:t>
            </a:fld>
            <a:endParaRPr lang="es-PE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07E4C8E-25D5-4B48-A5CE-2361F29A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34</a:t>
            </a:fld>
            <a:endParaRPr lang="es-PE" dirty="0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5D62FB90-246D-4E8B-B44B-617A9C92FD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572312"/>
              </p:ext>
            </p:extLst>
          </p:nvPr>
        </p:nvGraphicFramePr>
        <p:xfrm>
          <a:off x="479425" y="1281113"/>
          <a:ext cx="8185150" cy="529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Worksheet" r:id="rId3" imgW="8810770" imgH="5695996" progId="Excel.Sheet.12">
                  <p:embed/>
                </p:oleObj>
              </mc:Choice>
              <mc:Fallback>
                <p:oleObj name="Worksheet" r:id="rId3" imgW="8810770" imgH="569599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425" y="1281113"/>
                        <a:ext cx="8185150" cy="529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4837AB6B-1406-46DF-B3CD-EF0D476EE58C}"/>
              </a:ext>
            </a:extLst>
          </p:cNvPr>
          <p:cNvSpPr txBox="1"/>
          <p:nvPr/>
        </p:nvSpPr>
        <p:spPr>
          <a:xfrm>
            <a:off x="1619672" y="46738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3581594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1E08278-0D2E-4D2B-A018-B286DECB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BD31-F28F-4154-BE62-D3584F47C48E}" type="slidenum">
              <a:rPr lang="es-PE" smtClean="0"/>
              <a:t>35</a:t>
            </a:fld>
            <a:endParaRPr lang="es-PE" dirty="0"/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2D437EDF-0666-49F8-B113-5B456A004E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493156"/>
              </p:ext>
            </p:extLst>
          </p:nvPr>
        </p:nvGraphicFramePr>
        <p:xfrm>
          <a:off x="654050" y="2205038"/>
          <a:ext cx="7304088" cy="366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Worksheet" r:id="rId3" imgW="4571991" imgH="2295383" progId="Excel.Sheet.12">
                  <p:embed/>
                </p:oleObj>
              </mc:Choice>
              <mc:Fallback>
                <p:oleObj name="Worksheet" r:id="rId3" imgW="4571991" imgH="229538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4050" y="2205038"/>
                        <a:ext cx="7304088" cy="3667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48674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wnloads xmlns="2958f784-0ef9-4616-b22d-512a8cad1f0d">0</Downloads>
    <HandoffToMSDN xmlns="2958f784-0ef9-4616-b22d-512a8cad1f0d" xsi:nil="true"/>
    <OriginalSourceMarket xmlns="2958f784-0ef9-4616-b22d-512a8cad1f0d" xsi:nil="true"/>
    <AssetStart xmlns="2958f784-0ef9-4616-b22d-512a8cad1f0d">2010-07-25T14:35:14+00:00</AssetStart>
    <CrawlForDependencies xmlns="2958f784-0ef9-4616-b22d-512a8cad1f0d">false</CrawlForDependencies>
    <LastHandOff xmlns="2958f784-0ef9-4616-b22d-512a8cad1f0d" xsi:nil="true"/>
    <Milestone xmlns="2958f784-0ef9-4616-b22d-512a8cad1f0d" xsi:nil="true"/>
    <APDescription xmlns="2958f784-0ef9-4616-b22d-512a8cad1f0d" xsi:nil="true"/>
    <AssetId xmlns="2958f784-0ef9-4616-b22d-512a8cad1f0d">TP101957421</AssetId>
    <CSXHash xmlns="2958f784-0ef9-4616-b22d-512a8cad1f0d">5J9iu6y+EFat/XiCppYnMsWm1EE9mhfSq0lirAQmYOQ=</CSXHash>
    <Description0 xmlns="fb5acd76-e9f3-4601-9d69-91f53ab96ae6" xsi:nil="true"/>
    <OOCacheId xmlns="2958f784-0ef9-4616-b22d-512a8cad1f0d">d477f2b2-3650-4246-8f0d-123983c65e26</OOCacheId>
    <IsSearchable xmlns="2958f784-0ef9-4616-b22d-512a8cad1f0d">false</IsSearchable>
    <CSXSubmissionMarket xmlns="2958f784-0ef9-4616-b22d-512a8cad1f0d">5</CSXSubmissionMarket>
    <IsDeleted xmlns="2958f784-0ef9-4616-b22d-512a8cad1f0d">false</IsDeleted>
    <EditorialStatus xmlns="2958f784-0ef9-4616-b22d-512a8cad1f0d">Complete</EditorialStatus>
    <ArtSampleDocs xmlns="2958f784-0ef9-4616-b22d-512a8cad1f0d" xsi:nil="true"/>
    <TrustLevel xmlns="2958f784-0ef9-4616-b22d-512a8cad1f0d">2 Community Trusted</TrustLevel>
    <UALocRecommendation xmlns="2958f784-0ef9-4616-b22d-512a8cad1f0d">Localize</UALocRecommendation>
    <Component xmlns="fb5acd76-e9f3-4601-9d69-91f53ab96ae6" xsi:nil="true"/>
    <TPLaunchHelpLinkType xmlns="2958f784-0ef9-4616-b22d-512a8cad1f0d">Template</TPLaunchHelpLinkType>
    <Providers xmlns="2958f784-0ef9-4616-b22d-512a8cad1f0d">PN101957419</Providers>
    <TPAppVersion xmlns="2958f784-0ef9-4616-b22d-512a8cad1f0d" xsi:nil="true"/>
    <VoteCount xmlns="2958f784-0ef9-4616-b22d-512a8cad1f0d" xsi:nil="true"/>
    <APAuthor xmlns="2958f784-0ef9-4616-b22d-512a8cad1f0d">
      <UserInfo>
        <DisplayName>phx\_o14apppool1</DisplayName>
        <AccountId>576</AccountId>
        <AccountType/>
      </UserInfo>
    </APAuthor>
    <ClipArtFilename xmlns="2958f784-0ef9-4616-b22d-512a8cad1f0d" xsi:nil="true"/>
    <Provider xmlns="2958f784-0ef9-4616-b22d-512a8cad1f0d" xsi:nil="true"/>
    <AssetExpire xmlns="2958f784-0ef9-4616-b22d-512a8cad1f0d">2100-01-01T00:00:00+00:00</AssetExpire>
    <AssetType xmlns="2958f784-0ef9-4616-b22d-512a8cad1f0d" xsi:nil="true"/>
    <TPClientViewer xmlns="2958f784-0ef9-4616-b22d-512a8cad1f0d" xsi:nil="true"/>
    <TPInstallLocation xmlns="2958f784-0ef9-4616-b22d-512a8cad1f0d" xsi:nil="true"/>
    <SubmitterId xmlns="2958f784-0ef9-4616-b22d-512a8cad1f0d">S-1-10-0-6-3221064791-1911488512</SubmitterId>
    <ThumbnailAssetId xmlns="2958f784-0ef9-4616-b22d-512a8cad1f0d" xsi:nil="true"/>
    <ApprovalStatus xmlns="2958f784-0ef9-4616-b22d-512a8cad1f0d">ApprovedAutomatic</ApprovalStatus>
    <TPComponent xmlns="2958f784-0ef9-4616-b22d-512a8cad1f0d" xsi:nil="true"/>
    <TPExecutable xmlns="2958f784-0ef9-4616-b22d-512a8cad1f0d" xsi:nil="true"/>
    <LastModifiedDateTime xmlns="2958f784-0ef9-4616-b22d-512a8cad1f0d" xsi:nil="true"/>
    <LastPublishResultLookup xmlns="2958f784-0ef9-4616-b22d-512a8cad1f0d" xsi:nil="true"/>
    <LegacyData xmlns="2958f784-0ef9-4616-b22d-512a8cad1f0d" xsi:nil="true"/>
    <BusinessGroup xmlns="2958f784-0ef9-4616-b22d-512a8cad1f0d" xsi:nil="true"/>
    <SourceTitle xmlns="2958f784-0ef9-4616-b22d-512a8cad1f0d" xsi:nil="true"/>
    <TemplateTemplateType xmlns="2958f784-0ef9-4616-b22d-512a8cad1f0d">PowerPoint 12 Default</TemplateTemplateType>
    <IntlLocPriority xmlns="2958f784-0ef9-4616-b22d-512a8cad1f0d" xsi:nil="true"/>
    <OpenTemplate xmlns="2958f784-0ef9-4616-b22d-512a8cad1f0d">true</OpenTemplate>
    <UAProjectedTotalWords xmlns="2958f784-0ef9-4616-b22d-512a8cad1f0d" xsi:nil="true"/>
    <TPApplication xmlns="2958f784-0ef9-4616-b22d-512a8cad1f0d" xsi:nil="true"/>
    <PrimaryImageGen xmlns="2958f784-0ef9-4616-b22d-512a8cad1f0d">true</PrimaryImageGen>
    <IntlLangReview xmlns="2958f784-0ef9-4616-b22d-512a8cad1f0d" xsi:nil="true"/>
    <MachineTranslated xmlns="2958f784-0ef9-4616-b22d-512a8cad1f0d">false</MachineTranslated>
    <OutputCachingOn xmlns="2958f784-0ef9-4616-b22d-512a8cad1f0d">false</OutputCachingOn>
    <ParentAssetId xmlns="2958f784-0ef9-4616-b22d-512a8cad1f0d">TC101957422</ParentAssetId>
    <TemplateStatus xmlns="2958f784-0ef9-4616-b22d-512a8cad1f0d" xsi:nil="true"/>
    <AcquiredFrom xmlns="2958f784-0ef9-4616-b22d-512a8cad1f0d" xsi:nil="true"/>
    <ContentItem xmlns="2958f784-0ef9-4616-b22d-512a8cad1f0d" xsi:nil="true"/>
    <Markets xmlns="2958f784-0ef9-4616-b22d-512a8cad1f0d">
      <Value>NULL</Value>
    </Markets>
    <OriginAsset xmlns="2958f784-0ef9-4616-b22d-512a8cad1f0d" xsi:nil="true"/>
    <ShowIn xmlns="2958f784-0ef9-4616-b22d-512a8cad1f0d">Show everywhere</ShowIn>
    <EditorialTags xmlns="2958f784-0ef9-4616-b22d-512a8cad1f0d" xsi:nil="true"/>
    <TPLaunchHelpLink xmlns="2958f784-0ef9-4616-b22d-512a8cad1f0d" xsi:nil="true"/>
    <PublishStatusLookup xmlns="2958f784-0ef9-4616-b22d-512a8cad1f0d">
      <Value>328941</Value>
      <Value>634688</Value>
    </PublishStatusLookup>
    <TimesCloned xmlns="2958f784-0ef9-4616-b22d-512a8cad1f0d" xsi:nil="true"/>
    <AverageRating xmlns="2958f784-0ef9-4616-b22d-512a8cad1f0d" xsi:nil="true"/>
    <TPCommandLine xmlns="2958f784-0ef9-4616-b22d-512a8cad1f0d" xsi:nil="true"/>
    <CSXUpdate xmlns="2958f784-0ef9-4616-b22d-512a8cad1f0d">false</CSXUpdate>
    <CSXSubmissionDate xmlns="2958f784-0ef9-4616-b22d-512a8cad1f0d">2010-07-25T14:35:13+00:00</CSXSubmissionDate>
    <IntlLangReviewDate xmlns="2958f784-0ef9-4616-b22d-512a8cad1f0d" xsi:nil="true"/>
    <TPFriendlyName xmlns="2958f784-0ef9-4616-b22d-512a8cad1f0d" xsi:nil="true"/>
    <NumericId xmlns="2958f784-0ef9-4616-b22d-512a8cad1f0d" xsi:nil="true"/>
    <PlannedPubDate xmlns="2958f784-0ef9-4616-b22d-512a8cad1f0d" xsi:nil="true"/>
    <PolicheckWords xmlns="2958f784-0ef9-4616-b22d-512a8cad1f0d" xsi:nil="true"/>
    <PublishTargets xmlns="2958f784-0ef9-4616-b22d-512a8cad1f0d">OfficeOnline</PublishTargets>
    <UALocComments xmlns="2958f784-0ef9-4616-b22d-512a8cad1f0d" xsi:nil="true"/>
    <ApprovalLog xmlns="2958f784-0ef9-4616-b22d-512a8cad1f0d" xsi:nil="true"/>
    <BugNumber xmlns="2958f784-0ef9-4616-b22d-512a8cad1f0d" xsi:nil="true"/>
    <FriendlyTitle xmlns="2958f784-0ef9-4616-b22d-512a8cad1f0d" xsi:nil="true"/>
    <MarketSpecific xmlns="2958f784-0ef9-4616-b22d-512a8cad1f0d">true</MarketSpecific>
    <TPNamespace xmlns="2958f784-0ef9-4616-b22d-512a8cad1f0d" xsi:nil="true"/>
    <UANotes xmlns="2958f784-0ef9-4616-b22d-512a8cad1f0d" xsi:nil="true"/>
    <IntlLangReviewer xmlns="2958f784-0ef9-4616-b22d-512a8cad1f0d" xsi:nil="true"/>
    <UACurrentWords xmlns="2958f784-0ef9-4616-b22d-512a8cad1f0d" xsi:nil="true"/>
    <DirectSourceMarket xmlns="2958f784-0ef9-4616-b22d-512a8cad1f0d" xsi:nil="true"/>
    <DSATActionTaken xmlns="2958f784-0ef9-4616-b22d-512a8cad1f0d" xsi:nil="true"/>
    <APEditor xmlns="2958f784-0ef9-4616-b22d-512a8cad1f0d">
      <UserInfo>
        <DisplayName/>
        <AccountId xsi:nil="true"/>
        <AccountType/>
      </UserInfo>
    </APEditor>
    <Manager xmlns="2958f784-0ef9-4616-b22d-512a8cad1f0d" xsi:nil="true"/>
    <BlockPublish xmlns="2958f784-0ef9-4616-b22d-512a8cad1f0d" xsi:nil="true"/>
    <InternalTagsTaxHTField0 xmlns="2958f784-0ef9-4616-b22d-512a8cad1f0d">
      <Terms xmlns="http://schemas.microsoft.com/office/infopath/2007/PartnerControls"/>
    </InternalTagsTaxHTField0>
    <LocComments xmlns="2958f784-0ef9-4616-b22d-512a8cad1f0d" xsi:nil="true"/>
    <LocProcessedForMarketsLookup xmlns="2958f784-0ef9-4616-b22d-512a8cad1f0d" xsi:nil="true"/>
    <LocalizationTagsTaxHTField0 xmlns="2958f784-0ef9-4616-b22d-512a8cad1f0d">
      <Terms xmlns="http://schemas.microsoft.com/office/infopath/2007/PartnerControls"/>
    </LocalizationTagsTaxHTField0>
    <FeatureTagsTaxHTField0 xmlns="2958f784-0ef9-4616-b22d-512a8cad1f0d">
      <Terms xmlns="http://schemas.microsoft.com/office/infopath/2007/PartnerControls"/>
    </FeatureTagsTaxHTField0>
    <LocOverallLocStatusLookup xmlns="2958f784-0ef9-4616-b22d-512a8cad1f0d" xsi:nil="true"/>
    <LocPublishedLinkedAssetsLookup xmlns="2958f784-0ef9-4616-b22d-512a8cad1f0d" xsi:nil="true"/>
    <LocLastLocAttemptVersionTypeLookup xmlns="2958f784-0ef9-4616-b22d-512a8cad1f0d" xsi:nil="true"/>
    <LocManualTestRequired xmlns="2958f784-0ef9-4616-b22d-512a8cad1f0d" xsi:nil="true"/>
    <RecommendationsModifier xmlns="2958f784-0ef9-4616-b22d-512a8cad1f0d" xsi:nil="true"/>
    <CampaignTagsTaxHTField0 xmlns="2958f784-0ef9-4616-b22d-512a8cad1f0d">
      <Terms xmlns="http://schemas.microsoft.com/office/infopath/2007/PartnerControls"/>
    </CampaignTagsTaxHTField0>
    <LocOverallHandbackStatusLookup xmlns="2958f784-0ef9-4616-b22d-512a8cad1f0d" xsi:nil="true"/>
    <LocProcessedForHandoffsLookup xmlns="2958f784-0ef9-4616-b22d-512a8cad1f0d" xsi:nil="true"/>
    <LocOverallPreviewStatusLookup xmlns="2958f784-0ef9-4616-b22d-512a8cad1f0d" xsi:nil="true"/>
    <LocOverallPublishStatusLookup xmlns="2958f784-0ef9-4616-b22d-512a8cad1f0d" xsi:nil="true"/>
    <TaxCatchAll xmlns="2958f784-0ef9-4616-b22d-512a8cad1f0d"/>
    <LocNewPublishedVersionLookup xmlns="2958f784-0ef9-4616-b22d-512a8cad1f0d" xsi:nil="true"/>
    <LocPublishedDependentAssetsLookup xmlns="2958f784-0ef9-4616-b22d-512a8cad1f0d" xsi:nil="true"/>
    <LocRecommendedHandoff xmlns="2958f784-0ef9-4616-b22d-512a8cad1f0d" xsi:nil="true"/>
    <ScenarioTagsTaxHTField0 xmlns="2958f784-0ef9-4616-b22d-512a8cad1f0d">
      <Terms xmlns="http://schemas.microsoft.com/office/infopath/2007/PartnerControls"/>
    </ScenarioTagsTaxHTField0>
    <LocLastLocAttemptVersionLookup xmlns="2958f784-0ef9-4616-b22d-512a8cad1f0d">249</LocLastLocAttemptVersionLookup>
    <OriginalRelease xmlns="2958f784-0ef9-4616-b22d-512a8cad1f0d">14</OriginalRelease>
    <LocMarketGroupTiers2 xmlns="2958f784-0ef9-4616-b22d-512a8cad1f0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DE95A0C693CEB341887D38A4A2B58B45040072C752107C5A7B47AA91A1EE638E6F1F" ma:contentTypeVersion="55" ma:contentTypeDescription="Create a new document." ma:contentTypeScope="" ma:versionID="3c98c83416931a21d43ed007fda5e4dd">
  <xsd:schema xmlns:xsd="http://www.w3.org/2001/XMLSchema" xmlns:xs="http://www.w3.org/2001/XMLSchema" xmlns:p="http://schemas.microsoft.com/office/2006/metadata/properties" xmlns:ns2="2958f784-0ef9-4616-b22d-512a8cad1f0d" xmlns:ns3="fb5acd76-e9f3-4601-9d69-91f53ab96ae6" targetNamespace="http://schemas.microsoft.com/office/2006/metadata/properties" ma:root="true" ma:fieldsID="938018c4f46d99993d20879d4e9ddff8" ns2:_="" ns3:_="">
    <xsd:import namespace="2958f784-0ef9-4616-b22d-512a8cad1f0d"/>
    <xsd:import namespace="fb5acd76-e9f3-4601-9d69-91f53ab96ae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58f784-0ef9-4616-b22d-512a8cad1f0d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ca69c71e-a029-4733-aca1-cabc27411b08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D80075B-F8CE-48D6-9BD2-D195F7E115A9}" ma:internalName="CSXSubmissionMarket" ma:readOnly="false" ma:showField="MarketName" ma:web="2958f784-0ef9-4616-b22d-512a8cad1f0d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9327d1a0-1a14-4b12-a74c-0f320f972977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1F044C38-11A0-4051-9DF8-A3AFA85E16DC}" ma:internalName="InProjectListLookup" ma:readOnly="true" ma:showField="InProjectList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3b364bcb-a06e-4da1-8475-f5243c3236b2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1F044C38-11A0-4051-9DF8-A3AFA85E16DC}" ma:internalName="LastCompleteVersionLookup" ma:readOnly="true" ma:showField="LastCompleteVersion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1F044C38-11A0-4051-9DF8-A3AFA85E16DC}" ma:internalName="LastPreviewErrorLookup" ma:readOnly="true" ma:showField="LastPreviewError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1F044C38-11A0-4051-9DF8-A3AFA85E16DC}" ma:internalName="LastPreviewResultLookup" ma:readOnly="true" ma:showField="LastPreviewResult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1F044C38-11A0-4051-9DF8-A3AFA85E16DC}" ma:internalName="LastPreviewAttemptDateLookup" ma:readOnly="true" ma:showField="LastPreviewAttemptDat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1F044C38-11A0-4051-9DF8-A3AFA85E16DC}" ma:internalName="LastPreviewedByLookup" ma:readOnly="true" ma:showField="LastPreviewedBy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1F044C38-11A0-4051-9DF8-A3AFA85E16DC}" ma:internalName="LastPreviewTimeLookup" ma:readOnly="true" ma:showField="LastPreviewTim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1F044C38-11A0-4051-9DF8-A3AFA85E16DC}" ma:internalName="LastPreviewVersionLookup" ma:readOnly="true" ma:showField="LastPreviewVersion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1F044C38-11A0-4051-9DF8-A3AFA85E16DC}" ma:internalName="LastPublishErrorLookup" ma:readOnly="true" ma:showField="LastPublishError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1F044C38-11A0-4051-9DF8-A3AFA85E16DC}" ma:internalName="LastPublishResultLookup" ma:readOnly="true" ma:showField="LastPublishResult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1F044C38-11A0-4051-9DF8-A3AFA85E16DC}" ma:internalName="LastPublishAttemptDateLookup" ma:readOnly="true" ma:showField="LastPublishAttemptDat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1F044C38-11A0-4051-9DF8-A3AFA85E16DC}" ma:internalName="LastPublishedByLookup" ma:readOnly="true" ma:showField="LastPublishedBy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1F044C38-11A0-4051-9DF8-A3AFA85E16DC}" ma:internalName="LastPublishTimeLookup" ma:readOnly="true" ma:showField="LastPublishTim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1F044C38-11A0-4051-9DF8-A3AFA85E16DC}" ma:internalName="LastPublishVersionLookup" ma:readOnly="true" ma:showField="LastPublishVersion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AC64899A-88C0-4725-BCFC-902FA402DE74}" ma:internalName="LocLastLocAttemptVersionLookup" ma:readOnly="false" ma:showField="LastLocAttemptVersion" ma:web="2958f784-0ef9-4616-b22d-512a8cad1f0d">
      <xsd:simpleType>
        <xsd:restriction base="dms:Lookup"/>
      </xsd:simpleType>
    </xsd:element>
    <xsd:element name="LocLastLocAttemptVersionTypeLookup" ma:index="72" nillable="true" ma:displayName="Loc Last Loc Attempt Version Type" ma:default="" ma:list="{AC64899A-88C0-4725-BCFC-902FA402DE74}" ma:internalName="LocLastLocAttemptVersionTypeLookup" ma:readOnly="true" ma:showField="LastLocAttemptVersionType" ma:web="2958f784-0ef9-4616-b22d-512a8cad1f0d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AC64899A-88C0-4725-BCFC-902FA402DE74}" ma:internalName="LocNewPublishedVersionLookup" ma:readOnly="true" ma:showField="NewPublishedVersion" ma:web="2958f784-0ef9-4616-b22d-512a8cad1f0d">
      <xsd:simpleType>
        <xsd:restriction base="dms:Lookup"/>
      </xsd:simpleType>
    </xsd:element>
    <xsd:element name="LocOverallHandbackStatusLookup" ma:index="76" nillable="true" ma:displayName="Loc Overall Handback Status" ma:default="" ma:list="{AC64899A-88C0-4725-BCFC-902FA402DE74}" ma:internalName="LocOverallHandbackStatusLookup" ma:readOnly="true" ma:showField="OverallHandbackStatus" ma:web="2958f784-0ef9-4616-b22d-512a8cad1f0d">
      <xsd:simpleType>
        <xsd:restriction base="dms:Lookup"/>
      </xsd:simpleType>
    </xsd:element>
    <xsd:element name="LocOverallLocStatusLookup" ma:index="77" nillable="true" ma:displayName="Loc Overall Localize Status" ma:default="" ma:list="{AC64899A-88C0-4725-BCFC-902FA402DE74}" ma:internalName="LocOverallLocStatusLookup" ma:readOnly="true" ma:showField="OverallLocStatus" ma:web="2958f784-0ef9-4616-b22d-512a8cad1f0d">
      <xsd:simpleType>
        <xsd:restriction base="dms:Lookup"/>
      </xsd:simpleType>
    </xsd:element>
    <xsd:element name="LocOverallPreviewStatusLookup" ma:index="78" nillable="true" ma:displayName="Loc Overall Preview Status" ma:default="" ma:list="{AC64899A-88C0-4725-BCFC-902FA402DE74}" ma:internalName="LocOverallPreviewStatusLookup" ma:readOnly="true" ma:showField="OverallPreviewStatus" ma:web="2958f784-0ef9-4616-b22d-512a8cad1f0d">
      <xsd:simpleType>
        <xsd:restriction base="dms:Lookup"/>
      </xsd:simpleType>
    </xsd:element>
    <xsd:element name="LocOverallPublishStatusLookup" ma:index="79" nillable="true" ma:displayName="Loc Overall Publish Status" ma:default="" ma:list="{AC64899A-88C0-4725-BCFC-902FA402DE74}" ma:internalName="LocOverallPublishStatusLookup" ma:readOnly="true" ma:showField="OverallPublishStatus" ma:web="2958f784-0ef9-4616-b22d-512a8cad1f0d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AC64899A-88C0-4725-BCFC-902FA402DE74}" ma:internalName="LocProcessedForHandoffsLookup" ma:readOnly="true" ma:showField="ProcessedForHandoffs" ma:web="2958f784-0ef9-4616-b22d-512a8cad1f0d">
      <xsd:simpleType>
        <xsd:restriction base="dms:Lookup"/>
      </xsd:simpleType>
    </xsd:element>
    <xsd:element name="LocProcessedForMarketsLookup" ma:index="82" nillable="true" ma:displayName="Loc Processed For Markets" ma:default="" ma:list="{AC64899A-88C0-4725-BCFC-902FA402DE74}" ma:internalName="LocProcessedForMarketsLookup" ma:readOnly="true" ma:showField="ProcessedForMarkets" ma:web="2958f784-0ef9-4616-b22d-512a8cad1f0d">
      <xsd:simpleType>
        <xsd:restriction base="dms:Lookup"/>
      </xsd:simpleType>
    </xsd:element>
    <xsd:element name="LocPublishedDependentAssetsLookup" ma:index="83" nillable="true" ma:displayName="Loc Published Dependent Assets" ma:default="" ma:list="{AC64899A-88C0-4725-BCFC-902FA402DE74}" ma:internalName="LocPublishedDependentAssetsLookup" ma:readOnly="true" ma:showField="PublishedDependentAssets" ma:web="2958f784-0ef9-4616-b22d-512a8cad1f0d">
      <xsd:simpleType>
        <xsd:restriction base="dms:Lookup"/>
      </xsd:simpleType>
    </xsd:element>
    <xsd:element name="LocPublishedLinkedAssetsLookup" ma:index="84" nillable="true" ma:displayName="Loc Published Linked Assets" ma:default="" ma:list="{AC64899A-88C0-4725-BCFC-902FA402DE74}" ma:internalName="LocPublishedLinkedAssetsLookup" ma:readOnly="true" ma:showField="PublishedLinkedAssets" ma:web="2958f784-0ef9-4616-b22d-512a8cad1f0d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251ee2d3-c117-4524-b3f1-1010c3cab2a3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D80075B-F8CE-48D6-9BD2-D195F7E115A9}" ma:internalName="Markets" ma:readOnly="false" ma:showField="MarketNam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1F044C38-11A0-4051-9DF8-A3AFA85E16DC}" ma:internalName="NumOfRatingsLookup" ma:readOnly="true" ma:showField="NumOfRatings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1F044C38-11A0-4051-9DF8-A3AFA85E16DC}" ma:internalName="PublishStatusLookup" ma:readOnly="false" ma:showField="PublishStatus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54e2ea7-8c43-4b3c-9db4-bd71f7cfe4f4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33f01220-6030-4880-975f-b9ea0de09f53}" ma:internalName="TaxCatchAll" ma:showField="CatchAllData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33f01220-6030-4880-975f-b9ea0de09f53}" ma:internalName="TaxCatchAllLabel" ma:readOnly="true" ma:showField="CatchAllDataLabel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5acd76-e9f3-4601-9d69-91f53ab96ae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9257D7D-6309-4BA4-A4E6-6993480EA14A}">
  <ds:schemaRefs>
    <ds:schemaRef ds:uri="http://purl.org/dc/elements/1.1/"/>
    <ds:schemaRef ds:uri="http://schemas.microsoft.com/office/2006/documentManagement/types"/>
    <ds:schemaRef ds:uri="fb5acd76-e9f3-4601-9d69-91f53ab96ae6"/>
    <ds:schemaRef ds:uri="http://purl.org/dc/terms/"/>
    <ds:schemaRef ds:uri="http://schemas.microsoft.com/office/infopath/2007/PartnerControls"/>
    <ds:schemaRef ds:uri="http://purl.org/dc/dcmitype/"/>
    <ds:schemaRef ds:uri="2958f784-0ef9-4616-b22d-512a8cad1f0d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C901728-E5B9-4805-876E-C18544A547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58f784-0ef9-4616-b22d-512a8cad1f0d"/>
    <ds:schemaRef ds:uri="fb5acd76-e9f3-4601-9d69-91f53ab96a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676545-7095-443C-A040-B9BE291E8F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tf01957422 (1)</Template>
  <TotalTime>1023</TotalTime>
  <Words>2079</Words>
  <Application>Microsoft Office PowerPoint</Application>
  <PresentationFormat>Presentación en pantalla (4:3)</PresentationFormat>
  <Paragraphs>828</Paragraphs>
  <Slides>35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2" baseType="lpstr">
      <vt:lpstr>Arial</vt:lpstr>
      <vt:lpstr>Calibri</vt:lpstr>
      <vt:lpstr>Constantia</vt:lpstr>
      <vt:lpstr>Times New Roman</vt:lpstr>
      <vt:lpstr>Wingdings 2</vt:lpstr>
      <vt:lpstr>Flujo</vt:lpstr>
      <vt:lpstr>Worksheet</vt:lpstr>
      <vt:lpstr>COSTOS Y PRESUPUESTOS</vt:lpstr>
      <vt:lpstr>INCOTERMS (COMERCIO EXTERIOR)</vt:lpstr>
      <vt:lpstr>Presentación de PowerPoint</vt:lpstr>
      <vt:lpstr>Presentación de PowerPoint</vt:lpstr>
      <vt:lpstr>SISTEMAS DE INVENTARIOS</vt:lpstr>
      <vt:lpstr>SISTEMAS DE INVENTARIO</vt:lpstr>
      <vt:lpstr>SISTEMAS DE INVENTARIO</vt:lpstr>
      <vt:lpstr>SISTEMAS DE INVENTARIO - FIFO</vt:lpstr>
      <vt:lpstr>SISTEMAS DE INVENTARIO - FIFO</vt:lpstr>
      <vt:lpstr>SISTEMAS DE INVENTARIO - FIFO</vt:lpstr>
      <vt:lpstr>SISTEMAS DE INVENTARIO - FIFO</vt:lpstr>
      <vt:lpstr>SISTEMAS DE INVENTARIO</vt:lpstr>
      <vt:lpstr>SISTEMAS DE INVENTARIO - LIFO</vt:lpstr>
      <vt:lpstr>SISTEMAS DE INVENTARIO - LIFO</vt:lpstr>
      <vt:lpstr>SISTEMAS DE INVENTARIO - LIFO</vt:lpstr>
      <vt:lpstr>SISTEMAS DE INVENTARIO - LIFO</vt:lpstr>
      <vt:lpstr>SISTEMAS DE INVENTARIO</vt:lpstr>
      <vt:lpstr>SISTEMAS DE INVENTARIO - PPP</vt:lpstr>
      <vt:lpstr>SISTEMAS DE INVENTARIO - PPP</vt:lpstr>
      <vt:lpstr>SISTEMAS DE INVENTARIO - PPP</vt:lpstr>
      <vt:lpstr>SISTEMAS DE INVENTARIO - PPP</vt:lpstr>
      <vt:lpstr>COSTO DE CAPITAL</vt:lpstr>
      <vt:lpstr>COSTO DE CAPITAL</vt:lpstr>
      <vt:lpstr>COSTO DE CAPITAL</vt:lpstr>
      <vt:lpstr>COSTO DE CAPITAL</vt:lpstr>
      <vt:lpstr>COSTO DE CAPITAL</vt:lpstr>
      <vt:lpstr>COSTO DE CAPITAL</vt:lpstr>
      <vt:lpstr>Presentación de PowerPoint</vt:lpstr>
      <vt:lpstr>Presentación de PowerPoint</vt:lpstr>
      <vt:lpstr>TASA DE COSTO DE CAPITAL (WACC)  </vt:lpstr>
      <vt:lpstr>TASA DE COSTO DE CAPITAL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TRASTORNOS DE LA IMAGEN Y LA ALIMENTACIÓN.</dc:title>
  <dc:creator>gustavo massucco</dc:creator>
  <cp:lastModifiedBy>gustavo massucco</cp:lastModifiedBy>
  <cp:revision>139</cp:revision>
  <dcterms:created xsi:type="dcterms:W3CDTF">2020-03-03T09:19:04Z</dcterms:created>
  <dcterms:modified xsi:type="dcterms:W3CDTF">2022-05-09T11:13:36Z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0x010100DE95A0C693CEB341887D38A4A2B58B45040072C752107C5A7B47AA91A1EE638E6F1F</vt:lpwstr>
  </property>
  <property fmtid="{D5CDD505-2E9C-101B-9397-08002B2CF9AE}" pid="3" name="ImageGenCounter">
    <vt:i4>0</vt:i4>
  </property>
  <property fmtid="{D5CDD505-2E9C-101B-9397-08002B2CF9AE}" pid="4" name="ImageGenStatus">
    <vt:i4>0</vt:i4>
  </property>
  <property fmtid="{D5CDD505-2E9C-101B-9397-08002B2CF9AE}" pid="5" name="PolicheckStatus">
    <vt:i4>3</vt:i4>
  </property>
  <property fmtid="{D5CDD505-2E9C-101B-9397-08002B2CF9AE}" pid="6" name="Applications">
    <vt:lpwstr>53;#PowerPoint 12;#407;#PowerPoint 14</vt:lpwstr>
  </property>
  <property fmtid="{D5CDD505-2E9C-101B-9397-08002B2CF9AE}" pid="7" name="PolicheckCounter">
    <vt:i4>1</vt:i4>
  </property>
  <property fmtid="{D5CDD505-2E9C-101B-9397-08002B2CF9AE}" pid="8" name="ImageGenTimestamp">
    <vt:filetime>2010-07-25T14:35:13Z</vt:filetime>
  </property>
  <property fmtid="{D5CDD505-2E9C-101B-9397-08002B2CF9AE}" pid="9" name="PolicheckTimestamp">
    <vt:filetime>2011-04-27T18:30:20Z</vt:filetime>
  </property>
  <property fmtid="{D5CDD505-2E9C-101B-9397-08002B2CF9AE}" pid="10" name="Order">
    <vt:r8>12535900</vt:r8>
  </property>
</Properties>
</file>