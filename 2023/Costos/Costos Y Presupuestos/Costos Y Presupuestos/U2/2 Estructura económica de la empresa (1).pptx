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63" r:id="rId9"/>
    <p:sldId id="267" r:id="rId10"/>
    <p:sldId id="268" r:id="rId11"/>
    <p:sldId id="264" r:id="rId12"/>
    <p:sldId id="269" r:id="rId13"/>
    <p:sldId id="265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93" autoAdjust="0"/>
    <p:restoredTop sz="94660"/>
  </p:normalViewPr>
  <p:slideViewPr>
    <p:cSldViewPr snapToGrid="0">
      <p:cViewPr varScale="1">
        <p:scale>
          <a:sx n="83" d="100"/>
          <a:sy n="83" d="100"/>
        </p:scale>
        <p:origin x="115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9B8A1-6640-4F38-BB4E-1E9F9C2C19B9}" type="datetimeFigureOut">
              <a:rPr lang="es-AR" smtClean="0"/>
              <a:t>2/4/2023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F97B9-2656-415E-A184-23FE4FB7E54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6305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EE2AAB2-65CB-4D67-BAD3-5C8D9202A1C6}" type="datetime1">
              <a:rPr lang="en-US" smtClean="0"/>
              <a:t>4/2/2023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4D5B-DD50-48B9-8403-486347AFB6DB}" type="datetime1">
              <a:rPr lang="en-US" smtClean="0"/>
              <a:t>4/2/2023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3D0386-E5DC-4EBB-A814-AF517805B9D3}" type="datetime1">
              <a:rPr lang="en-US" smtClean="0"/>
              <a:t>4/2/2023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1A7B-4D5F-4ECE-83D8-126F76342843}" type="datetime1">
              <a:rPr lang="en-US" smtClean="0"/>
              <a:t>4/2/2023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377B-FEE7-46DA-BCD5-55A056AA613B}" type="datetime1">
              <a:rPr lang="en-US" smtClean="0"/>
              <a:t>4/2/2023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9E75-FF2C-49D5-A665-0ADE60EC2095}" type="datetime1">
              <a:rPr lang="en-US" smtClean="0"/>
              <a:t>4/2/2023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9D4F-38AF-4CF1-B2DB-49EF040A229A}" type="datetime1">
              <a:rPr lang="en-US" smtClean="0"/>
              <a:t>4/2/2023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3245EC2-CADF-412E-863E-46E813BA6128}" type="datetime1">
              <a:rPr lang="en-US" smtClean="0"/>
              <a:t>4/2/2023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88DE-ACD6-4235-BA31-F547B3B2DFAD}" type="datetime1">
              <a:rPr lang="en-US" smtClean="0"/>
              <a:t>4/2/2023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68CD-B1BF-4247-80FD-9D1C3470751E}" type="datetime1">
              <a:rPr lang="en-US" smtClean="0"/>
              <a:t>4/2/2023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C10B516-518F-4CD1-B61B-4EA5BC3EFC90}" type="datetime1">
              <a:rPr lang="en-US" smtClean="0"/>
              <a:t>4/2/2023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0FEEB4C-B754-4B45-9205-0B15E6E0C20A}" type="datetime1">
              <a:rPr lang="en-US" smtClean="0"/>
              <a:t>4/2/2023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06E6-1B10-404B-9241-555AA660FC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COSTOS Y PRESUPUESTOS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30CFD5-6EBA-4A5F-BB6A-F8A38D307D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Ingeniero Gustavo Massucco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4190FB-1187-46FD-9AF2-9104188A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818A16B-1569-4A7B-8136-A541016F923B}"/>
              </a:ext>
            </a:extLst>
          </p:cNvPr>
          <p:cNvSpPr txBox="1"/>
          <p:nvPr/>
        </p:nvSpPr>
        <p:spPr>
          <a:xfrm>
            <a:off x="1002323" y="3429000"/>
            <a:ext cx="7666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solidFill>
                  <a:schemeClr val="bg1"/>
                </a:solidFill>
              </a:rPr>
              <a:t>ESTRUCTURA ECONOMICA DE LA EMPRESA</a:t>
            </a:r>
          </a:p>
        </p:txBody>
      </p:sp>
    </p:spTree>
    <p:extLst>
      <p:ext uri="{BB962C8B-B14F-4D97-AF65-F5344CB8AC3E}">
        <p14:creationId xmlns:p14="http://schemas.microsoft.com/office/powerpoint/2010/main" val="1992078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500AE-C118-419F-9781-55AB9B17A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ESTRUCTURA ECONOMICA DE LA EMPRESA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02B3A7-465D-4C88-9C92-2586858D9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6631E372-0038-4CAF-99DC-8B59BB790BA6}"/>
              </a:ext>
            </a:extLst>
          </p:cNvPr>
          <p:cNvGrpSpPr/>
          <p:nvPr/>
        </p:nvGrpSpPr>
        <p:grpSpPr>
          <a:xfrm>
            <a:off x="928491" y="2558589"/>
            <a:ext cx="4242286" cy="3094865"/>
            <a:chOff x="928491" y="2558589"/>
            <a:chExt cx="4242286" cy="309486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20666F4-90E5-45D1-B2C4-8277323DABDF}"/>
                </a:ext>
              </a:extLst>
            </p:cNvPr>
            <p:cNvSpPr/>
            <p:nvPr/>
          </p:nvSpPr>
          <p:spPr>
            <a:xfrm>
              <a:off x="1507880" y="2558589"/>
              <a:ext cx="3024554" cy="309486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4BA9F41-27E1-4FB8-8E74-E7A6F7DE12A1}"/>
                </a:ext>
              </a:extLst>
            </p:cNvPr>
            <p:cNvSpPr txBox="1"/>
            <p:nvPr/>
          </p:nvSpPr>
          <p:spPr>
            <a:xfrm>
              <a:off x="928491" y="2668506"/>
              <a:ext cx="3780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u="sng" dirty="0">
                  <a:solidFill>
                    <a:schemeClr val="tx2"/>
                  </a:solidFill>
                </a:rPr>
                <a:t>ACTIVO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BD5256CB-36EB-4860-965F-C1BD4F64DC92}"/>
                </a:ext>
              </a:extLst>
            </p:cNvPr>
            <p:cNvSpPr txBox="1"/>
            <p:nvPr/>
          </p:nvSpPr>
          <p:spPr>
            <a:xfrm>
              <a:off x="1507880" y="3416656"/>
              <a:ext cx="3657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ACTIVO CORRIENTE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4C0C2812-3799-4D46-9D15-D8962FFEEFCE}"/>
                </a:ext>
              </a:extLst>
            </p:cNvPr>
            <p:cNvSpPr txBox="1"/>
            <p:nvPr/>
          </p:nvSpPr>
          <p:spPr>
            <a:xfrm>
              <a:off x="1513177" y="4519557"/>
              <a:ext cx="3657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ACTIVO NO CORRIENTE</a:t>
              </a:r>
            </a:p>
          </p:txBody>
        </p:sp>
      </p:grp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B3DB14E-8656-44C9-A382-0F1C81A73425}"/>
              </a:ext>
            </a:extLst>
          </p:cNvPr>
          <p:cNvSpPr/>
          <p:nvPr/>
        </p:nvSpPr>
        <p:spPr>
          <a:xfrm>
            <a:off x="7482818" y="2628954"/>
            <a:ext cx="3024554" cy="30948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es-AR" dirty="0">
              <a:ln/>
              <a:solidFill>
                <a:schemeClr val="tx2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E9C4C2B-F22D-4C09-BA99-69703CF96C3E}"/>
              </a:ext>
            </a:extLst>
          </p:cNvPr>
          <p:cNvSpPr txBox="1"/>
          <p:nvPr/>
        </p:nvSpPr>
        <p:spPr>
          <a:xfrm>
            <a:off x="7571417" y="3121472"/>
            <a:ext cx="265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PASIVO CORRIENTE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0BFB713-58CC-40F5-A1CF-2F413A695277}"/>
              </a:ext>
            </a:extLst>
          </p:cNvPr>
          <p:cNvSpPr txBox="1"/>
          <p:nvPr/>
        </p:nvSpPr>
        <p:spPr>
          <a:xfrm>
            <a:off x="7571417" y="3834886"/>
            <a:ext cx="309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PASIVO NO CORRIENTE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6693F5A-6D81-4425-A4D3-A4168277B7A9}"/>
              </a:ext>
            </a:extLst>
          </p:cNvPr>
          <p:cNvSpPr/>
          <p:nvPr/>
        </p:nvSpPr>
        <p:spPr>
          <a:xfrm>
            <a:off x="7482818" y="4615989"/>
            <a:ext cx="3024554" cy="11078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es-AR" dirty="0">
              <a:solidFill>
                <a:schemeClr val="tx2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DC73EE9-8AFD-4284-A8FF-7F12AE7C1165}"/>
              </a:ext>
            </a:extLst>
          </p:cNvPr>
          <p:cNvSpPr txBox="1"/>
          <p:nvPr/>
        </p:nvSpPr>
        <p:spPr>
          <a:xfrm>
            <a:off x="7716266" y="4958835"/>
            <a:ext cx="265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PATRIMONIO NETO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D3018AB-B347-4BCF-9BDF-7352085CFC2C}"/>
              </a:ext>
            </a:extLst>
          </p:cNvPr>
          <p:cNvSpPr txBox="1"/>
          <p:nvPr/>
        </p:nvSpPr>
        <p:spPr>
          <a:xfrm>
            <a:off x="7104749" y="2683088"/>
            <a:ext cx="378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u="sng" dirty="0">
                <a:solidFill>
                  <a:schemeClr val="tx2"/>
                </a:solidFill>
              </a:rPr>
              <a:t>PASIVO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CDFEDD9-27F1-4CFE-93B2-519046248FCD}"/>
              </a:ext>
            </a:extLst>
          </p:cNvPr>
          <p:cNvSpPr txBox="1"/>
          <p:nvPr/>
        </p:nvSpPr>
        <p:spPr>
          <a:xfrm>
            <a:off x="2541541" y="5856021"/>
            <a:ext cx="581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>
                <a:solidFill>
                  <a:schemeClr val="tx2"/>
                </a:solidFill>
              </a:rPr>
              <a:t>LA EXPRESION DEL BALANCE SERÁ: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9650552-5414-4609-BFCD-10D21CAAAC15}"/>
              </a:ext>
            </a:extLst>
          </p:cNvPr>
          <p:cNvSpPr txBox="1"/>
          <p:nvPr/>
        </p:nvSpPr>
        <p:spPr>
          <a:xfrm>
            <a:off x="3665713" y="6236707"/>
            <a:ext cx="5329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>
                <a:solidFill>
                  <a:schemeClr val="tx2"/>
                </a:solidFill>
              </a:rPr>
              <a:t>ACTIVO = PASIVO + PATRIMONIO NETO</a:t>
            </a:r>
          </a:p>
        </p:txBody>
      </p:sp>
    </p:spTree>
    <p:extLst>
      <p:ext uri="{BB962C8B-B14F-4D97-AF65-F5344CB8AC3E}">
        <p14:creationId xmlns:p14="http://schemas.microsoft.com/office/powerpoint/2010/main" val="2044135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A7541BFE-DD2B-4F1A-AD5C-D5FBFB47D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Estructura económica de la empresa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8DDF051-BECD-4381-BC06-A14C73E2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46480C-3A4F-48FF-AE89-2CF09E60D12C}"/>
              </a:ext>
            </a:extLst>
          </p:cNvPr>
          <p:cNvSpPr txBox="1"/>
          <p:nvPr/>
        </p:nvSpPr>
        <p:spPr>
          <a:xfrm>
            <a:off x="853789" y="2285999"/>
            <a:ext cx="6128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Y SUS COMPONENTES SERAN: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13669E1-7377-4A4A-8269-F3B19EBBFB34}"/>
              </a:ext>
            </a:extLst>
          </p:cNvPr>
          <p:cNvSpPr txBox="1"/>
          <p:nvPr/>
        </p:nvSpPr>
        <p:spPr>
          <a:xfrm>
            <a:off x="1812150" y="3323491"/>
            <a:ext cx="136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ACTIVO: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902DF1-1F77-4500-9318-66D09B63B4E5}"/>
              </a:ext>
            </a:extLst>
          </p:cNvPr>
          <p:cNvSpPr txBox="1"/>
          <p:nvPr/>
        </p:nvSpPr>
        <p:spPr>
          <a:xfrm>
            <a:off x="1394516" y="4057717"/>
            <a:ext cx="35608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/>
                </a:solidFill>
              </a:rPr>
              <a:t>Disponibilidades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/>
                </a:solidFill>
              </a:rPr>
              <a:t>Créditos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/>
                </a:solidFill>
              </a:rPr>
              <a:t>Bienes de cambio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/>
                </a:solidFill>
              </a:rPr>
              <a:t>Inversiones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/>
                </a:solidFill>
              </a:rPr>
              <a:t>Bienes de uso 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/>
                </a:solidFill>
              </a:rPr>
              <a:t>Bienes intangibles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E9DD3A8-86C7-43C1-A982-C527578435E2}"/>
              </a:ext>
            </a:extLst>
          </p:cNvPr>
          <p:cNvSpPr txBox="1"/>
          <p:nvPr/>
        </p:nvSpPr>
        <p:spPr>
          <a:xfrm>
            <a:off x="7178389" y="3323491"/>
            <a:ext cx="136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PASIVO: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4950719-486F-45BE-B5E2-2A19368C5C3D}"/>
              </a:ext>
            </a:extLst>
          </p:cNvPr>
          <p:cNvSpPr txBox="1"/>
          <p:nvPr/>
        </p:nvSpPr>
        <p:spPr>
          <a:xfrm>
            <a:off x="6377354" y="4057717"/>
            <a:ext cx="35608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/>
                </a:solidFill>
              </a:rPr>
              <a:t>Deudas a corto plazo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/>
                </a:solidFill>
              </a:rPr>
              <a:t>Deudas a largo plazo</a:t>
            </a:r>
          </a:p>
          <a:p>
            <a:pPr>
              <a:buClr>
                <a:schemeClr val="accent2"/>
              </a:buClr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17104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994E521E-123C-420A-9580-2D586B762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ESTRUCTURA ECONOMICA DE LA EMPRESA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0A3AB0D-D3FA-4135-8DD4-8494AE1B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4796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E5FF5D-5C84-4CB3-846A-1974431904C1}"/>
              </a:ext>
            </a:extLst>
          </p:cNvPr>
          <p:cNvSpPr txBox="1"/>
          <p:nvPr/>
        </p:nvSpPr>
        <p:spPr>
          <a:xfrm>
            <a:off x="977630" y="2008388"/>
            <a:ext cx="4651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>
                <a:solidFill>
                  <a:schemeClr val="tx2"/>
                </a:solidFill>
              </a:rPr>
              <a:t>Y sus descripciones serán: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53181C-555C-49B8-9046-987BF4B52754}"/>
              </a:ext>
            </a:extLst>
          </p:cNvPr>
          <p:cNvSpPr txBox="1"/>
          <p:nvPr/>
        </p:nvSpPr>
        <p:spPr>
          <a:xfrm>
            <a:off x="1042104" y="2894275"/>
            <a:ext cx="49676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b="1" dirty="0">
                <a:solidFill>
                  <a:schemeClr val="tx2"/>
                </a:solidFill>
              </a:rPr>
              <a:t>Disponibilidades: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dirty="0">
                <a:solidFill>
                  <a:schemeClr val="tx2"/>
                </a:solidFill>
              </a:rPr>
              <a:t>Es todo dinero en efectivo y en el banco de disposición inmediata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BF0035-BEA3-4F36-BD19-908263EEDE84}"/>
              </a:ext>
            </a:extLst>
          </p:cNvPr>
          <p:cNvSpPr txBox="1"/>
          <p:nvPr/>
        </p:nvSpPr>
        <p:spPr>
          <a:xfrm>
            <a:off x="1031263" y="3999793"/>
            <a:ext cx="49676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b="1" dirty="0">
                <a:solidFill>
                  <a:schemeClr val="tx2"/>
                </a:solidFill>
              </a:rPr>
              <a:t>Créditos: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dirty="0">
                <a:solidFill>
                  <a:schemeClr val="tx2"/>
                </a:solidFill>
              </a:rPr>
              <a:t>Son expectativas de cobros, en general créditos por ventas realizadas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7DB269-B1D4-4A4A-AF54-1F752A84DEC2}"/>
              </a:ext>
            </a:extLst>
          </p:cNvPr>
          <p:cNvSpPr txBox="1"/>
          <p:nvPr/>
        </p:nvSpPr>
        <p:spPr>
          <a:xfrm>
            <a:off x="1245840" y="2365087"/>
            <a:ext cx="3894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chemeClr val="tx2"/>
                </a:solidFill>
              </a:rPr>
              <a:t>Del Activo: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B5D1E1A-BBEB-4B1E-A184-23A2C61B5E4C}"/>
              </a:ext>
            </a:extLst>
          </p:cNvPr>
          <p:cNvSpPr txBox="1"/>
          <p:nvPr/>
        </p:nvSpPr>
        <p:spPr>
          <a:xfrm>
            <a:off x="1042104" y="5105473"/>
            <a:ext cx="54981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b="1" dirty="0">
                <a:solidFill>
                  <a:schemeClr val="tx2"/>
                </a:solidFill>
              </a:rPr>
              <a:t>Bienes de cambio: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dirty="0">
                <a:solidFill>
                  <a:schemeClr val="tx2"/>
                </a:solidFill>
              </a:rPr>
              <a:t>Son los que tienen que ver con el movimiento de la empresa, por ejemplo las materias primas, semielaborados y productos terminados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7BFB868-7B88-47A4-A726-3C5F4F5CFEC6}"/>
              </a:ext>
            </a:extLst>
          </p:cNvPr>
          <p:cNvSpPr txBox="1"/>
          <p:nvPr/>
        </p:nvSpPr>
        <p:spPr>
          <a:xfrm>
            <a:off x="6625223" y="3206649"/>
            <a:ext cx="49676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b="1" dirty="0">
                <a:solidFill>
                  <a:schemeClr val="tx2"/>
                </a:solidFill>
              </a:rPr>
              <a:t>Inversiones: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dirty="0">
                <a:solidFill>
                  <a:schemeClr val="tx2"/>
                </a:solidFill>
              </a:rPr>
              <a:t>Especulativas preventivas de crisis, por ejemplo, en acciones, bonos, moneda extranjera, </a:t>
            </a:r>
            <a:r>
              <a:rPr lang="es-AR" sz="2000" dirty="0" err="1">
                <a:solidFill>
                  <a:schemeClr val="tx2"/>
                </a:solidFill>
              </a:rPr>
              <a:t>etc</a:t>
            </a:r>
            <a:endParaRPr lang="es-AR" sz="2000" dirty="0">
              <a:solidFill>
                <a:schemeClr val="tx2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79E7CC5-C0DF-42DD-8394-F9F5D10C94CE}"/>
              </a:ext>
            </a:extLst>
          </p:cNvPr>
          <p:cNvSpPr txBox="1"/>
          <p:nvPr/>
        </p:nvSpPr>
        <p:spPr>
          <a:xfrm>
            <a:off x="6751247" y="4431177"/>
            <a:ext cx="49676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b="1" dirty="0">
                <a:solidFill>
                  <a:schemeClr val="tx2"/>
                </a:solidFill>
              </a:rPr>
              <a:t>Bienes de uso: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dirty="0">
                <a:solidFill>
                  <a:schemeClr val="tx2"/>
                </a:solidFill>
              </a:rPr>
              <a:t>Inversiones de la empresa en maquinas, instalaciones, edificio, etc.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AA684B-3B4C-4EEF-9109-6CC2C0E25E7B}"/>
              </a:ext>
            </a:extLst>
          </p:cNvPr>
          <p:cNvSpPr txBox="1"/>
          <p:nvPr/>
        </p:nvSpPr>
        <p:spPr>
          <a:xfrm>
            <a:off x="6751247" y="5689762"/>
            <a:ext cx="49676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b="1" dirty="0">
                <a:solidFill>
                  <a:schemeClr val="tx2"/>
                </a:solidFill>
              </a:rPr>
              <a:t>Bienes intangibles: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dirty="0">
                <a:solidFill>
                  <a:schemeClr val="tx2"/>
                </a:solidFill>
              </a:rPr>
              <a:t>Son las marcas , patentes, llave del negocio, franquicias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07D2947-0A26-4AB4-B22C-77573DE4342D}"/>
              </a:ext>
            </a:extLst>
          </p:cNvPr>
          <p:cNvCxnSpPr>
            <a:cxnSpLocks/>
          </p:cNvCxnSpPr>
          <p:nvPr/>
        </p:nvCxnSpPr>
        <p:spPr>
          <a:xfrm>
            <a:off x="12470984" y="6959241"/>
            <a:ext cx="0" cy="435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07D2947-0A26-4AB4-B22C-77573DE4342D}"/>
              </a:ext>
            </a:extLst>
          </p:cNvPr>
          <p:cNvCxnSpPr>
            <a:cxnSpLocks/>
          </p:cNvCxnSpPr>
          <p:nvPr/>
        </p:nvCxnSpPr>
        <p:spPr>
          <a:xfrm>
            <a:off x="12623384" y="7111641"/>
            <a:ext cx="0" cy="435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032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D0A734E-BA4E-4E9A-A3CB-DF513664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ESTRUCTURA ECONOMICA DE LA EMPRESA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2404416-FDEE-45D3-BF67-7F9D60A3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01BF5EF-D2D8-4DC9-9B62-E855B0EFAAD4}"/>
              </a:ext>
            </a:extLst>
          </p:cNvPr>
          <p:cNvSpPr txBox="1"/>
          <p:nvPr/>
        </p:nvSpPr>
        <p:spPr>
          <a:xfrm>
            <a:off x="950503" y="2273447"/>
            <a:ext cx="3411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chemeClr val="tx2"/>
                </a:solidFill>
              </a:rPr>
              <a:t>Del Pasivo: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F9188B2-C892-4D41-AFAD-08F1F6BF3760}"/>
              </a:ext>
            </a:extLst>
          </p:cNvPr>
          <p:cNvSpPr txBox="1"/>
          <p:nvPr/>
        </p:nvSpPr>
        <p:spPr>
          <a:xfrm>
            <a:off x="1108765" y="3003208"/>
            <a:ext cx="5486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b="1" dirty="0">
                <a:solidFill>
                  <a:schemeClr val="tx2"/>
                </a:solidFill>
              </a:rPr>
              <a:t>Pasivo corriente:</a:t>
            </a:r>
            <a:r>
              <a:rPr lang="es-AR" sz="2000" dirty="0">
                <a:solidFill>
                  <a:schemeClr val="tx2"/>
                </a:solidFill>
              </a:rPr>
              <a:t> 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chemeClr val="tx2"/>
                </a:solidFill>
              </a:rPr>
              <a:t>Son las deudas a pagar de corto plazo, en general deudas para cancelar dentro del año.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AR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D94935-4506-467B-904B-28073767824F}"/>
              </a:ext>
            </a:extLst>
          </p:cNvPr>
          <p:cNvSpPr txBox="1"/>
          <p:nvPr/>
        </p:nvSpPr>
        <p:spPr>
          <a:xfrm>
            <a:off x="1108764" y="4755808"/>
            <a:ext cx="56094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b="1" dirty="0">
                <a:solidFill>
                  <a:schemeClr val="tx2"/>
                </a:solidFill>
              </a:rPr>
              <a:t>Pasivo no corriente: 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chemeClr val="tx2"/>
                </a:solidFill>
              </a:rPr>
              <a:t>Son las deudas a pagar de largo plazo, en general deudas para cancelar en periodos mayores al año.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2576684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141F7-23A7-497B-9F28-6251EF6F5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A5C43A-05B4-446D-9BD2-B94EEA459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5A90A9-5777-45E3-80AC-ECD1EB42038D}"/>
              </a:ext>
            </a:extLst>
          </p:cNvPr>
          <p:cNvSpPr txBox="1"/>
          <p:nvPr/>
        </p:nvSpPr>
        <p:spPr>
          <a:xfrm>
            <a:off x="783415" y="2287627"/>
            <a:ext cx="9302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>
                <a:solidFill>
                  <a:schemeClr val="tx2"/>
                </a:solidFill>
              </a:rPr>
              <a:t>Todo el dinero es aportado por los socios al que se le puede sumar dinero prestado.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79163FB-E20E-4C6B-BF48-AF017F842221}"/>
              </a:ext>
            </a:extLst>
          </p:cNvPr>
          <p:cNvSpPr/>
          <p:nvPr/>
        </p:nvSpPr>
        <p:spPr>
          <a:xfrm>
            <a:off x="5086346" y="3159509"/>
            <a:ext cx="1884384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Capital disponible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42F48DA-BD26-4AE0-80F2-7BF5E6323F71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6020532" y="3805840"/>
            <a:ext cx="8006" cy="134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7FDE46D7-B96F-4940-8439-904F2FB8893D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6028538" y="3940290"/>
            <a:ext cx="942192" cy="35169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34CE9566-BE1C-495B-A50F-5EA731CD74BD}"/>
              </a:ext>
            </a:extLst>
          </p:cNvPr>
          <p:cNvCxnSpPr>
            <a:cxnSpLocks/>
            <a:endCxn id="29" idx="3"/>
          </p:cNvCxnSpPr>
          <p:nvPr/>
        </p:nvCxnSpPr>
        <p:spPr>
          <a:xfrm rot="10800000" flipV="1">
            <a:off x="5020409" y="3941625"/>
            <a:ext cx="992119" cy="35679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EF029D6-991E-4CB1-98FD-353D5B52C5CE}"/>
              </a:ext>
            </a:extLst>
          </p:cNvPr>
          <p:cNvSpPr/>
          <p:nvPr/>
        </p:nvSpPr>
        <p:spPr>
          <a:xfrm>
            <a:off x="3178490" y="3936910"/>
            <a:ext cx="1841918" cy="7230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Capital fijo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4ADD17E-0C4C-4E85-BED6-A26E03982BD7}"/>
              </a:ext>
            </a:extLst>
          </p:cNvPr>
          <p:cNvSpPr/>
          <p:nvPr/>
        </p:nvSpPr>
        <p:spPr>
          <a:xfrm>
            <a:off x="6970730" y="3924042"/>
            <a:ext cx="1841918" cy="7358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Capital circulante</a:t>
            </a:r>
          </a:p>
        </p:txBody>
      </p:sp>
    </p:spTree>
    <p:extLst>
      <p:ext uri="{BB962C8B-B14F-4D97-AF65-F5344CB8AC3E}">
        <p14:creationId xmlns:p14="http://schemas.microsoft.com/office/powerpoint/2010/main" val="819419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933DF-E46E-43A1-99BA-9400968F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C37252-5388-4DB2-BF23-3D1E1665D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528D4CE-8DB7-4115-A0F1-7E8EDDA44E14}"/>
              </a:ext>
            </a:extLst>
          </p:cNvPr>
          <p:cNvSpPr txBox="1"/>
          <p:nvPr/>
        </p:nvSpPr>
        <p:spPr>
          <a:xfrm>
            <a:off x="1354015" y="2567354"/>
            <a:ext cx="53281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b="1" dirty="0">
                <a:solidFill>
                  <a:schemeClr val="tx2"/>
                </a:solidFill>
              </a:rPr>
              <a:t>Capital Fijo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chemeClr val="tx2"/>
                </a:solidFill>
              </a:rPr>
              <a:t>Son los bienes que se utilizan reiteradas veces en el proceso productivo (maquinas, terreno, edificio, </a:t>
            </a:r>
            <a:r>
              <a:rPr lang="es-AR" sz="2000" dirty="0" err="1">
                <a:solidFill>
                  <a:schemeClr val="tx2"/>
                </a:solidFill>
              </a:rPr>
              <a:t>etc</a:t>
            </a:r>
            <a:r>
              <a:rPr lang="es-AR" sz="20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B7FAEB1-E9E0-4581-9D22-2D1EE87149A8}"/>
              </a:ext>
            </a:extLst>
          </p:cNvPr>
          <p:cNvSpPr txBox="1"/>
          <p:nvPr/>
        </p:nvSpPr>
        <p:spPr>
          <a:xfrm>
            <a:off x="1354015" y="4689231"/>
            <a:ext cx="53281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sz="2000" b="1" dirty="0">
                <a:solidFill>
                  <a:schemeClr val="tx2"/>
                </a:solidFill>
              </a:rPr>
              <a:t>Capital Circulante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chemeClr val="tx2"/>
                </a:solidFill>
              </a:rPr>
              <a:t>Son los bienes que se consumen en un solo acto de producción, por ejemplo, la materia prima, la mano de obra. Es decir se consume en un ciclo productivo</a:t>
            </a:r>
          </a:p>
        </p:txBody>
      </p:sp>
    </p:spTree>
    <p:extLst>
      <p:ext uri="{BB962C8B-B14F-4D97-AF65-F5344CB8AC3E}">
        <p14:creationId xmlns:p14="http://schemas.microsoft.com/office/powerpoint/2010/main" val="3322253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ABE4E-19E5-42AD-A85C-DFB03C456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61B189-6A29-47F0-9491-982B1735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AECE3A1-0624-4BB9-B8B0-DAB0F9777FAB}"/>
              </a:ext>
            </a:extLst>
          </p:cNvPr>
          <p:cNvGrpSpPr/>
          <p:nvPr/>
        </p:nvGrpSpPr>
        <p:grpSpPr>
          <a:xfrm>
            <a:off x="625154" y="2597180"/>
            <a:ext cx="7745870" cy="3724082"/>
            <a:chOff x="928491" y="2558589"/>
            <a:chExt cx="7943898" cy="3094865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6E4AAB5-5904-4A6D-BB31-274FBD86CB71}"/>
                </a:ext>
              </a:extLst>
            </p:cNvPr>
            <p:cNvSpPr/>
            <p:nvPr/>
          </p:nvSpPr>
          <p:spPr>
            <a:xfrm>
              <a:off x="1507880" y="2558589"/>
              <a:ext cx="3024554" cy="309486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1D56EB46-6013-48DC-AF5A-F48F4EFAF229}"/>
                </a:ext>
              </a:extLst>
            </p:cNvPr>
            <p:cNvSpPr txBox="1"/>
            <p:nvPr/>
          </p:nvSpPr>
          <p:spPr>
            <a:xfrm>
              <a:off x="928491" y="2668506"/>
              <a:ext cx="3780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AR" dirty="0">
                <a:solidFill>
                  <a:schemeClr val="tx2"/>
                </a:solidFill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FA1AAA58-1767-4763-8BAE-DD3A87A1171B}"/>
                </a:ext>
              </a:extLst>
            </p:cNvPr>
            <p:cNvSpPr txBox="1"/>
            <p:nvPr/>
          </p:nvSpPr>
          <p:spPr>
            <a:xfrm>
              <a:off x="1507880" y="3416656"/>
              <a:ext cx="3002143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FIJO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CF4DEF97-9594-490A-9D17-E65985018235}"/>
                </a:ext>
              </a:extLst>
            </p:cNvPr>
            <p:cNvSpPr txBox="1"/>
            <p:nvPr/>
          </p:nvSpPr>
          <p:spPr>
            <a:xfrm>
              <a:off x="1507880" y="4961671"/>
              <a:ext cx="3024554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92D050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CIRCULANTE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E7DF6845-0EC8-4975-A191-9BC897CD8986}"/>
                </a:ext>
              </a:extLst>
            </p:cNvPr>
            <p:cNvSpPr txBox="1"/>
            <p:nvPr/>
          </p:nvSpPr>
          <p:spPr>
            <a:xfrm>
              <a:off x="5214789" y="4953097"/>
              <a:ext cx="3657600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92D050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CIRCULANTE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CECC5538-0243-4AAA-9147-EDEEA3F0BBA4}"/>
              </a:ext>
            </a:extLst>
          </p:cNvPr>
          <p:cNvGrpSpPr/>
          <p:nvPr/>
        </p:nvGrpSpPr>
        <p:grpSpPr>
          <a:xfrm>
            <a:off x="4732797" y="2597174"/>
            <a:ext cx="2943836" cy="3724082"/>
            <a:chOff x="1507561" y="2558589"/>
            <a:chExt cx="3049492" cy="3094865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E1181558-4E32-4049-ACB8-DEA5439C85D1}"/>
                </a:ext>
              </a:extLst>
            </p:cNvPr>
            <p:cNvSpPr/>
            <p:nvPr/>
          </p:nvSpPr>
          <p:spPr>
            <a:xfrm>
              <a:off x="1507880" y="2558589"/>
              <a:ext cx="3024554" cy="309486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0ADC9823-14F3-4FBA-A087-18684E1D0C2B}"/>
                </a:ext>
              </a:extLst>
            </p:cNvPr>
            <p:cNvSpPr txBox="1"/>
            <p:nvPr/>
          </p:nvSpPr>
          <p:spPr>
            <a:xfrm>
              <a:off x="1507561" y="2668506"/>
              <a:ext cx="3024554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DEPRECIACION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5E3716BD-7044-4D05-92A6-BD8101E55862}"/>
                </a:ext>
              </a:extLst>
            </p:cNvPr>
            <p:cNvSpPr txBox="1"/>
            <p:nvPr/>
          </p:nvSpPr>
          <p:spPr>
            <a:xfrm>
              <a:off x="1507880" y="3416656"/>
              <a:ext cx="3040059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FIJO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C179CB4-A215-4110-A192-A1033C2D8A42}"/>
                </a:ext>
              </a:extLst>
            </p:cNvPr>
            <p:cNvSpPr txBox="1"/>
            <p:nvPr/>
          </p:nvSpPr>
          <p:spPr>
            <a:xfrm>
              <a:off x="1507561" y="4891512"/>
              <a:ext cx="3049492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CIRCULANTE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6D142A8-6052-41F6-8A2E-4E476FE3A1E9}"/>
              </a:ext>
            </a:extLst>
          </p:cNvPr>
          <p:cNvGrpSpPr/>
          <p:nvPr/>
        </p:nvGrpSpPr>
        <p:grpSpPr>
          <a:xfrm>
            <a:off x="8227549" y="2597180"/>
            <a:ext cx="2943836" cy="3724076"/>
            <a:chOff x="1507880" y="2563723"/>
            <a:chExt cx="3047619" cy="3094865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879566BA-98C6-47BB-88D8-ECD452ACBD3E}"/>
                </a:ext>
              </a:extLst>
            </p:cNvPr>
            <p:cNvSpPr/>
            <p:nvPr/>
          </p:nvSpPr>
          <p:spPr>
            <a:xfrm>
              <a:off x="1507880" y="2563723"/>
              <a:ext cx="3024554" cy="309486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2900CAE-7715-41E4-B19B-AE8677972FBA}"/>
                </a:ext>
              </a:extLst>
            </p:cNvPr>
            <p:cNvSpPr txBox="1"/>
            <p:nvPr/>
          </p:nvSpPr>
          <p:spPr>
            <a:xfrm>
              <a:off x="1507880" y="3416656"/>
              <a:ext cx="3023389" cy="30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FIJO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FF99549A-03FD-4AFF-AD67-15053EEE76B6}"/>
                </a:ext>
              </a:extLst>
            </p:cNvPr>
            <p:cNvSpPr txBox="1"/>
            <p:nvPr/>
          </p:nvSpPr>
          <p:spPr>
            <a:xfrm>
              <a:off x="1507880" y="4874817"/>
              <a:ext cx="3047619" cy="30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CIRCULANTE</a:t>
              </a:r>
            </a:p>
          </p:txBody>
        </p:sp>
      </p:grp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43DD2139-505F-442F-ACB3-F37FA9C7B5E2}"/>
              </a:ext>
            </a:extLst>
          </p:cNvPr>
          <p:cNvCxnSpPr>
            <a:cxnSpLocks/>
          </p:cNvCxnSpPr>
          <p:nvPr/>
        </p:nvCxnSpPr>
        <p:spPr>
          <a:xfrm>
            <a:off x="4732797" y="3096628"/>
            <a:ext cx="2919762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49204DC-9D52-47F1-8851-D55A5A588A78}"/>
              </a:ext>
            </a:extLst>
          </p:cNvPr>
          <p:cNvCxnSpPr>
            <a:cxnSpLocks/>
          </p:cNvCxnSpPr>
          <p:nvPr/>
        </p:nvCxnSpPr>
        <p:spPr>
          <a:xfrm>
            <a:off x="8260027" y="4541498"/>
            <a:ext cx="2887953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10F07FE5-0DBA-4189-8109-202401D56848}"/>
              </a:ext>
            </a:extLst>
          </p:cNvPr>
          <p:cNvCxnSpPr>
            <a:cxnSpLocks/>
          </p:cNvCxnSpPr>
          <p:nvPr/>
        </p:nvCxnSpPr>
        <p:spPr>
          <a:xfrm>
            <a:off x="8227548" y="5001043"/>
            <a:ext cx="292043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5FB1ACF-C1F7-41C3-AE83-34FB9FA5A6BB}"/>
              </a:ext>
            </a:extLst>
          </p:cNvPr>
          <p:cNvCxnSpPr>
            <a:cxnSpLocks/>
          </p:cNvCxnSpPr>
          <p:nvPr/>
        </p:nvCxnSpPr>
        <p:spPr>
          <a:xfrm>
            <a:off x="4732797" y="5001830"/>
            <a:ext cx="2919762" cy="2701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675BDDB-E3EF-43C2-BC33-389920C8320F}"/>
              </a:ext>
            </a:extLst>
          </p:cNvPr>
          <p:cNvCxnSpPr>
            <a:cxnSpLocks/>
          </p:cNvCxnSpPr>
          <p:nvPr/>
        </p:nvCxnSpPr>
        <p:spPr>
          <a:xfrm>
            <a:off x="1208867" y="5028994"/>
            <a:ext cx="290853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04650A4-39BF-484C-B7FD-78874A05B825}"/>
              </a:ext>
            </a:extLst>
          </p:cNvPr>
          <p:cNvSpPr txBox="1"/>
          <p:nvPr/>
        </p:nvSpPr>
        <p:spPr>
          <a:xfrm>
            <a:off x="8394932" y="4659516"/>
            <a:ext cx="2825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AMORTIZACION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242E0DFD-02B4-41F8-B254-634BE6638092}"/>
              </a:ext>
            </a:extLst>
          </p:cNvPr>
          <p:cNvCxnSpPr/>
          <p:nvPr/>
        </p:nvCxnSpPr>
        <p:spPr>
          <a:xfrm>
            <a:off x="7517521" y="2607345"/>
            <a:ext cx="0" cy="48928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B85953F1-CD1A-426E-B752-B23DC46A7A04}"/>
              </a:ext>
            </a:extLst>
          </p:cNvPr>
          <p:cNvCxnSpPr/>
          <p:nvPr/>
        </p:nvCxnSpPr>
        <p:spPr>
          <a:xfrm flipV="1">
            <a:off x="10921840" y="4541498"/>
            <a:ext cx="0" cy="459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46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08612-CF2B-4CD7-AD37-06C6DA79A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13DA40-485E-4FF6-B20F-D99B42325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6" cy="3775641"/>
          </a:xfrm>
        </p:spPr>
        <p:txBody>
          <a:bodyPr anchor="t">
            <a:noAutofit/>
          </a:bodyPr>
          <a:lstStyle/>
          <a:p>
            <a:r>
              <a:rPr lang="es-AR" sz="2000" b="1" dirty="0"/>
              <a:t>Capital Fijo:</a:t>
            </a:r>
          </a:p>
          <a:p>
            <a:pPr marL="324000" lvl="1" indent="0">
              <a:buNone/>
            </a:pPr>
            <a:r>
              <a:rPr lang="es-AR" sz="2000" dirty="0"/>
              <a:t>	   Dijimos que es el conformado por el conjunto de bienes que se aplican reiteradamente al proceso 	   productivo.</a:t>
            </a:r>
          </a:p>
          <a:p>
            <a:pPr marL="324000" lvl="1" indent="0">
              <a:buNone/>
            </a:pPr>
            <a:r>
              <a:rPr lang="es-AR" sz="2000" dirty="0"/>
              <a:t>	   Así como se consume la materia prima, también se consume, a través del tiempo, los bienes de   	   capital,  con el único bien que no pasa esto es con el terreno, todos los demás pierden su valor a lo 	   largo del tiempo, hasta el fin de su vida útil.</a:t>
            </a:r>
          </a:p>
          <a:p>
            <a:pPr marL="324000" lvl="1" indent="0">
              <a:buNone/>
            </a:pPr>
            <a:r>
              <a:rPr lang="es-AR" sz="2000" dirty="0"/>
              <a:t>	   Su valor de mercado ha disminuido, </a:t>
            </a:r>
            <a:r>
              <a:rPr lang="es-AR" sz="2000" b="1" dirty="0"/>
              <a:t>se ha depreciado</a:t>
            </a:r>
            <a:r>
              <a:rPr lang="es-AR" sz="2000" dirty="0"/>
              <a:t>, deberemos encontrar alguna herramienta 	   para contraponer a esto,</a:t>
            </a:r>
          </a:p>
          <a:p>
            <a:pPr marL="324000" lvl="1" indent="0">
              <a:buNone/>
            </a:pPr>
            <a:r>
              <a:rPr lang="es-AR" sz="2000" dirty="0"/>
              <a:t>	   esta herramienta es la </a:t>
            </a:r>
            <a:r>
              <a:rPr lang="es-AR" sz="2000" b="1" dirty="0"/>
              <a:t>amortización</a:t>
            </a:r>
            <a:r>
              <a:rPr lang="es-AR" sz="2000" dirty="0"/>
              <a:t>, y consiste en descontar de la ganancia una cantidad para 		   prever el 	reemplazo del bien</a:t>
            </a:r>
            <a:endParaRPr lang="es-AR" sz="2000" b="1" dirty="0"/>
          </a:p>
          <a:p>
            <a:pPr marL="324000" lvl="1" indent="0">
              <a:buNone/>
            </a:pPr>
            <a:endParaRPr lang="es-AR" sz="2000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0E05C0-68FC-45B3-A126-8FF65FD9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758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CC793-3C8C-4A09-B31C-492B2EB2C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C740DE-674A-4899-9D3A-60FA0163D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s-AR" sz="2000" b="1" dirty="0"/>
              <a:t>Capital Circulante:</a:t>
            </a:r>
          </a:p>
          <a:p>
            <a:pPr lvl="1"/>
            <a:r>
              <a:rPr lang="es-AR" sz="2000" dirty="0"/>
              <a:t>   Vimos que el </a:t>
            </a:r>
            <a:r>
              <a:rPr lang="es-AR" sz="2000" b="1" dirty="0"/>
              <a:t>Capital Fijo </a:t>
            </a:r>
            <a:r>
              <a:rPr lang="es-AR" sz="2000" dirty="0"/>
              <a:t>es estático y de lenta recuperación.</a:t>
            </a:r>
          </a:p>
          <a:p>
            <a:pPr marL="324000" lvl="1" indent="0">
              <a:buNone/>
            </a:pPr>
            <a:r>
              <a:rPr lang="es-AR" sz="2000" dirty="0"/>
              <a:t>	    Distinto es el comportamiento del </a:t>
            </a:r>
            <a:r>
              <a:rPr lang="es-AR" sz="2000" b="1" dirty="0"/>
              <a:t>Capital Circulante</a:t>
            </a:r>
            <a:r>
              <a:rPr lang="es-AR" sz="2000" dirty="0"/>
              <a:t>, este es dinámico, y al estar aplicado 		    directamente al producto, y para poder utilizarlo nuevamente, es necesario venderlo y cobrarlo.</a:t>
            </a:r>
          </a:p>
          <a:p>
            <a:pPr marL="324000" lvl="1" indent="0">
              <a:buNone/>
            </a:pPr>
            <a:r>
              <a:rPr lang="es-AR" sz="2000" dirty="0"/>
              <a:t>	    De esta manera se genera un ingreso de utilidades a la empresa.  A este circuito se lo llama  		    </a:t>
            </a:r>
            <a:r>
              <a:rPr lang="es-AR" sz="2000" b="1" dirty="0"/>
              <a:t>Circuito del capital circulante</a:t>
            </a:r>
            <a:endParaRPr lang="es-AR" sz="20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7FFF25-0332-4F03-8081-322D67498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850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E04E0-193E-4D9D-B7AF-595F4D13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7925C4-B817-449D-ADE2-98A04F337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918812A-B1E7-4B68-8641-B15502517272}"/>
              </a:ext>
            </a:extLst>
          </p:cNvPr>
          <p:cNvSpPr/>
          <p:nvPr/>
        </p:nvSpPr>
        <p:spPr>
          <a:xfrm>
            <a:off x="4373608" y="3872736"/>
            <a:ext cx="1868369" cy="54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Sistema Bancario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FF205C-AA26-48BC-BDE0-23C47B80AD49}"/>
              </a:ext>
            </a:extLst>
          </p:cNvPr>
          <p:cNvSpPr/>
          <p:nvPr/>
        </p:nvSpPr>
        <p:spPr>
          <a:xfrm>
            <a:off x="1996754" y="5042462"/>
            <a:ext cx="1868369" cy="54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Mercado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64A3520-72AF-4C27-BD23-8371D33089FC}"/>
              </a:ext>
            </a:extLst>
          </p:cNvPr>
          <p:cNvSpPr/>
          <p:nvPr/>
        </p:nvSpPr>
        <p:spPr>
          <a:xfrm>
            <a:off x="6930364" y="5042461"/>
            <a:ext cx="1868369" cy="54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Producto Terminado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D919FF5-FA25-4002-ADAE-F1909EF9CCFB}"/>
              </a:ext>
            </a:extLst>
          </p:cNvPr>
          <p:cNvSpPr/>
          <p:nvPr/>
        </p:nvSpPr>
        <p:spPr>
          <a:xfrm>
            <a:off x="4373608" y="5042462"/>
            <a:ext cx="1868369" cy="54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Nudo de Ventas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3B2309C-0CBA-48BB-861A-EF1A69856762}"/>
              </a:ext>
            </a:extLst>
          </p:cNvPr>
          <p:cNvSpPr/>
          <p:nvPr/>
        </p:nvSpPr>
        <p:spPr>
          <a:xfrm>
            <a:off x="6930363" y="3872736"/>
            <a:ext cx="1868369" cy="54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Proceso Productivo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7A75196A-3D79-477C-8F08-A28BDD002C20}"/>
              </a:ext>
            </a:extLst>
          </p:cNvPr>
          <p:cNvCxnSpPr/>
          <p:nvPr/>
        </p:nvCxnSpPr>
        <p:spPr>
          <a:xfrm>
            <a:off x="3873915" y="5495193"/>
            <a:ext cx="499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FD8FEEF8-9A08-413D-9D91-495956C8D619}"/>
              </a:ext>
            </a:extLst>
          </p:cNvPr>
          <p:cNvCxnSpPr>
            <a:cxnSpLocks/>
          </p:cNvCxnSpPr>
          <p:nvPr/>
        </p:nvCxnSpPr>
        <p:spPr>
          <a:xfrm flipH="1">
            <a:off x="3873915" y="5225563"/>
            <a:ext cx="499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6E30689-530A-44E7-A716-502530B1C7C9}"/>
              </a:ext>
            </a:extLst>
          </p:cNvPr>
          <p:cNvCxnSpPr>
            <a:cxnSpLocks/>
          </p:cNvCxnSpPr>
          <p:nvPr/>
        </p:nvCxnSpPr>
        <p:spPr>
          <a:xfrm flipH="1">
            <a:off x="6303523" y="5309568"/>
            <a:ext cx="499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CE3ED1D4-3A26-4E4D-84A3-AF8EC1029E4B}"/>
              </a:ext>
            </a:extLst>
          </p:cNvPr>
          <p:cNvCxnSpPr/>
          <p:nvPr/>
        </p:nvCxnSpPr>
        <p:spPr>
          <a:xfrm>
            <a:off x="6365069" y="4142773"/>
            <a:ext cx="499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807D2947-0A26-4AB4-B22C-77573DE4342D}"/>
              </a:ext>
            </a:extLst>
          </p:cNvPr>
          <p:cNvCxnSpPr>
            <a:cxnSpLocks/>
          </p:cNvCxnSpPr>
          <p:nvPr/>
        </p:nvCxnSpPr>
        <p:spPr>
          <a:xfrm>
            <a:off x="7799338" y="4497396"/>
            <a:ext cx="0" cy="435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406BA0C-20F7-45AC-AD3D-29BA0C463EF6}"/>
              </a:ext>
            </a:extLst>
          </p:cNvPr>
          <p:cNvCxnSpPr>
            <a:cxnSpLocks/>
          </p:cNvCxnSpPr>
          <p:nvPr/>
        </p:nvCxnSpPr>
        <p:spPr>
          <a:xfrm flipV="1">
            <a:off x="5199746" y="4511381"/>
            <a:ext cx="0" cy="435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áfico 26" descr="Flecha lineal: giro a la derecha">
            <a:extLst>
              <a:ext uri="{FF2B5EF4-FFF2-40B4-BE49-F238E27FC236}">
                <a16:creationId xmlns:a16="http://schemas.microsoft.com/office/drawing/2014/main" id="{B5A183E3-97F4-4160-A21A-F0198F2F7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245171">
            <a:off x="6226090" y="4449677"/>
            <a:ext cx="654559" cy="654559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C1C00736-2D4D-454A-B454-03CC6C269088}"/>
              </a:ext>
            </a:extLst>
          </p:cNvPr>
          <p:cNvSpPr txBox="1"/>
          <p:nvPr/>
        </p:nvSpPr>
        <p:spPr>
          <a:xfrm>
            <a:off x="2303584" y="2464458"/>
            <a:ext cx="6260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b="1" dirty="0">
                <a:solidFill>
                  <a:schemeClr val="tx2"/>
                </a:solidFill>
              </a:rPr>
              <a:t>CIRCUITO DEL CAPITAL CIRCULANTE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B51EB66-6FBA-446E-AFC4-B689C1B21FD0}"/>
              </a:ext>
            </a:extLst>
          </p:cNvPr>
          <p:cNvSpPr txBox="1"/>
          <p:nvPr/>
        </p:nvSpPr>
        <p:spPr>
          <a:xfrm>
            <a:off x="5775827" y="4499091"/>
            <a:ext cx="230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Velocidad de Giro</a:t>
            </a:r>
          </a:p>
        </p:txBody>
      </p:sp>
    </p:spTree>
    <p:extLst>
      <p:ext uri="{BB962C8B-B14F-4D97-AF65-F5344CB8AC3E}">
        <p14:creationId xmlns:p14="http://schemas.microsoft.com/office/powerpoint/2010/main" val="810476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2B639-B777-4ECC-B022-D804EB4B1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C31F7D-ED7D-4E83-9759-2D0EEF53C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543577"/>
          </a:xfrm>
        </p:spPr>
        <p:txBody>
          <a:bodyPr anchor="t">
            <a:noAutofit/>
          </a:bodyPr>
          <a:lstStyle/>
          <a:p>
            <a:r>
              <a:rPr lang="es-AR" sz="2000" dirty="0"/>
              <a:t>Circuito del Capital Circulante: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2000" dirty="0"/>
              <a:t>El capital disponible que se encuentra en el </a:t>
            </a:r>
            <a:r>
              <a:rPr lang="es-AR" sz="2000" b="1" dirty="0"/>
              <a:t>Sistema   Bancario</a:t>
            </a:r>
            <a:r>
              <a:rPr lang="es-AR" sz="2000" dirty="0"/>
              <a:t>, se transfiere al </a:t>
            </a:r>
            <a:r>
              <a:rPr lang="es-AR" sz="2000" b="1" dirty="0"/>
              <a:t>Proceso Productivo</a:t>
            </a:r>
            <a:r>
              <a:rPr lang="es-AR" sz="2000" dirty="0"/>
              <a:t>, </a:t>
            </a:r>
          </a:p>
          <a:p>
            <a:pPr marL="324000" lvl="1" indent="0">
              <a:buNone/>
            </a:pPr>
            <a:r>
              <a:rPr lang="es-AR" sz="2000" b="1" dirty="0"/>
              <a:t>	   </a:t>
            </a:r>
            <a:r>
              <a:rPr lang="es-AR" sz="2000" dirty="0"/>
              <a:t>Este lo elabora y genera el </a:t>
            </a:r>
            <a:r>
              <a:rPr lang="es-AR" sz="2000" b="1" dirty="0"/>
              <a:t>Producto Terminado</a:t>
            </a:r>
            <a:r>
              <a:rPr lang="es-AR" sz="2000" dirty="0"/>
              <a:t>, que se entrega al mercado desde lo que 		   llamamos el </a:t>
            </a:r>
            <a:r>
              <a:rPr lang="es-AR" sz="2000" b="1" dirty="0"/>
              <a:t>Nudo de Ventas</a:t>
            </a:r>
            <a:r>
              <a:rPr lang="es-AR" sz="2000" dirty="0"/>
              <a:t>.</a:t>
            </a:r>
          </a:p>
          <a:p>
            <a:pPr marL="324000" lvl="1" indent="0">
              <a:buNone/>
            </a:pPr>
            <a:r>
              <a:rPr lang="es-AR" sz="2000" b="1" dirty="0"/>
              <a:t>	   </a:t>
            </a:r>
            <a:r>
              <a:rPr lang="es-AR" sz="2000" dirty="0"/>
              <a:t>El dinero retorna  a través de el hacia el </a:t>
            </a:r>
            <a:r>
              <a:rPr lang="es-AR" sz="2000" b="1" dirty="0"/>
              <a:t>Sistema Bancario</a:t>
            </a:r>
            <a:r>
              <a:rPr lang="es-AR" sz="2000" dirty="0"/>
              <a:t>, para seguir alimentando al </a:t>
            </a:r>
            <a:r>
              <a:rPr lang="es-AR" sz="2000" b="1" dirty="0"/>
              <a:t>Proceso     	   Productivo</a:t>
            </a:r>
            <a:r>
              <a:rPr lang="es-AR" sz="2000" dirty="0"/>
              <a:t>.</a:t>
            </a:r>
          </a:p>
          <a:p>
            <a:pPr marL="324000" lvl="1" indent="0">
              <a:buNone/>
            </a:pPr>
            <a:r>
              <a:rPr lang="es-AR" sz="2000" b="1" dirty="0"/>
              <a:t>	</a:t>
            </a:r>
            <a:r>
              <a:rPr lang="es-AR" sz="2000" dirty="0"/>
              <a:t>   Al tiempo que le lleva en realizar todo el ciclo completo y regresar al </a:t>
            </a:r>
            <a:r>
              <a:rPr lang="es-AR" sz="2000" b="1" dirty="0"/>
              <a:t>Sistema Bancario </a:t>
            </a:r>
            <a:r>
              <a:rPr lang="es-AR" sz="2000" dirty="0"/>
              <a:t>se lo  	   llama </a:t>
            </a:r>
            <a:r>
              <a:rPr lang="es-AR" sz="2000" b="1" dirty="0"/>
              <a:t>Velocidad de Giro</a:t>
            </a:r>
            <a:r>
              <a:rPr lang="es-AR" sz="2000" dirty="0"/>
              <a:t>.</a:t>
            </a:r>
          </a:p>
          <a:p>
            <a:pPr marL="324000" lvl="1" indent="0">
              <a:buNone/>
            </a:pPr>
            <a:r>
              <a:rPr lang="es-AR" sz="2000" b="1" dirty="0"/>
              <a:t>	  </a:t>
            </a:r>
            <a:r>
              <a:rPr lang="es-AR" sz="2000" dirty="0"/>
              <a:t> Y es fundamental para la rentabilidad de la empresa, cuanto mayor sea esta velocidad, mayor la  	   	  cantidad de veces que  circulará este capital, incrementando la utilidad de la empresa.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8CFE28-FCB2-4F8C-9BCB-9354FE49A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966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16443-334A-4841-91C1-A763FA2FF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COSTO DE CAPITAL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43F287-B2F8-4DC3-88B8-C6872BB53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Abrir llave 6">
            <a:extLst>
              <a:ext uri="{FF2B5EF4-FFF2-40B4-BE49-F238E27FC236}">
                <a16:creationId xmlns:a16="http://schemas.microsoft.com/office/drawing/2014/main" id="{141AA924-2A7F-4E59-83DC-D94EEEF61358}"/>
              </a:ext>
            </a:extLst>
          </p:cNvPr>
          <p:cNvSpPr/>
          <p:nvPr/>
        </p:nvSpPr>
        <p:spPr>
          <a:xfrm>
            <a:off x="2092569" y="2567354"/>
            <a:ext cx="545124" cy="3138854"/>
          </a:xfrm>
          <a:prstGeom prst="leftBrace">
            <a:avLst>
              <a:gd name="adj1" fmla="val 6317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Abrir llave 8">
            <a:extLst>
              <a:ext uri="{FF2B5EF4-FFF2-40B4-BE49-F238E27FC236}">
                <a16:creationId xmlns:a16="http://schemas.microsoft.com/office/drawing/2014/main" id="{B95FC593-AA76-41DB-A838-AB8956D566AB}"/>
              </a:ext>
            </a:extLst>
          </p:cNvPr>
          <p:cNvSpPr/>
          <p:nvPr/>
        </p:nvSpPr>
        <p:spPr>
          <a:xfrm>
            <a:off x="4626785" y="3968908"/>
            <a:ext cx="445476" cy="2338347"/>
          </a:xfrm>
          <a:prstGeom prst="leftBrace">
            <a:avLst>
              <a:gd name="adj1" fmla="val 6317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09C68DB0-1C90-462A-A5F1-45A413DBC1F5}"/>
              </a:ext>
            </a:extLst>
          </p:cNvPr>
          <p:cNvSpPr/>
          <p:nvPr/>
        </p:nvSpPr>
        <p:spPr>
          <a:xfrm>
            <a:off x="6995079" y="3462003"/>
            <a:ext cx="276159" cy="1680041"/>
          </a:xfrm>
          <a:prstGeom prst="leftBrace">
            <a:avLst>
              <a:gd name="adj1" fmla="val 6317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B08D500-B7E6-456D-96AC-8CF8328B1EBA}"/>
              </a:ext>
            </a:extLst>
          </p:cNvPr>
          <p:cNvSpPr txBox="1"/>
          <p:nvPr/>
        </p:nvSpPr>
        <p:spPr>
          <a:xfrm>
            <a:off x="546922" y="3952115"/>
            <a:ext cx="137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CAPITAL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8DDE8F9-5CC9-4160-A64B-7F531D703202}"/>
              </a:ext>
            </a:extLst>
          </p:cNvPr>
          <p:cNvSpPr txBox="1"/>
          <p:nvPr/>
        </p:nvSpPr>
        <p:spPr>
          <a:xfrm>
            <a:off x="2787163" y="2756361"/>
            <a:ext cx="137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PROPIO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CABD0F6-AE5D-4BB7-A13F-D4BF5BF0FCF0}"/>
              </a:ext>
            </a:extLst>
          </p:cNvPr>
          <p:cNvSpPr txBox="1"/>
          <p:nvPr/>
        </p:nvSpPr>
        <p:spPr>
          <a:xfrm>
            <a:off x="2812639" y="4957379"/>
            <a:ext cx="15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PRESTADO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7195422-274A-48E7-915F-0A6928C5B70B}"/>
              </a:ext>
            </a:extLst>
          </p:cNvPr>
          <p:cNvSpPr txBox="1"/>
          <p:nvPr/>
        </p:nvSpPr>
        <p:spPr>
          <a:xfrm>
            <a:off x="5348320" y="4039969"/>
            <a:ext cx="137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ASOCIADO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CF60448-C1CB-4A6C-B687-A4D854483BB0}"/>
              </a:ext>
            </a:extLst>
          </p:cNvPr>
          <p:cNvSpPr txBox="1"/>
          <p:nvPr/>
        </p:nvSpPr>
        <p:spPr>
          <a:xfrm>
            <a:off x="5348320" y="5786512"/>
            <a:ext cx="137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CREDITO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11A6F59-070D-48D2-B4F5-2F39DE0667EA}"/>
              </a:ext>
            </a:extLst>
          </p:cNvPr>
          <p:cNvSpPr txBox="1"/>
          <p:nvPr/>
        </p:nvSpPr>
        <p:spPr>
          <a:xfrm>
            <a:off x="7349934" y="3488612"/>
            <a:ext cx="2883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Sociedades Abiertas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Emisión de acciones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0A0EE62-D1E7-4648-A652-86DF849D8A50}"/>
              </a:ext>
            </a:extLst>
          </p:cNvPr>
          <p:cNvSpPr txBox="1"/>
          <p:nvPr/>
        </p:nvSpPr>
        <p:spPr>
          <a:xfrm>
            <a:off x="7349934" y="4182947"/>
            <a:ext cx="32883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Sociedades Cerradas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Aportes socios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Aportes nuevos socios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AR" dirty="0"/>
          </a:p>
        </p:txBody>
      </p:sp>
      <p:sp>
        <p:nvSpPr>
          <p:cNvPr id="18" name="Abrir llave 17">
            <a:extLst>
              <a:ext uri="{FF2B5EF4-FFF2-40B4-BE49-F238E27FC236}">
                <a16:creationId xmlns:a16="http://schemas.microsoft.com/office/drawing/2014/main" id="{07A5AF11-F080-4A68-A646-9A1D03B88E8E}"/>
              </a:ext>
            </a:extLst>
          </p:cNvPr>
          <p:cNvSpPr/>
          <p:nvPr/>
        </p:nvSpPr>
        <p:spPr>
          <a:xfrm>
            <a:off x="7073775" y="5491833"/>
            <a:ext cx="197463" cy="815422"/>
          </a:xfrm>
          <a:prstGeom prst="leftBrace">
            <a:avLst>
              <a:gd name="adj1" fmla="val 6317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03AE36E-6F38-439D-BA1E-5CF55B611348}"/>
              </a:ext>
            </a:extLst>
          </p:cNvPr>
          <p:cNvSpPr txBox="1"/>
          <p:nvPr/>
        </p:nvSpPr>
        <p:spPr>
          <a:xfrm>
            <a:off x="7438292" y="5689797"/>
            <a:ext cx="2567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Prestamos Bancarios</a:t>
            </a:r>
          </a:p>
        </p:txBody>
      </p:sp>
    </p:spTree>
    <p:extLst>
      <p:ext uri="{BB962C8B-B14F-4D97-AF65-F5344CB8AC3E}">
        <p14:creationId xmlns:p14="http://schemas.microsoft.com/office/powerpoint/2010/main" val="543305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9419FE-234D-4E59-A9F4-43909FA1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Costo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11376A-9BF1-42F2-9E71-F4249C655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s-AR" sz="2000" b="1" dirty="0"/>
              <a:t>Ventajas de asociar capital: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2000" dirty="0"/>
              <a:t>Corre los riesgos propios de la industrias, si no hay ganancia, la perdida será distribuida entre un mayor numero de socios.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2000" dirty="0"/>
              <a:t>Deja libre  toda la capacidad de endeudamiento de la empresa como reserva para épocas de crisis.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2000" dirty="0"/>
              <a:t>El edificio y el parque de maquinas, libre de hipotecas y prendas.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2000" dirty="0"/>
              <a:t>Se tiene la capacidad de vender o reemplazar  todo en cualquier momento.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2C1E84-6F34-4633-9A0B-F4EE464F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045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646B8-B737-41CA-B908-F35D25A1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Costo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E827BB-8057-4B24-A1E0-A8C8CC458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927842"/>
            <a:ext cx="11029615" cy="3678303"/>
          </a:xfrm>
        </p:spPr>
        <p:txBody>
          <a:bodyPr anchor="t">
            <a:normAutofit/>
          </a:bodyPr>
          <a:lstStyle/>
          <a:p>
            <a:r>
              <a:rPr lang="es-AR" sz="2000" b="1" dirty="0"/>
              <a:t>Desventajas de asociar capital: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2000" dirty="0"/>
              <a:t>Si hay ganancia será distribuidas entre un mayor numero de socios.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2000" dirty="0"/>
              <a:t>Es el mas castigado impositivamente, ya que los intereses de los créditos son descontados de ganancias.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2000" dirty="0"/>
              <a:t>Si la posibilidad de devolver el préstamo se estima que sea con facilidad no conviene asociar capital.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8ED90B-2FA6-4025-8D50-A1737467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287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0F10F-B081-4B12-8C3C-EBA12AA0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Costo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22DE2A-AD76-45A2-B522-D190C0D55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751996"/>
            <a:ext cx="11029615" cy="3678303"/>
          </a:xfrm>
        </p:spPr>
        <p:txBody>
          <a:bodyPr anchor="t">
            <a:normAutofit/>
          </a:bodyPr>
          <a:lstStyle/>
          <a:p>
            <a:r>
              <a:rPr lang="es-AR" sz="2000" b="1" dirty="0"/>
              <a:t>Crédito: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2000" dirty="0"/>
              <a:t>Es sano tomar un crédito si no se excede determinadas proporciones, esto es particular para cada industria.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2000" dirty="0"/>
              <a:t>El planteo de comenzar una explotación con una porción muy grande de capital prestado y esperar de la capitalización de la empresa su devolución, por lo general es equivocado.</a:t>
            </a:r>
          </a:p>
          <a:p>
            <a:endParaRPr lang="es-AR" sz="20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BD7062-4F98-4653-A8DC-4610D995A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71509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2298</TotalTime>
  <Words>969</Words>
  <Application>Microsoft Office PowerPoint</Application>
  <PresentationFormat>Panorámica</PresentationFormat>
  <Paragraphs>135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Gill Sans MT</vt:lpstr>
      <vt:lpstr>Wingdings</vt:lpstr>
      <vt:lpstr>Wingdings 2</vt:lpstr>
      <vt:lpstr>Dividend</vt:lpstr>
      <vt:lpstr>COSTOS Y PRESUPUESTOS</vt:lpstr>
      <vt:lpstr>ESTRUCTURA ECONOMICA DE LA EMPRESA</vt:lpstr>
      <vt:lpstr>Estructura económica de la empresa</vt:lpstr>
      <vt:lpstr>ESTRUCTURA ECONOMICA DE LA EMPRESA</vt:lpstr>
      <vt:lpstr>ESTRUCTURA ECONOMICA DE LA EMPRESA</vt:lpstr>
      <vt:lpstr>CAPITAL DE LA EMPRESA</vt:lpstr>
      <vt:lpstr>CAPITAL DE LA EMPRESA</vt:lpstr>
      <vt:lpstr>CAPITAL DE LA EMPRESA</vt:lpstr>
      <vt:lpstr>CAPITAL DE LA EMPRESA</vt:lpstr>
      <vt:lpstr>CAPITAL DE LA EMPRESA</vt:lpstr>
      <vt:lpstr>CAPITAL DE LA EMPRESA</vt:lpstr>
      <vt:lpstr>Capital De la empresa</vt:lpstr>
      <vt:lpstr>COSTO DE CAPITAL</vt:lpstr>
      <vt:lpstr>Costo de capital</vt:lpstr>
      <vt:lpstr>Costo de capital</vt:lpstr>
      <vt:lpstr>Costo de capital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Capitulo  : Producción y costos</dc:title>
  <dc:creator>gustavo massucco</dc:creator>
  <cp:lastModifiedBy>gustavo massucco</cp:lastModifiedBy>
  <cp:revision>148</cp:revision>
  <dcterms:created xsi:type="dcterms:W3CDTF">2020-03-18T15:15:03Z</dcterms:created>
  <dcterms:modified xsi:type="dcterms:W3CDTF">2023-04-03T02:41:15Z</dcterms:modified>
</cp:coreProperties>
</file>