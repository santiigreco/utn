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2"/>
  </p:notesMasterIdLst>
  <p:sldIdLst>
    <p:sldId id="356" r:id="rId2"/>
    <p:sldId id="346" r:id="rId3"/>
    <p:sldId id="347" r:id="rId4"/>
    <p:sldId id="348" r:id="rId5"/>
    <p:sldId id="349" r:id="rId6"/>
    <p:sldId id="350" r:id="rId7"/>
    <p:sldId id="351" r:id="rId8"/>
    <p:sldId id="352" r:id="rId9"/>
    <p:sldId id="333" r:id="rId10"/>
    <p:sldId id="334" r:id="rId11"/>
    <p:sldId id="273" r:id="rId12"/>
    <p:sldId id="274" r:id="rId13"/>
    <p:sldId id="355" r:id="rId14"/>
    <p:sldId id="261" r:id="rId15"/>
    <p:sldId id="260" r:id="rId16"/>
    <p:sldId id="354" r:id="rId17"/>
    <p:sldId id="258" r:id="rId18"/>
    <p:sldId id="262" r:id="rId19"/>
    <p:sldId id="263" r:id="rId20"/>
    <p:sldId id="26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stavo massucco" initials="gm" lastIdx="1" clrIdx="0">
    <p:extLst>
      <p:ext uri="{19B8F6BF-5375-455C-9EA6-DF929625EA0E}">
        <p15:presenceInfo xmlns:p15="http://schemas.microsoft.com/office/powerpoint/2012/main" userId="S::gmassucco@frba.utn.edu.ar::1271f782-c2a0-484f-8edc-abfea8ad4a0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136" autoAdjust="0"/>
    <p:restoredTop sz="94678" autoAdjust="0"/>
  </p:normalViewPr>
  <p:slideViewPr>
    <p:cSldViewPr snapToGrid="0">
      <p:cViewPr varScale="1">
        <p:scale>
          <a:sx n="80" d="100"/>
          <a:sy n="80" d="100"/>
        </p:scale>
        <p:origin x="576"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FA441F-8982-4902-B1FE-08DF82218E62}" type="datetimeFigureOut">
              <a:rPr lang="es-AR" smtClean="0"/>
              <a:t>7/6/2021</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57D551-39DC-4B61-9B7A-D9ED28759857}" type="slidenum">
              <a:rPr lang="es-AR" smtClean="0"/>
              <a:t>‹Nº›</a:t>
            </a:fld>
            <a:endParaRPr lang="es-AR"/>
          </a:p>
        </p:txBody>
      </p:sp>
    </p:spTree>
    <p:extLst>
      <p:ext uri="{BB962C8B-B14F-4D97-AF65-F5344CB8AC3E}">
        <p14:creationId xmlns:p14="http://schemas.microsoft.com/office/powerpoint/2010/main" val="2440336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61ADDDEC-CEAE-4958-AF2E-A652973227D6}" type="datetime1">
              <a:rPr lang="en-US" smtClean="0"/>
              <a:t>6/7/2021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6C466B5-F1D3-4CBE-B5B5-01B599D3FAC5}" type="datetime1">
              <a:rPr lang="en-US" smtClean="0"/>
              <a:t>6/7/2021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64F4789-420A-46E0-AB53-49CBE2935B98}" type="datetime1">
              <a:rPr lang="en-US" smtClean="0"/>
              <a:t>6/7/2021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344F6BC-7072-4A02-BE22-7E83DC50EFDC}" type="datetime1">
              <a:rPr lang="en-US" smtClean="0"/>
              <a:t>6/7/2021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77A943D-2488-409C-B820-8258EF09B248}" type="datetime1">
              <a:rPr lang="en-US" smtClean="0"/>
              <a:t>6/7/2021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ED2CF09C-31FA-44C5-AE21-A50FDA215DD7}" type="datetime1">
              <a:rPr lang="en-US" smtClean="0"/>
              <a:t>6/7/2021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D8F211-FE31-49C8-B2E3-3047AE8F24D4}" type="datetime1">
              <a:rPr lang="en-US" smtClean="0"/>
              <a:t>6/7/2021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6F4A178-C823-4382-927E-8DCB4F492089}" type="datetime1">
              <a:rPr lang="en-US" smtClean="0"/>
              <a:t>6/7/2021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FD251A94-9B78-4D71-91E6-CDBD7C98F74F}" type="datetime1">
              <a:rPr lang="en-US" smtClean="0"/>
              <a:t>6/7/2021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727527EC-E532-4095-A280-31F8C1DD719D}" type="datetime1">
              <a:rPr lang="en-US" smtClean="0"/>
              <a:t>6/7/2021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EC97BDFC-AF62-446D-8E4A-A9D1CC387A79}" type="datetime1">
              <a:rPr lang="en-US" smtClean="0"/>
              <a:t>6/7/2021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29197C3F-8E24-461F-8D73-3809773E44B4}" type="datetime1">
              <a:rPr lang="en-US" smtClean="0"/>
              <a:t>6/7/2021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5576EEFB-637E-4367-9839-D6758327E771}" type="datetime1">
              <a:rPr lang="en-US" smtClean="0"/>
              <a:t>6/7/2021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F1C1C82A-F915-4F81-93E7-D4BB6A0DDAD8}" type="datetime1">
              <a:rPr lang="en-US" smtClean="0"/>
              <a:t>6/7/2021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AF6C466-A9D9-41F6-B6C1-EC3971E7BC36}" type="datetime1">
              <a:rPr lang="en-US" smtClean="0"/>
              <a:t>6/7/2021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2D256F9-E7F5-4AFF-8BC8-E1B462B27233}" type="datetime1">
              <a:rPr lang="en-US" smtClean="0"/>
              <a:t>6/7/2021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ECC3B5AB-643F-4A09-BBE6-61447B2CF303}" type="datetime1">
              <a:rPr lang="en-US" smtClean="0"/>
              <a:t>6/7/2021</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5">
            <a:extLst>
              <a:ext uri="{FF2B5EF4-FFF2-40B4-BE49-F238E27FC236}">
                <a16:creationId xmlns:a16="http://schemas.microsoft.com/office/drawing/2014/main" id="{F5642E8C-FD90-47FB-9533-A90C5141EDEF}"/>
              </a:ext>
            </a:extLst>
          </p:cNvPr>
          <p:cNvSpPr txBox="1">
            <a:spLocks noGrp="1" noChangeArrowheads="1"/>
          </p:cNvSpPr>
          <p:nvPr>
            <p:ph type="ctrTitle"/>
          </p:nvPr>
        </p:nvSpPr>
        <p:spPr bwMode="auto">
          <a:xfrm>
            <a:off x="2589213" y="1619547"/>
            <a:ext cx="89154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lang="es-MX" altLang="es-AR" dirty="0">
                <a:effectLst>
                  <a:outerShdw blurRad="38100" dist="38100" dir="2700000" algn="tl">
                    <a:srgbClr val="C0C0C0"/>
                  </a:outerShdw>
                </a:effectLst>
                <a:latin typeface="Tahoma" pitchFamily="34" charset="0"/>
                <a:cs typeface="Arial" charset="0"/>
              </a:rPr>
              <a:t>COSTOS Y PRESUPUESTOS</a:t>
            </a:r>
          </a:p>
        </p:txBody>
      </p:sp>
      <p:sp>
        <p:nvSpPr>
          <p:cNvPr id="5" name="Text Box 26">
            <a:extLst>
              <a:ext uri="{FF2B5EF4-FFF2-40B4-BE49-F238E27FC236}">
                <a16:creationId xmlns:a16="http://schemas.microsoft.com/office/drawing/2014/main" id="{27735A57-3B03-42B6-BDFC-E5E8B31EF7BE}"/>
              </a:ext>
            </a:extLst>
          </p:cNvPr>
          <p:cNvSpPr txBox="1">
            <a:spLocks noGrp="1" noChangeArrowheads="1"/>
          </p:cNvSpPr>
          <p:nvPr>
            <p:ph type="subTitle" idx="1"/>
          </p:nvPr>
        </p:nvSpPr>
        <p:spPr bwMode="auto">
          <a:xfrm>
            <a:off x="2589213" y="4776788"/>
            <a:ext cx="89154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lang="es-MX" altLang="es-AR" sz="4400" dirty="0">
                <a:effectLst>
                  <a:outerShdw blurRad="38100" dist="38100" dir="2700000" algn="tl">
                    <a:srgbClr val="C0C0C0"/>
                  </a:outerShdw>
                </a:effectLst>
                <a:latin typeface="Tahoma" pitchFamily="34" charset="0"/>
                <a:cs typeface="Arial" charset="0"/>
              </a:rPr>
              <a:t>POTENCIAL DE BENEFICIO</a:t>
            </a:r>
          </a:p>
        </p:txBody>
      </p:sp>
      <p:sp>
        <p:nvSpPr>
          <p:cNvPr id="6" name="CuadroTexto 5">
            <a:extLst>
              <a:ext uri="{FF2B5EF4-FFF2-40B4-BE49-F238E27FC236}">
                <a16:creationId xmlns:a16="http://schemas.microsoft.com/office/drawing/2014/main" id="{D9FA0E92-5CE1-472E-A758-7CE737D9664B}"/>
              </a:ext>
            </a:extLst>
          </p:cNvPr>
          <p:cNvSpPr txBox="1"/>
          <p:nvPr/>
        </p:nvSpPr>
        <p:spPr>
          <a:xfrm>
            <a:off x="3108035" y="3023361"/>
            <a:ext cx="8396578" cy="400110"/>
          </a:xfrm>
          <a:prstGeom prst="rect">
            <a:avLst/>
          </a:prstGeom>
          <a:noFill/>
        </p:spPr>
        <p:txBody>
          <a:bodyPr wrap="square" rtlCol="0">
            <a:spAutoFit/>
          </a:bodyPr>
          <a:lstStyle/>
          <a:p>
            <a:r>
              <a:rPr lang="es-AR" sz="2000" dirty="0"/>
              <a:t>Ingeniero Gustavo Massucco</a:t>
            </a:r>
          </a:p>
        </p:txBody>
      </p:sp>
      <p:sp>
        <p:nvSpPr>
          <p:cNvPr id="7" name="Marcador de número de diapositiva 6">
            <a:extLst>
              <a:ext uri="{FF2B5EF4-FFF2-40B4-BE49-F238E27FC236}">
                <a16:creationId xmlns:a16="http://schemas.microsoft.com/office/drawing/2014/main" id="{33674575-47D4-476C-8772-8197234BCF0D}"/>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3435892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E3E42B-F709-41C6-A27B-BF73DDBA133B}"/>
              </a:ext>
            </a:extLst>
          </p:cNvPr>
          <p:cNvSpPr>
            <a:spLocks noGrp="1"/>
          </p:cNvSpPr>
          <p:nvPr>
            <p:ph type="title"/>
          </p:nvPr>
        </p:nvSpPr>
        <p:spPr/>
        <p:txBody>
          <a:bodyPr/>
          <a:lstStyle/>
          <a:p>
            <a:r>
              <a:rPr lang="es-MX" altLang="es-AR" b="1" dirty="0">
                <a:cs typeface="Arial" charset="0"/>
              </a:rPr>
              <a:t>BENEFICIO DEL EMPRESARIO</a:t>
            </a:r>
            <a:br>
              <a:rPr lang="es-MX" altLang="es-AR" b="1" dirty="0">
                <a:cs typeface="Arial" charset="0"/>
              </a:rPr>
            </a:br>
            <a:endParaRPr lang="es-AR" dirty="0"/>
          </a:p>
        </p:txBody>
      </p:sp>
      <p:sp>
        <p:nvSpPr>
          <p:cNvPr id="4" name="Marcador de número de diapositiva 3">
            <a:extLst>
              <a:ext uri="{FF2B5EF4-FFF2-40B4-BE49-F238E27FC236}">
                <a16:creationId xmlns:a16="http://schemas.microsoft.com/office/drawing/2014/main" id="{E26E10BB-BE6A-4623-8518-0B9DC057B966}"/>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
        <p:nvSpPr>
          <p:cNvPr id="5" name="Rectangle 34">
            <a:extLst>
              <a:ext uri="{FF2B5EF4-FFF2-40B4-BE49-F238E27FC236}">
                <a16:creationId xmlns:a16="http://schemas.microsoft.com/office/drawing/2014/main" id="{95FC24A1-C6FA-4BFA-95CF-06B02D4F41FB}"/>
              </a:ext>
            </a:extLst>
          </p:cNvPr>
          <p:cNvSpPr>
            <a:spLocks noChangeArrowheads="1"/>
          </p:cNvSpPr>
          <p:nvPr/>
        </p:nvSpPr>
        <p:spPr bwMode="auto">
          <a:xfrm>
            <a:off x="2004159" y="4085611"/>
            <a:ext cx="8487238" cy="43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dirty="0" err="1">
                <a:solidFill>
                  <a:schemeClr val="tx1">
                    <a:lumMod val="85000"/>
                    <a:lumOff val="15000"/>
                  </a:schemeClr>
                </a:solidFill>
                <a:effectLst>
                  <a:outerShdw blurRad="38100" dist="38100" dir="2700000" algn="tl">
                    <a:srgbClr val="C0C0C0"/>
                  </a:outerShdw>
                </a:effectLst>
                <a:latin typeface="+mj-lt"/>
              </a:rPr>
              <a:t>PVu</a:t>
            </a:r>
            <a:r>
              <a:rPr lang="es-AR" altLang="es-AR" sz="2000" dirty="0">
                <a:solidFill>
                  <a:schemeClr val="tx1">
                    <a:lumMod val="85000"/>
                    <a:lumOff val="15000"/>
                  </a:schemeClr>
                </a:solidFill>
                <a:effectLst>
                  <a:outerShdw blurRad="38100" dist="38100" dir="2700000" algn="tl">
                    <a:srgbClr val="C0C0C0"/>
                  </a:outerShdw>
                </a:effectLst>
                <a:latin typeface="+mj-lt"/>
              </a:rPr>
              <a:t> x q = CF total + </a:t>
            </a:r>
            <a:r>
              <a:rPr lang="es-AR" altLang="es-AR" sz="2000" dirty="0" err="1">
                <a:solidFill>
                  <a:schemeClr val="tx1">
                    <a:lumMod val="85000"/>
                    <a:lumOff val="15000"/>
                  </a:schemeClr>
                </a:solidFill>
                <a:effectLst>
                  <a:outerShdw blurRad="38100" dist="38100" dir="2700000" algn="tl">
                    <a:srgbClr val="C0C0C0"/>
                  </a:outerShdw>
                </a:effectLst>
                <a:latin typeface="+mj-lt"/>
              </a:rPr>
              <a:t>CVu</a:t>
            </a:r>
            <a:r>
              <a:rPr lang="es-AR" altLang="es-AR" sz="2000" dirty="0">
                <a:solidFill>
                  <a:schemeClr val="tx1">
                    <a:lumMod val="85000"/>
                    <a:lumOff val="15000"/>
                  </a:schemeClr>
                </a:solidFill>
                <a:effectLst>
                  <a:outerShdw blurRad="38100" dist="38100" dir="2700000" algn="tl">
                    <a:srgbClr val="C0C0C0"/>
                  </a:outerShdw>
                </a:effectLst>
                <a:latin typeface="+mj-lt"/>
              </a:rPr>
              <a:t> total x q + </a:t>
            </a:r>
            <a:r>
              <a:rPr lang="es-AR" altLang="es-AR" sz="2000" b="1" dirty="0">
                <a:solidFill>
                  <a:schemeClr val="tx1">
                    <a:lumMod val="85000"/>
                    <a:lumOff val="15000"/>
                  </a:schemeClr>
                </a:solidFill>
                <a:effectLst>
                  <a:outerShdw blurRad="38100" dist="38100" dir="2700000" algn="tl">
                    <a:srgbClr val="C0C0C0"/>
                  </a:outerShdw>
                </a:effectLst>
                <a:latin typeface="+mj-lt"/>
              </a:rPr>
              <a:t>% ( CF total + </a:t>
            </a:r>
            <a:r>
              <a:rPr lang="es-AR" altLang="es-AR" sz="2000" b="1" dirty="0" err="1">
                <a:solidFill>
                  <a:schemeClr val="tx1">
                    <a:lumMod val="85000"/>
                    <a:lumOff val="15000"/>
                  </a:schemeClr>
                </a:solidFill>
                <a:effectLst>
                  <a:outerShdw blurRad="38100" dist="38100" dir="2700000" algn="tl">
                    <a:srgbClr val="C0C0C0"/>
                  </a:outerShdw>
                </a:effectLst>
                <a:latin typeface="+mj-lt"/>
              </a:rPr>
              <a:t>CVu</a:t>
            </a:r>
            <a:r>
              <a:rPr lang="es-AR" altLang="es-AR" sz="2000" b="1" dirty="0">
                <a:solidFill>
                  <a:schemeClr val="tx1">
                    <a:lumMod val="85000"/>
                    <a:lumOff val="15000"/>
                  </a:schemeClr>
                </a:solidFill>
                <a:effectLst>
                  <a:outerShdw blurRad="38100" dist="38100" dir="2700000" algn="tl">
                    <a:srgbClr val="C0C0C0"/>
                  </a:outerShdw>
                </a:effectLst>
                <a:latin typeface="+mj-lt"/>
              </a:rPr>
              <a:t> total x q)  </a:t>
            </a:r>
            <a:endParaRPr lang="es-ES" altLang="es-AR" sz="2000" b="1" dirty="0">
              <a:solidFill>
                <a:srgbClr val="FF0000"/>
              </a:solidFill>
              <a:effectLst>
                <a:outerShdw blurRad="38100" dist="38100" dir="2700000" algn="tl">
                  <a:srgbClr val="C0C0C0"/>
                </a:outerShdw>
              </a:effectLst>
              <a:latin typeface="+mj-lt"/>
            </a:endParaRPr>
          </a:p>
        </p:txBody>
      </p:sp>
      <p:sp>
        <p:nvSpPr>
          <p:cNvPr id="6" name="Rectangle 36">
            <a:extLst>
              <a:ext uri="{FF2B5EF4-FFF2-40B4-BE49-F238E27FC236}">
                <a16:creationId xmlns:a16="http://schemas.microsoft.com/office/drawing/2014/main" id="{4220AC17-01EC-4EED-84F7-5BBC8589108E}"/>
              </a:ext>
            </a:extLst>
          </p:cNvPr>
          <p:cNvSpPr>
            <a:spLocks noChangeArrowheads="1"/>
          </p:cNvSpPr>
          <p:nvPr/>
        </p:nvSpPr>
        <p:spPr bwMode="auto">
          <a:xfrm>
            <a:off x="2004157" y="4709204"/>
            <a:ext cx="7832725" cy="43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dirty="0" err="1">
                <a:solidFill>
                  <a:schemeClr val="tx1">
                    <a:lumMod val="85000"/>
                    <a:lumOff val="15000"/>
                  </a:schemeClr>
                </a:solidFill>
                <a:effectLst>
                  <a:outerShdw blurRad="38100" dist="38100" dir="2700000" algn="tl">
                    <a:srgbClr val="C0C0C0"/>
                  </a:outerShdw>
                </a:effectLst>
                <a:latin typeface="+mj-lt"/>
              </a:rPr>
              <a:t>PVu</a:t>
            </a:r>
            <a:r>
              <a:rPr lang="es-AR" altLang="es-AR" sz="2000" dirty="0">
                <a:solidFill>
                  <a:schemeClr val="tx1">
                    <a:lumMod val="85000"/>
                    <a:lumOff val="15000"/>
                  </a:schemeClr>
                </a:solidFill>
                <a:effectLst>
                  <a:outerShdw blurRad="38100" dist="38100" dir="2700000" algn="tl">
                    <a:srgbClr val="C0C0C0"/>
                  </a:outerShdw>
                </a:effectLst>
                <a:latin typeface="+mj-lt"/>
              </a:rPr>
              <a:t> x q = CF total + </a:t>
            </a:r>
            <a:r>
              <a:rPr lang="es-AR" altLang="es-AR" sz="2000" dirty="0" err="1">
                <a:solidFill>
                  <a:schemeClr val="tx1">
                    <a:lumMod val="85000"/>
                    <a:lumOff val="15000"/>
                  </a:schemeClr>
                </a:solidFill>
                <a:effectLst>
                  <a:outerShdw blurRad="38100" dist="38100" dir="2700000" algn="tl">
                    <a:srgbClr val="C0C0C0"/>
                  </a:outerShdw>
                </a:effectLst>
                <a:latin typeface="+mj-lt"/>
              </a:rPr>
              <a:t>CVu</a:t>
            </a:r>
            <a:r>
              <a:rPr lang="es-AR" altLang="es-AR" sz="2000" dirty="0">
                <a:solidFill>
                  <a:schemeClr val="tx1">
                    <a:lumMod val="85000"/>
                    <a:lumOff val="15000"/>
                  </a:schemeClr>
                </a:solidFill>
                <a:effectLst>
                  <a:outerShdw blurRad="38100" dist="38100" dir="2700000" algn="tl">
                    <a:srgbClr val="C0C0C0"/>
                  </a:outerShdw>
                </a:effectLst>
                <a:latin typeface="+mj-lt"/>
              </a:rPr>
              <a:t> total x q + </a:t>
            </a:r>
            <a:r>
              <a:rPr lang="es-AR" altLang="es-AR" sz="2000" b="1" dirty="0">
                <a:solidFill>
                  <a:schemeClr val="tx1">
                    <a:lumMod val="85000"/>
                    <a:lumOff val="15000"/>
                  </a:schemeClr>
                </a:solidFill>
                <a:effectLst>
                  <a:outerShdw blurRad="38100" dist="38100" dir="2700000" algn="tl">
                    <a:srgbClr val="C0C0C0"/>
                  </a:outerShdw>
                </a:effectLst>
                <a:latin typeface="+mj-lt"/>
              </a:rPr>
              <a:t>% ( </a:t>
            </a:r>
            <a:r>
              <a:rPr lang="es-AR" altLang="es-AR" sz="2000" b="1" dirty="0" err="1">
                <a:solidFill>
                  <a:schemeClr val="tx1">
                    <a:lumMod val="85000"/>
                    <a:lumOff val="15000"/>
                  </a:schemeClr>
                </a:solidFill>
                <a:effectLst>
                  <a:outerShdw blurRad="38100" dist="38100" dir="2700000" algn="tl">
                    <a:srgbClr val="C0C0C0"/>
                  </a:outerShdw>
                </a:effectLst>
                <a:latin typeface="+mj-lt"/>
              </a:rPr>
              <a:t>PVu</a:t>
            </a:r>
            <a:r>
              <a:rPr lang="es-AR" altLang="es-AR" sz="2000" b="1" dirty="0">
                <a:solidFill>
                  <a:schemeClr val="tx1">
                    <a:lumMod val="85000"/>
                    <a:lumOff val="15000"/>
                  </a:schemeClr>
                </a:solidFill>
                <a:effectLst>
                  <a:outerShdw blurRad="38100" dist="38100" dir="2700000" algn="tl">
                    <a:srgbClr val="C0C0C0"/>
                  </a:outerShdw>
                </a:effectLst>
                <a:latin typeface="+mj-lt"/>
              </a:rPr>
              <a:t> x q )</a:t>
            </a:r>
            <a:endParaRPr lang="es-ES" altLang="es-AR" sz="2000" b="1" dirty="0">
              <a:solidFill>
                <a:schemeClr val="tx1">
                  <a:lumMod val="85000"/>
                  <a:lumOff val="15000"/>
                </a:schemeClr>
              </a:solidFill>
              <a:effectLst>
                <a:outerShdw blurRad="38100" dist="38100" dir="2700000" algn="tl">
                  <a:srgbClr val="C0C0C0"/>
                </a:outerShdw>
              </a:effectLst>
              <a:latin typeface="+mj-lt"/>
            </a:endParaRPr>
          </a:p>
        </p:txBody>
      </p:sp>
      <p:sp>
        <p:nvSpPr>
          <p:cNvPr id="7" name="Rectangle 37">
            <a:extLst>
              <a:ext uri="{FF2B5EF4-FFF2-40B4-BE49-F238E27FC236}">
                <a16:creationId xmlns:a16="http://schemas.microsoft.com/office/drawing/2014/main" id="{E5E508C9-9A88-4B6A-8BA3-963FE2640C2E}"/>
              </a:ext>
            </a:extLst>
          </p:cNvPr>
          <p:cNvSpPr>
            <a:spLocks noChangeArrowheads="1"/>
          </p:cNvSpPr>
          <p:nvPr/>
        </p:nvSpPr>
        <p:spPr bwMode="auto">
          <a:xfrm>
            <a:off x="2004157" y="5332797"/>
            <a:ext cx="7832725" cy="43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dirty="0" err="1">
                <a:solidFill>
                  <a:schemeClr val="tx1">
                    <a:lumMod val="85000"/>
                    <a:lumOff val="15000"/>
                  </a:schemeClr>
                </a:solidFill>
                <a:latin typeface="+mj-lt"/>
              </a:rPr>
              <a:t>PVu</a:t>
            </a:r>
            <a:r>
              <a:rPr lang="es-AR" altLang="es-AR" sz="2000" dirty="0">
                <a:solidFill>
                  <a:schemeClr val="tx1">
                    <a:lumMod val="85000"/>
                    <a:lumOff val="15000"/>
                  </a:schemeClr>
                </a:solidFill>
                <a:latin typeface="+mj-lt"/>
              </a:rPr>
              <a:t> x q = CF total + </a:t>
            </a:r>
            <a:r>
              <a:rPr lang="es-AR" altLang="es-AR" sz="2000" dirty="0" err="1">
                <a:solidFill>
                  <a:schemeClr val="tx1">
                    <a:lumMod val="85000"/>
                    <a:lumOff val="15000"/>
                  </a:schemeClr>
                </a:solidFill>
                <a:latin typeface="+mj-lt"/>
              </a:rPr>
              <a:t>CVu</a:t>
            </a:r>
            <a:r>
              <a:rPr lang="es-AR" altLang="es-AR" sz="2000" dirty="0">
                <a:solidFill>
                  <a:schemeClr val="tx1">
                    <a:lumMod val="85000"/>
                    <a:lumOff val="15000"/>
                  </a:schemeClr>
                </a:solidFill>
                <a:latin typeface="+mj-lt"/>
              </a:rPr>
              <a:t> total x q + </a:t>
            </a:r>
            <a:r>
              <a:rPr lang="es-AR" altLang="es-AR" sz="2000" b="1" dirty="0">
                <a:solidFill>
                  <a:schemeClr val="tx1">
                    <a:lumMod val="85000"/>
                    <a:lumOff val="15000"/>
                  </a:schemeClr>
                </a:solidFill>
                <a:latin typeface="+mj-lt"/>
              </a:rPr>
              <a:t>CTE</a:t>
            </a:r>
            <a:endParaRPr lang="es-ES" altLang="es-AR" sz="2000" b="1" dirty="0">
              <a:solidFill>
                <a:schemeClr val="tx1">
                  <a:lumMod val="85000"/>
                  <a:lumOff val="15000"/>
                </a:schemeClr>
              </a:solidFill>
              <a:latin typeface="+mj-lt"/>
            </a:endParaRPr>
          </a:p>
        </p:txBody>
      </p:sp>
      <p:sp>
        <p:nvSpPr>
          <p:cNvPr id="8" name="CuadroTexto 7">
            <a:extLst>
              <a:ext uri="{FF2B5EF4-FFF2-40B4-BE49-F238E27FC236}">
                <a16:creationId xmlns:a16="http://schemas.microsoft.com/office/drawing/2014/main" id="{D52451BD-0DEF-42BE-984D-CB383F7B666E}"/>
              </a:ext>
            </a:extLst>
          </p:cNvPr>
          <p:cNvSpPr txBox="1"/>
          <p:nvPr/>
        </p:nvSpPr>
        <p:spPr>
          <a:xfrm>
            <a:off x="2407117" y="1488776"/>
            <a:ext cx="7551506" cy="369332"/>
          </a:xfrm>
          <a:prstGeom prst="rect">
            <a:avLst/>
          </a:prstGeom>
          <a:noFill/>
        </p:spPr>
        <p:txBody>
          <a:bodyPr wrap="square" rtlCol="0">
            <a:spAutoFit/>
          </a:bodyPr>
          <a:lstStyle/>
          <a:p>
            <a:r>
              <a:rPr lang="es-AR" dirty="0"/>
              <a:t>Podemos evaluar tres escenarios posibles:</a:t>
            </a:r>
          </a:p>
        </p:txBody>
      </p:sp>
      <p:sp>
        <p:nvSpPr>
          <p:cNvPr id="9" name="CuadroTexto 8">
            <a:extLst>
              <a:ext uri="{FF2B5EF4-FFF2-40B4-BE49-F238E27FC236}">
                <a16:creationId xmlns:a16="http://schemas.microsoft.com/office/drawing/2014/main" id="{7D1A4617-1689-484E-93E7-FBBA93048B04}"/>
              </a:ext>
            </a:extLst>
          </p:cNvPr>
          <p:cNvSpPr txBox="1"/>
          <p:nvPr/>
        </p:nvSpPr>
        <p:spPr>
          <a:xfrm>
            <a:off x="3335742" y="1951656"/>
            <a:ext cx="3308279" cy="369332"/>
          </a:xfrm>
          <a:prstGeom prst="rect">
            <a:avLst/>
          </a:prstGeom>
          <a:noFill/>
        </p:spPr>
        <p:txBody>
          <a:bodyPr wrap="square" rtlCol="0">
            <a:spAutoFit/>
          </a:bodyPr>
          <a:lstStyle/>
          <a:p>
            <a:pPr marL="285750" indent="-285750">
              <a:buClr>
                <a:srgbClr val="92D050"/>
              </a:buClr>
              <a:buFont typeface="Arial" panose="020B0604020202020204" pitchFamily="34" charset="0"/>
              <a:buChar char="•"/>
            </a:pPr>
            <a:r>
              <a:rPr lang="es-AR" b="1" dirty="0"/>
              <a:t>BENEFICIO = % CT</a:t>
            </a:r>
          </a:p>
        </p:txBody>
      </p:sp>
      <p:sp>
        <p:nvSpPr>
          <p:cNvPr id="10" name="CuadroTexto 9">
            <a:extLst>
              <a:ext uri="{FF2B5EF4-FFF2-40B4-BE49-F238E27FC236}">
                <a16:creationId xmlns:a16="http://schemas.microsoft.com/office/drawing/2014/main" id="{3CDBB609-4634-40F4-91BA-88BAA4CA99BB}"/>
              </a:ext>
            </a:extLst>
          </p:cNvPr>
          <p:cNvSpPr txBox="1"/>
          <p:nvPr/>
        </p:nvSpPr>
        <p:spPr>
          <a:xfrm>
            <a:off x="3335742" y="2400334"/>
            <a:ext cx="3308279" cy="369332"/>
          </a:xfrm>
          <a:prstGeom prst="rect">
            <a:avLst/>
          </a:prstGeom>
          <a:noFill/>
        </p:spPr>
        <p:txBody>
          <a:bodyPr wrap="square" rtlCol="0">
            <a:spAutoFit/>
          </a:bodyPr>
          <a:lstStyle/>
          <a:p>
            <a:pPr marL="285750" indent="-285750">
              <a:buClr>
                <a:srgbClr val="92D050"/>
              </a:buClr>
              <a:buFont typeface="Arial" panose="020B0604020202020204" pitchFamily="34" charset="0"/>
              <a:buChar char="•"/>
            </a:pPr>
            <a:r>
              <a:rPr lang="es-AR" b="1" dirty="0"/>
              <a:t>BENEFICIO = % IT</a:t>
            </a:r>
          </a:p>
        </p:txBody>
      </p:sp>
      <p:sp>
        <p:nvSpPr>
          <p:cNvPr id="11" name="CuadroTexto 10">
            <a:extLst>
              <a:ext uri="{FF2B5EF4-FFF2-40B4-BE49-F238E27FC236}">
                <a16:creationId xmlns:a16="http://schemas.microsoft.com/office/drawing/2014/main" id="{6B5E3B50-2F76-42C4-90E5-EA8519F5D017}"/>
              </a:ext>
            </a:extLst>
          </p:cNvPr>
          <p:cNvSpPr txBox="1"/>
          <p:nvPr/>
        </p:nvSpPr>
        <p:spPr>
          <a:xfrm>
            <a:off x="3335742" y="2844895"/>
            <a:ext cx="3308279" cy="369332"/>
          </a:xfrm>
          <a:prstGeom prst="rect">
            <a:avLst/>
          </a:prstGeom>
          <a:noFill/>
        </p:spPr>
        <p:txBody>
          <a:bodyPr wrap="square" rtlCol="0">
            <a:spAutoFit/>
          </a:bodyPr>
          <a:lstStyle/>
          <a:p>
            <a:pPr marL="285750" indent="-285750">
              <a:buClr>
                <a:srgbClr val="92D050"/>
              </a:buClr>
              <a:buFont typeface="Arial" panose="020B0604020202020204" pitchFamily="34" charset="0"/>
              <a:buChar char="•"/>
            </a:pPr>
            <a:r>
              <a:rPr lang="es-AR" b="1" dirty="0"/>
              <a:t>BENEFICIO = CTE</a:t>
            </a:r>
          </a:p>
        </p:txBody>
      </p:sp>
      <p:sp>
        <p:nvSpPr>
          <p:cNvPr id="13" name="CuadroTexto 12">
            <a:extLst>
              <a:ext uri="{FF2B5EF4-FFF2-40B4-BE49-F238E27FC236}">
                <a16:creationId xmlns:a16="http://schemas.microsoft.com/office/drawing/2014/main" id="{E9EB3868-C2FA-4FA3-8FFE-B3EE84ED215F}"/>
              </a:ext>
            </a:extLst>
          </p:cNvPr>
          <p:cNvSpPr txBox="1"/>
          <p:nvPr/>
        </p:nvSpPr>
        <p:spPr>
          <a:xfrm>
            <a:off x="2182042" y="3545536"/>
            <a:ext cx="7551506" cy="369332"/>
          </a:xfrm>
          <a:prstGeom prst="rect">
            <a:avLst/>
          </a:prstGeom>
          <a:noFill/>
        </p:spPr>
        <p:txBody>
          <a:bodyPr wrap="square" rtlCol="0">
            <a:spAutoFit/>
          </a:bodyPr>
          <a:lstStyle/>
          <a:p>
            <a:r>
              <a:rPr lang="es-AR" dirty="0"/>
              <a:t>Desarrollando estas expresiones:</a:t>
            </a:r>
          </a:p>
        </p:txBody>
      </p:sp>
    </p:spTree>
    <p:extLst>
      <p:ext uri="{BB962C8B-B14F-4D97-AF65-F5344CB8AC3E}">
        <p14:creationId xmlns:p14="http://schemas.microsoft.com/office/powerpoint/2010/main" val="656708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33B50A-2B78-4599-9265-45A8CAEE8E1D}"/>
              </a:ext>
            </a:extLst>
          </p:cNvPr>
          <p:cNvSpPr>
            <a:spLocks noGrp="1"/>
          </p:cNvSpPr>
          <p:nvPr>
            <p:ph type="title"/>
          </p:nvPr>
        </p:nvSpPr>
        <p:spPr/>
        <p:txBody>
          <a:bodyPr/>
          <a:lstStyle/>
          <a:p>
            <a:r>
              <a:rPr lang="es-MX" altLang="es-AR" b="1" dirty="0">
                <a:cs typeface="Arial" charset="0"/>
              </a:rPr>
              <a:t>BENEFICIO DEL EMPRESARIO</a:t>
            </a:r>
            <a:endParaRPr lang="es-AR" dirty="0"/>
          </a:p>
        </p:txBody>
      </p:sp>
      <p:sp>
        <p:nvSpPr>
          <p:cNvPr id="4" name="Marcador de número de diapositiva 3">
            <a:extLst>
              <a:ext uri="{FF2B5EF4-FFF2-40B4-BE49-F238E27FC236}">
                <a16:creationId xmlns:a16="http://schemas.microsoft.com/office/drawing/2014/main" id="{EAA8764D-9342-425C-9DFD-32407A83B340}"/>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5" name="CuadroTexto 4">
            <a:extLst>
              <a:ext uri="{FF2B5EF4-FFF2-40B4-BE49-F238E27FC236}">
                <a16:creationId xmlns:a16="http://schemas.microsoft.com/office/drawing/2014/main" id="{44DF9B0F-0DC6-4E37-9DA4-6A1305D8222D}"/>
              </a:ext>
            </a:extLst>
          </p:cNvPr>
          <p:cNvSpPr txBox="1"/>
          <p:nvPr/>
        </p:nvSpPr>
        <p:spPr>
          <a:xfrm>
            <a:off x="1695236" y="1530849"/>
            <a:ext cx="5917915" cy="374151"/>
          </a:xfrm>
          <a:prstGeom prst="rect">
            <a:avLst/>
          </a:prstGeom>
          <a:noFill/>
        </p:spPr>
        <p:txBody>
          <a:bodyPr wrap="square" rtlCol="0">
            <a:spAutoFit/>
          </a:bodyPr>
          <a:lstStyle/>
          <a:p>
            <a:r>
              <a:rPr lang="es-AR" dirty="0"/>
              <a:t>Analicemos cada caso, supongamos un % del 30%:</a:t>
            </a:r>
          </a:p>
        </p:txBody>
      </p:sp>
      <p:sp>
        <p:nvSpPr>
          <p:cNvPr id="6" name="CuadroTexto 5">
            <a:extLst>
              <a:ext uri="{FF2B5EF4-FFF2-40B4-BE49-F238E27FC236}">
                <a16:creationId xmlns:a16="http://schemas.microsoft.com/office/drawing/2014/main" id="{77FFFA9B-39FF-499B-883B-D2549DB59388}"/>
              </a:ext>
            </a:extLst>
          </p:cNvPr>
          <p:cNvSpPr txBox="1"/>
          <p:nvPr/>
        </p:nvSpPr>
        <p:spPr>
          <a:xfrm>
            <a:off x="1571945" y="2126751"/>
            <a:ext cx="8558373" cy="369332"/>
          </a:xfrm>
          <a:prstGeom prst="rect">
            <a:avLst/>
          </a:prstGeom>
          <a:noFill/>
        </p:spPr>
        <p:txBody>
          <a:bodyPr wrap="square" rtlCol="0">
            <a:spAutoFit/>
          </a:bodyPr>
          <a:lstStyle/>
          <a:p>
            <a:r>
              <a:rPr lang="es-AR" b="1" dirty="0"/>
              <a:t>a) B = % CT = 0,30 (CF + </a:t>
            </a:r>
            <a:r>
              <a:rPr lang="es-AR" b="1" dirty="0" err="1"/>
              <a:t>Cvu</a:t>
            </a:r>
            <a:r>
              <a:rPr lang="es-AR" b="1" dirty="0"/>
              <a:t> x q)</a:t>
            </a:r>
          </a:p>
        </p:txBody>
      </p:sp>
      <p:sp>
        <p:nvSpPr>
          <p:cNvPr id="7" name="CuadroTexto 6">
            <a:extLst>
              <a:ext uri="{FF2B5EF4-FFF2-40B4-BE49-F238E27FC236}">
                <a16:creationId xmlns:a16="http://schemas.microsoft.com/office/drawing/2014/main" id="{133ACE77-1F2D-424D-83E2-B5329451B69D}"/>
              </a:ext>
            </a:extLst>
          </p:cNvPr>
          <p:cNvSpPr txBox="1"/>
          <p:nvPr/>
        </p:nvSpPr>
        <p:spPr>
          <a:xfrm>
            <a:off x="1890445" y="2533168"/>
            <a:ext cx="6380251" cy="369332"/>
          </a:xfrm>
          <a:prstGeom prst="rect">
            <a:avLst/>
          </a:prstGeom>
          <a:noFill/>
        </p:spPr>
        <p:txBody>
          <a:bodyPr wrap="square" rtlCol="0">
            <a:spAutoFit/>
          </a:bodyPr>
          <a:lstStyle/>
          <a:p>
            <a:r>
              <a:rPr lang="es-AR" dirty="0"/>
              <a:t>B = IT - CT</a:t>
            </a:r>
          </a:p>
        </p:txBody>
      </p:sp>
      <p:sp>
        <p:nvSpPr>
          <p:cNvPr id="8" name="CuadroTexto 7">
            <a:extLst>
              <a:ext uri="{FF2B5EF4-FFF2-40B4-BE49-F238E27FC236}">
                <a16:creationId xmlns:a16="http://schemas.microsoft.com/office/drawing/2014/main" id="{AE649E5A-862B-495C-987E-3FFFEAA11EC7}"/>
              </a:ext>
            </a:extLst>
          </p:cNvPr>
          <p:cNvSpPr txBox="1"/>
          <p:nvPr/>
        </p:nvSpPr>
        <p:spPr>
          <a:xfrm>
            <a:off x="1510300" y="2993246"/>
            <a:ext cx="5157630" cy="369332"/>
          </a:xfrm>
          <a:prstGeom prst="rect">
            <a:avLst/>
          </a:prstGeom>
          <a:noFill/>
        </p:spPr>
        <p:txBody>
          <a:bodyPr wrap="square" rtlCol="0">
            <a:spAutoFit/>
          </a:bodyPr>
          <a:lstStyle/>
          <a:p>
            <a:r>
              <a:rPr lang="es-AR" dirty="0"/>
              <a:t>0,30(CF + </a:t>
            </a:r>
            <a:r>
              <a:rPr lang="es-AR" dirty="0" err="1"/>
              <a:t>Cvu</a:t>
            </a:r>
            <a:r>
              <a:rPr lang="es-AR" dirty="0"/>
              <a:t> x q) = </a:t>
            </a:r>
            <a:r>
              <a:rPr lang="es-AR" dirty="0" err="1"/>
              <a:t>Pvu</a:t>
            </a:r>
            <a:r>
              <a:rPr lang="es-AR" dirty="0"/>
              <a:t> x q  - CF - </a:t>
            </a:r>
            <a:r>
              <a:rPr lang="es-AR" dirty="0" err="1"/>
              <a:t>Cvu</a:t>
            </a:r>
            <a:r>
              <a:rPr lang="es-AR" dirty="0"/>
              <a:t> x q</a:t>
            </a:r>
          </a:p>
        </p:txBody>
      </p:sp>
      <p:sp>
        <p:nvSpPr>
          <p:cNvPr id="9" name="CuadroTexto 8">
            <a:extLst>
              <a:ext uri="{FF2B5EF4-FFF2-40B4-BE49-F238E27FC236}">
                <a16:creationId xmlns:a16="http://schemas.microsoft.com/office/drawing/2014/main" id="{FC89C65F-F530-4186-9502-0B3BE934C11E}"/>
              </a:ext>
            </a:extLst>
          </p:cNvPr>
          <p:cNvSpPr txBox="1"/>
          <p:nvPr/>
        </p:nvSpPr>
        <p:spPr>
          <a:xfrm>
            <a:off x="1510300" y="3601001"/>
            <a:ext cx="5322018" cy="369332"/>
          </a:xfrm>
          <a:prstGeom prst="rect">
            <a:avLst/>
          </a:prstGeom>
          <a:noFill/>
        </p:spPr>
        <p:txBody>
          <a:bodyPr wrap="square" rtlCol="0">
            <a:spAutoFit/>
          </a:bodyPr>
          <a:lstStyle/>
          <a:p>
            <a:r>
              <a:rPr lang="es-AR" dirty="0"/>
              <a:t>0,30 CF + 0,30 </a:t>
            </a:r>
            <a:r>
              <a:rPr lang="es-AR" dirty="0" err="1"/>
              <a:t>Cvu</a:t>
            </a:r>
            <a:r>
              <a:rPr lang="es-AR" dirty="0"/>
              <a:t> x q = </a:t>
            </a:r>
            <a:r>
              <a:rPr lang="es-AR" dirty="0" err="1"/>
              <a:t>Pvu</a:t>
            </a:r>
            <a:r>
              <a:rPr lang="es-AR" dirty="0"/>
              <a:t> x q  - CF - </a:t>
            </a:r>
            <a:r>
              <a:rPr lang="es-AR" dirty="0" err="1"/>
              <a:t>Cvu</a:t>
            </a:r>
            <a:r>
              <a:rPr lang="es-AR" dirty="0"/>
              <a:t> x q</a:t>
            </a:r>
          </a:p>
        </p:txBody>
      </p:sp>
      <p:sp>
        <p:nvSpPr>
          <p:cNvPr id="10" name="CuadroTexto 9">
            <a:extLst>
              <a:ext uri="{FF2B5EF4-FFF2-40B4-BE49-F238E27FC236}">
                <a16:creationId xmlns:a16="http://schemas.microsoft.com/office/drawing/2014/main" id="{EE9D6F59-90D8-4C0F-B9C3-C8429026A099}"/>
              </a:ext>
            </a:extLst>
          </p:cNvPr>
          <p:cNvSpPr txBox="1"/>
          <p:nvPr/>
        </p:nvSpPr>
        <p:spPr>
          <a:xfrm>
            <a:off x="1510300" y="4206321"/>
            <a:ext cx="5322018" cy="369332"/>
          </a:xfrm>
          <a:prstGeom prst="rect">
            <a:avLst/>
          </a:prstGeom>
          <a:noFill/>
        </p:spPr>
        <p:txBody>
          <a:bodyPr wrap="square" rtlCol="0">
            <a:spAutoFit/>
          </a:bodyPr>
          <a:lstStyle/>
          <a:p>
            <a:r>
              <a:rPr lang="es-AR" dirty="0"/>
              <a:t>0,30 CF + 0,30 </a:t>
            </a:r>
            <a:r>
              <a:rPr lang="es-AR" dirty="0" err="1"/>
              <a:t>Cvu</a:t>
            </a:r>
            <a:r>
              <a:rPr lang="es-AR" dirty="0"/>
              <a:t> x q = </a:t>
            </a:r>
            <a:r>
              <a:rPr lang="es-AR" dirty="0" err="1"/>
              <a:t>Pvu</a:t>
            </a:r>
            <a:r>
              <a:rPr lang="es-AR" dirty="0"/>
              <a:t> x q  - CF - </a:t>
            </a:r>
            <a:r>
              <a:rPr lang="es-AR" dirty="0" err="1"/>
              <a:t>Cvu</a:t>
            </a:r>
            <a:r>
              <a:rPr lang="es-AR" dirty="0"/>
              <a:t> x q</a:t>
            </a:r>
          </a:p>
        </p:txBody>
      </p:sp>
      <p:sp>
        <p:nvSpPr>
          <p:cNvPr id="11" name="CuadroTexto 10">
            <a:extLst>
              <a:ext uri="{FF2B5EF4-FFF2-40B4-BE49-F238E27FC236}">
                <a16:creationId xmlns:a16="http://schemas.microsoft.com/office/drawing/2014/main" id="{5CC6D0A7-2557-4965-A295-E71E478E1023}"/>
              </a:ext>
            </a:extLst>
          </p:cNvPr>
          <p:cNvSpPr txBox="1"/>
          <p:nvPr/>
        </p:nvSpPr>
        <p:spPr>
          <a:xfrm>
            <a:off x="1510300" y="4810308"/>
            <a:ext cx="5352846" cy="369332"/>
          </a:xfrm>
          <a:prstGeom prst="rect">
            <a:avLst/>
          </a:prstGeom>
          <a:noFill/>
        </p:spPr>
        <p:txBody>
          <a:bodyPr wrap="square" rtlCol="0">
            <a:spAutoFit/>
          </a:bodyPr>
          <a:lstStyle/>
          <a:p>
            <a:r>
              <a:rPr lang="es-AR" dirty="0"/>
              <a:t>0,30 </a:t>
            </a:r>
            <a:r>
              <a:rPr lang="es-AR" dirty="0" err="1"/>
              <a:t>Cvu</a:t>
            </a:r>
            <a:r>
              <a:rPr lang="es-AR" dirty="0"/>
              <a:t> x q + </a:t>
            </a:r>
            <a:r>
              <a:rPr lang="es-AR" dirty="0" err="1"/>
              <a:t>Cvu</a:t>
            </a:r>
            <a:r>
              <a:rPr lang="es-AR" dirty="0"/>
              <a:t> x q = </a:t>
            </a:r>
            <a:r>
              <a:rPr lang="es-AR" dirty="0" err="1"/>
              <a:t>Pvu</a:t>
            </a:r>
            <a:r>
              <a:rPr lang="es-AR" dirty="0"/>
              <a:t> x q  - CF - 0,30 CF</a:t>
            </a:r>
          </a:p>
        </p:txBody>
      </p:sp>
      <p:sp>
        <p:nvSpPr>
          <p:cNvPr id="12" name="CuadroTexto 11">
            <a:extLst>
              <a:ext uri="{FF2B5EF4-FFF2-40B4-BE49-F238E27FC236}">
                <a16:creationId xmlns:a16="http://schemas.microsoft.com/office/drawing/2014/main" id="{EC207E13-02C8-427E-88BE-A1FEF994933D}"/>
              </a:ext>
            </a:extLst>
          </p:cNvPr>
          <p:cNvSpPr txBox="1"/>
          <p:nvPr/>
        </p:nvSpPr>
        <p:spPr>
          <a:xfrm>
            <a:off x="1510300" y="5414295"/>
            <a:ext cx="5352846" cy="369332"/>
          </a:xfrm>
          <a:prstGeom prst="rect">
            <a:avLst/>
          </a:prstGeom>
          <a:noFill/>
        </p:spPr>
        <p:txBody>
          <a:bodyPr wrap="square" rtlCol="0">
            <a:spAutoFit/>
          </a:bodyPr>
          <a:lstStyle/>
          <a:p>
            <a:r>
              <a:rPr lang="es-AR" dirty="0"/>
              <a:t>0,30 </a:t>
            </a:r>
            <a:r>
              <a:rPr lang="es-AR" dirty="0" err="1"/>
              <a:t>Cvu</a:t>
            </a:r>
            <a:r>
              <a:rPr lang="es-AR" dirty="0"/>
              <a:t> x q + </a:t>
            </a:r>
            <a:r>
              <a:rPr lang="es-AR" dirty="0" err="1"/>
              <a:t>Cvu</a:t>
            </a:r>
            <a:r>
              <a:rPr lang="es-AR" dirty="0"/>
              <a:t> x q - </a:t>
            </a:r>
            <a:r>
              <a:rPr lang="es-AR" dirty="0" err="1"/>
              <a:t>Pvu</a:t>
            </a:r>
            <a:r>
              <a:rPr lang="es-AR" dirty="0"/>
              <a:t> x q = - CF - 0,30 CF</a:t>
            </a:r>
          </a:p>
        </p:txBody>
      </p:sp>
      <p:sp>
        <p:nvSpPr>
          <p:cNvPr id="13" name="CuadroTexto 12">
            <a:extLst>
              <a:ext uri="{FF2B5EF4-FFF2-40B4-BE49-F238E27FC236}">
                <a16:creationId xmlns:a16="http://schemas.microsoft.com/office/drawing/2014/main" id="{BBE02E3D-E498-497C-B8E6-493013F1D616}"/>
              </a:ext>
            </a:extLst>
          </p:cNvPr>
          <p:cNvSpPr txBox="1"/>
          <p:nvPr/>
        </p:nvSpPr>
        <p:spPr>
          <a:xfrm>
            <a:off x="7880256" y="2963327"/>
            <a:ext cx="4078851" cy="369332"/>
          </a:xfrm>
          <a:prstGeom prst="rect">
            <a:avLst/>
          </a:prstGeom>
          <a:noFill/>
        </p:spPr>
        <p:txBody>
          <a:bodyPr wrap="square" rtlCol="0">
            <a:spAutoFit/>
          </a:bodyPr>
          <a:lstStyle/>
          <a:p>
            <a:r>
              <a:rPr lang="es-AR" dirty="0"/>
              <a:t>1,30 </a:t>
            </a:r>
            <a:r>
              <a:rPr lang="es-AR" dirty="0" err="1"/>
              <a:t>Cvu</a:t>
            </a:r>
            <a:r>
              <a:rPr lang="es-AR" dirty="0"/>
              <a:t> x q - </a:t>
            </a:r>
            <a:r>
              <a:rPr lang="es-AR" dirty="0" err="1"/>
              <a:t>Pvu</a:t>
            </a:r>
            <a:r>
              <a:rPr lang="es-AR" dirty="0"/>
              <a:t> x q = - 1,30 CF</a:t>
            </a:r>
          </a:p>
        </p:txBody>
      </p:sp>
      <p:sp>
        <p:nvSpPr>
          <p:cNvPr id="14" name="CuadroTexto 13">
            <a:extLst>
              <a:ext uri="{FF2B5EF4-FFF2-40B4-BE49-F238E27FC236}">
                <a16:creationId xmlns:a16="http://schemas.microsoft.com/office/drawing/2014/main" id="{244D9774-2A41-4C65-B19B-2C83190F982F}"/>
              </a:ext>
            </a:extLst>
          </p:cNvPr>
          <p:cNvSpPr txBox="1"/>
          <p:nvPr/>
        </p:nvSpPr>
        <p:spPr>
          <a:xfrm>
            <a:off x="7880256" y="3589872"/>
            <a:ext cx="4078851" cy="369332"/>
          </a:xfrm>
          <a:prstGeom prst="rect">
            <a:avLst/>
          </a:prstGeom>
          <a:noFill/>
        </p:spPr>
        <p:txBody>
          <a:bodyPr wrap="square" rtlCol="0">
            <a:spAutoFit/>
          </a:bodyPr>
          <a:lstStyle/>
          <a:p>
            <a:r>
              <a:rPr lang="es-AR" dirty="0"/>
              <a:t>(1,30 </a:t>
            </a:r>
            <a:r>
              <a:rPr lang="es-AR" dirty="0" err="1"/>
              <a:t>Cvu</a:t>
            </a:r>
            <a:r>
              <a:rPr lang="es-AR" dirty="0"/>
              <a:t> – </a:t>
            </a:r>
            <a:r>
              <a:rPr lang="es-AR" dirty="0" err="1"/>
              <a:t>Pvu</a:t>
            </a:r>
            <a:r>
              <a:rPr lang="es-AR" dirty="0"/>
              <a:t>) q = - 1,30 CF</a:t>
            </a:r>
          </a:p>
        </p:txBody>
      </p:sp>
      <p:sp>
        <p:nvSpPr>
          <p:cNvPr id="15" name="CuadroTexto 14">
            <a:extLst>
              <a:ext uri="{FF2B5EF4-FFF2-40B4-BE49-F238E27FC236}">
                <a16:creationId xmlns:a16="http://schemas.microsoft.com/office/drawing/2014/main" id="{DEAC3FE0-8392-4B13-9D19-840876D1051D}"/>
              </a:ext>
            </a:extLst>
          </p:cNvPr>
          <p:cNvSpPr txBox="1"/>
          <p:nvPr/>
        </p:nvSpPr>
        <p:spPr>
          <a:xfrm>
            <a:off x="8147407" y="4848635"/>
            <a:ext cx="678094" cy="369332"/>
          </a:xfrm>
          <a:prstGeom prst="rect">
            <a:avLst/>
          </a:prstGeom>
          <a:noFill/>
        </p:spPr>
        <p:txBody>
          <a:bodyPr wrap="square" rtlCol="0">
            <a:spAutoFit/>
          </a:bodyPr>
          <a:lstStyle/>
          <a:p>
            <a:r>
              <a:rPr lang="es-AR" b="1" dirty="0" err="1"/>
              <a:t>q</a:t>
            </a:r>
            <a:r>
              <a:rPr lang="es-AR" sz="1400" b="1" dirty="0" err="1"/>
              <a:t>a</a:t>
            </a:r>
            <a:endParaRPr lang="es-AR" sz="1400" b="1" dirty="0"/>
          </a:p>
        </p:txBody>
      </p:sp>
      <p:sp>
        <p:nvSpPr>
          <p:cNvPr id="16" name="CuadroTexto 15">
            <a:extLst>
              <a:ext uri="{FF2B5EF4-FFF2-40B4-BE49-F238E27FC236}">
                <a16:creationId xmlns:a16="http://schemas.microsoft.com/office/drawing/2014/main" id="{AF36D1CD-1EB6-40BC-A039-E130BE11720E}"/>
              </a:ext>
            </a:extLst>
          </p:cNvPr>
          <p:cNvSpPr txBox="1"/>
          <p:nvPr/>
        </p:nvSpPr>
        <p:spPr>
          <a:xfrm>
            <a:off x="8548098" y="4858142"/>
            <a:ext cx="554805" cy="369332"/>
          </a:xfrm>
          <a:prstGeom prst="rect">
            <a:avLst/>
          </a:prstGeom>
          <a:noFill/>
        </p:spPr>
        <p:txBody>
          <a:bodyPr wrap="square" rtlCol="0">
            <a:spAutoFit/>
          </a:bodyPr>
          <a:lstStyle/>
          <a:p>
            <a:r>
              <a:rPr lang="es-AR" b="1" dirty="0"/>
              <a:t>=</a:t>
            </a:r>
          </a:p>
        </p:txBody>
      </p:sp>
      <p:sp>
        <p:nvSpPr>
          <p:cNvPr id="17" name="CuadroTexto 16">
            <a:extLst>
              <a:ext uri="{FF2B5EF4-FFF2-40B4-BE49-F238E27FC236}">
                <a16:creationId xmlns:a16="http://schemas.microsoft.com/office/drawing/2014/main" id="{0B71CAF5-F632-4903-9B96-72C9557D94F1}"/>
              </a:ext>
            </a:extLst>
          </p:cNvPr>
          <p:cNvSpPr txBox="1"/>
          <p:nvPr/>
        </p:nvSpPr>
        <p:spPr>
          <a:xfrm>
            <a:off x="9583342" y="4634434"/>
            <a:ext cx="1880172" cy="369332"/>
          </a:xfrm>
          <a:prstGeom prst="rect">
            <a:avLst/>
          </a:prstGeom>
          <a:noFill/>
        </p:spPr>
        <p:txBody>
          <a:bodyPr wrap="square" rtlCol="0">
            <a:spAutoFit/>
          </a:bodyPr>
          <a:lstStyle/>
          <a:p>
            <a:r>
              <a:rPr lang="es-AR" b="1" dirty="0"/>
              <a:t>1,30 CF</a:t>
            </a:r>
          </a:p>
        </p:txBody>
      </p:sp>
      <p:sp>
        <p:nvSpPr>
          <p:cNvPr id="18" name="CuadroTexto 17">
            <a:extLst>
              <a:ext uri="{FF2B5EF4-FFF2-40B4-BE49-F238E27FC236}">
                <a16:creationId xmlns:a16="http://schemas.microsoft.com/office/drawing/2014/main" id="{D77F1A33-BEC8-4094-A923-06F687B8C7B2}"/>
              </a:ext>
            </a:extLst>
          </p:cNvPr>
          <p:cNvSpPr txBox="1"/>
          <p:nvPr/>
        </p:nvSpPr>
        <p:spPr>
          <a:xfrm>
            <a:off x="9190232" y="5138461"/>
            <a:ext cx="1880172" cy="369332"/>
          </a:xfrm>
          <a:prstGeom prst="rect">
            <a:avLst/>
          </a:prstGeom>
          <a:noFill/>
        </p:spPr>
        <p:txBody>
          <a:bodyPr wrap="square" rtlCol="0">
            <a:spAutoFit/>
          </a:bodyPr>
          <a:lstStyle/>
          <a:p>
            <a:r>
              <a:rPr lang="es-AR" b="1" dirty="0" err="1"/>
              <a:t>Pvu</a:t>
            </a:r>
            <a:r>
              <a:rPr lang="es-AR" b="1" dirty="0"/>
              <a:t> - 1,30 </a:t>
            </a:r>
            <a:r>
              <a:rPr lang="es-AR" b="1" dirty="0" err="1"/>
              <a:t>Cvu</a:t>
            </a:r>
            <a:endParaRPr lang="es-AR" b="1" dirty="0"/>
          </a:p>
        </p:txBody>
      </p:sp>
      <p:cxnSp>
        <p:nvCxnSpPr>
          <p:cNvPr id="20" name="Conector recto 19">
            <a:extLst>
              <a:ext uri="{FF2B5EF4-FFF2-40B4-BE49-F238E27FC236}">
                <a16:creationId xmlns:a16="http://schemas.microsoft.com/office/drawing/2014/main" id="{5D026D95-FAE9-4243-AF18-3B2A28559953}"/>
              </a:ext>
            </a:extLst>
          </p:cNvPr>
          <p:cNvCxnSpPr/>
          <p:nvPr/>
        </p:nvCxnSpPr>
        <p:spPr>
          <a:xfrm>
            <a:off x="8938517" y="5042808"/>
            <a:ext cx="216270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3333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33B50A-2B78-4599-9265-45A8CAEE8E1D}"/>
              </a:ext>
            </a:extLst>
          </p:cNvPr>
          <p:cNvSpPr>
            <a:spLocks noGrp="1"/>
          </p:cNvSpPr>
          <p:nvPr>
            <p:ph type="title"/>
          </p:nvPr>
        </p:nvSpPr>
        <p:spPr/>
        <p:txBody>
          <a:bodyPr/>
          <a:lstStyle/>
          <a:p>
            <a:r>
              <a:rPr lang="es-MX" altLang="es-AR" b="1" dirty="0">
                <a:cs typeface="Arial" charset="0"/>
              </a:rPr>
              <a:t>BENEFICIO DEL EMPRESARIO</a:t>
            </a:r>
            <a:endParaRPr lang="es-AR" dirty="0"/>
          </a:p>
        </p:txBody>
      </p:sp>
      <p:sp>
        <p:nvSpPr>
          <p:cNvPr id="4" name="Marcador de número de diapositiva 3">
            <a:extLst>
              <a:ext uri="{FF2B5EF4-FFF2-40B4-BE49-F238E27FC236}">
                <a16:creationId xmlns:a16="http://schemas.microsoft.com/office/drawing/2014/main" id="{EAA8764D-9342-425C-9DFD-32407A83B340}"/>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
        <p:nvSpPr>
          <p:cNvPr id="6" name="CuadroTexto 5">
            <a:extLst>
              <a:ext uri="{FF2B5EF4-FFF2-40B4-BE49-F238E27FC236}">
                <a16:creationId xmlns:a16="http://schemas.microsoft.com/office/drawing/2014/main" id="{77FFFA9B-39FF-499B-883B-D2549DB59388}"/>
              </a:ext>
            </a:extLst>
          </p:cNvPr>
          <p:cNvSpPr txBox="1"/>
          <p:nvPr/>
        </p:nvSpPr>
        <p:spPr>
          <a:xfrm>
            <a:off x="1571945" y="2126751"/>
            <a:ext cx="8558373" cy="369332"/>
          </a:xfrm>
          <a:prstGeom prst="rect">
            <a:avLst/>
          </a:prstGeom>
          <a:noFill/>
        </p:spPr>
        <p:txBody>
          <a:bodyPr wrap="square" rtlCol="0">
            <a:spAutoFit/>
          </a:bodyPr>
          <a:lstStyle/>
          <a:p>
            <a:r>
              <a:rPr lang="es-AR" b="1" dirty="0"/>
              <a:t>b) B = % IT = 0,30 (</a:t>
            </a:r>
            <a:r>
              <a:rPr lang="es-AR" b="1" dirty="0" err="1"/>
              <a:t>Pvu</a:t>
            </a:r>
            <a:r>
              <a:rPr lang="es-AR" b="1" dirty="0"/>
              <a:t> x q)</a:t>
            </a:r>
          </a:p>
        </p:txBody>
      </p:sp>
      <p:sp>
        <p:nvSpPr>
          <p:cNvPr id="7" name="CuadroTexto 6">
            <a:extLst>
              <a:ext uri="{FF2B5EF4-FFF2-40B4-BE49-F238E27FC236}">
                <a16:creationId xmlns:a16="http://schemas.microsoft.com/office/drawing/2014/main" id="{133ACE77-1F2D-424D-83E2-B5329451B69D}"/>
              </a:ext>
            </a:extLst>
          </p:cNvPr>
          <p:cNvSpPr txBox="1"/>
          <p:nvPr/>
        </p:nvSpPr>
        <p:spPr>
          <a:xfrm>
            <a:off x="1890445" y="2533168"/>
            <a:ext cx="6380251" cy="369332"/>
          </a:xfrm>
          <a:prstGeom prst="rect">
            <a:avLst/>
          </a:prstGeom>
          <a:noFill/>
        </p:spPr>
        <p:txBody>
          <a:bodyPr wrap="square" rtlCol="0">
            <a:spAutoFit/>
          </a:bodyPr>
          <a:lstStyle/>
          <a:p>
            <a:r>
              <a:rPr lang="es-AR" dirty="0"/>
              <a:t>B = IT - CT</a:t>
            </a:r>
          </a:p>
        </p:txBody>
      </p:sp>
      <p:sp>
        <p:nvSpPr>
          <p:cNvPr id="8" name="CuadroTexto 7">
            <a:extLst>
              <a:ext uri="{FF2B5EF4-FFF2-40B4-BE49-F238E27FC236}">
                <a16:creationId xmlns:a16="http://schemas.microsoft.com/office/drawing/2014/main" id="{AE649E5A-862B-495C-987E-3FFFEAA11EC7}"/>
              </a:ext>
            </a:extLst>
          </p:cNvPr>
          <p:cNvSpPr txBox="1"/>
          <p:nvPr/>
        </p:nvSpPr>
        <p:spPr>
          <a:xfrm>
            <a:off x="2445224" y="2963327"/>
            <a:ext cx="5157630" cy="369332"/>
          </a:xfrm>
          <a:prstGeom prst="rect">
            <a:avLst/>
          </a:prstGeom>
          <a:noFill/>
        </p:spPr>
        <p:txBody>
          <a:bodyPr wrap="square" rtlCol="0">
            <a:spAutoFit/>
          </a:bodyPr>
          <a:lstStyle/>
          <a:p>
            <a:r>
              <a:rPr lang="es-AR" dirty="0"/>
              <a:t>0,30(</a:t>
            </a:r>
            <a:r>
              <a:rPr lang="es-AR" dirty="0" err="1"/>
              <a:t>Pvu</a:t>
            </a:r>
            <a:r>
              <a:rPr lang="es-AR" dirty="0"/>
              <a:t> x q) = </a:t>
            </a:r>
            <a:r>
              <a:rPr lang="es-AR" dirty="0" err="1"/>
              <a:t>Pvu</a:t>
            </a:r>
            <a:r>
              <a:rPr lang="es-AR" dirty="0"/>
              <a:t> x q  - CF - </a:t>
            </a:r>
            <a:r>
              <a:rPr lang="es-AR" dirty="0" err="1"/>
              <a:t>Cvu</a:t>
            </a:r>
            <a:r>
              <a:rPr lang="es-AR" dirty="0"/>
              <a:t> x q</a:t>
            </a:r>
          </a:p>
        </p:txBody>
      </p:sp>
      <p:sp>
        <p:nvSpPr>
          <p:cNvPr id="9" name="CuadroTexto 8">
            <a:extLst>
              <a:ext uri="{FF2B5EF4-FFF2-40B4-BE49-F238E27FC236}">
                <a16:creationId xmlns:a16="http://schemas.microsoft.com/office/drawing/2014/main" id="{FC89C65F-F530-4186-9502-0B3BE934C11E}"/>
              </a:ext>
            </a:extLst>
          </p:cNvPr>
          <p:cNvSpPr txBox="1"/>
          <p:nvPr/>
        </p:nvSpPr>
        <p:spPr>
          <a:xfrm>
            <a:off x="2445224" y="3571082"/>
            <a:ext cx="5322018" cy="369332"/>
          </a:xfrm>
          <a:prstGeom prst="rect">
            <a:avLst/>
          </a:prstGeom>
          <a:noFill/>
        </p:spPr>
        <p:txBody>
          <a:bodyPr wrap="square" rtlCol="0">
            <a:spAutoFit/>
          </a:bodyPr>
          <a:lstStyle/>
          <a:p>
            <a:r>
              <a:rPr lang="es-AR" dirty="0"/>
              <a:t>0,30 </a:t>
            </a:r>
            <a:r>
              <a:rPr lang="es-AR" dirty="0" err="1"/>
              <a:t>Pvu</a:t>
            </a:r>
            <a:r>
              <a:rPr lang="es-AR" dirty="0"/>
              <a:t> x q - </a:t>
            </a:r>
            <a:r>
              <a:rPr lang="es-AR" dirty="0" err="1"/>
              <a:t>Pvu</a:t>
            </a:r>
            <a:r>
              <a:rPr lang="es-AR" dirty="0"/>
              <a:t> x q = - CF - </a:t>
            </a:r>
            <a:r>
              <a:rPr lang="es-AR" dirty="0" err="1"/>
              <a:t>Cvu</a:t>
            </a:r>
            <a:r>
              <a:rPr lang="es-AR" dirty="0"/>
              <a:t> x q</a:t>
            </a:r>
          </a:p>
        </p:txBody>
      </p:sp>
      <p:sp>
        <p:nvSpPr>
          <p:cNvPr id="10" name="CuadroTexto 9">
            <a:extLst>
              <a:ext uri="{FF2B5EF4-FFF2-40B4-BE49-F238E27FC236}">
                <a16:creationId xmlns:a16="http://schemas.microsoft.com/office/drawing/2014/main" id="{EE9D6F59-90D8-4C0F-B9C3-C8429026A099}"/>
              </a:ext>
            </a:extLst>
          </p:cNvPr>
          <p:cNvSpPr txBox="1"/>
          <p:nvPr/>
        </p:nvSpPr>
        <p:spPr>
          <a:xfrm>
            <a:off x="2445224" y="4176402"/>
            <a:ext cx="5322018" cy="369332"/>
          </a:xfrm>
          <a:prstGeom prst="rect">
            <a:avLst/>
          </a:prstGeom>
          <a:noFill/>
        </p:spPr>
        <p:txBody>
          <a:bodyPr wrap="square" rtlCol="0">
            <a:spAutoFit/>
          </a:bodyPr>
          <a:lstStyle/>
          <a:p>
            <a:r>
              <a:rPr lang="es-AR" dirty="0"/>
              <a:t>- 0,70 </a:t>
            </a:r>
            <a:r>
              <a:rPr lang="es-AR" dirty="0" err="1"/>
              <a:t>Pvu</a:t>
            </a:r>
            <a:r>
              <a:rPr lang="es-AR" dirty="0"/>
              <a:t> x q = - CF - </a:t>
            </a:r>
            <a:r>
              <a:rPr lang="es-AR" dirty="0" err="1"/>
              <a:t>Cvu</a:t>
            </a:r>
            <a:r>
              <a:rPr lang="es-AR" dirty="0"/>
              <a:t> x q</a:t>
            </a:r>
          </a:p>
        </p:txBody>
      </p:sp>
      <p:sp>
        <p:nvSpPr>
          <p:cNvPr id="11" name="CuadroTexto 10">
            <a:extLst>
              <a:ext uri="{FF2B5EF4-FFF2-40B4-BE49-F238E27FC236}">
                <a16:creationId xmlns:a16="http://schemas.microsoft.com/office/drawing/2014/main" id="{5CC6D0A7-2557-4965-A295-E71E478E1023}"/>
              </a:ext>
            </a:extLst>
          </p:cNvPr>
          <p:cNvSpPr txBox="1"/>
          <p:nvPr/>
        </p:nvSpPr>
        <p:spPr>
          <a:xfrm>
            <a:off x="2445224" y="4780389"/>
            <a:ext cx="5352846" cy="369332"/>
          </a:xfrm>
          <a:prstGeom prst="rect">
            <a:avLst/>
          </a:prstGeom>
          <a:noFill/>
        </p:spPr>
        <p:txBody>
          <a:bodyPr wrap="square" rtlCol="0">
            <a:spAutoFit/>
          </a:bodyPr>
          <a:lstStyle/>
          <a:p>
            <a:r>
              <a:rPr lang="es-AR" dirty="0"/>
              <a:t>- 0,70 </a:t>
            </a:r>
            <a:r>
              <a:rPr lang="es-AR" dirty="0" err="1"/>
              <a:t>Pvu</a:t>
            </a:r>
            <a:r>
              <a:rPr lang="es-AR" dirty="0"/>
              <a:t> x q + </a:t>
            </a:r>
            <a:r>
              <a:rPr lang="es-AR" dirty="0" err="1"/>
              <a:t>Cvu</a:t>
            </a:r>
            <a:r>
              <a:rPr lang="es-AR" dirty="0"/>
              <a:t> x q = - CF</a:t>
            </a:r>
          </a:p>
        </p:txBody>
      </p:sp>
      <p:sp>
        <p:nvSpPr>
          <p:cNvPr id="13" name="CuadroTexto 12">
            <a:extLst>
              <a:ext uri="{FF2B5EF4-FFF2-40B4-BE49-F238E27FC236}">
                <a16:creationId xmlns:a16="http://schemas.microsoft.com/office/drawing/2014/main" id="{BBE02E3D-E498-497C-B8E6-493013F1D616}"/>
              </a:ext>
            </a:extLst>
          </p:cNvPr>
          <p:cNvSpPr txBox="1"/>
          <p:nvPr/>
        </p:nvSpPr>
        <p:spPr>
          <a:xfrm>
            <a:off x="7880256" y="2963327"/>
            <a:ext cx="4078851" cy="369332"/>
          </a:xfrm>
          <a:prstGeom prst="rect">
            <a:avLst/>
          </a:prstGeom>
          <a:noFill/>
        </p:spPr>
        <p:txBody>
          <a:bodyPr wrap="square" rtlCol="0">
            <a:spAutoFit/>
          </a:bodyPr>
          <a:lstStyle/>
          <a:p>
            <a:r>
              <a:rPr lang="es-AR" dirty="0"/>
              <a:t>(- 0,70 </a:t>
            </a:r>
            <a:r>
              <a:rPr lang="es-AR" dirty="0" err="1"/>
              <a:t>Pvu</a:t>
            </a:r>
            <a:r>
              <a:rPr lang="es-AR" dirty="0"/>
              <a:t> + </a:t>
            </a:r>
            <a:r>
              <a:rPr lang="es-AR" dirty="0" err="1"/>
              <a:t>Cvu</a:t>
            </a:r>
            <a:r>
              <a:rPr lang="es-AR" dirty="0"/>
              <a:t>)q = - CF</a:t>
            </a:r>
          </a:p>
        </p:txBody>
      </p:sp>
      <p:sp>
        <p:nvSpPr>
          <p:cNvPr id="15" name="CuadroTexto 14">
            <a:extLst>
              <a:ext uri="{FF2B5EF4-FFF2-40B4-BE49-F238E27FC236}">
                <a16:creationId xmlns:a16="http://schemas.microsoft.com/office/drawing/2014/main" id="{DEAC3FE0-8392-4B13-9D19-840876D1051D}"/>
              </a:ext>
            </a:extLst>
          </p:cNvPr>
          <p:cNvSpPr txBox="1"/>
          <p:nvPr/>
        </p:nvSpPr>
        <p:spPr>
          <a:xfrm>
            <a:off x="7726167" y="4390986"/>
            <a:ext cx="678094" cy="369332"/>
          </a:xfrm>
          <a:prstGeom prst="rect">
            <a:avLst/>
          </a:prstGeom>
          <a:noFill/>
        </p:spPr>
        <p:txBody>
          <a:bodyPr wrap="square" rtlCol="0">
            <a:spAutoFit/>
          </a:bodyPr>
          <a:lstStyle/>
          <a:p>
            <a:r>
              <a:rPr lang="es-AR" b="1" dirty="0" err="1"/>
              <a:t>q</a:t>
            </a:r>
            <a:r>
              <a:rPr lang="es-AR" sz="1400" b="1" dirty="0" err="1"/>
              <a:t>b</a:t>
            </a:r>
            <a:endParaRPr lang="es-AR" sz="1400" b="1" dirty="0"/>
          </a:p>
        </p:txBody>
      </p:sp>
      <p:sp>
        <p:nvSpPr>
          <p:cNvPr id="16" name="CuadroTexto 15">
            <a:extLst>
              <a:ext uri="{FF2B5EF4-FFF2-40B4-BE49-F238E27FC236}">
                <a16:creationId xmlns:a16="http://schemas.microsoft.com/office/drawing/2014/main" id="{AF36D1CD-1EB6-40BC-A039-E130BE11720E}"/>
              </a:ext>
            </a:extLst>
          </p:cNvPr>
          <p:cNvSpPr txBox="1"/>
          <p:nvPr/>
        </p:nvSpPr>
        <p:spPr>
          <a:xfrm>
            <a:off x="8126858" y="4400493"/>
            <a:ext cx="554805" cy="369332"/>
          </a:xfrm>
          <a:prstGeom prst="rect">
            <a:avLst/>
          </a:prstGeom>
          <a:noFill/>
        </p:spPr>
        <p:txBody>
          <a:bodyPr wrap="square" rtlCol="0">
            <a:spAutoFit/>
          </a:bodyPr>
          <a:lstStyle/>
          <a:p>
            <a:r>
              <a:rPr lang="es-AR" b="1" dirty="0"/>
              <a:t>=</a:t>
            </a:r>
          </a:p>
        </p:txBody>
      </p:sp>
      <p:sp>
        <p:nvSpPr>
          <p:cNvPr id="17" name="CuadroTexto 16">
            <a:extLst>
              <a:ext uri="{FF2B5EF4-FFF2-40B4-BE49-F238E27FC236}">
                <a16:creationId xmlns:a16="http://schemas.microsoft.com/office/drawing/2014/main" id="{0B71CAF5-F632-4903-9B96-72C9557D94F1}"/>
              </a:ext>
            </a:extLst>
          </p:cNvPr>
          <p:cNvSpPr txBox="1"/>
          <p:nvPr/>
        </p:nvSpPr>
        <p:spPr>
          <a:xfrm>
            <a:off x="9162102" y="4176785"/>
            <a:ext cx="1880172" cy="369332"/>
          </a:xfrm>
          <a:prstGeom prst="rect">
            <a:avLst/>
          </a:prstGeom>
          <a:noFill/>
        </p:spPr>
        <p:txBody>
          <a:bodyPr wrap="square" rtlCol="0">
            <a:spAutoFit/>
          </a:bodyPr>
          <a:lstStyle/>
          <a:p>
            <a:r>
              <a:rPr lang="es-AR" b="1" dirty="0"/>
              <a:t> CF</a:t>
            </a:r>
          </a:p>
        </p:txBody>
      </p:sp>
      <p:sp>
        <p:nvSpPr>
          <p:cNvPr id="18" name="CuadroTexto 17">
            <a:extLst>
              <a:ext uri="{FF2B5EF4-FFF2-40B4-BE49-F238E27FC236}">
                <a16:creationId xmlns:a16="http://schemas.microsoft.com/office/drawing/2014/main" id="{D77F1A33-BEC8-4094-A923-06F687B8C7B2}"/>
              </a:ext>
            </a:extLst>
          </p:cNvPr>
          <p:cNvSpPr txBox="1"/>
          <p:nvPr/>
        </p:nvSpPr>
        <p:spPr>
          <a:xfrm>
            <a:off x="8700628" y="4677492"/>
            <a:ext cx="1880172" cy="369332"/>
          </a:xfrm>
          <a:prstGeom prst="rect">
            <a:avLst/>
          </a:prstGeom>
          <a:noFill/>
        </p:spPr>
        <p:txBody>
          <a:bodyPr wrap="square" rtlCol="0">
            <a:spAutoFit/>
          </a:bodyPr>
          <a:lstStyle/>
          <a:p>
            <a:r>
              <a:rPr lang="es-AR" b="1" dirty="0"/>
              <a:t>0,70 </a:t>
            </a:r>
            <a:r>
              <a:rPr lang="es-AR" b="1" dirty="0" err="1"/>
              <a:t>Pvu</a:t>
            </a:r>
            <a:r>
              <a:rPr lang="es-AR" b="1" dirty="0"/>
              <a:t> - </a:t>
            </a:r>
            <a:r>
              <a:rPr lang="es-AR" b="1" dirty="0" err="1"/>
              <a:t>Cvu</a:t>
            </a:r>
            <a:endParaRPr lang="es-AR" b="1" dirty="0"/>
          </a:p>
        </p:txBody>
      </p:sp>
      <p:cxnSp>
        <p:nvCxnSpPr>
          <p:cNvPr id="20" name="Conector recto 19">
            <a:extLst>
              <a:ext uri="{FF2B5EF4-FFF2-40B4-BE49-F238E27FC236}">
                <a16:creationId xmlns:a16="http://schemas.microsoft.com/office/drawing/2014/main" id="{5D026D95-FAE9-4243-AF18-3B2A28559953}"/>
              </a:ext>
            </a:extLst>
          </p:cNvPr>
          <p:cNvCxnSpPr/>
          <p:nvPr/>
        </p:nvCxnSpPr>
        <p:spPr>
          <a:xfrm>
            <a:off x="8517277" y="4585159"/>
            <a:ext cx="216270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4702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33B50A-2B78-4599-9265-45A8CAEE8E1D}"/>
              </a:ext>
            </a:extLst>
          </p:cNvPr>
          <p:cNvSpPr>
            <a:spLocks noGrp="1"/>
          </p:cNvSpPr>
          <p:nvPr>
            <p:ph type="title"/>
          </p:nvPr>
        </p:nvSpPr>
        <p:spPr/>
        <p:txBody>
          <a:bodyPr/>
          <a:lstStyle/>
          <a:p>
            <a:r>
              <a:rPr lang="es-MX" altLang="es-AR" b="1" dirty="0">
                <a:cs typeface="Arial" charset="0"/>
              </a:rPr>
              <a:t>BENEFICIO DEL EMPRESARIO</a:t>
            </a:r>
            <a:endParaRPr lang="es-AR" dirty="0"/>
          </a:p>
        </p:txBody>
      </p:sp>
      <p:sp>
        <p:nvSpPr>
          <p:cNvPr id="4" name="Marcador de número de diapositiva 3">
            <a:extLst>
              <a:ext uri="{FF2B5EF4-FFF2-40B4-BE49-F238E27FC236}">
                <a16:creationId xmlns:a16="http://schemas.microsoft.com/office/drawing/2014/main" id="{EAA8764D-9342-425C-9DFD-32407A83B340}"/>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
        <p:nvSpPr>
          <p:cNvPr id="6" name="CuadroTexto 5">
            <a:extLst>
              <a:ext uri="{FF2B5EF4-FFF2-40B4-BE49-F238E27FC236}">
                <a16:creationId xmlns:a16="http://schemas.microsoft.com/office/drawing/2014/main" id="{77FFFA9B-39FF-499B-883B-D2549DB59388}"/>
              </a:ext>
            </a:extLst>
          </p:cNvPr>
          <p:cNvSpPr txBox="1"/>
          <p:nvPr/>
        </p:nvSpPr>
        <p:spPr>
          <a:xfrm>
            <a:off x="1571945" y="2126751"/>
            <a:ext cx="8558373" cy="369332"/>
          </a:xfrm>
          <a:prstGeom prst="rect">
            <a:avLst/>
          </a:prstGeom>
          <a:noFill/>
        </p:spPr>
        <p:txBody>
          <a:bodyPr wrap="square" rtlCol="0">
            <a:spAutoFit/>
          </a:bodyPr>
          <a:lstStyle/>
          <a:p>
            <a:r>
              <a:rPr lang="es-AR" b="1" dirty="0"/>
              <a:t>c) B = CTE = k</a:t>
            </a:r>
          </a:p>
        </p:txBody>
      </p:sp>
      <p:sp>
        <p:nvSpPr>
          <p:cNvPr id="7" name="CuadroTexto 6">
            <a:extLst>
              <a:ext uri="{FF2B5EF4-FFF2-40B4-BE49-F238E27FC236}">
                <a16:creationId xmlns:a16="http://schemas.microsoft.com/office/drawing/2014/main" id="{133ACE77-1F2D-424D-83E2-B5329451B69D}"/>
              </a:ext>
            </a:extLst>
          </p:cNvPr>
          <p:cNvSpPr txBox="1"/>
          <p:nvPr/>
        </p:nvSpPr>
        <p:spPr>
          <a:xfrm>
            <a:off x="1890445" y="2533168"/>
            <a:ext cx="6380251" cy="369332"/>
          </a:xfrm>
          <a:prstGeom prst="rect">
            <a:avLst/>
          </a:prstGeom>
          <a:noFill/>
        </p:spPr>
        <p:txBody>
          <a:bodyPr wrap="square" rtlCol="0">
            <a:spAutoFit/>
          </a:bodyPr>
          <a:lstStyle/>
          <a:p>
            <a:r>
              <a:rPr lang="es-AR" dirty="0"/>
              <a:t>B = IT - CT</a:t>
            </a:r>
          </a:p>
        </p:txBody>
      </p:sp>
      <p:sp>
        <p:nvSpPr>
          <p:cNvPr id="8" name="CuadroTexto 7">
            <a:extLst>
              <a:ext uri="{FF2B5EF4-FFF2-40B4-BE49-F238E27FC236}">
                <a16:creationId xmlns:a16="http://schemas.microsoft.com/office/drawing/2014/main" id="{AE649E5A-862B-495C-987E-3FFFEAA11EC7}"/>
              </a:ext>
            </a:extLst>
          </p:cNvPr>
          <p:cNvSpPr txBox="1"/>
          <p:nvPr/>
        </p:nvSpPr>
        <p:spPr>
          <a:xfrm>
            <a:off x="2561147" y="2963327"/>
            <a:ext cx="5157630" cy="369332"/>
          </a:xfrm>
          <a:prstGeom prst="rect">
            <a:avLst/>
          </a:prstGeom>
          <a:noFill/>
        </p:spPr>
        <p:txBody>
          <a:bodyPr wrap="square" rtlCol="0">
            <a:spAutoFit/>
          </a:bodyPr>
          <a:lstStyle/>
          <a:p>
            <a:r>
              <a:rPr lang="es-AR" dirty="0"/>
              <a:t>k= </a:t>
            </a:r>
            <a:r>
              <a:rPr lang="es-AR" dirty="0" err="1"/>
              <a:t>Pvu</a:t>
            </a:r>
            <a:r>
              <a:rPr lang="es-AR" dirty="0"/>
              <a:t> x q  - CF - </a:t>
            </a:r>
            <a:r>
              <a:rPr lang="es-AR" dirty="0" err="1"/>
              <a:t>Cvu</a:t>
            </a:r>
            <a:r>
              <a:rPr lang="es-AR" dirty="0"/>
              <a:t> x q</a:t>
            </a:r>
          </a:p>
        </p:txBody>
      </p:sp>
      <p:sp>
        <p:nvSpPr>
          <p:cNvPr id="9" name="CuadroTexto 8">
            <a:extLst>
              <a:ext uri="{FF2B5EF4-FFF2-40B4-BE49-F238E27FC236}">
                <a16:creationId xmlns:a16="http://schemas.microsoft.com/office/drawing/2014/main" id="{FC89C65F-F530-4186-9502-0B3BE934C11E}"/>
              </a:ext>
            </a:extLst>
          </p:cNvPr>
          <p:cNvSpPr txBox="1"/>
          <p:nvPr/>
        </p:nvSpPr>
        <p:spPr>
          <a:xfrm>
            <a:off x="2561147" y="3571082"/>
            <a:ext cx="5322018" cy="369332"/>
          </a:xfrm>
          <a:prstGeom prst="rect">
            <a:avLst/>
          </a:prstGeom>
          <a:noFill/>
        </p:spPr>
        <p:txBody>
          <a:bodyPr wrap="square" rtlCol="0">
            <a:spAutoFit/>
          </a:bodyPr>
          <a:lstStyle/>
          <a:p>
            <a:r>
              <a:rPr lang="es-AR" dirty="0"/>
              <a:t>k - </a:t>
            </a:r>
            <a:r>
              <a:rPr lang="es-AR" dirty="0" err="1"/>
              <a:t>Pvu</a:t>
            </a:r>
            <a:r>
              <a:rPr lang="es-AR" dirty="0"/>
              <a:t> x q = - CF - </a:t>
            </a:r>
            <a:r>
              <a:rPr lang="es-AR" dirty="0" err="1"/>
              <a:t>Cvu</a:t>
            </a:r>
            <a:r>
              <a:rPr lang="es-AR" dirty="0"/>
              <a:t> x q</a:t>
            </a:r>
          </a:p>
        </p:txBody>
      </p:sp>
      <p:sp>
        <p:nvSpPr>
          <p:cNvPr id="10" name="CuadroTexto 9">
            <a:extLst>
              <a:ext uri="{FF2B5EF4-FFF2-40B4-BE49-F238E27FC236}">
                <a16:creationId xmlns:a16="http://schemas.microsoft.com/office/drawing/2014/main" id="{EE9D6F59-90D8-4C0F-B9C3-C8429026A099}"/>
              </a:ext>
            </a:extLst>
          </p:cNvPr>
          <p:cNvSpPr txBox="1"/>
          <p:nvPr/>
        </p:nvSpPr>
        <p:spPr>
          <a:xfrm>
            <a:off x="2561147" y="4176402"/>
            <a:ext cx="5322018" cy="369332"/>
          </a:xfrm>
          <a:prstGeom prst="rect">
            <a:avLst/>
          </a:prstGeom>
          <a:noFill/>
        </p:spPr>
        <p:txBody>
          <a:bodyPr wrap="square" rtlCol="0">
            <a:spAutoFit/>
          </a:bodyPr>
          <a:lstStyle/>
          <a:p>
            <a:r>
              <a:rPr lang="es-AR" dirty="0"/>
              <a:t>- </a:t>
            </a:r>
            <a:r>
              <a:rPr lang="es-AR" dirty="0" err="1"/>
              <a:t>Pvu</a:t>
            </a:r>
            <a:r>
              <a:rPr lang="es-AR" dirty="0"/>
              <a:t> x q = - CF – k - </a:t>
            </a:r>
            <a:r>
              <a:rPr lang="es-AR" dirty="0" err="1"/>
              <a:t>Cvu</a:t>
            </a:r>
            <a:r>
              <a:rPr lang="es-AR" dirty="0"/>
              <a:t> x q</a:t>
            </a:r>
          </a:p>
        </p:txBody>
      </p:sp>
      <p:sp>
        <p:nvSpPr>
          <p:cNvPr id="11" name="CuadroTexto 10">
            <a:extLst>
              <a:ext uri="{FF2B5EF4-FFF2-40B4-BE49-F238E27FC236}">
                <a16:creationId xmlns:a16="http://schemas.microsoft.com/office/drawing/2014/main" id="{5CC6D0A7-2557-4965-A295-E71E478E1023}"/>
              </a:ext>
            </a:extLst>
          </p:cNvPr>
          <p:cNvSpPr txBox="1"/>
          <p:nvPr/>
        </p:nvSpPr>
        <p:spPr>
          <a:xfrm>
            <a:off x="2561147" y="4780389"/>
            <a:ext cx="5352846" cy="369332"/>
          </a:xfrm>
          <a:prstGeom prst="rect">
            <a:avLst/>
          </a:prstGeom>
          <a:noFill/>
        </p:spPr>
        <p:txBody>
          <a:bodyPr wrap="square" rtlCol="0">
            <a:spAutoFit/>
          </a:bodyPr>
          <a:lstStyle/>
          <a:p>
            <a:r>
              <a:rPr lang="es-AR" dirty="0"/>
              <a:t>- </a:t>
            </a:r>
            <a:r>
              <a:rPr lang="es-AR" dirty="0" err="1"/>
              <a:t>Pvu</a:t>
            </a:r>
            <a:r>
              <a:rPr lang="es-AR" dirty="0"/>
              <a:t> x q + </a:t>
            </a:r>
            <a:r>
              <a:rPr lang="es-AR" dirty="0" err="1"/>
              <a:t>Cvu</a:t>
            </a:r>
            <a:r>
              <a:rPr lang="es-AR" dirty="0"/>
              <a:t> x q = - CF - k</a:t>
            </a:r>
          </a:p>
        </p:txBody>
      </p:sp>
      <p:sp>
        <p:nvSpPr>
          <p:cNvPr id="13" name="CuadroTexto 12">
            <a:extLst>
              <a:ext uri="{FF2B5EF4-FFF2-40B4-BE49-F238E27FC236}">
                <a16:creationId xmlns:a16="http://schemas.microsoft.com/office/drawing/2014/main" id="{BBE02E3D-E498-497C-B8E6-493013F1D616}"/>
              </a:ext>
            </a:extLst>
          </p:cNvPr>
          <p:cNvSpPr txBox="1"/>
          <p:nvPr/>
        </p:nvSpPr>
        <p:spPr>
          <a:xfrm>
            <a:off x="7700706" y="2971603"/>
            <a:ext cx="4078851" cy="369332"/>
          </a:xfrm>
          <a:prstGeom prst="rect">
            <a:avLst/>
          </a:prstGeom>
          <a:noFill/>
        </p:spPr>
        <p:txBody>
          <a:bodyPr wrap="square" rtlCol="0">
            <a:spAutoFit/>
          </a:bodyPr>
          <a:lstStyle/>
          <a:p>
            <a:r>
              <a:rPr lang="es-AR" dirty="0"/>
              <a:t>(- </a:t>
            </a:r>
            <a:r>
              <a:rPr lang="es-AR" dirty="0" err="1"/>
              <a:t>Pvu</a:t>
            </a:r>
            <a:r>
              <a:rPr lang="es-AR" dirty="0"/>
              <a:t> + </a:t>
            </a:r>
            <a:r>
              <a:rPr lang="es-AR" dirty="0" err="1"/>
              <a:t>Cvu</a:t>
            </a:r>
            <a:r>
              <a:rPr lang="es-AR" dirty="0"/>
              <a:t>) q = - CF - k</a:t>
            </a:r>
          </a:p>
        </p:txBody>
      </p:sp>
      <p:sp>
        <p:nvSpPr>
          <p:cNvPr id="15" name="CuadroTexto 14">
            <a:extLst>
              <a:ext uri="{FF2B5EF4-FFF2-40B4-BE49-F238E27FC236}">
                <a16:creationId xmlns:a16="http://schemas.microsoft.com/office/drawing/2014/main" id="{DEAC3FE0-8392-4B13-9D19-840876D1051D}"/>
              </a:ext>
            </a:extLst>
          </p:cNvPr>
          <p:cNvSpPr txBox="1"/>
          <p:nvPr/>
        </p:nvSpPr>
        <p:spPr>
          <a:xfrm>
            <a:off x="7726167" y="4390986"/>
            <a:ext cx="678094" cy="369332"/>
          </a:xfrm>
          <a:prstGeom prst="rect">
            <a:avLst/>
          </a:prstGeom>
          <a:noFill/>
        </p:spPr>
        <p:txBody>
          <a:bodyPr wrap="square" rtlCol="0">
            <a:spAutoFit/>
          </a:bodyPr>
          <a:lstStyle/>
          <a:p>
            <a:r>
              <a:rPr lang="es-AR" b="1" dirty="0" err="1"/>
              <a:t>q</a:t>
            </a:r>
            <a:r>
              <a:rPr lang="es-AR" sz="1400" b="1" dirty="0" err="1"/>
              <a:t>c</a:t>
            </a:r>
            <a:endParaRPr lang="es-AR" sz="1400" b="1" dirty="0"/>
          </a:p>
        </p:txBody>
      </p:sp>
      <p:sp>
        <p:nvSpPr>
          <p:cNvPr id="16" name="CuadroTexto 15">
            <a:extLst>
              <a:ext uri="{FF2B5EF4-FFF2-40B4-BE49-F238E27FC236}">
                <a16:creationId xmlns:a16="http://schemas.microsoft.com/office/drawing/2014/main" id="{AF36D1CD-1EB6-40BC-A039-E130BE11720E}"/>
              </a:ext>
            </a:extLst>
          </p:cNvPr>
          <p:cNvSpPr txBox="1"/>
          <p:nvPr/>
        </p:nvSpPr>
        <p:spPr>
          <a:xfrm>
            <a:off x="8126858" y="4400493"/>
            <a:ext cx="554805" cy="369332"/>
          </a:xfrm>
          <a:prstGeom prst="rect">
            <a:avLst/>
          </a:prstGeom>
          <a:noFill/>
        </p:spPr>
        <p:txBody>
          <a:bodyPr wrap="square" rtlCol="0">
            <a:spAutoFit/>
          </a:bodyPr>
          <a:lstStyle/>
          <a:p>
            <a:r>
              <a:rPr lang="es-AR" b="1" dirty="0"/>
              <a:t>=</a:t>
            </a:r>
          </a:p>
        </p:txBody>
      </p:sp>
      <p:sp>
        <p:nvSpPr>
          <p:cNvPr id="17" name="CuadroTexto 16">
            <a:extLst>
              <a:ext uri="{FF2B5EF4-FFF2-40B4-BE49-F238E27FC236}">
                <a16:creationId xmlns:a16="http://schemas.microsoft.com/office/drawing/2014/main" id="{0B71CAF5-F632-4903-9B96-72C9557D94F1}"/>
              </a:ext>
            </a:extLst>
          </p:cNvPr>
          <p:cNvSpPr txBox="1"/>
          <p:nvPr/>
        </p:nvSpPr>
        <p:spPr>
          <a:xfrm>
            <a:off x="8804952" y="4169661"/>
            <a:ext cx="1880172" cy="369332"/>
          </a:xfrm>
          <a:prstGeom prst="rect">
            <a:avLst/>
          </a:prstGeom>
          <a:noFill/>
        </p:spPr>
        <p:txBody>
          <a:bodyPr wrap="square" rtlCol="0">
            <a:spAutoFit/>
          </a:bodyPr>
          <a:lstStyle/>
          <a:p>
            <a:r>
              <a:rPr lang="es-AR" b="1" dirty="0"/>
              <a:t> CF + k</a:t>
            </a:r>
          </a:p>
        </p:txBody>
      </p:sp>
      <p:sp>
        <p:nvSpPr>
          <p:cNvPr id="18" name="CuadroTexto 17">
            <a:extLst>
              <a:ext uri="{FF2B5EF4-FFF2-40B4-BE49-F238E27FC236}">
                <a16:creationId xmlns:a16="http://schemas.microsoft.com/office/drawing/2014/main" id="{D77F1A33-BEC8-4094-A923-06F687B8C7B2}"/>
              </a:ext>
            </a:extLst>
          </p:cNvPr>
          <p:cNvSpPr txBox="1"/>
          <p:nvPr/>
        </p:nvSpPr>
        <p:spPr>
          <a:xfrm>
            <a:off x="8700628" y="4677492"/>
            <a:ext cx="1880172" cy="369332"/>
          </a:xfrm>
          <a:prstGeom prst="rect">
            <a:avLst/>
          </a:prstGeom>
          <a:noFill/>
        </p:spPr>
        <p:txBody>
          <a:bodyPr wrap="square" rtlCol="0">
            <a:spAutoFit/>
          </a:bodyPr>
          <a:lstStyle/>
          <a:p>
            <a:r>
              <a:rPr lang="es-AR" b="1" dirty="0"/>
              <a:t> </a:t>
            </a:r>
            <a:r>
              <a:rPr lang="es-AR" b="1" dirty="0" err="1"/>
              <a:t>Pvu</a:t>
            </a:r>
            <a:r>
              <a:rPr lang="es-AR" b="1" dirty="0"/>
              <a:t> - </a:t>
            </a:r>
            <a:r>
              <a:rPr lang="es-AR" b="1" dirty="0" err="1"/>
              <a:t>Cvu</a:t>
            </a:r>
            <a:endParaRPr lang="es-AR" b="1" dirty="0"/>
          </a:p>
        </p:txBody>
      </p:sp>
      <p:cxnSp>
        <p:nvCxnSpPr>
          <p:cNvPr id="20" name="Conector recto 19">
            <a:extLst>
              <a:ext uri="{FF2B5EF4-FFF2-40B4-BE49-F238E27FC236}">
                <a16:creationId xmlns:a16="http://schemas.microsoft.com/office/drawing/2014/main" id="{5D026D95-FAE9-4243-AF18-3B2A28559953}"/>
              </a:ext>
            </a:extLst>
          </p:cNvPr>
          <p:cNvCxnSpPr/>
          <p:nvPr/>
        </p:nvCxnSpPr>
        <p:spPr>
          <a:xfrm>
            <a:off x="8517277" y="4585159"/>
            <a:ext cx="216270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1216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Text Box 4">
            <a:extLst>
              <a:ext uri="{FF2B5EF4-FFF2-40B4-BE49-F238E27FC236}">
                <a16:creationId xmlns:a16="http://schemas.microsoft.com/office/drawing/2014/main" id="{5FAF105E-4393-419F-92F4-FFB94DB22D0B}"/>
              </a:ext>
            </a:extLst>
          </p:cNvPr>
          <p:cNvSpPr txBox="1">
            <a:spLocks noChangeArrowheads="1"/>
          </p:cNvSpPr>
          <p:nvPr/>
        </p:nvSpPr>
        <p:spPr bwMode="auto">
          <a:xfrm>
            <a:off x="1387476" y="185738"/>
            <a:ext cx="78771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85000"/>
                    <a:lumOff val="15000"/>
                  </a:schemeClr>
                </a:solidFill>
                <a:latin typeface="+mj-lt"/>
                <a:cs typeface="Arial" charset="0"/>
              </a:rPr>
              <a:t>SENSIBILIDAD DE LOS COSTOS</a:t>
            </a:r>
          </a:p>
        </p:txBody>
      </p:sp>
      <p:sp>
        <p:nvSpPr>
          <p:cNvPr id="24614" name="Text Box 38">
            <a:extLst>
              <a:ext uri="{FF2B5EF4-FFF2-40B4-BE49-F238E27FC236}">
                <a16:creationId xmlns:a16="http://schemas.microsoft.com/office/drawing/2014/main" id="{27A0EB2C-5F2C-40EA-B2EE-AFFBEFB6C9B5}"/>
              </a:ext>
            </a:extLst>
          </p:cNvPr>
          <p:cNvSpPr txBox="1">
            <a:spLocks noChangeArrowheads="1"/>
          </p:cNvSpPr>
          <p:nvPr/>
        </p:nvSpPr>
        <p:spPr bwMode="auto">
          <a:xfrm>
            <a:off x="2099653" y="4541337"/>
            <a:ext cx="30083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600" b="1" dirty="0">
                <a:solidFill>
                  <a:schemeClr val="tx1">
                    <a:lumMod val="85000"/>
                    <a:lumOff val="15000"/>
                  </a:schemeClr>
                </a:solidFill>
              </a:rPr>
              <a:t>POTENCIAL DE BENEFICIO</a:t>
            </a:r>
            <a:endParaRPr lang="es-ES" altLang="es-AR" sz="1600" b="1" dirty="0">
              <a:solidFill>
                <a:schemeClr val="tx1">
                  <a:lumMod val="85000"/>
                  <a:lumOff val="15000"/>
                </a:schemeClr>
              </a:solidFill>
            </a:endParaRPr>
          </a:p>
        </p:txBody>
      </p:sp>
      <p:sp>
        <p:nvSpPr>
          <p:cNvPr id="2" name="CuadroTexto 1">
            <a:extLst>
              <a:ext uri="{FF2B5EF4-FFF2-40B4-BE49-F238E27FC236}">
                <a16:creationId xmlns:a16="http://schemas.microsoft.com/office/drawing/2014/main" id="{9B135F2F-E4E4-4392-999B-CFB8C7808FCD}"/>
              </a:ext>
            </a:extLst>
          </p:cNvPr>
          <p:cNvSpPr txBox="1"/>
          <p:nvPr/>
        </p:nvSpPr>
        <p:spPr>
          <a:xfrm>
            <a:off x="1387476" y="1547446"/>
            <a:ext cx="8547832" cy="2031325"/>
          </a:xfrm>
          <a:prstGeom prst="rect">
            <a:avLst/>
          </a:prstGeom>
          <a:noFill/>
        </p:spPr>
        <p:txBody>
          <a:bodyPr wrap="square" rtlCol="0">
            <a:spAutoFit/>
          </a:bodyPr>
          <a:lstStyle/>
          <a:p>
            <a:r>
              <a:rPr lang="es-AR" dirty="0"/>
              <a:t>Para evaluar la sensibilidad de los costos nos valdremos de una herramienta llamada </a:t>
            </a:r>
            <a:r>
              <a:rPr lang="es-AR" b="1" dirty="0"/>
              <a:t>Potencial de Beneficio</a:t>
            </a:r>
          </a:p>
          <a:p>
            <a:r>
              <a:rPr lang="es-AR" dirty="0"/>
              <a:t>Nos determina la relación existente entre dos superficies determinadas por:</a:t>
            </a:r>
          </a:p>
          <a:p>
            <a:pPr marL="285750" indent="-285750">
              <a:buClr>
                <a:srgbClr val="92D050"/>
              </a:buClr>
              <a:buFont typeface="Arial" panose="020B0604020202020204" pitchFamily="34" charset="0"/>
              <a:buChar char="•"/>
            </a:pPr>
            <a:r>
              <a:rPr lang="es-AR" dirty="0"/>
              <a:t> los limites de la capacidad instalada</a:t>
            </a:r>
          </a:p>
          <a:p>
            <a:pPr marL="285750" indent="-285750">
              <a:buClr>
                <a:srgbClr val="92D050"/>
              </a:buClr>
              <a:buFont typeface="Arial" panose="020B0604020202020204" pitchFamily="34" charset="0"/>
              <a:buChar char="•"/>
            </a:pPr>
            <a:r>
              <a:rPr lang="es-AR" dirty="0"/>
              <a:t> los ingresos totales</a:t>
            </a:r>
          </a:p>
          <a:p>
            <a:pPr marL="285750" indent="-285750">
              <a:buClr>
                <a:srgbClr val="92D050"/>
              </a:buClr>
              <a:buFont typeface="Arial" panose="020B0604020202020204" pitchFamily="34" charset="0"/>
              <a:buChar char="•"/>
            </a:pPr>
            <a:r>
              <a:rPr lang="es-AR" dirty="0"/>
              <a:t> el costo fijo total </a:t>
            </a:r>
          </a:p>
          <a:p>
            <a:pPr marL="285750" indent="-285750">
              <a:buClr>
                <a:srgbClr val="92D050"/>
              </a:buClr>
              <a:buFont typeface="Arial" panose="020B0604020202020204" pitchFamily="34" charset="0"/>
              <a:buChar char="•"/>
            </a:pPr>
            <a:r>
              <a:rPr lang="es-AR" dirty="0"/>
              <a:t> el punto de equilibrio</a:t>
            </a:r>
          </a:p>
        </p:txBody>
      </p:sp>
      <p:sp>
        <p:nvSpPr>
          <p:cNvPr id="3" name="CuadroTexto 2">
            <a:extLst>
              <a:ext uri="{FF2B5EF4-FFF2-40B4-BE49-F238E27FC236}">
                <a16:creationId xmlns:a16="http://schemas.microsoft.com/office/drawing/2014/main" id="{33745903-0A34-424D-8B65-BB917ABE291F}"/>
              </a:ext>
            </a:extLst>
          </p:cNvPr>
          <p:cNvSpPr txBox="1"/>
          <p:nvPr/>
        </p:nvSpPr>
        <p:spPr>
          <a:xfrm>
            <a:off x="5046785" y="4539414"/>
            <a:ext cx="246184" cy="369332"/>
          </a:xfrm>
          <a:prstGeom prst="rect">
            <a:avLst/>
          </a:prstGeom>
          <a:noFill/>
        </p:spPr>
        <p:txBody>
          <a:bodyPr wrap="square" rtlCol="0">
            <a:spAutoFit/>
          </a:bodyPr>
          <a:lstStyle/>
          <a:p>
            <a:r>
              <a:rPr lang="es-AR" dirty="0"/>
              <a:t>=</a:t>
            </a:r>
          </a:p>
        </p:txBody>
      </p:sp>
      <p:sp>
        <p:nvSpPr>
          <p:cNvPr id="40" name="Text Box 38">
            <a:extLst>
              <a:ext uri="{FF2B5EF4-FFF2-40B4-BE49-F238E27FC236}">
                <a16:creationId xmlns:a16="http://schemas.microsoft.com/office/drawing/2014/main" id="{6C0B6089-513F-423E-AC32-1B0C22C04676}"/>
              </a:ext>
            </a:extLst>
          </p:cNvPr>
          <p:cNvSpPr txBox="1">
            <a:spLocks noChangeArrowheads="1"/>
          </p:cNvSpPr>
          <p:nvPr/>
        </p:nvSpPr>
        <p:spPr bwMode="auto">
          <a:xfrm>
            <a:off x="5644662" y="4272105"/>
            <a:ext cx="30083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600" b="1" dirty="0">
                <a:solidFill>
                  <a:schemeClr val="tx1">
                    <a:lumMod val="85000"/>
                    <a:lumOff val="15000"/>
                  </a:schemeClr>
                </a:solidFill>
              </a:rPr>
              <a:t>AREA DE BENEFICIO</a:t>
            </a:r>
            <a:endParaRPr lang="es-ES" altLang="es-AR" sz="1600" b="1" dirty="0">
              <a:solidFill>
                <a:schemeClr val="tx1">
                  <a:lumMod val="85000"/>
                  <a:lumOff val="15000"/>
                </a:schemeClr>
              </a:solidFill>
            </a:endParaRPr>
          </a:p>
        </p:txBody>
      </p:sp>
      <p:sp>
        <p:nvSpPr>
          <p:cNvPr id="41" name="Text Box 38">
            <a:extLst>
              <a:ext uri="{FF2B5EF4-FFF2-40B4-BE49-F238E27FC236}">
                <a16:creationId xmlns:a16="http://schemas.microsoft.com/office/drawing/2014/main" id="{80999160-2C3D-401A-9340-1AEE856103AF}"/>
              </a:ext>
            </a:extLst>
          </p:cNvPr>
          <p:cNvSpPr txBox="1">
            <a:spLocks noChangeArrowheads="1"/>
          </p:cNvSpPr>
          <p:nvPr/>
        </p:nvSpPr>
        <p:spPr bwMode="auto">
          <a:xfrm>
            <a:off x="5741927" y="4829780"/>
            <a:ext cx="30083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600" b="1" dirty="0">
                <a:solidFill>
                  <a:schemeClr val="tx1">
                    <a:lumMod val="85000"/>
                    <a:lumOff val="15000"/>
                  </a:schemeClr>
                </a:solidFill>
              </a:rPr>
              <a:t>AREA DE QUEBRANTO</a:t>
            </a:r>
            <a:endParaRPr lang="es-ES" altLang="es-AR" sz="1600" b="1" dirty="0">
              <a:solidFill>
                <a:schemeClr val="tx1">
                  <a:lumMod val="85000"/>
                  <a:lumOff val="15000"/>
                </a:schemeClr>
              </a:solidFill>
            </a:endParaRPr>
          </a:p>
        </p:txBody>
      </p:sp>
      <p:cxnSp>
        <p:nvCxnSpPr>
          <p:cNvPr id="5" name="Conector recto 4">
            <a:extLst>
              <a:ext uri="{FF2B5EF4-FFF2-40B4-BE49-F238E27FC236}">
                <a16:creationId xmlns:a16="http://schemas.microsoft.com/office/drawing/2014/main" id="{6EA3AE99-2930-4ABF-88F9-22A8E79B0CAD}"/>
              </a:ext>
            </a:extLst>
          </p:cNvPr>
          <p:cNvCxnSpPr/>
          <p:nvPr/>
        </p:nvCxnSpPr>
        <p:spPr>
          <a:xfrm flipV="1">
            <a:off x="5474433" y="4695144"/>
            <a:ext cx="3543300" cy="28936"/>
          </a:xfrm>
          <a:prstGeom prst="line">
            <a:avLst/>
          </a:prstGeom>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2B62C6E6-EE77-441D-9B9B-6D127DB9F7F5}"/>
              </a:ext>
            </a:extLst>
          </p:cNvPr>
          <p:cNvSpPr txBox="1"/>
          <p:nvPr/>
        </p:nvSpPr>
        <p:spPr>
          <a:xfrm>
            <a:off x="1964987" y="972766"/>
            <a:ext cx="5145932" cy="400110"/>
          </a:xfrm>
          <a:prstGeom prst="rect">
            <a:avLst/>
          </a:prstGeom>
          <a:noFill/>
        </p:spPr>
        <p:txBody>
          <a:bodyPr wrap="square" rtlCol="0">
            <a:spAutoFit/>
          </a:bodyPr>
          <a:lstStyle/>
          <a:p>
            <a:r>
              <a:rPr lang="es-AR" sz="2000" b="1" dirty="0"/>
              <a:t>POTENCIAL DE BENEFICIO</a:t>
            </a:r>
          </a:p>
        </p:txBody>
      </p:sp>
      <p:sp>
        <p:nvSpPr>
          <p:cNvPr id="7" name="Marcador de número de diapositiva 6">
            <a:extLst>
              <a:ext uri="{FF2B5EF4-FFF2-40B4-BE49-F238E27FC236}">
                <a16:creationId xmlns:a16="http://schemas.microsoft.com/office/drawing/2014/main" id="{18A8DF9A-9777-4C3B-9A0E-8F6127EA0273}"/>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26946612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614"/>
                                        </p:tgtEl>
                                        <p:attrNameLst>
                                          <p:attrName>style.visibility</p:attrName>
                                        </p:attrNameLst>
                                      </p:cBhvr>
                                      <p:to>
                                        <p:strVal val="visible"/>
                                      </p:to>
                                    </p:set>
                                    <p:animEffect transition="in" filter="blinds(horizontal)">
                                      <p:cBhvr>
                                        <p:cTn id="7" dur="500"/>
                                        <p:tgtEl>
                                          <p:spTgt spid="2461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blinds(horizontal)">
                                      <p:cBhvr>
                                        <p:cTn id="12" dur="5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blinds(horizontal)">
                                      <p:cBhvr>
                                        <p:cTn id="1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14" grpId="0"/>
      <p:bldP spid="40" grpId="0"/>
      <p:bldP spid="4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0" name="Text Box 34">
            <a:extLst>
              <a:ext uri="{FF2B5EF4-FFF2-40B4-BE49-F238E27FC236}">
                <a16:creationId xmlns:a16="http://schemas.microsoft.com/office/drawing/2014/main" id="{DF8DEC8B-8C62-48DD-8F47-D77661FD4D64}"/>
              </a:ext>
            </a:extLst>
          </p:cNvPr>
          <p:cNvSpPr txBox="1">
            <a:spLocks noChangeArrowheads="1"/>
          </p:cNvSpPr>
          <p:nvPr/>
        </p:nvSpPr>
        <p:spPr bwMode="auto">
          <a:xfrm>
            <a:off x="1364043" y="207869"/>
            <a:ext cx="871620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defRPr/>
            </a:pPr>
            <a:r>
              <a:rPr lang="es-MX" altLang="es-AR" sz="3600" b="1" dirty="0">
                <a:solidFill>
                  <a:schemeClr val="tx1">
                    <a:lumMod val="85000"/>
                    <a:lumOff val="15000"/>
                  </a:schemeClr>
                </a:solidFill>
                <a:cs typeface="Arial" charset="0"/>
              </a:rPr>
              <a:t>SENSIBILIDAD DE LOS COSTOS</a:t>
            </a:r>
          </a:p>
        </p:txBody>
      </p:sp>
      <p:sp>
        <p:nvSpPr>
          <p:cNvPr id="4142" name="Line 46">
            <a:extLst>
              <a:ext uri="{FF2B5EF4-FFF2-40B4-BE49-F238E27FC236}">
                <a16:creationId xmlns:a16="http://schemas.microsoft.com/office/drawing/2014/main" id="{0CDA32AA-E3D7-4C57-9BB5-F424B94EC99F}"/>
              </a:ext>
            </a:extLst>
          </p:cNvPr>
          <p:cNvSpPr>
            <a:spLocks noChangeShapeType="1"/>
          </p:cNvSpPr>
          <p:nvPr/>
        </p:nvSpPr>
        <p:spPr bwMode="auto">
          <a:xfrm flipH="1" flipV="1">
            <a:off x="2559050" y="2149694"/>
            <a:ext cx="0" cy="417671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4143" name="Line 47">
            <a:extLst>
              <a:ext uri="{FF2B5EF4-FFF2-40B4-BE49-F238E27FC236}">
                <a16:creationId xmlns:a16="http://schemas.microsoft.com/office/drawing/2014/main" id="{9307C678-910A-4BF1-A188-E3E6FEF68821}"/>
              </a:ext>
            </a:extLst>
          </p:cNvPr>
          <p:cNvSpPr>
            <a:spLocks noChangeShapeType="1"/>
          </p:cNvSpPr>
          <p:nvPr/>
        </p:nvSpPr>
        <p:spPr bwMode="auto">
          <a:xfrm>
            <a:off x="2343150" y="6181944"/>
            <a:ext cx="424815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4144" name="Text Box 48">
            <a:extLst>
              <a:ext uri="{FF2B5EF4-FFF2-40B4-BE49-F238E27FC236}">
                <a16:creationId xmlns:a16="http://schemas.microsoft.com/office/drawing/2014/main" id="{ED7CB7C6-B0EC-4B47-9BCB-7AA2F3E5344B}"/>
              </a:ext>
            </a:extLst>
          </p:cNvPr>
          <p:cNvSpPr txBox="1">
            <a:spLocks noChangeArrowheads="1"/>
          </p:cNvSpPr>
          <p:nvPr/>
        </p:nvSpPr>
        <p:spPr bwMode="auto">
          <a:xfrm>
            <a:off x="3071591" y="6253381"/>
            <a:ext cx="26638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600" b="1">
                <a:latin typeface="Tahoma" panose="020B0604030504040204" pitchFamily="34" charset="0"/>
              </a:rPr>
              <a:t> qo</a:t>
            </a:r>
            <a:endParaRPr lang="es-ES" altLang="es-AR" sz="1600" b="1">
              <a:latin typeface="Tahoma" panose="020B0604030504040204" pitchFamily="34" charset="0"/>
            </a:endParaRPr>
          </a:p>
        </p:txBody>
      </p:sp>
      <p:sp>
        <p:nvSpPr>
          <p:cNvPr id="4145" name="Line 49">
            <a:extLst>
              <a:ext uri="{FF2B5EF4-FFF2-40B4-BE49-F238E27FC236}">
                <a16:creationId xmlns:a16="http://schemas.microsoft.com/office/drawing/2014/main" id="{3F3A3F08-BCB2-472B-A9B4-F44E5A8D68EB}"/>
              </a:ext>
            </a:extLst>
          </p:cNvPr>
          <p:cNvSpPr>
            <a:spLocks noChangeShapeType="1"/>
          </p:cNvSpPr>
          <p:nvPr/>
        </p:nvSpPr>
        <p:spPr bwMode="auto">
          <a:xfrm>
            <a:off x="2543175" y="5173881"/>
            <a:ext cx="3887788"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4148" name="Line 52">
            <a:extLst>
              <a:ext uri="{FF2B5EF4-FFF2-40B4-BE49-F238E27FC236}">
                <a16:creationId xmlns:a16="http://schemas.microsoft.com/office/drawing/2014/main" id="{4307CD91-D7ED-4703-9943-5E9BB96FD9D7}"/>
              </a:ext>
            </a:extLst>
          </p:cNvPr>
          <p:cNvSpPr>
            <a:spLocks noChangeShapeType="1"/>
          </p:cNvSpPr>
          <p:nvPr/>
        </p:nvSpPr>
        <p:spPr bwMode="auto">
          <a:xfrm flipV="1">
            <a:off x="2559050" y="3564157"/>
            <a:ext cx="3887788" cy="1609725"/>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4150" name="Text Box 54">
            <a:extLst>
              <a:ext uri="{FF2B5EF4-FFF2-40B4-BE49-F238E27FC236}">
                <a16:creationId xmlns:a16="http://schemas.microsoft.com/office/drawing/2014/main" id="{5404DBAB-EBED-475F-AD00-75CD41E3334D}"/>
              </a:ext>
            </a:extLst>
          </p:cNvPr>
          <p:cNvSpPr txBox="1">
            <a:spLocks noChangeArrowheads="1"/>
          </p:cNvSpPr>
          <p:nvPr/>
        </p:nvSpPr>
        <p:spPr bwMode="auto">
          <a:xfrm>
            <a:off x="6513859" y="3437390"/>
            <a:ext cx="1943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dirty="0">
                <a:solidFill>
                  <a:srgbClr val="FF0000"/>
                </a:solidFill>
                <a:latin typeface="+mj-lt"/>
              </a:rPr>
              <a:t>CT = CF + </a:t>
            </a:r>
            <a:r>
              <a:rPr lang="es-AR" altLang="es-AR" sz="1400" b="1" dirty="0" err="1">
                <a:solidFill>
                  <a:srgbClr val="FF0000"/>
                </a:solidFill>
                <a:latin typeface="+mj-lt"/>
              </a:rPr>
              <a:t>CVu</a:t>
            </a:r>
            <a:r>
              <a:rPr lang="es-AR" altLang="es-AR" sz="1400" b="1" dirty="0">
                <a:solidFill>
                  <a:srgbClr val="FF0000"/>
                </a:solidFill>
                <a:latin typeface="+mj-lt"/>
              </a:rPr>
              <a:t> x q</a:t>
            </a:r>
            <a:endParaRPr lang="es-AR" altLang="es-AR" sz="1400" b="1" dirty="0">
              <a:solidFill>
                <a:srgbClr val="FF0000"/>
              </a:solidFill>
              <a:latin typeface="+mj-lt"/>
              <a:cs typeface="Tahoma" panose="020B0604030504040204" pitchFamily="34" charset="0"/>
            </a:endParaRPr>
          </a:p>
        </p:txBody>
      </p:sp>
      <p:sp>
        <p:nvSpPr>
          <p:cNvPr id="4153" name="Line 57">
            <a:extLst>
              <a:ext uri="{FF2B5EF4-FFF2-40B4-BE49-F238E27FC236}">
                <a16:creationId xmlns:a16="http://schemas.microsoft.com/office/drawing/2014/main" id="{851E6170-E2AD-49BE-9D43-CAC252A62DB2}"/>
              </a:ext>
            </a:extLst>
          </p:cNvPr>
          <p:cNvSpPr>
            <a:spLocks noChangeShapeType="1"/>
          </p:cNvSpPr>
          <p:nvPr/>
        </p:nvSpPr>
        <p:spPr bwMode="auto">
          <a:xfrm flipV="1">
            <a:off x="2559050" y="2413220"/>
            <a:ext cx="3887788" cy="3768725"/>
          </a:xfrm>
          <a:prstGeom prst="line">
            <a:avLst/>
          </a:prstGeom>
          <a:noFill/>
          <a:ln w="28575">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4154" name="Line 58">
            <a:extLst>
              <a:ext uri="{FF2B5EF4-FFF2-40B4-BE49-F238E27FC236}">
                <a16:creationId xmlns:a16="http://schemas.microsoft.com/office/drawing/2014/main" id="{1CFF540F-CFF8-42A7-BB2F-4681C2BC5425}"/>
              </a:ext>
            </a:extLst>
          </p:cNvPr>
          <p:cNvSpPr>
            <a:spLocks noChangeShapeType="1"/>
          </p:cNvSpPr>
          <p:nvPr/>
        </p:nvSpPr>
        <p:spPr bwMode="auto">
          <a:xfrm>
            <a:off x="6446838" y="2413220"/>
            <a:ext cx="0" cy="37433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4155" name="Line 59">
            <a:extLst>
              <a:ext uri="{FF2B5EF4-FFF2-40B4-BE49-F238E27FC236}">
                <a16:creationId xmlns:a16="http://schemas.microsoft.com/office/drawing/2014/main" id="{4F2CE8FA-BB64-49AC-9818-7BE12BED8EDD}"/>
              </a:ext>
            </a:extLst>
          </p:cNvPr>
          <p:cNvSpPr>
            <a:spLocks noChangeShapeType="1"/>
          </p:cNvSpPr>
          <p:nvPr/>
        </p:nvSpPr>
        <p:spPr bwMode="auto">
          <a:xfrm flipH="1">
            <a:off x="2559050" y="2437031"/>
            <a:ext cx="3887788"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4159" name="AutoShape 63">
            <a:extLst>
              <a:ext uri="{FF2B5EF4-FFF2-40B4-BE49-F238E27FC236}">
                <a16:creationId xmlns:a16="http://schemas.microsoft.com/office/drawing/2014/main" id="{F6FF77A3-A087-4C37-8D70-4FD5E8C1C7C2}"/>
              </a:ext>
            </a:extLst>
          </p:cNvPr>
          <p:cNvSpPr>
            <a:spLocks noChangeArrowheads="1"/>
          </p:cNvSpPr>
          <p:nvPr/>
        </p:nvSpPr>
        <p:spPr bwMode="auto">
          <a:xfrm>
            <a:off x="4346576" y="4313457"/>
            <a:ext cx="142875" cy="144463"/>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4160" name="Line 64">
            <a:extLst>
              <a:ext uri="{FF2B5EF4-FFF2-40B4-BE49-F238E27FC236}">
                <a16:creationId xmlns:a16="http://schemas.microsoft.com/office/drawing/2014/main" id="{A90E3963-C287-471E-AB9B-6D7E8DE2AA4D}"/>
              </a:ext>
            </a:extLst>
          </p:cNvPr>
          <p:cNvSpPr>
            <a:spLocks noChangeShapeType="1"/>
          </p:cNvSpPr>
          <p:nvPr/>
        </p:nvSpPr>
        <p:spPr bwMode="auto">
          <a:xfrm flipH="1">
            <a:off x="4429125" y="4356319"/>
            <a:ext cx="1588" cy="1839912"/>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4161" name="Line 65">
            <a:extLst>
              <a:ext uri="{FF2B5EF4-FFF2-40B4-BE49-F238E27FC236}">
                <a16:creationId xmlns:a16="http://schemas.microsoft.com/office/drawing/2014/main" id="{8A330CFC-08AF-4D0A-8B4D-B3355A4412A7}"/>
              </a:ext>
            </a:extLst>
          </p:cNvPr>
          <p:cNvSpPr>
            <a:spLocks noChangeShapeType="1"/>
          </p:cNvSpPr>
          <p:nvPr/>
        </p:nvSpPr>
        <p:spPr bwMode="auto">
          <a:xfrm flipH="1">
            <a:off x="2559051" y="4384894"/>
            <a:ext cx="1871663"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4162" name="Text Box 66">
            <a:extLst>
              <a:ext uri="{FF2B5EF4-FFF2-40B4-BE49-F238E27FC236}">
                <a16:creationId xmlns:a16="http://schemas.microsoft.com/office/drawing/2014/main" id="{FEF7DCFA-4DFB-419E-9BFF-7CC02A82359E}"/>
              </a:ext>
            </a:extLst>
          </p:cNvPr>
          <p:cNvSpPr txBox="1">
            <a:spLocks noChangeArrowheads="1"/>
          </p:cNvSpPr>
          <p:nvPr/>
        </p:nvSpPr>
        <p:spPr bwMode="auto">
          <a:xfrm>
            <a:off x="6519863" y="2197319"/>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dirty="0">
                <a:solidFill>
                  <a:schemeClr val="tx1">
                    <a:lumMod val="85000"/>
                    <a:lumOff val="15000"/>
                  </a:schemeClr>
                </a:solidFill>
                <a:latin typeface="+mj-lt"/>
              </a:rPr>
              <a:t>I = </a:t>
            </a:r>
            <a:r>
              <a:rPr lang="es-AR" altLang="es-AR" sz="1400" b="1" dirty="0" err="1">
                <a:solidFill>
                  <a:schemeClr val="tx1">
                    <a:lumMod val="85000"/>
                    <a:lumOff val="15000"/>
                  </a:schemeClr>
                </a:solidFill>
                <a:latin typeface="+mj-lt"/>
              </a:rPr>
              <a:t>PVu</a:t>
            </a:r>
            <a:r>
              <a:rPr lang="es-AR" altLang="es-AR" sz="1400" b="1" dirty="0">
                <a:solidFill>
                  <a:schemeClr val="tx1">
                    <a:lumMod val="85000"/>
                    <a:lumOff val="15000"/>
                  </a:schemeClr>
                </a:solidFill>
                <a:latin typeface="+mj-lt"/>
              </a:rPr>
              <a:t> x q</a:t>
            </a:r>
            <a:endParaRPr lang="es-AR" altLang="es-AR" sz="1400" b="1" dirty="0">
              <a:solidFill>
                <a:schemeClr val="tx1">
                  <a:lumMod val="85000"/>
                  <a:lumOff val="15000"/>
                </a:schemeClr>
              </a:solidFill>
              <a:latin typeface="+mj-lt"/>
              <a:cs typeface="Tahoma" panose="020B0604030504040204" pitchFamily="34" charset="0"/>
            </a:endParaRPr>
          </a:p>
        </p:txBody>
      </p:sp>
      <p:sp>
        <p:nvSpPr>
          <p:cNvPr id="4163" name="Text Box 67">
            <a:extLst>
              <a:ext uri="{FF2B5EF4-FFF2-40B4-BE49-F238E27FC236}">
                <a16:creationId xmlns:a16="http://schemas.microsoft.com/office/drawing/2014/main" id="{B0EAE520-1134-4247-9902-5BC9B8ABA3EC}"/>
              </a:ext>
            </a:extLst>
          </p:cNvPr>
          <p:cNvSpPr txBox="1">
            <a:spLocks noChangeArrowheads="1"/>
          </p:cNvSpPr>
          <p:nvPr/>
        </p:nvSpPr>
        <p:spPr bwMode="auto">
          <a:xfrm>
            <a:off x="1985720" y="4950043"/>
            <a:ext cx="7191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dirty="0">
                <a:solidFill>
                  <a:schemeClr val="hlink"/>
                </a:solidFill>
                <a:latin typeface="+mj-lt"/>
              </a:rPr>
              <a:t>CFT</a:t>
            </a:r>
            <a:endParaRPr lang="es-AR" altLang="es-AR" sz="1400" b="1" dirty="0">
              <a:solidFill>
                <a:schemeClr val="hlink"/>
              </a:solidFill>
              <a:latin typeface="+mj-lt"/>
              <a:cs typeface="Tahoma" panose="020B0604030504040204" pitchFamily="34" charset="0"/>
            </a:endParaRPr>
          </a:p>
        </p:txBody>
      </p:sp>
      <p:sp>
        <p:nvSpPr>
          <p:cNvPr id="4166" name="Line 70">
            <a:extLst>
              <a:ext uri="{FF2B5EF4-FFF2-40B4-BE49-F238E27FC236}">
                <a16:creationId xmlns:a16="http://schemas.microsoft.com/office/drawing/2014/main" id="{35CF7E13-53B0-4545-97AE-E1CA2FC9D7A8}"/>
              </a:ext>
            </a:extLst>
          </p:cNvPr>
          <p:cNvSpPr>
            <a:spLocks noChangeShapeType="1"/>
          </p:cNvSpPr>
          <p:nvPr/>
        </p:nvSpPr>
        <p:spPr bwMode="auto">
          <a:xfrm flipH="1">
            <a:off x="3206750" y="6469281"/>
            <a:ext cx="431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4167" name="Line 71">
            <a:extLst>
              <a:ext uri="{FF2B5EF4-FFF2-40B4-BE49-F238E27FC236}">
                <a16:creationId xmlns:a16="http://schemas.microsoft.com/office/drawing/2014/main" id="{B7E9822F-B9A5-4DD9-B354-EC2D8A2872FB}"/>
              </a:ext>
            </a:extLst>
          </p:cNvPr>
          <p:cNvSpPr>
            <a:spLocks noChangeShapeType="1"/>
          </p:cNvSpPr>
          <p:nvPr/>
        </p:nvSpPr>
        <p:spPr bwMode="auto">
          <a:xfrm>
            <a:off x="5006975" y="6469281"/>
            <a:ext cx="431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4170" name="Rectangle 74">
            <a:extLst>
              <a:ext uri="{FF2B5EF4-FFF2-40B4-BE49-F238E27FC236}">
                <a16:creationId xmlns:a16="http://schemas.microsoft.com/office/drawing/2014/main" id="{BC50DC87-0E88-443D-ABAB-A9AD8AEBF151}"/>
              </a:ext>
            </a:extLst>
          </p:cNvPr>
          <p:cNvSpPr>
            <a:spLocks noChangeArrowheads="1"/>
          </p:cNvSpPr>
          <p:nvPr/>
        </p:nvSpPr>
        <p:spPr bwMode="auto">
          <a:xfrm>
            <a:off x="2127251" y="6253381"/>
            <a:ext cx="3143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AR" altLang="es-AR" sz="1600" b="1" dirty="0">
                <a:latin typeface="Tahoma" panose="020B0604030504040204" pitchFamily="34" charset="0"/>
              </a:rPr>
              <a:t>0</a:t>
            </a:r>
            <a:endParaRPr lang="es-ES" altLang="es-AR" sz="1600" b="1" dirty="0">
              <a:latin typeface="Tahoma" panose="020B0604030504040204" pitchFamily="34" charset="0"/>
            </a:endParaRPr>
          </a:p>
        </p:txBody>
      </p:sp>
      <p:sp>
        <p:nvSpPr>
          <p:cNvPr id="4171" name="Rectangle 75">
            <a:extLst>
              <a:ext uri="{FF2B5EF4-FFF2-40B4-BE49-F238E27FC236}">
                <a16:creationId xmlns:a16="http://schemas.microsoft.com/office/drawing/2014/main" id="{2178E342-BACD-4DC6-9899-3AC299C8E4B5}"/>
              </a:ext>
            </a:extLst>
          </p:cNvPr>
          <p:cNvSpPr>
            <a:spLocks noChangeArrowheads="1"/>
          </p:cNvSpPr>
          <p:nvPr/>
        </p:nvSpPr>
        <p:spPr bwMode="auto">
          <a:xfrm>
            <a:off x="6492875" y="6253381"/>
            <a:ext cx="3127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AR" altLang="es-AR" sz="1600" b="1">
                <a:latin typeface="Tahoma" panose="020B0604030504040204" pitchFamily="34" charset="0"/>
              </a:rPr>
              <a:t>q</a:t>
            </a:r>
            <a:endParaRPr lang="es-ES" altLang="es-AR" sz="1600" b="1">
              <a:latin typeface="Tahoma" panose="020B0604030504040204" pitchFamily="34" charset="0"/>
            </a:endParaRPr>
          </a:p>
        </p:txBody>
      </p:sp>
      <p:sp>
        <p:nvSpPr>
          <p:cNvPr id="4172" name="Rectangle 76">
            <a:extLst>
              <a:ext uri="{FF2B5EF4-FFF2-40B4-BE49-F238E27FC236}">
                <a16:creationId xmlns:a16="http://schemas.microsoft.com/office/drawing/2014/main" id="{6A404CC2-BE5A-460A-A3E0-34DBCCA53713}"/>
              </a:ext>
            </a:extLst>
          </p:cNvPr>
          <p:cNvSpPr>
            <a:spLocks noChangeArrowheads="1"/>
          </p:cNvSpPr>
          <p:nvPr/>
        </p:nvSpPr>
        <p:spPr bwMode="auto">
          <a:xfrm>
            <a:off x="2559050" y="1539721"/>
            <a:ext cx="9632950"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sz="2000" b="1" dirty="0">
                <a:solidFill>
                  <a:schemeClr val="tx1">
                    <a:lumMod val="75000"/>
                    <a:lumOff val="25000"/>
                  </a:schemeClr>
                </a:solidFill>
                <a:latin typeface="+mj-lt"/>
              </a:rPr>
              <a:t>Representando gráficamente:</a:t>
            </a:r>
            <a:endParaRPr lang="es-ES" altLang="es-AR" sz="2000" b="1" dirty="0">
              <a:solidFill>
                <a:schemeClr val="tx1">
                  <a:lumMod val="75000"/>
                  <a:lumOff val="25000"/>
                </a:schemeClr>
              </a:solidFill>
              <a:latin typeface="+mj-lt"/>
            </a:endParaRPr>
          </a:p>
        </p:txBody>
      </p:sp>
      <p:sp>
        <p:nvSpPr>
          <p:cNvPr id="4173" name="Text Box 77">
            <a:extLst>
              <a:ext uri="{FF2B5EF4-FFF2-40B4-BE49-F238E27FC236}">
                <a16:creationId xmlns:a16="http://schemas.microsoft.com/office/drawing/2014/main" id="{46CB87CC-A109-43A9-8AFF-2532721DADAF}"/>
              </a:ext>
            </a:extLst>
          </p:cNvPr>
          <p:cNvSpPr txBox="1">
            <a:spLocks noChangeArrowheads="1"/>
          </p:cNvSpPr>
          <p:nvPr/>
        </p:nvSpPr>
        <p:spPr bwMode="auto">
          <a:xfrm>
            <a:off x="2183879" y="2000039"/>
            <a:ext cx="48283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b="1" dirty="0">
                <a:solidFill>
                  <a:schemeClr val="tx1">
                    <a:lumMod val="75000"/>
                    <a:lumOff val="25000"/>
                  </a:schemeClr>
                </a:solidFill>
                <a:latin typeface="+mj-lt"/>
              </a:rPr>
              <a:t>$</a:t>
            </a:r>
            <a:endParaRPr lang="es-AR" altLang="es-AR" b="1" dirty="0">
              <a:solidFill>
                <a:schemeClr val="tx1">
                  <a:lumMod val="75000"/>
                  <a:lumOff val="25000"/>
                </a:schemeClr>
              </a:solidFill>
              <a:latin typeface="+mj-lt"/>
              <a:cs typeface="Tahoma" panose="020B0604030504040204" pitchFamily="34" charset="0"/>
            </a:endParaRPr>
          </a:p>
        </p:txBody>
      </p:sp>
      <p:sp>
        <p:nvSpPr>
          <p:cNvPr id="2" name="CuadroTexto 1">
            <a:extLst>
              <a:ext uri="{FF2B5EF4-FFF2-40B4-BE49-F238E27FC236}">
                <a16:creationId xmlns:a16="http://schemas.microsoft.com/office/drawing/2014/main" id="{6AD8A7DB-7B9D-49F0-828B-5138F0A7141E}"/>
              </a:ext>
            </a:extLst>
          </p:cNvPr>
          <p:cNvSpPr txBox="1"/>
          <p:nvPr/>
        </p:nvSpPr>
        <p:spPr>
          <a:xfrm>
            <a:off x="4221836" y="3927076"/>
            <a:ext cx="353340" cy="369332"/>
          </a:xfrm>
          <a:prstGeom prst="rect">
            <a:avLst/>
          </a:prstGeom>
          <a:noFill/>
        </p:spPr>
        <p:txBody>
          <a:bodyPr wrap="square" rtlCol="0">
            <a:spAutoFit/>
          </a:bodyPr>
          <a:lstStyle/>
          <a:p>
            <a:r>
              <a:rPr lang="es-AR" b="1" dirty="0"/>
              <a:t>E</a:t>
            </a:r>
          </a:p>
        </p:txBody>
      </p:sp>
      <p:sp>
        <p:nvSpPr>
          <p:cNvPr id="3" name="CuadroTexto 2">
            <a:extLst>
              <a:ext uri="{FF2B5EF4-FFF2-40B4-BE49-F238E27FC236}">
                <a16:creationId xmlns:a16="http://schemas.microsoft.com/office/drawing/2014/main" id="{E8CCCB01-9150-4C6A-8041-68BAFDBA81EC}"/>
              </a:ext>
            </a:extLst>
          </p:cNvPr>
          <p:cNvSpPr txBox="1"/>
          <p:nvPr/>
        </p:nvSpPr>
        <p:spPr>
          <a:xfrm>
            <a:off x="5707945" y="3152993"/>
            <a:ext cx="504554" cy="523220"/>
          </a:xfrm>
          <a:prstGeom prst="rect">
            <a:avLst/>
          </a:prstGeom>
          <a:noFill/>
        </p:spPr>
        <p:txBody>
          <a:bodyPr wrap="square" rtlCol="0">
            <a:spAutoFit/>
          </a:bodyPr>
          <a:lstStyle/>
          <a:p>
            <a:r>
              <a:rPr lang="es-AR" sz="2800" b="1" dirty="0"/>
              <a:t>+</a:t>
            </a:r>
          </a:p>
        </p:txBody>
      </p:sp>
      <p:sp>
        <p:nvSpPr>
          <p:cNvPr id="6" name="Signo menos 5">
            <a:extLst>
              <a:ext uri="{FF2B5EF4-FFF2-40B4-BE49-F238E27FC236}">
                <a16:creationId xmlns:a16="http://schemas.microsoft.com/office/drawing/2014/main" id="{7E0CAECA-01FA-4A62-8545-7BAFF88D39A8}"/>
              </a:ext>
            </a:extLst>
          </p:cNvPr>
          <p:cNvSpPr/>
          <p:nvPr/>
        </p:nvSpPr>
        <p:spPr>
          <a:xfrm>
            <a:off x="2810002" y="5357143"/>
            <a:ext cx="280557" cy="94613"/>
          </a:xfrm>
          <a:prstGeom prst="mathMinus">
            <a:avLst>
              <a:gd name="adj1" fmla="val 31455"/>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solidFill>
                  <a:schemeClr val="tx1">
                    <a:lumMod val="85000"/>
                    <a:lumOff val="15000"/>
                  </a:schemeClr>
                </a:solidFill>
              </a:rPr>
              <a:t>  </a:t>
            </a:r>
          </a:p>
        </p:txBody>
      </p:sp>
      <p:sp>
        <p:nvSpPr>
          <p:cNvPr id="7" name="CuadroTexto 6">
            <a:extLst>
              <a:ext uri="{FF2B5EF4-FFF2-40B4-BE49-F238E27FC236}">
                <a16:creationId xmlns:a16="http://schemas.microsoft.com/office/drawing/2014/main" id="{18B97A10-19EC-469E-8251-5F22C89C8067}"/>
              </a:ext>
            </a:extLst>
          </p:cNvPr>
          <p:cNvSpPr txBox="1"/>
          <p:nvPr/>
        </p:nvSpPr>
        <p:spPr>
          <a:xfrm>
            <a:off x="7661829" y="4302290"/>
            <a:ext cx="1590260" cy="369332"/>
          </a:xfrm>
          <a:prstGeom prst="rect">
            <a:avLst/>
          </a:prstGeom>
          <a:noFill/>
        </p:spPr>
        <p:txBody>
          <a:bodyPr wrap="square" rtlCol="0">
            <a:spAutoFit/>
          </a:bodyPr>
          <a:lstStyle/>
          <a:p>
            <a:r>
              <a:rPr lang="es-AR" dirty="0"/>
              <a:t>Área  (+)</a:t>
            </a:r>
          </a:p>
        </p:txBody>
      </p:sp>
      <p:sp>
        <p:nvSpPr>
          <p:cNvPr id="8" name="CuadroTexto 7">
            <a:extLst>
              <a:ext uri="{FF2B5EF4-FFF2-40B4-BE49-F238E27FC236}">
                <a16:creationId xmlns:a16="http://schemas.microsoft.com/office/drawing/2014/main" id="{607F0A9C-2883-4F39-94D0-1629005BE0AD}"/>
              </a:ext>
            </a:extLst>
          </p:cNvPr>
          <p:cNvSpPr txBox="1"/>
          <p:nvPr/>
        </p:nvSpPr>
        <p:spPr>
          <a:xfrm>
            <a:off x="8766457" y="4302290"/>
            <a:ext cx="374267" cy="369332"/>
          </a:xfrm>
          <a:prstGeom prst="rect">
            <a:avLst/>
          </a:prstGeom>
          <a:noFill/>
        </p:spPr>
        <p:txBody>
          <a:bodyPr wrap="square" rtlCol="0">
            <a:spAutoFit/>
          </a:bodyPr>
          <a:lstStyle/>
          <a:p>
            <a:r>
              <a:rPr lang="es-AR" dirty="0"/>
              <a:t>=</a:t>
            </a:r>
          </a:p>
        </p:txBody>
      </p:sp>
      <p:sp>
        <p:nvSpPr>
          <p:cNvPr id="9" name="CuadroTexto 8">
            <a:extLst>
              <a:ext uri="{FF2B5EF4-FFF2-40B4-BE49-F238E27FC236}">
                <a16:creationId xmlns:a16="http://schemas.microsoft.com/office/drawing/2014/main" id="{29148667-D599-44C9-8603-02D182683E88}"/>
              </a:ext>
            </a:extLst>
          </p:cNvPr>
          <p:cNvSpPr txBox="1"/>
          <p:nvPr/>
        </p:nvSpPr>
        <p:spPr>
          <a:xfrm>
            <a:off x="6513859" y="2732528"/>
            <a:ext cx="1295401" cy="369332"/>
          </a:xfrm>
          <a:prstGeom prst="rect">
            <a:avLst/>
          </a:prstGeom>
          <a:noFill/>
        </p:spPr>
        <p:txBody>
          <a:bodyPr wrap="square" rtlCol="0">
            <a:spAutoFit/>
          </a:bodyPr>
          <a:lstStyle/>
          <a:p>
            <a:r>
              <a:rPr lang="es-AR" b="1" dirty="0"/>
              <a:t>Beneficio</a:t>
            </a:r>
          </a:p>
        </p:txBody>
      </p:sp>
      <p:sp>
        <p:nvSpPr>
          <p:cNvPr id="10" name="CuadroTexto 9">
            <a:extLst>
              <a:ext uri="{FF2B5EF4-FFF2-40B4-BE49-F238E27FC236}">
                <a16:creationId xmlns:a16="http://schemas.microsoft.com/office/drawing/2014/main" id="{ACE54F60-B294-4C88-918A-9C655A321171}"/>
              </a:ext>
            </a:extLst>
          </p:cNvPr>
          <p:cNvSpPr txBox="1"/>
          <p:nvPr/>
        </p:nvSpPr>
        <p:spPr>
          <a:xfrm>
            <a:off x="9252089" y="4051063"/>
            <a:ext cx="1343748" cy="369332"/>
          </a:xfrm>
          <a:prstGeom prst="rect">
            <a:avLst/>
          </a:prstGeom>
          <a:noFill/>
        </p:spPr>
        <p:txBody>
          <a:bodyPr wrap="square" rtlCol="0">
            <a:spAutoFit/>
          </a:bodyPr>
          <a:lstStyle/>
          <a:p>
            <a:r>
              <a:rPr lang="es-AR" dirty="0"/>
              <a:t>B x (q- </a:t>
            </a:r>
            <a:r>
              <a:rPr lang="es-AR" dirty="0" err="1"/>
              <a:t>q</a:t>
            </a:r>
            <a:r>
              <a:rPr lang="es-AR" sz="1200" dirty="0" err="1"/>
              <a:t>o</a:t>
            </a:r>
            <a:r>
              <a:rPr lang="es-AR" dirty="0"/>
              <a:t>)</a:t>
            </a:r>
          </a:p>
        </p:txBody>
      </p:sp>
      <p:cxnSp>
        <p:nvCxnSpPr>
          <p:cNvPr id="12" name="Conector recto 11">
            <a:extLst>
              <a:ext uri="{FF2B5EF4-FFF2-40B4-BE49-F238E27FC236}">
                <a16:creationId xmlns:a16="http://schemas.microsoft.com/office/drawing/2014/main" id="{C6E99D25-57A6-487D-A9D6-8C8E15946533}"/>
              </a:ext>
            </a:extLst>
          </p:cNvPr>
          <p:cNvCxnSpPr>
            <a:stCxn id="8" idx="3"/>
          </p:cNvCxnSpPr>
          <p:nvPr/>
        </p:nvCxnSpPr>
        <p:spPr>
          <a:xfrm>
            <a:off x="9140724" y="4486956"/>
            <a:ext cx="138362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CuadroTexto 12">
            <a:extLst>
              <a:ext uri="{FF2B5EF4-FFF2-40B4-BE49-F238E27FC236}">
                <a16:creationId xmlns:a16="http://schemas.microsoft.com/office/drawing/2014/main" id="{7FF00372-CC09-43B0-9A97-EA0ADCAC955E}"/>
              </a:ext>
            </a:extLst>
          </p:cNvPr>
          <p:cNvSpPr txBox="1"/>
          <p:nvPr/>
        </p:nvSpPr>
        <p:spPr>
          <a:xfrm>
            <a:off x="9590448" y="4553518"/>
            <a:ext cx="198513" cy="369332"/>
          </a:xfrm>
          <a:prstGeom prst="rect">
            <a:avLst/>
          </a:prstGeom>
          <a:noFill/>
        </p:spPr>
        <p:txBody>
          <a:bodyPr wrap="square" rtlCol="0">
            <a:spAutoFit/>
          </a:bodyPr>
          <a:lstStyle/>
          <a:p>
            <a:r>
              <a:rPr lang="es-AR" dirty="0"/>
              <a:t>2</a:t>
            </a:r>
          </a:p>
        </p:txBody>
      </p:sp>
      <p:sp>
        <p:nvSpPr>
          <p:cNvPr id="50" name="CuadroTexto 49">
            <a:extLst>
              <a:ext uri="{FF2B5EF4-FFF2-40B4-BE49-F238E27FC236}">
                <a16:creationId xmlns:a16="http://schemas.microsoft.com/office/drawing/2014/main" id="{A33A00B8-09C3-4A37-A359-1FDEF0304F87}"/>
              </a:ext>
            </a:extLst>
          </p:cNvPr>
          <p:cNvSpPr txBox="1"/>
          <p:nvPr/>
        </p:nvSpPr>
        <p:spPr>
          <a:xfrm>
            <a:off x="7769529" y="5425108"/>
            <a:ext cx="1590260" cy="369332"/>
          </a:xfrm>
          <a:prstGeom prst="rect">
            <a:avLst/>
          </a:prstGeom>
          <a:noFill/>
        </p:spPr>
        <p:txBody>
          <a:bodyPr wrap="square" rtlCol="0">
            <a:spAutoFit/>
          </a:bodyPr>
          <a:lstStyle/>
          <a:p>
            <a:r>
              <a:rPr lang="es-AR" dirty="0"/>
              <a:t>Área  (-)</a:t>
            </a:r>
          </a:p>
        </p:txBody>
      </p:sp>
      <p:sp>
        <p:nvSpPr>
          <p:cNvPr id="51" name="CuadroTexto 50">
            <a:extLst>
              <a:ext uri="{FF2B5EF4-FFF2-40B4-BE49-F238E27FC236}">
                <a16:creationId xmlns:a16="http://schemas.microsoft.com/office/drawing/2014/main" id="{514D8415-56C7-45E4-B07A-D6E14318B339}"/>
              </a:ext>
            </a:extLst>
          </p:cNvPr>
          <p:cNvSpPr txBox="1"/>
          <p:nvPr/>
        </p:nvSpPr>
        <p:spPr>
          <a:xfrm>
            <a:off x="8874157" y="5425108"/>
            <a:ext cx="374267" cy="369332"/>
          </a:xfrm>
          <a:prstGeom prst="rect">
            <a:avLst/>
          </a:prstGeom>
          <a:noFill/>
        </p:spPr>
        <p:txBody>
          <a:bodyPr wrap="square" rtlCol="0">
            <a:spAutoFit/>
          </a:bodyPr>
          <a:lstStyle/>
          <a:p>
            <a:r>
              <a:rPr lang="es-AR" dirty="0"/>
              <a:t>=</a:t>
            </a:r>
          </a:p>
        </p:txBody>
      </p:sp>
      <p:sp>
        <p:nvSpPr>
          <p:cNvPr id="52" name="CuadroTexto 51">
            <a:extLst>
              <a:ext uri="{FF2B5EF4-FFF2-40B4-BE49-F238E27FC236}">
                <a16:creationId xmlns:a16="http://schemas.microsoft.com/office/drawing/2014/main" id="{D8F4E7F1-D8B9-4FDA-828A-7A58984EF61A}"/>
              </a:ext>
            </a:extLst>
          </p:cNvPr>
          <p:cNvSpPr txBox="1"/>
          <p:nvPr/>
        </p:nvSpPr>
        <p:spPr>
          <a:xfrm>
            <a:off x="9359788" y="5173881"/>
            <a:ext cx="1590245" cy="369332"/>
          </a:xfrm>
          <a:prstGeom prst="rect">
            <a:avLst/>
          </a:prstGeom>
          <a:noFill/>
        </p:spPr>
        <p:txBody>
          <a:bodyPr wrap="square" rtlCol="0">
            <a:spAutoFit/>
          </a:bodyPr>
          <a:lstStyle/>
          <a:p>
            <a:r>
              <a:rPr lang="es-AR" dirty="0"/>
              <a:t>CFT x (</a:t>
            </a:r>
            <a:r>
              <a:rPr lang="es-AR" dirty="0" err="1"/>
              <a:t>q</a:t>
            </a:r>
            <a:r>
              <a:rPr lang="es-AR" sz="1200" dirty="0" err="1"/>
              <a:t>o</a:t>
            </a:r>
            <a:r>
              <a:rPr lang="es-AR" dirty="0"/>
              <a:t>)</a:t>
            </a:r>
          </a:p>
        </p:txBody>
      </p:sp>
      <p:cxnSp>
        <p:nvCxnSpPr>
          <p:cNvPr id="53" name="Conector recto 52">
            <a:extLst>
              <a:ext uri="{FF2B5EF4-FFF2-40B4-BE49-F238E27FC236}">
                <a16:creationId xmlns:a16="http://schemas.microsoft.com/office/drawing/2014/main" id="{C2DAC352-AD18-444E-9201-A599D6B45935}"/>
              </a:ext>
            </a:extLst>
          </p:cNvPr>
          <p:cNvCxnSpPr>
            <a:stCxn id="51" idx="3"/>
          </p:cNvCxnSpPr>
          <p:nvPr/>
        </p:nvCxnSpPr>
        <p:spPr>
          <a:xfrm>
            <a:off x="9248424" y="5609774"/>
            <a:ext cx="138362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CuadroTexto 53">
            <a:extLst>
              <a:ext uri="{FF2B5EF4-FFF2-40B4-BE49-F238E27FC236}">
                <a16:creationId xmlns:a16="http://schemas.microsoft.com/office/drawing/2014/main" id="{D12A6411-D3FD-4C4B-ACA8-7E01450DC8DE}"/>
              </a:ext>
            </a:extLst>
          </p:cNvPr>
          <p:cNvSpPr txBox="1"/>
          <p:nvPr/>
        </p:nvSpPr>
        <p:spPr>
          <a:xfrm>
            <a:off x="9698148" y="5676336"/>
            <a:ext cx="198513" cy="369332"/>
          </a:xfrm>
          <a:prstGeom prst="rect">
            <a:avLst/>
          </a:prstGeom>
          <a:noFill/>
        </p:spPr>
        <p:txBody>
          <a:bodyPr wrap="square" rtlCol="0">
            <a:spAutoFit/>
          </a:bodyPr>
          <a:lstStyle/>
          <a:p>
            <a:r>
              <a:rPr lang="es-AR" dirty="0"/>
              <a:t>2</a:t>
            </a:r>
          </a:p>
        </p:txBody>
      </p:sp>
      <p:sp>
        <p:nvSpPr>
          <p:cNvPr id="15" name="Rectángulo 14">
            <a:extLst>
              <a:ext uri="{FF2B5EF4-FFF2-40B4-BE49-F238E27FC236}">
                <a16:creationId xmlns:a16="http://schemas.microsoft.com/office/drawing/2014/main" id="{32FE0EB3-CA3A-4CDA-A0CC-B14D030A2DF1}"/>
              </a:ext>
            </a:extLst>
          </p:cNvPr>
          <p:cNvSpPr/>
          <p:nvPr/>
        </p:nvSpPr>
        <p:spPr>
          <a:xfrm>
            <a:off x="2996115" y="891177"/>
            <a:ext cx="2981907" cy="369332"/>
          </a:xfrm>
          <a:prstGeom prst="rect">
            <a:avLst/>
          </a:prstGeom>
        </p:spPr>
        <p:txBody>
          <a:bodyPr wrap="none">
            <a:spAutoFit/>
          </a:bodyPr>
          <a:lstStyle/>
          <a:p>
            <a:r>
              <a:rPr lang="es-AR" b="1" dirty="0"/>
              <a:t>POTENCIAL DE BENEFICIO</a:t>
            </a:r>
          </a:p>
        </p:txBody>
      </p:sp>
      <p:sp>
        <p:nvSpPr>
          <p:cNvPr id="16" name="Marcador de número de diapositiva 15">
            <a:extLst>
              <a:ext uri="{FF2B5EF4-FFF2-40B4-BE49-F238E27FC236}">
                <a16:creationId xmlns:a16="http://schemas.microsoft.com/office/drawing/2014/main" id="{EC11E323-3489-43B6-BD25-53450F2EA270}"/>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
        <p:nvSpPr>
          <p:cNvPr id="17" name="CuadroTexto 16">
            <a:extLst>
              <a:ext uri="{FF2B5EF4-FFF2-40B4-BE49-F238E27FC236}">
                <a16:creationId xmlns:a16="http://schemas.microsoft.com/office/drawing/2014/main" id="{08AA9E86-8DDB-46F9-8743-D24EF167F1DB}"/>
              </a:ext>
            </a:extLst>
          </p:cNvPr>
          <p:cNvSpPr txBox="1"/>
          <p:nvPr/>
        </p:nvSpPr>
        <p:spPr>
          <a:xfrm>
            <a:off x="2135076" y="4215131"/>
            <a:ext cx="482839" cy="307777"/>
          </a:xfrm>
          <a:prstGeom prst="rect">
            <a:avLst/>
          </a:prstGeom>
          <a:noFill/>
        </p:spPr>
        <p:txBody>
          <a:bodyPr wrap="square" rtlCol="0">
            <a:spAutoFit/>
          </a:bodyPr>
          <a:lstStyle/>
          <a:p>
            <a:r>
              <a:rPr lang="es-AR" sz="1400" b="1" dirty="0"/>
              <a:t>P</a:t>
            </a:r>
            <a:r>
              <a:rPr lang="es-AR" sz="1200" b="1" dirty="0"/>
              <a:t>o</a:t>
            </a:r>
          </a:p>
        </p:txBody>
      </p:sp>
    </p:spTree>
    <p:extLst>
      <p:ext uri="{BB962C8B-B14F-4D97-AF65-F5344CB8AC3E}">
        <p14:creationId xmlns:p14="http://schemas.microsoft.com/office/powerpoint/2010/main" val="39201679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7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14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7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4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7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17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nodeType="clickEffect">
                                  <p:stCondLst>
                                    <p:cond delay="0"/>
                                  </p:stCondLst>
                                  <p:childTnLst>
                                    <p:set>
                                      <p:cBhvr>
                                        <p:cTn id="22" dur="1" fill="hold">
                                          <p:stCondLst>
                                            <p:cond delay="0"/>
                                          </p:stCondLst>
                                        </p:cTn>
                                        <p:tgtEl>
                                          <p:spTgt spid="4154"/>
                                        </p:tgtEl>
                                        <p:attrNameLst>
                                          <p:attrName>style.visibility</p:attrName>
                                        </p:attrNameLst>
                                      </p:cBhvr>
                                      <p:to>
                                        <p:strVal val="visible"/>
                                      </p:to>
                                    </p:set>
                                    <p:animEffect transition="in" filter="wipe(down)">
                                      <p:cBhvr>
                                        <p:cTn id="23" dur="500"/>
                                        <p:tgtEl>
                                          <p:spTgt spid="4154"/>
                                        </p:tgtEl>
                                      </p:cBhvr>
                                    </p:animEffect>
                                  </p:childTnLst>
                                </p:cTn>
                              </p:par>
                              <p:par>
                                <p:cTn id="24" presetID="22" presetClass="entr" presetSubtype="4" fill="hold" nodeType="withEffect">
                                  <p:stCondLst>
                                    <p:cond delay="0"/>
                                  </p:stCondLst>
                                  <p:childTnLst>
                                    <p:set>
                                      <p:cBhvr>
                                        <p:cTn id="25" dur="1" fill="hold">
                                          <p:stCondLst>
                                            <p:cond delay="0"/>
                                          </p:stCondLst>
                                        </p:cTn>
                                        <p:tgtEl>
                                          <p:spTgt spid="4155"/>
                                        </p:tgtEl>
                                        <p:attrNameLst>
                                          <p:attrName>style.visibility</p:attrName>
                                        </p:attrNameLst>
                                      </p:cBhvr>
                                      <p:to>
                                        <p:strVal val="visible"/>
                                      </p:to>
                                    </p:set>
                                    <p:animEffect transition="in" filter="wipe(down)">
                                      <p:cBhvr>
                                        <p:cTn id="26" dur="500"/>
                                        <p:tgtEl>
                                          <p:spTgt spid="415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4" fill="hold" nodeType="clickEffect">
                                  <p:stCondLst>
                                    <p:cond delay="0"/>
                                  </p:stCondLst>
                                  <p:childTnLst>
                                    <p:set>
                                      <p:cBhvr>
                                        <p:cTn id="30" dur="1" fill="hold">
                                          <p:stCondLst>
                                            <p:cond delay="0"/>
                                          </p:stCondLst>
                                        </p:cTn>
                                        <p:tgtEl>
                                          <p:spTgt spid="4145"/>
                                        </p:tgtEl>
                                        <p:attrNameLst>
                                          <p:attrName>style.visibility</p:attrName>
                                        </p:attrNameLst>
                                      </p:cBhvr>
                                      <p:to>
                                        <p:strVal val="visible"/>
                                      </p:to>
                                    </p:set>
                                    <p:animEffect transition="in" filter="wipe(down)">
                                      <p:cBhvr>
                                        <p:cTn id="31" dur="500"/>
                                        <p:tgtEl>
                                          <p:spTgt spid="4145"/>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4163"/>
                                        </p:tgtEl>
                                        <p:attrNameLst>
                                          <p:attrName>style.visibility</p:attrName>
                                        </p:attrNameLst>
                                      </p:cBhvr>
                                      <p:to>
                                        <p:strVal val="visible"/>
                                      </p:to>
                                    </p:set>
                                    <p:animEffect transition="in" filter="wipe(down)">
                                      <p:cBhvr>
                                        <p:cTn id="34" dur="500"/>
                                        <p:tgtEl>
                                          <p:spTgt spid="416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4" fill="hold" nodeType="clickEffect">
                                  <p:stCondLst>
                                    <p:cond delay="0"/>
                                  </p:stCondLst>
                                  <p:childTnLst>
                                    <p:set>
                                      <p:cBhvr>
                                        <p:cTn id="38" dur="1" fill="hold">
                                          <p:stCondLst>
                                            <p:cond delay="0"/>
                                          </p:stCondLst>
                                        </p:cTn>
                                        <p:tgtEl>
                                          <p:spTgt spid="4148"/>
                                        </p:tgtEl>
                                        <p:attrNameLst>
                                          <p:attrName>style.visibility</p:attrName>
                                        </p:attrNameLst>
                                      </p:cBhvr>
                                      <p:to>
                                        <p:strVal val="visible"/>
                                      </p:to>
                                    </p:set>
                                    <p:animEffect transition="in" filter="wipe(down)">
                                      <p:cBhvr>
                                        <p:cTn id="39" dur="500"/>
                                        <p:tgtEl>
                                          <p:spTgt spid="4148"/>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4150"/>
                                        </p:tgtEl>
                                        <p:attrNameLst>
                                          <p:attrName>style.visibility</p:attrName>
                                        </p:attrNameLst>
                                      </p:cBhvr>
                                      <p:to>
                                        <p:strVal val="visible"/>
                                      </p:to>
                                    </p:set>
                                    <p:animEffect transition="in" filter="wipe(down)">
                                      <p:cBhvr>
                                        <p:cTn id="42" dur="500"/>
                                        <p:tgtEl>
                                          <p:spTgt spid="415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4153"/>
                                        </p:tgtEl>
                                        <p:attrNameLst>
                                          <p:attrName>style.visibility</p:attrName>
                                        </p:attrNameLst>
                                      </p:cBhvr>
                                      <p:to>
                                        <p:strVal val="visible"/>
                                      </p:to>
                                    </p:set>
                                    <p:animEffect transition="in" filter="wipe(down)">
                                      <p:cBhvr>
                                        <p:cTn id="47" dur="500"/>
                                        <p:tgtEl>
                                          <p:spTgt spid="4153"/>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4162"/>
                                        </p:tgtEl>
                                        <p:attrNameLst>
                                          <p:attrName>style.visibility</p:attrName>
                                        </p:attrNameLst>
                                      </p:cBhvr>
                                      <p:to>
                                        <p:strVal val="visible"/>
                                      </p:to>
                                    </p:set>
                                    <p:animEffect transition="in" filter="wipe(down)">
                                      <p:cBhvr>
                                        <p:cTn id="50" dur="500"/>
                                        <p:tgtEl>
                                          <p:spTgt spid="4162"/>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159"/>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4" fill="hold" nodeType="clickEffect">
                                  <p:stCondLst>
                                    <p:cond delay="0"/>
                                  </p:stCondLst>
                                  <p:childTnLst>
                                    <p:set>
                                      <p:cBhvr>
                                        <p:cTn id="58" dur="1" fill="hold">
                                          <p:stCondLst>
                                            <p:cond delay="0"/>
                                          </p:stCondLst>
                                        </p:cTn>
                                        <p:tgtEl>
                                          <p:spTgt spid="4161"/>
                                        </p:tgtEl>
                                        <p:attrNameLst>
                                          <p:attrName>style.visibility</p:attrName>
                                        </p:attrNameLst>
                                      </p:cBhvr>
                                      <p:to>
                                        <p:strVal val="visible"/>
                                      </p:to>
                                    </p:set>
                                    <p:animEffect transition="in" filter="wipe(down)">
                                      <p:cBhvr>
                                        <p:cTn id="59" dur="500"/>
                                        <p:tgtEl>
                                          <p:spTgt spid="4161"/>
                                        </p:tgtEl>
                                      </p:cBhvr>
                                    </p:animEffect>
                                  </p:childTnLst>
                                </p:cTn>
                              </p:par>
                              <p:par>
                                <p:cTn id="60" presetID="22" presetClass="entr" presetSubtype="4" fill="hold" nodeType="withEffect">
                                  <p:stCondLst>
                                    <p:cond delay="0"/>
                                  </p:stCondLst>
                                  <p:childTnLst>
                                    <p:set>
                                      <p:cBhvr>
                                        <p:cTn id="61" dur="1" fill="hold">
                                          <p:stCondLst>
                                            <p:cond delay="0"/>
                                          </p:stCondLst>
                                        </p:cTn>
                                        <p:tgtEl>
                                          <p:spTgt spid="4160"/>
                                        </p:tgtEl>
                                        <p:attrNameLst>
                                          <p:attrName>style.visibility</p:attrName>
                                        </p:attrNameLst>
                                      </p:cBhvr>
                                      <p:to>
                                        <p:strVal val="visible"/>
                                      </p:to>
                                    </p:set>
                                    <p:animEffect transition="in" filter="wipe(down)">
                                      <p:cBhvr>
                                        <p:cTn id="62" dur="500"/>
                                        <p:tgtEl>
                                          <p:spTgt spid="4160"/>
                                        </p:tgtEl>
                                      </p:cBhvr>
                                    </p:animEffect>
                                  </p:childTnLst>
                                </p:cTn>
                              </p:par>
                              <p:par>
                                <p:cTn id="63" presetID="22" presetClass="entr" presetSubtype="4" fill="hold" grpId="0" nodeType="withEffect">
                                  <p:stCondLst>
                                    <p:cond delay="0"/>
                                  </p:stCondLst>
                                  <p:childTnLst>
                                    <p:set>
                                      <p:cBhvr>
                                        <p:cTn id="64" dur="1" fill="hold">
                                          <p:stCondLst>
                                            <p:cond delay="0"/>
                                          </p:stCondLst>
                                        </p:cTn>
                                        <p:tgtEl>
                                          <p:spTgt spid="4144"/>
                                        </p:tgtEl>
                                        <p:attrNameLst>
                                          <p:attrName>style.visibility</p:attrName>
                                        </p:attrNameLst>
                                      </p:cBhvr>
                                      <p:to>
                                        <p:strVal val="visible"/>
                                      </p:to>
                                    </p:set>
                                    <p:animEffect transition="in" filter="wipe(down)">
                                      <p:cBhvr>
                                        <p:cTn id="65" dur="500"/>
                                        <p:tgtEl>
                                          <p:spTgt spid="4144"/>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1" presetClass="entr" presetSubtype="0" fill="hold" nodeType="clickEffect">
                                  <p:stCondLst>
                                    <p:cond delay="0"/>
                                  </p:stCondLst>
                                  <p:childTnLst>
                                    <p:set>
                                      <p:cBhvr>
                                        <p:cTn id="69" dur="1" fill="hold">
                                          <p:stCondLst>
                                            <p:cond delay="0"/>
                                          </p:stCondLst>
                                        </p:cTn>
                                        <p:tgtEl>
                                          <p:spTgt spid="4166"/>
                                        </p:tgtEl>
                                        <p:attrNameLst>
                                          <p:attrName>style.visibility</p:attrName>
                                        </p:attrNameLst>
                                      </p:cBhvr>
                                      <p:to>
                                        <p:strVal val="visible"/>
                                      </p:to>
                                    </p:set>
                                  </p:childTnLst>
                                </p:cTn>
                              </p:par>
                            </p:childTnLst>
                          </p:cTn>
                        </p:par>
                      </p:childTnLst>
                    </p:cTn>
                  </p:par>
                  <p:par>
                    <p:cTn id="70" fill="hold" nodeType="clickPar">
                      <p:stCondLst>
                        <p:cond delay="indefinite"/>
                      </p:stCondLst>
                      <p:childTnLst>
                        <p:par>
                          <p:cTn id="71" fill="hold" nodeType="withGroup">
                            <p:stCondLst>
                              <p:cond delay="0"/>
                            </p:stCondLst>
                            <p:childTnLst>
                              <p:par>
                                <p:cTn id="72" presetID="1" presetClass="entr" presetSubtype="0" fill="hold" nodeType="clickEffect">
                                  <p:stCondLst>
                                    <p:cond delay="0"/>
                                  </p:stCondLst>
                                  <p:childTnLst>
                                    <p:set>
                                      <p:cBhvr>
                                        <p:cTn id="73" dur="1" fill="hold">
                                          <p:stCondLst>
                                            <p:cond delay="0"/>
                                          </p:stCondLst>
                                        </p:cTn>
                                        <p:tgtEl>
                                          <p:spTgt spid="41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4" grpId="0"/>
      <p:bldP spid="4150" grpId="0"/>
      <p:bldP spid="4159" grpId="0" animBg="1"/>
      <p:bldP spid="4162" grpId="0"/>
      <p:bldP spid="4163" grpId="0"/>
      <p:bldP spid="4170" grpId="0"/>
      <p:bldP spid="4171" grpId="0"/>
      <p:bldP spid="4172" grpId="0"/>
      <p:bldP spid="417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Text Box 4">
            <a:extLst>
              <a:ext uri="{FF2B5EF4-FFF2-40B4-BE49-F238E27FC236}">
                <a16:creationId xmlns:a16="http://schemas.microsoft.com/office/drawing/2014/main" id="{5FAF105E-4393-419F-92F4-FFB94DB22D0B}"/>
              </a:ext>
            </a:extLst>
          </p:cNvPr>
          <p:cNvSpPr txBox="1">
            <a:spLocks noChangeArrowheads="1"/>
          </p:cNvSpPr>
          <p:nvPr/>
        </p:nvSpPr>
        <p:spPr bwMode="auto">
          <a:xfrm>
            <a:off x="1387476" y="185738"/>
            <a:ext cx="78771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85000"/>
                    <a:lumOff val="15000"/>
                  </a:schemeClr>
                </a:solidFill>
                <a:latin typeface="+mj-lt"/>
                <a:cs typeface="Arial" charset="0"/>
              </a:rPr>
              <a:t>SENSIBILIDAD DE LOS COSTOS</a:t>
            </a:r>
          </a:p>
        </p:txBody>
      </p:sp>
      <p:sp>
        <p:nvSpPr>
          <p:cNvPr id="2" name="CuadroTexto 1">
            <a:extLst>
              <a:ext uri="{FF2B5EF4-FFF2-40B4-BE49-F238E27FC236}">
                <a16:creationId xmlns:a16="http://schemas.microsoft.com/office/drawing/2014/main" id="{9B135F2F-E4E4-4392-999B-CFB8C7808FCD}"/>
              </a:ext>
            </a:extLst>
          </p:cNvPr>
          <p:cNvSpPr txBox="1"/>
          <p:nvPr/>
        </p:nvSpPr>
        <p:spPr>
          <a:xfrm>
            <a:off x="1387476" y="1547446"/>
            <a:ext cx="8547832" cy="369332"/>
          </a:xfrm>
          <a:prstGeom prst="rect">
            <a:avLst/>
          </a:prstGeom>
          <a:noFill/>
        </p:spPr>
        <p:txBody>
          <a:bodyPr wrap="square" rtlCol="0">
            <a:spAutoFit/>
          </a:bodyPr>
          <a:lstStyle/>
          <a:p>
            <a:r>
              <a:rPr lang="es-AR" dirty="0"/>
              <a:t>Podemos identificar 4 casos posibles:</a:t>
            </a:r>
          </a:p>
        </p:txBody>
      </p:sp>
      <p:sp>
        <p:nvSpPr>
          <p:cNvPr id="10" name="Rectangle 59">
            <a:extLst>
              <a:ext uri="{FF2B5EF4-FFF2-40B4-BE49-F238E27FC236}">
                <a16:creationId xmlns:a16="http://schemas.microsoft.com/office/drawing/2014/main" id="{36C54AD2-F3F8-4A29-BDB6-576934419B41}"/>
              </a:ext>
            </a:extLst>
          </p:cNvPr>
          <p:cNvSpPr>
            <a:spLocks noChangeArrowheads="1"/>
          </p:cNvSpPr>
          <p:nvPr/>
        </p:nvSpPr>
        <p:spPr bwMode="auto">
          <a:xfrm>
            <a:off x="1007857" y="2178022"/>
            <a:ext cx="878522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1800" b="1" dirty="0">
                <a:latin typeface="+mj-lt"/>
              </a:rPr>
              <a:t>1° Caso) </a:t>
            </a:r>
            <a:r>
              <a:rPr lang="es-AR" altLang="es-AR" sz="1800" dirty="0">
                <a:latin typeface="+mj-lt"/>
              </a:rPr>
              <a:t>ALTOS COSTOS FIJOS, CON ALTOS COSTOS VARIABLES</a:t>
            </a:r>
            <a:endParaRPr lang="es-ES" altLang="es-AR" sz="1800" dirty="0">
              <a:latin typeface="+mj-lt"/>
            </a:endParaRPr>
          </a:p>
        </p:txBody>
      </p:sp>
      <p:sp>
        <p:nvSpPr>
          <p:cNvPr id="11" name="Rectangle 74">
            <a:extLst>
              <a:ext uri="{FF2B5EF4-FFF2-40B4-BE49-F238E27FC236}">
                <a16:creationId xmlns:a16="http://schemas.microsoft.com/office/drawing/2014/main" id="{5C331C53-B58E-4AC8-8A71-A21CB18F7A37}"/>
              </a:ext>
            </a:extLst>
          </p:cNvPr>
          <p:cNvSpPr>
            <a:spLocks noChangeArrowheads="1"/>
          </p:cNvSpPr>
          <p:nvPr/>
        </p:nvSpPr>
        <p:spPr bwMode="auto">
          <a:xfrm>
            <a:off x="1007856" y="2654372"/>
            <a:ext cx="878522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1800" b="1" dirty="0">
                <a:effectLst>
                  <a:outerShdw blurRad="38100" dist="38100" dir="2700000" algn="tl">
                    <a:srgbClr val="C0C0C0"/>
                  </a:outerShdw>
                </a:effectLst>
                <a:latin typeface="+mj-lt"/>
              </a:rPr>
              <a:t>2° Caso) </a:t>
            </a:r>
            <a:r>
              <a:rPr lang="es-AR" altLang="es-AR" sz="1800" dirty="0">
                <a:effectLst>
                  <a:outerShdw blurRad="38100" dist="38100" dir="2700000" algn="tl">
                    <a:srgbClr val="C0C0C0"/>
                  </a:outerShdw>
                </a:effectLst>
                <a:latin typeface="+mj-lt"/>
              </a:rPr>
              <a:t>BAJOS COSTOS FIJOS, CON ALTOS COSTOS VARIABLES</a:t>
            </a:r>
            <a:endParaRPr lang="es-ES" altLang="es-AR" sz="1800" dirty="0">
              <a:effectLst>
                <a:outerShdw blurRad="38100" dist="38100" dir="2700000" algn="tl">
                  <a:srgbClr val="C0C0C0"/>
                </a:outerShdw>
              </a:effectLst>
              <a:latin typeface="+mj-lt"/>
            </a:endParaRPr>
          </a:p>
        </p:txBody>
      </p:sp>
      <p:sp>
        <p:nvSpPr>
          <p:cNvPr id="12" name="Rectangle 45">
            <a:extLst>
              <a:ext uri="{FF2B5EF4-FFF2-40B4-BE49-F238E27FC236}">
                <a16:creationId xmlns:a16="http://schemas.microsoft.com/office/drawing/2014/main" id="{FBF35A47-C8F0-4247-A2AE-DD641997308A}"/>
              </a:ext>
            </a:extLst>
          </p:cNvPr>
          <p:cNvSpPr>
            <a:spLocks noChangeArrowheads="1"/>
          </p:cNvSpPr>
          <p:nvPr/>
        </p:nvSpPr>
        <p:spPr bwMode="auto">
          <a:xfrm>
            <a:off x="1007856" y="3213893"/>
            <a:ext cx="878522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1800" b="1" dirty="0">
                <a:effectLst>
                  <a:outerShdw blurRad="38100" dist="38100" dir="2700000" algn="tl">
                    <a:srgbClr val="C0C0C0"/>
                  </a:outerShdw>
                </a:effectLst>
                <a:latin typeface="+mj-lt"/>
              </a:rPr>
              <a:t>3° Caso) </a:t>
            </a:r>
            <a:r>
              <a:rPr lang="es-AR" altLang="es-AR" sz="1800" dirty="0">
                <a:latin typeface="+mj-lt"/>
              </a:rPr>
              <a:t>BAJOS COSTOS FIJOS, CON BAJOS COSTOS VARIABLES</a:t>
            </a:r>
            <a:endParaRPr lang="es-ES" altLang="es-AR" sz="1800" dirty="0">
              <a:latin typeface="+mj-lt"/>
            </a:endParaRPr>
          </a:p>
        </p:txBody>
      </p:sp>
      <p:sp>
        <p:nvSpPr>
          <p:cNvPr id="13" name="Rectangle 47">
            <a:extLst>
              <a:ext uri="{FF2B5EF4-FFF2-40B4-BE49-F238E27FC236}">
                <a16:creationId xmlns:a16="http://schemas.microsoft.com/office/drawing/2014/main" id="{D19CF838-3DCA-437B-97BB-37040571D5D5}"/>
              </a:ext>
            </a:extLst>
          </p:cNvPr>
          <p:cNvSpPr>
            <a:spLocks noChangeArrowheads="1"/>
          </p:cNvSpPr>
          <p:nvPr/>
        </p:nvSpPr>
        <p:spPr bwMode="auto">
          <a:xfrm>
            <a:off x="1007856" y="3697925"/>
            <a:ext cx="943292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1800" b="1" dirty="0">
                <a:effectLst>
                  <a:outerShdw blurRad="38100" dist="38100" dir="2700000" algn="tl">
                    <a:srgbClr val="C0C0C0"/>
                  </a:outerShdw>
                </a:effectLst>
                <a:latin typeface="+mj-lt"/>
              </a:rPr>
              <a:t>4° Caso) </a:t>
            </a:r>
            <a:r>
              <a:rPr lang="es-AR" altLang="es-AR" sz="1800" dirty="0">
                <a:effectLst>
                  <a:outerShdw blurRad="38100" dist="38100" dir="2700000" algn="tl">
                    <a:srgbClr val="C0C0C0"/>
                  </a:outerShdw>
                </a:effectLst>
                <a:latin typeface="+mj-lt"/>
              </a:rPr>
              <a:t>EXCESIVOS COSTOS FIJOS, CON BAJOS COSTOS VARIABLES</a:t>
            </a:r>
            <a:endParaRPr lang="es-ES" altLang="es-AR" sz="1800" dirty="0">
              <a:effectLst>
                <a:outerShdw blurRad="38100" dist="38100" dir="2700000" algn="tl">
                  <a:srgbClr val="C0C0C0"/>
                </a:outerShdw>
              </a:effectLst>
              <a:latin typeface="+mj-lt"/>
            </a:endParaRPr>
          </a:p>
        </p:txBody>
      </p:sp>
      <p:sp>
        <p:nvSpPr>
          <p:cNvPr id="4" name="Marcador de número de diapositiva 3">
            <a:extLst>
              <a:ext uri="{FF2B5EF4-FFF2-40B4-BE49-F238E27FC236}">
                <a16:creationId xmlns:a16="http://schemas.microsoft.com/office/drawing/2014/main" id="{C44B47D6-EF45-4F59-BFE5-2FE72A9A8564}"/>
              </a:ext>
            </a:extLst>
          </p:cNvPr>
          <p:cNvSpPr>
            <a:spLocks noGrp="1"/>
          </p:cNvSpPr>
          <p:nvPr>
            <p:ph type="sldNum" sz="quarter" idx="12"/>
          </p:nvPr>
        </p:nvSpPr>
        <p:spPr/>
        <p:txBody>
          <a:bodyPr/>
          <a:lstStyle/>
          <a:p>
            <a:fld id="{D57F1E4F-1CFF-5643-939E-217C01CDF565}" type="slidenum">
              <a:rPr lang="en-US" smtClean="0"/>
              <a:pPr/>
              <a:t>8</a:t>
            </a:fld>
            <a:endParaRPr lang="en-US" dirty="0"/>
          </a:p>
        </p:txBody>
      </p:sp>
    </p:spTree>
    <p:extLst>
      <p:ext uri="{BB962C8B-B14F-4D97-AF65-F5344CB8AC3E}">
        <p14:creationId xmlns:p14="http://schemas.microsoft.com/office/powerpoint/2010/main" val="2182779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linds(horizontal)">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linds(horizontal)">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Text Box 4">
            <a:extLst>
              <a:ext uri="{FF2B5EF4-FFF2-40B4-BE49-F238E27FC236}">
                <a16:creationId xmlns:a16="http://schemas.microsoft.com/office/drawing/2014/main" id="{5FAF105E-4393-419F-92F4-FFB94DB22D0B}"/>
              </a:ext>
            </a:extLst>
          </p:cNvPr>
          <p:cNvSpPr txBox="1">
            <a:spLocks noChangeArrowheads="1"/>
          </p:cNvSpPr>
          <p:nvPr/>
        </p:nvSpPr>
        <p:spPr bwMode="auto">
          <a:xfrm>
            <a:off x="1387476" y="185738"/>
            <a:ext cx="78771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85000"/>
                    <a:lumOff val="15000"/>
                  </a:schemeClr>
                </a:solidFill>
                <a:latin typeface="+mj-lt"/>
                <a:cs typeface="Arial" charset="0"/>
              </a:rPr>
              <a:t>SENSIBILIDAD DE LOS COSTOS</a:t>
            </a:r>
          </a:p>
        </p:txBody>
      </p:sp>
      <p:sp>
        <p:nvSpPr>
          <p:cNvPr id="24593" name="Line 17">
            <a:extLst>
              <a:ext uri="{FF2B5EF4-FFF2-40B4-BE49-F238E27FC236}">
                <a16:creationId xmlns:a16="http://schemas.microsoft.com/office/drawing/2014/main" id="{0AA5304E-D8B7-4BA7-B274-46E61583F69A}"/>
              </a:ext>
            </a:extLst>
          </p:cNvPr>
          <p:cNvSpPr>
            <a:spLocks noChangeShapeType="1"/>
          </p:cNvSpPr>
          <p:nvPr/>
        </p:nvSpPr>
        <p:spPr bwMode="auto">
          <a:xfrm flipH="1" flipV="1">
            <a:off x="3275013" y="2269186"/>
            <a:ext cx="0" cy="417671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4594" name="Line 18">
            <a:extLst>
              <a:ext uri="{FF2B5EF4-FFF2-40B4-BE49-F238E27FC236}">
                <a16:creationId xmlns:a16="http://schemas.microsoft.com/office/drawing/2014/main" id="{53E9153F-EAE5-442C-AFB6-17878B75E183}"/>
              </a:ext>
            </a:extLst>
          </p:cNvPr>
          <p:cNvSpPr>
            <a:spLocks noChangeShapeType="1"/>
          </p:cNvSpPr>
          <p:nvPr/>
        </p:nvSpPr>
        <p:spPr bwMode="auto">
          <a:xfrm>
            <a:off x="3059113" y="6301436"/>
            <a:ext cx="424815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4595" name="Text Box 19">
            <a:extLst>
              <a:ext uri="{FF2B5EF4-FFF2-40B4-BE49-F238E27FC236}">
                <a16:creationId xmlns:a16="http://schemas.microsoft.com/office/drawing/2014/main" id="{A30A90CC-E184-4E9B-B409-7D9760DCF173}"/>
              </a:ext>
            </a:extLst>
          </p:cNvPr>
          <p:cNvSpPr txBox="1">
            <a:spLocks noChangeArrowheads="1"/>
          </p:cNvSpPr>
          <p:nvPr/>
        </p:nvSpPr>
        <p:spPr bwMode="auto">
          <a:xfrm>
            <a:off x="5375276" y="6349061"/>
            <a:ext cx="11652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600" b="1">
                <a:latin typeface="Tahoma" panose="020B0604030504040204" pitchFamily="34" charset="0"/>
              </a:rPr>
              <a:t>qo</a:t>
            </a:r>
            <a:endParaRPr lang="es-ES" altLang="es-AR" sz="1600" b="1">
              <a:latin typeface="Tahoma" panose="020B0604030504040204" pitchFamily="34" charset="0"/>
            </a:endParaRPr>
          </a:p>
        </p:txBody>
      </p:sp>
      <p:sp>
        <p:nvSpPr>
          <p:cNvPr id="24596" name="Line 20">
            <a:extLst>
              <a:ext uri="{FF2B5EF4-FFF2-40B4-BE49-F238E27FC236}">
                <a16:creationId xmlns:a16="http://schemas.microsoft.com/office/drawing/2014/main" id="{343FE554-D1BC-4681-ADB4-CC873D895D2F}"/>
              </a:ext>
            </a:extLst>
          </p:cNvPr>
          <p:cNvSpPr>
            <a:spLocks noChangeShapeType="1"/>
          </p:cNvSpPr>
          <p:nvPr/>
        </p:nvSpPr>
        <p:spPr bwMode="auto">
          <a:xfrm>
            <a:off x="3259139" y="5293373"/>
            <a:ext cx="3887787"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4597" name="Line 21">
            <a:extLst>
              <a:ext uri="{FF2B5EF4-FFF2-40B4-BE49-F238E27FC236}">
                <a16:creationId xmlns:a16="http://schemas.microsoft.com/office/drawing/2014/main" id="{229A92CC-2541-41C2-8E9C-6FBC36FBAFC1}"/>
              </a:ext>
            </a:extLst>
          </p:cNvPr>
          <p:cNvSpPr>
            <a:spLocks noChangeShapeType="1"/>
          </p:cNvSpPr>
          <p:nvPr/>
        </p:nvSpPr>
        <p:spPr bwMode="auto">
          <a:xfrm flipV="1">
            <a:off x="3259138" y="4190062"/>
            <a:ext cx="3917950" cy="2111375"/>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4598" name="Arc 22">
            <a:extLst>
              <a:ext uri="{FF2B5EF4-FFF2-40B4-BE49-F238E27FC236}">
                <a16:creationId xmlns:a16="http://schemas.microsoft.com/office/drawing/2014/main" id="{A1EA07A4-287F-41E4-9E0E-1B97BF0D5910}"/>
              </a:ext>
            </a:extLst>
          </p:cNvPr>
          <p:cNvSpPr>
            <a:spLocks/>
          </p:cNvSpPr>
          <p:nvPr/>
        </p:nvSpPr>
        <p:spPr bwMode="auto">
          <a:xfrm>
            <a:off x="3635376" y="5817249"/>
            <a:ext cx="358775" cy="485775"/>
          </a:xfrm>
          <a:custGeom>
            <a:avLst/>
            <a:gdLst>
              <a:gd name="T0" fmla="*/ 2225883 w 21600"/>
              <a:gd name="T1" fmla="*/ 0 h 38252"/>
              <a:gd name="T2" fmla="*/ 3202814 w 21600"/>
              <a:gd name="T3" fmla="*/ 6169020 h 38252"/>
              <a:gd name="T4" fmla="*/ 0 w 21600"/>
              <a:gd name="T5" fmla="*/ 3231435 h 38252"/>
              <a:gd name="T6" fmla="*/ 0 60000 65536"/>
              <a:gd name="T7" fmla="*/ 0 60000 65536"/>
              <a:gd name="T8" fmla="*/ 0 60000 65536"/>
            </a:gdLst>
            <a:ahLst/>
            <a:cxnLst>
              <a:cxn ang="T6">
                <a:pos x="T0" y="T1"/>
              </a:cxn>
              <a:cxn ang="T7">
                <a:pos x="T2" y="T3"/>
              </a:cxn>
              <a:cxn ang="T8">
                <a:pos x="T4" y="T5"/>
              </a:cxn>
            </a:cxnLst>
            <a:rect l="0" t="0" r="r" b="b"/>
            <a:pathLst>
              <a:path w="21600" h="38252" fill="none" extrusionOk="0">
                <a:moveTo>
                  <a:pt x="8067" y="0"/>
                </a:moveTo>
                <a:cubicBezTo>
                  <a:pt x="16244" y="3292"/>
                  <a:pt x="21600" y="11222"/>
                  <a:pt x="21600" y="20037"/>
                </a:cubicBezTo>
                <a:cubicBezTo>
                  <a:pt x="21600" y="27416"/>
                  <a:pt x="17832" y="34285"/>
                  <a:pt x="11609" y="38252"/>
                </a:cubicBezTo>
              </a:path>
              <a:path w="21600" h="38252" stroke="0" extrusionOk="0">
                <a:moveTo>
                  <a:pt x="8067" y="0"/>
                </a:moveTo>
                <a:cubicBezTo>
                  <a:pt x="16244" y="3292"/>
                  <a:pt x="21600" y="11222"/>
                  <a:pt x="21600" y="20037"/>
                </a:cubicBezTo>
                <a:cubicBezTo>
                  <a:pt x="21600" y="27416"/>
                  <a:pt x="17832" y="34285"/>
                  <a:pt x="11609" y="38252"/>
                </a:cubicBezTo>
                <a:lnTo>
                  <a:pt x="0" y="20037"/>
                </a:lnTo>
                <a:lnTo>
                  <a:pt x="8067" y="0"/>
                </a:lnTo>
                <a:close/>
              </a:path>
            </a:pathLst>
          </a:custGeom>
          <a:noFill/>
          <a:ln w="9525">
            <a:solidFill>
              <a:srgbClr val="990000"/>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24599" name="Line 23">
            <a:extLst>
              <a:ext uri="{FF2B5EF4-FFF2-40B4-BE49-F238E27FC236}">
                <a16:creationId xmlns:a16="http://schemas.microsoft.com/office/drawing/2014/main" id="{DDF934FF-A818-42F0-AB7E-C709F37A94CF}"/>
              </a:ext>
            </a:extLst>
          </p:cNvPr>
          <p:cNvSpPr>
            <a:spLocks noChangeShapeType="1"/>
          </p:cNvSpPr>
          <p:nvPr/>
        </p:nvSpPr>
        <p:spPr bwMode="auto">
          <a:xfrm flipV="1">
            <a:off x="3275014" y="3037537"/>
            <a:ext cx="3902075" cy="2255837"/>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4600" name="Arc 24">
            <a:extLst>
              <a:ext uri="{FF2B5EF4-FFF2-40B4-BE49-F238E27FC236}">
                <a16:creationId xmlns:a16="http://schemas.microsoft.com/office/drawing/2014/main" id="{3DB2B87D-45E4-4891-8E23-0BB4483771DE}"/>
              </a:ext>
            </a:extLst>
          </p:cNvPr>
          <p:cNvSpPr>
            <a:spLocks/>
          </p:cNvSpPr>
          <p:nvPr/>
        </p:nvSpPr>
        <p:spPr bwMode="auto">
          <a:xfrm>
            <a:off x="4295776" y="5774387"/>
            <a:ext cx="288925" cy="511175"/>
          </a:xfrm>
          <a:custGeom>
            <a:avLst/>
            <a:gdLst>
              <a:gd name="T0" fmla="*/ 0 w 21600"/>
              <a:gd name="T1" fmla="*/ 0 h 32550"/>
              <a:gd name="T2" fmla="*/ 3331158 w 21600"/>
              <a:gd name="T3" fmla="*/ 8027646 h 32550"/>
              <a:gd name="T4" fmla="*/ 0 w 21600"/>
              <a:gd name="T5" fmla="*/ 5327103 h 32550"/>
              <a:gd name="T6" fmla="*/ 0 60000 65536"/>
              <a:gd name="T7" fmla="*/ 0 60000 65536"/>
              <a:gd name="T8" fmla="*/ 0 60000 65536"/>
            </a:gdLst>
            <a:ahLst/>
            <a:cxnLst>
              <a:cxn ang="T6">
                <a:pos x="T0" y="T1"/>
              </a:cxn>
              <a:cxn ang="T7">
                <a:pos x="T2" y="T3"/>
              </a:cxn>
              <a:cxn ang="T8">
                <a:pos x="T4" y="T5"/>
              </a:cxn>
            </a:cxnLst>
            <a:rect l="0" t="0" r="r" b="b"/>
            <a:pathLst>
              <a:path w="21600" h="32550" fill="none" extrusionOk="0">
                <a:moveTo>
                  <a:pt x="0" y="0"/>
                </a:moveTo>
                <a:cubicBezTo>
                  <a:pt x="11929" y="0"/>
                  <a:pt x="21600" y="9670"/>
                  <a:pt x="21600" y="21600"/>
                </a:cubicBezTo>
                <a:cubicBezTo>
                  <a:pt x="21600" y="25450"/>
                  <a:pt x="20570" y="29231"/>
                  <a:pt x="18618" y="32550"/>
                </a:cubicBezTo>
              </a:path>
              <a:path w="21600" h="32550" stroke="0" extrusionOk="0">
                <a:moveTo>
                  <a:pt x="0" y="0"/>
                </a:moveTo>
                <a:cubicBezTo>
                  <a:pt x="11929" y="0"/>
                  <a:pt x="21600" y="9670"/>
                  <a:pt x="21600" y="21600"/>
                </a:cubicBezTo>
                <a:cubicBezTo>
                  <a:pt x="21600" y="25450"/>
                  <a:pt x="20570" y="29231"/>
                  <a:pt x="18618" y="32550"/>
                </a:cubicBezTo>
                <a:lnTo>
                  <a:pt x="0" y="21600"/>
                </a:lnTo>
                <a:lnTo>
                  <a:pt x="0" y="0"/>
                </a:lnTo>
                <a:close/>
              </a:path>
            </a:pathLst>
          </a:custGeom>
          <a:noFill/>
          <a:ln w="9525">
            <a:solidFill>
              <a:srgbClr val="0000FF"/>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24601" name="Text Box 25">
            <a:extLst>
              <a:ext uri="{FF2B5EF4-FFF2-40B4-BE49-F238E27FC236}">
                <a16:creationId xmlns:a16="http://schemas.microsoft.com/office/drawing/2014/main" id="{E001CF82-45DB-46AD-A985-B553E680E6A5}"/>
              </a:ext>
            </a:extLst>
          </p:cNvPr>
          <p:cNvSpPr txBox="1">
            <a:spLocks noChangeArrowheads="1"/>
          </p:cNvSpPr>
          <p:nvPr/>
        </p:nvSpPr>
        <p:spPr bwMode="auto">
          <a:xfrm>
            <a:off x="4583113" y="5828361"/>
            <a:ext cx="5905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chemeClr val="accent2"/>
                </a:solidFill>
                <a:latin typeface="+mj-lt"/>
              </a:rPr>
              <a:t>CVu</a:t>
            </a:r>
            <a:endParaRPr lang="es-AR" altLang="es-AR" sz="1400" b="1">
              <a:solidFill>
                <a:schemeClr val="accent2"/>
              </a:solidFill>
              <a:latin typeface="+mj-lt"/>
              <a:cs typeface="Tahoma" panose="020B0604030504040204" pitchFamily="34" charset="0"/>
            </a:endParaRPr>
          </a:p>
        </p:txBody>
      </p:sp>
      <p:sp>
        <p:nvSpPr>
          <p:cNvPr id="24602" name="Line 26">
            <a:extLst>
              <a:ext uri="{FF2B5EF4-FFF2-40B4-BE49-F238E27FC236}">
                <a16:creationId xmlns:a16="http://schemas.microsoft.com/office/drawing/2014/main" id="{991D25FD-7C1B-4807-BBDA-474D8436E2FD}"/>
              </a:ext>
            </a:extLst>
          </p:cNvPr>
          <p:cNvSpPr>
            <a:spLocks noChangeShapeType="1"/>
          </p:cNvSpPr>
          <p:nvPr/>
        </p:nvSpPr>
        <p:spPr bwMode="auto">
          <a:xfrm flipV="1">
            <a:off x="3275014" y="2534298"/>
            <a:ext cx="3902075" cy="3767138"/>
          </a:xfrm>
          <a:prstGeom prst="line">
            <a:avLst/>
          </a:prstGeom>
          <a:noFill/>
          <a:ln w="28575">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4603" name="Line 27">
            <a:extLst>
              <a:ext uri="{FF2B5EF4-FFF2-40B4-BE49-F238E27FC236}">
                <a16:creationId xmlns:a16="http://schemas.microsoft.com/office/drawing/2014/main" id="{FABAA97E-2727-4EBB-A102-0913752DE4C0}"/>
              </a:ext>
            </a:extLst>
          </p:cNvPr>
          <p:cNvSpPr>
            <a:spLocks noChangeShapeType="1"/>
          </p:cNvSpPr>
          <p:nvPr/>
        </p:nvSpPr>
        <p:spPr bwMode="auto">
          <a:xfrm>
            <a:off x="7162800" y="2556524"/>
            <a:ext cx="0" cy="388937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4604" name="Line 28">
            <a:extLst>
              <a:ext uri="{FF2B5EF4-FFF2-40B4-BE49-F238E27FC236}">
                <a16:creationId xmlns:a16="http://schemas.microsoft.com/office/drawing/2014/main" id="{4C89FB3E-A35F-4FA4-A1EC-4654F18F33D3}"/>
              </a:ext>
            </a:extLst>
          </p:cNvPr>
          <p:cNvSpPr>
            <a:spLocks noChangeShapeType="1"/>
          </p:cNvSpPr>
          <p:nvPr/>
        </p:nvSpPr>
        <p:spPr bwMode="auto">
          <a:xfrm flipH="1">
            <a:off x="3275014" y="2556523"/>
            <a:ext cx="3887787"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4605" name="Text Box 29">
            <a:extLst>
              <a:ext uri="{FF2B5EF4-FFF2-40B4-BE49-F238E27FC236}">
                <a16:creationId xmlns:a16="http://schemas.microsoft.com/office/drawing/2014/main" id="{EF8B5ABE-7ACF-4B61-B2EE-A7AB36CA698C}"/>
              </a:ext>
            </a:extLst>
          </p:cNvPr>
          <p:cNvSpPr txBox="1">
            <a:spLocks noChangeArrowheads="1"/>
          </p:cNvSpPr>
          <p:nvPr/>
        </p:nvSpPr>
        <p:spPr bwMode="auto">
          <a:xfrm>
            <a:off x="3951288" y="5869636"/>
            <a:ext cx="6334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rgbClr val="990000"/>
                </a:solidFill>
                <a:latin typeface="+mj-lt"/>
              </a:rPr>
              <a:t>PVu</a:t>
            </a:r>
            <a:endParaRPr lang="es-AR" altLang="es-AR" sz="1400" b="1">
              <a:solidFill>
                <a:srgbClr val="990000"/>
              </a:solidFill>
              <a:latin typeface="+mj-lt"/>
              <a:cs typeface="Tahoma" panose="020B0604030504040204" pitchFamily="34" charset="0"/>
            </a:endParaRPr>
          </a:p>
        </p:txBody>
      </p:sp>
      <p:sp>
        <p:nvSpPr>
          <p:cNvPr id="24608" name="AutoShape 32">
            <a:extLst>
              <a:ext uri="{FF2B5EF4-FFF2-40B4-BE49-F238E27FC236}">
                <a16:creationId xmlns:a16="http://schemas.microsoft.com/office/drawing/2014/main" id="{B570F80A-C094-40D4-9C87-D4805F72129F}"/>
              </a:ext>
            </a:extLst>
          </p:cNvPr>
          <p:cNvSpPr>
            <a:spLocks noChangeArrowheads="1"/>
          </p:cNvSpPr>
          <p:nvPr/>
        </p:nvSpPr>
        <p:spPr bwMode="auto">
          <a:xfrm>
            <a:off x="5794376" y="3743974"/>
            <a:ext cx="142875" cy="144463"/>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24609" name="Line 33">
            <a:extLst>
              <a:ext uri="{FF2B5EF4-FFF2-40B4-BE49-F238E27FC236}">
                <a16:creationId xmlns:a16="http://schemas.microsoft.com/office/drawing/2014/main" id="{A3B45218-58C0-4911-8377-4E3165DE2D7D}"/>
              </a:ext>
            </a:extLst>
          </p:cNvPr>
          <p:cNvSpPr>
            <a:spLocks noChangeShapeType="1"/>
          </p:cNvSpPr>
          <p:nvPr/>
        </p:nvSpPr>
        <p:spPr bwMode="auto">
          <a:xfrm>
            <a:off x="5880100" y="3901136"/>
            <a:ext cx="0" cy="240030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4610" name="Line 34">
            <a:extLst>
              <a:ext uri="{FF2B5EF4-FFF2-40B4-BE49-F238E27FC236}">
                <a16:creationId xmlns:a16="http://schemas.microsoft.com/office/drawing/2014/main" id="{820F6F3D-F0B5-47D9-9507-09883EAE187A}"/>
              </a:ext>
            </a:extLst>
          </p:cNvPr>
          <p:cNvSpPr>
            <a:spLocks noChangeShapeType="1"/>
          </p:cNvSpPr>
          <p:nvPr/>
        </p:nvSpPr>
        <p:spPr bwMode="auto">
          <a:xfrm flipH="1">
            <a:off x="3275013" y="3801123"/>
            <a:ext cx="2533650"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4612" name="Text Box 36">
            <a:extLst>
              <a:ext uri="{FF2B5EF4-FFF2-40B4-BE49-F238E27FC236}">
                <a16:creationId xmlns:a16="http://schemas.microsoft.com/office/drawing/2014/main" id="{C72648E9-E3FC-4003-A64E-4F9089958CF9}"/>
              </a:ext>
            </a:extLst>
          </p:cNvPr>
          <p:cNvSpPr txBox="1">
            <a:spLocks noChangeArrowheads="1"/>
          </p:cNvSpPr>
          <p:nvPr/>
        </p:nvSpPr>
        <p:spPr bwMode="auto">
          <a:xfrm>
            <a:off x="1005315" y="5172307"/>
            <a:ext cx="225699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600" b="1" dirty="0">
                <a:solidFill>
                  <a:schemeClr val="hlink"/>
                </a:solidFill>
                <a:latin typeface="+mj-lt"/>
              </a:rPr>
              <a:t>COSTO FIJO TOTAL</a:t>
            </a:r>
            <a:endParaRPr lang="es-AR" altLang="es-AR" sz="1600" b="1" dirty="0">
              <a:solidFill>
                <a:schemeClr val="hlink"/>
              </a:solidFill>
              <a:latin typeface="+mj-lt"/>
              <a:cs typeface="Tahoma" panose="020B0604030504040204" pitchFamily="34" charset="0"/>
            </a:endParaRPr>
          </a:p>
        </p:txBody>
      </p:sp>
      <p:sp>
        <p:nvSpPr>
          <p:cNvPr id="24614" name="Text Box 38">
            <a:extLst>
              <a:ext uri="{FF2B5EF4-FFF2-40B4-BE49-F238E27FC236}">
                <a16:creationId xmlns:a16="http://schemas.microsoft.com/office/drawing/2014/main" id="{27A0EB2C-5F2C-40EA-B2EE-AFFBEFB6C9B5}"/>
              </a:ext>
            </a:extLst>
          </p:cNvPr>
          <p:cNvSpPr txBox="1">
            <a:spLocks noChangeArrowheads="1"/>
          </p:cNvSpPr>
          <p:nvPr/>
        </p:nvSpPr>
        <p:spPr bwMode="auto">
          <a:xfrm>
            <a:off x="8382898" y="4495828"/>
            <a:ext cx="30083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b="1" dirty="0">
                <a:solidFill>
                  <a:schemeClr val="tx1">
                    <a:lumMod val="85000"/>
                    <a:lumOff val="15000"/>
                  </a:schemeClr>
                </a:solidFill>
                <a:latin typeface="+mj-lt"/>
              </a:rPr>
              <a:t>POTENCIAL DE BENEFICIO</a:t>
            </a:r>
            <a:endParaRPr lang="es-ES" altLang="es-AR" b="1" dirty="0">
              <a:solidFill>
                <a:schemeClr val="tx1">
                  <a:lumMod val="85000"/>
                  <a:lumOff val="15000"/>
                </a:schemeClr>
              </a:solidFill>
              <a:latin typeface="+mj-lt"/>
            </a:endParaRPr>
          </a:p>
        </p:txBody>
      </p:sp>
      <p:sp>
        <p:nvSpPr>
          <p:cNvPr id="24615" name="Rectangle 39">
            <a:extLst>
              <a:ext uri="{FF2B5EF4-FFF2-40B4-BE49-F238E27FC236}">
                <a16:creationId xmlns:a16="http://schemas.microsoft.com/office/drawing/2014/main" id="{B8C8686A-8888-45F8-A682-0D7383D279C8}"/>
              </a:ext>
            </a:extLst>
          </p:cNvPr>
          <p:cNvSpPr>
            <a:spLocks noChangeArrowheads="1"/>
          </p:cNvSpPr>
          <p:nvPr/>
        </p:nvSpPr>
        <p:spPr bwMode="auto">
          <a:xfrm>
            <a:off x="2843214" y="6372873"/>
            <a:ext cx="3143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AR" altLang="es-AR" sz="1600" b="1">
                <a:latin typeface="Tahoma" panose="020B0604030504040204" pitchFamily="34" charset="0"/>
              </a:rPr>
              <a:t>0</a:t>
            </a:r>
            <a:endParaRPr lang="es-ES" altLang="es-AR" sz="1600" b="1">
              <a:latin typeface="Tahoma" panose="020B0604030504040204" pitchFamily="34" charset="0"/>
            </a:endParaRPr>
          </a:p>
        </p:txBody>
      </p:sp>
      <p:sp>
        <p:nvSpPr>
          <p:cNvPr id="24621" name="Rectangle 45">
            <a:extLst>
              <a:ext uri="{FF2B5EF4-FFF2-40B4-BE49-F238E27FC236}">
                <a16:creationId xmlns:a16="http://schemas.microsoft.com/office/drawing/2014/main" id="{CE327FE5-EFBD-4784-A9E8-CCB57CF966FD}"/>
              </a:ext>
            </a:extLst>
          </p:cNvPr>
          <p:cNvSpPr>
            <a:spLocks noChangeArrowheads="1"/>
          </p:cNvSpPr>
          <p:nvPr/>
        </p:nvSpPr>
        <p:spPr bwMode="auto">
          <a:xfrm>
            <a:off x="6456363" y="6372873"/>
            <a:ext cx="14398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AR" altLang="es-AR" sz="1600" b="1">
                <a:latin typeface="Tahoma" panose="020B0604030504040204" pitchFamily="34" charset="0"/>
              </a:rPr>
              <a:t>q instalada</a:t>
            </a:r>
            <a:endParaRPr lang="es-ES" altLang="es-AR" sz="1600" b="1">
              <a:latin typeface="Tahoma" panose="020B0604030504040204" pitchFamily="34" charset="0"/>
            </a:endParaRPr>
          </a:p>
        </p:txBody>
      </p:sp>
      <p:sp>
        <p:nvSpPr>
          <p:cNvPr id="24625" name="Line 49">
            <a:extLst>
              <a:ext uri="{FF2B5EF4-FFF2-40B4-BE49-F238E27FC236}">
                <a16:creationId xmlns:a16="http://schemas.microsoft.com/office/drawing/2014/main" id="{64E732E3-A162-4D0D-841E-C35FA88D168C}"/>
              </a:ext>
            </a:extLst>
          </p:cNvPr>
          <p:cNvSpPr>
            <a:spLocks noChangeShapeType="1"/>
          </p:cNvSpPr>
          <p:nvPr/>
        </p:nvSpPr>
        <p:spPr bwMode="auto">
          <a:xfrm flipH="1">
            <a:off x="3287714" y="3037536"/>
            <a:ext cx="3887787"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4627" name="Line 51">
            <a:extLst>
              <a:ext uri="{FF2B5EF4-FFF2-40B4-BE49-F238E27FC236}">
                <a16:creationId xmlns:a16="http://schemas.microsoft.com/office/drawing/2014/main" id="{A97ECD2C-F4A1-43C3-B8C6-0141824FD1F0}"/>
              </a:ext>
            </a:extLst>
          </p:cNvPr>
          <p:cNvSpPr>
            <a:spLocks noChangeShapeType="1"/>
          </p:cNvSpPr>
          <p:nvPr/>
        </p:nvSpPr>
        <p:spPr bwMode="auto">
          <a:xfrm flipH="1">
            <a:off x="3287714" y="4190061"/>
            <a:ext cx="3887787"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4629" name="Line 53">
            <a:extLst>
              <a:ext uri="{FF2B5EF4-FFF2-40B4-BE49-F238E27FC236}">
                <a16:creationId xmlns:a16="http://schemas.microsoft.com/office/drawing/2014/main" id="{AB3C5D7E-27ED-4C85-8DD1-B093EF2BF838}"/>
              </a:ext>
            </a:extLst>
          </p:cNvPr>
          <p:cNvSpPr>
            <a:spLocks noChangeShapeType="1"/>
          </p:cNvSpPr>
          <p:nvPr/>
        </p:nvSpPr>
        <p:spPr bwMode="auto">
          <a:xfrm flipH="1">
            <a:off x="3287714" y="4909198"/>
            <a:ext cx="2592387"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4631" name="AutoShape 55">
            <a:extLst>
              <a:ext uri="{FF2B5EF4-FFF2-40B4-BE49-F238E27FC236}">
                <a16:creationId xmlns:a16="http://schemas.microsoft.com/office/drawing/2014/main" id="{A3DF3054-0C5B-435F-8B12-C7636122FC7E}"/>
              </a:ext>
            </a:extLst>
          </p:cNvPr>
          <p:cNvSpPr>
            <a:spLocks/>
          </p:cNvSpPr>
          <p:nvPr/>
        </p:nvSpPr>
        <p:spPr bwMode="auto">
          <a:xfrm>
            <a:off x="7248526" y="2534298"/>
            <a:ext cx="142875" cy="503238"/>
          </a:xfrm>
          <a:prstGeom prst="rightBrace">
            <a:avLst>
              <a:gd name="adj1" fmla="val 2935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24632" name="Rectangle 56">
            <a:extLst>
              <a:ext uri="{FF2B5EF4-FFF2-40B4-BE49-F238E27FC236}">
                <a16:creationId xmlns:a16="http://schemas.microsoft.com/office/drawing/2014/main" id="{4DBB1997-DCD1-4B1D-B512-A77716F2685D}"/>
              </a:ext>
            </a:extLst>
          </p:cNvPr>
          <p:cNvSpPr>
            <a:spLocks noChangeArrowheads="1"/>
          </p:cNvSpPr>
          <p:nvPr/>
        </p:nvSpPr>
        <p:spPr bwMode="auto">
          <a:xfrm>
            <a:off x="7464426" y="2604149"/>
            <a:ext cx="1439863" cy="28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sz="1600" b="1">
                <a:latin typeface="+mj-lt"/>
              </a:rPr>
              <a:t>Beneficio</a:t>
            </a:r>
            <a:endParaRPr lang="es-ES" altLang="es-AR" sz="1600" b="1">
              <a:latin typeface="+mj-lt"/>
            </a:endParaRPr>
          </a:p>
        </p:txBody>
      </p:sp>
      <p:sp>
        <p:nvSpPr>
          <p:cNvPr id="24633" name="Rectangle 57">
            <a:extLst>
              <a:ext uri="{FF2B5EF4-FFF2-40B4-BE49-F238E27FC236}">
                <a16:creationId xmlns:a16="http://schemas.microsoft.com/office/drawing/2014/main" id="{1D24916B-89A2-4744-B00E-5744CB1EA01F}"/>
              </a:ext>
            </a:extLst>
          </p:cNvPr>
          <p:cNvSpPr>
            <a:spLocks noChangeArrowheads="1"/>
          </p:cNvSpPr>
          <p:nvPr/>
        </p:nvSpPr>
        <p:spPr bwMode="auto">
          <a:xfrm>
            <a:off x="7464426" y="3181999"/>
            <a:ext cx="3167063"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sz="1600" b="1">
                <a:latin typeface="+mj-lt"/>
              </a:rPr>
              <a:t>Contribución Marginal Total</a:t>
            </a:r>
            <a:endParaRPr lang="es-ES" altLang="es-AR" sz="1600" b="1">
              <a:latin typeface="+mj-lt"/>
            </a:endParaRPr>
          </a:p>
        </p:txBody>
      </p:sp>
      <p:sp>
        <p:nvSpPr>
          <p:cNvPr id="24634" name="AutoShape 58">
            <a:extLst>
              <a:ext uri="{FF2B5EF4-FFF2-40B4-BE49-F238E27FC236}">
                <a16:creationId xmlns:a16="http://schemas.microsoft.com/office/drawing/2014/main" id="{5BE0DCD1-8EA4-4541-B0B5-A92477401F85}"/>
              </a:ext>
            </a:extLst>
          </p:cNvPr>
          <p:cNvSpPr>
            <a:spLocks/>
          </p:cNvSpPr>
          <p:nvPr/>
        </p:nvSpPr>
        <p:spPr bwMode="auto">
          <a:xfrm>
            <a:off x="7392989" y="2534298"/>
            <a:ext cx="71437" cy="1582738"/>
          </a:xfrm>
          <a:prstGeom prst="rightBrace">
            <a:avLst>
              <a:gd name="adj1" fmla="val 184631"/>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24635" name="Rectangle 59">
            <a:extLst>
              <a:ext uri="{FF2B5EF4-FFF2-40B4-BE49-F238E27FC236}">
                <a16:creationId xmlns:a16="http://schemas.microsoft.com/office/drawing/2014/main" id="{D6555B74-5FEE-45D4-A86A-FFFD72B00A1E}"/>
              </a:ext>
            </a:extLst>
          </p:cNvPr>
          <p:cNvSpPr>
            <a:spLocks noChangeArrowheads="1"/>
          </p:cNvSpPr>
          <p:nvPr/>
        </p:nvSpPr>
        <p:spPr bwMode="auto">
          <a:xfrm>
            <a:off x="1703387" y="1414463"/>
            <a:ext cx="878522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1800" b="1" dirty="0">
                <a:latin typeface="+mj-lt"/>
              </a:rPr>
              <a:t>1° CASO) ALTOS COSTOS FIJOS, CON ALTOS COSTOS VARIABLES</a:t>
            </a:r>
            <a:endParaRPr lang="es-ES" altLang="es-AR" sz="1800" b="1" dirty="0">
              <a:latin typeface="+mj-lt"/>
            </a:endParaRPr>
          </a:p>
        </p:txBody>
      </p:sp>
      <p:sp>
        <p:nvSpPr>
          <p:cNvPr id="24636" name="Rectangle 60">
            <a:extLst>
              <a:ext uri="{FF2B5EF4-FFF2-40B4-BE49-F238E27FC236}">
                <a16:creationId xmlns:a16="http://schemas.microsoft.com/office/drawing/2014/main" id="{B5734874-FE8A-4C95-8489-781BE2B25346}"/>
              </a:ext>
            </a:extLst>
          </p:cNvPr>
          <p:cNvSpPr>
            <a:spLocks noChangeArrowheads="1"/>
          </p:cNvSpPr>
          <p:nvPr/>
        </p:nvSpPr>
        <p:spPr bwMode="auto">
          <a:xfrm>
            <a:off x="8798823" y="4976841"/>
            <a:ext cx="2089150" cy="79216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b="1" u="sng" dirty="0">
                <a:solidFill>
                  <a:schemeClr val="tx1">
                    <a:lumMod val="85000"/>
                    <a:lumOff val="15000"/>
                  </a:schemeClr>
                </a:solidFill>
                <a:latin typeface="+mj-lt"/>
              </a:rPr>
              <a:t>AREA ( + )</a:t>
            </a:r>
          </a:p>
          <a:p>
            <a:pPr algn="l" eaLnBrk="1" hangingPunct="1">
              <a:defRPr/>
            </a:pPr>
            <a:r>
              <a:rPr lang="es-AR" altLang="es-AR" sz="2000" b="1" dirty="0">
                <a:solidFill>
                  <a:schemeClr val="tx1">
                    <a:lumMod val="85000"/>
                    <a:lumOff val="15000"/>
                  </a:schemeClr>
                </a:solidFill>
                <a:latin typeface="+mj-lt"/>
              </a:rPr>
              <a:t>AREA ( - )</a:t>
            </a:r>
            <a:endParaRPr lang="es-ES" altLang="es-AR" sz="2000" b="1" dirty="0">
              <a:solidFill>
                <a:schemeClr val="tx1">
                  <a:lumMod val="85000"/>
                  <a:lumOff val="15000"/>
                </a:schemeClr>
              </a:solidFill>
              <a:latin typeface="+mj-lt"/>
            </a:endParaRPr>
          </a:p>
        </p:txBody>
      </p:sp>
      <p:sp>
        <p:nvSpPr>
          <p:cNvPr id="24637" name="Arc 61">
            <a:extLst>
              <a:ext uri="{FF2B5EF4-FFF2-40B4-BE49-F238E27FC236}">
                <a16:creationId xmlns:a16="http://schemas.microsoft.com/office/drawing/2014/main" id="{7E22EDBD-4512-412B-A25D-59565C25A2CB}"/>
              </a:ext>
            </a:extLst>
          </p:cNvPr>
          <p:cNvSpPr>
            <a:spLocks/>
          </p:cNvSpPr>
          <p:nvPr/>
        </p:nvSpPr>
        <p:spPr bwMode="auto">
          <a:xfrm rot="18108017">
            <a:off x="4190207" y="5324330"/>
            <a:ext cx="358775" cy="395288"/>
          </a:xfrm>
          <a:custGeom>
            <a:avLst/>
            <a:gdLst>
              <a:gd name="T0" fmla="*/ 4779531 w 21600"/>
              <a:gd name="T1" fmla="*/ 0 h 31116"/>
              <a:gd name="T2" fmla="*/ 3202814 w 21600"/>
              <a:gd name="T3" fmla="*/ 5021616 h 31116"/>
              <a:gd name="T4" fmla="*/ 0 w 21600"/>
              <a:gd name="T5" fmla="*/ 2082008 h 31116"/>
              <a:gd name="T6" fmla="*/ 0 60000 65536"/>
              <a:gd name="T7" fmla="*/ 0 60000 65536"/>
              <a:gd name="T8" fmla="*/ 0 60000 65536"/>
            </a:gdLst>
            <a:ahLst/>
            <a:cxnLst>
              <a:cxn ang="T6">
                <a:pos x="T0" y="T1"/>
              </a:cxn>
              <a:cxn ang="T7">
                <a:pos x="T2" y="T3"/>
              </a:cxn>
              <a:cxn ang="T8">
                <a:pos x="T4" y="T5"/>
              </a:cxn>
            </a:cxnLst>
            <a:rect l="0" t="0" r="r" b="b"/>
            <a:pathLst>
              <a:path w="21600" h="31116" fill="none" extrusionOk="0">
                <a:moveTo>
                  <a:pt x="17324" y="-1"/>
                </a:moveTo>
                <a:cubicBezTo>
                  <a:pt x="20100" y="3728"/>
                  <a:pt x="21600" y="8252"/>
                  <a:pt x="21600" y="12901"/>
                </a:cubicBezTo>
                <a:cubicBezTo>
                  <a:pt x="21600" y="20280"/>
                  <a:pt x="17832" y="27149"/>
                  <a:pt x="11609" y="31116"/>
                </a:cubicBezTo>
              </a:path>
              <a:path w="21600" h="31116" stroke="0" extrusionOk="0">
                <a:moveTo>
                  <a:pt x="17324" y="-1"/>
                </a:moveTo>
                <a:cubicBezTo>
                  <a:pt x="20100" y="3728"/>
                  <a:pt x="21600" y="8252"/>
                  <a:pt x="21600" y="12901"/>
                </a:cubicBezTo>
                <a:cubicBezTo>
                  <a:pt x="21600" y="20280"/>
                  <a:pt x="17832" y="27149"/>
                  <a:pt x="11609" y="31116"/>
                </a:cubicBezTo>
                <a:lnTo>
                  <a:pt x="0" y="12901"/>
                </a:lnTo>
                <a:lnTo>
                  <a:pt x="17324" y="-1"/>
                </a:lnTo>
                <a:close/>
              </a:path>
            </a:pathLst>
          </a:custGeom>
          <a:noFill/>
          <a:ln w="9525">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24638" name="Text Box 62">
            <a:extLst>
              <a:ext uri="{FF2B5EF4-FFF2-40B4-BE49-F238E27FC236}">
                <a16:creationId xmlns:a16="http://schemas.microsoft.com/office/drawing/2014/main" id="{16A3D7F6-F3EE-4598-8A3B-488C43BDF03F}"/>
              </a:ext>
            </a:extLst>
          </p:cNvPr>
          <p:cNvSpPr txBox="1">
            <a:spLocks noChangeArrowheads="1"/>
          </p:cNvSpPr>
          <p:nvPr/>
        </p:nvSpPr>
        <p:spPr bwMode="auto">
          <a:xfrm>
            <a:off x="4440239" y="5052073"/>
            <a:ext cx="8207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latin typeface="+mj-lt"/>
              </a:rPr>
              <a:t>CM u</a:t>
            </a:r>
            <a:endParaRPr lang="es-AR" altLang="es-AR" sz="1400" b="1">
              <a:latin typeface="+mj-lt"/>
              <a:cs typeface="Tahoma" panose="020B0604030504040204" pitchFamily="34" charset="0"/>
            </a:endParaRPr>
          </a:p>
        </p:txBody>
      </p:sp>
      <p:sp>
        <p:nvSpPr>
          <p:cNvPr id="24639" name="Text Box 63">
            <a:extLst>
              <a:ext uri="{FF2B5EF4-FFF2-40B4-BE49-F238E27FC236}">
                <a16:creationId xmlns:a16="http://schemas.microsoft.com/office/drawing/2014/main" id="{772A0B94-EC8B-4258-839B-525E77B62197}"/>
              </a:ext>
            </a:extLst>
          </p:cNvPr>
          <p:cNvSpPr txBox="1">
            <a:spLocks noChangeArrowheads="1"/>
          </p:cNvSpPr>
          <p:nvPr/>
        </p:nvSpPr>
        <p:spPr bwMode="auto">
          <a:xfrm>
            <a:off x="430218" y="4031102"/>
            <a:ext cx="277018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600" b="1" dirty="0">
                <a:solidFill>
                  <a:srgbClr val="0000FF"/>
                </a:solidFill>
                <a:latin typeface="+mj-lt"/>
              </a:rPr>
              <a:t>COSTO VARIABLE TOTAL</a:t>
            </a:r>
            <a:endParaRPr lang="es-AR" altLang="es-AR" sz="1600" b="1" dirty="0">
              <a:solidFill>
                <a:srgbClr val="0000FF"/>
              </a:solidFill>
              <a:latin typeface="+mj-lt"/>
              <a:cs typeface="Tahoma" panose="020B0604030504040204" pitchFamily="34" charset="0"/>
            </a:endParaRPr>
          </a:p>
        </p:txBody>
      </p:sp>
      <p:sp>
        <p:nvSpPr>
          <p:cNvPr id="24640" name="Text Box 64">
            <a:extLst>
              <a:ext uri="{FF2B5EF4-FFF2-40B4-BE49-F238E27FC236}">
                <a16:creationId xmlns:a16="http://schemas.microsoft.com/office/drawing/2014/main" id="{4E1ACBA4-688E-43AE-8EB3-11149F0CDB4F}"/>
              </a:ext>
            </a:extLst>
          </p:cNvPr>
          <p:cNvSpPr txBox="1">
            <a:spLocks noChangeArrowheads="1"/>
          </p:cNvSpPr>
          <p:nvPr/>
        </p:nvSpPr>
        <p:spPr bwMode="auto">
          <a:xfrm>
            <a:off x="266703" y="2901973"/>
            <a:ext cx="321441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600" b="1" dirty="0">
                <a:solidFill>
                  <a:srgbClr val="FF3300"/>
                </a:solidFill>
                <a:latin typeface="+mj-lt"/>
              </a:rPr>
              <a:t>COSTO TOTAL = CFT + CVT</a:t>
            </a:r>
            <a:endParaRPr lang="es-AR" altLang="es-AR" sz="1600" b="1" dirty="0">
              <a:solidFill>
                <a:srgbClr val="FF3300"/>
              </a:solidFill>
              <a:latin typeface="+mj-lt"/>
              <a:cs typeface="Tahoma" panose="020B0604030504040204" pitchFamily="34" charset="0"/>
            </a:endParaRPr>
          </a:p>
        </p:txBody>
      </p:sp>
      <p:sp>
        <p:nvSpPr>
          <p:cNvPr id="24641" name="Text Box 65">
            <a:extLst>
              <a:ext uri="{FF2B5EF4-FFF2-40B4-BE49-F238E27FC236}">
                <a16:creationId xmlns:a16="http://schemas.microsoft.com/office/drawing/2014/main" id="{AFB8C208-E3DE-4DF5-B297-C44FD4DDF413}"/>
              </a:ext>
            </a:extLst>
          </p:cNvPr>
          <p:cNvSpPr txBox="1">
            <a:spLocks noChangeArrowheads="1"/>
          </p:cNvSpPr>
          <p:nvPr/>
        </p:nvSpPr>
        <p:spPr bwMode="auto">
          <a:xfrm>
            <a:off x="1358900" y="2316811"/>
            <a:ext cx="22161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600" b="1" dirty="0">
                <a:solidFill>
                  <a:srgbClr val="996633"/>
                </a:solidFill>
                <a:latin typeface="+mj-lt"/>
              </a:rPr>
              <a:t>INGRESO TOTAL</a:t>
            </a:r>
            <a:endParaRPr lang="es-AR" altLang="es-AR" sz="1600" b="1" dirty="0">
              <a:solidFill>
                <a:srgbClr val="996633"/>
              </a:solidFill>
              <a:latin typeface="+mj-lt"/>
              <a:cs typeface="Tahoma" panose="020B0604030504040204" pitchFamily="34" charset="0"/>
            </a:endParaRPr>
          </a:p>
        </p:txBody>
      </p:sp>
      <p:sp>
        <p:nvSpPr>
          <p:cNvPr id="24642" name="Rectangle 66">
            <a:extLst>
              <a:ext uri="{FF2B5EF4-FFF2-40B4-BE49-F238E27FC236}">
                <a16:creationId xmlns:a16="http://schemas.microsoft.com/office/drawing/2014/main" id="{BA776F6D-8004-47EE-9EDF-F91F01865916}"/>
              </a:ext>
            </a:extLst>
          </p:cNvPr>
          <p:cNvSpPr>
            <a:spLocks noChangeArrowheads="1"/>
          </p:cNvSpPr>
          <p:nvPr/>
        </p:nvSpPr>
        <p:spPr bwMode="auto">
          <a:xfrm>
            <a:off x="2905126" y="1893094"/>
            <a:ext cx="504825"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sz="1600" b="1" dirty="0">
                <a:latin typeface="Tahoma" panose="020B0604030504040204" pitchFamily="34" charset="0"/>
              </a:rPr>
              <a:t>$</a:t>
            </a:r>
            <a:endParaRPr lang="es-ES" altLang="es-AR" sz="1600" b="1" dirty="0">
              <a:latin typeface="Tahoma" panose="020B0604030504040204" pitchFamily="34" charset="0"/>
            </a:endParaRPr>
          </a:p>
        </p:txBody>
      </p:sp>
      <p:sp>
        <p:nvSpPr>
          <p:cNvPr id="2" name="Signo más 1">
            <a:extLst>
              <a:ext uri="{FF2B5EF4-FFF2-40B4-BE49-F238E27FC236}">
                <a16:creationId xmlns:a16="http://schemas.microsoft.com/office/drawing/2014/main" id="{07DA0F2D-05C3-43BA-B2AF-26E66EF379EF}"/>
              </a:ext>
            </a:extLst>
          </p:cNvPr>
          <p:cNvSpPr/>
          <p:nvPr/>
        </p:nvSpPr>
        <p:spPr>
          <a:xfrm>
            <a:off x="6772584" y="2893074"/>
            <a:ext cx="260035" cy="237310"/>
          </a:xfrm>
          <a:prstGeom prst="mathPlus">
            <a:avLst>
              <a:gd name="adj1" fmla="val 612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 name="Signo menos 2">
            <a:extLst>
              <a:ext uri="{FF2B5EF4-FFF2-40B4-BE49-F238E27FC236}">
                <a16:creationId xmlns:a16="http://schemas.microsoft.com/office/drawing/2014/main" id="{3012E20B-A7FF-4063-A986-F23D077D617F}"/>
              </a:ext>
            </a:extLst>
          </p:cNvPr>
          <p:cNvSpPr/>
          <p:nvPr/>
        </p:nvSpPr>
        <p:spPr>
          <a:xfrm>
            <a:off x="4107088" y="4997075"/>
            <a:ext cx="218754" cy="118656"/>
          </a:xfrm>
          <a:prstGeom prst="mathMinus">
            <a:avLst/>
          </a:prstGeom>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 name="CuadroTexto 3">
            <a:extLst>
              <a:ext uri="{FF2B5EF4-FFF2-40B4-BE49-F238E27FC236}">
                <a16:creationId xmlns:a16="http://schemas.microsoft.com/office/drawing/2014/main" id="{A9D64BF3-1FA3-4E8C-91AD-FC9EB67F3C55}"/>
              </a:ext>
            </a:extLst>
          </p:cNvPr>
          <p:cNvSpPr txBox="1"/>
          <p:nvPr/>
        </p:nvSpPr>
        <p:spPr>
          <a:xfrm>
            <a:off x="10379213" y="5119715"/>
            <a:ext cx="421419" cy="369332"/>
          </a:xfrm>
          <a:prstGeom prst="rect">
            <a:avLst/>
          </a:prstGeom>
          <a:noFill/>
        </p:spPr>
        <p:txBody>
          <a:bodyPr wrap="square" rtlCol="0">
            <a:spAutoFit/>
          </a:bodyPr>
          <a:lstStyle/>
          <a:p>
            <a:r>
              <a:rPr lang="es-AR" b="1" dirty="0"/>
              <a:t>&lt;</a:t>
            </a:r>
          </a:p>
        </p:txBody>
      </p:sp>
      <p:sp>
        <p:nvSpPr>
          <p:cNvPr id="5" name="CuadroTexto 4">
            <a:extLst>
              <a:ext uri="{FF2B5EF4-FFF2-40B4-BE49-F238E27FC236}">
                <a16:creationId xmlns:a16="http://schemas.microsoft.com/office/drawing/2014/main" id="{160D7DF2-CA5C-4D4D-8278-A0165492B76C}"/>
              </a:ext>
            </a:extLst>
          </p:cNvPr>
          <p:cNvSpPr txBox="1"/>
          <p:nvPr/>
        </p:nvSpPr>
        <p:spPr>
          <a:xfrm>
            <a:off x="10689288" y="5098828"/>
            <a:ext cx="270344" cy="400110"/>
          </a:xfrm>
          <a:prstGeom prst="rect">
            <a:avLst/>
          </a:prstGeom>
          <a:noFill/>
        </p:spPr>
        <p:txBody>
          <a:bodyPr wrap="square" rtlCol="0">
            <a:spAutoFit/>
          </a:bodyPr>
          <a:lstStyle/>
          <a:p>
            <a:r>
              <a:rPr lang="es-AR" sz="2000" b="1" dirty="0"/>
              <a:t>1</a:t>
            </a:r>
          </a:p>
        </p:txBody>
      </p:sp>
      <p:sp>
        <p:nvSpPr>
          <p:cNvPr id="6" name="Rectángulo 5">
            <a:extLst>
              <a:ext uri="{FF2B5EF4-FFF2-40B4-BE49-F238E27FC236}">
                <a16:creationId xmlns:a16="http://schemas.microsoft.com/office/drawing/2014/main" id="{63ABC87A-819D-4F32-874F-C93101392199}"/>
              </a:ext>
            </a:extLst>
          </p:cNvPr>
          <p:cNvSpPr/>
          <p:nvPr/>
        </p:nvSpPr>
        <p:spPr>
          <a:xfrm>
            <a:off x="3287714" y="868578"/>
            <a:ext cx="2981907" cy="369332"/>
          </a:xfrm>
          <a:prstGeom prst="rect">
            <a:avLst/>
          </a:prstGeom>
        </p:spPr>
        <p:txBody>
          <a:bodyPr wrap="none">
            <a:spAutoFit/>
          </a:bodyPr>
          <a:lstStyle/>
          <a:p>
            <a:r>
              <a:rPr lang="es-AR" b="1" dirty="0"/>
              <a:t>POTENCIAL DE BENEFICIO</a:t>
            </a:r>
          </a:p>
        </p:txBody>
      </p:sp>
      <p:sp>
        <p:nvSpPr>
          <p:cNvPr id="7" name="Marcador de número de diapositiva 6">
            <a:extLst>
              <a:ext uri="{FF2B5EF4-FFF2-40B4-BE49-F238E27FC236}">
                <a16:creationId xmlns:a16="http://schemas.microsoft.com/office/drawing/2014/main" id="{495B98B6-9CF8-4D1F-BD31-2D92705C7A13}"/>
              </a:ext>
            </a:extLst>
          </p:cNvPr>
          <p:cNvSpPr>
            <a:spLocks noGrp="1"/>
          </p:cNvSpPr>
          <p:nvPr>
            <p:ph type="sldNum" sz="quarter" idx="12"/>
          </p:nvPr>
        </p:nvSpPr>
        <p:spPr/>
        <p:txBody>
          <a:bodyPr/>
          <a:lstStyle/>
          <a:p>
            <a:fld id="{D57F1E4F-1CFF-5643-939E-217C01CDF565}" type="slidenum">
              <a:rPr lang="en-US" smtClean="0"/>
              <a:pPr/>
              <a:t>9</a:t>
            </a:fld>
            <a:endParaRPr lang="en-US" dirty="0"/>
          </a:p>
        </p:txBody>
      </p:sp>
      <p:sp>
        <p:nvSpPr>
          <p:cNvPr id="45" name="CuadroTexto 44">
            <a:extLst>
              <a:ext uri="{FF2B5EF4-FFF2-40B4-BE49-F238E27FC236}">
                <a16:creationId xmlns:a16="http://schemas.microsoft.com/office/drawing/2014/main" id="{432FAB8A-E0E6-43BE-B72F-F9DD30F64D78}"/>
              </a:ext>
            </a:extLst>
          </p:cNvPr>
          <p:cNvSpPr txBox="1"/>
          <p:nvPr/>
        </p:nvSpPr>
        <p:spPr>
          <a:xfrm>
            <a:off x="2804875" y="3635449"/>
            <a:ext cx="482839" cy="307777"/>
          </a:xfrm>
          <a:prstGeom prst="rect">
            <a:avLst/>
          </a:prstGeom>
          <a:noFill/>
        </p:spPr>
        <p:txBody>
          <a:bodyPr wrap="square" rtlCol="0">
            <a:spAutoFit/>
          </a:bodyPr>
          <a:lstStyle/>
          <a:p>
            <a:r>
              <a:rPr lang="es-AR" sz="1400" b="1" dirty="0"/>
              <a:t>P</a:t>
            </a:r>
            <a:r>
              <a:rPr lang="es-AR" sz="1200" b="1" dirty="0"/>
              <a:t>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59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6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59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nodeType="clickEffect">
                                  <p:stCondLst>
                                    <p:cond delay="0"/>
                                  </p:stCondLst>
                                  <p:childTnLst>
                                    <p:set>
                                      <p:cBhvr>
                                        <p:cTn id="14" dur="1" fill="hold">
                                          <p:stCondLst>
                                            <p:cond delay="0"/>
                                          </p:stCondLst>
                                        </p:cTn>
                                        <p:tgtEl>
                                          <p:spTgt spid="24603"/>
                                        </p:tgtEl>
                                        <p:attrNameLst>
                                          <p:attrName>style.visibility</p:attrName>
                                        </p:attrNameLst>
                                      </p:cBhvr>
                                      <p:to>
                                        <p:strVal val="visible"/>
                                      </p:to>
                                    </p:set>
                                    <p:animEffect transition="in" filter="wipe(down)">
                                      <p:cBhvr>
                                        <p:cTn id="15" dur="500"/>
                                        <p:tgtEl>
                                          <p:spTgt spid="24603"/>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24621"/>
                                        </p:tgtEl>
                                        <p:attrNameLst>
                                          <p:attrName>style.visibility</p:attrName>
                                        </p:attrNameLst>
                                      </p:cBhvr>
                                      <p:to>
                                        <p:strVal val="visible"/>
                                      </p:to>
                                    </p:set>
                                    <p:animEffect transition="in" filter="wipe(down)">
                                      <p:cBhvr>
                                        <p:cTn id="18" dur="500"/>
                                        <p:tgtEl>
                                          <p:spTgt spid="24621"/>
                                        </p:tgtEl>
                                      </p:cBhvr>
                                    </p:animEffect>
                                  </p:childTnLst>
                                </p:cTn>
                              </p:par>
                              <p:par>
                                <p:cTn id="19" presetID="22" presetClass="entr" presetSubtype="4" fill="hold" nodeType="withEffect">
                                  <p:stCondLst>
                                    <p:cond delay="0"/>
                                  </p:stCondLst>
                                  <p:childTnLst>
                                    <p:set>
                                      <p:cBhvr>
                                        <p:cTn id="20" dur="1" fill="hold">
                                          <p:stCondLst>
                                            <p:cond delay="0"/>
                                          </p:stCondLst>
                                        </p:cTn>
                                        <p:tgtEl>
                                          <p:spTgt spid="24604"/>
                                        </p:tgtEl>
                                        <p:attrNameLst>
                                          <p:attrName>style.visibility</p:attrName>
                                        </p:attrNameLst>
                                      </p:cBhvr>
                                      <p:to>
                                        <p:strVal val="visible"/>
                                      </p:to>
                                    </p:set>
                                    <p:animEffect transition="in" filter="wipe(down)">
                                      <p:cBhvr>
                                        <p:cTn id="21" dur="500"/>
                                        <p:tgtEl>
                                          <p:spTgt spid="2460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4" fill="hold" nodeType="clickEffect">
                                  <p:stCondLst>
                                    <p:cond delay="0"/>
                                  </p:stCondLst>
                                  <p:childTnLst>
                                    <p:set>
                                      <p:cBhvr>
                                        <p:cTn id="25" dur="1" fill="hold">
                                          <p:stCondLst>
                                            <p:cond delay="0"/>
                                          </p:stCondLst>
                                        </p:cTn>
                                        <p:tgtEl>
                                          <p:spTgt spid="24596"/>
                                        </p:tgtEl>
                                        <p:attrNameLst>
                                          <p:attrName>style.visibility</p:attrName>
                                        </p:attrNameLst>
                                      </p:cBhvr>
                                      <p:to>
                                        <p:strVal val="visible"/>
                                      </p:to>
                                    </p:set>
                                    <p:animEffect transition="in" filter="wipe(down)">
                                      <p:cBhvr>
                                        <p:cTn id="26" dur="500"/>
                                        <p:tgtEl>
                                          <p:spTgt spid="24596"/>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24612"/>
                                        </p:tgtEl>
                                        <p:attrNameLst>
                                          <p:attrName>style.visibility</p:attrName>
                                        </p:attrNameLst>
                                      </p:cBhvr>
                                      <p:to>
                                        <p:strVal val="visible"/>
                                      </p:to>
                                    </p:set>
                                    <p:animEffect transition="in" filter="wipe(down)">
                                      <p:cBhvr>
                                        <p:cTn id="29" dur="500"/>
                                        <p:tgtEl>
                                          <p:spTgt spid="2461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4" fill="hold" nodeType="clickEffect">
                                  <p:stCondLst>
                                    <p:cond delay="0"/>
                                  </p:stCondLst>
                                  <p:childTnLst>
                                    <p:set>
                                      <p:cBhvr>
                                        <p:cTn id="33" dur="1" fill="hold">
                                          <p:stCondLst>
                                            <p:cond delay="0"/>
                                          </p:stCondLst>
                                        </p:cTn>
                                        <p:tgtEl>
                                          <p:spTgt spid="24600"/>
                                        </p:tgtEl>
                                        <p:attrNameLst>
                                          <p:attrName>style.visibility</p:attrName>
                                        </p:attrNameLst>
                                      </p:cBhvr>
                                      <p:to>
                                        <p:strVal val="visible"/>
                                      </p:to>
                                    </p:set>
                                    <p:animEffect transition="in" filter="wipe(down)">
                                      <p:cBhvr>
                                        <p:cTn id="34" dur="500"/>
                                        <p:tgtEl>
                                          <p:spTgt spid="24600"/>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24601"/>
                                        </p:tgtEl>
                                        <p:attrNameLst>
                                          <p:attrName>style.visibility</p:attrName>
                                        </p:attrNameLst>
                                      </p:cBhvr>
                                      <p:to>
                                        <p:strVal val="visible"/>
                                      </p:to>
                                    </p:set>
                                    <p:animEffect transition="in" filter="wipe(down)">
                                      <p:cBhvr>
                                        <p:cTn id="37" dur="500"/>
                                        <p:tgtEl>
                                          <p:spTgt spid="24601"/>
                                        </p:tgtEl>
                                      </p:cBhvr>
                                    </p:animEffect>
                                  </p:childTnLst>
                                </p:cTn>
                              </p:par>
                              <p:par>
                                <p:cTn id="38" presetID="22" presetClass="entr" presetSubtype="4" fill="hold" nodeType="withEffect">
                                  <p:stCondLst>
                                    <p:cond delay="0"/>
                                  </p:stCondLst>
                                  <p:childTnLst>
                                    <p:set>
                                      <p:cBhvr>
                                        <p:cTn id="39" dur="1" fill="hold">
                                          <p:stCondLst>
                                            <p:cond delay="0"/>
                                          </p:stCondLst>
                                        </p:cTn>
                                        <p:tgtEl>
                                          <p:spTgt spid="24597"/>
                                        </p:tgtEl>
                                        <p:attrNameLst>
                                          <p:attrName>style.visibility</p:attrName>
                                        </p:attrNameLst>
                                      </p:cBhvr>
                                      <p:to>
                                        <p:strVal val="visible"/>
                                      </p:to>
                                    </p:set>
                                    <p:animEffect transition="in" filter="wipe(down)">
                                      <p:cBhvr>
                                        <p:cTn id="40" dur="500"/>
                                        <p:tgtEl>
                                          <p:spTgt spid="24597"/>
                                        </p:tgtEl>
                                      </p:cBhvr>
                                    </p:animEffect>
                                  </p:childTnLst>
                                </p:cTn>
                              </p:par>
                              <p:par>
                                <p:cTn id="41" presetID="22" presetClass="entr" presetSubtype="4" fill="hold" nodeType="withEffect">
                                  <p:stCondLst>
                                    <p:cond delay="0"/>
                                  </p:stCondLst>
                                  <p:childTnLst>
                                    <p:set>
                                      <p:cBhvr>
                                        <p:cTn id="42" dur="1" fill="hold">
                                          <p:stCondLst>
                                            <p:cond delay="0"/>
                                          </p:stCondLst>
                                        </p:cTn>
                                        <p:tgtEl>
                                          <p:spTgt spid="24627"/>
                                        </p:tgtEl>
                                        <p:attrNameLst>
                                          <p:attrName>style.visibility</p:attrName>
                                        </p:attrNameLst>
                                      </p:cBhvr>
                                      <p:to>
                                        <p:strVal val="visible"/>
                                      </p:to>
                                    </p:set>
                                    <p:animEffect transition="in" filter="wipe(down)">
                                      <p:cBhvr>
                                        <p:cTn id="43" dur="500"/>
                                        <p:tgtEl>
                                          <p:spTgt spid="24627"/>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4" fill="hold" nodeType="clickEffect">
                                  <p:stCondLst>
                                    <p:cond delay="0"/>
                                  </p:stCondLst>
                                  <p:childTnLst>
                                    <p:set>
                                      <p:cBhvr>
                                        <p:cTn id="47" dur="1" fill="hold">
                                          <p:stCondLst>
                                            <p:cond delay="0"/>
                                          </p:stCondLst>
                                        </p:cTn>
                                        <p:tgtEl>
                                          <p:spTgt spid="24599"/>
                                        </p:tgtEl>
                                        <p:attrNameLst>
                                          <p:attrName>style.visibility</p:attrName>
                                        </p:attrNameLst>
                                      </p:cBhvr>
                                      <p:to>
                                        <p:strVal val="visible"/>
                                      </p:to>
                                    </p:set>
                                    <p:animEffect transition="in" filter="wipe(down)">
                                      <p:cBhvr>
                                        <p:cTn id="48" dur="500"/>
                                        <p:tgtEl>
                                          <p:spTgt spid="24599"/>
                                        </p:tgtEl>
                                      </p:cBhvr>
                                    </p:animEffect>
                                  </p:childTnLst>
                                </p:cTn>
                              </p:par>
                              <p:par>
                                <p:cTn id="49" presetID="22" presetClass="entr" presetSubtype="4" fill="hold" nodeType="withEffect">
                                  <p:stCondLst>
                                    <p:cond delay="0"/>
                                  </p:stCondLst>
                                  <p:childTnLst>
                                    <p:set>
                                      <p:cBhvr>
                                        <p:cTn id="50" dur="1" fill="hold">
                                          <p:stCondLst>
                                            <p:cond delay="0"/>
                                          </p:stCondLst>
                                        </p:cTn>
                                        <p:tgtEl>
                                          <p:spTgt spid="24625"/>
                                        </p:tgtEl>
                                        <p:attrNameLst>
                                          <p:attrName>style.visibility</p:attrName>
                                        </p:attrNameLst>
                                      </p:cBhvr>
                                      <p:to>
                                        <p:strVal val="visible"/>
                                      </p:to>
                                    </p:set>
                                    <p:animEffect transition="in" filter="wipe(down)">
                                      <p:cBhvr>
                                        <p:cTn id="51" dur="500"/>
                                        <p:tgtEl>
                                          <p:spTgt spid="24625"/>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4" fill="hold" nodeType="clickEffect">
                                  <p:stCondLst>
                                    <p:cond delay="0"/>
                                  </p:stCondLst>
                                  <p:childTnLst>
                                    <p:set>
                                      <p:cBhvr>
                                        <p:cTn id="55" dur="1" fill="hold">
                                          <p:stCondLst>
                                            <p:cond delay="0"/>
                                          </p:stCondLst>
                                        </p:cTn>
                                        <p:tgtEl>
                                          <p:spTgt spid="24598"/>
                                        </p:tgtEl>
                                        <p:attrNameLst>
                                          <p:attrName>style.visibility</p:attrName>
                                        </p:attrNameLst>
                                      </p:cBhvr>
                                      <p:to>
                                        <p:strVal val="visible"/>
                                      </p:to>
                                    </p:set>
                                    <p:animEffect transition="in" filter="wipe(down)">
                                      <p:cBhvr>
                                        <p:cTn id="56" dur="500"/>
                                        <p:tgtEl>
                                          <p:spTgt spid="24598"/>
                                        </p:tgtEl>
                                      </p:cBhvr>
                                    </p:animEffect>
                                  </p:childTnLst>
                                </p:cTn>
                              </p:par>
                              <p:par>
                                <p:cTn id="57" presetID="22" presetClass="entr" presetSubtype="4" fill="hold" grpId="0" nodeType="withEffect">
                                  <p:stCondLst>
                                    <p:cond delay="0"/>
                                  </p:stCondLst>
                                  <p:childTnLst>
                                    <p:set>
                                      <p:cBhvr>
                                        <p:cTn id="58" dur="1" fill="hold">
                                          <p:stCondLst>
                                            <p:cond delay="0"/>
                                          </p:stCondLst>
                                        </p:cTn>
                                        <p:tgtEl>
                                          <p:spTgt spid="24605"/>
                                        </p:tgtEl>
                                        <p:attrNameLst>
                                          <p:attrName>style.visibility</p:attrName>
                                        </p:attrNameLst>
                                      </p:cBhvr>
                                      <p:to>
                                        <p:strVal val="visible"/>
                                      </p:to>
                                    </p:set>
                                    <p:animEffect transition="in" filter="wipe(down)">
                                      <p:cBhvr>
                                        <p:cTn id="59" dur="500"/>
                                        <p:tgtEl>
                                          <p:spTgt spid="24605"/>
                                        </p:tgtEl>
                                      </p:cBhvr>
                                    </p:animEffect>
                                  </p:childTnLst>
                                </p:cTn>
                              </p:par>
                              <p:par>
                                <p:cTn id="60" presetID="22" presetClass="entr" presetSubtype="4" fill="hold" nodeType="withEffect">
                                  <p:stCondLst>
                                    <p:cond delay="0"/>
                                  </p:stCondLst>
                                  <p:childTnLst>
                                    <p:set>
                                      <p:cBhvr>
                                        <p:cTn id="61" dur="1" fill="hold">
                                          <p:stCondLst>
                                            <p:cond delay="0"/>
                                          </p:stCondLst>
                                        </p:cTn>
                                        <p:tgtEl>
                                          <p:spTgt spid="24602"/>
                                        </p:tgtEl>
                                        <p:attrNameLst>
                                          <p:attrName>style.visibility</p:attrName>
                                        </p:attrNameLst>
                                      </p:cBhvr>
                                      <p:to>
                                        <p:strVal val="visible"/>
                                      </p:to>
                                    </p:set>
                                    <p:animEffect transition="in" filter="wipe(down)">
                                      <p:cBhvr>
                                        <p:cTn id="62" dur="500"/>
                                        <p:tgtEl>
                                          <p:spTgt spid="2460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4608"/>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4" fill="hold" nodeType="clickEffect">
                                  <p:stCondLst>
                                    <p:cond delay="0"/>
                                  </p:stCondLst>
                                  <p:childTnLst>
                                    <p:set>
                                      <p:cBhvr>
                                        <p:cTn id="70" dur="1" fill="hold">
                                          <p:stCondLst>
                                            <p:cond delay="0"/>
                                          </p:stCondLst>
                                        </p:cTn>
                                        <p:tgtEl>
                                          <p:spTgt spid="24609"/>
                                        </p:tgtEl>
                                        <p:attrNameLst>
                                          <p:attrName>style.visibility</p:attrName>
                                        </p:attrNameLst>
                                      </p:cBhvr>
                                      <p:to>
                                        <p:strVal val="visible"/>
                                      </p:to>
                                    </p:set>
                                    <p:animEffect transition="in" filter="wipe(down)">
                                      <p:cBhvr>
                                        <p:cTn id="71" dur="500"/>
                                        <p:tgtEl>
                                          <p:spTgt spid="24609"/>
                                        </p:tgtEl>
                                      </p:cBhvr>
                                    </p:animEffect>
                                  </p:childTnLst>
                                </p:cTn>
                              </p:par>
                              <p:par>
                                <p:cTn id="72" presetID="22" presetClass="entr" presetSubtype="4" fill="hold" grpId="0" nodeType="withEffect">
                                  <p:stCondLst>
                                    <p:cond delay="0"/>
                                  </p:stCondLst>
                                  <p:childTnLst>
                                    <p:set>
                                      <p:cBhvr>
                                        <p:cTn id="73" dur="1" fill="hold">
                                          <p:stCondLst>
                                            <p:cond delay="0"/>
                                          </p:stCondLst>
                                        </p:cTn>
                                        <p:tgtEl>
                                          <p:spTgt spid="24595"/>
                                        </p:tgtEl>
                                        <p:attrNameLst>
                                          <p:attrName>style.visibility</p:attrName>
                                        </p:attrNameLst>
                                      </p:cBhvr>
                                      <p:to>
                                        <p:strVal val="visible"/>
                                      </p:to>
                                    </p:set>
                                    <p:animEffect transition="in" filter="wipe(down)">
                                      <p:cBhvr>
                                        <p:cTn id="74" dur="500"/>
                                        <p:tgtEl>
                                          <p:spTgt spid="24595"/>
                                        </p:tgtEl>
                                      </p:cBhvr>
                                    </p:animEffect>
                                  </p:childTnLst>
                                </p:cTn>
                              </p:par>
                              <p:par>
                                <p:cTn id="75" presetID="22" presetClass="entr" presetSubtype="4" fill="hold" nodeType="withEffect">
                                  <p:stCondLst>
                                    <p:cond delay="0"/>
                                  </p:stCondLst>
                                  <p:childTnLst>
                                    <p:set>
                                      <p:cBhvr>
                                        <p:cTn id="76" dur="1" fill="hold">
                                          <p:stCondLst>
                                            <p:cond delay="0"/>
                                          </p:stCondLst>
                                        </p:cTn>
                                        <p:tgtEl>
                                          <p:spTgt spid="24610"/>
                                        </p:tgtEl>
                                        <p:attrNameLst>
                                          <p:attrName>style.visibility</p:attrName>
                                        </p:attrNameLst>
                                      </p:cBhvr>
                                      <p:to>
                                        <p:strVal val="visible"/>
                                      </p:to>
                                    </p:set>
                                    <p:animEffect transition="in" filter="wipe(down)">
                                      <p:cBhvr>
                                        <p:cTn id="77" dur="500"/>
                                        <p:tgtEl>
                                          <p:spTgt spid="24610"/>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4" fill="hold" nodeType="clickEffect">
                                  <p:stCondLst>
                                    <p:cond delay="0"/>
                                  </p:stCondLst>
                                  <p:childTnLst>
                                    <p:set>
                                      <p:cBhvr>
                                        <p:cTn id="81" dur="1" fill="hold">
                                          <p:stCondLst>
                                            <p:cond delay="0"/>
                                          </p:stCondLst>
                                        </p:cTn>
                                        <p:tgtEl>
                                          <p:spTgt spid="24629"/>
                                        </p:tgtEl>
                                        <p:attrNameLst>
                                          <p:attrName>style.visibility</p:attrName>
                                        </p:attrNameLst>
                                      </p:cBhvr>
                                      <p:to>
                                        <p:strVal val="visible"/>
                                      </p:to>
                                    </p:set>
                                    <p:animEffect transition="in" filter="wipe(down)">
                                      <p:cBhvr>
                                        <p:cTn id="82" dur="500"/>
                                        <p:tgtEl>
                                          <p:spTgt spid="24629"/>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24631"/>
                                        </p:tgtEl>
                                        <p:attrNameLst>
                                          <p:attrName>style.visibility</p:attrName>
                                        </p:attrNameLst>
                                      </p:cBhvr>
                                      <p:to>
                                        <p:strVal val="visible"/>
                                      </p:to>
                                    </p:set>
                                    <p:animEffect transition="in" filter="blinds(horizontal)">
                                      <p:cBhvr>
                                        <p:cTn id="87" dur="500"/>
                                        <p:tgtEl>
                                          <p:spTgt spid="24631"/>
                                        </p:tgtEl>
                                      </p:cBhvr>
                                    </p:animEffect>
                                  </p:childTnLst>
                                </p:cTn>
                              </p:par>
                              <p:par>
                                <p:cTn id="88" presetID="3" presetClass="entr" presetSubtype="10" fill="hold" grpId="0" nodeType="withEffect">
                                  <p:stCondLst>
                                    <p:cond delay="0"/>
                                  </p:stCondLst>
                                  <p:childTnLst>
                                    <p:set>
                                      <p:cBhvr>
                                        <p:cTn id="89" dur="1" fill="hold">
                                          <p:stCondLst>
                                            <p:cond delay="0"/>
                                          </p:stCondLst>
                                        </p:cTn>
                                        <p:tgtEl>
                                          <p:spTgt spid="24632"/>
                                        </p:tgtEl>
                                        <p:attrNameLst>
                                          <p:attrName>style.visibility</p:attrName>
                                        </p:attrNameLst>
                                      </p:cBhvr>
                                      <p:to>
                                        <p:strVal val="visible"/>
                                      </p:to>
                                    </p:set>
                                    <p:animEffect transition="in" filter="blinds(horizontal)">
                                      <p:cBhvr>
                                        <p:cTn id="90" dur="500"/>
                                        <p:tgtEl>
                                          <p:spTgt spid="24632"/>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24634"/>
                                        </p:tgtEl>
                                        <p:attrNameLst>
                                          <p:attrName>style.visibility</p:attrName>
                                        </p:attrNameLst>
                                      </p:cBhvr>
                                      <p:to>
                                        <p:strVal val="visible"/>
                                      </p:to>
                                    </p:set>
                                    <p:animEffect transition="in" filter="blinds(horizontal)">
                                      <p:cBhvr>
                                        <p:cTn id="95" dur="500"/>
                                        <p:tgtEl>
                                          <p:spTgt spid="24634"/>
                                        </p:tgtEl>
                                      </p:cBhvr>
                                    </p:animEffect>
                                  </p:childTnLst>
                                </p:cTn>
                              </p:par>
                              <p:par>
                                <p:cTn id="96" presetID="3" presetClass="entr" presetSubtype="10" fill="hold" grpId="0" nodeType="withEffect">
                                  <p:stCondLst>
                                    <p:cond delay="0"/>
                                  </p:stCondLst>
                                  <p:childTnLst>
                                    <p:set>
                                      <p:cBhvr>
                                        <p:cTn id="97" dur="1" fill="hold">
                                          <p:stCondLst>
                                            <p:cond delay="0"/>
                                          </p:stCondLst>
                                        </p:cTn>
                                        <p:tgtEl>
                                          <p:spTgt spid="24633"/>
                                        </p:tgtEl>
                                        <p:attrNameLst>
                                          <p:attrName>style.visibility</p:attrName>
                                        </p:attrNameLst>
                                      </p:cBhvr>
                                      <p:to>
                                        <p:strVal val="visible"/>
                                      </p:to>
                                    </p:set>
                                    <p:animEffect transition="in" filter="blinds(horizontal)">
                                      <p:cBhvr>
                                        <p:cTn id="98" dur="500"/>
                                        <p:tgtEl>
                                          <p:spTgt spid="24633"/>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3" presetClass="entr" presetSubtype="10" fill="hold" grpId="0" nodeType="clickEffect">
                                  <p:stCondLst>
                                    <p:cond delay="0"/>
                                  </p:stCondLst>
                                  <p:childTnLst>
                                    <p:set>
                                      <p:cBhvr>
                                        <p:cTn id="102" dur="1" fill="hold">
                                          <p:stCondLst>
                                            <p:cond delay="0"/>
                                          </p:stCondLst>
                                        </p:cTn>
                                        <p:tgtEl>
                                          <p:spTgt spid="24614"/>
                                        </p:tgtEl>
                                        <p:attrNameLst>
                                          <p:attrName>style.visibility</p:attrName>
                                        </p:attrNameLst>
                                      </p:cBhvr>
                                      <p:to>
                                        <p:strVal val="visible"/>
                                      </p:to>
                                    </p:set>
                                    <p:animEffect transition="in" filter="blinds(horizontal)">
                                      <p:cBhvr>
                                        <p:cTn id="103" dur="500"/>
                                        <p:tgtEl>
                                          <p:spTgt spid="24614"/>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3" presetClass="entr" presetSubtype="10" fill="hold" grpId="0" nodeType="clickEffect">
                                  <p:stCondLst>
                                    <p:cond delay="0"/>
                                  </p:stCondLst>
                                  <p:childTnLst>
                                    <p:set>
                                      <p:cBhvr>
                                        <p:cTn id="107" dur="1" fill="hold">
                                          <p:stCondLst>
                                            <p:cond delay="0"/>
                                          </p:stCondLst>
                                        </p:cTn>
                                        <p:tgtEl>
                                          <p:spTgt spid="24635"/>
                                        </p:tgtEl>
                                        <p:attrNameLst>
                                          <p:attrName>style.visibility</p:attrName>
                                        </p:attrNameLst>
                                      </p:cBhvr>
                                      <p:to>
                                        <p:strVal val="visible"/>
                                      </p:to>
                                    </p:set>
                                    <p:animEffect transition="in" filter="blinds(horizontal)">
                                      <p:cBhvr>
                                        <p:cTn id="108" dur="500"/>
                                        <p:tgtEl>
                                          <p:spTgt spid="24635"/>
                                        </p:tgtEl>
                                      </p:cBhvr>
                                    </p:animEffect>
                                  </p:childTnLst>
                                </p:cTn>
                              </p:par>
                              <p:par>
                                <p:cTn id="109" presetID="3" presetClass="entr" presetSubtype="10" fill="hold" grpId="0" nodeType="withEffect">
                                  <p:stCondLst>
                                    <p:cond delay="0"/>
                                  </p:stCondLst>
                                  <p:childTnLst>
                                    <p:set>
                                      <p:cBhvr>
                                        <p:cTn id="110" dur="1" fill="hold">
                                          <p:stCondLst>
                                            <p:cond delay="0"/>
                                          </p:stCondLst>
                                        </p:cTn>
                                        <p:tgtEl>
                                          <p:spTgt spid="24636"/>
                                        </p:tgtEl>
                                        <p:attrNameLst>
                                          <p:attrName>style.visibility</p:attrName>
                                        </p:attrNameLst>
                                      </p:cBhvr>
                                      <p:to>
                                        <p:strVal val="visible"/>
                                      </p:to>
                                    </p:set>
                                    <p:animEffect transition="in" filter="blinds(horizontal)">
                                      <p:cBhvr>
                                        <p:cTn id="111" dur="500"/>
                                        <p:tgtEl>
                                          <p:spTgt spid="24636"/>
                                        </p:tgtEl>
                                      </p:cBhvr>
                                    </p:animEffect>
                                  </p:childTnLst>
                                </p:cTn>
                              </p:par>
                              <p:par>
                                <p:cTn id="112" presetID="22" presetClass="entr" presetSubtype="4" fill="hold" nodeType="withEffect">
                                  <p:stCondLst>
                                    <p:cond delay="0"/>
                                  </p:stCondLst>
                                  <p:childTnLst>
                                    <p:set>
                                      <p:cBhvr>
                                        <p:cTn id="113" dur="1" fill="hold">
                                          <p:stCondLst>
                                            <p:cond delay="0"/>
                                          </p:stCondLst>
                                        </p:cTn>
                                        <p:tgtEl>
                                          <p:spTgt spid="24637"/>
                                        </p:tgtEl>
                                        <p:attrNameLst>
                                          <p:attrName>style.visibility</p:attrName>
                                        </p:attrNameLst>
                                      </p:cBhvr>
                                      <p:to>
                                        <p:strVal val="visible"/>
                                      </p:to>
                                    </p:set>
                                    <p:animEffect transition="in" filter="wipe(down)">
                                      <p:cBhvr>
                                        <p:cTn id="114" dur="500"/>
                                        <p:tgtEl>
                                          <p:spTgt spid="24637"/>
                                        </p:tgtEl>
                                      </p:cBhvr>
                                    </p:animEffect>
                                  </p:childTnLst>
                                </p:cTn>
                              </p:par>
                              <p:par>
                                <p:cTn id="115" presetID="22" presetClass="entr" presetSubtype="4" fill="hold" grpId="0" nodeType="withEffect">
                                  <p:stCondLst>
                                    <p:cond delay="0"/>
                                  </p:stCondLst>
                                  <p:childTnLst>
                                    <p:set>
                                      <p:cBhvr>
                                        <p:cTn id="116" dur="1" fill="hold">
                                          <p:stCondLst>
                                            <p:cond delay="0"/>
                                          </p:stCondLst>
                                        </p:cTn>
                                        <p:tgtEl>
                                          <p:spTgt spid="24638"/>
                                        </p:tgtEl>
                                        <p:attrNameLst>
                                          <p:attrName>style.visibility</p:attrName>
                                        </p:attrNameLst>
                                      </p:cBhvr>
                                      <p:to>
                                        <p:strVal val="visible"/>
                                      </p:to>
                                    </p:set>
                                    <p:animEffect transition="in" filter="wipe(down)">
                                      <p:cBhvr>
                                        <p:cTn id="117" dur="500"/>
                                        <p:tgtEl>
                                          <p:spTgt spid="24638"/>
                                        </p:tgtEl>
                                      </p:cBhvr>
                                    </p:animEffect>
                                  </p:childTnLst>
                                </p:cTn>
                              </p:par>
                              <p:par>
                                <p:cTn id="118" presetID="22" presetClass="entr" presetSubtype="4" fill="hold" grpId="0" nodeType="withEffect">
                                  <p:stCondLst>
                                    <p:cond delay="0"/>
                                  </p:stCondLst>
                                  <p:childTnLst>
                                    <p:set>
                                      <p:cBhvr>
                                        <p:cTn id="119" dur="1" fill="hold">
                                          <p:stCondLst>
                                            <p:cond delay="0"/>
                                          </p:stCondLst>
                                        </p:cTn>
                                        <p:tgtEl>
                                          <p:spTgt spid="24639"/>
                                        </p:tgtEl>
                                        <p:attrNameLst>
                                          <p:attrName>style.visibility</p:attrName>
                                        </p:attrNameLst>
                                      </p:cBhvr>
                                      <p:to>
                                        <p:strVal val="visible"/>
                                      </p:to>
                                    </p:set>
                                    <p:animEffect transition="in" filter="wipe(down)">
                                      <p:cBhvr>
                                        <p:cTn id="120" dur="500"/>
                                        <p:tgtEl>
                                          <p:spTgt spid="24639"/>
                                        </p:tgtEl>
                                      </p:cBhvr>
                                    </p:animEffect>
                                  </p:childTnLst>
                                </p:cTn>
                              </p:par>
                              <p:par>
                                <p:cTn id="121" presetID="22" presetClass="entr" presetSubtype="4" fill="hold" grpId="0" nodeType="withEffect">
                                  <p:stCondLst>
                                    <p:cond delay="0"/>
                                  </p:stCondLst>
                                  <p:childTnLst>
                                    <p:set>
                                      <p:cBhvr>
                                        <p:cTn id="122" dur="1" fill="hold">
                                          <p:stCondLst>
                                            <p:cond delay="0"/>
                                          </p:stCondLst>
                                        </p:cTn>
                                        <p:tgtEl>
                                          <p:spTgt spid="24640"/>
                                        </p:tgtEl>
                                        <p:attrNameLst>
                                          <p:attrName>style.visibility</p:attrName>
                                        </p:attrNameLst>
                                      </p:cBhvr>
                                      <p:to>
                                        <p:strVal val="visible"/>
                                      </p:to>
                                    </p:set>
                                    <p:animEffect transition="in" filter="wipe(down)">
                                      <p:cBhvr>
                                        <p:cTn id="123" dur="500"/>
                                        <p:tgtEl>
                                          <p:spTgt spid="24640"/>
                                        </p:tgtEl>
                                      </p:cBhvr>
                                    </p:animEffect>
                                  </p:childTnLst>
                                </p:cTn>
                              </p:par>
                              <p:par>
                                <p:cTn id="124" presetID="22" presetClass="entr" presetSubtype="4" fill="hold" grpId="0" nodeType="withEffect">
                                  <p:stCondLst>
                                    <p:cond delay="0"/>
                                  </p:stCondLst>
                                  <p:childTnLst>
                                    <p:set>
                                      <p:cBhvr>
                                        <p:cTn id="125" dur="1" fill="hold">
                                          <p:stCondLst>
                                            <p:cond delay="0"/>
                                          </p:stCondLst>
                                        </p:cTn>
                                        <p:tgtEl>
                                          <p:spTgt spid="24641"/>
                                        </p:tgtEl>
                                        <p:attrNameLst>
                                          <p:attrName>style.visibility</p:attrName>
                                        </p:attrNameLst>
                                      </p:cBhvr>
                                      <p:to>
                                        <p:strVal val="visible"/>
                                      </p:to>
                                    </p:set>
                                    <p:animEffect transition="in" filter="wipe(down)">
                                      <p:cBhvr>
                                        <p:cTn id="126" dur="500"/>
                                        <p:tgtEl>
                                          <p:spTgt spid="24641"/>
                                        </p:tgtEl>
                                      </p:cBhvr>
                                    </p:animEffect>
                                  </p:childTnLst>
                                </p:cTn>
                              </p:par>
                              <p:par>
                                <p:cTn id="127" presetID="3" presetClass="entr" presetSubtype="10" fill="hold" grpId="0" nodeType="withEffect">
                                  <p:stCondLst>
                                    <p:cond delay="0"/>
                                  </p:stCondLst>
                                  <p:childTnLst>
                                    <p:set>
                                      <p:cBhvr>
                                        <p:cTn id="128" dur="1" fill="hold">
                                          <p:stCondLst>
                                            <p:cond delay="0"/>
                                          </p:stCondLst>
                                        </p:cTn>
                                        <p:tgtEl>
                                          <p:spTgt spid="24642"/>
                                        </p:tgtEl>
                                        <p:attrNameLst>
                                          <p:attrName>style.visibility</p:attrName>
                                        </p:attrNameLst>
                                      </p:cBhvr>
                                      <p:to>
                                        <p:strVal val="visible"/>
                                      </p:to>
                                    </p:set>
                                    <p:animEffect transition="in" filter="blinds(horizontal)">
                                      <p:cBhvr>
                                        <p:cTn id="129" dur="500"/>
                                        <p:tgtEl>
                                          <p:spTgt spid="246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95" grpId="0"/>
      <p:bldP spid="24601" grpId="0"/>
      <p:bldP spid="24605" grpId="0"/>
      <p:bldP spid="24608" grpId="0" animBg="1"/>
      <p:bldP spid="24612" grpId="0"/>
      <p:bldP spid="24614" grpId="0"/>
      <p:bldP spid="24615" grpId="0"/>
      <p:bldP spid="24621" grpId="0"/>
      <p:bldP spid="24631" grpId="0" animBg="1"/>
      <p:bldP spid="24632" grpId="0"/>
      <p:bldP spid="24633" grpId="0"/>
      <p:bldP spid="24634" grpId="0" animBg="1"/>
      <p:bldP spid="24635" grpId="0"/>
      <p:bldP spid="24636" grpId="0"/>
      <p:bldP spid="24638" grpId="0"/>
      <p:bldP spid="24639" grpId="0"/>
      <p:bldP spid="24640" grpId="0"/>
      <p:bldP spid="24641" grpId="0"/>
      <p:bldP spid="2464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31" name="Line 31">
            <a:extLst>
              <a:ext uri="{FF2B5EF4-FFF2-40B4-BE49-F238E27FC236}">
                <a16:creationId xmlns:a16="http://schemas.microsoft.com/office/drawing/2014/main" id="{5A73C97D-3CDB-49FE-AA4A-7A8126CDB67E}"/>
              </a:ext>
            </a:extLst>
          </p:cNvPr>
          <p:cNvSpPr>
            <a:spLocks noChangeShapeType="1"/>
          </p:cNvSpPr>
          <p:nvPr/>
        </p:nvSpPr>
        <p:spPr bwMode="auto">
          <a:xfrm flipH="1" flipV="1">
            <a:off x="3312335" y="2242623"/>
            <a:ext cx="0" cy="417671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5632" name="Line 32">
            <a:extLst>
              <a:ext uri="{FF2B5EF4-FFF2-40B4-BE49-F238E27FC236}">
                <a16:creationId xmlns:a16="http://schemas.microsoft.com/office/drawing/2014/main" id="{1E3D6C91-04CA-4D02-A317-397307EC0606}"/>
              </a:ext>
            </a:extLst>
          </p:cNvPr>
          <p:cNvSpPr>
            <a:spLocks noChangeShapeType="1"/>
          </p:cNvSpPr>
          <p:nvPr/>
        </p:nvSpPr>
        <p:spPr bwMode="auto">
          <a:xfrm>
            <a:off x="3096435" y="6274873"/>
            <a:ext cx="424815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5633" name="Text Box 33">
            <a:extLst>
              <a:ext uri="{FF2B5EF4-FFF2-40B4-BE49-F238E27FC236}">
                <a16:creationId xmlns:a16="http://schemas.microsoft.com/office/drawing/2014/main" id="{076557F1-9279-444A-AAE1-34B1CF814B97}"/>
              </a:ext>
            </a:extLst>
          </p:cNvPr>
          <p:cNvSpPr txBox="1">
            <a:spLocks noChangeArrowheads="1"/>
          </p:cNvSpPr>
          <p:nvPr/>
        </p:nvSpPr>
        <p:spPr bwMode="auto">
          <a:xfrm>
            <a:off x="4175936" y="6277043"/>
            <a:ext cx="11652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600" b="1" dirty="0" err="1">
                <a:latin typeface="+mj-lt"/>
              </a:rPr>
              <a:t>qo</a:t>
            </a:r>
            <a:endParaRPr lang="es-ES" altLang="es-AR" sz="1600" b="1" dirty="0">
              <a:latin typeface="+mj-lt"/>
            </a:endParaRPr>
          </a:p>
        </p:txBody>
      </p:sp>
      <p:sp>
        <p:nvSpPr>
          <p:cNvPr id="25634" name="Line 34">
            <a:extLst>
              <a:ext uri="{FF2B5EF4-FFF2-40B4-BE49-F238E27FC236}">
                <a16:creationId xmlns:a16="http://schemas.microsoft.com/office/drawing/2014/main" id="{9631707A-0297-404A-8704-F60B84851AEC}"/>
              </a:ext>
            </a:extLst>
          </p:cNvPr>
          <p:cNvSpPr>
            <a:spLocks noChangeShapeType="1"/>
          </p:cNvSpPr>
          <p:nvPr/>
        </p:nvSpPr>
        <p:spPr bwMode="auto">
          <a:xfrm>
            <a:off x="3296460" y="5747823"/>
            <a:ext cx="3887788"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5635" name="Line 35">
            <a:extLst>
              <a:ext uri="{FF2B5EF4-FFF2-40B4-BE49-F238E27FC236}">
                <a16:creationId xmlns:a16="http://schemas.microsoft.com/office/drawing/2014/main" id="{02F9A21A-A4EB-41D1-9E29-C4ABDA3DC09F}"/>
              </a:ext>
            </a:extLst>
          </p:cNvPr>
          <p:cNvSpPr>
            <a:spLocks noChangeShapeType="1"/>
          </p:cNvSpPr>
          <p:nvPr/>
        </p:nvSpPr>
        <p:spPr bwMode="auto">
          <a:xfrm flipV="1">
            <a:off x="3296460" y="4163499"/>
            <a:ext cx="3917950" cy="2111375"/>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5636" name="Arc 36">
            <a:extLst>
              <a:ext uri="{FF2B5EF4-FFF2-40B4-BE49-F238E27FC236}">
                <a16:creationId xmlns:a16="http://schemas.microsoft.com/office/drawing/2014/main" id="{E8B9BCF4-9F61-4022-9D9E-7EC3AF3892C7}"/>
              </a:ext>
            </a:extLst>
          </p:cNvPr>
          <p:cNvSpPr>
            <a:spLocks/>
          </p:cNvSpPr>
          <p:nvPr/>
        </p:nvSpPr>
        <p:spPr bwMode="auto">
          <a:xfrm>
            <a:off x="3672699" y="5790686"/>
            <a:ext cx="358775" cy="485775"/>
          </a:xfrm>
          <a:custGeom>
            <a:avLst/>
            <a:gdLst>
              <a:gd name="T0" fmla="*/ 2225883 w 21600"/>
              <a:gd name="T1" fmla="*/ 0 h 38252"/>
              <a:gd name="T2" fmla="*/ 3202814 w 21600"/>
              <a:gd name="T3" fmla="*/ 6169020 h 38252"/>
              <a:gd name="T4" fmla="*/ 0 w 21600"/>
              <a:gd name="T5" fmla="*/ 3231435 h 38252"/>
              <a:gd name="T6" fmla="*/ 0 60000 65536"/>
              <a:gd name="T7" fmla="*/ 0 60000 65536"/>
              <a:gd name="T8" fmla="*/ 0 60000 65536"/>
            </a:gdLst>
            <a:ahLst/>
            <a:cxnLst>
              <a:cxn ang="T6">
                <a:pos x="T0" y="T1"/>
              </a:cxn>
              <a:cxn ang="T7">
                <a:pos x="T2" y="T3"/>
              </a:cxn>
              <a:cxn ang="T8">
                <a:pos x="T4" y="T5"/>
              </a:cxn>
            </a:cxnLst>
            <a:rect l="0" t="0" r="r" b="b"/>
            <a:pathLst>
              <a:path w="21600" h="38252" fill="none" extrusionOk="0">
                <a:moveTo>
                  <a:pt x="8067" y="0"/>
                </a:moveTo>
                <a:cubicBezTo>
                  <a:pt x="16244" y="3292"/>
                  <a:pt x="21600" y="11222"/>
                  <a:pt x="21600" y="20037"/>
                </a:cubicBezTo>
                <a:cubicBezTo>
                  <a:pt x="21600" y="27416"/>
                  <a:pt x="17832" y="34285"/>
                  <a:pt x="11609" y="38252"/>
                </a:cubicBezTo>
              </a:path>
              <a:path w="21600" h="38252" stroke="0" extrusionOk="0">
                <a:moveTo>
                  <a:pt x="8067" y="0"/>
                </a:moveTo>
                <a:cubicBezTo>
                  <a:pt x="16244" y="3292"/>
                  <a:pt x="21600" y="11222"/>
                  <a:pt x="21600" y="20037"/>
                </a:cubicBezTo>
                <a:cubicBezTo>
                  <a:pt x="21600" y="27416"/>
                  <a:pt x="17832" y="34285"/>
                  <a:pt x="11609" y="38252"/>
                </a:cubicBezTo>
                <a:lnTo>
                  <a:pt x="0" y="20037"/>
                </a:lnTo>
                <a:lnTo>
                  <a:pt x="8067" y="0"/>
                </a:lnTo>
                <a:close/>
              </a:path>
            </a:pathLst>
          </a:custGeom>
          <a:noFill/>
          <a:ln w="9525">
            <a:solidFill>
              <a:srgbClr val="990000"/>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25637" name="Line 37">
            <a:extLst>
              <a:ext uri="{FF2B5EF4-FFF2-40B4-BE49-F238E27FC236}">
                <a16:creationId xmlns:a16="http://schemas.microsoft.com/office/drawing/2014/main" id="{151AA05A-0A89-460B-A4B7-17A3CA3AEE0D}"/>
              </a:ext>
            </a:extLst>
          </p:cNvPr>
          <p:cNvSpPr>
            <a:spLocks noChangeShapeType="1"/>
          </p:cNvSpPr>
          <p:nvPr/>
        </p:nvSpPr>
        <p:spPr bwMode="auto">
          <a:xfrm flipV="1">
            <a:off x="3312336" y="3491985"/>
            <a:ext cx="3902075" cy="2255838"/>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5638" name="Text Box 38">
            <a:extLst>
              <a:ext uri="{FF2B5EF4-FFF2-40B4-BE49-F238E27FC236}">
                <a16:creationId xmlns:a16="http://schemas.microsoft.com/office/drawing/2014/main" id="{6679B740-08B1-474F-819E-647F1E40AB75}"/>
              </a:ext>
            </a:extLst>
          </p:cNvPr>
          <p:cNvSpPr txBox="1">
            <a:spLocks noChangeArrowheads="1"/>
          </p:cNvSpPr>
          <p:nvPr/>
        </p:nvSpPr>
        <p:spPr bwMode="auto">
          <a:xfrm>
            <a:off x="4695048" y="5819260"/>
            <a:ext cx="5905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chemeClr val="accent2"/>
                </a:solidFill>
                <a:latin typeface="+mj-lt"/>
              </a:rPr>
              <a:t>CVu</a:t>
            </a:r>
            <a:endParaRPr lang="es-AR" altLang="es-AR" sz="1400" b="1">
              <a:solidFill>
                <a:schemeClr val="accent2"/>
              </a:solidFill>
              <a:latin typeface="+mj-lt"/>
              <a:cs typeface="Tahoma" panose="020B0604030504040204" pitchFamily="34" charset="0"/>
            </a:endParaRPr>
          </a:p>
        </p:txBody>
      </p:sp>
      <p:sp>
        <p:nvSpPr>
          <p:cNvPr id="25639" name="Line 39">
            <a:extLst>
              <a:ext uri="{FF2B5EF4-FFF2-40B4-BE49-F238E27FC236}">
                <a16:creationId xmlns:a16="http://schemas.microsoft.com/office/drawing/2014/main" id="{7D3B09A3-70DD-46BC-B1DB-5C72FA8D0DB2}"/>
              </a:ext>
            </a:extLst>
          </p:cNvPr>
          <p:cNvSpPr>
            <a:spLocks noChangeShapeType="1"/>
          </p:cNvSpPr>
          <p:nvPr/>
        </p:nvSpPr>
        <p:spPr bwMode="auto">
          <a:xfrm flipV="1">
            <a:off x="3312336" y="2507735"/>
            <a:ext cx="3902075" cy="3767138"/>
          </a:xfrm>
          <a:prstGeom prst="line">
            <a:avLst/>
          </a:prstGeom>
          <a:noFill/>
          <a:ln w="28575">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5640" name="Line 40">
            <a:extLst>
              <a:ext uri="{FF2B5EF4-FFF2-40B4-BE49-F238E27FC236}">
                <a16:creationId xmlns:a16="http://schemas.microsoft.com/office/drawing/2014/main" id="{AE1ADDE5-951E-42C2-850B-E980353C743B}"/>
              </a:ext>
            </a:extLst>
          </p:cNvPr>
          <p:cNvSpPr>
            <a:spLocks noChangeShapeType="1"/>
          </p:cNvSpPr>
          <p:nvPr/>
        </p:nvSpPr>
        <p:spPr bwMode="auto">
          <a:xfrm>
            <a:off x="7200123" y="2529961"/>
            <a:ext cx="0" cy="388937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5641" name="Line 41">
            <a:extLst>
              <a:ext uri="{FF2B5EF4-FFF2-40B4-BE49-F238E27FC236}">
                <a16:creationId xmlns:a16="http://schemas.microsoft.com/office/drawing/2014/main" id="{EFB3477D-613C-4F3C-8C89-1B94808DCA4D}"/>
              </a:ext>
            </a:extLst>
          </p:cNvPr>
          <p:cNvSpPr>
            <a:spLocks noChangeShapeType="1"/>
          </p:cNvSpPr>
          <p:nvPr/>
        </p:nvSpPr>
        <p:spPr bwMode="auto">
          <a:xfrm flipH="1">
            <a:off x="3312335" y="2529960"/>
            <a:ext cx="3887788"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5642" name="Text Box 42">
            <a:extLst>
              <a:ext uri="{FF2B5EF4-FFF2-40B4-BE49-F238E27FC236}">
                <a16:creationId xmlns:a16="http://schemas.microsoft.com/office/drawing/2014/main" id="{BD5A8D5F-B81B-4C3F-9C67-714B5CFF7821}"/>
              </a:ext>
            </a:extLst>
          </p:cNvPr>
          <p:cNvSpPr txBox="1">
            <a:spLocks noChangeArrowheads="1"/>
          </p:cNvSpPr>
          <p:nvPr/>
        </p:nvSpPr>
        <p:spPr bwMode="auto">
          <a:xfrm>
            <a:off x="3988611" y="5946260"/>
            <a:ext cx="6334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rgbClr val="990000"/>
                </a:solidFill>
                <a:latin typeface="+mj-lt"/>
              </a:rPr>
              <a:t>PVu</a:t>
            </a:r>
            <a:endParaRPr lang="es-AR" altLang="es-AR" sz="1400" b="1">
              <a:solidFill>
                <a:srgbClr val="990000"/>
              </a:solidFill>
              <a:latin typeface="+mj-lt"/>
              <a:cs typeface="Tahoma" panose="020B0604030504040204" pitchFamily="34" charset="0"/>
            </a:endParaRPr>
          </a:p>
        </p:txBody>
      </p:sp>
      <p:sp>
        <p:nvSpPr>
          <p:cNvPr id="25645" name="AutoShape 45">
            <a:extLst>
              <a:ext uri="{FF2B5EF4-FFF2-40B4-BE49-F238E27FC236}">
                <a16:creationId xmlns:a16="http://schemas.microsoft.com/office/drawing/2014/main" id="{E5CB0782-17A5-48E1-ADA0-F4B1D398F802}"/>
              </a:ext>
            </a:extLst>
          </p:cNvPr>
          <p:cNvSpPr>
            <a:spLocks noChangeArrowheads="1"/>
          </p:cNvSpPr>
          <p:nvPr/>
        </p:nvSpPr>
        <p:spPr bwMode="auto">
          <a:xfrm>
            <a:off x="4622024" y="4882636"/>
            <a:ext cx="142875" cy="144463"/>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25646" name="Line 46">
            <a:extLst>
              <a:ext uri="{FF2B5EF4-FFF2-40B4-BE49-F238E27FC236}">
                <a16:creationId xmlns:a16="http://schemas.microsoft.com/office/drawing/2014/main" id="{2ECF74DE-C0F4-4ABC-A956-A1B8B9B89B49}"/>
              </a:ext>
            </a:extLst>
          </p:cNvPr>
          <p:cNvSpPr>
            <a:spLocks noChangeShapeType="1"/>
          </p:cNvSpPr>
          <p:nvPr/>
        </p:nvSpPr>
        <p:spPr bwMode="auto">
          <a:xfrm>
            <a:off x="4693460" y="4955661"/>
            <a:ext cx="0" cy="131921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5647" name="Line 47">
            <a:extLst>
              <a:ext uri="{FF2B5EF4-FFF2-40B4-BE49-F238E27FC236}">
                <a16:creationId xmlns:a16="http://schemas.microsoft.com/office/drawing/2014/main" id="{3006AA6F-0F29-4016-BEF0-7EA6301D5BC6}"/>
              </a:ext>
            </a:extLst>
          </p:cNvPr>
          <p:cNvSpPr>
            <a:spLocks noChangeShapeType="1"/>
          </p:cNvSpPr>
          <p:nvPr/>
        </p:nvSpPr>
        <p:spPr bwMode="auto">
          <a:xfrm flipH="1">
            <a:off x="3312336" y="4955660"/>
            <a:ext cx="138112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5652" name="Rectangle 52">
            <a:extLst>
              <a:ext uri="{FF2B5EF4-FFF2-40B4-BE49-F238E27FC236}">
                <a16:creationId xmlns:a16="http://schemas.microsoft.com/office/drawing/2014/main" id="{D1CC5AB5-1229-4DA3-9EB2-877308468B51}"/>
              </a:ext>
            </a:extLst>
          </p:cNvPr>
          <p:cNvSpPr>
            <a:spLocks noChangeArrowheads="1"/>
          </p:cNvSpPr>
          <p:nvPr/>
        </p:nvSpPr>
        <p:spPr bwMode="auto">
          <a:xfrm>
            <a:off x="3080561" y="6264722"/>
            <a:ext cx="30008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AR" altLang="es-AR" sz="1600" b="1" dirty="0">
                <a:latin typeface="+mj-lt"/>
              </a:rPr>
              <a:t>0</a:t>
            </a:r>
            <a:endParaRPr lang="es-ES" altLang="es-AR" sz="1600" b="1" dirty="0">
              <a:latin typeface="+mj-lt"/>
            </a:endParaRPr>
          </a:p>
        </p:txBody>
      </p:sp>
      <p:sp>
        <p:nvSpPr>
          <p:cNvPr id="25662" name="Line 62">
            <a:extLst>
              <a:ext uri="{FF2B5EF4-FFF2-40B4-BE49-F238E27FC236}">
                <a16:creationId xmlns:a16="http://schemas.microsoft.com/office/drawing/2014/main" id="{B4944556-8146-4DFB-A6A7-4D716DD883D9}"/>
              </a:ext>
            </a:extLst>
          </p:cNvPr>
          <p:cNvSpPr>
            <a:spLocks noChangeShapeType="1"/>
          </p:cNvSpPr>
          <p:nvPr/>
        </p:nvSpPr>
        <p:spPr bwMode="auto">
          <a:xfrm flipH="1">
            <a:off x="3325035" y="3515798"/>
            <a:ext cx="3887788"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5664" name="Line 64">
            <a:extLst>
              <a:ext uri="{FF2B5EF4-FFF2-40B4-BE49-F238E27FC236}">
                <a16:creationId xmlns:a16="http://schemas.microsoft.com/office/drawing/2014/main" id="{E281FAAC-ABB7-43B4-987C-E37E3612ECB0}"/>
              </a:ext>
            </a:extLst>
          </p:cNvPr>
          <p:cNvSpPr>
            <a:spLocks noChangeShapeType="1"/>
          </p:cNvSpPr>
          <p:nvPr/>
        </p:nvSpPr>
        <p:spPr bwMode="auto">
          <a:xfrm flipH="1">
            <a:off x="3325035" y="4163498"/>
            <a:ext cx="3887788"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5666" name="Line 66">
            <a:extLst>
              <a:ext uri="{FF2B5EF4-FFF2-40B4-BE49-F238E27FC236}">
                <a16:creationId xmlns:a16="http://schemas.microsoft.com/office/drawing/2014/main" id="{DAF75168-B9BE-4A7C-8471-283A16B4F1E6}"/>
              </a:ext>
            </a:extLst>
          </p:cNvPr>
          <p:cNvSpPr>
            <a:spLocks noChangeShapeType="1"/>
          </p:cNvSpPr>
          <p:nvPr/>
        </p:nvSpPr>
        <p:spPr bwMode="auto">
          <a:xfrm flipH="1">
            <a:off x="3253598" y="5531923"/>
            <a:ext cx="1439862"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5668" name="AutoShape 68">
            <a:extLst>
              <a:ext uri="{FF2B5EF4-FFF2-40B4-BE49-F238E27FC236}">
                <a16:creationId xmlns:a16="http://schemas.microsoft.com/office/drawing/2014/main" id="{A34596BC-96EE-4A90-8765-71EAE562D82F}"/>
              </a:ext>
            </a:extLst>
          </p:cNvPr>
          <p:cNvSpPr>
            <a:spLocks/>
          </p:cNvSpPr>
          <p:nvPr/>
        </p:nvSpPr>
        <p:spPr bwMode="auto">
          <a:xfrm>
            <a:off x="7285849" y="2507735"/>
            <a:ext cx="73025" cy="935038"/>
          </a:xfrm>
          <a:prstGeom prst="rightBrace">
            <a:avLst>
              <a:gd name="adj1" fmla="val 10670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25669" name="Rectangle 69">
            <a:extLst>
              <a:ext uri="{FF2B5EF4-FFF2-40B4-BE49-F238E27FC236}">
                <a16:creationId xmlns:a16="http://schemas.microsoft.com/office/drawing/2014/main" id="{25438D13-E878-4926-806A-96391BC9CCD0}"/>
              </a:ext>
            </a:extLst>
          </p:cNvPr>
          <p:cNvSpPr>
            <a:spLocks noChangeArrowheads="1"/>
          </p:cNvSpPr>
          <p:nvPr/>
        </p:nvSpPr>
        <p:spPr bwMode="auto">
          <a:xfrm>
            <a:off x="7574774" y="2722049"/>
            <a:ext cx="2447925" cy="28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sz="1600" b="1">
                <a:latin typeface="+mj-lt"/>
              </a:rPr>
              <a:t>Beneficio</a:t>
            </a:r>
            <a:endParaRPr lang="es-ES" altLang="es-AR" sz="1600" b="1">
              <a:latin typeface="+mj-lt"/>
            </a:endParaRPr>
          </a:p>
        </p:txBody>
      </p:sp>
      <p:sp>
        <p:nvSpPr>
          <p:cNvPr id="25671" name="AutoShape 71">
            <a:extLst>
              <a:ext uri="{FF2B5EF4-FFF2-40B4-BE49-F238E27FC236}">
                <a16:creationId xmlns:a16="http://schemas.microsoft.com/office/drawing/2014/main" id="{E9796621-1481-4214-9184-B6209856280E}"/>
              </a:ext>
            </a:extLst>
          </p:cNvPr>
          <p:cNvSpPr>
            <a:spLocks/>
          </p:cNvSpPr>
          <p:nvPr/>
        </p:nvSpPr>
        <p:spPr bwMode="auto">
          <a:xfrm>
            <a:off x="7430310" y="2507735"/>
            <a:ext cx="71438" cy="1582738"/>
          </a:xfrm>
          <a:prstGeom prst="rightBrace">
            <a:avLst>
              <a:gd name="adj1" fmla="val 184628"/>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25672" name="Arc 72">
            <a:extLst>
              <a:ext uri="{FF2B5EF4-FFF2-40B4-BE49-F238E27FC236}">
                <a16:creationId xmlns:a16="http://schemas.microsoft.com/office/drawing/2014/main" id="{621CCAB3-235B-4A98-B0A4-8B7B6D581554}"/>
              </a:ext>
            </a:extLst>
          </p:cNvPr>
          <p:cNvSpPr>
            <a:spLocks/>
          </p:cNvSpPr>
          <p:nvPr/>
        </p:nvSpPr>
        <p:spPr bwMode="auto">
          <a:xfrm>
            <a:off x="4333099" y="5747824"/>
            <a:ext cx="288925" cy="511175"/>
          </a:xfrm>
          <a:custGeom>
            <a:avLst/>
            <a:gdLst>
              <a:gd name="T0" fmla="*/ 0 w 21600"/>
              <a:gd name="T1" fmla="*/ 0 h 32550"/>
              <a:gd name="T2" fmla="*/ 3331158 w 21600"/>
              <a:gd name="T3" fmla="*/ 8027646 h 32550"/>
              <a:gd name="T4" fmla="*/ 0 w 21600"/>
              <a:gd name="T5" fmla="*/ 5327103 h 32550"/>
              <a:gd name="T6" fmla="*/ 0 60000 65536"/>
              <a:gd name="T7" fmla="*/ 0 60000 65536"/>
              <a:gd name="T8" fmla="*/ 0 60000 65536"/>
            </a:gdLst>
            <a:ahLst/>
            <a:cxnLst>
              <a:cxn ang="T6">
                <a:pos x="T0" y="T1"/>
              </a:cxn>
              <a:cxn ang="T7">
                <a:pos x="T2" y="T3"/>
              </a:cxn>
              <a:cxn ang="T8">
                <a:pos x="T4" y="T5"/>
              </a:cxn>
            </a:cxnLst>
            <a:rect l="0" t="0" r="r" b="b"/>
            <a:pathLst>
              <a:path w="21600" h="32550" fill="none" extrusionOk="0">
                <a:moveTo>
                  <a:pt x="0" y="0"/>
                </a:moveTo>
                <a:cubicBezTo>
                  <a:pt x="11929" y="0"/>
                  <a:pt x="21600" y="9670"/>
                  <a:pt x="21600" y="21600"/>
                </a:cubicBezTo>
                <a:cubicBezTo>
                  <a:pt x="21600" y="25450"/>
                  <a:pt x="20570" y="29231"/>
                  <a:pt x="18618" y="32550"/>
                </a:cubicBezTo>
              </a:path>
              <a:path w="21600" h="32550" stroke="0" extrusionOk="0">
                <a:moveTo>
                  <a:pt x="0" y="0"/>
                </a:moveTo>
                <a:cubicBezTo>
                  <a:pt x="11929" y="0"/>
                  <a:pt x="21600" y="9670"/>
                  <a:pt x="21600" y="21600"/>
                </a:cubicBezTo>
                <a:cubicBezTo>
                  <a:pt x="21600" y="25450"/>
                  <a:pt x="20570" y="29231"/>
                  <a:pt x="18618" y="32550"/>
                </a:cubicBezTo>
                <a:lnTo>
                  <a:pt x="0" y="21600"/>
                </a:lnTo>
                <a:lnTo>
                  <a:pt x="0" y="0"/>
                </a:lnTo>
                <a:close/>
              </a:path>
            </a:pathLst>
          </a:custGeom>
          <a:noFill/>
          <a:ln w="9525">
            <a:solidFill>
              <a:srgbClr val="0000FF"/>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25673" name="Text Box 73">
            <a:extLst>
              <a:ext uri="{FF2B5EF4-FFF2-40B4-BE49-F238E27FC236}">
                <a16:creationId xmlns:a16="http://schemas.microsoft.com/office/drawing/2014/main" id="{50357293-352D-4AE6-886E-86F336148859}"/>
              </a:ext>
            </a:extLst>
          </p:cNvPr>
          <p:cNvSpPr txBox="1">
            <a:spLocks noChangeArrowheads="1"/>
          </p:cNvSpPr>
          <p:nvPr/>
        </p:nvSpPr>
        <p:spPr bwMode="auto">
          <a:xfrm>
            <a:off x="1387476" y="185738"/>
            <a:ext cx="78771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85000"/>
                    <a:lumOff val="15000"/>
                  </a:schemeClr>
                </a:solidFill>
                <a:latin typeface="+mj-lt"/>
                <a:cs typeface="Arial" charset="0"/>
              </a:rPr>
              <a:t>SENSIBILIDAD DE LOS COSTOS</a:t>
            </a:r>
          </a:p>
        </p:txBody>
      </p:sp>
      <p:sp>
        <p:nvSpPr>
          <p:cNvPr id="25674" name="Rectangle 74">
            <a:extLst>
              <a:ext uri="{FF2B5EF4-FFF2-40B4-BE49-F238E27FC236}">
                <a16:creationId xmlns:a16="http://schemas.microsoft.com/office/drawing/2014/main" id="{2FF15271-E86B-46AA-B254-7CA432D0024C}"/>
              </a:ext>
            </a:extLst>
          </p:cNvPr>
          <p:cNvSpPr>
            <a:spLocks noChangeArrowheads="1"/>
          </p:cNvSpPr>
          <p:nvPr/>
        </p:nvSpPr>
        <p:spPr bwMode="auto">
          <a:xfrm>
            <a:off x="1843607" y="1414463"/>
            <a:ext cx="878522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1800" b="1" dirty="0">
                <a:effectLst>
                  <a:outerShdw blurRad="38100" dist="38100" dir="2700000" algn="tl">
                    <a:srgbClr val="C0C0C0"/>
                  </a:outerShdw>
                </a:effectLst>
                <a:latin typeface="+mj-lt"/>
              </a:rPr>
              <a:t>2° CASO) BAJOS COSTOS FIJOS, CON ALTOS COSTOS VARIABLES</a:t>
            </a:r>
            <a:endParaRPr lang="es-ES" altLang="es-AR" sz="1800" b="1" dirty="0">
              <a:effectLst>
                <a:outerShdw blurRad="38100" dist="38100" dir="2700000" algn="tl">
                  <a:srgbClr val="C0C0C0"/>
                </a:outerShdw>
              </a:effectLst>
              <a:latin typeface="+mj-lt"/>
            </a:endParaRPr>
          </a:p>
        </p:txBody>
      </p:sp>
      <p:sp>
        <p:nvSpPr>
          <p:cNvPr id="25675" name="Text Box 75">
            <a:extLst>
              <a:ext uri="{FF2B5EF4-FFF2-40B4-BE49-F238E27FC236}">
                <a16:creationId xmlns:a16="http://schemas.microsoft.com/office/drawing/2014/main" id="{7EBD55F1-99E7-421E-95C0-B332956353ED}"/>
              </a:ext>
            </a:extLst>
          </p:cNvPr>
          <p:cNvSpPr txBox="1">
            <a:spLocks noChangeArrowheads="1"/>
          </p:cNvSpPr>
          <p:nvPr/>
        </p:nvSpPr>
        <p:spPr bwMode="auto">
          <a:xfrm>
            <a:off x="1326373" y="2290248"/>
            <a:ext cx="22161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600" b="1" dirty="0">
                <a:solidFill>
                  <a:srgbClr val="996633"/>
                </a:solidFill>
                <a:latin typeface="+mj-lt"/>
              </a:rPr>
              <a:t>INGRESO TOTAL</a:t>
            </a:r>
            <a:endParaRPr lang="es-AR" altLang="es-AR" sz="1600" b="1" dirty="0">
              <a:solidFill>
                <a:srgbClr val="996633"/>
              </a:solidFill>
              <a:latin typeface="+mj-lt"/>
              <a:cs typeface="Tahoma" panose="020B0604030504040204" pitchFamily="34" charset="0"/>
            </a:endParaRPr>
          </a:p>
        </p:txBody>
      </p:sp>
      <p:sp>
        <p:nvSpPr>
          <p:cNvPr id="25676" name="Text Box 76">
            <a:extLst>
              <a:ext uri="{FF2B5EF4-FFF2-40B4-BE49-F238E27FC236}">
                <a16:creationId xmlns:a16="http://schemas.microsoft.com/office/drawing/2014/main" id="{B24C1EDD-0F7D-4BA4-992E-99CD6AB1FB85}"/>
              </a:ext>
            </a:extLst>
          </p:cNvPr>
          <p:cNvSpPr txBox="1">
            <a:spLocks noChangeArrowheads="1"/>
          </p:cNvSpPr>
          <p:nvPr/>
        </p:nvSpPr>
        <p:spPr bwMode="auto">
          <a:xfrm>
            <a:off x="550231" y="3281742"/>
            <a:ext cx="282256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600" b="1" dirty="0">
                <a:solidFill>
                  <a:srgbClr val="FF3300"/>
                </a:solidFill>
                <a:latin typeface="+mj-lt"/>
              </a:rPr>
              <a:t>COSTO TOTAL = CFT + CVT</a:t>
            </a:r>
            <a:endParaRPr lang="es-AR" altLang="es-AR" sz="1600" b="1" dirty="0">
              <a:solidFill>
                <a:srgbClr val="FF3300"/>
              </a:solidFill>
              <a:latin typeface="+mj-lt"/>
              <a:cs typeface="Tahoma" panose="020B0604030504040204" pitchFamily="34" charset="0"/>
            </a:endParaRPr>
          </a:p>
        </p:txBody>
      </p:sp>
      <p:sp>
        <p:nvSpPr>
          <p:cNvPr id="25677" name="Text Box 77">
            <a:extLst>
              <a:ext uri="{FF2B5EF4-FFF2-40B4-BE49-F238E27FC236}">
                <a16:creationId xmlns:a16="http://schemas.microsoft.com/office/drawing/2014/main" id="{DECB3A09-740D-4728-A608-8B34309DCB9E}"/>
              </a:ext>
            </a:extLst>
          </p:cNvPr>
          <p:cNvSpPr txBox="1">
            <a:spLocks noChangeArrowheads="1"/>
          </p:cNvSpPr>
          <p:nvPr/>
        </p:nvSpPr>
        <p:spPr bwMode="auto">
          <a:xfrm>
            <a:off x="1166035" y="3946011"/>
            <a:ext cx="2160588"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600" b="1">
                <a:solidFill>
                  <a:srgbClr val="0000FF"/>
                </a:solidFill>
                <a:latin typeface="+mj-lt"/>
              </a:rPr>
              <a:t>COSTO VARIABLE TOTAL</a:t>
            </a:r>
            <a:endParaRPr lang="es-AR" altLang="es-AR" sz="1600" b="1">
              <a:solidFill>
                <a:srgbClr val="0000FF"/>
              </a:solidFill>
              <a:latin typeface="+mj-lt"/>
              <a:cs typeface="Tahoma" panose="020B0604030504040204" pitchFamily="34" charset="0"/>
            </a:endParaRPr>
          </a:p>
        </p:txBody>
      </p:sp>
      <p:sp>
        <p:nvSpPr>
          <p:cNvPr id="25678" name="Text Box 78">
            <a:extLst>
              <a:ext uri="{FF2B5EF4-FFF2-40B4-BE49-F238E27FC236}">
                <a16:creationId xmlns:a16="http://schemas.microsoft.com/office/drawing/2014/main" id="{BD5C696E-7E2B-49C4-8E87-0BA560917C29}"/>
              </a:ext>
            </a:extLst>
          </p:cNvPr>
          <p:cNvSpPr txBox="1">
            <a:spLocks noChangeArrowheads="1"/>
          </p:cNvSpPr>
          <p:nvPr/>
        </p:nvSpPr>
        <p:spPr bwMode="auto">
          <a:xfrm>
            <a:off x="1469249" y="5525574"/>
            <a:ext cx="185737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600" b="1">
                <a:solidFill>
                  <a:schemeClr val="hlink"/>
                </a:solidFill>
                <a:latin typeface="+mj-lt"/>
              </a:rPr>
              <a:t>COSTO FIJO TOTAL</a:t>
            </a:r>
            <a:endParaRPr lang="es-AR" altLang="es-AR" sz="1600" b="1">
              <a:solidFill>
                <a:schemeClr val="hlink"/>
              </a:solidFill>
              <a:latin typeface="+mj-lt"/>
              <a:cs typeface="Tahoma" panose="020B0604030504040204" pitchFamily="34" charset="0"/>
            </a:endParaRPr>
          </a:p>
        </p:txBody>
      </p:sp>
      <p:sp>
        <p:nvSpPr>
          <p:cNvPr id="25679" name="Rectangle 79">
            <a:extLst>
              <a:ext uri="{FF2B5EF4-FFF2-40B4-BE49-F238E27FC236}">
                <a16:creationId xmlns:a16="http://schemas.microsoft.com/office/drawing/2014/main" id="{B4065385-8D64-4467-9675-1270BC298164}"/>
              </a:ext>
            </a:extLst>
          </p:cNvPr>
          <p:cNvSpPr>
            <a:spLocks noChangeArrowheads="1"/>
          </p:cNvSpPr>
          <p:nvPr/>
        </p:nvSpPr>
        <p:spPr bwMode="auto">
          <a:xfrm>
            <a:off x="6422248" y="6346310"/>
            <a:ext cx="14398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AR" altLang="es-AR" sz="1600" b="1" dirty="0">
                <a:latin typeface="+mj-lt"/>
              </a:rPr>
              <a:t>q instalada</a:t>
            </a:r>
            <a:endParaRPr lang="es-ES" altLang="es-AR" sz="1600" b="1" dirty="0">
              <a:latin typeface="+mj-lt"/>
            </a:endParaRPr>
          </a:p>
        </p:txBody>
      </p:sp>
      <p:sp>
        <p:nvSpPr>
          <p:cNvPr id="25680" name="Rectangle 80">
            <a:extLst>
              <a:ext uri="{FF2B5EF4-FFF2-40B4-BE49-F238E27FC236}">
                <a16:creationId xmlns:a16="http://schemas.microsoft.com/office/drawing/2014/main" id="{B1521E24-27EE-428D-9351-F0FC01EC903B}"/>
              </a:ext>
            </a:extLst>
          </p:cNvPr>
          <p:cNvSpPr>
            <a:spLocks noChangeArrowheads="1"/>
          </p:cNvSpPr>
          <p:nvPr/>
        </p:nvSpPr>
        <p:spPr bwMode="auto">
          <a:xfrm>
            <a:off x="7503336" y="3155436"/>
            <a:ext cx="3167063"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sz="1600" b="1">
                <a:latin typeface="+mj-lt"/>
              </a:rPr>
              <a:t>Contribución Marginal Total</a:t>
            </a:r>
            <a:endParaRPr lang="es-ES" altLang="es-AR" sz="1600" b="1">
              <a:latin typeface="+mj-lt"/>
            </a:endParaRPr>
          </a:p>
        </p:txBody>
      </p:sp>
      <p:sp>
        <p:nvSpPr>
          <p:cNvPr id="25682" name="Arc 82">
            <a:extLst>
              <a:ext uri="{FF2B5EF4-FFF2-40B4-BE49-F238E27FC236}">
                <a16:creationId xmlns:a16="http://schemas.microsoft.com/office/drawing/2014/main" id="{088F7315-E85A-4DCF-86C0-06EEB2943B0A}"/>
              </a:ext>
            </a:extLst>
          </p:cNvPr>
          <p:cNvSpPr>
            <a:spLocks/>
          </p:cNvSpPr>
          <p:nvPr/>
        </p:nvSpPr>
        <p:spPr bwMode="auto">
          <a:xfrm rot="16799932">
            <a:off x="5650723" y="3998398"/>
            <a:ext cx="358775" cy="254000"/>
          </a:xfrm>
          <a:custGeom>
            <a:avLst/>
            <a:gdLst>
              <a:gd name="T0" fmla="*/ 5940201 w 21600"/>
              <a:gd name="T1" fmla="*/ 0 h 19945"/>
              <a:gd name="T2" fmla="*/ 3202814 w 21600"/>
              <a:gd name="T3" fmla="*/ 3234695 h 19945"/>
              <a:gd name="T4" fmla="*/ 0 w 21600"/>
              <a:gd name="T5" fmla="*/ 280578 h 19945"/>
              <a:gd name="T6" fmla="*/ 0 60000 65536"/>
              <a:gd name="T7" fmla="*/ 0 60000 65536"/>
              <a:gd name="T8" fmla="*/ 0 60000 65536"/>
            </a:gdLst>
            <a:ahLst/>
            <a:cxnLst>
              <a:cxn ang="T6">
                <a:pos x="T0" y="T1"/>
              </a:cxn>
              <a:cxn ang="T7">
                <a:pos x="T2" y="T3"/>
              </a:cxn>
              <a:cxn ang="T8">
                <a:pos x="T4" y="T5"/>
              </a:cxn>
            </a:cxnLst>
            <a:rect l="0" t="0" r="r" b="b"/>
            <a:pathLst>
              <a:path w="21600" h="19945" fill="none" extrusionOk="0">
                <a:moveTo>
                  <a:pt x="21530" y="0"/>
                </a:moveTo>
                <a:cubicBezTo>
                  <a:pt x="21576" y="575"/>
                  <a:pt x="21600" y="1152"/>
                  <a:pt x="21600" y="1730"/>
                </a:cubicBezTo>
                <a:cubicBezTo>
                  <a:pt x="21600" y="9109"/>
                  <a:pt x="17832" y="15978"/>
                  <a:pt x="11609" y="19945"/>
                </a:cubicBezTo>
              </a:path>
              <a:path w="21600" h="19945" stroke="0" extrusionOk="0">
                <a:moveTo>
                  <a:pt x="21530" y="0"/>
                </a:moveTo>
                <a:cubicBezTo>
                  <a:pt x="21576" y="575"/>
                  <a:pt x="21600" y="1152"/>
                  <a:pt x="21600" y="1730"/>
                </a:cubicBezTo>
                <a:cubicBezTo>
                  <a:pt x="21600" y="9109"/>
                  <a:pt x="17832" y="15978"/>
                  <a:pt x="11609" y="19945"/>
                </a:cubicBezTo>
                <a:lnTo>
                  <a:pt x="0" y="1730"/>
                </a:lnTo>
                <a:lnTo>
                  <a:pt x="21530" y="0"/>
                </a:lnTo>
                <a:close/>
              </a:path>
            </a:pathLst>
          </a:custGeom>
          <a:noFill/>
          <a:ln w="9525">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25683" name="Text Box 83">
            <a:extLst>
              <a:ext uri="{FF2B5EF4-FFF2-40B4-BE49-F238E27FC236}">
                <a16:creationId xmlns:a16="http://schemas.microsoft.com/office/drawing/2014/main" id="{CCC49C2E-D4DE-44E9-9F5C-9BD8951FC937}"/>
              </a:ext>
            </a:extLst>
          </p:cNvPr>
          <p:cNvSpPr txBox="1">
            <a:spLocks noChangeArrowheads="1"/>
          </p:cNvSpPr>
          <p:nvPr/>
        </p:nvSpPr>
        <p:spPr bwMode="auto">
          <a:xfrm>
            <a:off x="5847574" y="3658673"/>
            <a:ext cx="8207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latin typeface="Tahoma" panose="020B0604030504040204" pitchFamily="34" charset="0"/>
              </a:rPr>
              <a:t>CM u</a:t>
            </a:r>
            <a:endParaRPr lang="es-AR" altLang="es-AR" sz="1400" b="1">
              <a:latin typeface="Tahoma" panose="020B0604030504040204" pitchFamily="34" charset="0"/>
              <a:cs typeface="Tahoma" panose="020B0604030504040204" pitchFamily="34" charset="0"/>
            </a:endParaRPr>
          </a:p>
        </p:txBody>
      </p:sp>
      <p:sp>
        <p:nvSpPr>
          <p:cNvPr id="25686" name="Rectangle 86">
            <a:extLst>
              <a:ext uri="{FF2B5EF4-FFF2-40B4-BE49-F238E27FC236}">
                <a16:creationId xmlns:a16="http://schemas.microsoft.com/office/drawing/2014/main" id="{59658258-2AA3-4642-A86C-1564BEEE233F}"/>
              </a:ext>
            </a:extLst>
          </p:cNvPr>
          <p:cNvSpPr>
            <a:spLocks noChangeArrowheads="1"/>
          </p:cNvSpPr>
          <p:nvPr/>
        </p:nvSpPr>
        <p:spPr bwMode="auto">
          <a:xfrm>
            <a:off x="3037698" y="1974733"/>
            <a:ext cx="504825"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sz="1600" b="1" dirty="0">
                <a:latin typeface="Tahoma" panose="020B0604030504040204" pitchFamily="34" charset="0"/>
              </a:rPr>
              <a:t>$</a:t>
            </a:r>
            <a:endParaRPr lang="es-ES" altLang="es-AR" sz="1600" b="1" dirty="0">
              <a:latin typeface="Tahoma" panose="020B0604030504040204" pitchFamily="34" charset="0"/>
            </a:endParaRPr>
          </a:p>
        </p:txBody>
      </p:sp>
      <p:sp>
        <p:nvSpPr>
          <p:cNvPr id="25691" name="Line 91">
            <a:extLst>
              <a:ext uri="{FF2B5EF4-FFF2-40B4-BE49-F238E27FC236}">
                <a16:creationId xmlns:a16="http://schemas.microsoft.com/office/drawing/2014/main" id="{5A40E4C5-4BE9-425B-950D-87AC90412858}"/>
              </a:ext>
            </a:extLst>
          </p:cNvPr>
          <p:cNvSpPr>
            <a:spLocks noChangeShapeType="1"/>
          </p:cNvSpPr>
          <p:nvPr/>
        </p:nvSpPr>
        <p:spPr bwMode="auto">
          <a:xfrm flipH="1">
            <a:off x="3326624" y="4161910"/>
            <a:ext cx="3887787"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5692" name="Text Box 92">
            <a:extLst>
              <a:ext uri="{FF2B5EF4-FFF2-40B4-BE49-F238E27FC236}">
                <a16:creationId xmlns:a16="http://schemas.microsoft.com/office/drawing/2014/main" id="{80F5B0F8-0B09-4415-BCA5-7853210DB14F}"/>
              </a:ext>
            </a:extLst>
          </p:cNvPr>
          <p:cNvSpPr txBox="1">
            <a:spLocks noChangeArrowheads="1"/>
          </p:cNvSpPr>
          <p:nvPr/>
        </p:nvSpPr>
        <p:spPr bwMode="auto">
          <a:xfrm>
            <a:off x="5849160" y="3657085"/>
            <a:ext cx="820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latin typeface="Tahoma" panose="020B0604030504040204" pitchFamily="34" charset="0"/>
              </a:rPr>
              <a:t>CM u</a:t>
            </a:r>
            <a:endParaRPr lang="es-AR" altLang="es-AR" sz="1400" b="1">
              <a:latin typeface="Tahoma" panose="020B0604030504040204" pitchFamily="34" charset="0"/>
              <a:cs typeface="Tahoma" panose="020B0604030504040204" pitchFamily="34" charset="0"/>
            </a:endParaRPr>
          </a:p>
        </p:txBody>
      </p:sp>
      <p:sp>
        <p:nvSpPr>
          <p:cNvPr id="25693" name="Text Box 93">
            <a:extLst>
              <a:ext uri="{FF2B5EF4-FFF2-40B4-BE49-F238E27FC236}">
                <a16:creationId xmlns:a16="http://schemas.microsoft.com/office/drawing/2014/main" id="{8C0D8766-EA4A-485C-8399-0B94211E1863}"/>
              </a:ext>
            </a:extLst>
          </p:cNvPr>
          <p:cNvSpPr txBox="1">
            <a:spLocks noChangeArrowheads="1"/>
          </p:cNvSpPr>
          <p:nvPr/>
        </p:nvSpPr>
        <p:spPr bwMode="auto">
          <a:xfrm>
            <a:off x="5847574" y="3658673"/>
            <a:ext cx="8207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latin typeface="Tahoma" panose="020B0604030504040204" pitchFamily="34" charset="0"/>
              </a:rPr>
              <a:t>CM u</a:t>
            </a:r>
            <a:endParaRPr lang="es-AR" altLang="es-AR" sz="1400" b="1">
              <a:latin typeface="Tahoma" panose="020B0604030504040204" pitchFamily="34" charset="0"/>
              <a:cs typeface="Tahoma" panose="020B0604030504040204" pitchFamily="34" charset="0"/>
            </a:endParaRPr>
          </a:p>
        </p:txBody>
      </p:sp>
      <p:sp>
        <p:nvSpPr>
          <p:cNvPr id="25694" name="Line 94">
            <a:extLst>
              <a:ext uri="{FF2B5EF4-FFF2-40B4-BE49-F238E27FC236}">
                <a16:creationId xmlns:a16="http://schemas.microsoft.com/office/drawing/2014/main" id="{A2241CAF-322F-4DB3-A443-02DCA78F8644}"/>
              </a:ext>
            </a:extLst>
          </p:cNvPr>
          <p:cNvSpPr>
            <a:spLocks noChangeShapeType="1"/>
          </p:cNvSpPr>
          <p:nvPr/>
        </p:nvSpPr>
        <p:spPr bwMode="auto">
          <a:xfrm flipH="1">
            <a:off x="3326624" y="4161910"/>
            <a:ext cx="3887787"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43" name="Text Box 38">
            <a:extLst>
              <a:ext uri="{FF2B5EF4-FFF2-40B4-BE49-F238E27FC236}">
                <a16:creationId xmlns:a16="http://schemas.microsoft.com/office/drawing/2014/main" id="{267226DB-3A40-437F-A7A2-4AB9EC189F8C}"/>
              </a:ext>
            </a:extLst>
          </p:cNvPr>
          <p:cNvSpPr txBox="1">
            <a:spLocks noChangeArrowheads="1"/>
          </p:cNvSpPr>
          <p:nvPr/>
        </p:nvSpPr>
        <p:spPr bwMode="auto">
          <a:xfrm>
            <a:off x="8421808" y="4469265"/>
            <a:ext cx="30083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b="1" dirty="0">
                <a:solidFill>
                  <a:schemeClr val="tx1">
                    <a:lumMod val="85000"/>
                    <a:lumOff val="15000"/>
                  </a:schemeClr>
                </a:solidFill>
                <a:latin typeface="+mj-lt"/>
              </a:rPr>
              <a:t>POTENCIAL DE BENEFICIO</a:t>
            </a:r>
            <a:endParaRPr lang="es-ES" altLang="es-AR" b="1" dirty="0">
              <a:solidFill>
                <a:schemeClr val="tx1">
                  <a:lumMod val="85000"/>
                  <a:lumOff val="15000"/>
                </a:schemeClr>
              </a:solidFill>
              <a:latin typeface="+mj-lt"/>
            </a:endParaRPr>
          </a:p>
        </p:txBody>
      </p:sp>
      <p:sp>
        <p:nvSpPr>
          <p:cNvPr id="44" name="Rectangle 60">
            <a:extLst>
              <a:ext uri="{FF2B5EF4-FFF2-40B4-BE49-F238E27FC236}">
                <a16:creationId xmlns:a16="http://schemas.microsoft.com/office/drawing/2014/main" id="{B43880F3-6B85-454A-BE53-590BEEA0D83D}"/>
              </a:ext>
            </a:extLst>
          </p:cNvPr>
          <p:cNvSpPr>
            <a:spLocks noChangeArrowheads="1"/>
          </p:cNvSpPr>
          <p:nvPr/>
        </p:nvSpPr>
        <p:spPr bwMode="auto">
          <a:xfrm>
            <a:off x="8837733" y="4950278"/>
            <a:ext cx="2089150" cy="79216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b="1" u="sng" dirty="0">
                <a:solidFill>
                  <a:schemeClr val="tx1">
                    <a:lumMod val="85000"/>
                    <a:lumOff val="15000"/>
                  </a:schemeClr>
                </a:solidFill>
                <a:latin typeface="+mj-lt"/>
              </a:rPr>
              <a:t>AREA ( + )</a:t>
            </a:r>
          </a:p>
          <a:p>
            <a:pPr algn="l" eaLnBrk="1" hangingPunct="1">
              <a:defRPr/>
            </a:pPr>
            <a:r>
              <a:rPr lang="es-AR" altLang="es-AR" sz="2000" b="1" dirty="0">
                <a:solidFill>
                  <a:schemeClr val="tx1">
                    <a:lumMod val="85000"/>
                    <a:lumOff val="15000"/>
                  </a:schemeClr>
                </a:solidFill>
                <a:latin typeface="+mj-lt"/>
              </a:rPr>
              <a:t>AREA ( - )</a:t>
            </a:r>
            <a:endParaRPr lang="es-ES" altLang="es-AR" sz="2000" b="1" dirty="0">
              <a:solidFill>
                <a:schemeClr val="tx1">
                  <a:lumMod val="85000"/>
                  <a:lumOff val="15000"/>
                </a:schemeClr>
              </a:solidFill>
              <a:latin typeface="+mj-lt"/>
            </a:endParaRPr>
          </a:p>
        </p:txBody>
      </p:sp>
      <p:sp>
        <p:nvSpPr>
          <p:cNvPr id="45" name="CuadroTexto 44">
            <a:extLst>
              <a:ext uri="{FF2B5EF4-FFF2-40B4-BE49-F238E27FC236}">
                <a16:creationId xmlns:a16="http://schemas.microsoft.com/office/drawing/2014/main" id="{61CCC1ED-E784-41A5-A045-6CA91FB0E5BC}"/>
              </a:ext>
            </a:extLst>
          </p:cNvPr>
          <p:cNvSpPr txBox="1"/>
          <p:nvPr/>
        </p:nvSpPr>
        <p:spPr>
          <a:xfrm>
            <a:off x="10418123" y="5093152"/>
            <a:ext cx="421419" cy="400110"/>
          </a:xfrm>
          <a:prstGeom prst="rect">
            <a:avLst/>
          </a:prstGeom>
          <a:noFill/>
        </p:spPr>
        <p:txBody>
          <a:bodyPr wrap="square" rtlCol="0">
            <a:spAutoFit/>
          </a:bodyPr>
          <a:lstStyle/>
          <a:p>
            <a:r>
              <a:rPr lang="es-AR" sz="2000" b="1" dirty="0"/>
              <a:t>&gt;</a:t>
            </a:r>
          </a:p>
        </p:txBody>
      </p:sp>
      <p:sp>
        <p:nvSpPr>
          <p:cNvPr id="46" name="CuadroTexto 45">
            <a:extLst>
              <a:ext uri="{FF2B5EF4-FFF2-40B4-BE49-F238E27FC236}">
                <a16:creationId xmlns:a16="http://schemas.microsoft.com/office/drawing/2014/main" id="{92EF88C4-658A-4E8B-85E5-7ECE38B2B1F8}"/>
              </a:ext>
            </a:extLst>
          </p:cNvPr>
          <p:cNvSpPr txBox="1"/>
          <p:nvPr/>
        </p:nvSpPr>
        <p:spPr>
          <a:xfrm>
            <a:off x="10728198" y="5072265"/>
            <a:ext cx="270344" cy="400110"/>
          </a:xfrm>
          <a:prstGeom prst="rect">
            <a:avLst/>
          </a:prstGeom>
          <a:noFill/>
        </p:spPr>
        <p:txBody>
          <a:bodyPr wrap="square" rtlCol="0">
            <a:spAutoFit/>
          </a:bodyPr>
          <a:lstStyle/>
          <a:p>
            <a:r>
              <a:rPr lang="es-AR" sz="2000" b="1" dirty="0"/>
              <a:t>1</a:t>
            </a:r>
          </a:p>
        </p:txBody>
      </p:sp>
      <p:sp>
        <p:nvSpPr>
          <p:cNvPr id="2" name="Signo menos 1">
            <a:extLst>
              <a:ext uri="{FF2B5EF4-FFF2-40B4-BE49-F238E27FC236}">
                <a16:creationId xmlns:a16="http://schemas.microsoft.com/office/drawing/2014/main" id="{DC405258-FD34-4304-B531-D924D3647112}"/>
              </a:ext>
            </a:extLst>
          </p:cNvPr>
          <p:cNvSpPr/>
          <p:nvPr/>
        </p:nvSpPr>
        <p:spPr>
          <a:xfrm>
            <a:off x="3654868" y="5501968"/>
            <a:ext cx="326599" cy="189500"/>
          </a:xfrm>
          <a:prstGeom prst="mathMinus">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 name="Signo más 2">
            <a:extLst>
              <a:ext uri="{FF2B5EF4-FFF2-40B4-BE49-F238E27FC236}">
                <a16:creationId xmlns:a16="http://schemas.microsoft.com/office/drawing/2014/main" id="{114F5E29-9219-4302-8775-9540351C5019}"/>
              </a:ext>
            </a:extLst>
          </p:cNvPr>
          <p:cNvSpPr/>
          <p:nvPr/>
        </p:nvSpPr>
        <p:spPr>
          <a:xfrm>
            <a:off x="6674506" y="3132595"/>
            <a:ext cx="326599" cy="287337"/>
          </a:xfrm>
          <a:prstGeom prst="mathPlus">
            <a:avLst>
              <a:gd name="adj1" fmla="val 11069"/>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 name="Rectángulo 3">
            <a:extLst>
              <a:ext uri="{FF2B5EF4-FFF2-40B4-BE49-F238E27FC236}">
                <a16:creationId xmlns:a16="http://schemas.microsoft.com/office/drawing/2014/main" id="{884636D1-774B-4B11-84FB-1DA7413D4CDF}"/>
              </a:ext>
            </a:extLst>
          </p:cNvPr>
          <p:cNvSpPr/>
          <p:nvPr/>
        </p:nvSpPr>
        <p:spPr>
          <a:xfrm>
            <a:off x="3382461" y="918552"/>
            <a:ext cx="2981907" cy="369332"/>
          </a:xfrm>
          <a:prstGeom prst="rect">
            <a:avLst/>
          </a:prstGeom>
        </p:spPr>
        <p:txBody>
          <a:bodyPr wrap="none">
            <a:spAutoFit/>
          </a:bodyPr>
          <a:lstStyle/>
          <a:p>
            <a:r>
              <a:rPr lang="es-AR" b="1" dirty="0"/>
              <a:t>POTENCIAL DE BENEFICIO</a:t>
            </a:r>
          </a:p>
        </p:txBody>
      </p:sp>
      <p:sp>
        <p:nvSpPr>
          <p:cNvPr id="5" name="Marcador de número de diapositiva 4">
            <a:extLst>
              <a:ext uri="{FF2B5EF4-FFF2-40B4-BE49-F238E27FC236}">
                <a16:creationId xmlns:a16="http://schemas.microsoft.com/office/drawing/2014/main" id="{A97CEEFF-E8EA-4172-963A-B99A429BA7C8}"/>
              </a:ext>
            </a:extLst>
          </p:cNvPr>
          <p:cNvSpPr>
            <a:spLocks noGrp="1"/>
          </p:cNvSpPr>
          <p:nvPr>
            <p:ph type="sldNum" sz="quarter" idx="12"/>
          </p:nvPr>
        </p:nvSpPr>
        <p:spPr/>
        <p:txBody>
          <a:bodyPr/>
          <a:lstStyle/>
          <a:p>
            <a:fld id="{D57F1E4F-1CFF-5643-939E-217C01CDF565}" type="slidenum">
              <a:rPr lang="en-US" smtClean="0"/>
              <a:pPr/>
              <a:t>10</a:t>
            </a:fld>
            <a:endParaRPr lang="en-US" dirty="0"/>
          </a:p>
        </p:txBody>
      </p:sp>
      <p:sp>
        <p:nvSpPr>
          <p:cNvPr id="51" name="CuadroTexto 50">
            <a:extLst>
              <a:ext uri="{FF2B5EF4-FFF2-40B4-BE49-F238E27FC236}">
                <a16:creationId xmlns:a16="http://schemas.microsoft.com/office/drawing/2014/main" id="{A314C427-30CB-490A-88AC-5849EC162262}"/>
              </a:ext>
            </a:extLst>
          </p:cNvPr>
          <p:cNvSpPr txBox="1"/>
          <p:nvPr/>
        </p:nvSpPr>
        <p:spPr>
          <a:xfrm>
            <a:off x="2821558" y="4775778"/>
            <a:ext cx="482839" cy="338554"/>
          </a:xfrm>
          <a:prstGeom prst="rect">
            <a:avLst/>
          </a:prstGeom>
          <a:noFill/>
        </p:spPr>
        <p:txBody>
          <a:bodyPr wrap="square" rtlCol="0">
            <a:spAutoFit/>
          </a:bodyPr>
          <a:lstStyle/>
          <a:p>
            <a:r>
              <a:rPr lang="es-AR" sz="1600" b="1" dirty="0"/>
              <a:t>P</a:t>
            </a:r>
            <a:r>
              <a:rPr lang="es-AR" sz="1200" b="1" dirty="0"/>
              <a:t>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56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63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65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nodeType="clickEffect">
                                  <p:stCondLst>
                                    <p:cond delay="0"/>
                                  </p:stCondLst>
                                  <p:childTnLst>
                                    <p:set>
                                      <p:cBhvr>
                                        <p:cTn id="14" dur="1" fill="hold">
                                          <p:stCondLst>
                                            <p:cond delay="0"/>
                                          </p:stCondLst>
                                        </p:cTn>
                                        <p:tgtEl>
                                          <p:spTgt spid="25641"/>
                                        </p:tgtEl>
                                        <p:attrNameLst>
                                          <p:attrName>style.visibility</p:attrName>
                                        </p:attrNameLst>
                                      </p:cBhvr>
                                      <p:to>
                                        <p:strVal val="visible"/>
                                      </p:to>
                                    </p:set>
                                    <p:animEffect transition="in" filter="wipe(down)">
                                      <p:cBhvr>
                                        <p:cTn id="15" dur="500"/>
                                        <p:tgtEl>
                                          <p:spTgt spid="25641"/>
                                        </p:tgtEl>
                                      </p:cBhvr>
                                    </p:animEffect>
                                  </p:childTnLst>
                                </p:cTn>
                              </p:par>
                              <p:par>
                                <p:cTn id="16" presetID="22" presetClass="entr" presetSubtype="4" fill="hold" nodeType="withEffect">
                                  <p:stCondLst>
                                    <p:cond delay="0"/>
                                  </p:stCondLst>
                                  <p:childTnLst>
                                    <p:set>
                                      <p:cBhvr>
                                        <p:cTn id="17" dur="1" fill="hold">
                                          <p:stCondLst>
                                            <p:cond delay="0"/>
                                          </p:stCondLst>
                                        </p:cTn>
                                        <p:tgtEl>
                                          <p:spTgt spid="25640"/>
                                        </p:tgtEl>
                                        <p:attrNameLst>
                                          <p:attrName>style.visibility</p:attrName>
                                        </p:attrNameLst>
                                      </p:cBhvr>
                                      <p:to>
                                        <p:strVal val="visible"/>
                                      </p:to>
                                    </p:set>
                                    <p:animEffect transition="in" filter="wipe(down)">
                                      <p:cBhvr>
                                        <p:cTn id="18" dur="500"/>
                                        <p:tgtEl>
                                          <p:spTgt spid="2564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nodeType="clickEffect">
                                  <p:stCondLst>
                                    <p:cond delay="0"/>
                                  </p:stCondLst>
                                  <p:childTnLst>
                                    <p:set>
                                      <p:cBhvr>
                                        <p:cTn id="22" dur="1" fill="hold">
                                          <p:stCondLst>
                                            <p:cond delay="0"/>
                                          </p:stCondLst>
                                        </p:cTn>
                                        <p:tgtEl>
                                          <p:spTgt spid="25634"/>
                                        </p:tgtEl>
                                        <p:attrNameLst>
                                          <p:attrName>style.visibility</p:attrName>
                                        </p:attrNameLst>
                                      </p:cBhvr>
                                      <p:to>
                                        <p:strVal val="visible"/>
                                      </p:to>
                                    </p:set>
                                    <p:animEffect transition="in" filter="wipe(down)">
                                      <p:cBhvr>
                                        <p:cTn id="23" dur="500"/>
                                        <p:tgtEl>
                                          <p:spTgt spid="2563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nodeType="clickEffect">
                                  <p:stCondLst>
                                    <p:cond delay="0"/>
                                  </p:stCondLst>
                                  <p:childTnLst>
                                    <p:set>
                                      <p:cBhvr>
                                        <p:cTn id="27" dur="1" fill="hold">
                                          <p:stCondLst>
                                            <p:cond delay="0"/>
                                          </p:stCondLst>
                                        </p:cTn>
                                        <p:tgtEl>
                                          <p:spTgt spid="25635"/>
                                        </p:tgtEl>
                                        <p:attrNameLst>
                                          <p:attrName>style.visibility</p:attrName>
                                        </p:attrNameLst>
                                      </p:cBhvr>
                                      <p:to>
                                        <p:strVal val="visible"/>
                                      </p:to>
                                    </p:set>
                                    <p:animEffect transition="in" filter="wipe(down)">
                                      <p:cBhvr>
                                        <p:cTn id="28" dur="500"/>
                                        <p:tgtEl>
                                          <p:spTgt spid="25635"/>
                                        </p:tgtEl>
                                      </p:cBhvr>
                                    </p:animEffect>
                                  </p:childTnLst>
                                </p:cTn>
                              </p:par>
                              <p:par>
                                <p:cTn id="29" presetID="22" presetClass="entr" presetSubtype="4" fill="hold" nodeType="withEffect">
                                  <p:stCondLst>
                                    <p:cond delay="0"/>
                                  </p:stCondLst>
                                  <p:childTnLst>
                                    <p:set>
                                      <p:cBhvr>
                                        <p:cTn id="30" dur="1" fill="hold">
                                          <p:stCondLst>
                                            <p:cond delay="0"/>
                                          </p:stCondLst>
                                        </p:cTn>
                                        <p:tgtEl>
                                          <p:spTgt spid="25672"/>
                                        </p:tgtEl>
                                        <p:attrNameLst>
                                          <p:attrName>style.visibility</p:attrName>
                                        </p:attrNameLst>
                                      </p:cBhvr>
                                      <p:to>
                                        <p:strVal val="visible"/>
                                      </p:to>
                                    </p:set>
                                    <p:animEffect transition="in" filter="wipe(down)">
                                      <p:cBhvr>
                                        <p:cTn id="31" dur="500"/>
                                        <p:tgtEl>
                                          <p:spTgt spid="25672"/>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25638"/>
                                        </p:tgtEl>
                                        <p:attrNameLst>
                                          <p:attrName>style.visibility</p:attrName>
                                        </p:attrNameLst>
                                      </p:cBhvr>
                                      <p:to>
                                        <p:strVal val="visible"/>
                                      </p:to>
                                    </p:set>
                                    <p:animEffect transition="in" filter="wipe(down)">
                                      <p:cBhvr>
                                        <p:cTn id="34" dur="500"/>
                                        <p:tgtEl>
                                          <p:spTgt spid="25638"/>
                                        </p:tgtEl>
                                      </p:cBhvr>
                                    </p:animEffect>
                                  </p:childTnLst>
                                </p:cTn>
                              </p:par>
                              <p:par>
                                <p:cTn id="35" presetID="22" presetClass="entr" presetSubtype="4" fill="hold" nodeType="withEffect">
                                  <p:stCondLst>
                                    <p:cond delay="0"/>
                                  </p:stCondLst>
                                  <p:childTnLst>
                                    <p:set>
                                      <p:cBhvr>
                                        <p:cTn id="36" dur="1" fill="hold">
                                          <p:stCondLst>
                                            <p:cond delay="0"/>
                                          </p:stCondLst>
                                        </p:cTn>
                                        <p:tgtEl>
                                          <p:spTgt spid="25664"/>
                                        </p:tgtEl>
                                        <p:attrNameLst>
                                          <p:attrName>style.visibility</p:attrName>
                                        </p:attrNameLst>
                                      </p:cBhvr>
                                      <p:to>
                                        <p:strVal val="visible"/>
                                      </p:to>
                                    </p:set>
                                    <p:animEffect transition="in" filter="wipe(down)">
                                      <p:cBhvr>
                                        <p:cTn id="37" dur="500"/>
                                        <p:tgtEl>
                                          <p:spTgt spid="2566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25637"/>
                                        </p:tgtEl>
                                        <p:attrNameLst>
                                          <p:attrName>style.visibility</p:attrName>
                                        </p:attrNameLst>
                                      </p:cBhvr>
                                      <p:to>
                                        <p:strVal val="visible"/>
                                      </p:to>
                                    </p:set>
                                    <p:animEffect transition="in" filter="wipe(down)">
                                      <p:cBhvr>
                                        <p:cTn id="42" dur="500"/>
                                        <p:tgtEl>
                                          <p:spTgt spid="25637"/>
                                        </p:tgtEl>
                                      </p:cBhvr>
                                    </p:animEffect>
                                  </p:childTnLst>
                                </p:cTn>
                              </p:par>
                              <p:par>
                                <p:cTn id="43" presetID="22" presetClass="entr" presetSubtype="4" fill="hold" nodeType="withEffect">
                                  <p:stCondLst>
                                    <p:cond delay="0"/>
                                  </p:stCondLst>
                                  <p:childTnLst>
                                    <p:set>
                                      <p:cBhvr>
                                        <p:cTn id="44" dur="1" fill="hold">
                                          <p:stCondLst>
                                            <p:cond delay="0"/>
                                          </p:stCondLst>
                                        </p:cTn>
                                        <p:tgtEl>
                                          <p:spTgt spid="25662"/>
                                        </p:tgtEl>
                                        <p:attrNameLst>
                                          <p:attrName>style.visibility</p:attrName>
                                        </p:attrNameLst>
                                      </p:cBhvr>
                                      <p:to>
                                        <p:strVal val="visible"/>
                                      </p:to>
                                    </p:set>
                                    <p:animEffect transition="in" filter="wipe(down)">
                                      <p:cBhvr>
                                        <p:cTn id="45" dur="500"/>
                                        <p:tgtEl>
                                          <p:spTgt spid="2566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4" fill="hold" nodeType="clickEffect">
                                  <p:stCondLst>
                                    <p:cond delay="0"/>
                                  </p:stCondLst>
                                  <p:childTnLst>
                                    <p:set>
                                      <p:cBhvr>
                                        <p:cTn id="49" dur="1" fill="hold">
                                          <p:stCondLst>
                                            <p:cond delay="0"/>
                                          </p:stCondLst>
                                        </p:cTn>
                                        <p:tgtEl>
                                          <p:spTgt spid="25636"/>
                                        </p:tgtEl>
                                        <p:attrNameLst>
                                          <p:attrName>style.visibility</p:attrName>
                                        </p:attrNameLst>
                                      </p:cBhvr>
                                      <p:to>
                                        <p:strVal val="visible"/>
                                      </p:to>
                                    </p:set>
                                    <p:animEffect transition="in" filter="wipe(down)">
                                      <p:cBhvr>
                                        <p:cTn id="50" dur="500"/>
                                        <p:tgtEl>
                                          <p:spTgt spid="25636"/>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25642"/>
                                        </p:tgtEl>
                                        <p:attrNameLst>
                                          <p:attrName>style.visibility</p:attrName>
                                        </p:attrNameLst>
                                      </p:cBhvr>
                                      <p:to>
                                        <p:strVal val="visible"/>
                                      </p:to>
                                    </p:set>
                                    <p:animEffect transition="in" filter="wipe(down)">
                                      <p:cBhvr>
                                        <p:cTn id="53" dur="500"/>
                                        <p:tgtEl>
                                          <p:spTgt spid="25642"/>
                                        </p:tgtEl>
                                      </p:cBhvr>
                                    </p:animEffect>
                                  </p:childTnLst>
                                </p:cTn>
                              </p:par>
                              <p:par>
                                <p:cTn id="54" presetID="22" presetClass="entr" presetSubtype="4" fill="hold" nodeType="withEffect">
                                  <p:stCondLst>
                                    <p:cond delay="0"/>
                                  </p:stCondLst>
                                  <p:childTnLst>
                                    <p:set>
                                      <p:cBhvr>
                                        <p:cTn id="55" dur="1" fill="hold">
                                          <p:stCondLst>
                                            <p:cond delay="0"/>
                                          </p:stCondLst>
                                        </p:cTn>
                                        <p:tgtEl>
                                          <p:spTgt spid="25639"/>
                                        </p:tgtEl>
                                        <p:attrNameLst>
                                          <p:attrName>style.visibility</p:attrName>
                                        </p:attrNameLst>
                                      </p:cBhvr>
                                      <p:to>
                                        <p:strVal val="visible"/>
                                      </p:to>
                                    </p:set>
                                    <p:animEffect transition="in" filter="wipe(down)">
                                      <p:cBhvr>
                                        <p:cTn id="56" dur="500"/>
                                        <p:tgtEl>
                                          <p:spTgt spid="25639"/>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5645"/>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4" fill="hold" nodeType="clickEffect">
                                  <p:stCondLst>
                                    <p:cond delay="0"/>
                                  </p:stCondLst>
                                  <p:childTnLst>
                                    <p:set>
                                      <p:cBhvr>
                                        <p:cTn id="64" dur="1" fill="hold">
                                          <p:stCondLst>
                                            <p:cond delay="0"/>
                                          </p:stCondLst>
                                        </p:cTn>
                                        <p:tgtEl>
                                          <p:spTgt spid="25646"/>
                                        </p:tgtEl>
                                        <p:attrNameLst>
                                          <p:attrName>style.visibility</p:attrName>
                                        </p:attrNameLst>
                                      </p:cBhvr>
                                      <p:to>
                                        <p:strVal val="visible"/>
                                      </p:to>
                                    </p:set>
                                    <p:animEffect transition="in" filter="wipe(down)">
                                      <p:cBhvr>
                                        <p:cTn id="65" dur="500"/>
                                        <p:tgtEl>
                                          <p:spTgt spid="25646"/>
                                        </p:tgtEl>
                                      </p:cBhvr>
                                    </p:animEffect>
                                  </p:childTnLst>
                                </p:cTn>
                              </p:par>
                              <p:par>
                                <p:cTn id="66" presetID="22" presetClass="entr" presetSubtype="4" fill="hold" nodeType="withEffect">
                                  <p:stCondLst>
                                    <p:cond delay="0"/>
                                  </p:stCondLst>
                                  <p:childTnLst>
                                    <p:set>
                                      <p:cBhvr>
                                        <p:cTn id="67" dur="1" fill="hold">
                                          <p:stCondLst>
                                            <p:cond delay="0"/>
                                          </p:stCondLst>
                                        </p:cTn>
                                        <p:tgtEl>
                                          <p:spTgt spid="25647"/>
                                        </p:tgtEl>
                                        <p:attrNameLst>
                                          <p:attrName>style.visibility</p:attrName>
                                        </p:attrNameLst>
                                      </p:cBhvr>
                                      <p:to>
                                        <p:strVal val="visible"/>
                                      </p:to>
                                    </p:set>
                                    <p:animEffect transition="in" filter="wipe(down)">
                                      <p:cBhvr>
                                        <p:cTn id="68" dur="500"/>
                                        <p:tgtEl>
                                          <p:spTgt spid="25647"/>
                                        </p:tgtEl>
                                      </p:cBhvr>
                                    </p:animEffect>
                                  </p:childTnLst>
                                </p:cTn>
                              </p:par>
                              <p:par>
                                <p:cTn id="69" presetID="22" presetClass="entr" presetSubtype="4" fill="hold" grpId="0" nodeType="withEffect">
                                  <p:stCondLst>
                                    <p:cond delay="0"/>
                                  </p:stCondLst>
                                  <p:childTnLst>
                                    <p:set>
                                      <p:cBhvr>
                                        <p:cTn id="70" dur="1" fill="hold">
                                          <p:stCondLst>
                                            <p:cond delay="0"/>
                                          </p:stCondLst>
                                        </p:cTn>
                                        <p:tgtEl>
                                          <p:spTgt spid="25633"/>
                                        </p:tgtEl>
                                        <p:attrNameLst>
                                          <p:attrName>style.visibility</p:attrName>
                                        </p:attrNameLst>
                                      </p:cBhvr>
                                      <p:to>
                                        <p:strVal val="visible"/>
                                      </p:to>
                                    </p:set>
                                    <p:animEffect transition="in" filter="wipe(down)">
                                      <p:cBhvr>
                                        <p:cTn id="71" dur="500"/>
                                        <p:tgtEl>
                                          <p:spTgt spid="25633"/>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4" fill="hold" grpId="0" nodeType="clickEffect">
                                  <p:stCondLst>
                                    <p:cond delay="0"/>
                                  </p:stCondLst>
                                  <p:childTnLst>
                                    <p:set>
                                      <p:cBhvr>
                                        <p:cTn id="75" dur="1" fill="hold">
                                          <p:stCondLst>
                                            <p:cond delay="0"/>
                                          </p:stCondLst>
                                        </p:cTn>
                                        <p:tgtEl>
                                          <p:spTgt spid="25671"/>
                                        </p:tgtEl>
                                        <p:attrNameLst>
                                          <p:attrName>style.visibility</p:attrName>
                                        </p:attrNameLst>
                                      </p:cBhvr>
                                      <p:to>
                                        <p:strVal val="visible"/>
                                      </p:to>
                                    </p:set>
                                    <p:animEffect transition="in" filter="wipe(down)">
                                      <p:cBhvr>
                                        <p:cTn id="76" dur="500"/>
                                        <p:tgtEl>
                                          <p:spTgt spid="25671"/>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4" fill="hold" grpId="0" nodeType="clickEffect">
                                  <p:stCondLst>
                                    <p:cond delay="0"/>
                                  </p:stCondLst>
                                  <p:childTnLst>
                                    <p:set>
                                      <p:cBhvr>
                                        <p:cTn id="80" dur="1" fill="hold">
                                          <p:stCondLst>
                                            <p:cond delay="0"/>
                                          </p:stCondLst>
                                        </p:cTn>
                                        <p:tgtEl>
                                          <p:spTgt spid="25668"/>
                                        </p:tgtEl>
                                        <p:attrNameLst>
                                          <p:attrName>style.visibility</p:attrName>
                                        </p:attrNameLst>
                                      </p:cBhvr>
                                      <p:to>
                                        <p:strVal val="visible"/>
                                      </p:to>
                                    </p:set>
                                    <p:animEffect transition="in" filter="wipe(down)">
                                      <p:cBhvr>
                                        <p:cTn id="81" dur="500"/>
                                        <p:tgtEl>
                                          <p:spTgt spid="25668"/>
                                        </p:tgtEl>
                                      </p:cBhvr>
                                    </p:animEffect>
                                  </p:childTnLst>
                                </p:cTn>
                              </p:par>
                              <p:par>
                                <p:cTn id="82" presetID="22" presetClass="entr" presetSubtype="4" fill="hold" grpId="0" nodeType="withEffect">
                                  <p:stCondLst>
                                    <p:cond delay="0"/>
                                  </p:stCondLst>
                                  <p:childTnLst>
                                    <p:set>
                                      <p:cBhvr>
                                        <p:cTn id="83" dur="1" fill="hold">
                                          <p:stCondLst>
                                            <p:cond delay="0"/>
                                          </p:stCondLst>
                                        </p:cTn>
                                        <p:tgtEl>
                                          <p:spTgt spid="25669"/>
                                        </p:tgtEl>
                                        <p:attrNameLst>
                                          <p:attrName>style.visibility</p:attrName>
                                        </p:attrNameLst>
                                      </p:cBhvr>
                                      <p:to>
                                        <p:strVal val="visible"/>
                                      </p:to>
                                    </p:set>
                                    <p:animEffect transition="in" filter="wipe(down)">
                                      <p:cBhvr>
                                        <p:cTn id="84" dur="500"/>
                                        <p:tgtEl>
                                          <p:spTgt spid="25669"/>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4" fill="hold" nodeType="clickEffect">
                                  <p:stCondLst>
                                    <p:cond delay="0"/>
                                  </p:stCondLst>
                                  <p:childTnLst>
                                    <p:set>
                                      <p:cBhvr>
                                        <p:cTn id="88" dur="1" fill="hold">
                                          <p:stCondLst>
                                            <p:cond delay="0"/>
                                          </p:stCondLst>
                                        </p:cTn>
                                        <p:tgtEl>
                                          <p:spTgt spid="25666"/>
                                        </p:tgtEl>
                                        <p:attrNameLst>
                                          <p:attrName>style.visibility</p:attrName>
                                        </p:attrNameLst>
                                      </p:cBhvr>
                                      <p:to>
                                        <p:strVal val="visible"/>
                                      </p:to>
                                    </p:set>
                                    <p:animEffect transition="in" filter="wipe(down)">
                                      <p:cBhvr>
                                        <p:cTn id="89" dur="500"/>
                                        <p:tgtEl>
                                          <p:spTgt spid="25666"/>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3" presetClass="entr" presetSubtype="10" fill="hold" grpId="0" nodeType="clickEffect">
                                  <p:stCondLst>
                                    <p:cond delay="0"/>
                                  </p:stCondLst>
                                  <p:childTnLst>
                                    <p:set>
                                      <p:cBhvr>
                                        <p:cTn id="93" dur="1" fill="hold">
                                          <p:stCondLst>
                                            <p:cond delay="0"/>
                                          </p:stCondLst>
                                        </p:cTn>
                                        <p:tgtEl>
                                          <p:spTgt spid="25674"/>
                                        </p:tgtEl>
                                        <p:attrNameLst>
                                          <p:attrName>style.visibility</p:attrName>
                                        </p:attrNameLst>
                                      </p:cBhvr>
                                      <p:to>
                                        <p:strVal val="visible"/>
                                      </p:to>
                                    </p:set>
                                    <p:animEffect transition="in" filter="blinds(horizontal)">
                                      <p:cBhvr>
                                        <p:cTn id="94" dur="500"/>
                                        <p:tgtEl>
                                          <p:spTgt spid="25674"/>
                                        </p:tgtEl>
                                      </p:cBhvr>
                                    </p:animEffect>
                                  </p:childTnLst>
                                </p:cTn>
                              </p:par>
                              <p:par>
                                <p:cTn id="95" presetID="22" presetClass="entr" presetSubtype="4" fill="hold" grpId="0" nodeType="withEffect">
                                  <p:stCondLst>
                                    <p:cond delay="0"/>
                                  </p:stCondLst>
                                  <p:childTnLst>
                                    <p:set>
                                      <p:cBhvr>
                                        <p:cTn id="96" dur="1" fill="hold">
                                          <p:stCondLst>
                                            <p:cond delay="0"/>
                                          </p:stCondLst>
                                        </p:cTn>
                                        <p:tgtEl>
                                          <p:spTgt spid="25675"/>
                                        </p:tgtEl>
                                        <p:attrNameLst>
                                          <p:attrName>style.visibility</p:attrName>
                                        </p:attrNameLst>
                                      </p:cBhvr>
                                      <p:to>
                                        <p:strVal val="visible"/>
                                      </p:to>
                                    </p:set>
                                    <p:animEffect transition="in" filter="wipe(down)">
                                      <p:cBhvr>
                                        <p:cTn id="97" dur="500"/>
                                        <p:tgtEl>
                                          <p:spTgt spid="25675"/>
                                        </p:tgtEl>
                                      </p:cBhvr>
                                    </p:animEffect>
                                  </p:childTnLst>
                                </p:cTn>
                              </p:par>
                              <p:par>
                                <p:cTn id="98" presetID="22" presetClass="entr" presetSubtype="4" fill="hold" grpId="0" nodeType="withEffect">
                                  <p:stCondLst>
                                    <p:cond delay="0"/>
                                  </p:stCondLst>
                                  <p:childTnLst>
                                    <p:set>
                                      <p:cBhvr>
                                        <p:cTn id="99" dur="1" fill="hold">
                                          <p:stCondLst>
                                            <p:cond delay="0"/>
                                          </p:stCondLst>
                                        </p:cTn>
                                        <p:tgtEl>
                                          <p:spTgt spid="25676"/>
                                        </p:tgtEl>
                                        <p:attrNameLst>
                                          <p:attrName>style.visibility</p:attrName>
                                        </p:attrNameLst>
                                      </p:cBhvr>
                                      <p:to>
                                        <p:strVal val="visible"/>
                                      </p:to>
                                    </p:set>
                                    <p:animEffect transition="in" filter="wipe(down)">
                                      <p:cBhvr>
                                        <p:cTn id="100" dur="500"/>
                                        <p:tgtEl>
                                          <p:spTgt spid="25676"/>
                                        </p:tgtEl>
                                      </p:cBhvr>
                                    </p:animEffect>
                                  </p:childTnLst>
                                </p:cTn>
                              </p:par>
                              <p:par>
                                <p:cTn id="101" presetID="22" presetClass="entr" presetSubtype="4" fill="hold" grpId="0" nodeType="withEffect">
                                  <p:stCondLst>
                                    <p:cond delay="0"/>
                                  </p:stCondLst>
                                  <p:childTnLst>
                                    <p:set>
                                      <p:cBhvr>
                                        <p:cTn id="102" dur="1" fill="hold">
                                          <p:stCondLst>
                                            <p:cond delay="0"/>
                                          </p:stCondLst>
                                        </p:cTn>
                                        <p:tgtEl>
                                          <p:spTgt spid="25677"/>
                                        </p:tgtEl>
                                        <p:attrNameLst>
                                          <p:attrName>style.visibility</p:attrName>
                                        </p:attrNameLst>
                                      </p:cBhvr>
                                      <p:to>
                                        <p:strVal val="visible"/>
                                      </p:to>
                                    </p:set>
                                    <p:animEffect transition="in" filter="wipe(down)">
                                      <p:cBhvr>
                                        <p:cTn id="103" dur="500"/>
                                        <p:tgtEl>
                                          <p:spTgt spid="25677"/>
                                        </p:tgtEl>
                                      </p:cBhvr>
                                    </p:animEffect>
                                  </p:childTnLst>
                                </p:cTn>
                              </p:par>
                              <p:par>
                                <p:cTn id="104" presetID="22" presetClass="entr" presetSubtype="4" fill="hold" grpId="0" nodeType="withEffect">
                                  <p:stCondLst>
                                    <p:cond delay="0"/>
                                  </p:stCondLst>
                                  <p:childTnLst>
                                    <p:set>
                                      <p:cBhvr>
                                        <p:cTn id="105" dur="1" fill="hold">
                                          <p:stCondLst>
                                            <p:cond delay="0"/>
                                          </p:stCondLst>
                                        </p:cTn>
                                        <p:tgtEl>
                                          <p:spTgt spid="25678"/>
                                        </p:tgtEl>
                                        <p:attrNameLst>
                                          <p:attrName>style.visibility</p:attrName>
                                        </p:attrNameLst>
                                      </p:cBhvr>
                                      <p:to>
                                        <p:strVal val="visible"/>
                                      </p:to>
                                    </p:set>
                                    <p:animEffect transition="in" filter="wipe(down)">
                                      <p:cBhvr>
                                        <p:cTn id="106" dur="500"/>
                                        <p:tgtEl>
                                          <p:spTgt spid="25678"/>
                                        </p:tgtEl>
                                      </p:cBhvr>
                                    </p:animEffect>
                                  </p:childTnLst>
                                </p:cTn>
                              </p:par>
                              <p:par>
                                <p:cTn id="107" presetID="22" presetClass="entr" presetSubtype="4" fill="hold" grpId="0" nodeType="withEffect">
                                  <p:stCondLst>
                                    <p:cond delay="0"/>
                                  </p:stCondLst>
                                  <p:childTnLst>
                                    <p:set>
                                      <p:cBhvr>
                                        <p:cTn id="108" dur="1" fill="hold">
                                          <p:stCondLst>
                                            <p:cond delay="0"/>
                                          </p:stCondLst>
                                        </p:cTn>
                                        <p:tgtEl>
                                          <p:spTgt spid="25679"/>
                                        </p:tgtEl>
                                        <p:attrNameLst>
                                          <p:attrName>style.visibility</p:attrName>
                                        </p:attrNameLst>
                                      </p:cBhvr>
                                      <p:to>
                                        <p:strVal val="visible"/>
                                      </p:to>
                                    </p:set>
                                    <p:animEffect transition="in" filter="wipe(down)">
                                      <p:cBhvr>
                                        <p:cTn id="109" dur="500"/>
                                        <p:tgtEl>
                                          <p:spTgt spid="25679"/>
                                        </p:tgtEl>
                                      </p:cBhvr>
                                    </p:animEffect>
                                  </p:childTnLst>
                                </p:cTn>
                              </p:par>
                              <p:par>
                                <p:cTn id="110" presetID="3" presetClass="entr" presetSubtype="10" fill="hold" grpId="0" nodeType="withEffect">
                                  <p:stCondLst>
                                    <p:cond delay="0"/>
                                  </p:stCondLst>
                                  <p:childTnLst>
                                    <p:set>
                                      <p:cBhvr>
                                        <p:cTn id="111" dur="1" fill="hold">
                                          <p:stCondLst>
                                            <p:cond delay="0"/>
                                          </p:stCondLst>
                                        </p:cTn>
                                        <p:tgtEl>
                                          <p:spTgt spid="25680"/>
                                        </p:tgtEl>
                                        <p:attrNameLst>
                                          <p:attrName>style.visibility</p:attrName>
                                        </p:attrNameLst>
                                      </p:cBhvr>
                                      <p:to>
                                        <p:strVal val="visible"/>
                                      </p:to>
                                    </p:set>
                                    <p:animEffect transition="in" filter="blinds(horizontal)">
                                      <p:cBhvr>
                                        <p:cTn id="112" dur="500"/>
                                        <p:tgtEl>
                                          <p:spTgt spid="25680"/>
                                        </p:tgtEl>
                                      </p:cBhvr>
                                    </p:animEffect>
                                  </p:childTnLst>
                                </p:cTn>
                              </p:par>
                              <p:par>
                                <p:cTn id="113" presetID="22" presetClass="entr" presetSubtype="4" fill="hold" nodeType="withEffect">
                                  <p:stCondLst>
                                    <p:cond delay="0"/>
                                  </p:stCondLst>
                                  <p:childTnLst>
                                    <p:set>
                                      <p:cBhvr>
                                        <p:cTn id="114" dur="1" fill="hold">
                                          <p:stCondLst>
                                            <p:cond delay="0"/>
                                          </p:stCondLst>
                                        </p:cTn>
                                        <p:tgtEl>
                                          <p:spTgt spid="25682"/>
                                        </p:tgtEl>
                                        <p:attrNameLst>
                                          <p:attrName>style.visibility</p:attrName>
                                        </p:attrNameLst>
                                      </p:cBhvr>
                                      <p:to>
                                        <p:strVal val="visible"/>
                                      </p:to>
                                    </p:set>
                                    <p:animEffect transition="in" filter="wipe(down)">
                                      <p:cBhvr>
                                        <p:cTn id="115" dur="500"/>
                                        <p:tgtEl>
                                          <p:spTgt spid="25682"/>
                                        </p:tgtEl>
                                      </p:cBhvr>
                                    </p:animEffect>
                                  </p:childTnLst>
                                </p:cTn>
                              </p:par>
                              <p:par>
                                <p:cTn id="116" presetID="22" presetClass="entr" presetSubtype="4" fill="hold" grpId="0" nodeType="withEffect">
                                  <p:stCondLst>
                                    <p:cond delay="0"/>
                                  </p:stCondLst>
                                  <p:childTnLst>
                                    <p:set>
                                      <p:cBhvr>
                                        <p:cTn id="117" dur="1" fill="hold">
                                          <p:stCondLst>
                                            <p:cond delay="0"/>
                                          </p:stCondLst>
                                        </p:cTn>
                                        <p:tgtEl>
                                          <p:spTgt spid="25683"/>
                                        </p:tgtEl>
                                        <p:attrNameLst>
                                          <p:attrName>style.visibility</p:attrName>
                                        </p:attrNameLst>
                                      </p:cBhvr>
                                      <p:to>
                                        <p:strVal val="visible"/>
                                      </p:to>
                                    </p:set>
                                    <p:animEffect transition="in" filter="wipe(down)">
                                      <p:cBhvr>
                                        <p:cTn id="118" dur="500"/>
                                        <p:tgtEl>
                                          <p:spTgt spid="25683"/>
                                        </p:tgtEl>
                                      </p:cBhvr>
                                    </p:animEffect>
                                  </p:childTnLst>
                                </p:cTn>
                              </p:par>
                              <p:par>
                                <p:cTn id="119" presetID="3" presetClass="entr" presetSubtype="10" fill="hold" grpId="0" nodeType="withEffect">
                                  <p:stCondLst>
                                    <p:cond delay="0"/>
                                  </p:stCondLst>
                                  <p:childTnLst>
                                    <p:set>
                                      <p:cBhvr>
                                        <p:cTn id="120" dur="1" fill="hold">
                                          <p:stCondLst>
                                            <p:cond delay="0"/>
                                          </p:stCondLst>
                                        </p:cTn>
                                        <p:tgtEl>
                                          <p:spTgt spid="25686"/>
                                        </p:tgtEl>
                                        <p:attrNameLst>
                                          <p:attrName>style.visibility</p:attrName>
                                        </p:attrNameLst>
                                      </p:cBhvr>
                                      <p:to>
                                        <p:strVal val="visible"/>
                                      </p:to>
                                    </p:set>
                                    <p:animEffect transition="in" filter="blinds(horizontal)">
                                      <p:cBhvr>
                                        <p:cTn id="121" dur="500"/>
                                        <p:tgtEl>
                                          <p:spTgt spid="25686"/>
                                        </p:tgtEl>
                                      </p:cBhvr>
                                    </p:animEffect>
                                  </p:childTnLst>
                                </p:cTn>
                              </p:par>
                              <p:par>
                                <p:cTn id="122" presetID="22" presetClass="entr" presetSubtype="4" fill="hold" nodeType="withEffect">
                                  <p:stCondLst>
                                    <p:cond delay="0"/>
                                  </p:stCondLst>
                                  <p:childTnLst>
                                    <p:set>
                                      <p:cBhvr>
                                        <p:cTn id="123" dur="1" fill="hold">
                                          <p:stCondLst>
                                            <p:cond delay="0"/>
                                          </p:stCondLst>
                                        </p:cTn>
                                        <p:tgtEl>
                                          <p:spTgt spid="25691"/>
                                        </p:tgtEl>
                                        <p:attrNameLst>
                                          <p:attrName>style.visibility</p:attrName>
                                        </p:attrNameLst>
                                      </p:cBhvr>
                                      <p:to>
                                        <p:strVal val="visible"/>
                                      </p:to>
                                    </p:set>
                                    <p:animEffect transition="in" filter="wipe(down)">
                                      <p:cBhvr>
                                        <p:cTn id="124" dur="500"/>
                                        <p:tgtEl>
                                          <p:spTgt spid="25691"/>
                                        </p:tgtEl>
                                      </p:cBhvr>
                                    </p:animEffect>
                                  </p:childTnLst>
                                </p:cTn>
                              </p:par>
                              <p:par>
                                <p:cTn id="125" presetID="22" presetClass="entr" presetSubtype="4" fill="hold" grpId="0" nodeType="withEffect">
                                  <p:stCondLst>
                                    <p:cond delay="0"/>
                                  </p:stCondLst>
                                  <p:childTnLst>
                                    <p:set>
                                      <p:cBhvr>
                                        <p:cTn id="126" dur="1" fill="hold">
                                          <p:stCondLst>
                                            <p:cond delay="0"/>
                                          </p:stCondLst>
                                        </p:cTn>
                                        <p:tgtEl>
                                          <p:spTgt spid="25692"/>
                                        </p:tgtEl>
                                        <p:attrNameLst>
                                          <p:attrName>style.visibility</p:attrName>
                                        </p:attrNameLst>
                                      </p:cBhvr>
                                      <p:to>
                                        <p:strVal val="visible"/>
                                      </p:to>
                                    </p:set>
                                    <p:animEffect transition="in" filter="wipe(down)">
                                      <p:cBhvr>
                                        <p:cTn id="127" dur="500"/>
                                        <p:tgtEl>
                                          <p:spTgt spid="25692"/>
                                        </p:tgtEl>
                                      </p:cBhvr>
                                    </p:animEffect>
                                  </p:childTnLst>
                                </p:cTn>
                              </p:par>
                              <p:par>
                                <p:cTn id="128" presetID="22" presetClass="entr" presetSubtype="4" fill="hold" grpId="0" nodeType="withEffect">
                                  <p:stCondLst>
                                    <p:cond delay="0"/>
                                  </p:stCondLst>
                                  <p:childTnLst>
                                    <p:set>
                                      <p:cBhvr>
                                        <p:cTn id="129" dur="1" fill="hold">
                                          <p:stCondLst>
                                            <p:cond delay="0"/>
                                          </p:stCondLst>
                                        </p:cTn>
                                        <p:tgtEl>
                                          <p:spTgt spid="25693"/>
                                        </p:tgtEl>
                                        <p:attrNameLst>
                                          <p:attrName>style.visibility</p:attrName>
                                        </p:attrNameLst>
                                      </p:cBhvr>
                                      <p:to>
                                        <p:strVal val="visible"/>
                                      </p:to>
                                    </p:set>
                                    <p:animEffect transition="in" filter="wipe(down)">
                                      <p:cBhvr>
                                        <p:cTn id="130" dur="500"/>
                                        <p:tgtEl>
                                          <p:spTgt spid="25693"/>
                                        </p:tgtEl>
                                      </p:cBhvr>
                                    </p:animEffect>
                                  </p:childTnLst>
                                </p:cTn>
                              </p:par>
                              <p:par>
                                <p:cTn id="131" presetID="22" presetClass="entr" presetSubtype="4" fill="hold" nodeType="withEffect">
                                  <p:stCondLst>
                                    <p:cond delay="0"/>
                                  </p:stCondLst>
                                  <p:childTnLst>
                                    <p:set>
                                      <p:cBhvr>
                                        <p:cTn id="132" dur="1" fill="hold">
                                          <p:stCondLst>
                                            <p:cond delay="0"/>
                                          </p:stCondLst>
                                        </p:cTn>
                                        <p:tgtEl>
                                          <p:spTgt spid="25694"/>
                                        </p:tgtEl>
                                        <p:attrNameLst>
                                          <p:attrName>style.visibility</p:attrName>
                                        </p:attrNameLst>
                                      </p:cBhvr>
                                      <p:to>
                                        <p:strVal val="visible"/>
                                      </p:to>
                                    </p:set>
                                    <p:animEffect transition="in" filter="wipe(down)">
                                      <p:cBhvr>
                                        <p:cTn id="133" dur="500"/>
                                        <p:tgtEl>
                                          <p:spTgt spid="25694"/>
                                        </p:tgtEl>
                                      </p:cBhvr>
                                    </p:animEffect>
                                  </p:childTnLst>
                                </p:cTn>
                              </p:par>
                            </p:childTnLst>
                          </p:cTn>
                        </p:par>
                      </p:childTnLst>
                    </p:cTn>
                  </p:par>
                  <p:par>
                    <p:cTn id="134" fill="hold">
                      <p:stCondLst>
                        <p:cond delay="indefinite"/>
                      </p:stCondLst>
                      <p:childTnLst>
                        <p:par>
                          <p:cTn id="135" fill="hold">
                            <p:stCondLst>
                              <p:cond delay="0"/>
                            </p:stCondLst>
                            <p:childTnLst>
                              <p:par>
                                <p:cTn id="136" presetID="3" presetClass="entr" presetSubtype="10" fill="hold" grpId="0" nodeType="clickEffect">
                                  <p:stCondLst>
                                    <p:cond delay="0"/>
                                  </p:stCondLst>
                                  <p:childTnLst>
                                    <p:set>
                                      <p:cBhvr>
                                        <p:cTn id="137" dur="1" fill="hold">
                                          <p:stCondLst>
                                            <p:cond delay="0"/>
                                          </p:stCondLst>
                                        </p:cTn>
                                        <p:tgtEl>
                                          <p:spTgt spid="43"/>
                                        </p:tgtEl>
                                        <p:attrNameLst>
                                          <p:attrName>style.visibility</p:attrName>
                                        </p:attrNameLst>
                                      </p:cBhvr>
                                      <p:to>
                                        <p:strVal val="visible"/>
                                      </p:to>
                                    </p:set>
                                    <p:animEffect transition="in" filter="blinds(horizontal)">
                                      <p:cBhvr>
                                        <p:cTn id="138" dur="500"/>
                                        <p:tgtEl>
                                          <p:spTgt spid="43"/>
                                        </p:tgtEl>
                                      </p:cBhvr>
                                    </p:animEffect>
                                  </p:childTnLst>
                                </p:cTn>
                              </p:par>
                              <p:par>
                                <p:cTn id="139" presetID="3" presetClass="entr" presetSubtype="10" fill="hold" grpId="0" nodeType="withEffect">
                                  <p:stCondLst>
                                    <p:cond delay="0"/>
                                  </p:stCondLst>
                                  <p:childTnLst>
                                    <p:set>
                                      <p:cBhvr>
                                        <p:cTn id="140" dur="1" fill="hold">
                                          <p:stCondLst>
                                            <p:cond delay="0"/>
                                          </p:stCondLst>
                                        </p:cTn>
                                        <p:tgtEl>
                                          <p:spTgt spid="44"/>
                                        </p:tgtEl>
                                        <p:attrNameLst>
                                          <p:attrName>style.visibility</p:attrName>
                                        </p:attrNameLst>
                                      </p:cBhvr>
                                      <p:to>
                                        <p:strVal val="visible"/>
                                      </p:to>
                                    </p:set>
                                    <p:animEffect transition="in" filter="blinds(horizontal)">
                                      <p:cBhvr>
                                        <p:cTn id="141"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33" grpId="0"/>
      <p:bldP spid="25638" grpId="0"/>
      <p:bldP spid="25642" grpId="0"/>
      <p:bldP spid="25645" grpId="0" animBg="1"/>
      <p:bldP spid="25652" grpId="0"/>
      <p:bldP spid="25668" grpId="0" animBg="1"/>
      <p:bldP spid="25669" grpId="0"/>
      <p:bldP spid="25671" grpId="0" animBg="1"/>
      <p:bldP spid="25674" grpId="0"/>
      <p:bldP spid="25675" grpId="0"/>
      <p:bldP spid="25676" grpId="0"/>
      <p:bldP spid="25677" grpId="0"/>
      <p:bldP spid="25678" grpId="0"/>
      <p:bldP spid="25679" grpId="0"/>
      <p:bldP spid="25680" grpId="0"/>
      <p:bldP spid="25683" grpId="0"/>
      <p:bldP spid="25686" grpId="0"/>
      <p:bldP spid="25692" grpId="0"/>
      <p:bldP spid="25693" grpId="0"/>
      <p:bldP spid="43" grpId="0"/>
      <p:bldP spid="4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Line 4">
            <a:extLst>
              <a:ext uri="{FF2B5EF4-FFF2-40B4-BE49-F238E27FC236}">
                <a16:creationId xmlns:a16="http://schemas.microsoft.com/office/drawing/2014/main" id="{F1B433C4-9838-40BA-8B44-16C53EA7E7F1}"/>
              </a:ext>
            </a:extLst>
          </p:cNvPr>
          <p:cNvSpPr>
            <a:spLocks noChangeShapeType="1"/>
          </p:cNvSpPr>
          <p:nvPr/>
        </p:nvSpPr>
        <p:spPr bwMode="auto">
          <a:xfrm flipH="1" flipV="1">
            <a:off x="3855632" y="2232025"/>
            <a:ext cx="0" cy="417671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6629" name="Line 5">
            <a:extLst>
              <a:ext uri="{FF2B5EF4-FFF2-40B4-BE49-F238E27FC236}">
                <a16:creationId xmlns:a16="http://schemas.microsoft.com/office/drawing/2014/main" id="{83618276-2255-475D-BD97-ED18AC2F2E62}"/>
              </a:ext>
            </a:extLst>
          </p:cNvPr>
          <p:cNvSpPr>
            <a:spLocks noChangeShapeType="1"/>
          </p:cNvSpPr>
          <p:nvPr/>
        </p:nvSpPr>
        <p:spPr bwMode="auto">
          <a:xfrm>
            <a:off x="3639732" y="6264275"/>
            <a:ext cx="424815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6630" name="Text Box 6">
            <a:extLst>
              <a:ext uri="{FF2B5EF4-FFF2-40B4-BE49-F238E27FC236}">
                <a16:creationId xmlns:a16="http://schemas.microsoft.com/office/drawing/2014/main" id="{E4AF938F-D0D7-4CF7-9B54-74538594F59B}"/>
              </a:ext>
            </a:extLst>
          </p:cNvPr>
          <p:cNvSpPr txBox="1">
            <a:spLocks noChangeArrowheads="1"/>
          </p:cNvSpPr>
          <p:nvPr/>
        </p:nvSpPr>
        <p:spPr bwMode="auto">
          <a:xfrm>
            <a:off x="4012795" y="6335712"/>
            <a:ext cx="116522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400" b="1">
                <a:solidFill>
                  <a:schemeClr val="tx1">
                    <a:lumMod val="85000"/>
                    <a:lumOff val="15000"/>
                  </a:schemeClr>
                </a:solidFill>
                <a:latin typeface="+mj-lt"/>
              </a:rPr>
              <a:t>qo</a:t>
            </a:r>
            <a:endParaRPr lang="es-ES" altLang="es-AR" sz="1400" b="1">
              <a:solidFill>
                <a:schemeClr val="tx1">
                  <a:lumMod val="85000"/>
                  <a:lumOff val="15000"/>
                </a:schemeClr>
              </a:solidFill>
              <a:latin typeface="+mj-lt"/>
            </a:endParaRPr>
          </a:p>
        </p:txBody>
      </p:sp>
      <p:sp>
        <p:nvSpPr>
          <p:cNvPr id="26631" name="Line 7">
            <a:extLst>
              <a:ext uri="{FF2B5EF4-FFF2-40B4-BE49-F238E27FC236}">
                <a16:creationId xmlns:a16="http://schemas.microsoft.com/office/drawing/2014/main" id="{5172B7EB-E048-4E6C-A4C2-8092C739491E}"/>
              </a:ext>
            </a:extLst>
          </p:cNvPr>
          <p:cNvSpPr>
            <a:spLocks noChangeShapeType="1"/>
          </p:cNvSpPr>
          <p:nvPr/>
        </p:nvSpPr>
        <p:spPr bwMode="auto">
          <a:xfrm>
            <a:off x="3839758" y="5737225"/>
            <a:ext cx="3887787"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6632" name="Line 8">
            <a:extLst>
              <a:ext uri="{FF2B5EF4-FFF2-40B4-BE49-F238E27FC236}">
                <a16:creationId xmlns:a16="http://schemas.microsoft.com/office/drawing/2014/main" id="{0128D1CA-6A70-4162-92C3-43C9554284CA}"/>
              </a:ext>
            </a:extLst>
          </p:cNvPr>
          <p:cNvSpPr>
            <a:spLocks noChangeShapeType="1"/>
          </p:cNvSpPr>
          <p:nvPr/>
        </p:nvSpPr>
        <p:spPr bwMode="auto">
          <a:xfrm flipV="1">
            <a:off x="3839757" y="5737225"/>
            <a:ext cx="3917950" cy="52705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6633" name="Arc 9">
            <a:extLst>
              <a:ext uri="{FF2B5EF4-FFF2-40B4-BE49-F238E27FC236}">
                <a16:creationId xmlns:a16="http://schemas.microsoft.com/office/drawing/2014/main" id="{5CE07FA4-AD0A-4E51-B4AF-CA51B5C1F1EC}"/>
              </a:ext>
            </a:extLst>
          </p:cNvPr>
          <p:cNvSpPr>
            <a:spLocks/>
          </p:cNvSpPr>
          <p:nvPr/>
        </p:nvSpPr>
        <p:spPr bwMode="auto">
          <a:xfrm>
            <a:off x="4215995" y="5780088"/>
            <a:ext cx="358775" cy="485775"/>
          </a:xfrm>
          <a:custGeom>
            <a:avLst/>
            <a:gdLst>
              <a:gd name="T0" fmla="*/ 2225883 w 21600"/>
              <a:gd name="T1" fmla="*/ 0 h 38252"/>
              <a:gd name="T2" fmla="*/ 3202814 w 21600"/>
              <a:gd name="T3" fmla="*/ 6169020 h 38252"/>
              <a:gd name="T4" fmla="*/ 0 w 21600"/>
              <a:gd name="T5" fmla="*/ 3231435 h 38252"/>
              <a:gd name="T6" fmla="*/ 0 60000 65536"/>
              <a:gd name="T7" fmla="*/ 0 60000 65536"/>
              <a:gd name="T8" fmla="*/ 0 60000 65536"/>
            </a:gdLst>
            <a:ahLst/>
            <a:cxnLst>
              <a:cxn ang="T6">
                <a:pos x="T0" y="T1"/>
              </a:cxn>
              <a:cxn ang="T7">
                <a:pos x="T2" y="T3"/>
              </a:cxn>
              <a:cxn ang="T8">
                <a:pos x="T4" y="T5"/>
              </a:cxn>
            </a:cxnLst>
            <a:rect l="0" t="0" r="r" b="b"/>
            <a:pathLst>
              <a:path w="21600" h="38252" fill="none" extrusionOk="0">
                <a:moveTo>
                  <a:pt x="8067" y="0"/>
                </a:moveTo>
                <a:cubicBezTo>
                  <a:pt x="16244" y="3292"/>
                  <a:pt x="21600" y="11222"/>
                  <a:pt x="21600" y="20037"/>
                </a:cubicBezTo>
                <a:cubicBezTo>
                  <a:pt x="21600" y="27416"/>
                  <a:pt x="17832" y="34285"/>
                  <a:pt x="11609" y="38252"/>
                </a:cubicBezTo>
              </a:path>
              <a:path w="21600" h="38252" stroke="0" extrusionOk="0">
                <a:moveTo>
                  <a:pt x="8067" y="0"/>
                </a:moveTo>
                <a:cubicBezTo>
                  <a:pt x="16244" y="3292"/>
                  <a:pt x="21600" y="11222"/>
                  <a:pt x="21600" y="20037"/>
                </a:cubicBezTo>
                <a:cubicBezTo>
                  <a:pt x="21600" y="27416"/>
                  <a:pt x="17832" y="34285"/>
                  <a:pt x="11609" y="38252"/>
                </a:cubicBezTo>
                <a:lnTo>
                  <a:pt x="0" y="20037"/>
                </a:lnTo>
                <a:lnTo>
                  <a:pt x="8067" y="0"/>
                </a:lnTo>
                <a:close/>
              </a:path>
            </a:pathLst>
          </a:custGeom>
          <a:noFill/>
          <a:ln w="9525">
            <a:solidFill>
              <a:srgbClr val="990000"/>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26634" name="Line 10">
            <a:extLst>
              <a:ext uri="{FF2B5EF4-FFF2-40B4-BE49-F238E27FC236}">
                <a16:creationId xmlns:a16="http://schemas.microsoft.com/office/drawing/2014/main" id="{760AF554-0BC5-47EE-9FA3-C638FD2041D3}"/>
              </a:ext>
            </a:extLst>
          </p:cNvPr>
          <p:cNvSpPr>
            <a:spLocks noChangeShapeType="1"/>
          </p:cNvSpPr>
          <p:nvPr/>
        </p:nvSpPr>
        <p:spPr bwMode="auto">
          <a:xfrm flipV="1">
            <a:off x="3855632" y="5016501"/>
            <a:ext cx="3829050" cy="720725"/>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6635" name="Arc 11">
            <a:extLst>
              <a:ext uri="{FF2B5EF4-FFF2-40B4-BE49-F238E27FC236}">
                <a16:creationId xmlns:a16="http://schemas.microsoft.com/office/drawing/2014/main" id="{0A1EE727-CED9-4738-8864-26B46C2145B8}"/>
              </a:ext>
            </a:extLst>
          </p:cNvPr>
          <p:cNvSpPr>
            <a:spLocks/>
          </p:cNvSpPr>
          <p:nvPr/>
        </p:nvSpPr>
        <p:spPr bwMode="auto">
          <a:xfrm>
            <a:off x="5062133" y="6097587"/>
            <a:ext cx="123825" cy="312738"/>
          </a:xfrm>
          <a:custGeom>
            <a:avLst/>
            <a:gdLst>
              <a:gd name="T0" fmla="*/ 0 w 17908"/>
              <a:gd name="T1" fmla="*/ 0 h 21600"/>
              <a:gd name="T2" fmla="*/ 856189 w 17908"/>
              <a:gd name="T3" fmla="*/ 1996311 h 21600"/>
              <a:gd name="T4" fmla="*/ 0 w 17908"/>
              <a:gd name="T5" fmla="*/ 4528012 h 21600"/>
              <a:gd name="T6" fmla="*/ 0 60000 65536"/>
              <a:gd name="T7" fmla="*/ 0 60000 65536"/>
              <a:gd name="T8" fmla="*/ 0 60000 65536"/>
            </a:gdLst>
            <a:ahLst/>
            <a:cxnLst>
              <a:cxn ang="T6">
                <a:pos x="T0" y="T1"/>
              </a:cxn>
              <a:cxn ang="T7">
                <a:pos x="T2" y="T3"/>
              </a:cxn>
              <a:cxn ang="T8">
                <a:pos x="T4" y="T5"/>
              </a:cxn>
            </a:cxnLst>
            <a:rect l="0" t="0" r="r" b="b"/>
            <a:pathLst>
              <a:path w="17908" h="21600" fill="none" extrusionOk="0">
                <a:moveTo>
                  <a:pt x="0" y="0"/>
                </a:moveTo>
                <a:cubicBezTo>
                  <a:pt x="7181" y="0"/>
                  <a:pt x="13892" y="3569"/>
                  <a:pt x="17908" y="9522"/>
                </a:cubicBezTo>
              </a:path>
              <a:path w="17908" h="21600" stroke="0" extrusionOk="0">
                <a:moveTo>
                  <a:pt x="0" y="0"/>
                </a:moveTo>
                <a:cubicBezTo>
                  <a:pt x="7181" y="0"/>
                  <a:pt x="13892" y="3569"/>
                  <a:pt x="17908" y="9522"/>
                </a:cubicBezTo>
                <a:lnTo>
                  <a:pt x="0" y="21600"/>
                </a:lnTo>
                <a:lnTo>
                  <a:pt x="0" y="0"/>
                </a:lnTo>
                <a:close/>
              </a:path>
            </a:pathLst>
          </a:custGeom>
          <a:noFill/>
          <a:ln w="9525">
            <a:solidFill>
              <a:srgbClr val="0000FF"/>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26636" name="Text Box 12">
            <a:extLst>
              <a:ext uri="{FF2B5EF4-FFF2-40B4-BE49-F238E27FC236}">
                <a16:creationId xmlns:a16="http://schemas.microsoft.com/office/drawing/2014/main" id="{305DBC32-B029-481B-830A-64FAECCE1951}"/>
              </a:ext>
            </a:extLst>
          </p:cNvPr>
          <p:cNvSpPr txBox="1">
            <a:spLocks noChangeArrowheads="1"/>
          </p:cNvSpPr>
          <p:nvPr/>
        </p:nvSpPr>
        <p:spPr bwMode="auto">
          <a:xfrm>
            <a:off x="5341532" y="5983287"/>
            <a:ext cx="5905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chemeClr val="accent2"/>
                </a:solidFill>
                <a:latin typeface="+mj-lt"/>
              </a:rPr>
              <a:t>CVu</a:t>
            </a:r>
            <a:endParaRPr lang="es-AR" altLang="es-AR" sz="1400" b="1">
              <a:solidFill>
                <a:schemeClr val="accent2"/>
              </a:solidFill>
              <a:latin typeface="+mj-lt"/>
              <a:cs typeface="Tahoma" panose="020B0604030504040204" pitchFamily="34" charset="0"/>
            </a:endParaRPr>
          </a:p>
        </p:txBody>
      </p:sp>
      <p:sp>
        <p:nvSpPr>
          <p:cNvPr id="26637" name="Line 13">
            <a:extLst>
              <a:ext uri="{FF2B5EF4-FFF2-40B4-BE49-F238E27FC236}">
                <a16:creationId xmlns:a16="http://schemas.microsoft.com/office/drawing/2014/main" id="{6B557437-AEB5-4F06-9E11-64A24331EF2A}"/>
              </a:ext>
            </a:extLst>
          </p:cNvPr>
          <p:cNvSpPr>
            <a:spLocks noChangeShapeType="1"/>
          </p:cNvSpPr>
          <p:nvPr/>
        </p:nvSpPr>
        <p:spPr bwMode="auto">
          <a:xfrm flipV="1">
            <a:off x="3855633" y="2497137"/>
            <a:ext cx="3902075" cy="3767138"/>
          </a:xfrm>
          <a:prstGeom prst="line">
            <a:avLst/>
          </a:prstGeom>
          <a:noFill/>
          <a:ln w="28575">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6638" name="Line 14">
            <a:extLst>
              <a:ext uri="{FF2B5EF4-FFF2-40B4-BE49-F238E27FC236}">
                <a16:creationId xmlns:a16="http://schemas.microsoft.com/office/drawing/2014/main" id="{5CD8EA00-9BF7-4011-A936-C74712D336A8}"/>
              </a:ext>
            </a:extLst>
          </p:cNvPr>
          <p:cNvSpPr>
            <a:spLocks noChangeShapeType="1"/>
          </p:cNvSpPr>
          <p:nvPr/>
        </p:nvSpPr>
        <p:spPr bwMode="auto">
          <a:xfrm>
            <a:off x="7743419" y="2519363"/>
            <a:ext cx="0" cy="388937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6639" name="Line 15">
            <a:extLst>
              <a:ext uri="{FF2B5EF4-FFF2-40B4-BE49-F238E27FC236}">
                <a16:creationId xmlns:a16="http://schemas.microsoft.com/office/drawing/2014/main" id="{BDB2AF10-D1D0-48BE-B0CE-92183A1AC7A6}"/>
              </a:ext>
            </a:extLst>
          </p:cNvPr>
          <p:cNvSpPr>
            <a:spLocks noChangeShapeType="1"/>
          </p:cNvSpPr>
          <p:nvPr/>
        </p:nvSpPr>
        <p:spPr bwMode="auto">
          <a:xfrm flipH="1">
            <a:off x="3855633" y="2519362"/>
            <a:ext cx="3887787"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6640" name="Text Box 16">
            <a:extLst>
              <a:ext uri="{FF2B5EF4-FFF2-40B4-BE49-F238E27FC236}">
                <a16:creationId xmlns:a16="http://schemas.microsoft.com/office/drawing/2014/main" id="{DB82AE67-2B4F-41F7-A124-8BE3D5E8449B}"/>
              </a:ext>
            </a:extLst>
          </p:cNvPr>
          <p:cNvSpPr txBox="1">
            <a:spLocks noChangeArrowheads="1"/>
          </p:cNvSpPr>
          <p:nvPr/>
        </p:nvSpPr>
        <p:spPr bwMode="auto">
          <a:xfrm>
            <a:off x="4573182" y="5791200"/>
            <a:ext cx="6334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rgbClr val="990000"/>
                </a:solidFill>
                <a:latin typeface="+mj-lt"/>
              </a:rPr>
              <a:t>PVu</a:t>
            </a:r>
            <a:endParaRPr lang="es-AR" altLang="es-AR" sz="1400" b="1">
              <a:solidFill>
                <a:srgbClr val="990000"/>
              </a:solidFill>
              <a:latin typeface="+mj-lt"/>
              <a:cs typeface="Tahoma" panose="020B0604030504040204" pitchFamily="34" charset="0"/>
            </a:endParaRPr>
          </a:p>
        </p:txBody>
      </p:sp>
      <p:sp>
        <p:nvSpPr>
          <p:cNvPr id="26641" name="Arc 17">
            <a:extLst>
              <a:ext uri="{FF2B5EF4-FFF2-40B4-BE49-F238E27FC236}">
                <a16:creationId xmlns:a16="http://schemas.microsoft.com/office/drawing/2014/main" id="{7CB6AA6C-3816-467D-A0DC-FF2E9D450B64}"/>
              </a:ext>
            </a:extLst>
          </p:cNvPr>
          <p:cNvSpPr>
            <a:spLocks/>
          </p:cNvSpPr>
          <p:nvPr/>
        </p:nvSpPr>
        <p:spPr bwMode="auto">
          <a:xfrm rot="19968409">
            <a:off x="5060545" y="5040313"/>
            <a:ext cx="360363" cy="460375"/>
          </a:xfrm>
          <a:custGeom>
            <a:avLst/>
            <a:gdLst>
              <a:gd name="T0" fmla="*/ 2771692 w 21600"/>
              <a:gd name="T1" fmla="*/ 0 h 27654"/>
              <a:gd name="T2" fmla="*/ 5528636 w 21600"/>
              <a:gd name="T3" fmla="*/ 7664177 h 27654"/>
              <a:gd name="T4" fmla="*/ 0 w 21600"/>
              <a:gd name="T5" fmla="*/ 5312042 h 27654"/>
              <a:gd name="T6" fmla="*/ 0 60000 65536"/>
              <a:gd name="T7" fmla="*/ 0 60000 65536"/>
              <a:gd name="T8" fmla="*/ 0 60000 65536"/>
            </a:gdLst>
            <a:ahLst/>
            <a:cxnLst>
              <a:cxn ang="T6">
                <a:pos x="T0" y="T1"/>
              </a:cxn>
              <a:cxn ang="T7">
                <a:pos x="T2" y="T3"/>
              </a:cxn>
              <a:cxn ang="T8">
                <a:pos x="T4" y="T5"/>
              </a:cxn>
            </a:cxnLst>
            <a:rect l="0" t="0" r="r" b="b"/>
            <a:pathLst>
              <a:path w="21600" h="27654" fill="none" extrusionOk="0">
                <a:moveTo>
                  <a:pt x="9958" y="-1"/>
                </a:moveTo>
                <a:cubicBezTo>
                  <a:pt x="17111" y="3715"/>
                  <a:pt x="21600" y="11106"/>
                  <a:pt x="21600" y="19167"/>
                </a:cubicBezTo>
                <a:cubicBezTo>
                  <a:pt x="21600" y="22084"/>
                  <a:pt x="21009" y="24971"/>
                  <a:pt x="19862" y="27653"/>
                </a:cubicBezTo>
              </a:path>
              <a:path w="21600" h="27654" stroke="0" extrusionOk="0">
                <a:moveTo>
                  <a:pt x="9958" y="-1"/>
                </a:moveTo>
                <a:cubicBezTo>
                  <a:pt x="17111" y="3715"/>
                  <a:pt x="21600" y="11106"/>
                  <a:pt x="21600" y="19167"/>
                </a:cubicBezTo>
                <a:cubicBezTo>
                  <a:pt x="21600" y="22084"/>
                  <a:pt x="21009" y="24971"/>
                  <a:pt x="19862" y="27653"/>
                </a:cubicBezTo>
                <a:lnTo>
                  <a:pt x="0" y="19167"/>
                </a:lnTo>
                <a:lnTo>
                  <a:pt x="9958" y="-1"/>
                </a:lnTo>
                <a:close/>
              </a:path>
            </a:pathLst>
          </a:custGeom>
          <a:noFill/>
          <a:ln w="9525">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26643" name="AutoShape 19">
            <a:extLst>
              <a:ext uri="{FF2B5EF4-FFF2-40B4-BE49-F238E27FC236}">
                <a16:creationId xmlns:a16="http://schemas.microsoft.com/office/drawing/2014/main" id="{5C33DE42-FCF1-4239-9A82-828B8C68C11E}"/>
              </a:ext>
            </a:extLst>
          </p:cNvPr>
          <p:cNvSpPr>
            <a:spLocks noChangeArrowheads="1"/>
          </p:cNvSpPr>
          <p:nvPr/>
        </p:nvSpPr>
        <p:spPr bwMode="auto">
          <a:xfrm>
            <a:off x="4517620" y="5519738"/>
            <a:ext cx="142875" cy="144463"/>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26644" name="Line 20">
            <a:extLst>
              <a:ext uri="{FF2B5EF4-FFF2-40B4-BE49-F238E27FC236}">
                <a16:creationId xmlns:a16="http://schemas.microsoft.com/office/drawing/2014/main" id="{D3A58CFB-27BB-4688-887E-394E3821375B}"/>
              </a:ext>
            </a:extLst>
          </p:cNvPr>
          <p:cNvSpPr>
            <a:spLocks noChangeShapeType="1"/>
          </p:cNvSpPr>
          <p:nvPr/>
        </p:nvSpPr>
        <p:spPr bwMode="auto">
          <a:xfrm>
            <a:off x="4589057" y="5521325"/>
            <a:ext cx="0" cy="74295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6645" name="Line 21">
            <a:extLst>
              <a:ext uri="{FF2B5EF4-FFF2-40B4-BE49-F238E27FC236}">
                <a16:creationId xmlns:a16="http://schemas.microsoft.com/office/drawing/2014/main" id="{6C9F3835-35B1-4AE5-85A4-5C06F0FA08EE}"/>
              </a:ext>
            </a:extLst>
          </p:cNvPr>
          <p:cNvSpPr>
            <a:spLocks noChangeShapeType="1"/>
          </p:cNvSpPr>
          <p:nvPr/>
        </p:nvSpPr>
        <p:spPr bwMode="auto">
          <a:xfrm flipH="1">
            <a:off x="3855633" y="5592762"/>
            <a:ext cx="73342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6649" name="Rectangle 25">
            <a:extLst>
              <a:ext uri="{FF2B5EF4-FFF2-40B4-BE49-F238E27FC236}">
                <a16:creationId xmlns:a16="http://schemas.microsoft.com/office/drawing/2014/main" id="{E52D1305-CE59-452A-88D7-78F0747DF80B}"/>
              </a:ext>
            </a:extLst>
          </p:cNvPr>
          <p:cNvSpPr>
            <a:spLocks noChangeArrowheads="1"/>
          </p:cNvSpPr>
          <p:nvPr/>
        </p:nvSpPr>
        <p:spPr bwMode="auto">
          <a:xfrm>
            <a:off x="3423833" y="6335712"/>
            <a:ext cx="28565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AR" altLang="es-AR" sz="1400" b="1" dirty="0">
                <a:solidFill>
                  <a:schemeClr val="tx1">
                    <a:lumMod val="85000"/>
                    <a:lumOff val="15000"/>
                  </a:schemeClr>
                </a:solidFill>
                <a:latin typeface="+mj-lt"/>
              </a:rPr>
              <a:t>0</a:t>
            </a:r>
            <a:endParaRPr lang="es-ES" altLang="es-AR" sz="1400" b="1" dirty="0">
              <a:solidFill>
                <a:schemeClr val="tx1">
                  <a:lumMod val="85000"/>
                  <a:lumOff val="15000"/>
                </a:schemeClr>
              </a:solidFill>
              <a:latin typeface="+mj-lt"/>
            </a:endParaRPr>
          </a:p>
        </p:txBody>
      </p:sp>
      <p:sp>
        <p:nvSpPr>
          <p:cNvPr id="26659" name="Line 35">
            <a:extLst>
              <a:ext uri="{FF2B5EF4-FFF2-40B4-BE49-F238E27FC236}">
                <a16:creationId xmlns:a16="http://schemas.microsoft.com/office/drawing/2014/main" id="{7AFB96B0-38F3-4338-AA13-2444DB951ABD}"/>
              </a:ext>
            </a:extLst>
          </p:cNvPr>
          <p:cNvSpPr>
            <a:spLocks noChangeShapeType="1"/>
          </p:cNvSpPr>
          <p:nvPr/>
        </p:nvSpPr>
        <p:spPr bwMode="auto">
          <a:xfrm flipH="1">
            <a:off x="3868333" y="5016500"/>
            <a:ext cx="3887787"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6663" name="AutoShape 39">
            <a:extLst>
              <a:ext uri="{FF2B5EF4-FFF2-40B4-BE49-F238E27FC236}">
                <a16:creationId xmlns:a16="http://schemas.microsoft.com/office/drawing/2014/main" id="{5F86208C-BE62-4856-8170-ED0C1E390506}"/>
              </a:ext>
            </a:extLst>
          </p:cNvPr>
          <p:cNvSpPr>
            <a:spLocks/>
          </p:cNvSpPr>
          <p:nvPr/>
        </p:nvSpPr>
        <p:spPr bwMode="auto">
          <a:xfrm>
            <a:off x="7829145" y="2497138"/>
            <a:ext cx="73025" cy="2519363"/>
          </a:xfrm>
          <a:prstGeom prst="rightBrace">
            <a:avLst>
              <a:gd name="adj1" fmla="val 2875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26664" name="Rectangle 40">
            <a:extLst>
              <a:ext uri="{FF2B5EF4-FFF2-40B4-BE49-F238E27FC236}">
                <a16:creationId xmlns:a16="http://schemas.microsoft.com/office/drawing/2014/main" id="{69D97431-E9FF-426F-975A-267B5E7368AD}"/>
              </a:ext>
            </a:extLst>
          </p:cNvPr>
          <p:cNvSpPr>
            <a:spLocks noChangeArrowheads="1"/>
          </p:cNvSpPr>
          <p:nvPr/>
        </p:nvSpPr>
        <p:spPr bwMode="auto">
          <a:xfrm>
            <a:off x="8118070" y="3576638"/>
            <a:ext cx="2447925" cy="28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sz="1600" b="1">
                <a:latin typeface="+mj-lt"/>
              </a:rPr>
              <a:t>Beneficio</a:t>
            </a:r>
            <a:endParaRPr lang="es-ES" altLang="es-AR" sz="1600" b="1">
              <a:latin typeface="+mj-lt"/>
            </a:endParaRPr>
          </a:p>
        </p:txBody>
      </p:sp>
      <p:sp>
        <p:nvSpPr>
          <p:cNvPr id="26666" name="AutoShape 42">
            <a:extLst>
              <a:ext uri="{FF2B5EF4-FFF2-40B4-BE49-F238E27FC236}">
                <a16:creationId xmlns:a16="http://schemas.microsoft.com/office/drawing/2014/main" id="{424FB122-3A48-4B21-A484-92ED5577E764}"/>
              </a:ext>
            </a:extLst>
          </p:cNvPr>
          <p:cNvSpPr>
            <a:spLocks/>
          </p:cNvSpPr>
          <p:nvPr/>
        </p:nvSpPr>
        <p:spPr bwMode="auto">
          <a:xfrm>
            <a:off x="7973608" y="2497137"/>
            <a:ext cx="71437" cy="3240088"/>
          </a:xfrm>
          <a:prstGeom prst="rightBrace">
            <a:avLst>
              <a:gd name="adj1" fmla="val 377966"/>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26667" name="Line 43">
            <a:extLst>
              <a:ext uri="{FF2B5EF4-FFF2-40B4-BE49-F238E27FC236}">
                <a16:creationId xmlns:a16="http://schemas.microsoft.com/office/drawing/2014/main" id="{E363797D-F0F2-4A1E-9DAA-BE39824C9069}"/>
              </a:ext>
            </a:extLst>
          </p:cNvPr>
          <p:cNvSpPr>
            <a:spLocks noChangeShapeType="1"/>
          </p:cNvSpPr>
          <p:nvPr/>
        </p:nvSpPr>
        <p:spPr bwMode="auto">
          <a:xfrm flipH="1">
            <a:off x="3796895" y="6097587"/>
            <a:ext cx="792163"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6668" name="Text Box 44">
            <a:extLst>
              <a:ext uri="{FF2B5EF4-FFF2-40B4-BE49-F238E27FC236}">
                <a16:creationId xmlns:a16="http://schemas.microsoft.com/office/drawing/2014/main" id="{C5953CCE-BA4B-40EA-AC05-CBE754F4EF84}"/>
              </a:ext>
            </a:extLst>
          </p:cNvPr>
          <p:cNvSpPr txBox="1">
            <a:spLocks noChangeArrowheads="1"/>
          </p:cNvSpPr>
          <p:nvPr/>
        </p:nvSpPr>
        <p:spPr bwMode="auto">
          <a:xfrm>
            <a:off x="1387476" y="185738"/>
            <a:ext cx="78771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85000"/>
                    <a:lumOff val="15000"/>
                  </a:schemeClr>
                </a:solidFill>
                <a:latin typeface="+mj-lt"/>
                <a:cs typeface="Arial" charset="0"/>
              </a:rPr>
              <a:t>SENSIBILIDAD DE LOS COSTOS</a:t>
            </a:r>
          </a:p>
        </p:txBody>
      </p:sp>
      <p:sp>
        <p:nvSpPr>
          <p:cNvPr id="26669" name="Rectangle 45">
            <a:extLst>
              <a:ext uri="{FF2B5EF4-FFF2-40B4-BE49-F238E27FC236}">
                <a16:creationId xmlns:a16="http://schemas.microsoft.com/office/drawing/2014/main" id="{530BA4DE-DB25-4F37-95D2-EEF9BB56998C}"/>
              </a:ext>
            </a:extLst>
          </p:cNvPr>
          <p:cNvSpPr>
            <a:spLocks noChangeArrowheads="1"/>
          </p:cNvSpPr>
          <p:nvPr/>
        </p:nvSpPr>
        <p:spPr bwMode="auto">
          <a:xfrm>
            <a:off x="2236547" y="1345966"/>
            <a:ext cx="878522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1800" b="1" dirty="0">
                <a:effectLst>
                  <a:outerShdw blurRad="38100" dist="38100" dir="2700000" algn="tl">
                    <a:srgbClr val="C0C0C0"/>
                  </a:outerShdw>
                </a:effectLst>
                <a:latin typeface="+mj-lt"/>
              </a:rPr>
              <a:t>3° CASO) BAJOS COSTOS FIJOS, CON BAJOS COSTOS VARIABLES</a:t>
            </a:r>
            <a:endParaRPr lang="es-ES" altLang="es-AR" sz="1800" b="1" dirty="0">
              <a:effectLst>
                <a:outerShdw blurRad="38100" dist="38100" dir="2700000" algn="tl">
                  <a:srgbClr val="C0C0C0"/>
                </a:outerShdw>
              </a:effectLst>
              <a:latin typeface="+mj-lt"/>
            </a:endParaRPr>
          </a:p>
        </p:txBody>
      </p:sp>
      <p:sp>
        <p:nvSpPr>
          <p:cNvPr id="26670" name="Text Box 46">
            <a:extLst>
              <a:ext uri="{FF2B5EF4-FFF2-40B4-BE49-F238E27FC236}">
                <a16:creationId xmlns:a16="http://schemas.microsoft.com/office/drawing/2014/main" id="{819C95D2-A030-4E99-BAD6-7F5FD7958529}"/>
              </a:ext>
            </a:extLst>
          </p:cNvPr>
          <p:cNvSpPr txBox="1">
            <a:spLocks noChangeArrowheads="1"/>
          </p:cNvSpPr>
          <p:nvPr/>
        </p:nvSpPr>
        <p:spPr bwMode="auto">
          <a:xfrm>
            <a:off x="2026835" y="2293360"/>
            <a:ext cx="161289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dirty="0">
                <a:solidFill>
                  <a:srgbClr val="996633"/>
                </a:solidFill>
                <a:latin typeface="+mj-lt"/>
              </a:rPr>
              <a:t>INGRESO TOTAL</a:t>
            </a:r>
            <a:endParaRPr lang="es-AR" altLang="es-AR" sz="1400" b="1" dirty="0">
              <a:solidFill>
                <a:srgbClr val="996633"/>
              </a:solidFill>
              <a:latin typeface="+mj-lt"/>
              <a:cs typeface="Tahoma" panose="020B0604030504040204" pitchFamily="34" charset="0"/>
            </a:endParaRPr>
          </a:p>
        </p:txBody>
      </p:sp>
      <p:sp>
        <p:nvSpPr>
          <p:cNvPr id="26671" name="Text Box 47">
            <a:extLst>
              <a:ext uri="{FF2B5EF4-FFF2-40B4-BE49-F238E27FC236}">
                <a16:creationId xmlns:a16="http://schemas.microsoft.com/office/drawing/2014/main" id="{F912D416-7D43-4AAC-BBFD-9963A7ADBC74}"/>
              </a:ext>
            </a:extLst>
          </p:cNvPr>
          <p:cNvSpPr txBox="1">
            <a:spLocks noChangeArrowheads="1"/>
          </p:cNvSpPr>
          <p:nvPr/>
        </p:nvSpPr>
        <p:spPr bwMode="auto">
          <a:xfrm>
            <a:off x="898920" y="4794251"/>
            <a:ext cx="288209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400" b="1" dirty="0">
                <a:solidFill>
                  <a:srgbClr val="FF3300"/>
                </a:solidFill>
                <a:latin typeface="+mj-lt"/>
              </a:rPr>
              <a:t>COSTO TOTAL = CFT + CVT</a:t>
            </a:r>
            <a:endParaRPr lang="es-AR" altLang="es-AR" sz="1400" b="1" dirty="0">
              <a:solidFill>
                <a:srgbClr val="FF3300"/>
              </a:solidFill>
              <a:latin typeface="+mj-lt"/>
              <a:cs typeface="Tahoma" panose="020B0604030504040204" pitchFamily="34" charset="0"/>
            </a:endParaRPr>
          </a:p>
        </p:txBody>
      </p:sp>
      <p:sp>
        <p:nvSpPr>
          <p:cNvPr id="26672" name="Text Box 48">
            <a:extLst>
              <a:ext uri="{FF2B5EF4-FFF2-40B4-BE49-F238E27FC236}">
                <a16:creationId xmlns:a16="http://schemas.microsoft.com/office/drawing/2014/main" id="{11E129B5-732A-4D7E-A752-A0D11344447D}"/>
              </a:ext>
            </a:extLst>
          </p:cNvPr>
          <p:cNvSpPr txBox="1">
            <a:spLocks noChangeArrowheads="1"/>
          </p:cNvSpPr>
          <p:nvPr/>
        </p:nvSpPr>
        <p:spPr bwMode="auto">
          <a:xfrm>
            <a:off x="1020359" y="5730876"/>
            <a:ext cx="2705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400" b="1" dirty="0">
                <a:solidFill>
                  <a:srgbClr val="0000FF"/>
                </a:solidFill>
                <a:latin typeface="+mj-lt"/>
              </a:rPr>
              <a:t>COSTO VARIABLE TOTAL</a:t>
            </a:r>
            <a:endParaRPr lang="es-AR" altLang="es-AR" sz="1400" b="1" dirty="0">
              <a:solidFill>
                <a:srgbClr val="0000FF"/>
              </a:solidFill>
              <a:latin typeface="+mj-lt"/>
              <a:cs typeface="Tahoma" panose="020B0604030504040204" pitchFamily="34" charset="0"/>
            </a:endParaRPr>
          </a:p>
        </p:txBody>
      </p:sp>
      <p:sp>
        <p:nvSpPr>
          <p:cNvPr id="26673" name="Text Box 49">
            <a:extLst>
              <a:ext uri="{FF2B5EF4-FFF2-40B4-BE49-F238E27FC236}">
                <a16:creationId xmlns:a16="http://schemas.microsoft.com/office/drawing/2014/main" id="{C15E1C0C-3836-49AC-8E83-2248CC7E1C5E}"/>
              </a:ext>
            </a:extLst>
          </p:cNvPr>
          <p:cNvSpPr txBox="1">
            <a:spLocks noChangeArrowheads="1"/>
          </p:cNvSpPr>
          <p:nvPr/>
        </p:nvSpPr>
        <p:spPr bwMode="auto">
          <a:xfrm>
            <a:off x="1637895" y="5470525"/>
            <a:ext cx="223202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400" b="1" dirty="0">
                <a:solidFill>
                  <a:schemeClr val="hlink"/>
                </a:solidFill>
                <a:latin typeface="+mj-lt"/>
              </a:rPr>
              <a:t>COSTO FIJO TOTAL</a:t>
            </a:r>
            <a:endParaRPr lang="es-AR" altLang="es-AR" sz="1400" b="1" dirty="0">
              <a:solidFill>
                <a:schemeClr val="hlink"/>
              </a:solidFill>
              <a:latin typeface="+mj-lt"/>
              <a:cs typeface="Tahoma" panose="020B0604030504040204" pitchFamily="34" charset="0"/>
            </a:endParaRPr>
          </a:p>
        </p:txBody>
      </p:sp>
      <p:sp>
        <p:nvSpPr>
          <p:cNvPr id="26674" name="Rectangle 50">
            <a:extLst>
              <a:ext uri="{FF2B5EF4-FFF2-40B4-BE49-F238E27FC236}">
                <a16:creationId xmlns:a16="http://schemas.microsoft.com/office/drawing/2014/main" id="{99340174-7168-49AD-9E06-79CC925D9B01}"/>
              </a:ext>
            </a:extLst>
          </p:cNvPr>
          <p:cNvSpPr>
            <a:spLocks noChangeArrowheads="1"/>
          </p:cNvSpPr>
          <p:nvPr/>
        </p:nvSpPr>
        <p:spPr bwMode="auto">
          <a:xfrm>
            <a:off x="6821082" y="6335712"/>
            <a:ext cx="143986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AR" altLang="es-AR" sz="1400" b="1">
                <a:solidFill>
                  <a:schemeClr val="tx1">
                    <a:lumMod val="85000"/>
                    <a:lumOff val="15000"/>
                  </a:schemeClr>
                </a:solidFill>
                <a:latin typeface="+mj-lt"/>
              </a:rPr>
              <a:t>q instalada</a:t>
            </a:r>
            <a:endParaRPr lang="es-ES" altLang="es-AR" sz="1400" b="1">
              <a:solidFill>
                <a:schemeClr val="tx1">
                  <a:lumMod val="85000"/>
                  <a:lumOff val="15000"/>
                </a:schemeClr>
              </a:solidFill>
              <a:latin typeface="+mj-lt"/>
            </a:endParaRPr>
          </a:p>
        </p:txBody>
      </p:sp>
      <p:sp>
        <p:nvSpPr>
          <p:cNvPr id="26675" name="Rectangle 51">
            <a:extLst>
              <a:ext uri="{FF2B5EF4-FFF2-40B4-BE49-F238E27FC236}">
                <a16:creationId xmlns:a16="http://schemas.microsoft.com/office/drawing/2014/main" id="{C02BB9E4-006E-4826-92E4-73A59C4645FF}"/>
              </a:ext>
            </a:extLst>
          </p:cNvPr>
          <p:cNvSpPr>
            <a:spLocks noChangeArrowheads="1"/>
          </p:cNvSpPr>
          <p:nvPr/>
        </p:nvSpPr>
        <p:spPr bwMode="auto">
          <a:xfrm>
            <a:off x="8119657" y="3935413"/>
            <a:ext cx="3167062"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sz="1600" b="1">
                <a:latin typeface="+mj-lt"/>
              </a:rPr>
              <a:t>Contribución Marginal Total</a:t>
            </a:r>
            <a:endParaRPr lang="es-ES" altLang="es-AR" sz="1600" b="1">
              <a:latin typeface="+mj-lt"/>
            </a:endParaRPr>
          </a:p>
        </p:txBody>
      </p:sp>
      <p:sp>
        <p:nvSpPr>
          <p:cNvPr id="26676" name="Text Box 52">
            <a:extLst>
              <a:ext uri="{FF2B5EF4-FFF2-40B4-BE49-F238E27FC236}">
                <a16:creationId xmlns:a16="http://schemas.microsoft.com/office/drawing/2014/main" id="{05A81CF8-906E-4D2B-B178-8C7B5337A46E}"/>
              </a:ext>
            </a:extLst>
          </p:cNvPr>
          <p:cNvSpPr txBox="1">
            <a:spLocks noChangeArrowheads="1"/>
          </p:cNvSpPr>
          <p:nvPr/>
        </p:nvSpPr>
        <p:spPr bwMode="auto">
          <a:xfrm>
            <a:off x="5381219" y="4999037"/>
            <a:ext cx="820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latin typeface="+mj-lt"/>
              </a:rPr>
              <a:t>CM u</a:t>
            </a:r>
            <a:endParaRPr lang="es-AR" altLang="es-AR" sz="1400" b="1">
              <a:latin typeface="+mj-lt"/>
              <a:cs typeface="Tahoma" panose="020B0604030504040204" pitchFamily="34" charset="0"/>
            </a:endParaRPr>
          </a:p>
        </p:txBody>
      </p:sp>
      <p:sp>
        <p:nvSpPr>
          <p:cNvPr id="26678" name="Rectangle 54">
            <a:extLst>
              <a:ext uri="{FF2B5EF4-FFF2-40B4-BE49-F238E27FC236}">
                <a16:creationId xmlns:a16="http://schemas.microsoft.com/office/drawing/2014/main" id="{5C265081-A1AC-4120-8970-F6B093237964}"/>
              </a:ext>
            </a:extLst>
          </p:cNvPr>
          <p:cNvSpPr>
            <a:spLocks noChangeArrowheads="1"/>
          </p:cNvSpPr>
          <p:nvPr/>
        </p:nvSpPr>
        <p:spPr bwMode="auto">
          <a:xfrm>
            <a:off x="3473044" y="2008775"/>
            <a:ext cx="504825"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sz="1600" b="1" dirty="0">
                <a:latin typeface="Tahoma" panose="020B0604030504040204" pitchFamily="34" charset="0"/>
              </a:rPr>
              <a:t>$</a:t>
            </a:r>
            <a:endParaRPr lang="es-ES" altLang="es-AR" sz="1600" b="1" dirty="0">
              <a:latin typeface="Tahoma" panose="020B0604030504040204" pitchFamily="34" charset="0"/>
            </a:endParaRPr>
          </a:p>
        </p:txBody>
      </p:sp>
      <p:sp>
        <p:nvSpPr>
          <p:cNvPr id="2" name="Signo más 1">
            <a:extLst>
              <a:ext uri="{FF2B5EF4-FFF2-40B4-BE49-F238E27FC236}">
                <a16:creationId xmlns:a16="http://schemas.microsoft.com/office/drawing/2014/main" id="{D82924AA-B7FF-4DDE-BE88-9B228AEAAD3F}"/>
              </a:ext>
            </a:extLst>
          </p:cNvPr>
          <p:cNvSpPr/>
          <p:nvPr/>
        </p:nvSpPr>
        <p:spPr>
          <a:xfrm>
            <a:off x="6765353" y="3689953"/>
            <a:ext cx="489281" cy="430213"/>
          </a:xfrm>
          <a:prstGeom prst="mathPlus">
            <a:avLst>
              <a:gd name="adj1" fmla="val 8735"/>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 name="Signo menos 2">
            <a:extLst>
              <a:ext uri="{FF2B5EF4-FFF2-40B4-BE49-F238E27FC236}">
                <a16:creationId xmlns:a16="http://schemas.microsoft.com/office/drawing/2014/main" id="{68E75FEE-A4AE-45AF-8978-756768F4FDFF}"/>
              </a:ext>
            </a:extLst>
          </p:cNvPr>
          <p:cNvSpPr/>
          <p:nvPr/>
        </p:nvSpPr>
        <p:spPr>
          <a:xfrm>
            <a:off x="3867159" y="5588792"/>
            <a:ext cx="284192" cy="576263"/>
          </a:xfrm>
          <a:prstGeom prst="mathMinus">
            <a:avLst>
              <a:gd name="adj1" fmla="val 7868"/>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9" name="Text Box 38">
            <a:extLst>
              <a:ext uri="{FF2B5EF4-FFF2-40B4-BE49-F238E27FC236}">
                <a16:creationId xmlns:a16="http://schemas.microsoft.com/office/drawing/2014/main" id="{0621AACB-15AE-40AC-9D48-89A739D8A25D}"/>
              </a:ext>
            </a:extLst>
          </p:cNvPr>
          <p:cNvSpPr txBox="1">
            <a:spLocks noChangeArrowheads="1"/>
          </p:cNvSpPr>
          <p:nvPr/>
        </p:nvSpPr>
        <p:spPr bwMode="auto">
          <a:xfrm>
            <a:off x="8820642" y="4458667"/>
            <a:ext cx="30083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b="1" dirty="0">
                <a:solidFill>
                  <a:schemeClr val="tx1">
                    <a:lumMod val="85000"/>
                    <a:lumOff val="15000"/>
                  </a:schemeClr>
                </a:solidFill>
                <a:latin typeface="+mj-lt"/>
              </a:rPr>
              <a:t>POTENCIAL DE BENEFICIO</a:t>
            </a:r>
            <a:endParaRPr lang="es-ES" altLang="es-AR" b="1" dirty="0">
              <a:solidFill>
                <a:schemeClr val="tx1">
                  <a:lumMod val="85000"/>
                  <a:lumOff val="15000"/>
                </a:schemeClr>
              </a:solidFill>
              <a:latin typeface="+mj-lt"/>
            </a:endParaRPr>
          </a:p>
        </p:txBody>
      </p:sp>
      <p:sp>
        <p:nvSpPr>
          <p:cNvPr id="40" name="Rectangle 60">
            <a:extLst>
              <a:ext uri="{FF2B5EF4-FFF2-40B4-BE49-F238E27FC236}">
                <a16:creationId xmlns:a16="http://schemas.microsoft.com/office/drawing/2014/main" id="{EF8AD17B-7918-445E-95F0-42DFC5E214C7}"/>
              </a:ext>
            </a:extLst>
          </p:cNvPr>
          <p:cNvSpPr>
            <a:spLocks noChangeArrowheads="1"/>
          </p:cNvSpPr>
          <p:nvPr/>
        </p:nvSpPr>
        <p:spPr bwMode="auto">
          <a:xfrm>
            <a:off x="9236567" y="4939680"/>
            <a:ext cx="2089150" cy="79216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b="1" u="sng" dirty="0">
                <a:solidFill>
                  <a:schemeClr val="tx1">
                    <a:lumMod val="85000"/>
                    <a:lumOff val="15000"/>
                  </a:schemeClr>
                </a:solidFill>
                <a:latin typeface="+mj-lt"/>
              </a:rPr>
              <a:t>AREA ( + )</a:t>
            </a:r>
          </a:p>
          <a:p>
            <a:pPr algn="l" eaLnBrk="1" hangingPunct="1">
              <a:defRPr/>
            </a:pPr>
            <a:r>
              <a:rPr lang="es-AR" altLang="es-AR" sz="2000" b="1" dirty="0">
                <a:solidFill>
                  <a:schemeClr val="tx1">
                    <a:lumMod val="85000"/>
                    <a:lumOff val="15000"/>
                  </a:schemeClr>
                </a:solidFill>
                <a:latin typeface="+mj-lt"/>
              </a:rPr>
              <a:t>AREA ( - )</a:t>
            </a:r>
            <a:endParaRPr lang="es-ES" altLang="es-AR" sz="2000" b="1" dirty="0">
              <a:solidFill>
                <a:schemeClr val="tx1">
                  <a:lumMod val="85000"/>
                  <a:lumOff val="15000"/>
                </a:schemeClr>
              </a:solidFill>
              <a:latin typeface="+mj-lt"/>
            </a:endParaRPr>
          </a:p>
        </p:txBody>
      </p:sp>
      <p:sp>
        <p:nvSpPr>
          <p:cNvPr id="41" name="CuadroTexto 40">
            <a:extLst>
              <a:ext uri="{FF2B5EF4-FFF2-40B4-BE49-F238E27FC236}">
                <a16:creationId xmlns:a16="http://schemas.microsoft.com/office/drawing/2014/main" id="{6D323625-5002-4C35-8302-3553134216FF}"/>
              </a:ext>
            </a:extLst>
          </p:cNvPr>
          <p:cNvSpPr txBox="1"/>
          <p:nvPr/>
        </p:nvSpPr>
        <p:spPr>
          <a:xfrm>
            <a:off x="10816957" y="5082554"/>
            <a:ext cx="755511" cy="400110"/>
          </a:xfrm>
          <a:prstGeom prst="rect">
            <a:avLst/>
          </a:prstGeom>
          <a:noFill/>
        </p:spPr>
        <p:txBody>
          <a:bodyPr wrap="square" rtlCol="0">
            <a:spAutoFit/>
          </a:bodyPr>
          <a:lstStyle/>
          <a:p>
            <a:r>
              <a:rPr lang="es-AR" sz="2000" b="1" dirty="0"/>
              <a:t>&gt;&gt;&gt;</a:t>
            </a:r>
          </a:p>
        </p:txBody>
      </p:sp>
      <p:sp>
        <p:nvSpPr>
          <p:cNvPr id="42" name="CuadroTexto 41">
            <a:extLst>
              <a:ext uri="{FF2B5EF4-FFF2-40B4-BE49-F238E27FC236}">
                <a16:creationId xmlns:a16="http://schemas.microsoft.com/office/drawing/2014/main" id="{2F9AD7D6-F1A4-451D-B023-57F9D7B4C129}"/>
              </a:ext>
            </a:extLst>
          </p:cNvPr>
          <p:cNvSpPr txBox="1"/>
          <p:nvPr/>
        </p:nvSpPr>
        <p:spPr>
          <a:xfrm>
            <a:off x="11384523" y="5082554"/>
            <a:ext cx="270344" cy="400110"/>
          </a:xfrm>
          <a:prstGeom prst="rect">
            <a:avLst/>
          </a:prstGeom>
          <a:noFill/>
        </p:spPr>
        <p:txBody>
          <a:bodyPr wrap="square" rtlCol="0">
            <a:spAutoFit/>
          </a:bodyPr>
          <a:lstStyle/>
          <a:p>
            <a:r>
              <a:rPr lang="es-AR" sz="2000" b="1" dirty="0"/>
              <a:t>1</a:t>
            </a:r>
          </a:p>
        </p:txBody>
      </p:sp>
      <p:sp>
        <p:nvSpPr>
          <p:cNvPr id="4" name="Rectángulo 3">
            <a:extLst>
              <a:ext uri="{FF2B5EF4-FFF2-40B4-BE49-F238E27FC236}">
                <a16:creationId xmlns:a16="http://schemas.microsoft.com/office/drawing/2014/main" id="{C1D1822D-C4AC-4D68-B956-2F7FC93A5A84}"/>
              </a:ext>
            </a:extLst>
          </p:cNvPr>
          <p:cNvSpPr/>
          <p:nvPr/>
        </p:nvSpPr>
        <p:spPr>
          <a:xfrm>
            <a:off x="3941357" y="842036"/>
            <a:ext cx="2981907" cy="369332"/>
          </a:xfrm>
          <a:prstGeom prst="rect">
            <a:avLst/>
          </a:prstGeom>
        </p:spPr>
        <p:txBody>
          <a:bodyPr wrap="square">
            <a:spAutoFit/>
          </a:bodyPr>
          <a:lstStyle/>
          <a:p>
            <a:r>
              <a:rPr lang="es-AR" b="1" dirty="0"/>
              <a:t>POTENCIAL DE BENEFICIO</a:t>
            </a:r>
          </a:p>
        </p:txBody>
      </p:sp>
      <p:sp>
        <p:nvSpPr>
          <p:cNvPr id="5" name="Marcador de número de diapositiva 4">
            <a:extLst>
              <a:ext uri="{FF2B5EF4-FFF2-40B4-BE49-F238E27FC236}">
                <a16:creationId xmlns:a16="http://schemas.microsoft.com/office/drawing/2014/main" id="{EA08687D-67B9-4047-9512-7D30FC64F99C}"/>
              </a:ext>
            </a:extLst>
          </p:cNvPr>
          <p:cNvSpPr>
            <a:spLocks noGrp="1"/>
          </p:cNvSpPr>
          <p:nvPr>
            <p:ph type="sldNum" sz="quarter" idx="12"/>
          </p:nvPr>
        </p:nvSpPr>
        <p:spPr/>
        <p:txBody>
          <a:bodyPr/>
          <a:lstStyle/>
          <a:p>
            <a:fld id="{D57F1E4F-1CFF-5643-939E-217C01CDF565}" type="slidenum">
              <a:rPr lang="en-US" smtClean="0"/>
              <a:pPr/>
              <a:t>11</a:t>
            </a:fld>
            <a:endParaRPr lang="en-US" dirty="0"/>
          </a:p>
        </p:txBody>
      </p:sp>
      <p:sp>
        <p:nvSpPr>
          <p:cNvPr id="45" name="CuadroTexto 44">
            <a:extLst>
              <a:ext uri="{FF2B5EF4-FFF2-40B4-BE49-F238E27FC236}">
                <a16:creationId xmlns:a16="http://schemas.microsoft.com/office/drawing/2014/main" id="{4EDD2945-319D-411E-9F46-677B3520E8D7}"/>
              </a:ext>
            </a:extLst>
          </p:cNvPr>
          <p:cNvSpPr txBox="1"/>
          <p:nvPr/>
        </p:nvSpPr>
        <p:spPr>
          <a:xfrm>
            <a:off x="3433443" y="5288297"/>
            <a:ext cx="482839" cy="307777"/>
          </a:xfrm>
          <a:prstGeom prst="rect">
            <a:avLst/>
          </a:prstGeom>
          <a:noFill/>
        </p:spPr>
        <p:txBody>
          <a:bodyPr wrap="square" rtlCol="0">
            <a:spAutoFit/>
          </a:bodyPr>
          <a:lstStyle/>
          <a:p>
            <a:r>
              <a:rPr lang="es-AR" sz="1400" b="1" dirty="0"/>
              <a:t>P</a:t>
            </a:r>
            <a:r>
              <a:rPr lang="es-AR" sz="1200" b="1" dirty="0"/>
              <a:t>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66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6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64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nodeType="clickEffect">
                                  <p:stCondLst>
                                    <p:cond delay="0"/>
                                  </p:stCondLst>
                                  <p:childTnLst>
                                    <p:set>
                                      <p:cBhvr>
                                        <p:cTn id="14" dur="1" fill="hold">
                                          <p:stCondLst>
                                            <p:cond delay="0"/>
                                          </p:stCondLst>
                                        </p:cTn>
                                        <p:tgtEl>
                                          <p:spTgt spid="26638"/>
                                        </p:tgtEl>
                                        <p:attrNameLst>
                                          <p:attrName>style.visibility</p:attrName>
                                        </p:attrNameLst>
                                      </p:cBhvr>
                                      <p:to>
                                        <p:strVal val="visible"/>
                                      </p:to>
                                    </p:set>
                                    <p:animEffect transition="in" filter="wipe(down)">
                                      <p:cBhvr>
                                        <p:cTn id="15" dur="500"/>
                                        <p:tgtEl>
                                          <p:spTgt spid="26638"/>
                                        </p:tgtEl>
                                      </p:cBhvr>
                                    </p:animEffect>
                                  </p:childTnLst>
                                </p:cTn>
                              </p:par>
                              <p:par>
                                <p:cTn id="16" presetID="22" presetClass="entr" presetSubtype="4" fill="hold" nodeType="withEffect">
                                  <p:stCondLst>
                                    <p:cond delay="0"/>
                                  </p:stCondLst>
                                  <p:childTnLst>
                                    <p:set>
                                      <p:cBhvr>
                                        <p:cTn id="17" dur="1" fill="hold">
                                          <p:stCondLst>
                                            <p:cond delay="0"/>
                                          </p:stCondLst>
                                        </p:cTn>
                                        <p:tgtEl>
                                          <p:spTgt spid="26639"/>
                                        </p:tgtEl>
                                        <p:attrNameLst>
                                          <p:attrName>style.visibility</p:attrName>
                                        </p:attrNameLst>
                                      </p:cBhvr>
                                      <p:to>
                                        <p:strVal val="visible"/>
                                      </p:to>
                                    </p:set>
                                    <p:animEffect transition="in" filter="wipe(down)">
                                      <p:cBhvr>
                                        <p:cTn id="18" dur="500"/>
                                        <p:tgtEl>
                                          <p:spTgt spid="2663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nodeType="clickEffect">
                                  <p:stCondLst>
                                    <p:cond delay="0"/>
                                  </p:stCondLst>
                                  <p:childTnLst>
                                    <p:set>
                                      <p:cBhvr>
                                        <p:cTn id="22" dur="1" fill="hold">
                                          <p:stCondLst>
                                            <p:cond delay="0"/>
                                          </p:stCondLst>
                                        </p:cTn>
                                        <p:tgtEl>
                                          <p:spTgt spid="26631"/>
                                        </p:tgtEl>
                                        <p:attrNameLst>
                                          <p:attrName>style.visibility</p:attrName>
                                        </p:attrNameLst>
                                      </p:cBhvr>
                                      <p:to>
                                        <p:strVal val="visible"/>
                                      </p:to>
                                    </p:set>
                                    <p:animEffect transition="in" filter="wipe(down)">
                                      <p:cBhvr>
                                        <p:cTn id="23" dur="500"/>
                                        <p:tgtEl>
                                          <p:spTgt spid="2663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nodeType="clickEffect">
                                  <p:stCondLst>
                                    <p:cond delay="0"/>
                                  </p:stCondLst>
                                  <p:childTnLst>
                                    <p:set>
                                      <p:cBhvr>
                                        <p:cTn id="27" dur="1" fill="hold">
                                          <p:stCondLst>
                                            <p:cond delay="0"/>
                                          </p:stCondLst>
                                        </p:cTn>
                                        <p:tgtEl>
                                          <p:spTgt spid="26632"/>
                                        </p:tgtEl>
                                        <p:attrNameLst>
                                          <p:attrName>style.visibility</p:attrName>
                                        </p:attrNameLst>
                                      </p:cBhvr>
                                      <p:to>
                                        <p:strVal val="visible"/>
                                      </p:to>
                                    </p:set>
                                    <p:animEffect transition="in" filter="wipe(down)">
                                      <p:cBhvr>
                                        <p:cTn id="28" dur="500"/>
                                        <p:tgtEl>
                                          <p:spTgt spid="26632"/>
                                        </p:tgtEl>
                                      </p:cBhvr>
                                    </p:animEffect>
                                  </p:childTnLst>
                                </p:cTn>
                              </p:par>
                              <p:par>
                                <p:cTn id="29" presetID="22" presetClass="entr" presetSubtype="4" fill="hold" nodeType="withEffect">
                                  <p:stCondLst>
                                    <p:cond delay="0"/>
                                  </p:stCondLst>
                                  <p:childTnLst>
                                    <p:set>
                                      <p:cBhvr>
                                        <p:cTn id="30" dur="1" fill="hold">
                                          <p:stCondLst>
                                            <p:cond delay="0"/>
                                          </p:stCondLst>
                                        </p:cTn>
                                        <p:tgtEl>
                                          <p:spTgt spid="26635"/>
                                        </p:tgtEl>
                                        <p:attrNameLst>
                                          <p:attrName>style.visibility</p:attrName>
                                        </p:attrNameLst>
                                      </p:cBhvr>
                                      <p:to>
                                        <p:strVal val="visible"/>
                                      </p:to>
                                    </p:set>
                                    <p:animEffect transition="in" filter="wipe(down)">
                                      <p:cBhvr>
                                        <p:cTn id="31" dur="500"/>
                                        <p:tgtEl>
                                          <p:spTgt spid="26635"/>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26636"/>
                                        </p:tgtEl>
                                        <p:attrNameLst>
                                          <p:attrName>style.visibility</p:attrName>
                                        </p:attrNameLst>
                                      </p:cBhvr>
                                      <p:to>
                                        <p:strVal val="visible"/>
                                      </p:to>
                                    </p:set>
                                    <p:animEffect transition="in" filter="wipe(down)">
                                      <p:cBhvr>
                                        <p:cTn id="34" dur="500"/>
                                        <p:tgtEl>
                                          <p:spTgt spid="26636"/>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4" fill="hold" nodeType="clickEffect">
                                  <p:stCondLst>
                                    <p:cond delay="0"/>
                                  </p:stCondLst>
                                  <p:childTnLst>
                                    <p:set>
                                      <p:cBhvr>
                                        <p:cTn id="38" dur="1" fill="hold">
                                          <p:stCondLst>
                                            <p:cond delay="0"/>
                                          </p:stCondLst>
                                        </p:cTn>
                                        <p:tgtEl>
                                          <p:spTgt spid="26634"/>
                                        </p:tgtEl>
                                        <p:attrNameLst>
                                          <p:attrName>style.visibility</p:attrName>
                                        </p:attrNameLst>
                                      </p:cBhvr>
                                      <p:to>
                                        <p:strVal val="visible"/>
                                      </p:to>
                                    </p:set>
                                    <p:animEffect transition="in" filter="wipe(down)">
                                      <p:cBhvr>
                                        <p:cTn id="39" dur="500"/>
                                        <p:tgtEl>
                                          <p:spTgt spid="26634"/>
                                        </p:tgtEl>
                                      </p:cBhvr>
                                    </p:animEffect>
                                  </p:childTnLst>
                                </p:cTn>
                              </p:par>
                              <p:par>
                                <p:cTn id="40" presetID="22" presetClass="entr" presetSubtype="4" fill="hold" nodeType="withEffect">
                                  <p:stCondLst>
                                    <p:cond delay="0"/>
                                  </p:stCondLst>
                                  <p:childTnLst>
                                    <p:set>
                                      <p:cBhvr>
                                        <p:cTn id="41" dur="1" fill="hold">
                                          <p:stCondLst>
                                            <p:cond delay="0"/>
                                          </p:stCondLst>
                                        </p:cTn>
                                        <p:tgtEl>
                                          <p:spTgt spid="26659"/>
                                        </p:tgtEl>
                                        <p:attrNameLst>
                                          <p:attrName>style.visibility</p:attrName>
                                        </p:attrNameLst>
                                      </p:cBhvr>
                                      <p:to>
                                        <p:strVal val="visible"/>
                                      </p:to>
                                    </p:set>
                                    <p:animEffect transition="in" filter="wipe(down)">
                                      <p:cBhvr>
                                        <p:cTn id="42" dur="500"/>
                                        <p:tgtEl>
                                          <p:spTgt spid="2665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26633"/>
                                        </p:tgtEl>
                                        <p:attrNameLst>
                                          <p:attrName>style.visibility</p:attrName>
                                        </p:attrNameLst>
                                      </p:cBhvr>
                                      <p:to>
                                        <p:strVal val="visible"/>
                                      </p:to>
                                    </p:set>
                                    <p:animEffect transition="in" filter="wipe(down)">
                                      <p:cBhvr>
                                        <p:cTn id="47" dur="500"/>
                                        <p:tgtEl>
                                          <p:spTgt spid="26633"/>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26640"/>
                                        </p:tgtEl>
                                        <p:attrNameLst>
                                          <p:attrName>style.visibility</p:attrName>
                                        </p:attrNameLst>
                                      </p:cBhvr>
                                      <p:to>
                                        <p:strVal val="visible"/>
                                      </p:to>
                                    </p:set>
                                    <p:animEffect transition="in" filter="wipe(down)">
                                      <p:cBhvr>
                                        <p:cTn id="50" dur="500"/>
                                        <p:tgtEl>
                                          <p:spTgt spid="26640"/>
                                        </p:tgtEl>
                                      </p:cBhvr>
                                    </p:animEffect>
                                  </p:childTnLst>
                                </p:cTn>
                              </p:par>
                              <p:par>
                                <p:cTn id="51" presetID="22" presetClass="entr" presetSubtype="4" fill="hold" nodeType="withEffect">
                                  <p:stCondLst>
                                    <p:cond delay="0"/>
                                  </p:stCondLst>
                                  <p:childTnLst>
                                    <p:set>
                                      <p:cBhvr>
                                        <p:cTn id="52" dur="1" fill="hold">
                                          <p:stCondLst>
                                            <p:cond delay="0"/>
                                          </p:stCondLst>
                                        </p:cTn>
                                        <p:tgtEl>
                                          <p:spTgt spid="26637"/>
                                        </p:tgtEl>
                                        <p:attrNameLst>
                                          <p:attrName>style.visibility</p:attrName>
                                        </p:attrNameLst>
                                      </p:cBhvr>
                                      <p:to>
                                        <p:strVal val="visible"/>
                                      </p:to>
                                    </p:set>
                                    <p:animEffect transition="in" filter="wipe(down)">
                                      <p:cBhvr>
                                        <p:cTn id="53" dur="500"/>
                                        <p:tgtEl>
                                          <p:spTgt spid="26637"/>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26643"/>
                                        </p:tgtEl>
                                        <p:attrNameLst>
                                          <p:attrName>style.visibility</p:attrName>
                                        </p:attrNameLst>
                                      </p:cBhvr>
                                      <p:to>
                                        <p:strVal val="visible"/>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4" fill="hold" nodeType="clickEffect">
                                  <p:stCondLst>
                                    <p:cond delay="0"/>
                                  </p:stCondLst>
                                  <p:childTnLst>
                                    <p:set>
                                      <p:cBhvr>
                                        <p:cTn id="61" dur="1" fill="hold">
                                          <p:stCondLst>
                                            <p:cond delay="0"/>
                                          </p:stCondLst>
                                        </p:cTn>
                                        <p:tgtEl>
                                          <p:spTgt spid="26644"/>
                                        </p:tgtEl>
                                        <p:attrNameLst>
                                          <p:attrName>style.visibility</p:attrName>
                                        </p:attrNameLst>
                                      </p:cBhvr>
                                      <p:to>
                                        <p:strVal val="visible"/>
                                      </p:to>
                                    </p:set>
                                    <p:animEffect transition="in" filter="wipe(down)">
                                      <p:cBhvr>
                                        <p:cTn id="62" dur="500"/>
                                        <p:tgtEl>
                                          <p:spTgt spid="26644"/>
                                        </p:tgtEl>
                                      </p:cBhvr>
                                    </p:animEffect>
                                  </p:childTnLst>
                                </p:cTn>
                              </p:par>
                              <p:par>
                                <p:cTn id="63" presetID="22" presetClass="entr" presetSubtype="4" fill="hold" nodeType="withEffect">
                                  <p:stCondLst>
                                    <p:cond delay="0"/>
                                  </p:stCondLst>
                                  <p:childTnLst>
                                    <p:set>
                                      <p:cBhvr>
                                        <p:cTn id="64" dur="1" fill="hold">
                                          <p:stCondLst>
                                            <p:cond delay="0"/>
                                          </p:stCondLst>
                                        </p:cTn>
                                        <p:tgtEl>
                                          <p:spTgt spid="26645"/>
                                        </p:tgtEl>
                                        <p:attrNameLst>
                                          <p:attrName>style.visibility</p:attrName>
                                        </p:attrNameLst>
                                      </p:cBhvr>
                                      <p:to>
                                        <p:strVal val="visible"/>
                                      </p:to>
                                    </p:set>
                                    <p:animEffect transition="in" filter="wipe(down)">
                                      <p:cBhvr>
                                        <p:cTn id="65" dur="500"/>
                                        <p:tgtEl>
                                          <p:spTgt spid="26645"/>
                                        </p:tgtEl>
                                      </p:cBhvr>
                                    </p:animEffect>
                                  </p:childTnLst>
                                </p:cTn>
                              </p:par>
                              <p:par>
                                <p:cTn id="66" presetID="22" presetClass="entr" presetSubtype="4" fill="hold" grpId="0" nodeType="withEffect">
                                  <p:stCondLst>
                                    <p:cond delay="0"/>
                                  </p:stCondLst>
                                  <p:childTnLst>
                                    <p:set>
                                      <p:cBhvr>
                                        <p:cTn id="67" dur="1" fill="hold">
                                          <p:stCondLst>
                                            <p:cond delay="0"/>
                                          </p:stCondLst>
                                        </p:cTn>
                                        <p:tgtEl>
                                          <p:spTgt spid="26630"/>
                                        </p:tgtEl>
                                        <p:attrNameLst>
                                          <p:attrName>style.visibility</p:attrName>
                                        </p:attrNameLst>
                                      </p:cBhvr>
                                      <p:to>
                                        <p:strVal val="visible"/>
                                      </p:to>
                                    </p:set>
                                    <p:animEffect transition="in" filter="wipe(down)">
                                      <p:cBhvr>
                                        <p:cTn id="68" dur="500"/>
                                        <p:tgtEl>
                                          <p:spTgt spid="26630"/>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4" fill="hold" nodeType="clickEffect">
                                  <p:stCondLst>
                                    <p:cond delay="0"/>
                                  </p:stCondLst>
                                  <p:childTnLst>
                                    <p:set>
                                      <p:cBhvr>
                                        <p:cTn id="72" dur="1" fill="hold">
                                          <p:stCondLst>
                                            <p:cond delay="0"/>
                                          </p:stCondLst>
                                        </p:cTn>
                                        <p:tgtEl>
                                          <p:spTgt spid="26667"/>
                                        </p:tgtEl>
                                        <p:attrNameLst>
                                          <p:attrName>style.visibility</p:attrName>
                                        </p:attrNameLst>
                                      </p:cBhvr>
                                      <p:to>
                                        <p:strVal val="visible"/>
                                      </p:to>
                                    </p:set>
                                    <p:animEffect transition="in" filter="wipe(down)">
                                      <p:cBhvr>
                                        <p:cTn id="73" dur="500"/>
                                        <p:tgtEl>
                                          <p:spTgt spid="26667"/>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4" fill="hold" nodeType="clickEffect">
                                  <p:stCondLst>
                                    <p:cond delay="0"/>
                                  </p:stCondLst>
                                  <p:childTnLst>
                                    <p:set>
                                      <p:cBhvr>
                                        <p:cTn id="77" dur="1" fill="hold">
                                          <p:stCondLst>
                                            <p:cond delay="0"/>
                                          </p:stCondLst>
                                        </p:cTn>
                                        <p:tgtEl>
                                          <p:spTgt spid="26641"/>
                                        </p:tgtEl>
                                        <p:attrNameLst>
                                          <p:attrName>style.visibility</p:attrName>
                                        </p:attrNameLst>
                                      </p:cBhvr>
                                      <p:to>
                                        <p:strVal val="visible"/>
                                      </p:to>
                                    </p:set>
                                    <p:animEffect transition="in" filter="wipe(down)">
                                      <p:cBhvr>
                                        <p:cTn id="78" dur="500"/>
                                        <p:tgtEl>
                                          <p:spTgt spid="26641"/>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4" fill="hold" grpId="0" nodeType="clickEffect">
                                  <p:stCondLst>
                                    <p:cond delay="0"/>
                                  </p:stCondLst>
                                  <p:childTnLst>
                                    <p:set>
                                      <p:cBhvr>
                                        <p:cTn id="82" dur="1" fill="hold">
                                          <p:stCondLst>
                                            <p:cond delay="0"/>
                                          </p:stCondLst>
                                        </p:cTn>
                                        <p:tgtEl>
                                          <p:spTgt spid="26666"/>
                                        </p:tgtEl>
                                        <p:attrNameLst>
                                          <p:attrName>style.visibility</p:attrName>
                                        </p:attrNameLst>
                                      </p:cBhvr>
                                      <p:to>
                                        <p:strVal val="visible"/>
                                      </p:to>
                                    </p:set>
                                    <p:animEffect transition="in" filter="wipe(down)">
                                      <p:cBhvr>
                                        <p:cTn id="83" dur="500"/>
                                        <p:tgtEl>
                                          <p:spTgt spid="26666"/>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4" fill="hold" grpId="0" nodeType="clickEffect">
                                  <p:stCondLst>
                                    <p:cond delay="0"/>
                                  </p:stCondLst>
                                  <p:childTnLst>
                                    <p:set>
                                      <p:cBhvr>
                                        <p:cTn id="87" dur="1" fill="hold">
                                          <p:stCondLst>
                                            <p:cond delay="0"/>
                                          </p:stCondLst>
                                        </p:cTn>
                                        <p:tgtEl>
                                          <p:spTgt spid="26663"/>
                                        </p:tgtEl>
                                        <p:attrNameLst>
                                          <p:attrName>style.visibility</p:attrName>
                                        </p:attrNameLst>
                                      </p:cBhvr>
                                      <p:to>
                                        <p:strVal val="visible"/>
                                      </p:to>
                                    </p:set>
                                    <p:animEffect transition="in" filter="wipe(down)">
                                      <p:cBhvr>
                                        <p:cTn id="88" dur="500"/>
                                        <p:tgtEl>
                                          <p:spTgt spid="26663"/>
                                        </p:tgtEl>
                                      </p:cBhvr>
                                    </p:animEffect>
                                  </p:childTnLst>
                                </p:cTn>
                              </p:par>
                              <p:par>
                                <p:cTn id="89" presetID="22" presetClass="entr" presetSubtype="4" fill="hold" grpId="0" nodeType="withEffect">
                                  <p:stCondLst>
                                    <p:cond delay="0"/>
                                  </p:stCondLst>
                                  <p:childTnLst>
                                    <p:set>
                                      <p:cBhvr>
                                        <p:cTn id="90" dur="1" fill="hold">
                                          <p:stCondLst>
                                            <p:cond delay="0"/>
                                          </p:stCondLst>
                                        </p:cTn>
                                        <p:tgtEl>
                                          <p:spTgt spid="26664"/>
                                        </p:tgtEl>
                                        <p:attrNameLst>
                                          <p:attrName>style.visibility</p:attrName>
                                        </p:attrNameLst>
                                      </p:cBhvr>
                                      <p:to>
                                        <p:strVal val="visible"/>
                                      </p:to>
                                    </p:set>
                                    <p:animEffect transition="in" filter="wipe(down)">
                                      <p:cBhvr>
                                        <p:cTn id="91" dur="500"/>
                                        <p:tgtEl>
                                          <p:spTgt spid="26664"/>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26669"/>
                                        </p:tgtEl>
                                        <p:attrNameLst>
                                          <p:attrName>style.visibility</p:attrName>
                                        </p:attrNameLst>
                                      </p:cBhvr>
                                      <p:to>
                                        <p:strVal val="visible"/>
                                      </p:to>
                                    </p:set>
                                    <p:animEffect transition="in" filter="blinds(horizontal)">
                                      <p:cBhvr>
                                        <p:cTn id="96" dur="500"/>
                                        <p:tgtEl>
                                          <p:spTgt spid="26669"/>
                                        </p:tgtEl>
                                      </p:cBhvr>
                                    </p:animEffect>
                                  </p:childTnLst>
                                </p:cTn>
                              </p:par>
                              <p:par>
                                <p:cTn id="97" presetID="22" presetClass="entr" presetSubtype="4" fill="hold" grpId="0" nodeType="withEffect">
                                  <p:stCondLst>
                                    <p:cond delay="0"/>
                                  </p:stCondLst>
                                  <p:childTnLst>
                                    <p:set>
                                      <p:cBhvr>
                                        <p:cTn id="98" dur="1" fill="hold">
                                          <p:stCondLst>
                                            <p:cond delay="0"/>
                                          </p:stCondLst>
                                        </p:cTn>
                                        <p:tgtEl>
                                          <p:spTgt spid="26670"/>
                                        </p:tgtEl>
                                        <p:attrNameLst>
                                          <p:attrName>style.visibility</p:attrName>
                                        </p:attrNameLst>
                                      </p:cBhvr>
                                      <p:to>
                                        <p:strVal val="visible"/>
                                      </p:to>
                                    </p:set>
                                    <p:animEffect transition="in" filter="wipe(down)">
                                      <p:cBhvr>
                                        <p:cTn id="99" dur="500"/>
                                        <p:tgtEl>
                                          <p:spTgt spid="26670"/>
                                        </p:tgtEl>
                                      </p:cBhvr>
                                    </p:animEffect>
                                  </p:childTnLst>
                                </p:cTn>
                              </p:par>
                              <p:par>
                                <p:cTn id="100" presetID="22" presetClass="entr" presetSubtype="4" fill="hold" grpId="0" nodeType="withEffect">
                                  <p:stCondLst>
                                    <p:cond delay="0"/>
                                  </p:stCondLst>
                                  <p:childTnLst>
                                    <p:set>
                                      <p:cBhvr>
                                        <p:cTn id="101" dur="1" fill="hold">
                                          <p:stCondLst>
                                            <p:cond delay="0"/>
                                          </p:stCondLst>
                                        </p:cTn>
                                        <p:tgtEl>
                                          <p:spTgt spid="26671"/>
                                        </p:tgtEl>
                                        <p:attrNameLst>
                                          <p:attrName>style.visibility</p:attrName>
                                        </p:attrNameLst>
                                      </p:cBhvr>
                                      <p:to>
                                        <p:strVal val="visible"/>
                                      </p:to>
                                    </p:set>
                                    <p:animEffect transition="in" filter="wipe(down)">
                                      <p:cBhvr>
                                        <p:cTn id="102" dur="500"/>
                                        <p:tgtEl>
                                          <p:spTgt spid="26671"/>
                                        </p:tgtEl>
                                      </p:cBhvr>
                                    </p:animEffect>
                                  </p:childTnLst>
                                </p:cTn>
                              </p:par>
                              <p:par>
                                <p:cTn id="103" presetID="22" presetClass="entr" presetSubtype="4" fill="hold" grpId="0" nodeType="withEffect">
                                  <p:stCondLst>
                                    <p:cond delay="0"/>
                                  </p:stCondLst>
                                  <p:childTnLst>
                                    <p:set>
                                      <p:cBhvr>
                                        <p:cTn id="104" dur="1" fill="hold">
                                          <p:stCondLst>
                                            <p:cond delay="0"/>
                                          </p:stCondLst>
                                        </p:cTn>
                                        <p:tgtEl>
                                          <p:spTgt spid="26672"/>
                                        </p:tgtEl>
                                        <p:attrNameLst>
                                          <p:attrName>style.visibility</p:attrName>
                                        </p:attrNameLst>
                                      </p:cBhvr>
                                      <p:to>
                                        <p:strVal val="visible"/>
                                      </p:to>
                                    </p:set>
                                    <p:animEffect transition="in" filter="wipe(down)">
                                      <p:cBhvr>
                                        <p:cTn id="105" dur="500"/>
                                        <p:tgtEl>
                                          <p:spTgt spid="26672"/>
                                        </p:tgtEl>
                                      </p:cBhvr>
                                    </p:animEffect>
                                  </p:childTnLst>
                                </p:cTn>
                              </p:par>
                              <p:par>
                                <p:cTn id="106" presetID="22" presetClass="entr" presetSubtype="4" fill="hold" grpId="0" nodeType="withEffect">
                                  <p:stCondLst>
                                    <p:cond delay="0"/>
                                  </p:stCondLst>
                                  <p:childTnLst>
                                    <p:set>
                                      <p:cBhvr>
                                        <p:cTn id="107" dur="1" fill="hold">
                                          <p:stCondLst>
                                            <p:cond delay="0"/>
                                          </p:stCondLst>
                                        </p:cTn>
                                        <p:tgtEl>
                                          <p:spTgt spid="26673"/>
                                        </p:tgtEl>
                                        <p:attrNameLst>
                                          <p:attrName>style.visibility</p:attrName>
                                        </p:attrNameLst>
                                      </p:cBhvr>
                                      <p:to>
                                        <p:strVal val="visible"/>
                                      </p:to>
                                    </p:set>
                                    <p:animEffect transition="in" filter="wipe(down)">
                                      <p:cBhvr>
                                        <p:cTn id="108" dur="500"/>
                                        <p:tgtEl>
                                          <p:spTgt spid="26673"/>
                                        </p:tgtEl>
                                      </p:cBhvr>
                                    </p:animEffect>
                                  </p:childTnLst>
                                </p:cTn>
                              </p:par>
                              <p:par>
                                <p:cTn id="109" presetID="22" presetClass="entr" presetSubtype="4" fill="hold" grpId="0" nodeType="withEffect">
                                  <p:stCondLst>
                                    <p:cond delay="0"/>
                                  </p:stCondLst>
                                  <p:childTnLst>
                                    <p:set>
                                      <p:cBhvr>
                                        <p:cTn id="110" dur="1" fill="hold">
                                          <p:stCondLst>
                                            <p:cond delay="0"/>
                                          </p:stCondLst>
                                        </p:cTn>
                                        <p:tgtEl>
                                          <p:spTgt spid="26674"/>
                                        </p:tgtEl>
                                        <p:attrNameLst>
                                          <p:attrName>style.visibility</p:attrName>
                                        </p:attrNameLst>
                                      </p:cBhvr>
                                      <p:to>
                                        <p:strVal val="visible"/>
                                      </p:to>
                                    </p:set>
                                    <p:animEffect transition="in" filter="wipe(down)">
                                      <p:cBhvr>
                                        <p:cTn id="111" dur="500"/>
                                        <p:tgtEl>
                                          <p:spTgt spid="26674"/>
                                        </p:tgtEl>
                                      </p:cBhvr>
                                    </p:animEffect>
                                  </p:childTnLst>
                                </p:cTn>
                              </p:par>
                              <p:par>
                                <p:cTn id="112" presetID="3" presetClass="entr" presetSubtype="10" fill="hold" grpId="0" nodeType="withEffect">
                                  <p:stCondLst>
                                    <p:cond delay="0"/>
                                  </p:stCondLst>
                                  <p:childTnLst>
                                    <p:set>
                                      <p:cBhvr>
                                        <p:cTn id="113" dur="1" fill="hold">
                                          <p:stCondLst>
                                            <p:cond delay="0"/>
                                          </p:stCondLst>
                                        </p:cTn>
                                        <p:tgtEl>
                                          <p:spTgt spid="26675"/>
                                        </p:tgtEl>
                                        <p:attrNameLst>
                                          <p:attrName>style.visibility</p:attrName>
                                        </p:attrNameLst>
                                      </p:cBhvr>
                                      <p:to>
                                        <p:strVal val="visible"/>
                                      </p:to>
                                    </p:set>
                                    <p:animEffect transition="in" filter="blinds(horizontal)">
                                      <p:cBhvr>
                                        <p:cTn id="114" dur="500"/>
                                        <p:tgtEl>
                                          <p:spTgt spid="26675"/>
                                        </p:tgtEl>
                                      </p:cBhvr>
                                    </p:animEffect>
                                  </p:childTnLst>
                                </p:cTn>
                              </p:par>
                              <p:par>
                                <p:cTn id="115" presetID="22" presetClass="entr" presetSubtype="4" fill="hold" grpId="0" nodeType="withEffect">
                                  <p:stCondLst>
                                    <p:cond delay="0"/>
                                  </p:stCondLst>
                                  <p:childTnLst>
                                    <p:set>
                                      <p:cBhvr>
                                        <p:cTn id="116" dur="1" fill="hold">
                                          <p:stCondLst>
                                            <p:cond delay="0"/>
                                          </p:stCondLst>
                                        </p:cTn>
                                        <p:tgtEl>
                                          <p:spTgt spid="26676"/>
                                        </p:tgtEl>
                                        <p:attrNameLst>
                                          <p:attrName>style.visibility</p:attrName>
                                        </p:attrNameLst>
                                      </p:cBhvr>
                                      <p:to>
                                        <p:strVal val="visible"/>
                                      </p:to>
                                    </p:set>
                                    <p:animEffect transition="in" filter="wipe(down)">
                                      <p:cBhvr>
                                        <p:cTn id="117" dur="500"/>
                                        <p:tgtEl>
                                          <p:spTgt spid="26676"/>
                                        </p:tgtEl>
                                      </p:cBhvr>
                                    </p:animEffect>
                                  </p:childTnLst>
                                </p:cTn>
                              </p:par>
                              <p:par>
                                <p:cTn id="118" presetID="3" presetClass="entr" presetSubtype="10" fill="hold" grpId="0" nodeType="withEffect">
                                  <p:stCondLst>
                                    <p:cond delay="0"/>
                                  </p:stCondLst>
                                  <p:childTnLst>
                                    <p:set>
                                      <p:cBhvr>
                                        <p:cTn id="119" dur="1" fill="hold">
                                          <p:stCondLst>
                                            <p:cond delay="0"/>
                                          </p:stCondLst>
                                        </p:cTn>
                                        <p:tgtEl>
                                          <p:spTgt spid="26678"/>
                                        </p:tgtEl>
                                        <p:attrNameLst>
                                          <p:attrName>style.visibility</p:attrName>
                                        </p:attrNameLst>
                                      </p:cBhvr>
                                      <p:to>
                                        <p:strVal val="visible"/>
                                      </p:to>
                                    </p:set>
                                    <p:animEffect transition="in" filter="blinds(horizontal)">
                                      <p:cBhvr>
                                        <p:cTn id="120" dur="500"/>
                                        <p:tgtEl>
                                          <p:spTgt spid="26678"/>
                                        </p:tgtEl>
                                      </p:cBhvr>
                                    </p:animEffect>
                                  </p:childTnLst>
                                </p:cTn>
                              </p:par>
                            </p:childTnLst>
                          </p:cTn>
                        </p:par>
                      </p:childTnLst>
                    </p:cTn>
                  </p:par>
                  <p:par>
                    <p:cTn id="121" fill="hold">
                      <p:stCondLst>
                        <p:cond delay="indefinite"/>
                      </p:stCondLst>
                      <p:childTnLst>
                        <p:par>
                          <p:cTn id="122" fill="hold">
                            <p:stCondLst>
                              <p:cond delay="0"/>
                            </p:stCondLst>
                            <p:childTnLst>
                              <p:par>
                                <p:cTn id="123" presetID="3" presetClass="entr" presetSubtype="10" fill="hold" grpId="0" nodeType="clickEffect">
                                  <p:stCondLst>
                                    <p:cond delay="0"/>
                                  </p:stCondLst>
                                  <p:childTnLst>
                                    <p:set>
                                      <p:cBhvr>
                                        <p:cTn id="124" dur="1" fill="hold">
                                          <p:stCondLst>
                                            <p:cond delay="0"/>
                                          </p:stCondLst>
                                        </p:cTn>
                                        <p:tgtEl>
                                          <p:spTgt spid="39"/>
                                        </p:tgtEl>
                                        <p:attrNameLst>
                                          <p:attrName>style.visibility</p:attrName>
                                        </p:attrNameLst>
                                      </p:cBhvr>
                                      <p:to>
                                        <p:strVal val="visible"/>
                                      </p:to>
                                    </p:set>
                                    <p:animEffect transition="in" filter="blinds(horizontal)">
                                      <p:cBhvr>
                                        <p:cTn id="125" dur="500"/>
                                        <p:tgtEl>
                                          <p:spTgt spid="39"/>
                                        </p:tgtEl>
                                      </p:cBhvr>
                                    </p:animEffect>
                                  </p:childTnLst>
                                </p:cTn>
                              </p:par>
                              <p:par>
                                <p:cTn id="126" presetID="3" presetClass="entr" presetSubtype="10" fill="hold" grpId="0" nodeType="withEffect">
                                  <p:stCondLst>
                                    <p:cond delay="0"/>
                                  </p:stCondLst>
                                  <p:childTnLst>
                                    <p:set>
                                      <p:cBhvr>
                                        <p:cTn id="127" dur="1" fill="hold">
                                          <p:stCondLst>
                                            <p:cond delay="0"/>
                                          </p:stCondLst>
                                        </p:cTn>
                                        <p:tgtEl>
                                          <p:spTgt spid="40"/>
                                        </p:tgtEl>
                                        <p:attrNameLst>
                                          <p:attrName>style.visibility</p:attrName>
                                        </p:attrNameLst>
                                      </p:cBhvr>
                                      <p:to>
                                        <p:strVal val="visible"/>
                                      </p:to>
                                    </p:set>
                                    <p:animEffect transition="in" filter="blinds(horizontal)">
                                      <p:cBhvr>
                                        <p:cTn id="128"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0" grpId="0"/>
      <p:bldP spid="26636" grpId="0"/>
      <p:bldP spid="26640" grpId="0"/>
      <p:bldP spid="26643" grpId="0" animBg="1"/>
      <p:bldP spid="26649" grpId="0"/>
      <p:bldP spid="26663" grpId="0" animBg="1"/>
      <p:bldP spid="26664" grpId="0"/>
      <p:bldP spid="26666" grpId="0" animBg="1"/>
      <p:bldP spid="26669" grpId="0"/>
      <p:bldP spid="26670" grpId="0"/>
      <p:bldP spid="26671" grpId="0"/>
      <p:bldP spid="26672" grpId="0"/>
      <p:bldP spid="26673" grpId="0"/>
      <p:bldP spid="26674" grpId="0"/>
      <p:bldP spid="26675" grpId="0"/>
      <p:bldP spid="26676" grpId="0"/>
      <p:bldP spid="26678" grpId="0"/>
      <p:bldP spid="39" grpId="0"/>
      <p:bldP spid="4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Line 4">
            <a:extLst>
              <a:ext uri="{FF2B5EF4-FFF2-40B4-BE49-F238E27FC236}">
                <a16:creationId xmlns:a16="http://schemas.microsoft.com/office/drawing/2014/main" id="{4CCAE520-CB64-43CA-9CAA-4063D5FD2E0A}"/>
              </a:ext>
            </a:extLst>
          </p:cNvPr>
          <p:cNvSpPr>
            <a:spLocks noChangeShapeType="1"/>
          </p:cNvSpPr>
          <p:nvPr/>
        </p:nvSpPr>
        <p:spPr bwMode="auto">
          <a:xfrm flipH="1" flipV="1">
            <a:off x="3673847" y="2273300"/>
            <a:ext cx="0" cy="417671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7653" name="Line 5">
            <a:extLst>
              <a:ext uri="{FF2B5EF4-FFF2-40B4-BE49-F238E27FC236}">
                <a16:creationId xmlns:a16="http://schemas.microsoft.com/office/drawing/2014/main" id="{59BA66AD-9B73-450F-AE89-7C5B38E6D6AB}"/>
              </a:ext>
            </a:extLst>
          </p:cNvPr>
          <p:cNvSpPr>
            <a:spLocks noChangeShapeType="1"/>
          </p:cNvSpPr>
          <p:nvPr/>
        </p:nvSpPr>
        <p:spPr bwMode="auto">
          <a:xfrm>
            <a:off x="3457947" y="6305550"/>
            <a:ext cx="424815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7654" name="Text Box 6">
            <a:extLst>
              <a:ext uri="{FF2B5EF4-FFF2-40B4-BE49-F238E27FC236}">
                <a16:creationId xmlns:a16="http://schemas.microsoft.com/office/drawing/2014/main" id="{0F4F25BE-9387-4404-9D3A-29AFF73BD9CC}"/>
              </a:ext>
            </a:extLst>
          </p:cNvPr>
          <p:cNvSpPr txBox="1">
            <a:spLocks noChangeArrowheads="1"/>
          </p:cNvSpPr>
          <p:nvPr/>
        </p:nvSpPr>
        <p:spPr bwMode="auto">
          <a:xfrm>
            <a:off x="6256656" y="6376987"/>
            <a:ext cx="131926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400" b="1">
                <a:latin typeface="+mj-lt"/>
              </a:rPr>
              <a:t>qo</a:t>
            </a:r>
            <a:endParaRPr lang="es-ES" altLang="es-AR" sz="1400" b="1">
              <a:latin typeface="+mj-lt"/>
            </a:endParaRPr>
          </a:p>
        </p:txBody>
      </p:sp>
      <p:sp>
        <p:nvSpPr>
          <p:cNvPr id="27655" name="Line 7">
            <a:extLst>
              <a:ext uri="{FF2B5EF4-FFF2-40B4-BE49-F238E27FC236}">
                <a16:creationId xmlns:a16="http://schemas.microsoft.com/office/drawing/2014/main" id="{D5D769C2-5BF2-4490-87BB-BC83513461EB}"/>
              </a:ext>
            </a:extLst>
          </p:cNvPr>
          <p:cNvSpPr>
            <a:spLocks noChangeShapeType="1"/>
          </p:cNvSpPr>
          <p:nvPr/>
        </p:nvSpPr>
        <p:spPr bwMode="auto">
          <a:xfrm>
            <a:off x="3657973" y="3762375"/>
            <a:ext cx="3887787"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7656" name="Line 8">
            <a:extLst>
              <a:ext uri="{FF2B5EF4-FFF2-40B4-BE49-F238E27FC236}">
                <a16:creationId xmlns:a16="http://schemas.microsoft.com/office/drawing/2014/main" id="{9C2D59AA-D7DA-42BC-8E14-A35916F25B24}"/>
              </a:ext>
            </a:extLst>
          </p:cNvPr>
          <p:cNvSpPr>
            <a:spLocks noChangeShapeType="1"/>
          </p:cNvSpPr>
          <p:nvPr/>
        </p:nvSpPr>
        <p:spPr bwMode="auto">
          <a:xfrm flipV="1">
            <a:off x="3657972" y="5778500"/>
            <a:ext cx="3917950" cy="52705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7657" name="Arc 9">
            <a:extLst>
              <a:ext uri="{FF2B5EF4-FFF2-40B4-BE49-F238E27FC236}">
                <a16:creationId xmlns:a16="http://schemas.microsoft.com/office/drawing/2014/main" id="{7BE225B6-8D1E-435A-BB71-6AE6FF034A0C}"/>
              </a:ext>
            </a:extLst>
          </p:cNvPr>
          <p:cNvSpPr>
            <a:spLocks/>
          </p:cNvSpPr>
          <p:nvPr/>
        </p:nvSpPr>
        <p:spPr bwMode="auto">
          <a:xfrm>
            <a:off x="4034210" y="5821363"/>
            <a:ext cx="358775" cy="485775"/>
          </a:xfrm>
          <a:custGeom>
            <a:avLst/>
            <a:gdLst>
              <a:gd name="T0" fmla="*/ 2225883 w 21600"/>
              <a:gd name="T1" fmla="*/ 0 h 38252"/>
              <a:gd name="T2" fmla="*/ 3202814 w 21600"/>
              <a:gd name="T3" fmla="*/ 6169020 h 38252"/>
              <a:gd name="T4" fmla="*/ 0 w 21600"/>
              <a:gd name="T5" fmla="*/ 3231435 h 38252"/>
              <a:gd name="T6" fmla="*/ 0 60000 65536"/>
              <a:gd name="T7" fmla="*/ 0 60000 65536"/>
              <a:gd name="T8" fmla="*/ 0 60000 65536"/>
            </a:gdLst>
            <a:ahLst/>
            <a:cxnLst>
              <a:cxn ang="T6">
                <a:pos x="T0" y="T1"/>
              </a:cxn>
              <a:cxn ang="T7">
                <a:pos x="T2" y="T3"/>
              </a:cxn>
              <a:cxn ang="T8">
                <a:pos x="T4" y="T5"/>
              </a:cxn>
            </a:cxnLst>
            <a:rect l="0" t="0" r="r" b="b"/>
            <a:pathLst>
              <a:path w="21600" h="38252" fill="none" extrusionOk="0">
                <a:moveTo>
                  <a:pt x="8067" y="0"/>
                </a:moveTo>
                <a:cubicBezTo>
                  <a:pt x="16244" y="3292"/>
                  <a:pt x="21600" y="11222"/>
                  <a:pt x="21600" y="20037"/>
                </a:cubicBezTo>
                <a:cubicBezTo>
                  <a:pt x="21600" y="27416"/>
                  <a:pt x="17832" y="34285"/>
                  <a:pt x="11609" y="38252"/>
                </a:cubicBezTo>
              </a:path>
              <a:path w="21600" h="38252" stroke="0" extrusionOk="0">
                <a:moveTo>
                  <a:pt x="8067" y="0"/>
                </a:moveTo>
                <a:cubicBezTo>
                  <a:pt x="16244" y="3292"/>
                  <a:pt x="21600" y="11222"/>
                  <a:pt x="21600" y="20037"/>
                </a:cubicBezTo>
                <a:cubicBezTo>
                  <a:pt x="21600" y="27416"/>
                  <a:pt x="17832" y="34285"/>
                  <a:pt x="11609" y="38252"/>
                </a:cubicBezTo>
                <a:lnTo>
                  <a:pt x="0" y="20037"/>
                </a:lnTo>
                <a:lnTo>
                  <a:pt x="8067" y="0"/>
                </a:lnTo>
                <a:close/>
              </a:path>
            </a:pathLst>
          </a:custGeom>
          <a:noFill/>
          <a:ln w="9525">
            <a:solidFill>
              <a:srgbClr val="990000"/>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27658" name="Line 10">
            <a:extLst>
              <a:ext uri="{FF2B5EF4-FFF2-40B4-BE49-F238E27FC236}">
                <a16:creationId xmlns:a16="http://schemas.microsoft.com/office/drawing/2014/main" id="{80E49656-178E-424C-9DB0-96FBDB7DFEE5}"/>
              </a:ext>
            </a:extLst>
          </p:cNvPr>
          <p:cNvSpPr>
            <a:spLocks noChangeShapeType="1"/>
          </p:cNvSpPr>
          <p:nvPr/>
        </p:nvSpPr>
        <p:spPr bwMode="auto">
          <a:xfrm flipV="1">
            <a:off x="3673847" y="3041651"/>
            <a:ext cx="3829050" cy="720725"/>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7659" name="Arc 11">
            <a:extLst>
              <a:ext uri="{FF2B5EF4-FFF2-40B4-BE49-F238E27FC236}">
                <a16:creationId xmlns:a16="http://schemas.microsoft.com/office/drawing/2014/main" id="{6B8C75F0-B6FF-4420-A49C-8FA356B34ECB}"/>
              </a:ext>
            </a:extLst>
          </p:cNvPr>
          <p:cNvSpPr>
            <a:spLocks/>
          </p:cNvSpPr>
          <p:nvPr/>
        </p:nvSpPr>
        <p:spPr bwMode="auto">
          <a:xfrm>
            <a:off x="5127998" y="6138862"/>
            <a:ext cx="211137" cy="196850"/>
          </a:xfrm>
          <a:custGeom>
            <a:avLst/>
            <a:gdLst>
              <a:gd name="T0" fmla="*/ 0 w 21079"/>
              <a:gd name="T1" fmla="*/ 0 h 21600"/>
              <a:gd name="T2" fmla="*/ 2114846 w 21079"/>
              <a:gd name="T3" fmla="*/ 1402374 h 21600"/>
              <a:gd name="T4" fmla="*/ 0 w 21079"/>
              <a:gd name="T5" fmla="*/ 1793978 h 21600"/>
              <a:gd name="T6" fmla="*/ 0 60000 65536"/>
              <a:gd name="T7" fmla="*/ 0 60000 65536"/>
              <a:gd name="T8" fmla="*/ 0 60000 65536"/>
            </a:gdLst>
            <a:ahLst/>
            <a:cxnLst>
              <a:cxn ang="T6">
                <a:pos x="T0" y="T1"/>
              </a:cxn>
              <a:cxn ang="T7">
                <a:pos x="T2" y="T3"/>
              </a:cxn>
              <a:cxn ang="T8">
                <a:pos x="T4" y="T5"/>
              </a:cxn>
            </a:cxnLst>
            <a:rect l="0" t="0" r="r" b="b"/>
            <a:pathLst>
              <a:path w="21079" h="21600" fill="none" extrusionOk="0">
                <a:moveTo>
                  <a:pt x="0" y="0"/>
                </a:moveTo>
                <a:cubicBezTo>
                  <a:pt x="10112" y="0"/>
                  <a:pt x="18871" y="7016"/>
                  <a:pt x="21079" y="16884"/>
                </a:cubicBezTo>
              </a:path>
              <a:path w="21079" h="21600" stroke="0" extrusionOk="0">
                <a:moveTo>
                  <a:pt x="0" y="0"/>
                </a:moveTo>
                <a:cubicBezTo>
                  <a:pt x="10112" y="0"/>
                  <a:pt x="18871" y="7016"/>
                  <a:pt x="21079" y="16884"/>
                </a:cubicBezTo>
                <a:lnTo>
                  <a:pt x="0" y="21600"/>
                </a:lnTo>
                <a:lnTo>
                  <a:pt x="0" y="0"/>
                </a:lnTo>
                <a:close/>
              </a:path>
            </a:pathLst>
          </a:custGeom>
          <a:noFill/>
          <a:ln w="9525">
            <a:solidFill>
              <a:srgbClr val="0000FF"/>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27660" name="Text Box 12">
            <a:extLst>
              <a:ext uri="{FF2B5EF4-FFF2-40B4-BE49-F238E27FC236}">
                <a16:creationId xmlns:a16="http://schemas.microsoft.com/office/drawing/2014/main" id="{AD72B2C1-CD35-477C-AAF1-D26775964660}"/>
              </a:ext>
            </a:extLst>
          </p:cNvPr>
          <p:cNvSpPr txBox="1">
            <a:spLocks noChangeArrowheads="1"/>
          </p:cNvSpPr>
          <p:nvPr/>
        </p:nvSpPr>
        <p:spPr bwMode="auto">
          <a:xfrm>
            <a:off x="5343897" y="6037262"/>
            <a:ext cx="5905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dirty="0" err="1">
                <a:solidFill>
                  <a:schemeClr val="accent2"/>
                </a:solidFill>
                <a:latin typeface="+mj-lt"/>
              </a:rPr>
              <a:t>CVu</a:t>
            </a:r>
            <a:endParaRPr lang="es-AR" altLang="es-AR" sz="1400" b="1" dirty="0">
              <a:solidFill>
                <a:schemeClr val="accent2"/>
              </a:solidFill>
              <a:latin typeface="+mj-lt"/>
              <a:cs typeface="Tahoma" panose="020B0604030504040204" pitchFamily="34" charset="0"/>
            </a:endParaRPr>
          </a:p>
        </p:txBody>
      </p:sp>
      <p:sp>
        <p:nvSpPr>
          <p:cNvPr id="27661" name="Line 13">
            <a:extLst>
              <a:ext uri="{FF2B5EF4-FFF2-40B4-BE49-F238E27FC236}">
                <a16:creationId xmlns:a16="http://schemas.microsoft.com/office/drawing/2014/main" id="{1DDF1BF2-A66B-4423-AD4A-BE0DAC167161}"/>
              </a:ext>
            </a:extLst>
          </p:cNvPr>
          <p:cNvSpPr>
            <a:spLocks noChangeShapeType="1"/>
          </p:cNvSpPr>
          <p:nvPr/>
        </p:nvSpPr>
        <p:spPr bwMode="auto">
          <a:xfrm flipV="1">
            <a:off x="3673848" y="2538412"/>
            <a:ext cx="3902075" cy="3767138"/>
          </a:xfrm>
          <a:prstGeom prst="line">
            <a:avLst/>
          </a:prstGeom>
          <a:noFill/>
          <a:ln w="28575">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7662" name="Line 14">
            <a:extLst>
              <a:ext uri="{FF2B5EF4-FFF2-40B4-BE49-F238E27FC236}">
                <a16:creationId xmlns:a16="http://schemas.microsoft.com/office/drawing/2014/main" id="{DBB4361D-5267-4E94-BE80-AC441442C3C8}"/>
              </a:ext>
            </a:extLst>
          </p:cNvPr>
          <p:cNvSpPr>
            <a:spLocks noChangeShapeType="1"/>
          </p:cNvSpPr>
          <p:nvPr/>
        </p:nvSpPr>
        <p:spPr bwMode="auto">
          <a:xfrm>
            <a:off x="7561634" y="2560638"/>
            <a:ext cx="0" cy="388937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7663" name="Line 15">
            <a:extLst>
              <a:ext uri="{FF2B5EF4-FFF2-40B4-BE49-F238E27FC236}">
                <a16:creationId xmlns:a16="http://schemas.microsoft.com/office/drawing/2014/main" id="{D71A7F27-FD05-406C-93F0-1ED1C9ECF5EC}"/>
              </a:ext>
            </a:extLst>
          </p:cNvPr>
          <p:cNvSpPr>
            <a:spLocks noChangeShapeType="1"/>
          </p:cNvSpPr>
          <p:nvPr/>
        </p:nvSpPr>
        <p:spPr bwMode="auto">
          <a:xfrm flipH="1">
            <a:off x="3673848" y="2560637"/>
            <a:ext cx="3887787"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7664" name="Text Box 16">
            <a:extLst>
              <a:ext uri="{FF2B5EF4-FFF2-40B4-BE49-F238E27FC236}">
                <a16:creationId xmlns:a16="http://schemas.microsoft.com/office/drawing/2014/main" id="{8CEB967F-473F-47F0-9116-F7DB42258BA2}"/>
              </a:ext>
            </a:extLst>
          </p:cNvPr>
          <p:cNvSpPr txBox="1">
            <a:spLocks noChangeArrowheads="1"/>
          </p:cNvSpPr>
          <p:nvPr/>
        </p:nvSpPr>
        <p:spPr bwMode="auto">
          <a:xfrm>
            <a:off x="4392985" y="5849937"/>
            <a:ext cx="6334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solidFill>
                  <a:srgbClr val="990000"/>
                </a:solidFill>
                <a:latin typeface="+mj-lt"/>
              </a:rPr>
              <a:t>PVu</a:t>
            </a:r>
            <a:endParaRPr lang="es-AR" altLang="es-AR" sz="1400" b="1">
              <a:solidFill>
                <a:srgbClr val="990000"/>
              </a:solidFill>
              <a:latin typeface="+mj-lt"/>
              <a:cs typeface="Tahoma" panose="020B0604030504040204" pitchFamily="34" charset="0"/>
            </a:endParaRPr>
          </a:p>
        </p:txBody>
      </p:sp>
      <p:sp>
        <p:nvSpPr>
          <p:cNvPr id="27665" name="Arc 17">
            <a:extLst>
              <a:ext uri="{FF2B5EF4-FFF2-40B4-BE49-F238E27FC236}">
                <a16:creationId xmlns:a16="http://schemas.microsoft.com/office/drawing/2014/main" id="{3654E661-3974-48C2-AF76-6D2900A4DD88}"/>
              </a:ext>
            </a:extLst>
          </p:cNvPr>
          <p:cNvSpPr>
            <a:spLocks/>
          </p:cNvSpPr>
          <p:nvPr/>
        </p:nvSpPr>
        <p:spPr bwMode="auto">
          <a:xfrm rot="804487">
            <a:off x="7023472" y="2825751"/>
            <a:ext cx="336550" cy="319087"/>
          </a:xfrm>
          <a:custGeom>
            <a:avLst/>
            <a:gdLst>
              <a:gd name="T0" fmla="*/ 2774067 w 20164"/>
              <a:gd name="T1" fmla="*/ 0 h 19167"/>
              <a:gd name="T2" fmla="*/ 5617234 w 20164"/>
              <a:gd name="T3" fmla="*/ 3166131 h 19167"/>
              <a:gd name="T4" fmla="*/ 0 w 20164"/>
              <a:gd name="T5" fmla="*/ 5312074 h 19167"/>
              <a:gd name="T6" fmla="*/ 0 60000 65536"/>
              <a:gd name="T7" fmla="*/ 0 60000 65536"/>
              <a:gd name="T8" fmla="*/ 0 60000 65536"/>
            </a:gdLst>
            <a:ahLst/>
            <a:cxnLst>
              <a:cxn ang="T6">
                <a:pos x="T0" y="T1"/>
              </a:cxn>
              <a:cxn ang="T7">
                <a:pos x="T2" y="T3"/>
              </a:cxn>
              <a:cxn ang="T8">
                <a:pos x="T4" y="T5"/>
              </a:cxn>
            </a:cxnLst>
            <a:rect l="0" t="0" r="r" b="b"/>
            <a:pathLst>
              <a:path w="20164" h="19167" fill="none" extrusionOk="0">
                <a:moveTo>
                  <a:pt x="9958" y="-1"/>
                </a:moveTo>
                <a:cubicBezTo>
                  <a:pt x="14641" y="2432"/>
                  <a:pt x="18272" y="6496"/>
                  <a:pt x="20164" y="11423"/>
                </a:cubicBezTo>
              </a:path>
              <a:path w="20164" h="19167" stroke="0" extrusionOk="0">
                <a:moveTo>
                  <a:pt x="9958" y="-1"/>
                </a:moveTo>
                <a:cubicBezTo>
                  <a:pt x="14641" y="2432"/>
                  <a:pt x="18272" y="6496"/>
                  <a:pt x="20164" y="11423"/>
                </a:cubicBezTo>
                <a:lnTo>
                  <a:pt x="0" y="19167"/>
                </a:lnTo>
                <a:lnTo>
                  <a:pt x="9958" y="-1"/>
                </a:lnTo>
                <a:close/>
              </a:path>
            </a:pathLst>
          </a:custGeom>
          <a:noFill/>
          <a:ln w="9525">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27666" name="Text Box 18">
            <a:extLst>
              <a:ext uri="{FF2B5EF4-FFF2-40B4-BE49-F238E27FC236}">
                <a16:creationId xmlns:a16="http://schemas.microsoft.com/office/drawing/2014/main" id="{E72F30E4-5C0D-433A-AAE0-EB0068FBBBFF}"/>
              </a:ext>
            </a:extLst>
          </p:cNvPr>
          <p:cNvSpPr txBox="1">
            <a:spLocks noChangeArrowheads="1"/>
          </p:cNvSpPr>
          <p:nvPr/>
        </p:nvSpPr>
        <p:spPr bwMode="auto">
          <a:xfrm>
            <a:off x="6508919" y="2609850"/>
            <a:ext cx="74950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a:latin typeface="+mj-lt"/>
              </a:rPr>
              <a:t>CM u</a:t>
            </a:r>
            <a:endParaRPr lang="es-AR" altLang="es-AR" sz="1400" b="1">
              <a:latin typeface="+mj-lt"/>
              <a:cs typeface="Tahoma" panose="020B0604030504040204" pitchFamily="34" charset="0"/>
            </a:endParaRPr>
          </a:p>
        </p:txBody>
      </p:sp>
      <p:sp>
        <p:nvSpPr>
          <p:cNvPr id="27667" name="AutoShape 19">
            <a:extLst>
              <a:ext uri="{FF2B5EF4-FFF2-40B4-BE49-F238E27FC236}">
                <a16:creationId xmlns:a16="http://schemas.microsoft.com/office/drawing/2014/main" id="{9C4D88C3-AE93-4553-A7C8-26C2EE93694C}"/>
              </a:ext>
            </a:extLst>
          </p:cNvPr>
          <p:cNvSpPr>
            <a:spLocks noChangeArrowheads="1"/>
          </p:cNvSpPr>
          <p:nvPr/>
        </p:nvSpPr>
        <p:spPr bwMode="auto">
          <a:xfrm>
            <a:off x="6898060" y="3070225"/>
            <a:ext cx="142875" cy="144462"/>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27668" name="Line 20">
            <a:extLst>
              <a:ext uri="{FF2B5EF4-FFF2-40B4-BE49-F238E27FC236}">
                <a16:creationId xmlns:a16="http://schemas.microsoft.com/office/drawing/2014/main" id="{BD44F43A-3105-41CB-ADA0-10BC31F33B2A}"/>
              </a:ext>
            </a:extLst>
          </p:cNvPr>
          <p:cNvSpPr>
            <a:spLocks noChangeShapeType="1"/>
          </p:cNvSpPr>
          <p:nvPr/>
        </p:nvSpPr>
        <p:spPr bwMode="auto">
          <a:xfrm>
            <a:off x="6971084" y="3113088"/>
            <a:ext cx="0" cy="31924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7669" name="Line 21">
            <a:extLst>
              <a:ext uri="{FF2B5EF4-FFF2-40B4-BE49-F238E27FC236}">
                <a16:creationId xmlns:a16="http://schemas.microsoft.com/office/drawing/2014/main" id="{21396500-5751-48E2-9BAD-D68742C6BD81}"/>
              </a:ext>
            </a:extLst>
          </p:cNvPr>
          <p:cNvSpPr>
            <a:spLocks noChangeShapeType="1"/>
          </p:cNvSpPr>
          <p:nvPr/>
        </p:nvSpPr>
        <p:spPr bwMode="auto">
          <a:xfrm flipH="1">
            <a:off x="3686548" y="3143250"/>
            <a:ext cx="324167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7673" name="Rectangle 25">
            <a:extLst>
              <a:ext uri="{FF2B5EF4-FFF2-40B4-BE49-F238E27FC236}">
                <a16:creationId xmlns:a16="http://schemas.microsoft.com/office/drawing/2014/main" id="{6072FAE6-2885-4708-B2BD-7F5A735B22DE}"/>
              </a:ext>
            </a:extLst>
          </p:cNvPr>
          <p:cNvSpPr>
            <a:spLocks noChangeArrowheads="1"/>
          </p:cNvSpPr>
          <p:nvPr/>
        </p:nvSpPr>
        <p:spPr bwMode="auto">
          <a:xfrm>
            <a:off x="3204284" y="6376987"/>
            <a:ext cx="32342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AR" altLang="es-AR" sz="1400" b="1" dirty="0">
                <a:latin typeface="+mj-lt"/>
              </a:rPr>
              <a:t>0</a:t>
            </a:r>
            <a:endParaRPr lang="es-ES" altLang="es-AR" sz="1400" b="1" dirty="0">
              <a:latin typeface="+mj-lt"/>
            </a:endParaRPr>
          </a:p>
        </p:txBody>
      </p:sp>
      <p:sp>
        <p:nvSpPr>
          <p:cNvPr id="27683" name="Line 35">
            <a:extLst>
              <a:ext uri="{FF2B5EF4-FFF2-40B4-BE49-F238E27FC236}">
                <a16:creationId xmlns:a16="http://schemas.microsoft.com/office/drawing/2014/main" id="{8CB3D9A4-7F5A-4C64-9102-829FE8386B94}"/>
              </a:ext>
            </a:extLst>
          </p:cNvPr>
          <p:cNvSpPr>
            <a:spLocks noChangeShapeType="1"/>
          </p:cNvSpPr>
          <p:nvPr/>
        </p:nvSpPr>
        <p:spPr bwMode="auto">
          <a:xfrm flipH="1">
            <a:off x="3686548" y="3041650"/>
            <a:ext cx="3887787"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7687" name="AutoShape 39">
            <a:extLst>
              <a:ext uri="{FF2B5EF4-FFF2-40B4-BE49-F238E27FC236}">
                <a16:creationId xmlns:a16="http://schemas.microsoft.com/office/drawing/2014/main" id="{CC68C4E0-E968-4089-A2D7-D6E33C393631}"/>
              </a:ext>
            </a:extLst>
          </p:cNvPr>
          <p:cNvSpPr>
            <a:spLocks/>
          </p:cNvSpPr>
          <p:nvPr/>
        </p:nvSpPr>
        <p:spPr bwMode="auto">
          <a:xfrm>
            <a:off x="7647360" y="2538412"/>
            <a:ext cx="73025" cy="503238"/>
          </a:xfrm>
          <a:prstGeom prst="rightBrace">
            <a:avLst>
              <a:gd name="adj1" fmla="val 57428"/>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27688" name="Rectangle 40">
            <a:extLst>
              <a:ext uri="{FF2B5EF4-FFF2-40B4-BE49-F238E27FC236}">
                <a16:creationId xmlns:a16="http://schemas.microsoft.com/office/drawing/2014/main" id="{996A04C1-D53B-4894-B9D7-B96B97E397D9}"/>
              </a:ext>
            </a:extLst>
          </p:cNvPr>
          <p:cNvSpPr>
            <a:spLocks noChangeArrowheads="1"/>
          </p:cNvSpPr>
          <p:nvPr/>
        </p:nvSpPr>
        <p:spPr bwMode="auto">
          <a:xfrm>
            <a:off x="7936285" y="2609851"/>
            <a:ext cx="2447925" cy="28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sz="1600" b="1">
                <a:latin typeface="+mj-lt"/>
              </a:rPr>
              <a:t>Beneficio</a:t>
            </a:r>
            <a:endParaRPr lang="es-ES" altLang="es-AR" sz="1600" b="1">
              <a:latin typeface="+mj-lt"/>
            </a:endParaRPr>
          </a:p>
        </p:txBody>
      </p:sp>
      <p:sp>
        <p:nvSpPr>
          <p:cNvPr id="27690" name="AutoShape 42">
            <a:extLst>
              <a:ext uri="{FF2B5EF4-FFF2-40B4-BE49-F238E27FC236}">
                <a16:creationId xmlns:a16="http://schemas.microsoft.com/office/drawing/2014/main" id="{8607CF0F-222F-4F7B-B571-D794551D5FA8}"/>
              </a:ext>
            </a:extLst>
          </p:cNvPr>
          <p:cNvSpPr>
            <a:spLocks/>
          </p:cNvSpPr>
          <p:nvPr/>
        </p:nvSpPr>
        <p:spPr bwMode="auto">
          <a:xfrm>
            <a:off x="7791823" y="2538412"/>
            <a:ext cx="71437" cy="3240088"/>
          </a:xfrm>
          <a:prstGeom prst="rightBrace">
            <a:avLst>
              <a:gd name="adj1" fmla="val 377966"/>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27692" name="Line 44">
            <a:extLst>
              <a:ext uri="{FF2B5EF4-FFF2-40B4-BE49-F238E27FC236}">
                <a16:creationId xmlns:a16="http://schemas.microsoft.com/office/drawing/2014/main" id="{20A92ECE-8E2D-4F30-8788-96FCCDF4DE06}"/>
              </a:ext>
            </a:extLst>
          </p:cNvPr>
          <p:cNvSpPr>
            <a:spLocks noChangeShapeType="1"/>
          </p:cNvSpPr>
          <p:nvPr/>
        </p:nvSpPr>
        <p:spPr bwMode="auto">
          <a:xfrm flipH="1">
            <a:off x="3615109" y="5778500"/>
            <a:ext cx="3887788"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7694" name="Text Box 46">
            <a:extLst>
              <a:ext uri="{FF2B5EF4-FFF2-40B4-BE49-F238E27FC236}">
                <a16:creationId xmlns:a16="http://schemas.microsoft.com/office/drawing/2014/main" id="{27731226-A111-4467-B952-D8AF87EEC6AB}"/>
              </a:ext>
            </a:extLst>
          </p:cNvPr>
          <p:cNvSpPr txBox="1">
            <a:spLocks noChangeArrowheads="1"/>
          </p:cNvSpPr>
          <p:nvPr/>
        </p:nvSpPr>
        <p:spPr bwMode="auto">
          <a:xfrm>
            <a:off x="1401603" y="212727"/>
            <a:ext cx="78771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85000"/>
                    <a:lumOff val="15000"/>
                  </a:schemeClr>
                </a:solidFill>
                <a:latin typeface="+mj-lt"/>
                <a:cs typeface="Arial" charset="0"/>
              </a:rPr>
              <a:t>SENSIBILIDAD DE LOS COSTOS</a:t>
            </a:r>
          </a:p>
        </p:txBody>
      </p:sp>
      <p:sp>
        <p:nvSpPr>
          <p:cNvPr id="27695" name="Rectangle 47">
            <a:extLst>
              <a:ext uri="{FF2B5EF4-FFF2-40B4-BE49-F238E27FC236}">
                <a16:creationId xmlns:a16="http://schemas.microsoft.com/office/drawing/2014/main" id="{C5104C6B-5817-4C77-A5BC-2F6C4D101280}"/>
              </a:ext>
            </a:extLst>
          </p:cNvPr>
          <p:cNvSpPr>
            <a:spLocks noChangeArrowheads="1"/>
          </p:cNvSpPr>
          <p:nvPr/>
        </p:nvSpPr>
        <p:spPr bwMode="auto">
          <a:xfrm>
            <a:off x="2106405" y="1414463"/>
            <a:ext cx="943292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1800" b="1">
                <a:effectLst>
                  <a:outerShdw blurRad="38100" dist="38100" dir="2700000" algn="tl">
                    <a:srgbClr val="C0C0C0"/>
                  </a:outerShdw>
                </a:effectLst>
                <a:latin typeface="+mj-lt"/>
              </a:rPr>
              <a:t>4° CASO) EXCESIVOS COSTOS FIJOS, CON BAJOS COSTOS VARIABLES</a:t>
            </a:r>
            <a:endParaRPr lang="es-ES" altLang="es-AR" sz="1800" b="1" dirty="0">
              <a:effectLst>
                <a:outerShdw blurRad="38100" dist="38100" dir="2700000" algn="tl">
                  <a:srgbClr val="C0C0C0"/>
                </a:outerShdw>
              </a:effectLst>
              <a:latin typeface="+mj-lt"/>
            </a:endParaRPr>
          </a:p>
        </p:txBody>
      </p:sp>
      <p:sp>
        <p:nvSpPr>
          <p:cNvPr id="27696" name="Rectangle 48">
            <a:extLst>
              <a:ext uri="{FF2B5EF4-FFF2-40B4-BE49-F238E27FC236}">
                <a16:creationId xmlns:a16="http://schemas.microsoft.com/office/drawing/2014/main" id="{529A1ECC-B4B7-49D7-B77C-B45CA0E4971A}"/>
              </a:ext>
            </a:extLst>
          </p:cNvPr>
          <p:cNvSpPr>
            <a:spLocks noChangeArrowheads="1"/>
          </p:cNvSpPr>
          <p:nvPr/>
        </p:nvSpPr>
        <p:spPr bwMode="auto">
          <a:xfrm>
            <a:off x="7025210" y="6369050"/>
            <a:ext cx="163021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AR" altLang="es-AR" sz="1400" b="1">
                <a:latin typeface="+mj-lt"/>
              </a:rPr>
              <a:t>q instalada</a:t>
            </a:r>
            <a:endParaRPr lang="es-ES" altLang="es-AR" sz="1400" b="1">
              <a:latin typeface="+mj-lt"/>
            </a:endParaRPr>
          </a:p>
        </p:txBody>
      </p:sp>
      <p:sp>
        <p:nvSpPr>
          <p:cNvPr id="27697" name="Rectangle 49">
            <a:extLst>
              <a:ext uri="{FF2B5EF4-FFF2-40B4-BE49-F238E27FC236}">
                <a16:creationId xmlns:a16="http://schemas.microsoft.com/office/drawing/2014/main" id="{F084BE83-E33A-4A3B-BDB6-BE6AD8DEB1A5}"/>
              </a:ext>
            </a:extLst>
          </p:cNvPr>
          <p:cNvSpPr>
            <a:spLocks noChangeArrowheads="1"/>
          </p:cNvSpPr>
          <p:nvPr/>
        </p:nvSpPr>
        <p:spPr bwMode="auto">
          <a:xfrm>
            <a:off x="7934697" y="3929063"/>
            <a:ext cx="3167062"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sz="1600" b="1">
                <a:latin typeface="+mj-lt"/>
              </a:rPr>
              <a:t>Contribución Marginal Total</a:t>
            </a:r>
            <a:endParaRPr lang="es-ES" altLang="es-AR" sz="1600" b="1">
              <a:latin typeface="+mj-lt"/>
            </a:endParaRPr>
          </a:p>
        </p:txBody>
      </p:sp>
      <p:sp>
        <p:nvSpPr>
          <p:cNvPr id="27698" name="Rectangle 50">
            <a:extLst>
              <a:ext uri="{FF2B5EF4-FFF2-40B4-BE49-F238E27FC236}">
                <a16:creationId xmlns:a16="http://schemas.microsoft.com/office/drawing/2014/main" id="{67BC2DF8-C52F-43C4-8B7D-7D547540E7AB}"/>
              </a:ext>
            </a:extLst>
          </p:cNvPr>
          <p:cNvSpPr>
            <a:spLocks noChangeArrowheads="1"/>
          </p:cNvSpPr>
          <p:nvPr/>
        </p:nvSpPr>
        <p:spPr bwMode="auto">
          <a:xfrm>
            <a:off x="3289717" y="2062140"/>
            <a:ext cx="504825"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sz="1600" b="1">
                <a:latin typeface="Tahoma" panose="020B0604030504040204" pitchFamily="34" charset="0"/>
              </a:rPr>
              <a:t>$</a:t>
            </a:r>
            <a:endParaRPr lang="es-ES" altLang="es-AR" sz="1600" b="1">
              <a:latin typeface="Tahoma" panose="020B0604030504040204" pitchFamily="34" charset="0"/>
            </a:endParaRPr>
          </a:p>
        </p:txBody>
      </p:sp>
      <p:sp>
        <p:nvSpPr>
          <p:cNvPr id="27699" name="Text Box 51">
            <a:extLst>
              <a:ext uri="{FF2B5EF4-FFF2-40B4-BE49-F238E27FC236}">
                <a16:creationId xmlns:a16="http://schemas.microsoft.com/office/drawing/2014/main" id="{E0B2DB5D-A800-41F9-8E4E-EEB4EBE498F7}"/>
              </a:ext>
            </a:extLst>
          </p:cNvPr>
          <p:cNvSpPr txBox="1">
            <a:spLocks noChangeArrowheads="1"/>
          </p:cNvSpPr>
          <p:nvPr/>
        </p:nvSpPr>
        <p:spPr bwMode="auto">
          <a:xfrm>
            <a:off x="1393322" y="2333625"/>
            <a:ext cx="250912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sz="1400" b="1" dirty="0">
                <a:solidFill>
                  <a:srgbClr val="996633"/>
                </a:solidFill>
                <a:latin typeface="+mj-lt"/>
              </a:rPr>
              <a:t>INGRESO TOTAL</a:t>
            </a:r>
            <a:endParaRPr lang="es-AR" altLang="es-AR" sz="1400" b="1" dirty="0">
              <a:solidFill>
                <a:srgbClr val="996633"/>
              </a:solidFill>
              <a:latin typeface="+mj-lt"/>
              <a:cs typeface="Tahoma" panose="020B0604030504040204" pitchFamily="34" charset="0"/>
            </a:endParaRPr>
          </a:p>
        </p:txBody>
      </p:sp>
      <p:sp>
        <p:nvSpPr>
          <p:cNvPr id="27700" name="Text Box 52">
            <a:extLst>
              <a:ext uri="{FF2B5EF4-FFF2-40B4-BE49-F238E27FC236}">
                <a16:creationId xmlns:a16="http://schemas.microsoft.com/office/drawing/2014/main" id="{75D1DD47-8DC5-4EC3-A109-6A45C68D7CEB}"/>
              </a:ext>
            </a:extLst>
          </p:cNvPr>
          <p:cNvSpPr txBox="1">
            <a:spLocks noChangeArrowheads="1"/>
          </p:cNvSpPr>
          <p:nvPr/>
        </p:nvSpPr>
        <p:spPr bwMode="auto">
          <a:xfrm>
            <a:off x="576257" y="2832878"/>
            <a:ext cx="324603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400" b="1" dirty="0">
                <a:solidFill>
                  <a:srgbClr val="FF3300"/>
                </a:solidFill>
                <a:latin typeface="+mj-lt"/>
              </a:rPr>
              <a:t>COSTO TOTAL = CFT + CVT</a:t>
            </a:r>
            <a:endParaRPr lang="es-AR" altLang="es-AR" sz="1400" b="1" dirty="0">
              <a:solidFill>
                <a:srgbClr val="FF3300"/>
              </a:solidFill>
              <a:latin typeface="+mj-lt"/>
              <a:cs typeface="Tahoma" panose="020B0604030504040204" pitchFamily="34" charset="0"/>
            </a:endParaRPr>
          </a:p>
        </p:txBody>
      </p:sp>
      <p:sp>
        <p:nvSpPr>
          <p:cNvPr id="27701" name="Text Box 53">
            <a:extLst>
              <a:ext uri="{FF2B5EF4-FFF2-40B4-BE49-F238E27FC236}">
                <a16:creationId xmlns:a16="http://schemas.microsoft.com/office/drawing/2014/main" id="{CAAB83CD-16B8-4445-81A1-A206D5B39A35}"/>
              </a:ext>
            </a:extLst>
          </p:cNvPr>
          <p:cNvSpPr txBox="1">
            <a:spLocks noChangeArrowheads="1"/>
          </p:cNvSpPr>
          <p:nvPr/>
        </p:nvSpPr>
        <p:spPr bwMode="auto">
          <a:xfrm>
            <a:off x="1230886" y="3629025"/>
            <a:ext cx="252709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400" b="1">
                <a:solidFill>
                  <a:schemeClr val="hlink"/>
                </a:solidFill>
                <a:latin typeface="+mj-lt"/>
              </a:rPr>
              <a:t>COSTO FIJO TOTAL</a:t>
            </a:r>
            <a:endParaRPr lang="es-AR" altLang="es-AR" sz="1400" b="1">
              <a:solidFill>
                <a:schemeClr val="hlink"/>
              </a:solidFill>
              <a:latin typeface="+mj-lt"/>
              <a:cs typeface="Tahoma" panose="020B0604030504040204" pitchFamily="34" charset="0"/>
            </a:endParaRPr>
          </a:p>
        </p:txBody>
      </p:sp>
      <p:sp>
        <p:nvSpPr>
          <p:cNvPr id="27702" name="Text Box 54">
            <a:extLst>
              <a:ext uri="{FF2B5EF4-FFF2-40B4-BE49-F238E27FC236}">
                <a16:creationId xmlns:a16="http://schemas.microsoft.com/office/drawing/2014/main" id="{2BD2CFCF-E482-464A-A88F-0CD337DF786E}"/>
              </a:ext>
            </a:extLst>
          </p:cNvPr>
          <p:cNvSpPr txBox="1">
            <a:spLocks noChangeArrowheads="1"/>
          </p:cNvSpPr>
          <p:nvPr/>
        </p:nvSpPr>
        <p:spPr bwMode="auto">
          <a:xfrm>
            <a:off x="1240329" y="5592762"/>
            <a:ext cx="244621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400" b="1">
                <a:solidFill>
                  <a:srgbClr val="0000FF"/>
                </a:solidFill>
                <a:latin typeface="+mj-lt"/>
              </a:rPr>
              <a:t>COSTO VARIABLE TOTAL</a:t>
            </a:r>
            <a:endParaRPr lang="es-AR" altLang="es-AR" sz="1400" b="1">
              <a:solidFill>
                <a:srgbClr val="0000FF"/>
              </a:solidFill>
              <a:latin typeface="+mj-lt"/>
              <a:cs typeface="Tahoma" panose="020B0604030504040204" pitchFamily="34" charset="0"/>
            </a:endParaRPr>
          </a:p>
        </p:txBody>
      </p:sp>
      <p:sp>
        <p:nvSpPr>
          <p:cNvPr id="2" name="Signo más 1">
            <a:extLst>
              <a:ext uri="{FF2B5EF4-FFF2-40B4-BE49-F238E27FC236}">
                <a16:creationId xmlns:a16="http://schemas.microsoft.com/office/drawing/2014/main" id="{F01836FD-41C4-4E22-91CA-F7D08B9D982C}"/>
              </a:ext>
            </a:extLst>
          </p:cNvPr>
          <p:cNvSpPr/>
          <p:nvPr/>
        </p:nvSpPr>
        <p:spPr>
          <a:xfrm>
            <a:off x="7292109" y="2737145"/>
            <a:ext cx="264453" cy="261643"/>
          </a:xfrm>
          <a:prstGeom prst="mathPlus">
            <a:avLst>
              <a:gd name="adj1" fmla="val 11161"/>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 name="Signo menos 2">
            <a:extLst>
              <a:ext uri="{FF2B5EF4-FFF2-40B4-BE49-F238E27FC236}">
                <a16:creationId xmlns:a16="http://schemas.microsoft.com/office/drawing/2014/main" id="{AA90F71C-A9A2-4B61-9956-CE9B292F4E18}"/>
              </a:ext>
            </a:extLst>
          </p:cNvPr>
          <p:cNvSpPr/>
          <p:nvPr/>
        </p:nvSpPr>
        <p:spPr>
          <a:xfrm>
            <a:off x="4582103" y="4216017"/>
            <a:ext cx="373193" cy="330966"/>
          </a:xfrm>
          <a:prstGeom prst="mathMinus">
            <a:avLst>
              <a:gd name="adj1" fmla="val 13911"/>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9" name="Text Box 38">
            <a:extLst>
              <a:ext uri="{FF2B5EF4-FFF2-40B4-BE49-F238E27FC236}">
                <a16:creationId xmlns:a16="http://schemas.microsoft.com/office/drawing/2014/main" id="{6786725E-B6AB-40D3-BC4F-646B43C58723}"/>
              </a:ext>
            </a:extLst>
          </p:cNvPr>
          <p:cNvSpPr txBox="1">
            <a:spLocks noChangeArrowheads="1"/>
          </p:cNvSpPr>
          <p:nvPr/>
        </p:nvSpPr>
        <p:spPr bwMode="auto">
          <a:xfrm>
            <a:off x="9045110" y="5284919"/>
            <a:ext cx="30083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b="1" dirty="0">
                <a:solidFill>
                  <a:schemeClr val="tx1">
                    <a:lumMod val="85000"/>
                    <a:lumOff val="15000"/>
                  </a:schemeClr>
                </a:solidFill>
                <a:latin typeface="+mj-lt"/>
              </a:rPr>
              <a:t>POTENCIAL DE BENEFICIO</a:t>
            </a:r>
            <a:endParaRPr lang="es-ES" altLang="es-AR" b="1" dirty="0">
              <a:solidFill>
                <a:schemeClr val="tx1">
                  <a:lumMod val="85000"/>
                  <a:lumOff val="15000"/>
                </a:schemeClr>
              </a:solidFill>
              <a:latin typeface="+mj-lt"/>
            </a:endParaRPr>
          </a:p>
        </p:txBody>
      </p:sp>
      <p:sp>
        <p:nvSpPr>
          <p:cNvPr id="40" name="Rectangle 60">
            <a:extLst>
              <a:ext uri="{FF2B5EF4-FFF2-40B4-BE49-F238E27FC236}">
                <a16:creationId xmlns:a16="http://schemas.microsoft.com/office/drawing/2014/main" id="{86710E8F-F1FB-4E43-BB2C-C46CA4021AAB}"/>
              </a:ext>
            </a:extLst>
          </p:cNvPr>
          <p:cNvSpPr>
            <a:spLocks noChangeArrowheads="1"/>
          </p:cNvSpPr>
          <p:nvPr/>
        </p:nvSpPr>
        <p:spPr bwMode="auto">
          <a:xfrm>
            <a:off x="9461035" y="5765932"/>
            <a:ext cx="2089150" cy="79216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b="1" u="sng" dirty="0">
                <a:solidFill>
                  <a:schemeClr val="tx1">
                    <a:lumMod val="85000"/>
                    <a:lumOff val="15000"/>
                  </a:schemeClr>
                </a:solidFill>
                <a:latin typeface="+mj-lt"/>
              </a:rPr>
              <a:t>AREA ( + )</a:t>
            </a:r>
          </a:p>
          <a:p>
            <a:pPr algn="l" eaLnBrk="1" hangingPunct="1">
              <a:defRPr/>
            </a:pPr>
            <a:r>
              <a:rPr lang="es-AR" altLang="es-AR" sz="2000" b="1" dirty="0">
                <a:solidFill>
                  <a:schemeClr val="tx1">
                    <a:lumMod val="85000"/>
                    <a:lumOff val="15000"/>
                  </a:schemeClr>
                </a:solidFill>
                <a:latin typeface="+mj-lt"/>
              </a:rPr>
              <a:t>AREA ( - )</a:t>
            </a:r>
            <a:endParaRPr lang="es-ES" altLang="es-AR" sz="2000" b="1" dirty="0">
              <a:solidFill>
                <a:schemeClr val="tx1">
                  <a:lumMod val="85000"/>
                  <a:lumOff val="15000"/>
                </a:schemeClr>
              </a:solidFill>
              <a:latin typeface="+mj-lt"/>
            </a:endParaRPr>
          </a:p>
        </p:txBody>
      </p:sp>
      <p:sp>
        <p:nvSpPr>
          <p:cNvPr id="41" name="CuadroTexto 40">
            <a:extLst>
              <a:ext uri="{FF2B5EF4-FFF2-40B4-BE49-F238E27FC236}">
                <a16:creationId xmlns:a16="http://schemas.microsoft.com/office/drawing/2014/main" id="{3AB3D31B-CF85-47A6-9A70-03618BE92687}"/>
              </a:ext>
            </a:extLst>
          </p:cNvPr>
          <p:cNvSpPr txBox="1"/>
          <p:nvPr/>
        </p:nvSpPr>
        <p:spPr>
          <a:xfrm>
            <a:off x="11041425" y="5908806"/>
            <a:ext cx="935493" cy="369332"/>
          </a:xfrm>
          <a:prstGeom prst="rect">
            <a:avLst/>
          </a:prstGeom>
          <a:noFill/>
        </p:spPr>
        <p:txBody>
          <a:bodyPr wrap="square" rtlCol="0">
            <a:spAutoFit/>
          </a:bodyPr>
          <a:lstStyle/>
          <a:p>
            <a:r>
              <a:rPr lang="es-AR" b="1" dirty="0"/>
              <a:t>&lt;&lt;&lt;</a:t>
            </a:r>
          </a:p>
        </p:txBody>
      </p:sp>
      <p:sp>
        <p:nvSpPr>
          <p:cNvPr id="42" name="CuadroTexto 41">
            <a:extLst>
              <a:ext uri="{FF2B5EF4-FFF2-40B4-BE49-F238E27FC236}">
                <a16:creationId xmlns:a16="http://schemas.microsoft.com/office/drawing/2014/main" id="{89DD0979-6ED1-493E-BA69-BE522BFEB3BA}"/>
              </a:ext>
            </a:extLst>
          </p:cNvPr>
          <p:cNvSpPr txBox="1"/>
          <p:nvPr/>
        </p:nvSpPr>
        <p:spPr>
          <a:xfrm>
            <a:off x="11577627" y="5868207"/>
            <a:ext cx="270344" cy="400110"/>
          </a:xfrm>
          <a:prstGeom prst="rect">
            <a:avLst/>
          </a:prstGeom>
          <a:noFill/>
        </p:spPr>
        <p:txBody>
          <a:bodyPr wrap="square" rtlCol="0">
            <a:spAutoFit/>
          </a:bodyPr>
          <a:lstStyle/>
          <a:p>
            <a:r>
              <a:rPr lang="es-AR" sz="2000" b="1" dirty="0"/>
              <a:t>1</a:t>
            </a:r>
          </a:p>
        </p:txBody>
      </p:sp>
      <p:sp>
        <p:nvSpPr>
          <p:cNvPr id="4" name="Rectángulo 3">
            <a:extLst>
              <a:ext uri="{FF2B5EF4-FFF2-40B4-BE49-F238E27FC236}">
                <a16:creationId xmlns:a16="http://schemas.microsoft.com/office/drawing/2014/main" id="{25801CBF-70A5-4D65-8C31-20ECB17F70EA}"/>
              </a:ext>
            </a:extLst>
          </p:cNvPr>
          <p:cNvSpPr/>
          <p:nvPr/>
        </p:nvSpPr>
        <p:spPr>
          <a:xfrm>
            <a:off x="4213597" y="872094"/>
            <a:ext cx="2981907" cy="369332"/>
          </a:xfrm>
          <a:prstGeom prst="rect">
            <a:avLst/>
          </a:prstGeom>
        </p:spPr>
        <p:txBody>
          <a:bodyPr wrap="none">
            <a:spAutoFit/>
          </a:bodyPr>
          <a:lstStyle/>
          <a:p>
            <a:r>
              <a:rPr lang="es-AR" b="1" dirty="0"/>
              <a:t>POTENCIAL DE BENEFICIO</a:t>
            </a:r>
          </a:p>
        </p:txBody>
      </p:sp>
      <p:sp>
        <p:nvSpPr>
          <p:cNvPr id="5" name="Marcador de número de diapositiva 4">
            <a:extLst>
              <a:ext uri="{FF2B5EF4-FFF2-40B4-BE49-F238E27FC236}">
                <a16:creationId xmlns:a16="http://schemas.microsoft.com/office/drawing/2014/main" id="{1A377FA3-EBBB-45F1-8FA4-C3A10267F944}"/>
              </a:ext>
            </a:extLst>
          </p:cNvPr>
          <p:cNvSpPr>
            <a:spLocks noGrp="1"/>
          </p:cNvSpPr>
          <p:nvPr>
            <p:ph type="sldNum" sz="quarter" idx="12"/>
          </p:nvPr>
        </p:nvSpPr>
        <p:spPr/>
        <p:txBody>
          <a:bodyPr/>
          <a:lstStyle/>
          <a:p>
            <a:fld id="{D57F1E4F-1CFF-5643-939E-217C01CDF565}" type="slidenum">
              <a:rPr lang="en-US" smtClean="0"/>
              <a:pPr/>
              <a:t>12</a:t>
            </a:fld>
            <a:endParaRPr lang="en-US" dirty="0"/>
          </a:p>
        </p:txBody>
      </p:sp>
      <p:sp>
        <p:nvSpPr>
          <p:cNvPr id="45" name="CuadroTexto 44">
            <a:extLst>
              <a:ext uri="{FF2B5EF4-FFF2-40B4-BE49-F238E27FC236}">
                <a16:creationId xmlns:a16="http://schemas.microsoft.com/office/drawing/2014/main" id="{C7B8C4B8-D42B-47FC-B98D-912C263D98B3}"/>
              </a:ext>
            </a:extLst>
          </p:cNvPr>
          <p:cNvSpPr txBox="1"/>
          <p:nvPr/>
        </p:nvSpPr>
        <p:spPr>
          <a:xfrm>
            <a:off x="3241556" y="3056430"/>
            <a:ext cx="482839" cy="307777"/>
          </a:xfrm>
          <a:prstGeom prst="rect">
            <a:avLst/>
          </a:prstGeom>
          <a:noFill/>
        </p:spPr>
        <p:txBody>
          <a:bodyPr wrap="square" rtlCol="0">
            <a:spAutoFit/>
          </a:bodyPr>
          <a:lstStyle/>
          <a:p>
            <a:r>
              <a:rPr lang="es-AR" sz="1400" b="1" dirty="0"/>
              <a:t>P</a:t>
            </a:r>
            <a:r>
              <a:rPr lang="es-AR" sz="1200" b="1" dirty="0"/>
              <a:t>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765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65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673"/>
                                        </p:tgtEl>
                                        <p:attrNameLst>
                                          <p:attrName>style.visibility</p:attrName>
                                        </p:attrNameLst>
                                      </p:cBhvr>
                                      <p:to>
                                        <p:strVal val="visible"/>
                                      </p:to>
                                    </p:set>
                                  </p:childTnLst>
                                </p:cTn>
                              </p:par>
                              <p:par>
                                <p:cTn id="11" presetID="22" presetClass="entr" presetSubtype="4" fill="hold" nodeType="withEffect">
                                  <p:stCondLst>
                                    <p:cond delay="0"/>
                                  </p:stCondLst>
                                  <p:childTnLst>
                                    <p:set>
                                      <p:cBhvr>
                                        <p:cTn id="12" dur="1" fill="hold">
                                          <p:stCondLst>
                                            <p:cond delay="0"/>
                                          </p:stCondLst>
                                        </p:cTn>
                                        <p:tgtEl>
                                          <p:spTgt spid="27662"/>
                                        </p:tgtEl>
                                        <p:attrNameLst>
                                          <p:attrName>style.visibility</p:attrName>
                                        </p:attrNameLst>
                                      </p:cBhvr>
                                      <p:to>
                                        <p:strVal val="visible"/>
                                      </p:to>
                                    </p:set>
                                    <p:animEffect transition="in" filter="wipe(down)">
                                      <p:cBhvr>
                                        <p:cTn id="13" dur="500"/>
                                        <p:tgtEl>
                                          <p:spTgt spid="27662"/>
                                        </p:tgtEl>
                                      </p:cBhvr>
                                    </p:animEffect>
                                  </p:childTnLst>
                                </p:cTn>
                              </p:par>
                              <p:par>
                                <p:cTn id="14" presetID="22" presetClass="entr" presetSubtype="4" fill="hold" nodeType="withEffect">
                                  <p:stCondLst>
                                    <p:cond delay="0"/>
                                  </p:stCondLst>
                                  <p:childTnLst>
                                    <p:set>
                                      <p:cBhvr>
                                        <p:cTn id="15" dur="1" fill="hold">
                                          <p:stCondLst>
                                            <p:cond delay="0"/>
                                          </p:stCondLst>
                                        </p:cTn>
                                        <p:tgtEl>
                                          <p:spTgt spid="27663"/>
                                        </p:tgtEl>
                                        <p:attrNameLst>
                                          <p:attrName>style.visibility</p:attrName>
                                        </p:attrNameLst>
                                      </p:cBhvr>
                                      <p:to>
                                        <p:strVal val="visible"/>
                                      </p:to>
                                    </p:set>
                                    <p:animEffect transition="in" filter="wipe(down)">
                                      <p:cBhvr>
                                        <p:cTn id="16" dur="500"/>
                                        <p:tgtEl>
                                          <p:spTgt spid="2766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4" fill="hold" nodeType="clickEffect">
                                  <p:stCondLst>
                                    <p:cond delay="0"/>
                                  </p:stCondLst>
                                  <p:childTnLst>
                                    <p:set>
                                      <p:cBhvr>
                                        <p:cTn id="20" dur="1" fill="hold">
                                          <p:stCondLst>
                                            <p:cond delay="0"/>
                                          </p:stCondLst>
                                        </p:cTn>
                                        <p:tgtEl>
                                          <p:spTgt spid="27655"/>
                                        </p:tgtEl>
                                        <p:attrNameLst>
                                          <p:attrName>style.visibility</p:attrName>
                                        </p:attrNameLst>
                                      </p:cBhvr>
                                      <p:to>
                                        <p:strVal val="visible"/>
                                      </p:to>
                                    </p:set>
                                    <p:animEffect transition="in" filter="wipe(down)">
                                      <p:cBhvr>
                                        <p:cTn id="21" dur="500"/>
                                        <p:tgtEl>
                                          <p:spTgt spid="2765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27660"/>
                                        </p:tgtEl>
                                        <p:attrNameLst>
                                          <p:attrName>style.visibility</p:attrName>
                                        </p:attrNameLst>
                                      </p:cBhvr>
                                      <p:to>
                                        <p:strVal val="visible"/>
                                      </p:to>
                                    </p:set>
                                    <p:animEffect transition="in" filter="wipe(down)">
                                      <p:cBhvr>
                                        <p:cTn id="26" dur="500"/>
                                        <p:tgtEl>
                                          <p:spTgt spid="27660"/>
                                        </p:tgtEl>
                                      </p:cBhvr>
                                    </p:animEffect>
                                  </p:childTnLst>
                                </p:cTn>
                              </p:par>
                              <p:par>
                                <p:cTn id="27" presetID="22" presetClass="entr" presetSubtype="4" fill="hold" nodeType="withEffect">
                                  <p:stCondLst>
                                    <p:cond delay="0"/>
                                  </p:stCondLst>
                                  <p:childTnLst>
                                    <p:set>
                                      <p:cBhvr>
                                        <p:cTn id="28" dur="1" fill="hold">
                                          <p:stCondLst>
                                            <p:cond delay="0"/>
                                          </p:stCondLst>
                                        </p:cTn>
                                        <p:tgtEl>
                                          <p:spTgt spid="27659"/>
                                        </p:tgtEl>
                                        <p:attrNameLst>
                                          <p:attrName>style.visibility</p:attrName>
                                        </p:attrNameLst>
                                      </p:cBhvr>
                                      <p:to>
                                        <p:strVal val="visible"/>
                                      </p:to>
                                    </p:set>
                                    <p:animEffect transition="in" filter="wipe(down)">
                                      <p:cBhvr>
                                        <p:cTn id="29" dur="500"/>
                                        <p:tgtEl>
                                          <p:spTgt spid="27659"/>
                                        </p:tgtEl>
                                      </p:cBhvr>
                                    </p:animEffect>
                                  </p:childTnLst>
                                </p:cTn>
                              </p:par>
                              <p:par>
                                <p:cTn id="30" presetID="22" presetClass="entr" presetSubtype="4" fill="hold" nodeType="withEffect">
                                  <p:stCondLst>
                                    <p:cond delay="0"/>
                                  </p:stCondLst>
                                  <p:childTnLst>
                                    <p:set>
                                      <p:cBhvr>
                                        <p:cTn id="31" dur="1" fill="hold">
                                          <p:stCondLst>
                                            <p:cond delay="0"/>
                                          </p:stCondLst>
                                        </p:cTn>
                                        <p:tgtEl>
                                          <p:spTgt spid="27656"/>
                                        </p:tgtEl>
                                        <p:attrNameLst>
                                          <p:attrName>style.visibility</p:attrName>
                                        </p:attrNameLst>
                                      </p:cBhvr>
                                      <p:to>
                                        <p:strVal val="visible"/>
                                      </p:to>
                                    </p:set>
                                    <p:animEffect transition="in" filter="wipe(down)">
                                      <p:cBhvr>
                                        <p:cTn id="32" dur="500"/>
                                        <p:tgtEl>
                                          <p:spTgt spid="27656"/>
                                        </p:tgtEl>
                                      </p:cBhvr>
                                    </p:animEffect>
                                  </p:childTnLst>
                                </p:cTn>
                              </p:par>
                              <p:par>
                                <p:cTn id="33" presetID="22" presetClass="entr" presetSubtype="4" fill="hold" nodeType="withEffect">
                                  <p:stCondLst>
                                    <p:cond delay="0"/>
                                  </p:stCondLst>
                                  <p:childTnLst>
                                    <p:set>
                                      <p:cBhvr>
                                        <p:cTn id="34" dur="1" fill="hold">
                                          <p:stCondLst>
                                            <p:cond delay="0"/>
                                          </p:stCondLst>
                                        </p:cTn>
                                        <p:tgtEl>
                                          <p:spTgt spid="27692"/>
                                        </p:tgtEl>
                                        <p:attrNameLst>
                                          <p:attrName>style.visibility</p:attrName>
                                        </p:attrNameLst>
                                      </p:cBhvr>
                                      <p:to>
                                        <p:strVal val="visible"/>
                                      </p:to>
                                    </p:set>
                                    <p:animEffect transition="in" filter="wipe(down)">
                                      <p:cBhvr>
                                        <p:cTn id="35" dur="500"/>
                                        <p:tgtEl>
                                          <p:spTgt spid="2769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4" fill="hold" nodeType="clickEffect">
                                  <p:stCondLst>
                                    <p:cond delay="0"/>
                                  </p:stCondLst>
                                  <p:childTnLst>
                                    <p:set>
                                      <p:cBhvr>
                                        <p:cTn id="39" dur="1" fill="hold">
                                          <p:stCondLst>
                                            <p:cond delay="0"/>
                                          </p:stCondLst>
                                        </p:cTn>
                                        <p:tgtEl>
                                          <p:spTgt spid="27658"/>
                                        </p:tgtEl>
                                        <p:attrNameLst>
                                          <p:attrName>style.visibility</p:attrName>
                                        </p:attrNameLst>
                                      </p:cBhvr>
                                      <p:to>
                                        <p:strVal val="visible"/>
                                      </p:to>
                                    </p:set>
                                    <p:animEffect transition="in" filter="wipe(down)">
                                      <p:cBhvr>
                                        <p:cTn id="40" dur="500"/>
                                        <p:tgtEl>
                                          <p:spTgt spid="27658"/>
                                        </p:tgtEl>
                                      </p:cBhvr>
                                    </p:animEffect>
                                  </p:childTnLst>
                                </p:cTn>
                              </p:par>
                              <p:par>
                                <p:cTn id="41" presetID="22" presetClass="entr" presetSubtype="4" fill="hold" nodeType="withEffect">
                                  <p:stCondLst>
                                    <p:cond delay="0"/>
                                  </p:stCondLst>
                                  <p:childTnLst>
                                    <p:set>
                                      <p:cBhvr>
                                        <p:cTn id="42" dur="1" fill="hold">
                                          <p:stCondLst>
                                            <p:cond delay="0"/>
                                          </p:stCondLst>
                                        </p:cTn>
                                        <p:tgtEl>
                                          <p:spTgt spid="27683"/>
                                        </p:tgtEl>
                                        <p:attrNameLst>
                                          <p:attrName>style.visibility</p:attrName>
                                        </p:attrNameLst>
                                      </p:cBhvr>
                                      <p:to>
                                        <p:strVal val="visible"/>
                                      </p:to>
                                    </p:set>
                                    <p:animEffect transition="in" filter="wipe(down)">
                                      <p:cBhvr>
                                        <p:cTn id="43" dur="500"/>
                                        <p:tgtEl>
                                          <p:spTgt spid="2768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4" fill="hold" nodeType="clickEffect">
                                  <p:stCondLst>
                                    <p:cond delay="0"/>
                                  </p:stCondLst>
                                  <p:childTnLst>
                                    <p:set>
                                      <p:cBhvr>
                                        <p:cTn id="47" dur="1" fill="hold">
                                          <p:stCondLst>
                                            <p:cond delay="0"/>
                                          </p:stCondLst>
                                        </p:cTn>
                                        <p:tgtEl>
                                          <p:spTgt spid="27657"/>
                                        </p:tgtEl>
                                        <p:attrNameLst>
                                          <p:attrName>style.visibility</p:attrName>
                                        </p:attrNameLst>
                                      </p:cBhvr>
                                      <p:to>
                                        <p:strVal val="visible"/>
                                      </p:to>
                                    </p:set>
                                    <p:animEffect transition="in" filter="wipe(down)">
                                      <p:cBhvr>
                                        <p:cTn id="48" dur="500"/>
                                        <p:tgtEl>
                                          <p:spTgt spid="27657"/>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27664"/>
                                        </p:tgtEl>
                                        <p:attrNameLst>
                                          <p:attrName>style.visibility</p:attrName>
                                        </p:attrNameLst>
                                      </p:cBhvr>
                                      <p:to>
                                        <p:strVal val="visible"/>
                                      </p:to>
                                    </p:set>
                                    <p:animEffect transition="in" filter="wipe(down)">
                                      <p:cBhvr>
                                        <p:cTn id="51" dur="500"/>
                                        <p:tgtEl>
                                          <p:spTgt spid="27664"/>
                                        </p:tgtEl>
                                      </p:cBhvr>
                                    </p:animEffect>
                                  </p:childTnLst>
                                </p:cTn>
                              </p:par>
                              <p:par>
                                <p:cTn id="52" presetID="22" presetClass="entr" presetSubtype="4" fill="hold" nodeType="withEffect">
                                  <p:stCondLst>
                                    <p:cond delay="0"/>
                                  </p:stCondLst>
                                  <p:childTnLst>
                                    <p:set>
                                      <p:cBhvr>
                                        <p:cTn id="53" dur="1" fill="hold">
                                          <p:stCondLst>
                                            <p:cond delay="0"/>
                                          </p:stCondLst>
                                        </p:cTn>
                                        <p:tgtEl>
                                          <p:spTgt spid="27661"/>
                                        </p:tgtEl>
                                        <p:attrNameLst>
                                          <p:attrName>style.visibility</p:attrName>
                                        </p:attrNameLst>
                                      </p:cBhvr>
                                      <p:to>
                                        <p:strVal val="visible"/>
                                      </p:to>
                                    </p:set>
                                    <p:animEffect transition="in" filter="wipe(down)">
                                      <p:cBhvr>
                                        <p:cTn id="54" dur="500"/>
                                        <p:tgtEl>
                                          <p:spTgt spid="27661"/>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4" fill="hold" grpId="0" nodeType="clickEffect">
                                  <p:stCondLst>
                                    <p:cond delay="0"/>
                                  </p:stCondLst>
                                  <p:childTnLst>
                                    <p:set>
                                      <p:cBhvr>
                                        <p:cTn id="58" dur="1" fill="hold">
                                          <p:stCondLst>
                                            <p:cond delay="0"/>
                                          </p:stCondLst>
                                        </p:cTn>
                                        <p:tgtEl>
                                          <p:spTgt spid="27690"/>
                                        </p:tgtEl>
                                        <p:attrNameLst>
                                          <p:attrName>style.visibility</p:attrName>
                                        </p:attrNameLst>
                                      </p:cBhvr>
                                      <p:to>
                                        <p:strVal val="visible"/>
                                      </p:to>
                                    </p:set>
                                    <p:animEffect transition="in" filter="wipe(down)">
                                      <p:cBhvr>
                                        <p:cTn id="59" dur="500"/>
                                        <p:tgtEl>
                                          <p:spTgt spid="27690"/>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27667"/>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4" fill="hold" nodeType="clickEffect">
                                  <p:stCondLst>
                                    <p:cond delay="0"/>
                                  </p:stCondLst>
                                  <p:childTnLst>
                                    <p:set>
                                      <p:cBhvr>
                                        <p:cTn id="67" dur="1" fill="hold">
                                          <p:stCondLst>
                                            <p:cond delay="0"/>
                                          </p:stCondLst>
                                        </p:cTn>
                                        <p:tgtEl>
                                          <p:spTgt spid="27668"/>
                                        </p:tgtEl>
                                        <p:attrNameLst>
                                          <p:attrName>style.visibility</p:attrName>
                                        </p:attrNameLst>
                                      </p:cBhvr>
                                      <p:to>
                                        <p:strVal val="visible"/>
                                      </p:to>
                                    </p:set>
                                    <p:animEffect transition="in" filter="wipe(down)">
                                      <p:cBhvr>
                                        <p:cTn id="68" dur="500"/>
                                        <p:tgtEl>
                                          <p:spTgt spid="27668"/>
                                        </p:tgtEl>
                                      </p:cBhvr>
                                    </p:animEffect>
                                  </p:childTnLst>
                                </p:cTn>
                              </p:par>
                              <p:par>
                                <p:cTn id="69" presetID="22" presetClass="entr" presetSubtype="4" fill="hold" grpId="0" nodeType="withEffect">
                                  <p:stCondLst>
                                    <p:cond delay="0"/>
                                  </p:stCondLst>
                                  <p:childTnLst>
                                    <p:set>
                                      <p:cBhvr>
                                        <p:cTn id="70" dur="1" fill="hold">
                                          <p:stCondLst>
                                            <p:cond delay="0"/>
                                          </p:stCondLst>
                                        </p:cTn>
                                        <p:tgtEl>
                                          <p:spTgt spid="27654"/>
                                        </p:tgtEl>
                                        <p:attrNameLst>
                                          <p:attrName>style.visibility</p:attrName>
                                        </p:attrNameLst>
                                      </p:cBhvr>
                                      <p:to>
                                        <p:strVal val="visible"/>
                                      </p:to>
                                    </p:set>
                                    <p:animEffect transition="in" filter="wipe(down)">
                                      <p:cBhvr>
                                        <p:cTn id="71" dur="500"/>
                                        <p:tgtEl>
                                          <p:spTgt spid="27654"/>
                                        </p:tgtEl>
                                      </p:cBhvr>
                                    </p:animEffect>
                                  </p:childTnLst>
                                </p:cTn>
                              </p:par>
                              <p:par>
                                <p:cTn id="72" presetID="22" presetClass="entr" presetSubtype="4" fill="hold" nodeType="withEffect">
                                  <p:stCondLst>
                                    <p:cond delay="0"/>
                                  </p:stCondLst>
                                  <p:childTnLst>
                                    <p:set>
                                      <p:cBhvr>
                                        <p:cTn id="73" dur="1" fill="hold">
                                          <p:stCondLst>
                                            <p:cond delay="0"/>
                                          </p:stCondLst>
                                        </p:cTn>
                                        <p:tgtEl>
                                          <p:spTgt spid="27669"/>
                                        </p:tgtEl>
                                        <p:attrNameLst>
                                          <p:attrName>style.visibility</p:attrName>
                                        </p:attrNameLst>
                                      </p:cBhvr>
                                      <p:to>
                                        <p:strVal val="visible"/>
                                      </p:to>
                                    </p:set>
                                    <p:animEffect transition="in" filter="wipe(down)">
                                      <p:cBhvr>
                                        <p:cTn id="74" dur="500"/>
                                        <p:tgtEl>
                                          <p:spTgt spid="27669"/>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4" fill="hold" nodeType="clickEffect">
                                  <p:stCondLst>
                                    <p:cond delay="0"/>
                                  </p:stCondLst>
                                  <p:childTnLst>
                                    <p:set>
                                      <p:cBhvr>
                                        <p:cTn id="78" dur="1" fill="hold">
                                          <p:stCondLst>
                                            <p:cond delay="0"/>
                                          </p:stCondLst>
                                        </p:cTn>
                                        <p:tgtEl>
                                          <p:spTgt spid="27665"/>
                                        </p:tgtEl>
                                        <p:attrNameLst>
                                          <p:attrName>style.visibility</p:attrName>
                                        </p:attrNameLst>
                                      </p:cBhvr>
                                      <p:to>
                                        <p:strVal val="visible"/>
                                      </p:to>
                                    </p:set>
                                    <p:animEffect transition="in" filter="wipe(down)">
                                      <p:cBhvr>
                                        <p:cTn id="79" dur="500"/>
                                        <p:tgtEl>
                                          <p:spTgt spid="27665"/>
                                        </p:tgtEl>
                                      </p:cBhvr>
                                    </p:animEffect>
                                  </p:childTnLst>
                                </p:cTn>
                              </p:par>
                              <p:par>
                                <p:cTn id="80" presetID="22" presetClass="entr" presetSubtype="4" fill="hold" grpId="0" nodeType="withEffect">
                                  <p:stCondLst>
                                    <p:cond delay="0"/>
                                  </p:stCondLst>
                                  <p:childTnLst>
                                    <p:set>
                                      <p:cBhvr>
                                        <p:cTn id="81" dur="1" fill="hold">
                                          <p:stCondLst>
                                            <p:cond delay="0"/>
                                          </p:stCondLst>
                                        </p:cTn>
                                        <p:tgtEl>
                                          <p:spTgt spid="27666"/>
                                        </p:tgtEl>
                                        <p:attrNameLst>
                                          <p:attrName>style.visibility</p:attrName>
                                        </p:attrNameLst>
                                      </p:cBhvr>
                                      <p:to>
                                        <p:strVal val="visible"/>
                                      </p:to>
                                    </p:set>
                                    <p:animEffect transition="in" filter="wipe(down)">
                                      <p:cBhvr>
                                        <p:cTn id="82" dur="500"/>
                                        <p:tgtEl>
                                          <p:spTgt spid="27666"/>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4" fill="hold" grpId="0" nodeType="clickEffect">
                                  <p:stCondLst>
                                    <p:cond delay="0"/>
                                  </p:stCondLst>
                                  <p:childTnLst>
                                    <p:set>
                                      <p:cBhvr>
                                        <p:cTn id="86" dur="1" fill="hold">
                                          <p:stCondLst>
                                            <p:cond delay="0"/>
                                          </p:stCondLst>
                                        </p:cTn>
                                        <p:tgtEl>
                                          <p:spTgt spid="27687"/>
                                        </p:tgtEl>
                                        <p:attrNameLst>
                                          <p:attrName>style.visibility</p:attrName>
                                        </p:attrNameLst>
                                      </p:cBhvr>
                                      <p:to>
                                        <p:strVal val="visible"/>
                                      </p:to>
                                    </p:set>
                                    <p:animEffect transition="in" filter="wipe(down)">
                                      <p:cBhvr>
                                        <p:cTn id="87" dur="500"/>
                                        <p:tgtEl>
                                          <p:spTgt spid="27687"/>
                                        </p:tgtEl>
                                      </p:cBhvr>
                                    </p:animEffect>
                                  </p:childTnLst>
                                </p:cTn>
                              </p:par>
                              <p:par>
                                <p:cTn id="88" presetID="22" presetClass="entr" presetSubtype="4" fill="hold" grpId="0" nodeType="withEffect">
                                  <p:stCondLst>
                                    <p:cond delay="0"/>
                                  </p:stCondLst>
                                  <p:childTnLst>
                                    <p:set>
                                      <p:cBhvr>
                                        <p:cTn id="89" dur="1" fill="hold">
                                          <p:stCondLst>
                                            <p:cond delay="0"/>
                                          </p:stCondLst>
                                        </p:cTn>
                                        <p:tgtEl>
                                          <p:spTgt spid="27688"/>
                                        </p:tgtEl>
                                        <p:attrNameLst>
                                          <p:attrName>style.visibility</p:attrName>
                                        </p:attrNameLst>
                                      </p:cBhvr>
                                      <p:to>
                                        <p:strVal val="visible"/>
                                      </p:to>
                                    </p:set>
                                    <p:animEffect transition="in" filter="wipe(down)">
                                      <p:cBhvr>
                                        <p:cTn id="90" dur="500"/>
                                        <p:tgtEl>
                                          <p:spTgt spid="27688"/>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27695"/>
                                        </p:tgtEl>
                                        <p:attrNameLst>
                                          <p:attrName>style.visibility</p:attrName>
                                        </p:attrNameLst>
                                      </p:cBhvr>
                                      <p:to>
                                        <p:strVal val="visible"/>
                                      </p:to>
                                    </p:set>
                                    <p:animEffect transition="in" filter="blinds(horizontal)">
                                      <p:cBhvr>
                                        <p:cTn id="95" dur="500"/>
                                        <p:tgtEl>
                                          <p:spTgt spid="27695"/>
                                        </p:tgtEl>
                                      </p:cBhvr>
                                    </p:animEffect>
                                  </p:childTnLst>
                                </p:cTn>
                              </p:par>
                              <p:par>
                                <p:cTn id="96" presetID="22" presetClass="entr" presetSubtype="4" fill="hold" grpId="0" nodeType="withEffect">
                                  <p:stCondLst>
                                    <p:cond delay="0"/>
                                  </p:stCondLst>
                                  <p:childTnLst>
                                    <p:set>
                                      <p:cBhvr>
                                        <p:cTn id="97" dur="1" fill="hold">
                                          <p:stCondLst>
                                            <p:cond delay="0"/>
                                          </p:stCondLst>
                                        </p:cTn>
                                        <p:tgtEl>
                                          <p:spTgt spid="27696"/>
                                        </p:tgtEl>
                                        <p:attrNameLst>
                                          <p:attrName>style.visibility</p:attrName>
                                        </p:attrNameLst>
                                      </p:cBhvr>
                                      <p:to>
                                        <p:strVal val="visible"/>
                                      </p:to>
                                    </p:set>
                                    <p:animEffect transition="in" filter="wipe(down)">
                                      <p:cBhvr>
                                        <p:cTn id="98" dur="500"/>
                                        <p:tgtEl>
                                          <p:spTgt spid="27696"/>
                                        </p:tgtEl>
                                      </p:cBhvr>
                                    </p:animEffect>
                                  </p:childTnLst>
                                </p:cTn>
                              </p:par>
                              <p:par>
                                <p:cTn id="99" presetID="3" presetClass="entr" presetSubtype="10" fill="hold" grpId="0" nodeType="withEffect">
                                  <p:stCondLst>
                                    <p:cond delay="0"/>
                                  </p:stCondLst>
                                  <p:childTnLst>
                                    <p:set>
                                      <p:cBhvr>
                                        <p:cTn id="100" dur="1" fill="hold">
                                          <p:stCondLst>
                                            <p:cond delay="0"/>
                                          </p:stCondLst>
                                        </p:cTn>
                                        <p:tgtEl>
                                          <p:spTgt spid="27697"/>
                                        </p:tgtEl>
                                        <p:attrNameLst>
                                          <p:attrName>style.visibility</p:attrName>
                                        </p:attrNameLst>
                                      </p:cBhvr>
                                      <p:to>
                                        <p:strVal val="visible"/>
                                      </p:to>
                                    </p:set>
                                    <p:animEffect transition="in" filter="blinds(horizontal)">
                                      <p:cBhvr>
                                        <p:cTn id="101" dur="500"/>
                                        <p:tgtEl>
                                          <p:spTgt spid="27697"/>
                                        </p:tgtEl>
                                      </p:cBhvr>
                                    </p:animEffect>
                                  </p:childTnLst>
                                </p:cTn>
                              </p:par>
                              <p:par>
                                <p:cTn id="102" presetID="3" presetClass="entr" presetSubtype="10" fill="hold" grpId="0" nodeType="withEffect">
                                  <p:stCondLst>
                                    <p:cond delay="0"/>
                                  </p:stCondLst>
                                  <p:childTnLst>
                                    <p:set>
                                      <p:cBhvr>
                                        <p:cTn id="103" dur="1" fill="hold">
                                          <p:stCondLst>
                                            <p:cond delay="0"/>
                                          </p:stCondLst>
                                        </p:cTn>
                                        <p:tgtEl>
                                          <p:spTgt spid="27698"/>
                                        </p:tgtEl>
                                        <p:attrNameLst>
                                          <p:attrName>style.visibility</p:attrName>
                                        </p:attrNameLst>
                                      </p:cBhvr>
                                      <p:to>
                                        <p:strVal val="visible"/>
                                      </p:to>
                                    </p:set>
                                    <p:animEffect transition="in" filter="blinds(horizontal)">
                                      <p:cBhvr>
                                        <p:cTn id="104" dur="500"/>
                                        <p:tgtEl>
                                          <p:spTgt spid="27698"/>
                                        </p:tgtEl>
                                      </p:cBhvr>
                                    </p:animEffect>
                                  </p:childTnLst>
                                </p:cTn>
                              </p:par>
                              <p:par>
                                <p:cTn id="105" presetID="22" presetClass="entr" presetSubtype="4" fill="hold" grpId="0" nodeType="withEffect">
                                  <p:stCondLst>
                                    <p:cond delay="0"/>
                                  </p:stCondLst>
                                  <p:childTnLst>
                                    <p:set>
                                      <p:cBhvr>
                                        <p:cTn id="106" dur="1" fill="hold">
                                          <p:stCondLst>
                                            <p:cond delay="0"/>
                                          </p:stCondLst>
                                        </p:cTn>
                                        <p:tgtEl>
                                          <p:spTgt spid="27699"/>
                                        </p:tgtEl>
                                        <p:attrNameLst>
                                          <p:attrName>style.visibility</p:attrName>
                                        </p:attrNameLst>
                                      </p:cBhvr>
                                      <p:to>
                                        <p:strVal val="visible"/>
                                      </p:to>
                                    </p:set>
                                    <p:animEffect transition="in" filter="wipe(down)">
                                      <p:cBhvr>
                                        <p:cTn id="107" dur="500"/>
                                        <p:tgtEl>
                                          <p:spTgt spid="27699"/>
                                        </p:tgtEl>
                                      </p:cBhvr>
                                    </p:animEffect>
                                  </p:childTnLst>
                                </p:cTn>
                              </p:par>
                              <p:par>
                                <p:cTn id="108" presetID="22" presetClass="entr" presetSubtype="4" fill="hold" grpId="0" nodeType="withEffect">
                                  <p:stCondLst>
                                    <p:cond delay="0"/>
                                  </p:stCondLst>
                                  <p:childTnLst>
                                    <p:set>
                                      <p:cBhvr>
                                        <p:cTn id="109" dur="1" fill="hold">
                                          <p:stCondLst>
                                            <p:cond delay="0"/>
                                          </p:stCondLst>
                                        </p:cTn>
                                        <p:tgtEl>
                                          <p:spTgt spid="27700"/>
                                        </p:tgtEl>
                                        <p:attrNameLst>
                                          <p:attrName>style.visibility</p:attrName>
                                        </p:attrNameLst>
                                      </p:cBhvr>
                                      <p:to>
                                        <p:strVal val="visible"/>
                                      </p:to>
                                    </p:set>
                                    <p:animEffect transition="in" filter="wipe(down)">
                                      <p:cBhvr>
                                        <p:cTn id="110" dur="500"/>
                                        <p:tgtEl>
                                          <p:spTgt spid="27700"/>
                                        </p:tgtEl>
                                      </p:cBhvr>
                                    </p:animEffect>
                                  </p:childTnLst>
                                </p:cTn>
                              </p:par>
                              <p:par>
                                <p:cTn id="111" presetID="22" presetClass="entr" presetSubtype="4" fill="hold" grpId="0" nodeType="withEffect">
                                  <p:stCondLst>
                                    <p:cond delay="0"/>
                                  </p:stCondLst>
                                  <p:childTnLst>
                                    <p:set>
                                      <p:cBhvr>
                                        <p:cTn id="112" dur="1" fill="hold">
                                          <p:stCondLst>
                                            <p:cond delay="0"/>
                                          </p:stCondLst>
                                        </p:cTn>
                                        <p:tgtEl>
                                          <p:spTgt spid="27701"/>
                                        </p:tgtEl>
                                        <p:attrNameLst>
                                          <p:attrName>style.visibility</p:attrName>
                                        </p:attrNameLst>
                                      </p:cBhvr>
                                      <p:to>
                                        <p:strVal val="visible"/>
                                      </p:to>
                                    </p:set>
                                    <p:animEffect transition="in" filter="wipe(down)">
                                      <p:cBhvr>
                                        <p:cTn id="113" dur="500"/>
                                        <p:tgtEl>
                                          <p:spTgt spid="27701"/>
                                        </p:tgtEl>
                                      </p:cBhvr>
                                    </p:animEffect>
                                  </p:childTnLst>
                                </p:cTn>
                              </p:par>
                              <p:par>
                                <p:cTn id="114" presetID="22" presetClass="entr" presetSubtype="4" fill="hold" grpId="0" nodeType="withEffect">
                                  <p:stCondLst>
                                    <p:cond delay="0"/>
                                  </p:stCondLst>
                                  <p:childTnLst>
                                    <p:set>
                                      <p:cBhvr>
                                        <p:cTn id="115" dur="1" fill="hold">
                                          <p:stCondLst>
                                            <p:cond delay="0"/>
                                          </p:stCondLst>
                                        </p:cTn>
                                        <p:tgtEl>
                                          <p:spTgt spid="27702"/>
                                        </p:tgtEl>
                                        <p:attrNameLst>
                                          <p:attrName>style.visibility</p:attrName>
                                        </p:attrNameLst>
                                      </p:cBhvr>
                                      <p:to>
                                        <p:strVal val="visible"/>
                                      </p:to>
                                    </p:set>
                                    <p:animEffect transition="in" filter="wipe(down)">
                                      <p:cBhvr>
                                        <p:cTn id="116" dur="500"/>
                                        <p:tgtEl>
                                          <p:spTgt spid="27702"/>
                                        </p:tgtEl>
                                      </p:cBhvr>
                                    </p:animEffect>
                                  </p:childTnLst>
                                </p:cTn>
                              </p:par>
                            </p:childTnLst>
                          </p:cTn>
                        </p:par>
                      </p:childTnLst>
                    </p:cTn>
                  </p:par>
                  <p:par>
                    <p:cTn id="117" fill="hold">
                      <p:stCondLst>
                        <p:cond delay="indefinite"/>
                      </p:stCondLst>
                      <p:childTnLst>
                        <p:par>
                          <p:cTn id="118" fill="hold">
                            <p:stCondLst>
                              <p:cond delay="0"/>
                            </p:stCondLst>
                            <p:childTnLst>
                              <p:par>
                                <p:cTn id="119" presetID="3" presetClass="entr" presetSubtype="10" fill="hold" grpId="0" nodeType="clickEffect">
                                  <p:stCondLst>
                                    <p:cond delay="0"/>
                                  </p:stCondLst>
                                  <p:childTnLst>
                                    <p:set>
                                      <p:cBhvr>
                                        <p:cTn id="120" dur="1" fill="hold">
                                          <p:stCondLst>
                                            <p:cond delay="0"/>
                                          </p:stCondLst>
                                        </p:cTn>
                                        <p:tgtEl>
                                          <p:spTgt spid="39"/>
                                        </p:tgtEl>
                                        <p:attrNameLst>
                                          <p:attrName>style.visibility</p:attrName>
                                        </p:attrNameLst>
                                      </p:cBhvr>
                                      <p:to>
                                        <p:strVal val="visible"/>
                                      </p:to>
                                    </p:set>
                                    <p:animEffect transition="in" filter="blinds(horizontal)">
                                      <p:cBhvr>
                                        <p:cTn id="121" dur="500"/>
                                        <p:tgtEl>
                                          <p:spTgt spid="39"/>
                                        </p:tgtEl>
                                      </p:cBhvr>
                                    </p:animEffect>
                                  </p:childTnLst>
                                </p:cTn>
                              </p:par>
                              <p:par>
                                <p:cTn id="122" presetID="3" presetClass="entr" presetSubtype="10" fill="hold" grpId="0" nodeType="withEffect">
                                  <p:stCondLst>
                                    <p:cond delay="0"/>
                                  </p:stCondLst>
                                  <p:childTnLst>
                                    <p:set>
                                      <p:cBhvr>
                                        <p:cTn id="123" dur="1" fill="hold">
                                          <p:stCondLst>
                                            <p:cond delay="0"/>
                                          </p:stCondLst>
                                        </p:cTn>
                                        <p:tgtEl>
                                          <p:spTgt spid="40"/>
                                        </p:tgtEl>
                                        <p:attrNameLst>
                                          <p:attrName>style.visibility</p:attrName>
                                        </p:attrNameLst>
                                      </p:cBhvr>
                                      <p:to>
                                        <p:strVal val="visible"/>
                                      </p:to>
                                    </p:set>
                                    <p:animEffect transition="in" filter="blinds(horizontal)">
                                      <p:cBhvr>
                                        <p:cTn id="124"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4" grpId="0"/>
      <p:bldP spid="27660" grpId="0"/>
      <p:bldP spid="27664" grpId="0"/>
      <p:bldP spid="27666" grpId="0"/>
      <p:bldP spid="27667" grpId="0" animBg="1"/>
      <p:bldP spid="27673" grpId="0"/>
      <p:bldP spid="27687" grpId="0" animBg="1"/>
      <p:bldP spid="27688" grpId="0"/>
      <p:bldP spid="27690" grpId="0" animBg="1"/>
      <p:bldP spid="27695" grpId="0"/>
      <p:bldP spid="27696" grpId="0"/>
      <p:bldP spid="27697" grpId="0"/>
      <p:bldP spid="27698" grpId="0"/>
      <p:bldP spid="27699" grpId="0"/>
      <p:bldP spid="27700" grpId="0"/>
      <p:bldP spid="27701" grpId="0"/>
      <p:bldP spid="27702" grpId="0"/>
      <p:bldP spid="39" grpId="0"/>
      <p:bldP spid="4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5">
            <a:extLst>
              <a:ext uri="{FF2B5EF4-FFF2-40B4-BE49-F238E27FC236}">
                <a16:creationId xmlns:a16="http://schemas.microsoft.com/office/drawing/2014/main" id="{F5642E8C-FD90-47FB-9533-A90C5141EDEF}"/>
              </a:ext>
            </a:extLst>
          </p:cNvPr>
          <p:cNvSpPr txBox="1">
            <a:spLocks noGrp="1" noChangeArrowheads="1"/>
          </p:cNvSpPr>
          <p:nvPr>
            <p:ph type="ctrTitle"/>
          </p:nvPr>
        </p:nvSpPr>
        <p:spPr bwMode="auto">
          <a:xfrm>
            <a:off x="2589213" y="1619547"/>
            <a:ext cx="89154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lang="es-MX" altLang="es-AR" dirty="0">
                <a:effectLst>
                  <a:outerShdw blurRad="38100" dist="38100" dir="2700000" algn="tl">
                    <a:srgbClr val="C0C0C0"/>
                  </a:outerShdw>
                </a:effectLst>
                <a:latin typeface="Tahoma" pitchFamily="34" charset="0"/>
                <a:cs typeface="Arial" charset="0"/>
              </a:rPr>
              <a:t>SISTEMAS DE COSTEO</a:t>
            </a:r>
          </a:p>
        </p:txBody>
      </p:sp>
      <p:sp>
        <p:nvSpPr>
          <p:cNvPr id="5" name="Text Box 26">
            <a:extLst>
              <a:ext uri="{FF2B5EF4-FFF2-40B4-BE49-F238E27FC236}">
                <a16:creationId xmlns:a16="http://schemas.microsoft.com/office/drawing/2014/main" id="{27735A57-3B03-42B6-BDFC-E5E8B31EF7BE}"/>
              </a:ext>
            </a:extLst>
          </p:cNvPr>
          <p:cNvSpPr txBox="1">
            <a:spLocks noGrp="1" noChangeArrowheads="1"/>
          </p:cNvSpPr>
          <p:nvPr>
            <p:ph type="subTitle" idx="1"/>
          </p:nvPr>
        </p:nvSpPr>
        <p:spPr bwMode="auto">
          <a:xfrm>
            <a:off x="2581141" y="4125224"/>
            <a:ext cx="89154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lang="es-MX" altLang="es-AR" sz="4400" dirty="0">
                <a:effectLst>
                  <a:outerShdw blurRad="38100" dist="38100" dir="2700000" algn="tl">
                    <a:srgbClr val="C0C0C0"/>
                  </a:outerShdw>
                </a:effectLst>
                <a:latin typeface="Tahoma" pitchFamily="34" charset="0"/>
                <a:cs typeface="Arial" charset="0"/>
              </a:rPr>
              <a:t>Clasificación</a:t>
            </a:r>
          </a:p>
        </p:txBody>
      </p:sp>
      <p:sp>
        <p:nvSpPr>
          <p:cNvPr id="7" name="Marcador de número de diapositiva 6">
            <a:extLst>
              <a:ext uri="{FF2B5EF4-FFF2-40B4-BE49-F238E27FC236}">
                <a16:creationId xmlns:a16="http://schemas.microsoft.com/office/drawing/2014/main" id="{33674575-47D4-476C-8772-8197234BCF0D}"/>
              </a:ext>
            </a:extLst>
          </p:cNvPr>
          <p:cNvSpPr>
            <a:spLocks noGrp="1"/>
          </p:cNvSpPr>
          <p:nvPr>
            <p:ph type="sldNum" sz="quarter" idx="12"/>
          </p:nvPr>
        </p:nvSpPr>
        <p:spPr/>
        <p:txBody>
          <a:bodyPr/>
          <a:lstStyle/>
          <a:p>
            <a:fld id="{D57F1E4F-1CFF-5643-939E-217C01CDF565}" type="slidenum">
              <a:rPr lang="en-US" smtClean="0"/>
              <a:pPr/>
              <a:t>13</a:t>
            </a:fld>
            <a:endParaRPr lang="en-US" dirty="0"/>
          </a:p>
        </p:txBody>
      </p:sp>
    </p:spTree>
    <p:extLst>
      <p:ext uri="{BB962C8B-B14F-4D97-AF65-F5344CB8AC3E}">
        <p14:creationId xmlns:p14="http://schemas.microsoft.com/office/powerpoint/2010/main" val="34568777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Text Box 5">
            <a:extLst>
              <a:ext uri="{FF2B5EF4-FFF2-40B4-BE49-F238E27FC236}">
                <a16:creationId xmlns:a16="http://schemas.microsoft.com/office/drawing/2014/main" id="{B07BBF3A-9DE6-43F6-A4D9-04BB009091C2}"/>
              </a:ext>
            </a:extLst>
          </p:cNvPr>
          <p:cNvSpPr txBox="1">
            <a:spLocks noChangeArrowheads="1"/>
          </p:cNvSpPr>
          <p:nvPr/>
        </p:nvSpPr>
        <p:spPr bwMode="auto">
          <a:xfrm>
            <a:off x="1387476" y="257175"/>
            <a:ext cx="75168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85000"/>
                    <a:lumOff val="15000"/>
                  </a:schemeClr>
                </a:solidFill>
                <a:latin typeface="+mj-lt"/>
                <a:cs typeface="Arial" charset="0"/>
              </a:rPr>
              <a:t>SISTEMAS DE COSTEO</a:t>
            </a:r>
          </a:p>
        </p:txBody>
      </p:sp>
      <p:sp>
        <p:nvSpPr>
          <p:cNvPr id="8199" name="Rectangle 7">
            <a:extLst>
              <a:ext uri="{FF2B5EF4-FFF2-40B4-BE49-F238E27FC236}">
                <a16:creationId xmlns:a16="http://schemas.microsoft.com/office/drawing/2014/main" id="{9DBF1203-1D9D-4EA6-BF86-FF735D0FF252}"/>
              </a:ext>
            </a:extLst>
          </p:cNvPr>
          <p:cNvSpPr>
            <a:spLocks noChangeArrowheads="1"/>
          </p:cNvSpPr>
          <p:nvPr/>
        </p:nvSpPr>
        <p:spPr bwMode="auto">
          <a:xfrm>
            <a:off x="1143000" y="1341437"/>
            <a:ext cx="9906000" cy="935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just" eaLnBrk="1" hangingPunct="1">
              <a:defRPr/>
            </a:pPr>
            <a:r>
              <a:rPr lang="es-AR" altLang="es-AR" sz="2000" dirty="0">
                <a:latin typeface="+mj-lt"/>
              </a:rPr>
              <a:t>Se denomina </a:t>
            </a:r>
            <a:r>
              <a:rPr lang="es-AR" altLang="es-AR" sz="2000" b="1" dirty="0">
                <a:solidFill>
                  <a:schemeClr val="tx1">
                    <a:lumMod val="85000"/>
                    <a:lumOff val="15000"/>
                  </a:schemeClr>
                </a:solidFill>
                <a:latin typeface="+mj-lt"/>
              </a:rPr>
              <a:t>Sistema de Costeo </a:t>
            </a:r>
            <a:r>
              <a:rPr lang="es-AR" altLang="es-AR" sz="2000" dirty="0">
                <a:latin typeface="+mj-lt"/>
              </a:rPr>
              <a:t>al “registro ordenado de los valores del costo a medida que se van produciendo”</a:t>
            </a:r>
            <a:endParaRPr lang="es-ES" altLang="es-AR" sz="2000" dirty="0">
              <a:latin typeface="+mj-lt"/>
            </a:endParaRPr>
          </a:p>
        </p:txBody>
      </p:sp>
      <p:sp>
        <p:nvSpPr>
          <p:cNvPr id="8200" name="Rectangle 8">
            <a:extLst>
              <a:ext uri="{FF2B5EF4-FFF2-40B4-BE49-F238E27FC236}">
                <a16:creationId xmlns:a16="http://schemas.microsoft.com/office/drawing/2014/main" id="{1964B4BE-3F24-40A6-AE7B-382AF276AC33}"/>
              </a:ext>
            </a:extLst>
          </p:cNvPr>
          <p:cNvSpPr>
            <a:spLocks noChangeArrowheads="1"/>
          </p:cNvSpPr>
          <p:nvPr/>
        </p:nvSpPr>
        <p:spPr bwMode="auto">
          <a:xfrm>
            <a:off x="1127125" y="2492375"/>
            <a:ext cx="9906000" cy="187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dirty="0">
                <a:latin typeface="+mj-lt"/>
              </a:rPr>
              <a:t>El objetivo es determinar el costo de la mercadería vendida y la valuación del inventario y mantener el control para la corrección de los </a:t>
            </a:r>
            <a:r>
              <a:rPr lang="es-AR" altLang="es-AR" sz="2000" dirty="0" err="1">
                <a:latin typeface="+mj-lt"/>
              </a:rPr>
              <a:t>desvios</a:t>
            </a:r>
            <a:endParaRPr lang="es-ES" altLang="es-AR" sz="2000" dirty="0">
              <a:latin typeface="+mj-lt"/>
            </a:endParaRPr>
          </a:p>
        </p:txBody>
      </p:sp>
      <p:sp>
        <p:nvSpPr>
          <p:cNvPr id="8201" name="Rectangle 9">
            <a:extLst>
              <a:ext uri="{FF2B5EF4-FFF2-40B4-BE49-F238E27FC236}">
                <a16:creationId xmlns:a16="http://schemas.microsoft.com/office/drawing/2014/main" id="{EE84D9CB-0804-4338-8F3D-B07E8545296C}"/>
              </a:ext>
            </a:extLst>
          </p:cNvPr>
          <p:cNvSpPr>
            <a:spLocks noChangeArrowheads="1"/>
          </p:cNvSpPr>
          <p:nvPr/>
        </p:nvSpPr>
        <p:spPr bwMode="auto">
          <a:xfrm>
            <a:off x="1143000" y="3769468"/>
            <a:ext cx="9906000" cy="1386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dirty="0">
                <a:latin typeface="+mj-lt"/>
              </a:rPr>
              <a:t>Nos ocuparemos de los </a:t>
            </a:r>
            <a:r>
              <a:rPr lang="es-AR" altLang="es-AR" sz="2000" b="1" dirty="0">
                <a:solidFill>
                  <a:schemeClr val="tx1">
                    <a:lumMod val="85000"/>
                    <a:lumOff val="15000"/>
                  </a:schemeClr>
                </a:solidFill>
                <a:latin typeface="+mj-lt"/>
              </a:rPr>
              <a:t>Costos Históricos</a:t>
            </a:r>
            <a:r>
              <a:rPr lang="es-AR" altLang="es-AR" sz="2000" b="1" dirty="0">
                <a:latin typeface="+mj-lt"/>
              </a:rPr>
              <a:t>, </a:t>
            </a:r>
            <a:r>
              <a:rPr lang="es-AR" altLang="es-AR" sz="2000" dirty="0">
                <a:latin typeface="+mj-lt"/>
              </a:rPr>
              <a:t>estos</a:t>
            </a:r>
            <a:r>
              <a:rPr lang="es-AR" altLang="es-AR" sz="2000" b="1" dirty="0">
                <a:latin typeface="+mj-lt"/>
              </a:rPr>
              <a:t> </a:t>
            </a:r>
            <a:r>
              <a:rPr lang="es-AR" altLang="es-AR" sz="2000" dirty="0">
                <a:latin typeface="+mj-lt"/>
              </a:rPr>
              <a:t>se basan en Costos Reales, dado que se determinan luego de que las operaciones tuvieron lugar, en base a cantidades y precios conocidos.</a:t>
            </a:r>
            <a:endParaRPr lang="es-ES" altLang="es-AR" sz="2000" dirty="0">
              <a:latin typeface="+mj-lt"/>
            </a:endParaRPr>
          </a:p>
        </p:txBody>
      </p:sp>
      <p:sp>
        <p:nvSpPr>
          <p:cNvPr id="2" name="Marcador de número de diapositiva 1">
            <a:extLst>
              <a:ext uri="{FF2B5EF4-FFF2-40B4-BE49-F238E27FC236}">
                <a16:creationId xmlns:a16="http://schemas.microsoft.com/office/drawing/2014/main" id="{2ACAACF1-F24D-417C-B894-9FBE3EABDDA3}"/>
              </a:ext>
            </a:extLst>
          </p:cNvPr>
          <p:cNvSpPr>
            <a:spLocks noGrp="1"/>
          </p:cNvSpPr>
          <p:nvPr>
            <p:ph type="sldNum" sz="quarter" idx="12"/>
          </p:nvPr>
        </p:nvSpPr>
        <p:spPr/>
        <p:txBody>
          <a:bodyPr/>
          <a:lstStyle/>
          <a:p>
            <a:fld id="{D57F1E4F-1CFF-5643-939E-217C01CDF565}" type="slidenum">
              <a:rPr lang="en-US" smtClean="0"/>
              <a:pPr/>
              <a:t>14</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20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2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9" grpId="0"/>
      <p:bldP spid="8200" grpId="0"/>
      <p:bldP spid="820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Text Box 5">
            <a:extLst>
              <a:ext uri="{FF2B5EF4-FFF2-40B4-BE49-F238E27FC236}">
                <a16:creationId xmlns:a16="http://schemas.microsoft.com/office/drawing/2014/main" id="{A032F0E3-5600-443F-B99D-8CBFACF7D2B4}"/>
              </a:ext>
            </a:extLst>
          </p:cNvPr>
          <p:cNvSpPr txBox="1">
            <a:spLocks noChangeArrowheads="1"/>
          </p:cNvSpPr>
          <p:nvPr/>
        </p:nvSpPr>
        <p:spPr bwMode="auto">
          <a:xfrm>
            <a:off x="1387476" y="185738"/>
            <a:ext cx="8164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85000"/>
                    <a:lumOff val="15000"/>
                  </a:schemeClr>
                </a:solidFill>
                <a:latin typeface="+mj-lt"/>
                <a:cs typeface="Arial" charset="0"/>
              </a:rPr>
              <a:t>PRINCIPALES SISTEMAS DE COSTEO</a:t>
            </a:r>
          </a:p>
        </p:txBody>
      </p:sp>
      <p:sp>
        <p:nvSpPr>
          <p:cNvPr id="7175" name="Rectangle 7">
            <a:extLst>
              <a:ext uri="{FF2B5EF4-FFF2-40B4-BE49-F238E27FC236}">
                <a16:creationId xmlns:a16="http://schemas.microsoft.com/office/drawing/2014/main" id="{C88FFE47-04D6-4F57-A1E4-354D83C0C470}"/>
              </a:ext>
            </a:extLst>
          </p:cNvPr>
          <p:cNvSpPr>
            <a:spLocks noChangeArrowheads="1"/>
          </p:cNvSpPr>
          <p:nvPr/>
        </p:nvSpPr>
        <p:spPr bwMode="auto">
          <a:xfrm>
            <a:off x="1216025" y="3140869"/>
            <a:ext cx="2000250"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eaLnBrk="1" hangingPunct="1">
              <a:defRPr/>
            </a:pPr>
            <a:r>
              <a:rPr lang="es-AR" altLang="es-AR" sz="2000" b="1" dirty="0">
                <a:latin typeface="+mj-lt"/>
              </a:rPr>
              <a:t>Sistemas de Costeo</a:t>
            </a:r>
            <a:endParaRPr lang="es-ES" altLang="es-AR" sz="2000" b="1" dirty="0">
              <a:latin typeface="+mj-lt"/>
            </a:endParaRPr>
          </a:p>
        </p:txBody>
      </p:sp>
      <p:sp>
        <p:nvSpPr>
          <p:cNvPr id="7176" name="Rectangle 8">
            <a:extLst>
              <a:ext uri="{FF2B5EF4-FFF2-40B4-BE49-F238E27FC236}">
                <a16:creationId xmlns:a16="http://schemas.microsoft.com/office/drawing/2014/main" id="{62D72D04-326A-4D15-9207-44A0DFA4BD61}"/>
              </a:ext>
            </a:extLst>
          </p:cNvPr>
          <p:cNvSpPr>
            <a:spLocks noChangeArrowheads="1"/>
          </p:cNvSpPr>
          <p:nvPr/>
        </p:nvSpPr>
        <p:spPr bwMode="auto">
          <a:xfrm>
            <a:off x="3216276" y="1845469"/>
            <a:ext cx="1326541"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dirty="0">
                <a:latin typeface="+mj-lt"/>
              </a:rPr>
              <a:t>Costos</a:t>
            </a:r>
          </a:p>
          <a:p>
            <a:pPr algn="l" eaLnBrk="1" hangingPunct="1">
              <a:defRPr/>
            </a:pPr>
            <a:r>
              <a:rPr lang="es-AR" altLang="es-AR" sz="2000" dirty="0">
                <a:latin typeface="+mj-lt"/>
              </a:rPr>
              <a:t>Históricos</a:t>
            </a:r>
            <a:endParaRPr lang="es-ES" altLang="es-AR" sz="2000" dirty="0">
              <a:latin typeface="+mj-lt"/>
            </a:endParaRPr>
          </a:p>
        </p:txBody>
      </p:sp>
      <p:sp>
        <p:nvSpPr>
          <p:cNvPr id="7177" name="Rectangle 9">
            <a:extLst>
              <a:ext uri="{FF2B5EF4-FFF2-40B4-BE49-F238E27FC236}">
                <a16:creationId xmlns:a16="http://schemas.microsoft.com/office/drawing/2014/main" id="{48A3CFC2-EBC6-49B3-BCB5-B299D5A88F26}"/>
              </a:ext>
            </a:extLst>
          </p:cNvPr>
          <p:cNvSpPr>
            <a:spLocks noChangeArrowheads="1"/>
          </p:cNvSpPr>
          <p:nvPr/>
        </p:nvSpPr>
        <p:spPr bwMode="auto">
          <a:xfrm>
            <a:off x="4872039" y="1555750"/>
            <a:ext cx="5196089"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dirty="0">
                <a:latin typeface="+mj-lt"/>
              </a:rPr>
              <a:t>Costeo Integral o por Absorción</a:t>
            </a:r>
            <a:endParaRPr lang="es-ES" altLang="es-AR" sz="2000" dirty="0">
              <a:latin typeface="+mj-lt"/>
            </a:endParaRPr>
          </a:p>
        </p:txBody>
      </p:sp>
      <p:sp>
        <p:nvSpPr>
          <p:cNvPr id="7178" name="Rectangle 10">
            <a:extLst>
              <a:ext uri="{FF2B5EF4-FFF2-40B4-BE49-F238E27FC236}">
                <a16:creationId xmlns:a16="http://schemas.microsoft.com/office/drawing/2014/main" id="{E9EF6C70-9D57-4E99-A57E-581AAE550BF1}"/>
              </a:ext>
            </a:extLst>
          </p:cNvPr>
          <p:cNvSpPr>
            <a:spLocks noChangeArrowheads="1"/>
          </p:cNvSpPr>
          <p:nvPr/>
        </p:nvSpPr>
        <p:spPr bwMode="auto">
          <a:xfrm>
            <a:off x="9340922" y="1141709"/>
            <a:ext cx="2195748"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dirty="0">
                <a:latin typeface="+mj-lt"/>
              </a:rPr>
              <a:t>Por órdenes</a:t>
            </a:r>
            <a:endParaRPr lang="es-ES" altLang="es-AR" sz="2000" dirty="0">
              <a:latin typeface="+mj-lt"/>
            </a:endParaRPr>
          </a:p>
        </p:txBody>
      </p:sp>
      <p:sp>
        <p:nvSpPr>
          <p:cNvPr id="7179" name="Rectangle 11">
            <a:extLst>
              <a:ext uri="{FF2B5EF4-FFF2-40B4-BE49-F238E27FC236}">
                <a16:creationId xmlns:a16="http://schemas.microsoft.com/office/drawing/2014/main" id="{56A4D9EA-7A7A-4323-AFF9-8F6AD6B08709}"/>
              </a:ext>
            </a:extLst>
          </p:cNvPr>
          <p:cNvSpPr>
            <a:spLocks noChangeArrowheads="1"/>
          </p:cNvSpPr>
          <p:nvPr/>
        </p:nvSpPr>
        <p:spPr bwMode="auto">
          <a:xfrm>
            <a:off x="9356797" y="1933871"/>
            <a:ext cx="185886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dirty="0">
                <a:latin typeface="+mj-lt"/>
              </a:rPr>
              <a:t>Por proceso</a:t>
            </a:r>
            <a:endParaRPr lang="es-ES" altLang="es-AR" sz="2000" dirty="0">
              <a:latin typeface="+mj-lt"/>
            </a:endParaRPr>
          </a:p>
        </p:txBody>
      </p:sp>
      <p:sp>
        <p:nvSpPr>
          <p:cNvPr id="7180" name="Rectangle 12">
            <a:extLst>
              <a:ext uri="{FF2B5EF4-FFF2-40B4-BE49-F238E27FC236}">
                <a16:creationId xmlns:a16="http://schemas.microsoft.com/office/drawing/2014/main" id="{B63FD84B-130F-4EBF-B54C-6BF3899A0485}"/>
              </a:ext>
            </a:extLst>
          </p:cNvPr>
          <p:cNvSpPr>
            <a:spLocks noChangeArrowheads="1"/>
          </p:cNvSpPr>
          <p:nvPr/>
        </p:nvSpPr>
        <p:spPr bwMode="auto">
          <a:xfrm>
            <a:off x="4872038" y="2563812"/>
            <a:ext cx="4537076"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dirty="0">
                <a:latin typeface="+mj-lt"/>
              </a:rPr>
              <a:t>Costeo Directo o Variable</a:t>
            </a:r>
            <a:endParaRPr lang="es-ES" altLang="es-AR" sz="2000" dirty="0">
              <a:latin typeface="+mj-lt"/>
            </a:endParaRPr>
          </a:p>
        </p:txBody>
      </p:sp>
      <p:sp>
        <p:nvSpPr>
          <p:cNvPr id="7181" name="Rectangle 13">
            <a:extLst>
              <a:ext uri="{FF2B5EF4-FFF2-40B4-BE49-F238E27FC236}">
                <a16:creationId xmlns:a16="http://schemas.microsoft.com/office/drawing/2014/main" id="{DFB439FD-0511-46D3-9A51-B1165E252787}"/>
              </a:ext>
            </a:extLst>
          </p:cNvPr>
          <p:cNvSpPr>
            <a:spLocks noChangeArrowheads="1"/>
          </p:cNvSpPr>
          <p:nvPr/>
        </p:nvSpPr>
        <p:spPr bwMode="auto">
          <a:xfrm>
            <a:off x="3169799" y="3402511"/>
            <a:ext cx="2411109"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dirty="0">
                <a:latin typeface="+mj-lt"/>
              </a:rPr>
              <a:t>Costos</a:t>
            </a:r>
          </a:p>
          <a:p>
            <a:pPr algn="l" eaLnBrk="1" hangingPunct="1">
              <a:defRPr/>
            </a:pPr>
            <a:r>
              <a:rPr lang="es-AR" altLang="es-AR" sz="2000" dirty="0">
                <a:latin typeface="+mj-lt"/>
              </a:rPr>
              <a:t>Predeterminados</a:t>
            </a:r>
            <a:endParaRPr lang="es-ES" altLang="es-AR" sz="2000" dirty="0">
              <a:latin typeface="+mj-lt"/>
            </a:endParaRPr>
          </a:p>
        </p:txBody>
      </p:sp>
      <p:sp>
        <p:nvSpPr>
          <p:cNvPr id="7182" name="Rectangle 14">
            <a:extLst>
              <a:ext uri="{FF2B5EF4-FFF2-40B4-BE49-F238E27FC236}">
                <a16:creationId xmlns:a16="http://schemas.microsoft.com/office/drawing/2014/main" id="{4D78B60A-A4A7-423C-B1F4-44E277258D43}"/>
              </a:ext>
            </a:extLst>
          </p:cNvPr>
          <p:cNvSpPr>
            <a:spLocks noChangeArrowheads="1"/>
          </p:cNvSpPr>
          <p:nvPr/>
        </p:nvSpPr>
        <p:spPr bwMode="auto">
          <a:xfrm>
            <a:off x="5915669" y="3392486"/>
            <a:ext cx="287972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dirty="0">
                <a:latin typeface="+mj-lt"/>
              </a:rPr>
              <a:t>Costos Estimados</a:t>
            </a:r>
            <a:endParaRPr lang="es-ES" altLang="es-AR" sz="2000" dirty="0">
              <a:latin typeface="+mj-lt"/>
            </a:endParaRPr>
          </a:p>
        </p:txBody>
      </p:sp>
      <p:sp>
        <p:nvSpPr>
          <p:cNvPr id="7183" name="Rectangle 15">
            <a:extLst>
              <a:ext uri="{FF2B5EF4-FFF2-40B4-BE49-F238E27FC236}">
                <a16:creationId xmlns:a16="http://schemas.microsoft.com/office/drawing/2014/main" id="{BC931A03-C037-402C-A715-BA480795F562}"/>
              </a:ext>
            </a:extLst>
          </p:cNvPr>
          <p:cNvSpPr>
            <a:spLocks noChangeArrowheads="1"/>
          </p:cNvSpPr>
          <p:nvPr/>
        </p:nvSpPr>
        <p:spPr bwMode="auto">
          <a:xfrm>
            <a:off x="5915669" y="4040186"/>
            <a:ext cx="299723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dirty="0">
                <a:latin typeface="+mj-lt"/>
              </a:rPr>
              <a:t>Costos Standard</a:t>
            </a:r>
            <a:endParaRPr lang="es-ES" altLang="es-AR" sz="2000" dirty="0">
              <a:latin typeface="+mj-lt"/>
            </a:endParaRPr>
          </a:p>
        </p:txBody>
      </p:sp>
      <p:sp>
        <p:nvSpPr>
          <p:cNvPr id="7184" name="Rectangle 16">
            <a:extLst>
              <a:ext uri="{FF2B5EF4-FFF2-40B4-BE49-F238E27FC236}">
                <a16:creationId xmlns:a16="http://schemas.microsoft.com/office/drawing/2014/main" id="{EF704A12-B692-4536-BF74-DE6BEED71E83}"/>
              </a:ext>
            </a:extLst>
          </p:cNvPr>
          <p:cNvSpPr>
            <a:spLocks noChangeArrowheads="1"/>
          </p:cNvSpPr>
          <p:nvPr/>
        </p:nvSpPr>
        <p:spPr bwMode="auto">
          <a:xfrm>
            <a:off x="3216274" y="4941094"/>
            <a:ext cx="762476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dirty="0">
                <a:latin typeface="+mj-lt"/>
              </a:rPr>
              <a:t>Sistema de Costeo Basado en Actividades (ABC)</a:t>
            </a:r>
            <a:endParaRPr lang="es-ES" altLang="es-AR" sz="2000" dirty="0">
              <a:latin typeface="+mj-lt"/>
            </a:endParaRPr>
          </a:p>
        </p:txBody>
      </p:sp>
      <p:sp>
        <p:nvSpPr>
          <p:cNvPr id="7185" name="AutoShape 17">
            <a:extLst>
              <a:ext uri="{FF2B5EF4-FFF2-40B4-BE49-F238E27FC236}">
                <a16:creationId xmlns:a16="http://schemas.microsoft.com/office/drawing/2014/main" id="{D347BADA-5352-4D3C-B095-3919A020B59C}"/>
              </a:ext>
            </a:extLst>
          </p:cNvPr>
          <p:cNvSpPr>
            <a:spLocks/>
          </p:cNvSpPr>
          <p:nvPr/>
        </p:nvSpPr>
        <p:spPr bwMode="auto">
          <a:xfrm>
            <a:off x="3143251" y="1266826"/>
            <a:ext cx="73025" cy="4681537"/>
          </a:xfrm>
          <a:prstGeom prst="leftBrace">
            <a:avLst>
              <a:gd name="adj1" fmla="val 534239"/>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latin typeface="+mj-lt"/>
            </a:endParaRPr>
          </a:p>
        </p:txBody>
      </p:sp>
      <p:sp>
        <p:nvSpPr>
          <p:cNvPr id="7186" name="AutoShape 18">
            <a:extLst>
              <a:ext uri="{FF2B5EF4-FFF2-40B4-BE49-F238E27FC236}">
                <a16:creationId xmlns:a16="http://schemas.microsoft.com/office/drawing/2014/main" id="{C4EA63D3-893C-4000-B188-D888C7DAAB36}"/>
              </a:ext>
            </a:extLst>
          </p:cNvPr>
          <p:cNvSpPr>
            <a:spLocks/>
          </p:cNvSpPr>
          <p:nvPr/>
        </p:nvSpPr>
        <p:spPr bwMode="auto">
          <a:xfrm>
            <a:off x="4800600" y="1482725"/>
            <a:ext cx="71438" cy="1511300"/>
          </a:xfrm>
          <a:prstGeom prst="leftBrace">
            <a:avLst>
              <a:gd name="adj1" fmla="val 176295"/>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latin typeface="+mj-lt"/>
            </a:endParaRPr>
          </a:p>
        </p:txBody>
      </p:sp>
      <p:sp>
        <p:nvSpPr>
          <p:cNvPr id="7187" name="AutoShape 19">
            <a:extLst>
              <a:ext uri="{FF2B5EF4-FFF2-40B4-BE49-F238E27FC236}">
                <a16:creationId xmlns:a16="http://schemas.microsoft.com/office/drawing/2014/main" id="{148EBE66-0325-475F-B40A-A7D56B2E122A}"/>
              </a:ext>
            </a:extLst>
          </p:cNvPr>
          <p:cNvSpPr>
            <a:spLocks/>
          </p:cNvSpPr>
          <p:nvPr/>
        </p:nvSpPr>
        <p:spPr bwMode="auto">
          <a:xfrm>
            <a:off x="5814069" y="3321049"/>
            <a:ext cx="73025" cy="1223963"/>
          </a:xfrm>
          <a:prstGeom prst="leftBrace">
            <a:avLst>
              <a:gd name="adj1" fmla="val 139674"/>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latin typeface="+mj-lt"/>
            </a:endParaRPr>
          </a:p>
        </p:txBody>
      </p:sp>
      <p:sp>
        <p:nvSpPr>
          <p:cNvPr id="7188" name="AutoShape 20">
            <a:extLst>
              <a:ext uri="{FF2B5EF4-FFF2-40B4-BE49-F238E27FC236}">
                <a16:creationId xmlns:a16="http://schemas.microsoft.com/office/drawing/2014/main" id="{D3CFAAB8-3C06-433C-BBB2-FDAD796FECBF}"/>
              </a:ext>
            </a:extLst>
          </p:cNvPr>
          <p:cNvSpPr>
            <a:spLocks/>
          </p:cNvSpPr>
          <p:nvPr/>
        </p:nvSpPr>
        <p:spPr bwMode="auto">
          <a:xfrm>
            <a:off x="9340921" y="1060747"/>
            <a:ext cx="87313" cy="1296987"/>
          </a:xfrm>
          <a:prstGeom prst="leftBrace">
            <a:avLst>
              <a:gd name="adj1" fmla="val 12378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latin typeface="+mj-lt"/>
            </a:endParaRPr>
          </a:p>
        </p:txBody>
      </p:sp>
      <p:sp>
        <p:nvSpPr>
          <p:cNvPr id="7192" name="Rectangle 24">
            <a:extLst>
              <a:ext uri="{FF2B5EF4-FFF2-40B4-BE49-F238E27FC236}">
                <a16:creationId xmlns:a16="http://schemas.microsoft.com/office/drawing/2014/main" id="{F56AE51D-6DC9-47AC-A722-8E6D954E0696}"/>
              </a:ext>
            </a:extLst>
          </p:cNvPr>
          <p:cNvSpPr>
            <a:spLocks noChangeArrowheads="1"/>
          </p:cNvSpPr>
          <p:nvPr/>
        </p:nvSpPr>
        <p:spPr bwMode="auto">
          <a:xfrm>
            <a:off x="3216275" y="5516563"/>
            <a:ext cx="6408738"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2000" dirty="0">
                <a:latin typeface="+mj-lt"/>
              </a:rPr>
              <a:t>Producción Conjunta</a:t>
            </a:r>
            <a:endParaRPr lang="es-ES" altLang="es-AR" sz="2000" dirty="0">
              <a:latin typeface="+mj-lt"/>
            </a:endParaRPr>
          </a:p>
        </p:txBody>
      </p:sp>
      <p:sp>
        <p:nvSpPr>
          <p:cNvPr id="2" name="Marcador de número de diapositiva 1">
            <a:extLst>
              <a:ext uri="{FF2B5EF4-FFF2-40B4-BE49-F238E27FC236}">
                <a16:creationId xmlns:a16="http://schemas.microsoft.com/office/drawing/2014/main" id="{245599A9-5AFE-45D0-A441-DC3E10A27208}"/>
              </a:ext>
            </a:extLst>
          </p:cNvPr>
          <p:cNvSpPr>
            <a:spLocks noGrp="1"/>
          </p:cNvSpPr>
          <p:nvPr>
            <p:ph type="sldNum" sz="quarter" idx="12"/>
          </p:nvPr>
        </p:nvSpPr>
        <p:spPr/>
        <p:txBody>
          <a:bodyPr/>
          <a:lstStyle/>
          <a:p>
            <a:fld id="{D57F1E4F-1CFF-5643-939E-217C01CDF565}" type="slidenum">
              <a:rPr lang="en-US" smtClean="0"/>
              <a:pPr/>
              <a:t>15</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8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176"/>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181"/>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184"/>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18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17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18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178"/>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179"/>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180"/>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18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182"/>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183"/>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1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5" grpId="0"/>
      <p:bldP spid="7176" grpId="0"/>
      <p:bldP spid="7177" grpId="0"/>
      <p:bldP spid="7178" grpId="0"/>
      <p:bldP spid="7179" grpId="0"/>
      <p:bldP spid="7180" grpId="0"/>
      <p:bldP spid="7181" grpId="0"/>
      <p:bldP spid="7182" grpId="0"/>
      <p:bldP spid="7183" grpId="0"/>
      <p:bldP spid="7184" grpId="0"/>
      <p:bldP spid="7185" grpId="0" animBg="1"/>
      <p:bldP spid="7186" grpId="0" animBg="1"/>
      <p:bldP spid="7187" grpId="0" animBg="1"/>
      <p:bldP spid="7188" grpId="0" animBg="1"/>
      <p:bldP spid="719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Text Box 5">
            <a:extLst>
              <a:ext uri="{FF2B5EF4-FFF2-40B4-BE49-F238E27FC236}">
                <a16:creationId xmlns:a16="http://schemas.microsoft.com/office/drawing/2014/main" id="{FC14D97E-B05B-40A4-9F7D-F390F2E5470E}"/>
              </a:ext>
            </a:extLst>
          </p:cNvPr>
          <p:cNvSpPr txBox="1">
            <a:spLocks noChangeArrowheads="1"/>
          </p:cNvSpPr>
          <p:nvPr/>
        </p:nvSpPr>
        <p:spPr bwMode="auto">
          <a:xfrm>
            <a:off x="1387476" y="257175"/>
            <a:ext cx="75168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85000"/>
                    <a:lumOff val="15000"/>
                  </a:schemeClr>
                </a:solidFill>
                <a:latin typeface="+mj-lt"/>
                <a:cs typeface="Arial" charset="0"/>
              </a:rPr>
              <a:t>COSTOS HISTÓRICOS</a:t>
            </a:r>
          </a:p>
        </p:txBody>
      </p:sp>
      <p:sp>
        <p:nvSpPr>
          <p:cNvPr id="6151" name="Rectangle 7">
            <a:extLst>
              <a:ext uri="{FF2B5EF4-FFF2-40B4-BE49-F238E27FC236}">
                <a16:creationId xmlns:a16="http://schemas.microsoft.com/office/drawing/2014/main" id="{1F55DB7F-5A7E-4D2C-8166-490773959246}"/>
              </a:ext>
            </a:extLst>
          </p:cNvPr>
          <p:cNvSpPr>
            <a:spLocks noChangeArrowheads="1"/>
          </p:cNvSpPr>
          <p:nvPr/>
        </p:nvSpPr>
        <p:spPr bwMode="auto">
          <a:xfrm>
            <a:off x="1143000" y="1125537"/>
            <a:ext cx="9906000" cy="215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just" eaLnBrk="1" hangingPunct="1">
              <a:defRPr/>
            </a:pPr>
            <a:r>
              <a:rPr lang="es-AR" altLang="es-AR" sz="2000" b="1" dirty="0">
                <a:latin typeface="+mj-lt"/>
              </a:rPr>
              <a:t>Sistema de Costeo Integral o por Absorción</a:t>
            </a:r>
            <a:r>
              <a:rPr lang="es-AR" altLang="es-AR" sz="2000" dirty="0">
                <a:latin typeface="+mj-lt"/>
              </a:rPr>
              <a:t>: </a:t>
            </a:r>
          </a:p>
          <a:p>
            <a:pPr algn="just" eaLnBrk="1" hangingPunct="1">
              <a:defRPr/>
            </a:pPr>
            <a:r>
              <a:rPr lang="es-AR" altLang="es-AR" sz="2000" dirty="0">
                <a:latin typeface="+mj-lt"/>
              </a:rPr>
              <a:t>registra todos los elementos del costo del lote de producción, no se sustrae nada, todos los cargos son absorbidos por el costeo total. De acuerdo a la recolección de datos este sistema de costeo se puede dividir en:</a:t>
            </a:r>
            <a:endParaRPr lang="es-ES" altLang="es-AR" sz="2000" dirty="0">
              <a:latin typeface="+mj-lt"/>
            </a:endParaRPr>
          </a:p>
        </p:txBody>
      </p:sp>
      <p:sp>
        <p:nvSpPr>
          <p:cNvPr id="6152" name="Rectangle 8">
            <a:extLst>
              <a:ext uri="{FF2B5EF4-FFF2-40B4-BE49-F238E27FC236}">
                <a16:creationId xmlns:a16="http://schemas.microsoft.com/office/drawing/2014/main" id="{7247664E-36A5-40A4-AA5E-526D055EC257}"/>
              </a:ext>
            </a:extLst>
          </p:cNvPr>
          <p:cNvSpPr>
            <a:spLocks noChangeArrowheads="1"/>
          </p:cNvSpPr>
          <p:nvPr/>
        </p:nvSpPr>
        <p:spPr bwMode="auto">
          <a:xfrm>
            <a:off x="1143000" y="2600324"/>
            <a:ext cx="9906000" cy="136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9263" indent="-87313">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819150" indent="-457200" algn="just" eaLnBrk="1" hangingPunct="1">
              <a:spcBef>
                <a:spcPct val="20000"/>
              </a:spcBef>
              <a:buClr>
                <a:srgbClr val="92D050"/>
              </a:buClr>
              <a:buFont typeface="Arial" panose="020B0604020202020204" pitchFamily="34" charset="0"/>
              <a:buChar char="•"/>
            </a:pPr>
            <a:r>
              <a:rPr lang="es-AR" altLang="es-AR" sz="2000" dirty="0">
                <a:latin typeface="+mj-lt"/>
              </a:rPr>
              <a:t>Sistema de Costeo por Ordenes: utilizado para  industrias de ensamblaje, es decir, aquellas industrias de producción no repetitiva (automotriz, electrodomésticos, etc.)</a:t>
            </a:r>
            <a:endParaRPr lang="es-ES" altLang="es-AR" sz="2000" dirty="0">
              <a:latin typeface="+mj-lt"/>
            </a:endParaRPr>
          </a:p>
        </p:txBody>
      </p:sp>
      <p:sp>
        <p:nvSpPr>
          <p:cNvPr id="6153" name="Rectangle 9">
            <a:extLst>
              <a:ext uri="{FF2B5EF4-FFF2-40B4-BE49-F238E27FC236}">
                <a16:creationId xmlns:a16="http://schemas.microsoft.com/office/drawing/2014/main" id="{0FEAD528-C6A0-4CAB-B7BA-9D043B764F2A}"/>
              </a:ext>
            </a:extLst>
          </p:cNvPr>
          <p:cNvSpPr>
            <a:spLocks noChangeArrowheads="1"/>
          </p:cNvSpPr>
          <p:nvPr/>
        </p:nvSpPr>
        <p:spPr bwMode="auto">
          <a:xfrm>
            <a:off x="1099226" y="3749674"/>
            <a:ext cx="9906000" cy="744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9263" indent="-87313">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819150" indent="-457200" algn="just" eaLnBrk="1" hangingPunct="1">
              <a:spcBef>
                <a:spcPct val="20000"/>
              </a:spcBef>
              <a:buClr>
                <a:srgbClr val="92D050"/>
              </a:buClr>
              <a:buFont typeface="Arial" panose="020B0604020202020204" pitchFamily="34" charset="0"/>
              <a:buChar char="•"/>
            </a:pPr>
            <a:r>
              <a:rPr lang="es-AR" altLang="es-AR" sz="2000" dirty="0">
                <a:latin typeface="+mj-lt"/>
              </a:rPr>
              <a:t>Sistema de Costeo por Proceso: utilizado para  industrias de proceso continuo (cementera, papelera, aceitera, etc.)</a:t>
            </a:r>
            <a:endParaRPr lang="es-ES" altLang="es-AR" sz="2000" dirty="0">
              <a:latin typeface="+mj-lt"/>
            </a:endParaRPr>
          </a:p>
        </p:txBody>
      </p:sp>
      <p:sp>
        <p:nvSpPr>
          <p:cNvPr id="6154" name="Rectangle 10">
            <a:extLst>
              <a:ext uri="{FF2B5EF4-FFF2-40B4-BE49-F238E27FC236}">
                <a16:creationId xmlns:a16="http://schemas.microsoft.com/office/drawing/2014/main" id="{9793FE4A-8B62-4E58-B5B5-813E9522AAEA}"/>
              </a:ext>
            </a:extLst>
          </p:cNvPr>
          <p:cNvSpPr>
            <a:spLocks noChangeArrowheads="1"/>
          </p:cNvSpPr>
          <p:nvPr/>
        </p:nvSpPr>
        <p:spPr bwMode="auto">
          <a:xfrm>
            <a:off x="1311579" y="4868863"/>
            <a:ext cx="10001318"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just" eaLnBrk="1" hangingPunct="1">
              <a:buClr>
                <a:srgbClr val="92D050"/>
              </a:buClr>
              <a:defRPr/>
            </a:pPr>
            <a:r>
              <a:rPr lang="es-AR" altLang="es-AR" sz="2000" b="1" dirty="0">
                <a:effectLst>
                  <a:outerShdw blurRad="38100" dist="38100" dir="2700000" algn="tl">
                    <a:srgbClr val="C0C0C0"/>
                  </a:outerShdw>
                </a:effectLst>
                <a:latin typeface="+mj-lt"/>
              </a:rPr>
              <a:t>Sistema de Costeo Directo o Variable</a:t>
            </a:r>
            <a:r>
              <a:rPr lang="es-AR" altLang="es-AR" sz="2000" b="1" dirty="0">
                <a:latin typeface="+mj-lt"/>
              </a:rPr>
              <a:t>:</a:t>
            </a:r>
            <a:r>
              <a:rPr lang="es-AR" altLang="es-AR" sz="2000" dirty="0">
                <a:latin typeface="+mj-lt"/>
              </a:rPr>
              <a:t> </a:t>
            </a:r>
          </a:p>
          <a:p>
            <a:pPr marL="517525" indent="-342900" algn="just" eaLnBrk="1" hangingPunct="1">
              <a:buClr>
                <a:srgbClr val="92D050"/>
              </a:buClr>
              <a:buFont typeface="Arial" panose="020B0604020202020204" pitchFamily="34" charset="0"/>
              <a:buChar char="•"/>
              <a:defRPr/>
            </a:pPr>
            <a:r>
              <a:rPr lang="es-AR" altLang="es-AR" sz="2000" dirty="0">
                <a:latin typeface="+mj-lt"/>
              </a:rPr>
              <a:t>sólo registra el costo directo o variable de producción</a:t>
            </a:r>
            <a:endParaRPr lang="es-ES" altLang="es-AR" sz="2000" dirty="0">
              <a:latin typeface="+mj-lt"/>
            </a:endParaRPr>
          </a:p>
        </p:txBody>
      </p:sp>
      <p:sp>
        <p:nvSpPr>
          <p:cNvPr id="2" name="Marcador de número de diapositiva 1">
            <a:extLst>
              <a:ext uri="{FF2B5EF4-FFF2-40B4-BE49-F238E27FC236}">
                <a16:creationId xmlns:a16="http://schemas.microsoft.com/office/drawing/2014/main" id="{4133B5BE-5567-4366-9C9D-4F8CADA57D79}"/>
              </a:ext>
            </a:extLst>
          </p:cNvPr>
          <p:cNvSpPr>
            <a:spLocks noGrp="1"/>
          </p:cNvSpPr>
          <p:nvPr>
            <p:ph type="sldNum" sz="quarter" idx="12"/>
          </p:nvPr>
        </p:nvSpPr>
        <p:spPr/>
        <p:txBody>
          <a:bodyPr/>
          <a:lstStyle/>
          <a:p>
            <a:fld id="{D57F1E4F-1CFF-5643-939E-217C01CDF565}" type="slidenum">
              <a:rPr lang="en-US" smtClean="0"/>
              <a:pPr/>
              <a:t>16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5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5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1" grpId="0"/>
      <p:bldP spid="6152" grpId="0"/>
      <p:bldP spid="6153" grpId="0"/>
      <p:bldP spid="615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0" name="Text Box 34">
            <a:extLst>
              <a:ext uri="{FF2B5EF4-FFF2-40B4-BE49-F238E27FC236}">
                <a16:creationId xmlns:a16="http://schemas.microsoft.com/office/drawing/2014/main" id="{DB6DE408-0E08-4788-B3D8-21687ABE2D80}"/>
              </a:ext>
            </a:extLst>
          </p:cNvPr>
          <p:cNvSpPr txBox="1">
            <a:spLocks noChangeArrowheads="1"/>
          </p:cNvSpPr>
          <p:nvPr/>
        </p:nvSpPr>
        <p:spPr bwMode="auto">
          <a:xfrm>
            <a:off x="1387476" y="185738"/>
            <a:ext cx="88122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85000"/>
                    <a:lumOff val="15000"/>
                  </a:schemeClr>
                </a:solidFill>
                <a:latin typeface="+mj-lt"/>
                <a:cs typeface="Arial" charset="0"/>
              </a:rPr>
              <a:t>DIFERENCIAS ENTRE AMBOS SISTEMAS</a:t>
            </a:r>
          </a:p>
        </p:txBody>
      </p:sp>
      <p:sp>
        <p:nvSpPr>
          <p:cNvPr id="4154" name="Rectangle 58">
            <a:extLst>
              <a:ext uri="{FF2B5EF4-FFF2-40B4-BE49-F238E27FC236}">
                <a16:creationId xmlns:a16="http://schemas.microsoft.com/office/drawing/2014/main" id="{2219AEEF-42F4-4E04-ACB7-7F7861822A90}"/>
              </a:ext>
            </a:extLst>
          </p:cNvPr>
          <p:cNvSpPr>
            <a:spLocks noChangeArrowheads="1"/>
          </p:cNvSpPr>
          <p:nvPr/>
        </p:nvSpPr>
        <p:spPr bwMode="auto">
          <a:xfrm>
            <a:off x="1133273" y="1054101"/>
            <a:ext cx="1016054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b="1" dirty="0">
                <a:latin typeface="+mj-lt"/>
              </a:rPr>
              <a:t>En el costeo directo o variable</a:t>
            </a:r>
          </a:p>
          <a:p>
            <a:pPr marL="460375" indent="-285750" algn="just" eaLnBrk="1" hangingPunct="1">
              <a:spcBef>
                <a:spcPct val="20000"/>
              </a:spcBef>
              <a:buClr>
                <a:srgbClr val="92D050"/>
              </a:buClr>
              <a:buFont typeface="Arial" panose="020B0604020202020204" pitchFamily="34" charset="0"/>
              <a:buChar char="•"/>
            </a:pPr>
            <a:r>
              <a:rPr lang="es-AR" altLang="es-AR" dirty="0">
                <a:latin typeface="+mj-lt"/>
              </a:rPr>
              <a:t>los gastos fijos de producción no integran el valor de los inventarios, debitándoselos directamente a Ganancias y Pérdidas en el período en que se originan.</a:t>
            </a:r>
            <a:endParaRPr lang="es-ES" altLang="es-AR" dirty="0">
              <a:latin typeface="+mj-lt"/>
            </a:endParaRPr>
          </a:p>
        </p:txBody>
      </p:sp>
      <p:sp>
        <p:nvSpPr>
          <p:cNvPr id="4155" name="Rectangle 59">
            <a:extLst>
              <a:ext uri="{FF2B5EF4-FFF2-40B4-BE49-F238E27FC236}">
                <a16:creationId xmlns:a16="http://schemas.microsoft.com/office/drawing/2014/main" id="{066EBEA3-2A6B-4FB6-82DD-A9DA208B1783}"/>
              </a:ext>
            </a:extLst>
          </p:cNvPr>
          <p:cNvSpPr>
            <a:spLocks noChangeArrowheads="1"/>
          </p:cNvSpPr>
          <p:nvPr/>
        </p:nvSpPr>
        <p:spPr bwMode="auto">
          <a:xfrm>
            <a:off x="1152728" y="2267186"/>
            <a:ext cx="10160539" cy="1512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b="1" dirty="0">
                <a:latin typeface="+mj-lt"/>
              </a:rPr>
              <a:t>En el costeo integral, o por absorción, o costeo tradicional</a:t>
            </a:r>
          </a:p>
          <a:p>
            <a:pPr marL="460375" indent="-285750" algn="just" eaLnBrk="1" hangingPunct="1">
              <a:spcBef>
                <a:spcPct val="20000"/>
              </a:spcBef>
              <a:buClr>
                <a:srgbClr val="92D050"/>
              </a:buClr>
              <a:buFont typeface="Arial" panose="020B0604020202020204" pitchFamily="34" charset="0"/>
              <a:buChar char="•"/>
            </a:pPr>
            <a:r>
              <a:rPr lang="es-AR" altLang="es-AR" dirty="0">
                <a:latin typeface="+mj-lt"/>
              </a:rPr>
              <a:t>todos los costos de producción, tanto fijos como variables, forman parte del costo de los productos, permaneciendo en los inventarios hasta que se produzca su venta.</a:t>
            </a:r>
            <a:endParaRPr lang="es-ES" altLang="es-AR" dirty="0">
              <a:latin typeface="+mj-lt"/>
            </a:endParaRPr>
          </a:p>
        </p:txBody>
      </p:sp>
      <p:sp>
        <p:nvSpPr>
          <p:cNvPr id="4156" name="Rectangle 60">
            <a:extLst>
              <a:ext uri="{FF2B5EF4-FFF2-40B4-BE49-F238E27FC236}">
                <a16:creationId xmlns:a16="http://schemas.microsoft.com/office/drawing/2014/main" id="{6EA55FB7-AEF6-4460-AE83-17D0164866A3}"/>
              </a:ext>
            </a:extLst>
          </p:cNvPr>
          <p:cNvSpPr>
            <a:spLocks noChangeArrowheads="1"/>
          </p:cNvSpPr>
          <p:nvPr/>
        </p:nvSpPr>
        <p:spPr bwMode="auto">
          <a:xfrm>
            <a:off x="1152728" y="3456391"/>
            <a:ext cx="9906000" cy="2592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b="1" dirty="0">
                <a:latin typeface="+mj-lt"/>
              </a:rPr>
              <a:t>La diferencia entre ambos sistemas está constituida por el distinto tratamiento que se le da a los gastos fijos de producción</a:t>
            </a:r>
            <a:r>
              <a:rPr lang="es-AR" altLang="es-AR" sz="2000" dirty="0">
                <a:latin typeface="+mj-lt"/>
              </a:rPr>
              <a:t>.</a:t>
            </a:r>
          </a:p>
          <a:p>
            <a:pPr marL="460375" indent="-285750" algn="just" eaLnBrk="1" hangingPunct="1">
              <a:spcBef>
                <a:spcPct val="20000"/>
              </a:spcBef>
              <a:buClr>
                <a:srgbClr val="92D050"/>
              </a:buClr>
              <a:buFont typeface="Arial" panose="020B0604020202020204" pitchFamily="34" charset="0"/>
              <a:buChar char="•"/>
            </a:pPr>
            <a:r>
              <a:rPr lang="es-AR" altLang="es-AR" dirty="0">
                <a:latin typeface="+mj-lt"/>
              </a:rPr>
              <a:t>En el costeo integral o por absorción llegan a cuentas de resultados a través del costo de lo vendido, es decir, recién cuando se produce la venta</a:t>
            </a:r>
          </a:p>
          <a:p>
            <a:pPr marL="460375" indent="-285750" algn="just" eaLnBrk="1" hangingPunct="1">
              <a:spcBef>
                <a:spcPct val="20000"/>
              </a:spcBef>
              <a:buClr>
                <a:srgbClr val="92D050"/>
              </a:buClr>
              <a:buFont typeface="Arial" panose="020B0604020202020204" pitchFamily="34" charset="0"/>
              <a:buChar char="•"/>
            </a:pPr>
            <a:r>
              <a:rPr lang="es-AR" altLang="es-AR" dirty="0">
                <a:latin typeface="+mj-lt"/>
              </a:rPr>
              <a:t>En el costeo directo o variable, se imputan directamente a ganancias y perdidas sin pasar por los inventarios. </a:t>
            </a:r>
          </a:p>
          <a:p>
            <a:pPr marL="460375" indent="-285750" algn="just" eaLnBrk="1" hangingPunct="1">
              <a:spcBef>
                <a:spcPct val="20000"/>
              </a:spcBef>
              <a:buClr>
                <a:srgbClr val="92D050"/>
              </a:buClr>
              <a:buFont typeface="Arial" panose="020B0604020202020204" pitchFamily="34" charset="0"/>
              <a:buChar char="•"/>
            </a:pPr>
            <a:r>
              <a:rPr lang="es-AR" altLang="es-AR" dirty="0">
                <a:latin typeface="+mj-lt"/>
              </a:rPr>
              <a:t>El resto de los gastos fijos se cargan a ganancias y pérdidas en el período en que se originan.</a:t>
            </a:r>
            <a:endParaRPr lang="es-ES" altLang="es-AR" dirty="0">
              <a:latin typeface="+mj-lt"/>
            </a:endParaRPr>
          </a:p>
        </p:txBody>
      </p:sp>
      <p:sp>
        <p:nvSpPr>
          <p:cNvPr id="2" name="Marcador de número de diapositiva 1">
            <a:extLst>
              <a:ext uri="{FF2B5EF4-FFF2-40B4-BE49-F238E27FC236}">
                <a16:creationId xmlns:a16="http://schemas.microsoft.com/office/drawing/2014/main" id="{2C5E155D-650A-4E53-9201-5ACBDDFFECCC}"/>
              </a:ext>
            </a:extLst>
          </p:cNvPr>
          <p:cNvSpPr>
            <a:spLocks noGrp="1"/>
          </p:cNvSpPr>
          <p:nvPr>
            <p:ph type="sldNum" sz="quarter" idx="12"/>
          </p:nvPr>
        </p:nvSpPr>
        <p:spPr/>
        <p:txBody>
          <a:bodyPr/>
          <a:lstStyle/>
          <a:p>
            <a:fld id="{D57F1E4F-1CFF-5643-939E-217C01CDF565}" type="slidenum">
              <a:rPr lang="en-US" smtClean="0"/>
              <a:pPr/>
              <a:t>17</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5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5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4" grpId="0"/>
      <p:bldP spid="4155" grpId="0"/>
      <p:bldP spid="415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4">
            <a:extLst>
              <a:ext uri="{FF2B5EF4-FFF2-40B4-BE49-F238E27FC236}">
                <a16:creationId xmlns:a16="http://schemas.microsoft.com/office/drawing/2014/main" id="{BF505035-1557-41B7-8BA9-13D9E3E8DBEF}"/>
              </a:ext>
            </a:extLst>
          </p:cNvPr>
          <p:cNvSpPr>
            <a:spLocks noChangeArrowheads="1"/>
          </p:cNvSpPr>
          <p:nvPr/>
        </p:nvSpPr>
        <p:spPr bwMode="auto">
          <a:xfrm>
            <a:off x="1470330" y="1001956"/>
            <a:ext cx="4535488" cy="503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algn="l" eaLnBrk="1" hangingPunct="1">
              <a:defRPr/>
            </a:pPr>
            <a:r>
              <a:rPr lang="es-AR" altLang="es-AR" sz="1800" b="1" dirty="0">
                <a:effectLst>
                  <a:outerShdw blurRad="38100" dist="38100" dir="2700000" algn="tl">
                    <a:srgbClr val="C0C0C0"/>
                  </a:outerShdw>
                </a:effectLst>
                <a:latin typeface="+mj-lt"/>
              </a:rPr>
              <a:t>Costeo Directo o Variable</a:t>
            </a:r>
            <a:endParaRPr lang="es-ES" altLang="es-AR" sz="1800" b="1" dirty="0">
              <a:latin typeface="+mj-lt"/>
            </a:endParaRPr>
          </a:p>
        </p:txBody>
      </p:sp>
      <p:sp>
        <p:nvSpPr>
          <p:cNvPr id="9221" name="Rectangle 5">
            <a:extLst>
              <a:ext uri="{FF2B5EF4-FFF2-40B4-BE49-F238E27FC236}">
                <a16:creationId xmlns:a16="http://schemas.microsoft.com/office/drawing/2014/main" id="{E24AE556-9757-440E-BA58-11E755FEC4F8}"/>
              </a:ext>
            </a:extLst>
          </p:cNvPr>
          <p:cNvSpPr>
            <a:spLocks noChangeArrowheads="1"/>
          </p:cNvSpPr>
          <p:nvPr/>
        </p:nvSpPr>
        <p:spPr bwMode="auto">
          <a:xfrm>
            <a:off x="6458726" y="1010086"/>
            <a:ext cx="4522787" cy="503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eaLnBrk="1" hangingPunct="1">
              <a:defRPr/>
            </a:pPr>
            <a:r>
              <a:rPr lang="es-AR" altLang="es-AR" sz="1800" b="1" dirty="0">
                <a:effectLst>
                  <a:outerShdw blurRad="38100" dist="38100" dir="2700000" algn="tl">
                    <a:srgbClr val="C0C0C0"/>
                  </a:outerShdw>
                </a:effectLst>
                <a:latin typeface="+mj-lt"/>
              </a:rPr>
              <a:t>Costeo Integral o por Absorción</a:t>
            </a:r>
            <a:endParaRPr lang="es-ES" altLang="es-AR" sz="1800" b="1" dirty="0">
              <a:latin typeface="+mj-lt"/>
            </a:endParaRPr>
          </a:p>
        </p:txBody>
      </p:sp>
      <p:sp>
        <p:nvSpPr>
          <p:cNvPr id="9222" name="Rectangle 6">
            <a:extLst>
              <a:ext uri="{FF2B5EF4-FFF2-40B4-BE49-F238E27FC236}">
                <a16:creationId xmlns:a16="http://schemas.microsoft.com/office/drawing/2014/main" id="{7B5D3474-C285-4D60-9E8B-7003FB78741B}"/>
              </a:ext>
            </a:extLst>
          </p:cNvPr>
          <p:cNvSpPr>
            <a:spLocks noChangeArrowheads="1"/>
          </p:cNvSpPr>
          <p:nvPr/>
        </p:nvSpPr>
        <p:spPr bwMode="auto">
          <a:xfrm>
            <a:off x="1321203" y="1956042"/>
            <a:ext cx="3081338" cy="43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dirty="0">
                <a:latin typeface="+mj-lt"/>
              </a:rPr>
              <a:t>Costo de lo vendido:</a:t>
            </a:r>
            <a:endParaRPr lang="es-ES" altLang="es-AR" dirty="0">
              <a:latin typeface="+mj-lt"/>
            </a:endParaRPr>
          </a:p>
        </p:txBody>
      </p:sp>
      <p:sp>
        <p:nvSpPr>
          <p:cNvPr id="9223" name="Rectangle 7">
            <a:extLst>
              <a:ext uri="{FF2B5EF4-FFF2-40B4-BE49-F238E27FC236}">
                <a16:creationId xmlns:a16="http://schemas.microsoft.com/office/drawing/2014/main" id="{B65BDC53-466B-46D7-B0C4-79E6F83C2E09}"/>
              </a:ext>
            </a:extLst>
          </p:cNvPr>
          <p:cNvSpPr>
            <a:spLocks noChangeArrowheads="1"/>
          </p:cNvSpPr>
          <p:nvPr/>
        </p:nvSpPr>
        <p:spPr bwMode="auto">
          <a:xfrm>
            <a:off x="1451379" y="2387843"/>
            <a:ext cx="4392613" cy="79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a:latin typeface="+mj-lt"/>
              </a:rPr>
              <a:t>(Costo </a:t>
            </a:r>
            <a:r>
              <a:rPr lang="es-AR" altLang="es-AR" b="1" u="sng">
                <a:latin typeface="+mj-lt"/>
              </a:rPr>
              <a:t>Variable</a:t>
            </a:r>
            <a:r>
              <a:rPr lang="es-AR" altLang="es-AR">
                <a:latin typeface="+mj-lt"/>
              </a:rPr>
              <a:t> de Producción de la mercadería vendida)</a:t>
            </a:r>
            <a:endParaRPr lang="es-ES" altLang="es-AR">
              <a:latin typeface="+mj-lt"/>
            </a:endParaRPr>
          </a:p>
        </p:txBody>
      </p:sp>
      <p:sp>
        <p:nvSpPr>
          <p:cNvPr id="9224" name="Rectangle 8">
            <a:extLst>
              <a:ext uri="{FF2B5EF4-FFF2-40B4-BE49-F238E27FC236}">
                <a16:creationId xmlns:a16="http://schemas.microsoft.com/office/drawing/2014/main" id="{B480450F-EBFA-4D1E-89B4-C32DFA6C4F58}"/>
              </a:ext>
            </a:extLst>
          </p:cNvPr>
          <p:cNvSpPr>
            <a:spLocks noChangeArrowheads="1"/>
          </p:cNvSpPr>
          <p:nvPr/>
        </p:nvSpPr>
        <p:spPr bwMode="auto">
          <a:xfrm>
            <a:off x="1437091" y="3106982"/>
            <a:ext cx="5040312" cy="43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a:latin typeface="+mj-lt"/>
              </a:rPr>
              <a:t>(Gastos </a:t>
            </a:r>
            <a:r>
              <a:rPr lang="es-AR" altLang="es-AR" b="1" u="sng">
                <a:latin typeface="+mj-lt"/>
              </a:rPr>
              <a:t>Variables</a:t>
            </a:r>
            <a:r>
              <a:rPr lang="es-AR" altLang="es-AR">
                <a:latin typeface="+mj-lt"/>
              </a:rPr>
              <a:t> de Comercializ.)</a:t>
            </a:r>
            <a:endParaRPr lang="es-ES" altLang="es-AR">
              <a:latin typeface="+mj-lt"/>
            </a:endParaRPr>
          </a:p>
        </p:txBody>
      </p:sp>
      <p:sp>
        <p:nvSpPr>
          <p:cNvPr id="9225" name="Rectangle 9">
            <a:extLst>
              <a:ext uri="{FF2B5EF4-FFF2-40B4-BE49-F238E27FC236}">
                <a16:creationId xmlns:a16="http://schemas.microsoft.com/office/drawing/2014/main" id="{57D8F805-E27D-473B-8268-AFF3098590F3}"/>
              </a:ext>
            </a:extLst>
          </p:cNvPr>
          <p:cNvSpPr>
            <a:spLocks noChangeArrowheads="1"/>
          </p:cNvSpPr>
          <p:nvPr/>
        </p:nvSpPr>
        <p:spPr bwMode="auto">
          <a:xfrm>
            <a:off x="1537103" y="3686420"/>
            <a:ext cx="4535488"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b="1">
                <a:latin typeface="+mj-lt"/>
              </a:rPr>
              <a:t>Margen de Contribución</a:t>
            </a:r>
            <a:endParaRPr lang="es-ES" altLang="es-AR" b="1">
              <a:latin typeface="+mj-lt"/>
            </a:endParaRPr>
          </a:p>
        </p:txBody>
      </p:sp>
      <p:sp>
        <p:nvSpPr>
          <p:cNvPr id="9226" name="Rectangle 10">
            <a:extLst>
              <a:ext uri="{FF2B5EF4-FFF2-40B4-BE49-F238E27FC236}">
                <a16:creationId xmlns:a16="http://schemas.microsoft.com/office/drawing/2014/main" id="{E6E7A100-DFB1-45C7-94F1-6E1D4A617193}"/>
              </a:ext>
            </a:extLst>
          </p:cNvPr>
          <p:cNvSpPr>
            <a:spLocks noChangeArrowheads="1"/>
          </p:cNvSpPr>
          <p:nvPr/>
        </p:nvSpPr>
        <p:spPr bwMode="auto">
          <a:xfrm>
            <a:off x="1408515" y="4550020"/>
            <a:ext cx="4679950"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a:latin typeface="+mj-lt"/>
              </a:rPr>
              <a:t>(Gastos </a:t>
            </a:r>
            <a:r>
              <a:rPr lang="es-AR" altLang="es-AR" u="sng">
                <a:latin typeface="+mj-lt"/>
              </a:rPr>
              <a:t>Fijos</a:t>
            </a:r>
            <a:r>
              <a:rPr lang="es-AR" altLang="es-AR">
                <a:latin typeface="+mj-lt"/>
              </a:rPr>
              <a:t> de Administración)</a:t>
            </a:r>
            <a:endParaRPr lang="es-ES" altLang="es-AR">
              <a:latin typeface="+mj-lt"/>
            </a:endParaRPr>
          </a:p>
        </p:txBody>
      </p:sp>
      <p:sp>
        <p:nvSpPr>
          <p:cNvPr id="9227" name="Rectangle 11">
            <a:extLst>
              <a:ext uri="{FF2B5EF4-FFF2-40B4-BE49-F238E27FC236}">
                <a16:creationId xmlns:a16="http://schemas.microsoft.com/office/drawing/2014/main" id="{471774B1-4940-45A1-93E5-BE80CF0367A2}"/>
              </a:ext>
            </a:extLst>
          </p:cNvPr>
          <p:cNvSpPr>
            <a:spLocks noChangeArrowheads="1"/>
          </p:cNvSpPr>
          <p:nvPr/>
        </p:nvSpPr>
        <p:spPr bwMode="auto">
          <a:xfrm>
            <a:off x="1408515" y="4981820"/>
            <a:ext cx="4679950"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a:latin typeface="+mj-lt"/>
              </a:rPr>
              <a:t>(Gastos </a:t>
            </a:r>
            <a:r>
              <a:rPr lang="es-AR" altLang="es-AR" u="sng">
                <a:latin typeface="+mj-lt"/>
              </a:rPr>
              <a:t>Fijos</a:t>
            </a:r>
            <a:r>
              <a:rPr lang="es-AR" altLang="es-AR">
                <a:latin typeface="+mj-lt"/>
              </a:rPr>
              <a:t> de Financiación)</a:t>
            </a:r>
            <a:endParaRPr lang="es-ES" altLang="es-AR">
              <a:latin typeface="+mj-lt"/>
            </a:endParaRPr>
          </a:p>
        </p:txBody>
      </p:sp>
      <p:sp>
        <p:nvSpPr>
          <p:cNvPr id="9228" name="Rectangle 12">
            <a:extLst>
              <a:ext uri="{FF2B5EF4-FFF2-40B4-BE49-F238E27FC236}">
                <a16:creationId xmlns:a16="http://schemas.microsoft.com/office/drawing/2014/main" id="{1ABAA6D2-39E4-43EB-8369-C4E9B6738CE4}"/>
              </a:ext>
            </a:extLst>
          </p:cNvPr>
          <p:cNvSpPr>
            <a:spLocks noChangeArrowheads="1"/>
          </p:cNvSpPr>
          <p:nvPr/>
        </p:nvSpPr>
        <p:spPr bwMode="auto">
          <a:xfrm>
            <a:off x="1408516" y="5378694"/>
            <a:ext cx="5040313"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a:latin typeface="+mj-lt"/>
              </a:rPr>
              <a:t>(Gastos </a:t>
            </a:r>
            <a:r>
              <a:rPr lang="es-AR" altLang="es-AR" u="sng">
                <a:latin typeface="+mj-lt"/>
              </a:rPr>
              <a:t>Fijos</a:t>
            </a:r>
            <a:r>
              <a:rPr lang="es-AR" altLang="es-AR">
                <a:latin typeface="+mj-lt"/>
              </a:rPr>
              <a:t> de Comercialización)</a:t>
            </a:r>
            <a:endParaRPr lang="es-ES" altLang="es-AR">
              <a:latin typeface="+mj-lt"/>
            </a:endParaRPr>
          </a:p>
        </p:txBody>
      </p:sp>
      <p:sp>
        <p:nvSpPr>
          <p:cNvPr id="9229" name="Rectangle 13">
            <a:extLst>
              <a:ext uri="{FF2B5EF4-FFF2-40B4-BE49-F238E27FC236}">
                <a16:creationId xmlns:a16="http://schemas.microsoft.com/office/drawing/2014/main" id="{87D4661C-768C-456B-9913-5072D292CFDD}"/>
              </a:ext>
            </a:extLst>
          </p:cNvPr>
          <p:cNvSpPr>
            <a:spLocks noChangeArrowheads="1"/>
          </p:cNvSpPr>
          <p:nvPr/>
        </p:nvSpPr>
        <p:spPr bwMode="auto">
          <a:xfrm>
            <a:off x="1408516" y="4118220"/>
            <a:ext cx="5040313"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a:latin typeface="+mj-lt"/>
              </a:rPr>
              <a:t>(Gastos </a:t>
            </a:r>
            <a:r>
              <a:rPr lang="es-AR" altLang="es-AR" u="sng">
                <a:latin typeface="+mj-lt"/>
              </a:rPr>
              <a:t>Fijos</a:t>
            </a:r>
            <a:r>
              <a:rPr lang="es-AR" altLang="es-AR">
                <a:latin typeface="+mj-lt"/>
              </a:rPr>
              <a:t> de Producción)</a:t>
            </a:r>
            <a:endParaRPr lang="es-ES" altLang="es-AR">
              <a:latin typeface="+mj-lt"/>
            </a:endParaRPr>
          </a:p>
        </p:txBody>
      </p:sp>
      <p:sp>
        <p:nvSpPr>
          <p:cNvPr id="9230" name="Rectangle 14">
            <a:extLst>
              <a:ext uri="{FF2B5EF4-FFF2-40B4-BE49-F238E27FC236}">
                <a16:creationId xmlns:a16="http://schemas.microsoft.com/office/drawing/2014/main" id="{3FBB3A6A-63B1-48FA-A0BF-2306B63C6D2C}"/>
              </a:ext>
            </a:extLst>
          </p:cNvPr>
          <p:cNvSpPr>
            <a:spLocks noChangeArrowheads="1"/>
          </p:cNvSpPr>
          <p:nvPr/>
        </p:nvSpPr>
        <p:spPr bwMode="auto">
          <a:xfrm>
            <a:off x="1408515" y="5954956"/>
            <a:ext cx="4535488" cy="43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b="1">
                <a:latin typeface="+mj-lt"/>
              </a:rPr>
              <a:t>Beneficio Neto a / impuestos</a:t>
            </a:r>
            <a:endParaRPr lang="es-ES" altLang="es-AR" b="1">
              <a:latin typeface="+mj-lt"/>
            </a:endParaRPr>
          </a:p>
        </p:txBody>
      </p:sp>
      <p:sp>
        <p:nvSpPr>
          <p:cNvPr id="9231" name="Rectangle 15">
            <a:extLst>
              <a:ext uri="{FF2B5EF4-FFF2-40B4-BE49-F238E27FC236}">
                <a16:creationId xmlns:a16="http://schemas.microsoft.com/office/drawing/2014/main" id="{8D8F544C-0B91-4127-8187-ACCAC21712BA}"/>
              </a:ext>
            </a:extLst>
          </p:cNvPr>
          <p:cNvSpPr>
            <a:spLocks noChangeArrowheads="1"/>
          </p:cNvSpPr>
          <p:nvPr/>
        </p:nvSpPr>
        <p:spPr bwMode="auto">
          <a:xfrm>
            <a:off x="6288492" y="1883020"/>
            <a:ext cx="3081337"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dirty="0">
                <a:latin typeface="+mj-lt"/>
              </a:rPr>
              <a:t>Costo de lo vendido:</a:t>
            </a:r>
            <a:endParaRPr lang="es-ES" altLang="es-AR" dirty="0">
              <a:latin typeface="+mj-lt"/>
            </a:endParaRPr>
          </a:p>
        </p:txBody>
      </p:sp>
      <p:sp>
        <p:nvSpPr>
          <p:cNvPr id="9232" name="Rectangle 16">
            <a:extLst>
              <a:ext uri="{FF2B5EF4-FFF2-40B4-BE49-F238E27FC236}">
                <a16:creationId xmlns:a16="http://schemas.microsoft.com/office/drawing/2014/main" id="{ED1601BC-DCAE-40B1-A0CF-4FB15F7D120D}"/>
              </a:ext>
            </a:extLst>
          </p:cNvPr>
          <p:cNvSpPr>
            <a:spLocks noChangeArrowheads="1"/>
          </p:cNvSpPr>
          <p:nvPr/>
        </p:nvSpPr>
        <p:spPr bwMode="auto">
          <a:xfrm>
            <a:off x="6418666" y="2314820"/>
            <a:ext cx="4392612" cy="79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a:latin typeface="+mj-lt"/>
              </a:rPr>
              <a:t>(Costo </a:t>
            </a:r>
            <a:r>
              <a:rPr lang="es-AR" altLang="es-AR" b="1" u="sng">
                <a:latin typeface="+mj-lt"/>
              </a:rPr>
              <a:t>Total </a:t>
            </a:r>
            <a:r>
              <a:rPr lang="es-AR" altLang="es-AR">
                <a:latin typeface="+mj-lt"/>
              </a:rPr>
              <a:t>de Producción  de la mercadería vendida)	</a:t>
            </a:r>
            <a:r>
              <a:rPr lang="es-AR" altLang="es-AR" u="sng">
                <a:latin typeface="+mj-lt"/>
              </a:rPr>
              <a:t>         </a:t>
            </a:r>
            <a:endParaRPr lang="es-ES" altLang="es-AR" u="sng">
              <a:latin typeface="+mj-lt"/>
            </a:endParaRPr>
          </a:p>
        </p:txBody>
      </p:sp>
      <p:sp>
        <p:nvSpPr>
          <p:cNvPr id="9233" name="Rectangle 17">
            <a:extLst>
              <a:ext uri="{FF2B5EF4-FFF2-40B4-BE49-F238E27FC236}">
                <a16:creationId xmlns:a16="http://schemas.microsoft.com/office/drawing/2014/main" id="{4DA282AA-502B-4C66-93BD-8ACCAD723D5B}"/>
              </a:ext>
            </a:extLst>
          </p:cNvPr>
          <p:cNvSpPr>
            <a:spLocks noChangeArrowheads="1"/>
          </p:cNvSpPr>
          <p:nvPr/>
        </p:nvSpPr>
        <p:spPr bwMode="auto">
          <a:xfrm>
            <a:off x="6377390" y="3686420"/>
            <a:ext cx="3816350"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b="1" dirty="0">
                <a:latin typeface="+mj-lt"/>
              </a:rPr>
              <a:t>      Resultado Bruto</a:t>
            </a:r>
            <a:endParaRPr lang="es-ES" altLang="es-AR" b="1" dirty="0">
              <a:latin typeface="+mj-lt"/>
            </a:endParaRPr>
          </a:p>
        </p:txBody>
      </p:sp>
      <p:sp>
        <p:nvSpPr>
          <p:cNvPr id="9234" name="Rectangle 18">
            <a:extLst>
              <a:ext uri="{FF2B5EF4-FFF2-40B4-BE49-F238E27FC236}">
                <a16:creationId xmlns:a16="http://schemas.microsoft.com/office/drawing/2014/main" id="{9A3CB1F1-C974-49B9-9622-6E57080E0A2F}"/>
              </a:ext>
            </a:extLst>
          </p:cNvPr>
          <p:cNvSpPr>
            <a:spLocks noChangeArrowheads="1"/>
          </p:cNvSpPr>
          <p:nvPr/>
        </p:nvSpPr>
        <p:spPr bwMode="auto">
          <a:xfrm>
            <a:off x="6245628" y="4499219"/>
            <a:ext cx="4679950"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a:latin typeface="+mj-lt"/>
              </a:rPr>
              <a:t>(Gastos de Administración)</a:t>
            </a:r>
            <a:endParaRPr lang="es-ES" altLang="es-AR">
              <a:latin typeface="+mj-lt"/>
            </a:endParaRPr>
          </a:p>
        </p:txBody>
      </p:sp>
      <p:sp>
        <p:nvSpPr>
          <p:cNvPr id="9235" name="Rectangle 19">
            <a:extLst>
              <a:ext uri="{FF2B5EF4-FFF2-40B4-BE49-F238E27FC236}">
                <a16:creationId xmlns:a16="http://schemas.microsoft.com/office/drawing/2014/main" id="{14A3441B-1BC1-4026-893D-029B1E9158D9}"/>
              </a:ext>
            </a:extLst>
          </p:cNvPr>
          <p:cNvSpPr>
            <a:spLocks noChangeArrowheads="1"/>
          </p:cNvSpPr>
          <p:nvPr/>
        </p:nvSpPr>
        <p:spPr bwMode="auto">
          <a:xfrm>
            <a:off x="6245628" y="4945306"/>
            <a:ext cx="4679950" cy="43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a:latin typeface="+mj-lt"/>
              </a:rPr>
              <a:t>(Gastos de Financiación)</a:t>
            </a:r>
            <a:endParaRPr lang="es-ES" altLang="es-AR">
              <a:latin typeface="+mj-lt"/>
            </a:endParaRPr>
          </a:p>
        </p:txBody>
      </p:sp>
      <p:sp>
        <p:nvSpPr>
          <p:cNvPr id="9236" name="Line 20">
            <a:extLst>
              <a:ext uri="{FF2B5EF4-FFF2-40B4-BE49-F238E27FC236}">
                <a16:creationId xmlns:a16="http://schemas.microsoft.com/office/drawing/2014/main" id="{19591CC9-0B94-4B0A-AB1D-5CC851CAB0C8}"/>
              </a:ext>
            </a:extLst>
          </p:cNvPr>
          <p:cNvSpPr>
            <a:spLocks noChangeShapeType="1"/>
          </p:cNvSpPr>
          <p:nvPr/>
        </p:nvSpPr>
        <p:spPr bwMode="auto">
          <a:xfrm>
            <a:off x="1406929" y="3611807"/>
            <a:ext cx="48815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latin typeface="+mj-lt"/>
            </a:endParaRPr>
          </a:p>
        </p:txBody>
      </p:sp>
      <p:sp>
        <p:nvSpPr>
          <p:cNvPr id="9237" name="Line 21">
            <a:extLst>
              <a:ext uri="{FF2B5EF4-FFF2-40B4-BE49-F238E27FC236}">
                <a16:creationId xmlns:a16="http://schemas.microsoft.com/office/drawing/2014/main" id="{A71D74C9-24E4-401E-8873-99FC4C235113}"/>
              </a:ext>
            </a:extLst>
          </p:cNvPr>
          <p:cNvSpPr>
            <a:spLocks noChangeShapeType="1"/>
          </p:cNvSpPr>
          <p:nvPr/>
        </p:nvSpPr>
        <p:spPr bwMode="auto">
          <a:xfrm>
            <a:off x="1349778" y="5880343"/>
            <a:ext cx="48815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latin typeface="+mj-lt"/>
            </a:endParaRPr>
          </a:p>
        </p:txBody>
      </p:sp>
      <p:sp>
        <p:nvSpPr>
          <p:cNvPr id="9238" name="Line 22">
            <a:extLst>
              <a:ext uri="{FF2B5EF4-FFF2-40B4-BE49-F238E27FC236}">
                <a16:creationId xmlns:a16="http://schemas.microsoft.com/office/drawing/2014/main" id="{E9C12BEF-EE5A-4462-9075-8272CFA5A7D8}"/>
              </a:ext>
            </a:extLst>
          </p:cNvPr>
          <p:cNvSpPr>
            <a:spLocks noChangeShapeType="1"/>
          </p:cNvSpPr>
          <p:nvPr/>
        </p:nvSpPr>
        <p:spPr bwMode="auto">
          <a:xfrm>
            <a:off x="6448828" y="3611807"/>
            <a:ext cx="4521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latin typeface="+mj-lt"/>
            </a:endParaRPr>
          </a:p>
        </p:txBody>
      </p:sp>
      <p:sp>
        <p:nvSpPr>
          <p:cNvPr id="9239" name="Line 23">
            <a:extLst>
              <a:ext uri="{FF2B5EF4-FFF2-40B4-BE49-F238E27FC236}">
                <a16:creationId xmlns:a16="http://schemas.microsoft.com/office/drawing/2014/main" id="{E4350339-6A04-4B1E-AF6F-45F1EDE5A606}"/>
              </a:ext>
            </a:extLst>
          </p:cNvPr>
          <p:cNvSpPr>
            <a:spLocks noChangeShapeType="1"/>
          </p:cNvSpPr>
          <p:nvPr/>
        </p:nvSpPr>
        <p:spPr bwMode="auto">
          <a:xfrm>
            <a:off x="6347229" y="5880343"/>
            <a:ext cx="4521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latin typeface="+mj-lt"/>
            </a:endParaRPr>
          </a:p>
        </p:txBody>
      </p:sp>
      <p:sp>
        <p:nvSpPr>
          <p:cNvPr id="9240" name="Rectangle 24">
            <a:extLst>
              <a:ext uri="{FF2B5EF4-FFF2-40B4-BE49-F238E27FC236}">
                <a16:creationId xmlns:a16="http://schemas.microsoft.com/office/drawing/2014/main" id="{E7292ADD-5FC6-45ED-8A97-66229345D188}"/>
              </a:ext>
            </a:extLst>
          </p:cNvPr>
          <p:cNvSpPr>
            <a:spLocks noChangeArrowheads="1"/>
          </p:cNvSpPr>
          <p:nvPr/>
        </p:nvSpPr>
        <p:spPr bwMode="auto">
          <a:xfrm>
            <a:off x="6247216" y="5378694"/>
            <a:ext cx="5040313"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a:latin typeface="+mj-lt"/>
              </a:rPr>
              <a:t>(Gastos de Comercialización)</a:t>
            </a:r>
            <a:endParaRPr lang="es-ES" altLang="es-AR">
              <a:latin typeface="+mj-lt"/>
            </a:endParaRPr>
          </a:p>
        </p:txBody>
      </p:sp>
      <p:sp>
        <p:nvSpPr>
          <p:cNvPr id="9241" name="Rectangle 25">
            <a:extLst>
              <a:ext uri="{FF2B5EF4-FFF2-40B4-BE49-F238E27FC236}">
                <a16:creationId xmlns:a16="http://schemas.microsoft.com/office/drawing/2014/main" id="{CC638E37-DE38-4D89-AF8B-C0E41E8432AC}"/>
              </a:ext>
            </a:extLst>
          </p:cNvPr>
          <p:cNvSpPr>
            <a:spLocks noChangeArrowheads="1"/>
          </p:cNvSpPr>
          <p:nvPr/>
        </p:nvSpPr>
        <p:spPr bwMode="auto">
          <a:xfrm>
            <a:off x="6275793" y="5953369"/>
            <a:ext cx="4535487"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b="1">
                <a:latin typeface="+mj-lt"/>
              </a:rPr>
              <a:t>Beneficio Neto a / impuestos</a:t>
            </a:r>
            <a:endParaRPr lang="es-ES" altLang="es-AR" b="1">
              <a:latin typeface="+mj-lt"/>
            </a:endParaRPr>
          </a:p>
        </p:txBody>
      </p:sp>
      <p:sp>
        <p:nvSpPr>
          <p:cNvPr id="9242" name="Line 26">
            <a:extLst>
              <a:ext uri="{FF2B5EF4-FFF2-40B4-BE49-F238E27FC236}">
                <a16:creationId xmlns:a16="http://schemas.microsoft.com/office/drawing/2014/main" id="{047AA3F2-E051-4F14-A7FE-4BCF4139C533}"/>
              </a:ext>
            </a:extLst>
          </p:cNvPr>
          <p:cNvSpPr>
            <a:spLocks noChangeShapeType="1"/>
          </p:cNvSpPr>
          <p:nvPr/>
        </p:nvSpPr>
        <p:spPr bwMode="auto">
          <a:xfrm flipH="1">
            <a:off x="6247216" y="945024"/>
            <a:ext cx="1587" cy="572748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9243" name="Rectangle 27">
            <a:extLst>
              <a:ext uri="{FF2B5EF4-FFF2-40B4-BE49-F238E27FC236}">
                <a16:creationId xmlns:a16="http://schemas.microsoft.com/office/drawing/2014/main" id="{7B7A8D10-2416-42D0-A1A4-66F07E5082E8}"/>
              </a:ext>
            </a:extLst>
          </p:cNvPr>
          <p:cNvSpPr>
            <a:spLocks noChangeArrowheads="1"/>
          </p:cNvSpPr>
          <p:nvPr/>
        </p:nvSpPr>
        <p:spPr bwMode="auto">
          <a:xfrm>
            <a:off x="6448828" y="3111745"/>
            <a:ext cx="3443590" cy="419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pPr>
            <a:r>
              <a:rPr lang="es-AR" altLang="es-AR" dirty="0">
                <a:latin typeface="+mj-lt"/>
              </a:rPr>
              <a:t>---------------------------------</a:t>
            </a:r>
            <a:endParaRPr lang="es-ES" altLang="es-AR" dirty="0">
              <a:latin typeface="+mj-lt"/>
            </a:endParaRPr>
          </a:p>
        </p:txBody>
      </p:sp>
      <p:sp>
        <p:nvSpPr>
          <p:cNvPr id="9244" name="Rectangle 28">
            <a:extLst>
              <a:ext uri="{FF2B5EF4-FFF2-40B4-BE49-F238E27FC236}">
                <a16:creationId xmlns:a16="http://schemas.microsoft.com/office/drawing/2014/main" id="{4E15EB97-77FE-4122-88CA-DC43CB851CC4}"/>
              </a:ext>
            </a:extLst>
          </p:cNvPr>
          <p:cNvSpPr>
            <a:spLocks noChangeArrowheads="1"/>
          </p:cNvSpPr>
          <p:nvPr/>
        </p:nvSpPr>
        <p:spPr bwMode="auto">
          <a:xfrm>
            <a:off x="6458726" y="4116633"/>
            <a:ext cx="3360974"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pPr>
            <a:r>
              <a:rPr lang="es-AR" altLang="es-AR" dirty="0">
                <a:latin typeface="+mj-lt"/>
              </a:rPr>
              <a:t>---------------------------------</a:t>
            </a:r>
            <a:endParaRPr lang="es-ES" altLang="es-AR" dirty="0">
              <a:latin typeface="+mj-lt"/>
            </a:endParaRPr>
          </a:p>
        </p:txBody>
      </p:sp>
      <p:sp>
        <p:nvSpPr>
          <p:cNvPr id="9245" name="Text Box 29">
            <a:extLst>
              <a:ext uri="{FF2B5EF4-FFF2-40B4-BE49-F238E27FC236}">
                <a16:creationId xmlns:a16="http://schemas.microsoft.com/office/drawing/2014/main" id="{3402E481-01B3-4B31-91A8-B74504EAD37D}"/>
              </a:ext>
            </a:extLst>
          </p:cNvPr>
          <p:cNvSpPr txBox="1">
            <a:spLocks noChangeArrowheads="1"/>
          </p:cNvSpPr>
          <p:nvPr/>
        </p:nvSpPr>
        <p:spPr bwMode="auto">
          <a:xfrm>
            <a:off x="1349778" y="-47623"/>
            <a:ext cx="881221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85000"/>
                    <a:lumOff val="15000"/>
                  </a:schemeClr>
                </a:solidFill>
                <a:latin typeface="+mj-lt"/>
                <a:cs typeface="Arial" charset="0"/>
              </a:rPr>
              <a:t>DIFERENCIAS ENTRE AMBOS SISTEMAS</a:t>
            </a:r>
          </a:p>
        </p:txBody>
      </p:sp>
      <p:sp>
        <p:nvSpPr>
          <p:cNvPr id="2" name="Marcador de número de diapositiva 1">
            <a:extLst>
              <a:ext uri="{FF2B5EF4-FFF2-40B4-BE49-F238E27FC236}">
                <a16:creationId xmlns:a16="http://schemas.microsoft.com/office/drawing/2014/main" id="{32BDDCA3-E05B-4BC5-99E2-786CFE7F1108}"/>
              </a:ext>
            </a:extLst>
          </p:cNvPr>
          <p:cNvSpPr>
            <a:spLocks noGrp="1"/>
          </p:cNvSpPr>
          <p:nvPr>
            <p:ph type="sldNum" sz="quarter" idx="12"/>
          </p:nvPr>
        </p:nvSpPr>
        <p:spPr/>
        <p:txBody>
          <a:bodyPr/>
          <a:lstStyle/>
          <a:p>
            <a:fld id="{D57F1E4F-1CFF-5643-939E-217C01CDF565}" type="slidenum">
              <a:rPr lang="en-US" smtClean="0"/>
              <a:pPr/>
              <a:t>18</a:t>
            </a:fld>
            <a:endParaRPr lang="en-US" dirty="0"/>
          </a:p>
        </p:txBody>
      </p:sp>
      <p:sp>
        <p:nvSpPr>
          <p:cNvPr id="29" name="Rectangle 6">
            <a:extLst>
              <a:ext uri="{FF2B5EF4-FFF2-40B4-BE49-F238E27FC236}">
                <a16:creationId xmlns:a16="http://schemas.microsoft.com/office/drawing/2014/main" id="{3E3E4865-B07F-4AC9-A0DD-1C5F1BB06BE8}"/>
              </a:ext>
            </a:extLst>
          </p:cNvPr>
          <p:cNvSpPr>
            <a:spLocks noChangeArrowheads="1"/>
          </p:cNvSpPr>
          <p:nvPr/>
        </p:nvSpPr>
        <p:spPr bwMode="auto">
          <a:xfrm>
            <a:off x="1321203" y="1553805"/>
            <a:ext cx="3081338" cy="43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dirty="0">
                <a:latin typeface="+mj-lt"/>
              </a:rPr>
              <a:t>Ingreso por ventas</a:t>
            </a:r>
            <a:endParaRPr lang="es-ES" altLang="es-AR" dirty="0">
              <a:latin typeface="+mj-lt"/>
            </a:endParaRPr>
          </a:p>
        </p:txBody>
      </p:sp>
      <p:sp>
        <p:nvSpPr>
          <p:cNvPr id="30" name="Rectangle 6">
            <a:extLst>
              <a:ext uri="{FF2B5EF4-FFF2-40B4-BE49-F238E27FC236}">
                <a16:creationId xmlns:a16="http://schemas.microsoft.com/office/drawing/2014/main" id="{F509900E-CF0F-400A-AD6D-FE562A5AE85C}"/>
              </a:ext>
            </a:extLst>
          </p:cNvPr>
          <p:cNvSpPr>
            <a:spLocks noChangeArrowheads="1"/>
          </p:cNvSpPr>
          <p:nvPr/>
        </p:nvSpPr>
        <p:spPr bwMode="auto">
          <a:xfrm>
            <a:off x="6288491" y="1553805"/>
            <a:ext cx="3081338" cy="43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dirty="0">
                <a:latin typeface="+mj-lt"/>
              </a:rPr>
              <a:t>Ingreso por ventas</a:t>
            </a:r>
            <a:endParaRPr lang="es-ES" altLang="es-AR" dirty="0">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2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22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22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22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923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225"/>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229"/>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226"/>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227"/>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228"/>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9237"/>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230"/>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9242"/>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9221"/>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231"/>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9232"/>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9243"/>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nodeType="clickEffect">
                                  <p:stCondLst>
                                    <p:cond delay="0"/>
                                  </p:stCondLst>
                                  <p:childTnLst>
                                    <p:set>
                                      <p:cBhvr>
                                        <p:cTn id="74" dur="1" fill="hold">
                                          <p:stCondLst>
                                            <p:cond delay="0"/>
                                          </p:stCondLst>
                                        </p:cTn>
                                        <p:tgtEl>
                                          <p:spTgt spid="9238"/>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9233"/>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9244"/>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9234"/>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9235"/>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9240"/>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nodeType="clickEffect">
                                  <p:stCondLst>
                                    <p:cond delay="0"/>
                                  </p:stCondLst>
                                  <p:childTnLst>
                                    <p:set>
                                      <p:cBhvr>
                                        <p:cTn id="98" dur="1" fill="hold">
                                          <p:stCondLst>
                                            <p:cond delay="0"/>
                                          </p:stCondLst>
                                        </p:cTn>
                                        <p:tgtEl>
                                          <p:spTgt spid="9239"/>
                                        </p:tgtEl>
                                        <p:attrNameLst>
                                          <p:attrName>style.visibility</p:attrName>
                                        </p:attrNameLst>
                                      </p:cBhvr>
                                      <p:to>
                                        <p:strVal val="visible"/>
                                      </p:to>
                                    </p:se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9241"/>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29"/>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animBg="1"/>
      <p:bldP spid="9221" grpId="0" animBg="1"/>
      <p:bldP spid="9222" grpId="0"/>
      <p:bldP spid="9223" grpId="0"/>
      <p:bldP spid="9224" grpId="0"/>
      <p:bldP spid="9225" grpId="0"/>
      <p:bldP spid="9226" grpId="0"/>
      <p:bldP spid="9227" grpId="0"/>
      <p:bldP spid="9228" grpId="0"/>
      <p:bldP spid="9229" grpId="0"/>
      <p:bldP spid="9230" grpId="0"/>
      <p:bldP spid="9231" grpId="0"/>
      <p:bldP spid="9232" grpId="0"/>
      <p:bldP spid="9233" grpId="0"/>
      <p:bldP spid="9234" grpId="0"/>
      <p:bldP spid="9235" grpId="0"/>
      <p:bldP spid="9240" grpId="0"/>
      <p:bldP spid="9241" grpId="0"/>
      <p:bldP spid="9243" grpId="0"/>
      <p:bldP spid="9244" grpId="0"/>
      <p:bldP spid="29" grpId="0"/>
      <p:bldP spid="3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4">
            <a:extLst>
              <a:ext uri="{FF2B5EF4-FFF2-40B4-BE49-F238E27FC236}">
                <a16:creationId xmlns:a16="http://schemas.microsoft.com/office/drawing/2014/main" id="{DC584DC7-8B92-44D8-AD5E-90860C366743}"/>
              </a:ext>
            </a:extLst>
          </p:cNvPr>
          <p:cNvSpPr>
            <a:spLocks noChangeArrowheads="1"/>
          </p:cNvSpPr>
          <p:nvPr/>
        </p:nvSpPr>
        <p:spPr bwMode="auto">
          <a:xfrm>
            <a:off x="1143000" y="1052514"/>
            <a:ext cx="990600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dirty="0">
                <a:latin typeface="+mj-lt"/>
              </a:rPr>
              <a:t>Los costos en que se valorizan los inventarios de productos terminados bajo un sistema de costeo directo son menores a aquellos que se valorizan  por sistema de costeo integral.</a:t>
            </a:r>
            <a:endParaRPr lang="es-ES" altLang="es-AR" sz="2000" dirty="0">
              <a:latin typeface="+mj-lt"/>
            </a:endParaRPr>
          </a:p>
        </p:txBody>
      </p:sp>
      <p:sp>
        <p:nvSpPr>
          <p:cNvPr id="10245" name="Rectangle 5">
            <a:extLst>
              <a:ext uri="{FF2B5EF4-FFF2-40B4-BE49-F238E27FC236}">
                <a16:creationId xmlns:a16="http://schemas.microsoft.com/office/drawing/2014/main" id="{14D65CC4-E3EA-4F48-BDA4-305A5E9783D7}"/>
              </a:ext>
            </a:extLst>
          </p:cNvPr>
          <p:cNvSpPr>
            <a:spLocks noChangeArrowheads="1"/>
          </p:cNvSpPr>
          <p:nvPr/>
        </p:nvSpPr>
        <p:spPr bwMode="auto">
          <a:xfrm>
            <a:off x="1158875" y="2347914"/>
            <a:ext cx="990600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a:latin typeface="+mj-lt"/>
              </a:rPr>
              <a:t>Cuando aumentan los inventarios, es decir, cuando lo vendido es menor a lo producido (Qp &gt; Qv), el costeo integral arroja un mayor beneficio que el sistema de costeo directo.</a:t>
            </a:r>
            <a:endParaRPr lang="es-ES" altLang="es-AR" sz="2000">
              <a:latin typeface="+mj-lt"/>
            </a:endParaRPr>
          </a:p>
        </p:txBody>
      </p:sp>
      <p:sp>
        <p:nvSpPr>
          <p:cNvPr id="10246" name="Rectangle 6">
            <a:extLst>
              <a:ext uri="{FF2B5EF4-FFF2-40B4-BE49-F238E27FC236}">
                <a16:creationId xmlns:a16="http://schemas.microsoft.com/office/drawing/2014/main" id="{F0960390-314B-4C78-AC99-F54D8793297B}"/>
              </a:ext>
            </a:extLst>
          </p:cNvPr>
          <p:cNvSpPr>
            <a:spLocks noChangeArrowheads="1"/>
          </p:cNvSpPr>
          <p:nvPr/>
        </p:nvSpPr>
        <p:spPr bwMode="auto">
          <a:xfrm>
            <a:off x="1127125" y="3644901"/>
            <a:ext cx="990600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a:latin typeface="+mj-lt"/>
              </a:rPr>
              <a:t>Cuando disminuyen los inventarios, es decir, cuando lo vendido es mayor a lo producido (Qp &lt; Qv), el costeo directo arroja un mayor beneficio que el sistema de costeo integral.</a:t>
            </a:r>
            <a:endParaRPr lang="es-ES" altLang="es-AR" sz="2000">
              <a:latin typeface="+mj-lt"/>
            </a:endParaRPr>
          </a:p>
        </p:txBody>
      </p:sp>
      <p:sp>
        <p:nvSpPr>
          <p:cNvPr id="10247" name="Rectangle 7">
            <a:extLst>
              <a:ext uri="{FF2B5EF4-FFF2-40B4-BE49-F238E27FC236}">
                <a16:creationId xmlns:a16="http://schemas.microsoft.com/office/drawing/2014/main" id="{D643A421-DCDD-4F96-8A2D-7722C2F0C840}"/>
              </a:ext>
            </a:extLst>
          </p:cNvPr>
          <p:cNvSpPr>
            <a:spLocks noChangeArrowheads="1"/>
          </p:cNvSpPr>
          <p:nvPr/>
        </p:nvSpPr>
        <p:spPr bwMode="auto">
          <a:xfrm>
            <a:off x="1127125" y="4940301"/>
            <a:ext cx="990600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a:latin typeface="+mj-lt"/>
              </a:rPr>
              <a:t>Cuando los inventarios al comienzo y al final del período son iguales, es decir, cuando se vende todo lo que se produce (Qp = Qv), ambos sistemas arrojan el mismo resultado.</a:t>
            </a:r>
            <a:endParaRPr lang="es-ES" altLang="es-AR" sz="2000">
              <a:latin typeface="+mj-lt"/>
            </a:endParaRPr>
          </a:p>
        </p:txBody>
      </p:sp>
      <p:sp>
        <p:nvSpPr>
          <p:cNvPr id="10249" name="Text Box 9">
            <a:extLst>
              <a:ext uri="{FF2B5EF4-FFF2-40B4-BE49-F238E27FC236}">
                <a16:creationId xmlns:a16="http://schemas.microsoft.com/office/drawing/2014/main" id="{D6E2FC4B-52AA-464A-B320-8554E0F046C6}"/>
              </a:ext>
            </a:extLst>
          </p:cNvPr>
          <p:cNvSpPr txBox="1">
            <a:spLocks noChangeArrowheads="1"/>
          </p:cNvSpPr>
          <p:nvPr/>
        </p:nvSpPr>
        <p:spPr bwMode="auto">
          <a:xfrm>
            <a:off x="1387476" y="185738"/>
            <a:ext cx="88122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85000"/>
                    <a:lumOff val="15000"/>
                  </a:schemeClr>
                </a:solidFill>
                <a:latin typeface="+mj-lt"/>
                <a:cs typeface="Arial" charset="0"/>
              </a:rPr>
              <a:t>DIFERENCIAS ENTRE AMBOS SISTEMAS</a:t>
            </a:r>
          </a:p>
        </p:txBody>
      </p:sp>
      <p:sp>
        <p:nvSpPr>
          <p:cNvPr id="2" name="Marcador de número de diapositiva 1">
            <a:extLst>
              <a:ext uri="{FF2B5EF4-FFF2-40B4-BE49-F238E27FC236}">
                <a16:creationId xmlns:a16="http://schemas.microsoft.com/office/drawing/2014/main" id="{595031B9-FB5D-46A9-B0AC-B3080EDD24D3}"/>
              </a:ext>
            </a:extLst>
          </p:cNvPr>
          <p:cNvSpPr>
            <a:spLocks noGrp="1"/>
          </p:cNvSpPr>
          <p:nvPr>
            <p:ph type="sldNum" sz="quarter" idx="12"/>
          </p:nvPr>
        </p:nvSpPr>
        <p:spPr/>
        <p:txBody>
          <a:bodyPr/>
          <a:lstStyle/>
          <a:p>
            <a:fld id="{D57F1E4F-1CFF-5643-939E-217C01CDF565}" type="slidenum">
              <a:rPr lang="en-US" smtClean="0"/>
              <a:pPr/>
              <a:t>19</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p:bldP spid="10245" grpId="0"/>
      <p:bldP spid="10246" grpId="0"/>
      <p:bldP spid="1024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Text Box 4">
            <a:extLst>
              <a:ext uri="{FF2B5EF4-FFF2-40B4-BE49-F238E27FC236}">
                <a16:creationId xmlns:a16="http://schemas.microsoft.com/office/drawing/2014/main" id="{F834AE8E-FFA2-4E97-8A7D-EBB08C15FF46}"/>
              </a:ext>
            </a:extLst>
          </p:cNvPr>
          <p:cNvSpPr txBox="1">
            <a:spLocks noChangeArrowheads="1"/>
          </p:cNvSpPr>
          <p:nvPr/>
        </p:nvSpPr>
        <p:spPr bwMode="auto">
          <a:xfrm>
            <a:off x="1387476" y="185738"/>
            <a:ext cx="881221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85000"/>
                    <a:lumOff val="15000"/>
                  </a:schemeClr>
                </a:solidFill>
                <a:latin typeface="+mj-lt"/>
                <a:cs typeface="Arial" charset="0"/>
              </a:rPr>
              <a:t>DIFERENCIAS ENTRE AMBOS SISTEMAS</a:t>
            </a:r>
          </a:p>
        </p:txBody>
      </p:sp>
      <p:sp>
        <p:nvSpPr>
          <p:cNvPr id="11269" name="Rectangle 5">
            <a:extLst>
              <a:ext uri="{FF2B5EF4-FFF2-40B4-BE49-F238E27FC236}">
                <a16:creationId xmlns:a16="http://schemas.microsoft.com/office/drawing/2014/main" id="{D9C61AE7-8C66-48E1-A43E-9A2EEC264532}"/>
              </a:ext>
            </a:extLst>
          </p:cNvPr>
          <p:cNvSpPr>
            <a:spLocks noChangeArrowheads="1"/>
          </p:cNvSpPr>
          <p:nvPr/>
        </p:nvSpPr>
        <p:spPr bwMode="auto">
          <a:xfrm>
            <a:off x="1128713" y="1052514"/>
            <a:ext cx="9906001" cy="158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dirty="0">
                <a:latin typeface="+mj-lt"/>
              </a:rPr>
              <a:t>En el Sistema de Costeo Integral o por Absorción, las existencias de producción terminada al finalizar el ejercicio, están inmovilizando costos fijos al ejercicio siguiente perjudicando los resultados del ejercicio actual.</a:t>
            </a:r>
            <a:endParaRPr lang="es-ES" altLang="es-AR" sz="2000" dirty="0">
              <a:latin typeface="+mj-lt"/>
            </a:endParaRPr>
          </a:p>
        </p:txBody>
      </p:sp>
      <p:sp>
        <p:nvSpPr>
          <p:cNvPr id="11270" name="Rectangle 6">
            <a:extLst>
              <a:ext uri="{FF2B5EF4-FFF2-40B4-BE49-F238E27FC236}">
                <a16:creationId xmlns:a16="http://schemas.microsoft.com/office/drawing/2014/main" id="{20098997-DB4A-4C31-A1B7-640EE660BCCC}"/>
              </a:ext>
            </a:extLst>
          </p:cNvPr>
          <p:cNvSpPr>
            <a:spLocks noChangeArrowheads="1"/>
          </p:cNvSpPr>
          <p:nvPr/>
        </p:nvSpPr>
        <p:spPr bwMode="auto">
          <a:xfrm>
            <a:off x="1131888" y="2492375"/>
            <a:ext cx="9906001" cy="194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a:latin typeface="+mj-lt"/>
              </a:rPr>
              <a:t>Los defensores del Sistema de Costeo Directo o Variable promueven que el verdadero costo de producción es el que se forma únicamente con el costo variable, dado que los costos fijos corresponden al período en el que se producen y por consiguiente deben liquidarse en él, y no diferirse en los stocks.</a:t>
            </a:r>
            <a:endParaRPr lang="es-ES" altLang="es-AR" sz="2000">
              <a:latin typeface="+mj-lt"/>
            </a:endParaRPr>
          </a:p>
        </p:txBody>
      </p:sp>
      <p:sp>
        <p:nvSpPr>
          <p:cNvPr id="11271" name="Rectangle 7">
            <a:extLst>
              <a:ext uri="{FF2B5EF4-FFF2-40B4-BE49-F238E27FC236}">
                <a16:creationId xmlns:a16="http://schemas.microsoft.com/office/drawing/2014/main" id="{B270AB06-BDE2-4EA2-9509-0AEDCF44CBA4}"/>
              </a:ext>
            </a:extLst>
          </p:cNvPr>
          <p:cNvSpPr>
            <a:spLocks noChangeArrowheads="1"/>
          </p:cNvSpPr>
          <p:nvPr/>
        </p:nvSpPr>
        <p:spPr bwMode="auto">
          <a:xfrm>
            <a:off x="1127125" y="4292601"/>
            <a:ext cx="99060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a:latin typeface="+mj-lt"/>
              </a:rPr>
              <a:t>En la contabilidad de la empresa se utiliza el Sistema de Costeo Integral ó por Absorción, aunque en general suelen llevar un Sistema de Costeo Variable con la finalidad de conocer el margen de contribución de cada línea de productos y el punto de equilibrio económico para tomar decisiones comerciales.</a:t>
            </a:r>
            <a:endParaRPr lang="es-ES" altLang="es-AR" sz="2000">
              <a:latin typeface="+mj-lt"/>
            </a:endParaRPr>
          </a:p>
        </p:txBody>
      </p:sp>
      <p:sp>
        <p:nvSpPr>
          <p:cNvPr id="2" name="Marcador de número de diapositiva 1">
            <a:extLst>
              <a:ext uri="{FF2B5EF4-FFF2-40B4-BE49-F238E27FC236}">
                <a16:creationId xmlns:a16="http://schemas.microsoft.com/office/drawing/2014/main" id="{E7118E0B-6336-4B74-8DD3-274E49E80AF5}"/>
              </a:ext>
            </a:extLst>
          </p:cNvPr>
          <p:cNvSpPr>
            <a:spLocks noGrp="1"/>
          </p:cNvSpPr>
          <p:nvPr>
            <p:ph type="sldNum" sz="quarter" idx="12"/>
          </p:nvPr>
        </p:nvSpPr>
        <p:spPr/>
        <p:txBody>
          <a:bodyPr/>
          <a:lstStyle/>
          <a:p>
            <a:fld id="{D57F1E4F-1CFF-5643-939E-217C01CDF565}" type="slidenum">
              <a:rPr lang="en-US" smtClean="0"/>
              <a:pPr/>
              <a:t>20</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7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9" grpId="0"/>
      <p:bldP spid="11270" grpId="0"/>
      <p:bldP spid="11271" grpId="0"/>
    </p:bldLst>
  </p:timing>
</p:sld>
</file>

<file path=ppt/theme/theme1.xml><?xml version="1.0" encoding="utf-8"?>
<a:theme xmlns:a="http://schemas.openxmlformats.org/drawingml/2006/main" name="Espiral">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4285</TotalTime>
  <Words>1668</Words>
  <Application>Microsoft Office PowerPoint</Application>
  <PresentationFormat>Panorámica</PresentationFormat>
  <Paragraphs>270</Paragraphs>
  <Slides>20</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20</vt:i4>
      </vt:variant>
    </vt:vector>
  </HeadingPairs>
  <TitlesOfParts>
    <vt:vector size="26" baseType="lpstr">
      <vt:lpstr>Arial</vt:lpstr>
      <vt:lpstr>Calibri</vt:lpstr>
      <vt:lpstr>Century Gothic</vt:lpstr>
      <vt:lpstr>Tahoma</vt:lpstr>
      <vt:lpstr>Wingdings 3</vt:lpstr>
      <vt:lpstr>Espiral</vt:lpstr>
      <vt:lpstr>COSTOS Y PRESUPUESTOS</vt:lpstr>
      <vt:lpstr>BENEFICIO DEL EMPRESARIO </vt:lpstr>
      <vt:lpstr>BENEFICIO DEL EMPRESARIO</vt:lpstr>
      <vt:lpstr>BENEFICIO DEL EMPRESARIO</vt:lpstr>
      <vt:lpstr>BENEFICIO DEL EMPRESARIO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SISTEMAS DE COSTEO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COSTOS Y PRESUPUESTOS</dc:title>
  <dc:creator>gustavo massucco</dc:creator>
  <cp:lastModifiedBy>gustavo massucco</cp:lastModifiedBy>
  <cp:revision>186</cp:revision>
  <dcterms:created xsi:type="dcterms:W3CDTF">2020-04-19T20:11:04Z</dcterms:created>
  <dcterms:modified xsi:type="dcterms:W3CDTF">2021-06-07T12:31:42Z</dcterms:modified>
</cp:coreProperties>
</file>