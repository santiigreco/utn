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0"/>
  </p:notesMasterIdLst>
  <p:sldIdLst>
    <p:sldId id="256" r:id="rId2"/>
    <p:sldId id="310" r:id="rId3"/>
    <p:sldId id="259" r:id="rId4"/>
    <p:sldId id="317" r:id="rId5"/>
    <p:sldId id="318" r:id="rId6"/>
    <p:sldId id="319" r:id="rId7"/>
    <p:sldId id="321" r:id="rId8"/>
    <p:sldId id="320" r:id="rId9"/>
    <p:sldId id="311" r:id="rId10"/>
    <p:sldId id="312" r:id="rId11"/>
    <p:sldId id="313" r:id="rId12"/>
    <p:sldId id="322" r:id="rId13"/>
    <p:sldId id="323" r:id="rId14"/>
    <p:sldId id="314" r:id="rId15"/>
    <p:sldId id="269" r:id="rId16"/>
    <p:sldId id="324" r:id="rId17"/>
    <p:sldId id="315" r:id="rId18"/>
    <p:sldId id="316" r:id="rId19"/>
    <p:sldId id="272" r:id="rId20"/>
    <p:sldId id="325" r:id="rId21"/>
    <p:sldId id="270" r:id="rId22"/>
    <p:sldId id="326" r:id="rId23"/>
    <p:sldId id="327" r:id="rId24"/>
    <p:sldId id="336" r:id="rId25"/>
    <p:sldId id="337" r:id="rId26"/>
    <p:sldId id="338" r:id="rId27"/>
    <p:sldId id="339" r:id="rId28"/>
    <p:sldId id="328" r:id="rId29"/>
    <p:sldId id="340" r:id="rId30"/>
    <p:sldId id="341" r:id="rId31"/>
    <p:sldId id="330" r:id="rId32"/>
    <p:sldId id="331" r:id="rId33"/>
    <p:sldId id="329" r:id="rId34"/>
    <p:sldId id="342" r:id="rId35"/>
    <p:sldId id="343" r:id="rId36"/>
    <p:sldId id="277" r:id="rId37"/>
    <p:sldId id="345" r:id="rId38"/>
    <p:sldId id="332"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ustavo massucco" initials="gm" lastIdx="1" clrIdx="0">
    <p:extLst>
      <p:ext uri="{19B8F6BF-5375-455C-9EA6-DF929625EA0E}">
        <p15:presenceInfo xmlns:p15="http://schemas.microsoft.com/office/powerpoint/2012/main" userId="S::gmassucco@frba.utn.edu.ar::1271f782-c2a0-484f-8edc-abfea8ad4a0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136" autoAdjust="0"/>
    <p:restoredTop sz="94678" autoAdjust="0"/>
  </p:normalViewPr>
  <p:slideViewPr>
    <p:cSldViewPr snapToGrid="0">
      <p:cViewPr varScale="1">
        <p:scale>
          <a:sx n="82" d="100"/>
          <a:sy n="82" d="100"/>
        </p:scale>
        <p:origin x="1047" y="7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FA441F-8982-4902-B1FE-08DF82218E62}" type="datetimeFigureOut">
              <a:rPr lang="es-AR" smtClean="0"/>
              <a:t>25/5/2020</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57D551-39DC-4B61-9B7A-D9ED28759857}" type="slidenum">
              <a:rPr lang="es-AR" smtClean="0"/>
              <a:t>‹Nº›</a:t>
            </a:fld>
            <a:endParaRPr lang="es-AR"/>
          </a:p>
        </p:txBody>
      </p:sp>
    </p:spTree>
    <p:extLst>
      <p:ext uri="{BB962C8B-B14F-4D97-AF65-F5344CB8AC3E}">
        <p14:creationId xmlns:p14="http://schemas.microsoft.com/office/powerpoint/2010/main" val="2440336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61ADDDEC-CEAE-4958-AF2E-A652973227D6}" type="datetime1">
              <a:rPr lang="en-US" smtClean="0"/>
              <a:t>5/25/2020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6C466B5-F1D3-4CBE-B5B5-01B599D3FAC5}" type="datetime1">
              <a:rPr lang="en-US" smtClean="0"/>
              <a:t>5/25/2020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64F4789-420A-46E0-AB53-49CBE2935B98}" type="datetime1">
              <a:rPr lang="en-US" smtClean="0"/>
              <a:t>5/25/2020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5344F6BC-7072-4A02-BE22-7E83DC50EFDC}" type="datetime1">
              <a:rPr lang="en-US" smtClean="0"/>
              <a:t>5/25/2020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C77A943D-2488-409C-B820-8258EF09B248}" type="datetime1">
              <a:rPr lang="en-US" smtClean="0"/>
              <a:t>5/25/2020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ED2CF09C-31FA-44C5-AE21-A50FDA215DD7}" type="datetime1">
              <a:rPr lang="en-US" smtClean="0"/>
              <a:t>5/25/2020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D8F211-FE31-49C8-B2E3-3047AE8F24D4}" type="datetime1">
              <a:rPr lang="en-US" smtClean="0"/>
              <a:t>5/25/2020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66F4A178-C823-4382-927E-8DCB4F492089}" type="datetime1">
              <a:rPr lang="en-US" smtClean="0"/>
              <a:t>5/25/2020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FD251A94-9B78-4D71-91E6-CDBD7C98F74F}" type="datetime1">
              <a:rPr lang="en-US" smtClean="0"/>
              <a:t>5/25/2020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727527EC-E532-4095-A280-31F8C1DD719D}" type="datetime1">
              <a:rPr lang="en-US" smtClean="0"/>
              <a:t>5/25/2020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EC97BDFC-AF62-446D-8E4A-A9D1CC387A79}" type="datetime1">
              <a:rPr lang="en-US" smtClean="0"/>
              <a:t>5/25/2020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‹Nº›</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29197C3F-8E24-461F-8D73-3809773E44B4}" type="datetime1">
              <a:rPr lang="en-US" smtClean="0"/>
              <a:t>5/25/2020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5576EEFB-637E-4367-9839-D6758327E771}" type="datetime1">
              <a:rPr lang="en-US" smtClean="0"/>
              <a:t>5/25/2020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F1C1C82A-F915-4F81-93E7-D4BB6A0DDAD8}" type="datetime1">
              <a:rPr lang="en-US" smtClean="0"/>
              <a:t>5/25/2020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AF6C466-A9D9-41F6-B6C1-EC3971E7BC36}" type="datetime1">
              <a:rPr lang="en-US" smtClean="0"/>
              <a:t>5/25/2020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D2D256F9-E7F5-4AFF-8BC8-E1B462B27233}" type="datetime1">
              <a:rPr lang="en-US" smtClean="0"/>
              <a:t>5/25/2020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ECC3B5AB-643F-4A09-BBE6-61447B2CF303}" type="datetime1">
              <a:rPr lang="en-US" smtClean="0"/>
              <a:t>5/25/2020</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5">
            <a:extLst>
              <a:ext uri="{FF2B5EF4-FFF2-40B4-BE49-F238E27FC236}">
                <a16:creationId xmlns:a16="http://schemas.microsoft.com/office/drawing/2014/main" id="{F5642E8C-FD90-47FB-9533-A90C5141EDEF}"/>
              </a:ext>
            </a:extLst>
          </p:cNvPr>
          <p:cNvSpPr txBox="1">
            <a:spLocks noGrp="1" noChangeArrowheads="1"/>
          </p:cNvSpPr>
          <p:nvPr>
            <p:ph type="ctrTitle"/>
          </p:nvPr>
        </p:nvSpPr>
        <p:spPr bwMode="auto">
          <a:xfrm>
            <a:off x="2589213" y="1619547"/>
            <a:ext cx="89154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defRPr/>
            </a:pPr>
            <a:r>
              <a:rPr lang="es-MX" altLang="es-AR" dirty="0">
                <a:effectLst>
                  <a:outerShdw blurRad="38100" dist="38100" dir="2700000" algn="tl">
                    <a:srgbClr val="C0C0C0"/>
                  </a:outerShdw>
                </a:effectLst>
                <a:latin typeface="Tahoma" pitchFamily="34" charset="0"/>
                <a:cs typeface="Arial" charset="0"/>
              </a:rPr>
              <a:t>ECONOMIA</a:t>
            </a:r>
          </a:p>
        </p:txBody>
      </p:sp>
      <p:sp>
        <p:nvSpPr>
          <p:cNvPr id="5" name="Text Box 26">
            <a:extLst>
              <a:ext uri="{FF2B5EF4-FFF2-40B4-BE49-F238E27FC236}">
                <a16:creationId xmlns:a16="http://schemas.microsoft.com/office/drawing/2014/main" id="{27735A57-3B03-42B6-BDFC-E5E8B31EF7BE}"/>
              </a:ext>
            </a:extLst>
          </p:cNvPr>
          <p:cNvSpPr txBox="1">
            <a:spLocks noGrp="1" noChangeArrowheads="1"/>
          </p:cNvSpPr>
          <p:nvPr>
            <p:ph type="subTitle" idx="1"/>
          </p:nvPr>
        </p:nvSpPr>
        <p:spPr bwMode="auto">
          <a:xfrm>
            <a:off x="2589213" y="4776788"/>
            <a:ext cx="89154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defRPr/>
            </a:pPr>
            <a:r>
              <a:rPr lang="es-MX" altLang="es-AR" sz="4400" dirty="0">
                <a:effectLst>
                  <a:outerShdw blurRad="38100" dist="38100" dir="2700000" algn="tl">
                    <a:srgbClr val="C0C0C0"/>
                  </a:outerShdw>
                </a:effectLst>
                <a:latin typeface="Tahoma" pitchFamily="34" charset="0"/>
                <a:cs typeface="Arial" charset="0"/>
              </a:rPr>
              <a:t>Clasificación de los costos</a:t>
            </a:r>
          </a:p>
        </p:txBody>
      </p:sp>
      <p:sp>
        <p:nvSpPr>
          <p:cNvPr id="6" name="CuadroTexto 5">
            <a:extLst>
              <a:ext uri="{FF2B5EF4-FFF2-40B4-BE49-F238E27FC236}">
                <a16:creationId xmlns:a16="http://schemas.microsoft.com/office/drawing/2014/main" id="{D9FA0E92-5CE1-472E-A758-7CE737D9664B}"/>
              </a:ext>
            </a:extLst>
          </p:cNvPr>
          <p:cNvSpPr txBox="1"/>
          <p:nvPr/>
        </p:nvSpPr>
        <p:spPr>
          <a:xfrm>
            <a:off x="3108035" y="3023361"/>
            <a:ext cx="8396578" cy="400110"/>
          </a:xfrm>
          <a:prstGeom prst="rect">
            <a:avLst/>
          </a:prstGeom>
          <a:noFill/>
        </p:spPr>
        <p:txBody>
          <a:bodyPr wrap="square" rtlCol="0">
            <a:spAutoFit/>
          </a:bodyPr>
          <a:lstStyle/>
          <a:p>
            <a:r>
              <a:rPr lang="es-AR" sz="2000" dirty="0"/>
              <a:t>Ingeniero Gustavo Massucco</a:t>
            </a:r>
          </a:p>
        </p:txBody>
      </p:sp>
      <p:sp>
        <p:nvSpPr>
          <p:cNvPr id="7" name="Marcador de número de diapositiva 6">
            <a:extLst>
              <a:ext uri="{FF2B5EF4-FFF2-40B4-BE49-F238E27FC236}">
                <a16:creationId xmlns:a16="http://schemas.microsoft.com/office/drawing/2014/main" id="{33674575-47D4-476C-8772-8197234BCF0D}"/>
              </a:ext>
            </a:extLst>
          </p:cNvPr>
          <p:cNvSpPr>
            <a:spLocks noGrp="1"/>
          </p:cNvSpPr>
          <p:nvPr>
            <p:ph type="sldNum" sz="quarter" idx="12"/>
          </p:nvPr>
        </p:nvSpPr>
        <p:spPr/>
        <p:txBody>
          <a:bodyPr/>
          <a:lstStyle/>
          <a:p>
            <a:fld id="{D57F1E4F-1CFF-5643-939E-217C01CDF565}" type="slidenum">
              <a:rPr lang="en-US" smtClean="0"/>
              <a:pPr/>
              <a:t>1</a:t>
            </a:fld>
            <a:endParaRPr lang="en-US" dirty="0"/>
          </a:p>
        </p:txBody>
      </p:sp>
    </p:spTree>
    <p:extLst>
      <p:ext uri="{BB962C8B-B14F-4D97-AF65-F5344CB8AC3E}">
        <p14:creationId xmlns:p14="http://schemas.microsoft.com/office/powerpoint/2010/main" val="42863198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5">
            <a:extLst>
              <a:ext uri="{FF2B5EF4-FFF2-40B4-BE49-F238E27FC236}">
                <a16:creationId xmlns:a16="http://schemas.microsoft.com/office/drawing/2014/main" id="{F5642E8C-FD90-47FB-9533-A90C5141EDEF}"/>
              </a:ext>
            </a:extLst>
          </p:cNvPr>
          <p:cNvSpPr txBox="1">
            <a:spLocks noGrp="1" noChangeArrowheads="1"/>
          </p:cNvSpPr>
          <p:nvPr>
            <p:ph type="ctrTitle"/>
          </p:nvPr>
        </p:nvSpPr>
        <p:spPr bwMode="auto">
          <a:xfrm>
            <a:off x="1188720" y="961708"/>
            <a:ext cx="10553637"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1" hangingPunct="1">
              <a:defRPr/>
            </a:pPr>
            <a:r>
              <a:rPr lang="es-MX" altLang="es-AR" dirty="0">
                <a:solidFill>
                  <a:schemeClr val="tx1">
                    <a:lumMod val="75000"/>
                    <a:lumOff val="25000"/>
                  </a:schemeClr>
                </a:solidFill>
                <a:effectLst>
                  <a:outerShdw blurRad="38100" dist="38100" dir="2700000" algn="tl">
                    <a:srgbClr val="C0C0C0"/>
                  </a:outerShdw>
                </a:effectLst>
                <a:latin typeface="Tahoma" pitchFamily="34" charset="0"/>
                <a:cs typeface="Arial" charset="0"/>
              </a:rPr>
              <a:t>CLASIFICACION DE LOS COSTOS</a:t>
            </a:r>
          </a:p>
        </p:txBody>
      </p:sp>
      <p:sp>
        <p:nvSpPr>
          <p:cNvPr id="5" name="Text Box 26">
            <a:extLst>
              <a:ext uri="{FF2B5EF4-FFF2-40B4-BE49-F238E27FC236}">
                <a16:creationId xmlns:a16="http://schemas.microsoft.com/office/drawing/2014/main" id="{27735A57-3B03-42B6-BDFC-E5E8B31EF7BE}"/>
              </a:ext>
            </a:extLst>
          </p:cNvPr>
          <p:cNvSpPr txBox="1">
            <a:spLocks noGrp="1" noChangeArrowheads="1"/>
          </p:cNvSpPr>
          <p:nvPr>
            <p:ph type="subTitle" idx="1"/>
          </p:nvPr>
        </p:nvSpPr>
        <p:spPr bwMode="auto">
          <a:xfrm>
            <a:off x="2269173" y="3551492"/>
            <a:ext cx="89154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defRPr/>
            </a:pPr>
            <a:r>
              <a:rPr lang="es-MX" altLang="es-AR" sz="4400" dirty="0">
                <a:effectLst>
                  <a:outerShdw blurRad="38100" dist="38100" dir="2700000" algn="tl">
                    <a:srgbClr val="C0C0C0"/>
                  </a:outerShdw>
                </a:effectLst>
                <a:latin typeface="Tahoma" pitchFamily="34" charset="0"/>
                <a:cs typeface="Arial" charset="0"/>
              </a:rPr>
              <a:t>Costos Fijos y Variables</a:t>
            </a:r>
          </a:p>
        </p:txBody>
      </p:sp>
      <p:sp>
        <p:nvSpPr>
          <p:cNvPr id="6" name="CuadroTexto 5">
            <a:extLst>
              <a:ext uri="{FF2B5EF4-FFF2-40B4-BE49-F238E27FC236}">
                <a16:creationId xmlns:a16="http://schemas.microsoft.com/office/drawing/2014/main" id="{D9FA0E92-5CE1-472E-A758-7CE737D9664B}"/>
              </a:ext>
            </a:extLst>
          </p:cNvPr>
          <p:cNvSpPr txBox="1"/>
          <p:nvPr/>
        </p:nvSpPr>
        <p:spPr>
          <a:xfrm>
            <a:off x="1654139" y="2039102"/>
            <a:ext cx="8396578" cy="400110"/>
          </a:xfrm>
          <a:prstGeom prst="rect">
            <a:avLst/>
          </a:prstGeom>
          <a:noFill/>
        </p:spPr>
        <p:txBody>
          <a:bodyPr wrap="square" rtlCol="0">
            <a:spAutoFit/>
          </a:bodyPr>
          <a:lstStyle/>
          <a:p>
            <a:r>
              <a:rPr lang="es-AR" sz="2000" dirty="0">
                <a:solidFill>
                  <a:schemeClr val="tx1">
                    <a:lumMod val="75000"/>
                    <a:lumOff val="25000"/>
                  </a:schemeClr>
                </a:solidFill>
              </a:rPr>
              <a:t>Según su variabilidad</a:t>
            </a:r>
          </a:p>
        </p:txBody>
      </p:sp>
      <p:sp>
        <p:nvSpPr>
          <p:cNvPr id="7" name="Marcador de número de diapositiva 6">
            <a:extLst>
              <a:ext uri="{FF2B5EF4-FFF2-40B4-BE49-F238E27FC236}">
                <a16:creationId xmlns:a16="http://schemas.microsoft.com/office/drawing/2014/main" id="{33674575-47D4-476C-8772-8197234BCF0D}"/>
              </a:ext>
            </a:extLst>
          </p:cNvPr>
          <p:cNvSpPr>
            <a:spLocks noGrp="1"/>
          </p:cNvSpPr>
          <p:nvPr>
            <p:ph type="sldNum" sz="quarter" idx="12"/>
          </p:nvPr>
        </p:nvSpPr>
        <p:spPr/>
        <p:txBody>
          <a:bodyPr/>
          <a:lstStyle/>
          <a:p>
            <a:fld id="{D57F1E4F-1CFF-5643-939E-217C01CDF565}" type="slidenum">
              <a:rPr lang="en-US" smtClean="0"/>
              <a:pPr/>
              <a:t>2</a:t>
            </a:fld>
            <a:endParaRPr lang="en-US" dirty="0"/>
          </a:p>
        </p:txBody>
      </p:sp>
    </p:spTree>
    <p:extLst>
      <p:ext uri="{BB962C8B-B14F-4D97-AF65-F5344CB8AC3E}">
        <p14:creationId xmlns:p14="http://schemas.microsoft.com/office/powerpoint/2010/main" val="34790872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ext Box 4">
            <a:extLst>
              <a:ext uri="{FF2B5EF4-FFF2-40B4-BE49-F238E27FC236}">
                <a16:creationId xmlns:a16="http://schemas.microsoft.com/office/drawing/2014/main" id="{7375A05C-C61D-4DEF-968A-D068DBB6C692}"/>
              </a:ext>
            </a:extLst>
          </p:cNvPr>
          <p:cNvSpPr txBox="1">
            <a:spLocks noChangeArrowheads="1"/>
          </p:cNvSpPr>
          <p:nvPr/>
        </p:nvSpPr>
        <p:spPr bwMode="auto">
          <a:xfrm>
            <a:off x="1387476" y="185738"/>
            <a:ext cx="75168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effectLst>
                  <a:outerShdw blurRad="38100" dist="38100" dir="2700000" algn="tl">
                    <a:srgbClr val="000000">
                      <a:alpha val="43137"/>
                    </a:srgbClr>
                  </a:outerShdw>
                </a:effectLst>
                <a:latin typeface="Century Gothic" panose="020B0502020202020204" pitchFamily="34" charset="0"/>
              </a:rPr>
              <a:t>COSTOS VARIABLES</a:t>
            </a:r>
          </a:p>
        </p:txBody>
      </p:sp>
      <p:sp>
        <p:nvSpPr>
          <p:cNvPr id="5139" name="Text Box 19">
            <a:extLst>
              <a:ext uri="{FF2B5EF4-FFF2-40B4-BE49-F238E27FC236}">
                <a16:creationId xmlns:a16="http://schemas.microsoft.com/office/drawing/2014/main" id="{44784B59-7E42-44A3-ADD6-CB6A81D688B6}"/>
              </a:ext>
            </a:extLst>
          </p:cNvPr>
          <p:cNvSpPr txBox="1">
            <a:spLocks noChangeArrowheads="1"/>
          </p:cNvSpPr>
          <p:nvPr/>
        </p:nvSpPr>
        <p:spPr bwMode="auto">
          <a:xfrm>
            <a:off x="2292161" y="2405190"/>
            <a:ext cx="9217025"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342900" indent="-342900" eaLnBrk="1" hangingPunct="1">
              <a:spcBef>
                <a:spcPct val="50000"/>
              </a:spcBef>
              <a:buClr>
                <a:srgbClr val="92D050"/>
              </a:buClr>
              <a:buFont typeface="Arial" panose="020B0604020202020204" pitchFamily="34" charset="0"/>
              <a:buChar char="•"/>
            </a:pPr>
            <a:r>
              <a:rPr lang="es-AR" altLang="es-AR" sz="2000" dirty="0">
                <a:solidFill>
                  <a:schemeClr val="tx1">
                    <a:lumMod val="75000"/>
                    <a:lumOff val="25000"/>
                  </a:schemeClr>
                </a:solidFill>
                <a:latin typeface="+mj-lt"/>
              </a:rPr>
              <a:t>Son aquellos costos de todos los factores de la producción cuya cantidad puede ser alterada a corto plazo. </a:t>
            </a:r>
          </a:p>
          <a:p>
            <a:pPr marL="342900" indent="-342900" eaLnBrk="1" hangingPunct="1">
              <a:spcBef>
                <a:spcPct val="50000"/>
              </a:spcBef>
              <a:buClr>
                <a:srgbClr val="92D050"/>
              </a:buClr>
              <a:buFont typeface="Arial" panose="020B0604020202020204" pitchFamily="34" charset="0"/>
              <a:buChar char="•"/>
            </a:pPr>
            <a:r>
              <a:rPr lang="es-AR" altLang="es-AR" sz="2000" dirty="0">
                <a:solidFill>
                  <a:schemeClr val="tx1">
                    <a:lumMod val="75000"/>
                    <a:lumOff val="25000"/>
                  </a:schemeClr>
                </a:solidFill>
                <a:latin typeface="+mj-lt"/>
              </a:rPr>
              <a:t>Son directamente proporcionales al número de unidades que se fabrican</a:t>
            </a:r>
            <a:endParaRPr lang="es-AR" altLang="es-AR" sz="2000" b="1" dirty="0">
              <a:solidFill>
                <a:schemeClr val="tx1">
                  <a:lumMod val="75000"/>
                  <a:lumOff val="25000"/>
                </a:schemeClr>
              </a:solidFill>
              <a:latin typeface="+mj-lt"/>
            </a:endParaRPr>
          </a:p>
        </p:txBody>
      </p:sp>
      <p:sp>
        <p:nvSpPr>
          <p:cNvPr id="2" name="Marcador de número de diapositiva 1">
            <a:extLst>
              <a:ext uri="{FF2B5EF4-FFF2-40B4-BE49-F238E27FC236}">
                <a16:creationId xmlns:a16="http://schemas.microsoft.com/office/drawing/2014/main" id="{530E773F-E59C-4E95-9B4F-EFCF38B1F56C}"/>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ext Box 4">
            <a:extLst>
              <a:ext uri="{FF2B5EF4-FFF2-40B4-BE49-F238E27FC236}">
                <a16:creationId xmlns:a16="http://schemas.microsoft.com/office/drawing/2014/main" id="{7375A05C-C61D-4DEF-968A-D068DBB6C692}"/>
              </a:ext>
            </a:extLst>
          </p:cNvPr>
          <p:cNvSpPr txBox="1">
            <a:spLocks noChangeArrowheads="1"/>
          </p:cNvSpPr>
          <p:nvPr/>
        </p:nvSpPr>
        <p:spPr bwMode="auto">
          <a:xfrm>
            <a:off x="1387476" y="185738"/>
            <a:ext cx="75168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effectLst>
                  <a:outerShdw blurRad="38100" dist="38100" dir="2700000" algn="tl">
                    <a:srgbClr val="000000">
                      <a:alpha val="43137"/>
                    </a:srgbClr>
                  </a:outerShdw>
                </a:effectLst>
                <a:latin typeface="Century Gothic" panose="020B0502020202020204" pitchFamily="34" charset="0"/>
              </a:rPr>
              <a:t>COSTOS VARIABLES</a:t>
            </a:r>
          </a:p>
        </p:txBody>
      </p:sp>
      <p:sp>
        <p:nvSpPr>
          <p:cNvPr id="5139" name="Text Box 19">
            <a:extLst>
              <a:ext uri="{FF2B5EF4-FFF2-40B4-BE49-F238E27FC236}">
                <a16:creationId xmlns:a16="http://schemas.microsoft.com/office/drawing/2014/main" id="{44784B59-7E42-44A3-ADD6-CB6A81D688B6}"/>
              </a:ext>
            </a:extLst>
          </p:cNvPr>
          <p:cNvSpPr txBox="1">
            <a:spLocks noChangeArrowheads="1"/>
          </p:cNvSpPr>
          <p:nvPr/>
        </p:nvSpPr>
        <p:spPr bwMode="auto">
          <a:xfrm>
            <a:off x="1487489" y="1189038"/>
            <a:ext cx="92170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buClr>
                <a:srgbClr val="92D050"/>
              </a:buClr>
            </a:pPr>
            <a:r>
              <a:rPr lang="es-AR" altLang="es-AR" sz="2400" b="1" dirty="0">
                <a:solidFill>
                  <a:schemeClr val="tx1">
                    <a:lumMod val="75000"/>
                    <a:lumOff val="25000"/>
                  </a:schemeClr>
                </a:solidFill>
                <a:latin typeface="+mj-lt"/>
              </a:rPr>
              <a:t>Podemos identificar 3 clases de variables</a:t>
            </a:r>
            <a:r>
              <a:rPr lang="es-AR" altLang="es-AR" sz="2000" dirty="0">
                <a:solidFill>
                  <a:schemeClr val="tx1">
                    <a:lumMod val="75000"/>
                    <a:lumOff val="25000"/>
                  </a:schemeClr>
                </a:solidFill>
                <a:latin typeface="+mj-lt"/>
              </a:rPr>
              <a:t>:</a:t>
            </a:r>
            <a:endParaRPr lang="es-AR" altLang="es-AR" sz="2000" b="1" dirty="0">
              <a:solidFill>
                <a:schemeClr val="tx1">
                  <a:lumMod val="75000"/>
                  <a:lumOff val="25000"/>
                </a:schemeClr>
              </a:solidFill>
              <a:latin typeface="+mj-lt"/>
            </a:endParaRPr>
          </a:p>
        </p:txBody>
      </p:sp>
      <p:sp>
        <p:nvSpPr>
          <p:cNvPr id="5141" name="Text Box 21">
            <a:extLst>
              <a:ext uri="{FF2B5EF4-FFF2-40B4-BE49-F238E27FC236}">
                <a16:creationId xmlns:a16="http://schemas.microsoft.com/office/drawing/2014/main" id="{A0DC5398-0B13-4725-AE40-FCA33BB14619}"/>
              </a:ext>
            </a:extLst>
          </p:cNvPr>
          <p:cNvSpPr txBox="1">
            <a:spLocks noChangeArrowheads="1"/>
          </p:cNvSpPr>
          <p:nvPr/>
        </p:nvSpPr>
        <p:spPr bwMode="auto">
          <a:xfrm>
            <a:off x="2319592" y="3932237"/>
            <a:ext cx="424815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eaLnBrk="1" hangingPunct="1">
              <a:spcBef>
                <a:spcPct val="50000"/>
              </a:spcBef>
              <a:buClr>
                <a:srgbClr val="92D050"/>
              </a:buClr>
              <a:buFont typeface="Arial" panose="020B0604020202020204" pitchFamily="34" charset="0"/>
              <a:buChar char="•"/>
              <a:defRPr/>
            </a:pPr>
            <a:r>
              <a:rPr lang="es-AR" altLang="es-AR" sz="2000" dirty="0">
                <a:solidFill>
                  <a:schemeClr val="tx1">
                    <a:lumMod val="75000"/>
                    <a:lumOff val="25000"/>
                  </a:schemeClr>
                </a:solidFill>
                <a:latin typeface="Century Gothic" panose="020B0502020202020204" pitchFamily="34" charset="0"/>
              </a:rPr>
              <a:t>Costo Variable o Directo de Fabricación</a:t>
            </a:r>
          </a:p>
        </p:txBody>
      </p:sp>
      <p:sp>
        <p:nvSpPr>
          <p:cNvPr id="5142" name="Text Box 22">
            <a:extLst>
              <a:ext uri="{FF2B5EF4-FFF2-40B4-BE49-F238E27FC236}">
                <a16:creationId xmlns:a16="http://schemas.microsoft.com/office/drawing/2014/main" id="{F5D21457-E1F3-44F1-BCFF-85AC47421D70}"/>
              </a:ext>
            </a:extLst>
          </p:cNvPr>
          <p:cNvSpPr txBox="1">
            <a:spLocks noChangeArrowheads="1"/>
          </p:cNvSpPr>
          <p:nvPr/>
        </p:nvSpPr>
        <p:spPr bwMode="auto">
          <a:xfrm>
            <a:off x="6567743" y="3500437"/>
            <a:ext cx="371925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spcBef>
                <a:spcPct val="50000"/>
              </a:spcBef>
              <a:buFont typeface="Wingdings" panose="05000000000000000000" pitchFamily="2" charset="2"/>
              <a:buNone/>
              <a:defRPr/>
            </a:pPr>
            <a:r>
              <a:rPr lang="es-AR" altLang="es-AR" sz="2000" dirty="0">
                <a:solidFill>
                  <a:schemeClr val="tx1">
                    <a:lumMod val="75000"/>
                    <a:lumOff val="25000"/>
                  </a:schemeClr>
                </a:solidFill>
                <a:latin typeface="Century Gothic" panose="020B0502020202020204" pitchFamily="34" charset="0"/>
              </a:rPr>
              <a:t>Materia Prima Directa</a:t>
            </a:r>
          </a:p>
        </p:txBody>
      </p:sp>
      <p:sp>
        <p:nvSpPr>
          <p:cNvPr id="5143" name="Text Box 23">
            <a:extLst>
              <a:ext uri="{FF2B5EF4-FFF2-40B4-BE49-F238E27FC236}">
                <a16:creationId xmlns:a16="http://schemas.microsoft.com/office/drawing/2014/main" id="{7D489E47-6B3E-49CF-A69B-C4747F7E66A3}"/>
              </a:ext>
            </a:extLst>
          </p:cNvPr>
          <p:cNvSpPr txBox="1">
            <a:spLocks noChangeArrowheads="1"/>
          </p:cNvSpPr>
          <p:nvPr/>
        </p:nvSpPr>
        <p:spPr bwMode="auto">
          <a:xfrm>
            <a:off x="6567743" y="4437062"/>
            <a:ext cx="394785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spcBef>
                <a:spcPct val="50000"/>
              </a:spcBef>
              <a:buFont typeface="Wingdings" panose="05000000000000000000" pitchFamily="2" charset="2"/>
              <a:buNone/>
              <a:defRPr/>
            </a:pPr>
            <a:r>
              <a:rPr lang="es-AR" altLang="es-AR" sz="2000" dirty="0">
                <a:solidFill>
                  <a:schemeClr val="tx1">
                    <a:lumMod val="75000"/>
                    <a:lumOff val="25000"/>
                  </a:schemeClr>
                </a:solidFill>
                <a:latin typeface="Century Gothic" panose="020B0502020202020204" pitchFamily="34" charset="0"/>
              </a:rPr>
              <a:t>Mano de Obra Directa</a:t>
            </a:r>
          </a:p>
        </p:txBody>
      </p:sp>
      <p:sp>
        <p:nvSpPr>
          <p:cNvPr id="5144" name="AutoShape 24">
            <a:extLst>
              <a:ext uri="{FF2B5EF4-FFF2-40B4-BE49-F238E27FC236}">
                <a16:creationId xmlns:a16="http://schemas.microsoft.com/office/drawing/2014/main" id="{21EB2501-F4B2-42ED-AC4A-E731985528CA}"/>
              </a:ext>
            </a:extLst>
          </p:cNvPr>
          <p:cNvSpPr>
            <a:spLocks/>
          </p:cNvSpPr>
          <p:nvPr/>
        </p:nvSpPr>
        <p:spPr bwMode="auto">
          <a:xfrm>
            <a:off x="6496304" y="3429000"/>
            <a:ext cx="71438" cy="1439863"/>
          </a:xfrm>
          <a:prstGeom prst="leftBrace">
            <a:avLst>
              <a:gd name="adj1" fmla="val 167962"/>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p>
        </p:txBody>
      </p:sp>
      <p:sp>
        <p:nvSpPr>
          <p:cNvPr id="2" name="CuadroTexto 1">
            <a:extLst>
              <a:ext uri="{FF2B5EF4-FFF2-40B4-BE49-F238E27FC236}">
                <a16:creationId xmlns:a16="http://schemas.microsoft.com/office/drawing/2014/main" id="{A64FC05B-39D8-4F84-A24A-B7DD9B9C1CAF}"/>
              </a:ext>
            </a:extLst>
          </p:cNvPr>
          <p:cNvSpPr txBox="1"/>
          <p:nvPr/>
        </p:nvSpPr>
        <p:spPr>
          <a:xfrm>
            <a:off x="1581912" y="2364786"/>
            <a:ext cx="7891272" cy="707886"/>
          </a:xfrm>
          <a:prstGeom prst="rect">
            <a:avLst/>
          </a:prstGeom>
          <a:noFill/>
        </p:spPr>
        <p:txBody>
          <a:bodyPr wrap="square" rtlCol="0">
            <a:spAutoFit/>
          </a:bodyPr>
          <a:lstStyle/>
          <a:p>
            <a:pPr marL="285750" indent="-285750">
              <a:buClr>
                <a:srgbClr val="92D050"/>
              </a:buClr>
              <a:buFont typeface="Arial" panose="020B0604020202020204" pitchFamily="34" charset="0"/>
              <a:buChar char="•"/>
            </a:pPr>
            <a:r>
              <a:rPr lang="es-AR" sz="2000" b="1" dirty="0">
                <a:solidFill>
                  <a:schemeClr val="tx1">
                    <a:lumMod val="75000"/>
                    <a:lumOff val="25000"/>
                  </a:schemeClr>
                </a:solidFill>
              </a:rPr>
              <a:t>Los costos directos o variables de fabricación, que son la MP y la MOD, también llamados “costo primo”</a:t>
            </a:r>
          </a:p>
        </p:txBody>
      </p:sp>
      <p:sp>
        <p:nvSpPr>
          <p:cNvPr id="3" name="Marcador de número de diapositiva 2">
            <a:extLst>
              <a:ext uri="{FF2B5EF4-FFF2-40B4-BE49-F238E27FC236}">
                <a16:creationId xmlns:a16="http://schemas.microsoft.com/office/drawing/2014/main" id="{D20AB367-F541-4793-9784-B0211DA402E8}"/>
              </a:ext>
            </a:extLst>
          </p:cNvPr>
          <p:cNvSpPr>
            <a:spLocks noGrp="1"/>
          </p:cNvSpPr>
          <p:nvPr>
            <p:ph type="sldNum" sz="quarter" idx="12"/>
          </p:nvPr>
        </p:nvSpPr>
        <p:spPr/>
        <p:txBody>
          <a:bodyPr/>
          <a:lstStyle/>
          <a:p>
            <a:fld id="{D57F1E4F-1CFF-5643-939E-217C01CDF565}" type="slidenum">
              <a:rPr lang="en-US" smtClean="0"/>
              <a:pPr/>
              <a:t>4</a:t>
            </a:fld>
            <a:endParaRPr lang="en-US" dirty="0"/>
          </a:p>
        </p:txBody>
      </p:sp>
    </p:spTree>
    <p:extLst>
      <p:ext uri="{BB962C8B-B14F-4D97-AF65-F5344CB8AC3E}">
        <p14:creationId xmlns:p14="http://schemas.microsoft.com/office/powerpoint/2010/main" val="13434124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3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4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14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142"/>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1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9" grpId="0"/>
      <p:bldP spid="5141" grpId="0"/>
      <p:bldP spid="5142" grpId="0"/>
      <p:bldP spid="514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ext Box 4">
            <a:extLst>
              <a:ext uri="{FF2B5EF4-FFF2-40B4-BE49-F238E27FC236}">
                <a16:creationId xmlns:a16="http://schemas.microsoft.com/office/drawing/2014/main" id="{7375A05C-C61D-4DEF-968A-D068DBB6C692}"/>
              </a:ext>
            </a:extLst>
          </p:cNvPr>
          <p:cNvSpPr txBox="1">
            <a:spLocks noChangeArrowheads="1"/>
          </p:cNvSpPr>
          <p:nvPr/>
        </p:nvSpPr>
        <p:spPr bwMode="auto">
          <a:xfrm>
            <a:off x="1387476" y="185738"/>
            <a:ext cx="75168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effectLst>
                  <a:outerShdw blurRad="38100" dist="38100" dir="2700000" algn="tl">
                    <a:srgbClr val="000000">
                      <a:alpha val="43137"/>
                    </a:srgbClr>
                  </a:outerShdw>
                </a:effectLst>
                <a:latin typeface="Century Gothic" panose="020B0502020202020204" pitchFamily="34" charset="0"/>
              </a:rPr>
              <a:t>COSTOS VARIABLES</a:t>
            </a:r>
          </a:p>
        </p:txBody>
      </p:sp>
      <p:sp>
        <p:nvSpPr>
          <p:cNvPr id="2" name="CuadroTexto 1">
            <a:extLst>
              <a:ext uri="{FF2B5EF4-FFF2-40B4-BE49-F238E27FC236}">
                <a16:creationId xmlns:a16="http://schemas.microsoft.com/office/drawing/2014/main" id="{A64FC05B-39D8-4F84-A24A-B7DD9B9C1CAF}"/>
              </a:ext>
            </a:extLst>
          </p:cNvPr>
          <p:cNvSpPr txBox="1"/>
          <p:nvPr/>
        </p:nvSpPr>
        <p:spPr>
          <a:xfrm>
            <a:off x="2432304" y="2090172"/>
            <a:ext cx="6557962" cy="2677656"/>
          </a:xfrm>
          <a:prstGeom prst="rect">
            <a:avLst/>
          </a:prstGeom>
          <a:noFill/>
        </p:spPr>
        <p:txBody>
          <a:bodyPr wrap="square" rtlCol="0">
            <a:spAutoFit/>
          </a:bodyPr>
          <a:lstStyle/>
          <a:p>
            <a:pPr marL="285750" indent="-285750">
              <a:buClr>
                <a:srgbClr val="92D050"/>
              </a:buClr>
              <a:buFont typeface="Arial" panose="020B0604020202020204" pitchFamily="34" charset="0"/>
              <a:buChar char="•"/>
            </a:pPr>
            <a:r>
              <a:rPr lang="es-AR" sz="2400" b="1" dirty="0">
                <a:solidFill>
                  <a:schemeClr val="tx1">
                    <a:lumMod val="75000"/>
                    <a:lumOff val="25000"/>
                  </a:schemeClr>
                </a:solidFill>
              </a:rPr>
              <a:t>Los costos variables indirectos como</a:t>
            </a:r>
          </a:p>
          <a:p>
            <a:pPr marL="742950" lvl="1" indent="-285750">
              <a:buClr>
                <a:srgbClr val="92D050"/>
              </a:buClr>
              <a:buFont typeface="Arial" panose="020B0604020202020204" pitchFamily="34" charset="0"/>
              <a:buChar char="•"/>
            </a:pPr>
            <a:r>
              <a:rPr lang="es-AR" sz="2400" dirty="0">
                <a:solidFill>
                  <a:schemeClr val="tx1">
                    <a:lumMod val="75000"/>
                    <a:lumOff val="25000"/>
                  </a:schemeClr>
                </a:solidFill>
              </a:rPr>
              <a:t>Aceites</a:t>
            </a:r>
          </a:p>
          <a:p>
            <a:pPr marL="742950" lvl="1" indent="-285750">
              <a:buClr>
                <a:srgbClr val="92D050"/>
              </a:buClr>
              <a:buFont typeface="Arial" panose="020B0604020202020204" pitchFamily="34" charset="0"/>
              <a:buChar char="•"/>
            </a:pPr>
            <a:r>
              <a:rPr lang="es-AR" sz="2400" dirty="0">
                <a:solidFill>
                  <a:schemeClr val="tx1">
                    <a:lumMod val="75000"/>
                    <a:lumOff val="25000"/>
                  </a:schemeClr>
                </a:solidFill>
              </a:rPr>
              <a:t>Herramientas</a:t>
            </a:r>
          </a:p>
          <a:p>
            <a:pPr marL="742950" lvl="1" indent="-285750">
              <a:buClr>
                <a:srgbClr val="92D050"/>
              </a:buClr>
              <a:buFont typeface="Arial" panose="020B0604020202020204" pitchFamily="34" charset="0"/>
              <a:buChar char="•"/>
            </a:pPr>
            <a:r>
              <a:rPr lang="es-AR" sz="2400" dirty="0">
                <a:solidFill>
                  <a:schemeClr val="tx1">
                    <a:lumMod val="75000"/>
                    <a:lumOff val="25000"/>
                  </a:schemeClr>
                </a:solidFill>
              </a:rPr>
              <a:t>Energía</a:t>
            </a:r>
          </a:p>
          <a:p>
            <a:pPr marL="742950" lvl="1" indent="-285750">
              <a:buClr>
                <a:srgbClr val="92D050"/>
              </a:buClr>
              <a:buFont typeface="Arial" panose="020B0604020202020204" pitchFamily="34" charset="0"/>
              <a:buChar char="•"/>
            </a:pPr>
            <a:r>
              <a:rPr lang="es-AR" sz="2400" dirty="0">
                <a:solidFill>
                  <a:schemeClr val="tx1">
                    <a:lumMod val="75000"/>
                    <a:lumOff val="25000"/>
                  </a:schemeClr>
                </a:solidFill>
              </a:rPr>
              <a:t>Elementos de limpieza</a:t>
            </a:r>
          </a:p>
          <a:p>
            <a:pPr marL="742950" lvl="1" indent="-285750">
              <a:buClr>
                <a:srgbClr val="92D050"/>
              </a:buClr>
              <a:buFont typeface="Arial" panose="020B0604020202020204" pitchFamily="34" charset="0"/>
              <a:buChar char="•"/>
            </a:pPr>
            <a:r>
              <a:rPr lang="es-AR" sz="2400" dirty="0">
                <a:solidFill>
                  <a:schemeClr val="tx1">
                    <a:lumMod val="75000"/>
                    <a:lumOff val="25000"/>
                  </a:schemeClr>
                </a:solidFill>
              </a:rPr>
              <a:t>Reparaciones</a:t>
            </a:r>
          </a:p>
          <a:p>
            <a:pPr marL="742950" lvl="1" indent="-285750">
              <a:buClr>
                <a:srgbClr val="92D050"/>
              </a:buClr>
              <a:buFont typeface="Arial" panose="020B0604020202020204" pitchFamily="34" charset="0"/>
              <a:buChar char="•"/>
            </a:pPr>
            <a:r>
              <a:rPr lang="es-AR" sz="2400" dirty="0" err="1">
                <a:solidFill>
                  <a:schemeClr val="tx1">
                    <a:lumMod val="75000"/>
                    <a:lumOff val="25000"/>
                  </a:schemeClr>
                </a:solidFill>
              </a:rPr>
              <a:t>etc</a:t>
            </a:r>
            <a:endParaRPr lang="es-AR" sz="2400" dirty="0">
              <a:solidFill>
                <a:schemeClr val="tx1">
                  <a:lumMod val="75000"/>
                  <a:lumOff val="25000"/>
                </a:schemeClr>
              </a:solidFill>
            </a:endParaRPr>
          </a:p>
        </p:txBody>
      </p:sp>
      <p:sp>
        <p:nvSpPr>
          <p:cNvPr id="3" name="Marcador de número de diapositiva 2">
            <a:extLst>
              <a:ext uri="{FF2B5EF4-FFF2-40B4-BE49-F238E27FC236}">
                <a16:creationId xmlns:a16="http://schemas.microsoft.com/office/drawing/2014/main" id="{19F89F82-F6AC-4EC4-B52F-B4AF32E58A5A}"/>
              </a:ext>
            </a:extLst>
          </p:cNvPr>
          <p:cNvSpPr>
            <a:spLocks noGrp="1"/>
          </p:cNvSpPr>
          <p:nvPr>
            <p:ph type="sldNum" sz="quarter" idx="12"/>
          </p:nvPr>
        </p:nvSpPr>
        <p:spPr/>
        <p:txBody>
          <a:bodyPr/>
          <a:lstStyle/>
          <a:p>
            <a:fld id="{D57F1E4F-1CFF-5643-939E-217C01CDF565}" type="slidenum">
              <a:rPr lang="en-US" smtClean="0"/>
              <a:pPr/>
              <a:t>5</a:t>
            </a:fld>
            <a:endParaRPr lang="en-US" dirty="0"/>
          </a:p>
        </p:txBody>
      </p:sp>
    </p:spTree>
    <p:extLst>
      <p:ext uri="{BB962C8B-B14F-4D97-AF65-F5344CB8AC3E}">
        <p14:creationId xmlns:p14="http://schemas.microsoft.com/office/powerpoint/2010/main" val="7548942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ext Box 4">
            <a:extLst>
              <a:ext uri="{FF2B5EF4-FFF2-40B4-BE49-F238E27FC236}">
                <a16:creationId xmlns:a16="http://schemas.microsoft.com/office/drawing/2014/main" id="{7375A05C-C61D-4DEF-968A-D068DBB6C692}"/>
              </a:ext>
            </a:extLst>
          </p:cNvPr>
          <p:cNvSpPr txBox="1">
            <a:spLocks noChangeArrowheads="1"/>
          </p:cNvSpPr>
          <p:nvPr/>
        </p:nvSpPr>
        <p:spPr bwMode="auto">
          <a:xfrm>
            <a:off x="1387476" y="185738"/>
            <a:ext cx="75168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effectLst>
                  <a:outerShdw blurRad="38100" dist="38100" dir="2700000" algn="tl">
                    <a:srgbClr val="000000">
                      <a:alpha val="43137"/>
                    </a:srgbClr>
                  </a:outerShdw>
                </a:effectLst>
                <a:latin typeface="Century Gothic" panose="020B0502020202020204" pitchFamily="34" charset="0"/>
              </a:rPr>
              <a:t>COSTOS VARIABLES</a:t>
            </a:r>
          </a:p>
        </p:txBody>
      </p:sp>
      <p:sp>
        <p:nvSpPr>
          <p:cNvPr id="5145" name="Text Box 25">
            <a:extLst>
              <a:ext uri="{FF2B5EF4-FFF2-40B4-BE49-F238E27FC236}">
                <a16:creationId xmlns:a16="http://schemas.microsoft.com/office/drawing/2014/main" id="{1C53D867-0F0A-458D-ADD3-067EEBA838ED}"/>
              </a:ext>
            </a:extLst>
          </p:cNvPr>
          <p:cNvSpPr txBox="1">
            <a:spLocks noChangeArrowheads="1"/>
          </p:cNvSpPr>
          <p:nvPr/>
        </p:nvSpPr>
        <p:spPr bwMode="auto">
          <a:xfrm>
            <a:off x="1633791" y="1006424"/>
            <a:ext cx="7516813" cy="1231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1" hangingPunct="1">
              <a:spcBef>
                <a:spcPct val="50000"/>
              </a:spcBef>
              <a:buClr>
                <a:srgbClr val="92D050"/>
              </a:buClr>
              <a:buFont typeface="Arial" panose="020B0604020202020204" pitchFamily="34" charset="0"/>
              <a:buChar char="•"/>
              <a:defRPr/>
            </a:pPr>
            <a:r>
              <a:rPr lang="es-AR" altLang="es-AR" sz="2400" b="1" dirty="0">
                <a:latin typeface="Tahoma" panose="020B0604030504040204" pitchFamily="34" charset="0"/>
              </a:rPr>
              <a:t> </a:t>
            </a:r>
            <a:r>
              <a:rPr lang="es-AR" altLang="es-AR" sz="2400" b="1" dirty="0">
                <a:solidFill>
                  <a:schemeClr val="tx1">
                    <a:lumMod val="75000"/>
                    <a:lumOff val="25000"/>
                  </a:schemeClr>
                </a:solidFill>
                <a:latin typeface="Century Gothic" panose="020B0502020202020204" pitchFamily="34" charset="0"/>
              </a:rPr>
              <a:t>Gastos variables de Comercialización</a:t>
            </a:r>
          </a:p>
          <a:p>
            <a:pPr marL="800100" lvl="1" indent="-342900">
              <a:spcBef>
                <a:spcPct val="50000"/>
              </a:spcBef>
              <a:buClr>
                <a:srgbClr val="92D050"/>
              </a:buClr>
              <a:buFont typeface="Arial" panose="020B0604020202020204" pitchFamily="34" charset="0"/>
              <a:buChar char="•"/>
              <a:defRPr/>
            </a:pPr>
            <a:r>
              <a:rPr lang="es-AR" altLang="es-AR" sz="2000" dirty="0">
                <a:solidFill>
                  <a:schemeClr val="tx1">
                    <a:lumMod val="75000"/>
                    <a:lumOff val="25000"/>
                  </a:schemeClr>
                </a:solidFill>
                <a:latin typeface="Century Gothic" panose="020B0502020202020204" pitchFamily="34" charset="0"/>
              </a:rPr>
              <a:t>Estos </a:t>
            </a:r>
            <a:r>
              <a:rPr lang="es-AR" altLang="es-AR" sz="2000" b="1" dirty="0">
                <a:solidFill>
                  <a:schemeClr val="tx1">
                    <a:lumMod val="75000"/>
                    <a:lumOff val="25000"/>
                  </a:schemeClr>
                </a:solidFill>
                <a:latin typeface="Century Gothic" panose="020B0502020202020204" pitchFamily="34" charset="0"/>
              </a:rPr>
              <a:t>NO se incluyen </a:t>
            </a:r>
            <a:r>
              <a:rPr lang="es-AR" altLang="es-AR" sz="2000" dirty="0">
                <a:solidFill>
                  <a:schemeClr val="tx1">
                    <a:lumMod val="75000"/>
                    <a:lumOff val="25000"/>
                  </a:schemeClr>
                </a:solidFill>
                <a:latin typeface="Century Gothic" panose="020B0502020202020204" pitchFamily="34" charset="0"/>
              </a:rPr>
              <a:t>en el costo del producto y están formados por:</a:t>
            </a:r>
          </a:p>
        </p:txBody>
      </p:sp>
      <p:sp>
        <p:nvSpPr>
          <p:cNvPr id="5146" name="Text Box 26">
            <a:extLst>
              <a:ext uri="{FF2B5EF4-FFF2-40B4-BE49-F238E27FC236}">
                <a16:creationId xmlns:a16="http://schemas.microsoft.com/office/drawing/2014/main" id="{54EDAABB-309A-4505-AD55-52552D04A253}"/>
              </a:ext>
            </a:extLst>
          </p:cNvPr>
          <p:cNvSpPr txBox="1">
            <a:spLocks noChangeArrowheads="1"/>
          </p:cNvSpPr>
          <p:nvPr/>
        </p:nvSpPr>
        <p:spPr bwMode="auto">
          <a:xfrm>
            <a:off x="3440495" y="2633609"/>
            <a:ext cx="4414201" cy="2154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1" hangingPunct="1">
              <a:spcBef>
                <a:spcPct val="50000"/>
              </a:spcBef>
              <a:buClr>
                <a:srgbClr val="92D050"/>
              </a:buClr>
              <a:buFont typeface="Arial" panose="020B0604020202020204" pitchFamily="34" charset="0"/>
              <a:buChar char="•"/>
              <a:defRPr/>
            </a:pPr>
            <a:r>
              <a:rPr lang="es-AR" altLang="es-AR" sz="2000" dirty="0">
                <a:solidFill>
                  <a:schemeClr val="tx1">
                    <a:lumMod val="75000"/>
                    <a:lumOff val="25000"/>
                  </a:schemeClr>
                </a:solidFill>
                <a:latin typeface="Century Gothic" panose="020B0502020202020204" pitchFamily="34" charset="0"/>
              </a:rPr>
              <a:t>Comisiones por ventas</a:t>
            </a:r>
          </a:p>
          <a:p>
            <a:pPr marL="800100" lvl="1" indent="-342900">
              <a:spcBef>
                <a:spcPct val="50000"/>
              </a:spcBef>
              <a:buClr>
                <a:srgbClr val="92D050"/>
              </a:buClr>
              <a:buFont typeface="Arial" panose="020B0604020202020204" pitchFamily="34" charset="0"/>
              <a:buChar char="•"/>
              <a:defRPr/>
            </a:pPr>
            <a:r>
              <a:rPr lang="es-AR" altLang="es-AR" dirty="0">
                <a:solidFill>
                  <a:schemeClr val="tx1">
                    <a:lumMod val="75000"/>
                    <a:lumOff val="25000"/>
                  </a:schemeClr>
                </a:solidFill>
                <a:latin typeface="Century Gothic" panose="020B0502020202020204" pitchFamily="34" charset="0"/>
              </a:rPr>
              <a:t>Fletes y acarreos</a:t>
            </a:r>
          </a:p>
          <a:p>
            <a:pPr marL="800100" lvl="1" indent="-342900">
              <a:spcBef>
                <a:spcPct val="50000"/>
              </a:spcBef>
              <a:buClr>
                <a:srgbClr val="92D050"/>
              </a:buClr>
              <a:buFont typeface="Arial" panose="020B0604020202020204" pitchFamily="34" charset="0"/>
              <a:buChar char="•"/>
              <a:defRPr/>
            </a:pPr>
            <a:r>
              <a:rPr lang="es-AR" altLang="es-AR" dirty="0" err="1">
                <a:solidFill>
                  <a:schemeClr val="tx1">
                    <a:lumMod val="75000"/>
                    <a:lumOff val="25000"/>
                  </a:schemeClr>
                </a:solidFill>
                <a:latin typeface="Century Gothic" panose="020B0502020202020204" pitchFamily="34" charset="0"/>
              </a:rPr>
              <a:t>etc</a:t>
            </a:r>
            <a:endParaRPr lang="es-AR" altLang="es-AR" dirty="0">
              <a:solidFill>
                <a:schemeClr val="tx1">
                  <a:lumMod val="75000"/>
                  <a:lumOff val="25000"/>
                </a:schemeClr>
              </a:solidFill>
              <a:latin typeface="Century Gothic" panose="020B0502020202020204" pitchFamily="34" charset="0"/>
            </a:endParaRPr>
          </a:p>
          <a:p>
            <a:pPr marL="342900" indent="-342900" eaLnBrk="1" hangingPunct="1">
              <a:spcBef>
                <a:spcPct val="50000"/>
              </a:spcBef>
              <a:buClr>
                <a:srgbClr val="92D050"/>
              </a:buClr>
              <a:buFont typeface="Arial" panose="020B0604020202020204" pitchFamily="34" charset="0"/>
              <a:buChar char="•"/>
              <a:defRPr/>
            </a:pPr>
            <a:endParaRPr lang="es-AR" altLang="es-AR" sz="2000" dirty="0">
              <a:solidFill>
                <a:schemeClr val="tx1">
                  <a:lumMod val="75000"/>
                  <a:lumOff val="25000"/>
                </a:schemeClr>
              </a:solidFill>
              <a:latin typeface="Century Gothic" panose="020B0502020202020204" pitchFamily="34" charset="0"/>
            </a:endParaRPr>
          </a:p>
          <a:p>
            <a:pPr marL="342900" indent="-342900" eaLnBrk="1" hangingPunct="1">
              <a:spcBef>
                <a:spcPct val="50000"/>
              </a:spcBef>
              <a:buClr>
                <a:srgbClr val="92D050"/>
              </a:buClr>
              <a:buFont typeface="Arial" panose="020B0604020202020204" pitchFamily="34" charset="0"/>
              <a:buChar char="•"/>
              <a:defRPr/>
            </a:pPr>
            <a:r>
              <a:rPr lang="es-AR" altLang="es-AR" sz="2000" dirty="0">
                <a:solidFill>
                  <a:schemeClr val="tx1">
                    <a:lumMod val="75000"/>
                    <a:lumOff val="25000"/>
                  </a:schemeClr>
                </a:solidFill>
                <a:latin typeface="Century Gothic" panose="020B0502020202020204" pitchFamily="34" charset="0"/>
              </a:rPr>
              <a:t>Impuesto a los ingresos brutos</a:t>
            </a:r>
          </a:p>
        </p:txBody>
      </p:sp>
      <p:sp>
        <p:nvSpPr>
          <p:cNvPr id="5148" name="AutoShape 28">
            <a:extLst>
              <a:ext uri="{FF2B5EF4-FFF2-40B4-BE49-F238E27FC236}">
                <a16:creationId xmlns:a16="http://schemas.microsoft.com/office/drawing/2014/main" id="{ED3059C1-B195-44E5-94D5-5C2786E630BF}"/>
              </a:ext>
            </a:extLst>
          </p:cNvPr>
          <p:cNvSpPr>
            <a:spLocks/>
          </p:cNvSpPr>
          <p:nvPr/>
        </p:nvSpPr>
        <p:spPr bwMode="auto">
          <a:xfrm>
            <a:off x="3199766" y="2749443"/>
            <a:ext cx="240729" cy="1961649"/>
          </a:xfrm>
          <a:prstGeom prst="leftBrace">
            <a:avLst>
              <a:gd name="adj1" fmla="val 151295"/>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p>
        </p:txBody>
      </p:sp>
      <p:sp>
        <p:nvSpPr>
          <p:cNvPr id="2" name="Marcador de número de diapositiva 1">
            <a:extLst>
              <a:ext uri="{FF2B5EF4-FFF2-40B4-BE49-F238E27FC236}">
                <a16:creationId xmlns:a16="http://schemas.microsoft.com/office/drawing/2014/main" id="{5606A2D1-C70F-4699-951C-341501E234E4}"/>
              </a:ext>
            </a:extLst>
          </p:cNvPr>
          <p:cNvSpPr>
            <a:spLocks noGrp="1"/>
          </p:cNvSpPr>
          <p:nvPr>
            <p:ph type="sldNum" sz="quarter" idx="12"/>
          </p:nvPr>
        </p:nvSpPr>
        <p:spPr/>
        <p:txBody>
          <a:bodyPr/>
          <a:lstStyle/>
          <a:p>
            <a:fld id="{D57F1E4F-1CFF-5643-939E-217C01CDF565}" type="slidenum">
              <a:rPr lang="en-US" smtClean="0"/>
              <a:pPr/>
              <a:t>6</a:t>
            </a:fld>
            <a:endParaRPr lang="en-US" dirty="0"/>
          </a:p>
        </p:txBody>
      </p:sp>
    </p:spTree>
    <p:extLst>
      <p:ext uri="{BB962C8B-B14F-4D97-AF65-F5344CB8AC3E}">
        <p14:creationId xmlns:p14="http://schemas.microsoft.com/office/powerpoint/2010/main" val="3440973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4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14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45" grpId="0"/>
      <p:bldP spid="514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9" name="Text Box 7">
            <a:extLst>
              <a:ext uri="{FF2B5EF4-FFF2-40B4-BE49-F238E27FC236}">
                <a16:creationId xmlns:a16="http://schemas.microsoft.com/office/drawing/2014/main" id="{25BC9DA8-6304-4668-9582-E4996472EB72}"/>
              </a:ext>
            </a:extLst>
          </p:cNvPr>
          <p:cNvSpPr txBox="1">
            <a:spLocks noChangeArrowheads="1"/>
          </p:cNvSpPr>
          <p:nvPr/>
        </p:nvSpPr>
        <p:spPr bwMode="auto">
          <a:xfrm>
            <a:off x="1387476" y="185738"/>
            <a:ext cx="75168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effectLst>
                  <a:outerShdw blurRad="38100" dist="38100" dir="2700000" algn="tl">
                    <a:srgbClr val="C0C0C0"/>
                  </a:outerShdw>
                </a:effectLst>
                <a:latin typeface="Century Gothic" panose="020B0502020202020204" pitchFamily="34" charset="0"/>
              </a:rPr>
              <a:t>COSTOS VARIABLES</a:t>
            </a:r>
          </a:p>
        </p:txBody>
      </p:sp>
      <p:sp>
        <p:nvSpPr>
          <p:cNvPr id="3083" name="Text Box 11">
            <a:extLst>
              <a:ext uri="{FF2B5EF4-FFF2-40B4-BE49-F238E27FC236}">
                <a16:creationId xmlns:a16="http://schemas.microsoft.com/office/drawing/2014/main" id="{744C5F88-2BBE-484C-B5A0-5B91A56C4478}"/>
              </a:ext>
            </a:extLst>
          </p:cNvPr>
          <p:cNvSpPr txBox="1">
            <a:spLocks noChangeArrowheads="1"/>
          </p:cNvSpPr>
          <p:nvPr/>
        </p:nvSpPr>
        <p:spPr bwMode="auto">
          <a:xfrm>
            <a:off x="1507617" y="1159701"/>
            <a:ext cx="8596503"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Bef>
                <a:spcPct val="50000"/>
              </a:spcBef>
            </a:pPr>
            <a:r>
              <a:rPr lang="es-AR" altLang="es-AR" sz="2000" dirty="0">
                <a:solidFill>
                  <a:schemeClr val="tx1">
                    <a:lumMod val="75000"/>
                    <a:lumOff val="25000"/>
                  </a:schemeClr>
                </a:solidFill>
                <a:latin typeface="Century Gothic" panose="020B0502020202020204" pitchFamily="34" charset="0"/>
              </a:rPr>
              <a:t>La variación en función de la cantidad de unidades producidas describe tres etapas:</a:t>
            </a:r>
            <a:endParaRPr lang="es-ES" altLang="es-AR" sz="2000" dirty="0">
              <a:solidFill>
                <a:schemeClr val="tx1">
                  <a:lumMod val="75000"/>
                  <a:lumOff val="25000"/>
                </a:schemeClr>
              </a:solidFill>
              <a:latin typeface="Century Gothic" panose="020B0502020202020204" pitchFamily="34" charset="0"/>
            </a:endParaRPr>
          </a:p>
        </p:txBody>
      </p:sp>
      <p:sp>
        <p:nvSpPr>
          <p:cNvPr id="3084" name="Line 12">
            <a:extLst>
              <a:ext uri="{FF2B5EF4-FFF2-40B4-BE49-F238E27FC236}">
                <a16:creationId xmlns:a16="http://schemas.microsoft.com/office/drawing/2014/main" id="{AA48BAED-269D-4E74-9800-7A5D6FE54E8A}"/>
              </a:ext>
            </a:extLst>
          </p:cNvPr>
          <p:cNvSpPr>
            <a:spLocks noChangeShapeType="1"/>
          </p:cNvSpPr>
          <p:nvPr/>
        </p:nvSpPr>
        <p:spPr bwMode="auto">
          <a:xfrm>
            <a:off x="7338439" y="2392613"/>
            <a:ext cx="0" cy="2017712"/>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3085" name="Line 13">
            <a:extLst>
              <a:ext uri="{FF2B5EF4-FFF2-40B4-BE49-F238E27FC236}">
                <a16:creationId xmlns:a16="http://schemas.microsoft.com/office/drawing/2014/main" id="{5F82F2B2-13A3-4D66-82B6-CAC62D97950D}"/>
              </a:ext>
            </a:extLst>
          </p:cNvPr>
          <p:cNvSpPr>
            <a:spLocks noChangeShapeType="1"/>
          </p:cNvSpPr>
          <p:nvPr/>
        </p:nvSpPr>
        <p:spPr bwMode="auto">
          <a:xfrm>
            <a:off x="7193977" y="4265863"/>
            <a:ext cx="230505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3086" name="Arc 14">
            <a:extLst>
              <a:ext uri="{FF2B5EF4-FFF2-40B4-BE49-F238E27FC236}">
                <a16:creationId xmlns:a16="http://schemas.microsoft.com/office/drawing/2014/main" id="{4B85E4CB-77D6-415F-B005-7FD657DC7B03}"/>
              </a:ext>
            </a:extLst>
          </p:cNvPr>
          <p:cNvSpPr>
            <a:spLocks/>
          </p:cNvSpPr>
          <p:nvPr/>
        </p:nvSpPr>
        <p:spPr bwMode="auto">
          <a:xfrm rot="10800000" flipV="1">
            <a:off x="7338440" y="2610101"/>
            <a:ext cx="2663825" cy="1655763"/>
          </a:xfrm>
          <a:custGeom>
            <a:avLst/>
            <a:gdLst>
              <a:gd name="T0" fmla="*/ 909400 w 21600"/>
              <a:gd name="T1" fmla="*/ 0 h 20302"/>
              <a:gd name="T2" fmla="*/ 2663825 w 21600"/>
              <a:gd name="T3" fmla="*/ 1655763 h 20302"/>
              <a:gd name="T4" fmla="*/ 0 w 21600"/>
              <a:gd name="T5" fmla="*/ 1655763 h 20302"/>
              <a:gd name="T6" fmla="*/ 0 60000 65536"/>
              <a:gd name="T7" fmla="*/ 0 60000 65536"/>
              <a:gd name="T8" fmla="*/ 0 60000 65536"/>
            </a:gdLst>
            <a:ahLst/>
            <a:cxnLst>
              <a:cxn ang="T6">
                <a:pos x="T0" y="T1"/>
              </a:cxn>
              <a:cxn ang="T7">
                <a:pos x="T2" y="T3"/>
              </a:cxn>
              <a:cxn ang="T8">
                <a:pos x="T4" y="T5"/>
              </a:cxn>
            </a:cxnLst>
            <a:rect l="0" t="0" r="r" b="b"/>
            <a:pathLst>
              <a:path w="21600" h="20302" fill="none" extrusionOk="0">
                <a:moveTo>
                  <a:pt x="7374" y="-1"/>
                </a:moveTo>
                <a:cubicBezTo>
                  <a:pt x="15914" y="3101"/>
                  <a:pt x="21600" y="11216"/>
                  <a:pt x="21600" y="20302"/>
                </a:cubicBezTo>
              </a:path>
              <a:path w="21600" h="20302" stroke="0" extrusionOk="0">
                <a:moveTo>
                  <a:pt x="7374" y="-1"/>
                </a:moveTo>
                <a:cubicBezTo>
                  <a:pt x="15914" y="3101"/>
                  <a:pt x="21600" y="11216"/>
                  <a:pt x="21600" y="20302"/>
                </a:cubicBezTo>
                <a:lnTo>
                  <a:pt x="0" y="20302"/>
                </a:lnTo>
                <a:lnTo>
                  <a:pt x="7374" y="-1"/>
                </a:lnTo>
                <a:close/>
              </a:path>
            </a:pathLst>
          </a:custGeom>
          <a:noFill/>
          <a:ln w="28575">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3087" name="Line 15">
            <a:extLst>
              <a:ext uri="{FF2B5EF4-FFF2-40B4-BE49-F238E27FC236}">
                <a16:creationId xmlns:a16="http://schemas.microsoft.com/office/drawing/2014/main" id="{1358C4A4-CD51-4543-B888-5C4FBC6AEE40}"/>
              </a:ext>
            </a:extLst>
          </p:cNvPr>
          <p:cNvSpPr>
            <a:spLocks noChangeShapeType="1"/>
          </p:cNvSpPr>
          <p:nvPr/>
        </p:nvSpPr>
        <p:spPr bwMode="auto">
          <a:xfrm flipV="1">
            <a:off x="8030589" y="2449764"/>
            <a:ext cx="1252538" cy="5476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3088" name="Line 16">
            <a:extLst>
              <a:ext uri="{FF2B5EF4-FFF2-40B4-BE49-F238E27FC236}">
                <a16:creationId xmlns:a16="http://schemas.microsoft.com/office/drawing/2014/main" id="{B32CF516-489D-4D17-975D-4DDA8BABF6C7}"/>
              </a:ext>
            </a:extLst>
          </p:cNvPr>
          <p:cNvSpPr>
            <a:spLocks noChangeShapeType="1"/>
          </p:cNvSpPr>
          <p:nvPr/>
        </p:nvSpPr>
        <p:spPr bwMode="auto">
          <a:xfrm>
            <a:off x="8376665" y="2883150"/>
            <a:ext cx="7921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3089" name="Arc 17">
            <a:extLst>
              <a:ext uri="{FF2B5EF4-FFF2-40B4-BE49-F238E27FC236}">
                <a16:creationId xmlns:a16="http://schemas.microsoft.com/office/drawing/2014/main" id="{E24AA795-15F3-4BFA-B388-FB276F24C2C1}"/>
              </a:ext>
            </a:extLst>
          </p:cNvPr>
          <p:cNvSpPr>
            <a:spLocks/>
          </p:cNvSpPr>
          <p:nvPr/>
        </p:nvSpPr>
        <p:spPr bwMode="auto">
          <a:xfrm>
            <a:off x="8906890" y="2667250"/>
            <a:ext cx="144463" cy="215900"/>
          </a:xfrm>
          <a:custGeom>
            <a:avLst/>
            <a:gdLst>
              <a:gd name="T0" fmla="*/ 0 w 21600"/>
              <a:gd name="T1" fmla="*/ 0 h 39815"/>
              <a:gd name="T2" fmla="*/ 77642 w 21600"/>
              <a:gd name="T3" fmla="*/ 215900 h 39815"/>
              <a:gd name="T4" fmla="*/ 0 w 21600"/>
              <a:gd name="T5" fmla="*/ 117128 h 39815"/>
              <a:gd name="T6" fmla="*/ 0 60000 65536"/>
              <a:gd name="T7" fmla="*/ 0 60000 65536"/>
              <a:gd name="T8" fmla="*/ 0 60000 65536"/>
            </a:gdLst>
            <a:ahLst/>
            <a:cxnLst>
              <a:cxn ang="T6">
                <a:pos x="T0" y="T1"/>
              </a:cxn>
              <a:cxn ang="T7">
                <a:pos x="T2" y="T3"/>
              </a:cxn>
              <a:cxn ang="T8">
                <a:pos x="T4" y="T5"/>
              </a:cxn>
            </a:cxnLst>
            <a:rect l="0" t="0" r="r" b="b"/>
            <a:pathLst>
              <a:path w="21600" h="39815" fill="none" extrusionOk="0">
                <a:moveTo>
                  <a:pt x="-1" y="0"/>
                </a:moveTo>
                <a:cubicBezTo>
                  <a:pt x="11929" y="0"/>
                  <a:pt x="21600" y="9670"/>
                  <a:pt x="21600" y="21600"/>
                </a:cubicBezTo>
                <a:cubicBezTo>
                  <a:pt x="21600" y="28979"/>
                  <a:pt x="17832" y="35848"/>
                  <a:pt x="11609" y="39815"/>
                </a:cubicBezTo>
              </a:path>
              <a:path w="21600" h="39815" stroke="0" extrusionOk="0">
                <a:moveTo>
                  <a:pt x="-1" y="0"/>
                </a:moveTo>
                <a:cubicBezTo>
                  <a:pt x="11929" y="0"/>
                  <a:pt x="21600" y="9670"/>
                  <a:pt x="21600" y="21600"/>
                </a:cubicBezTo>
                <a:cubicBezTo>
                  <a:pt x="21600" y="28979"/>
                  <a:pt x="17832" y="35848"/>
                  <a:pt x="11609" y="39815"/>
                </a:cubicBezTo>
                <a:lnTo>
                  <a:pt x="0" y="21600"/>
                </a:lnTo>
                <a:lnTo>
                  <a:pt x="-1" y="0"/>
                </a:lnTo>
                <a:close/>
              </a:path>
            </a:pathLst>
          </a:custGeom>
          <a:noFill/>
          <a:ln w="9525">
            <a:solidFill>
              <a:schemeClr val="tx1"/>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3090" name="Text Box 18">
            <a:extLst>
              <a:ext uri="{FF2B5EF4-FFF2-40B4-BE49-F238E27FC236}">
                <a16:creationId xmlns:a16="http://schemas.microsoft.com/office/drawing/2014/main" id="{17345750-B3A6-4891-B652-A16C0518C147}"/>
              </a:ext>
            </a:extLst>
          </p:cNvPr>
          <p:cNvSpPr txBox="1">
            <a:spLocks noChangeArrowheads="1"/>
          </p:cNvSpPr>
          <p:nvPr/>
        </p:nvSpPr>
        <p:spPr bwMode="auto">
          <a:xfrm>
            <a:off x="9081514" y="2524375"/>
            <a:ext cx="6477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600" b="1" dirty="0" err="1">
                <a:solidFill>
                  <a:schemeClr val="tx1">
                    <a:lumMod val="75000"/>
                    <a:lumOff val="25000"/>
                  </a:schemeClr>
                </a:solidFill>
                <a:latin typeface="Tahoma" panose="020B0604030504040204" pitchFamily="34" charset="0"/>
              </a:rPr>
              <a:t>CVu</a:t>
            </a:r>
            <a:endParaRPr lang="es-ES" altLang="es-AR" sz="1600" b="1" dirty="0">
              <a:solidFill>
                <a:schemeClr val="tx1">
                  <a:lumMod val="75000"/>
                  <a:lumOff val="25000"/>
                </a:schemeClr>
              </a:solidFill>
              <a:latin typeface="Tahoma" panose="020B0604030504040204" pitchFamily="34" charset="0"/>
            </a:endParaRPr>
          </a:p>
        </p:txBody>
      </p:sp>
      <p:sp>
        <p:nvSpPr>
          <p:cNvPr id="3091" name="Text Box 19">
            <a:extLst>
              <a:ext uri="{FF2B5EF4-FFF2-40B4-BE49-F238E27FC236}">
                <a16:creationId xmlns:a16="http://schemas.microsoft.com/office/drawing/2014/main" id="{AE3DAC23-FE7A-4243-9F5B-1C738D3E19E8}"/>
              </a:ext>
            </a:extLst>
          </p:cNvPr>
          <p:cNvSpPr txBox="1">
            <a:spLocks noChangeArrowheads="1"/>
          </p:cNvSpPr>
          <p:nvPr/>
        </p:nvSpPr>
        <p:spPr bwMode="auto">
          <a:xfrm>
            <a:off x="6978077" y="2105276"/>
            <a:ext cx="863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dirty="0">
                <a:solidFill>
                  <a:schemeClr val="tx1">
                    <a:lumMod val="75000"/>
                    <a:lumOff val="25000"/>
                  </a:schemeClr>
                </a:solidFill>
                <a:latin typeface="Tahoma" panose="020B0604030504040204" pitchFamily="34" charset="0"/>
              </a:rPr>
              <a:t>CV </a:t>
            </a:r>
            <a:r>
              <a:rPr lang="es-AR" altLang="es-AR" dirty="0">
                <a:solidFill>
                  <a:schemeClr val="tx1">
                    <a:lumMod val="75000"/>
                    <a:lumOff val="25000"/>
                  </a:schemeClr>
                </a:solidFill>
                <a:latin typeface="Tahoma" panose="020B0604030504040204" pitchFamily="34" charset="0"/>
                <a:cs typeface="Tahoma" panose="020B0604030504040204" pitchFamily="34" charset="0"/>
              </a:rPr>
              <a:t>[$]</a:t>
            </a:r>
          </a:p>
        </p:txBody>
      </p:sp>
      <p:sp>
        <p:nvSpPr>
          <p:cNvPr id="3092" name="Text Box 20">
            <a:extLst>
              <a:ext uri="{FF2B5EF4-FFF2-40B4-BE49-F238E27FC236}">
                <a16:creationId xmlns:a16="http://schemas.microsoft.com/office/drawing/2014/main" id="{D603D310-40CE-4491-A2CD-C5D1CB9CC536}"/>
              </a:ext>
            </a:extLst>
          </p:cNvPr>
          <p:cNvSpPr txBox="1">
            <a:spLocks noChangeArrowheads="1"/>
          </p:cNvSpPr>
          <p:nvPr/>
        </p:nvSpPr>
        <p:spPr bwMode="auto">
          <a:xfrm>
            <a:off x="9426002" y="4192838"/>
            <a:ext cx="3603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a:latin typeface="Tahoma" panose="020B0604030504040204" pitchFamily="34" charset="0"/>
              </a:rPr>
              <a:t>q</a:t>
            </a:r>
            <a:endParaRPr lang="es-ES" altLang="es-AR">
              <a:latin typeface="Tahoma" panose="020B0604030504040204" pitchFamily="34" charset="0"/>
            </a:endParaRPr>
          </a:p>
        </p:txBody>
      </p:sp>
      <p:sp>
        <p:nvSpPr>
          <p:cNvPr id="3093" name="Text Box 21">
            <a:extLst>
              <a:ext uri="{FF2B5EF4-FFF2-40B4-BE49-F238E27FC236}">
                <a16:creationId xmlns:a16="http://schemas.microsoft.com/office/drawing/2014/main" id="{7C1D812B-87F4-442C-B506-E6A29BBF4721}"/>
              </a:ext>
            </a:extLst>
          </p:cNvPr>
          <p:cNvSpPr txBox="1">
            <a:spLocks noChangeArrowheads="1"/>
          </p:cNvSpPr>
          <p:nvPr/>
        </p:nvSpPr>
        <p:spPr bwMode="auto">
          <a:xfrm>
            <a:off x="7914703" y="4235701"/>
            <a:ext cx="11509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dirty="0">
                <a:solidFill>
                  <a:schemeClr val="tx1">
                    <a:lumMod val="75000"/>
                    <a:lumOff val="25000"/>
                  </a:schemeClr>
                </a:solidFill>
                <a:latin typeface="+mj-lt"/>
              </a:rPr>
              <a:t>ETAPA 1</a:t>
            </a:r>
            <a:endParaRPr lang="es-ES" altLang="es-AR" dirty="0">
              <a:solidFill>
                <a:schemeClr val="tx1">
                  <a:lumMod val="75000"/>
                  <a:lumOff val="25000"/>
                </a:schemeClr>
              </a:solidFill>
              <a:latin typeface="+mj-lt"/>
            </a:endParaRPr>
          </a:p>
        </p:txBody>
      </p:sp>
      <p:sp>
        <p:nvSpPr>
          <p:cNvPr id="3111" name="Text Box 39">
            <a:extLst>
              <a:ext uri="{FF2B5EF4-FFF2-40B4-BE49-F238E27FC236}">
                <a16:creationId xmlns:a16="http://schemas.microsoft.com/office/drawing/2014/main" id="{1EC59057-2DBA-4BE1-B6DB-445980E1F274}"/>
              </a:ext>
            </a:extLst>
          </p:cNvPr>
          <p:cNvSpPr txBox="1">
            <a:spLocks noChangeArrowheads="1"/>
          </p:cNvSpPr>
          <p:nvPr/>
        </p:nvSpPr>
        <p:spPr bwMode="auto">
          <a:xfrm>
            <a:off x="1951994" y="2491569"/>
            <a:ext cx="4478906" cy="1892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buClr>
                <a:srgbClr val="92D050"/>
              </a:buClr>
            </a:pPr>
            <a:r>
              <a:rPr lang="es-AR" altLang="es-AR" b="1" dirty="0">
                <a:solidFill>
                  <a:schemeClr val="tx1">
                    <a:lumMod val="75000"/>
                    <a:lumOff val="25000"/>
                  </a:schemeClr>
                </a:solidFill>
                <a:latin typeface="Century Gothic" panose="020B0502020202020204" pitchFamily="34" charset="0"/>
              </a:rPr>
              <a:t>Etapa 1</a:t>
            </a:r>
            <a:r>
              <a:rPr lang="es-AR" altLang="es-AR" dirty="0">
                <a:solidFill>
                  <a:schemeClr val="tx1">
                    <a:lumMod val="75000"/>
                    <a:lumOff val="25000"/>
                  </a:schemeClr>
                </a:solidFill>
                <a:latin typeface="Century Gothic" panose="020B0502020202020204" pitchFamily="34" charset="0"/>
              </a:rPr>
              <a:t>:</a:t>
            </a:r>
          </a:p>
          <a:p>
            <a:pPr marL="285750" indent="-285750" eaLnBrk="1" hangingPunct="1">
              <a:spcBef>
                <a:spcPct val="50000"/>
              </a:spcBef>
              <a:buClr>
                <a:srgbClr val="92D050"/>
              </a:buClr>
              <a:buFont typeface="Arial" panose="020B0604020202020204" pitchFamily="34" charset="0"/>
              <a:buChar char="•"/>
            </a:pPr>
            <a:r>
              <a:rPr lang="es-AR" altLang="es-AR" dirty="0">
                <a:solidFill>
                  <a:schemeClr val="tx1">
                    <a:lumMod val="75000"/>
                    <a:lumOff val="25000"/>
                  </a:schemeClr>
                </a:solidFill>
                <a:latin typeface="Century Gothic" panose="020B0502020202020204" pitchFamily="34" charset="0"/>
              </a:rPr>
              <a:t>Responde al período de puesta en marcha de una nueva máquina, un nuevo proceso o una nueva línea de producción (curva de aprendizaje).</a:t>
            </a:r>
            <a:endParaRPr lang="es-ES" altLang="es-AR" dirty="0">
              <a:solidFill>
                <a:schemeClr val="tx1">
                  <a:lumMod val="75000"/>
                  <a:lumOff val="25000"/>
                </a:schemeClr>
              </a:solidFill>
              <a:latin typeface="Century Gothic" panose="020B0502020202020204" pitchFamily="34" charset="0"/>
            </a:endParaRPr>
          </a:p>
        </p:txBody>
      </p:sp>
      <p:sp>
        <p:nvSpPr>
          <p:cNvPr id="2" name="Marcador de número de diapositiva 1">
            <a:extLst>
              <a:ext uri="{FF2B5EF4-FFF2-40B4-BE49-F238E27FC236}">
                <a16:creationId xmlns:a16="http://schemas.microsoft.com/office/drawing/2014/main" id="{B5D1716A-9A47-43E9-B23D-B4C6F65DAC57}"/>
              </a:ext>
            </a:extLst>
          </p:cNvPr>
          <p:cNvSpPr>
            <a:spLocks noGrp="1"/>
          </p:cNvSpPr>
          <p:nvPr>
            <p:ph type="sldNum" sz="quarter" idx="12"/>
          </p:nvPr>
        </p:nvSpPr>
        <p:spPr/>
        <p:txBody>
          <a:bodyPr/>
          <a:lstStyle/>
          <a:p>
            <a:fld id="{D57F1E4F-1CFF-5643-939E-217C01CDF565}" type="slidenum">
              <a:rPr lang="en-US" smtClean="0"/>
              <a:pPr/>
              <a:t>7</a:t>
            </a:fld>
            <a:endParaRPr lang="en-US" dirty="0"/>
          </a:p>
        </p:txBody>
      </p:sp>
    </p:spTree>
    <p:extLst>
      <p:ext uri="{BB962C8B-B14F-4D97-AF65-F5344CB8AC3E}">
        <p14:creationId xmlns:p14="http://schemas.microsoft.com/office/powerpoint/2010/main" val="13222423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8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9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8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08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09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9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4" fill="hold" nodeType="clickEffect">
                                  <p:stCondLst>
                                    <p:cond delay="0"/>
                                  </p:stCondLst>
                                  <p:childTnLst>
                                    <p:set>
                                      <p:cBhvr>
                                        <p:cTn id="22" dur="1" fill="hold">
                                          <p:stCondLst>
                                            <p:cond delay="0"/>
                                          </p:stCondLst>
                                        </p:cTn>
                                        <p:tgtEl>
                                          <p:spTgt spid="3086"/>
                                        </p:tgtEl>
                                        <p:attrNameLst>
                                          <p:attrName>style.visibility</p:attrName>
                                        </p:attrNameLst>
                                      </p:cBhvr>
                                      <p:to>
                                        <p:strVal val="visible"/>
                                      </p:to>
                                    </p:set>
                                    <p:animEffect transition="in" filter="wipe(down)">
                                      <p:cBhvr>
                                        <p:cTn id="23" dur="2000"/>
                                        <p:tgtEl>
                                          <p:spTgt spid="3086"/>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nodeType="clickEffect">
                                  <p:stCondLst>
                                    <p:cond delay="0"/>
                                  </p:stCondLst>
                                  <p:childTnLst>
                                    <p:set>
                                      <p:cBhvr>
                                        <p:cTn id="27" dur="1" fill="hold">
                                          <p:stCondLst>
                                            <p:cond delay="0"/>
                                          </p:stCondLst>
                                        </p:cTn>
                                        <p:tgtEl>
                                          <p:spTgt spid="3089"/>
                                        </p:tgtEl>
                                        <p:attrNameLst>
                                          <p:attrName>style.visibility</p:attrName>
                                        </p:attrNameLst>
                                      </p:cBhvr>
                                      <p:to>
                                        <p:strVal val="visible"/>
                                      </p:to>
                                    </p:set>
                                    <p:animEffect transition="in" filter="blinds(horizontal)">
                                      <p:cBhvr>
                                        <p:cTn id="28" dur="500"/>
                                        <p:tgtEl>
                                          <p:spTgt spid="3089"/>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3090"/>
                                        </p:tgtEl>
                                        <p:attrNameLst>
                                          <p:attrName>style.visibility</p:attrName>
                                        </p:attrNameLst>
                                      </p:cBhvr>
                                      <p:to>
                                        <p:strVal val="visible"/>
                                      </p:to>
                                    </p:set>
                                    <p:animEffect transition="in" filter="blinds(horizontal)">
                                      <p:cBhvr>
                                        <p:cTn id="31" dur="500"/>
                                        <p:tgtEl>
                                          <p:spTgt spid="3090"/>
                                        </p:tgtEl>
                                      </p:cBhvr>
                                    </p:animEffect>
                                  </p:childTnLst>
                                </p:cTn>
                              </p:par>
                              <p:par>
                                <p:cTn id="32" presetID="3" presetClass="entr" presetSubtype="10" fill="hold" nodeType="withEffect">
                                  <p:stCondLst>
                                    <p:cond delay="0"/>
                                  </p:stCondLst>
                                  <p:childTnLst>
                                    <p:set>
                                      <p:cBhvr>
                                        <p:cTn id="33" dur="1" fill="hold">
                                          <p:stCondLst>
                                            <p:cond delay="0"/>
                                          </p:stCondLst>
                                        </p:cTn>
                                        <p:tgtEl>
                                          <p:spTgt spid="3088"/>
                                        </p:tgtEl>
                                        <p:attrNameLst>
                                          <p:attrName>style.visibility</p:attrName>
                                        </p:attrNameLst>
                                      </p:cBhvr>
                                      <p:to>
                                        <p:strVal val="visible"/>
                                      </p:to>
                                    </p:set>
                                    <p:animEffect transition="in" filter="blinds(horizontal)">
                                      <p:cBhvr>
                                        <p:cTn id="34" dur="500"/>
                                        <p:tgtEl>
                                          <p:spTgt spid="3088"/>
                                        </p:tgtEl>
                                      </p:cBhvr>
                                    </p:animEffect>
                                  </p:childTnLst>
                                </p:cTn>
                              </p:par>
                              <p:par>
                                <p:cTn id="35" presetID="3" presetClass="entr" presetSubtype="10" fill="hold" nodeType="withEffect">
                                  <p:stCondLst>
                                    <p:cond delay="0"/>
                                  </p:stCondLst>
                                  <p:childTnLst>
                                    <p:set>
                                      <p:cBhvr>
                                        <p:cTn id="36" dur="1" fill="hold">
                                          <p:stCondLst>
                                            <p:cond delay="0"/>
                                          </p:stCondLst>
                                        </p:cTn>
                                        <p:tgtEl>
                                          <p:spTgt spid="3087"/>
                                        </p:tgtEl>
                                        <p:attrNameLst>
                                          <p:attrName>style.visibility</p:attrName>
                                        </p:attrNameLst>
                                      </p:cBhvr>
                                      <p:to>
                                        <p:strVal val="visible"/>
                                      </p:to>
                                    </p:set>
                                    <p:animEffect transition="in" filter="blinds(horizontal)">
                                      <p:cBhvr>
                                        <p:cTn id="37" dur="500"/>
                                        <p:tgtEl>
                                          <p:spTgt spid="308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111"/>
                                        </p:tgtEl>
                                        <p:attrNameLst>
                                          <p:attrName>style.visibility</p:attrName>
                                        </p:attrNameLst>
                                      </p:cBhvr>
                                      <p:to>
                                        <p:strVal val="visible"/>
                                      </p:to>
                                    </p:set>
                                    <p:animEffect transition="in" filter="blinds(horizontal)">
                                      <p:cBhvr>
                                        <p:cTn id="42" dur="500"/>
                                        <p:tgtEl>
                                          <p:spTgt spid="3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3" grpId="0"/>
      <p:bldP spid="3090" grpId="0"/>
      <p:bldP spid="3091" grpId="0"/>
      <p:bldP spid="3092" grpId="0"/>
      <p:bldP spid="3093" grpId="0"/>
      <p:bldP spid="31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9" name="Text Box 7">
            <a:extLst>
              <a:ext uri="{FF2B5EF4-FFF2-40B4-BE49-F238E27FC236}">
                <a16:creationId xmlns:a16="http://schemas.microsoft.com/office/drawing/2014/main" id="{25BC9DA8-6304-4668-9582-E4996472EB72}"/>
              </a:ext>
            </a:extLst>
          </p:cNvPr>
          <p:cNvSpPr txBox="1">
            <a:spLocks noChangeArrowheads="1"/>
          </p:cNvSpPr>
          <p:nvPr/>
        </p:nvSpPr>
        <p:spPr bwMode="auto">
          <a:xfrm>
            <a:off x="1343025" y="213170"/>
            <a:ext cx="75168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effectLst>
                  <a:outerShdw blurRad="38100" dist="38100" dir="2700000" algn="tl">
                    <a:srgbClr val="C0C0C0"/>
                  </a:outerShdw>
                </a:effectLst>
                <a:latin typeface="+mj-lt"/>
              </a:rPr>
              <a:t>COSTOS VARIABLES</a:t>
            </a:r>
          </a:p>
        </p:txBody>
      </p:sp>
      <p:sp>
        <p:nvSpPr>
          <p:cNvPr id="3083" name="Text Box 11">
            <a:extLst>
              <a:ext uri="{FF2B5EF4-FFF2-40B4-BE49-F238E27FC236}">
                <a16:creationId xmlns:a16="http://schemas.microsoft.com/office/drawing/2014/main" id="{744C5F88-2BBE-484C-B5A0-5B91A56C4478}"/>
              </a:ext>
            </a:extLst>
          </p:cNvPr>
          <p:cNvSpPr txBox="1">
            <a:spLocks noChangeArrowheads="1"/>
          </p:cNvSpPr>
          <p:nvPr/>
        </p:nvSpPr>
        <p:spPr bwMode="auto">
          <a:xfrm>
            <a:off x="1343025" y="1117601"/>
            <a:ext cx="878852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Bef>
                <a:spcPct val="50000"/>
              </a:spcBef>
            </a:pPr>
            <a:r>
              <a:rPr lang="es-AR" altLang="es-AR" sz="2000" dirty="0">
                <a:solidFill>
                  <a:schemeClr val="tx1">
                    <a:lumMod val="75000"/>
                    <a:lumOff val="25000"/>
                  </a:schemeClr>
                </a:solidFill>
                <a:latin typeface="Century Gothic" panose="020B0502020202020204" pitchFamily="34" charset="0"/>
              </a:rPr>
              <a:t>La variación en función de la cantidad de unidades producidas describe tres etapas:</a:t>
            </a:r>
            <a:endParaRPr lang="es-ES" altLang="es-AR" sz="2000" dirty="0">
              <a:solidFill>
                <a:schemeClr val="tx1">
                  <a:lumMod val="75000"/>
                  <a:lumOff val="25000"/>
                </a:schemeClr>
              </a:solidFill>
              <a:latin typeface="Century Gothic" panose="020B0502020202020204" pitchFamily="34" charset="0"/>
            </a:endParaRPr>
          </a:p>
        </p:txBody>
      </p:sp>
      <p:sp>
        <p:nvSpPr>
          <p:cNvPr id="3100" name="Line 28">
            <a:extLst>
              <a:ext uri="{FF2B5EF4-FFF2-40B4-BE49-F238E27FC236}">
                <a16:creationId xmlns:a16="http://schemas.microsoft.com/office/drawing/2014/main" id="{88FC823E-2A7A-46C7-BD35-B8BC74B5B332}"/>
              </a:ext>
            </a:extLst>
          </p:cNvPr>
          <p:cNvSpPr>
            <a:spLocks noChangeShapeType="1"/>
          </p:cNvSpPr>
          <p:nvPr/>
        </p:nvSpPr>
        <p:spPr bwMode="auto">
          <a:xfrm>
            <a:off x="7512939" y="2832100"/>
            <a:ext cx="0" cy="2017712"/>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3101" name="Line 29">
            <a:extLst>
              <a:ext uri="{FF2B5EF4-FFF2-40B4-BE49-F238E27FC236}">
                <a16:creationId xmlns:a16="http://schemas.microsoft.com/office/drawing/2014/main" id="{A2B0EF30-9919-41C1-BCB4-6D087144BEF8}"/>
              </a:ext>
            </a:extLst>
          </p:cNvPr>
          <p:cNvSpPr>
            <a:spLocks noChangeShapeType="1"/>
          </p:cNvSpPr>
          <p:nvPr/>
        </p:nvSpPr>
        <p:spPr bwMode="auto">
          <a:xfrm>
            <a:off x="7368477" y="4705350"/>
            <a:ext cx="230505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3102" name="Text Box 30">
            <a:extLst>
              <a:ext uri="{FF2B5EF4-FFF2-40B4-BE49-F238E27FC236}">
                <a16:creationId xmlns:a16="http://schemas.microsoft.com/office/drawing/2014/main" id="{E051BCCC-6484-441F-8E8F-7EE342D4FB3B}"/>
              </a:ext>
            </a:extLst>
          </p:cNvPr>
          <p:cNvSpPr txBox="1">
            <a:spLocks noChangeArrowheads="1"/>
          </p:cNvSpPr>
          <p:nvPr/>
        </p:nvSpPr>
        <p:spPr bwMode="auto">
          <a:xfrm>
            <a:off x="8089202" y="4187825"/>
            <a:ext cx="6477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600" b="1" dirty="0" err="1">
                <a:solidFill>
                  <a:schemeClr val="tx1">
                    <a:lumMod val="75000"/>
                    <a:lumOff val="25000"/>
                  </a:schemeClr>
                </a:solidFill>
                <a:latin typeface="Tahoma" panose="020B0604030504040204" pitchFamily="34" charset="0"/>
              </a:rPr>
              <a:t>CVu</a:t>
            </a:r>
            <a:endParaRPr lang="es-ES" altLang="es-AR" sz="1600" b="1" dirty="0">
              <a:solidFill>
                <a:schemeClr val="tx1">
                  <a:lumMod val="75000"/>
                  <a:lumOff val="25000"/>
                </a:schemeClr>
              </a:solidFill>
              <a:latin typeface="Tahoma" panose="020B0604030504040204" pitchFamily="34" charset="0"/>
            </a:endParaRPr>
          </a:p>
        </p:txBody>
      </p:sp>
      <p:sp>
        <p:nvSpPr>
          <p:cNvPr id="3103" name="Text Box 31">
            <a:extLst>
              <a:ext uri="{FF2B5EF4-FFF2-40B4-BE49-F238E27FC236}">
                <a16:creationId xmlns:a16="http://schemas.microsoft.com/office/drawing/2014/main" id="{5B25B7C7-376F-4888-9C42-719DFE19BAC4}"/>
              </a:ext>
            </a:extLst>
          </p:cNvPr>
          <p:cNvSpPr txBox="1">
            <a:spLocks noChangeArrowheads="1"/>
          </p:cNvSpPr>
          <p:nvPr/>
        </p:nvSpPr>
        <p:spPr bwMode="auto">
          <a:xfrm>
            <a:off x="7158928" y="2454879"/>
            <a:ext cx="93027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dirty="0">
                <a:solidFill>
                  <a:schemeClr val="tx1">
                    <a:lumMod val="75000"/>
                    <a:lumOff val="25000"/>
                  </a:schemeClr>
                </a:solidFill>
                <a:latin typeface="+mj-lt"/>
              </a:rPr>
              <a:t>CV </a:t>
            </a:r>
            <a:r>
              <a:rPr lang="es-AR" altLang="es-AR" dirty="0">
                <a:solidFill>
                  <a:schemeClr val="tx1">
                    <a:lumMod val="75000"/>
                    <a:lumOff val="25000"/>
                  </a:schemeClr>
                </a:solidFill>
                <a:latin typeface="+mj-lt"/>
                <a:cs typeface="Tahoma" panose="020B0604030504040204" pitchFamily="34" charset="0"/>
              </a:rPr>
              <a:t>[$]</a:t>
            </a:r>
          </a:p>
        </p:txBody>
      </p:sp>
      <p:sp>
        <p:nvSpPr>
          <p:cNvPr id="3104" name="Text Box 32">
            <a:extLst>
              <a:ext uri="{FF2B5EF4-FFF2-40B4-BE49-F238E27FC236}">
                <a16:creationId xmlns:a16="http://schemas.microsoft.com/office/drawing/2014/main" id="{754E0396-F52C-4DA8-BDAC-D8E5F97B99C6}"/>
              </a:ext>
            </a:extLst>
          </p:cNvPr>
          <p:cNvSpPr txBox="1">
            <a:spLocks noChangeArrowheads="1"/>
          </p:cNvSpPr>
          <p:nvPr/>
        </p:nvSpPr>
        <p:spPr bwMode="auto">
          <a:xfrm>
            <a:off x="9600502" y="4632325"/>
            <a:ext cx="3603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a:latin typeface="Tahoma" panose="020B0604030504040204" pitchFamily="34" charset="0"/>
              </a:rPr>
              <a:t>q</a:t>
            </a:r>
            <a:endParaRPr lang="es-ES" altLang="es-AR">
              <a:latin typeface="Tahoma" panose="020B0604030504040204" pitchFamily="34" charset="0"/>
            </a:endParaRPr>
          </a:p>
        </p:txBody>
      </p:sp>
      <p:sp>
        <p:nvSpPr>
          <p:cNvPr id="3105" name="Text Box 33">
            <a:extLst>
              <a:ext uri="{FF2B5EF4-FFF2-40B4-BE49-F238E27FC236}">
                <a16:creationId xmlns:a16="http://schemas.microsoft.com/office/drawing/2014/main" id="{FFD851F9-78D5-4AB2-8D1B-F3CFF757F9A8}"/>
              </a:ext>
            </a:extLst>
          </p:cNvPr>
          <p:cNvSpPr txBox="1">
            <a:spLocks noChangeArrowheads="1"/>
          </p:cNvSpPr>
          <p:nvPr/>
        </p:nvSpPr>
        <p:spPr bwMode="auto">
          <a:xfrm>
            <a:off x="8089203" y="4675188"/>
            <a:ext cx="11509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dirty="0">
                <a:solidFill>
                  <a:schemeClr val="tx1">
                    <a:lumMod val="75000"/>
                    <a:lumOff val="25000"/>
                  </a:schemeClr>
                </a:solidFill>
                <a:latin typeface="+mj-lt"/>
              </a:rPr>
              <a:t>ETAPA 2</a:t>
            </a:r>
            <a:endParaRPr lang="es-ES" altLang="es-AR" dirty="0">
              <a:solidFill>
                <a:schemeClr val="tx1">
                  <a:lumMod val="75000"/>
                  <a:lumOff val="25000"/>
                </a:schemeClr>
              </a:solidFill>
              <a:latin typeface="+mj-lt"/>
            </a:endParaRPr>
          </a:p>
        </p:txBody>
      </p:sp>
      <p:sp>
        <p:nvSpPr>
          <p:cNvPr id="3109" name="Line 37">
            <a:extLst>
              <a:ext uri="{FF2B5EF4-FFF2-40B4-BE49-F238E27FC236}">
                <a16:creationId xmlns:a16="http://schemas.microsoft.com/office/drawing/2014/main" id="{378A9EB4-2303-40D1-A1F3-58AA646FACBA}"/>
              </a:ext>
            </a:extLst>
          </p:cNvPr>
          <p:cNvSpPr>
            <a:spLocks noChangeShapeType="1"/>
          </p:cNvSpPr>
          <p:nvPr/>
        </p:nvSpPr>
        <p:spPr bwMode="auto">
          <a:xfrm flipV="1">
            <a:off x="7512939" y="2892426"/>
            <a:ext cx="2089150" cy="1800225"/>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3110" name="Arc 38">
            <a:extLst>
              <a:ext uri="{FF2B5EF4-FFF2-40B4-BE49-F238E27FC236}">
                <a16:creationId xmlns:a16="http://schemas.microsoft.com/office/drawing/2014/main" id="{150EC536-7E74-4EBF-8E5B-CCC027659FA1}"/>
              </a:ext>
            </a:extLst>
          </p:cNvPr>
          <p:cNvSpPr>
            <a:spLocks/>
          </p:cNvSpPr>
          <p:nvPr/>
        </p:nvSpPr>
        <p:spPr bwMode="auto">
          <a:xfrm>
            <a:off x="7878065" y="4381501"/>
            <a:ext cx="144463" cy="288925"/>
          </a:xfrm>
          <a:custGeom>
            <a:avLst/>
            <a:gdLst>
              <a:gd name="T0" fmla="*/ 0 w 21600"/>
              <a:gd name="T1" fmla="*/ 0 h 39815"/>
              <a:gd name="T2" fmla="*/ 77642 w 21600"/>
              <a:gd name="T3" fmla="*/ 288925 h 39815"/>
              <a:gd name="T4" fmla="*/ 0 w 21600"/>
              <a:gd name="T5" fmla="*/ 156744 h 39815"/>
              <a:gd name="T6" fmla="*/ 0 60000 65536"/>
              <a:gd name="T7" fmla="*/ 0 60000 65536"/>
              <a:gd name="T8" fmla="*/ 0 60000 65536"/>
            </a:gdLst>
            <a:ahLst/>
            <a:cxnLst>
              <a:cxn ang="T6">
                <a:pos x="T0" y="T1"/>
              </a:cxn>
              <a:cxn ang="T7">
                <a:pos x="T2" y="T3"/>
              </a:cxn>
              <a:cxn ang="T8">
                <a:pos x="T4" y="T5"/>
              </a:cxn>
            </a:cxnLst>
            <a:rect l="0" t="0" r="r" b="b"/>
            <a:pathLst>
              <a:path w="21600" h="39815" fill="none" extrusionOk="0">
                <a:moveTo>
                  <a:pt x="-1" y="0"/>
                </a:moveTo>
                <a:cubicBezTo>
                  <a:pt x="11929" y="0"/>
                  <a:pt x="21600" y="9670"/>
                  <a:pt x="21600" y="21600"/>
                </a:cubicBezTo>
                <a:cubicBezTo>
                  <a:pt x="21600" y="28979"/>
                  <a:pt x="17832" y="35848"/>
                  <a:pt x="11609" y="39815"/>
                </a:cubicBezTo>
              </a:path>
              <a:path w="21600" h="39815" stroke="0" extrusionOk="0">
                <a:moveTo>
                  <a:pt x="-1" y="0"/>
                </a:moveTo>
                <a:cubicBezTo>
                  <a:pt x="11929" y="0"/>
                  <a:pt x="21600" y="9670"/>
                  <a:pt x="21600" y="21600"/>
                </a:cubicBezTo>
                <a:cubicBezTo>
                  <a:pt x="21600" y="28979"/>
                  <a:pt x="17832" y="35848"/>
                  <a:pt x="11609" y="39815"/>
                </a:cubicBezTo>
                <a:lnTo>
                  <a:pt x="0" y="21600"/>
                </a:lnTo>
                <a:lnTo>
                  <a:pt x="-1" y="0"/>
                </a:lnTo>
                <a:close/>
              </a:path>
            </a:pathLst>
          </a:custGeom>
          <a:noFill/>
          <a:ln w="9525">
            <a:solidFill>
              <a:srgbClr val="0000FF"/>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3112" name="Text Box 40">
            <a:extLst>
              <a:ext uri="{FF2B5EF4-FFF2-40B4-BE49-F238E27FC236}">
                <a16:creationId xmlns:a16="http://schemas.microsoft.com/office/drawing/2014/main" id="{4C3BFA8F-58B9-4849-AC8F-83E706672E81}"/>
              </a:ext>
            </a:extLst>
          </p:cNvPr>
          <p:cNvSpPr txBox="1">
            <a:spLocks noChangeArrowheads="1"/>
          </p:cNvSpPr>
          <p:nvPr/>
        </p:nvSpPr>
        <p:spPr bwMode="auto">
          <a:xfrm>
            <a:off x="1156462" y="2476501"/>
            <a:ext cx="5244335" cy="216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spcBef>
                <a:spcPct val="50000"/>
              </a:spcBef>
              <a:defRPr/>
            </a:pPr>
            <a:r>
              <a:rPr lang="es-AR" altLang="es-AR" b="1" dirty="0">
                <a:solidFill>
                  <a:schemeClr val="tx1">
                    <a:lumMod val="75000"/>
                    <a:lumOff val="25000"/>
                  </a:schemeClr>
                </a:solidFill>
                <a:latin typeface="Century Gothic" panose="020B0502020202020204" pitchFamily="34" charset="0"/>
              </a:rPr>
              <a:t>Etapa 2: </a:t>
            </a:r>
          </a:p>
          <a:p>
            <a:pPr marL="285750" indent="-285750" eaLnBrk="1" hangingPunct="1">
              <a:spcBef>
                <a:spcPct val="50000"/>
              </a:spcBef>
              <a:buClr>
                <a:srgbClr val="92D050"/>
              </a:buClr>
              <a:buFont typeface="Arial" panose="020B0604020202020204" pitchFamily="34" charset="0"/>
              <a:buChar char="•"/>
              <a:defRPr/>
            </a:pPr>
            <a:r>
              <a:rPr lang="es-AR" altLang="es-AR" b="1" dirty="0">
                <a:solidFill>
                  <a:schemeClr val="tx1">
                    <a:lumMod val="75000"/>
                    <a:lumOff val="25000"/>
                  </a:schemeClr>
                </a:solidFill>
                <a:effectLst>
                  <a:outerShdw blurRad="38100" dist="38100" dir="2700000" algn="tl">
                    <a:srgbClr val="C0C0C0"/>
                  </a:outerShdw>
                </a:effectLst>
                <a:latin typeface="Century Gothic" panose="020B0502020202020204" pitchFamily="34" charset="0"/>
              </a:rPr>
              <a:t>Representa la actividad de trabajo normal</a:t>
            </a:r>
            <a:r>
              <a:rPr lang="es-AR" altLang="es-AR" dirty="0">
                <a:solidFill>
                  <a:schemeClr val="tx1">
                    <a:lumMod val="75000"/>
                    <a:lumOff val="25000"/>
                  </a:schemeClr>
                </a:solidFill>
                <a:latin typeface="Century Gothic" panose="020B0502020202020204" pitchFamily="34" charset="0"/>
              </a:rPr>
              <a:t>, los operarios normalizan las tareas y las máquinas entran en régimen de producción. El costo variable resulta directamente proporcional a la cantidad de unidades producidas.</a:t>
            </a:r>
            <a:endParaRPr lang="es-ES" altLang="es-AR" dirty="0">
              <a:solidFill>
                <a:schemeClr val="tx1">
                  <a:lumMod val="75000"/>
                  <a:lumOff val="25000"/>
                </a:schemeClr>
              </a:solidFill>
              <a:latin typeface="Century Gothic" panose="020B0502020202020204" pitchFamily="34" charset="0"/>
            </a:endParaRPr>
          </a:p>
        </p:txBody>
      </p:sp>
      <p:sp>
        <p:nvSpPr>
          <p:cNvPr id="2" name="Marcador de número de diapositiva 1">
            <a:extLst>
              <a:ext uri="{FF2B5EF4-FFF2-40B4-BE49-F238E27FC236}">
                <a16:creationId xmlns:a16="http://schemas.microsoft.com/office/drawing/2014/main" id="{F6EEC43C-B151-404F-91C9-7FDEA563FAB4}"/>
              </a:ext>
            </a:extLst>
          </p:cNvPr>
          <p:cNvSpPr>
            <a:spLocks noGrp="1"/>
          </p:cNvSpPr>
          <p:nvPr>
            <p:ph type="sldNum" sz="quarter" idx="12"/>
          </p:nvPr>
        </p:nvSpPr>
        <p:spPr/>
        <p:txBody>
          <a:bodyPr/>
          <a:lstStyle/>
          <a:p>
            <a:fld id="{D57F1E4F-1CFF-5643-939E-217C01CDF565}" type="slidenum">
              <a:rPr lang="en-US" smtClean="0"/>
              <a:pPr/>
              <a:t>8</a:t>
            </a:fld>
            <a:endParaRPr lang="en-US" dirty="0"/>
          </a:p>
        </p:txBody>
      </p:sp>
    </p:spTree>
    <p:extLst>
      <p:ext uri="{BB962C8B-B14F-4D97-AF65-F5344CB8AC3E}">
        <p14:creationId xmlns:p14="http://schemas.microsoft.com/office/powerpoint/2010/main" val="20510316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8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0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10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10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0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10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4" fill="hold" nodeType="clickEffect">
                                  <p:stCondLst>
                                    <p:cond delay="0"/>
                                  </p:stCondLst>
                                  <p:childTnLst>
                                    <p:set>
                                      <p:cBhvr>
                                        <p:cTn id="22" dur="1" fill="hold">
                                          <p:stCondLst>
                                            <p:cond delay="0"/>
                                          </p:stCondLst>
                                        </p:cTn>
                                        <p:tgtEl>
                                          <p:spTgt spid="3109"/>
                                        </p:tgtEl>
                                        <p:attrNameLst>
                                          <p:attrName>style.visibility</p:attrName>
                                        </p:attrNameLst>
                                      </p:cBhvr>
                                      <p:to>
                                        <p:strVal val="visible"/>
                                      </p:to>
                                    </p:set>
                                    <p:animEffect transition="in" filter="wipe(down)">
                                      <p:cBhvr>
                                        <p:cTn id="23" dur="3000"/>
                                        <p:tgtEl>
                                          <p:spTgt spid="3109"/>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nodeType="clickEffect">
                                  <p:stCondLst>
                                    <p:cond delay="0"/>
                                  </p:stCondLst>
                                  <p:childTnLst>
                                    <p:set>
                                      <p:cBhvr>
                                        <p:cTn id="27" dur="1" fill="hold">
                                          <p:stCondLst>
                                            <p:cond delay="0"/>
                                          </p:stCondLst>
                                        </p:cTn>
                                        <p:tgtEl>
                                          <p:spTgt spid="3110"/>
                                        </p:tgtEl>
                                        <p:attrNameLst>
                                          <p:attrName>style.visibility</p:attrName>
                                        </p:attrNameLst>
                                      </p:cBhvr>
                                      <p:to>
                                        <p:strVal val="visible"/>
                                      </p:to>
                                    </p:set>
                                    <p:animEffect transition="in" filter="blinds(horizontal)">
                                      <p:cBhvr>
                                        <p:cTn id="28" dur="500"/>
                                        <p:tgtEl>
                                          <p:spTgt spid="3110"/>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3102"/>
                                        </p:tgtEl>
                                        <p:attrNameLst>
                                          <p:attrName>style.visibility</p:attrName>
                                        </p:attrNameLst>
                                      </p:cBhvr>
                                      <p:to>
                                        <p:strVal val="visible"/>
                                      </p:to>
                                    </p:set>
                                    <p:animEffect transition="in" filter="blinds(horizontal)">
                                      <p:cBhvr>
                                        <p:cTn id="31" dur="500"/>
                                        <p:tgtEl>
                                          <p:spTgt spid="3102"/>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3112"/>
                                        </p:tgtEl>
                                        <p:attrNameLst>
                                          <p:attrName>style.visibility</p:attrName>
                                        </p:attrNameLst>
                                      </p:cBhvr>
                                      <p:to>
                                        <p:strVal val="visible"/>
                                      </p:to>
                                    </p:set>
                                    <p:animEffect transition="in" filter="blinds(horizontal)">
                                      <p:cBhvr>
                                        <p:cTn id="36" dur="500"/>
                                        <p:tgtEl>
                                          <p:spTgt spid="3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3" grpId="0"/>
      <p:bldP spid="3102" grpId="0"/>
      <p:bldP spid="3103" grpId="0"/>
      <p:bldP spid="3104" grpId="0"/>
      <p:bldP spid="3105" grpId="0"/>
      <p:bldP spid="311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9" name="Text Box 7">
            <a:extLst>
              <a:ext uri="{FF2B5EF4-FFF2-40B4-BE49-F238E27FC236}">
                <a16:creationId xmlns:a16="http://schemas.microsoft.com/office/drawing/2014/main" id="{25BC9DA8-6304-4668-9582-E4996472EB72}"/>
              </a:ext>
            </a:extLst>
          </p:cNvPr>
          <p:cNvSpPr txBox="1">
            <a:spLocks noChangeArrowheads="1"/>
          </p:cNvSpPr>
          <p:nvPr/>
        </p:nvSpPr>
        <p:spPr bwMode="auto">
          <a:xfrm>
            <a:off x="1387476" y="185738"/>
            <a:ext cx="75168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effectLst>
                  <a:outerShdw blurRad="38100" dist="38100" dir="2700000" algn="tl">
                    <a:srgbClr val="C0C0C0"/>
                  </a:outerShdw>
                </a:effectLst>
                <a:latin typeface="Century Gothic" panose="020B0502020202020204" pitchFamily="34" charset="0"/>
              </a:rPr>
              <a:t>COSTOS VARIABLES</a:t>
            </a:r>
          </a:p>
        </p:txBody>
      </p:sp>
      <p:sp>
        <p:nvSpPr>
          <p:cNvPr id="3083" name="Text Box 11">
            <a:extLst>
              <a:ext uri="{FF2B5EF4-FFF2-40B4-BE49-F238E27FC236}">
                <a16:creationId xmlns:a16="http://schemas.microsoft.com/office/drawing/2014/main" id="{744C5F88-2BBE-484C-B5A0-5B91A56C4478}"/>
              </a:ext>
            </a:extLst>
          </p:cNvPr>
          <p:cNvSpPr txBox="1">
            <a:spLocks noChangeArrowheads="1"/>
          </p:cNvSpPr>
          <p:nvPr/>
        </p:nvSpPr>
        <p:spPr bwMode="auto">
          <a:xfrm>
            <a:off x="1343024" y="1117601"/>
            <a:ext cx="887095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2000" dirty="0">
                <a:solidFill>
                  <a:schemeClr val="tx1">
                    <a:lumMod val="75000"/>
                    <a:lumOff val="25000"/>
                  </a:schemeClr>
                </a:solidFill>
                <a:latin typeface="Century Gothic" panose="020B0502020202020204" pitchFamily="34" charset="0"/>
              </a:rPr>
              <a:t>La variación en función de la cantidad de unidades producidas describe tres etapas:</a:t>
            </a:r>
            <a:endParaRPr lang="es-ES" altLang="es-AR" sz="2000" dirty="0">
              <a:solidFill>
                <a:schemeClr val="tx1">
                  <a:lumMod val="75000"/>
                  <a:lumOff val="25000"/>
                </a:schemeClr>
              </a:solidFill>
              <a:latin typeface="Century Gothic" panose="020B0502020202020204" pitchFamily="34" charset="0"/>
            </a:endParaRPr>
          </a:p>
        </p:txBody>
      </p:sp>
      <p:sp>
        <p:nvSpPr>
          <p:cNvPr id="3094" name="Line 22">
            <a:extLst>
              <a:ext uri="{FF2B5EF4-FFF2-40B4-BE49-F238E27FC236}">
                <a16:creationId xmlns:a16="http://schemas.microsoft.com/office/drawing/2014/main" id="{EBC8F92E-FE30-455F-A43A-0E4A8DD6BBA5}"/>
              </a:ext>
            </a:extLst>
          </p:cNvPr>
          <p:cNvSpPr>
            <a:spLocks noChangeShapeType="1"/>
          </p:cNvSpPr>
          <p:nvPr/>
        </p:nvSpPr>
        <p:spPr bwMode="auto">
          <a:xfrm>
            <a:off x="8112125" y="2367358"/>
            <a:ext cx="0" cy="2017712"/>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3095" name="Line 23">
            <a:extLst>
              <a:ext uri="{FF2B5EF4-FFF2-40B4-BE49-F238E27FC236}">
                <a16:creationId xmlns:a16="http://schemas.microsoft.com/office/drawing/2014/main" id="{5B0B8503-07B1-4564-8557-788657F7BC6C}"/>
              </a:ext>
            </a:extLst>
          </p:cNvPr>
          <p:cNvSpPr>
            <a:spLocks noChangeShapeType="1"/>
          </p:cNvSpPr>
          <p:nvPr/>
        </p:nvSpPr>
        <p:spPr bwMode="auto">
          <a:xfrm>
            <a:off x="7967663" y="4240608"/>
            <a:ext cx="230505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3096" name="Text Box 24">
            <a:extLst>
              <a:ext uri="{FF2B5EF4-FFF2-40B4-BE49-F238E27FC236}">
                <a16:creationId xmlns:a16="http://schemas.microsoft.com/office/drawing/2014/main" id="{5B6BEB03-0B11-4B86-A5FA-E6A2D32A835F}"/>
              </a:ext>
            </a:extLst>
          </p:cNvPr>
          <p:cNvSpPr txBox="1">
            <a:spLocks noChangeArrowheads="1"/>
          </p:cNvSpPr>
          <p:nvPr/>
        </p:nvSpPr>
        <p:spPr bwMode="auto">
          <a:xfrm>
            <a:off x="8832850" y="3880245"/>
            <a:ext cx="6477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600" b="1" dirty="0" err="1">
                <a:solidFill>
                  <a:schemeClr val="tx1">
                    <a:lumMod val="75000"/>
                    <a:lumOff val="25000"/>
                  </a:schemeClr>
                </a:solidFill>
                <a:latin typeface="+mj-lt"/>
              </a:rPr>
              <a:t>CVu</a:t>
            </a:r>
            <a:endParaRPr lang="es-ES" altLang="es-AR" sz="1600" b="1" dirty="0">
              <a:solidFill>
                <a:schemeClr val="tx1">
                  <a:lumMod val="75000"/>
                  <a:lumOff val="25000"/>
                </a:schemeClr>
              </a:solidFill>
              <a:latin typeface="+mj-lt"/>
            </a:endParaRPr>
          </a:p>
        </p:txBody>
      </p:sp>
      <p:sp>
        <p:nvSpPr>
          <p:cNvPr id="3097" name="Text Box 25">
            <a:extLst>
              <a:ext uri="{FF2B5EF4-FFF2-40B4-BE49-F238E27FC236}">
                <a16:creationId xmlns:a16="http://schemas.microsoft.com/office/drawing/2014/main" id="{76B5BFB7-AC01-47BB-BEBE-402455F1B2ED}"/>
              </a:ext>
            </a:extLst>
          </p:cNvPr>
          <p:cNvSpPr txBox="1">
            <a:spLocks noChangeArrowheads="1"/>
          </p:cNvSpPr>
          <p:nvPr/>
        </p:nvSpPr>
        <p:spPr bwMode="auto">
          <a:xfrm>
            <a:off x="7751763" y="2080021"/>
            <a:ext cx="108107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dirty="0">
                <a:solidFill>
                  <a:schemeClr val="tx1">
                    <a:lumMod val="75000"/>
                    <a:lumOff val="25000"/>
                  </a:schemeClr>
                </a:solidFill>
                <a:latin typeface="+mj-lt"/>
              </a:rPr>
              <a:t>CV </a:t>
            </a:r>
            <a:r>
              <a:rPr lang="es-AR" altLang="es-AR" dirty="0">
                <a:solidFill>
                  <a:schemeClr val="tx1">
                    <a:lumMod val="75000"/>
                    <a:lumOff val="25000"/>
                  </a:schemeClr>
                </a:solidFill>
                <a:latin typeface="+mj-lt"/>
                <a:cs typeface="Tahoma" panose="020B0604030504040204" pitchFamily="34" charset="0"/>
              </a:rPr>
              <a:t>[$]</a:t>
            </a:r>
          </a:p>
        </p:txBody>
      </p:sp>
      <p:sp>
        <p:nvSpPr>
          <p:cNvPr id="3098" name="Text Box 26">
            <a:extLst>
              <a:ext uri="{FF2B5EF4-FFF2-40B4-BE49-F238E27FC236}">
                <a16:creationId xmlns:a16="http://schemas.microsoft.com/office/drawing/2014/main" id="{124013AF-A548-4F29-A65E-02B8577D9300}"/>
              </a:ext>
            </a:extLst>
          </p:cNvPr>
          <p:cNvSpPr txBox="1">
            <a:spLocks noChangeArrowheads="1"/>
          </p:cNvSpPr>
          <p:nvPr/>
        </p:nvSpPr>
        <p:spPr bwMode="auto">
          <a:xfrm>
            <a:off x="10199688" y="4167583"/>
            <a:ext cx="3603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a:latin typeface="Tahoma" panose="020B0604030504040204" pitchFamily="34" charset="0"/>
              </a:rPr>
              <a:t>q</a:t>
            </a:r>
            <a:endParaRPr lang="es-ES" altLang="es-AR">
              <a:latin typeface="Tahoma" panose="020B0604030504040204" pitchFamily="34" charset="0"/>
            </a:endParaRPr>
          </a:p>
        </p:txBody>
      </p:sp>
      <p:sp>
        <p:nvSpPr>
          <p:cNvPr id="3099" name="Text Box 27">
            <a:extLst>
              <a:ext uri="{FF2B5EF4-FFF2-40B4-BE49-F238E27FC236}">
                <a16:creationId xmlns:a16="http://schemas.microsoft.com/office/drawing/2014/main" id="{52E4EB84-BB19-4E1D-B7D7-726D15F94300}"/>
              </a:ext>
            </a:extLst>
          </p:cNvPr>
          <p:cNvSpPr txBox="1">
            <a:spLocks noChangeArrowheads="1"/>
          </p:cNvSpPr>
          <p:nvPr/>
        </p:nvSpPr>
        <p:spPr bwMode="auto">
          <a:xfrm>
            <a:off x="8688389" y="4210446"/>
            <a:ext cx="11509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dirty="0">
                <a:solidFill>
                  <a:schemeClr val="tx1">
                    <a:lumMod val="75000"/>
                    <a:lumOff val="25000"/>
                  </a:schemeClr>
                </a:solidFill>
                <a:latin typeface="+mj-lt"/>
              </a:rPr>
              <a:t>ETAPA 3</a:t>
            </a:r>
            <a:endParaRPr lang="es-ES" altLang="es-AR" dirty="0">
              <a:solidFill>
                <a:schemeClr val="tx1">
                  <a:lumMod val="75000"/>
                  <a:lumOff val="25000"/>
                </a:schemeClr>
              </a:solidFill>
              <a:latin typeface="+mj-lt"/>
            </a:endParaRPr>
          </a:p>
        </p:txBody>
      </p:sp>
      <p:sp>
        <p:nvSpPr>
          <p:cNvPr id="3106" name="Arc 34">
            <a:extLst>
              <a:ext uri="{FF2B5EF4-FFF2-40B4-BE49-F238E27FC236}">
                <a16:creationId xmlns:a16="http://schemas.microsoft.com/office/drawing/2014/main" id="{4D69441D-2994-4395-A4EC-D1B34A3EB1DF}"/>
              </a:ext>
            </a:extLst>
          </p:cNvPr>
          <p:cNvSpPr>
            <a:spLocks/>
          </p:cNvSpPr>
          <p:nvPr/>
        </p:nvSpPr>
        <p:spPr bwMode="auto">
          <a:xfrm rot="21397469" flipV="1">
            <a:off x="7118350" y="1849834"/>
            <a:ext cx="2528888" cy="2376487"/>
          </a:xfrm>
          <a:custGeom>
            <a:avLst/>
            <a:gdLst>
              <a:gd name="T0" fmla="*/ 909260 w 20509"/>
              <a:gd name="T1" fmla="*/ 0 h 20302"/>
              <a:gd name="T2" fmla="*/ 2528888 w 20509"/>
              <a:gd name="T3" fmla="*/ 1583076 h 20302"/>
              <a:gd name="T4" fmla="*/ 0 w 20509"/>
              <a:gd name="T5" fmla="*/ 2376487 h 20302"/>
              <a:gd name="T6" fmla="*/ 0 60000 65536"/>
              <a:gd name="T7" fmla="*/ 0 60000 65536"/>
              <a:gd name="T8" fmla="*/ 0 60000 65536"/>
            </a:gdLst>
            <a:ahLst/>
            <a:cxnLst>
              <a:cxn ang="T6">
                <a:pos x="T0" y="T1"/>
              </a:cxn>
              <a:cxn ang="T7">
                <a:pos x="T2" y="T3"/>
              </a:cxn>
              <a:cxn ang="T8">
                <a:pos x="T4" y="T5"/>
              </a:cxn>
            </a:cxnLst>
            <a:rect l="0" t="0" r="r" b="b"/>
            <a:pathLst>
              <a:path w="20509" h="20302" fill="none" extrusionOk="0">
                <a:moveTo>
                  <a:pt x="7374" y="-1"/>
                </a:moveTo>
                <a:cubicBezTo>
                  <a:pt x="13592" y="2258"/>
                  <a:pt x="18432" y="7242"/>
                  <a:pt x="20508" y="13524"/>
                </a:cubicBezTo>
              </a:path>
              <a:path w="20509" h="20302" stroke="0" extrusionOk="0">
                <a:moveTo>
                  <a:pt x="7374" y="-1"/>
                </a:moveTo>
                <a:cubicBezTo>
                  <a:pt x="13592" y="2258"/>
                  <a:pt x="18432" y="7242"/>
                  <a:pt x="20508" y="13524"/>
                </a:cubicBezTo>
                <a:lnTo>
                  <a:pt x="0" y="20302"/>
                </a:lnTo>
                <a:lnTo>
                  <a:pt x="7374" y="-1"/>
                </a:lnTo>
                <a:close/>
              </a:path>
            </a:pathLst>
          </a:custGeom>
          <a:noFill/>
          <a:ln w="28575">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3107" name="Line 35">
            <a:extLst>
              <a:ext uri="{FF2B5EF4-FFF2-40B4-BE49-F238E27FC236}">
                <a16:creationId xmlns:a16="http://schemas.microsoft.com/office/drawing/2014/main" id="{8662A164-D250-40F3-AE16-6271000130CC}"/>
              </a:ext>
            </a:extLst>
          </p:cNvPr>
          <p:cNvSpPr>
            <a:spLocks noChangeShapeType="1"/>
          </p:cNvSpPr>
          <p:nvPr/>
        </p:nvSpPr>
        <p:spPr bwMode="auto">
          <a:xfrm flipV="1">
            <a:off x="8126413" y="3303984"/>
            <a:ext cx="2087562" cy="9366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3108" name="Arc 36">
            <a:extLst>
              <a:ext uri="{FF2B5EF4-FFF2-40B4-BE49-F238E27FC236}">
                <a16:creationId xmlns:a16="http://schemas.microsoft.com/office/drawing/2014/main" id="{CED7D8EC-2AB8-4180-B19E-82454EC445D7}"/>
              </a:ext>
            </a:extLst>
          </p:cNvPr>
          <p:cNvSpPr>
            <a:spLocks/>
          </p:cNvSpPr>
          <p:nvPr/>
        </p:nvSpPr>
        <p:spPr bwMode="auto">
          <a:xfrm>
            <a:off x="8688388" y="4024708"/>
            <a:ext cx="144462" cy="215900"/>
          </a:xfrm>
          <a:custGeom>
            <a:avLst/>
            <a:gdLst>
              <a:gd name="T0" fmla="*/ 0 w 21600"/>
              <a:gd name="T1" fmla="*/ 0 h 39815"/>
              <a:gd name="T2" fmla="*/ 77642 w 21600"/>
              <a:gd name="T3" fmla="*/ 215900 h 39815"/>
              <a:gd name="T4" fmla="*/ 0 w 21600"/>
              <a:gd name="T5" fmla="*/ 117128 h 39815"/>
              <a:gd name="T6" fmla="*/ 0 60000 65536"/>
              <a:gd name="T7" fmla="*/ 0 60000 65536"/>
              <a:gd name="T8" fmla="*/ 0 60000 65536"/>
            </a:gdLst>
            <a:ahLst/>
            <a:cxnLst>
              <a:cxn ang="T6">
                <a:pos x="T0" y="T1"/>
              </a:cxn>
              <a:cxn ang="T7">
                <a:pos x="T2" y="T3"/>
              </a:cxn>
              <a:cxn ang="T8">
                <a:pos x="T4" y="T5"/>
              </a:cxn>
            </a:cxnLst>
            <a:rect l="0" t="0" r="r" b="b"/>
            <a:pathLst>
              <a:path w="21600" h="39815" fill="none" extrusionOk="0">
                <a:moveTo>
                  <a:pt x="-1" y="0"/>
                </a:moveTo>
                <a:cubicBezTo>
                  <a:pt x="11929" y="0"/>
                  <a:pt x="21600" y="9670"/>
                  <a:pt x="21600" y="21600"/>
                </a:cubicBezTo>
                <a:cubicBezTo>
                  <a:pt x="21600" y="28979"/>
                  <a:pt x="17832" y="35848"/>
                  <a:pt x="11609" y="39815"/>
                </a:cubicBezTo>
              </a:path>
              <a:path w="21600" h="39815" stroke="0" extrusionOk="0">
                <a:moveTo>
                  <a:pt x="-1" y="0"/>
                </a:moveTo>
                <a:cubicBezTo>
                  <a:pt x="11929" y="0"/>
                  <a:pt x="21600" y="9670"/>
                  <a:pt x="21600" y="21600"/>
                </a:cubicBezTo>
                <a:cubicBezTo>
                  <a:pt x="21600" y="28979"/>
                  <a:pt x="17832" y="35848"/>
                  <a:pt x="11609" y="39815"/>
                </a:cubicBezTo>
                <a:lnTo>
                  <a:pt x="0" y="21600"/>
                </a:lnTo>
                <a:lnTo>
                  <a:pt x="-1" y="0"/>
                </a:lnTo>
                <a:close/>
              </a:path>
            </a:pathLst>
          </a:custGeom>
          <a:noFill/>
          <a:ln w="9525">
            <a:solidFill>
              <a:schemeClr val="tx1"/>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3113" name="Text Box 41">
            <a:extLst>
              <a:ext uri="{FF2B5EF4-FFF2-40B4-BE49-F238E27FC236}">
                <a16:creationId xmlns:a16="http://schemas.microsoft.com/office/drawing/2014/main" id="{EE96FE01-01EA-4530-A531-9CBE744762B4}"/>
              </a:ext>
            </a:extLst>
          </p:cNvPr>
          <p:cNvSpPr txBox="1">
            <a:spLocks noChangeArrowheads="1"/>
          </p:cNvSpPr>
          <p:nvPr/>
        </p:nvSpPr>
        <p:spPr bwMode="auto">
          <a:xfrm>
            <a:off x="1378746" y="2291301"/>
            <a:ext cx="5311472" cy="216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b="1" dirty="0">
                <a:solidFill>
                  <a:schemeClr val="tx1">
                    <a:lumMod val="75000"/>
                    <a:lumOff val="25000"/>
                  </a:schemeClr>
                </a:solidFill>
                <a:latin typeface="Century Gothic" panose="020B0502020202020204" pitchFamily="34" charset="0"/>
              </a:rPr>
              <a:t>Etapa 3: </a:t>
            </a:r>
          </a:p>
          <a:p>
            <a:pPr marL="285750" indent="-285750" eaLnBrk="1" hangingPunct="1">
              <a:spcBef>
                <a:spcPct val="50000"/>
              </a:spcBef>
              <a:buClr>
                <a:srgbClr val="92D050"/>
              </a:buClr>
              <a:buFont typeface="Arial" panose="020B0604020202020204" pitchFamily="34" charset="0"/>
              <a:buChar char="•"/>
            </a:pPr>
            <a:r>
              <a:rPr lang="es-AR" altLang="es-AR" dirty="0">
                <a:solidFill>
                  <a:schemeClr val="tx1">
                    <a:lumMod val="75000"/>
                    <a:lumOff val="25000"/>
                  </a:schemeClr>
                </a:solidFill>
                <a:latin typeface="Century Gothic" panose="020B0502020202020204" pitchFamily="34" charset="0"/>
              </a:rPr>
              <a:t>En este tercer tramo vemos cono los costos se disparan nuevamente ocasionando una baja productividad, se pretende lograr una producción superior al nivel de actividad normal por la cual está dimensionada la planta.</a:t>
            </a:r>
            <a:endParaRPr lang="es-ES" altLang="es-AR" dirty="0">
              <a:solidFill>
                <a:schemeClr val="tx1">
                  <a:lumMod val="75000"/>
                  <a:lumOff val="25000"/>
                </a:schemeClr>
              </a:solidFill>
              <a:latin typeface="Century Gothic" panose="020B0502020202020204" pitchFamily="34" charset="0"/>
            </a:endParaRPr>
          </a:p>
        </p:txBody>
      </p:sp>
      <p:sp>
        <p:nvSpPr>
          <p:cNvPr id="2" name="CuadroTexto 1">
            <a:extLst>
              <a:ext uri="{FF2B5EF4-FFF2-40B4-BE49-F238E27FC236}">
                <a16:creationId xmlns:a16="http://schemas.microsoft.com/office/drawing/2014/main" id="{EB1184F3-E3CA-48D5-9F68-451C44219438}"/>
              </a:ext>
            </a:extLst>
          </p:cNvPr>
          <p:cNvSpPr txBox="1"/>
          <p:nvPr/>
        </p:nvSpPr>
        <p:spPr>
          <a:xfrm>
            <a:off x="2057400" y="5522976"/>
            <a:ext cx="6775441" cy="400110"/>
          </a:xfrm>
          <a:prstGeom prst="rect">
            <a:avLst/>
          </a:prstGeom>
          <a:noFill/>
        </p:spPr>
        <p:txBody>
          <a:bodyPr wrap="square" rtlCol="0">
            <a:spAutoFit/>
          </a:bodyPr>
          <a:lstStyle/>
          <a:p>
            <a:r>
              <a:rPr lang="es-AR" sz="2000" b="1" dirty="0">
                <a:solidFill>
                  <a:schemeClr val="tx1">
                    <a:lumMod val="75000"/>
                    <a:lumOff val="25000"/>
                  </a:schemeClr>
                </a:solidFill>
              </a:rPr>
              <a:t>Solo trabajaremos en la Etapa 2 de la curva</a:t>
            </a:r>
          </a:p>
        </p:txBody>
      </p:sp>
      <p:sp>
        <p:nvSpPr>
          <p:cNvPr id="3" name="Marcador de número de diapositiva 2">
            <a:extLst>
              <a:ext uri="{FF2B5EF4-FFF2-40B4-BE49-F238E27FC236}">
                <a16:creationId xmlns:a16="http://schemas.microsoft.com/office/drawing/2014/main" id="{8C4EE882-3941-408D-BAB2-E46CD3173B35}"/>
              </a:ext>
            </a:extLst>
          </p:cNvPr>
          <p:cNvSpPr>
            <a:spLocks noGrp="1"/>
          </p:cNvSpPr>
          <p:nvPr>
            <p:ph type="sldNum" sz="quarter" idx="12"/>
          </p:nvPr>
        </p:nvSpPr>
        <p:spPr/>
        <p:txBody>
          <a:bodyPr/>
          <a:lstStyle/>
          <a:p>
            <a:fld id="{D57F1E4F-1CFF-5643-939E-217C01CDF565}" type="slidenum">
              <a:rPr lang="en-US" smtClean="0"/>
              <a:pPr/>
              <a:t>9</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8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9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9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0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09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9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4" fill="hold" nodeType="clickEffect">
                                  <p:stCondLst>
                                    <p:cond delay="0"/>
                                  </p:stCondLst>
                                  <p:childTnLst>
                                    <p:set>
                                      <p:cBhvr>
                                        <p:cTn id="22" dur="1" fill="hold">
                                          <p:stCondLst>
                                            <p:cond delay="0"/>
                                          </p:stCondLst>
                                        </p:cTn>
                                        <p:tgtEl>
                                          <p:spTgt spid="3106"/>
                                        </p:tgtEl>
                                        <p:attrNameLst>
                                          <p:attrName>style.visibility</p:attrName>
                                        </p:attrNameLst>
                                      </p:cBhvr>
                                      <p:to>
                                        <p:strVal val="visible"/>
                                      </p:to>
                                    </p:set>
                                    <p:animEffect transition="in" filter="wipe(down)">
                                      <p:cBhvr>
                                        <p:cTn id="23" dur="3000"/>
                                        <p:tgtEl>
                                          <p:spTgt spid="3106"/>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nodeType="clickEffect">
                                  <p:stCondLst>
                                    <p:cond delay="0"/>
                                  </p:stCondLst>
                                  <p:childTnLst>
                                    <p:set>
                                      <p:cBhvr>
                                        <p:cTn id="27" dur="1" fill="hold">
                                          <p:stCondLst>
                                            <p:cond delay="0"/>
                                          </p:stCondLst>
                                        </p:cTn>
                                        <p:tgtEl>
                                          <p:spTgt spid="3107"/>
                                        </p:tgtEl>
                                        <p:attrNameLst>
                                          <p:attrName>style.visibility</p:attrName>
                                        </p:attrNameLst>
                                      </p:cBhvr>
                                      <p:to>
                                        <p:strVal val="visible"/>
                                      </p:to>
                                    </p:set>
                                    <p:animEffect transition="in" filter="blinds(horizontal)">
                                      <p:cBhvr>
                                        <p:cTn id="28" dur="500"/>
                                        <p:tgtEl>
                                          <p:spTgt spid="3107"/>
                                        </p:tgtEl>
                                      </p:cBhvr>
                                    </p:animEffect>
                                  </p:childTnLst>
                                </p:cTn>
                              </p:par>
                              <p:par>
                                <p:cTn id="29" presetID="3" presetClass="entr" presetSubtype="10" fill="hold" nodeType="withEffect">
                                  <p:stCondLst>
                                    <p:cond delay="0"/>
                                  </p:stCondLst>
                                  <p:childTnLst>
                                    <p:set>
                                      <p:cBhvr>
                                        <p:cTn id="30" dur="1" fill="hold">
                                          <p:stCondLst>
                                            <p:cond delay="0"/>
                                          </p:stCondLst>
                                        </p:cTn>
                                        <p:tgtEl>
                                          <p:spTgt spid="3108"/>
                                        </p:tgtEl>
                                        <p:attrNameLst>
                                          <p:attrName>style.visibility</p:attrName>
                                        </p:attrNameLst>
                                      </p:cBhvr>
                                      <p:to>
                                        <p:strVal val="visible"/>
                                      </p:to>
                                    </p:set>
                                    <p:animEffect transition="in" filter="blinds(horizontal)">
                                      <p:cBhvr>
                                        <p:cTn id="31" dur="500"/>
                                        <p:tgtEl>
                                          <p:spTgt spid="3108"/>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3096"/>
                                        </p:tgtEl>
                                        <p:attrNameLst>
                                          <p:attrName>style.visibility</p:attrName>
                                        </p:attrNameLst>
                                      </p:cBhvr>
                                      <p:to>
                                        <p:strVal val="visible"/>
                                      </p:to>
                                    </p:set>
                                    <p:animEffect transition="in" filter="blinds(horizontal)">
                                      <p:cBhvr>
                                        <p:cTn id="34" dur="500"/>
                                        <p:tgtEl>
                                          <p:spTgt spid="3096"/>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3113"/>
                                        </p:tgtEl>
                                        <p:attrNameLst>
                                          <p:attrName>style.visibility</p:attrName>
                                        </p:attrNameLst>
                                      </p:cBhvr>
                                      <p:to>
                                        <p:strVal val="visible"/>
                                      </p:to>
                                    </p:set>
                                    <p:animEffect transition="in" filter="blinds(horizontal)">
                                      <p:cBhvr>
                                        <p:cTn id="39" dur="500"/>
                                        <p:tgtEl>
                                          <p:spTgt spid="3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3" grpId="0"/>
      <p:bldP spid="3096" grpId="0"/>
      <p:bldP spid="3097" grpId="0"/>
      <p:bldP spid="3098" grpId="0"/>
      <p:bldP spid="3099" grpId="0"/>
      <p:bldP spid="31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0" name="Text Box 34">
            <a:extLst>
              <a:ext uri="{FF2B5EF4-FFF2-40B4-BE49-F238E27FC236}">
                <a16:creationId xmlns:a16="http://schemas.microsoft.com/office/drawing/2014/main" id="{92CBCC7C-26F3-4C4F-8D67-9FB0C98DBC87}"/>
              </a:ext>
            </a:extLst>
          </p:cNvPr>
          <p:cNvSpPr txBox="1">
            <a:spLocks noChangeArrowheads="1"/>
          </p:cNvSpPr>
          <p:nvPr/>
        </p:nvSpPr>
        <p:spPr bwMode="auto">
          <a:xfrm>
            <a:off x="1387476" y="185738"/>
            <a:ext cx="75168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latin typeface="+mj-lt"/>
              </a:rPr>
              <a:t>COSTO VARIABLE UNITARIO</a:t>
            </a:r>
          </a:p>
        </p:txBody>
      </p:sp>
      <p:sp>
        <p:nvSpPr>
          <p:cNvPr id="4135" name="Text Box 39">
            <a:extLst>
              <a:ext uri="{FF2B5EF4-FFF2-40B4-BE49-F238E27FC236}">
                <a16:creationId xmlns:a16="http://schemas.microsoft.com/office/drawing/2014/main" id="{2107C654-00A5-4099-8046-5998E2C42D80}"/>
              </a:ext>
            </a:extLst>
          </p:cNvPr>
          <p:cNvSpPr txBox="1">
            <a:spLocks noChangeArrowheads="1"/>
          </p:cNvSpPr>
          <p:nvPr/>
        </p:nvSpPr>
        <p:spPr bwMode="auto">
          <a:xfrm>
            <a:off x="1416050" y="1125539"/>
            <a:ext cx="941705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buFont typeface="Wingdings" panose="05000000000000000000" pitchFamily="2" charset="2"/>
              <a:buNone/>
            </a:pPr>
            <a:r>
              <a:rPr lang="es-AR" altLang="es-AR" sz="2000" dirty="0">
                <a:solidFill>
                  <a:schemeClr val="tx1">
                    <a:lumMod val="75000"/>
                    <a:lumOff val="25000"/>
                  </a:schemeClr>
                </a:solidFill>
                <a:latin typeface="+mj-lt"/>
              </a:rPr>
              <a:t>La característica fundamental de los costos variables es que, sobre una base unitaria, permanecen constantes por unidad producida.</a:t>
            </a:r>
            <a:endParaRPr lang="es-AR" altLang="es-AR" sz="2000" b="1" dirty="0">
              <a:solidFill>
                <a:schemeClr val="tx1">
                  <a:lumMod val="75000"/>
                  <a:lumOff val="25000"/>
                </a:schemeClr>
              </a:solidFill>
              <a:latin typeface="+mj-lt"/>
            </a:endParaRPr>
          </a:p>
        </p:txBody>
      </p:sp>
      <p:sp>
        <p:nvSpPr>
          <p:cNvPr id="4136" name="Line 40">
            <a:extLst>
              <a:ext uri="{FF2B5EF4-FFF2-40B4-BE49-F238E27FC236}">
                <a16:creationId xmlns:a16="http://schemas.microsoft.com/office/drawing/2014/main" id="{228D5A79-D8E1-48C1-82A4-DC666F832EF4}"/>
              </a:ext>
            </a:extLst>
          </p:cNvPr>
          <p:cNvSpPr>
            <a:spLocks noChangeShapeType="1"/>
          </p:cNvSpPr>
          <p:nvPr/>
        </p:nvSpPr>
        <p:spPr bwMode="auto">
          <a:xfrm flipV="1">
            <a:off x="7246874" y="2257554"/>
            <a:ext cx="0" cy="309562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4137" name="Line 41">
            <a:extLst>
              <a:ext uri="{FF2B5EF4-FFF2-40B4-BE49-F238E27FC236}">
                <a16:creationId xmlns:a16="http://schemas.microsoft.com/office/drawing/2014/main" id="{FE37F7E1-2C1F-4B29-B84B-5A6DBD9B3078}"/>
              </a:ext>
            </a:extLst>
          </p:cNvPr>
          <p:cNvSpPr>
            <a:spLocks noChangeShapeType="1"/>
          </p:cNvSpPr>
          <p:nvPr/>
        </p:nvSpPr>
        <p:spPr bwMode="auto">
          <a:xfrm>
            <a:off x="6959537" y="5210303"/>
            <a:ext cx="424815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4138" name="Text Box 42">
            <a:extLst>
              <a:ext uri="{FF2B5EF4-FFF2-40B4-BE49-F238E27FC236}">
                <a16:creationId xmlns:a16="http://schemas.microsoft.com/office/drawing/2014/main" id="{413FED00-4278-4661-A343-52C7DBEDA80C}"/>
              </a:ext>
            </a:extLst>
          </p:cNvPr>
          <p:cNvSpPr txBox="1">
            <a:spLocks noChangeArrowheads="1"/>
          </p:cNvSpPr>
          <p:nvPr/>
        </p:nvSpPr>
        <p:spPr bwMode="auto">
          <a:xfrm>
            <a:off x="6022912" y="2184528"/>
            <a:ext cx="12239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b="1" dirty="0" err="1">
                <a:solidFill>
                  <a:schemeClr val="tx1">
                    <a:lumMod val="75000"/>
                    <a:lumOff val="25000"/>
                  </a:schemeClr>
                </a:solidFill>
                <a:latin typeface="+mj-lt"/>
              </a:rPr>
              <a:t>CVu</a:t>
            </a:r>
            <a:r>
              <a:rPr lang="es-AR" altLang="es-AR" b="1" dirty="0">
                <a:solidFill>
                  <a:schemeClr val="tx1">
                    <a:lumMod val="75000"/>
                    <a:lumOff val="25000"/>
                  </a:schemeClr>
                </a:solidFill>
                <a:latin typeface="+mj-lt"/>
              </a:rPr>
              <a:t> </a:t>
            </a:r>
            <a:r>
              <a:rPr lang="es-AR" altLang="es-AR" b="1" dirty="0">
                <a:solidFill>
                  <a:schemeClr val="tx1">
                    <a:lumMod val="75000"/>
                    <a:lumOff val="25000"/>
                  </a:schemeClr>
                </a:solidFill>
                <a:latin typeface="+mj-lt"/>
                <a:cs typeface="Tahoma" panose="020B0604030504040204" pitchFamily="34" charset="0"/>
              </a:rPr>
              <a:t>[$]</a:t>
            </a:r>
          </a:p>
        </p:txBody>
      </p:sp>
      <p:sp>
        <p:nvSpPr>
          <p:cNvPr id="4139" name="Text Box 43">
            <a:extLst>
              <a:ext uri="{FF2B5EF4-FFF2-40B4-BE49-F238E27FC236}">
                <a16:creationId xmlns:a16="http://schemas.microsoft.com/office/drawing/2014/main" id="{0CA73CFF-643F-4C29-B88D-1D4E84DA06D2}"/>
              </a:ext>
            </a:extLst>
          </p:cNvPr>
          <p:cNvSpPr txBox="1">
            <a:spLocks noChangeArrowheads="1"/>
          </p:cNvSpPr>
          <p:nvPr/>
        </p:nvSpPr>
        <p:spPr bwMode="auto">
          <a:xfrm>
            <a:off x="10847325" y="5281741"/>
            <a:ext cx="12239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b="1" dirty="0">
                <a:solidFill>
                  <a:schemeClr val="tx1">
                    <a:lumMod val="75000"/>
                    <a:lumOff val="25000"/>
                  </a:schemeClr>
                </a:solidFill>
                <a:latin typeface="+mj-lt"/>
              </a:rPr>
              <a:t>q (</a:t>
            </a:r>
            <a:r>
              <a:rPr lang="es-AR" altLang="es-AR" b="1" dirty="0" err="1">
                <a:solidFill>
                  <a:schemeClr val="tx1">
                    <a:lumMod val="75000"/>
                    <a:lumOff val="25000"/>
                  </a:schemeClr>
                </a:solidFill>
                <a:latin typeface="+mj-lt"/>
              </a:rPr>
              <a:t>cant</a:t>
            </a:r>
            <a:r>
              <a:rPr lang="es-AR" altLang="es-AR" b="1" dirty="0">
                <a:solidFill>
                  <a:schemeClr val="tx1">
                    <a:lumMod val="75000"/>
                    <a:lumOff val="25000"/>
                  </a:schemeClr>
                </a:solidFill>
                <a:latin typeface="+mj-lt"/>
              </a:rPr>
              <a:t>.)</a:t>
            </a:r>
            <a:endParaRPr lang="es-ES" altLang="es-AR" b="1" dirty="0">
              <a:solidFill>
                <a:schemeClr val="tx1">
                  <a:lumMod val="75000"/>
                  <a:lumOff val="25000"/>
                </a:schemeClr>
              </a:solidFill>
              <a:latin typeface="+mj-lt"/>
            </a:endParaRPr>
          </a:p>
        </p:txBody>
      </p:sp>
      <p:sp>
        <p:nvSpPr>
          <p:cNvPr id="4140" name="Text Box 44">
            <a:extLst>
              <a:ext uri="{FF2B5EF4-FFF2-40B4-BE49-F238E27FC236}">
                <a16:creationId xmlns:a16="http://schemas.microsoft.com/office/drawing/2014/main" id="{3F963F6C-1217-4573-9C41-4462E559F4D1}"/>
              </a:ext>
            </a:extLst>
          </p:cNvPr>
          <p:cNvSpPr txBox="1">
            <a:spLocks noChangeArrowheads="1"/>
          </p:cNvSpPr>
          <p:nvPr/>
        </p:nvSpPr>
        <p:spPr bwMode="auto">
          <a:xfrm>
            <a:off x="1416050" y="3127312"/>
            <a:ext cx="4537075" cy="406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2000" b="1" dirty="0" err="1">
                <a:solidFill>
                  <a:schemeClr val="tx1">
                    <a:lumMod val="75000"/>
                    <a:lumOff val="25000"/>
                  </a:schemeClr>
                </a:solidFill>
                <a:latin typeface="+mj-lt"/>
              </a:rPr>
              <a:t>CVu</a:t>
            </a:r>
            <a:r>
              <a:rPr lang="es-AR" altLang="es-AR" sz="2000" b="1" dirty="0">
                <a:solidFill>
                  <a:schemeClr val="tx1">
                    <a:lumMod val="75000"/>
                    <a:lumOff val="25000"/>
                  </a:schemeClr>
                </a:solidFill>
                <a:latin typeface="+mj-lt"/>
              </a:rPr>
              <a:t> = CV total / q = (</a:t>
            </a:r>
            <a:r>
              <a:rPr lang="es-AR" altLang="es-AR" sz="2000" b="1" dirty="0" err="1">
                <a:solidFill>
                  <a:schemeClr val="tx1">
                    <a:lumMod val="75000"/>
                    <a:lumOff val="25000"/>
                  </a:schemeClr>
                </a:solidFill>
                <a:latin typeface="+mj-lt"/>
              </a:rPr>
              <a:t>CVu</a:t>
            </a:r>
            <a:r>
              <a:rPr lang="es-AR" altLang="es-AR" sz="2000" b="1" dirty="0">
                <a:solidFill>
                  <a:schemeClr val="tx1">
                    <a:lumMod val="75000"/>
                    <a:lumOff val="25000"/>
                  </a:schemeClr>
                </a:solidFill>
                <a:latin typeface="+mj-lt"/>
              </a:rPr>
              <a:t> x q) / q</a:t>
            </a:r>
            <a:endParaRPr lang="es-ES" altLang="es-AR" sz="2000" b="1" dirty="0">
              <a:solidFill>
                <a:schemeClr val="tx1">
                  <a:lumMod val="75000"/>
                  <a:lumOff val="25000"/>
                </a:schemeClr>
              </a:solidFill>
              <a:latin typeface="+mj-lt"/>
            </a:endParaRPr>
          </a:p>
        </p:txBody>
      </p:sp>
      <p:sp>
        <p:nvSpPr>
          <p:cNvPr id="4141" name="Line 45">
            <a:extLst>
              <a:ext uri="{FF2B5EF4-FFF2-40B4-BE49-F238E27FC236}">
                <a16:creationId xmlns:a16="http://schemas.microsoft.com/office/drawing/2014/main" id="{86B055B9-9626-4B37-BF38-556B62BC9EB0}"/>
              </a:ext>
            </a:extLst>
          </p:cNvPr>
          <p:cNvSpPr>
            <a:spLocks noChangeShapeType="1"/>
          </p:cNvSpPr>
          <p:nvPr/>
        </p:nvSpPr>
        <p:spPr bwMode="auto">
          <a:xfrm>
            <a:off x="7246875" y="3840290"/>
            <a:ext cx="3744913"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 name="Marcador de número de diapositiva 1">
            <a:extLst>
              <a:ext uri="{FF2B5EF4-FFF2-40B4-BE49-F238E27FC236}">
                <a16:creationId xmlns:a16="http://schemas.microsoft.com/office/drawing/2014/main" id="{C14E5DA0-D200-416A-B715-73442454C8FA}"/>
              </a:ext>
            </a:extLst>
          </p:cNvPr>
          <p:cNvSpPr>
            <a:spLocks noGrp="1"/>
          </p:cNvSpPr>
          <p:nvPr>
            <p:ph type="sldNum" sz="quarter" idx="12"/>
          </p:nvPr>
        </p:nvSpPr>
        <p:spPr/>
        <p:txBody>
          <a:bodyPr/>
          <a:lstStyle/>
          <a:p>
            <a:fld id="{D57F1E4F-1CFF-5643-939E-217C01CDF565}" type="slidenum">
              <a:rPr lang="en-US" smtClean="0"/>
              <a:pPr/>
              <a:t>10</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3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3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13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13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139"/>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4141"/>
                                        </p:tgtEl>
                                        <p:attrNameLst>
                                          <p:attrName>style.visibility</p:attrName>
                                        </p:attrNameLst>
                                      </p:cBhvr>
                                      <p:to>
                                        <p:strVal val="visible"/>
                                      </p:to>
                                    </p:set>
                                    <p:animEffect transition="in" filter="wipe(left)">
                                      <p:cBhvr>
                                        <p:cTn id="21" dur="5000"/>
                                        <p:tgtEl>
                                          <p:spTgt spid="414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4140"/>
                                        </p:tgtEl>
                                        <p:attrNameLst>
                                          <p:attrName>style.visibility</p:attrName>
                                        </p:attrNameLst>
                                      </p:cBhvr>
                                      <p:to>
                                        <p:strVal val="visible"/>
                                      </p:to>
                                    </p:set>
                                    <p:animEffect transition="in" filter="blinds(horizontal)">
                                      <p:cBhvr>
                                        <p:cTn id="26" dur="500"/>
                                        <p:tgtEl>
                                          <p:spTgt spid="41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35" grpId="0"/>
      <p:bldP spid="4138" grpId="0"/>
      <p:bldP spid="4139" grpId="0"/>
      <p:bldP spid="414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 Box 6">
            <a:extLst>
              <a:ext uri="{FF2B5EF4-FFF2-40B4-BE49-F238E27FC236}">
                <a16:creationId xmlns:a16="http://schemas.microsoft.com/office/drawing/2014/main" id="{0D1780A2-DD33-4EC7-901A-12E1A8DADB77}"/>
              </a:ext>
            </a:extLst>
          </p:cNvPr>
          <p:cNvSpPr txBox="1">
            <a:spLocks noChangeArrowheads="1"/>
          </p:cNvSpPr>
          <p:nvPr/>
        </p:nvSpPr>
        <p:spPr bwMode="auto">
          <a:xfrm>
            <a:off x="1387476" y="185738"/>
            <a:ext cx="75168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effectLst>
                  <a:outerShdw blurRad="38100" dist="38100" dir="2700000" algn="tl">
                    <a:srgbClr val="C0C0C0"/>
                  </a:outerShdw>
                </a:effectLst>
                <a:latin typeface="+mj-lt"/>
              </a:rPr>
              <a:t>COSTOS FIJOS</a:t>
            </a:r>
          </a:p>
        </p:txBody>
      </p:sp>
      <p:sp>
        <p:nvSpPr>
          <p:cNvPr id="6326" name="Text Box 182">
            <a:extLst>
              <a:ext uri="{FF2B5EF4-FFF2-40B4-BE49-F238E27FC236}">
                <a16:creationId xmlns:a16="http://schemas.microsoft.com/office/drawing/2014/main" id="{9DC1E7A8-7AA4-4DC3-A2C7-5CCF052AB0FE}"/>
              </a:ext>
            </a:extLst>
          </p:cNvPr>
          <p:cNvSpPr txBox="1">
            <a:spLocks noChangeArrowheads="1"/>
          </p:cNvSpPr>
          <p:nvPr/>
        </p:nvSpPr>
        <p:spPr bwMode="auto">
          <a:xfrm>
            <a:off x="1343025" y="1127126"/>
            <a:ext cx="941705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buFont typeface="Wingdings" panose="05000000000000000000" pitchFamily="2" charset="2"/>
              <a:buNone/>
            </a:pPr>
            <a:r>
              <a:rPr lang="es-AR" altLang="es-AR" sz="2000" dirty="0">
                <a:solidFill>
                  <a:schemeClr val="tx1">
                    <a:lumMod val="75000"/>
                    <a:lumOff val="25000"/>
                  </a:schemeClr>
                </a:solidFill>
                <a:latin typeface="+mj-lt"/>
              </a:rPr>
              <a:t>Son los costos de todos aquellos elementos cuya cantidad no puede ser alterada rápidamente. “Son todos aquellos gastos que son independientes de la cantidad de unidades que se fabrican”. Están integrados por los siguientes rubros:</a:t>
            </a:r>
          </a:p>
        </p:txBody>
      </p:sp>
      <p:sp>
        <p:nvSpPr>
          <p:cNvPr id="6327" name="Text Box 183">
            <a:extLst>
              <a:ext uri="{FF2B5EF4-FFF2-40B4-BE49-F238E27FC236}">
                <a16:creationId xmlns:a16="http://schemas.microsoft.com/office/drawing/2014/main" id="{9D3508F7-D64A-440A-B706-16772E90E8B1}"/>
              </a:ext>
            </a:extLst>
          </p:cNvPr>
          <p:cNvSpPr txBox="1">
            <a:spLocks noChangeArrowheads="1"/>
          </p:cNvSpPr>
          <p:nvPr/>
        </p:nvSpPr>
        <p:spPr bwMode="auto">
          <a:xfrm>
            <a:off x="2721928" y="2984438"/>
            <a:ext cx="5169344" cy="3154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spcBef>
                <a:spcPct val="50000"/>
              </a:spcBef>
              <a:buFont typeface="Wingdings" panose="05000000000000000000" pitchFamily="2" charset="2"/>
              <a:buNone/>
              <a:defRPr/>
            </a:pPr>
            <a:r>
              <a:rPr lang="es-AR" altLang="es-AR" sz="2200" b="1" dirty="0">
                <a:solidFill>
                  <a:schemeClr val="tx1">
                    <a:lumMod val="75000"/>
                    <a:lumOff val="25000"/>
                  </a:schemeClr>
                </a:solidFill>
                <a:latin typeface="+mj-lt"/>
              </a:rPr>
              <a:t> </a:t>
            </a:r>
            <a:r>
              <a:rPr lang="es-AR" altLang="es-AR" sz="2200" dirty="0">
                <a:solidFill>
                  <a:schemeClr val="tx1">
                    <a:lumMod val="75000"/>
                    <a:lumOff val="25000"/>
                  </a:schemeClr>
                </a:solidFill>
                <a:effectLst>
                  <a:outerShdw blurRad="38100" dist="38100" dir="2700000" algn="tl">
                    <a:srgbClr val="C0C0C0"/>
                  </a:outerShdw>
                </a:effectLst>
                <a:latin typeface="+mj-lt"/>
              </a:rPr>
              <a:t>Costo indirecto de Fabricación</a:t>
            </a:r>
          </a:p>
          <a:p>
            <a:pPr marL="342900" indent="-342900">
              <a:spcBef>
                <a:spcPct val="50000"/>
              </a:spcBef>
              <a:buClr>
                <a:srgbClr val="92D050"/>
              </a:buClr>
              <a:buFont typeface="Arial" panose="020B0604020202020204" pitchFamily="34" charset="0"/>
              <a:buChar char="•"/>
              <a:defRPr/>
            </a:pPr>
            <a:r>
              <a:rPr lang="es-AR" altLang="es-AR" sz="2000" dirty="0">
                <a:solidFill>
                  <a:schemeClr val="tx1">
                    <a:lumMod val="75000"/>
                    <a:lumOff val="25000"/>
                  </a:schemeClr>
                </a:solidFill>
                <a:latin typeface="Tahoma" panose="020B0604030504040204" pitchFamily="34" charset="0"/>
              </a:rPr>
              <a:t>Mano de Obra Indirecta</a:t>
            </a:r>
          </a:p>
          <a:p>
            <a:pPr marL="342900" indent="-342900">
              <a:spcBef>
                <a:spcPct val="50000"/>
              </a:spcBef>
              <a:buClr>
                <a:srgbClr val="92D050"/>
              </a:buClr>
              <a:buFont typeface="Arial" panose="020B0604020202020204" pitchFamily="34" charset="0"/>
              <a:buChar char="•"/>
              <a:defRPr/>
            </a:pPr>
            <a:r>
              <a:rPr lang="es-AR" altLang="es-AR" sz="2000" dirty="0">
                <a:solidFill>
                  <a:schemeClr val="tx1">
                    <a:lumMod val="75000"/>
                    <a:lumOff val="25000"/>
                  </a:schemeClr>
                </a:solidFill>
                <a:latin typeface="Tahoma" panose="020B0604030504040204" pitchFamily="34" charset="0"/>
              </a:rPr>
              <a:t>Gastos generales de fabricación</a:t>
            </a:r>
          </a:p>
          <a:p>
            <a:pPr marL="800100" lvl="1" indent="-342900">
              <a:spcBef>
                <a:spcPct val="50000"/>
              </a:spcBef>
              <a:buClr>
                <a:srgbClr val="92D050"/>
              </a:buClr>
              <a:buFont typeface="Arial" panose="020B0604020202020204" pitchFamily="34" charset="0"/>
              <a:buChar char="•"/>
              <a:defRPr/>
            </a:pPr>
            <a:r>
              <a:rPr lang="es-AR" altLang="es-AR" dirty="0">
                <a:solidFill>
                  <a:schemeClr val="tx1">
                    <a:lumMod val="75000"/>
                    <a:lumOff val="25000"/>
                  </a:schemeClr>
                </a:solidFill>
                <a:latin typeface="Tahoma" panose="020B0604030504040204" pitchFamily="34" charset="0"/>
              </a:rPr>
              <a:t>Materiales</a:t>
            </a:r>
          </a:p>
          <a:p>
            <a:pPr marL="800100" lvl="1" indent="-342900">
              <a:spcBef>
                <a:spcPct val="50000"/>
              </a:spcBef>
              <a:buClr>
                <a:srgbClr val="92D050"/>
              </a:buClr>
              <a:buFont typeface="Arial" panose="020B0604020202020204" pitchFamily="34" charset="0"/>
              <a:buChar char="•"/>
              <a:defRPr/>
            </a:pPr>
            <a:r>
              <a:rPr lang="es-AR" altLang="es-AR" dirty="0">
                <a:solidFill>
                  <a:schemeClr val="tx1">
                    <a:lumMod val="75000"/>
                    <a:lumOff val="25000"/>
                  </a:schemeClr>
                </a:solidFill>
                <a:latin typeface="Tahoma" panose="020B0604030504040204" pitchFamily="34" charset="0"/>
              </a:rPr>
              <a:t>Gastos de fabrica</a:t>
            </a:r>
          </a:p>
          <a:p>
            <a:pPr>
              <a:spcBef>
                <a:spcPct val="50000"/>
              </a:spcBef>
              <a:defRPr/>
            </a:pPr>
            <a:endParaRPr lang="es-AR" altLang="es-AR" sz="2000" dirty="0">
              <a:solidFill>
                <a:schemeClr val="tx1">
                  <a:lumMod val="75000"/>
                  <a:lumOff val="25000"/>
                </a:schemeClr>
              </a:solidFill>
              <a:latin typeface="Tahoma" panose="020B0604030504040204" pitchFamily="34" charset="0"/>
            </a:endParaRPr>
          </a:p>
          <a:p>
            <a:pPr eaLnBrk="1" hangingPunct="1">
              <a:spcBef>
                <a:spcPct val="50000"/>
              </a:spcBef>
              <a:buFont typeface="Wingdings" panose="05000000000000000000" pitchFamily="2" charset="2"/>
              <a:buNone/>
              <a:defRPr/>
            </a:pPr>
            <a:endParaRPr lang="es-AR" altLang="es-AR" sz="2200" dirty="0">
              <a:solidFill>
                <a:schemeClr val="tx1">
                  <a:lumMod val="75000"/>
                  <a:lumOff val="25000"/>
                </a:schemeClr>
              </a:solidFill>
              <a:effectLst>
                <a:outerShdw blurRad="38100" dist="38100" dir="2700000" algn="tl">
                  <a:srgbClr val="C0C0C0"/>
                </a:outerShdw>
              </a:effectLst>
              <a:latin typeface="+mj-lt"/>
            </a:endParaRPr>
          </a:p>
        </p:txBody>
      </p:sp>
      <p:sp>
        <p:nvSpPr>
          <p:cNvPr id="2" name="Marcador de número de diapositiva 1">
            <a:extLst>
              <a:ext uri="{FF2B5EF4-FFF2-40B4-BE49-F238E27FC236}">
                <a16:creationId xmlns:a16="http://schemas.microsoft.com/office/drawing/2014/main" id="{35DC2E33-6BC7-4565-A705-B63C93D0D67A}"/>
              </a:ext>
            </a:extLst>
          </p:cNvPr>
          <p:cNvSpPr>
            <a:spLocks noGrp="1"/>
          </p:cNvSpPr>
          <p:nvPr>
            <p:ph type="sldNum" sz="quarter" idx="12"/>
          </p:nvPr>
        </p:nvSpPr>
        <p:spPr/>
        <p:txBody>
          <a:bodyPr/>
          <a:lstStyle/>
          <a:p>
            <a:fld id="{D57F1E4F-1CFF-5643-939E-217C01CDF565}" type="slidenum">
              <a:rPr lang="en-US" smtClean="0"/>
              <a:pPr/>
              <a:t>11</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2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3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26" grpId="0"/>
      <p:bldP spid="632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 Box 6">
            <a:extLst>
              <a:ext uri="{FF2B5EF4-FFF2-40B4-BE49-F238E27FC236}">
                <a16:creationId xmlns:a16="http://schemas.microsoft.com/office/drawing/2014/main" id="{0D1780A2-DD33-4EC7-901A-12E1A8DADB77}"/>
              </a:ext>
            </a:extLst>
          </p:cNvPr>
          <p:cNvSpPr txBox="1">
            <a:spLocks noChangeArrowheads="1"/>
          </p:cNvSpPr>
          <p:nvPr/>
        </p:nvSpPr>
        <p:spPr bwMode="auto">
          <a:xfrm>
            <a:off x="1387476" y="185738"/>
            <a:ext cx="75168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effectLst>
                  <a:outerShdw blurRad="38100" dist="38100" dir="2700000" algn="tl">
                    <a:srgbClr val="C0C0C0"/>
                  </a:outerShdw>
                </a:effectLst>
                <a:latin typeface="+mj-lt"/>
              </a:rPr>
              <a:t>COSTOS FIJOS</a:t>
            </a:r>
          </a:p>
        </p:txBody>
      </p:sp>
      <p:sp>
        <p:nvSpPr>
          <p:cNvPr id="6331" name="Text Box 187">
            <a:extLst>
              <a:ext uri="{FF2B5EF4-FFF2-40B4-BE49-F238E27FC236}">
                <a16:creationId xmlns:a16="http://schemas.microsoft.com/office/drawing/2014/main" id="{0DD67E27-99CC-4BF6-B922-AA2A13038494}"/>
              </a:ext>
            </a:extLst>
          </p:cNvPr>
          <p:cNvSpPr txBox="1">
            <a:spLocks noChangeArrowheads="1"/>
          </p:cNvSpPr>
          <p:nvPr/>
        </p:nvSpPr>
        <p:spPr bwMode="auto">
          <a:xfrm>
            <a:off x="1978280" y="1303273"/>
            <a:ext cx="6753225" cy="4632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spcBef>
                <a:spcPct val="50000"/>
              </a:spcBef>
              <a:buFont typeface="Wingdings" panose="05000000000000000000" pitchFamily="2" charset="2"/>
              <a:buNone/>
              <a:defRPr/>
            </a:pPr>
            <a:r>
              <a:rPr lang="es-AR" altLang="es-AR" sz="2200" b="1" dirty="0">
                <a:solidFill>
                  <a:schemeClr val="tx1">
                    <a:lumMod val="75000"/>
                    <a:lumOff val="25000"/>
                  </a:schemeClr>
                </a:solidFill>
                <a:latin typeface="+mj-lt"/>
              </a:rPr>
              <a:t>Gastos de Comercialización</a:t>
            </a:r>
          </a:p>
          <a:p>
            <a:pPr marL="800100" lvl="1" indent="-342900">
              <a:spcBef>
                <a:spcPct val="50000"/>
              </a:spcBef>
              <a:buClr>
                <a:srgbClr val="92D050"/>
              </a:buClr>
              <a:buFont typeface="Arial" panose="020B0604020202020204" pitchFamily="34" charset="0"/>
              <a:buChar char="•"/>
              <a:defRPr/>
            </a:pPr>
            <a:r>
              <a:rPr lang="es-AR" altLang="es-AR" sz="2000" dirty="0">
                <a:solidFill>
                  <a:schemeClr val="tx1">
                    <a:lumMod val="75000"/>
                    <a:lumOff val="25000"/>
                  </a:schemeClr>
                </a:solidFill>
                <a:latin typeface="Tahoma" panose="020B0604030504040204" pitchFamily="34" charset="0"/>
              </a:rPr>
              <a:t>Publicidad</a:t>
            </a:r>
          </a:p>
          <a:p>
            <a:pPr marL="800100" lvl="1" indent="-342900">
              <a:spcBef>
                <a:spcPct val="50000"/>
              </a:spcBef>
              <a:buClr>
                <a:srgbClr val="92D050"/>
              </a:buClr>
              <a:buFont typeface="Arial" panose="020B0604020202020204" pitchFamily="34" charset="0"/>
              <a:buChar char="•"/>
              <a:defRPr/>
            </a:pPr>
            <a:r>
              <a:rPr lang="es-AR" altLang="es-AR" sz="2000" dirty="0">
                <a:solidFill>
                  <a:schemeClr val="tx1">
                    <a:lumMod val="75000"/>
                    <a:lumOff val="25000"/>
                  </a:schemeClr>
                </a:solidFill>
                <a:latin typeface="Tahoma" panose="020B0604030504040204" pitchFamily="34" charset="0"/>
              </a:rPr>
              <a:t>Impuestos</a:t>
            </a:r>
          </a:p>
          <a:p>
            <a:pPr marL="800100" lvl="1" indent="-342900">
              <a:spcBef>
                <a:spcPct val="50000"/>
              </a:spcBef>
              <a:buClr>
                <a:srgbClr val="92D050"/>
              </a:buClr>
              <a:buFont typeface="Arial" panose="020B0604020202020204" pitchFamily="34" charset="0"/>
              <a:buChar char="•"/>
              <a:defRPr/>
            </a:pPr>
            <a:r>
              <a:rPr lang="es-AR" altLang="es-AR" sz="2000" dirty="0">
                <a:solidFill>
                  <a:schemeClr val="tx1">
                    <a:lumMod val="75000"/>
                    <a:lumOff val="25000"/>
                  </a:schemeClr>
                </a:solidFill>
                <a:latin typeface="Tahoma" panose="020B0604030504040204" pitchFamily="34" charset="0"/>
              </a:rPr>
              <a:t>Seguros</a:t>
            </a:r>
          </a:p>
          <a:p>
            <a:pPr marL="800100" lvl="1" indent="-342900">
              <a:spcBef>
                <a:spcPct val="50000"/>
              </a:spcBef>
              <a:buClr>
                <a:srgbClr val="92D050"/>
              </a:buClr>
              <a:buFont typeface="Arial" panose="020B0604020202020204" pitchFamily="34" charset="0"/>
              <a:buChar char="•"/>
              <a:defRPr/>
            </a:pPr>
            <a:r>
              <a:rPr lang="es-AR" altLang="es-AR" sz="2000" dirty="0">
                <a:solidFill>
                  <a:schemeClr val="tx1">
                    <a:lumMod val="75000"/>
                    <a:lumOff val="25000"/>
                  </a:schemeClr>
                </a:solidFill>
                <a:latin typeface="Tahoma" panose="020B0604030504040204" pitchFamily="34" charset="0"/>
              </a:rPr>
              <a:t>Viáticos,</a:t>
            </a:r>
          </a:p>
          <a:p>
            <a:pPr marL="800100" lvl="1" indent="-342900">
              <a:spcBef>
                <a:spcPct val="50000"/>
              </a:spcBef>
              <a:buClr>
                <a:srgbClr val="92D050"/>
              </a:buClr>
              <a:buFont typeface="Arial" panose="020B0604020202020204" pitchFamily="34" charset="0"/>
              <a:buChar char="•"/>
              <a:defRPr/>
            </a:pPr>
            <a:r>
              <a:rPr lang="es-AR" altLang="es-AR" sz="2000" dirty="0">
                <a:solidFill>
                  <a:schemeClr val="tx1">
                    <a:lumMod val="75000"/>
                    <a:lumOff val="25000"/>
                  </a:schemeClr>
                </a:solidFill>
                <a:latin typeface="Tahoma" panose="020B0604030504040204" pitchFamily="34" charset="0"/>
              </a:rPr>
              <a:t>Amortizaciones de muebles y útiles</a:t>
            </a:r>
          </a:p>
          <a:p>
            <a:pPr marL="800100" lvl="1" indent="-342900">
              <a:spcBef>
                <a:spcPct val="50000"/>
              </a:spcBef>
              <a:buClr>
                <a:srgbClr val="92D050"/>
              </a:buClr>
              <a:buFont typeface="Arial" panose="020B0604020202020204" pitchFamily="34" charset="0"/>
              <a:buChar char="•"/>
              <a:defRPr/>
            </a:pPr>
            <a:r>
              <a:rPr lang="es-AR" altLang="es-AR" sz="2000" dirty="0">
                <a:solidFill>
                  <a:schemeClr val="tx1">
                    <a:lumMod val="75000"/>
                    <a:lumOff val="25000"/>
                  </a:schemeClr>
                </a:solidFill>
                <a:latin typeface="Tahoma" panose="020B0604030504040204" pitchFamily="34" charset="0"/>
              </a:rPr>
              <a:t>Salario básico de vendedores, </a:t>
            </a:r>
          </a:p>
          <a:p>
            <a:pPr marL="800100" lvl="1" indent="-342900">
              <a:spcBef>
                <a:spcPct val="50000"/>
              </a:spcBef>
              <a:buClr>
                <a:srgbClr val="92D050"/>
              </a:buClr>
              <a:buFont typeface="Arial" panose="020B0604020202020204" pitchFamily="34" charset="0"/>
              <a:buChar char="•"/>
              <a:defRPr/>
            </a:pPr>
            <a:r>
              <a:rPr lang="es-AR" altLang="es-AR" sz="2000" dirty="0">
                <a:solidFill>
                  <a:schemeClr val="tx1">
                    <a:lumMod val="75000"/>
                    <a:lumOff val="25000"/>
                  </a:schemeClr>
                </a:solidFill>
                <a:latin typeface="Tahoma" panose="020B0604030504040204" pitchFamily="34" charset="0"/>
              </a:rPr>
              <a:t>servicios</a:t>
            </a:r>
          </a:p>
          <a:p>
            <a:pPr marL="800100" lvl="1" indent="-342900">
              <a:spcBef>
                <a:spcPct val="50000"/>
              </a:spcBef>
              <a:buClr>
                <a:srgbClr val="92D050"/>
              </a:buClr>
              <a:buFont typeface="Arial" panose="020B0604020202020204" pitchFamily="34" charset="0"/>
              <a:buChar char="•"/>
              <a:defRPr/>
            </a:pPr>
            <a:r>
              <a:rPr lang="es-AR" altLang="es-AR" sz="2000" dirty="0">
                <a:solidFill>
                  <a:schemeClr val="tx1">
                    <a:lumMod val="75000"/>
                    <a:lumOff val="25000"/>
                  </a:schemeClr>
                </a:solidFill>
                <a:latin typeface="Tahoma" panose="020B0604030504040204" pitchFamily="34" charset="0"/>
              </a:rPr>
              <a:t>Gastos de automotores, alquileres, etc.</a:t>
            </a:r>
          </a:p>
          <a:p>
            <a:pPr>
              <a:spcBef>
                <a:spcPct val="50000"/>
              </a:spcBef>
              <a:defRPr/>
            </a:pPr>
            <a:endParaRPr lang="es-AR" altLang="es-AR" sz="2200" dirty="0">
              <a:solidFill>
                <a:schemeClr val="tx1">
                  <a:lumMod val="75000"/>
                  <a:lumOff val="25000"/>
                </a:schemeClr>
              </a:solidFill>
              <a:effectLst>
                <a:outerShdw blurRad="38100" dist="38100" dir="2700000" algn="tl">
                  <a:srgbClr val="C0C0C0"/>
                </a:outerShdw>
              </a:effectLst>
              <a:latin typeface="+mj-lt"/>
            </a:endParaRPr>
          </a:p>
        </p:txBody>
      </p:sp>
      <p:sp>
        <p:nvSpPr>
          <p:cNvPr id="2" name="Marcador de número de diapositiva 1">
            <a:extLst>
              <a:ext uri="{FF2B5EF4-FFF2-40B4-BE49-F238E27FC236}">
                <a16:creationId xmlns:a16="http://schemas.microsoft.com/office/drawing/2014/main" id="{A6A38491-9091-4678-9DA5-CAF4D3B32E48}"/>
              </a:ext>
            </a:extLst>
          </p:cNvPr>
          <p:cNvSpPr>
            <a:spLocks noGrp="1"/>
          </p:cNvSpPr>
          <p:nvPr>
            <p:ph type="sldNum" sz="quarter" idx="12"/>
          </p:nvPr>
        </p:nvSpPr>
        <p:spPr/>
        <p:txBody>
          <a:bodyPr/>
          <a:lstStyle/>
          <a:p>
            <a:fld id="{D57F1E4F-1CFF-5643-939E-217C01CDF565}" type="slidenum">
              <a:rPr lang="en-US" smtClean="0"/>
              <a:pPr/>
              <a:t>12</a:t>
            </a:fld>
            <a:endParaRPr lang="en-US" dirty="0"/>
          </a:p>
        </p:txBody>
      </p:sp>
    </p:spTree>
    <p:extLst>
      <p:ext uri="{BB962C8B-B14F-4D97-AF65-F5344CB8AC3E}">
        <p14:creationId xmlns:p14="http://schemas.microsoft.com/office/powerpoint/2010/main" val="4267473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3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 Box 6">
            <a:extLst>
              <a:ext uri="{FF2B5EF4-FFF2-40B4-BE49-F238E27FC236}">
                <a16:creationId xmlns:a16="http://schemas.microsoft.com/office/drawing/2014/main" id="{0D1780A2-DD33-4EC7-901A-12E1A8DADB77}"/>
              </a:ext>
            </a:extLst>
          </p:cNvPr>
          <p:cNvSpPr txBox="1">
            <a:spLocks noChangeArrowheads="1"/>
          </p:cNvSpPr>
          <p:nvPr/>
        </p:nvSpPr>
        <p:spPr bwMode="auto">
          <a:xfrm>
            <a:off x="1387476" y="185738"/>
            <a:ext cx="75168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effectLst>
                  <a:outerShdw blurRad="38100" dist="38100" dir="2700000" algn="tl">
                    <a:srgbClr val="C0C0C0"/>
                  </a:outerShdw>
                </a:effectLst>
                <a:latin typeface="+mj-lt"/>
              </a:rPr>
              <a:t>COSTOS FIJOS</a:t>
            </a:r>
          </a:p>
        </p:txBody>
      </p:sp>
      <p:sp>
        <p:nvSpPr>
          <p:cNvPr id="6340" name="Text Box 196">
            <a:extLst>
              <a:ext uri="{FF2B5EF4-FFF2-40B4-BE49-F238E27FC236}">
                <a16:creationId xmlns:a16="http://schemas.microsoft.com/office/drawing/2014/main" id="{7FBA8BC1-1C2C-4539-9693-EED59F568E38}"/>
              </a:ext>
            </a:extLst>
          </p:cNvPr>
          <p:cNvSpPr txBox="1">
            <a:spLocks noChangeArrowheads="1"/>
          </p:cNvSpPr>
          <p:nvPr/>
        </p:nvSpPr>
        <p:spPr bwMode="auto">
          <a:xfrm>
            <a:off x="2026984" y="1193840"/>
            <a:ext cx="3744912" cy="2739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buFont typeface="Wingdings" panose="05000000000000000000" pitchFamily="2" charset="2"/>
              <a:buNone/>
              <a:defRPr/>
            </a:pPr>
            <a:r>
              <a:rPr lang="es-AR" altLang="es-AR" sz="2200" b="1" dirty="0">
                <a:latin typeface="Tahoma" panose="020B0604030504040204" pitchFamily="34" charset="0"/>
              </a:rPr>
              <a:t> </a:t>
            </a:r>
            <a:r>
              <a:rPr lang="es-AR" altLang="es-AR" sz="2200" b="1" dirty="0">
                <a:solidFill>
                  <a:schemeClr val="tx1">
                    <a:lumMod val="75000"/>
                    <a:lumOff val="25000"/>
                  </a:schemeClr>
                </a:solidFill>
                <a:latin typeface="+mj-lt"/>
              </a:rPr>
              <a:t>Gastos Administrativos</a:t>
            </a:r>
          </a:p>
          <a:p>
            <a:pPr marL="800100" lvl="1" indent="-342900">
              <a:spcBef>
                <a:spcPct val="50000"/>
              </a:spcBef>
              <a:buClr>
                <a:srgbClr val="92D050"/>
              </a:buClr>
              <a:buFont typeface="Arial" panose="020B0604020202020204" pitchFamily="34" charset="0"/>
              <a:buChar char="•"/>
              <a:defRPr/>
            </a:pPr>
            <a:r>
              <a:rPr lang="es-AR" altLang="es-AR" sz="2000" dirty="0">
                <a:solidFill>
                  <a:schemeClr val="tx1">
                    <a:lumMod val="75000"/>
                    <a:lumOff val="25000"/>
                  </a:schemeClr>
                </a:solidFill>
                <a:latin typeface="+mj-lt"/>
              </a:rPr>
              <a:t>Salarios</a:t>
            </a:r>
          </a:p>
          <a:p>
            <a:pPr marL="800100" lvl="1" indent="-342900">
              <a:spcBef>
                <a:spcPct val="50000"/>
              </a:spcBef>
              <a:buClr>
                <a:srgbClr val="92D050"/>
              </a:buClr>
              <a:buFont typeface="Arial" panose="020B0604020202020204" pitchFamily="34" charset="0"/>
              <a:buChar char="•"/>
              <a:defRPr/>
            </a:pPr>
            <a:r>
              <a:rPr lang="es-AR" altLang="es-AR" sz="2000" dirty="0">
                <a:solidFill>
                  <a:schemeClr val="tx1">
                    <a:lumMod val="75000"/>
                    <a:lumOff val="25000"/>
                  </a:schemeClr>
                </a:solidFill>
                <a:latin typeface="+mj-lt"/>
              </a:rPr>
              <a:t>Amortizaciones</a:t>
            </a:r>
          </a:p>
          <a:p>
            <a:pPr marL="800100" lvl="1" indent="-342900">
              <a:spcBef>
                <a:spcPct val="50000"/>
              </a:spcBef>
              <a:buClr>
                <a:srgbClr val="92D050"/>
              </a:buClr>
              <a:buFont typeface="Arial" panose="020B0604020202020204" pitchFamily="34" charset="0"/>
              <a:buChar char="•"/>
              <a:defRPr/>
            </a:pPr>
            <a:r>
              <a:rPr lang="es-AR" altLang="es-AR" sz="2000" dirty="0">
                <a:solidFill>
                  <a:schemeClr val="tx1">
                    <a:lumMod val="75000"/>
                    <a:lumOff val="25000"/>
                  </a:schemeClr>
                </a:solidFill>
                <a:latin typeface="+mj-lt"/>
              </a:rPr>
              <a:t>Librería</a:t>
            </a:r>
          </a:p>
          <a:p>
            <a:pPr marL="800100" lvl="1" indent="-342900">
              <a:spcBef>
                <a:spcPct val="50000"/>
              </a:spcBef>
              <a:buClr>
                <a:srgbClr val="92D050"/>
              </a:buClr>
              <a:buFont typeface="Arial" panose="020B0604020202020204" pitchFamily="34" charset="0"/>
              <a:buChar char="•"/>
              <a:defRPr/>
            </a:pPr>
            <a:r>
              <a:rPr lang="es-AR" altLang="es-AR" sz="2000" dirty="0">
                <a:solidFill>
                  <a:schemeClr val="tx1">
                    <a:lumMod val="75000"/>
                    <a:lumOff val="25000"/>
                  </a:schemeClr>
                </a:solidFill>
                <a:latin typeface="+mj-lt"/>
              </a:rPr>
              <a:t>Servicios</a:t>
            </a:r>
          </a:p>
          <a:p>
            <a:pPr marL="800100" lvl="1" indent="-342900">
              <a:spcBef>
                <a:spcPct val="50000"/>
              </a:spcBef>
              <a:buClr>
                <a:srgbClr val="92D050"/>
              </a:buClr>
              <a:buFont typeface="Arial" panose="020B0604020202020204" pitchFamily="34" charset="0"/>
              <a:buChar char="•"/>
              <a:defRPr/>
            </a:pPr>
            <a:r>
              <a:rPr lang="es-AR" altLang="es-AR" sz="2000" dirty="0" err="1">
                <a:solidFill>
                  <a:schemeClr val="tx1">
                    <a:lumMod val="75000"/>
                    <a:lumOff val="25000"/>
                  </a:schemeClr>
                </a:solidFill>
                <a:latin typeface="+mj-lt"/>
              </a:rPr>
              <a:t>etc</a:t>
            </a:r>
            <a:endParaRPr lang="es-AR" altLang="es-AR" sz="2000" dirty="0">
              <a:solidFill>
                <a:schemeClr val="tx1">
                  <a:lumMod val="75000"/>
                  <a:lumOff val="25000"/>
                </a:schemeClr>
              </a:solidFill>
              <a:latin typeface="+mj-lt"/>
            </a:endParaRPr>
          </a:p>
        </p:txBody>
      </p:sp>
      <p:sp>
        <p:nvSpPr>
          <p:cNvPr id="6343" name="Text Box 199">
            <a:extLst>
              <a:ext uri="{FF2B5EF4-FFF2-40B4-BE49-F238E27FC236}">
                <a16:creationId xmlns:a16="http://schemas.microsoft.com/office/drawing/2014/main" id="{DA34B7D9-C6E2-4147-85BC-F8F9DD57FCAE}"/>
              </a:ext>
            </a:extLst>
          </p:cNvPr>
          <p:cNvSpPr txBox="1">
            <a:spLocks noChangeArrowheads="1"/>
          </p:cNvSpPr>
          <p:nvPr/>
        </p:nvSpPr>
        <p:spPr bwMode="auto">
          <a:xfrm>
            <a:off x="2100136" y="3933051"/>
            <a:ext cx="3744912" cy="2739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buFont typeface="Wingdings" panose="05000000000000000000" pitchFamily="2" charset="2"/>
              <a:buNone/>
              <a:defRPr/>
            </a:pPr>
            <a:r>
              <a:rPr lang="es-AR" altLang="es-AR" sz="2200" b="1" dirty="0">
                <a:latin typeface="Tahoma" panose="020B0604030504040204" pitchFamily="34" charset="0"/>
              </a:rPr>
              <a:t> </a:t>
            </a:r>
            <a:r>
              <a:rPr lang="es-AR" altLang="es-AR" sz="2200" b="1" dirty="0">
                <a:latin typeface="+mj-lt"/>
              </a:rPr>
              <a:t>Gastos Financieros</a:t>
            </a:r>
          </a:p>
          <a:p>
            <a:pPr marL="800100" lvl="1" indent="-342900">
              <a:spcBef>
                <a:spcPct val="50000"/>
              </a:spcBef>
              <a:buClr>
                <a:srgbClr val="92D050"/>
              </a:buClr>
              <a:buFont typeface="Arial" panose="020B0604020202020204" pitchFamily="34" charset="0"/>
              <a:buChar char="•"/>
              <a:defRPr/>
            </a:pPr>
            <a:r>
              <a:rPr lang="es-AR" altLang="es-AR" sz="2000" dirty="0">
                <a:latin typeface="+mj-lt"/>
              </a:rPr>
              <a:t>Salarios</a:t>
            </a:r>
          </a:p>
          <a:p>
            <a:pPr marL="800100" lvl="1" indent="-342900">
              <a:spcBef>
                <a:spcPct val="50000"/>
              </a:spcBef>
              <a:buClr>
                <a:srgbClr val="92D050"/>
              </a:buClr>
              <a:buFont typeface="Arial" panose="020B0604020202020204" pitchFamily="34" charset="0"/>
              <a:buChar char="•"/>
              <a:defRPr/>
            </a:pPr>
            <a:r>
              <a:rPr lang="es-AR" altLang="es-AR" sz="2000" dirty="0">
                <a:latin typeface="+mj-lt"/>
              </a:rPr>
              <a:t>Intereses</a:t>
            </a:r>
          </a:p>
          <a:p>
            <a:pPr marL="800100" lvl="1" indent="-342900">
              <a:spcBef>
                <a:spcPct val="50000"/>
              </a:spcBef>
              <a:buClr>
                <a:srgbClr val="92D050"/>
              </a:buClr>
              <a:buFont typeface="Arial" panose="020B0604020202020204" pitchFamily="34" charset="0"/>
              <a:buChar char="•"/>
              <a:defRPr/>
            </a:pPr>
            <a:r>
              <a:rPr lang="es-AR" altLang="es-AR" sz="2000" dirty="0">
                <a:latin typeface="+mj-lt"/>
              </a:rPr>
              <a:t>Gastos bancarios</a:t>
            </a:r>
          </a:p>
          <a:p>
            <a:pPr marL="800100" lvl="1" indent="-342900">
              <a:spcBef>
                <a:spcPct val="50000"/>
              </a:spcBef>
              <a:buClr>
                <a:srgbClr val="92D050"/>
              </a:buClr>
              <a:buFont typeface="Arial" panose="020B0604020202020204" pitchFamily="34" charset="0"/>
              <a:buChar char="•"/>
              <a:defRPr/>
            </a:pPr>
            <a:r>
              <a:rPr lang="es-AR" altLang="es-AR" sz="2000" dirty="0">
                <a:latin typeface="+mj-lt"/>
              </a:rPr>
              <a:t>Amortizaciones</a:t>
            </a:r>
          </a:p>
          <a:p>
            <a:pPr marL="800100" lvl="1" indent="-342900">
              <a:spcBef>
                <a:spcPct val="50000"/>
              </a:spcBef>
              <a:buClr>
                <a:srgbClr val="92D050"/>
              </a:buClr>
              <a:buFont typeface="Arial" panose="020B0604020202020204" pitchFamily="34" charset="0"/>
              <a:buChar char="•"/>
              <a:defRPr/>
            </a:pPr>
            <a:r>
              <a:rPr lang="es-AR" altLang="es-AR" sz="2000" dirty="0" err="1">
                <a:latin typeface="+mj-lt"/>
              </a:rPr>
              <a:t>etc</a:t>
            </a:r>
            <a:endParaRPr lang="es-AR" altLang="es-AR" sz="2000" dirty="0">
              <a:latin typeface="+mj-lt"/>
            </a:endParaRPr>
          </a:p>
        </p:txBody>
      </p:sp>
      <p:sp>
        <p:nvSpPr>
          <p:cNvPr id="2" name="Marcador de número de diapositiva 1">
            <a:extLst>
              <a:ext uri="{FF2B5EF4-FFF2-40B4-BE49-F238E27FC236}">
                <a16:creationId xmlns:a16="http://schemas.microsoft.com/office/drawing/2014/main" id="{2D3DFA71-369B-4A90-B502-22ED408ED37A}"/>
              </a:ext>
            </a:extLst>
          </p:cNvPr>
          <p:cNvSpPr>
            <a:spLocks noGrp="1"/>
          </p:cNvSpPr>
          <p:nvPr>
            <p:ph type="sldNum" sz="quarter" idx="12"/>
          </p:nvPr>
        </p:nvSpPr>
        <p:spPr/>
        <p:txBody>
          <a:bodyPr/>
          <a:lstStyle/>
          <a:p>
            <a:fld id="{D57F1E4F-1CFF-5643-939E-217C01CDF565}" type="slidenum">
              <a:rPr lang="en-US" smtClean="0"/>
              <a:pPr/>
              <a:t>13</a:t>
            </a:fld>
            <a:endParaRPr lang="en-US" dirty="0"/>
          </a:p>
        </p:txBody>
      </p:sp>
    </p:spTree>
    <p:extLst>
      <p:ext uri="{BB962C8B-B14F-4D97-AF65-F5344CB8AC3E}">
        <p14:creationId xmlns:p14="http://schemas.microsoft.com/office/powerpoint/2010/main" val="24361931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4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3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0" grpId="0"/>
      <p:bldP spid="634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Text Box 4">
            <a:extLst>
              <a:ext uri="{FF2B5EF4-FFF2-40B4-BE49-F238E27FC236}">
                <a16:creationId xmlns:a16="http://schemas.microsoft.com/office/drawing/2014/main" id="{456304FA-76C3-421F-9A27-0B6D80132839}"/>
              </a:ext>
            </a:extLst>
          </p:cNvPr>
          <p:cNvSpPr txBox="1">
            <a:spLocks noChangeArrowheads="1"/>
          </p:cNvSpPr>
          <p:nvPr/>
        </p:nvSpPr>
        <p:spPr bwMode="auto">
          <a:xfrm>
            <a:off x="1387475" y="185738"/>
            <a:ext cx="7372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latin typeface="+mj-lt"/>
              </a:rPr>
              <a:t>COSTOS FIJOS</a:t>
            </a:r>
          </a:p>
        </p:txBody>
      </p:sp>
      <p:sp>
        <p:nvSpPr>
          <p:cNvPr id="7227" name="Text Box 59">
            <a:extLst>
              <a:ext uri="{FF2B5EF4-FFF2-40B4-BE49-F238E27FC236}">
                <a16:creationId xmlns:a16="http://schemas.microsoft.com/office/drawing/2014/main" id="{C1C147D4-F2D6-4EE5-8DB7-33AEB57CCEAF}"/>
              </a:ext>
            </a:extLst>
          </p:cNvPr>
          <p:cNvSpPr txBox="1">
            <a:spLocks noChangeArrowheads="1"/>
          </p:cNvSpPr>
          <p:nvPr/>
        </p:nvSpPr>
        <p:spPr bwMode="auto">
          <a:xfrm>
            <a:off x="1416050" y="1052514"/>
            <a:ext cx="941705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buFont typeface="Wingdings" panose="05000000000000000000" pitchFamily="2" charset="2"/>
              <a:buNone/>
            </a:pPr>
            <a:r>
              <a:rPr lang="es-AR" altLang="es-AR" sz="2000" dirty="0">
                <a:solidFill>
                  <a:schemeClr val="tx1">
                    <a:lumMod val="75000"/>
                    <a:lumOff val="25000"/>
                  </a:schemeClr>
                </a:solidFill>
                <a:latin typeface="+mj-lt"/>
              </a:rPr>
              <a:t>Los costos fijos deberán ser pagados incluso cuando se produzca una cantidad muy pequeña y no variarán ante un aumento o disminución de la producción en el corto plazo. </a:t>
            </a:r>
            <a:endParaRPr lang="es-AR" altLang="es-AR" sz="2000" b="1" dirty="0">
              <a:solidFill>
                <a:schemeClr val="tx1">
                  <a:lumMod val="75000"/>
                  <a:lumOff val="25000"/>
                </a:schemeClr>
              </a:solidFill>
              <a:latin typeface="+mj-lt"/>
            </a:endParaRPr>
          </a:p>
        </p:txBody>
      </p:sp>
      <p:sp>
        <p:nvSpPr>
          <p:cNvPr id="7228" name="Line 60">
            <a:extLst>
              <a:ext uri="{FF2B5EF4-FFF2-40B4-BE49-F238E27FC236}">
                <a16:creationId xmlns:a16="http://schemas.microsoft.com/office/drawing/2014/main" id="{9691220E-52AB-4C30-81B3-8EE5F4B6A749}"/>
              </a:ext>
            </a:extLst>
          </p:cNvPr>
          <p:cNvSpPr>
            <a:spLocks noChangeShapeType="1"/>
          </p:cNvSpPr>
          <p:nvPr/>
        </p:nvSpPr>
        <p:spPr bwMode="auto">
          <a:xfrm flipV="1">
            <a:off x="3933190" y="3545968"/>
            <a:ext cx="0" cy="287972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solidFill>
                <a:schemeClr val="tx1">
                  <a:lumMod val="75000"/>
                  <a:lumOff val="25000"/>
                </a:schemeClr>
              </a:solidFill>
              <a:latin typeface="+mj-lt"/>
            </a:endParaRPr>
          </a:p>
        </p:txBody>
      </p:sp>
      <p:sp>
        <p:nvSpPr>
          <p:cNvPr id="7229" name="Line 61">
            <a:extLst>
              <a:ext uri="{FF2B5EF4-FFF2-40B4-BE49-F238E27FC236}">
                <a16:creationId xmlns:a16="http://schemas.microsoft.com/office/drawing/2014/main" id="{4733D414-0001-4998-8A6A-B0CFB61C8EEF}"/>
              </a:ext>
            </a:extLst>
          </p:cNvPr>
          <p:cNvSpPr>
            <a:spLocks noChangeShapeType="1"/>
          </p:cNvSpPr>
          <p:nvPr/>
        </p:nvSpPr>
        <p:spPr bwMode="auto">
          <a:xfrm>
            <a:off x="3645853" y="6284405"/>
            <a:ext cx="424815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solidFill>
                <a:schemeClr val="tx1">
                  <a:lumMod val="75000"/>
                  <a:lumOff val="25000"/>
                </a:schemeClr>
              </a:solidFill>
              <a:latin typeface="+mj-lt"/>
            </a:endParaRPr>
          </a:p>
        </p:txBody>
      </p:sp>
      <p:sp>
        <p:nvSpPr>
          <p:cNvPr id="7230" name="Text Box 62">
            <a:extLst>
              <a:ext uri="{FF2B5EF4-FFF2-40B4-BE49-F238E27FC236}">
                <a16:creationId xmlns:a16="http://schemas.microsoft.com/office/drawing/2014/main" id="{2813A628-DFD2-41F3-81B1-26A6088FBC0D}"/>
              </a:ext>
            </a:extLst>
          </p:cNvPr>
          <p:cNvSpPr txBox="1">
            <a:spLocks noChangeArrowheads="1"/>
          </p:cNvSpPr>
          <p:nvPr/>
        </p:nvSpPr>
        <p:spPr bwMode="auto">
          <a:xfrm>
            <a:off x="1653794" y="2177576"/>
            <a:ext cx="94170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buFont typeface="Wingdings" panose="05000000000000000000" pitchFamily="2" charset="2"/>
              <a:buNone/>
            </a:pPr>
            <a:r>
              <a:rPr lang="es-AR" altLang="es-AR" sz="2000" b="1" u="sng" dirty="0">
                <a:solidFill>
                  <a:schemeClr val="tx1">
                    <a:lumMod val="75000"/>
                    <a:lumOff val="25000"/>
                  </a:schemeClr>
                </a:solidFill>
                <a:latin typeface="+mj-lt"/>
              </a:rPr>
              <a:t>Objetivo</a:t>
            </a:r>
            <a:r>
              <a:rPr lang="es-AR" altLang="es-AR" sz="2000" b="1" dirty="0">
                <a:solidFill>
                  <a:schemeClr val="tx1">
                    <a:lumMod val="75000"/>
                    <a:lumOff val="25000"/>
                  </a:schemeClr>
                </a:solidFill>
                <a:latin typeface="+mj-lt"/>
              </a:rPr>
              <a:t>:</a:t>
            </a:r>
            <a:r>
              <a:rPr lang="es-AR" altLang="es-AR" sz="2000" dirty="0">
                <a:solidFill>
                  <a:schemeClr val="tx1">
                    <a:lumMod val="75000"/>
                    <a:lumOff val="25000"/>
                  </a:schemeClr>
                </a:solidFill>
                <a:latin typeface="+mj-lt"/>
              </a:rPr>
              <a:t> estos costos de estructura deben ser reducidos al mínimo compatible con una producción debidamente planificada.</a:t>
            </a:r>
            <a:endParaRPr lang="es-AR" altLang="es-AR" sz="2000" b="1" dirty="0">
              <a:solidFill>
                <a:schemeClr val="tx1">
                  <a:lumMod val="75000"/>
                  <a:lumOff val="25000"/>
                </a:schemeClr>
              </a:solidFill>
              <a:latin typeface="+mj-lt"/>
            </a:endParaRPr>
          </a:p>
        </p:txBody>
      </p:sp>
      <p:sp>
        <p:nvSpPr>
          <p:cNvPr id="7231" name="Text Box 63">
            <a:extLst>
              <a:ext uri="{FF2B5EF4-FFF2-40B4-BE49-F238E27FC236}">
                <a16:creationId xmlns:a16="http://schemas.microsoft.com/office/drawing/2014/main" id="{BD5CB5E4-43FC-4132-A741-D836853A3183}"/>
              </a:ext>
            </a:extLst>
          </p:cNvPr>
          <p:cNvSpPr txBox="1">
            <a:spLocks noChangeArrowheads="1"/>
          </p:cNvSpPr>
          <p:nvPr/>
        </p:nvSpPr>
        <p:spPr bwMode="auto">
          <a:xfrm>
            <a:off x="2925128" y="3377693"/>
            <a:ext cx="10080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600" b="1" dirty="0">
                <a:solidFill>
                  <a:schemeClr val="tx1">
                    <a:lumMod val="75000"/>
                    <a:lumOff val="25000"/>
                  </a:schemeClr>
                </a:solidFill>
                <a:latin typeface="+mj-lt"/>
              </a:rPr>
              <a:t>CF </a:t>
            </a:r>
            <a:r>
              <a:rPr lang="es-AR" altLang="es-AR" sz="1600" b="1" dirty="0">
                <a:solidFill>
                  <a:schemeClr val="tx1">
                    <a:lumMod val="75000"/>
                    <a:lumOff val="25000"/>
                  </a:schemeClr>
                </a:solidFill>
                <a:latin typeface="+mj-lt"/>
                <a:cs typeface="Tahoma" panose="020B0604030504040204" pitchFamily="34" charset="0"/>
              </a:rPr>
              <a:t>[$]</a:t>
            </a:r>
          </a:p>
        </p:txBody>
      </p:sp>
      <p:sp>
        <p:nvSpPr>
          <p:cNvPr id="7232" name="Text Box 64">
            <a:extLst>
              <a:ext uri="{FF2B5EF4-FFF2-40B4-BE49-F238E27FC236}">
                <a16:creationId xmlns:a16="http://schemas.microsoft.com/office/drawing/2014/main" id="{909767A0-D8E3-4339-A8B8-61EA4A4BA87E}"/>
              </a:ext>
            </a:extLst>
          </p:cNvPr>
          <p:cNvSpPr txBox="1">
            <a:spLocks noChangeArrowheads="1"/>
          </p:cNvSpPr>
          <p:nvPr/>
        </p:nvSpPr>
        <p:spPr bwMode="auto">
          <a:xfrm>
            <a:off x="7533641" y="6355842"/>
            <a:ext cx="12239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600" b="1" dirty="0">
                <a:solidFill>
                  <a:schemeClr val="tx1">
                    <a:lumMod val="75000"/>
                    <a:lumOff val="25000"/>
                  </a:schemeClr>
                </a:solidFill>
                <a:latin typeface="+mj-lt"/>
              </a:rPr>
              <a:t>q (</a:t>
            </a:r>
            <a:r>
              <a:rPr lang="es-AR" altLang="es-AR" sz="1600" b="1" dirty="0" err="1">
                <a:solidFill>
                  <a:schemeClr val="tx1">
                    <a:lumMod val="75000"/>
                    <a:lumOff val="25000"/>
                  </a:schemeClr>
                </a:solidFill>
                <a:latin typeface="+mj-lt"/>
              </a:rPr>
              <a:t>cant</a:t>
            </a:r>
            <a:r>
              <a:rPr lang="es-AR" altLang="es-AR" sz="1600" b="1" dirty="0">
                <a:solidFill>
                  <a:schemeClr val="tx1">
                    <a:lumMod val="75000"/>
                    <a:lumOff val="25000"/>
                  </a:schemeClr>
                </a:solidFill>
                <a:latin typeface="+mj-lt"/>
              </a:rPr>
              <a:t>.)</a:t>
            </a:r>
            <a:endParaRPr lang="es-ES" altLang="es-AR" sz="1600" b="1" dirty="0">
              <a:solidFill>
                <a:schemeClr val="tx1">
                  <a:lumMod val="75000"/>
                  <a:lumOff val="25000"/>
                </a:schemeClr>
              </a:solidFill>
              <a:latin typeface="+mj-lt"/>
            </a:endParaRPr>
          </a:p>
        </p:txBody>
      </p:sp>
      <p:sp>
        <p:nvSpPr>
          <p:cNvPr id="7233" name="Line 65">
            <a:extLst>
              <a:ext uri="{FF2B5EF4-FFF2-40B4-BE49-F238E27FC236}">
                <a16:creationId xmlns:a16="http://schemas.microsoft.com/office/drawing/2014/main" id="{2E572B25-6871-4CF2-A4EC-CF076448F589}"/>
              </a:ext>
            </a:extLst>
          </p:cNvPr>
          <p:cNvSpPr>
            <a:spLocks noChangeShapeType="1"/>
          </p:cNvSpPr>
          <p:nvPr/>
        </p:nvSpPr>
        <p:spPr bwMode="auto">
          <a:xfrm>
            <a:off x="3933191" y="5851017"/>
            <a:ext cx="3744913" cy="0"/>
          </a:xfrm>
          <a:prstGeom prst="line">
            <a:avLst/>
          </a:prstGeom>
          <a:noFill/>
          <a:ln w="285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solidFill>
                <a:schemeClr val="tx1">
                  <a:lumMod val="75000"/>
                  <a:lumOff val="25000"/>
                </a:schemeClr>
              </a:solidFill>
              <a:latin typeface="+mj-lt"/>
            </a:endParaRPr>
          </a:p>
        </p:txBody>
      </p:sp>
      <p:sp>
        <p:nvSpPr>
          <p:cNvPr id="7234" name="Line 66">
            <a:extLst>
              <a:ext uri="{FF2B5EF4-FFF2-40B4-BE49-F238E27FC236}">
                <a16:creationId xmlns:a16="http://schemas.microsoft.com/office/drawing/2014/main" id="{B1B6AEEB-FC77-4902-A3FB-C22CC130BBC2}"/>
              </a:ext>
            </a:extLst>
          </p:cNvPr>
          <p:cNvSpPr>
            <a:spLocks noChangeShapeType="1"/>
          </p:cNvSpPr>
          <p:nvPr/>
        </p:nvSpPr>
        <p:spPr bwMode="auto">
          <a:xfrm>
            <a:off x="3933191" y="5419217"/>
            <a:ext cx="3744913" cy="0"/>
          </a:xfrm>
          <a:prstGeom prst="line">
            <a:avLst/>
          </a:prstGeom>
          <a:noFill/>
          <a:ln w="285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solidFill>
                <a:schemeClr val="tx1">
                  <a:lumMod val="75000"/>
                  <a:lumOff val="25000"/>
                </a:schemeClr>
              </a:solidFill>
              <a:latin typeface="+mj-lt"/>
            </a:endParaRPr>
          </a:p>
        </p:txBody>
      </p:sp>
      <p:sp>
        <p:nvSpPr>
          <p:cNvPr id="7235" name="Line 67">
            <a:extLst>
              <a:ext uri="{FF2B5EF4-FFF2-40B4-BE49-F238E27FC236}">
                <a16:creationId xmlns:a16="http://schemas.microsoft.com/office/drawing/2014/main" id="{EA34566F-EC2D-4EC0-B78C-0B0AA8C457D6}"/>
              </a:ext>
            </a:extLst>
          </p:cNvPr>
          <p:cNvSpPr>
            <a:spLocks noChangeShapeType="1"/>
          </p:cNvSpPr>
          <p:nvPr/>
        </p:nvSpPr>
        <p:spPr bwMode="auto">
          <a:xfrm>
            <a:off x="3933191" y="4914392"/>
            <a:ext cx="3744913" cy="0"/>
          </a:xfrm>
          <a:prstGeom prst="line">
            <a:avLst/>
          </a:prstGeom>
          <a:noFill/>
          <a:ln w="285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solidFill>
                <a:schemeClr val="tx1">
                  <a:lumMod val="75000"/>
                  <a:lumOff val="25000"/>
                </a:schemeClr>
              </a:solidFill>
              <a:latin typeface="+mj-lt"/>
            </a:endParaRPr>
          </a:p>
        </p:txBody>
      </p:sp>
      <p:sp>
        <p:nvSpPr>
          <p:cNvPr id="7236" name="Line 68">
            <a:extLst>
              <a:ext uri="{FF2B5EF4-FFF2-40B4-BE49-F238E27FC236}">
                <a16:creationId xmlns:a16="http://schemas.microsoft.com/office/drawing/2014/main" id="{822B7F7B-7CA7-4B2D-B01C-8464EA853DB9}"/>
              </a:ext>
            </a:extLst>
          </p:cNvPr>
          <p:cNvSpPr>
            <a:spLocks noChangeShapeType="1"/>
          </p:cNvSpPr>
          <p:nvPr/>
        </p:nvSpPr>
        <p:spPr bwMode="auto">
          <a:xfrm>
            <a:off x="3933191" y="4482592"/>
            <a:ext cx="3744913" cy="0"/>
          </a:xfrm>
          <a:prstGeom prst="line">
            <a:avLst/>
          </a:prstGeom>
          <a:noFill/>
          <a:ln w="285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solidFill>
                <a:schemeClr val="tx1">
                  <a:lumMod val="75000"/>
                  <a:lumOff val="25000"/>
                </a:schemeClr>
              </a:solidFill>
              <a:latin typeface="+mj-lt"/>
            </a:endParaRPr>
          </a:p>
        </p:txBody>
      </p:sp>
      <p:sp>
        <p:nvSpPr>
          <p:cNvPr id="7237" name="Text Box 69">
            <a:extLst>
              <a:ext uri="{FF2B5EF4-FFF2-40B4-BE49-F238E27FC236}">
                <a16:creationId xmlns:a16="http://schemas.microsoft.com/office/drawing/2014/main" id="{808FF65F-85AD-40A2-97F2-1A4313B197A7}"/>
              </a:ext>
            </a:extLst>
          </p:cNvPr>
          <p:cNvSpPr txBox="1">
            <a:spLocks noChangeArrowheads="1"/>
          </p:cNvSpPr>
          <p:nvPr/>
        </p:nvSpPr>
        <p:spPr bwMode="auto">
          <a:xfrm>
            <a:off x="7749540" y="5844667"/>
            <a:ext cx="36718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buFont typeface="Wingdings" panose="05000000000000000000" pitchFamily="2" charset="2"/>
              <a:buNone/>
            </a:pPr>
            <a:r>
              <a:rPr lang="es-AR" altLang="es-AR" sz="1600" b="1">
                <a:solidFill>
                  <a:schemeClr val="tx1">
                    <a:lumMod val="75000"/>
                    <a:lumOff val="25000"/>
                  </a:schemeClr>
                </a:solidFill>
                <a:latin typeface="+mj-lt"/>
              </a:rPr>
              <a:t>Costos Fijos de Producción</a:t>
            </a:r>
          </a:p>
        </p:txBody>
      </p:sp>
      <p:sp>
        <p:nvSpPr>
          <p:cNvPr id="7238" name="Text Box 70">
            <a:extLst>
              <a:ext uri="{FF2B5EF4-FFF2-40B4-BE49-F238E27FC236}">
                <a16:creationId xmlns:a16="http://schemas.microsoft.com/office/drawing/2014/main" id="{54AD92C1-3A80-427D-85BE-CA0016E89A80}"/>
              </a:ext>
            </a:extLst>
          </p:cNvPr>
          <p:cNvSpPr txBox="1">
            <a:spLocks noChangeArrowheads="1"/>
          </p:cNvSpPr>
          <p:nvPr/>
        </p:nvSpPr>
        <p:spPr bwMode="auto">
          <a:xfrm>
            <a:off x="7749541" y="5419217"/>
            <a:ext cx="38893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buFont typeface="Wingdings" panose="05000000000000000000" pitchFamily="2" charset="2"/>
              <a:buNone/>
            </a:pPr>
            <a:r>
              <a:rPr lang="es-AR" altLang="es-AR" sz="1600" b="1">
                <a:solidFill>
                  <a:schemeClr val="tx1">
                    <a:lumMod val="75000"/>
                    <a:lumOff val="25000"/>
                  </a:schemeClr>
                </a:solidFill>
                <a:latin typeface="+mj-lt"/>
              </a:rPr>
              <a:t>Costos Fijos de Administración</a:t>
            </a:r>
          </a:p>
        </p:txBody>
      </p:sp>
      <p:sp>
        <p:nvSpPr>
          <p:cNvPr id="7239" name="Text Box 71">
            <a:extLst>
              <a:ext uri="{FF2B5EF4-FFF2-40B4-BE49-F238E27FC236}">
                <a16:creationId xmlns:a16="http://schemas.microsoft.com/office/drawing/2014/main" id="{7D87B0BA-50CE-4813-9594-DFAFE769EA4F}"/>
              </a:ext>
            </a:extLst>
          </p:cNvPr>
          <p:cNvSpPr txBox="1">
            <a:spLocks noChangeArrowheads="1"/>
          </p:cNvSpPr>
          <p:nvPr/>
        </p:nvSpPr>
        <p:spPr bwMode="auto">
          <a:xfrm>
            <a:off x="7749540" y="4979480"/>
            <a:ext cx="36718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buFont typeface="Wingdings" panose="05000000000000000000" pitchFamily="2" charset="2"/>
              <a:buNone/>
            </a:pPr>
            <a:r>
              <a:rPr lang="es-AR" altLang="es-AR" sz="1600" b="1">
                <a:solidFill>
                  <a:schemeClr val="tx1">
                    <a:lumMod val="75000"/>
                    <a:lumOff val="25000"/>
                  </a:schemeClr>
                </a:solidFill>
                <a:latin typeface="+mj-lt"/>
              </a:rPr>
              <a:t>Costos Fijos Financieros</a:t>
            </a:r>
          </a:p>
        </p:txBody>
      </p:sp>
      <p:sp>
        <p:nvSpPr>
          <p:cNvPr id="7240" name="Text Box 72">
            <a:extLst>
              <a:ext uri="{FF2B5EF4-FFF2-40B4-BE49-F238E27FC236}">
                <a16:creationId xmlns:a16="http://schemas.microsoft.com/office/drawing/2014/main" id="{64DAD795-039B-49C6-9FD2-30D6C12CDFDC}"/>
              </a:ext>
            </a:extLst>
          </p:cNvPr>
          <p:cNvSpPr txBox="1">
            <a:spLocks noChangeArrowheads="1"/>
          </p:cNvSpPr>
          <p:nvPr/>
        </p:nvSpPr>
        <p:spPr bwMode="auto">
          <a:xfrm>
            <a:off x="7751129" y="4547680"/>
            <a:ext cx="39592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buFont typeface="Wingdings" panose="05000000000000000000" pitchFamily="2" charset="2"/>
              <a:buNone/>
            </a:pPr>
            <a:r>
              <a:rPr lang="es-AR" altLang="es-AR" sz="1600" b="1">
                <a:solidFill>
                  <a:schemeClr val="tx1">
                    <a:lumMod val="75000"/>
                    <a:lumOff val="25000"/>
                  </a:schemeClr>
                </a:solidFill>
                <a:latin typeface="+mj-lt"/>
              </a:rPr>
              <a:t>Costos Fijos de Comercialización</a:t>
            </a:r>
          </a:p>
        </p:txBody>
      </p:sp>
      <p:sp>
        <p:nvSpPr>
          <p:cNvPr id="7241" name="Text Box 73">
            <a:extLst>
              <a:ext uri="{FF2B5EF4-FFF2-40B4-BE49-F238E27FC236}">
                <a16:creationId xmlns:a16="http://schemas.microsoft.com/office/drawing/2014/main" id="{B48A367E-70B6-4F4B-92DB-0098C81FC42E}"/>
              </a:ext>
            </a:extLst>
          </p:cNvPr>
          <p:cNvSpPr txBox="1">
            <a:spLocks noChangeArrowheads="1"/>
          </p:cNvSpPr>
          <p:nvPr/>
        </p:nvSpPr>
        <p:spPr bwMode="auto">
          <a:xfrm>
            <a:off x="4149090" y="4050792"/>
            <a:ext cx="36718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buFont typeface="Wingdings" panose="05000000000000000000" pitchFamily="2" charset="2"/>
              <a:buNone/>
            </a:pPr>
            <a:r>
              <a:rPr lang="es-AR" altLang="es-AR" sz="1600" b="1">
                <a:solidFill>
                  <a:schemeClr val="tx1">
                    <a:lumMod val="75000"/>
                    <a:lumOff val="25000"/>
                  </a:schemeClr>
                </a:solidFill>
                <a:latin typeface="+mj-lt"/>
              </a:rPr>
              <a:t>Costo Fijo Total = constante</a:t>
            </a:r>
          </a:p>
        </p:txBody>
      </p:sp>
      <p:sp>
        <p:nvSpPr>
          <p:cNvPr id="7242" name="Line 74">
            <a:extLst>
              <a:ext uri="{FF2B5EF4-FFF2-40B4-BE49-F238E27FC236}">
                <a16:creationId xmlns:a16="http://schemas.microsoft.com/office/drawing/2014/main" id="{9111499C-3A44-402D-A9A5-C288BBCD11FE}"/>
              </a:ext>
            </a:extLst>
          </p:cNvPr>
          <p:cNvSpPr>
            <a:spLocks noChangeShapeType="1"/>
          </p:cNvSpPr>
          <p:nvPr/>
        </p:nvSpPr>
        <p:spPr bwMode="auto">
          <a:xfrm>
            <a:off x="7678103" y="3690431"/>
            <a:ext cx="0" cy="2592387"/>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solidFill>
                <a:schemeClr val="tx1">
                  <a:lumMod val="75000"/>
                  <a:lumOff val="25000"/>
                </a:schemeClr>
              </a:solidFill>
              <a:latin typeface="+mj-lt"/>
            </a:endParaRPr>
          </a:p>
        </p:txBody>
      </p:sp>
      <p:sp>
        <p:nvSpPr>
          <p:cNvPr id="2" name="Marcador de número de diapositiva 1">
            <a:extLst>
              <a:ext uri="{FF2B5EF4-FFF2-40B4-BE49-F238E27FC236}">
                <a16:creationId xmlns:a16="http://schemas.microsoft.com/office/drawing/2014/main" id="{98B3F188-2A37-4EC3-B908-4D334905A331}"/>
              </a:ext>
            </a:extLst>
          </p:cNvPr>
          <p:cNvSpPr>
            <a:spLocks noGrp="1"/>
          </p:cNvSpPr>
          <p:nvPr>
            <p:ph type="sldNum" sz="quarter" idx="12"/>
          </p:nvPr>
        </p:nvSpPr>
        <p:spPr/>
        <p:txBody>
          <a:bodyPr/>
          <a:lstStyle/>
          <a:p>
            <a:fld id="{D57F1E4F-1CFF-5643-939E-217C01CDF565}" type="slidenum">
              <a:rPr lang="en-US" smtClean="0"/>
              <a:pPr/>
              <a:t>14</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22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23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23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22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22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23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242"/>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723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237"/>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723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238"/>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723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239"/>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nodeType="clickEffect">
                                  <p:stCondLst>
                                    <p:cond delay="0"/>
                                  </p:stCondLst>
                                  <p:childTnLst>
                                    <p:set>
                                      <p:cBhvr>
                                        <p:cTn id="44" dur="1" fill="hold">
                                          <p:stCondLst>
                                            <p:cond delay="0"/>
                                          </p:stCondLst>
                                        </p:cTn>
                                        <p:tgtEl>
                                          <p:spTgt spid="723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240"/>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7241"/>
                                        </p:tgtEl>
                                        <p:attrNameLst>
                                          <p:attrName>style.visibility</p:attrName>
                                        </p:attrNameLst>
                                      </p:cBhvr>
                                      <p:to>
                                        <p:strVal val="visible"/>
                                      </p:to>
                                    </p:set>
                                    <p:animEffect transition="in" filter="blinds(horizontal)">
                                      <p:cBhvr>
                                        <p:cTn id="51" dur="500"/>
                                        <p:tgtEl>
                                          <p:spTgt spid="72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27" grpId="0"/>
      <p:bldP spid="7230" grpId="0"/>
      <p:bldP spid="7231" grpId="0"/>
      <p:bldP spid="7232" grpId="0"/>
      <p:bldP spid="7237" grpId="0"/>
      <p:bldP spid="7238" grpId="0"/>
      <p:bldP spid="7239" grpId="0"/>
      <p:bldP spid="7240" grpId="0"/>
      <p:bldP spid="724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Text Box 4">
            <a:extLst>
              <a:ext uri="{FF2B5EF4-FFF2-40B4-BE49-F238E27FC236}">
                <a16:creationId xmlns:a16="http://schemas.microsoft.com/office/drawing/2014/main" id="{33F026FC-48EF-4966-B08E-D55A894186D7}"/>
              </a:ext>
            </a:extLst>
          </p:cNvPr>
          <p:cNvSpPr txBox="1">
            <a:spLocks noChangeArrowheads="1"/>
          </p:cNvSpPr>
          <p:nvPr/>
        </p:nvSpPr>
        <p:spPr bwMode="auto">
          <a:xfrm>
            <a:off x="1369188" y="207532"/>
            <a:ext cx="78771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latin typeface="+mj-lt"/>
              </a:rPr>
              <a:t>COSTOS SEMI FIJOS</a:t>
            </a:r>
          </a:p>
        </p:txBody>
      </p:sp>
      <p:sp>
        <p:nvSpPr>
          <p:cNvPr id="15392" name="Text Box 32">
            <a:extLst>
              <a:ext uri="{FF2B5EF4-FFF2-40B4-BE49-F238E27FC236}">
                <a16:creationId xmlns:a16="http://schemas.microsoft.com/office/drawing/2014/main" id="{3508E8CA-0BD0-4787-AA59-0222B56D905D}"/>
              </a:ext>
            </a:extLst>
          </p:cNvPr>
          <p:cNvSpPr txBox="1">
            <a:spLocks noChangeArrowheads="1"/>
          </p:cNvSpPr>
          <p:nvPr/>
        </p:nvSpPr>
        <p:spPr bwMode="auto">
          <a:xfrm>
            <a:off x="1791662" y="2151727"/>
            <a:ext cx="9988858"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342900" indent="-342900" eaLnBrk="1" hangingPunct="1">
              <a:spcBef>
                <a:spcPct val="50000"/>
              </a:spcBef>
              <a:buClr>
                <a:srgbClr val="92D050"/>
              </a:buClr>
              <a:buFont typeface="Arial" panose="020B0604020202020204" pitchFamily="34" charset="0"/>
              <a:buChar char="•"/>
            </a:pPr>
            <a:r>
              <a:rPr lang="es-AR" altLang="es-AR" sz="2000" dirty="0">
                <a:solidFill>
                  <a:schemeClr val="tx1">
                    <a:lumMod val="75000"/>
                    <a:lumOff val="25000"/>
                  </a:schemeClr>
                </a:solidFill>
                <a:latin typeface="+mj-lt"/>
              </a:rPr>
              <a:t>Son aquellos que permanecen fijos dentro de límites reducidos del nivel de actividad.</a:t>
            </a:r>
          </a:p>
          <a:p>
            <a:pPr marL="342900" indent="-342900">
              <a:spcBef>
                <a:spcPct val="50000"/>
              </a:spcBef>
              <a:buClr>
                <a:srgbClr val="92D050"/>
              </a:buClr>
              <a:buFont typeface="Arial" panose="020B0604020202020204" pitchFamily="34" charset="0"/>
              <a:buChar char="•"/>
            </a:pPr>
            <a:r>
              <a:rPr lang="es-AR" altLang="es-AR" sz="2000" dirty="0">
                <a:solidFill>
                  <a:schemeClr val="tx1">
                    <a:lumMod val="75000"/>
                    <a:lumOff val="25000"/>
                  </a:schemeClr>
                </a:solidFill>
                <a:latin typeface="+mj-lt"/>
              </a:rPr>
              <a:t>Se caracterizan por aumentar escalonadamente una vez pasado el máximo de la capacidad instalada, para ese nivel de costo fijo en donde permanecen hasta que se produzca otro cambio del mismo orden.</a:t>
            </a:r>
          </a:p>
          <a:p>
            <a:pPr marL="342900" indent="-342900" eaLnBrk="1" hangingPunct="1">
              <a:spcBef>
                <a:spcPct val="50000"/>
              </a:spcBef>
              <a:buClr>
                <a:srgbClr val="92D050"/>
              </a:buClr>
              <a:buFont typeface="Arial" panose="020B0604020202020204" pitchFamily="34" charset="0"/>
              <a:buChar char="•"/>
            </a:pPr>
            <a:r>
              <a:rPr lang="es-AR" altLang="es-AR" sz="2000" dirty="0">
                <a:solidFill>
                  <a:schemeClr val="tx1">
                    <a:lumMod val="75000"/>
                    <a:lumOff val="25000"/>
                  </a:schemeClr>
                </a:solidFill>
                <a:latin typeface="+mj-lt"/>
              </a:rPr>
              <a:t>Otra característica es que si deseo volver al costo fijo anterior, difícilmente pueda lograrlo.</a:t>
            </a:r>
            <a:endParaRPr lang="es-AR" altLang="es-AR" sz="2000" b="1" dirty="0">
              <a:solidFill>
                <a:schemeClr val="tx1">
                  <a:lumMod val="75000"/>
                  <a:lumOff val="25000"/>
                </a:schemeClr>
              </a:solidFill>
              <a:latin typeface="+mj-lt"/>
            </a:endParaRPr>
          </a:p>
        </p:txBody>
      </p:sp>
      <p:sp>
        <p:nvSpPr>
          <p:cNvPr id="2" name="Marcador de número de diapositiva 1">
            <a:extLst>
              <a:ext uri="{FF2B5EF4-FFF2-40B4-BE49-F238E27FC236}">
                <a16:creationId xmlns:a16="http://schemas.microsoft.com/office/drawing/2014/main" id="{975FC91F-2B2C-44E1-B849-2308907B64EF}"/>
              </a:ext>
            </a:extLst>
          </p:cNvPr>
          <p:cNvSpPr>
            <a:spLocks noGrp="1"/>
          </p:cNvSpPr>
          <p:nvPr>
            <p:ph type="sldNum" sz="quarter" idx="12"/>
          </p:nvPr>
        </p:nvSpPr>
        <p:spPr/>
        <p:txBody>
          <a:bodyPr/>
          <a:lstStyle/>
          <a:p>
            <a:fld id="{D57F1E4F-1CFF-5643-939E-217C01CDF565}" type="slidenum">
              <a:rPr lang="en-US" smtClean="0"/>
              <a:pPr/>
              <a:t>15</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9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Text Box 4">
            <a:extLst>
              <a:ext uri="{FF2B5EF4-FFF2-40B4-BE49-F238E27FC236}">
                <a16:creationId xmlns:a16="http://schemas.microsoft.com/office/drawing/2014/main" id="{33F026FC-48EF-4966-B08E-D55A894186D7}"/>
              </a:ext>
            </a:extLst>
          </p:cNvPr>
          <p:cNvSpPr txBox="1">
            <a:spLocks noChangeArrowheads="1"/>
          </p:cNvSpPr>
          <p:nvPr/>
        </p:nvSpPr>
        <p:spPr bwMode="auto">
          <a:xfrm>
            <a:off x="1369188" y="207532"/>
            <a:ext cx="78771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latin typeface="+mj-lt"/>
              </a:rPr>
              <a:t>COSTOS SEMI FIJOS</a:t>
            </a:r>
          </a:p>
        </p:txBody>
      </p:sp>
      <p:sp>
        <p:nvSpPr>
          <p:cNvPr id="15393" name="Line 33">
            <a:extLst>
              <a:ext uri="{FF2B5EF4-FFF2-40B4-BE49-F238E27FC236}">
                <a16:creationId xmlns:a16="http://schemas.microsoft.com/office/drawing/2014/main" id="{99C29E9A-D27E-4AFC-9FAF-5E0B7080A3E9}"/>
              </a:ext>
            </a:extLst>
          </p:cNvPr>
          <p:cNvSpPr>
            <a:spLocks noChangeShapeType="1"/>
          </p:cNvSpPr>
          <p:nvPr/>
        </p:nvSpPr>
        <p:spPr bwMode="auto">
          <a:xfrm flipV="1">
            <a:off x="6584950" y="1861652"/>
            <a:ext cx="0" cy="309562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sz="1600">
              <a:solidFill>
                <a:schemeClr val="tx1">
                  <a:lumMod val="75000"/>
                  <a:lumOff val="25000"/>
                </a:schemeClr>
              </a:solidFill>
              <a:latin typeface="+mj-lt"/>
            </a:endParaRPr>
          </a:p>
        </p:txBody>
      </p:sp>
      <p:sp>
        <p:nvSpPr>
          <p:cNvPr id="15394" name="Line 34">
            <a:extLst>
              <a:ext uri="{FF2B5EF4-FFF2-40B4-BE49-F238E27FC236}">
                <a16:creationId xmlns:a16="http://schemas.microsoft.com/office/drawing/2014/main" id="{2158E632-7AFC-4D1A-897A-045DC97F2B62}"/>
              </a:ext>
            </a:extLst>
          </p:cNvPr>
          <p:cNvSpPr>
            <a:spLocks noChangeShapeType="1"/>
          </p:cNvSpPr>
          <p:nvPr/>
        </p:nvSpPr>
        <p:spPr bwMode="auto">
          <a:xfrm flipV="1">
            <a:off x="6297613" y="4812813"/>
            <a:ext cx="5256212" cy="158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sz="1600">
              <a:solidFill>
                <a:schemeClr val="tx1">
                  <a:lumMod val="75000"/>
                  <a:lumOff val="25000"/>
                </a:schemeClr>
              </a:solidFill>
              <a:latin typeface="+mj-lt"/>
            </a:endParaRPr>
          </a:p>
        </p:txBody>
      </p:sp>
      <p:sp>
        <p:nvSpPr>
          <p:cNvPr id="15395" name="Text Box 35">
            <a:extLst>
              <a:ext uri="{FF2B5EF4-FFF2-40B4-BE49-F238E27FC236}">
                <a16:creationId xmlns:a16="http://schemas.microsoft.com/office/drawing/2014/main" id="{16DE6575-0DED-4DAD-B88C-2C55B3311B91}"/>
              </a:ext>
            </a:extLst>
          </p:cNvPr>
          <p:cNvSpPr txBox="1">
            <a:spLocks noChangeArrowheads="1"/>
          </p:cNvSpPr>
          <p:nvPr/>
        </p:nvSpPr>
        <p:spPr bwMode="auto">
          <a:xfrm>
            <a:off x="5576888" y="1788626"/>
            <a:ext cx="100806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600" b="1">
                <a:solidFill>
                  <a:schemeClr val="tx1">
                    <a:lumMod val="75000"/>
                    <a:lumOff val="25000"/>
                  </a:schemeClr>
                </a:solidFill>
                <a:latin typeface="+mj-lt"/>
              </a:rPr>
              <a:t>CF </a:t>
            </a:r>
            <a:r>
              <a:rPr lang="es-AR" altLang="es-AR" sz="1600" b="1">
                <a:solidFill>
                  <a:schemeClr val="tx1">
                    <a:lumMod val="75000"/>
                    <a:lumOff val="25000"/>
                  </a:schemeClr>
                </a:solidFill>
                <a:latin typeface="+mj-lt"/>
                <a:cs typeface="Tahoma" panose="020B0604030504040204" pitchFamily="34" charset="0"/>
              </a:rPr>
              <a:t>[$]</a:t>
            </a:r>
          </a:p>
        </p:txBody>
      </p:sp>
      <p:sp>
        <p:nvSpPr>
          <p:cNvPr id="15396" name="Text Box 36">
            <a:extLst>
              <a:ext uri="{FF2B5EF4-FFF2-40B4-BE49-F238E27FC236}">
                <a16:creationId xmlns:a16="http://schemas.microsoft.com/office/drawing/2014/main" id="{FB16A13C-9BE8-4566-A52C-01045FC3D97E}"/>
              </a:ext>
            </a:extLst>
          </p:cNvPr>
          <p:cNvSpPr txBox="1">
            <a:spLocks noChangeArrowheads="1"/>
          </p:cNvSpPr>
          <p:nvPr/>
        </p:nvSpPr>
        <p:spPr bwMode="auto">
          <a:xfrm>
            <a:off x="11193463" y="4885839"/>
            <a:ext cx="122396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600" b="1">
                <a:solidFill>
                  <a:schemeClr val="tx1">
                    <a:lumMod val="75000"/>
                    <a:lumOff val="25000"/>
                  </a:schemeClr>
                </a:solidFill>
                <a:latin typeface="+mj-lt"/>
              </a:rPr>
              <a:t>q (cant.)</a:t>
            </a:r>
            <a:endParaRPr lang="es-ES" altLang="es-AR" sz="1600" b="1">
              <a:solidFill>
                <a:schemeClr val="tx1">
                  <a:lumMod val="75000"/>
                  <a:lumOff val="25000"/>
                </a:schemeClr>
              </a:solidFill>
              <a:latin typeface="+mj-lt"/>
            </a:endParaRPr>
          </a:p>
        </p:txBody>
      </p:sp>
      <p:sp>
        <p:nvSpPr>
          <p:cNvPr id="15397" name="Line 37">
            <a:extLst>
              <a:ext uri="{FF2B5EF4-FFF2-40B4-BE49-F238E27FC236}">
                <a16:creationId xmlns:a16="http://schemas.microsoft.com/office/drawing/2014/main" id="{B2516048-D243-4E17-B137-9B3FC5A42C8E}"/>
              </a:ext>
            </a:extLst>
          </p:cNvPr>
          <p:cNvSpPr>
            <a:spLocks noChangeShapeType="1"/>
          </p:cNvSpPr>
          <p:nvPr/>
        </p:nvSpPr>
        <p:spPr bwMode="auto">
          <a:xfrm>
            <a:off x="6584951" y="4165113"/>
            <a:ext cx="1152525" cy="0"/>
          </a:xfrm>
          <a:prstGeom prst="line">
            <a:avLst/>
          </a:prstGeom>
          <a:noFill/>
          <a:ln w="285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sz="1600">
              <a:solidFill>
                <a:schemeClr val="tx1">
                  <a:lumMod val="75000"/>
                  <a:lumOff val="25000"/>
                </a:schemeClr>
              </a:solidFill>
              <a:latin typeface="+mj-lt"/>
            </a:endParaRPr>
          </a:p>
        </p:txBody>
      </p:sp>
      <p:sp>
        <p:nvSpPr>
          <p:cNvPr id="15398" name="Line 38">
            <a:extLst>
              <a:ext uri="{FF2B5EF4-FFF2-40B4-BE49-F238E27FC236}">
                <a16:creationId xmlns:a16="http://schemas.microsoft.com/office/drawing/2014/main" id="{E54F7C7F-F080-4BEE-B20D-D11C3B543EE9}"/>
              </a:ext>
            </a:extLst>
          </p:cNvPr>
          <p:cNvSpPr>
            <a:spLocks noChangeShapeType="1"/>
          </p:cNvSpPr>
          <p:nvPr/>
        </p:nvSpPr>
        <p:spPr bwMode="auto">
          <a:xfrm>
            <a:off x="7737476" y="3660288"/>
            <a:ext cx="1152525" cy="0"/>
          </a:xfrm>
          <a:prstGeom prst="line">
            <a:avLst/>
          </a:prstGeom>
          <a:noFill/>
          <a:ln w="285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sz="1600">
              <a:solidFill>
                <a:schemeClr val="tx1">
                  <a:lumMod val="75000"/>
                  <a:lumOff val="25000"/>
                </a:schemeClr>
              </a:solidFill>
              <a:latin typeface="+mj-lt"/>
            </a:endParaRPr>
          </a:p>
        </p:txBody>
      </p:sp>
      <p:sp>
        <p:nvSpPr>
          <p:cNvPr id="15399" name="Line 39">
            <a:extLst>
              <a:ext uri="{FF2B5EF4-FFF2-40B4-BE49-F238E27FC236}">
                <a16:creationId xmlns:a16="http://schemas.microsoft.com/office/drawing/2014/main" id="{CCBE7DCF-1ADC-4170-BA4D-D162488C211E}"/>
              </a:ext>
            </a:extLst>
          </p:cNvPr>
          <p:cNvSpPr>
            <a:spLocks noChangeShapeType="1"/>
          </p:cNvSpPr>
          <p:nvPr/>
        </p:nvSpPr>
        <p:spPr bwMode="auto">
          <a:xfrm>
            <a:off x="8890001" y="2868126"/>
            <a:ext cx="1152525" cy="0"/>
          </a:xfrm>
          <a:prstGeom prst="line">
            <a:avLst/>
          </a:prstGeom>
          <a:noFill/>
          <a:ln w="285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sz="1600">
              <a:solidFill>
                <a:schemeClr val="tx1">
                  <a:lumMod val="75000"/>
                  <a:lumOff val="25000"/>
                </a:schemeClr>
              </a:solidFill>
              <a:latin typeface="+mj-lt"/>
            </a:endParaRPr>
          </a:p>
        </p:txBody>
      </p:sp>
      <p:sp>
        <p:nvSpPr>
          <p:cNvPr id="15400" name="Line 40">
            <a:extLst>
              <a:ext uri="{FF2B5EF4-FFF2-40B4-BE49-F238E27FC236}">
                <a16:creationId xmlns:a16="http://schemas.microsoft.com/office/drawing/2014/main" id="{0F4BAD1F-3DB0-431A-9A48-9E05CBA253FA}"/>
              </a:ext>
            </a:extLst>
          </p:cNvPr>
          <p:cNvSpPr>
            <a:spLocks noChangeShapeType="1"/>
          </p:cNvSpPr>
          <p:nvPr/>
        </p:nvSpPr>
        <p:spPr bwMode="auto">
          <a:xfrm flipV="1">
            <a:off x="7737475" y="3660289"/>
            <a:ext cx="0" cy="11525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sz="1600">
              <a:solidFill>
                <a:schemeClr val="tx1">
                  <a:lumMod val="75000"/>
                  <a:lumOff val="25000"/>
                </a:schemeClr>
              </a:solidFill>
              <a:latin typeface="+mj-lt"/>
            </a:endParaRPr>
          </a:p>
        </p:txBody>
      </p:sp>
      <p:sp>
        <p:nvSpPr>
          <p:cNvPr id="15401" name="Line 41">
            <a:extLst>
              <a:ext uri="{FF2B5EF4-FFF2-40B4-BE49-F238E27FC236}">
                <a16:creationId xmlns:a16="http://schemas.microsoft.com/office/drawing/2014/main" id="{29B62D44-7271-455B-B949-C5C0910ADA73}"/>
              </a:ext>
            </a:extLst>
          </p:cNvPr>
          <p:cNvSpPr>
            <a:spLocks noChangeShapeType="1"/>
          </p:cNvSpPr>
          <p:nvPr/>
        </p:nvSpPr>
        <p:spPr bwMode="auto">
          <a:xfrm flipV="1">
            <a:off x="8890000" y="2868127"/>
            <a:ext cx="0" cy="1944687"/>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sz="1600">
              <a:solidFill>
                <a:schemeClr val="tx1">
                  <a:lumMod val="75000"/>
                  <a:lumOff val="25000"/>
                </a:schemeClr>
              </a:solidFill>
              <a:latin typeface="+mj-lt"/>
            </a:endParaRPr>
          </a:p>
        </p:txBody>
      </p:sp>
      <p:sp>
        <p:nvSpPr>
          <p:cNvPr id="15402" name="Line 42">
            <a:extLst>
              <a:ext uri="{FF2B5EF4-FFF2-40B4-BE49-F238E27FC236}">
                <a16:creationId xmlns:a16="http://schemas.microsoft.com/office/drawing/2014/main" id="{E9F0192E-49C3-4136-ABA7-52AD69CC1A3B}"/>
              </a:ext>
            </a:extLst>
          </p:cNvPr>
          <p:cNvSpPr>
            <a:spLocks noChangeShapeType="1"/>
          </p:cNvSpPr>
          <p:nvPr/>
        </p:nvSpPr>
        <p:spPr bwMode="auto">
          <a:xfrm flipV="1">
            <a:off x="10040938" y="2868127"/>
            <a:ext cx="0" cy="1944687"/>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sz="1600">
              <a:solidFill>
                <a:schemeClr val="tx1">
                  <a:lumMod val="75000"/>
                  <a:lumOff val="25000"/>
                </a:schemeClr>
              </a:solidFill>
              <a:latin typeface="+mj-lt"/>
            </a:endParaRPr>
          </a:p>
        </p:txBody>
      </p:sp>
      <p:sp>
        <p:nvSpPr>
          <p:cNvPr id="15403" name="Text Box 43">
            <a:extLst>
              <a:ext uri="{FF2B5EF4-FFF2-40B4-BE49-F238E27FC236}">
                <a16:creationId xmlns:a16="http://schemas.microsoft.com/office/drawing/2014/main" id="{679233CA-26B3-471F-8CF9-A117FC443040}"/>
              </a:ext>
            </a:extLst>
          </p:cNvPr>
          <p:cNvSpPr txBox="1">
            <a:spLocks noChangeArrowheads="1"/>
          </p:cNvSpPr>
          <p:nvPr/>
        </p:nvSpPr>
        <p:spPr bwMode="auto">
          <a:xfrm>
            <a:off x="6772275" y="3733314"/>
            <a:ext cx="8636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sz="1600" b="1">
                <a:solidFill>
                  <a:schemeClr val="tx1">
                    <a:lumMod val="75000"/>
                    <a:lumOff val="25000"/>
                  </a:schemeClr>
                </a:solidFill>
                <a:latin typeface="+mj-lt"/>
              </a:rPr>
              <a:t>CF </a:t>
            </a:r>
            <a:r>
              <a:rPr lang="es-AR" altLang="es-AR" sz="1600" b="1" baseline="-25000">
                <a:solidFill>
                  <a:schemeClr val="tx1">
                    <a:lumMod val="75000"/>
                    <a:lumOff val="25000"/>
                  </a:schemeClr>
                </a:solidFill>
                <a:latin typeface="+mj-lt"/>
              </a:rPr>
              <a:t>1</a:t>
            </a:r>
            <a:endParaRPr lang="es-AR" altLang="es-AR" sz="1600" b="1">
              <a:solidFill>
                <a:schemeClr val="tx1">
                  <a:lumMod val="75000"/>
                  <a:lumOff val="25000"/>
                </a:schemeClr>
              </a:solidFill>
              <a:latin typeface="+mj-lt"/>
              <a:cs typeface="Tahoma" panose="020B0604030504040204" pitchFamily="34" charset="0"/>
            </a:endParaRPr>
          </a:p>
        </p:txBody>
      </p:sp>
      <p:sp>
        <p:nvSpPr>
          <p:cNvPr id="15404" name="Text Box 44">
            <a:extLst>
              <a:ext uri="{FF2B5EF4-FFF2-40B4-BE49-F238E27FC236}">
                <a16:creationId xmlns:a16="http://schemas.microsoft.com/office/drawing/2014/main" id="{3D17DB48-CDFF-4EBF-B2D1-DA3D5FB698A6}"/>
              </a:ext>
            </a:extLst>
          </p:cNvPr>
          <p:cNvSpPr txBox="1">
            <a:spLocks noChangeArrowheads="1"/>
          </p:cNvSpPr>
          <p:nvPr/>
        </p:nvSpPr>
        <p:spPr bwMode="auto">
          <a:xfrm>
            <a:off x="7881938" y="3228489"/>
            <a:ext cx="8636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sz="1600" b="1">
                <a:solidFill>
                  <a:schemeClr val="tx1">
                    <a:lumMod val="75000"/>
                    <a:lumOff val="25000"/>
                  </a:schemeClr>
                </a:solidFill>
                <a:latin typeface="+mj-lt"/>
              </a:rPr>
              <a:t>CF </a:t>
            </a:r>
            <a:r>
              <a:rPr lang="es-AR" altLang="es-AR" sz="1600" b="1" baseline="-25000">
                <a:solidFill>
                  <a:schemeClr val="tx1">
                    <a:lumMod val="75000"/>
                    <a:lumOff val="25000"/>
                  </a:schemeClr>
                </a:solidFill>
                <a:latin typeface="+mj-lt"/>
              </a:rPr>
              <a:t>2</a:t>
            </a:r>
            <a:endParaRPr lang="es-AR" altLang="es-AR" sz="1600" b="1">
              <a:solidFill>
                <a:schemeClr val="tx1">
                  <a:lumMod val="75000"/>
                  <a:lumOff val="25000"/>
                </a:schemeClr>
              </a:solidFill>
              <a:latin typeface="+mj-lt"/>
              <a:cs typeface="Tahoma" panose="020B0604030504040204" pitchFamily="34" charset="0"/>
            </a:endParaRPr>
          </a:p>
        </p:txBody>
      </p:sp>
      <p:sp>
        <p:nvSpPr>
          <p:cNvPr id="15405" name="Text Box 45">
            <a:extLst>
              <a:ext uri="{FF2B5EF4-FFF2-40B4-BE49-F238E27FC236}">
                <a16:creationId xmlns:a16="http://schemas.microsoft.com/office/drawing/2014/main" id="{77A558F9-5067-41B0-BE10-4A9529AE558E}"/>
              </a:ext>
            </a:extLst>
          </p:cNvPr>
          <p:cNvSpPr txBox="1">
            <a:spLocks noChangeArrowheads="1"/>
          </p:cNvSpPr>
          <p:nvPr/>
        </p:nvSpPr>
        <p:spPr bwMode="auto">
          <a:xfrm>
            <a:off x="9032875" y="2436326"/>
            <a:ext cx="8636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sz="1600" b="1">
                <a:solidFill>
                  <a:schemeClr val="tx1">
                    <a:lumMod val="75000"/>
                    <a:lumOff val="25000"/>
                  </a:schemeClr>
                </a:solidFill>
                <a:latin typeface="+mj-lt"/>
              </a:rPr>
              <a:t>CF </a:t>
            </a:r>
            <a:r>
              <a:rPr lang="es-AR" altLang="es-AR" sz="1600" b="1" baseline="-25000">
                <a:solidFill>
                  <a:schemeClr val="tx1">
                    <a:lumMod val="75000"/>
                    <a:lumOff val="25000"/>
                  </a:schemeClr>
                </a:solidFill>
                <a:latin typeface="+mj-lt"/>
              </a:rPr>
              <a:t>3</a:t>
            </a:r>
            <a:endParaRPr lang="es-AR" altLang="es-AR" sz="1600" b="1">
              <a:solidFill>
                <a:schemeClr val="tx1">
                  <a:lumMod val="75000"/>
                  <a:lumOff val="25000"/>
                </a:schemeClr>
              </a:solidFill>
              <a:latin typeface="+mj-lt"/>
              <a:cs typeface="Tahoma" panose="020B0604030504040204" pitchFamily="34" charset="0"/>
            </a:endParaRPr>
          </a:p>
        </p:txBody>
      </p:sp>
      <p:sp>
        <p:nvSpPr>
          <p:cNvPr id="15406" name="Text Box 46">
            <a:extLst>
              <a:ext uri="{FF2B5EF4-FFF2-40B4-BE49-F238E27FC236}">
                <a16:creationId xmlns:a16="http://schemas.microsoft.com/office/drawing/2014/main" id="{6C9FF6A7-9B85-4775-ACA2-800B0C1CEBCC}"/>
              </a:ext>
            </a:extLst>
          </p:cNvPr>
          <p:cNvSpPr txBox="1">
            <a:spLocks noChangeArrowheads="1"/>
          </p:cNvSpPr>
          <p:nvPr/>
        </p:nvSpPr>
        <p:spPr bwMode="auto">
          <a:xfrm>
            <a:off x="7232651" y="4885839"/>
            <a:ext cx="100806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sz="1600" b="1" dirty="0">
                <a:solidFill>
                  <a:schemeClr val="tx1">
                    <a:lumMod val="75000"/>
                    <a:lumOff val="25000"/>
                  </a:schemeClr>
                </a:solidFill>
                <a:latin typeface="+mj-lt"/>
              </a:rPr>
              <a:t>CI</a:t>
            </a:r>
            <a:r>
              <a:rPr lang="es-AR" altLang="es-AR" sz="1600" b="1" baseline="-25000" dirty="0">
                <a:solidFill>
                  <a:schemeClr val="tx1">
                    <a:lumMod val="75000"/>
                    <a:lumOff val="25000"/>
                  </a:schemeClr>
                </a:solidFill>
                <a:latin typeface="+mj-lt"/>
              </a:rPr>
              <a:t>1</a:t>
            </a:r>
            <a:endParaRPr lang="es-AR" altLang="es-AR" sz="1600" b="1" dirty="0">
              <a:solidFill>
                <a:schemeClr val="tx1">
                  <a:lumMod val="75000"/>
                  <a:lumOff val="25000"/>
                </a:schemeClr>
              </a:solidFill>
              <a:latin typeface="+mj-lt"/>
              <a:cs typeface="Tahoma" panose="020B0604030504040204" pitchFamily="34" charset="0"/>
            </a:endParaRPr>
          </a:p>
        </p:txBody>
      </p:sp>
      <p:sp>
        <p:nvSpPr>
          <p:cNvPr id="15407" name="Text Box 47">
            <a:extLst>
              <a:ext uri="{FF2B5EF4-FFF2-40B4-BE49-F238E27FC236}">
                <a16:creationId xmlns:a16="http://schemas.microsoft.com/office/drawing/2014/main" id="{AC906765-3FDF-4709-AEFF-9E44662F1F00}"/>
              </a:ext>
            </a:extLst>
          </p:cNvPr>
          <p:cNvSpPr txBox="1">
            <a:spLocks noChangeArrowheads="1"/>
          </p:cNvSpPr>
          <p:nvPr/>
        </p:nvSpPr>
        <p:spPr bwMode="auto">
          <a:xfrm>
            <a:off x="8458201" y="4885839"/>
            <a:ext cx="100806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sz="1600" b="1" dirty="0">
                <a:solidFill>
                  <a:schemeClr val="tx1">
                    <a:lumMod val="75000"/>
                    <a:lumOff val="25000"/>
                  </a:schemeClr>
                </a:solidFill>
                <a:latin typeface="+mj-lt"/>
              </a:rPr>
              <a:t>CI </a:t>
            </a:r>
            <a:r>
              <a:rPr lang="es-AR" altLang="es-AR" sz="1600" b="1" baseline="-25000" dirty="0">
                <a:solidFill>
                  <a:schemeClr val="tx1">
                    <a:lumMod val="75000"/>
                    <a:lumOff val="25000"/>
                  </a:schemeClr>
                </a:solidFill>
                <a:latin typeface="+mj-lt"/>
              </a:rPr>
              <a:t>2</a:t>
            </a:r>
            <a:endParaRPr lang="es-AR" altLang="es-AR" sz="1600" b="1" dirty="0">
              <a:solidFill>
                <a:schemeClr val="tx1">
                  <a:lumMod val="75000"/>
                  <a:lumOff val="25000"/>
                </a:schemeClr>
              </a:solidFill>
              <a:latin typeface="+mj-lt"/>
              <a:cs typeface="Tahoma" panose="020B0604030504040204" pitchFamily="34" charset="0"/>
            </a:endParaRPr>
          </a:p>
        </p:txBody>
      </p:sp>
      <p:sp>
        <p:nvSpPr>
          <p:cNvPr id="15408" name="Text Box 48">
            <a:extLst>
              <a:ext uri="{FF2B5EF4-FFF2-40B4-BE49-F238E27FC236}">
                <a16:creationId xmlns:a16="http://schemas.microsoft.com/office/drawing/2014/main" id="{9D602E14-DEFB-45D8-9605-BDBDA24D8F17}"/>
              </a:ext>
            </a:extLst>
          </p:cNvPr>
          <p:cNvSpPr txBox="1">
            <a:spLocks noChangeArrowheads="1"/>
          </p:cNvSpPr>
          <p:nvPr/>
        </p:nvSpPr>
        <p:spPr bwMode="auto">
          <a:xfrm>
            <a:off x="9682163" y="4885839"/>
            <a:ext cx="100806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sz="1600" b="1" dirty="0">
                <a:solidFill>
                  <a:schemeClr val="tx1">
                    <a:lumMod val="75000"/>
                    <a:lumOff val="25000"/>
                  </a:schemeClr>
                </a:solidFill>
                <a:latin typeface="+mj-lt"/>
              </a:rPr>
              <a:t>CI </a:t>
            </a:r>
            <a:r>
              <a:rPr lang="es-AR" altLang="es-AR" sz="1600" b="1" baseline="-25000" dirty="0">
                <a:solidFill>
                  <a:schemeClr val="tx1">
                    <a:lumMod val="75000"/>
                    <a:lumOff val="25000"/>
                  </a:schemeClr>
                </a:solidFill>
                <a:latin typeface="+mj-lt"/>
              </a:rPr>
              <a:t>3</a:t>
            </a:r>
            <a:endParaRPr lang="es-AR" altLang="es-AR" sz="1600" b="1" dirty="0">
              <a:solidFill>
                <a:schemeClr val="tx1">
                  <a:lumMod val="75000"/>
                  <a:lumOff val="25000"/>
                </a:schemeClr>
              </a:solidFill>
              <a:latin typeface="+mj-lt"/>
              <a:cs typeface="Tahoma" panose="020B0604030504040204" pitchFamily="34" charset="0"/>
            </a:endParaRPr>
          </a:p>
        </p:txBody>
      </p:sp>
      <p:sp>
        <p:nvSpPr>
          <p:cNvPr id="15409" name="Text Box 49">
            <a:extLst>
              <a:ext uri="{FF2B5EF4-FFF2-40B4-BE49-F238E27FC236}">
                <a16:creationId xmlns:a16="http://schemas.microsoft.com/office/drawing/2014/main" id="{48039574-53DB-46D0-92DF-F2CB2991E5B8}"/>
              </a:ext>
            </a:extLst>
          </p:cNvPr>
          <p:cNvSpPr txBox="1">
            <a:spLocks noChangeArrowheads="1"/>
          </p:cNvSpPr>
          <p:nvPr/>
        </p:nvSpPr>
        <p:spPr bwMode="auto">
          <a:xfrm>
            <a:off x="926789" y="1788626"/>
            <a:ext cx="440791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spcBef>
                <a:spcPct val="50000"/>
              </a:spcBef>
              <a:defRPr/>
            </a:pPr>
            <a:r>
              <a:rPr lang="es-AR" altLang="es-AR" dirty="0">
                <a:solidFill>
                  <a:schemeClr val="tx1">
                    <a:lumMod val="75000"/>
                    <a:lumOff val="25000"/>
                  </a:schemeClr>
                </a:solidFill>
                <a:effectLst>
                  <a:outerShdw blurRad="38100" dist="38100" dir="2700000" algn="tl">
                    <a:srgbClr val="C0C0C0"/>
                  </a:outerShdw>
                </a:effectLst>
                <a:latin typeface="+mj-lt"/>
              </a:rPr>
              <a:t>Para superar la </a:t>
            </a:r>
            <a:r>
              <a:rPr lang="es-AR" altLang="es-AR" b="1" dirty="0">
                <a:solidFill>
                  <a:schemeClr val="tx1">
                    <a:lumMod val="75000"/>
                    <a:lumOff val="25000"/>
                  </a:schemeClr>
                </a:solidFill>
                <a:effectLst>
                  <a:outerShdw blurRad="38100" dist="38100" dir="2700000" algn="tl">
                    <a:srgbClr val="C0C0C0"/>
                  </a:outerShdw>
                </a:effectLst>
                <a:latin typeface="+mj-lt"/>
              </a:rPr>
              <a:t>capacidad instalada máxima </a:t>
            </a:r>
            <a:r>
              <a:rPr lang="es-AR" altLang="es-AR" dirty="0">
                <a:solidFill>
                  <a:schemeClr val="tx1">
                    <a:lumMod val="75000"/>
                    <a:lumOff val="25000"/>
                  </a:schemeClr>
                </a:solidFill>
                <a:effectLst>
                  <a:outerShdw blurRad="38100" dist="38100" dir="2700000" algn="tl">
                    <a:srgbClr val="C0C0C0"/>
                  </a:outerShdw>
                </a:effectLst>
                <a:latin typeface="+mj-lt"/>
              </a:rPr>
              <a:t>se deben realizar nuevas inversiones, lo que traerá aparejado un incremento en los costos fijos.</a:t>
            </a:r>
            <a:endParaRPr lang="es-ES" altLang="es-AR" dirty="0">
              <a:solidFill>
                <a:schemeClr val="tx1">
                  <a:lumMod val="75000"/>
                  <a:lumOff val="25000"/>
                </a:schemeClr>
              </a:solidFill>
              <a:effectLst>
                <a:outerShdw blurRad="38100" dist="38100" dir="2700000" algn="tl">
                  <a:srgbClr val="C0C0C0"/>
                </a:outerShdw>
              </a:effectLst>
              <a:latin typeface="+mj-lt"/>
            </a:endParaRPr>
          </a:p>
        </p:txBody>
      </p:sp>
      <p:sp>
        <p:nvSpPr>
          <p:cNvPr id="2" name="Marcador de número de diapositiva 1">
            <a:extLst>
              <a:ext uri="{FF2B5EF4-FFF2-40B4-BE49-F238E27FC236}">
                <a16:creationId xmlns:a16="http://schemas.microsoft.com/office/drawing/2014/main" id="{542B825F-739B-4EBA-9FC4-8DBA34A922F1}"/>
              </a:ext>
            </a:extLst>
          </p:cNvPr>
          <p:cNvSpPr>
            <a:spLocks noGrp="1"/>
          </p:cNvSpPr>
          <p:nvPr>
            <p:ph type="sldNum" sz="quarter" idx="12"/>
          </p:nvPr>
        </p:nvSpPr>
        <p:spPr/>
        <p:txBody>
          <a:bodyPr/>
          <a:lstStyle/>
          <a:p>
            <a:fld id="{D57F1E4F-1CFF-5643-939E-217C01CDF565}" type="slidenum">
              <a:rPr lang="en-US" smtClean="0"/>
              <a:pPr/>
              <a:t>16</a:t>
            </a:fld>
            <a:endParaRPr lang="en-US" dirty="0"/>
          </a:p>
        </p:txBody>
      </p:sp>
    </p:spTree>
    <p:extLst>
      <p:ext uri="{BB962C8B-B14F-4D97-AF65-F5344CB8AC3E}">
        <p14:creationId xmlns:p14="http://schemas.microsoft.com/office/powerpoint/2010/main" val="27827053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9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39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39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39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40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40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40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397"/>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154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40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39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407"/>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40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540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539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5405"/>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15409"/>
                                        </p:tgtEl>
                                        <p:attrNameLst>
                                          <p:attrName>style.visibility</p:attrName>
                                        </p:attrNameLst>
                                      </p:cBhvr>
                                      <p:to>
                                        <p:strVal val="visible"/>
                                      </p:to>
                                    </p:set>
                                    <p:animEffect transition="in" filter="blinds(horizontal)">
                                      <p:cBhvr>
                                        <p:cTn id="45" dur="500"/>
                                        <p:tgtEl>
                                          <p:spTgt spid="154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95" grpId="0"/>
      <p:bldP spid="15396" grpId="0"/>
      <p:bldP spid="15403" grpId="0"/>
      <p:bldP spid="15404" grpId="0"/>
      <p:bldP spid="15405" grpId="0"/>
      <p:bldP spid="15406" grpId="0"/>
      <p:bldP spid="15407" grpId="0"/>
      <p:bldP spid="15408" grpId="0"/>
      <p:bldP spid="1540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12" name="Text Box 20">
            <a:extLst>
              <a:ext uri="{FF2B5EF4-FFF2-40B4-BE49-F238E27FC236}">
                <a16:creationId xmlns:a16="http://schemas.microsoft.com/office/drawing/2014/main" id="{D667BE6C-2914-4EA7-BCBA-228ED2B314C1}"/>
              </a:ext>
            </a:extLst>
          </p:cNvPr>
          <p:cNvSpPr txBox="1">
            <a:spLocks noChangeArrowheads="1"/>
          </p:cNvSpPr>
          <p:nvPr/>
        </p:nvSpPr>
        <p:spPr bwMode="auto">
          <a:xfrm>
            <a:off x="1387476" y="185738"/>
            <a:ext cx="78771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latin typeface="+mj-lt"/>
              </a:rPr>
              <a:t>COSTOS SEMI VARIABLES</a:t>
            </a:r>
          </a:p>
        </p:txBody>
      </p:sp>
      <p:sp>
        <p:nvSpPr>
          <p:cNvPr id="8213" name="Text Box 21">
            <a:extLst>
              <a:ext uri="{FF2B5EF4-FFF2-40B4-BE49-F238E27FC236}">
                <a16:creationId xmlns:a16="http://schemas.microsoft.com/office/drawing/2014/main" id="{84F33972-6CF7-4AFD-8328-0149AA52D466}"/>
              </a:ext>
            </a:extLst>
          </p:cNvPr>
          <p:cNvSpPr txBox="1">
            <a:spLocks noChangeArrowheads="1"/>
          </p:cNvSpPr>
          <p:nvPr/>
        </p:nvSpPr>
        <p:spPr bwMode="auto">
          <a:xfrm>
            <a:off x="1387476" y="1397355"/>
            <a:ext cx="9217025"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buFont typeface="Wingdings" panose="05000000000000000000" pitchFamily="2" charset="2"/>
              <a:buNone/>
            </a:pPr>
            <a:r>
              <a:rPr lang="es-AR" altLang="es-AR" sz="2400" dirty="0">
                <a:solidFill>
                  <a:schemeClr val="tx1">
                    <a:lumMod val="75000"/>
                    <a:lumOff val="25000"/>
                  </a:schemeClr>
                </a:solidFill>
                <a:latin typeface="+mj-lt"/>
              </a:rPr>
              <a:t>Son aquellos que poseen un componente fijo y otro variable. </a:t>
            </a:r>
          </a:p>
          <a:p>
            <a:pPr eaLnBrk="1" hangingPunct="1">
              <a:spcBef>
                <a:spcPct val="50000"/>
              </a:spcBef>
              <a:buFont typeface="Wingdings" panose="05000000000000000000" pitchFamily="2" charset="2"/>
              <a:buNone/>
            </a:pPr>
            <a:r>
              <a:rPr lang="es-AR" altLang="es-AR" sz="2400" dirty="0">
                <a:solidFill>
                  <a:schemeClr val="tx1">
                    <a:lumMod val="75000"/>
                    <a:lumOff val="25000"/>
                  </a:schemeClr>
                </a:solidFill>
                <a:latin typeface="+mj-lt"/>
              </a:rPr>
              <a:t>Ejemplo: El salario de los vendedores.</a:t>
            </a:r>
            <a:endParaRPr lang="es-AR" altLang="es-AR" sz="2400" b="1" dirty="0">
              <a:solidFill>
                <a:schemeClr val="tx1">
                  <a:lumMod val="75000"/>
                  <a:lumOff val="25000"/>
                </a:schemeClr>
              </a:solidFill>
              <a:latin typeface="+mj-lt"/>
            </a:endParaRPr>
          </a:p>
        </p:txBody>
      </p:sp>
      <p:sp>
        <p:nvSpPr>
          <p:cNvPr id="8214" name="Line 22">
            <a:extLst>
              <a:ext uri="{FF2B5EF4-FFF2-40B4-BE49-F238E27FC236}">
                <a16:creationId xmlns:a16="http://schemas.microsoft.com/office/drawing/2014/main" id="{0952D921-2294-460D-892B-6227A9B6CA8E}"/>
              </a:ext>
            </a:extLst>
          </p:cNvPr>
          <p:cNvSpPr>
            <a:spLocks noChangeShapeType="1"/>
          </p:cNvSpPr>
          <p:nvPr/>
        </p:nvSpPr>
        <p:spPr bwMode="auto">
          <a:xfrm flipV="1">
            <a:off x="4134358" y="3104580"/>
            <a:ext cx="0" cy="309562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solidFill>
                <a:schemeClr val="tx1">
                  <a:lumMod val="75000"/>
                  <a:lumOff val="25000"/>
                </a:schemeClr>
              </a:solidFill>
              <a:latin typeface="+mj-lt"/>
            </a:endParaRPr>
          </a:p>
        </p:txBody>
      </p:sp>
      <p:sp>
        <p:nvSpPr>
          <p:cNvPr id="8215" name="Line 23">
            <a:extLst>
              <a:ext uri="{FF2B5EF4-FFF2-40B4-BE49-F238E27FC236}">
                <a16:creationId xmlns:a16="http://schemas.microsoft.com/office/drawing/2014/main" id="{CE6671C8-6BAD-4581-82E0-46FA4A49960C}"/>
              </a:ext>
            </a:extLst>
          </p:cNvPr>
          <p:cNvSpPr>
            <a:spLocks noChangeShapeType="1"/>
          </p:cNvSpPr>
          <p:nvPr/>
        </p:nvSpPr>
        <p:spPr bwMode="auto">
          <a:xfrm flipV="1">
            <a:off x="3847021" y="6055741"/>
            <a:ext cx="5256212" cy="158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solidFill>
                <a:schemeClr val="tx1">
                  <a:lumMod val="75000"/>
                  <a:lumOff val="25000"/>
                </a:schemeClr>
              </a:solidFill>
              <a:latin typeface="+mj-lt"/>
            </a:endParaRPr>
          </a:p>
        </p:txBody>
      </p:sp>
      <p:sp>
        <p:nvSpPr>
          <p:cNvPr id="8216" name="Text Box 24">
            <a:extLst>
              <a:ext uri="{FF2B5EF4-FFF2-40B4-BE49-F238E27FC236}">
                <a16:creationId xmlns:a16="http://schemas.microsoft.com/office/drawing/2014/main" id="{0EFA13F4-565A-49A1-8847-C4818AD1A370}"/>
              </a:ext>
            </a:extLst>
          </p:cNvPr>
          <p:cNvSpPr txBox="1">
            <a:spLocks noChangeArrowheads="1"/>
          </p:cNvSpPr>
          <p:nvPr/>
        </p:nvSpPr>
        <p:spPr bwMode="auto">
          <a:xfrm>
            <a:off x="3629534" y="3031554"/>
            <a:ext cx="5048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b="1">
                <a:solidFill>
                  <a:schemeClr val="tx1">
                    <a:lumMod val="75000"/>
                    <a:lumOff val="25000"/>
                  </a:schemeClr>
                </a:solidFill>
                <a:latin typeface="+mj-lt"/>
                <a:cs typeface="Tahoma" panose="020B0604030504040204" pitchFamily="34" charset="0"/>
              </a:rPr>
              <a:t>$</a:t>
            </a:r>
          </a:p>
        </p:txBody>
      </p:sp>
      <p:sp>
        <p:nvSpPr>
          <p:cNvPr id="8217" name="Text Box 25">
            <a:extLst>
              <a:ext uri="{FF2B5EF4-FFF2-40B4-BE49-F238E27FC236}">
                <a16:creationId xmlns:a16="http://schemas.microsoft.com/office/drawing/2014/main" id="{E1E6ACD6-27B6-4540-8C22-EFF161A531F1}"/>
              </a:ext>
            </a:extLst>
          </p:cNvPr>
          <p:cNvSpPr txBox="1">
            <a:spLocks noChangeArrowheads="1"/>
          </p:cNvSpPr>
          <p:nvPr/>
        </p:nvSpPr>
        <p:spPr bwMode="auto">
          <a:xfrm>
            <a:off x="8742871" y="6128767"/>
            <a:ext cx="12239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b="1">
                <a:solidFill>
                  <a:schemeClr val="tx1">
                    <a:lumMod val="75000"/>
                    <a:lumOff val="25000"/>
                  </a:schemeClr>
                </a:solidFill>
                <a:latin typeface="+mj-lt"/>
              </a:rPr>
              <a:t>q (cant.)</a:t>
            </a:r>
            <a:endParaRPr lang="es-ES" altLang="es-AR" b="1">
              <a:solidFill>
                <a:schemeClr val="tx1">
                  <a:lumMod val="75000"/>
                  <a:lumOff val="25000"/>
                </a:schemeClr>
              </a:solidFill>
              <a:latin typeface="+mj-lt"/>
            </a:endParaRPr>
          </a:p>
        </p:txBody>
      </p:sp>
      <p:sp>
        <p:nvSpPr>
          <p:cNvPr id="8218" name="Line 26">
            <a:extLst>
              <a:ext uri="{FF2B5EF4-FFF2-40B4-BE49-F238E27FC236}">
                <a16:creationId xmlns:a16="http://schemas.microsoft.com/office/drawing/2014/main" id="{286423D3-3651-4611-99F6-7486DCE4F7EC}"/>
              </a:ext>
            </a:extLst>
          </p:cNvPr>
          <p:cNvSpPr>
            <a:spLocks noChangeShapeType="1"/>
          </p:cNvSpPr>
          <p:nvPr/>
        </p:nvSpPr>
        <p:spPr bwMode="auto">
          <a:xfrm>
            <a:off x="4134359" y="5119116"/>
            <a:ext cx="1584325" cy="0"/>
          </a:xfrm>
          <a:prstGeom prst="line">
            <a:avLst/>
          </a:prstGeom>
          <a:noFill/>
          <a:ln w="285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solidFill>
                <a:schemeClr val="tx1">
                  <a:lumMod val="75000"/>
                  <a:lumOff val="25000"/>
                </a:schemeClr>
              </a:solidFill>
              <a:latin typeface="+mj-lt"/>
            </a:endParaRPr>
          </a:p>
        </p:txBody>
      </p:sp>
      <p:sp>
        <p:nvSpPr>
          <p:cNvPr id="8219" name="Line 27">
            <a:extLst>
              <a:ext uri="{FF2B5EF4-FFF2-40B4-BE49-F238E27FC236}">
                <a16:creationId xmlns:a16="http://schemas.microsoft.com/office/drawing/2014/main" id="{EF3EA343-3FBA-4B99-86D8-74268A91E223}"/>
              </a:ext>
            </a:extLst>
          </p:cNvPr>
          <p:cNvSpPr>
            <a:spLocks noChangeShapeType="1"/>
          </p:cNvSpPr>
          <p:nvPr/>
        </p:nvSpPr>
        <p:spPr bwMode="auto">
          <a:xfrm flipV="1">
            <a:off x="5718683" y="3176016"/>
            <a:ext cx="2305050" cy="194310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solidFill>
                <a:schemeClr val="tx1">
                  <a:lumMod val="75000"/>
                  <a:lumOff val="25000"/>
                </a:schemeClr>
              </a:solidFill>
              <a:latin typeface="+mj-lt"/>
            </a:endParaRPr>
          </a:p>
        </p:txBody>
      </p:sp>
      <p:sp>
        <p:nvSpPr>
          <p:cNvPr id="8220" name="Text Box 28">
            <a:extLst>
              <a:ext uri="{FF2B5EF4-FFF2-40B4-BE49-F238E27FC236}">
                <a16:creationId xmlns:a16="http://schemas.microsoft.com/office/drawing/2014/main" id="{F970A1CF-8D64-42FA-80A1-9C42EB209F4E}"/>
              </a:ext>
            </a:extLst>
          </p:cNvPr>
          <p:cNvSpPr txBox="1">
            <a:spLocks noChangeArrowheads="1"/>
          </p:cNvSpPr>
          <p:nvPr/>
        </p:nvSpPr>
        <p:spPr bwMode="auto">
          <a:xfrm>
            <a:off x="4566158" y="4687317"/>
            <a:ext cx="863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b="1">
                <a:solidFill>
                  <a:schemeClr val="tx1">
                    <a:lumMod val="75000"/>
                    <a:lumOff val="25000"/>
                  </a:schemeClr>
                </a:solidFill>
                <a:latin typeface="+mj-lt"/>
              </a:rPr>
              <a:t>CF</a:t>
            </a:r>
            <a:endParaRPr lang="es-AR" altLang="es-AR" b="1">
              <a:solidFill>
                <a:schemeClr val="tx1">
                  <a:lumMod val="75000"/>
                  <a:lumOff val="25000"/>
                </a:schemeClr>
              </a:solidFill>
              <a:latin typeface="+mj-lt"/>
              <a:cs typeface="Tahoma" panose="020B0604030504040204" pitchFamily="34" charset="0"/>
            </a:endParaRPr>
          </a:p>
        </p:txBody>
      </p:sp>
      <p:sp>
        <p:nvSpPr>
          <p:cNvPr id="8221" name="Text Box 29">
            <a:extLst>
              <a:ext uri="{FF2B5EF4-FFF2-40B4-BE49-F238E27FC236}">
                <a16:creationId xmlns:a16="http://schemas.microsoft.com/office/drawing/2014/main" id="{16865DC3-BD84-47D2-A63D-34AE17E27CE3}"/>
              </a:ext>
            </a:extLst>
          </p:cNvPr>
          <p:cNvSpPr txBox="1">
            <a:spLocks noChangeArrowheads="1"/>
          </p:cNvSpPr>
          <p:nvPr/>
        </p:nvSpPr>
        <p:spPr bwMode="auto">
          <a:xfrm>
            <a:off x="6223508" y="3607817"/>
            <a:ext cx="863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b="1">
                <a:solidFill>
                  <a:schemeClr val="tx1">
                    <a:lumMod val="75000"/>
                    <a:lumOff val="25000"/>
                  </a:schemeClr>
                </a:solidFill>
                <a:latin typeface="+mj-lt"/>
              </a:rPr>
              <a:t>CV</a:t>
            </a:r>
            <a:endParaRPr lang="es-AR" altLang="es-AR" b="1">
              <a:solidFill>
                <a:schemeClr val="tx1">
                  <a:lumMod val="75000"/>
                  <a:lumOff val="25000"/>
                </a:schemeClr>
              </a:solidFill>
              <a:latin typeface="+mj-lt"/>
              <a:cs typeface="Tahoma" panose="020B0604030504040204" pitchFamily="34" charset="0"/>
            </a:endParaRPr>
          </a:p>
        </p:txBody>
      </p:sp>
      <p:sp>
        <p:nvSpPr>
          <p:cNvPr id="8222" name="Line 30">
            <a:extLst>
              <a:ext uri="{FF2B5EF4-FFF2-40B4-BE49-F238E27FC236}">
                <a16:creationId xmlns:a16="http://schemas.microsoft.com/office/drawing/2014/main" id="{7E0E2B64-4566-4FAB-9F84-627BF0C26CDE}"/>
              </a:ext>
            </a:extLst>
          </p:cNvPr>
          <p:cNvSpPr>
            <a:spLocks noChangeShapeType="1"/>
          </p:cNvSpPr>
          <p:nvPr/>
        </p:nvSpPr>
        <p:spPr bwMode="auto">
          <a:xfrm>
            <a:off x="5718683" y="5119117"/>
            <a:ext cx="0" cy="9366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solidFill>
                <a:schemeClr val="tx1">
                  <a:lumMod val="75000"/>
                  <a:lumOff val="25000"/>
                </a:schemeClr>
              </a:solidFill>
              <a:latin typeface="+mj-lt"/>
            </a:endParaRPr>
          </a:p>
        </p:txBody>
      </p:sp>
      <p:sp>
        <p:nvSpPr>
          <p:cNvPr id="2" name="Marcador de número de diapositiva 1">
            <a:extLst>
              <a:ext uri="{FF2B5EF4-FFF2-40B4-BE49-F238E27FC236}">
                <a16:creationId xmlns:a16="http://schemas.microsoft.com/office/drawing/2014/main" id="{CF4D4158-1078-4508-A5F4-BB7B5161DD76}"/>
              </a:ext>
            </a:extLst>
          </p:cNvPr>
          <p:cNvSpPr>
            <a:spLocks noGrp="1"/>
          </p:cNvSpPr>
          <p:nvPr>
            <p:ph type="sldNum" sz="quarter" idx="12"/>
          </p:nvPr>
        </p:nvSpPr>
        <p:spPr/>
        <p:txBody>
          <a:bodyPr/>
          <a:lstStyle/>
          <a:p>
            <a:fld id="{D57F1E4F-1CFF-5643-939E-217C01CDF565}" type="slidenum">
              <a:rPr lang="en-US" smtClean="0"/>
              <a:pPr/>
              <a:t>17</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21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2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2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2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217"/>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8220"/>
                                        </p:tgtEl>
                                        <p:attrNameLst>
                                          <p:attrName>style.visibility</p:attrName>
                                        </p:attrNameLst>
                                      </p:cBhvr>
                                      <p:to>
                                        <p:strVal val="visible"/>
                                      </p:to>
                                    </p:set>
                                    <p:animEffect transition="in" filter="wipe(left)">
                                      <p:cBhvr>
                                        <p:cTn id="21" dur="3000"/>
                                        <p:tgtEl>
                                          <p:spTgt spid="8220"/>
                                        </p:tgtEl>
                                      </p:cBhvr>
                                    </p:animEffect>
                                  </p:childTnLst>
                                </p:cTn>
                              </p:par>
                              <p:par>
                                <p:cTn id="22" presetID="22" presetClass="entr" presetSubtype="8" fill="hold" nodeType="withEffect">
                                  <p:stCondLst>
                                    <p:cond delay="0"/>
                                  </p:stCondLst>
                                  <p:childTnLst>
                                    <p:set>
                                      <p:cBhvr>
                                        <p:cTn id="23" dur="1" fill="hold">
                                          <p:stCondLst>
                                            <p:cond delay="0"/>
                                          </p:stCondLst>
                                        </p:cTn>
                                        <p:tgtEl>
                                          <p:spTgt spid="8218"/>
                                        </p:tgtEl>
                                        <p:attrNameLst>
                                          <p:attrName>style.visibility</p:attrName>
                                        </p:attrNameLst>
                                      </p:cBhvr>
                                      <p:to>
                                        <p:strVal val="visible"/>
                                      </p:to>
                                    </p:set>
                                    <p:animEffect transition="in" filter="wipe(left)">
                                      <p:cBhvr>
                                        <p:cTn id="24" dur="3000"/>
                                        <p:tgtEl>
                                          <p:spTgt spid="8218"/>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1" fill="hold" nodeType="clickEffect">
                                  <p:stCondLst>
                                    <p:cond delay="0"/>
                                  </p:stCondLst>
                                  <p:childTnLst>
                                    <p:set>
                                      <p:cBhvr>
                                        <p:cTn id="28" dur="1" fill="hold">
                                          <p:stCondLst>
                                            <p:cond delay="0"/>
                                          </p:stCondLst>
                                        </p:cTn>
                                        <p:tgtEl>
                                          <p:spTgt spid="8222"/>
                                        </p:tgtEl>
                                        <p:attrNameLst>
                                          <p:attrName>style.visibility</p:attrName>
                                        </p:attrNameLst>
                                      </p:cBhvr>
                                      <p:to>
                                        <p:strVal val="visible"/>
                                      </p:to>
                                    </p:set>
                                    <p:animEffect transition="in" filter="wipe(up)">
                                      <p:cBhvr>
                                        <p:cTn id="29" dur="2000"/>
                                        <p:tgtEl>
                                          <p:spTgt spid="8222"/>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4" fill="hold" nodeType="clickEffect">
                                  <p:stCondLst>
                                    <p:cond delay="0"/>
                                  </p:stCondLst>
                                  <p:childTnLst>
                                    <p:set>
                                      <p:cBhvr>
                                        <p:cTn id="33" dur="1" fill="hold">
                                          <p:stCondLst>
                                            <p:cond delay="0"/>
                                          </p:stCondLst>
                                        </p:cTn>
                                        <p:tgtEl>
                                          <p:spTgt spid="8219"/>
                                        </p:tgtEl>
                                        <p:attrNameLst>
                                          <p:attrName>style.visibility</p:attrName>
                                        </p:attrNameLst>
                                      </p:cBhvr>
                                      <p:to>
                                        <p:strVal val="visible"/>
                                      </p:to>
                                    </p:set>
                                    <p:animEffect transition="in" filter="wipe(down)">
                                      <p:cBhvr>
                                        <p:cTn id="34" dur="2000"/>
                                        <p:tgtEl>
                                          <p:spTgt spid="8219"/>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8221"/>
                                        </p:tgtEl>
                                        <p:attrNameLst>
                                          <p:attrName>style.visibility</p:attrName>
                                        </p:attrNameLst>
                                      </p:cBhvr>
                                      <p:to>
                                        <p:strVal val="visible"/>
                                      </p:to>
                                    </p:set>
                                    <p:animEffect transition="in" filter="wipe(down)">
                                      <p:cBhvr>
                                        <p:cTn id="37" dur="2000"/>
                                        <p:tgtEl>
                                          <p:spTgt spid="82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13" grpId="0"/>
      <p:bldP spid="8216" grpId="0"/>
      <p:bldP spid="8217" grpId="0"/>
      <p:bldP spid="8220" grpId="0"/>
      <p:bldP spid="822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Text Box 4">
            <a:extLst>
              <a:ext uri="{FF2B5EF4-FFF2-40B4-BE49-F238E27FC236}">
                <a16:creationId xmlns:a16="http://schemas.microsoft.com/office/drawing/2014/main" id="{49D8A6BB-88FC-42EB-BDD2-9918EA6122AF}"/>
              </a:ext>
            </a:extLst>
          </p:cNvPr>
          <p:cNvSpPr txBox="1">
            <a:spLocks noChangeArrowheads="1"/>
          </p:cNvSpPr>
          <p:nvPr/>
        </p:nvSpPr>
        <p:spPr bwMode="auto">
          <a:xfrm>
            <a:off x="1387476" y="185738"/>
            <a:ext cx="78771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latin typeface="+mj-lt"/>
              </a:rPr>
              <a:t>COSTO FIJO UNITARIO</a:t>
            </a:r>
          </a:p>
        </p:txBody>
      </p:sp>
      <p:sp>
        <p:nvSpPr>
          <p:cNvPr id="24581" name="Text Box 5">
            <a:extLst>
              <a:ext uri="{FF2B5EF4-FFF2-40B4-BE49-F238E27FC236}">
                <a16:creationId xmlns:a16="http://schemas.microsoft.com/office/drawing/2014/main" id="{0C5B7A6F-0D8B-4F16-9618-867A469C8841}"/>
              </a:ext>
            </a:extLst>
          </p:cNvPr>
          <p:cNvSpPr txBox="1">
            <a:spLocks noChangeArrowheads="1"/>
          </p:cNvSpPr>
          <p:nvPr/>
        </p:nvSpPr>
        <p:spPr bwMode="auto">
          <a:xfrm>
            <a:off x="1343025" y="1214439"/>
            <a:ext cx="94170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buFont typeface="Wingdings" panose="05000000000000000000" pitchFamily="2" charset="2"/>
              <a:buNone/>
            </a:pPr>
            <a:r>
              <a:rPr lang="es-AR" altLang="es-AR" sz="2000" dirty="0">
                <a:solidFill>
                  <a:schemeClr val="tx1">
                    <a:lumMod val="75000"/>
                    <a:lumOff val="25000"/>
                  </a:schemeClr>
                </a:solidFill>
                <a:latin typeface="+mj-lt"/>
              </a:rPr>
              <a:t>La característica fundamental de los costos fijos es que, sobre una base unitaria, disminuyen su incidencia a medida que aumenta la producción.</a:t>
            </a:r>
            <a:endParaRPr lang="es-AR" altLang="es-AR" sz="2000" b="1" dirty="0">
              <a:solidFill>
                <a:schemeClr val="tx1">
                  <a:lumMod val="75000"/>
                  <a:lumOff val="25000"/>
                </a:schemeClr>
              </a:solidFill>
              <a:latin typeface="+mj-lt"/>
            </a:endParaRPr>
          </a:p>
        </p:txBody>
      </p:sp>
      <p:sp>
        <p:nvSpPr>
          <p:cNvPr id="24582" name="Line 6">
            <a:extLst>
              <a:ext uri="{FF2B5EF4-FFF2-40B4-BE49-F238E27FC236}">
                <a16:creationId xmlns:a16="http://schemas.microsoft.com/office/drawing/2014/main" id="{066E5562-4319-4235-8FAE-333827FF16A3}"/>
              </a:ext>
            </a:extLst>
          </p:cNvPr>
          <p:cNvSpPr>
            <a:spLocks noChangeShapeType="1"/>
          </p:cNvSpPr>
          <p:nvPr/>
        </p:nvSpPr>
        <p:spPr bwMode="auto">
          <a:xfrm flipV="1">
            <a:off x="2927350" y="2486026"/>
            <a:ext cx="0" cy="309562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solidFill>
                <a:schemeClr val="tx1">
                  <a:lumMod val="75000"/>
                  <a:lumOff val="25000"/>
                </a:schemeClr>
              </a:solidFill>
              <a:latin typeface="+mj-lt"/>
            </a:endParaRPr>
          </a:p>
        </p:txBody>
      </p:sp>
      <p:sp>
        <p:nvSpPr>
          <p:cNvPr id="24583" name="Line 7">
            <a:extLst>
              <a:ext uri="{FF2B5EF4-FFF2-40B4-BE49-F238E27FC236}">
                <a16:creationId xmlns:a16="http://schemas.microsoft.com/office/drawing/2014/main" id="{F57ECF2A-B065-4D62-9018-0929B2D96B20}"/>
              </a:ext>
            </a:extLst>
          </p:cNvPr>
          <p:cNvSpPr>
            <a:spLocks noChangeShapeType="1"/>
          </p:cNvSpPr>
          <p:nvPr/>
        </p:nvSpPr>
        <p:spPr bwMode="auto">
          <a:xfrm>
            <a:off x="2640013" y="5438775"/>
            <a:ext cx="424815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solidFill>
                <a:schemeClr val="tx1">
                  <a:lumMod val="75000"/>
                  <a:lumOff val="25000"/>
                </a:schemeClr>
              </a:solidFill>
              <a:latin typeface="+mj-lt"/>
            </a:endParaRPr>
          </a:p>
        </p:txBody>
      </p:sp>
      <p:sp>
        <p:nvSpPr>
          <p:cNvPr id="24584" name="Text Box 8">
            <a:extLst>
              <a:ext uri="{FF2B5EF4-FFF2-40B4-BE49-F238E27FC236}">
                <a16:creationId xmlns:a16="http://schemas.microsoft.com/office/drawing/2014/main" id="{B77452EB-217C-4994-BB84-FD3B487A2D74}"/>
              </a:ext>
            </a:extLst>
          </p:cNvPr>
          <p:cNvSpPr txBox="1">
            <a:spLocks noChangeArrowheads="1"/>
          </p:cNvSpPr>
          <p:nvPr/>
        </p:nvSpPr>
        <p:spPr bwMode="auto">
          <a:xfrm>
            <a:off x="1703388" y="2413001"/>
            <a:ext cx="12239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b="1">
                <a:solidFill>
                  <a:schemeClr val="tx1">
                    <a:lumMod val="75000"/>
                    <a:lumOff val="25000"/>
                  </a:schemeClr>
                </a:solidFill>
                <a:latin typeface="+mj-lt"/>
              </a:rPr>
              <a:t>CFu </a:t>
            </a:r>
            <a:r>
              <a:rPr lang="es-AR" altLang="es-AR" b="1">
                <a:solidFill>
                  <a:schemeClr val="tx1">
                    <a:lumMod val="75000"/>
                    <a:lumOff val="25000"/>
                  </a:schemeClr>
                </a:solidFill>
                <a:latin typeface="+mj-lt"/>
                <a:cs typeface="Tahoma" panose="020B0604030504040204" pitchFamily="34" charset="0"/>
              </a:rPr>
              <a:t>[$]</a:t>
            </a:r>
          </a:p>
        </p:txBody>
      </p:sp>
      <p:sp>
        <p:nvSpPr>
          <p:cNvPr id="24585" name="Text Box 9">
            <a:extLst>
              <a:ext uri="{FF2B5EF4-FFF2-40B4-BE49-F238E27FC236}">
                <a16:creationId xmlns:a16="http://schemas.microsoft.com/office/drawing/2014/main" id="{8635ECDF-C272-4761-BADD-0198A3FBD994}"/>
              </a:ext>
            </a:extLst>
          </p:cNvPr>
          <p:cNvSpPr txBox="1">
            <a:spLocks noChangeArrowheads="1"/>
          </p:cNvSpPr>
          <p:nvPr/>
        </p:nvSpPr>
        <p:spPr bwMode="auto">
          <a:xfrm>
            <a:off x="6527801" y="5510213"/>
            <a:ext cx="12239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b="1">
                <a:solidFill>
                  <a:schemeClr val="tx1">
                    <a:lumMod val="75000"/>
                    <a:lumOff val="25000"/>
                  </a:schemeClr>
                </a:solidFill>
                <a:latin typeface="+mj-lt"/>
              </a:rPr>
              <a:t>q (cant.)</a:t>
            </a:r>
            <a:endParaRPr lang="es-ES" altLang="es-AR" b="1">
              <a:solidFill>
                <a:schemeClr val="tx1">
                  <a:lumMod val="75000"/>
                  <a:lumOff val="25000"/>
                </a:schemeClr>
              </a:solidFill>
              <a:latin typeface="+mj-lt"/>
            </a:endParaRPr>
          </a:p>
        </p:txBody>
      </p:sp>
      <p:sp>
        <p:nvSpPr>
          <p:cNvPr id="24586" name="Arc 10">
            <a:extLst>
              <a:ext uri="{FF2B5EF4-FFF2-40B4-BE49-F238E27FC236}">
                <a16:creationId xmlns:a16="http://schemas.microsoft.com/office/drawing/2014/main" id="{0317183A-B014-4B5E-9895-0D37F84E9FDB}"/>
              </a:ext>
            </a:extLst>
          </p:cNvPr>
          <p:cNvSpPr>
            <a:spLocks/>
          </p:cNvSpPr>
          <p:nvPr/>
        </p:nvSpPr>
        <p:spPr bwMode="auto">
          <a:xfrm rot="10800000">
            <a:off x="3143251" y="2700338"/>
            <a:ext cx="2881313" cy="2520950"/>
          </a:xfrm>
          <a:custGeom>
            <a:avLst/>
            <a:gdLst>
              <a:gd name="T0" fmla="*/ 0 w 21600"/>
              <a:gd name="T1" fmla="*/ 0 h 21600"/>
              <a:gd name="T2" fmla="*/ 2881313 w 21600"/>
              <a:gd name="T3" fmla="*/ 2520950 h 21600"/>
              <a:gd name="T4" fmla="*/ 0 w 21600"/>
              <a:gd name="T5" fmla="*/ 252095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solidFill>
                <a:schemeClr val="tx1">
                  <a:lumMod val="75000"/>
                  <a:lumOff val="25000"/>
                </a:schemeClr>
              </a:solidFill>
              <a:latin typeface="+mj-lt"/>
            </a:endParaRPr>
          </a:p>
        </p:txBody>
      </p:sp>
      <p:sp>
        <p:nvSpPr>
          <p:cNvPr id="24587" name="Line 11">
            <a:extLst>
              <a:ext uri="{FF2B5EF4-FFF2-40B4-BE49-F238E27FC236}">
                <a16:creationId xmlns:a16="http://schemas.microsoft.com/office/drawing/2014/main" id="{3136E3C3-3DBD-45BE-AD08-A168BCE0CB8D}"/>
              </a:ext>
            </a:extLst>
          </p:cNvPr>
          <p:cNvSpPr>
            <a:spLocks noChangeShapeType="1"/>
          </p:cNvSpPr>
          <p:nvPr/>
        </p:nvSpPr>
        <p:spPr bwMode="auto">
          <a:xfrm>
            <a:off x="3517900" y="3940175"/>
            <a:ext cx="0" cy="15113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solidFill>
                <a:schemeClr val="tx1">
                  <a:lumMod val="75000"/>
                  <a:lumOff val="25000"/>
                </a:schemeClr>
              </a:solidFill>
              <a:latin typeface="+mj-lt"/>
            </a:endParaRPr>
          </a:p>
        </p:txBody>
      </p:sp>
      <p:sp>
        <p:nvSpPr>
          <p:cNvPr id="24588" name="Line 12">
            <a:extLst>
              <a:ext uri="{FF2B5EF4-FFF2-40B4-BE49-F238E27FC236}">
                <a16:creationId xmlns:a16="http://schemas.microsoft.com/office/drawing/2014/main" id="{811F5C09-91B6-4018-8A9F-A83C1A890275}"/>
              </a:ext>
            </a:extLst>
          </p:cNvPr>
          <p:cNvSpPr>
            <a:spLocks noChangeShapeType="1"/>
          </p:cNvSpPr>
          <p:nvPr/>
        </p:nvSpPr>
        <p:spPr bwMode="auto">
          <a:xfrm>
            <a:off x="4727575" y="4932364"/>
            <a:ext cx="0" cy="5048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solidFill>
                <a:schemeClr val="tx1">
                  <a:lumMod val="75000"/>
                  <a:lumOff val="25000"/>
                </a:schemeClr>
              </a:solidFill>
              <a:latin typeface="+mj-lt"/>
            </a:endParaRPr>
          </a:p>
        </p:txBody>
      </p:sp>
      <p:sp>
        <p:nvSpPr>
          <p:cNvPr id="24589" name="Text Box 13">
            <a:extLst>
              <a:ext uri="{FF2B5EF4-FFF2-40B4-BE49-F238E27FC236}">
                <a16:creationId xmlns:a16="http://schemas.microsoft.com/office/drawing/2014/main" id="{46D3426E-6CFB-4E53-AE36-8E28D7814E01}"/>
              </a:ext>
            </a:extLst>
          </p:cNvPr>
          <p:cNvSpPr txBox="1">
            <a:spLocks noChangeArrowheads="1"/>
          </p:cNvSpPr>
          <p:nvPr/>
        </p:nvSpPr>
        <p:spPr bwMode="auto">
          <a:xfrm>
            <a:off x="3071813" y="5508626"/>
            <a:ext cx="10080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b="1">
                <a:solidFill>
                  <a:schemeClr val="tx1">
                    <a:lumMod val="75000"/>
                    <a:lumOff val="25000"/>
                  </a:schemeClr>
                </a:solidFill>
                <a:latin typeface="+mj-lt"/>
              </a:rPr>
              <a:t>q </a:t>
            </a:r>
            <a:r>
              <a:rPr lang="es-AR" altLang="es-AR" b="1" baseline="-25000">
                <a:solidFill>
                  <a:schemeClr val="tx1">
                    <a:lumMod val="75000"/>
                    <a:lumOff val="25000"/>
                  </a:schemeClr>
                </a:solidFill>
                <a:latin typeface="+mj-lt"/>
              </a:rPr>
              <a:t>2</a:t>
            </a:r>
            <a:endParaRPr lang="es-AR" altLang="es-AR" b="1">
              <a:solidFill>
                <a:schemeClr val="tx1">
                  <a:lumMod val="75000"/>
                  <a:lumOff val="25000"/>
                </a:schemeClr>
              </a:solidFill>
              <a:latin typeface="+mj-lt"/>
              <a:cs typeface="Tahoma" panose="020B0604030504040204" pitchFamily="34" charset="0"/>
            </a:endParaRPr>
          </a:p>
        </p:txBody>
      </p:sp>
      <p:sp>
        <p:nvSpPr>
          <p:cNvPr id="24590" name="Text Box 14">
            <a:extLst>
              <a:ext uri="{FF2B5EF4-FFF2-40B4-BE49-F238E27FC236}">
                <a16:creationId xmlns:a16="http://schemas.microsoft.com/office/drawing/2014/main" id="{9CE7AD3B-153F-41E5-B634-9B671CA84F86}"/>
              </a:ext>
            </a:extLst>
          </p:cNvPr>
          <p:cNvSpPr txBox="1">
            <a:spLocks noChangeArrowheads="1"/>
          </p:cNvSpPr>
          <p:nvPr/>
        </p:nvSpPr>
        <p:spPr bwMode="auto">
          <a:xfrm>
            <a:off x="4295776" y="5508626"/>
            <a:ext cx="10080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b="1">
                <a:solidFill>
                  <a:schemeClr val="tx1">
                    <a:lumMod val="75000"/>
                    <a:lumOff val="25000"/>
                  </a:schemeClr>
                </a:solidFill>
                <a:latin typeface="+mj-lt"/>
              </a:rPr>
              <a:t>q </a:t>
            </a:r>
            <a:r>
              <a:rPr lang="es-AR" altLang="es-AR" b="1" baseline="-25000">
                <a:solidFill>
                  <a:schemeClr val="tx1">
                    <a:lumMod val="75000"/>
                    <a:lumOff val="25000"/>
                  </a:schemeClr>
                </a:solidFill>
                <a:latin typeface="+mj-lt"/>
              </a:rPr>
              <a:t>1</a:t>
            </a:r>
            <a:endParaRPr lang="es-AR" altLang="es-AR" b="1">
              <a:solidFill>
                <a:schemeClr val="tx1">
                  <a:lumMod val="75000"/>
                  <a:lumOff val="25000"/>
                </a:schemeClr>
              </a:solidFill>
              <a:latin typeface="+mj-lt"/>
              <a:cs typeface="Tahoma" panose="020B0604030504040204" pitchFamily="34" charset="0"/>
            </a:endParaRPr>
          </a:p>
        </p:txBody>
      </p:sp>
      <p:sp>
        <p:nvSpPr>
          <p:cNvPr id="24591" name="Text Box 15">
            <a:extLst>
              <a:ext uri="{FF2B5EF4-FFF2-40B4-BE49-F238E27FC236}">
                <a16:creationId xmlns:a16="http://schemas.microsoft.com/office/drawing/2014/main" id="{D6D9891B-2D8B-492C-8D9E-661BC71AB485}"/>
              </a:ext>
            </a:extLst>
          </p:cNvPr>
          <p:cNvSpPr txBox="1">
            <a:spLocks noChangeArrowheads="1"/>
          </p:cNvSpPr>
          <p:nvPr/>
        </p:nvSpPr>
        <p:spPr bwMode="auto">
          <a:xfrm>
            <a:off x="6311901" y="2987675"/>
            <a:ext cx="4608513" cy="2014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lang="es-AR" altLang="es-AR" dirty="0">
                <a:solidFill>
                  <a:schemeClr val="tx1">
                    <a:lumMod val="75000"/>
                    <a:lumOff val="25000"/>
                  </a:schemeClr>
                </a:solidFill>
                <a:effectLst>
                  <a:outerShdw blurRad="38100" dist="38100" dir="2700000" algn="tl">
                    <a:srgbClr val="C0C0C0"/>
                  </a:outerShdw>
                </a:effectLst>
                <a:latin typeface="+mj-lt"/>
              </a:rPr>
              <a:t>Cuando en épocas de recesión, la empresa se ve obligada a reducir sus ventas normales de q</a:t>
            </a:r>
            <a:r>
              <a:rPr lang="es-AR" altLang="es-AR" baseline="-25000" dirty="0">
                <a:solidFill>
                  <a:schemeClr val="tx1">
                    <a:lumMod val="75000"/>
                    <a:lumOff val="25000"/>
                  </a:schemeClr>
                </a:solidFill>
                <a:effectLst>
                  <a:outerShdw blurRad="38100" dist="38100" dir="2700000" algn="tl">
                    <a:srgbClr val="C0C0C0"/>
                  </a:outerShdw>
                </a:effectLst>
                <a:latin typeface="+mj-lt"/>
              </a:rPr>
              <a:t>1</a:t>
            </a:r>
            <a:r>
              <a:rPr lang="es-AR" altLang="es-AR" dirty="0">
                <a:solidFill>
                  <a:schemeClr val="tx1">
                    <a:lumMod val="75000"/>
                    <a:lumOff val="25000"/>
                  </a:schemeClr>
                </a:solidFill>
                <a:effectLst>
                  <a:outerShdw blurRad="38100" dist="38100" dir="2700000" algn="tl">
                    <a:srgbClr val="C0C0C0"/>
                  </a:outerShdw>
                </a:effectLst>
                <a:latin typeface="+mj-lt"/>
              </a:rPr>
              <a:t> a q</a:t>
            </a:r>
            <a:r>
              <a:rPr lang="es-AR" altLang="es-AR" baseline="-25000" dirty="0">
                <a:solidFill>
                  <a:schemeClr val="tx1">
                    <a:lumMod val="75000"/>
                    <a:lumOff val="25000"/>
                  </a:schemeClr>
                </a:solidFill>
                <a:effectLst>
                  <a:outerShdw blurRad="38100" dist="38100" dir="2700000" algn="tl">
                    <a:srgbClr val="C0C0C0"/>
                  </a:outerShdw>
                </a:effectLst>
                <a:latin typeface="+mj-lt"/>
              </a:rPr>
              <a:t>2 </a:t>
            </a:r>
            <a:r>
              <a:rPr lang="es-AR" altLang="es-AR" dirty="0">
                <a:solidFill>
                  <a:schemeClr val="tx1">
                    <a:lumMod val="75000"/>
                    <a:lumOff val="25000"/>
                  </a:schemeClr>
                </a:solidFill>
                <a:effectLst>
                  <a:outerShdw blurRad="38100" dist="38100" dir="2700000" algn="tl">
                    <a:srgbClr val="C0C0C0"/>
                  </a:outerShdw>
                </a:effectLst>
                <a:latin typeface="+mj-lt"/>
              </a:rPr>
              <a:t>el costo fijo por unidad producida resulta mayor. Aquí radica la importancia de reducir los costos fijos a tiempo con una producción debidamente planificada.</a:t>
            </a:r>
            <a:endParaRPr lang="es-ES" altLang="es-AR" dirty="0">
              <a:solidFill>
                <a:schemeClr val="tx1">
                  <a:lumMod val="75000"/>
                  <a:lumOff val="25000"/>
                </a:schemeClr>
              </a:solidFill>
              <a:effectLst>
                <a:outerShdw blurRad="38100" dist="38100" dir="2700000" algn="tl">
                  <a:srgbClr val="C0C0C0"/>
                </a:outerShdw>
              </a:effectLst>
              <a:latin typeface="+mj-lt"/>
            </a:endParaRPr>
          </a:p>
        </p:txBody>
      </p:sp>
      <p:sp>
        <p:nvSpPr>
          <p:cNvPr id="24592" name="Text Box 16">
            <a:extLst>
              <a:ext uri="{FF2B5EF4-FFF2-40B4-BE49-F238E27FC236}">
                <a16:creationId xmlns:a16="http://schemas.microsoft.com/office/drawing/2014/main" id="{B619D49A-2B7A-4A79-B19C-D609E2055FF5}"/>
              </a:ext>
            </a:extLst>
          </p:cNvPr>
          <p:cNvSpPr txBox="1">
            <a:spLocks noChangeArrowheads="1"/>
          </p:cNvSpPr>
          <p:nvPr/>
        </p:nvSpPr>
        <p:spPr bwMode="auto">
          <a:xfrm>
            <a:off x="6383339" y="2222500"/>
            <a:ext cx="2592387" cy="406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2000" b="1" dirty="0" err="1">
                <a:solidFill>
                  <a:schemeClr val="tx1">
                    <a:lumMod val="75000"/>
                    <a:lumOff val="25000"/>
                  </a:schemeClr>
                </a:solidFill>
                <a:latin typeface="+mj-lt"/>
              </a:rPr>
              <a:t>CFu</a:t>
            </a:r>
            <a:r>
              <a:rPr lang="es-AR" altLang="es-AR" sz="2000" b="1" dirty="0">
                <a:solidFill>
                  <a:schemeClr val="tx1">
                    <a:lumMod val="75000"/>
                    <a:lumOff val="25000"/>
                  </a:schemeClr>
                </a:solidFill>
                <a:latin typeface="+mj-lt"/>
              </a:rPr>
              <a:t> = CF total / q</a:t>
            </a:r>
            <a:endParaRPr lang="es-ES" altLang="es-AR" sz="2000" b="1" dirty="0">
              <a:solidFill>
                <a:schemeClr val="tx1">
                  <a:lumMod val="75000"/>
                  <a:lumOff val="25000"/>
                </a:schemeClr>
              </a:solidFill>
              <a:latin typeface="+mj-lt"/>
            </a:endParaRPr>
          </a:p>
        </p:txBody>
      </p:sp>
      <p:sp>
        <p:nvSpPr>
          <p:cNvPr id="2" name="Marcador de número de diapositiva 1">
            <a:extLst>
              <a:ext uri="{FF2B5EF4-FFF2-40B4-BE49-F238E27FC236}">
                <a16:creationId xmlns:a16="http://schemas.microsoft.com/office/drawing/2014/main" id="{6B68A260-5E6D-421C-A3E4-1FB6C27446B3}"/>
              </a:ext>
            </a:extLst>
          </p:cNvPr>
          <p:cNvSpPr>
            <a:spLocks noGrp="1"/>
          </p:cNvSpPr>
          <p:nvPr>
            <p:ph type="sldNum" sz="quarter" idx="12"/>
          </p:nvPr>
        </p:nvSpPr>
        <p:spPr/>
        <p:txBody>
          <a:bodyPr/>
          <a:lstStyle/>
          <a:p>
            <a:fld id="{D57F1E4F-1CFF-5643-939E-217C01CDF565}" type="slidenum">
              <a:rPr lang="en-US" smtClean="0"/>
              <a:pPr/>
              <a:t>18</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58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458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58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58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584"/>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24589"/>
                                        </p:tgtEl>
                                        <p:attrNameLst>
                                          <p:attrName>style.visibility</p:attrName>
                                        </p:attrNameLst>
                                      </p:cBhvr>
                                      <p:to>
                                        <p:strVal val="visible"/>
                                      </p:to>
                                    </p:set>
                                    <p:animEffect transition="in" filter="wipe(down)">
                                      <p:cBhvr>
                                        <p:cTn id="21" dur="500"/>
                                        <p:tgtEl>
                                          <p:spTgt spid="24589"/>
                                        </p:tgtEl>
                                      </p:cBhvr>
                                    </p:animEffect>
                                  </p:childTnLst>
                                </p:cTn>
                              </p:par>
                              <p:par>
                                <p:cTn id="22" presetID="22" presetClass="entr" presetSubtype="4" fill="hold" nodeType="withEffect">
                                  <p:stCondLst>
                                    <p:cond delay="0"/>
                                  </p:stCondLst>
                                  <p:childTnLst>
                                    <p:set>
                                      <p:cBhvr>
                                        <p:cTn id="23" dur="1" fill="hold">
                                          <p:stCondLst>
                                            <p:cond delay="0"/>
                                          </p:stCondLst>
                                        </p:cTn>
                                        <p:tgtEl>
                                          <p:spTgt spid="24587"/>
                                        </p:tgtEl>
                                        <p:attrNameLst>
                                          <p:attrName>style.visibility</p:attrName>
                                        </p:attrNameLst>
                                      </p:cBhvr>
                                      <p:to>
                                        <p:strVal val="visible"/>
                                      </p:to>
                                    </p:set>
                                    <p:animEffect transition="in" filter="wipe(down)">
                                      <p:cBhvr>
                                        <p:cTn id="24" dur="500"/>
                                        <p:tgtEl>
                                          <p:spTgt spid="24587"/>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4" fill="hold" nodeType="clickEffect">
                                  <p:stCondLst>
                                    <p:cond delay="0"/>
                                  </p:stCondLst>
                                  <p:childTnLst>
                                    <p:set>
                                      <p:cBhvr>
                                        <p:cTn id="28" dur="1" fill="hold">
                                          <p:stCondLst>
                                            <p:cond delay="0"/>
                                          </p:stCondLst>
                                        </p:cTn>
                                        <p:tgtEl>
                                          <p:spTgt spid="24588"/>
                                        </p:tgtEl>
                                        <p:attrNameLst>
                                          <p:attrName>style.visibility</p:attrName>
                                        </p:attrNameLst>
                                      </p:cBhvr>
                                      <p:to>
                                        <p:strVal val="visible"/>
                                      </p:to>
                                    </p:set>
                                    <p:animEffect transition="in" filter="wipe(down)">
                                      <p:cBhvr>
                                        <p:cTn id="29" dur="500"/>
                                        <p:tgtEl>
                                          <p:spTgt spid="24588"/>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24590"/>
                                        </p:tgtEl>
                                        <p:attrNameLst>
                                          <p:attrName>style.visibility</p:attrName>
                                        </p:attrNameLst>
                                      </p:cBhvr>
                                      <p:to>
                                        <p:strVal val="visible"/>
                                      </p:to>
                                    </p:set>
                                    <p:animEffect transition="in" filter="wipe(down)">
                                      <p:cBhvr>
                                        <p:cTn id="32" dur="500"/>
                                        <p:tgtEl>
                                          <p:spTgt spid="2459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24586"/>
                                        </p:tgtEl>
                                        <p:attrNameLst>
                                          <p:attrName>style.visibility</p:attrName>
                                        </p:attrNameLst>
                                      </p:cBhvr>
                                      <p:to>
                                        <p:strVal val="visible"/>
                                      </p:to>
                                    </p:set>
                                    <p:animEffect transition="in" filter="wipe(up)">
                                      <p:cBhvr>
                                        <p:cTn id="37" dur="3000"/>
                                        <p:tgtEl>
                                          <p:spTgt spid="2458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4592"/>
                                        </p:tgtEl>
                                        <p:attrNameLst>
                                          <p:attrName>style.visibility</p:attrName>
                                        </p:attrNameLst>
                                      </p:cBhvr>
                                      <p:to>
                                        <p:strVal val="visible"/>
                                      </p:to>
                                    </p:set>
                                    <p:animEffect transition="in" filter="blinds(horizontal)">
                                      <p:cBhvr>
                                        <p:cTn id="42" dur="500"/>
                                        <p:tgtEl>
                                          <p:spTgt spid="2459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4591"/>
                                        </p:tgtEl>
                                        <p:attrNameLst>
                                          <p:attrName>style.visibility</p:attrName>
                                        </p:attrNameLst>
                                      </p:cBhvr>
                                      <p:to>
                                        <p:strVal val="visible"/>
                                      </p:to>
                                    </p:set>
                                    <p:animEffect transition="in" filter="blinds(horizontal)">
                                      <p:cBhvr>
                                        <p:cTn id="47" dur="500"/>
                                        <p:tgtEl>
                                          <p:spTgt spid="245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1" grpId="0"/>
      <p:bldP spid="24584" grpId="0"/>
      <p:bldP spid="24585" grpId="0"/>
      <p:bldP spid="24589" grpId="0"/>
      <p:bldP spid="24590" grpId="0"/>
      <p:bldP spid="24591" grpId="0"/>
      <p:bldP spid="2459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Text Box 4">
            <a:extLst>
              <a:ext uri="{FF2B5EF4-FFF2-40B4-BE49-F238E27FC236}">
                <a16:creationId xmlns:a16="http://schemas.microsoft.com/office/drawing/2014/main" id="{63CB3D03-2BC2-47CD-9FCD-0798F8890582}"/>
              </a:ext>
            </a:extLst>
          </p:cNvPr>
          <p:cNvSpPr txBox="1">
            <a:spLocks noChangeArrowheads="1"/>
          </p:cNvSpPr>
          <p:nvPr/>
        </p:nvSpPr>
        <p:spPr bwMode="auto">
          <a:xfrm>
            <a:off x="1387476" y="185738"/>
            <a:ext cx="78771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latin typeface="+mj-lt"/>
              </a:rPr>
              <a:t>COSTOS TOTALES</a:t>
            </a:r>
          </a:p>
        </p:txBody>
      </p:sp>
      <p:sp>
        <p:nvSpPr>
          <p:cNvPr id="25605" name="Line 5">
            <a:extLst>
              <a:ext uri="{FF2B5EF4-FFF2-40B4-BE49-F238E27FC236}">
                <a16:creationId xmlns:a16="http://schemas.microsoft.com/office/drawing/2014/main" id="{C30DAADE-6434-4401-AD0C-68358A761982}"/>
              </a:ext>
            </a:extLst>
          </p:cNvPr>
          <p:cNvSpPr>
            <a:spLocks noChangeShapeType="1"/>
          </p:cNvSpPr>
          <p:nvPr/>
        </p:nvSpPr>
        <p:spPr bwMode="auto">
          <a:xfrm flipV="1">
            <a:off x="6527800" y="2373314"/>
            <a:ext cx="0" cy="309562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latin typeface="+mj-lt"/>
            </a:endParaRPr>
          </a:p>
        </p:txBody>
      </p:sp>
      <p:sp>
        <p:nvSpPr>
          <p:cNvPr id="25606" name="Line 6">
            <a:extLst>
              <a:ext uri="{FF2B5EF4-FFF2-40B4-BE49-F238E27FC236}">
                <a16:creationId xmlns:a16="http://schemas.microsoft.com/office/drawing/2014/main" id="{502899D1-DC93-44B5-8B47-07EE6790EEEA}"/>
              </a:ext>
            </a:extLst>
          </p:cNvPr>
          <p:cNvSpPr>
            <a:spLocks noChangeShapeType="1"/>
          </p:cNvSpPr>
          <p:nvPr/>
        </p:nvSpPr>
        <p:spPr bwMode="auto">
          <a:xfrm>
            <a:off x="6240463" y="5326063"/>
            <a:ext cx="424815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latin typeface="+mj-lt"/>
            </a:endParaRPr>
          </a:p>
        </p:txBody>
      </p:sp>
      <p:sp>
        <p:nvSpPr>
          <p:cNvPr id="25607" name="Text Box 7">
            <a:extLst>
              <a:ext uri="{FF2B5EF4-FFF2-40B4-BE49-F238E27FC236}">
                <a16:creationId xmlns:a16="http://schemas.microsoft.com/office/drawing/2014/main" id="{B3682498-D921-4EAF-8EBC-0D10A454DB1A}"/>
              </a:ext>
            </a:extLst>
          </p:cNvPr>
          <p:cNvSpPr txBox="1">
            <a:spLocks noChangeArrowheads="1"/>
          </p:cNvSpPr>
          <p:nvPr/>
        </p:nvSpPr>
        <p:spPr bwMode="auto">
          <a:xfrm>
            <a:off x="6096000" y="2079626"/>
            <a:ext cx="431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b="1" dirty="0">
                <a:solidFill>
                  <a:schemeClr val="tx1">
                    <a:lumMod val="75000"/>
                    <a:lumOff val="25000"/>
                  </a:schemeClr>
                </a:solidFill>
                <a:latin typeface="+mj-lt"/>
              </a:rPr>
              <a:t>$</a:t>
            </a:r>
            <a:endParaRPr lang="es-AR" altLang="es-AR" b="1" dirty="0">
              <a:solidFill>
                <a:schemeClr val="tx1">
                  <a:lumMod val="75000"/>
                  <a:lumOff val="25000"/>
                </a:schemeClr>
              </a:solidFill>
              <a:latin typeface="+mj-lt"/>
              <a:cs typeface="Tahoma" panose="020B0604030504040204" pitchFamily="34" charset="0"/>
            </a:endParaRPr>
          </a:p>
        </p:txBody>
      </p:sp>
      <p:sp>
        <p:nvSpPr>
          <p:cNvPr id="25608" name="Line 8">
            <a:extLst>
              <a:ext uri="{FF2B5EF4-FFF2-40B4-BE49-F238E27FC236}">
                <a16:creationId xmlns:a16="http://schemas.microsoft.com/office/drawing/2014/main" id="{EBD2A76C-1761-4D60-B1A0-69A87592A1D9}"/>
              </a:ext>
            </a:extLst>
          </p:cNvPr>
          <p:cNvSpPr>
            <a:spLocks noChangeShapeType="1"/>
          </p:cNvSpPr>
          <p:nvPr/>
        </p:nvSpPr>
        <p:spPr bwMode="auto">
          <a:xfrm flipV="1">
            <a:off x="1687513" y="2373314"/>
            <a:ext cx="0" cy="309562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latin typeface="+mj-lt"/>
            </a:endParaRPr>
          </a:p>
        </p:txBody>
      </p:sp>
      <p:sp>
        <p:nvSpPr>
          <p:cNvPr id="25609" name="Line 9">
            <a:extLst>
              <a:ext uri="{FF2B5EF4-FFF2-40B4-BE49-F238E27FC236}">
                <a16:creationId xmlns:a16="http://schemas.microsoft.com/office/drawing/2014/main" id="{3F10FE25-50CF-424C-9803-FABE3BC088BB}"/>
              </a:ext>
            </a:extLst>
          </p:cNvPr>
          <p:cNvSpPr>
            <a:spLocks noChangeShapeType="1"/>
          </p:cNvSpPr>
          <p:nvPr/>
        </p:nvSpPr>
        <p:spPr bwMode="auto">
          <a:xfrm>
            <a:off x="1487488" y="5326063"/>
            <a:ext cx="424815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latin typeface="+mj-lt"/>
            </a:endParaRPr>
          </a:p>
        </p:txBody>
      </p:sp>
      <p:sp>
        <p:nvSpPr>
          <p:cNvPr id="25610" name="Text Box 10">
            <a:extLst>
              <a:ext uri="{FF2B5EF4-FFF2-40B4-BE49-F238E27FC236}">
                <a16:creationId xmlns:a16="http://schemas.microsoft.com/office/drawing/2014/main" id="{A9AF2E65-A4D3-44C6-968C-272CEF63DE1C}"/>
              </a:ext>
            </a:extLst>
          </p:cNvPr>
          <p:cNvSpPr txBox="1">
            <a:spLocks noChangeArrowheads="1"/>
          </p:cNvSpPr>
          <p:nvPr/>
        </p:nvSpPr>
        <p:spPr bwMode="auto">
          <a:xfrm>
            <a:off x="1271589" y="2085976"/>
            <a:ext cx="4159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b="1" dirty="0">
                <a:solidFill>
                  <a:schemeClr val="tx1">
                    <a:lumMod val="75000"/>
                    <a:lumOff val="25000"/>
                  </a:schemeClr>
                </a:solidFill>
                <a:latin typeface="+mj-lt"/>
              </a:rPr>
              <a:t>$</a:t>
            </a:r>
            <a:endParaRPr lang="es-AR" altLang="es-AR" b="1" dirty="0">
              <a:solidFill>
                <a:schemeClr val="tx1">
                  <a:lumMod val="75000"/>
                  <a:lumOff val="25000"/>
                </a:schemeClr>
              </a:solidFill>
              <a:latin typeface="+mj-lt"/>
              <a:cs typeface="Tahoma" panose="020B0604030504040204" pitchFamily="34" charset="0"/>
            </a:endParaRPr>
          </a:p>
        </p:txBody>
      </p:sp>
      <p:sp>
        <p:nvSpPr>
          <p:cNvPr id="25611" name="Text Box 11">
            <a:extLst>
              <a:ext uri="{FF2B5EF4-FFF2-40B4-BE49-F238E27FC236}">
                <a16:creationId xmlns:a16="http://schemas.microsoft.com/office/drawing/2014/main" id="{DD06E15C-39A4-4583-A471-31A605AC1630}"/>
              </a:ext>
            </a:extLst>
          </p:cNvPr>
          <p:cNvSpPr txBox="1">
            <a:spLocks noChangeArrowheads="1"/>
          </p:cNvSpPr>
          <p:nvPr/>
        </p:nvSpPr>
        <p:spPr bwMode="auto">
          <a:xfrm>
            <a:off x="1398589" y="5397500"/>
            <a:ext cx="46815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600" b="1" dirty="0">
                <a:solidFill>
                  <a:schemeClr val="tx1">
                    <a:lumMod val="75000"/>
                    <a:lumOff val="25000"/>
                  </a:schemeClr>
                </a:solidFill>
                <a:latin typeface="+mj-lt"/>
              </a:rPr>
              <a:t>                                                                      q</a:t>
            </a:r>
            <a:endParaRPr lang="es-ES" altLang="es-AR" sz="1600" b="1" dirty="0">
              <a:solidFill>
                <a:schemeClr val="tx1">
                  <a:lumMod val="75000"/>
                  <a:lumOff val="25000"/>
                </a:schemeClr>
              </a:solidFill>
              <a:latin typeface="+mj-lt"/>
            </a:endParaRPr>
          </a:p>
        </p:txBody>
      </p:sp>
      <p:sp>
        <p:nvSpPr>
          <p:cNvPr id="25612" name="Line 12">
            <a:extLst>
              <a:ext uri="{FF2B5EF4-FFF2-40B4-BE49-F238E27FC236}">
                <a16:creationId xmlns:a16="http://schemas.microsoft.com/office/drawing/2014/main" id="{3EC71A5B-C4D3-4927-955F-8A9604C229CC}"/>
              </a:ext>
            </a:extLst>
          </p:cNvPr>
          <p:cNvSpPr>
            <a:spLocks noChangeShapeType="1"/>
          </p:cNvSpPr>
          <p:nvPr/>
        </p:nvSpPr>
        <p:spPr bwMode="auto">
          <a:xfrm>
            <a:off x="1687514" y="4246563"/>
            <a:ext cx="3887787" cy="0"/>
          </a:xfrm>
          <a:prstGeom prst="line">
            <a:avLst/>
          </a:prstGeom>
          <a:noFill/>
          <a:ln w="285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latin typeface="+mj-lt"/>
            </a:endParaRPr>
          </a:p>
        </p:txBody>
      </p:sp>
      <p:sp>
        <p:nvSpPr>
          <p:cNvPr id="25613" name="Text Box 13">
            <a:extLst>
              <a:ext uri="{FF2B5EF4-FFF2-40B4-BE49-F238E27FC236}">
                <a16:creationId xmlns:a16="http://schemas.microsoft.com/office/drawing/2014/main" id="{20E58864-BF1F-45CA-AA12-7ED0DC4A0349}"/>
              </a:ext>
            </a:extLst>
          </p:cNvPr>
          <p:cNvSpPr txBox="1">
            <a:spLocks noChangeArrowheads="1"/>
          </p:cNvSpPr>
          <p:nvPr/>
        </p:nvSpPr>
        <p:spPr bwMode="auto">
          <a:xfrm>
            <a:off x="4800600" y="3933825"/>
            <a:ext cx="14684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a:solidFill>
                  <a:schemeClr val="hlink"/>
                </a:solidFill>
                <a:latin typeface="+mj-lt"/>
              </a:rPr>
              <a:t>CFT</a:t>
            </a:r>
            <a:endParaRPr lang="es-AR" altLang="es-AR" sz="1400" b="1">
              <a:solidFill>
                <a:schemeClr val="hlink"/>
              </a:solidFill>
              <a:latin typeface="+mj-lt"/>
              <a:cs typeface="Tahoma" panose="020B0604030504040204" pitchFamily="34" charset="0"/>
            </a:endParaRPr>
          </a:p>
        </p:txBody>
      </p:sp>
      <p:sp>
        <p:nvSpPr>
          <p:cNvPr id="25614" name="Line 14">
            <a:extLst>
              <a:ext uri="{FF2B5EF4-FFF2-40B4-BE49-F238E27FC236}">
                <a16:creationId xmlns:a16="http://schemas.microsoft.com/office/drawing/2014/main" id="{1D4F521D-8D73-411D-AA19-27E405E5D098}"/>
              </a:ext>
            </a:extLst>
          </p:cNvPr>
          <p:cNvSpPr>
            <a:spLocks noChangeShapeType="1"/>
          </p:cNvSpPr>
          <p:nvPr/>
        </p:nvSpPr>
        <p:spPr bwMode="auto">
          <a:xfrm flipV="1">
            <a:off x="1687513" y="2662239"/>
            <a:ext cx="3168650" cy="2663825"/>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latin typeface="+mj-lt"/>
            </a:endParaRPr>
          </a:p>
        </p:txBody>
      </p:sp>
      <p:sp>
        <p:nvSpPr>
          <p:cNvPr id="25615" name="Arc 15">
            <a:extLst>
              <a:ext uri="{FF2B5EF4-FFF2-40B4-BE49-F238E27FC236}">
                <a16:creationId xmlns:a16="http://schemas.microsoft.com/office/drawing/2014/main" id="{90BE6A95-66B2-48F3-A2CD-6E27019AFC6E}"/>
              </a:ext>
            </a:extLst>
          </p:cNvPr>
          <p:cNvSpPr>
            <a:spLocks/>
          </p:cNvSpPr>
          <p:nvPr/>
        </p:nvSpPr>
        <p:spPr bwMode="auto">
          <a:xfrm>
            <a:off x="2135188" y="4965700"/>
            <a:ext cx="215900" cy="361950"/>
          </a:xfrm>
          <a:custGeom>
            <a:avLst/>
            <a:gdLst>
              <a:gd name="T0" fmla="*/ 0 w 21600"/>
              <a:gd name="T1" fmla="*/ 0 h 39815"/>
              <a:gd name="T2" fmla="*/ 116036 w 21600"/>
              <a:gd name="T3" fmla="*/ 361950 h 39815"/>
              <a:gd name="T4" fmla="*/ 0 w 21600"/>
              <a:gd name="T5" fmla="*/ 196361 h 39815"/>
              <a:gd name="T6" fmla="*/ 0 60000 65536"/>
              <a:gd name="T7" fmla="*/ 0 60000 65536"/>
              <a:gd name="T8" fmla="*/ 0 60000 65536"/>
            </a:gdLst>
            <a:ahLst/>
            <a:cxnLst>
              <a:cxn ang="T6">
                <a:pos x="T0" y="T1"/>
              </a:cxn>
              <a:cxn ang="T7">
                <a:pos x="T2" y="T3"/>
              </a:cxn>
              <a:cxn ang="T8">
                <a:pos x="T4" y="T5"/>
              </a:cxn>
            </a:cxnLst>
            <a:rect l="0" t="0" r="r" b="b"/>
            <a:pathLst>
              <a:path w="21600" h="39815" fill="none" extrusionOk="0">
                <a:moveTo>
                  <a:pt x="-1" y="0"/>
                </a:moveTo>
                <a:cubicBezTo>
                  <a:pt x="11929" y="0"/>
                  <a:pt x="21600" y="9670"/>
                  <a:pt x="21600" y="21600"/>
                </a:cubicBezTo>
                <a:cubicBezTo>
                  <a:pt x="21600" y="28979"/>
                  <a:pt x="17832" y="35848"/>
                  <a:pt x="11609" y="39815"/>
                </a:cubicBezTo>
              </a:path>
              <a:path w="21600" h="39815" stroke="0" extrusionOk="0">
                <a:moveTo>
                  <a:pt x="-1" y="0"/>
                </a:moveTo>
                <a:cubicBezTo>
                  <a:pt x="11929" y="0"/>
                  <a:pt x="21600" y="9670"/>
                  <a:pt x="21600" y="21600"/>
                </a:cubicBezTo>
                <a:cubicBezTo>
                  <a:pt x="21600" y="28979"/>
                  <a:pt x="17832" y="35848"/>
                  <a:pt x="11609" y="39815"/>
                </a:cubicBezTo>
                <a:lnTo>
                  <a:pt x="0" y="21600"/>
                </a:lnTo>
                <a:lnTo>
                  <a:pt x="-1" y="0"/>
                </a:lnTo>
                <a:close/>
              </a:path>
            </a:pathLst>
          </a:custGeom>
          <a:noFill/>
          <a:ln w="9525">
            <a:solidFill>
              <a:srgbClr val="0000FF"/>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latin typeface="+mj-lt"/>
            </a:endParaRPr>
          </a:p>
        </p:txBody>
      </p:sp>
      <p:sp>
        <p:nvSpPr>
          <p:cNvPr id="25616" name="Text Box 16">
            <a:extLst>
              <a:ext uri="{FF2B5EF4-FFF2-40B4-BE49-F238E27FC236}">
                <a16:creationId xmlns:a16="http://schemas.microsoft.com/office/drawing/2014/main" id="{4DA441B7-BC6F-470F-BC2E-DA35A6C6D94C}"/>
              </a:ext>
            </a:extLst>
          </p:cNvPr>
          <p:cNvSpPr txBox="1">
            <a:spLocks noChangeArrowheads="1"/>
          </p:cNvSpPr>
          <p:nvPr/>
        </p:nvSpPr>
        <p:spPr bwMode="auto">
          <a:xfrm>
            <a:off x="2365375" y="4837113"/>
            <a:ext cx="18415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a:solidFill>
                  <a:schemeClr val="accent2"/>
                </a:solidFill>
                <a:latin typeface="+mj-lt"/>
              </a:rPr>
              <a:t>CVu</a:t>
            </a:r>
            <a:endParaRPr lang="es-AR" altLang="es-AR" sz="1400" b="1">
              <a:solidFill>
                <a:schemeClr val="accent2"/>
              </a:solidFill>
              <a:latin typeface="+mj-lt"/>
              <a:cs typeface="Tahoma" panose="020B0604030504040204" pitchFamily="34" charset="0"/>
            </a:endParaRPr>
          </a:p>
        </p:txBody>
      </p:sp>
      <p:sp>
        <p:nvSpPr>
          <p:cNvPr id="25617" name="Text Box 17">
            <a:extLst>
              <a:ext uri="{FF2B5EF4-FFF2-40B4-BE49-F238E27FC236}">
                <a16:creationId xmlns:a16="http://schemas.microsoft.com/office/drawing/2014/main" id="{A631D0E0-988E-4ED0-A94F-18AA02E8CAC1}"/>
              </a:ext>
            </a:extLst>
          </p:cNvPr>
          <p:cNvSpPr txBox="1">
            <a:spLocks noChangeArrowheads="1"/>
          </p:cNvSpPr>
          <p:nvPr/>
        </p:nvSpPr>
        <p:spPr bwMode="auto">
          <a:xfrm>
            <a:off x="6238875" y="5384800"/>
            <a:ext cx="46815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600" b="1" dirty="0">
                <a:latin typeface="+mj-lt"/>
              </a:rPr>
              <a:t>                                                                    </a:t>
            </a:r>
            <a:r>
              <a:rPr lang="es-AR" altLang="es-AR" sz="1600" b="1" dirty="0">
                <a:solidFill>
                  <a:schemeClr val="tx1">
                    <a:lumMod val="75000"/>
                    <a:lumOff val="25000"/>
                  </a:schemeClr>
                </a:solidFill>
                <a:latin typeface="+mj-lt"/>
              </a:rPr>
              <a:t>q</a:t>
            </a:r>
            <a:endParaRPr lang="es-ES" altLang="es-AR" sz="1600" b="1" dirty="0">
              <a:solidFill>
                <a:schemeClr val="tx1">
                  <a:lumMod val="75000"/>
                  <a:lumOff val="25000"/>
                </a:schemeClr>
              </a:solidFill>
              <a:latin typeface="+mj-lt"/>
            </a:endParaRPr>
          </a:p>
        </p:txBody>
      </p:sp>
      <p:sp>
        <p:nvSpPr>
          <p:cNvPr id="25618" name="Line 18">
            <a:extLst>
              <a:ext uri="{FF2B5EF4-FFF2-40B4-BE49-F238E27FC236}">
                <a16:creationId xmlns:a16="http://schemas.microsoft.com/office/drawing/2014/main" id="{35AD54A0-C31E-467D-9FBA-C1FD3CD7559C}"/>
              </a:ext>
            </a:extLst>
          </p:cNvPr>
          <p:cNvSpPr>
            <a:spLocks noChangeShapeType="1"/>
          </p:cNvSpPr>
          <p:nvPr/>
        </p:nvSpPr>
        <p:spPr bwMode="auto">
          <a:xfrm flipV="1">
            <a:off x="1703388" y="2301875"/>
            <a:ext cx="2303462" cy="1944688"/>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latin typeface="+mj-lt"/>
            </a:endParaRPr>
          </a:p>
        </p:txBody>
      </p:sp>
      <p:sp>
        <p:nvSpPr>
          <p:cNvPr id="25619" name="Text Box 19">
            <a:extLst>
              <a:ext uri="{FF2B5EF4-FFF2-40B4-BE49-F238E27FC236}">
                <a16:creationId xmlns:a16="http://schemas.microsoft.com/office/drawing/2014/main" id="{7149A723-7DCE-47AC-87DC-F61CB9E7AA4E}"/>
              </a:ext>
            </a:extLst>
          </p:cNvPr>
          <p:cNvSpPr txBox="1">
            <a:spLocks noChangeArrowheads="1"/>
          </p:cNvSpPr>
          <p:nvPr/>
        </p:nvSpPr>
        <p:spPr bwMode="auto">
          <a:xfrm>
            <a:off x="4295776" y="3044825"/>
            <a:ext cx="20161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a:solidFill>
                  <a:srgbClr val="0000FF"/>
                </a:solidFill>
                <a:latin typeface="+mj-lt"/>
              </a:rPr>
              <a:t>CVT = CVu x q</a:t>
            </a:r>
            <a:endParaRPr lang="es-AR" altLang="es-AR" sz="1400" b="1">
              <a:solidFill>
                <a:srgbClr val="0000FF"/>
              </a:solidFill>
              <a:latin typeface="+mj-lt"/>
              <a:cs typeface="Tahoma" panose="020B0604030504040204" pitchFamily="34" charset="0"/>
            </a:endParaRPr>
          </a:p>
        </p:txBody>
      </p:sp>
      <p:sp>
        <p:nvSpPr>
          <p:cNvPr id="25620" name="Text Box 20">
            <a:extLst>
              <a:ext uri="{FF2B5EF4-FFF2-40B4-BE49-F238E27FC236}">
                <a16:creationId xmlns:a16="http://schemas.microsoft.com/office/drawing/2014/main" id="{A2B70AC3-46FB-4018-B39B-683A723663F1}"/>
              </a:ext>
            </a:extLst>
          </p:cNvPr>
          <p:cNvSpPr txBox="1">
            <a:spLocks noChangeArrowheads="1"/>
          </p:cNvSpPr>
          <p:nvPr/>
        </p:nvSpPr>
        <p:spPr bwMode="auto">
          <a:xfrm>
            <a:off x="4008439" y="1989138"/>
            <a:ext cx="25923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a:solidFill>
                  <a:srgbClr val="FF0000"/>
                </a:solidFill>
                <a:latin typeface="+mj-lt"/>
              </a:rPr>
              <a:t>CT = CFT + CVu x q</a:t>
            </a:r>
            <a:endParaRPr lang="es-AR" altLang="es-AR" sz="1400" b="1">
              <a:solidFill>
                <a:srgbClr val="FF0000"/>
              </a:solidFill>
              <a:latin typeface="+mj-lt"/>
              <a:cs typeface="Tahoma" panose="020B0604030504040204" pitchFamily="34" charset="0"/>
            </a:endParaRPr>
          </a:p>
        </p:txBody>
      </p:sp>
      <p:sp>
        <p:nvSpPr>
          <p:cNvPr id="25621" name="Line 21">
            <a:extLst>
              <a:ext uri="{FF2B5EF4-FFF2-40B4-BE49-F238E27FC236}">
                <a16:creationId xmlns:a16="http://schemas.microsoft.com/office/drawing/2014/main" id="{F304C11C-B7B4-49A8-BF8E-6BA535F6BE90}"/>
              </a:ext>
            </a:extLst>
          </p:cNvPr>
          <p:cNvSpPr>
            <a:spLocks noChangeShapeType="1"/>
          </p:cNvSpPr>
          <p:nvPr/>
        </p:nvSpPr>
        <p:spPr bwMode="auto">
          <a:xfrm>
            <a:off x="6527800" y="3814763"/>
            <a:ext cx="3887788"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latin typeface="+mj-lt"/>
            </a:endParaRPr>
          </a:p>
        </p:txBody>
      </p:sp>
      <p:sp>
        <p:nvSpPr>
          <p:cNvPr id="25622" name="Text Box 22">
            <a:extLst>
              <a:ext uri="{FF2B5EF4-FFF2-40B4-BE49-F238E27FC236}">
                <a16:creationId xmlns:a16="http://schemas.microsoft.com/office/drawing/2014/main" id="{F3FB0D6B-0675-456E-9677-FDDDBA4D4FA0}"/>
              </a:ext>
            </a:extLst>
          </p:cNvPr>
          <p:cNvSpPr txBox="1">
            <a:spLocks noChangeArrowheads="1"/>
          </p:cNvSpPr>
          <p:nvPr/>
        </p:nvSpPr>
        <p:spPr bwMode="auto">
          <a:xfrm>
            <a:off x="9623426" y="3886200"/>
            <a:ext cx="9366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a:solidFill>
                  <a:srgbClr val="0000FF"/>
                </a:solidFill>
                <a:latin typeface="+mj-lt"/>
              </a:rPr>
              <a:t>CVu</a:t>
            </a:r>
            <a:endParaRPr lang="es-AR" altLang="es-AR" sz="1400" b="1">
              <a:solidFill>
                <a:srgbClr val="0000FF"/>
              </a:solidFill>
              <a:latin typeface="+mj-lt"/>
              <a:cs typeface="Tahoma" panose="020B0604030504040204" pitchFamily="34" charset="0"/>
            </a:endParaRPr>
          </a:p>
        </p:txBody>
      </p:sp>
      <p:sp>
        <p:nvSpPr>
          <p:cNvPr id="25623" name="Freeform 23">
            <a:extLst>
              <a:ext uri="{FF2B5EF4-FFF2-40B4-BE49-F238E27FC236}">
                <a16:creationId xmlns:a16="http://schemas.microsoft.com/office/drawing/2014/main" id="{4D123AC2-54CF-4508-AC0B-6605C0796EED}"/>
              </a:ext>
            </a:extLst>
          </p:cNvPr>
          <p:cNvSpPr>
            <a:spLocks/>
          </p:cNvSpPr>
          <p:nvPr/>
        </p:nvSpPr>
        <p:spPr bwMode="auto">
          <a:xfrm>
            <a:off x="6672263" y="2590800"/>
            <a:ext cx="3581400" cy="1079500"/>
          </a:xfrm>
          <a:custGeom>
            <a:avLst/>
            <a:gdLst>
              <a:gd name="T0" fmla="*/ 0 w 405"/>
              <a:gd name="T1" fmla="*/ 0 h 67"/>
              <a:gd name="T2" fmla="*/ 397933 w 405"/>
              <a:gd name="T3" fmla="*/ 596142 h 67"/>
              <a:gd name="T4" fmla="*/ 795867 w 405"/>
              <a:gd name="T5" fmla="*/ 789485 h 67"/>
              <a:gd name="T6" fmla="*/ 1193800 w 405"/>
              <a:gd name="T7" fmla="*/ 886157 h 67"/>
              <a:gd name="T8" fmla="*/ 1591733 w 405"/>
              <a:gd name="T9" fmla="*/ 950604 h 67"/>
              <a:gd name="T10" fmla="*/ 1989667 w 405"/>
              <a:gd name="T11" fmla="*/ 998940 h 67"/>
              <a:gd name="T12" fmla="*/ 2387600 w 405"/>
              <a:gd name="T13" fmla="*/ 1015052 h 67"/>
              <a:gd name="T14" fmla="*/ 2785533 w 405"/>
              <a:gd name="T15" fmla="*/ 1047276 h 67"/>
              <a:gd name="T16" fmla="*/ 3183467 w 405"/>
              <a:gd name="T17" fmla="*/ 1063388 h 67"/>
              <a:gd name="T18" fmla="*/ 3581400 w 405"/>
              <a:gd name="T19" fmla="*/ 1079500 h 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05" h="67">
                <a:moveTo>
                  <a:pt x="0" y="0"/>
                </a:moveTo>
                <a:lnTo>
                  <a:pt x="45" y="37"/>
                </a:lnTo>
                <a:lnTo>
                  <a:pt x="90" y="49"/>
                </a:lnTo>
                <a:lnTo>
                  <a:pt x="135" y="55"/>
                </a:lnTo>
                <a:lnTo>
                  <a:pt x="180" y="59"/>
                </a:lnTo>
                <a:lnTo>
                  <a:pt x="225" y="62"/>
                </a:lnTo>
                <a:lnTo>
                  <a:pt x="270" y="63"/>
                </a:lnTo>
                <a:lnTo>
                  <a:pt x="315" y="65"/>
                </a:lnTo>
                <a:lnTo>
                  <a:pt x="360" y="66"/>
                </a:lnTo>
                <a:lnTo>
                  <a:pt x="405" y="67"/>
                </a:lnTo>
              </a:path>
            </a:pathLst>
          </a:custGeom>
          <a:noFill/>
          <a:ln w="28575" cmpd="sng">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AR">
              <a:latin typeface="+mj-lt"/>
            </a:endParaRPr>
          </a:p>
        </p:txBody>
      </p:sp>
      <p:sp>
        <p:nvSpPr>
          <p:cNvPr id="25624" name="Freeform 24">
            <a:extLst>
              <a:ext uri="{FF2B5EF4-FFF2-40B4-BE49-F238E27FC236}">
                <a16:creationId xmlns:a16="http://schemas.microsoft.com/office/drawing/2014/main" id="{2F1BF3DF-9C0B-4357-B9CD-CDA945840B5D}"/>
              </a:ext>
            </a:extLst>
          </p:cNvPr>
          <p:cNvSpPr>
            <a:spLocks/>
          </p:cNvSpPr>
          <p:nvPr/>
        </p:nvSpPr>
        <p:spPr bwMode="auto">
          <a:xfrm>
            <a:off x="6834188" y="4160839"/>
            <a:ext cx="3509962" cy="949325"/>
          </a:xfrm>
          <a:custGeom>
            <a:avLst/>
            <a:gdLst>
              <a:gd name="T0" fmla="*/ 0 w 405"/>
              <a:gd name="T1" fmla="*/ 0 h 67"/>
              <a:gd name="T2" fmla="*/ 389996 w 405"/>
              <a:gd name="T3" fmla="*/ 524254 h 67"/>
              <a:gd name="T4" fmla="*/ 779992 w 405"/>
              <a:gd name="T5" fmla="*/ 694282 h 67"/>
              <a:gd name="T6" fmla="*/ 1169987 w 405"/>
              <a:gd name="T7" fmla="*/ 779297 h 67"/>
              <a:gd name="T8" fmla="*/ 1559983 w 405"/>
              <a:gd name="T9" fmla="*/ 835973 h 67"/>
              <a:gd name="T10" fmla="*/ 1949979 w 405"/>
              <a:gd name="T11" fmla="*/ 878480 h 67"/>
              <a:gd name="T12" fmla="*/ 2339975 w 405"/>
              <a:gd name="T13" fmla="*/ 892649 h 67"/>
              <a:gd name="T14" fmla="*/ 2729970 w 405"/>
              <a:gd name="T15" fmla="*/ 920987 h 67"/>
              <a:gd name="T16" fmla="*/ 3119966 w 405"/>
              <a:gd name="T17" fmla="*/ 935156 h 67"/>
              <a:gd name="T18" fmla="*/ 3509962 w 405"/>
              <a:gd name="T19" fmla="*/ 949325 h 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05" h="67">
                <a:moveTo>
                  <a:pt x="0" y="0"/>
                </a:moveTo>
                <a:lnTo>
                  <a:pt x="45" y="37"/>
                </a:lnTo>
                <a:lnTo>
                  <a:pt x="90" y="49"/>
                </a:lnTo>
                <a:lnTo>
                  <a:pt x="135" y="55"/>
                </a:lnTo>
                <a:lnTo>
                  <a:pt x="180" y="59"/>
                </a:lnTo>
                <a:lnTo>
                  <a:pt x="225" y="62"/>
                </a:lnTo>
                <a:lnTo>
                  <a:pt x="270" y="63"/>
                </a:lnTo>
                <a:lnTo>
                  <a:pt x="315" y="65"/>
                </a:lnTo>
                <a:lnTo>
                  <a:pt x="360" y="66"/>
                </a:lnTo>
                <a:lnTo>
                  <a:pt x="405" y="67"/>
                </a:lnTo>
              </a:path>
            </a:pathLst>
          </a:custGeom>
          <a:noFill/>
          <a:ln w="28575" cmpd="sng">
            <a:solidFill>
              <a:schemeClr val="hlink"/>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AR">
              <a:latin typeface="+mj-lt"/>
            </a:endParaRPr>
          </a:p>
        </p:txBody>
      </p:sp>
      <p:sp>
        <p:nvSpPr>
          <p:cNvPr id="25625" name="Text Box 25">
            <a:extLst>
              <a:ext uri="{FF2B5EF4-FFF2-40B4-BE49-F238E27FC236}">
                <a16:creationId xmlns:a16="http://schemas.microsoft.com/office/drawing/2014/main" id="{3B160427-C90D-49D7-8F9B-AF89034B61C9}"/>
              </a:ext>
            </a:extLst>
          </p:cNvPr>
          <p:cNvSpPr txBox="1">
            <a:spLocks noChangeArrowheads="1"/>
          </p:cNvSpPr>
          <p:nvPr/>
        </p:nvSpPr>
        <p:spPr bwMode="auto">
          <a:xfrm>
            <a:off x="8370888" y="4589463"/>
            <a:ext cx="17573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a:solidFill>
                  <a:schemeClr val="hlink"/>
                </a:solidFill>
                <a:latin typeface="+mj-lt"/>
              </a:rPr>
              <a:t>CFu = CFT / q</a:t>
            </a:r>
            <a:endParaRPr lang="es-AR" altLang="es-AR" sz="1400" b="1">
              <a:solidFill>
                <a:schemeClr val="hlink"/>
              </a:solidFill>
              <a:latin typeface="+mj-lt"/>
              <a:cs typeface="Tahoma" panose="020B0604030504040204" pitchFamily="34" charset="0"/>
            </a:endParaRPr>
          </a:p>
        </p:txBody>
      </p:sp>
      <p:sp>
        <p:nvSpPr>
          <p:cNvPr id="25626" name="Text Box 26">
            <a:extLst>
              <a:ext uri="{FF2B5EF4-FFF2-40B4-BE49-F238E27FC236}">
                <a16:creationId xmlns:a16="http://schemas.microsoft.com/office/drawing/2014/main" id="{DC6045B7-066D-4C34-8412-F3A18A37F928}"/>
              </a:ext>
            </a:extLst>
          </p:cNvPr>
          <p:cNvSpPr txBox="1">
            <a:spLocks noChangeArrowheads="1"/>
          </p:cNvSpPr>
          <p:nvPr/>
        </p:nvSpPr>
        <p:spPr bwMode="auto">
          <a:xfrm>
            <a:off x="7751763" y="3094038"/>
            <a:ext cx="25336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a:solidFill>
                  <a:srgbClr val="FF0000"/>
                </a:solidFill>
                <a:latin typeface="+mj-lt"/>
              </a:rPr>
              <a:t>Cu = CFT / q + CVu</a:t>
            </a:r>
            <a:endParaRPr lang="es-AR" altLang="es-AR" sz="1400" b="1">
              <a:solidFill>
                <a:srgbClr val="FF0000"/>
              </a:solidFill>
              <a:latin typeface="+mj-lt"/>
              <a:cs typeface="Tahoma" panose="020B0604030504040204" pitchFamily="34" charset="0"/>
            </a:endParaRPr>
          </a:p>
        </p:txBody>
      </p:sp>
      <p:sp>
        <p:nvSpPr>
          <p:cNvPr id="25627" name="Arc 27">
            <a:extLst>
              <a:ext uri="{FF2B5EF4-FFF2-40B4-BE49-F238E27FC236}">
                <a16:creationId xmlns:a16="http://schemas.microsoft.com/office/drawing/2014/main" id="{705523E4-F209-43E4-A9DE-D99FCAA9E729}"/>
              </a:ext>
            </a:extLst>
          </p:cNvPr>
          <p:cNvSpPr>
            <a:spLocks/>
          </p:cNvSpPr>
          <p:nvPr/>
        </p:nvSpPr>
        <p:spPr bwMode="auto">
          <a:xfrm>
            <a:off x="2135188" y="3884613"/>
            <a:ext cx="215900" cy="361950"/>
          </a:xfrm>
          <a:custGeom>
            <a:avLst/>
            <a:gdLst>
              <a:gd name="T0" fmla="*/ 0 w 21600"/>
              <a:gd name="T1" fmla="*/ 0 h 39815"/>
              <a:gd name="T2" fmla="*/ 116036 w 21600"/>
              <a:gd name="T3" fmla="*/ 361950 h 39815"/>
              <a:gd name="T4" fmla="*/ 0 w 21600"/>
              <a:gd name="T5" fmla="*/ 196361 h 39815"/>
              <a:gd name="T6" fmla="*/ 0 60000 65536"/>
              <a:gd name="T7" fmla="*/ 0 60000 65536"/>
              <a:gd name="T8" fmla="*/ 0 60000 65536"/>
            </a:gdLst>
            <a:ahLst/>
            <a:cxnLst>
              <a:cxn ang="T6">
                <a:pos x="T0" y="T1"/>
              </a:cxn>
              <a:cxn ang="T7">
                <a:pos x="T2" y="T3"/>
              </a:cxn>
              <a:cxn ang="T8">
                <a:pos x="T4" y="T5"/>
              </a:cxn>
            </a:cxnLst>
            <a:rect l="0" t="0" r="r" b="b"/>
            <a:pathLst>
              <a:path w="21600" h="39815" fill="none" extrusionOk="0">
                <a:moveTo>
                  <a:pt x="-1" y="0"/>
                </a:moveTo>
                <a:cubicBezTo>
                  <a:pt x="11929" y="0"/>
                  <a:pt x="21600" y="9670"/>
                  <a:pt x="21600" y="21600"/>
                </a:cubicBezTo>
                <a:cubicBezTo>
                  <a:pt x="21600" y="28979"/>
                  <a:pt x="17832" y="35848"/>
                  <a:pt x="11609" y="39815"/>
                </a:cubicBezTo>
              </a:path>
              <a:path w="21600" h="39815" stroke="0" extrusionOk="0">
                <a:moveTo>
                  <a:pt x="-1" y="0"/>
                </a:moveTo>
                <a:cubicBezTo>
                  <a:pt x="11929" y="0"/>
                  <a:pt x="21600" y="9670"/>
                  <a:pt x="21600" y="21600"/>
                </a:cubicBezTo>
                <a:cubicBezTo>
                  <a:pt x="21600" y="28979"/>
                  <a:pt x="17832" y="35848"/>
                  <a:pt x="11609" y="39815"/>
                </a:cubicBezTo>
                <a:lnTo>
                  <a:pt x="0" y="21600"/>
                </a:lnTo>
                <a:lnTo>
                  <a:pt x="-1" y="0"/>
                </a:lnTo>
                <a:close/>
              </a:path>
            </a:pathLst>
          </a:custGeom>
          <a:noFill/>
          <a:ln w="9525">
            <a:solidFill>
              <a:srgbClr val="0000FF"/>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latin typeface="+mj-lt"/>
            </a:endParaRPr>
          </a:p>
        </p:txBody>
      </p:sp>
      <p:sp>
        <p:nvSpPr>
          <p:cNvPr id="25628" name="Text Box 28">
            <a:extLst>
              <a:ext uri="{FF2B5EF4-FFF2-40B4-BE49-F238E27FC236}">
                <a16:creationId xmlns:a16="http://schemas.microsoft.com/office/drawing/2014/main" id="{43D6E785-2437-4AB9-8710-62DB16759FE9}"/>
              </a:ext>
            </a:extLst>
          </p:cNvPr>
          <p:cNvSpPr txBox="1">
            <a:spLocks noChangeArrowheads="1"/>
          </p:cNvSpPr>
          <p:nvPr/>
        </p:nvSpPr>
        <p:spPr bwMode="auto">
          <a:xfrm>
            <a:off x="2309814" y="3725863"/>
            <a:ext cx="61753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a:solidFill>
                  <a:schemeClr val="accent2"/>
                </a:solidFill>
                <a:latin typeface="+mj-lt"/>
              </a:rPr>
              <a:t>CVu</a:t>
            </a:r>
            <a:endParaRPr lang="es-AR" altLang="es-AR" sz="1400" b="1">
              <a:solidFill>
                <a:schemeClr val="accent2"/>
              </a:solidFill>
              <a:latin typeface="+mj-lt"/>
              <a:cs typeface="Tahoma" panose="020B0604030504040204" pitchFamily="34" charset="0"/>
            </a:endParaRPr>
          </a:p>
        </p:txBody>
      </p:sp>
      <p:sp>
        <p:nvSpPr>
          <p:cNvPr id="25629" name="Text Box 29">
            <a:extLst>
              <a:ext uri="{FF2B5EF4-FFF2-40B4-BE49-F238E27FC236}">
                <a16:creationId xmlns:a16="http://schemas.microsoft.com/office/drawing/2014/main" id="{BBD373F9-B1E9-4BF2-A3D5-8DDEF3FFDA49}"/>
              </a:ext>
            </a:extLst>
          </p:cNvPr>
          <p:cNvSpPr txBox="1">
            <a:spLocks noChangeArrowheads="1"/>
          </p:cNvSpPr>
          <p:nvPr/>
        </p:nvSpPr>
        <p:spPr bwMode="auto">
          <a:xfrm>
            <a:off x="2206625" y="1509714"/>
            <a:ext cx="2736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defRPr/>
            </a:pPr>
            <a:r>
              <a:rPr lang="es-AR" altLang="es-AR" sz="2000" b="1" dirty="0">
                <a:solidFill>
                  <a:schemeClr val="tx1">
                    <a:lumMod val="75000"/>
                    <a:lumOff val="25000"/>
                  </a:schemeClr>
                </a:solidFill>
                <a:latin typeface="+mj-lt"/>
              </a:rPr>
              <a:t>COSTOS TOTALES</a:t>
            </a:r>
            <a:endParaRPr lang="es-ES" altLang="es-AR" sz="2000" b="1" dirty="0">
              <a:solidFill>
                <a:schemeClr val="tx1">
                  <a:lumMod val="75000"/>
                  <a:lumOff val="25000"/>
                </a:schemeClr>
              </a:solidFill>
              <a:latin typeface="+mj-lt"/>
            </a:endParaRPr>
          </a:p>
        </p:txBody>
      </p:sp>
      <p:sp>
        <p:nvSpPr>
          <p:cNvPr id="25630" name="Text Box 30">
            <a:extLst>
              <a:ext uri="{FF2B5EF4-FFF2-40B4-BE49-F238E27FC236}">
                <a16:creationId xmlns:a16="http://schemas.microsoft.com/office/drawing/2014/main" id="{C28EB2CB-6F74-4E2E-87BE-434844E7EB5D}"/>
              </a:ext>
            </a:extLst>
          </p:cNvPr>
          <p:cNvSpPr txBox="1">
            <a:spLocks noChangeArrowheads="1"/>
          </p:cNvSpPr>
          <p:nvPr/>
        </p:nvSpPr>
        <p:spPr bwMode="auto">
          <a:xfrm>
            <a:off x="7031038" y="1509714"/>
            <a:ext cx="27368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defRPr/>
            </a:pPr>
            <a:r>
              <a:rPr lang="es-AR" altLang="es-AR" sz="2000" b="1" dirty="0">
                <a:solidFill>
                  <a:schemeClr val="tx1">
                    <a:lumMod val="75000"/>
                    <a:lumOff val="25000"/>
                  </a:schemeClr>
                </a:solidFill>
                <a:latin typeface="+mj-lt"/>
              </a:rPr>
              <a:t>COSTOS UNITARIOS</a:t>
            </a:r>
            <a:endParaRPr lang="es-ES" altLang="es-AR" sz="2000" b="1" dirty="0">
              <a:solidFill>
                <a:schemeClr val="tx1">
                  <a:lumMod val="75000"/>
                  <a:lumOff val="25000"/>
                </a:schemeClr>
              </a:solidFill>
              <a:latin typeface="+mj-lt"/>
            </a:endParaRPr>
          </a:p>
        </p:txBody>
      </p:sp>
      <p:sp>
        <p:nvSpPr>
          <p:cNvPr id="2" name="Marcador de número de diapositiva 1">
            <a:extLst>
              <a:ext uri="{FF2B5EF4-FFF2-40B4-BE49-F238E27FC236}">
                <a16:creationId xmlns:a16="http://schemas.microsoft.com/office/drawing/2014/main" id="{C6609DD8-493E-48DB-B3EA-223CE0FC040E}"/>
              </a:ext>
            </a:extLst>
          </p:cNvPr>
          <p:cNvSpPr>
            <a:spLocks noGrp="1"/>
          </p:cNvSpPr>
          <p:nvPr>
            <p:ph type="sldNum" sz="quarter" idx="12"/>
          </p:nvPr>
        </p:nvSpPr>
        <p:spPr/>
        <p:txBody>
          <a:bodyPr/>
          <a:lstStyle/>
          <a:p>
            <a:fld id="{D57F1E4F-1CFF-5643-939E-217C01CDF565}" type="slidenum">
              <a:rPr lang="en-US" smtClean="0"/>
              <a:pPr/>
              <a:t>19</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5629"/>
                                        </p:tgtEl>
                                        <p:attrNameLst>
                                          <p:attrName>style.visibility</p:attrName>
                                        </p:attrNameLst>
                                      </p:cBhvr>
                                      <p:to>
                                        <p:strVal val="visible"/>
                                      </p:to>
                                    </p:set>
                                    <p:animEffect transition="in" filter="wipe(down)">
                                      <p:cBhvr>
                                        <p:cTn id="7" dur="500"/>
                                        <p:tgtEl>
                                          <p:spTgt spid="2562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5610"/>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25608"/>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25609"/>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25611"/>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5612"/>
                                        </p:tgtEl>
                                        <p:attrNameLst>
                                          <p:attrName>style.visibility</p:attrName>
                                        </p:attrNameLst>
                                      </p:cBhvr>
                                      <p:to>
                                        <p:strVal val="visible"/>
                                      </p:to>
                                    </p:set>
                                    <p:animEffect transition="in" filter="wipe(left)">
                                      <p:cBhvr>
                                        <p:cTn id="22" dur="2000"/>
                                        <p:tgtEl>
                                          <p:spTgt spid="256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25613"/>
                                        </p:tgtEl>
                                        <p:attrNameLst>
                                          <p:attrName>style.visibility</p:attrName>
                                        </p:attrNameLst>
                                      </p:cBhvr>
                                      <p:to>
                                        <p:strVal val="visible"/>
                                      </p:to>
                                    </p:set>
                                    <p:animEffect transition="in" filter="wipe(left)">
                                      <p:cBhvr>
                                        <p:cTn id="25" dur="2000"/>
                                        <p:tgtEl>
                                          <p:spTgt spid="25613"/>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4" fill="hold" nodeType="clickEffect">
                                  <p:stCondLst>
                                    <p:cond delay="0"/>
                                  </p:stCondLst>
                                  <p:childTnLst>
                                    <p:set>
                                      <p:cBhvr>
                                        <p:cTn id="29" dur="1" fill="hold">
                                          <p:stCondLst>
                                            <p:cond delay="0"/>
                                          </p:stCondLst>
                                        </p:cTn>
                                        <p:tgtEl>
                                          <p:spTgt spid="25614"/>
                                        </p:tgtEl>
                                        <p:attrNameLst>
                                          <p:attrName>style.visibility</p:attrName>
                                        </p:attrNameLst>
                                      </p:cBhvr>
                                      <p:to>
                                        <p:strVal val="visible"/>
                                      </p:to>
                                    </p:set>
                                    <p:animEffect transition="in" filter="wipe(down)">
                                      <p:cBhvr>
                                        <p:cTn id="30" dur="2000"/>
                                        <p:tgtEl>
                                          <p:spTgt spid="2561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43" presetClass="entr" presetSubtype="0" fill="hold" grpId="0" nodeType="clickEffect">
                                  <p:stCondLst>
                                    <p:cond delay="0"/>
                                  </p:stCondLst>
                                  <p:childTnLst>
                                    <p:set>
                                      <p:cBhvr>
                                        <p:cTn id="34" dur="1" fill="hold">
                                          <p:stCondLst>
                                            <p:cond delay="0"/>
                                          </p:stCondLst>
                                        </p:cTn>
                                        <p:tgtEl>
                                          <p:spTgt spid="25616"/>
                                        </p:tgtEl>
                                        <p:attrNameLst>
                                          <p:attrName>style.visibility</p:attrName>
                                        </p:attrNameLst>
                                      </p:cBhvr>
                                      <p:to>
                                        <p:strVal val="visible"/>
                                      </p:to>
                                    </p:set>
                                    <p:animEffect transition="in" filter="fade">
                                      <p:cBhvr>
                                        <p:cTn id="35" dur="100"/>
                                        <p:tgtEl>
                                          <p:spTgt spid="25616"/>
                                        </p:tgtEl>
                                      </p:cBhvr>
                                    </p:animEffect>
                                    <p:anim calcmode="lin" valueType="num">
                                      <p:cBhvr>
                                        <p:cTn id="36" dur="400" fill="hold"/>
                                        <p:tgtEl>
                                          <p:spTgt spid="25616"/>
                                        </p:tgtEl>
                                        <p:attrNameLst>
                                          <p:attrName>ppt_x</p:attrName>
                                        </p:attrNameLst>
                                      </p:cBhvr>
                                      <p:tavLst>
                                        <p:tav tm="0">
                                          <p:val>
                                            <p:strVal val="#ppt_x"/>
                                          </p:val>
                                        </p:tav>
                                        <p:tav tm="100000">
                                          <p:val>
                                            <p:strVal val="#ppt_x"/>
                                          </p:val>
                                        </p:tav>
                                      </p:tavLst>
                                    </p:anim>
                                    <p:anim calcmode="lin" valueType="num">
                                      <p:cBhvr>
                                        <p:cTn id="37" dur="400" fill="hold"/>
                                        <p:tgtEl>
                                          <p:spTgt spid="25616"/>
                                        </p:tgtEl>
                                        <p:attrNameLst>
                                          <p:attrName>ppt_y</p:attrName>
                                        </p:attrNameLst>
                                      </p:cBhvr>
                                      <p:tavLst>
                                        <p:tav tm="0">
                                          <p:val>
                                            <p:strVal val="#ppt_y+0.31"/>
                                          </p:val>
                                        </p:tav>
                                        <p:tav tm="100000">
                                          <p:val>
                                            <p:strVal val="#ppt_y+0.31"/>
                                          </p:val>
                                        </p:tav>
                                      </p:tavLst>
                                    </p:anim>
                                    <p:anim calcmode="lin" valueType="num">
                                      <p:cBhvr>
                                        <p:cTn id="38" dur="600" decel="50000" fill="hold">
                                          <p:stCondLst>
                                            <p:cond delay="400"/>
                                          </p:stCondLst>
                                        </p:cTn>
                                        <p:tgtEl>
                                          <p:spTgt spid="25616"/>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39" dur="600" decel="50000" fill="hold">
                                          <p:stCondLst>
                                            <p:cond delay="400"/>
                                          </p:stCondLst>
                                        </p:cTn>
                                        <p:tgtEl>
                                          <p:spTgt spid="25616"/>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par>
                                <p:cTn id="40" presetID="43" presetClass="entr" presetSubtype="0" fill="hold" nodeType="withEffect">
                                  <p:stCondLst>
                                    <p:cond delay="0"/>
                                  </p:stCondLst>
                                  <p:childTnLst>
                                    <p:set>
                                      <p:cBhvr>
                                        <p:cTn id="41" dur="1" fill="hold">
                                          <p:stCondLst>
                                            <p:cond delay="0"/>
                                          </p:stCondLst>
                                        </p:cTn>
                                        <p:tgtEl>
                                          <p:spTgt spid="25615"/>
                                        </p:tgtEl>
                                        <p:attrNameLst>
                                          <p:attrName>style.visibility</p:attrName>
                                        </p:attrNameLst>
                                      </p:cBhvr>
                                      <p:to>
                                        <p:strVal val="visible"/>
                                      </p:to>
                                    </p:set>
                                    <p:animEffect transition="in" filter="fade">
                                      <p:cBhvr>
                                        <p:cTn id="42" dur="100"/>
                                        <p:tgtEl>
                                          <p:spTgt spid="25615"/>
                                        </p:tgtEl>
                                      </p:cBhvr>
                                    </p:animEffect>
                                    <p:anim calcmode="lin" valueType="num">
                                      <p:cBhvr>
                                        <p:cTn id="43" dur="400" fill="hold"/>
                                        <p:tgtEl>
                                          <p:spTgt spid="25615"/>
                                        </p:tgtEl>
                                        <p:attrNameLst>
                                          <p:attrName>ppt_x</p:attrName>
                                        </p:attrNameLst>
                                      </p:cBhvr>
                                      <p:tavLst>
                                        <p:tav tm="0">
                                          <p:val>
                                            <p:strVal val="#ppt_x"/>
                                          </p:val>
                                        </p:tav>
                                        <p:tav tm="100000">
                                          <p:val>
                                            <p:strVal val="#ppt_x"/>
                                          </p:val>
                                        </p:tav>
                                      </p:tavLst>
                                    </p:anim>
                                    <p:anim calcmode="lin" valueType="num">
                                      <p:cBhvr>
                                        <p:cTn id="44" dur="400" fill="hold"/>
                                        <p:tgtEl>
                                          <p:spTgt spid="25615"/>
                                        </p:tgtEl>
                                        <p:attrNameLst>
                                          <p:attrName>ppt_y</p:attrName>
                                        </p:attrNameLst>
                                      </p:cBhvr>
                                      <p:tavLst>
                                        <p:tav tm="0">
                                          <p:val>
                                            <p:strVal val="#ppt_y+0.31"/>
                                          </p:val>
                                        </p:tav>
                                        <p:tav tm="100000">
                                          <p:val>
                                            <p:strVal val="#ppt_y+0.31"/>
                                          </p:val>
                                        </p:tav>
                                      </p:tavLst>
                                    </p:anim>
                                    <p:anim calcmode="lin" valueType="num">
                                      <p:cBhvr>
                                        <p:cTn id="45" dur="600" decel="50000" fill="hold">
                                          <p:stCondLst>
                                            <p:cond delay="400"/>
                                          </p:stCondLst>
                                        </p:cTn>
                                        <p:tgtEl>
                                          <p:spTgt spid="25615"/>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46" dur="600" decel="50000" fill="hold">
                                          <p:stCondLst>
                                            <p:cond delay="400"/>
                                          </p:stCondLst>
                                        </p:cTn>
                                        <p:tgtEl>
                                          <p:spTgt spid="25615"/>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25619"/>
                                        </p:tgtEl>
                                        <p:attrNameLst>
                                          <p:attrName>style.visibility</p:attrName>
                                        </p:attrNameLst>
                                      </p:cBhvr>
                                      <p:to>
                                        <p:strVal val="visible"/>
                                      </p:to>
                                    </p:set>
                                    <p:animEffect transition="in" filter="blinds(horizontal)">
                                      <p:cBhvr>
                                        <p:cTn id="51" dur="500"/>
                                        <p:tgtEl>
                                          <p:spTgt spid="25619"/>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4" fill="hold" nodeType="clickEffect">
                                  <p:stCondLst>
                                    <p:cond delay="0"/>
                                  </p:stCondLst>
                                  <p:childTnLst>
                                    <p:set>
                                      <p:cBhvr>
                                        <p:cTn id="55" dur="1" fill="hold">
                                          <p:stCondLst>
                                            <p:cond delay="0"/>
                                          </p:stCondLst>
                                        </p:cTn>
                                        <p:tgtEl>
                                          <p:spTgt spid="25618"/>
                                        </p:tgtEl>
                                        <p:attrNameLst>
                                          <p:attrName>style.visibility</p:attrName>
                                        </p:attrNameLst>
                                      </p:cBhvr>
                                      <p:to>
                                        <p:strVal val="visible"/>
                                      </p:to>
                                    </p:set>
                                    <p:animEffect transition="in" filter="wipe(down)">
                                      <p:cBhvr>
                                        <p:cTn id="56" dur="2000"/>
                                        <p:tgtEl>
                                          <p:spTgt spid="25618"/>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43" presetClass="entr" presetSubtype="0" fill="hold" grpId="0" nodeType="clickEffect">
                                  <p:stCondLst>
                                    <p:cond delay="0"/>
                                  </p:stCondLst>
                                  <p:childTnLst>
                                    <p:set>
                                      <p:cBhvr>
                                        <p:cTn id="60" dur="1" fill="hold">
                                          <p:stCondLst>
                                            <p:cond delay="0"/>
                                          </p:stCondLst>
                                        </p:cTn>
                                        <p:tgtEl>
                                          <p:spTgt spid="25628"/>
                                        </p:tgtEl>
                                        <p:attrNameLst>
                                          <p:attrName>style.visibility</p:attrName>
                                        </p:attrNameLst>
                                      </p:cBhvr>
                                      <p:to>
                                        <p:strVal val="visible"/>
                                      </p:to>
                                    </p:set>
                                    <p:animEffect transition="in" filter="fade">
                                      <p:cBhvr>
                                        <p:cTn id="61" dur="100"/>
                                        <p:tgtEl>
                                          <p:spTgt spid="25628"/>
                                        </p:tgtEl>
                                      </p:cBhvr>
                                    </p:animEffect>
                                    <p:anim calcmode="lin" valueType="num">
                                      <p:cBhvr>
                                        <p:cTn id="62" dur="400" fill="hold"/>
                                        <p:tgtEl>
                                          <p:spTgt spid="25628"/>
                                        </p:tgtEl>
                                        <p:attrNameLst>
                                          <p:attrName>ppt_x</p:attrName>
                                        </p:attrNameLst>
                                      </p:cBhvr>
                                      <p:tavLst>
                                        <p:tav tm="0">
                                          <p:val>
                                            <p:strVal val="#ppt_x"/>
                                          </p:val>
                                        </p:tav>
                                        <p:tav tm="100000">
                                          <p:val>
                                            <p:strVal val="#ppt_x"/>
                                          </p:val>
                                        </p:tav>
                                      </p:tavLst>
                                    </p:anim>
                                    <p:anim calcmode="lin" valueType="num">
                                      <p:cBhvr>
                                        <p:cTn id="63" dur="400" fill="hold"/>
                                        <p:tgtEl>
                                          <p:spTgt spid="25628"/>
                                        </p:tgtEl>
                                        <p:attrNameLst>
                                          <p:attrName>ppt_y</p:attrName>
                                        </p:attrNameLst>
                                      </p:cBhvr>
                                      <p:tavLst>
                                        <p:tav tm="0">
                                          <p:val>
                                            <p:strVal val="#ppt_y+0.31"/>
                                          </p:val>
                                        </p:tav>
                                        <p:tav tm="100000">
                                          <p:val>
                                            <p:strVal val="#ppt_y+0.31"/>
                                          </p:val>
                                        </p:tav>
                                      </p:tavLst>
                                    </p:anim>
                                    <p:anim calcmode="lin" valueType="num">
                                      <p:cBhvr>
                                        <p:cTn id="64" dur="600" decel="50000" fill="hold">
                                          <p:stCondLst>
                                            <p:cond delay="400"/>
                                          </p:stCondLst>
                                        </p:cTn>
                                        <p:tgtEl>
                                          <p:spTgt spid="25628"/>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65" dur="600" decel="50000" fill="hold">
                                          <p:stCondLst>
                                            <p:cond delay="400"/>
                                          </p:stCondLst>
                                        </p:cTn>
                                        <p:tgtEl>
                                          <p:spTgt spid="25628"/>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par>
                                <p:cTn id="66" presetID="43" presetClass="entr" presetSubtype="0" fill="hold" nodeType="withEffect">
                                  <p:stCondLst>
                                    <p:cond delay="0"/>
                                  </p:stCondLst>
                                  <p:childTnLst>
                                    <p:set>
                                      <p:cBhvr>
                                        <p:cTn id="67" dur="1" fill="hold">
                                          <p:stCondLst>
                                            <p:cond delay="0"/>
                                          </p:stCondLst>
                                        </p:cTn>
                                        <p:tgtEl>
                                          <p:spTgt spid="25627"/>
                                        </p:tgtEl>
                                        <p:attrNameLst>
                                          <p:attrName>style.visibility</p:attrName>
                                        </p:attrNameLst>
                                      </p:cBhvr>
                                      <p:to>
                                        <p:strVal val="visible"/>
                                      </p:to>
                                    </p:set>
                                    <p:animEffect transition="in" filter="fade">
                                      <p:cBhvr>
                                        <p:cTn id="68" dur="100"/>
                                        <p:tgtEl>
                                          <p:spTgt spid="25627"/>
                                        </p:tgtEl>
                                      </p:cBhvr>
                                    </p:animEffect>
                                    <p:anim calcmode="lin" valueType="num">
                                      <p:cBhvr>
                                        <p:cTn id="69" dur="400" fill="hold"/>
                                        <p:tgtEl>
                                          <p:spTgt spid="25627"/>
                                        </p:tgtEl>
                                        <p:attrNameLst>
                                          <p:attrName>ppt_x</p:attrName>
                                        </p:attrNameLst>
                                      </p:cBhvr>
                                      <p:tavLst>
                                        <p:tav tm="0">
                                          <p:val>
                                            <p:strVal val="#ppt_x"/>
                                          </p:val>
                                        </p:tav>
                                        <p:tav tm="100000">
                                          <p:val>
                                            <p:strVal val="#ppt_x"/>
                                          </p:val>
                                        </p:tav>
                                      </p:tavLst>
                                    </p:anim>
                                    <p:anim calcmode="lin" valueType="num">
                                      <p:cBhvr>
                                        <p:cTn id="70" dur="400" fill="hold"/>
                                        <p:tgtEl>
                                          <p:spTgt spid="25627"/>
                                        </p:tgtEl>
                                        <p:attrNameLst>
                                          <p:attrName>ppt_y</p:attrName>
                                        </p:attrNameLst>
                                      </p:cBhvr>
                                      <p:tavLst>
                                        <p:tav tm="0">
                                          <p:val>
                                            <p:strVal val="#ppt_y+0.31"/>
                                          </p:val>
                                        </p:tav>
                                        <p:tav tm="100000">
                                          <p:val>
                                            <p:strVal val="#ppt_y+0.31"/>
                                          </p:val>
                                        </p:tav>
                                      </p:tavLst>
                                    </p:anim>
                                    <p:anim calcmode="lin" valueType="num">
                                      <p:cBhvr>
                                        <p:cTn id="71" dur="600" decel="50000" fill="hold">
                                          <p:stCondLst>
                                            <p:cond delay="400"/>
                                          </p:stCondLst>
                                        </p:cTn>
                                        <p:tgtEl>
                                          <p:spTgt spid="25627"/>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72" dur="600" decel="50000" fill="hold">
                                          <p:stCondLst>
                                            <p:cond delay="400"/>
                                          </p:stCondLst>
                                        </p:cTn>
                                        <p:tgtEl>
                                          <p:spTgt spid="25627"/>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73" fill="hold" nodeType="clickPar">
                      <p:stCondLst>
                        <p:cond delay="indefinite"/>
                      </p:stCondLst>
                      <p:childTnLst>
                        <p:par>
                          <p:cTn id="74" fill="hold" nodeType="withGroup">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25620"/>
                                        </p:tgtEl>
                                        <p:attrNameLst>
                                          <p:attrName>style.visibility</p:attrName>
                                        </p:attrNameLst>
                                      </p:cBhvr>
                                      <p:to>
                                        <p:strVal val="visible"/>
                                      </p:to>
                                    </p:set>
                                    <p:animEffect transition="in" filter="blinds(horizontal)">
                                      <p:cBhvr>
                                        <p:cTn id="77" dur="500"/>
                                        <p:tgtEl>
                                          <p:spTgt spid="25620"/>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25630"/>
                                        </p:tgtEl>
                                        <p:attrNameLst>
                                          <p:attrName>style.visibility</p:attrName>
                                        </p:attrNameLst>
                                      </p:cBhvr>
                                      <p:to>
                                        <p:strVal val="visible"/>
                                      </p:to>
                                    </p:set>
                                    <p:animEffect transition="in" filter="blinds(horizontal)">
                                      <p:cBhvr>
                                        <p:cTn id="82" dur="500"/>
                                        <p:tgtEl>
                                          <p:spTgt spid="25630"/>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25607"/>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25605"/>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25606"/>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25617"/>
                                        </p:tgtEl>
                                        <p:attrNameLst>
                                          <p:attrName>style.visibility</p:attrName>
                                        </p:attrNameLst>
                                      </p:cBhvr>
                                      <p:to>
                                        <p:strVal val="visible"/>
                                      </p:to>
                                    </p:se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1" fill="hold" nodeType="clickEffect">
                                  <p:stCondLst>
                                    <p:cond delay="0"/>
                                  </p:stCondLst>
                                  <p:childTnLst>
                                    <p:set>
                                      <p:cBhvr>
                                        <p:cTn id="96" dur="1" fill="hold">
                                          <p:stCondLst>
                                            <p:cond delay="0"/>
                                          </p:stCondLst>
                                        </p:cTn>
                                        <p:tgtEl>
                                          <p:spTgt spid="25624"/>
                                        </p:tgtEl>
                                        <p:attrNameLst>
                                          <p:attrName>style.visibility</p:attrName>
                                        </p:attrNameLst>
                                      </p:cBhvr>
                                      <p:to>
                                        <p:strVal val="visible"/>
                                      </p:to>
                                    </p:set>
                                    <p:animEffect transition="in" filter="wipe(up)">
                                      <p:cBhvr>
                                        <p:cTn id="97" dur="2000"/>
                                        <p:tgtEl>
                                          <p:spTgt spid="25624"/>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3" presetClass="entr" presetSubtype="10" fill="hold" grpId="0" nodeType="clickEffect">
                                  <p:stCondLst>
                                    <p:cond delay="0"/>
                                  </p:stCondLst>
                                  <p:childTnLst>
                                    <p:set>
                                      <p:cBhvr>
                                        <p:cTn id="101" dur="1" fill="hold">
                                          <p:stCondLst>
                                            <p:cond delay="0"/>
                                          </p:stCondLst>
                                        </p:cTn>
                                        <p:tgtEl>
                                          <p:spTgt spid="25625"/>
                                        </p:tgtEl>
                                        <p:attrNameLst>
                                          <p:attrName>style.visibility</p:attrName>
                                        </p:attrNameLst>
                                      </p:cBhvr>
                                      <p:to>
                                        <p:strVal val="visible"/>
                                      </p:to>
                                    </p:set>
                                    <p:animEffect transition="in" filter="blinds(horizontal)">
                                      <p:cBhvr>
                                        <p:cTn id="102" dur="500"/>
                                        <p:tgtEl>
                                          <p:spTgt spid="25625"/>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8" fill="hold" nodeType="clickEffect">
                                  <p:stCondLst>
                                    <p:cond delay="0"/>
                                  </p:stCondLst>
                                  <p:childTnLst>
                                    <p:set>
                                      <p:cBhvr>
                                        <p:cTn id="106" dur="1" fill="hold">
                                          <p:stCondLst>
                                            <p:cond delay="0"/>
                                          </p:stCondLst>
                                        </p:cTn>
                                        <p:tgtEl>
                                          <p:spTgt spid="25621"/>
                                        </p:tgtEl>
                                        <p:attrNameLst>
                                          <p:attrName>style.visibility</p:attrName>
                                        </p:attrNameLst>
                                      </p:cBhvr>
                                      <p:to>
                                        <p:strVal val="visible"/>
                                      </p:to>
                                    </p:set>
                                    <p:animEffect transition="in" filter="wipe(left)">
                                      <p:cBhvr>
                                        <p:cTn id="107" dur="2000"/>
                                        <p:tgtEl>
                                          <p:spTgt spid="25621"/>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3" presetClass="entr" presetSubtype="10" fill="hold" grpId="0" nodeType="clickEffect">
                                  <p:stCondLst>
                                    <p:cond delay="0"/>
                                  </p:stCondLst>
                                  <p:childTnLst>
                                    <p:set>
                                      <p:cBhvr>
                                        <p:cTn id="111" dur="1" fill="hold">
                                          <p:stCondLst>
                                            <p:cond delay="0"/>
                                          </p:stCondLst>
                                        </p:cTn>
                                        <p:tgtEl>
                                          <p:spTgt spid="25622"/>
                                        </p:tgtEl>
                                        <p:attrNameLst>
                                          <p:attrName>style.visibility</p:attrName>
                                        </p:attrNameLst>
                                      </p:cBhvr>
                                      <p:to>
                                        <p:strVal val="visible"/>
                                      </p:to>
                                    </p:set>
                                    <p:animEffect transition="in" filter="blinds(horizontal)">
                                      <p:cBhvr>
                                        <p:cTn id="112" dur="500"/>
                                        <p:tgtEl>
                                          <p:spTgt spid="25622"/>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2" presetClass="entr" presetSubtype="1" fill="hold" nodeType="clickEffect">
                                  <p:stCondLst>
                                    <p:cond delay="0"/>
                                  </p:stCondLst>
                                  <p:childTnLst>
                                    <p:set>
                                      <p:cBhvr>
                                        <p:cTn id="116" dur="1" fill="hold">
                                          <p:stCondLst>
                                            <p:cond delay="0"/>
                                          </p:stCondLst>
                                        </p:cTn>
                                        <p:tgtEl>
                                          <p:spTgt spid="25623"/>
                                        </p:tgtEl>
                                        <p:attrNameLst>
                                          <p:attrName>style.visibility</p:attrName>
                                        </p:attrNameLst>
                                      </p:cBhvr>
                                      <p:to>
                                        <p:strVal val="visible"/>
                                      </p:to>
                                    </p:set>
                                    <p:animEffect transition="in" filter="wipe(up)">
                                      <p:cBhvr>
                                        <p:cTn id="117" dur="2000"/>
                                        <p:tgtEl>
                                          <p:spTgt spid="25623"/>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3" presetClass="entr" presetSubtype="10" fill="hold" grpId="0" nodeType="clickEffect">
                                  <p:stCondLst>
                                    <p:cond delay="0"/>
                                  </p:stCondLst>
                                  <p:childTnLst>
                                    <p:set>
                                      <p:cBhvr>
                                        <p:cTn id="121" dur="1" fill="hold">
                                          <p:stCondLst>
                                            <p:cond delay="0"/>
                                          </p:stCondLst>
                                        </p:cTn>
                                        <p:tgtEl>
                                          <p:spTgt spid="25626"/>
                                        </p:tgtEl>
                                        <p:attrNameLst>
                                          <p:attrName>style.visibility</p:attrName>
                                        </p:attrNameLst>
                                      </p:cBhvr>
                                      <p:to>
                                        <p:strVal val="visible"/>
                                      </p:to>
                                    </p:set>
                                    <p:animEffect transition="in" filter="blinds(horizontal)">
                                      <p:cBhvr>
                                        <p:cTn id="122" dur="500"/>
                                        <p:tgtEl>
                                          <p:spTgt spid="256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7" grpId="0"/>
      <p:bldP spid="25610" grpId="0"/>
      <p:bldP spid="25611" grpId="0"/>
      <p:bldP spid="25613" grpId="0"/>
      <p:bldP spid="25616" grpId="0"/>
      <p:bldP spid="25617" grpId="0"/>
      <p:bldP spid="25619" grpId="0"/>
      <p:bldP spid="25620" grpId="0"/>
      <p:bldP spid="25622" grpId="0"/>
      <p:bldP spid="25625" grpId="0"/>
      <p:bldP spid="25626" grpId="0"/>
      <p:bldP spid="25628" grpId="0"/>
      <p:bldP spid="25629" grpId="0"/>
      <p:bldP spid="2563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5">
            <a:extLst>
              <a:ext uri="{FF2B5EF4-FFF2-40B4-BE49-F238E27FC236}">
                <a16:creationId xmlns:a16="http://schemas.microsoft.com/office/drawing/2014/main" id="{F5642E8C-FD90-47FB-9533-A90C5141EDEF}"/>
              </a:ext>
            </a:extLst>
          </p:cNvPr>
          <p:cNvSpPr txBox="1">
            <a:spLocks noGrp="1" noChangeArrowheads="1"/>
          </p:cNvSpPr>
          <p:nvPr>
            <p:ph type="ctrTitle"/>
          </p:nvPr>
        </p:nvSpPr>
        <p:spPr bwMode="auto">
          <a:xfrm>
            <a:off x="1188720" y="961708"/>
            <a:ext cx="10553637"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1" hangingPunct="1">
              <a:defRPr/>
            </a:pPr>
            <a:r>
              <a:rPr lang="es-MX" altLang="es-AR" dirty="0">
                <a:solidFill>
                  <a:schemeClr val="tx1">
                    <a:lumMod val="75000"/>
                    <a:lumOff val="25000"/>
                  </a:schemeClr>
                </a:solidFill>
                <a:effectLst>
                  <a:outerShdw blurRad="38100" dist="38100" dir="2700000" algn="tl">
                    <a:srgbClr val="C0C0C0"/>
                  </a:outerShdw>
                </a:effectLst>
                <a:latin typeface="Tahoma" pitchFamily="34" charset="0"/>
                <a:cs typeface="Arial" charset="0"/>
              </a:rPr>
              <a:t>PUNTO DE EQUILIBRIO</a:t>
            </a:r>
          </a:p>
        </p:txBody>
      </p:sp>
      <p:sp>
        <p:nvSpPr>
          <p:cNvPr id="5" name="Text Box 26">
            <a:extLst>
              <a:ext uri="{FF2B5EF4-FFF2-40B4-BE49-F238E27FC236}">
                <a16:creationId xmlns:a16="http://schemas.microsoft.com/office/drawing/2014/main" id="{27735A57-3B03-42B6-BDFC-E5E8B31EF7BE}"/>
              </a:ext>
            </a:extLst>
          </p:cNvPr>
          <p:cNvSpPr txBox="1">
            <a:spLocks noGrp="1" noChangeArrowheads="1"/>
          </p:cNvSpPr>
          <p:nvPr>
            <p:ph type="subTitle" idx="1"/>
          </p:nvPr>
        </p:nvSpPr>
        <p:spPr bwMode="auto">
          <a:xfrm>
            <a:off x="2753805" y="2728532"/>
            <a:ext cx="8915400" cy="15747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571500" indent="-571500" eaLnBrk="1" hangingPunct="1">
              <a:buClr>
                <a:srgbClr val="002060"/>
              </a:buClr>
              <a:buFont typeface="Arial" panose="020B0604020202020204" pitchFamily="34" charset="0"/>
              <a:buChar char="•"/>
              <a:defRPr/>
            </a:pPr>
            <a:r>
              <a:rPr lang="es-MX" altLang="es-AR" sz="4400" dirty="0">
                <a:effectLst>
                  <a:outerShdw blurRad="38100" dist="38100" dir="2700000" algn="tl">
                    <a:srgbClr val="C0C0C0"/>
                  </a:outerShdw>
                </a:effectLst>
                <a:latin typeface="Tahoma" pitchFamily="34" charset="0"/>
                <a:cs typeface="Arial" charset="0"/>
              </a:rPr>
              <a:t>Punto de equilibrio económico</a:t>
            </a:r>
          </a:p>
          <a:p>
            <a:pPr marL="571500" indent="-571500" eaLnBrk="1" hangingPunct="1">
              <a:buClr>
                <a:srgbClr val="002060"/>
              </a:buClr>
              <a:buFont typeface="Arial" panose="020B0604020202020204" pitchFamily="34" charset="0"/>
              <a:buChar char="•"/>
              <a:defRPr/>
            </a:pPr>
            <a:r>
              <a:rPr lang="es-MX" altLang="es-AR" sz="4400" dirty="0">
                <a:effectLst>
                  <a:outerShdw blurRad="38100" dist="38100" dir="2700000" algn="tl">
                    <a:srgbClr val="C0C0C0"/>
                  </a:outerShdw>
                </a:effectLst>
                <a:latin typeface="Tahoma" pitchFamily="34" charset="0"/>
                <a:cs typeface="Arial" charset="0"/>
              </a:rPr>
              <a:t>Punto de equilibrio financiero </a:t>
            </a:r>
          </a:p>
        </p:txBody>
      </p:sp>
      <p:sp>
        <p:nvSpPr>
          <p:cNvPr id="7" name="Marcador de número de diapositiva 6">
            <a:extLst>
              <a:ext uri="{FF2B5EF4-FFF2-40B4-BE49-F238E27FC236}">
                <a16:creationId xmlns:a16="http://schemas.microsoft.com/office/drawing/2014/main" id="{33674575-47D4-476C-8772-8197234BCF0D}"/>
              </a:ext>
            </a:extLst>
          </p:cNvPr>
          <p:cNvSpPr>
            <a:spLocks noGrp="1"/>
          </p:cNvSpPr>
          <p:nvPr>
            <p:ph type="sldNum" sz="quarter" idx="12"/>
          </p:nvPr>
        </p:nvSpPr>
        <p:spPr/>
        <p:txBody>
          <a:bodyPr/>
          <a:lstStyle/>
          <a:p>
            <a:fld id="{D57F1E4F-1CFF-5643-939E-217C01CDF565}" type="slidenum">
              <a:rPr lang="en-US" smtClean="0"/>
              <a:pPr/>
              <a:t>20</a:t>
            </a:fld>
            <a:endParaRPr lang="en-US" dirty="0"/>
          </a:p>
        </p:txBody>
      </p:sp>
    </p:spTree>
    <p:extLst>
      <p:ext uri="{BB962C8B-B14F-4D97-AF65-F5344CB8AC3E}">
        <p14:creationId xmlns:p14="http://schemas.microsoft.com/office/powerpoint/2010/main" val="1249501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Text Box 4">
            <a:extLst>
              <a:ext uri="{FF2B5EF4-FFF2-40B4-BE49-F238E27FC236}">
                <a16:creationId xmlns:a16="http://schemas.microsoft.com/office/drawing/2014/main" id="{64470DDE-E2C2-406F-8D16-FC3F70AE2380}"/>
              </a:ext>
            </a:extLst>
          </p:cNvPr>
          <p:cNvSpPr txBox="1">
            <a:spLocks noChangeArrowheads="1"/>
          </p:cNvSpPr>
          <p:nvPr/>
        </p:nvSpPr>
        <p:spPr bwMode="auto">
          <a:xfrm>
            <a:off x="1387476" y="185738"/>
            <a:ext cx="75168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latin typeface="+mj-lt"/>
                <a:cs typeface="Arial" charset="0"/>
              </a:rPr>
              <a:t>COSTO TOTAL POR LOTE</a:t>
            </a:r>
          </a:p>
        </p:txBody>
      </p:sp>
      <p:sp>
        <p:nvSpPr>
          <p:cNvPr id="23560" name="Rectangle 8">
            <a:extLst>
              <a:ext uri="{FF2B5EF4-FFF2-40B4-BE49-F238E27FC236}">
                <a16:creationId xmlns:a16="http://schemas.microsoft.com/office/drawing/2014/main" id="{585DAF6F-1361-482B-AF7E-37EED3BF5893}"/>
              </a:ext>
            </a:extLst>
          </p:cNvPr>
          <p:cNvSpPr>
            <a:spLocks noChangeArrowheads="1"/>
          </p:cNvSpPr>
          <p:nvPr/>
        </p:nvSpPr>
        <p:spPr bwMode="auto">
          <a:xfrm>
            <a:off x="1143000" y="1052513"/>
            <a:ext cx="9906000"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b="1" dirty="0">
                <a:solidFill>
                  <a:schemeClr val="tx1">
                    <a:lumMod val="75000"/>
                    <a:lumOff val="25000"/>
                  </a:schemeClr>
                </a:solidFill>
                <a:latin typeface="+mj-lt"/>
              </a:rPr>
              <a:t>Costo Total acumulado por lote, en función del número de unidades producidas, hasta el costo de venta dentro de un cierto nivel de actividad:</a:t>
            </a:r>
            <a:endParaRPr lang="es-ES" altLang="es-AR" sz="2000" b="1" dirty="0">
              <a:solidFill>
                <a:schemeClr val="tx1">
                  <a:lumMod val="75000"/>
                  <a:lumOff val="25000"/>
                </a:schemeClr>
              </a:solidFill>
              <a:latin typeface="+mj-lt"/>
            </a:endParaRPr>
          </a:p>
        </p:txBody>
      </p:sp>
      <p:sp>
        <p:nvSpPr>
          <p:cNvPr id="23561" name="Line 9">
            <a:extLst>
              <a:ext uri="{FF2B5EF4-FFF2-40B4-BE49-F238E27FC236}">
                <a16:creationId xmlns:a16="http://schemas.microsoft.com/office/drawing/2014/main" id="{B5ED04E8-26D9-402D-BFAA-7B33CCD536C1}"/>
              </a:ext>
            </a:extLst>
          </p:cNvPr>
          <p:cNvSpPr>
            <a:spLocks noChangeShapeType="1"/>
          </p:cNvSpPr>
          <p:nvPr/>
        </p:nvSpPr>
        <p:spPr bwMode="auto">
          <a:xfrm flipH="1" flipV="1">
            <a:off x="2422525" y="1941513"/>
            <a:ext cx="0" cy="417671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3562" name="Line 10">
            <a:extLst>
              <a:ext uri="{FF2B5EF4-FFF2-40B4-BE49-F238E27FC236}">
                <a16:creationId xmlns:a16="http://schemas.microsoft.com/office/drawing/2014/main" id="{F82A9FAA-79BE-4292-B633-5039EADB7473}"/>
              </a:ext>
            </a:extLst>
          </p:cNvPr>
          <p:cNvSpPr>
            <a:spLocks noChangeShapeType="1"/>
          </p:cNvSpPr>
          <p:nvPr/>
        </p:nvSpPr>
        <p:spPr bwMode="auto">
          <a:xfrm>
            <a:off x="2206625" y="5973763"/>
            <a:ext cx="424815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3563" name="Text Box 11">
            <a:extLst>
              <a:ext uri="{FF2B5EF4-FFF2-40B4-BE49-F238E27FC236}">
                <a16:creationId xmlns:a16="http://schemas.microsoft.com/office/drawing/2014/main" id="{F055F599-CDDB-4D8E-B305-69D86B1C8AE3}"/>
              </a:ext>
            </a:extLst>
          </p:cNvPr>
          <p:cNvSpPr txBox="1">
            <a:spLocks noChangeArrowheads="1"/>
          </p:cNvSpPr>
          <p:nvPr/>
        </p:nvSpPr>
        <p:spPr bwMode="auto">
          <a:xfrm>
            <a:off x="1416050" y="1725613"/>
            <a:ext cx="990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b="1" dirty="0">
                <a:latin typeface="+mj-lt"/>
              </a:rPr>
              <a:t>CT [$]</a:t>
            </a:r>
            <a:endParaRPr lang="es-AR" altLang="es-AR" b="1" dirty="0">
              <a:latin typeface="+mj-lt"/>
              <a:cs typeface="Tahoma" panose="020B0604030504040204" pitchFamily="34" charset="0"/>
            </a:endParaRPr>
          </a:p>
        </p:txBody>
      </p:sp>
      <p:sp>
        <p:nvSpPr>
          <p:cNvPr id="23564" name="Line 12">
            <a:extLst>
              <a:ext uri="{FF2B5EF4-FFF2-40B4-BE49-F238E27FC236}">
                <a16:creationId xmlns:a16="http://schemas.microsoft.com/office/drawing/2014/main" id="{66DB79F6-E91A-4CEC-AC8F-59C6C7D3D553}"/>
              </a:ext>
            </a:extLst>
          </p:cNvPr>
          <p:cNvSpPr>
            <a:spLocks noChangeShapeType="1"/>
          </p:cNvSpPr>
          <p:nvPr/>
        </p:nvSpPr>
        <p:spPr bwMode="auto">
          <a:xfrm>
            <a:off x="2406650" y="4965700"/>
            <a:ext cx="3887788" cy="0"/>
          </a:xfrm>
          <a:prstGeom prst="line">
            <a:avLst/>
          </a:prstGeom>
          <a:noFill/>
          <a:ln w="285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3565" name="Line 13">
            <a:extLst>
              <a:ext uri="{FF2B5EF4-FFF2-40B4-BE49-F238E27FC236}">
                <a16:creationId xmlns:a16="http://schemas.microsoft.com/office/drawing/2014/main" id="{BEEE367B-3C8B-4B90-924F-7BA90E59D182}"/>
              </a:ext>
            </a:extLst>
          </p:cNvPr>
          <p:cNvSpPr>
            <a:spLocks noChangeShapeType="1"/>
          </p:cNvSpPr>
          <p:nvPr/>
        </p:nvSpPr>
        <p:spPr bwMode="auto">
          <a:xfrm flipV="1">
            <a:off x="2424114" y="3860801"/>
            <a:ext cx="3887787" cy="576263"/>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3566" name="Line 14">
            <a:extLst>
              <a:ext uri="{FF2B5EF4-FFF2-40B4-BE49-F238E27FC236}">
                <a16:creationId xmlns:a16="http://schemas.microsoft.com/office/drawing/2014/main" id="{5BB78613-9403-4BB9-B43E-E4E7225CD5BE}"/>
              </a:ext>
            </a:extLst>
          </p:cNvPr>
          <p:cNvSpPr>
            <a:spLocks noChangeShapeType="1"/>
          </p:cNvSpPr>
          <p:nvPr/>
        </p:nvSpPr>
        <p:spPr bwMode="auto">
          <a:xfrm flipV="1">
            <a:off x="2409826" y="2205039"/>
            <a:ext cx="3902075" cy="2217737"/>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3567" name="Text Box 15">
            <a:extLst>
              <a:ext uri="{FF2B5EF4-FFF2-40B4-BE49-F238E27FC236}">
                <a16:creationId xmlns:a16="http://schemas.microsoft.com/office/drawing/2014/main" id="{554827E8-6C33-43FD-B55B-92B6E3896029}"/>
              </a:ext>
            </a:extLst>
          </p:cNvPr>
          <p:cNvSpPr txBox="1">
            <a:spLocks noChangeArrowheads="1"/>
          </p:cNvSpPr>
          <p:nvPr/>
        </p:nvSpPr>
        <p:spPr bwMode="auto">
          <a:xfrm>
            <a:off x="6456364" y="2492375"/>
            <a:ext cx="437673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a:solidFill>
                  <a:srgbClr val="0000FF"/>
                </a:solidFill>
                <a:latin typeface="Tahoma" panose="020B0604030504040204" pitchFamily="34" charset="0"/>
              </a:rPr>
              <a:t>GASTOS VARIABLES DE COMERCIALIZACION</a:t>
            </a:r>
            <a:endParaRPr lang="es-AR" altLang="es-AR" sz="1400" b="1">
              <a:solidFill>
                <a:srgbClr val="0000FF"/>
              </a:solidFill>
              <a:latin typeface="Tahoma" panose="020B0604030504040204" pitchFamily="34" charset="0"/>
              <a:cs typeface="Tahoma" panose="020B0604030504040204" pitchFamily="34" charset="0"/>
            </a:endParaRPr>
          </a:p>
        </p:txBody>
      </p:sp>
      <p:sp>
        <p:nvSpPr>
          <p:cNvPr id="23568" name="Text Box 16">
            <a:extLst>
              <a:ext uri="{FF2B5EF4-FFF2-40B4-BE49-F238E27FC236}">
                <a16:creationId xmlns:a16="http://schemas.microsoft.com/office/drawing/2014/main" id="{E55A9C7A-9B53-4197-9B40-B5FB20017CC3}"/>
              </a:ext>
            </a:extLst>
          </p:cNvPr>
          <p:cNvSpPr txBox="1">
            <a:spLocks noChangeArrowheads="1"/>
          </p:cNvSpPr>
          <p:nvPr/>
        </p:nvSpPr>
        <p:spPr bwMode="auto">
          <a:xfrm>
            <a:off x="6456364" y="1960564"/>
            <a:ext cx="2447925" cy="376237"/>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lang="es-AR" altLang="es-AR" b="1">
                <a:solidFill>
                  <a:srgbClr val="FF0000"/>
                </a:solidFill>
                <a:effectLst>
                  <a:outerShdw blurRad="38100" dist="38100" dir="2700000" algn="tl">
                    <a:srgbClr val="C0C0C0"/>
                  </a:outerShdw>
                </a:effectLst>
                <a:latin typeface="Tahoma" pitchFamily="34" charset="0"/>
                <a:cs typeface="Arial" charset="0"/>
              </a:rPr>
              <a:t>CT = CF + CVu x q</a:t>
            </a:r>
            <a:endParaRPr lang="es-AR" altLang="es-AR" b="1">
              <a:solidFill>
                <a:srgbClr val="FF0000"/>
              </a:solidFill>
              <a:effectLst>
                <a:outerShdw blurRad="38100" dist="38100" dir="2700000" algn="tl">
                  <a:srgbClr val="C0C0C0"/>
                </a:outerShdw>
              </a:effectLst>
              <a:latin typeface="Tahoma" pitchFamily="34" charset="0"/>
              <a:cs typeface="Tahoma" pitchFamily="34" charset="0"/>
            </a:endParaRPr>
          </a:p>
        </p:txBody>
      </p:sp>
      <p:sp>
        <p:nvSpPr>
          <p:cNvPr id="23569" name="Line 17">
            <a:extLst>
              <a:ext uri="{FF2B5EF4-FFF2-40B4-BE49-F238E27FC236}">
                <a16:creationId xmlns:a16="http://schemas.microsoft.com/office/drawing/2014/main" id="{49A7ABCF-9BAE-4F24-93C2-B6917F49A725}"/>
              </a:ext>
            </a:extLst>
          </p:cNvPr>
          <p:cNvSpPr>
            <a:spLocks noChangeShapeType="1"/>
          </p:cNvSpPr>
          <p:nvPr/>
        </p:nvSpPr>
        <p:spPr bwMode="auto">
          <a:xfrm>
            <a:off x="6310313" y="2228851"/>
            <a:ext cx="0" cy="388937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3570" name="Text Box 18">
            <a:extLst>
              <a:ext uri="{FF2B5EF4-FFF2-40B4-BE49-F238E27FC236}">
                <a16:creationId xmlns:a16="http://schemas.microsoft.com/office/drawing/2014/main" id="{76A600C0-9AE5-422B-9575-00B0315FB123}"/>
              </a:ext>
            </a:extLst>
          </p:cNvPr>
          <p:cNvSpPr txBox="1">
            <a:spLocks noChangeArrowheads="1"/>
          </p:cNvSpPr>
          <p:nvPr/>
        </p:nvSpPr>
        <p:spPr bwMode="auto">
          <a:xfrm>
            <a:off x="6454775" y="4508500"/>
            <a:ext cx="42497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600" b="1">
                <a:solidFill>
                  <a:schemeClr val="hlink"/>
                </a:solidFill>
                <a:latin typeface="Tahoma" panose="020B0604030504040204" pitchFamily="34" charset="0"/>
              </a:rPr>
              <a:t>GASTOS FIJOS DE COMERCIALIZACIÓN</a:t>
            </a:r>
            <a:endParaRPr lang="es-AR" altLang="es-AR" sz="1600" b="1">
              <a:solidFill>
                <a:schemeClr val="hlink"/>
              </a:solidFill>
              <a:latin typeface="Tahoma" panose="020B0604030504040204" pitchFamily="34" charset="0"/>
              <a:cs typeface="Tahoma" panose="020B0604030504040204" pitchFamily="34" charset="0"/>
            </a:endParaRPr>
          </a:p>
        </p:txBody>
      </p:sp>
      <p:sp>
        <p:nvSpPr>
          <p:cNvPr id="23571" name="Rectangle 19">
            <a:extLst>
              <a:ext uri="{FF2B5EF4-FFF2-40B4-BE49-F238E27FC236}">
                <a16:creationId xmlns:a16="http://schemas.microsoft.com/office/drawing/2014/main" id="{3A948C87-E508-42E9-A8AF-470D2E18270E}"/>
              </a:ext>
            </a:extLst>
          </p:cNvPr>
          <p:cNvSpPr>
            <a:spLocks noChangeArrowheads="1"/>
          </p:cNvSpPr>
          <p:nvPr/>
        </p:nvSpPr>
        <p:spPr bwMode="auto">
          <a:xfrm>
            <a:off x="2109789" y="5900738"/>
            <a:ext cx="3143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s-AR" altLang="es-AR" sz="1600" b="1">
                <a:latin typeface="Tahoma" panose="020B0604030504040204" pitchFamily="34" charset="0"/>
              </a:rPr>
              <a:t>0</a:t>
            </a:r>
            <a:endParaRPr lang="es-ES" altLang="es-AR" sz="1600" b="1">
              <a:latin typeface="Tahoma" panose="020B0604030504040204" pitchFamily="34" charset="0"/>
            </a:endParaRPr>
          </a:p>
        </p:txBody>
      </p:sp>
      <p:sp>
        <p:nvSpPr>
          <p:cNvPr id="23572" name="Rectangle 20">
            <a:extLst>
              <a:ext uri="{FF2B5EF4-FFF2-40B4-BE49-F238E27FC236}">
                <a16:creationId xmlns:a16="http://schemas.microsoft.com/office/drawing/2014/main" id="{B5C3FA45-EE67-4CEC-9EE2-9ABF906FAEAD}"/>
              </a:ext>
            </a:extLst>
          </p:cNvPr>
          <p:cNvSpPr>
            <a:spLocks noChangeArrowheads="1"/>
          </p:cNvSpPr>
          <p:nvPr/>
        </p:nvSpPr>
        <p:spPr bwMode="auto">
          <a:xfrm>
            <a:off x="6503989" y="5876925"/>
            <a:ext cx="3127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s-AR" altLang="es-AR" sz="1600" b="1">
                <a:latin typeface="Tahoma" panose="020B0604030504040204" pitchFamily="34" charset="0"/>
              </a:rPr>
              <a:t>q</a:t>
            </a:r>
            <a:endParaRPr lang="es-ES" altLang="es-AR" sz="1600" b="1">
              <a:latin typeface="Tahoma" panose="020B0604030504040204" pitchFamily="34" charset="0"/>
            </a:endParaRPr>
          </a:p>
        </p:txBody>
      </p:sp>
      <p:sp>
        <p:nvSpPr>
          <p:cNvPr id="23573" name="Line 21">
            <a:extLst>
              <a:ext uri="{FF2B5EF4-FFF2-40B4-BE49-F238E27FC236}">
                <a16:creationId xmlns:a16="http://schemas.microsoft.com/office/drawing/2014/main" id="{00A630FA-E7F4-497D-B2D4-742238FD54FA}"/>
              </a:ext>
            </a:extLst>
          </p:cNvPr>
          <p:cNvSpPr>
            <a:spLocks noChangeShapeType="1"/>
          </p:cNvSpPr>
          <p:nvPr/>
        </p:nvSpPr>
        <p:spPr bwMode="auto">
          <a:xfrm>
            <a:off x="2424114" y="5470525"/>
            <a:ext cx="3887787" cy="0"/>
          </a:xfrm>
          <a:prstGeom prst="line">
            <a:avLst/>
          </a:prstGeom>
          <a:noFill/>
          <a:ln w="285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3574" name="Line 22">
            <a:extLst>
              <a:ext uri="{FF2B5EF4-FFF2-40B4-BE49-F238E27FC236}">
                <a16:creationId xmlns:a16="http://schemas.microsoft.com/office/drawing/2014/main" id="{4212573C-B437-4FB6-899C-CA7B498CD8BD}"/>
              </a:ext>
            </a:extLst>
          </p:cNvPr>
          <p:cNvSpPr>
            <a:spLocks noChangeShapeType="1"/>
          </p:cNvSpPr>
          <p:nvPr/>
        </p:nvSpPr>
        <p:spPr bwMode="auto">
          <a:xfrm>
            <a:off x="2424114" y="4448175"/>
            <a:ext cx="3887787" cy="0"/>
          </a:xfrm>
          <a:prstGeom prst="line">
            <a:avLst/>
          </a:prstGeom>
          <a:noFill/>
          <a:ln w="285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3575" name="Line 23">
            <a:extLst>
              <a:ext uri="{FF2B5EF4-FFF2-40B4-BE49-F238E27FC236}">
                <a16:creationId xmlns:a16="http://schemas.microsoft.com/office/drawing/2014/main" id="{78A5D97B-2E3F-425C-8604-07790437C4B6}"/>
              </a:ext>
            </a:extLst>
          </p:cNvPr>
          <p:cNvSpPr>
            <a:spLocks noChangeShapeType="1"/>
          </p:cNvSpPr>
          <p:nvPr/>
        </p:nvSpPr>
        <p:spPr bwMode="auto">
          <a:xfrm flipV="1">
            <a:off x="2424114" y="2997201"/>
            <a:ext cx="3887787" cy="1439863"/>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3576" name="Line 24">
            <a:extLst>
              <a:ext uri="{FF2B5EF4-FFF2-40B4-BE49-F238E27FC236}">
                <a16:creationId xmlns:a16="http://schemas.microsoft.com/office/drawing/2014/main" id="{601E8BA6-00AC-4817-9ED5-A395969E09F9}"/>
              </a:ext>
            </a:extLst>
          </p:cNvPr>
          <p:cNvSpPr>
            <a:spLocks noChangeShapeType="1"/>
          </p:cNvSpPr>
          <p:nvPr/>
        </p:nvSpPr>
        <p:spPr bwMode="auto">
          <a:xfrm flipH="1">
            <a:off x="2424114" y="2205038"/>
            <a:ext cx="3887787"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3577" name="Text Box 25">
            <a:extLst>
              <a:ext uri="{FF2B5EF4-FFF2-40B4-BE49-F238E27FC236}">
                <a16:creationId xmlns:a16="http://schemas.microsoft.com/office/drawing/2014/main" id="{8A76DEFF-1FDD-44A1-9313-66B34D2DBC75}"/>
              </a:ext>
            </a:extLst>
          </p:cNvPr>
          <p:cNvSpPr txBox="1">
            <a:spLocks noChangeArrowheads="1"/>
          </p:cNvSpPr>
          <p:nvPr/>
        </p:nvSpPr>
        <p:spPr bwMode="auto">
          <a:xfrm>
            <a:off x="6456364" y="3284538"/>
            <a:ext cx="37433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a:solidFill>
                  <a:srgbClr val="0000FF"/>
                </a:solidFill>
                <a:latin typeface="Tahoma" panose="020B0604030504040204" pitchFamily="34" charset="0"/>
              </a:rPr>
              <a:t>GASTOS VARIABLES DE FABRICACIÓN</a:t>
            </a:r>
            <a:endParaRPr lang="es-AR" altLang="es-AR" sz="1400" b="1">
              <a:solidFill>
                <a:srgbClr val="0000FF"/>
              </a:solidFill>
              <a:latin typeface="Tahoma" panose="020B0604030504040204" pitchFamily="34" charset="0"/>
              <a:cs typeface="Tahoma" panose="020B0604030504040204" pitchFamily="34" charset="0"/>
            </a:endParaRPr>
          </a:p>
        </p:txBody>
      </p:sp>
      <p:sp>
        <p:nvSpPr>
          <p:cNvPr id="23578" name="Text Box 26">
            <a:extLst>
              <a:ext uri="{FF2B5EF4-FFF2-40B4-BE49-F238E27FC236}">
                <a16:creationId xmlns:a16="http://schemas.microsoft.com/office/drawing/2014/main" id="{49E4EBA6-38DA-4387-9A0C-A9810D10F25A}"/>
              </a:ext>
            </a:extLst>
          </p:cNvPr>
          <p:cNvSpPr txBox="1">
            <a:spLocks noChangeArrowheads="1"/>
          </p:cNvSpPr>
          <p:nvPr/>
        </p:nvSpPr>
        <p:spPr bwMode="auto">
          <a:xfrm>
            <a:off x="6456364" y="4005263"/>
            <a:ext cx="15843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a:solidFill>
                  <a:srgbClr val="0000FF"/>
                </a:solidFill>
                <a:latin typeface="Tahoma" panose="020B0604030504040204" pitchFamily="34" charset="0"/>
              </a:rPr>
              <a:t>COSTO PRIMO</a:t>
            </a:r>
            <a:endParaRPr lang="es-AR" altLang="es-AR" sz="1400" b="1">
              <a:solidFill>
                <a:srgbClr val="0000FF"/>
              </a:solidFill>
              <a:latin typeface="Tahoma" panose="020B0604030504040204" pitchFamily="34" charset="0"/>
              <a:cs typeface="Tahoma" panose="020B0604030504040204" pitchFamily="34" charset="0"/>
            </a:endParaRPr>
          </a:p>
        </p:txBody>
      </p:sp>
      <p:sp>
        <p:nvSpPr>
          <p:cNvPr id="23579" name="Text Box 27">
            <a:extLst>
              <a:ext uri="{FF2B5EF4-FFF2-40B4-BE49-F238E27FC236}">
                <a16:creationId xmlns:a16="http://schemas.microsoft.com/office/drawing/2014/main" id="{D0C77896-5D72-4BDB-8DA8-B7967DD67AC4}"/>
              </a:ext>
            </a:extLst>
          </p:cNvPr>
          <p:cNvSpPr txBox="1">
            <a:spLocks noChangeArrowheads="1"/>
          </p:cNvSpPr>
          <p:nvPr/>
        </p:nvSpPr>
        <p:spPr bwMode="auto">
          <a:xfrm>
            <a:off x="7967664" y="3844925"/>
            <a:ext cx="17287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a:solidFill>
                  <a:srgbClr val="0000FF"/>
                </a:solidFill>
                <a:latin typeface="Tahoma" panose="020B0604030504040204" pitchFamily="34" charset="0"/>
              </a:rPr>
              <a:t>MATERIA PRIMA</a:t>
            </a:r>
            <a:endParaRPr lang="es-AR" altLang="es-AR" sz="1400" b="1">
              <a:solidFill>
                <a:srgbClr val="0000FF"/>
              </a:solidFill>
              <a:latin typeface="Tahoma" panose="020B0604030504040204" pitchFamily="34" charset="0"/>
              <a:cs typeface="Tahoma" panose="020B0604030504040204" pitchFamily="34" charset="0"/>
            </a:endParaRPr>
          </a:p>
        </p:txBody>
      </p:sp>
      <p:sp>
        <p:nvSpPr>
          <p:cNvPr id="23580" name="Text Box 28">
            <a:extLst>
              <a:ext uri="{FF2B5EF4-FFF2-40B4-BE49-F238E27FC236}">
                <a16:creationId xmlns:a16="http://schemas.microsoft.com/office/drawing/2014/main" id="{1F242607-E7D0-4533-BA1C-EDB0DE1C6DFA}"/>
              </a:ext>
            </a:extLst>
          </p:cNvPr>
          <p:cNvSpPr txBox="1">
            <a:spLocks noChangeArrowheads="1"/>
          </p:cNvSpPr>
          <p:nvPr/>
        </p:nvSpPr>
        <p:spPr bwMode="auto">
          <a:xfrm>
            <a:off x="7967663" y="4203700"/>
            <a:ext cx="25209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a:solidFill>
                  <a:srgbClr val="0000FF"/>
                </a:solidFill>
                <a:latin typeface="Tahoma" panose="020B0604030504040204" pitchFamily="34" charset="0"/>
              </a:rPr>
              <a:t>MANO DE OBRA DIRECTA</a:t>
            </a:r>
            <a:endParaRPr lang="es-AR" altLang="es-AR" sz="1400" b="1">
              <a:solidFill>
                <a:srgbClr val="0000FF"/>
              </a:solidFill>
              <a:latin typeface="Tahoma" panose="020B0604030504040204" pitchFamily="34" charset="0"/>
              <a:cs typeface="Tahoma" panose="020B0604030504040204" pitchFamily="34" charset="0"/>
            </a:endParaRPr>
          </a:p>
        </p:txBody>
      </p:sp>
      <p:sp>
        <p:nvSpPr>
          <p:cNvPr id="23581" name="AutoShape 29">
            <a:extLst>
              <a:ext uri="{FF2B5EF4-FFF2-40B4-BE49-F238E27FC236}">
                <a16:creationId xmlns:a16="http://schemas.microsoft.com/office/drawing/2014/main" id="{E9B422EE-9DEE-426A-B95D-96F35B3997A3}"/>
              </a:ext>
            </a:extLst>
          </p:cNvPr>
          <p:cNvSpPr>
            <a:spLocks/>
          </p:cNvSpPr>
          <p:nvPr/>
        </p:nvSpPr>
        <p:spPr bwMode="auto">
          <a:xfrm>
            <a:off x="7896225" y="3789364"/>
            <a:ext cx="71438" cy="719137"/>
          </a:xfrm>
          <a:prstGeom prst="leftBrace">
            <a:avLst>
              <a:gd name="adj1" fmla="val 83888"/>
              <a:gd name="adj2" fmla="val 50000"/>
            </a:avLst>
          </a:prstGeom>
          <a:noFill/>
          <a:ln w="9525">
            <a:solidFill>
              <a:srgbClr val="0000FF"/>
            </a:solidFill>
            <a:round/>
            <a:headEnd/>
            <a:tailEnd/>
          </a:ln>
          <a:effectLst/>
          <a:extLst>
            <a:ext uri="{909E8E84-426E-40DD-AFC4-6F175D3DCCD1}">
              <a14:hiddenFill xmlns:a14="http://schemas.microsoft.com/office/drawing/2010/main">
                <a:solidFill>
                  <a:srgbClr val="0000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p>
        </p:txBody>
      </p:sp>
      <p:sp>
        <p:nvSpPr>
          <p:cNvPr id="23582" name="Text Box 30">
            <a:extLst>
              <a:ext uri="{FF2B5EF4-FFF2-40B4-BE49-F238E27FC236}">
                <a16:creationId xmlns:a16="http://schemas.microsoft.com/office/drawing/2014/main" id="{40E3F371-8CE3-4B49-B612-85FC5217A993}"/>
              </a:ext>
            </a:extLst>
          </p:cNvPr>
          <p:cNvSpPr txBox="1">
            <a:spLocks noChangeArrowheads="1"/>
          </p:cNvSpPr>
          <p:nvPr/>
        </p:nvSpPr>
        <p:spPr bwMode="auto">
          <a:xfrm>
            <a:off x="6456363" y="5084763"/>
            <a:ext cx="40322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600" b="1">
                <a:solidFill>
                  <a:schemeClr val="hlink"/>
                </a:solidFill>
                <a:latin typeface="Tahoma" panose="020B0604030504040204" pitchFamily="34" charset="0"/>
              </a:rPr>
              <a:t>GASTOS FIJOS DE ADMINISTRACIÓN</a:t>
            </a:r>
            <a:endParaRPr lang="es-AR" altLang="es-AR" sz="1600" b="1">
              <a:solidFill>
                <a:schemeClr val="hlink"/>
              </a:solidFill>
              <a:latin typeface="Tahoma" panose="020B0604030504040204" pitchFamily="34" charset="0"/>
              <a:cs typeface="Tahoma" panose="020B0604030504040204" pitchFamily="34" charset="0"/>
            </a:endParaRPr>
          </a:p>
        </p:txBody>
      </p:sp>
      <p:sp>
        <p:nvSpPr>
          <p:cNvPr id="23583" name="Text Box 31">
            <a:extLst>
              <a:ext uri="{FF2B5EF4-FFF2-40B4-BE49-F238E27FC236}">
                <a16:creationId xmlns:a16="http://schemas.microsoft.com/office/drawing/2014/main" id="{826893DE-C0BE-432C-984C-B0C5B53E514A}"/>
              </a:ext>
            </a:extLst>
          </p:cNvPr>
          <p:cNvSpPr txBox="1">
            <a:spLocks noChangeArrowheads="1"/>
          </p:cNvSpPr>
          <p:nvPr/>
        </p:nvSpPr>
        <p:spPr bwMode="auto">
          <a:xfrm>
            <a:off x="6456363" y="5511800"/>
            <a:ext cx="40322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600" b="1">
                <a:solidFill>
                  <a:schemeClr val="hlink"/>
                </a:solidFill>
                <a:latin typeface="Tahoma" panose="020B0604030504040204" pitchFamily="34" charset="0"/>
              </a:rPr>
              <a:t>GASTOS FIJOS DE FABRICACIÓN</a:t>
            </a:r>
            <a:endParaRPr lang="es-AR" altLang="es-AR" sz="1600" b="1">
              <a:solidFill>
                <a:schemeClr val="hlink"/>
              </a:solidFill>
              <a:latin typeface="Tahoma" panose="020B0604030504040204" pitchFamily="34" charset="0"/>
              <a:cs typeface="Tahoma" panose="020B0604030504040204" pitchFamily="34" charset="0"/>
            </a:endParaRPr>
          </a:p>
        </p:txBody>
      </p:sp>
      <p:sp>
        <p:nvSpPr>
          <p:cNvPr id="23584" name="Arc 32">
            <a:extLst>
              <a:ext uri="{FF2B5EF4-FFF2-40B4-BE49-F238E27FC236}">
                <a16:creationId xmlns:a16="http://schemas.microsoft.com/office/drawing/2014/main" id="{58F62312-7E37-4D73-8524-EE1037519F65}"/>
              </a:ext>
            </a:extLst>
          </p:cNvPr>
          <p:cNvSpPr>
            <a:spLocks/>
          </p:cNvSpPr>
          <p:nvPr/>
        </p:nvSpPr>
        <p:spPr bwMode="auto">
          <a:xfrm>
            <a:off x="3187701" y="3957638"/>
            <a:ext cx="358775" cy="506412"/>
          </a:xfrm>
          <a:custGeom>
            <a:avLst/>
            <a:gdLst>
              <a:gd name="T0" fmla="*/ 0 w 21600"/>
              <a:gd name="T1" fmla="*/ 0 h 39815"/>
              <a:gd name="T2" fmla="*/ 3202814 w 21600"/>
              <a:gd name="T3" fmla="*/ 6441118 h 39815"/>
              <a:gd name="T4" fmla="*/ 0 w 21600"/>
              <a:gd name="T5" fmla="*/ 3494364 h 39815"/>
              <a:gd name="T6" fmla="*/ 0 60000 65536"/>
              <a:gd name="T7" fmla="*/ 0 60000 65536"/>
              <a:gd name="T8" fmla="*/ 0 60000 65536"/>
            </a:gdLst>
            <a:ahLst/>
            <a:cxnLst>
              <a:cxn ang="T6">
                <a:pos x="T0" y="T1"/>
              </a:cxn>
              <a:cxn ang="T7">
                <a:pos x="T2" y="T3"/>
              </a:cxn>
              <a:cxn ang="T8">
                <a:pos x="T4" y="T5"/>
              </a:cxn>
            </a:cxnLst>
            <a:rect l="0" t="0" r="r" b="b"/>
            <a:pathLst>
              <a:path w="21600" h="39815" fill="none" extrusionOk="0">
                <a:moveTo>
                  <a:pt x="0" y="0"/>
                </a:moveTo>
                <a:cubicBezTo>
                  <a:pt x="11929" y="0"/>
                  <a:pt x="21600" y="9670"/>
                  <a:pt x="21600" y="21600"/>
                </a:cubicBezTo>
                <a:cubicBezTo>
                  <a:pt x="21600" y="28979"/>
                  <a:pt x="17832" y="35848"/>
                  <a:pt x="11609" y="39815"/>
                </a:cubicBezTo>
              </a:path>
              <a:path w="21600" h="39815" stroke="0" extrusionOk="0">
                <a:moveTo>
                  <a:pt x="0" y="0"/>
                </a:moveTo>
                <a:cubicBezTo>
                  <a:pt x="11929" y="0"/>
                  <a:pt x="21600" y="9670"/>
                  <a:pt x="21600" y="21600"/>
                </a:cubicBezTo>
                <a:cubicBezTo>
                  <a:pt x="21600" y="28979"/>
                  <a:pt x="17832" y="35848"/>
                  <a:pt x="11609" y="39815"/>
                </a:cubicBezTo>
                <a:lnTo>
                  <a:pt x="0" y="21600"/>
                </a:lnTo>
                <a:lnTo>
                  <a:pt x="0" y="0"/>
                </a:lnTo>
                <a:close/>
              </a:path>
            </a:pathLst>
          </a:custGeom>
          <a:noFill/>
          <a:ln w="9525">
            <a:solidFill>
              <a:srgbClr val="0000FF"/>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23585" name="Text Box 33">
            <a:extLst>
              <a:ext uri="{FF2B5EF4-FFF2-40B4-BE49-F238E27FC236}">
                <a16:creationId xmlns:a16="http://schemas.microsoft.com/office/drawing/2014/main" id="{4F7969A3-CE9E-4EEE-A893-3BA020D437F9}"/>
              </a:ext>
            </a:extLst>
          </p:cNvPr>
          <p:cNvSpPr txBox="1">
            <a:spLocks noChangeArrowheads="1"/>
          </p:cNvSpPr>
          <p:nvPr/>
        </p:nvSpPr>
        <p:spPr bwMode="auto">
          <a:xfrm>
            <a:off x="2495550" y="3525838"/>
            <a:ext cx="10795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a:solidFill>
                  <a:srgbClr val="0000FF"/>
                </a:solidFill>
                <a:latin typeface="Tahoma" panose="020B0604030504040204" pitchFamily="34" charset="0"/>
              </a:rPr>
              <a:t>CVu total</a:t>
            </a:r>
            <a:endParaRPr lang="es-AR" altLang="es-AR" sz="1400" b="1">
              <a:solidFill>
                <a:srgbClr val="0000FF"/>
              </a:solidFill>
              <a:latin typeface="Tahoma" panose="020B0604030504040204" pitchFamily="34" charset="0"/>
              <a:cs typeface="Tahoma" panose="020B0604030504040204" pitchFamily="34" charset="0"/>
            </a:endParaRPr>
          </a:p>
        </p:txBody>
      </p:sp>
      <p:sp>
        <p:nvSpPr>
          <p:cNvPr id="2" name="Marcador de número de diapositiva 1">
            <a:extLst>
              <a:ext uri="{FF2B5EF4-FFF2-40B4-BE49-F238E27FC236}">
                <a16:creationId xmlns:a16="http://schemas.microsoft.com/office/drawing/2014/main" id="{8D42B433-FF9D-4A53-B095-BD354BA81E0D}"/>
              </a:ext>
            </a:extLst>
          </p:cNvPr>
          <p:cNvSpPr>
            <a:spLocks noGrp="1"/>
          </p:cNvSpPr>
          <p:nvPr>
            <p:ph type="sldNum" sz="quarter" idx="12"/>
          </p:nvPr>
        </p:nvSpPr>
        <p:spPr/>
        <p:txBody>
          <a:bodyPr/>
          <a:lstStyle/>
          <a:p>
            <a:fld id="{D57F1E4F-1CFF-5643-939E-217C01CDF565}" type="slidenum">
              <a:rPr lang="en-US" smtClean="0"/>
              <a:pPr/>
              <a:t>21</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56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356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56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56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57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57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4" fill="hold" nodeType="clickEffect">
                                  <p:stCondLst>
                                    <p:cond delay="0"/>
                                  </p:stCondLst>
                                  <p:childTnLst>
                                    <p:set>
                                      <p:cBhvr>
                                        <p:cTn id="22" dur="1" fill="hold">
                                          <p:stCondLst>
                                            <p:cond delay="0"/>
                                          </p:stCondLst>
                                        </p:cTn>
                                        <p:tgtEl>
                                          <p:spTgt spid="23569"/>
                                        </p:tgtEl>
                                        <p:attrNameLst>
                                          <p:attrName>style.visibility</p:attrName>
                                        </p:attrNameLst>
                                      </p:cBhvr>
                                      <p:to>
                                        <p:strVal val="visible"/>
                                      </p:to>
                                    </p:set>
                                    <p:animEffect transition="in" filter="wipe(down)">
                                      <p:cBhvr>
                                        <p:cTn id="23" dur="500"/>
                                        <p:tgtEl>
                                          <p:spTgt spid="23569"/>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0"/>
                                          </p:stCondLst>
                                        </p:cTn>
                                        <p:tgtEl>
                                          <p:spTgt spid="2357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3583"/>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nodeType="clickEffect">
                                  <p:stCondLst>
                                    <p:cond delay="0"/>
                                  </p:stCondLst>
                                  <p:childTnLst>
                                    <p:set>
                                      <p:cBhvr>
                                        <p:cTn id="33" dur="1" fill="hold">
                                          <p:stCondLst>
                                            <p:cond delay="0"/>
                                          </p:stCondLst>
                                        </p:cTn>
                                        <p:tgtEl>
                                          <p:spTgt spid="23564"/>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23582"/>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nodeType="clickEffect">
                                  <p:stCondLst>
                                    <p:cond delay="0"/>
                                  </p:stCondLst>
                                  <p:childTnLst>
                                    <p:set>
                                      <p:cBhvr>
                                        <p:cTn id="39" dur="1" fill="hold">
                                          <p:stCondLst>
                                            <p:cond delay="0"/>
                                          </p:stCondLst>
                                        </p:cTn>
                                        <p:tgtEl>
                                          <p:spTgt spid="23574"/>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23570"/>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nodeType="clickEffect">
                                  <p:stCondLst>
                                    <p:cond delay="0"/>
                                  </p:stCondLst>
                                  <p:childTnLst>
                                    <p:set>
                                      <p:cBhvr>
                                        <p:cTn id="45" dur="1" fill="hold">
                                          <p:stCondLst>
                                            <p:cond delay="0"/>
                                          </p:stCondLst>
                                        </p:cTn>
                                        <p:tgtEl>
                                          <p:spTgt spid="23565"/>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23578"/>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23581"/>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23579"/>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23580"/>
                                        </p:tgtEl>
                                        <p:attrNameLst>
                                          <p:attrName>style.visibility</p:attrName>
                                        </p:attrNameLst>
                                      </p:cBhvr>
                                      <p:to>
                                        <p:strVal val="visible"/>
                                      </p:to>
                                    </p:set>
                                  </p:childTnLst>
                                </p:cTn>
                              </p:par>
                            </p:childTnLst>
                          </p:cTn>
                        </p:par>
                      </p:childTnLst>
                    </p:cTn>
                  </p:par>
                  <p:par>
                    <p:cTn id="54" fill="hold" nodeType="clickPar">
                      <p:stCondLst>
                        <p:cond delay="indefinite"/>
                      </p:stCondLst>
                      <p:childTnLst>
                        <p:par>
                          <p:cTn id="55" fill="hold" nodeType="withGroup">
                            <p:stCondLst>
                              <p:cond delay="0"/>
                            </p:stCondLst>
                            <p:childTnLst>
                              <p:par>
                                <p:cTn id="56" presetID="1" presetClass="entr" presetSubtype="0" fill="hold" nodeType="clickEffect">
                                  <p:stCondLst>
                                    <p:cond delay="0"/>
                                  </p:stCondLst>
                                  <p:childTnLst>
                                    <p:set>
                                      <p:cBhvr>
                                        <p:cTn id="57" dur="1" fill="hold">
                                          <p:stCondLst>
                                            <p:cond delay="0"/>
                                          </p:stCondLst>
                                        </p:cTn>
                                        <p:tgtEl>
                                          <p:spTgt spid="23575"/>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23577"/>
                                        </p:tgtEl>
                                        <p:attrNameLst>
                                          <p:attrName>style.visibility</p:attrName>
                                        </p:attrNameLst>
                                      </p:cBhvr>
                                      <p:to>
                                        <p:strVal val="visible"/>
                                      </p:to>
                                    </p:set>
                                  </p:childTnLst>
                                </p:cTn>
                              </p:par>
                            </p:childTnLst>
                          </p:cTn>
                        </p:par>
                      </p:childTnLst>
                    </p:cTn>
                  </p:par>
                  <p:par>
                    <p:cTn id="60" fill="hold" nodeType="clickPar">
                      <p:stCondLst>
                        <p:cond delay="indefinite"/>
                      </p:stCondLst>
                      <p:childTnLst>
                        <p:par>
                          <p:cTn id="61" fill="hold" nodeType="withGroup">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23567"/>
                                        </p:tgtEl>
                                        <p:attrNameLst>
                                          <p:attrName>style.visibility</p:attrName>
                                        </p:attrNameLst>
                                      </p:cBhvr>
                                      <p:to>
                                        <p:strVal val="visible"/>
                                      </p:to>
                                    </p:se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4" fill="hold" nodeType="clickEffect">
                                  <p:stCondLst>
                                    <p:cond delay="0"/>
                                  </p:stCondLst>
                                  <p:childTnLst>
                                    <p:set>
                                      <p:cBhvr>
                                        <p:cTn id="67" dur="1" fill="hold">
                                          <p:stCondLst>
                                            <p:cond delay="0"/>
                                          </p:stCondLst>
                                        </p:cTn>
                                        <p:tgtEl>
                                          <p:spTgt spid="23566"/>
                                        </p:tgtEl>
                                        <p:attrNameLst>
                                          <p:attrName>style.visibility</p:attrName>
                                        </p:attrNameLst>
                                      </p:cBhvr>
                                      <p:to>
                                        <p:strVal val="visible"/>
                                      </p:to>
                                    </p:set>
                                    <p:animEffect transition="in" filter="wipe(down)">
                                      <p:cBhvr>
                                        <p:cTn id="68" dur="500"/>
                                        <p:tgtEl>
                                          <p:spTgt spid="23566"/>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1" presetClass="entr" presetSubtype="0" fill="hold" nodeType="clickEffect">
                                  <p:stCondLst>
                                    <p:cond delay="0"/>
                                  </p:stCondLst>
                                  <p:childTnLst>
                                    <p:set>
                                      <p:cBhvr>
                                        <p:cTn id="72" dur="1" fill="hold">
                                          <p:stCondLst>
                                            <p:cond delay="0"/>
                                          </p:stCondLst>
                                        </p:cTn>
                                        <p:tgtEl>
                                          <p:spTgt spid="23584"/>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23585"/>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nodeType="clickEffect">
                                  <p:stCondLst>
                                    <p:cond delay="0"/>
                                  </p:stCondLst>
                                  <p:childTnLst>
                                    <p:set>
                                      <p:cBhvr>
                                        <p:cTn id="78" dur="1" fill="hold">
                                          <p:stCondLst>
                                            <p:cond delay="0"/>
                                          </p:stCondLst>
                                        </p:cTn>
                                        <p:tgtEl>
                                          <p:spTgt spid="23576"/>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35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60" grpId="0"/>
      <p:bldP spid="23563" grpId="0"/>
      <p:bldP spid="23567" grpId="0"/>
      <p:bldP spid="23568" grpId="0" animBg="1"/>
      <p:bldP spid="23570" grpId="0"/>
      <p:bldP spid="23571" grpId="0"/>
      <p:bldP spid="23572" grpId="0"/>
      <p:bldP spid="23577" grpId="0"/>
      <p:bldP spid="23578" grpId="0"/>
      <p:bldP spid="23579" grpId="0"/>
      <p:bldP spid="23580" grpId="0"/>
      <p:bldP spid="23581" grpId="0" animBg="1"/>
      <p:bldP spid="23582" grpId="0"/>
      <p:bldP spid="23583" grpId="0"/>
      <p:bldP spid="2358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ext Box 4">
            <a:extLst>
              <a:ext uri="{FF2B5EF4-FFF2-40B4-BE49-F238E27FC236}">
                <a16:creationId xmlns:a16="http://schemas.microsoft.com/office/drawing/2014/main" id="{56D2BCE6-F379-46EF-81B3-5BBE7DCD3EE9}"/>
              </a:ext>
            </a:extLst>
          </p:cNvPr>
          <p:cNvSpPr txBox="1">
            <a:spLocks noChangeArrowheads="1"/>
          </p:cNvSpPr>
          <p:nvPr/>
        </p:nvSpPr>
        <p:spPr bwMode="auto">
          <a:xfrm>
            <a:off x="1387476" y="185738"/>
            <a:ext cx="75168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latin typeface="+mj-lt"/>
                <a:cs typeface="Arial" charset="0"/>
              </a:rPr>
              <a:t>COSTO UNITARIO POR LOTE</a:t>
            </a:r>
          </a:p>
        </p:txBody>
      </p:sp>
      <p:sp>
        <p:nvSpPr>
          <p:cNvPr id="5154" name="Rectangle 34">
            <a:extLst>
              <a:ext uri="{FF2B5EF4-FFF2-40B4-BE49-F238E27FC236}">
                <a16:creationId xmlns:a16="http://schemas.microsoft.com/office/drawing/2014/main" id="{2DAD3B4E-7BA3-4B55-BDCE-77C3FBA01D81}"/>
              </a:ext>
            </a:extLst>
          </p:cNvPr>
          <p:cNvSpPr>
            <a:spLocks noChangeArrowheads="1"/>
          </p:cNvSpPr>
          <p:nvPr/>
        </p:nvSpPr>
        <p:spPr bwMode="auto">
          <a:xfrm>
            <a:off x="1143000" y="1127126"/>
            <a:ext cx="9906000"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b="1" dirty="0">
                <a:solidFill>
                  <a:schemeClr val="tx1">
                    <a:lumMod val="75000"/>
                    <a:lumOff val="25000"/>
                  </a:schemeClr>
                </a:solidFill>
                <a:latin typeface="+mj-lt"/>
              </a:rPr>
              <a:t>Si dividimos el Costo Total por la cantidad de unidades producidas, obtendremos el Costo Unitario por lote:</a:t>
            </a:r>
            <a:endParaRPr lang="es-ES" altLang="es-AR" sz="2000" b="1" dirty="0">
              <a:solidFill>
                <a:schemeClr val="tx1">
                  <a:lumMod val="75000"/>
                  <a:lumOff val="25000"/>
                </a:schemeClr>
              </a:solidFill>
              <a:latin typeface="+mj-lt"/>
            </a:endParaRPr>
          </a:p>
        </p:txBody>
      </p:sp>
      <p:sp>
        <p:nvSpPr>
          <p:cNvPr id="5155" name="Line 35">
            <a:extLst>
              <a:ext uri="{FF2B5EF4-FFF2-40B4-BE49-F238E27FC236}">
                <a16:creationId xmlns:a16="http://schemas.microsoft.com/office/drawing/2014/main" id="{2EFD5259-B71C-4EBA-A201-5D7B8108FEFD}"/>
              </a:ext>
            </a:extLst>
          </p:cNvPr>
          <p:cNvSpPr>
            <a:spLocks noChangeShapeType="1"/>
          </p:cNvSpPr>
          <p:nvPr/>
        </p:nvSpPr>
        <p:spPr bwMode="auto">
          <a:xfrm flipH="1" flipV="1">
            <a:off x="2422525" y="1916113"/>
            <a:ext cx="0" cy="417671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5156" name="Line 36">
            <a:extLst>
              <a:ext uri="{FF2B5EF4-FFF2-40B4-BE49-F238E27FC236}">
                <a16:creationId xmlns:a16="http://schemas.microsoft.com/office/drawing/2014/main" id="{F0EB992E-D88F-4566-9FB7-B6687A536303}"/>
              </a:ext>
            </a:extLst>
          </p:cNvPr>
          <p:cNvSpPr>
            <a:spLocks noChangeShapeType="1"/>
          </p:cNvSpPr>
          <p:nvPr/>
        </p:nvSpPr>
        <p:spPr bwMode="auto">
          <a:xfrm>
            <a:off x="2206625" y="5948363"/>
            <a:ext cx="424815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5157" name="Text Box 37">
            <a:extLst>
              <a:ext uri="{FF2B5EF4-FFF2-40B4-BE49-F238E27FC236}">
                <a16:creationId xmlns:a16="http://schemas.microsoft.com/office/drawing/2014/main" id="{2DE447F2-B932-4C35-BEC2-AB4C3A8A128F}"/>
              </a:ext>
            </a:extLst>
          </p:cNvPr>
          <p:cNvSpPr txBox="1">
            <a:spLocks noChangeArrowheads="1"/>
          </p:cNvSpPr>
          <p:nvPr/>
        </p:nvSpPr>
        <p:spPr bwMode="auto">
          <a:xfrm>
            <a:off x="1416050" y="1982788"/>
            <a:ext cx="990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b="1">
                <a:latin typeface="Tahoma" panose="020B0604030504040204" pitchFamily="34" charset="0"/>
              </a:rPr>
              <a:t>Cu [$]</a:t>
            </a:r>
            <a:endParaRPr lang="es-AR" altLang="es-AR" b="1">
              <a:latin typeface="Tahoma" panose="020B0604030504040204" pitchFamily="34" charset="0"/>
              <a:cs typeface="Tahoma" panose="020B0604030504040204" pitchFamily="34" charset="0"/>
            </a:endParaRPr>
          </a:p>
        </p:txBody>
      </p:sp>
      <p:sp>
        <p:nvSpPr>
          <p:cNvPr id="5158" name="Line 38">
            <a:extLst>
              <a:ext uri="{FF2B5EF4-FFF2-40B4-BE49-F238E27FC236}">
                <a16:creationId xmlns:a16="http://schemas.microsoft.com/office/drawing/2014/main" id="{A2F70F0D-344D-4556-B179-21E848FED207}"/>
              </a:ext>
            </a:extLst>
          </p:cNvPr>
          <p:cNvSpPr>
            <a:spLocks noChangeShapeType="1"/>
          </p:cNvSpPr>
          <p:nvPr/>
        </p:nvSpPr>
        <p:spPr bwMode="auto">
          <a:xfrm>
            <a:off x="2406650" y="3933825"/>
            <a:ext cx="3887788"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5159" name="Line 39">
            <a:extLst>
              <a:ext uri="{FF2B5EF4-FFF2-40B4-BE49-F238E27FC236}">
                <a16:creationId xmlns:a16="http://schemas.microsoft.com/office/drawing/2014/main" id="{2486A826-7801-4CF8-B88A-7E1000030906}"/>
              </a:ext>
            </a:extLst>
          </p:cNvPr>
          <p:cNvSpPr>
            <a:spLocks noChangeShapeType="1"/>
          </p:cNvSpPr>
          <p:nvPr/>
        </p:nvSpPr>
        <p:spPr bwMode="auto">
          <a:xfrm>
            <a:off x="6310313" y="2203451"/>
            <a:ext cx="0" cy="388937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5160" name="Rectangle 40">
            <a:extLst>
              <a:ext uri="{FF2B5EF4-FFF2-40B4-BE49-F238E27FC236}">
                <a16:creationId xmlns:a16="http://schemas.microsoft.com/office/drawing/2014/main" id="{BE9A2B14-E1A6-4233-9097-861246386BD2}"/>
              </a:ext>
            </a:extLst>
          </p:cNvPr>
          <p:cNvSpPr>
            <a:spLocks noChangeArrowheads="1"/>
          </p:cNvSpPr>
          <p:nvPr/>
        </p:nvSpPr>
        <p:spPr bwMode="auto">
          <a:xfrm>
            <a:off x="2109789" y="5908675"/>
            <a:ext cx="3143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s-AR" altLang="es-AR" sz="1600" b="1">
                <a:latin typeface="Tahoma" panose="020B0604030504040204" pitchFamily="34" charset="0"/>
              </a:rPr>
              <a:t>0</a:t>
            </a:r>
            <a:endParaRPr lang="es-ES" altLang="es-AR" sz="1600" b="1">
              <a:latin typeface="Tahoma" panose="020B0604030504040204" pitchFamily="34" charset="0"/>
            </a:endParaRPr>
          </a:p>
        </p:txBody>
      </p:sp>
      <p:sp>
        <p:nvSpPr>
          <p:cNvPr id="5161" name="Rectangle 41">
            <a:extLst>
              <a:ext uri="{FF2B5EF4-FFF2-40B4-BE49-F238E27FC236}">
                <a16:creationId xmlns:a16="http://schemas.microsoft.com/office/drawing/2014/main" id="{0C311F15-E9E4-401B-99A8-17C766640304}"/>
              </a:ext>
            </a:extLst>
          </p:cNvPr>
          <p:cNvSpPr>
            <a:spLocks noChangeArrowheads="1"/>
          </p:cNvSpPr>
          <p:nvPr/>
        </p:nvSpPr>
        <p:spPr bwMode="auto">
          <a:xfrm>
            <a:off x="6503989" y="5876925"/>
            <a:ext cx="3127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s-AR" altLang="es-AR" sz="1600" b="1">
                <a:latin typeface="Tahoma" panose="020B0604030504040204" pitchFamily="34" charset="0"/>
              </a:rPr>
              <a:t>q</a:t>
            </a:r>
            <a:endParaRPr lang="es-ES" altLang="es-AR" sz="1600" b="1">
              <a:latin typeface="Tahoma" panose="020B0604030504040204" pitchFamily="34" charset="0"/>
            </a:endParaRPr>
          </a:p>
        </p:txBody>
      </p:sp>
      <p:sp>
        <p:nvSpPr>
          <p:cNvPr id="5162" name="Line 42">
            <a:extLst>
              <a:ext uri="{FF2B5EF4-FFF2-40B4-BE49-F238E27FC236}">
                <a16:creationId xmlns:a16="http://schemas.microsoft.com/office/drawing/2014/main" id="{A5953216-E166-401A-974E-CE370957597B}"/>
              </a:ext>
            </a:extLst>
          </p:cNvPr>
          <p:cNvSpPr>
            <a:spLocks noChangeShapeType="1"/>
          </p:cNvSpPr>
          <p:nvPr/>
        </p:nvSpPr>
        <p:spPr bwMode="auto">
          <a:xfrm>
            <a:off x="2424114" y="4508500"/>
            <a:ext cx="3887787"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5163" name="Line 43">
            <a:extLst>
              <a:ext uri="{FF2B5EF4-FFF2-40B4-BE49-F238E27FC236}">
                <a16:creationId xmlns:a16="http://schemas.microsoft.com/office/drawing/2014/main" id="{496F92CC-DCC9-41BC-9B1B-AC2B7C6E8F8D}"/>
              </a:ext>
            </a:extLst>
          </p:cNvPr>
          <p:cNvSpPr>
            <a:spLocks noChangeShapeType="1"/>
          </p:cNvSpPr>
          <p:nvPr/>
        </p:nvSpPr>
        <p:spPr bwMode="auto">
          <a:xfrm>
            <a:off x="2424114" y="3644900"/>
            <a:ext cx="3887787"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5164" name="Line 44">
            <a:extLst>
              <a:ext uri="{FF2B5EF4-FFF2-40B4-BE49-F238E27FC236}">
                <a16:creationId xmlns:a16="http://schemas.microsoft.com/office/drawing/2014/main" id="{15120DAB-F6D5-4A5C-A93D-198AFE09855C}"/>
              </a:ext>
            </a:extLst>
          </p:cNvPr>
          <p:cNvSpPr>
            <a:spLocks noChangeShapeType="1"/>
          </p:cNvSpPr>
          <p:nvPr/>
        </p:nvSpPr>
        <p:spPr bwMode="auto">
          <a:xfrm flipH="1">
            <a:off x="2424114" y="2179638"/>
            <a:ext cx="3887787"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5165" name="Text Box 45">
            <a:extLst>
              <a:ext uri="{FF2B5EF4-FFF2-40B4-BE49-F238E27FC236}">
                <a16:creationId xmlns:a16="http://schemas.microsoft.com/office/drawing/2014/main" id="{FEA250CB-5E69-4BD4-8FDE-1AE6C154FD43}"/>
              </a:ext>
            </a:extLst>
          </p:cNvPr>
          <p:cNvSpPr txBox="1">
            <a:spLocks noChangeArrowheads="1"/>
          </p:cNvSpPr>
          <p:nvPr/>
        </p:nvSpPr>
        <p:spPr bwMode="auto">
          <a:xfrm>
            <a:off x="6311901" y="4203700"/>
            <a:ext cx="37433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dirty="0">
                <a:solidFill>
                  <a:srgbClr val="0000FF"/>
                </a:solidFill>
                <a:latin typeface="+mj-lt"/>
              </a:rPr>
              <a:t>COSTO PRIMO UNITARIO</a:t>
            </a:r>
            <a:endParaRPr lang="es-AR" altLang="es-AR" sz="1400" b="1" dirty="0">
              <a:solidFill>
                <a:srgbClr val="0000FF"/>
              </a:solidFill>
              <a:latin typeface="+mj-lt"/>
              <a:cs typeface="Tahoma" panose="020B0604030504040204" pitchFamily="34" charset="0"/>
            </a:endParaRPr>
          </a:p>
        </p:txBody>
      </p:sp>
      <p:sp>
        <p:nvSpPr>
          <p:cNvPr id="5166" name="Rectangle 46">
            <a:extLst>
              <a:ext uri="{FF2B5EF4-FFF2-40B4-BE49-F238E27FC236}">
                <a16:creationId xmlns:a16="http://schemas.microsoft.com/office/drawing/2014/main" id="{CAE0827E-6029-43CE-8CE8-2CC5856600F7}"/>
              </a:ext>
            </a:extLst>
          </p:cNvPr>
          <p:cNvSpPr>
            <a:spLocks noChangeArrowheads="1"/>
          </p:cNvSpPr>
          <p:nvPr/>
        </p:nvSpPr>
        <p:spPr bwMode="auto">
          <a:xfrm>
            <a:off x="6959601" y="1628776"/>
            <a:ext cx="3095625"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2000" u="sng">
                <a:solidFill>
                  <a:srgbClr val="FF0000"/>
                </a:solidFill>
                <a:effectLst>
                  <a:outerShdw blurRad="38100" dist="38100" dir="2700000" algn="tl">
                    <a:srgbClr val="C0C0C0"/>
                  </a:outerShdw>
                </a:effectLst>
              </a:rPr>
              <a:t>CT</a:t>
            </a:r>
            <a:r>
              <a:rPr lang="es-AR" altLang="es-AR" sz="2000">
                <a:solidFill>
                  <a:srgbClr val="FF0000"/>
                </a:solidFill>
                <a:effectLst>
                  <a:outerShdw blurRad="38100" dist="38100" dir="2700000" algn="tl">
                    <a:srgbClr val="C0C0C0"/>
                  </a:outerShdw>
                </a:effectLst>
              </a:rPr>
              <a:t>  =  </a:t>
            </a:r>
            <a:r>
              <a:rPr lang="es-AR" altLang="es-AR" sz="2000" u="sng">
                <a:solidFill>
                  <a:srgbClr val="FF0000"/>
                </a:solidFill>
                <a:effectLst>
                  <a:outerShdw blurRad="38100" dist="38100" dir="2700000" algn="tl">
                    <a:srgbClr val="C0C0C0"/>
                  </a:outerShdw>
                </a:effectLst>
              </a:rPr>
              <a:t>CF</a:t>
            </a:r>
            <a:r>
              <a:rPr lang="es-AR" altLang="es-AR" sz="2000">
                <a:solidFill>
                  <a:srgbClr val="FF0000"/>
                </a:solidFill>
                <a:effectLst>
                  <a:outerShdw blurRad="38100" dist="38100" dir="2700000" algn="tl">
                    <a:srgbClr val="C0C0C0"/>
                  </a:outerShdw>
                </a:effectLst>
              </a:rPr>
              <a:t> + </a:t>
            </a:r>
            <a:r>
              <a:rPr lang="es-AR" altLang="es-AR" sz="2000" u="sng">
                <a:solidFill>
                  <a:srgbClr val="FF0000"/>
                </a:solidFill>
                <a:effectLst>
                  <a:outerShdw blurRad="38100" dist="38100" dir="2700000" algn="tl">
                    <a:srgbClr val="C0C0C0"/>
                  </a:outerShdw>
                </a:effectLst>
              </a:rPr>
              <a:t>CVu x q</a:t>
            </a:r>
          </a:p>
          <a:p>
            <a:pPr algn="l" eaLnBrk="1" hangingPunct="1">
              <a:defRPr/>
            </a:pPr>
            <a:r>
              <a:rPr lang="es-AR" altLang="es-AR" sz="2000">
                <a:solidFill>
                  <a:srgbClr val="FF0000"/>
                </a:solidFill>
                <a:effectLst>
                  <a:outerShdw blurRad="38100" dist="38100" dir="2700000" algn="tl">
                    <a:srgbClr val="C0C0C0"/>
                  </a:outerShdw>
                </a:effectLst>
              </a:rPr>
              <a:t>  q        q           q</a:t>
            </a:r>
            <a:endParaRPr lang="es-ES" altLang="es-AR" sz="2000" u="sng">
              <a:solidFill>
                <a:srgbClr val="FF0000"/>
              </a:solidFill>
              <a:effectLst>
                <a:outerShdw blurRad="38100" dist="38100" dir="2700000" algn="tl">
                  <a:srgbClr val="C0C0C0"/>
                </a:outerShdw>
              </a:effectLst>
            </a:endParaRPr>
          </a:p>
        </p:txBody>
      </p:sp>
      <p:sp>
        <p:nvSpPr>
          <p:cNvPr id="5167" name="Arc 47">
            <a:extLst>
              <a:ext uri="{FF2B5EF4-FFF2-40B4-BE49-F238E27FC236}">
                <a16:creationId xmlns:a16="http://schemas.microsoft.com/office/drawing/2014/main" id="{C3E70659-B589-42A4-BE33-6347CE76ECFC}"/>
              </a:ext>
            </a:extLst>
          </p:cNvPr>
          <p:cNvSpPr>
            <a:spLocks/>
          </p:cNvSpPr>
          <p:nvPr/>
        </p:nvSpPr>
        <p:spPr bwMode="auto">
          <a:xfrm rot="11065375">
            <a:off x="2493964" y="2133600"/>
            <a:ext cx="3825875" cy="1295400"/>
          </a:xfrm>
          <a:custGeom>
            <a:avLst/>
            <a:gdLst>
              <a:gd name="T0" fmla="*/ 0 w 24240"/>
              <a:gd name="T1" fmla="*/ 762487 h 21600"/>
              <a:gd name="T2" fmla="*/ 603849815 w 24240"/>
              <a:gd name="T3" fmla="*/ 63182655 h 21600"/>
              <a:gd name="T4" fmla="*/ 75232107 w 24240"/>
              <a:gd name="T5" fmla="*/ 77688017 h 21600"/>
              <a:gd name="T6" fmla="*/ 0 60000 65536"/>
              <a:gd name="T7" fmla="*/ 0 60000 65536"/>
              <a:gd name="T8" fmla="*/ 0 60000 65536"/>
            </a:gdLst>
            <a:ahLst/>
            <a:cxnLst>
              <a:cxn ang="T6">
                <a:pos x="T0" y="T1"/>
              </a:cxn>
              <a:cxn ang="T7">
                <a:pos x="T2" y="T3"/>
              </a:cxn>
              <a:cxn ang="T8">
                <a:pos x="T4" y="T5"/>
              </a:cxn>
            </a:cxnLst>
            <a:rect l="0" t="0" r="r" b="b"/>
            <a:pathLst>
              <a:path w="24240" h="21600" fill="none" extrusionOk="0">
                <a:moveTo>
                  <a:pt x="0" y="212"/>
                </a:moveTo>
                <a:cubicBezTo>
                  <a:pt x="1000" y="70"/>
                  <a:pt x="2009" y="0"/>
                  <a:pt x="3020" y="0"/>
                </a:cubicBezTo>
                <a:cubicBezTo>
                  <a:pt x="13394" y="0"/>
                  <a:pt x="22303" y="7375"/>
                  <a:pt x="24240" y="17566"/>
                </a:cubicBezTo>
              </a:path>
              <a:path w="24240" h="21600" stroke="0" extrusionOk="0">
                <a:moveTo>
                  <a:pt x="0" y="212"/>
                </a:moveTo>
                <a:cubicBezTo>
                  <a:pt x="1000" y="70"/>
                  <a:pt x="2009" y="0"/>
                  <a:pt x="3020" y="0"/>
                </a:cubicBezTo>
                <a:cubicBezTo>
                  <a:pt x="13394" y="0"/>
                  <a:pt x="22303" y="7375"/>
                  <a:pt x="24240" y="17566"/>
                </a:cubicBezTo>
                <a:lnTo>
                  <a:pt x="3020" y="21600"/>
                </a:lnTo>
                <a:lnTo>
                  <a:pt x="0" y="212"/>
                </a:lnTo>
                <a:close/>
              </a:path>
            </a:pathLst>
          </a:cu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5168" name="Arc 48">
            <a:extLst>
              <a:ext uri="{FF2B5EF4-FFF2-40B4-BE49-F238E27FC236}">
                <a16:creationId xmlns:a16="http://schemas.microsoft.com/office/drawing/2014/main" id="{FE2ABF7A-4006-4976-949B-0F773568B783}"/>
              </a:ext>
            </a:extLst>
          </p:cNvPr>
          <p:cNvSpPr>
            <a:spLocks/>
          </p:cNvSpPr>
          <p:nvPr/>
        </p:nvSpPr>
        <p:spPr bwMode="auto">
          <a:xfrm rot="11065375">
            <a:off x="2493963" y="4508500"/>
            <a:ext cx="3803650" cy="1225550"/>
          </a:xfrm>
          <a:custGeom>
            <a:avLst/>
            <a:gdLst>
              <a:gd name="T0" fmla="*/ 0 w 24240"/>
              <a:gd name="T1" fmla="*/ 682507 h 21600"/>
              <a:gd name="T2" fmla="*/ 596854510 w 24240"/>
              <a:gd name="T3" fmla="*/ 56552551 h 21600"/>
              <a:gd name="T4" fmla="*/ 74360573 w 24240"/>
              <a:gd name="T5" fmla="*/ 69535778 h 21600"/>
              <a:gd name="T6" fmla="*/ 0 60000 65536"/>
              <a:gd name="T7" fmla="*/ 0 60000 65536"/>
              <a:gd name="T8" fmla="*/ 0 60000 65536"/>
            </a:gdLst>
            <a:ahLst/>
            <a:cxnLst>
              <a:cxn ang="T6">
                <a:pos x="T0" y="T1"/>
              </a:cxn>
              <a:cxn ang="T7">
                <a:pos x="T2" y="T3"/>
              </a:cxn>
              <a:cxn ang="T8">
                <a:pos x="T4" y="T5"/>
              </a:cxn>
            </a:cxnLst>
            <a:rect l="0" t="0" r="r" b="b"/>
            <a:pathLst>
              <a:path w="24240" h="21600" fill="none" extrusionOk="0">
                <a:moveTo>
                  <a:pt x="0" y="212"/>
                </a:moveTo>
                <a:cubicBezTo>
                  <a:pt x="1000" y="70"/>
                  <a:pt x="2009" y="0"/>
                  <a:pt x="3020" y="0"/>
                </a:cubicBezTo>
                <a:cubicBezTo>
                  <a:pt x="13394" y="0"/>
                  <a:pt x="22303" y="7375"/>
                  <a:pt x="24240" y="17566"/>
                </a:cubicBezTo>
              </a:path>
              <a:path w="24240" h="21600" stroke="0" extrusionOk="0">
                <a:moveTo>
                  <a:pt x="0" y="212"/>
                </a:moveTo>
                <a:cubicBezTo>
                  <a:pt x="1000" y="70"/>
                  <a:pt x="2009" y="0"/>
                  <a:pt x="3020" y="0"/>
                </a:cubicBezTo>
                <a:cubicBezTo>
                  <a:pt x="13394" y="0"/>
                  <a:pt x="22303" y="7375"/>
                  <a:pt x="24240" y="17566"/>
                </a:cubicBezTo>
                <a:lnTo>
                  <a:pt x="3020" y="21600"/>
                </a:lnTo>
                <a:lnTo>
                  <a:pt x="0" y="212"/>
                </a:lnTo>
                <a:close/>
              </a:path>
            </a:pathLst>
          </a:custGeom>
          <a:noFill/>
          <a:ln w="28575">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5169" name="Rectangle 49">
            <a:extLst>
              <a:ext uri="{FF2B5EF4-FFF2-40B4-BE49-F238E27FC236}">
                <a16:creationId xmlns:a16="http://schemas.microsoft.com/office/drawing/2014/main" id="{D0DD0162-C512-4A9E-94BC-0BA5E6674F50}"/>
              </a:ext>
            </a:extLst>
          </p:cNvPr>
          <p:cNvSpPr>
            <a:spLocks noChangeArrowheads="1"/>
          </p:cNvSpPr>
          <p:nvPr/>
        </p:nvSpPr>
        <p:spPr bwMode="auto">
          <a:xfrm>
            <a:off x="3287714" y="2492376"/>
            <a:ext cx="3095625"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1800" b="1">
                <a:solidFill>
                  <a:srgbClr val="FF0000"/>
                </a:solidFill>
                <a:effectLst>
                  <a:outerShdw blurRad="38100" dist="38100" dir="2700000" algn="tl">
                    <a:srgbClr val="C0C0C0"/>
                  </a:outerShdw>
                </a:effectLst>
              </a:rPr>
              <a:t>Cu  =  </a:t>
            </a:r>
            <a:r>
              <a:rPr lang="es-AR" altLang="es-AR" sz="1800" b="1" u="sng">
                <a:solidFill>
                  <a:srgbClr val="FF0000"/>
                </a:solidFill>
                <a:effectLst>
                  <a:outerShdw blurRad="38100" dist="38100" dir="2700000" algn="tl">
                    <a:srgbClr val="C0C0C0"/>
                  </a:outerShdw>
                </a:effectLst>
              </a:rPr>
              <a:t>CF</a:t>
            </a:r>
            <a:r>
              <a:rPr lang="es-AR" altLang="es-AR" sz="1800" b="1">
                <a:solidFill>
                  <a:srgbClr val="FF0000"/>
                </a:solidFill>
                <a:effectLst>
                  <a:outerShdw blurRad="38100" dist="38100" dir="2700000" algn="tl">
                    <a:srgbClr val="C0C0C0"/>
                  </a:outerShdw>
                </a:effectLst>
              </a:rPr>
              <a:t> + CVu</a:t>
            </a:r>
          </a:p>
          <a:p>
            <a:pPr algn="l" eaLnBrk="1" hangingPunct="1">
              <a:defRPr/>
            </a:pPr>
            <a:r>
              <a:rPr lang="es-AR" altLang="es-AR" sz="1800" b="1">
                <a:solidFill>
                  <a:srgbClr val="FF0000"/>
                </a:solidFill>
                <a:effectLst>
                  <a:outerShdw blurRad="38100" dist="38100" dir="2700000" algn="tl">
                    <a:srgbClr val="C0C0C0"/>
                  </a:outerShdw>
                </a:effectLst>
              </a:rPr>
              <a:t>            q</a:t>
            </a:r>
            <a:r>
              <a:rPr lang="es-AR" altLang="es-AR" sz="1800">
                <a:solidFill>
                  <a:srgbClr val="FF0000"/>
                </a:solidFill>
                <a:effectLst>
                  <a:outerShdw blurRad="38100" dist="38100" dir="2700000" algn="tl">
                    <a:srgbClr val="C0C0C0"/>
                  </a:outerShdw>
                </a:effectLst>
              </a:rPr>
              <a:t>           </a:t>
            </a:r>
            <a:endParaRPr lang="es-ES" altLang="es-AR" sz="1800" u="sng">
              <a:solidFill>
                <a:srgbClr val="FF0000"/>
              </a:solidFill>
              <a:effectLst>
                <a:outerShdw blurRad="38100" dist="38100" dir="2700000" algn="tl">
                  <a:srgbClr val="C0C0C0"/>
                </a:outerShdw>
              </a:effectLst>
            </a:endParaRPr>
          </a:p>
        </p:txBody>
      </p:sp>
      <p:sp>
        <p:nvSpPr>
          <p:cNvPr id="5170" name="Rectangle 50">
            <a:extLst>
              <a:ext uri="{FF2B5EF4-FFF2-40B4-BE49-F238E27FC236}">
                <a16:creationId xmlns:a16="http://schemas.microsoft.com/office/drawing/2014/main" id="{5069C96A-27D9-4914-A643-AA6BA7E8C0EE}"/>
              </a:ext>
            </a:extLst>
          </p:cNvPr>
          <p:cNvSpPr>
            <a:spLocks noChangeArrowheads="1"/>
          </p:cNvSpPr>
          <p:nvPr/>
        </p:nvSpPr>
        <p:spPr bwMode="auto">
          <a:xfrm>
            <a:off x="3302000" y="4956176"/>
            <a:ext cx="1728788"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1800" b="1">
                <a:solidFill>
                  <a:schemeClr val="hlink"/>
                </a:solidFill>
                <a:effectLst>
                  <a:outerShdw blurRad="38100" dist="38100" dir="2700000" algn="tl">
                    <a:srgbClr val="C0C0C0"/>
                  </a:outerShdw>
                </a:effectLst>
              </a:rPr>
              <a:t>CFu  =  </a:t>
            </a:r>
            <a:r>
              <a:rPr lang="es-AR" altLang="es-AR" sz="1800" b="1" u="sng">
                <a:solidFill>
                  <a:schemeClr val="hlink"/>
                </a:solidFill>
                <a:effectLst>
                  <a:outerShdw blurRad="38100" dist="38100" dir="2700000" algn="tl">
                    <a:srgbClr val="C0C0C0"/>
                  </a:outerShdw>
                </a:effectLst>
              </a:rPr>
              <a:t>CF</a:t>
            </a:r>
            <a:r>
              <a:rPr lang="es-AR" altLang="es-AR" sz="1800" b="1">
                <a:solidFill>
                  <a:schemeClr val="hlink"/>
                </a:solidFill>
                <a:effectLst>
                  <a:outerShdw blurRad="38100" dist="38100" dir="2700000" algn="tl">
                    <a:srgbClr val="C0C0C0"/>
                  </a:outerShdw>
                </a:effectLst>
              </a:rPr>
              <a:t> </a:t>
            </a:r>
          </a:p>
          <a:p>
            <a:pPr algn="l" eaLnBrk="1" hangingPunct="1">
              <a:defRPr/>
            </a:pPr>
            <a:r>
              <a:rPr lang="es-AR" altLang="es-AR" sz="1800" b="1">
                <a:solidFill>
                  <a:schemeClr val="hlink"/>
                </a:solidFill>
                <a:effectLst>
                  <a:outerShdw blurRad="38100" dist="38100" dir="2700000" algn="tl">
                    <a:srgbClr val="C0C0C0"/>
                  </a:outerShdw>
                </a:effectLst>
              </a:rPr>
              <a:t>               q</a:t>
            </a:r>
            <a:r>
              <a:rPr lang="es-AR" altLang="es-AR" sz="1800">
                <a:solidFill>
                  <a:srgbClr val="FF0000"/>
                </a:solidFill>
                <a:effectLst>
                  <a:outerShdw blurRad="38100" dist="38100" dir="2700000" algn="tl">
                    <a:srgbClr val="C0C0C0"/>
                  </a:outerShdw>
                </a:effectLst>
              </a:rPr>
              <a:t>           </a:t>
            </a:r>
            <a:endParaRPr lang="es-ES" altLang="es-AR" sz="1800" u="sng">
              <a:solidFill>
                <a:srgbClr val="FF0000"/>
              </a:solidFill>
              <a:effectLst>
                <a:outerShdw blurRad="38100" dist="38100" dir="2700000" algn="tl">
                  <a:srgbClr val="C0C0C0"/>
                </a:outerShdw>
              </a:effectLst>
            </a:endParaRPr>
          </a:p>
        </p:txBody>
      </p:sp>
      <p:sp>
        <p:nvSpPr>
          <p:cNvPr id="5171" name="Line 51">
            <a:extLst>
              <a:ext uri="{FF2B5EF4-FFF2-40B4-BE49-F238E27FC236}">
                <a16:creationId xmlns:a16="http://schemas.microsoft.com/office/drawing/2014/main" id="{B4F365D0-DE93-41C8-90F1-54366D60723F}"/>
              </a:ext>
            </a:extLst>
          </p:cNvPr>
          <p:cNvSpPr>
            <a:spLocks noChangeShapeType="1"/>
          </p:cNvSpPr>
          <p:nvPr/>
        </p:nvSpPr>
        <p:spPr bwMode="auto">
          <a:xfrm>
            <a:off x="2424114" y="4221163"/>
            <a:ext cx="3887787"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5172" name="Text Box 52">
            <a:extLst>
              <a:ext uri="{FF2B5EF4-FFF2-40B4-BE49-F238E27FC236}">
                <a16:creationId xmlns:a16="http://schemas.microsoft.com/office/drawing/2014/main" id="{A8FFBC6C-2DD7-4AF5-99F4-9DC3FFE398CA}"/>
              </a:ext>
            </a:extLst>
          </p:cNvPr>
          <p:cNvSpPr txBox="1">
            <a:spLocks noChangeArrowheads="1"/>
          </p:cNvSpPr>
          <p:nvPr/>
        </p:nvSpPr>
        <p:spPr bwMode="auto">
          <a:xfrm>
            <a:off x="6311900" y="3916363"/>
            <a:ext cx="47371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dirty="0">
                <a:solidFill>
                  <a:srgbClr val="0000FF"/>
                </a:solidFill>
                <a:latin typeface="+mj-lt"/>
              </a:rPr>
              <a:t>GASTOS VARIABLES DE FABRICACIÓN UNITARIOS</a:t>
            </a:r>
            <a:endParaRPr lang="es-AR" altLang="es-AR" sz="1400" b="1" dirty="0">
              <a:solidFill>
                <a:srgbClr val="0000FF"/>
              </a:solidFill>
              <a:latin typeface="+mj-lt"/>
              <a:cs typeface="Tahoma" panose="020B0604030504040204" pitchFamily="34" charset="0"/>
            </a:endParaRPr>
          </a:p>
        </p:txBody>
      </p:sp>
      <p:sp>
        <p:nvSpPr>
          <p:cNvPr id="5173" name="Text Box 53">
            <a:extLst>
              <a:ext uri="{FF2B5EF4-FFF2-40B4-BE49-F238E27FC236}">
                <a16:creationId xmlns:a16="http://schemas.microsoft.com/office/drawing/2014/main" id="{E57624E6-67A4-4E0A-B06E-0E0C7144B284}"/>
              </a:ext>
            </a:extLst>
          </p:cNvPr>
          <p:cNvSpPr txBox="1">
            <a:spLocks noChangeArrowheads="1"/>
          </p:cNvSpPr>
          <p:nvPr/>
        </p:nvSpPr>
        <p:spPr bwMode="auto">
          <a:xfrm>
            <a:off x="6311900" y="3629025"/>
            <a:ext cx="47371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dirty="0">
                <a:solidFill>
                  <a:srgbClr val="0000FF"/>
                </a:solidFill>
                <a:latin typeface="+mj-lt"/>
              </a:rPr>
              <a:t>GASTOS VARIABLES DE COMERCIALIZ UNITARIOS</a:t>
            </a:r>
            <a:endParaRPr lang="es-AR" altLang="es-AR" sz="1400" b="1" dirty="0">
              <a:solidFill>
                <a:srgbClr val="0000FF"/>
              </a:solidFill>
              <a:latin typeface="+mj-lt"/>
              <a:cs typeface="Tahoma" panose="020B0604030504040204" pitchFamily="34" charset="0"/>
            </a:endParaRPr>
          </a:p>
        </p:txBody>
      </p:sp>
      <p:sp>
        <p:nvSpPr>
          <p:cNvPr id="5174" name="Rectangle 54">
            <a:extLst>
              <a:ext uri="{FF2B5EF4-FFF2-40B4-BE49-F238E27FC236}">
                <a16:creationId xmlns:a16="http://schemas.microsoft.com/office/drawing/2014/main" id="{78F3CBBC-7B22-4575-A427-399D761B876D}"/>
              </a:ext>
            </a:extLst>
          </p:cNvPr>
          <p:cNvSpPr>
            <a:spLocks noChangeArrowheads="1"/>
          </p:cNvSpPr>
          <p:nvPr/>
        </p:nvSpPr>
        <p:spPr bwMode="auto">
          <a:xfrm>
            <a:off x="7175500" y="2565401"/>
            <a:ext cx="2376488" cy="792163"/>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2000" b="1">
                <a:solidFill>
                  <a:srgbClr val="FF0000"/>
                </a:solidFill>
                <a:effectLst>
                  <a:outerShdw blurRad="38100" dist="38100" dir="2700000" algn="tl">
                    <a:srgbClr val="C0C0C0"/>
                  </a:outerShdw>
                </a:effectLst>
              </a:rPr>
              <a:t>Cu  =  </a:t>
            </a:r>
            <a:r>
              <a:rPr lang="es-AR" altLang="es-AR" sz="2000" b="1" u="sng">
                <a:solidFill>
                  <a:srgbClr val="FF0000"/>
                </a:solidFill>
                <a:effectLst>
                  <a:outerShdw blurRad="38100" dist="38100" dir="2700000" algn="tl">
                    <a:srgbClr val="C0C0C0"/>
                  </a:outerShdw>
                </a:effectLst>
              </a:rPr>
              <a:t>CF</a:t>
            </a:r>
            <a:r>
              <a:rPr lang="es-AR" altLang="es-AR" sz="2000" b="1">
                <a:solidFill>
                  <a:srgbClr val="FF0000"/>
                </a:solidFill>
                <a:effectLst>
                  <a:outerShdw blurRad="38100" dist="38100" dir="2700000" algn="tl">
                    <a:srgbClr val="C0C0C0"/>
                  </a:outerShdw>
                </a:effectLst>
              </a:rPr>
              <a:t> + CVu</a:t>
            </a:r>
          </a:p>
          <a:p>
            <a:pPr algn="l" eaLnBrk="1" hangingPunct="1">
              <a:defRPr/>
            </a:pPr>
            <a:r>
              <a:rPr lang="es-AR" altLang="es-AR" sz="2000" b="1">
                <a:solidFill>
                  <a:srgbClr val="FF0000"/>
                </a:solidFill>
                <a:effectLst>
                  <a:outerShdw blurRad="38100" dist="38100" dir="2700000" algn="tl">
                    <a:srgbClr val="C0C0C0"/>
                  </a:outerShdw>
                </a:effectLst>
              </a:rPr>
              <a:t>            q</a:t>
            </a:r>
            <a:r>
              <a:rPr lang="es-AR" altLang="es-AR" sz="1800">
                <a:solidFill>
                  <a:srgbClr val="FF0000"/>
                </a:solidFill>
                <a:effectLst>
                  <a:outerShdw blurRad="38100" dist="38100" dir="2700000" algn="tl">
                    <a:srgbClr val="C0C0C0"/>
                  </a:outerShdw>
                </a:effectLst>
              </a:rPr>
              <a:t>           </a:t>
            </a:r>
            <a:endParaRPr lang="es-ES" altLang="es-AR" sz="1800" u="sng">
              <a:solidFill>
                <a:srgbClr val="FF0000"/>
              </a:solidFill>
              <a:effectLst>
                <a:outerShdw blurRad="38100" dist="38100" dir="2700000" algn="tl">
                  <a:srgbClr val="C0C0C0"/>
                </a:outerShdw>
              </a:effectLst>
            </a:endParaRPr>
          </a:p>
        </p:txBody>
      </p:sp>
      <p:sp>
        <p:nvSpPr>
          <p:cNvPr id="2" name="Marcador de número de diapositiva 1">
            <a:extLst>
              <a:ext uri="{FF2B5EF4-FFF2-40B4-BE49-F238E27FC236}">
                <a16:creationId xmlns:a16="http://schemas.microsoft.com/office/drawing/2014/main" id="{735A40AA-A906-4B58-B3E9-99945FBB3FC8}"/>
              </a:ext>
            </a:extLst>
          </p:cNvPr>
          <p:cNvSpPr>
            <a:spLocks noGrp="1"/>
          </p:cNvSpPr>
          <p:nvPr>
            <p:ph type="sldNum" sz="quarter" idx="12"/>
          </p:nvPr>
        </p:nvSpPr>
        <p:spPr/>
        <p:txBody>
          <a:bodyPr/>
          <a:lstStyle/>
          <a:p>
            <a:fld id="{D57F1E4F-1CFF-5643-939E-217C01CDF565}" type="slidenum">
              <a:rPr lang="en-US" smtClean="0"/>
              <a:pPr/>
              <a:t>22</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5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6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5174"/>
                                        </p:tgtEl>
                                        <p:attrNameLst>
                                          <p:attrName>style.visibility</p:attrName>
                                        </p:attrNameLst>
                                      </p:cBhvr>
                                      <p:to>
                                        <p:strVal val="visible"/>
                                      </p:to>
                                    </p:set>
                                    <p:animEffect transition="in" filter="blinds(horizontal)">
                                      <p:cBhvr>
                                        <p:cTn id="15" dur="500"/>
                                        <p:tgtEl>
                                          <p:spTgt spid="517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5157"/>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1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156"/>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160"/>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161"/>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5159"/>
                                        </p:tgtEl>
                                        <p:attrNameLst>
                                          <p:attrName>style.visibility</p:attrName>
                                        </p:attrNameLst>
                                      </p:cBhvr>
                                      <p:to>
                                        <p:strVal val="visible"/>
                                      </p:to>
                                    </p:set>
                                    <p:animEffect transition="in" filter="wipe(down)">
                                      <p:cBhvr>
                                        <p:cTn id="32" dur="500"/>
                                        <p:tgtEl>
                                          <p:spTgt spid="5159"/>
                                        </p:tgtEl>
                                      </p:cBhvr>
                                    </p:animEffect>
                                  </p:childTnLst>
                                </p:cTn>
                              </p:par>
                              <p:par>
                                <p:cTn id="33" presetID="22" presetClass="entr" presetSubtype="4" fill="hold" nodeType="withEffect">
                                  <p:stCondLst>
                                    <p:cond delay="0"/>
                                  </p:stCondLst>
                                  <p:childTnLst>
                                    <p:set>
                                      <p:cBhvr>
                                        <p:cTn id="34" dur="1" fill="hold">
                                          <p:stCondLst>
                                            <p:cond delay="0"/>
                                          </p:stCondLst>
                                        </p:cTn>
                                        <p:tgtEl>
                                          <p:spTgt spid="5164"/>
                                        </p:tgtEl>
                                        <p:attrNameLst>
                                          <p:attrName>style.visibility</p:attrName>
                                        </p:attrNameLst>
                                      </p:cBhvr>
                                      <p:to>
                                        <p:strVal val="visible"/>
                                      </p:to>
                                    </p:set>
                                    <p:animEffect transition="in" filter="wipe(down)">
                                      <p:cBhvr>
                                        <p:cTn id="35" dur="500"/>
                                        <p:tgtEl>
                                          <p:spTgt spid="516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4" fill="hold" nodeType="clickEffect">
                                  <p:stCondLst>
                                    <p:cond delay="0"/>
                                  </p:stCondLst>
                                  <p:childTnLst>
                                    <p:set>
                                      <p:cBhvr>
                                        <p:cTn id="39" dur="1" fill="hold">
                                          <p:stCondLst>
                                            <p:cond delay="0"/>
                                          </p:stCondLst>
                                        </p:cTn>
                                        <p:tgtEl>
                                          <p:spTgt spid="5168"/>
                                        </p:tgtEl>
                                        <p:attrNameLst>
                                          <p:attrName>style.visibility</p:attrName>
                                        </p:attrNameLst>
                                      </p:cBhvr>
                                      <p:to>
                                        <p:strVal val="visible"/>
                                      </p:to>
                                    </p:set>
                                    <p:animEffect transition="in" filter="wipe(down)">
                                      <p:cBhvr>
                                        <p:cTn id="40" dur="500"/>
                                        <p:tgtEl>
                                          <p:spTgt spid="5168"/>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170"/>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4" fill="hold" nodeType="clickEffect">
                                  <p:stCondLst>
                                    <p:cond delay="0"/>
                                  </p:stCondLst>
                                  <p:childTnLst>
                                    <p:set>
                                      <p:cBhvr>
                                        <p:cTn id="48" dur="1" fill="hold">
                                          <p:stCondLst>
                                            <p:cond delay="0"/>
                                          </p:stCondLst>
                                        </p:cTn>
                                        <p:tgtEl>
                                          <p:spTgt spid="5162"/>
                                        </p:tgtEl>
                                        <p:attrNameLst>
                                          <p:attrName>style.visibility</p:attrName>
                                        </p:attrNameLst>
                                      </p:cBhvr>
                                      <p:to>
                                        <p:strVal val="visible"/>
                                      </p:to>
                                    </p:set>
                                    <p:animEffect transition="in" filter="wipe(down)">
                                      <p:cBhvr>
                                        <p:cTn id="49" dur="500"/>
                                        <p:tgtEl>
                                          <p:spTgt spid="5162"/>
                                        </p:tgtEl>
                                      </p:cBhvr>
                                    </p:animEffect>
                                  </p:childTnLst>
                                </p:cTn>
                              </p:par>
                              <p:par>
                                <p:cTn id="50" presetID="22" presetClass="entr" presetSubtype="4" fill="hold" nodeType="withEffect">
                                  <p:stCondLst>
                                    <p:cond delay="0"/>
                                  </p:stCondLst>
                                  <p:childTnLst>
                                    <p:set>
                                      <p:cBhvr>
                                        <p:cTn id="51" dur="1" fill="hold">
                                          <p:stCondLst>
                                            <p:cond delay="0"/>
                                          </p:stCondLst>
                                        </p:cTn>
                                        <p:tgtEl>
                                          <p:spTgt spid="5171"/>
                                        </p:tgtEl>
                                        <p:attrNameLst>
                                          <p:attrName>style.visibility</p:attrName>
                                        </p:attrNameLst>
                                      </p:cBhvr>
                                      <p:to>
                                        <p:strVal val="visible"/>
                                      </p:to>
                                    </p:set>
                                    <p:animEffect transition="in" filter="wipe(down)">
                                      <p:cBhvr>
                                        <p:cTn id="52" dur="500"/>
                                        <p:tgtEl>
                                          <p:spTgt spid="5171"/>
                                        </p:tgtEl>
                                      </p:cBhvr>
                                    </p:animEffect>
                                  </p:childTnLst>
                                </p:cTn>
                              </p:par>
                              <p:par>
                                <p:cTn id="53" presetID="22" presetClass="entr" presetSubtype="4" fill="hold" grpId="0" nodeType="withEffect">
                                  <p:stCondLst>
                                    <p:cond delay="0"/>
                                  </p:stCondLst>
                                  <p:childTnLst>
                                    <p:set>
                                      <p:cBhvr>
                                        <p:cTn id="54" dur="1" fill="hold">
                                          <p:stCondLst>
                                            <p:cond delay="0"/>
                                          </p:stCondLst>
                                        </p:cTn>
                                        <p:tgtEl>
                                          <p:spTgt spid="5165"/>
                                        </p:tgtEl>
                                        <p:attrNameLst>
                                          <p:attrName>style.visibility</p:attrName>
                                        </p:attrNameLst>
                                      </p:cBhvr>
                                      <p:to>
                                        <p:strVal val="visible"/>
                                      </p:to>
                                    </p:set>
                                    <p:animEffect transition="in" filter="wipe(down)">
                                      <p:cBhvr>
                                        <p:cTn id="55" dur="500"/>
                                        <p:tgtEl>
                                          <p:spTgt spid="5165"/>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4" fill="hold" nodeType="clickEffect">
                                  <p:stCondLst>
                                    <p:cond delay="0"/>
                                  </p:stCondLst>
                                  <p:childTnLst>
                                    <p:set>
                                      <p:cBhvr>
                                        <p:cTn id="59" dur="1" fill="hold">
                                          <p:stCondLst>
                                            <p:cond delay="0"/>
                                          </p:stCondLst>
                                        </p:cTn>
                                        <p:tgtEl>
                                          <p:spTgt spid="5158"/>
                                        </p:tgtEl>
                                        <p:attrNameLst>
                                          <p:attrName>style.visibility</p:attrName>
                                        </p:attrNameLst>
                                      </p:cBhvr>
                                      <p:to>
                                        <p:strVal val="visible"/>
                                      </p:to>
                                    </p:set>
                                    <p:animEffect transition="in" filter="wipe(down)">
                                      <p:cBhvr>
                                        <p:cTn id="60" dur="500"/>
                                        <p:tgtEl>
                                          <p:spTgt spid="5158"/>
                                        </p:tgtEl>
                                      </p:cBhvr>
                                    </p:animEffect>
                                  </p:childTnLst>
                                </p:cTn>
                              </p:par>
                              <p:par>
                                <p:cTn id="61" presetID="22" presetClass="entr" presetSubtype="4" fill="hold" grpId="0" nodeType="withEffect">
                                  <p:stCondLst>
                                    <p:cond delay="0"/>
                                  </p:stCondLst>
                                  <p:childTnLst>
                                    <p:set>
                                      <p:cBhvr>
                                        <p:cTn id="62" dur="1" fill="hold">
                                          <p:stCondLst>
                                            <p:cond delay="0"/>
                                          </p:stCondLst>
                                        </p:cTn>
                                        <p:tgtEl>
                                          <p:spTgt spid="5172"/>
                                        </p:tgtEl>
                                        <p:attrNameLst>
                                          <p:attrName>style.visibility</p:attrName>
                                        </p:attrNameLst>
                                      </p:cBhvr>
                                      <p:to>
                                        <p:strVal val="visible"/>
                                      </p:to>
                                    </p:set>
                                    <p:animEffect transition="in" filter="wipe(down)">
                                      <p:cBhvr>
                                        <p:cTn id="63" dur="500"/>
                                        <p:tgtEl>
                                          <p:spTgt spid="5172"/>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4" fill="hold" nodeType="clickEffect">
                                  <p:stCondLst>
                                    <p:cond delay="0"/>
                                  </p:stCondLst>
                                  <p:childTnLst>
                                    <p:set>
                                      <p:cBhvr>
                                        <p:cTn id="67" dur="1" fill="hold">
                                          <p:stCondLst>
                                            <p:cond delay="0"/>
                                          </p:stCondLst>
                                        </p:cTn>
                                        <p:tgtEl>
                                          <p:spTgt spid="5163"/>
                                        </p:tgtEl>
                                        <p:attrNameLst>
                                          <p:attrName>style.visibility</p:attrName>
                                        </p:attrNameLst>
                                      </p:cBhvr>
                                      <p:to>
                                        <p:strVal val="visible"/>
                                      </p:to>
                                    </p:set>
                                    <p:animEffect transition="in" filter="wipe(down)">
                                      <p:cBhvr>
                                        <p:cTn id="68" dur="500"/>
                                        <p:tgtEl>
                                          <p:spTgt spid="5163"/>
                                        </p:tgtEl>
                                      </p:cBhvr>
                                    </p:animEffect>
                                  </p:childTnLst>
                                </p:cTn>
                              </p:par>
                              <p:par>
                                <p:cTn id="69" presetID="22" presetClass="entr" presetSubtype="4" fill="hold" grpId="0" nodeType="withEffect">
                                  <p:stCondLst>
                                    <p:cond delay="0"/>
                                  </p:stCondLst>
                                  <p:childTnLst>
                                    <p:set>
                                      <p:cBhvr>
                                        <p:cTn id="70" dur="1" fill="hold">
                                          <p:stCondLst>
                                            <p:cond delay="0"/>
                                          </p:stCondLst>
                                        </p:cTn>
                                        <p:tgtEl>
                                          <p:spTgt spid="5173"/>
                                        </p:tgtEl>
                                        <p:attrNameLst>
                                          <p:attrName>style.visibility</p:attrName>
                                        </p:attrNameLst>
                                      </p:cBhvr>
                                      <p:to>
                                        <p:strVal val="visible"/>
                                      </p:to>
                                    </p:set>
                                    <p:animEffect transition="in" filter="wipe(down)">
                                      <p:cBhvr>
                                        <p:cTn id="71" dur="500"/>
                                        <p:tgtEl>
                                          <p:spTgt spid="5173"/>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4" fill="hold" nodeType="clickEffect">
                                  <p:stCondLst>
                                    <p:cond delay="0"/>
                                  </p:stCondLst>
                                  <p:childTnLst>
                                    <p:set>
                                      <p:cBhvr>
                                        <p:cTn id="75" dur="1" fill="hold">
                                          <p:stCondLst>
                                            <p:cond delay="0"/>
                                          </p:stCondLst>
                                        </p:cTn>
                                        <p:tgtEl>
                                          <p:spTgt spid="5167"/>
                                        </p:tgtEl>
                                        <p:attrNameLst>
                                          <p:attrName>style.visibility</p:attrName>
                                        </p:attrNameLst>
                                      </p:cBhvr>
                                      <p:to>
                                        <p:strVal val="visible"/>
                                      </p:to>
                                    </p:set>
                                    <p:animEffect transition="in" filter="wipe(down)">
                                      <p:cBhvr>
                                        <p:cTn id="76" dur="500"/>
                                        <p:tgtEl>
                                          <p:spTgt spid="5167"/>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51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54" grpId="0"/>
      <p:bldP spid="5157" grpId="0"/>
      <p:bldP spid="5160" grpId="0"/>
      <p:bldP spid="5161" grpId="0"/>
      <p:bldP spid="5165" grpId="0"/>
      <p:bldP spid="5166" grpId="0"/>
      <p:bldP spid="5169" grpId="0"/>
      <p:bldP spid="5170" grpId="0"/>
      <p:bldP spid="5172" grpId="0"/>
      <p:bldP spid="5173" grpId="0"/>
      <p:bldP spid="517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9" name="Text Box 7">
            <a:extLst>
              <a:ext uri="{FF2B5EF4-FFF2-40B4-BE49-F238E27FC236}">
                <a16:creationId xmlns:a16="http://schemas.microsoft.com/office/drawing/2014/main" id="{A4BA0445-9AAC-4C63-80C1-66067423FBE9}"/>
              </a:ext>
            </a:extLst>
          </p:cNvPr>
          <p:cNvSpPr txBox="1">
            <a:spLocks noChangeArrowheads="1"/>
          </p:cNvSpPr>
          <p:nvPr/>
        </p:nvSpPr>
        <p:spPr bwMode="auto">
          <a:xfrm>
            <a:off x="1387476" y="185738"/>
            <a:ext cx="833259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defRPr/>
            </a:pPr>
            <a:r>
              <a:rPr lang="es-MX" altLang="es-AR" sz="3600" b="1" dirty="0">
                <a:solidFill>
                  <a:schemeClr val="tx1">
                    <a:lumMod val="75000"/>
                    <a:lumOff val="25000"/>
                  </a:schemeClr>
                </a:solidFill>
                <a:latin typeface="+mj-lt"/>
                <a:cs typeface="Arial" charset="0"/>
              </a:rPr>
              <a:t>INGRESO TOTAL POR LOTE VENDIDO</a:t>
            </a:r>
          </a:p>
        </p:txBody>
      </p:sp>
      <p:sp>
        <p:nvSpPr>
          <p:cNvPr id="3114" name="Text Box 42">
            <a:extLst>
              <a:ext uri="{FF2B5EF4-FFF2-40B4-BE49-F238E27FC236}">
                <a16:creationId xmlns:a16="http://schemas.microsoft.com/office/drawing/2014/main" id="{FB085541-E437-4443-8149-0163046F1F81}"/>
              </a:ext>
            </a:extLst>
          </p:cNvPr>
          <p:cNvSpPr txBox="1">
            <a:spLocks noChangeArrowheads="1"/>
          </p:cNvSpPr>
          <p:nvPr/>
        </p:nvSpPr>
        <p:spPr bwMode="auto">
          <a:xfrm>
            <a:off x="1343026" y="4695825"/>
            <a:ext cx="2447925" cy="604838"/>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lang="es-AR" altLang="es-AR" b="1">
                <a:solidFill>
                  <a:srgbClr val="FF0000"/>
                </a:solidFill>
                <a:effectLst>
                  <a:outerShdw blurRad="38100" dist="38100" dir="2700000" algn="tl">
                    <a:srgbClr val="C0C0C0"/>
                  </a:outerShdw>
                </a:effectLst>
                <a:latin typeface="Tahoma" pitchFamily="34" charset="0"/>
                <a:cs typeface="Arial" charset="0"/>
              </a:rPr>
              <a:t>CT = CF + CVu x q</a:t>
            </a:r>
          </a:p>
          <a:p>
            <a:pPr eaLnBrk="1" hangingPunct="1">
              <a:spcBef>
                <a:spcPct val="50000"/>
              </a:spcBef>
              <a:defRPr/>
            </a:pPr>
            <a:endParaRPr lang="es-AR" altLang="es-AR" sz="1000" b="1">
              <a:solidFill>
                <a:srgbClr val="FF0000"/>
              </a:solidFill>
              <a:effectLst>
                <a:outerShdw blurRad="38100" dist="38100" dir="2700000" algn="tl">
                  <a:srgbClr val="C0C0C0"/>
                </a:outerShdw>
              </a:effectLst>
              <a:latin typeface="Tahoma" pitchFamily="34" charset="0"/>
              <a:cs typeface="Arial" charset="0"/>
            </a:endParaRPr>
          </a:p>
        </p:txBody>
      </p:sp>
      <p:sp>
        <p:nvSpPr>
          <p:cNvPr id="3115" name="Rectangle 43">
            <a:extLst>
              <a:ext uri="{FF2B5EF4-FFF2-40B4-BE49-F238E27FC236}">
                <a16:creationId xmlns:a16="http://schemas.microsoft.com/office/drawing/2014/main" id="{349904E4-D20A-4F0D-A25F-F1ED17FF1FE2}"/>
              </a:ext>
            </a:extLst>
          </p:cNvPr>
          <p:cNvSpPr>
            <a:spLocks noChangeArrowheads="1"/>
          </p:cNvSpPr>
          <p:nvPr/>
        </p:nvSpPr>
        <p:spPr bwMode="auto">
          <a:xfrm>
            <a:off x="1158875" y="1127126"/>
            <a:ext cx="9906000"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b="1" dirty="0">
                <a:solidFill>
                  <a:schemeClr val="tx1">
                    <a:lumMod val="75000"/>
                    <a:lumOff val="25000"/>
                  </a:schemeClr>
                </a:solidFill>
                <a:latin typeface="+mj-lt"/>
              </a:rPr>
              <a:t>Si dividimos el Ingreso Total por lote vendido por la cantidad de unidades vendidas, obtendremos el Precio de Venta unitario:</a:t>
            </a:r>
            <a:endParaRPr lang="es-ES" altLang="es-AR" sz="2000" b="1" dirty="0">
              <a:solidFill>
                <a:schemeClr val="tx1">
                  <a:lumMod val="75000"/>
                  <a:lumOff val="25000"/>
                </a:schemeClr>
              </a:solidFill>
              <a:latin typeface="+mj-lt"/>
            </a:endParaRPr>
          </a:p>
        </p:txBody>
      </p:sp>
      <p:sp>
        <p:nvSpPr>
          <p:cNvPr id="3116" name="Line 44">
            <a:extLst>
              <a:ext uri="{FF2B5EF4-FFF2-40B4-BE49-F238E27FC236}">
                <a16:creationId xmlns:a16="http://schemas.microsoft.com/office/drawing/2014/main" id="{01DE7031-E96E-4276-B731-EBC409BE9336}"/>
              </a:ext>
            </a:extLst>
          </p:cNvPr>
          <p:cNvSpPr>
            <a:spLocks noChangeShapeType="1"/>
          </p:cNvSpPr>
          <p:nvPr/>
        </p:nvSpPr>
        <p:spPr bwMode="auto">
          <a:xfrm flipH="1" flipV="1">
            <a:off x="2422525" y="2103439"/>
            <a:ext cx="1588" cy="216058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3117" name="Line 45">
            <a:extLst>
              <a:ext uri="{FF2B5EF4-FFF2-40B4-BE49-F238E27FC236}">
                <a16:creationId xmlns:a16="http://schemas.microsoft.com/office/drawing/2014/main" id="{F619DA8E-1C77-49EF-A5C4-6E098590CDBD}"/>
              </a:ext>
            </a:extLst>
          </p:cNvPr>
          <p:cNvSpPr>
            <a:spLocks noChangeShapeType="1"/>
          </p:cNvSpPr>
          <p:nvPr/>
        </p:nvSpPr>
        <p:spPr bwMode="auto">
          <a:xfrm>
            <a:off x="2206626" y="4048125"/>
            <a:ext cx="2809875"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3118" name="Text Box 46">
            <a:extLst>
              <a:ext uri="{FF2B5EF4-FFF2-40B4-BE49-F238E27FC236}">
                <a16:creationId xmlns:a16="http://schemas.microsoft.com/office/drawing/2014/main" id="{B0519939-3879-43E4-9223-F31FF8018E3E}"/>
              </a:ext>
            </a:extLst>
          </p:cNvPr>
          <p:cNvSpPr txBox="1">
            <a:spLocks noChangeArrowheads="1"/>
          </p:cNvSpPr>
          <p:nvPr/>
        </p:nvSpPr>
        <p:spPr bwMode="auto">
          <a:xfrm>
            <a:off x="1416050" y="1887538"/>
            <a:ext cx="990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b="1">
                <a:latin typeface="Tahoma" panose="020B0604030504040204" pitchFamily="34" charset="0"/>
              </a:rPr>
              <a:t>IT [$]</a:t>
            </a:r>
            <a:endParaRPr lang="es-AR" altLang="es-AR" b="1">
              <a:latin typeface="Tahoma" panose="020B0604030504040204" pitchFamily="34" charset="0"/>
              <a:cs typeface="Tahoma" panose="020B0604030504040204" pitchFamily="34" charset="0"/>
            </a:endParaRPr>
          </a:p>
        </p:txBody>
      </p:sp>
      <p:sp>
        <p:nvSpPr>
          <p:cNvPr id="3119" name="Rectangle 47">
            <a:extLst>
              <a:ext uri="{FF2B5EF4-FFF2-40B4-BE49-F238E27FC236}">
                <a16:creationId xmlns:a16="http://schemas.microsoft.com/office/drawing/2014/main" id="{3B7A040C-9FFE-4C30-A369-60F5C3504BF7}"/>
              </a:ext>
            </a:extLst>
          </p:cNvPr>
          <p:cNvSpPr>
            <a:spLocks noChangeArrowheads="1"/>
          </p:cNvSpPr>
          <p:nvPr/>
        </p:nvSpPr>
        <p:spPr bwMode="auto">
          <a:xfrm>
            <a:off x="1990726" y="4048125"/>
            <a:ext cx="3143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s-AR" altLang="es-AR" sz="1600" b="1">
                <a:latin typeface="Tahoma" panose="020B0604030504040204" pitchFamily="34" charset="0"/>
              </a:rPr>
              <a:t>0</a:t>
            </a:r>
            <a:endParaRPr lang="es-ES" altLang="es-AR" sz="1600" b="1">
              <a:latin typeface="Tahoma" panose="020B0604030504040204" pitchFamily="34" charset="0"/>
            </a:endParaRPr>
          </a:p>
        </p:txBody>
      </p:sp>
      <p:sp>
        <p:nvSpPr>
          <p:cNvPr id="3120" name="Rectangle 48">
            <a:extLst>
              <a:ext uri="{FF2B5EF4-FFF2-40B4-BE49-F238E27FC236}">
                <a16:creationId xmlns:a16="http://schemas.microsoft.com/office/drawing/2014/main" id="{69C7D061-8186-42FC-A795-15BF929A79B0}"/>
              </a:ext>
            </a:extLst>
          </p:cNvPr>
          <p:cNvSpPr>
            <a:spLocks noChangeArrowheads="1"/>
          </p:cNvSpPr>
          <p:nvPr/>
        </p:nvSpPr>
        <p:spPr bwMode="auto">
          <a:xfrm>
            <a:off x="4919664" y="4121150"/>
            <a:ext cx="3127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s-AR" altLang="es-AR" sz="1600" b="1">
                <a:latin typeface="Tahoma" panose="020B0604030504040204" pitchFamily="34" charset="0"/>
              </a:rPr>
              <a:t>q</a:t>
            </a:r>
            <a:endParaRPr lang="es-ES" altLang="es-AR" sz="1600" b="1">
              <a:latin typeface="Tahoma" panose="020B0604030504040204" pitchFamily="34" charset="0"/>
            </a:endParaRPr>
          </a:p>
        </p:txBody>
      </p:sp>
      <p:sp>
        <p:nvSpPr>
          <p:cNvPr id="3121" name="Line 49">
            <a:extLst>
              <a:ext uri="{FF2B5EF4-FFF2-40B4-BE49-F238E27FC236}">
                <a16:creationId xmlns:a16="http://schemas.microsoft.com/office/drawing/2014/main" id="{C361A161-09A1-4264-B782-D25C1C8A3E42}"/>
              </a:ext>
            </a:extLst>
          </p:cNvPr>
          <p:cNvSpPr>
            <a:spLocks noChangeShapeType="1"/>
          </p:cNvSpPr>
          <p:nvPr/>
        </p:nvSpPr>
        <p:spPr bwMode="auto">
          <a:xfrm>
            <a:off x="7032626" y="3255963"/>
            <a:ext cx="2519363" cy="0"/>
          </a:xfrm>
          <a:prstGeom prst="line">
            <a:avLst/>
          </a:prstGeom>
          <a:noFill/>
          <a:ln w="28575">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3122" name="Line 50">
            <a:extLst>
              <a:ext uri="{FF2B5EF4-FFF2-40B4-BE49-F238E27FC236}">
                <a16:creationId xmlns:a16="http://schemas.microsoft.com/office/drawing/2014/main" id="{5AE20A69-3CB9-4923-A846-AE0BD29D87B3}"/>
              </a:ext>
            </a:extLst>
          </p:cNvPr>
          <p:cNvSpPr>
            <a:spLocks noChangeShapeType="1"/>
          </p:cNvSpPr>
          <p:nvPr/>
        </p:nvSpPr>
        <p:spPr bwMode="auto">
          <a:xfrm flipV="1">
            <a:off x="2424113" y="2392363"/>
            <a:ext cx="2159000" cy="1655762"/>
          </a:xfrm>
          <a:prstGeom prst="line">
            <a:avLst/>
          </a:prstGeom>
          <a:noFill/>
          <a:ln w="28575">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3123" name="Text Box 51">
            <a:extLst>
              <a:ext uri="{FF2B5EF4-FFF2-40B4-BE49-F238E27FC236}">
                <a16:creationId xmlns:a16="http://schemas.microsoft.com/office/drawing/2014/main" id="{9EAFD067-DDDE-419B-98BD-EBC8877227EA}"/>
              </a:ext>
            </a:extLst>
          </p:cNvPr>
          <p:cNvSpPr txBox="1">
            <a:spLocks noChangeArrowheads="1"/>
          </p:cNvSpPr>
          <p:nvPr/>
        </p:nvSpPr>
        <p:spPr bwMode="auto">
          <a:xfrm>
            <a:off x="4583114" y="2636839"/>
            <a:ext cx="1728787" cy="376237"/>
          </a:xfrm>
          <a:prstGeom prst="rect">
            <a:avLst/>
          </a:prstGeom>
          <a:noFill/>
          <a:ln w="9525">
            <a:solidFill>
              <a:srgbClr val="99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lang="es-AR" altLang="es-AR" b="1">
                <a:solidFill>
                  <a:srgbClr val="990000"/>
                </a:solidFill>
                <a:effectLst>
                  <a:outerShdw blurRad="38100" dist="38100" dir="2700000" algn="tl">
                    <a:srgbClr val="C0C0C0"/>
                  </a:outerShdw>
                </a:effectLst>
                <a:latin typeface="Tahoma" pitchFamily="34" charset="0"/>
                <a:cs typeface="Arial" charset="0"/>
              </a:rPr>
              <a:t>IT = PVu x q</a:t>
            </a:r>
            <a:endParaRPr lang="es-AR" altLang="es-AR" b="1">
              <a:solidFill>
                <a:srgbClr val="990000"/>
              </a:solidFill>
              <a:effectLst>
                <a:outerShdw blurRad="38100" dist="38100" dir="2700000" algn="tl">
                  <a:srgbClr val="C0C0C0"/>
                </a:outerShdw>
              </a:effectLst>
              <a:latin typeface="Tahoma" pitchFamily="34" charset="0"/>
              <a:cs typeface="Tahoma" pitchFamily="34" charset="0"/>
            </a:endParaRPr>
          </a:p>
        </p:txBody>
      </p:sp>
      <p:sp>
        <p:nvSpPr>
          <p:cNvPr id="3124" name="Line 52">
            <a:extLst>
              <a:ext uri="{FF2B5EF4-FFF2-40B4-BE49-F238E27FC236}">
                <a16:creationId xmlns:a16="http://schemas.microsoft.com/office/drawing/2014/main" id="{179668A3-D7A6-49D5-A3EF-8AFEB6FF11C2}"/>
              </a:ext>
            </a:extLst>
          </p:cNvPr>
          <p:cNvSpPr>
            <a:spLocks noChangeShapeType="1"/>
          </p:cNvSpPr>
          <p:nvPr/>
        </p:nvSpPr>
        <p:spPr bwMode="auto">
          <a:xfrm flipH="1" flipV="1">
            <a:off x="7031039" y="2103439"/>
            <a:ext cx="1587" cy="216058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3125" name="Line 53">
            <a:extLst>
              <a:ext uri="{FF2B5EF4-FFF2-40B4-BE49-F238E27FC236}">
                <a16:creationId xmlns:a16="http://schemas.microsoft.com/office/drawing/2014/main" id="{0241E2F1-3182-416F-BE10-1275898BD3AD}"/>
              </a:ext>
            </a:extLst>
          </p:cNvPr>
          <p:cNvSpPr>
            <a:spLocks noChangeShapeType="1"/>
          </p:cNvSpPr>
          <p:nvPr/>
        </p:nvSpPr>
        <p:spPr bwMode="auto">
          <a:xfrm>
            <a:off x="6815139" y="4048125"/>
            <a:ext cx="2809875"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3126" name="Text Box 54">
            <a:extLst>
              <a:ext uri="{FF2B5EF4-FFF2-40B4-BE49-F238E27FC236}">
                <a16:creationId xmlns:a16="http://schemas.microsoft.com/office/drawing/2014/main" id="{FADA5CB3-B6DD-4F57-AF15-8D1AD3EB5802}"/>
              </a:ext>
            </a:extLst>
          </p:cNvPr>
          <p:cNvSpPr txBox="1">
            <a:spLocks noChangeArrowheads="1"/>
          </p:cNvSpPr>
          <p:nvPr/>
        </p:nvSpPr>
        <p:spPr bwMode="auto">
          <a:xfrm>
            <a:off x="5880101" y="1887538"/>
            <a:ext cx="11350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b="1">
                <a:latin typeface="Tahoma" panose="020B0604030504040204" pitchFamily="34" charset="0"/>
              </a:rPr>
              <a:t>PVu [$]</a:t>
            </a:r>
            <a:endParaRPr lang="es-AR" altLang="es-AR" b="1">
              <a:latin typeface="Tahoma" panose="020B0604030504040204" pitchFamily="34" charset="0"/>
              <a:cs typeface="Tahoma" panose="020B0604030504040204" pitchFamily="34" charset="0"/>
            </a:endParaRPr>
          </a:p>
        </p:txBody>
      </p:sp>
      <p:sp>
        <p:nvSpPr>
          <p:cNvPr id="3127" name="Rectangle 55">
            <a:extLst>
              <a:ext uri="{FF2B5EF4-FFF2-40B4-BE49-F238E27FC236}">
                <a16:creationId xmlns:a16="http://schemas.microsoft.com/office/drawing/2014/main" id="{ECCD39B2-9EB0-495C-A7AB-932CFB5F26FC}"/>
              </a:ext>
            </a:extLst>
          </p:cNvPr>
          <p:cNvSpPr>
            <a:spLocks noChangeArrowheads="1"/>
          </p:cNvSpPr>
          <p:nvPr/>
        </p:nvSpPr>
        <p:spPr bwMode="auto">
          <a:xfrm>
            <a:off x="6599239" y="4048125"/>
            <a:ext cx="3143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s-AR" altLang="es-AR" sz="1600" b="1">
                <a:latin typeface="Tahoma" panose="020B0604030504040204" pitchFamily="34" charset="0"/>
              </a:rPr>
              <a:t>0</a:t>
            </a:r>
            <a:endParaRPr lang="es-ES" altLang="es-AR" sz="1600" b="1">
              <a:latin typeface="Tahoma" panose="020B0604030504040204" pitchFamily="34" charset="0"/>
            </a:endParaRPr>
          </a:p>
        </p:txBody>
      </p:sp>
      <p:sp>
        <p:nvSpPr>
          <p:cNvPr id="3128" name="Rectangle 56">
            <a:extLst>
              <a:ext uri="{FF2B5EF4-FFF2-40B4-BE49-F238E27FC236}">
                <a16:creationId xmlns:a16="http://schemas.microsoft.com/office/drawing/2014/main" id="{29AF0A32-9F33-4182-8826-A33562D6DDDC}"/>
              </a:ext>
            </a:extLst>
          </p:cNvPr>
          <p:cNvSpPr>
            <a:spLocks noChangeArrowheads="1"/>
          </p:cNvSpPr>
          <p:nvPr/>
        </p:nvSpPr>
        <p:spPr bwMode="auto">
          <a:xfrm>
            <a:off x="9528175" y="4121150"/>
            <a:ext cx="3127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s-AR" altLang="es-AR" sz="1600" b="1">
                <a:latin typeface="Tahoma" panose="020B0604030504040204" pitchFamily="34" charset="0"/>
              </a:rPr>
              <a:t>q</a:t>
            </a:r>
            <a:endParaRPr lang="es-ES" altLang="es-AR" sz="1600" b="1">
              <a:latin typeface="Tahoma" panose="020B0604030504040204" pitchFamily="34" charset="0"/>
            </a:endParaRPr>
          </a:p>
        </p:txBody>
      </p:sp>
      <p:sp>
        <p:nvSpPr>
          <p:cNvPr id="3129" name="Rectangle 57">
            <a:extLst>
              <a:ext uri="{FF2B5EF4-FFF2-40B4-BE49-F238E27FC236}">
                <a16:creationId xmlns:a16="http://schemas.microsoft.com/office/drawing/2014/main" id="{0BC7A2A4-12AD-44E6-876D-E0D598509E66}"/>
              </a:ext>
            </a:extLst>
          </p:cNvPr>
          <p:cNvSpPr>
            <a:spLocks noChangeArrowheads="1"/>
          </p:cNvSpPr>
          <p:nvPr/>
        </p:nvSpPr>
        <p:spPr bwMode="auto">
          <a:xfrm>
            <a:off x="7967664" y="2320925"/>
            <a:ext cx="1944687" cy="719138"/>
          </a:xfrm>
          <a:prstGeom prst="rect">
            <a:avLst/>
          </a:prstGeom>
          <a:noFill/>
          <a:ln w="9525">
            <a:solidFill>
              <a:srgbClr val="99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1800" b="1" u="sng">
                <a:solidFill>
                  <a:srgbClr val="990000"/>
                </a:solidFill>
                <a:effectLst>
                  <a:outerShdw blurRad="38100" dist="38100" dir="2700000" algn="tl">
                    <a:srgbClr val="C0C0C0"/>
                  </a:outerShdw>
                </a:effectLst>
              </a:rPr>
              <a:t>PVu</a:t>
            </a:r>
            <a:r>
              <a:rPr lang="es-AR" altLang="es-AR" sz="1800" b="1">
                <a:solidFill>
                  <a:srgbClr val="990000"/>
                </a:solidFill>
                <a:effectLst>
                  <a:outerShdw blurRad="38100" dist="38100" dir="2700000" algn="tl">
                    <a:srgbClr val="C0C0C0"/>
                  </a:outerShdw>
                </a:effectLst>
              </a:rPr>
              <a:t> x q = PVu</a:t>
            </a:r>
          </a:p>
          <a:p>
            <a:pPr algn="l" eaLnBrk="1" hangingPunct="1">
              <a:defRPr/>
            </a:pPr>
            <a:r>
              <a:rPr lang="es-AR" altLang="es-AR" sz="1800" b="1">
                <a:solidFill>
                  <a:srgbClr val="990000"/>
                </a:solidFill>
                <a:effectLst>
                  <a:outerShdw blurRad="38100" dist="38100" dir="2700000" algn="tl">
                    <a:srgbClr val="C0C0C0"/>
                  </a:outerShdw>
                </a:effectLst>
              </a:rPr>
              <a:t>  q</a:t>
            </a:r>
            <a:r>
              <a:rPr lang="es-AR" altLang="es-AR" sz="1800">
                <a:solidFill>
                  <a:srgbClr val="FF0000"/>
                </a:solidFill>
                <a:effectLst>
                  <a:outerShdw blurRad="38100" dist="38100" dir="2700000" algn="tl">
                    <a:srgbClr val="C0C0C0"/>
                  </a:outerShdw>
                </a:effectLst>
              </a:rPr>
              <a:t>           </a:t>
            </a:r>
            <a:endParaRPr lang="es-ES" altLang="es-AR" sz="1800" u="sng">
              <a:solidFill>
                <a:srgbClr val="FF0000"/>
              </a:solidFill>
              <a:effectLst>
                <a:outerShdw blurRad="38100" dist="38100" dir="2700000" algn="tl">
                  <a:srgbClr val="C0C0C0"/>
                </a:outerShdw>
              </a:effectLst>
            </a:endParaRPr>
          </a:p>
        </p:txBody>
      </p:sp>
      <p:sp>
        <p:nvSpPr>
          <p:cNvPr id="3130" name="Rectangle 58">
            <a:extLst>
              <a:ext uri="{FF2B5EF4-FFF2-40B4-BE49-F238E27FC236}">
                <a16:creationId xmlns:a16="http://schemas.microsoft.com/office/drawing/2014/main" id="{B77E9F31-6262-4DBA-98DB-25A78B6BC796}"/>
              </a:ext>
            </a:extLst>
          </p:cNvPr>
          <p:cNvSpPr>
            <a:spLocks noChangeArrowheads="1"/>
          </p:cNvSpPr>
          <p:nvPr/>
        </p:nvSpPr>
        <p:spPr bwMode="auto">
          <a:xfrm>
            <a:off x="3792538" y="4624388"/>
            <a:ext cx="7256462" cy="646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dirty="0">
                <a:solidFill>
                  <a:schemeClr val="tx1">
                    <a:lumMod val="75000"/>
                    <a:lumOff val="25000"/>
                  </a:schemeClr>
                </a:solidFill>
                <a:latin typeface="+mj-lt"/>
              </a:rPr>
              <a:t>Representa las erogaciones totales hechas por la empresa para entregar un lote de “q” unidades.</a:t>
            </a:r>
            <a:endParaRPr lang="es-ES" altLang="es-AR" sz="2000" dirty="0">
              <a:solidFill>
                <a:schemeClr val="tx1">
                  <a:lumMod val="75000"/>
                  <a:lumOff val="25000"/>
                </a:schemeClr>
              </a:solidFill>
              <a:latin typeface="+mj-lt"/>
            </a:endParaRPr>
          </a:p>
        </p:txBody>
      </p:sp>
      <p:sp>
        <p:nvSpPr>
          <p:cNvPr id="3131" name="Text Box 59">
            <a:extLst>
              <a:ext uri="{FF2B5EF4-FFF2-40B4-BE49-F238E27FC236}">
                <a16:creationId xmlns:a16="http://schemas.microsoft.com/office/drawing/2014/main" id="{8D8BE96C-0125-45F7-9428-4DC970DB7B1C}"/>
              </a:ext>
            </a:extLst>
          </p:cNvPr>
          <p:cNvSpPr txBox="1">
            <a:spLocks noChangeArrowheads="1"/>
          </p:cNvSpPr>
          <p:nvPr/>
        </p:nvSpPr>
        <p:spPr bwMode="auto">
          <a:xfrm>
            <a:off x="1343026" y="5487989"/>
            <a:ext cx="2449513" cy="604837"/>
          </a:xfrm>
          <a:prstGeom prst="rect">
            <a:avLst/>
          </a:prstGeom>
          <a:noFill/>
          <a:ln w="9525">
            <a:solidFill>
              <a:srgbClr val="99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defRPr/>
            </a:pPr>
            <a:r>
              <a:rPr lang="es-AR" altLang="es-AR" b="1">
                <a:solidFill>
                  <a:srgbClr val="990000"/>
                </a:solidFill>
                <a:effectLst>
                  <a:outerShdw blurRad="38100" dist="38100" dir="2700000" algn="tl">
                    <a:srgbClr val="C0C0C0"/>
                  </a:outerShdw>
                </a:effectLst>
                <a:latin typeface="Tahoma" pitchFamily="34" charset="0"/>
                <a:cs typeface="Arial" charset="0"/>
              </a:rPr>
              <a:t>IT = PVu x q</a:t>
            </a:r>
          </a:p>
          <a:p>
            <a:pPr algn="ctr" eaLnBrk="1" hangingPunct="1">
              <a:spcBef>
                <a:spcPct val="50000"/>
              </a:spcBef>
              <a:defRPr/>
            </a:pPr>
            <a:endParaRPr lang="es-AR" altLang="es-AR" sz="1000" b="1">
              <a:solidFill>
                <a:srgbClr val="990000"/>
              </a:solidFill>
              <a:effectLst>
                <a:outerShdw blurRad="38100" dist="38100" dir="2700000" algn="tl">
                  <a:srgbClr val="C0C0C0"/>
                </a:outerShdw>
              </a:effectLst>
              <a:latin typeface="Tahoma" pitchFamily="34" charset="0"/>
              <a:cs typeface="Arial" charset="0"/>
            </a:endParaRPr>
          </a:p>
        </p:txBody>
      </p:sp>
      <p:sp>
        <p:nvSpPr>
          <p:cNvPr id="3132" name="Rectangle 60">
            <a:extLst>
              <a:ext uri="{FF2B5EF4-FFF2-40B4-BE49-F238E27FC236}">
                <a16:creationId xmlns:a16="http://schemas.microsoft.com/office/drawing/2014/main" id="{2A94DC1B-55C3-4B23-8720-543E18187583}"/>
              </a:ext>
            </a:extLst>
          </p:cNvPr>
          <p:cNvSpPr>
            <a:spLocks noChangeArrowheads="1"/>
          </p:cNvSpPr>
          <p:nvPr/>
        </p:nvSpPr>
        <p:spPr bwMode="auto">
          <a:xfrm>
            <a:off x="3792538" y="5416551"/>
            <a:ext cx="7256462"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dirty="0">
                <a:solidFill>
                  <a:schemeClr val="tx1">
                    <a:lumMod val="75000"/>
                    <a:lumOff val="25000"/>
                  </a:schemeClr>
                </a:solidFill>
                <a:latin typeface="+mj-lt"/>
              </a:rPr>
              <a:t>Representa la retribución total que la empresa percibe por ese lote.</a:t>
            </a:r>
            <a:endParaRPr lang="es-ES" altLang="es-AR" sz="2000" dirty="0">
              <a:solidFill>
                <a:schemeClr val="tx1">
                  <a:lumMod val="75000"/>
                  <a:lumOff val="25000"/>
                </a:schemeClr>
              </a:solidFill>
              <a:latin typeface="+mj-lt"/>
            </a:endParaRPr>
          </a:p>
        </p:txBody>
      </p:sp>
      <p:sp>
        <p:nvSpPr>
          <p:cNvPr id="3133" name="Arc 61">
            <a:extLst>
              <a:ext uri="{FF2B5EF4-FFF2-40B4-BE49-F238E27FC236}">
                <a16:creationId xmlns:a16="http://schemas.microsoft.com/office/drawing/2014/main" id="{400A80AA-62AD-437F-A8B4-31EA5A434E6E}"/>
              </a:ext>
            </a:extLst>
          </p:cNvPr>
          <p:cNvSpPr>
            <a:spLocks/>
          </p:cNvSpPr>
          <p:nvPr/>
        </p:nvSpPr>
        <p:spPr bwMode="auto">
          <a:xfrm>
            <a:off x="2971801" y="3559176"/>
            <a:ext cx="358775" cy="492125"/>
          </a:xfrm>
          <a:custGeom>
            <a:avLst/>
            <a:gdLst>
              <a:gd name="T0" fmla="*/ 1921855 w 21600"/>
              <a:gd name="T1" fmla="*/ 0 h 38661"/>
              <a:gd name="T2" fmla="*/ 3202814 w 21600"/>
              <a:gd name="T3" fmla="*/ 6264375 h 38661"/>
              <a:gd name="T4" fmla="*/ 0 w 21600"/>
              <a:gd name="T5" fmla="*/ 3312936 h 38661"/>
              <a:gd name="T6" fmla="*/ 0 60000 65536"/>
              <a:gd name="T7" fmla="*/ 0 60000 65536"/>
              <a:gd name="T8" fmla="*/ 0 60000 65536"/>
            </a:gdLst>
            <a:ahLst/>
            <a:cxnLst>
              <a:cxn ang="T6">
                <a:pos x="T0" y="T1"/>
              </a:cxn>
              <a:cxn ang="T7">
                <a:pos x="T2" y="T3"/>
              </a:cxn>
              <a:cxn ang="T8">
                <a:pos x="T4" y="T5"/>
              </a:cxn>
            </a:cxnLst>
            <a:rect l="0" t="0" r="r" b="b"/>
            <a:pathLst>
              <a:path w="21600" h="38661" fill="none" extrusionOk="0">
                <a:moveTo>
                  <a:pt x="6965" y="0"/>
                </a:moveTo>
                <a:cubicBezTo>
                  <a:pt x="15716" y="2981"/>
                  <a:pt x="21600" y="11201"/>
                  <a:pt x="21600" y="20446"/>
                </a:cubicBezTo>
                <a:cubicBezTo>
                  <a:pt x="21600" y="27825"/>
                  <a:pt x="17832" y="34694"/>
                  <a:pt x="11609" y="38661"/>
                </a:cubicBezTo>
              </a:path>
              <a:path w="21600" h="38661" stroke="0" extrusionOk="0">
                <a:moveTo>
                  <a:pt x="6965" y="0"/>
                </a:moveTo>
                <a:cubicBezTo>
                  <a:pt x="15716" y="2981"/>
                  <a:pt x="21600" y="11201"/>
                  <a:pt x="21600" y="20446"/>
                </a:cubicBezTo>
                <a:cubicBezTo>
                  <a:pt x="21600" y="27825"/>
                  <a:pt x="17832" y="34694"/>
                  <a:pt x="11609" y="38661"/>
                </a:cubicBezTo>
                <a:lnTo>
                  <a:pt x="0" y="20446"/>
                </a:lnTo>
                <a:lnTo>
                  <a:pt x="6965" y="0"/>
                </a:lnTo>
                <a:close/>
              </a:path>
            </a:pathLst>
          </a:custGeom>
          <a:noFill/>
          <a:ln w="9525">
            <a:solidFill>
              <a:srgbClr val="990000"/>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3134" name="Text Box 62">
            <a:extLst>
              <a:ext uri="{FF2B5EF4-FFF2-40B4-BE49-F238E27FC236}">
                <a16:creationId xmlns:a16="http://schemas.microsoft.com/office/drawing/2014/main" id="{8503E828-BA36-4862-B233-14FC2B2FBF00}"/>
              </a:ext>
            </a:extLst>
          </p:cNvPr>
          <p:cNvSpPr txBox="1">
            <a:spLocks noChangeArrowheads="1"/>
          </p:cNvSpPr>
          <p:nvPr/>
        </p:nvSpPr>
        <p:spPr bwMode="auto">
          <a:xfrm>
            <a:off x="3373439" y="3616325"/>
            <a:ext cx="5619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a:solidFill>
                  <a:srgbClr val="990000"/>
                </a:solidFill>
                <a:latin typeface="Tahoma" panose="020B0604030504040204" pitchFamily="34" charset="0"/>
              </a:rPr>
              <a:t>PVu</a:t>
            </a:r>
            <a:endParaRPr lang="es-AR" altLang="es-AR" sz="1400" b="1">
              <a:solidFill>
                <a:srgbClr val="990000"/>
              </a:solidFill>
              <a:latin typeface="Tahoma" panose="020B0604030504040204" pitchFamily="34" charset="0"/>
              <a:cs typeface="Tahoma" panose="020B0604030504040204" pitchFamily="34" charset="0"/>
            </a:endParaRPr>
          </a:p>
        </p:txBody>
      </p:sp>
      <p:sp>
        <p:nvSpPr>
          <p:cNvPr id="2" name="Marcador de número de diapositiva 1">
            <a:extLst>
              <a:ext uri="{FF2B5EF4-FFF2-40B4-BE49-F238E27FC236}">
                <a16:creationId xmlns:a16="http://schemas.microsoft.com/office/drawing/2014/main" id="{8A547E99-BFB4-487B-833A-577D0C5DD332}"/>
              </a:ext>
            </a:extLst>
          </p:cNvPr>
          <p:cNvSpPr>
            <a:spLocks noGrp="1"/>
          </p:cNvSpPr>
          <p:nvPr>
            <p:ph type="sldNum" sz="quarter" idx="12"/>
          </p:nvPr>
        </p:nvSpPr>
        <p:spPr/>
        <p:txBody>
          <a:bodyPr/>
          <a:lstStyle/>
          <a:p>
            <a:fld id="{D57F1E4F-1CFF-5643-939E-217C01CDF565}" type="slidenum">
              <a:rPr lang="en-US" smtClean="0"/>
              <a:pPr/>
              <a:t>23</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1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1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1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11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4" fill="hold" nodeType="clickEffect">
                                  <p:stCondLst>
                                    <p:cond delay="0"/>
                                  </p:stCondLst>
                                  <p:childTnLst>
                                    <p:set>
                                      <p:cBhvr>
                                        <p:cTn id="22" dur="1" fill="hold">
                                          <p:stCondLst>
                                            <p:cond delay="0"/>
                                          </p:stCondLst>
                                        </p:cTn>
                                        <p:tgtEl>
                                          <p:spTgt spid="3122"/>
                                        </p:tgtEl>
                                        <p:attrNameLst>
                                          <p:attrName>style.visibility</p:attrName>
                                        </p:attrNameLst>
                                      </p:cBhvr>
                                      <p:to>
                                        <p:strVal val="visible"/>
                                      </p:to>
                                    </p:set>
                                    <p:animEffect transition="in" filter="wipe(down)">
                                      <p:cBhvr>
                                        <p:cTn id="23" dur="500"/>
                                        <p:tgtEl>
                                          <p:spTgt spid="3122"/>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3123"/>
                                        </p:tgtEl>
                                        <p:attrNameLst>
                                          <p:attrName>style.visibility</p:attrName>
                                        </p:attrNameLst>
                                      </p:cBhvr>
                                      <p:to>
                                        <p:strVal val="visible"/>
                                      </p:to>
                                    </p:set>
                                    <p:animEffect transition="in" filter="wipe(down)">
                                      <p:cBhvr>
                                        <p:cTn id="26" dur="500"/>
                                        <p:tgtEl>
                                          <p:spTgt spid="312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3134"/>
                                        </p:tgtEl>
                                        <p:attrNameLst>
                                          <p:attrName>style.visibility</p:attrName>
                                        </p:attrNameLst>
                                      </p:cBhvr>
                                      <p:to>
                                        <p:strVal val="visible"/>
                                      </p:to>
                                    </p:set>
                                    <p:animEffect transition="in" filter="wipe(down)">
                                      <p:cBhvr>
                                        <p:cTn id="31" dur="500"/>
                                        <p:tgtEl>
                                          <p:spTgt spid="3134"/>
                                        </p:tgtEl>
                                      </p:cBhvr>
                                    </p:animEffect>
                                  </p:childTnLst>
                                </p:cTn>
                              </p:par>
                              <p:par>
                                <p:cTn id="32" presetID="22" presetClass="entr" presetSubtype="4" fill="hold" nodeType="withEffect">
                                  <p:stCondLst>
                                    <p:cond delay="0"/>
                                  </p:stCondLst>
                                  <p:childTnLst>
                                    <p:set>
                                      <p:cBhvr>
                                        <p:cTn id="33" dur="1" fill="hold">
                                          <p:stCondLst>
                                            <p:cond delay="0"/>
                                          </p:stCondLst>
                                        </p:cTn>
                                        <p:tgtEl>
                                          <p:spTgt spid="3133"/>
                                        </p:tgtEl>
                                        <p:attrNameLst>
                                          <p:attrName>style.visibility</p:attrName>
                                        </p:attrNameLst>
                                      </p:cBhvr>
                                      <p:to>
                                        <p:strVal val="visible"/>
                                      </p:to>
                                    </p:set>
                                    <p:animEffect transition="in" filter="wipe(down)">
                                      <p:cBhvr>
                                        <p:cTn id="34" dur="500"/>
                                        <p:tgtEl>
                                          <p:spTgt spid="3133"/>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12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12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12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12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128"/>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4" fill="hold" nodeType="clickEffect">
                                  <p:stCondLst>
                                    <p:cond delay="0"/>
                                  </p:stCondLst>
                                  <p:childTnLst>
                                    <p:set>
                                      <p:cBhvr>
                                        <p:cTn id="50" dur="1" fill="hold">
                                          <p:stCondLst>
                                            <p:cond delay="0"/>
                                          </p:stCondLst>
                                        </p:cTn>
                                        <p:tgtEl>
                                          <p:spTgt spid="3121"/>
                                        </p:tgtEl>
                                        <p:attrNameLst>
                                          <p:attrName>style.visibility</p:attrName>
                                        </p:attrNameLst>
                                      </p:cBhvr>
                                      <p:to>
                                        <p:strVal val="visible"/>
                                      </p:to>
                                    </p:set>
                                    <p:animEffect transition="in" filter="wipe(down)">
                                      <p:cBhvr>
                                        <p:cTn id="51" dur="500"/>
                                        <p:tgtEl>
                                          <p:spTgt spid="3121"/>
                                        </p:tgtEl>
                                      </p:cBhvr>
                                    </p:animEffect>
                                  </p:childTnLst>
                                </p:cTn>
                              </p:par>
                              <p:par>
                                <p:cTn id="52" presetID="22" presetClass="entr" presetSubtype="4" fill="hold" grpId="0" nodeType="withEffect">
                                  <p:stCondLst>
                                    <p:cond delay="0"/>
                                  </p:stCondLst>
                                  <p:childTnLst>
                                    <p:set>
                                      <p:cBhvr>
                                        <p:cTn id="53" dur="1" fill="hold">
                                          <p:stCondLst>
                                            <p:cond delay="0"/>
                                          </p:stCondLst>
                                        </p:cTn>
                                        <p:tgtEl>
                                          <p:spTgt spid="3129"/>
                                        </p:tgtEl>
                                        <p:attrNameLst>
                                          <p:attrName>style.visibility</p:attrName>
                                        </p:attrNameLst>
                                      </p:cBhvr>
                                      <p:to>
                                        <p:strVal val="visible"/>
                                      </p:to>
                                    </p:set>
                                    <p:animEffect transition="in" filter="wipe(down)">
                                      <p:cBhvr>
                                        <p:cTn id="54" dur="500"/>
                                        <p:tgtEl>
                                          <p:spTgt spid="3129"/>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3114"/>
                                        </p:tgtEl>
                                        <p:attrNameLst>
                                          <p:attrName>style.visibility</p:attrName>
                                        </p:attrNameLst>
                                      </p:cBhvr>
                                      <p:to>
                                        <p:strVal val="visible"/>
                                      </p:to>
                                    </p:set>
                                    <p:animEffect transition="in" filter="blinds(horizontal)">
                                      <p:cBhvr>
                                        <p:cTn id="59" dur="500"/>
                                        <p:tgtEl>
                                          <p:spTgt spid="3114"/>
                                        </p:tgtEl>
                                      </p:cBhvr>
                                    </p:animEffect>
                                  </p:childTnLst>
                                </p:cTn>
                              </p:par>
                              <p:par>
                                <p:cTn id="60" presetID="3" presetClass="entr" presetSubtype="10" fill="hold" grpId="0" nodeType="withEffect">
                                  <p:stCondLst>
                                    <p:cond delay="0"/>
                                  </p:stCondLst>
                                  <p:childTnLst>
                                    <p:set>
                                      <p:cBhvr>
                                        <p:cTn id="61" dur="1" fill="hold">
                                          <p:stCondLst>
                                            <p:cond delay="0"/>
                                          </p:stCondLst>
                                        </p:cTn>
                                        <p:tgtEl>
                                          <p:spTgt spid="3130"/>
                                        </p:tgtEl>
                                        <p:attrNameLst>
                                          <p:attrName>style.visibility</p:attrName>
                                        </p:attrNameLst>
                                      </p:cBhvr>
                                      <p:to>
                                        <p:strVal val="visible"/>
                                      </p:to>
                                    </p:set>
                                    <p:animEffect transition="in" filter="blinds(horizontal)">
                                      <p:cBhvr>
                                        <p:cTn id="62" dur="500"/>
                                        <p:tgtEl>
                                          <p:spTgt spid="3130"/>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3131"/>
                                        </p:tgtEl>
                                        <p:attrNameLst>
                                          <p:attrName>style.visibility</p:attrName>
                                        </p:attrNameLst>
                                      </p:cBhvr>
                                      <p:to>
                                        <p:strVal val="visible"/>
                                      </p:to>
                                    </p:set>
                                    <p:animEffect transition="in" filter="blinds(horizontal)">
                                      <p:cBhvr>
                                        <p:cTn id="67" dur="500"/>
                                        <p:tgtEl>
                                          <p:spTgt spid="3131"/>
                                        </p:tgtEl>
                                      </p:cBhvr>
                                    </p:animEffect>
                                  </p:childTnLst>
                                </p:cTn>
                              </p:par>
                              <p:par>
                                <p:cTn id="68" presetID="3" presetClass="entr" presetSubtype="10" fill="hold" grpId="0" nodeType="withEffect">
                                  <p:stCondLst>
                                    <p:cond delay="0"/>
                                  </p:stCondLst>
                                  <p:childTnLst>
                                    <p:set>
                                      <p:cBhvr>
                                        <p:cTn id="69" dur="1" fill="hold">
                                          <p:stCondLst>
                                            <p:cond delay="0"/>
                                          </p:stCondLst>
                                        </p:cTn>
                                        <p:tgtEl>
                                          <p:spTgt spid="3132"/>
                                        </p:tgtEl>
                                        <p:attrNameLst>
                                          <p:attrName>style.visibility</p:attrName>
                                        </p:attrNameLst>
                                      </p:cBhvr>
                                      <p:to>
                                        <p:strVal val="visible"/>
                                      </p:to>
                                    </p:set>
                                    <p:animEffect transition="in" filter="blinds(horizontal)">
                                      <p:cBhvr>
                                        <p:cTn id="70" dur="500"/>
                                        <p:tgtEl>
                                          <p:spTgt spid="3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14" grpId="0" animBg="1"/>
      <p:bldP spid="3115" grpId="0"/>
      <p:bldP spid="3118" grpId="0"/>
      <p:bldP spid="3119" grpId="0"/>
      <p:bldP spid="3120" grpId="0"/>
      <p:bldP spid="3123" grpId="0" animBg="1"/>
      <p:bldP spid="3126" grpId="0"/>
      <p:bldP spid="3127" grpId="0"/>
      <p:bldP spid="3128" grpId="0"/>
      <p:bldP spid="3129" grpId="0" animBg="1"/>
      <p:bldP spid="3130" grpId="0"/>
      <p:bldP spid="3131" grpId="0" animBg="1"/>
      <p:bldP spid="3132" grpId="0"/>
      <p:bldP spid="313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F6EDBD-66D3-479A-BD21-1263BB4CF874}"/>
              </a:ext>
            </a:extLst>
          </p:cNvPr>
          <p:cNvSpPr>
            <a:spLocks noGrp="1"/>
          </p:cNvSpPr>
          <p:nvPr>
            <p:ph type="title"/>
          </p:nvPr>
        </p:nvSpPr>
        <p:spPr>
          <a:xfrm>
            <a:off x="2592924" y="147337"/>
            <a:ext cx="8911687" cy="1280890"/>
          </a:xfrm>
        </p:spPr>
        <p:txBody>
          <a:bodyPr/>
          <a:lstStyle/>
          <a:p>
            <a:r>
              <a:rPr lang="es-MX" altLang="es-AR" b="1" dirty="0">
                <a:solidFill>
                  <a:schemeClr val="tx1">
                    <a:lumMod val="75000"/>
                    <a:lumOff val="25000"/>
                  </a:schemeClr>
                </a:solidFill>
                <a:cs typeface="Arial" charset="0"/>
              </a:rPr>
              <a:t>PUNTO DE EQUILIBRIO ECONÓMICO</a:t>
            </a:r>
            <a:br>
              <a:rPr lang="es-MX" altLang="es-AR" i="1" dirty="0">
                <a:solidFill>
                  <a:schemeClr val="accent2"/>
                </a:solidFill>
                <a:effectLst>
                  <a:outerShdw blurRad="38100" dist="38100" dir="2700000" algn="tl">
                    <a:srgbClr val="C0C0C0"/>
                  </a:outerShdw>
                </a:effectLst>
                <a:latin typeface="Tahoma" pitchFamily="34" charset="0"/>
                <a:cs typeface="Arial" charset="0"/>
              </a:rPr>
            </a:br>
            <a:endParaRPr lang="es-AR" dirty="0"/>
          </a:p>
        </p:txBody>
      </p:sp>
      <p:sp>
        <p:nvSpPr>
          <p:cNvPr id="3" name="Marcador de número de diapositiva 2">
            <a:extLst>
              <a:ext uri="{FF2B5EF4-FFF2-40B4-BE49-F238E27FC236}">
                <a16:creationId xmlns:a16="http://schemas.microsoft.com/office/drawing/2014/main" id="{33F5DD10-08DF-440D-BCB8-A612157E5932}"/>
              </a:ext>
            </a:extLst>
          </p:cNvPr>
          <p:cNvSpPr>
            <a:spLocks noGrp="1"/>
          </p:cNvSpPr>
          <p:nvPr>
            <p:ph type="sldNum" sz="quarter" idx="12"/>
          </p:nvPr>
        </p:nvSpPr>
        <p:spPr/>
        <p:txBody>
          <a:bodyPr/>
          <a:lstStyle/>
          <a:p>
            <a:fld id="{D57F1E4F-1CFF-5643-939E-217C01CDF565}" type="slidenum">
              <a:rPr lang="en-US" smtClean="0"/>
              <a:pPr/>
              <a:t>24</a:t>
            </a:fld>
            <a:endParaRPr lang="en-US" dirty="0"/>
          </a:p>
        </p:txBody>
      </p:sp>
      <p:graphicFrame>
        <p:nvGraphicFramePr>
          <p:cNvPr id="4" name="Tabla 4">
            <a:extLst>
              <a:ext uri="{FF2B5EF4-FFF2-40B4-BE49-F238E27FC236}">
                <a16:creationId xmlns:a16="http://schemas.microsoft.com/office/drawing/2014/main" id="{FB953D39-411E-440C-AD85-1F02A4442AD8}"/>
              </a:ext>
            </a:extLst>
          </p:cNvPr>
          <p:cNvGraphicFramePr>
            <a:graphicFrameLocks noGrp="1"/>
          </p:cNvGraphicFramePr>
          <p:nvPr>
            <p:extLst>
              <p:ext uri="{D42A27DB-BD31-4B8C-83A1-F6EECF244321}">
                <p14:modId xmlns:p14="http://schemas.microsoft.com/office/powerpoint/2010/main" val="3623950916"/>
              </p:ext>
            </p:extLst>
          </p:nvPr>
        </p:nvGraphicFramePr>
        <p:xfrm>
          <a:off x="3223860" y="3246121"/>
          <a:ext cx="5974398" cy="1612055"/>
        </p:xfrm>
        <a:graphic>
          <a:graphicData uri="http://schemas.openxmlformats.org/drawingml/2006/table">
            <a:tbl>
              <a:tblPr firstRow="1" bandRow="1">
                <a:tableStyleId>{5C22544A-7EE6-4342-B048-85BDC9FD1C3A}</a:tableStyleId>
              </a:tblPr>
              <a:tblGrid>
                <a:gridCol w="1525905">
                  <a:extLst>
                    <a:ext uri="{9D8B030D-6E8A-4147-A177-3AD203B41FA5}">
                      <a16:colId xmlns:a16="http://schemas.microsoft.com/office/drawing/2014/main" val="231475333"/>
                    </a:ext>
                  </a:extLst>
                </a:gridCol>
                <a:gridCol w="384493">
                  <a:extLst>
                    <a:ext uri="{9D8B030D-6E8A-4147-A177-3AD203B41FA5}">
                      <a16:colId xmlns:a16="http://schemas.microsoft.com/office/drawing/2014/main" val="2132106434"/>
                    </a:ext>
                  </a:extLst>
                </a:gridCol>
                <a:gridCol w="2032000">
                  <a:extLst>
                    <a:ext uri="{9D8B030D-6E8A-4147-A177-3AD203B41FA5}">
                      <a16:colId xmlns:a16="http://schemas.microsoft.com/office/drawing/2014/main" val="1694206489"/>
                    </a:ext>
                  </a:extLst>
                </a:gridCol>
                <a:gridCol w="2032000">
                  <a:extLst>
                    <a:ext uri="{9D8B030D-6E8A-4147-A177-3AD203B41FA5}">
                      <a16:colId xmlns:a16="http://schemas.microsoft.com/office/drawing/2014/main" val="1666139130"/>
                    </a:ext>
                  </a:extLst>
                </a:gridCol>
              </a:tblGrid>
              <a:tr h="680797">
                <a:tc>
                  <a:txBody>
                    <a:bodyPr/>
                    <a:lstStyle/>
                    <a:p>
                      <a:pPr algn="ctr"/>
                      <a:endParaRPr lang="es-AR"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s-AR"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s-AR" dirty="0"/>
                        <a:t>1er periodo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AR" dirty="0"/>
                        <a:t>2do periodo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5374912"/>
                  </a:ext>
                </a:extLst>
              </a:tr>
              <a:tr h="465629">
                <a:tc>
                  <a:txBody>
                    <a:bodyPr/>
                    <a:lstStyle/>
                    <a:p>
                      <a:pPr algn="ctr"/>
                      <a:r>
                        <a:rPr lang="es-AR" dirty="0"/>
                        <a:t>Producción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AR"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AR" dirty="0"/>
                        <a:t>60.000u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AR" dirty="0"/>
                        <a:t>70.000u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93886820"/>
                  </a:ext>
                </a:extLst>
              </a:tr>
              <a:tr h="465629">
                <a:tc>
                  <a:txBody>
                    <a:bodyPr/>
                    <a:lstStyle/>
                    <a:p>
                      <a:pPr algn="ctr"/>
                      <a:r>
                        <a:rPr lang="es-AR" dirty="0"/>
                        <a:t>Ventas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AR"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AR" dirty="0"/>
                        <a:t>56.000u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AR" dirty="0"/>
                        <a:t>45.000u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6064939"/>
                  </a:ext>
                </a:extLst>
              </a:tr>
            </a:tbl>
          </a:graphicData>
        </a:graphic>
      </p:graphicFrame>
      <p:sp>
        <p:nvSpPr>
          <p:cNvPr id="8" name="CuadroTexto 7">
            <a:extLst>
              <a:ext uri="{FF2B5EF4-FFF2-40B4-BE49-F238E27FC236}">
                <a16:creationId xmlns:a16="http://schemas.microsoft.com/office/drawing/2014/main" id="{D7AA2D91-F49F-49C6-9B2E-1447092B89D7}"/>
              </a:ext>
            </a:extLst>
          </p:cNvPr>
          <p:cNvSpPr txBox="1"/>
          <p:nvPr/>
        </p:nvSpPr>
        <p:spPr>
          <a:xfrm>
            <a:off x="1965960" y="923544"/>
            <a:ext cx="8622792" cy="1477328"/>
          </a:xfrm>
          <a:prstGeom prst="rect">
            <a:avLst/>
          </a:prstGeom>
          <a:noFill/>
        </p:spPr>
        <p:txBody>
          <a:bodyPr wrap="square" rtlCol="0">
            <a:spAutoFit/>
          </a:bodyPr>
          <a:lstStyle/>
          <a:p>
            <a:r>
              <a:rPr lang="es-AR" dirty="0">
                <a:solidFill>
                  <a:schemeClr val="tx1">
                    <a:lumMod val="75000"/>
                    <a:lumOff val="25000"/>
                  </a:schemeClr>
                </a:solidFill>
              </a:rPr>
              <a:t>Ejemplo:</a:t>
            </a:r>
          </a:p>
          <a:p>
            <a:r>
              <a:rPr lang="es-AR" dirty="0">
                <a:solidFill>
                  <a:schemeClr val="tx1">
                    <a:lumMod val="75000"/>
                    <a:lumOff val="25000"/>
                  </a:schemeClr>
                </a:solidFill>
              </a:rPr>
              <a:t>Sea una empresa que presenta la siguiente situación.</a:t>
            </a:r>
          </a:p>
          <a:p>
            <a:pPr marL="285750" indent="-285750">
              <a:buClr>
                <a:srgbClr val="92D050"/>
              </a:buClr>
              <a:buFont typeface="Arial" panose="020B0604020202020204" pitchFamily="34" charset="0"/>
              <a:buChar char="•"/>
            </a:pPr>
            <a:r>
              <a:rPr lang="es-AR" dirty="0">
                <a:solidFill>
                  <a:schemeClr val="tx1">
                    <a:lumMod val="75000"/>
                    <a:lumOff val="25000"/>
                  </a:schemeClr>
                </a:solidFill>
              </a:rPr>
              <a:t>Precio de venta unitario = $ 50</a:t>
            </a:r>
          </a:p>
          <a:p>
            <a:pPr marL="285750" indent="-285750">
              <a:buClr>
                <a:srgbClr val="92D050"/>
              </a:buClr>
              <a:buFont typeface="Arial" panose="020B0604020202020204" pitchFamily="34" charset="0"/>
              <a:buChar char="•"/>
            </a:pPr>
            <a:r>
              <a:rPr lang="es-AR" dirty="0">
                <a:solidFill>
                  <a:schemeClr val="tx1">
                    <a:lumMod val="75000"/>
                    <a:lumOff val="25000"/>
                  </a:schemeClr>
                </a:solidFill>
              </a:rPr>
              <a:t>Costo variable de producción unitario = 30 $/u</a:t>
            </a:r>
          </a:p>
          <a:p>
            <a:pPr marL="285750" indent="-285750">
              <a:buClr>
                <a:srgbClr val="92D050"/>
              </a:buClr>
              <a:buFont typeface="Arial" panose="020B0604020202020204" pitchFamily="34" charset="0"/>
              <a:buChar char="•"/>
            </a:pPr>
            <a:r>
              <a:rPr lang="es-AR" dirty="0">
                <a:solidFill>
                  <a:schemeClr val="tx1">
                    <a:lumMod val="75000"/>
                    <a:lumOff val="25000"/>
                  </a:schemeClr>
                </a:solidFill>
              </a:rPr>
              <a:t>Costo fijos estructurales = $ 1.000.000</a:t>
            </a:r>
          </a:p>
        </p:txBody>
      </p:sp>
      <p:sp>
        <p:nvSpPr>
          <p:cNvPr id="9" name="CuadroTexto 8">
            <a:extLst>
              <a:ext uri="{FF2B5EF4-FFF2-40B4-BE49-F238E27FC236}">
                <a16:creationId xmlns:a16="http://schemas.microsoft.com/office/drawing/2014/main" id="{980703BC-0C73-4AD6-8C0B-0AAE416437B9}"/>
              </a:ext>
            </a:extLst>
          </p:cNvPr>
          <p:cNvSpPr txBox="1"/>
          <p:nvPr/>
        </p:nvSpPr>
        <p:spPr>
          <a:xfrm>
            <a:off x="2157984" y="5696712"/>
            <a:ext cx="7891272" cy="369332"/>
          </a:xfrm>
          <a:prstGeom prst="rect">
            <a:avLst/>
          </a:prstGeom>
          <a:noFill/>
        </p:spPr>
        <p:txBody>
          <a:bodyPr wrap="square" rtlCol="0">
            <a:spAutoFit/>
          </a:bodyPr>
          <a:lstStyle/>
          <a:p>
            <a:r>
              <a:rPr lang="es-AR" dirty="0">
                <a:solidFill>
                  <a:schemeClr val="tx1">
                    <a:lumMod val="75000"/>
                    <a:lumOff val="25000"/>
                  </a:schemeClr>
                </a:solidFill>
              </a:rPr>
              <a:t>Si hacemos el cuadro de resultados para cada periodo ,veremos:</a:t>
            </a:r>
          </a:p>
        </p:txBody>
      </p:sp>
    </p:spTree>
    <p:extLst>
      <p:ext uri="{BB962C8B-B14F-4D97-AF65-F5344CB8AC3E}">
        <p14:creationId xmlns:p14="http://schemas.microsoft.com/office/powerpoint/2010/main" val="10291631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F59E1A-F31C-4805-9451-92B9E9E4EB92}"/>
              </a:ext>
            </a:extLst>
          </p:cNvPr>
          <p:cNvSpPr>
            <a:spLocks noGrp="1"/>
          </p:cNvSpPr>
          <p:nvPr>
            <p:ph type="title"/>
          </p:nvPr>
        </p:nvSpPr>
        <p:spPr>
          <a:xfrm>
            <a:off x="2620356" y="147337"/>
            <a:ext cx="8911687" cy="1280890"/>
          </a:xfrm>
        </p:spPr>
        <p:txBody>
          <a:bodyPr/>
          <a:lstStyle/>
          <a:p>
            <a:r>
              <a:rPr lang="es-MX" altLang="es-AR" b="1" dirty="0">
                <a:solidFill>
                  <a:schemeClr val="tx1">
                    <a:lumMod val="75000"/>
                    <a:lumOff val="25000"/>
                  </a:schemeClr>
                </a:solidFill>
                <a:cs typeface="Arial" charset="0"/>
              </a:rPr>
              <a:t>PUNTO DE EQUILIBRIO ECONÓMICO</a:t>
            </a:r>
            <a:br>
              <a:rPr lang="es-MX" altLang="es-AR" i="1" dirty="0">
                <a:solidFill>
                  <a:schemeClr val="accent2"/>
                </a:solidFill>
                <a:effectLst>
                  <a:outerShdw blurRad="38100" dist="38100" dir="2700000" algn="tl">
                    <a:srgbClr val="C0C0C0"/>
                  </a:outerShdw>
                </a:effectLst>
                <a:latin typeface="Tahoma" pitchFamily="34" charset="0"/>
                <a:cs typeface="Arial" charset="0"/>
              </a:rPr>
            </a:br>
            <a:endParaRPr lang="es-AR" dirty="0"/>
          </a:p>
        </p:txBody>
      </p:sp>
      <p:sp>
        <p:nvSpPr>
          <p:cNvPr id="3" name="Marcador de número de diapositiva 2">
            <a:extLst>
              <a:ext uri="{FF2B5EF4-FFF2-40B4-BE49-F238E27FC236}">
                <a16:creationId xmlns:a16="http://schemas.microsoft.com/office/drawing/2014/main" id="{880CCE78-3C05-4D51-A9F7-4CD4021C72F9}"/>
              </a:ext>
            </a:extLst>
          </p:cNvPr>
          <p:cNvSpPr>
            <a:spLocks noGrp="1"/>
          </p:cNvSpPr>
          <p:nvPr>
            <p:ph type="sldNum" sz="quarter" idx="12"/>
          </p:nvPr>
        </p:nvSpPr>
        <p:spPr/>
        <p:txBody>
          <a:bodyPr/>
          <a:lstStyle/>
          <a:p>
            <a:fld id="{D57F1E4F-1CFF-5643-939E-217C01CDF565}" type="slidenum">
              <a:rPr lang="en-US" smtClean="0"/>
              <a:pPr/>
              <a:t>25</a:t>
            </a:fld>
            <a:endParaRPr lang="en-US" dirty="0"/>
          </a:p>
        </p:txBody>
      </p:sp>
      <p:graphicFrame>
        <p:nvGraphicFramePr>
          <p:cNvPr id="4" name="Tabla 6">
            <a:extLst>
              <a:ext uri="{FF2B5EF4-FFF2-40B4-BE49-F238E27FC236}">
                <a16:creationId xmlns:a16="http://schemas.microsoft.com/office/drawing/2014/main" id="{6AD761C7-2F99-4E6F-91B4-49DA0AFCB2D0}"/>
              </a:ext>
            </a:extLst>
          </p:cNvPr>
          <p:cNvGraphicFramePr>
            <a:graphicFrameLocks noGrp="1"/>
          </p:cNvGraphicFramePr>
          <p:nvPr>
            <p:extLst>
              <p:ext uri="{D42A27DB-BD31-4B8C-83A1-F6EECF244321}">
                <p14:modId xmlns:p14="http://schemas.microsoft.com/office/powerpoint/2010/main" val="3889659845"/>
              </p:ext>
            </p:extLst>
          </p:nvPr>
        </p:nvGraphicFramePr>
        <p:xfrm>
          <a:off x="2900680" y="2357121"/>
          <a:ext cx="5803584" cy="2595880"/>
        </p:xfrm>
        <a:graphic>
          <a:graphicData uri="http://schemas.openxmlformats.org/drawingml/2006/table">
            <a:tbl>
              <a:tblPr firstRow="1" bandRow="1">
                <a:tableStyleId>{5C22544A-7EE6-4342-B048-85BDC9FD1C3A}</a:tableStyleId>
              </a:tblPr>
              <a:tblGrid>
                <a:gridCol w="1706880">
                  <a:extLst>
                    <a:ext uri="{9D8B030D-6E8A-4147-A177-3AD203B41FA5}">
                      <a16:colId xmlns:a16="http://schemas.microsoft.com/office/drawing/2014/main" val="1422749064"/>
                    </a:ext>
                  </a:extLst>
                </a:gridCol>
                <a:gridCol w="384493">
                  <a:extLst>
                    <a:ext uri="{9D8B030D-6E8A-4147-A177-3AD203B41FA5}">
                      <a16:colId xmlns:a16="http://schemas.microsoft.com/office/drawing/2014/main" val="82168499"/>
                    </a:ext>
                  </a:extLst>
                </a:gridCol>
                <a:gridCol w="1702118">
                  <a:extLst>
                    <a:ext uri="{9D8B030D-6E8A-4147-A177-3AD203B41FA5}">
                      <a16:colId xmlns:a16="http://schemas.microsoft.com/office/drawing/2014/main" val="3088299618"/>
                    </a:ext>
                  </a:extLst>
                </a:gridCol>
                <a:gridCol w="384493">
                  <a:extLst>
                    <a:ext uri="{9D8B030D-6E8A-4147-A177-3AD203B41FA5}">
                      <a16:colId xmlns:a16="http://schemas.microsoft.com/office/drawing/2014/main" val="3902281310"/>
                    </a:ext>
                  </a:extLst>
                </a:gridCol>
                <a:gridCol w="1625600">
                  <a:extLst>
                    <a:ext uri="{9D8B030D-6E8A-4147-A177-3AD203B41FA5}">
                      <a16:colId xmlns:a16="http://schemas.microsoft.com/office/drawing/2014/main" val="3309206647"/>
                    </a:ext>
                  </a:extLst>
                </a:gridCol>
              </a:tblGrid>
              <a:tr h="370840">
                <a:tc>
                  <a:txBody>
                    <a:bodyPr/>
                    <a:lstStyle/>
                    <a:p>
                      <a:pPr marL="0" algn="l" defTabSz="457200" rtl="0" eaLnBrk="1" latinLnBrk="0" hangingPunct="1"/>
                      <a:r>
                        <a:rPr lang="es-AR" sz="1800" b="0" kern="1200" dirty="0" err="1">
                          <a:solidFill>
                            <a:schemeClr val="dk1"/>
                          </a:solidFill>
                          <a:latin typeface="+mn-lt"/>
                          <a:ea typeface="+mn-ea"/>
                          <a:cs typeface="+mn-cs"/>
                        </a:rPr>
                        <a:t>Ing</a:t>
                      </a:r>
                      <a:r>
                        <a:rPr lang="es-AR" sz="1800" b="0" kern="1200" dirty="0">
                          <a:solidFill>
                            <a:schemeClr val="dk1"/>
                          </a:solidFill>
                          <a:latin typeface="+mn-lt"/>
                          <a:ea typeface="+mn-ea"/>
                          <a:cs typeface="+mn-cs"/>
                        </a:rPr>
                        <a:t> x </a:t>
                      </a:r>
                      <a:r>
                        <a:rPr lang="es-AR" sz="1800" b="0" kern="1200" dirty="0" err="1">
                          <a:solidFill>
                            <a:schemeClr val="dk1"/>
                          </a:solidFill>
                          <a:latin typeface="+mn-lt"/>
                          <a:ea typeface="+mn-ea"/>
                          <a:cs typeface="+mn-cs"/>
                        </a:rPr>
                        <a:t>Vtas</a:t>
                      </a:r>
                      <a:endParaRPr lang="es-AR" sz="1800" b="0" kern="1200" dirty="0">
                        <a:solidFill>
                          <a:schemeClr val="dk1"/>
                        </a:solidFill>
                        <a:latin typeface="+mn-lt"/>
                        <a:ea typeface="+mn-ea"/>
                        <a:cs typeface="+mn-cs"/>
                      </a:endParaRPr>
                    </a:p>
                  </a:txBody>
                  <a:tcPr>
                    <a:noFill/>
                  </a:tcPr>
                </a:tc>
                <a:tc gridSpan="4">
                  <a:txBody>
                    <a:bodyPr/>
                    <a:lstStyle/>
                    <a:p>
                      <a:endParaRPr lang="es-AR" dirty="0"/>
                    </a:p>
                  </a:txBody>
                  <a:tcPr>
                    <a:noFill/>
                  </a:tcPr>
                </a:tc>
                <a:tc hMerge="1">
                  <a:txBody>
                    <a:bodyPr/>
                    <a:lstStyle/>
                    <a:p>
                      <a:endParaRPr lang="es-AR" dirty="0"/>
                    </a:p>
                  </a:txBody>
                  <a:tcPr/>
                </a:tc>
                <a:tc hMerge="1">
                  <a:txBody>
                    <a:bodyPr/>
                    <a:lstStyle/>
                    <a:p>
                      <a:endParaRPr lang="es-AR" dirty="0"/>
                    </a:p>
                  </a:txBody>
                  <a:tcPr/>
                </a:tc>
                <a:tc hMerge="1">
                  <a:txBody>
                    <a:bodyPr/>
                    <a:lstStyle/>
                    <a:p>
                      <a:endParaRPr lang="es-AR" dirty="0"/>
                    </a:p>
                  </a:txBody>
                  <a:tcPr/>
                </a:tc>
                <a:extLst>
                  <a:ext uri="{0D108BD9-81ED-4DB2-BD59-A6C34878D82A}">
                    <a16:rowId xmlns:a16="http://schemas.microsoft.com/office/drawing/2014/main" val="1082174863"/>
                  </a:ext>
                </a:extLst>
              </a:tr>
              <a:tr h="370840">
                <a:tc>
                  <a:txBody>
                    <a:bodyPr/>
                    <a:lstStyle/>
                    <a:p>
                      <a:r>
                        <a:rPr lang="es-AR" dirty="0" err="1"/>
                        <a:t>Pvu</a:t>
                      </a:r>
                      <a:r>
                        <a:rPr lang="es-AR" dirty="0"/>
                        <a:t> x </a:t>
                      </a:r>
                      <a:r>
                        <a:rPr lang="es-AR" dirty="0" err="1"/>
                        <a:t>Qvend</a:t>
                      </a:r>
                      <a:endParaRPr lang="es-AR" dirty="0"/>
                    </a:p>
                  </a:txBody>
                  <a:tcPr>
                    <a:lnB w="12700" cap="flat" cmpd="sng" algn="ctr">
                      <a:noFill/>
                      <a:prstDash val="solid"/>
                      <a:round/>
                      <a:headEnd type="none" w="med" len="med"/>
                      <a:tailEnd type="none" w="med" len="med"/>
                    </a:lnB>
                    <a:noFill/>
                  </a:tcPr>
                </a:tc>
                <a:tc>
                  <a:txBody>
                    <a:bodyPr/>
                    <a:lstStyle/>
                    <a:p>
                      <a:r>
                        <a:rPr lang="es-AR" dirty="0"/>
                        <a:t>=</a:t>
                      </a:r>
                    </a:p>
                  </a:txBody>
                  <a:tcPr>
                    <a:lnB w="12700" cap="flat" cmpd="sng" algn="ctr">
                      <a:noFill/>
                      <a:prstDash val="solid"/>
                      <a:round/>
                      <a:headEnd type="none" w="med" len="med"/>
                      <a:tailEnd type="none" w="med" len="med"/>
                    </a:lnB>
                    <a:noFill/>
                  </a:tcPr>
                </a:tc>
                <a:tc>
                  <a:txBody>
                    <a:bodyPr/>
                    <a:lstStyle/>
                    <a:p>
                      <a:r>
                        <a:rPr lang="es-AR" dirty="0"/>
                        <a:t>$50 x 56.000u</a:t>
                      </a:r>
                    </a:p>
                  </a:txBody>
                  <a:tcPr>
                    <a:lnB w="12700" cap="flat" cmpd="sng" algn="ctr">
                      <a:noFill/>
                      <a:prstDash val="solid"/>
                      <a:round/>
                      <a:headEnd type="none" w="med" len="med"/>
                      <a:tailEnd type="none" w="med" len="med"/>
                    </a:lnB>
                    <a:noFill/>
                  </a:tcPr>
                </a:tc>
                <a:tc>
                  <a:txBody>
                    <a:bodyPr/>
                    <a:lstStyle/>
                    <a:p>
                      <a:r>
                        <a:rPr lang="es-AR" dirty="0"/>
                        <a:t>=</a:t>
                      </a:r>
                    </a:p>
                  </a:txBody>
                  <a:tcPr>
                    <a:lnB w="12700" cap="flat" cmpd="sng" algn="ctr">
                      <a:noFill/>
                      <a:prstDash val="solid"/>
                      <a:round/>
                      <a:headEnd type="none" w="med" len="med"/>
                      <a:tailEnd type="none" w="med" len="med"/>
                    </a:lnB>
                    <a:noFill/>
                  </a:tcPr>
                </a:tc>
                <a:tc>
                  <a:txBody>
                    <a:bodyPr/>
                    <a:lstStyle/>
                    <a:p>
                      <a:r>
                        <a:rPr lang="es-AR" dirty="0"/>
                        <a:t>$2.800.000</a:t>
                      </a:r>
                    </a:p>
                  </a:txBody>
                  <a:tcPr>
                    <a:lnB w="12700" cap="flat" cmpd="sng" algn="ctr">
                      <a:noFill/>
                      <a:prstDash val="solid"/>
                      <a:round/>
                      <a:headEnd type="none" w="med" len="med"/>
                      <a:tailEnd type="none" w="med" len="med"/>
                    </a:lnB>
                    <a:noFill/>
                  </a:tcPr>
                </a:tc>
                <a:extLst>
                  <a:ext uri="{0D108BD9-81ED-4DB2-BD59-A6C34878D82A}">
                    <a16:rowId xmlns:a16="http://schemas.microsoft.com/office/drawing/2014/main" val="2105071093"/>
                  </a:ext>
                </a:extLst>
              </a:tr>
              <a:tr h="370840">
                <a:tc gridSpan="5">
                  <a:txBody>
                    <a:bodyPr/>
                    <a:lstStyle/>
                    <a:p>
                      <a:r>
                        <a:rPr lang="es-AR" dirty="0"/>
                        <a:t>Costo de lo vendido</a:t>
                      </a:r>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hMerge="1">
                  <a:txBody>
                    <a:bodyPr/>
                    <a:lstStyle/>
                    <a:p>
                      <a:endParaRPr lang="es-AR" dirty="0"/>
                    </a:p>
                  </a:txBody>
                  <a:tcPr/>
                </a:tc>
                <a:tc hMerge="1">
                  <a:txBody>
                    <a:bodyPr/>
                    <a:lstStyle/>
                    <a:p>
                      <a:endParaRPr lang="es-AR" dirty="0"/>
                    </a:p>
                  </a:txBody>
                  <a:tcPr/>
                </a:tc>
                <a:tc hMerge="1">
                  <a:txBody>
                    <a:bodyPr/>
                    <a:lstStyle/>
                    <a:p>
                      <a:endParaRPr lang="es-AR" dirty="0"/>
                    </a:p>
                  </a:txBody>
                  <a:tcPr/>
                </a:tc>
                <a:tc hMerge="1">
                  <a:txBody>
                    <a:bodyPr/>
                    <a:lstStyle/>
                    <a:p>
                      <a:endParaRPr lang="es-AR" dirty="0"/>
                    </a:p>
                  </a:txBody>
                  <a:tcPr/>
                </a:tc>
                <a:extLst>
                  <a:ext uri="{0D108BD9-81ED-4DB2-BD59-A6C34878D82A}">
                    <a16:rowId xmlns:a16="http://schemas.microsoft.com/office/drawing/2014/main" val="1673419533"/>
                  </a:ext>
                </a:extLst>
              </a:tr>
              <a:tr h="370840">
                <a:tc>
                  <a:txBody>
                    <a:bodyPr/>
                    <a:lstStyle/>
                    <a:p>
                      <a:r>
                        <a:rPr lang="es-AR" dirty="0" err="1"/>
                        <a:t>Cvu</a:t>
                      </a:r>
                      <a:r>
                        <a:rPr lang="es-AR" dirty="0"/>
                        <a:t> x </a:t>
                      </a:r>
                      <a:r>
                        <a:rPr lang="es-AR" dirty="0" err="1"/>
                        <a:t>Qvend</a:t>
                      </a:r>
                      <a:endParaRPr lang="es-AR" dirty="0"/>
                    </a:p>
                  </a:txBody>
                  <a:tcPr>
                    <a:lnT w="12700" cmpd="sng">
                      <a:noFill/>
                    </a:lnT>
                    <a:noFill/>
                  </a:tcPr>
                </a:tc>
                <a:tc>
                  <a:txBody>
                    <a:bodyPr/>
                    <a:lstStyle/>
                    <a:p>
                      <a:r>
                        <a:rPr lang="es-AR" dirty="0"/>
                        <a:t>=</a:t>
                      </a:r>
                    </a:p>
                  </a:txBody>
                  <a:tcPr>
                    <a:lnT w="12700" cmpd="sng">
                      <a:noFill/>
                    </a:lnT>
                    <a:noFill/>
                  </a:tcPr>
                </a:tc>
                <a:tc>
                  <a:txBody>
                    <a:bodyPr/>
                    <a:lstStyle/>
                    <a:p>
                      <a:r>
                        <a:rPr lang="es-AR" dirty="0"/>
                        <a:t>$30 x 56.000u</a:t>
                      </a:r>
                    </a:p>
                  </a:txBody>
                  <a:tcPr>
                    <a:lnT w="12700" cmpd="sng">
                      <a:noFill/>
                    </a:lnT>
                    <a:noFill/>
                  </a:tcPr>
                </a:tc>
                <a:tc>
                  <a:txBody>
                    <a:bodyPr/>
                    <a:lstStyle/>
                    <a:p>
                      <a:r>
                        <a:rPr lang="es-AR" dirty="0"/>
                        <a:t>=</a:t>
                      </a:r>
                    </a:p>
                  </a:txBody>
                  <a:tcPr>
                    <a:lnT w="12700" cmpd="sng">
                      <a:noFill/>
                    </a:lnT>
                    <a:noFill/>
                  </a:tcPr>
                </a:tc>
                <a:tc>
                  <a:txBody>
                    <a:bodyPr/>
                    <a:lstStyle/>
                    <a:p>
                      <a:r>
                        <a:rPr lang="es-AR" dirty="0"/>
                        <a:t>$(1.680.000)</a:t>
                      </a:r>
                    </a:p>
                  </a:txBody>
                  <a:tcPr>
                    <a:lnT w="12700" cmpd="sng">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0008983"/>
                  </a:ext>
                </a:extLst>
              </a:tr>
              <a:tr h="370840">
                <a:tc>
                  <a:txBody>
                    <a:bodyPr/>
                    <a:lstStyle/>
                    <a:p>
                      <a:endParaRPr lang="es-AR" dirty="0"/>
                    </a:p>
                  </a:txBody>
                  <a:tcPr>
                    <a:noFill/>
                  </a:tcPr>
                </a:tc>
                <a:tc>
                  <a:txBody>
                    <a:bodyPr/>
                    <a:lstStyle/>
                    <a:p>
                      <a:endParaRPr lang="es-AR" dirty="0"/>
                    </a:p>
                  </a:txBody>
                  <a:tcPr>
                    <a:noFill/>
                  </a:tcPr>
                </a:tc>
                <a:tc>
                  <a:txBody>
                    <a:bodyPr/>
                    <a:lstStyle/>
                    <a:p>
                      <a:r>
                        <a:rPr lang="es-AR" dirty="0"/>
                        <a:t>Resultado</a:t>
                      </a:r>
                    </a:p>
                  </a:txBody>
                  <a:tcPr>
                    <a:noFill/>
                  </a:tcPr>
                </a:tc>
                <a:tc>
                  <a:txBody>
                    <a:bodyPr/>
                    <a:lstStyle/>
                    <a:p>
                      <a:endParaRPr lang="es-AR" dirty="0"/>
                    </a:p>
                  </a:txBody>
                  <a:tcPr>
                    <a:noFill/>
                  </a:tcPr>
                </a:tc>
                <a:tc>
                  <a:txBody>
                    <a:bodyPr/>
                    <a:lstStyle/>
                    <a:p>
                      <a:r>
                        <a:rPr lang="es-AR" dirty="0"/>
                        <a:t>$1.120.000</a:t>
                      </a:r>
                    </a:p>
                  </a:txBody>
                  <a:tcP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182655814"/>
                  </a:ext>
                </a:extLst>
              </a:tr>
              <a:tr h="370840">
                <a:tc>
                  <a:txBody>
                    <a:bodyPr/>
                    <a:lstStyle/>
                    <a:p>
                      <a:r>
                        <a:rPr lang="es-AR" dirty="0" err="1"/>
                        <a:t>Gtos</a:t>
                      </a:r>
                      <a:r>
                        <a:rPr lang="es-AR" dirty="0"/>
                        <a:t> Fijos</a:t>
                      </a:r>
                    </a:p>
                  </a:txBody>
                  <a:tcPr>
                    <a:noFill/>
                  </a:tcPr>
                </a:tc>
                <a:tc>
                  <a:txBody>
                    <a:bodyPr/>
                    <a:lstStyle/>
                    <a:p>
                      <a:endParaRPr lang="es-AR" dirty="0"/>
                    </a:p>
                  </a:txBody>
                  <a:tcPr>
                    <a:noFill/>
                  </a:tcPr>
                </a:tc>
                <a:tc>
                  <a:txBody>
                    <a:bodyPr/>
                    <a:lstStyle/>
                    <a:p>
                      <a:endParaRPr lang="es-AR" dirty="0"/>
                    </a:p>
                  </a:txBody>
                  <a:tcPr>
                    <a:noFill/>
                  </a:tcPr>
                </a:tc>
                <a:tc>
                  <a:txBody>
                    <a:bodyPr/>
                    <a:lstStyle/>
                    <a:p>
                      <a:endParaRPr lang="es-AR" dirty="0"/>
                    </a:p>
                  </a:txBody>
                  <a:tcPr>
                    <a:noFill/>
                  </a:tcPr>
                </a:tc>
                <a:tc>
                  <a:txBody>
                    <a:bodyPr/>
                    <a:lstStyle/>
                    <a:p>
                      <a:r>
                        <a:rPr lang="es-AR" dirty="0"/>
                        <a:t>$(1.000.000)</a:t>
                      </a:r>
                    </a:p>
                  </a:txBody>
                  <a:tcP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81745477"/>
                  </a:ext>
                </a:extLst>
              </a:tr>
              <a:tr h="370840">
                <a:tc>
                  <a:txBody>
                    <a:bodyPr/>
                    <a:lstStyle/>
                    <a:p>
                      <a:endParaRPr lang="es-AR" dirty="0"/>
                    </a:p>
                  </a:txBody>
                  <a:tcPr>
                    <a:noFill/>
                  </a:tcPr>
                </a:tc>
                <a:tc>
                  <a:txBody>
                    <a:bodyPr/>
                    <a:lstStyle/>
                    <a:p>
                      <a:endParaRPr lang="es-AR" dirty="0"/>
                    </a:p>
                  </a:txBody>
                  <a:tcPr>
                    <a:noFill/>
                  </a:tcPr>
                </a:tc>
                <a:tc>
                  <a:txBody>
                    <a:bodyPr/>
                    <a:lstStyle/>
                    <a:p>
                      <a:r>
                        <a:rPr lang="es-AR" dirty="0"/>
                        <a:t>Beneficio</a:t>
                      </a:r>
                    </a:p>
                  </a:txBody>
                  <a:tcPr>
                    <a:noFill/>
                  </a:tcPr>
                </a:tc>
                <a:tc>
                  <a:txBody>
                    <a:bodyPr/>
                    <a:lstStyle/>
                    <a:p>
                      <a:endParaRPr lang="es-AR" dirty="0"/>
                    </a:p>
                  </a:txBody>
                  <a:tcPr>
                    <a:noFill/>
                  </a:tcPr>
                </a:tc>
                <a:tc>
                  <a:txBody>
                    <a:bodyPr/>
                    <a:lstStyle/>
                    <a:p>
                      <a:r>
                        <a:rPr lang="es-AR" dirty="0"/>
                        <a:t>$120.000</a:t>
                      </a:r>
                    </a:p>
                  </a:txBody>
                  <a:tcP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95674055"/>
                  </a:ext>
                </a:extLst>
              </a:tr>
            </a:tbl>
          </a:graphicData>
        </a:graphic>
      </p:graphicFrame>
      <p:sp>
        <p:nvSpPr>
          <p:cNvPr id="5" name="CuadroTexto 4">
            <a:extLst>
              <a:ext uri="{FF2B5EF4-FFF2-40B4-BE49-F238E27FC236}">
                <a16:creationId xmlns:a16="http://schemas.microsoft.com/office/drawing/2014/main" id="{7DE35EDC-9B01-4249-A8E1-938AC966DE44}"/>
              </a:ext>
            </a:extLst>
          </p:cNvPr>
          <p:cNvSpPr txBox="1"/>
          <p:nvPr/>
        </p:nvSpPr>
        <p:spPr>
          <a:xfrm>
            <a:off x="2121408" y="1428227"/>
            <a:ext cx="4873752" cy="369332"/>
          </a:xfrm>
          <a:prstGeom prst="rect">
            <a:avLst/>
          </a:prstGeom>
          <a:noFill/>
        </p:spPr>
        <p:txBody>
          <a:bodyPr wrap="square" rtlCol="0">
            <a:spAutoFit/>
          </a:bodyPr>
          <a:lstStyle/>
          <a:p>
            <a:r>
              <a:rPr lang="es-AR" dirty="0">
                <a:solidFill>
                  <a:schemeClr val="tx1">
                    <a:lumMod val="75000"/>
                    <a:lumOff val="25000"/>
                  </a:schemeClr>
                </a:solidFill>
              </a:rPr>
              <a:t>Para el primer periodo:</a:t>
            </a:r>
          </a:p>
        </p:txBody>
      </p:sp>
    </p:spTree>
    <p:extLst>
      <p:ext uri="{BB962C8B-B14F-4D97-AF65-F5344CB8AC3E}">
        <p14:creationId xmlns:p14="http://schemas.microsoft.com/office/powerpoint/2010/main" val="35356906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F59E1A-F31C-4805-9451-92B9E9E4EB92}"/>
              </a:ext>
            </a:extLst>
          </p:cNvPr>
          <p:cNvSpPr>
            <a:spLocks noGrp="1"/>
          </p:cNvSpPr>
          <p:nvPr>
            <p:ph type="title"/>
          </p:nvPr>
        </p:nvSpPr>
        <p:spPr>
          <a:xfrm>
            <a:off x="2620356" y="147337"/>
            <a:ext cx="8911687" cy="1280890"/>
          </a:xfrm>
        </p:spPr>
        <p:txBody>
          <a:bodyPr/>
          <a:lstStyle/>
          <a:p>
            <a:r>
              <a:rPr lang="es-MX" altLang="es-AR" b="1" dirty="0">
                <a:solidFill>
                  <a:schemeClr val="tx1">
                    <a:lumMod val="75000"/>
                    <a:lumOff val="25000"/>
                  </a:schemeClr>
                </a:solidFill>
                <a:cs typeface="Arial" charset="0"/>
              </a:rPr>
              <a:t>PUNTO DE EQUILIBRIO ECONÓMICO</a:t>
            </a:r>
            <a:br>
              <a:rPr lang="es-MX" altLang="es-AR" i="1" dirty="0">
                <a:solidFill>
                  <a:schemeClr val="accent2"/>
                </a:solidFill>
                <a:effectLst>
                  <a:outerShdw blurRad="38100" dist="38100" dir="2700000" algn="tl">
                    <a:srgbClr val="C0C0C0"/>
                  </a:outerShdw>
                </a:effectLst>
                <a:latin typeface="Tahoma" pitchFamily="34" charset="0"/>
                <a:cs typeface="Arial" charset="0"/>
              </a:rPr>
            </a:br>
            <a:endParaRPr lang="es-AR" dirty="0"/>
          </a:p>
        </p:txBody>
      </p:sp>
      <p:sp>
        <p:nvSpPr>
          <p:cNvPr id="3" name="Marcador de número de diapositiva 2">
            <a:extLst>
              <a:ext uri="{FF2B5EF4-FFF2-40B4-BE49-F238E27FC236}">
                <a16:creationId xmlns:a16="http://schemas.microsoft.com/office/drawing/2014/main" id="{880CCE78-3C05-4D51-A9F7-4CD4021C72F9}"/>
              </a:ext>
            </a:extLst>
          </p:cNvPr>
          <p:cNvSpPr>
            <a:spLocks noGrp="1"/>
          </p:cNvSpPr>
          <p:nvPr>
            <p:ph type="sldNum" sz="quarter" idx="12"/>
          </p:nvPr>
        </p:nvSpPr>
        <p:spPr/>
        <p:txBody>
          <a:bodyPr/>
          <a:lstStyle/>
          <a:p>
            <a:fld id="{D57F1E4F-1CFF-5643-939E-217C01CDF565}" type="slidenum">
              <a:rPr lang="en-US" smtClean="0"/>
              <a:pPr/>
              <a:t>26</a:t>
            </a:fld>
            <a:endParaRPr lang="en-US" dirty="0"/>
          </a:p>
        </p:txBody>
      </p:sp>
      <p:graphicFrame>
        <p:nvGraphicFramePr>
          <p:cNvPr id="4" name="Tabla 6">
            <a:extLst>
              <a:ext uri="{FF2B5EF4-FFF2-40B4-BE49-F238E27FC236}">
                <a16:creationId xmlns:a16="http://schemas.microsoft.com/office/drawing/2014/main" id="{6AD761C7-2F99-4E6F-91B4-49DA0AFCB2D0}"/>
              </a:ext>
            </a:extLst>
          </p:cNvPr>
          <p:cNvGraphicFramePr>
            <a:graphicFrameLocks noGrp="1"/>
          </p:cNvGraphicFramePr>
          <p:nvPr>
            <p:extLst>
              <p:ext uri="{D42A27DB-BD31-4B8C-83A1-F6EECF244321}">
                <p14:modId xmlns:p14="http://schemas.microsoft.com/office/powerpoint/2010/main" val="103171266"/>
              </p:ext>
            </p:extLst>
          </p:nvPr>
        </p:nvGraphicFramePr>
        <p:xfrm>
          <a:off x="3099816" y="2357121"/>
          <a:ext cx="5604448" cy="2595880"/>
        </p:xfrm>
        <a:graphic>
          <a:graphicData uri="http://schemas.openxmlformats.org/drawingml/2006/table">
            <a:tbl>
              <a:tblPr firstRow="1" bandRow="1">
                <a:tableStyleId>{5C22544A-7EE6-4342-B048-85BDC9FD1C3A}</a:tableStyleId>
              </a:tblPr>
              <a:tblGrid>
                <a:gridCol w="1507744">
                  <a:extLst>
                    <a:ext uri="{9D8B030D-6E8A-4147-A177-3AD203B41FA5}">
                      <a16:colId xmlns:a16="http://schemas.microsoft.com/office/drawing/2014/main" val="1422749064"/>
                    </a:ext>
                  </a:extLst>
                </a:gridCol>
                <a:gridCol w="384493">
                  <a:extLst>
                    <a:ext uri="{9D8B030D-6E8A-4147-A177-3AD203B41FA5}">
                      <a16:colId xmlns:a16="http://schemas.microsoft.com/office/drawing/2014/main" val="82168499"/>
                    </a:ext>
                  </a:extLst>
                </a:gridCol>
                <a:gridCol w="1702118">
                  <a:extLst>
                    <a:ext uri="{9D8B030D-6E8A-4147-A177-3AD203B41FA5}">
                      <a16:colId xmlns:a16="http://schemas.microsoft.com/office/drawing/2014/main" val="3088299618"/>
                    </a:ext>
                  </a:extLst>
                </a:gridCol>
                <a:gridCol w="384493">
                  <a:extLst>
                    <a:ext uri="{9D8B030D-6E8A-4147-A177-3AD203B41FA5}">
                      <a16:colId xmlns:a16="http://schemas.microsoft.com/office/drawing/2014/main" val="3902281310"/>
                    </a:ext>
                  </a:extLst>
                </a:gridCol>
                <a:gridCol w="1625600">
                  <a:extLst>
                    <a:ext uri="{9D8B030D-6E8A-4147-A177-3AD203B41FA5}">
                      <a16:colId xmlns:a16="http://schemas.microsoft.com/office/drawing/2014/main" val="3309206647"/>
                    </a:ext>
                  </a:extLst>
                </a:gridCol>
              </a:tblGrid>
              <a:tr h="370840">
                <a:tc>
                  <a:txBody>
                    <a:bodyPr/>
                    <a:lstStyle/>
                    <a:p>
                      <a:pPr marL="0" algn="l" defTabSz="457200" rtl="0" eaLnBrk="1" latinLnBrk="0" hangingPunct="1"/>
                      <a:r>
                        <a:rPr lang="es-AR" sz="1800" b="0" kern="1200" dirty="0" err="1">
                          <a:solidFill>
                            <a:schemeClr val="dk1"/>
                          </a:solidFill>
                          <a:latin typeface="+mn-lt"/>
                          <a:ea typeface="+mn-ea"/>
                          <a:cs typeface="+mn-cs"/>
                        </a:rPr>
                        <a:t>Ing</a:t>
                      </a:r>
                      <a:r>
                        <a:rPr lang="es-AR" sz="1800" b="0" kern="1200" dirty="0">
                          <a:solidFill>
                            <a:schemeClr val="dk1"/>
                          </a:solidFill>
                          <a:latin typeface="+mn-lt"/>
                          <a:ea typeface="+mn-ea"/>
                          <a:cs typeface="+mn-cs"/>
                        </a:rPr>
                        <a:t> x </a:t>
                      </a:r>
                      <a:r>
                        <a:rPr lang="es-AR" sz="1800" b="0" kern="1200" dirty="0" err="1">
                          <a:solidFill>
                            <a:schemeClr val="dk1"/>
                          </a:solidFill>
                          <a:latin typeface="+mn-lt"/>
                          <a:ea typeface="+mn-ea"/>
                          <a:cs typeface="+mn-cs"/>
                        </a:rPr>
                        <a:t>Vtas</a:t>
                      </a:r>
                      <a:endParaRPr lang="es-AR" sz="1800" b="0" kern="1200" dirty="0">
                        <a:solidFill>
                          <a:schemeClr val="dk1"/>
                        </a:solidFill>
                        <a:latin typeface="+mn-lt"/>
                        <a:ea typeface="+mn-ea"/>
                        <a:cs typeface="+mn-cs"/>
                      </a:endParaRPr>
                    </a:p>
                  </a:txBody>
                  <a:tcPr>
                    <a:noFill/>
                  </a:tcPr>
                </a:tc>
                <a:tc gridSpan="4">
                  <a:txBody>
                    <a:bodyPr/>
                    <a:lstStyle/>
                    <a:p>
                      <a:endParaRPr lang="es-AR" dirty="0"/>
                    </a:p>
                  </a:txBody>
                  <a:tcPr>
                    <a:noFill/>
                  </a:tcPr>
                </a:tc>
                <a:tc hMerge="1">
                  <a:txBody>
                    <a:bodyPr/>
                    <a:lstStyle/>
                    <a:p>
                      <a:endParaRPr lang="es-AR" dirty="0"/>
                    </a:p>
                  </a:txBody>
                  <a:tcPr/>
                </a:tc>
                <a:tc hMerge="1">
                  <a:txBody>
                    <a:bodyPr/>
                    <a:lstStyle/>
                    <a:p>
                      <a:endParaRPr lang="es-AR" dirty="0"/>
                    </a:p>
                  </a:txBody>
                  <a:tcPr/>
                </a:tc>
                <a:tc hMerge="1">
                  <a:txBody>
                    <a:bodyPr/>
                    <a:lstStyle/>
                    <a:p>
                      <a:endParaRPr lang="es-AR" dirty="0"/>
                    </a:p>
                  </a:txBody>
                  <a:tcPr/>
                </a:tc>
                <a:extLst>
                  <a:ext uri="{0D108BD9-81ED-4DB2-BD59-A6C34878D82A}">
                    <a16:rowId xmlns:a16="http://schemas.microsoft.com/office/drawing/2014/main" val="1082174863"/>
                  </a:ext>
                </a:extLst>
              </a:tr>
              <a:tr h="370840">
                <a:tc>
                  <a:txBody>
                    <a:bodyPr/>
                    <a:lstStyle/>
                    <a:p>
                      <a:r>
                        <a:rPr lang="es-AR" dirty="0" err="1"/>
                        <a:t>Pvu</a:t>
                      </a:r>
                      <a:r>
                        <a:rPr lang="es-AR" dirty="0"/>
                        <a:t> x </a:t>
                      </a:r>
                      <a:r>
                        <a:rPr lang="es-AR" dirty="0" err="1"/>
                        <a:t>Qv</a:t>
                      </a:r>
                      <a:r>
                        <a:rPr lang="es-AR" dirty="0"/>
                        <a:t> </a:t>
                      </a:r>
                    </a:p>
                  </a:txBody>
                  <a:tcPr>
                    <a:lnB w="12700" cap="flat" cmpd="sng" algn="ctr">
                      <a:noFill/>
                      <a:prstDash val="solid"/>
                      <a:round/>
                      <a:headEnd type="none" w="med" len="med"/>
                      <a:tailEnd type="none" w="med" len="med"/>
                    </a:lnB>
                    <a:noFill/>
                  </a:tcPr>
                </a:tc>
                <a:tc>
                  <a:txBody>
                    <a:bodyPr/>
                    <a:lstStyle/>
                    <a:p>
                      <a:r>
                        <a:rPr lang="es-AR" dirty="0"/>
                        <a:t>=</a:t>
                      </a:r>
                    </a:p>
                  </a:txBody>
                  <a:tcPr>
                    <a:lnB w="12700" cap="flat" cmpd="sng" algn="ctr">
                      <a:noFill/>
                      <a:prstDash val="solid"/>
                      <a:round/>
                      <a:headEnd type="none" w="med" len="med"/>
                      <a:tailEnd type="none" w="med" len="med"/>
                    </a:lnB>
                    <a:noFill/>
                  </a:tcPr>
                </a:tc>
                <a:tc>
                  <a:txBody>
                    <a:bodyPr/>
                    <a:lstStyle/>
                    <a:p>
                      <a:r>
                        <a:rPr lang="es-AR" dirty="0"/>
                        <a:t>$50 x 45.000 u</a:t>
                      </a:r>
                    </a:p>
                  </a:txBody>
                  <a:tcPr>
                    <a:lnB w="12700" cap="flat" cmpd="sng" algn="ctr">
                      <a:noFill/>
                      <a:prstDash val="solid"/>
                      <a:round/>
                      <a:headEnd type="none" w="med" len="med"/>
                      <a:tailEnd type="none" w="med" len="med"/>
                    </a:lnB>
                    <a:noFill/>
                  </a:tcPr>
                </a:tc>
                <a:tc>
                  <a:txBody>
                    <a:bodyPr/>
                    <a:lstStyle/>
                    <a:p>
                      <a:r>
                        <a:rPr lang="es-AR" dirty="0"/>
                        <a:t>=</a:t>
                      </a:r>
                    </a:p>
                  </a:txBody>
                  <a:tcPr>
                    <a:lnB w="12700" cap="flat" cmpd="sng" algn="ctr">
                      <a:noFill/>
                      <a:prstDash val="solid"/>
                      <a:round/>
                      <a:headEnd type="none" w="med" len="med"/>
                      <a:tailEnd type="none" w="med" len="med"/>
                    </a:lnB>
                    <a:noFill/>
                  </a:tcPr>
                </a:tc>
                <a:tc>
                  <a:txBody>
                    <a:bodyPr/>
                    <a:lstStyle/>
                    <a:p>
                      <a:r>
                        <a:rPr lang="es-AR" dirty="0"/>
                        <a:t>$2.250.000</a:t>
                      </a:r>
                    </a:p>
                  </a:txBody>
                  <a:tcPr>
                    <a:lnB w="12700" cap="flat" cmpd="sng" algn="ctr">
                      <a:noFill/>
                      <a:prstDash val="solid"/>
                      <a:round/>
                      <a:headEnd type="none" w="med" len="med"/>
                      <a:tailEnd type="none" w="med" len="med"/>
                    </a:lnB>
                    <a:noFill/>
                  </a:tcPr>
                </a:tc>
                <a:extLst>
                  <a:ext uri="{0D108BD9-81ED-4DB2-BD59-A6C34878D82A}">
                    <a16:rowId xmlns:a16="http://schemas.microsoft.com/office/drawing/2014/main" val="2105071093"/>
                  </a:ext>
                </a:extLst>
              </a:tr>
              <a:tr h="370840">
                <a:tc gridSpan="5">
                  <a:txBody>
                    <a:bodyPr/>
                    <a:lstStyle/>
                    <a:p>
                      <a:r>
                        <a:rPr lang="es-AR" dirty="0"/>
                        <a:t>Costo de lo vendido</a:t>
                      </a:r>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hMerge="1">
                  <a:txBody>
                    <a:bodyPr/>
                    <a:lstStyle/>
                    <a:p>
                      <a:endParaRPr lang="es-AR" dirty="0"/>
                    </a:p>
                  </a:txBody>
                  <a:tcPr/>
                </a:tc>
                <a:tc hMerge="1">
                  <a:txBody>
                    <a:bodyPr/>
                    <a:lstStyle/>
                    <a:p>
                      <a:endParaRPr lang="es-AR" dirty="0"/>
                    </a:p>
                  </a:txBody>
                  <a:tcPr/>
                </a:tc>
                <a:tc hMerge="1">
                  <a:txBody>
                    <a:bodyPr/>
                    <a:lstStyle/>
                    <a:p>
                      <a:endParaRPr lang="es-AR" dirty="0"/>
                    </a:p>
                  </a:txBody>
                  <a:tcPr/>
                </a:tc>
                <a:tc hMerge="1">
                  <a:txBody>
                    <a:bodyPr/>
                    <a:lstStyle/>
                    <a:p>
                      <a:endParaRPr lang="es-AR" dirty="0"/>
                    </a:p>
                  </a:txBody>
                  <a:tcPr/>
                </a:tc>
                <a:extLst>
                  <a:ext uri="{0D108BD9-81ED-4DB2-BD59-A6C34878D82A}">
                    <a16:rowId xmlns:a16="http://schemas.microsoft.com/office/drawing/2014/main" val="1673419533"/>
                  </a:ext>
                </a:extLst>
              </a:tr>
              <a:tr h="370840">
                <a:tc>
                  <a:txBody>
                    <a:bodyPr/>
                    <a:lstStyle/>
                    <a:p>
                      <a:r>
                        <a:rPr lang="es-AR" dirty="0" err="1"/>
                        <a:t>Cvu</a:t>
                      </a:r>
                      <a:r>
                        <a:rPr lang="es-AR" dirty="0"/>
                        <a:t> x </a:t>
                      </a:r>
                      <a:r>
                        <a:rPr lang="es-AR" dirty="0" err="1"/>
                        <a:t>Qv</a:t>
                      </a:r>
                      <a:endParaRPr lang="es-AR" dirty="0"/>
                    </a:p>
                  </a:txBody>
                  <a:tcPr>
                    <a:lnT w="12700" cmpd="sng">
                      <a:noFill/>
                    </a:lnT>
                    <a:noFill/>
                  </a:tcPr>
                </a:tc>
                <a:tc>
                  <a:txBody>
                    <a:bodyPr/>
                    <a:lstStyle/>
                    <a:p>
                      <a:r>
                        <a:rPr lang="es-AR" dirty="0"/>
                        <a:t>=</a:t>
                      </a:r>
                    </a:p>
                  </a:txBody>
                  <a:tcPr>
                    <a:lnT w="12700" cmpd="sng">
                      <a:noFill/>
                    </a:lnT>
                    <a:noFill/>
                  </a:tcPr>
                </a:tc>
                <a:tc>
                  <a:txBody>
                    <a:bodyPr/>
                    <a:lstStyle/>
                    <a:p>
                      <a:r>
                        <a:rPr lang="es-AR" dirty="0"/>
                        <a:t>$30 x 45.000 u</a:t>
                      </a:r>
                    </a:p>
                  </a:txBody>
                  <a:tcPr>
                    <a:lnT w="12700" cmpd="sng">
                      <a:noFill/>
                    </a:lnT>
                    <a:noFill/>
                  </a:tcPr>
                </a:tc>
                <a:tc>
                  <a:txBody>
                    <a:bodyPr/>
                    <a:lstStyle/>
                    <a:p>
                      <a:r>
                        <a:rPr lang="es-AR" dirty="0"/>
                        <a:t>=</a:t>
                      </a:r>
                    </a:p>
                  </a:txBody>
                  <a:tcPr>
                    <a:lnT w="12700" cmpd="sng">
                      <a:noFill/>
                    </a:lnT>
                    <a:noFill/>
                  </a:tcPr>
                </a:tc>
                <a:tc>
                  <a:txBody>
                    <a:bodyPr/>
                    <a:lstStyle/>
                    <a:p>
                      <a:r>
                        <a:rPr lang="es-AR" dirty="0"/>
                        <a:t>$(1.350.000)</a:t>
                      </a:r>
                    </a:p>
                  </a:txBody>
                  <a:tcPr>
                    <a:lnT w="12700" cmpd="sng">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0008983"/>
                  </a:ext>
                </a:extLst>
              </a:tr>
              <a:tr h="370840">
                <a:tc>
                  <a:txBody>
                    <a:bodyPr/>
                    <a:lstStyle/>
                    <a:p>
                      <a:endParaRPr lang="es-AR" dirty="0"/>
                    </a:p>
                  </a:txBody>
                  <a:tcPr>
                    <a:noFill/>
                  </a:tcPr>
                </a:tc>
                <a:tc>
                  <a:txBody>
                    <a:bodyPr/>
                    <a:lstStyle/>
                    <a:p>
                      <a:endParaRPr lang="es-AR" dirty="0"/>
                    </a:p>
                  </a:txBody>
                  <a:tcPr>
                    <a:noFill/>
                  </a:tcPr>
                </a:tc>
                <a:tc>
                  <a:txBody>
                    <a:bodyPr/>
                    <a:lstStyle/>
                    <a:p>
                      <a:r>
                        <a:rPr lang="es-AR" dirty="0"/>
                        <a:t>Resultado</a:t>
                      </a:r>
                    </a:p>
                  </a:txBody>
                  <a:tcPr>
                    <a:noFill/>
                  </a:tcPr>
                </a:tc>
                <a:tc>
                  <a:txBody>
                    <a:bodyPr/>
                    <a:lstStyle/>
                    <a:p>
                      <a:endParaRPr lang="es-AR" dirty="0"/>
                    </a:p>
                  </a:txBody>
                  <a:tcPr>
                    <a:noFill/>
                  </a:tcPr>
                </a:tc>
                <a:tc>
                  <a:txBody>
                    <a:bodyPr/>
                    <a:lstStyle/>
                    <a:p>
                      <a:r>
                        <a:rPr lang="es-AR" dirty="0"/>
                        <a:t>$900.000</a:t>
                      </a:r>
                    </a:p>
                  </a:txBody>
                  <a:tcP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182655814"/>
                  </a:ext>
                </a:extLst>
              </a:tr>
              <a:tr h="370840">
                <a:tc>
                  <a:txBody>
                    <a:bodyPr/>
                    <a:lstStyle/>
                    <a:p>
                      <a:r>
                        <a:rPr lang="es-AR" dirty="0" err="1"/>
                        <a:t>Gtos</a:t>
                      </a:r>
                      <a:r>
                        <a:rPr lang="es-AR" dirty="0"/>
                        <a:t> Fijos</a:t>
                      </a:r>
                    </a:p>
                  </a:txBody>
                  <a:tcPr>
                    <a:noFill/>
                  </a:tcPr>
                </a:tc>
                <a:tc>
                  <a:txBody>
                    <a:bodyPr/>
                    <a:lstStyle/>
                    <a:p>
                      <a:endParaRPr lang="es-AR" dirty="0"/>
                    </a:p>
                  </a:txBody>
                  <a:tcPr>
                    <a:noFill/>
                  </a:tcPr>
                </a:tc>
                <a:tc>
                  <a:txBody>
                    <a:bodyPr/>
                    <a:lstStyle/>
                    <a:p>
                      <a:endParaRPr lang="es-AR" dirty="0"/>
                    </a:p>
                  </a:txBody>
                  <a:tcPr>
                    <a:noFill/>
                  </a:tcPr>
                </a:tc>
                <a:tc>
                  <a:txBody>
                    <a:bodyPr/>
                    <a:lstStyle/>
                    <a:p>
                      <a:endParaRPr lang="es-AR" dirty="0"/>
                    </a:p>
                  </a:txBody>
                  <a:tcPr>
                    <a:noFill/>
                  </a:tcPr>
                </a:tc>
                <a:tc>
                  <a:txBody>
                    <a:bodyPr/>
                    <a:lstStyle/>
                    <a:p>
                      <a:r>
                        <a:rPr lang="es-AR" dirty="0"/>
                        <a:t>$(1.000.000)</a:t>
                      </a:r>
                    </a:p>
                  </a:txBody>
                  <a:tcP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81745477"/>
                  </a:ext>
                </a:extLst>
              </a:tr>
              <a:tr h="370840">
                <a:tc>
                  <a:txBody>
                    <a:bodyPr/>
                    <a:lstStyle/>
                    <a:p>
                      <a:r>
                        <a:rPr lang="es-AR" dirty="0"/>
                        <a:t>Beneficio</a:t>
                      </a:r>
                    </a:p>
                  </a:txBody>
                  <a:tcPr>
                    <a:noFill/>
                  </a:tcPr>
                </a:tc>
                <a:tc>
                  <a:txBody>
                    <a:bodyPr/>
                    <a:lstStyle/>
                    <a:p>
                      <a:endParaRPr lang="es-AR" dirty="0"/>
                    </a:p>
                  </a:txBody>
                  <a:tcPr>
                    <a:noFill/>
                  </a:tcPr>
                </a:tc>
                <a:tc>
                  <a:txBody>
                    <a:bodyPr/>
                    <a:lstStyle/>
                    <a:p>
                      <a:r>
                        <a:rPr lang="es-AR" dirty="0"/>
                        <a:t>(quebranto)</a:t>
                      </a:r>
                    </a:p>
                  </a:txBody>
                  <a:tcPr>
                    <a:noFill/>
                  </a:tcPr>
                </a:tc>
                <a:tc>
                  <a:txBody>
                    <a:bodyPr/>
                    <a:lstStyle/>
                    <a:p>
                      <a:endParaRPr lang="es-AR" dirty="0"/>
                    </a:p>
                  </a:txBody>
                  <a:tcPr>
                    <a:noFill/>
                  </a:tcPr>
                </a:tc>
                <a:tc>
                  <a:txBody>
                    <a:bodyPr/>
                    <a:lstStyle/>
                    <a:p>
                      <a:r>
                        <a:rPr lang="es-AR" dirty="0"/>
                        <a:t>($100.000)</a:t>
                      </a:r>
                    </a:p>
                  </a:txBody>
                  <a:tcP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95674055"/>
                  </a:ext>
                </a:extLst>
              </a:tr>
            </a:tbl>
          </a:graphicData>
        </a:graphic>
      </p:graphicFrame>
      <p:sp>
        <p:nvSpPr>
          <p:cNvPr id="5" name="CuadroTexto 4">
            <a:extLst>
              <a:ext uri="{FF2B5EF4-FFF2-40B4-BE49-F238E27FC236}">
                <a16:creationId xmlns:a16="http://schemas.microsoft.com/office/drawing/2014/main" id="{7DE35EDC-9B01-4249-A8E1-938AC966DE44}"/>
              </a:ext>
            </a:extLst>
          </p:cNvPr>
          <p:cNvSpPr txBox="1"/>
          <p:nvPr/>
        </p:nvSpPr>
        <p:spPr>
          <a:xfrm>
            <a:off x="2121408" y="1428227"/>
            <a:ext cx="4873752" cy="369332"/>
          </a:xfrm>
          <a:prstGeom prst="rect">
            <a:avLst/>
          </a:prstGeom>
          <a:noFill/>
        </p:spPr>
        <p:txBody>
          <a:bodyPr wrap="square" rtlCol="0">
            <a:spAutoFit/>
          </a:bodyPr>
          <a:lstStyle/>
          <a:p>
            <a:r>
              <a:rPr lang="es-AR" dirty="0">
                <a:solidFill>
                  <a:schemeClr val="tx1">
                    <a:lumMod val="75000"/>
                    <a:lumOff val="25000"/>
                  </a:schemeClr>
                </a:solidFill>
              </a:rPr>
              <a:t>Para el segundo periodo:</a:t>
            </a:r>
          </a:p>
        </p:txBody>
      </p:sp>
    </p:spTree>
    <p:extLst>
      <p:ext uri="{BB962C8B-B14F-4D97-AF65-F5344CB8AC3E}">
        <p14:creationId xmlns:p14="http://schemas.microsoft.com/office/powerpoint/2010/main" val="33744914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F59E1A-F31C-4805-9451-92B9E9E4EB92}"/>
              </a:ext>
            </a:extLst>
          </p:cNvPr>
          <p:cNvSpPr>
            <a:spLocks noGrp="1"/>
          </p:cNvSpPr>
          <p:nvPr>
            <p:ph type="title"/>
          </p:nvPr>
        </p:nvSpPr>
        <p:spPr>
          <a:xfrm>
            <a:off x="2620356" y="147337"/>
            <a:ext cx="8911687" cy="1280890"/>
          </a:xfrm>
        </p:spPr>
        <p:txBody>
          <a:bodyPr/>
          <a:lstStyle/>
          <a:p>
            <a:r>
              <a:rPr lang="es-MX" altLang="es-AR" b="1" dirty="0">
                <a:solidFill>
                  <a:schemeClr val="tx1">
                    <a:lumMod val="75000"/>
                    <a:lumOff val="25000"/>
                  </a:schemeClr>
                </a:solidFill>
                <a:cs typeface="Arial" charset="0"/>
              </a:rPr>
              <a:t>PUNTO DE EQUILIBRIO ECONÓMICO</a:t>
            </a:r>
            <a:br>
              <a:rPr lang="es-MX" altLang="es-AR" i="1" dirty="0">
                <a:solidFill>
                  <a:schemeClr val="accent2"/>
                </a:solidFill>
                <a:effectLst>
                  <a:outerShdw blurRad="38100" dist="38100" dir="2700000" algn="tl">
                    <a:srgbClr val="C0C0C0"/>
                  </a:outerShdw>
                </a:effectLst>
                <a:latin typeface="Tahoma" pitchFamily="34" charset="0"/>
                <a:cs typeface="Arial" charset="0"/>
              </a:rPr>
            </a:br>
            <a:endParaRPr lang="es-AR" dirty="0"/>
          </a:p>
        </p:txBody>
      </p:sp>
      <p:sp>
        <p:nvSpPr>
          <p:cNvPr id="3" name="Marcador de número de diapositiva 2">
            <a:extLst>
              <a:ext uri="{FF2B5EF4-FFF2-40B4-BE49-F238E27FC236}">
                <a16:creationId xmlns:a16="http://schemas.microsoft.com/office/drawing/2014/main" id="{880CCE78-3C05-4D51-A9F7-4CD4021C72F9}"/>
              </a:ext>
            </a:extLst>
          </p:cNvPr>
          <p:cNvSpPr>
            <a:spLocks noGrp="1"/>
          </p:cNvSpPr>
          <p:nvPr>
            <p:ph type="sldNum" sz="quarter" idx="12"/>
          </p:nvPr>
        </p:nvSpPr>
        <p:spPr/>
        <p:txBody>
          <a:bodyPr/>
          <a:lstStyle/>
          <a:p>
            <a:fld id="{D57F1E4F-1CFF-5643-939E-217C01CDF565}" type="slidenum">
              <a:rPr lang="en-US" smtClean="0"/>
              <a:pPr/>
              <a:t>27</a:t>
            </a:fld>
            <a:endParaRPr lang="en-US" dirty="0"/>
          </a:p>
        </p:txBody>
      </p:sp>
      <p:sp>
        <p:nvSpPr>
          <p:cNvPr id="5" name="CuadroTexto 4">
            <a:extLst>
              <a:ext uri="{FF2B5EF4-FFF2-40B4-BE49-F238E27FC236}">
                <a16:creationId xmlns:a16="http://schemas.microsoft.com/office/drawing/2014/main" id="{7DE35EDC-9B01-4249-A8E1-938AC966DE44}"/>
              </a:ext>
            </a:extLst>
          </p:cNvPr>
          <p:cNvSpPr txBox="1"/>
          <p:nvPr/>
        </p:nvSpPr>
        <p:spPr>
          <a:xfrm>
            <a:off x="2121408" y="1428227"/>
            <a:ext cx="8613648" cy="3170099"/>
          </a:xfrm>
          <a:prstGeom prst="rect">
            <a:avLst/>
          </a:prstGeom>
          <a:noFill/>
        </p:spPr>
        <p:txBody>
          <a:bodyPr wrap="square" rtlCol="0">
            <a:spAutoFit/>
          </a:bodyPr>
          <a:lstStyle/>
          <a:p>
            <a:pPr marL="285750" indent="-285750">
              <a:buClr>
                <a:srgbClr val="92D050"/>
              </a:buClr>
              <a:buFont typeface="Arial" panose="020B0604020202020204" pitchFamily="34" charset="0"/>
              <a:buChar char="•"/>
            </a:pPr>
            <a:r>
              <a:rPr lang="es-AR" sz="2000" dirty="0">
                <a:solidFill>
                  <a:schemeClr val="tx1">
                    <a:lumMod val="75000"/>
                    <a:lumOff val="25000"/>
                  </a:schemeClr>
                </a:solidFill>
              </a:rPr>
              <a:t>Por lo tanto hemos visto que esta empresa pasa, en el 1er ejercicio, de obtener un beneficio de $ 120.000 a obtener , en el 2do periodo, un quebranto de $ 100.000.</a:t>
            </a:r>
          </a:p>
          <a:p>
            <a:pPr>
              <a:buClr>
                <a:srgbClr val="92D050"/>
              </a:buClr>
            </a:pPr>
            <a:endParaRPr lang="es-AR" sz="2000" dirty="0">
              <a:solidFill>
                <a:schemeClr val="tx1">
                  <a:lumMod val="75000"/>
                  <a:lumOff val="25000"/>
                </a:schemeClr>
              </a:solidFill>
            </a:endParaRPr>
          </a:p>
          <a:p>
            <a:pPr marL="285750" indent="-285750">
              <a:buClr>
                <a:srgbClr val="92D050"/>
              </a:buClr>
              <a:buFont typeface="Arial" panose="020B0604020202020204" pitchFamily="34" charset="0"/>
              <a:buChar char="•"/>
            </a:pPr>
            <a:r>
              <a:rPr lang="es-AR" sz="2000" dirty="0">
                <a:solidFill>
                  <a:schemeClr val="tx1">
                    <a:lumMod val="75000"/>
                    <a:lumOff val="25000"/>
                  </a:schemeClr>
                </a:solidFill>
              </a:rPr>
              <a:t>Es decir que pasará por una situación de equilibrio al producir una cantidad de unidades que se encuentra:</a:t>
            </a:r>
          </a:p>
          <a:p>
            <a:pPr>
              <a:buClr>
                <a:srgbClr val="92D050"/>
              </a:buClr>
            </a:pPr>
            <a:endParaRPr lang="es-AR" sz="2000" dirty="0">
              <a:solidFill>
                <a:schemeClr val="tx1">
                  <a:lumMod val="75000"/>
                  <a:lumOff val="25000"/>
                </a:schemeClr>
              </a:solidFill>
            </a:endParaRPr>
          </a:p>
          <a:p>
            <a:pPr>
              <a:buClr>
                <a:srgbClr val="92D050"/>
              </a:buClr>
            </a:pPr>
            <a:r>
              <a:rPr lang="es-AR" sz="2000">
                <a:solidFill>
                  <a:schemeClr val="tx1">
                    <a:lumMod val="75000"/>
                    <a:lumOff val="25000"/>
                  </a:schemeClr>
                </a:solidFill>
              </a:rPr>
              <a:t>                                  45.000  &lt; </a:t>
            </a:r>
            <a:r>
              <a:rPr lang="es-AR" sz="2000" b="1" dirty="0">
                <a:solidFill>
                  <a:schemeClr val="tx1">
                    <a:lumMod val="75000"/>
                    <a:lumOff val="25000"/>
                  </a:schemeClr>
                </a:solidFill>
              </a:rPr>
              <a:t>q</a:t>
            </a:r>
            <a:r>
              <a:rPr lang="es-AR" sz="1200" b="1" dirty="0">
                <a:solidFill>
                  <a:schemeClr val="tx1">
                    <a:lumMod val="75000"/>
                    <a:lumOff val="25000"/>
                  </a:schemeClr>
                </a:solidFill>
              </a:rPr>
              <a:t>0</a:t>
            </a:r>
            <a:r>
              <a:rPr lang="es-AR" sz="2000">
                <a:solidFill>
                  <a:schemeClr val="tx1">
                    <a:lumMod val="75000"/>
                    <a:lumOff val="25000"/>
                  </a:schemeClr>
                </a:solidFill>
              </a:rPr>
              <a:t>&lt;  </a:t>
            </a:r>
            <a:r>
              <a:rPr lang="es-AR" sz="2000" dirty="0">
                <a:solidFill>
                  <a:schemeClr val="tx1">
                    <a:lumMod val="75000"/>
                    <a:lumOff val="25000"/>
                  </a:schemeClr>
                </a:solidFill>
              </a:rPr>
              <a:t>56.000</a:t>
            </a:r>
          </a:p>
          <a:p>
            <a:pPr marL="285750" indent="-285750">
              <a:buClr>
                <a:srgbClr val="92D050"/>
              </a:buClr>
              <a:buFont typeface="Arial" panose="020B0604020202020204" pitchFamily="34" charset="0"/>
              <a:buChar char="•"/>
            </a:pPr>
            <a:endParaRPr lang="es-AR" sz="2000" dirty="0">
              <a:solidFill>
                <a:schemeClr val="tx1">
                  <a:lumMod val="75000"/>
                  <a:lumOff val="25000"/>
                </a:schemeClr>
              </a:solidFill>
            </a:endParaRPr>
          </a:p>
          <a:p>
            <a:pPr marL="285750" indent="-285750">
              <a:buClr>
                <a:srgbClr val="92D050"/>
              </a:buClr>
              <a:buFont typeface="Arial" panose="020B0604020202020204" pitchFamily="34" charset="0"/>
              <a:buChar char="•"/>
            </a:pPr>
            <a:r>
              <a:rPr lang="es-AR" sz="2000" dirty="0">
                <a:solidFill>
                  <a:schemeClr val="tx1">
                    <a:lumMod val="75000"/>
                    <a:lumOff val="25000"/>
                  </a:schemeClr>
                </a:solidFill>
              </a:rPr>
              <a:t>A este punto se lo llama Punto de Equilibrio Económico </a:t>
            </a:r>
          </a:p>
        </p:txBody>
      </p:sp>
    </p:spTree>
    <p:extLst>
      <p:ext uri="{BB962C8B-B14F-4D97-AF65-F5344CB8AC3E}">
        <p14:creationId xmlns:p14="http://schemas.microsoft.com/office/powerpoint/2010/main" val="15225038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0" name="Text Box 34">
            <a:extLst>
              <a:ext uri="{FF2B5EF4-FFF2-40B4-BE49-F238E27FC236}">
                <a16:creationId xmlns:a16="http://schemas.microsoft.com/office/drawing/2014/main" id="{DF8DEC8B-8C62-48DD-8F47-D77661FD4D64}"/>
              </a:ext>
            </a:extLst>
          </p:cNvPr>
          <p:cNvSpPr txBox="1">
            <a:spLocks noChangeArrowheads="1"/>
          </p:cNvSpPr>
          <p:nvPr/>
        </p:nvSpPr>
        <p:spPr bwMode="auto">
          <a:xfrm>
            <a:off x="2503487" y="100014"/>
            <a:ext cx="871620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defRPr/>
            </a:pPr>
            <a:r>
              <a:rPr lang="es-MX" altLang="es-AR" sz="3600" b="1" dirty="0">
                <a:solidFill>
                  <a:schemeClr val="tx1">
                    <a:lumMod val="75000"/>
                    <a:lumOff val="25000"/>
                  </a:schemeClr>
                </a:solidFill>
                <a:latin typeface="+mj-lt"/>
                <a:cs typeface="Arial" charset="0"/>
              </a:rPr>
              <a:t>PUNTO DE EQUILIBRIO ECONÓMICO</a:t>
            </a:r>
          </a:p>
        </p:txBody>
      </p:sp>
      <p:sp>
        <p:nvSpPr>
          <p:cNvPr id="4142" name="Line 46">
            <a:extLst>
              <a:ext uri="{FF2B5EF4-FFF2-40B4-BE49-F238E27FC236}">
                <a16:creationId xmlns:a16="http://schemas.microsoft.com/office/drawing/2014/main" id="{0CDA32AA-E3D7-4C57-9BB5-F424B94EC99F}"/>
              </a:ext>
            </a:extLst>
          </p:cNvPr>
          <p:cNvSpPr>
            <a:spLocks noChangeShapeType="1"/>
          </p:cNvSpPr>
          <p:nvPr/>
        </p:nvSpPr>
        <p:spPr bwMode="auto">
          <a:xfrm flipH="1" flipV="1">
            <a:off x="3778250" y="1725613"/>
            <a:ext cx="0" cy="417671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4143" name="Line 47">
            <a:extLst>
              <a:ext uri="{FF2B5EF4-FFF2-40B4-BE49-F238E27FC236}">
                <a16:creationId xmlns:a16="http://schemas.microsoft.com/office/drawing/2014/main" id="{9307C678-910A-4BF1-A188-E3E6FEF68821}"/>
              </a:ext>
            </a:extLst>
          </p:cNvPr>
          <p:cNvSpPr>
            <a:spLocks noChangeShapeType="1"/>
          </p:cNvSpPr>
          <p:nvPr/>
        </p:nvSpPr>
        <p:spPr bwMode="auto">
          <a:xfrm>
            <a:off x="3562350" y="5757863"/>
            <a:ext cx="424815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4144" name="Text Box 48">
            <a:extLst>
              <a:ext uri="{FF2B5EF4-FFF2-40B4-BE49-F238E27FC236}">
                <a16:creationId xmlns:a16="http://schemas.microsoft.com/office/drawing/2014/main" id="{ED7CB7C6-B0EC-4B47-9BCB-7AA2F3E5344B}"/>
              </a:ext>
            </a:extLst>
          </p:cNvPr>
          <p:cNvSpPr txBox="1">
            <a:spLocks noChangeArrowheads="1"/>
          </p:cNvSpPr>
          <p:nvPr/>
        </p:nvSpPr>
        <p:spPr bwMode="auto">
          <a:xfrm>
            <a:off x="4290791" y="5829300"/>
            <a:ext cx="26638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sz="1600" b="1" dirty="0">
                <a:latin typeface="+mj-lt"/>
              </a:rPr>
              <a:t> </a:t>
            </a:r>
            <a:r>
              <a:rPr lang="es-AR" altLang="es-AR" sz="1600" b="1" dirty="0" err="1">
                <a:latin typeface="+mj-lt"/>
              </a:rPr>
              <a:t>qo</a:t>
            </a:r>
            <a:endParaRPr lang="es-ES" altLang="es-AR" sz="1600" b="1" dirty="0">
              <a:latin typeface="+mj-lt"/>
            </a:endParaRPr>
          </a:p>
        </p:txBody>
      </p:sp>
      <p:sp>
        <p:nvSpPr>
          <p:cNvPr id="4145" name="Line 49">
            <a:extLst>
              <a:ext uri="{FF2B5EF4-FFF2-40B4-BE49-F238E27FC236}">
                <a16:creationId xmlns:a16="http://schemas.microsoft.com/office/drawing/2014/main" id="{3F3A3F08-BCB2-472B-A9B4-F44E5A8D68EB}"/>
              </a:ext>
            </a:extLst>
          </p:cNvPr>
          <p:cNvSpPr>
            <a:spLocks noChangeShapeType="1"/>
          </p:cNvSpPr>
          <p:nvPr/>
        </p:nvSpPr>
        <p:spPr bwMode="auto">
          <a:xfrm>
            <a:off x="3762375" y="4749800"/>
            <a:ext cx="3887788" cy="0"/>
          </a:xfrm>
          <a:prstGeom prst="line">
            <a:avLst/>
          </a:prstGeom>
          <a:noFill/>
          <a:ln w="285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4146" name="Line 50">
            <a:extLst>
              <a:ext uri="{FF2B5EF4-FFF2-40B4-BE49-F238E27FC236}">
                <a16:creationId xmlns:a16="http://schemas.microsoft.com/office/drawing/2014/main" id="{ED740218-FB93-4BAE-8B87-E736BA6FFEE5}"/>
              </a:ext>
            </a:extLst>
          </p:cNvPr>
          <p:cNvSpPr>
            <a:spLocks noChangeShapeType="1"/>
          </p:cNvSpPr>
          <p:nvPr/>
        </p:nvSpPr>
        <p:spPr bwMode="auto">
          <a:xfrm flipV="1">
            <a:off x="3762376" y="4221163"/>
            <a:ext cx="3903663" cy="153670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4147" name="Arc 51">
            <a:extLst>
              <a:ext uri="{FF2B5EF4-FFF2-40B4-BE49-F238E27FC236}">
                <a16:creationId xmlns:a16="http://schemas.microsoft.com/office/drawing/2014/main" id="{1F3D8819-13AE-4EE5-8D89-B911A634465C}"/>
              </a:ext>
            </a:extLst>
          </p:cNvPr>
          <p:cNvSpPr>
            <a:spLocks/>
          </p:cNvSpPr>
          <p:nvPr/>
        </p:nvSpPr>
        <p:spPr bwMode="auto">
          <a:xfrm>
            <a:off x="4138614" y="5273676"/>
            <a:ext cx="358775" cy="485775"/>
          </a:xfrm>
          <a:custGeom>
            <a:avLst/>
            <a:gdLst>
              <a:gd name="T0" fmla="*/ 2246845 w 21600"/>
              <a:gd name="T1" fmla="*/ 0 h 38221"/>
              <a:gd name="T2" fmla="*/ 3202814 w 21600"/>
              <a:gd name="T3" fmla="*/ 6174023 h 38221"/>
              <a:gd name="T4" fmla="*/ 0 w 21600"/>
              <a:gd name="T5" fmla="*/ 3231666 h 38221"/>
              <a:gd name="T6" fmla="*/ 0 60000 65536"/>
              <a:gd name="T7" fmla="*/ 0 60000 65536"/>
              <a:gd name="T8" fmla="*/ 0 60000 65536"/>
            </a:gdLst>
            <a:ahLst/>
            <a:cxnLst>
              <a:cxn ang="T6">
                <a:pos x="T0" y="T1"/>
              </a:cxn>
              <a:cxn ang="T7">
                <a:pos x="T2" y="T3"/>
              </a:cxn>
              <a:cxn ang="T8">
                <a:pos x="T4" y="T5"/>
              </a:cxn>
            </a:cxnLst>
            <a:rect l="0" t="0" r="r" b="b"/>
            <a:pathLst>
              <a:path w="21600" h="38221" fill="none" extrusionOk="0">
                <a:moveTo>
                  <a:pt x="8143" y="0"/>
                </a:moveTo>
                <a:cubicBezTo>
                  <a:pt x="16280" y="3312"/>
                  <a:pt x="21600" y="11221"/>
                  <a:pt x="21600" y="20006"/>
                </a:cubicBezTo>
                <a:cubicBezTo>
                  <a:pt x="21600" y="27385"/>
                  <a:pt x="17832" y="34254"/>
                  <a:pt x="11609" y="38221"/>
                </a:cubicBezTo>
              </a:path>
              <a:path w="21600" h="38221" stroke="0" extrusionOk="0">
                <a:moveTo>
                  <a:pt x="8143" y="0"/>
                </a:moveTo>
                <a:cubicBezTo>
                  <a:pt x="16280" y="3312"/>
                  <a:pt x="21600" y="11221"/>
                  <a:pt x="21600" y="20006"/>
                </a:cubicBezTo>
                <a:cubicBezTo>
                  <a:pt x="21600" y="27385"/>
                  <a:pt x="17832" y="34254"/>
                  <a:pt x="11609" y="38221"/>
                </a:cubicBezTo>
                <a:lnTo>
                  <a:pt x="0" y="20006"/>
                </a:lnTo>
                <a:lnTo>
                  <a:pt x="8143" y="0"/>
                </a:lnTo>
                <a:close/>
              </a:path>
            </a:pathLst>
          </a:custGeom>
          <a:noFill/>
          <a:ln w="9525">
            <a:solidFill>
              <a:srgbClr val="990000"/>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4148" name="Line 52">
            <a:extLst>
              <a:ext uri="{FF2B5EF4-FFF2-40B4-BE49-F238E27FC236}">
                <a16:creationId xmlns:a16="http://schemas.microsoft.com/office/drawing/2014/main" id="{4307CD91-D7ED-4703-9943-5E9BB96FD9D7}"/>
              </a:ext>
            </a:extLst>
          </p:cNvPr>
          <p:cNvSpPr>
            <a:spLocks noChangeShapeType="1"/>
          </p:cNvSpPr>
          <p:nvPr/>
        </p:nvSpPr>
        <p:spPr bwMode="auto">
          <a:xfrm flipV="1">
            <a:off x="3778250" y="3140076"/>
            <a:ext cx="3887788" cy="1609725"/>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4149" name="Text Box 53">
            <a:extLst>
              <a:ext uri="{FF2B5EF4-FFF2-40B4-BE49-F238E27FC236}">
                <a16:creationId xmlns:a16="http://schemas.microsoft.com/office/drawing/2014/main" id="{17E032D7-22A2-4600-93BA-253614DCCF7A}"/>
              </a:ext>
            </a:extLst>
          </p:cNvPr>
          <p:cNvSpPr txBox="1">
            <a:spLocks noChangeArrowheads="1"/>
          </p:cNvSpPr>
          <p:nvPr/>
        </p:nvSpPr>
        <p:spPr bwMode="auto">
          <a:xfrm>
            <a:off x="7739063" y="4060825"/>
            <a:ext cx="16557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a:solidFill>
                  <a:srgbClr val="0000FF"/>
                </a:solidFill>
                <a:latin typeface="Tahoma" panose="020B0604030504040204" pitchFamily="34" charset="0"/>
              </a:rPr>
              <a:t>CVT = CVu x q</a:t>
            </a:r>
            <a:endParaRPr lang="es-AR" altLang="es-AR" sz="1400" b="1">
              <a:solidFill>
                <a:srgbClr val="0000FF"/>
              </a:solidFill>
              <a:latin typeface="Tahoma" panose="020B0604030504040204" pitchFamily="34" charset="0"/>
              <a:cs typeface="Tahoma" panose="020B0604030504040204" pitchFamily="34" charset="0"/>
            </a:endParaRPr>
          </a:p>
        </p:txBody>
      </p:sp>
      <p:sp>
        <p:nvSpPr>
          <p:cNvPr id="4150" name="Text Box 54">
            <a:extLst>
              <a:ext uri="{FF2B5EF4-FFF2-40B4-BE49-F238E27FC236}">
                <a16:creationId xmlns:a16="http://schemas.microsoft.com/office/drawing/2014/main" id="{5404DBAB-EBED-475F-AD00-75CD41E3334D}"/>
              </a:ext>
            </a:extLst>
          </p:cNvPr>
          <p:cNvSpPr txBox="1">
            <a:spLocks noChangeArrowheads="1"/>
          </p:cNvSpPr>
          <p:nvPr/>
        </p:nvSpPr>
        <p:spPr bwMode="auto">
          <a:xfrm>
            <a:off x="7739063" y="2997200"/>
            <a:ext cx="19431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a:solidFill>
                  <a:srgbClr val="FF0000"/>
                </a:solidFill>
                <a:latin typeface="Tahoma" panose="020B0604030504040204" pitchFamily="34" charset="0"/>
              </a:rPr>
              <a:t>CT = CF + CVu x q</a:t>
            </a:r>
            <a:endParaRPr lang="es-AR" altLang="es-AR" sz="1400" b="1">
              <a:solidFill>
                <a:srgbClr val="FF0000"/>
              </a:solidFill>
              <a:latin typeface="Tahoma" panose="020B0604030504040204" pitchFamily="34" charset="0"/>
              <a:cs typeface="Tahoma" panose="020B0604030504040204" pitchFamily="34" charset="0"/>
            </a:endParaRPr>
          </a:p>
        </p:txBody>
      </p:sp>
      <p:sp>
        <p:nvSpPr>
          <p:cNvPr id="4151" name="Arc 55">
            <a:extLst>
              <a:ext uri="{FF2B5EF4-FFF2-40B4-BE49-F238E27FC236}">
                <a16:creationId xmlns:a16="http://schemas.microsoft.com/office/drawing/2014/main" id="{74BEFC59-852A-4F41-964E-1677F5D45689}"/>
              </a:ext>
            </a:extLst>
          </p:cNvPr>
          <p:cNvSpPr>
            <a:spLocks/>
          </p:cNvSpPr>
          <p:nvPr/>
        </p:nvSpPr>
        <p:spPr bwMode="auto">
          <a:xfrm>
            <a:off x="4133851" y="4471989"/>
            <a:ext cx="417513" cy="287337"/>
          </a:xfrm>
          <a:custGeom>
            <a:avLst/>
            <a:gdLst>
              <a:gd name="T0" fmla="*/ 5235942 w 21600"/>
              <a:gd name="T1" fmla="*/ 0 h 30506"/>
              <a:gd name="T2" fmla="*/ 6123659 w 21600"/>
              <a:gd name="T3" fmla="*/ 2706436 h 30506"/>
              <a:gd name="T4" fmla="*/ 0 w 21600"/>
              <a:gd name="T5" fmla="*/ 1458264 h 30506"/>
              <a:gd name="T6" fmla="*/ 0 60000 65536"/>
              <a:gd name="T7" fmla="*/ 0 60000 65536"/>
              <a:gd name="T8" fmla="*/ 0 60000 65536"/>
            </a:gdLst>
            <a:ahLst/>
            <a:cxnLst>
              <a:cxn ang="T6">
                <a:pos x="T0" y="T1"/>
              </a:cxn>
              <a:cxn ang="T7">
                <a:pos x="T2" y="T3"/>
              </a:cxn>
              <a:cxn ang="T8">
                <a:pos x="T4" y="T5"/>
              </a:cxn>
            </a:cxnLst>
            <a:rect l="0" t="0" r="r" b="b"/>
            <a:pathLst>
              <a:path w="21600" h="30506" fill="none" extrusionOk="0">
                <a:moveTo>
                  <a:pt x="14013" y="0"/>
                </a:moveTo>
                <a:cubicBezTo>
                  <a:pt x="18827" y="4104"/>
                  <a:pt x="21600" y="10111"/>
                  <a:pt x="21600" y="16437"/>
                </a:cubicBezTo>
                <a:cubicBezTo>
                  <a:pt x="21600" y="21598"/>
                  <a:pt x="19751" y="26589"/>
                  <a:pt x="16389" y="30505"/>
                </a:cubicBezTo>
              </a:path>
              <a:path w="21600" h="30506" stroke="0" extrusionOk="0">
                <a:moveTo>
                  <a:pt x="14013" y="0"/>
                </a:moveTo>
                <a:cubicBezTo>
                  <a:pt x="18827" y="4104"/>
                  <a:pt x="21600" y="10111"/>
                  <a:pt x="21600" y="16437"/>
                </a:cubicBezTo>
                <a:cubicBezTo>
                  <a:pt x="21600" y="21598"/>
                  <a:pt x="19751" y="26589"/>
                  <a:pt x="16389" y="30505"/>
                </a:cubicBezTo>
                <a:lnTo>
                  <a:pt x="0" y="16437"/>
                </a:lnTo>
                <a:lnTo>
                  <a:pt x="14013" y="0"/>
                </a:lnTo>
                <a:close/>
              </a:path>
            </a:pathLst>
          </a:custGeom>
          <a:noFill/>
          <a:ln w="9525">
            <a:solidFill>
              <a:srgbClr val="0000FF"/>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4152" name="Text Box 56">
            <a:extLst>
              <a:ext uri="{FF2B5EF4-FFF2-40B4-BE49-F238E27FC236}">
                <a16:creationId xmlns:a16="http://schemas.microsoft.com/office/drawing/2014/main" id="{A25E4EE5-2887-48F0-ACDA-43269551BC37}"/>
              </a:ext>
            </a:extLst>
          </p:cNvPr>
          <p:cNvSpPr txBox="1">
            <a:spLocks noChangeArrowheads="1"/>
          </p:cNvSpPr>
          <p:nvPr/>
        </p:nvSpPr>
        <p:spPr bwMode="auto">
          <a:xfrm>
            <a:off x="4500563" y="4365625"/>
            <a:ext cx="6477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a:solidFill>
                  <a:schemeClr val="accent2"/>
                </a:solidFill>
                <a:latin typeface="Tahoma" panose="020B0604030504040204" pitchFamily="34" charset="0"/>
              </a:rPr>
              <a:t>CVu</a:t>
            </a:r>
            <a:endParaRPr lang="es-AR" altLang="es-AR" sz="1400" b="1">
              <a:solidFill>
                <a:schemeClr val="accent2"/>
              </a:solidFill>
              <a:latin typeface="Tahoma" panose="020B0604030504040204" pitchFamily="34" charset="0"/>
              <a:cs typeface="Tahoma" panose="020B0604030504040204" pitchFamily="34" charset="0"/>
            </a:endParaRPr>
          </a:p>
        </p:txBody>
      </p:sp>
      <p:sp>
        <p:nvSpPr>
          <p:cNvPr id="4153" name="Line 57">
            <a:extLst>
              <a:ext uri="{FF2B5EF4-FFF2-40B4-BE49-F238E27FC236}">
                <a16:creationId xmlns:a16="http://schemas.microsoft.com/office/drawing/2014/main" id="{851E6170-E2AD-49BE-9D43-CAC252A62DB2}"/>
              </a:ext>
            </a:extLst>
          </p:cNvPr>
          <p:cNvSpPr>
            <a:spLocks noChangeShapeType="1"/>
          </p:cNvSpPr>
          <p:nvPr/>
        </p:nvSpPr>
        <p:spPr bwMode="auto">
          <a:xfrm flipV="1">
            <a:off x="3778250" y="1989139"/>
            <a:ext cx="3887788" cy="3768725"/>
          </a:xfrm>
          <a:prstGeom prst="line">
            <a:avLst/>
          </a:prstGeom>
          <a:noFill/>
          <a:ln w="28575">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4154" name="Line 58">
            <a:extLst>
              <a:ext uri="{FF2B5EF4-FFF2-40B4-BE49-F238E27FC236}">
                <a16:creationId xmlns:a16="http://schemas.microsoft.com/office/drawing/2014/main" id="{1CFF540F-CFF8-42A7-BB2F-4681C2BC5425}"/>
              </a:ext>
            </a:extLst>
          </p:cNvPr>
          <p:cNvSpPr>
            <a:spLocks noChangeShapeType="1"/>
          </p:cNvSpPr>
          <p:nvPr/>
        </p:nvSpPr>
        <p:spPr bwMode="auto">
          <a:xfrm>
            <a:off x="7666038" y="1989139"/>
            <a:ext cx="0" cy="37433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4155" name="Line 59">
            <a:extLst>
              <a:ext uri="{FF2B5EF4-FFF2-40B4-BE49-F238E27FC236}">
                <a16:creationId xmlns:a16="http://schemas.microsoft.com/office/drawing/2014/main" id="{4F2CE8FA-BB64-49AC-9818-7BE12BED8EDD}"/>
              </a:ext>
            </a:extLst>
          </p:cNvPr>
          <p:cNvSpPr>
            <a:spLocks noChangeShapeType="1"/>
          </p:cNvSpPr>
          <p:nvPr/>
        </p:nvSpPr>
        <p:spPr bwMode="auto">
          <a:xfrm flipH="1">
            <a:off x="3778250" y="2012950"/>
            <a:ext cx="3887788"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4156" name="Text Box 60">
            <a:extLst>
              <a:ext uri="{FF2B5EF4-FFF2-40B4-BE49-F238E27FC236}">
                <a16:creationId xmlns:a16="http://schemas.microsoft.com/office/drawing/2014/main" id="{F00C0148-847B-4106-8ED9-A4D9D7533FEE}"/>
              </a:ext>
            </a:extLst>
          </p:cNvPr>
          <p:cNvSpPr txBox="1">
            <a:spLocks noChangeArrowheads="1"/>
          </p:cNvSpPr>
          <p:nvPr/>
        </p:nvSpPr>
        <p:spPr bwMode="auto">
          <a:xfrm>
            <a:off x="4383089" y="5100638"/>
            <a:ext cx="6191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a:solidFill>
                  <a:srgbClr val="990000"/>
                </a:solidFill>
                <a:latin typeface="Tahoma" panose="020B0604030504040204" pitchFamily="34" charset="0"/>
              </a:rPr>
              <a:t>PVu</a:t>
            </a:r>
            <a:endParaRPr lang="es-AR" altLang="es-AR" sz="1400" b="1">
              <a:solidFill>
                <a:srgbClr val="990000"/>
              </a:solidFill>
              <a:latin typeface="Tahoma" panose="020B0604030504040204" pitchFamily="34" charset="0"/>
              <a:cs typeface="Tahoma" panose="020B0604030504040204" pitchFamily="34" charset="0"/>
            </a:endParaRPr>
          </a:p>
        </p:txBody>
      </p:sp>
      <p:sp>
        <p:nvSpPr>
          <p:cNvPr id="4157" name="Arc 61">
            <a:extLst>
              <a:ext uri="{FF2B5EF4-FFF2-40B4-BE49-F238E27FC236}">
                <a16:creationId xmlns:a16="http://schemas.microsoft.com/office/drawing/2014/main" id="{4E41F84E-DF62-4DEB-8FFA-82AC6E686FB7}"/>
              </a:ext>
            </a:extLst>
          </p:cNvPr>
          <p:cNvSpPr>
            <a:spLocks/>
          </p:cNvSpPr>
          <p:nvPr/>
        </p:nvSpPr>
        <p:spPr bwMode="auto">
          <a:xfrm rot="613330">
            <a:off x="5938838" y="3573463"/>
            <a:ext cx="323850" cy="195262"/>
          </a:xfrm>
          <a:custGeom>
            <a:avLst/>
            <a:gdLst>
              <a:gd name="T0" fmla="*/ 780810 w 19376"/>
              <a:gd name="T1" fmla="*/ 0 h 21418"/>
              <a:gd name="T2" fmla="*/ 5412821 w 19376"/>
              <a:gd name="T3" fmla="*/ 986657 h 21418"/>
              <a:gd name="T4" fmla="*/ 0 w 19376"/>
              <a:gd name="T5" fmla="*/ 1780150 h 21418"/>
              <a:gd name="T6" fmla="*/ 0 60000 65536"/>
              <a:gd name="T7" fmla="*/ 0 60000 65536"/>
              <a:gd name="T8" fmla="*/ 0 60000 65536"/>
            </a:gdLst>
            <a:ahLst/>
            <a:cxnLst>
              <a:cxn ang="T6">
                <a:pos x="T0" y="T1"/>
              </a:cxn>
              <a:cxn ang="T7">
                <a:pos x="T2" y="T3"/>
              </a:cxn>
              <a:cxn ang="T8">
                <a:pos x="T4" y="T5"/>
              </a:cxn>
            </a:cxnLst>
            <a:rect l="0" t="0" r="r" b="b"/>
            <a:pathLst>
              <a:path w="19376" h="21418" fill="none" extrusionOk="0">
                <a:moveTo>
                  <a:pt x="2795" y="-1"/>
                </a:moveTo>
                <a:cubicBezTo>
                  <a:pt x="9959" y="934"/>
                  <a:pt x="16182" y="5389"/>
                  <a:pt x="19375" y="11871"/>
                </a:cubicBezTo>
              </a:path>
              <a:path w="19376" h="21418" stroke="0" extrusionOk="0">
                <a:moveTo>
                  <a:pt x="2795" y="-1"/>
                </a:moveTo>
                <a:cubicBezTo>
                  <a:pt x="9959" y="934"/>
                  <a:pt x="16182" y="5389"/>
                  <a:pt x="19375" y="11871"/>
                </a:cubicBezTo>
                <a:lnTo>
                  <a:pt x="0" y="21418"/>
                </a:lnTo>
                <a:lnTo>
                  <a:pt x="2795" y="-1"/>
                </a:lnTo>
                <a:close/>
              </a:path>
            </a:pathLst>
          </a:custGeom>
          <a:noFill/>
          <a:ln w="9525">
            <a:solidFill>
              <a:schemeClr val="tx1"/>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4158" name="Text Box 62">
            <a:extLst>
              <a:ext uri="{FF2B5EF4-FFF2-40B4-BE49-F238E27FC236}">
                <a16:creationId xmlns:a16="http://schemas.microsoft.com/office/drawing/2014/main" id="{0AA80003-4371-4214-902E-4B9D3A0AADE5}"/>
              </a:ext>
            </a:extLst>
          </p:cNvPr>
          <p:cNvSpPr txBox="1">
            <a:spLocks noChangeArrowheads="1"/>
          </p:cNvSpPr>
          <p:nvPr/>
        </p:nvSpPr>
        <p:spPr bwMode="auto">
          <a:xfrm>
            <a:off x="6197600" y="3284538"/>
            <a:ext cx="8207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a:latin typeface="Tahoma" panose="020B0604030504040204" pitchFamily="34" charset="0"/>
              </a:rPr>
              <a:t>CM u</a:t>
            </a:r>
            <a:endParaRPr lang="es-AR" altLang="es-AR" sz="1400" b="1">
              <a:latin typeface="Tahoma" panose="020B0604030504040204" pitchFamily="34" charset="0"/>
              <a:cs typeface="Tahoma" panose="020B0604030504040204" pitchFamily="34" charset="0"/>
            </a:endParaRPr>
          </a:p>
        </p:txBody>
      </p:sp>
      <p:sp>
        <p:nvSpPr>
          <p:cNvPr id="4159" name="AutoShape 63">
            <a:extLst>
              <a:ext uri="{FF2B5EF4-FFF2-40B4-BE49-F238E27FC236}">
                <a16:creationId xmlns:a16="http://schemas.microsoft.com/office/drawing/2014/main" id="{F6FF77A3-A087-4C37-8D70-4FD5E8C1C7C2}"/>
              </a:ext>
            </a:extLst>
          </p:cNvPr>
          <p:cNvSpPr>
            <a:spLocks noChangeArrowheads="1"/>
          </p:cNvSpPr>
          <p:nvPr/>
        </p:nvSpPr>
        <p:spPr bwMode="auto">
          <a:xfrm>
            <a:off x="5565776" y="3889376"/>
            <a:ext cx="142875" cy="144463"/>
          </a:xfrm>
          <a:prstGeom prst="flowChartConnector">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p>
        </p:txBody>
      </p:sp>
      <p:sp>
        <p:nvSpPr>
          <p:cNvPr id="4160" name="Line 64">
            <a:extLst>
              <a:ext uri="{FF2B5EF4-FFF2-40B4-BE49-F238E27FC236}">
                <a16:creationId xmlns:a16="http://schemas.microsoft.com/office/drawing/2014/main" id="{A90E3963-C287-471E-AB9B-6D7E8DE2AA4D}"/>
              </a:ext>
            </a:extLst>
          </p:cNvPr>
          <p:cNvSpPr>
            <a:spLocks noChangeShapeType="1"/>
          </p:cNvSpPr>
          <p:nvPr/>
        </p:nvSpPr>
        <p:spPr bwMode="auto">
          <a:xfrm flipH="1">
            <a:off x="5648325" y="3932238"/>
            <a:ext cx="1588" cy="1839912"/>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4161" name="Line 65">
            <a:extLst>
              <a:ext uri="{FF2B5EF4-FFF2-40B4-BE49-F238E27FC236}">
                <a16:creationId xmlns:a16="http://schemas.microsoft.com/office/drawing/2014/main" id="{8A330CFC-08AF-4D0A-8B4D-B3355A4412A7}"/>
              </a:ext>
            </a:extLst>
          </p:cNvPr>
          <p:cNvSpPr>
            <a:spLocks noChangeShapeType="1"/>
          </p:cNvSpPr>
          <p:nvPr/>
        </p:nvSpPr>
        <p:spPr bwMode="auto">
          <a:xfrm flipH="1">
            <a:off x="3778251" y="3960813"/>
            <a:ext cx="1871663"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4162" name="Text Box 66">
            <a:extLst>
              <a:ext uri="{FF2B5EF4-FFF2-40B4-BE49-F238E27FC236}">
                <a16:creationId xmlns:a16="http://schemas.microsoft.com/office/drawing/2014/main" id="{FEF7DCFA-4DFB-419E-9BFF-7CC02A82359E}"/>
              </a:ext>
            </a:extLst>
          </p:cNvPr>
          <p:cNvSpPr txBox="1">
            <a:spLocks noChangeArrowheads="1"/>
          </p:cNvSpPr>
          <p:nvPr/>
        </p:nvSpPr>
        <p:spPr bwMode="auto">
          <a:xfrm>
            <a:off x="7739063" y="1773238"/>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a:solidFill>
                  <a:srgbClr val="990000"/>
                </a:solidFill>
                <a:latin typeface="Tahoma" panose="020B0604030504040204" pitchFamily="34" charset="0"/>
              </a:rPr>
              <a:t>I = PVu x q</a:t>
            </a:r>
            <a:endParaRPr lang="es-AR" altLang="es-AR" sz="1400" b="1">
              <a:solidFill>
                <a:srgbClr val="990000"/>
              </a:solidFill>
              <a:latin typeface="Tahoma" panose="020B0604030504040204" pitchFamily="34" charset="0"/>
              <a:cs typeface="Tahoma" panose="020B0604030504040204" pitchFamily="34" charset="0"/>
            </a:endParaRPr>
          </a:p>
        </p:txBody>
      </p:sp>
      <p:sp>
        <p:nvSpPr>
          <p:cNvPr id="4163" name="Text Box 67">
            <a:extLst>
              <a:ext uri="{FF2B5EF4-FFF2-40B4-BE49-F238E27FC236}">
                <a16:creationId xmlns:a16="http://schemas.microsoft.com/office/drawing/2014/main" id="{B0EAE520-1134-4247-9902-5BC9B8ABA3EC}"/>
              </a:ext>
            </a:extLst>
          </p:cNvPr>
          <p:cNvSpPr txBox="1">
            <a:spLocks noChangeArrowheads="1"/>
          </p:cNvSpPr>
          <p:nvPr/>
        </p:nvSpPr>
        <p:spPr bwMode="auto">
          <a:xfrm>
            <a:off x="7739064" y="4559300"/>
            <a:ext cx="7191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600" b="1">
                <a:solidFill>
                  <a:schemeClr val="hlink"/>
                </a:solidFill>
                <a:latin typeface="Tahoma" panose="020B0604030504040204" pitchFamily="34" charset="0"/>
              </a:rPr>
              <a:t>CFT</a:t>
            </a:r>
            <a:endParaRPr lang="es-AR" altLang="es-AR" sz="1600" b="1">
              <a:solidFill>
                <a:schemeClr val="hlink"/>
              </a:solidFill>
              <a:latin typeface="Tahoma" panose="020B0604030504040204" pitchFamily="34" charset="0"/>
              <a:cs typeface="Tahoma" panose="020B0604030504040204" pitchFamily="34" charset="0"/>
            </a:endParaRPr>
          </a:p>
        </p:txBody>
      </p:sp>
      <p:sp>
        <p:nvSpPr>
          <p:cNvPr id="4164" name="AutoShape 68">
            <a:extLst>
              <a:ext uri="{FF2B5EF4-FFF2-40B4-BE49-F238E27FC236}">
                <a16:creationId xmlns:a16="http://schemas.microsoft.com/office/drawing/2014/main" id="{2060FADB-77E5-42EB-90E0-39F95CC2F81B}"/>
              </a:ext>
            </a:extLst>
          </p:cNvPr>
          <p:cNvSpPr>
            <a:spLocks noChangeArrowheads="1"/>
          </p:cNvSpPr>
          <p:nvPr/>
        </p:nvSpPr>
        <p:spPr bwMode="auto">
          <a:xfrm>
            <a:off x="5073650" y="2132013"/>
            <a:ext cx="1657350" cy="792162"/>
          </a:xfrm>
          <a:prstGeom prst="wedgeRoundRectCallout">
            <a:avLst>
              <a:gd name="adj1" fmla="val 81227"/>
              <a:gd name="adj2" fmla="val 19139"/>
              <a:gd name="adj3" fmla="val 16667"/>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s-AR" altLang="es-AR" sz="1600" b="1" dirty="0">
                <a:solidFill>
                  <a:schemeClr val="tx1">
                    <a:lumMod val="75000"/>
                    <a:lumOff val="25000"/>
                  </a:schemeClr>
                </a:solidFill>
                <a:latin typeface="+mj-lt"/>
              </a:rPr>
              <a:t>AREA DE GANANCIAS (+)</a:t>
            </a:r>
            <a:endParaRPr lang="es-ES" altLang="es-AR" sz="1600" b="1" dirty="0">
              <a:solidFill>
                <a:schemeClr val="tx1">
                  <a:lumMod val="75000"/>
                  <a:lumOff val="25000"/>
                </a:schemeClr>
              </a:solidFill>
              <a:latin typeface="+mj-lt"/>
            </a:endParaRPr>
          </a:p>
        </p:txBody>
      </p:sp>
      <p:sp>
        <p:nvSpPr>
          <p:cNvPr id="4165" name="AutoShape 69">
            <a:extLst>
              <a:ext uri="{FF2B5EF4-FFF2-40B4-BE49-F238E27FC236}">
                <a16:creationId xmlns:a16="http://schemas.microsoft.com/office/drawing/2014/main" id="{6C4D9985-6B7F-4F93-B0D3-F6BC6EF4BD6F}"/>
              </a:ext>
            </a:extLst>
          </p:cNvPr>
          <p:cNvSpPr>
            <a:spLocks noChangeArrowheads="1"/>
          </p:cNvSpPr>
          <p:nvPr/>
        </p:nvSpPr>
        <p:spPr bwMode="auto">
          <a:xfrm>
            <a:off x="1328738" y="4508501"/>
            <a:ext cx="1657350" cy="792163"/>
          </a:xfrm>
          <a:prstGeom prst="wedgeRoundRectCallout">
            <a:avLst>
              <a:gd name="adj1" fmla="val 117722"/>
              <a:gd name="adj2" fmla="val 7514"/>
              <a:gd name="adj3" fmla="val 16667"/>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s-AR" altLang="es-AR" sz="1600" b="1" dirty="0">
                <a:solidFill>
                  <a:schemeClr val="tx1">
                    <a:lumMod val="75000"/>
                    <a:lumOff val="25000"/>
                  </a:schemeClr>
                </a:solidFill>
                <a:latin typeface="+mj-lt"/>
              </a:rPr>
              <a:t>AREA DE PERDIDAS</a:t>
            </a:r>
          </a:p>
          <a:p>
            <a:pPr algn="ctr" eaLnBrk="1" hangingPunct="1"/>
            <a:r>
              <a:rPr lang="es-AR" altLang="es-AR" sz="1600" b="1" dirty="0">
                <a:solidFill>
                  <a:schemeClr val="tx1">
                    <a:lumMod val="75000"/>
                    <a:lumOff val="25000"/>
                  </a:schemeClr>
                </a:solidFill>
                <a:latin typeface="+mj-lt"/>
              </a:rPr>
              <a:t>(-)</a:t>
            </a:r>
            <a:endParaRPr lang="es-ES" altLang="es-AR" sz="1600" b="1" dirty="0">
              <a:solidFill>
                <a:schemeClr val="tx1">
                  <a:lumMod val="75000"/>
                  <a:lumOff val="25000"/>
                </a:schemeClr>
              </a:solidFill>
              <a:latin typeface="+mj-lt"/>
            </a:endParaRPr>
          </a:p>
        </p:txBody>
      </p:sp>
      <p:sp>
        <p:nvSpPr>
          <p:cNvPr id="4166" name="Line 70">
            <a:extLst>
              <a:ext uri="{FF2B5EF4-FFF2-40B4-BE49-F238E27FC236}">
                <a16:creationId xmlns:a16="http://schemas.microsoft.com/office/drawing/2014/main" id="{35CF7E13-53B0-4545-97AE-E1CA2FC9D7A8}"/>
              </a:ext>
            </a:extLst>
          </p:cNvPr>
          <p:cNvSpPr>
            <a:spLocks noChangeShapeType="1"/>
          </p:cNvSpPr>
          <p:nvPr/>
        </p:nvSpPr>
        <p:spPr bwMode="auto">
          <a:xfrm flipH="1">
            <a:off x="4425950" y="6045200"/>
            <a:ext cx="431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4167" name="Line 71">
            <a:extLst>
              <a:ext uri="{FF2B5EF4-FFF2-40B4-BE49-F238E27FC236}">
                <a16:creationId xmlns:a16="http://schemas.microsoft.com/office/drawing/2014/main" id="{B7E9822F-B9A5-4DD9-B354-EC2D8A2872FB}"/>
              </a:ext>
            </a:extLst>
          </p:cNvPr>
          <p:cNvSpPr>
            <a:spLocks noChangeShapeType="1"/>
          </p:cNvSpPr>
          <p:nvPr/>
        </p:nvSpPr>
        <p:spPr bwMode="auto">
          <a:xfrm>
            <a:off x="6226175" y="6045200"/>
            <a:ext cx="431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4170" name="Rectangle 74">
            <a:extLst>
              <a:ext uri="{FF2B5EF4-FFF2-40B4-BE49-F238E27FC236}">
                <a16:creationId xmlns:a16="http://schemas.microsoft.com/office/drawing/2014/main" id="{BC50DC87-0E88-443D-ABAB-A9AD8AEBF151}"/>
              </a:ext>
            </a:extLst>
          </p:cNvPr>
          <p:cNvSpPr>
            <a:spLocks noChangeArrowheads="1"/>
          </p:cNvSpPr>
          <p:nvPr/>
        </p:nvSpPr>
        <p:spPr bwMode="auto">
          <a:xfrm>
            <a:off x="3346451" y="5829300"/>
            <a:ext cx="30008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s-AR" altLang="es-AR" sz="1600" b="1" dirty="0">
                <a:latin typeface="+mj-lt"/>
              </a:rPr>
              <a:t>0</a:t>
            </a:r>
            <a:endParaRPr lang="es-ES" altLang="es-AR" sz="1600" b="1" dirty="0">
              <a:latin typeface="+mj-lt"/>
            </a:endParaRPr>
          </a:p>
        </p:txBody>
      </p:sp>
      <p:sp>
        <p:nvSpPr>
          <p:cNvPr id="4171" name="Rectangle 75">
            <a:extLst>
              <a:ext uri="{FF2B5EF4-FFF2-40B4-BE49-F238E27FC236}">
                <a16:creationId xmlns:a16="http://schemas.microsoft.com/office/drawing/2014/main" id="{2178E342-BACD-4DC6-9899-3AC299C8E4B5}"/>
              </a:ext>
            </a:extLst>
          </p:cNvPr>
          <p:cNvSpPr>
            <a:spLocks noChangeArrowheads="1"/>
          </p:cNvSpPr>
          <p:nvPr/>
        </p:nvSpPr>
        <p:spPr bwMode="auto">
          <a:xfrm>
            <a:off x="7712075" y="5829300"/>
            <a:ext cx="32092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s-AR" altLang="es-AR" sz="1600" b="1">
                <a:latin typeface="+mj-lt"/>
              </a:rPr>
              <a:t>q</a:t>
            </a:r>
            <a:endParaRPr lang="es-ES" altLang="es-AR" sz="1600" b="1">
              <a:latin typeface="+mj-lt"/>
            </a:endParaRPr>
          </a:p>
        </p:txBody>
      </p:sp>
      <p:sp>
        <p:nvSpPr>
          <p:cNvPr id="4172" name="Rectangle 76">
            <a:extLst>
              <a:ext uri="{FF2B5EF4-FFF2-40B4-BE49-F238E27FC236}">
                <a16:creationId xmlns:a16="http://schemas.microsoft.com/office/drawing/2014/main" id="{6A404CC2-BE5A-460A-A3E0-34DBCCA53713}"/>
              </a:ext>
            </a:extLst>
          </p:cNvPr>
          <p:cNvSpPr>
            <a:spLocks noChangeArrowheads="1"/>
          </p:cNvSpPr>
          <p:nvPr/>
        </p:nvSpPr>
        <p:spPr bwMode="auto">
          <a:xfrm>
            <a:off x="1057275" y="1127126"/>
            <a:ext cx="9632950"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sz="2000" b="1" dirty="0">
                <a:solidFill>
                  <a:schemeClr val="tx1">
                    <a:lumMod val="75000"/>
                    <a:lumOff val="25000"/>
                  </a:schemeClr>
                </a:solidFill>
                <a:latin typeface="+mj-lt"/>
              </a:rPr>
              <a:t>Representando gráficamente, para costos en términos totales:</a:t>
            </a:r>
            <a:endParaRPr lang="es-ES" altLang="es-AR" sz="2000" b="1" dirty="0">
              <a:solidFill>
                <a:schemeClr val="tx1">
                  <a:lumMod val="75000"/>
                  <a:lumOff val="25000"/>
                </a:schemeClr>
              </a:solidFill>
              <a:latin typeface="+mj-lt"/>
            </a:endParaRPr>
          </a:p>
        </p:txBody>
      </p:sp>
      <p:sp>
        <p:nvSpPr>
          <p:cNvPr id="4173" name="Text Box 77">
            <a:extLst>
              <a:ext uri="{FF2B5EF4-FFF2-40B4-BE49-F238E27FC236}">
                <a16:creationId xmlns:a16="http://schemas.microsoft.com/office/drawing/2014/main" id="{46CB87CC-A109-43A9-8AFF-2532721DADAF}"/>
              </a:ext>
            </a:extLst>
          </p:cNvPr>
          <p:cNvSpPr txBox="1">
            <a:spLocks noChangeArrowheads="1"/>
          </p:cNvSpPr>
          <p:nvPr/>
        </p:nvSpPr>
        <p:spPr bwMode="auto">
          <a:xfrm>
            <a:off x="3324227" y="1637406"/>
            <a:ext cx="476246"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b="1" dirty="0">
                <a:solidFill>
                  <a:schemeClr val="tx1">
                    <a:lumMod val="75000"/>
                    <a:lumOff val="25000"/>
                  </a:schemeClr>
                </a:solidFill>
                <a:latin typeface="Tahoma" panose="020B0604030504040204" pitchFamily="34" charset="0"/>
              </a:rPr>
              <a:t> $</a:t>
            </a:r>
            <a:endParaRPr lang="es-AR" altLang="es-AR" b="1" dirty="0">
              <a:solidFill>
                <a:schemeClr val="tx1">
                  <a:lumMod val="75000"/>
                  <a:lumOff val="25000"/>
                </a:schemeClr>
              </a:solidFill>
              <a:latin typeface="Tahoma" panose="020B0604030504040204" pitchFamily="34" charset="0"/>
              <a:cs typeface="Tahoma" panose="020B0604030504040204" pitchFamily="34" charset="0"/>
            </a:endParaRPr>
          </a:p>
        </p:txBody>
      </p:sp>
      <p:sp>
        <p:nvSpPr>
          <p:cNvPr id="4174" name="Text Box 78">
            <a:extLst>
              <a:ext uri="{FF2B5EF4-FFF2-40B4-BE49-F238E27FC236}">
                <a16:creationId xmlns:a16="http://schemas.microsoft.com/office/drawing/2014/main" id="{57B91CA4-7D1F-4234-8EB3-561E293DB978}"/>
              </a:ext>
            </a:extLst>
          </p:cNvPr>
          <p:cNvSpPr txBox="1">
            <a:spLocks noChangeArrowheads="1"/>
          </p:cNvSpPr>
          <p:nvPr/>
        </p:nvSpPr>
        <p:spPr bwMode="auto">
          <a:xfrm>
            <a:off x="5002213" y="5300663"/>
            <a:ext cx="6477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a:solidFill>
                  <a:schemeClr val="accent2"/>
                </a:solidFill>
                <a:latin typeface="Tahoma" panose="020B0604030504040204" pitchFamily="34" charset="0"/>
              </a:rPr>
              <a:t>CVu</a:t>
            </a:r>
            <a:endParaRPr lang="es-AR" altLang="es-AR" sz="1400" b="1">
              <a:solidFill>
                <a:schemeClr val="accent2"/>
              </a:solidFill>
              <a:latin typeface="Tahoma" panose="020B0604030504040204" pitchFamily="34" charset="0"/>
              <a:cs typeface="Tahoma" panose="020B0604030504040204" pitchFamily="34" charset="0"/>
            </a:endParaRPr>
          </a:p>
        </p:txBody>
      </p:sp>
      <p:sp>
        <p:nvSpPr>
          <p:cNvPr id="4175" name="Arc 79">
            <a:extLst>
              <a:ext uri="{FF2B5EF4-FFF2-40B4-BE49-F238E27FC236}">
                <a16:creationId xmlns:a16="http://schemas.microsoft.com/office/drawing/2014/main" id="{7B013438-08E2-42DF-86A7-DAF93CCB41B2}"/>
              </a:ext>
            </a:extLst>
          </p:cNvPr>
          <p:cNvSpPr>
            <a:spLocks/>
          </p:cNvSpPr>
          <p:nvPr/>
        </p:nvSpPr>
        <p:spPr bwMode="auto">
          <a:xfrm>
            <a:off x="4584701" y="5408614"/>
            <a:ext cx="417513" cy="325437"/>
          </a:xfrm>
          <a:custGeom>
            <a:avLst/>
            <a:gdLst>
              <a:gd name="T0" fmla="*/ 2476374 w 21600"/>
              <a:gd name="T1" fmla="*/ 0 h 34627"/>
              <a:gd name="T2" fmla="*/ 6123659 w 21600"/>
              <a:gd name="T3" fmla="*/ 3058574 h 34627"/>
              <a:gd name="T4" fmla="*/ 0 w 21600"/>
              <a:gd name="T5" fmla="*/ 1815866 h 34627"/>
              <a:gd name="T6" fmla="*/ 0 60000 65536"/>
              <a:gd name="T7" fmla="*/ 0 60000 65536"/>
              <a:gd name="T8" fmla="*/ 0 60000 65536"/>
            </a:gdLst>
            <a:ahLst/>
            <a:cxnLst>
              <a:cxn ang="T6">
                <a:pos x="T0" y="T1"/>
              </a:cxn>
              <a:cxn ang="T7">
                <a:pos x="T2" y="T3"/>
              </a:cxn>
              <a:cxn ang="T8">
                <a:pos x="T4" y="T5"/>
              </a:cxn>
            </a:cxnLst>
            <a:rect l="0" t="0" r="r" b="b"/>
            <a:pathLst>
              <a:path w="21600" h="34627" fill="none" extrusionOk="0">
                <a:moveTo>
                  <a:pt x="6627" y="0"/>
                </a:moveTo>
                <a:cubicBezTo>
                  <a:pt x="15551" y="2877"/>
                  <a:pt x="21600" y="11182"/>
                  <a:pt x="21600" y="20558"/>
                </a:cubicBezTo>
                <a:cubicBezTo>
                  <a:pt x="21600" y="25719"/>
                  <a:pt x="19751" y="30710"/>
                  <a:pt x="16389" y="34626"/>
                </a:cubicBezTo>
              </a:path>
              <a:path w="21600" h="34627" stroke="0" extrusionOk="0">
                <a:moveTo>
                  <a:pt x="6627" y="0"/>
                </a:moveTo>
                <a:cubicBezTo>
                  <a:pt x="15551" y="2877"/>
                  <a:pt x="21600" y="11182"/>
                  <a:pt x="21600" y="20558"/>
                </a:cubicBezTo>
                <a:cubicBezTo>
                  <a:pt x="21600" y="25719"/>
                  <a:pt x="19751" y="30710"/>
                  <a:pt x="16389" y="34626"/>
                </a:cubicBezTo>
                <a:lnTo>
                  <a:pt x="0" y="20558"/>
                </a:lnTo>
                <a:lnTo>
                  <a:pt x="6627" y="0"/>
                </a:lnTo>
                <a:close/>
              </a:path>
            </a:pathLst>
          </a:custGeom>
          <a:noFill/>
          <a:ln w="9525">
            <a:solidFill>
              <a:srgbClr val="0000FF"/>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4176" name="Arc 80">
            <a:extLst>
              <a:ext uri="{FF2B5EF4-FFF2-40B4-BE49-F238E27FC236}">
                <a16:creationId xmlns:a16="http://schemas.microsoft.com/office/drawing/2014/main" id="{A9B1E9A3-BA74-46B0-8405-F332DE4010B2}"/>
              </a:ext>
            </a:extLst>
          </p:cNvPr>
          <p:cNvSpPr>
            <a:spLocks/>
          </p:cNvSpPr>
          <p:nvPr/>
        </p:nvSpPr>
        <p:spPr bwMode="auto">
          <a:xfrm rot="19684435">
            <a:off x="4727576" y="4797426"/>
            <a:ext cx="358775" cy="485775"/>
          </a:xfrm>
          <a:custGeom>
            <a:avLst/>
            <a:gdLst>
              <a:gd name="T0" fmla="*/ 2246845 w 21600"/>
              <a:gd name="T1" fmla="*/ 0 h 38221"/>
              <a:gd name="T2" fmla="*/ 3202814 w 21600"/>
              <a:gd name="T3" fmla="*/ 6174023 h 38221"/>
              <a:gd name="T4" fmla="*/ 0 w 21600"/>
              <a:gd name="T5" fmla="*/ 3231666 h 38221"/>
              <a:gd name="T6" fmla="*/ 0 60000 65536"/>
              <a:gd name="T7" fmla="*/ 0 60000 65536"/>
              <a:gd name="T8" fmla="*/ 0 60000 65536"/>
            </a:gdLst>
            <a:ahLst/>
            <a:cxnLst>
              <a:cxn ang="T6">
                <a:pos x="T0" y="T1"/>
              </a:cxn>
              <a:cxn ang="T7">
                <a:pos x="T2" y="T3"/>
              </a:cxn>
              <a:cxn ang="T8">
                <a:pos x="T4" y="T5"/>
              </a:cxn>
            </a:cxnLst>
            <a:rect l="0" t="0" r="r" b="b"/>
            <a:pathLst>
              <a:path w="21600" h="38221" fill="none" extrusionOk="0">
                <a:moveTo>
                  <a:pt x="8143" y="0"/>
                </a:moveTo>
                <a:cubicBezTo>
                  <a:pt x="16280" y="3312"/>
                  <a:pt x="21600" y="11221"/>
                  <a:pt x="21600" y="20006"/>
                </a:cubicBezTo>
                <a:cubicBezTo>
                  <a:pt x="21600" y="27385"/>
                  <a:pt x="17832" y="34254"/>
                  <a:pt x="11609" y="38221"/>
                </a:cubicBezTo>
              </a:path>
              <a:path w="21600" h="38221" stroke="0" extrusionOk="0">
                <a:moveTo>
                  <a:pt x="8143" y="0"/>
                </a:moveTo>
                <a:cubicBezTo>
                  <a:pt x="16280" y="3312"/>
                  <a:pt x="21600" y="11221"/>
                  <a:pt x="21600" y="20006"/>
                </a:cubicBezTo>
                <a:cubicBezTo>
                  <a:pt x="21600" y="27385"/>
                  <a:pt x="17832" y="34254"/>
                  <a:pt x="11609" y="38221"/>
                </a:cubicBezTo>
                <a:lnTo>
                  <a:pt x="0" y="20006"/>
                </a:lnTo>
                <a:lnTo>
                  <a:pt x="8143" y="0"/>
                </a:lnTo>
                <a:close/>
              </a:path>
            </a:pathLst>
          </a:custGeom>
          <a:noFill/>
          <a:ln w="9525">
            <a:solidFill>
              <a:schemeClr val="tx1"/>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4177" name="Text Box 81">
            <a:extLst>
              <a:ext uri="{FF2B5EF4-FFF2-40B4-BE49-F238E27FC236}">
                <a16:creationId xmlns:a16="http://schemas.microsoft.com/office/drawing/2014/main" id="{B57DE914-AC8F-4C0C-8AD5-A5E344F98D8E}"/>
              </a:ext>
            </a:extLst>
          </p:cNvPr>
          <p:cNvSpPr txBox="1">
            <a:spLocks noChangeArrowheads="1"/>
          </p:cNvSpPr>
          <p:nvPr/>
        </p:nvSpPr>
        <p:spPr bwMode="auto">
          <a:xfrm>
            <a:off x="5008564" y="4724400"/>
            <a:ext cx="82073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a:latin typeface="Tahoma" panose="020B0604030504040204" pitchFamily="34" charset="0"/>
              </a:rPr>
              <a:t>CM u</a:t>
            </a:r>
            <a:endParaRPr lang="es-AR" altLang="es-AR" sz="1400" b="1">
              <a:latin typeface="Tahoma" panose="020B0604030504040204" pitchFamily="34" charset="0"/>
              <a:cs typeface="Tahoma" panose="020B0604030504040204" pitchFamily="34" charset="0"/>
            </a:endParaRPr>
          </a:p>
        </p:txBody>
      </p:sp>
      <p:sp>
        <p:nvSpPr>
          <p:cNvPr id="2" name="CuadroTexto 1">
            <a:extLst>
              <a:ext uri="{FF2B5EF4-FFF2-40B4-BE49-F238E27FC236}">
                <a16:creationId xmlns:a16="http://schemas.microsoft.com/office/drawing/2014/main" id="{6AD8A7DB-7B9D-49F0-828B-5138F0A7141E}"/>
              </a:ext>
            </a:extLst>
          </p:cNvPr>
          <p:cNvSpPr txBox="1"/>
          <p:nvPr/>
        </p:nvSpPr>
        <p:spPr>
          <a:xfrm>
            <a:off x="5333085" y="3437652"/>
            <a:ext cx="353340" cy="369332"/>
          </a:xfrm>
          <a:prstGeom prst="rect">
            <a:avLst/>
          </a:prstGeom>
          <a:noFill/>
        </p:spPr>
        <p:txBody>
          <a:bodyPr wrap="square" rtlCol="0">
            <a:spAutoFit/>
          </a:bodyPr>
          <a:lstStyle/>
          <a:p>
            <a:r>
              <a:rPr lang="es-AR" b="1" dirty="0"/>
              <a:t>E</a:t>
            </a:r>
          </a:p>
        </p:txBody>
      </p:sp>
      <p:sp>
        <p:nvSpPr>
          <p:cNvPr id="3" name="Marcador de número de diapositiva 2">
            <a:extLst>
              <a:ext uri="{FF2B5EF4-FFF2-40B4-BE49-F238E27FC236}">
                <a16:creationId xmlns:a16="http://schemas.microsoft.com/office/drawing/2014/main" id="{4E57A7A6-2667-48C4-A2AC-614D91571746}"/>
              </a:ext>
            </a:extLst>
          </p:cNvPr>
          <p:cNvSpPr>
            <a:spLocks noGrp="1"/>
          </p:cNvSpPr>
          <p:nvPr>
            <p:ph type="sldNum" sz="quarter" idx="12"/>
          </p:nvPr>
        </p:nvSpPr>
        <p:spPr/>
        <p:txBody>
          <a:bodyPr/>
          <a:lstStyle/>
          <a:p>
            <a:fld id="{D57F1E4F-1CFF-5643-939E-217C01CDF565}" type="slidenum">
              <a:rPr lang="en-US" smtClean="0"/>
              <a:pPr/>
              <a:t>28</a:t>
            </a:fld>
            <a:endParaRPr lang="en-US" dirty="0"/>
          </a:p>
        </p:txBody>
      </p:sp>
      <p:sp>
        <p:nvSpPr>
          <p:cNvPr id="39" name="CuadroTexto 38">
            <a:extLst>
              <a:ext uri="{FF2B5EF4-FFF2-40B4-BE49-F238E27FC236}">
                <a16:creationId xmlns:a16="http://schemas.microsoft.com/office/drawing/2014/main" id="{30CF1269-7660-4B90-B3CA-938359752120}"/>
              </a:ext>
            </a:extLst>
          </p:cNvPr>
          <p:cNvSpPr txBox="1"/>
          <p:nvPr/>
        </p:nvSpPr>
        <p:spPr>
          <a:xfrm>
            <a:off x="3308230" y="3768925"/>
            <a:ext cx="482839" cy="338554"/>
          </a:xfrm>
          <a:prstGeom prst="rect">
            <a:avLst/>
          </a:prstGeom>
          <a:noFill/>
        </p:spPr>
        <p:txBody>
          <a:bodyPr wrap="square" rtlCol="0">
            <a:spAutoFit/>
          </a:bodyPr>
          <a:lstStyle/>
          <a:p>
            <a:r>
              <a:rPr lang="es-AR" sz="1600" b="1" dirty="0"/>
              <a:t>P</a:t>
            </a:r>
            <a:r>
              <a:rPr lang="es-AR" sz="1200" b="1" dirty="0"/>
              <a:t>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7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14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17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14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17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17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4" fill="hold" nodeType="clickEffect">
                                  <p:stCondLst>
                                    <p:cond delay="0"/>
                                  </p:stCondLst>
                                  <p:childTnLst>
                                    <p:set>
                                      <p:cBhvr>
                                        <p:cTn id="22" dur="1" fill="hold">
                                          <p:stCondLst>
                                            <p:cond delay="0"/>
                                          </p:stCondLst>
                                        </p:cTn>
                                        <p:tgtEl>
                                          <p:spTgt spid="4154"/>
                                        </p:tgtEl>
                                        <p:attrNameLst>
                                          <p:attrName>style.visibility</p:attrName>
                                        </p:attrNameLst>
                                      </p:cBhvr>
                                      <p:to>
                                        <p:strVal val="visible"/>
                                      </p:to>
                                    </p:set>
                                    <p:animEffect transition="in" filter="wipe(down)">
                                      <p:cBhvr>
                                        <p:cTn id="23" dur="500"/>
                                        <p:tgtEl>
                                          <p:spTgt spid="4154"/>
                                        </p:tgtEl>
                                      </p:cBhvr>
                                    </p:animEffect>
                                  </p:childTnLst>
                                </p:cTn>
                              </p:par>
                              <p:par>
                                <p:cTn id="24" presetID="22" presetClass="entr" presetSubtype="4" fill="hold" nodeType="withEffect">
                                  <p:stCondLst>
                                    <p:cond delay="0"/>
                                  </p:stCondLst>
                                  <p:childTnLst>
                                    <p:set>
                                      <p:cBhvr>
                                        <p:cTn id="25" dur="1" fill="hold">
                                          <p:stCondLst>
                                            <p:cond delay="0"/>
                                          </p:stCondLst>
                                        </p:cTn>
                                        <p:tgtEl>
                                          <p:spTgt spid="4155"/>
                                        </p:tgtEl>
                                        <p:attrNameLst>
                                          <p:attrName>style.visibility</p:attrName>
                                        </p:attrNameLst>
                                      </p:cBhvr>
                                      <p:to>
                                        <p:strVal val="visible"/>
                                      </p:to>
                                    </p:set>
                                    <p:animEffect transition="in" filter="wipe(down)">
                                      <p:cBhvr>
                                        <p:cTn id="26" dur="500"/>
                                        <p:tgtEl>
                                          <p:spTgt spid="415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4" fill="hold" nodeType="clickEffect">
                                  <p:stCondLst>
                                    <p:cond delay="0"/>
                                  </p:stCondLst>
                                  <p:childTnLst>
                                    <p:set>
                                      <p:cBhvr>
                                        <p:cTn id="30" dur="1" fill="hold">
                                          <p:stCondLst>
                                            <p:cond delay="0"/>
                                          </p:stCondLst>
                                        </p:cTn>
                                        <p:tgtEl>
                                          <p:spTgt spid="4145"/>
                                        </p:tgtEl>
                                        <p:attrNameLst>
                                          <p:attrName>style.visibility</p:attrName>
                                        </p:attrNameLst>
                                      </p:cBhvr>
                                      <p:to>
                                        <p:strVal val="visible"/>
                                      </p:to>
                                    </p:set>
                                    <p:animEffect transition="in" filter="wipe(down)">
                                      <p:cBhvr>
                                        <p:cTn id="31" dur="500"/>
                                        <p:tgtEl>
                                          <p:spTgt spid="4145"/>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4163"/>
                                        </p:tgtEl>
                                        <p:attrNameLst>
                                          <p:attrName>style.visibility</p:attrName>
                                        </p:attrNameLst>
                                      </p:cBhvr>
                                      <p:to>
                                        <p:strVal val="visible"/>
                                      </p:to>
                                    </p:set>
                                    <p:animEffect transition="in" filter="wipe(down)">
                                      <p:cBhvr>
                                        <p:cTn id="34" dur="500"/>
                                        <p:tgtEl>
                                          <p:spTgt spid="4163"/>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4" fill="hold" nodeType="clickEffect">
                                  <p:stCondLst>
                                    <p:cond delay="0"/>
                                  </p:stCondLst>
                                  <p:childTnLst>
                                    <p:set>
                                      <p:cBhvr>
                                        <p:cTn id="38" dur="1" fill="hold">
                                          <p:stCondLst>
                                            <p:cond delay="0"/>
                                          </p:stCondLst>
                                        </p:cTn>
                                        <p:tgtEl>
                                          <p:spTgt spid="4146"/>
                                        </p:tgtEl>
                                        <p:attrNameLst>
                                          <p:attrName>style.visibility</p:attrName>
                                        </p:attrNameLst>
                                      </p:cBhvr>
                                      <p:to>
                                        <p:strVal val="visible"/>
                                      </p:to>
                                    </p:set>
                                    <p:animEffect transition="in" filter="wipe(down)">
                                      <p:cBhvr>
                                        <p:cTn id="39" dur="500"/>
                                        <p:tgtEl>
                                          <p:spTgt spid="4146"/>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4149"/>
                                        </p:tgtEl>
                                        <p:attrNameLst>
                                          <p:attrName>style.visibility</p:attrName>
                                        </p:attrNameLst>
                                      </p:cBhvr>
                                      <p:to>
                                        <p:strVal val="visible"/>
                                      </p:to>
                                    </p:set>
                                    <p:animEffect transition="in" filter="wipe(down)">
                                      <p:cBhvr>
                                        <p:cTn id="42" dur="500"/>
                                        <p:tgtEl>
                                          <p:spTgt spid="414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nodeType="clickEffect">
                                  <p:stCondLst>
                                    <p:cond delay="0"/>
                                  </p:stCondLst>
                                  <p:childTnLst>
                                    <p:set>
                                      <p:cBhvr>
                                        <p:cTn id="46" dur="1" fill="hold">
                                          <p:stCondLst>
                                            <p:cond delay="0"/>
                                          </p:stCondLst>
                                        </p:cTn>
                                        <p:tgtEl>
                                          <p:spTgt spid="4148"/>
                                        </p:tgtEl>
                                        <p:attrNameLst>
                                          <p:attrName>style.visibility</p:attrName>
                                        </p:attrNameLst>
                                      </p:cBhvr>
                                      <p:to>
                                        <p:strVal val="visible"/>
                                      </p:to>
                                    </p:set>
                                    <p:animEffect transition="in" filter="wipe(down)">
                                      <p:cBhvr>
                                        <p:cTn id="47" dur="500"/>
                                        <p:tgtEl>
                                          <p:spTgt spid="4148"/>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4150"/>
                                        </p:tgtEl>
                                        <p:attrNameLst>
                                          <p:attrName>style.visibility</p:attrName>
                                        </p:attrNameLst>
                                      </p:cBhvr>
                                      <p:to>
                                        <p:strVal val="visible"/>
                                      </p:to>
                                    </p:set>
                                    <p:animEffect transition="in" filter="wipe(down)">
                                      <p:cBhvr>
                                        <p:cTn id="50" dur="500"/>
                                        <p:tgtEl>
                                          <p:spTgt spid="4150"/>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4" fill="hold" nodeType="clickEffect">
                                  <p:stCondLst>
                                    <p:cond delay="0"/>
                                  </p:stCondLst>
                                  <p:childTnLst>
                                    <p:set>
                                      <p:cBhvr>
                                        <p:cTn id="54" dur="1" fill="hold">
                                          <p:stCondLst>
                                            <p:cond delay="0"/>
                                          </p:stCondLst>
                                        </p:cTn>
                                        <p:tgtEl>
                                          <p:spTgt spid="4151"/>
                                        </p:tgtEl>
                                        <p:attrNameLst>
                                          <p:attrName>style.visibility</p:attrName>
                                        </p:attrNameLst>
                                      </p:cBhvr>
                                      <p:to>
                                        <p:strVal val="visible"/>
                                      </p:to>
                                    </p:set>
                                    <p:animEffect transition="in" filter="wipe(down)">
                                      <p:cBhvr>
                                        <p:cTn id="55" dur="500"/>
                                        <p:tgtEl>
                                          <p:spTgt spid="4151"/>
                                        </p:tgtEl>
                                      </p:cBhvr>
                                    </p:animEffect>
                                  </p:childTnLst>
                                </p:cTn>
                              </p:par>
                              <p:par>
                                <p:cTn id="56" presetID="22" presetClass="entr" presetSubtype="4" fill="hold" grpId="0" nodeType="withEffect">
                                  <p:stCondLst>
                                    <p:cond delay="0"/>
                                  </p:stCondLst>
                                  <p:childTnLst>
                                    <p:set>
                                      <p:cBhvr>
                                        <p:cTn id="57" dur="1" fill="hold">
                                          <p:stCondLst>
                                            <p:cond delay="0"/>
                                          </p:stCondLst>
                                        </p:cTn>
                                        <p:tgtEl>
                                          <p:spTgt spid="4152"/>
                                        </p:tgtEl>
                                        <p:attrNameLst>
                                          <p:attrName>style.visibility</p:attrName>
                                        </p:attrNameLst>
                                      </p:cBhvr>
                                      <p:to>
                                        <p:strVal val="visible"/>
                                      </p:to>
                                    </p:set>
                                    <p:animEffect transition="in" filter="wipe(down)">
                                      <p:cBhvr>
                                        <p:cTn id="58" dur="500"/>
                                        <p:tgtEl>
                                          <p:spTgt spid="4152"/>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4" fill="hold" nodeType="clickEffect">
                                  <p:stCondLst>
                                    <p:cond delay="0"/>
                                  </p:stCondLst>
                                  <p:childTnLst>
                                    <p:set>
                                      <p:cBhvr>
                                        <p:cTn id="62" dur="1" fill="hold">
                                          <p:stCondLst>
                                            <p:cond delay="0"/>
                                          </p:stCondLst>
                                        </p:cTn>
                                        <p:tgtEl>
                                          <p:spTgt spid="4153"/>
                                        </p:tgtEl>
                                        <p:attrNameLst>
                                          <p:attrName>style.visibility</p:attrName>
                                        </p:attrNameLst>
                                      </p:cBhvr>
                                      <p:to>
                                        <p:strVal val="visible"/>
                                      </p:to>
                                    </p:set>
                                    <p:animEffect transition="in" filter="wipe(down)">
                                      <p:cBhvr>
                                        <p:cTn id="63" dur="500"/>
                                        <p:tgtEl>
                                          <p:spTgt spid="4153"/>
                                        </p:tgtEl>
                                      </p:cBhvr>
                                    </p:animEffect>
                                  </p:childTnLst>
                                </p:cTn>
                              </p:par>
                              <p:par>
                                <p:cTn id="64" presetID="22" presetClass="entr" presetSubtype="4" fill="hold" grpId="0" nodeType="withEffect">
                                  <p:stCondLst>
                                    <p:cond delay="0"/>
                                  </p:stCondLst>
                                  <p:childTnLst>
                                    <p:set>
                                      <p:cBhvr>
                                        <p:cTn id="65" dur="1" fill="hold">
                                          <p:stCondLst>
                                            <p:cond delay="0"/>
                                          </p:stCondLst>
                                        </p:cTn>
                                        <p:tgtEl>
                                          <p:spTgt spid="4162"/>
                                        </p:tgtEl>
                                        <p:attrNameLst>
                                          <p:attrName>style.visibility</p:attrName>
                                        </p:attrNameLst>
                                      </p:cBhvr>
                                      <p:to>
                                        <p:strVal val="visible"/>
                                      </p:to>
                                    </p:set>
                                    <p:animEffect transition="in" filter="wipe(down)">
                                      <p:cBhvr>
                                        <p:cTn id="66" dur="500"/>
                                        <p:tgtEl>
                                          <p:spTgt spid="4162"/>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4" fill="hold" grpId="0" nodeType="clickEffect">
                                  <p:stCondLst>
                                    <p:cond delay="0"/>
                                  </p:stCondLst>
                                  <p:childTnLst>
                                    <p:set>
                                      <p:cBhvr>
                                        <p:cTn id="70" dur="1" fill="hold">
                                          <p:stCondLst>
                                            <p:cond delay="0"/>
                                          </p:stCondLst>
                                        </p:cTn>
                                        <p:tgtEl>
                                          <p:spTgt spid="4156"/>
                                        </p:tgtEl>
                                        <p:attrNameLst>
                                          <p:attrName>style.visibility</p:attrName>
                                        </p:attrNameLst>
                                      </p:cBhvr>
                                      <p:to>
                                        <p:strVal val="visible"/>
                                      </p:to>
                                    </p:set>
                                    <p:animEffect transition="in" filter="wipe(down)">
                                      <p:cBhvr>
                                        <p:cTn id="71" dur="500"/>
                                        <p:tgtEl>
                                          <p:spTgt spid="4156"/>
                                        </p:tgtEl>
                                      </p:cBhvr>
                                    </p:animEffect>
                                  </p:childTnLst>
                                </p:cTn>
                              </p:par>
                              <p:par>
                                <p:cTn id="72" presetID="22" presetClass="entr" presetSubtype="4" fill="hold" nodeType="withEffect">
                                  <p:stCondLst>
                                    <p:cond delay="0"/>
                                  </p:stCondLst>
                                  <p:childTnLst>
                                    <p:set>
                                      <p:cBhvr>
                                        <p:cTn id="73" dur="1" fill="hold">
                                          <p:stCondLst>
                                            <p:cond delay="0"/>
                                          </p:stCondLst>
                                        </p:cTn>
                                        <p:tgtEl>
                                          <p:spTgt spid="4147"/>
                                        </p:tgtEl>
                                        <p:attrNameLst>
                                          <p:attrName>style.visibility</p:attrName>
                                        </p:attrNameLst>
                                      </p:cBhvr>
                                      <p:to>
                                        <p:strVal val="visible"/>
                                      </p:to>
                                    </p:set>
                                    <p:animEffect transition="in" filter="wipe(down)">
                                      <p:cBhvr>
                                        <p:cTn id="74" dur="500"/>
                                        <p:tgtEl>
                                          <p:spTgt spid="4147"/>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159"/>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4" fill="hold" nodeType="clickEffect">
                                  <p:stCondLst>
                                    <p:cond delay="0"/>
                                  </p:stCondLst>
                                  <p:childTnLst>
                                    <p:set>
                                      <p:cBhvr>
                                        <p:cTn id="82" dur="1" fill="hold">
                                          <p:stCondLst>
                                            <p:cond delay="0"/>
                                          </p:stCondLst>
                                        </p:cTn>
                                        <p:tgtEl>
                                          <p:spTgt spid="4161"/>
                                        </p:tgtEl>
                                        <p:attrNameLst>
                                          <p:attrName>style.visibility</p:attrName>
                                        </p:attrNameLst>
                                      </p:cBhvr>
                                      <p:to>
                                        <p:strVal val="visible"/>
                                      </p:to>
                                    </p:set>
                                    <p:animEffect transition="in" filter="wipe(down)">
                                      <p:cBhvr>
                                        <p:cTn id="83" dur="500"/>
                                        <p:tgtEl>
                                          <p:spTgt spid="4161"/>
                                        </p:tgtEl>
                                      </p:cBhvr>
                                    </p:animEffect>
                                  </p:childTnLst>
                                </p:cTn>
                              </p:par>
                              <p:par>
                                <p:cTn id="84" presetID="22" presetClass="entr" presetSubtype="4" fill="hold" nodeType="withEffect">
                                  <p:stCondLst>
                                    <p:cond delay="0"/>
                                  </p:stCondLst>
                                  <p:childTnLst>
                                    <p:set>
                                      <p:cBhvr>
                                        <p:cTn id="85" dur="1" fill="hold">
                                          <p:stCondLst>
                                            <p:cond delay="0"/>
                                          </p:stCondLst>
                                        </p:cTn>
                                        <p:tgtEl>
                                          <p:spTgt spid="4160"/>
                                        </p:tgtEl>
                                        <p:attrNameLst>
                                          <p:attrName>style.visibility</p:attrName>
                                        </p:attrNameLst>
                                      </p:cBhvr>
                                      <p:to>
                                        <p:strVal val="visible"/>
                                      </p:to>
                                    </p:set>
                                    <p:animEffect transition="in" filter="wipe(down)">
                                      <p:cBhvr>
                                        <p:cTn id="86" dur="500"/>
                                        <p:tgtEl>
                                          <p:spTgt spid="4160"/>
                                        </p:tgtEl>
                                      </p:cBhvr>
                                    </p:animEffect>
                                  </p:childTnLst>
                                </p:cTn>
                              </p:par>
                              <p:par>
                                <p:cTn id="87" presetID="22" presetClass="entr" presetSubtype="4" fill="hold" grpId="0" nodeType="withEffect">
                                  <p:stCondLst>
                                    <p:cond delay="0"/>
                                  </p:stCondLst>
                                  <p:childTnLst>
                                    <p:set>
                                      <p:cBhvr>
                                        <p:cTn id="88" dur="1" fill="hold">
                                          <p:stCondLst>
                                            <p:cond delay="0"/>
                                          </p:stCondLst>
                                        </p:cTn>
                                        <p:tgtEl>
                                          <p:spTgt spid="4144"/>
                                        </p:tgtEl>
                                        <p:attrNameLst>
                                          <p:attrName>style.visibility</p:attrName>
                                        </p:attrNameLst>
                                      </p:cBhvr>
                                      <p:to>
                                        <p:strVal val="visible"/>
                                      </p:to>
                                    </p:set>
                                    <p:animEffect transition="in" filter="wipe(down)">
                                      <p:cBhvr>
                                        <p:cTn id="89" dur="500"/>
                                        <p:tgtEl>
                                          <p:spTgt spid="4144"/>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1" presetClass="entr" presetSubtype="0" fill="hold" nodeType="clickEffect">
                                  <p:stCondLst>
                                    <p:cond delay="0"/>
                                  </p:stCondLst>
                                  <p:childTnLst>
                                    <p:set>
                                      <p:cBhvr>
                                        <p:cTn id="93" dur="1" fill="hold">
                                          <p:stCondLst>
                                            <p:cond delay="0"/>
                                          </p:stCondLst>
                                        </p:cTn>
                                        <p:tgtEl>
                                          <p:spTgt spid="4166"/>
                                        </p:tgtEl>
                                        <p:attrNameLst>
                                          <p:attrName>style.visibility</p:attrName>
                                        </p:attrNameLst>
                                      </p:cBhvr>
                                      <p:to>
                                        <p:strVal val="visible"/>
                                      </p:to>
                                    </p:se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4" fill="hold" grpId="0" nodeType="clickEffect">
                                  <p:stCondLst>
                                    <p:cond delay="0"/>
                                  </p:stCondLst>
                                  <p:childTnLst>
                                    <p:set>
                                      <p:cBhvr>
                                        <p:cTn id="97" dur="1" fill="hold">
                                          <p:stCondLst>
                                            <p:cond delay="0"/>
                                          </p:stCondLst>
                                        </p:cTn>
                                        <p:tgtEl>
                                          <p:spTgt spid="4165"/>
                                        </p:tgtEl>
                                        <p:attrNameLst>
                                          <p:attrName>style.visibility</p:attrName>
                                        </p:attrNameLst>
                                      </p:cBhvr>
                                      <p:to>
                                        <p:strVal val="visible"/>
                                      </p:to>
                                    </p:set>
                                    <p:animEffect transition="in" filter="wipe(down)">
                                      <p:cBhvr>
                                        <p:cTn id="98" dur="500"/>
                                        <p:tgtEl>
                                          <p:spTgt spid="4165"/>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1" presetClass="entr" presetSubtype="0" fill="hold" nodeType="clickEffect">
                                  <p:stCondLst>
                                    <p:cond delay="0"/>
                                  </p:stCondLst>
                                  <p:childTnLst>
                                    <p:set>
                                      <p:cBhvr>
                                        <p:cTn id="102" dur="1" fill="hold">
                                          <p:stCondLst>
                                            <p:cond delay="0"/>
                                          </p:stCondLst>
                                        </p:cTn>
                                        <p:tgtEl>
                                          <p:spTgt spid="4167"/>
                                        </p:tgtEl>
                                        <p:attrNameLst>
                                          <p:attrName>style.visibility</p:attrName>
                                        </p:attrNameLst>
                                      </p:cBhvr>
                                      <p:to>
                                        <p:strVal val="visible"/>
                                      </p:to>
                                    </p:se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4" fill="hold" grpId="0" nodeType="clickEffect">
                                  <p:stCondLst>
                                    <p:cond delay="0"/>
                                  </p:stCondLst>
                                  <p:childTnLst>
                                    <p:set>
                                      <p:cBhvr>
                                        <p:cTn id="106" dur="1" fill="hold">
                                          <p:stCondLst>
                                            <p:cond delay="0"/>
                                          </p:stCondLst>
                                        </p:cTn>
                                        <p:tgtEl>
                                          <p:spTgt spid="4164"/>
                                        </p:tgtEl>
                                        <p:attrNameLst>
                                          <p:attrName>style.visibility</p:attrName>
                                        </p:attrNameLst>
                                      </p:cBhvr>
                                      <p:to>
                                        <p:strVal val="visible"/>
                                      </p:to>
                                    </p:set>
                                    <p:animEffect transition="in" filter="wipe(down)">
                                      <p:cBhvr>
                                        <p:cTn id="107" dur="500"/>
                                        <p:tgtEl>
                                          <p:spTgt spid="4164"/>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4" fill="hold" nodeType="clickEffect">
                                  <p:stCondLst>
                                    <p:cond delay="0"/>
                                  </p:stCondLst>
                                  <p:childTnLst>
                                    <p:set>
                                      <p:cBhvr>
                                        <p:cTn id="111" dur="1" fill="hold">
                                          <p:stCondLst>
                                            <p:cond delay="0"/>
                                          </p:stCondLst>
                                        </p:cTn>
                                        <p:tgtEl>
                                          <p:spTgt spid="4157"/>
                                        </p:tgtEl>
                                        <p:attrNameLst>
                                          <p:attrName>style.visibility</p:attrName>
                                        </p:attrNameLst>
                                      </p:cBhvr>
                                      <p:to>
                                        <p:strVal val="visible"/>
                                      </p:to>
                                    </p:set>
                                    <p:animEffect transition="in" filter="wipe(down)">
                                      <p:cBhvr>
                                        <p:cTn id="112" dur="500"/>
                                        <p:tgtEl>
                                          <p:spTgt spid="4157"/>
                                        </p:tgtEl>
                                      </p:cBhvr>
                                    </p:animEffect>
                                  </p:childTnLst>
                                </p:cTn>
                              </p:par>
                              <p:par>
                                <p:cTn id="113" presetID="22" presetClass="entr" presetSubtype="4" fill="hold" grpId="0" nodeType="withEffect">
                                  <p:stCondLst>
                                    <p:cond delay="0"/>
                                  </p:stCondLst>
                                  <p:childTnLst>
                                    <p:set>
                                      <p:cBhvr>
                                        <p:cTn id="114" dur="1" fill="hold">
                                          <p:stCondLst>
                                            <p:cond delay="0"/>
                                          </p:stCondLst>
                                        </p:cTn>
                                        <p:tgtEl>
                                          <p:spTgt spid="4158"/>
                                        </p:tgtEl>
                                        <p:attrNameLst>
                                          <p:attrName>style.visibility</p:attrName>
                                        </p:attrNameLst>
                                      </p:cBhvr>
                                      <p:to>
                                        <p:strVal val="visible"/>
                                      </p:to>
                                    </p:set>
                                    <p:animEffect transition="in" filter="wipe(down)">
                                      <p:cBhvr>
                                        <p:cTn id="115" dur="500"/>
                                        <p:tgtEl>
                                          <p:spTgt spid="4158"/>
                                        </p:tgtEl>
                                      </p:cBhvr>
                                    </p:animEffect>
                                  </p:childTnLst>
                                </p:cTn>
                              </p:par>
                              <p:par>
                                <p:cTn id="116" presetID="22" presetClass="entr" presetSubtype="4" fill="hold" grpId="0" nodeType="withEffect">
                                  <p:stCondLst>
                                    <p:cond delay="0"/>
                                  </p:stCondLst>
                                  <p:childTnLst>
                                    <p:set>
                                      <p:cBhvr>
                                        <p:cTn id="117" dur="1" fill="hold">
                                          <p:stCondLst>
                                            <p:cond delay="0"/>
                                          </p:stCondLst>
                                        </p:cTn>
                                        <p:tgtEl>
                                          <p:spTgt spid="4174"/>
                                        </p:tgtEl>
                                        <p:attrNameLst>
                                          <p:attrName>style.visibility</p:attrName>
                                        </p:attrNameLst>
                                      </p:cBhvr>
                                      <p:to>
                                        <p:strVal val="visible"/>
                                      </p:to>
                                    </p:set>
                                    <p:animEffect transition="in" filter="wipe(down)">
                                      <p:cBhvr>
                                        <p:cTn id="118" dur="500"/>
                                        <p:tgtEl>
                                          <p:spTgt spid="4174"/>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2" presetClass="entr" presetSubtype="4" fill="hold" nodeType="clickEffect">
                                  <p:stCondLst>
                                    <p:cond delay="0"/>
                                  </p:stCondLst>
                                  <p:childTnLst>
                                    <p:set>
                                      <p:cBhvr>
                                        <p:cTn id="122" dur="1" fill="hold">
                                          <p:stCondLst>
                                            <p:cond delay="0"/>
                                          </p:stCondLst>
                                        </p:cTn>
                                        <p:tgtEl>
                                          <p:spTgt spid="4175"/>
                                        </p:tgtEl>
                                        <p:attrNameLst>
                                          <p:attrName>style.visibility</p:attrName>
                                        </p:attrNameLst>
                                      </p:cBhvr>
                                      <p:to>
                                        <p:strVal val="visible"/>
                                      </p:to>
                                    </p:set>
                                    <p:animEffect transition="in" filter="wipe(down)">
                                      <p:cBhvr>
                                        <p:cTn id="123" dur="500"/>
                                        <p:tgtEl>
                                          <p:spTgt spid="4175"/>
                                        </p:tgtEl>
                                      </p:cBhvr>
                                    </p:animEffect>
                                  </p:childTnLst>
                                </p:cTn>
                              </p:par>
                              <p:par>
                                <p:cTn id="124" presetID="22" presetClass="entr" presetSubtype="4" fill="hold" nodeType="withEffect">
                                  <p:stCondLst>
                                    <p:cond delay="0"/>
                                  </p:stCondLst>
                                  <p:childTnLst>
                                    <p:set>
                                      <p:cBhvr>
                                        <p:cTn id="125" dur="1" fill="hold">
                                          <p:stCondLst>
                                            <p:cond delay="0"/>
                                          </p:stCondLst>
                                        </p:cTn>
                                        <p:tgtEl>
                                          <p:spTgt spid="4176"/>
                                        </p:tgtEl>
                                        <p:attrNameLst>
                                          <p:attrName>style.visibility</p:attrName>
                                        </p:attrNameLst>
                                      </p:cBhvr>
                                      <p:to>
                                        <p:strVal val="visible"/>
                                      </p:to>
                                    </p:set>
                                    <p:animEffect transition="in" filter="wipe(down)">
                                      <p:cBhvr>
                                        <p:cTn id="126" dur="500"/>
                                        <p:tgtEl>
                                          <p:spTgt spid="4176"/>
                                        </p:tgtEl>
                                      </p:cBhvr>
                                    </p:animEffect>
                                  </p:childTnLst>
                                </p:cTn>
                              </p:par>
                              <p:par>
                                <p:cTn id="127" presetID="22" presetClass="entr" presetSubtype="4" fill="hold" grpId="0" nodeType="withEffect">
                                  <p:stCondLst>
                                    <p:cond delay="0"/>
                                  </p:stCondLst>
                                  <p:childTnLst>
                                    <p:set>
                                      <p:cBhvr>
                                        <p:cTn id="128" dur="1" fill="hold">
                                          <p:stCondLst>
                                            <p:cond delay="0"/>
                                          </p:stCondLst>
                                        </p:cTn>
                                        <p:tgtEl>
                                          <p:spTgt spid="4177"/>
                                        </p:tgtEl>
                                        <p:attrNameLst>
                                          <p:attrName>style.visibility</p:attrName>
                                        </p:attrNameLst>
                                      </p:cBhvr>
                                      <p:to>
                                        <p:strVal val="visible"/>
                                      </p:to>
                                    </p:set>
                                    <p:animEffect transition="in" filter="wipe(down)">
                                      <p:cBhvr>
                                        <p:cTn id="129" dur="500"/>
                                        <p:tgtEl>
                                          <p:spTgt spid="41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44" grpId="0"/>
      <p:bldP spid="4149" grpId="0"/>
      <p:bldP spid="4150" grpId="0"/>
      <p:bldP spid="4152" grpId="0"/>
      <p:bldP spid="4156" grpId="0"/>
      <p:bldP spid="4158" grpId="0"/>
      <p:bldP spid="4159" grpId="0" animBg="1"/>
      <p:bldP spid="4162" grpId="0"/>
      <p:bldP spid="4163" grpId="0"/>
      <p:bldP spid="4164" grpId="0" animBg="1"/>
      <p:bldP spid="4165" grpId="0" animBg="1"/>
      <p:bldP spid="4170" grpId="0"/>
      <p:bldP spid="4171" grpId="0"/>
      <p:bldP spid="4172" grpId="0"/>
      <p:bldP spid="4173" grpId="0"/>
      <p:bldP spid="4174" grpId="0"/>
      <p:bldP spid="417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Text Box 4">
            <a:extLst>
              <a:ext uri="{FF2B5EF4-FFF2-40B4-BE49-F238E27FC236}">
                <a16:creationId xmlns:a16="http://schemas.microsoft.com/office/drawing/2014/main" id="{B00F0B0C-6470-4178-9317-8F33CC5A6084}"/>
              </a:ext>
            </a:extLst>
          </p:cNvPr>
          <p:cNvSpPr txBox="1">
            <a:spLocks noChangeArrowheads="1"/>
          </p:cNvSpPr>
          <p:nvPr/>
        </p:nvSpPr>
        <p:spPr bwMode="auto">
          <a:xfrm>
            <a:off x="1387476" y="185738"/>
            <a:ext cx="844232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defRPr/>
            </a:pPr>
            <a:r>
              <a:rPr lang="es-MX" altLang="es-AR" sz="3600" b="1" dirty="0">
                <a:solidFill>
                  <a:schemeClr val="tx1">
                    <a:lumMod val="75000"/>
                    <a:lumOff val="25000"/>
                  </a:schemeClr>
                </a:solidFill>
                <a:latin typeface="+mj-lt"/>
                <a:cs typeface="Arial" charset="0"/>
              </a:rPr>
              <a:t>PUNTO DE EQUILIBRIO ECONOMICO</a:t>
            </a:r>
          </a:p>
        </p:txBody>
      </p:sp>
      <p:sp>
        <p:nvSpPr>
          <p:cNvPr id="7247" name="Rectangle 79">
            <a:extLst>
              <a:ext uri="{FF2B5EF4-FFF2-40B4-BE49-F238E27FC236}">
                <a16:creationId xmlns:a16="http://schemas.microsoft.com/office/drawing/2014/main" id="{D3284778-A642-4D8B-976B-2BDACB3EFF2A}"/>
              </a:ext>
            </a:extLst>
          </p:cNvPr>
          <p:cNvSpPr>
            <a:spLocks noChangeArrowheads="1"/>
          </p:cNvSpPr>
          <p:nvPr/>
        </p:nvSpPr>
        <p:spPr bwMode="auto">
          <a:xfrm>
            <a:off x="4403725" y="2800787"/>
            <a:ext cx="4162297" cy="43021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1600" dirty="0" err="1">
                <a:solidFill>
                  <a:schemeClr val="tx1">
                    <a:lumMod val="75000"/>
                    <a:lumOff val="25000"/>
                  </a:schemeClr>
                </a:solidFill>
                <a:latin typeface="+mj-lt"/>
              </a:rPr>
              <a:t>PVu</a:t>
            </a:r>
            <a:r>
              <a:rPr lang="es-AR" altLang="es-AR" sz="1600" dirty="0">
                <a:solidFill>
                  <a:schemeClr val="tx1">
                    <a:lumMod val="75000"/>
                    <a:lumOff val="25000"/>
                  </a:schemeClr>
                </a:solidFill>
                <a:latin typeface="+mj-lt"/>
              </a:rPr>
              <a:t> x q = CF total + </a:t>
            </a:r>
            <a:r>
              <a:rPr lang="es-AR" altLang="es-AR" sz="1600" dirty="0" err="1">
                <a:solidFill>
                  <a:schemeClr val="tx1">
                    <a:lumMod val="75000"/>
                    <a:lumOff val="25000"/>
                  </a:schemeClr>
                </a:solidFill>
                <a:latin typeface="+mj-lt"/>
              </a:rPr>
              <a:t>CVu</a:t>
            </a:r>
            <a:r>
              <a:rPr lang="es-AR" altLang="es-AR" sz="1600" dirty="0">
                <a:solidFill>
                  <a:schemeClr val="tx1">
                    <a:lumMod val="75000"/>
                    <a:lumOff val="25000"/>
                  </a:schemeClr>
                </a:solidFill>
                <a:latin typeface="+mj-lt"/>
              </a:rPr>
              <a:t> x q</a:t>
            </a:r>
            <a:endParaRPr lang="es-ES" altLang="es-AR" sz="1600" dirty="0">
              <a:solidFill>
                <a:schemeClr val="tx1">
                  <a:lumMod val="75000"/>
                  <a:lumOff val="25000"/>
                </a:schemeClr>
              </a:solidFill>
              <a:latin typeface="+mj-lt"/>
            </a:endParaRPr>
          </a:p>
        </p:txBody>
      </p:sp>
      <p:sp>
        <p:nvSpPr>
          <p:cNvPr id="7248" name="Rectangle 80">
            <a:extLst>
              <a:ext uri="{FF2B5EF4-FFF2-40B4-BE49-F238E27FC236}">
                <a16:creationId xmlns:a16="http://schemas.microsoft.com/office/drawing/2014/main" id="{D76360EE-B815-47F2-A9CB-71AE533E4A50}"/>
              </a:ext>
            </a:extLst>
          </p:cNvPr>
          <p:cNvSpPr>
            <a:spLocks noChangeArrowheads="1"/>
          </p:cNvSpPr>
          <p:nvPr/>
        </p:nvSpPr>
        <p:spPr bwMode="auto">
          <a:xfrm>
            <a:off x="4279203" y="2261162"/>
            <a:ext cx="3694365" cy="430212"/>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1800" b="1" dirty="0">
                <a:solidFill>
                  <a:schemeClr val="tx1">
                    <a:lumMod val="75000"/>
                    <a:lumOff val="25000"/>
                  </a:schemeClr>
                </a:solidFill>
                <a:latin typeface="+mj-lt"/>
              </a:rPr>
              <a:t>INGRESOS = COSTO TOTAL</a:t>
            </a:r>
            <a:endParaRPr lang="es-ES" altLang="es-AR" sz="1800" b="1" dirty="0">
              <a:solidFill>
                <a:schemeClr val="tx1">
                  <a:lumMod val="75000"/>
                  <a:lumOff val="25000"/>
                </a:schemeClr>
              </a:solidFill>
              <a:latin typeface="+mj-lt"/>
            </a:endParaRPr>
          </a:p>
        </p:txBody>
      </p:sp>
      <p:sp>
        <p:nvSpPr>
          <p:cNvPr id="7249" name="Rectangle 81">
            <a:extLst>
              <a:ext uri="{FF2B5EF4-FFF2-40B4-BE49-F238E27FC236}">
                <a16:creationId xmlns:a16="http://schemas.microsoft.com/office/drawing/2014/main" id="{E1FB6227-A4D7-48FE-BB43-A4535E822961}"/>
              </a:ext>
            </a:extLst>
          </p:cNvPr>
          <p:cNvSpPr>
            <a:spLocks noChangeArrowheads="1"/>
          </p:cNvSpPr>
          <p:nvPr/>
        </p:nvSpPr>
        <p:spPr bwMode="auto">
          <a:xfrm>
            <a:off x="4181518" y="4166627"/>
            <a:ext cx="4033837" cy="792163"/>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2000" dirty="0">
                <a:solidFill>
                  <a:schemeClr val="tx1">
                    <a:lumMod val="75000"/>
                    <a:lumOff val="25000"/>
                  </a:schemeClr>
                </a:solidFill>
                <a:effectLst>
                  <a:outerShdw blurRad="38100" dist="38100" dir="2700000" algn="tl">
                    <a:srgbClr val="C0C0C0"/>
                  </a:outerShdw>
                </a:effectLst>
                <a:latin typeface="+mj-lt"/>
              </a:rPr>
              <a:t>                    CF total		     </a:t>
            </a:r>
          </a:p>
          <a:p>
            <a:pPr algn="l" eaLnBrk="1" hangingPunct="1">
              <a:defRPr/>
            </a:pPr>
            <a:r>
              <a:rPr lang="es-AR" altLang="es-AR" sz="2000" dirty="0">
                <a:solidFill>
                  <a:schemeClr val="tx1">
                    <a:lumMod val="75000"/>
                    <a:lumOff val="25000"/>
                  </a:schemeClr>
                </a:solidFill>
                <a:latin typeface="+mj-lt"/>
              </a:rPr>
              <a:t>                 </a:t>
            </a:r>
            <a:r>
              <a:rPr lang="es-AR" altLang="es-AR" sz="2000" dirty="0" err="1">
                <a:solidFill>
                  <a:schemeClr val="tx1">
                    <a:lumMod val="75000"/>
                    <a:lumOff val="25000"/>
                  </a:schemeClr>
                </a:solidFill>
                <a:latin typeface="+mj-lt"/>
              </a:rPr>
              <a:t>PVu</a:t>
            </a:r>
            <a:r>
              <a:rPr lang="es-AR" altLang="es-AR" sz="2000" dirty="0">
                <a:solidFill>
                  <a:schemeClr val="tx1">
                    <a:lumMod val="75000"/>
                    <a:lumOff val="25000"/>
                  </a:schemeClr>
                </a:solidFill>
                <a:latin typeface="+mj-lt"/>
              </a:rPr>
              <a:t> – </a:t>
            </a:r>
            <a:r>
              <a:rPr lang="es-AR" altLang="es-AR" sz="2000" dirty="0" err="1">
                <a:solidFill>
                  <a:schemeClr val="tx1">
                    <a:lumMod val="75000"/>
                    <a:lumOff val="25000"/>
                  </a:schemeClr>
                </a:solidFill>
                <a:latin typeface="+mj-lt"/>
              </a:rPr>
              <a:t>Cvu</a:t>
            </a:r>
            <a:r>
              <a:rPr lang="es-AR" altLang="es-AR" sz="2000" dirty="0">
                <a:solidFill>
                  <a:schemeClr val="tx1">
                    <a:lumMod val="75000"/>
                    <a:lumOff val="25000"/>
                  </a:schemeClr>
                </a:solidFill>
                <a:latin typeface="+mj-lt"/>
              </a:rPr>
              <a:t>(</a:t>
            </a:r>
            <a:r>
              <a:rPr lang="es-AR" altLang="es-AR" sz="1400" dirty="0">
                <a:solidFill>
                  <a:schemeClr val="tx1">
                    <a:lumMod val="75000"/>
                    <a:lumOff val="25000"/>
                  </a:schemeClr>
                </a:solidFill>
                <a:latin typeface="+mj-lt"/>
              </a:rPr>
              <a:t>total)</a:t>
            </a:r>
            <a:endParaRPr lang="es-ES" altLang="es-AR" sz="1400" dirty="0">
              <a:solidFill>
                <a:schemeClr val="tx1">
                  <a:lumMod val="75000"/>
                  <a:lumOff val="25000"/>
                </a:schemeClr>
              </a:solidFill>
              <a:latin typeface="+mj-lt"/>
            </a:endParaRPr>
          </a:p>
        </p:txBody>
      </p:sp>
      <p:sp>
        <p:nvSpPr>
          <p:cNvPr id="7250" name="Rectangle 82">
            <a:extLst>
              <a:ext uri="{FF2B5EF4-FFF2-40B4-BE49-F238E27FC236}">
                <a16:creationId xmlns:a16="http://schemas.microsoft.com/office/drawing/2014/main" id="{7BFD57E7-3311-445E-842F-83727AECF1B5}"/>
              </a:ext>
            </a:extLst>
          </p:cNvPr>
          <p:cNvSpPr>
            <a:spLocks noChangeArrowheads="1"/>
          </p:cNvSpPr>
          <p:nvPr/>
        </p:nvSpPr>
        <p:spPr bwMode="auto">
          <a:xfrm>
            <a:off x="2587910" y="5735102"/>
            <a:ext cx="5478928"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1600" dirty="0" err="1">
                <a:solidFill>
                  <a:schemeClr val="tx1">
                    <a:lumMod val="75000"/>
                    <a:lumOff val="25000"/>
                  </a:schemeClr>
                </a:solidFill>
                <a:latin typeface="+mj-lt"/>
              </a:rPr>
              <a:t>PVu</a:t>
            </a:r>
            <a:r>
              <a:rPr lang="es-AR" altLang="es-AR" sz="1600" dirty="0">
                <a:solidFill>
                  <a:schemeClr val="tx1">
                    <a:lumMod val="75000"/>
                    <a:lumOff val="25000"/>
                  </a:schemeClr>
                </a:solidFill>
                <a:latin typeface="+mj-lt"/>
              </a:rPr>
              <a:t> – </a:t>
            </a:r>
            <a:r>
              <a:rPr lang="es-AR" altLang="es-AR" sz="1600" dirty="0" err="1">
                <a:solidFill>
                  <a:schemeClr val="tx1">
                    <a:lumMod val="75000"/>
                    <a:lumOff val="25000"/>
                  </a:schemeClr>
                </a:solidFill>
                <a:latin typeface="+mj-lt"/>
              </a:rPr>
              <a:t>CVu</a:t>
            </a:r>
            <a:r>
              <a:rPr lang="es-AR" altLang="es-AR" sz="1600" dirty="0">
                <a:solidFill>
                  <a:schemeClr val="tx1">
                    <a:lumMod val="75000"/>
                    <a:lumOff val="25000"/>
                  </a:schemeClr>
                </a:solidFill>
                <a:latin typeface="+mj-lt"/>
              </a:rPr>
              <a:t> total = Contribución Marginal unitaria</a:t>
            </a:r>
            <a:endParaRPr lang="es-ES" altLang="es-AR" sz="1600" dirty="0">
              <a:solidFill>
                <a:schemeClr val="tx1">
                  <a:lumMod val="75000"/>
                  <a:lumOff val="25000"/>
                </a:schemeClr>
              </a:solidFill>
              <a:latin typeface="+mj-lt"/>
            </a:endParaRPr>
          </a:p>
        </p:txBody>
      </p:sp>
      <p:sp>
        <p:nvSpPr>
          <p:cNvPr id="2" name="CuadroTexto 1">
            <a:extLst>
              <a:ext uri="{FF2B5EF4-FFF2-40B4-BE49-F238E27FC236}">
                <a16:creationId xmlns:a16="http://schemas.microsoft.com/office/drawing/2014/main" id="{4E2B40E5-9399-462E-ADCF-9240344ECE68}"/>
              </a:ext>
            </a:extLst>
          </p:cNvPr>
          <p:cNvSpPr txBox="1"/>
          <p:nvPr/>
        </p:nvSpPr>
        <p:spPr>
          <a:xfrm>
            <a:off x="1837944" y="1426969"/>
            <a:ext cx="9500616" cy="646331"/>
          </a:xfrm>
          <a:prstGeom prst="rect">
            <a:avLst/>
          </a:prstGeom>
          <a:noFill/>
        </p:spPr>
        <p:txBody>
          <a:bodyPr wrap="square" rtlCol="0">
            <a:spAutoFit/>
          </a:bodyPr>
          <a:lstStyle/>
          <a:p>
            <a:r>
              <a:rPr lang="es-AR" dirty="0">
                <a:solidFill>
                  <a:schemeClr val="tx1">
                    <a:lumMod val="75000"/>
                    <a:lumOff val="25000"/>
                  </a:schemeClr>
                </a:solidFill>
              </a:rPr>
              <a:t>Si  en el punto donde se cortan las rectas de Ingresos totales con la de costos totales, “</a:t>
            </a:r>
            <a:r>
              <a:rPr lang="es-AR" b="1" dirty="0">
                <a:solidFill>
                  <a:schemeClr val="tx1">
                    <a:lumMod val="75000"/>
                    <a:lumOff val="25000"/>
                  </a:schemeClr>
                </a:solidFill>
              </a:rPr>
              <a:t>E</a:t>
            </a:r>
            <a:r>
              <a:rPr lang="es-AR" dirty="0">
                <a:solidFill>
                  <a:schemeClr val="tx1">
                    <a:lumMod val="75000"/>
                    <a:lumOff val="25000"/>
                  </a:schemeClr>
                </a:solidFill>
              </a:rPr>
              <a:t>“ igualamos, sus expresiones serán:</a:t>
            </a:r>
          </a:p>
        </p:txBody>
      </p:sp>
      <p:sp>
        <p:nvSpPr>
          <p:cNvPr id="3" name="CuadroTexto 2">
            <a:extLst>
              <a:ext uri="{FF2B5EF4-FFF2-40B4-BE49-F238E27FC236}">
                <a16:creationId xmlns:a16="http://schemas.microsoft.com/office/drawing/2014/main" id="{F8C9CDE4-2175-4D84-835C-89515EA606F7}"/>
              </a:ext>
            </a:extLst>
          </p:cNvPr>
          <p:cNvSpPr txBox="1"/>
          <p:nvPr/>
        </p:nvSpPr>
        <p:spPr>
          <a:xfrm>
            <a:off x="8375904" y="2261162"/>
            <a:ext cx="3255264" cy="369332"/>
          </a:xfrm>
          <a:prstGeom prst="rect">
            <a:avLst/>
          </a:prstGeom>
          <a:noFill/>
        </p:spPr>
        <p:txBody>
          <a:bodyPr wrap="square" rtlCol="0">
            <a:spAutoFit/>
          </a:bodyPr>
          <a:lstStyle/>
          <a:p>
            <a:r>
              <a:rPr lang="es-AR" dirty="0">
                <a:solidFill>
                  <a:schemeClr val="tx1">
                    <a:lumMod val="75000"/>
                    <a:lumOff val="25000"/>
                  </a:schemeClr>
                </a:solidFill>
              </a:rPr>
              <a:t>Y reemplazando ,</a:t>
            </a:r>
          </a:p>
        </p:txBody>
      </p:sp>
      <p:sp>
        <p:nvSpPr>
          <p:cNvPr id="4" name="CuadroTexto 3">
            <a:extLst>
              <a:ext uri="{FF2B5EF4-FFF2-40B4-BE49-F238E27FC236}">
                <a16:creationId xmlns:a16="http://schemas.microsoft.com/office/drawing/2014/main" id="{E9587A25-7CB1-4CF2-8AE9-FD8074B28A3E}"/>
              </a:ext>
            </a:extLst>
          </p:cNvPr>
          <p:cNvSpPr txBox="1"/>
          <p:nvPr/>
        </p:nvSpPr>
        <p:spPr>
          <a:xfrm>
            <a:off x="8477763" y="2745090"/>
            <a:ext cx="2660904" cy="369332"/>
          </a:xfrm>
          <a:prstGeom prst="rect">
            <a:avLst/>
          </a:prstGeom>
          <a:noFill/>
        </p:spPr>
        <p:txBody>
          <a:bodyPr wrap="square" rtlCol="0">
            <a:spAutoFit/>
          </a:bodyPr>
          <a:lstStyle/>
          <a:p>
            <a:r>
              <a:rPr lang="es-AR" dirty="0">
                <a:solidFill>
                  <a:schemeClr val="tx1">
                    <a:lumMod val="75000"/>
                    <a:lumOff val="25000"/>
                  </a:schemeClr>
                </a:solidFill>
              </a:rPr>
              <a:t>, operando </a:t>
            </a:r>
          </a:p>
        </p:txBody>
      </p:sp>
      <p:sp>
        <p:nvSpPr>
          <p:cNvPr id="18" name="Rectangle 82">
            <a:extLst>
              <a:ext uri="{FF2B5EF4-FFF2-40B4-BE49-F238E27FC236}">
                <a16:creationId xmlns:a16="http://schemas.microsoft.com/office/drawing/2014/main" id="{2CA2CE61-93C5-495B-9475-299032006935}"/>
              </a:ext>
            </a:extLst>
          </p:cNvPr>
          <p:cNvSpPr>
            <a:spLocks noChangeArrowheads="1"/>
          </p:cNvSpPr>
          <p:nvPr/>
        </p:nvSpPr>
        <p:spPr bwMode="auto">
          <a:xfrm>
            <a:off x="4403725" y="3388977"/>
            <a:ext cx="2922291"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1600" dirty="0" err="1">
                <a:solidFill>
                  <a:schemeClr val="tx1">
                    <a:lumMod val="75000"/>
                    <a:lumOff val="25000"/>
                  </a:schemeClr>
                </a:solidFill>
                <a:latin typeface="+mj-lt"/>
              </a:rPr>
              <a:t>Pvu</a:t>
            </a:r>
            <a:r>
              <a:rPr lang="es-AR" altLang="es-AR" sz="1600" dirty="0">
                <a:solidFill>
                  <a:schemeClr val="tx1">
                    <a:lumMod val="75000"/>
                    <a:lumOff val="25000"/>
                  </a:schemeClr>
                </a:solidFill>
                <a:latin typeface="+mj-lt"/>
              </a:rPr>
              <a:t> x q – </a:t>
            </a:r>
            <a:r>
              <a:rPr lang="es-AR" altLang="es-AR" sz="1600" dirty="0" err="1">
                <a:solidFill>
                  <a:schemeClr val="tx1">
                    <a:lumMod val="75000"/>
                    <a:lumOff val="25000"/>
                  </a:schemeClr>
                </a:solidFill>
                <a:latin typeface="+mj-lt"/>
              </a:rPr>
              <a:t>CVu</a:t>
            </a:r>
            <a:r>
              <a:rPr lang="es-AR" altLang="es-AR" sz="1600" dirty="0">
                <a:solidFill>
                  <a:schemeClr val="tx1">
                    <a:lumMod val="75000"/>
                    <a:lumOff val="25000"/>
                  </a:schemeClr>
                </a:solidFill>
                <a:latin typeface="+mj-lt"/>
              </a:rPr>
              <a:t> x q = CF</a:t>
            </a:r>
            <a:endParaRPr lang="es-ES" altLang="es-AR" sz="1600" dirty="0">
              <a:solidFill>
                <a:schemeClr val="tx1">
                  <a:lumMod val="75000"/>
                  <a:lumOff val="25000"/>
                </a:schemeClr>
              </a:solidFill>
              <a:latin typeface="+mj-lt"/>
            </a:endParaRPr>
          </a:p>
        </p:txBody>
      </p:sp>
      <p:sp>
        <p:nvSpPr>
          <p:cNvPr id="19" name="Rectangle 82">
            <a:extLst>
              <a:ext uri="{FF2B5EF4-FFF2-40B4-BE49-F238E27FC236}">
                <a16:creationId xmlns:a16="http://schemas.microsoft.com/office/drawing/2014/main" id="{F2EFFCAF-A65B-4F4D-92FA-018079A5A3BA}"/>
              </a:ext>
            </a:extLst>
          </p:cNvPr>
          <p:cNvSpPr>
            <a:spLocks noChangeArrowheads="1"/>
          </p:cNvSpPr>
          <p:nvPr/>
        </p:nvSpPr>
        <p:spPr bwMode="auto">
          <a:xfrm>
            <a:off x="2572314" y="6188568"/>
            <a:ext cx="5643041"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1600" dirty="0" err="1">
                <a:solidFill>
                  <a:schemeClr val="tx1">
                    <a:lumMod val="75000"/>
                    <a:lumOff val="25000"/>
                  </a:schemeClr>
                </a:solidFill>
                <a:latin typeface="+mj-lt"/>
              </a:rPr>
              <a:t>PVu</a:t>
            </a:r>
            <a:r>
              <a:rPr lang="es-AR" altLang="es-AR" sz="1600" dirty="0">
                <a:solidFill>
                  <a:schemeClr val="tx1">
                    <a:lumMod val="75000"/>
                    <a:lumOff val="25000"/>
                  </a:schemeClr>
                </a:solidFill>
                <a:latin typeface="+mj-lt"/>
              </a:rPr>
              <a:t> – </a:t>
            </a:r>
            <a:r>
              <a:rPr lang="es-AR" altLang="es-AR" sz="1600" dirty="0" err="1">
                <a:solidFill>
                  <a:schemeClr val="tx1">
                    <a:lumMod val="75000"/>
                    <a:lumOff val="25000"/>
                  </a:schemeClr>
                </a:solidFill>
                <a:latin typeface="+mj-lt"/>
              </a:rPr>
              <a:t>CVu</a:t>
            </a:r>
            <a:r>
              <a:rPr lang="es-AR" altLang="es-AR" sz="1600" dirty="0">
                <a:solidFill>
                  <a:schemeClr val="tx1">
                    <a:lumMod val="75000"/>
                    <a:lumOff val="25000"/>
                  </a:schemeClr>
                </a:solidFill>
                <a:latin typeface="+mj-lt"/>
              </a:rPr>
              <a:t> total = Contribución Marginal unitaria</a:t>
            </a:r>
            <a:endParaRPr lang="es-ES" altLang="es-AR" sz="1600" dirty="0">
              <a:solidFill>
                <a:schemeClr val="tx1">
                  <a:lumMod val="75000"/>
                  <a:lumOff val="25000"/>
                </a:schemeClr>
              </a:solidFill>
              <a:latin typeface="+mj-lt"/>
            </a:endParaRPr>
          </a:p>
        </p:txBody>
      </p:sp>
      <p:sp>
        <p:nvSpPr>
          <p:cNvPr id="22" name="CuadroTexto 21">
            <a:extLst>
              <a:ext uri="{FF2B5EF4-FFF2-40B4-BE49-F238E27FC236}">
                <a16:creationId xmlns:a16="http://schemas.microsoft.com/office/drawing/2014/main" id="{F9C09B91-A1B2-41C1-A247-BC6AAF9ACB7D}"/>
              </a:ext>
            </a:extLst>
          </p:cNvPr>
          <p:cNvSpPr txBox="1"/>
          <p:nvPr/>
        </p:nvSpPr>
        <p:spPr>
          <a:xfrm>
            <a:off x="8477763" y="3305397"/>
            <a:ext cx="2660904" cy="369332"/>
          </a:xfrm>
          <a:prstGeom prst="rect">
            <a:avLst/>
          </a:prstGeom>
          <a:noFill/>
        </p:spPr>
        <p:txBody>
          <a:bodyPr wrap="square" rtlCol="0">
            <a:spAutoFit/>
          </a:bodyPr>
          <a:lstStyle/>
          <a:p>
            <a:r>
              <a:rPr lang="es-AR" dirty="0">
                <a:solidFill>
                  <a:schemeClr val="tx1">
                    <a:lumMod val="75000"/>
                    <a:lumOff val="25000"/>
                  </a:schemeClr>
                </a:solidFill>
              </a:rPr>
              <a:t>, despejando </a:t>
            </a:r>
            <a:r>
              <a:rPr lang="es-AR" b="1" dirty="0">
                <a:solidFill>
                  <a:schemeClr val="tx1">
                    <a:lumMod val="75000"/>
                    <a:lumOff val="25000"/>
                  </a:schemeClr>
                </a:solidFill>
              </a:rPr>
              <a:t>q</a:t>
            </a:r>
            <a:r>
              <a:rPr lang="es-AR" sz="1200" b="1" dirty="0">
                <a:solidFill>
                  <a:schemeClr val="tx1">
                    <a:lumMod val="75000"/>
                    <a:lumOff val="25000"/>
                  </a:schemeClr>
                </a:solidFill>
              </a:rPr>
              <a:t>0</a:t>
            </a:r>
            <a:endParaRPr lang="es-AR" dirty="0">
              <a:solidFill>
                <a:schemeClr val="tx1">
                  <a:lumMod val="75000"/>
                  <a:lumOff val="25000"/>
                </a:schemeClr>
              </a:solidFill>
            </a:endParaRPr>
          </a:p>
        </p:txBody>
      </p:sp>
      <p:sp>
        <p:nvSpPr>
          <p:cNvPr id="7" name="CuadroTexto 6">
            <a:extLst>
              <a:ext uri="{FF2B5EF4-FFF2-40B4-BE49-F238E27FC236}">
                <a16:creationId xmlns:a16="http://schemas.microsoft.com/office/drawing/2014/main" id="{B7D43FE9-5AD1-4345-9DB7-999582AC2DC9}"/>
              </a:ext>
            </a:extLst>
          </p:cNvPr>
          <p:cNvSpPr txBox="1"/>
          <p:nvPr/>
        </p:nvSpPr>
        <p:spPr>
          <a:xfrm>
            <a:off x="4818489" y="4315225"/>
            <a:ext cx="357809" cy="369332"/>
          </a:xfrm>
          <a:prstGeom prst="rect">
            <a:avLst/>
          </a:prstGeom>
          <a:noFill/>
        </p:spPr>
        <p:txBody>
          <a:bodyPr wrap="square" rtlCol="0">
            <a:spAutoFit/>
          </a:bodyPr>
          <a:lstStyle/>
          <a:p>
            <a:r>
              <a:rPr lang="es-AR" dirty="0"/>
              <a:t>=</a:t>
            </a:r>
          </a:p>
        </p:txBody>
      </p:sp>
      <p:sp>
        <p:nvSpPr>
          <p:cNvPr id="8" name="CuadroTexto 7">
            <a:extLst>
              <a:ext uri="{FF2B5EF4-FFF2-40B4-BE49-F238E27FC236}">
                <a16:creationId xmlns:a16="http://schemas.microsoft.com/office/drawing/2014/main" id="{0D1BE6E3-E93F-4547-9427-45F41AFC9C1C}"/>
              </a:ext>
            </a:extLst>
          </p:cNvPr>
          <p:cNvSpPr txBox="1"/>
          <p:nvPr/>
        </p:nvSpPr>
        <p:spPr>
          <a:xfrm>
            <a:off x="4377190" y="4291673"/>
            <a:ext cx="580446" cy="369332"/>
          </a:xfrm>
          <a:prstGeom prst="rect">
            <a:avLst/>
          </a:prstGeom>
          <a:noFill/>
        </p:spPr>
        <p:txBody>
          <a:bodyPr wrap="square" rtlCol="0">
            <a:spAutoFit/>
          </a:bodyPr>
          <a:lstStyle/>
          <a:p>
            <a:r>
              <a:rPr lang="es-AR" b="1" dirty="0">
                <a:solidFill>
                  <a:schemeClr val="tx1">
                    <a:lumMod val="75000"/>
                    <a:lumOff val="25000"/>
                  </a:schemeClr>
                </a:solidFill>
              </a:rPr>
              <a:t>q</a:t>
            </a:r>
            <a:r>
              <a:rPr lang="es-AR" sz="1200" b="1" dirty="0">
                <a:solidFill>
                  <a:schemeClr val="tx1">
                    <a:lumMod val="75000"/>
                    <a:lumOff val="25000"/>
                  </a:schemeClr>
                </a:solidFill>
              </a:rPr>
              <a:t>0</a:t>
            </a:r>
          </a:p>
        </p:txBody>
      </p:sp>
      <p:cxnSp>
        <p:nvCxnSpPr>
          <p:cNvPr id="10" name="Conector recto 9">
            <a:extLst>
              <a:ext uri="{FF2B5EF4-FFF2-40B4-BE49-F238E27FC236}">
                <a16:creationId xmlns:a16="http://schemas.microsoft.com/office/drawing/2014/main" id="{9C4EA81B-5BAC-4E12-ACA3-59801517F419}"/>
              </a:ext>
            </a:extLst>
          </p:cNvPr>
          <p:cNvCxnSpPr/>
          <p:nvPr/>
        </p:nvCxnSpPr>
        <p:spPr>
          <a:xfrm>
            <a:off x="5327374" y="4499891"/>
            <a:ext cx="2401294"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5B0381E0-7F0B-485E-8A45-863D4B3AA153}"/>
              </a:ext>
            </a:extLst>
          </p:cNvPr>
          <p:cNvSpPr txBox="1"/>
          <p:nvPr/>
        </p:nvSpPr>
        <p:spPr>
          <a:xfrm>
            <a:off x="3287664" y="5035451"/>
            <a:ext cx="6542136" cy="369332"/>
          </a:xfrm>
          <a:prstGeom prst="rect">
            <a:avLst/>
          </a:prstGeom>
          <a:noFill/>
        </p:spPr>
        <p:txBody>
          <a:bodyPr wrap="square" rtlCol="0">
            <a:spAutoFit/>
          </a:bodyPr>
          <a:lstStyle/>
          <a:p>
            <a:r>
              <a:rPr lang="es-AR" dirty="0">
                <a:solidFill>
                  <a:schemeClr val="tx1">
                    <a:lumMod val="75000"/>
                    <a:lumOff val="25000"/>
                  </a:schemeClr>
                </a:solidFill>
              </a:rPr>
              <a:t>Que es la expresión del punto de equilibrio económico</a:t>
            </a:r>
          </a:p>
        </p:txBody>
      </p:sp>
      <p:sp>
        <p:nvSpPr>
          <p:cNvPr id="12" name="CuadroTexto 11">
            <a:extLst>
              <a:ext uri="{FF2B5EF4-FFF2-40B4-BE49-F238E27FC236}">
                <a16:creationId xmlns:a16="http://schemas.microsoft.com/office/drawing/2014/main" id="{119EB85D-F1CB-4AEC-90E5-BAAB4A3870A4}"/>
              </a:ext>
            </a:extLst>
          </p:cNvPr>
          <p:cNvSpPr txBox="1"/>
          <p:nvPr/>
        </p:nvSpPr>
        <p:spPr>
          <a:xfrm>
            <a:off x="1421666" y="5353641"/>
            <a:ext cx="1441354" cy="369332"/>
          </a:xfrm>
          <a:prstGeom prst="rect">
            <a:avLst/>
          </a:prstGeom>
          <a:noFill/>
        </p:spPr>
        <p:txBody>
          <a:bodyPr wrap="square" rtlCol="0">
            <a:spAutoFit/>
          </a:bodyPr>
          <a:lstStyle/>
          <a:p>
            <a:r>
              <a:rPr lang="es-AR" dirty="0">
                <a:solidFill>
                  <a:schemeClr val="tx1">
                    <a:lumMod val="75000"/>
                    <a:lumOff val="25000"/>
                  </a:schemeClr>
                </a:solidFill>
              </a:rPr>
              <a:t>Siendo:</a:t>
            </a:r>
          </a:p>
        </p:txBody>
      </p:sp>
      <p:sp>
        <p:nvSpPr>
          <p:cNvPr id="13" name="Flecha: a la derecha 12">
            <a:extLst>
              <a:ext uri="{FF2B5EF4-FFF2-40B4-BE49-F238E27FC236}">
                <a16:creationId xmlns:a16="http://schemas.microsoft.com/office/drawing/2014/main" id="{F9919461-9E9D-436E-A4CB-A6F5A37BE52B}"/>
              </a:ext>
            </a:extLst>
          </p:cNvPr>
          <p:cNvSpPr/>
          <p:nvPr/>
        </p:nvSpPr>
        <p:spPr>
          <a:xfrm>
            <a:off x="10630894" y="2393343"/>
            <a:ext cx="389614" cy="17227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solidFill>
                <a:schemeClr val="tx1">
                  <a:lumMod val="75000"/>
                  <a:lumOff val="25000"/>
                </a:schemeClr>
              </a:solidFill>
            </a:endParaRPr>
          </a:p>
        </p:txBody>
      </p:sp>
      <p:sp>
        <p:nvSpPr>
          <p:cNvPr id="30" name="Flecha: a la derecha 29">
            <a:extLst>
              <a:ext uri="{FF2B5EF4-FFF2-40B4-BE49-F238E27FC236}">
                <a16:creationId xmlns:a16="http://schemas.microsoft.com/office/drawing/2014/main" id="{DD3ED616-1DE6-4E0D-BC14-EC5FC66D9C28}"/>
              </a:ext>
            </a:extLst>
          </p:cNvPr>
          <p:cNvSpPr/>
          <p:nvPr/>
        </p:nvSpPr>
        <p:spPr>
          <a:xfrm>
            <a:off x="10626918" y="2846686"/>
            <a:ext cx="389614" cy="2084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solidFill>
                <a:schemeClr val="tx1">
                  <a:lumMod val="75000"/>
                  <a:lumOff val="25000"/>
                </a:schemeClr>
              </a:solidFill>
            </a:endParaRPr>
          </a:p>
        </p:txBody>
      </p:sp>
      <p:sp>
        <p:nvSpPr>
          <p:cNvPr id="31" name="Flecha: a la derecha 30">
            <a:extLst>
              <a:ext uri="{FF2B5EF4-FFF2-40B4-BE49-F238E27FC236}">
                <a16:creationId xmlns:a16="http://schemas.microsoft.com/office/drawing/2014/main" id="{DBAA8D53-1FB7-4A8A-9A7B-E7F2BB08CF47}"/>
              </a:ext>
            </a:extLst>
          </p:cNvPr>
          <p:cNvSpPr/>
          <p:nvPr/>
        </p:nvSpPr>
        <p:spPr>
          <a:xfrm>
            <a:off x="10626918" y="3412578"/>
            <a:ext cx="389614" cy="17227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solidFill>
                <a:schemeClr val="tx1">
                  <a:lumMod val="75000"/>
                  <a:lumOff val="25000"/>
                </a:schemeClr>
              </a:solidFill>
            </a:endParaRPr>
          </a:p>
        </p:txBody>
      </p:sp>
      <p:sp>
        <p:nvSpPr>
          <p:cNvPr id="5" name="Marcador de número de diapositiva 4">
            <a:extLst>
              <a:ext uri="{FF2B5EF4-FFF2-40B4-BE49-F238E27FC236}">
                <a16:creationId xmlns:a16="http://schemas.microsoft.com/office/drawing/2014/main" id="{806E62A3-D3E5-4CF0-9614-4DE0429F95D3}"/>
              </a:ext>
            </a:extLst>
          </p:cNvPr>
          <p:cNvSpPr>
            <a:spLocks noGrp="1"/>
          </p:cNvSpPr>
          <p:nvPr>
            <p:ph type="sldNum" sz="quarter" idx="12"/>
          </p:nvPr>
        </p:nvSpPr>
        <p:spPr/>
        <p:txBody>
          <a:bodyPr/>
          <a:lstStyle/>
          <a:p>
            <a:fld id="{D57F1E4F-1CFF-5643-939E-217C01CDF565}" type="slidenum">
              <a:rPr lang="en-US" smtClean="0"/>
              <a:pPr/>
              <a:t>29</a:t>
            </a:fld>
            <a:endParaRPr lang="en-US" dirty="0"/>
          </a:p>
        </p:txBody>
      </p:sp>
    </p:spTree>
    <p:extLst>
      <p:ext uri="{BB962C8B-B14F-4D97-AF65-F5344CB8AC3E}">
        <p14:creationId xmlns:p14="http://schemas.microsoft.com/office/powerpoint/2010/main" val="33596191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248"/>
                                        </p:tgtEl>
                                        <p:attrNameLst>
                                          <p:attrName>style.visibility</p:attrName>
                                        </p:attrNameLst>
                                      </p:cBhvr>
                                      <p:to>
                                        <p:strVal val="visible"/>
                                      </p:to>
                                    </p:set>
                                    <p:animEffect transition="in" filter="wipe(down)">
                                      <p:cBhvr>
                                        <p:cTn id="7" dur="500"/>
                                        <p:tgtEl>
                                          <p:spTgt spid="724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247"/>
                                        </p:tgtEl>
                                        <p:attrNameLst>
                                          <p:attrName>style.visibility</p:attrName>
                                        </p:attrNameLst>
                                      </p:cBhvr>
                                      <p:to>
                                        <p:strVal val="visible"/>
                                      </p:to>
                                    </p:set>
                                    <p:animEffect transition="in" filter="wipe(down)">
                                      <p:cBhvr>
                                        <p:cTn id="12" dur="500"/>
                                        <p:tgtEl>
                                          <p:spTgt spid="724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249"/>
                                        </p:tgtEl>
                                        <p:attrNameLst>
                                          <p:attrName>style.visibility</p:attrName>
                                        </p:attrNameLst>
                                      </p:cBhvr>
                                      <p:to>
                                        <p:strVal val="visible"/>
                                      </p:to>
                                    </p:set>
                                    <p:animEffect transition="in" filter="blinds(horizontal)">
                                      <p:cBhvr>
                                        <p:cTn id="17" dur="500"/>
                                        <p:tgtEl>
                                          <p:spTgt spid="724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250"/>
                                        </p:tgtEl>
                                        <p:attrNameLst>
                                          <p:attrName>style.visibility</p:attrName>
                                        </p:attrNameLst>
                                      </p:cBhvr>
                                      <p:to>
                                        <p:strVal val="visible"/>
                                      </p:to>
                                    </p:set>
                                    <p:animEffect transition="in" filter="blinds(horizontal)">
                                      <p:cBhvr>
                                        <p:cTn id="22" dur="500"/>
                                        <p:tgtEl>
                                          <p:spTgt spid="7250"/>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blinds(horizontal)">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blinds(horizontal)">
                                      <p:cBhvr>
                                        <p:cTn id="3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47" grpId="0"/>
      <p:bldP spid="7248" grpId="0" animBg="1"/>
      <p:bldP spid="7249" grpId="0" animBg="1"/>
      <p:bldP spid="7250" grpId="0"/>
      <p:bldP spid="18" grpId="0"/>
      <p:bldP spid="1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F59E1A-F31C-4805-9451-92B9E9E4EB92}"/>
              </a:ext>
            </a:extLst>
          </p:cNvPr>
          <p:cNvSpPr>
            <a:spLocks noGrp="1"/>
          </p:cNvSpPr>
          <p:nvPr>
            <p:ph type="title"/>
          </p:nvPr>
        </p:nvSpPr>
        <p:spPr>
          <a:xfrm>
            <a:off x="2620356" y="147337"/>
            <a:ext cx="8911687" cy="1280890"/>
          </a:xfrm>
        </p:spPr>
        <p:txBody>
          <a:bodyPr/>
          <a:lstStyle/>
          <a:p>
            <a:r>
              <a:rPr lang="es-MX" altLang="es-AR" b="1" dirty="0">
                <a:solidFill>
                  <a:schemeClr val="tx1">
                    <a:lumMod val="75000"/>
                    <a:lumOff val="25000"/>
                  </a:schemeClr>
                </a:solidFill>
                <a:cs typeface="Arial" charset="0"/>
              </a:rPr>
              <a:t>PUNTO DE EQUILIBRIO ECONÓMICO</a:t>
            </a:r>
            <a:br>
              <a:rPr lang="es-MX" altLang="es-AR" i="1" dirty="0">
                <a:solidFill>
                  <a:schemeClr val="accent2"/>
                </a:solidFill>
                <a:effectLst>
                  <a:outerShdw blurRad="38100" dist="38100" dir="2700000" algn="tl">
                    <a:srgbClr val="C0C0C0"/>
                  </a:outerShdw>
                </a:effectLst>
                <a:latin typeface="Tahoma" pitchFamily="34" charset="0"/>
                <a:cs typeface="Arial" charset="0"/>
              </a:rPr>
            </a:br>
            <a:endParaRPr lang="es-AR" dirty="0"/>
          </a:p>
        </p:txBody>
      </p:sp>
      <p:sp>
        <p:nvSpPr>
          <p:cNvPr id="3" name="Marcador de número de diapositiva 2">
            <a:extLst>
              <a:ext uri="{FF2B5EF4-FFF2-40B4-BE49-F238E27FC236}">
                <a16:creationId xmlns:a16="http://schemas.microsoft.com/office/drawing/2014/main" id="{880CCE78-3C05-4D51-A9F7-4CD4021C72F9}"/>
              </a:ext>
            </a:extLst>
          </p:cNvPr>
          <p:cNvSpPr>
            <a:spLocks noGrp="1"/>
          </p:cNvSpPr>
          <p:nvPr>
            <p:ph type="sldNum" sz="quarter" idx="12"/>
          </p:nvPr>
        </p:nvSpPr>
        <p:spPr/>
        <p:txBody>
          <a:bodyPr/>
          <a:lstStyle/>
          <a:p>
            <a:fld id="{D57F1E4F-1CFF-5643-939E-217C01CDF565}" type="slidenum">
              <a:rPr lang="en-US" smtClean="0"/>
              <a:pPr/>
              <a:t>30</a:t>
            </a:fld>
            <a:endParaRPr lang="en-US" dirty="0"/>
          </a:p>
        </p:txBody>
      </p:sp>
      <p:graphicFrame>
        <p:nvGraphicFramePr>
          <p:cNvPr id="4" name="Tabla 6">
            <a:extLst>
              <a:ext uri="{FF2B5EF4-FFF2-40B4-BE49-F238E27FC236}">
                <a16:creationId xmlns:a16="http://schemas.microsoft.com/office/drawing/2014/main" id="{6AD761C7-2F99-4E6F-91B4-49DA0AFCB2D0}"/>
              </a:ext>
            </a:extLst>
          </p:cNvPr>
          <p:cNvGraphicFramePr>
            <a:graphicFrameLocks noGrp="1"/>
          </p:cNvGraphicFramePr>
          <p:nvPr>
            <p:extLst>
              <p:ext uri="{D42A27DB-BD31-4B8C-83A1-F6EECF244321}">
                <p14:modId xmlns:p14="http://schemas.microsoft.com/office/powerpoint/2010/main" val="673277035"/>
              </p:ext>
            </p:extLst>
          </p:nvPr>
        </p:nvGraphicFramePr>
        <p:xfrm>
          <a:off x="3099816" y="3762502"/>
          <a:ext cx="5604448" cy="2595880"/>
        </p:xfrm>
        <a:graphic>
          <a:graphicData uri="http://schemas.openxmlformats.org/drawingml/2006/table">
            <a:tbl>
              <a:tblPr firstRow="1" bandRow="1">
                <a:tableStyleId>{5C22544A-7EE6-4342-B048-85BDC9FD1C3A}</a:tableStyleId>
              </a:tblPr>
              <a:tblGrid>
                <a:gridCol w="1507744">
                  <a:extLst>
                    <a:ext uri="{9D8B030D-6E8A-4147-A177-3AD203B41FA5}">
                      <a16:colId xmlns:a16="http://schemas.microsoft.com/office/drawing/2014/main" val="1422749064"/>
                    </a:ext>
                  </a:extLst>
                </a:gridCol>
                <a:gridCol w="384493">
                  <a:extLst>
                    <a:ext uri="{9D8B030D-6E8A-4147-A177-3AD203B41FA5}">
                      <a16:colId xmlns:a16="http://schemas.microsoft.com/office/drawing/2014/main" val="82168499"/>
                    </a:ext>
                  </a:extLst>
                </a:gridCol>
                <a:gridCol w="1702118">
                  <a:extLst>
                    <a:ext uri="{9D8B030D-6E8A-4147-A177-3AD203B41FA5}">
                      <a16:colId xmlns:a16="http://schemas.microsoft.com/office/drawing/2014/main" val="3088299618"/>
                    </a:ext>
                  </a:extLst>
                </a:gridCol>
                <a:gridCol w="384493">
                  <a:extLst>
                    <a:ext uri="{9D8B030D-6E8A-4147-A177-3AD203B41FA5}">
                      <a16:colId xmlns:a16="http://schemas.microsoft.com/office/drawing/2014/main" val="3902281310"/>
                    </a:ext>
                  </a:extLst>
                </a:gridCol>
                <a:gridCol w="1625600">
                  <a:extLst>
                    <a:ext uri="{9D8B030D-6E8A-4147-A177-3AD203B41FA5}">
                      <a16:colId xmlns:a16="http://schemas.microsoft.com/office/drawing/2014/main" val="3309206647"/>
                    </a:ext>
                  </a:extLst>
                </a:gridCol>
              </a:tblGrid>
              <a:tr h="370840">
                <a:tc>
                  <a:txBody>
                    <a:bodyPr/>
                    <a:lstStyle/>
                    <a:p>
                      <a:pPr marL="0" algn="l" defTabSz="457200" rtl="0" eaLnBrk="1" latinLnBrk="0" hangingPunct="1"/>
                      <a:r>
                        <a:rPr lang="es-AR" sz="1800" b="0" kern="1200" dirty="0" err="1">
                          <a:solidFill>
                            <a:schemeClr val="dk1"/>
                          </a:solidFill>
                          <a:latin typeface="+mn-lt"/>
                          <a:ea typeface="+mn-ea"/>
                          <a:cs typeface="+mn-cs"/>
                        </a:rPr>
                        <a:t>Ing</a:t>
                      </a:r>
                      <a:r>
                        <a:rPr lang="es-AR" sz="1800" b="0" kern="1200" dirty="0">
                          <a:solidFill>
                            <a:schemeClr val="dk1"/>
                          </a:solidFill>
                          <a:latin typeface="+mn-lt"/>
                          <a:ea typeface="+mn-ea"/>
                          <a:cs typeface="+mn-cs"/>
                        </a:rPr>
                        <a:t> x </a:t>
                      </a:r>
                      <a:r>
                        <a:rPr lang="es-AR" sz="1800" b="0" kern="1200" dirty="0" err="1">
                          <a:solidFill>
                            <a:schemeClr val="dk1"/>
                          </a:solidFill>
                          <a:latin typeface="+mn-lt"/>
                          <a:ea typeface="+mn-ea"/>
                          <a:cs typeface="+mn-cs"/>
                        </a:rPr>
                        <a:t>Vtas</a:t>
                      </a:r>
                      <a:endParaRPr lang="es-AR" sz="1800" b="0" kern="1200" dirty="0">
                        <a:solidFill>
                          <a:schemeClr val="dk1"/>
                        </a:solidFill>
                        <a:latin typeface="+mn-lt"/>
                        <a:ea typeface="+mn-ea"/>
                        <a:cs typeface="+mn-cs"/>
                      </a:endParaRPr>
                    </a:p>
                  </a:txBody>
                  <a:tcPr>
                    <a:noFill/>
                  </a:tcPr>
                </a:tc>
                <a:tc gridSpan="4">
                  <a:txBody>
                    <a:bodyPr/>
                    <a:lstStyle/>
                    <a:p>
                      <a:endParaRPr lang="es-AR" dirty="0"/>
                    </a:p>
                  </a:txBody>
                  <a:tcPr>
                    <a:noFill/>
                  </a:tcPr>
                </a:tc>
                <a:tc hMerge="1">
                  <a:txBody>
                    <a:bodyPr/>
                    <a:lstStyle/>
                    <a:p>
                      <a:endParaRPr lang="es-AR" dirty="0"/>
                    </a:p>
                  </a:txBody>
                  <a:tcPr/>
                </a:tc>
                <a:tc hMerge="1">
                  <a:txBody>
                    <a:bodyPr/>
                    <a:lstStyle/>
                    <a:p>
                      <a:endParaRPr lang="es-AR" dirty="0"/>
                    </a:p>
                  </a:txBody>
                  <a:tcPr/>
                </a:tc>
                <a:tc hMerge="1">
                  <a:txBody>
                    <a:bodyPr/>
                    <a:lstStyle/>
                    <a:p>
                      <a:endParaRPr lang="es-AR" dirty="0"/>
                    </a:p>
                  </a:txBody>
                  <a:tcPr/>
                </a:tc>
                <a:extLst>
                  <a:ext uri="{0D108BD9-81ED-4DB2-BD59-A6C34878D82A}">
                    <a16:rowId xmlns:a16="http://schemas.microsoft.com/office/drawing/2014/main" val="1082174863"/>
                  </a:ext>
                </a:extLst>
              </a:tr>
              <a:tr h="370840">
                <a:tc>
                  <a:txBody>
                    <a:bodyPr/>
                    <a:lstStyle/>
                    <a:p>
                      <a:r>
                        <a:rPr lang="es-AR" dirty="0" err="1"/>
                        <a:t>Pvu</a:t>
                      </a:r>
                      <a:r>
                        <a:rPr lang="es-AR" dirty="0"/>
                        <a:t> x </a:t>
                      </a:r>
                      <a:r>
                        <a:rPr lang="es-AR" dirty="0" err="1"/>
                        <a:t>Qv</a:t>
                      </a:r>
                      <a:r>
                        <a:rPr lang="es-AR" dirty="0"/>
                        <a:t> </a:t>
                      </a:r>
                    </a:p>
                  </a:txBody>
                  <a:tcPr>
                    <a:lnB w="12700" cap="flat" cmpd="sng" algn="ctr">
                      <a:noFill/>
                      <a:prstDash val="solid"/>
                      <a:round/>
                      <a:headEnd type="none" w="med" len="med"/>
                      <a:tailEnd type="none" w="med" len="med"/>
                    </a:lnB>
                    <a:noFill/>
                  </a:tcPr>
                </a:tc>
                <a:tc>
                  <a:txBody>
                    <a:bodyPr/>
                    <a:lstStyle/>
                    <a:p>
                      <a:r>
                        <a:rPr lang="es-AR" dirty="0"/>
                        <a:t>=</a:t>
                      </a:r>
                    </a:p>
                  </a:txBody>
                  <a:tcPr>
                    <a:lnB w="12700" cap="flat" cmpd="sng" algn="ctr">
                      <a:noFill/>
                      <a:prstDash val="solid"/>
                      <a:round/>
                      <a:headEnd type="none" w="med" len="med"/>
                      <a:tailEnd type="none" w="med" len="med"/>
                    </a:lnB>
                    <a:noFill/>
                  </a:tcPr>
                </a:tc>
                <a:tc>
                  <a:txBody>
                    <a:bodyPr/>
                    <a:lstStyle/>
                    <a:p>
                      <a:r>
                        <a:rPr lang="es-AR" dirty="0"/>
                        <a:t>$50 x 50.000 u</a:t>
                      </a:r>
                    </a:p>
                  </a:txBody>
                  <a:tcPr>
                    <a:lnB w="12700" cap="flat" cmpd="sng" algn="ctr">
                      <a:noFill/>
                      <a:prstDash val="solid"/>
                      <a:round/>
                      <a:headEnd type="none" w="med" len="med"/>
                      <a:tailEnd type="none" w="med" len="med"/>
                    </a:lnB>
                    <a:noFill/>
                  </a:tcPr>
                </a:tc>
                <a:tc>
                  <a:txBody>
                    <a:bodyPr/>
                    <a:lstStyle/>
                    <a:p>
                      <a:r>
                        <a:rPr lang="es-AR" dirty="0"/>
                        <a:t>=</a:t>
                      </a:r>
                    </a:p>
                  </a:txBody>
                  <a:tcPr>
                    <a:lnB w="12700" cap="flat" cmpd="sng" algn="ctr">
                      <a:noFill/>
                      <a:prstDash val="solid"/>
                      <a:round/>
                      <a:headEnd type="none" w="med" len="med"/>
                      <a:tailEnd type="none" w="med" len="med"/>
                    </a:lnB>
                    <a:noFill/>
                  </a:tcPr>
                </a:tc>
                <a:tc>
                  <a:txBody>
                    <a:bodyPr/>
                    <a:lstStyle/>
                    <a:p>
                      <a:r>
                        <a:rPr lang="es-AR" dirty="0"/>
                        <a:t>$2.500.000</a:t>
                      </a:r>
                    </a:p>
                  </a:txBody>
                  <a:tcPr>
                    <a:lnB w="12700" cap="flat" cmpd="sng" algn="ctr">
                      <a:noFill/>
                      <a:prstDash val="solid"/>
                      <a:round/>
                      <a:headEnd type="none" w="med" len="med"/>
                      <a:tailEnd type="none" w="med" len="med"/>
                    </a:lnB>
                    <a:noFill/>
                  </a:tcPr>
                </a:tc>
                <a:extLst>
                  <a:ext uri="{0D108BD9-81ED-4DB2-BD59-A6C34878D82A}">
                    <a16:rowId xmlns:a16="http://schemas.microsoft.com/office/drawing/2014/main" val="2105071093"/>
                  </a:ext>
                </a:extLst>
              </a:tr>
              <a:tr h="370840">
                <a:tc gridSpan="5">
                  <a:txBody>
                    <a:bodyPr/>
                    <a:lstStyle/>
                    <a:p>
                      <a:r>
                        <a:rPr lang="es-AR" dirty="0"/>
                        <a:t>Costo de lo vendido</a:t>
                      </a:r>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hMerge="1">
                  <a:txBody>
                    <a:bodyPr/>
                    <a:lstStyle/>
                    <a:p>
                      <a:endParaRPr lang="es-AR" dirty="0"/>
                    </a:p>
                  </a:txBody>
                  <a:tcPr/>
                </a:tc>
                <a:tc hMerge="1">
                  <a:txBody>
                    <a:bodyPr/>
                    <a:lstStyle/>
                    <a:p>
                      <a:endParaRPr lang="es-AR" dirty="0"/>
                    </a:p>
                  </a:txBody>
                  <a:tcPr/>
                </a:tc>
                <a:tc hMerge="1">
                  <a:txBody>
                    <a:bodyPr/>
                    <a:lstStyle/>
                    <a:p>
                      <a:endParaRPr lang="es-AR" dirty="0"/>
                    </a:p>
                  </a:txBody>
                  <a:tcPr/>
                </a:tc>
                <a:tc hMerge="1">
                  <a:txBody>
                    <a:bodyPr/>
                    <a:lstStyle/>
                    <a:p>
                      <a:endParaRPr lang="es-AR" dirty="0"/>
                    </a:p>
                  </a:txBody>
                  <a:tcPr/>
                </a:tc>
                <a:extLst>
                  <a:ext uri="{0D108BD9-81ED-4DB2-BD59-A6C34878D82A}">
                    <a16:rowId xmlns:a16="http://schemas.microsoft.com/office/drawing/2014/main" val="1673419533"/>
                  </a:ext>
                </a:extLst>
              </a:tr>
              <a:tr h="370840">
                <a:tc>
                  <a:txBody>
                    <a:bodyPr/>
                    <a:lstStyle/>
                    <a:p>
                      <a:r>
                        <a:rPr lang="es-AR" dirty="0" err="1"/>
                        <a:t>Cvu</a:t>
                      </a:r>
                      <a:r>
                        <a:rPr lang="es-AR" dirty="0"/>
                        <a:t> x </a:t>
                      </a:r>
                      <a:r>
                        <a:rPr lang="es-AR" dirty="0" err="1"/>
                        <a:t>Qv</a:t>
                      </a:r>
                      <a:endParaRPr lang="es-AR" dirty="0"/>
                    </a:p>
                  </a:txBody>
                  <a:tcPr>
                    <a:lnT w="12700" cmpd="sng">
                      <a:noFill/>
                    </a:lnT>
                    <a:noFill/>
                  </a:tcPr>
                </a:tc>
                <a:tc>
                  <a:txBody>
                    <a:bodyPr/>
                    <a:lstStyle/>
                    <a:p>
                      <a:r>
                        <a:rPr lang="es-AR" dirty="0"/>
                        <a:t>=</a:t>
                      </a:r>
                    </a:p>
                  </a:txBody>
                  <a:tcPr>
                    <a:lnT w="12700" cmpd="sng">
                      <a:noFill/>
                    </a:lnT>
                    <a:noFill/>
                  </a:tcPr>
                </a:tc>
                <a:tc>
                  <a:txBody>
                    <a:bodyPr/>
                    <a:lstStyle/>
                    <a:p>
                      <a:r>
                        <a:rPr lang="es-AR" dirty="0"/>
                        <a:t>$30 x 50.000 u</a:t>
                      </a:r>
                    </a:p>
                  </a:txBody>
                  <a:tcPr>
                    <a:lnT w="12700" cmpd="sng">
                      <a:noFill/>
                    </a:lnT>
                    <a:noFill/>
                  </a:tcPr>
                </a:tc>
                <a:tc>
                  <a:txBody>
                    <a:bodyPr/>
                    <a:lstStyle/>
                    <a:p>
                      <a:r>
                        <a:rPr lang="es-AR" dirty="0"/>
                        <a:t>=</a:t>
                      </a:r>
                    </a:p>
                  </a:txBody>
                  <a:tcPr>
                    <a:lnT w="12700" cmpd="sng">
                      <a:noFill/>
                    </a:lnT>
                    <a:noFill/>
                  </a:tcPr>
                </a:tc>
                <a:tc>
                  <a:txBody>
                    <a:bodyPr/>
                    <a:lstStyle/>
                    <a:p>
                      <a:r>
                        <a:rPr lang="es-AR" dirty="0"/>
                        <a:t>$(1.500.000)</a:t>
                      </a:r>
                    </a:p>
                  </a:txBody>
                  <a:tcPr>
                    <a:lnT w="12700" cmpd="sng">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0008983"/>
                  </a:ext>
                </a:extLst>
              </a:tr>
              <a:tr h="370840">
                <a:tc>
                  <a:txBody>
                    <a:bodyPr/>
                    <a:lstStyle/>
                    <a:p>
                      <a:endParaRPr lang="es-AR" dirty="0"/>
                    </a:p>
                  </a:txBody>
                  <a:tcPr>
                    <a:noFill/>
                  </a:tcPr>
                </a:tc>
                <a:tc>
                  <a:txBody>
                    <a:bodyPr/>
                    <a:lstStyle/>
                    <a:p>
                      <a:endParaRPr lang="es-AR" dirty="0"/>
                    </a:p>
                  </a:txBody>
                  <a:tcPr>
                    <a:noFill/>
                  </a:tcPr>
                </a:tc>
                <a:tc>
                  <a:txBody>
                    <a:bodyPr/>
                    <a:lstStyle/>
                    <a:p>
                      <a:r>
                        <a:rPr lang="es-AR" dirty="0"/>
                        <a:t>Resultado</a:t>
                      </a:r>
                    </a:p>
                  </a:txBody>
                  <a:tcPr>
                    <a:noFill/>
                  </a:tcPr>
                </a:tc>
                <a:tc>
                  <a:txBody>
                    <a:bodyPr/>
                    <a:lstStyle/>
                    <a:p>
                      <a:endParaRPr lang="es-AR" dirty="0"/>
                    </a:p>
                  </a:txBody>
                  <a:tcPr>
                    <a:noFill/>
                  </a:tcPr>
                </a:tc>
                <a:tc>
                  <a:txBody>
                    <a:bodyPr/>
                    <a:lstStyle/>
                    <a:p>
                      <a:r>
                        <a:rPr lang="es-AR" dirty="0"/>
                        <a:t>$1.000.000</a:t>
                      </a:r>
                    </a:p>
                  </a:txBody>
                  <a:tcP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182655814"/>
                  </a:ext>
                </a:extLst>
              </a:tr>
              <a:tr h="370840">
                <a:tc>
                  <a:txBody>
                    <a:bodyPr/>
                    <a:lstStyle/>
                    <a:p>
                      <a:r>
                        <a:rPr lang="es-AR" dirty="0" err="1"/>
                        <a:t>Gtos</a:t>
                      </a:r>
                      <a:r>
                        <a:rPr lang="es-AR" dirty="0"/>
                        <a:t> Fijos</a:t>
                      </a:r>
                    </a:p>
                  </a:txBody>
                  <a:tcPr>
                    <a:noFill/>
                  </a:tcPr>
                </a:tc>
                <a:tc>
                  <a:txBody>
                    <a:bodyPr/>
                    <a:lstStyle/>
                    <a:p>
                      <a:endParaRPr lang="es-AR" dirty="0"/>
                    </a:p>
                  </a:txBody>
                  <a:tcPr>
                    <a:noFill/>
                  </a:tcPr>
                </a:tc>
                <a:tc>
                  <a:txBody>
                    <a:bodyPr/>
                    <a:lstStyle/>
                    <a:p>
                      <a:endParaRPr lang="es-AR" dirty="0"/>
                    </a:p>
                  </a:txBody>
                  <a:tcPr>
                    <a:noFill/>
                  </a:tcPr>
                </a:tc>
                <a:tc>
                  <a:txBody>
                    <a:bodyPr/>
                    <a:lstStyle/>
                    <a:p>
                      <a:endParaRPr lang="es-AR" dirty="0"/>
                    </a:p>
                  </a:txBody>
                  <a:tcPr>
                    <a:noFill/>
                  </a:tcPr>
                </a:tc>
                <a:tc>
                  <a:txBody>
                    <a:bodyPr/>
                    <a:lstStyle/>
                    <a:p>
                      <a:r>
                        <a:rPr lang="es-AR" dirty="0"/>
                        <a:t>$(1.000.000)</a:t>
                      </a:r>
                    </a:p>
                  </a:txBody>
                  <a:tcP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81745477"/>
                  </a:ext>
                </a:extLst>
              </a:tr>
              <a:tr h="370840">
                <a:tc>
                  <a:txBody>
                    <a:bodyPr/>
                    <a:lstStyle/>
                    <a:p>
                      <a:r>
                        <a:rPr lang="es-AR" dirty="0"/>
                        <a:t>Beneficio</a:t>
                      </a:r>
                    </a:p>
                  </a:txBody>
                  <a:tcPr>
                    <a:noFill/>
                  </a:tcPr>
                </a:tc>
                <a:tc>
                  <a:txBody>
                    <a:bodyPr/>
                    <a:lstStyle/>
                    <a:p>
                      <a:endParaRPr lang="es-AR" dirty="0"/>
                    </a:p>
                  </a:txBody>
                  <a:tcPr>
                    <a:noFill/>
                  </a:tcPr>
                </a:tc>
                <a:tc>
                  <a:txBody>
                    <a:bodyPr/>
                    <a:lstStyle/>
                    <a:p>
                      <a:endParaRPr lang="es-AR" dirty="0"/>
                    </a:p>
                  </a:txBody>
                  <a:tcPr>
                    <a:noFill/>
                  </a:tcPr>
                </a:tc>
                <a:tc>
                  <a:txBody>
                    <a:bodyPr/>
                    <a:lstStyle/>
                    <a:p>
                      <a:endParaRPr lang="es-AR" dirty="0"/>
                    </a:p>
                  </a:txBody>
                  <a:tcPr>
                    <a:noFill/>
                  </a:tcPr>
                </a:tc>
                <a:tc>
                  <a:txBody>
                    <a:bodyPr/>
                    <a:lstStyle/>
                    <a:p>
                      <a:r>
                        <a:rPr lang="es-AR" dirty="0"/>
                        <a:t>       $ 0</a:t>
                      </a:r>
                    </a:p>
                  </a:txBody>
                  <a:tcP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95674055"/>
                  </a:ext>
                </a:extLst>
              </a:tr>
            </a:tbl>
          </a:graphicData>
        </a:graphic>
      </p:graphicFrame>
      <p:sp>
        <p:nvSpPr>
          <p:cNvPr id="5" name="CuadroTexto 4">
            <a:extLst>
              <a:ext uri="{FF2B5EF4-FFF2-40B4-BE49-F238E27FC236}">
                <a16:creationId xmlns:a16="http://schemas.microsoft.com/office/drawing/2014/main" id="{7DE35EDC-9B01-4249-A8E1-938AC966DE44}"/>
              </a:ext>
            </a:extLst>
          </p:cNvPr>
          <p:cNvSpPr txBox="1"/>
          <p:nvPr/>
        </p:nvSpPr>
        <p:spPr>
          <a:xfrm>
            <a:off x="2121408" y="1428227"/>
            <a:ext cx="4873752" cy="369332"/>
          </a:xfrm>
          <a:prstGeom prst="rect">
            <a:avLst/>
          </a:prstGeom>
          <a:noFill/>
        </p:spPr>
        <p:txBody>
          <a:bodyPr wrap="square" rtlCol="0">
            <a:spAutoFit/>
          </a:bodyPr>
          <a:lstStyle/>
          <a:p>
            <a:r>
              <a:rPr lang="es-AR" dirty="0">
                <a:solidFill>
                  <a:schemeClr val="tx1">
                    <a:lumMod val="75000"/>
                    <a:lumOff val="25000"/>
                  </a:schemeClr>
                </a:solidFill>
              </a:rPr>
              <a:t>En nuestro caso será:</a:t>
            </a:r>
          </a:p>
        </p:txBody>
      </p:sp>
      <p:sp>
        <p:nvSpPr>
          <p:cNvPr id="7" name="CuadroTexto 6">
            <a:extLst>
              <a:ext uri="{FF2B5EF4-FFF2-40B4-BE49-F238E27FC236}">
                <a16:creationId xmlns:a16="http://schemas.microsoft.com/office/drawing/2014/main" id="{0EAE4ECC-48AE-4080-9279-0457C25DCA4A}"/>
              </a:ext>
            </a:extLst>
          </p:cNvPr>
          <p:cNvSpPr txBox="1"/>
          <p:nvPr/>
        </p:nvSpPr>
        <p:spPr>
          <a:xfrm>
            <a:off x="3300984" y="2377440"/>
            <a:ext cx="521208" cy="369332"/>
          </a:xfrm>
          <a:prstGeom prst="rect">
            <a:avLst/>
          </a:prstGeom>
          <a:noFill/>
        </p:spPr>
        <p:txBody>
          <a:bodyPr wrap="square" rtlCol="0">
            <a:spAutoFit/>
          </a:bodyPr>
          <a:lstStyle/>
          <a:p>
            <a:r>
              <a:rPr lang="es-AR" dirty="0"/>
              <a:t>q</a:t>
            </a:r>
            <a:r>
              <a:rPr lang="es-AR" sz="1200" dirty="0"/>
              <a:t>0</a:t>
            </a:r>
          </a:p>
        </p:txBody>
      </p:sp>
      <p:sp>
        <p:nvSpPr>
          <p:cNvPr id="8" name="CuadroTexto 7">
            <a:extLst>
              <a:ext uri="{FF2B5EF4-FFF2-40B4-BE49-F238E27FC236}">
                <a16:creationId xmlns:a16="http://schemas.microsoft.com/office/drawing/2014/main" id="{10958943-AD87-40D8-BCC2-C6D8216AC697}"/>
              </a:ext>
            </a:extLst>
          </p:cNvPr>
          <p:cNvSpPr txBox="1"/>
          <p:nvPr/>
        </p:nvSpPr>
        <p:spPr>
          <a:xfrm>
            <a:off x="3776472" y="2410698"/>
            <a:ext cx="521208" cy="369332"/>
          </a:xfrm>
          <a:prstGeom prst="rect">
            <a:avLst/>
          </a:prstGeom>
          <a:noFill/>
        </p:spPr>
        <p:txBody>
          <a:bodyPr wrap="square" rtlCol="0">
            <a:spAutoFit/>
          </a:bodyPr>
          <a:lstStyle/>
          <a:p>
            <a:r>
              <a:rPr lang="es-AR" dirty="0"/>
              <a:t>=</a:t>
            </a:r>
          </a:p>
        </p:txBody>
      </p:sp>
      <p:sp>
        <p:nvSpPr>
          <p:cNvPr id="9" name="CuadroTexto 8">
            <a:extLst>
              <a:ext uri="{FF2B5EF4-FFF2-40B4-BE49-F238E27FC236}">
                <a16:creationId xmlns:a16="http://schemas.microsoft.com/office/drawing/2014/main" id="{C0D25ED8-EC24-4550-BEAF-4015D16EBCC8}"/>
              </a:ext>
            </a:extLst>
          </p:cNvPr>
          <p:cNvSpPr txBox="1"/>
          <p:nvPr/>
        </p:nvSpPr>
        <p:spPr>
          <a:xfrm>
            <a:off x="4427982" y="2140577"/>
            <a:ext cx="1440180" cy="369332"/>
          </a:xfrm>
          <a:prstGeom prst="rect">
            <a:avLst/>
          </a:prstGeom>
          <a:noFill/>
        </p:spPr>
        <p:txBody>
          <a:bodyPr wrap="square" rtlCol="0">
            <a:spAutoFit/>
          </a:bodyPr>
          <a:lstStyle/>
          <a:p>
            <a:r>
              <a:rPr lang="es-AR" dirty="0"/>
              <a:t>$ 1.000.000</a:t>
            </a:r>
          </a:p>
        </p:txBody>
      </p:sp>
      <p:cxnSp>
        <p:nvCxnSpPr>
          <p:cNvPr id="11" name="Conector recto 10">
            <a:extLst>
              <a:ext uri="{FF2B5EF4-FFF2-40B4-BE49-F238E27FC236}">
                <a16:creationId xmlns:a16="http://schemas.microsoft.com/office/drawing/2014/main" id="{084F46DA-7D84-4816-A7B5-3E27F33C1178}"/>
              </a:ext>
            </a:extLst>
          </p:cNvPr>
          <p:cNvCxnSpPr/>
          <p:nvPr/>
        </p:nvCxnSpPr>
        <p:spPr>
          <a:xfrm>
            <a:off x="4087368" y="2587752"/>
            <a:ext cx="2121408"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CuadroTexto 11">
            <a:extLst>
              <a:ext uri="{FF2B5EF4-FFF2-40B4-BE49-F238E27FC236}">
                <a16:creationId xmlns:a16="http://schemas.microsoft.com/office/drawing/2014/main" id="{8F63FB9E-8050-41D7-A80A-E54445CE5BF3}"/>
              </a:ext>
            </a:extLst>
          </p:cNvPr>
          <p:cNvSpPr txBox="1"/>
          <p:nvPr/>
        </p:nvSpPr>
        <p:spPr>
          <a:xfrm>
            <a:off x="4368546" y="2746772"/>
            <a:ext cx="1947672" cy="369328"/>
          </a:xfrm>
          <a:prstGeom prst="rect">
            <a:avLst/>
          </a:prstGeom>
          <a:noFill/>
        </p:spPr>
        <p:txBody>
          <a:bodyPr wrap="square" rtlCol="0">
            <a:spAutoFit/>
          </a:bodyPr>
          <a:lstStyle/>
          <a:p>
            <a:r>
              <a:rPr lang="es-AR" dirty="0"/>
              <a:t>50 $/u – 30 $/u</a:t>
            </a:r>
          </a:p>
        </p:txBody>
      </p:sp>
      <p:sp>
        <p:nvSpPr>
          <p:cNvPr id="13" name="CuadroTexto 12">
            <a:extLst>
              <a:ext uri="{FF2B5EF4-FFF2-40B4-BE49-F238E27FC236}">
                <a16:creationId xmlns:a16="http://schemas.microsoft.com/office/drawing/2014/main" id="{6E985A74-7249-4060-89E3-3ACEF0ACE6F4}"/>
              </a:ext>
            </a:extLst>
          </p:cNvPr>
          <p:cNvSpPr txBox="1"/>
          <p:nvPr/>
        </p:nvSpPr>
        <p:spPr>
          <a:xfrm>
            <a:off x="6277356" y="2425668"/>
            <a:ext cx="521208" cy="369332"/>
          </a:xfrm>
          <a:prstGeom prst="rect">
            <a:avLst/>
          </a:prstGeom>
          <a:noFill/>
        </p:spPr>
        <p:txBody>
          <a:bodyPr wrap="square" rtlCol="0">
            <a:spAutoFit/>
          </a:bodyPr>
          <a:lstStyle/>
          <a:p>
            <a:r>
              <a:rPr lang="es-AR" dirty="0"/>
              <a:t>=</a:t>
            </a:r>
          </a:p>
        </p:txBody>
      </p:sp>
      <p:sp>
        <p:nvSpPr>
          <p:cNvPr id="14" name="CuadroTexto 13">
            <a:extLst>
              <a:ext uri="{FF2B5EF4-FFF2-40B4-BE49-F238E27FC236}">
                <a16:creationId xmlns:a16="http://schemas.microsoft.com/office/drawing/2014/main" id="{750C515B-7402-4844-9F7E-CD9A3F188090}"/>
              </a:ext>
            </a:extLst>
          </p:cNvPr>
          <p:cNvSpPr txBox="1"/>
          <p:nvPr/>
        </p:nvSpPr>
        <p:spPr>
          <a:xfrm>
            <a:off x="6656832" y="2377440"/>
            <a:ext cx="1211580" cy="369332"/>
          </a:xfrm>
          <a:prstGeom prst="rect">
            <a:avLst/>
          </a:prstGeom>
          <a:noFill/>
        </p:spPr>
        <p:txBody>
          <a:bodyPr wrap="square" rtlCol="0">
            <a:spAutoFit/>
          </a:bodyPr>
          <a:lstStyle/>
          <a:p>
            <a:r>
              <a:rPr lang="es-AR" dirty="0"/>
              <a:t>50.000 u</a:t>
            </a:r>
          </a:p>
        </p:txBody>
      </p:sp>
      <p:sp>
        <p:nvSpPr>
          <p:cNvPr id="15" name="CuadroTexto 14">
            <a:extLst>
              <a:ext uri="{FF2B5EF4-FFF2-40B4-BE49-F238E27FC236}">
                <a16:creationId xmlns:a16="http://schemas.microsoft.com/office/drawing/2014/main" id="{0BE2F2F4-EF68-47A5-B5B0-C91A638AC752}"/>
              </a:ext>
            </a:extLst>
          </p:cNvPr>
          <p:cNvSpPr txBox="1"/>
          <p:nvPr/>
        </p:nvSpPr>
        <p:spPr>
          <a:xfrm>
            <a:off x="1700784" y="3156307"/>
            <a:ext cx="8567928" cy="369332"/>
          </a:xfrm>
          <a:prstGeom prst="rect">
            <a:avLst/>
          </a:prstGeom>
          <a:noFill/>
        </p:spPr>
        <p:txBody>
          <a:bodyPr wrap="square" rtlCol="0">
            <a:spAutoFit/>
          </a:bodyPr>
          <a:lstStyle/>
          <a:p>
            <a:r>
              <a:rPr lang="es-AR" dirty="0"/>
              <a:t>Y haciendo nuevamente el cuadro de resultados para esta cantidad será:</a:t>
            </a:r>
          </a:p>
        </p:txBody>
      </p:sp>
    </p:spTree>
    <p:extLst>
      <p:ext uri="{BB962C8B-B14F-4D97-AF65-F5344CB8AC3E}">
        <p14:creationId xmlns:p14="http://schemas.microsoft.com/office/powerpoint/2010/main" val="7094535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Text Box 4">
            <a:extLst>
              <a:ext uri="{FF2B5EF4-FFF2-40B4-BE49-F238E27FC236}">
                <a16:creationId xmlns:a16="http://schemas.microsoft.com/office/drawing/2014/main" id="{B00F0B0C-6470-4178-9317-8F33CC5A6084}"/>
              </a:ext>
            </a:extLst>
          </p:cNvPr>
          <p:cNvSpPr txBox="1">
            <a:spLocks noChangeArrowheads="1"/>
          </p:cNvSpPr>
          <p:nvPr/>
        </p:nvSpPr>
        <p:spPr bwMode="auto">
          <a:xfrm>
            <a:off x="1387476" y="185738"/>
            <a:ext cx="844232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defRPr/>
            </a:pPr>
            <a:r>
              <a:rPr lang="es-MX" altLang="es-AR" sz="3600" b="1" dirty="0">
                <a:solidFill>
                  <a:schemeClr val="tx1">
                    <a:lumMod val="75000"/>
                    <a:lumOff val="25000"/>
                  </a:schemeClr>
                </a:solidFill>
                <a:latin typeface="+mj-lt"/>
                <a:cs typeface="Arial" charset="0"/>
              </a:rPr>
              <a:t>PUNTO DE EQUILIBRIO ECONOMICO</a:t>
            </a:r>
          </a:p>
        </p:txBody>
      </p:sp>
      <p:sp>
        <p:nvSpPr>
          <p:cNvPr id="7243" name="Rectangle 75">
            <a:extLst>
              <a:ext uri="{FF2B5EF4-FFF2-40B4-BE49-F238E27FC236}">
                <a16:creationId xmlns:a16="http://schemas.microsoft.com/office/drawing/2014/main" id="{A10C4A98-2E58-4C2B-A559-D28E4589CF19}"/>
              </a:ext>
            </a:extLst>
          </p:cNvPr>
          <p:cNvSpPr>
            <a:spLocks noChangeArrowheads="1"/>
          </p:cNvSpPr>
          <p:nvPr/>
        </p:nvSpPr>
        <p:spPr bwMode="auto">
          <a:xfrm>
            <a:off x="1482970" y="2572591"/>
            <a:ext cx="9964945" cy="1150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dirty="0">
                <a:solidFill>
                  <a:schemeClr val="tx1">
                    <a:lumMod val="75000"/>
                    <a:lumOff val="25000"/>
                  </a:schemeClr>
                </a:solidFill>
                <a:latin typeface="+mn-lt"/>
              </a:rPr>
              <a:t>Estará dado por un volumen de ventas tal que los costos variables (proporcionales) cubran exactamente los gastos fijos (estructurales); y se encuentra representado por el lote “</a:t>
            </a:r>
            <a:r>
              <a:rPr lang="es-AR" altLang="es-AR" sz="2000" b="1" dirty="0" err="1">
                <a:solidFill>
                  <a:schemeClr val="tx1">
                    <a:lumMod val="75000"/>
                    <a:lumOff val="25000"/>
                  </a:schemeClr>
                </a:solidFill>
                <a:latin typeface="+mn-lt"/>
              </a:rPr>
              <a:t>qo</a:t>
            </a:r>
            <a:r>
              <a:rPr lang="es-AR" altLang="es-AR" sz="2000" dirty="0">
                <a:solidFill>
                  <a:schemeClr val="tx1">
                    <a:lumMod val="75000"/>
                    <a:lumOff val="25000"/>
                  </a:schemeClr>
                </a:solidFill>
                <a:latin typeface="+mn-lt"/>
              </a:rPr>
              <a:t>” en el que se igualan los ingresos y los egresos, en el cual no se registran ni ganancias ni pérdidas.</a:t>
            </a:r>
            <a:endParaRPr lang="es-ES" altLang="es-AR" sz="2000" dirty="0">
              <a:solidFill>
                <a:schemeClr val="tx1">
                  <a:lumMod val="75000"/>
                  <a:lumOff val="25000"/>
                </a:schemeClr>
              </a:solidFill>
              <a:latin typeface="+mn-lt"/>
            </a:endParaRPr>
          </a:p>
        </p:txBody>
      </p:sp>
      <p:sp>
        <p:nvSpPr>
          <p:cNvPr id="7253" name="Rectangle 85">
            <a:extLst>
              <a:ext uri="{FF2B5EF4-FFF2-40B4-BE49-F238E27FC236}">
                <a16:creationId xmlns:a16="http://schemas.microsoft.com/office/drawing/2014/main" id="{45EBBF80-1BB8-4F46-869A-38C9A657464D}"/>
              </a:ext>
            </a:extLst>
          </p:cNvPr>
          <p:cNvSpPr>
            <a:spLocks noChangeArrowheads="1"/>
          </p:cNvSpPr>
          <p:nvPr/>
        </p:nvSpPr>
        <p:spPr bwMode="auto">
          <a:xfrm>
            <a:off x="1532640" y="1564529"/>
            <a:ext cx="9964945"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b="1" dirty="0">
                <a:solidFill>
                  <a:schemeClr val="tx1">
                    <a:lumMod val="75000"/>
                    <a:lumOff val="25000"/>
                  </a:schemeClr>
                </a:solidFill>
                <a:latin typeface="+mj-lt"/>
              </a:rPr>
              <a:t>Es una de las herramientas más útiles para la toma de decisiones empresarias.</a:t>
            </a:r>
            <a:endParaRPr lang="es-ES" altLang="es-AR" sz="2000" b="1" dirty="0">
              <a:solidFill>
                <a:schemeClr val="tx1">
                  <a:lumMod val="75000"/>
                  <a:lumOff val="25000"/>
                </a:schemeClr>
              </a:solidFill>
              <a:latin typeface="+mj-lt"/>
            </a:endParaRPr>
          </a:p>
        </p:txBody>
      </p:sp>
      <p:sp>
        <p:nvSpPr>
          <p:cNvPr id="7254" name="Rectangle 86">
            <a:extLst>
              <a:ext uri="{FF2B5EF4-FFF2-40B4-BE49-F238E27FC236}">
                <a16:creationId xmlns:a16="http://schemas.microsoft.com/office/drawing/2014/main" id="{611ED73A-2ADE-452D-AEAF-1C6154CD2F09}"/>
              </a:ext>
            </a:extLst>
          </p:cNvPr>
          <p:cNvSpPr>
            <a:spLocks noChangeArrowheads="1"/>
          </p:cNvSpPr>
          <p:nvPr/>
        </p:nvSpPr>
        <p:spPr bwMode="auto">
          <a:xfrm>
            <a:off x="1439211" y="4285409"/>
            <a:ext cx="9964945"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dirty="0">
                <a:solidFill>
                  <a:schemeClr val="tx1">
                    <a:lumMod val="75000"/>
                    <a:lumOff val="25000"/>
                  </a:schemeClr>
                </a:solidFill>
                <a:latin typeface="+mj-lt"/>
              </a:rPr>
              <a:t>Para productores mayores a “</a:t>
            </a:r>
            <a:r>
              <a:rPr lang="es-AR" altLang="es-AR" sz="2000" dirty="0" err="1">
                <a:solidFill>
                  <a:schemeClr val="tx1">
                    <a:lumMod val="75000"/>
                    <a:lumOff val="25000"/>
                  </a:schemeClr>
                </a:solidFill>
                <a:latin typeface="+mj-lt"/>
              </a:rPr>
              <a:t>qo</a:t>
            </a:r>
            <a:r>
              <a:rPr lang="es-AR" altLang="es-AR" sz="2000" dirty="0">
                <a:solidFill>
                  <a:schemeClr val="tx1">
                    <a:lumMod val="75000"/>
                    <a:lumOff val="25000"/>
                  </a:schemeClr>
                </a:solidFill>
                <a:latin typeface="+mj-lt"/>
              </a:rPr>
              <a:t>”, hacia su derecha, habrá ganancias, y para productores menores a “</a:t>
            </a:r>
            <a:r>
              <a:rPr lang="es-AR" altLang="es-AR" sz="2000" dirty="0" err="1">
                <a:solidFill>
                  <a:schemeClr val="tx1">
                    <a:lumMod val="75000"/>
                    <a:lumOff val="25000"/>
                  </a:schemeClr>
                </a:solidFill>
                <a:latin typeface="+mj-lt"/>
              </a:rPr>
              <a:t>qo</a:t>
            </a:r>
            <a:r>
              <a:rPr lang="es-AR" altLang="es-AR" sz="2000" dirty="0">
                <a:solidFill>
                  <a:schemeClr val="tx1">
                    <a:lumMod val="75000"/>
                    <a:lumOff val="25000"/>
                  </a:schemeClr>
                </a:solidFill>
                <a:latin typeface="+mj-lt"/>
              </a:rPr>
              <a:t>”, hacia su izquierda, habrá pérdidas. </a:t>
            </a:r>
            <a:endParaRPr lang="es-ES" altLang="es-AR" sz="2000" dirty="0">
              <a:solidFill>
                <a:schemeClr val="tx1">
                  <a:lumMod val="75000"/>
                  <a:lumOff val="25000"/>
                </a:schemeClr>
              </a:solidFill>
              <a:latin typeface="+mj-lt"/>
            </a:endParaRPr>
          </a:p>
        </p:txBody>
      </p:sp>
      <p:sp>
        <p:nvSpPr>
          <p:cNvPr id="2" name="Marcador de número de diapositiva 1">
            <a:extLst>
              <a:ext uri="{FF2B5EF4-FFF2-40B4-BE49-F238E27FC236}">
                <a16:creationId xmlns:a16="http://schemas.microsoft.com/office/drawing/2014/main" id="{ECE72F89-0111-456B-9808-FB1E529EE076}"/>
              </a:ext>
            </a:extLst>
          </p:cNvPr>
          <p:cNvSpPr>
            <a:spLocks noGrp="1"/>
          </p:cNvSpPr>
          <p:nvPr>
            <p:ph type="sldNum" sz="quarter" idx="12"/>
          </p:nvPr>
        </p:nvSpPr>
        <p:spPr/>
        <p:txBody>
          <a:bodyPr/>
          <a:lstStyle/>
          <a:p>
            <a:fld id="{D57F1E4F-1CFF-5643-939E-217C01CDF565}" type="slidenum">
              <a:rPr lang="en-US" smtClean="0"/>
              <a:pPr/>
              <a:t>31</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25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24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2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43" grpId="0"/>
      <p:bldP spid="7253" grpId="0"/>
      <p:bldP spid="725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Text Box 4">
            <a:extLst>
              <a:ext uri="{FF2B5EF4-FFF2-40B4-BE49-F238E27FC236}">
                <a16:creationId xmlns:a16="http://schemas.microsoft.com/office/drawing/2014/main" id="{DFF3A0DB-4596-4485-A5C2-6527BA2678CC}"/>
              </a:ext>
            </a:extLst>
          </p:cNvPr>
          <p:cNvSpPr txBox="1">
            <a:spLocks noChangeArrowheads="1"/>
          </p:cNvSpPr>
          <p:nvPr/>
        </p:nvSpPr>
        <p:spPr bwMode="auto">
          <a:xfrm>
            <a:off x="1387476" y="185738"/>
            <a:ext cx="881722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defRPr/>
            </a:pPr>
            <a:r>
              <a:rPr lang="es-MX" altLang="es-AR" sz="3600" b="1" dirty="0">
                <a:solidFill>
                  <a:schemeClr val="tx1">
                    <a:lumMod val="75000"/>
                    <a:lumOff val="25000"/>
                  </a:schemeClr>
                </a:solidFill>
                <a:latin typeface="+mj-lt"/>
                <a:cs typeface="Arial" charset="0"/>
              </a:rPr>
              <a:t>PUNTO DE EQUILIBRIO ECONOMICO</a:t>
            </a:r>
          </a:p>
        </p:txBody>
      </p:sp>
      <p:sp>
        <p:nvSpPr>
          <p:cNvPr id="15410" name="Rectangle 50">
            <a:extLst>
              <a:ext uri="{FF2B5EF4-FFF2-40B4-BE49-F238E27FC236}">
                <a16:creationId xmlns:a16="http://schemas.microsoft.com/office/drawing/2014/main" id="{04EC66DC-FB6C-4652-BB71-E81DC122C342}"/>
              </a:ext>
            </a:extLst>
          </p:cNvPr>
          <p:cNvSpPr>
            <a:spLocks noChangeArrowheads="1"/>
          </p:cNvSpPr>
          <p:nvPr/>
        </p:nvSpPr>
        <p:spPr bwMode="auto">
          <a:xfrm>
            <a:off x="1143000" y="1052513"/>
            <a:ext cx="9906000" cy="79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marL="517525" indent="-342900" algn="just" eaLnBrk="1" hangingPunct="1">
              <a:buClr>
                <a:srgbClr val="92D050"/>
              </a:buClr>
              <a:buFont typeface="Arial" panose="020B0604020202020204" pitchFamily="34" charset="0"/>
              <a:buChar char="•"/>
              <a:defRPr/>
            </a:pPr>
            <a:r>
              <a:rPr lang="es-AR" altLang="es-AR" sz="2000" dirty="0">
                <a:solidFill>
                  <a:schemeClr val="tx1">
                    <a:lumMod val="75000"/>
                    <a:lumOff val="25000"/>
                  </a:schemeClr>
                </a:solidFill>
                <a:latin typeface="+mj-lt"/>
              </a:rPr>
              <a:t>El Punto de Equilibrio Económico calculado desde el punto de vista de costos totales y costos unitarios resultan iguales.</a:t>
            </a:r>
            <a:endParaRPr lang="es-ES" altLang="es-AR" sz="2000" dirty="0">
              <a:solidFill>
                <a:schemeClr val="tx1">
                  <a:lumMod val="75000"/>
                  <a:lumOff val="25000"/>
                </a:schemeClr>
              </a:solidFill>
              <a:latin typeface="+mj-lt"/>
            </a:endParaRPr>
          </a:p>
        </p:txBody>
      </p:sp>
      <p:sp>
        <p:nvSpPr>
          <p:cNvPr id="15411" name="Rectangle 51">
            <a:extLst>
              <a:ext uri="{FF2B5EF4-FFF2-40B4-BE49-F238E27FC236}">
                <a16:creationId xmlns:a16="http://schemas.microsoft.com/office/drawing/2014/main" id="{1ED7FB99-1D7F-483B-9B9D-873BA53E279A}"/>
              </a:ext>
            </a:extLst>
          </p:cNvPr>
          <p:cNvSpPr>
            <a:spLocks noChangeArrowheads="1"/>
          </p:cNvSpPr>
          <p:nvPr/>
        </p:nvSpPr>
        <p:spPr bwMode="auto">
          <a:xfrm>
            <a:off x="1127126" y="1916113"/>
            <a:ext cx="9648825" cy="793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517525" indent="-342900" algn="just" eaLnBrk="1" hangingPunct="1">
              <a:spcBef>
                <a:spcPct val="20000"/>
              </a:spcBef>
              <a:buClr>
                <a:srgbClr val="92D050"/>
              </a:buClr>
              <a:buFont typeface="Arial" panose="020B0604020202020204" pitchFamily="34" charset="0"/>
              <a:buChar char="•"/>
            </a:pPr>
            <a:r>
              <a:rPr lang="es-AR" altLang="es-AR" sz="2000" dirty="0">
                <a:solidFill>
                  <a:schemeClr val="tx1">
                    <a:lumMod val="75000"/>
                    <a:lumOff val="25000"/>
                  </a:schemeClr>
                </a:solidFill>
                <a:latin typeface="+mj-lt"/>
              </a:rPr>
              <a:t>Se considera que el punto de equilibrio debe cubrir los costos totales y el beneficio normal.</a:t>
            </a:r>
            <a:endParaRPr lang="es-ES" altLang="es-AR" sz="2000" dirty="0">
              <a:solidFill>
                <a:schemeClr val="tx1">
                  <a:lumMod val="75000"/>
                  <a:lumOff val="25000"/>
                </a:schemeClr>
              </a:solidFill>
              <a:latin typeface="+mj-lt"/>
            </a:endParaRPr>
          </a:p>
        </p:txBody>
      </p:sp>
      <p:sp>
        <p:nvSpPr>
          <p:cNvPr id="15412" name="Rectangle 52">
            <a:extLst>
              <a:ext uri="{FF2B5EF4-FFF2-40B4-BE49-F238E27FC236}">
                <a16:creationId xmlns:a16="http://schemas.microsoft.com/office/drawing/2014/main" id="{93E36714-E883-41B1-8B1F-C1342914B2A8}"/>
              </a:ext>
            </a:extLst>
          </p:cNvPr>
          <p:cNvSpPr>
            <a:spLocks noChangeArrowheads="1"/>
          </p:cNvSpPr>
          <p:nvPr/>
        </p:nvSpPr>
        <p:spPr bwMode="auto">
          <a:xfrm>
            <a:off x="1127126" y="2778126"/>
            <a:ext cx="9921875" cy="151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marL="517525" indent="-342900" algn="just" eaLnBrk="1" hangingPunct="1">
              <a:buClr>
                <a:srgbClr val="92D050"/>
              </a:buClr>
              <a:buFont typeface="Arial" panose="020B0604020202020204" pitchFamily="34" charset="0"/>
              <a:buChar char="•"/>
              <a:defRPr/>
            </a:pPr>
            <a:r>
              <a:rPr lang="es-AR" altLang="es-AR" sz="2000" dirty="0">
                <a:solidFill>
                  <a:schemeClr val="tx1">
                    <a:lumMod val="75000"/>
                    <a:lumOff val="25000"/>
                  </a:schemeClr>
                </a:solidFill>
                <a:latin typeface="+mj-lt"/>
              </a:rPr>
              <a:t>Se denomina </a:t>
            </a:r>
            <a:r>
              <a:rPr lang="es-AR" altLang="es-AR" sz="2000" u="sng" dirty="0">
                <a:solidFill>
                  <a:schemeClr val="tx1">
                    <a:lumMod val="75000"/>
                    <a:lumOff val="25000"/>
                  </a:schemeClr>
                </a:solidFill>
                <a:latin typeface="+mj-lt"/>
              </a:rPr>
              <a:t>beneficio normal</a:t>
            </a:r>
            <a:r>
              <a:rPr lang="es-AR" altLang="es-AR" sz="2000" dirty="0">
                <a:solidFill>
                  <a:schemeClr val="tx1">
                    <a:lumMod val="75000"/>
                    <a:lumOff val="25000"/>
                  </a:schemeClr>
                </a:solidFill>
                <a:latin typeface="+mj-lt"/>
              </a:rPr>
              <a:t> al “beneficio requerido para mantener una determinada inversión, por lo que actúa como regulador de la distribución de los factores de producción entre usos alternativos”.</a:t>
            </a:r>
            <a:endParaRPr lang="es-ES" altLang="es-AR" sz="2000" dirty="0">
              <a:solidFill>
                <a:schemeClr val="tx1">
                  <a:lumMod val="75000"/>
                  <a:lumOff val="25000"/>
                </a:schemeClr>
              </a:solidFill>
              <a:latin typeface="+mj-lt"/>
            </a:endParaRPr>
          </a:p>
        </p:txBody>
      </p:sp>
      <p:sp>
        <p:nvSpPr>
          <p:cNvPr id="15413" name="Rectangle 53">
            <a:extLst>
              <a:ext uri="{FF2B5EF4-FFF2-40B4-BE49-F238E27FC236}">
                <a16:creationId xmlns:a16="http://schemas.microsoft.com/office/drawing/2014/main" id="{4D9EFC6F-4029-4E20-B6A1-019F4A761A66}"/>
              </a:ext>
            </a:extLst>
          </p:cNvPr>
          <p:cNvSpPr>
            <a:spLocks noChangeArrowheads="1"/>
          </p:cNvSpPr>
          <p:nvPr/>
        </p:nvSpPr>
        <p:spPr bwMode="auto">
          <a:xfrm>
            <a:off x="1127126" y="4324350"/>
            <a:ext cx="9921875" cy="1944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marL="517525" indent="-342900" algn="just" eaLnBrk="1" hangingPunct="1">
              <a:buClr>
                <a:srgbClr val="92D050"/>
              </a:buClr>
              <a:buFont typeface="Arial" panose="020B0604020202020204" pitchFamily="34" charset="0"/>
              <a:buChar char="•"/>
              <a:defRPr/>
            </a:pPr>
            <a:r>
              <a:rPr lang="es-AR" altLang="es-AR" sz="2000" dirty="0">
                <a:solidFill>
                  <a:schemeClr val="tx1">
                    <a:lumMod val="75000"/>
                    <a:lumOff val="25000"/>
                  </a:schemeClr>
                </a:solidFill>
                <a:latin typeface="+mj-lt"/>
              </a:rPr>
              <a:t>También se puede interpretar como “el rendimiento mínimo que el inversor está dispuesto a aceptar, por ello puede ser considerado como un costo más de los factores productivos, y varía entre los diferentes sectores de acuerdo al riesgo asociado”.</a:t>
            </a:r>
            <a:endParaRPr lang="es-ES" altLang="es-AR" sz="2000" dirty="0">
              <a:solidFill>
                <a:schemeClr val="tx1">
                  <a:lumMod val="75000"/>
                  <a:lumOff val="25000"/>
                </a:schemeClr>
              </a:solidFill>
              <a:latin typeface="+mj-lt"/>
            </a:endParaRPr>
          </a:p>
        </p:txBody>
      </p:sp>
      <p:sp>
        <p:nvSpPr>
          <p:cNvPr id="2" name="Marcador de número de diapositiva 1">
            <a:extLst>
              <a:ext uri="{FF2B5EF4-FFF2-40B4-BE49-F238E27FC236}">
                <a16:creationId xmlns:a16="http://schemas.microsoft.com/office/drawing/2014/main" id="{AA88AEB2-E6EC-4D17-8515-4CCFEEB703CB}"/>
              </a:ext>
            </a:extLst>
          </p:cNvPr>
          <p:cNvSpPr>
            <a:spLocks noGrp="1"/>
          </p:cNvSpPr>
          <p:nvPr>
            <p:ph type="sldNum" sz="quarter" idx="12"/>
          </p:nvPr>
        </p:nvSpPr>
        <p:spPr/>
        <p:txBody>
          <a:bodyPr/>
          <a:lstStyle/>
          <a:p>
            <a:fld id="{D57F1E4F-1CFF-5643-939E-217C01CDF565}" type="slidenum">
              <a:rPr lang="en-US" smtClean="0"/>
              <a:pPr/>
              <a:t>32</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41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41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41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4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10" grpId="0"/>
      <p:bldP spid="15411" grpId="0"/>
      <p:bldP spid="15412" grpId="0"/>
      <p:bldP spid="1541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 Box 6">
            <a:extLst>
              <a:ext uri="{FF2B5EF4-FFF2-40B4-BE49-F238E27FC236}">
                <a16:creationId xmlns:a16="http://schemas.microsoft.com/office/drawing/2014/main" id="{2DE5F2DF-CD6D-4F15-9F5A-135D8B05BA33}"/>
              </a:ext>
            </a:extLst>
          </p:cNvPr>
          <p:cNvSpPr txBox="1">
            <a:spLocks noChangeArrowheads="1"/>
          </p:cNvSpPr>
          <p:nvPr/>
        </p:nvSpPr>
        <p:spPr bwMode="auto">
          <a:xfrm>
            <a:off x="2472247" y="121801"/>
            <a:ext cx="854290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defRPr/>
            </a:pPr>
            <a:r>
              <a:rPr lang="es-MX" altLang="es-AR" sz="3600" b="1" dirty="0">
                <a:solidFill>
                  <a:schemeClr val="tx1">
                    <a:lumMod val="75000"/>
                    <a:lumOff val="25000"/>
                  </a:schemeClr>
                </a:solidFill>
                <a:latin typeface="+mj-lt"/>
                <a:cs typeface="Arial" charset="0"/>
              </a:rPr>
              <a:t>PUNTO DE EQUILIBRIO ECONOMICO</a:t>
            </a:r>
          </a:p>
        </p:txBody>
      </p:sp>
      <p:sp>
        <p:nvSpPr>
          <p:cNvPr id="6346" name="Rectangle 202">
            <a:extLst>
              <a:ext uri="{FF2B5EF4-FFF2-40B4-BE49-F238E27FC236}">
                <a16:creationId xmlns:a16="http://schemas.microsoft.com/office/drawing/2014/main" id="{D8F0C3D1-603F-4EFD-BAC3-00834FB26700}"/>
              </a:ext>
            </a:extLst>
          </p:cNvPr>
          <p:cNvSpPr>
            <a:spLocks noChangeArrowheads="1"/>
          </p:cNvSpPr>
          <p:nvPr/>
        </p:nvSpPr>
        <p:spPr bwMode="auto">
          <a:xfrm>
            <a:off x="1216025" y="1076326"/>
            <a:ext cx="9632950"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sz="2000" b="1" dirty="0">
                <a:solidFill>
                  <a:schemeClr val="tx1">
                    <a:lumMod val="75000"/>
                    <a:lumOff val="25000"/>
                  </a:schemeClr>
                </a:solidFill>
                <a:latin typeface="+mj-lt"/>
              </a:rPr>
              <a:t>Representando gráficamente, para costos en términos unitarios:</a:t>
            </a:r>
            <a:endParaRPr lang="es-ES" altLang="es-AR" sz="2000" b="1" dirty="0">
              <a:solidFill>
                <a:schemeClr val="tx1">
                  <a:lumMod val="75000"/>
                  <a:lumOff val="25000"/>
                </a:schemeClr>
              </a:solidFill>
              <a:latin typeface="+mj-lt"/>
            </a:endParaRPr>
          </a:p>
        </p:txBody>
      </p:sp>
      <p:sp>
        <p:nvSpPr>
          <p:cNvPr id="6347" name="Line 203">
            <a:extLst>
              <a:ext uri="{FF2B5EF4-FFF2-40B4-BE49-F238E27FC236}">
                <a16:creationId xmlns:a16="http://schemas.microsoft.com/office/drawing/2014/main" id="{D029F269-95FE-48D9-A0E2-35E114F6E860}"/>
              </a:ext>
            </a:extLst>
          </p:cNvPr>
          <p:cNvSpPr>
            <a:spLocks noChangeShapeType="1"/>
          </p:cNvSpPr>
          <p:nvPr/>
        </p:nvSpPr>
        <p:spPr bwMode="auto">
          <a:xfrm flipH="1" flipV="1">
            <a:off x="3432175" y="1725613"/>
            <a:ext cx="0" cy="417671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6348" name="Line 204">
            <a:extLst>
              <a:ext uri="{FF2B5EF4-FFF2-40B4-BE49-F238E27FC236}">
                <a16:creationId xmlns:a16="http://schemas.microsoft.com/office/drawing/2014/main" id="{0E64CF97-A17C-4121-8154-934FC9CAA95D}"/>
              </a:ext>
            </a:extLst>
          </p:cNvPr>
          <p:cNvSpPr>
            <a:spLocks noChangeShapeType="1"/>
          </p:cNvSpPr>
          <p:nvPr/>
        </p:nvSpPr>
        <p:spPr bwMode="auto">
          <a:xfrm>
            <a:off x="3216275" y="5757863"/>
            <a:ext cx="424815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6349" name="Rectangle 205">
            <a:extLst>
              <a:ext uri="{FF2B5EF4-FFF2-40B4-BE49-F238E27FC236}">
                <a16:creationId xmlns:a16="http://schemas.microsoft.com/office/drawing/2014/main" id="{E53017BD-16C4-4EE9-AE57-6C906EDD652F}"/>
              </a:ext>
            </a:extLst>
          </p:cNvPr>
          <p:cNvSpPr>
            <a:spLocks noChangeArrowheads="1"/>
          </p:cNvSpPr>
          <p:nvPr/>
        </p:nvSpPr>
        <p:spPr bwMode="auto">
          <a:xfrm>
            <a:off x="3000376" y="5829300"/>
            <a:ext cx="3143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s-AR" altLang="es-AR" sz="1600" b="1">
                <a:latin typeface="Tahoma" panose="020B0604030504040204" pitchFamily="34" charset="0"/>
              </a:rPr>
              <a:t>0</a:t>
            </a:r>
            <a:endParaRPr lang="es-ES" altLang="es-AR" sz="1600" b="1">
              <a:latin typeface="Tahoma" panose="020B0604030504040204" pitchFamily="34" charset="0"/>
            </a:endParaRPr>
          </a:p>
        </p:txBody>
      </p:sp>
      <p:sp>
        <p:nvSpPr>
          <p:cNvPr id="6350" name="Rectangle 206">
            <a:extLst>
              <a:ext uri="{FF2B5EF4-FFF2-40B4-BE49-F238E27FC236}">
                <a16:creationId xmlns:a16="http://schemas.microsoft.com/office/drawing/2014/main" id="{6D77A270-FFCB-4460-9901-24C930B68976}"/>
              </a:ext>
            </a:extLst>
          </p:cNvPr>
          <p:cNvSpPr>
            <a:spLocks noChangeArrowheads="1"/>
          </p:cNvSpPr>
          <p:nvPr/>
        </p:nvSpPr>
        <p:spPr bwMode="auto">
          <a:xfrm>
            <a:off x="7366000" y="5829300"/>
            <a:ext cx="3127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s-AR" altLang="es-AR" sz="1600" b="1">
                <a:latin typeface="Tahoma" panose="020B0604030504040204" pitchFamily="34" charset="0"/>
              </a:rPr>
              <a:t>q</a:t>
            </a:r>
            <a:endParaRPr lang="es-ES" altLang="es-AR" sz="1600" b="1">
              <a:latin typeface="Tahoma" panose="020B0604030504040204" pitchFamily="34" charset="0"/>
            </a:endParaRPr>
          </a:p>
        </p:txBody>
      </p:sp>
      <p:sp>
        <p:nvSpPr>
          <p:cNvPr id="6351" name="Line 207">
            <a:extLst>
              <a:ext uri="{FF2B5EF4-FFF2-40B4-BE49-F238E27FC236}">
                <a16:creationId xmlns:a16="http://schemas.microsoft.com/office/drawing/2014/main" id="{A5B2ACBF-7BB4-44E3-B873-43E09E2BDCCE}"/>
              </a:ext>
            </a:extLst>
          </p:cNvPr>
          <p:cNvSpPr>
            <a:spLocks noChangeShapeType="1"/>
          </p:cNvSpPr>
          <p:nvPr/>
        </p:nvSpPr>
        <p:spPr bwMode="auto">
          <a:xfrm>
            <a:off x="3432175" y="4030663"/>
            <a:ext cx="3887788"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6352" name="Text Box 208">
            <a:extLst>
              <a:ext uri="{FF2B5EF4-FFF2-40B4-BE49-F238E27FC236}">
                <a16:creationId xmlns:a16="http://schemas.microsoft.com/office/drawing/2014/main" id="{55BF4608-3EAE-46A8-96EA-CAAA965DCB87}"/>
              </a:ext>
            </a:extLst>
          </p:cNvPr>
          <p:cNvSpPr txBox="1">
            <a:spLocks noChangeArrowheads="1"/>
          </p:cNvSpPr>
          <p:nvPr/>
        </p:nvSpPr>
        <p:spPr bwMode="auto">
          <a:xfrm>
            <a:off x="7391401" y="3884613"/>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b="1">
                <a:solidFill>
                  <a:srgbClr val="0000FF"/>
                </a:solidFill>
              </a:rPr>
              <a:t>CVu</a:t>
            </a:r>
            <a:endParaRPr lang="es-AR" altLang="es-AR" b="1">
              <a:solidFill>
                <a:srgbClr val="0000FF"/>
              </a:solidFill>
              <a:cs typeface="Tahoma" panose="020B0604030504040204" pitchFamily="34" charset="0"/>
            </a:endParaRPr>
          </a:p>
        </p:txBody>
      </p:sp>
      <p:sp>
        <p:nvSpPr>
          <p:cNvPr id="6353" name="Line 209">
            <a:extLst>
              <a:ext uri="{FF2B5EF4-FFF2-40B4-BE49-F238E27FC236}">
                <a16:creationId xmlns:a16="http://schemas.microsoft.com/office/drawing/2014/main" id="{C5AD85ED-35F3-4C64-A5E7-A33686525464}"/>
              </a:ext>
            </a:extLst>
          </p:cNvPr>
          <p:cNvSpPr>
            <a:spLocks noChangeShapeType="1"/>
          </p:cNvSpPr>
          <p:nvPr/>
        </p:nvSpPr>
        <p:spPr bwMode="auto">
          <a:xfrm>
            <a:off x="3432175" y="3525838"/>
            <a:ext cx="3887788" cy="0"/>
          </a:xfrm>
          <a:prstGeom prst="line">
            <a:avLst/>
          </a:prstGeom>
          <a:noFill/>
          <a:ln w="28575">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6354" name="Text Box 210">
            <a:extLst>
              <a:ext uri="{FF2B5EF4-FFF2-40B4-BE49-F238E27FC236}">
                <a16:creationId xmlns:a16="http://schemas.microsoft.com/office/drawing/2014/main" id="{2EDBD9EE-217C-4909-9345-198D9D16D0C9}"/>
              </a:ext>
            </a:extLst>
          </p:cNvPr>
          <p:cNvSpPr txBox="1">
            <a:spLocks noChangeArrowheads="1"/>
          </p:cNvSpPr>
          <p:nvPr/>
        </p:nvSpPr>
        <p:spPr bwMode="auto">
          <a:xfrm>
            <a:off x="7392988" y="3224213"/>
            <a:ext cx="7921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b="1">
                <a:solidFill>
                  <a:srgbClr val="990000"/>
                </a:solidFill>
              </a:rPr>
              <a:t>PVu</a:t>
            </a:r>
            <a:endParaRPr lang="es-AR" altLang="es-AR" b="1">
              <a:solidFill>
                <a:srgbClr val="990000"/>
              </a:solidFill>
              <a:cs typeface="Tahoma" panose="020B0604030504040204" pitchFamily="34" charset="0"/>
            </a:endParaRPr>
          </a:p>
        </p:txBody>
      </p:sp>
      <p:sp>
        <p:nvSpPr>
          <p:cNvPr id="6355" name="Line 211">
            <a:extLst>
              <a:ext uri="{FF2B5EF4-FFF2-40B4-BE49-F238E27FC236}">
                <a16:creationId xmlns:a16="http://schemas.microsoft.com/office/drawing/2014/main" id="{7852E3B9-F696-4F8D-A25D-34CCB571C5AC}"/>
              </a:ext>
            </a:extLst>
          </p:cNvPr>
          <p:cNvSpPr>
            <a:spLocks noChangeShapeType="1"/>
          </p:cNvSpPr>
          <p:nvPr/>
        </p:nvSpPr>
        <p:spPr bwMode="auto">
          <a:xfrm>
            <a:off x="5045075" y="3597275"/>
            <a:ext cx="0" cy="2160588"/>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6356" name="AutoShape 212">
            <a:extLst>
              <a:ext uri="{FF2B5EF4-FFF2-40B4-BE49-F238E27FC236}">
                <a16:creationId xmlns:a16="http://schemas.microsoft.com/office/drawing/2014/main" id="{86A33331-C3FC-4894-BD14-DD06B85683A8}"/>
              </a:ext>
            </a:extLst>
          </p:cNvPr>
          <p:cNvSpPr>
            <a:spLocks noChangeArrowheads="1"/>
          </p:cNvSpPr>
          <p:nvPr/>
        </p:nvSpPr>
        <p:spPr bwMode="auto">
          <a:xfrm>
            <a:off x="4972051" y="3452813"/>
            <a:ext cx="142875" cy="144462"/>
          </a:xfrm>
          <a:prstGeom prst="flowChartConnector">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p>
        </p:txBody>
      </p:sp>
      <p:sp>
        <p:nvSpPr>
          <p:cNvPr id="6357" name="Text Box 213">
            <a:extLst>
              <a:ext uri="{FF2B5EF4-FFF2-40B4-BE49-F238E27FC236}">
                <a16:creationId xmlns:a16="http://schemas.microsoft.com/office/drawing/2014/main" id="{CBABA346-FE77-401C-88CF-E22121BDEF59}"/>
              </a:ext>
            </a:extLst>
          </p:cNvPr>
          <p:cNvSpPr txBox="1">
            <a:spLocks noChangeArrowheads="1"/>
          </p:cNvSpPr>
          <p:nvPr/>
        </p:nvSpPr>
        <p:spPr bwMode="auto">
          <a:xfrm>
            <a:off x="3721101" y="5829300"/>
            <a:ext cx="26638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sz="1600" b="1">
                <a:latin typeface="Tahoma" panose="020B0604030504040204" pitchFamily="34" charset="0"/>
              </a:rPr>
              <a:t> qo</a:t>
            </a:r>
            <a:endParaRPr lang="es-ES" altLang="es-AR" sz="1600" b="1">
              <a:latin typeface="Tahoma" panose="020B0604030504040204" pitchFamily="34" charset="0"/>
            </a:endParaRPr>
          </a:p>
        </p:txBody>
      </p:sp>
      <p:sp>
        <p:nvSpPr>
          <p:cNvPr id="6358" name="Line 214">
            <a:extLst>
              <a:ext uri="{FF2B5EF4-FFF2-40B4-BE49-F238E27FC236}">
                <a16:creationId xmlns:a16="http://schemas.microsoft.com/office/drawing/2014/main" id="{A39319D9-8243-429C-AE62-FC8A72018515}"/>
              </a:ext>
            </a:extLst>
          </p:cNvPr>
          <p:cNvSpPr>
            <a:spLocks noChangeShapeType="1"/>
          </p:cNvSpPr>
          <p:nvPr/>
        </p:nvSpPr>
        <p:spPr bwMode="auto">
          <a:xfrm flipH="1">
            <a:off x="4008438" y="6045200"/>
            <a:ext cx="431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6359" name="Line 215">
            <a:extLst>
              <a:ext uri="{FF2B5EF4-FFF2-40B4-BE49-F238E27FC236}">
                <a16:creationId xmlns:a16="http://schemas.microsoft.com/office/drawing/2014/main" id="{02F7B30E-4293-45DD-9A65-5BC7EE8D704A}"/>
              </a:ext>
            </a:extLst>
          </p:cNvPr>
          <p:cNvSpPr>
            <a:spLocks noChangeShapeType="1"/>
          </p:cNvSpPr>
          <p:nvPr/>
        </p:nvSpPr>
        <p:spPr bwMode="auto">
          <a:xfrm>
            <a:off x="5592763" y="6045200"/>
            <a:ext cx="431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6360" name="AutoShape 216">
            <a:extLst>
              <a:ext uri="{FF2B5EF4-FFF2-40B4-BE49-F238E27FC236}">
                <a16:creationId xmlns:a16="http://schemas.microsoft.com/office/drawing/2014/main" id="{3DD62884-6C14-40CA-87F9-EE6BFED58E63}"/>
              </a:ext>
            </a:extLst>
          </p:cNvPr>
          <p:cNvSpPr>
            <a:spLocks noChangeArrowheads="1"/>
          </p:cNvSpPr>
          <p:nvPr/>
        </p:nvSpPr>
        <p:spPr bwMode="auto">
          <a:xfrm>
            <a:off x="6888164" y="1844676"/>
            <a:ext cx="1800225" cy="936625"/>
          </a:xfrm>
          <a:prstGeom prst="wedgeRoundRectCallout">
            <a:avLst>
              <a:gd name="adj1" fmla="val -64639"/>
              <a:gd name="adj2" fmla="val 149491"/>
              <a:gd name="adj3" fmla="val 16667"/>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s-AR" altLang="es-AR" sz="1600" b="1" dirty="0">
                <a:solidFill>
                  <a:schemeClr val="tx1">
                    <a:lumMod val="75000"/>
                    <a:lumOff val="25000"/>
                  </a:schemeClr>
                </a:solidFill>
                <a:latin typeface="+mj-lt"/>
              </a:rPr>
              <a:t>AREA DE GANANCIAS (+) </a:t>
            </a:r>
            <a:endParaRPr lang="es-ES" altLang="es-AR" sz="1600" b="1" dirty="0">
              <a:solidFill>
                <a:schemeClr val="tx1">
                  <a:lumMod val="75000"/>
                  <a:lumOff val="25000"/>
                </a:schemeClr>
              </a:solidFill>
              <a:latin typeface="+mj-lt"/>
            </a:endParaRPr>
          </a:p>
        </p:txBody>
      </p:sp>
      <p:sp>
        <p:nvSpPr>
          <p:cNvPr id="6361" name="AutoShape 217">
            <a:extLst>
              <a:ext uri="{FF2B5EF4-FFF2-40B4-BE49-F238E27FC236}">
                <a16:creationId xmlns:a16="http://schemas.microsoft.com/office/drawing/2014/main" id="{37FA56C3-3696-4890-8ED9-09A9AAE82381}"/>
              </a:ext>
            </a:extLst>
          </p:cNvPr>
          <p:cNvSpPr>
            <a:spLocks noChangeArrowheads="1"/>
          </p:cNvSpPr>
          <p:nvPr/>
        </p:nvSpPr>
        <p:spPr bwMode="auto">
          <a:xfrm>
            <a:off x="1487487" y="2349500"/>
            <a:ext cx="1728787" cy="863600"/>
          </a:xfrm>
          <a:prstGeom prst="wedgeRoundRectCallout">
            <a:avLst>
              <a:gd name="adj1" fmla="val 92949"/>
              <a:gd name="adj2" fmla="val 38051"/>
              <a:gd name="adj3" fmla="val 16667"/>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s-AR" altLang="es-AR" sz="1600" b="1" dirty="0">
                <a:solidFill>
                  <a:schemeClr val="tx1">
                    <a:lumMod val="75000"/>
                    <a:lumOff val="25000"/>
                  </a:schemeClr>
                </a:solidFill>
                <a:latin typeface="+mj-lt"/>
              </a:rPr>
              <a:t>AREA DE PERDIDAS (-) </a:t>
            </a:r>
            <a:endParaRPr lang="es-ES" altLang="es-AR" sz="1600" b="1" dirty="0">
              <a:solidFill>
                <a:schemeClr val="tx1">
                  <a:lumMod val="75000"/>
                  <a:lumOff val="25000"/>
                </a:schemeClr>
              </a:solidFill>
              <a:latin typeface="+mj-lt"/>
            </a:endParaRPr>
          </a:p>
        </p:txBody>
      </p:sp>
      <p:sp>
        <p:nvSpPr>
          <p:cNvPr id="6362" name="Arc 218">
            <a:extLst>
              <a:ext uri="{FF2B5EF4-FFF2-40B4-BE49-F238E27FC236}">
                <a16:creationId xmlns:a16="http://schemas.microsoft.com/office/drawing/2014/main" id="{BFFC3E3F-1F6C-48BA-8C40-483C109C4F80}"/>
              </a:ext>
            </a:extLst>
          </p:cNvPr>
          <p:cNvSpPr>
            <a:spLocks/>
          </p:cNvSpPr>
          <p:nvPr/>
        </p:nvSpPr>
        <p:spPr bwMode="auto">
          <a:xfrm rot="11065375">
            <a:off x="3435350" y="1854200"/>
            <a:ext cx="3817938" cy="1943100"/>
          </a:xfrm>
          <a:custGeom>
            <a:avLst/>
            <a:gdLst>
              <a:gd name="T0" fmla="*/ 0 w 24240"/>
              <a:gd name="T1" fmla="*/ 1715595 h 21600"/>
              <a:gd name="T2" fmla="*/ 601346971 w 24240"/>
              <a:gd name="T3" fmla="*/ 142160974 h 21600"/>
              <a:gd name="T4" fmla="*/ 74920261 w 24240"/>
              <a:gd name="T5" fmla="*/ 174798038 h 21600"/>
              <a:gd name="T6" fmla="*/ 0 60000 65536"/>
              <a:gd name="T7" fmla="*/ 0 60000 65536"/>
              <a:gd name="T8" fmla="*/ 0 60000 65536"/>
            </a:gdLst>
            <a:ahLst/>
            <a:cxnLst>
              <a:cxn ang="T6">
                <a:pos x="T0" y="T1"/>
              </a:cxn>
              <a:cxn ang="T7">
                <a:pos x="T2" y="T3"/>
              </a:cxn>
              <a:cxn ang="T8">
                <a:pos x="T4" y="T5"/>
              </a:cxn>
            </a:cxnLst>
            <a:rect l="0" t="0" r="r" b="b"/>
            <a:pathLst>
              <a:path w="24240" h="21600" fill="none" extrusionOk="0">
                <a:moveTo>
                  <a:pt x="0" y="212"/>
                </a:moveTo>
                <a:cubicBezTo>
                  <a:pt x="1000" y="70"/>
                  <a:pt x="2009" y="0"/>
                  <a:pt x="3020" y="0"/>
                </a:cubicBezTo>
                <a:cubicBezTo>
                  <a:pt x="13394" y="0"/>
                  <a:pt x="22303" y="7375"/>
                  <a:pt x="24240" y="17566"/>
                </a:cubicBezTo>
              </a:path>
              <a:path w="24240" h="21600" stroke="0" extrusionOk="0">
                <a:moveTo>
                  <a:pt x="0" y="212"/>
                </a:moveTo>
                <a:cubicBezTo>
                  <a:pt x="1000" y="70"/>
                  <a:pt x="2009" y="0"/>
                  <a:pt x="3020" y="0"/>
                </a:cubicBezTo>
                <a:cubicBezTo>
                  <a:pt x="13394" y="0"/>
                  <a:pt x="22303" y="7375"/>
                  <a:pt x="24240" y="17566"/>
                </a:cubicBezTo>
                <a:lnTo>
                  <a:pt x="3020" y="21600"/>
                </a:lnTo>
                <a:lnTo>
                  <a:pt x="0" y="212"/>
                </a:lnTo>
                <a:close/>
              </a:path>
            </a:pathLst>
          </a:cu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6363" name="Arc 219">
            <a:extLst>
              <a:ext uri="{FF2B5EF4-FFF2-40B4-BE49-F238E27FC236}">
                <a16:creationId xmlns:a16="http://schemas.microsoft.com/office/drawing/2014/main" id="{66B8B4D2-C64D-4A19-8EB7-EF815497B773}"/>
              </a:ext>
            </a:extLst>
          </p:cNvPr>
          <p:cNvSpPr>
            <a:spLocks/>
          </p:cNvSpPr>
          <p:nvPr/>
        </p:nvSpPr>
        <p:spPr bwMode="auto">
          <a:xfrm rot="11065375">
            <a:off x="3503613" y="3527425"/>
            <a:ext cx="3744912" cy="1943100"/>
          </a:xfrm>
          <a:custGeom>
            <a:avLst/>
            <a:gdLst>
              <a:gd name="T0" fmla="*/ 0 w 23093"/>
              <a:gd name="T1" fmla="*/ 1715595 h 21600"/>
              <a:gd name="T2" fmla="*/ 607299437 w 23093"/>
              <a:gd name="T3" fmla="*/ 110244117 h 21600"/>
              <a:gd name="T4" fmla="*/ 79419930 w 23093"/>
              <a:gd name="T5" fmla="*/ 174798038 h 21600"/>
              <a:gd name="T6" fmla="*/ 0 60000 65536"/>
              <a:gd name="T7" fmla="*/ 0 60000 65536"/>
              <a:gd name="T8" fmla="*/ 0 60000 65536"/>
            </a:gdLst>
            <a:ahLst/>
            <a:cxnLst>
              <a:cxn ang="T6">
                <a:pos x="T0" y="T1"/>
              </a:cxn>
              <a:cxn ang="T7">
                <a:pos x="T2" y="T3"/>
              </a:cxn>
              <a:cxn ang="T8">
                <a:pos x="T4" y="T5"/>
              </a:cxn>
            </a:cxnLst>
            <a:rect l="0" t="0" r="r" b="b"/>
            <a:pathLst>
              <a:path w="23093" h="21600" fill="none" extrusionOk="0">
                <a:moveTo>
                  <a:pt x="0" y="212"/>
                </a:moveTo>
                <a:cubicBezTo>
                  <a:pt x="1000" y="70"/>
                  <a:pt x="2009" y="0"/>
                  <a:pt x="3020" y="0"/>
                </a:cubicBezTo>
                <a:cubicBezTo>
                  <a:pt x="11870" y="0"/>
                  <a:pt x="19824" y="5398"/>
                  <a:pt x="23093" y="13622"/>
                </a:cubicBezTo>
              </a:path>
              <a:path w="23093" h="21600" stroke="0" extrusionOk="0">
                <a:moveTo>
                  <a:pt x="0" y="212"/>
                </a:moveTo>
                <a:cubicBezTo>
                  <a:pt x="1000" y="70"/>
                  <a:pt x="2009" y="0"/>
                  <a:pt x="3020" y="0"/>
                </a:cubicBezTo>
                <a:cubicBezTo>
                  <a:pt x="11870" y="0"/>
                  <a:pt x="19824" y="5398"/>
                  <a:pt x="23093" y="13622"/>
                </a:cubicBezTo>
                <a:lnTo>
                  <a:pt x="3020" y="21600"/>
                </a:lnTo>
                <a:lnTo>
                  <a:pt x="0" y="212"/>
                </a:lnTo>
                <a:close/>
              </a:path>
            </a:pathLst>
          </a:custGeom>
          <a:noFill/>
          <a:ln w="28575">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6364" name="Rectangle 220">
            <a:extLst>
              <a:ext uri="{FF2B5EF4-FFF2-40B4-BE49-F238E27FC236}">
                <a16:creationId xmlns:a16="http://schemas.microsoft.com/office/drawing/2014/main" id="{A6A130CB-7DC4-4A8D-9B55-C48A69BCF2EA}"/>
              </a:ext>
            </a:extLst>
          </p:cNvPr>
          <p:cNvSpPr>
            <a:spLocks noChangeArrowheads="1"/>
          </p:cNvSpPr>
          <p:nvPr/>
        </p:nvSpPr>
        <p:spPr bwMode="auto">
          <a:xfrm>
            <a:off x="3648076" y="2276476"/>
            <a:ext cx="3095625"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1800" b="1">
                <a:solidFill>
                  <a:srgbClr val="FF0000"/>
                </a:solidFill>
                <a:effectLst>
                  <a:outerShdw blurRad="38100" dist="38100" dir="2700000" algn="tl">
                    <a:srgbClr val="C0C0C0"/>
                  </a:outerShdw>
                </a:effectLst>
              </a:rPr>
              <a:t>Cu  =  </a:t>
            </a:r>
            <a:r>
              <a:rPr lang="es-AR" altLang="es-AR" sz="1800" b="1" u="sng">
                <a:solidFill>
                  <a:srgbClr val="FF0000"/>
                </a:solidFill>
                <a:effectLst>
                  <a:outerShdw blurRad="38100" dist="38100" dir="2700000" algn="tl">
                    <a:srgbClr val="C0C0C0"/>
                  </a:outerShdw>
                </a:effectLst>
              </a:rPr>
              <a:t>CF</a:t>
            </a:r>
            <a:r>
              <a:rPr lang="es-AR" altLang="es-AR" sz="1800" b="1">
                <a:solidFill>
                  <a:srgbClr val="FF0000"/>
                </a:solidFill>
                <a:effectLst>
                  <a:outerShdw blurRad="38100" dist="38100" dir="2700000" algn="tl">
                    <a:srgbClr val="C0C0C0"/>
                  </a:outerShdw>
                </a:effectLst>
              </a:rPr>
              <a:t> + CVu</a:t>
            </a:r>
          </a:p>
          <a:p>
            <a:pPr algn="l" eaLnBrk="1" hangingPunct="1">
              <a:defRPr/>
            </a:pPr>
            <a:r>
              <a:rPr lang="es-AR" altLang="es-AR" sz="1800" b="1">
                <a:solidFill>
                  <a:srgbClr val="FF0000"/>
                </a:solidFill>
                <a:effectLst>
                  <a:outerShdw blurRad="38100" dist="38100" dir="2700000" algn="tl">
                    <a:srgbClr val="C0C0C0"/>
                  </a:outerShdw>
                </a:effectLst>
              </a:rPr>
              <a:t>            q</a:t>
            </a:r>
            <a:r>
              <a:rPr lang="es-AR" altLang="es-AR" sz="1800">
                <a:solidFill>
                  <a:srgbClr val="FF0000"/>
                </a:solidFill>
                <a:effectLst>
                  <a:outerShdw blurRad="38100" dist="38100" dir="2700000" algn="tl">
                    <a:srgbClr val="C0C0C0"/>
                  </a:outerShdw>
                </a:effectLst>
              </a:rPr>
              <a:t>           </a:t>
            </a:r>
            <a:endParaRPr lang="es-ES" altLang="es-AR" sz="1800" u="sng">
              <a:solidFill>
                <a:srgbClr val="FF0000"/>
              </a:solidFill>
              <a:effectLst>
                <a:outerShdw blurRad="38100" dist="38100" dir="2700000" algn="tl">
                  <a:srgbClr val="C0C0C0"/>
                </a:outerShdw>
              </a:effectLst>
            </a:endParaRPr>
          </a:p>
        </p:txBody>
      </p:sp>
      <p:sp>
        <p:nvSpPr>
          <p:cNvPr id="6365" name="Rectangle 221">
            <a:extLst>
              <a:ext uri="{FF2B5EF4-FFF2-40B4-BE49-F238E27FC236}">
                <a16:creationId xmlns:a16="http://schemas.microsoft.com/office/drawing/2014/main" id="{192CA92E-89E2-4150-B5D1-9F373BF4F479}"/>
              </a:ext>
            </a:extLst>
          </p:cNvPr>
          <p:cNvSpPr>
            <a:spLocks noChangeArrowheads="1"/>
          </p:cNvSpPr>
          <p:nvPr/>
        </p:nvSpPr>
        <p:spPr bwMode="auto">
          <a:xfrm>
            <a:off x="6167439" y="4868863"/>
            <a:ext cx="1728787" cy="79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1800" b="1">
                <a:solidFill>
                  <a:schemeClr val="hlink"/>
                </a:solidFill>
                <a:effectLst>
                  <a:outerShdw blurRad="38100" dist="38100" dir="2700000" algn="tl">
                    <a:srgbClr val="C0C0C0"/>
                  </a:outerShdw>
                </a:effectLst>
              </a:rPr>
              <a:t>CFu  =  </a:t>
            </a:r>
            <a:r>
              <a:rPr lang="es-AR" altLang="es-AR" sz="1800" b="1" u="sng">
                <a:solidFill>
                  <a:schemeClr val="hlink"/>
                </a:solidFill>
                <a:effectLst>
                  <a:outerShdw blurRad="38100" dist="38100" dir="2700000" algn="tl">
                    <a:srgbClr val="C0C0C0"/>
                  </a:outerShdw>
                </a:effectLst>
              </a:rPr>
              <a:t>CF</a:t>
            </a:r>
            <a:r>
              <a:rPr lang="es-AR" altLang="es-AR" sz="1800" b="1">
                <a:solidFill>
                  <a:schemeClr val="hlink"/>
                </a:solidFill>
                <a:effectLst>
                  <a:outerShdw blurRad="38100" dist="38100" dir="2700000" algn="tl">
                    <a:srgbClr val="C0C0C0"/>
                  </a:outerShdw>
                </a:effectLst>
              </a:rPr>
              <a:t> </a:t>
            </a:r>
          </a:p>
          <a:p>
            <a:pPr algn="l" eaLnBrk="1" hangingPunct="1">
              <a:defRPr/>
            </a:pPr>
            <a:r>
              <a:rPr lang="es-AR" altLang="es-AR" sz="1800" b="1">
                <a:solidFill>
                  <a:schemeClr val="hlink"/>
                </a:solidFill>
                <a:effectLst>
                  <a:outerShdw blurRad="38100" dist="38100" dir="2700000" algn="tl">
                    <a:srgbClr val="C0C0C0"/>
                  </a:outerShdw>
                </a:effectLst>
              </a:rPr>
              <a:t>               q</a:t>
            </a:r>
            <a:r>
              <a:rPr lang="es-AR" altLang="es-AR" sz="1800">
                <a:solidFill>
                  <a:srgbClr val="FF0000"/>
                </a:solidFill>
                <a:effectLst>
                  <a:outerShdw blurRad="38100" dist="38100" dir="2700000" algn="tl">
                    <a:srgbClr val="C0C0C0"/>
                  </a:outerShdw>
                </a:effectLst>
              </a:rPr>
              <a:t>           </a:t>
            </a:r>
            <a:endParaRPr lang="es-ES" altLang="es-AR" sz="1800" u="sng">
              <a:solidFill>
                <a:srgbClr val="FF0000"/>
              </a:solidFill>
              <a:effectLst>
                <a:outerShdw blurRad="38100" dist="38100" dir="2700000" algn="tl">
                  <a:srgbClr val="C0C0C0"/>
                </a:outerShdw>
              </a:effectLst>
            </a:endParaRPr>
          </a:p>
        </p:txBody>
      </p:sp>
      <p:sp>
        <p:nvSpPr>
          <p:cNvPr id="6366" name="Text Box 222">
            <a:extLst>
              <a:ext uri="{FF2B5EF4-FFF2-40B4-BE49-F238E27FC236}">
                <a16:creationId xmlns:a16="http://schemas.microsoft.com/office/drawing/2014/main" id="{3A63B118-250D-4A39-AA4A-99897D77407D}"/>
              </a:ext>
            </a:extLst>
          </p:cNvPr>
          <p:cNvSpPr txBox="1">
            <a:spLocks noChangeArrowheads="1"/>
          </p:cNvSpPr>
          <p:nvPr/>
        </p:nvSpPr>
        <p:spPr bwMode="auto">
          <a:xfrm>
            <a:off x="2936875" y="1612458"/>
            <a:ext cx="42714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b="1" dirty="0">
                <a:latin typeface="Tahoma" panose="020B0604030504040204" pitchFamily="34" charset="0"/>
              </a:rPr>
              <a:t> $</a:t>
            </a:r>
            <a:endParaRPr lang="es-AR" altLang="es-AR" b="1" dirty="0">
              <a:latin typeface="Tahoma" panose="020B0604030504040204" pitchFamily="34" charset="0"/>
              <a:cs typeface="Tahoma" panose="020B0604030504040204" pitchFamily="34" charset="0"/>
            </a:endParaRPr>
          </a:p>
        </p:txBody>
      </p:sp>
      <p:sp>
        <p:nvSpPr>
          <p:cNvPr id="2" name="Marcador de número de diapositiva 1">
            <a:extLst>
              <a:ext uri="{FF2B5EF4-FFF2-40B4-BE49-F238E27FC236}">
                <a16:creationId xmlns:a16="http://schemas.microsoft.com/office/drawing/2014/main" id="{08F101B1-7B53-4FB8-BF67-10A45EF8B058}"/>
              </a:ext>
            </a:extLst>
          </p:cNvPr>
          <p:cNvSpPr>
            <a:spLocks noGrp="1"/>
          </p:cNvSpPr>
          <p:nvPr>
            <p:ph type="sldNum" sz="quarter" idx="12"/>
          </p:nvPr>
        </p:nvSpPr>
        <p:spPr/>
        <p:txBody>
          <a:bodyPr/>
          <a:lstStyle/>
          <a:p>
            <a:fld id="{D57F1E4F-1CFF-5643-939E-217C01CDF565}" type="slidenum">
              <a:rPr lang="en-US" smtClean="0"/>
              <a:pPr/>
              <a:t>33</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4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36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34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34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35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34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6365"/>
                                        </p:tgtEl>
                                        <p:attrNameLst>
                                          <p:attrName>style.visibility</p:attrName>
                                        </p:attrNameLst>
                                      </p:cBhvr>
                                      <p:to>
                                        <p:strVal val="visible"/>
                                      </p:to>
                                    </p:set>
                                    <p:animEffect transition="in" filter="wipe(down)">
                                      <p:cBhvr>
                                        <p:cTn id="23" dur="500"/>
                                        <p:tgtEl>
                                          <p:spTgt spid="6365"/>
                                        </p:tgtEl>
                                      </p:cBhvr>
                                    </p:animEffect>
                                  </p:childTnLst>
                                </p:cTn>
                              </p:par>
                              <p:par>
                                <p:cTn id="24" presetID="22" presetClass="entr" presetSubtype="4" fill="hold" nodeType="withEffect">
                                  <p:stCondLst>
                                    <p:cond delay="0"/>
                                  </p:stCondLst>
                                  <p:childTnLst>
                                    <p:set>
                                      <p:cBhvr>
                                        <p:cTn id="25" dur="1" fill="hold">
                                          <p:stCondLst>
                                            <p:cond delay="0"/>
                                          </p:stCondLst>
                                        </p:cTn>
                                        <p:tgtEl>
                                          <p:spTgt spid="6363"/>
                                        </p:tgtEl>
                                        <p:attrNameLst>
                                          <p:attrName>style.visibility</p:attrName>
                                        </p:attrNameLst>
                                      </p:cBhvr>
                                      <p:to>
                                        <p:strVal val="visible"/>
                                      </p:to>
                                    </p:set>
                                    <p:animEffect transition="in" filter="wipe(down)">
                                      <p:cBhvr>
                                        <p:cTn id="26" dur="500"/>
                                        <p:tgtEl>
                                          <p:spTgt spid="636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4" fill="hold" nodeType="clickEffect">
                                  <p:stCondLst>
                                    <p:cond delay="0"/>
                                  </p:stCondLst>
                                  <p:childTnLst>
                                    <p:set>
                                      <p:cBhvr>
                                        <p:cTn id="30" dur="1" fill="hold">
                                          <p:stCondLst>
                                            <p:cond delay="0"/>
                                          </p:stCondLst>
                                        </p:cTn>
                                        <p:tgtEl>
                                          <p:spTgt spid="6351"/>
                                        </p:tgtEl>
                                        <p:attrNameLst>
                                          <p:attrName>style.visibility</p:attrName>
                                        </p:attrNameLst>
                                      </p:cBhvr>
                                      <p:to>
                                        <p:strVal val="visible"/>
                                      </p:to>
                                    </p:set>
                                    <p:animEffect transition="in" filter="wipe(down)">
                                      <p:cBhvr>
                                        <p:cTn id="31" dur="500"/>
                                        <p:tgtEl>
                                          <p:spTgt spid="6351"/>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6352"/>
                                        </p:tgtEl>
                                        <p:attrNameLst>
                                          <p:attrName>style.visibility</p:attrName>
                                        </p:attrNameLst>
                                      </p:cBhvr>
                                      <p:to>
                                        <p:strVal val="visible"/>
                                      </p:to>
                                    </p:set>
                                    <p:animEffect transition="in" filter="wipe(down)">
                                      <p:cBhvr>
                                        <p:cTn id="34" dur="500"/>
                                        <p:tgtEl>
                                          <p:spTgt spid="6352"/>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4" fill="hold" nodeType="clickEffect">
                                  <p:stCondLst>
                                    <p:cond delay="0"/>
                                  </p:stCondLst>
                                  <p:childTnLst>
                                    <p:set>
                                      <p:cBhvr>
                                        <p:cTn id="38" dur="1" fill="hold">
                                          <p:stCondLst>
                                            <p:cond delay="0"/>
                                          </p:stCondLst>
                                        </p:cTn>
                                        <p:tgtEl>
                                          <p:spTgt spid="6362"/>
                                        </p:tgtEl>
                                        <p:attrNameLst>
                                          <p:attrName>style.visibility</p:attrName>
                                        </p:attrNameLst>
                                      </p:cBhvr>
                                      <p:to>
                                        <p:strVal val="visible"/>
                                      </p:to>
                                    </p:set>
                                    <p:animEffect transition="in" filter="wipe(down)">
                                      <p:cBhvr>
                                        <p:cTn id="39" dur="500"/>
                                        <p:tgtEl>
                                          <p:spTgt spid="6362"/>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6364"/>
                                        </p:tgtEl>
                                        <p:attrNameLst>
                                          <p:attrName>style.visibility</p:attrName>
                                        </p:attrNameLst>
                                      </p:cBhvr>
                                      <p:to>
                                        <p:strVal val="visible"/>
                                      </p:to>
                                    </p:set>
                                    <p:animEffect transition="in" filter="wipe(down)">
                                      <p:cBhvr>
                                        <p:cTn id="42" dur="500"/>
                                        <p:tgtEl>
                                          <p:spTgt spid="636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nodeType="clickEffect">
                                  <p:stCondLst>
                                    <p:cond delay="0"/>
                                  </p:stCondLst>
                                  <p:childTnLst>
                                    <p:set>
                                      <p:cBhvr>
                                        <p:cTn id="46" dur="1" fill="hold">
                                          <p:stCondLst>
                                            <p:cond delay="0"/>
                                          </p:stCondLst>
                                        </p:cTn>
                                        <p:tgtEl>
                                          <p:spTgt spid="6353"/>
                                        </p:tgtEl>
                                        <p:attrNameLst>
                                          <p:attrName>style.visibility</p:attrName>
                                        </p:attrNameLst>
                                      </p:cBhvr>
                                      <p:to>
                                        <p:strVal val="visible"/>
                                      </p:to>
                                    </p:set>
                                    <p:animEffect transition="in" filter="wipe(down)">
                                      <p:cBhvr>
                                        <p:cTn id="47" dur="500"/>
                                        <p:tgtEl>
                                          <p:spTgt spid="6353"/>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6354"/>
                                        </p:tgtEl>
                                        <p:attrNameLst>
                                          <p:attrName>style.visibility</p:attrName>
                                        </p:attrNameLst>
                                      </p:cBhvr>
                                      <p:to>
                                        <p:strVal val="visible"/>
                                      </p:to>
                                    </p:set>
                                    <p:animEffect transition="in" filter="wipe(down)">
                                      <p:cBhvr>
                                        <p:cTn id="50" dur="500"/>
                                        <p:tgtEl>
                                          <p:spTgt spid="6354"/>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356"/>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4" fill="hold" nodeType="clickEffect">
                                  <p:stCondLst>
                                    <p:cond delay="0"/>
                                  </p:stCondLst>
                                  <p:childTnLst>
                                    <p:set>
                                      <p:cBhvr>
                                        <p:cTn id="58" dur="1" fill="hold">
                                          <p:stCondLst>
                                            <p:cond delay="0"/>
                                          </p:stCondLst>
                                        </p:cTn>
                                        <p:tgtEl>
                                          <p:spTgt spid="6355"/>
                                        </p:tgtEl>
                                        <p:attrNameLst>
                                          <p:attrName>style.visibility</p:attrName>
                                        </p:attrNameLst>
                                      </p:cBhvr>
                                      <p:to>
                                        <p:strVal val="visible"/>
                                      </p:to>
                                    </p:set>
                                    <p:animEffect transition="in" filter="wipe(down)">
                                      <p:cBhvr>
                                        <p:cTn id="59" dur="500"/>
                                        <p:tgtEl>
                                          <p:spTgt spid="6355"/>
                                        </p:tgtEl>
                                      </p:cBhvr>
                                    </p:animEffect>
                                  </p:childTnLst>
                                </p:cTn>
                              </p:par>
                              <p:par>
                                <p:cTn id="60" presetID="22" presetClass="entr" presetSubtype="4" fill="hold" grpId="0" nodeType="withEffect">
                                  <p:stCondLst>
                                    <p:cond delay="0"/>
                                  </p:stCondLst>
                                  <p:childTnLst>
                                    <p:set>
                                      <p:cBhvr>
                                        <p:cTn id="61" dur="1" fill="hold">
                                          <p:stCondLst>
                                            <p:cond delay="0"/>
                                          </p:stCondLst>
                                        </p:cTn>
                                        <p:tgtEl>
                                          <p:spTgt spid="6357"/>
                                        </p:tgtEl>
                                        <p:attrNameLst>
                                          <p:attrName>style.visibility</p:attrName>
                                        </p:attrNameLst>
                                      </p:cBhvr>
                                      <p:to>
                                        <p:strVal val="visible"/>
                                      </p:to>
                                    </p:set>
                                    <p:animEffect transition="in" filter="wipe(down)">
                                      <p:cBhvr>
                                        <p:cTn id="62" dur="500"/>
                                        <p:tgtEl>
                                          <p:spTgt spid="6357"/>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nodeType="clickEffect">
                                  <p:stCondLst>
                                    <p:cond delay="0"/>
                                  </p:stCondLst>
                                  <p:childTnLst>
                                    <p:set>
                                      <p:cBhvr>
                                        <p:cTn id="66" dur="1" fill="hold">
                                          <p:stCondLst>
                                            <p:cond delay="0"/>
                                          </p:stCondLst>
                                        </p:cTn>
                                        <p:tgtEl>
                                          <p:spTgt spid="6358"/>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4" fill="hold" grpId="0" nodeType="clickEffect">
                                  <p:stCondLst>
                                    <p:cond delay="0"/>
                                  </p:stCondLst>
                                  <p:childTnLst>
                                    <p:set>
                                      <p:cBhvr>
                                        <p:cTn id="70" dur="1" fill="hold">
                                          <p:stCondLst>
                                            <p:cond delay="0"/>
                                          </p:stCondLst>
                                        </p:cTn>
                                        <p:tgtEl>
                                          <p:spTgt spid="6361"/>
                                        </p:tgtEl>
                                        <p:attrNameLst>
                                          <p:attrName>style.visibility</p:attrName>
                                        </p:attrNameLst>
                                      </p:cBhvr>
                                      <p:to>
                                        <p:strVal val="visible"/>
                                      </p:to>
                                    </p:set>
                                    <p:animEffect transition="in" filter="wipe(down)">
                                      <p:cBhvr>
                                        <p:cTn id="71" dur="500"/>
                                        <p:tgtEl>
                                          <p:spTgt spid="6361"/>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1" presetClass="entr" presetSubtype="0" fill="hold" nodeType="clickEffect">
                                  <p:stCondLst>
                                    <p:cond delay="0"/>
                                  </p:stCondLst>
                                  <p:childTnLst>
                                    <p:set>
                                      <p:cBhvr>
                                        <p:cTn id="75" dur="1" fill="hold">
                                          <p:stCondLst>
                                            <p:cond delay="0"/>
                                          </p:stCondLst>
                                        </p:cTn>
                                        <p:tgtEl>
                                          <p:spTgt spid="6359"/>
                                        </p:tgtEl>
                                        <p:attrNameLst>
                                          <p:attrName>style.visibility</p:attrName>
                                        </p:attrNameLst>
                                      </p:cBhvr>
                                      <p:to>
                                        <p:strVal val="visible"/>
                                      </p:to>
                                    </p:se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4" fill="hold" grpId="0" nodeType="clickEffect">
                                  <p:stCondLst>
                                    <p:cond delay="0"/>
                                  </p:stCondLst>
                                  <p:childTnLst>
                                    <p:set>
                                      <p:cBhvr>
                                        <p:cTn id="79" dur="1" fill="hold">
                                          <p:stCondLst>
                                            <p:cond delay="0"/>
                                          </p:stCondLst>
                                        </p:cTn>
                                        <p:tgtEl>
                                          <p:spTgt spid="6360"/>
                                        </p:tgtEl>
                                        <p:attrNameLst>
                                          <p:attrName>style.visibility</p:attrName>
                                        </p:attrNameLst>
                                      </p:cBhvr>
                                      <p:to>
                                        <p:strVal val="visible"/>
                                      </p:to>
                                    </p:set>
                                    <p:animEffect transition="in" filter="wipe(down)">
                                      <p:cBhvr>
                                        <p:cTn id="80" dur="500"/>
                                        <p:tgtEl>
                                          <p:spTgt spid="63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6" grpId="0"/>
      <p:bldP spid="6349" grpId="0"/>
      <p:bldP spid="6350" grpId="0"/>
      <p:bldP spid="6352" grpId="0"/>
      <p:bldP spid="6354" grpId="0"/>
      <p:bldP spid="6356" grpId="0" animBg="1"/>
      <p:bldP spid="6357" grpId="0"/>
      <p:bldP spid="6360" grpId="0" animBg="1"/>
      <p:bldP spid="6361" grpId="0" animBg="1"/>
      <p:bldP spid="6364" grpId="0"/>
      <p:bldP spid="6365" grpId="0"/>
      <p:bldP spid="636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8" name="Text Box 38">
            <a:extLst>
              <a:ext uri="{FF2B5EF4-FFF2-40B4-BE49-F238E27FC236}">
                <a16:creationId xmlns:a16="http://schemas.microsoft.com/office/drawing/2014/main" id="{626A947E-E7C7-40D5-97B7-1784ABECF2B4}"/>
              </a:ext>
            </a:extLst>
          </p:cNvPr>
          <p:cNvSpPr txBox="1">
            <a:spLocks noChangeArrowheads="1"/>
          </p:cNvSpPr>
          <p:nvPr/>
        </p:nvSpPr>
        <p:spPr bwMode="auto">
          <a:xfrm>
            <a:off x="1387476" y="185738"/>
            <a:ext cx="857948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defRPr/>
            </a:pPr>
            <a:r>
              <a:rPr lang="es-MX" altLang="es-AR" sz="3600" b="1" dirty="0">
                <a:solidFill>
                  <a:schemeClr val="tx1">
                    <a:lumMod val="75000"/>
                    <a:lumOff val="25000"/>
                  </a:schemeClr>
                </a:solidFill>
                <a:latin typeface="+mj-lt"/>
                <a:cs typeface="Arial" charset="0"/>
              </a:rPr>
              <a:t>PUNTO DE EQUILIBRIO FINANCIERO</a:t>
            </a:r>
          </a:p>
        </p:txBody>
      </p:sp>
      <p:sp>
        <p:nvSpPr>
          <p:cNvPr id="2" name="CuadroTexto 1">
            <a:extLst>
              <a:ext uri="{FF2B5EF4-FFF2-40B4-BE49-F238E27FC236}">
                <a16:creationId xmlns:a16="http://schemas.microsoft.com/office/drawing/2014/main" id="{571F4505-30D6-4AB9-9A93-31F3A1316460}"/>
              </a:ext>
            </a:extLst>
          </p:cNvPr>
          <p:cNvSpPr txBox="1"/>
          <p:nvPr/>
        </p:nvSpPr>
        <p:spPr>
          <a:xfrm>
            <a:off x="2231136" y="1581912"/>
            <a:ext cx="8579484" cy="2739211"/>
          </a:xfrm>
          <a:prstGeom prst="rect">
            <a:avLst/>
          </a:prstGeom>
          <a:noFill/>
        </p:spPr>
        <p:txBody>
          <a:bodyPr wrap="square" rtlCol="0">
            <a:spAutoFit/>
          </a:bodyPr>
          <a:lstStyle/>
          <a:p>
            <a:r>
              <a:rPr lang="es-AR" sz="2000" dirty="0"/>
              <a:t>Hemos analizado el punto de equilibrio desde el punto de vista económico, podemos profundizar el análisis clasificando  a los gastos fijo de dos maneras:</a:t>
            </a:r>
          </a:p>
          <a:p>
            <a:endParaRPr lang="es-AR" sz="2000" dirty="0"/>
          </a:p>
          <a:p>
            <a:endParaRPr lang="es-AR" sz="2000" dirty="0"/>
          </a:p>
          <a:p>
            <a:pPr marL="742950" lvl="1" indent="-285750">
              <a:buClr>
                <a:srgbClr val="92D050"/>
              </a:buClr>
              <a:buFont typeface="Arial" panose="020B0604020202020204" pitchFamily="34" charset="0"/>
              <a:buChar char="•"/>
            </a:pPr>
            <a:r>
              <a:rPr lang="es-AR" sz="2400" b="1" dirty="0"/>
              <a:t>Gastos fijos </a:t>
            </a:r>
            <a:r>
              <a:rPr lang="es-AR" sz="2400" b="1" dirty="0" err="1"/>
              <a:t>erogables</a:t>
            </a:r>
            <a:endParaRPr lang="es-AR" sz="2400" b="1" dirty="0"/>
          </a:p>
          <a:p>
            <a:pPr lvl="1">
              <a:buClr>
                <a:srgbClr val="92D050"/>
              </a:buClr>
            </a:pPr>
            <a:endParaRPr lang="es-AR" sz="2400" b="1" dirty="0"/>
          </a:p>
          <a:p>
            <a:pPr marL="742950" lvl="1" indent="-285750">
              <a:buClr>
                <a:srgbClr val="92D050"/>
              </a:buClr>
              <a:buFont typeface="Arial" panose="020B0604020202020204" pitchFamily="34" charset="0"/>
              <a:buChar char="•"/>
            </a:pPr>
            <a:r>
              <a:rPr lang="es-AR" sz="2400" b="1" dirty="0"/>
              <a:t>Gastos  fijos no </a:t>
            </a:r>
            <a:r>
              <a:rPr lang="es-AR" sz="2400" b="1" dirty="0" err="1"/>
              <a:t>erogables</a:t>
            </a:r>
            <a:endParaRPr lang="es-AR" sz="2400" b="1" dirty="0"/>
          </a:p>
        </p:txBody>
      </p:sp>
      <p:sp>
        <p:nvSpPr>
          <p:cNvPr id="3" name="Marcador de número de diapositiva 2">
            <a:extLst>
              <a:ext uri="{FF2B5EF4-FFF2-40B4-BE49-F238E27FC236}">
                <a16:creationId xmlns:a16="http://schemas.microsoft.com/office/drawing/2014/main" id="{9B9DB3F5-2C45-40D0-976A-4F705540C5AB}"/>
              </a:ext>
            </a:extLst>
          </p:cNvPr>
          <p:cNvSpPr>
            <a:spLocks noGrp="1"/>
          </p:cNvSpPr>
          <p:nvPr>
            <p:ph type="sldNum" sz="quarter" idx="12"/>
          </p:nvPr>
        </p:nvSpPr>
        <p:spPr/>
        <p:txBody>
          <a:bodyPr/>
          <a:lstStyle/>
          <a:p>
            <a:fld id="{D57F1E4F-1CFF-5643-939E-217C01CDF565}" type="slidenum">
              <a:rPr lang="en-US" smtClean="0"/>
              <a:pPr/>
              <a:t>34</a:t>
            </a:fld>
            <a:endParaRPr lang="en-US" dirty="0"/>
          </a:p>
        </p:txBody>
      </p:sp>
    </p:spTree>
    <p:extLst>
      <p:ext uri="{BB962C8B-B14F-4D97-AF65-F5344CB8AC3E}">
        <p14:creationId xmlns:p14="http://schemas.microsoft.com/office/powerpoint/2010/main" val="24397589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8" name="Text Box 38">
            <a:extLst>
              <a:ext uri="{FF2B5EF4-FFF2-40B4-BE49-F238E27FC236}">
                <a16:creationId xmlns:a16="http://schemas.microsoft.com/office/drawing/2014/main" id="{626A947E-E7C7-40D5-97B7-1784ABECF2B4}"/>
              </a:ext>
            </a:extLst>
          </p:cNvPr>
          <p:cNvSpPr txBox="1">
            <a:spLocks noChangeArrowheads="1"/>
          </p:cNvSpPr>
          <p:nvPr/>
        </p:nvSpPr>
        <p:spPr bwMode="auto">
          <a:xfrm>
            <a:off x="1387476" y="185738"/>
            <a:ext cx="857948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defRPr/>
            </a:pPr>
            <a:r>
              <a:rPr lang="es-MX" altLang="es-AR" sz="3600" b="1" dirty="0">
                <a:solidFill>
                  <a:schemeClr val="tx1">
                    <a:lumMod val="75000"/>
                    <a:lumOff val="25000"/>
                  </a:schemeClr>
                </a:solidFill>
                <a:latin typeface="+mj-lt"/>
                <a:cs typeface="Arial" charset="0"/>
              </a:rPr>
              <a:t>PUNTO DE EQUILIBRIO FINANCIERO</a:t>
            </a:r>
          </a:p>
        </p:txBody>
      </p:sp>
      <p:sp>
        <p:nvSpPr>
          <p:cNvPr id="39" name="CuadroTexto 38">
            <a:extLst>
              <a:ext uri="{FF2B5EF4-FFF2-40B4-BE49-F238E27FC236}">
                <a16:creationId xmlns:a16="http://schemas.microsoft.com/office/drawing/2014/main" id="{9D4AACBE-B225-4406-9A5C-C0977C57325F}"/>
              </a:ext>
            </a:extLst>
          </p:cNvPr>
          <p:cNvSpPr txBox="1"/>
          <p:nvPr/>
        </p:nvSpPr>
        <p:spPr>
          <a:xfrm>
            <a:off x="2331720" y="1490008"/>
            <a:ext cx="8579484" cy="2246769"/>
          </a:xfrm>
          <a:prstGeom prst="rect">
            <a:avLst/>
          </a:prstGeom>
          <a:noFill/>
        </p:spPr>
        <p:txBody>
          <a:bodyPr wrap="square" rtlCol="0">
            <a:spAutoFit/>
          </a:bodyPr>
          <a:lstStyle/>
          <a:p>
            <a:r>
              <a:rPr lang="es-AR" sz="2000" dirty="0"/>
              <a:t>Los </a:t>
            </a:r>
            <a:r>
              <a:rPr lang="es-AR" sz="2000" b="1" dirty="0"/>
              <a:t>no </a:t>
            </a:r>
            <a:r>
              <a:rPr lang="es-AR" sz="2000" b="1" dirty="0" err="1"/>
              <a:t>erogables</a:t>
            </a:r>
            <a:r>
              <a:rPr lang="es-AR" sz="2000" b="1" dirty="0"/>
              <a:t> </a:t>
            </a:r>
            <a:r>
              <a:rPr lang="es-AR" sz="2000" dirty="0"/>
              <a:t>son aquellos que aun formando parte del costo no constituyen una erogación financiera, como por ejemplo:</a:t>
            </a:r>
          </a:p>
          <a:p>
            <a:endParaRPr lang="es-AR" sz="2000" dirty="0"/>
          </a:p>
          <a:p>
            <a:pPr marL="800100" lvl="1" indent="-342900">
              <a:buClr>
                <a:srgbClr val="92D050"/>
              </a:buClr>
              <a:buFont typeface="Arial" panose="020B0604020202020204" pitchFamily="34" charset="0"/>
              <a:buChar char="•"/>
            </a:pPr>
            <a:r>
              <a:rPr lang="es-AR" sz="2000" dirty="0"/>
              <a:t>Previsiones por despido</a:t>
            </a:r>
          </a:p>
          <a:p>
            <a:pPr marL="800100" lvl="1" indent="-342900">
              <a:buClr>
                <a:srgbClr val="92D050"/>
              </a:buClr>
              <a:buFont typeface="Arial" panose="020B0604020202020204" pitchFamily="34" charset="0"/>
              <a:buChar char="•"/>
            </a:pPr>
            <a:r>
              <a:rPr lang="es-AR" sz="2000" dirty="0"/>
              <a:t>Previsiones por aguinaldo</a:t>
            </a:r>
          </a:p>
          <a:p>
            <a:pPr marL="800100" lvl="1" indent="-342900">
              <a:buClr>
                <a:srgbClr val="92D050"/>
              </a:buClr>
              <a:buFont typeface="Arial" panose="020B0604020202020204" pitchFamily="34" charset="0"/>
              <a:buChar char="•"/>
            </a:pPr>
            <a:r>
              <a:rPr lang="es-AR" sz="2000" dirty="0"/>
              <a:t>Previsiones por accidentes</a:t>
            </a:r>
          </a:p>
          <a:p>
            <a:pPr marL="800100" lvl="1" indent="-342900">
              <a:buClr>
                <a:srgbClr val="92D050"/>
              </a:buClr>
              <a:buFont typeface="Arial" panose="020B0604020202020204" pitchFamily="34" charset="0"/>
              <a:buChar char="•"/>
            </a:pPr>
            <a:r>
              <a:rPr lang="es-AR" sz="2000" dirty="0"/>
              <a:t>amortizaciones</a:t>
            </a:r>
          </a:p>
        </p:txBody>
      </p:sp>
      <p:sp>
        <p:nvSpPr>
          <p:cNvPr id="5" name="CuadroTexto 4">
            <a:extLst>
              <a:ext uri="{FF2B5EF4-FFF2-40B4-BE49-F238E27FC236}">
                <a16:creationId xmlns:a16="http://schemas.microsoft.com/office/drawing/2014/main" id="{F03429A0-A4CD-43F2-83BD-0EC453B8AB92}"/>
              </a:ext>
            </a:extLst>
          </p:cNvPr>
          <p:cNvSpPr txBox="1"/>
          <p:nvPr/>
        </p:nvSpPr>
        <p:spPr>
          <a:xfrm>
            <a:off x="2331720" y="3928408"/>
            <a:ext cx="8579484" cy="1631216"/>
          </a:xfrm>
          <a:prstGeom prst="rect">
            <a:avLst/>
          </a:prstGeom>
          <a:noFill/>
        </p:spPr>
        <p:txBody>
          <a:bodyPr wrap="square" rtlCol="0">
            <a:spAutoFit/>
          </a:bodyPr>
          <a:lstStyle/>
          <a:p>
            <a:r>
              <a:rPr lang="es-AR" sz="2000" dirty="0"/>
              <a:t>Por lo tanto existirá un punto, ubicado por debajo del punto de equilibrio económico que nos marcara el volumen de ventas mínimo que debe alcanzar una empresa para poder seguir funcionando, a este punto se lo llama </a:t>
            </a:r>
            <a:r>
              <a:rPr lang="es-AR" sz="2000" b="1" dirty="0"/>
              <a:t>Punto de cierre</a:t>
            </a:r>
            <a:r>
              <a:rPr lang="es-AR" sz="2000" dirty="0"/>
              <a:t> o </a:t>
            </a:r>
            <a:r>
              <a:rPr lang="es-AR" sz="2000" b="1" dirty="0"/>
              <a:t>Punto de equilibrio financiero</a:t>
            </a:r>
          </a:p>
        </p:txBody>
      </p:sp>
      <p:sp>
        <p:nvSpPr>
          <p:cNvPr id="2" name="Marcador de número de diapositiva 1">
            <a:extLst>
              <a:ext uri="{FF2B5EF4-FFF2-40B4-BE49-F238E27FC236}">
                <a16:creationId xmlns:a16="http://schemas.microsoft.com/office/drawing/2014/main" id="{B3EF3FDD-B3BA-4774-A00B-75D31B38C95D}"/>
              </a:ext>
            </a:extLst>
          </p:cNvPr>
          <p:cNvSpPr>
            <a:spLocks noGrp="1"/>
          </p:cNvSpPr>
          <p:nvPr>
            <p:ph type="sldNum" sz="quarter" idx="12"/>
          </p:nvPr>
        </p:nvSpPr>
        <p:spPr/>
        <p:txBody>
          <a:bodyPr/>
          <a:lstStyle/>
          <a:p>
            <a:fld id="{D57F1E4F-1CFF-5643-939E-217C01CDF565}" type="slidenum">
              <a:rPr lang="en-US" smtClean="0"/>
              <a:pPr/>
              <a:t>35</a:t>
            </a:fld>
            <a:endParaRPr lang="en-US" dirty="0"/>
          </a:p>
        </p:txBody>
      </p:sp>
    </p:spTree>
    <p:extLst>
      <p:ext uri="{BB962C8B-B14F-4D97-AF65-F5344CB8AC3E}">
        <p14:creationId xmlns:p14="http://schemas.microsoft.com/office/powerpoint/2010/main" val="38923030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Line 4">
            <a:extLst>
              <a:ext uri="{FF2B5EF4-FFF2-40B4-BE49-F238E27FC236}">
                <a16:creationId xmlns:a16="http://schemas.microsoft.com/office/drawing/2014/main" id="{43F49A28-AAEF-4127-B094-0F7FFF10B718}"/>
              </a:ext>
            </a:extLst>
          </p:cNvPr>
          <p:cNvSpPr>
            <a:spLocks noChangeShapeType="1"/>
          </p:cNvSpPr>
          <p:nvPr/>
        </p:nvSpPr>
        <p:spPr bwMode="auto">
          <a:xfrm flipH="1" flipV="1">
            <a:off x="2063750" y="1717676"/>
            <a:ext cx="0" cy="4176713"/>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30725" name="Line 5">
            <a:extLst>
              <a:ext uri="{FF2B5EF4-FFF2-40B4-BE49-F238E27FC236}">
                <a16:creationId xmlns:a16="http://schemas.microsoft.com/office/drawing/2014/main" id="{E165B51F-9A9B-474B-8E3C-AE2E19300D1B}"/>
              </a:ext>
            </a:extLst>
          </p:cNvPr>
          <p:cNvSpPr>
            <a:spLocks noChangeShapeType="1"/>
          </p:cNvSpPr>
          <p:nvPr/>
        </p:nvSpPr>
        <p:spPr bwMode="auto">
          <a:xfrm>
            <a:off x="1847850" y="5749925"/>
            <a:ext cx="424815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30726" name="Text Box 6">
            <a:extLst>
              <a:ext uri="{FF2B5EF4-FFF2-40B4-BE49-F238E27FC236}">
                <a16:creationId xmlns:a16="http://schemas.microsoft.com/office/drawing/2014/main" id="{593015D1-BD38-41EB-8AB8-65D294BC2CF4}"/>
              </a:ext>
            </a:extLst>
          </p:cNvPr>
          <p:cNvSpPr txBox="1">
            <a:spLocks noChangeArrowheads="1"/>
          </p:cNvSpPr>
          <p:nvPr/>
        </p:nvSpPr>
        <p:spPr bwMode="auto">
          <a:xfrm>
            <a:off x="1631951" y="1501776"/>
            <a:ext cx="4159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b="1">
                <a:latin typeface="+mj-lt"/>
              </a:rPr>
              <a:t>$</a:t>
            </a:r>
            <a:endParaRPr lang="es-AR" altLang="es-AR" b="1">
              <a:latin typeface="+mj-lt"/>
              <a:cs typeface="Tahoma" panose="020B0604030504040204" pitchFamily="34" charset="0"/>
            </a:endParaRPr>
          </a:p>
        </p:txBody>
      </p:sp>
      <p:sp>
        <p:nvSpPr>
          <p:cNvPr id="30727" name="Text Box 7">
            <a:extLst>
              <a:ext uri="{FF2B5EF4-FFF2-40B4-BE49-F238E27FC236}">
                <a16:creationId xmlns:a16="http://schemas.microsoft.com/office/drawing/2014/main" id="{2AF37AEB-612B-40E1-8009-C19B889AA07B}"/>
              </a:ext>
            </a:extLst>
          </p:cNvPr>
          <p:cNvSpPr txBox="1">
            <a:spLocks noChangeArrowheads="1"/>
          </p:cNvSpPr>
          <p:nvPr/>
        </p:nvSpPr>
        <p:spPr bwMode="auto">
          <a:xfrm>
            <a:off x="3935414" y="5805488"/>
            <a:ext cx="50482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sz="1400" b="1" dirty="0" err="1">
                <a:latin typeface="+mj-lt"/>
              </a:rPr>
              <a:t>qo</a:t>
            </a:r>
            <a:r>
              <a:rPr lang="es-AR" altLang="es-AR" sz="1400" b="1" dirty="0">
                <a:latin typeface="+mj-lt"/>
              </a:rPr>
              <a:t>  </a:t>
            </a:r>
            <a:endParaRPr lang="es-ES" altLang="es-AR" sz="1400" b="1" dirty="0">
              <a:latin typeface="+mj-lt"/>
            </a:endParaRPr>
          </a:p>
        </p:txBody>
      </p:sp>
      <p:sp>
        <p:nvSpPr>
          <p:cNvPr id="30728" name="Line 8">
            <a:extLst>
              <a:ext uri="{FF2B5EF4-FFF2-40B4-BE49-F238E27FC236}">
                <a16:creationId xmlns:a16="http://schemas.microsoft.com/office/drawing/2014/main" id="{5E5612D7-5703-47F9-8B19-AC278DCB7B5F}"/>
              </a:ext>
            </a:extLst>
          </p:cNvPr>
          <p:cNvSpPr>
            <a:spLocks noChangeShapeType="1"/>
          </p:cNvSpPr>
          <p:nvPr/>
        </p:nvSpPr>
        <p:spPr bwMode="auto">
          <a:xfrm>
            <a:off x="2047875" y="4741863"/>
            <a:ext cx="3887788" cy="0"/>
          </a:xfrm>
          <a:prstGeom prst="line">
            <a:avLst/>
          </a:prstGeom>
          <a:noFill/>
          <a:ln w="285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30729" name="Line 9">
            <a:extLst>
              <a:ext uri="{FF2B5EF4-FFF2-40B4-BE49-F238E27FC236}">
                <a16:creationId xmlns:a16="http://schemas.microsoft.com/office/drawing/2014/main" id="{799C9617-45D0-4AEF-8DD5-D332086B7C70}"/>
              </a:ext>
            </a:extLst>
          </p:cNvPr>
          <p:cNvSpPr>
            <a:spLocks noChangeShapeType="1"/>
          </p:cNvSpPr>
          <p:nvPr/>
        </p:nvSpPr>
        <p:spPr bwMode="auto">
          <a:xfrm flipV="1">
            <a:off x="2047876" y="4310063"/>
            <a:ext cx="3903663" cy="1439862"/>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30730" name="Line 10">
            <a:extLst>
              <a:ext uri="{FF2B5EF4-FFF2-40B4-BE49-F238E27FC236}">
                <a16:creationId xmlns:a16="http://schemas.microsoft.com/office/drawing/2014/main" id="{81EDA798-7128-42E2-B716-FEC7144C9C2C}"/>
              </a:ext>
            </a:extLst>
          </p:cNvPr>
          <p:cNvSpPr>
            <a:spLocks noChangeShapeType="1"/>
          </p:cNvSpPr>
          <p:nvPr/>
        </p:nvSpPr>
        <p:spPr bwMode="auto">
          <a:xfrm flipV="1">
            <a:off x="2063750" y="2868613"/>
            <a:ext cx="3887788" cy="187325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30731" name="Text Box 11">
            <a:extLst>
              <a:ext uri="{FF2B5EF4-FFF2-40B4-BE49-F238E27FC236}">
                <a16:creationId xmlns:a16="http://schemas.microsoft.com/office/drawing/2014/main" id="{367F0E7B-C662-4856-B844-B750F6123AE6}"/>
              </a:ext>
            </a:extLst>
          </p:cNvPr>
          <p:cNvSpPr txBox="1">
            <a:spLocks noChangeArrowheads="1"/>
          </p:cNvSpPr>
          <p:nvPr/>
        </p:nvSpPr>
        <p:spPr bwMode="auto">
          <a:xfrm>
            <a:off x="6169026" y="4170363"/>
            <a:ext cx="16557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dirty="0">
                <a:solidFill>
                  <a:srgbClr val="0000FF"/>
                </a:solidFill>
                <a:latin typeface="+mj-lt"/>
              </a:rPr>
              <a:t>CVT = </a:t>
            </a:r>
            <a:r>
              <a:rPr lang="es-AR" altLang="es-AR" sz="1400" b="1" dirty="0" err="1">
                <a:solidFill>
                  <a:srgbClr val="0000FF"/>
                </a:solidFill>
                <a:latin typeface="+mj-lt"/>
              </a:rPr>
              <a:t>CVu</a:t>
            </a:r>
            <a:r>
              <a:rPr lang="es-AR" altLang="es-AR" sz="1400" b="1" dirty="0">
                <a:solidFill>
                  <a:srgbClr val="0000FF"/>
                </a:solidFill>
                <a:latin typeface="+mj-lt"/>
              </a:rPr>
              <a:t> x q</a:t>
            </a:r>
            <a:endParaRPr lang="es-AR" altLang="es-AR" sz="1400" b="1" dirty="0">
              <a:solidFill>
                <a:srgbClr val="0000FF"/>
              </a:solidFill>
              <a:latin typeface="+mj-lt"/>
              <a:cs typeface="Tahoma" panose="020B0604030504040204" pitchFamily="34" charset="0"/>
            </a:endParaRPr>
          </a:p>
        </p:txBody>
      </p:sp>
      <p:sp>
        <p:nvSpPr>
          <p:cNvPr id="30732" name="Text Box 12">
            <a:extLst>
              <a:ext uri="{FF2B5EF4-FFF2-40B4-BE49-F238E27FC236}">
                <a16:creationId xmlns:a16="http://schemas.microsoft.com/office/drawing/2014/main" id="{9EA36567-DFC4-4A9E-934A-31A6D0D30015}"/>
              </a:ext>
            </a:extLst>
          </p:cNvPr>
          <p:cNvSpPr txBox="1">
            <a:spLocks noChangeArrowheads="1"/>
          </p:cNvSpPr>
          <p:nvPr/>
        </p:nvSpPr>
        <p:spPr bwMode="auto">
          <a:xfrm>
            <a:off x="6167439" y="2746375"/>
            <a:ext cx="28082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a:solidFill>
                  <a:srgbClr val="FF0000"/>
                </a:solidFill>
                <a:latin typeface="+mj-lt"/>
              </a:rPr>
              <a:t>CT = CFT + CVu total x q</a:t>
            </a:r>
            <a:endParaRPr lang="es-AR" altLang="es-AR" sz="1400" b="1">
              <a:solidFill>
                <a:srgbClr val="FF0000"/>
              </a:solidFill>
              <a:latin typeface="+mj-lt"/>
              <a:cs typeface="Tahoma" panose="020B0604030504040204" pitchFamily="34" charset="0"/>
            </a:endParaRPr>
          </a:p>
        </p:txBody>
      </p:sp>
      <p:sp>
        <p:nvSpPr>
          <p:cNvPr id="30733" name="Rectangle 13">
            <a:extLst>
              <a:ext uri="{FF2B5EF4-FFF2-40B4-BE49-F238E27FC236}">
                <a16:creationId xmlns:a16="http://schemas.microsoft.com/office/drawing/2014/main" id="{32A42164-99A3-4D75-A473-5326F71CE517}"/>
              </a:ext>
            </a:extLst>
          </p:cNvPr>
          <p:cNvSpPr>
            <a:spLocks noChangeArrowheads="1"/>
          </p:cNvSpPr>
          <p:nvPr/>
        </p:nvSpPr>
        <p:spPr bwMode="auto">
          <a:xfrm>
            <a:off x="1143000" y="1181101"/>
            <a:ext cx="9632950"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sz="2000" b="1" dirty="0">
                <a:latin typeface="+mj-lt"/>
              </a:rPr>
              <a:t>Representación gráfica del punto de equilibrio económico y financiero:</a:t>
            </a:r>
            <a:endParaRPr lang="es-ES" altLang="es-AR" sz="2000" b="1" dirty="0">
              <a:latin typeface="+mj-lt"/>
            </a:endParaRPr>
          </a:p>
        </p:txBody>
      </p:sp>
      <p:sp>
        <p:nvSpPr>
          <p:cNvPr id="30734" name="Line 14">
            <a:extLst>
              <a:ext uri="{FF2B5EF4-FFF2-40B4-BE49-F238E27FC236}">
                <a16:creationId xmlns:a16="http://schemas.microsoft.com/office/drawing/2014/main" id="{D79F2F50-262F-4829-9146-594705FBE002}"/>
              </a:ext>
            </a:extLst>
          </p:cNvPr>
          <p:cNvSpPr>
            <a:spLocks noChangeShapeType="1"/>
          </p:cNvSpPr>
          <p:nvPr/>
        </p:nvSpPr>
        <p:spPr bwMode="auto">
          <a:xfrm flipV="1">
            <a:off x="2063750" y="2005013"/>
            <a:ext cx="3887788" cy="3744912"/>
          </a:xfrm>
          <a:prstGeom prst="line">
            <a:avLst/>
          </a:prstGeom>
          <a:noFill/>
          <a:ln w="28575">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30735" name="Line 15">
            <a:extLst>
              <a:ext uri="{FF2B5EF4-FFF2-40B4-BE49-F238E27FC236}">
                <a16:creationId xmlns:a16="http://schemas.microsoft.com/office/drawing/2014/main" id="{9A2C120C-D580-4AA8-855A-AE37B042DF12}"/>
              </a:ext>
            </a:extLst>
          </p:cNvPr>
          <p:cNvSpPr>
            <a:spLocks noChangeShapeType="1"/>
          </p:cNvSpPr>
          <p:nvPr/>
        </p:nvSpPr>
        <p:spPr bwMode="auto">
          <a:xfrm>
            <a:off x="5951537" y="2005015"/>
            <a:ext cx="8815" cy="374491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30736" name="Line 16">
            <a:extLst>
              <a:ext uri="{FF2B5EF4-FFF2-40B4-BE49-F238E27FC236}">
                <a16:creationId xmlns:a16="http://schemas.microsoft.com/office/drawing/2014/main" id="{04896283-AB07-4FD8-B203-CB75E6529797}"/>
              </a:ext>
            </a:extLst>
          </p:cNvPr>
          <p:cNvSpPr>
            <a:spLocks noChangeShapeType="1"/>
          </p:cNvSpPr>
          <p:nvPr/>
        </p:nvSpPr>
        <p:spPr bwMode="auto">
          <a:xfrm flipH="1">
            <a:off x="2063750" y="2005013"/>
            <a:ext cx="3887788"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30737" name="AutoShape 17">
            <a:extLst>
              <a:ext uri="{FF2B5EF4-FFF2-40B4-BE49-F238E27FC236}">
                <a16:creationId xmlns:a16="http://schemas.microsoft.com/office/drawing/2014/main" id="{F91AFAF1-0BB9-4161-A2F5-FBF7B57CEB8A}"/>
              </a:ext>
            </a:extLst>
          </p:cNvPr>
          <p:cNvSpPr>
            <a:spLocks noChangeArrowheads="1"/>
          </p:cNvSpPr>
          <p:nvPr/>
        </p:nvSpPr>
        <p:spPr bwMode="auto">
          <a:xfrm>
            <a:off x="4094164" y="3644901"/>
            <a:ext cx="142875" cy="144463"/>
          </a:xfrm>
          <a:prstGeom prst="flowChartConnector">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p>
        </p:txBody>
      </p:sp>
      <p:sp>
        <p:nvSpPr>
          <p:cNvPr id="30738" name="Line 18">
            <a:extLst>
              <a:ext uri="{FF2B5EF4-FFF2-40B4-BE49-F238E27FC236}">
                <a16:creationId xmlns:a16="http://schemas.microsoft.com/office/drawing/2014/main" id="{902A5853-4F65-480D-9212-8E9987ADA74A}"/>
              </a:ext>
            </a:extLst>
          </p:cNvPr>
          <p:cNvSpPr>
            <a:spLocks noChangeShapeType="1"/>
          </p:cNvSpPr>
          <p:nvPr/>
        </p:nvSpPr>
        <p:spPr bwMode="auto">
          <a:xfrm>
            <a:off x="4151314" y="3723483"/>
            <a:ext cx="14287" cy="2026441"/>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30739" name="Line 19">
            <a:extLst>
              <a:ext uri="{FF2B5EF4-FFF2-40B4-BE49-F238E27FC236}">
                <a16:creationId xmlns:a16="http://schemas.microsoft.com/office/drawing/2014/main" id="{74B7EC9D-A41F-4A41-8553-A36B4E144EC5}"/>
              </a:ext>
            </a:extLst>
          </p:cNvPr>
          <p:cNvSpPr>
            <a:spLocks noChangeShapeType="1"/>
          </p:cNvSpPr>
          <p:nvPr/>
        </p:nvSpPr>
        <p:spPr bwMode="auto">
          <a:xfrm flipH="1">
            <a:off x="2063751" y="3733800"/>
            <a:ext cx="2087563"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30741" name="Text Box 21">
            <a:extLst>
              <a:ext uri="{FF2B5EF4-FFF2-40B4-BE49-F238E27FC236}">
                <a16:creationId xmlns:a16="http://schemas.microsoft.com/office/drawing/2014/main" id="{22C0D2A3-05A1-4EEB-9862-5EEE7F606C5B}"/>
              </a:ext>
            </a:extLst>
          </p:cNvPr>
          <p:cNvSpPr txBox="1">
            <a:spLocks noChangeArrowheads="1"/>
          </p:cNvSpPr>
          <p:nvPr/>
        </p:nvSpPr>
        <p:spPr bwMode="auto">
          <a:xfrm>
            <a:off x="6169026" y="1827213"/>
            <a:ext cx="26638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dirty="0">
                <a:solidFill>
                  <a:srgbClr val="990000"/>
                </a:solidFill>
                <a:latin typeface="+mj-lt"/>
              </a:rPr>
              <a:t>INGRESO TOTAL = </a:t>
            </a:r>
            <a:r>
              <a:rPr lang="es-AR" altLang="es-AR" sz="1400" b="1" dirty="0" err="1">
                <a:solidFill>
                  <a:srgbClr val="990000"/>
                </a:solidFill>
                <a:latin typeface="+mj-lt"/>
              </a:rPr>
              <a:t>PVu</a:t>
            </a:r>
            <a:r>
              <a:rPr lang="es-AR" altLang="es-AR" sz="1400" b="1" dirty="0">
                <a:solidFill>
                  <a:srgbClr val="990000"/>
                </a:solidFill>
                <a:latin typeface="+mj-lt"/>
              </a:rPr>
              <a:t> x q</a:t>
            </a:r>
            <a:endParaRPr lang="es-AR" altLang="es-AR" sz="1400" b="1" dirty="0">
              <a:solidFill>
                <a:srgbClr val="990000"/>
              </a:solidFill>
              <a:latin typeface="+mj-lt"/>
              <a:cs typeface="Tahoma" panose="020B0604030504040204" pitchFamily="34" charset="0"/>
            </a:endParaRPr>
          </a:p>
        </p:txBody>
      </p:sp>
      <p:sp>
        <p:nvSpPr>
          <p:cNvPr id="30743" name="Rectangle 23">
            <a:extLst>
              <a:ext uri="{FF2B5EF4-FFF2-40B4-BE49-F238E27FC236}">
                <a16:creationId xmlns:a16="http://schemas.microsoft.com/office/drawing/2014/main" id="{FFF19B09-39BB-4D58-A26B-9F40084B18FF}"/>
              </a:ext>
            </a:extLst>
          </p:cNvPr>
          <p:cNvSpPr>
            <a:spLocks noChangeArrowheads="1"/>
          </p:cNvSpPr>
          <p:nvPr/>
        </p:nvSpPr>
        <p:spPr bwMode="auto">
          <a:xfrm>
            <a:off x="1631951" y="5821363"/>
            <a:ext cx="28565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s-AR" altLang="es-AR" sz="1400" b="1" dirty="0">
                <a:latin typeface="+mj-lt"/>
              </a:rPr>
              <a:t>0</a:t>
            </a:r>
            <a:endParaRPr lang="es-ES" altLang="es-AR" sz="1400" b="1" dirty="0">
              <a:latin typeface="+mj-lt"/>
            </a:endParaRPr>
          </a:p>
        </p:txBody>
      </p:sp>
      <p:sp>
        <p:nvSpPr>
          <p:cNvPr id="30744" name="Rectangle 24">
            <a:extLst>
              <a:ext uri="{FF2B5EF4-FFF2-40B4-BE49-F238E27FC236}">
                <a16:creationId xmlns:a16="http://schemas.microsoft.com/office/drawing/2014/main" id="{07F9FE63-5C20-43B3-B7B4-4EC375213605}"/>
              </a:ext>
            </a:extLst>
          </p:cNvPr>
          <p:cNvSpPr>
            <a:spLocks noChangeArrowheads="1"/>
          </p:cNvSpPr>
          <p:nvPr/>
        </p:nvSpPr>
        <p:spPr bwMode="auto">
          <a:xfrm>
            <a:off x="5734050" y="5821363"/>
            <a:ext cx="4333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s-AR" altLang="es-AR" sz="1600" b="1">
                <a:latin typeface="+mj-lt"/>
              </a:rPr>
              <a:t>q</a:t>
            </a:r>
            <a:endParaRPr lang="es-ES" altLang="es-AR" sz="1600" b="1">
              <a:latin typeface="+mj-lt"/>
            </a:endParaRPr>
          </a:p>
        </p:txBody>
      </p:sp>
      <p:sp>
        <p:nvSpPr>
          <p:cNvPr id="30745" name="Line 25">
            <a:extLst>
              <a:ext uri="{FF2B5EF4-FFF2-40B4-BE49-F238E27FC236}">
                <a16:creationId xmlns:a16="http://schemas.microsoft.com/office/drawing/2014/main" id="{C165F5E6-9BC3-4C01-99F3-44D93F165655}"/>
              </a:ext>
            </a:extLst>
          </p:cNvPr>
          <p:cNvSpPr>
            <a:spLocks noChangeShapeType="1"/>
          </p:cNvSpPr>
          <p:nvPr/>
        </p:nvSpPr>
        <p:spPr bwMode="auto">
          <a:xfrm>
            <a:off x="2063750" y="5029200"/>
            <a:ext cx="3887788" cy="0"/>
          </a:xfrm>
          <a:prstGeom prst="line">
            <a:avLst/>
          </a:prstGeom>
          <a:noFill/>
          <a:ln w="28575">
            <a:solidFill>
              <a:schemeClr va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30747" name="Line 27">
            <a:extLst>
              <a:ext uri="{FF2B5EF4-FFF2-40B4-BE49-F238E27FC236}">
                <a16:creationId xmlns:a16="http://schemas.microsoft.com/office/drawing/2014/main" id="{BDE98B74-2927-463B-895B-CB69BF185684}"/>
              </a:ext>
            </a:extLst>
          </p:cNvPr>
          <p:cNvSpPr>
            <a:spLocks noChangeShapeType="1"/>
          </p:cNvSpPr>
          <p:nvPr/>
        </p:nvSpPr>
        <p:spPr bwMode="auto">
          <a:xfrm flipV="1">
            <a:off x="2063751" y="3444876"/>
            <a:ext cx="3960813" cy="1584325"/>
          </a:xfrm>
          <a:prstGeom prst="line">
            <a:avLst/>
          </a:prstGeom>
          <a:noFill/>
          <a:ln w="28575">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30748" name="Text Box 28">
            <a:extLst>
              <a:ext uri="{FF2B5EF4-FFF2-40B4-BE49-F238E27FC236}">
                <a16:creationId xmlns:a16="http://schemas.microsoft.com/office/drawing/2014/main" id="{B664C195-B4B2-45DC-8466-D39354A6FA50}"/>
              </a:ext>
            </a:extLst>
          </p:cNvPr>
          <p:cNvSpPr txBox="1">
            <a:spLocks noChangeArrowheads="1"/>
          </p:cNvSpPr>
          <p:nvPr/>
        </p:nvSpPr>
        <p:spPr bwMode="auto">
          <a:xfrm>
            <a:off x="6169026" y="3322639"/>
            <a:ext cx="4606925" cy="314325"/>
          </a:xfrm>
          <a:prstGeom prst="rect">
            <a:avLst/>
          </a:prstGeom>
          <a:noFill/>
          <a:ln w="9525">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lang="es-AR" altLang="es-AR" sz="1400" b="1" dirty="0">
                <a:solidFill>
                  <a:srgbClr val="FF0000"/>
                </a:solidFill>
                <a:effectLst>
                  <a:outerShdw blurRad="38100" dist="38100" dir="2700000" algn="tl">
                    <a:srgbClr val="C0C0C0"/>
                  </a:outerShdw>
                </a:effectLst>
                <a:latin typeface="+mj-lt"/>
                <a:cs typeface="Arial" charset="0"/>
              </a:rPr>
              <a:t>CT </a:t>
            </a:r>
            <a:r>
              <a:rPr lang="es-AR" altLang="es-AR" sz="1400" b="1" dirty="0" err="1">
                <a:solidFill>
                  <a:srgbClr val="FF0000"/>
                </a:solidFill>
                <a:effectLst>
                  <a:outerShdw blurRad="38100" dist="38100" dir="2700000" algn="tl">
                    <a:srgbClr val="C0C0C0"/>
                  </a:outerShdw>
                </a:effectLst>
                <a:latin typeface="+mj-lt"/>
                <a:cs typeface="Arial" charset="0"/>
              </a:rPr>
              <a:t>erogable</a:t>
            </a:r>
            <a:r>
              <a:rPr lang="es-AR" altLang="es-AR" sz="1400" b="1" dirty="0">
                <a:solidFill>
                  <a:srgbClr val="FF0000"/>
                </a:solidFill>
                <a:effectLst>
                  <a:outerShdw blurRad="38100" dist="38100" dir="2700000" algn="tl">
                    <a:srgbClr val="C0C0C0"/>
                  </a:outerShdw>
                </a:effectLst>
                <a:latin typeface="+mj-lt"/>
                <a:cs typeface="Arial" charset="0"/>
              </a:rPr>
              <a:t> = CFT </a:t>
            </a:r>
            <a:r>
              <a:rPr lang="es-AR" altLang="es-AR" sz="1400" b="1" dirty="0" err="1">
                <a:solidFill>
                  <a:srgbClr val="FF0000"/>
                </a:solidFill>
                <a:effectLst>
                  <a:outerShdw blurRad="38100" dist="38100" dir="2700000" algn="tl">
                    <a:srgbClr val="C0C0C0"/>
                  </a:outerShdw>
                </a:effectLst>
                <a:latin typeface="+mj-lt"/>
                <a:cs typeface="Arial" charset="0"/>
              </a:rPr>
              <a:t>erogable</a:t>
            </a:r>
            <a:r>
              <a:rPr lang="es-AR" altLang="es-AR" sz="1400" b="1" dirty="0">
                <a:solidFill>
                  <a:srgbClr val="FF0000"/>
                </a:solidFill>
                <a:effectLst>
                  <a:outerShdw blurRad="38100" dist="38100" dir="2700000" algn="tl">
                    <a:srgbClr val="C0C0C0"/>
                  </a:outerShdw>
                </a:effectLst>
                <a:latin typeface="+mj-lt"/>
                <a:cs typeface="Arial" charset="0"/>
              </a:rPr>
              <a:t> + </a:t>
            </a:r>
            <a:r>
              <a:rPr lang="es-AR" altLang="es-AR" sz="1400" b="1" dirty="0" err="1">
                <a:solidFill>
                  <a:srgbClr val="FF0000"/>
                </a:solidFill>
                <a:effectLst>
                  <a:outerShdw blurRad="38100" dist="38100" dir="2700000" algn="tl">
                    <a:srgbClr val="C0C0C0"/>
                  </a:outerShdw>
                </a:effectLst>
                <a:latin typeface="+mj-lt"/>
                <a:cs typeface="Arial" charset="0"/>
              </a:rPr>
              <a:t>CVTu</a:t>
            </a:r>
            <a:r>
              <a:rPr lang="es-AR" altLang="es-AR" sz="1400" b="1" dirty="0">
                <a:solidFill>
                  <a:srgbClr val="FF0000"/>
                </a:solidFill>
                <a:effectLst>
                  <a:outerShdw blurRad="38100" dist="38100" dir="2700000" algn="tl">
                    <a:srgbClr val="C0C0C0"/>
                  </a:outerShdw>
                </a:effectLst>
                <a:latin typeface="+mj-lt"/>
                <a:cs typeface="Arial" charset="0"/>
              </a:rPr>
              <a:t> x q</a:t>
            </a:r>
            <a:endParaRPr lang="es-AR" altLang="es-AR" sz="1400" b="1" dirty="0">
              <a:solidFill>
                <a:srgbClr val="FF0000"/>
              </a:solidFill>
              <a:effectLst>
                <a:outerShdw blurRad="38100" dist="38100" dir="2700000" algn="tl">
                  <a:srgbClr val="C0C0C0"/>
                </a:outerShdw>
              </a:effectLst>
              <a:latin typeface="+mj-lt"/>
              <a:cs typeface="Tahoma" pitchFamily="34" charset="0"/>
            </a:endParaRPr>
          </a:p>
        </p:txBody>
      </p:sp>
      <p:sp>
        <p:nvSpPr>
          <p:cNvPr id="30749" name="Line 29">
            <a:extLst>
              <a:ext uri="{FF2B5EF4-FFF2-40B4-BE49-F238E27FC236}">
                <a16:creationId xmlns:a16="http://schemas.microsoft.com/office/drawing/2014/main" id="{9235EA79-906B-4BFA-B3CA-CEA0C91904A9}"/>
              </a:ext>
            </a:extLst>
          </p:cNvPr>
          <p:cNvSpPr>
            <a:spLocks noChangeShapeType="1"/>
          </p:cNvSpPr>
          <p:nvPr/>
        </p:nvSpPr>
        <p:spPr bwMode="auto">
          <a:xfrm>
            <a:off x="3356390" y="4466433"/>
            <a:ext cx="8745" cy="1293810"/>
          </a:xfrm>
          <a:prstGeom prst="line">
            <a:avLst/>
          </a:prstGeom>
          <a:noFill/>
          <a:ln w="381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30750" name="Line 30">
            <a:extLst>
              <a:ext uri="{FF2B5EF4-FFF2-40B4-BE49-F238E27FC236}">
                <a16:creationId xmlns:a16="http://schemas.microsoft.com/office/drawing/2014/main" id="{FFF4A8F8-0CAE-4AE0-8D5C-B9F39C177270}"/>
              </a:ext>
            </a:extLst>
          </p:cNvPr>
          <p:cNvSpPr>
            <a:spLocks noChangeShapeType="1"/>
          </p:cNvSpPr>
          <p:nvPr/>
        </p:nvSpPr>
        <p:spPr bwMode="auto">
          <a:xfrm flipH="1">
            <a:off x="2063751" y="4508500"/>
            <a:ext cx="1223963" cy="0"/>
          </a:xfrm>
          <a:prstGeom prst="line">
            <a:avLst/>
          </a:prstGeom>
          <a:noFill/>
          <a:ln w="381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30751" name="AutoShape 31">
            <a:extLst>
              <a:ext uri="{FF2B5EF4-FFF2-40B4-BE49-F238E27FC236}">
                <a16:creationId xmlns:a16="http://schemas.microsoft.com/office/drawing/2014/main" id="{A70BE992-1E52-4DAA-976E-08818C14480E}"/>
              </a:ext>
            </a:extLst>
          </p:cNvPr>
          <p:cNvSpPr>
            <a:spLocks noChangeArrowheads="1"/>
          </p:cNvSpPr>
          <p:nvPr/>
        </p:nvSpPr>
        <p:spPr bwMode="auto">
          <a:xfrm>
            <a:off x="3289301" y="4424363"/>
            <a:ext cx="142875" cy="144462"/>
          </a:xfrm>
          <a:prstGeom prst="flowChartConnector">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p>
        </p:txBody>
      </p:sp>
      <p:sp>
        <p:nvSpPr>
          <p:cNvPr id="30753" name="Text Box 33">
            <a:extLst>
              <a:ext uri="{FF2B5EF4-FFF2-40B4-BE49-F238E27FC236}">
                <a16:creationId xmlns:a16="http://schemas.microsoft.com/office/drawing/2014/main" id="{3501E77C-26E6-4E3E-9015-CB76D32D21BC}"/>
              </a:ext>
            </a:extLst>
          </p:cNvPr>
          <p:cNvSpPr txBox="1">
            <a:spLocks noChangeArrowheads="1"/>
          </p:cNvSpPr>
          <p:nvPr/>
        </p:nvSpPr>
        <p:spPr bwMode="auto">
          <a:xfrm>
            <a:off x="2881313" y="5389563"/>
            <a:ext cx="5905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a:solidFill>
                  <a:schemeClr val="accent2"/>
                </a:solidFill>
                <a:latin typeface="+mj-lt"/>
              </a:rPr>
              <a:t>CVu</a:t>
            </a:r>
            <a:endParaRPr lang="es-AR" altLang="es-AR" sz="1400" b="1">
              <a:solidFill>
                <a:schemeClr val="accent2"/>
              </a:solidFill>
              <a:latin typeface="+mj-lt"/>
              <a:cs typeface="Tahoma" panose="020B0604030504040204" pitchFamily="34" charset="0"/>
            </a:endParaRPr>
          </a:p>
        </p:txBody>
      </p:sp>
      <p:sp>
        <p:nvSpPr>
          <p:cNvPr id="30754" name="Arc 34">
            <a:extLst>
              <a:ext uri="{FF2B5EF4-FFF2-40B4-BE49-F238E27FC236}">
                <a16:creationId xmlns:a16="http://schemas.microsoft.com/office/drawing/2014/main" id="{053E61EB-CFF2-4A54-ACF5-74B3FF6D7984}"/>
              </a:ext>
            </a:extLst>
          </p:cNvPr>
          <p:cNvSpPr>
            <a:spLocks/>
          </p:cNvSpPr>
          <p:nvPr/>
        </p:nvSpPr>
        <p:spPr bwMode="auto">
          <a:xfrm rot="1570085">
            <a:off x="2651126" y="5453064"/>
            <a:ext cx="333375" cy="427037"/>
          </a:xfrm>
          <a:custGeom>
            <a:avLst/>
            <a:gdLst>
              <a:gd name="T0" fmla="*/ 1625991 w 19146"/>
              <a:gd name="T1" fmla="*/ 0 h 20924"/>
              <a:gd name="T2" fmla="*/ 5804810 w 19146"/>
              <a:gd name="T3" fmla="*/ 4550116 h 20924"/>
              <a:gd name="T4" fmla="*/ 0 w 19146"/>
              <a:gd name="T5" fmla="*/ 8715379 h 20924"/>
              <a:gd name="T6" fmla="*/ 0 60000 65536"/>
              <a:gd name="T7" fmla="*/ 0 60000 65536"/>
              <a:gd name="T8" fmla="*/ 0 60000 65536"/>
            </a:gdLst>
            <a:ahLst/>
            <a:cxnLst>
              <a:cxn ang="T6">
                <a:pos x="T0" y="T1"/>
              </a:cxn>
              <a:cxn ang="T7">
                <a:pos x="T2" y="T3"/>
              </a:cxn>
              <a:cxn ang="T8">
                <a:pos x="T4" y="T5"/>
              </a:cxn>
            </a:cxnLst>
            <a:rect l="0" t="0" r="r" b="b"/>
            <a:pathLst>
              <a:path w="19146" h="20924" fill="none" extrusionOk="0">
                <a:moveTo>
                  <a:pt x="5362" y="0"/>
                </a:moveTo>
                <a:cubicBezTo>
                  <a:pt x="11298" y="1521"/>
                  <a:pt x="16308" y="5492"/>
                  <a:pt x="19145" y="10924"/>
                </a:cubicBezTo>
              </a:path>
              <a:path w="19146" h="20924" stroke="0" extrusionOk="0">
                <a:moveTo>
                  <a:pt x="5362" y="0"/>
                </a:moveTo>
                <a:cubicBezTo>
                  <a:pt x="11298" y="1521"/>
                  <a:pt x="16308" y="5492"/>
                  <a:pt x="19145" y="10924"/>
                </a:cubicBezTo>
                <a:lnTo>
                  <a:pt x="0" y="20924"/>
                </a:lnTo>
                <a:lnTo>
                  <a:pt x="5362" y="0"/>
                </a:lnTo>
                <a:close/>
              </a:path>
            </a:pathLst>
          </a:custGeom>
          <a:noFill/>
          <a:ln w="9525">
            <a:solidFill>
              <a:srgbClr val="0000FF"/>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30755" name="Arc 35">
            <a:extLst>
              <a:ext uri="{FF2B5EF4-FFF2-40B4-BE49-F238E27FC236}">
                <a16:creationId xmlns:a16="http://schemas.microsoft.com/office/drawing/2014/main" id="{060DE4BB-0BB7-41AB-8B2E-4D528F077A6B}"/>
              </a:ext>
            </a:extLst>
          </p:cNvPr>
          <p:cNvSpPr>
            <a:spLocks/>
          </p:cNvSpPr>
          <p:nvPr/>
        </p:nvSpPr>
        <p:spPr bwMode="auto">
          <a:xfrm>
            <a:off x="2351089" y="5275263"/>
            <a:ext cx="358775" cy="455612"/>
          </a:xfrm>
          <a:custGeom>
            <a:avLst/>
            <a:gdLst>
              <a:gd name="T0" fmla="*/ 3412498 w 21600"/>
              <a:gd name="T1" fmla="*/ 0 h 35923"/>
              <a:gd name="T2" fmla="*/ 3202814 w 21600"/>
              <a:gd name="T3" fmla="*/ 5778534 h 35923"/>
              <a:gd name="T4" fmla="*/ 0 w 21600"/>
              <a:gd name="T5" fmla="*/ 2848491 h 35923"/>
              <a:gd name="T6" fmla="*/ 0 60000 65536"/>
              <a:gd name="T7" fmla="*/ 0 60000 65536"/>
              <a:gd name="T8" fmla="*/ 0 60000 65536"/>
            </a:gdLst>
            <a:ahLst/>
            <a:cxnLst>
              <a:cxn ang="T6">
                <a:pos x="T0" y="T1"/>
              </a:cxn>
              <a:cxn ang="T7">
                <a:pos x="T2" y="T3"/>
              </a:cxn>
              <a:cxn ang="T8">
                <a:pos x="T4" y="T5"/>
              </a:cxn>
            </a:cxnLst>
            <a:rect l="0" t="0" r="r" b="b"/>
            <a:pathLst>
              <a:path w="21600" h="35923" fill="none" extrusionOk="0">
                <a:moveTo>
                  <a:pt x="12368" y="0"/>
                </a:moveTo>
                <a:cubicBezTo>
                  <a:pt x="18153" y="4040"/>
                  <a:pt x="21600" y="10651"/>
                  <a:pt x="21600" y="17708"/>
                </a:cubicBezTo>
                <a:cubicBezTo>
                  <a:pt x="21600" y="25087"/>
                  <a:pt x="17832" y="31956"/>
                  <a:pt x="11609" y="35923"/>
                </a:cubicBezTo>
              </a:path>
              <a:path w="21600" h="35923" stroke="0" extrusionOk="0">
                <a:moveTo>
                  <a:pt x="12368" y="0"/>
                </a:moveTo>
                <a:cubicBezTo>
                  <a:pt x="18153" y="4040"/>
                  <a:pt x="21600" y="10651"/>
                  <a:pt x="21600" y="17708"/>
                </a:cubicBezTo>
                <a:cubicBezTo>
                  <a:pt x="21600" y="25087"/>
                  <a:pt x="17832" y="31956"/>
                  <a:pt x="11609" y="35923"/>
                </a:cubicBezTo>
                <a:lnTo>
                  <a:pt x="0" y="17708"/>
                </a:lnTo>
                <a:lnTo>
                  <a:pt x="12368" y="0"/>
                </a:lnTo>
                <a:close/>
              </a:path>
            </a:pathLst>
          </a:custGeom>
          <a:noFill/>
          <a:ln w="9525">
            <a:solidFill>
              <a:srgbClr val="990000"/>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30756" name="Text Box 36">
            <a:extLst>
              <a:ext uri="{FF2B5EF4-FFF2-40B4-BE49-F238E27FC236}">
                <a16:creationId xmlns:a16="http://schemas.microsoft.com/office/drawing/2014/main" id="{E593B8DE-5EAD-411B-81B3-FE7BD6342F2B}"/>
              </a:ext>
            </a:extLst>
          </p:cNvPr>
          <p:cNvSpPr txBox="1">
            <a:spLocks noChangeArrowheads="1"/>
          </p:cNvSpPr>
          <p:nvPr/>
        </p:nvSpPr>
        <p:spPr bwMode="auto">
          <a:xfrm>
            <a:off x="2582863" y="5113338"/>
            <a:ext cx="6334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a:solidFill>
                  <a:srgbClr val="990000"/>
                </a:solidFill>
                <a:latin typeface="+mj-lt"/>
              </a:rPr>
              <a:t>PVu</a:t>
            </a:r>
            <a:endParaRPr lang="es-AR" altLang="es-AR" sz="1400" b="1">
              <a:solidFill>
                <a:srgbClr val="990000"/>
              </a:solidFill>
              <a:latin typeface="+mj-lt"/>
              <a:cs typeface="Tahoma" panose="020B0604030504040204" pitchFamily="34" charset="0"/>
            </a:endParaRPr>
          </a:p>
        </p:txBody>
      </p:sp>
      <p:sp>
        <p:nvSpPr>
          <p:cNvPr id="30757" name="Text Box 37">
            <a:extLst>
              <a:ext uri="{FF2B5EF4-FFF2-40B4-BE49-F238E27FC236}">
                <a16:creationId xmlns:a16="http://schemas.microsoft.com/office/drawing/2014/main" id="{219C1B9E-6C52-4D8E-9AF9-82E3D6248BAF}"/>
              </a:ext>
            </a:extLst>
          </p:cNvPr>
          <p:cNvSpPr txBox="1">
            <a:spLocks noChangeArrowheads="1"/>
          </p:cNvSpPr>
          <p:nvPr/>
        </p:nvSpPr>
        <p:spPr bwMode="auto">
          <a:xfrm>
            <a:off x="3216274" y="5805488"/>
            <a:ext cx="57014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1" hangingPunct="1">
              <a:spcBef>
                <a:spcPct val="50000"/>
              </a:spcBef>
              <a:defRPr/>
            </a:pPr>
            <a:r>
              <a:rPr lang="es-AR" altLang="es-AR" sz="1400" b="1" dirty="0">
                <a:effectLst>
                  <a:outerShdw blurRad="38100" dist="38100" dir="2700000" algn="tl">
                    <a:srgbClr val="C0C0C0"/>
                  </a:outerShdw>
                </a:effectLst>
                <a:latin typeface="+mj-lt"/>
                <a:cs typeface="Arial" charset="0"/>
              </a:rPr>
              <a:t>qof  </a:t>
            </a:r>
            <a:endParaRPr lang="es-ES" altLang="es-AR" sz="1400" b="1" dirty="0">
              <a:effectLst>
                <a:outerShdw blurRad="38100" dist="38100" dir="2700000" algn="tl">
                  <a:srgbClr val="C0C0C0"/>
                </a:outerShdw>
              </a:effectLst>
              <a:latin typeface="+mj-lt"/>
              <a:cs typeface="Arial" charset="0"/>
            </a:endParaRPr>
          </a:p>
        </p:txBody>
      </p:sp>
      <p:sp>
        <p:nvSpPr>
          <p:cNvPr id="30758" name="Text Box 38">
            <a:extLst>
              <a:ext uri="{FF2B5EF4-FFF2-40B4-BE49-F238E27FC236}">
                <a16:creationId xmlns:a16="http://schemas.microsoft.com/office/drawing/2014/main" id="{626A947E-E7C7-40D5-97B7-1784ABECF2B4}"/>
              </a:ext>
            </a:extLst>
          </p:cNvPr>
          <p:cNvSpPr txBox="1">
            <a:spLocks noChangeArrowheads="1"/>
          </p:cNvSpPr>
          <p:nvPr/>
        </p:nvSpPr>
        <p:spPr bwMode="auto">
          <a:xfrm>
            <a:off x="1387476" y="185738"/>
            <a:ext cx="857948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defRPr/>
            </a:pPr>
            <a:r>
              <a:rPr lang="es-MX" altLang="es-AR" sz="3600" b="1" dirty="0">
                <a:solidFill>
                  <a:schemeClr val="tx1">
                    <a:lumMod val="75000"/>
                    <a:lumOff val="25000"/>
                  </a:schemeClr>
                </a:solidFill>
                <a:latin typeface="+mj-lt"/>
                <a:cs typeface="Arial" charset="0"/>
              </a:rPr>
              <a:t>PUNTO DE EQUILIBRIO FINANCIERO</a:t>
            </a:r>
          </a:p>
        </p:txBody>
      </p:sp>
      <p:sp>
        <p:nvSpPr>
          <p:cNvPr id="30761" name="Arc 41">
            <a:extLst>
              <a:ext uri="{FF2B5EF4-FFF2-40B4-BE49-F238E27FC236}">
                <a16:creationId xmlns:a16="http://schemas.microsoft.com/office/drawing/2014/main" id="{47C6DDA4-19D7-4B1F-A076-04B6B3063DF7}"/>
              </a:ext>
            </a:extLst>
          </p:cNvPr>
          <p:cNvSpPr>
            <a:spLocks/>
          </p:cNvSpPr>
          <p:nvPr/>
        </p:nvSpPr>
        <p:spPr bwMode="auto">
          <a:xfrm rot="16799932">
            <a:off x="4891088" y="3051176"/>
            <a:ext cx="358775" cy="254000"/>
          </a:xfrm>
          <a:custGeom>
            <a:avLst/>
            <a:gdLst>
              <a:gd name="T0" fmla="*/ 5940201 w 21600"/>
              <a:gd name="T1" fmla="*/ 0 h 19945"/>
              <a:gd name="T2" fmla="*/ 3202814 w 21600"/>
              <a:gd name="T3" fmla="*/ 3234695 h 19945"/>
              <a:gd name="T4" fmla="*/ 0 w 21600"/>
              <a:gd name="T5" fmla="*/ 280578 h 19945"/>
              <a:gd name="T6" fmla="*/ 0 60000 65536"/>
              <a:gd name="T7" fmla="*/ 0 60000 65536"/>
              <a:gd name="T8" fmla="*/ 0 60000 65536"/>
            </a:gdLst>
            <a:ahLst/>
            <a:cxnLst>
              <a:cxn ang="T6">
                <a:pos x="T0" y="T1"/>
              </a:cxn>
              <a:cxn ang="T7">
                <a:pos x="T2" y="T3"/>
              </a:cxn>
              <a:cxn ang="T8">
                <a:pos x="T4" y="T5"/>
              </a:cxn>
            </a:cxnLst>
            <a:rect l="0" t="0" r="r" b="b"/>
            <a:pathLst>
              <a:path w="21600" h="19945" fill="none" extrusionOk="0">
                <a:moveTo>
                  <a:pt x="21530" y="0"/>
                </a:moveTo>
                <a:cubicBezTo>
                  <a:pt x="21576" y="575"/>
                  <a:pt x="21600" y="1152"/>
                  <a:pt x="21600" y="1730"/>
                </a:cubicBezTo>
                <a:cubicBezTo>
                  <a:pt x="21600" y="9109"/>
                  <a:pt x="17832" y="15978"/>
                  <a:pt x="11609" y="19945"/>
                </a:cubicBezTo>
              </a:path>
              <a:path w="21600" h="19945" stroke="0" extrusionOk="0">
                <a:moveTo>
                  <a:pt x="21530" y="0"/>
                </a:moveTo>
                <a:cubicBezTo>
                  <a:pt x="21576" y="575"/>
                  <a:pt x="21600" y="1152"/>
                  <a:pt x="21600" y="1730"/>
                </a:cubicBezTo>
                <a:cubicBezTo>
                  <a:pt x="21600" y="9109"/>
                  <a:pt x="17832" y="15978"/>
                  <a:pt x="11609" y="19945"/>
                </a:cubicBezTo>
                <a:lnTo>
                  <a:pt x="0" y="1730"/>
                </a:lnTo>
                <a:lnTo>
                  <a:pt x="21530" y="0"/>
                </a:lnTo>
                <a:close/>
              </a:path>
            </a:pathLst>
          </a:custGeom>
          <a:noFill/>
          <a:ln w="9525">
            <a:solidFill>
              <a:schemeClr val="tx1"/>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30762" name="Text Box 42">
            <a:extLst>
              <a:ext uri="{FF2B5EF4-FFF2-40B4-BE49-F238E27FC236}">
                <a16:creationId xmlns:a16="http://schemas.microsoft.com/office/drawing/2014/main" id="{2992E6A4-D3C7-4E5E-BB14-1E389C00D4E1}"/>
              </a:ext>
            </a:extLst>
          </p:cNvPr>
          <p:cNvSpPr txBox="1">
            <a:spLocks noChangeArrowheads="1"/>
          </p:cNvSpPr>
          <p:nvPr/>
        </p:nvSpPr>
        <p:spPr bwMode="auto">
          <a:xfrm>
            <a:off x="5087939" y="2711450"/>
            <a:ext cx="82073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a:latin typeface="Tahoma" panose="020B0604030504040204" pitchFamily="34" charset="0"/>
              </a:rPr>
              <a:t>CM u</a:t>
            </a:r>
            <a:endParaRPr lang="es-AR" altLang="es-AR" sz="1400" b="1">
              <a:latin typeface="Tahoma" panose="020B0604030504040204" pitchFamily="34" charset="0"/>
              <a:cs typeface="Tahoma" panose="020B0604030504040204" pitchFamily="34" charset="0"/>
            </a:endParaRPr>
          </a:p>
        </p:txBody>
      </p:sp>
      <p:sp>
        <p:nvSpPr>
          <p:cNvPr id="30764" name="Text Box 44">
            <a:extLst>
              <a:ext uri="{FF2B5EF4-FFF2-40B4-BE49-F238E27FC236}">
                <a16:creationId xmlns:a16="http://schemas.microsoft.com/office/drawing/2014/main" id="{7810EF22-EA13-4D11-9775-71A554DDEF71}"/>
              </a:ext>
            </a:extLst>
          </p:cNvPr>
          <p:cNvSpPr txBox="1">
            <a:spLocks noChangeArrowheads="1"/>
          </p:cNvSpPr>
          <p:nvPr/>
        </p:nvSpPr>
        <p:spPr bwMode="auto">
          <a:xfrm>
            <a:off x="6167439" y="4619625"/>
            <a:ext cx="30956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a:solidFill>
                  <a:schemeClr val="hlink"/>
                </a:solidFill>
                <a:latin typeface="+mj-lt"/>
              </a:rPr>
              <a:t>COSTO FIJO TOTAL</a:t>
            </a:r>
            <a:endParaRPr lang="es-AR" altLang="es-AR" sz="1400" b="1">
              <a:solidFill>
                <a:schemeClr val="hlink"/>
              </a:solidFill>
              <a:latin typeface="+mj-lt"/>
              <a:cs typeface="Tahoma" panose="020B0604030504040204" pitchFamily="34" charset="0"/>
            </a:endParaRPr>
          </a:p>
        </p:txBody>
      </p:sp>
      <p:sp>
        <p:nvSpPr>
          <p:cNvPr id="30765" name="Text Box 45">
            <a:extLst>
              <a:ext uri="{FF2B5EF4-FFF2-40B4-BE49-F238E27FC236}">
                <a16:creationId xmlns:a16="http://schemas.microsoft.com/office/drawing/2014/main" id="{046C6783-8A4C-4432-ABC0-0AD7370AB11C}"/>
              </a:ext>
            </a:extLst>
          </p:cNvPr>
          <p:cNvSpPr txBox="1">
            <a:spLocks noChangeArrowheads="1"/>
          </p:cNvSpPr>
          <p:nvPr/>
        </p:nvSpPr>
        <p:spPr bwMode="auto">
          <a:xfrm>
            <a:off x="6167439" y="4829175"/>
            <a:ext cx="30956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dirty="0">
                <a:solidFill>
                  <a:schemeClr val="hlink"/>
                </a:solidFill>
                <a:latin typeface="+mj-lt"/>
              </a:rPr>
              <a:t>COSTO FIJO TOTAL EROGABLE</a:t>
            </a:r>
            <a:endParaRPr lang="es-AR" altLang="es-AR" sz="1400" b="1" dirty="0">
              <a:solidFill>
                <a:schemeClr val="hlink"/>
              </a:solidFill>
              <a:latin typeface="+mj-lt"/>
              <a:cs typeface="Tahoma" panose="020B0604030504040204" pitchFamily="34" charset="0"/>
            </a:endParaRPr>
          </a:p>
        </p:txBody>
      </p:sp>
      <p:sp>
        <p:nvSpPr>
          <p:cNvPr id="2" name="CuadroTexto 1">
            <a:extLst>
              <a:ext uri="{FF2B5EF4-FFF2-40B4-BE49-F238E27FC236}">
                <a16:creationId xmlns:a16="http://schemas.microsoft.com/office/drawing/2014/main" id="{E3DE95B2-3976-45AD-A32F-DD9B2F1EB84D}"/>
              </a:ext>
            </a:extLst>
          </p:cNvPr>
          <p:cNvSpPr txBox="1"/>
          <p:nvPr/>
        </p:nvSpPr>
        <p:spPr>
          <a:xfrm>
            <a:off x="6711696" y="5418138"/>
            <a:ext cx="5010910" cy="369332"/>
          </a:xfrm>
          <a:prstGeom prst="rect">
            <a:avLst/>
          </a:prstGeom>
          <a:noFill/>
        </p:spPr>
        <p:txBody>
          <a:bodyPr wrap="square" rtlCol="0">
            <a:spAutoFit/>
          </a:bodyPr>
          <a:lstStyle/>
          <a:p>
            <a:r>
              <a:rPr lang="es-AR" b="1" dirty="0">
                <a:solidFill>
                  <a:schemeClr val="tx1">
                    <a:lumMod val="85000"/>
                    <a:lumOff val="15000"/>
                  </a:schemeClr>
                </a:solidFill>
              </a:rPr>
              <a:t>CF = CF </a:t>
            </a:r>
            <a:r>
              <a:rPr lang="es-AR" b="1" dirty="0" err="1">
                <a:solidFill>
                  <a:schemeClr val="tx1">
                    <a:lumMod val="85000"/>
                    <a:lumOff val="15000"/>
                  </a:schemeClr>
                </a:solidFill>
              </a:rPr>
              <a:t>erogable</a:t>
            </a:r>
            <a:r>
              <a:rPr lang="es-AR" b="1" dirty="0">
                <a:solidFill>
                  <a:schemeClr val="tx1">
                    <a:lumMod val="85000"/>
                    <a:lumOff val="15000"/>
                  </a:schemeClr>
                </a:solidFill>
              </a:rPr>
              <a:t> + CF no </a:t>
            </a:r>
            <a:r>
              <a:rPr lang="es-AR" b="1" dirty="0" err="1">
                <a:solidFill>
                  <a:schemeClr val="tx1">
                    <a:lumMod val="85000"/>
                    <a:lumOff val="15000"/>
                  </a:schemeClr>
                </a:solidFill>
              </a:rPr>
              <a:t>erogable</a:t>
            </a:r>
            <a:endParaRPr lang="es-AR" b="1" dirty="0">
              <a:solidFill>
                <a:schemeClr val="tx1">
                  <a:lumMod val="85000"/>
                  <a:lumOff val="15000"/>
                </a:schemeClr>
              </a:solidFill>
            </a:endParaRPr>
          </a:p>
        </p:txBody>
      </p:sp>
      <p:sp>
        <p:nvSpPr>
          <p:cNvPr id="39" name="CuadroTexto 38">
            <a:extLst>
              <a:ext uri="{FF2B5EF4-FFF2-40B4-BE49-F238E27FC236}">
                <a16:creationId xmlns:a16="http://schemas.microsoft.com/office/drawing/2014/main" id="{2EB6D406-514F-47F0-BA31-5A3402565BE9}"/>
              </a:ext>
            </a:extLst>
          </p:cNvPr>
          <p:cNvSpPr txBox="1"/>
          <p:nvPr/>
        </p:nvSpPr>
        <p:spPr>
          <a:xfrm>
            <a:off x="6373368" y="5961652"/>
            <a:ext cx="5480304" cy="369332"/>
          </a:xfrm>
          <a:prstGeom prst="rect">
            <a:avLst/>
          </a:prstGeom>
          <a:noFill/>
        </p:spPr>
        <p:txBody>
          <a:bodyPr wrap="square" rtlCol="0">
            <a:spAutoFit/>
          </a:bodyPr>
          <a:lstStyle/>
          <a:p>
            <a:r>
              <a:rPr lang="es-AR" b="1" dirty="0">
                <a:solidFill>
                  <a:schemeClr val="tx1">
                    <a:lumMod val="85000"/>
                    <a:lumOff val="15000"/>
                  </a:schemeClr>
                </a:solidFill>
              </a:rPr>
              <a:t>CF no </a:t>
            </a:r>
            <a:r>
              <a:rPr lang="es-AR" b="1" dirty="0" err="1">
                <a:solidFill>
                  <a:schemeClr val="tx1">
                    <a:lumMod val="85000"/>
                    <a:lumOff val="15000"/>
                  </a:schemeClr>
                </a:solidFill>
              </a:rPr>
              <a:t>erogable</a:t>
            </a:r>
            <a:r>
              <a:rPr lang="es-AR" b="1" dirty="0">
                <a:solidFill>
                  <a:schemeClr val="tx1">
                    <a:lumMod val="85000"/>
                    <a:lumOff val="15000"/>
                  </a:schemeClr>
                </a:solidFill>
              </a:rPr>
              <a:t> = Amortizaciones + Previsiones</a:t>
            </a:r>
          </a:p>
        </p:txBody>
      </p:sp>
      <p:sp>
        <p:nvSpPr>
          <p:cNvPr id="3" name="Marcador de número de diapositiva 2">
            <a:extLst>
              <a:ext uri="{FF2B5EF4-FFF2-40B4-BE49-F238E27FC236}">
                <a16:creationId xmlns:a16="http://schemas.microsoft.com/office/drawing/2014/main" id="{047F1926-16B9-472E-8D96-35EFC012B5A9}"/>
              </a:ext>
            </a:extLst>
          </p:cNvPr>
          <p:cNvSpPr>
            <a:spLocks noGrp="1"/>
          </p:cNvSpPr>
          <p:nvPr>
            <p:ph type="sldNum" sz="quarter" idx="12"/>
          </p:nvPr>
        </p:nvSpPr>
        <p:spPr/>
        <p:txBody>
          <a:bodyPr/>
          <a:lstStyle/>
          <a:p>
            <a:fld id="{D57F1E4F-1CFF-5643-939E-217C01CDF565}" type="slidenum">
              <a:rPr lang="en-US" smtClean="0"/>
              <a:pPr/>
              <a:t>36</a:t>
            </a:fld>
            <a:endParaRPr lang="en-US" dirty="0"/>
          </a:p>
        </p:txBody>
      </p:sp>
      <p:sp>
        <p:nvSpPr>
          <p:cNvPr id="41" name="CuadroTexto 40">
            <a:extLst>
              <a:ext uri="{FF2B5EF4-FFF2-40B4-BE49-F238E27FC236}">
                <a16:creationId xmlns:a16="http://schemas.microsoft.com/office/drawing/2014/main" id="{72932285-969C-4B91-B19C-E106A7CC9D62}"/>
              </a:ext>
            </a:extLst>
          </p:cNvPr>
          <p:cNvSpPr txBox="1"/>
          <p:nvPr/>
        </p:nvSpPr>
        <p:spPr>
          <a:xfrm>
            <a:off x="1553454" y="3563243"/>
            <a:ext cx="482839" cy="307777"/>
          </a:xfrm>
          <a:prstGeom prst="rect">
            <a:avLst/>
          </a:prstGeom>
          <a:noFill/>
        </p:spPr>
        <p:txBody>
          <a:bodyPr wrap="square" rtlCol="0">
            <a:spAutoFit/>
          </a:bodyPr>
          <a:lstStyle/>
          <a:p>
            <a:r>
              <a:rPr lang="es-AR" sz="1400" b="1" dirty="0"/>
              <a:t>P</a:t>
            </a:r>
            <a:r>
              <a:rPr lang="es-AR" sz="1200" b="1" dirty="0"/>
              <a:t>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73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72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7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074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072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74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4" fill="hold" nodeType="clickEffect">
                                  <p:stCondLst>
                                    <p:cond delay="0"/>
                                  </p:stCondLst>
                                  <p:childTnLst>
                                    <p:set>
                                      <p:cBhvr>
                                        <p:cTn id="22" dur="1" fill="hold">
                                          <p:stCondLst>
                                            <p:cond delay="0"/>
                                          </p:stCondLst>
                                        </p:cTn>
                                        <p:tgtEl>
                                          <p:spTgt spid="30736"/>
                                        </p:tgtEl>
                                        <p:attrNameLst>
                                          <p:attrName>style.visibility</p:attrName>
                                        </p:attrNameLst>
                                      </p:cBhvr>
                                      <p:to>
                                        <p:strVal val="visible"/>
                                      </p:to>
                                    </p:set>
                                    <p:animEffect transition="in" filter="wipe(down)">
                                      <p:cBhvr>
                                        <p:cTn id="23" dur="500"/>
                                        <p:tgtEl>
                                          <p:spTgt spid="30736"/>
                                        </p:tgtEl>
                                      </p:cBhvr>
                                    </p:animEffect>
                                  </p:childTnLst>
                                </p:cTn>
                              </p:par>
                              <p:par>
                                <p:cTn id="24" presetID="22" presetClass="entr" presetSubtype="4" fill="hold" nodeType="withEffect">
                                  <p:stCondLst>
                                    <p:cond delay="0"/>
                                  </p:stCondLst>
                                  <p:childTnLst>
                                    <p:set>
                                      <p:cBhvr>
                                        <p:cTn id="25" dur="1" fill="hold">
                                          <p:stCondLst>
                                            <p:cond delay="0"/>
                                          </p:stCondLst>
                                        </p:cTn>
                                        <p:tgtEl>
                                          <p:spTgt spid="30735"/>
                                        </p:tgtEl>
                                        <p:attrNameLst>
                                          <p:attrName>style.visibility</p:attrName>
                                        </p:attrNameLst>
                                      </p:cBhvr>
                                      <p:to>
                                        <p:strVal val="visible"/>
                                      </p:to>
                                    </p:set>
                                    <p:animEffect transition="in" filter="wipe(down)">
                                      <p:cBhvr>
                                        <p:cTn id="26" dur="500"/>
                                        <p:tgtEl>
                                          <p:spTgt spid="3073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4" fill="hold" nodeType="clickEffect">
                                  <p:stCondLst>
                                    <p:cond delay="0"/>
                                  </p:stCondLst>
                                  <p:childTnLst>
                                    <p:set>
                                      <p:cBhvr>
                                        <p:cTn id="30" dur="1" fill="hold">
                                          <p:stCondLst>
                                            <p:cond delay="0"/>
                                          </p:stCondLst>
                                        </p:cTn>
                                        <p:tgtEl>
                                          <p:spTgt spid="30728"/>
                                        </p:tgtEl>
                                        <p:attrNameLst>
                                          <p:attrName>style.visibility</p:attrName>
                                        </p:attrNameLst>
                                      </p:cBhvr>
                                      <p:to>
                                        <p:strVal val="visible"/>
                                      </p:to>
                                    </p:set>
                                    <p:animEffect transition="in" filter="wipe(down)">
                                      <p:cBhvr>
                                        <p:cTn id="31" dur="500"/>
                                        <p:tgtEl>
                                          <p:spTgt spid="30728"/>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4" fill="hold" nodeType="clickEffect">
                                  <p:stCondLst>
                                    <p:cond delay="0"/>
                                  </p:stCondLst>
                                  <p:childTnLst>
                                    <p:set>
                                      <p:cBhvr>
                                        <p:cTn id="35" dur="1" fill="hold">
                                          <p:stCondLst>
                                            <p:cond delay="0"/>
                                          </p:stCondLst>
                                        </p:cTn>
                                        <p:tgtEl>
                                          <p:spTgt spid="30754"/>
                                        </p:tgtEl>
                                        <p:attrNameLst>
                                          <p:attrName>style.visibility</p:attrName>
                                        </p:attrNameLst>
                                      </p:cBhvr>
                                      <p:to>
                                        <p:strVal val="visible"/>
                                      </p:to>
                                    </p:set>
                                    <p:animEffect transition="in" filter="wipe(down)">
                                      <p:cBhvr>
                                        <p:cTn id="36" dur="500"/>
                                        <p:tgtEl>
                                          <p:spTgt spid="30754"/>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30753"/>
                                        </p:tgtEl>
                                        <p:attrNameLst>
                                          <p:attrName>style.visibility</p:attrName>
                                        </p:attrNameLst>
                                      </p:cBhvr>
                                      <p:to>
                                        <p:strVal val="visible"/>
                                      </p:to>
                                    </p:set>
                                    <p:animEffect transition="in" filter="wipe(down)">
                                      <p:cBhvr>
                                        <p:cTn id="39" dur="500"/>
                                        <p:tgtEl>
                                          <p:spTgt spid="30753"/>
                                        </p:tgtEl>
                                      </p:cBhvr>
                                    </p:animEffect>
                                  </p:childTnLst>
                                </p:cTn>
                              </p:par>
                              <p:par>
                                <p:cTn id="40" presetID="22" presetClass="entr" presetSubtype="4" fill="hold" nodeType="withEffect">
                                  <p:stCondLst>
                                    <p:cond delay="0"/>
                                  </p:stCondLst>
                                  <p:childTnLst>
                                    <p:set>
                                      <p:cBhvr>
                                        <p:cTn id="41" dur="1" fill="hold">
                                          <p:stCondLst>
                                            <p:cond delay="0"/>
                                          </p:stCondLst>
                                        </p:cTn>
                                        <p:tgtEl>
                                          <p:spTgt spid="30729"/>
                                        </p:tgtEl>
                                        <p:attrNameLst>
                                          <p:attrName>style.visibility</p:attrName>
                                        </p:attrNameLst>
                                      </p:cBhvr>
                                      <p:to>
                                        <p:strVal val="visible"/>
                                      </p:to>
                                    </p:set>
                                    <p:animEffect transition="in" filter="wipe(down)">
                                      <p:cBhvr>
                                        <p:cTn id="42" dur="500"/>
                                        <p:tgtEl>
                                          <p:spTgt spid="30729"/>
                                        </p:tgtEl>
                                      </p:cBhvr>
                                    </p:animEffect>
                                  </p:childTnLst>
                                </p:cTn>
                              </p:par>
                              <p:par>
                                <p:cTn id="43" presetID="22" presetClass="entr" presetSubtype="4" fill="hold" grpId="0" nodeType="withEffect">
                                  <p:stCondLst>
                                    <p:cond delay="0"/>
                                  </p:stCondLst>
                                  <p:childTnLst>
                                    <p:set>
                                      <p:cBhvr>
                                        <p:cTn id="44" dur="1" fill="hold">
                                          <p:stCondLst>
                                            <p:cond delay="0"/>
                                          </p:stCondLst>
                                        </p:cTn>
                                        <p:tgtEl>
                                          <p:spTgt spid="30731"/>
                                        </p:tgtEl>
                                        <p:attrNameLst>
                                          <p:attrName>style.visibility</p:attrName>
                                        </p:attrNameLst>
                                      </p:cBhvr>
                                      <p:to>
                                        <p:strVal val="visible"/>
                                      </p:to>
                                    </p:set>
                                    <p:animEffect transition="in" filter="wipe(down)">
                                      <p:cBhvr>
                                        <p:cTn id="45" dur="500"/>
                                        <p:tgtEl>
                                          <p:spTgt spid="30731"/>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4" fill="hold" nodeType="clickEffect">
                                  <p:stCondLst>
                                    <p:cond delay="0"/>
                                  </p:stCondLst>
                                  <p:childTnLst>
                                    <p:set>
                                      <p:cBhvr>
                                        <p:cTn id="49" dur="1" fill="hold">
                                          <p:stCondLst>
                                            <p:cond delay="0"/>
                                          </p:stCondLst>
                                        </p:cTn>
                                        <p:tgtEl>
                                          <p:spTgt spid="30730"/>
                                        </p:tgtEl>
                                        <p:attrNameLst>
                                          <p:attrName>style.visibility</p:attrName>
                                        </p:attrNameLst>
                                      </p:cBhvr>
                                      <p:to>
                                        <p:strVal val="visible"/>
                                      </p:to>
                                    </p:set>
                                    <p:animEffect transition="in" filter="wipe(down)">
                                      <p:cBhvr>
                                        <p:cTn id="50" dur="500"/>
                                        <p:tgtEl>
                                          <p:spTgt spid="30730"/>
                                        </p:tgtEl>
                                      </p:cBhvr>
                                    </p:animEffect>
                                  </p:childTnLst>
                                </p:cTn>
                              </p:par>
                              <p:par>
                                <p:cTn id="51" presetID="22" presetClass="entr" presetSubtype="4" fill="hold" grpId="0" nodeType="withEffect">
                                  <p:stCondLst>
                                    <p:cond delay="0"/>
                                  </p:stCondLst>
                                  <p:childTnLst>
                                    <p:set>
                                      <p:cBhvr>
                                        <p:cTn id="52" dur="1" fill="hold">
                                          <p:stCondLst>
                                            <p:cond delay="0"/>
                                          </p:stCondLst>
                                        </p:cTn>
                                        <p:tgtEl>
                                          <p:spTgt spid="30732"/>
                                        </p:tgtEl>
                                        <p:attrNameLst>
                                          <p:attrName>style.visibility</p:attrName>
                                        </p:attrNameLst>
                                      </p:cBhvr>
                                      <p:to>
                                        <p:strVal val="visible"/>
                                      </p:to>
                                    </p:set>
                                    <p:animEffect transition="in" filter="wipe(down)">
                                      <p:cBhvr>
                                        <p:cTn id="53" dur="500"/>
                                        <p:tgtEl>
                                          <p:spTgt spid="30732"/>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4" fill="hold" nodeType="clickEffect">
                                  <p:stCondLst>
                                    <p:cond delay="0"/>
                                  </p:stCondLst>
                                  <p:childTnLst>
                                    <p:set>
                                      <p:cBhvr>
                                        <p:cTn id="57" dur="1" fill="hold">
                                          <p:stCondLst>
                                            <p:cond delay="0"/>
                                          </p:stCondLst>
                                        </p:cTn>
                                        <p:tgtEl>
                                          <p:spTgt spid="30755"/>
                                        </p:tgtEl>
                                        <p:attrNameLst>
                                          <p:attrName>style.visibility</p:attrName>
                                        </p:attrNameLst>
                                      </p:cBhvr>
                                      <p:to>
                                        <p:strVal val="visible"/>
                                      </p:to>
                                    </p:set>
                                    <p:animEffect transition="in" filter="wipe(down)">
                                      <p:cBhvr>
                                        <p:cTn id="58" dur="500"/>
                                        <p:tgtEl>
                                          <p:spTgt spid="30755"/>
                                        </p:tgtEl>
                                      </p:cBhvr>
                                    </p:animEffect>
                                  </p:childTnLst>
                                </p:cTn>
                              </p:par>
                              <p:par>
                                <p:cTn id="59" presetID="22" presetClass="entr" presetSubtype="4" fill="hold" grpId="0" nodeType="withEffect">
                                  <p:stCondLst>
                                    <p:cond delay="0"/>
                                  </p:stCondLst>
                                  <p:childTnLst>
                                    <p:set>
                                      <p:cBhvr>
                                        <p:cTn id="60" dur="1" fill="hold">
                                          <p:stCondLst>
                                            <p:cond delay="0"/>
                                          </p:stCondLst>
                                        </p:cTn>
                                        <p:tgtEl>
                                          <p:spTgt spid="30756"/>
                                        </p:tgtEl>
                                        <p:attrNameLst>
                                          <p:attrName>style.visibility</p:attrName>
                                        </p:attrNameLst>
                                      </p:cBhvr>
                                      <p:to>
                                        <p:strVal val="visible"/>
                                      </p:to>
                                    </p:set>
                                    <p:animEffect transition="in" filter="wipe(down)">
                                      <p:cBhvr>
                                        <p:cTn id="61" dur="500"/>
                                        <p:tgtEl>
                                          <p:spTgt spid="30756"/>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4" fill="hold" nodeType="clickEffect">
                                  <p:stCondLst>
                                    <p:cond delay="0"/>
                                  </p:stCondLst>
                                  <p:childTnLst>
                                    <p:set>
                                      <p:cBhvr>
                                        <p:cTn id="65" dur="1" fill="hold">
                                          <p:stCondLst>
                                            <p:cond delay="0"/>
                                          </p:stCondLst>
                                        </p:cTn>
                                        <p:tgtEl>
                                          <p:spTgt spid="30755"/>
                                        </p:tgtEl>
                                        <p:attrNameLst>
                                          <p:attrName>style.visibility</p:attrName>
                                        </p:attrNameLst>
                                      </p:cBhvr>
                                      <p:to>
                                        <p:strVal val="visible"/>
                                      </p:to>
                                    </p:set>
                                    <p:animEffect transition="in" filter="wipe(down)">
                                      <p:cBhvr>
                                        <p:cTn id="66" dur="500"/>
                                        <p:tgtEl>
                                          <p:spTgt spid="30755"/>
                                        </p:tgtEl>
                                      </p:cBhvr>
                                    </p:animEffect>
                                  </p:childTnLst>
                                </p:cTn>
                              </p:par>
                              <p:par>
                                <p:cTn id="67" presetID="22" presetClass="entr" presetSubtype="4" fill="hold" grpId="1" nodeType="withEffect">
                                  <p:stCondLst>
                                    <p:cond delay="0"/>
                                  </p:stCondLst>
                                  <p:childTnLst>
                                    <p:set>
                                      <p:cBhvr>
                                        <p:cTn id="68" dur="1" fill="hold">
                                          <p:stCondLst>
                                            <p:cond delay="0"/>
                                          </p:stCondLst>
                                        </p:cTn>
                                        <p:tgtEl>
                                          <p:spTgt spid="30756"/>
                                        </p:tgtEl>
                                        <p:attrNameLst>
                                          <p:attrName>style.visibility</p:attrName>
                                        </p:attrNameLst>
                                      </p:cBhvr>
                                      <p:to>
                                        <p:strVal val="visible"/>
                                      </p:to>
                                    </p:set>
                                    <p:animEffect transition="in" filter="wipe(down)">
                                      <p:cBhvr>
                                        <p:cTn id="69" dur="500"/>
                                        <p:tgtEl>
                                          <p:spTgt spid="30756"/>
                                        </p:tgtEl>
                                      </p:cBhvr>
                                    </p:animEffect>
                                  </p:childTnLst>
                                </p:cTn>
                              </p:par>
                              <p:par>
                                <p:cTn id="70" presetID="22" presetClass="entr" presetSubtype="4" fill="hold" nodeType="withEffect">
                                  <p:stCondLst>
                                    <p:cond delay="0"/>
                                  </p:stCondLst>
                                  <p:childTnLst>
                                    <p:set>
                                      <p:cBhvr>
                                        <p:cTn id="71" dur="1" fill="hold">
                                          <p:stCondLst>
                                            <p:cond delay="0"/>
                                          </p:stCondLst>
                                        </p:cTn>
                                        <p:tgtEl>
                                          <p:spTgt spid="30734"/>
                                        </p:tgtEl>
                                        <p:attrNameLst>
                                          <p:attrName>style.visibility</p:attrName>
                                        </p:attrNameLst>
                                      </p:cBhvr>
                                      <p:to>
                                        <p:strVal val="visible"/>
                                      </p:to>
                                    </p:set>
                                    <p:animEffect transition="in" filter="wipe(down)">
                                      <p:cBhvr>
                                        <p:cTn id="72" dur="500"/>
                                        <p:tgtEl>
                                          <p:spTgt spid="30734"/>
                                        </p:tgtEl>
                                      </p:cBhvr>
                                    </p:animEffect>
                                  </p:childTnLst>
                                </p:cTn>
                              </p:par>
                              <p:par>
                                <p:cTn id="73" presetID="22" presetClass="entr" presetSubtype="4" fill="hold" grpId="0" nodeType="withEffect">
                                  <p:stCondLst>
                                    <p:cond delay="0"/>
                                  </p:stCondLst>
                                  <p:childTnLst>
                                    <p:set>
                                      <p:cBhvr>
                                        <p:cTn id="74" dur="1" fill="hold">
                                          <p:stCondLst>
                                            <p:cond delay="0"/>
                                          </p:stCondLst>
                                        </p:cTn>
                                        <p:tgtEl>
                                          <p:spTgt spid="30741"/>
                                        </p:tgtEl>
                                        <p:attrNameLst>
                                          <p:attrName>style.visibility</p:attrName>
                                        </p:attrNameLst>
                                      </p:cBhvr>
                                      <p:to>
                                        <p:strVal val="visible"/>
                                      </p:to>
                                    </p:set>
                                    <p:animEffect transition="in" filter="wipe(down)">
                                      <p:cBhvr>
                                        <p:cTn id="75" dur="500"/>
                                        <p:tgtEl>
                                          <p:spTgt spid="30741"/>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30737"/>
                                        </p:tgtEl>
                                        <p:attrNameLst>
                                          <p:attrName>style.visibility</p:attrName>
                                        </p:attrNameLst>
                                      </p:cBhvr>
                                      <p:to>
                                        <p:strVal val="visible"/>
                                      </p:to>
                                    </p:se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4" fill="hold" nodeType="clickEffect">
                                  <p:stCondLst>
                                    <p:cond delay="0"/>
                                  </p:stCondLst>
                                  <p:childTnLst>
                                    <p:set>
                                      <p:cBhvr>
                                        <p:cTn id="83" dur="1" fill="hold">
                                          <p:stCondLst>
                                            <p:cond delay="0"/>
                                          </p:stCondLst>
                                        </p:cTn>
                                        <p:tgtEl>
                                          <p:spTgt spid="30738"/>
                                        </p:tgtEl>
                                        <p:attrNameLst>
                                          <p:attrName>style.visibility</p:attrName>
                                        </p:attrNameLst>
                                      </p:cBhvr>
                                      <p:to>
                                        <p:strVal val="visible"/>
                                      </p:to>
                                    </p:set>
                                    <p:animEffect transition="in" filter="wipe(down)">
                                      <p:cBhvr>
                                        <p:cTn id="84" dur="500"/>
                                        <p:tgtEl>
                                          <p:spTgt spid="30738"/>
                                        </p:tgtEl>
                                      </p:cBhvr>
                                    </p:animEffect>
                                  </p:childTnLst>
                                </p:cTn>
                              </p:par>
                              <p:par>
                                <p:cTn id="85" presetID="22" presetClass="entr" presetSubtype="4" fill="hold" grpId="0" nodeType="withEffect">
                                  <p:stCondLst>
                                    <p:cond delay="0"/>
                                  </p:stCondLst>
                                  <p:childTnLst>
                                    <p:set>
                                      <p:cBhvr>
                                        <p:cTn id="86" dur="1" fill="hold">
                                          <p:stCondLst>
                                            <p:cond delay="0"/>
                                          </p:stCondLst>
                                        </p:cTn>
                                        <p:tgtEl>
                                          <p:spTgt spid="30727"/>
                                        </p:tgtEl>
                                        <p:attrNameLst>
                                          <p:attrName>style.visibility</p:attrName>
                                        </p:attrNameLst>
                                      </p:cBhvr>
                                      <p:to>
                                        <p:strVal val="visible"/>
                                      </p:to>
                                    </p:set>
                                    <p:animEffect transition="in" filter="wipe(down)">
                                      <p:cBhvr>
                                        <p:cTn id="87" dur="500"/>
                                        <p:tgtEl>
                                          <p:spTgt spid="30727"/>
                                        </p:tgtEl>
                                      </p:cBhvr>
                                    </p:animEffect>
                                  </p:childTnLst>
                                </p:cTn>
                              </p:par>
                              <p:par>
                                <p:cTn id="88" presetID="22" presetClass="entr" presetSubtype="4" fill="hold" nodeType="withEffect">
                                  <p:stCondLst>
                                    <p:cond delay="0"/>
                                  </p:stCondLst>
                                  <p:childTnLst>
                                    <p:set>
                                      <p:cBhvr>
                                        <p:cTn id="89" dur="1" fill="hold">
                                          <p:stCondLst>
                                            <p:cond delay="0"/>
                                          </p:stCondLst>
                                        </p:cTn>
                                        <p:tgtEl>
                                          <p:spTgt spid="30739"/>
                                        </p:tgtEl>
                                        <p:attrNameLst>
                                          <p:attrName>style.visibility</p:attrName>
                                        </p:attrNameLst>
                                      </p:cBhvr>
                                      <p:to>
                                        <p:strVal val="visible"/>
                                      </p:to>
                                    </p:set>
                                    <p:animEffect transition="in" filter="wipe(down)">
                                      <p:cBhvr>
                                        <p:cTn id="90" dur="500"/>
                                        <p:tgtEl>
                                          <p:spTgt spid="30739"/>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4" fill="hold" nodeType="clickEffect">
                                  <p:stCondLst>
                                    <p:cond delay="0"/>
                                  </p:stCondLst>
                                  <p:childTnLst>
                                    <p:set>
                                      <p:cBhvr>
                                        <p:cTn id="94" dur="1" fill="hold">
                                          <p:stCondLst>
                                            <p:cond delay="0"/>
                                          </p:stCondLst>
                                        </p:cTn>
                                        <p:tgtEl>
                                          <p:spTgt spid="30745"/>
                                        </p:tgtEl>
                                        <p:attrNameLst>
                                          <p:attrName>style.visibility</p:attrName>
                                        </p:attrNameLst>
                                      </p:cBhvr>
                                      <p:to>
                                        <p:strVal val="visible"/>
                                      </p:to>
                                    </p:set>
                                    <p:animEffect transition="in" filter="wipe(down)">
                                      <p:cBhvr>
                                        <p:cTn id="95" dur="500"/>
                                        <p:tgtEl>
                                          <p:spTgt spid="30745"/>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22" presetClass="entr" presetSubtype="4" fill="hold" nodeType="clickEffect">
                                  <p:stCondLst>
                                    <p:cond delay="0"/>
                                  </p:stCondLst>
                                  <p:childTnLst>
                                    <p:set>
                                      <p:cBhvr>
                                        <p:cTn id="99" dur="1" fill="hold">
                                          <p:stCondLst>
                                            <p:cond delay="0"/>
                                          </p:stCondLst>
                                        </p:cTn>
                                        <p:tgtEl>
                                          <p:spTgt spid="30747"/>
                                        </p:tgtEl>
                                        <p:attrNameLst>
                                          <p:attrName>style.visibility</p:attrName>
                                        </p:attrNameLst>
                                      </p:cBhvr>
                                      <p:to>
                                        <p:strVal val="visible"/>
                                      </p:to>
                                    </p:set>
                                    <p:animEffect transition="in" filter="wipe(down)">
                                      <p:cBhvr>
                                        <p:cTn id="100" dur="500"/>
                                        <p:tgtEl>
                                          <p:spTgt spid="30747"/>
                                        </p:tgtEl>
                                      </p:cBhvr>
                                    </p:animEffect>
                                  </p:childTnLst>
                                </p:cTn>
                              </p:par>
                              <p:par>
                                <p:cTn id="101" presetID="22" presetClass="entr" presetSubtype="4" fill="hold" grpId="0" nodeType="withEffect">
                                  <p:stCondLst>
                                    <p:cond delay="0"/>
                                  </p:stCondLst>
                                  <p:childTnLst>
                                    <p:set>
                                      <p:cBhvr>
                                        <p:cTn id="102" dur="1" fill="hold">
                                          <p:stCondLst>
                                            <p:cond delay="0"/>
                                          </p:stCondLst>
                                        </p:cTn>
                                        <p:tgtEl>
                                          <p:spTgt spid="30748"/>
                                        </p:tgtEl>
                                        <p:attrNameLst>
                                          <p:attrName>style.visibility</p:attrName>
                                        </p:attrNameLst>
                                      </p:cBhvr>
                                      <p:to>
                                        <p:strVal val="visible"/>
                                      </p:to>
                                    </p:set>
                                    <p:animEffect transition="in" filter="wipe(down)">
                                      <p:cBhvr>
                                        <p:cTn id="103" dur="500"/>
                                        <p:tgtEl>
                                          <p:spTgt spid="30748"/>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1" presetClass="entr" presetSubtype="0" fill="hold" grpId="0" nodeType="clickEffect">
                                  <p:stCondLst>
                                    <p:cond delay="0"/>
                                  </p:stCondLst>
                                  <p:childTnLst>
                                    <p:set>
                                      <p:cBhvr>
                                        <p:cTn id="107" dur="1" fill="hold">
                                          <p:stCondLst>
                                            <p:cond delay="0"/>
                                          </p:stCondLst>
                                        </p:cTn>
                                        <p:tgtEl>
                                          <p:spTgt spid="30751"/>
                                        </p:tgtEl>
                                        <p:attrNameLst>
                                          <p:attrName>style.visibility</p:attrName>
                                        </p:attrNameLst>
                                      </p:cBhvr>
                                      <p:to>
                                        <p:strVal val="visible"/>
                                      </p:to>
                                    </p:se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4" fill="hold" nodeType="clickEffect">
                                  <p:stCondLst>
                                    <p:cond delay="0"/>
                                  </p:stCondLst>
                                  <p:childTnLst>
                                    <p:set>
                                      <p:cBhvr>
                                        <p:cTn id="111" dur="1" fill="hold">
                                          <p:stCondLst>
                                            <p:cond delay="0"/>
                                          </p:stCondLst>
                                        </p:cTn>
                                        <p:tgtEl>
                                          <p:spTgt spid="30749"/>
                                        </p:tgtEl>
                                        <p:attrNameLst>
                                          <p:attrName>style.visibility</p:attrName>
                                        </p:attrNameLst>
                                      </p:cBhvr>
                                      <p:to>
                                        <p:strVal val="visible"/>
                                      </p:to>
                                    </p:set>
                                    <p:animEffect transition="in" filter="wipe(down)">
                                      <p:cBhvr>
                                        <p:cTn id="112" dur="500"/>
                                        <p:tgtEl>
                                          <p:spTgt spid="30749"/>
                                        </p:tgtEl>
                                      </p:cBhvr>
                                    </p:animEffect>
                                  </p:childTnLst>
                                </p:cTn>
                              </p:par>
                              <p:par>
                                <p:cTn id="113" presetID="22" presetClass="entr" presetSubtype="4" fill="hold" grpId="0" nodeType="withEffect">
                                  <p:stCondLst>
                                    <p:cond delay="0"/>
                                  </p:stCondLst>
                                  <p:childTnLst>
                                    <p:set>
                                      <p:cBhvr>
                                        <p:cTn id="114" dur="1" fill="hold">
                                          <p:stCondLst>
                                            <p:cond delay="0"/>
                                          </p:stCondLst>
                                        </p:cTn>
                                        <p:tgtEl>
                                          <p:spTgt spid="30757"/>
                                        </p:tgtEl>
                                        <p:attrNameLst>
                                          <p:attrName>style.visibility</p:attrName>
                                        </p:attrNameLst>
                                      </p:cBhvr>
                                      <p:to>
                                        <p:strVal val="visible"/>
                                      </p:to>
                                    </p:set>
                                    <p:animEffect transition="in" filter="wipe(down)">
                                      <p:cBhvr>
                                        <p:cTn id="115" dur="500"/>
                                        <p:tgtEl>
                                          <p:spTgt spid="30757"/>
                                        </p:tgtEl>
                                      </p:cBhvr>
                                    </p:animEffect>
                                  </p:childTnLst>
                                </p:cTn>
                              </p:par>
                              <p:par>
                                <p:cTn id="116" presetID="22" presetClass="entr" presetSubtype="4" fill="hold" nodeType="withEffect">
                                  <p:stCondLst>
                                    <p:cond delay="0"/>
                                  </p:stCondLst>
                                  <p:childTnLst>
                                    <p:set>
                                      <p:cBhvr>
                                        <p:cTn id="117" dur="1" fill="hold">
                                          <p:stCondLst>
                                            <p:cond delay="0"/>
                                          </p:stCondLst>
                                        </p:cTn>
                                        <p:tgtEl>
                                          <p:spTgt spid="30750"/>
                                        </p:tgtEl>
                                        <p:attrNameLst>
                                          <p:attrName>style.visibility</p:attrName>
                                        </p:attrNameLst>
                                      </p:cBhvr>
                                      <p:to>
                                        <p:strVal val="visible"/>
                                      </p:to>
                                    </p:set>
                                    <p:animEffect transition="in" filter="wipe(down)">
                                      <p:cBhvr>
                                        <p:cTn id="118" dur="500"/>
                                        <p:tgtEl>
                                          <p:spTgt spid="30750"/>
                                        </p:tgtEl>
                                      </p:cBhvr>
                                    </p:animEffect>
                                  </p:childTnLst>
                                </p:cTn>
                              </p:par>
                              <p:par>
                                <p:cTn id="119" presetID="22" presetClass="entr" presetSubtype="4" fill="hold" nodeType="withEffect">
                                  <p:stCondLst>
                                    <p:cond delay="0"/>
                                  </p:stCondLst>
                                  <p:childTnLst>
                                    <p:set>
                                      <p:cBhvr>
                                        <p:cTn id="120" dur="1" fill="hold">
                                          <p:stCondLst>
                                            <p:cond delay="0"/>
                                          </p:stCondLst>
                                        </p:cTn>
                                        <p:tgtEl>
                                          <p:spTgt spid="30761"/>
                                        </p:tgtEl>
                                        <p:attrNameLst>
                                          <p:attrName>style.visibility</p:attrName>
                                        </p:attrNameLst>
                                      </p:cBhvr>
                                      <p:to>
                                        <p:strVal val="visible"/>
                                      </p:to>
                                    </p:set>
                                    <p:animEffect transition="in" filter="wipe(down)">
                                      <p:cBhvr>
                                        <p:cTn id="121" dur="500"/>
                                        <p:tgtEl>
                                          <p:spTgt spid="30761"/>
                                        </p:tgtEl>
                                      </p:cBhvr>
                                    </p:animEffect>
                                  </p:childTnLst>
                                </p:cTn>
                              </p:par>
                              <p:par>
                                <p:cTn id="122" presetID="22" presetClass="entr" presetSubtype="4" fill="hold" grpId="0" nodeType="withEffect">
                                  <p:stCondLst>
                                    <p:cond delay="0"/>
                                  </p:stCondLst>
                                  <p:childTnLst>
                                    <p:set>
                                      <p:cBhvr>
                                        <p:cTn id="123" dur="1" fill="hold">
                                          <p:stCondLst>
                                            <p:cond delay="0"/>
                                          </p:stCondLst>
                                        </p:cTn>
                                        <p:tgtEl>
                                          <p:spTgt spid="30762"/>
                                        </p:tgtEl>
                                        <p:attrNameLst>
                                          <p:attrName>style.visibility</p:attrName>
                                        </p:attrNameLst>
                                      </p:cBhvr>
                                      <p:to>
                                        <p:strVal val="visible"/>
                                      </p:to>
                                    </p:set>
                                    <p:animEffect transition="in" filter="wipe(down)">
                                      <p:cBhvr>
                                        <p:cTn id="124" dur="500"/>
                                        <p:tgtEl>
                                          <p:spTgt spid="30762"/>
                                        </p:tgtEl>
                                      </p:cBhvr>
                                    </p:animEffect>
                                  </p:childTnLst>
                                </p:cTn>
                              </p:par>
                              <p:par>
                                <p:cTn id="125" presetID="22" presetClass="entr" presetSubtype="4" fill="hold" grpId="0" nodeType="withEffect">
                                  <p:stCondLst>
                                    <p:cond delay="0"/>
                                  </p:stCondLst>
                                  <p:childTnLst>
                                    <p:set>
                                      <p:cBhvr>
                                        <p:cTn id="126" dur="1" fill="hold">
                                          <p:stCondLst>
                                            <p:cond delay="0"/>
                                          </p:stCondLst>
                                        </p:cTn>
                                        <p:tgtEl>
                                          <p:spTgt spid="30764"/>
                                        </p:tgtEl>
                                        <p:attrNameLst>
                                          <p:attrName>style.visibility</p:attrName>
                                        </p:attrNameLst>
                                      </p:cBhvr>
                                      <p:to>
                                        <p:strVal val="visible"/>
                                      </p:to>
                                    </p:set>
                                    <p:animEffect transition="in" filter="wipe(down)">
                                      <p:cBhvr>
                                        <p:cTn id="127" dur="500"/>
                                        <p:tgtEl>
                                          <p:spTgt spid="30764"/>
                                        </p:tgtEl>
                                      </p:cBhvr>
                                    </p:animEffect>
                                  </p:childTnLst>
                                </p:cTn>
                              </p:par>
                              <p:par>
                                <p:cTn id="128" presetID="22" presetClass="entr" presetSubtype="4" fill="hold" grpId="0" nodeType="withEffect">
                                  <p:stCondLst>
                                    <p:cond delay="0"/>
                                  </p:stCondLst>
                                  <p:childTnLst>
                                    <p:set>
                                      <p:cBhvr>
                                        <p:cTn id="129" dur="1" fill="hold">
                                          <p:stCondLst>
                                            <p:cond delay="0"/>
                                          </p:stCondLst>
                                        </p:cTn>
                                        <p:tgtEl>
                                          <p:spTgt spid="30765"/>
                                        </p:tgtEl>
                                        <p:attrNameLst>
                                          <p:attrName>style.visibility</p:attrName>
                                        </p:attrNameLst>
                                      </p:cBhvr>
                                      <p:to>
                                        <p:strVal val="visible"/>
                                      </p:to>
                                    </p:set>
                                    <p:animEffect transition="in" filter="wipe(down)">
                                      <p:cBhvr>
                                        <p:cTn id="130" dur="500"/>
                                        <p:tgtEl>
                                          <p:spTgt spid="307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6" grpId="0"/>
      <p:bldP spid="30727" grpId="0"/>
      <p:bldP spid="30731" grpId="0"/>
      <p:bldP spid="30732" grpId="0"/>
      <p:bldP spid="30733" grpId="0"/>
      <p:bldP spid="30737" grpId="0" animBg="1"/>
      <p:bldP spid="30741" grpId="0"/>
      <p:bldP spid="30743" grpId="0"/>
      <p:bldP spid="30744" grpId="0"/>
      <p:bldP spid="30748" grpId="0" animBg="1"/>
      <p:bldP spid="30751" grpId="0" animBg="1"/>
      <p:bldP spid="30753" grpId="0"/>
      <p:bldP spid="30756" grpId="0"/>
      <p:bldP spid="30756" grpId="1"/>
      <p:bldP spid="30757" grpId="0"/>
      <p:bldP spid="30762" grpId="0"/>
      <p:bldP spid="30764" grpId="0"/>
      <p:bldP spid="3076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8" name="Text Box 38">
            <a:extLst>
              <a:ext uri="{FF2B5EF4-FFF2-40B4-BE49-F238E27FC236}">
                <a16:creationId xmlns:a16="http://schemas.microsoft.com/office/drawing/2014/main" id="{626A947E-E7C7-40D5-97B7-1784ABECF2B4}"/>
              </a:ext>
            </a:extLst>
          </p:cNvPr>
          <p:cNvSpPr txBox="1">
            <a:spLocks noChangeArrowheads="1"/>
          </p:cNvSpPr>
          <p:nvPr/>
        </p:nvSpPr>
        <p:spPr bwMode="auto">
          <a:xfrm>
            <a:off x="1387476" y="185738"/>
            <a:ext cx="857948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defRPr/>
            </a:pPr>
            <a:r>
              <a:rPr lang="es-MX" altLang="es-AR" sz="3600" b="1" dirty="0">
                <a:solidFill>
                  <a:schemeClr val="tx1">
                    <a:lumMod val="75000"/>
                    <a:lumOff val="25000"/>
                  </a:schemeClr>
                </a:solidFill>
                <a:latin typeface="+mj-lt"/>
                <a:cs typeface="Arial" charset="0"/>
              </a:rPr>
              <a:t>PUNTO DE EQUILIBRIO FINANCIERO</a:t>
            </a:r>
          </a:p>
        </p:txBody>
      </p:sp>
      <p:sp>
        <p:nvSpPr>
          <p:cNvPr id="2" name="CuadroTexto 1">
            <a:extLst>
              <a:ext uri="{FF2B5EF4-FFF2-40B4-BE49-F238E27FC236}">
                <a16:creationId xmlns:a16="http://schemas.microsoft.com/office/drawing/2014/main" id="{985DB345-A42A-4095-A976-1C79A108E262}"/>
              </a:ext>
            </a:extLst>
          </p:cNvPr>
          <p:cNvSpPr txBox="1"/>
          <p:nvPr/>
        </p:nvSpPr>
        <p:spPr>
          <a:xfrm>
            <a:off x="2450592" y="1371600"/>
            <a:ext cx="6949440" cy="707886"/>
          </a:xfrm>
          <a:prstGeom prst="rect">
            <a:avLst/>
          </a:prstGeom>
          <a:noFill/>
        </p:spPr>
        <p:txBody>
          <a:bodyPr wrap="square" rtlCol="0">
            <a:spAutoFit/>
          </a:bodyPr>
          <a:lstStyle/>
          <a:p>
            <a:r>
              <a:rPr lang="es-AR" sz="2000" dirty="0">
                <a:solidFill>
                  <a:schemeClr val="tx1">
                    <a:lumMod val="85000"/>
                    <a:lumOff val="15000"/>
                  </a:schemeClr>
                </a:solidFill>
              </a:rPr>
              <a:t>Por lo tanto , la expresión del punto de equilibrio financiero será:</a:t>
            </a:r>
          </a:p>
        </p:txBody>
      </p:sp>
      <p:sp>
        <p:nvSpPr>
          <p:cNvPr id="4" name="CuadroTexto 3">
            <a:extLst>
              <a:ext uri="{FF2B5EF4-FFF2-40B4-BE49-F238E27FC236}">
                <a16:creationId xmlns:a16="http://schemas.microsoft.com/office/drawing/2014/main" id="{F6EFCC52-BDBB-4566-9C75-AF3C8065217E}"/>
              </a:ext>
            </a:extLst>
          </p:cNvPr>
          <p:cNvSpPr txBox="1"/>
          <p:nvPr/>
        </p:nvSpPr>
        <p:spPr>
          <a:xfrm>
            <a:off x="3257384" y="3264339"/>
            <a:ext cx="777240" cy="584775"/>
          </a:xfrm>
          <a:prstGeom prst="rect">
            <a:avLst/>
          </a:prstGeom>
          <a:noFill/>
        </p:spPr>
        <p:txBody>
          <a:bodyPr wrap="square" rtlCol="0">
            <a:spAutoFit/>
          </a:bodyPr>
          <a:lstStyle/>
          <a:p>
            <a:r>
              <a:rPr lang="es-AR" altLang="es-AR" sz="3200" b="1" dirty="0">
                <a:solidFill>
                  <a:schemeClr val="tx1">
                    <a:lumMod val="85000"/>
                    <a:lumOff val="15000"/>
                  </a:schemeClr>
                </a:solidFill>
                <a:effectLst>
                  <a:outerShdw blurRad="38100" dist="38100" dir="2700000" algn="tl">
                    <a:srgbClr val="C0C0C0"/>
                  </a:outerShdw>
                </a:effectLst>
              </a:rPr>
              <a:t>q</a:t>
            </a:r>
            <a:r>
              <a:rPr lang="es-AR" altLang="es-AR" b="1" dirty="0">
                <a:solidFill>
                  <a:schemeClr val="tx1">
                    <a:lumMod val="85000"/>
                    <a:lumOff val="15000"/>
                  </a:schemeClr>
                </a:solidFill>
                <a:effectLst>
                  <a:outerShdw blurRad="38100" dist="38100" dir="2700000" algn="tl">
                    <a:srgbClr val="C0C0C0"/>
                  </a:outerShdw>
                </a:effectLst>
              </a:rPr>
              <a:t>0F</a:t>
            </a:r>
            <a:endParaRPr lang="es-AR" b="1" dirty="0"/>
          </a:p>
        </p:txBody>
      </p:sp>
      <p:sp>
        <p:nvSpPr>
          <p:cNvPr id="5" name="CuadroTexto 4">
            <a:extLst>
              <a:ext uri="{FF2B5EF4-FFF2-40B4-BE49-F238E27FC236}">
                <a16:creationId xmlns:a16="http://schemas.microsoft.com/office/drawing/2014/main" id="{9CC481CF-46D4-4F1A-BFE9-91A49D14FAE2}"/>
              </a:ext>
            </a:extLst>
          </p:cNvPr>
          <p:cNvSpPr txBox="1"/>
          <p:nvPr/>
        </p:nvSpPr>
        <p:spPr>
          <a:xfrm>
            <a:off x="4074248" y="3419571"/>
            <a:ext cx="320040" cy="369332"/>
          </a:xfrm>
          <a:prstGeom prst="rect">
            <a:avLst/>
          </a:prstGeom>
          <a:noFill/>
        </p:spPr>
        <p:txBody>
          <a:bodyPr wrap="square" rtlCol="0">
            <a:spAutoFit/>
          </a:bodyPr>
          <a:lstStyle/>
          <a:p>
            <a:r>
              <a:rPr lang="es-AR" dirty="0"/>
              <a:t>=</a:t>
            </a:r>
          </a:p>
        </p:txBody>
      </p:sp>
      <p:sp>
        <p:nvSpPr>
          <p:cNvPr id="6" name="CuadroTexto 5">
            <a:extLst>
              <a:ext uri="{FF2B5EF4-FFF2-40B4-BE49-F238E27FC236}">
                <a16:creationId xmlns:a16="http://schemas.microsoft.com/office/drawing/2014/main" id="{50030371-AACB-481D-8A37-3B767A10FF33}"/>
              </a:ext>
            </a:extLst>
          </p:cNvPr>
          <p:cNvSpPr txBox="1"/>
          <p:nvPr/>
        </p:nvSpPr>
        <p:spPr>
          <a:xfrm>
            <a:off x="5211152" y="3720400"/>
            <a:ext cx="2871216" cy="461665"/>
          </a:xfrm>
          <a:prstGeom prst="rect">
            <a:avLst/>
          </a:prstGeom>
          <a:noFill/>
        </p:spPr>
        <p:txBody>
          <a:bodyPr wrap="square" rtlCol="0">
            <a:spAutoFit/>
          </a:bodyPr>
          <a:lstStyle/>
          <a:p>
            <a:r>
              <a:rPr lang="es-AR" altLang="es-AR" sz="2400" b="1" dirty="0" err="1">
                <a:solidFill>
                  <a:schemeClr val="tx1">
                    <a:lumMod val="85000"/>
                    <a:lumOff val="15000"/>
                  </a:schemeClr>
                </a:solidFill>
                <a:effectLst>
                  <a:outerShdw blurRad="38100" dist="38100" dir="2700000" algn="tl">
                    <a:srgbClr val="C0C0C0"/>
                  </a:outerShdw>
                </a:effectLst>
              </a:rPr>
              <a:t>PVu</a:t>
            </a:r>
            <a:r>
              <a:rPr lang="es-AR" altLang="es-AR" sz="2400" b="1" dirty="0">
                <a:solidFill>
                  <a:schemeClr val="tx1">
                    <a:lumMod val="85000"/>
                    <a:lumOff val="15000"/>
                  </a:schemeClr>
                </a:solidFill>
                <a:effectLst>
                  <a:outerShdw blurRad="38100" dist="38100" dir="2700000" algn="tl">
                    <a:srgbClr val="C0C0C0"/>
                  </a:outerShdw>
                </a:effectLst>
              </a:rPr>
              <a:t> – </a:t>
            </a:r>
            <a:r>
              <a:rPr lang="es-AR" altLang="es-AR" sz="2400" b="1" dirty="0" err="1">
                <a:solidFill>
                  <a:schemeClr val="tx1">
                    <a:lumMod val="85000"/>
                    <a:lumOff val="15000"/>
                  </a:schemeClr>
                </a:solidFill>
                <a:effectLst>
                  <a:outerShdw blurRad="38100" dist="38100" dir="2700000" algn="tl">
                    <a:srgbClr val="C0C0C0"/>
                  </a:outerShdw>
                </a:effectLst>
              </a:rPr>
              <a:t>CVu</a:t>
            </a:r>
            <a:r>
              <a:rPr lang="es-AR" altLang="es-AR" sz="2400" b="1" dirty="0">
                <a:solidFill>
                  <a:schemeClr val="tx1">
                    <a:lumMod val="85000"/>
                    <a:lumOff val="15000"/>
                  </a:schemeClr>
                </a:solidFill>
                <a:effectLst>
                  <a:outerShdw blurRad="38100" dist="38100" dir="2700000" algn="tl">
                    <a:srgbClr val="C0C0C0"/>
                  </a:outerShdw>
                </a:effectLst>
              </a:rPr>
              <a:t> total</a:t>
            </a:r>
            <a:endParaRPr lang="es-AR" sz="2400" b="1" dirty="0"/>
          </a:p>
        </p:txBody>
      </p:sp>
      <p:sp>
        <p:nvSpPr>
          <p:cNvPr id="7" name="CuadroTexto 6">
            <a:extLst>
              <a:ext uri="{FF2B5EF4-FFF2-40B4-BE49-F238E27FC236}">
                <a16:creationId xmlns:a16="http://schemas.microsoft.com/office/drawing/2014/main" id="{7F0ADED3-5118-4F93-A951-B24674B4AF3E}"/>
              </a:ext>
            </a:extLst>
          </p:cNvPr>
          <p:cNvSpPr txBox="1"/>
          <p:nvPr/>
        </p:nvSpPr>
        <p:spPr>
          <a:xfrm>
            <a:off x="4850282" y="2954400"/>
            <a:ext cx="3320478" cy="461665"/>
          </a:xfrm>
          <a:prstGeom prst="rect">
            <a:avLst/>
          </a:prstGeom>
          <a:noFill/>
        </p:spPr>
        <p:txBody>
          <a:bodyPr wrap="square" rtlCol="0">
            <a:spAutoFit/>
          </a:bodyPr>
          <a:lstStyle/>
          <a:p>
            <a:r>
              <a:rPr lang="es-AR" altLang="es-AR" sz="2400" b="1" dirty="0">
                <a:solidFill>
                  <a:schemeClr val="tx1">
                    <a:lumMod val="85000"/>
                    <a:lumOff val="15000"/>
                  </a:schemeClr>
                </a:solidFill>
              </a:rPr>
              <a:t>CF total “</a:t>
            </a:r>
            <a:r>
              <a:rPr lang="es-AR" altLang="es-AR" sz="2400" b="1" dirty="0" err="1">
                <a:solidFill>
                  <a:schemeClr val="tx1">
                    <a:lumMod val="85000"/>
                    <a:lumOff val="15000"/>
                  </a:schemeClr>
                </a:solidFill>
              </a:rPr>
              <a:t>erogable</a:t>
            </a:r>
            <a:r>
              <a:rPr lang="es-AR" altLang="es-AR" sz="2400" b="1" dirty="0">
                <a:solidFill>
                  <a:schemeClr val="tx1">
                    <a:lumMod val="85000"/>
                    <a:lumOff val="15000"/>
                  </a:schemeClr>
                </a:solidFill>
              </a:rPr>
              <a:t>”</a:t>
            </a:r>
            <a:endParaRPr lang="es-AR" dirty="0"/>
          </a:p>
        </p:txBody>
      </p:sp>
      <p:cxnSp>
        <p:nvCxnSpPr>
          <p:cNvPr id="9" name="Conector recto 8">
            <a:extLst>
              <a:ext uri="{FF2B5EF4-FFF2-40B4-BE49-F238E27FC236}">
                <a16:creationId xmlns:a16="http://schemas.microsoft.com/office/drawing/2014/main" id="{BD618D62-947D-4CB9-8999-C8F60B33C75B}"/>
              </a:ext>
            </a:extLst>
          </p:cNvPr>
          <p:cNvCxnSpPr/>
          <p:nvPr/>
        </p:nvCxnSpPr>
        <p:spPr>
          <a:xfrm>
            <a:off x="4558880" y="3573393"/>
            <a:ext cx="4014216"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4" name="Marcador de número de diapositiva 13">
            <a:extLst>
              <a:ext uri="{FF2B5EF4-FFF2-40B4-BE49-F238E27FC236}">
                <a16:creationId xmlns:a16="http://schemas.microsoft.com/office/drawing/2014/main" id="{81CD65A8-FB4D-4723-8D22-3422B157EBAD}"/>
              </a:ext>
            </a:extLst>
          </p:cNvPr>
          <p:cNvSpPr>
            <a:spLocks noGrp="1"/>
          </p:cNvSpPr>
          <p:nvPr>
            <p:ph type="sldNum" sz="quarter" idx="12"/>
          </p:nvPr>
        </p:nvSpPr>
        <p:spPr/>
        <p:txBody>
          <a:bodyPr/>
          <a:lstStyle/>
          <a:p>
            <a:fld id="{D57F1E4F-1CFF-5643-939E-217C01CDF565}" type="slidenum">
              <a:rPr lang="en-US" smtClean="0"/>
              <a:pPr/>
              <a:t>37</a:t>
            </a:fld>
            <a:endParaRPr lang="en-US" dirty="0"/>
          </a:p>
        </p:txBody>
      </p:sp>
    </p:spTree>
    <p:extLst>
      <p:ext uri="{BB962C8B-B14F-4D97-AF65-F5344CB8AC3E}">
        <p14:creationId xmlns:p14="http://schemas.microsoft.com/office/powerpoint/2010/main" val="47607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12" name="Text Box 20">
            <a:extLst>
              <a:ext uri="{FF2B5EF4-FFF2-40B4-BE49-F238E27FC236}">
                <a16:creationId xmlns:a16="http://schemas.microsoft.com/office/drawing/2014/main" id="{EF28D1C1-A7D6-4458-9020-5A441201FF5E}"/>
              </a:ext>
            </a:extLst>
          </p:cNvPr>
          <p:cNvSpPr txBox="1">
            <a:spLocks noChangeArrowheads="1"/>
          </p:cNvSpPr>
          <p:nvPr/>
        </p:nvSpPr>
        <p:spPr bwMode="auto">
          <a:xfrm>
            <a:off x="1387476" y="185738"/>
            <a:ext cx="78771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85000"/>
                    <a:lumOff val="15000"/>
                  </a:schemeClr>
                </a:solidFill>
                <a:latin typeface="+mj-lt"/>
                <a:cs typeface="Arial" charset="0"/>
              </a:rPr>
              <a:t>BENEFICIO DEL EMPRESARIO</a:t>
            </a:r>
          </a:p>
        </p:txBody>
      </p:sp>
      <p:sp>
        <p:nvSpPr>
          <p:cNvPr id="8223" name="Rectangle 31">
            <a:extLst>
              <a:ext uri="{FF2B5EF4-FFF2-40B4-BE49-F238E27FC236}">
                <a16:creationId xmlns:a16="http://schemas.microsoft.com/office/drawing/2014/main" id="{21B14FFF-910B-4645-A62B-7CA00DAA0CC2}"/>
              </a:ext>
            </a:extLst>
          </p:cNvPr>
          <p:cNvSpPr>
            <a:spLocks noChangeArrowheads="1"/>
          </p:cNvSpPr>
          <p:nvPr/>
        </p:nvSpPr>
        <p:spPr bwMode="auto">
          <a:xfrm>
            <a:off x="1143000" y="1123950"/>
            <a:ext cx="9906000" cy="1150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just" eaLnBrk="1" hangingPunct="1">
              <a:defRPr/>
            </a:pPr>
            <a:r>
              <a:rPr lang="es-AR" altLang="es-AR" sz="2400" dirty="0">
                <a:effectLst>
                  <a:outerShdw blurRad="38100" dist="38100" dir="2700000" algn="tl">
                    <a:srgbClr val="C0C0C0"/>
                  </a:outerShdw>
                </a:effectLst>
              </a:rPr>
              <a:t>El Punto de Equilibrio </a:t>
            </a:r>
            <a:r>
              <a:rPr lang="es-AR" altLang="es-AR" sz="2400" dirty="0"/>
              <a:t>representa la cantidad mínima de unidades a producir y vender, o la facturación mínima a obtener para cubrir los costos totales, es decir, beneficio nulo.</a:t>
            </a:r>
            <a:endParaRPr lang="es-ES" altLang="es-AR" sz="2400" dirty="0"/>
          </a:p>
        </p:txBody>
      </p:sp>
      <p:sp>
        <p:nvSpPr>
          <p:cNvPr id="8224" name="Rectangle 32">
            <a:extLst>
              <a:ext uri="{FF2B5EF4-FFF2-40B4-BE49-F238E27FC236}">
                <a16:creationId xmlns:a16="http://schemas.microsoft.com/office/drawing/2014/main" id="{8E9B7AB0-74C6-4B54-B4F2-C8DAE7A22BA9}"/>
              </a:ext>
            </a:extLst>
          </p:cNvPr>
          <p:cNvSpPr>
            <a:spLocks noChangeArrowheads="1"/>
          </p:cNvSpPr>
          <p:nvPr/>
        </p:nvSpPr>
        <p:spPr bwMode="auto">
          <a:xfrm>
            <a:off x="1143000" y="2563814"/>
            <a:ext cx="9906000" cy="115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400"/>
              <a:t>Para que la actividad empresaria sea sana es necesario que se autofinancie, es decir, que pague sus costos y que, además, produzca beneficios extraordinarios, el cual se calculará de la siguiente manera:</a:t>
            </a:r>
            <a:endParaRPr lang="es-ES" altLang="es-AR" sz="2400"/>
          </a:p>
        </p:txBody>
      </p:sp>
      <p:sp>
        <p:nvSpPr>
          <p:cNvPr id="8225" name="Rectangle 33">
            <a:extLst>
              <a:ext uri="{FF2B5EF4-FFF2-40B4-BE49-F238E27FC236}">
                <a16:creationId xmlns:a16="http://schemas.microsoft.com/office/drawing/2014/main" id="{1D5DFFF1-FE02-4818-83C4-C25772C088B2}"/>
              </a:ext>
            </a:extLst>
          </p:cNvPr>
          <p:cNvSpPr>
            <a:spLocks noChangeArrowheads="1"/>
          </p:cNvSpPr>
          <p:nvPr/>
        </p:nvSpPr>
        <p:spPr bwMode="auto">
          <a:xfrm>
            <a:off x="2382430" y="4782821"/>
            <a:ext cx="8266111"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2000" b="1" dirty="0">
                <a:solidFill>
                  <a:schemeClr val="tx1">
                    <a:lumMod val="85000"/>
                    <a:lumOff val="15000"/>
                  </a:schemeClr>
                </a:solidFill>
                <a:latin typeface="+mj-lt"/>
              </a:rPr>
              <a:t>BENEFICIO = INGRESOS - COSTO TOTAL</a:t>
            </a:r>
            <a:endParaRPr lang="es-ES" altLang="es-AR" sz="2000" b="1" dirty="0">
              <a:solidFill>
                <a:schemeClr val="tx1">
                  <a:lumMod val="85000"/>
                  <a:lumOff val="15000"/>
                </a:schemeClr>
              </a:solidFill>
              <a:latin typeface="+mj-lt"/>
            </a:endParaRPr>
          </a:p>
        </p:txBody>
      </p:sp>
      <p:sp>
        <p:nvSpPr>
          <p:cNvPr id="8226" name="Rectangle 34">
            <a:extLst>
              <a:ext uri="{FF2B5EF4-FFF2-40B4-BE49-F238E27FC236}">
                <a16:creationId xmlns:a16="http://schemas.microsoft.com/office/drawing/2014/main" id="{FCB1EFCE-4EFA-4EB6-8C17-5FBD817EC2FF}"/>
              </a:ext>
            </a:extLst>
          </p:cNvPr>
          <p:cNvSpPr>
            <a:spLocks noChangeArrowheads="1"/>
          </p:cNvSpPr>
          <p:nvPr/>
        </p:nvSpPr>
        <p:spPr bwMode="auto">
          <a:xfrm>
            <a:off x="2424114" y="5598399"/>
            <a:ext cx="7832725" cy="430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2000" b="1" dirty="0">
                <a:solidFill>
                  <a:schemeClr val="tx1">
                    <a:lumMod val="85000"/>
                    <a:lumOff val="15000"/>
                  </a:schemeClr>
                </a:solidFill>
                <a:latin typeface="+mj-lt"/>
              </a:rPr>
              <a:t>BENEFICIO = </a:t>
            </a:r>
            <a:r>
              <a:rPr lang="es-AR" altLang="es-AR" sz="2000" b="1" dirty="0" err="1">
                <a:solidFill>
                  <a:schemeClr val="tx1">
                    <a:lumMod val="85000"/>
                    <a:lumOff val="15000"/>
                  </a:schemeClr>
                </a:solidFill>
                <a:latin typeface="+mj-lt"/>
              </a:rPr>
              <a:t>PVu</a:t>
            </a:r>
            <a:r>
              <a:rPr lang="es-AR" altLang="es-AR" sz="2000" b="1" dirty="0">
                <a:solidFill>
                  <a:schemeClr val="tx1">
                    <a:lumMod val="85000"/>
                    <a:lumOff val="15000"/>
                  </a:schemeClr>
                </a:solidFill>
                <a:latin typeface="+mj-lt"/>
              </a:rPr>
              <a:t> x q – (CF total + </a:t>
            </a:r>
            <a:r>
              <a:rPr lang="es-AR" altLang="es-AR" sz="2000" b="1" dirty="0" err="1">
                <a:solidFill>
                  <a:schemeClr val="tx1">
                    <a:lumMod val="85000"/>
                    <a:lumOff val="15000"/>
                  </a:schemeClr>
                </a:solidFill>
                <a:latin typeface="+mj-lt"/>
              </a:rPr>
              <a:t>CVu</a:t>
            </a:r>
            <a:r>
              <a:rPr lang="es-AR" altLang="es-AR" sz="2000" b="1" dirty="0">
                <a:solidFill>
                  <a:schemeClr val="tx1">
                    <a:lumMod val="85000"/>
                    <a:lumOff val="15000"/>
                  </a:schemeClr>
                </a:solidFill>
                <a:latin typeface="+mj-lt"/>
              </a:rPr>
              <a:t> total x q)</a:t>
            </a:r>
            <a:endParaRPr lang="es-ES" altLang="es-AR" sz="2000" b="1" dirty="0">
              <a:solidFill>
                <a:schemeClr val="tx1">
                  <a:lumMod val="85000"/>
                  <a:lumOff val="15000"/>
                </a:schemeClr>
              </a:solidFill>
              <a:latin typeface="+mj-lt"/>
            </a:endParaRPr>
          </a:p>
        </p:txBody>
      </p:sp>
      <p:sp>
        <p:nvSpPr>
          <p:cNvPr id="8227" name="Rectangle 35">
            <a:extLst>
              <a:ext uri="{FF2B5EF4-FFF2-40B4-BE49-F238E27FC236}">
                <a16:creationId xmlns:a16="http://schemas.microsoft.com/office/drawing/2014/main" id="{7C5A81B4-53B5-4BC3-9F67-87BCC71F4405}"/>
              </a:ext>
            </a:extLst>
          </p:cNvPr>
          <p:cNvSpPr>
            <a:spLocks noChangeArrowheads="1"/>
          </p:cNvSpPr>
          <p:nvPr/>
        </p:nvSpPr>
        <p:spPr bwMode="auto">
          <a:xfrm>
            <a:off x="2372156" y="4028129"/>
            <a:ext cx="51847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2000" b="1" dirty="0">
                <a:solidFill>
                  <a:schemeClr val="tx1">
                    <a:lumMod val="85000"/>
                    <a:lumOff val="15000"/>
                  </a:schemeClr>
                </a:solidFill>
                <a:latin typeface="+mj-lt"/>
              </a:rPr>
              <a:t>INGRESOS = COSTO TOTAL + BENEFICIO</a:t>
            </a:r>
            <a:endParaRPr lang="es-ES" altLang="es-AR" sz="2000" b="1" dirty="0">
              <a:solidFill>
                <a:schemeClr val="tx1">
                  <a:lumMod val="85000"/>
                  <a:lumOff val="15000"/>
                </a:schemeClr>
              </a:solidFill>
              <a:latin typeface="+mj-lt"/>
            </a:endParaRPr>
          </a:p>
        </p:txBody>
      </p:sp>
      <p:sp>
        <p:nvSpPr>
          <p:cNvPr id="2" name="Marcador de número de diapositiva 1">
            <a:extLst>
              <a:ext uri="{FF2B5EF4-FFF2-40B4-BE49-F238E27FC236}">
                <a16:creationId xmlns:a16="http://schemas.microsoft.com/office/drawing/2014/main" id="{B67BED99-2457-46F9-9998-8C49603E9ADB}"/>
              </a:ext>
            </a:extLst>
          </p:cNvPr>
          <p:cNvSpPr>
            <a:spLocks noGrp="1"/>
          </p:cNvSpPr>
          <p:nvPr>
            <p:ph type="sldNum" sz="quarter" idx="12"/>
          </p:nvPr>
        </p:nvSpPr>
        <p:spPr/>
        <p:txBody>
          <a:bodyPr/>
          <a:lstStyle/>
          <a:p>
            <a:fld id="{D57F1E4F-1CFF-5643-939E-217C01CDF565}" type="slidenum">
              <a:rPr lang="en-US" smtClean="0"/>
              <a:pPr/>
              <a:t>38</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22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22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8227"/>
                                        </p:tgtEl>
                                        <p:attrNameLst>
                                          <p:attrName>style.visibility</p:attrName>
                                        </p:attrNameLst>
                                      </p:cBhvr>
                                      <p:to>
                                        <p:strVal val="visible"/>
                                      </p:to>
                                    </p:set>
                                    <p:animEffect transition="in" filter="blinds(horizontal)">
                                      <p:cBhvr>
                                        <p:cTn id="15" dur="500"/>
                                        <p:tgtEl>
                                          <p:spTgt spid="822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8225"/>
                                        </p:tgtEl>
                                        <p:attrNameLst>
                                          <p:attrName>style.visibility</p:attrName>
                                        </p:attrNameLst>
                                      </p:cBhvr>
                                      <p:to>
                                        <p:strVal val="visible"/>
                                      </p:to>
                                    </p:set>
                                    <p:animEffect transition="in" filter="blinds(horizontal)">
                                      <p:cBhvr>
                                        <p:cTn id="20" dur="500"/>
                                        <p:tgtEl>
                                          <p:spTgt spid="8225"/>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8226"/>
                                        </p:tgtEl>
                                        <p:attrNameLst>
                                          <p:attrName>style.visibility</p:attrName>
                                        </p:attrNameLst>
                                      </p:cBhvr>
                                      <p:to>
                                        <p:strVal val="visible"/>
                                      </p:to>
                                    </p:set>
                                    <p:animEffect transition="in" filter="blinds(horizontal)">
                                      <p:cBhvr>
                                        <p:cTn id="25" dur="500"/>
                                        <p:tgtEl>
                                          <p:spTgt spid="82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23" grpId="0"/>
      <p:bldP spid="8224" grpId="0"/>
      <p:bldP spid="8225" grpId="0"/>
      <p:bldP spid="8226" grpId="0"/>
      <p:bldP spid="8227" grpId="0"/>
    </p:bldLst>
  </p:timing>
</p:sld>
</file>

<file path=ppt/theme/theme1.xml><?xml version="1.0" encoding="utf-8"?>
<a:theme xmlns:a="http://schemas.openxmlformats.org/drawingml/2006/main" name="Espiral">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4096</TotalTime>
  <Words>2147</Words>
  <Application>Microsoft Office PowerPoint</Application>
  <PresentationFormat>Panorámica</PresentationFormat>
  <Paragraphs>431</Paragraphs>
  <Slides>38</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38</vt:i4>
      </vt:variant>
    </vt:vector>
  </HeadingPairs>
  <TitlesOfParts>
    <vt:vector size="45" baseType="lpstr">
      <vt:lpstr>Arial</vt:lpstr>
      <vt:lpstr>Calibri</vt:lpstr>
      <vt:lpstr>Century Gothic</vt:lpstr>
      <vt:lpstr>Tahoma</vt:lpstr>
      <vt:lpstr>Wingdings</vt:lpstr>
      <vt:lpstr>Wingdings 3</vt:lpstr>
      <vt:lpstr>Espiral</vt:lpstr>
      <vt:lpstr>ECONOMIA</vt:lpstr>
      <vt:lpstr>CLASIFICACION DE LOS COSTOS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PUNTO DE EQUILIBRIO</vt:lpstr>
      <vt:lpstr>Presentación de PowerPoint</vt:lpstr>
      <vt:lpstr>Presentación de PowerPoint</vt:lpstr>
      <vt:lpstr>Presentación de PowerPoint</vt:lpstr>
      <vt:lpstr>PUNTO DE EQUILIBRIO ECONÓMICO </vt:lpstr>
      <vt:lpstr>PUNTO DE EQUILIBRIO ECONÓMICO </vt:lpstr>
      <vt:lpstr>PUNTO DE EQUILIBRIO ECONÓMICO </vt:lpstr>
      <vt:lpstr>PUNTO DE EQUILIBRIO ECONÓMICO </vt:lpstr>
      <vt:lpstr>Presentación de PowerPoint</vt:lpstr>
      <vt:lpstr>Presentación de PowerPoint</vt:lpstr>
      <vt:lpstr>PUNTO DE EQUILIBRIO ECONÓMICO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COSTOS Y PRESUPUESTOS</dc:title>
  <dc:creator>gustavo massucco</dc:creator>
  <cp:lastModifiedBy>gustavo massucco</cp:lastModifiedBy>
  <cp:revision>178</cp:revision>
  <dcterms:created xsi:type="dcterms:W3CDTF">2020-04-19T20:11:04Z</dcterms:created>
  <dcterms:modified xsi:type="dcterms:W3CDTF">2020-05-25T21:52:11Z</dcterms:modified>
</cp:coreProperties>
</file>