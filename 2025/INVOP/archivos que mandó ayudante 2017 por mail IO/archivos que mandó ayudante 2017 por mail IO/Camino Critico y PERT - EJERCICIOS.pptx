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0" r:id="rId3"/>
    <p:sldId id="271" r:id="rId4"/>
    <p:sldId id="272" r:id="rId5"/>
    <p:sldId id="273" r:id="rId6"/>
    <p:sldId id="274" r:id="rId7"/>
    <p:sldId id="275" r:id="rId8"/>
    <p:sldId id="276" r:id="rId9"/>
    <p:sldId id="257" r:id="rId10"/>
    <p:sldId id="260" r:id="rId11"/>
    <p:sldId id="261" r:id="rId12"/>
    <p:sldId id="262" r:id="rId13"/>
    <p:sldId id="258" r:id="rId14"/>
    <p:sldId id="259" r:id="rId15"/>
    <p:sldId id="263" r:id="rId16"/>
    <p:sldId id="264" r:id="rId17"/>
    <p:sldId id="265" r:id="rId18"/>
    <p:sldId id="266" r:id="rId19"/>
    <p:sldId id="267" r:id="rId20"/>
    <p:sldId id="268" r:id="rId21"/>
    <p:sldId id="269"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autoAdjust="0"/>
  </p:normalViewPr>
  <p:slideViewPr>
    <p:cSldViewPr snapToGrid="0">
      <p:cViewPr>
        <p:scale>
          <a:sx n="81" d="100"/>
          <a:sy n="81" d="100"/>
        </p:scale>
        <p:origin x="-300" y="210"/>
      </p:cViewPr>
      <p:guideLst>
        <p:guide orient="horz" pos="2160"/>
        <p:guide pos="3840"/>
      </p:guideLst>
    </p:cSldViewPr>
  </p:slideViewPr>
  <p:outlineViewPr>
    <p:cViewPr>
      <p:scale>
        <a:sx n="33" d="100"/>
        <a:sy n="33" d="100"/>
      </p:scale>
      <p:origin x="0" y="1102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6/20/2016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6/20/2016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A61015F-7CC6-4D0A-9D87-873EA4C304CC}" type="datetimeFigureOut">
              <a:rPr lang="en-US" dirty="0"/>
              <a:t>6/20/2016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6/20/2016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24128" y="2967788"/>
            <a:ext cx="4754880" cy="33415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s-ES" smtClean="0"/>
              <a:t>Haga clic para modificar el estilo de texto del patrón</a:t>
            </a:r>
          </a:p>
        </p:txBody>
      </p:sp>
      <p:sp>
        <p:nvSpPr>
          <p:cNvPr id="6" name="Content Placeholder 5"/>
          <p:cNvSpPr>
            <a:spLocks noGrp="1"/>
          </p:cNvSpPr>
          <p:nvPr>
            <p:ph sz="quarter" idx="4"/>
          </p:nvPr>
        </p:nvSpPr>
        <p:spPr>
          <a:xfrm>
            <a:off x="5990888" y="2967788"/>
            <a:ext cx="4754880" cy="33415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6/20/2016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6/20/2016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6/20/2016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5C68B11-C5A8-448C-8CE9-B1A273C79CFC}" type="datetimeFigureOut">
              <a:rPr lang="en-US" dirty="0"/>
              <a:t>6/20/2016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C7616CA0-919D-4A49-9C8A-62FDFB3A5183}" type="datetimeFigureOut">
              <a:rPr lang="en-US" dirty="0"/>
              <a:t>6/20/2016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‹Nº›</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6/20/2016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6/20/2016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6/20/2016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‹Nº›</a:t>
            </a:fld>
            <a:endParaRPr lang="en-US"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AR" dirty="0" smtClean="0"/>
              <a:t>E</a:t>
            </a:r>
            <a:r>
              <a:rPr lang="es-AR" cap="none" dirty="0" smtClean="0"/>
              <a:t>jercicios Camino Critico y PERT</a:t>
            </a:r>
            <a:endParaRPr lang="es-AR" dirty="0"/>
          </a:p>
        </p:txBody>
      </p:sp>
      <p:sp>
        <p:nvSpPr>
          <p:cNvPr id="3" name="Subtítulo 2"/>
          <p:cNvSpPr>
            <a:spLocks noGrp="1"/>
          </p:cNvSpPr>
          <p:nvPr>
            <p:ph type="subTitle" idx="1"/>
          </p:nvPr>
        </p:nvSpPr>
        <p:spPr/>
        <p:txBody>
          <a:bodyPr/>
          <a:lstStyle/>
          <a:p>
            <a:r>
              <a:rPr lang="es-AR" dirty="0" smtClean="0"/>
              <a:t>EJERCICIOS</a:t>
            </a:r>
            <a:endParaRPr lang="es-AR" dirty="0"/>
          </a:p>
        </p:txBody>
      </p:sp>
    </p:spTree>
    <p:extLst>
      <p:ext uri="{BB962C8B-B14F-4D97-AF65-F5344CB8AC3E}">
        <p14:creationId xmlns:p14="http://schemas.microsoft.com/office/powerpoint/2010/main" val="2710947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MARGENES – CAMINO CRITICO:  </a:t>
            </a:r>
            <a:endParaRPr lang="es-AR" dirty="0"/>
          </a:p>
        </p:txBody>
      </p:sp>
      <p:sp>
        <p:nvSpPr>
          <p:cNvPr id="3" name="Marcador de contenido 2"/>
          <p:cNvSpPr>
            <a:spLocks noGrp="1"/>
          </p:cNvSpPr>
          <p:nvPr>
            <p:ph idx="1"/>
          </p:nvPr>
        </p:nvSpPr>
        <p:spPr>
          <a:xfrm>
            <a:off x="773724" y="1159099"/>
            <a:ext cx="10804384" cy="3858378"/>
          </a:xfrm>
        </p:spPr>
        <p:txBody>
          <a:bodyPr>
            <a:normAutofit/>
          </a:bodyPr>
          <a:lstStyle/>
          <a:p>
            <a:pPr lvl="0"/>
            <a:r>
              <a:rPr lang="es-AR" sz="2000" b="1" dirty="0"/>
              <a:t>MARGEN TOTAL:</a:t>
            </a:r>
            <a:r>
              <a:rPr lang="es-AR" sz="2000" dirty="0"/>
              <a:t> Representa cuanto puede atrasarse una tarea sin atrasar la terminación del proyecto. Este margen condiciona el proyecto hacia atrás y hacia </a:t>
            </a:r>
            <a:r>
              <a:rPr lang="es-AR" sz="2000" dirty="0" smtClean="0"/>
              <a:t>adelante.</a:t>
            </a:r>
          </a:p>
          <a:p>
            <a:pPr lvl="0"/>
            <a:endParaRPr lang="es-AR" sz="2000" dirty="0" smtClean="0"/>
          </a:p>
          <a:p>
            <a:r>
              <a:rPr lang="es-AR" b="1" dirty="0"/>
              <a:t>MARGEN LIBRE:</a:t>
            </a:r>
            <a:r>
              <a:rPr lang="es-AR" dirty="0"/>
              <a:t> Representa cuanto puede retrasarse la iniciación de una tarea, sin que su finalización perturbe el comienzo de las tareas que le siguen. Condiciona el proyecto hacia atrás. Las tareas que están en el camino crítico tienen margen libre nulo</a:t>
            </a:r>
            <a:r>
              <a:rPr lang="es-AR" dirty="0" smtClean="0"/>
              <a:t>.</a:t>
            </a:r>
          </a:p>
          <a:p>
            <a:endParaRPr lang="es-AR" dirty="0"/>
          </a:p>
          <a:p>
            <a:r>
              <a:rPr lang="es-AR" b="1" dirty="0" smtClean="0"/>
              <a:t>MARGEN </a:t>
            </a:r>
            <a:r>
              <a:rPr lang="es-AR" b="1" dirty="0"/>
              <a:t>INDEPENDIENTE:</a:t>
            </a:r>
            <a:r>
              <a:rPr lang="es-AR" dirty="0"/>
              <a:t> Representa cuanto puede moverse la iniciación de una tarea sin que perturbe a las tareas que le preceden ni a las que le siguen.</a:t>
            </a:r>
          </a:p>
          <a:p>
            <a:pPr lvl="0"/>
            <a:endParaRPr lang="es-AR"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6557" y="4606802"/>
            <a:ext cx="2794726" cy="50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2959" y="3391463"/>
            <a:ext cx="2626701" cy="475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959" y="1803414"/>
            <a:ext cx="2508736" cy="468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31800" t="28396" r="30808" b="49446"/>
          <a:stretch/>
        </p:blipFill>
        <p:spPr bwMode="auto">
          <a:xfrm>
            <a:off x="3913151" y="5113093"/>
            <a:ext cx="4646316" cy="15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3418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0:  </a:t>
            </a:r>
            <a:endParaRPr lang="es-AR" dirty="0"/>
          </a:p>
        </p:txBody>
      </p:sp>
      <p:sp>
        <p:nvSpPr>
          <p:cNvPr id="3" name="Marcador de contenido 2"/>
          <p:cNvSpPr>
            <a:spLocks noGrp="1"/>
          </p:cNvSpPr>
          <p:nvPr>
            <p:ph idx="1"/>
          </p:nvPr>
        </p:nvSpPr>
        <p:spPr>
          <a:xfrm>
            <a:off x="1024128" y="1217714"/>
            <a:ext cx="10553979" cy="4901732"/>
          </a:xfrm>
        </p:spPr>
        <p:txBody>
          <a:bodyPr>
            <a:normAutofit/>
          </a:bodyPr>
          <a:lstStyle/>
          <a:p>
            <a:r>
              <a:rPr lang="es-AR" sz="2000" dirty="0"/>
              <a:t>La Compañía constructora PREFAB ha identificado nueve actividades que tiene lugar durante la construcción de una casa.  Las cuales se enumeran a continuación:</a:t>
            </a:r>
          </a:p>
          <a:p>
            <a:pPr lvl="0"/>
            <a:r>
              <a:rPr lang="es-AR" dirty="0" smtClean="0"/>
              <a:t>A) Realice </a:t>
            </a:r>
            <a:r>
              <a:rPr lang="es-AR" dirty="0"/>
              <a:t>la matriz de precedencia del proyecto</a:t>
            </a:r>
          </a:p>
          <a:p>
            <a:pPr lvl="0"/>
            <a:r>
              <a:rPr lang="es-AR" dirty="0" smtClean="0"/>
              <a:t>B) Dibuje </a:t>
            </a:r>
            <a:r>
              <a:rPr lang="es-AR" dirty="0"/>
              <a:t>la red del proyecto</a:t>
            </a:r>
          </a:p>
          <a:p>
            <a:pPr lvl="0"/>
            <a:r>
              <a:rPr lang="es-AR" dirty="0" smtClean="0"/>
              <a:t>C) Calcule </a:t>
            </a:r>
            <a:r>
              <a:rPr lang="es-AR" dirty="0"/>
              <a:t>las fechas Inicio Temprano e Inicio Tardío de cada actividad (o la fecha Temprana y Tardía de cada evento/nodo), así como los Margen Total y Margen Libre de las actividades. Identifique el Camino Crítico.</a:t>
            </a:r>
          </a:p>
          <a:p>
            <a:pPr lvl="0"/>
            <a:r>
              <a:rPr lang="es-AR" dirty="0" smtClean="0"/>
              <a:t>D) Diagrame </a:t>
            </a:r>
            <a:r>
              <a:rPr lang="es-AR" dirty="0"/>
              <a:t>la Red del Camino Crítico. Graficando las actividades a fecha temprana y a fecha tardía.</a:t>
            </a:r>
          </a:p>
          <a:p>
            <a:pPr lvl="0"/>
            <a:r>
              <a:rPr lang="es-AR" dirty="0" smtClean="0"/>
              <a:t>E) Construya </a:t>
            </a:r>
            <a:r>
              <a:rPr lang="es-AR" dirty="0"/>
              <a:t>el Diagrama Calendario para las Fechas Tempranas y Tardías. Teniendo en cuenta que CN es un valor fijo para cada actividad que incluye MOD y MP donde el 60% representa a la MP y el resto es la MOD. La tasa de interés es del 1 %. </a:t>
            </a:r>
          </a:p>
          <a:p>
            <a:endParaRPr lang="es-AR" dirty="0"/>
          </a:p>
        </p:txBody>
      </p:sp>
    </p:spTree>
    <p:extLst>
      <p:ext uri="{BB962C8B-B14F-4D97-AF65-F5344CB8AC3E}">
        <p14:creationId xmlns:p14="http://schemas.microsoft.com/office/powerpoint/2010/main" val="1069016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0:  </a:t>
            </a:r>
            <a:endParaRPr lang="es-AR" dirty="0"/>
          </a:p>
        </p:txBody>
      </p:sp>
      <p:sp>
        <p:nvSpPr>
          <p:cNvPr id="3" name="Marcador de contenido 2"/>
          <p:cNvSpPr>
            <a:spLocks noGrp="1"/>
          </p:cNvSpPr>
          <p:nvPr>
            <p:ph idx="1"/>
          </p:nvPr>
        </p:nvSpPr>
        <p:spPr>
          <a:xfrm>
            <a:off x="1024128" y="3161928"/>
            <a:ext cx="10553979" cy="411794"/>
          </a:xfrm>
        </p:spPr>
        <p:txBody>
          <a:bodyPr>
            <a:normAutofit/>
          </a:bodyPr>
          <a:lstStyle/>
          <a:p>
            <a:r>
              <a:rPr lang="es-AR" sz="2000" dirty="0"/>
              <a:t>Una vez obtenida la matriz de precedencias podemos empezar a diagramar la </a:t>
            </a:r>
            <a:r>
              <a:rPr lang="es-AR" sz="2000" b="1" dirty="0"/>
              <a:t>red del proyecto</a:t>
            </a:r>
            <a:endParaRPr lang="es-AR" dirty="0"/>
          </a:p>
        </p:txBody>
      </p:sp>
      <p:pic>
        <p:nvPicPr>
          <p:cNvPr id="1638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8561" r="28728"/>
          <a:stretch/>
        </p:blipFill>
        <p:spPr bwMode="auto">
          <a:xfrm>
            <a:off x="4794737" y="744664"/>
            <a:ext cx="2590801" cy="261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Marcador de contenido 2"/>
          <p:cNvSpPr txBox="1">
            <a:spLocks/>
          </p:cNvSpPr>
          <p:nvPr/>
        </p:nvSpPr>
        <p:spPr>
          <a:xfrm>
            <a:off x="1024128" y="1217714"/>
            <a:ext cx="10553979" cy="41179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r>
              <a:rPr lang="es-AR" sz="2000" b="1" smtClean="0"/>
              <a:t>Matriz de Precedencias</a:t>
            </a:r>
            <a:endParaRPr lang="es-AR" dirty="0"/>
          </a:p>
        </p:txBody>
      </p:sp>
      <p:grpSp>
        <p:nvGrpSpPr>
          <p:cNvPr id="10" name="9 Grupo"/>
          <p:cNvGrpSpPr/>
          <p:nvPr/>
        </p:nvGrpSpPr>
        <p:grpSpPr>
          <a:xfrm>
            <a:off x="2977661" y="3762365"/>
            <a:ext cx="6400800" cy="2684583"/>
            <a:chOff x="3048000" y="3516923"/>
            <a:chExt cx="6400800" cy="2684583"/>
          </a:xfrm>
        </p:grpSpPr>
        <p:pic>
          <p:nvPicPr>
            <p:cNvPr id="11"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28466" t="52163" r="23330" b="12901"/>
            <a:stretch/>
          </p:blipFill>
          <p:spPr bwMode="auto">
            <a:xfrm>
              <a:off x="3176954" y="3645875"/>
              <a:ext cx="6271846" cy="2555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Rectángulo"/>
            <p:cNvSpPr/>
            <p:nvPr/>
          </p:nvSpPr>
          <p:spPr>
            <a:xfrm>
              <a:off x="3048000" y="3516923"/>
              <a:ext cx="902677" cy="4806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spTree>
    <p:extLst>
      <p:ext uri="{BB962C8B-B14F-4D97-AF65-F5344CB8AC3E}">
        <p14:creationId xmlns:p14="http://schemas.microsoft.com/office/powerpoint/2010/main" val="382026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0:  </a:t>
            </a:r>
            <a:endParaRPr lang="es-AR" dirty="0"/>
          </a:p>
        </p:txBody>
      </p:sp>
      <p:sp>
        <p:nvSpPr>
          <p:cNvPr id="6" name="Marcador de contenido 2"/>
          <p:cNvSpPr txBox="1">
            <a:spLocks/>
          </p:cNvSpPr>
          <p:nvPr/>
        </p:nvSpPr>
        <p:spPr>
          <a:xfrm>
            <a:off x="1024128" y="1217713"/>
            <a:ext cx="10553979" cy="3061209"/>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r>
              <a:rPr lang="es-AR" sz="2000" dirty="0"/>
              <a:t>n</a:t>
            </a:r>
            <a:r>
              <a:rPr lang="es-AR" sz="2000" dirty="0" smtClean="0"/>
              <a:t>o </a:t>
            </a:r>
            <a:r>
              <a:rPr lang="es-AR" sz="2000" dirty="0"/>
              <a:t>es válido hacer que 2 actividades diferentes tengan el mismo nodo inicio y nodo fin dado que esto nos traería consecuencias en los cálculos del camino crítico que veremos más adelante</a:t>
            </a:r>
            <a:r>
              <a:rPr lang="es-AR" sz="2000" dirty="0" smtClean="0"/>
              <a:t>.</a:t>
            </a:r>
          </a:p>
          <a:p>
            <a:endParaRPr lang="es-AR" sz="2000" dirty="0" smtClean="0"/>
          </a:p>
          <a:p>
            <a:r>
              <a:rPr lang="es-AR" sz="2000" dirty="0" smtClean="0"/>
              <a:t>Este </a:t>
            </a:r>
            <a:r>
              <a:rPr lang="es-AR" sz="2000" dirty="0"/>
              <a:t>inconveniente se soluciona fácilmente haciendo uso de las tareas ficticias</a:t>
            </a:r>
          </a:p>
          <a:p>
            <a:endParaRPr lang="es-AR" sz="2000"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245" y="1863725"/>
            <a:ext cx="1857375" cy="539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188" y="2748317"/>
            <a:ext cx="21907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27030" t="23878" r="24316" b="43750"/>
          <a:stretch/>
        </p:blipFill>
        <p:spPr bwMode="auto">
          <a:xfrm>
            <a:off x="1872439" y="3821723"/>
            <a:ext cx="7646698" cy="2860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5789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0:  </a:t>
            </a:r>
            <a:endParaRPr lang="es-AR"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2288" y="1339117"/>
            <a:ext cx="6065837" cy="25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2288" y="3888642"/>
            <a:ext cx="6143625" cy="2295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013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0:  </a:t>
            </a:r>
            <a:endParaRPr lang="es-AR"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231" y="1101968"/>
            <a:ext cx="11218984" cy="2622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262" y="3771997"/>
            <a:ext cx="6402509" cy="2726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5460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738" y="493713"/>
            <a:ext cx="11054862" cy="628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7359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1:  </a:t>
            </a:r>
            <a:endParaRPr lang="es-AR" dirty="0"/>
          </a:p>
        </p:txBody>
      </p:sp>
      <p:sp>
        <p:nvSpPr>
          <p:cNvPr id="3" name="Marcador de contenido 2"/>
          <p:cNvSpPr>
            <a:spLocks noGrp="1"/>
          </p:cNvSpPr>
          <p:nvPr>
            <p:ph idx="1"/>
          </p:nvPr>
        </p:nvSpPr>
        <p:spPr>
          <a:xfrm>
            <a:off x="1024128" y="1159100"/>
            <a:ext cx="10553979" cy="2264038"/>
          </a:xfrm>
        </p:spPr>
        <p:txBody>
          <a:bodyPr>
            <a:normAutofit/>
          </a:bodyPr>
          <a:lstStyle/>
          <a:p>
            <a:pPr lvl="0"/>
            <a:r>
              <a:rPr lang="es-AR" sz="2000" dirty="0"/>
              <a:t>Una cadena de restaurantes </a:t>
            </a:r>
            <a:r>
              <a:rPr lang="es-AR" sz="2000" dirty="0" err="1"/>
              <a:t>fast-food</a:t>
            </a:r>
            <a:r>
              <a:rPr lang="es-AR" sz="2000" dirty="0"/>
              <a:t> desea adquirir un nuevo equipamiento que la permita llevar su contabilidad y realizar el control de inventarios. Una empresa de ordenadores presenta al Director de Marketing la siguiente información.</a:t>
            </a:r>
          </a:p>
          <a:p>
            <a:pPr lvl="0"/>
            <a:r>
              <a:rPr lang="es-AR" sz="2000" dirty="0" smtClean="0"/>
              <a:t>A) Diagrame </a:t>
            </a:r>
            <a:r>
              <a:rPr lang="es-AR" sz="2000" dirty="0"/>
              <a:t>la red y determine la duración esperada del proyecto y su camino crítico (justifique)</a:t>
            </a:r>
          </a:p>
          <a:p>
            <a:pPr lvl="0"/>
            <a:r>
              <a:rPr lang="es-AR" sz="2000" dirty="0" smtClean="0"/>
              <a:t>B) Calcule </a:t>
            </a:r>
            <a:r>
              <a:rPr lang="es-AR" sz="2000" dirty="0"/>
              <a:t>el </a:t>
            </a:r>
            <a:r>
              <a:rPr lang="es-AR" sz="2000" b="1" dirty="0"/>
              <a:t>VAN a fecha tardía</a:t>
            </a:r>
            <a:r>
              <a:rPr lang="es-AR" sz="2000" dirty="0"/>
              <a:t> Considerando que se estima que se requiere de 6 UM por cada unidad de tiempo para la MP y la MOD infiere un costo del 40% del total de MP. Interés 1%</a:t>
            </a:r>
          </a:p>
          <a:p>
            <a:endParaRPr lang="es-A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446" y="3540002"/>
            <a:ext cx="6153273" cy="2879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4085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1</a:t>
            </a:r>
            <a:r>
              <a:rPr lang="es-AR" dirty="0" smtClean="0"/>
              <a:t>:  </a:t>
            </a:r>
            <a:endParaRPr lang="es-AR" dirty="0"/>
          </a:p>
        </p:txBody>
      </p:sp>
      <p:pic>
        <p:nvPicPr>
          <p:cNvPr id="5"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r="3495"/>
          <a:stretch/>
        </p:blipFill>
        <p:spPr bwMode="auto">
          <a:xfrm>
            <a:off x="1709738" y="1184031"/>
            <a:ext cx="9028600" cy="537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125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1</a:t>
            </a:r>
            <a:r>
              <a:rPr lang="es-AR" dirty="0" smtClean="0"/>
              <a:t>:  </a:t>
            </a:r>
            <a:endParaRPr lang="es-AR" dirty="0"/>
          </a:p>
        </p:txBody>
      </p:sp>
      <p:pic>
        <p:nvPicPr>
          <p:cNvPr id="4101"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r="9728" b="7498"/>
          <a:stretch/>
        </p:blipFill>
        <p:spPr bwMode="auto">
          <a:xfrm>
            <a:off x="128953" y="1249602"/>
            <a:ext cx="11912946" cy="4799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5798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2:  </a:t>
            </a:r>
            <a:endParaRPr lang="es-AR" dirty="0"/>
          </a:p>
        </p:txBody>
      </p:sp>
      <p:sp>
        <p:nvSpPr>
          <p:cNvPr id="3" name="Marcador de contenido 2"/>
          <p:cNvSpPr>
            <a:spLocks noGrp="1"/>
          </p:cNvSpPr>
          <p:nvPr>
            <p:ph idx="1"/>
          </p:nvPr>
        </p:nvSpPr>
        <p:spPr>
          <a:xfrm>
            <a:off x="1024128" y="1159100"/>
            <a:ext cx="10553979" cy="2264038"/>
          </a:xfrm>
        </p:spPr>
        <p:txBody>
          <a:bodyPr>
            <a:normAutofit lnSpcReduction="10000"/>
          </a:bodyPr>
          <a:lstStyle/>
          <a:p>
            <a:pPr lvl="0"/>
            <a:r>
              <a:rPr lang="es-AR" dirty="0"/>
              <a:t>Dada la siguiente tabla de precedencias</a:t>
            </a:r>
          </a:p>
          <a:p>
            <a:pPr lvl="0"/>
            <a:r>
              <a:rPr lang="es-AR" dirty="0" smtClean="0"/>
              <a:t>A) Diagrame </a:t>
            </a:r>
            <a:r>
              <a:rPr lang="es-AR" dirty="0"/>
              <a:t>la red y determine la duración esperada del proyecto y su camino crítico (justifique)</a:t>
            </a:r>
          </a:p>
          <a:p>
            <a:pPr lvl="0"/>
            <a:r>
              <a:rPr lang="es-AR" dirty="0" smtClean="0"/>
              <a:t>B) Calcule </a:t>
            </a:r>
            <a:r>
              <a:rPr lang="es-AR" dirty="0"/>
              <a:t>el </a:t>
            </a:r>
            <a:r>
              <a:rPr lang="es-AR" b="1" dirty="0"/>
              <a:t>VAN a fecha temprana</a:t>
            </a:r>
            <a:r>
              <a:rPr lang="es-AR" dirty="0"/>
              <a:t> Considerando que se estima que se requiere de 6 UM por cada unidad de tiempo para la MP y la MOD infiere un costo del 40% del total de MP. Interés 1%</a:t>
            </a:r>
          </a:p>
          <a:p>
            <a:endParaRPr lang="es-AR"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1140" y="3485051"/>
            <a:ext cx="5719763" cy="287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6272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2:  </a:t>
            </a:r>
            <a:endParaRPr lang="es-AR"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3590" b="10827"/>
          <a:stretch/>
        </p:blipFill>
        <p:spPr bwMode="auto">
          <a:xfrm>
            <a:off x="2025529" y="3468932"/>
            <a:ext cx="8255610" cy="2802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2481" y="1235319"/>
            <a:ext cx="34671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7589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2:  </a:t>
            </a:r>
            <a:endParaRPr lang="es-AR"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246" y="1265311"/>
            <a:ext cx="11523785" cy="5498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9096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3</a:t>
            </a:r>
            <a:r>
              <a:rPr lang="es-AR" dirty="0" smtClean="0"/>
              <a:t>:  </a:t>
            </a:r>
            <a:endParaRPr lang="es-AR" dirty="0"/>
          </a:p>
        </p:txBody>
      </p:sp>
      <p:sp>
        <p:nvSpPr>
          <p:cNvPr id="3" name="Marcador de contenido 2"/>
          <p:cNvSpPr>
            <a:spLocks noGrp="1"/>
          </p:cNvSpPr>
          <p:nvPr>
            <p:ph idx="1"/>
          </p:nvPr>
        </p:nvSpPr>
        <p:spPr>
          <a:xfrm>
            <a:off x="762000" y="1159100"/>
            <a:ext cx="10816107" cy="4702438"/>
          </a:xfrm>
        </p:spPr>
        <p:txBody>
          <a:bodyPr>
            <a:noAutofit/>
          </a:bodyPr>
          <a:lstStyle/>
          <a:p>
            <a:pPr marL="128016" lvl="1" indent="0">
              <a:buNone/>
            </a:pPr>
            <a:r>
              <a:rPr lang="es-AR" dirty="0">
                <a:latin typeface="Calibri" pitchFamily="34" charset="0"/>
              </a:rPr>
              <a:t>La empresa </a:t>
            </a:r>
            <a:r>
              <a:rPr lang="es-AR" dirty="0" err="1">
                <a:latin typeface="Calibri" pitchFamily="34" charset="0"/>
              </a:rPr>
              <a:t>Fadepel</a:t>
            </a:r>
            <a:r>
              <a:rPr lang="es-AR" dirty="0">
                <a:latin typeface="Calibri" pitchFamily="34" charset="0"/>
              </a:rPr>
              <a:t> ha recibido una intimación de la Agencia de Protección Ambiental para instalar en su planta un sistema de control de contaminación del aire. </a:t>
            </a:r>
            <a:r>
              <a:rPr lang="es-AR" dirty="0" err="1">
                <a:latin typeface="Calibri" pitchFamily="34" charset="0"/>
              </a:rPr>
              <a:t>Fadepel</a:t>
            </a:r>
            <a:r>
              <a:rPr lang="es-AR" dirty="0">
                <a:latin typeface="Calibri" pitchFamily="34" charset="0"/>
              </a:rPr>
              <a:t> ha identificado 8 actividades principales que debe realizar para realizar el proyecto de instalación. Cuando el proyecto comience, se pueden realizar 2 actividades en forma simultánea: construir los componentes internos para el dispositivo (actividad A) y hacer las modificaciones necesarias en los pisos y techos (B). La construcción de la pila de recolección (C) puede comenzar cuando los componentes internos estén instalados. El vaciado del piso de concreto y la instalación del marco (D) pueden comenzar tan pronto como los componentes internos estén completos y los techos y pisos hayan sido modificados.</a:t>
            </a:r>
          </a:p>
          <a:p>
            <a:r>
              <a:rPr lang="es-AR" sz="1800" dirty="0">
                <a:latin typeface="Calibri" pitchFamily="34" charset="0"/>
              </a:rPr>
              <a:t>Después de construir la pila de recolección, pueden comenzar 2 actividades más: la construcción del horno de alta temperatura (E) y la instalación del sistema de control de contaminación (F). El dispositivo para el aire contaminado puede instalarse (G) después de vaciar el piso de concreto, instalar el marco y construir el horno de alta temperatura. Por último, una vez instalado el sistema de control y el dispositivo para el aire contaminado, se puede inspeccionar y probar el sistema (H).</a:t>
            </a:r>
          </a:p>
          <a:p>
            <a:endParaRPr lang="es-AR" sz="2000" dirty="0"/>
          </a:p>
        </p:txBody>
      </p:sp>
    </p:spTree>
    <p:extLst>
      <p:ext uri="{BB962C8B-B14F-4D97-AF65-F5344CB8AC3E}">
        <p14:creationId xmlns:p14="http://schemas.microsoft.com/office/powerpoint/2010/main" val="2603659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3</a:t>
            </a:r>
            <a:r>
              <a:rPr lang="es-AR" dirty="0" smtClean="0"/>
              <a:t>:  </a:t>
            </a:r>
            <a:endParaRPr lang="es-AR" dirty="0"/>
          </a:p>
        </p:txBody>
      </p:sp>
      <p:sp>
        <p:nvSpPr>
          <p:cNvPr id="3" name="Marcador de contenido 2"/>
          <p:cNvSpPr>
            <a:spLocks noGrp="1"/>
          </p:cNvSpPr>
          <p:nvPr>
            <p:ph idx="1"/>
          </p:nvPr>
        </p:nvSpPr>
        <p:spPr>
          <a:xfrm>
            <a:off x="762000" y="1159100"/>
            <a:ext cx="10816107" cy="2545392"/>
          </a:xfrm>
        </p:spPr>
        <p:txBody>
          <a:bodyPr>
            <a:noAutofit/>
          </a:bodyPr>
          <a:lstStyle/>
          <a:p>
            <a:pPr lvl="0"/>
            <a:r>
              <a:rPr lang="es-AR" sz="1800" dirty="0"/>
              <a:t>Calcular la fecha temprana y tardía para cada uno de los nodos de la red del proyecto, atendiendo a la precedencia de las actividades. Calcular la duración total del proyecto. Identificar cuáles son las actividades críticas.</a:t>
            </a:r>
          </a:p>
          <a:p>
            <a:pPr lvl="0"/>
            <a:r>
              <a:rPr lang="es-AR" sz="1800" dirty="0"/>
              <a:t>Si el costo de mano de obra de cada actividad se estima en $17.000, por cada semana de proyecto, y se paga a semana vencida. ¿Cuál es el VAN del proyecto si se trabaja a fecha “tardía”, y cuál sería el valor a fecha “temprana”, en ambos casos con una tasa de 1,5%?</a:t>
            </a:r>
          </a:p>
          <a:p>
            <a:pPr lvl="0"/>
            <a:r>
              <a:rPr lang="es-AR" sz="1800" dirty="0"/>
              <a:t>Indique ¿a qué tipo de fecha (temprana o tardía) convendría gestionar el proyecto desde el punto de vista financiero?</a:t>
            </a:r>
          </a:p>
          <a:p>
            <a:endParaRPr lang="es-AR" sz="2000"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0392" y="3966064"/>
            <a:ext cx="381952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1762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3</a:t>
            </a:r>
            <a:r>
              <a:rPr lang="es-AR" dirty="0" smtClean="0"/>
              <a:t>:  </a:t>
            </a:r>
            <a:endParaRPr lang="es-AR"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2042" y="1246310"/>
            <a:ext cx="5372100"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286" y="3599717"/>
            <a:ext cx="1050607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5426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3</a:t>
            </a:r>
            <a:r>
              <a:rPr lang="es-AR" dirty="0" smtClean="0"/>
              <a:t>:  </a:t>
            </a:r>
            <a:endParaRPr lang="es-AR"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945" y="1840524"/>
            <a:ext cx="11923099" cy="3470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2344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4</a:t>
            </a:r>
            <a:r>
              <a:rPr lang="es-AR" dirty="0" smtClean="0"/>
              <a:t>:  </a:t>
            </a:r>
            <a:endParaRPr lang="es-AR" dirty="0"/>
          </a:p>
        </p:txBody>
      </p:sp>
      <p:sp>
        <p:nvSpPr>
          <p:cNvPr id="3" name="Marcador de contenido 2"/>
          <p:cNvSpPr>
            <a:spLocks noGrp="1"/>
          </p:cNvSpPr>
          <p:nvPr>
            <p:ph idx="1"/>
          </p:nvPr>
        </p:nvSpPr>
        <p:spPr>
          <a:xfrm>
            <a:off x="1024128" y="1159099"/>
            <a:ext cx="10553979" cy="2486777"/>
          </a:xfrm>
        </p:spPr>
        <p:txBody>
          <a:bodyPr>
            <a:normAutofit fontScale="85000" lnSpcReduction="20000"/>
          </a:bodyPr>
          <a:lstStyle/>
          <a:p>
            <a:pPr lvl="0"/>
            <a:r>
              <a:rPr lang="es-AR" dirty="0"/>
              <a:t>La empresa </a:t>
            </a:r>
            <a:r>
              <a:rPr lang="es-AR" dirty="0" err="1"/>
              <a:t>Induclor</a:t>
            </a:r>
            <a:r>
              <a:rPr lang="es-AR" dirty="0"/>
              <a:t> le informa a Usted las actividades de un proyecto que se lista a continuación.</a:t>
            </a:r>
          </a:p>
          <a:p>
            <a:pPr lvl="0"/>
            <a:r>
              <a:rPr lang="es-AR" dirty="0"/>
              <a:t>Se pide: calcular la duración esperada y la varianza para cada una de las actividades. Calcular el tiempo total del proyecto e Identificar cuáles son las actividades críticas.</a:t>
            </a:r>
          </a:p>
          <a:p>
            <a:pPr lvl="0"/>
            <a:r>
              <a:rPr lang="es-AR" dirty="0"/>
              <a:t>Si el costo de mano de obra de cada actividad se estima en $12.000, por cada semana de proyecto, y se paga a semana vencida. ¿Cuál es el VAN del proyecto si se trabaja a fecha “tardía”, y cuál sería el valor a fecha “temprana”, en ambos casos con una tasa de 1%?</a:t>
            </a:r>
          </a:p>
          <a:p>
            <a:pPr lvl="0"/>
            <a:r>
              <a:rPr lang="es-AR" dirty="0"/>
              <a:t>Indique ¿a qué tipo de fecha (temprana o tardía) convendría gestionar el proyecto desde el punto de vista financiero?</a:t>
            </a:r>
          </a:p>
          <a:p>
            <a:endParaRPr lang="es-AR"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2354" y="3721343"/>
            <a:ext cx="5756275" cy="226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6626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4:  </a:t>
            </a:r>
            <a:endParaRPr lang="es-AR"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0437" y="1305169"/>
            <a:ext cx="519112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194" y="3753827"/>
            <a:ext cx="10506075"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8038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4:  </a:t>
            </a:r>
            <a:endParaRPr lang="es-AR"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1" y="2074986"/>
            <a:ext cx="11840308" cy="3288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6538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5</a:t>
            </a:r>
            <a:r>
              <a:rPr lang="es-AR" dirty="0" smtClean="0"/>
              <a:t>:  </a:t>
            </a:r>
            <a:endParaRPr lang="es-AR" dirty="0"/>
          </a:p>
        </p:txBody>
      </p:sp>
      <p:sp>
        <p:nvSpPr>
          <p:cNvPr id="3" name="Marcador de contenido 2"/>
          <p:cNvSpPr>
            <a:spLocks noGrp="1"/>
          </p:cNvSpPr>
          <p:nvPr>
            <p:ph idx="1"/>
          </p:nvPr>
        </p:nvSpPr>
        <p:spPr>
          <a:xfrm>
            <a:off x="1024128" y="1159099"/>
            <a:ext cx="10553979" cy="2486777"/>
          </a:xfrm>
        </p:spPr>
        <p:txBody>
          <a:bodyPr>
            <a:normAutofit fontScale="92500" lnSpcReduction="20000"/>
          </a:bodyPr>
          <a:lstStyle/>
          <a:p>
            <a:pPr lvl="0"/>
            <a:r>
              <a:rPr lang="es-AR" dirty="0"/>
              <a:t>Un promotor de un concierto debe llevar a cabo las siguientes tareas antes de celebrar el concierto</a:t>
            </a:r>
            <a:r>
              <a:rPr lang="es-AR" dirty="0" smtClean="0"/>
              <a:t>:</a:t>
            </a:r>
          </a:p>
          <a:p>
            <a:pPr lvl="0"/>
            <a:r>
              <a:rPr lang="es-AR" dirty="0"/>
              <a:t>A) Realizar la Red y determinar la </a:t>
            </a:r>
            <a:r>
              <a:rPr lang="es-AR" dirty="0" err="1"/>
              <a:t>duracion</a:t>
            </a:r>
            <a:r>
              <a:rPr lang="es-AR" dirty="0"/>
              <a:t> estimada del proyecto. Establecer y marcar en la Red el Camino Critico</a:t>
            </a:r>
            <a:r>
              <a:rPr lang="es-AR" dirty="0" smtClean="0"/>
              <a:t>.</a:t>
            </a:r>
          </a:p>
          <a:p>
            <a:pPr lvl="0"/>
            <a:r>
              <a:rPr lang="es-AR" dirty="0"/>
              <a:t>B) Si el promotor anticipado quiere tener una probabilidad de 99% de completar las preparaciones el 27 de Julio. ¿Cuándo debe comenzar el trabajo de hallar un sitio para el concierto (Tarea A</a:t>
            </a:r>
            <a:r>
              <a:rPr lang="es-AR" dirty="0" smtClean="0"/>
              <a:t>)?</a:t>
            </a:r>
          </a:p>
          <a:p>
            <a:pPr lvl="0"/>
            <a:r>
              <a:rPr lang="es-AR" dirty="0"/>
              <a:t>C) ¿Qué es una Actividad o Tarea Critica</a:t>
            </a:r>
            <a:r>
              <a:rPr lang="es-AR" dirty="0" smtClean="0"/>
              <a:t>?</a:t>
            </a:r>
          </a:p>
          <a:p>
            <a:pPr lvl="0"/>
            <a:r>
              <a:rPr lang="es-AR" dirty="0"/>
              <a:t>D) Realizar el Diagrama de Gantt a Fecha </a:t>
            </a:r>
            <a:r>
              <a:rPr lang="es-AR" dirty="0" err="1"/>
              <a:t>Tardia</a:t>
            </a:r>
            <a:r>
              <a:rPr lang="es-AR" dirty="0"/>
              <a:t> de las tareas y sus </a:t>
            </a:r>
            <a:r>
              <a:rPr lang="es-AR" dirty="0" err="1"/>
              <a:t>Margenes</a:t>
            </a:r>
            <a:r>
              <a:rPr lang="es-AR" dirty="0"/>
              <a:t>.</a:t>
            </a:r>
            <a:endParaRPr lang="es-A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165" y="3919171"/>
            <a:ext cx="2628900"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5758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5</a:t>
            </a:r>
            <a:r>
              <a:rPr lang="es-AR" dirty="0" smtClean="0"/>
              <a:t>:  </a:t>
            </a:r>
            <a:endParaRPr lang="es-A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348" y="2037618"/>
            <a:ext cx="5476875"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75" y="2037618"/>
            <a:ext cx="5505450"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6379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5</a:t>
            </a:r>
            <a:r>
              <a:rPr lang="es-AR" dirty="0" smtClean="0"/>
              <a:t>:  </a:t>
            </a:r>
            <a:endParaRPr lang="es-A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693" y="1600200"/>
            <a:ext cx="9769387" cy="46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153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6</a:t>
            </a:r>
            <a:r>
              <a:rPr lang="es-AR" dirty="0" smtClean="0"/>
              <a:t>:  </a:t>
            </a:r>
            <a:endParaRPr lang="es-AR" dirty="0"/>
          </a:p>
        </p:txBody>
      </p:sp>
      <p:sp>
        <p:nvSpPr>
          <p:cNvPr id="3" name="Marcador de contenido 2"/>
          <p:cNvSpPr>
            <a:spLocks noGrp="1"/>
          </p:cNvSpPr>
          <p:nvPr>
            <p:ph idx="1"/>
          </p:nvPr>
        </p:nvSpPr>
        <p:spPr>
          <a:xfrm>
            <a:off x="1024128" y="1159099"/>
            <a:ext cx="10553979" cy="2486777"/>
          </a:xfrm>
        </p:spPr>
        <p:txBody>
          <a:bodyPr>
            <a:normAutofit fontScale="62500" lnSpcReduction="20000"/>
          </a:bodyPr>
          <a:lstStyle/>
          <a:p>
            <a:pPr lvl="0"/>
            <a:r>
              <a:rPr lang="es-AR" dirty="0"/>
              <a:t>Para llevar a cabo una auditoria contable se debe realizar las siguientes actividades conocidas</a:t>
            </a:r>
            <a:r>
              <a:rPr lang="es-AR" dirty="0" smtClean="0"/>
              <a:t>:</a:t>
            </a:r>
          </a:p>
          <a:p>
            <a:pPr lvl="0"/>
            <a:r>
              <a:rPr lang="es-AR" dirty="0"/>
              <a:t>A) Realizar la Red y determinar la </a:t>
            </a:r>
            <a:r>
              <a:rPr lang="es-AR" dirty="0" err="1"/>
              <a:t>duracion</a:t>
            </a:r>
            <a:r>
              <a:rPr lang="es-AR" dirty="0"/>
              <a:t> del proyecto. Calcular los </a:t>
            </a:r>
            <a:r>
              <a:rPr lang="es-AR" dirty="0" err="1"/>
              <a:t>Margenes</a:t>
            </a:r>
            <a:r>
              <a:rPr lang="es-AR" dirty="0"/>
              <a:t> de las </a:t>
            </a:r>
            <a:r>
              <a:rPr lang="es-AR" dirty="0" err="1"/>
              <a:t>Treas</a:t>
            </a:r>
            <a:r>
              <a:rPr lang="es-AR" dirty="0"/>
              <a:t>. Establecer y marcar en la Red el Camino Critico</a:t>
            </a:r>
            <a:r>
              <a:rPr lang="es-AR" dirty="0" smtClean="0"/>
              <a:t>.</a:t>
            </a:r>
          </a:p>
          <a:p>
            <a:pPr lvl="0"/>
            <a:r>
              <a:rPr lang="es-AR" dirty="0"/>
              <a:t>B) Realizar el Diagrama de Gantt a fecha Temprana de las tareas y sus </a:t>
            </a:r>
            <a:r>
              <a:rPr lang="es-AR" dirty="0" err="1"/>
              <a:t>Margenes</a:t>
            </a:r>
            <a:r>
              <a:rPr lang="es-AR" dirty="0" smtClean="0"/>
              <a:t>.</a:t>
            </a:r>
          </a:p>
          <a:p>
            <a:pPr lvl="0"/>
            <a:r>
              <a:rPr lang="es-AR" dirty="0"/>
              <a:t>C) ¿Cómo se </a:t>
            </a:r>
            <a:r>
              <a:rPr lang="es-AR" dirty="0" err="1"/>
              <a:t>deteremina</a:t>
            </a:r>
            <a:r>
              <a:rPr lang="es-AR" dirty="0"/>
              <a:t> el Camino Critico de un Proyecto</a:t>
            </a:r>
            <a:r>
              <a:rPr lang="es-AR" dirty="0" smtClean="0"/>
              <a:t>?</a:t>
            </a:r>
          </a:p>
          <a:p>
            <a:pPr lvl="0"/>
            <a:r>
              <a:rPr lang="es-AR" dirty="0"/>
              <a:t>D) Suponga el proyecto se debe terminar 5 días antes</a:t>
            </a:r>
            <a:r>
              <a:rPr lang="es-AR" dirty="0" smtClean="0"/>
              <a:t>:</a:t>
            </a:r>
          </a:p>
          <a:p>
            <a:pPr lvl="0"/>
            <a:r>
              <a:rPr lang="es-AR" dirty="0"/>
              <a:t>* ¿Qué tareas </a:t>
            </a:r>
            <a:r>
              <a:rPr lang="es-AR" dirty="0" err="1"/>
              <a:t>propondria</a:t>
            </a:r>
            <a:r>
              <a:rPr lang="es-AR" dirty="0"/>
              <a:t> adelantar? ¿Por qué</a:t>
            </a:r>
            <a:r>
              <a:rPr lang="es-AR" dirty="0" smtClean="0"/>
              <a:t>?</a:t>
            </a:r>
          </a:p>
          <a:p>
            <a:pPr lvl="0"/>
            <a:r>
              <a:rPr lang="es-AR" dirty="0"/>
              <a:t>* Según los siguientes costos por Acelerar tareas, determine una opción para adelantar estos 5 días y el costo extra que </a:t>
            </a:r>
            <a:r>
              <a:rPr lang="es-AR" dirty="0" err="1"/>
              <a:t>tendra</a:t>
            </a:r>
            <a:r>
              <a:rPr lang="es-AR" dirty="0"/>
              <a:t> el Proyecto.</a:t>
            </a:r>
            <a:endParaRPr lang="es-A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013" y="3930895"/>
            <a:ext cx="298132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664" y="4390293"/>
            <a:ext cx="4477643" cy="573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7124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6</a:t>
            </a:r>
            <a:r>
              <a:rPr lang="es-AR" dirty="0" smtClean="0"/>
              <a:t>:  </a:t>
            </a:r>
            <a:endParaRPr lang="es-AR" dirty="0"/>
          </a:p>
        </p:txBody>
      </p:sp>
      <p:pic>
        <p:nvPicPr>
          <p:cNvPr id="5132"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3296" y="1334045"/>
            <a:ext cx="8821982" cy="5276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9756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4128" y="585216"/>
            <a:ext cx="8197145" cy="573883"/>
          </a:xfrm>
        </p:spPr>
        <p:txBody>
          <a:bodyPr>
            <a:normAutofit fontScale="90000"/>
          </a:bodyPr>
          <a:lstStyle/>
          <a:p>
            <a:r>
              <a:rPr lang="es-AR" dirty="0" smtClean="0"/>
              <a:t>Ejercicio </a:t>
            </a:r>
            <a:r>
              <a:rPr lang="es-AR" dirty="0"/>
              <a:t>6</a:t>
            </a:r>
            <a:r>
              <a:rPr lang="es-AR" dirty="0" smtClean="0"/>
              <a:t>:  </a:t>
            </a:r>
            <a:endParaRPr lang="es-AR"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75" y="1993654"/>
            <a:ext cx="10687050" cy="381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75027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 xmlns:thm15="http://schemas.microsoft.com/office/thememl/2012/main" name="Integral" id="{3577F8C9-A904-41D8-97D2-FD898F53F20E}" vid="{C1C93EF2-4785-427F-84A5-F1666490E9CE}"/>
    </a:ext>
  </a:extLst>
</a:theme>
</file>

<file path=docProps/app.xml><?xml version="1.0" encoding="utf-8"?>
<Properties xmlns="http://schemas.openxmlformats.org/officeDocument/2006/extended-properties" xmlns:vt="http://schemas.openxmlformats.org/officeDocument/2006/docPropsVTypes">
  <Template>Integral</Template>
  <TotalTime>197</TotalTime>
  <Words>1286</Words>
  <Application>Microsoft Office PowerPoint</Application>
  <PresentationFormat>Personalizado</PresentationFormat>
  <Paragraphs>70</Paragraphs>
  <Slides>27</Slides>
  <Notes>0</Notes>
  <HiddenSlides>0</HiddenSlides>
  <MMClips>0</MMClips>
  <ScaleCrop>false</ScaleCrop>
  <HeadingPairs>
    <vt:vector size="4" baseType="variant">
      <vt:variant>
        <vt:lpstr>Tema</vt:lpstr>
      </vt:variant>
      <vt:variant>
        <vt:i4>1</vt:i4>
      </vt:variant>
      <vt:variant>
        <vt:lpstr>Títulos de diapositiva</vt:lpstr>
      </vt:variant>
      <vt:variant>
        <vt:i4>27</vt:i4>
      </vt:variant>
    </vt:vector>
  </HeadingPairs>
  <TitlesOfParts>
    <vt:vector size="28" baseType="lpstr">
      <vt:lpstr>Integral</vt:lpstr>
      <vt:lpstr>Ejercicios Camino Critico y PERT</vt:lpstr>
      <vt:lpstr>MARGENES – CAMINO CRITICO:  </vt:lpstr>
      <vt:lpstr>Ejercicio 0:  </vt:lpstr>
      <vt:lpstr>Ejercicio 0:  </vt:lpstr>
      <vt:lpstr>Ejercicio 0:  </vt:lpstr>
      <vt:lpstr>Ejercicio 0:  </vt:lpstr>
      <vt:lpstr>Ejercicio 0:  </vt:lpstr>
      <vt:lpstr>Presentación de PowerPoint</vt:lpstr>
      <vt:lpstr>Ejercicio 1:  </vt:lpstr>
      <vt:lpstr>Ejercicio 1:  </vt:lpstr>
      <vt:lpstr>Ejercicio 1:  </vt:lpstr>
      <vt:lpstr>Ejercicio 2:  </vt:lpstr>
      <vt:lpstr>Ejercicio 2:  </vt:lpstr>
      <vt:lpstr>Ejercicio 2:  </vt:lpstr>
      <vt:lpstr>Ejercicio 3:  </vt:lpstr>
      <vt:lpstr>Ejercicio 3:  </vt:lpstr>
      <vt:lpstr>Ejercicio 3:  </vt:lpstr>
      <vt:lpstr>Ejercicio 3:  </vt:lpstr>
      <vt:lpstr>Ejercicio 4:  </vt:lpstr>
      <vt:lpstr>Ejercicio 4:  </vt:lpstr>
      <vt:lpstr>Ejercicio 4:  </vt:lpstr>
      <vt:lpstr>Ejercicio 5:  </vt:lpstr>
      <vt:lpstr>Ejercicio 5:  </vt:lpstr>
      <vt:lpstr>Ejercicio 5:  </vt:lpstr>
      <vt:lpstr>Ejercicio 6:  </vt:lpstr>
      <vt:lpstr>Ejercicio 6:  </vt:lpstr>
      <vt:lpstr>Ejercicio 6: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Cadenas de markov</dc:title>
  <dc:creator>Fravega</dc:creator>
  <cp:lastModifiedBy>Ariel Guida</cp:lastModifiedBy>
  <cp:revision>18</cp:revision>
  <dcterms:created xsi:type="dcterms:W3CDTF">2016-03-27T22:21:52Z</dcterms:created>
  <dcterms:modified xsi:type="dcterms:W3CDTF">2016-06-20T23:56:43Z</dcterms:modified>
</cp:coreProperties>
</file>