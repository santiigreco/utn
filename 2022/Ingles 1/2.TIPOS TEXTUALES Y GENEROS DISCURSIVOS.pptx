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clrMru>
    <a:srgbClr val="C93764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4" autoAdjust="0"/>
  </p:normalViewPr>
  <p:slideViewPr>
    <p:cSldViewPr>
      <p:cViewPr varScale="1">
        <p:scale>
          <a:sx n="69" d="100"/>
          <a:sy n="69" d="100"/>
        </p:scale>
        <p:origin x="-141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7A847CFC-816F-41D0-AAC0-9BF4FEBC753E}" type="datetimeFigureOut">
              <a:rPr lang="es-ES" smtClean="0"/>
              <a:pPr/>
              <a:t>31/03/2020</a:t>
            </a:fld>
            <a:endParaRPr lang="es-ES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31/03/2020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7" name="6 Rectángulo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2" name="1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31/03/2020</a:t>
            </a:fld>
            <a:endParaRPr lang="es-ES"/>
          </a:p>
        </p:txBody>
      </p:sp>
      <p:sp>
        <p:nvSpPr>
          <p:cNvPr id="13" name="12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4" name="13 Marcador de pie de página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8" name="7 Marcador de fecha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7A847CFC-816F-41D0-AAC0-9BF4FEBC753E}" type="datetimeFigureOut">
              <a:rPr lang="es-ES" smtClean="0"/>
              <a:pPr/>
              <a:t>31/03/2020</a:t>
            </a:fld>
            <a:endParaRPr lang="es-ES"/>
          </a:p>
        </p:txBody>
      </p:sp>
      <p:sp>
        <p:nvSpPr>
          <p:cNvPr id="10" name="9 Marcador de número de diapositiva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2" name="11 Marcador de pie de página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7A847CFC-816F-41D0-AAC0-9BF4FEBC753E}" type="datetimeFigureOut">
              <a:rPr lang="es-ES" smtClean="0"/>
              <a:pPr/>
              <a:t>31/03/2020</a:t>
            </a:fld>
            <a:endParaRPr lang="es-ES"/>
          </a:p>
        </p:txBody>
      </p:sp>
      <p:sp>
        <p:nvSpPr>
          <p:cNvPr id="12" name="11 Marcador de número de diapositiva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4" name="13 Marcador de pie de página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s-ES"/>
          </a:p>
        </p:txBody>
      </p:sp>
      <p:sp>
        <p:nvSpPr>
          <p:cNvPr id="16" name="15 Marcador de texto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31/03/2020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31/03/2020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31/03/2020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Rectángulo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1" name="10 Rectángulo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Marcador de fecha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7A847CFC-816F-41D0-AAC0-9BF4FEBC753E}" type="datetimeFigureOut">
              <a:rPr lang="es-ES" smtClean="0"/>
              <a:pPr/>
              <a:t>31/03/2020</a:t>
            </a:fld>
            <a:endParaRPr lang="es-ES"/>
          </a:p>
        </p:txBody>
      </p:sp>
      <p:sp>
        <p:nvSpPr>
          <p:cNvPr id="13" name="12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4" name="13 Marcador de pie de página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31/03/2020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7A847CFC-816F-41D0-AAC0-9BF4FEBC753E}" type="datetimeFigureOut">
              <a:rPr lang="es-ES" smtClean="0"/>
              <a:pPr/>
              <a:t>31/03/2020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6 Rectángulo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A847CFC-816F-41D0-AAC0-9BF4FEBC753E}" type="datetimeFigureOut">
              <a:rPr lang="es-ES" smtClean="0"/>
              <a:pPr/>
              <a:t>31/03/2020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7" name="6 Rectángulo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2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3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4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5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5576" y="980728"/>
            <a:ext cx="7992888" cy="3312368"/>
          </a:xfrm>
        </p:spPr>
        <p:txBody>
          <a:bodyPr>
            <a:noAutofit/>
          </a:bodyPr>
          <a:lstStyle/>
          <a:p>
            <a:r>
              <a:rPr lang="es-AR" sz="8800" dirty="0" smtClean="0"/>
              <a:t>      TIPOS</a:t>
            </a:r>
            <a:br>
              <a:rPr lang="es-AR" sz="8800" dirty="0" smtClean="0"/>
            </a:br>
            <a:r>
              <a:rPr lang="es-AR" sz="8800" dirty="0" smtClean="0"/>
              <a:t>   TEXTUALES</a:t>
            </a:r>
            <a:endParaRPr lang="es-AR" sz="88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 dirty="0" smtClean="0"/>
              <a:t>LECTO-COMPRENSIÓN</a:t>
            </a:r>
            <a:endParaRPr lang="es-AR" dirty="0"/>
          </a:p>
        </p:txBody>
      </p:sp>
      <p:pic>
        <p:nvPicPr>
          <p:cNvPr id="4" name="~PP1293.WAV">
            <a:hlinkClick r:id="" action="ppaction://media"/>
          </p:cNvPr>
          <p:cNvPicPr>
            <a:picLocks noRot="1" noChangeAspect="1"/>
          </p:cNvPicPr>
          <p:nvPr>
            <a:wavAudioFile r:embed="rId1" name="~PP1293.WAV"/>
          </p:nvPr>
        </p:nvPicPr>
        <p:blipFill>
          <a:blip r:embed="rId3" cstate="print"/>
          <a:stretch>
            <a:fillRect/>
          </a:stretch>
        </p:blipFill>
        <p:spPr>
          <a:xfrm>
            <a:off x="8632825" y="63468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1467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>
                <a:solidFill>
                  <a:srgbClr val="C93764"/>
                </a:solidFill>
              </a:rPr>
              <a:t>Texto: Género y Tipo Textual</a:t>
            </a:r>
            <a:endParaRPr lang="es-AR" dirty="0">
              <a:solidFill>
                <a:srgbClr val="C93764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ES" sz="4400" dirty="0" err="1" smtClean="0"/>
              <a:t>Pascuale</a:t>
            </a:r>
            <a:r>
              <a:rPr lang="es-ES" sz="4400" dirty="0" smtClean="0"/>
              <a:t> (2010)</a:t>
            </a:r>
            <a:r>
              <a:rPr lang="es-ES" sz="4400" dirty="0" smtClean="0">
                <a:latin typeface="Century Schoolbook"/>
              </a:rPr>
              <a:t>►</a:t>
            </a:r>
            <a:r>
              <a:rPr lang="es-ES" sz="4400" dirty="0" smtClean="0"/>
              <a:t> todo </a:t>
            </a:r>
            <a:r>
              <a:rPr lang="es-ES" sz="4400" dirty="0" smtClean="0">
                <a:solidFill>
                  <a:srgbClr val="7030A0"/>
                </a:solidFill>
              </a:rPr>
              <a:t>texto</a:t>
            </a:r>
            <a:r>
              <a:rPr lang="es-ES" sz="4400" dirty="0" smtClean="0"/>
              <a:t> se inscribe en un </a:t>
            </a:r>
            <a:r>
              <a:rPr lang="es-ES" sz="4400" dirty="0" smtClean="0">
                <a:solidFill>
                  <a:srgbClr val="7030A0"/>
                </a:solidFill>
              </a:rPr>
              <a:t>género</a:t>
            </a:r>
            <a:r>
              <a:rPr lang="es-ES" sz="4400" dirty="0" smtClean="0"/>
              <a:t> y en un </a:t>
            </a:r>
            <a:r>
              <a:rPr lang="es-ES" sz="4400" dirty="0" smtClean="0">
                <a:solidFill>
                  <a:srgbClr val="7030A0"/>
                </a:solidFill>
              </a:rPr>
              <a:t>tipo textual </a:t>
            </a:r>
          </a:p>
          <a:p>
            <a:r>
              <a:rPr lang="es-ES" sz="4400" dirty="0" smtClean="0"/>
              <a:t>La finalidad o </a:t>
            </a:r>
            <a:r>
              <a:rPr lang="es-ES" sz="4400" dirty="0" smtClean="0">
                <a:solidFill>
                  <a:srgbClr val="7030A0"/>
                </a:solidFill>
              </a:rPr>
              <a:t>función</a:t>
            </a:r>
            <a:r>
              <a:rPr lang="es-ES" sz="4400" dirty="0" smtClean="0"/>
              <a:t> de cada texto determinará su </a:t>
            </a:r>
            <a:r>
              <a:rPr lang="es-ES" sz="4400" dirty="0" smtClean="0">
                <a:solidFill>
                  <a:srgbClr val="7030A0"/>
                </a:solidFill>
              </a:rPr>
              <a:t>tipo textual</a:t>
            </a:r>
            <a:r>
              <a:rPr lang="es-ES" sz="4400" dirty="0" smtClean="0"/>
              <a:t>.</a:t>
            </a:r>
            <a:endParaRPr lang="es-AR" sz="4400" dirty="0" smtClean="0"/>
          </a:p>
          <a:p>
            <a:endParaRPr lang="es-AR" sz="4400" dirty="0"/>
          </a:p>
        </p:txBody>
      </p:sp>
      <p:pic>
        <p:nvPicPr>
          <p:cNvPr id="5" name="~PP1867.WAV">
            <a:hlinkClick r:id="" action="ppaction://media"/>
          </p:cNvPr>
          <p:cNvPicPr>
            <a:picLocks noRot="1" noChangeAspect="1"/>
          </p:cNvPicPr>
          <p:nvPr>
            <a:wavAudioFile r:embed="rId1" name="~PP1867.WAV"/>
          </p:nvPr>
        </p:nvPicPr>
        <p:blipFill>
          <a:blip r:embed="rId3" cstate="print"/>
          <a:stretch>
            <a:fillRect/>
          </a:stretch>
        </p:blipFill>
        <p:spPr>
          <a:xfrm>
            <a:off x="8632825" y="63468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6587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Tipos Textuales-Inglés Técnico Nivel1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solidFill>
            <a:schemeClr val="accent2"/>
          </a:solidFill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s-ES" sz="4000" dirty="0" smtClean="0"/>
              <a:t>textos expositivos </a:t>
            </a:r>
          </a:p>
          <a:p>
            <a:pPr>
              <a:buFont typeface="Wingdings" pitchFamily="2" charset="2"/>
              <a:buChar char="Ø"/>
            </a:pPr>
            <a:r>
              <a:rPr lang="es-ES" sz="4000" dirty="0" smtClean="0"/>
              <a:t>textos descriptivos</a:t>
            </a:r>
          </a:p>
          <a:p>
            <a:pPr>
              <a:buFont typeface="Wingdings" pitchFamily="2" charset="2"/>
              <a:buChar char="Ø"/>
            </a:pPr>
            <a:r>
              <a:rPr lang="es-ES" sz="4000" dirty="0" smtClean="0"/>
              <a:t>textos instructivos</a:t>
            </a:r>
          </a:p>
          <a:p>
            <a:pPr>
              <a:buFont typeface="Wingdings" pitchFamily="2" charset="2"/>
              <a:buChar char="Ø"/>
            </a:pPr>
            <a:r>
              <a:rPr lang="es-ES" sz="4000" dirty="0" smtClean="0"/>
              <a:t>textos publicitarios </a:t>
            </a:r>
          </a:p>
          <a:p>
            <a:pPr>
              <a:buFont typeface="Wingdings" pitchFamily="2" charset="2"/>
              <a:buChar char="Ø"/>
            </a:pPr>
            <a:r>
              <a:rPr lang="es-ES" sz="4000" dirty="0" smtClean="0"/>
              <a:t>textos narrativos  </a:t>
            </a:r>
          </a:p>
          <a:p>
            <a:pPr>
              <a:buFont typeface="Wingdings" pitchFamily="2" charset="2"/>
              <a:buChar char="Ø"/>
            </a:pPr>
            <a:r>
              <a:rPr lang="es-ES" sz="4000" dirty="0" smtClean="0"/>
              <a:t>textos argumentativos</a:t>
            </a:r>
            <a:endParaRPr lang="es-AR" sz="4000" dirty="0"/>
          </a:p>
        </p:txBody>
      </p:sp>
      <p:pic>
        <p:nvPicPr>
          <p:cNvPr id="5" name="~PP1273.WAV">
            <a:hlinkClick r:id="" action="ppaction://media"/>
          </p:cNvPr>
          <p:cNvPicPr>
            <a:picLocks noRot="1" noChangeAspect="1"/>
          </p:cNvPicPr>
          <p:nvPr>
            <a:wavAudioFile r:embed="rId1" name="~PP1273.WAV"/>
          </p:nvPr>
        </p:nvPicPr>
        <p:blipFill>
          <a:blip r:embed="rId3" cstate="print"/>
          <a:stretch>
            <a:fillRect/>
          </a:stretch>
        </p:blipFill>
        <p:spPr>
          <a:xfrm>
            <a:off x="8632825" y="63468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2789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40768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s-ES" sz="3600" dirty="0" smtClean="0">
                <a:solidFill>
                  <a:srgbClr val="7030A0"/>
                </a:solidFill>
              </a:rPr>
              <a:t>Parodi y </a:t>
            </a:r>
            <a:r>
              <a:rPr lang="es-ES" sz="3600" dirty="0" err="1" smtClean="0">
                <a:solidFill>
                  <a:srgbClr val="7030A0"/>
                </a:solidFill>
              </a:rPr>
              <a:t>Gramajo</a:t>
            </a:r>
            <a:r>
              <a:rPr lang="es-ES" sz="3600" dirty="0" smtClean="0">
                <a:solidFill>
                  <a:srgbClr val="7030A0"/>
                </a:solidFill>
              </a:rPr>
              <a:t> en </a:t>
            </a:r>
            <a:r>
              <a:rPr lang="es-ES" sz="3600" dirty="0" err="1" smtClean="0">
                <a:solidFill>
                  <a:srgbClr val="7030A0"/>
                </a:solidFill>
              </a:rPr>
              <a:t>Pascuale</a:t>
            </a:r>
            <a:r>
              <a:rPr lang="es-ES" sz="3600" dirty="0" smtClean="0">
                <a:solidFill>
                  <a:srgbClr val="7030A0"/>
                </a:solidFill>
              </a:rPr>
              <a:t> (2010) </a:t>
            </a:r>
            <a:br>
              <a:rPr lang="es-ES" sz="3600" dirty="0" smtClean="0">
                <a:solidFill>
                  <a:srgbClr val="7030A0"/>
                </a:solidFill>
              </a:rPr>
            </a:br>
            <a:r>
              <a:rPr lang="es-ES" sz="3600" dirty="0" smtClean="0">
                <a:solidFill>
                  <a:srgbClr val="7030A0"/>
                </a:solidFill>
              </a:rPr>
              <a:t> </a:t>
            </a:r>
            <a:r>
              <a:rPr lang="es-ES" sz="3600" dirty="0" smtClean="0">
                <a:solidFill>
                  <a:srgbClr val="7030A0"/>
                </a:solidFill>
                <a:latin typeface="Century Schoolbook"/>
              </a:rPr>
              <a:t>►</a:t>
            </a:r>
            <a:r>
              <a:rPr lang="es-ES" sz="3600" dirty="0" smtClean="0">
                <a:solidFill>
                  <a:srgbClr val="7030A0"/>
                </a:solidFill>
              </a:rPr>
              <a:t>la función y características tipos Textuales</a:t>
            </a:r>
            <a:endParaRPr lang="es-AR" sz="3600" dirty="0">
              <a:solidFill>
                <a:srgbClr val="7030A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79512" y="1600200"/>
            <a:ext cx="8784976" cy="4997152"/>
          </a:xfrm>
        </p:spPr>
        <p:txBody>
          <a:bodyPr>
            <a:noAutofit/>
          </a:bodyPr>
          <a:lstStyle/>
          <a:p>
            <a:r>
              <a:rPr lang="es-ES" sz="2000" dirty="0" smtClean="0"/>
              <a:t>E</a:t>
            </a:r>
            <a:r>
              <a:rPr lang="es-ES" sz="2000" b="1" dirty="0" smtClean="0"/>
              <a:t>xpositivo</a:t>
            </a:r>
            <a:r>
              <a:rPr lang="es-ES" sz="2000" dirty="0" smtClean="0"/>
              <a:t>: su función es </a:t>
            </a:r>
            <a:r>
              <a:rPr lang="es-ES" sz="2000" b="1" dirty="0" smtClean="0">
                <a:solidFill>
                  <a:srgbClr val="7030A0"/>
                </a:solidFill>
              </a:rPr>
              <a:t>informar o exponer un tema </a:t>
            </a:r>
            <a:r>
              <a:rPr lang="es-ES" sz="2000" dirty="0" smtClean="0"/>
              <a:t>de manera </a:t>
            </a:r>
            <a:r>
              <a:rPr lang="es-ES" sz="2000" dirty="0" smtClean="0">
                <a:solidFill>
                  <a:srgbClr val="7030A0"/>
                </a:solidFill>
              </a:rPr>
              <a:t>objetiva</a:t>
            </a:r>
            <a:r>
              <a:rPr lang="es-ES" sz="2000" dirty="0" smtClean="0"/>
              <a:t>. La información debe ser fidedigna, neutra y objetiva. </a:t>
            </a:r>
            <a:endParaRPr lang="es-AR" sz="2000" dirty="0" smtClean="0"/>
          </a:p>
          <a:p>
            <a:r>
              <a:rPr lang="es-ES" sz="2000" dirty="0" smtClean="0"/>
              <a:t>D</a:t>
            </a:r>
            <a:r>
              <a:rPr lang="es-ES" sz="2000" b="1" dirty="0" smtClean="0"/>
              <a:t>escriptivo</a:t>
            </a:r>
            <a:r>
              <a:rPr lang="es-ES" sz="2000" dirty="0" smtClean="0"/>
              <a:t>: su finalidad es </a:t>
            </a:r>
            <a:r>
              <a:rPr lang="es-ES" sz="2000" dirty="0" smtClean="0">
                <a:solidFill>
                  <a:srgbClr val="7030A0"/>
                </a:solidFill>
              </a:rPr>
              <a:t>caracterizar objetos, personas, situaciones o procesos</a:t>
            </a:r>
            <a:r>
              <a:rPr lang="es-ES" sz="2000" dirty="0" smtClean="0"/>
              <a:t> explicando sus partes, cualidades o circunstancias.</a:t>
            </a:r>
            <a:endParaRPr lang="es-AR" sz="2000" dirty="0" smtClean="0"/>
          </a:p>
          <a:p>
            <a:r>
              <a:rPr lang="es-ES" sz="2000" b="1" dirty="0" smtClean="0"/>
              <a:t>Directivo o normativo: </a:t>
            </a:r>
            <a:r>
              <a:rPr lang="es-ES" sz="2000" dirty="0" smtClean="0"/>
              <a:t>su función es </a:t>
            </a:r>
            <a:r>
              <a:rPr lang="es-ES" sz="2000" dirty="0" smtClean="0">
                <a:solidFill>
                  <a:srgbClr val="7030A0"/>
                </a:solidFill>
              </a:rPr>
              <a:t>proveer indicaciones e instrucciones precisas </a:t>
            </a:r>
            <a:r>
              <a:rPr lang="es-ES" sz="2000" dirty="0" smtClean="0"/>
              <a:t>acerca del modo en que se deben efectuar determinados procedimientos.</a:t>
            </a:r>
            <a:endParaRPr lang="es-AR" sz="2000" dirty="0" smtClean="0"/>
          </a:p>
          <a:p>
            <a:r>
              <a:rPr lang="es-ES" sz="2000" dirty="0" smtClean="0"/>
              <a:t>N</a:t>
            </a:r>
            <a:r>
              <a:rPr lang="es-ES" sz="2000" b="1" dirty="0" smtClean="0"/>
              <a:t>arrativo</a:t>
            </a:r>
            <a:r>
              <a:rPr lang="es-ES" sz="2000" dirty="0" smtClean="0"/>
              <a:t>: su función en </a:t>
            </a:r>
            <a:r>
              <a:rPr lang="es-ES" sz="2000" dirty="0" smtClean="0">
                <a:solidFill>
                  <a:srgbClr val="7030A0"/>
                </a:solidFill>
              </a:rPr>
              <a:t>contar hechos reales o ficticios</a:t>
            </a:r>
            <a:r>
              <a:rPr lang="es-ES" sz="2000" dirty="0" smtClean="0"/>
              <a:t>; organiza discursivamente las acciones y los acontecimientos en un orden secuencial y posee una gran cantidad de relaciones causa-efecto, propósito, posibilidad y proximidad temporal.</a:t>
            </a:r>
            <a:endParaRPr lang="es-AR" sz="2000" dirty="0" smtClean="0"/>
          </a:p>
          <a:p>
            <a:r>
              <a:rPr lang="es-ES" sz="2000" dirty="0" smtClean="0"/>
              <a:t>A</a:t>
            </a:r>
            <a:r>
              <a:rPr lang="es-ES" sz="2000" b="1" dirty="0" smtClean="0"/>
              <a:t>rgumentativo: </a:t>
            </a:r>
            <a:r>
              <a:rPr lang="es-ES" sz="2000" dirty="0" smtClean="0"/>
              <a:t>su finalidad es </a:t>
            </a:r>
            <a:r>
              <a:rPr lang="es-ES" sz="2000" dirty="0" smtClean="0">
                <a:solidFill>
                  <a:srgbClr val="7030A0"/>
                </a:solidFill>
              </a:rPr>
              <a:t>influir al lector o audiencia sobre su “tesis” o posición ante una temática</a:t>
            </a:r>
            <a:r>
              <a:rPr lang="es-ES" sz="2000" dirty="0" smtClean="0"/>
              <a:t>. Suele tener una estructura de problema-solución.</a:t>
            </a:r>
            <a:endParaRPr lang="es-AR" sz="2000" dirty="0" smtClean="0"/>
          </a:p>
          <a:p>
            <a:endParaRPr lang="es-AR" sz="2400" dirty="0"/>
          </a:p>
        </p:txBody>
      </p:sp>
      <p:pic>
        <p:nvPicPr>
          <p:cNvPr id="4" name="~PP1000.WAV">
            <a:hlinkClick r:id="" action="ppaction://media"/>
          </p:cNvPr>
          <p:cNvPicPr>
            <a:picLocks noRot="1" noChangeAspect="1"/>
          </p:cNvPicPr>
          <p:nvPr>
            <a:wavAudioFile r:embed="rId1" name="~PP1000.WAV"/>
          </p:nvPr>
        </p:nvPicPr>
        <p:blipFill>
          <a:blip r:embed="rId3" cstate="print"/>
          <a:stretch>
            <a:fillRect/>
          </a:stretch>
        </p:blipFill>
        <p:spPr>
          <a:xfrm>
            <a:off x="8632825" y="63468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9784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Tipos Textuales- Géneros (ejemplos)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51840" cy="4997152"/>
          </a:xfrm>
        </p:spPr>
        <p:txBody>
          <a:bodyPr>
            <a:normAutofit/>
          </a:bodyPr>
          <a:lstStyle/>
          <a:p>
            <a:r>
              <a:rPr lang="es-ES" b="1" dirty="0" smtClean="0"/>
              <a:t> </a:t>
            </a:r>
            <a:endParaRPr lang="es-AR" dirty="0" smtClean="0"/>
          </a:p>
          <a:p>
            <a:endParaRPr lang="es-AR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971600" y="1625114"/>
          <a:ext cx="7416824" cy="5078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259"/>
                <a:gridCol w="5776565"/>
              </a:tblGrid>
              <a:tr h="650019">
                <a:tc>
                  <a:txBody>
                    <a:bodyPr/>
                    <a:lstStyle/>
                    <a:p>
                      <a:r>
                        <a:rPr lang="es-AR" dirty="0" smtClean="0"/>
                        <a:t>Tipo Textual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 smtClean="0"/>
                        <a:t>Género Discursivo</a:t>
                      </a:r>
                      <a:endParaRPr lang="es-AR" dirty="0"/>
                    </a:p>
                  </a:txBody>
                  <a:tcPr/>
                </a:tc>
              </a:tr>
              <a:tr h="876553">
                <a:tc>
                  <a:txBody>
                    <a:bodyPr/>
                    <a:lstStyle/>
                    <a:p>
                      <a:r>
                        <a:rPr lang="es-AR" b="1" dirty="0" smtClean="0"/>
                        <a:t>Expositivo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800" b="1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Curriculum</a:t>
                      </a:r>
                      <a:r>
                        <a:rPr kumimoji="0" lang="es-E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vitae, carta de presentación, libro de texto, artículo de divulgación</a:t>
                      </a:r>
                      <a:endParaRPr kumimoji="0" lang="es-A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s-AR" dirty="0"/>
                    </a:p>
                  </a:txBody>
                  <a:tcPr/>
                </a:tc>
              </a:tr>
              <a:tr h="650019">
                <a:tc>
                  <a:txBody>
                    <a:bodyPr/>
                    <a:lstStyle/>
                    <a:p>
                      <a:r>
                        <a:rPr lang="es-AR" b="1" dirty="0" smtClean="0"/>
                        <a:t>Descriptivo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Manual, folleto, artículo de divulgación</a:t>
                      </a:r>
                      <a:endParaRPr kumimoji="0" lang="es-A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s-AR" dirty="0"/>
                    </a:p>
                  </a:txBody>
                  <a:tcPr/>
                </a:tc>
              </a:tr>
              <a:tr h="650019">
                <a:tc>
                  <a:txBody>
                    <a:bodyPr/>
                    <a:lstStyle/>
                    <a:p>
                      <a:r>
                        <a:rPr kumimoji="0" lang="es-E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Instructivo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 smtClean="0"/>
                        <a:t>Manual del usuario</a:t>
                      </a:r>
                      <a:endParaRPr lang="es-AR" dirty="0"/>
                    </a:p>
                  </a:txBody>
                  <a:tcPr/>
                </a:tc>
              </a:tr>
              <a:tr h="650019">
                <a:tc>
                  <a:txBody>
                    <a:bodyPr/>
                    <a:lstStyle/>
                    <a:p>
                      <a:r>
                        <a:rPr lang="es-AR" b="1" dirty="0" smtClean="0"/>
                        <a:t>Publicitario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Artículo publicitario, folleto</a:t>
                      </a:r>
                      <a:endParaRPr kumimoji="0" lang="es-A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s-AR" dirty="0"/>
                    </a:p>
                  </a:txBody>
                  <a:tcPr/>
                </a:tc>
              </a:tr>
              <a:tr h="650019">
                <a:tc>
                  <a:txBody>
                    <a:bodyPr/>
                    <a:lstStyle/>
                    <a:p>
                      <a:r>
                        <a:rPr kumimoji="0" lang="es-E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Narrativo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 smtClean="0"/>
                        <a:t>Biografías, </a:t>
                      </a:r>
                      <a:endParaRPr lang="es-AR" dirty="0"/>
                    </a:p>
                  </a:txBody>
                  <a:tcPr/>
                </a:tc>
              </a:tr>
              <a:tr h="876553">
                <a:tc>
                  <a:txBody>
                    <a:bodyPr/>
                    <a:lstStyle/>
                    <a:p>
                      <a:r>
                        <a:rPr lang="es-AR" b="1" dirty="0" smtClean="0"/>
                        <a:t>Argumentativo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Artículo científico, artículo de divulgación, artículo periodístico</a:t>
                      </a:r>
                      <a:endParaRPr kumimoji="0" lang="es-A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s-AR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~PP1948.WAV">
            <a:hlinkClick r:id="" action="ppaction://media"/>
          </p:cNvPr>
          <p:cNvPicPr>
            <a:picLocks noRot="1" noChangeAspect="1"/>
          </p:cNvPicPr>
          <p:nvPr>
            <a:wavAudioFile r:embed="rId1" name="~PP1948.WAV"/>
          </p:nvPr>
        </p:nvPicPr>
        <p:blipFill>
          <a:blip r:embed="rId3" cstate="print"/>
          <a:stretch>
            <a:fillRect/>
          </a:stretch>
        </p:blipFill>
        <p:spPr>
          <a:xfrm>
            <a:off x="8632825" y="63468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6639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Texto </a:t>
            </a:r>
            <a:r>
              <a:rPr lang="es-AR" dirty="0" err="1" smtClean="0"/>
              <a:t>expositvo</a:t>
            </a:r>
            <a:r>
              <a:rPr lang="es-AR" dirty="0" smtClean="0"/>
              <a:t>: </a:t>
            </a:r>
            <a:r>
              <a:rPr lang="es-AR" sz="2800" dirty="0" smtClean="0"/>
              <a:t>exponer definición de ingeniería</a:t>
            </a:r>
            <a:endParaRPr lang="es-AR" sz="28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2775" y="1652474"/>
            <a:ext cx="8153400" cy="439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Texto publicitario: </a:t>
            </a:r>
            <a:r>
              <a:rPr lang="es-AR" sz="2400" dirty="0" smtClean="0"/>
              <a:t>publicitar la carrera de ingeniería…</a:t>
            </a:r>
            <a:endParaRPr lang="es-AR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2775" y="1675451"/>
            <a:ext cx="8153400" cy="4345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Texto narrativo: </a:t>
            </a:r>
            <a:r>
              <a:rPr lang="es-AR" sz="2400" dirty="0" smtClean="0"/>
              <a:t>narrar hechos pasados reales.</a:t>
            </a:r>
            <a:endParaRPr lang="es-AR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2775" y="1675451"/>
            <a:ext cx="8153400" cy="4345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Texto instructivo</a:t>
            </a:r>
            <a:endParaRPr lang="es-AR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2775" y="1675451"/>
            <a:ext cx="8153400" cy="4345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Texto argumentativo</a:t>
            </a:r>
            <a:endParaRPr lang="es-AR" dirty="0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A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556792"/>
            <a:ext cx="8136904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rmedio">
  <a:themeElements>
    <a:clrScheme name="Intermedi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Intermedi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Intermedi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90</TotalTime>
  <Words>279</Words>
  <Application>Microsoft Office PowerPoint</Application>
  <PresentationFormat>Presentación en pantalla (4:3)</PresentationFormat>
  <Paragraphs>39</Paragraphs>
  <Slides>10</Slides>
  <Notes>0</Notes>
  <HiddenSlides>0</HiddenSlides>
  <MMClips>5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Intermedio</vt:lpstr>
      <vt:lpstr>      TIPOS    TEXTUALES</vt:lpstr>
      <vt:lpstr>Texto: Género y Tipo Textual</vt:lpstr>
      <vt:lpstr>Tipos Textuales-Inglés Técnico Nivel1</vt:lpstr>
      <vt:lpstr>Parodi y Gramajo en Pascuale (2010)   ►la función y características tipos Textuales</vt:lpstr>
      <vt:lpstr>Tipos Textuales- Géneros (ejemplos)</vt:lpstr>
      <vt:lpstr>Texto expositvo: exponer definición de ingeniería</vt:lpstr>
      <vt:lpstr>Texto publicitario: publicitar la carrera de ingeniería…</vt:lpstr>
      <vt:lpstr>Texto narrativo: narrar hechos pasados reales.</vt:lpstr>
      <vt:lpstr>Texto instructivo</vt:lpstr>
      <vt:lpstr>Texto argumentativo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TIPOS    TEXTUALES</dc:title>
  <dc:creator>Patricia</dc:creator>
  <cp:lastModifiedBy>Patricia</cp:lastModifiedBy>
  <cp:revision>21</cp:revision>
  <dcterms:created xsi:type="dcterms:W3CDTF">2020-03-31T03:35:00Z</dcterms:created>
  <dcterms:modified xsi:type="dcterms:W3CDTF">2020-03-31T15:41:32Z</dcterms:modified>
</cp:coreProperties>
</file>