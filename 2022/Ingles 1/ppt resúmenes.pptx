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56" r:id="rId2"/>
    <p:sldId id="267" r:id="rId3"/>
    <p:sldId id="265" r:id="rId4"/>
    <p:sldId id="259" r:id="rId5"/>
    <p:sldId id="260" r:id="rId6"/>
    <p:sldId id="268"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A08E48-A51C-43C4-8D9F-A8C1FBFC8521}" type="datetimeFigureOut">
              <a:rPr lang="es-AR" smtClean="0"/>
              <a:pPr/>
              <a:t>5/4/2022</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0DF349-5FD3-4491-95BF-8FF0BB937BA0}" type="slidenum">
              <a:rPr lang="es-AR" smtClean="0"/>
              <a:pPr/>
              <a:t>‹Nº›</a:t>
            </a:fld>
            <a:endParaRPr lang="es-AR"/>
          </a:p>
        </p:txBody>
      </p:sp>
    </p:spTree>
    <p:extLst>
      <p:ext uri="{BB962C8B-B14F-4D97-AF65-F5344CB8AC3E}">
        <p14:creationId xmlns:p14="http://schemas.microsoft.com/office/powerpoint/2010/main" xmlns="" val="1910970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90DF349-5FD3-4491-95BF-8FF0BB937BA0}" type="slidenum">
              <a:rPr lang="es-AR" smtClean="0"/>
              <a:pPr/>
              <a:t>1</a:t>
            </a:fld>
            <a:endParaRPr lang="es-AR"/>
          </a:p>
        </p:txBody>
      </p:sp>
    </p:spTree>
    <p:extLst>
      <p:ext uri="{BB962C8B-B14F-4D97-AF65-F5344CB8AC3E}">
        <p14:creationId xmlns:p14="http://schemas.microsoft.com/office/powerpoint/2010/main" xmlns="" val="561809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46F9EAAC-1696-426A-9EFF-74BAC57F30B7}" type="datetimeFigureOut">
              <a:rPr lang="es-AR" smtClean="0"/>
              <a:pPr/>
              <a:t>5/4/2022</a:t>
            </a:fld>
            <a:endParaRPr lang="es-AR"/>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s-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24C24792-C96A-41E9-9F61-70CE769753EF}" type="slidenum">
              <a:rPr lang="es-AR" smtClean="0"/>
              <a:pPr/>
              <a:t>‹Nº›</a:t>
            </a:fld>
            <a:endParaRPr lang="es-AR"/>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71545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6F9EAAC-1696-426A-9EFF-74BAC57F30B7}" type="datetimeFigureOut">
              <a:rPr lang="es-AR" smtClean="0"/>
              <a:pPr/>
              <a:t>5/4/2022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3073610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46F9EAAC-1696-426A-9EFF-74BAC57F30B7}" type="datetimeFigureOut">
              <a:rPr lang="es-AR" smtClean="0"/>
              <a:pPr/>
              <a:t>5/4/2022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24C24792-C96A-41E9-9F61-70CE769753EF}" type="slidenum">
              <a:rPr lang="es-AR" smtClean="0"/>
              <a:pPr/>
              <a:t>‹Nº›</a:t>
            </a:fld>
            <a:endParaRPr lang="es-AR"/>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874271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6F9EAAC-1696-426A-9EFF-74BAC57F30B7}" type="datetimeFigureOut">
              <a:rPr lang="es-AR" smtClean="0"/>
              <a:pPr/>
              <a:t>5/4/2022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359082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los estilos de texto del patrón</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6F9EAAC-1696-426A-9EFF-74BAC57F30B7}" type="datetimeFigureOut">
              <a:rPr lang="es-AR" smtClean="0"/>
              <a:pPr/>
              <a:t>5/4/2022</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223616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6F9EAAC-1696-426A-9EFF-74BAC57F30B7}" type="datetimeFigureOut">
              <a:rPr lang="es-AR" smtClean="0"/>
              <a:pPr/>
              <a:t>5/4/2022</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3386370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F9EAAC-1696-426A-9EFF-74BAC57F30B7}" type="datetimeFigureOut">
              <a:rPr lang="es-AR" smtClean="0"/>
              <a:pPr/>
              <a:t>5/4/2022</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2421143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5" name="Date Placeholder 4"/>
          <p:cNvSpPr>
            <a:spLocks noGrp="1"/>
          </p:cNvSpPr>
          <p:nvPr>
            <p:ph type="dt" sz="half" idx="10"/>
          </p:nvPr>
        </p:nvSpPr>
        <p:spPr/>
        <p:txBody>
          <a:bodyPr/>
          <a:lstStyle/>
          <a:p>
            <a:fld id="{46F9EAAC-1696-426A-9EFF-74BAC57F30B7}" type="datetimeFigureOut">
              <a:rPr lang="es-AR" smtClean="0"/>
              <a:pPr/>
              <a:t>5/4/2022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4216295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Editar los estilos de texto del patrón</a:t>
            </a:r>
          </a:p>
        </p:txBody>
      </p:sp>
      <p:sp>
        <p:nvSpPr>
          <p:cNvPr id="5" name="Date Placeholder 4"/>
          <p:cNvSpPr>
            <a:spLocks noGrp="1"/>
          </p:cNvSpPr>
          <p:nvPr>
            <p:ph type="dt" sz="half" idx="10"/>
          </p:nvPr>
        </p:nvSpPr>
        <p:spPr/>
        <p:txBody>
          <a:bodyPr/>
          <a:lstStyle/>
          <a:p>
            <a:fld id="{46F9EAAC-1696-426A-9EFF-74BAC57F30B7}" type="datetimeFigureOut">
              <a:rPr lang="es-AR" smtClean="0"/>
              <a:pPr/>
              <a:t>5/4/2022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3028142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6F9EAAC-1696-426A-9EFF-74BAC57F30B7}" type="datetimeFigureOut">
              <a:rPr lang="es-AR" smtClean="0"/>
              <a:pPr/>
              <a:t>5/4/2022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166484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6F9EAAC-1696-426A-9EFF-74BAC57F30B7}" type="datetimeFigureOut">
              <a:rPr lang="es-AR" smtClean="0"/>
              <a:pPr/>
              <a:t>5/4/2022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154436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46F9EAAC-1696-426A-9EFF-74BAC57F30B7}" type="datetimeFigureOut">
              <a:rPr lang="es-AR" smtClean="0"/>
              <a:pPr/>
              <a:t>5/4/2022</a:t>
            </a:fld>
            <a:endParaRPr lang="es-AR"/>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s-AR"/>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24C24792-C96A-41E9-9F61-70CE769753EF}" type="slidenum">
              <a:rPr lang="es-AR" smtClean="0"/>
              <a:pPr/>
              <a:t>‹Nº›</a:t>
            </a:fld>
            <a:endParaRPr lang="es-AR"/>
          </a:p>
        </p:txBody>
      </p:sp>
    </p:spTree>
    <p:extLst>
      <p:ext uri="{BB962C8B-B14F-4D97-AF65-F5344CB8AC3E}">
        <p14:creationId xmlns:p14="http://schemas.microsoft.com/office/powerpoint/2010/main" xmlns="" val="8582756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395536" y="260648"/>
            <a:ext cx="7834064" cy="5688632"/>
          </a:xfrm>
        </p:spPr>
        <p:txBody>
          <a:bodyPr/>
          <a:lstStyle/>
          <a:p>
            <a:r>
              <a:rPr lang="es-MX" sz="5400" dirty="0"/>
              <a:t/>
            </a:r>
            <a:br>
              <a:rPr lang="es-MX" sz="5400" dirty="0"/>
            </a:br>
            <a:r>
              <a:rPr lang="es-MX" sz="5400" dirty="0"/>
              <a:t/>
            </a:r>
            <a:br>
              <a:rPr lang="es-MX" sz="5400" dirty="0"/>
            </a:br>
            <a:r>
              <a:rPr lang="es-MX" sz="5400" dirty="0"/>
              <a:t/>
            </a:r>
            <a:br>
              <a:rPr lang="es-MX" sz="5400" dirty="0"/>
            </a:br>
            <a:r>
              <a:rPr lang="es-MX" sz="5400" dirty="0"/>
              <a:t/>
            </a:r>
            <a:br>
              <a:rPr lang="es-MX" sz="5400" dirty="0"/>
            </a:br>
            <a:r>
              <a:rPr lang="es-MX" sz="5400" dirty="0"/>
              <a:t/>
            </a:r>
            <a:br>
              <a:rPr lang="es-MX" sz="5400" dirty="0"/>
            </a:br>
            <a:endParaRPr lang="es-AR" sz="5400" dirty="0"/>
          </a:p>
        </p:txBody>
      </p:sp>
      <p:sp>
        <p:nvSpPr>
          <p:cNvPr id="5" name="Subtítulo 4">
            <a:extLst>
              <a:ext uri="{FF2B5EF4-FFF2-40B4-BE49-F238E27FC236}">
                <a16:creationId xmlns:a16="http://schemas.microsoft.com/office/drawing/2014/main" xmlns="" id="{90ECDD3C-EDA7-4B7C-AFD0-28CF096A9CEE}"/>
              </a:ext>
            </a:extLst>
          </p:cNvPr>
          <p:cNvSpPr>
            <a:spLocks noGrp="1"/>
          </p:cNvSpPr>
          <p:nvPr>
            <p:ph type="subTitle" idx="1"/>
          </p:nvPr>
        </p:nvSpPr>
        <p:spPr>
          <a:xfrm>
            <a:off x="395536" y="3429000"/>
            <a:ext cx="6912767" cy="1656183"/>
          </a:xfrm>
        </p:spPr>
        <p:txBody>
          <a:bodyPr>
            <a:normAutofit/>
          </a:bodyPr>
          <a:lstStyle/>
          <a:p>
            <a:endParaRPr lang="es-MX" sz="4800" dirty="0"/>
          </a:p>
          <a:p>
            <a:r>
              <a:rPr lang="es-MX" sz="4800" dirty="0"/>
              <a:t>Cómo escribir un resumen</a:t>
            </a:r>
            <a:endParaRPr lang="es-AR" sz="4800" dirty="0"/>
          </a:p>
        </p:txBody>
      </p:sp>
      <p:pic>
        <p:nvPicPr>
          <p:cNvPr id="2052" name="Picture 4" descr="El Resumen | El resumen">
            <a:extLst>
              <a:ext uri="{FF2B5EF4-FFF2-40B4-BE49-F238E27FC236}">
                <a16:creationId xmlns:a16="http://schemas.microsoft.com/office/drawing/2014/main" xmlns="" id="{E53CEEE2-8059-4903-8C61-3F1FC4CA7C75}"/>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195736" y="384897"/>
            <a:ext cx="3960440" cy="296650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3557569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chemeClr val="tx1"/>
                </a:solidFill>
                <a:highlight>
                  <a:srgbClr val="FF00FF"/>
                </a:highlight>
              </a:rPr>
              <a:t>INTERROGANTES</a:t>
            </a:r>
            <a:r>
              <a:rPr lang="es-AR" dirty="0"/>
              <a:t> </a:t>
            </a:r>
          </a:p>
        </p:txBody>
      </p:sp>
      <p:sp>
        <p:nvSpPr>
          <p:cNvPr id="3" name="2 Marcador de contenido"/>
          <p:cNvSpPr>
            <a:spLocks noGrp="1"/>
          </p:cNvSpPr>
          <p:nvPr>
            <p:ph idx="1"/>
          </p:nvPr>
        </p:nvSpPr>
        <p:spPr>
          <a:xfrm>
            <a:off x="457200" y="1916832"/>
            <a:ext cx="7620000" cy="4483967"/>
          </a:xfrm>
        </p:spPr>
        <p:txBody>
          <a:bodyPr>
            <a:normAutofit fontScale="92500" lnSpcReduction="10000"/>
          </a:bodyPr>
          <a:lstStyle/>
          <a:p>
            <a:endParaRPr lang="es-AR" dirty="0"/>
          </a:p>
          <a:p>
            <a:r>
              <a:rPr lang="es-AR" sz="3200" b="1" dirty="0"/>
              <a:t>¿Qué es un resumen? </a:t>
            </a:r>
          </a:p>
          <a:p>
            <a:endParaRPr lang="es-AR" sz="3200" b="1" dirty="0"/>
          </a:p>
          <a:p>
            <a:r>
              <a:rPr lang="es-AR" sz="3200" b="1" dirty="0"/>
              <a:t>¿Qué información debemos incluir?</a:t>
            </a:r>
          </a:p>
          <a:p>
            <a:endParaRPr lang="es-AR" sz="3200" b="1" dirty="0"/>
          </a:p>
          <a:p>
            <a:r>
              <a:rPr lang="es-MX" sz="3200" b="1" dirty="0"/>
              <a:t>¿</a:t>
            </a:r>
            <a:r>
              <a:rPr lang="es-AR" sz="3200" b="1" dirty="0"/>
              <a:t>Cómo la seleccionamos?</a:t>
            </a:r>
          </a:p>
          <a:p>
            <a:endParaRPr lang="es-MX" sz="3200" b="1" dirty="0"/>
          </a:p>
          <a:p>
            <a:r>
              <a:rPr lang="es-AR" sz="3200" b="1" dirty="0"/>
              <a:t>¿Cómo escribimos en español un resumen de un texto escrito en inglés ?</a:t>
            </a:r>
            <a:r>
              <a:rPr lang="es-AR" sz="2400" dirty="0"/>
              <a:t/>
            </a:r>
            <a:br>
              <a:rPr lang="es-AR" sz="2400" dirty="0"/>
            </a:br>
            <a:endParaRPr lang="es-AR"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510954" y="584718"/>
            <a:ext cx="2736304" cy="223224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110861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07504" y="73783"/>
            <a:ext cx="8244408" cy="984885"/>
          </a:xfrm>
          <a:prstGeom prst="rect">
            <a:avLst/>
          </a:prstGeom>
        </p:spPr>
        <p:txBody>
          <a:bodyPr wrap="square">
            <a:spAutoFit/>
          </a:bodyPr>
          <a:lstStyle/>
          <a:p>
            <a:pPr marL="285750" indent="-285750">
              <a:buFont typeface="Wingdings" panose="05000000000000000000" pitchFamily="2" charset="2"/>
              <a:buChar char="v"/>
            </a:pPr>
            <a:endParaRPr lang="es-AR" dirty="0"/>
          </a:p>
          <a:p>
            <a:r>
              <a:rPr lang="es-AR" sz="2000" dirty="0"/>
              <a:t>                     </a:t>
            </a:r>
          </a:p>
          <a:p>
            <a:endParaRPr lang="es-AR" sz="2000" dirty="0">
              <a:solidFill>
                <a:schemeClr val="accent1"/>
              </a:solidFill>
            </a:endParaRPr>
          </a:p>
        </p:txBody>
      </p:sp>
      <p:sp>
        <p:nvSpPr>
          <p:cNvPr id="3" name="Rectángulo 2">
            <a:extLst>
              <a:ext uri="{FF2B5EF4-FFF2-40B4-BE49-F238E27FC236}">
                <a16:creationId xmlns:a16="http://schemas.microsoft.com/office/drawing/2014/main" xmlns="" id="{CFE1A4E0-8357-4960-8746-EA8A818C66B9}"/>
              </a:ext>
            </a:extLst>
          </p:cNvPr>
          <p:cNvSpPr/>
          <p:nvPr/>
        </p:nvSpPr>
        <p:spPr>
          <a:xfrm>
            <a:off x="611561" y="404664"/>
            <a:ext cx="7740351" cy="12218730"/>
          </a:xfrm>
          <a:prstGeom prst="rect">
            <a:avLst/>
          </a:prstGeom>
        </p:spPr>
        <p:txBody>
          <a:bodyPr wrap="square">
            <a:spAutoFit/>
          </a:bodyPr>
          <a:lstStyle/>
          <a:p>
            <a:r>
              <a:rPr lang="es-AR" sz="3600" dirty="0">
                <a:highlight>
                  <a:srgbClr val="FF00FF"/>
                </a:highlight>
              </a:rPr>
              <a:t>¿</a:t>
            </a:r>
            <a:r>
              <a:rPr lang="es-AR" sz="3600" b="1" dirty="0">
                <a:highlight>
                  <a:srgbClr val="FF00FF"/>
                </a:highlight>
              </a:rPr>
              <a:t>Qué es un resumen</a:t>
            </a:r>
            <a:r>
              <a:rPr lang="es-AR" sz="3600" b="1" dirty="0" smtClean="0">
                <a:highlight>
                  <a:srgbClr val="FF00FF"/>
                </a:highlight>
              </a:rPr>
              <a:t>?</a:t>
            </a:r>
          </a:p>
          <a:p>
            <a:r>
              <a:rPr lang="es-AR" sz="3600" b="1" dirty="0" smtClean="0">
                <a:highlight>
                  <a:srgbClr val="FF00FF"/>
                </a:highlight>
              </a:rPr>
              <a:t>¿</a:t>
            </a:r>
            <a:r>
              <a:rPr lang="es-AR" sz="3600" b="1" dirty="0">
                <a:highlight>
                  <a:srgbClr val="FF00FF"/>
                </a:highlight>
              </a:rPr>
              <a:t>Qué información debemos incluir</a:t>
            </a:r>
            <a:r>
              <a:rPr lang="es-AR" sz="3600" b="1" dirty="0" smtClean="0">
                <a:highlight>
                  <a:srgbClr val="FF00FF"/>
                </a:highlight>
              </a:rPr>
              <a:t>?</a:t>
            </a:r>
            <a:endParaRPr lang="es-MX" dirty="0"/>
          </a:p>
          <a:p>
            <a:endParaRPr lang="es-MX" dirty="0"/>
          </a:p>
          <a:p>
            <a:pPr marL="285750" indent="-285750">
              <a:buFont typeface="Wingdings" panose="05000000000000000000" pitchFamily="2" charset="2"/>
              <a:buChar char="ü"/>
            </a:pPr>
            <a:r>
              <a:rPr lang="es-MX" sz="3200" dirty="0"/>
              <a:t>T</a:t>
            </a:r>
            <a:r>
              <a:rPr lang="es-AR" sz="3200" dirty="0" err="1"/>
              <a:t>exto</a:t>
            </a:r>
            <a:r>
              <a:rPr lang="es-AR" sz="3200" dirty="0"/>
              <a:t> condensado o sintético de las ideas principales de un texto</a:t>
            </a:r>
          </a:p>
          <a:p>
            <a:pPr marL="285750" indent="-285750"/>
            <a:endParaRPr lang="es-MX" sz="3200" dirty="0"/>
          </a:p>
          <a:p>
            <a:pPr marL="285750" indent="-285750">
              <a:buFont typeface="Wingdings" panose="05000000000000000000" pitchFamily="2" charset="2"/>
              <a:buChar char="ü"/>
            </a:pPr>
            <a:r>
              <a:rPr lang="es-MX" sz="3200" dirty="0"/>
              <a:t>N</a:t>
            </a:r>
            <a:r>
              <a:rPr lang="es-AR" sz="3200" dirty="0"/>
              <a:t>o se incluyen detalles o ejemplos</a:t>
            </a:r>
          </a:p>
          <a:p>
            <a:pPr marL="285750" indent="-285750">
              <a:buFont typeface="Wingdings" panose="05000000000000000000" pitchFamily="2" charset="2"/>
              <a:buChar char="ü"/>
            </a:pPr>
            <a:endParaRPr lang="es-MX" sz="3200" dirty="0"/>
          </a:p>
          <a:p>
            <a:pPr marL="285750" indent="-285750">
              <a:buFont typeface="Wingdings" panose="05000000000000000000" pitchFamily="2" charset="2"/>
              <a:buChar char="ü"/>
            </a:pPr>
            <a:r>
              <a:rPr lang="es-MX" sz="3200" dirty="0"/>
              <a:t>N</a:t>
            </a:r>
            <a:r>
              <a:rPr lang="es-AR" sz="3200" dirty="0"/>
              <a:t>o equivale solo a recortar, la selección de las ideas debe tener un criterio </a:t>
            </a:r>
            <a:r>
              <a:rPr lang="es-AR" sz="3200" dirty="0" smtClean="0"/>
              <a:t>jerárquico</a:t>
            </a:r>
            <a:endParaRPr lang="es-AR" sz="3200" dirty="0"/>
          </a:p>
          <a:p>
            <a:pPr marL="285750" indent="-285750">
              <a:buFont typeface="Wingdings" panose="05000000000000000000" pitchFamily="2" charset="2"/>
              <a:buChar char="ü"/>
            </a:pPr>
            <a:endParaRPr lang="es-MX" sz="3200" dirty="0"/>
          </a:p>
          <a:p>
            <a:pPr marL="285750" indent="-285750">
              <a:buFont typeface="Wingdings" panose="05000000000000000000" pitchFamily="2" charset="2"/>
              <a:buChar char="ü"/>
            </a:pPr>
            <a:r>
              <a:rPr lang="es-MX" sz="3200" dirty="0"/>
              <a:t>Su longitud y características van a depender del texto </a:t>
            </a:r>
            <a:r>
              <a:rPr lang="es-MX" sz="3200" dirty="0" smtClean="0"/>
              <a:t>original </a:t>
            </a:r>
            <a:endParaRPr lang="es-MX" sz="3200"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MX" dirty="0"/>
          </a:p>
          <a:p>
            <a:pPr marL="285750" indent="-285750">
              <a:buFont typeface="Wingdings" panose="05000000000000000000" pitchFamily="2" charset="2"/>
              <a:buChar char="ü"/>
            </a:pPr>
            <a:endParaRPr lang="es-AR" dirty="0"/>
          </a:p>
          <a:p>
            <a:endParaRPr lang="es-AR" dirty="0"/>
          </a:p>
          <a:p>
            <a:endParaRPr lang="es-AR" dirty="0"/>
          </a:p>
          <a:p>
            <a:endParaRPr lang="es-AR" dirty="0"/>
          </a:p>
          <a:p>
            <a:endParaRPr lang="es-AR" dirty="0"/>
          </a:p>
          <a:p>
            <a:endParaRPr lang="es-AR" dirty="0"/>
          </a:p>
          <a:p>
            <a:endParaRPr lang="es-AR" dirty="0"/>
          </a:p>
          <a:p>
            <a:r>
              <a:rPr lang="es-AR" dirty="0"/>
              <a:t> </a:t>
            </a:r>
          </a:p>
        </p:txBody>
      </p:sp>
    </p:spTree>
    <p:extLst>
      <p:ext uri="{BB962C8B-B14F-4D97-AF65-F5344CB8AC3E}">
        <p14:creationId xmlns:p14="http://schemas.microsoft.com/office/powerpoint/2010/main" xmlns="" val="3444785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323528" y="260648"/>
            <a:ext cx="7926952" cy="8586966"/>
          </a:xfrm>
          <a:prstGeom prst="rect">
            <a:avLst/>
          </a:prstGeom>
        </p:spPr>
        <p:txBody>
          <a:bodyPr wrap="square">
            <a:spAutoFit/>
          </a:bodyPr>
          <a:lstStyle/>
          <a:p>
            <a:endParaRPr lang="es-AR" sz="3200" dirty="0">
              <a:solidFill>
                <a:schemeClr val="accent2"/>
              </a:solidFill>
            </a:endParaRPr>
          </a:p>
          <a:p>
            <a:endParaRPr lang="es-AR" sz="5400" dirty="0">
              <a:solidFill>
                <a:schemeClr val="accent2"/>
              </a:solidFill>
            </a:endParaRPr>
          </a:p>
          <a:p>
            <a:r>
              <a:rPr lang="es-AR" sz="3200" dirty="0" smtClean="0">
                <a:solidFill>
                  <a:schemeClr val="accent5"/>
                </a:solidFill>
              </a:rPr>
              <a:t>                       POSIBLES </a:t>
            </a:r>
            <a:r>
              <a:rPr lang="es-AR" sz="3200" dirty="0">
                <a:solidFill>
                  <a:schemeClr val="accent5"/>
                </a:solidFill>
              </a:rPr>
              <a:t>PASOS</a:t>
            </a:r>
          </a:p>
          <a:p>
            <a:pPr algn="just">
              <a:buFont typeface="Arial" pitchFamily="34" charset="0"/>
              <a:buChar char="•"/>
            </a:pPr>
            <a:r>
              <a:rPr lang="es-MX" sz="2800" dirty="0"/>
              <a:t>Identificar el tema principal del texto y su contexto de </a:t>
            </a:r>
            <a:r>
              <a:rPr lang="es-MX" sz="2800" dirty="0" smtClean="0"/>
              <a:t>producción</a:t>
            </a:r>
            <a:endParaRPr lang="es-MX" sz="2800" dirty="0"/>
          </a:p>
          <a:p>
            <a:pPr algn="just">
              <a:buFont typeface="Arial" pitchFamily="34" charset="0"/>
              <a:buChar char="•"/>
            </a:pPr>
            <a:r>
              <a:rPr lang="es-MX" sz="2800" dirty="0"/>
              <a:t>Detectar el propósito de la/el </a:t>
            </a:r>
            <a:r>
              <a:rPr lang="es-MX" sz="2800" dirty="0" smtClean="0"/>
              <a:t>autor/a</a:t>
            </a:r>
            <a:endParaRPr lang="es-MX" sz="2800" dirty="0"/>
          </a:p>
          <a:p>
            <a:pPr algn="just">
              <a:buFont typeface="Arial" pitchFamily="34" charset="0"/>
              <a:buChar char="•"/>
            </a:pPr>
            <a:r>
              <a:rPr lang="es-MX" sz="2800" dirty="0"/>
              <a:t>Buscar los argumentos/información que permiten que la/el autor/a cumpla con su </a:t>
            </a:r>
            <a:r>
              <a:rPr lang="es-MX" sz="2800" dirty="0" smtClean="0"/>
              <a:t>propósito</a:t>
            </a:r>
            <a:endParaRPr lang="es-MX" sz="2800" dirty="0"/>
          </a:p>
          <a:p>
            <a:pPr algn="just">
              <a:buFont typeface="Arial" pitchFamily="34" charset="0"/>
              <a:buChar char="•"/>
            </a:pPr>
            <a:r>
              <a:rPr lang="es-MX" sz="2800" dirty="0"/>
              <a:t>Recordar que puede haber párrafos sin ideas principales cuya función es ampliar, explicar o ejemplificar</a:t>
            </a:r>
          </a:p>
          <a:p>
            <a:pPr>
              <a:buFont typeface="Arial" pitchFamily="34" charset="0"/>
              <a:buChar char="•"/>
            </a:pPr>
            <a:r>
              <a:rPr lang="es-MX" sz="2800" dirty="0" smtClean="0"/>
              <a:t>Subrayar </a:t>
            </a:r>
            <a:r>
              <a:rPr lang="es-MX" sz="2800" dirty="0"/>
              <a:t>o tomar notas al margen de aquellos párrafos u oraciones que contengan información relevante.</a:t>
            </a:r>
          </a:p>
          <a:p>
            <a:endParaRPr lang="es-MX" dirty="0"/>
          </a:p>
          <a:p>
            <a:endParaRPr lang="es-MX" dirty="0"/>
          </a:p>
          <a:p>
            <a:r>
              <a:rPr lang="es-MX" dirty="0"/>
              <a:t> </a:t>
            </a:r>
            <a:endParaRPr lang="es-MX" dirty="0">
              <a:solidFill>
                <a:schemeClr val="accent6">
                  <a:lumMod val="50000"/>
                </a:schemeClr>
              </a:solidFill>
            </a:endParaRPr>
          </a:p>
          <a:p>
            <a:endParaRPr lang="es-MX" dirty="0">
              <a:solidFill>
                <a:schemeClr val="accent6">
                  <a:lumMod val="50000"/>
                </a:schemeClr>
              </a:solidFill>
            </a:endParaRPr>
          </a:p>
          <a:p>
            <a:endParaRPr lang="es-MX" dirty="0">
              <a:solidFill>
                <a:schemeClr val="accent6">
                  <a:lumMod val="50000"/>
                </a:schemeClr>
              </a:solidFill>
            </a:endParaRPr>
          </a:p>
          <a:p>
            <a:endParaRPr lang="es-MX" dirty="0">
              <a:solidFill>
                <a:schemeClr val="accent6">
                  <a:lumMod val="50000"/>
                </a:schemeClr>
              </a:solidFill>
            </a:endParaRPr>
          </a:p>
          <a:p>
            <a:endParaRPr lang="es-AR" dirty="0">
              <a:solidFill>
                <a:schemeClr val="accent6">
                  <a:lumMod val="50000"/>
                </a:schemeClr>
              </a:solidFill>
            </a:endParaRPr>
          </a:p>
        </p:txBody>
      </p:sp>
      <p:sp>
        <p:nvSpPr>
          <p:cNvPr id="3" name="Título 2">
            <a:extLst>
              <a:ext uri="{FF2B5EF4-FFF2-40B4-BE49-F238E27FC236}">
                <a16:creationId xmlns:a16="http://schemas.microsoft.com/office/drawing/2014/main" xmlns="" id="{A8829FB6-531A-4CB9-80B1-6395B9CD0A54}"/>
              </a:ext>
            </a:extLst>
          </p:cNvPr>
          <p:cNvSpPr>
            <a:spLocks noGrp="1"/>
          </p:cNvSpPr>
          <p:nvPr>
            <p:ph type="title"/>
          </p:nvPr>
        </p:nvSpPr>
        <p:spPr>
          <a:xfrm>
            <a:off x="457200" y="274638"/>
            <a:ext cx="7620000" cy="1570186"/>
          </a:xfrm>
        </p:spPr>
        <p:txBody>
          <a:bodyPr>
            <a:normAutofit fontScale="90000"/>
          </a:bodyPr>
          <a:lstStyle/>
          <a:p>
            <a:r>
              <a:rPr lang="es-MX" dirty="0"/>
              <a:t/>
            </a:r>
            <a:br>
              <a:rPr lang="es-MX" dirty="0"/>
            </a:br>
            <a:r>
              <a:rPr lang="es-MX" sz="4800" b="1" dirty="0">
                <a:solidFill>
                  <a:schemeClr val="tx1"/>
                </a:solidFill>
                <a:highlight>
                  <a:srgbClr val="FF00FF"/>
                </a:highlight>
              </a:rPr>
              <a:t>¿</a:t>
            </a:r>
            <a:r>
              <a:rPr lang="es-AR" sz="4800" b="1" dirty="0">
                <a:solidFill>
                  <a:schemeClr val="tx1"/>
                </a:solidFill>
                <a:highlight>
                  <a:srgbClr val="FF00FF"/>
                </a:highlight>
              </a:rPr>
              <a:t>Cómo seleccionamos la información? </a:t>
            </a:r>
            <a:r>
              <a:rPr lang="es-AR" sz="4800" dirty="0">
                <a:highlight>
                  <a:srgbClr val="FF00FF"/>
                </a:highlight>
              </a:rPr>
              <a:t/>
            </a:r>
            <a:br>
              <a:rPr lang="es-AR" sz="4800" dirty="0">
                <a:highlight>
                  <a:srgbClr val="FF00FF"/>
                </a:highlight>
              </a:rPr>
            </a:br>
            <a:endParaRPr lang="es-AR" sz="4800" dirty="0">
              <a:highlight>
                <a:srgbClr val="FF00FF"/>
              </a:highlight>
            </a:endParaRPr>
          </a:p>
        </p:txBody>
      </p:sp>
      <p:pic>
        <p:nvPicPr>
          <p:cNvPr id="5" name="Picture 2">
            <a:extLst>
              <a:ext uri="{FF2B5EF4-FFF2-40B4-BE49-F238E27FC236}">
                <a16:creationId xmlns:a16="http://schemas.microsoft.com/office/drawing/2014/main" xmlns="" id="{E2F5A826-6A60-47A5-BB48-9ED616D20F40}"/>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868144" y="1059731"/>
            <a:ext cx="1944216" cy="10081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25329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xmlns="" id="{FAD5F461-159B-41C6-B7E7-99E50EDEEE88}"/>
              </a:ext>
            </a:extLst>
          </p:cNvPr>
          <p:cNvSpPr>
            <a:spLocks noGrp="1"/>
          </p:cNvSpPr>
          <p:nvPr>
            <p:ph type="title"/>
          </p:nvPr>
        </p:nvSpPr>
        <p:spPr>
          <a:xfrm>
            <a:off x="395536" y="274638"/>
            <a:ext cx="8064896" cy="6250706"/>
          </a:xfrm>
        </p:spPr>
        <p:txBody>
          <a:bodyPr>
            <a:normAutofit fontScale="90000"/>
          </a:bodyPr>
          <a:lstStyle/>
          <a:p>
            <a:pPr marL="571500" indent="-571500">
              <a:buFont typeface="Arial" pitchFamily="34" charset="0"/>
              <a:buChar char="•"/>
            </a:pPr>
            <a:r>
              <a:rPr lang="es-AR" sz="4000" dirty="0"/>
              <a:t/>
            </a:r>
            <a:br>
              <a:rPr lang="es-AR" sz="4000" dirty="0"/>
            </a:br>
            <a:r>
              <a:rPr lang="es-AR" sz="4000" dirty="0" smtClean="0"/>
              <a:t/>
            </a:r>
            <a:br>
              <a:rPr lang="es-AR" sz="4000" dirty="0" smtClean="0"/>
            </a:br>
            <a:r>
              <a:rPr lang="es-AR" sz="4000" dirty="0" smtClean="0"/>
              <a:t/>
            </a:r>
            <a:br>
              <a:rPr lang="es-AR" sz="4000" dirty="0" smtClean="0"/>
            </a:br>
            <a:r>
              <a:rPr lang="es-AR" sz="4000" dirty="0" smtClean="0"/>
              <a:t/>
            </a:r>
            <a:br>
              <a:rPr lang="es-AR" sz="4000" dirty="0" smtClean="0"/>
            </a:br>
            <a:r>
              <a:rPr lang="es-AR" sz="4000" dirty="0" smtClean="0"/>
              <a:t/>
            </a:r>
            <a:br>
              <a:rPr lang="es-AR" sz="4000" dirty="0" smtClean="0"/>
            </a:br>
            <a:r>
              <a:rPr lang="es-AR" sz="4000" dirty="0" smtClean="0"/>
              <a:t/>
            </a:r>
            <a:br>
              <a:rPr lang="es-AR" sz="4000" dirty="0" smtClean="0"/>
            </a:br>
            <a:r>
              <a:rPr lang="es-AR" sz="4000" dirty="0" smtClean="0"/>
              <a:t/>
            </a:r>
            <a:br>
              <a:rPr lang="es-AR" sz="4000" dirty="0" smtClean="0"/>
            </a:br>
            <a:r>
              <a:rPr lang="es-AR" sz="4000" dirty="0" smtClean="0"/>
              <a:t/>
            </a:r>
            <a:br>
              <a:rPr lang="es-AR" sz="4000" dirty="0" smtClean="0"/>
            </a:br>
            <a:r>
              <a:rPr lang="es-AR" sz="3600" dirty="0">
                <a:highlight>
                  <a:srgbClr val="FF00FF"/>
                </a:highlight>
              </a:rPr>
              <a:t/>
            </a:r>
            <a:br>
              <a:rPr lang="es-AR" sz="3600" dirty="0">
                <a:highlight>
                  <a:srgbClr val="FF00FF"/>
                </a:highlight>
              </a:rPr>
            </a:br>
            <a:r>
              <a:rPr lang="es-AR" sz="3600" dirty="0" smtClean="0">
                <a:highlight>
                  <a:srgbClr val="FF00FF"/>
                </a:highlight>
              </a:rPr>
              <a:t/>
            </a:r>
            <a:br>
              <a:rPr lang="es-AR" sz="3600" dirty="0" smtClean="0">
                <a:highlight>
                  <a:srgbClr val="FF00FF"/>
                </a:highlight>
              </a:rPr>
            </a:br>
            <a:r>
              <a:rPr lang="es-AR" sz="2800" dirty="0" smtClean="0">
                <a:solidFill>
                  <a:schemeClr val="tx1"/>
                </a:solidFill>
                <a:highlight>
                  <a:srgbClr val="FF00FF"/>
                </a:highlight>
              </a:rPr>
              <a:t> ¿</a:t>
            </a:r>
            <a:r>
              <a:rPr lang="es-AR" sz="3100" b="1" dirty="0" smtClean="0">
                <a:solidFill>
                  <a:schemeClr val="tx1"/>
                </a:solidFill>
                <a:highlight>
                  <a:srgbClr val="FF00FF"/>
                </a:highlight>
              </a:rPr>
              <a:t>Cómo escribimos en español un </a:t>
            </a:r>
            <a:br>
              <a:rPr lang="es-AR" sz="3100" b="1" dirty="0" smtClean="0">
                <a:solidFill>
                  <a:schemeClr val="tx1"/>
                </a:solidFill>
                <a:highlight>
                  <a:srgbClr val="FF00FF"/>
                </a:highlight>
              </a:rPr>
            </a:br>
            <a:r>
              <a:rPr lang="es-AR" sz="3100" b="1" dirty="0" smtClean="0">
                <a:solidFill>
                  <a:schemeClr val="tx1"/>
                </a:solidFill>
                <a:highlight>
                  <a:srgbClr val="FF00FF"/>
                </a:highlight>
              </a:rPr>
              <a:t>resumen de un texto escrito en inglés ? </a:t>
            </a:r>
            <a:r>
              <a:rPr lang="es-AR" sz="2800" b="1" dirty="0" smtClean="0">
                <a:solidFill>
                  <a:schemeClr val="tx1"/>
                </a:solidFill>
                <a:highlight>
                  <a:srgbClr val="FF00FF"/>
                </a:highlight>
              </a:rPr>
              <a:t/>
            </a:r>
            <a:br>
              <a:rPr lang="es-AR" sz="2800" b="1" dirty="0" smtClean="0">
                <a:solidFill>
                  <a:schemeClr val="tx1"/>
                </a:solidFill>
                <a:highlight>
                  <a:srgbClr val="FF00FF"/>
                </a:highlight>
              </a:rPr>
            </a:br>
            <a:r>
              <a:rPr lang="es-AR" sz="2800" dirty="0" smtClean="0">
                <a:solidFill>
                  <a:schemeClr val="accent5"/>
                </a:solidFill>
              </a:rPr>
              <a:t>POSIBLES </a:t>
            </a:r>
            <a:r>
              <a:rPr lang="es-AR" sz="2800" dirty="0">
                <a:solidFill>
                  <a:schemeClr val="accent5"/>
                </a:solidFill>
              </a:rPr>
              <a:t>PASOS</a:t>
            </a:r>
            <a:r>
              <a:rPr lang="es-AR" sz="3600" dirty="0">
                <a:highlight>
                  <a:srgbClr val="FF00FF"/>
                </a:highlight>
              </a:rPr>
              <a:t/>
            </a:r>
            <a:br>
              <a:rPr lang="es-AR" sz="3600" dirty="0">
                <a:highlight>
                  <a:srgbClr val="FF00FF"/>
                </a:highlight>
              </a:rPr>
            </a:br>
            <a:r>
              <a:rPr lang="es-AR" sz="2700" dirty="0" smtClean="0">
                <a:solidFill>
                  <a:schemeClr val="tx1"/>
                </a:solidFill>
              </a:rPr>
              <a:t>Lean </a:t>
            </a:r>
            <a:r>
              <a:rPr lang="es-AR" sz="2700" dirty="0">
                <a:solidFill>
                  <a:schemeClr val="tx1"/>
                </a:solidFill>
              </a:rPr>
              <a:t>toda la información que incluirán en su resumen  antes de comenzar a escribir.</a:t>
            </a:r>
            <a:br>
              <a:rPr lang="es-AR" sz="2700" dirty="0">
                <a:solidFill>
                  <a:schemeClr val="tx1"/>
                </a:solidFill>
              </a:rPr>
            </a:br>
            <a:r>
              <a:rPr lang="es-AR" sz="2700" dirty="0" smtClean="0">
                <a:solidFill>
                  <a:schemeClr val="tx1"/>
                </a:solidFill>
              </a:rPr>
              <a:t>Recuerden </a:t>
            </a:r>
            <a:r>
              <a:rPr lang="es-AR" sz="2700" dirty="0">
                <a:solidFill>
                  <a:schemeClr val="tx1"/>
                </a:solidFill>
              </a:rPr>
              <a:t>que un resumen es un texto, no una colección de oraciones. </a:t>
            </a:r>
            <a:br>
              <a:rPr lang="es-AR" sz="2700" dirty="0">
                <a:solidFill>
                  <a:schemeClr val="tx1"/>
                </a:solidFill>
              </a:rPr>
            </a:br>
            <a:r>
              <a:rPr lang="es-AR" sz="2700" dirty="0" smtClean="0">
                <a:solidFill>
                  <a:schemeClr val="tx1"/>
                </a:solidFill>
              </a:rPr>
              <a:t>Incluyan </a:t>
            </a:r>
            <a:r>
              <a:rPr lang="es-AR" sz="2700" dirty="0">
                <a:solidFill>
                  <a:schemeClr val="tx1"/>
                </a:solidFill>
              </a:rPr>
              <a:t>solo ideas importantes, organicen la información en párrafos y conecten las ideas con conectores o articuladores adecuados.</a:t>
            </a:r>
            <a:br>
              <a:rPr lang="es-AR" sz="2700" dirty="0">
                <a:solidFill>
                  <a:schemeClr val="tx1"/>
                </a:solidFill>
              </a:rPr>
            </a:br>
            <a:r>
              <a:rPr lang="es-AR" sz="2700" dirty="0" smtClean="0">
                <a:solidFill>
                  <a:schemeClr val="tx1"/>
                </a:solidFill>
              </a:rPr>
              <a:t>No </a:t>
            </a:r>
            <a:r>
              <a:rPr lang="es-AR" sz="2700" dirty="0">
                <a:solidFill>
                  <a:schemeClr val="tx1"/>
                </a:solidFill>
              </a:rPr>
              <a:t>es necesario que sigan el mismo orden de presentación de las ideas que tiene el texto original.</a:t>
            </a:r>
            <a:br>
              <a:rPr lang="es-AR" sz="2700" dirty="0">
                <a:solidFill>
                  <a:schemeClr val="tx1"/>
                </a:solidFill>
              </a:rPr>
            </a:br>
            <a:r>
              <a:rPr lang="es-AR" sz="2700" dirty="0" smtClean="0">
                <a:solidFill>
                  <a:schemeClr val="tx1"/>
                </a:solidFill>
              </a:rPr>
              <a:t>No </a:t>
            </a:r>
            <a:r>
              <a:rPr lang="es-AR" sz="2700" dirty="0">
                <a:solidFill>
                  <a:schemeClr val="tx1"/>
                </a:solidFill>
              </a:rPr>
              <a:t>traduzcan palabra por palabra. Reformulen la información respetando el sentido pero tratando de incluir vocabulario y estructuras que sean correctas en español.</a:t>
            </a:r>
            <a:br>
              <a:rPr lang="es-AR" sz="2700" dirty="0">
                <a:solidFill>
                  <a:schemeClr val="tx1"/>
                </a:solidFill>
              </a:rPr>
            </a:br>
            <a:r>
              <a:rPr lang="es-AR" sz="1800" dirty="0"/>
              <a:t/>
            </a:r>
            <a:br>
              <a:rPr lang="es-AR" sz="1800" dirty="0"/>
            </a:br>
            <a:r>
              <a:rPr lang="es-AR" sz="1800" dirty="0"/>
              <a:t/>
            </a:r>
            <a:br>
              <a:rPr lang="es-AR" sz="1800" dirty="0"/>
            </a:br>
            <a:r>
              <a:rPr lang="es-AR" sz="1800" dirty="0"/>
              <a:t/>
            </a:r>
            <a:br>
              <a:rPr lang="es-AR" sz="1800" dirty="0"/>
            </a:br>
            <a:r>
              <a:rPr lang="es-AR" sz="4000" dirty="0"/>
              <a:t/>
            </a:r>
            <a:br>
              <a:rPr lang="es-AR" sz="4000" dirty="0"/>
            </a:br>
            <a:r>
              <a:rPr lang="es-AR" sz="4000" dirty="0"/>
              <a:t/>
            </a:r>
            <a:br>
              <a:rPr lang="es-AR" sz="4000" dirty="0"/>
            </a:br>
            <a:r>
              <a:rPr lang="es-AR" sz="4000" dirty="0"/>
              <a:t/>
            </a:r>
            <a:br>
              <a:rPr lang="es-AR" sz="4000" dirty="0"/>
            </a:br>
            <a:r>
              <a:rPr lang="es-AR" sz="4000" dirty="0"/>
              <a:t/>
            </a:r>
            <a:br>
              <a:rPr lang="es-AR" sz="4000" dirty="0"/>
            </a:br>
            <a:r>
              <a:rPr lang="es-AR" sz="4800" dirty="0"/>
              <a:t/>
            </a:r>
            <a:br>
              <a:rPr lang="es-AR" sz="4800" dirty="0"/>
            </a:br>
            <a:r>
              <a:rPr lang="es-AR" sz="3200" dirty="0"/>
              <a:t/>
            </a:r>
            <a:br>
              <a:rPr lang="es-AR" sz="3200" dirty="0"/>
            </a:br>
            <a:r>
              <a:rPr lang="es-AR" sz="3200" dirty="0"/>
              <a:t/>
            </a:r>
            <a:br>
              <a:rPr lang="es-AR" sz="3200" dirty="0"/>
            </a:br>
            <a:endParaRPr lang="es-AR" sz="3200" dirty="0"/>
          </a:p>
        </p:txBody>
      </p:sp>
      <p:sp>
        <p:nvSpPr>
          <p:cNvPr id="3" name="2 Marcador de contenido"/>
          <p:cNvSpPr>
            <a:spLocks noGrp="1"/>
          </p:cNvSpPr>
          <p:nvPr>
            <p:ph type="subTitle" idx="4294967295"/>
          </p:nvPr>
        </p:nvSpPr>
        <p:spPr>
          <a:xfrm>
            <a:off x="0" y="5949950"/>
            <a:ext cx="7885113" cy="503238"/>
          </a:xfrm>
        </p:spPr>
        <p:txBody>
          <a:bodyPr>
            <a:normAutofit/>
          </a:bodyPr>
          <a:lstStyle/>
          <a:p>
            <a:pPr marL="0" indent="0">
              <a:buNone/>
            </a:pPr>
            <a:r>
              <a:rPr lang="es-AR" b="1" i="1" dirty="0"/>
              <a:t> </a:t>
            </a:r>
            <a:endParaRPr lang="es-AR" dirty="0"/>
          </a:p>
          <a:p>
            <a:endParaRPr lang="es-AR" dirty="0"/>
          </a:p>
        </p:txBody>
      </p:sp>
    </p:spTree>
    <p:extLst>
      <p:ext uri="{BB962C8B-B14F-4D97-AF65-F5344CB8AC3E}">
        <p14:creationId xmlns:p14="http://schemas.microsoft.com/office/powerpoint/2010/main" xmlns="" val="487090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DD162DE-84CA-4D4F-9751-BF04D5E74D0A}"/>
              </a:ext>
            </a:extLst>
          </p:cNvPr>
          <p:cNvSpPr>
            <a:spLocks noGrp="1"/>
          </p:cNvSpPr>
          <p:nvPr>
            <p:ph type="title"/>
          </p:nvPr>
        </p:nvSpPr>
        <p:spPr>
          <a:xfrm>
            <a:off x="457200" y="274638"/>
            <a:ext cx="8003232" cy="6106690"/>
          </a:xfrm>
        </p:spPr>
        <p:txBody>
          <a:bodyPr>
            <a:normAutofit fontScale="90000"/>
          </a:bodyPr>
          <a:lstStyle/>
          <a:p>
            <a:r>
              <a:rPr lang="es-AR" sz="2000" dirty="0"/>
              <a:t/>
            </a:r>
            <a:br>
              <a:rPr lang="es-AR" sz="2000" dirty="0"/>
            </a:br>
            <a:r>
              <a:rPr lang="es-AR" sz="2000" dirty="0" smtClean="0"/>
              <a:t/>
            </a:r>
            <a:br>
              <a:rPr lang="es-AR" sz="2000" dirty="0" smtClean="0"/>
            </a:br>
            <a:r>
              <a:rPr lang="es-AR" sz="2000" dirty="0" smtClean="0"/>
              <a:t/>
            </a:r>
            <a:br>
              <a:rPr lang="es-AR" sz="2000" dirty="0" smtClean="0"/>
            </a:br>
            <a:r>
              <a:rPr lang="es-AR" sz="2000" dirty="0" smtClean="0"/>
              <a:t/>
            </a:r>
            <a:br>
              <a:rPr lang="es-AR" sz="2000" dirty="0" smtClean="0"/>
            </a:br>
            <a:r>
              <a:rPr lang="es-AR" sz="2000" dirty="0" smtClean="0"/>
              <a:t/>
            </a:r>
            <a:br>
              <a:rPr lang="es-AR" sz="2000" dirty="0" smtClean="0"/>
            </a:br>
            <a:r>
              <a:rPr lang="es-AR" sz="2700" dirty="0" smtClean="0">
                <a:solidFill>
                  <a:schemeClr val="tx1"/>
                </a:solidFill>
              </a:rPr>
              <a:t>Después </a:t>
            </a:r>
            <a:r>
              <a:rPr lang="es-AR" sz="2700" dirty="0">
                <a:solidFill>
                  <a:schemeClr val="tx1"/>
                </a:solidFill>
              </a:rPr>
              <a:t>de escribir cada oración relean lo que escribieron, si no suena bien en español, cambien lo que no es adecuado.</a:t>
            </a:r>
            <a:br>
              <a:rPr lang="es-AR" sz="2700" dirty="0">
                <a:solidFill>
                  <a:schemeClr val="tx1"/>
                </a:solidFill>
              </a:rPr>
            </a:br>
            <a:r>
              <a:rPr lang="es-AR" sz="2700" dirty="0">
                <a:solidFill>
                  <a:schemeClr val="tx1"/>
                </a:solidFill>
              </a:rPr>
              <a:t/>
            </a:r>
            <a:br>
              <a:rPr lang="es-AR" sz="2700" dirty="0">
                <a:solidFill>
                  <a:schemeClr val="tx1"/>
                </a:solidFill>
              </a:rPr>
            </a:br>
            <a:r>
              <a:rPr lang="es-AR" sz="2700" dirty="0">
                <a:solidFill>
                  <a:schemeClr val="tx1"/>
                </a:solidFill>
              </a:rPr>
              <a:t>Asegúrense de incluir oraciones y no conceptos </a:t>
            </a:r>
            <a:r>
              <a:rPr lang="es-AR" sz="2700" dirty="0" smtClean="0">
                <a:solidFill>
                  <a:schemeClr val="tx1"/>
                </a:solidFill>
              </a:rPr>
              <a:t>sueltos.</a:t>
            </a:r>
            <a:r>
              <a:rPr lang="es-AR" sz="2700" dirty="0">
                <a:solidFill>
                  <a:schemeClr val="tx1"/>
                </a:solidFill>
              </a:rPr>
              <a:t/>
            </a:r>
            <a:br>
              <a:rPr lang="es-AR" sz="2700" dirty="0">
                <a:solidFill>
                  <a:schemeClr val="tx1"/>
                </a:solidFill>
              </a:rPr>
            </a:br>
            <a:r>
              <a:rPr lang="es-AR" sz="2700" dirty="0">
                <a:solidFill>
                  <a:schemeClr val="tx1"/>
                </a:solidFill>
              </a:rPr>
              <a:t/>
            </a:r>
            <a:br>
              <a:rPr lang="es-AR" sz="2700" dirty="0">
                <a:solidFill>
                  <a:schemeClr val="tx1"/>
                </a:solidFill>
              </a:rPr>
            </a:br>
            <a:r>
              <a:rPr lang="es-AR" sz="2700" dirty="0">
                <a:solidFill>
                  <a:schemeClr val="tx1"/>
                </a:solidFill>
              </a:rPr>
              <a:t>No repitan  información que ya incluyeron en otra oración.</a:t>
            </a:r>
            <a:br>
              <a:rPr lang="es-AR" sz="2700" dirty="0">
                <a:solidFill>
                  <a:schemeClr val="tx1"/>
                </a:solidFill>
              </a:rPr>
            </a:br>
            <a:r>
              <a:rPr lang="es-AR" sz="2700" dirty="0">
                <a:solidFill>
                  <a:schemeClr val="tx1"/>
                </a:solidFill>
              </a:rPr>
              <a:t/>
            </a:r>
            <a:br>
              <a:rPr lang="es-AR" sz="2700" dirty="0">
                <a:solidFill>
                  <a:schemeClr val="tx1"/>
                </a:solidFill>
              </a:rPr>
            </a:br>
            <a:r>
              <a:rPr lang="es-AR" sz="2700" dirty="0">
                <a:solidFill>
                  <a:schemeClr val="tx1"/>
                </a:solidFill>
              </a:rPr>
              <a:t>Tengan en cuenta que no les solicitaremos resúmenes “descriptivos” que incluyan lo que el autor “hace” </a:t>
            </a:r>
            <a:r>
              <a:rPr lang="es-AR" sz="2700" dirty="0" smtClean="0">
                <a:solidFill>
                  <a:schemeClr val="tx1"/>
                </a:solidFill>
              </a:rPr>
              <a:t>si</a:t>
            </a:r>
            <a:r>
              <a:rPr lang="es-AR" sz="2700" dirty="0" smtClean="0">
                <a:solidFill>
                  <a:schemeClr val="tx1"/>
                </a:solidFill>
              </a:rPr>
              <a:t>no </a:t>
            </a:r>
            <a:r>
              <a:rPr lang="es-AR" sz="2700" dirty="0">
                <a:solidFill>
                  <a:schemeClr val="tx1"/>
                </a:solidFill>
              </a:rPr>
              <a:t>lo que “dice</a:t>
            </a:r>
            <a:r>
              <a:rPr lang="es-AR" sz="2700" dirty="0" smtClean="0">
                <a:solidFill>
                  <a:schemeClr val="tx1"/>
                </a:solidFill>
              </a:rPr>
              <a:t>”. Por  </a:t>
            </a:r>
            <a:r>
              <a:rPr lang="es-AR" sz="2700" dirty="0" err="1">
                <a:solidFill>
                  <a:schemeClr val="tx1"/>
                </a:solidFill>
              </a:rPr>
              <a:t>ej</a:t>
            </a:r>
            <a:r>
              <a:rPr lang="es-AR" sz="2700" dirty="0">
                <a:solidFill>
                  <a:schemeClr val="tx1"/>
                </a:solidFill>
              </a:rPr>
              <a:t>: no </a:t>
            </a:r>
            <a:r>
              <a:rPr lang="es-AR" sz="2700" dirty="0" smtClean="0">
                <a:solidFill>
                  <a:schemeClr val="tx1"/>
                </a:solidFill>
              </a:rPr>
              <a:t>escriban</a:t>
            </a:r>
            <a:r>
              <a:rPr lang="es-AR" sz="2700" dirty="0" smtClean="0">
                <a:solidFill>
                  <a:schemeClr val="tx1"/>
                </a:solidFill>
              </a:rPr>
              <a:t>: </a:t>
            </a:r>
            <a:r>
              <a:rPr lang="es-AR" sz="2700" dirty="0">
                <a:solidFill>
                  <a:schemeClr val="tx1"/>
                </a:solidFill>
              </a:rPr>
              <a:t>“Este es un texto descriptivo que define la ingeniería”, sino: “La ingeniería  es un arte que consiste en aplicar la ciencia a la conversión de los recursos naturales”. </a:t>
            </a:r>
            <a:r>
              <a:rPr lang="es-AR" sz="2700">
                <a:solidFill>
                  <a:schemeClr val="tx1"/>
                </a:solidFill>
              </a:rPr>
              <a:t/>
            </a:r>
            <a:br>
              <a:rPr lang="es-AR" sz="2700">
                <a:solidFill>
                  <a:schemeClr val="tx1"/>
                </a:solidFill>
              </a:rPr>
            </a:br>
            <a:r>
              <a:rPr lang="es-AR" sz="2700" smtClean="0">
                <a:solidFill>
                  <a:schemeClr val="tx1"/>
                </a:solidFill>
              </a:rPr>
              <a:t>Revisen </a:t>
            </a:r>
            <a:r>
              <a:rPr lang="es-AR" sz="2700" dirty="0">
                <a:solidFill>
                  <a:schemeClr val="tx1"/>
                </a:solidFill>
              </a:rPr>
              <a:t>antes de entregar, recuerden también repasar la puntuación y la ortografía. </a:t>
            </a:r>
            <a:r>
              <a:rPr lang="es-AR" sz="2000" dirty="0"/>
              <a:t/>
            </a:r>
            <a:br>
              <a:rPr lang="es-AR" sz="2000" dirty="0"/>
            </a:br>
            <a:r>
              <a:rPr lang="es-AR" sz="2000" dirty="0"/>
              <a:t/>
            </a:r>
            <a:br>
              <a:rPr lang="es-AR" sz="2000" dirty="0"/>
            </a:br>
            <a:r>
              <a:rPr lang="es-AR" sz="2000" dirty="0"/>
              <a:t/>
            </a:r>
            <a:br>
              <a:rPr lang="es-AR" sz="2000" dirty="0"/>
            </a:br>
            <a:r>
              <a:rPr lang="es-AR" sz="2000" dirty="0"/>
              <a:t/>
            </a:r>
            <a:br>
              <a:rPr lang="es-AR" sz="2000" dirty="0"/>
            </a:br>
            <a:r>
              <a:rPr lang="es-AR" sz="2000" dirty="0"/>
              <a:t/>
            </a:r>
            <a:br>
              <a:rPr lang="es-AR" sz="2000" dirty="0"/>
            </a:br>
            <a:r>
              <a:rPr lang="es-AR" sz="2000" dirty="0"/>
              <a:t/>
            </a:r>
            <a:br>
              <a:rPr lang="es-AR" sz="2000" dirty="0"/>
            </a:br>
            <a:r>
              <a:rPr lang="es-AR" sz="2000" dirty="0"/>
              <a:t/>
            </a:r>
            <a:br>
              <a:rPr lang="es-AR" sz="2000" dirty="0"/>
            </a:br>
            <a:r>
              <a:rPr lang="es-AR" sz="2000" dirty="0"/>
              <a:t/>
            </a:r>
            <a:br>
              <a:rPr lang="es-AR" sz="2000" dirty="0"/>
            </a:br>
            <a:endParaRPr lang="es-AR" sz="2000" dirty="0"/>
          </a:p>
        </p:txBody>
      </p:sp>
      <p:pic>
        <p:nvPicPr>
          <p:cNvPr id="5" name="Imagen 4">
            <a:extLst>
              <a:ext uri="{FF2B5EF4-FFF2-40B4-BE49-F238E27FC236}">
                <a16:creationId xmlns:a16="http://schemas.microsoft.com/office/drawing/2014/main" xmlns="" id="{08171867-7B1F-4391-B6A1-6AD98D464D0F}"/>
              </a:ext>
            </a:extLst>
          </p:cNvPr>
          <p:cNvPicPr>
            <a:picLocks noChangeAspect="1"/>
          </p:cNvPicPr>
          <p:nvPr/>
        </p:nvPicPr>
        <p:blipFill>
          <a:blip r:embed="rId2" cstate="print"/>
          <a:stretch>
            <a:fillRect/>
          </a:stretch>
        </p:blipFill>
        <p:spPr>
          <a:xfrm>
            <a:off x="6444208" y="5085184"/>
            <a:ext cx="1656184" cy="1152128"/>
          </a:xfrm>
          <a:prstGeom prst="rect">
            <a:avLst/>
          </a:prstGeom>
        </p:spPr>
      </p:pic>
    </p:spTree>
    <p:extLst>
      <p:ext uri="{BB962C8B-B14F-4D97-AF65-F5344CB8AC3E}">
        <p14:creationId xmlns:p14="http://schemas.microsoft.com/office/powerpoint/2010/main" xmlns="" val="3825769089"/>
      </p:ext>
    </p:extLst>
  </p:cSld>
  <p:clrMapOvr>
    <a:masterClrMapping/>
  </p:clrMapOvr>
</p:sld>
</file>

<file path=ppt/theme/theme1.xml><?xml version="1.0" encoding="utf-8"?>
<a:theme xmlns:a="http://schemas.openxmlformats.org/drawingml/2006/main" name="Base">
  <a:themeElements>
    <a:clrScheme name="Base">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e">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e">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90E45F77-AEFC-46EF-A7C1-5B338C297B0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TM03457444[[fn=Base]]</Template>
  <TotalTime>297</TotalTime>
  <Words>162</Words>
  <Application>Microsoft Office PowerPoint</Application>
  <PresentationFormat>Presentación en pantalla (4:3)</PresentationFormat>
  <Paragraphs>62</Paragraphs>
  <Slides>6</Slides>
  <Notes>1</Notes>
  <HiddenSlides>0</HiddenSlides>
  <MMClips>0</MMClips>
  <ScaleCrop>false</ScaleCrop>
  <HeadingPairs>
    <vt:vector size="4" baseType="variant">
      <vt:variant>
        <vt:lpstr>Tema</vt:lpstr>
      </vt:variant>
      <vt:variant>
        <vt:i4>1</vt:i4>
      </vt:variant>
      <vt:variant>
        <vt:lpstr>Títulos de diapositiva</vt:lpstr>
      </vt:variant>
      <vt:variant>
        <vt:i4>6</vt:i4>
      </vt:variant>
    </vt:vector>
  </HeadingPairs>
  <TitlesOfParts>
    <vt:vector size="7" baseType="lpstr">
      <vt:lpstr>Base</vt:lpstr>
      <vt:lpstr>     </vt:lpstr>
      <vt:lpstr>INTERROGANTES </vt:lpstr>
      <vt:lpstr>Diapositiva 3</vt:lpstr>
      <vt:lpstr> ¿Cómo seleccionamos la información?  </vt:lpstr>
      <vt:lpstr>           ¿Cómo escribimos en español un  resumen de un texto escrito en inglés ?  POSIBLES PASOS Lean toda la información que incluirán en su resumen  antes de comenzar a escribir. Recuerden que un resumen es un texto, no una colección de oraciones.  Incluyan solo ideas importantes, organicen la información en párrafos y conecten las ideas con conectores o articuladores adecuados. No es necesario que sigan el mismo orden de presentación de las ideas que tiene el texto original. No traduzcan palabra por palabra. Reformulen la información respetando el sentido pero tratando de incluir vocabulario y estructuras que sean correctas en español.           </vt:lpstr>
      <vt:lpstr>     Después de escribir cada oración relean lo que escribieron, si no suena bien en español, cambien lo que no es adecuado.  Asegúrense de incluir oraciones y no conceptos sueltos.  No repitan  información que ya incluyeron en otra oración.  Tengan en cuenta que no les solicitaremos resúmenes “descriptivos” que incluyan lo que el autor “hace” sino lo que “dice”. Por  ej: no escriban: “Este es un texto descriptivo que define la ingeniería”, sino: “La ingeniería  es un arte que consiste en aplicar la ciencia a la conversión de los recursos naturales”.  Revisen antes de entregar, recuerden también repasar la puntuación y la ortografía.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ana maria</dc:creator>
  <cp:lastModifiedBy>Patricia</cp:lastModifiedBy>
  <cp:revision>37</cp:revision>
  <dcterms:created xsi:type="dcterms:W3CDTF">2016-07-25T15:25:33Z</dcterms:created>
  <dcterms:modified xsi:type="dcterms:W3CDTF">2022-04-05T22:11:50Z</dcterms:modified>
</cp:coreProperties>
</file>