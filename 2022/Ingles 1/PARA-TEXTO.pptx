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A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CF84E67F-74CC-420C-B324-D6996381B2CD}" type="datetimeFigureOut">
              <a:rPr lang="es-AR" smtClean="0"/>
              <a:t>22/04/2013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641DF65D-CFB9-48E4-8D7A-BE4CBBEF1331}" type="slidenum">
              <a:rPr lang="es-AR" smtClean="0"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5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PARA-TEXTO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Definición y clasificación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7958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  <p:sndAc>
          <p:stSnd>
            <p:snd r:embed="rId2" name="arrow.wav"/>
          </p:stSnd>
        </p:sndAc>
      </p:transition>
    </mc:Choice>
    <mc:Fallback xmlns="">
      <p:transition spd="slow" advTm="5000">
        <p:dissolv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solidFill>
                  <a:srgbClr val="0070C0"/>
                </a:solidFill>
              </a:rPr>
              <a:t>¿Qué es para-texto?</a:t>
            </a:r>
            <a:endParaRPr lang="es-AR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s-MX" dirty="0" smtClean="0"/>
              <a:t>La etimología de la palabra sería: </a:t>
            </a:r>
            <a:r>
              <a:rPr lang="es-MX" b="1" dirty="0" smtClean="0"/>
              <a:t>PARA</a:t>
            </a:r>
            <a:r>
              <a:rPr lang="es-MX" dirty="0" smtClean="0"/>
              <a:t> significa </a:t>
            </a:r>
            <a:r>
              <a:rPr lang="es-MX" b="1" i="1" dirty="0" smtClean="0"/>
              <a:t>al lado de </a:t>
            </a:r>
          </a:p>
          <a:p>
            <a:pPr marL="68580" indent="0">
              <a:buNone/>
            </a:pPr>
            <a:r>
              <a:rPr lang="es-MX" dirty="0" smtClean="0"/>
              <a:t>El </a:t>
            </a:r>
            <a:r>
              <a:rPr lang="es-MX" b="1" dirty="0" smtClean="0"/>
              <a:t>para-texto</a:t>
            </a:r>
            <a:r>
              <a:rPr lang="es-MX" dirty="0" smtClean="0"/>
              <a:t> nos remite a todo elemento que acompaña al texto y colabora con su comprensión.</a:t>
            </a:r>
          </a:p>
          <a:p>
            <a:pPr marL="68580" indent="0">
              <a:buNone/>
            </a:pPr>
            <a:endParaRPr lang="es-AR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4005064"/>
            <a:ext cx="3600400" cy="246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2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12000">
        <p:checker/>
        <p:sndAc>
          <p:stSnd>
            <p:snd r:embed="rId2" name="push.wav"/>
          </p:stSnd>
        </p:sndAc>
      </p:transition>
    </mc:Choice>
    <mc:Fallback xmlns="">
      <p:transition spd="slow" advTm="12000">
        <p:checker/>
        <p:sndAc>
          <p:stSnd>
            <p:snd r:embed="rId4" name="push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u="sng" dirty="0" smtClean="0">
                <a:solidFill>
                  <a:srgbClr val="0070C0"/>
                </a:solidFill>
              </a:rPr>
              <a:t>Clasificación</a:t>
            </a:r>
            <a:endParaRPr lang="es-AR" b="1" u="sng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z="3600" b="1" dirty="0" smtClean="0">
                <a:solidFill>
                  <a:srgbClr val="0070C0"/>
                </a:solidFill>
              </a:rPr>
              <a:t>ICÓNICO</a:t>
            </a:r>
          </a:p>
          <a:p>
            <a:endParaRPr lang="es-MX" dirty="0"/>
          </a:p>
          <a:p>
            <a:r>
              <a:rPr lang="es-MX" dirty="0" smtClean="0"/>
              <a:t>Ilustraciones, esquemas, fotografías, </a:t>
            </a:r>
            <a:r>
              <a:rPr lang="es-MX" dirty="0" smtClean="0">
                <a:latin typeface="Aharoni" pitchFamily="2" charset="-79"/>
                <a:cs typeface="Aharoni" pitchFamily="2" charset="-79"/>
              </a:rPr>
              <a:t>va</a:t>
            </a:r>
            <a:r>
              <a:rPr lang="es-MX" dirty="0" smtClean="0"/>
              <a:t>r</a:t>
            </a:r>
            <a:r>
              <a:rPr lang="es-MX" dirty="0" smtClean="0">
                <a:latin typeface="AR CENA" pitchFamily="2" charset="0"/>
              </a:rPr>
              <a:t>ia</a:t>
            </a:r>
            <a:r>
              <a:rPr lang="es-MX" dirty="0" smtClean="0"/>
              <a:t>cio</a:t>
            </a:r>
            <a:r>
              <a:rPr lang="es-MX" sz="2800" dirty="0" smtClean="0"/>
              <a:t>ne</a:t>
            </a:r>
            <a:r>
              <a:rPr lang="es-MX" dirty="0" smtClean="0"/>
              <a:t>s tipográficas, diagramación, etc.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74322544"/>
      </p:ext>
    </p:extLst>
  </p:cSld>
  <p:clrMapOvr>
    <a:masterClrMapping/>
  </p:clrMapOvr>
  <p:transition spd="slow" advTm="10000">
    <p:push dir="u"/>
    <p:sndAc>
      <p:stSnd>
        <p:snd r:embed="rId2" name="suction.wav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solidFill>
                  <a:srgbClr val="0070C0"/>
                </a:solidFill>
              </a:rPr>
              <a:t>Verbal </a:t>
            </a:r>
            <a:endParaRPr lang="es-AR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Título, prólogo, índice, referencias bibliográficas, notas al pie, </a:t>
            </a:r>
            <a:r>
              <a:rPr lang="es-MX" dirty="0" smtClean="0"/>
              <a:t>entre otros.</a:t>
            </a:r>
            <a:endParaRPr lang="es-MX" dirty="0" smtClean="0"/>
          </a:p>
          <a:p>
            <a:pPr marL="68580" indent="0">
              <a:buNone/>
            </a:pPr>
            <a:r>
              <a:rPr lang="es-MX" sz="2000" i="1" dirty="0" smtClean="0"/>
              <a:t>Algunos ejemplos:</a:t>
            </a:r>
          </a:p>
          <a:p>
            <a:pPr marL="68580" indent="0">
              <a:buNone/>
            </a:pPr>
            <a:endParaRPr lang="es-MX" sz="2000" i="1" dirty="0" smtClean="0"/>
          </a:p>
          <a:p>
            <a:pPr marL="68580" indent="0">
              <a:buNone/>
            </a:pPr>
            <a:r>
              <a:rPr lang="es-MX" sz="1200" b="1" u="sng" dirty="0" smtClean="0"/>
              <a:t>INDEX</a:t>
            </a:r>
          </a:p>
          <a:p>
            <a:pPr marL="68580" indent="0">
              <a:buNone/>
            </a:pPr>
            <a:r>
              <a:rPr lang="es-MX" sz="1000" dirty="0" smtClean="0"/>
              <a:t>INTRODUCTION</a:t>
            </a:r>
          </a:p>
          <a:p>
            <a:pPr marL="68580" indent="0">
              <a:buNone/>
            </a:pPr>
            <a:r>
              <a:rPr lang="es-MX" sz="1000" dirty="0" smtClean="0"/>
              <a:t>IMPORTANT ISSUES</a:t>
            </a:r>
          </a:p>
          <a:p>
            <a:pPr marL="68580" indent="0">
              <a:buNone/>
            </a:pPr>
            <a:r>
              <a:rPr lang="es-MX" sz="1000" dirty="0" smtClean="0"/>
              <a:t>RECYCLING</a:t>
            </a:r>
          </a:p>
          <a:p>
            <a:pPr marL="68580" indent="0">
              <a:buNone/>
            </a:pPr>
            <a:endParaRPr lang="es-MX" dirty="0" smtClean="0"/>
          </a:p>
          <a:p>
            <a:pPr marL="68580" indent="0">
              <a:buNone/>
            </a:pPr>
            <a:r>
              <a:rPr lang="es-MX" i="1" dirty="0" smtClean="0">
                <a:solidFill>
                  <a:srgbClr val="00B0F0"/>
                </a:solidFill>
              </a:rPr>
              <a:t>GROUSSAC, Paul, 1990 1st </a:t>
            </a:r>
            <a:r>
              <a:rPr lang="es-MX" i="1" dirty="0" err="1" smtClean="0">
                <a:solidFill>
                  <a:srgbClr val="00B0F0"/>
                </a:solidFill>
              </a:rPr>
              <a:t>edition</a:t>
            </a:r>
            <a:r>
              <a:rPr lang="es-MX" i="1" dirty="0" smtClean="0">
                <a:solidFill>
                  <a:srgbClr val="00B0F0"/>
                </a:solidFill>
              </a:rPr>
              <a:t>.</a:t>
            </a:r>
          </a:p>
          <a:p>
            <a:pPr marL="68580" indent="0">
              <a:buNone/>
            </a:pPr>
            <a:r>
              <a:rPr lang="es-MX" sz="1400" b="1" dirty="0" err="1" smtClean="0">
                <a:solidFill>
                  <a:schemeClr val="tx1"/>
                </a:solidFill>
              </a:rPr>
              <a:t>T´s</a:t>
            </a:r>
            <a:r>
              <a:rPr lang="es-MX" sz="1400" b="1" dirty="0" smtClean="0">
                <a:solidFill>
                  <a:schemeClr val="tx1"/>
                </a:solidFill>
              </a:rPr>
              <a:t> note: </a:t>
            </a:r>
            <a:r>
              <a:rPr lang="es-MX" sz="1400" dirty="0" err="1" smtClean="0">
                <a:solidFill>
                  <a:schemeClr val="tx1"/>
                </a:solidFill>
              </a:rPr>
              <a:t>This</a:t>
            </a:r>
            <a:r>
              <a:rPr lang="es-MX" sz="1400" dirty="0" smtClean="0">
                <a:solidFill>
                  <a:schemeClr val="tx1"/>
                </a:solidFill>
              </a:rPr>
              <a:t> </a:t>
            </a:r>
            <a:r>
              <a:rPr lang="es-MX" sz="1400" dirty="0" err="1" smtClean="0">
                <a:solidFill>
                  <a:schemeClr val="tx1"/>
                </a:solidFill>
              </a:rPr>
              <a:t>term</a:t>
            </a:r>
            <a:r>
              <a:rPr lang="es-MX" sz="1400" dirty="0" smtClean="0">
                <a:solidFill>
                  <a:schemeClr val="tx1"/>
                </a:solidFill>
              </a:rPr>
              <a:t> </a:t>
            </a:r>
            <a:r>
              <a:rPr lang="es-MX" sz="1400" dirty="0" err="1" smtClean="0">
                <a:solidFill>
                  <a:schemeClr val="tx1"/>
                </a:solidFill>
              </a:rPr>
              <a:t>is</a:t>
            </a:r>
            <a:r>
              <a:rPr lang="es-MX" sz="1400" dirty="0" smtClean="0">
                <a:solidFill>
                  <a:schemeClr val="tx1"/>
                </a:solidFill>
              </a:rPr>
              <a:t> </a:t>
            </a:r>
            <a:r>
              <a:rPr lang="es-MX" sz="1400" dirty="0" err="1" smtClean="0">
                <a:solidFill>
                  <a:schemeClr val="tx1"/>
                </a:solidFill>
              </a:rPr>
              <a:t>referred</a:t>
            </a:r>
            <a:r>
              <a:rPr lang="es-MX" sz="1400" dirty="0" smtClean="0">
                <a:solidFill>
                  <a:schemeClr val="tx1"/>
                </a:solidFill>
              </a:rPr>
              <a:t> </a:t>
            </a:r>
            <a:r>
              <a:rPr lang="es-MX" sz="1400" dirty="0" err="1" smtClean="0">
                <a:solidFill>
                  <a:schemeClr val="tx1"/>
                </a:solidFill>
              </a:rPr>
              <a:t>to</a:t>
            </a:r>
            <a:r>
              <a:rPr lang="es-MX" sz="1400" dirty="0" smtClean="0">
                <a:solidFill>
                  <a:schemeClr val="tx1"/>
                </a:solidFill>
              </a:rPr>
              <a:t>…</a:t>
            </a:r>
            <a:endParaRPr lang="es-A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368675"/>
      </p:ext>
    </p:extLst>
  </p:cSld>
  <p:clrMapOvr>
    <a:masterClrMapping/>
  </p:clrMapOvr>
  <p:transition spd="slow" advTm="12000">
    <p:randomBar dir="vert"/>
    <p:sndAc>
      <p:stSnd>
        <p:snd r:embed="rId2" name="wind.wav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u="sng" dirty="0" smtClean="0">
                <a:solidFill>
                  <a:srgbClr val="0070C0"/>
                </a:solidFill>
              </a:rPr>
              <a:t>A CARGO DEL AUTOR</a:t>
            </a:r>
            <a:endParaRPr lang="es-AR" b="1" u="sng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El escritor deja aclaraciones de la edición. (diarios, revistas, libros)</a:t>
            </a:r>
          </a:p>
          <a:p>
            <a:r>
              <a:rPr lang="es-MX" dirty="0" smtClean="0"/>
              <a:t>Las aclaraciones </a:t>
            </a:r>
            <a:r>
              <a:rPr lang="es-MX" dirty="0" smtClean="0"/>
              <a:t>remiten a </a:t>
            </a:r>
            <a:r>
              <a:rPr lang="es-MX" dirty="0" smtClean="0"/>
              <a:t>veces </a:t>
            </a:r>
            <a:r>
              <a:rPr lang="es-MX" dirty="0"/>
              <a:t>a</a:t>
            </a:r>
            <a:r>
              <a:rPr lang="es-MX" dirty="0" smtClean="0"/>
              <a:t> </a:t>
            </a:r>
            <a:r>
              <a:rPr lang="es-MX" dirty="0" smtClean="0"/>
              <a:t>distintos formatos (E-mails, páginas web, documentos digitales)</a:t>
            </a:r>
          </a:p>
          <a:p>
            <a:endParaRPr lang="es-AR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022" y="4077072"/>
            <a:ext cx="4135330" cy="206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72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2000">
        <p:blinds dir="vert"/>
        <p:sndAc>
          <p:stSnd>
            <p:snd r:embed="rId2" name="click.wav"/>
          </p:stSnd>
        </p:sndAc>
      </p:transition>
    </mc:Choice>
    <mc:Fallback xmlns="">
      <p:transition spd="slow" advTm="12000">
        <p:blinds dir="vert"/>
        <p:sndAc>
          <p:stSnd>
            <p:snd r:embed="rId4" name="click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u="sng" dirty="0" smtClean="0">
                <a:solidFill>
                  <a:srgbClr val="0070C0"/>
                </a:solidFill>
              </a:rPr>
              <a:t>A CARGO DEL EDITOR</a:t>
            </a:r>
            <a:endParaRPr lang="es-AR" b="1" u="sng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Lugares estratégicos donde el lector lo buscará, como ser: tapa, contratapa, solapas, etc.</a:t>
            </a:r>
          </a:p>
          <a:p>
            <a:endParaRPr lang="es-AR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277" y="3501008"/>
            <a:ext cx="2361446" cy="280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43801"/>
      </p:ext>
    </p:extLst>
  </p:cSld>
  <p:clrMapOvr>
    <a:masterClrMapping/>
  </p:clrMapOvr>
  <p:transition spd="slow" advTm="12000">
    <p:wheel spokes="1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i="1" dirty="0" smtClean="0">
                <a:solidFill>
                  <a:srgbClr val="0070C0"/>
                </a:solidFill>
              </a:rPr>
              <a:t>Esperamos haber sido claros.</a:t>
            </a:r>
            <a:br>
              <a:rPr lang="es-MX" i="1" dirty="0" smtClean="0">
                <a:solidFill>
                  <a:srgbClr val="0070C0"/>
                </a:solidFill>
              </a:rPr>
            </a:br>
            <a:r>
              <a:rPr lang="es-MX" i="1" dirty="0" smtClean="0">
                <a:solidFill>
                  <a:srgbClr val="0070C0"/>
                </a:solidFill>
              </a:rPr>
              <a:t>Muchas gracias</a:t>
            </a:r>
            <a:endParaRPr lang="es-AR" i="1" dirty="0">
              <a:solidFill>
                <a:srgbClr val="0070C0"/>
              </a:solidFill>
            </a:endParaRPr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5" y="2492896"/>
            <a:ext cx="2952328" cy="3339579"/>
          </a:xfrm>
        </p:spPr>
      </p:pic>
    </p:spTree>
    <p:extLst>
      <p:ext uri="{BB962C8B-B14F-4D97-AF65-F5344CB8AC3E}">
        <p14:creationId xmlns:p14="http://schemas.microsoft.com/office/powerpoint/2010/main" val="1991324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Tm="6000">
        <p14:honeycomb/>
        <p:sndAc>
          <p:stSnd>
            <p:snd r:embed="rId2" name="drumroll.wav"/>
          </p:stSnd>
        </p:sndAc>
      </p:transition>
    </mc:Choice>
    <mc:Fallback>
      <p:transition spd="slow" advTm="6000">
        <p:fade/>
        <p:sndAc>
          <p:stSnd>
            <p:snd r:embed="rId2" name="drumroll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43</TotalTime>
  <Words>159</Words>
  <Application>Microsoft Office PowerPoint</Application>
  <PresentationFormat>Presentación en pantalla (4:3)</PresentationFormat>
  <Paragraphs>26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Austin</vt:lpstr>
      <vt:lpstr>PARA-TEXTO</vt:lpstr>
      <vt:lpstr>¿Qué es para-texto?</vt:lpstr>
      <vt:lpstr>Clasificación</vt:lpstr>
      <vt:lpstr>Verbal </vt:lpstr>
      <vt:lpstr>A CARGO DEL AUTOR</vt:lpstr>
      <vt:lpstr>A CARGO DEL EDITOR</vt:lpstr>
      <vt:lpstr>Esperamos haber sido claros. Muchas gracias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PARA-TEXTO</dc:title>
  <dc:creator>andy</dc:creator>
  <cp:lastModifiedBy>andy</cp:lastModifiedBy>
  <cp:revision>5</cp:revision>
  <dcterms:created xsi:type="dcterms:W3CDTF">2013-04-22T21:16:21Z</dcterms:created>
  <dcterms:modified xsi:type="dcterms:W3CDTF">2013-04-22T22:03:57Z</dcterms:modified>
</cp:coreProperties>
</file>