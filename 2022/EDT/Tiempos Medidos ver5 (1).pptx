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vsdx" ContentType="application/vnd.ms-visio.drawing"/>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2" r:id="rId1"/>
  </p:sldMasterIdLst>
  <p:notesMasterIdLst>
    <p:notesMasterId r:id="rId63"/>
  </p:notesMasterIdLst>
  <p:handoutMasterIdLst>
    <p:handoutMasterId r:id="rId64"/>
  </p:handoutMasterIdLst>
  <p:sldIdLst>
    <p:sldId id="265" r:id="rId2"/>
    <p:sldId id="347" r:id="rId3"/>
    <p:sldId id="348" r:id="rId4"/>
    <p:sldId id="349" r:id="rId5"/>
    <p:sldId id="384" r:id="rId6"/>
    <p:sldId id="302" r:id="rId7"/>
    <p:sldId id="330" r:id="rId8"/>
    <p:sldId id="355" r:id="rId9"/>
    <p:sldId id="331" r:id="rId10"/>
    <p:sldId id="350" r:id="rId11"/>
    <p:sldId id="351" r:id="rId12"/>
    <p:sldId id="333" r:id="rId13"/>
    <p:sldId id="334" r:id="rId14"/>
    <p:sldId id="352" r:id="rId15"/>
    <p:sldId id="353" r:id="rId16"/>
    <p:sldId id="354" r:id="rId17"/>
    <p:sldId id="339" r:id="rId18"/>
    <p:sldId id="338" r:id="rId19"/>
    <p:sldId id="328" r:id="rId20"/>
    <p:sldId id="336" r:id="rId21"/>
    <p:sldId id="335" r:id="rId22"/>
    <p:sldId id="337" r:id="rId23"/>
    <p:sldId id="363" r:id="rId24"/>
    <p:sldId id="356" r:id="rId25"/>
    <p:sldId id="357" r:id="rId26"/>
    <p:sldId id="395" r:id="rId27"/>
    <p:sldId id="358" r:id="rId28"/>
    <p:sldId id="359" r:id="rId29"/>
    <p:sldId id="360" r:id="rId30"/>
    <p:sldId id="361" r:id="rId31"/>
    <p:sldId id="387" r:id="rId32"/>
    <p:sldId id="364" r:id="rId33"/>
    <p:sldId id="396" r:id="rId34"/>
    <p:sldId id="368" r:id="rId35"/>
    <p:sldId id="369" r:id="rId36"/>
    <p:sldId id="370" r:id="rId37"/>
    <p:sldId id="371" r:id="rId38"/>
    <p:sldId id="372" r:id="rId39"/>
    <p:sldId id="373" r:id="rId40"/>
    <p:sldId id="374" r:id="rId41"/>
    <p:sldId id="375" r:id="rId42"/>
    <p:sldId id="376" r:id="rId43"/>
    <p:sldId id="377" r:id="rId44"/>
    <p:sldId id="397" r:id="rId45"/>
    <p:sldId id="366" r:id="rId46"/>
    <p:sldId id="367" r:id="rId47"/>
    <p:sldId id="365" r:id="rId48"/>
    <p:sldId id="272" r:id="rId49"/>
    <p:sldId id="346" r:id="rId50"/>
    <p:sldId id="378" r:id="rId51"/>
    <p:sldId id="379" r:id="rId52"/>
    <p:sldId id="381" r:id="rId53"/>
    <p:sldId id="380" r:id="rId54"/>
    <p:sldId id="382" r:id="rId55"/>
    <p:sldId id="398" r:id="rId56"/>
    <p:sldId id="390" r:id="rId57"/>
    <p:sldId id="362" r:id="rId58"/>
    <p:sldId id="391" r:id="rId59"/>
    <p:sldId id="399" r:id="rId60"/>
    <p:sldId id="392" r:id="rId61"/>
    <p:sldId id="393" r:id="rId62"/>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1" clrIdx="0">
    <p:extLst>
      <p:ext uri="{19B8F6BF-5375-455C-9EA6-DF929625EA0E}">
        <p15:presenceInfo xmlns:p15="http://schemas.microsoft.com/office/powerpoint/2012/main" userId="Microsoft Office User" providerId="None"/>
      </p:ext>
    </p:extLst>
  </p:cmAuthor>
  <p:cmAuthor id="2" name="Diana Rubinstein" initials="DR" lastIdx="9" clrIdx="1">
    <p:extLst>
      <p:ext uri="{19B8F6BF-5375-455C-9EA6-DF929625EA0E}">
        <p15:presenceInfo xmlns:p15="http://schemas.microsoft.com/office/powerpoint/2012/main" userId="Diana Rubinste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DED"/>
    <a:srgbClr val="FFBDC9"/>
    <a:srgbClr val="FFA989"/>
    <a:srgbClr val="FF7F86"/>
    <a:srgbClr val="89E0CF"/>
    <a:srgbClr val="F07593"/>
    <a:srgbClr val="F2F2F2"/>
    <a:srgbClr val="FFE245"/>
    <a:srgbClr val="F85E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E0D345-AD1B-4A23-8B52-BD6C8230007B}" v="2368" dt="2020-11-03T00:28:38.679"/>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7CE84F3-28C3-443E-9E96-99CF82512B78}" styleName="Estilo oscuro 1 - Énfasis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Estilo oscuro 1 - Énfasis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Estilo oscuro 1 - Énfasis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Estilo oscuro 1 - Énfasis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Estilo oscuro 1 - Énfasis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01" autoAdjust="0"/>
    <p:restoredTop sz="94249" autoAdjust="0"/>
  </p:normalViewPr>
  <p:slideViewPr>
    <p:cSldViewPr snapToGrid="0" snapToObjects="1">
      <p:cViewPr varScale="1">
        <p:scale>
          <a:sx n="66" d="100"/>
          <a:sy n="66" d="100"/>
        </p:scale>
        <p:origin x="762" y="66"/>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D543D2-AAC7-4C5C-A701-19D351BE2744}" type="doc">
      <dgm:prSet loTypeId="urn:microsoft.com/office/officeart/2005/8/layout/vList6" loCatId="list" qsTypeId="urn:microsoft.com/office/officeart/2005/8/quickstyle/simple1" qsCatId="simple" csTypeId="urn:microsoft.com/office/officeart/2005/8/colors/accent0_3" csCatId="mainScheme" phldr="1"/>
      <dgm:spPr/>
      <dgm:t>
        <a:bodyPr/>
        <a:lstStyle/>
        <a:p>
          <a:endParaRPr lang="es-AR"/>
        </a:p>
      </dgm:t>
    </dgm:pt>
    <dgm:pt modelId="{EE242CCF-CC1F-4348-8EFF-5F7C3C3B8E6F}">
      <dgm:prSet phldrT="[Texto]"/>
      <dgm:spPr/>
      <dgm:t>
        <a:bodyPr vert="vert270"/>
        <a:lstStyle/>
        <a:p>
          <a:r>
            <a:rPr lang="es-AR" dirty="0"/>
            <a:t>Procedimiento</a:t>
          </a:r>
        </a:p>
      </dgm:t>
    </dgm:pt>
    <dgm:pt modelId="{5CEA8F66-6612-4B92-817C-5CD5D2ABBF08}" type="parTrans" cxnId="{8B5827CE-18DE-402F-96F2-19359FA7D922}">
      <dgm:prSet/>
      <dgm:spPr/>
      <dgm:t>
        <a:bodyPr/>
        <a:lstStyle/>
        <a:p>
          <a:endParaRPr lang="es-AR"/>
        </a:p>
      </dgm:t>
    </dgm:pt>
    <dgm:pt modelId="{AA87BEE6-9456-4ED7-B0E2-C83C2792CE4B}" type="sibTrans" cxnId="{8B5827CE-18DE-402F-96F2-19359FA7D922}">
      <dgm:prSet/>
      <dgm:spPr/>
      <dgm:t>
        <a:bodyPr/>
        <a:lstStyle/>
        <a:p>
          <a:endParaRPr lang="es-AR"/>
        </a:p>
      </dgm:t>
    </dgm:pt>
    <dgm:pt modelId="{21330A34-0268-4E9E-A3AF-0AB929B929D0}" type="pres">
      <dgm:prSet presAssocID="{F7D543D2-AAC7-4C5C-A701-19D351BE2744}" presName="Name0" presStyleCnt="0">
        <dgm:presLayoutVars>
          <dgm:dir/>
          <dgm:animLvl val="lvl"/>
          <dgm:resizeHandles/>
        </dgm:presLayoutVars>
      </dgm:prSet>
      <dgm:spPr/>
    </dgm:pt>
    <dgm:pt modelId="{DED028B3-414C-4F3B-B1C0-DC9D1703CE70}" type="pres">
      <dgm:prSet presAssocID="{EE242CCF-CC1F-4348-8EFF-5F7C3C3B8E6F}" presName="linNode" presStyleCnt="0"/>
      <dgm:spPr/>
    </dgm:pt>
    <dgm:pt modelId="{4AFA9719-ABAB-4B62-A340-2E4833D63089}" type="pres">
      <dgm:prSet presAssocID="{EE242CCF-CC1F-4348-8EFF-5F7C3C3B8E6F}" presName="parentShp" presStyleLbl="node1" presStyleIdx="0" presStyleCnt="1" custScaleX="103060">
        <dgm:presLayoutVars>
          <dgm:bulletEnabled val="1"/>
        </dgm:presLayoutVars>
      </dgm:prSet>
      <dgm:spPr/>
    </dgm:pt>
    <dgm:pt modelId="{A8F51B5D-9AD6-4688-BD5F-D3A7B7101D35}" type="pres">
      <dgm:prSet presAssocID="{EE242CCF-CC1F-4348-8EFF-5F7C3C3B8E6F}" presName="childShp" presStyleLbl="bgAccFollowNode1" presStyleIdx="0" presStyleCnt="1" custScaleX="74848">
        <dgm:presLayoutVars>
          <dgm:bulletEnabled val="1"/>
        </dgm:presLayoutVars>
      </dgm:prSet>
      <dgm:spPr/>
    </dgm:pt>
  </dgm:ptLst>
  <dgm:cxnLst>
    <dgm:cxn modelId="{D2FDC84C-5D7E-4C9A-AED8-57E68CB4BF83}" type="presOf" srcId="{EE242CCF-CC1F-4348-8EFF-5F7C3C3B8E6F}" destId="{4AFA9719-ABAB-4B62-A340-2E4833D63089}" srcOrd="0" destOrd="0" presId="urn:microsoft.com/office/officeart/2005/8/layout/vList6"/>
    <dgm:cxn modelId="{B40DCA7B-26B6-4948-881F-5A4F2F4A08D1}" type="presOf" srcId="{F7D543D2-AAC7-4C5C-A701-19D351BE2744}" destId="{21330A34-0268-4E9E-A3AF-0AB929B929D0}" srcOrd="0" destOrd="0" presId="urn:microsoft.com/office/officeart/2005/8/layout/vList6"/>
    <dgm:cxn modelId="{8B5827CE-18DE-402F-96F2-19359FA7D922}" srcId="{F7D543D2-AAC7-4C5C-A701-19D351BE2744}" destId="{EE242CCF-CC1F-4348-8EFF-5F7C3C3B8E6F}" srcOrd="0" destOrd="0" parTransId="{5CEA8F66-6612-4B92-817C-5CD5D2ABBF08}" sibTransId="{AA87BEE6-9456-4ED7-B0E2-C83C2792CE4B}"/>
    <dgm:cxn modelId="{5891B9EA-2354-4BFD-B50F-32583DD945D7}" type="presParOf" srcId="{21330A34-0268-4E9E-A3AF-0AB929B929D0}" destId="{DED028B3-414C-4F3B-B1C0-DC9D1703CE70}" srcOrd="0" destOrd="0" presId="urn:microsoft.com/office/officeart/2005/8/layout/vList6"/>
    <dgm:cxn modelId="{78BD02EA-1920-475B-BECB-C6EFFBABA01A}" type="presParOf" srcId="{DED028B3-414C-4F3B-B1C0-DC9D1703CE70}" destId="{4AFA9719-ABAB-4B62-A340-2E4833D63089}" srcOrd="0" destOrd="0" presId="urn:microsoft.com/office/officeart/2005/8/layout/vList6"/>
    <dgm:cxn modelId="{D63437A4-7C8B-4BE9-8CAA-9A6508F852CF}" type="presParOf" srcId="{DED028B3-414C-4F3B-B1C0-DC9D1703CE70}" destId="{A8F51B5D-9AD6-4688-BD5F-D3A7B7101D35}" srcOrd="1" destOrd="0" presId="urn:microsoft.com/office/officeart/2005/8/layout/vList6"/>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7D543D2-AAC7-4C5C-A701-19D351BE2744}" type="doc">
      <dgm:prSet loTypeId="urn:microsoft.com/office/officeart/2005/8/layout/vList6" loCatId="list" qsTypeId="urn:microsoft.com/office/officeart/2005/8/quickstyle/simple1" qsCatId="simple" csTypeId="urn:microsoft.com/office/officeart/2005/8/colors/accent0_3" csCatId="mainScheme" phldr="1"/>
      <dgm:spPr/>
      <dgm:t>
        <a:bodyPr/>
        <a:lstStyle/>
        <a:p>
          <a:endParaRPr lang="es-AR"/>
        </a:p>
      </dgm:t>
    </dgm:pt>
    <dgm:pt modelId="{EE242CCF-CC1F-4348-8EFF-5F7C3C3B8E6F}">
      <dgm:prSet phldrT="[Texto]"/>
      <dgm:spPr/>
      <dgm:t>
        <a:bodyPr vert="vert270"/>
        <a:lstStyle/>
        <a:p>
          <a:r>
            <a:rPr lang="es-AR" dirty="0"/>
            <a:t>Procedimiento</a:t>
          </a:r>
        </a:p>
      </dgm:t>
    </dgm:pt>
    <dgm:pt modelId="{5CEA8F66-6612-4B92-817C-5CD5D2ABBF08}" type="parTrans" cxnId="{8B5827CE-18DE-402F-96F2-19359FA7D922}">
      <dgm:prSet/>
      <dgm:spPr/>
      <dgm:t>
        <a:bodyPr/>
        <a:lstStyle/>
        <a:p>
          <a:endParaRPr lang="es-AR"/>
        </a:p>
      </dgm:t>
    </dgm:pt>
    <dgm:pt modelId="{AA87BEE6-9456-4ED7-B0E2-C83C2792CE4B}" type="sibTrans" cxnId="{8B5827CE-18DE-402F-96F2-19359FA7D922}">
      <dgm:prSet/>
      <dgm:spPr/>
      <dgm:t>
        <a:bodyPr/>
        <a:lstStyle/>
        <a:p>
          <a:endParaRPr lang="es-AR"/>
        </a:p>
      </dgm:t>
    </dgm:pt>
    <dgm:pt modelId="{21330A34-0268-4E9E-A3AF-0AB929B929D0}" type="pres">
      <dgm:prSet presAssocID="{F7D543D2-AAC7-4C5C-A701-19D351BE2744}" presName="Name0" presStyleCnt="0">
        <dgm:presLayoutVars>
          <dgm:dir/>
          <dgm:animLvl val="lvl"/>
          <dgm:resizeHandles/>
        </dgm:presLayoutVars>
      </dgm:prSet>
      <dgm:spPr/>
    </dgm:pt>
    <dgm:pt modelId="{DED028B3-414C-4F3B-B1C0-DC9D1703CE70}" type="pres">
      <dgm:prSet presAssocID="{EE242CCF-CC1F-4348-8EFF-5F7C3C3B8E6F}" presName="linNode" presStyleCnt="0"/>
      <dgm:spPr/>
    </dgm:pt>
    <dgm:pt modelId="{4AFA9719-ABAB-4B62-A340-2E4833D63089}" type="pres">
      <dgm:prSet presAssocID="{EE242CCF-CC1F-4348-8EFF-5F7C3C3B8E6F}" presName="parentShp" presStyleLbl="node1" presStyleIdx="0" presStyleCnt="1" custScaleX="103060">
        <dgm:presLayoutVars>
          <dgm:bulletEnabled val="1"/>
        </dgm:presLayoutVars>
      </dgm:prSet>
      <dgm:spPr/>
    </dgm:pt>
    <dgm:pt modelId="{A8F51B5D-9AD6-4688-BD5F-D3A7B7101D35}" type="pres">
      <dgm:prSet presAssocID="{EE242CCF-CC1F-4348-8EFF-5F7C3C3B8E6F}" presName="childShp" presStyleLbl="bgAccFollowNode1" presStyleIdx="0" presStyleCnt="1" custScaleX="74848">
        <dgm:presLayoutVars>
          <dgm:bulletEnabled val="1"/>
        </dgm:presLayoutVars>
      </dgm:prSet>
      <dgm:spPr/>
    </dgm:pt>
  </dgm:ptLst>
  <dgm:cxnLst>
    <dgm:cxn modelId="{D2FDC84C-5D7E-4C9A-AED8-57E68CB4BF83}" type="presOf" srcId="{EE242CCF-CC1F-4348-8EFF-5F7C3C3B8E6F}" destId="{4AFA9719-ABAB-4B62-A340-2E4833D63089}" srcOrd="0" destOrd="0" presId="urn:microsoft.com/office/officeart/2005/8/layout/vList6"/>
    <dgm:cxn modelId="{B40DCA7B-26B6-4948-881F-5A4F2F4A08D1}" type="presOf" srcId="{F7D543D2-AAC7-4C5C-A701-19D351BE2744}" destId="{21330A34-0268-4E9E-A3AF-0AB929B929D0}" srcOrd="0" destOrd="0" presId="urn:microsoft.com/office/officeart/2005/8/layout/vList6"/>
    <dgm:cxn modelId="{8B5827CE-18DE-402F-96F2-19359FA7D922}" srcId="{F7D543D2-AAC7-4C5C-A701-19D351BE2744}" destId="{EE242CCF-CC1F-4348-8EFF-5F7C3C3B8E6F}" srcOrd="0" destOrd="0" parTransId="{5CEA8F66-6612-4B92-817C-5CD5D2ABBF08}" sibTransId="{AA87BEE6-9456-4ED7-B0E2-C83C2792CE4B}"/>
    <dgm:cxn modelId="{5891B9EA-2354-4BFD-B50F-32583DD945D7}" type="presParOf" srcId="{21330A34-0268-4E9E-A3AF-0AB929B929D0}" destId="{DED028B3-414C-4F3B-B1C0-DC9D1703CE70}" srcOrd="0" destOrd="0" presId="urn:microsoft.com/office/officeart/2005/8/layout/vList6"/>
    <dgm:cxn modelId="{78BD02EA-1920-475B-BECB-C6EFFBABA01A}" type="presParOf" srcId="{DED028B3-414C-4F3B-B1C0-DC9D1703CE70}" destId="{4AFA9719-ABAB-4B62-A340-2E4833D63089}" srcOrd="0" destOrd="0" presId="urn:microsoft.com/office/officeart/2005/8/layout/vList6"/>
    <dgm:cxn modelId="{D63437A4-7C8B-4BE9-8CAA-9A6508F852CF}" type="presParOf" srcId="{DED028B3-414C-4F3B-B1C0-DC9D1703CE70}" destId="{A8F51B5D-9AD6-4688-BD5F-D3A7B7101D35}" srcOrd="1" destOrd="0" presId="urn:microsoft.com/office/officeart/2005/8/layout/vList6"/>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A2C5DE-65D7-4D11-8FAA-6B7FBA1C33B1}" type="doc">
      <dgm:prSet loTypeId="urn:microsoft.com/office/officeart/2005/8/layout/arrow4" loCatId="relationship" qsTypeId="urn:microsoft.com/office/officeart/2005/8/quickstyle/simple1" qsCatId="simple" csTypeId="urn:microsoft.com/office/officeart/2005/8/colors/colorful1" csCatId="colorful" phldr="1"/>
      <dgm:spPr/>
      <dgm:t>
        <a:bodyPr/>
        <a:lstStyle/>
        <a:p>
          <a:endParaRPr lang="es-AR"/>
        </a:p>
      </dgm:t>
    </dgm:pt>
    <dgm:pt modelId="{37B42AB5-62D8-4C68-A618-C8C28228C615}">
      <dgm:prSet phldrT="[Texto]"/>
      <dgm:spPr/>
      <dgm:t>
        <a:bodyPr/>
        <a:lstStyle/>
        <a:p>
          <a:r>
            <a:rPr lang="es-AR" dirty="0"/>
            <a:t>Si se le toma el tiempo a un operario trabajando muy lento, el tiempo seria muy alto, fácilmente cumplible por todos, pero excesivo con las consecuencias sobre los costos del producto</a:t>
          </a:r>
        </a:p>
      </dgm:t>
    </dgm:pt>
    <dgm:pt modelId="{D4284433-47E9-4FBA-82A5-6764B2D49E59}" type="parTrans" cxnId="{F6BC0F05-6B92-43B9-895C-DC32B1A4C413}">
      <dgm:prSet/>
      <dgm:spPr/>
      <dgm:t>
        <a:bodyPr/>
        <a:lstStyle/>
        <a:p>
          <a:endParaRPr lang="es-AR"/>
        </a:p>
      </dgm:t>
    </dgm:pt>
    <dgm:pt modelId="{BDE75729-0D09-47A5-B1A3-431D2325AF67}" type="sibTrans" cxnId="{F6BC0F05-6B92-43B9-895C-DC32B1A4C413}">
      <dgm:prSet/>
      <dgm:spPr/>
      <dgm:t>
        <a:bodyPr/>
        <a:lstStyle/>
        <a:p>
          <a:endParaRPr lang="es-AR"/>
        </a:p>
      </dgm:t>
    </dgm:pt>
    <dgm:pt modelId="{6203C818-C52D-4F9C-95EC-0AB4EC513CDA}">
      <dgm:prSet phldrT="[Texto]"/>
      <dgm:spPr/>
      <dgm:t>
        <a:bodyPr/>
        <a:lstStyle/>
        <a:p>
          <a:r>
            <a:rPr lang="es-AR" dirty="0"/>
            <a:t>Si se le toma el tiempo a un operario trabajando muy rápido, el tiempo seria muy bajo e imposible de cumplir por  el resto.</a:t>
          </a:r>
        </a:p>
      </dgm:t>
    </dgm:pt>
    <dgm:pt modelId="{37652A60-717F-4F59-9A26-31EB4FECC8AB}" type="parTrans" cxnId="{31B0DA5E-6240-4978-B37D-62D2809D4894}">
      <dgm:prSet/>
      <dgm:spPr/>
      <dgm:t>
        <a:bodyPr/>
        <a:lstStyle/>
        <a:p>
          <a:endParaRPr lang="es-AR"/>
        </a:p>
      </dgm:t>
    </dgm:pt>
    <dgm:pt modelId="{136B16E2-5560-43F6-ADE7-BC7BD520C6D8}" type="sibTrans" cxnId="{31B0DA5E-6240-4978-B37D-62D2809D4894}">
      <dgm:prSet/>
      <dgm:spPr/>
      <dgm:t>
        <a:bodyPr/>
        <a:lstStyle/>
        <a:p>
          <a:endParaRPr lang="es-AR"/>
        </a:p>
      </dgm:t>
    </dgm:pt>
    <dgm:pt modelId="{66837994-CB35-4B67-9930-C32D23AD74E3}" type="pres">
      <dgm:prSet presAssocID="{F7A2C5DE-65D7-4D11-8FAA-6B7FBA1C33B1}" presName="compositeShape" presStyleCnt="0">
        <dgm:presLayoutVars>
          <dgm:chMax val="2"/>
          <dgm:dir/>
          <dgm:resizeHandles val="exact"/>
        </dgm:presLayoutVars>
      </dgm:prSet>
      <dgm:spPr/>
    </dgm:pt>
    <dgm:pt modelId="{677FEB2F-A738-4053-A8CB-4E7A3B5F50EC}" type="pres">
      <dgm:prSet presAssocID="{37B42AB5-62D8-4C68-A618-C8C28228C615}" presName="upArrow" presStyleLbl="node1" presStyleIdx="0" presStyleCnt="2"/>
      <dgm:spPr/>
    </dgm:pt>
    <dgm:pt modelId="{2D8CE83B-B38B-4DE4-A35F-2432DD0C182B}" type="pres">
      <dgm:prSet presAssocID="{37B42AB5-62D8-4C68-A618-C8C28228C615}" presName="upArrowText" presStyleLbl="revTx" presStyleIdx="0" presStyleCnt="2" custScaleX="117297" custLinFactNeighborX="4635">
        <dgm:presLayoutVars>
          <dgm:chMax val="0"/>
          <dgm:bulletEnabled val="1"/>
        </dgm:presLayoutVars>
      </dgm:prSet>
      <dgm:spPr/>
    </dgm:pt>
    <dgm:pt modelId="{CD9EEE5B-0370-4A10-9C90-35F9AD345090}" type="pres">
      <dgm:prSet presAssocID="{6203C818-C52D-4F9C-95EC-0AB4EC513CDA}" presName="downArrow" presStyleLbl="node1" presStyleIdx="1" presStyleCnt="2"/>
      <dgm:spPr/>
    </dgm:pt>
    <dgm:pt modelId="{B37D71B5-1A91-4951-9DFD-BBE5868A2C1C}" type="pres">
      <dgm:prSet presAssocID="{6203C818-C52D-4F9C-95EC-0AB4EC513CDA}" presName="downArrowText" presStyleLbl="revTx" presStyleIdx="1" presStyleCnt="2">
        <dgm:presLayoutVars>
          <dgm:chMax val="0"/>
          <dgm:bulletEnabled val="1"/>
        </dgm:presLayoutVars>
      </dgm:prSet>
      <dgm:spPr/>
    </dgm:pt>
  </dgm:ptLst>
  <dgm:cxnLst>
    <dgm:cxn modelId="{F6BC0F05-6B92-43B9-895C-DC32B1A4C413}" srcId="{F7A2C5DE-65D7-4D11-8FAA-6B7FBA1C33B1}" destId="{37B42AB5-62D8-4C68-A618-C8C28228C615}" srcOrd="0" destOrd="0" parTransId="{D4284433-47E9-4FBA-82A5-6764B2D49E59}" sibTransId="{BDE75729-0D09-47A5-B1A3-431D2325AF67}"/>
    <dgm:cxn modelId="{31B0DA5E-6240-4978-B37D-62D2809D4894}" srcId="{F7A2C5DE-65D7-4D11-8FAA-6B7FBA1C33B1}" destId="{6203C818-C52D-4F9C-95EC-0AB4EC513CDA}" srcOrd="1" destOrd="0" parTransId="{37652A60-717F-4F59-9A26-31EB4FECC8AB}" sibTransId="{136B16E2-5560-43F6-ADE7-BC7BD520C6D8}"/>
    <dgm:cxn modelId="{372E699D-F5F9-472A-B9FD-73E2D67981B0}" type="presOf" srcId="{6203C818-C52D-4F9C-95EC-0AB4EC513CDA}" destId="{B37D71B5-1A91-4951-9DFD-BBE5868A2C1C}" srcOrd="0" destOrd="0" presId="urn:microsoft.com/office/officeart/2005/8/layout/arrow4"/>
    <dgm:cxn modelId="{454036A6-1AB0-4B1C-9B21-84EBB373A841}" type="presOf" srcId="{F7A2C5DE-65D7-4D11-8FAA-6B7FBA1C33B1}" destId="{66837994-CB35-4B67-9930-C32D23AD74E3}" srcOrd="0" destOrd="0" presId="urn:microsoft.com/office/officeart/2005/8/layout/arrow4"/>
    <dgm:cxn modelId="{20DC06A9-B8CD-4E26-B226-C086E71711F1}" type="presOf" srcId="{37B42AB5-62D8-4C68-A618-C8C28228C615}" destId="{2D8CE83B-B38B-4DE4-A35F-2432DD0C182B}" srcOrd="0" destOrd="0" presId="urn:microsoft.com/office/officeart/2005/8/layout/arrow4"/>
    <dgm:cxn modelId="{FB26081C-D337-4DE1-9B22-3A3E3F399E06}" type="presParOf" srcId="{66837994-CB35-4B67-9930-C32D23AD74E3}" destId="{677FEB2F-A738-4053-A8CB-4E7A3B5F50EC}" srcOrd="0" destOrd="0" presId="urn:microsoft.com/office/officeart/2005/8/layout/arrow4"/>
    <dgm:cxn modelId="{2D123469-86E4-4C7A-93A3-81F553FB5A52}" type="presParOf" srcId="{66837994-CB35-4B67-9930-C32D23AD74E3}" destId="{2D8CE83B-B38B-4DE4-A35F-2432DD0C182B}" srcOrd="1" destOrd="0" presId="urn:microsoft.com/office/officeart/2005/8/layout/arrow4"/>
    <dgm:cxn modelId="{220F03CF-DF5D-4FD5-BBA8-46FDCC6842D2}" type="presParOf" srcId="{66837994-CB35-4B67-9930-C32D23AD74E3}" destId="{CD9EEE5B-0370-4A10-9C90-35F9AD345090}" srcOrd="2" destOrd="0" presId="urn:microsoft.com/office/officeart/2005/8/layout/arrow4"/>
    <dgm:cxn modelId="{30EDFA5B-57EA-49F0-9FB9-54B8BE88BA2A}" type="presParOf" srcId="{66837994-CB35-4B67-9930-C32D23AD74E3}" destId="{B37D71B5-1A91-4951-9DFD-BBE5868A2C1C}" srcOrd="3" destOrd="0" presId="urn:microsoft.com/office/officeart/2005/8/layout/arrow4"/>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D543D2-AAC7-4C5C-A701-19D351BE2744}" type="doc">
      <dgm:prSet loTypeId="urn:microsoft.com/office/officeart/2005/8/layout/vList6" loCatId="list" qsTypeId="urn:microsoft.com/office/officeart/2005/8/quickstyle/simple1" qsCatId="simple" csTypeId="urn:microsoft.com/office/officeart/2005/8/colors/accent0_3" csCatId="mainScheme" phldr="1"/>
      <dgm:spPr/>
      <dgm:t>
        <a:bodyPr/>
        <a:lstStyle/>
        <a:p>
          <a:endParaRPr lang="es-AR"/>
        </a:p>
      </dgm:t>
    </dgm:pt>
    <dgm:pt modelId="{EE242CCF-CC1F-4348-8EFF-5F7C3C3B8E6F}">
      <dgm:prSet phldrT="[Texto]"/>
      <dgm:spPr/>
      <dgm:t>
        <a:bodyPr vert="vert270"/>
        <a:lstStyle/>
        <a:p>
          <a:r>
            <a:rPr lang="es-AR" dirty="0"/>
            <a:t>Pliego de toma</a:t>
          </a:r>
        </a:p>
      </dgm:t>
    </dgm:pt>
    <dgm:pt modelId="{5CEA8F66-6612-4B92-817C-5CD5D2ABBF08}" type="parTrans" cxnId="{8B5827CE-18DE-402F-96F2-19359FA7D922}">
      <dgm:prSet/>
      <dgm:spPr/>
      <dgm:t>
        <a:bodyPr/>
        <a:lstStyle/>
        <a:p>
          <a:endParaRPr lang="es-AR"/>
        </a:p>
      </dgm:t>
    </dgm:pt>
    <dgm:pt modelId="{AA87BEE6-9456-4ED7-B0E2-C83C2792CE4B}" type="sibTrans" cxnId="{8B5827CE-18DE-402F-96F2-19359FA7D922}">
      <dgm:prSet/>
      <dgm:spPr/>
      <dgm:t>
        <a:bodyPr/>
        <a:lstStyle/>
        <a:p>
          <a:endParaRPr lang="es-AR"/>
        </a:p>
      </dgm:t>
    </dgm:pt>
    <dgm:pt modelId="{21330A34-0268-4E9E-A3AF-0AB929B929D0}" type="pres">
      <dgm:prSet presAssocID="{F7D543D2-AAC7-4C5C-A701-19D351BE2744}" presName="Name0" presStyleCnt="0">
        <dgm:presLayoutVars>
          <dgm:dir/>
          <dgm:animLvl val="lvl"/>
          <dgm:resizeHandles/>
        </dgm:presLayoutVars>
      </dgm:prSet>
      <dgm:spPr/>
    </dgm:pt>
    <dgm:pt modelId="{DED028B3-414C-4F3B-B1C0-DC9D1703CE70}" type="pres">
      <dgm:prSet presAssocID="{EE242CCF-CC1F-4348-8EFF-5F7C3C3B8E6F}" presName="linNode" presStyleCnt="0"/>
      <dgm:spPr/>
    </dgm:pt>
    <dgm:pt modelId="{4AFA9719-ABAB-4B62-A340-2E4833D63089}" type="pres">
      <dgm:prSet presAssocID="{EE242CCF-CC1F-4348-8EFF-5F7C3C3B8E6F}" presName="parentShp" presStyleLbl="node1" presStyleIdx="0" presStyleCnt="1" custScaleX="103060">
        <dgm:presLayoutVars>
          <dgm:bulletEnabled val="1"/>
        </dgm:presLayoutVars>
      </dgm:prSet>
      <dgm:spPr/>
    </dgm:pt>
    <dgm:pt modelId="{A8F51B5D-9AD6-4688-BD5F-D3A7B7101D35}" type="pres">
      <dgm:prSet presAssocID="{EE242CCF-CC1F-4348-8EFF-5F7C3C3B8E6F}" presName="childShp" presStyleLbl="bgAccFollowNode1" presStyleIdx="0" presStyleCnt="1" custScaleX="74848">
        <dgm:presLayoutVars>
          <dgm:bulletEnabled val="1"/>
        </dgm:presLayoutVars>
      </dgm:prSet>
      <dgm:spPr/>
    </dgm:pt>
  </dgm:ptLst>
  <dgm:cxnLst>
    <dgm:cxn modelId="{D2FDC84C-5D7E-4C9A-AED8-57E68CB4BF83}" type="presOf" srcId="{EE242CCF-CC1F-4348-8EFF-5F7C3C3B8E6F}" destId="{4AFA9719-ABAB-4B62-A340-2E4833D63089}" srcOrd="0" destOrd="0" presId="urn:microsoft.com/office/officeart/2005/8/layout/vList6"/>
    <dgm:cxn modelId="{B40DCA7B-26B6-4948-881F-5A4F2F4A08D1}" type="presOf" srcId="{F7D543D2-AAC7-4C5C-A701-19D351BE2744}" destId="{21330A34-0268-4E9E-A3AF-0AB929B929D0}" srcOrd="0" destOrd="0" presId="urn:microsoft.com/office/officeart/2005/8/layout/vList6"/>
    <dgm:cxn modelId="{8B5827CE-18DE-402F-96F2-19359FA7D922}" srcId="{F7D543D2-AAC7-4C5C-A701-19D351BE2744}" destId="{EE242CCF-CC1F-4348-8EFF-5F7C3C3B8E6F}" srcOrd="0" destOrd="0" parTransId="{5CEA8F66-6612-4B92-817C-5CD5D2ABBF08}" sibTransId="{AA87BEE6-9456-4ED7-B0E2-C83C2792CE4B}"/>
    <dgm:cxn modelId="{5891B9EA-2354-4BFD-B50F-32583DD945D7}" type="presParOf" srcId="{21330A34-0268-4E9E-A3AF-0AB929B929D0}" destId="{DED028B3-414C-4F3B-B1C0-DC9D1703CE70}" srcOrd="0" destOrd="0" presId="urn:microsoft.com/office/officeart/2005/8/layout/vList6"/>
    <dgm:cxn modelId="{78BD02EA-1920-475B-BECB-C6EFFBABA01A}" type="presParOf" srcId="{DED028B3-414C-4F3B-B1C0-DC9D1703CE70}" destId="{4AFA9719-ABAB-4B62-A340-2E4833D63089}" srcOrd="0" destOrd="0" presId="urn:microsoft.com/office/officeart/2005/8/layout/vList6"/>
    <dgm:cxn modelId="{D63437A4-7C8B-4BE9-8CAA-9A6508F852CF}" type="presParOf" srcId="{DED028B3-414C-4F3B-B1C0-DC9D1703CE70}" destId="{A8F51B5D-9AD6-4688-BD5F-D3A7B7101D35}" srcOrd="1" destOrd="0" presId="urn:microsoft.com/office/officeart/2005/8/layout/vList6"/>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F51B5D-9AD6-4688-BD5F-D3A7B7101D35}">
      <dsp:nvSpPr>
        <dsp:cNvPr id="0" name=""/>
        <dsp:cNvSpPr/>
      </dsp:nvSpPr>
      <dsp:spPr>
        <a:xfrm>
          <a:off x="999685" y="0"/>
          <a:ext cx="932245" cy="4011079"/>
        </a:xfrm>
        <a:prstGeom prst="rightArrow">
          <a:avLst>
            <a:gd name="adj1" fmla="val 75000"/>
            <a:gd name="adj2" fmla="val 50000"/>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AFA9719-ABAB-4B62-A340-2E4833D63089}">
      <dsp:nvSpPr>
        <dsp:cNvPr id="0" name=""/>
        <dsp:cNvSpPr/>
      </dsp:nvSpPr>
      <dsp:spPr>
        <a:xfrm>
          <a:off x="143932" y="0"/>
          <a:ext cx="855753" cy="4011079"/>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vert270"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s-AR" sz="3600" kern="1200" dirty="0"/>
            <a:t>Procedimiento</a:t>
          </a:r>
        </a:p>
      </dsp:txBody>
      <dsp:txXfrm>
        <a:off x="185706" y="41774"/>
        <a:ext cx="772205" cy="39275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F51B5D-9AD6-4688-BD5F-D3A7B7101D35}">
      <dsp:nvSpPr>
        <dsp:cNvPr id="0" name=""/>
        <dsp:cNvSpPr/>
      </dsp:nvSpPr>
      <dsp:spPr>
        <a:xfrm>
          <a:off x="999685" y="0"/>
          <a:ext cx="932245" cy="4011079"/>
        </a:xfrm>
        <a:prstGeom prst="rightArrow">
          <a:avLst>
            <a:gd name="adj1" fmla="val 75000"/>
            <a:gd name="adj2" fmla="val 50000"/>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AFA9719-ABAB-4B62-A340-2E4833D63089}">
      <dsp:nvSpPr>
        <dsp:cNvPr id="0" name=""/>
        <dsp:cNvSpPr/>
      </dsp:nvSpPr>
      <dsp:spPr>
        <a:xfrm>
          <a:off x="143932" y="0"/>
          <a:ext cx="855753" cy="4011079"/>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vert270"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s-AR" sz="3600" kern="1200" dirty="0"/>
            <a:t>Procedimiento</a:t>
          </a:r>
        </a:p>
      </dsp:txBody>
      <dsp:txXfrm>
        <a:off x="185706" y="41774"/>
        <a:ext cx="772205" cy="39275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7FEB2F-A738-4053-A8CB-4E7A3B5F50EC}">
      <dsp:nvSpPr>
        <dsp:cNvPr id="0" name=""/>
        <dsp:cNvSpPr/>
      </dsp:nvSpPr>
      <dsp:spPr>
        <a:xfrm>
          <a:off x="4470" y="0"/>
          <a:ext cx="2682240" cy="2293866"/>
        </a:xfrm>
        <a:prstGeom prst="upArrow">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D8CE83B-B38B-4DE4-A35F-2432DD0C182B}">
      <dsp:nvSpPr>
        <dsp:cNvPr id="0" name=""/>
        <dsp:cNvSpPr/>
      </dsp:nvSpPr>
      <dsp:spPr>
        <a:xfrm>
          <a:off x="2584495" y="0"/>
          <a:ext cx="5338984" cy="229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0" tIns="0" rIns="177800" bIns="177800" numCol="1" spcCol="1270" anchor="ctr" anchorCtr="0">
          <a:noAutofit/>
        </a:bodyPr>
        <a:lstStyle/>
        <a:p>
          <a:pPr marL="0" lvl="0" indent="0" algn="l" defTabSz="1111250">
            <a:lnSpc>
              <a:spcPct val="90000"/>
            </a:lnSpc>
            <a:spcBef>
              <a:spcPct val="0"/>
            </a:spcBef>
            <a:spcAft>
              <a:spcPct val="35000"/>
            </a:spcAft>
            <a:buNone/>
          </a:pPr>
          <a:r>
            <a:rPr lang="es-AR" sz="2500" kern="1200" dirty="0"/>
            <a:t>Si se le toma el tiempo a un operario trabajando muy lento, el tiempo seria muy alto, fácilmente cumplible por todos, pero excesivo con las consecuencias sobre los costos del producto</a:t>
          </a:r>
        </a:p>
      </dsp:txBody>
      <dsp:txXfrm>
        <a:off x="2584495" y="0"/>
        <a:ext cx="5338984" cy="2293866"/>
      </dsp:txXfrm>
    </dsp:sp>
    <dsp:sp modelId="{CD9EEE5B-0370-4A10-9C90-35F9AD345090}">
      <dsp:nvSpPr>
        <dsp:cNvPr id="0" name=""/>
        <dsp:cNvSpPr/>
      </dsp:nvSpPr>
      <dsp:spPr>
        <a:xfrm>
          <a:off x="809142" y="2485022"/>
          <a:ext cx="2682240" cy="2293866"/>
        </a:xfrm>
        <a:prstGeom prst="downArrow">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37D71B5-1A91-4951-9DFD-BBE5868A2C1C}">
      <dsp:nvSpPr>
        <dsp:cNvPr id="0" name=""/>
        <dsp:cNvSpPr/>
      </dsp:nvSpPr>
      <dsp:spPr>
        <a:xfrm>
          <a:off x="3571849" y="2485022"/>
          <a:ext cx="4551680" cy="229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0" tIns="0" rIns="177800" bIns="177800" numCol="1" spcCol="1270" anchor="ctr" anchorCtr="0">
          <a:noAutofit/>
        </a:bodyPr>
        <a:lstStyle/>
        <a:p>
          <a:pPr marL="0" lvl="0" indent="0" algn="l" defTabSz="1111250">
            <a:lnSpc>
              <a:spcPct val="90000"/>
            </a:lnSpc>
            <a:spcBef>
              <a:spcPct val="0"/>
            </a:spcBef>
            <a:spcAft>
              <a:spcPct val="35000"/>
            </a:spcAft>
            <a:buNone/>
          </a:pPr>
          <a:r>
            <a:rPr lang="es-AR" sz="2500" kern="1200" dirty="0"/>
            <a:t>Si se le toma el tiempo a un operario trabajando muy rápido, el tiempo seria muy bajo e imposible de cumplir por  el resto.</a:t>
          </a:r>
        </a:p>
      </dsp:txBody>
      <dsp:txXfrm>
        <a:off x="3571849" y="2485022"/>
        <a:ext cx="4551680" cy="229386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F51B5D-9AD6-4688-BD5F-D3A7B7101D35}">
      <dsp:nvSpPr>
        <dsp:cNvPr id="0" name=""/>
        <dsp:cNvSpPr/>
      </dsp:nvSpPr>
      <dsp:spPr>
        <a:xfrm>
          <a:off x="999685" y="0"/>
          <a:ext cx="932245" cy="4011079"/>
        </a:xfrm>
        <a:prstGeom prst="rightArrow">
          <a:avLst>
            <a:gd name="adj1" fmla="val 75000"/>
            <a:gd name="adj2" fmla="val 50000"/>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AFA9719-ABAB-4B62-A340-2E4833D63089}">
      <dsp:nvSpPr>
        <dsp:cNvPr id="0" name=""/>
        <dsp:cNvSpPr/>
      </dsp:nvSpPr>
      <dsp:spPr>
        <a:xfrm>
          <a:off x="143932" y="0"/>
          <a:ext cx="855753" cy="4011079"/>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vert270"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s-AR" sz="3600" kern="1200" dirty="0"/>
            <a:t>Pliego de toma</a:t>
          </a:r>
        </a:p>
      </dsp:txBody>
      <dsp:txXfrm>
        <a:off x="185706" y="41774"/>
        <a:ext cx="772205" cy="3927531"/>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064D7F91-B49C-A645-905A-D377D278D86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a:extLst>
              <a:ext uri="{FF2B5EF4-FFF2-40B4-BE49-F238E27FC236}">
                <a16:creationId xmlns:a16="http://schemas.microsoft.com/office/drawing/2014/main" id="{E12BCABD-48D9-9F42-9D69-06654E80421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4DCCD1F-94D8-C843-AA78-4277F5AE83F2}" type="datetimeFigureOut">
              <a:rPr lang="es-ES_tradnl" smtClean="0"/>
              <a:t>13/10/2022</a:t>
            </a:fld>
            <a:endParaRPr lang="es-ES_tradnl"/>
          </a:p>
        </p:txBody>
      </p:sp>
      <p:sp>
        <p:nvSpPr>
          <p:cNvPr id="4" name="Marcador de pie de página 3">
            <a:extLst>
              <a:ext uri="{FF2B5EF4-FFF2-40B4-BE49-F238E27FC236}">
                <a16:creationId xmlns:a16="http://schemas.microsoft.com/office/drawing/2014/main" id="{A87B8201-6527-9045-8CFB-3DEF5CF117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5" name="Marcador de número de diapositiva 4">
            <a:extLst>
              <a:ext uri="{FF2B5EF4-FFF2-40B4-BE49-F238E27FC236}">
                <a16:creationId xmlns:a16="http://schemas.microsoft.com/office/drawing/2014/main" id="{579A9D52-EDE9-2340-A171-CCAA1EB64B9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3C3B08-194F-BD46-87DD-ED993D18A841}" type="slidenum">
              <a:rPr lang="es-ES_tradnl" smtClean="0"/>
              <a:t>‹Nº›</a:t>
            </a:fld>
            <a:endParaRPr lang="es-ES_tradnl"/>
          </a:p>
        </p:txBody>
      </p:sp>
    </p:spTree>
    <p:extLst>
      <p:ext uri="{BB962C8B-B14F-4D97-AF65-F5344CB8AC3E}">
        <p14:creationId xmlns:p14="http://schemas.microsoft.com/office/powerpoint/2010/main" val="24645142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AA1292-2C9A-D14C-94EF-5836CCC77EE1}" type="datetimeFigureOut">
              <a:rPr lang="es-ES_tradnl" smtClean="0"/>
              <a:t>13/10/2022</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es-ES"/>
              <a:t>Editar los estilos de texto del patrón
Segundo nivel
Tercer nivel
Cuarto nivel
Quinto nivel</a:t>
            </a:r>
            <a:endParaRPr lang="es-ES_tradn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F9789-B77E-7445-8324-AB2167C354C9}" type="slidenum">
              <a:rPr lang="es-ES_tradnl" smtClean="0"/>
              <a:t>‹Nº›</a:t>
            </a:fld>
            <a:endParaRPr lang="es-ES_tradnl"/>
          </a:p>
        </p:txBody>
      </p:sp>
    </p:spTree>
    <p:extLst>
      <p:ext uri="{BB962C8B-B14F-4D97-AF65-F5344CB8AC3E}">
        <p14:creationId xmlns:p14="http://schemas.microsoft.com/office/powerpoint/2010/main" val="1208061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1</a:t>
            </a:fld>
            <a:endParaRPr lang="es-ES_tradnl"/>
          </a:p>
        </p:txBody>
      </p:sp>
    </p:spTree>
    <p:extLst>
      <p:ext uri="{BB962C8B-B14F-4D97-AF65-F5344CB8AC3E}">
        <p14:creationId xmlns:p14="http://schemas.microsoft.com/office/powerpoint/2010/main" val="2235462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2</a:t>
            </a:fld>
            <a:endParaRPr lang="es-ES_tradnl"/>
          </a:p>
        </p:txBody>
      </p:sp>
    </p:spTree>
    <p:extLst>
      <p:ext uri="{BB962C8B-B14F-4D97-AF65-F5344CB8AC3E}">
        <p14:creationId xmlns:p14="http://schemas.microsoft.com/office/powerpoint/2010/main" val="40643342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3</a:t>
            </a:fld>
            <a:endParaRPr lang="es-ES_tradnl"/>
          </a:p>
        </p:txBody>
      </p:sp>
    </p:spTree>
    <p:extLst>
      <p:ext uri="{BB962C8B-B14F-4D97-AF65-F5344CB8AC3E}">
        <p14:creationId xmlns:p14="http://schemas.microsoft.com/office/powerpoint/2010/main" val="1769405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4</a:t>
            </a:fld>
            <a:endParaRPr lang="es-ES_tradnl"/>
          </a:p>
        </p:txBody>
      </p:sp>
    </p:spTree>
    <p:extLst>
      <p:ext uri="{BB962C8B-B14F-4D97-AF65-F5344CB8AC3E}">
        <p14:creationId xmlns:p14="http://schemas.microsoft.com/office/powerpoint/2010/main" val="1970303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6</a:t>
            </a:fld>
            <a:endParaRPr lang="es-ES_tradnl"/>
          </a:p>
        </p:txBody>
      </p:sp>
    </p:spTree>
    <p:extLst>
      <p:ext uri="{BB962C8B-B14F-4D97-AF65-F5344CB8AC3E}">
        <p14:creationId xmlns:p14="http://schemas.microsoft.com/office/powerpoint/2010/main" val="15995840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7</a:t>
            </a:fld>
            <a:endParaRPr lang="es-ES_tradnl"/>
          </a:p>
        </p:txBody>
      </p:sp>
    </p:spTree>
    <p:extLst>
      <p:ext uri="{BB962C8B-B14F-4D97-AF65-F5344CB8AC3E}">
        <p14:creationId xmlns:p14="http://schemas.microsoft.com/office/powerpoint/2010/main" val="26857372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8</a:t>
            </a:fld>
            <a:endParaRPr lang="es-ES_tradnl"/>
          </a:p>
        </p:txBody>
      </p:sp>
    </p:spTree>
    <p:extLst>
      <p:ext uri="{BB962C8B-B14F-4D97-AF65-F5344CB8AC3E}">
        <p14:creationId xmlns:p14="http://schemas.microsoft.com/office/powerpoint/2010/main" val="4263216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9</a:t>
            </a:fld>
            <a:endParaRPr lang="es-ES_tradnl"/>
          </a:p>
        </p:txBody>
      </p:sp>
    </p:spTree>
    <p:extLst>
      <p:ext uri="{BB962C8B-B14F-4D97-AF65-F5344CB8AC3E}">
        <p14:creationId xmlns:p14="http://schemas.microsoft.com/office/powerpoint/2010/main" val="14451015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10</a:t>
            </a:fld>
            <a:endParaRPr lang="es-ES_tradnl"/>
          </a:p>
        </p:txBody>
      </p:sp>
    </p:spTree>
    <p:extLst>
      <p:ext uri="{BB962C8B-B14F-4D97-AF65-F5344CB8AC3E}">
        <p14:creationId xmlns:p14="http://schemas.microsoft.com/office/powerpoint/2010/main" val="4095922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11</a:t>
            </a:fld>
            <a:endParaRPr lang="es-ES_tradnl"/>
          </a:p>
        </p:txBody>
      </p:sp>
    </p:spTree>
    <p:extLst>
      <p:ext uri="{BB962C8B-B14F-4D97-AF65-F5344CB8AC3E}">
        <p14:creationId xmlns:p14="http://schemas.microsoft.com/office/powerpoint/2010/main" val="30675901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12</a:t>
            </a:fld>
            <a:endParaRPr lang="es-ES_tradnl"/>
          </a:p>
        </p:txBody>
      </p:sp>
    </p:spTree>
    <p:extLst>
      <p:ext uri="{BB962C8B-B14F-4D97-AF65-F5344CB8AC3E}">
        <p14:creationId xmlns:p14="http://schemas.microsoft.com/office/powerpoint/2010/main" val="10004615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13</a:t>
            </a:fld>
            <a:endParaRPr lang="es-ES_tradnl"/>
          </a:p>
        </p:txBody>
      </p:sp>
    </p:spTree>
    <p:extLst>
      <p:ext uri="{BB962C8B-B14F-4D97-AF65-F5344CB8AC3E}">
        <p14:creationId xmlns:p14="http://schemas.microsoft.com/office/powerpoint/2010/main" val="19533494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14</a:t>
            </a:fld>
            <a:endParaRPr lang="es-ES_tradnl"/>
          </a:p>
        </p:txBody>
      </p:sp>
    </p:spTree>
    <p:extLst>
      <p:ext uri="{BB962C8B-B14F-4D97-AF65-F5344CB8AC3E}">
        <p14:creationId xmlns:p14="http://schemas.microsoft.com/office/powerpoint/2010/main" val="13299951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15</a:t>
            </a:fld>
            <a:endParaRPr lang="es-ES_tradnl"/>
          </a:p>
        </p:txBody>
      </p:sp>
    </p:spTree>
    <p:extLst>
      <p:ext uri="{BB962C8B-B14F-4D97-AF65-F5344CB8AC3E}">
        <p14:creationId xmlns:p14="http://schemas.microsoft.com/office/powerpoint/2010/main" val="26266102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16</a:t>
            </a:fld>
            <a:endParaRPr lang="es-ES_tradnl"/>
          </a:p>
        </p:txBody>
      </p:sp>
    </p:spTree>
    <p:extLst>
      <p:ext uri="{BB962C8B-B14F-4D97-AF65-F5344CB8AC3E}">
        <p14:creationId xmlns:p14="http://schemas.microsoft.com/office/powerpoint/2010/main" val="37364389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17</a:t>
            </a:fld>
            <a:endParaRPr lang="es-ES_tradnl"/>
          </a:p>
        </p:txBody>
      </p:sp>
    </p:spTree>
    <p:extLst>
      <p:ext uri="{BB962C8B-B14F-4D97-AF65-F5344CB8AC3E}">
        <p14:creationId xmlns:p14="http://schemas.microsoft.com/office/powerpoint/2010/main" val="41173896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18</a:t>
            </a:fld>
            <a:endParaRPr lang="es-ES_tradnl"/>
          </a:p>
        </p:txBody>
      </p:sp>
    </p:spTree>
    <p:extLst>
      <p:ext uri="{BB962C8B-B14F-4D97-AF65-F5344CB8AC3E}">
        <p14:creationId xmlns:p14="http://schemas.microsoft.com/office/powerpoint/2010/main" val="3597114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19</a:t>
            </a:fld>
            <a:endParaRPr lang="es-ES_tradnl"/>
          </a:p>
        </p:txBody>
      </p:sp>
    </p:spTree>
    <p:extLst>
      <p:ext uri="{BB962C8B-B14F-4D97-AF65-F5344CB8AC3E}">
        <p14:creationId xmlns:p14="http://schemas.microsoft.com/office/powerpoint/2010/main" val="34996184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20</a:t>
            </a:fld>
            <a:endParaRPr lang="es-ES_tradnl"/>
          </a:p>
        </p:txBody>
      </p:sp>
    </p:spTree>
    <p:extLst>
      <p:ext uri="{BB962C8B-B14F-4D97-AF65-F5344CB8AC3E}">
        <p14:creationId xmlns:p14="http://schemas.microsoft.com/office/powerpoint/2010/main" val="19543190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21</a:t>
            </a:fld>
            <a:endParaRPr lang="es-ES_tradnl"/>
          </a:p>
        </p:txBody>
      </p:sp>
    </p:spTree>
    <p:extLst>
      <p:ext uri="{BB962C8B-B14F-4D97-AF65-F5344CB8AC3E}">
        <p14:creationId xmlns:p14="http://schemas.microsoft.com/office/powerpoint/2010/main" val="28267386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22</a:t>
            </a:fld>
            <a:endParaRPr lang="es-ES_tradnl"/>
          </a:p>
        </p:txBody>
      </p:sp>
    </p:spTree>
    <p:extLst>
      <p:ext uri="{BB962C8B-B14F-4D97-AF65-F5344CB8AC3E}">
        <p14:creationId xmlns:p14="http://schemas.microsoft.com/office/powerpoint/2010/main" val="5031662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23</a:t>
            </a:fld>
            <a:endParaRPr lang="es-ES_tradnl"/>
          </a:p>
        </p:txBody>
      </p:sp>
    </p:spTree>
    <p:extLst>
      <p:ext uri="{BB962C8B-B14F-4D97-AF65-F5344CB8AC3E}">
        <p14:creationId xmlns:p14="http://schemas.microsoft.com/office/powerpoint/2010/main" val="29618062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24</a:t>
            </a:fld>
            <a:endParaRPr lang="es-ES_tradnl"/>
          </a:p>
        </p:txBody>
      </p:sp>
    </p:spTree>
    <p:extLst>
      <p:ext uri="{BB962C8B-B14F-4D97-AF65-F5344CB8AC3E}">
        <p14:creationId xmlns:p14="http://schemas.microsoft.com/office/powerpoint/2010/main" val="32523670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25</a:t>
            </a:fld>
            <a:endParaRPr lang="es-ES_tradnl"/>
          </a:p>
        </p:txBody>
      </p:sp>
    </p:spTree>
    <p:extLst>
      <p:ext uri="{BB962C8B-B14F-4D97-AF65-F5344CB8AC3E}">
        <p14:creationId xmlns:p14="http://schemas.microsoft.com/office/powerpoint/2010/main" val="29659839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27</a:t>
            </a:fld>
            <a:endParaRPr lang="es-ES_tradnl"/>
          </a:p>
        </p:txBody>
      </p:sp>
    </p:spTree>
    <p:extLst>
      <p:ext uri="{BB962C8B-B14F-4D97-AF65-F5344CB8AC3E}">
        <p14:creationId xmlns:p14="http://schemas.microsoft.com/office/powerpoint/2010/main" val="17828152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28</a:t>
            </a:fld>
            <a:endParaRPr lang="es-ES_tradnl"/>
          </a:p>
        </p:txBody>
      </p:sp>
    </p:spTree>
    <p:extLst>
      <p:ext uri="{BB962C8B-B14F-4D97-AF65-F5344CB8AC3E}">
        <p14:creationId xmlns:p14="http://schemas.microsoft.com/office/powerpoint/2010/main" val="17534911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29</a:t>
            </a:fld>
            <a:endParaRPr lang="es-ES_tradnl"/>
          </a:p>
        </p:txBody>
      </p:sp>
    </p:spTree>
    <p:extLst>
      <p:ext uri="{BB962C8B-B14F-4D97-AF65-F5344CB8AC3E}">
        <p14:creationId xmlns:p14="http://schemas.microsoft.com/office/powerpoint/2010/main" val="18773632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30</a:t>
            </a:fld>
            <a:endParaRPr lang="es-ES_tradnl"/>
          </a:p>
        </p:txBody>
      </p:sp>
    </p:spTree>
    <p:extLst>
      <p:ext uri="{BB962C8B-B14F-4D97-AF65-F5344CB8AC3E}">
        <p14:creationId xmlns:p14="http://schemas.microsoft.com/office/powerpoint/2010/main" val="24396511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31</a:t>
            </a:fld>
            <a:endParaRPr lang="es-ES_tradnl"/>
          </a:p>
        </p:txBody>
      </p:sp>
    </p:spTree>
    <p:extLst>
      <p:ext uri="{BB962C8B-B14F-4D97-AF65-F5344CB8AC3E}">
        <p14:creationId xmlns:p14="http://schemas.microsoft.com/office/powerpoint/2010/main" val="6414837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32</a:t>
            </a:fld>
            <a:endParaRPr lang="es-ES_tradnl"/>
          </a:p>
        </p:txBody>
      </p:sp>
    </p:spTree>
    <p:extLst>
      <p:ext uri="{BB962C8B-B14F-4D97-AF65-F5344CB8AC3E}">
        <p14:creationId xmlns:p14="http://schemas.microsoft.com/office/powerpoint/2010/main" val="22874102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34</a:t>
            </a:fld>
            <a:endParaRPr lang="es-ES_tradnl"/>
          </a:p>
        </p:txBody>
      </p:sp>
    </p:spTree>
    <p:extLst>
      <p:ext uri="{BB962C8B-B14F-4D97-AF65-F5344CB8AC3E}">
        <p14:creationId xmlns:p14="http://schemas.microsoft.com/office/powerpoint/2010/main" val="5613650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35</a:t>
            </a:fld>
            <a:endParaRPr lang="es-ES_tradnl"/>
          </a:p>
        </p:txBody>
      </p:sp>
    </p:spTree>
    <p:extLst>
      <p:ext uri="{BB962C8B-B14F-4D97-AF65-F5344CB8AC3E}">
        <p14:creationId xmlns:p14="http://schemas.microsoft.com/office/powerpoint/2010/main" val="31871113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36</a:t>
            </a:fld>
            <a:endParaRPr lang="es-ES_tradnl"/>
          </a:p>
        </p:txBody>
      </p:sp>
    </p:spTree>
    <p:extLst>
      <p:ext uri="{BB962C8B-B14F-4D97-AF65-F5344CB8AC3E}">
        <p14:creationId xmlns:p14="http://schemas.microsoft.com/office/powerpoint/2010/main" val="18922863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37</a:t>
            </a:fld>
            <a:endParaRPr lang="es-ES_tradnl"/>
          </a:p>
        </p:txBody>
      </p:sp>
    </p:spTree>
    <p:extLst>
      <p:ext uri="{BB962C8B-B14F-4D97-AF65-F5344CB8AC3E}">
        <p14:creationId xmlns:p14="http://schemas.microsoft.com/office/powerpoint/2010/main" val="31222099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38</a:t>
            </a:fld>
            <a:endParaRPr lang="es-ES_tradnl"/>
          </a:p>
        </p:txBody>
      </p:sp>
    </p:spTree>
    <p:extLst>
      <p:ext uri="{BB962C8B-B14F-4D97-AF65-F5344CB8AC3E}">
        <p14:creationId xmlns:p14="http://schemas.microsoft.com/office/powerpoint/2010/main" val="23623049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39</a:t>
            </a:fld>
            <a:endParaRPr lang="es-ES_tradnl"/>
          </a:p>
        </p:txBody>
      </p:sp>
    </p:spTree>
    <p:extLst>
      <p:ext uri="{BB962C8B-B14F-4D97-AF65-F5344CB8AC3E}">
        <p14:creationId xmlns:p14="http://schemas.microsoft.com/office/powerpoint/2010/main" val="39063187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40</a:t>
            </a:fld>
            <a:endParaRPr lang="es-ES_tradnl"/>
          </a:p>
        </p:txBody>
      </p:sp>
    </p:spTree>
    <p:extLst>
      <p:ext uri="{BB962C8B-B14F-4D97-AF65-F5344CB8AC3E}">
        <p14:creationId xmlns:p14="http://schemas.microsoft.com/office/powerpoint/2010/main" val="16423966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41</a:t>
            </a:fld>
            <a:endParaRPr lang="es-ES_tradnl"/>
          </a:p>
        </p:txBody>
      </p:sp>
    </p:spTree>
    <p:extLst>
      <p:ext uri="{BB962C8B-B14F-4D97-AF65-F5344CB8AC3E}">
        <p14:creationId xmlns:p14="http://schemas.microsoft.com/office/powerpoint/2010/main" val="2609296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42</a:t>
            </a:fld>
            <a:endParaRPr lang="es-ES_tradnl"/>
          </a:p>
        </p:txBody>
      </p:sp>
    </p:spTree>
    <p:extLst>
      <p:ext uri="{BB962C8B-B14F-4D97-AF65-F5344CB8AC3E}">
        <p14:creationId xmlns:p14="http://schemas.microsoft.com/office/powerpoint/2010/main" val="14773390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43</a:t>
            </a:fld>
            <a:endParaRPr lang="es-ES_tradnl"/>
          </a:p>
        </p:txBody>
      </p:sp>
    </p:spTree>
    <p:extLst>
      <p:ext uri="{BB962C8B-B14F-4D97-AF65-F5344CB8AC3E}">
        <p14:creationId xmlns:p14="http://schemas.microsoft.com/office/powerpoint/2010/main" val="275303480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45</a:t>
            </a:fld>
            <a:endParaRPr lang="es-ES_tradnl"/>
          </a:p>
        </p:txBody>
      </p:sp>
    </p:spTree>
    <p:extLst>
      <p:ext uri="{BB962C8B-B14F-4D97-AF65-F5344CB8AC3E}">
        <p14:creationId xmlns:p14="http://schemas.microsoft.com/office/powerpoint/2010/main" val="36573761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46</a:t>
            </a:fld>
            <a:endParaRPr lang="es-ES_tradnl"/>
          </a:p>
        </p:txBody>
      </p:sp>
    </p:spTree>
    <p:extLst>
      <p:ext uri="{BB962C8B-B14F-4D97-AF65-F5344CB8AC3E}">
        <p14:creationId xmlns:p14="http://schemas.microsoft.com/office/powerpoint/2010/main" val="33677212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47</a:t>
            </a:fld>
            <a:endParaRPr lang="es-ES_tradnl"/>
          </a:p>
        </p:txBody>
      </p:sp>
    </p:spTree>
    <p:extLst>
      <p:ext uri="{BB962C8B-B14F-4D97-AF65-F5344CB8AC3E}">
        <p14:creationId xmlns:p14="http://schemas.microsoft.com/office/powerpoint/2010/main" val="16198173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50</a:t>
            </a:fld>
            <a:endParaRPr lang="es-ES_tradnl"/>
          </a:p>
        </p:txBody>
      </p:sp>
    </p:spTree>
    <p:extLst>
      <p:ext uri="{BB962C8B-B14F-4D97-AF65-F5344CB8AC3E}">
        <p14:creationId xmlns:p14="http://schemas.microsoft.com/office/powerpoint/2010/main" val="14077562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51</a:t>
            </a:fld>
            <a:endParaRPr lang="es-ES_tradnl"/>
          </a:p>
        </p:txBody>
      </p:sp>
    </p:spTree>
    <p:extLst>
      <p:ext uri="{BB962C8B-B14F-4D97-AF65-F5344CB8AC3E}">
        <p14:creationId xmlns:p14="http://schemas.microsoft.com/office/powerpoint/2010/main" val="112700031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52</a:t>
            </a:fld>
            <a:endParaRPr lang="es-ES_tradnl"/>
          </a:p>
        </p:txBody>
      </p:sp>
    </p:spTree>
    <p:extLst>
      <p:ext uri="{BB962C8B-B14F-4D97-AF65-F5344CB8AC3E}">
        <p14:creationId xmlns:p14="http://schemas.microsoft.com/office/powerpoint/2010/main" val="19304803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53</a:t>
            </a:fld>
            <a:endParaRPr lang="es-ES_tradnl"/>
          </a:p>
        </p:txBody>
      </p:sp>
    </p:spTree>
    <p:extLst>
      <p:ext uri="{BB962C8B-B14F-4D97-AF65-F5344CB8AC3E}">
        <p14:creationId xmlns:p14="http://schemas.microsoft.com/office/powerpoint/2010/main" val="13599677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54</a:t>
            </a:fld>
            <a:endParaRPr lang="es-ES_tradnl"/>
          </a:p>
        </p:txBody>
      </p:sp>
    </p:spTree>
    <p:extLst>
      <p:ext uri="{BB962C8B-B14F-4D97-AF65-F5344CB8AC3E}">
        <p14:creationId xmlns:p14="http://schemas.microsoft.com/office/powerpoint/2010/main" val="219841653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56</a:t>
            </a:fld>
            <a:endParaRPr lang="es-ES_tradnl"/>
          </a:p>
        </p:txBody>
      </p:sp>
    </p:spTree>
    <p:extLst>
      <p:ext uri="{BB962C8B-B14F-4D97-AF65-F5344CB8AC3E}">
        <p14:creationId xmlns:p14="http://schemas.microsoft.com/office/powerpoint/2010/main" val="37195068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57</a:t>
            </a:fld>
            <a:endParaRPr lang="es-ES_tradnl"/>
          </a:p>
        </p:txBody>
      </p:sp>
    </p:spTree>
    <p:extLst>
      <p:ext uri="{BB962C8B-B14F-4D97-AF65-F5344CB8AC3E}">
        <p14:creationId xmlns:p14="http://schemas.microsoft.com/office/powerpoint/2010/main" val="177067526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58</a:t>
            </a:fld>
            <a:endParaRPr lang="es-ES_tradnl"/>
          </a:p>
        </p:txBody>
      </p:sp>
    </p:spTree>
    <p:extLst>
      <p:ext uri="{BB962C8B-B14F-4D97-AF65-F5344CB8AC3E}">
        <p14:creationId xmlns:p14="http://schemas.microsoft.com/office/powerpoint/2010/main" val="15663480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59</a:t>
            </a:fld>
            <a:endParaRPr lang="es-ES_tradnl"/>
          </a:p>
        </p:txBody>
      </p:sp>
    </p:spTree>
    <p:extLst>
      <p:ext uri="{BB962C8B-B14F-4D97-AF65-F5344CB8AC3E}">
        <p14:creationId xmlns:p14="http://schemas.microsoft.com/office/powerpoint/2010/main" val="244767196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60</a:t>
            </a:fld>
            <a:endParaRPr lang="es-ES_tradnl"/>
          </a:p>
        </p:txBody>
      </p:sp>
    </p:spTree>
    <p:extLst>
      <p:ext uri="{BB962C8B-B14F-4D97-AF65-F5344CB8AC3E}">
        <p14:creationId xmlns:p14="http://schemas.microsoft.com/office/powerpoint/2010/main" val="408358508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C7F9789-B77E-7445-8324-AB2167C354C9}" type="slidenum">
              <a:rPr lang="es-ES_tradnl" smtClean="0"/>
              <a:t>61</a:t>
            </a:fld>
            <a:endParaRPr lang="es-ES_tradnl"/>
          </a:p>
        </p:txBody>
      </p:sp>
    </p:spTree>
    <p:extLst>
      <p:ext uri="{BB962C8B-B14F-4D97-AF65-F5344CB8AC3E}">
        <p14:creationId xmlns:p14="http://schemas.microsoft.com/office/powerpoint/2010/main" val="36239033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846D74-9A31-0244-8CD3-14F04964CDFC}"/>
              </a:ext>
            </a:extLst>
          </p:cNvPr>
          <p:cNvSpPr>
            <a:spLocks noGrp="1"/>
          </p:cNvSpPr>
          <p:nvPr>
            <p:ph type="ctrTitle"/>
          </p:nvPr>
        </p:nvSpPr>
        <p:spPr>
          <a:xfrm>
            <a:off x="1524000" y="1122363"/>
            <a:ext cx="9144000" cy="2387600"/>
          </a:xfrm>
        </p:spPr>
        <p:txBody>
          <a:bodyPr anchor="b"/>
          <a:lstStyle>
            <a:lvl1pPr algn="ctr">
              <a:defRPr sz="4500"/>
            </a:lvl1pPr>
          </a:lstStyle>
          <a:p>
            <a:r>
              <a:rPr lang="es-ES"/>
              <a:t>Haga clic para modificar el estilo de título del patrón</a:t>
            </a:r>
            <a:endParaRPr lang="es-ES_tradnl"/>
          </a:p>
        </p:txBody>
      </p:sp>
      <p:sp>
        <p:nvSpPr>
          <p:cNvPr id="3" name="Subtítulo 2">
            <a:extLst>
              <a:ext uri="{FF2B5EF4-FFF2-40B4-BE49-F238E27FC236}">
                <a16:creationId xmlns:a16="http://schemas.microsoft.com/office/drawing/2014/main" id="{4F2C7195-6077-2544-9AF7-80FD11B20F99}"/>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s-ES_tradnl"/>
          </a:p>
        </p:txBody>
      </p:sp>
      <p:sp>
        <p:nvSpPr>
          <p:cNvPr id="4" name="Marcador de fecha 3">
            <a:extLst>
              <a:ext uri="{FF2B5EF4-FFF2-40B4-BE49-F238E27FC236}">
                <a16:creationId xmlns:a16="http://schemas.microsoft.com/office/drawing/2014/main" id="{EA972FF0-EDD6-8C48-8636-E3B34BA3E1B1}"/>
              </a:ext>
            </a:extLst>
          </p:cNvPr>
          <p:cNvSpPr>
            <a:spLocks noGrp="1"/>
          </p:cNvSpPr>
          <p:nvPr>
            <p:ph type="dt" sz="half" idx="10"/>
          </p:nvPr>
        </p:nvSpPr>
        <p:spPr/>
        <p:txBody>
          <a:bodyPr/>
          <a:lstStyle/>
          <a:p>
            <a:fld id="{0043D927-63F1-0949-B9A5-9C14A46A9B30}" type="datetime1">
              <a:rPr lang="es-AR" smtClean="0"/>
              <a:t>13/10/2022</a:t>
            </a:fld>
            <a:endParaRPr lang="es-ES_tradnl"/>
          </a:p>
        </p:txBody>
      </p:sp>
      <p:sp>
        <p:nvSpPr>
          <p:cNvPr id="5" name="Marcador de pie de página 4">
            <a:extLst>
              <a:ext uri="{FF2B5EF4-FFF2-40B4-BE49-F238E27FC236}">
                <a16:creationId xmlns:a16="http://schemas.microsoft.com/office/drawing/2014/main" id="{F7E94EAF-FEEB-7648-9DB9-0A50425E06BF}"/>
              </a:ext>
            </a:extLst>
          </p:cNvPr>
          <p:cNvSpPr>
            <a:spLocks noGrp="1"/>
          </p:cNvSpPr>
          <p:nvPr>
            <p:ph type="ftr" sz="quarter" idx="11"/>
          </p:nvPr>
        </p:nvSpPr>
        <p:spPr/>
        <p:txBody>
          <a:bodyPr/>
          <a:lstStyle/>
          <a:p>
            <a:endParaRPr lang="es-ES_tradnl"/>
          </a:p>
        </p:txBody>
      </p:sp>
      <p:sp>
        <p:nvSpPr>
          <p:cNvPr id="6" name="Marcador de número de diapositiva 5">
            <a:extLst>
              <a:ext uri="{FF2B5EF4-FFF2-40B4-BE49-F238E27FC236}">
                <a16:creationId xmlns:a16="http://schemas.microsoft.com/office/drawing/2014/main" id="{D40FEDA6-A877-AF4F-B44C-2787287803A2}"/>
              </a:ext>
            </a:extLst>
          </p:cNvPr>
          <p:cNvSpPr>
            <a:spLocks noGrp="1"/>
          </p:cNvSpPr>
          <p:nvPr>
            <p:ph type="sldNum" sz="quarter" idx="12"/>
          </p:nvPr>
        </p:nvSpPr>
        <p:spPr/>
        <p:txBody>
          <a:bodyPr/>
          <a:lstStyle/>
          <a:p>
            <a:fld id="{CE14F34A-BFEE-3F4F-9931-32C7D0CB2CAC}" type="slidenum">
              <a:rPr lang="es-ES_tradnl" smtClean="0"/>
              <a:t>‹Nº›</a:t>
            </a:fld>
            <a:endParaRPr lang="es-ES_tradnl"/>
          </a:p>
        </p:txBody>
      </p:sp>
    </p:spTree>
    <p:extLst>
      <p:ext uri="{BB962C8B-B14F-4D97-AF65-F5344CB8AC3E}">
        <p14:creationId xmlns:p14="http://schemas.microsoft.com/office/powerpoint/2010/main" val="2789911307"/>
      </p:ext>
    </p:extLst>
  </p:cSld>
  <p:clrMapOvr>
    <a:masterClrMapping/>
  </p:clrMapOvr>
  <mc:AlternateContent xmlns:mc="http://schemas.openxmlformats.org/markup-compatibility/2006" xmlns:p159="http://schemas.microsoft.com/office/powerpoint/2015/09/main">
    <mc:Choice Requires="p159">
      <p:transition spd="slow" advTm="5000">
        <p159:morph option="byObject"/>
      </p:transition>
    </mc:Choice>
    <mc:Fallback xmlns="">
      <p:transition spd="slow" advTm="5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C5FD0C-A440-0C48-BACA-573A794C6645}"/>
              </a:ext>
            </a:extLst>
          </p:cNvPr>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a:extLst>
              <a:ext uri="{FF2B5EF4-FFF2-40B4-BE49-F238E27FC236}">
                <a16:creationId xmlns:a16="http://schemas.microsoft.com/office/drawing/2014/main" id="{5A6B9E80-B3CE-414B-A430-9B2BCCBD6D08}"/>
              </a:ext>
            </a:extLst>
          </p:cNvPr>
          <p:cNvSpPr>
            <a:spLocks noGrp="1"/>
          </p:cNvSpPr>
          <p:nvPr>
            <p:ph idx="1"/>
          </p:nvPr>
        </p:nvSpPr>
        <p:spPr/>
        <p:txBody>
          <a:bodyPr/>
          <a:lstStyle/>
          <a:p>
            <a:r>
              <a:rPr lang="es-ES"/>
              <a:t>Editar los estilos de texto del patrón
Segundo nivel
Tercer nivel
Cuarto nivel
Quinto nivel</a:t>
            </a:r>
            <a:endParaRPr lang="es-ES_tradnl"/>
          </a:p>
        </p:txBody>
      </p:sp>
      <p:sp>
        <p:nvSpPr>
          <p:cNvPr id="4" name="Marcador de fecha 3">
            <a:extLst>
              <a:ext uri="{FF2B5EF4-FFF2-40B4-BE49-F238E27FC236}">
                <a16:creationId xmlns:a16="http://schemas.microsoft.com/office/drawing/2014/main" id="{98E95AF7-A71C-DC40-9310-EDFA2D76B104}"/>
              </a:ext>
            </a:extLst>
          </p:cNvPr>
          <p:cNvSpPr>
            <a:spLocks noGrp="1"/>
          </p:cNvSpPr>
          <p:nvPr>
            <p:ph type="dt" sz="half" idx="10"/>
          </p:nvPr>
        </p:nvSpPr>
        <p:spPr/>
        <p:txBody>
          <a:bodyPr/>
          <a:lstStyle/>
          <a:p>
            <a:fld id="{F25C5D76-15DF-5E41-9135-B965621B4A9B}" type="datetime1">
              <a:rPr lang="es-AR" smtClean="0"/>
              <a:t>13/10/2022</a:t>
            </a:fld>
            <a:endParaRPr lang="es-ES_tradnl"/>
          </a:p>
        </p:txBody>
      </p:sp>
      <p:sp>
        <p:nvSpPr>
          <p:cNvPr id="5" name="Marcador de pie de página 4">
            <a:extLst>
              <a:ext uri="{FF2B5EF4-FFF2-40B4-BE49-F238E27FC236}">
                <a16:creationId xmlns:a16="http://schemas.microsoft.com/office/drawing/2014/main" id="{3E6F4291-9A5B-DC43-A263-8C8637957626}"/>
              </a:ext>
            </a:extLst>
          </p:cNvPr>
          <p:cNvSpPr>
            <a:spLocks noGrp="1"/>
          </p:cNvSpPr>
          <p:nvPr>
            <p:ph type="ftr" sz="quarter" idx="11"/>
          </p:nvPr>
        </p:nvSpPr>
        <p:spPr/>
        <p:txBody>
          <a:bodyPr/>
          <a:lstStyle/>
          <a:p>
            <a:endParaRPr lang="es-ES_tradnl"/>
          </a:p>
        </p:txBody>
      </p:sp>
      <p:sp>
        <p:nvSpPr>
          <p:cNvPr id="6" name="Marcador de número de diapositiva 5">
            <a:extLst>
              <a:ext uri="{FF2B5EF4-FFF2-40B4-BE49-F238E27FC236}">
                <a16:creationId xmlns:a16="http://schemas.microsoft.com/office/drawing/2014/main" id="{8A77C855-75E9-2043-B4BF-4B580B94DFF5}"/>
              </a:ext>
            </a:extLst>
          </p:cNvPr>
          <p:cNvSpPr>
            <a:spLocks noGrp="1"/>
          </p:cNvSpPr>
          <p:nvPr>
            <p:ph type="sldNum" sz="quarter" idx="12"/>
          </p:nvPr>
        </p:nvSpPr>
        <p:spPr/>
        <p:txBody>
          <a:bodyPr/>
          <a:lstStyle/>
          <a:p>
            <a:fld id="{CE14F34A-BFEE-3F4F-9931-32C7D0CB2CAC}" type="slidenum">
              <a:rPr lang="es-ES_tradnl" smtClean="0"/>
              <a:t>‹Nº›</a:t>
            </a:fld>
            <a:endParaRPr lang="es-ES_tradnl"/>
          </a:p>
        </p:txBody>
      </p:sp>
    </p:spTree>
    <p:extLst>
      <p:ext uri="{BB962C8B-B14F-4D97-AF65-F5344CB8AC3E}">
        <p14:creationId xmlns:p14="http://schemas.microsoft.com/office/powerpoint/2010/main" val="656036412"/>
      </p:ext>
    </p:extLst>
  </p:cSld>
  <p:clrMapOvr>
    <a:masterClrMapping/>
  </p:clrMapOvr>
  <mc:AlternateContent xmlns:mc="http://schemas.openxmlformats.org/markup-compatibility/2006" xmlns:p159="http://schemas.microsoft.com/office/powerpoint/2015/09/main">
    <mc:Choice Requires="p159">
      <p:transition spd="slow" advTm="5000">
        <p159:morph option="byObject"/>
      </p:transition>
    </mc:Choice>
    <mc:Fallback xmlns="">
      <p:transition spd="slow" advTm="5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A9E2E9-DBD4-4D40-9647-C6868BA5AEAC}"/>
              </a:ext>
            </a:extLst>
          </p:cNvPr>
          <p:cNvSpPr>
            <a:spLocks noGrp="1"/>
          </p:cNvSpPr>
          <p:nvPr>
            <p:ph type="title"/>
          </p:nvPr>
        </p:nvSpPr>
        <p:spPr>
          <a:xfrm>
            <a:off x="831851" y="1709740"/>
            <a:ext cx="10515600" cy="2852737"/>
          </a:xfrm>
        </p:spPr>
        <p:txBody>
          <a:bodyPr anchor="b"/>
          <a:lstStyle>
            <a:lvl1pPr>
              <a:defRPr sz="4500"/>
            </a:lvl1pPr>
          </a:lstStyle>
          <a:p>
            <a:r>
              <a:rPr lang="es-ES"/>
              <a:t>Haga clic para modificar el estilo de título del patrón</a:t>
            </a:r>
            <a:endParaRPr lang="es-ES_tradnl"/>
          </a:p>
        </p:txBody>
      </p:sp>
      <p:sp>
        <p:nvSpPr>
          <p:cNvPr id="3" name="Marcador de texto 2">
            <a:extLst>
              <a:ext uri="{FF2B5EF4-FFF2-40B4-BE49-F238E27FC236}">
                <a16:creationId xmlns:a16="http://schemas.microsoft.com/office/drawing/2014/main" id="{740CF927-0BA8-9B49-BB72-E03FF48CD51A}"/>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r>
              <a:rPr lang="es-ES"/>
              <a:t>Editar los estilos de texto del patrón
Segundo nivel
Tercer nivel
Cuarto nivel
Quinto nivel</a:t>
            </a:r>
            <a:endParaRPr lang="es-ES_tradnl"/>
          </a:p>
        </p:txBody>
      </p:sp>
      <p:sp>
        <p:nvSpPr>
          <p:cNvPr id="4" name="Marcador de fecha 3">
            <a:extLst>
              <a:ext uri="{FF2B5EF4-FFF2-40B4-BE49-F238E27FC236}">
                <a16:creationId xmlns:a16="http://schemas.microsoft.com/office/drawing/2014/main" id="{40C11763-DFBC-5349-8618-8B47A9336421}"/>
              </a:ext>
            </a:extLst>
          </p:cNvPr>
          <p:cNvSpPr>
            <a:spLocks noGrp="1"/>
          </p:cNvSpPr>
          <p:nvPr>
            <p:ph type="dt" sz="half" idx="10"/>
          </p:nvPr>
        </p:nvSpPr>
        <p:spPr/>
        <p:txBody>
          <a:bodyPr/>
          <a:lstStyle/>
          <a:p>
            <a:fld id="{0AF4D4D8-270C-B14B-84B7-B697C5BBA142}" type="datetime1">
              <a:rPr lang="es-AR" smtClean="0"/>
              <a:t>13/10/2022</a:t>
            </a:fld>
            <a:endParaRPr lang="es-ES_tradnl"/>
          </a:p>
        </p:txBody>
      </p:sp>
      <p:sp>
        <p:nvSpPr>
          <p:cNvPr id="5" name="Marcador de pie de página 4">
            <a:extLst>
              <a:ext uri="{FF2B5EF4-FFF2-40B4-BE49-F238E27FC236}">
                <a16:creationId xmlns:a16="http://schemas.microsoft.com/office/drawing/2014/main" id="{717B2F59-3716-D144-9949-1F8352898B1A}"/>
              </a:ext>
            </a:extLst>
          </p:cNvPr>
          <p:cNvSpPr>
            <a:spLocks noGrp="1"/>
          </p:cNvSpPr>
          <p:nvPr>
            <p:ph type="ftr" sz="quarter" idx="11"/>
          </p:nvPr>
        </p:nvSpPr>
        <p:spPr/>
        <p:txBody>
          <a:bodyPr/>
          <a:lstStyle/>
          <a:p>
            <a:endParaRPr lang="es-ES_tradnl"/>
          </a:p>
        </p:txBody>
      </p:sp>
      <p:sp>
        <p:nvSpPr>
          <p:cNvPr id="6" name="Marcador de número de diapositiva 5">
            <a:extLst>
              <a:ext uri="{FF2B5EF4-FFF2-40B4-BE49-F238E27FC236}">
                <a16:creationId xmlns:a16="http://schemas.microsoft.com/office/drawing/2014/main" id="{032DC6AC-0CAF-AD4D-BB1A-5393626D73EA}"/>
              </a:ext>
            </a:extLst>
          </p:cNvPr>
          <p:cNvSpPr>
            <a:spLocks noGrp="1"/>
          </p:cNvSpPr>
          <p:nvPr>
            <p:ph type="sldNum" sz="quarter" idx="12"/>
          </p:nvPr>
        </p:nvSpPr>
        <p:spPr/>
        <p:txBody>
          <a:bodyPr/>
          <a:lstStyle/>
          <a:p>
            <a:fld id="{CE14F34A-BFEE-3F4F-9931-32C7D0CB2CAC}" type="slidenum">
              <a:rPr lang="es-ES_tradnl" smtClean="0"/>
              <a:t>‹Nº›</a:t>
            </a:fld>
            <a:endParaRPr lang="es-ES_tradnl"/>
          </a:p>
        </p:txBody>
      </p:sp>
    </p:spTree>
    <p:extLst>
      <p:ext uri="{BB962C8B-B14F-4D97-AF65-F5344CB8AC3E}">
        <p14:creationId xmlns:p14="http://schemas.microsoft.com/office/powerpoint/2010/main" val="2346797831"/>
      </p:ext>
    </p:extLst>
  </p:cSld>
  <p:clrMapOvr>
    <a:masterClrMapping/>
  </p:clrMapOvr>
  <mc:AlternateContent xmlns:mc="http://schemas.openxmlformats.org/markup-compatibility/2006" xmlns:p159="http://schemas.microsoft.com/office/powerpoint/2015/09/main">
    <mc:Choice Requires="p159">
      <p:transition spd="slow" advTm="5000">
        <p159:morph option="byObject"/>
      </p:transition>
    </mc:Choice>
    <mc:Fallback xmlns="">
      <p:transition spd="slow" advTm="5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7CCCA8-E346-7541-BAAC-DDC6E0098C49}"/>
              </a:ext>
            </a:extLst>
          </p:cNvPr>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a:extLst>
              <a:ext uri="{FF2B5EF4-FFF2-40B4-BE49-F238E27FC236}">
                <a16:creationId xmlns:a16="http://schemas.microsoft.com/office/drawing/2014/main" id="{AD0876B8-C147-D245-8A50-EFED99B667A9}"/>
              </a:ext>
            </a:extLst>
          </p:cNvPr>
          <p:cNvSpPr>
            <a:spLocks noGrp="1"/>
          </p:cNvSpPr>
          <p:nvPr>
            <p:ph sz="half" idx="1"/>
          </p:nvPr>
        </p:nvSpPr>
        <p:spPr>
          <a:xfrm>
            <a:off x="838200" y="1825625"/>
            <a:ext cx="5181600" cy="4351338"/>
          </a:xfrm>
        </p:spPr>
        <p:txBody>
          <a:bodyPr/>
          <a:lstStyle/>
          <a:p>
            <a:r>
              <a:rPr lang="es-ES"/>
              <a:t>Editar los estilos de texto del patrón
Segundo nivel
Tercer nivel
Cuarto nivel
Quinto nivel</a:t>
            </a:r>
            <a:endParaRPr lang="es-ES_tradnl"/>
          </a:p>
        </p:txBody>
      </p:sp>
      <p:sp>
        <p:nvSpPr>
          <p:cNvPr id="4" name="Marcador de contenido 3">
            <a:extLst>
              <a:ext uri="{FF2B5EF4-FFF2-40B4-BE49-F238E27FC236}">
                <a16:creationId xmlns:a16="http://schemas.microsoft.com/office/drawing/2014/main" id="{E8465593-0F55-3646-A314-F18FCEE032B9}"/>
              </a:ext>
            </a:extLst>
          </p:cNvPr>
          <p:cNvSpPr>
            <a:spLocks noGrp="1"/>
          </p:cNvSpPr>
          <p:nvPr>
            <p:ph sz="half" idx="2"/>
          </p:nvPr>
        </p:nvSpPr>
        <p:spPr>
          <a:xfrm>
            <a:off x="6172200" y="1825625"/>
            <a:ext cx="5181600" cy="4351338"/>
          </a:xfrm>
        </p:spPr>
        <p:txBody>
          <a:bodyPr/>
          <a:lstStyle/>
          <a:p>
            <a:r>
              <a:rPr lang="es-ES"/>
              <a:t>Editar los estilos de texto del patrón
Segundo nivel
Tercer nivel
Cuarto nivel
Quinto nivel</a:t>
            </a:r>
            <a:endParaRPr lang="es-ES_tradnl"/>
          </a:p>
        </p:txBody>
      </p:sp>
      <p:sp>
        <p:nvSpPr>
          <p:cNvPr id="5" name="Marcador de fecha 4">
            <a:extLst>
              <a:ext uri="{FF2B5EF4-FFF2-40B4-BE49-F238E27FC236}">
                <a16:creationId xmlns:a16="http://schemas.microsoft.com/office/drawing/2014/main" id="{3FED8DEE-09D1-1D45-AF1C-EE6B174BD451}"/>
              </a:ext>
            </a:extLst>
          </p:cNvPr>
          <p:cNvSpPr>
            <a:spLocks noGrp="1"/>
          </p:cNvSpPr>
          <p:nvPr>
            <p:ph type="dt" sz="half" idx="10"/>
          </p:nvPr>
        </p:nvSpPr>
        <p:spPr/>
        <p:txBody>
          <a:bodyPr/>
          <a:lstStyle/>
          <a:p>
            <a:fld id="{7C5824D8-5594-6A41-9294-F41E33449B9C}" type="datetime1">
              <a:rPr lang="es-AR" smtClean="0"/>
              <a:t>13/10/2022</a:t>
            </a:fld>
            <a:endParaRPr lang="es-ES_tradnl"/>
          </a:p>
        </p:txBody>
      </p:sp>
      <p:sp>
        <p:nvSpPr>
          <p:cNvPr id="6" name="Marcador de pie de página 5">
            <a:extLst>
              <a:ext uri="{FF2B5EF4-FFF2-40B4-BE49-F238E27FC236}">
                <a16:creationId xmlns:a16="http://schemas.microsoft.com/office/drawing/2014/main" id="{3D4150DC-5E67-8040-A9B7-DF55758DDEDA}"/>
              </a:ext>
            </a:extLst>
          </p:cNvPr>
          <p:cNvSpPr>
            <a:spLocks noGrp="1"/>
          </p:cNvSpPr>
          <p:nvPr>
            <p:ph type="ftr" sz="quarter" idx="11"/>
          </p:nvPr>
        </p:nvSpPr>
        <p:spPr/>
        <p:txBody>
          <a:bodyPr/>
          <a:lstStyle/>
          <a:p>
            <a:endParaRPr lang="es-ES_tradnl"/>
          </a:p>
        </p:txBody>
      </p:sp>
      <p:sp>
        <p:nvSpPr>
          <p:cNvPr id="7" name="Marcador de número de diapositiva 6">
            <a:extLst>
              <a:ext uri="{FF2B5EF4-FFF2-40B4-BE49-F238E27FC236}">
                <a16:creationId xmlns:a16="http://schemas.microsoft.com/office/drawing/2014/main" id="{ECC6471F-9AD7-4142-918F-9000BB11EB29}"/>
              </a:ext>
            </a:extLst>
          </p:cNvPr>
          <p:cNvSpPr>
            <a:spLocks noGrp="1"/>
          </p:cNvSpPr>
          <p:nvPr>
            <p:ph type="sldNum" sz="quarter" idx="12"/>
          </p:nvPr>
        </p:nvSpPr>
        <p:spPr/>
        <p:txBody>
          <a:bodyPr/>
          <a:lstStyle/>
          <a:p>
            <a:fld id="{CE14F34A-BFEE-3F4F-9931-32C7D0CB2CAC}" type="slidenum">
              <a:rPr lang="es-ES_tradnl" smtClean="0"/>
              <a:t>‹Nº›</a:t>
            </a:fld>
            <a:endParaRPr lang="es-ES_tradnl"/>
          </a:p>
        </p:txBody>
      </p:sp>
    </p:spTree>
    <p:extLst>
      <p:ext uri="{BB962C8B-B14F-4D97-AF65-F5344CB8AC3E}">
        <p14:creationId xmlns:p14="http://schemas.microsoft.com/office/powerpoint/2010/main" val="3250100121"/>
      </p:ext>
    </p:extLst>
  </p:cSld>
  <p:clrMapOvr>
    <a:masterClrMapping/>
  </p:clrMapOvr>
  <mc:AlternateContent xmlns:mc="http://schemas.openxmlformats.org/markup-compatibility/2006" xmlns:p159="http://schemas.microsoft.com/office/powerpoint/2015/09/main">
    <mc:Choice Requires="p159">
      <p:transition spd="slow" advTm="5000">
        <p159:morph option="byObject"/>
      </p:transition>
    </mc:Choice>
    <mc:Fallback xmlns="">
      <p:transition spd="slow" advTm="5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DDF386-4222-2E4A-A1D2-3DA442D184F7}"/>
              </a:ext>
            </a:extLst>
          </p:cNvPr>
          <p:cNvSpPr>
            <a:spLocks noGrp="1"/>
          </p:cNvSpPr>
          <p:nvPr>
            <p:ph type="title"/>
          </p:nvPr>
        </p:nvSpPr>
        <p:spPr>
          <a:xfrm>
            <a:off x="839788" y="365127"/>
            <a:ext cx="10515600" cy="1325563"/>
          </a:xfrm>
        </p:spPr>
        <p:txBody>
          <a:bodyPr/>
          <a:lstStyle/>
          <a:p>
            <a:r>
              <a:rPr lang="es-ES"/>
              <a:t>Haga clic para modificar el estilo de título del patrón</a:t>
            </a:r>
            <a:endParaRPr lang="es-ES_tradnl"/>
          </a:p>
        </p:txBody>
      </p:sp>
      <p:sp>
        <p:nvSpPr>
          <p:cNvPr id="3" name="Marcador de texto 2">
            <a:extLst>
              <a:ext uri="{FF2B5EF4-FFF2-40B4-BE49-F238E27FC236}">
                <a16:creationId xmlns:a16="http://schemas.microsoft.com/office/drawing/2014/main" id="{2799CB00-1E59-A74B-8235-3075788C909D}"/>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r>
              <a:rPr lang="es-ES"/>
              <a:t>Editar los estilos de texto del patrón
Segundo nivel
Tercer nivel
Cuarto nivel
Quinto nivel</a:t>
            </a:r>
            <a:endParaRPr lang="es-ES_tradnl"/>
          </a:p>
        </p:txBody>
      </p:sp>
      <p:sp>
        <p:nvSpPr>
          <p:cNvPr id="4" name="Marcador de contenido 3">
            <a:extLst>
              <a:ext uri="{FF2B5EF4-FFF2-40B4-BE49-F238E27FC236}">
                <a16:creationId xmlns:a16="http://schemas.microsoft.com/office/drawing/2014/main" id="{0140D9F8-9FE0-3F41-9A20-62CC8D7415AA}"/>
              </a:ext>
            </a:extLst>
          </p:cNvPr>
          <p:cNvSpPr>
            <a:spLocks noGrp="1"/>
          </p:cNvSpPr>
          <p:nvPr>
            <p:ph sz="half" idx="2"/>
          </p:nvPr>
        </p:nvSpPr>
        <p:spPr>
          <a:xfrm>
            <a:off x="839789" y="2505075"/>
            <a:ext cx="5157787" cy="3684588"/>
          </a:xfrm>
        </p:spPr>
        <p:txBody>
          <a:bodyPr/>
          <a:lstStyle/>
          <a:p>
            <a:r>
              <a:rPr lang="es-ES"/>
              <a:t>Editar los estilos de texto del patrón
Segundo nivel
Tercer nivel
Cuarto nivel
Quinto nivel</a:t>
            </a:r>
            <a:endParaRPr lang="es-ES_tradnl"/>
          </a:p>
        </p:txBody>
      </p:sp>
      <p:sp>
        <p:nvSpPr>
          <p:cNvPr id="5" name="Marcador de texto 4">
            <a:extLst>
              <a:ext uri="{FF2B5EF4-FFF2-40B4-BE49-F238E27FC236}">
                <a16:creationId xmlns:a16="http://schemas.microsoft.com/office/drawing/2014/main" id="{C3F5C7BA-A5C9-E942-931E-EA00340A5BD3}"/>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r>
              <a:rPr lang="es-ES"/>
              <a:t>Editar los estilos de texto del patrón
Segundo nivel
Tercer nivel
Cuarto nivel
Quinto nivel</a:t>
            </a:r>
            <a:endParaRPr lang="es-ES_tradnl"/>
          </a:p>
        </p:txBody>
      </p:sp>
      <p:sp>
        <p:nvSpPr>
          <p:cNvPr id="6" name="Marcador de contenido 5">
            <a:extLst>
              <a:ext uri="{FF2B5EF4-FFF2-40B4-BE49-F238E27FC236}">
                <a16:creationId xmlns:a16="http://schemas.microsoft.com/office/drawing/2014/main" id="{F7561F66-FF78-444B-B510-309404169610}"/>
              </a:ext>
            </a:extLst>
          </p:cNvPr>
          <p:cNvSpPr>
            <a:spLocks noGrp="1"/>
          </p:cNvSpPr>
          <p:nvPr>
            <p:ph sz="quarter" idx="4"/>
          </p:nvPr>
        </p:nvSpPr>
        <p:spPr>
          <a:xfrm>
            <a:off x="6172201" y="2505075"/>
            <a:ext cx="5183188" cy="3684588"/>
          </a:xfrm>
        </p:spPr>
        <p:txBody>
          <a:bodyPr/>
          <a:lstStyle/>
          <a:p>
            <a:r>
              <a:rPr lang="es-ES"/>
              <a:t>Editar los estilos de texto del patrón
Segundo nivel
Tercer nivel
Cuarto nivel
Quinto nivel</a:t>
            </a:r>
            <a:endParaRPr lang="es-ES_tradnl"/>
          </a:p>
        </p:txBody>
      </p:sp>
      <p:sp>
        <p:nvSpPr>
          <p:cNvPr id="7" name="Marcador de fecha 6">
            <a:extLst>
              <a:ext uri="{FF2B5EF4-FFF2-40B4-BE49-F238E27FC236}">
                <a16:creationId xmlns:a16="http://schemas.microsoft.com/office/drawing/2014/main" id="{ACCD36E7-E57E-F24A-8330-303F209E1CE7}"/>
              </a:ext>
            </a:extLst>
          </p:cNvPr>
          <p:cNvSpPr>
            <a:spLocks noGrp="1"/>
          </p:cNvSpPr>
          <p:nvPr>
            <p:ph type="dt" sz="half" idx="10"/>
          </p:nvPr>
        </p:nvSpPr>
        <p:spPr/>
        <p:txBody>
          <a:bodyPr/>
          <a:lstStyle/>
          <a:p>
            <a:fld id="{26B610DF-A92A-864B-84BB-BFB11EBE8D38}" type="datetime1">
              <a:rPr lang="es-AR" smtClean="0"/>
              <a:t>13/10/2022</a:t>
            </a:fld>
            <a:endParaRPr lang="es-ES_tradnl"/>
          </a:p>
        </p:txBody>
      </p:sp>
      <p:sp>
        <p:nvSpPr>
          <p:cNvPr id="8" name="Marcador de pie de página 7">
            <a:extLst>
              <a:ext uri="{FF2B5EF4-FFF2-40B4-BE49-F238E27FC236}">
                <a16:creationId xmlns:a16="http://schemas.microsoft.com/office/drawing/2014/main" id="{680A4B6B-B859-7744-8089-C199FD7E12E2}"/>
              </a:ext>
            </a:extLst>
          </p:cNvPr>
          <p:cNvSpPr>
            <a:spLocks noGrp="1"/>
          </p:cNvSpPr>
          <p:nvPr>
            <p:ph type="ftr" sz="quarter" idx="11"/>
          </p:nvPr>
        </p:nvSpPr>
        <p:spPr/>
        <p:txBody>
          <a:bodyPr/>
          <a:lstStyle/>
          <a:p>
            <a:endParaRPr lang="es-ES_tradnl"/>
          </a:p>
        </p:txBody>
      </p:sp>
      <p:sp>
        <p:nvSpPr>
          <p:cNvPr id="9" name="Marcador de número de diapositiva 8">
            <a:extLst>
              <a:ext uri="{FF2B5EF4-FFF2-40B4-BE49-F238E27FC236}">
                <a16:creationId xmlns:a16="http://schemas.microsoft.com/office/drawing/2014/main" id="{D3BD995A-D618-574A-9852-E7C619C2F7ED}"/>
              </a:ext>
            </a:extLst>
          </p:cNvPr>
          <p:cNvSpPr>
            <a:spLocks noGrp="1"/>
          </p:cNvSpPr>
          <p:nvPr>
            <p:ph type="sldNum" sz="quarter" idx="12"/>
          </p:nvPr>
        </p:nvSpPr>
        <p:spPr/>
        <p:txBody>
          <a:bodyPr/>
          <a:lstStyle/>
          <a:p>
            <a:fld id="{CE14F34A-BFEE-3F4F-9931-32C7D0CB2CAC}" type="slidenum">
              <a:rPr lang="es-ES_tradnl" smtClean="0"/>
              <a:t>‹Nº›</a:t>
            </a:fld>
            <a:endParaRPr lang="es-ES_tradnl"/>
          </a:p>
        </p:txBody>
      </p:sp>
    </p:spTree>
    <p:extLst>
      <p:ext uri="{BB962C8B-B14F-4D97-AF65-F5344CB8AC3E}">
        <p14:creationId xmlns:p14="http://schemas.microsoft.com/office/powerpoint/2010/main" val="1318908946"/>
      </p:ext>
    </p:extLst>
  </p:cSld>
  <p:clrMapOvr>
    <a:masterClrMapping/>
  </p:clrMapOvr>
  <mc:AlternateContent xmlns:mc="http://schemas.openxmlformats.org/markup-compatibility/2006" xmlns:p159="http://schemas.microsoft.com/office/powerpoint/2015/09/main">
    <mc:Choice Requires="p159">
      <p:transition spd="slow" advTm="5000">
        <p159:morph option="byObject"/>
      </p:transition>
    </mc:Choice>
    <mc:Fallback xmlns="">
      <p:transition spd="slow" advTm="5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124495-FAC5-E248-9A16-EA98D1D71E44}"/>
              </a:ext>
            </a:extLst>
          </p:cNvPr>
          <p:cNvSpPr>
            <a:spLocks noGrp="1"/>
          </p:cNvSpPr>
          <p:nvPr>
            <p:ph type="title"/>
          </p:nvPr>
        </p:nvSpPr>
        <p:spPr/>
        <p:txBody>
          <a:bodyPr/>
          <a:lstStyle/>
          <a:p>
            <a:r>
              <a:rPr lang="es-ES"/>
              <a:t>Haga clic para modificar el estilo de título del patrón</a:t>
            </a:r>
            <a:endParaRPr lang="es-ES_tradnl"/>
          </a:p>
        </p:txBody>
      </p:sp>
      <p:sp>
        <p:nvSpPr>
          <p:cNvPr id="3" name="Marcador de fecha 2">
            <a:extLst>
              <a:ext uri="{FF2B5EF4-FFF2-40B4-BE49-F238E27FC236}">
                <a16:creationId xmlns:a16="http://schemas.microsoft.com/office/drawing/2014/main" id="{76FF8306-B832-FE4D-B5F9-A03FD0466F54}"/>
              </a:ext>
            </a:extLst>
          </p:cNvPr>
          <p:cNvSpPr>
            <a:spLocks noGrp="1"/>
          </p:cNvSpPr>
          <p:nvPr>
            <p:ph type="dt" sz="half" idx="10"/>
          </p:nvPr>
        </p:nvSpPr>
        <p:spPr/>
        <p:txBody>
          <a:bodyPr/>
          <a:lstStyle/>
          <a:p>
            <a:fld id="{F613E9B5-C6FC-8544-A493-469FBE1490BA}" type="datetime1">
              <a:rPr lang="es-AR" smtClean="0"/>
              <a:t>13/10/2022</a:t>
            </a:fld>
            <a:endParaRPr lang="es-ES_tradnl"/>
          </a:p>
        </p:txBody>
      </p:sp>
      <p:sp>
        <p:nvSpPr>
          <p:cNvPr id="4" name="Marcador de pie de página 3">
            <a:extLst>
              <a:ext uri="{FF2B5EF4-FFF2-40B4-BE49-F238E27FC236}">
                <a16:creationId xmlns:a16="http://schemas.microsoft.com/office/drawing/2014/main" id="{0CDE63AF-D3B3-654A-A2AF-8EBD72AF5EB3}"/>
              </a:ext>
            </a:extLst>
          </p:cNvPr>
          <p:cNvSpPr>
            <a:spLocks noGrp="1"/>
          </p:cNvSpPr>
          <p:nvPr>
            <p:ph type="ftr" sz="quarter" idx="11"/>
          </p:nvPr>
        </p:nvSpPr>
        <p:spPr/>
        <p:txBody>
          <a:bodyPr/>
          <a:lstStyle/>
          <a:p>
            <a:endParaRPr lang="es-ES_tradnl"/>
          </a:p>
        </p:txBody>
      </p:sp>
      <p:sp>
        <p:nvSpPr>
          <p:cNvPr id="5" name="Marcador de número de diapositiva 4">
            <a:extLst>
              <a:ext uri="{FF2B5EF4-FFF2-40B4-BE49-F238E27FC236}">
                <a16:creationId xmlns:a16="http://schemas.microsoft.com/office/drawing/2014/main" id="{4A4B53B8-56FC-A645-A49B-5FE0AD9F5DBC}"/>
              </a:ext>
            </a:extLst>
          </p:cNvPr>
          <p:cNvSpPr>
            <a:spLocks noGrp="1"/>
          </p:cNvSpPr>
          <p:nvPr>
            <p:ph type="sldNum" sz="quarter" idx="12"/>
          </p:nvPr>
        </p:nvSpPr>
        <p:spPr/>
        <p:txBody>
          <a:bodyPr/>
          <a:lstStyle/>
          <a:p>
            <a:fld id="{CE14F34A-BFEE-3F4F-9931-32C7D0CB2CAC}" type="slidenum">
              <a:rPr lang="es-ES_tradnl" smtClean="0"/>
              <a:t>‹Nº›</a:t>
            </a:fld>
            <a:endParaRPr lang="es-ES_tradnl"/>
          </a:p>
        </p:txBody>
      </p:sp>
    </p:spTree>
    <p:extLst>
      <p:ext uri="{BB962C8B-B14F-4D97-AF65-F5344CB8AC3E}">
        <p14:creationId xmlns:p14="http://schemas.microsoft.com/office/powerpoint/2010/main" val="3715919564"/>
      </p:ext>
    </p:extLst>
  </p:cSld>
  <p:clrMapOvr>
    <a:masterClrMapping/>
  </p:clrMapOvr>
  <mc:AlternateContent xmlns:mc="http://schemas.openxmlformats.org/markup-compatibility/2006" xmlns:p159="http://schemas.microsoft.com/office/powerpoint/2015/09/main">
    <mc:Choice Requires="p159">
      <p:transition spd="slow" advTm="5000">
        <p159:morph option="byObject"/>
      </p:transition>
    </mc:Choice>
    <mc:Fallback xmlns="">
      <p:transition spd="slow" advTm="5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C181997-8887-0E45-8211-7159427F35EA}"/>
              </a:ext>
            </a:extLst>
          </p:cNvPr>
          <p:cNvSpPr>
            <a:spLocks noGrp="1"/>
          </p:cNvSpPr>
          <p:nvPr>
            <p:ph type="dt" sz="half" idx="10"/>
          </p:nvPr>
        </p:nvSpPr>
        <p:spPr/>
        <p:txBody>
          <a:bodyPr/>
          <a:lstStyle/>
          <a:p>
            <a:fld id="{47ADEA04-3830-F344-98C7-9820CC35E7EC}" type="datetime1">
              <a:rPr lang="es-AR" smtClean="0"/>
              <a:t>13/10/2022</a:t>
            </a:fld>
            <a:endParaRPr lang="es-ES_tradnl"/>
          </a:p>
        </p:txBody>
      </p:sp>
      <p:sp>
        <p:nvSpPr>
          <p:cNvPr id="3" name="Marcador de pie de página 2">
            <a:extLst>
              <a:ext uri="{FF2B5EF4-FFF2-40B4-BE49-F238E27FC236}">
                <a16:creationId xmlns:a16="http://schemas.microsoft.com/office/drawing/2014/main" id="{82CB8ACE-8743-594A-A950-038AB349A787}"/>
              </a:ext>
            </a:extLst>
          </p:cNvPr>
          <p:cNvSpPr>
            <a:spLocks noGrp="1"/>
          </p:cNvSpPr>
          <p:nvPr>
            <p:ph type="ftr" sz="quarter" idx="11"/>
          </p:nvPr>
        </p:nvSpPr>
        <p:spPr/>
        <p:txBody>
          <a:bodyPr/>
          <a:lstStyle/>
          <a:p>
            <a:endParaRPr lang="es-ES_tradnl"/>
          </a:p>
        </p:txBody>
      </p:sp>
      <p:sp>
        <p:nvSpPr>
          <p:cNvPr id="4" name="Marcador de número de diapositiva 3">
            <a:extLst>
              <a:ext uri="{FF2B5EF4-FFF2-40B4-BE49-F238E27FC236}">
                <a16:creationId xmlns:a16="http://schemas.microsoft.com/office/drawing/2014/main" id="{DA978AB1-F64A-344B-988D-BCFB13E8A35A}"/>
              </a:ext>
            </a:extLst>
          </p:cNvPr>
          <p:cNvSpPr>
            <a:spLocks noGrp="1"/>
          </p:cNvSpPr>
          <p:nvPr>
            <p:ph type="sldNum" sz="quarter" idx="12"/>
          </p:nvPr>
        </p:nvSpPr>
        <p:spPr>
          <a:xfrm>
            <a:off x="8969943" y="6356352"/>
            <a:ext cx="2743200" cy="365125"/>
          </a:xfrm>
        </p:spPr>
        <p:txBody>
          <a:bodyPr/>
          <a:lstStyle>
            <a:lvl1pPr>
              <a:defRPr sz="1000" b="1" i="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fld id="{CE14F34A-BFEE-3F4F-9931-32C7D0CB2CAC}" type="slidenum">
              <a:rPr lang="es-ES_tradnl" smtClean="0"/>
              <a:pPr/>
              <a:t>‹Nº›</a:t>
            </a:fld>
            <a:endParaRPr lang="es-ES_tradnl" dirty="0"/>
          </a:p>
        </p:txBody>
      </p:sp>
    </p:spTree>
    <p:extLst>
      <p:ext uri="{BB962C8B-B14F-4D97-AF65-F5344CB8AC3E}">
        <p14:creationId xmlns:p14="http://schemas.microsoft.com/office/powerpoint/2010/main" val="3887571480"/>
      </p:ext>
    </p:extLst>
  </p:cSld>
  <p:clrMapOvr>
    <a:masterClrMapping/>
  </p:clrMapOvr>
  <mc:AlternateContent xmlns:mc="http://schemas.openxmlformats.org/markup-compatibility/2006" xmlns:p159="http://schemas.microsoft.com/office/powerpoint/2015/09/main">
    <mc:Choice Requires="p159">
      <p:transition spd="slow" advTm="5000">
        <p159:morph option="byObject"/>
      </p:transition>
    </mc:Choice>
    <mc:Fallback xmlns="">
      <p:transition spd="slow" advTm="5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950111-D759-E24B-8997-B66E415C35DB}"/>
              </a:ext>
            </a:extLst>
          </p:cNvPr>
          <p:cNvSpPr>
            <a:spLocks noGrp="1"/>
          </p:cNvSpPr>
          <p:nvPr>
            <p:ph type="title"/>
          </p:nvPr>
        </p:nvSpPr>
        <p:spPr>
          <a:xfrm>
            <a:off x="839788" y="457200"/>
            <a:ext cx="3932237" cy="1600200"/>
          </a:xfrm>
        </p:spPr>
        <p:txBody>
          <a:bodyPr anchor="b"/>
          <a:lstStyle>
            <a:lvl1pPr>
              <a:defRPr sz="2400"/>
            </a:lvl1pPr>
          </a:lstStyle>
          <a:p>
            <a:r>
              <a:rPr lang="es-ES"/>
              <a:t>Haga clic para modificar el estilo de título del patrón</a:t>
            </a:r>
            <a:endParaRPr lang="es-ES_tradnl"/>
          </a:p>
        </p:txBody>
      </p:sp>
      <p:sp>
        <p:nvSpPr>
          <p:cNvPr id="3" name="Marcador de contenido 2">
            <a:extLst>
              <a:ext uri="{FF2B5EF4-FFF2-40B4-BE49-F238E27FC236}">
                <a16:creationId xmlns:a16="http://schemas.microsoft.com/office/drawing/2014/main" id="{C2B8FD8A-005A-5147-9A09-6B65033FC6C5}"/>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r>
              <a:rPr lang="es-ES"/>
              <a:t>Editar los estilos de texto del patrón
Segundo nivel
Tercer nivel
Cuarto nivel
Quinto nivel</a:t>
            </a:r>
            <a:endParaRPr lang="es-ES_tradnl"/>
          </a:p>
        </p:txBody>
      </p:sp>
      <p:sp>
        <p:nvSpPr>
          <p:cNvPr id="4" name="Marcador de texto 3">
            <a:extLst>
              <a:ext uri="{FF2B5EF4-FFF2-40B4-BE49-F238E27FC236}">
                <a16:creationId xmlns:a16="http://schemas.microsoft.com/office/drawing/2014/main" id="{C14F721F-E7CB-474B-95B5-DE0F2CF092A6}"/>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r>
              <a:rPr lang="es-ES"/>
              <a:t>Editar los estilos de texto del patrón
Segundo nivel
Tercer nivel
Cuarto nivel
Quinto nivel</a:t>
            </a:r>
            <a:endParaRPr lang="es-ES_tradnl"/>
          </a:p>
        </p:txBody>
      </p:sp>
      <p:sp>
        <p:nvSpPr>
          <p:cNvPr id="5" name="Marcador de fecha 4">
            <a:extLst>
              <a:ext uri="{FF2B5EF4-FFF2-40B4-BE49-F238E27FC236}">
                <a16:creationId xmlns:a16="http://schemas.microsoft.com/office/drawing/2014/main" id="{D691C694-62BF-8241-B307-7256815EF7FE}"/>
              </a:ext>
            </a:extLst>
          </p:cNvPr>
          <p:cNvSpPr>
            <a:spLocks noGrp="1"/>
          </p:cNvSpPr>
          <p:nvPr>
            <p:ph type="dt" sz="half" idx="10"/>
          </p:nvPr>
        </p:nvSpPr>
        <p:spPr/>
        <p:txBody>
          <a:bodyPr/>
          <a:lstStyle/>
          <a:p>
            <a:fld id="{62FB12B3-7F53-9E4D-9B70-FC8DACDB8768}" type="datetime1">
              <a:rPr lang="es-AR" smtClean="0"/>
              <a:t>13/10/2022</a:t>
            </a:fld>
            <a:endParaRPr lang="es-ES_tradnl"/>
          </a:p>
        </p:txBody>
      </p:sp>
      <p:sp>
        <p:nvSpPr>
          <p:cNvPr id="6" name="Marcador de pie de página 5">
            <a:extLst>
              <a:ext uri="{FF2B5EF4-FFF2-40B4-BE49-F238E27FC236}">
                <a16:creationId xmlns:a16="http://schemas.microsoft.com/office/drawing/2014/main" id="{280CBE0A-9F7C-2741-BFEE-D2A5CF563875}"/>
              </a:ext>
            </a:extLst>
          </p:cNvPr>
          <p:cNvSpPr>
            <a:spLocks noGrp="1"/>
          </p:cNvSpPr>
          <p:nvPr>
            <p:ph type="ftr" sz="quarter" idx="11"/>
          </p:nvPr>
        </p:nvSpPr>
        <p:spPr/>
        <p:txBody>
          <a:bodyPr/>
          <a:lstStyle/>
          <a:p>
            <a:endParaRPr lang="es-ES_tradnl"/>
          </a:p>
        </p:txBody>
      </p:sp>
      <p:sp>
        <p:nvSpPr>
          <p:cNvPr id="7" name="Marcador de número de diapositiva 6">
            <a:extLst>
              <a:ext uri="{FF2B5EF4-FFF2-40B4-BE49-F238E27FC236}">
                <a16:creationId xmlns:a16="http://schemas.microsoft.com/office/drawing/2014/main" id="{90529736-342C-B34B-AF87-3BF67455193D}"/>
              </a:ext>
            </a:extLst>
          </p:cNvPr>
          <p:cNvSpPr>
            <a:spLocks noGrp="1"/>
          </p:cNvSpPr>
          <p:nvPr>
            <p:ph type="sldNum" sz="quarter" idx="12"/>
          </p:nvPr>
        </p:nvSpPr>
        <p:spPr/>
        <p:txBody>
          <a:bodyPr/>
          <a:lstStyle/>
          <a:p>
            <a:fld id="{CE14F34A-BFEE-3F4F-9931-32C7D0CB2CAC}" type="slidenum">
              <a:rPr lang="es-ES_tradnl" smtClean="0"/>
              <a:t>‹Nº›</a:t>
            </a:fld>
            <a:endParaRPr lang="es-ES_tradnl"/>
          </a:p>
        </p:txBody>
      </p:sp>
    </p:spTree>
    <p:extLst>
      <p:ext uri="{BB962C8B-B14F-4D97-AF65-F5344CB8AC3E}">
        <p14:creationId xmlns:p14="http://schemas.microsoft.com/office/powerpoint/2010/main" val="678686178"/>
      </p:ext>
    </p:extLst>
  </p:cSld>
  <p:clrMapOvr>
    <a:masterClrMapping/>
  </p:clrMapOvr>
  <mc:AlternateContent xmlns:mc="http://schemas.openxmlformats.org/markup-compatibility/2006" xmlns:p159="http://schemas.microsoft.com/office/powerpoint/2015/09/main">
    <mc:Choice Requires="p159">
      <p:transition spd="slow" advTm="5000">
        <p159:morph option="byObject"/>
      </p:transition>
    </mc:Choice>
    <mc:Fallback xmlns="">
      <p:transition spd="slow" advTm="5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C67BFD-45EE-684A-BD99-A6A47D6AEB39}"/>
              </a:ext>
            </a:extLst>
          </p:cNvPr>
          <p:cNvSpPr>
            <a:spLocks noGrp="1"/>
          </p:cNvSpPr>
          <p:nvPr>
            <p:ph type="title"/>
          </p:nvPr>
        </p:nvSpPr>
        <p:spPr>
          <a:xfrm>
            <a:off x="839788" y="457200"/>
            <a:ext cx="3932237" cy="1600200"/>
          </a:xfrm>
        </p:spPr>
        <p:txBody>
          <a:bodyPr anchor="b"/>
          <a:lstStyle>
            <a:lvl1pPr>
              <a:defRPr sz="2400"/>
            </a:lvl1pPr>
          </a:lstStyle>
          <a:p>
            <a:r>
              <a:rPr lang="es-ES"/>
              <a:t>Haga clic para modificar el estilo de título del patrón</a:t>
            </a:r>
            <a:endParaRPr lang="es-ES_tradnl"/>
          </a:p>
        </p:txBody>
      </p:sp>
      <p:sp>
        <p:nvSpPr>
          <p:cNvPr id="3" name="Marcador de posición de imagen 2">
            <a:extLst>
              <a:ext uri="{FF2B5EF4-FFF2-40B4-BE49-F238E27FC236}">
                <a16:creationId xmlns:a16="http://schemas.microsoft.com/office/drawing/2014/main" id="{376D40D6-EDB0-AA42-AA39-A1FBD3717B5A}"/>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endParaRPr lang="es-ES_tradnl"/>
          </a:p>
        </p:txBody>
      </p:sp>
      <p:sp>
        <p:nvSpPr>
          <p:cNvPr id="4" name="Marcador de texto 3">
            <a:extLst>
              <a:ext uri="{FF2B5EF4-FFF2-40B4-BE49-F238E27FC236}">
                <a16:creationId xmlns:a16="http://schemas.microsoft.com/office/drawing/2014/main" id="{2FD13050-B01C-8C4C-8522-8F89130F8017}"/>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r>
              <a:rPr lang="es-ES"/>
              <a:t>Editar los estilos de texto del patrón
Segundo nivel
Tercer nivel
Cuarto nivel
Quinto nivel</a:t>
            </a:r>
            <a:endParaRPr lang="es-ES_tradnl"/>
          </a:p>
        </p:txBody>
      </p:sp>
      <p:sp>
        <p:nvSpPr>
          <p:cNvPr id="5" name="Marcador de fecha 4">
            <a:extLst>
              <a:ext uri="{FF2B5EF4-FFF2-40B4-BE49-F238E27FC236}">
                <a16:creationId xmlns:a16="http://schemas.microsoft.com/office/drawing/2014/main" id="{821C7F6A-BE42-8F4E-8027-EFE29A85FD0B}"/>
              </a:ext>
            </a:extLst>
          </p:cNvPr>
          <p:cNvSpPr>
            <a:spLocks noGrp="1"/>
          </p:cNvSpPr>
          <p:nvPr>
            <p:ph type="dt" sz="half" idx="10"/>
          </p:nvPr>
        </p:nvSpPr>
        <p:spPr/>
        <p:txBody>
          <a:bodyPr/>
          <a:lstStyle/>
          <a:p>
            <a:fld id="{FF20CF12-3E34-1245-82F1-F0663B0F405E}" type="datetime1">
              <a:rPr lang="es-AR" smtClean="0"/>
              <a:t>13/10/2022</a:t>
            </a:fld>
            <a:endParaRPr lang="es-ES_tradnl"/>
          </a:p>
        </p:txBody>
      </p:sp>
      <p:sp>
        <p:nvSpPr>
          <p:cNvPr id="6" name="Marcador de pie de página 5">
            <a:extLst>
              <a:ext uri="{FF2B5EF4-FFF2-40B4-BE49-F238E27FC236}">
                <a16:creationId xmlns:a16="http://schemas.microsoft.com/office/drawing/2014/main" id="{1E5D7464-3114-0242-8396-2B7A6AF42F69}"/>
              </a:ext>
            </a:extLst>
          </p:cNvPr>
          <p:cNvSpPr>
            <a:spLocks noGrp="1"/>
          </p:cNvSpPr>
          <p:nvPr>
            <p:ph type="ftr" sz="quarter" idx="11"/>
          </p:nvPr>
        </p:nvSpPr>
        <p:spPr/>
        <p:txBody>
          <a:bodyPr/>
          <a:lstStyle/>
          <a:p>
            <a:endParaRPr lang="es-ES_tradnl"/>
          </a:p>
        </p:txBody>
      </p:sp>
      <p:sp>
        <p:nvSpPr>
          <p:cNvPr id="7" name="Marcador de número de diapositiva 6">
            <a:extLst>
              <a:ext uri="{FF2B5EF4-FFF2-40B4-BE49-F238E27FC236}">
                <a16:creationId xmlns:a16="http://schemas.microsoft.com/office/drawing/2014/main" id="{D2CF26A5-1269-074D-A6D9-D2BE938F0B68}"/>
              </a:ext>
            </a:extLst>
          </p:cNvPr>
          <p:cNvSpPr>
            <a:spLocks noGrp="1"/>
          </p:cNvSpPr>
          <p:nvPr>
            <p:ph type="sldNum" sz="quarter" idx="12"/>
          </p:nvPr>
        </p:nvSpPr>
        <p:spPr/>
        <p:txBody>
          <a:bodyPr/>
          <a:lstStyle/>
          <a:p>
            <a:fld id="{CE14F34A-BFEE-3F4F-9931-32C7D0CB2CAC}" type="slidenum">
              <a:rPr lang="es-ES_tradnl" smtClean="0"/>
              <a:t>‹Nº›</a:t>
            </a:fld>
            <a:endParaRPr lang="es-ES_tradnl"/>
          </a:p>
        </p:txBody>
      </p:sp>
    </p:spTree>
    <p:extLst>
      <p:ext uri="{BB962C8B-B14F-4D97-AF65-F5344CB8AC3E}">
        <p14:creationId xmlns:p14="http://schemas.microsoft.com/office/powerpoint/2010/main" val="2957284954"/>
      </p:ext>
    </p:extLst>
  </p:cSld>
  <p:clrMapOvr>
    <a:masterClrMapping/>
  </p:clrMapOvr>
  <mc:AlternateContent xmlns:mc="http://schemas.openxmlformats.org/markup-compatibility/2006" xmlns:p159="http://schemas.microsoft.com/office/powerpoint/2015/09/main">
    <mc:Choice Requires="p159">
      <p:transition spd="slow" advTm="5000">
        <p159:morph option="byObject"/>
      </p:transition>
    </mc:Choice>
    <mc:Fallback xmlns="">
      <p:transition spd="slow" advTm="5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2A08CA-8FDF-0048-804D-B74731F057BD}"/>
              </a:ext>
            </a:extLst>
          </p:cNvPr>
          <p:cNvSpPr>
            <a:spLocks noGrp="1"/>
          </p:cNvSpPr>
          <p:nvPr>
            <p:ph type="title"/>
          </p:nvPr>
        </p:nvSpPr>
        <p:spPr/>
        <p:txBody>
          <a:bodyPr/>
          <a:lstStyle/>
          <a:p>
            <a:r>
              <a:rPr lang="es-ES"/>
              <a:t>Haga clic para modificar el estilo de título del patrón</a:t>
            </a:r>
            <a:endParaRPr lang="es-ES_tradnl"/>
          </a:p>
        </p:txBody>
      </p:sp>
      <p:sp>
        <p:nvSpPr>
          <p:cNvPr id="3" name="Marcador de texto vertical 2">
            <a:extLst>
              <a:ext uri="{FF2B5EF4-FFF2-40B4-BE49-F238E27FC236}">
                <a16:creationId xmlns:a16="http://schemas.microsoft.com/office/drawing/2014/main" id="{325D6AE6-3D7A-B741-B61A-B77FE058BD66}"/>
              </a:ext>
            </a:extLst>
          </p:cNvPr>
          <p:cNvSpPr>
            <a:spLocks noGrp="1"/>
          </p:cNvSpPr>
          <p:nvPr>
            <p:ph type="body" orient="vert" idx="1"/>
          </p:nvPr>
        </p:nvSpPr>
        <p:spPr/>
        <p:txBody>
          <a:bodyPr vert="eaVert"/>
          <a:lstStyle/>
          <a:p>
            <a:r>
              <a:rPr lang="es-ES"/>
              <a:t>Editar los estilos de texto del patrón
Segundo nivel
Tercer nivel
Cuarto nivel
Quinto nivel</a:t>
            </a:r>
            <a:endParaRPr lang="es-ES_tradnl"/>
          </a:p>
        </p:txBody>
      </p:sp>
      <p:sp>
        <p:nvSpPr>
          <p:cNvPr id="4" name="Marcador de fecha 3">
            <a:extLst>
              <a:ext uri="{FF2B5EF4-FFF2-40B4-BE49-F238E27FC236}">
                <a16:creationId xmlns:a16="http://schemas.microsoft.com/office/drawing/2014/main" id="{687FD753-5177-8E47-B7C2-B20F6AAA0BFE}"/>
              </a:ext>
            </a:extLst>
          </p:cNvPr>
          <p:cNvSpPr>
            <a:spLocks noGrp="1"/>
          </p:cNvSpPr>
          <p:nvPr>
            <p:ph type="dt" sz="half" idx="10"/>
          </p:nvPr>
        </p:nvSpPr>
        <p:spPr/>
        <p:txBody>
          <a:bodyPr/>
          <a:lstStyle/>
          <a:p>
            <a:fld id="{33AAD241-38A7-C84F-ABAC-B85B99213C8C}" type="datetime1">
              <a:rPr lang="es-AR" smtClean="0"/>
              <a:t>13/10/2022</a:t>
            </a:fld>
            <a:endParaRPr lang="es-ES_tradnl"/>
          </a:p>
        </p:txBody>
      </p:sp>
      <p:sp>
        <p:nvSpPr>
          <p:cNvPr id="5" name="Marcador de pie de página 4">
            <a:extLst>
              <a:ext uri="{FF2B5EF4-FFF2-40B4-BE49-F238E27FC236}">
                <a16:creationId xmlns:a16="http://schemas.microsoft.com/office/drawing/2014/main" id="{B131A3C2-A911-9A41-8546-547F7113BC3A}"/>
              </a:ext>
            </a:extLst>
          </p:cNvPr>
          <p:cNvSpPr>
            <a:spLocks noGrp="1"/>
          </p:cNvSpPr>
          <p:nvPr>
            <p:ph type="ftr" sz="quarter" idx="11"/>
          </p:nvPr>
        </p:nvSpPr>
        <p:spPr/>
        <p:txBody>
          <a:bodyPr/>
          <a:lstStyle/>
          <a:p>
            <a:endParaRPr lang="es-ES_tradnl"/>
          </a:p>
        </p:txBody>
      </p:sp>
      <p:sp>
        <p:nvSpPr>
          <p:cNvPr id="6" name="Marcador de número de diapositiva 5">
            <a:extLst>
              <a:ext uri="{FF2B5EF4-FFF2-40B4-BE49-F238E27FC236}">
                <a16:creationId xmlns:a16="http://schemas.microsoft.com/office/drawing/2014/main" id="{967D0BAF-52EC-D24A-804F-BADF6176867D}"/>
              </a:ext>
            </a:extLst>
          </p:cNvPr>
          <p:cNvSpPr>
            <a:spLocks noGrp="1"/>
          </p:cNvSpPr>
          <p:nvPr>
            <p:ph type="sldNum" sz="quarter" idx="12"/>
          </p:nvPr>
        </p:nvSpPr>
        <p:spPr/>
        <p:txBody>
          <a:bodyPr/>
          <a:lstStyle/>
          <a:p>
            <a:fld id="{CE14F34A-BFEE-3F4F-9931-32C7D0CB2CAC}" type="slidenum">
              <a:rPr lang="es-ES_tradnl" smtClean="0"/>
              <a:t>‹Nº›</a:t>
            </a:fld>
            <a:endParaRPr lang="es-ES_tradnl"/>
          </a:p>
        </p:txBody>
      </p:sp>
    </p:spTree>
    <p:extLst>
      <p:ext uri="{BB962C8B-B14F-4D97-AF65-F5344CB8AC3E}">
        <p14:creationId xmlns:p14="http://schemas.microsoft.com/office/powerpoint/2010/main" val="3386276732"/>
      </p:ext>
    </p:extLst>
  </p:cSld>
  <p:clrMapOvr>
    <a:masterClrMapping/>
  </p:clrMapOvr>
  <mc:AlternateContent xmlns:mc="http://schemas.openxmlformats.org/markup-compatibility/2006" xmlns:p159="http://schemas.microsoft.com/office/powerpoint/2015/09/main">
    <mc:Choice Requires="p159">
      <p:transition spd="slow" advTm="5000">
        <p159:morph option="byObject"/>
      </p:transition>
    </mc:Choice>
    <mc:Fallback xmlns="">
      <p:transition spd="slow" advTm="5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FDACD29-ABFF-4D40-B9F0-DEB1C4F46549}"/>
              </a:ext>
            </a:extLst>
          </p:cNvPr>
          <p:cNvSpPr>
            <a:spLocks noGrp="1"/>
          </p:cNvSpPr>
          <p:nvPr>
            <p:ph type="title" orient="vert"/>
          </p:nvPr>
        </p:nvSpPr>
        <p:spPr>
          <a:xfrm>
            <a:off x="8724901" y="365125"/>
            <a:ext cx="2628900" cy="5811838"/>
          </a:xfrm>
        </p:spPr>
        <p:txBody>
          <a:bodyPr vert="eaVert"/>
          <a:lstStyle/>
          <a:p>
            <a:r>
              <a:rPr lang="es-ES"/>
              <a:t>Haga clic para modificar el estilo de título del patrón</a:t>
            </a:r>
            <a:endParaRPr lang="es-ES_tradnl"/>
          </a:p>
        </p:txBody>
      </p:sp>
      <p:sp>
        <p:nvSpPr>
          <p:cNvPr id="3" name="Marcador de texto vertical 2">
            <a:extLst>
              <a:ext uri="{FF2B5EF4-FFF2-40B4-BE49-F238E27FC236}">
                <a16:creationId xmlns:a16="http://schemas.microsoft.com/office/drawing/2014/main" id="{52DE5CCA-3B03-834F-930B-9C61D5AFA3AF}"/>
              </a:ext>
            </a:extLst>
          </p:cNvPr>
          <p:cNvSpPr>
            <a:spLocks noGrp="1"/>
          </p:cNvSpPr>
          <p:nvPr>
            <p:ph type="body" orient="vert" idx="1"/>
          </p:nvPr>
        </p:nvSpPr>
        <p:spPr>
          <a:xfrm>
            <a:off x="838201" y="365125"/>
            <a:ext cx="7734300" cy="5811838"/>
          </a:xfrm>
        </p:spPr>
        <p:txBody>
          <a:bodyPr vert="eaVert"/>
          <a:lstStyle/>
          <a:p>
            <a:r>
              <a:rPr lang="es-ES"/>
              <a:t>Editar los estilos de texto del patrón
Segundo nivel
Tercer nivel
Cuarto nivel
Quinto nivel</a:t>
            </a:r>
            <a:endParaRPr lang="es-ES_tradnl"/>
          </a:p>
        </p:txBody>
      </p:sp>
      <p:sp>
        <p:nvSpPr>
          <p:cNvPr id="4" name="Marcador de fecha 3">
            <a:extLst>
              <a:ext uri="{FF2B5EF4-FFF2-40B4-BE49-F238E27FC236}">
                <a16:creationId xmlns:a16="http://schemas.microsoft.com/office/drawing/2014/main" id="{FF08A988-EAAE-E84E-AF67-E086BE328E0D}"/>
              </a:ext>
            </a:extLst>
          </p:cNvPr>
          <p:cNvSpPr>
            <a:spLocks noGrp="1"/>
          </p:cNvSpPr>
          <p:nvPr>
            <p:ph type="dt" sz="half" idx="10"/>
          </p:nvPr>
        </p:nvSpPr>
        <p:spPr/>
        <p:txBody>
          <a:bodyPr/>
          <a:lstStyle/>
          <a:p>
            <a:fld id="{9B7FA18B-6329-3846-9AB7-BD22095D52CF}" type="datetime1">
              <a:rPr lang="es-AR" smtClean="0"/>
              <a:t>13/10/2022</a:t>
            </a:fld>
            <a:endParaRPr lang="es-ES_tradnl"/>
          </a:p>
        </p:txBody>
      </p:sp>
      <p:sp>
        <p:nvSpPr>
          <p:cNvPr id="5" name="Marcador de pie de página 4">
            <a:extLst>
              <a:ext uri="{FF2B5EF4-FFF2-40B4-BE49-F238E27FC236}">
                <a16:creationId xmlns:a16="http://schemas.microsoft.com/office/drawing/2014/main" id="{288F56ED-E243-9541-BF62-E1DC65C0D1C2}"/>
              </a:ext>
            </a:extLst>
          </p:cNvPr>
          <p:cNvSpPr>
            <a:spLocks noGrp="1"/>
          </p:cNvSpPr>
          <p:nvPr>
            <p:ph type="ftr" sz="quarter" idx="11"/>
          </p:nvPr>
        </p:nvSpPr>
        <p:spPr/>
        <p:txBody>
          <a:bodyPr/>
          <a:lstStyle/>
          <a:p>
            <a:endParaRPr lang="es-ES_tradnl"/>
          </a:p>
        </p:txBody>
      </p:sp>
      <p:sp>
        <p:nvSpPr>
          <p:cNvPr id="6" name="Marcador de número de diapositiva 5">
            <a:extLst>
              <a:ext uri="{FF2B5EF4-FFF2-40B4-BE49-F238E27FC236}">
                <a16:creationId xmlns:a16="http://schemas.microsoft.com/office/drawing/2014/main" id="{591FB428-DB61-A346-81D9-E051CC8BE8BD}"/>
              </a:ext>
            </a:extLst>
          </p:cNvPr>
          <p:cNvSpPr>
            <a:spLocks noGrp="1"/>
          </p:cNvSpPr>
          <p:nvPr>
            <p:ph type="sldNum" sz="quarter" idx="12"/>
          </p:nvPr>
        </p:nvSpPr>
        <p:spPr/>
        <p:txBody>
          <a:bodyPr/>
          <a:lstStyle/>
          <a:p>
            <a:fld id="{CE14F34A-BFEE-3F4F-9931-32C7D0CB2CAC}" type="slidenum">
              <a:rPr lang="es-ES_tradnl" smtClean="0"/>
              <a:t>‹Nº›</a:t>
            </a:fld>
            <a:endParaRPr lang="es-ES_tradnl"/>
          </a:p>
        </p:txBody>
      </p:sp>
    </p:spTree>
    <p:extLst>
      <p:ext uri="{BB962C8B-B14F-4D97-AF65-F5344CB8AC3E}">
        <p14:creationId xmlns:p14="http://schemas.microsoft.com/office/powerpoint/2010/main" val="1614519404"/>
      </p:ext>
    </p:extLst>
  </p:cSld>
  <p:clrMapOvr>
    <a:masterClrMapping/>
  </p:clrMapOvr>
  <mc:AlternateContent xmlns:mc="http://schemas.openxmlformats.org/markup-compatibility/2006" xmlns:p159="http://schemas.microsoft.com/office/powerpoint/2015/09/main">
    <mc:Choice Requires="p159">
      <p:transition spd="slow" advTm="5000">
        <p159:morph option="byObject"/>
      </p:transition>
    </mc:Choice>
    <mc:Fallback xmlns="">
      <p:transition spd="slow" advTm="5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A5002C9-0001-8042-AECC-A3394B8D7A1D}"/>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S_tradnl"/>
          </a:p>
        </p:txBody>
      </p:sp>
      <p:sp>
        <p:nvSpPr>
          <p:cNvPr id="3" name="Marcador de texto 2">
            <a:extLst>
              <a:ext uri="{FF2B5EF4-FFF2-40B4-BE49-F238E27FC236}">
                <a16:creationId xmlns:a16="http://schemas.microsoft.com/office/drawing/2014/main" id="{D29377E8-73BF-C341-8F55-B13F8BB6E1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lang="es-ES"/>
              <a:t>Editar los estilos de texto del patrón
Segundo nivel
Tercer nivel
Cuarto nivel
Quinto nivel</a:t>
            </a:r>
            <a:endParaRPr lang="es-ES_tradnl"/>
          </a:p>
        </p:txBody>
      </p:sp>
      <p:sp>
        <p:nvSpPr>
          <p:cNvPr id="4" name="Marcador de fecha 3">
            <a:extLst>
              <a:ext uri="{FF2B5EF4-FFF2-40B4-BE49-F238E27FC236}">
                <a16:creationId xmlns:a16="http://schemas.microsoft.com/office/drawing/2014/main" id="{CEEBC2FD-BD4B-D841-AF3F-8270B46964B8}"/>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AC7B920-1645-FF41-BE49-1719EB94F5A7}" type="datetime1">
              <a:rPr lang="es-AR" smtClean="0"/>
              <a:t>13/10/2022</a:t>
            </a:fld>
            <a:endParaRPr lang="es-ES_tradnl"/>
          </a:p>
        </p:txBody>
      </p:sp>
      <p:sp>
        <p:nvSpPr>
          <p:cNvPr id="5" name="Marcador de pie de página 4">
            <a:extLst>
              <a:ext uri="{FF2B5EF4-FFF2-40B4-BE49-F238E27FC236}">
                <a16:creationId xmlns:a16="http://schemas.microsoft.com/office/drawing/2014/main" id="{C5730034-887C-9046-A36D-0E5C8A941ED2}"/>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ES_tradnl"/>
          </a:p>
        </p:txBody>
      </p:sp>
      <p:sp>
        <p:nvSpPr>
          <p:cNvPr id="6" name="Marcador de número de diapositiva 5">
            <a:extLst>
              <a:ext uri="{FF2B5EF4-FFF2-40B4-BE49-F238E27FC236}">
                <a16:creationId xmlns:a16="http://schemas.microsoft.com/office/drawing/2014/main" id="{E8AF801A-D234-5140-AA8A-99FA477E76E7}"/>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E14F34A-BFEE-3F4F-9931-32C7D0CB2CAC}" type="slidenum">
              <a:rPr lang="es-ES_tradnl" smtClean="0"/>
              <a:t>‹Nº›</a:t>
            </a:fld>
            <a:endParaRPr lang="es-ES_tradnl"/>
          </a:p>
        </p:txBody>
      </p:sp>
    </p:spTree>
    <p:extLst>
      <p:ext uri="{BB962C8B-B14F-4D97-AF65-F5344CB8AC3E}">
        <p14:creationId xmlns:p14="http://schemas.microsoft.com/office/powerpoint/2010/main" val="225376332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59="http://schemas.microsoft.com/office/powerpoint/2015/09/main">
    <mc:Choice Requires="p159">
      <p:transition spd="slow" advTm="5000">
        <p159:morph option="byObject"/>
      </p:transition>
    </mc:Choice>
    <mc:Fallback xmlns="">
      <p:transition spd="slow" advTm="5000">
        <p:fade/>
      </p:transition>
    </mc:Fallback>
  </mc:AlternateConten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A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3.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png"/><Relationship Id="rId7" Type="http://schemas.openxmlformats.org/officeDocument/2006/relationships/diagramQuickStyle" Target="../diagrams/quickStyle1.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image" Target="../media/image2.png"/><Relationship Id="rId4" Type="http://schemas.microsoft.com/office/2007/relationships/hdphoto" Target="../media/hdphoto1.wdp"/><Relationship Id="rId9" Type="http://schemas.microsoft.com/office/2007/relationships/diagramDrawing" Target="../diagrams/drawing1.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1.png"/><Relationship Id="rId7" Type="http://schemas.openxmlformats.org/officeDocument/2006/relationships/diagramQuickStyle" Target="../diagrams/quickStyle2.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Layout" Target="../diagrams/layout2.xml"/><Relationship Id="rId5" Type="http://schemas.openxmlformats.org/officeDocument/2006/relationships/diagramData" Target="../diagrams/data2.xml"/><Relationship Id="rId10" Type="http://schemas.openxmlformats.org/officeDocument/2006/relationships/image" Target="../media/image2.png"/><Relationship Id="rId4" Type="http://schemas.microsoft.com/office/2007/relationships/hdphoto" Target="../media/hdphoto1.wdp"/><Relationship Id="rId9" Type="http://schemas.microsoft.com/office/2007/relationships/diagramDrawing" Target="../diagrams/drawing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porelojodelacerradura.blogspot.com/2004/12/campana-de-gauss.html"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3.jpg"/><Relationship Id="rId5" Type="http://schemas.openxmlformats.org/officeDocument/2006/relationships/image" Target="../media/image2.png"/><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package" Target="../embeddings/Microsoft_Visio_Drawing.vsdx"/><Relationship Id="rId7"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package" Target="../embeddings/Microsoft_Visio_Drawing1.vsdx"/><Relationship Id="rId4" Type="http://schemas.openxmlformats.org/officeDocument/2006/relationships/image" Target="../media/image4.emf"/><Relationship Id="rId9" Type="http://schemas.openxmlformats.org/officeDocument/2006/relationships/image" Target="../media/image2.png"/></Relationships>
</file>

<file path=ppt/slides/_rels/slide20.xml.rels><?xml version="1.0" encoding="UTF-8" standalone="yes"?>
<Relationships xmlns="http://schemas.openxmlformats.org/package/2006/relationships"><Relationship Id="rId8" Type="http://schemas.openxmlformats.org/officeDocument/2006/relationships/package" Target="../embeddings/Microsoft_Visio_Drawing11.vsdx"/><Relationship Id="rId3" Type="http://schemas.openxmlformats.org/officeDocument/2006/relationships/image" Target="../media/image1.png"/><Relationship Id="rId7" Type="http://schemas.openxmlformats.org/officeDocument/2006/relationships/image" Target="../media/image6.emf"/><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package" Target="../embeddings/Microsoft_Visio_Drawing2.vsdx"/><Relationship Id="rId5" Type="http://schemas.openxmlformats.org/officeDocument/2006/relationships/image" Target="../media/image2.png"/><Relationship Id="rId4" Type="http://schemas.microsoft.com/office/2007/relationships/hdphoto" Target="../media/hdphoto1.wdp"/><Relationship Id="rId9" Type="http://schemas.openxmlformats.org/officeDocument/2006/relationships/image" Target="../media/image5.emf"/></Relationships>
</file>

<file path=ppt/slides/_rels/slide2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package" Target="../embeddings/Microsoft_Visio_Drawing4.vsdx"/><Relationship Id="rId7"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8.emf"/><Relationship Id="rId5" Type="http://schemas.openxmlformats.org/officeDocument/2006/relationships/package" Target="../embeddings/Microsoft_Visio_Drawing5.vsdx"/><Relationship Id="rId4" Type="http://schemas.openxmlformats.org/officeDocument/2006/relationships/image" Target="../media/image7.emf"/><Relationship Id="rId9" Type="http://schemas.openxmlformats.org/officeDocument/2006/relationships/image" Target="../media/image2.png"/></Relationships>
</file>

<file path=ppt/slides/_rels/slide22.xml.rels><?xml version="1.0" encoding="UTF-8" standalone="yes"?>
<Relationships xmlns="http://schemas.openxmlformats.org/package/2006/relationships"><Relationship Id="rId8" Type="http://schemas.openxmlformats.org/officeDocument/2006/relationships/package" Target="../embeddings/Microsoft_Visio_Drawing53.vsdx"/><Relationship Id="rId3" Type="http://schemas.openxmlformats.org/officeDocument/2006/relationships/image" Target="../media/image1.png"/><Relationship Id="rId7" Type="http://schemas.openxmlformats.org/officeDocument/2006/relationships/image" Target="../media/image6.emf"/><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package" Target="../embeddings/Microsoft_Visio_Drawing22.vsdx"/><Relationship Id="rId5" Type="http://schemas.openxmlformats.org/officeDocument/2006/relationships/image" Target="../media/image2.png"/><Relationship Id="rId4" Type="http://schemas.microsoft.com/office/2007/relationships/hdphoto" Target="../media/hdphoto1.wdp"/><Relationship Id="rId9" Type="http://schemas.openxmlformats.org/officeDocument/2006/relationships/image" Target="../media/image8.emf"/></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hyperlink" Target="https://youtu.be/MJqJAb1UOu8" TargetMode="External"/><Relationship Id="rId5" Type="http://schemas.openxmlformats.org/officeDocument/2006/relationships/image" Target="../media/image2.png"/><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2.png"/><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3.xml"/><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8" Type="http://schemas.openxmlformats.org/officeDocument/2006/relationships/diagramQuickStyle" Target="../diagrams/quickStyle3.xml"/><Relationship Id="rId3" Type="http://schemas.openxmlformats.org/officeDocument/2006/relationships/image" Target="../media/image1.png"/><Relationship Id="rId7" Type="http://schemas.openxmlformats.org/officeDocument/2006/relationships/diagramLayout" Target="../diagrams/layout3.xml"/><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diagramData" Target="../diagrams/data3.xml"/><Relationship Id="rId5" Type="http://schemas.openxmlformats.org/officeDocument/2006/relationships/image" Target="../media/image2.png"/><Relationship Id="rId10" Type="http://schemas.microsoft.com/office/2007/relationships/diagramDrawing" Target="../diagrams/drawing3.xml"/><Relationship Id="rId4" Type="http://schemas.microsoft.com/office/2007/relationships/hdphoto" Target="../media/hdphoto1.wdp"/><Relationship Id="rId9" Type="http://schemas.openxmlformats.org/officeDocument/2006/relationships/diagramColors" Target="../diagrams/colors3.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hyperlink" Target="https://youtu.be/5eIOz1LA-F8" TargetMode="External"/><Relationship Id="rId5" Type="http://schemas.openxmlformats.org/officeDocument/2006/relationships/image" Target="../media/image2.png"/><Relationship Id="rId4" Type="http://schemas.microsoft.com/office/2007/relationships/hdphoto" Target="../media/hdphoto1.wdp"/></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2.png"/><Relationship Id="rId4" Type="http://schemas.microsoft.com/office/2007/relationships/hdphoto" Target="../media/hdphoto1.wdp"/></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hyperlink" Target="https://youtu.be/rDdOzFml7zU" TargetMode="External"/><Relationship Id="rId5" Type="http://schemas.openxmlformats.org/officeDocument/2006/relationships/image" Target="../media/image2.png"/><Relationship Id="rId4" Type="http://schemas.microsoft.com/office/2007/relationships/hdphoto" Target="../media/hdphoto1.wdp"/></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3.xml"/><Relationship Id="rId4" Type="http://schemas.microsoft.com/office/2007/relationships/hdphoto" Target="../media/hdphoto1.wdp"/></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35.xml.rels><?xml version="1.0" encoding="UTF-8" standalone="yes"?>
<Relationships xmlns="http://schemas.openxmlformats.org/package/2006/relationships"><Relationship Id="rId8" Type="http://schemas.openxmlformats.org/officeDocument/2006/relationships/hyperlink" Target="https://www.questionpro.com/blog/es/margen-de-error-que-es-y-como-se-calcula/#:~:text=En%20t%C3%A9rminos%20estad%C3%ADsticos%20el%20margen,en%20la%20encuesta%20o%20investigaci%C3%B3n." TargetMode="External"/><Relationship Id="rId3" Type="http://schemas.openxmlformats.org/officeDocument/2006/relationships/image" Target="../media/image1.png"/><Relationship Id="rId7" Type="http://schemas.openxmlformats.org/officeDocument/2006/relationships/hyperlink" Target="https://support.minitab.com/es-mx/minitab/18/help-and-how-to/statistics/basic-statistics/supporting-topics/basics/what-is-a-confidence-level/" TargetMode="External"/><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2.png"/><Relationship Id="rId4" Type="http://schemas.microsoft.com/office/2007/relationships/hdphoto" Target="../media/hdphoto1.wdp"/></Relationships>
</file>

<file path=ppt/slides/_rels/slide36.xml.rels><?xml version="1.0" encoding="UTF-8" standalone="yes"?>
<Relationships xmlns="http://schemas.openxmlformats.org/package/2006/relationships"><Relationship Id="rId8" Type="http://schemas.openxmlformats.org/officeDocument/2006/relationships/package" Target="../embeddings/Microsoft_Excel_Worksheet.xlsx"/><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2.png"/><Relationship Id="rId10" Type="http://schemas.openxmlformats.org/officeDocument/2006/relationships/image" Target="../media/image15.png"/><Relationship Id="rId4" Type="http://schemas.microsoft.com/office/2007/relationships/hdphoto" Target="../media/hdphoto1.wdp"/><Relationship Id="rId9" Type="http://schemas.openxmlformats.org/officeDocument/2006/relationships/image" Target="../media/image14.emf"/></Relationships>
</file>

<file path=ppt/slides/_rels/slide3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2.png"/><Relationship Id="rId4" Type="http://schemas.microsoft.com/office/2007/relationships/hdphoto" Target="../media/hdphoto1.wdp"/></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15.emf"/><Relationship Id="rId5" Type="http://schemas.openxmlformats.org/officeDocument/2006/relationships/image" Target="../media/image2.png"/><Relationship Id="rId4" Type="http://schemas.microsoft.com/office/2007/relationships/hdphoto" Target="../media/hdphoto1.wdp"/></Relationships>
</file>

<file path=ppt/slides/_rels/slide40.xml.rels><?xml version="1.0" encoding="UTF-8" standalone="yes"?>
<Relationships xmlns="http://schemas.openxmlformats.org/package/2006/relationships"><Relationship Id="rId8" Type="http://schemas.openxmlformats.org/officeDocument/2006/relationships/package" Target="../embeddings/Microsoft_Excel_Worksheet4.xlsx"/><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 Id="rId9" Type="http://schemas.openxmlformats.org/officeDocument/2006/relationships/image" Target="../media/image16.emf"/></Relationships>
</file>

<file path=ppt/slides/_rels/slide4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2.png"/><Relationship Id="rId5" Type="http://schemas.microsoft.com/office/2007/relationships/hdphoto" Target="../media/hdphoto1.wdp"/><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image" Target="../media/image2.png"/><Relationship Id="rId5" Type="http://schemas.microsoft.com/office/2007/relationships/hdphoto" Target="../media/hdphoto1.wdp"/><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3.xml"/><Relationship Id="rId4" Type="http://schemas.microsoft.com/office/2007/relationships/hdphoto" Target="../media/hdphoto1.wdp"/></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47.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1.png"/><Relationship Id="rId7" Type="http://schemas.openxmlformats.org/officeDocument/2006/relationships/diagramQuickStyle" Target="../diagrams/quickStyle4.xml"/><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diagramLayout" Target="../diagrams/layout4.xml"/><Relationship Id="rId5" Type="http://schemas.openxmlformats.org/officeDocument/2006/relationships/diagramData" Target="../diagrams/data4.xml"/><Relationship Id="rId10" Type="http://schemas.openxmlformats.org/officeDocument/2006/relationships/image" Target="../media/image2.png"/><Relationship Id="rId4" Type="http://schemas.microsoft.com/office/2007/relationships/hdphoto" Target="../media/hdphoto1.wdp"/><Relationship Id="rId9" Type="http://schemas.microsoft.com/office/2007/relationships/diagramDrawing" Target="../diagrams/drawing4.xml"/></Relationships>
</file>

<file path=ppt/slides/_rels/slide4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package" Target="../embeddings/Microsoft_Excel_Worksheet5.xlsx"/><Relationship Id="rId1" Type="http://schemas.openxmlformats.org/officeDocument/2006/relationships/slideLayout" Target="../slideLayouts/slideLayout2.xml"/><Relationship Id="rId6" Type="http://schemas.openxmlformats.org/officeDocument/2006/relationships/image" Target="../media/image2.png"/><Relationship Id="rId5" Type="http://schemas.microsoft.com/office/2007/relationships/hdphoto" Target="../media/hdphoto1.wdp"/><Relationship Id="rId4" Type="http://schemas.openxmlformats.org/officeDocument/2006/relationships/image" Target="../media/image1.png"/></Relationships>
</file>

<file path=ppt/slides/_rels/slide4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package" Target="../embeddings/Microsoft_Excel_Worksheet6.xlsx"/><Relationship Id="rId1" Type="http://schemas.openxmlformats.org/officeDocument/2006/relationships/slideLayout" Target="../slideLayouts/slideLayout2.xml"/><Relationship Id="rId6" Type="http://schemas.openxmlformats.org/officeDocument/2006/relationships/image" Target="../media/image2.png"/><Relationship Id="rId5" Type="http://schemas.microsoft.com/office/2007/relationships/hdphoto" Target="../media/hdphoto1.wdp"/><Relationship Id="rId4" Type="http://schemas.openxmlformats.org/officeDocument/2006/relationships/image" Target="../media/image1.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2.png"/><Relationship Id="rId4" Type="http://schemas.microsoft.com/office/2007/relationships/hdphoto" Target="../media/hdphoto1.wdp"/></Relationships>
</file>

<file path=ppt/slides/_rels/slide5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45.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2.png"/><Relationship Id="rId4" Type="http://schemas.microsoft.com/office/2007/relationships/hdphoto" Target="../media/hdphoto1.wdp"/></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emf"/><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package" Target="../embeddings/Microsoft_Excel_Worksheet7.xlsx"/><Relationship Id="rId5" Type="http://schemas.openxmlformats.org/officeDocument/2006/relationships/image" Target="../media/image2.png"/><Relationship Id="rId4" Type="http://schemas.microsoft.com/office/2007/relationships/hdphoto" Target="../media/hdphoto1.wdp"/></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png"/><Relationship Id="rId4" Type="http://schemas.microsoft.com/office/2007/relationships/hdphoto" Target="../media/hdphoto1.wdp"/></Relationships>
</file>

<file path=ppt/slides/_rels/slide54.xml.rels><?xml version="1.0" encoding="UTF-8" standalone="yes"?>
<Relationships xmlns="http://schemas.openxmlformats.org/package/2006/relationships"><Relationship Id="rId8" Type="http://schemas.openxmlformats.org/officeDocument/2006/relationships/package" Target="../embeddings/Microsoft_Excel_Worksheet8.xlsx"/><Relationship Id="rId3" Type="http://schemas.openxmlformats.org/officeDocument/2006/relationships/image" Target="../media/image1.png"/><Relationship Id="rId7" Type="http://schemas.openxmlformats.org/officeDocument/2006/relationships/image" Target="../media/image31.png"/><Relationship Id="rId2" Type="http://schemas.openxmlformats.org/officeDocument/2006/relationships/notesSlide" Target="../notesSlides/notesSlide48.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 Id="rId9" Type="http://schemas.openxmlformats.org/officeDocument/2006/relationships/image" Target="../media/image20.emf"/></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3.xml"/><Relationship Id="rId4" Type="http://schemas.microsoft.com/office/2007/relationships/hdphoto" Target="../media/hdphoto1.wdp"/></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1.emf"/><Relationship Id="rId2" Type="http://schemas.openxmlformats.org/officeDocument/2006/relationships/notesSlide" Target="../notesSlides/notesSlide51.xml"/><Relationship Id="rId1" Type="http://schemas.openxmlformats.org/officeDocument/2006/relationships/slideLayout" Target="../slideLayouts/slideLayout7.xml"/><Relationship Id="rId6" Type="http://schemas.openxmlformats.org/officeDocument/2006/relationships/package" Target="../embeddings/Microsoft_Visio_Drawing13.vsdx"/><Relationship Id="rId5" Type="http://schemas.openxmlformats.org/officeDocument/2006/relationships/image" Target="../media/image2.png"/><Relationship Id="rId4" Type="http://schemas.microsoft.com/office/2007/relationships/hdphoto" Target="../media/hdphoto1.wdp"/></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1.emf"/><Relationship Id="rId2" Type="http://schemas.openxmlformats.org/officeDocument/2006/relationships/notesSlide" Target="../notesSlides/notesSlide52.xml"/><Relationship Id="rId1" Type="http://schemas.openxmlformats.org/officeDocument/2006/relationships/slideLayout" Target="../slideLayouts/slideLayout7.xml"/><Relationship Id="rId6" Type="http://schemas.openxmlformats.org/officeDocument/2006/relationships/package" Target="../embeddings/Microsoft_Visio_Drawing139.vsdx"/><Relationship Id="rId5" Type="http://schemas.openxmlformats.org/officeDocument/2006/relationships/image" Target="../media/image2.png"/><Relationship Id="rId4" Type="http://schemas.microsoft.com/office/2007/relationships/hdphoto" Target="../media/hdphoto1.wdp"/></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2.emf"/><Relationship Id="rId2" Type="http://schemas.openxmlformats.org/officeDocument/2006/relationships/notesSlide" Target="../notesSlides/notesSlide54.xml"/><Relationship Id="rId1" Type="http://schemas.openxmlformats.org/officeDocument/2006/relationships/slideLayout" Target="../slideLayouts/slideLayout7.xml"/><Relationship Id="rId6" Type="http://schemas.openxmlformats.org/officeDocument/2006/relationships/package" Target="../embeddings/Microsoft_Excel_Worksheet10.xlsx"/><Relationship Id="rId5" Type="http://schemas.openxmlformats.org/officeDocument/2006/relationships/image" Target="../media/image2.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6B8A8C82-E2E2-914F-845A-D974D127E7F7}"/>
              </a:ext>
            </a:extLst>
          </p:cNvPr>
          <p:cNvSpPr>
            <a:spLocks noGrp="1"/>
          </p:cNvSpPr>
          <p:nvPr>
            <p:ph type="sldNum" sz="quarter" idx="12"/>
          </p:nvPr>
        </p:nvSpPr>
        <p:spPr/>
        <p:txBody>
          <a:bodyPr/>
          <a:lstStyle/>
          <a:p>
            <a:fld id="{CE14F34A-BFEE-3F4F-9931-32C7D0CB2CAC}" type="slidenum">
              <a:rPr lang="es-ES_tradnl" smtClean="0"/>
              <a:t>1</a:t>
            </a:fld>
            <a:endParaRPr lang="es-ES_tradnl" dirty="0"/>
          </a:p>
        </p:txBody>
      </p:sp>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6096001" y="251894"/>
            <a:ext cx="3934281" cy="1360093"/>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3E8521C9-F953-41E6-9D2C-8BABEB06BA17}"/>
              </a:ext>
            </a:extLst>
          </p:cNvPr>
          <p:cNvSpPr/>
          <p:nvPr/>
        </p:nvSpPr>
        <p:spPr>
          <a:xfrm>
            <a:off x="1949986" y="393330"/>
            <a:ext cx="4146015" cy="1200329"/>
          </a:xfrm>
          <a:prstGeom prst="rect">
            <a:avLst/>
          </a:prstGeom>
          <a:noFill/>
        </p:spPr>
        <p:txBody>
          <a:bodyPr wrap="square" lIns="91440" tIns="45720" rIns="91440" bIns="45720">
            <a:spAutoFit/>
          </a:bodyPr>
          <a:lstStyle/>
          <a:p>
            <a:pPr algn="r"/>
            <a:r>
              <a:rPr lang="es-ES" sz="3600" dirty="0">
                <a:ln w="0"/>
                <a:solidFill>
                  <a:schemeClr val="accent1"/>
                </a:solidFill>
                <a:effectLst>
                  <a:outerShdw blurRad="38100" dist="25400" dir="5400000" algn="ctr" rotWithShape="0">
                    <a:srgbClr val="6E747A">
                      <a:alpha val="43000"/>
                    </a:srgbClr>
                  </a:outerShdw>
                </a:effectLst>
              </a:rPr>
              <a:t>ESTUDIO DEL TRABAJO</a:t>
            </a:r>
          </a:p>
        </p:txBody>
      </p:sp>
      <p:sp>
        <p:nvSpPr>
          <p:cNvPr id="12" name="CuadroTexto 11">
            <a:extLst>
              <a:ext uri="{FF2B5EF4-FFF2-40B4-BE49-F238E27FC236}">
                <a16:creationId xmlns:a16="http://schemas.microsoft.com/office/drawing/2014/main" id="{0E9789E9-EE75-4BC8-B70E-551CB8B94DCA}"/>
              </a:ext>
            </a:extLst>
          </p:cNvPr>
          <p:cNvSpPr txBox="1"/>
          <p:nvPr/>
        </p:nvSpPr>
        <p:spPr>
          <a:xfrm>
            <a:off x="1846579" y="2459504"/>
            <a:ext cx="8337816" cy="212365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AR" sz="6600" dirty="0"/>
              <a:t>Tiempos cronometrados</a:t>
            </a:r>
            <a:endParaRPr lang="es-AR" sz="4400" dirty="0"/>
          </a:p>
        </p:txBody>
      </p:sp>
      <p:sp>
        <p:nvSpPr>
          <p:cNvPr id="15" name="Rectángulo 14">
            <a:extLst>
              <a:ext uri="{FF2B5EF4-FFF2-40B4-BE49-F238E27FC236}">
                <a16:creationId xmlns:a16="http://schemas.microsoft.com/office/drawing/2014/main" id="{F221ED2C-2B50-478A-B548-422EFF3FCCCC}"/>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pic>
        <p:nvPicPr>
          <p:cNvPr id="7" name="Imagen 6">
            <a:extLst>
              <a:ext uri="{FF2B5EF4-FFF2-40B4-BE49-F238E27FC236}">
                <a16:creationId xmlns:a16="http://schemas.microsoft.com/office/drawing/2014/main" id="{510E8483-DA22-4BC9-AB54-68C129D7D905}"/>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spTree>
    <p:extLst>
      <p:ext uri="{BB962C8B-B14F-4D97-AF65-F5344CB8AC3E}">
        <p14:creationId xmlns:p14="http://schemas.microsoft.com/office/powerpoint/2010/main" val="31994897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Tiempos cronometrados</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3" name="Rectángulo 2">
            <a:extLst>
              <a:ext uri="{FF2B5EF4-FFF2-40B4-BE49-F238E27FC236}">
                <a16:creationId xmlns:a16="http://schemas.microsoft.com/office/drawing/2014/main" id="{176BC8D8-0438-4F0F-96E2-76660DB4AC40}"/>
              </a:ext>
            </a:extLst>
          </p:cNvPr>
          <p:cNvSpPr/>
          <p:nvPr/>
        </p:nvSpPr>
        <p:spPr>
          <a:xfrm>
            <a:off x="1056000" y="1715135"/>
            <a:ext cx="10080000" cy="342773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AR" sz="3200" b="0" i="0" u="none" strike="noStrike" kern="1200" cap="none" spc="0" normalizeH="0" baseline="0" noProof="0" dirty="0">
                <a:ln>
                  <a:noFill/>
                </a:ln>
                <a:solidFill>
                  <a:prstClr val="white"/>
                </a:solidFill>
                <a:effectLst/>
                <a:uLnTx/>
                <a:uFillTx/>
                <a:latin typeface="Rockwell" panose="02060603020205020403"/>
                <a:ea typeface="+mn-ea"/>
                <a:cs typeface="+mn-cs"/>
              </a:rPr>
              <a:t>La MEDICIÓN DEL TRABAJO es la aplicación de técnicas para determinar el tiempo que invierte un </a:t>
            </a:r>
            <a:r>
              <a:rPr kumimoji="0" lang="es-AR" sz="3200" b="1" u="none" strike="noStrike" kern="1200" cap="none" spc="0" normalizeH="0" baseline="0" noProof="0" dirty="0">
                <a:ln>
                  <a:noFill/>
                </a:ln>
                <a:solidFill>
                  <a:prstClr val="white"/>
                </a:solidFill>
                <a:effectLst/>
                <a:uLnTx/>
                <a:uFillTx/>
                <a:latin typeface="Rockwell" panose="02060603020205020403"/>
                <a:ea typeface="+mn-ea"/>
                <a:cs typeface="+mn-cs"/>
              </a:rPr>
              <a:t>TRABAJADOR CALIFICADO </a:t>
            </a:r>
            <a:r>
              <a:rPr kumimoji="0" lang="es-AR" sz="3200" b="0" i="0" u="none" strike="noStrike" kern="1200" cap="none" spc="0" normalizeH="0" baseline="0" noProof="0" dirty="0">
                <a:ln>
                  <a:noFill/>
                </a:ln>
                <a:solidFill>
                  <a:prstClr val="white"/>
                </a:solidFill>
                <a:effectLst/>
                <a:uLnTx/>
                <a:uFillTx/>
                <a:latin typeface="Rockwell" panose="02060603020205020403"/>
                <a:ea typeface="+mn-ea"/>
                <a:cs typeface="+mn-cs"/>
              </a:rPr>
              <a:t>en llevar a cabo una actividad definida, efectuándola según una norma de ejecución preestablecida.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s-AR" sz="3200" b="0" i="0" u="none" strike="noStrike" kern="1200" cap="none" spc="0" normalizeH="0" baseline="0" noProof="0" dirty="0">
                <a:ln>
                  <a:noFill/>
                </a:ln>
                <a:solidFill>
                  <a:prstClr val="white"/>
                </a:solidFill>
                <a:effectLst/>
                <a:uLnTx/>
                <a:uFillTx/>
                <a:latin typeface="Rockwell" panose="02060603020205020403"/>
                <a:ea typeface="+mn-ea"/>
                <a:cs typeface="+mn-cs"/>
              </a:rPr>
              <a:t>Instituto Británico de Normas</a:t>
            </a:r>
            <a:endParaRPr lang="es-AR" sz="2400" i="1" dirty="0"/>
          </a:p>
        </p:txBody>
      </p:sp>
    </p:spTree>
    <p:extLst>
      <p:ext uri="{BB962C8B-B14F-4D97-AF65-F5344CB8AC3E}">
        <p14:creationId xmlns:p14="http://schemas.microsoft.com/office/powerpoint/2010/main" val="7232668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Tiempos cronometrados</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3" name="Rectángulo 2">
            <a:extLst>
              <a:ext uri="{FF2B5EF4-FFF2-40B4-BE49-F238E27FC236}">
                <a16:creationId xmlns:a16="http://schemas.microsoft.com/office/drawing/2014/main" id="{176BC8D8-0438-4F0F-96E2-76660DB4AC40}"/>
              </a:ext>
            </a:extLst>
          </p:cNvPr>
          <p:cNvSpPr/>
          <p:nvPr/>
        </p:nvSpPr>
        <p:spPr>
          <a:xfrm>
            <a:off x="1056000" y="1418244"/>
            <a:ext cx="10080000" cy="40215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MX" sz="3200" dirty="0"/>
              <a:t>El Estudio de Tiempos es una técnica de medición del trabajo empleada para registrar los tiempos y ritmos de trabajo correspondientes a los elementos de una tarea definida, efectuada en condiciones determinadas y para analizar los datos a fin de averiguar el TIEMPO REQUERIDO para efectuar la tarea según una norma de ejecución preestablecida.</a:t>
            </a:r>
            <a:endParaRPr lang="es-AR" sz="3200" dirty="0"/>
          </a:p>
        </p:txBody>
      </p:sp>
    </p:spTree>
    <p:extLst>
      <p:ext uri="{BB962C8B-B14F-4D97-AF65-F5344CB8AC3E}">
        <p14:creationId xmlns:p14="http://schemas.microsoft.com/office/powerpoint/2010/main" val="53945335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Tiempos cronometrados</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3" name="Rectángulo 2">
            <a:extLst>
              <a:ext uri="{FF2B5EF4-FFF2-40B4-BE49-F238E27FC236}">
                <a16:creationId xmlns:a16="http://schemas.microsoft.com/office/drawing/2014/main" id="{176BC8D8-0438-4F0F-96E2-76660DB4AC40}"/>
              </a:ext>
            </a:extLst>
          </p:cNvPr>
          <p:cNvSpPr/>
          <p:nvPr/>
        </p:nvSpPr>
        <p:spPr>
          <a:xfrm>
            <a:off x="1056000" y="1412171"/>
            <a:ext cx="10080000" cy="403365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3200" dirty="0"/>
              <a:t>El procedimiento técnico para calcular el tiempo de ejecución de una tarea consiste en determinar el llamado TIEMPO TOTAL ASIGNADO, que es el tiempo que necesita un trabajador calificado y motivado para realizar la tarea tomándose los descansos correspondientes, para recuperarse de la fatiga y para sus necesidades personales. </a:t>
            </a:r>
          </a:p>
        </p:txBody>
      </p:sp>
    </p:spTree>
    <p:extLst>
      <p:ext uri="{BB962C8B-B14F-4D97-AF65-F5344CB8AC3E}">
        <p14:creationId xmlns:p14="http://schemas.microsoft.com/office/powerpoint/2010/main" val="24241661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C8CD620-2EBA-4D3E-BD52-C8D663F64F07}"/>
              </a:ext>
            </a:extLst>
          </p:cNvPr>
          <p:cNvSpPr>
            <a:spLocks noGrp="1"/>
          </p:cNvSpPr>
          <p:nvPr>
            <p:ph type="sldNum" sz="quarter" idx="12"/>
          </p:nvPr>
        </p:nvSpPr>
        <p:spPr/>
        <p:txBody>
          <a:bodyPr/>
          <a:lstStyle/>
          <a:p>
            <a:fld id="{CE14F34A-BFEE-3F4F-9931-32C7D0CB2CAC}" type="slidenum">
              <a:rPr lang="es-ES_tradnl" smtClean="0"/>
              <a:t>5</a:t>
            </a:fld>
            <a:endParaRPr lang="es-ES_tradnl"/>
          </a:p>
        </p:txBody>
      </p:sp>
      <p:sp>
        <p:nvSpPr>
          <p:cNvPr id="5" name="Marcador de número de diapositiva 5">
            <a:extLst>
              <a:ext uri="{FF2B5EF4-FFF2-40B4-BE49-F238E27FC236}">
                <a16:creationId xmlns:a16="http://schemas.microsoft.com/office/drawing/2014/main" id="{43FF463A-8C5C-4715-A993-55B59B879D6B}"/>
              </a:ext>
            </a:extLst>
          </p:cNvPr>
          <p:cNvSpPr txBox="1">
            <a:spLocks/>
          </p:cNvSpPr>
          <p:nvPr/>
        </p:nvSpPr>
        <p:spPr>
          <a:xfrm>
            <a:off x="8969943" y="6356352"/>
            <a:ext cx="2743200" cy="365125"/>
          </a:xfrm>
          <a:prstGeom prst="rect">
            <a:avLst/>
          </a:prstGeom>
        </p:spPr>
        <p:txBody>
          <a:bodyPr vert="horz" lIns="91440" tIns="45720" rIns="91440" bIns="45720" rtlCol="0" anchor="ctr"/>
          <a:lstStyle>
            <a:defPPr>
              <a:defRPr lang="es-AR"/>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E14F34A-BFEE-3F4F-9931-32C7D0CB2CAC}" type="slidenum">
              <a:rPr lang="es-ES_tradnl" smtClean="0"/>
              <a:pPr/>
              <a:t>5</a:t>
            </a:fld>
            <a:endParaRPr lang="es-ES_tradnl" dirty="0"/>
          </a:p>
        </p:txBody>
      </p:sp>
      <p:sp>
        <p:nvSpPr>
          <p:cNvPr id="8" name="CuadroTexto 7">
            <a:extLst>
              <a:ext uri="{FF2B5EF4-FFF2-40B4-BE49-F238E27FC236}">
                <a16:creationId xmlns:a16="http://schemas.microsoft.com/office/drawing/2014/main" id="{B4A44BA6-2CC3-4DC4-B311-A87CE6CFB891}"/>
              </a:ext>
            </a:extLst>
          </p:cNvPr>
          <p:cNvSpPr txBox="1"/>
          <p:nvPr/>
        </p:nvSpPr>
        <p:spPr>
          <a:xfrm>
            <a:off x="1701543" y="1839296"/>
            <a:ext cx="8640000" cy="82800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AR" sz="4400" dirty="0"/>
              <a:t>Procedimiento y definiciones</a:t>
            </a:r>
            <a:endParaRPr lang="es-AR" sz="2800" dirty="0"/>
          </a:p>
        </p:txBody>
      </p:sp>
      <p:sp>
        <p:nvSpPr>
          <p:cNvPr id="9" name="Rectángulo 8">
            <a:extLst>
              <a:ext uri="{FF2B5EF4-FFF2-40B4-BE49-F238E27FC236}">
                <a16:creationId xmlns:a16="http://schemas.microsoft.com/office/drawing/2014/main" id="{7D88A465-654E-4B59-8AF3-93EA53AC5CE4}"/>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pic>
        <p:nvPicPr>
          <p:cNvPr id="10" name="Imagen 9">
            <a:extLst>
              <a:ext uri="{FF2B5EF4-FFF2-40B4-BE49-F238E27FC236}">
                <a16:creationId xmlns:a16="http://schemas.microsoft.com/office/drawing/2014/main" id="{98F84D2A-5A34-4B91-8D81-DED7815BD234}"/>
              </a:ext>
            </a:extLst>
          </p:cNvPr>
          <p:cNvPicPr>
            <a:picLocks noChangeAspect="1"/>
          </p:cNvPicPr>
          <p:nvPr/>
        </p:nvPicPr>
        <p:blipFill rotWithShape="1">
          <a:blip r:embed="rId2">
            <a:alphaModFix amt="50000"/>
          </a:blip>
          <a:srcRect l="15693" t="31624" r="25546" b="30133"/>
          <a:stretch/>
        </p:blipFill>
        <p:spPr>
          <a:xfrm>
            <a:off x="11311846" y="6376358"/>
            <a:ext cx="880154" cy="477359"/>
          </a:xfrm>
          <a:prstGeom prst="rect">
            <a:avLst/>
          </a:prstGeom>
        </p:spPr>
      </p:pic>
      <p:grpSp>
        <p:nvGrpSpPr>
          <p:cNvPr id="11" name="Grupo 10">
            <a:extLst>
              <a:ext uri="{FF2B5EF4-FFF2-40B4-BE49-F238E27FC236}">
                <a16:creationId xmlns:a16="http://schemas.microsoft.com/office/drawing/2014/main" id="{9469D30D-7C31-4227-8BA8-628FD00D9DCD}"/>
              </a:ext>
            </a:extLst>
          </p:cNvPr>
          <p:cNvGrpSpPr/>
          <p:nvPr/>
        </p:nvGrpSpPr>
        <p:grpSpPr>
          <a:xfrm>
            <a:off x="0" y="4141"/>
            <a:ext cx="12192000" cy="6849718"/>
            <a:chOff x="0" y="4141"/>
            <a:chExt cx="12192000" cy="6849718"/>
          </a:xfrm>
        </p:grpSpPr>
        <p:grpSp>
          <p:nvGrpSpPr>
            <p:cNvPr id="12" name="Grupo 11">
              <a:extLst>
                <a:ext uri="{FF2B5EF4-FFF2-40B4-BE49-F238E27FC236}">
                  <a16:creationId xmlns:a16="http://schemas.microsoft.com/office/drawing/2014/main" id="{572EB0A4-A7B5-4FE7-9FA5-E64397F97F99}"/>
                </a:ext>
              </a:extLst>
            </p:cNvPr>
            <p:cNvGrpSpPr/>
            <p:nvPr/>
          </p:nvGrpSpPr>
          <p:grpSpPr>
            <a:xfrm>
              <a:off x="0" y="4141"/>
              <a:ext cx="12192000" cy="6849718"/>
              <a:chOff x="0" y="4141"/>
              <a:chExt cx="12192000" cy="6849718"/>
            </a:xfrm>
          </p:grpSpPr>
          <p:sp>
            <p:nvSpPr>
              <p:cNvPr id="14" name="Rectángulo 13">
                <a:extLst>
                  <a:ext uri="{FF2B5EF4-FFF2-40B4-BE49-F238E27FC236}">
                    <a16:creationId xmlns:a16="http://schemas.microsoft.com/office/drawing/2014/main" id="{BEDF9398-6224-4D9B-9CAA-1950A8DED444}"/>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15" name="Rectángulo 14">
                <a:extLst>
                  <a:ext uri="{FF2B5EF4-FFF2-40B4-BE49-F238E27FC236}">
                    <a16:creationId xmlns:a16="http://schemas.microsoft.com/office/drawing/2014/main" id="{7C697F25-AE48-4BEB-8D9A-FAF3116E68B3}"/>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16" name="Rectángulo 15">
                <a:extLst>
                  <a:ext uri="{FF2B5EF4-FFF2-40B4-BE49-F238E27FC236}">
                    <a16:creationId xmlns:a16="http://schemas.microsoft.com/office/drawing/2014/main" id="{6D0CFC36-12F2-42D6-B538-F6045F29D2A6}"/>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13" name="Imagen 12">
              <a:extLst>
                <a:ext uri="{FF2B5EF4-FFF2-40B4-BE49-F238E27FC236}">
                  <a16:creationId xmlns:a16="http://schemas.microsoft.com/office/drawing/2014/main" id="{8AF80697-4D19-4C3F-8D2E-169AA833643A}"/>
                </a:ext>
              </a:extLst>
            </p:cNvPr>
            <p:cNvPicPr>
              <a:picLocks noChangeAspect="1"/>
            </p:cNvPicPr>
            <p:nvPr/>
          </p:nvPicPr>
          <p:blipFill rotWithShape="1">
            <a:blip r:embed="rId2">
              <a:alphaModFix amt="50000"/>
            </a:blip>
            <a:srcRect l="15693" t="31624" r="25546" b="30133"/>
            <a:stretch/>
          </p:blipFill>
          <p:spPr>
            <a:xfrm>
              <a:off x="11311846" y="6376358"/>
              <a:ext cx="880154" cy="477359"/>
            </a:xfrm>
            <a:prstGeom prst="rect">
              <a:avLst/>
            </a:prstGeom>
          </p:spPr>
        </p:pic>
      </p:grpSp>
      <p:sp>
        <p:nvSpPr>
          <p:cNvPr id="2" name="Lágrima 1">
            <a:extLst>
              <a:ext uri="{FF2B5EF4-FFF2-40B4-BE49-F238E27FC236}">
                <a16:creationId xmlns:a16="http://schemas.microsoft.com/office/drawing/2014/main" id="{3D0A1A27-0DCB-424F-8E6E-4E96F38147FF}"/>
              </a:ext>
            </a:extLst>
          </p:cNvPr>
          <p:cNvSpPr/>
          <p:nvPr/>
        </p:nvSpPr>
        <p:spPr>
          <a:xfrm>
            <a:off x="571500" y="1839296"/>
            <a:ext cx="828000" cy="828000"/>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 name="CuadroTexto 2">
            <a:extLst>
              <a:ext uri="{FF2B5EF4-FFF2-40B4-BE49-F238E27FC236}">
                <a16:creationId xmlns:a16="http://schemas.microsoft.com/office/drawing/2014/main" id="{C4D35875-1ABA-4379-866C-6BC66621B8CB}"/>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Tiempos cronometrados</a:t>
            </a:r>
            <a:endParaRPr lang="es-AR" sz="2800" dirty="0">
              <a:solidFill>
                <a:schemeClr val="tx1">
                  <a:lumMod val="65000"/>
                  <a:lumOff val="35000"/>
                </a:schemeClr>
              </a:solidFill>
            </a:endParaRPr>
          </a:p>
        </p:txBody>
      </p:sp>
      <p:pic>
        <p:nvPicPr>
          <p:cNvPr id="19" name="Picture 4" descr="Resultado de imagen para utn ba">
            <a:extLst>
              <a:ext uri="{FF2B5EF4-FFF2-40B4-BE49-F238E27FC236}">
                <a16:creationId xmlns:a16="http://schemas.microsoft.com/office/drawing/2014/main" id="{C451A1F0-9751-4DF2-B66B-068ECAA5975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660274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Diagrama 2">
            <a:extLst>
              <a:ext uri="{FF2B5EF4-FFF2-40B4-BE49-F238E27FC236}">
                <a16:creationId xmlns:a16="http://schemas.microsoft.com/office/drawing/2014/main" id="{EFECAABD-F3CF-45E4-9AC9-FDC344CC240A}"/>
              </a:ext>
            </a:extLst>
          </p:cNvPr>
          <p:cNvGraphicFramePr/>
          <p:nvPr/>
        </p:nvGraphicFramePr>
        <p:xfrm>
          <a:off x="176270" y="1447085"/>
          <a:ext cx="2075863" cy="401107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5" name="CuadroTexto 14">
            <a:extLst>
              <a:ext uri="{FF2B5EF4-FFF2-40B4-BE49-F238E27FC236}">
                <a16:creationId xmlns:a16="http://schemas.microsoft.com/office/drawing/2014/main" id="{52FAE8BC-92CA-414B-85FC-3F8C51F0B101}"/>
              </a:ext>
            </a:extLst>
          </p:cNvPr>
          <p:cNvSpPr txBox="1"/>
          <p:nvPr/>
        </p:nvSpPr>
        <p:spPr>
          <a:xfrm>
            <a:off x="3162210" y="3713842"/>
            <a:ext cx="8398836" cy="830997"/>
          </a:xfrm>
          <a:prstGeom prst="rect">
            <a:avLst/>
          </a:prstGeom>
          <a:noFill/>
        </p:spPr>
        <p:txBody>
          <a:bodyPr wrap="square" rtlCol="0" anchor="ctr" anchorCtr="0">
            <a:spAutoFit/>
          </a:bodyPr>
          <a:lstStyle/>
          <a:p>
            <a:pPr>
              <a:spcAft>
                <a:spcPts val="1200"/>
              </a:spcAft>
            </a:pPr>
            <a:r>
              <a:rPr lang="es-AR" sz="2000" dirty="0"/>
              <a:t>Examinar una descripción para </a:t>
            </a:r>
            <a:r>
              <a:rPr lang="es-AR" sz="2800" dirty="0"/>
              <a:t>verificar</a:t>
            </a:r>
            <a:r>
              <a:rPr lang="es-AR" dirty="0"/>
              <a:t> </a:t>
            </a:r>
            <a:r>
              <a:rPr lang="es-AR" sz="2000" dirty="0"/>
              <a:t>que se están utilizando los mejores métodos de trabajo. </a:t>
            </a:r>
            <a:endParaRPr lang="es-AR" dirty="0"/>
          </a:p>
        </p:txBody>
      </p:sp>
      <p:sp>
        <p:nvSpPr>
          <p:cNvPr id="17" name="CuadroTexto 16">
            <a:extLst>
              <a:ext uri="{FF2B5EF4-FFF2-40B4-BE49-F238E27FC236}">
                <a16:creationId xmlns:a16="http://schemas.microsoft.com/office/drawing/2014/main" id="{8B9B3C27-19A2-4CCC-BDF2-F1706B7D6F9F}"/>
              </a:ext>
            </a:extLst>
          </p:cNvPr>
          <p:cNvSpPr txBox="1"/>
          <p:nvPr/>
        </p:nvSpPr>
        <p:spPr>
          <a:xfrm>
            <a:off x="3141226" y="872094"/>
            <a:ext cx="8398837" cy="1138773"/>
          </a:xfrm>
          <a:prstGeom prst="rect">
            <a:avLst/>
          </a:prstGeom>
          <a:noFill/>
        </p:spPr>
        <p:txBody>
          <a:bodyPr wrap="square" rtlCol="0" anchor="ctr" anchorCtr="0">
            <a:spAutoFit/>
          </a:bodyPr>
          <a:lstStyle/>
          <a:p>
            <a:pPr>
              <a:spcAft>
                <a:spcPts val="1200"/>
              </a:spcAft>
            </a:pPr>
            <a:r>
              <a:rPr lang="es-AR" sz="2000" dirty="0"/>
              <a:t>Obtener y registrar toda la </a:t>
            </a:r>
            <a:r>
              <a:rPr lang="es-AR" sz="2800" dirty="0"/>
              <a:t>información</a:t>
            </a:r>
            <a:r>
              <a:rPr lang="es-AR" sz="1600" dirty="0"/>
              <a:t> </a:t>
            </a:r>
            <a:r>
              <a:rPr lang="es-AR" sz="2000" dirty="0"/>
              <a:t>acerca de la tarea del operario y de las condiciones que puedan influir en la ejecución del trabajo.</a:t>
            </a:r>
            <a:endParaRPr lang="es-AR" sz="4400" dirty="0"/>
          </a:p>
        </p:txBody>
      </p:sp>
      <p:sp>
        <p:nvSpPr>
          <p:cNvPr id="18" name="CuadroTexto 17">
            <a:extLst>
              <a:ext uri="{FF2B5EF4-FFF2-40B4-BE49-F238E27FC236}">
                <a16:creationId xmlns:a16="http://schemas.microsoft.com/office/drawing/2014/main" id="{5EE97C76-745A-482E-B389-5D6F90988513}"/>
              </a:ext>
            </a:extLst>
          </p:cNvPr>
          <p:cNvSpPr txBox="1"/>
          <p:nvPr/>
        </p:nvSpPr>
        <p:spPr>
          <a:xfrm>
            <a:off x="3162209" y="5026333"/>
            <a:ext cx="8398837" cy="830997"/>
          </a:xfrm>
          <a:prstGeom prst="rect">
            <a:avLst/>
          </a:prstGeom>
          <a:noFill/>
        </p:spPr>
        <p:txBody>
          <a:bodyPr wrap="square" rtlCol="0" anchor="ctr" anchorCtr="0">
            <a:spAutoFit/>
          </a:bodyPr>
          <a:lstStyle/>
          <a:p>
            <a:r>
              <a:rPr lang="es-AR" sz="2800" dirty="0"/>
              <a:t>Medir</a:t>
            </a:r>
            <a:r>
              <a:rPr lang="es-AR" sz="2000" dirty="0"/>
              <a:t> el tiempo con un instrumento apropiado y registrar el tiempo invertido por el operario en realizar cada elemento de la operación.</a:t>
            </a:r>
            <a:endParaRPr lang="es-AR" sz="2000" dirty="0">
              <a:effectLst>
                <a:outerShdw blurRad="60007" dist="310007" dir="7680000" sy="30000" kx="1300200" algn="ctr" rotWithShape="0">
                  <a:prstClr val="black">
                    <a:alpha val="32000"/>
                  </a:prstClr>
                </a:outerShdw>
              </a:effectLst>
            </a:endParaRPr>
          </a:p>
        </p:txBody>
      </p:sp>
      <p:sp>
        <p:nvSpPr>
          <p:cNvPr id="19" name="CuadroTexto 18">
            <a:extLst>
              <a:ext uri="{FF2B5EF4-FFF2-40B4-BE49-F238E27FC236}">
                <a16:creationId xmlns:a16="http://schemas.microsoft.com/office/drawing/2014/main" id="{489D6E9B-BEEF-486C-8D9D-6F15857270D1}"/>
              </a:ext>
            </a:extLst>
          </p:cNvPr>
          <p:cNvSpPr txBox="1"/>
          <p:nvPr/>
        </p:nvSpPr>
        <p:spPr>
          <a:xfrm>
            <a:off x="3162210" y="2370487"/>
            <a:ext cx="8398836" cy="830997"/>
          </a:xfrm>
          <a:prstGeom prst="rect">
            <a:avLst/>
          </a:prstGeom>
          <a:noFill/>
        </p:spPr>
        <p:txBody>
          <a:bodyPr wrap="square" rtlCol="0" anchor="ctr" anchorCtr="0">
            <a:spAutoFit/>
          </a:bodyPr>
          <a:lstStyle/>
          <a:p>
            <a:r>
              <a:rPr lang="es-AR" sz="2000" dirty="0"/>
              <a:t>Registrar una descripción completa del </a:t>
            </a:r>
            <a:r>
              <a:rPr lang="es-AR" sz="2800" dirty="0"/>
              <a:t>método</a:t>
            </a:r>
            <a:r>
              <a:rPr lang="es-AR" sz="2000" dirty="0"/>
              <a:t> descomponiendo la operación en elementos.</a:t>
            </a:r>
            <a:endParaRPr lang="es-AR" sz="2800" dirty="0">
              <a:effectLst>
                <a:outerShdw blurRad="60007" dist="310007" dir="7680000" sy="30000" kx="1300200" algn="ctr" rotWithShape="0">
                  <a:prstClr val="black">
                    <a:alpha val="32000"/>
                  </a:prstClr>
                </a:outerShdw>
              </a:effectLst>
            </a:endParaRPr>
          </a:p>
        </p:txBody>
      </p:sp>
      <p:sp>
        <p:nvSpPr>
          <p:cNvPr id="20" name="Elipse 19">
            <a:extLst>
              <a:ext uri="{FF2B5EF4-FFF2-40B4-BE49-F238E27FC236}">
                <a16:creationId xmlns:a16="http://schemas.microsoft.com/office/drawing/2014/main" id="{33F4B844-19D6-41CD-83D2-A72162C82F29}"/>
              </a:ext>
            </a:extLst>
          </p:cNvPr>
          <p:cNvSpPr/>
          <p:nvPr/>
        </p:nvSpPr>
        <p:spPr>
          <a:xfrm>
            <a:off x="2265916" y="1051085"/>
            <a:ext cx="792000" cy="792000"/>
          </a:xfrm>
          <a:prstGeom prst="ellipse">
            <a:avLst/>
          </a:prstGeom>
          <a:ln>
            <a:noFill/>
          </a:ln>
          <a:effectLst>
            <a:glow rad="139700">
              <a:schemeClr val="accent2">
                <a:satMod val="175000"/>
                <a:alpha val="40000"/>
              </a:schemeClr>
            </a:glow>
            <a:outerShdw blurRad="76200" dir="13500000" sy="23000" kx="1200000" algn="br" rotWithShape="0">
              <a:prstClr val="black">
                <a:alpha val="20000"/>
              </a:prstClr>
            </a:outerShdw>
          </a:effectLst>
          <a:scene3d>
            <a:camera prst="perspectiveRight"/>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3200" dirty="0"/>
              <a:t>1</a:t>
            </a:r>
          </a:p>
        </p:txBody>
      </p:sp>
      <p:sp>
        <p:nvSpPr>
          <p:cNvPr id="21" name="Elipse 20">
            <a:extLst>
              <a:ext uri="{FF2B5EF4-FFF2-40B4-BE49-F238E27FC236}">
                <a16:creationId xmlns:a16="http://schemas.microsoft.com/office/drawing/2014/main" id="{1B45AC05-2475-4D3A-A25C-7936DFC5ADB5}"/>
              </a:ext>
            </a:extLst>
          </p:cNvPr>
          <p:cNvSpPr/>
          <p:nvPr/>
        </p:nvSpPr>
        <p:spPr>
          <a:xfrm>
            <a:off x="2265916" y="2389986"/>
            <a:ext cx="792000" cy="792000"/>
          </a:xfrm>
          <a:prstGeom prst="ellipse">
            <a:avLst/>
          </a:prstGeom>
          <a:ln>
            <a:noFill/>
          </a:ln>
          <a:effectLst>
            <a:glow rad="139700">
              <a:schemeClr val="accent2">
                <a:satMod val="175000"/>
                <a:alpha val="40000"/>
              </a:schemeClr>
            </a:glow>
            <a:outerShdw blurRad="76200" dir="13500000" sy="23000" kx="1200000" algn="br" rotWithShape="0">
              <a:prstClr val="black">
                <a:alpha val="20000"/>
              </a:prstClr>
            </a:outerShdw>
          </a:effectLst>
          <a:scene3d>
            <a:camera prst="perspectiveRight"/>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3200" dirty="0"/>
              <a:t>2</a:t>
            </a:r>
          </a:p>
        </p:txBody>
      </p:sp>
      <p:sp>
        <p:nvSpPr>
          <p:cNvPr id="22" name="Elipse 21">
            <a:extLst>
              <a:ext uri="{FF2B5EF4-FFF2-40B4-BE49-F238E27FC236}">
                <a16:creationId xmlns:a16="http://schemas.microsoft.com/office/drawing/2014/main" id="{A17D3AB2-C629-42E2-BAF2-88076E11D5AB}"/>
              </a:ext>
            </a:extLst>
          </p:cNvPr>
          <p:cNvSpPr/>
          <p:nvPr/>
        </p:nvSpPr>
        <p:spPr>
          <a:xfrm>
            <a:off x="2265916" y="3728887"/>
            <a:ext cx="792000" cy="792000"/>
          </a:xfrm>
          <a:prstGeom prst="ellipse">
            <a:avLst/>
          </a:prstGeom>
          <a:ln>
            <a:noFill/>
          </a:ln>
          <a:effectLst>
            <a:glow rad="139700">
              <a:schemeClr val="accent2">
                <a:satMod val="175000"/>
                <a:alpha val="40000"/>
              </a:schemeClr>
            </a:glow>
            <a:outerShdw blurRad="76200" dir="13500000" sy="23000" kx="1200000" algn="br" rotWithShape="0">
              <a:prstClr val="black">
                <a:alpha val="20000"/>
              </a:prstClr>
            </a:outerShdw>
          </a:effectLst>
          <a:scene3d>
            <a:camera prst="perspectiveRight"/>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3200" dirty="0"/>
              <a:t>3</a:t>
            </a:r>
          </a:p>
        </p:txBody>
      </p:sp>
      <p:sp>
        <p:nvSpPr>
          <p:cNvPr id="23" name="Elipse 22">
            <a:extLst>
              <a:ext uri="{FF2B5EF4-FFF2-40B4-BE49-F238E27FC236}">
                <a16:creationId xmlns:a16="http://schemas.microsoft.com/office/drawing/2014/main" id="{B6AEB7D5-C745-4E86-BB1C-59769B853B42}"/>
              </a:ext>
            </a:extLst>
          </p:cNvPr>
          <p:cNvSpPr/>
          <p:nvPr/>
        </p:nvSpPr>
        <p:spPr>
          <a:xfrm>
            <a:off x="2265916" y="5067789"/>
            <a:ext cx="792000" cy="792000"/>
          </a:xfrm>
          <a:prstGeom prst="ellipse">
            <a:avLst/>
          </a:prstGeom>
          <a:ln>
            <a:noFill/>
          </a:ln>
          <a:effectLst>
            <a:glow rad="139700">
              <a:schemeClr val="accent2">
                <a:satMod val="175000"/>
                <a:alpha val="40000"/>
              </a:schemeClr>
            </a:glow>
            <a:outerShdw blurRad="76200" dir="13500000" sy="23000" kx="1200000" algn="br" rotWithShape="0">
              <a:prstClr val="black">
                <a:alpha val="20000"/>
              </a:prstClr>
            </a:outerShdw>
          </a:effectLst>
          <a:scene3d>
            <a:camera prst="perspectiveRight"/>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3200" dirty="0"/>
              <a:t>4</a:t>
            </a:r>
          </a:p>
        </p:txBody>
      </p:sp>
      <p:grpSp>
        <p:nvGrpSpPr>
          <p:cNvPr id="30" name="Grupo 29">
            <a:extLst>
              <a:ext uri="{FF2B5EF4-FFF2-40B4-BE49-F238E27FC236}">
                <a16:creationId xmlns:a16="http://schemas.microsoft.com/office/drawing/2014/main" id="{CB2725BA-E5B8-4C49-B9A1-04C1BBF1F9E8}"/>
              </a:ext>
            </a:extLst>
          </p:cNvPr>
          <p:cNvGrpSpPr/>
          <p:nvPr/>
        </p:nvGrpSpPr>
        <p:grpSpPr>
          <a:xfrm>
            <a:off x="0" y="4141"/>
            <a:ext cx="12192000" cy="6849718"/>
            <a:chOff x="0" y="4141"/>
            <a:chExt cx="12192000" cy="6849718"/>
          </a:xfrm>
        </p:grpSpPr>
        <p:grpSp>
          <p:nvGrpSpPr>
            <p:cNvPr id="31" name="Grupo 30">
              <a:extLst>
                <a:ext uri="{FF2B5EF4-FFF2-40B4-BE49-F238E27FC236}">
                  <a16:creationId xmlns:a16="http://schemas.microsoft.com/office/drawing/2014/main" id="{6F885517-A95F-4C97-9C97-4DA1B01C620B}"/>
                </a:ext>
              </a:extLst>
            </p:cNvPr>
            <p:cNvGrpSpPr/>
            <p:nvPr/>
          </p:nvGrpSpPr>
          <p:grpSpPr>
            <a:xfrm>
              <a:off x="0" y="4141"/>
              <a:ext cx="12192000" cy="6849718"/>
              <a:chOff x="0" y="4141"/>
              <a:chExt cx="12192000" cy="6849718"/>
            </a:xfrm>
          </p:grpSpPr>
          <p:sp>
            <p:nvSpPr>
              <p:cNvPr id="33" name="Rectángulo 32">
                <a:extLst>
                  <a:ext uri="{FF2B5EF4-FFF2-40B4-BE49-F238E27FC236}">
                    <a16:creationId xmlns:a16="http://schemas.microsoft.com/office/drawing/2014/main" id="{F0FCC94F-4D3C-46BC-ABF9-F572678670B5}"/>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34" name="Rectángulo 33">
                <a:extLst>
                  <a:ext uri="{FF2B5EF4-FFF2-40B4-BE49-F238E27FC236}">
                    <a16:creationId xmlns:a16="http://schemas.microsoft.com/office/drawing/2014/main" id="{22FB07ED-CABB-45FA-9E87-812B1CD72CB0}"/>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35" name="Rectángulo 34">
                <a:extLst>
                  <a:ext uri="{FF2B5EF4-FFF2-40B4-BE49-F238E27FC236}">
                    <a16:creationId xmlns:a16="http://schemas.microsoft.com/office/drawing/2014/main" id="{DD4B5D67-1556-48B6-B446-57BB3D1CB32C}"/>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32" name="Imagen 31">
              <a:extLst>
                <a:ext uri="{FF2B5EF4-FFF2-40B4-BE49-F238E27FC236}">
                  <a16:creationId xmlns:a16="http://schemas.microsoft.com/office/drawing/2014/main" id="{56AD18CB-6763-49C9-8C61-3619D4D4BC22}"/>
                </a:ext>
              </a:extLst>
            </p:cNvPr>
            <p:cNvPicPr>
              <a:picLocks noChangeAspect="1"/>
            </p:cNvPicPr>
            <p:nvPr/>
          </p:nvPicPr>
          <p:blipFill rotWithShape="1">
            <a:blip r:embed="rId10">
              <a:alphaModFix amt="50000"/>
            </a:blip>
            <a:srcRect l="15693" t="31624" r="25546" b="30133"/>
            <a:stretch/>
          </p:blipFill>
          <p:spPr>
            <a:xfrm>
              <a:off x="11311846" y="6376358"/>
              <a:ext cx="880154" cy="477359"/>
            </a:xfrm>
            <a:prstGeom prst="rect">
              <a:avLst/>
            </a:prstGeom>
          </p:spPr>
        </p:pic>
      </p:grpSp>
    </p:spTree>
    <p:extLst>
      <p:ext uri="{BB962C8B-B14F-4D97-AF65-F5344CB8AC3E}">
        <p14:creationId xmlns:p14="http://schemas.microsoft.com/office/powerpoint/2010/main" val="3811049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10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10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10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10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8" grpId="0"/>
      <p:bldP spid="19" grpId="0"/>
      <p:bldP spid="20" grpId="0" animBg="1"/>
      <p:bldP spid="21" grpId="0" animBg="1"/>
      <p:bldP spid="22" grpId="0" animBg="1"/>
      <p:bldP spid="2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Diagrama 2">
            <a:extLst>
              <a:ext uri="{FF2B5EF4-FFF2-40B4-BE49-F238E27FC236}">
                <a16:creationId xmlns:a16="http://schemas.microsoft.com/office/drawing/2014/main" id="{EFECAABD-F3CF-45E4-9AC9-FDC344CC240A}"/>
              </a:ext>
            </a:extLst>
          </p:cNvPr>
          <p:cNvGraphicFramePr/>
          <p:nvPr/>
        </p:nvGraphicFramePr>
        <p:xfrm>
          <a:off x="176270" y="1447085"/>
          <a:ext cx="2075863" cy="401107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5" name="CuadroTexto 14">
            <a:extLst>
              <a:ext uri="{FF2B5EF4-FFF2-40B4-BE49-F238E27FC236}">
                <a16:creationId xmlns:a16="http://schemas.microsoft.com/office/drawing/2014/main" id="{52FAE8BC-92CA-414B-85FC-3F8C51F0B101}"/>
              </a:ext>
            </a:extLst>
          </p:cNvPr>
          <p:cNvSpPr txBox="1"/>
          <p:nvPr/>
        </p:nvSpPr>
        <p:spPr>
          <a:xfrm>
            <a:off x="3162210" y="3709389"/>
            <a:ext cx="8398836" cy="830997"/>
          </a:xfrm>
          <a:prstGeom prst="rect">
            <a:avLst/>
          </a:prstGeom>
          <a:noFill/>
        </p:spPr>
        <p:txBody>
          <a:bodyPr wrap="square" rtlCol="0" anchor="ctr" anchorCtr="0">
            <a:spAutoFit/>
          </a:bodyPr>
          <a:lstStyle/>
          <a:p>
            <a:pPr>
              <a:spcAft>
                <a:spcPts val="1200"/>
              </a:spcAft>
            </a:pPr>
            <a:r>
              <a:rPr lang="es-AR" sz="2000" dirty="0"/>
              <a:t>Determinar los </a:t>
            </a:r>
            <a:r>
              <a:rPr lang="es-AR" sz="2800" dirty="0"/>
              <a:t>suplementos</a:t>
            </a:r>
            <a:r>
              <a:rPr lang="es-AR" dirty="0"/>
              <a:t> </a:t>
            </a:r>
            <a:r>
              <a:rPr lang="es-AR" sz="2000" dirty="0"/>
              <a:t>por descanso que se añadirán al tiempo normal o tiempo básico de la operación. </a:t>
            </a:r>
            <a:endParaRPr lang="es-AR" dirty="0"/>
          </a:p>
        </p:txBody>
      </p:sp>
      <p:sp>
        <p:nvSpPr>
          <p:cNvPr id="17" name="CuadroTexto 16">
            <a:extLst>
              <a:ext uri="{FF2B5EF4-FFF2-40B4-BE49-F238E27FC236}">
                <a16:creationId xmlns:a16="http://schemas.microsoft.com/office/drawing/2014/main" id="{8B9B3C27-19A2-4CCC-BDF2-F1706B7D6F9F}"/>
              </a:ext>
            </a:extLst>
          </p:cNvPr>
          <p:cNvSpPr txBox="1"/>
          <p:nvPr/>
        </p:nvSpPr>
        <p:spPr>
          <a:xfrm>
            <a:off x="3141226" y="964428"/>
            <a:ext cx="8398837" cy="954107"/>
          </a:xfrm>
          <a:prstGeom prst="rect">
            <a:avLst/>
          </a:prstGeom>
          <a:noFill/>
        </p:spPr>
        <p:txBody>
          <a:bodyPr wrap="square" rtlCol="0" anchor="ctr" anchorCtr="0">
            <a:spAutoFit/>
          </a:bodyPr>
          <a:lstStyle/>
          <a:p>
            <a:pPr>
              <a:spcAft>
                <a:spcPts val="1200"/>
              </a:spcAft>
            </a:pPr>
            <a:r>
              <a:rPr lang="es-MX" sz="2000" dirty="0"/>
              <a:t>Simultáneamente con la medición, determinar la </a:t>
            </a:r>
            <a:r>
              <a:rPr lang="es-MX" sz="2800" dirty="0"/>
              <a:t>velocidad de trabajo </a:t>
            </a:r>
            <a:r>
              <a:rPr lang="es-MX" sz="2000" dirty="0"/>
              <a:t>con relación con el ritmo normal de trabajo de este. </a:t>
            </a:r>
            <a:endParaRPr lang="es-MX" dirty="0"/>
          </a:p>
        </p:txBody>
      </p:sp>
      <p:sp>
        <p:nvSpPr>
          <p:cNvPr id="18" name="CuadroTexto 17">
            <a:extLst>
              <a:ext uri="{FF2B5EF4-FFF2-40B4-BE49-F238E27FC236}">
                <a16:creationId xmlns:a16="http://schemas.microsoft.com/office/drawing/2014/main" id="{5EE97C76-745A-482E-B389-5D6F90988513}"/>
              </a:ext>
            </a:extLst>
          </p:cNvPr>
          <p:cNvSpPr txBox="1"/>
          <p:nvPr/>
        </p:nvSpPr>
        <p:spPr>
          <a:xfrm>
            <a:off x="3162209" y="5196554"/>
            <a:ext cx="8398837" cy="523220"/>
          </a:xfrm>
          <a:prstGeom prst="rect">
            <a:avLst/>
          </a:prstGeom>
          <a:noFill/>
        </p:spPr>
        <p:txBody>
          <a:bodyPr wrap="square" rtlCol="0" anchor="ctr" anchorCtr="0">
            <a:spAutoFit/>
          </a:bodyPr>
          <a:lstStyle/>
          <a:p>
            <a:r>
              <a:rPr lang="es-MX" sz="2800" dirty="0"/>
              <a:t>Determinar el tiempo total asignado. </a:t>
            </a:r>
            <a:endParaRPr lang="es-AR" sz="2800" dirty="0">
              <a:effectLst>
                <a:outerShdw blurRad="60007" dist="310007" dir="7680000" sy="30000" kx="1300200" algn="ctr" rotWithShape="0">
                  <a:prstClr val="black">
                    <a:alpha val="32000"/>
                  </a:prstClr>
                </a:outerShdw>
              </a:effectLst>
            </a:endParaRPr>
          </a:p>
        </p:txBody>
      </p:sp>
      <p:sp>
        <p:nvSpPr>
          <p:cNvPr id="19" name="CuadroTexto 18">
            <a:extLst>
              <a:ext uri="{FF2B5EF4-FFF2-40B4-BE49-F238E27FC236}">
                <a16:creationId xmlns:a16="http://schemas.microsoft.com/office/drawing/2014/main" id="{489D6E9B-BEEF-486C-8D9D-6F15857270D1}"/>
              </a:ext>
            </a:extLst>
          </p:cNvPr>
          <p:cNvSpPr txBox="1"/>
          <p:nvPr/>
        </p:nvSpPr>
        <p:spPr>
          <a:xfrm>
            <a:off x="3162210" y="2519034"/>
            <a:ext cx="8398836" cy="523220"/>
          </a:xfrm>
          <a:prstGeom prst="rect">
            <a:avLst/>
          </a:prstGeom>
          <a:noFill/>
        </p:spPr>
        <p:txBody>
          <a:bodyPr wrap="square" rtlCol="0" anchor="ctr" anchorCtr="0">
            <a:spAutoFit/>
          </a:bodyPr>
          <a:lstStyle/>
          <a:p>
            <a:pPr>
              <a:spcAft>
                <a:spcPts val="1200"/>
              </a:spcAft>
            </a:pPr>
            <a:r>
              <a:rPr lang="es-AR" sz="2800" dirty="0"/>
              <a:t>Convertir</a:t>
            </a:r>
            <a:r>
              <a:rPr lang="es-AR" dirty="0"/>
              <a:t> </a:t>
            </a:r>
            <a:r>
              <a:rPr lang="es-AR" sz="2000" dirty="0"/>
              <a:t>los tiempos observados en tiempos básicos.</a:t>
            </a:r>
            <a:endParaRPr lang="es-AR" dirty="0"/>
          </a:p>
        </p:txBody>
      </p:sp>
      <p:sp>
        <p:nvSpPr>
          <p:cNvPr id="20" name="Elipse 19">
            <a:extLst>
              <a:ext uri="{FF2B5EF4-FFF2-40B4-BE49-F238E27FC236}">
                <a16:creationId xmlns:a16="http://schemas.microsoft.com/office/drawing/2014/main" id="{33F4B844-19D6-41CD-83D2-A72162C82F29}"/>
              </a:ext>
            </a:extLst>
          </p:cNvPr>
          <p:cNvSpPr/>
          <p:nvPr/>
        </p:nvSpPr>
        <p:spPr>
          <a:xfrm>
            <a:off x="2265916" y="1051085"/>
            <a:ext cx="792000" cy="792000"/>
          </a:xfrm>
          <a:prstGeom prst="ellipse">
            <a:avLst/>
          </a:prstGeom>
          <a:ln>
            <a:noFill/>
          </a:ln>
          <a:effectLst>
            <a:glow rad="139700">
              <a:schemeClr val="accent2">
                <a:satMod val="175000"/>
                <a:alpha val="40000"/>
              </a:schemeClr>
            </a:glow>
            <a:outerShdw blurRad="76200" dir="13500000" sy="23000" kx="1200000" algn="br" rotWithShape="0">
              <a:prstClr val="black">
                <a:alpha val="20000"/>
              </a:prstClr>
            </a:outerShdw>
          </a:effectLst>
          <a:scene3d>
            <a:camera prst="perspectiveRight"/>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3200" dirty="0"/>
              <a:t>5</a:t>
            </a:r>
          </a:p>
        </p:txBody>
      </p:sp>
      <p:sp>
        <p:nvSpPr>
          <p:cNvPr id="21" name="Elipse 20">
            <a:extLst>
              <a:ext uri="{FF2B5EF4-FFF2-40B4-BE49-F238E27FC236}">
                <a16:creationId xmlns:a16="http://schemas.microsoft.com/office/drawing/2014/main" id="{1B45AC05-2475-4D3A-A25C-7936DFC5ADB5}"/>
              </a:ext>
            </a:extLst>
          </p:cNvPr>
          <p:cNvSpPr/>
          <p:nvPr/>
        </p:nvSpPr>
        <p:spPr>
          <a:xfrm>
            <a:off x="2265916" y="2389986"/>
            <a:ext cx="792000" cy="792000"/>
          </a:xfrm>
          <a:prstGeom prst="ellipse">
            <a:avLst/>
          </a:prstGeom>
          <a:ln>
            <a:noFill/>
          </a:ln>
          <a:effectLst>
            <a:glow rad="139700">
              <a:schemeClr val="accent2">
                <a:satMod val="175000"/>
                <a:alpha val="40000"/>
              </a:schemeClr>
            </a:glow>
            <a:outerShdw blurRad="76200" dir="13500000" sy="23000" kx="1200000" algn="br" rotWithShape="0">
              <a:prstClr val="black">
                <a:alpha val="20000"/>
              </a:prstClr>
            </a:outerShdw>
          </a:effectLst>
          <a:scene3d>
            <a:camera prst="perspectiveRight"/>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3200" dirty="0"/>
              <a:t>6</a:t>
            </a:r>
          </a:p>
        </p:txBody>
      </p:sp>
      <p:sp>
        <p:nvSpPr>
          <p:cNvPr id="22" name="Elipse 21">
            <a:extLst>
              <a:ext uri="{FF2B5EF4-FFF2-40B4-BE49-F238E27FC236}">
                <a16:creationId xmlns:a16="http://schemas.microsoft.com/office/drawing/2014/main" id="{A17D3AB2-C629-42E2-BAF2-88076E11D5AB}"/>
              </a:ext>
            </a:extLst>
          </p:cNvPr>
          <p:cNvSpPr/>
          <p:nvPr/>
        </p:nvSpPr>
        <p:spPr>
          <a:xfrm>
            <a:off x="2265916" y="3728887"/>
            <a:ext cx="792000" cy="792000"/>
          </a:xfrm>
          <a:prstGeom prst="ellipse">
            <a:avLst/>
          </a:prstGeom>
          <a:ln>
            <a:noFill/>
          </a:ln>
          <a:effectLst>
            <a:glow rad="139700">
              <a:schemeClr val="accent2">
                <a:satMod val="175000"/>
                <a:alpha val="40000"/>
              </a:schemeClr>
            </a:glow>
            <a:outerShdw blurRad="76200" dir="13500000" sy="23000" kx="1200000" algn="br" rotWithShape="0">
              <a:prstClr val="black">
                <a:alpha val="20000"/>
              </a:prstClr>
            </a:outerShdw>
          </a:effectLst>
          <a:scene3d>
            <a:camera prst="perspectiveRight"/>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3200" dirty="0"/>
              <a:t>7</a:t>
            </a:r>
          </a:p>
        </p:txBody>
      </p:sp>
      <p:sp>
        <p:nvSpPr>
          <p:cNvPr id="23" name="Elipse 22">
            <a:extLst>
              <a:ext uri="{FF2B5EF4-FFF2-40B4-BE49-F238E27FC236}">
                <a16:creationId xmlns:a16="http://schemas.microsoft.com/office/drawing/2014/main" id="{B6AEB7D5-C745-4E86-BB1C-59769B853B42}"/>
              </a:ext>
            </a:extLst>
          </p:cNvPr>
          <p:cNvSpPr/>
          <p:nvPr/>
        </p:nvSpPr>
        <p:spPr>
          <a:xfrm>
            <a:off x="2265916" y="5067789"/>
            <a:ext cx="792000" cy="792000"/>
          </a:xfrm>
          <a:prstGeom prst="ellipse">
            <a:avLst/>
          </a:prstGeom>
          <a:ln>
            <a:noFill/>
          </a:ln>
          <a:effectLst>
            <a:glow rad="139700">
              <a:schemeClr val="accent2">
                <a:satMod val="175000"/>
                <a:alpha val="40000"/>
              </a:schemeClr>
            </a:glow>
            <a:outerShdw blurRad="76200" dir="13500000" sy="23000" kx="1200000" algn="br" rotWithShape="0">
              <a:prstClr val="black">
                <a:alpha val="20000"/>
              </a:prstClr>
            </a:outerShdw>
          </a:effectLst>
          <a:scene3d>
            <a:camera prst="perspectiveRight"/>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3200" dirty="0"/>
              <a:t>8</a:t>
            </a:r>
          </a:p>
        </p:txBody>
      </p:sp>
      <p:grpSp>
        <p:nvGrpSpPr>
          <p:cNvPr id="30" name="Grupo 29">
            <a:extLst>
              <a:ext uri="{FF2B5EF4-FFF2-40B4-BE49-F238E27FC236}">
                <a16:creationId xmlns:a16="http://schemas.microsoft.com/office/drawing/2014/main" id="{CB2725BA-E5B8-4C49-B9A1-04C1BBF1F9E8}"/>
              </a:ext>
            </a:extLst>
          </p:cNvPr>
          <p:cNvGrpSpPr/>
          <p:nvPr/>
        </p:nvGrpSpPr>
        <p:grpSpPr>
          <a:xfrm>
            <a:off x="0" y="4141"/>
            <a:ext cx="12192000" cy="6849718"/>
            <a:chOff x="0" y="4141"/>
            <a:chExt cx="12192000" cy="6849718"/>
          </a:xfrm>
        </p:grpSpPr>
        <p:grpSp>
          <p:nvGrpSpPr>
            <p:cNvPr id="31" name="Grupo 30">
              <a:extLst>
                <a:ext uri="{FF2B5EF4-FFF2-40B4-BE49-F238E27FC236}">
                  <a16:creationId xmlns:a16="http://schemas.microsoft.com/office/drawing/2014/main" id="{6F885517-A95F-4C97-9C97-4DA1B01C620B}"/>
                </a:ext>
              </a:extLst>
            </p:cNvPr>
            <p:cNvGrpSpPr/>
            <p:nvPr/>
          </p:nvGrpSpPr>
          <p:grpSpPr>
            <a:xfrm>
              <a:off x="0" y="4141"/>
              <a:ext cx="12192000" cy="6849718"/>
              <a:chOff x="0" y="4141"/>
              <a:chExt cx="12192000" cy="6849718"/>
            </a:xfrm>
          </p:grpSpPr>
          <p:sp>
            <p:nvSpPr>
              <p:cNvPr id="33" name="Rectángulo 32">
                <a:extLst>
                  <a:ext uri="{FF2B5EF4-FFF2-40B4-BE49-F238E27FC236}">
                    <a16:creationId xmlns:a16="http://schemas.microsoft.com/office/drawing/2014/main" id="{F0FCC94F-4D3C-46BC-ABF9-F572678670B5}"/>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34" name="Rectángulo 33">
                <a:extLst>
                  <a:ext uri="{FF2B5EF4-FFF2-40B4-BE49-F238E27FC236}">
                    <a16:creationId xmlns:a16="http://schemas.microsoft.com/office/drawing/2014/main" id="{22FB07ED-CABB-45FA-9E87-812B1CD72CB0}"/>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35" name="Rectángulo 34">
                <a:extLst>
                  <a:ext uri="{FF2B5EF4-FFF2-40B4-BE49-F238E27FC236}">
                    <a16:creationId xmlns:a16="http://schemas.microsoft.com/office/drawing/2014/main" id="{DD4B5D67-1556-48B6-B446-57BB3D1CB32C}"/>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32" name="Imagen 31">
              <a:extLst>
                <a:ext uri="{FF2B5EF4-FFF2-40B4-BE49-F238E27FC236}">
                  <a16:creationId xmlns:a16="http://schemas.microsoft.com/office/drawing/2014/main" id="{56AD18CB-6763-49C9-8C61-3619D4D4BC22}"/>
                </a:ext>
              </a:extLst>
            </p:cNvPr>
            <p:cNvPicPr>
              <a:picLocks noChangeAspect="1"/>
            </p:cNvPicPr>
            <p:nvPr/>
          </p:nvPicPr>
          <p:blipFill rotWithShape="1">
            <a:blip r:embed="rId10">
              <a:alphaModFix amt="50000"/>
            </a:blip>
            <a:srcRect l="15693" t="31624" r="25546" b="30133"/>
            <a:stretch/>
          </p:blipFill>
          <p:spPr>
            <a:xfrm>
              <a:off x="11311846" y="6376358"/>
              <a:ext cx="880154" cy="477359"/>
            </a:xfrm>
            <a:prstGeom prst="rect">
              <a:avLst/>
            </a:prstGeom>
          </p:spPr>
        </p:pic>
      </p:grpSp>
    </p:spTree>
    <p:extLst>
      <p:ext uri="{BB962C8B-B14F-4D97-AF65-F5344CB8AC3E}">
        <p14:creationId xmlns:p14="http://schemas.microsoft.com/office/powerpoint/2010/main" val="9245171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10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10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10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10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8" grpId="0"/>
      <p:bldP spid="19" grpId="0"/>
      <p:bldP spid="20" grpId="0" animBg="1"/>
      <p:bldP spid="21" grpId="0" animBg="1"/>
      <p:bldP spid="22" grpId="0" animBg="1"/>
      <p:bldP spid="2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Procedimiento y Definiciones</a:t>
            </a:r>
            <a:endParaRPr lang="es-AR" sz="2800" dirty="0">
              <a:solidFill>
                <a:schemeClr val="tx1">
                  <a:lumMod val="65000"/>
                  <a:lumOff val="35000"/>
                </a:schemeClr>
              </a:solidFill>
            </a:endParaRPr>
          </a:p>
        </p:txBody>
      </p:sp>
      <p:sp>
        <p:nvSpPr>
          <p:cNvPr id="27" name="Rectángulo: esquinas redondeadas 26">
            <a:extLst>
              <a:ext uri="{FF2B5EF4-FFF2-40B4-BE49-F238E27FC236}">
                <a16:creationId xmlns:a16="http://schemas.microsoft.com/office/drawing/2014/main" id="{B17FDCC2-17F2-4869-A753-376D6F747A0B}"/>
              </a:ext>
            </a:extLst>
          </p:cNvPr>
          <p:cNvSpPr/>
          <p:nvPr/>
        </p:nvSpPr>
        <p:spPr>
          <a:xfrm rot="16200000">
            <a:off x="-494716" y="3280766"/>
            <a:ext cx="3088493" cy="861805"/>
          </a:xfrm>
          <a:prstGeom prst="roundRect">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pPr algn="ctr"/>
            <a:r>
              <a:rPr lang="es-AR" sz="4000" dirty="0"/>
              <a:t>Elemento </a:t>
            </a:r>
            <a:r>
              <a:rPr lang="es-AR" sz="4000" dirty="0">
                <a:solidFill>
                  <a:schemeClr val="tx2"/>
                </a:solidFill>
              </a:rPr>
              <a:t>1</a:t>
            </a:r>
          </a:p>
        </p:txBody>
      </p:sp>
      <p:grpSp>
        <p:nvGrpSpPr>
          <p:cNvPr id="30" name="Grupo 29">
            <a:extLst>
              <a:ext uri="{FF2B5EF4-FFF2-40B4-BE49-F238E27FC236}">
                <a16:creationId xmlns:a16="http://schemas.microsoft.com/office/drawing/2014/main" id="{C6F8B36E-045A-4F96-A6E3-614230581483}"/>
              </a:ext>
            </a:extLst>
          </p:cNvPr>
          <p:cNvGrpSpPr/>
          <p:nvPr/>
        </p:nvGrpSpPr>
        <p:grpSpPr>
          <a:xfrm>
            <a:off x="0" y="4141"/>
            <a:ext cx="12192000" cy="6849718"/>
            <a:chOff x="0" y="4141"/>
            <a:chExt cx="12192000" cy="6849718"/>
          </a:xfrm>
        </p:grpSpPr>
        <p:grpSp>
          <p:nvGrpSpPr>
            <p:cNvPr id="31" name="Grupo 30">
              <a:extLst>
                <a:ext uri="{FF2B5EF4-FFF2-40B4-BE49-F238E27FC236}">
                  <a16:creationId xmlns:a16="http://schemas.microsoft.com/office/drawing/2014/main" id="{F4550908-8633-4EDB-85ED-53B600E979B3}"/>
                </a:ext>
              </a:extLst>
            </p:cNvPr>
            <p:cNvGrpSpPr/>
            <p:nvPr/>
          </p:nvGrpSpPr>
          <p:grpSpPr>
            <a:xfrm>
              <a:off x="0" y="4141"/>
              <a:ext cx="12192000" cy="6849718"/>
              <a:chOff x="0" y="4141"/>
              <a:chExt cx="12192000" cy="6849718"/>
            </a:xfrm>
          </p:grpSpPr>
          <p:sp>
            <p:nvSpPr>
              <p:cNvPr id="33" name="Rectángulo 32">
                <a:extLst>
                  <a:ext uri="{FF2B5EF4-FFF2-40B4-BE49-F238E27FC236}">
                    <a16:creationId xmlns:a16="http://schemas.microsoft.com/office/drawing/2014/main" id="{050EC418-21ED-4099-A616-64049AE82550}"/>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34" name="Rectángulo 33">
                <a:extLst>
                  <a:ext uri="{FF2B5EF4-FFF2-40B4-BE49-F238E27FC236}">
                    <a16:creationId xmlns:a16="http://schemas.microsoft.com/office/drawing/2014/main" id="{AEE46C8A-38C8-4DDA-8AB2-A41A6C880318}"/>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35" name="Rectángulo 34">
                <a:extLst>
                  <a:ext uri="{FF2B5EF4-FFF2-40B4-BE49-F238E27FC236}">
                    <a16:creationId xmlns:a16="http://schemas.microsoft.com/office/drawing/2014/main" id="{46FA439C-7EC5-4DCD-8CC0-7B6F1F956EA9}"/>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32" name="Imagen 31">
              <a:extLst>
                <a:ext uri="{FF2B5EF4-FFF2-40B4-BE49-F238E27FC236}">
                  <a16:creationId xmlns:a16="http://schemas.microsoft.com/office/drawing/2014/main" id="{904EA942-2B7D-4110-B887-3D53417850E8}"/>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18" name="CuadroTexto 17">
            <a:extLst>
              <a:ext uri="{FF2B5EF4-FFF2-40B4-BE49-F238E27FC236}">
                <a16:creationId xmlns:a16="http://schemas.microsoft.com/office/drawing/2014/main" id="{BD947677-FB69-4D8E-9996-6A31DF46A8F2}"/>
              </a:ext>
            </a:extLst>
          </p:cNvPr>
          <p:cNvSpPr txBox="1"/>
          <p:nvPr/>
        </p:nvSpPr>
        <p:spPr>
          <a:xfrm>
            <a:off x="2039815" y="1555004"/>
            <a:ext cx="8837168" cy="1384995"/>
          </a:xfrm>
          <a:prstGeom prst="rect">
            <a:avLst/>
          </a:prstGeom>
          <a:noFill/>
        </p:spPr>
        <p:txBody>
          <a:bodyPr wrap="square" rtlCol="0" anchor="ctr" anchorCtr="0">
            <a:spAutoFit/>
          </a:bodyPr>
          <a:lstStyle/>
          <a:p>
            <a:r>
              <a:rPr lang="es-AR" sz="2800" dirty="0"/>
              <a:t>Es la parte delimitada de una tarea definida que se selecciona para facilitar la observación, medición y análisis.</a:t>
            </a:r>
            <a:endParaRPr lang="es-AR" sz="2800" dirty="0">
              <a:effectLst>
                <a:outerShdw blurRad="60007" dist="310007" dir="7680000" sy="30000" kx="1300200" algn="ctr" rotWithShape="0">
                  <a:prstClr val="black">
                    <a:alpha val="32000"/>
                  </a:prstClr>
                </a:outerShdw>
              </a:effectLst>
            </a:endParaRPr>
          </a:p>
        </p:txBody>
      </p:sp>
      <p:sp>
        <p:nvSpPr>
          <p:cNvPr id="14" name="CuadroTexto 13">
            <a:extLst>
              <a:ext uri="{FF2B5EF4-FFF2-40B4-BE49-F238E27FC236}">
                <a16:creationId xmlns:a16="http://schemas.microsoft.com/office/drawing/2014/main" id="{A74EE4F8-AAA3-44D4-BCF5-4B7E3D18B6B5}"/>
              </a:ext>
            </a:extLst>
          </p:cNvPr>
          <p:cNvSpPr txBox="1"/>
          <p:nvPr/>
        </p:nvSpPr>
        <p:spPr>
          <a:xfrm>
            <a:off x="2039815" y="3107867"/>
            <a:ext cx="8837168" cy="1384995"/>
          </a:xfrm>
          <a:prstGeom prst="rect">
            <a:avLst/>
          </a:prstGeom>
          <a:noFill/>
        </p:spPr>
        <p:txBody>
          <a:bodyPr wrap="square" rtlCol="0" anchor="ctr" anchorCtr="0">
            <a:spAutoFit/>
          </a:bodyPr>
          <a:lstStyle/>
          <a:p>
            <a:r>
              <a:rPr lang="es-AR" sz="2800" dirty="0"/>
              <a:t>Es una parte esencial y definida de una actividad o tarea determinada, compuesta de uno o más movimientos fundamentales con naturaleza propia.</a:t>
            </a:r>
            <a:endParaRPr lang="es-AR" sz="2800" dirty="0">
              <a:effectLst>
                <a:outerShdw blurRad="60007" dist="310007" dir="7680000" sy="30000" kx="1300200" algn="ctr" rotWithShape="0">
                  <a:prstClr val="black">
                    <a:alpha val="32000"/>
                  </a:prstClr>
                </a:outerShdw>
              </a:effectLst>
            </a:endParaRPr>
          </a:p>
        </p:txBody>
      </p:sp>
      <p:sp>
        <p:nvSpPr>
          <p:cNvPr id="15" name="CuadroTexto 14">
            <a:extLst>
              <a:ext uri="{FF2B5EF4-FFF2-40B4-BE49-F238E27FC236}">
                <a16:creationId xmlns:a16="http://schemas.microsoft.com/office/drawing/2014/main" id="{39E1292A-EA76-467B-B063-8923DC65C508}"/>
              </a:ext>
            </a:extLst>
          </p:cNvPr>
          <p:cNvSpPr txBox="1"/>
          <p:nvPr/>
        </p:nvSpPr>
        <p:spPr>
          <a:xfrm>
            <a:off x="3601329" y="4666498"/>
            <a:ext cx="7275654" cy="1631216"/>
          </a:xfrm>
          <a:prstGeom prst="rect">
            <a:avLst/>
          </a:prstGeom>
          <a:noFill/>
        </p:spPr>
        <p:txBody>
          <a:bodyPr wrap="square" rtlCol="0" anchor="ctr" anchorCtr="0">
            <a:spAutoFit/>
          </a:bodyPr>
          <a:lstStyle/>
          <a:p>
            <a:r>
              <a:rPr lang="es-AR" sz="2000" dirty="0"/>
              <a:t>Se denomina naturaleza propia del elemento a su característica esencial, esto es:</a:t>
            </a:r>
          </a:p>
          <a:p>
            <a:pPr marL="342900" indent="-342900">
              <a:buFont typeface="Arial" panose="020B0604020202020204" pitchFamily="34" charset="0"/>
              <a:buChar char="•"/>
            </a:pPr>
            <a:r>
              <a:rPr lang="es-AR" sz="2000" dirty="0"/>
              <a:t>Trabajo sólo del recurso humano</a:t>
            </a:r>
          </a:p>
          <a:p>
            <a:pPr marL="342900" indent="-342900">
              <a:buFont typeface="Arial" panose="020B0604020202020204" pitchFamily="34" charset="0"/>
              <a:buChar char="•"/>
            </a:pPr>
            <a:r>
              <a:rPr lang="es-AR" sz="2000" dirty="0"/>
              <a:t>Trabajo conjunto del recurso humano y la máquina</a:t>
            </a:r>
          </a:p>
          <a:p>
            <a:pPr marL="342900" indent="-342900">
              <a:buFont typeface="Arial" panose="020B0604020202020204" pitchFamily="34" charset="0"/>
              <a:buChar char="•"/>
            </a:pPr>
            <a:r>
              <a:rPr lang="es-AR" sz="2000" dirty="0"/>
              <a:t>Trabajo autónomo de la máquina o equipo</a:t>
            </a:r>
          </a:p>
        </p:txBody>
      </p:sp>
    </p:spTree>
    <p:extLst>
      <p:ext uri="{BB962C8B-B14F-4D97-AF65-F5344CB8AC3E}">
        <p14:creationId xmlns:p14="http://schemas.microsoft.com/office/powerpoint/2010/main" val="138488807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Procedimiento y Definiciones</a:t>
            </a:r>
            <a:endParaRPr lang="es-AR" sz="2800" dirty="0">
              <a:solidFill>
                <a:schemeClr val="tx1">
                  <a:lumMod val="65000"/>
                  <a:lumOff val="35000"/>
                </a:schemeClr>
              </a:solidFill>
            </a:endParaRPr>
          </a:p>
        </p:txBody>
      </p:sp>
      <p:grpSp>
        <p:nvGrpSpPr>
          <p:cNvPr id="30" name="Grupo 29">
            <a:extLst>
              <a:ext uri="{FF2B5EF4-FFF2-40B4-BE49-F238E27FC236}">
                <a16:creationId xmlns:a16="http://schemas.microsoft.com/office/drawing/2014/main" id="{C6F8B36E-045A-4F96-A6E3-614230581483}"/>
              </a:ext>
            </a:extLst>
          </p:cNvPr>
          <p:cNvGrpSpPr/>
          <p:nvPr/>
        </p:nvGrpSpPr>
        <p:grpSpPr>
          <a:xfrm>
            <a:off x="0" y="4141"/>
            <a:ext cx="12192000" cy="6849718"/>
            <a:chOff x="0" y="4141"/>
            <a:chExt cx="12192000" cy="6849718"/>
          </a:xfrm>
        </p:grpSpPr>
        <p:grpSp>
          <p:nvGrpSpPr>
            <p:cNvPr id="31" name="Grupo 30">
              <a:extLst>
                <a:ext uri="{FF2B5EF4-FFF2-40B4-BE49-F238E27FC236}">
                  <a16:creationId xmlns:a16="http://schemas.microsoft.com/office/drawing/2014/main" id="{F4550908-8633-4EDB-85ED-53B600E979B3}"/>
                </a:ext>
              </a:extLst>
            </p:cNvPr>
            <p:cNvGrpSpPr/>
            <p:nvPr/>
          </p:nvGrpSpPr>
          <p:grpSpPr>
            <a:xfrm>
              <a:off x="0" y="4141"/>
              <a:ext cx="12192000" cy="6849718"/>
              <a:chOff x="0" y="4141"/>
              <a:chExt cx="12192000" cy="6849718"/>
            </a:xfrm>
          </p:grpSpPr>
          <p:sp>
            <p:nvSpPr>
              <p:cNvPr id="33" name="Rectángulo 32">
                <a:extLst>
                  <a:ext uri="{FF2B5EF4-FFF2-40B4-BE49-F238E27FC236}">
                    <a16:creationId xmlns:a16="http://schemas.microsoft.com/office/drawing/2014/main" id="{050EC418-21ED-4099-A616-64049AE82550}"/>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34" name="Rectángulo 33">
                <a:extLst>
                  <a:ext uri="{FF2B5EF4-FFF2-40B4-BE49-F238E27FC236}">
                    <a16:creationId xmlns:a16="http://schemas.microsoft.com/office/drawing/2014/main" id="{AEE46C8A-38C8-4DDA-8AB2-A41A6C880318}"/>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35" name="Rectángulo 34">
                <a:extLst>
                  <a:ext uri="{FF2B5EF4-FFF2-40B4-BE49-F238E27FC236}">
                    <a16:creationId xmlns:a16="http://schemas.microsoft.com/office/drawing/2014/main" id="{46FA439C-7EC5-4DCD-8CC0-7B6F1F956EA9}"/>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32" name="Imagen 31">
              <a:extLst>
                <a:ext uri="{FF2B5EF4-FFF2-40B4-BE49-F238E27FC236}">
                  <a16:creationId xmlns:a16="http://schemas.microsoft.com/office/drawing/2014/main" id="{904EA942-2B7D-4110-B887-3D53417850E8}"/>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2" name="CuadroTexto 1">
            <a:extLst>
              <a:ext uri="{FF2B5EF4-FFF2-40B4-BE49-F238E27FC236}">
                <a16:creationId xmlns:a16="http://schemas.microsoft.com/office/drawing/2014/main" id="{05D76352-C05A-4DA9-98F0-52004D773E55}"/>
              </a:ext>
            </a:extLst>
          </p:cNvPr>
          <p:cNvSpPr txBox="1"/>
          <p:nvPr/>
        </p:nvSpPr>
        <p:spPr>
          <a:xfrm>
            <a:off x="3927019" y="1472051"/>
            <a:ext cx="6949964" cy="1384995"/>
          </a:xfrm>
          <a:prstGeom prst="rect">
            <a:avLst/>
          </a:prstGeom>
          <a:noFill/>
        </p:spPr>
        <p:txBody>
          <a:bodyPr wrap="square" rtlCol="0" anchor="ctr" anchorCtr="0">
            <a:spAutoFit/>
          </a:bodyPr>
          <a:lstStyle/>
          <a:p>
            <a:r>
              <a:rPr lang="es-AR" sz="2800" dirty="0"/>
              <a:t>Es la sucesión de elementos necesarios para efectuar una tarea u obtener una unidad de producción.</a:t>
            </a:r>
            <a:endParaRPr lang="es-AR" sz="2800" dirty="0">
              <a:effectLst>
                <a:outerShdw blurRad="60007" dist="310007" dir="7680000" sy="30000" kx="1300200" algn="ctr" rotWithShape="0">
                  <a:prstClr val="black">
                    <a:alpha val="32000"/>
                  </a:prstClr>
                </a:outerShdw>
              </a:effectLst>
            </a:endParaRPr>
          </a:p>
        </p:txBody>
      </p:sp>
      <p:sp>
        <p:nvSpPr>
          <p:cNvPr id="3" name="Rectángulo 2">
            <a:extLst>
              <a:ext uri="{FF2B5EF4-FFF2-40B4-BE49-F238E27FC236}">
                <a16:creationId xmlns:a16="http://schemas.microsoft.com/office/drawing/2014/main" id="{91C37A86-E194-4193-8EBB-4884B257CDAD}"/>
              </a:ext>
            </a:extLst>
          </p:cNvPr>
          <p:cNvSpPr/>
          <p:nvPr/>
        </p:nvSpPr>
        <p:spPr>
          <a:xfrm>
            <a:off x="267128" y="1387408"/>
            <a:ext cx="3307590" cy="146586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MX" sz="4800" i="1" dirty="0"/>
              <a:t>Ciclo de trabajo</a:t>
            </a:r>
            <a:endParaRPr lang="es-AR" sz="4000" i="1" dirty="0"/>
          </a:p>
        </p:txBody>
      </p:sp>
      <p:sp>
        <p:nvSpPr>
          <p:cNvPr id="4" name="Rectángulo 3">
            <a:extLst>
              <a:ext uri="{FF2B5EF4-FFF2-40B4-BE49-F238E27FC236}">
                <a16:creationId xmlns:a16="http://schemas.microsoft.com/office/drawing/2014/main" id="{CB56DB16-2DBF-4BB6-92D4-88020A086880}"/>
              </a:ext>
            </a:extLst>
          </p:cNvPr>
          <p:cNvSpPr/>
          <p:nvPr/>
        </p:nvSpPr>
        <p:spPr>
          <a:xfrm>
            <a:off x="5147510" y="3910375"/>
            <a:ext cx="2397661" cy="138584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MX" sz="2800" i="1" dirty="0"/>
              <a:t>Ciclo de trabajo</a:t>
            </a:r>
            <a:endParaRPr lang="es-AR" sz="2800" i="1" dirty="0"/>
          </a:p>
        </p:txBody>
      </p:sp>
      <p:sp>
        <p:nvSpPr>
          <p:cNvPr id="5" name="Rectángulo: esquinas redondeadas 4">
            <a:extLst>
              <a:ext uri="{FF2B5EF4-FFF2-40B4-BE49-F238E27FC236}">
                <a16:creationId xmlns:a16="http://schemas.microsoft.com/office/drawing/2014/main" id="{6B86248E-FACB-406D-BB83-CB6EC0742C6C}"/>
              </a:ext>
            </a:extLst>
          </p:cNvPr>
          <p:cNvSpPr/>
          <p:nvPr/>
        </p:nvSpPr>
        <p:spPr>
          <a:xfrm>
            <a:off x="1293659" y="3343323"/>
            <a:ext cx="2630691" cy="574271"/>
          </a:xfrm>
          <a:prstGeom prst="roundRect">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pPr algn="ctr"/>
            <a:r>
              <a:rPr lang="es-AR" sz="2800" dirty="0"/>
              <a:t>Elemento 1</a:t>
            </a:r>
          </a:p>
        </p:txBody>
      </p:sp>
      <p:sp>
        <p:nvSpPr>
          <p:cNvPr id="6" name="Rectángulo: esquinas redondeadas 5">
            <a:extLst>
              <a:ext uri="{FF2B5EF4-FFF2-40B4-BE49-F238E27FC236}">
                <a16:creationId xmlns:a16="http://schemas.microsoft.com/office/drawing/2014/main" id="{E122E721-27E7-495B-8108-FBD8C7225308}"/>
              </a:ext>
            </a:extLst>
          </p:cNvPr>
          <p:cNvSpPr/>
          <p:nvPr/>
        </p:nvSpPr>
        <p:spPr>
          <a:xfrm>
            <a:off x="1293658" y="4092218"/>
            <a:ext cx="2630691" cy="574271"/>
          </a:xfrm>
          <a:prstGeom prst="roundRect">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pPr algn="ctr"/>
            <a:r>
              <a:rPr lang="es-AR" sz="2800" dirty="0"/>
              <a:t>Elemento 2</a:t>
            </a:r>
          </a:p>
        </p:txBody>
      </p:sp>
      <p:sp>
        <p:nvSpPr>
          <p:cNvPr id="7" name="Rectángulo: esquinas redondeadas 6">
            <a:extLst>
              <a:ext uri="{FF2B5EF4-FFF2-40B4-BE49-F238E27FC236}">
                <a16:creationId xmlns:a16="http://schemas.microsoft.com/office/drawing/2014/main" id="{EF782444-684B-4461-970F-81E84FBBF953}"/>
              </a:ext>
            </a:extLst>
          </p:cNvPr>
          <p:cNvSpPr/>
          <p:nvPr/>
        </p:nvSpPr>
        <p:spPr>
          <a:xfrm>
            <a:off x="1293657" y="5360878"/>
            <a:ext cx="2630691" cy="574271"/>
          </a:xfrm>
          <a:prstGeom prst="roundRect">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pPr algn="ctr"/>
            <a:r>
              <a:rPr lang="es-AR" sz="2800" dirty="0"/>
              <a:t>Elemento n</a:t>
            </a:r>
          </a:p>
        </p:txBody>
      </p:sp>
      <p:sp>
        <p:nvSpPr>
          <p:cNvPr id="8" name="Elipse 7">
            <a:extLst>
              <a:ext uri="{FF2B5EF4-FFF2-40B4-BE49-F238E27FC236}">
                <a16:creationId xmlns:a16="http://schemas.microsoft.com/office/drawing/2014/main" id="{02E6934C-BAE6-4088-856E-CF3B71B76A67}"/>
              </a:ext>
            </a:extLst>
          </p:cNvPr>
          <p:cNvSpPr/>
          <p:nvPr/>
        </p:nvSpPr>
        <p:spPr>
          <a:xfrm>
            <a:off x="2547702" y="4775375"/>
            <a:ext cx="122598" cy="95956"/>
          </a:xfrm>
          <a:prstGeom prst="ellipse">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pPr algn="ctr"/>
            <a:endParaRPr lang="es-AR" sz="4000"/>
          </a:p>
        </p:txBody>
      </p:sp>
      <p:sp>
        <p:nvSpPr>
          <p:cNvPr id="9" name="Elipse 8">
            <a:extLst>
              <a:ext uri="{FF2B5EF4-FFF2-40B4-BE49-F238E27FC236}">
                <a16:creationId xmlns:a16="http://schemas.microsoft.com/office/drawing/2014/main" id="{DEBA0212-D038-467D-9694-4FE24A3C4816}"/>
              </a:ext>
            </a:extLst>
          </p:cNvPr>
          <p:cNvSpPr/>
          <p:nvPr/>
        </p:nvSpPr>
        <p:spPr>
          <a:xfrm>
            <a:off x="2547702" y="4963763"/>
            <a:ext cx="122598" cy="95956"/>
          </a:xfrm>
          <a:prstGeom prst="ellipse">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pPr algn="ctr"/>
            <a:endParaRPr lang="es-AR" sz="4000"/>
          </a:p>
        </p:txBody>
      </p:sp>
      <p:sp>
        <p:nvSpPr>
          <p:cNvPr id="10" name="Elipse 9">
            <a:extLst>
              <a:ext uri="{FF2B5EF4-FFF2-40B4-BE49-F238E27FC236}">
                <a16:creationId xmlns:a16="http://schemas.microsoft.com/office/drawing/2014/main" id="{ACDBE67F-DF52-4CC1-B9E1-6AC38A5ADECD}"/>
              </a:ext>
            </a:extLst>
          </p:cNvPr>
          <p:cNvSpPr/>
          <p:nvPr/>
        </p:nvSpPr>
        <p:spPr>
          <a:xfrm>
            <a:off x="2554914" y="5152151"/>
            <a:ext cx="122598" cy="95956"/>
          </a:xfrm>
          <a:prstGeom prst="ellipse">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pPr algn="ctr"/>
            <a:endParaRPr lang="es-AR" sz="4000"/>
          </a:p>
        </p:txBody>
      </p:sp>
      <p:sp>
        <p:nvSpPr>
          <p:cNvPr id="11" name="Cerrar llave 10">
            <a:extLst>
              <a:ext uri="{FF2B5EF4-FFF2-40B4-BE49-F238E27FC236}">
                <a16:creationId xmlns:a16="http://schemas.microsoft.com/office/drawing/2014/main" id="{B1DBFB54-7765-4F06-AA1C-868B6AAFAAC6}"/>
              </a:ext>
            </a:extLst>
          </p:cNvPr>
          <p:cNvSpPr/>
          <p:nvPr/>
        </p:nvSpPr>
        <p:spPr>
          <a:xfrm>
            <a:off x="4076673" y="3156168"/>
            <a:ext cx="432700" cy="2894262"/>
          </a:xfrm>
          <a:prstGeom prst="rightBrace">
            <a:avLst>
              <a:gd name="adj1" fmla="val 140000"/>
              <a:gd name="adj2" fmla="val 50000"/>
            </a:avLst>
          </a:prstGeom>
          <a:ln w="76200"/>
        </p:spPr>
        <p:style>
          <a:lnRef idx="3">
            <a:schemeClr val="accent2"/>
          </a:lnRef>
          <a:fillRef idx="0">
            <a:schemeClr val="accent2"/>
          </a:fillRef>
          <a:effectRef idx="2">
            <a:schemeClr val="accent2"/>
          </a:effectRef>
          <a:fontRef idx="minor">
            <a:schemeClr val="tx1"/>
          </a:fontRef>
        </p:style>
        <p:txBody>
          <a:bodyPr rtlCol="0" anchor="ctr"/>
          <a:lstStyle/>
          <a:p>
            <a:pPr algn="ctr"/>
            <a:endParaRPr lang="es-AR"/>
          </a:p>
        </p:txBody>
      </p:sp>
      <p:sp>
        <p:nvSpPr>
          <p:cNvPr id="13" name="Rectángulo 12">
            <a:extLst>
              <a:ext uri="{FF2B5EF4-FFF2-40B4-BE49-F238E27FC236}">
                <a16:creationId xmlns:a16="http://schemas.microsoft.com/office/drawing/2014/main" id="{8D2C5258-883F-458F-B7D9-3612A71C12F7}"/>
              </a:ext>
            </a:extLst>
          </p:cNvPr>
          <p:cNvSpPr/>
          <p:nvPr/>
        </p:nvSpPr>
        <p:spPr>
          <a:xfrm>
            <a:off x="8183310" y="3910375"/>
            <a:ext cx="2397661" cy="138584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MX" sz="2000" i="1" dirty="0"/>
              <a:t>1 unidad terminada de la actividad observada</a:t>
            </a:r>
            <a:endParaRPr lang="es-AR" sz="2000" i="1" dirty="0"/>
          </a:p>
        </p:txBody>
      </p:sp>
      <p:sp>
        <p:nvSpPr>
          <p:cNvPr id="15" name="CuadroTexto 14">
            <a:extLst>
              <a:ext uri="{FF2B5EF4-FFF2-40B4-BE49-F238E27FC236}">
                <a16:creationId xmlns:a16="http://schemas.microsoft.com/office/drawing/2014/main" id="{738B4575-2A80-4CA5-B44D-B8C2D42987C8}"/>
              </a:ext>
            </a:extLst>
          </p:cNvPr>
          <p:cNvSpPr txBox="1"/>
          <p:nvPr/>
        </p:nvSpPr>
        <p:spPr>
          <a:xfrm>
            <a:off x="7647890" y="4316332"/>
            <a:ext cx="432700" cy="553742"/>
          </a:xfrm>
          <a:prstGeom prst="rect">
            <a:avLst/>
          </a:prstGeom>
          <a:noFill/>
        </p:spPr>
        <p:txBody>
          <a:bodyPr wrap="square" rtlCol="0">
            <a:spAutoFit/>
          </a:bodyPr>
          <a:lstStyle/>
          <a:p>
            <a:pPr algn="ctr"/>
            <a:r>
              <a:rPr lang="es-AR" sz="4800" dirty="0">
                <a:latin typeface="Cambria Math" panose="02040503050406030204" pitchFamily="18" charset="0"/>
                <a:ea typeface="Cambria Math" panose="02040503050406030204" pitchFamily="18" charset="0"/>
              </a:rPr>
              <a:t>≡</a:t>
            </a:r>
            <a:endParaRPr lang="es-AR" sz="4800" dirty="0"/>
          </a:p>
        </p:txBody>
      </p:sp>
    </p:spTree>
    <p:extLst>
      <p:ext uri="{BB962C8B-B14F-4D97-AF65-F5344CB8AC3E}">
        <p14:creationId xmlns:p14="http://schemas.microsoft.com/office/powerpoint/2010/main" val="3815863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Procedimiento y Definiciones</a:t>
            </a:r>
            <a:endParaRPr lang="es-AR" sz="2800" dirty="0">
              <a:solidFill>
                <a:schemeClr val="tx1">
                  <a:lumMod val="65000"/>
                  <a:lumOff val="35000"/>
                </a:schemeClr>
              </a:solidFill>
            </a:endParaRPr>
          </a:p>
        </p:txBody>
      </p:sp>
      <p:sp>
        <p:nvSpPr>
          <p:cNvPr id="27" name="Rectángulo: esquinas redondeadas 26">
            <a:extLst>
              <a:ext uri="{FF2B5EF4-FFF2-40B4-BE49-F238E27FC236}">
                <a16:creationId xmlns:a16="http://schemas.microsoft.com/office/drawing/2014/main" id="{B17FDCC2-17F2-4869-A753-376D6F747A0B}"/>
              </a:ext>
            </a:extLst>
          </p:cNvPr>
          <p:cNvSpPr/>
          <p:nvPr/>
        </p:nvSpPr>
        <p:spPr>
          <a:xfrm>
            <a:off x="162119" y="1703294"/>
            <a:ext cx="3088493" cy="861805"/>
          </a:xfrm>
          <a:prstGeom prst="roundRect">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pPr algn="ctr"/>
            <a:r>
              <a:rPr lang="es-AR" sz="4000" dirty="0"/>
              <a:t>Elemento 1</a:t>
            </a:r>
          </a:p>
        </p:txBody>
      </p:sp>
      <p:grpSp>
        <p:nvGrpSpPr>
          <p:cNvPr id="30" name="Grupo 29">
            <a:extLst>
              <a:ext uri="{FF2B5EF4-FFF2-40B4-BE49-F238E27FC236}">
                <a16:creationId xmlns:a16="http://schemas.microsoft.com/office/drawing/2014/main" id="{C6F8B36E-045A-4F96-A6E3-614230581483}"/>
              </a:ext>
            </a:extLst>
          </p:cNvPr>
          <p:cNvGrpSpPr/>
          <p:nvPr/>
        </p:nvGrpSpPr>
        <p:grpSpPr>
          <a:xfrm>
            <a:off x="0" y="4141"/>
            <a:ext cx="12192000" cy="6849718"/>
            <a:chOff x="0" y="4141"/>
            <a:chExt cx="12192000" cy="6849718"/>
          </a:xfrm>
        </p:grpSpPr>
        <p:grpSp>
          <p:nvGrpSpPr>
            <p:cNvPr id="31" name="Grupo 30">
              <a:extLst>
                <a:ext uri="{FF2B5EF4-FFF2-40B4-BE49-F238E27FC236}">
                  <a16:creationId xmlns:a16="http://schemas.microsoft.com/office/drawing/2014/main" id="{F4550908-8633-4EDB-85ED-53B600E979B3}"/>
                </a:ext>
              </a:extLst>
            </p:cNvPr>
            <p:cNvGrpSpPr/>
            <p:nvPr/>
          </p:nvGrpSpPr>
          <p:grpSpPr>
            <a:xfrm>
              <a:off x="0" y="4141"/>
              <a:ext cx="12192000" cy="6849718"/>
              <a:chOff x="0" y="4141"/>
              <a:chExt cx="12192000" cy="6849718"/>
            </a:xfrm>
          </p:grpSpPr>
          <p:sp>
            <p:nvSpPr>
              <p:cNvPr id="33" name="Rectángulo 32">
                <a:extLst>
                  <a:ext uri="{FF2B5EF4-FFF2-40B4-BE49-F238E27FC236}">
                    <a16:creationId xmlns:a16="http://schemas.microsoft.com/office/drawing/2014/main" id="{050EC418-21ED-4099-A616-64049AE82550}"/>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34" name="Rectángulo 33">
                <a:extLst>
                  <a:ext uri="{FF2B5EF4-FFF2-40B4-BE49-F238E27FC236}">
                    <a16:creationId xmlns:a16="http://schemas.microsoft.com/office/drawing/2014/main" id="{AEE46C8A-38C8-4DDA-8AB2-A41A6C880318}"/>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35" name="Rectángulo 34">
                <a:extLst>
                  <a:ext uri="{FF2B5EF4-FFF2-40B4-BE49-F238E27FC236}">
                    <a16:creationId xmlns:a16="http://schemas.microsoft.com/office/drawing/2014/main" id="{46FA439C-7EC5-4DCD-8CC0-7B6F1F956EA9}"/>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32" name="Imagen 31">
              <a:extLst>
                <a:ext uri="{FF2B5EF4-FFF2-40B4-BE49-F238E27FC236}">
                  <a16:creationId xmlns:a16="http://schemas.microsoft.com/office/drawing/2014/main" id="{904EA942-2B7D-4110-B887-3D53417850E8}"/>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2" name="Rectángulo: esquinas redondeadas 1">
            <a:extLst>
              <a:ext uri="{FF2B5EF4-FFF2-40B4-BE49-F238E27FC236}">
                <a16:creationId xmlns:a16="http://schemas.microsoft.com/office/drawing/2014/main" id="{5AE8CBD7-2DE7-4C9F-8224-D954C2FF6C1C}"/>
              </a:ext>
            </a:extLst>
          </p:cNvPr>
          <p:cNvSpPr/>
          <p:nvPr/>
        </p:nvSpPr>
        <p:spPr>
          <a:xfrm>
            <a:off x="162118" y="2827156"/>
            <a:ext cx="3088493" cy="861805"/>
          </a:xfrm>
          <a:prstGeom prst="roundRect">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pPr algn="ctr"/>
            <a:r>
              <a:rPr lang="es-AR" sz="4000" dirty="0"/>
              <a:t>Elemento 2</a:t>
            </a:r>
          </a:p>
        </p:txBody>
      </p:sp>
      <p:sp>
        <p:nvSpPr>
          <p:cNvPr id="3" name="Rectángulo: esquinas redondeadas 2">
            <a:extLst>
              <a:ext uri="{FF2B5EF4-FFF2-40B4-BE49-F238E27FC236}">
                <a16:creationId xmlns:a16="http://schemas.microsoft.com/office/drawing/2014/main" id="{57B94184-7F82-4635-A4A0-22F7414D495B}"/>
              </a:ext>
            </a:extLst>
          </p:cNvPr>
          <p:cNvSpPr/>
          <p:nvPr/>
        </p:nvSpPr>
        <p:spPr>
          <a:xfrm>
            <a:off x="162117" y="4731026"/>
            <a:ext cx="3088493" cy="861805"/>
          </a:xfrm>
          <a:prstGeom prst="roundRect">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pPr algn="ctr"/>
            <a:r>
              <a:rPr lang="es-AR" sz="4000" dirty="0"/>
              <a:t>Elemento n</a:t>
            </a:r>
          </a:p>
        </p:txBody>
      </p:sp>
      <p:sp>
        <p:nvSpPr>
          <p:cNvPr id="5" name="Elipse 4">
            <a:extLst>
              <a:ext uri="{FF2B5EF4-FFF2-40B4-BE49-F238E27FC236}">
                <a16:creationId xmlns:a16="http://schemas.microsoft.com/office/drawing/2014/main" id="{6BDAFF8D-0410-4A47-B66C-94466E39049A}"/>
              </a:ext>
            </a:extLst>
          </p:cNvPr>
          <p:cNvSpPr/>
          <p:nvPr/>
        </p:nvSpPr>
        <p:spPr>
          <a:xfrm>
            <a:off x="1634396" y="3852365"/>
            <a:ext cx="143933" cy="144000"/>
          </a:xfrm>
          <a:prstGeom prst="ellipse">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pPr algn="ctr"/>
            <a:endParaRPr lang="es-AR" sz="4000"/>
          </a:p>
        </p:txBody>
      </p:sp>
      <p:sp>
        <p:nvSpPr>
          <p:cNvPr id="6" name="Elipse 5">
            <a:extLst>
              <a:ext uri="{FF2B5EF4-FFF2-40B4-BE49-F238E27FC236}">
                <a16:creationId xmlns:a16="http://schemas.microsoft.com/office/drawing/2014/main" id="{5D863A81-A5BF-4C3F-B6F1-6CC47E2F84AF}"/>
              </a:ext>
            </a:extLst>
          </p:cNvPr>
          <p:cNvSpPr/>
          <p:nvPr/>
        </p:nvSpPr>
        <p:spPr>
          <a:xfrm>
            <a:off x="1634396" y="4135078"/>
            <a:ext cx="143933" cy="144000"/>
          </a:xfrm>
          <a:prstGeom prst="ellipse">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pPr algn="ctr"/>
            <a:endParaRPr lang="es-AR" sz="4000"/>
          </a:p>
        </p:txBody>
      </p:sp>
      <p:sp>
        <p:nvSpPr>
          <p:cNvPr id="7" name="Elipse 6">
            <a:extLst>
              <a:ext uri="{FF2B5EF4-FFF2-40B4-BE49-F238E27FC236}">
                <a16:creationId xmlns:a16="http://schemas.microsoft.com/office/drawing/2014/main" id="{1ACD7158-AE76-44F3-916B-0F96314C32D5}"/>
              </a:ext>
            </a:extLst>
          </p:cNvPr>
          <p:cNvSpPr/>
          <p:nvPr/>
        </p:nvSpPr>
        <p:spPr>
          <a:xfrm>
            <a:off x="1642863" y="4417791"/>
            <a:ext cx="143933" cy="144000"/>
          </a:xfrm>
          <a:prstGeom prst="ellipse">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pPr algn="ctr"/>
            <a:endParaRPr lang="es-AR" sz="4000"/>
          </a:p>
        </p:txBody>
      </p:sp>
      <p:sp>
        <p:nvSpPr>
          <p:cNvPr id="9" name="Rectángulo 8">
            <a:extLst>
              <a:ext uri="{FF2B5EF4-FFF2-40B4-BE49-F238E27FC236}">
                <a16:creationId xmlns:a16="http://schemas.microsoft.com/office/drawing/2014/main" id="{EC86EE7C-51F6-4B23-B378-E8A451967E36}"/>
              </a:ext>
            </a:extLst>
          </p:cNvPr>
          <p:cNvSpPr/>
          <p:nvPr/>
        </p:nvSpPr>
        <p:spPr>
          <a:xfrm>
            <a:off x="3490623" y="1886817"/>
            <a:ext cx="8380674" cy="55747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342900" indent="-342900">
              <a:buFont typeface="Arial" panose="020B0604020202020204" pitchFamily="34" charset="0"/>
              <a:buChar char="•"/>
            </a:pPr>
            <a:r>
              <a:rPr lang="es-AR" sz="2400" dirty="0"/>
              <a:t>Separar el tiempo productivo del tiempo improductivo.</a:t>
            </a:r>
          </a:p>
        </p:txBody>
      </p:sp>
      <p:sp>
        <p:nvSpPr>
          <p:cNvPr id="24" name="CuadroTexto 23">
            <a:extLst>
              <a:ext uri="{FF2B5EF4-FFF2-40B4-BE49-F238E27FC236}">
                <a16:creationId xmlns:a16="http://schemas.microsoft.com/office/drawing/2014/main" id="{11043C44-5047-45E0-9A31-CC538E5903B2}"/>
              </a:ext>
            </a:extLst>
          </p:cNvPr>
          <p:cNvSpPr txBox="1"/>
          <p:nvPr/>
        </p:nvSpPr>
        <p:spPr>
          <a:xfrm>
            <a:off x="3416696" y="1370560"/>
            <a:ext cx="8398837" cy="461665"/>
          </a:xfrm>
          <a:prstGeom prst="rect">
            <a:avLst/>
          </a:prstGeom>
          <a:noFill/>
        </p:spPr>
        <p:txBody>
          <a:bodyPr wrap="square" rtlCol="0" anchor="ctr" anchorCtr="0">
            <a:spAutoFit/>
          </a:bodyPr>
          <a:lstStyle/>
          <a:p>
            <a:r>
              <a:rPr lang="es-AR" sz="2400" dirty="0"/>
              <a:t>Descomponer la actividad en elementos nos permite:</a:t>
            </a:r>
            <a:endParaRPr lang="es-AR" sz="2400" dirty="0">
              <a:effectLst>
                <a:outerShdw blurRad="60007" dist="310007" dir="7680000" sy="30000" kx="1300200" algn="ctr" rotWithShape="0">
                  <a:prstClr val="black">
                    <a:alpha val="32000"/>
                  </a:prstClr>
                </a:outerShdw>
              </a:effectLst>
            </a:endParaRPr>
          </a:p>
        </p:txBody>
      </p:sp>
      <p:sp>
        <p:nvSpPr>
          <p:cNvPr id="11" name="Rectángulo 10">
            <a:extLst>
              <a:ext uri="{FF2B5EF4-FFF2-40B4-BE49-F238E27FC236}">
                <a16:creationId xmlns:a16="http://schemas.microsoft.com/office/drawing/2014/main" id="{91098B06-D839-4645-B2BB-727C2113E926}"/>
              </a:ext>
            </a:extLst>
          </p:cNvPr>
          <p:cNvSpPr/>
          <p:nvPr/>
        </p:nvSpPr>
        <p:spPr>
          <a:xfrm>
            <a:off x="3490623" y="2539375"/>
            <a:ext cx="8380674" cy="19543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t" anchorCtr="0"/>
          <a:lstStyle/>
          <a:p>
            <a:pPr marL="342900" indent="-342900">
              <a:buFont typeface="Arial" panose="020B0604020202020204" pitchFamily="34" charset="0"/>
              <a:buChar char="•"/>
            </a:pPr>
            <a:r>
              <a:rPr lang="es-AR" sz="2400" dirty="0"/>
              <a:t>Evaluar la cadencia de trabajo con mayor exactitud de la que es posible con un ciclo íntegro, dado que es posible que el operario no trabaje al mismo ritmo durante todo el ciclo y/o este tenga más destreza para ejecutar ciertas operaciones.</a:t>
            </a:r>
          </a:p>
        </p:txBody>
      </p:sp>
      <p:sp>
        <p:nvSpPr>
          <p:cNvPr id="14" name="Rectángulo 13">
            <a:extLst>
              <a:ext uri="{FF2B5EF4-FFF2-40B4-BE49-F238E27FC236}">
                <a16:creationId xmlns:a16="http://schemas.microsoft.com/office/drawing/2014/main" id="{59BFB30F-CE47-4B05-9BC2-5EC1586521BD}"/>
              </a:ext>
            </a:extLst>
          </p:cNvPr>
          <p:cNvSpPr/>
          <p:nvPr/>
        </p:nvSpPr>
        <p:spPr>
          <a:xfrm>
            <a:off x="3490623" y="4590840"/>
            <a:ext cx="8380674" cy="55747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342900" indent="-342900">
              <a:buFont typeface="Arial" panose="020B0604020202020204" pitchFamily="34" charset="0"/>
              <a:buChar char="•"/>
            </a:pPr>
            <a:r>
              <a:rPr lang="es-AR" sz="2400" dirty="0"/>
              <a:t>Ocuparse de cada elemento según su tipo.</a:t>
            </a:r>
          </a:p>
        </p:txBody>
      </p:sp>
    </p:spTree>
    <p:extLst>
      <p:ext uri="{BB962C8B-B14F-4D97-AF65-F5344CB8AC3E}">
        <p14:creationId xmlns:p14="http://schemas.microsoft.com/office/powerpoint/2010/main" val="10987522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1+#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Procedimiento y Definiciones</a:t>
            </a:r>
            <a:endParaRPr lang="es-AR" sz="2800" dirty="0">
              <a:solidFill>
                <a:schemeClr val="tx1">
                  <a:lumMod val="65000"/>
                  <a:lumOff val="35000"/>
                </a:schemeClr>
              </a:solidFill>
            </a:endParaRPr>
          </a:p>
        </p:txBody>
      </p:sp>
      <p:sp>
        <p:nvSpPr>
          <p:cNvPr id="27" name="Rectángulo: esquinas redondeadas 26">
            <a:extLst>
              <a:ext uri="{FF2B5EF4-FFF2-40B4-BE49-F238E27FC236}">
                <a16:creationId xmlns:a16="http://schemas.microsoft.com/office/drawing/2014/main" id="{B17FDCC2-17F2-4869-A753-376D6F747A0B}"/>
              </a:ext>
            </a:extLst>
          </p:cNvPr>
          <p:cNvSpPr/>
          <p:nvPr/>
        </p:nvSpPr>
        <p:spPr>
          <a:xfrm>
            <a:off x="162119" y="1703294"/>
            <a:ext cx="3088493" cy="861805"/>
          </a:xfrm>
          <a:prstGeom prst="roundRect">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pPr algn="ctr"/>
            <a:r>
              <a:rPr lang="es-AR" sz="4000" dirty="0"/>
              <a:t>Elemento 1</a:t>
            </a:r>
          </a:p>
        </p:txBody>
      </p:sp>
      <p:grpSp>
        <p:nvGrpSpPr>
          <p:cNvPr id="30" name="Grupo 29">
            <a:extLst>
              <a:ext uri="{FF2B5EF4-FFF2-40B4-BE49-F238E27FC236}">
                <a16:creationId xmlns:a16="http://schemas.microsoft.com/office/drawing/2014/main" id="{C6F8B36E-045A-4F96-A6E3-614230581483}"/>
              </a:ext>
            </a:extLst>
          </p:cNvPr>
          <p:cNvGrpSpPr/>
          <p:nvPr/>
        </p:nvGrpSpPr>
        <p:grpSpPr>
          <a:xfrm>
            <a:off x="0" y="4141"/>
            <a:ext cx="12192000" cy="6849718"/>
            <a:chOff x="0" y="4141"/>
            <a:chExt cx="12192000" cy="6849718"/>
          </a:xfrm>
        </p:grpSpPr>
        <p:grpSp>
          <p:nvGrpSpPr>
            <p:cNvPr id="31" name="Grupo 30">
              <a:extLst>
                <a:ext uri="{FF2B5EF4-FFF2-40B4-BE49-F238E27FC236}">
                  <a16:creationId xmlns:a16="http://schemas.microsoft.com/office/drawing/2014/main" id="{F4550908-8633-4EDB-85ED-53B600E979B3}"/>
                </a:ext>
              </a:extLst>
            </p:cNvPr>
            <p:cNvGrpSpPr/>
            <p:nvPr/>
          </p:nvGrpSpPr>
          <p:grpSpPr>
            <a:xfrm>
              <a:off x="0" y="4141"/>
              <a:ext cx="12192000" cy="6849718"/>
              <a:chOff x="0" y="4141"/>
              <a:chExt cx="12192000" cy="6849718"/>
            </a:xfrm>
          </p:grpSpPr>
          <p:sp>
            <p:nvSpPr>
              <p:cNvPr id="33" name="Rectángulo 32">
                <a:extLst>
                  <a:ext uri="{FF2B5EF4-FFF2-40B4-BE49-F238E27FC236}">
                    <a16:creationId xmlns:a16="http://schemas.microsoft.com/office/drawing/2014/main" id="{050EC418-21ED-4099-A616-64049AE82550}"/>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34" name="Rectángulo 33">
                <a:extLst>
                  <a:ext uri="{FF2B5EF4-FFF2-40B4-BE49-F238E27FC236}">
                    <a16:creationId xmlns:a16="http://schemas.microsoft.com/office/drawing/2014/main" id="{AEE46C8A-38C8-4DDA-8AB2-A41A6C880318}"/>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35" name="Rectángulo 34">
                <a:extLst>
                  <a:ext uri="{FF2B5EF4-FFF2-40B4-BE49-F238E27FC236}">
                    <a16:creationId xmlns:a16="http://schemas.microsoft.com/office/drawing/2014/main" id="{46FA439C-7EC5-4DCD-8CC0-7B6F1F956EA9}"/>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32" name="Imagen 31">
              <a:extLst>
                <a:ext uri="{FF2B5EF4-FFF2-40B4-BE49-F238E27FC236}">
                  <a16:creationId xmlns:a16="http://schemas.microsoft.com/office/drawing/2014/main" id="{904EA942-2B7D-4110-B887-3D53417850E8}"/>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2" name="Rectángulo: esquinas redondeadas 1">
            <a:extLst>
              <a:ext uri="{FF2B5EF4-FFF2-40B4-BE49-F238E27FC236}">
                <a16:creationId xmlns:a16="http://schemas.microsoft.com/office/drawing/2014/main" id="{5AE8CBD7-2DE7-4C9F-8224-D954C2FF6C1C}"/>
              </a:ext>
            </a:extLst>
          </p:cNvPr>
          <p:cNvSpPr/>
          <p:nvPr/>
        </p:nvSpPr>
        <p:spPr>
          <a:xfrm>
            <a:off x="162118" y="2827156"/>
            <a:ext cx="3088493" cy="861805"/>
          </a:xfrm>
          <a:prstGeom prst="roundRect">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pPr algn="ctr"/>
            <a:r>
              <a:rPr lang="es-AR" sz="4000" dirty="0"/>
              <a:t>Elemento 2</a:t>
            </a:r>
          </a:p>
        </p:txBody>
      </p:sp>
      <p:sp>
        <p:nvSpPr>
          <p:cNvPr id="3" name="Rectángulo: esquinas redondeadas 2">
            <a:extLst>
              <a:ext uri="{FF2B5EF4-FFF2-40B4-BE49-F238E27FC236}">
                <a16:creationId xmlns:a16="http://schemas.microsoft.com/office/drawing/2014/main" id="{57B94184-7F82-4635-A4A0-22F7414D495B}"/>
              </a:ext>
            </a:extLst>
          </p:cNvPr>
          <p:cNvSpPr/>
          <p:nvPr/>
        </p:nvSpPr>
        <p:spPr>
          <a:xfrm>
            <a:off x="162117" y="4731026"/>
            <a:ext cx="3088493" cy="861805"/>
          </a:xfrm>
          <a:prstGeom prst="roundRect">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pPr algn="ctr"/>
            <a:r>
              <a:rPr lang="es-AR" sz="4000" dirty="0"/>
              <a:t>Elemento n</a:t>
            </a:r>
          </a:p>
        </p:txBody>
      </p:sp>
      <p:sp>
        <p:nvSpPr>
          <p:cNvPr id="5" name="Elipse 4">
            <a:extLst>
              <a:ext uri="{FF2B5EF4-FFF2-40B4-BE49-F238E27FC236}">
                <a16:creationId xmlns:a16="http://schemas.microsoft.com/office/drawing/2014/main" id="{6BDAFF8D-0410-4A47-B66C-94466E39049A}"/>
              </a:ext>
            </a:extLst>
          </p:cNvPr>
          <p:cNvSpPr/>
          <p:nvPr/>
        </p:nvSpPr>
        <p:spPr>
          <a:xfrm>
            <a:off x="1634396" y="3852365"/>
            <a:ext cx="143933" cy="144000"/>
          </a:xfrm>
          <a:prstGeom prst="ellipse">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pPr algn="ctr"/>
            <a:endParaRPr lang="es-AR" sz="4000"/>
          </a:p>
        </p:txBody>
      </p:sp>
      <p:sp>
        <p:nvSpPr>
          <p:cNvPr id="6" name="Elipse 5">
            <a:extLst>
              <a:ext uri="{FF2B5EF4-FFF2-40B4-BE49-F238E27FC236}">
                <a16:creationId xmlns:a16="http://schemas.microsoft.com/office/drawing/2014/main" id="{5D863A81-A5BF-4C3F-B6F1-6CC47E2F84AF}"/>
              </a:ext>
            </a:extLst>
          </p:cNvPr>
          <p:cNvSpPr/>
          <p:nvPr/>
        </p:nvSpPr>
        <p:spPr>
          <a:xfrm>
            <a:off x="1634396" y="4135078"/>
            <a:ext cx="143933" cy="144000"/>
          </a:xfrm>
          <a:prstGeom prst="ellipse">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pPr algn="ctr"/>
            <a:endParaRPr lang="es-AR" sz="4000"/>
          </a:p>
        </p:txBody>
      </p:sp>
      <p:sp>
        <p:nvSpPr>
          <p:cNvPr id="7" name="Elipse 6">
            <a:extLst>
              <a:ext uri="{FF2B5EF4-FFF2-40B4-BE49-F238E27FC236}">
                <a16:creationId xmlns:a16="http://schemas.microsoft.com/office/drawing/2014/main" id="{1ACD7158-AE76-44F3-916B-0F96314C32D5}"/>
              </a:ext>
            </a:extLst>
          </p:cNvPr>
          <p:cNvSpPr/>
          <p:nvPr/>
        </p:nvSpPr>
        <p:spPr>
          <a:xfrm>
            <a:off x="1642863" y="4417791"/>
            <a:ext cx="143933" cy="144000"/>
          </a:xfrm>
          <a:prstGeom prst="ellipse">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pPr algn="ctr"/>
            <a:endParaRPr lang="es-AR" sz="4000"/>
          </a:p>
        </p:txBody>
      </p:sp>
      <p:sp>
        <p:nvSpPr>
          <p:cNvPr id="24" name="CuadroTexto 23">
            <a:extLst>
              <a:ext uri="{FF2B5EF4-FFF2-40B4-BE49-F238E27FC236}">
                <a16:creationId xmlns:a16="http://schemas.microsoft.com/office/drawing/2014/main" id="{11043C44-5047-45E0-9A31-CC538E5903B2}"/>
              </a:ext>
            </a:extLst>
          </p:cNvPr>
          <p:cNvSpPr txBox="1"/>
          <p:nvPr/>
        </p:nvSpPr>
        <p:spPr>
          <a:xfrm>
            <a:off x="3416696" y="1370560"/>
            <a:ext cx="8398837" cy="461665"/>
          </a:xfrm>
          <a:prstGeom prst="rect">
            <a:avLst/>
          </a:prstGeom>
          <a:noFill/>
        </p:spPr>
        <p:txBody>
          <a:bodyPr wrap="square" rtlCol="0" anchor="ctr" anchorCtr="0">
            <a:spAutoFit/>
          </a:bodyPr>
          <a:lstStyle/>
          <a:p>
            <a:r>
              <a:rPr lang="es-AR" sz="2400" dirty="0"/>
              <a:t>Descomponer la actividad en elementos nos permite:</a:t>
            </a:r>
            <a:endParaRPr lang="es-AR" sz="2400" dirty="0">
              <a:effectLst>
                <a:outerShdw blurRad="60007" dist="310007" dir="7680000" sy="30000" kx="1300200" algn="ctr" rotWithShape="0">
                  <a:prstClr val="black">
                    <a:alpha val="32000"/>
                  </a:prstClr>
                </a:outerShdw>
              </a:effectLst>
            </a:endParaRPr>
          </a:p>
        </p:txBody>
      </p:sp>
      <p:sp>
        <p:nvSpPr>
          <p:cNvPr id="15" name="Rectángulo 14">
            <a:extLst>
              <a:ext uri="{FF2B5EF4-FFF2-40B4-BE49-F238E27FC236}">
                <a16:creationId xmlns:a16="http://schemas.microsoft.com/office/drawing/2014/main" id="{DCB59F1D-A312-4382-A17C-C639EA528C18}"/>
              </a:ext>
            </a:extLst>
          </p:cNvPr>
          <p:cNvSpPr/>
          <p:nvPr/>
        </p:nvSpPr>
        <p:spPr>
          <a:xfrm>
            <a:off x="3468855" y="1884657"/>
            <a:ext cx="8380674" cy="83471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342900" indent="-342900">
              <a:buFont typeface="Arial" panose="020B0604020202020204" pitchFamily="34" charset="0"/>
              <a:buChar char="•"/>
            </a:pPr>
            <a:r>
              <a:rPr lang="es-AR" sz="2400" dirty="0"/>
              <a:t>Aislar los elementos que causan mayor fatiga y fijar con mayor precisión sus correspondientes suplementos.</a:t>
            </a:r>
          </a:p>
        </p:txBody>
      </p:sp>
      <p:sp>
        <p:nvSpPr>
          <p:cNvPr id="8" name="Rectángulo 7">
            <a:extLst>
              <a:ext uri="{FF2B5EF4-FFF2-40B4-BE49-F238E27FC236}">
                <a16:creationId xmlns:a16="http://schemas.microsoft.com/office/drawing/2014/main" id="{CCDCD758-9E80-4019-B592-42456441802C}"/>
              </a:ext>
            </a:extLst>
          </p:cNvPr>
          <p:cNvSpPr/>
          <p:nvPr/>
        </p:nvSpPr>
        <p:spPr>
          <a:xfrm>
            <a:off x="3468856" y="2841714"/>
            <a:ext cx="8380674" cy="120887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342900" indent="-342900">
              <a:buFont typeface="Arial" panose="020B0604020202020204" pitchFamily="34" charset="0"/>
              <a:buChar char="•"/>
            </a:pPr>
            <a:r>
              <a:rPr lang="es-AR" sz="2400" dirty="0"/>
              <a:t>Permite verificar con mayor facilidad el método de trabajo, de manera tal que se pueda detectar la adición u omisión de elementos.</a:t>
            </a:r>
          </a:p>
        </p:txBody>
      </p:sp>
      <p:sp>
        <p:nvSpPr>
          <p:cNvPr id="10" name="Rectángulo 9">
            <a:extLst>
              <a:ext uri="{FF2B5EF4-FFF2-40B4-BE49-F238E27FC236}">
                <a16:creationId xmlns:a16="http://schemas.microsoft.com/office/drawing/2014/main" id="{3F74DA51-20AF-404C-8DC1-442285B2CDE2}"/>
              </a:ext>
            </a:extLst>
          </p:cNvPr>
          <p:cNvSpPr/>
          <p:nvPr/>
        </p:nvSpPr>
        <p:spPr>
          <a:xfrm>
            <a:off x="3468856" y="4172923"/>
            <a:ext cx="8380674" cy="55747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342900" indent="-342900">
              <a:buFont typeface="Arial" panose="020B0604020202020204" pitchFamily="34" charset="0"/>
              <a:buChar char="•"/>
            </a:pPr>
            <a:r>
              <a:rPr lang="es-AR" sz="2400" dirty="0"/>
              <a:t>Hacer una especificación detallada del trabajo.</a:t>
            </a:r>
          </a:p>
        </p:txBody>
      </p:sp>
      <p:sp>
        <p:nvSpPr>
          <p:cNvPr id="13" name="Rectángulo 12">
            <a:extLst>
              <a:ext uri="{FF2B5EF4-FFF2-40B4-BE49-F238E27FC236}">
                <a16:creationId xmlns:a16="http://schemas.microsoft.com/office/drawing/2014/main" id="{E0192784-5764-4D12-BC4D-E6F1A261C7AF}"/>
              </a:ext>
            </a:extLst>
          </p:cNvPr>
          <p:cNvSpPr/>
          <p:nvPr/>
        </p:nvSpPr>
        <p:spPr>
          <a:xfrm>
            <a:off x="3468855" y="4858238"/>
            <a:ext cx="8380674" cy="77078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342900" indent="-342900">
              <a:buFont typeface="Arial" panose="020B0604020202020204" pitchFamily="34" charset="0"/>
              <a:buChar char="•"/>
            </a:pPr>
            <a:r>
              <a:rPr lang="es-AR" sz="2400" dirty="0"/>
              <a:t>Extraer los tiempos de los elementos de mayor repetición, con el objetivo de establecer datos estándar.</a:t>
            </a:r>
          </a:p>
        </p:txBody>
      </p:sp>
    </p:spTree>
    <p:extLst>
      <p:ext uri="{BB962C8B-B14F-4D97-AF65-F5344CB8AC3E}">
        <p14:creationId xmlns:p14="http://schemas.microsoft.com/office/powerpoint/2010/main" val="368596580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1+#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1+#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1+#ppt_w/2"/>
                                          </p:val>
                                        </p:tav>
                                        <p:tav tm="100000">
                                          <p:val>
                                            <p:strVal val="#ppt_x"/>
                                          </p:val>
                                        </p:tav>
                                      </p:tavLst>
                                    </p:anim>
                                    <p:anim calcmode="lin" valueType="num">
                                      <p:cBhvr additive="base">
                                        <p:cTn id="20"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1+#ppt_w/2"/>
                                          </p:val>
                                        </p:tav>
                                        <p:tav tm="100000">
                                          <p:val>
                                            <p:strVal val="#ppt_x"/>
                                          </p:val>
                                        </p:tav>
                                      </p:tavLst>
                                    </p:anim>
                                    <p:anim calcmode="lin" valueType="num">
                                      <p:cBhvr additive="base">
                                        <p:cTn id="26"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8" grpId="0" animBg="1"/>
      <p:bldP spid="10"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Procedimiento y Definiciones</a:t>
            </a:r>
            <a:endParaRPr lang="es-AR" sz="2800" dirty="0">
              <a:solidFill>
                <a:schemeClr val="tx1">
                  <a:lumMod val="65000"/>
                  <a:lumOff val="35000"/>
                </a:schemeClr>
              </a:solidFill>
            </a:endParaRPr>
          </a:p>
        </p:txBody>
      </p:sp>
      <p:sp>
        <p:nvSpPr>
          <p:cNvPr id="27" name="Rectángulo: esquinas redondeadas 26">
            <a:extLst>
              <a:ext uri="{FF2B5EF4-FFF2-40B4-BE49-F238E27FC236}">
                <a16:creationId xmlns:a16="http://schemas.microsoft.com/office/drawing/2014/main" id="{B17FDCC2-17F2-4869-A753-376D6F747A0B}"/>
              </a:ext>
            </a:extLst>
          </p:cNvPr>
          <p:cNvSpPr/>
          <p:nvPr/>
        </p:nvSpPr>
        <p:spPr>
          <a:xfrm rot="16200000">
            <a:off x="-652669" y="3105275"/>
            <a:ext cx="3088493" cy="861805"/>
          </a:xfrm>
          <a:prstGeom prst="roundRect">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pPr algn="ctr"/>
            <a:r>
              <a:rPr lang="es-AR" sz="4000" dirty="0"/>
              <a:t>Elemento</a:t>
            </a:r>
          </a:p>
        </p:txBody>
      </p:sp>
      <p:grpSp>
        <p:nvGrpSpPr>
          <p:cNvPr id="30" name="Grupo 29">
            <a:extLst>
              <a:ext uri="{FF2B5EF4-FFF2-40B4-BE49-F238E27FC236}">
                <a16:creationId xmlns:a16="http://schemas.microsoft.com/office/drawing/2014/main" id="{C6F8B36E-045A-4F96-A6E3-614230581483}"/>
              </a:ext>
            </a:extLst>
          </p:cNvPr>
          <p:cNvGrpSpPr/>
          <p:nvPr/>
        </p:nvGrpSpPr>
        <p:grpSpPr>
          <a:xfrm>
            <a:off x="0" y="4141"/>
            <a:ext cx="12192000" cy="6849718"/>
            <a:chOff x="0" y="4141"/>
            <a:chExt cx="12192000" cy="6849718"/>
          </a:xfrm>
        </p:grpSpPr>
        <p:grpSp>
          <p:nvGrpSpPr>
            <p:cNvPr id="31" name="Grupo 30">
              <a:extLst>
                <a:ext uri="{FF2B5EF4-FFF2-40B4-BE49-F238E27FC236}">
                  <a16:creationId xmlns:a16="http://schemas.microsoft.com/office/drawing/2014/main" id="{F4550908-8633-4EDB-85ED-53B600E979B3}"/>
                </a:ext>
              </a:extLst>
            </p:cNvPr>
            <p:cNvGrpSpPr/>
            <p:nvPr/>
          </p:nvGrpSpPr>
          <p:grpSpPr>
            <a:xfrm>
              <a:off x="0" y="4141"/>
              <a:ext cx="12192000" cy="6849718"/>
              <a:chOff x="0" y="4141"/>
              <a:chExt cx="12192000" cy="6849718"/>
            </a:xfrm>
          </p:grpSpPr>
          <p:sp>
            <p:nvSpPr>
              <p:cNvPr id="33" name="Rectángulo 32">
                <a:extLst>
                  <a:ext uri="{FF2B5EF4-FFF2-40B4-BE49-F238E27FC236}">
                    <a16:creationId xmlns:a16="http://schemas.microsoft.com/office/drawing/2014/main" id="{050EC418-21ED-4099-A616-64049AE82550}"/>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34" name="Rectángulo 33">
                <a:extLst>
                  <a:ext uri="{FF2B5EF4-FFF2-40B4-BE49-F238E27FC236}">
                    <a16:creationId xmlns:a16="http://schemas.microsoft.com/office/drawing/2014/main" id="{AEE46C8A-38C8-4DDA-8AB2-A41A6C880318}"/>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35" name="Rectángulo 34">
                <a:extLst>
                  <a:ext uri="{FF2B5EF4-FFF2-40B4-BE49-F238E27FC236}">
                    <a16:creationId xmlns:a16="http://schemas.microsoft.com/office/drawing/2014/main" id="{46FA439C-7EC5-4DCD-8CC0-7B6F1F956EA9}"/>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32" name="Imagen 31">
              <a:extLst>
                <a:ext uri="{FF2B5EF4-FFF2-40B4-BE49-F238E27FC236}">
                  <a16:creationId xmlns:a16="http://schemas.microsoft.com/office/drawing/2014/main" id="{904EA942-2B7D-4110-B887-3D53417850E8}"/>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18" name="CuadroTexto 17">
            <a:extLst>
              <a:ext uri="{FF2B5EF4-FFF2-40B4-BE49-F238E27FC236}">
                <a16:creationId xmlns:a16="http://schemas.microsoft.com/office/drawing/2014/main" id="{BD947677-FB69-4D8E-9996-6A31DF46A8F2}"/>
              </a:ext>
            </a:extLst>
          </p:cNvPr>
          <p:cNvSpPr txBox="1"/>
          <p:nvPr/>
        </p:nvSpPr>
        <p:spPr>
          <a:xfrm>
            <a:off x="2057447" y="1411305"/>
            <a:ext cx="9673877" cy="954107"/>
          </a:xfrm>
          <a:prstGeom prst="rect">
            <a:avLst/>
          </a:prstGeom>
          <a:noFill/>
        </p:spPr>
        <p:txBody>
          <a:bodyPr wrap="square" rtlCol="0" anchor="ctr" anchorCtr="0">
            <a:spAutoFit/>
          </a:bodyPr>
          <a:lstStyle/>
          <a:p>
            <a:r>
              <a:rPr lang="es-AR" sz="2800" b="1" dirty="0"/>
              <a:t>Repetitivos</a:t>
            </a:r>
            <a:r>
              <a:rPr lang="es-AR" sz="2800" dirty="0"/>
              <a:t>: Son los que reaparecen en cada ciclo de trabajo estudiado</a:t>
            </a:r>
            <a:endParaRPr lang="es-AR" sz="2800" dirty="0">
              <a:effectLst>
                <a:outerShdw blurRad="60007" dist="310007" dir="7680000" sy="30000" kx="1300200" algn="ctr" rotWithShape="0">
                  <a:prstClr val="black">
                    <a:alpha val="32000"/>
                  </a:prstClr>
                </a:outerShdw>
              </a:effectLst>
            </a:endParaRPr>
          </a:p>
        </p:txBody>
      </p:sp>
      <p:sp>
        <p:nvSpPr>
          <p:cNvPr id="13" name="CuadroTexto 12">
            <a:extLst>
              <a:ext uri="{FF2B5EF4-FFF2-40B4-BE49-F238E27FC236}">
                <a16:creationId xmlns:a16="http://schemas.microsoft.com/office/drawing/2014/main" id="{7C64D577-F2EC-4005-8364-2EB11B1469CD}"/>
              </a:ext>
            </a:extLst>
          </p:cNvPr>
          <p:cNvSpPr txBox="1"/>
          <p:nvPr/>
        </p:nvSpPr>
        <p:spPr>
          <a:xfrm>
            <a:off x="2057448" y="2577637"/>
            <a:ext cx="9673878" cy="954107"/>
          </a:xfrm>
          <a:prstGeom prst="rect">
            <a:avLst/>
          </a:prstGeom>
          <a:noFill/>
        </p:spPr>
        <p:txBody>
          <a:bodyPr wrap="square" rtlCol="0" anchor="ctr" anchorCtr="0">
            <a:spAutoFit/>
          </a:bodyPr>
          <a:lstStyle/>
          <a:p>
            <a:r>
              <a:rPr lang="es-AR" sz="2800" b="1" dirty="0"/>
              <a:t>Casuales</a:t>
            </a:r>
            <a:r>
              <a:rPr lang="es-AR" sz="2800" dirty="0"/>
              <a:t>: no reaparecen en cada ciclo de trabajo, sino a intervalos tanto regulares como irregulares</a:t>
            </a:r>
            <a:endParaRPr lang="es-AR" sz="2800" dirty="0">
              <a:effectLst>
                <a:outerShdw blurRad="60007" dist="310007" dir="7680000" sy="30000" kx="1300200" algn="ctr" rotWithShape="0">
                  <a:prstClr val="black">
                    <a:alpha val="32000"/>
                  </a:prstClr>
                </a:outerShdw>
              </a:effectLst>
            </a:endParaRPr>
          </a:p>
        </p:txBody>
      </p:sp>
      <p:sp>
        <p:nvSpPr>
          <p:cNvPr id="14" name="CuadroTexto 13">
            <a:extLst>
              <a:ext uri="{FF2B5EF4-FFF2-40B4-BE49-F238E27FC236}">
                <a16:creationId xmlns:a16="http://schemas.microsoft.com/office/drawing/2014/main" id="{DE36DE0A-8473-4EA4-AD20-C59498CCA93F}"/>
              </a:ext>
            </a:extLst>
          </p:cNvPr>
          <p:cNvSpPr txBox="1"/>
          <p:nvPr/>
        </p:nvSpPr>
        <p:spPr>
          <a:xfrm>
            <a:off x="2057445" y="3739996"/>
            <a:ext cx="9673879" cy="523220"/>
          </a:xfrm>
          <a:prstGeom prst="rect">
            <a:avLst/>
          </a:prstGeom>
          <a:noFill/>
        </p:spPr>
        <p:txBody>
          <a:bodyPr wrap="square" rtlCol="0" anchor="ctr" anchorCtr="0">
            <a:spAutoFit/>
          </a:bodyPr>
          <a:lstStyle/>
          <a:p>
            <a:r>
              <a:rPr lang="es-AR" sz="2800" b="1" dirty="0"/>
              <a:t>Constantes</a:t>
            </a:r>
            <a:r>
              <a:rPr lang="es-AR" sz="2800" dirty="0"/>
              <a:t>: tiempo básico de ejecución es siempre igual</a:t>
            </a:r>
            <a:endParaRPr lang="es-AR" sz="2800" dirty="0">
              <a:effectLst>
                <a:outerShdw blurRad="60007" dist="310007" dir="7680000" sy="30000" kx="1300200" algn="ctr" rotWithShape="0">
                  <a:prstClr val="black">
                    <a:alpha val="32000"/>
                  </a:prstClr>
                </a:outerShdw>
              </a:effectLst>
            </a:endParaRPr>
          </a:p>
        </p:txBody>
      </p:sp>
      <p:sp>
        <p:nvSpPr>
          <p:cNvPr id="15" name="CuadroTexto 14">
            <a:extLst>
              <a:ext uri="{FF2B5EF4-FFF2-40B4-BE49-F238E27FC236}">
                <a16:creationId xmlns:a16="http://schemas.microsoft.com/office/drawing/2014/main" id="{3969E1C7-7766-48DC-987B-B7559850C8CC}"/>
              </a:ext>
            </a:extLst>
          </p:cNvPr>
          <p:cNvSpPr txBox="1"/>
          <p:nvPr/>
        </p:nvSpPr>
        <p:spPr>
          <a:xfrm>
            <a:off x="2057449" y="4469266"/>
            <a:ext cx="9673877" cy="1384995"/>
          </a:xfrm>
          <a:prstGeom prst="rect">
            <a:avLst/>
          </a:prstGeom>
          <a:noFill/>
        </p:spPr>
        <p:txBody>
          <a:bodyPr wrap="square" rtlCol="0" anchor="ctr" anchorCtr="0">
            <a:spAutoFit/>
          </a:bodyPr>
          <a:lstStyle/>
          <a:p>
            <a:r>
              <a:rPr lang="es-AR" sz="2800" b="1" dirty="0"/>
              <a:t>Variables</a:t>
            </a:r>
            <a:r>
              <a:rPr lang="es-AR" sz="2800" dirty="0"/>
              <a:t>: tiempo básico de ejecución cambia según las características del producto, equipo o proceso, como dimensiones, peso o calidad.</a:t>
            </a:r>
            <a:endParaRPr lang="es-AR" sz="2800" dirty="0">
              <a:effectLst>
                <a:outerShdw blurRad="60007" dist="310007" dir="7680000" sy="30000" kx="1300200" algn="ctr" rotWithShape="0">
                  <a:prstClr val="black">
                    <a:alpha val="32000"/>
                  </a:prstClr>
                </a:outerShdw>
              </a:effectLst>
            </a:endParaRPr>
          </a:p>
        </p:txBody>
      </p:sp>
      <p:cxnSp>
        <p:nvCxnSpPr>
          <p:cNvPr id="3" name="Conector recto de flecha 2">
            <a:extLst>
              <a:ext uri="{FF2B5EF4-FFF2-40B4-BE49-F238E27FC236}">
                <a16:creationId xmlns:a16="http://schemas.microsoft.com/office/drawing/2014/main" id="{D7EDBBDA-B020-450F-9783-9F04D82B38B4}"/>
              </a:ext>
            </a:extLst>
          </p:cNvPr>
          <p:cNvCxnSpPr>
            <a:stCxn id="27" idx="2"/>
            <a:endCxn id="18" idx="1"/>
          </p:cNvCxnSpPr>
          <p:nvPr/>
        </p:nvCxnSpPr>
        <p:spPr>
          <a:xfrm flipV="1">
            <a:off x="1322480" y="1888359"/>
            <a:ext cx="734967" cy="1647818"/>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cxnSp>
        <p:nvCxnSpPr>
          <p:cNvPr id="17" name="Conector recto de flecha 16">
            <a:extLst>
              <a:ext uri="{FF2B5EF4-FFF2-40B4-BE49-F238E27FC236}">
                <a16:creationId xmlns:a16="http://schemas.microsoft.com/office/drawing/2014/main" id="{72767AD4-73D2-4135-BEFC-6EB2173434EF}"/>
              </a:ext>
            </a:extLst>
          </p:cNvPr>
          <p:cNvCxnSpPr>
            <a:cxnSpLocks/>
            <a:stCxn id="27" idx="2"/>
            <a:endCxn id="13" idx="1"/>
          </p:cNvCxnSpPr>
          <p:nvPr/>
        </p:nvCxnSpPr>
        <p:spPr>
          <a:xfrm flipV="1">
            <a:off x="1322480" y="3054691"/>
            <a:ext cx="734968" cy="481486"/>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cxnSp>
        <p:nvCxnSpPr>
          <p:cNvPr id="20" name="Conector recto de flecha 19">
            <a:extLst>
              <a:ext uri="{FF2B5EF4-FFF2-40B4-BE49-F238E27FC236}">
                <a16:creationId xmlns:a16="http://schemas.microsoft.com/office/drawing/2014/main" id="{D4A45425-1A06-4E0E-B878-8C9177FFA2AE}"/>
              </a:ext>
            </a:extLst>
          </p:cNvPr>
          <p:cNvCxnSpPr>
            <a:cxnSpLocks/>
            <a:stCxn id="27" idx="2"/>
            <a:endCxn id="14" idx="1"/>
          </p:cNvCxnSpPr>
          <p:nvPr/>
        </p:nvCxnSpPr>
        <p:spPr>
          <a:xfrm>
            <a:off x="1322480" y="3536177"/>
            <a:ext cx="734965" cy="465429"/>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cxnSp>
        <p:nvCxnSpPr>
          <p:cNvPr id="23" name="Conector recto de flecha 22">
            <a:extLst>
              <a:ext uri="{FF2B5EF4-FFF2-40B4-BE49-F238E27FC236}">
                <a16:creationId xmlns:a16="http://schemas.microsoft.com/office/drawing/2014/main" id="{845AE5A8-DD79-43A8-B14B-6FD10B31827C}"/>
              </a:ext>
            </a:extLst>
          </p:cNvPr>
          <p:cNvCxnSpPr>
            <a:cxnSpLocks/>
            <a:stCxn id="27" idx="2"/>
            <a:endCxn id="15" idx="1"/>
          </p:cNvCxnSpPr>
          <p:nvPr/>
        </p:nvCxnSpPr>
        <p:spPr>
          <a:xfrm>
            <a:off x="1322480" y="3536177"/>
            <a:ext cx="734969" cy="1625587"/>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7330379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10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10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10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10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3" grpId="0"/>
      <p:bldP spid="14"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Procedimiento y Definiciones</a:t>
            </a:r>
            <a:endParaRPr lang="es-AR" sz="2800" dirty="0">
              <a:solidFill>
                <a:schemeClr val="tx1">
                  <a:lumMod val="65000"/>
                  <a:lumOff val="35000"/>
                </a:schemeClr>
              </a:solidFill>
            </a:endParaRPr>
          </a:p>
        </p:txBody>
      </p:sp>
      <p:sp>
        <p:nvSpPr>
          <p:cNvPr id="27" name="Rectángulo: esquinas redondeadas 26">
            <a:extLst>
              <a:ext uri="{FF2B5EF4-FFF2-40B4-BE49-F238E27FC236}">
                <a16:creationId xmlns:a16="http://schemas.microsoft.com/office/drawing/2014/main" id="{B17FDCC2-17F2-4869-A753-376D6F747A0B}"/>
              </a:ext>
            </a:extLst>
          </p:cNvPr>
          <p:cNvSpPr/>
          <p:nvPr/>
        </p:nvSpPr>
        <p:spPr>
          <a:xfrm rot="16200000">
            <a:off x="-652669" y="3105275"/>
            <a:ext cx="3088493" cy="861805"/>
          </a:xfrm>
          <a:prstGeom prst="roundRect">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pPr algn="ctr"/>
            <a:r>
              <a:rPr lang="es-AR" sz="4000" dirty="0"/>
              <a:t>Elemento</a:t>
            </a:r>
          </a:p>
        </p:txBody>
      </p:sp>
      <p:grpSp>
        <p:nvGrpSpPr>
          <p:cNvPr id="30" name="Grupo 29">
            <a:extLst>
              <a:ext uri="{FF2B5EF4-FFF2-40B4-BE49-F238E27FC236}">
                <a16:creationId xmlns:a16="http://schemas.microsoft.com/office/drawing/2014/main" id="{C6F8B36E-045A-4F96-A6E3-614230581483}"/>
              </a:ext>
            </a:extLst>
          </p:cNvPr>
          <p:cNvGrpSpPr/>
          <p:nvPr/>
        </p:nvGrpSpPr>
        <p:grpSpPr>
          <a:xfrm>
            <a:off x="0" y="4141"/>
            <a:ext cx="12192000" cy="6849718"/>
            <a:chOff x="0" y="4141"/>
            <a:chExt cx="12192000" cy="6849718"/>
          </a:xfrm>
        </p:grpSpPr>
        <p:grpSp>
          <p:nvGrpSpPr>
            <p:cNvPr id="31" name="Grupo 30">
              <a:extLst>
                <a:ext uri="{FF2B5EF4-FFF2-40B4-BE49-F238E27FC236}">
                  <a16:creationId xmlns:a16="http://schemas.microsoft.com/office/drawing/2014/main" id="{F4550908-8633-4EDB-85ED-53B600E979B3}"/>
                </a:ext>
              </a:extLst>
            </p:cNvPr>
            <p:cNvGrpSpPr/>
            <p:nvPr/>
          </p:nvGrpSpPr>
          <p:grpSpPr>
            <a:xfrm>
              <a:off x="0" y="4141"/>
              <a:ext cx="12192000" cy="6849718"/>
              <a:chOff x="0" y="4141"/>
              <a:chExt cx="12192000" cy="6849718"/>
            </a:xfrm>
          </p:grpSpPr>
          <p:sp>
            <p:nvSpPr>
              <p:cNvPr id="33" name="Rectángulo 32">
                <a:extLst>
                  <a:ext uri="{FF2B5EF4-FFF2-40B4-BE49-F238E27FC236}">
                    <a16:creationId xmlns:a16="http://schemas.microsoft.com/office/drawing/2014/main" id="{050EC418-21ED-4099-A616-64049AE82550}"/>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34" name="Rectángulo 33">
                <a:extLst>
                  <a:ext uri="{FF2B5EF4-FFF2-40B4-BE49-F238E27FC236}">
                    <a16:creationId xmlns:a16="http://schemas.microsoft.com/office/drawing/2014/main" id="{AEE46C8A-38C8-4DDA-8AB2-A41A6C880318}"/>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35" name="Rectángulo 34">
                <a:extLst>
                  <a:ext uri="{FF2B5EF4-FFF2-40B4-BE49-F238E27FC236}">
                    <a16:creationId xmlns:a16="http://schemas.microsoft.com/office/drawing/2014/main" id="{46FA439C-7EC5-4DCD-8CC0-7B6F1F956EA9}"/>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32" name="Imagen 31">
              <a:extLst>
                <a:ext uri="{FF2B5EF4-FFF2-40B4-BE49-F238E27FC236}">
                  <a16:creationId xmlns:a16="http://schemas.microsoft.com/office/drawing/2014/main" id="{904EA942-2B7D-4110-B887-3D53417850E8}"/>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18" name="CuadroTexto 17">
            <a:extLst>
              <a:ext uri="{FF2B5EF4-FFF2-40B4-BE49-F238E27FC236}">
                <a16:creationId xmlns:a16="http://schemas.microsoft.com/office/drawing/2014/main" id="{BD947677-FB69-4D8E-9996-6A31DF46A8F2}"/>
              </a:ext>
            </a:extLst>
          </p:cNvPr>
          <p:cNvSpPr txBox="1"/>
          <p:nvPr/>
        </p:nvSpPr>
        <p:spPr>
          <a:xfrm>
            <a:off x="2057447" y="1626749"/>
            <a:ext cx="9673877" cy="523220"/>
          </a:xfrm>
          <a:prstGeom prst="rect">
            <a:avLst/>
          </a:prstGeom>
          <a:noFill/>
        </p:spPr>
        <p:txBody>
          <a:bodyPr wrap="square" rtlCol="0" anchor="ctr" anchorCtr="0">
            <a:spAutoFit/>
          </a:bodyPr>
          <a:lstStyle/>
          <a:p>
            <a:r>
              <a:rPr lang="es-AR" sz="2800" b="1" dirty="0"/>
              <a:t>Manuales</a:t>
            </a:r>
            <a:r>
              <a:rPr lang="es-AR" sz="2800" dirty="0"/>
              <a:t>: Son los que realiza el trabajador</a:t>
            </a:r>
            <a:endParaRPr lang="es-AR" sz="2800" dirty="0">
              <a:effectLst>
                <a:outerShdw blurRad="60007" dist="310007" dir="7680000" sy="30000" kx="1300200" algn="ctr" rotWithShape="0">
                  <a:prstClr val="black">
                    <a:alpha val="32000"/>
                  </a:prstClr>
                </a:outerShdw>
              </a:effectLst>
            </a:endParaRPr>
          </a:p>
        </p:txBody>
      </p:sp>
      <p:sp>
        <p:nvSpPr>
          <p:cNvPr id="13" name="CuadroTexto 12">
            <a:extLst>
              <a:ext uri="{FF2B5EF4-FFF2-40B4-BE49-F238E27FC236}">
                <a16:creationId xmlns:a16="http://schemas.microsoft.com/office/drawing/2014/main" id="{7C64D577-F2EC-4005-8364-2EB11B1469CD}"/>
              </a:ext>
            </a:extLst>
          </p:cNvPr>
          <p:cNvSpPr txBox="1"/>
          <p:nvPr/>
        </p:nvSpPr>
        <p:spPr>
          <a:xfrm>
            <a:off x="2057445" y="2342337"/>
            <a:ext cx="9673878" cy="954107"/>
          </a:xfrm>
          <a:prstGeom prst="rect">
            <a:avLst/>
          </a:prstGeom>
          <a:noFill/>
        </p:spPr>
        <p:txBody>
          <a:bodyPr wrap="square" rtlCol="0" anchor="ctr" anchorCtr="0">
            <a:spAutoFit/>
          </a:bodyPr>
          <a:lstStyle/>
          <a:p>
            <a:r>
              <a:rPr lang="es-AR" sz="2800" b="1" dirty="0"/>
              <a:t>Mecánicos</a:t>
            </a:r>
            <a:r>
              <a:rPr lang="es-AR" sz="2800" dirty="0"/>
              <a:t>: Son los realizados automáticamente por una máquina a base de fuerza motriz.</a:t>
            </a:r>
            <a:endParaRPr lang="es-AR" sz="2800" dirty="0">
              <a:effectLst>
                <a:outerShdw blurRad="60007" dist="310007" dir="7680000" sy="30000" kx="1300200" algn="ctr" rotWithShape="0">
                  <a:prstClr val="black">
                    <a:alpha val="32000"/>
                  </a:prstClr>
                </a:outerShdw>
              </a:effectLst>
            </a:endParaRPr>
          </a:p>
        </p:txBody>
      </p:sp>
      <p:sp>
        <p:nvSpPr>
          <p:cNvPr id="14" name="CuadroTexto 13">
            <a:extLst>
              <a:ext uri="{FF2B5EF4-FFF2-40B4-BE49-F238E27FC236}">
                <a16:creationId xmlns:a16="http://schemas.microsoft.com/office/drawing/2014/main" id="{DE36DE0A-8473-4EA4-AD20-C59498CCA93F}"/>
              </a:ext>
            </a:extLst>
          </p:cNvPr>
          <p:cNvSpPr txBox="1"/>
          <p:nvPr/>
        </p:nvSpPr>
        <p:spPr>
          <a:xfrm>
            <a:off x="2057445" y="3485797"/>
            <a:ext cx="9673879" cy="954107"/>
          </a:xfrm>
          <a:prstGeom prst="rect">
            <a:avLst/>
          </a:prstGeom>
          <a:noFill/>
        </p:spPr>
        <p:txBody>
          <a:bodyPr wrap="square" rtlCol="0" anchor="ctr" anchorCtr="0">
            <a:spAutoFit/>
          </a:bodyPr>
          <a:lstStyle/>
          <a:p>
            <a:r>
              <a:rPr lang="es-AR" sz="2800" b="1" dirty="0"/>
              <a:t>Dominantes</a:t>
            </a:r>
            <a:r>
              <a:rPr lang="es-AR" sz="2800" dirty="0"/>
              <a:t>: Son los que duran más tiempo de cualquiera de los elementos realizados simultáneamente.</a:t>
            </a:r>
            <a:endParaRPr lang="es-AR" sz="2800" dirty="0">
              <a:effectLst>
                <a:outerShdw blurRad="60007" dist="310007" dir="7680000" sy="30000" kx="1300200" algn="ctr" rotWithShape="0">
                  <a:prstClr val="black">
                    <a:alpha val="32000"/>
                  </a:prstClr>
                </a:outerShdw>
              </a:effectLst>
            </a:endParaRPr>
          </a:p>
        </p:txBody>
      </p:sp>
      <p:sp>
        <p:nvSpPr>
          <p:cNvPr id="15" name="CuadroTexto 14">
            <a:extLst>
              <a:ext uri="{FF2B5EF4-FFF2-40B4-BE49-F238E27FC236}">
                <a16:creationId xmlns:a16="http://schemas.microsoft.com/office/drawing/2014/main" id="{3969E1C7-7766-48DC-987B-B7559850C8CC}"/>
              </a:ext>
            </a:extLst>
          </p:cNvPr>
          <p:cNvSpPr txBox="1"/>
          <p:nvPr/>
        </p:nvSpPr>
        <p:spPr>
          <a:xfrm>
            <a:off x="2057445" y="4490284"/>
            <a:ext cx="9673877" cy="1384995"/>
          </a:xfrm>
          <a:prstGeom prst="rect">
            <a:avLst/>
          </a:prstGeom>
          <a:noFill/>
        </p:spPr>
        <p:txBody>
          <a:bodyPr wrap="square" rtlCol="0" anchor="ctr" anchorCtr="0">
            <a:spAutoFit/>
          </a:bodyPr>
          <a:lstStyle/>
          <a:p>
            <a:r>
              <a:rPr lang="es-AR" sz="2800" b="1" dirty="0"/>
              <a:t>Extraños</a:t>
            </a:r>
            <a:r>
              <a:rPr lang="es-AR" sz="2800" dirty="0"/>
              <a:t>: Son los observados durante el estudio y que al ser analizados no resultan ser una parte necesaria del trabajo.</a:t>
            </a:r>
            <a:endParaRPr lang="es-AR" sz="2800" dirty="0">
              <a:effectLst>
                <a:outerShdw blurRad="60007" dist="310007" dir="7680000" sy="30000" kx="1300200" algn="ctr" rotWithShape="0">
                  <a:prstClr val="black">
                    <a:alpha val="32000"/>
                  </a:prstClr>
                </a:outerShdw>
              </a:effectLst>
            </a:endParaRPr>
          </a:p>
        </p:txBody>
      </p:sp>
      <p:cxnSp>
        <p:nvCxnSpPr>
          <p:cNvPr id="3" name="Conector recto de flecha 2">
            <a:extLst>
              <a:ext uri="{FF2B5EF4-FFF2-40B4-BE49-F238E27FC236}">
                <a16:creationId xmlns:a16="http://schemas.microsoft.com/office/drawing/2014/main" id="{D7EDBBDA-B020-450F-9783-9F04D82B38B4}"/>
              </a:ext>
            </a:extLst>
          </p:cNvPr>
          <p:cNvCxnSpPr>
            <a:stCxn id="27" idx="2"/>
            <a:endCxn id="18" idx="1"/>
          </p:cNvCxnSpPr>
          <p:nvPr/>
        </p:nvCxnSpPr>
        <p:spPr>
          <a:xfrm flipV="1">
            <a:off x="1322480" y="1888359"/>
            <a:ext cx="734967" cy="1647818"/>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cxnSp>
        <p:nvCxnSpPr>
          <p:cNvPr id="17" name="Conector recto de flecha 16">
            <a:extLst>
              <a:ext uri="{FF2B5EF4-FFF2-40B4-BE49-F238E27FC236}">
                <a16:creationId xmlns:a16="http://schemas.microsoft.com/office/drawing/2014/main" id="{72767AD4-73D2-4135-BEFC-6EB2173434EF}"/>
              </a:ext>
            </a:extLst>
          </p:cNvPr>
          <p:cNvCxnSpPr>
            <a:cxnSpLocks/>
            <a:stCxn id="27" idx="2"/>
            <a:endCxn id="13" idx="1"/>
          </p:cNvCxnSpPr>
          <p:nvPr/>
        </p:nvCxnSpPr>
        <p:spPr>
          <a:xfrm flipV="1">
            <a:off x="1322480" y="2819391"/>
            <a:ext cx="734965" cy="716786"/>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cxnSp>
        <p:nvCxnSpPr>
          <p:cNvPr id="20" name="Conector recto de flecha 19">
            <a:extLst>
              <a:ext uri="{FF2B5EF4-FFF2-40B4-BE49-F238E27FC236}">
                <a16:creationId xmlns:a16="http://schemas.microsoft.com/office/drawing/2014/main" id="{D4A45425-1A06-4E0E-B878-8C9177FFA2AE}"/>
              </a:ext>
            </a:extLst>
          </p:cNvPr>
          <p:cNvCxnSpPr>
            <a:cxnSpLocks/>
            <a:stCxn id="27" idx="2"/>
            <a:endCxn id="14" idx="1"/>
          </p:cNvCxnSpPr>
          <p:nvPr/>
        </p:nvCxnSpPr>
        <p:spPr>
          <a:xfrm>
            <a:off x="1322480" y="3536177"/>
            <a:ext cx="734965" cy="426674"/>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cxnSp>
        <p:nvCxnSpPr>
          <p:cNvPr id="23" name="Conector recto de flecha 22">
            <a:extLst>
              <a:ext uri="{FF2B5EF4-FFF2-40B4-BE49-F238E27FC236}">
                <a16:creationId xmlns:a16="http://schemas.microsoft.com/office/drawing/2014/main" id="{845AE5A8-DD79-43A8-B14B-6FD10B31827C}"/>
              </a:ext>
            </a:extLst>
          </p:cNvPr>
          <p:cNvCxnSpPr>
            <a:cxnSpLocks/>
            <a:stCxn id="27" idx="2"/>
            <a:endCxn id="15" idx="1"/>
          </p:cNvCxnSpPr>
          <p:nvPr/>
        </p:nvCxnSpPr>
        <p:spPr>
          <a:xfrm>
            <a:off x="1322480" y="3536177"/>
            <a:ext cx="734965" cy="1646605"/>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55739781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10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10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10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10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3" grpId="0"/>
      <p:bldP spid="14" grpId="0"/>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Procedimiento y Definiciones</a:t>
            </a:r>
            <a:endParaRPr lang="es-AR" sz="2800" dirty="0">
              <a:solidFill>
                <a:schemeClr val="tx1">
                  <a:lumMod val="65000"/>
                  <a:lumOff val="35000"/>
                </a:schemeClr>
              </a:solidFill>
            </a:endParaRPr>
          </a:p>
        </p:txBody>
      </p:sp>
      <p:sp>
        <p:nvSpPr>
          <p:cNvPr id="27" name="Rectángulo: esquinas redondeadas 26">
            <a:extLst>
              <a:ext uri="{FF2B5EF4-FFF2-40B4-BE49-F238E27FC236}">
                <a16:creationId xmlns:a16="http://schemas.microsoft.com/office/drawing/2014/main" id="{B17FDCC2-17F2-4869-A753-376D6F747A0B}"/>
              </a:ext>
            </a:extLst>
          </p:cNvPr>
          <p:cNvSpPr/>
          <p:nvPr/>
        </p:nvSpPr>
        <p:spPr>
          <a:xfrm>
            <a:off x="1783078" y="1787236"/>
            <a:ext cx="3088493" cy="861805"/>
          </a:xfrm>
          <a:prstGeom prst="roundRect">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pPr algn="ctr"/>
            <a:r>
              <a:rPr lang="es-AR" sz="4000" dirty="0"/>
              <a:t>Elemento</a:t>
            </a:r>
          </a:p>
        </p:txBody>
      </p:sp>
      <p:grpSp>
        <p:nvGrpSpPr>
          <p:cNvPr id="30" name="Grupo 29">
            <a:extLst>
              <a:ext uri="{FF2B5EF4-FFF2-40B4-BE49-F238E27FC236}">
                <a16:creationId xmlns:a16="http://schemas.microsoft.com/office/drawing/2014/main" id="{C6F8B36E-045A-4F96-A6E3-614230581483}"/>
              </a:ext>
            </a:extLst>
          </p:cNvPr>
          <p:cNvGrpSpPr/>
          <p:nvPr/>
        </p:nvGrpSpPr>
        <p:grpSpPr>
          <a:xfrm>
            <a:off x="0" y="4141"/>
            <a:ext cx="12192000" cy="6849718"/>
            <a:chOff x="0" y="4141"/>
            <a:chExt cx="12192000" cy="6849718"/>
          </a:xfrm>
        </p:grpSpPr>
        <p:grpSp>
          <p:nvGrpSpPr>
            <p:cNvPr id="31" name="Grupo 30">
              <a:extLst>
                <a:ext uri="{FF2B5EF4-FFF2-40B4-BE49-F238E27FC236}">
                  <a16:creationId xmlns:a16="http://schemas.microsoft.com/office/drawing/2014/main" id="{F4550908-8633-4EDB-85ED-53B600E979B3}"/>
                </a:ext>
              </a:extLst>
            </p:cNvPr>
            <p:cNvGrpSpPr/>
            <p:nvPr/>
          </p:nvGrpSpPr>
          <p:grpSpPr>
            <a:xfrm>
              <a:off x="0" y="4141"/>
              <a:ext cx="12192000" cy="6849718"/>
              <a:chOff x="0" y="4141"/>
              <a:chExt cx="12192000" cy="6849718"/>
            </a:xfrm>
          </p:grpSpPr>
          <p:sp>
            <p:nvSpPr>
              <p:cNvPr id="33" name="Rectángulo 32">
                <a:extLst>
                  <a:ext uri="{FF2B5EF4-FFF2-40B4-BE49-F238E27FC236}">
                    <a16:creationId xmlns:a16="http://schemas.microsoft.com/office/drawing/2014/main" id="{050EC418-21ED-4099-A616-64049AE82550}"/>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34" name="Rectángulo 33">
                <a:extLst>
                  <a:ext uri="{FF2B5EF4-FFF2-40B4-BE49-F238E27FC236}">
                    <a16:creationId xmlns:a16="http://schemas.microsoft.com/office/drawing/2014/main" id="{AEE46C8A-38C8-4DDA-8AB2-A41A6C880318}"/>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35" name="Rectángulo 34">
                <a:extLst>
                  <a:ext uri="{FF2B5EF4-FFF2-40B4-BE49-F238E27FC236}">
                    <a16:creationId xmlns:a16="http://schemas.microsoft.com/office/drawing/2014/main" id="{46FA439C-7EC5-4DCD-8CC0-7B6F1F956EA9}"/>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32" name="Imagen 31">
              <a:extLst>
                <a:ext uri="{FF2B5EF4-FFF2-40B4-BE49-F238E27FC236}">
                  <a16:creationId xmlns:a16="http://schemas.microsoft.com/office/drawing/2014/main" id="{904EA942-2B7D-4110-B887-3D53417850E8}"/>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4" name="Flecha: a la derecha 3">
            <a:extLst>
              <a:ext uri="{FF2B5EF4-FFF2-40B4-BE49-F238E27FC236}">
                <a16:creationId xmlns:a16="http://schemas.microsoft.com/office/drawing/2014/main" id="{F2ACDFEA-47AD-4AB6-B7E9-38B703BDD4E6}"/>
              </a:ext>
            </a:extLst>
          </p:cNvPr>
          <p:cNvSpPr/>
          <p:nvPr/>
        </p:nvSpPr>
        <p:spPr>
          <a:xfrm>
            <a:off x="4982011" y="1730027"/>
            <a:ext cx="528810" cy="97629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s-AR"/>
          </a:p>
        </p:txBody>
      </p:sp>
      <p:sp>
        <p:nvSpPr>
          <p:cNvPr id="5" name="Rectángulo 4">
            <a:extLst>
              <a:ext uri="{FF2B5EF4-FFF2-40B4-BE49-F238E27FC236}">
                <a16:creationId xmlns:a16="http://schemas.microsoft.com/office/drawing/2014/main" id="{8C47CAF8-4346-44FF-B991-E68F59892358}"/>
              </a:ext>
            </a:extLst>
          </p:cNvPr>
          <p:cNvSpPr/>
          <p:nvPr/>
        </p:nvSpPr>
        <p:spPr>
          <a:xfrm>
            <a:off x="5720141" y="1816598"/>
            <a:ext cx="4825388" cy="8324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3600" dirty="0"/>
              <a:t>Límites</a:t>
            </a:r>
          </a:p>
        </p:txBody>
      </p:sp>
      <p:sp>
        <p:nvSpPr>
          <p:cNvPr id="16" name="Rectángulo 15">
            <a:extLst>
              <a:ext uri="{FF2B5EF4-FFF2-40B4-BE49-F238E27FC236}">
                <a16:creationId xmlns:a16="http://schemas.microsoft.com/office/drawing/2014/main" id="{C0F14E3A-76E6-420B-8BAD-467AD2A0E070}"/>
              </a:ext>
            </a:extLst>
          </p:cNvPr>
          <p:cNvSpPr/>
          <p:nvPr/>
        </p:nvSpPr>
        <p:spPr>
          <a:xfrm>
            <a:off x="701037" y="2936458"/>
            <a:ext cx="10524443" cy="132706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Establecer conjuntos sucesivos de elementos que indicarán a los especialistas puntos de </a:t>
            </a:r>
            <a:r>
              <a:rPr lang="es-AR" sz="2400" b="1" i="1" dirty="0" err="1"/>
              <a:t>start</a:t>
            </a:r>
            <a:r>
              <a:rPr lang="es-AR" sz="2400" i="1" dirty="0"/>
              <a:t>, </a:t>
            </a:r>
            <a:r>
              <a:rPr lang="es-AR" sz="2400" b="1" i="1" dirty="0"/>
              <a:t>stop</a:t>
            </a:r>
            <a:r>
              <a:rPr lang="es-AR" sz="2400" i="1" dirty="0"/>
              <a:t> o </a:t>
            </a:r>
            <a:r>
              <a:rPr lang="es-AR" sz="2400" b="1" i="1" dirty="0"/>
              <a:t>anotación</a:t>
            </a:r>
            <a:r>
              <a:rPr lang="es-AR" sz="2400" dirty="0"/>
              <a:t> según el método que este utilice para cronometrar.</a:t>
            </a:r>
          </a:p>
        </p:txBody>
      </p:sp>
      <p:sp>
        <p:nvSpPr>
          <p:cNvPr id="6" name="Rectángulo 5">
            <a:extLst>
              <a:ext uri="{FF2B5EF4-FFF2-40B4-BE49-F238E27FC236}">
                <a16:creationId xmlns:a16="http://schemas.microsoft.com/office/drawing/2014/main" id="{62B4E373-76EE-4CCD-8395-09D810802886}"/>
              </a:ext>
            </a:extLst>
          </p:cNvPr>
          <p:cNvSpPr/>
          <p:nvPr/>
        </p:nvSpPr>
        <p:spPr>
          <a:xfrm>
            <a:off x="701038" y="4413252"/>
            <a:ext cx="10524443" cy="111387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La OIT ha expuesto unas reglas generales para delimitar los elementos de una operación.</a:t>
            </a:r>
          </a:p>
        </p:txBody>
      </p:sp>
    </p:spTree>
    <p:extLst>
      <p:ext uri="{BB962C8B-B14F-4D97-AF65-F5344CB8AC3E}">
        <p14:creationId xmlns:p14="http://schemas.microsoft.com/office/powerpoint/2010/main" val="45497429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Procedimiento y Definiciones</a:t>
            </a:r>
            <a:endParaRPr lang="es-AR" sz="2800" dirty="0">
              <a:solidFill>
                <a:schemeClr val="tx1">
                  <a:lumMod val="65000"/>
                  <a:lumOff val="35000"/>
                </a:schemeClr>
              </a:solidFill>
            </a:endParaRPr>
          </a:p>
        </p:txBody>
      </p:sp>
      <p:grpSp>
        <p:nvGrpSpPr>
          <p:cNvPr id="30" name="Grupo 29">
            <a:extLst>
              <a:ext uri="{FF2B5EF4-FFF2-40B4-BE49-F238E27FC236}">
                <a16:creationId xmlns:a16="http://schemas.microsoft.com/office/drawing/2014/main" id="{C6F8B36E-045A-4F96-A6E3-614230581483}"/>
              </a:ext>
            </a:extLst>
          </p:cNvPr>
          <p:cNvGrpSpPr/>
          <p:nvPr/>
        </p:nvGrpSpPr>
        <p:grpSpPr>
          <a:xfrm>
            <a:off x="0" y="4141"/>
            <a:ext cx="12192000" cy="6849718"/>
            <a:chOff x="0" y="4141"/>
            <a:chExt cx="12192000" cy="6849718"/>
          </a:xfrm>
        </p:grpSpPr>
        <p:grpSp>
          <p:nvGrpSpPr>
            <p:cNvPr id="31" name="Grupo 30">
              <a:extLst>
                <a:ext uri="{FF2B5EF4-FFF2-40B4-BE49-F238E27FC236}">
                  <a16:creationId xmlns:a16="http://schemas.microsoft.com/office/drawing/2014/main" id="{F4550908-8633-4EDB-85ED-53B600E979B3}"/>
                </a:ext>
              </a:extLst>
            </p:cNvPr>
            <p:cNvGrpSpPr/>
            <p:nvPr/>
          </p:nvGrpSpPr>
          <p:grpSpPr>
            <a:xfrm>
              <a:off x="0" y="4141"/>
              <a:ext cx="12192000" cy="6849718"/>
              <a:chOff x="0" y="4141"/>
              <a:chExt cx="12192000" cy="6849718"/>
            </a:xfrm>
          </p:grpSpPr>
          <p:sp>
            <p:nvSpPr>
              <p:cNvPr id="33" name="Rectángulo 32">
                <a:extLst>
                  <a:ext uri="{FF2B5EF4-FFF2-40B4-BE49-F238E27FC236}">
                    <a16:creationId xmlns:a16="http://schemas.microsoft.com/office/drawing/2014/main" id="{050EC418-21ED-4099-A616-64049AE82550}"/>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34" name="Rectángulo 33">
                <a:extLst>
                  <a:ext uri="{FF2B5EF4-FFF2-40B4-BE49-F238E27FC236}">
                    <a16:creationId xmlns:a16="http://schemas.microsoft.com/office/drawing/2014/main" id="{AEE46C8A-38C8-4DDA-8AB2-A41A6C880318}"/>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35" name="Rectángulo 34">
                <a:extLst>
                  <a:ext uri="{FF2B5EF4-FFF2-40B4-BE49-F238E27FC236}">
                    <a16:creationId xmlns:a16="http://schemas.microsoft.com/office/drawing/2014/main" id="{46FA439C-7EC5-4DCD-8CC0-7B6F1F956EA9}"/>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32" name="Imagen 31">
              <a:extLst>
                <a:ext uri="{FF2B5EF4-FFF2-40B4-BE49-F238E27FC236}">
                  <a16:creationId xmlns:a16="http://schemas.microsoft.com/office/drawing/2014/main" id="{904EA942-2B7D-4110-B887-3D53417850E8}"/>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6" name="Rectángulo 5">
            <a:extLst>
              <a:ext uri="{FF2B5EF4-FFF2-40B4-BE49-F238E27FC236}">
                <a16:creationId xmlns:a16="http://schemas.microsoft.com/office/drawing/2014/main" id="{62B4E373-76EE-4CCD-8395-09D810802886}"/>
              </a:ext>
            </a:extLst>
          </p:cNvPr>
          <p:cNvSpPr/>
          <p:nvPr/>
        </p:nvSpPr>
        <p:spPr>
          <a:xfrm>
            <a:off x="475375" y="3513307"/>
            <a:ext cx="11241247" cy="13445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Los elementos deberán ser de identificación fácil y de comienzo y fin claramente definidos, de modo que una vez fijados puedan ser reconocidos una y otra vez. Es recomendable apoyarse de eventos relevantes y de fácil identificación sensorial, como el sonido de una pieza al caer, de una máquina al parar, o el movimiento evidente de una extremidad.</a:t>
            </a:r>
          </a:p>
        </p:txBody>
      </p:sp>
      <p:sp>
        <p:nvSpPr>
          <p:cNvPr id="2" name="Rectángulo 1">
            <a:extLst>
              <a:ext uri="{FF2B5EF4-FFF2-40B4-BE49-F238E27FC236}">
                <a16:creationId xmlns:a16="http://schemas.microsoft.com/office/drawing/2014/main" id="{7AD68A98-BF14-4BC2-A4F3-C47A100D94D2}"/>
              </a:ext>
            </a:extLst>
          </p:cNvPr>
          <p:cNvSpPr/>
          <p:nvPr/>
        </p:nvSpPr>
        <p:spPr>
          <a:xfrm>
            <a:off x="701036" y="1459182"/>
            <a:ext cx="10524443" cy="111387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La OIT ha expuesto unas reglas generales para delimitar los elementos de una operación.</a:t>
            </a:r>
          </a:p>
        </p:txBody>
      </p:sp>
      <p:sp>
        <p:nvSpPr>
          <p:cNvPr id="3" name="Rectángulo 2">
            <a:extLst>
              <a:ext uri="{FF2B5EF4-FFF2-40B4-BE49-F238E27FC236}">
                <a16:creationId xmlns:a16="http://schemas.microsoft.com/office/drawing/2014/main" id="{4912E816-1FF7-4B3B-933B-30380F934F31}"/>
              </a:ext>
            </a:extLst>
          </p:cNvPr>
          <p:cNvSpPr/>
          <p:nvPr/>
        </p:nvSpPr>
        <p:spPr>
          <a:xfrm>
            <a:off x="475376" y="5087969"/>
            <a:ext cx="11241247" cy="107862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Los elementos deberán ser todo lo breves que sea posible, con tal que un analista experto pueda aún cronometrarlos cómodamente. OIT recomienda que el tiempo de elemento esté entre 2.4seg y 33seg</a:t>
            </a:r>
          </a:p>
        </p:txBody>
      </p:sp>
      <p:sp>
        <p:nvSpPr>
          <p:cNvPr id="4" name="Rectángulo 3">
            <a:extLst>
              <a:ext uri="{FF2B5EF4-FFF2-40B4-BE49-F238E27FC236}">
                <a16:creationId xmlns:a16="http://schemas.microsoft.com/office/drawing/2014/main" id="{E5EC69F1-3737-44DD-8F9C-0726FF1E33D4}"/>
              </a:ext>
            </a:extLst>
          </p:cNvPr>
          <p:cNvSpPr/>
          <p:nvPr/>
        </p:nvSpPr>
        <p:spPr>
          <a:xfrm>
            <a:off x="475376" y="2738179"/>
            <a:ext cx="11241247" cy="54501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Los elementos deben ser medibles e identificables.</a:t>
            </a:r>
          </a:p>
        </p:txBody>
      </p:sp>
    </p:spTree>
    <p:extLst>
      <p:ext uri="{BB962C8B-B14F-4D97-AF65-F5344CB8AC3E}">
        <p14:creationId xmlns:p14="http://schemas.microsoft.com/office/powerpoint/2010/main" val="27348616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Procedimiento y Definiciones</a:t>
            </a:r>
            <a:endParaRPr lang="es-AR" sz="2800" dirty="0">
              <a:solidFill>
                <a:schemeClr val="tx1">
                  <a:lumMod val="65000"/>
                  <a:lumOff val="35000"/>
                </a:schemeClr>
              </a:solidFill>
            </a:endParaRPr>
          </a:p>
        </p:txBody>
      </p:sp>
      <p:grpSp>
        <p:nvGrpSpPr>
          <p:cNvPr id="30" name="Grupo 29">
            <a:extLst>
              <a:ext uri="{FF2B5EF4-FFF2-40B4-BE49-F238E27FC236}">
                <a16:creationId xmlns:a16="http://schemas.microsoft.com/office/drawing/2014/main" id="{C6F8B36E-045A-4F96-A6E3-614230581483}"/>
              </a:ext>
            </a:extLst>
          </p:cNvPr>
          <p:cNvGrpSpPr/>
          <p:nvPr/>
        </p:nvGrpSpPr>
        <p:grpSpPr>
          <a:xfrm>
            <a:off x="0" y="4141"/>
            <a:ext cx="12192000" cy="6849718"/>
            <a:chOff x="0" y="4141"/>
            <a:chExt cx="12192000" cy="6849718"/>
          </a:xfrm>
        </p:grpSpPr>
        <p:grpSp>
          <p:nvGrpSpPr>
            <p:cNvPr id="31" name="Grupo 30">
              <a:extLst>
                <a:ext uri="{FF2B5EF4-FFF2-40B4-BE49-F238E27FC236}">
                  <a16:creationId xmlns:a16="http://schemas.microsoft.com/office/drawing/2014/main" id="{F4550908-8633-4EDB-85ED-53B600E979B3}"/>
                </a:ext>
              </a:extLst>
            </p:cNvPr>
            <p:cNvGrpSpPr/>
            <p:nvPr/>
          </p:nvGrpSpPr>
          <p:grpSpPr>
            <a:xfrm>
              <a:off x="0" y="4141"/>
              <a:ext cx="12192000" cy="6849718"/>
              <a:chOff x="0" y="4141"/>
              <a:chExt cx="12192000" cy="6849718"/>
            </a:xfrm>
          </p:grpSpPr>
          <p:sp>
            <p:nvSpPr>
              <p:cNvPr id="33" name="Rectángulo 32">
                <a:extLst>
                  <a:ext uri="{FF2B5EF4-FFF2-40B4-BE49-F238E27FC236}">
                    <a16:creationId xmlns:a16="http://schemas.microsoft.com/office/drawing/2014/main" id="{050EC418-21ED-4099-A616-64049AE82550}"/>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34" name="Rectángulo 33">
                <a:extLst>
                  <a:ext uri="{FF2B5EF4-FFF2-40B4-BE49-F238E27FC236}">
                    <a16:creationId xmlns:a16="http://schemas.microsoft.com/office/drawing/2014/main" id="{AEE46C8A-38C8-4DDA-8AB2-A41A6C880318}"/>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35" name="Rectángulo 34">
                <a:extLst>
                  <a:ext uri="{FF2B5EF4-FFF2-40B4-BE49-F238E27FC236}">
                    <a16:creationId xmlns:a16="http://schemas.microsoft.com/office/drawing/2014/main" id="{46FA439C-7EC5-4DCD-8CC0-7B6F1F956EA9}"/>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32" name="Imagen 31">
              <a:extLst>
                <a:ext uri="{FF2B5EF4-FFF2-40B4-BE49-F238E27FC236}">
                  <a16:creationId xmlns:a16="http://schemas.microsoft.com/office/drawing/2014/main" id="{904EA942-2B7D-4110-B887-3D53417850E8}"/>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6" name="Rectángulo 5">
            <a:extLst>
              <a:ext uri="{FF2B5EF4-FFF2-40B4-BE49-F238E27FC236}">
                <a16:creationId xmlns:a16="http://schemas.microsoft.com/office/drawing/2014/main" id="{62B4E373-76EE-4CCD-8395-09D810802886}"/>
              </a:ext>
            </a:extLst>
          </p:cNvPr>
          <p:cNvSpPr/>
          <p:nvPr/>
        </p:nvSpPr>
        <p:spPr>
          <a:xfrm>
            <a:off x="475374" y="2275975"/>
            <a:ext cx="11241247" cy="111387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Dentro de todo lo posible los elementos, sobre todo los manuales, deberían elegirse de manera que correspondan a segmentos naturalmente unificados y visiblemente delimitados de la tarea.</a:t>
            </a:r>
          </a:p>
        </p:txBody>
      </p:sp>
      <p:sp>
        <p:nvSpPr>
          <p:cNvPr id="3" name="Rectángulo 2">
            <a:extLst>
              <a:ext uri="{FF2B5EF4-FFF2-40B4-BE49-F238E27FC236}">
                <a16:creationId xmlns:a16="http://schemas.microsoft.com/office/drawing/2014/main" id="{4912E816-1FF7-4B3B-933B-30380F934F31}"/>
              </a:ext>
            </a:extLst>
          </p:cNvPr>
          <p:cNvSpPr/>
          <p:nvPr/>
        </p:nvSpPr>
        <p:spPr>
          <a:xfrm>
            <a:off x="475375" y="3497856"/>
            <a:ext cx="11241247" cy="111387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Los elementos manuales deberían separarse en toda medida de los mecánicos, particularmente cuando el estudio de tiempos forma parte de un proceso de estandarización de tiempos.</a:t>
            </a:r>
          </a:p>
        </p:txBody>
      </p:sp>
      <p:sp>
        <p:nvSpPr>
          <p:cNvPr id="4" name="Rectángulo 3">
            <a:extLst>
              <a:ext uri="{FF2B5EF4-FFF2-40B4-BE49-F238E27FC236}">
                <a16:creationId xmlns:a16="http://schemas.microsoft.com/office/drawing/2014/main" id="{C92D3740-705B-43B3-80EF-391FE28828D9}"/>
              </a:ext>
            </a:extLst>
          </p:cNvPr>
          <p:cNvSpPr/>
          <p:nvPr/>
        </p:nvSpPr>
        <p:spPr>
          <a:xfrm>
            <a:off x="475373" y="4749443"/>
            <a:ext cx="11241247" cy="54501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Los elementos constantes deberían separarse de los variables.</a:t>
            </a:r>
          </a:p>
        </p:txBody>
      </p:sp>
      <p:sp>
        <p:nvSpPr>
          <p:cNvPr id="5" name="Rectángulo 4">
            <a:extLst>
              <a:ext uri="{FF2B5EF4-FFF2-40B4-BE49-F238E27FC236}">
                <a16:creationId xmlns:a16="http://schemas.microsoft.com/office/drawing/2014/main" id="{C5EA01D9-91FB-480B-A822-7C69CBC8904B}"/>
              </a:ext>
            </a:extLst>
          </p:cNvPr>
          <p:cNvSpPr/>
          <p:nvPr/>
        </p:nvSpPr>
        <p:spPr>
          <a:xfrm>
            <a:off x="475372" y="5432165"/>
            <a:ext cx="11241247" cy="73344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Los elementos que no aparecen en todos los ciclos (casuales y extraños) deben cronometrarse aparte de los que sí aparecen.</a:t>
            </a:r>
          </a:p>
        </p:txBody>
      </p:sp>
      <p:sp>
        <p:nvSpPr>
          <p:cNvPr id="14" name="Rectángulo 13">
            <a:extLst>
              <a:ext uri="{FF2B5EF4-FFF2-40B4-BE49-F238E27FC236}">
                <a16:creationId xmlns:a16="http://schemas.microsoft.com/office/drawing/2014/main" id="{F90766AF-044A-4F90-A3CA-3779EE99AF56}"/>
              </a:ext>
            </a:extLst>
          </p:cNvPr>
          <p:cNvSpPr/>
          <p:nvPr/>
        </p:nvSpPr>
        <p:spPr>
          <a:xfrm>
            <a:off x="475371" y="1425835"/>
            <a:ext cx="11241247" cy="7344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Es preferible que un elemento corto sea seguido por uno largo a fin de poder efectuar su lectura y registración en forma correcta.</a:t>
            </a:r>
          </a:p>
        </p:txBody>
      </p:sp>
    </p:spTree>
    <p:extLst>
      <p:ext uri="{BB962C8B-B14F-4D97-AF65-F5344CB8AC3E}">
        <p14:creationId xmlns:p14="http://schemas.microsoft.com/office/powerpoint/2010/main" val="193755722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Procedimiento y Definiciones</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pic>
        <p:nvPicPr>
          <p:cNvPr id="5" name="Imagen 4" descr="Gráfico, Gráfico de líneas&#10;&#10;Descripción generada automáticamente">
            <a:extLst>
              <a:ext uri="{FF2B5EF4-FFF2-40B4-BE49-F238E27FC236}">
                <a16:creationId xmlns:a16="http://schemas.microsoft.com/office/drawing/2014/main" id="{C830F086-291A-4C75-B955-B6D734FF68B8}"/>
              </a:ext>
            </a:extLst>
          </p:cNvPr>
          <p:cNvPicPr>
            <a:picLocks noChangeAspect="1"/>
          </p:cNvPicPr>
          <p:nvPr/>
        </p:nvPicPr>
        <p:blipFill rotWithShape="1">
          <a:blip r:embed="rId6">
            <a:extLst>
              <a:ext uri="{837473B0-CC2E-450A-ABE3-18F120FF3D39}">
                <a1611:picAttrSrcUrl xmlns:a1611="http://schemas.microsoft.com/office/drawing/2016/11/main" r:id="rId7"/>
              </a:ext>
            </a:extLst>
          </a:blip>
          <a:srcRect t="6431" b="21386"/>
          <a:stretch/>
        </p:blipFill>
        <p:spPr>
          <a:xfrm>
            <a:off x="5820994" y="1937445"/>
            <a:ext cx="6006905" cy="4336017"/>
          </a:xfrm>
          <a:prstGeom prst="rect">
            <a:avLst/>
          </a:prstGeom>
        </p:spPr>
      </p:pic>
      <p:cxnSp>
        <p:nvCxnSpPr>
          <p:cNvPr id="4" name="Conector recto de flecha 3">
            <a:extLst>
              <a:ext uri="{FF2B5EF4-FFF2-40B4-BE49-F238E27FC236}">
                <a16:creationId xmlns:a16="http://schemas.microsoft.com/office/drawing/2014/main" id="{48A77329-1D7A-4FC6-8832-FFAF75B8B7A8}"/>
              </a:ext>
            </a:extLst>
          </p:cNvPr>
          <p:cNvCxnSpPr/>
          <p:nvPr/>
        </p:nvCxnSpPr>
        <p:spPr>
          <a:xfrm>
            <a:off x="8824447" y="5922498"/>
            <a:ext cx="3003452" cy="0"/>
          </a:xfrm>
          <a:prstGeom prst="straightConnector1">
            <a:avLst/>
          </a:prstGeom>
          <a:ln w="22225">
            <a:tailEnd type="triangle" w="lg" len="lg"/>
          </a:ln>
        </p:spPr>
        <p:style>
          <a:lnRef idx="1">
            <a:schemeClr val="accent2"/>
          </a:lnRef>
          <a:fillRef idx="0">
            <a:schemeClr val="accent2"/>
          </a:fillRef>
          <a:effectRef idx="0">
            <a:schemeClr val="accent2"/>
          </a:effectRef>
          <a:fontRef idx="minor">
            <a:schemeClr val="tx1"/>
          </a:fontRef>
        </p:style>
      </p:cxnSp>
      <p:cxnSp>
        <p:nvCxnSpPr>
          <p:cNvPr id="20" name="Conector recto de flecha 19">
            <a:extLst>
              <a:ext uri="{FF2B5EF4-FFF2-40B4-BE49-F238E27FC236}">
                <a16:creationId xmlns:a16="http://schemas.microsoft.com/office/drawing/2014/main" id="{2CF8BB9B-CCE7-4834-B87D-144F5E393658}"/>
              </a:ext>
            </a:extLst>
          </p:cNvPr>
          <p:cNvCxnSpPr>
            <a:cxnSpLocks/>
          </p:cNvCxnSpPr>
          <p:nvPr/>
        </p:nvCxnSpPr>
        <p:spPr>
          <a:xfrm flipH="1">
            <a:off x="5822047" y="5922498"/>
            <a:ext cx="3002400" cy="0"/>
          </a:xfrm>
          <a:prstGeom prst="straightConnector1">
            <a:avLst/>
          </a:prstGeom>
          <a:ln w="22225">
            <a:tailEnd type="triangle" w="lg" len="lg"/>
          </a:ln>
        </p:spPr>
        <p:style>
          <a:lnRef idx="1">
            <a:schemeClr val="accent2"/>
          </a:lnRef>
          <a:fillRef idx="0">
            <a:schemeClr val="accent2"/>
          </a:fillRef>
          <a:effectRef idx="0">
            <a:schemeClr val="accent2"/>
          </a:effectRef>
          <a:fontRef idx="minor">
            <a:schemeClr val="tx1"/>
          </a:fontRef>
        </p:style>
      </p:cxnSp>
      <p:sp>
        <p:nvSpPr>
          <p:cNvPr id="8" name="CuadroTexto 7">
            <a:extLst>
              <a:ext uri="{FF2B5EF4-FFF2-40B4-BE49-F238E27FC236}">
                <a16:creationId xmlns:a16="http://schemas.microsoft.com/office/drawing/2014/main" id="{D8A57C6B-BFC1-4E92-84CF-1603B8653FED}"/>
              </a:ext>
            </a:extLst>
          </p:cNvPr>
          <p:cNvSpPr txBox="1"/>
          <p:nvPr/>
        </p:nvSpPr>
        <p:spPr>
          <a:xfrm>
            <a:off x="8824447" y="5470862"/>
            <a:ext cx="3003452" cy="307777"/>
          </a:xfrm>
          <a:prstGeom prst="rect">
            <a:avLst/>
          </a:prstGeom>
          <a:noFill/>
        </p:spPr>
        <p:txBody>
          <a:bodyPr wrap="square" rtlCol="0">
            <a:spAutoFit/>
          </a:bodyPr>
          <a:lstStyle/>
          <a:p>
            <a:pPr algn="ctr"/>
            <a:r>
              <a:rPr lang="es-AR" sz="1400" dirty="0"/>
              <a:t>Velocidad de movimientos lenta</a:t>
            </a:r>
          </a:p>
        </p:txBody>
      </p:sp>
      <p:sp>
        <p:nvSpPr>
          <p:cNvPr id="21" name="CuadroTexto 20">
            <a:extLst>
              <a:ext uri="{FF2B5EF4-FFF2-40B4-BE49-F238E27FC236}">
                <a16:creationId xmlns:a16="http://schemas.microsoft.com/office/drawing/2014/main" id="{C0314FAA-CE3D-4534-A466-D52CAB849E74}"/>
              </a:ext>
            </a:extLst>
          </p:cNvPr>
          <p:cNvSpPr txBox="1"/>
          <p:nvPr/>
        </p:nvSpPr>
        <p:spPr>
          <a:xfrm>
            <a:off x="5836916" y="5470862"/>
            <a:ext cx="2973715" cy="307777"/>
          </a:xfrm>
          <a:prstGeom prst="rect">
            <a:avLst/>
          </a:prstGeom>
          <a:noFill/>
        </p:spPr>
        <p:txBody>
          <a:bodyPr wrap="square" rtlCol="0">
            <a:spAutoFit/>
          </a:bodyPr>
          <a:lstStyle/>
          <a:p>
            <a:pPr algn="ctr"/>
            <a:r>
              <a:rPr lang="es-AR" sz="1400" dirty="0"/>
              <a:t>Velocidad de movimientos rápida</a:t>
            </a:r>
          </a:p>
        </p:txBody>
      </p:sp>
      <p:sp>
        <p:nvSpPr>
          <p:cNvPr id="22" name="CuadroTexto 21">
            <a:extLst>
              <a:ext uri="{FF2B5EF4-FFF2-40B4-BE49-F238E27FC236}">
                <a16:creationId xmlns:a16="http://schemas.microsoft.com/office/drawing/2014/main" id="{18F425B7-F604-4925-96FF-2021B03DD90B}"/>
              </a:ext>
            </a:extLst>
          </p:cNvPr>
          <p:cNvSpPr txBox="1"/>
          <p:nvPr/>
        </p:nvSpPr>
        <p:spPr>
          <a:xfrm>
            <a:off x="7323247" y="1490809"/>
            <a:ext cx="3003452" cy="307777"/>
          </a:xfrm>
          <a:prstGeom prst="rect">
            <a:avLst/>
          </a:prstGeom>
          <a:noFill/>
        </p:spPr>
        <p:txBody>
          <a:bodyPr wrap="square" rtlCol="0">
            <a:spAutoFit/>
          </a:bodyPr>
          <a:lstStyle/>
          <a:p>
            <a:pPr algn="ctr"/>
            <a:r>
              <a:rPr lang="es-AR" sz="1400" dirty="0"/>
              <a:t>Velocidad de movimientos normal</a:t>
            </a:r>
          </a:p>
        </p:txBody>
      </p:sp>
      <p:sp>
        <p:nvSpPr>
          <p:cNvPr id="9" name="Rectángulo 8">
            <a:extLst>
              <a:ext uri="{FF2B5EF4-FFF2-40B4-BE49-F238E27FC236}">
                <a16:creationId xmlns:a16="http://schemas.microsoft.com/office/drawing/2014/main" id="{57CE5A37-B120-4AF0-AB0E-3CC024600FB1}"/>
              </a:ext>
            </a:extLst>
          </p:cNvPr>
          <p:cNvSpPr/>
          <p:nvPr/>
        </p:nvSpPr>
        <p:spPr>
          <a:xfrm>
            <a:off x="364099" y="1419228"/>
            <a:ext cx="5061339" cy="221825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AR" sz="2200" dirty="0"/>
              <a:t>El área bajo la curva representa la cantidad de mediciones realizadas a distintos operarios durante el desarrollo de la actividad moviéndose a diferentes velocidades</a:t>
            </a:r>
          </a:p>
        </p:txBody>
      </p:sp>
      <p:sp>
        <p:nvSpPr>
          <p:cNvPr id="31" name="Rectángulo 30">
            <a:extLst>
              <a:ext uri="{FF2B5EF4-FFF2-40B4-BE49-F238E27FC236}">
                <a16:creationId xmlns:a16="http://schemas.microsoft.com/office/drawing/2014/main" id="{D87DAAFE-2819-414D-AD43-A9462B63E838}"/>
              </a:ext>
            </a:extLst>
          </p:cNvPr>
          <p:cNvSpPr/>
          <p:nvPr/>
        </p:nvSpPr>
        <p:spPr>
          <a:xfrm>
            <a:off x="364100" y="3845642"/>
            <a:ext cx="5061339" cy="221825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AR" sz="2200" dirty="0"/>
              <a:t>Existe una pequeña cantidad de operarios rápidos, otra pequeña de operarios lentos y una gran cantidad que realiza su actividad “normalmente” que se distribuye según el grafico. </a:t>
            </a:r>
          </a:p>
        </p:txBody>
      </p:sp>
    </p:spTree>
    <p:extLst>
      <p:ext uri="{BB962C8B-B14F-4D97-AF65-F5344CB8AC3E}">
        <p14:creationId xmlns:p14="http://schemas.microsoft.com/office/powerpoint/2010/main" val="400738936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Procedimiento y Definiciones</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2" name="Rectángulo 1">
            <a:extLst>
              <a:ext uri="{FF2B5EF4-FFF2-40B4-BE49-F238E27FC236}">
                <a16:creationId xmlns:a16="http://schemas.microsoft.com/office/drawing/2014/main" id="{231D9B51-DE67-46A5-9399-5AB4FE5FDFC6}"/>
              </a:ext>
            </a:extLst>
          </p:cNvPr>
          <p:cNvSpPr/>
          <p:nvPr/>
        </p:nvSpPr>
        <p:spPr>
          <a:xfrm>
            <a:off x="267127" y="1760486"/>
            <a:ext cx="11591937" cy="85962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ES" sz="2400" b="1" dirty="0"/>
              <a:t>Tiempo Observado:</a:t>
            </a:r>
            <a:r>
              <a:rPr lang="es-ES" sz="2400" dirty="0"/>
              <a:t> es el tiempo medido con el cronómetro en el puesto de trabajo.</a:t>
            </a:r>
            <a:endParaRPr lang="es-AR" sz="2400" dirty="0"/>
          </a:p>
        </p:txBody>
      </p:sp>
      <p:sp>
        <p:nvSpPr>
          <p:cNvPr id="17" name="Rectángulo 16">
            <a:extLst>
              <a:ext uri="{FF2B5EF4-FFF2-40B4-BE49-F238E27FC236}">
                <a16:creationId xmlns:a16="http://schemas.microsoft.com/office/drawing/2014/main" id="{67BCF18E-1309-4E43-87B0-2A64E353242E}"/>
              </a:ext>
            </a:extLst>
          </p:cNvPr>
          <p:cNvSpPr/>
          <p:nvPr/>
        </p:nvSpPr>
        <p:spPr>
          <a:xfrm>
            <a:off x="267126" y="2842889"/>
            <a:ext cx="11591937" cy="85962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ES" sz="2400" b="1" dirty="0"/>
              <a:t>Valoración:</a:t>
            </a:r>
            <a:r>
              <a:rPr lang="es-ES" sz="2400" dirty="0"/>
              <a:t> es la apreciación SUBJETIVA de la velocidad de movimientos del trabajador observado.</a:t>
            </a:r>
            <a:endParaRPr lang="es-AR" sz="2400" dirty="0"/>
          </a:p>
        </p:txBody>
      </p:sp>
      <p:sp>
        <p:nvSpPr>
          <p:cNvPr id="18" name="Rectángulo 17">
            <a:extLst>
              <a:ext uri="{FF2B5EF4-FFF2-40B4-BE49-F238E27FC236}">
                <a16:creationId xmlns:a16="http://schemas.microsoft.com/office/drawing/2014/main" id="{046CEA9E-F533-4CB2-B092-43DBDDBA47CA}"/>
              </a:ext>
            </a:extLst>
          </p:cNvPr>
          <p:cNvSpPr/>
          <p:nvPr/>
        </p:nvSpPr>
        <p:spPr>
          <a:xfrm>
            <a:off x="267125" y="3925292"/>
            <a:ext cx="11591937" cy="85962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ES" sz="2400" b="1" dirty="0"/>
              <a:t>Factor de Valoración:</a:t>
            </a:r>
            <a:r>
              <a:rPr lang="es-ES" sz="2400" dirty="0"/>
              <a:t> es la comparación de la valoración respecto al valor otorgado al </a:t>
            </a:r>
            <a:r>
              <a:rPr lang="es-ES" sz="2400" i="1" dirty="0"/>
              <a:t>ritmo tipo</a:t>
            </a:r>
            <a:r>
              <a:rPr lang="es-ES" sz="2400" dirty="0"/>
              <a:t>.</a:t>
            </a:r>
            <a:endParaRPr lang="es-AR" sz="2400" dirty="0"/>
          </a:p>
        </p:txBody>
      </p:sp>
      <p:sp>
        <p:nvSpPr>
          <p:cNvPr id="19" name="Rectángulo 18">
            <a:extLst>
              <a:ext uri="{FF2B5EF4-FFF2-40B4-BE49-F238E27FC236}">
                <a16:creationId xmlns:a16="http://schemas.microsoft.com/office/drawing/2014/main" id="{82CFA3B1-D598-43C8-9891-DFF46B6E06AD}"/>
              </a:ext>
            </a:extLst>
          </p:cNvPr>
          <p:cNvSpPr/>
          <p:nvPr/>
        </p:nvSpPr>
        <p:spPr>
          <a:xfrm>
            <a:off x="267125" y="5007695"/>
            <a:ext cx="11591937" cy="85962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ES" sz="2400" b="1" dirty="0"/>
              <a:t>Tiempo Básico:</a:t>
            </a:r>
            <a:r>
              <a:rPr lang="es-ES" sz="2400" dirty="0"/>
              <a:t> es el tiempo que debiera durar la actividad observada si el trabajador tuviera una velocidad de movimientos comparables al ritmo tipo.</a:t>
            </a:r>
            <a:endParaRPr lang="es-AR" sz="2400" dirty="0"/>
          </a:p>
        </p:txBody>
      </p:sp>
    </p:spTree>
    <p:extLst>
      <p:ext uri="{BB962C8B-B14F-4D97-AF65-F5344CB8AC3E}">
        <p14:creationId xmlns:p14="http://schemas.microsoft.com/office/powerpoint/2010/main" val="199433355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to 9">
            <a:extLst>
              <a:ext uri="{FF2B5EF4-FFF2-40B4-BE49-F238E27FC236}">
                <a16:creationId xmlns:a16="http://schemas.microsoft.com/office/drawing/2014/main" id="{177FFDAF-22B9-4DD8-8514-253E6B080FE2}"/>
              </a:ext>
            </a:extLst>
          </p:cNvPr>
          <p:cNvGraphicFramePr>
            <a:graphicFrameLocks noChangeAspect="1"/>
          </p:cNvGraphicFramePr>
          <p:nvPr>
            <p:extLst>
              <p:ext uri="{D42A27DB-BD31-4B8C-83A1-F6EECF244321}">
                <p14:modId xmlns:p14="http://schemas.microsoft.com/office/powerpoint/2010/main" val="1026185627"/>
              </p:ext>
            </p:extLst>
          </p:nvPr>
        </p:nvGraphicFramePr>
        <p:xfrm>
          <a:off x="2136000" y="2101038"/>
          <a:ext cx="7920000" cy="3773478"/>
        </p:xfrm>
        <a:graphic>
          <a:graphicData uri="http://schemas.openxmlformats.org/presentationml/2006/ole">
            <mc:AlternateContent xmlns:mc="http://schemas.openxmlformats.org/markup-compatibility/2006">
              <mc:Choice xmlns:v="urn:schemas-microsoft-com:vml" Requires="v">
                <p:oleObj name="Visio" r:id="rId3" imgW="5257791" imgH="2504890" progId="Visio.Drawing.15">
                  <p:embed/>
                </p:oleObj>
              </mc:Choice>
              <mc:Fallback>
                <p:oleObj name="Visio" r:id="rId3" imgW="5257791" imgH="2504890" progId="Visio.Drawing.15">
                  <p:embed/>
                  <p:pic>
                    <p:nvPicPr>
                      <p:cNvPr id="10" name="Objeto 9">
                        <a:extLst>
                          <a:ext uri="{FF2B5EF4-FFF2-40B4-BE49-F238E27FC236}">
                            <a16:creationId xmlns:a16="http://schemas.microsoft.com/office/drawing/2014/main" id="{177FFDAF-22B9-4DD8-8514-253E6B080FE2}"/>
                          </a:ext>
                        </a:extLst>
                      </p:cNvPr>
                      <p:cNvPicPr/>
                      <p:nvPr/>
                    </p:nvPicPr>
                    <p:blipFill>
                      <a:blip r:embed="rId4"/>
                      <a:stretch>
                        <a:fillRect/>
                      </a:stretch>
                    </p:blipFill>
                    <p:spPr>
                      <a:xfrm>
                        <a:off x="2136000" y="2101038"/>
                        <a:ext cx="7920000" cy="3773478"/>
                      </a:xfrm>
                      <a:prstGeom prst="rect">
                        <a:avLst/>
                      </a:prstGeom>
                    </p:spPr>
                  </p:pic>
                </p:oleObj>
              </mc:Fallback>
            </mc:AlternateContent>
          </a:graphicData>
        </a:graphic>
      </p:graphicFrame>
      <p:graphicFrame>
        <p:nvGraphicFramePr>
          <p:cNvPr id="2" name="Objeto 1">
            <a:extLst>
              <a:ext uri="{FF2B5EF4-FFF2-40B4-BE49-F238E27FC236}">
                <a16:creationId xmlns:a16="http://schemas.microsoft.com/office/drawing/2014/main" id="{76BC3DF9-F8A0-4154-992F-D76C3625FA3F}"/>
              </a:ext>
            </a:extLst>
          </p:cNvPr>
          <p:cNvGraphicFramePr>
            <a:graphicFrameLocks/>
          </p:cNvGraphicFramePr>
          <p:nvPr>
            <p:extLst>
              <p:ext uri="{D42A27DB-BD31-4B8C-83A1-F6EECF244321}">
                <p14:modId xmlns:p14="http://schemas.microsoft.com/office/powerpoint/2010/main" val="3527380948"/>
              </p:ext>
            </p:extLst>
          </p:nvPr>
        </p:nvGraphicFramePr>
        <p:xfrm>
          <a:off x="1995573" y="2119335"/>
          <a:ext cx="8208000" cy="3773478"/>
        </p:xfrm>
        <a:graphic>
          <a:graphicData uri="http://schemas.openxmlformats.org/presentationml/2006/ole">
            <mc:AlternateContent xmlns:mc="http://schemas.openxmlformats.org/markup-compatibility/2006">
              <mc:Choice xmlns:v="urn:schemas-microsoft-com:vml" Requires="v">
                <p:oleObj name="Visio" r:id="rId5" imgW="5448419" imgH="2466806" progId="Visio.Drawing.15">
                  <p:embed/>
                </p:oleObj>
              </mc:Choice>
              <mc:Fallback>
                <p:oleObj name="Visio" r:id="rId5" imgW="5448419" imgH="2466806" progId="Visio.Drawing.15">
                  <p:embed/>
                  <p:pic>
                    <p:nvPicPr>
                      <p:cNvPr id="10" name="Objeto 9">
                        <a:extLst>
                          <a:ext uri="{FF2B5EF4-FFF2-40B4-BE49-F238E27FC236}">
                            <a16:creationId xmlns:a16="http://schemas.microsoft.com/office/drawing/2014/main" id="{177FFDAF-22B9-4DD8-8514-253E6B080FE2}"/>
                          </a:ext>
                        </a:extLst>
                      </p:cNvPr>
                      <p:cNvPicPr/>
                      <p:nvPr/>
                    </p:nvPicPr>
                    <p:blipFill>
                      <a:blip r:embed="rId6"/>
                      <a:stretch>
                        <a:fillRect/>
                      </a:stretch>
                    </p:blipFill>
                    <p:spPr>
                      <a:xfrm>
                        <a:off x="1995573" y="2119335"/>
                        <a:ext cx="8208000" cy="3773478"/>
                      </a:xfrm>
                      <a:prstGeom prst="rect">
                        <a:avLst/>
                      </a:prstGeom>
                    </p:spPr>
                  </p:pic>
                </p:oleObj>
              </mc:Fallback>
            </mc:AlternateContent>
          </a:graphicData>
        </a:graphic>
      </p:graphicFrame>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7">
            <a:duotone>
              <a:prstClr val="black"/>
              <a:srgbClr val="FF0000">
                <a:tint val="45000"/>
                <a:satMod val="400000"/>
              </a:srgbClr>
            </a:duotone>
            <a:alphaModFix amt="62000"/>
            <a:extLst>
              <a:ext uri="{BEBA8EAE-BF5A-486C-A8C5-ECC9F3942E4B}">
                <a14:imgProps xmlns:a14="http://schemas.microsoft.com/office/drawing/2010/main">
                  <a14:imgLayer r:embed="rId8">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Procedimiento y Definiciones</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9">
              <a:alphaModFix amt="50000"/>
            </a:blip>
            <a:srcRect l="15693" t="31624" r="25546" b="30133"/>
            <a:stretch/>
          </p:blipFill>
          <p:spPr>
            <a:xfrm>
              <a:off x="11311846" y="6376358"/>
              <a:ext cx="880154" cy="477359"/>
            </a:xfrm>
            <a:prstGeom prst="rect">
              <a:avLst/>
            </a:prstGeom>
          </p:spPr>
        </p:pic>
      </p:grpSp>
      <p:sp>
        <p:nvSpPr>
          <p:cNvPr id="8" name="2 Subtítulo">
            <a:extLst>
              <a:ext uri="{FF2B5EF4-FFF2-40B4-BE49-F238E27FC236}">
                <a16:creationId xmlns:a16="http://schemas.microsoft.com/office/drawing/2014/main" id="{8A9062BC-7FED-4215-BF73-D764B44447F0}"/>
              </a:ext>
            </a:extLst>
          </p:cNvPr>
          <p:cNvSpPr>
            <a:spLocks noGrp="1"/>
          </p:cNvSpPr>
          <p:nvPr/>
        </p:nvSpPr>
        <p:spPr>
          <a:xfrm>
            <a:off x="619449" y="1308256"/>
            <a:ext cx="9143983" cy="569039"/>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s-AR" sz="2800" b="1" dirty="0">
                <a:solidFill>
                  <a:schemeClr val="tx2"/>
                </a:solidFill>
              </a:rPr>
              <a:t>Ritmo rápido – Tiempo Básico</a:t>
            </a:r>
          </a:p>
        </p:txBody>
      </p:sp>
    </p:spTree>
    <p:extLst>
      <p:ext uri="{BB962C8B-B14F-4D97-AF65-F5344CB8AC3E}">
        <p14:creationId xmlns:p14="http://schemas.microsoft.com/office/powerpoint/2010/main" val="41090746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Procedimiento y Definiciones</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8" name="2 Subtítulo">
            <a:extLst>
              <a:ext uri="{FF2B5EF4-FFF2-40B4-BE49-F238E27FC236}">
                <a16:creationId xmlns:a16="http://schemas.microsoft.com/office/drawing/2014/main" id="{8A9062BC-7FED-4215-BF73-D764B44447F0}"/>
              </a:ext>
            </a:extLst>
          </p:cNvPr>
          <p:cNvSpPr>
            <a:spLocks noGrp="1"/>
          </p:cNvSpPr>
          <p:nvPr/>
        </p:nvSpPr>
        <p:spPr>
          <a:xfrm>
            <a:off x="619449" y="1308256"/>
            <a:ext cx="10382848" cy="569039"/>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s-AR" sz="2800" b="1" dirty="0">
                <a:solidFill>
                  <a:schemeClr val="tx2"/>
                </a:solidFill>
              </a:rPr>
              <a:t>Ritmo rápido – Tiempo Total Asignado</a:t>
            </a:r>
          </a:p>
        </p:txBody>
      </p:sp>
      <p:graphicFrame>
        <p:nvGraphicFramePr>
          <p:cNvPr id="2" name="Objeto 1">
            <a:extLst>
              <a:ext uri="{FF2B5EF4-FFF2-40B4-BE49-F238E27FC236}">
                <a16:creationId xmlns:a16="http://schemas.microsoft.com/office/drawing/2014/main" id="{419ABCE1-7076-4CB4-B9EB-6A5A361FE033}"/>
              </a:ext>
            </a:extLst>
          </p:cNvPr>
          <p:cNvGraphicFramePr>
            <a:graphicFrameLocks noChangeAspect="1"/>
          </p:cNvGraphicFramePr>
          <p:nvPr>
            <p:extLst>
              <p:ext uri="{D42A27DB-BD31-4B8C-83A1-F6EECF244321}">
                <p14:modId xmlns:p14="http://schemas.microsoft.com/office/powerpoint/2010/main" val="1451448525"/>
              </p:ext>
            </p:extLst>
          </p:nvPr>
        </p:nvGraphicFramePr>
        <p:xfrm>
          <a:off x="1595438" y="1982788"/>
          <a:ext cx="9001125" cy="4251325"/>
        </p:xfrm>
        <a:graphic>
          <a:graphicData uri="http://schemas.openxmlformats.org/presentationml/2006/ole">
            <mc:AlternateContent xmlns:mc="http://schemas.openxmlformats.org/markup-compatibility/2006">
              <mc:Choice xmlns:v="urn:schemas-microsoft-com:vml" Requires="v">
                <p:oleObj name="Visio" r:id="rId6" imgW="7600932" imgH="3590858" progId="Visio.Drawing.15">
                  <p:embed/>
                </p:oleObj>
              </mc:Choice>
              <mc:Fallback>
                <p:oleObj name="Visio" r:id="rId6" imgW="7600932" imgH="3590858" progId="Visio.Drawing.15">
                  <p:embed/>
                  <p:pic>
                    <p:nvPicPr>
                      <p:cNvPr id="2" name="Objeto 1">
                        <a:extLst>
                          <a:ext uri="{FF2B5EF4-FFF2-40B4-BE49-F238E27FC236}">
                            <a16:creationId xmlns:a16="http://schemas.microsoft.com/office/drawing/2014/main" id="{419ABCE1-7076-4CB4-B9EB-6A5A361FE033}"/>
                          </a:ext>
                        </a:extLst>
                      </p:cNvPr>
                      <p:cNvPicPr/>
                      <p:nvPr/>
                    </p:nvPicPr>
                    <p:blipFill>
                      <a:blip r:embed="rId7"/>
                      <a:stretch>
                        <a:fillRect/>
                      </a:stretch>
                    </p:blipFill>
                    <p:spPr>
                      <a:xfrm>
                        <a:off x="1595438" y="1982788"/>
                        <a:ext cx="9001125" cy="4251325"/>
                      </a:xfrm>
                      <a:prstGeom prst="rect">
                        <a:avLst/>
                      </a:prstGeom>
                    </p:spPr>
                  </p:pic>
                </p:oleObj>
              </mc:Fallback>
            </mc:AlternateContent>
          </a:graphicData>
        </a:graphic>
      </p:graphicFrame>
      <p:graphicFrame>
        <p:nvGraphicFramePr>
          <p:cNvPr id="13" name="Objeto 12">
            <a:extLst>
              <a:ext uri="{FF2B5EF4-FFF2-40B4-BE49-F238E27FC236}">
                <a16:creationId xmlns:a16="http://schemas.microsoft.com/office/drawing/2014/main" id="{6CABCCCD-5C90-4EA5-8EA9-47859AAF5B18}"/>
              </a:ext>
            </a:extLst>
          </p:cNvPr>
          <p:cNvGraphicFramePr>
            <a:graphicFrameLocks/>
          </p:cNvGraphicFramePr>
          <p:nvPr>
            <p:extLst>
              <p:ext uri="{D42A27DB-BD31-4B8C-83A1-F6EECF244321}">
                <p14:modId xmlns:p14="http://schemas.microsoft.com/office/powerpoint/2010/main" val="1881109379"/>
              </p:ext>
            </p:extLst>
          </p:nvPr>
        </p:nvGraphicFramePr>
        <p:xfrm>
          <a:off x="1484135" y="2071676"/>
          <a:ext cx="6462000" cy="2880000"/>
        </p:xfrm>
        <a:graphic>
          <a:graphicData uri="http://schemas.openxmlformats.org/presentationml/2006/ole">
            <mc:AlternateContent xmlns:mc="http://schemas.openxmlformats.org/markup-compatibility/2006">
              <mc:Choice xmlns:v="urn:schemas-microsoft-com:vml" Requires="v">
                <p:oleObj name="Visio" r:id="rId8" imgW="5448419" imgH="2466806" progId="Visio.Drawing.15">
                  <p:embed/>
                </p:oleObj>
              </mc:Choice>
              <mc:Fallback>
                <p:oleObj name="Visio" r:id="rId8" imgW="5448419" imgH="2466806" progId="Visio.Drawing.15">
                  <p:embed/>
                  <p:pic>
                    <p:nvPicPr>
                      <p:cNvPr id="2" name="Objeto 1">
                        <a:extLst>
                          <a:ext uri="{FF2B5EF4-FFF2-40B4-BE49-F238E27FC236}">
                            <a16:creationId xmlns:a16="http://schemas.microsoft.com/office/drawing/2014/main" id="{76BC3DF9-F8A0-4154-992F-D76C3625FA3F}"/>
                          </a:ext>
                        </a:extLst>
                      </p:cNvPr>
                      <p:cNvPicPr/>
                      <p:nvPr/>
                    </p:nvPicPr>
                    <p:blipFill>
                      <a:blip r:embed="rId9"/>
                      <a:stretch>
                        <a:fillRect/>
                      </a:stretch>
                    </p:blipFill>
                    <p:spPr>
                      <a:xfrm>
                        <a:off x="1484135" y="2071676"/>
                        <a:ext cx="6462000" cy="2880000"/>
                      </a:xfrm>
                      <a:prstGeom prst="rect">
                        <a:avLst/>
                      </a:prstGeom>
                    </p:spPr>
                  </p:pic>
                </p:oleObj>
              </mc:Fallback>
            </mc:AlternateContent>
          </a:graphicData>
        </a:graphic>
      </p:graphicFrame>
    </p:spTree>
    <p:extLst>
      <p:ext uri="{BB962C8B-B14F-4D97-AF65-F5344CB8AC3E}">
        <p14:creationId xmlns:p14="http://schemas.microsoft.com/office/powerpoint/2010/main" val="38822824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to 2">
            <a:extLst>
              <a:ext uri="{FF2B5EF4-FFF2-40B4-BE49-F238E27FC236}">
                <a16:creationId xmlns:a16="http://schemas.microsoft.com/office/drawing/2014/main" id="{6B76A6E9-24CE-4C8F-A0B1-40AC0B0D6BCD}"/>
              </a:ext>
            </a:extLst>
          </p:cNvPr>
          <p:cNvGraphicFramePr>
            <a:graphicFrameLocks noChangeAspect="1"/>
          </p:cNvGraphicFramePr>
          <p:nvPr>
            <p:extLst>
              <p:ext uri="{D42A27DB-BD31-4B8C-83A1-F6EECF244321}">
                <p14:modId xmlns:p14="http://schemas.microsoft.com/office/powerpoint/2010/main" val="2601213355"/>
              </p:ext>
            </p:extLst>
          </p:nvPr>
        </p:nvGraphicFramePr>
        <p:xfrm>
          <a:off x="2176536" y="2101037"/>
          <a:ext cx="7920000" cy="3763158"/>
        </p:xfrm>
        <a:graphic>
          <a:graphicData uri="http://schemas.openxmlformats.org/presentationml/2006/ole">
            <mc:AlternateContent xmlns:mc="http://schemas.openxmlformats.org/markup-compatibility/2006">
              <mc:Choice xmlns:v="urn:schemas-microsoft-com:vml" Requires="v">
                <p:oleObj name="Visio" r:id="rId3" imgW="6515031" imgH="3095762" progId="Visio.Drawing.15">
                  <p:embed/>
                </p:oleObj>
              </mc:Choice>
              <mc:Fallback>
                <p:oleObj name="Visio" r:id="rId3" imgW="6515031" imgH="3095762" progId="Visio.Drawing.15">
                  <p:embed/>
                  <p:pic>
                    <p:nvPicPr>
                      <p:cNvPr id="3" name="Objeto 2">
                        <a:extLst>
                          <a:ext uri="{FF2B5EF4-FFF2-40B4-BE49-F238E27FC236}">
                            <a16:creationId xmlns:a16="http://schemas.microsoft.com/office/drawing/2014/main" id="{6B76A6E9-24CE-4C8F-A0B1-40AC0B0D6BCD}"/>
                          </a:ext>
                        </a:extLst>
                      </p:cNvPr>
                      <p:cNvPicPr/>
                      <p:nvPr/>
                    </p:nvPicPr>
                    <p:blipFill>
                      <a:blip r:embed="rId4"/>
                      <a:stretch>
                        <a:fillRect/>
                      </a:stretch>
                    </p:blipFill>
                    <p:spPr>
                      <a:xfrm>
                        <a:off x="2176536" y="2101037"/>
                        <a:ext cx="7920000" cy="3763158"/>
                      </a:xfrm>
                      <a:prstGeom prst="rect">
                        <a:avLst/>
                      </a:prstGeom>
                    </p:spPr>
                  </p:pic>
                </p:oleObj>
              </mc:Fallback>
            </mc:AlternateContent>
          </a:graphicData>
        </a:graphic>
      </p:graphicFrame>
      <p:graphicFrame>
        <p:nvGraphicFramePr>
          <p:cNvPr id="14" name="Objeto 13">
            <a:extLst>
              <a:ext uri="{FF2B5EF4-FFF2-40B4-BE49-F238E27FC236}">
                <a16:creationId xmlns:a16="http://schemas.microsoft.com/office/drawing/2014/main" id="{4A3421E1-A84A-4669-9D61-B28260C2794C}"/>
              </a:ext>
            </a:extLst>
          </p:cNvPr>
          <p:cNvGraphicFramePr>
            <a:graphicFrameLocks noChangeAspect="1"/>
          </p:cNvGraphicFramePr>
          <p:nvPr>
            <p:extLst>
              <p:ext uri="{D42A27DB-BD31-4B8C-83A1-F6EECF244321}">
                <p14:modId xmlns:p14="http://schemas.microsoft.com/office/powerpoint/2010/main" val="2593788437"/>
              </p:ext>
            </p:extLst>
          </p:nvPr>
        </p:nvGraphicFramePr>
        <p:xfrm>
          <a:off x="2060629" y="2099503"/>
          <a:ext cx="8151813" cy="3751262"/>
        </p:xfrm>
        <a:graphic>
          <a:graphicData uri="http://schemas.openxmlformats.org/presentationml/2006/ole">
            <mc:AlternateContent xmlns:mc="http://schemas.openxmlformats.org/markup-compatibility/2006">
              <mc:Choice xmlns:v="urn:schemas-microsoft-com:vml" Requires="v">
                <p:oleObj name="Visio" r:id="rId5" imgW="6705659" imgH="3085959" progId="Visio.Drawing.15">
                  <p:embed/>
                </p:oleObj>
              </mc:Choice>
              <mc:Fallback>
                <p:oleObj name="Visio" r:id="rId5" imgW="6705659" imgH="3085959" progId="Visio.Drawing.15">
                  <p:embed/>
                  <p:pic>
                    <p:nvPicPr>
                      <p:cNvPr id="3" name="Objeto 2">
                        <a:extLst>
                          <a:ext uri="{FF2B5EF4-FFF2-40B4-BE49-F238E27FC236}">
                            <a16:creationId xmlns:a16="http://schemas.microsoft.com/office/drawing/2014/main" id="{6B76A6E9-24CE-4C8F-A0B1-40AC0B0D6BCD}"/>
                          </a:ext>
                        </a:extLst>
                      </p:cNvPr>
                      <p:cNvPicPr/>
                      <p:nvPr/>
                    </p:nvPicPr>
                    <p:blipFill>
                      <a:blip r:embed="rId6"/>
                      <a:stretch>
                        <a:fillRect/>
                      </a:stretch>
                    </p:blipFill>
                    <p:spPr>
                      <a:xfrm>
                        <a:off x="2060629" y="2099503"/>
                        <a:ext cx="8151813" cy="3751262"/>
                      </a:xfrm>
                      <a:prstGeom prst="rect">
                        <a:avLst/>
                      </a:prstGeom>
                    </p:spPr>
                  </p:pic>
                </p:oleObj>
              </mc:Fallback>
            </mc:AlternateContent>
          </a:graphicData>
        </a:graphic>
      </p:graphicFrame>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7">
            <a:duotone>
              <a:prstClr val="black"/>
              <a:srgbClr val="FF0000">
                <a:tint val="45000"/>
                <a:satMod val="400000"/>
              </a:srgbClr>
            </a:duotone>
            <a:alphaModFix amt="62000"/>
            <a:extLst>
              <a:ext uri="{BEBA8EAE-BF5A-486C-A8C5-ECC9F3942E4B}">
                <a14:imgProps xmlns:a14="http://schemas.microsoft.com/office/drawing/2010/main">
                  <a14:imgLayer r:embed="rId8">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Procedimiento y Definiciones</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9">
              <a:alphaModFix amt="50000"/>
            </a:blip>
            <a:srcRect l="15693" t="31624" r="25546" b="30133"/>
            <a:stretch/>
          </p:blipFill>
          <p:spPr>
            <a:xfrm>
              <a:off x="11311846" y="6376358"/>
              <a:ext cx="880154" cy="477359"/>
            </a:xfrm>
            <a:prstGeom prst="rect">
              <a:avLst/>
            </a:prstGeom>
          </p:spPr>
        </p:pic>
      </p:grpSp>
      <p:sp>
        <p:nvSpPr>
          <p:cNvPr id="8" name="2 Subtítulo">
            <a:extLst>
              <a:ext uri="{FF2B5EF4-FFF2-40B4-BE49-F238E27FC236}">
                <a16:creationId xmlns:a16="http://schemas.microsoft.com/office/drawing/2014/main" id="{8A9062BC-7FED-4215-BF73-D764B44447F0}"/>
              </a:ext>
            </a:extLst>
          </p:cNvPr>
          <p:cNvSpPr>
            <a:spLocks noGrp="1"/>
          </p:cNvSpPr>
          <p:nvPr/>
        </p:nvSpPr>
        <p:spPr>
          <a:xfrm>
            <a:off x="619449" y="1308256"/>
            <a:ext cx="10692397" cy="569039"/>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s-AR" sz="2800" b="1" dirty="0">
                <a:solidFill>
                  <a:schemeClr val="tx2"/>
                </a:solidFill>
              </a:rPr>
              <a:t>Ritmo lento – Tiempo Básico</a:t>
            </a:r>
          </a:p>
        </p:txBody>
      </p:sp>
    </p:spTree>
    <p:extLst>
      <p:ext uri="{BB962C8B-B14F-4D97-AF65-F5344CB8AC3E}">
        <p14:creationId xmlns:p14="http://schemas.microsoft.com/office/powerpoint/2010/main" val="45814176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Procedimiento y Definiciones</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8" name="2 Subtítulo">
            <a:extLst>
              <a:ext uri="{FF2B5EF4-FFF2-40B4-BE49-F238E27FC236}">
                <a16:creationId xmlns:a16="http://schemas.microsoft.com/office/drawing/2014/main" id="{8A9062BC-7FED-4215-BF73-D764B44447F0}"/>
              </a:ext>
            </a:extLst>
          </p:cNvPr>
          <p:cNvSpPr>
            <a:spLocks noGrp="1"/>
          </p:cNvSpPr>
          <p:nvPr/>
        </p:nvSpPr>
        <p:spPr>
          <a:xfrm>
            <a:off x="619449" y="1308256"/>
            <a:ext cx="10205867" cy="569039"/>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s-AR" sz="2800" b="1" dirty="0">
                <a:solidFill>
                  <a:schemeClr val="tx2"/>
                </a:solidFill>
              </a:rPr>
              <a:t>Ritmo lento – Tiempo Total Asignado</a:t>
            </a:r>
          </a:p>
        </p:txBody>
      </p:sp>
      <p:graphicFrame>
        <p:nvGraphicFramePr>
          <p:cNvPr id="2" name="Objeto 1">
            <a:extLst>
              <a:ext uri="{FF2B5EF4-FFF2-40B4-BE49-F238E27FC236}">
                <a16:creationId xmlns:a16="http://schemas.microsoft.com/office/drawing/2014/main" id="{419ABCE1-7076-4CB4-B9EB-6A5A361FE033}"/>
              </a:ext>
            </a:extLst>
          </p:cNvPr>
          <p:cNvGraphicFramePr>
            <a:graphicFrameLocks noChangeAspect="1"/>
          </p:cNvGraphicFramePr>
          <p:nvPr/>
        </p:nvGraphicFramePr>
        <p:xfrm>
          <a:off x="1596000" y="1982119"/>
          <a:ext cx="9000000" cy="4251880"/>
        </p:xfrm>
        <a:graphic>
          <a:graphicData uri="http://schemas.openxmlformats.org/presentationml/2006/ole">
            <mc:AlternateContent xmlns:mc="http://schemas.openxmlformats.org/markup-compatibility/2006">
              <mc:Choice xmlns:v="urn:schemas-microsoft-com:vml" Requires="v">
                <p:oleObj name="Visio" r:id="rId6" imgW="7600932" imgH="3590858" progId="Visio.Drawing.15">
                  <p:embed/>
                </p:oleObj>
              </mc:Choice>
              <mc:Fallback>
                <p:oleObj name="Visio" r:id="rId6" imgW="7600932" imgH="3590858" progId="Visio.Drawing.15">
                  <p:embed/>
                  <p:pic>
                    <p:nvPicPr>
                      <p:cNvPr id="2" name="Objeto 1">
                        <a:extLst>
                          <a:ext uri="{FF2B5EF4-FFF2-40B4-BE49-F238E27FC236}">
                            <a16:creationId xmlns:a16="http://schemas.microsoft.com/office/drawing/2014/main" id="{419ABCE1-7076-4CB4-B9EB-6A5A361FE033}"/>
                          </a:ext>
                        </a:extLst>
                      </p:cNvPr>
                      <p:cNvPicPr/>
                      <p:nvPr/>
                    </p:nvPicPr>
                    <p:blipFill>
                      <a:blip r:embed="rId7"/>
                      <a:stretch>
                        <a:fillRect/>
                      </a:stretch>
                    </p:blipFill>
                    <p:spPr>
                      <a:xfrm>
                        <a:off x="1596000" y="1982119"/>
                        <a:ext cx="9000000" cy="4251880"/>
                      </a:xfrm>
                      <a:prstGeom prst="rect">
                        <a:avLst/>
                      </a:prstGeom>
                    </p:spPr>
                  </p:pic>
                </p:oleObj>
              </mc:Fallback>
            </mc:AlternateContent>
          </a:graphicData>
        </a:graphic>
      </p:graphicFrame>
      <p:graphicFrame>
        <p:nvGraphicFramePr>
          <p:cNvPr id="14" name="Objeto 13">
            <a:extLst>
              <a:ext uri="{FF2B5EF4-FFF2-40B4-BE49-F238E27FC236}">
                <a16:creationId xmlns:a16="http://schemas.microsoft.com/office/drawing/2014/main" id="{AC90DA5B-FF38-425C-B63A-DC3F82BD9AAE}"/>
              </a:ext>
            </a:extLst>
          </p:cNvPr>
          <p:cNvGraphicFramePr>
            <a:graphicFrameLocks noChangeAspect="1"/>
          </p:cNvGraphicFramePr>
          <p:nvPr>
            <p:extLst>
              <p:ext uri="{D42A27DB-BD31-4B8C-83A1-F6EECF244321}">
                <p14:modId xmlns:p14="http://schemas.microsoft.com/office/powerpoint/2010/main" val="993931809"/>
              </p:ext>
            </p:extLst>
          </p:nvPr>
        </p:nvGraphicFramePr>
        <p:xfrm>
          <a:off x="1493490" y="2182367"/>
          <a:ext cx="7920000" cy="3599860"/>
        </p:xfrm>
        <a:graphic>
          <a:graphicData uri="http://schemas.openxmlformats.org/presentationml/2006/ole">
            <mc:AlternateContent xmlns:mc="http://schemas.openxmlformats.org/markup-compatibility/2006">
              <mc:Choice xmlns:v="urn:schemas-microsoft-com:vml" Requires="v">
                <p:oleObj name="Visio" r:id="rId8" imgW="6705659" imgH="3085959" progId="Visio.Drawing.15">
                  <p:embed/>
                </p:oleObj>
              </mc:Choice>
              <mc:Fallback>
                <p:oleObj name="Visio" r:id="rId8" imgW="6705659" imgH="3085959" progId="Visio.Drawing.15">
                  <p:embed/>
                  <p:pic>
                    <p:nvPicPr>
                      <p:cNvPr id="14" name="Objeto 13">
                        <a:extLst>
                          <a:ext uri="{FF2B5EF4-FFF2-40B4-BE49-F238E27FC236}">
                            <a16:creationId xmlns:a16="http://schemas.microsoft.com/office/drawing/2014/main" id="{4A3421E1-A84A-4669-9D61-B28260C2794C}"/>
                          </a:ext>
                        </a:extLst>
                      </p:cNvPr>
                      <p:cNvPicPr/>
                      <p:nvPr/>
                    </p:nvPicPr>
                    <p:blipFill>
                      <a:blip r:embed="rId9"/>
                      <a:stretch>
                        <a:fillRect/>
                      </a:stretch>
                    </p:blipFill>
                    <p:spPr>
                      <a:xfrm>
                        <a:off x="1493490" y="2182367"/>
                        <a:ext cx="7920000" cy="3599860"/>
                      </a:xfrm>
                      <a:prstGeom prst="rect">
                        <a:avLst/>
                      </a:prstGeom>
                    </p:spPr>
                  </p:pic>
                </p:oleObj>
              </mc:Fallback>
            </mc:AlternateContent>
          </a:graphicData>
        </a:graphic>
      </p:graphicFrame>
    </p:spTree>
    <p:extLst>
      <p:ext uri="{BB962C8B-B14F-4D97-AF65-F5344CB8AC3E}">
        <p14:creationId xmlns:p14="http://schemas.microsoft.com/office/powerpoint/2010/main" val="178375397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Ejercicio de Aplicación</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pic>
        <p:nvPicPr>
          <p:cNvPr id="3" name="Picture 2">
            <a:hlinkClick r:id="rId6"/>
            <a:extLst>
              <a:ext uri="{FF2B5EF4-FFF2-40B4-BE49-F238E27FC236}">
                <a16:creationId xmlns:a16="http://schemas.microsoft.com/office/drawing/2014/main" id="{3A861C46-BC65-4A48-B056-B6C4EFBD142B}"/>
              </a:ext>
            </a:extLst>
          </p:cNvPr>
          <p:cNvPicPr>
            <a:picLocks noChangeAspect="1" noChangeArrowheads="1"/>
          </p:cNvPicPr>
          <p:nvPr/>
        </p:nvPicPr>
        <p:blipFill>
          <a:blip r:embed="rId7" cstate="print"/>
          <a:srcRect l="39450" t="22360" r="12828" b="29761"/>
          <a:stretch>
            <a:fillRect/>
          </a:stretch>
        </p:blipFill>
        <p:spPr bwMode="auto">
          <a:xfrm>
            <a:off x="6600963" y="2396674"/>
            <a:ext cx="4737960" cy="2673898"/>
          </a:xfrm>
          <a:prstGeom prst="rect">
            <a:avLst/>
          </a:prstGeom>
          <a:noFill/>
          <a:ln w="9525">
            <a:noFill/>
            <a:miter lim="800000"/>
            <a:headEnd/>
            <a:tailEnd/>
          </a:ln>
        </p:spPr>
      </p:pic>
      <p:sp>
        <p:nvSpPr>
          <p:cNvPr id="4" name="Rectángulo 3">
            <a:extLst>
              <a:ext uri="{FF2B5EF4-FFF2-40B4-BE49-F238E27FC236}">
                <a16:creationId xmlns:a16="http://schemas.microsoft.com/office/drawing/2014/main" id="{58A90454-B161-41F3-9311-B3FDD9FFCCB2}"/>
              </a:ext>
            </a:extLst>
          </p:cNvPr>
          <p:cNvSpPr/>
          <p:nvPr/>
        </p:nvSpPr>
        <p:spPr>
          <a:xfrm>
            <a:off x="475375" y="2396674"/>
            <a:ext cx="5620626" cy="267389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Observe el material de multimedia propuesto por la cátedra.</a:t>
            </a:r>
          </a:p>
          <a:p>
            <a:pPr marL="342900" indent="-342900">
              <a:buFont typeface="Arial" panose="020B0604020202020204" pitchFamily="34" charset="0"/>
              <a:buChar char="•"/>
            </a:pPr>
            <a:r>
              <a:rPr lang="es-AR" sz="2000" dirty="0"/>
              <a:t>Divida el proceso en elementos.</a:t>
            </a:r>
          </a:p>
          <a:p>
            <a:pPr marL="342900" indent="-342900">
              <a:buFont typeface="Arial" panose="020B0604020202020204" pitchFamily="34" charset="0"/>
              <a:buChar char="•"/>
            </a:pPr>
            <a:r>
              <a:rPr lang="es-AR" sz="2000" dirty="0"/>
              <a:t>Clasifique los elementos.</a:t>
            </a:r>
          </a:p>
          <a:p>
            <a:pPr marL="342900" indent="-342900">
              <a:buFont typeface="Arial" panose="020B0604020202020204" pitchFamily="34" charset="0"/>
              <a:buChar char="•"/>
            </a:pPr>
            <a:r>
              <a:rPr lang="es-AR" sz="2000" dirty="0"/>
              <a:t>Realice la ficha explicativa de los elementos y cortes.</a:t>
            </a:r>
          </a:p>
        </p:txBody>
      </p:sp>
    </p:spTree>
    <p:extLst>
      <p:ext uri="{BB962C8B-B14F-4D97-AF65-F5344CB8AC3E}">
        <p14:creationId xmlns:p14="http://schemas.microsoft.com/office/powerpoint/2010/main" val="180438205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upo 3">
            <a:extLst>
              <a:ext uri="{FF2B5EF4-FFF2-40B4-BE49-F238E27FC236}">
                <a16:creationId xmlns:a16="http://schemas.microsoft.com/office/drawing/2014/main" id="{6B6F0577-24E5-4E23-9F2D-EACA50E50232}"/>
              </a:ext>
            </a:extLst>
          </p:cNvPr>
          <p:cNvGrpSpPr/>
          <p:nvPr/>
        </p:nvGrpSpPr>
        <p:grpSpPr>
          <a:xfrm>
            <a:off x="299219" y="1820474"/>
            <a:ext cx="1787998" cy="4011079"/>
            <a:chOff x="299219" y="1820474"/>
            <a:chExt cx="1787998" cy="4011079"/>
          </a:xfrm>
        </p:grpSpPr>
        <p:sp>
          <p:nvSpPr>
            <p:cNvPr id="5" name="Flecha: a la derecha 4">
              <a:extLst>
                <a:ext uri="{FF2B5EF4-FFF2-40B4-BE49-F238E27FC236}">
                  <a16:creationId xmlns:a16="http://schemas.microsoft.com/office/drawing/2014/main" id="{56DF984C-7CF5-460F-9A7C-DC8765A94B4C}"/>
                </a:ext>
              </a:extLst>
            </p:cNvPr>
            <p:cNvSpPr/>
            <p:nvPr/>
          </p:nvSpPr>
          <p:spPr>
            <a:xfrm>
              <a:off x="1154972" y="1820474"/>
              <a:ext cx="932245" cy="4011079"/>
            </a:xfrm>
            <a:prstGeom prst="rightArrow">
              <a:avLst>
                <a:gd name="adj1" fmla="val 75000"/>
                <a:gd name="adj2" fmla="val 50000"/>
              </a:avLst>
            </a:prstGeom>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sp>
        <p:sp>
          <p:nvSpPr>
            <p:cNvPr id="6" name="Forma libre: forma 5">
              <a:extLst>
                <a:ext uri="{FF2B5EF4-FFF2-40B4-BE49-F238E27FC236}">
                  <a16:creationId xmlns:a16="http://schemas.microsoft.com/office/drawing/2014/main" id="{D4E6067F-4AB9-4F94-99BC-015E7A69B2C5}"/>
                </a:ext>
              </a:extLst>
            </p:cNvPr>
            <p:cNvSpPr/>
            <p:nvPr/>
          </p:nvSpPr>
          <p:spPr>
            <a:xfrm>
              <a:off x="299219" y="1820474"/>
              <a:ext cx="855753" cy="4011079"/>
            </a:xfrm>
            <a:custGeom>
              <a:avLst/>
              <a:gdLst>
                <a:gd name="connsiteX0" fmla="*/ 0 w 855753"/>
                <a:gd name="connsiteY0" fmla="*/ 142628 h 4011079"/>
                <a:gd name="connsiteX1" fmla="*/ 142628 w 855753"/>
                <a:gd name="connsiteY1" fmla="*/ 0 h 4011079"/>
                <a:gd name="connsiteX2" fmla="*/ 713125 w 855753"/>
                <a:gd name="connsiteY2" fmla="*/ 0 h 4011079"/>
                <a:gd name="connsiteX3" fmla="*/ 855753 w 855753"/>
                <a:gd name="connsiteY3" fmla="*/ 142628 h 4011079"/>
                <a:gd name="connsiteX4" fmla="*/ 855753 w 855753"/>
                <a:gd name="connsiteY4" fmla="*/ 3868451 h 4011079"/>
                <a:gd name="connsiteX5" fmla="*/ 713125 w 855753"/>
                <a:gd name="connsiteY5" fmla="*/ 4011079 h 4011079"/>
                <a:gd name="connsiteX6" fmla="*/ 142628 w 855753"/>
                <a:gd name="connsiteY6" fmla="*/ 4011079 h 4011079"/>
                <a:gd name="connsiteX7" fmla="*/ 0 w 855753"/>
                <a:gd name="connsiteY7" fmla="*/ 3868451 h 4011079"/>
                <a:gd name="connsiteX8" fmla="*/ 0 w 855753"/>
                <a:gd name="connsiteY8" fmla="*/ 142628 h 4011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5753" h="4011079">
                  <a:moveTo>
                    <a:pt x="0" y="142628"/>
                  </a:moveTo>
                  <a:cubicBezTo>
                    <a:pt x="0" y="63857"/>
                    <a:pt x="63857" y="0"/>
                    <a:pt x="142628" y="0"/>
                  </a:cubicBezTo>
                  <a:lnTo>
                    <a:pt x="713125" y="0"/>
                  </a:lnTo>
                  <a:cubicBezTo>
                    <a:pt x="791896" y="0"/>
                    <a:pt x="855753" y="63857"/>
                    <a:pt x="855753" y="142628"/>
                  </a:cubicBezTo>
                  <a:lnTo>
                    <a:pt x="855753" y="3868451"/>
                  </a:lnTo>
                  <a:cubicBezTo>
                    <a:pt x="855753" y="3947222"/>
                    <a:pt x="791896" y="4011079"/>
                    <a:pt x="713125" y="4011079"/>
                  </a:cubicBezTo>
                  <a:lnTo>
                    <a:pt x="142628" y="4011079"/>
                  </a:lnTo>
                  <a:cubicBezTo>
                    <a:pt x="63857" y="4011079"/>
                    <a:pt x="0" y="3947222"/>
                    <a:pt x="0" y="3868451"/>
                  </a:cubicBezTo>
                  <a:lnTo>
                    <a:pt x="0" y="142628"/>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vert270" wrap="square" lIns="178934" tIns="110354" rIns="178934" bIns="110354" numCol="1" spcCol="1270" anchor="ctr" anchorCtr="0">
              <a:noAutofit/>
            </a:bodyPr>
            <a:lstStyle/>
            <a:p>
              <a:pPr marL="0" lvl="0" indent="0" algn="ctr" defTabSz="1600200">
                <a:lnSpc>
                  <a:spcPct val="90000"/>
                </a:lnSpc>
                <a:spcBef>
                  <a:spcPct val="0"/>
                </a:spcBef>
                <a:spcAft>
                  <a:spcPct val="35000"/>
                </a:spcAft>
                <a:buNone/>
              </a:pPr>
              <a:r>
                <a:rPr lang="es-AR" sz="3600" kern="1200" dirty="0"/>
                <a:t>Cronometraje</a:t>
              </a:r>
            </a:p>
          </p:txBody>
        </p:sp>
      </p:grpSp>
      <p:sp>
        <p:nvSpPr>
          <p:cNvPr id="17" name="CuadroTexto 16">
            <a:extLst>
              <a:ext uri="{FF2B5EF4-FFF2-40B4-BE49-F238E27FC236}">
                <a16:creationId xmlns:a16="http://schemas.microsoft.com/office/drawing/2014/main" id="{8B9B3C27-19A2-4CCC-BDF2-F1706B7D6F9F}"/>
              </a:ext>
            </a:extLst>
          </p:cNvPr>
          <p:cNvSpPr txBox="1"/>
          <p:nvPr/>
        </p:nvSpPr>
        <p:spPr>
          <a:xfrm>
            <a:off x="3120243" y="2118614"/>
            <a:ext cx="8398837" cy="461665"/>
          </a:xfrm>
          <a:prstGeom prst="rect">
            <a:avLst/>
          </a:prstGeom>
          <a:noFill/>
        </p:spPr>
        <p:txBody>
          <a:bodyPr wrap="square" rtlCol="0" anchor="ctr" anchorCtr="0">
            <a:spAutoFit/>
          </a:bodyPr>
          <a:lstStyle/>
          <a:p>
            <a:pPr>
              <a:spcAft>
                <a:spcPts val="1200"/>
              </a:spcAft>
            </a:pPr>
            <a:r>
              <a:rPr lang="es-AR" sz="2400" dirty="0"/>
              <a:t>Continuo o acumulativo</a:t>
            </a:r>
            <a:endParaRPr lang="es-AR" sz="5400" dirty="0"/>
          </a:p>
        </p:txBody>
      </p:sp>
      <p:sp>
        <p:nvSpPr>
          <p:cNvPr id="19" name="CuadroTexto 18">
            <a:extLst>
              <a:ext uri="{FF2B5EF4-FFF2-40B4-BE49-F238E27FC236}">
                <a16:creationId xmlns:a16="http://schemas.microsoft.com/office/drawing/2014/main" id="{489D6E9B-BEEF-486C-8D9D-6F15857270D1}"/>
              </a:ext>
            </a:extLst>
          </p:cNvPr>
          <p:cNvSpPr txBox="1"/>
          <p:nvPr/>
        </p:nvSpPr>
        <p:spPr>
          <a:xfrm>
            <a:off x="3141227" y="2598061"/>
            <a:ext cx="8398836" cy="1323439"/>
          </a:xfrm>
          <a:prstGeom prst="rect">
            <a:avLst/>
          </a:prstGeom>
          <a:noFill/>
        </p:spPr>
        <p:txBody>
          <a:bodyPr wrap="square" rtlCol="0" anchor="ctr" anchorCtr="0">
            <a:spAutoFit/>
          </a:bodyPr>
          <a:lstStyle/>
          <a:p>
            <a:r>
              <a:rPr lang="es-ES_tradnl" altLang="es-AR" sz="2000" dirty="0"/>
              <a:t>El cronómetro funciona de forma continua durante el estudio y se anota al final de cada elemento el tiempo transcurrido desde el inicio del primer elemento. Al terminar el estudio se calculan las diferencias y se obtiene el valor correspondiente de cada elemento.</a:t>
            </a:r>
            <a:endParaRPr lang="es-AR" sz="3200" dirty="0">
              <a:effectLst>
                <a:outerShdw blurRad="60007" dist="310007" dir="7680000" sy="30000" kx="1300200" algn="ctr" rotWithShape="0">
                  <a:prstClr val="black">
                    <a:alpha val="32000"/>
                  </a:prstClr>
                </a:outerShdw>
              </a:effectLst>
            </a:endParaRPr>
          </a:p>
        </p:txBody>
      </p:sp>
      <p:sp>
        <p:nvSpPr>
          <p:cNvPr id="20" name="Elipse 19">
            <a:extLst>
              <a:ext uri="{FF2B5EF4-FFF2-40B4-BE49-F238E27FC236}">
                <a16:creationId xmlns:a16="http://schemas.microsoft.com/office/drawing/2014/main" id="{33F4B844-19D6-41CD-83D2-A72162C82F29}"/>
              </a:ext>
            </a:extLst>
          </p:cNvPr>
          <p:cNvSpPr/>
          <p:nvPr/>
        </p:nvSpPr>
        <p:spPr>
          <a:xfrm>
            <a:off x="2244933" y="1959051"/>
            <a:ext cx="792000" cy="792000"/>
          </a:xfrm>
          <a:prstGeom prst="ellipse">
            <a:avLst/>
          </a:prstGeom>
          <a:ln>
            <a:noFill/>
          </a:ln>
          <a:effectLst>
            <a:glow rad="139700">
              <a:schemeClr val="accent2">
                <a:satMod val="175000"/>
                <a:alpha val="40000"/>
              </a:schemeClr>
            </a:glow>
            <a:outerShdw blurRad="76200" dir="13500000" sy="23000" kx="1200000" algn="br" rotWithShape="0">
              <a:prstClr val="black">
                <a:alpha val="20000"/>
              </a:prstClr>
            </a:outerShdw>
          </a:effectLst>
          <a:scene3d>
            <a:camera prst="perspectiveRight"/>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3200" dirty="0"/>
              <a:t>1</a:t>
            </a:r>
          </a:p>
        </p:txBody>
      </p:sp>
      <p:sp>
        <p:nvSpPr>
          <p:cNvPr id="22" name="Elipse 21">
            <a:extLst>
              <a:ext uri="{FF2B5EF4-FFF2-40B4-BE49-F238E27FC236}">
                <a16:creationId xmlns:a16="http://schemas.microsoft.com/office/drawing/2014/main" id="{A17D3AB2-C629-42E2-BAF2-88076E11D5AB}"/>
              </a:ext>
            </a:extLst>
          </p:cNvPr>
          <p:cNvSpPr/>
          <p:nvPr/>
        </p:nvSpPr>
        <p:spPr>
          <a:xfrm>
            <a:off x="2244933" y="4242956"/>
            <a:ext cx="792000" cy="792000"/>
          </a:xfrm>
          <a:prstGeom prst="ellipse">
            <a:avLst/>
          </a:prstGeom>
          <a:ln>
            <a:noFill/>
          </a:ln>
          <a:effectLst>
            <a:glow rad="139700">
              <a:schemeClr val="accent2">
                <a:satMod val="175000"/>
                <a:alpha val="40000"/>
              </a:schemeClr>
            </a:glow>
            <a:outerShdw blurRad="76200" dir="13500000" sy="23000" kx="1200000" algn="br" rotWithShape="0">
              <a:prstClr val="black">
                <a:alpha val="20000"/>
              </a:prstClr>
            </a:outerShdw>
          </a:effectLst>
          <a:scene3d>
            <a:camera prst="perspectiveRight"/>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3200" dirty="0"/>
              <a:t>2</a:t>
            </a:r>
          </a:p>
        </p:txBody>
      </p:sp>
      <p:grpSp>
        <p:nvGrpSpPr>
          <p:cNvPr id="30" name="Grupo 29">
            <a:extLst>
              <a:ext uri="{FF2B5EF4-FFF2-40B4-BE49-F238E27FC236}">
                <a16:creationId xmlns:a16="http://schemas.microsoft.com/office/drawing/2014/main" id="{CB2725BA-E5B8-4C49-B9A1-04C1BBF1F9E8}"/>
              </a:ext>
            </a:extLst>
          </p:cNvPr>
          <p:cNvGrpSpPr/>
          <p:nvPr/>
        </p:nvGrpSpPr>
        <p:grpSpPr>
          <a:xfrm>
            <a:off x="0" y="4141"/>
            <a:ext cx="12192000" cy="6849718"/>
            <a:chOff x="0" y="4141"/>
            <a:chExt cx="12192000" cy="6849718"/>
          </a:xfrm>
        </p:grpSpPr>
        <p:grpSp>
          <p:nvGrpSpPr>
            <p:cNvPr id="31" name="Grupo 30">
              <a:extLst>
                <a:ext uri="{FF2B5EF4-FFF2-40B4-BE49-F238E27FC236}">
                  <a16:creationId xmlns:a16="http://schemas.microsoft.com/office/drawing/2014/main" id="{6F885517-A95F-4C97-9C97-4DA1B01C620B}"/>
                </a:ext>
              </a:extLst>
            </p:cNvPr>
            <p:cNvGrpSpPr/>
            <p:nvPr/>
          </p:nvGrpSpPr>
          <p:grpSpPr>
            <a:xfrm>
              <a:off x="0" y="4141"/>
              <a:ext cx="12192000" cy="6849718"/>
              <a:chOff x="0" y="4141"/>
              <a:chExt cx="12192000" cy="6849718"/>
            </a:xfrm>
          </p:grpSpPr>
          <p:sp>
            <p:nvSpPr>
              <p:cNvPr id="33" name="Rectángulo 32">
                <a:extLst>
                  <a:ext uri="{FF2B5EF4-FFF2-40B4-BE49-F238E27FC236}">
                    <a16:creationId xmlns:a16="http://schemas.microsoft.com/office/drawing/2014/main" id="{F0FCC94F-4D3C-46BC-ABF9-F572678670B5}"/>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34" name="Rectángulo 33">
                <a:extLst>
                  <a:ext uri="{FF2B5EF4-FFF2-40B4-BE49-F238E27FC236}">
                    <a16:creationId xmlns:a16="http://schemas.microsoft.com/office/drawing/2014/main" id="{22FB07ED-CABB-45FA-9E87-812B1CD72CB0}"/>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35" name="Rectángulo 34">
                <a:extLst>
                  <a:ext uri="{FF2B5EF4-FFF2-40B4-BE49-F238E27FC236}">
                    <a16:creationId xmlns:a16="http://schemas.microsoft.com/office/drawing/2014/main" id="{DD4B5D67-1556-48B6-B446-57BB3D1CB32C}"/>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32" name="Imagen 31">
              <a:extLst>
                <a:ext uri="{FF2B5EF4-FFF2-40B4-BE49-F238E27FC236}">
                  <a16:creationId xmlns:a16="http://schemas.microsoft.com/office/drawing/2014/main" id="{56AD18CB-6763-49C9-8C61-3619D4D4BC22}"/>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24" name="CuadroTexto 23">
            <a:extLst>
              <a:ext uri="{FF2B5EF4-FFF2-40B4-BE49-F238E27FC236}">
                <a16:creationId xmlns:a16="http://schemas.microsoft.com/office/drawing/2014/main" id="{E7993185-7EC7-45E4-97AF-3619AC802466}"/>
              </a:ext>
            </a:extLst>
          </p:cNvPr>
          <p:cNvSpPr txBox="1"/>
          <p:nvPr/>
        </p:nvSpPr>
        <p:spPr>
          <a:xfrm>
            <a:off x="3141227" y="4383643"/>
            <a:ext cx="8398837" cy="461665"/>
          </a:xfrm>
          <a:prstGeom prst="rect">
            <a:avLst/>
          </a:prstGeom>
          <a:noFill/>
        </p:spPr>
        <p:txBody>
          <a:bodyPr wrap="square" rtlCol="0" anchor="ctr" anchorCtr="0">
            <a:spAutoFit/>
          </a:bodyPr>
          <a:lstStyle/>
          <a:p>
            <a:pPr>
              <a:spcAft>
                <a:spcPts val="1200"/>
              </a:spcAft>
            </a:pPr>
            <a:r>
              <a:rPr lang="es-AR" sz="2400" dirty="0"/>
              <a:t>Con vuelta a cero</a:t>
            </a:r>
            <a:endParaRPr lang="es-AR" sz="5400" dirty="0"/>
          </a:p>
        </p:txBody>
      </p:sp>
      <p:sp>
        <p:nvSpPr>
          <p:cNvPr id="25" name="CuadroTexto 24">
            <a:extLst>
              <a:ext uri="{FF2B5EF4-FFF2-40B4-BE49-F238E27FC236}">
                <a16:creationId xmlns:a16="http://schemas.microsoft.com/office/drawing/2014/main" id="{2A145090-4BEF-4F8F-9740-094B6797B678}"/>
              </a:ext>
            </a:extLst>
          </p:cNvPr>
          <p:cNvSpPr txBox="1"/>
          <p:nvPr/>
        </p:nvSpPr>
        <p:spPr>
          <a:xfrm>
            <a:off x="3120244" y="4858170"/>
            <a:ext cx="8398836" cy="1015663"/>
          </a:xfrm>
          <a:prstGeom prst="rect">
            <a:avLst/>
          </a:prstGeom>
          <a:noFill/>
        </p:spPr>
        <p:txBody>
          <a:bodyPr wrap="square" rtlCol="0" anchor="ctr" anchorCtr="0">
            <a:spAutoFit/>
          </a:bodyPr>
          <a:lstStyle/>
          <a:p>
            <a:r>
              <a:rPr lang="es-ES_tradnl" altLang="es-AR" sz="2000" dirty="0"/>
              <a:t>El</a:t>
            </a:r>
            <a:r>
              <a:rPr lang="es-AR" altLang="es-AR" sz="2000" dirty="0"/>
              <a:t> analista vuelve a cero el cronómetro cuando termina de registrar cada elemento, obteniendo así directamente el tiempo correspondiente al mismo.</a:t>
            </a:r>
            <a:endParaRPr lang="es-AR" sz="3200" dirty="0">
              <a:effectLst>
                <a:outerShdw blurRad="60007" dist="310007" dir="7680000" sy="30000" kx="1300200" algn="ctr" rotWithShape="0">
                  <a:prstClr val="black">
                    <a:alpha val="32000"/>
                  </a:prstClr>
                </a:outerShdw>
              </a:effectLst>
            </a:endParaRPr>
          </a:p>
        </p:txBody>
      </p:sp>
      <p:sp>
        <p:nvSpPr>
          <p:cNvPr id="2" name="CuadroTexto 1">
            <a:extLst>
              <a:ext uri="{FF2B5EF4-FFF2-40B4-BE49-F238E27FC236}">
                <a16:creationId xmlns:a16="http://schemas.microsoft.com/office/drawing/2014/main" id="{EA85C517-7CB9-4E6C-8181-720F95D21FEC}"/>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Procedimiento y Definiciones</a:t>
            </a:r>
            <a:endParaRPr lang="es-AR" sz="2800" dirty="0">
              <a:solidFill>
                <a:schemeClr val="tx1">
                  <a:lumMod val="65000"/>
                  <a:lumOff val="35000"/>
                </a:schemeClr>
              </a:solidFill>
            </a:endParaRPr>
          </a:p>
        </p:txBody>
      </p:sp>
    </p:spTree>
    <p:extLst>
      <p:ext uri="{BB962C8B-B14F-4D97-AF65-F5344CB8AC3E}">
        <p14:creationId xmlns:p14="http://schemas.microsoft.com/office/powerpoint/2010/main" val="428004114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10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10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10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10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0" grpId="0" animBg="1"/>
      <p:bldP spid="22" grpId="0" animBg="1"/>
      <p:bldP spid="24" grpId="0"/>
      <p:bldP spid="2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upo 5">
            <a:extLst>
              <a:ext uri="{FF2B5EF4-FFF2-40B4-BE49-F238E27FC236}">
                <a16:creationId xmlns:a16="http://schemas.microsoft.com/office/drawing/2014/main" id="{AE28BF8C-B02C-4DEF-9098-07745E0E4C70}"/>
              </a:ext>
            </a:extLst>
          </p:cNvPr>
          <p:cNvGrpSpPr/>
          <p:nvPr/>
        </p:nvGrpSpPr>
        <p:grpSpPr>
          <a:xfrm rot="5400000">
            <a:off x="5202001" y="331190"/>
            <a:ext cx="1787998" cy="4011079"/>
            <a:chOff x="299219" y="1820474"/>
            <a:chExt cx="1787998" cy="4011079"/>
          </a:xfrm>
        </p:grpSpPr>
        <p:sp>
          <p:nvSpPr>
            <p:cNvPr id="7" name="Flecha: a la derecha 6">
              <a:extLst>
                <a:ext uri="{FF2B5EF4-FFF2-40B4-BE49-F238E27FC236}">
                  <a16:creationId xmlns:a16="http://schemas.microsoft.com/office/drawing/2014/main" id="{B073C4D0-BC45-4694-AFCB-2C9E344FC656}"/>
                </a:ext>
              </a:extLst>
            </p:cNvPr>
            <p:cNvSpPr/>
            <p:nvPr/>
          </p:nvSpPr>
          <p:spPr>
            <a:xfrm>
              <a:off x="1154972" y="1820474"/>
              <a:ext cx="932245" cy="4011079"/>
            </a:xfrm>
            <a:prstGeom prst="rightArrow">
              <a:avLst>
                <a:gd name="adj1" fmla="val 75000"/>
                <a:gd name="adj2" fmla="val 50000"/>
              </a:avLst>
            </a:prstGeom>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sp>
        <p:sp>
          <p:nvSpPr>
            <p:cNvPr id="8" name="Forma libre: forma 7">
              <a:extLst>
                <a:ext uri="{FF2B5EF4-FFF2-40B4-BE49-F238E27FC236}">
                  <a16:creationId xmlns:a16="http://schemas.microsoft.com/office/drawing/2014/main" id="{4BA51921-4B7E-4630-AB3B-72C4830101D6}"/>
                </a:ext>
              </a:extLst>
            </p:cNvPr>
            <p:cNvSpPr/>
            <p:nvPr/>
          </p:nvSpPr>
          <p:spPr>
            <a:xfrm>
              <a:off x="299219" y="1820474"/>
              <a:ext cx="855753" cy="4011079"/>
            </a:xfrm>
            <a:custGeom>
              <a:avLst/>
              <a:gdLst>
                <a:gd name="connsiteX0" fmla="*/ 0 w 855753"/>
                <a:gd name="connsiteY0" fmla="*/ 142628 h 4011079"/>
                <a:gd name="connsiteX1" fmla="*/ 142628 w 855753"/>
                <a:gd name="connsiteY1" fmla="*/ 0 h 4011079"/>
                <a:gd name="connsiteX2" fmla="*/ 713125 w 855753"/>
                <a:gd name="connsiteY2" fmla="*/ 0 h 4011079"/>
                <a:gd name="connsiteX3" fmla="*/ 855753 w 855753"/>
                <a:gd name="connsiteY3" fmla="*/ 142628 h 4011079"/>
                <a:gd name="connsiteX4" fmla="*/ 855753 w 855753"/>
                <a:gd name="connsiteY4" fmla="*/ 3868451 h 4011079"/>
                <a:gd name="connsiteX5" fmla="*/ 713125 w 855753"/>
                <a:gd name="connsiteY5" fmla="*/ 4011079 h 4011079"/>
                <a:gd name="connsiteX6" fmla="*/ 142628 w 855753"/>
                <a:gd name="connsiteY6" fmla="*/ 4011079 h 4011079"/>
                <a:gd name="connsiteX7" fmla="*/ 0 w 855753"/>
                <a:gd name="connsiteY7" fmla="*/ 3868451 h 4011079"/>
                <a:gd name="connsiteX8" fmla="*/ 0 w 855753"/>
                <a:gd name="connsiteY8" fmla="*/ 142628 h 4011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5753" h="4011079">
                  <a:moveTo>
                    <a:pt x="0" y="142628"/>
                  </a:moveTo>
                  <a:cubicBezTo>
                    <a:pt x="0" y="63857"/>
                    <a:pt x="63857" y="0"/>
                    <a:pt x="142628" y="0"/>
                  </a:cubicBezTo>
                  <a:lnTo>
                    <a:pt x="713125" y="0"/>
                  </a:lnTo>
                  <a:cubicBezTo>
                    <a:pt x="791896" y="0"/>
                    <a:pt x="855753" y="63857"/>
                    <a:pt x="855753" y="142628"/>
                  </a:cubicBezTo>
                  <a:lnTo>
                    <a:pt x="855753" y="3868451"/>
                  </a:lnTo>
                  <a:cubicBezTo>
                    <a:pt x="855753" y="3947222"/>
                    <a:pt x="791896" y="4011079"/>
                    <a:pt x="713125" y="4011079"/>
                  </a:cubicBezTo>
                  <a:lnTo>
                    <a:pt x="142628" y="4011079"/>
                  </a:lnTo>
                  <a:cubicBezTo>
                    <a:pt x="63857" y="4011079"/>
                    <a:pt x="0" y="3947222"/>
                    <a:pt x="0" y="3868451"/>
                  </a:cubicBezTo>
                  <a:lnTo>
                    <a:pt x="0" y="142628"/>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vert270" wrap="square" lIns="178934" tIns="110354" rIns="178934" bIns="110354" numCol="1" spcCol="1270" anchor="ctr" anchorCtr="0">
              <a:noAutofit/>
            </a:bodyPr>
            <a:lstStyle/>
            <a:p>
              <a:pPr marL="0" lvl="0" indent="0" algn="ctr" defTabSz="1600200">
                <a:lnSpc>
                  <a:spcPct val="90000"/>
                </a:lnSpc>
                <a:spcBef>
                  <a:spcPct val="0"/>
                </a:spcBef>
                <a:spcAft>
                  <a:spcPct val="35000"/>
                </a:spcAft>
                <a:buNone/>
              </a:pPr>
              <a:r>
                <a:rPr lang="es-AR" sz="3600" kern="1200" dirty="0"/>
                <a:t>Unidad de tiempo</a:t>
              </a:r>
            </a:p>
          </p:txBody>
        </p:sp>
      </p:grpSp>
      <p:sp>
        <p:nvSpPr>
          <p:cNvPr id="17" name="CuadroTexto 16">
            <a:extLst>
              <a:ext uri="{FF2B5EF4-FFF2-40B4-BE49-F238E27FC236}">
                <a16:creationId xmlns:a16="http://schemas.microsoft.com/office/drawing/2014/main" id="{8B9B3C27-19A2-4CCC-BDF2-F1706B7D6F9F}"/>
              </a:ext>
            </a:extLst>
          </p:cNvPr>
          <p:cNvSpPr txBox="1"/>
          <p:nvPr/>
        </p:nvSpPr>
        <p:spPr>
          <a:xfrm>
            <a:off x="2192787" y="3912401"/>
            <a:ext cx="3559428" cy="461665"/>
          </a:xfrm>
          <a:prstGeom prst="rect">
            <a:avLst/>
          </a:prstGeom>
          <a:noFill/>
        </p:spPr>
        <p:txBody>
          <a:bodyPr wrap="square" rtlCol="0" anchor="ctr" anchorCtr="0">
            <a:spAutoFit/>
          </a:bodyPr>
          <a:lstStyle/>
          <a:p>
            <a:pPr>
              <a:spcAft>
                <a:spcPts val="1200"/>
              </a:spcAft>
            </a:pPr>
            <a:r>
              <a:rPr lang="es-AR" sz="2400" dirty="0"/>
              <a:t>Minuto Sexagesimal</a:t>
            </a:r>
            <a:endParaRPr lang="es-AR" sz="5400" dirty="0"/>
          </a:p>
        </p:txBody>
      </p:sp>
      <p:sp>
        <p:nvSpPr>
          <p:cNvPr id="19" name="CuadroTexto 18">
            <a:extLst>
              <a:ext uri="{FF2B5EF4-FFF2-40B4-BE49-F238E27FC236}">
                <a16:creationId xmlns:a16="http://schemas.microsoft.com/office/drawing/2014/main" id="{489D6E9B-BEEF-486C-8D9D-6F15857270D1}"/>
              </a:ext>
            </a:extLst>
          </p:cNvPr>
          <p:cNvSpPr txBox="1"/>
          <p:nvPr/>
        </p:nvSpPr>
        <p:spPr>
          <a:xfrm>
            <a:off x="2192786" y="4388961"/>
            <a:ext cx="1775314" cy="369332"/>
          </a:xfrm>
          <a:prstGeom prst="rect">
            <a:avLst/>
          </a:prstGeom>
          <a:noFill/>
        </p:spPr>
        <p:txBody>
          <a:bodyPr wrap="square" rtlCol="0" anchor="ctr" anchorCtr="0">
            <a:spAutoFit/>
          </a:bodyPr>
          <a:lstStyle/>
          <a:p>
            <a:r>
              <a:rPr lang="es-ES_tradnl" altLang="es-AR" dirty="0"/>
              <a:t>1min = 60seg</a:t>
            </a:r>
            <a:endParaRPr lang="es-AR" sz="2800" dirty="0">
              <a:effectLst>
                <a:outerShdw blurRad="60007" dist="310007" dir="7680000" sy="30000" kx="1300200" algn="ctr" rotWithShape="0">
                  <a:prstClr val="black">
                    <a:alpha val="32000"/>
                  </a:prstClr>
                </a:outerShdw>
              </a:effectLst>
            </a:endParaRPr>
          </a:p>
        </p:txBody>
      </p:sp>
      <p:sp>
        <p:nvSpPr>
          <p:cNvPr id="20" name="Elipse 19">
            <a:extLst>
              <a:ext uri="{FF2B5EF4-FFF2-40B4-BE49-F238E27FC236}">
                <a16:creationId xmlns:a16="http://schemas.microsoft.com/office/drawing/2014/main" id="{33F4B844-19D6-41CD-83D2-A72162C82F29}"/>
              </a:ext>
            </a:extLst>
          </p:cNvPr>
          <p:cNvSpPr/>
          <p:nvPr/>
        </p:nvSpPr>
        <p:spPr>
          <a:xfrm>
            <a:off x="2813642" y="3014431"/>
            <a:ext cx="792000" cy="792000"/>
          </a:xfrm>
          <a:prstGeom prst="ellipse">
            <a:avLst/>
          </a:prstGeom>
          <a:ln>
            <a:noFill/>
          </a:ln>
          <a:effectLst>
            <a:glow rad="139700">
              <a:schemeClr val="accent2">
                <a:satMod val="175000"/>
                <a:alpha val="40000"/>
              </a:schemeClr>
            </a:glow>
            <a:outerShdw blurRad="76200" dir="13500000" sy="23000" kx="1200000" algn="br" rotWithShape="0">
              <a:prstClr val="black">
                <a:alpha val="20000"/>
              </a:prstClr>
            </a:outerShdw>
          </a:effectLst>
          <a:scene3d>
            <a:camera prst="perspectiveRight"/>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3200" dirty="0"/>
              <a:t>1</a:t>
            </a:r>
          </a:p>
        </p:txBody>
      </p:sp>
      <p:sp>
        <p:nvSpPr>
          <p:cNvPr id="22" name="Elipse 21">
            <a:extLst>
              <a:ext uri="{FF2B5EF4-FFF2-40B4-BE49-F238E27FC236}">
                <a16:creationId xmlns:a16="http://schemas.microsoft.com/office/drawing/2014/main" id="{A17D3AB2-C629-42E2-BAF2-88076E11D5AB}"/>
              </a:ext>
            </a:extLst>
          </p:cNvPr>
          <p:cNvSpPr/>
          <p:nvPr/>
        </p:nvSpPr>
        <p:spPr>
          <a:xfrm>
            <a:off x="8586359" y="3034376"/>
            <a:ext cx="792000" cy="792000"/>
          </a:xfrm>
          <a:prstGeom prst="ellipse">
            <a:avLst/>
          </a:prstGeom>
          <a:ln>
            <a:noFill/>
          </a:ln>
          <a:effectLst>
            <a:glow rad="139700">
              <a:schemeClr val="accent2">
                <a:satMod val="175000"/>
                <a:alpha val="40000"/>
              </a:schemeClr>
            </a:glow>
            <a:outerShdw blurRad="76200" dir="13500000" sy="23000" kx="1200000" algn="br" rotWithShape="0">
              <a:prstClr val="black">
                <a:alpha val="20000"/>
              </a:prstClr>
            </a:outerShdw>
          </a:effectLst>
          <a:scene3d>
            <a:camera prst="perspectiveRight"/>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3200" dirty="0"/>
              <a:t>2</a:t>
            </a:r>
          </a:p>
        </p:txBody>
      </p:sp>
      <p:grpSp>
        <p:nvGrpSpPr>
          <p:cNvPr id="30" name="Grupo 29">
            <a:extLst>
              <a:ext uri="{FF2B5EF4-FFF2-40B4-BE49-F238E27FC236}">
                <a16:creationId xmlns:a16="http://schemas.microsoft.com/office/drawing/2014/main" id="{CB2725BA-E5B8-4C49-B9A1-04C1BBF1F9E8}"/>
              </a:ext>
            </a:extLst>
          </p:cNvPr>
          <p:cNvGrpSpPr/>
          <p:nvPr/>
        </p:nvGrpSpPr>
        <p:grpSpPr>
          <a:xfrm>
            <a:off x="0" y="4141"/>
            <a:ext cx="12192000" cy="6849718"/>
            <a:chOff x="0" y="4141"/>
            <a:chExt cx="12192000" cy="6849718"/>
          </a:xfrm>
        </p:grpSpPr>
        <p:grpSp>
          <p:nvGrpSpPr>
            <p:cNvPr id="31" name="Grupo 30">
              <a:extLst>
                <a:ext uri="{FF2B5EF4-FFF2-40B4-BE49-F238E27FC236}">
                  <a16:creationId xmlns:a16="http://schemas.microsoft.com/office/drawing/2014/main" id="{6F885517-A95F-4C97-9C97-4DA1B01C620B}"/>
                </a:ext>
              </a:extLst>
            </p:cNvPr>
            <p:cNvGrpSpPr/>
            <p:nvPr/>
          </p:nvGrpSpPr>
          <p:grpSpPr>
            <a:xfrm>
              <a:off x="0" y="4141"/>
              <a:ext cx="12192000" cy="6849718"/>
              <a:chOff x="0" y="4141"/>
              <a:chExt cx="12192000" cy="6849718"/>
            </a:xfrm>
          </p:grpSpPr>
          <p:sp>
            <p:nvSpPr>
              <p:cNvPr id="33" name="Rectángulo 32">
                <a:extLst>
                  <a:ext uri="{FF2B5EF4-FFF2-40B4-BE49-F238E27FC236}">
                    <a16:creationId xmlns:a16="http://schemas.microsoft.com/office/drawing/2014/main" id="{F0FCC94F-4D3C-46BC-ABF9-F572678670B5}"/>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34" name="Rectángulo 33">
                <a:extLst>
                  <a:ext uri="{FF2B5EF4-FFF2-40B4-BE49-F238E27FC236}">
                    <a16:creationId xmlns:a16="http://schemas.microsoft.com/office/drawing/2014/main" id="{22FB07ED-CABB-45FA-9E87-812B1CD72CB0}"/>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35" name="Rectángulo 34">
                <a:extLst>
                  <a:ext uri="{FF2B5EF4-FFF2-40B4-BE49-F238E27FC236}">
                    <a16:creationId xmlns:a16="http://schemas.microsoft.com/office/drawing/2014/main" id="{DD4B5D67-1556-48B6-B446-57BB3D1CB32C}"/>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32" name="Imagen 31">
              <a:extLst>
                <a:ext uri="{FF2B5EF4-FFF2-40B4-BE49-F238E27FC236}">
                  <a16:creationId xmlns:a16="http://schemas.microsoft.com/office/drawing/2014/main" id="{56AD18CB-6763-49C9-8C61-3619D4D4BC22}"/>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24" name="CuadroTexto 23">
            <a:extLst>
              <a:ext uri="{FF2B5EF4-FFF2-40B4-BE49-F238E27FC236}">
                <a16:creationId xmlns:a16="http://schemas.microsoft.com/office/drawing/2014/main" id="{E7993185-7EC7-45E4-97AF-3619AC802466}"/>
              </a:ext>
            </a:extLst>
          </p:cNvPr>
          <p:cNvSpPr txBox="1"/>
          <p:nvPr/>
        </p:nvSpPr>
        <p:spPr>
          <a:xfrm>
            <a:off x="8104800" y="3950398"/>
            <a:ext cx="3571657" cy="461665"/>
          </a:xfrm>
          <a:prstGeom prst="rect">
            <a:avLst/>
          </a:prstGeom>
          <a:noFill/>
        </p:spPr>
        <p:txBody>
          <a:bodyPr wrap="square" rtlCol="0" anchor="ctr" anchorCtr="0">
            <a:spAutoFit/>
          </a:bodyPr>
          <a:lstStyle/>
          <a:p>
            <a:pPr>
              <a:spcAft>
                <a:spcPts val="1200"/>
              </a:spcAft>
            </a:pPr>
            <a:r>
              <a:rPr lang="es-AR" sz="2400" dirty="0"/>
              <a:t>Minuto Centesimal</a:t>
            </a:r>
            <a:endParaRPr lang="es-AR" sz="5400" dirty="0"/>
          </a:p>
        </p:txBody>
      </p:sp>
      <p:sp>
        <p:nvSpPr>
          <p:cNvPr id="25" name="CuadroTexto 24">
            <a:extLst>
              <a:ext uri="{FF2B5EF4-FFF2-40B4-BE49-F238E27FC236}">
                <a16:creationId xmlns:a16="http://schemas.microsoft.com/office/drawing/2014/main" id="{2A145090-4BEF-4F8F-9740-094B6797B678}"/>
              </a:ext>
            </a:extLst>
          </p:cNvPr>
          <p:cNvSpPr txBox="1"/>
          <p:nvPr/>
        </p:nvSpPr>
        <p:spPr>
          <a:xfrm>
            <a:off x="8136460" y="4430360"/>
            <a:ext cx="1733346" cy="369332"/>
          </a:xfrm>
          <a:prstGeom prst="rect">
            <a:avLst/>
          </a:prstGeom>
          <a:noFill/>
        </p:spPr>
        <p:txBody>
          <a:bodyPr wrap="square" rtlCol="0" anchor="ctr" anchorCtr="0">
            <a:spAutoFit/>
          </a:bodyPr>
          <a:lstStyle/>
          <a:p>
            <a:r>
              <a:rPr lang="es-AR" altLang="es-AR" dirty="0"/>
              <a:t>1min = 100CM</a:t>
            </a:r>
            <a:endParaRPr lang="es-AR" sz="2800" dirty="0">
              <a:effectLst>
                <a:outerShdw blurRad="60007" dist="310007" dir="7680000" sy="30000" kx="1300200" algn="ctr" rotWithShape="0">
                  <a:prstClr val="black">
                    <a:alpha val="32000"/>
                  </a:prstClr>
                </a:outerShdw>
              </a:effectLst>
            </a:endParaRPr>
          </a:p>
        </p:txBody>
      </p:sp>
      <p:sp>
        <p:nvSpPr>
          <p:cNvPr id="2" name="CuadroTexto 1">
            <a:extLst>
              <a:ext uri="{FF2B5EF4-FFF2-40B4-BE49-F238E27FC236}">
                <a16:creationId xmlns:a16="http://schemas.microsoft.com/office/drawing/2014/main" id="{EA85C517-7CB9-4E6C-8181-720F95D21FEC}"/>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Procedimiento y Definiciones</a:t>
            </a:r>
            <a:endParaRPr lang="es-AR" sz="2800" dirty="0">
              <a:solidFill>
                <a:schemeClr val="tx1">
                  <a:lumMod val="65000"/>
                  <a:lumOff val="35000"/>
                </a:schemeClr>
              </a:solidFill>
            </a:endParaRPr>
          </a:p>
        </p:txBody>
      </p:sp>
      <p:pic>
        <p:nvPicPr>
          <p:cNvPr id="4" name="Picture 4" descr="Resultado de imagen para Cronometros centesimales">
            <a:extLst>
              <a:ext uri="{FF2B5EF4-FFF2-40B4-BE49-F238E27FC236}">
                <a16:creationId xmlns:a16="http://schemas.microsoft.com/office/drawing/2014/main" id="{D3E3AEDF-504B-448A-94C9-D78ED06E02E4}"/>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51386"/>
          <a:stretch/>
        </p:blipFill>
        <p:spPr bwMode="auto">
          <a:xfrm>
            <a:off x="185528" y="3927296"/>
            <a:ext cx="2007258" cy="210659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Resultado de imagen para Cronometros centesimales">
            <a:extLst>
              <a:ext uri="{FF2B5EF4-FFF2-40B4-BE49-F238E27FC236}">
                <a16:creationId xmlns:a16="http://schemas.microsoft.com/office/drawing/2014/main" id="{299E3B39-EE2A-47A6-B0EA-8BABB2A0D201}"/>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r="49738"/>
          <a:stretch/>
        </p:blipFill>
        <p:spPr bwMode="auto">
          <a:xfrm>
            <a:off x="6096000" y="3952451"/>
            <a:ext cx="2008800" cy="2039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424674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10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10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10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10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10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10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0" grpId="0" animBg="1"/>
      <p:bldP spid="22" grpId="0" animBg="1"/>
      <p:bldP spid="24" grpId="0"/>
      <p:bldP spid="2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C8CD620-2EBA-4D3E-BD52-C8D663F64F07}"/>
              </a:ext>
            </a:extLst>
          </p:cNvPr>
          <p:cNvSpPr>
            <a:spLocks noGrp="1"/>
          </p:cNvSpPr>
          <p:nvPr>
            <p:ph type="sldNum" sz="quarter" idx="12"/>
          </p:nvPr>
        </p:nvSpPr>
        <p:spPr/>
        <p:txBody>
          <a:bodyPr/>
          <a:lstStyle/>
          <a:p>
            <a:fld id="{CE14F34A-BFEE-3F4F-9931-32C7D0CB2CAC}" type="slidenum">
              <a:rPr lang="es-ES_tradnl" smtClean="0"/>
              <a:t>26</a:t>
            </a:fld>
            <a:endParaRPr lang="es-ES_tradnl"/>
          </a:p>
        </p:txBody>
      </p:sp>
      <p:sp>
        <p:nvSpPr>
          <p:cNvPr id="5" name="Marcador de número de diapositiva 5">
            <a:extLst>
              <a:ext uri="{FF2B5EF4-FFF2-40B4-BE49-F238E27FC236}">
                <a16:creationId xmlns:a16="http://schemas.microsoft.com/office/drawing/2014/main" id="{43FF463A-8C5C-4715-A993-55B59B879D6B}"/>
              </a:ext>
            </a:extLst>
          </p:cNvPr>
          <p:cNvSpPr txBox="1">
            <a:spLocks/>
          </p:cNvSpPr>
          <p:nvPr/>
        </p:nvSpPr>
        <p:spPr>
          <a:xfrm>
            <a:off x="8969943" y="6356352"/>
            <a:ext cx="2743200" cy="365125"/>
          </a:xfrm>
          <a:prstGeom prst="rect">
            <a:avLst/>
          </a:prstGeom>
        </p:spPr>
        <p:txBody>
          <a:bodyPr vert="horz" lIns="91440" tIns="45720" rIns="91440" bIns="45720" rtlCol="0" anchor="ctr"/>
          <a:lstStyle>
            <a:defPPr>
              <a:defRPr lang="es-AR"/>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E14F34A-BFEE-3F4F-9931-32C7D0CB2CAC}" type="slidenum">
              <a:rPr lang="es-ES_tradnl" smtClean="0"/>
              <a:pPr/>
              <a:t>26</a:t>
            </a:fld>
            <a:endParaRPr lang="es-ES_tradnl" dirty="0"/>
          </a:p>
        </p:txBody>
      </p:sp>
      <p:sp>
        <p:nvSpPr>
          <p:cNvPr id="8" name="CuadroTexto 7">
            <a:extLst>
              <a:ext uri="{FF2B5EF4-FFF2-40B4-BE49-F238E27FC236}">
                <a16:creationId xmlns:a16="http://schemas.microsoft.com/office/drawing/2014/main" id="{B4A44BA6-2CC3-4DC4-B311-A87CE6CFB891}"/>
              </a:ext>
            </a:extLst>
          </p:cNvPr>
          <p:cNvSpPr txBox="1"/>
          <p:nvPr/>
        </p:nvSpPr>
        <p:spPr>
          <a:xfrm>
            <a:off x="1701543" y="1839296"/>
            <a:ext cx="8640000" cy="76944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AR" sz="4400" dirty="0"/>
              <a:t>Procedimiento y Definiciones</a:t>
            </a:r>
          </a:p>
        </p:txBody>
      </p:sp>
      <p:sp>
        <p:nvSpPr>
          <p:cNvPr id="9" name="Rectángulo 8">
            <a:extLst>
              <a:ext uri="{FF2B5EF4-FFF2-40B4-BE49-F238E27FC236}">
                <a16:creationId xmlns:a16="http://schemas.microsoft.com/office/drawing/2014/main" id="{7D88A465-654E-4B59-8AF3-93EA53AC5CE4}"/>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pic>
        <p:nvPicPr>
          <p:cNvPr id="10" name="Imagen 9">
            <a:extLst>
              <a:ext uri="{FF2B5EF4-FFF2-40B4-BE49-F238E27FC236}">
                <a16:creationId xmlns:a16="http://schemas.microsoft.com/office/drawing/2014/main" id="{98F84D2A-5A34-4B91-8D81-DED7815BD234}"/>
              </a:ext>
            </a:extLst>
          </p:cNvPr>
          <p:cNvPicPr>
            <a:picLocks noChangeAspect="1"/>
          </p:cNvPicPr>
          <p:nvPr/>
        </p:nvPicPr>
        <p:blipFill rotWithShape="1">
          <a:blip r:embed="rId2">
            <a:alphaModFix amt="50000"/>
          </a:blip>
          <a:srcRect l="15693" t="31624" r="25546" b="30133"/>
          <a:stretch/>
        </p:blipFill>
        <p:spPr>
          <a:xfrm>
            <a:off x="11311846" y="6376358"/>
            <a:ext cx="880154" cy="477359"/>
          </a:xfrm>
          <a:prstGeom prst="rect">
            <a:avLst/>
          </a:prstGeom>
        </p:spPr>
      </p:pic>
      <p:grpSp>
        <p:nvGrpSpPr>
          <p:cNvPr id="11" name="Grupo 10">
            <a:extLst>
              <a:ext uri="{FF2B5EF4-FFF2-40B4-BE49-F238E27FC236}">
                <a16:creationId xmlns:a16="http://schemas.microsoft.com/office/drawing/2014/main" id="{9469D30D-7C31-4227-8BA8-628FD00D9DCD}"/>
              </a:ext>
            </a:extLst>
          </p:cNvPr>
          <p:cNvGrpSpPr/>
          <p:nvPr/>
        </p:nvGrpSpPr>
        <p:grpSpPr>
          <a:xfrm>
            <a:off x="0" y="4141"/>
            <a:ext cx="12192000" cy="6849718"/>
            <a:chOff x="0" y="4141"/>
            <a:chExt cx="12192000" cy="6849718"/>
          </a:xfrm>
        </p:grpSpPr>
        <p:grpSp>
          <p:nvGrpSpPr>
            <p:cNvPr id="12" name="Grupo 11">
              <a:extLst>
                <a:ext uri="{FF2B5EF4-FFF2-40B4-BE49-F238E27FC236}">
                  <a16:creationId xmlns:a16="http://schemas.microsoft.com/office/drawing/2014/main" id="{572EB0A4-A7B5-4FE7-9FA5-E64397F97F99}"/>
                </a:ext>
              </a:extLst>
            </p:cNvPr>
            <p:cNvGrpSpPr/>
            <p:nvPr/>
          </p:nvGrpSpPr>
          <p:grpSpPr>
            <a:xfrm>
              <a:off x="0" y="4141"/>
              <a:ext cx="12192000" cy="6849718"/>
              <a:chOff x="0" y="4141"/>
              <a:chExt cx="12192000" cy="6849718"/>
            </a:xfrm>
          </p:grpSpPr>
          <p:sp>
            <p:nvSpPr>
              <p:cNvPr id="14" name="Rectángulo 13">
                <a:extLst>
                  <a:ext uri="{FF2B5EF4-FFF2-40B4-BE49-F238E27FC236}">
                    <a16:creationId xmlns:a16="http://schemas.microsoft.com/office/drawing/2014/main" id="{BEDF9398-6224-4D9B-9CAA-1950A8DED444}"/>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15" name="Rectángulo 14">
                <a:extLst>
                  <a:ext uri="{FF2B5EF4-FFF2-40B4-BE49-F238E27FC236}">
                    <a16:creationId xmlns:a16="http://schemas.microsoft.com/office/drawing/2014/main" id="{7C697F25-AE48-4BEB-8D9A-FAF3116E68B3}"/>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16" name="Rectángulo 15">
                <a:extLst>
                  <a:ext uri="{FF2B5EF4-FFF2-40B4-BE49-F238E27FC236}">
                    <a16:creationId xmlns:a16="http://schemas.microsoft.com/office/drawing/2014/main" id="{6D0CFC36-12F2-42D6-B538-F6045F29D2A6}"/>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13" name="Imagen 12">
              <a:extLst>
                <a:ext uri="{FF2B5EF4-FFF2-40B4-BE49-F238E27FC236}">
                  <a16:creationId xmlns:a16="http://schemas.microsoft.com/office/drawing/2014/main" id="{8AF80697-4D19-4C3F-8D2E-169AA833643A}"/>
                </a:ext>
              </a:extLst>
            </p:cNvPr>
            <p:cNvPicPr>
              <a:picLocks noChangeAspect="1"/>
            </p:cNvPicPr>
            <p:nvPr/>
          </p:nvPicPr>
          <p:blipFill rotWithShape="1">
            <a:blip r:embed="rId2">
              <a:alphaModFix amt="50000"/>
            </a:blip>
            <a:srcRect l="15693" t="31624" r="25546" b="30133"/>
            <a:stretch/>
          </p:blipFill>
          <p:spPr>
            <a:xfrm>
              <a:off x="11311846" y="6376358"/>
              <a:ext cx="880154" cy="477359"/>
            </a:xfrm>
            <a:prstGeom prst="rect">
              <a:avLst/>
            </a:prstGeom>
          </p:spPr>
        </p:pic>
      </p:grpSp>
      <p:sp>
        <p:nvSpPr>
          <p:cNvPr id="2" name="Lágrima 1">
            <a:extLst>
              <a:ext uri="{FF2B5EF4-FFF2-40B4-BE49-F238E27FC236}">
                <a16:creationId xmlns:a16="http://schemas.microsoft.com/office/drawing/2014/main" id="{3D0A1A27-0DCB-424F-8E6E-4E96F38147FF}"/>
              </a:ext>
            </a:extLst>
          </p:cNvPr>
          <p:cNvSpPr/>
          <p:nvPr/>
        </p:nvSpPr>
        <p:spPr>
          <a:xfrm>
            <a:off x="571500" y="1839296"/>
            <a:ext cx="828000" cy="828000"/>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 name="CuadroTexto 2">
            <a:extLst>
              <a:ext uri="{FF2B5EF4-FFF2-40B4-BE49-F238E27FC236}">
                <a16:creationId xmlns:a16="http://schemas.microsoft.com/office/drawing/2014/main" id="{C4D35875-1ABA-4379-866C-6BC66621B8CB}"/>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Tiempos cronometrados</a:t>
            </a:r>
            <a:endParaRPr lang="es-AR" sz="2800" dirty="0">
              <a:solidFill>
                <a:schemeClr val="tx1">
                  <a:lumMod val="65000"/>
                  <a:lumOff val="35000"/>
                </a:schemeClr>
              </a:solidFill>
            </a:endParaRPr>
          </a:p>
        </p:txBody>
      </p:sp>
      <p:pic>
        <p:nvPicPr>
          <p:cNvPr id="19" name="Picture 4" descr="Resultado de imagen para utn ba">
            <a:extLst>
              <a:ext uri="{FF2B5EF4-FFF2-40B4-BE49-F238E27FC236}">
                <a16:creationId xmlns:a16="http://schemas.microsoft.com/office/drawing/2014/main" id="{C451A1F0-9751-4DF2-B66B-068ECAA5975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B6B03C43-FCFF-4E7F-9761-F3E2D4C82E59}"/>
              </a:ext>
            </a:extLst>
          </p:cNvPr>
          <p:cNvSpPr txBox="1"/>
          <p:nvPr/>
        </p:nvSpPr>
        <p:spPr>
          <a:xfrm>
            <a:off x="1701543" y="2775482"/>
            <a:ext cx="8640000" cy="76944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AR" sz="4400" dirty="0"/>
              <a:t>Ritmo de Trabajo</a:t>
            </a:r>
          </a:p>
        </p:txBody>
      </p:sp>
      <p:sp>
        <p:nvSpPr>
          <p:cNvPr id="7" name="Lágrima 6">
            <a:extLst>
              <a:ext uri="{FF2B5EF4-FFF2-40B4-BE49-F238E27FC236}">
                <a16:creationId xmlns:a16="http://schemas.microsoft.com/office/drawing/2014/main" id="{C7741045-ED90-4C8C-AC0A-6476B0F9B461}"/>
              </a:ext>
            </a:extLst>
          </p:cNvPr>
          <p:cNvSpPr/>
          <p:nvPr/>
        </p:nvSpPr>
        <p:spPr>
          <a:xfrm>
            <a:off x="571500" y="2775482"/>
            <a:ext cx="828000" cy="828000"/>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708409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Ritmo de Trabajo</a:t>
            </a:r>
            <a:endParaRPr lang="es-AR" sz="2800" dirty="0">
              <a:solidFill>
                <a:schemeClr val="tx1">
                  <a:lumMod val="65000"/>
                  <a:lumOff val="35000"/>
                </a:schemeClr>
              </a:solidFill>
            </a:endParaRPr>
          </a:p>
        </p:txBody>
      </p:sp>
      <p:grpSp>
        <p:nvGrpSpPr>
          <p:cNvPr id="30" name="Grupo 29">
            <a:extLst>
              <a:ext uri="{FF2B5EF4-FFF2-40B4-BE49-F238E27FC236}">
                <a16:creationId xmlns:a16="http://schemas.microsoft.com/office/drawing/2014/main" id="{C6F8B36E-045A-4F96-A6E3-614230581483}"/>
              </a:ext>
            </a:extLst>
          </p:cNvPr>
          <p:cNvGrpSpPr/>
          <p:nvPr/>
        </p:nvGrpSpPr>
        <p:grpSpPr>
          <a:xfrm>
            <a:off x="0" y="4141"/>
            <a:ext cx="12192000" cy="6849718"/>
            <a:chOff x="0" y="4141"/>
            <a:chExt cx="12192000" cy="6849718"/>
          </a:xfrm>
        </p:grpSpPr>
        <p:grpSp>
          <p:nvGrpSpPr>
            <p:cNvPr id="31" name="Grupo 30">
              <a:extLst>
                <a:ext uri="{FF2B5EF4-FFF2-40B4-BE49-F238E27FC236}">
                  <a16:creationId xmlns:a16="http://schemas.microsoft.com/office/drawing/2014/main" id="{F4550908-8633-4EDB-85ED-53B600E979B3}"/>
                </a:ext>
              </a:extLst>
            </p:cNvPr>
            <p:cNvGrpSpPr/>
            <p:nvPr/>
          </p:nvGrpSpPr>
          <p:grpSpPr>
            <a:xfrm>
              <a:off x="0" y="4141"/>
              <a:ext cx="12192000" cy="6849718"/>
              <a:chOff x="0" y="4141"/>
              <a:chExt cx="12192000" cy="6849718"/>
            </a:xfrm>
          </p:grpSpPr>
          <p:sp>
            <p:nvSpPr>
              <p:cNvPr id="33" name="Rectángulo 32">
                <a:extLst>
                  <a:ext uri="{FF2B5EF4-FFF2-40B4-BE49-F238E27FC236}">
                    <a16:creationId xmlns:a16="http://schemas.microsoft.com/office/drawing/2014/main" id="{050EC418-21ED-4099-A616-64049AE82550}"/>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34" name="Rectángulo 33">
                <a:extLst>
                  <a:ext uri="{FF2B5EF4-FFF2-40B4-BE49-F238E27FC236}">
                    <a16:creationId xmlns:a16="http://schemas.microsoft.com/office/drawing/2014/main" id="{AEE46C8A-38C8-4DDA-8AB2-A41A6C880318}"/>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35" name="Rectángulo 34">
                <a:extLst>
                  <a:ext uri="{FF2B5EF4-FFF2-40B4-BE49-F238E27FC236}">
                    <a16:creationId xmlns:a16="http://schemas.microsoft.com/office/drawing/2014/main" id="{46FA439C-7EC5-4DCD-8CC0-7B6F1F956EA9}"/>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32" name="Imagen 31">
              <a:extLst>
                <a:ext uri="{FF2B5EF4-FFF2-40B4-BE49-F238E27FC236}">
                  <a16:creationId xmlns:a16="http://schemas.microsoft.com/office/drawing/2014/main" id="{904EA942-2B7D-4110-B887-3D53417850E8}"/>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graphicFrame>
        <p:nvGraphicFramePr>
          <p:cNvPr id="5" name="Diagrama 4">
            <a:extLst>
              <a:ext uri="{FF2B5EF4-FFF2-40B4-BE49-F238E27FC236}">
                <a16:creationId xmlns:a16="http://schemas.microsoft.com/office/drawing/2014/main" id="{624C3647-98F6-4390-81A2-941051978B1E}"/>
              </a:ext>
            </a:extLst>
          </p:cNvPr>
          <p:cNvGraphicFramePr/>
          <p:nvPr>
            <p:extLst>
              <p:ext uri="{D42A27DB-BD31-4B8C-83A1-F6EECF244321}">
                <p14:modId xmlns:p14="http://schemas.microsoft.com/office/powerpoint/2010/main" val="797799331"/>
              </p:ext>
            </p:extLst>
          </p:nvPr>
        </p:nvGraphicFramePr>
        <p:xfrm>
          <a:off x="2032000" y="1359444"/>
          <a:ext cx="8128000" cy="4778889"/>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245348068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Ritmo de Trabajo</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2" name="Rectángulo 1">
            <a:extLst>
              <a:ext uri="{FF2B5EF4-FFF2-40B4-BE49-F238E27FC236}">
                <a16:creationId xmlns:a16="http://schemas.microsoft.com/office/drawing/2014/main" id="{231D9B51-DE67-46A5-9399-5AB4FE5FDFC6}"/>
              </a:ext>
            </a:extLst>
          </p:cNvPr>
          <p:cNvSpPr/>
          <p:nvPr/>
        </p:nvSpPr>
        <p:spPr>
          <a:xfrm>
            <a:off x="267127" y="2552013"/>
            <a:ext cx="11591937" cy="155133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Tiene por fin determinar, a partir del tiempo que invierte realmente el operario observado, cual es el tiempo tipo que el trabajador calificado medio puede mantener y que sirva de base realista para la planificación y el control. </a:t>
            </a:r>
          </a:p>
        </p:txBody>
      </p:sp>
      <p:sp>
        <p:nvSpPr>
          <p:cNvPr id="14" name="Rectángulo 13">
            <a:extLst>
              <a:ext uri="{FF2B5EF4-FFF2-40B4-BE49-F238E27FC236}">
                <a16:creationId xmlns:a16="http://schemas.microsoft.com/office/drawing/2014/main" id="{4AEE2BC7-EA0D-4CE7-91E8-59C0548D67EC}"/>
              </a:ext>
            </a:extLst>
          </p:cNvPr>
          <p:cNvSpPr/>
          <p:nvPr/>
        </p:nvSpPr>
        <p:spPr>
          <a:xfrm>
            <a:off x="267126" y="4253682"/>
            <a:ext cx="11591937" cy="104542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Es la justipreciación por correlación con el concepto que se tiene de lo que es el ritmo normal.</a:t>
            </a:r>
          </a:p>
        </p:txBody>
      </p:sp>
      <p:sp>
        <p:nvSpPr>
          <p:cNvPr id="3" name="Rectángulo 2">
            <a:extLst>
              <a:ext uri="{FF2B5EF4-FFF2-40B4-BE49-F238E27FC236}">
                <a16:creationId xmlns:a16="http://schemas.microsoft.com/office/drawing/2014/main" id="{A381EC6E-6B3D-4FFF-A260-FE38DAE42927}"/>
              </a:ext>
            </a:extLst>
          </p:cNvPr>
          <p:cNvSpPr/>
          <p:nvPr/>
        </p:nvSpPr>
        <p:spPr>
          <a:xfrm>
            <a:off x="267128" y="1832336"/>
            <a:ext cx="4817659" cy="620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2800" dirty="0">
                <a:solidFill>
                  <a:schemeClr val="tx1"/>
                </a:solidFill>
              </a:rPr>
              <a:t>Valoración del ritmo</a:t>
            </a:r>
            <a:endParaRPr lang="es-AR" sz="2800" dirty="0">
              <a:solidFill>
                <a:schemeClr val="tx1"/>
              </a:solidFill>
            </a:endParaRPr>
          </a:p>
        </p:txBody>
      </p:sp>
    </p:spTree>
    <p:extLst>
      <p:ext uri="{BB962C8B-B14F-4D97-AF65-F5344CB8AC3E}">
        <p14:creationId xmlns:p14="http://schemas.microsoft.com/office/powerpoint/2010/main" val="40403017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Ritmo de Trabajo</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2" name="Rectángulo 1">
            <a:extLst>
              <a:ext uri="{FF2B5EF4-FFF2-40B4-BE49-F238E27FC236}">
                <a16:creationId xmlns:a16="http://schemas.microsoft.com/office/drawing/2014/main" id="{231D9B51-DE67-46A5-9399-5AB4FE5FDFC6}"/>
              </a:ext>
            </a:extLst>
          </p:cNvPr>
          <p:cNvSpPr/>
          <p:nvPr/>
        </p:nvSpPr>
        <p:spPr>
          <a:xfrm>
            <a:off x="267127" y="1760486"/>
            <a:ext cx="11591937" cy="135301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RITMO NORMAL es el que obtienen naturalmente y sin forzarse los trabajadores calificados, como promedio de la jornada o turno, siempre que conozcan y respeten el método especificado y que se los haya motivado para aplicarse.</a:t>
            </a:r>
          </a:p>
        </p:txBody>
      </p:sp>
      <p:sp>
        <p:nvSpPr>
          <p:cNvPr id="15" name="Rectángulo 14">
            <a:extLst>
              <a:ext uri="{FF2B5EF4-FFF2-40B4-BE49-F238E27FC236}">
                <a16:creationId xmlns:a16="http://schemas.microsoft.com/office/drawing/2014/main" id="{B3013CC3-DC7D-4FDE-ABA6-075E0ECAFE5E}"/>
              </a:ext>
            </a:extLst>
          </p:cNvPr>
          <p:cNvSpPr/>
          <p:nvPr/>
        </p:nvSpPr>
        <p:spPr>
          <a:xfrm>
            <a:off x="267128" y="3274384"/>
            <a:ext cx="11591937" cy="117721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El analista debe determinar la </a:t>
            </a:r>
            <a:r>
              <a:rPr lang="es-AR" sz="2400" b="1" dirty="0"/>
              <a:t>VELOCIDAD </a:t>
            </a:r>
            <a:r>
              <a:rPr lang="es-AR" sz="2400" dirty="0"/>
              <a:t>con que el operario ejecuta el trabajo en relación con lo que se ha establecido como </a:t>
            </a:r>
            <a:r>
              <a:rPr lang="es-AR" sz="2400" i="1" dirty="0"/>
              <a:t>“ritmo (o velocidad) normal”</a:t>
            </a:r>
          </a:p>
        </p:txBody>
      </p:sp>
      <p:sp>
        <p:nvSpPr>
          <p:cNvPr id="3" name="Rectángulo 2">
            <a:extLst>
              <a:ext uri="{FF2B5EF4-FFF2-40B4-BE49-F238E27FC236}">
                <a16:creationId xmlns:a16="http://schemas.microsoft.com/office/drawing/2014/main" id="{CA80DAAB-2229-4894-8143-7F315AFED80B}"/>
              </a:ext>
            </a:extLst>
          </p:cNvPr>
          <p:cNvSpPr/>
          <p:nvPr/>
        </p:nvSpPr>
        <p:spPr>
          <a:xfrm>
            <a:off x="617818" y="4616249"/>
            <a:ext cx="11241247" cy="70374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La velocidad de movimiento de las extremidades de un hombre de físico corriente al caminar sin carga, en terreno llano y en línea recta es de 6.4km/h.</a:t>
            </a:r>
          </a:p>
        </p:txBody>
      </p:sp>
      <p:sp>
        <p:nvSpPr>
          <p:cNvPr id="17" name="Rectángulo 16">
            <a:extLst>
              <a:ext uri="{FF2B5EF4-FFF2-40B4-BE49-F238E27FC236}">
                <a16:creationId xmlns:a16="http://schemas.microsoft.com/office/drawing/2014/main" id="{5161BBB9-D940-4997-A110-8FA71FB2E770}"/>
              </a:ext>
            </a:extLst>
          </p:cNvPr>
          <p:cNvSpPr/>
          <p:nvPr/>
        </p:nvSpPr>
        <p:spPr>
          <a:xfrm>
            <a:off x="617818" y="5484652"/>
            <a:ext cx="11241247" cy="70374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El tiempo empleado por un trabajador calificado en la tarea de repartir los 52 naipes de una baraja es de 22.5seg.</a:t>
            </a:r>
          </a:p>
        </p:txBody>
      </p:sp>
      <p:sp>
        <p:nvSpPr>
          <p:cNvPr id="4" name="Rectángulo 3">
            <a:extLst>
              <a:ext uri="{FF2B5EF4-FFF2-40B4-BE49-F238E27FC236}">
                <a16:creationId xmlns:a16="http://schemas.microsoft.com/office/drawing/2014/main" id="{BFFB5C52-0DF7-44E7-B6B3-4C4CDA258099}"/>
              </a:ext>
            </a:extLst>
          </p:cNvPr>
          <p:cNvSpPr/>
          <p:nvPr/>
        </p:nvSpPr>
        <p:spPr>
          <a:xfrm rot="16200000">
            <a:off x="-469604" y="5075673"/>
            <a:ext cx="1605080" cy="620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2000" dirty="0">
                <a:solidFill>
                  <a:schemeClr val="tx1"/>
                </a:solidFill>
              </a:rPr>
              <a:t>Referencias</a:t>
            </a:r>
            <a:endParaRPr lang="es-AR" sz="2400" dirty="0">
              <a:solidFill>
                <a:schemeClr val="tx1"/>
              </a:solidFill>
            </a:endParaRPr>
          </a:p>
        </p:txBody>
      </p:sp>
    </p:spTree>
    <p:extLst>
      <p:ext uri="{BB962C8B-B14F-4D97-AF65-F5344CB8AC3E}">
        <p14:creationId xmlns:p14="http://schemas.microsoft.com/office/powerpoint/2010/main" val="27545252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Ritmo de Trabajo</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pic>
        <p:nvPicPr>
          <p:cNvPr id="3" name="Imagen 2">
            <a:hlinkClick r:id="rId6"/>
            <a:extLst>
              <a:ext uri="{FF2B5EF4-FFF2-40B4-BE49-F238E27FC236}">
                <a16:creationId xmlns:a16="http://schemas.microsoft.com/office/drawing/2014/main" id="{94B25C1F-CA3A-4D44-9546-A195383B7BE9}"/>
              </a:ext>
            </a:extLst>
          </p:cNvPr>
          <p:cNvPicPr>
            <a:picLocks noChangeAspect="1"/>
          </p:cNvPicPr>
          <p:nvPr/>
        </p:nvPicPr>
        <p:blipFill>
          <a:blip r:embed="rId7"/>
          <a:stretch>
            <a:fillRect/>
          </a:stretch>
        </p:blipFill>
        <p:spPr>
          <a:xfrm>
            <a:off x="3556796" y="1771803"/>
            <a:ext cx="5078408" cy="3816427"/>
          </a:xfrm>
          <a:prstGeom prst="rect">
            <a:avLst/>
          </a:prstGeom>
        </p:spPr>
      </p:pic>
    </p:spTree>
    <p:extLst>
      <p:ext uri="{BB962C8B-B14F-4D97-AF65-F5344CB8AC3E}">
        <p14:creationId xmlns:p14="http://schemas.microsoft.com/office/powerpoint/2010/main" val="11459179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Ritmo de Trabajo</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2" name="Rectángulo 1">
            <a:extLst>
              <a:ext uri="{FF2B5EF4-FFF2-40B4-BE49-F238E27FC236}">
                <a16:creationId xmlns:a16="http://schemas.microsoft.com/office/drawing/2014/main" id="{231D9B51-DE67-46A5-9399-5AB4FE5FDFC6}"/>
              </a:ext>
            </a:extLst>
          </p:cNvPr>
          <p:cNvSpPr/>
          <p:nvPr/>
        </p:nvSpPr>
        <p:spPr>
          <a:xfrm>
            <a:off x="267127" y="1521330"/>
            <a:ext cx="11591937" cy="89044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A fin de poder asignarle valores concretos a la OBSERVACIÓN SUBJETIVA, se disponen de varias escalas, siendo la más frecuente la ESCALA BRITÁNICA</a:t>
            </a:r>
          </a:p>
        </p:txBody>
      </p:sp>
      <p:sp>
        <p:nvSpPr>
          <p:cNvPr id="3" name="Rectángulo 2">
            <a:extLst>
              <a:ext uri="{FF2B5EF4-FFF2-40B4-BE49-F238E27FC236}">
                <a16:creationId xmlns:a16="http://schemas.microsoft.com/office/drawing/2014/main" id="{CA80DAAB-2229-4894-8143-7F315AFED80B}"/>
              </a:ext>
            </a:extLst>
          </p:cNvPr>
          <p:cNvSpPr/>
          <p:nvPr/>
        </p:nvSpPr>
        <p:spPr>
          <a:xfrm>
            <a:off x="6096000" y="2576650"/>
            <a:ext cx="5763065" cy="133320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Si el analista estima que la operación que está observando se ejecuta con menos eficacia de lo que él considera normal, entonces aplicará un ritmo inferior a 100.</a:t>
            </a:r>
          </a:p>
        </p:txBody>
      </p:sp>
      <p:pic>
        <p:nvPicPr>
          <p:cNvPr id="4" name="Picture 16" descr="Resultado de imagen para valoracion del ritmo de trabajo">
            <a:extLst>
              <a:ext uri="{FF2B5EF4-FFF2-40B4-BE49-F238E27FC236}">
                <a16:creationId xmlns:a16="http://schemas.microsoft.com/office/drawing/2014/main" id="{B6CF48A3-F759-4DC6-AEA0-3616E8C9FE49}"/>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4060" t="26049" r="2614" b="5541"/>
          <a:stretch/>
        </p:blipFill>
        <p:spPr bwMode="auto">
          <a:xfrm>
            <a:off x="332935" y="2804819"/>
            <a:ext cx="5557309" cy="3058436"/>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6A66C412-D9E6-45BB-B33B-FB85CC544976}"/>
              </a:ext>
            </a:extLst>
          </p:cNvPr>
          <p:cNvSpPr/>
          <p:nvPr/>
        </p:nvSpPr>
        <p:spPr>
          <a:xfrm>
            <a:off x="6096000" y="4074735"/>
            <a:ext cx="5763065" cy="133320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Si el analista estima que la operación que está observando se ejecuta con más eficacia de lo que él considera normal, entonces aplicará un ritmo superior a 100.</a:t>
            </a:r>
          </a:p>
        </p:txBody>
      </p:sp>
      <p:sp>
        <p:nvSpPr>
          <p:cNvPr id="18" name="Rectángulo 17">
            <a:extLst>
              <a:ext uri="{FF2B5EF4-FFF2-40B4-BE49-F238E27FC236}">
                <a16:creationId xmlns:a16="http://schemas.microsoft.com/office/drawing/2014/main" id="{A07C87FC-E273-4342-BC91-5F17C84F3E45}"/>
              </a:ext>
            </a:extLst>
          </p:cNvPr>
          <p:cNvSpPr/>
          <p:nvPr/>
        </p:nvSpPr>
        <p:spPr>
          <a:xfrm>
            <a:off x="6096000" y="5572820"/>
            <a:ext cx="5763065" cy="5926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Se recomienda redondear la valoración en cero o cinco.</a:t>
            </a:r>
          </a:p>
        </p:txBody>
      </p:sp>
    </p:spTree>
    <p:extLst>
      <p:ext uri="{BB962C8B-B14F-4D97-AF65-F5344CB8AC3E}">
        <p14:creationId xmlns:p14="http://schemas.microsoft.com/office/powerpoint/2010/main" val="35346200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1127520"/>
            <a:ext cx="8453014" cy="646331"/>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s-AR" sz="3600" dirty="0">
                <a:solidFill>
                  <a:schemeClr val="tx1">
                    <a:lumMod val="65000"/>
                    <a:lumOff val="35000"/>
                  </a:schemeClr>
                </a:solidFill>
              </a:rPr>
              <a:t>Ejercicio de Aplicación</a:t>
            </a:r>
            <a:endParaRPr lang="es-AR" sz="20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4" name="Rectángulo 3">
            <a:extLst>
              <a:ext uri="{FF2B5EF4-FFF2-40B4-BE49-F238E27FC236}">
                <a16:creationId xmlns:a16="http://schemas.microsoft.com/office/drawing/2014/main" id="{58A90454-B161-41F3-9311-B3FDD9FFCCB2}"/>
              </a:ext>
            </a:extLst>
          </p:cNvPr>
          <p:cNvSpPr/>
          <p:nvPr/>
        </p:nvSpPr>
        <p:spPr>
          <a:xfrm>
            <a:off x="475375" y="2396674"/>
            <a:ext cx="5620626" cy="267389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400" dirty="0"/>
              <a:t>Uniendo lo visto en tipos de elementos y ritmo, indique para el video siguiente el tiempo cronometrado y el ritmo de cada elemento. </a:t>
            </a:r>
          </a:p>
        </p:txBody>
      </p:sp>
      <p:pic>
        <p:nvPicPr>
          <p:cNvPr id="2" name="Imagen 1">
            <a:hlinkClick r:id="rId6"/>
            <a:extLst>
              <a:ext uri="{FF2B5EF4-FFF2-40B4-BE49-F238E27FC236}">
                <a16:creationId xmlns:a16="http://schemas.microsoft.com/office/drawing/2014/main" id="{E5635B13-73B5-411F-81CD-83617783E7E8}"/>
              </a:ext>
            </a:extLst>
          </p:cNvPr>
          <p:cNvPicPr>
            <a:picLocks noChangeAspect="1"/>
          </p:cNvPicPr>
          <p:nvPr/>
        </p:nvPicPr>
        <p:blipFill>
          <a:blip r:embed="rId7"/>
          <a:stretch>
            <a:fillRect/>
          </a:stretch>
        </p:blipFill>
        <p:spPr>
          <a:xfrm>
            <a:off x="6591182" y="2395772"/>
            <a:ext cx="4757521" cy="2674800"/>
          </a:xfrm>
          <a:prstGeom prst="rect">
            <a:avLst/>
          </a:prstGeom>
        </p:spPr>
      </p:pic>
      <p:sp>
        <p:nvSpPr>
          <p:cNvPr id="3" name="CuadroTexto 2">
            <a:extLst>
              <a:ext uri="{FF2B5EF4-FFF2-40B4-BE49-F238E27FC236}">
                <a16:creationId xmlns:a16="http://schemas.microsoft.com/office/drawing/2014/main" id="{91987039-C92F-4AB2-A828-2E2DDC2E2089}"/>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Ritmo de Trabajo</a:t>
            </a:r>
            <a:endParaRPr lang="es-AR" sz="2800" dirty="0">
              <a:solidFill>
                <a:schemeClr val="tx1">
                  <a:lumMod val="65000"/>
                  <a:lumOff val="35000"/>
                </a:schemeClr>
              </a:solidFill>
            </a:endParaRPr>
          </a:p>
        </p:txBody>
      </p:sp>
    </p:spTree>
    <p:extLst>
      <p:ext uri="{BB962C8B-B14F-4D97-AF65-F5344CB8AC3E}">
        <p14:creationId xmlns:p14="http://schemas.microsoft.com/office/powerpoint/2010/main" val="118556712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C8CD620-2EBA-4D3E-BD52-C8D663F64F07}"/>
              </a:ext>
            </a:extLst>
          </p:cNvPr>
          <p:cNvSpPr>
            <a:spLocks noGrp="1"/>
          </p:cNvSpPr>
          <p:nvPr>
            <p:ph type="sldNum" sz="quarter" idx="12"/>
          </p:nvPr>
        </p:nvSpPr>
        <p:spPr/>
        <p:txBody>
          <a:bodyPr/>
          <a:lstStyle/>
          <a:p>
            <a:fld id="{CE14F34A-BFEE-3F4F-9931-32C7D0CB2CAC}" type="slidenum">
              <a:rPr lang="es-ES_tradnl" smtClean="0"/>
              <a:t>33</a:t>
            </a:fld>
            <a:endParaRPr lang="es-ES_tradnl"/>
          </a:p>
        </p:txBody>
      </p:sp>
      <p:sp>
        <p:nvSpPr>
          <p:cNvPr id="5" name="Marcador de número de diapositiva 5">
            <a:extLst>
              <a:ext uri="{FF2B5EF4-FFF2-40B4-BE49-F238E27FC236}">
                <a16:creationId xmlns:a16="http://schemas.microsoft.com/office/drawing/2014/main" id="{43FF463A-8C5C-4715-A993-55B59B879D6B}"/>
              </a:ext>
            </a:extLst>
          </p:cNvPr>
          <p:cNvSpPr txBox="1">
            <a:spLocks/>
          </p:cNvSpPr>
          <p:nvPr/>
        </p:nvSpPr>
        <p:spPr>
          <a:xfrm>
            <a:off x="8969943" y="6356352"/>
            <a:ext cx="2743200" cy="365125"/>
          </a:xfrm>
          <a:prstGeom prst="rect">
            <a:avLst/>
          </a:prstGeom>
        </p:spPr>
        <p:txBody>
          <a:bodyPr vert="horz" lIns="91440" tIns="45720" rIns="91440" bIns="45720" rtlCol="0" anchor="ctr"/>
          <a:lstStyle>
            <a:defPPr>
              <a:defRPr lang="es-AR"/>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E14F34A-BFEE-3F4F-9931-32C7D0CB2CAC}" type="slidenum">
              <a:rPr lang="es-ES_tradnl" smtClean="0"/>
              <a:pPr/>
              <a:t>33</a:t>
            </a:fld>
            <a:endParaRPr lang="es-ES_tradnl" dirty="0"/>
          </a:p>
        </p:txBody>
      </p:sp>
      <p:sp>
        <p:nvSpPr>
          <p:cNvPr id="8" name="CuadroTexto 7">
            <a:extLst>
              <a:ext uri="{FF2B5EF4-FFF2-40B4-BE49-F238E27FC236}">
                <a16:creationId xmlns:a16="http://schemas.microsoft.com/office/drawing/2014/main" id="{B4A44BA6-2CC3-4DC4-B311-A87CE6CFB891}"/>
              </a:ext>
            </a:extLst>
          </p:cNvPr>
          <p:cNvSpPr txBox="1"/>
          <p:nvPr/>
        </p:nvSpPr>
        <p:spPr>
          <a:xfrm>
            <a:off x="1701543" y="1839296"/>
            <a:ext cx="8640000" cy="76944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AR" sz="4400" dirty="0"/>
              <a:t>Procedimiento y Definiciones</a:t>
            </a:r>
          </a:p>
        </p:txBody>
      </p:sp>
      <p:sp>
        <p:nvSpPr>
          <p:cNvPr id="9" name="Rectángulo 8">
            <a:extLst>
              <a:ext uri="{FF2B5EF4-FFF2-40B4-BE49-F238E27FC236}">
                <a16:creationId xmlns:a16="http://schemas.microsoft.com/office/drawing/2014/main" id="{7D88A465-654E-4B59-8AF3-93EA53AC5CE4}"/>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pic>
        <p:nvPicPr>
          <p:cNvPr id="10" name="Imagen 9">
            <a:extLst>
              <a:ext uri="{FF2B5EF4-FFF2-40B4-BE49-F238E27FC236}">
                <a16:creationId xmlns:a16="http://schemas.microsoft.com/office/drawing/2014/main" id="{98F84D2A-5A34-4B91-8D81-DED7815BD234}"/>
              </a:ext>
            </a:extLst>
          </p:cNvPr>
          <p:cNvPicPr>
            <a:picLocks noChangeAspect="1"/>
          </p:cNvPicPr>
          <p:nvPr/>
        </p:nvPicPr>
        <p:blipFill rotWithShape="1">
          <a:blip r:embed="rId2">
            <a:alphaModFix amt="50000"/>
          </a:blip>
          <a:srcRect l="15693" t="31624" r="25546" b="30133"/>
          <a:stretch/>
        </p:blipFill>
        <p:spPr>
          <a:xfrm>
            <a:off x="11311846" y="6376358"/>
            <a:ext cx="880154" cy="477359"/>
          </a:xfrm>
          <a:prstGeom prst="rect">
            <a:avLst/>
          </a:prstGeom>
        </p:spPr>
      </p:pic>
      <p:grpSp>
        <p:nvGrpSpPr>
          <p:cNvPr id="11" name="Grupo 10">
            <a:extLst>
              <a:ext uri="{FF2B5EF4-FFF2-40B4-BE49-F238E27FC236}">
                <a16:creationId xmlns:a16="http://schemas.microsoft.com/office/drawing/2014/main" id="{9469D30D-7C31-4227-8BA8-628FD00D9DCD}"/>
              </a:ext>
            </a:extLst>
          </p:cNvPr>
          <p:cNvGrpSpPr/>
          <p:nvPr/>
        </p:nvGrpSpPr>
        <p:grpSpPr>
          <a:xfrm>
            <a:off x="0" y="4141"/>
            <a:ext cx="12192000" cy="6849718"/>
            <a:chOff x="0" y="4141"/>
            <a:chExt cx="12192000" cy="6849718"/>
          </a:xfrm>
        </p:grpSpPr>
        <p:grpSp>
          <p:nvGrpSpPr>
            <p:cNvPr id="12" name="Grupo 11">
              <a:extLst>
                <a:ext uri="{FF2B5EF4-FFF2-40B4-BE49-F238E27FC236}">
                  <a16:creationId xmlns:a16="http://schemas.microsoft.com/office/drawing/2014/main" id="{572EB0A4-A7B5-4FE7-9FA5-E64397F97F99}"/>
                </a:ext>
              </a:extLst>
            </p:cNvPr>
            <p:cNvGrpSpPr/>
            <p:nvPr/>
          </p:nvGrpSpPr>
          <p:grpSpPr>
            <a:xfrm>
              <a:off x="0" y="4141"/>
              <a:ext cx="12192000" cy="6849718"/>
              <a:chOff x="0" y="4141"/>
              <a:chExt cx="12192000" cy="6849718"/>
            </a:xfrm>
          </p:grpSpPr>
          <p:sp>
            <p:nvSpPr>
              <p:cNvPr id="14" name="Rectángulo 13">
                <a:extLst>
                  <a:ext uri="{FF2B5EF4-FFF2-40B4-BE49-F238E27FC236}">
                    <a16:creationId xmlns:a16="http://schemas.microsoft.com/office/drawing/2014/main" id="{BEDF9398-6224-4D9B-9CAA-1950A8DED444}"/>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15" name="Rectángulo 14">
                <a:extLst>
                  <a:ext uri="{FF2B5EF4-FFF2-40B4-BE49-F238E27FC236}">
                    <a16:creationId xmlns:a16="http://schemas.microsoft.com/office/drawing/2014/main" id="{7C697F25-AE48-4BEB-8D9A-FAF3116E68B3}"/>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16" name="Rectángulo 15">
                <a:extLst>
                  <a:ext uri="{FF2B5EF4-FFF2-40B4-BE49-F238E27FC236}">
                    <a16:creationId xmlns:a16="http://schemas.microsoft.com/office/drawing/2014/main" id="{6D0CFC36-12F2-42D6-B538-F6045F29D2A6}"/>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13" name="Imagen 12">
              <a:extLst>
                <a:ext uri="{FF2B5EF4-FFF2-40B4-BE49-F238E27FC236}">
                  <a16:creationId xmlns:a16="http://schemas.microsoft.com/office/drawing/2014/main" id="{8AF80697-4D19-4C3F-8D2E-169AA833643A}"/>
                </a:ext>
              </a:extLst>
            </p:cNvPr>
            <p:cNvPicPr>
              <a:picLocks noChangeAspect="1"/>
            </p:cNvPicPr>
            <p:nvPr/>
          </p:nvPicPr>
          <p:blipFill rotWithShape="1">
            <a:blip r:embed="rId2">
              <a:alphaModFix amt="50000"/>
            </a:blip>
            <a:srcRect l="15693" t="31624" r="25546" b="30133"/>
            <a:stretch/>
          </p:blipFill>
          <p:spPr>
            <a:xfrm>
              <a:off x="11311846" y="6376358"/>
              <a:ext cx="880154" cy="477359"/>
            </a:xfrm>
            <a:prstGeom prst="rect">
              <a:avLst/>
            </a:prstGeom>
          </p:spPr>
        </p:pic>
      </p:grpSp>
      <p:sp>
        <p:nvSpPr>
          <p:cNvPr id="2" name="Lágrima 1">
            <a:extLst>
              <a:ext uri="{FF2B5EF4-FFF2-40B4-BE49-F238E27FC236}">
                <a16:creationId xmlns:a16="http://schemas.microsoft.com/office/drawing/2014/main" id="{3D0A1A27-0DCB-424F-8E6E-4E96F38147FF}"/>
              </a:ext>
            </a:extLst>
          </p:cNvPr>
          <p:cNvSpPr/>
          <p:nvPr/>
        </p:nvSpPr>
        <p:spPr>
          <a:xfrm>
            <a:off x="571500" y="1839296"/>
            <a:ext cx="828000" cy="828000"/>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 name="CuadroTexto 2">
            <a:extLst>
              <a:ext uri="{FF2B5EF4-FFF2-40B4-BE49-F238E27FC236}">
                <a16:creationId xmlns:a16="http://schemas.microsoft.com/office/drawing/2014/main" id="{C4D35875-1ABA-4379-866C-6BC66621B8CB}"/>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Tiempos cronometrados</a:t>
            </a:r>
            <a:endParaRPr lang="es-AR" sz="2800" dirty="0">
              <a:solidFill>
                <a:schemeClr val="tx1">
                  <a:lumMod val="65000"/>
                  <a:lumOff val="35000"/>
                </a:schemeClr>
              </a:solidFill>
            </a:endParaRPr>
          </a:p>
        </p:txBody>
      </p:sp>
      <p:pic>
        <p:nvPicPr>
          <p:cNvPr id="19" name="Picture 4" descr="Resultado de imagen para utn ba">
            <a:extLst>
              <a:ext uri="{FF2B5EF4-FFF2-40B4-BE49-F238E27FC236}">
                <a16:creationId xmlns:a16="http://schemas.microsoft.com/office/drawing/2014/main" id="{C451A1F0-9751-4DF2-B66B-068ECAA5975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B6B03C43-FCFF-4E7F-9761-F3E2D4C82E59}"/>
              </a:ext>
            </a:extLst>
          </p:cNvPr>
          <p:cNvSpPr txBox="1"/>
          <p:nvPr/>
        </p:nvSpPr>
        <p:spPr>
          <a:xfrm>
            <a:off x="1701543" y="2775482"/>
            <a:ext cx="8640000" cy="76944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AR" sz="4400" dirty="0"/>
              <a:t>Ritmo de Trabajo</a:t>
            </a:r>
          </a:p>
        </p:txBody>
      </p:sp>
      <p:sp>
        <p:nvSpPr>
          <p:cNvPr id="7" name="Lágrima 6">
            <a:extLst>
              <a:ext uri="{FF2B5EF4-FFF2-40B4-BE49-F238E27FC236}">
                <a16:creationId xmlns:a16="http://schemas.microsoft.com/office/drawing/2014/main" id="{C7741045-ED90-4C8C-AC0A-6476B0F9B461}"/>
              </a:ext>
            </a:extLst>
          </p:cNvPr>
          <p:cNvSpPr/>
          <p:nvPr/>
        </p:nvSpPr>
        <p:spPr>
          <a:xfrm>
            <a:off x="571500" y="2775482"/>
            <a:ext cx="828000" cy="828000"/>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7" name="CuadroTexto 16">
            <a:extLst>
              <a:ext uri="{FF2B5EF4-FFF2-40B4-BE49-F238E27FC236}">
                <a16:creationId xmlns:a16="http://schemas.microsoft.com/office/drawing/2014/main" id="{8649CF4D-C46A-485F-B39F-A59881124548}"/>
              </a:ext>
            </a:extLst>
          </p:cNvPr>
          <p:cNvSpPr txBox="1"/>
          <p:nvPr/>
        </p:nvSpPr>
        <p:spPr>
          <a:xfrm>
            <a:off x="1701543" y="3711668"/>
            <a:ext cx="8640000" cy="76944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AR" sz="4400" dirty="0"/>
              <a:t>Tamaño de la Muestra</a:t>
            </a:r>
          </a:p>
        </p:txBody>
      </p:sp>
      <p:sp>
        <p:nvSpPr>
          <p:cNvPr id="21" name="Lágrima 20">
            <a:extLst>
              <a:ext uri="{FF2B5EF4-FFF2-40B4-BE49-F238E27FC236}">
                <a16:creationId xmlns:a16="http://schemas.microsoft.com/office/drawing/2014/main" id="{480E5815-2393-435E-82D5-F293FE019578}"/>
              </a:ext>
            </a:extLst>
          </p:cNvPr>
          <p:cNvSpPr/>
          <p:nvPr/>
        </p:nvSpPr>
        <p:spPr>
          <a:xfrm>
            <a:off x="571500" y="3711668"/>
            <a:ext cx="828000" cy="828000"/>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4303493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Tamaño de la Muestra</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2" name="Rectángulo 1">
            <a:extLst>
              <a:ext uri="{FF2B5EF4-FFF2-40B4-BE49-F238E27FC236}">
                <a16:creationId xmlns:a16="http://schemas.microsoft.com/office/drawing/2014/main" id="{231D9B51-DE67-46A5-9399-5AB4FE5FDFC6}"/>
              </a:ext>
            </a:extLst>
          </p:cNvPr>
          <p:cNvSpPr/>
          <p:nvPr/>
        </p:nvSpPr>
        <p:spPr>
          <a:xfrm>
            <a:off x="267127" y="1760486"/>
            <a:ext cx="11591937" cy="159651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El tamaño de la muestra o cálculo de número de observaciones es un proceso vital en la etapa de cronometraje, dado que de este depende en gran medida el NIVEL DE CONFIANZA del estudio de tiempos. Este proceso tiene como objetivo determinar el valor del promedio representativo para cada elemento.</a:t>
            </a:r>
          </a:p>
        </p:txBody>
      </p:sp>
      <p:sp>
        <p:nvSpPr>
          <p:cNvPr id="18" name="Rectángulo 17">
            <a:extLst>
              <a:ext uri="{FF2B5EF4-FFF2-40B4-BE49-F238E27FC236}">
                <a16:creationId xmlns:a16="http://schemas.microsoft.com/office/drawing/2014/main" id="{046CEA9E-F533-4CB2-B092-43DBDDBA47CA}"/>
              </a:ext>
            </a:extLst>
          </p:cNvPr>
          <p:cNvSpPr/>
          <p:nvPr/>
        </p:nvSpPr>
        <p:spPr>
          <a:xfrm>
            <a:off x="267128" y="3635759"/>
            <a:ext cx="11591937" cy="49536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Los métodos más utilizados para determinar el número de observaciones son:</a:t>
            </a:r>
          </a:p>
        </p:txBody>
      </p:sp>
      <p:sp>
        <p:nvSpPr>
          <p:cNvPr id="3" name="Rectángulo 2">
            <a:extLst>
              <a:ext uri="{FF2B5EF4-FFF2-40B4-BE49-F238E27FC236}">
                <a16:creationId xmlns:a16="http://schemas.microsoft.com/office/drawing/2014/main" id="{2CE8677B-C4DE-43AA-88FD-FA2DDA04AEDF}"/>
              </a:ext>
            </a:extLst>
          </p:cNvPr>
          <p:cNvSpPr/>
          <p:nvPr/>
        </p:nvSpPr>
        <p:spPr>
          <a:xfrm>
            <a:off x="617818" y="4409886"/>
            <a:ext cx="11241247" cy="70374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El MÉTODO ESTADÍSTICO, que requiere una serie de observaciones preliminares para luego poder aplicar una fórmula.</a:t>
            </a:r>
          </a:p>
        </p:txBody>
      </p:sp>
      <p:sp>
        <p:nvSpPr>
          <p:cNvPr id="4" name="Rectángulo 3">
            <a:extLst>
              <a:ext uri="{FF2B5EF4-FFF2-40B4-BE49-F238E27FC236}">
                <a16:creationId xmlns:a16="http://schemas.microsoft.com/office/drawing/2014/main" id="{2010A2D7-2955-4D6E-B74A-36E459673B02}"/>
              </a:ext>
            </a:extLst>
          </p:cNvPr>
          <p:cNvSpPr/>
          <p:nvPr/>
        </p:nvSpPr>
        <p:spPr>
          <a:xfrm>
            <a:off x="617818" y="5392393"/>
            <a:ext cx="11241247" cy="70374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El MÉTODO GRÁFICO, que requiere una serie de observaciones preliminares para luego utilizar el nomograma épsilon.</a:t>
            </a:r>
          </a:p>
        </p:txBody>
      </p:sp>
    </p:spTree>
    <p:extLst>
      <p:ext uri="{BB962C8B-B14F-4D97-AF65-F5344CB8AC3E}">
        <p14:creationId xmlns:p14="http://schemas.microsoft.com/office/powerpoint/2010/main" val="4257313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Tamaño de la Muestra</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2" name="Rectángulo 1">
            <a:extLst>
              <a:ext uri="{FF2B5EF4-FFF2-40B4-BE49-F238E27FC236}">
                <a16:creationId xmlns:a16="http://schemas.microsoft.com/office/drawing/2014/main" id="{231D9B51-DE67-46A5-9399-5AB4FE5FDFC6}"/>
              </a:ext>
            </a:extLst>
          </p:cNvPr>
          <p:cNvSpPr/>
          <p:nvPr/>
        </p:nvSpPr>
        <p:spPr>
          <a:xfrm>
            <a:off x="267120" y="1388806"/>
            <a:ext cx="11591937" cy="83090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Para llevar a cabo el método estadístico, luego de haber tomado las 5 muestras preliminares se debe aplicar la siguiente ecuación:</a:t>
            </a:r>
          </a:p>
        </p:txBody>
      </p:sp>
      <p:sp>
        <p:nvSpPr>
          <p:cNvPr id="3" name="Rectángulo 2">
            <a:extLst>
              <a:ext uri="{FF2B5EF4-FFF2-40B4-BE49-F238E27FC236}">
                <a16:creationId xmlns:a16="http://schemas.microsoft.com/office/drawing/2014/main" id="{2CE8677B-C4DE-43AA-88FD-FA2DDA04AEDF}"/>
              </a:ext>
            </a:extLst>
          </p:cNvPr>
          <p:cNvSpPr/>
          <p:nvPr/>
        </p:nvSpPr>
        <p:spPr>
          <a:xfrm>
            <a:off x="633038" y="3489362"/>
            <a:ext cx="5106573" cy="39253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n = cantidad de muestras a realizar</a:t>
            </a: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1C1A52AC-3A50-41F3-8B91-B7D93EBD29DD}"/>
                  </a:ext>
                </a:extLst>
              </p:cNvPr>
              <p:cNvSpPr txBox="1"/>
              <p:nvPr/>
            </p:nvSpPr>
            <p:spPr>
              <a:xfrm>
                <a:off x="4233299" y="2369081"/>
                <a:ext cx="4165499" cy="98385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𝑛</m:t>
                      </m:r>
                      <m:r>
                        <a:rPr lang="es-AR" b="0" i="1" smtClean="0">
                          <a:latin typeface="Cambria Math" panose="02040503050406030204" pitchFamily="18" charset="0"/>
                        </a:rPr>
                        <m:t>=</m:t>
                      </m:r>
                      <m:sSup>
                        <m:sSupPr>
                          <m:ctrlPr>
                            <a:rPr lang="es-AR" b="0" i="1" smtClean="0">
                              <a:latin typeface="Cambria Math" panose="02040503050406030204" pitchFamily="18" charset="0"/>
                            </a:rPr>
                          </m:ctrlPr>
                        </m:sSupPr>
                        <m:e>
                          <m:d>
                            <m:dPr>
                              <m:ctrlPr>
                                <a:rPr lang="es-AR" i="1">
                                  <a:latin typeface="Cambria Math" panose="02040503050406030204" pitchFamily="18" charset="0"/>
                                </a:rPr>
                              </m:ctrlPr>
                            </m:dPr>
                            <m:e>
                              <m:f>
                                <m:fPr>
                                  <m:ctrlPr>
                                    <a:rPr lang="es-AR" i="1">
                                      <a:latin typeface="Cambria Math" panose="02040503050406030204" pitchFamily="18" charset="0"/>
                                    </a:rPr>
                                  </m:ctrlPr>
                                </m:fPr>
                                <m:num>
                                  <m:r>
                                    <a:rPr lang="es-AR" i="1">
                                      <a:latin typeface="Cambria Math" panose="02040503050406030204" pitchFamily="18" charset="0"/>
                                    </a:rPr>
                                    <m:t>40</m:t>
                                  </m:r>
                                  <m:r>
                                    <a:rPr lang="es-AR" i="1">
                                      <a:latin typeface="Cambria Math" panose="02040503050406030204" pitchFamily="18" charset="0"/>
                                      <a:ea typeface="Cambria Math" panose="02040503050406030204" pitchFamily="18" charset="0"/>
                                    </a:rPr>
                                    <m:t>×</m:t>
                                  </m:r>
                                  <m:rad>
                                    <m:radPr>
                                      <m:degHide m:val="on"/>
                                      <m:ctrlPr>
                                        <a:rPr lang="es-AR" i="1">
                                          <a:latin typeface="Cambria Math" panose="02040503050406030204" pitchFamily="18" charset="0"/>
                                          <a:ea typeface="Cambria Math" panose="02040503050406030204" pitchFamily="18" charset="0"/>
                                        </a:rPr>
                                      </m:ctrlPr>
                                    </m:radPr>
                                    <m:deg/>
                                    <m:e>
                                      <m:sSup>
                                        <m:sSupPr>
                                          <m:ctrlPr>
                                            <a:rPr lang="es-AR" i="1">
                                              <a:latin typeface="Cambria Math" panose="02040503050406030204" pitchFamily="18" charset="0"/>
                                              <a:ea typeface="Cambria Math" panose="02040503050406030204" pitchFamily="18" charset="0"/>
                                            </a:rPr>
                                          </m:ctrlPr>
                                        </m:sSupPr>
                                        <m:e>
                                          <m:r>
                                            <a:rPr lang="es-AR" i="1">
                                              <a:latin typeface="Cambria Math" panose="02040503050406030204" pitchFamily="18" charset="0"/>
                                              <a:ea typeface="Cambria Math" panose="02040503050406030204" pitchFamily="18" charset="0"/>
                                            </a:rPr>
                                            <m:t>𝑛</m:t>
                                          </m:r>
                                        </m:e>
                                        <m:sup>
                                          <m:r>
                                            <a:rPr lang="es-AR" i="1">
                                              <a:latin typeface="Cambria Math" panose="02040503050406030204" pitchFamily="18" charset="0"/>
                                              <a:ea typeface="Cambria Math" panose="02040503050406030204" pitchFamily="18" charset="0"/>
                                            </a:rPr>
                                            <m:t>′</m:t>
                                          </m:r>
                                        </m:sup>
                                      </m:sSup>
                                      <m:r>
                                        <a:rPr lang="es-AR" i="1">
                                          <a:latin typeface="Cambria Math" panose="02040503050406030204" pitchFamily="18" charset="0"/>
                                          <a:ea typeface="Cambria Math" panose="02040503050406030204" pitchFamily="18" charset="0"/>
                                        </a:rPr>
                                        <m:t>×</m:t>
                                      </m:r>
                                      <m:nary>
                                        <m:naryPr>
                                          <m:chr m:val="∑"/>
                                          <m:subHide m:val="on"/>
                                          <m:supHide m:val="on"/>
                                          <m:ctrlPr>
                                            <a:rPr lang="es-AR" i="1">
                                              <a:latin typeface="Cambria Math" panose="02040503050406030204" pitchFamily="18" charset="0"/>
                                              <a:ea typeface="Cambria Math" panose="02040503050406030204" pitchFamily="18" charset="0"/>
                                            </a:rPr>
                                          </m:ctrlPr>
                                        </m:naryPr>
                                        <m:sub/>
                                        <m:sup/>
                                        <m:e>
                                          <m:d>
                                            <m:dPr>
                                              <m:ctrlPr>
                                                <a:rPr lang="es-AR" i="1" smtClean="0">
                                                  <a:latin typeface="Cambria Math" panose="02040503050406030204" pitchFamily="18" charset="0"/>
                                                  <a:ea typeface="Cambria Math" panose="02040503050406030204" pitchFamily="18" charset="0"/>
                                                </a:rPr>
                                              </m:ctrlPr>
                                            </m:dPr>
                                            <m:e>
                                              <m:sSup>
                                                <m:sSupPr>
                                                  <m:ctrlPr>
                                                    <a:rPr lang="es-AR" i="1" smtClean="0">
                                                      <a:latin typeface="Cambria Math" panose="02040503050406030204" pitchFamily="18" charset="0"/>
                                                      <a:ea typeface="Cambria Math" panose="02040503050406030204" pitchFamily="18" charset="0"/>
                                                    </a:rPr>
                                                  </m:ctrlPr>
                                                </m:sSupPr>
                                                <m:e>
                                                  <m:sSub>
                                                    <m:sSubPr>
                                                      <m:ctrlPr>
                                                        <a:rPr lang="es-AR" i="1">
                                                          <a:latin typeface="Cambria Math" panose="02040503050406030204" pitchFamily="18" charset="0"/>
                                                          <a:ea typeface="Cambria Math" panose="02040503050406030204" pitchFamily="18" charset="0"/>
                                                        </a:rPr>
                                                      </m:ctrlPr>
                                                    </m:sSubPr>
                                                    <m:e>
                                                      <m:sSub>
                                                        <m:sSubPr>
                                                          <m:ctrlPr>
                                                            <a:rPr lang="es-AR"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𝑇</m:t>
                                                          </m:r>
                                                        </m:e>
                                                        <m:sub>
                                                          <m:r>
                                                            <a:rPr lang="es-AR" i="1">
                                                              <a:latin typeface="Cambria Math" panose="02040503050406030204" pitchFamily="18" charset="0"/>
                                                              <a:ea typeface="Cambria Math" panose="02040503050406030204" pitchFamily="18" charset="0"/>
                                                            </a:rPr>
                                                            <m:t>𝑂</m:t>
                                                          </m:r>
                                                        </m:sub>
                                                      </m:sSub>
                                                    </m:e>
                                                    <m:sub>
                                                      <m:r>
                                                        <a:rPr lang="es-AR" i="1">
                                                          <a:latin typeface="Cambria Math" panose="02040503050406030204" pitchFamily="18" charset="0"/>
                                                          <a:ea typeface="Cambria Math" panose="02040503050406030204" pitchFamily="18" charset="0"/>
                                                        </a:rPr>
                                                        <m:t>𝑖</m:t>
                                                      </m:r>
                                                    </m:sub>
                                                  </m:sSub>
                                                </m:e>
                                                <m:sup>
                                                  <m:r>
                                                    <a:rPr lang="es-AR" i="1">
                                                      <a:latin typeface="Cambria Math" panose="02040503050406030204" pitchFamily="18" charset="0"/>
                                                      <a:ea typeface="Cambria Math" panose="02040503050406030204" pitchFamily="18" charset="0"/>
                                                    </a:rPr>
                                                    <m:t>2</m:t>
                                                  </m:r>
                                                </m:sup>
                                              </m:sSup>
                                            </m:e>
                                          </m:d>
                                        </m:e>
                                      </m:nary>
                                      <m:r>
                                        <a:rPr lang="es-AR" i="1">
                                          <a:latin typeface="Cambria Math" panose="02040503050406030204" pitchFamily="18" charset="0"/>
                                          <a:ea typeface="Cambria Math" panose="02040503050406030204" pitchFamily="18" charset="0"/>
                                        </a:rPr>
                                        <m:t>−</m:t>
                                      </m:r>
                                      <m:sSup>
                                        <m:sSupPr>
                                          <m:ctrlPr>
                                            <a:rPr lang="es-AR" i="1">
                                              <a:latin typeface="Cambria Math" panose="02040503050406030204" pitchFamily="18" charset="0"/>
                                              <a:ea typeface="Cambria Math" panose="02040503050406030204" pitchFamily="18" charset="0"/>
                                            </a:rPr>
                                          </m:ctrlPr>
                                        </m:sSupPr>
                                        <m:e>
                                          <m:d>
                                            <m:dPr>
                                              <m:ctrlPr>
                                                <a:rPr lang="es-AR" i="1">
                                                  <a:latin typeface="Cambria Math" panose="02040503050406030204" pitchFamily="18" charset="0"/>
                                                  <a:ea typeface="Cambria Math" panose="02040503050406030204" pitchFamily="18" charset="0"/>
                                                </a:rPr>
                                              </m:ctrlPr>
                                            </m:dPr>
                                            <m:e>
                                              <m:nary>
                                                <m:naryPr>
                                                  <m:chr m:val="∑"/>
                                                  <m:subHide m:val="on"/>
                                                  <m:supHide m:val="on"/>
                                                  <m:ctrlPr>
                                                    <a:rPr lang="es-AR" i="1">
                                                      <a:latin typeface="Cambria Math" panose="02040503050406030204" pitchFamily="18" charset="0"/>
                                                      <a:ea typeface="Cambria Math" panose="02040503050406030204" pitchFamily="18" charset="0"/>
                                                    </a:rPr>
                                                  </m:ctrlPr>
                                                </m:naryPr>
                                                <m:sub/>
                                                <m:sup/>
                                                <m:e>
                                                  <m:d>
                                                    <m:dPr>
                                                      <m:ctrlPr>
                                                        <a:rPr lang="es-AR" i="1" smtClean="0">
                                                          <a:latin typeface="Cambria Math" panose="02040503050406030204" pitchFamily="18" charset="0"/>
                                                          <a:ea typeface="Cambria Math" panose="02040503050406030204" pitchFamily="18" charset="0"/>
                                                        </a:rPr>
                                                      </m:ctrlPr>
                                                    </m:dPr>
                                                    <m:e>
                                                      <m:sSub>
                                                        <m:sSubPr>
                                                          <m:ctrlPr>
                                                            <a:rPr lang="es-AR" i="1">
                                                              <a:latin typeface="Cambria Math" panose="02040503050406030204" pitchFamily="18" charset="0"/>
                                                              <a:ea typeface="Cambria Math" panose="02040503050406030204" pitchFamily="18" charset="0"/>
                                                            </a:rPr>
                                                          </m:ctrlPr>
                                                        </m:sSubPr>
                                                        <m:e>
                                                          <m:sSub>
                                                            <m:sSubPr>
                                                              <m:ctrlPr>
                                                                <a:rPr lang="es-AR"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𝑇</m:t>
                                                              </m:r>
                                                            </m:e>
                                                            <m:sub>
                                                              <m:r>
                                                                <a:rPr lang="es-AR" i="1">
                                                                  <a:latin typeface="Cambria Math" panose="02040503050406030204" pitchFamily="18" charset="0"/>
                                                                  <a:ea typeface="Cambria Math" panose="02040503050406030204" pitchFamily="18" charset="0"/>
                                                                </a:rPr>
                                                                <m:t>𝑂</m:t>
                                                              </m:r>
                                                            </m:sub>
                                                          </m:sSub>
                                                        </m:e>
                                                        <m:sub>
                                                          <m:r>
                                                            <a:rPr lang="es-AR" i="1">
                                                              <a:latin typeface="Cambria Math" panose="02040503050406030204" pitchFamily="18" charset="0"/>
                                                              <a:ea typeface="Cambria Math" panose="02040503050406030204" pitchFamily="18" charset="0"/>
                                                            </a:rPr>
                                                            <m:t>𝑖</m:t>
                                                          </m:r>
                                                        </m:sub>
                                                      </m:sSub>
                                                    </m:e>
                                                  </m:d>
                                                </m:e>
                                              </m:nary>
                                            </m:e>
                                          </m:d>
                                        </m:e>
                                        <m:sup>
                                          <m:r>
                                            <a:rPr lang="es-AR" i="1">
                                              <a:latin typeface="Cambria Math" panose="02040503050406030204" pitchFamily="18" charset="0"/>
                                              <a:ea typeface="Cambria Math" panose="02040503050406030204" pitchFamily="18" charset="0"/>
                                            </a:rPr>
                                            <m:t>2</m:t>
                                          </m:r>
                                        </m:sup>
                                      </m:sSup>
                                    </m:e>
                                  </m:rad>
                                </m:num>
                                <m:den>
                                  <m:nary>
                                    <m:naryPr>
                                      <m:chr m:val="∑"/>
                                      <m:subHide m:val="on"/>
                                      <m:supHide m:val="on"/>
                                      <m:ctrlPr>
                                        <a:rPr lang="es-AR" i="1" smtClean="0">
                                          <a:latin typeface="Cambria Math" panose="02040503050406030204" pitchFamily="18" charset="0"/>
                                          <a:ea typeface="Cambria Math" panose="02040503050406030204" pitchFamily="18" charset="0"/>
                                        </a:rPr>
                                      </m:ctrlPr>
                                    </m:naryPr>
                                    <m:sub/>
                                    <m:sup/>
                                    <m:e>
                                      <m:d>
                                        <m:dPr>
                                          <m:ctrlPr>
                                            <a:rPr lang="es-AR" i="1" smtClean="0">
                                              <a:latin typeface="Cambria Math" panose="02040503050406030204" pitchFamily="18" charset="0"/>
                                              <a:ea typeface="Cambria Math" panose="02040503050406030204" pitchFamily="18" charset="0"/>
                                            </a:rPr>
                                          </m:ctrlPr>
                                        </m:dPr>
                                        <m:e>
                                          <m:sSub>
                                            <m:sSubPr>
                                              <m:ctrlPr>
                                                <a:rPr lang="es-AR" i="1">
                                                  <a:latin typeface="Cambria Math" panose="02040503050406030204" pitchFamily="18" charset="0"/>
                                                  <a:ea typeface="Cambria Math" panose="02040503050406030204" pitchFamily="18" charset="0"/>
                                                </a:rPr>
                                              </m:ctrlPr>
                                            </m:sSubPr>
                                            <m:e>
                                              <m:sSub>
                                                <m:sSubPr>
                                                  <m:ctrlPr>
                                                    <a:rPr lang="es-AR"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𝑇</m:t>
                                                  </m:r>
                                                </m:e>
                                                <m:sub>
                                                  <m:r>
                                                    <a:rPr lang="es-AR" i="1">
                                                      <a:latin typeface="Cambria Math" panose="02040503050406030204" pitchFamily="18" charset="0"/>
                                                      <a:ea typeface="Cambria Math" panose="02040503050406030204" pitchFamily="18" charset="0"/>
                                                    </a:rPr>
                                                    <m:t>𝑂</m:t>
                                                  </m:r>
                                                </m:sub>
                                              </m:sSub>
                                            </m:e>
                                            <m:sub>
                                              <m:r>
                                                <a:rPr lang="es-AR" i="1">
                                                  <a:latin typeface="Cambria Math" panose="02040503050406030204" pitchFamily="18" charset="0"/>
                                                  <a:ea typeface="Cambria Math" panose="02040503050406030204" pitchFamily="18" charset="0"/>
                                                </a:rPr>
                                                <m:t>𝑖</m:t>
                                              </m:r>
                                            </m:sub>
                                          </m:sSub>
                                        </m:e>
                                      </m:d>
                                    </m:e>
                                  </m:nary>
                                </m:den>
                              </m:f>
                            </m:e>
                          </m:d>
                        </m:e>
                        <m:sup>
                          <m:r>
                            <a:rPr lang="es-AR" b="0" i="1" smtClean="0">
                              <a:latin typeface="Cambria Math" panose="02040503050406030204" pitchFamily="18" charset="0"/>
                            </a:rPr>
                            <m:t>2</m:t>
                          </m:r>
                        </m:sup>
                      </m:sSup>
                    </m:oMath>
                  </m:oMathPara>
                </a14:m>
                <a:endParaRPr lang="es-AR" dirty="0"/>
              </a:p>
            </p:txBody>
          </p:sp>
        </mc:Choice>
        <mc:Fallback xmlns="">
          <p:sp>
            <p:nvSpPr>
              <p:cNvPr id="5" name="CuadroTexto 4">
                <a:extLst>
                  <a:ext uri="{FF2B5EF4-FFF2-40B4-BE49-F238E27FC236}">
                    <a16:creationId xmlns:a16="http://schemas.microsoft.com/office/drawing/2014/main" id="{1C1A52AC-3A50-41F3-8B91-B7D93EBD29DD}"/>
                  </a:ext>
                </a:extLst>
              </p:cNvPr>
              <p:cNvSpPr txBox="1">
                <a:spLocks noRot="1" noChangeAspect="1" noMove="1" noResize="1" noEditPoints="1" noAdjustHandles="1" noChangeArrowheads="1" noChangeShapeType="1" noTextEdit="1"/>
              </p:cNvSpPr>
              <p:nvPr/>
            </p:nvSpPr>
            <p:spPr>
              <a:xfrm>
                <a:off x="4233299" y="2369081"/>
                <a:ext cx="4165499" cy="983859"/>
              </a:xfrm>
              <a:prstGeom prst="rect">
                <a:avLst/>
              </a:prstGeom>
              <a:blipFill>
                <a:blip r:embed="rId6"/>
                <a:stretch>
                  <a:fillRect/>
                </a:stretch>
              </a:blipFill>
            </p:spPr>
            <p:txBody>
              <a:bodyPr/>
              <a:lstStyle/>
              <a:p>
                <a:r>
                  <a:rPr lang="es-AR">
                    <a:noFill/>
                  </a:rPr>
                  <a:t> </a:t>
                </a:r>
              </a:p>
            </p:txBody>
          </p:sp>
        </mc:Fallback>
      </mc:AlternateContent>
      <p:sp>
        <p:nvSpPr>
          <p:cNvPr id="15" name="Rectángulo 14">
            <a:extLst>
              <a:ext uri="{FF2B5EF4-FFF2-40B4-BE49-F238E27FC236}">
                <a16:creationId xmlns:a16="http://schemas.microsoft.com/office/drawing/2014/main" id="{D79636FF-4214-4421-A70C-53B291BDDA94}"/>
              </a:ext>
            </a:extLst>
          </p:cNvPr>
          <p:cNvSpPr/>
          <p:nvPr/>
        </p:nvSpPr>
        <p:spPr>
          <a:xfrm>
            <a:off x="6452375" y="3487700"/>
            <a:ext cx="5106573" cy="39253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n' = cantidad de muestras realizadas</a:t>
            </a:r>
          </a:p>
        </p:txBody>
      </p:sp>
      <p:sp>
        <p:nvSpPr>
          <p:cNvPr id="6" name="Rectángulo 5">
            <a:extLst>
              <a:ext uri="{FF2B5EF4-FFF2-40B4-BE49-F238E27FC236}">
                <a16:creationId xmlns:a16="http://schemas.microsoft.com/office/drawing/2014/main" id="{CFBF1589-6EB8-4502-B443-F807593504E4}"/>
              </a:ext>
            </a:extLst>
          </p:cNvPr>
          <p:cNvSpPr/>
          <p:nvPr/>
        </p:nvSpPr>
        <p:spPr>
          <a:xfrm>
            <a:off x="3509801" y="4027950"/>
            <a:ext cx="5106573" cy="39253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err="1"/>
              <a:t>T</a:t>
            </a:r>
            <a:r>
              <a:rPr lang="es-AR" sz="2000" baseline="-25000" dirty="0" err="1"/>
              <a:t>O</a:t>
            </a:r>
            <a:r>
              <a:rPr lang="es-AR" sz="2000" dirty="0"/>
              <a:t> = tiempos observados</a:t>
            </a:r>
          </a:p>
        </p:txBody>
      </p:sp>
      <p:sp>
        <p:nvSpPr>
          <p:cNvPr id="8" name="Rectángulo 7">
            <a:extLst>
              <a:ext uri="{FF2B5EF4-FFF2-40B4-BE49-F238E27FC236}">
                <a16:creationId xmlns:a16="http://schemas.microsoft.com/office/drawing/2014/main" id="{618879D9-3860-4DE3-A1DE-5659D2763104}"/>
              </a:ext>
            </a:extLst>
          </p:cNvPr>
          <p:cNvSpPr/>
          <p:nvPr/>
        </p:nvSpPr>
        <p:spPr>
          <a:xfrm>
            <a:off x="442463" y="4574904"/>
            <a:ext cx="11241247" cy="70374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Esta ecuación estadística otorga un </a:t>
            </a:r>
            <a:r>
              <a:rPr lang="es-AR" sz="2000" dirty="0">
                <a:hlinkClick r:id="rId7"/>
              </a:rPr>
              <a:t>nivel de confianza</a:t>
            </a:r>
            <a:r>
              <a:rPr lang="es-AR" sz="2000" dirty="0"/>
              <a:t> del 95.45% y un </a:t>
            </a:r>
            <a:r>
              <a:rPr lang="es-AR" sz="2000" dirty="0">
                <a:hlinkClick r:id="rId8"/>
              </a:rPr>
              <a:t>margen de error</a:t>
            </a:r>
            <a:r>
              <a:rPr lang="es-AR" sz="2000" dirty="0"/>
              <a:t> de </a:t>
            </a:r>
            <a:r>
              <a:rPr lang="es-AR" sz="2000" dirty="0">
                <a:ea typeface="Cambria Math" panose="02040503050406030204" pitchFamily="18" charset="0"/>
              </a:rPr>
              <a:t>±5%</a:t>
            </a:r>
            <a:endParaRPr lang="es-AR" sz="2000" dirty="0"/>
          </a:p>
        </p:txBody>
      </p:sp>
      <p:sp>
        <p:nvSpPr>
          <p:cNvPr id="29" name="Rectángulo 28">
            <a:extLst>
              <a:ext uri="{FF2B5EF4-FFF2-40B4-BE49-F238E27FC236}">
                <a16:creationId xmlns:a16="http://schemas.microsoft.com/office/drawing/2014/main" id="{E3DE73B2-53BF-4918-B5BD-60514C43B132}"/>
              </a:ext>
            </a:extLst>
          </p:cNvPr>
          <p:cNvSpPr/>
          <p:nvPr/>
        </p:nvSpPr>
        <p:spPr>
          <a:xfrm>
            <a:off x="442463" y="5433068"/>
            <a:ext cx="11241247" cy="70374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Esto significa que el 95.45% de las veces la cantidad de muestras calculadas “n” tendrá dentro del </a:t>
            </a:r>
            <a:r>
              <a:rPr lang="es-AR" sz="2000" dirty="0">
                <a:ea typeface="Cambria Math" panose="02040503050406030204" pitchFamily="18" charset="0"/>
              </a:rPr>
              <a:t>±5% al valor n real de muestras que se debiera haber realizado.</a:t>
            </a:r>
            <a:endParaRPr lang="es-AR" sz="2000" dirty="0"/>
          </a:p>
        </p:txBody>
      </p:sp>
    </p:spTree>
    <p:extLst>
      <p:ext uri="{BB962C8B-B14F-4D97-AF65-F5344CB8AC3E}">
        <p14:creationId xmlns:p14="http://schemas.microsoft.com/office/powerpoint/2010/main" val="149987451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Ejemplo</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4" name="Rectángulo 3">
            <a:extLst>
              <a:ext uri="{FF2B5EF4-FFF2-40B4-BE49-F238E27FC236}">
                <a16:creationId xmlns:a16="http://schemas.microsoft.com/office/drawing/2014/main" id="{58A90454-B161-41F3-9311-B3FDD9FFCCB2}"/>
              </a:ext>
            </a:extLst>
          </p:cNvPr>
          <p:cNvSpPr/>
          <p:nvPr/>
        </p:nvSpPr>
        <p:spPr>
          <a:xfrm>
            <a:off x="475373" y="1482274"/>
            <a:ext cx="11186743" cy="8028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Calcule el número de muestras requeridas si se han realizado 5 observaciones y los </a:t>
            </a:r>
            <a:r>
              <a:rPr lang="es-AR" sz="2000" dirty="0" err="1"/>
              <a:t>T</a:t>
            </a:r>
            <a:r>
              <a:rPr lang="es-AR" sz="2000" baseline="-25000" dirty="0" err="1"/>
              <a:t>O</a:t>
            </a:r>
            <a:r>
              <a:rPr lang="es-AR" sz="2000" dirty="0"/>
              <a:t> obtenidos son 8, 7, 8, 8 y 7 segundos respectivamente.</a:t>
            </a:r>
          </a:p>
        </p:txBody>
      </p:sp>
      <mc:AlternateContent xmlns:mc="http://schemas.openxmlformats.org/markup-compatibility/2006" xmlns:a14="http://schemas.microsoft.com/office/drawing/2010/main">
        <mc:Choice Requires="a14">
          <p:sp>
            <p:nvSpPr>
              <p:cNvPr id="14" name="Rectángulo 13">
                <a:extLst>
                  <a:ext uri="{FF2B5EF4-FFF2-40B4-BE49-F238E27FC236}">
                    <a16:creationId xmlns:a16="http://schemas.microsoft.com/office/drawing/2014/main" id="{6F5943C9-030D-4491-AD3B-4B40FB5D80B5}"/>
                  </a:ext>
                </a:extLst>
              </p:cNvPr>
              <p:cNvSpPr/>
              <p:nvPr/>
            </p:nvSpPr>
            <p:spPr>
              <a:xfrm>
                <a:off x="475372" y="2543384"/>
                <a:ext cx="11186743" cy="48144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Inicialmente hay que encontrar los valores de </a:t>
                </a:r>
                <a14:m>
                  <m:oMath xmlns:m="http://schemas.openxmlformats.org/officeDocument/2006/math">
                    <m:nary>
                      <m:naryPr>
                        <m:chr m:val="∑"/>
                        <m:subHide m:val="on"/>
                        <m:supHide m:val="on"/>
                        <m:ctrlPr>
                          <a:rPr lang="es-AR" sz="2000" i="1" smtClean="0">
                            <a:latin typeface="Cambria Math" panose="02040503050406030204" pitchFamily="18" charset="0"/>
                            <a:ea typeface="Cambria Math" panose="02040503050406030204" pitchFamily="18" charset="0"/>
                          </a:rPr>
                        </m:ctrlPr>
                      </m:naryPr>
                      <m:sub/>
                      <m:sup/>
                      <m:e>
                        <m:d>
                          <m:dPr>
                            <m:ctrlPr>
                              <a:rPr lang="es-AR" sz="2000" i="1" smtClean="0">
                                <a:latin typeface="Cambria Math" panose="02040503050406030204" pitchFamily="18" charset="0"/>
                                <a:ea typeface="Cambria Math" panose="02040503050406030204" pitchFamily="18" charset="0"/>
                              </a:rPr>
                            </m:ctrlPr>
                          </m:dPr>
                          <m:e>
                            <m:sSub>
                              <m:sSubPr>
                                <m:ctrlPr>
                                  <a:rPr lang="es-AR" sz="2000" i="1">
                                    <a:latin typeface="Cambria Math" panose="02040503050406030204" pitchFamily="18" charset="0"/>
                                    <a:ea typeface="Cambria Math" panose="02040503050406030204" pitchFamily="18" charset="0"/>
                                  </a:rPr>
                                </m:ctrlPr>
                              </m:sSubPr>
                              <m:e>
                                <m:sSub>
                                  <m:sSubPr>
                                    <m:ctrlPr>
                                      <a:rPr lang="es-AR" sz="2000" i="1">
                                        <a:latin typeface="Cambria Math" panose="02040503050406030204" pitchFamily="18" charset="0"/>
                                        <a:ea typeface="Cambria Math" panose="02040503050406030204" pitchFamily="18" charset="0"/>
                                      </a:rPr>
                                    </m:ctrlPr>
                                  </m:sSubPr>
                                  <m:e>
                                    <m:r>
                                      <a:rPr lang="es-AR" sz="2000" i="1">
                                        <a:latin typeface="Cambria Math" panose="02040503050406030204" pitchFamily="18" charset="0"/>
                                        <a:ea typeface="Cambria Math" panose="02040503050406030204" pitchFamily="18" charset="0"/>
                                      </a:rPr>
                                      <m:t>𝑇</m:t>
                                    </m:r>
                                  </m:e>
                                  <m:sub>
                                    <m:r>
                                      <a:rPr lang="es-AR" sz="2000" i="1">
                                        <a:latin typeface="Cambria Math" panose="02040503050406030204" pitchFamily="18" charset="0"/>
                                        <a:ea typeface="Cambria Math" panose="02040503050406030204" pitchFamily="18" charset="0"/>
                                      </a:rPr>
                                      <m:t>𝑂</m:t>
                                    </m:r>
                                  </m:sub>
                                </m:sSub>
                              </m:e>
                              <m:sub>
                                <m:r>
                                  <a:rPr lang="es-AR" sz="2000" i="1">
                                    <a:latin typeface="Cambria Math" panose="02040503050406030204" pitchFamily="18" charset="0"/>
                                    <a:ea typeface="Cambria Math" panose="02040503050406030204" pitchFamily="18" charset="0"/>
                                  </a:rPr>
                                  <m:t>𝑖</m:t>
                                </m:r>
                              </m:sub>
                            </m:sSub>
                          </m:e>
                        </m:d>
                      </m:e>
                    </m:nary>
                  </m:oMath>
                </a14:m>
                <a:r>
                  <a:rPr lang="es-AR" sz="2000" dirty="0"/>
                  <a:t>, </a:t>
                </a:r>
                <a14:m>
                  <m:oMath xmlns:m="http://schemas.openxmlformats.org/officeDocument/2006/math">
                    <m:sSup>
                      <m:sSupPr>
                        <m:ctrlPr>
                          <a:rPr lang="es-AR" sz="2000" i="1">
                            <a:latin typeface="Cambria Math" panose="02040503050406030204" pitchFamily="18" charset="0"/>
                            <a:ea typeface="Cambria Math" panose="02040503050406030204" pitchFamily="18" charset="0"/>
                          </a:rPr>
                        </m:ctrlPr>
                      </m:sSupPr>
                      <m:e>
                        <m:d>
                          <m:dPr>
                            <m:ctrlPr>
                              <a:rPr lang="es-AR" sz="2000" i="1">
                                <a:latin typeface="Cambria Math" panose="02040503050406030204" pitchFamily="18" charset="0"/>
                                <a:ea typeface="Cambria Math" panose="02040503050406030204" pitchFamily="18" charset="0"/>
                              </a:rPr>
                            </m:ctrlPr>
                          </m:dPr>
                          <m:e>
                            <m:nary>
                              <m:naryPr>
                                <m:chr m:val="∑"/>
                                <m:subHide m:val="on"/>
                                <m:supHide m:val="on"/>
                                <m:ctrlPr>
                                  <a:rPr lang="es-AR" sz="2000" i="1">
                                    <a:latin typeface="Cambria Math" panose="02040503050406030204" pitchFamily="18" charset="0"/>
                                    <a:ea typeface="Cambria Math" panose="02040503050406030204" pitchFamily="18" charset="0"/>
                                  </a:rPr>
                                </m:ctrlPr>
                              </m:naryPr>
                              <m:sub/>
                              <m:sup/>
                              <m:e>
                                <m:d>
                                  <m:dPr>
                                    <m:ctrlPr>
                                      <a:rPr lang="es-AR" sz="2000" i="1">
                                        <a:latin typeface="Cambria Math" panose="02040503050406030204" pitchFamily="18" charset="0"/>
                                        <a:ea typeface="Cambria Math" panose="02040503050406030204" pitchFamily="18" charset="0"/>
                                      </a:rPr>
                                    </m:ctrlPr>
                                  </m:dPr>
                                  <m:e>
                                    <m:sSub>
                                      <m:sSubPr>
                                        <m:ctrlPr>
                                          <a:rPr lang="es-AR" sz="2000" i="1">
                                            <a:latin typeface="Cambria Math" panose="02040503050406030204" pitchFamily="18" charset="0"/>
                                            <a:ea typeface="Cambria Math" panose="02040503050406030204" pitchFamily="18" charset="0"/>
                                          </a:rPr>
                                        </m:ctrlPr>
                                      </m:sSubPr>
                                      <m:e>
                                        <m:sSub>
                                          <m:sSubPr>
                                            <m:ctrlPr>
                                              <a:rPr lang="es-AR" sz="2000" i="1">
                                                <a:latin typeface="Cambria Math" panose="02040503050406030204" pitchFamily="18" charset="0"/>
                                                <a:ea typeface="Cambria Math" panose="02040503050406030204" pitchFamily="18" charset="0"/>
                                              </a:rPr>
                                            </m:ctrlPr>
                                          </m:sSubPr>
                                          <m:e>
                                            <m:r>
                                              <a:rPr lang="es-AR" sz="2000" i="1">
                                                <a:latin typeface="Cambria Math" panose="02040503050406030204" pitchFamily="18" charset="0"/>
                                                <a:ea typeface="Cambria Math" panose="02040503050406030204" pitchFamily="18" charset="0"/>
                                              </a:rPr>
                                              <m:t>𝑇</m:t>
                                            </m:r>
                                          </m:e>
                                          <m:sub>
                                            <m:r>
                                              <a:rPr lang="es-AR" sz="2000" i="1">
                                                <a:latin typeface="Cambria Math" panose="02040503050406030204" pitchFamily="18" charset="0"/>
                                                <a:ea typeface="Cambria Math" panose="02040503050406030204" pitchFamily="18" charset="0"/>
                                              </a:rPr>
                                              <m:t>𝑂</m:t>
                                            </m:r>
                                          </m:sub>
                                        </m:sSub>
                                      </m:e>
                                      <m:sub>
                                        <m:r>
                                          <a:rPr lang="es-AR" sz="2000" i="1">
                                            <a:latin typeface="Cambria Math" panose="02040503050406030204" pitchFamily="18" charset="0"/>
                                            <a:ea typeface="Cambria Math" panose="02040503050406030204" pitchFamily="18" charset="0"/>
                                          </a:rPr>
                                          <m:t>𝑖</m:t>
                                        </m:r>
                                      </m:sub>
                                    </m:sSub>
                                  </m:e>
                                </m:d>
                              </m:e>
                            </m:nary>
                          </m:e>
                        </m:d>
                      </m:e>
                      <m:sup>
                        <m:r>
                          <a:rPr lang="es-AR" sz="2000" i="1">
                            <a:latin typeface="Cambria Math" panose="02040503050406030204" pitchFamily="18" charset="0"/>
                            <a:ea typeface="Cambria Math" panose="02040503050406030204" pitchFamily="18" charset="0"/>
                          </a:rPr>
                          <m:t>2</m:t>
                        </m:r>
                      </m:sup>
                    </m:sSup>
                  </m:oMath>
                </a14:m>
                <a:r>
                  <a:rPr lang="es-AR" sz="2000" dirty="0"/>
                  <a:t> y </a:t>
                </a:r>
                <a14:m>
                  <m:oMath xmlns:m="http://schemas.openxmlformats.org/officeDocument/2006/math">
                    <m:nary>
                      <m:naryPr>
                        <m:chr m:val="∑"/>
                        <m:subHide m:val="on"/>
                        <m:supHide m:val="on"/>
                        <m:ctrlPr>
                          <a:rPr lang="es-AR" sz="2000" i="1">
                            <a:latin typeface="Cambria Math" panose="02040503050406030204" pitchFamily="18" charset="0"/>
                            <a:ea typeface="Cambria Math" panose="02040503050406030204" pitchFamily="18" charset="0"/>
                          </a:rPr>
                        </m:ctrlPr>
                      </m:naryPr>
                      <m:sub/>
                      <m:sup/>
                      <m:e>
                        <m:d>
                          <m:dPr>
                            <m:ctrlPr>
                              <a:rPr lang="es-AR" sz="2000" i="1">
                                <a:latin typeface="Cambria Math" panose="02040503050406030204" pitchFamily="18" charset="0"/>
                                <a:ea typeface="Cambria Math" panose="02040503050406030204" pitchFamily="18" charset="0"/>
                              </a:rPr>
                            </m:ctrlPr>
                          </m:dPr>
                          <m:e>
                            <m:sSup>
                              <m:sSupPr>
                                <m:ctrlPr>
                                  <a:rPr lang="es-AR" sz="2000" i="1">
                                    <a:latin typeface="Cambria Math" panose="02040503050406030204" pitchFamily="18" charset="0"/>
                                    <a:ea typeface="Cambria Math" panose="02040503050406030204" pitchFamily="18" charset="0"/>
                                  </a:rPr>
                                </m:ctrlPr>
                              </m:sSupPr>
                              <m:e>
                                <m:sSub>
                                  <m:sSubPr>
                                    <m:ctrlPr>
                                      <a:rPr lang="es-AR" sz="2000" i="1">
                                        <a:latin typeface="Cambria Math" panose="02040503050406030204" pitchFamily="18" charset="0"/>
                                        <a:ea typeface="Cambria Math" panose="02040503050406030204" pitchFamily="18" charset="0"/>
                                      </a:rPr>
                                    </m:ctrlPr>
                                  </m:sSubPr>
                                  <m:e>
                                    <m:sSub>
                                      <m:sSubPr>
                                        <m:ctrlPr>
                                          <a:rPr lang="es-AR" sz="2000" i="1">
                                            <a:latin typeface="Cambria Math" panose="02040503050406030204" pitchFamily="18" charset="0"/>
                                            <a:ea typeface="Cambria Math" panose="02040503050406030204" pitchFamily="18" charset="0"/>
                                          </a:rPr>
                                        </m:ctrlPr>
                                      </m:sSubPr>
                                      <m:e>
                                        <m:r>
                                          <a:rPr lang="es-AR" sz="2000" i="1">
                                            <a:latin typeface="Cambria Math" panose="02040503050406030204" pitchFamily="18" charset="0"/>
                                            <a:ea typeface="Cambria Math" panose="02040503050406030204" pitchFamily="18" charset="0"/>
                                          </a:rPr>
                                          <m:t>𝑇</m:t>
                                        </m:r>
                                      </m:e>
                                      <m:sub>
                                        <m:r>
                                          <a:rPr lang="es-AR" sz="2000" i="1">
                                            <a:latin typeface="Cambria Math" panose="02040503050406030204" pitchFamily="18" charset="0"/>
                                            <a:ea typeface="Cambria Math" panose="02040503050406030204" pitchFamily="18" charset="0"/>
                                          </a:rPr>
                                          <m:t>𝑂</m:t>
                                        </m:r>
                                      </m:sub>
                                    </m:sSub>
                                  </m:e>
                                  <m:sub>
                                    <m:r>
                                      <a:rPr lang="es-AR" sz="2000" i="1">
                                        <a:latin typeface="Cambria Math" panose="02040503050406030204" pitchFamily="18" charset="0"/>
                                        <a:ea typeface="Cambria Math" panose="02040503050406030204" pitchFamily="18" charset="0"/>
                                      </a:rPr>
                                      <m:t>𝑖</m:t>
                                    </m:r>
                                  </m:sub>
                                </m:sSub>
                              </m:e>
                              <m:sup>
                                <m:r>
                                  <a:rPr lang="es-AR" sz="2000" i="1">
                                    <a:latin typeface="Cambria Math" panose="02040503050406030204" pitchFamily="18" charset="0"/>
                                    <a:ea typeface="Cambria Math" panose="02040503050406030204" pitchFamily="18" charset="0"/>
                                  </a:rPr>
                                  <m:t>2</m:t>
                                </m:r>
                              </m:sup>
                            </m:sSup>
                          </m:e>
                        </m:d>
                      </m:e>
                    </m:nary>
                  </m:oMath>
                </a14:m>
                <a:endParaRPr lang="es-AR" sz="2000" dirty="0"/>
              </a:p>
            </p:txBody>
          </p:sp>
        </mc:Choice>
        <mc:Fallback xmlns="">
          <p:sp>
            <p:nvSpPr>
              <p:cNvPr id="14" name="Rectángulo 13">
                <a:extLst>
                  <a:ext uri="{FF2B5EF4-FFF2-40B4-BE49-F238E27FC236}">
                    <a16:creationId xmlns:a16="http://schemas.microsoft.com/office/drawing/2014/main" id="{6F5943C9-030D-4491-AD3B-4B40FB5D80B5}"/>
                  </a:ext>
                </a:extLst>
              </p:cNvPr>
              <p:cNvSpPr>
                <a:spLocks noRot="1" noChangeAspect="1" noMove="1" noResize="1" noEditPoints="1" noAdjustHandles="1" noChangeArrowheads="1" noChangeShapeType="1" noTextEdit="1"/>
              </p:cNvSpPr>
              <p:nvPr/>
            </p:nvSpPr>
            <p:spPr>
              <a:xfrm>
                <a:off x="475372" y="2543384"/>
                <a:ext cx="11186743" cy="481441"/>
              </a:xfrm>
              <a:prstGeom prst="rect">
                <a:avLst/>
              </a:prstGeom>
              <a:blipFill>
                <a:blip r:embed="rId7"/>
                <a:stretch>
                  <a:fillRect l="-544" b="-17284"/>
                </a:stretch>
              </a:blipFill>
            </p:spPr>
            <p:txBody>
              <a:bodyPr/>
              <a:lstStyle/>
              <a:p>
                <a:r>
                  <a:rPr lang="es-AR">
                    <a:noFill/>
                  </a:rPr>
                  <a:t> </a:t>
                </a:r>
              </a:p>
            </p:txBody>
          </p:sp>
        </mc:Fallback>
      </mc:AlternateContent>
      <p:graphicFrame>
        <p:nvGraphicFramePr>
          <p:cNvPr id="2" name="Objeto 1">
            <a:extLst>
              <a:ext uri="{FF2B5EF4-FFF2-40B4-BE49-F238E27FC236}">
                <a16:creationId xmlns:a16="http://schemas.microsoft.com/office/drawing/2014/main" id="{226305E8-052D-49FB-8FB5-D50C686FA137}"/>
              </a:ext>
            </a:extLst>
          </p:cNvPr>
          <p:cNvGraphicFramePr>
            <a:graphicFrameLocks noChangeAspect="1"/>
          </p:cNvGraphicFramePr>
          <p:nvPr>
            <p:extLst>
              <p:ext uri="{D42A27DB-BD31-4B8C-83A1-F6EECF244321}">
                <p14:modId xmlns:p14="http://schemas.microsoft.com/office/powerpoint/2010/main" val="3878706069"/>
              </p:ext>
            </p:extLst>
          </p:nvPr>
        </p:nvGraphicFramePr>
        <p:xfrm>
          <a:off x="475373" y="3316671"/>
          <a:ext cx="3542814" cy="2776409"/>
        </p:xfrm>
        <a:graphic>
          <a:graphicData uri="http://schemas.openxmlformats.org/presentationml/2006/ole">
            <mc:AlternateContent xmlns:mc="http://schemas.openxmlformats.org/markup-compatibility/2006">
              <mc:Choice xmlns:v="urn:schemas-microsoft-com:vml" Requires="v">
                <p:oleObj name="Worksheet" r:id="rId8" imgW="2333686" imgH="1828800" progId="Excel.Sheet.12">
                  <p:embed/>
                </p:oleObj>
              </mc:Choice>
              <mc:Fallback>
                <p:oleObj name="Worksheet" r:id="rId8" imgW="2333686" imgH="1828800" progId="Excel.Sheet.12">
                  <p:embed/>
                  <p:pic>
                    <p:nvPicPr>
                      <p:cNvPr id="2" name="Objeto 1">
                        <a:extLst>
                          <a:ext uri="{FF2B5EF4-FFF2-40B4-BE49-F238E27FC236}">
                            <a16:creationId xmlns:a16="http://schemas.microsoft.com/office/drawing/2014/main" id="{226305E8-052D-49FB-8FB5-D50C686FA137}"/>
                          </a:ext>
                        </a:extLst>
                      </p:cNvPr>
                      <p:cNvPicPr/>
                      <p:nvPr/>
                    </p:nvPicPr>
                    <p:blipFill>
                      <a:blip r:embed="rId9"/>
                      <a:stretch>
                        <a:fillRect/>
                      </a:stretch>
                    </p:blipFill>
                    <p:spPr>
                      <a:xfrm>
                        <a:off x="475373" y="3316671"/>
                        <a:ext cx="3542814" cy="2776409"/>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DD96B432-675C-4D8B-946B-7353A3BD1EC9}"/>
                  </a:ext>
                </a:extLst>
              </p:cNvPr>
              <p:cNvSpPr txBox="1"/>
              <p:nvPr/>
            </p:nvSpPr>
            <p:spPr>
              <a:xfrm>
                <a:off x="5326096" y="3270569"/>
                <a:ext cx="5503557" cy="7914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AR" sz="2000" b="0" i="1" smtClean="0">
                          <a:latin typeface="Cambria Math" panose="02040503050406030204" pitchFamily="18" charset="0"/>
                        </a:rPr>
                        <m:t>𝑛</m:t>
                      </m:r>
                      <m:r>
                        <a:rPr lang="es-AR" sz="2000" b="0" i="1" smtClean="0">
                          <a:latin typeface="Cambria Math" panose="02040503050406030204" pitchFamily="18" charset="0"/>
                        </a:rPr>
                        <m:t>=</m:t>
                      </m:r>
                      <m:sSup>
                        <m:sSupPr>
                          <m:ctrlPr>
                            <a:rPr lang="es-AR" sz="2000" b="0" i="1" smtClean="0">
                              <a:latin typeface="Cambria Math" panose="02040503050406030204" pitchFamily="18" charset="0"/>
                            </a:rPr>
                          </m:ctrlPr>
                        </m:sSupPr>
                        <m:e>
                          <m:d>
                            <m:dPr>
                              <m:ctrlPr>
                                <a:rPr lang="es-AR" sz="2000" i="1">
                                  <a:latin typeface="Cambria Math" panose="02040503050406030204" pitchFamily="18" charset="0"/>
                                </a:rPr>
                              </m:ctrlPr>
                            </m:dPr>
                            <m:e>
                              <m:f>
                                <m:fPr>
                                  <m:ctrlPr>
                                    <a:rPr lang="es-AR" sz="2000" i="1">
                                      <a:latin typeface="Cambria Math" panose="02040503050406030204" pitchFamily="18" charset="0"/>
                                    </a:rPr>
                                  </m:ctrlPr>
                                </m:fPr>
                                <m:num>
                                  <m:r>
                                    <a:rPr lang="es-AR" sz="2000" i="1">
                                      <a:latin typeface="Cambria Math" panose="02040503050406030204" pitchFamily="18" charset="0"/>
                                    </a:rPr>
                                    <m:t>40</m:t>
                                  </m:r>
                                  <m:r>
                                    <a:rPr lang="es-AR" sz="2000" i="1">
                                      <a:latin typeface="Cambria Math" panose="02040503050406030204" pitchFamily="18" charset="0"/>
                                      <a:ea typeface="Cambria Math" panose="02040503050406030204" pitchFamily="18" charset="0"/>
                                    </a:rPr>
                                    <m:t>×</m:t>
                                  </m:r>
                                  <m:rad>
                                    <m:radPr>
                                      <m:degHide m:val="on"/>
                                      <m:ctrlPr>
                                        <a:rPr lang="es-AR" sz="2000" i="1">
                                          <a:latin typeface="Cambria Math" panose="02040503050406030204" pitchFamily="18" charset="0"/>
                                          <a:ea typeface="Cambria Math" panose="02040503050406030204" pitchFamily="18" charset="0"/>
                                        </a:rPr>
                                      </m:ctrlPr>
                                    </m:radPr>
                                    <m:deg/>
                                    <m:e>
                                      <m:r>
                                        <a:rPr lang="es-AR" sz="2000" b="0" i="1" smtClean="0">
                                          <a:latin typeface="Cambria Math" panose="02040503050406030204" pitchFamily="18" charset="0"/>
                                          <a:ea typeface="Cambria Math" panose="02040503050406030204" pitchFamily="18" charset="0"/>
                                        </a:rPr>
                                        <m:t>5</m:t>
                                      </m:r>
                                      <m:r>
                                        <a:rPr lang="es-AR" sz="2000" i="1">
                                          <a:latin typeface="Cambria Math" panose="02040503050406030204" pitchFamily="18" charset="0"/>
                                          <a:ea typeface="Cambria Math" panose="02040503050406030204" pitchFamily="18" charset="0"/>
                                        </a:rPr>
                                        <m:t>×</m:t>
                                      </m:r>
                                      <m:r>
                                        <a:rPr lang="es-AR" sz="2000" b="0" i="1" smtClean="0">
                                          <a:latin typeface="Cambria Math" panose="02040503050406030204" pitchFamily="18" charset="0"/>
                                          <a:ea typeface="Cambria Math" panose="02040503050406030204" pitchFamily="18" charset="0"/>
                                        </a:rPr>
                                        <m:t>290</m:t>
                                      </m:r>
                                      <m:r>
                                        <a:rPr lang="es-AR" sz="2000" i="1">
                                          <a:latin typeface="Cambria Math" panose="02040503050406030204" pitchFamily="18" charset="0"/>
                                          <a:ea typeface="Cambria Math" panose="02040503050406030204" pitchFamily="18" charset="0"/>
                                        </a:rPr>
                                        <m:t>−</m:t>
                                      </m:r>
                                      <m:r>
                                        <a:rPr lang="es-AR" sz="2000" b="0" i="1" smtClean="0">
                                          <a:latin typeface="Cambria Math" panose="02040503050406030204" pitchFamily="18" charset="0"/>
                                          <a:ea typeface="Cambria Math" panose="02040503050406030204" pitchFamily="18" charset="0"/>
                                        </a:rPr>
                                        <m:t>1444</m:t>
                                      </m:r>
                                    </m:e>
                                  </m:rad>
                                </m:num>
                                <m:den>
                                  <m:r>
                                    <a:rPr lang="es-AR" sz="2000" b="0" i="1" smtClean="0">
                                      <a:latin typeface="Cambria Math" panose="02040503050406030204" pitchFamily="18" charset="0"/>
                                      <a:ea typeface="Cambria Math" panose="02040503050406030204" pitchFamily="18" charset="0"/>
                                    </a:rPr>
                                    <m:t>38</m:t>
                                  </m:r>
                                </m:den>
                              </m:f>
                            </m:e>
                          </m:d>
                        </m:e>
                        <m:sup>
                          <m:r>
                            <a:rPr lang="es-AR" sz="2000" b="0" i="1" smtClean="0">
                              <a:latin typeface="Cambria Math" panose="02040503050406030204" pitchFamily="18" charset="0"/>
                            </a:rPr>
                            <m:t>2</m:t>
                          </m:r>
                        </m:sup>
                      </m:sSup>
                      <m:r>
                        <a:rPr lang="es-AR" sz="2000" b="0" i="1" smtClean="0">
                          <a:latin typeface="Cambria Math" panose="02040503050406030204" pitchFamily="18" charset="0"/>
                          <a:ea typeface="Cambria Math" panose="02040503050406030204" pitchFamily="18" charset="0"/>
                        </a:rPr>
                        <m:t>⇒</m:t>
                      </m:r>
                      <m:r>
                        <a:rPr lang="es-AR" sz="2000" i="1">
                          <a:latin typeface="Cambria Math" panose="02040503050406030204" pitchFamily="18" charset="0"/>
                        </a:rPr>
                        <m:t>𝑛</m:t>
                      </m:r>
                      <m:r>
                        <a:rPr lang="es-AR" sz="2000" i="1">
                          <a:latin typeface="Cambria Math" panose="02040503050406030204" pitchFamily="18" charset="0"/>
                        </a:rPr>
                        <m:t>=6.65≅7</m:t>
                      </m:r>
                    </m:oMath>
                  </m:oMathPara>
                </a14:m>
                <a:endParaRPr lang="es-AR" sz="2000" dirty="0"/>
              </a:p>
            </p:txBody>
          </p:sp>
        </mc:Choice>
        <mc:Fallback xmlns="">
          <p:sp>
            <p:nvSpPr>
              <p:cNvPr id="5" name="CuadroTexto 4">
                <a:extLst>
                  <a:ext uri="{FF2B5EF4-FFF2-40B4-BE49-F238E27FC236}">
                    <a16:creationId xmlns:a16="http://schemas.microsoft.com/office/drawing/2014/main" id="{DD96B432-675C-4D8B-946B-7353A3BD1EC9}"/>
                  </a:ext>
                </a:extLst>
              </p:cNvPr>
              <p:cNvSpPr txBox="1">
                <a:spLocks noRot="1" noChangeAspect="1" noMove="1" noResize="1" noEditPoints="1" noAdjustHandles="1" noChangeArrowheads="1" noChangeShapeType="1" noTextEdit="1"/>
              </p:cNvSpPr>
              <p:nvPr/>
            </p:nvSpPr>
            <p:spPr>
              <a:xfrm>
                <a:off x="5326096" y="3270569"/>
                <a:ext cx="5503557" cy="791499"/>
              </a:xfrm>
              <a:prstGeom prst="rect">
                <a:avLst/>
              </a:prstGeom>
              <a:blipFill>
                <a:blip r:embed="rId10"/>
                <a:stretch>
                  <a:fillRect/>
                </a:stretch>
              </a:blipFill>
            </p:spPr>
            <p:txBody>
              <a:bodyPr/>
              <a:lstStyle/>
              <a:p>
                <a:r>
                  <a:rPr lang="es-AR">
                    <a:noFill/>
                  </a:rPr>
                  <a:t> </a:t>
                </a:r>
              </a:p>
            </p:txBody>
          </p:sp>
        </mc:Fallback>
      </mc:AlternateContent>
      <p:sp>
        <p:nvSpPr>
          <p:cNvPr id="17" name="Rectángulo 16">
            <a:extLst>
              <a:ext uri="{FF2B5EF4-FFF2-40B4-BE49-F238E27FC236}">
                <a16:creationId xmlns:a16="http://schemas.microsoft.com/office/drawing/2014/main" id="{9629DCF3-6004-45F6-9637-D47F26CE2AAA}"/>
              </a:ext>
            </a:extLst>
          </p:cNvPr>
          <p:cNvSpPr/>
          <p:nvPr/>
        </p:nvSpPr>
        <p:spPr>
          <a:xfrm>
            <a:off x="4493635" y="4261710"/>
            <a:ext cx="7168480" cy="80114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s-AR" sz="2000" dirty="0"/>
              <a:t>Se deben realizar 2 medidas más y recalcular con n’=7, si el nuevo resultado es </a:t>
            </a:r>
            <a:r>
              <a:rPr lang="es-AR" sz="2000" dirty="0">
                <a:ea typeface="Cambria Math" panose="02040503050406030204" pitchFamily="18" charset="0"/>
              </a:rPr>
              <a:t>≤ 7 entonces se adopta n = 7</a:t>
            </a:r>
            <a:endParaRPr lang="es-AR" sz="2000" dirty="0"/>
          </a:p>
        </p:txBody>
      </p:sp>
      <p:sp>
        <p:nvSpPr>
          <p:cNvPr id="18" name="Rectángulo 17">
            <a:extLst>
              <a:ext uri="{FF2B5EF4-FFF2-40B4-BE49-F238E27FC236}">
                <a16:creationId xmlns:a16="http://schemas.microsoft.com/office/drawing/2014/main" id="{86D0BD76-86A6-4C5B-BC50-EF71246D419B}"/>
              </a:ext>
            </a:extLst>
          </p:cNvPr>
          <p:cNvSpPr/>
          <p:nvPr/>
        </p:nvSpPr>
        <p:spPr>
          <a:xfrm>
            <a:off x="4493634" y="5262496"/>
            <a:ext cx="7168480" cy="80114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s-AR" sz="2000" dirty="0"/>
              <a:t>Si el resultado nuevo es &gt; 7 entonces se debe recalcular hasta que la muestra converja.</a:t>
            </a:r>
          </a:p>
        </p:txBody>
      </p:sp>
    </p:spTree>
    <p:extLst>
      <p:ext uri="{BB962C8B-B14F-4D97-AF65-F5344CB8AC3E}">
        <p14:creationId xmlns:p14="http://schemas.microsoft.com/office/powerpoint/2010/main" val="29236820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7" grpId="0" animBg="1"/>
      <p:bldP spid="1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Tamaño de la Muestra</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2" name="Rectángulo 1">
            <a:extLst>
              <a:ext uri="{FF2B5EF4-FFF2-40B4-BE49-F238E27FC236}">
                <a16:creationId xmlns:a16="http://schemas.microsoft.com/office/drawing/2014/main" id="{231D9B51-DE67-46A5-9399-5AB4FE5FDFC6}"/>
              </a:ext>
            </a:extLst>
          </p:cNvPr>
          <p:cNvSpPr/>
          <p:nvPr/>
        </p:nvSpPr>
        <p:spPr>
          <a:xfrm>
            <a:off x="267120" y="1388806"/>
            <a:ext cx="11591937" cy="83090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Para llevar a cabo el método gráfico, se deben tomar 10 muestras y realizar los siguientes pasos:</a:t>
            </a:r>
          </a:p>
        </p:txBody>
      </p:sp>
      <mc:AlternateContent xmlns:mc="http://schemas.openxmlformats.org/markup-compatibility/2006" xmlns:a14="http://schemas.microsoft.com/office/drawing/2010/main">
        <mc:Choice Requires="a14">
          <p:sp>
            <p:nvSpPr>
              <p:cNvPr id="29" name="Rectángulo 28">
                <a:extLst>
                  <a:ext uri="{FF2B5EF4-FFF2-40B4-BE49-F238E27FC236}">
                    <a16:creationId xmlns:a16="http://schemas.microsoft.com/office/drawing/2014/main" id="{E3DE73B2-53BF-4918-B5BD-60514C43B132}"/>
                  </a:ext>
                </a:extLst>
              </p:cNvPr>
              <p:cNvSpPr/>
              <p:nvPr/>
            </p:nvSpPr>
            <p:spPr>
              <a:xfrm>
                <a:off x="617806" y="5320678"/>
                <a:ext cx="11241247" cy="83090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Calcular el Número de Dispersión, realizando </a:t>
                </a:r>
                <a14:m>
                  <m:oMath xmlns:m="http://schemas.openxmlformats.org/officeDocument/2006/math">
                    <m:r>
                      <a:rPr lang="es-AR" sz="2400" b="0" i="1" smtClean="0">
                        <a:latin typeface="Cambria Math" panose="02040503050406030204" pitchFamily="18" charset="0"/>
                      </a:rPr>
                      <m:t>𝑧</m:t>
                    </m:r>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acc>
                          <m:accPr>
                            <m:chr m:val="̅"/>
                            <m:ctrlPr>
                              <a:rPr lang="es-AR" sz="2400" i="1">
                                <a:latin typeface="Cambria Math" panose="02040503050406030204" pitchFamily="18" charset="0"/>
                              </a:rPr>
                            </m:ctrlPr>
                          </m:accPr>
                          <m:e>
                            <m:r>
                              <a:rPr lang="es-AR" sz="2400" i="1">
                                <a:latin typeface="Cambria Math" panose="02040503050406030204" pitchFamily="18" charset="0"/>
                              </a:rPr>
                              <m:t>𝑅</m:t>
                            </m:r>
                          </m:e>
                        </m:acc>
                      </m:num>
                      <m:den>
                        <m:acc>
                          <m:accPr>
                            <m:chr m:val="̅"/>
                            <m:ctrlPr>
                              <a:rPr lang="es-AR" sz="2400" i="1">
                                <a:latin typeface="Cambria Math" panose="02040503050406030204" pitchFamily="18" charset="0"/>
                              </a:rPr>
                            </m:ctrlPr>
                          </m:accPr>
                          <m:e>
                            <m:sSub>
                              <m:sSubPr>
                                <m:ctrlPr>
                                  <a:rPr lang="es-AR" sz="2400" i="1">
                                    <a:latin typeface="Cambria Math" panose="02040503050406030204" pitchFamily="18" charset="0"/>
                                  </a:rPr>
                                </m:ctrlPr>
                              </m:sSubPr>
                              <m:e>
                                <m:r>
                                  <a:rPr lang="es-AR" sz="2400" i="1">
                                    <a:latin typeface="Cambria Math" panose="02040503050406030204" pitchFamily="18" charset="0"/>
                                  </a:rPr>
                                  <m:t>𝑇</m:t>
                                </m:r>
                              </m:e>
                              <m:sub>
                                <m:r>
                                  <a:rPr lang="es-AR" sz="2400" i="1">
                                    <a:latin typeface="Cambria Math" panose="02040503050406030204" pitchFamily="18" charset="0"/>
                                  </a:rPr>
                                  <m:t>𝑧</m:t>
                                </m:r>
                              </m:sub>
                            </m:sSub>
                          </m:e>
                        </m:acc>
                      </m:den>
                    </m:f>
                    <m:r>
                      <a:rPr lang="es-AR" sz="2400" b="0" i="1" smtClean="0">
                        <a:latin typeface="Cambria Math" panose="02040503050406030204" pitchFamily="18" charset="0"/>
                        <a:ea typeface="Cambria Math" panose="02040503050406030204" pitchFamily="18" charset="0"/>
                      </a:rPr>
                      <m:t>×100</m:t>
                    </m:r>
                  </m:oMath>
                </a14:m>
                <a:endParaRPr lang="es-AR" sz="2000" dirty="0"/>
              </a:p>
            </p:txBody>
          </p:sp>
        </mc:Choice>
        <mc:Fallback xmlns="">
          <p:sp>
            <p:nvSpPr>
              <p:cNvPr id="29" name="Rectángulo 28">
                <a:extLst>
                  <a:ext uri="{FF2B5EF4-FFF2-40B4-BE49-F238E27FC236}">
                    <a16:creationId xmlns:a16="http://schemas.microsoft.com/office/drawing/2014/main" id="{E3DE73B2-53BF-4918-B5BD-60514C43B132}"/>
                  </a:ext>
                </a:extLst>
              </p:cNvPr>
              <p:cNvSpPr>
                <a:spLocks noRot="1" noChangeAspect="1" noMove="1" noResize="1" noEditPoints="1" noAdjustHandles="1" noChangeArrowheads="1" noChangeShapeType="1" noTextEdit="1"/>
              </p:cNvSpPr>
              <p:nvPr/>
            </p:nvSpPr>
            <p:spPr>
              <a:xfrm>
                <a:off x="617806" y="5320678"/>
                <a:ext cx="11241247" cy="830901"/>
              </a:xfrm>
              <a:prstGeom prst="rect">
                <a:avLst/>
              </a:prstGeom>
              <a:blipFill>
                <a:blip r:embed="rId6"/>
                <a:stretch>
                  <a:fillRect l="-488"/>
                </a:stretch>
              </a:blipFill>
            </p:spPr>
            <p:txBody>
              <a:bodyPr/>
              <a:lstStyle/>
              <a:p>
                <a:r>
                  <a:rPr lang="es-AR">
                    <a:noFill/>
                  </a:rPr>
                  <a:t> </a:t>
                </a:r>
              </a:p>
            </p:txBody>
          </p:sp>
        </mc:Fallback>
      </mc:AlternateContent>
      <p:sp>
        <p:nvSpPr>
          <p:cNvPr id="18" name="Rectángulo 17">
            <a:extLst>
              <a:ext uri="{FF2B5EF4-FFF2-40B4-BE49-F238E27FC236}">
                <a16:creationId xmlns:a16="http://schemas.microsoft.com/office/drawing/2014/main" id="{F3A4E167-5032-4883-8AA2-44F44F46F9BD}"/>
              </a:ext>
            </a:extLst>
          </p:cNvPr>
          <p:cNvSpPr/>
          <p:nvPr/>
        </p:nvSpPr>
        <p:spPr>
          <a:xfrm>
            <a:off x="633038" y="2352506"/>
            <a:ext cx="11241247" cy="70374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Dividir las muestras en grupos de 5 y calcular el rango de cada grupo restando al mayor </a:t>
            </a:r>
            <a:r>
              <a:rPr lang="es-AR" sz="2000" dirty="0" err="1"/>
              <a:t>T</a:t>
            </a:r>
            <a:r>
              <a:rPr lang="es-AR" sz="2000" baseline="-25000" dirty="0" err="1"/>
              <a:t>O</a:t>
            </a:r>
            <a:r>
              <a:rPr lang="es-AR" sz="2000" dirty="0"/>
              <a:t> el menor </a:t>
            </a:r>
            <a:r>
              <a:rPr lang="es-AR" sz="2000" dirty="0" err="1"/>
              <a:t>T</a:t>
            </a:r>
            <a:r>
              <a:rPr lang="es-AR" sz="2000" baseline="-25000" dirty="0" err="1"/>
              <a:t>O</a:t>
            </a:r>
            <a:r>
              <a:rPr lang="es-AR" sz="2000" dirty="0"/>
              <a:t> de dicho grupo.</a:t>
            </a:r>
          </a:p>
        </p:txBody>
      </p:sp>
      <mc:AlternateContent xmlns:mc="http://schemas.openxmlformats.org/markup-compatibility/2006" xmlns:a14="http://schemas.microsoft.com/office/drawing/2010/main">
        <mc:Choice Requires="a14">
          <p:sp>
            <p:nvSpPr>
              <p:cNvPr id="19" name="Rectángulo 18">
                <a:extLst>
                  <a:ext uri="{FF2B5EF4-FFF2-40B4-BE49-F238E27FC236}">
                    <a16:creationId xmlns:a16="http://schemas.microsoft.com/office/drawing/2014/main" id="{6AEFA75A-1341-4D58-9AFF-65FA87F7EECD}"/>
                  </a:ext>
                </a:extLst>
              </p:cNvPr>
              <p:cNvSpPr/>
              <p:nvPr/>
            </p:nvSpPr>
            <p:spPr>
              <a:xfrm>
                <a:off x="633038" y="3182779"/>
                <a:ext cx="11241247" cy="94047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Calcular el promedio de los rangos, realizando </a:t>
                </a:r>
                <a14:m>
                  <m:oMath xmlns:m="http://schemas.openxmlformats.org/officeDocument/2006/math">
                    <m:acc>
                      <m:accPr>
                        <m:chr m:val="̅"/>
                        <m:ctrlPr>
                          <a:rPr lang="es-AR" sz="2400" i="1" smtClean="0">
                            <a:latin typeface="Cambria Math" panose="02040503050406030204" pitchFamily="18" charset="0"/>
                          </a:rPr>
                        </m:ctrlPr>
                      </m:accPr>
                      <m:e>
                        <m:r>
                          <a:rPr lang="es-AR" sz="2400" b="0" i="1" smtClean="0">
                            <a:latin typeface="Cambria Math" panose="02040503050406030204" pitchFamily="18" charset="0"/>
                          </a:rPr>
                          <m:t>𝑅</m:t>
                        </m:r>
                        <m:r>
                          <a:rPr lang="es-AR" sz="2400" b="0" i="1" smtClean="0">
                            <a:latin typeface="Cambria Math" panose="02040503050406030204" pitchFamily="18" charset="0"/>
                          </a:rPr>
                          <m:t> </m:t>
                        </m:r>
                      </m:e>
                    </m:acc>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nary>
                          <m:naryPr>
                            <m:chr m:val="∑"/>
                            <m:subHide m:val="on"/>
                            <m:supHide m:val="on"/>
                            <m:ctrlPr>
                              <a:rPr lang="es-AR" sz="2400" b="0" i="1" smtClean="0">
                                <a:latin typeface="Cambria Math" panose="02040503050406030204" pitchFamily="18" charset="0"/>
                              </a:rPr>
                            </m:ctrlPr>
                          </m:naryPr>
                          <m:sub/>
                          <m:sup/>
                          <m:e>
                            <m:d>
                              <m:dPr>
                                <m:ctrlPr>
                                  <a:rPr lang="es-AR" sz="2400" b="0" i="1" smtClean="0">
                                    <a:latin typeface="Cambria Math" panose="02040503050406030204" pitchFamily="18" charset="0"/>
                                  </a:rPr>
                                </m:ctrlPr>
                              </m:dPr>
                              <m:e>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𝑅</m:t>
                                    </m:r>
                                  </m:e>
                                  <m:sub>
                                    <m:r>
                                      <a:rPr lang="es-AR" sz="2400" b="0" i="1" smtClean="0">
                                        <a:latin typeface="Cambria Math" panose="02040503050406030204" pitchFamily="18" charset="0"/>
                                      </a:rPr>
                                      <m:t>𝑖</m:t>
                                    </m:r>
                                  </m:sub>
                                </m:sSub>
                              </m:e>
                            </m:d>
                          </m:e>
                        </m:nary>
                      </m:num>
                      <m:den>
                        <m:r>
                          <a:rPr lang="es-AR" sz="2400" b="0" i="1" smtClean="0">
                            <a:latin typeface="Cambria Math" panose="02040503050406030204" pitchFamily="18" charset="0"/>
                          </a:rPr>
                          <m:t>𝑘</m:t>
                        </m:r>
                      </m:den>
                    </m:f>
                  </m:oMath>
                </a14:m>
                <a:r>
                  <a:rPr lang="es-AR" sz="2000" dirty="0"/>
                  <a:t>, donde </a:t>
                </a:r>
                <a:r>
                  <a:rPr lang="es-AR" sz="2000" dirty="0" err="1"/>
                  <a:t>R</a:t>
                </a:r>
                <a:r>
                  <a:rPr lang="es-AR" sz="2000" baseline="-25000" dirty="0" err="1"/>
                  <a:t>i</a:t>
                </a:r>
                <a:r>
                  <a:rPr lang="es-AR" sz="2000" dirty="0"/>
                  <a:t> es cada uno de los rangos calculados y k la cantidad de rangos calculados</a:t>
                </a:r>
              </a:p>
            </p:txBody>
          </p:sp>
        </mc:Choice>
        <mc:Fallback xmlns="">
          <p:sp>
            <p:nvSpPr>
              <p:cNvPr id="19" name="Rectángulo 18">
                <a:extLst>
                  <a:ext uri="{FF2B5EF4-FFF2-40B4-BE49-F238E27FC236}">
                    <a16:creationId xmlns:a16="http://schemas.microsoft.com/office/drawing/2014/main" id="{6AEFA75A-1341-4D58-9AFF-65FA87F7EECD}"/>
                  </a:ext>
                </a:extLst>
              </p:cNvPr>
              <p:cNvSpPr>
                <a:spLocks noRot="1" noChangeAspect="1" noMove="1" noResize="1" noEditPoints="1" noAdjustHandles="1" noChangeArrowheads="1" noChangeShapeType="1" noTextEdit="1"/>
              </p:cNvSpPr>
              <p:nvPr/>
            </p:nvSpPr>
            <p:spPr>
              <a:xfrm>
                <a:off x="633038" y="3182779"/>
                <a:ext cx="11241247" cy="940478"/>
              </a:xfrm>
              <a:prstGeom prst="rect">
                <a:avLst/>
              </a:prstGeom>
              <a:blipFill>
                <a:blip r:embed="rId7"/>
                <a:stretch>
                  <a:fillRect l="-542" r="-271" b="-1153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7" name="Rectángulo 6">
                <a:extLst>
                  <a:ext uri="{FF2B5EF4-FFF2-40B4-BE49-F238E27FC236}">
                    <a16:creationId xmlns:a16="http://schemas.microsoft.com/office/drawing/2014/main" id="{EF5DA950-D023-4176-8512-205D0E2C5EC1}"/>
                  </a:ext>
                </a:extLst>
              </p:cNvPr>
              <p:cNvSpPr/>
              <p:nvPr/>
            </p:nvSpPr>
            <p:spPr>
              <a:xfrm>
                <a:off x="633038" y="4249782"/>
                <a:ext cx="11241247" cy="94047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Calcular el promedio de las muestras, realizando </a:t>
                </a:r>
                <a14:m>
                  <m:oMath xmlns:m="http://schemas.openxmlformats.org/officeDocument/2006/math">
                    <m:acc>
                      <m:accPr>
                        <m:chr m:val="̅"/>
                        <m:ctrlPr>
                          <a:rPr lang="es-AR" sz="2400" i="1" smtClean="0">
                            <a:latin typeface="Cambria Math" panose="02040503050406030204" pitchFamily="18" charset="0"/>
                          </a:rPr>
                        </m:ctrlPr>
                      </m:accPr>
                      <m:e>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𝑇</m:t>
                            </m:r>
                          </m:e>
                          <m:sub>
                            <m:r>
                              <a:rPr lang="es-AR" sz="2400" b="0" i="1" smtClean="0">
                                <a:latin typeface="Cambria Math" panose="02040503050406030204" pitchFamily="18" charset="0"/>
                              </a:rPr>
                              <m:t>𝑧</m:t>
                            </m:r>
                          </m:sub>
                        </m:sSub>
                      </m:e>
                    </m:acc>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nary>
                          <m:naryPr>
                            <m:chr m:val="∑"/>
                            <m:subHide m:val="on"/>
                            <m:supHide m:val="on"/>
                            <m:ctrlPr>
                              <a:rPr lang="es-AR" sz="2400" b="0" i="1" smtClean="0">
                                <a:latin typeface="Cambria Math" panose="02040503050406030204" pitchFamily="18" charset="0"/>
                              </a:rPr>
                            </m:ctrlPr>
                          </m:naryPr>
                          <m:sub/>
                          <m:sup/>
                          <m:e>
                            <m:d>
                              <m:dPr>
                                <m:ctrlPr>
                                  <a:rPr lang="es-AR" sz="2400" b="0" i="1" smtClean="0">
                                    <a:latin typeface="Cambria Math" panose="02040503050406030204" pitchFamily="18" charset="0"/>
                                  </a:rPr>
                                </m:ctrlPr>
                              </m:dPr>
                              <m:e>
                                <m:sSub>
                                  <m:sSubPr>
                                    <m:ctrlPr>
                                      <a:rPr lang="es-AR" sz="2400" b="0" i="1" smtClean="0">
                                        <a:latin typeface="Cambria Math" panose="02040503050406030204" pitchFamily="18" charset="0"/>
                                      </a:rPr>
                                    </m:ctrlPr>
                                  </m:sSubPr>
                                  <m:e>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𝑇</m:t>
                                        </m:r>
                                      </m:e>
                                      <m:sub>
                                        <m:r>
                                          <a:rPr lang="es-AR" sz="2400" b="0" i="1" smtClean="0">
                                            <a:latin typeface="Cambria Math" panose="02040503050406030204" pitchFamily="18" charset="0"/>
                                          </a:rPr>
                                          <m:t>𝑂</m:t>
                                        </m:r>
                                      </m:sub>
                                    </m:sSub>
                                  </m:e>
                                  <m:sub>
                                    <m:r>
                                      <a:rPr lang="es-AR" sz="2400" b="0" i="1" smtClean="0">
                                        <a:latin typeface="Cambria Math" panose="02040503050406030204" pitchFamily="18" charset="0"/>
                                      </a:rPr>
                                      <m:t>𝑖</m:t>
                                    </m:r>
                                  </m:sub>
                                </m:sSub>
                              </m:e>
                            </m:d>
                          </m:e>
                        </m:nary>
                      </m:num>
                      <m:den>
                        <m:r>
                          <a:rPr lang="es-AR" sz="2400" b="0" i="1" smtClean="0">
                            <a:latin typeface="Cambria Math" panose="02040503050406030204" pitchFamily="18" charset="0"/>
                          </a:rPr>
                          <m:t>𝑛</m:t>
                        </m:r>
                      </m:den>
                    </m:f>
                  </m:oMath>
                </a14:m>
                <a:r>
                  <a:rPr lang="es-AR" sz="2000" dirty="0"/>
                  <a:t>, donde </a:t>
                </a:r>
                <a:r>
                  <a:rPr lang="es-AR" sz="2000" dirty="0" err="1"/>
                  <a:t>T</a:t>
                </a:r>
                <a:r>
                  <a:rPr lang="es-AR" sz="2000" baseline="-25000" dirty="0" err="1"/>
                  <a:t>Oi</a:t>
                </a:r>
                <a:r>
                  <a:rPr lang="es-AR" sz="2000" dirty="0"/>
                  <a:t> es cada una de las muestras realizadas y n la cantidad de muestras realizadas</a:t>
                </a:r>
              </a:p>
            </p:txBody>
          </p:sp>
        </mc:Choice>
        <mc:Fallback xmlns="">
          <p:sp>
            <p:nvSpPr>
              <p:cNvPr id="7" name="Rectángulo 6">
                <a:extLst>
                  <a:ext uri="{FF2B5EF4-FFF2-40B4-BE49-F238E27FC236}">
                    <a16:creationId xmlns:a16="http://schemas.microsoft.com/office/drawing/2014/main" id="{EF5DA950-D023-4176-8512-205D0E2C5EC1}"/>
                  </a:ext>
                </a:extLst>
              </p:cNvPr>
              <p:cNvSpPr>
                <a:spLocks noRot="1" noChangeAspect="1" noMove="1" noResize="1" noEditPoints="1" noAdjustHandles="1" noChangeArrowheads="1" noChangeShapeType="1" noTextEdit="1"/>
              </p:cNvSpPr>
              <p:nvPr/>
            </p:nvSpPr>
            <p:spPr>
              <a:xfrm>
                <a:off x="633038" y="4249782"/>
                <a:ext cx="11241247" cy="940478"/>
              </a:xfrm>
              <a:prstGeom prst="rect">
                <a:avLst/>
              </a:prstGeom>
              <a:blipFill>
                <a:blip r:embed="rId8"/>
                <a:stretch>
                  <a:fillRect l="-542" b="-14744"/>
                </a:stretch>
              </a:blipFill>
            </p:spPr>
            <p:txBody>
              <a:bodyPr/>
              <a:lstStyle/>
              <a:p>
                <a:r>
                  <a:rPr lang="es-AR">
                    <a:noFill/>
                  </a:rPr>
                  <a:t> </a:t>
                </a:r>
              </a:p>
            </p:txBody>
          </p:sp>
        </mc:Fallback>
      </mc:AlternateContent>
    </p:spTree>
    <p:extLst>
      <p:ext uri="{BB962C8B-B14F-4D97-AF65-F5344CB8AC3E}">
        <p14:creationId xmlns:p14="http://schemas.microsoft.com/office/powerpoint/2010/main" val="39048688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Tamaño de la Muestra</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2" name="Rectángulo 1">
            <a:extLst>
              <a:ext uri="{FF2B5EF4-FFF2-40B4-BE49-F238E27FC236}">
                <a16:creationId xmlns:a16="http://schemas.microsoft.com/office/drawing/2014/main" id="{231D9B51-DE67-46A5-9399-5AB4FE5FDFC6}"/>
              </a:ext>
            </a:extLst>
          </p:cNvPr>
          <p:cNvSpPr/>
          <p:nvPr/>
        </p:nvSpPr>
        <p:spPr>
          <a:xfrm>
            <a:off x="267120" y="1514107"/>
            <a:ext cx="11591937" cy="7056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Ahora se debe definir el margen de error aceptado.</a:t>
            </a:r>
          </a:p>
        </p:txBody>
      </p:sp>
      <p:sp>
        <p:nvSpPr>
          <p:cNvPr id="18" name="Rectángulo 17">
            <a:extLst>
              <a:ext uri="{FF2B5EF4-FFF2-40B4-BE49-F238E27FC236}">
                <a16:creationId xmlns:a16="http://schemas.microsoft.com/office/drawing/2014/main" id="{F3A4E167-5032-4883-8AA2-44F44F46F9BD}"/>
              </a:ext>
            </a:extLst>
          </p:cNvPr>
          <p:cNvSpPr/>
          <p:nvPr/>
        </p:nvSpPr>
        <p:spPr>
          <a:xfrm>
            <a:off x="633038" y="2448974"/>
            <a:ext cx="11241247" cy="70374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Para ciclos en fabricaciones seriadas se espera un </a:t>
            </a:r>
            <a:r>
              <a:rPr lang="el-GR" sz="2000" dirty="0">
                <a:latin typeface="Cambria Math" panose="02040503050406030204" pitchFamily="18" charset="0"/>
                <a:ea typeface="Cambria Math" panose="02040503050406030204" pitchFamily="18" charset="0"/>
              </a:rPr>
              <a:t>ε</a:t>
            </a:r>
            <a:r>
              <a:rPr lang="es-AR" sz="2000" dirty="0">
                <a:latin typeface="Rockwell" panose="02060603020205020403" pitchFamily="18" charset="0"/>
                <a:ea typeface="Cambria Math" panose="02040503050406030204" pitchFamily="18" charset="0"/>
              </a:rPr>
              <a:t> &lt; 5% (este es el más usado)</a:t>
            </a:r>
            <a:endParaRPr lang="es-AR" sz="2000" dirty="0">
              <a:latin typeface="Rockwell" panose="02060603020205020403" pitchFamily="18" charset="0"/>
            </a:endParaRPr>
          </a:p>
        </p:txBody>
      </p:sp>
      <p:sp>
        <p:nvSpPr>
          <p:cNvPr id="19" name="Rectángulo 18">
            <a:extLst>
              <a:ext uri="{FF2B5EF4-FFF2-40B4-BE49-F238E27FC236}">
                <a16:creationId xmlns:a16="http://schemas.microsoft.com/office/drawing/2014/main" id="{6AEFA75A-1341-4D58-9AFF-65FA87F7EECD}"/>
              </a:ext>
            </a:extLst>
          </p:cNvPr>
          <p:cNvSpPr/>
          <p:nvPr/>
        </p:nvSpPr>
        <p:spPr>
          <a:xfrm>
            <a:off x="633038" y="3388289"/>
            <a:ext cx="11241247" cy="705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Para sistemas que tiene una dispersión media se espera 5% &lt; </a:t>
            </a:r>
            <a:r>
              <a:rPr lang="el-GR" sz="2000" dirty="0">
                <a:latin typeface="Cambria Math" panose="02040503050406030204" pitchFamily="18" charset="0"/>
                <a:ea typeface="Cambria Math" panose="02040503050406030204" pitchFamily="18" charset="0"/>
              </a:rPr>
              <a:t>ε</a:t>
            </a:r>
            <a:r>
              <a:rPr lang="es-AR" sz="2000" dirty="0">
                <a:latin typeface="Rockwell" panose="02060603020205020403" pitchFamily="18" charset="0"/>
                <a:ea typeface="Cambria Math" panose="02040503050406030204" pitchFamily="18" charset="0"/>
              </a:rPr>
              <a:t> &lt; 10% </a:t>
            </a:r>
            <a:endParaRPr lang="es-AR" sz="2000" dirty="0"/>
          </a:p>
        </p:txBody>
      </p:sp>
      <p:sp>
        <p:nvSpPr>
          <p:cNvPr id="15" name="Rectángulo 14">
            <a:extLst>
              <a:ext uri="{FF2B5EF4-FFF2-40B4-BE49-F238E27FC236}">
                <a16:creationId xmlns:a16="http://schemas.microsoft.com/office/drawing/2014/main" id="{019C372C-5F9D-445B-8C4A-120C99098DD0}"/>
              </a:ext>
            </a:extLst>
          </p:cNvPr>
          <p:cNvSpPr/>
          <p:nvPr/>
        </p:nvSpPr>
        <p:spPr>
          <a:xfrm>
            <a:off x="633038" y="4326023"/>
            <a:ext cx="11241247" cy="705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Para elevadas inseguridades en la medición 10% &lt; </a:t>
            </a:r>
            <a:r>
              <a:rPr lang="el-GR" sz="2000" dirty="0">
                <a:latin typeface="Cambria Math" panose="02040503050406030204" pitchFamily="18" charset="0"/>
                <a:ea typeface="Cambria Math" panose="02040503050406030204" pitchFamily="18" charset="0"/>
              </a:rPr>
              <a:t>ε</a:t>
            </a:r>
            <a:endParaRPr lang="es-AR" sz="2000" dirty="0"/>
          </a:p>
        </p:txBody>
      </p:sp>
      <p:sp>
        <p:nvSpPr>
          <p:cNvPr id="16" name="Rectángulo 15">
            <a:extLst>
              <a:ext uri="{FF2B5EF4-FFF2-40B4-BE49-F238E27FC236}">
                <a16:creationId xmlns:a16="http://schemas.microsoft.com/office/drawing/2014/main" id="{11762563-E46B-4193-AFD6-2498EF69BF28}"/>
              </a:ext>
            </a:extLst>
          </p:cNvPr>
          <p:cNvSpPr/>
          <p:nvPr/>
        </p:nvSpPr>
        <p:spPr>
          <a:xfrm>
            <a:off x="267119" y="5263757"/>
            <a:ext cx="11591937" cy="83090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Habiendo definido el margen de error y calculado el número de dispersión, se ingresa al nomograma épsilon.</a:t>
            </a:r>
          </a:p>
        </p:txBody>
      </p:sp>
    </p:spTree>
    <p:extLst>
      <p:ext uri="{BB962C8B-B14F-4D97-AF65-F5344CB8AC3E}">
        <p14:creationId xmlns:p14="http://schemas.microsoft.com/office/powerpoint/2010/main" val="39713832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pic>
        <p:nvPicPr>
          <p:cNvPr id="17" name="Picture 1">
            <a:extLst>
              <a:ext uri="{FF2B5EF4-FFF2-40B4-BE49-F238E27FC236}">
                <a16:creationId xmlns:a16="http://schemas.microsoft.com/office/drawing/2014/main" id="{00000000-0008-0000-0300-000002000000}"/>
              </a:ext>
            </a:extLst>
          </p:cNvPr>
          <p:cNvPicPr>
            <a:picLocks noChangeAspect="1" noChangeArrowheads="1"/>
          </p:cNvPicPr>
          <p:nvPr/>
        </p:nvPicPr>
        <p:blipFill>
          <a:blip r:embed="rId6" cstate="print"/>
          <a:srcRect/>
          <a:stretch>
            <a:fillRect/>
          </a:stretch>
        </p:blipFill>
        <p:spPr bwMode="auto">
          <a:xfrm>
            <a:off x="135083" y="80333"/>
            <a:ext cx="4676775" cy="6296025"/>
          </a:xfrm>
          <a:prstGeom prst="rect">
            <a:avLst/>
          </a:prstGeom>
          <a:noFill/>
          <a:ln w="9525">
            <a:noFill/>
            <a:miter lim="800000"/>
            <a:headEnd/>
            <a:tailEnd/>
          </a:ln>
        </p:spPr>
      </p:pic>
      <p:sp>
        <p:nvSpPr>
          <p:cNvPr id="20" name="Rectángulo 19">
            <a:extLst>
              <a:ext uri="{FF2B5EF4-FFF2-40B4-BE49-F238E27FC236}">
                <a16:creationId xmlns:a16="http://schemas.microsoft.com/office/drawing/2014/main" id="{7F3A09EA-A765-4F98-83B3-2154B947F402}"/>
              </a:ext>
            </a:extLst>
          </p:cNvPr>
          <p:cNvSpPr/>
          <p:nvPr/>
        </p:nvSpPr>
        <p:spPr>
          <a:xfrm>
            <a:off x="6095999" y="1403348"/>
            <a:ext cx="5820237" cy="97767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En el eje de la izquierda se ubica la cantidad de muestras n (tener en cuenta que a la izquierda se tienen n &gt; 14 y a la derecha n </a:t>
            </a:r>
            <a:r>
              <a:rPr lang="es-AR" sz="2000" dirty="0">
                <a:ea typeface="Cambria Math" panose="02040503050406030204" pitchFamily="18" charset="0"/>
              </a:rPr>
              <a:t>≤ 14)</a:t>
            </a:r>
            <a:endParaRPr lang="es-AR" sz="2000" dirty="0"/>
          </a:p>
        </p:txBody>
      </p:sp>
      <p:sp>
        <p:nvSpPr>
          <p:cNvPr id="21" name="Elipse 20">
            <a:extLst>
              <a:ext uri="{FF2B5EF4-FFF2-40B4-BE49-F238E27FC236}">
                <a16:creationId xmlns:a16="http://schemas.microsoft.com/office/drawing/2014/main" id="{6D12BFE9-BEEF-4C46-A09B-554A0FEBAE07}"/>
              </a:ext>
            </a:extLst>
          </p:cNvPr>
          <p:cNvSpPr/>
          <p:nvPr/>
        </p:nvSpPr>
        <p:spPr>
          <a:xfrm>
            <a:off x="5411728" y="1589024"/>
            <a:ext cx="540000" cy="540000"/>
          </a:xfrm>
          <a:prstGeom prst="ellipse">
            <a:avLst/>
          </a:prstGeom>
          <a:ln>
            <a:noFill/>
          </a:ln>
          <a:effectLst>
            <a:glow rad="139700">
              <a:schemeClr val="accent2">
                <a:satMod val="175000"/>
                <a:alpha val="40000"/>
              </a:schemeClr>
            </a:glow>
            <a:outerShdw blurRad="76200" dir="13500000" sy="23000" kx="1200000" algn="br" rotWithShape="0">
              <a:prstClr val="black">
                <a:alpha val="20000"/>
              </a:prstClr>
            </a:outerShdw>
          </a:effectLst>
          <a:scene3d>
            <a:camera prst="perspectiveRight"/>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800" dirty="0"/>
              <a:t>1</a:t>
            </a:r>
          </a:p>
        </p:txBody>
      </p:sp>
      <p:sp>
        <p:nvSpPr>
          <p:cNvPr id="29" name="Rectángulo 28">
            <a:extLst>
              <a:ext uri="{FF2B5EF4-FFF2-40B4-BE49-F238E27FC236}">
                <a16:creationId xmlns:a16="http://schemas.microsoft.com/office/drawing/2014/main" id="{B9917EF0-59AF-4C5B-96E5-58CCE0D4C5F3}"/>
              </a:ext>
            </a:extLst>
          </p:cNvPr>
          <p:cNvSpPr/>
          <p:nvPr/>
        </p:nvSpPr>
        <p:spPr>
          <a:xfrm>
            <a:off x="6095999" y="2643188"/>
            <a:ext cx="5820238" cy="72810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En el eje de la derecha se ubica el número de dispersión z%</a:t>
            </a:r>
          </a:p>
        </p:txBody>
      </p:sp>
      <p:sp>
        <p:nvSpPr>
          <p:cNvPr id="31" name="Rectángulo 30">
            <a:extLst>
              <a:ext uri="{FF2B5EF4-FFF2-40B4-BE49-F238E27FC236}">
                <a16:creationId xmlns:a16="http://schemas.microsoft.com/office/drawing/2014/main" id="{D617B633-B2F9-4FDA-AC66-A60D9B1871AF}"/>
              </a:ext>
            </a:extLst>
          </p:cNvPr>
          <p:cNvSpPr/>
          <p:nvPr/>
        </p:nvSpPr>
        <p:spPr>
          <a:xfrm>
            <a:off x="6095997" y="3629644"/>
            <a:ext cx="5820239" cy="72810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Se unen los puntos y se lee en el eje central el margen de confianza que da la medición</a:t>
            </a:r>
          </a:p>
        </p:txBody>
      </p:sp>
      <p:sp>
        <p:nvSpPr>
          <p:cNvPr id="33" name="Rectángulo 32">
            <a:extLst>
              <a:ext uri="{FF2B5EF4-FFF2-40B4-BE49-F238E27FC236}">
                <a16:creationId xmlns:a16="http://schemas.microsoft.com/office/drawing/2014/main" id="{EDB1B226-6AEA-4CCF-A9D0-919D1631579B}"/>
              </a:ext>
            </a:extLst>
          </p:cNvPr>
          <p:cNvSpPr/>
          <p:nvPr/>
        </p:nvSpPr>
        <p:spPr>
          <a:xfrm>
            <a:off x="6095997" y="4617893"/>
            <a:ext cx="5820240" cy="123848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Si este valor es mayor que el </a:t>
            </a:r>
            <a:r>
              <a:rPr lang="el-GR" sz="2000" dirty="0"/>
              <a:t>ε</a:t>
            </a:r>
            <a:r>
              <a:rPr lang="es-AR" sz="2000" dirty="0"/>
              <a:t> deseado, se une z% con el </a:t>
            </a:r>
            <a:r>
              <a:rPr lang="el-GR" sz="2000" dirty="0"/>
              <a:t>ε</a:t>
            </a:r>
            <a:r>
              <a:rPr lang="es-AR" sz="2000" dirty="0"/>
              <a:t> deseado, se proyecta hasta el eje n y se lee allí la cantidad de muestras que se requieren</a:t>
            </a:r>
          </a:p>
        </p:txBody>
      </p:sp>
      <p:sp>
        <p:nvSpPr>
          <p:cNvPr id="34" name="Elipse 33">
            <a:extLst>
              <a:ext uri="{FF2B5EF4-FFF2-40B4-BE49-F238E27FC236}">
                <a16:creationId xmlns:a16="http://schemas.microsoft.com/office/drawing/2014/main" id="{705EBC8C-D721-444D-B93F-EC03D549B4B7}"/>
              </a:ext>
            </a:extLst>
          </p:cNvPr>
          <p:cNvSpPr/>
          <p:nvPr/>
        </p:nvSpPr>
        <p:spPr>
          <a:xfrm>
            <a:off x="5422006" y="2739387"/>
            <a:ext cx="540000" cy="540000"/>
          </a:xfrm>
          <a:prstGeom prst="ellipse">
            <a:avLst/>
          </a:prstGeom>
          <a:ln>
            <a:noFill/>
          </a:ln>
          <a:effectLst>
            <a:glow rad="139700">
              <a:schemeClr val="accent2">
                <a:satMod val="175000"/>
                <a:alpha val="40000"/>
              </a:schemeClr>
            </a:glow>
            <a:outerShdw blurRad="76200" dir="13500000" sy="23000" kx="1200000" algn="br" rotWithShape="0">
              <a:prstClr val="black">
                <a:alpha val="20000"/>
              </a:prstClr>
            </a:outerShdw>
          </a:effectLst>
          <a:scene3d>
            <a:camera prst="perspectiveRight"/>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800" dirty="0"/>
              <a:t>2</a:t>
            </a:r>
          </a:p>
        </p:txBody>
      </p:sp>
      <p:sp>
        <p:nvSpPr>
          <p:cNvPr id="35" name="Elipse 34">
            <a:extLst>
              <a:ext uri="{FF2B5EF4-FFF2-40B4-BE49-F238E27FC236}">
                <a16:creationId xmlns:a16="http://schemas.microsoft.com/office/drawing/2014/main" id="{C73F3DFA-6013-423D-919E-0EA8767C3393}"/>
              </a:ext>
            </a:extLst>
          </p:cNvPr>
          <p:cNvSpPr/>
          <p:nvPr/>
        </p:nvSpPr>
        <p:spPr>
          <a:xfrm>
            <a:off x="5422006" y="3723694"/>
            <a:ext cx="540000" cy="540000"/>
          </a:xfrm>
          <a:prstGeom prst="ellipse">
            <a:avLst/>
          </a:prstGeom>
          <a:ln>
            <a:noFill/>
          </a:ln>
          <a:effectLst>
            <a:glow rad="139700">
              <a:schemeClr val="accent2">
                <a:satMod val="175000"/>
                <a:alpha val="40000"/>
              </a:schemeClr>
            </a:glow>
            <a:outerShdw blurRad="76200" dir="13500000" sy="23000" kx="1200000" algn="br" rotWithShape="0">
              <a:prstClr val="black">
                <a:alpha val="20000"/>
              </a:prstClr>
            </a:outerShdw>
          </a:effectLst>
          <a:scene3d>
            <a:camera prst="perspectiveRight"/>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800" dirty="0"/>
              <a:t>3</a:t>
            </a:r>
          </a:p>
        </p:txBody>
      </p:sp>
      <p:sp>
        <p:nvSpPr>
          <p:cNvPr id="36" name="Elipse 35">
            <a:extLst>
              <a:ext uri="{FF2B5EF4-FFF2-40B4-BE49-F238E27FC236}">
                <a16:creationId xmlns:a16="http://schemas.microsoft.com/office/drawing/2014/main" id="{4C2DB533-9E30-4B78-B330-88503591E950}"/>
              </a:ext>
            </a:extLst>
          </p:cNvPr>
          <p:cNvSpPr/>
          <p:nvPr/>
        </p:nvSpPr>
        <p:spPr>
          <a:xfrm>
            <a:off x="5411728" y="4967136"/>
            <a:ext cx="540000" cy="540000"/>
          </a:xfrm>
          <a:prstGeom prst="ellipse">
            <a:avLst/>
          </a:prstGeom>
          <a:ln>
            <a:noFill/>
          </a:ln>
          <a:effectLst>
            <a:glow rad="139700">
              <a:schemeClr val="accent2">
                <a:satMod val="175000"/>
                <a:alpha val="40000"/>
              </a:schemeClr>
            </a:glow>
            <a:outerShdw blurRad="76200" dir="13500000" sy="23000" kx="1200000" algn="br" rotWithShape="0">
              <a:prstClr val="black">
                <a:alpha val="20000"/>
              </a:prstClr>
            </a:outerShdw>
          </a:effectLst>
          <a:scene3d>
            <a:camera prst="perspectiveRight"/>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800" dirty="0"/>
              <a:t>4</a:t>
            </a:r>
          </a:p>
        </p:txBody>
      </p:sp>
      <p:sp>
        <p:nvSpPr>
          <p:cNvPr id="3" name="CuadroTexto 2">
            <a:extLst>
              <a:ext uri="{FF2B5EF4-FFF2-40B4-BE49-F238E27FC236}">
                <a16:creationId xmlns:a16="http://schemas.microsoft.com/office/drawing/2014/main" id="{6847442A-4D1C-4E5E-9494-B69DAFDF954D}"/>
              </a:ext>
            </a:extLst>
          </p:cNvPr>
          <p:cNvSpPr txBox="1"/>
          <p:nvPr/>
        </p:nvSpPr>
        <p:spPr>
          <a:xfrm>
            <a:off x="4946940" y="315072"/>
            <a:ext cx="3773201"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Ejemplo</a:t>
            </a:r>
            <a:endParaRPr lang="es-AR" sz="2800" dirty="0">
              <a:solidFill>
                <a:schemeClr val="tx1">
                  <a:lumMod val="65000"/>
                  <a:lumOff val="35000"/>
                </a:schemeClr>
              </a:solidFill>
            </a:endParaRPr>
          </a:p>
        </p:txBody>
      </p:sp>
    </p:spTree>
    <p:extLst>
      <p:ext uri="{BB962C8B-B14F-4D97-AF65-F5344CB8AC3E}">
        <p14:creationId xmlns:p14="http://schemas.microsoft.com/office/powerpoint/2010/main" val="170396566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20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20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grpId="0" nodeType="withEffect">
                                  <p:stCondLst>
                                    <p:cond delay="20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20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9" grpId="0" animBg="1"/>
      <p:bldP spid="31" grpId="0" animBg="1"/>
      <p:bldP spid="33" grpId="0" animBg="1"/>
      <p:bldP spid="34" grpId="0" animBg="1"/>
      <p:bldP spid="35" grpId="0" animBg="1"/>
      <p:bldP spid="3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Ejemplo</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4" name="Rectángulo 3">
            <a:extLst>
              <a:ext uri="{FF2B5EF4-FFF2-40B4-BE49-F238E27FC236}">
                <a16:creationId xmlns:a16="http://schemas.microsoft.com/office/drawing/2014/main" id="{58A90454-B161-41F3-9311-B3FDD9FFCCB2}"/>
              </a:ext>
            </a:extLst>
          </p:cNvPr>
          <p:cNvSpPr/>
          <p:nvPr/>
        </p:nvSpPr>
        <p:spPr>
          <a:xfrm>
            <a:off x="475373" y="1482274"/>
            <a:ext cx="11186743" cy="8028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Calcule el número de muestras requeridas si se han realizado 10 observaciones y los </a:t>
            </a:r>
            <a:r>
              <a:rPr lang="es-AR" sz="2000" dirty="0" err="1"/>
              <a:t>T</a:t>
            </a:r>
            <a:r>
              <a:rPr lang="es-AR" sz="2000" baseline="-25000" dirty="0" err="1"/>
              <a:t>O</a:t>
            </a:r>
            <a:r>
              <a:rPr lang="es-AR" sz="2000" dirty="0"/>
              <a:t> obtenidos son 236, 195, 232, 237, 212, 216, 211, 245, 216 y 206 segundos respectivamente</a:t>
            </a:r>
          </a:p>
        </p:txBody>
      </p:sp>
      <p:sp>
        <p:nvSpPr>
          <p:cNvPr id="14" name="Rectángulo 13">
            <a:extLst>
              <a:ext uri="{FF2B5EF4-FFF2-40B4-BE49-F238E27FC236}">
                <a16:creationId xmlns:a16="http://schemas.microsoft.com/office/drawing/2014/main" id="{6F5943C9-030D-4491-AD3B-4B40FB5D80B5}"/>
              </a:ext>
            </a:extLst>
          </p:cNvPr>
          <p:cNvSpPr/>
          <p:nvPr/>
        </p:nvSpPr>
        <p:spPr>
          <a:xfrm>
            <a:off x="475371" y="2432927"/>
            <a:ext cx="11186743" cy="48144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Inicialmente hay que encontrar los valores de z% y </a:t>
            </a:r>
            <a:r>
              <a:rPr lang="el-GR" sz="2000" dirty="0"/>
              <a:t>ε</a:t>
            </a:r>
            <a:endParaRPr lang="es-AR" sz="2000" dirty="0"/>
          </a:p>
        </p:txBody>
      </p:sp>
      <mc:AlternateContent xmlns:mc="http://schemas.openxmlformats.org/markup-compatibility/2006" xmlns:a14="http://schemas.microsoft.com/office/drawing/2010/main">
        <mc:Choice Requires="a14">
          <p:sp>
            <p:nvSpPr>
              <p:cNvPr id="17" name="Rectángulo 16">
                <a:extLst>
                  <a:ext uri="{FF2B5EF4-FFF2-40B4-BE49-F238E27FC236}">
                    <a16:creationId xmlns:a16="http://schemas.microsoft.com/office/drawing/2014/main" id="{9629DCF3-6004-45F6-9637-D47F26CE2AAA}"/>
                  </a:ext>
                </a:extLst>
              </p:cNvPr>
              <p:cNvSpPr/>
              <p:nvPr/>
            </p:nvSpPr>
            <p:spPr>
              <a:xfrm>
                <a:off x="4493634" y="3558141"/>
                <a:ext cx="7168480" cy="80114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Para hallar z% se resuelve </a:t>
                </a:r>
                <a14:m>
                  <m:oMath xmlns:m="http://schemas.openxmlformats.org/officeDocument/2006/math">
                    <m:r>
                      <a:rPr lang="es-AR" sz="2000" i="1">
                        <a:latin typeface="Cambria Math" panose="02040503050406030204" pitchFamily="18" charset="0"/>
                      </a:rPr>
                      <m:t>𝑧</m:t>
                    </m:r>
                    <m:r>
                      <a:rPr lang="es-AR" sz="2000" i="1">
                        <a:latin typeface="Cambria Math" panose="02040503050406030204" pitchFamily="18" charset="0"/>
                      </a:rPr>
                      <m:t>%=</m:t>
                    </m:r>
                    <m:f>
                      <m:fPr>
                        <m:ctrlPr>
                          <a:rPr lang="es-AR" sz="2000" i="1">
                            <a:latin typeface="Cambria Math" panose="02040503050406030204" pitchFamily="18" charset="0"/>
                          </a:rPr>
                        </m:ctrlPr>
                      </m:fPr>
                      <m:num>
                        <m:acc>
                          <m:accPr>
                            <m:chr m:val="̅"/>
                            <m:ctrlPr>
                              <a:rPr lang="es-AR" sz="2000" i="1">
                                <a:latin typeface="Cambria Math" panose="02040503050406030204" pitchFamily="18" charset="0"/>
                              </a:rPr>
                            </m:ctrlPr>
                          </m:accPr>
                          <m:e>
                            <m:r>
                              <a:rPr lang="es-AR" sz="2000" i="1">
                                <a:latin typeface="Cambria Math" panose="02040503050406030204" pitchFamily="18" charset="0"/>
                              </a:rPr>
                              <m:t>𝑅</m:t>
                            </m:r>
                          </m:e>
                        </m:acc>
                      </m:num>
                      <m:den>
                        <m:acc>
                          <m:accPr>
                            <m:chr m:val="̅"/>
                            <m:ctrlPr>
                              <a:rPr lang="es-AR" sz="2000" i="1">
                                <a:latin typeface="Cambria Math" panose="02040503050406030204" pitchFamily="18" charset="0"/>
                              </a:rPr>
                            </m:ctrlPr>
                          </m:accPr>
                          <m:e>
                            <m:sSub>
                              <m:sSubPr>
                                <m:ctrlPr>
                                  <a:rPr lang="es-AR" sz="2000" i="1">
                                    <a:latin typeface="Cambria Math" panose="02040503050406030204" pitchFamily="18" charset="0"/>
                                  </a:rPr>
                                </m:ctrlPr>
                              </m:sSubPr>
                              <m:e>
                                <m:r>
                                  <a:rPr lang="es-AR" sz="2000" i="1">
                                    <a:latin typeface="Cambria Math" panose="02040503050406030204" pitchFamily="18" charset="0"/>
                                  </a:rPr>
                                  <m:t>𝑇</m:t>
                                </m:r>
                              </m:e>
                              <m:sub>
                                <m:r>
                                  <a:rPr lang="es-AR" sz="2000" i="1">
                                    <a:latin typeface="Cambria Math" panose="02040503050406030204" pitchFamily="18" charset="0"/>
                                  </a:rPr>
                                  <m:t>𝑧</m:t>
                                </m:r>
                              </m:sub>
                            </m:sSub>
                          </m:e>
                        </m:acc>
                      </m:den>
                    </m:f>
                    <m:r>
                      <a:rPr lang="es-AR" sz="2000" i="1">
                        <a:latin typeface="Cambria Math" panose="02040503050406030204" pitchFamily="18" charset="0"/>
                        <a:ea typeface="Cambria Math" panose="02040503050406030204" pitchFamily="18" charset="0"/>
                      </a:rPr>
                      <m:t>×100⇒</m:t>
                    </m:r>
                    <m:r>
                      <a:rPr lang="es-AR" sz="2000" i="1">
                        <a:latin typeface="Cambria Math" panose="02040503050406030204" pitchFamily="18" charset="0"/>
                      </a:rPr>
                      <m:t>𝑧</m:t>
                    </m:r>
                    <m:r>
                      <a:rPr lang="es-AR" sz="2000" i="1">
                        <a:latin typeface="Cambria Math" panose="02040503050406030204" pitchFamily="18" charset="0"/>
                      </a:rPr>
                      <m:t>%=</m:t>
                    </m:r>
                    <m:r>
                      <a:rPr lang="es-AR" sz="2000" b="0" i="0" smtClean="0">
                        <a:latin typeface="Cambria Math" panose="02040503050406030204" pitchFamily="18" charset="0"/>
                      </a:rPr>
                      <m:t>18.4%</m:t>
                    </m:r>
                  </m:oMath>
                </a14:m>
                <a:endParaRPr lang="es-AR" sz="2000" dirty="0"/>
              </a:p>
            </p:txBody>
          </p:sp>
        </mc:Choice>
        <mc:Fallback xmlns="">
          <p:sp>
            <p:nvSpPr>
              <p:cNvPr id="17" name="Rectángulo 16">
                <a:extLst>
                  <a:ext uri="{FF2B5EF4-FFF2-40B4-BE49-F238E27FC236}">
                    <a16:creationId xmlns:a16="http://schemas.microsoft.com/office/drawing/2014/main" id="{9629DCF3-6004-45F6-9637-D47F26CE2AAA}"/>
                  </a:ext>
                </a:extLst>
              </p:cNvPr>
              <p:cNvSpPr>
                <a:spLocks noRot="1" noChangeAspect="1" noMove="1" noResize="1" noEditPoints="1" noAdjustHandles="1" noChangeArrowheads="1" noChangeShapeType="1" noTextEdit="1"/>
              </p:cNvSpPr>
              <p:nvPr/>
            </p:nvSpPr>
            <p:spPr>
              <a:xfrm>
                <a:off x="4493634" y="3558141"/>
                <a:ext cx="7168480" cy="801144"/>
              </a:xfrm>
              <a:prstGeom prst="rect">
                <a:avLst/>
              </a:prstGeom>
              <a:blipFill>
                <a:blip r:embed="rId7"/>
                <a:stretch>
                  <a:fillRect l="-764"/>
                </a:stretch>
              </a:blipFill>
            </p:spPr>
            <p:txBody>
              <a:bodyPr/>
              <a:lstStyle/>
              <a:p>
                <a:r>
                  <a:rPr lang="es-AR">
                    <a:noFill/>
                  </a:rPr>
                  <a:t> </a:t>
                </a:r>
              </a:p>
            </p:txBody>
          </p:sp>
        </mc:Fallback>
      </mc:AlternateContent>
      <p:graphicFrame>
        <p:nvGraphicFramePr>
          <p:cNvPr id="6" name="Objeto 5">
            <a:extLst>
              <a:ext uri="{FF2B5EF4-FFF2-40B4-BE49-F238E27FC236}">
                <a16:creationId xmlns:a16="http://schemas.microsoft.com/office/drawing/2014/main" id="{9420AA96-434B-4774-8B3F-FAA32AF767DB}"/>
              </a:ext>
            </a:extLst>
          </p:cNvPr>
          <p:cNvGraphicFramePr>
            <a:graphicFrameLocks noChangeAspect="1"/>
          </p:cNvGraphicFramePr>
          <p:nvPr>
            <p:extLst>
              <p:ext uri="{D42A27DB-BD31-4B8C-83A1-F6EECF244321}">
                <p14:modId xmlns:p14="http://schemas.microsoft.com/office/powerpoint/2010/main" val="2335974994"/>
              </p:ext>
            </p:extLst>
          </p:nvPr>
        </p:nvGraphicFramePr>
        <p:xfrm>
          <a:off x="475371" y="3062221"/>
          <a:ext cx="2650373" cy="3211240"/>
        </p:xfrm>
        <a:graphic>
          <a:graphicData uri="http://schemas.openxmlformats.org/presentationml/2006/ole">
            <mc:AlternateContent xmlns:mc="http://schemas.openxmlformats.org/markup-compatibility/2006">
              <mc:Choice xmlns:v="urn:schemas-microsoft-com:vml" Requires="v">
                <p:oleObj name="Worksheet" r:id="rId8" imgW="2295485" imgH="2781284" progId="Excel.Sheet.12">
                  <p:embed/>
                </p:oleObj>
              </mc:Choice>
              <mc:Fallback>
                <p:oleObj name="Worksheet" r:id="rId8" imgW="2295485" imgH="2781284" progId="Excel.Sheet.12">
                  <p:embed/>
                  <p:pic>
                    <p:nvPicPr>
                      <p:cNvPr id="6" name="Objeto 5">
                        <a:extLst>
                          <a:ext uri="{FF2B5EF4-FFF2-40B4-BE49-F238E27FC236}">
                            <a16:creationId xmlns:a16="http://schemas.microsoft.com/office/drawing/2014/main" id="{9420AA96-434B-4774-8B3F-FAA32AF767DB}"/>
                          </a:ext>
                        </a:extLst>
                      </p:cNvPr>
                      <p:cNvPicPr/>
                      <p:nvPr/>
                    </p:nvPicPr>
                    <p:blipFill>
                      <a:blip r:embed="rId9"/>
                      <a:stretch>
                        <a:fillRect/>
                      </a:stretch>
                    </p:blipFill>
                    <p:spPr>
                      <a:xfrm>
                        <a:off x="475371" y="3062221"/>
                        <a:ext cx="2650373" cy="3211240"/>
                      </a:xfrm>
                      <a:prstGeom prst="rect">
                        <a:avLst/>
                      </a:prstGeom>
                    </p:spPr>
                  </p:pic>
                </p:oleObj>
              </mc:Fallback>
            </mc:AlternateContent>
          </a:graphicData>
        </a:graphic>
      </p:graphicFrame>
      <p:sp>
        <p:nvSpPr>
          <p:cNvPr id="20" name="Rectángulo 19">
            <a:extLst>
              <a:ext uri="{FF2B5EF4-FFF2-40B4-BE49-F238E27FC236}">
                <a16:creationId xmlns:a16="http://schemas.microsoft.com/office/drawing/2014/main" id="{4E221568-D9A6-4667-BEEC-1BD0040E1C01}"/>
              </a:ext>
            </a:extLst>
          </p:cNvPr>
          <p:cNvSpPr/>
          <p:nvPr/>
        </p:nvSpPr>
        <p:spPr>
          <a:xfrm>
            <a:off x="4493636" y="4737691"/>
            <a:ext cx="7168480" cy="80114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Para el margen de error se adopta </a:t>
            </a:r>
            <a:r>
              <a:rPr lang="el-GR" sz="2000" dirty="0">
                <a:latin typeface="Cambria Math" panose="02040503050406030204" pitchFamily="18" charset="0"/>
                <a:ea typeface="Cambria Math" panose="02040503050406030204" pitchFamily="18" charset="0"/>
              </a:rPr>
              <a:t>ε</a:t>
            </a:r>
            <a:r>
              <a:rPr lang="es-AR" sz="2000" dirty="0">
                <a:latin typeface="Rockwell" panose="02060603020205020403" pitchFamily="18" charset="0"/>
                <a:ea typeface="Cambria Math" panose="02040503050406030204" pitchFamily="18" charset="0"/>
              </a:rPr>
              <a:t> &lt; 5% </a:t>
            </a:r>
            <a:endParaRPr lang="es-AR" sz="2000" dirty="0"/>
          </a:p>
        </p:txBody>
      </p:sp>
    </p:spTree>
    <p:extLst>
      <p:ext uri="{BB962C8B-B14F-4D97-AF65-F5344CB8AC3E}">
        <p14:creationId xmlns:p14="http://schemas.microsoft.com/office/powerpoint/2010/main" val="17434878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0"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
            <a:extLst>
              <a:ext uri="{FF2B5EF4-FFF2-40B4-BE49-F238E27FC236}">
                <a16:creationId xmlns:a16="http://schemas.microsoft.com/office/drawing/2014/main" id="{00000000-0008-0000-0300-000002000000}"/>
              </a:ext>
            </a:extLst>
          </p:cNvPr>
          <p:cNvPicPr>
            <a:picLocks noChangeAspect="1" noChangeArrowheads="1"/>
          </p:cNvPicPr>
          <p:nvPr/>
        </p:nvPicPr>
        <p:blipFill>
          <a:blip r:embed="rId3" cstate="print"/>
          <a:srcRect/>
          <a:stretch>
            <a:fillRect/>
          </a:stretch>
        </p:blipFill>
        <p:spPr bwMode="auto">
          <a:xfrm>
            <a:off x="135083" y="80333"/>
            <a:ext cx="4676775" cy="6296025"/>
          </a:xfrm>
          <a:prstGeom prst="rect">
            <a:avLst/>
          </a:prstGeom>
          <a:noFill/>
          <a:ln w="9525">
            <a:noFill/>
            <a:miter lim="800000"/>
            <a:headEnd/>
            <a:tailEnd/>
          </a:ln>
        </p:spPr>
      </p:pic>
      <p:sp>
        <p:nvSpPr>
          <p:cNvPr id="2" name="Signo de multiplicación 1">
            <a:extLst>
              <a:ext uri="{FF2B5EF4-FFF2-40B4-BE49-F238E27FC236}">
                <a16:creationId xmlns:a16="http://schemas.microsoft.com/office/drawing/2014/main" id="{4EF203AE-1E9F-4877-9571-FFBAEA330B47}"/>
              </a:ext>
            </a:extLst>
          </p:cNvPr>
          <p:cNvSpPr/>
          <p:nvPr/>
        </p:nvSpPr>
        <p:spPr>
          <a:xfrm>
            <a:off x="542925" y="2400303"/>
            <a:ext cx="238125" cy="261937"/>
          </a:xfrm>
          <a:prstGeom prst="mathMultiply">
            <a:avLst>
              <a:gd name="adj1" fmla="val 9520"/>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4">
            <a:duotone>
              <a:prstClr val="black"/>
              <a:srgbClr val="FF0000">
                <a:tint val="45000"/>
                <a:satMod val="400000"/>
              </a:srgbClr>
            </a:duotone>
            <a:alphaModFix amt="62000"/>
            <a:extLst>
              <a:ext uri="{BEBA8EAE-BF5A-486C-A8C5-ECC9F3942E4B}">
                <a14:imgProps xmlns:a14="http://schemas.microsoft.com/office/drawing/2010/main">
                  <a14:imgLayer r:embed="rId5">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6">
              <a:alphaModFix amt="50000"/>
            </a:blip>
            <a:srcRect l="15693" t="31624" r="25546" b="30133"/>
            <a:stretch/>
          </p:blipFill>
          <p:spPr>
            <a:xfrm>
              <a:off x="11311846" y="6376358"/>
              <a:ext cx="880154" cy="477359"/>
            </a:xfrm>
            <a:prstGeom prst="rect">
              <a:avLst/>
            </a:prstGeom>
          </p:spPr>
        </p:pic>
      </p:grpSp>
      <p:sp>
        <p:nvSpPr>
          <p:cNvPr id="20" name="Rectángulo 19">
            <a:extLst>
              <a:ext uri="{FF2B5EF4-FFF2-40B4-BE49-F238E27FC236}">
                <a16:creationId xmlns:a16="http://schemas.microsoft.com/office/drawing/2014/main" id="{7F3A09EA-A765-4F98-83B3-2154B947F402}"/>
              </a:ext>
            </a:extLst>
          </p:cNvPr>
          <p:cNvSpPr/>
          <p:nvPr/>
        </p:nvSpPr>
        <p:spPr>
          <a:xfrm>
            <a:off x="6095999" y="1403348"/>
            <a:ext cx="5820237" cy="97767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En el eje de la izquierda se ubica la cantidad de muestras n (tener en cuenta que a la izquierda se tienen n &gt; 14 y a la derecha n </a:t>
            </a:r>
            <a:r>
              <a:rPr lang="es-AR" sz="2000" dirty="0">
                <a:ea typeface="Cambria Math" panose="02040503050406030204" pitchFamily="18" charset="0"/>
              </a:rPr>
              <a:t>≤ 14)</a:t>
            </a:r>
            <a:endParaRPr lang="es-AR" sz="2000" dirty="0"/>
          </a:p>
        </p:txBody>
      </p:sp>
      <p:sp>
        <p:nvSpPr>
          <p:cNvPr id="21" name="Elipse 20">
            <a:extLst>
              <a:ext uri="{FF2B5EF4-FFF2-40B4-BE49-F238E27FC236}">
                <a16:creationId xmlns:a16="http://schemas.microsoft.com/office/drawing/2014/main" id="{6D12BFE9-BEEF-4C46-A09B-554A0FEBAE07}"/>
              </a:ext>
            </a:extLst>
          </p:cNvPr>
          <p:cNvSpPr/>
          <p:nvPr/>
        </p:nvSpPr>
        <p:spPr>
          <a:xfrm>
            <a:off x="5411728" y="1589024"/>
            <a:ext cx="540000" cy="540000"/>
          </a:xfrm>
          <a:prstGeom prst="ellipse">
            <a:avLst/>
          </a:prstGeom>
          <a:ln>
            <a:noFill/>
          </a:ln>
          <a:effectLst>
            <a:glow rad="139700">
              <a:schemeClr val="accent2">
                <a:satMod val="175000"/>
                <a:alpha val="40000"/>
              </a:schemeClr>
            </a:glow>
            <a:outerShdw blurRad="76200" dir="13500000" sy="23000" kx="1200000" algn="br" rotWithShape="0">
              <a:prstClr val="black">
                <a:alpha val="20000"/>
              </a:prstClr>
            </a:outerShdw>
          </a:effectLst>
          <a:scene3d>
            <a:camera prst="perspectiveRight"/>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800" dirty="0"/>
              <a:t>1</a:t>
            </a:r>
          </a:p>
        </p:txBody>
      </p:sp>
      <p:sp>
        <p:nvSpPr>
          <p:cNvPr id="29" name="Rectángulo 28">
            <a:extLst>
              <a:ext uri="{FF2B5EF4-FFF2-40B4-BE49-F238E27FC236}">
                <a16:creationId xmlns:a16="http://schemas.microsoft.com/office/drawing/2014/main" id="{B9917EF0-59AF-4C5B-96E5-58CCE0D4C5F3}"/>
              </a:ext>
            </a:extLst>
          </p:cNvPr>
          <p:cNvSpPr/>
          <p:nvPr/>
        </p:nvSpPr>
        <p:spPr>
          <a:xfrm>
            <a:off x="6095999" y="2643188"/>
            <a:ext cx="5820238" cy="72810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En el eje de la derecha se ubica el número de dispersión z%</a:t>
            </a:r>
          </a:p>
        </p:txBody>
      </p:sp>
      <p:sp>
        <p:nvSpPr>
          <p:cNvPr id="31" name="Rectángulo 30">
            <a:extLst>
              <a:ext uri="{FF2B5EF4-FFF2-40B4-BE49-F238E27FC236}">
                <a16:creationId xmlns:a16="http://schemas.microsoft.com/office/drawing/2014/main" id="{D617B633-B2F9-4FDA-AC66-A60D9B1871AF}"/>
              </a:ext>
            </a:extLst>
          </p:cNvPr>
          <p:cNvSpPr/>
          <p:nvPr/>
        </p:nvSpPr>
        <p:spPr>
          <a:xfrm>
            <a:off x="6095997" y="3629644"/>
            <a:ext cx="5820239" cy="72810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Se unen los puntos y se lee en el eje central el margen de confianza que da la medición</a:t>
            </a:r>
          </a:p>
        </p:txBody>
      </p:sp>
      <p:sp>
        <p:nvSpPr>
          <p:cNvPr id="33" name="Rectángulo 32">
            <a:extLst>
              <a:ext uri="{FF2B5EF4-FFF2-40B4-BE49-F238E27FC236}">
                <a16:creationId xmlns:a16="http://schemas.microsoft.com/office/drawing/2014/main" id="{EDB1B226-6AEA-4CCF-A9D0-919D1631579B}"/>
              </a:ext>
            </a:extLst>
          </p:cNvPr>
          <p:cNvSpPr/>
          <p:nvPr/>
        </p:nvSpPr>
        <p:spPr>
          <a:xfrm>
            <a:off x="6095997" y="4617893"/>
            <a:ext cx="5820240" cy="123848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Como en este caso </a:t>
            </a:r>
            <a:r>
              <a:rPr lang="el-GR" sz="2000" dirty="0">
                <a:ea typeface="Cambria Math" panose="02040503050406030204" pitchFamily="18" charset="0"/>
              </a:rPr>
              <a:t>ε</a:t>
            </a:r>
            <a:r>
              <a:rPr lang="es-AR" sz="2000" dirty="0">
                <a:ea typeface="Cambria Math" panose="02040503050406030204" pitchFamily="18" charset="0"/>
              </a:rPr>
              <a:t> &lt; 5 se validan las 10 muestras realizadas.</a:t>
            </a:r>
            <a:endParaRPr lang="es-AR" sz="2000" dirty="0"/>
          </a:p>
        </p:txBody>
      </p:sp>
      <p:sp>
        <p:nvSpPr>
          <p:cNvPr id="34" name="Elipse 33">
            <a:extLst>
              <a:ext uri="{FF2B5EF4-FFF2-40B4-BE49-F238E27FC236}">
                <a16:creationId xmlns:a16="http://schemas.microsoft.com/office/drawing/2014/main" id="{705EBC8C-D721-444D-B93F-EC03D549B4B7}"/>
              </a:ext>
            </a:extLst>
          </p:cNvPr>
          <p:cNvSpPr/>
          <p:nvPr/>
        </p:nvSpPr>
        <p:spPr>
          <a:xfrm>
            <a:off x="5422006" y="2739387"/>
            <a:ext cx="540000" cy="540000"/>
          </a:xfrm>
          <a:prstGeom prst="ellipse">
            <a:avLst/>
          </a:prstGeom>
          <a:ln>
            <a:noFill/>
          </a:ln>
          <a:effectLst>
            <a:glow rad="139700">
              <a:schemeClr val="accent2">
                <a:satMod val="175000"/>
                <a:alpha val="40000"/>
              </a:schemeClr>
            </a:glow>
            <a:outerShdw blurRad="76200" dir="13500000" sy="23000" kx="1200000" algn="br" rotWithShape="0">
              <a:prstClr val="black">
                <a:alpha val="20000"/>
              </a:prstClr>
            </a:outerShdw>
          </a:effectLst>
          <a:scene3d>
            <a:camera prst="perspectiveRight"/>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800" dirty="0"/>
              <a:t>2</a:t>
            </a:r>
          </a:p>
        </p:txBody>
      </p:sp>
      <p:sp>
        <p:nvSpPr>
          <p:cNvPr id="35" name="Elipse 34">
            <a:extLst>
              <a:ext uri="{FF2B5EF4-FFF2-40B4-BE49-F238E27FC236}">
                <a16:creationId xmlns:a16="http://schemas.microsoft.com/office/drawing/2014/main" id="{C73F3DFA-6013-423D-919E-0EA8767C3393}"/>
              </a:ext>
            </a:extLst>
          </p:cNvPr>
          <p:cNvSpPr/>
          <p:nvPr/>
        </p:nvSpPr>
        <p:spPr>
          <a:xfrm>
            <a:off x="5422006" y="3723694"/>
            <a:ext cx="540000" cy="540000"/>
          </a:xfrm>
          <a:prstGeom prst="ellipse">
            <a:avLst/>
          </a:prstGeom>
          <a:ln>
            <a:noFill/>
          </a:ln>
          <a:effectLst>
            <a:glow rad="139700">
              <a:schemeClr val="accent2">
                <a:satMod val="175000"/>
                <a:alpha val="40000"/>
              </a:schemeClr>
            </a:glow>
            <a:outerShdw blurRad="76200" dir="13500000" sy="23000" kx="1200000" algn="br" rotWithShape="0">
              <a:prstClr val="black">
                <a:alpha val="20000"/>
              </a:prstClr>
            </a:outerShdw>
          </a:effectLst>
          <a:scene3d>
            <a:camera prst="perspectiveRight"/>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800" dirty="0"/>
              <a:t>3</a:t>
            </a:r>
          </a:p>
        </p:txBody>
      </p:sp>
      <p:sp>
        <p:nvSpPr>
          <p:cNvPr id="36" name="Elipse 35">
            <a:extLst>
              <a:ext uri="{FF2B5EF4-FFF2-40B4-BE49-F238E27FC236}">
                <a16:creationId xmlns:a16="http://schemas.microsoft.com/office/drawing/2014/main" id="{4C2DB533-9E30-4B78-B330-88503591E950}"/>
              </a:ext>
            </a:extLst>
          </p:cNvPr>
          <p:cNvSpPr/>
          <p:nvPr/>
        </p:nvSpPr>
        <p:spPr>
          <a:xfrm>
            <a:off x="5411728" y="4967136"/>
            <a:ext cx="540000" cy="540000"/>
          </a:xfrm>
          <a:prstGeom prst="ellipse">
            <a:avLst/>
          </a:prstGeom>
          <a:ln>
            <a:noFill/>
          </a:ln>
          <a:effectLst>
            <a:glow rad="139700">
              <a:schemeClr val="accent2">
                <a:satMod val="175000"/>
                <a:alpha val="40000"/>
              </a:schemeClr>
            </a:glow>
            <a:outerShdw blurRad="76200" dir="13500000" sy="23000" kx="1200000" algn="br" rotWithShape="0">
              <a:prstClr val="black">
                <a:alpha val="20000"/>
              </a:prstClr>
            </a:outerShdw>
          </a:effectLst>
          <a:scene3d>
            <a:camera prst="perspectiveRight"/>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800" dirty="0"/>
              <a:t>4</a:t>
            </a:r>
          </a:p>
        </p:txBody>
      </p:sp>
      <p:sp>
        <p:nvSpPr>
          <p:cNvPr id="11" name="Signo de multiplicación 10">
            <a:extLst>
              <a:ext uri="{FF2B5EF4-FFF2-40B4-BE49-F238E27FC236}">
                <a16:creationId xmlns:a16="http://schemas.microsoft.com/office/drawing/2014/main" id="{A5A037BA-5A9E-41ED-815C-A8EAAC1FD16A}"/>
              </a:ext>
            </a:extLst>
          </p:cNvPr>
          <p:cNvSpPr/>
          <p:nvPr/>
        </p:nvSpPr>
        <p:spPr>
          <a:xfrm>
            <a:off x="4274343" y="2182169"/>
            <a:ext cx="238125" cy="261937"/>
          </a:xfrm>
          <a:prstGeom prst="mathMultiply">
            <a:avLst>
              <a:gd name="adj1" fmla="val 9520"/>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cxnSp>
        <p:nvCxnSpPr>
          <p:cNvPr id="13" name="Conector recto 12">
            <a:extLst>
              <a:ext uri="{FF2B5EF4-FFF2-40B4-BE49-F238E27FC236}">
                <a16:creationId xmlns:a16="http://schemas.microsoft.com/office/drawing/2014/main" id="{92B90770-7DFC-4077-AFFA-B7AFB2CD362B}"/>
              </a:ext>
            </a:extLst>
          </p:cNvPr>
          <p:cNvCxnSpPr>
            <a:cxnSpLocks/>
          </p:cNvCxnSpPr>
          <p:nvPr/>
        </p:nvCxnSpPr>
        <p:spPr>
          <a:xfrm flipH="1">
            <a:off x="661987" y="2313137"/>
            <a:ext cx="3731418" cy="218134"/>
          </a:xfrm>
          <a:prstGeom prst="line">
            <a:avLst/>
          </a:prstGeom>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F24B48F4-2652-4AC8-903E-420A970C80E1}"/>
              </a:ext>
            </a:extLst>
          </p:cNvPr>
          <p:cNvSpPr txBox="1"/>
          <p:nvPr/>
        </p:nvSpPr>
        <p:spPr>
          <a:xfrm>
            <a:off x="4946940" y="315072"/>
            <a:ext cx="3773201"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Ejemplo</a:t>
            </a:r>
            <a:endParaRPr lang="es-AR" sz="2800" dirty="0">
              <a:solidFill>
                <a:schemeClr val="tx1">
                  <a:lumMod val="65000"/>
                  <a:lumOff val="35000"/>
                </a:schemeClr>
              </a:solidFill>
            </a:endParaRPr>
          </a:p>
        </p:txBody>
      </p:sp>
    </p:spTree>
    <p:extLst>
      <p:ext uri="{BB962C8B-B14F-4D97-AF65-F5344CB8AC3E}">
        <p14:creationId xmlns:p14="http://schemas.microsoft.com/office/powerpoint/2010/main" val="301119347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0" grpId="0" animBg="1"/>
      <p:bldP spid="21" grpId="0" animBg="1"/>
      <p:bldP spid="29" grpId="0" animBg="1"/>
      <p:bldP spid="31" grpId="0" animBg="1"/>
      <p:bldP spid="33" grpId="0" animBg="1"/>
      <p:bldP spid="34" grpId="0" animBg="1"/>
      <p:bldP spid="35" grpId="0" animBg="1"/>
      <p:bldP spid="36" grpId="0" animBg="1"/>
      <p:bldP spid="1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
            <a:extLst>
              <a:ext uri="{FF2B5EF4-FFF2-40B4-BE49-F238E27FC236}">
                <a16:creationId xmlns:a16="http://schemas.microsoft.com/office/drawing/2014/main" id="{00000000-0008-0000-0300-000002000000}"/>
              </a:ext>
            </a:extLst>
          </p:cNvPr>
          <p:cNvPicPr>
            <a:picLocks noChangeAspect="1" noChangeArrowheads="1"/>
          </p:cNvPicPr>
          <p:nvPr/>
        </p:nvPicPr>
        <p:blipFill>
          <a:blip r:embed="rId3" cstate="print"/>
          <a:srcRect/>
          <a:stretch>
            <a:fillRect/>
          </a:stretch>
        </p:blipFill>
        <p:spPr bwMode="auto">
          <a:xfrm>
            <a:off x="135083" y="80333"/>
            <a:ext cx="4676775" cy="6296025"/>
          </a:xfrm>
          <a:prstGeom prst="rect">
            <a:avLst/>
          </a:prstGeom>
          <a:noFill/>
          <a:ln w="9525">
            <a:noFill/>
            <a:miter lim="800000"/>
            <a:headEnd/>
            <a:tailEnd/>
          </a:ln>
        </p:spPr>
      </p:pic>
      <p:sp>
        <p:nvSpPr>
          <p:cNvPr id="2" name="Signo de multiplicación 1">
            <a:extLst>
              <a:ext uri="{FF2B5EF4-FFF2-40B4-BE49-F238E27FC236}">
                <a16:creationId xmlns:a16="http://schemas.microsoft.com/office/drawing/2014/main" id="{4EF203AE-1E9F-4877-9571-FFBAEA330B47}"/>
              </a:ext>
            </a:extLst>
          </p:cNvPr>
          <p:cNvSpPr/>
          <p:nvPr/>
        </p:nvSpPr>
        <p:spPr>
          <a:xfrm>
            <a:off x="542925" y="2400303"/>
            <a:ext cx="238125" cy="261937"/>
          </a:xfrm>
          <a:prstGeom prst="mathMultiply">
            <a:avLst>
              <a:gd name="adj1" fmla="val 9520"/>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4">
            <a:duotone>
              <a:prstClr val="black"/>
              <a:srgbClr val="FF0000">
                <a:tint val="45000"/>
                <a:satMod val="400000"/>
              </a:srgbClr>
            </a:duotone>
            <a:alphaModFix amt="62000"/>
            <a:extLst>
              <a:ext uri="{BEBA8EAE-BF5A-486C-A8C5-ECC9F3942E4B}">
                <a14:imgProps xmlns:a14="http://schemas.microsoft.com/office/drawing/2010/main">
                  <a14:imgLayer r:embed="rId5">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6">
              <a:alphaModFix amt="50000"/>
            </a:blip>
            <a:srcRect l="15693" t="31624" r="25546" b="30133"/>
            <a:stretch/>
          </p:blipFill>
          <p:spPr>
            <a:xfrm>
              <a:off x="11311846" y="6376358"/>
              <a:ext cx="880154" cy="477359"/>
            </a:xfrm>
            <a:prstGeom prst="rect">
              <a:avLst/>
            </a:prstGeom>
          </p:spPr>
        </p:pic>
      </p:grpSp>
      <p:sp>
        <p:nvSpPr>
          <p:cNvPr id="20" name="Rectángulo 19">
            <a:extLst>
              <a:ext uri="{FF2B5EF4-FFF2-40B4-BE49-F238E27FC236}">
                <a16:creationId xmlns:a16="http://schemas.microsoft.com/office/drawing/2014/main" id="{7F3A09EA-A765-4F98-83B3-2154B947F402}"/>
              </a:ext>
            </a:extLst>
          </p:cNvPr>
          <p:cNvSpPr/>
          <p:nvPr/>
        </p:nvSpPr>
        <p:spPr>
          <a:xfrm>
            <a:off x="6095999" y="1403348"/>
            <a:ext cx="5820237" cy="47387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Suponiendo un caso donde </a:t>
            </a:r>
            <a:r>
              <a:rPr lang="el-GR" sz="2000" dirty="0">
                <a:ea typeface="Cambria Math" panose="02040503050406030204" pitchFamily="18" charset="0"/>
              </a:rPr>
              <a:t>ε</a:t>
            </a:r>
            <a:r>
              <a:rPr lang="es-AR" sz="2000" dirty="0">
                <a:latin typeface="Rockwell" panose="02060603020205020403" pitchFamily="18" charset="0"/>
                <a:ea typeface="Cambria Math" panose="02040503050406030204" pitchFamily="18" charset="0"/>
              </a:rPr>
              <a:t> ≥ </a:t>
            </a:r>
            <a:r>
              <a:rPr lang="es-AR" sz="2000" dirty="0">
                <a:ea typeface="Cambria Math" panose="02040503050406030204" pitchFamily="18" charset="0"/>
              </a:rPr>
              <a:t>5 </a:t>
            </a:r>
            <a:endParaRPr lang="es-AR" sz="2000" dirty="0"/>
          </a:p>
        </p:txBody>
      </p:sp>
      <p:sp>
        <p:nvSpPr>
          <p:cNvPr id="29" name="Rectángulo 28">
            <a:extLst>
              <a:ext uri="{FF2B5EF4-FFF2-40B4-BE49-F238E27FC236}">
                <a16:creationId xmlns:a16="http://schemas.microsoft.com/office/drawing/2014/main" id="{B9917EF0-59AF-4C5B-96E5-58CCE0D4C5F3}"/>
              </a:ext>
            </a:extLst>
          </p:cNvPr>
          <p:cNvSpPr/>
          <p:nvPr/>
        </p:nvSpPr>
        <p:spPr>
          <a:xfrm>
            <a:off x="6095999" y="2097332"/>
            <a:ext cx="5820238" cy="47387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Se unen los puntos de z% obtenido y de </a:t>
            </a:r>
            <a:r>
              <a:rPr lang="el-GR" sz="2000" dirty="0">
                <a:ea typeface="Cambria Math" panose="02040503050406030204" pitchFamily="18" charset="0"/>
              </a:rPr>
              <a:t>ε</a:t>
            </a:r>
            <a:r>
              <a:rPr lang="es-AR" sz="2000" dirty="0">
                <a:latin typeface="Rockwell" panose="02060603020205020403" pitchFamily="18" charset="0"/>
                <a:ea typeface="Cambria Math" panose="02040503050406030204" pitchFamily="18" charset="0"/>
              </a:rPr>
              <a:t> ≥ </a:t>
            </a:r>
            <a:r>
              <a:rPr lang="es-AR" sz="2000" dirty="0">
                <a:ea typeface="Cambria Math" panose="02040503050406030204" pitchFamily="18" charset="0"/>
              </a:rPr>
              <a:t>5</a:t>
            </a:r>
            <a:r>
              <a:rPr lang="es-AR" sz="2000" dirty="0"/>
              <a:t> </a:t>
            </a:r>
          </a:p>
        </p:txBody>
      </p:sp>
      <p:sp>
        <p:nvSpPr>
          <p:cNvPr id="31" name="Rectángulo 30">
            <a:extLst>
              <a:ext uri="{FF2B5EF4-FFF2-40B4-BE49-F238E27FC236}">
                <a16:creationId xmlns:a16="http://schemas.microsoft.com/office/drawing/2014/main" id="{D617B633-B2F9-4FDA-AC66-A60D9B1871AF}"/>
              </a:ext>
            </a:extLst>
          </p:cNvPr>
          <p:cNvSpPr/>
          <p:nvPr/>
        </p:nvSpPr>
        <p:spPr>
          <a:xfrm>
            <a:off x="6095997" y="2791316"/>
            <a:ext cx="5820239" cy="106323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Se lee en el eje n la cantidad de muestras a realizar (en el caso del ejemplo se deben realizar 15 muestras en total)</a:t>
            </a:r>
          </a:p>
        </p:txBody>
      </p:sp>
      <p:sp>
        <p:nvSpPr>
          <p:cNvPr id="33" name="Rectángulo 32">
            <a:extLst>
              <a:ext uri="{FF2B5EF4-FFF2-40B4-BE49-F238E27FC236}">
                <a16:creationId xmlns:a16="http://schemas.microsoft.com/office/drawing/2014/main" id="{EDB1B226-6AEA-4CCF-A9D0-919D1631579B}"/>
              </a:ext>
            </a:extLst>
          </p:cNvPr>
          <p:cNvSpPr/>
          <p:nvPr/>
        </p:nvSpPr>
        <p:spPr>
          <a:xfrm>
            <a:off x="6095999" y="4069753"/>
            <a:ext cx="5820240" cy="66289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Se realizan las muestras faltantes y se repite todo el procedimiento</a:t>
            </a:r>
          </a:p>
        </p:txBody>
      </p:sp>
      <p:sp>
        <p:nvSpPr>
          <p:cNvPr id="11" name="Signo de multiplicación 10">
            <a:extLst>
              <a:ext uri="{FF2B5EF4-FFF2-40B4-BE49-F238E27FC236}">
                <a16:creationId xmlns:a16="http://schemas.microsoft.com/office/drawing/2014/main" id="{A5A037BA-5A9E-41ED-815C-A8EAAC1FD16A}"/>
              </a:ext>
            </a:extLst>
          </p:cNvPr>
          <p:cNvSpPr/>
          <p:nvPr/>
        </p:nvSpPr>
        <p:spPr>
          <a:xfrm>
            <a:off x="4274342" y="1535906"/>
            <a:ext cx="238125" cy="261937"/>
          </a:xfrm>
          <a:prstGeom prst="mathMultiply">
            <a:avLst>
              <a:gd name="adj1" fmla="val 9520"/>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cxnSp>
        <p:nvCxnSpPr>
          <p:cNvPr id="13" name="Conector recto 12">
            <a:extLst>
              <a:ext uri="{FF2B5EF4-FFF2-40B4-BE49-F238E27FC236}">
                <a16:creationId xmlns:a16="http://schemas.microsoft.com/office/drawing/2014/main" id="{92B90770-7DFC-4077-AFFA-B7AFB2CD362B}"/>
              </a:ext>
            </a:extLst>
          </p:cNvPr>
          <p:cNvCxnSpPr>
            <a:cxnSpLocks/>
          </p:cNvCxnSpPr>
          <p:nvPr/>
        </p:nvCxnSpPr>
        <p:spPr>
          <a:xfrm flipH="1">
            <a:off x="661987" y="1666875"/>
            <a:ext cx="3731418" cy="864396"/>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Conector recto 4">
            <a:extLst>
              <a:ext uri="{FF2B5EF4-FFF2-40B4-BE49-F238E27FC236}">
                <a16:creationId xmlns:a16="http://schemas.microsoft.com/office/drawing/2014/main" id="{014C0F2F-FD99-4080-B762-86F01AC4054A}"/>
              </a:ext>
            </a:extLst>
          </p:cNvPr>
          <p:cNvCxnSpPr>
            <a:cxnSpLocks/>
          </p:cNvCxnSpPr>
          <p:nvPr/>
        </p:nvCxnSpPr>
        <p:spPr>
          <a:xfrm flipH="1">
            <a:off x="373208" y="1666875"/>
            <a:ext cx="4020198" cy="196276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40486BC0-FD5A-4AE8-BA35-443212EBD6CE}"/>
              </a:ext>
            </a:extLst>
          </p:cNvPr>
          <p:cNvSpPr txBox="1"/>
          <p:nvPr/>
        </p:nvSpPr>
        <p:spPr>
          <a:xfrm>
            <a:off x="4946940" y="315072"/>
            <a:ext cx="3773201"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Ejemplo</a:t>
            </a:r>
            <a:endParaRPr lang="es-AR" sz="2800" dirty="0">
              <a:solidFill>
                <a:schemeClr val="tx1">
                  <a:lumMod val="65000"/>
                  <a:lumOff val="35000"/>
                </a:schemeClr>
              </a:solidFill>
            </a:endParaRPr>
          </a:p>
        </p:txBody>
      </p:sp>
    </p:spTree>
    <p:extLst>
      <p:ext uri="{BB962C8B-B14F-4D97-AF65-F5344CB8AC3E}">
        <p14:creationId xmlns:p14="http://schemas.microsoft.com/office/powerpoint/2010/main" val="277224519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1" grpId="0" animBg="1"/>
      <p:bldP spid="3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Tamaño de la Muestra</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2" name="Rectángulo 1">
            <a:extLst>
              <a:ext uri="{FF2B5EF4-FFF2-40B4-BE49-F238E27FC236}">
                <a16:creationId xmlns:a16="http://schemas.microsoft.com/office/drawing/2014/main" id="{231D9B51-DE67-46A5-9399-5AB4FE5FDFC6}"/>
              </a:ext>
            </a:extLst>
          </p:cNvPr>
          <p:cNvSpPr/>
          <p:nvPr/>
        </p:nvSpPr>
        <p:spPr>
          <a:xfrm>
            <a:off x="267120" y="1388806"/>
            <a:ext cx="11591937" cy="12699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Cabe destacar que ambos procedimientos para la validación estadística de las muestras pueden realizarse tanto para tiempos breves como para tiempos no breves.</a:t>
            </a:r>
          </a:p>
        </p:txBody>
      </p:sp>
      <p:sp>
        <p:nvSpPr>
          <p:cNvPr id="15" name="Rectángulo 14">
            <a:extLst>
              <a:ext uri="{FF2B5EF4-FFF2-40B4-BE49-F238E27FC236}">
                <a16:creationId xmlns:a16="http://schemas.microsoft.com/office/drawing/2014/main" id="{3BB0B3E9-1160-4FE5-9A3C-6243380ACFCB}"/>
              </a:ext>
            </a:extLst>
          </p:cNvPr>
          <p:cNvSpPr/>
          <p:nvPr/>
        </p:nvSpPr>
        <p:spPr>
          <a:xfrm>
            <a:off x="267119" y="2915151"/>
            <a:ext cx="11591937" cy="12699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También puede validarse estadísticamente cada elemento por separado o todo el ciclo junto.</a:t>
            </a:r>
          </a:p>
        </p:txBody>
      </p:sp>
      <p:sp>
        <p:nvSpPr>
          <p:cNvPr id="3" name="Rectángulo 2">
            <a:extLst>
              <a:ext uri="{FF2B5EF4-FFF2-40B4-BE49-F238E27FC236}">
                <a16:creationId xmlns:a16="http://schemas.microsoft.com/office/drawing/2014/main" id="{A4B35C2E-54D3-4797-8742-C633CC7A4BD6}"/>
              </a:ext>
            </a:extLst>
          </p:cNvPr>
          <p:cNvSpPr/>
          <p:nvPr/>
        </p:nvSpPr>
        <p:spPr>
          <a:xfrm>
            <a:off x="617810" y="4441105"/>
            <a:ext cx="11241247" cy="705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Si se elige validar elemento a elemento, la confianza estadística del muestreo será mayor.</a:t>
            </a:r>
          </a:p>
        </p:txBody>
      </p:sp>
      <p:sp>
        <p:nvSpPr>
          <p:cNvPr id="20" name="Rectángulo 19">
            <a:extLst>
              <a:ext uri="{FF2B5EF4-FFF2-40B4-BE49-F238E27FC236}">
                <a16:creationId xmlns:a16="http://schemas.microsoft.com/office/drawing/2014/main" id="{28CC5249-9CA4-4495-BEE8-4A468262E027}"/>
              </a:ext>
            </a:extLst>
          </p:cNvPr>
          <p:cNvSpPr/>
          <p:nvPr/>
        </p:nvSpPr>
        <p:spPr>
          <a:xfrm>
            <a:off x="617810" y="5402671"/>
            <a:ext cx="11241247" cy="705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En caso de un elemento requerir más muestras, se deberá repetir el procedimiento para TODOS los elementos, hayan fallado el test estadístico o no.</a:t>
            </a:r>
          </a:p>
        </p:txBody>
      </p:sp>
    </p:spTree>
    <p:extLst>
      <p:ext uri="{BB962C8B-B14F-4D97-AF65-F5344CB8AC3E}">
        <p14:creationId xmlns:p14="http://schemas.microsoft.com/office/powerpoint/2010/main" val="299582536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C8CD620-2EBA-4D3E-BD52-C8D663F64F07}"/>
              </a:ext>
            </a:extLst>
          </p:cNvPr>
          <p:cNvSpPr>
            <a:spLocks noGrp="1"/>
          </p:cNvSpPr>
          <p:nvPr>
            <p:ph type="sldNum" sz="quarter" idx="12"/>
          </p:nvPr>
        </p:nvSpPr>
        <p:spPr/>
        <p:txBody>
          <a:bodyPr/>
          <a:lstStyle/>
          <a:p>
            <a:fld id="{CE14F34A-BFEE-3F4F-9931-32C7D0CB2CAC}" type="slidenum">
              <a:rPr lang="es-ES_tradnl" smtClean="0"/>
              <a:t>44</a:t>
            </a:fld>
            <a:endParaRPr lang="es-ES_tradnl"/>
          </a:p>
        </p:txBody>
      </p:sp>
      <p:sp>
        <p:nvSpPr>
          <p:cNvPr id="5" name="Marcador de número de diapositiva 5">
            <a:extLst>
              <a:ext uri="{FF2B5EF4-FFF2-40B4-BE49-F238E27FC236}">
                <a16:creationId xmlns:a16="http://schemas.microsoft.com/office/drawing/2014/main" id="{43FF463A-8C5C-4715-A993-55B59B879D6B}"/>
              </a:ext>
            </a:extLst>
          </p:cNvPr>
          <p:cNvSpPr txBox="1">
            <a:spLocks/>
          </p:cNvSpPr>
          <p:nvPr/>
        </p:nvSpPr>
        <p:spPr>
          <a:xfrm>
            <a:off x="8969943" y="6356352"/>
            <a:ext cx="2743200" cy="365125"/>
          </a:xfrm>
          <a:prstGeom prst="rect">
            <a:avLst/>
          </a:prstGeom>
        </p:spPr>
        <p:txBody>
          <a:bodyPr vert="horz" lIns="91440" tIns="45720" rIns="91440" bIns="45720" rtlCol="0" anchor="ctr"/>
          <a:lstStyle>
            <a:defPPr>
              <a:defRPr lang="es-AR"/>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E14F34A-BFEE-3F4F-9931-32C7D0CB2CAC}" type="slidenum">
              <a:rPr lang="es-ES_tradnl" smtClean="0"/>
              <a:pPr/>
              <a:t>44</a:t>
            </a:fld>
            <a:endParaRPr lang="es-ES_tradnl" dirty="0"/>
          </a:p>
        </p:txBody>
      </p:sp>
      <p:sp>
        <p:nvSpPr>
          <p:cNvPr id="8" name="CuadroTexto 7">
            <a:extLst>
              <a:ext uri="{FF2B5EF4-FFF2-40B4-BE49-F238E27FC236}">
                <a16:creationId xmlns:a16="http://schemas.microsoft.com/office/drawing/2014/main" id="{B4A44BA6-2CC3-4DC4-B311-A87CE6CFB891}"/>
              </a:ext>
            </a:extLst>
          </p:cNvPr>
          <p:cNvSpPr txBox="1"/>
          <p:nvPr/>
        </p:nvSpPr>
        <p:spPr>
          <a:xfrm>
            <a:off x="1701543" y="1839296"/>
            <a:ext cx="8640000" cy="76944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AR" sz="4400" dirty="0"/>
              <a:t>Procedimiento y Definiciones</a:t>
            </a:r>
          </a:p>
        </p:txBody>
      </p:sp>
      <p:sp>
        <p:nvSpPr>
          <p:cNvPr id="9" name="Rectángulo 8">
            <a:extLst>
              <a:ext uri="{FF2B5EF4-FFF2-40B4-BE49-F238E27FC236}">
                <a16:creationId xmlns:a16="http://schemas.microsoft.com/office/drawing/2014/main" id="{7D88A465-654E-4B59-8AF3-93EA53AC5CE4}"/>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pic>
        <p:nvPicPr>
          <p:cNvPr id="10" name="Imagen 9">
            <a:extLst>
              <a:ext uri="{FF2B5EF4-FFF2-40B4-BE49-F238E27FC236}">
                <a16:creationId xmlns:a16="http://schemas.microsoft.com/office/drawing/2014/main" id="{98F84D2A-5A34-4B91-8D81-DED7815BD234}"/>
              </a:ext>
            </a:extLst>
          </p:cNvPr>
          <p:cNvPicPr>
            <a:picLocks noChangeAspect="1"/>
          </p:cNvPicPr>
          <p:nvPr/>
        </p:nvPicPr>
        <p:blipFill rotWithShape="1">
          <a:blip r:embed="rId2">
            <a:alphaModFix amt="50000"/>
          </a:blip>
          <a:srcRect l="15693" t="31624" r="25546" b="30133"/>
          <a:stretch/>
        </p:blipFill>
        <p:spPr>
          <a:xfrm>
            <a:off x="11311846" y="6376358"/>
            <a:ext cx="880154" cy="477359"/>
          </a:xfrm>
          <a:prstGeom prst="rect">
            <a:avLst/>
          </a:prstGeom>
        </p:spPr>
      </p:pic>
      <p:grpSp>
        <p:nvGrpSpPr>
          <p:cNvPr id="11" name="Grupo 10">
            <a:extLst>
              <a:ext uri="{FF2B5EF4-FFF2-40B4-BE49-F238E27FC236}">
                <a16:creationId xmlns:a16="http://schemas.microsoft.com/office/drawing/2014/main" id="{9469D30D-7C31-4227-8BA8-628FD00D9DCD}"/>
              </a:ext>
            </a:extLst>
          </p:cNvPr>
          <p:cNvGrpSpPr/>
          <p:nvPr/>
        </p:nvGrpSpPr>
        <p:grpSpPr>
          <a:xfrm>
            <a:off x="0" y="4141"/>
            <a:ext cx="12192000" cy="6849718"/>
            <a:chOff x="0" y="4141"/>
            <a:chExt cx="12192000" cy="6849718"/>
          </a:xfrm>
        </p:grpSpPr>
        <p:grpSp>
          <p:nvGrpSpPr>
            <p:cNvPr id="12" name="Grupo 11">
              <a:extLst>
                <a:ext uri="{FF2B5EF4-FFF2-40B4-BE49-F238E27FC236}">
                  <a16:creationId xmlns:a16="http://schemas.microsoft.com/office/drawing/2014/main" id="{572EB0A4-A7B5-4FE7-9FA5-E64397F97F99}"/>
                </a:ext>
              </a:extLst>
            </p:cNvPr>
            <p:cNvGrpSpPr/>
            <p:nvPr/>
          </p:nvGrpSpPr>
          <p:grpSpPr>
            <a:xfrm>
              <a:off x="0" y="4141"/>
              <a:ext cx="12192000" cy="6849718"/>
              <a:chOff x="0" y="4141"/>
              <a:chExt cx="12192000" cy="6849718"/>
            </a:xfrm>
          </p:grpSpPr>
          <p:sp>
            <p:nvSpPr>
              <p:cNvPr id="14" name="Rectángulo 13">
                <a:extLst>
                  <a:ext uri="{FF2B5EF4-FFF2-40B4-BE49-F238E27FC236}">
                    <a16:creationId xmlns:a16="http://schemas.microsoft.com/office/drawing/2014/main" id="{BEDF9398-6224-4D9B-9CAA-1950A8DED444}"/>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15" name="Rectángulo 14">
                <a:extLst>
                  <a:ext uri="{FF2B5EF4-FFF2-40B4-BE49-F238E27FC236}">
                    <a16:creationId xmlns:a16="http://schemas.microsoft.com/office/drawing/2014/main" id="{7C697F25-AE48-4BEB-8D9A-FAF3116E68B3}"/>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16" name="Rectángulo 15">
                <a:extLst>
                  <a:ext uri="{FF2B5EF4-FFF2-40B4-BE49-F238E27FC236}">
                    <a16:creationId xmlns:a16="http://schemas.microsoft.com/office/drawing/2014/main" id="{6D0CFC36-12F2-42D6-B538-F6045F29D2A6}"/>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13" name="Imagen 12">
              <a:extLst>
                <a:ext uri="{FF2B5EF4-FFF2-40B4-BE49-F238E27FC236}">
                  <a16:creationId xmlns:a16="http://schemas.microsoft.com/office/drawing/2014/main" id="{8AF80697-4D19-4C3F-8D2E-169AA833643A}"/>
                </a:ext>
              </a:extLst>
            </p:cNvPr>
            <p:cNvPicPr>
              <a:picLocks noChangeAspect="1"/>
            </p:cNvPicPr>
            <p:nvPr/>
          </p:nvPicPr>
          <p:blipFill rotWithShape="1">
            <a:blip r:embed="rId2">
              <a:alphaModFix amt="50000"/>
            </a:blip>
            <a:srcRect l="15693" t="31624" r="25546" b="30133"/>
            <a:stretch/>
          </p:blipFill>
          <p:spPr>
            <a:xfrm>
              <a:off x="11311846" y="6376358"/>
              <a:ext cx="880154" cy="477359"/>
            </a:xfrm>
            <a:prstGeom prst="rect">
              <a:avLst/>
            </a:prstGeom>
          </p:spPr>
        </p:pic>
      </p:grpSp>
      <p:sp>
        <p:nvSpPr>
          <p:cNvPr id="2" name="Lágrima 1">
            <a:extLst>
              <a:ext uri="{FF2B5EF4-FFF2-40B4-BE49-F238E27FC236}">
                <a16:creationId xmlns:a16="http://schemas.microsoft.com/office/drawing/2014/main" id="{3D0A1A27-0DCB-424F-8E6E-4E96F38147FF}"/>
              </a:ext>
            </a:extLst>
          </p:cNvPr>
          <p:cNvSpPr/>
          <p:nvPr/>
        </p:nvSpPr>
        <p:spPr>
          <a:xfrm>
            <a:off x="571500" y="1839296"/>
            <a:ext cx="828000" cy="828000"/>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 name="CuadroTexto 2">
            <a:extLst>
              <a:ext uri="{FF2B5EF4-FFF2-40B4-BE49-F238E27FC236}">
                <a16:creationId xmlns:a16="http://schemas.microsoft.com/office/drawing/2014/main" id="{C4D35875-1ABA-4379-866C-6BC66621B8CB}"/>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Tiempos cronometrados</a:t>
            </a:r>
            <a:endParaRPr lang="es-AR" sz="2800" dirty="0">
              <a:solidFill>
                <a:schemeClr val="tx1">
                  <a:lumMod val="65000"/>
                  <a:lumOff val="35000"/>
                </a:schemeClr>
              </a:solidFill>
            </a:endParaRPr>
          </a:p>
        </p:txBody>
      </p:sp>
      <p:pic>
        <p:nvPicPr>
          <p:cNvPr id="19" name="Picture 4" descr="Resultado de imagen para utn ba">
            <a:extLst>
              <a:ext uri="{FF2B5EF4-FFF2-40B4-BE49-F238E27FC236}">
                <a16:creationId xmlns:a16="http://schemas.microsoft.com/office/drawing/2014/main" id="{C451A1F0-9751-4DF2-B66B-068ECAA5975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B6B03C43-FCFF-4E7F-9761-F3E2D4C82E59}"/>
              </a:ext>
            </a:extLst>
          </p:cNvPr>
          <p:cNvSpPr txBox="1"/>
          <p:nvPr/>
        </p:nvSpPr>
        <p:spPr>
          <a:xfrm>
            <a:off x="1701543" y="2775482"/>
            <a:ext cx="8640000" cy="76944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AR" sz="4400" dirty="0"/>
              <a:t>Ritmo de Trabajo</a:t>
            </a:r>
          </a:p>
        </p:txBody>
      </p:sp>
      <p:sp>
        <p:nvSpPr>
          <p:cNvPr id="7" name="Lágrima 6">
            <a:extLst>
              <a:ext uri="{FF2B5EF4-FFF2-40B4-BE49-F238E27FC236}">
                <a16:creationId xmlns:a16="http://schemas.microsoft.com/office/drawing/2014/main" id="{C7741045-ED90-4C8C-AC0A-6476B0F9B461}"/>
              </a:ext>
            </a:extLst>
          </p:cNvPr>
          <p:cNvSpPr/>
          <p:nvPr/>
        </p:nvSpPr>
        <p:spPr>
          <a:xfrm>
            <a:off x="571500" y="2775482"/>
            <a:ext cx="828000" cy="828000"/>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7" name="CuadroTexto 16">
            <a:extLst>
              <a:ext uri="{FF2B5EF4-FFF2-40B4-BE49-F238E27FC236}">
                <a16:creationId xmlns:a16="http://schemas.microsoft.com/office/drawing/2014/main" id="{8649CF4D-C46A-485F-B39F-A59881124548}"/>
              </a:ext>
            </a:extLst>
          </p:cNvPr>
          <p:cNvSpPr txBox="1"/>
          <p:nvPr/>
        </p:nvSpPr>
        <p:spPr>
          <a:xfrm>
            <a:off x="1701543" y="3711668"/>
            <a:ext cx="8640000" cy="76944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AR" sz="4400" dirty="0"/>
              <a:t>Tamaño de la Muestra</a:t>
            </a:r>
          </a:p>
        </p:txBody>
      </p:sp>
      <p:sp>
        <p:nvSpPr>
          <p:cNvPr id="21" name="Lágrima 20">
            <a:extLst>
              <a:ext uri="{FF2B5EF4-FFF2-40B4-BE49-F238E27FC236}">
                <a16:creationId xmlns:a16="http://schemas.microsoft.com/office/drawing/2014/main" id="{480E5815-2393-435E-82D5-F293FE019578}"/>
              </a:ext>
            </a:extLst>
          </p:cNvPr>
          <p:cNvSpPr/>
          <p:nvPr/>
        </p:nvSpPr>
        <p:spPr>
          <a:xfrm>
            <a:off x="571500" y="3711668"/>
            <a:ext cx="828000" cy="828000"/>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8" name="CuadroTexto 17">
            <a:extLst>
              <a:ext uri="{FF2B5EF4-FFF2-40B4-BE49-F238E27FC236}">
                <a16:creationId xmlns:a16="http://schemas.microsoft.com/office/drawing/2014/main" id="{2498E414-B682-4EA7-810D-07749A8C3468}"/>
              </a:ext>
            </a:extLst>
          </p:cNvPr>
          <p:cNvSpPr txBox="1"/>
          <p:nvPr/>
        </p:nvSpPr>
        <p:spPr>
          <a:xfrm>
            <a:off x="1701543" y="4647854"/>
            <a:ext cx="8640000" cy="76944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MX" sz="4400" dirty="0"/>
              <a:t>Pliegos de Toma de Datos</a:t>
            </a:r>
          </a:p>
        </p:txBody>
      </p:sp>
      <p:sp>
        <p:nvSpPr>
          <p:cNvPr id="23" name="Lágrima 22">
            <a:extLst>
              <a:ext uri="{FF2B5EF4-FFF2-40B4-BE49-F238E27FC236}">
                <a16:creationId xmlns:a16="http://schemas.microsoft.com/office/drawing/2014/main" id="{CC26EDCA-9983-4EA6-84E5-9082F3D51F54}"/>
              </a:ext>
            </a:extLst>
          </p:cNvPr>
          <p:cNvSpPr/>
          <p:nvPr/>
        </p:nvSpPr>
        <p:spPr>
          <a:xfrm>
            <a:off x="571500" y="4647854"/>
            <a:ext cx="828000" cy="828000"/>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08994305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defPPr>
              <a:defRPr lang="es-AR"/>
            </a:defPPr>
            <a:lvl1pPr algn="ctr">
              <a:defRPr sz="4400">
                <a:solidFill>
                  <a:schemeClr val="tx1">
                    <a:lumMod val="65000"/>
                    <a:lumOff val="35000"/>
                  </a:schemeClr>
                </a:solidFill>
              </a:defRPr>
            </a:lvl1pPr>
          </a:lstStyle>
          <a:p>
            <a:r>
              <a:rPr lang="es-AR" dirty="0"/>
              <a:t>Pliegos de Toma de Datos</a:t>
            </a:r>
          </a:p>
        </p:txBody>
      </p:sp>
      <p:grpSp>
        <p:nvGrpSpPr>
          <p:cNvPr id="30" name="Grupo 29">
            <a:extLst>
              <a:ext uri="{FF2B5EF4-FFF2-40B4-BE49-F238E27FC236}">
                <a16:creationId xmlns:a16="http://schemas.microsoft.com/office/drawing/2014/main" id="{C6F8B36E-045A-4F96-A6E3-614230581483}"/>
              </a:ext>
            </a:extLst>
          </p:cNvPr>
          <p:cNvGrpSpPr/>
          <p:nvPr/>
        </p:nvGrpSpPr>
        <p:grpSpPr>
          <a:xfrm>
            <a:off x="0" y="4141"/>
            <a:ext cx="12192000" cy="6849718"/>
            <a:chOff x="0" y="4141"/>
            <a:chExt cx="12192000" cy="6849718"/>
          </a:xfrm>
        </p:grpSpPr>
        <p:grpSp>
          <p:nvGrpSpPr>
            <p:cNvPr id="31" name="Grupo 30">
              <a:extLst>
                <a:ext uri="{FF2B5EF4-FFF2-40B4-BE49-F238E27FC236}">
                  <a16:creationId xmlns:a16="http://schemas.microsoft.com/office/drawing/2014/main" id="{F4550908-8633-4EDB-85ED-53B600E979B3}"/>
                </a:ext>
              </a:extLst>
            </p:cNvPr>
            <p:cNvGrpSpPr/>
            <p:nvPr/>
          </p:nvGrpSpPr>
          <p:grpSpPr>
            <a:xfrm>
              <a:off x="0" y="4141"/>
              <a:ext cx="12192000" cy="6849718"/>
              <a:chOff x="0" y="4141"/>
              <a:chExt cx="12192000" cy="6849718"/>
            </a:xfrm>
          </p:grpSpPr>
          <p:sp>
            <p:nvSpPr>
              <p:cNvPr id="33" name="Rectángulo 32">
                <a:extLst>
                  <a:ext uri="{FF2B5EF4-FFF2-40B4-BE49-F238E27FC236}">
                    <a16:creationId xmlns:a16="http://schemas.microsoft.com/office/drawing/2014/main" id="{050EC418-21ED-4099-A616-64049AE82550}"/>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34" name="Rectángulo 33">
                <a:extLst>
                  <a:ext uri="{FF2B5EF4-FFF2-40B4-BE49-F238E27FC236}">
                    <a16:creationId xmlns:a16="http://schemas.microsoft.com/office/drawing/2014/main" id="{AEE46C8A-38C8-4DDA-8AB2-A41A6C880318}"/>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35" name="Rectángulo 34">
                <a:extLst>
                  <a:ext uri="{FF2B5EF4-FFF2-40B4-BE49-F238E27FC236}">
                    <a16:creationId xmlns:a16="http://schemas.microsoft.com/office/drawing/2014/main" id="{46FA439C-7EC5-4DCD-8CC0-7B6F1F956EA9}"/>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32" name="Imagen 31">
              <a:extLst>
                <a:ext uri="{FF2B5EF4-FFF2-40B4-BE49-F238E27FC236}">
                  <a16:creationId xmlns:a16="http://schemas.microsoft.com/office/drawing/2014/main" id="{904EA942-2B7D-4110-B887-3D53417850E8}"/>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6" name="Rectángulo 5">
            <a:extLst>
              <a:ext uri="{FF2B5EF4-FFF2-40B4-BE49-F238E27FC236}">
                <a16:creationId xmlns:a16="http://schemas.microsoft.com/office/drawing/2014/main" id="{62B4E373-76EE-4CCD-8395-09D810802886}"/>
              </a:ext>
            </a:extLst>
          </p:cNvPr>
          <p:cNvSpPr/>
          <p:nvPr/>
        </p:nvSpPr>
        <p:spPr>
          <a:xfrm>
            <a:off x="475375" y="3737720"/>
            <a:ext cx="5447125" cy="54501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Nombre y apellido del analista</a:t>
            </a:r>
          </a:p>
        </p:txBody>
      </p:sp>
      <p:sp>
        <p:nvSpPr>
          <p:cNvPr id="2" name="Rectángulo 1">
            <a:extLst>
              <a:ext uri="{FF2B5EF4-FFF2-40B4-BE49-F238E27FC236}">
                <a16:creationId xmlns:a16="http://schemas.microsoft.com/office/drawing/2014/main" id="{7AD68A98-BF14-4BC2-A4F3-C47A100D94D2}"/>
              </a:ext>
            </a:extLst>
          </p:cNvPr>
          <p:cNvSpPr/>
          <p:nvPr/>
        </p:nvSpPr>
        <p:spPr>
          <a:xfrm>
            <a:off x="701036" y="1754855"/>
            <a:ext cx="10524443" cy="111387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En cada formulario se debe confeccionar un encabezado que contenga los siguientes datos (como mínimo):</a:t>
            </a:r>
          </a:p>
        </p:txBody>
      </p:sp>
      <p:sp>
        <p:nvSpPr>
          <p:cNvPr id="4" name="Rectángulo 3">
            <a:extLst>
              <a:ext uri="{FF2B5EF4-FFF2-40B4-BE49-F238E27FC236}">
                <a16:creationId xmlns:a16="http://schemas.microsoft.com/office/drawing/2014/main" id="{E5EC69F1-3737-44DD-8F9C-0726FF1E33D4}"/>
              </a:ext>
            </a:extLst>
          </p:cNvPr>
          <p:cNvSpPr/>
          <p:nvPr/>
        </p:nvSpPr>
        <p:spPr>
          <a:xfrm>
            <a:off x="475376" y="3033598"/>
            <a:ext cx="5447125" cy="54501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Actividad objeto del estudio</a:t>
            </a:r>
          </a:p>
        </p:txBody>
      </p:sp>
      <p:sp>
        <p:nvSpPr>
          <p:cNvPr id="14" name="Rectángulo 13">
            <a:extLst>
              <a:ext uri="{FF2B5EF4-FFF2-40B4-BE49-F238E27FC236}">
                <a16:creationId xmlns:a16="http://schemas.microsoft.com/office/drawing/2014/main" id="{8AEAD35F-7ED5-4C36-AAA3-48D3093D3912}"/>
              </a:ext>
            </a:extLst>
          </p:cNvPr>
          <p:cNvSpPr/>
          <p:nvPr/>
        </p:nvSpPr>
        <p:spPr>
          <a:xfrm>
            <a:off x="475373" y="4446092"/>
            <a:ext cx="5447125" cy="54501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Fecha y hora del estudio</a:t>
            </a:r>
          </a:p>
        </p:txBody>
      </p:sp>
      <p:sp>
        <p:nvSpPr>
          <p:cNvPr id="15" name="Rectángulo 14">
            <a:extLst>
              <a:ext uri="{FF2B5EF4-FFF2-40B4-BE49-F238E27FC236}">
                <a16:creationId xmlns:a16="http://schemas.microsoft.com/office/drawing/2014/main" id="{4BB93151-3BED-4DD9-BDE9-886F3DFB1AB8}"/>
              </a:ext>
            </a:extLst>
          </p:cNvPr>
          <p:cNvSpPr/>
          <p:nvPr/>
        </p:nvSpPr>
        <p:spPr>
          <a:xfrm>
            <a:off x="475372" y="5151346"/>
            <a:ext cx="5447125" cy="54501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Máquinas y herramientas utilizadas</a:t>
            </a:r>
          </a:p>
        </p:txBody>
      </p:sp>
      <p:sp>
        <p:nvSpPr>
          <p:cNvPr id="16" name="Rectángulo 15">
            <a:extLst>
              <a:ext uri="{FF2B5EF4-FFF2-40B4-BE49-F238E27FC236}">
                <a16:creationId xmlns:a16="http://schemas.microsoft.com/office/drawing/2014/main" id="{C167DC40-DFE8-4C7D-B5EC-410D11DEE95D}"/>
              </a:ext>
            </a:extLst>
          </p:cNvPr>
          <p:cNvSpPr/>
          <p:nvPr/>
        </p:nvSpPr>
        <p:spPr>
          <a:xfrm>
            <a:off x="6390466" y="3041910"/>
            <a:ext cx="5447125" cy="54501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Método utilizado</a:t>
            </a:r>
          </a:p>
        </p:txBody>
      </p:sp>
      <p:sp>
        <p:nvSpPr>
          <p:cNvPr id="17" name="Rectángulo 16">
            <a:extLst>
              <a:ext uri="{FF2B5EF4-FFF2-40B4-BE49-F238E27FC236}">
                <a16:creationId xmlns:a16="http://schemas.microsoft.com/office/drawing/2014/main" id="{A656CEED-3C53-4B58-9FAE-96944B6B0A28}"/>
              </a:ext>
            </a:extLst>
          </p:cNvPr>
          <p:cNvSpPr/>
          <p:nvPr/>
        </p:nvSpPr>
        <p:spPr>
          <a:xfrm>
            <a:off x="6390470" y="4442974"/>
            <a:ext cx="5447125" cy="54501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Nombre y apellido del trabajador</a:t>
            </a:r>
          </a:p>
        </p:txBody>
      </p:sp>
      <p:sp>
        <p:nvSpPr>
          <p:cNvPr id="18" name="Rectángulo 17">
            <a:extLst>
              <a:ext uri="{FF2B5EF4-FFF2-40B4-BE49-F238E27FC236}">
                <a16:creationId xmlns:a16="http://schemas.microsoft.com/office/drawing/2014/main" id="{2A036051-5B17-48A6-BE5F-277ED15A58A3}"/>
              </a:ext>
            </a:extLst>
          </p:cNvPr>
          <p:cNvSpPr/>
          <p:nvPr/>
        </p:nvSpPr>
        <p:spPr>
          <a:xfrm>
            <a:off x="6390467" y="3724784"/>
            <a:ext cx="5447125" cy="54501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Cantidad de piezas obtenidas</a:t>
            </a:r>
          </a:p>
        </p:txBody>
      </p:sp>
      <p:sp>
        <p:nvSpPr>
          <p:cNvPr id="19" name="Rectángulo 18">
            <a:extLst>
              <a:ext uri="{FF2B5EF4-FFF2-40B4-BE49-F238E27FC236}">
                <a16:creationId xmlns:a16="http://schemas.microsoft.com/office/drawing/2014/main" id="{72909AB6-85E8-4514-8E94-A5B0AE453FB4}"/>
              </a:ext>
            </a:extLst>
          </p:cNvPr>
          <p:cNvSpPr/>
          <p:nvPr/>
        </p:nvSpPr>
        <p:spPr>
          <a:xfrm>
            <a:off x="6390468" y="5151346"/>
            <a:ext cx="5447125" cy="54501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Cualquier otra información necesaria</a:t>
            </a:r>
          </a:p>
        </p:txBody>
      </p:sp>
    </p:spTree>
    <p:extLst>
      <p:ext uri="{BB962C8B-B14F-4D97-AF65-F5344CB8AC3E}">
        <p14:creationId xmlns:p14="http://schemas.microsoft.com/office/powerpoint/2010/main" val="3834783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defPPr>
              <a:defRPr lang="es-AR"/>
            </a:defPPr>
            <a:lvl1pPr algn="ctr">
              <a:defRPr sz="4400">
                <a:solidFill>
                  <a:schemeClr val="tx1">
                    <a:lumMod val="65000"/>
                    <a:lumOff val="35000"/>
                  </a:schemeClr>
                </a:solidFill>
              </a:defRPr>
            </a:lvl1pPr>
          </a:lstStyle>
          <a:p>
            <a:r>
              <a:rPr lang="es-AR" dirty="0"/>
              <a:t>Pliegos de Toma de Datos</a:t>
            </a:r>
          </a:p>
        </p:txBody>
      </p:sp>
      <p:grpSp>
        <p:nvGrpSpPr>
          <p:cNvPr id="30" name="Grupo 29">
            <a:extLst>
              <a:ext uri="{FF2B5EF4-FFF2-40B4-BE49-F238E27FC236}">
                <a16:creationId xmlns:a16="http://schemas.microsoft.com/office/drawing/2014/main" id="{C6F8B36E-045A-4F96-A6E3-614230581483}"/>
              </a:ext>
            </a:extLst>
          </p:cNvPr>
          <p:cNvGrpSpPr/>
          <p:nvPr/>
        </p:nvGrpSpPr>
        <p:grpSpPr>
          <a:xfrm>
            <a:off x="0" y="4141"/>
            <a:ext cx="12192000" cy="6849718"/>
            <a:chOff x="0" y="4141"/>
            <a:chExt cx="12192000" cy="6849718"/>
          </a:xfrm>
        </p:grpSpPr>
        <p:grpSp>
          <p:nvGrpSpPr>
            <p:cNvPr id="31" name="Grupo 30">
              <a:extLst>
                <a:ext uri="{FF2B5EF4-FFF2-40B4-BE49-F238E27FC236}">
                  <a16:creationId xmlns:a16="http://schemas.microsoft.com/office/drawing/2014/main" id="{F4550908-8633-4EDB-85ED-53B600E979B3}"/>
                </a:ext>
              </a:extLst>
            </p:cNvPr>
            <p:cNvGrpSpPr/>
            <p:nvPr/>
          </p:nvGrpSpPr>
          <p:grpSpPr>
            <a:xfrm>
              <a:off x="0" y="4141"/>
              <a:ext cx="12192000" cy="6849718"/>
              <a:chOff x="0" y="4141"/>
              <a:chExt cx="12192000" cy="6849718"/>
            </a:xfrm>
          </p:grpSpPr>
          <p:sp>
            <p:nvSpPr>
              <p:cNvPr id="33" name="Rectángulo 32">
                <a:extLst>
                  <a:ext uri="{FF2B5EF4-FFF2-40B4-BE49-F238E27FC236}">
                    <a16:creationId xmlns:a16="http://schemas.microsoft.com/office/drawing/2014/main" id="{050EC418-21ED-4099-A616-64049AE82550}"/>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34" name="Rectángulo 33">
                <a:extLst>
                  <a:ext uri="{FF2B5EF4-FFF2-40B4-BE49-F238E27FC236}">
                    <a16:creationId xmlns:a16="http://schemas.microsoft.com/office/drawing/2014/main" id="{AEE46C8A-38C8-4DDA-8AB2-A41A6C880318}"/>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35" name="Rectángulo 34">
                <a:extLst>
                  <a:ext uri="{FF2B5EF4-FFF2-40B4-BE49-F238E27FC236}">
                    <a16:creationId xmlns:a16="http://schemas.microsoft.com/office/drawing/2014/main" id="{46FA439C-7EC5-4DCD-8CC0-7B6F1F956EA9}"/>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32" name="Imagen 31">
              <a:extLst>
                <a:ext uri="{FF2B5EF4-FFF2-40B4-BE49-F238E27FC236}">
                  <a16:creationId xmlns:a16="http://schemas.microsoft.com/office/drawing/2014/main" id="{904EA942-2B7D-4110-B887-3D53417850E8}"/>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6" name="Rectángulo 5">
            <a:extLst>
              <a:ext uri="{FF2B5EF4-FFF2-40B4-BE49-F238E27FC236}">
                <a16:creationId xmlns:a16="http://schemas.microsoft.com/office/drawing/2014/main" id="{62B4E373-76EE-4CCD-8395-09D810802886}"/>
              </a:ext>
            </a:extLst>
          </p:cNvPr>
          <p:cNvSpPr/>
          <p:nvPr/>
        </p:nvSpPr>
        <p:spPr>
          <a:xfrm>
            <a:off x="475375" y="3737720"/>
            <a:ext cx="5447125" cy="125338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err="1"/>
              <a:t>T</a:t>
            </a:r>
            <a:r>
              <a:rPr lang="es-AR" sz="2000" baseline="-25000" dirty="0" err="1"/>
              <a:t>O</a:t>
            </a:r>
            <a:r>
              <a:rPr lang="es-AR" sz="2000" dirty="0"/>
              <a:t>: Tiempo observado.</a:t>
            </a:r>
          </a:p>
          <a:p>
            <a:pPr marL="342900" indent="-342900">
              <a:buFont typeface="Arial" panose="020B0604020202020204" pitchFamily="34" charset="0"/>
              <a:buChar char="•"/>
            </a:pPr>
            <a:r>
              <a:rPr lang="es-AR" sz="2000" dirty="0"/>
              <a:t>Si es continuo se deben realizar las restas.</a:t>
            </a:r>
          </a:p>
          <a:p>
            <a:pPr marL="342900" indent="-342900">
              <a:buFont typeface="Arial" panose="020B0604020202020204" pitchFamily="34" charset="0"/>
              <a:buChar char="•"/>
            </a:pPr>
            <a:r>
              <a:rPr lang="es-AR" sz="2000" dirty="0"/>
              <a:t>Si es con vuelta a cero se registra el tiempo del elemento.</a:t>
            </a:r>
          </a:p>
        </p:txBody>
      </p:sp>
      <p:sp>
        <p:nvSpPr>
          <p:cNvPr id="2" name="Rectángulo 1">
            <a:extLst>
              <a:ext uri="{FF2B5EF4-FFF2-40B4-BE49-F238E27FC236}">
                <a16:creationId xmlns:a16="http://schemas.microsoft.com/office/drawing/2014/main" id="{7AD68A98-BF14-4BC2-A4F3-C47A100D94D2}"/>
              </a:ext>
            </a:extLst>
          </p:cNvPr>
          <p:cNvSpPr/>
          <p:nvPr/>
        </p:nvSpPr>
        <p:spPr>
          <a:xfrm>
            <a:off x="701036" y="1754855"/>
            <a:ext cx="10524443" cy="111387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Además del encabezado, para cada elemento se debe completar:</a:t>
            </a:r>
          </a:p>
        </p:txBody>
      </p:sp>
      <p:sp>
        <p:nvSpPr>
          <p:cNvPr id="4" name="Rectángulo 3">
            <a:extLst>
              <a:ext uri="{FF2B5EF4-FFF2-40B4-BE49-F238E27FC236}">
                <a16:creationId xmlns:a16="http://schemas.microsoft.com/office/drawing/2014/main" id="{E5EC69F1-3737-44DD-8F9C-0726FF1E33D4}"/>
              </a:ext>
            </a:extLst>
          </p:cNvPr>
          <p:cNvSpPr/>
          <p:nvPr/>
        </p:nvSpPr>
        <p:spPr>
          <a:xfrm>
            <a:off x="475376" y="3033598"/>
            <a:ext cx="5447125" cy="54501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C: Cronometraje (sólo si es acumulativo)</a:t>
            </a:r>
          </a:p>
        </p:txBody>
      </p:sp>
      <p:sp>
        <p:nvSpPr>
          <p:cNvPr id="15" name="Rectángulo 14">
            <a:extLst>
              <a:ext uri="{FF2B5EF4-FFF2-40B4-BE49-F238E27FC236}">
                <a16:creationId xmlns:a16="http://schemas.microsoft.com/office/drawing/2014/main" id="{4BB93151-3BED-4DD9-BDE9-886F3DFB1AB8}"/>
              </a:ext>
            </a:extLst>
          </p:cNvPr>
          <p:cNvSpPr/>
          <p:nvPr/>
        </p:nvSpPr>
        <p:spPr>
          <a:xfrm>
            <a:off x="475372" y="5151346"/>
            <a:ext cx="5447125" cy="54501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V: Valoración de ritmo</a:t>
            </a:r>
          </a:p>
        </p:txBody>
      </p:sp>
      <p:sp>
        <p:nvSpPr>
          <p:cNvPr id="16" name="Rectángulo 15">
            <a:extLst>
              <a:ext uri="{FF2B5EF4-FFF2-40B4-BE49-F238E27FC236}">
                <a16:creationId xmlns:a16="http://schemas.microsoft.com/office/drawing/2014/main" id="{C167DC40-DFE8-4C7D-B5EC-410D11DEE95D}"/>
              </a:ext>
            </a:extLst>
          </p:cNvPr>
          <p:cNvSpPr/>
          <p:nvPr/>
        </p:nvSpPr>
        <p:spPr>
          <a:xfrm>
            <a:off x="6269499" y="3041911"/>
            <a:ext cx="5447125" cy="122788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Inicio del elemento: acción que da inicio a cada elemento (por ejemplo: toma la primera rueda)</a:t>
            </a:r>
          </a:p>
        </p:txBody>
      </p:sp>
      <p:sp>
        <p:nvSpPr>
          <p:cNvPr id="17" name="Rectángulo 16">
            <a:extLst>
              <a:ext uri="{FF2B5EF4-FFF2-40B4-BE49-F238E27FC236}">
                <a16:creationId xmlns:a16="http://schemas.microsoft.com/office/drawing/2014/main" id="{A656CEED-3C53-4B58-9FAE-96944B6B0A28}"/>
              </a:ext>
            </a:extLst>
          </p:cNvPr>
          <p:cNvSpPr/>
          <p:nvPr/>
        </p:nvSpPr>
        <p:spPr>
          <a:xfrm>
            <a:off x="6269498" y="4442974"/>
            <a:ext cx="5447125" cy="125338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T</a:t>
            </a:r>
            <a:r>
              <a:rPr lang="es-AR" sz="2000" baseline="-25000" dirty="0"/>
              <a:t>B</a:t>
            </a:r>
            <a:r>
              <a:rPr lang="es-AR" sz="2000" dirty="0"/>
              <a:t>: Tiempo básico (se obtiene al afectar al Tiempo Observado por el factor de valoración)</a:t>
            </a:r>
          </a:p>
        </p:txBody>
      </p:sp>
    </p:spTree>
    <p:extLst>
      <p:ext uri="{BB962C8B-B14F-4D97-AF65-F5344CB8AC3E}">
        <p14:creationId xmlns:p14="http://schemas.microsoft.com/office/powerpoint/2010/main" val="397445942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Diagrama 2">
            <a:extLst>
              <a:ext uri="{FF2B5EF4-FFF2-40B4-BE49-F238E27FC236}">
                <a16:creationId xmlns:a16="http://schemas.microsoft.com/office/drawing/2014/main" id="{EFECAABD-F3CF-45E4-9AC9-FDC344CC240A}"/>
              </a:ext>
            </a:extLst>
          </p:cNvPr>
          <p:cNvGraphicFramePr/>
          <p:nvPr>
            <p:extLst>
              <p:ext uri="{D42A27DB-BD31-4B8C-83A1-F6EECF244321}">
                <p14:modId xmlns:p14="http://schemas.microsoft.com/office/powerpoint/2010/main" val="825012448"/>
              </p:ext>
            </p:extLst>
          </p:nvPr>
        </p:nvGraphicFramePr>
        <p:xfrm>
          <a:off x="155287" y="1820474"/>
          <a:ext cx="2075863" cy="401107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7" name="CuadroTexto 16">
            <a:extLst>
              <a:ext uri="{FF2B5EF4-FFF2-40B4-BE49-F238E27FC236}">
                <a16:creationId xmlns:a16="http://schemas.microsoft.com/office/drawing/2014/main" id="{8B9B3C27-19A2-4CCC-BDF2-F1706B7D6F9F}"/>
              </a:ext>
            </a:extLst>
          </p:cNvPr>
          <p:cNvSpPr txBox="1"/>
          <p:nvPr/>
        </p:nvSpPr>
        <p:spPr>
          <a:xfrm>
            <a:off x="3120243" y="2425320"/>
            <a:ext cx="8398837" cy="461665"/>
          </a:xfrm>
          <a:prstGeom prst="rect">
            <a:avLst/>
          </a:prstGeom>
          <a:noFill/>
        </p:spPr>
        <p:txBody>
          <a:bodyPr wrap="square" rtlCol="0" anchor="ctr" anchorCtr="0">
            <a:spAutoFit/>
          </a:bodyPr>
          <a:lstStyle/>
          <a:p>
            <a:pPr>
              <a:spcAft>
                <a:spcPts val="1200"/>
              </a:spcAft>
            </a:pPr>
            <a:r>
              <a:rPr lang="es-AR" sz="2400" dirty="0"/>
              <a:t>Tiempos breves</a:t>
            </a:r>
            <a:endParaRPr lang="es-AR" sz="5400" dirty="0"/>
          </a:p>
        </p:txBody>
      </p:sp>
      <p:sp>
        <p:nvSpPr>
          <p:cNvPr id="19" name="CuadroTexto 18">
            <a:extLst>
              <a:ext uri="{FF2B5EF4-FFF2-40B4-BE49-F238E27FC236}">
                <a16:creationId xmlns:a16="http://schemas.microsoft.com/office/drawing/2014/main" id="{489D6E9B-BEEF-486C-8D9D-6F15857270D1}"/>
              </a:ext>
            </a:extLst>
          </p:cNvPr>
          <p:cNvSpPr txBox="1"/>
          <p:nvPr/>
        </p:nvSpPr>
        <p:spPr>
          <a:xfrm>
            <a:off x="3120243" y="2890835"/>
            <a:ext cx="7770670" cy="1323439"/>
          </a:xfrm>
          <a:prstGeom prst="rect">
            <a:avLst/>
          </a:prstGeom>
          <a:noFill/>
        </p:spPr>
        <p:txBody>
          <a:bodyPr wrap="square" rtlCol="0" anchor="ctr" anchorCtr="0">
            <a:spAutoFit/>
          </a:bodyPr>
          <a:lstStyle/>
          <a:p>
            <a:r>
              <a:rPr lang="es-AR" altLang="es-AR" sz="2000" dirty="0"/>
              <a:t>Se considera tiempo breve a una actividad con un tiempo de ciclo ≤ 2.5seg.</a:t>
            </a:r>
          </a:p>
          <a:p>
            <a:r>
              <a:rPr lang="es-AR" altLang="es-AR" sz="2000" dirty="0"/>
              <a:t>Para tiempos breves se valorará cada elemento cada cinco ciclos.</a:t>
            </a:r>
            <a:endParaRPr lang="es-AR" sz="3200" dirty="0">
              <a:effectLst>
                <a:outerShdw blurRad="60007" dist="310007" dir="7680000" sy="30000" kx="1300200" algn="ctr" rotWithShape="0">
                  <a:prstClr val="black">
                    <a:alpha val="32000"/>
                  </a:prstClr>
                </a:outerShdw>
              </a:effectLst>
            </a:endParaRPr>
          </a:p>
        </p:txBody>
      </p:sp>
      <p:sp>
        <p:nvSpPr>
          <p:cNvPr id="20" name="Elipse 19">
            <a:extLst>
              <a:ext uri="{FF2B5EF4-FFF2-40B4-BE49-F238E27FC236}">
                <a16:creationId xmlns:a16="http://schemas.microsoft.com/office/drawing/2014/main" id="{33F4B844-19D6-41CD-83D2-A72162C82F29}"/>
              </a:ext>
            </a:extLst>
          </p:cNvPr>
          <p:cNvSpPr/>
          <p:nvPr/>
        </p:nvSpPr>
        <p:spPr>
          <a:xfrm>
            <a:off x="2244933" y="2265757"/>
            <a:ext cx="792000" cy="792000"/>
          </a:xfrm>
          <a:prstGeom prst="ellipse">
            <a:avLst/>
          </a:prstGeom>
          <a:ln>
            <a:noFill/>
          </a:ln>
          <a:effectLst>
            <a:glow rad="139700">
              <a:schemeClr val="accent2">
                <a:satMod val="175000"/>
                <a:alpha val="40000"/>
              </a:schemeClr>
            </a:glow>
            <a:outerShdw blurRad="76200" dir="13500000" sy="23000" kx="1200000" algn="br" rotWithShape="0">
              <a:prstClr val="black">
                <a:alpha val="20000"/>
              </a:prstClr>
            </a:outerShdw>
          </a:effectLst>
          <a:scene3d>
            <a:camera prst="perspectiveRight"/>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3200" dirty="0"/>
              <a:t>1</a:t>
            </a:r>
          </a:p>
        </p:txBody>
      </p:sp>
      <p:sp>
        <p:nvSpPr>
          <p:cNvPr id="22" name="Elipse 21">
            <a:extLst>
              <a:ext uri="{FF2B5EF4-FFF2-40B4-BE49-F238E27FC236}">
                <a16:creationId xmlns:a16="http://schemas.microsoft.com/office/drawing/2014/main" id="{A17D3AB2-C629-42E2-BAF2-88076E11D5AB}"/>
              </a:ext>
            </a:extLst>
          </p:cNvPr>
          <p:cNvSpPr/>
          <p:nvPr/>
        </p:nvSpPr>
        <p:spPr>
          <a:xfrm>
            <a:off x="2244933" y="4369353"/>
            <a:ext cx="792000" cy="792000"/>
          </a:xfrm>
          <a:prstGeom prst="ellipse">
            <a:avLst/>
          </a:prstGeom>
          <a:ln>
            <a:noFill/>
          </a:ln>
          <a:effectLst>
            <a:glow rad="139700">
              <a:schemeClr val="accent2">
                <a:satMod val="175000"/>
                <a:alpha val="40000"/>
              </a:schemeClr>
            </a:glow>
            <a:outerShdw blurRad="76200" dir="13500000" sy="23000" kx="1200000" algn="br" rotWithShape="0">
              <a:prstClr val="black">
                <a:alpha val="20000"/>
              </a:prstClr>
            </a:outerShdw>
          </a:effectLst>
          <a:scene3d>
            <a:camera prst="perspectiveRight"/>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3200" dirty="0"/>
              <a:t>2</a:t>
            </a:r>
          </a:p>
        </p:txBody>
      </p:sp>
      <p:grpSp>
        <p:nvGrpSpPr>
          <p:cNvPr id="30" name="Grupo 29">
            <a:extLst>
              <a:ext uri="{FF2B5EF4-FFF2-40B4-BE49-F238E27FC236}">
                <a16:creationId xmlns:a16="http://schemas.microsoft.com/office/drawing/2014/main" id="{CB2725BA-E5B8-4C49-B9A1-04C1BBF1F9E8}"/>
              </a:ext>
            </a:extLst>
          </p:cNvPr>
          <p:cNvGrpSpPr/>
          <p:nvPr/>
        </p:nvGrpSpPr>
        <p:grpSpPr>
          <a:xfrm>
            <a:off x="0" y="4141"/>
            <a:ext cx="12192000" cy="6849718"/>
            <a:chOff x="0" y="4141"/>
            <a:chExt cx="12192000" cy="6849718"/>
          </a:xfrm>
        </p:grpSpPr>
        <p:grpSp>
          <p:nvGrpSpPr>
            <p:cNvPr id="31" name="Grupo 30">
              <a:extLst>
                <a:ext uri="{FF2B5EF4-FFF2-40B4-BE49-F238E27FC236}">
                  <a16:creationId xmlns:a16="http://schemas.microsoft.com/office/drawing/2014/main" id="{6F885517-A95F-4C97-9C97-4DA1B01C620B}"/>
                </a:ext>
              </a:extLst>
            </p:cNvPr>
            <p:cNvGrpSpPr/>
            <p:nvPr/>
          </p:nvGrpSpPr>
          <p:grpSpPr>
            <a:xfrm>
              <a:off x="0" y="4141"/>
              <a:ext cx="12192000" cy="6849718"/>
              <a:chOff x="0" y="4141"/>
              <a:chExt cx="12192000" cy="6849718"/>
            </a:xfrm>
          </p:grpSpPr>
          <p:sp>
            <p:nvSpPr>
              <p:cNvPr id="33" name="Rectángulo 32">
                <a:extLst>
                  <a:ext uri="{FF2B5EF4-FFF2-40B4-BE49-F238E27FC236}">
                    <a16:creationId xmlns:a16="http://schemas.microsoft.com/office/drawing/2014/main" id="{F0FCC94F-4D3C-46BC-ABF9-F572678670B5}"/>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34" name="Rectángulo 33">
                <a:extLst>
                  <a:ext uri="{FF2B5EF4-FFF2-40B4-BE49-F238E27FC236}">
                    <a16:creationId xmlns:a16="http://schemas.microsoft.com/office/drawing/2014/main" id="{22FB07ED-CABB-45FA-9E87-812B1CD72CB0}"/>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35" name="Rectángulo 34">
                <a:extLst>
                  <a:ext uri="{FF2B5EF4-FFF2-40B4-BE49-F238E27FC236}">
                    <a16:creationId xmlns:a16="http://schemas.microsoft.com/office/drawing/2014/main" id="{DD4B5D67-1556-48B6-B446-57BB3D1CB32C}"/>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32" name="Imagen 31">
              <a:extLst>
                <a:ext uri="{FF2B5EF4-FFF2-40B4-BE49-F238E27FC236}">
                  <a16:creationId xmlns:a16="http://schemas.microsoft.com/office/drawing/2014/main" id="{56AD18CB-6763-49C9-8C61-3619D4D4BC22}"/>
                </a:ext>
              </a:extLst>
            </p:cNvPr>
            <p:cNvPicPr>
              <a:picLocks noChangeAspect="1"/>
            </p:cNvPicPr>
            <p:nvPr/>
          </p:nvPicPr>
          <p:blipFill rotWithShape="1">
            <a:blip r:embed="rId10">
              <a:alphaModFix amt="50000"/>
            </a:blip>
            <a:srcRect l="15693" t="31624" r="25546" b="30133"/>
            <a:stretch/>
          </p:blipFill>
          <p:spPr>
            <a:xfrm>
              <a:off x="11311846" y="6376358"/>
              <a:ext cx="880154" cy="477359"/>
            </a:xfrm>
            <a:prstGeom prst="rect">
              <a:avLst/>
            </a:prstGeom>
          </p:spPr>
        </p:pic>
      </p:grpSp>
      <p:sp>
        <p:nvSpPr>
          <p:cNvPr id="24" name="CuadroTexto 23">
            <a:extLst>
              <a:ext uri="{FF2B5EF4-FFF2-40B4-BE49-F238E27FC236}">
                <a16:creationId xmlns:a16="http://schemas.microsoft.com/office/drawing/2014/main" id="{E7993185-7EC7-45E4-97AF-3619AC802466}"/>
              </a:ext>
            </a:extLst>
          </p:cNvPr>
          <p:cNvSpPr txBox="1"/>
          <p:nvPr/>
        </p:nvSpPr>
        <p:spPr>
          <a:xfrm>
            <a:off x="3141227" y="4510040"/>
            <a:ext cx="8398837" cy="461665"/>
          </a:xfrm>
          <a:prstGeom prst="rect">
            <a:avLst/>
          </a:prstGeom>
          <a:noFill/>
        </p:spPr>
        <p:txBody>
          <a:bodyPr wrap="square" rtlCol="0" anchor="ctr" anchorCtr="0">
            <a:spAutoFit/>
          </a:bodyPr>
          <a:lstStyle/>
          <a:p>
            <a:pPr>
              <a:spcAft>
                <a:spcPts val="1200"/>
              </a:spcAft>
            </a:pPr>
            <a:r>
              <a:rPr lang="es-AR" sz="2400" dirty="0"/>
              <a:t>Tiempos no breves</a:t>
            </a:r>
            <a:endParaRPr lang="es-AR" sz="5400" dirty="0"/>
          </a:p>
        </p:txBody>
      </p:sp>
      <p:sp>
        <p:nvSpPr>
          <p:cNvPr id="25" name="CuadroTexto 24">
            <a:extLst>
              <a:ext uri="{FF2B5EF4-FFF2-40B4-BE49-F238E27FC236}">
                <a16:creationId xmlns:a16="http://schemas.microsoft.com/office/drawing/2014/main" id="{2A145090-4BEF-4F8F-9740-094B6797B678}"/>
              </a:ext>
            </a:extLst>
          </p:cNvPr>
          <p:cNvSpPr txBox="1"/>
          <p:nvPr/>
        </p:nvSpPr>
        <p:spPr>
          <a:xfrm>
            <a:off x="3141227" y="4971705"/>
            <a:ext cx="7728702" cy="707886"/>
          </a:xfrm>
          <a:prstGeom prst="rect">
            <a:avLst/>
          </a:prstGeom>
          <a:noFill/>
        </p:spPr>
        <p:txBody>
          <a:bodyPr wrap="square" rtlCol="0" anchor="ctr" anchorCtr="0">
            <a:spAutoFit/>
          </a:bodyPr>
          <a:lstStyle/>
          <a:p>
            <a:r>
              <a:rPr lang="es-AR" sz="2000" dirty="0">
                <a:ea typeface="Cambria Math" panose="02040503050406030204" pitchFamily="18" charset="0"/>
              </a:rPr>
              <a:t>Para tiempos no breves se valorará cada elemento en forma individual.</a:t>
            </a:r>
          </a:p>
        </p:txBody>
      </p:sp>
      <p:sp>
        <p:nvSpPr>
          <p:cNvPr id="2" name="CuadroTexto 1">
            <a:extLst>
              <a:ext uri="{FF2B5EF4-FFF2-40B4-BE49-F238E27FC236}">
                <a16:creationId xmlns:a16="http://schemas.microsoft.com/office/drawing/2014/main" id="{EA85C517-7CB9-4E6C-8181-720F95D21FEC}"/>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defPPr>
              <a:defRPr lang="es-AR"/>
            </a:defPPr>
            <a:lvl1pPr algn="ctr">
              <a:defRPr sz="4400">
                <a:solidFill>
                  <a:schemeClr val="tx1">
                    <a:lumMod val="65000"/>
                    <a:lumOff val="35000"/>
                  </a:schemeClr>
                </a:solidFill>
              </a:defRPr>
            </a:lvl1pPr>
          </a:lstStyle>
          <a:p>
            <a:r>
              <a:rPr lang="es-AR" dirty="0"/>
              <a:t>Pliegos de Toma de Datos</a:t>
            </a:r>
          </a:p>
        </p:txBody>
      </p:sp>
    </p:spTree>
    <p:extLst>
      <p:ext uri="{BB962C8B-B14F-4D97-AF65-F5344CB8AC3E}">
        <p14:creationId xmlns:p14="http://schemas.microsoft.com/office/powerpoint/2010/main" val="142547718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10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10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10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10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0" grpId="0" animBg="1"/>
      <p:bldP spid="22" grpId="0" animBg="1"/>
      <p:bldP spid="24" grpId="0"/>
      <p:bldP spid="2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o 7">
            <a:extLst>
              <a:ext uri="{FF2B5EF4-FFF2-40B4-BE49-F238E27FC236}">
                <a16:creationId xmlns:a16="http://schemas.microsoft.com/office/drawing/2014/main" id="{F90AF617-7FB4-414A-AA8D-E3BA6EC1A778}"/>
              </a:ext>
            </a:extLst>
          </p:cNvPr>
          <p:cNvGraphicFramePr>
            <a:graphicFrameLocks noChangeAspect="1"/>
          </p:cNvGraphicFramePr>
          <p:nvPr>
            <p:extLst>
              <p:ext uri="{D42A27DB-BD31-4B8C-83A1-F6EECF244321}">
                <p14:modId xmlns:p14="http://schemas.microsoft.com/office/powerpoint/2010/main" val="1924450051"/>
              </p:ext>
            </p:extLst>
          </p:nvPr>
        </p:nvGraphicFramePr>
        <p:xfrm>
          <a:off x="549275" y="1121163"/>
          <a:ext cx="10515600" cy="5102230"/>
        </p:xfrm>
        <a:graphic>
          <a:graphicData uri="http://schemas.openxmlformats.org/presentationml/2006/ole">
            <mc:AlternateContent xmlns:mc="http://schemas.openxmlformats.org/markup-compatibility/2006">
              <mc:Choice xmlns:v="urn:schemas-microsoft-com:vml" Requires="v">
                <p:oleObj name="Worksheet" r:id="rId2" imgW="8991688" imgH="3333695" progId="Excel.Sheet.12">
                  <p:embed/>
                </p:oleObj>
              </mc:Choice>
              <mc:Fallback>
                <p:oleObj name="Worksheet" r:id="rId2" imgW="8991688" imgH="3333695" progId="Excel.Sheet.12">
                  <p:embed/>
                  <p:pic>
                    <p:nvPicPr>
                      <p:cNvPr id="8" name="Objeto 7">
                        <a:extLst>
                          <a:ext uri="{FF2B5EF4-FFF2-40B4-BE49-F238E27FC236}">
                            <a16:creationId xmlns:a16="http://schemas.microsoft.com/office/drawing/2014/main" id="{F90AF617-7FB4-414A-AA8D-E3BA6EC1A778}"/>
                          </a:ext>
                        </a:extLst>
                      </p:cNvPr>
                      <p:cNvPicPr/>
                      <p:nvPr/>
                    </p:nvPicPr>
                    <p:blipFill>
                      <a:blip r:embed="rId3"/>
                      <a:stretch>
                        <a:fillRect/>
                      </a:stretch>
                    </p:blipFill>
                    <p:spPr>
                      <a:xfrm>
                        <a:off x="549275" y="1121163"/>
                        <a:ext cx="10515600" cy="5102230"/>
                      </a:xfrm>
                      <a:prstGeom prst="rect">
                        <a:avLst/>
                      </a:prstGeom>
                    </p:spPr>
                  </p:pic>
                </p:oleObj>
              </mc:Fallback>
            </mc:AlternateContent>
          </a:graphicData>
        </a:graphic>
      </p:graphicFrame>
      <p:cxnSp>
        <p:nvCxnSpPr>
          <p:cNvPr id="10" name="Conector recto de flecha 9">
            <a:extLst>
              <a:ext uri="{FF2B5EF4-FFF2-40B4-BE49-F238E27FC236}">
                <a16:creationId xmlns:a16="http://schemas.microsoft.com/office/drawing/2014/main" id="{07B6FDEC-3446-4CCA-B61D-DE11C8F29A04}"/>
              </a:ext>
            </a:extLst>
          </p:cNvPr>
          <p:cNvCxnSpPr/>
          <p:nvPr/>
        </p:nvCxnSpPr>
        <p:spPr>
          <a:xfrm>
            <a:off x="4402700" y="1842866"/>
            <a:ext cx="0" cy="4234375"/>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D0313B93-E756-4F22-8DFC-A2D40BCB8835}"/>
              </a:ext>
            </a:extLst>
          </p:cNvPr>
          <p:cNvCxnSpPr>
            <a:cxnSpLocks/>
          </p:cNvCxnSpPr>
          <p:nvPr/>
        </p:nvCxnSpPr>
        <p:spPr>
          <a:xfrm flipV="1">
            <a:off x="4485250" y="1842865"/>
            <a:ext cx="232800" cy="4234376"/>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67F61A40-4832-45F0-8E4A-02D8D2BD69A3}"/>
              </a:ext>
            </a:extLst>
          </p:cNvPr>
          <p:cNvCxnSpPr/>
          <p:nvPr/>
        </p:nvCxnSpPr>
        <p:spPr>
          <a:xfrm>
            <a:off x="4870450" y="1842865"/>
            <a:ext cx="0" cy="4234375"/>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4864C8C4-7ACD-4641-B767-907A7FB72A91}"/>
              </a:ext>
            </a:extLst>
          </p:cNvPr>
          <p:cNvCxnSpPr>
            <a:cxnSpLocks/>
          </p:cNvCxnSpPr>
          <p:nvPr/>
        </p:nvCxnSpPr>
        <p:spPr>
          <a:xfrm flipV="1">
            <a:off x="4953000" y="1842864"/>
            <a:ext cx="232800" cy="4234376"/>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44315823-D76A-4A2D-9485-9988C523C48E}"/>
              </a:ext>
            </a:extLst>
          </p:cNvPr>
          <p:cNvCxnSpPr/>
          <p:nvPr/>
        </p:nvCxnSpPr>
        <p:spPr>
          <a:xfrm>
            <a:off x="5346700" y="1842867"/>
            <a:ext cx="0" cy="4234375"/>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Conector recto de flecha 26">
            <a:extLst>
              <a:ext uri="{FF2B5EF4-FFF2-40B4-BE49-F238E27FC236}">
                <a16:creationId xmlns:a16="http://schemas.microsoft.com/office/drawing/2014/main" id="{26CAD765-AF69-4CAC-9CEE-4A82354DD5CC}"/>
              </a:ext>
            </a:extLst>
          </p:cNvPr>
          <p:cNvCxnSpPr>
            <a:cxnSpLocks/>
          </p:cNvCxnSpPr>
          <p:nvPr/>
        </p:nvCxnSpPr>
        <p:spPr>
          <a:xfrm flipV="1">
            <a:off x="5429250" y="1842866"/>
            <a:ext cx="232800" cy="4234376"/>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C026BA52-D478-4B29-803D-EC5A8AB248B6}"/>
              </a:ext>
            </a:extLst>
          </p:cNvPr>
          <p:cNvCxnSpPr/>
          <p:nvPr/>
        </p:nvCxnSpPr>
        <p:spPr>
          <a:xfrm>
            <a:off x="5822950" y="1842864"/>
            <a:ext cx="0" cy="4234375"/>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9" name="Conector recto de flecha 28">
            <a:extLst>
              <a:ext uri="{FF2B5EF4-FFF2-40B4-BE49-F238E27FC236}">
                <a16:creationId xmlns:a16="http://schemas.microsoft.com/office/drawing/2014/main" id="{D3F395DA-6190-4DF1-8F1A-A466A73C642F}"/>
              </a:ext>
            </a:extLst>
          </p:cNvPr>
          <p:cNvCxnSpPr>
            <a:cxnSpLocks/>
          </p:cNvCxnSpPr>
          <p:nvPr/>
        </p:nvCxnSpPr>
        <p:spPr>
          <a:xfrm flipV="1">
            <a:off x="5905500" y="1842863"/>
            <a:ext cx="232800" cy="4234376"/>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DF5A569A-72CC-41C3-B8A3-1C1E6A749E5F}"/>
              </a:ext>
            </a:extLst>
          </p:cNvPr>
          <p:cNvCxnSpPr/>
          <p:nvPr/>
        </p:nvCxnSpPr>
        <p:spPr>
          <a:xfrm>
            <a:off x="6288651" y="1842866"/>
            <a:ext cx="0" cy="4234375"/>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1" name="Conector recto de flecha 30">
            <a:extLst>
              <a:ext uri="{FF2B5EF4-FFF2-40B4-BE49-F238E27FC236}">
                <a16:creationId xmlns:a16="http://schemas.microsoft.com/office/drawing/2014/main" id="{78217084-023C-4913-B050-A24307AB41B6}"/>
              </a:ext>
            </a:extLst>
          </p:cNvPr>
          <p:cNvCxnSpPr>
            <a:cxnSpLocks/>
          </p:cNvCxnSpPr>
          <p:nvPr/>
        </p:nvCxnSpPr>
        <p:spPr>
          <a:xfrm flipV="1">
            <a:off x="6371201" y="1842865"/>
            <a:ext cx="232800" cy="4234376"/>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Conector recto de flecha 31">
            <a:extLst>
              <a:ext uri="{FF2B5EF4-FFF2-40B4-BE49-F238E27FC236}">
                <a16:creationId xmlns:a16="http://schemas.microsoft.com/office/drawing/2014/main" id="{0972D082-7860-4D92-BFF4-DE294D7EB9D5}"/>
              </a:ext>
            </a:extLst>
          </p:cNvPr>
          <p:cNvCxnSpPr/>
          <p:nvPr/>
        </p:nvCxnSpPr>
        <p:spPr>
          <a:xfrm>
            <a:off x="6720059" y="1842870"/>
            <a:ext cx="0" cy="4234375"/>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Conector recto de flecha 32">
            <a:extLst>
              <a:ext uri="{FF2B5EF4-FFF2-40B4-BE49-F238E27FC236}">
                <a16:creationId xmlns:a16="http://schemas.microsoft.com/office/drawing/2014/main" id="{04B0E546-0FB4-47AF-A23F-92675805618A}"/>
              </a:ext>
            </a:extLst>
          </p:cNvPr>
          <p:cNvCxnSpPr>
            <a:cxnSpLocks/>
          </p:cNvCxnSpPr>
          <p:nvPr/>
        </p:nvCxnSpPr>
        <p:spPr>
          <a:xfrm flipV="1">
            <a:off x="6802609" y="1842869"/>
            <a:ext cx="232800" cy="4234376"/>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4" name="Conector recto de flecha 33">
            <a:extLst>
              <a:ext uri="{FF2B5EF4-FFF2-40B4-BE49-F238E27FC236}">
                <a16:creationId xmlns:a16="http://schemas.microsoft.com/office/drawing/2014/main" id="{4CE79541-DA21-4BE8-AEBD-D4CB030DFBDF}"/>
              </a:ext>
            </a:extLst>
          </p:cNvPr>
          <p:cNvCxnSpPr/>
          <p:nvPr/>
        </p:nvCxnSpPr>
        <p:spPr>
          <a:xfrm>
            <a:off x="7187809" y="1842869"/>
            <a:ext cx="0" cy="4234375"/>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5" name="Conector recto de flecha 34">
            <a:extLst>
              <a:ext uri="{FF2B5EF4-FFF2-40B4-BE49-F238E27FC236}">
                <a16:creationId xmlns:a16="http://schemas.microsoft.com/office/drawing/2014/main" id="{9C4F7102-6D4F-4299-A86D-43D079907D98}"/>
              </a:ext>
            </a:extLst>
          </p:cNvPr>
          <p:cNvCxnSpPr>
            <a:cxnSpLocks/>
          </p:cNvCxnSpPr>
          <p:nvPr/>
        </p:nvCxnSpPr>
        <p:spPr>
          <a:xfrm flipV="1">
            <a:off x="7270359" y="1842868"/>
            <a:ext cx="232800" cy="4234376"/>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6" name="Conector recto de flecha 35">
            <a:extLst>
              <a:ext uri="{FF2B5EF4-FFF2-40B4-BE49-F238E27FC236}">
                <a16:creationId xmlns:a16="http://schemas.microsoft.com/office/drawing/2014/main" id="{C1DF922D-009A-4D89-94E2-8150BE33D428}"/>
              </a:ext>
            </a:extLst>
          </p:cNvPr>
          <p:cNvCxnSpPr/>
          <p:nvPr/>
        </p:nvCxnSpPr>
        <p:spPr>
          <a:xfrm>
            <a:off x="7664059" y="1842871"/>
            <a:ext cx="0" cy="4234375"/>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 name="Conector recto de flecha 36">
            <a:extLst>
              <a:ext uri="{FF2B5EF4-FFF2-40B4-BE49-F238E27FC236}">
                <a16:creationId xmlns:a16="http://schemas.microsoft.com/office/drawing/2014/main" id="{BABA1CC4-3D73-40B3-A105-B67F4354E426}"/>
              </a:ext>
            </a:extLst>
          </p:cNvPr>
          <p:cNvCxnSpPr>
            <a:cxnSpLocks/>
          </p:cNvCxnSpPr>
          <p:nvPr/>
        </p:nvCxnSpPr>
        <p:spPr>
          <a:xfrm flipV="1">
            <a:off x="7746609" y="1842870"/>
            <a:ext cx="232800" cy="4234376"/>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8" name="Conector recto de flecha 37">
            <a:extLst>
              <a:ext uri="{FF2B5EF4-FFF2-40B4-BE49-F238E27FC236}">
                <a16:creationId xmlns:a16="http://schemas.microsoft.com/office/drawing/2014/main" id="{3B575541-AD66-4617-8A38-D99F86F333E0}"/>
              </a:ext>
            </a:extLst>
          </p:cNvPr>
          <p:cNvCxnSpPr/>
          <p:nvPr/>
        </p:nvCxnSpPr>
        <p:spPr>
          <a:xfrm>
            <a:off x="8140309" y="1842868"/>
            <a:ext cx="0" cy="4234375"/>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 name="Conector recto de flecha 38">
            <a:extLst>
              <a:ext uri="{FF2B5EF4-FFF2-40B4-BE49-F238E27FC236}">
                <a16:creationId xmlns:a16="http://schemas.microsoft.com/office/drawing/2014/main" id="{B7A8C74A-96D0-479E-8CE5-108F3FA618A9}"/>
              </a:ext>
            </a:extLst>
          </p:cNvPr>
          <p:cNvCxnSpPr>
            <a:cxnSpLocks/>
          </p:cNvCxnSpPr>
          <p:nvPr/>
        </p:nvCxnSpPr>
        <p:spPr>
          <a:xfrm flipV="1">
            <a:off x="8222859" y="1842867"/>
            <a:ext cx="232800" cy="4234376"/>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0" name="Conector recto de flecha 39">
            <a:extLst>
              <a:ext uri="{FF2B5EF4-FFF2-40B4-BE49-F238E27FC236}">
                <a16:creationId xmlns:a16="http://schemas.microsoft.com/office/drawing/2014/main" id="{FAAA130C-217C-4E7A-8EAE-9DA85AF85F3C}"/>
              </a:ext>
            </a:extLst>
          </p:cNvPr>
          <p:cNvCxnSpPr/>
          <p:nvPr/>
        </p:nvCxnSpPr>
        <p:spPr>
          <a:xfrm>
            <a:off x="8606010" y="1842870"/>
            <a:ext cx="0" cy="4234375"/>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1" name="Conector recto de flecha 40">
            <a:extLst>
              <a:ext uri="{FF2B5EF4-FFF2-40B4-BE49-F238E27FC236}">
                <a16:creationId xmlns:a16="http://schemas.microsoft.com/office/drawing/2014/main" id="{18C639F6-CC30-4428-8A62-452E7F8BA00D}"/>
              </a:ext>
            </a:extLst>
          </p:cNvPr>
          <p:cNvCxnSpPr>
            <a:cxnSpLocks/>
          </p:cNvCxnSpPr>
          <p:nvPr/>
        </p:nvCxnSpPr>
        <p:spPr>
          <a:xfrm flipV="1">
            <a:off x="8688560" y="1842869"/>
            <a:ext cx="232800" cy="4234376"/>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2" name="Conector recto de flecha 41">
            <a:extLst>
              <a:ext uri="{FF2B5EF4-FFF2-40B4-BE49-F238E27FC236}">
                <a16:creationId xmlns:a16="http://schemas.microsoft.com/office/drawing/2014/main" id="{C2094A39-1DBE-42D4-8C01-12A1EE47FCAB}"/>
              </a:ext>
            </a:extLst>
          </p:cNvPr>
          <p:cNvCxnSpPr/>
          <p:nvPr/>
        </p:nvCxnSpPr>
        <p:spPr>
          <a:xfrm>
            <a:off x="9039467" y="1842874"/>
            <a:ext cx="0" cy="4234375"/>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3" name="Conector recto de flecha 42">
            <a:extLst>
              <a:ext uri="{FF2B5EF4-FFF2-40B4-BE49-F238E27FC236}">
                <a16:creationId xmlns:a16="http://schemas.microsoft.com/office/drawing/2014/main" id="{CAAD1256-9558-404B-B3E6-C7EDCBFDC476}"/>
              </a:ext>
            </a:extLst>
          </p:cNvPr>
          <p:cNvCxnSpPr>
            <a:cxnSpLocks/>
          </p:cNvCxnSpPr>
          <p:nvPr/>
        </p:nvCxnSpPr>
        <p:spPr>
          <a:xfrm flipV="1">
            <a:off x="9122017" y="1842873"/>
            <a:ext cx="232800" cy="4234376"/>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4" name="Conector recto de flecha 43">
            <a:extLst>
              <a:ext uri="{FF2B5EF4-FFF2-40B4-BE49-F238E27FC236}">
                <a16:creationId xmlns:a16="http://schemas.microsoft.com/office/drawing/2014/main" id="{FFB3C04F-C4FE-4C8B-AAAD-B7F2BBEA506C}"/>
              </a:ext>
            </a:extLst>
          </p:cNvPr>
          <p:cNvCxnSpPr/>
          <p:nvPr/>
        </p:nvCxnSpPr>
        <p:spPr>
          <a:xfrm>
            <a:off x="9507217" y="1842873"/>
            <a:ext cx="0" cy="4234375"/>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5" name="Conector recto de flecha 44">
            <a:extLst>
              <a:ext uri="{FF2B5EF4-FFF2-40B4-BE49-F238E27FC236}">
                <a16:creationId xmlns:a16="http://schemas.microsoft.com/office/drawing/2014/main" id="{3473D619-0A86-428B-9288-2DB54B8698C6}"/>
              </a:ext>
            </a:extLst>
          </p:cNvPr>
          <p:cNvCxnSpPr>
            <a:cxnSpLocks/>
          </p:cNvCxnSpPr>
          <p:nvPr/>
        </p:nvCxnSpPr>
        <p:spPr>
          <a:xfrm flipV="1">
            <a:off x="9589767" y="1842872"/>
            <a:ext cx="232800" cy="4234376"/>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6" name="Conector recto de flecha 45">
            <a:extLst>
              <a:ext uri="{FF2B5EF4-FFF2-40B4-BE49-F238E27FC236}">
                <a16:creationId xmlns:a16="http://schemas.microsoft.com/office/drawing/2014/main" id="{4B23E587-0023-47E6-9343-9A05F40F0ED9}"/>
              </a:ext>
            </a:extLst>
          </p:cNvPr>
          <p:cNvCxnSpPr/>
          <p:nvPr/>
        </p:nvCxnSpPr>
        <p:spPr>
          <a:xfrm>
            <a:off x="9983467" y="1842875"/>
            <a:ext cx="0" cy="4234375"/>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7" name="Conector recto de flecha 46">
            <a:extLst>
              <a:ext uri="{FF2B5EF4-FFF2-40B4-BE49-F238E27FC236}">
                <a16:creationId xmlns:a16="http://schemas.microsoft.com/office/drawing/2014/main" id="{97931A43-F3A0-475F-B0B7-9A8A39467658}"/>
              </a:ext>
            </a:extLst>
          </p:cNvPr>
          <p:cNvCxnSpPr>
            <a:cxnSpLocks/>
          </p:cNvCxnSpPr>
          <p:nvPr/>
        </p:nvCxnSpPr>
        <p:spPr>
          <a:xfrm flipV="1">
            <a:off x="10066017" y="1842874"/>
            <a:ext cx="232800" cy="4234376"/>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8" name="Conector recto de flecha 47">
            <a:extLst>
              <a:ext uri="{FF2B5EF4-FFF2-40B4-BE49-F238E27FC236}">
                <a16:creationId xmlns:a16="http://schemas.microsoft.com/office/drawing/2014/main" id="{29470B17-46FF-4A85-BDA4-F8BEAF6F2EFB}"/>
              </a:ext>
            </a:extLst>
          </p:cNvPr>
          <p:cNvCxnSpPr/>
          <p:nvPr/>
        </p:nvCxnSpPr>
        <p:spPr>
          <a:xfrm>
            <a:off x="10459717" y="1842872"/>
            <a:ext cx="0" cy="4234375"/>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9" name="Conector recto de flecha 48">
            <a:extLst>
              <a:ext uri="{FF2B5EF4-FFF2-40B4-BE49-F238E27FC236}">
                <a16:creationId xmlns:a16="http://schemas.microsoft.com/office/drawing/2014/main" id="{F1D71661-21D8-41B5-BCB6-D39D49E68254}"/>
              </a:ext>
            </a:extLst>
          </p:cNvPr>
          <p:cNvCxnSpPr>
            <a:cxnSpLocks/>
          </p:cNvCxnSpPr>
          <p:nvPr/>
        </p:nvCxnSpPr>
        <p:spPr>
          <a:xfrm flipV="1">
            <a:off x="10542267" y="1842871"/>
            <a:ext cx="232800" cy="4234376"/>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0" name="Conector recto de flecha 49">
            <a:extLst>
              <a:ext uri="{FF2B5EF4-FFF2-40B4-BE49-F238E27FC236}">
                <a16:creationId xmlns:a16="http://schemas.microsoft.com/office/drawing/2014/main" id="{1D213F73-DBCB-4456-B815-6C3A5940BEBF}"/>
              </a:ext>
            </a:extLst>
          </p:cNvPr>
          <p:cNvCxnSpPr/>
          <p:nvPr/>
        </p:nvCxnSpPr>
        <p:spPr>
          <a:xfrm>
            <a:off x="10925418" y="1842874"/>
            <a:ext cx="0" cy="4234375"/>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pic>
        <p:nvPicPr>
          <p:cNvPr id="51" name="Picture 4" descr="Resultado de imagen para utn ba">
            <a:extLst>
              <a:ext uri="{FF2B5EF4-FFF2-40B4-BE49-F238E27FC236}">
                <a16:creationId xmlns:a16="http://schemas.microsoft.com/office/drawing/2014/main" id="{D93B8E9F-6272-4EC5-9C2B-4DC2BD98ADD3}"/>
              </a:ext>
            </a:extLst>
          </p:cNvPr>
          <p:cNvPicPr>
            <a:picLocks noChangeAspect="1" noChangeArrowheads="1"/>
          </p:cNvPicPr>
          <p:nvPr/>
        </p:nvPicPr>
        <p:blipFill>
          <a:blip r:embed="rId4">
            <a:duotone>
              <a:prstClr val="black"/>
              <a:srgbClr val="FF0000">
                <a:tint val="45000"/>
                <a:satMod val="400000"/>
              </a:srgbClr>
            </a:duotone>
            <a:alphaModFix amt="62000"/>
            <a:extLst>
              <a:ext uri="{BEBA8EAE-BF5A-486C-A8C5-ECC9F3942E4B}">
                <a14:imgProps xmlns:a14="http://schemas.microsoft.com/office/drawing/2010/main">
                  <a14:imgLayer r:embed="rId5">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grpSp>
        <p:nvGrpSpPr>
          <p:cNvPr id="52" name="Grupo 51">
            <a:extLst>
              <a:ext uri="{FF2B5EF4-FFF2-40B4-BE49-F238E27FC236}">
                <a16:creationId xmlns:a16="http://schemas.microsoft.com/office/drawing/2014/main" id="{1C46B7C1-A5BC-4AC7-96F2-44F3A7012CC6}"/>
              </a:ext>
            </a:extLst>
          </p:cNvPr>
          <p:cNvGrpSpPr/>
          <p:nvPr/>
        </p:nvGrpSpPr>
        <p:grpSpPr>
          <a:xfrm>
            <a:off x="0" y="4141"/>
            <a:ext cx="12192000" cy="6849718"/>
            <a:chOff x="0" y="4141"/>
            <a:chExt cx="12192000" cy="6849718"/>
          </a:xfrm>
        </p:grpSpPr>
        <p:grpSp>
          <p:nvGrpSpPr>
            <p:cNvPr id="53" name="Grupo 52">
              <a:extLst>
                <a:ext uri="{FF2B5EF4-FFF2-40B4-BE49-F238E27FC236}">
                  <a16:creationId xmlns:a16="http://schemas.microsoft.com/office/drawing/2014/main" id="{6E334347-D1FF-47AE-B659-ABE31D1793BB}"/>
                </a:ext>
              </a:extLst>
            </p:cNvPr>
            <p:cNvGrpSpPr/>
            <p:nvPr/>
          </p:nvGrpSpPr>
          <p:grpSpPr>
            <a:xfrm>
              <a:off x="0" y="4141"/>
              <a:ext cx="12192000" cy="6849718"/>
              <a:chOff x="0" y="4141"/>
              <a:chExt cx="12192000" cy="6849718"/>
            </a:xfrm>
          </p:grpSpPr>
          <p:sp>
            <p:nvSpPr>
              <p:cNvPr id="55" name="Rectángulo 54">
                <a:extLst>
                  <a:ext uri="{FF2B5EF4-FFF2-40B4-BE49-F238E27FC236}">
                    <a16:creationId xmlns:a16="http://schemas.microsoft.com/office/drawing/2014/main" id="{0B1A5846-FFAC-47BF-8F32-BF1BC5391BC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56" name="Rectángulo 55">
                <a:extLst>
                  <a:ext uri="{FF2B5EF4-FFF2-40B4-BE49-F238E27FC236}">
                    <a16:creationId xmlns:a16="http://schemas.microsoft.com/office/drawing/2014/main" id="{9BCFD491-5245-4D6E-A03E-3382FAEC3EEA}"/>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57" name="Rectángulo 56">
                <a:extLst>
                  <a:ext uri="{FF2B5EF4-FFF2-40B4-BE49-F238E27FC236}">
                    <a16:creationId xmlns:a16="http://schemas.microsoft.com/office/drawing/2014/main" id="{876DDB5F-6003-438C-ABDA-CEFA44D4287A}"/>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54" name="Imagen 53">
              <a:extLst>
                <a:ext uri="{FF2B5EF4-FFF2-40B4-BE49-F238E27FC236}">
                  <a16:creationId xmlns:a16="http://schemas.microsoft.com/office/drawing/2014/main" id="{5CAF04AD-684D-466B-8C1A-60998FD06F45}"/>
                </a:ext>
              </a:extLst>
            </p:cNvPr>
            <p:cNvPicPr>
              <a:picLocks noChangeAspect="1"/>
            </p:cNvPicPr>
            <p:nvPr/>
          </p:nvPicPr>
          <p:blipFill rotWithShape="1">
            <a:blip r:embed="rId6">
              <a:alphaModFix amt="50000"/>
            </a:blip>
            <a:srcRect l="15693" t="31624" r="25546" b="30133"/>
            <a:stretch/>
          </p:blipFill>
          <p:spPr>
            <a:xfrm>
              <a:off x="11311846" y="6376358"/>
              <a:ext cx="880154" cy="477359"/>
            </a:xfrm>
            <a:prstGeom prst="rect">
              <a:avLst/>
            </a:prstGeom>
          </p:spPr>
        </p:pic>
      </p:grpSp>
      <p:sp>
        <p:nvSpPr>
          <p:cNvPr id="4" name="CuadroTexto 3">
            <a:extLst>
              <a:ext uri="{FF2B5EF4-FFF2-40B4-BE49-F238E27FC236}">
                <a16:creationId xmlns:a16="http://schemas.microsoft.com/office/drawing/2014/main" id="{A3FA28C8-C39C-4A5F-B521-7EA1222838BB}"/>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defPPr>
              <a:defRPr lang="es-AR"/>
            </a:defPPr>
            <a:lvl1pPr algn="ctr">
              <a:defRPr sz="4400">
                <a:solidFill>
                  <a:schemeClr val="tx1">
                    <a:lumMod val="65000"/>
                    <a:lumOff val="35000"/>
                  </a:schemeClr>
                </a:solidFill>
              </a:defRPr>
            </a:lvl1pPr>
          </a:lstStyle>
          <a:p>
            <a:r>
              <a:rPr lang="es-AR" dirty="0"/>
              <a:t>Pliegos de Toma de Datos</a:t>
            </a:r>
          </a:p>
        </p:txBody>
      </p:sp>
    </p:spTree>
    <p:extLst>
      <p:ext uri="{BB962C8B-B14F-4D97-AF65-F5344CB8AC3E}">
        <p14:creationId xmlns:p14="http://schemas.microsoft.com/office/powerpoint/2010/main" val="241970723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to 1">
            <a:extLst>
              <a:ext uri="{FF2B5EF4-FFF2-40B4-BE49-F238E27FC236}">
                <a16:creationId xmlns:a16="http://schemas.microsoft.com/office/drawing/2014/main" id="{1CF7D65B-610B-4113-810D-B95B73AE4904}"/>
              </a:ext>
            </a:extLst>
          </p:cNvPr>
          <p:cNvGraphicFramePr>
            <a:graphicFrameLocks noChangeAspect="1"/>
          </p:cNvGraphicFramePr>
          <p:nvPr>
            <p:extLst>
              <p:ext uri="{D42A27DB-BD31-4B8C-83A1-F6EECF244321}">
                <p14:modId xmlns:p14="http://schemas.microsoft.com/office/powerpoint/2010/main" val="3523366715"/>
              </p:ext>
            </p:extLst>
          </p:nvPr>
        </p:nvGraphicFramePr>
        <p:xfrm>
          <a:off x="2683322" y="1227785"/>
          <a:ext cx="6955853" cy="5040000"/>
        </p:xfrm>
        <a:graphic>
          <a:graphicData uri="http://schemas.openxmlformats.org/presentationml/2006/ole">
            <mc:AlternateContent xmlns:mc="http://schemas.openxmlformats.org/markup-compatibility/2006">
              <mc:Choice xmlns:v="urn:schemas-microsoft-com:vml" Requires="v">
                <p:oleObj name="Worksheet" r:id="rId2" imgW="6086495" imgH="4410236" progId="Excel.Sheet.12">
                  <p:embed/>
                </p:oleObj>
              </mc:Choice>
              <mc:Fallback>
                <p:oleObj name="Worksheet" r:id="rId2" imgW="6086495" imgH="4410236" progId="Excel.Sheet.12">
                  <p:embed/>
                  <p:pic>
                    <p:nvPicPr>
                      <p:cNvPr id="2" name="Objeto 1">
                        <a:extLst>
                          <a:ext uri="{FF2B5EF4-FFF2-40B4-BE49-F238E27FC236}">
                            <a16:creationId xmlns:a16="http://schemas.microsoft.com/office/drawing/2014/main" id="{1CF7D65B-610B-4113-810D-B95B73AE4904}"/>
                          </a:ext>
                        </a:extLst>
                      </p:cNvPr>
                      <p:cNvPicPr/>
                      <p:nvPr/>
                    </p:nvPicPr>
                    <p:blipFill>
                      <a:blip r:embed="rId3"/>
                      <a:stretch>
                        <a:fillRect/>
                      </a:stretch>
                    </p:blipFill>
                    <p:spPr>
                      <a:xfrm>
                        <a:off x="2683322" y="1227785"/>
                        <a:ext cx="6955853" cy="5040000"/>
                      </a:xfrm>
                      <a:prstGeom prst="rect">
                        <a:avLst/>
                      </a:prstGeom>
                    </p:spPr>
                  </p:pic>
                </p:oleObj>
              </mc:Fallback>
            </mc:AlternateContent>
          </a:graphicData>
        </a:graphic>
      </p:graphicFrame>
      <p:cxnSp>
        <p:nvCxnSpPr>
          <p:cNvPr id="10" name="Conector recto de flecha 9">
            <a:extLst>
              <a:ext uri="{FF2B5EF4-FFF2-40B4-BE49-F238E27FC236}">
                <a16:creationId xmlns:a16="http://schemas.microsoft.com/office/drawing/2014/main" id="{07B6FDEC-3446-4CCA-B61D-DE11C8F29A04}"/>
              </a:ext>
            </a:extLst>
          </p:cNvPr>
          <p:cNvCxnSpPr>
            <a:cxnSpLocks/>
          </p:cNvCxnSpPr>
          <p:nvPr/>
        </p:nvCxnSpPr>
        <p:spPr>
          <a:xfrm>
            <a:off x="4199500" y="1997612"/>
            <a:ext cx="0" cy="4254300"/>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D0313B93-E756-4F22-8DFC-A2D40BCB8835}"/>
              </a:ext>
            </a:extLst>
          </p:cNvPr>
          <p:cNvCxnSpPr>
            <a:cxnSpLocks/>
          </p:cNvCxnSpPr>
          <p:nvPr/>
        </p:nvCxnSpPr>
        <p:spPr>
          <a:xfrm flipV="1">
            <a:off x="4319686" y="1957751"/>
            <a:ext cx="3324127" cy="4235543"/>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67F61A40-4832-45F0-8E4A-02D8D2BD69A3}"/>
              </a:ext>
            </a:extLst>
          </p:cNvPr>
          <p:cNvCxnSpPr>
            <a:cxnSpLocks/>
          </p:cNvCxnSpPr>
          <p:nvPr/>
        </p:nvCxnSpPr>
        <p:spPr>
          <a:xfrm>
            <a:off x="7773376" y="1957751"/>
            <a:ext cx="0" cy="4275401"/>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pic>
        <p:nvPicPr>
          <p:cNvPr id="9" name="Picture 4" descr="Resultado de imagen para utn ba">
            <a:extLst>
              <a:ext uri="{FF2B5EF4-FFF2-40B4-BE49-F238E27FC236}">
                <a16:creationId xmlns:a16="http://schemas.microsoft.com/office/drawing/2014/main" id="{763B392D-7E1B-4C1A-BB5D-86B552735F2B}"/>
              </a:ext>
            </a:extLst>
          </p:cNvPr>
          <p:cNvPicPr>
            <a:picLocks noChangeAspect="1" noChangeArrowheads="1"/>
          </p:cNvPicPr>
          <p:nvPr/>
        </p:nvPicPr>
        <p:blipFill>
          <a:blip r:embed="rId4">
            <a:duotone>
              <a:prstClr val="black"/>
              <a:srgbClr val="FF0000">
                <a:tint val="45000"/>
                <a:satMod val="400000"/>
              </a:srgbClr>
            </a:duotone>
            <a:alphaModFix amt="62000"/>
            <a:extLst>
              <a:ext uri="{BEBA8EAE-BF5A-486C-A8C5-ECC9F3942E4B}">
                <a14:imgProps xmlns:a14="http://schemas.microsoft.com/office/drawing/2010/main">
                  <a14:imgLayer r:embed="rId5">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upo 10">
            <a:extLst>
              <a:ext uri="{FF2B5EF4-FFF2-40B4-BE49-F238E27FC236}">
                <a16:creationId xmlns:a16="http://schemas.microsoft.com/office/drawing/2014/main" id="{D63361DA-EEF3-4AC0-895B-C83D74E102C2}"/>
              </a:ext>
            </a:extLst>
          </p:cNvPr>
          <p:cNvGrpSpPr/>
          <p:nvPr/>
        </p:nvGrpSpPr>
        <p:grpSpPr>
          <a:xfrm>
            <a:off x="0" y="4141"/>
            <a:ext cx="12192000" cy="6849718"/>
            <a:chOff x="0" y="4141"/>
            <a:chExt cx="12192000" cy="6849718"/>
          </a:xfrm>
        </p:grpSpPr>
        <p:grpSp>
          <p:nvGrpSpPr>
            <p:cNvPr id="12" name="Grupo 11">
              <a:extLst>
                <a:ext uri="{FF2B5EF4-FFF2-40B4-BE49-F238E27FC236}">
                  <a16:creationId xmlns:a16="http://schemas.microsoft.com/office/drawing/2014/main" id="{FA6F1864-1996-4A97-B730-A63FCAA0CEF2}"/>
                </a:ext>
              </a:extLst>
            </p:cNvPr>
            <p:cNvGrpSpPr/>
            <p:nvPr/>
          </p:nvGrpSpPr>
          <p:grpSpPr>
            <a:xfrm>
              <a:off x="0" y="4141"/>
              <a:ext cx="12192000" cy="6849718"/>
              <a:chOff x="0" y="4141"/>
              <a:chExt cx="12192000" cy="6849718"/>
            </a:xfrm>
          </p:grpSpPr>
          <p:sp>
            <p:nvSpPr>
              <p:cNvPr id="14" name="Rectángulo 13">
                <a:extLst>
                  <a:ext uri="{FF2B5EF4-FFF2-40B4-BE49-F238E27FC236}">
                    <a16:creationId xmlns:a16="http://schemas.microsoft.com/office/drawing/2014/main" id="{DE7DCCD8-BB12-44FF-B6E8-461615F2A881}"/>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15" name="Rectángulo 14">
                <a:extLst>
                  <a:ext uri="{FF2B5EF4-FFF2-40B4-BE49-F238E27FC236}">
                    <a16:creationId xmlns:a16="http://schemas.microsoft.com/office/drawing/2014/main" id="{1B1D1C84-E404-4446-A2A8-42E0D52A32EF}"/>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17" name="Rectángulo 16">
                <a:extLst>
                  <a:ext uri="{FF2B5EF4-FFF2-40B4-BE49-F238E27FC236}">
                    <a16:creationId xmlns:a16="http://schemas.microsoft.com/office/drawing/2014/main" id="{7088DE51-767E-4BCF-AE95-3A0DEBC5461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13" name="Imagen 12">
              <a:extLst>
                <a:ext uri="{FF2B5EF4-FFF2-40B4-BE49-F238E27FC236}">
                  <a16:creationId xmlns:a16="http://schemas.microsoft.com/office/drawing/2014/main" id="{81D2145C-FD16-4DA2-92C0-9AB6AF79634C}"/>
                </a:ext>
              </a:extLst>
            </p:cNvPr>
            <p:cNvPicPr>
              <a:picLocks noChangeAspect="1"/>
            </p:cNvPicPr>
            <p:nvPr/>
          </p:nvPicPr>
          <p:blipFill rotWithShape="1">
            <a:blip r:embed="rId6">
              <a:alphaModFix amt="50000"/>
            </a:blip>
            <a:srcRect l="15693" t="31624" r="25546" b="30133"/>
            <a:stretch/>
          </p:blipFill>
          <p:spPr>
            <a:xfrm>
              <a:off x="11311846" y="6376358"/>
              <a:ext cx="880154" cy="477359"/>
            </a:xfrm>
            <a:prstGeom prst="rect">
              <a:avLst/>
            </a:prstGeom>
          </p:spPr>
        </p:pic>
      </p:grpSp>
      <p:sp>
        <p:nvSpPr>
          <p:cNvPr id="18" name="CuadroTexto 17">
            <a:extLst>
              <a:ext uri="{FF2B5EF4-FFF2-40B4-BE49-F238E27FC236}">
                <a16:creationId xmlns:a16="http://schemas.microsoft.com/office/drawing/2014/main" id="{816A1487-F8E5-4094-8C50-77AC489297E5}"/>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defPPr>
              <a:defRPr lang="es-AR"/>
            </a:defPPr>
            <a:lvl1pPr algn="ctr">
              <a:defRPr sz="4400">
                <a:solidFill>
                  <a:schemeClr val="tx1">
                    <a:lumMod val="65000"/>
                    <a:lumOff val="35000"/>
                  </a:schemeClr>
                </a:solidFill>
              </a:defRPr>
            </a:lvl1pPr>
          </a:lstStyle>
          <a:p>
            <a:r>
              <a:rPr lang="es-AR" dirty="0"/>
              <a:t>Pliegos de Toma de Datos</a:t>
            </a:r>
          </a:p>
        </p:txBody>
      </p:sp>
    </p:spTree>
    <p:extLst>
      <p:ext uri="{BB962C8B-B14F-4D97-AF65-F5344CB8AC3E}">
        <p14:creationId xmlns:p14="http://schemas.microsoft.com/office/powerpoint/2010/main" val="93910476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defPPr>
              <a:defRPr lang="es-AR"/>
            </a:defPPr>
            <a:lvl1pPr algn="ctr">
              <a:defRPr sz="4400">
                <a:solidFill>
                  <a:schemeClr val="tx1">
                    <a:lumMod val="65000"/>
                    <a:lumOff val="35000"/>
                  </a:schemeClr>
                </a:solidFill>
              </a:defRPr>
            </a:lvl1pPr>
          </a:lstStyle>
          <a:p>
            <a:r>
              <a:rPr lang="es-AR" dirty="0"/>
              <a:t>Pliegos de Toma de Datos</a:t>
            </a:r>
          </a:p>
        </p:txBody>
      </p:sp>
      <p:grpSp>
        <p:nvGrpSpPr>
          <p:cNvPr id="30" name="Grupo 29">
            <a:extLst>
              <a:ext uri="{FF2B5EF4-FFF2-40B4-BE49-F238E27FC236}">
                <a16:creationId xmlns:a16="http://schemas.microsoft.com/office/drawing/2014/main" id="{C6F8B36E-045A-4F96-A6E3-614230581483}"/>
              </a:ext>
            </a:extLst>
          </p:cNvPr>
          <p:cNvGrpSpPr/>
          <p:nvPr/>
        </p:nvGrpSpPr>
        <p:grpSpPr>
          <a:xfrm>
            <a:off x="0" y="4141"/>
            <a:ext cx="12192000" cy="6849718"/>
            <a:chOff x="0" y="4141"/>
            <a:chExt cx="12192000" cy="6849718"/>
          </a:xfrm>
        </p:grpSpPr>
        <p:grpSp>
          <p:nvGrpSpPr>
            <p:cNvPr id="31" name="Grupo 30">
              <a:extLst>
                <a:ext uri="{FF2B5EF4-FFF2-40B4-BE49-F238E27FC236}">
                  <a16:creationId xmlns:a16="http://schemas.microsoft.com/office/drawing/2014/main" id="{F4550908-8633-4EDB-85ED-53B600E979B3}"/>
                </a:ext>
              </a:extLst>
            </p:cNvPr>
            <p:cNvGrpSpPr/>
            <p:nvPr/>
          </p:nvGrpSpPr>
          <p:grpSpPr>
            <a:xfrm>
              <a:off x="0" y="4141"/>
              <a:ext cx="12192000" cy="6849718"/>
              <a:chOff x="0" y="4141"/>
              <a:chExt cx="12192000" cy="6849718"/>
            </a:xfrm>
          </p:grpSpPr>
          <p:sp>
            <p:nvSpPr>
              <p:cNvPr id="33" name="Rectángulo 32">
                <a:extLst>
                  <a:ext uri="{FF2B5EF4-FFF2-40B4-BE49-F238E27FC236}">
                    <a16:creationId xmlns:a16="http://schemas.microsoft.com/office/drawing/2014/main" id="{050EC418-21ED-4099-A616-64049AE82550}"/>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34" name="Rectángulo 33">
                <a:extLst>
                  <a:ext uri="{FF2B5EF4-FFF2-40B4-BE49-F238E27FC236}">
                    <a16:creationId xmlns:a16="http://schemas.microsoft.com/office/drawing/2014/main" id="{AEE46C8A-38C8-4DDA-8AB2-A41A6C880318}"/>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35" name="Rectángulo 34">
                <a:extLst>
                  <a:ext uri="{FF2B5EF4-FFF2-40B4-BE49-F238E27FC236}">
                    <a16:creationId xmlns:a16="http://schemas.microsoft.com/office/drawing/2014/main" id="{46FA439C-7EC5-4DCD-8CC0-7B6F1F956EA9}"/>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32" name="Imagen 31">
              <a:extLst>
                <a:ext uri="{FF2B5EF4-FFF2-40B4-BE49-F238E27FC236}">
                  <a16:creationId xmlns:a16="http://schemas.microsoft.com/office/drawing/2014/main" id="{904EA942-2B7D-4110-B887-3D53417850E8}"/>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2" name="Rectángulo 1">
            <a:extLst>
              <a:ext uri="{FF2B5EF4-FFF2-40B4-BE49-F238E27FC236}">
                <a16:creationId xmlns:a16="http://schemas.microsoft.com/office/drawing/2014/main" id="{7AD68A98-BF14-4BC2-A4F3-C47A100D94D2}"/>
              </a:ext>
            </a:extLst>
          </p:cNvPr>
          <p:cNvSpPr/>
          <p:nvPr/>
        </p:nvSpPr>
        <p:spPr>
          <a:xfrm>
            <a:off x="701036" y="1586039"/>
            <a:ext cx="10524443" cy="129439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Una vez obtenidas todas las muestras necesarias y validadas estadísticamente se procede a realizar el cálculo del TIEMPO BÁSICO para cada elemento.</a:t>
            </a:r>
          </a:p>
        </p:txBody>
      </p:sp>
      <p:sp>
        <p:nvSpPr>
          <p:cNvPr id="18" name="Rectángulo 17">
            <a:extLst>
              <a:ext uri="{FF2B5EF4-FFF2-40B4-BE49-F238E27FC236}">
                <a16:creationId xmlns:a16="http://schemas.microsoft.com/office/drawing/2014/main" id="{9E4A436C-79D3-43AB-A71B-D97E43BC53BB}"/>
              </a:ext>
            </a:extLst>
          </p:cNvPr>
          <p:cNvSpPr/>
          <p:nvPr/>
        </p:nvSpPr>
        <p:spPr>
          <a:xfrm>
            <a:off x="701035" y="3003771"/>
            <a:ext cx="10524443" cy="129439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Este procedimiento tiene ligeras variaciones si se realiza para tiempos breves o para tiempos no breves.</a:t>
            </a:r>
          </a:p>
        </p:txBody>
      </p:sp>
      <mc:AlternateContent xmlns:mc="http://schemas.openxmlformats.org/markup-compatibility/2006" xmlns:a14="http://schemas.microsoft.com/office/drawing/2010/main">
        <mc:Choice Requires="a14">
          <p:sp>
            <p:nvSpPr>
              <p:cNvPr id="19" name="Rectángulo 18">
                <a:extLst>
                  <a:ext uri="{FF2B5EF4-FFF2-40B4-BE49-F238E27FC236}">
                    <a16:creationId xmlns:a16="http://schemas.microsoft.com/office/drawing/2014/main" id="{6BA5AD0F-3EED-4690-9787-A717667EF837}"/>
                  </a:ext>
                </a:extLst>
              </p:cNvPr>
              <p:cNvSpPr/>
              <p:nvPr/>
            </p:nvSpPr>
            <p:spPr>
              <a:xfrm>
                <a:off x="701034" y="4424601"/>
                <a:ext cx="10524443" cy="176518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En ambos casos la fórmula empleada es la misma, pero los términos empleados cambian ligeramente su significado.</a:t>
                </a:r>
              </a:p>
              <a:p>
                <a:pPr/>
                <a14:m>
                  <m:oMathPara xmlns:m="http://schemas.openxmlformats.org/officeDocument/2006/math">
                    <m:oMathParaPr>
                      <m:jc m:val="centerGroup"/>
                    </m:oMathParaPr>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𝑇</m:t>
                          </m:r>
                        </m:e>
                        <m:sub>
                          <m:r>
                            <a:rPr lang="es-AR" sz="2400" b="0" i="1" smtClean="0">
                              <a:latin typeface="Cambria Math" panose="02040503050406030204" pitchFamily="18" charset="0"/>
                            </a:rPr>
                            <m:t>𝐵</m:t>
                          </m:r>
                        </m:sub>
                      </m:sSub>
                      <m:r>
                        <a:rPr lang="es-AR" sz="2400" b="0" i="1" smtClean="0">
                          <a:latin typeface="Cambria Math" panose="02040503050406030204" pitchFamily="18" charset="0"/>
                        </a:rPr>
                        <m:t>=</m:t>
                      </m:r>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𝑇</m:t>
                          </m:r>
                        </m:e>
                        <m:sub>
                          <m:r>
                            <a:rPr lang="es-AR" sz="2400" b="0" i="1" smtClean="0">
                              <a:latin typeface="Cambria Math" panose="02040503050406030204" pitchFamily="18" charset="0"/>
                            </a:rPr>
                            <m:t>𝑂</m:t>
                          </m:r>
                        </m:sub>
                      </m:sSub>
                      <m:r>
                        <a:rPr lang="es-AR" sz="2400" b="0" i="1" smtClean="0">
                          <a:latin typeface="Cambria Math" panose="02040503050406030204" pitchFamily="18" charset="0"/>
                          <a:ea typeface="Cambria Math" panose="02040503050406030204" pitchFamily="18" charset="0"/>
                        </a:rPr>
                        <m:t>×</m:t>
                      </m:r>
                      <m:f>
                        <m:fPr>
                          <m:ctrlPr>
                            <a:rPr lang="es-AR" sz="2400" b="0" i="1" smtClean="0">
                              <a:latin typeface="Cambria Math" panose="02040503050406030204" pitchFamily="18" charset="0"/>
                              <a:ea typeface="Cambria Math" panose="02040503050406030204" pitchFamily="18" charset="0"/>
                            </a:rPr>
                          </m:ctrlPr>
                        </m:fPr>
                        <m:num>
                          <m:r>
                            <a:rPr lang="es-AR" sz="2400" b="0" i="1" smtClean="0">
                              <a:latin typeface="Cambria Math" panose="02040503050406030204" pitchFamily="18" charset="0"/>
                              <a:ea typeface="Cambria Math" panose="02040503050406030204" pitchFamily="18" charset="0"/>
                            </a:rPr>
                            <m:t>𝑉</m:t>
                          </m:r>
                        </m:num>
                        <m:den>
                          <m:r>
                            <a:rPr lang="es-AR" sz="2400" b="0" i="1" smtClean="0">
                              <a:latin typeface="Cambria Math" panose="02040503050406030204" pitchFamily="18" charset="0"/>
                              <a:ea typeface="Cambria Math" panose="02040503050406030204" pitchFamily="18" charset="0"/>
                            </a:rPr>
                            <m:t>100</m:t>
                          </m:r>
                        </m:den>
                      </m:f>
                    </m:oMath>
                  </m:oMathPara>
                </a14:m>
                <a:endParaRPr lang="es-AR" sz="2400" dirty="0"/>
              </a:p>
            </p:txBody>
          </p:sp>
        </mc:Choice>
        <mc:Fallback xmlns="">
          <p:sp>
            <p:nvSpPr>
              <p:cNvPr id="19" name="Rectángulo 18">
                <a:extLst>
                  <a:ext uri="{FF2B5EF4-FFF2-40B4-BE49-F238E27FC236}">
                    <a16:creationId xmlns:a16="http://schemas.microsoft.com/office/drawing/2014/main" id="{6BA5AD0F-3EED-4690-9787-A717667EF837}"/>
                  </a:ext>
                </a:extLst>
              </p:cNvPr>
              <p:cNvSpPr>
                <a:spLocks noRot="1" noChangeAspect="1" noMove="1" noResize="1" noEditPoints="1" noAdjustHandles="1" noChangeArrowheads="1" noChangeShapeType="1" noTextEdit="1"/>
              </p:cNvSpPr>
              <p:nvPr/>
            </p:nvSpPr>
            <p:spPr>
              <a:xfrm>
                <a:off x="701034" y="4424601"/>
                <a:ext cx="10524443" cy="1765184"/>
              </a:xfrm>
              <a:prstGeom prst="rect">
                <a:avLst/>
              </a:prstGeom>
              <a:blipFill>
                <a:blip r:embed="rId6"/>
                <a:stretch>
                  <a:fillRect l="-809"/>
                </a:stretch>
              </a:blipFill>
            </p:spPr>
            <p:txBody>
              <a:bodyPr/>
              <a:lstStyle/>
              <a:p>
                <a:r>
                  <a:rPr lang="es-AR">
                    <a:noFill/>
                  </a:rPr>
                  <a:t> </a:t>
                </a:r>
              </a:p>
            </p:txBody>
          </p:sp>
        </mc:Fallback>
      </mc:AlternateContent>
    </p:spTree>
    <p:extLst>
      <p:ext uri="{BB962C8B-B14F-4D97-AF65-F5344CB8AC3E}">
        <p14:creationId xmlns:p14="http://schemas.microsoft.com/office/powerpoint/2010/main" val="243161698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91ED6962-821A-47F5-AAD9-1F755BBA53C9}"/>
              </a:ext>
            </a:extLst>
          </p:cNvPr>
          <p:cNvSpPr/>
          <p:nvPr/>
        </p:nvSpPr>
        <p:spPr>
          <a:xfrm>
            <a:off x="267120" y="1317856"/>
            <a:ext cx="11591937" cy="60940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En el caso de tiempos breves se deben realizar los siguientes pasos:</a:t>
            </a:r>
          </a:p>
        </p:txBody>
      </p:sp>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defPPr>
              <a:defRPr lang="es-AR"/>
            </a:defPPr>
            <a:lvl1pPr algn="ctr">
              <a:defRPr sz="4400">
                <a:solidFill>
                  <a:schemeClr val="tx1">
                    <a:lumMod val="65000"/>
                    <a:lumOff val="35000"/>
                  </a:schemeClr>
                </a:solidFill>
              </a:defRPr>
            </a:lvl1pPr>
          </a:lstStyle>
          <a:p>
            <a:r>
              <a:rPr lang="es-AR" dirty="0"/>
              <a:t>Pliegos de Toma de Datos</a:t>
            </a:r>
          </a:p>
        </p:txBody>
      </p:sp>
      <p:grpSp>
        <p:nvGrpSpPr>
          <p:cNvPr id="30" name="Grupo 29">
            <a:extLst>
              <a:ext uri="{FF2B5EF4-FFF2-40B4-BE49-F238E27FC236}">
                <a16:creationId xmlns:a16="http://schemas.microsoft.com/office/drawing/2014/main" id="{C6F8B36E-045A-4F96-A6E3-614230581483}"/>
              </a:ext>
            </a:extLst>
          </p:cNvPr>
          <p:cNvGrpSpPr/>
          <p:nvPr/>
        </p:nvGrpSpPr>
        <p:grpSpPr>
          <a:xfrm>
            <a:off x="0" y="4141"/>
            <a:ext cx="12192000" cy="6849718"/>
            <a:chOff x="0" y="4141"/>
            <a:chExt cx="12192000" cy="6849718"/>
          </a:xfrm>
        </p:grpSpPr>
        <p:grpSp>
          <p:nvGrpSpPr>
            <p:cNvPr id="31" name="Grupo 30">
              <a:extLst>
                <a:ext uri="{FF2B5EF4-FFF2-40B4-BE49-F238E27FC236}">
                  <a16:creationId xmlns:a16="http://schemas.microsoft.com/office/drawing/2014/main" id="{F4550908-8633-4EDB-85ED-53B600E979B3}"/>
                </a:ext>
              </a:extLst>
            </p:cNvPr>
            <p:cNvGrpSpPr/>
            <p:nvPr/>
          </p:nvGrpSpPr>
          <p:grpSpPr>
            <a:xfrm>
              <a:off x="0" y="4141"/>
              <a:ext cx="12192000" cy="6849718"/>
              <a:chOff x="0" y="4141"/>
              <a:chExt cx="12192000" cy="6849718"/>
            </a:xfrm>
          </p:grpSpPr>
          <p:sp>
            <p:nvSpPr>
              <p:cNvPr id="33" name="Rectángulo 32">
                <a:extLst>
                  <a:ext uri="{FF2B5EF4-FFF2-40B4-BE49-F238E27FC236}">
                    <a16:creationId xmlns:a16="http://schemas.microsoft.com/office/drawing/2014/main" id="{050EC418-21ED-4099-A616-64049AE82550}"/>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34" name="Rectángulo 33">
                <a:extLst>
                  <a:ext uri="{FF2B5EF4-FFF2-40B4-BE49-F238E27FC236}">
                    <a16:creationId xmlns:a16="http://schemas.microsoft.com/office/drawing/2014/main" id="{AEE46C8A-38C8-4DDA-8AB2-A41A6C880318}"/>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35" name="Rectángulo 34">
                <a:extLst>
                  <a:ext uri="{FF2B5EF4-FFF2-40B4-BE49-F238E27FC236}">
                    <a16:creationId xmlns:a16="http://schemas.microsoft.com/office/drawing/2014/main" id="{46FA439C-7EC5-4DCD-8CC0-7B6F1F956EA9}"/>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32" name="Imagen 31">
              <a:extLst>
                <a:ext uri="{FF2B5EF4-FFF2-40B4-BE49-F238E27FC236}">
                  <a16:creationId xmlns:a16="http://schemas.microsoft.com/office/drawing/2014/main" id="{904EA942-2B7D-4110-B887-3D53417850E8}"/>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3" name="Rectángulo 2">
            <a:extLst>
              <a:ext uri="{FF2B5EF4-FFF2-40B4-BE49-F238E27FC236}">
                <a16:creationId xmlns:a16="http://schemas.microsoft.com/office/drawing/2014/main" id="{26D21BCA-C3E9-4190-81D9-EA0566102355}"/>
              </a:ext>
            </a:extLst>
          </p:cNvPr>
          <p:cNvSpPr/>
          <p:nvPr/>
        </p:nvSpPr>
        <p:spPr>
          <a:xfrm>
            <a:off x="633038" y="5265090"/>
            <a:ext cx="11241247" cy="94047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Sumar los Tiempos Básicos de cada elemento para así obtener el Tiempo Básico de la actividad.</a:t>
            </a:r>
          </a:p>
        </p:txBody>
      </p:sp>
      <mc:AlternateContent xmlns:mc="http://schemas.openxmlformats.org/markup-compatibility/2006" xmlns:a14="http://schemas.microsoft.com/office/drawing/2010/main">
        <mc:Choice Requires="a14">
          <p:sp>
            <p:nvSpPr>
              <p:cNvPr id="4" name="Rectángulo 3">
                <a:extLst>
                  <a:ext uri="{FF2B5EF4-FFF2-40B4-BE49-F238E27FC236}">
                    <a16:creationId xmlns:a16="http://schemas.microsoft.com/office/drawing/2014/main" id="{47BBC4B9-B82D-469B-851E-79DA66EA60D0}"/>
                  </a:ext>
                </a:extLst>
              </p:cNvPr>
              <p:cNvSpPr/>
              <p:nvPr/>
            </p:nvSpPr>
            <p:spPr>
              <a:xfrm>
                <a:off x="633038" y="2057080"/>
                <a:ext cx="11241247" cy="939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Para cada elemento realizar el promedio de los tiempos observados, </a:t>
                </a:r>
                <a14:m>
                  <m:oMath xmlns:m="http://schemas.openxmlformats.org/officeDocument/2006/math">
                    <m:acc>
                      <m:accPr>
                        <m:chr m:val="̅"/>
                        <m:ctrlPr>
                          <a:rPr lang="es-AR" sz="2000" i="1" smtClean="0">
                            <a:latin typeface="Cambria Math" panose="02040503050406030204" pitchFamily="18" charset="0"/>
                          </a:rPr>
                        </m:ctrlPr>
                      </m:accPr>
                      <m:e>
                        <m:sSub>
                          <m:sSubPr>
                            <m:ctrlPr>
                              <a:rPr lang="es-AR" sz="2000" i="1" smtClean="0">
                                <a:latin typeface="Cambria Math" panose="02040503050406030204" pitchFamily="18" charset="0"/>
                              </a:rPr>
                            </m:ctrlPr>
                          </m:sSubPr>
                          <m:e>
                            <m:r>
                              <a:rPr lang="es-AR" sz="2000" b="0" i="1" smtClean="0">
                                <a:latin typeface="Cambria Math" panose="02040503050406030204" pitchFamily="18" charset="0"/>
                              </a:rPr>
                              <m:t>𝑇</m:t>
                            </m:r>
                          </m:e>
                          <m:sub>
                            <m:r>
                              <a:rPr lang="es-AR" sz="2000" b="0" i="1" smtClean="0">
                                <a:latin typeface="Cambria Math" panose="02040503050406030204" pitchFamily="18" charset="0"/>
                              </a:rPr>
                              <m:t>𝑂</m:t>
                            </m:r>
                          </m:sub>
                        </m:sSub>
                      </m:e>
                    </m:acc>
                    <m:r>
                      <a:rPr lang="es-AR" sz="2000" b="0" i="1" smtClean="0">
                        <a:latin typeface="Cambria Math" panose="02040503050406030204" pitchFamily="18" charset="0"/>
                      </a:rPr>
                      <m:t>=</m:t>
                    </m:r>
                    <m:f>
                      <m:fPr>
                        <m:ctrlPr>
                          <a:rPr lang="es-AR" sz="2000" b="0" i="1" smtClean="0">
                            <a:latin typeface="Cambria Math" panose="02040503050406030204" pitchFamily="18" charset="0"/>
                          </a:rPr>
                        </m:ctrlPr>
                      </m:fPr>
                      <m:num>
                        <m:nary>
                          <m:naryPr>
                            <m:chr m:val="∑"/>
                            <m:subHide m:val="on"/>
                            <m:supHide m:val="on"/>
                            <m:ctrlPr>
                              <a:rPr lang="es-AR" sz="2000" b="0" i="1" smtClean="0">
                                <a:latin typeface="Cambria Math" panose="02040503050406030204" pitchFamily="18" charset="0"/>
                              </a:rPr>
                            </m:ctrlPr>
                          </m:naryPr>
                          <m:sub/>
                          <m:sup/>
                          <m:e>
                            <m:d>
                              <m:dPr>
                                <m:ctrlPr>
                                  <a:rPr lang="es-AR" sz="2000" b="0" i="1" smtClean="0">
                                    <a:latin typeface="Cambria Math" panose="02040503050406030204" pitchFamily="18" charset="0"/>
                                  </a:rPr>
                                </m:ctrlPr>
                              </m:dPr>
                              <m:e>
                                <m:sSub>
                                  <m:sSubPr>
                                    <m:ctrlPr>
                                      <a:rPr lang="es-AR" sz="2000" b="0" i="1" smtClean="0">
                                        <a:latin typeface="Cambria Math" panose="02040503050406030204" pitchFamily="18" charset="0"/>
                                      </a:rPr>
                                    </m:ctrlPr>
                                  </m:sSubPr>
                                  <m:e>
                                    <m:sSub>
                                      <m:sSubPr>
                                        <m:ctrlPr>
                                          <a:rPr lang="es-AR" sz="2000" b="0" i="1" smtClean="0">
                                            <a:latin typeface="Cambria Math" panose="02040503050406030204" pitchFamily="18" charset="0"/>
                                          </a:rPr>
                                        </m:ctrlPr>
                                      </m:sSubPr>
                                      <m:e>
                                        <m:r>
                                          <a:rPr lang="es-AR" sz="2000" b="0" i="1" smtClean="0">
                                            <a:latin typeface="Cambria Math" panose="02040503050406030204" pitchFamily="18" charset="0"/>
                                          </a:rPr>
                                          <m:t>𝑇</m:t>
                                        </m:r>
                                      </m:e>
                                      <m:sub>
                                        <m:r>
                                          <a:rPr lang="es-AR" sz="2000" b="0" i="1" smtClean="0">
                                            <a:latin typeface="Cambria Math" panose="02040503050406030204" pitchFamily="18" charset="0"/>
                                          </a:rPr>
                                          <m:t>𝑂</m:t>
                                        </m:r>
                                      </m:sub>
                                    </m:sSub>
                                  </m:e>
                                  <m:sub>
                                    <m:r>
                                      <a:rPr lang="es-AR" sz="2000" b="0" i="1" smtClean="0">
                                        <a:latin typeface="Cambria Math" panose="02040503050406030204" pitchFamily="18" charset="0"/>
                                      </a:rPr>
                                      <m:t>𝑖</m:t>
                                    </m:r>
                                  </m:sub>
                                </m:sSub>
                              </m:e>
                            </m:d>
                          </m:e>
                        </m:nary>
                      </m:num>
                      <m:den>
                        <m:r>
                          <a:rPr lang="es-AR" sz="2000" b="0" i="1" smtClean="0">
                            <a:latin typeface="Cambria Math" panose="02040503050406030204" pitchFamily="18" charset="0"/>
                          </a:rPr>
                          <m:t>𝑛</m:t>
                        </m:r>
                      </m:den>
                    </m:f>
                  </m:oMath>
                </a14:m>
                <a:r>
                  <a:rPr lang="es-AR" sz="2000" dirty="0"/>
                  <a:t> </a:t>
                </a:r>
                <a14:m>
                  <m:oMath xmlns:m="http://schemas.openxmlformats.org/officeDocument/2006/math">
                    <m:r>
                      <m:rPr>
                        <m:nor/>
                      </m:rPr>
                      <a:rPr lang="es-AR" sz="2000" dirty="0"/>
                      <m:t>, </m:t>
                    </m:r>
                    <m:r>
                      <m:rPr>
                        <m:nor/>
                      </m:rPr>
                      <a:rPr lang="es-AR" sz="2000" dirty="0"/>
                      <m:t>donde</m:t>
                    </m:r>
                    <m:r>
                      <m:rPr>
                        <m:nor/>
                      </m:rPr>
                      <a:rPr lang="es-AR" sz="2000" dirty="0"/>
                      <m:t> </m:t>
                    </m:r>
                    <m:r>
                      <m:rPr>
                        <m:nor/>
                      </m:rPr>
                      <a:rPr lang="es-AR" sz="2000" b="0" i="0" dirty="0" smtClean="0"/>
                      <m:t>T</m:t>
                    </m:r>
                    <m:r>
                      <m:rPr>
                        <m:nor/>
                      </m:rPr>
                      <a:rPr lang="es-AR" sz="2000" b="0" i="0" baseline="-25000" dirty="0" smtClean="0"/>
                      <m:t>O</m:t>
                    </m:r>
                    <m:r>
                      <m:rPr>
                        <m:nor/>
                      </m:rPr>
                      <a:rPr lang="es-AR" sz="2000" baseline="-25000" dirty="0"/>
                      <m:t>i</m:t>
                    </m:r>
                    <m:r>
                      <m:rPr>
                        <m:nor/>
                      </m:rPr>
                      <a:rPr lang="es-AR" sz="2000" dirty="0"/>
                      <m:t> </m:t>
                    </m:r>
                    <m:r>
                      <m:rPr>
                        <m:nor/>
                      </m:rPr>
                      <a:rPr lang="es-AR" sz="2000" dirty="0"/>
                      <m:t>es</m:t>
                    </m:r>
                    <m:r>
                      <m:rPr>
                        <m:nor/>
                      </m:rPr>
                      <a:rPr lang="es-AR" sz="2000" dirty="0"/>
                      <m:t> </m:t>
                    </m:r>
                    <m:r>
                      <m:rPr>
                        <m:nor/>
                      </m:rPr>
                      <a:rPr lang="es-AR" sz="2000" dirty="0"/>
                      <m:t>cada</m:t>
                    </m:r>
                    <m:r>
                      <m:rPr>
                        <m:nor/>
                      </m:rPr>
                      <a:rPr lang="es-AR" sz="2000" dirty="0"/>
                      <m:t> </m:t>
                    </m:r>
                    <m:r>
                      <m:rPr>
                        <m:nor/>
                      </m:rPr>
                      <a:rPr lang="es-AR" sz="2000" dirty="0"/>
                      <m:t>uno</m:t>
                    </m:r>
                    <m:r>
                      <m:rPr>
                        <m:nor/>
                      </m:rPr>
                      <a:rPr lang="es-AR" sz="2000" dirty="0"/>
                      <m:t> </m:t>
                    </m:r>
                    <m:r>
                      <m:rPr>
                        <m:nor/>
                      </m:rPr>
                      <a:rPr lang="es-AR" sz="2000" dirty="0"/>
                      <m:t>de</m:t>
                    </m:r>
                    <m:r>
                      <m:rPr>
                        <m:nor/>
                      </m:rPr>
                      <a:rPr lang="es-AR" sz="2000" dirty="0"/>
                      <m:t> </m:t>
                    </m:r>
                    <m:r>
                      <m:rPr>
                        <m:nor/>
                      </m:rPr>
                      <a:rPr lang="es-AR" sz="2000" dirty="0"/>
                      <m:t>los</m:t>
                    </m:r>
                    <m:r>
                      <m:rPr>
                        <m:nor/>
                      </m:rPr>
                      <a:rPr lang="es-AR" sz="2000" dirty="0"/>
                      <m:t> </m:t>
                    </m:r>
                    <m:r>
                      <m:rPr>
                        <m:nor/>
                      </m:rPr>
                      <a:rPr lang="es-AR" sz="2000" b="0" i="0" dirty="0" smtClean="0"/>
                      <m:t>tiempos</m:t>
                    </m:r>
                    <m:r>
                      <m:rPr>
                        <m:nor/>
                      </m:rPr>
                      <a:rPr lang="es-AR" sz="2000" b="0" i="0" dirty="0" smtClean="0"/>
                      <m:t> </m:t>
                    </m:r>
                    <m:r>
                      <m:rPr>
                        <m:nor/>
                      </m:rPr>
                      <a:rPr lang="es-AR" sz="2000" dirty="0"/>
                      <m:t>observados</m:t>
                    </m:r>
                    <m:r>
                      <m:rPr>
                        <m:nor/>
                      </m:rPr>
                      <a:rPr lang="es-AR" sz="2000" dirty="0"/>
                      <m:t> </m:t>
                    </m:r>
                    <m:r>
                      <m:rPr>
                        <m:nor/>
                      </m:rPr>
                      <a:rPr lang="es-AR" sz="2000" dirty="0"/>
                      <m:t>y</m:t>
                    </m:r>
                    <m:r>
                      <m:rPr>
                        <m:nor/>
                      </m:rPr>
                      <a:rPr lang="es-AR" sz="2000" dirty="0"/>
                      <m:t> </m:t>
                    </m:r>
                    <m:r>
                      <m:rPr>
                        <m:nor/>
                      </m:rPr>
                      <a:rPr lang="es-AR" sz="2000" b="0" i="0" dirty="0" smtClean="0"/>
                      <m:t>n</m:t>
                    </m:r>
                    <m:r>
                      <m:rPr>
                        <m:nor/>
                      </m:rPr>
                      <a:rPr lang="es-AR" sz="2000" dirty="0"/>
                      <m:t> </m:t>
                    </m:r>
                    <m:r>
                      <m:rPr>
                        <m:nor/>
                      </m:rPr>
                      <a:rPr lang="es-AR" sz="2000" dirty="0"/>
                      <m:t>la</m:t>
                    </m:r>
                    <m:r>
                      <m:rPr>
                        <m:nor/>
                      </m:rPr>
                      <a:rPr lang="es-AR" sz="2000" dirty="0"/>
                      <m:t> </m:t>
                    </m:r>
                    <m:r>
                      <m:rPr>
                        <m:nor/>
                      </m:rPr>
                      <a:rPr lang="es-AR" sz="2000" dirty="0"/>
                      <m:t>cantidad</m:t>
                    </m:r>
                    <m:r>
                      <m:rPr>
                        <m:nor/>
                      </m:rPr>
                      <a:rPr lang="es-AR" sz="2000" dirty="0"/>
                      <m:t> </m:t>
                    </m:r>
                    <m:r>
                      <m:rPr>
                        <m:nor/>
                      </m:rPr>
                      <a:rPr lang="es-AR" sz="2000" dirty="0"/>
                      <m:t>de</m:t>
                    </m:r>
                    <m:r>
                      <m:rPr>
                        <m:nor/>
                      </m:rPr>
                      <a:rPr lang="es-AR" sz="2000" dirty="0"/>
                      <m:t> </m:t>
                    </m:r>
                    <m:r>
                      <m:rPr>
                        <m:nor/>
                      </m:rPr>
                      <a:rPr lang="es-AR" sz="2000" b="0" i="0" dirty="0" smtClean="0"/>
                      <m:t>tiempos</m:t>
                    </m:r>
                    <m:r>
                      <m:rPr>
                        <m:nor/>
                      </m:rPr>
                      <a:rPr lang="es-AR" sz="2000" b="0" i="0" dirty="0" smtClean="0"/>
                      <m:t> </m:t>
                    </m:r>
                    <m:r>
                      <m:rPr>
                        <m:nor/>
                      </m:rPr>
                      <a:rPr lang="es-AR" sz="2000" dirty="0"/>
                      <m:t>observados</m:t>
                    </m:r>
                  </m:oMath>
                </a14:m>
                <a:endParaRPr lang="es-AR" sz="2000" dirty="0"/>
              </a:p>
            </p:txBody>
          </p:sp>
        </mc:Choice>
        <mc:Fallback xmlns="">
          <p:sp>
            <p:nvSpPr>
              <p:cNvPr id="4" name="Rectángulo 3">
                <a:extLst>
                  <a:ext uri="{FF2B5EF4-FFF2-40B4-BE49-F238E27FC236}">
                    <a16:creationId xmlns:a16="http://schemas.microsoft.com/office/drawing/2014/main" id="{47BBC4B9-B82D-469B-851E-79DA66EA60D0}"/>
                  </a:ext>
                </a:extLst>
              </p:cNvPr>
              <p:cNvSpPr>
                <a:spLocks noRot="1" noChangeAspect="1" noMove="1" noResize="1" noEditPoints="1" noAdjustHandles="1" noChangeArrowheads="1" noChangeShapeType="1" noTextEdit="1"/>
              </p:cNvSpPr>
              <p:nvPr/>
            </p:nvSpPr>
            <p:spPr>
              <a:xfrm>
                <a:off x="633038" y="2057080"/>
                <a:ext cx="11241247" cy="939600"/>
              </a:xfrm>
              <a:prstGeom prst="rect">
                <a:avLst/>
              </a:prstGeom>
              <a:blipFill>
                <a:blip r:embed="rId6"/>
                <a:stretch>
                  <a:fillRect l="-542" b="-3822"/>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5" name="Rectángulo 4">
                <a:extLst>
                  <a:ext uri="{FF2B5EF4-FFF2-40B4-BE49-F238E27FC236}">
                    <a16:creationId xmlns:a16="http://schemas.microsoft.com/office/drawing/2014/main" id="{7376826F-B5F7-45F4-86C8-1D538696566A}"/>
                  </a:ext>
                </a:extLst>
              </p:cNvPr>
              <p:cNvSpPr/>
              <p:nvPr/>
            </p:nvSpPr>
            <p:spPr>
              <a:xfrm>
                <a:off x="633038" y="3126495"/>
                <a:ext cx="11241247" cy="94047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Para cada elemento calcular el promedio de los ritmos, </a:t>
                </a:r>
                <a14:m>
                  <m:oMath xmlns:m="http://schemas.openxmlformats.org/officeDocument/2006/math">
                    <m:acc>
                      <m:accPr>
                        <m:chr m:val="̅"/>
                        <m:ctrlPr>
                          <a:rPr lang="es-AR" sz="2400" i="1" smtClean="0">
                            <a:latin typeface="Cambria Math" panose="02040503050406030204" pitchFamily="18" charset="0"/>
                          </a:rPr>
                        </m:ctrlPr>
                      </m:accPr>
                      <m:e>
                        <m:r>
                          <a:rPr lang="es-AR" sz="2400" b="0" i="1" smtClean="0">
                            <a:latin typeface="Cambria Math" panose="02040503050406030204" pitchFamily="18" charset="0"/>
                          </a:rPr>
                          <m:t>𝑉</m:t>
                        </m:r>
                      </m:e>
                    </m:acc>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nary>
                          <m:naryPr>
                            <m:chr m:val="∑"/>
                            <m:subHide m:val="on"/>
                            <m:supHide m:val="on"/>
                            <m:ctrlPr>
                              <a:rPr lang="es-AR" sz="2400" b="0" i="1" smtClean="0">
                                <a:latin typeface="Cambria Math" panose="02040503050406030204" pitchFamily="18" charset="0"/>
                              </a:rPr>
                            </m:ctrlPr>
                          </m:naryPr>
                          <m:sub/>
                          <m:sup/>
                          <m:e>
                            <m:d>
                              <m:dPr>
                                <m:ctrlPr>
                                  <a:rPr lang="es-AR" sz="2400" b="0" i="1" smtClean="0">
                                    <a:latin typeface="Cambria Math" panose="02040503050406030204" pitchFamily="18" charset="0"/>
                                  </a:rPr>
                                </m:ctrlPr>
                              </m:dPr>
                              <m:e>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𝑉</m:t>
                                    </m:r>
                                  </m:e>
                                  <m:sub>
                                    <m:r>
                                      <a:rPr lang="es-AR" sz="2400" b="0" i="1" smtClean="0">
                                        <a:latin typeface="Cambria Math" panose="02040503050406030204" pitchFamily="18" charset="0"/>
                                      </a:rPr>
                                      <m:t>𝑖</m:t>
                                    </m:r>
                                  </m:sub>
                                </m:sSub>
                              </m:e>
                            </m:d>
                          </m:e>
                        </m:nary>
                      </m:num>
                      <m:den>
                        <m:r>
                          <a:rPr lang="es-AR" sz="2400" b="0" i="1" smtClean="0">
                            <a:latin typeface="Cambria Math" panose="02040503050406030204" pitchFamily="18" charset="0"/>
                          </a:rPr>
                          <m:t>𝑘</m:t>
                        </m:r>
                      </m:den>
                    </m:f>
                  </m:oMath>
                </a14:m>
                <a:r>
                  <a:rPr lang="es-AR" sz="2000" dirty="0"/>
                  <a:t>, donde V</a:t>
                </a:r>
                <a:r>
                  <a:rPr lang="es-AR" sz="2000" baseline="-25000" dirty="0"/>
                  <a:t>i</a:t>
                </a:r>
                <a:r>
                  <a:rPr lang="es-AR" sz="2000" dirty="0"/>
                  <a:t> es cada uno de los ritmos observados y k la cantidad de ritmos observados</a:t>
                </a:r>
              </a:p>
            </p:txBody>
          </p:sp>
        </mc:Choice>
        <mc:Fallback xmlns="">
          <p:sp>
            <p:nvSpPr>
              <p:cNvPr id="5" name="Rectángulo 4">
                <a:extLst>
                  <a:ext uri="{FF2B5EF4-FFF2-40B4-BE49-F238E27FC236}">
                    <a16:creationId xmlns:a16="http://schemas.microsoft.com/office/drawing/2014/main" id="{7376826F-B5F7-45F4-86C8-1D538696566A}"/>
                  </a:ext>
                </a:extLst>
              </p:cNvPr>
              <p:cNvSpPr>
                <a:spLocks noRot="1" noChangeAspect="1" noMove="1" noResize="1" noEditPoints="1" noAdjustHandles="1" noChangeArrowheads="1" noChangeShapeType="1" noTextEdit="1"/>
              </p:cNvSpPr>
              <p:nvPr/>
            </p:nvSpPr>
            <p:spPr>
              <a:xfrm>
                <a:off x="633038" y="3126495"/>
                <a:ext cx="11241247" cy="940478"/>
              </a:xfrm>
              <a:prstGeom prst="rect">
                <a:avLst/>
              </a:prstGeom>
              <a:blipFill>
                <a:blip r:embed="rId7"/>
                <a:stretch>
                  <a:fillRect l="-542" r="-542" b="-1153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6" name="Rectángulo 5">
                <a:extLst>
                  <a:ext uri="{FF2B5EF4-FFF2-40B4-BE49-F238E27FC236}">
                    <a16:creationId xmlns:a16="http://schemas.microsoft.com/office/drawing/2014/main" id="{73344590-B29A-48FB-AA6A-AF9FD9086DFE}"/>
                  </a:ext>
                </a:extLst>
              </p:cNvPr>
              <p:cNvSpPr/>
              <p:nvPr/>
            </p:nvSpPr>
            <p:spPr>
              <a:xfrm>
                <a:off x="633038" y="4196788"/>
                <a:ext cx="11241247" cy="94047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Para cada elemento calcular el Tiempo Básico, </a:t>
                </a:r>
                <a14:m>
                  <m:oMath xmlns:m="http://schemas.openxmlformats.org/officeDocument/2006/math">
                    <m:sSub>
                      <m:sSubPr>
                        <m:ctrlPr>
                          <a:rPr lang="es-AR" sz="2000" i="1" smtClean="0">
                            <a:latin typeface="Cambria Math" panose="02040503050406030204" pitchFamily="18" charset="0"/>
                          </a:rPr>
                        </m:ctrlPr>
                      </m:sSubPr>
                      <m:e>
                        <m:r>
                          <a:rPr lang="es-AR" sz="2000" b="0" i="1" smtClean="0">
                            <a:latin typeface="Cambria Math" panose="02040503050406030204" pitchFamily="18" charset="0"/>
                          </a:rPr>
                          <m:t>𝑇</m:t>
                        </m:r>
                      </m:e>
                      <m:sub>
                        <m:r>
                          <a:rPr lang="es-AR" sz="2000" b="0" i="1" smtClean="0">
                            <a:latin typeface="Cambria Math" panose="02040503050406030204" pitchFamily="18" charset="0"/>
                          </a:rPr>
                          <m:t>𝐵</m:t>
                        </m:r>
                      </m:sub>
                    </m:sSub>
                    <m:r>
                      <a:rPr lang="es-AR" sz="2000" b="0" i="1" smtClean="0">
                        <a:latin typeface="Cambria Math" panose="02040503050406030204" pitchFamily="18" charset="0"/>
                      </a:rPr>
                      <m:t>=</m:t>
                    </m:r>
                    <m:acc>
                      <m:accPr>
                        <m:chr m:val="̅"/>
                        <m:ctrlPr>
                          <a:rPr lang="es-AR" sz="2000" i="1">
                            <a:latin typeface="Cambria Math" panose="02040503050406030204" pitchFamily="18" charset="0"/>
                          </a:rPr>
                        </m:ctrlPr>
                      </m:accPr>
                      <m:e>
                        <m:sSub>
                          <m:sSubPr>
                            <m:ctrlPr>
                              <a:rPr lang="es-AR" sz="2000" i="1">
                                <a:latin typeface="Cambria Math" panose="02040503050406030204" pitchFamily="18" charset="0"/>
                              </a:rPr>
                            </m:ctrlPr>
                          </m:sSubPr>
                          <m:e>
                            <m:r>
                              <a:rPr lang="es-AR" sz="2000" i="1">
                                <a:latin typeface="Cambria Math" panose="02040503050406030204" pitchFamily="18" charset="0"/>
                              </a:rPr>
                              <m:t>𝑇</m:t>
                            </m:r>
                          </m:e>
                          <m:sub>
                            <m:r>
                              <a:rPr lang="es-AR" sz="2000" i="1">
                                <a:latin typeface="Cambria Math" panose="02040503050406030204" pitchFamily="18" charset="0"/>
                              </a:rPr>
                              <m:t>𝑂</m:t>
                            </m:r>
                          </m:sub>
                        </m:sSub>
                      </m:e>
                    </m:acc>
                    <m:r>
                      <a:rPr lang="es-AR" sz="2000" b="0" i="1" smtClean="0">
                        <a:latin typeface="Cambria Math" panose="02040503050406030204" pitchFamily="18" charset="0"/>
                        <a:ea typeface="Cambria Math" panose="02040503050406030204" pitchFamily="18" charset="0"/>
                      </a:rPr>
                      <m:t>×</m:t>
                    </m:r>
                    <m:f>
                      <m:fPr>
                        <m:ctrlPr>
                          <a:rPr lang="es-AR" sz="2000" b="0" i="1" smtClean="0">
                            <a:latin typeface="Cambria Math" panose="02040503050406030204" pitchFamily="18" charset="0"/>
                            <a:ea typeface="Cambria Math" panose="02040503050406030204" pitchFamily="18" charset="0"/>
                          </a:rPr>
                        </m:ctrlPr>
                      </m:fPr>
                      <m:num>
                        <m:acc>
                          <m:accPr>
                            <m:chr m:val="̅"/>
                            <m:ctrlPr>
                              <a:rPr lang="es-AR" sz="2000" i="1">
                                <a:latin typeface="Cambria Math" panose="02040503050406030204" pitchFamily="18" charset="0"/>
                              </a:rPr>
                            </m:ctrlPr>
                          </m:accPr>
                          <m:e>
                            <m:r>
                              <a:rPr lang="es-AR" sz="2000" i="1">
                                <a:latin typeface="Cambria Math" panose="02040503050406030204" pitchFamily="18" charset="0"/>
                              </a:rPr>
                              <m:t>𝑉</m:t>
                            </m:r>
                          </m:e>
                        </m:acc>
                      </m:num>
                      <m:den>
                        <m:r>
                          <a:rPr lang="es-AR" sz="2000" b="0" i="1" smtClean="0">
                            <a:latin typeface="Cambria Math" panose="02040503050406030204" pitchFamily="18" charset="0"/>
                            <a:ea typeface="Cambria Math" panose="02040503050406030204" pitchFamily="18" charset="0"/>
                          </a:rPr>
                          <m:t>100</m:t>
                        </m:r>
                      </m:den>
                    </m:f>
                  </m:oMath>
                </a14:m>
                <a:endParaRPr lang="es-AR" sz="2000" dirty="0"/>
              </a:p>
            </p:txBody>
          </p:sp>
        </mc:Choice>
        <mc:Fallback xmlns="">
          <p:sp>
            <p:nvSpPr>
              <p:cNvPr id="6" name="Rectángulo 5">
                <a:extLst>
                  <a:ext uri="{FF2B5EF4-FFF2-40B4-BE49-F238E27FC236}">
                    <a16:creationId xmlns:a16="http://schemas.microsoft.com/office/drawing/2014/main" id="{73344590-B29A-48FB-AA6A-AF9FD9086DFE}"/>
                  </a:ext>
                </a:extLst>
              </p:cNvPr>
              <p:cNvSpPr>
                <a:spLocks noRot="1" noChangeAspect="1" noMove="1" noResize="1" noEditPoints="1" noAdjustHandles="1" noChangeArrowheads="1" noChangeShapeType="1" noTextEdit="1"/>
              </p:cNvSpPr>
              <p:nvPr/>
            </p:nvSpPr>
            <p:spPr>
              <a:xfrm>
                <a:off x="633038" y="4196788"/>
                <a:ext cx="11241247" cy="940478"/>
              </a:xfrm>
              <a:prstGeom prst="rect">
                <a:avLst/>
              </a:prstGeom>
              <a:blipFill>
                <a:blip r:embed="rId8"/>
                <a:stretch>
                  <a:fillRect l="-542"/>
                </a:stretch>
              </a:blipFill>
            </p:spPr>
            <p:txBody>
              <a:bodyPr/>
              <a:lstStyle/>
              <a:p>
                <a:r>
                  <a:rPr lang="es-AR">
                    <a:noFill/>
                  </a:rPr>
                  <a:t> </a:t>
                </a:r>
              </a:p>
            </p:txBody>
          </p:sp>
        </mc:Fallback>
      </mc:AlternateContent>
    </p:spTree>
    <p:extLst>
      <p:ext uri="{BB962C8B-B14F-4D97-AF65-F5344CB8AC3E}">
        <p14:creationId xmlns:p14="http://schemas.microsoft.com/office/powerpoint/2010/main" val="33985583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Ejemplo</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4" name="Rectángulo 3">
            <a:extLst>
              <a:ext uri="{FF2B5EF4-FFF2-40B4-BE49-F238E27FC236}">
                <a16:creationId xmlns:a16="http://schemas.microsoft.com/office/drawing/2014/main" id="{58A90454-B161-41F3-9311-B3FDD9FFCCB2}"/>
              </a:ext>
            </a:extLst>
          </p:cNvPr>
          <p:cNvSpPr/>
          <p:nvPr/>
        </p:nvSpPr>
        <p:spPr>
          <a:xfrm>
            <a:off x="475373" y="1243118"/>
            <a:ext cx="11160000" cy="48144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Calcule el Tiempo Básico de la actividad partiendo del pliego siguiente</a:t>
            </a:r>
          </a:p>
        </p:txBody>
      </p:sp>
      <p:graphicFrame>
        <p:nvGraphicFramePr>
          <p:cNvPr id="3" name="Objeto 2">
            <a:extLst>
              <a:ext uri="{FF2B5EF4-FFF2-40B4-BE49-F238E27FC236}">
                <a16:creationId xmlns:a16="http://schemas.microsoft.com/office/drawing/2014/main" id="{CCB9CA91-563D-4F6F-A65C-310193D5D2D2}"/>
              </a:ext>
            </a:extLst>
          </p:cNvPr>
          <p:cNvGraphicFramePr>
            <a:graphicFrameLocks noChangeAspect="1"/>
          </p:cNvGraphicFramePr>
          <p:nvPr>
            <p:extLst>
              <p:ext uri="{D42A27DB-BD31-4B8C-83A1-F6EECF244321}">
                <p14:modId xmlns:p14="http://schemas.microsoft.com/office/powerpoint/2010/main" val="3940966613"/>
              </p:ext>
            </p:extLst>
          </p:nvPr>
        </p:nvGraphicFramePr>
        <p:xfrm>
          <a:off x="475373" y="1850716"/>
          <a:ext cx="11160000" cy="3600000"/>
        </p:xfrm>
        <a:graphic>
          <a:graphicData uri="http://schemas.openxmlformats.org/presentationml/2006/ole">
            <mc:AlternateContent xmlns:mc="http://schemas.openxmlformats.org/markup-compatibility/2006">
              <mc:Choice xmlns:v="urn:schemas-microsoft-com:vml" Requires="v">
                <p:oleObj name="Worksheet" r:id="rId6" imgW="10334787" imgH="3333695" progId="Excel.Sheet.12">
                  <p:embed/>
                </p:oleObj>
              </mc:Choice>
              <mc:Fallback>
                <p:oleObj name="Worksheet" r:id="rId6" imgW="10334787" imgH="3333695" progId="Excel.Sheet.12">
                  <p:embed/>
                  <p:pic>
                    <p:nvPicPr>
                      <p:cNvPr id="3" name="Objeto 2">
                        <a:extLst>
                          <a:ext uri="{FF2B5EF4-FFF2-40B4-BE49-F238E27FC236}">
                            <a16:creationId xmlns:a16="http://schemas.microsoft.com/office/drawing/2014/main" id="{CCB9CA91-563D-4F6F-A65C-310193D5D2D2}"/>
                          </a:ext>
                        </a:extLst>
                      </p:cNvPr>
                      <p:cNvPicPr/>
                      <p:nvPr/>
                    </p:nvPicPr>
                    <p:blipFill>
                      <a:blip r:embed="rId7"/>
                      <a:stretch>
                        <a:fillRect/>
                      </a:stretch>
                    </p:blipFill>
                    <p:spPr>
                      <a:xfrm>
                        <a:off x="475373" y="1850716"/>
                        <a:ext cx="11160000" cy="3600000"/>
                      </a:xfrm>
                      <a:prstGeom prst="rect">
                        <a:avLst/>
                      </a:prstGeom>
                    </p:spPr>
                  </p:pic>
                </p:oleObj>
              </mc:Fallback>
            </mc:AlternateContent>
          </a:graphicData>
        </a:graphic>
      </p:graphicFrame>
      <p:sp>
        <p:nvSpPr>
          <p:cNvPr id="5" name="Rectángulo 4">
            <a:extLst>
              <a:ext uri="{FF2B5EF4-FFF2-40B4-BE49-F238E27FC236}">
                <a16:creationId xmlns:a16="http://schemas.microsoft.com/office/drawing/2014/main" id="{49D5E912-A247-4D03-9963-6E764AF01E8A}"/>
              </a:ext>
            </a:extLst>
          </p:cNvPr>
          <p:cNvSpPr/>
          <p:nvPr/>
        </p:nvSpPr>
        <p:spPr>
          <a:xfrm>
            <a:off x="10185009" y="2307100"/>
            <a:ext cx="1450364" cy="31076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8" name="Rectángulo 17">
            <a:extLst>
              <a:ext uri="{FF2B5EF4-FFF2-40B4-BE49-F238E27FC236}">
                <a16:creationId xmlns:a16="http://schemas.microsoft.com/office/drawing/2014/main" id="{309E7AF8-70AD-4660-A175-10977822A463}"/>
              </a:ext>
            </a:extLst>
          </p:cNvPr>
          <p:cNvSpPr/>
          <p:nvPr/>
        </p:nvSpPr>
        <p:spPr>
          <a:xfrm>
            <a:off x="475373" y="5576873"/>
            <a:ext cx="11160000" cy="65561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El Tiempo Básico es la suma de los Tiempos Básicos de cada elemento, por lo tanto</a:t>
            </a:r>
          </a:p>
          <a:p>
            <a:r>
              <a:rPr lang="es-AR" sz="2000" dirty="0"/>
              <a:t>T</a:t>
            </a:r>
            <a:r>
              <a:rPr lang="es-AR" sz="2000" baseline="-25000" dirty="0"/>
              <a:t>B</a:t>
            </a:r>
            <a:r>
              <a:rPr lang="es-AR" sz="2000" dirty="0"/>
              <a:t> = 125.24CM</a:t>
            </a:r>
          </a:p>
        </p:txBody>
      </p:sp>
    </p:spTree>
    <p:extLst>
      <p:ext uri="{BB962C8B-B14F-4D97-AF65-F5344CB8AC3E}">
        <p14:creationId xmlns:p14="http://schemas.microsoft.com/office/powerpoint/2010/main" val="22046249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91ED6962-821A-47F5-AAD9-1F755BBA53C9}"/>
              </a:ext>
            </a:extLst>
          </p:cNvPr>
          <p:cNvSpPr/>
          <p:nvPr/>
        </p:nvSpPr>
        <p:spPr>
          <a:xfrm>
            <a:off x="267120" y="1317856"/>
            <a:ext cx="11591937" cy="60940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En el caso de tiempos no breves se deben realizar los siguientes pasos:</a:t>
            </a:r>
          </a:p>
        </p:txBody>
      </p:sp>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defPPr>
              <a:defRPr lang="es-AR"/>
            </a:defPPr>
            <a:lvl1pPr algn="ctr">
              <a:defRPr sz="4400">
                <a:solidFill>
                  <a:schemeClr val="tx1">
                    <a:lumMod val="65000"/>
                    <a:lumOff val="35000"/>
                  </a:schemeClr>
                </a:solidFill>
              </a:defRPr>
            </a:lvl1pPr>
          </a:lstStyle>
          <a:p>
            <a:r>
              <a:rPr lang="es-AR" dirty="0"/>
              <a:t>Pliegos de Toma de Datos</a:t>
            </a:r>
          </a:p>
        </p:txBody>
      </p:sp>
      <p:grpSp>
        <p:nvGrpSpPr>
          <p:cNvPr id="30" name="Grupo 29">
            <a:extLst>
              <a:ext uri="{FF2B5EF4-FFF2-40B4-BE49-F238E27FC236}">
                <a16:creationId xmlns:a16="http://schemas.microsoft.com/office/drawing/2014/main" id="{C6F8B36E-045A-4F96-A6E3-614230581483}"/>
              </a:ext>
            </a:extLst>
          </p:cNvPr>
          <p:cNvGrpSpPr/>
          <p:nvPr/>
        </p:nvGrpSpPr>
        <p:grpSpPr>
          <a:xfrm>
            <a:off x="0" y="4141"/>
            <a:ext cx="12192000" cy="6849718"/>
            <a:chOff x="0" y="4141"/>
            <a:chExt cx="12192000" cy="6849718"/>
          </a:xfrm>
        </p:grpSpPr>
        <p:grpSp>
          <p:nvGrpSpPr>
            <p:cNvPr id="31" name="Grupo 30">
              <a:extLst>
                <a:ext uri="{FF2B5EF4-FFF2-40B4-BE49-F238E27FC236}">
                  <a16:creationId xmlns:a16="http://schemas.microsoft.com/office/drawing/2014/main" id="{F4550908-8633-4EDB-85ED-53B600E979B3}"/>
                </a:ext>
              </a:extLst>
            </p:cNvPr>
            <p:cNvGrpSpPr/>
            <p:nvPr/>
          </p:nvGrpSpPr>
          <p:grpSpPr>
            <a:xfrm>
              <a:off x="0" y="4141"/>
              <a:ext cx="12192000" cy="6849718"/>
              <a:chOff x="0" y="4141"/>
              <a:chExt cx="12192000" cy="6849718"/>
            </a:xfrm>
          </p:grpSpPr>
          <p:sp>
            <p:nvSpPr>
              <p:cNvPr id="33" name="Rectángulo 32">
                <a:extLst>
                  <a:ext uri="{FF2B5EF4-FFF2-40B4-BE49-F238E27FC236}">
                    <a16:creationId xmlns:a16="http://schemas.microsoft.com/office/drawing/2014/main" id="{050EC418-21ED-4099-A616-64049AE82550}"/>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34" name="Rectángulo 33">
                <a:extLst>
                  <a:ext uri="{FF2B5EF4-FFF2-40B4-BE49-F238E27FC236}">
                    <a16:creationId xmlns:a16="http://schemas.microsoft.com/office/drawing/2014/main" id="{AEE46C8A-38C8-4DDA-8AB2-A41A6C880318}"/>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35" name="Rectángulo 34">
                <a:extLst>
                  <a:ext uri="{FF2B5EF4-FFF2-40B4-BE49-F238E27FC236}">
                    <a16:creationId xmlns:a16="http://schemas.microsoft.com/office/drawing/2014/main" id="{46FA439C-7EC5-4DCD-8CC0-7B6F1F956EA9}"/>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32" name="Imagen 31">
              <a:extLst>
                <a:ext uri="{FF2B5EF4-FFF2-40B4-BE49-F238E27FC236}">
                  <a16:creationId xmlns:a16="http://schemas.microsoft.com/office/drawing/2014/main" id="{904EA942-2B7D-4110-B887-3D53417850E8}"/>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mc:AlternateContent xmlns:mc="http://schemas.openxmlformats.org/markup-compatibility/2006" xmlns:a14="http://schemas.microsoft.com/office/drawing/2010/main">
        <mc:Choice Requires="a14">
          <p:sp>
            <p:nvSpPr>
              <p:cNvPr id="4" name="Rectángulo 3">
                <a:extLst>
                  <a:ext uri="{FF2B5EF4-FFF2-40B4-BE49-F238E27FC236}">
                    <a16:creationId xmlns:a16="http://schemas.microsoft.com/office/drawing/2014/main" id="{47BBC4B9-B82D-469B-851E-79DA66EA60D0}"/>
                  </a:ext>
                </a:extLst>
              </p:cNvPr>
              <p:cNvSpPr/>
              <p:nvPr/>
            </p:nvSpPr>
            <p:spPr>
              <a:xfrm>
                <a:off x="633038" y="2057080"/>
                <a:ext cx="11241247" cy="939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Para cada medición calcular el Tiempo Básico, </a:t>
                </a:r>
                <a14:m>
                  <m:oMath xmlns:m="http://schemas.openxmlformats.org/officeDocument/2006/math">
                    <m:sSub>
                      <m:sSubPr>
                        <m:ctrlPr>
                          <a:rPr lang="es-AR" sz="2000" i="1">
                            <a:latin typeface="Cambria Math" panose="02040503050406030204" pitchFamily="18" charset="0"/>
                          </a:rPr>
                        </m:ctrlPr>
                      </m:sSubPr>
                      <m:e>
                        <m:r>
                          <a:rPr lang="es-AR" sz="2000" i="1">
                            <a:latin typeface="Cambria Math" panose="02040503050406030204" pitchFamily="18" charset="0"/>
                          </a:rPr>
                          <m:t>𝑇</m:t>
                        </m:r>
                      </m:e>
                      <m:sub>
                        <m:r>
                          <a:rPr lang="es-AR" sz="2000" i="1">
                            <a:latin typeface="Cambria Math" panose="02040503050406030204" pitchFamily="18" charset="0"/>
                          </a:rPr>
                          <m:t>𝐵</m:t>
                        </m:r>
                      </m:sub>
                    </m:sSub>
                    <m:r>
                      <a:rPr lang="es-AR" sz="2000" i="1">
                        <a:latin typeface="Cambria Math" panose="02040503050406030204" pitchFamily="18" charset="0"/>
                      </a:rPr>
                      <m:t>=</m:t>
                    </m:r>
                    <m:sSub>
                      <m:sSubPr>
                        <m:ctrlPr>
                          <a:rPr lang="es-AR" sz="2000" i="1">
                            <a:latin typeface="Cambria Math" panose="02040503050406030204" pitchFamily="18" charset="0"/>
                          </a:rPr>
                        </m:ctrlPr>
                      </m:sSubPr>
                      <m:e>
                        <m:r>
                          <a:rPr lang="es-AR" sz="2000" i="1">
                            <a:latin typeface="Cambria Math" panose="02040503050406030204" pitchFamily="18" charset="0"/>
                          </a:rPr>
                          <m:t>𝑇</m:t>
                        </m:r>
                      </m:e>
                      <m:sub>
                        <m:r>
                          <a:rPr lang="es-AR" sz="2000" i="1">
                            <a:latin typeface="Cambria Math" panose="02040503050406030204" pitchFamily="18" charset="0"/>
                          </a:rPr>
                          <m:t>𝑂</m:t>
                        </m:r>
                      </m:sub>
                    </m:sSub>
                    <m:r>
                      <a:rPr lang="es-AR" sz="2000" i="1">
                        <a:latin typeface="Cambria Math" panose="02040503050406030204" pitchFamily="18" charset="0"/>
                        <a:ea typeface="Cambria Math" panose="02040503050406030204" pitchFamily="18" charset="0"/>
                      </a:rPr>
                      <m:t>×</m:t>
                    </m:r>
                    <m:f>
                      <m:fPr>
                        <m:ctrlPr>
                          <a:rPr lang="es-AR" sz="2000" i="1">
                            <a:latin typeface="Cambria Math" panose="02040503050406030204" pitchFamily="18" charset="0"/>
                            <a:ea typeface="Cambria Math" panose="02040503050406030204" pitchFamily="18" charset="0"/>
                          </a:rPr>
                        </m:ctrlPr>
                      </m:fPr>
                      <m:num>
                        <m:r>
                          <a:rPr lang="es-AR" sz="2000" b="0" i="1" smtClean="0">
                            <a:latin typeface="Cambria Math" panose="02040503050406030204" pitchFamily="18" charset="0"/>
                          </a:rPr>
                          <m:t>𝑉</m:t>
                        </m:r>
                      </m:num>
                      <m:den>
                        <m:r>
                          <a:rPr lang="es-AR" sz="2000" i="1">
                            <a:latin typeface="Cambria Math" panose="02040503050406030204" pitchFamily="18" charset="0"/>
                            <a:ea typeface="Cambria Math" panose="02040503050406030204" pitchFamily="18" charset="0"/>
                          </a:rPr>
                          <m:t>100</m:t>
                        </m:r>
                      </m:den>
                    </m:f>
                  </m:oMath>
                </a14:m>
                <a:endParaRPr lang="es-AR" sz="2000" dirty="0"/>
              </a:p>
            </p:txBody>
          </p:sp>
        </mc:Choice>
        <mc:Fallback xmlns="">
          <p:sp>
            <p:nvSpPr>
              <p:cNvPr id="4" name="Rectángulo 3">
                <a:extLst>
                  <a:ext uri="{FF2B5EF4-FFF2-40B4-BE49-F238E27FC236}">
                    <a16:creationId xmlns:a16="http://schemas.microsoft.com/office/drawing/2014/main" id="{47BBC4B9-B82D-469B-851E-79DA66EA60D0}"/>
                  </a:ext>
                </a:extLst>
              </p:cNvPr>
              <p:cNvSpPr>
                <a:spLocks noRot="1" noChangeAspect="1" noMove="1" noResize="1" noEditPoints="1" noAdjustHandles="1" noChangeArrowheads="1" noChangeShapeType="1" noTextEdit="1"/>
              </p:cNvSpPr>
              <p:nvPr/>
            </p:nvSpPr>
            <p:spPr>
              <a:xfrm>
                <a:off x="633038" y="2057080"/>
                <a:ext cx="11241247" cy="939600"/>
              </a:xfrm>
              <a:prstGeom prst="rect">
                <a:avLst/>
              </a:prstGeom>
              <a:blipFill>
                <a:blip r:embed="rId6"/>
                <a:stretch>
                  <a:fillRect l="-542"/>
                </a:stretch>
              </a:blipFill>
            </p:spPr>
            <p:txBody>
              <a:bodyPr/>
              <a:lstStyle/>
              <a:p>
                <a:r>
                  <a:rPr lang="es-AR">
                    <a:noFill/>
                  </a:rPr>
                  <a:t> </a:t>
                </a:r>
              </a:p>
            </p:txBody>
          </p:sp>
        </mc:Fallback>
      </mc:AlternateContent>
      <p:sp>
        <p:nvSpPr>
          <p:cNvPr id="5" name="Rectángulo 4">
            <a:extLst>
              <a:ext uri="{FF2B5EF4-FFF2-40B4-BE49-F238E27FC236}">
                <a16:creationId xmlns:a16="http://schemas.microsoft.com/office/drawing/2014/main" id="{7376826F-B5F7-45F4-86C8-1D538696566A}"/>
              </a:ext>
            </a:extLst>
          </p:cNvPr>
          <p:cNvSpPr/>
          <p:nvPr/>
        </p:nvSpPr>
        <p:spPr>
          <a:xfrm>
            <a:off x="633038" y="3126495"/>
            <a:ext cx="11241247" cy="94047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Hallar el promedio de todos los Tiempos Básicos de cada elemento.</a:t>
            </a:r>
          </a:p>
        </p:txBody>
      </p:sp>
      <p:sp>
        <p:nvSpPr>
          <p:cNvPr id="6" name="Rectángulo 5">
            <a:extLst>
              <a:ext uri="{FF2B5EF4-FFF2-40B4-BE49-F238E27FC236}">
                <a16:creationId xmlns:a16="http://schemas.microsoft.com/office/drawing/2014/main" id="{73344590-B29A-48FB-AA6A-AF9FD9086DFE}"/>
              </a:ext>
            </a:extLst>
          </p:cNvPr>
          <p:cNvSpPr/>
          <p:nvPr/>
        </p:nvSpPr>
        <p:spPr>
          <a:xfrm>
            <a:off x="633038" y="4196788"/>
            <a:ext cx="11241247" cy="94047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Sumar los promedios de Tiempos Básicos de cada elemento para así obtener el Tiempo Básico de la actividad.</a:t>
            </a:r>
          </a:p>
        </p:txBody>
      </p:sp>
    </p:spTree>
    <p:extLst>
      <p:ext uri="{BB962C8B-B14F-4D97-AF65-F5344CB8AC3E}">
        <p14:creationId xmlns:p14="http://schemas.microsoft.com/office/powerpoint/2010/main" val="224485880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4" name="Rectángulo 3">
            <a:extLst>
              <a:ext uri="{FF2B5EF4-FFF2-40B4-BE49-F238E27FC236}">
                <a16:creationId xmlns:a16="http://schemas.microsoft.com/office/drawing/2014/main" id="{58A90454-B161-41F3-9311-B3FDD9FFCCB2}"/>
              </a:ext>
            </a:extLst>
          </p:cNvPr>
          <p:cNvSpPr/>
          <p:nvPr/>
        </p:nvSpPr>
        <p:spPr>
          <a:xfrm>
            <a:off x="7858981" y="1243118"/>
            <a:ext cx="4065890" cy="111387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Calcule el Tiempo Básico de la actividad partiendo del pliego siguiente</a:t>
            </a:r>
          </a:p>
        </p:txBody>
      </p:sp>
      <mc:AlternateContent xmlns:mc="http://schemas.openxmlformats.org/markup-compatibility/2006" xmlns:a14="http://schemas.microsoft.com/office/drawing/2010/main">
        <mc:Choice Requires="a14">
          <p:sp>
            <p:nvSpPr>
              <p:cNvPr id="18" name="Rectángulo 17">
                <a:extLst>
                  <a:ext uri="{FF2B5EF4-FFF2-40B4-BE49-F238E27FC236}">
                    <a16:creationId xmlns:a16="http://schemas.microsoft.com/office/drawing/2014/main" id="{309E7AF8-70AD-4660-A175-10977822A463}"/>
                  </a:ext>
                </a:extLst>
              </p:cNvPr>
              <p:cNvSpPr/>
              <p:nvPr/>
            </p:nvSpPr>
            <p:spPr>
              <a:xfrm>
                <a:off x="7839668" y="2488097"/>
                <a:ext cx="4085203" cy="312678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nSpc>
                    <a:spcPct val="150000"/>
                  </a:lnSpc>
                </a:pPr>
                <a14:m>
                  <m:oMathPara xmlns:m="http://schemas.openxmlformats.org/officeDocument/2006/math">
                    <m:oMathParaPr>
                      <m:jc m:val="centerGroup"/>
                    </m:oMathParaPr>
                    <m:oMath xmlns:m="http://schemas.openxmlformats.org/officeDocument/2006/math">
                      <m:acc>
                        <m:accPr>
                          <m:chr m:val="̅"/>
                          <m:ctrlPr>
                            <a:rPr lang="es-AR" sz="2000" i="1" smtClean="0">
                              <a:latin typeface="Cambria Math" panose="02040503050406030204" pitchFamily="18" charset="0"/>
                            </a:rPr>
                          </m:ctrlPr>
                        </m:accPr>
                        <m:e>
                          <m:sSub>
                            <m:sSubPr>
                              <m:ctrlPr>
                                <a:rPr lang="es-AR" sz="2000" i="1" smtClean="0">
                                  <a:latin typeface="Cambria Math" panose="02040503050406030204" pitchFamily="18" charset="0"/>
                                </a:rPr>
                              </m:ctrlPr>
                            </m:sSubPr>
                            <m:e>
                              <m:sSub>
                                <m:sSubPr>
                                  <m:ctrlPr>
                                    <a:rPr lang="es-AR" sz="2000" i="1" smtClean="0">
                                      <a:latin typeface="Cambria Math" panose="02040503050406030204" pitchFamily="18" charset="0"/>
                                    </a:rPr>
                                  </m:ctrlPr>
                                </m:sSubPr>
                                <m:e>
                                  <m:r>
                                    <a:rPr lang="es-AR" sz="2000" b="0" i="1" smtClean="0">
                                      <a:latin typeface="Cambria Math" panose="02040503050406030204" pitchFamily="18" charset="0"/>
                                    </a:rPr>
                                    <m:t>𝑇</m:t>
                                  </m:r>
                                </m:e>
                                <m:sub>
                                  <m:r>
                                    <a:rPr lang="es-AR" sz="2000" b="0" i="1" smtClean="0">
                                      <a:latin typeface="Cambria Math" panose="02040503050406030204" pitchFamily="18" charset="0"/>
                                    </a:rPr>
                                    <m:t>𝐵</m:t>
                                  </m:r>
                                </m:sub>
                              </m:sSub>
                            </m:e>
                            <m:sub>
                              <m:r>
                                <a:rPr lang="es-AR" sz="2000" b="0" i="1" smtClean="0">
                                  <a:latin typeface="Cambria Math" panose="02040503050406030204" pitchFamily="18" charset="0"/>
                                </a:rPr>
                                <m:t>𝑒</m:t>
                              </m:r>
                              <m:r>
                                <a:rPr lang="es-AR" sz="2000" b="0" i="1" smtClean="0">
                                  <a:latin typeface="Cambria Math" panose="02040503050406030204" pitchFamily="18" charset="0"/>
                                </a:rPr>
                                <m:t>1</m:t>
                              </m:r>
                            </m:sub>
                          </m:sSub>
                        </m:e>
                      </m:acc>
                      <m:r>
                        <a:rPr lang="es-AR" sz="2000" b="0" i="1" smtClean="0">
                          <a:latin typeface="Cambria Math" panose="02040503050406030204" pitchFamily="18" charset="0"/>
                        </a:rPr>
                        <m:t>=40.20</m:t>
                      </m:r>
                      <m:r>
                        <a:rPr lang="es-AR" sz="2000" b="0" i="1" smtClean="0">
                          <a:latin typeface="Cambria Math" panose="02040503050406030204" pitchFamily="18" charset="0"/>
                        </a:rPr>
                        <m:t>𝑠𝑒𝑔</m:t>
                      </m:r>
                    </m:oMath>
                  </m:oMathPara>
                </a14:m>
                <a:endParaRPr lang="es-AR" sz="2000" b="0" dirty="0"/>
              </a:p>
              <a:p>
                <a:pPr>
                  <a:lnSpc>
                    <a:spcPct val="150000"/>
                  </a:lnSpc>
                </a:pPr>
                <a14:m>
                  <m:oMathPara xmlns:m="http://schemas.openxmlformats.org/officeDocument/2006/math">
                    <m:oMathParaPr>
                      <m:jc m:val="centerGroup"/>
                    </m:oMathParaPr>
                    <m:oMath xmlns:m="http://schemas.openxmlformats.org/officeDocument/2006/math">
                      <m:acc>
                        <m:accPr>
                          <m:chr m:val="̅"/>
                          <m:ctrlPr>
                            <a:rPr lang="es-AR" sz="2000" i="1">
                              <a:latin typeface="Cambria Math" panose="02040503050406030204" pitchFamily="18" charset="0"/>
                            </a:rPr>
                          </m:ctrlPr>
                        </m:accPr>
                        <m:e>
                          <m:sSub>
                            <m:sSubPr>
                              <m:ctrlPr>
                                <a:rPr lang="es-AR" sz="2000" i="1">
                                  <a:latin typeface="Cambria Math" panose="02040503050406030204" pitchFamily="18" charset="0"/>
                                </a:rPr>
                              </m:ctrlPr>
                            </m:sSubPr>
                            <m:e>
                              <m:sSub>
                                <m:sSubPr>
                                  <m:ctrlPr>
                                    <a:rPr lang="es-AR" sz="2000" i="1">
                                      <a:latin typeface="Cambria Math" panose="02040503050406030204" pitchFamily="18" charset="0"/>
                                    </a:rPr>
                                  </m:ctrlPr>
                                </m:sSubPr>
                                <m:e>
                                  <m:r>
                                    <a:rPr lang="es-AR" sz="2000" i="1">
                                      <a:latin typeface="Cambria Math" panose="02040503050406030204" pitchFamily="18" charset="0"/>
                                    </a:rPr>
                                    <m:t>𝑇</m:t>
                                  </m:r>
                                </m:e>
                                <m:sub>
                                  <m:r>
                                    <a:rPr lang="es-AR" sz="2000" i="1">
                                      <a:latin typeface="Cambria Math" panose="02040503050406030204" pitchFamily="18" charset="0"/>
                                    </a:rPr>
                                    <m:t>𝐵</m:t>
                                  </m:r>
                                </m:sub>
                              </m:sSub>
                            </m:e>
                            <m:sub>
                              <m:r>
                                <a:rPr lang="es-AR" sz="2000" i="1">
                                  <a:latin typeface="Cambria Math" panose="02040503050406030204" pitchFamily="18" charset="0"/>
                                </a:rPr>
                                <m:t>𝑒</m:t>
                              </m:r>
                              <m:r>
                                <a:rPr lang="es-AR" sz="2000" b="0" i="1" smtClean="0">
                                  <a:latin typeface="Cambria Math" panose="02040503050406030204" pitchFamily="18" charset="0"/>
                                </a:rPr>
                                <m:t>2</m:t>
                              </m:r>
                            </m:sub>
                          </m:sSub>
                        </m:e>
                      </m:acc>
                      <m:r>
                        <a:rPr lang="es-AR" sz="2000" i="1">
                          <a:latin typeface="Cambria Math" panose="02040503050406030204" pitchFamily="18" charset="0"/>
                        </a:rPr>
                        <m:t>=</m:t>
                      </m:r>
                      <m:r>
                        <a:rPr lang="es-AR" sz="2000" b="0" i="1" smtClean="0">
                          <a:latin typeface="Cambria Math" panose="02040503050406030204" pitchFamily="18" charset="0"/>
                        </a:rPr>
                        <m:t>60.58</m:t>
                      </m:r>
                      <m:r>
                        <a:rPr lang="es-AR" sz="2000" b="0" i="1" smtClean="0">
                          <a:latin typeface="Cambria Math" panose="02040503050406030204" pitchFamily="18" charset="0"/>
                        </a:rPr>
                        <m:t>𝑠𝑒𝑔</m:t>
                      </m:r>
                    </m:oMath>
                  </m:oMathPara>
                </a14:m>
                <a:endParaRPr lang="es-AR" sz="2000" dirty="0"/>
              </a:p>
              <a:p>
                <a:pPr>
                  <a:lnSpc>
                    <a:spcPct val="150000"/>
                  </a:lnSpc>
                </a:pPr>
                <a14:m>
                  <m:oMathPara xmlns:m="http://schemas.openxmlformats.org/officeDocument/2006/math">
                    <m:oMathParaPr>
                      <m:jc m:val="centerGroup"/>
                    </m:oMathParaPr>
                    <m:oMath xmlns:m="http://schemas.openxmlformats.org/officeDocument/2006/math">
                      <m:acc>
                        <m:accPr>
                          <m:chr m:val="̅"/>
                          <m:ctrlPr>
                            <a:rPr lang="es-AR" sz="2000" i="1">
                              <a:latin typeface="Cambria Math" panose="02040503050406030204" pitchFamily="18" charset="0"/>
                            </a:rPr>
                          </m:ctrlPr>
                        </m:accPr>
                        <m:e>
                          <m:sSub>
                            <m:sSubPr>
                              <m:ctrlPr>
                                <a:rPr lang="es-AR" sz="2000" i="1">
                                  <a:latin typeface="Cambria Math" panose="02040503050406030204" pitchFamily="18" charset="0"/>
                                </a:rPr>
                              </m:ctrlPr>
                            </m:sSubPr>
                            <m:e>
                              <m:sSub>
                                <m:sSubPr>
                                  <m:ctrlPr>
                                    <a:rPr lang="es-AR" sz="2000" i="1">
                                      <a:latin typeface="Cambria Math" panose="02040503050406030204" pitchFamily="18" charset="0"/>
                                    </a:rPr>
                                  </m:ctrlPr>
                                </m:sSubPr>
                                <m:e>
                                  <m:r>
                                    <a:rPr lang="es-AR" sz="2000" i="1">
                                      <a:latin typeface="Cambria Math" panose="02040503050406030204" pitchFamily="18" charset="0"/>
                                    </a:rPr>
                                    <m:t>𝑇</m:t>
                                  </m:r>
                                </m:e>
                                <m:sub>
                                  <m:r>
                                    <a:rPr lang="es-AR" sz="2000" i="1">
                                      <a:latin typeface="Cambria Math" panose="02040503050406030204" pitchFamily="18" charset="0"/>
                                    </a:rPr>
                                    <m:t>𝐵</m:t>
                                  </m:r>
                                </m:sub>
                              </m:sSub>
                            </m:e>
                            <m:sub>
                              <m:r>
                                <a:rPr lang="es-AR" sz="2000" i="1">
                                  <a:latin typeface="Cambria Math" panose="02040503050406030204" pitchFamily="18" charset="0"/>
                                </a:rPr>
                                <m:t>𝑒</m:t>
                              </m:r>
                              <m:r>
                                <a:rPr lang="es-AR" sz="2000" b="0" i="1" smtClean="0">
                                  <a:latin typeface="Cambria Math" panose="02040503050406030204" pitchFamily="18" charset="0"/>
                                </a:rPr>
                                <m:t>3</m:t>
                              </m:r>
                            </m:sub>
                          </m:sSub>
                        </m:e>
                      </m:acc>
                      <m:r>
                        <a:rPr lang="es-AR" sz="2000" i="1">
                          <a:latin typeface="Cambria Math" panose="02040503050406030204" pitchFamily="18" charset="0"/>
                        </a:rPr>
                        <m:t>=</m:t>
                      </m:r>
                      <m:r>
                        <a:rPr lang="es-AR" sz="2000" b="0" i="1" smtClean="0">
                          <a:latin typeface="Cambria Math" panose="02040503050406030204" pitchFamily="18" charset="0"/>
                        </a:rPr>
                        <m:t>17.55</m:t>
                      </m:r>
                      <m:r>
                        <a:rPr lang="es-AR" sz="2000" b="0" i="1" smtClean="0">
                          <a:latin typeface="Cambria Math" panose="02040503050406030204" pitchFamily="18" charset="0"/>
                        </a:rPr>
                        <m:t>𝑠𝑒𝑔</m:t>
                      </m:r>
                    </m:oMath>
                  </m:oMathPara>
                </a14:m>
                <a:endParaRPr lang="es-AR" sz="2000" dirty="0"/>
              </a:p>
              <a:p>
                <a:pPr>
                  <a:lnSpc>
                    <a:spcPct val="150000"/>
                  </a:lnSpc>
                </a:pPr>
                <a14:m>
                  <m:oMathPara xmlns:m="http://schemas.openxmlformats.org/officeDocument/2006/math">
                    <m:oMathParaPr>
                      <m:jc m:val="centerGroup"/>
                    </m:oMathParaPr>
                    <m:oMath xmlns:m="http://schemas.openxmlformats.org/officeDocument/2006/math">
                      <m:acc>
                        <m:accPr>
                          <m:chr m:val="̅"/>
                          <m:ctrlPr>
                            <a:rPr lang="es-AR" sz="2000" i="1">
                              <a:latin typeface="Cambria Math" panose="02040503050406030204" pitchFamily="18" charset="0"/>
                            </a:rPr>
                          </m:ctrlPr>
                        </m:accPr>
                        <m:e>
                          <m:sSub>
                            <m:sSubPr>
                              <m:ctrlPr>
                                <a:rPr lang="es-AR" sz="2000" i="1">
                                  <a:latin typeface="Cambria Math" panose="02040503050406030204" pitchFamily="18" charset="0"/>
                                </a:rPr>
                              </m:ctrlPr>
                            </m:sSubPr>
                            <m:e>
                              <m:sSub>
                                <m:sSubPr>
                                  <m:ctrlPr>
                                    <a:rPr lang="es-AR" sz="2000" i="1">
                                      <a:latin typeface="Cambria Math" panose="02040503050406030204" pitchFamily="18" charset="0"/>
                                    </a:rPr>
                                  </m:ctrlPr>
                                </m:sSubPr>
                                <m:e>
                                  <m:r>
                                    <a:rPr lang="es-AR" sz="2000" i="1">
                                      <a:latin typeface="Cambria Math" panose="02040503050406030204" pitchFamily="18" charset="0"/>
                                    </a:rPr>
                                    <m:t>𝑇</m:t>
                                  </m:r>
                                </m:e>
                                <m:sub>
                                  <m:r>
                                    <a:rPr lang="es-AR" sz="2000" i="1">
                                      <a:latin typeface="Cambria Math" panose="02040503050406030204" pitchFamily="18" charset="0"/>
                                    </a:rPr>
                                    <m:t>𝐵</m:t>
                                  </m:r>
                                </m:sub>
                              </m:sSub>
                            </m:e>
                            <m:sub>
                              <m:r>
                                <a:rPr lang="es-AR" sz="2000" i="1">
                                  <a:latin typeface="Cambria Math" panose="02040503050406030204" pitchFamily="18" charset="0"/>
                                </a:rPr>
                                <m:t>𝑒</m:t>
                              </m:r>
                              <m:r>
                                <a:rPr lang="es-AR" sz="2000" b="0" i="1" smtClean="0">
                                  <a:latin typeface="Cambria Math" panose="02040503050406030204" pitchFamily="18" charset="0"/>
                                </a:rPr>
                                <m:t>4</m:t>
                              </m:r>
                            </m:sub>
                          </m:sSub>
                        </m:e>
                      </m:acc>
                      <m:r>
                        <a:rPr lang="es-AR" sz="2000" i="1">
                          <a:latin typeface="Cambria Math" panose="02040503050406030204" pitchFamily="18" charset="0"/>
                        </a:rPr>
                        <m:t>=</m:t>
                      </m:r>
                      <m:r>
                        <a:rPr lang="es-AR" sz="2000" b="0" i="1" smtClean="0">
                          <a:latin typeface="Cambria Math" panose="02040503050406030204" pitchFamily="18" charset="0"/>
                        </a:rPr>
                        <m:t>10.77</m:t>
                      </m:r>
                      <m:r>
                        <a:rPr lang="es-AR" sz="2000" b="0" i="1" smtClean="0">
                          <a:latin typeface="Cambria Math" panose="02040503050406030204" pitchFamily="18" charset="0"/>
                        </a:rPr>
                        <m:t>𝑠𝑒𝑔</m:t>
                      </m:r>
                    </m:oMath>
                  </m:oMathPara>
                </a14:m>
                <a:endParaRPr lang="es-AR" sz="2000" dirty="0"/>
              </a:p>
              <a:p>
                <a:pPr>
                  <a:lnSpc>
                    <a:spcPct val="150000"/>
                  </a:lnSpc>
                </a:pPr>
                <a14:m>
                  <m:oMathPara xmlns:m="http://schemas.openxmlformats.org/officeDocument/2006/math">
                    <m:oMathParaPr>
                      <m:jc m:val="centerGroup"/>
                    </m:oMathParaPr>
                    <m:oMath xmlns:m="http://schemas.openxmlformats.org/officeDocument/2006/math">
                      <m:acc>
                        <m:accPr>
                          <m:chr m:val="̅"/>
                          <m:ctrlPr>
                            <a:rPr lang="es-AR" sz="2000" i="1">
                              <a:latin typeface="Cambria Math" panose="02040503050406030204" pitchFamily="18" charset="0"/>
                            </a:rPr>
                          </m:ctrlPr>
                        </m:accPr>
                        <m:e>
                          <m:sSub>
                            <m:sSubPr>
                              <m:ctrlPr>
                                <a:rPr lang="es-AR" sz="2000" i="1">
                                  <a:latin typeface="Cambria Math" panose="02040503050406030204" pitchFamily="18" charset="0"/>
                                </a:rPr>
                              </m:ctrlPr>
                            </m:sSubPr>
                            <m:e>
                              <m:sSub>
                                <m:sSubPr>
                                  <m:ctrlPr>
                                    <a:rPr lang="es-AR" sz="2000" i="1">
                                      <a:latin typeface="Cambria Math" panose="02040503050406030204" pitchFamily="18" charset="0"/>
                                    </a:rPr>
                                  </m:ctrlPr>
                                </m:sSubPr>
                                <m:e>
                                  <m:r>
                                    <a:rPr lang="es-AR" sz="2000" i="1">
                                      <a:latin typeface="Cambria Math" panose="02040503050406030204" pitchFamily="18" charset="0"/>
                                    </a:rPr>
                                    <m:t>𝑇</m:t>
                                  </m:r>
                                </m:e>
                                <m:sub>
                                  <m:r>
                                    <a:rPr lang="es-AR" sz="2000" i="1">
                                      <a:latin typeface="Cambria Math" panose="02040503050406030204" pitchFamily="18" charset="0"/>
                                    </a:rPr>
                                    <m:t>𝐵</m:t>
                                  </m:r>
                                </m:sub>
                              </m:sSub>
                            </m:e>
                            <m:sub>
                              <m:r>
                                <a:rPr lang="es-AR" sz="2000" i="1">
                                  <a:latin typeface="Cambria Math" panose="02040503050406030204" pitchFamily="18" charset="0"/>
                                </a:rPr>
                                <m:t>𝑒</m:t>
                              </m:r>
                              <m:r>
                                <a:rPr lang="es-AR" sz="2000" b="0" i="1" smtClean="0">
                                  <a:latin typeface="Cambria Math" panose="02040503050406030204" pitchFamily="18" charset="0"/>
                                </a:rPr>
                                <m:t>5</m:t>
                              </m:r>
                            </m:sub>
                          </m:sSub>
                        </m:e>
                      </m:acc>
                      <m:r>
                        <a:rPr lang="es-AR" sz="2000" i="1">
                          <a:latin typeface="Cambria Math" panose="02040503050406030204" pitchFamily="18" charset="0"/>
                        </a:rPr>
                        <m:t>=</m:t>
                      </m:r>
                      <m:r>
                        <a:rPr lang="es-AR" sz="2000" b="0" i="1" smtClean="0">
                          <a:latin typeface="Cambria Math" panose="02040503050406030204" pitchFamily="18" charset="0"/>
                        </a:rPr>
                        <m:t>5.10</m:t>
                      </m:r>
                      <m:r>
                        <a:rPr lang="es-AR" sz="2000" b="0" i="1" smtClean="0">
                          <a:latin typeface="Cambria Math" panose="02040503050406030204" pitchFamily="18" charset="0"/>
                        </a:rPr>
                        <m:t>𝑠𝑒𝑔</m:t>
                      </m:r>
                    </m:oMath>
                  </m:oMathPara>
                </a14:m>
                <a:endParaRPr lang="es-AR" sz="2000" b="0" dirty="0"/>
              </a:p>
              <a:p>
                <a:pPr>
                  <a:lnSpc>
                    <a:spcPct val="150000"/>
                  </a:lnSpc>
                </a:pPr>
                <a14:m>
                  <m:oMathPara xmlns:m="http://schemas.openxmlformats.org/officeDocument/2006/math">
                    <m:oMathParaPr>
                      <m:jc m:val="centerGroup"/>
                    </m:oMathParaPr>
                    <m:oMath xmlns:m="http://schemas.openxmlformats.org/officeDocument/2006/math">
                      <m:sSub>
                        <m:sSubPr>
                          <m:ctrlPr>
                            <a:rPr lang="es-AR" sz="2000" i="1" smtClean="0">
                              <a:latin typeface="Cambria Math" panose="02040503050406030204" pitchFamily="18" charset="0"/>
                            </a:rPr>
                          </m:ctrlPr>
                        </m:sSubPr>
                        <m:e>
                          <m:r>
                            <a:rPr lang="es-AR" sz="2000" b="0" i="1" smtClean="0">
                              <a:latin typeface="Cambria Math" panose="02040503050406030204" pitchFamily="18" charset="0"/>
                            </a:rPr>
                            <m:t>𝑇</m:t>
                          </m:r>
                        </m:e>
                        <m:sub>
                          <m:r>
                            <a:rPr lang="es-AR" sz="2000" b="0" i="1" smtClean="0">
                              <a:latin typeface="Cambria Math" panose="02040503050406030204" pitchFamily="18" charset="0"/>
                            </a:rPr>
                            <m:t>𝐵</m:t>
                          </m:r>
                        </m:sub>
                      </m:sSub>
                      <m:r>
                        <a:rPr lang="es-AR" sz="2000" b="0" i="1" smtClean="0">
                          <a:latin typeface="Cambria Math" panose="02040503050406030204" pitchFamily="18" charset="0"/>
                        </a:rPr>
                        <m:t>=134.10</m:t>
                      </m:r>
                      <m:r>
                        <a:rPr lang="es-AR" sz="2000" b="0" i="1" smtClean="0">
                          <a:latin typeface="Cambria Math" panose="02040503050406030204" pitchFamily="18" charset="0"/>
                        </a:rPr>
                        <m:t>𝑠𝑒𝑔</m:t>
                      </m:r>
                    </m:oMath>
                  </m:oMathPara>
                </a14:m>
                <a:endParaRPr lang="es-AR" sz="2000" dirty="0"/>
              </a:p>
            </p:txBody>
          </p:sp>
        </mc:Choice>
        <mc:Fallback xmlns="">
          <p:sp>
            <p:nvSpPr>
              <p:cNvPr id="18" name="Rectángulo 17">
                <a:extLst>
                  <a:ext uri="{FF2B5EF4-FFF2-40B4-BE49-F238E27FC236}">
                    <a16:creationId xmlns:a16="http://schemas.microsoft.com/office/drawing/2014/main" id="{309E7AF8-70AD-4660-A175-10977822A463}"/>
                  </a:ext>
                </a:extLst>
              </p:cNvPr>
              <p:cNvSpPr>
                <a:spLocks noRot="1" noChangeAspect="1" noMove="1" noResize="1" noEditPoints="1" noAdjustHandles="1" noChangeArrowheads="1" noChangeShapeType="1" noTextEdit="1"/>
              </p:cNvSpPr>
              <p:nvPr/>
            </p:nvSpPr>
            <p:spPr>
              <a:xfrm>
                <a:off x="7839668" y="2488097"/>
                <a:ext cx="4085203" cy="3126785"/>
              </a:xfrm>
              <a:prstGeom prst="rect">
                <a:avLst/>
              </a:prstGeom>
              <a:blipFill>
                <a:blip r:embed="rId7"/>
                <a:stretch>
                  <a:fillRect/>
                </a:stretch>
              </a:blipFill>
            </p:spPr>
            <p:txBody>
              <a:bodyPr/>
              <a:lstStyle/>
              <a:p>
                <a:r>
                  <a:rPr lang="es-AR">
                    <a:noFill/>
                  </a:rPr>
                  <a:t> </a:t>
                </a:r>
              </a:p>
            </p:txBody>
          </p:sp>
        </mc:Fallback>
      </mc:AlternateContent>
      <p:graphicFrame>
        <p:nvGraphicFramePr>
          <p:cNvPr id="2" name="Objeto 1">
            <a:extLst>
              <a:ext uri="{FF2B5EF4-FFF2-40B4-BE49-F238E27FC236}">
                <a16:creationId xmlns:a16="http://schemas.microsoft.com/office/drawing/2014/main" id="{5A8968A6-7CF4-4476-8DAF-E96390285CE8}"/>
              </a:ext>
            </a:extLst>
          </p:cNvPr>
          <p:cNvGraphicFramePr>
            <a:graphicFrameLocks noChangeAspect="1"/>
          </p:cNvGraphicFramePr>
          <p:nvPr>
            <p:extLst>
              <p:ext uri="{D42A27DB-BD31-4B8C-83A1-F6EECF244321}">
                <p14:modId xmlns:p14="http://schemas.microsoft.com/office/powerpoint/2010/main" val="2228432493"/>
              </p:ext>
            </p:extLst>
          </p:nvPr>
        </p:nvGraphicFramePr>
        <p:xfrm>
          <a:off x="267128" y="146481"/>
          <a:ext cx="7324725" cy="6124575"/>
        </p:xfrm>
        <a:graphic>
          <a:graphicData uri="http://schemas.openxmlformats.org/presentationml/2006/ole">
            <mc:AlternateContent xmlns:mc="http://schemas.openxmlformats.org/markup-compatibility/2006">
              <mc:Choice xmlns:v="urn:schemas-microsoft-com:vml" Requires="v">
                <p:oleObj name="Worksheet" r:id="rId8" imgW="7324824" imgH="6124406" progId="Excel.Sheet.12">
                  <p:embed/>
                </p:oleObj>
              </mc:Choice>
              <mc:Fallback>
                <p:oleObj name="Worksheet" r:id="rId8" imgW="7324824" imgH="6124406" progId="Excel.Sheet.12">
                  <p:embed/>
                  <p:pic>
                    <p:nvPicPr>
                      <p:cNvPr id="2" name="Objeto 1">
                        <a:extLst>
                          <a:ext uri="{FF2B5EF4-FFF2-40B4-BE49-F238E27FC236}">
                            <a16:creationId xmlns:a16="http://schemas.microsoft.com/office/drawing/2014/main" id="{5A8968A6-7CF4-4476-8DAF-E96390285CE8}"/>
                          </a:ext>
                        </a:extLst>
                      </p:cNvPr>
                      <p:cNvPicPr/>
                      <p:nvPr/>
                    </p:nvPicPr>
                    <p:blipFill>
                      <a:blip r:embed="rId9"/>
                      <a:stretch>
                        <a:fillRect/>
                      </a:stretch>
                    </p:blipFill>
                    <p:spPr>
                      <a:xfrm>
                        <a:off x="267128" y="146481"/>
                        <a:ext cx="7324725" cy="6124575"/>
                      </a:xfrm>
                      <a:prstGeom prst="rect">
                        <a:avLst/>
                      </a:prstGeom>
                    </p:spPr>
                  </p:pic>
                </p:oleObj>
              </mc:Fallback>
            </mc:AlternateContent>
          </a:graphicData>
        </a:graphic>
      </p:graphicFrame>
      <p:sp>
        <p:nvSpPr>
          <p:cNvPr id="15" name="Rectángulo 14">
            <a:extLst>
              <a:ext uri="{FF2B5EF4-FFF2-40B4-BE49-F238E27FC236}">
                <a16:creationId xmlns:a16="http://schemas.microsoft.com/office/drawing/2014/main" id="{8843CA9A-9107-41B3-A1CF-217BD9E42146}"/>
              </a:ext>
            </a:extLst>
          </p:cNvPr>
          <p:cNvSpPr/>
          <p:nvPr/>
        </p:nvSpPr>
        <p:spPr>
          <a:xfrm>
            <a:off x="2365697" y="753292"/>
            <a:ext cx="307165" cy="54791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6" name="Rectángulo 15">
            <a:extLst>
              <a:ext uri="{FF2B5EF4-FFF2-40B4-BE49-F238E27FC236}">
                <a16:creationId xmlns:a16="http://schemas.microsoft.com/office/drawing/2014/main" id="{D1DC7324-3FF4-4840-A5AD-55BF68180FCF}"/>
              </a:ext>
            </a:extLst>
          </p:cNvPr>
          <p:cNvSpPr/>
          <p:nvPr/>
        </p:nvSpPr>
        <p:spPr>
          <a:xfrm>
            <a:off x="4797056" y="753292"/>
            <a:ext cx="307165" cy="54791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7" name="Rectángulo 16">
            <a:extLst>
              <a:ext uri="{FF2B5EF4-FFF2-40B4-BE49-F238E27FC236}">
                <a16:creationId xmlns:a16="http://schemas.microsoft.com/office/drawing/2014/main" id="{40DD9CCE-0E45-4A62-9776-A41810847CFD}"/>
              </a:ext>
            </a:extLst>
          </p:cNvPr>
          <p:cNvSpPr/>
          <p:nvPr/>
        </p:nvSpPr>
        <p:spPr>
          <a:xfrm>
            <a:off x="7228415" y="753292"/>
            <a:ext cx="307165" cy="54791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34108491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5" grpId="0" animBg="1"/>
      <p:bldP spid="16" grpId="0" animBg="1"/>
      <p:bldP spid="1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C8CD620-2EBA-4D3E-BD52-C8D663F64F07}"/>
              </a:ext>
            </a:extLst>
          </p:cNvPr>
          <p:cNvSpPr>
            <a:spLocks noGrp="1"/>
          </p:cNvSpPr>
          <p:nvPr>
            <p:ph type="sldNum" sz="quarter" idx="12"/>
          </p:nvPr>
        </p:nvSpPr>
        <p:spPr/>
        <p:txBody>
          <a:bodyPr/>
          <a:lstStyle/>
          <a:p>
            <a:fld id="{CE14F34A-BFEE-3F4F-9931-32C7D0CB2CAC}" type="slidenum">
              <a:rPr lang="es-ES_tradnl" smtClean="0"/>
              <a:t>55</a:t>
            </a:fld>
            <a:endParaRPr lang="es-ES_tradnl"/>
          </a:p>
        </p:txBody>
      </p:sp>
      <p:sp>
        <p:nvSpPr>
          <p:cNvPr id="5" name="Marcador de número de diapositiva 5">
            <a:extLst>
              <a:ext uri="{FF2B5EF4-FFF2-40B4-BE49-F238E27FC236}">
                <a16:creationId xmlns:a16="http://schemas.microsoft.com/office/drawing/2014/main" id="{43FF463A-8C5C-4715-A993-55B59B879D6B}"/>
              </a:ext>
            </a:extLst>
          </p:cNvPr>
          <p:cNvSpPr txBox="1">
            <a:spLocks/>
          </p:cNvSpPr>
          <p:nvPr/>
        </p:nvSpPr>
        <p:spPr>
          <a:xfrm>
            <a:off x="8969943" y="6356352"/>
            <a:ext cx="2743200" cy="365125"/>
          </a:xfrm>
          <a:prstGeom prst="rect">
            <a:avLst/>
          </a:prstGeom>
        </p:spPr>
        <p:txBody>
          <a:bodyPr vert="horz" lIns="91440" tIns="45720" rIns="91440" bIns="45720" rtlCol="0" anchor="ctr"/>
          <a:lstStyle>
            <a:defPPr>
              <a:defRPr lang="es-AR"/>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E14F34A-BFEE-3F4F-9931-32C7D0CB2CAC}" type="slidenum">
              <a:rPr lang="es-ES_tradnl" smtClean="0"/>
              <a:pPr/>
              <a:t>55</a:t>
            </a:fld>
            <a:endParaRPr lang="es-ES_tradnl" dirty="0"/>
          </a:p>
        </p:txBody>
      </p:sp>
      <p:sp>
        <p:nvSpPr>
          <p:cNvPr id="8" name="CuadroTexto 7">
            <a:extLst>
              <a:ext uri="{FF2B5EF4-FFF2-40B4-BE49-F238E27FC236}">
                <a16:creationId xmlns:a16="http://schemas.microsoft.com/office/drawing/2014/main" id="{B4A44BA6-2CC3-4DC4-B311-A87CE6CFB891}"/>
              </a:ext>
            </a:extLst>
          </p:cNvPr>
          <p:cNvSpPr txBox="1"/>
          <p:nvPr/>
        </p:nvSpPr>
        <p:spPr>
          <a:xfrm>
            <a:off x="1701543" y="1701070"/>
            <a:ext cx="8640000" cy="76944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AR" sz="4400" dirty="0"/>
              <a:t>Procedimiento y Definiciones</a:t>
            </a:r>
          </a:p>
        </p:txBody>
      </p:sp>
      <p:sp>
        <p:nvSpPr>
          <p:cNvPr id="9" name="Rectángulo 8">
            <a:extLst>
              <a:ext uri="{FF2B5EF4-FFF2-40B4-BE49-F238E27FC236}">
                <a16:creationId xmlns:a16="http://schemas.microsoft.com/office/drawing/2014/main" id="{7D88A465-654E-4B59-8AF3-93EA53AC5CE4}"/>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pic>
        <p:nvPicPr>
          <p:cNvPr id="10" name="Imagen 9">
            <a:extLst>
              <a:ext uri="{FF2B5EF4-FFF2-40B4-BE49-F238E27FC236}">
                <a16:creationId xmlns:a16="http://schemas.microsoft.com/office/drawing/2014/main" id="{98F84D2A-5A34-4B91-8D81-DED7815BD234}"/>
              </a:ext>
            </a:extLst>
          </p:cNvPr>
          <p:cNvPicPr>
            <a:picLocks noChangeAspect="1"/>
          </p:cNvPicPr>
          <p:nvPr/>
        </p:nvPicPr>
        <p:blipFill rotWithShape="1">
          <a:blip r:embed="rId2">
            <a:alphaModFix amt="50000"/>
          </a:blip>
          <a:srcRect l="15693" t="31624" r="25546" b="30133"/>
          <a:stretch/>
        </p:blipFill>
        <p:spPr>
          <a:xfrm>
            <a:off x="11311846" y="6376358"/>
            <a:ext cx="880154" cy="477359"/>
          </a:xfrm>
          <a:prstGeom prst="rect">
            <a:avLst/>
          </a:prstGeom>
        </p:spPr>
      </p:pic>
      <p:grpSp>
        <p:nvGrpSpPr>
          <p:cNvPr id="11" name="Grupo 10">
            <a:extLst>
              <a:ext uri="{FF2B5EF4-FFF2-40B4-BE49-F238E27FC236}">
                <a16:creationId xmlns:a16="http://schemas.microsoft.com/office/drawing/2014/main" id="{9469D30D-7C31-4227-8BA8-628FD00D9DCD}"/>
              </a:ext>
            </a:extLst>
          </p:cNvPr>
          <p:cNvGrpSpPr/>
          <p:nvPr/>
        </p:nvGrpSpPr>
        <p:grpSpPr>
          <a:xfrm>
            <a:off x="0" y="4141"/>
            <a:ext cx="12192000" cy="6849718"/>
            <a:chOff x="0" y="4141"/>
            <a:chExt cx="12192000" cy="6849718"/>
          </a:xfrm>
        </p:grpSpPr>
        <p:grpSp>
          <p:nvGrpSpPr>
            <p:cNvPr id="12" name="Grupo 11">
              <a:extLst>
                <a:ext uri="{FF2B5EF4-FFF2-40B4-BE49-F238E27FC236}">
                  <a16:creationId xmlns:a16="http://schemas.microsoft.com/office/drawing/2014/main" id="{572EB0A4-A7B5-4FE7-9FA5-E64397F97F99}"/>
                </a:ext>
              </a:extLst>
            </p:cNvPr>
            <p:cNvGrpSpPr/>
            <p:nvPr/>
          </p:nvGrpSpPr>
          <p:grpSpPr>
            <a:xfrm>
              <a:off x="0" y="4141"/>
              <a:ext cx="12192000" cy="6849718"/>
              <a:chOff x="0" y="4141"/>
              <a:chExt cx="12192000" cy="6849718"/>
            </a:xfrm>
          </p:grpSpPr>
          <p:sp>
            <p:nvSpPr>
              <p:cNvPr id="14" name="Rectángulo 13">
                <a:extLst>
                  <a:ext uri="{FF2B5EF4-FFF2-40B4-BE49-F238E27FC236}">
                    <a16:creationId xmlns:a16="http://schemas.microsoft.com/office/drawing/2014/main" id="{BEDF9398-6224-4D9B-9CAA-1950A8DED444}"/>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15" name="Rectángulo 14">
                <a:extLst>
                  <a:ext uri="{FF2B5EF4-FFF2-40B4-BE49-F238E27FC236}">
                    <a16:creationId xmlns:a16="http://schemas.microsoft.com/office/drawing/2014/main" id="{7C697F25-AE48-4BEB-8D9A-FAF3116E68B3}"/>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16" name="Rectángulo 15">
                <a:extLst>
                  <a:ext uri="{FF2B5EF4-FFF2-40B4-BE49-F238E27FC236}">
                    <a16:creationId xmlns:a16="http://schemas.microsoft.com/office/drawing/2014/main" id="{6D0CFC36-12F2-42D6-B538-F6045F29D2A6}"/>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13" name="Imagen 12">
              <a:extLst>
                <a:ext uri="{FF2B5EF4-FFF2-40B4-BE49-F238E27FC236}">
                  <a16:creationId xmlns:a16="http://schemas.microsoft.com/office/drawing/2014/main" id="{8AF80697-4D19-4C3F-8D2E-169AA833643A}"/>
                </a:ext>
              </a:extLst>
            </p:cNvPr>
            <p:cNvPicPr>
              <a:picLocks noChangeAspect="1"/>
            </p:cNvPicPr>
            <p:nvPr/>
          </p:nvPicPr>
          <p:blipFill rotWithShape="1">
            <a:blip r:embed="rId2">
              <a:alphaModFix amt="50000"/>
            </a:blip>
            <a:srcRect l="15693" t="31624" r="25546" b="30133"/>
            <a:stretch/>
          </p:blipFill>
          <p:spPr>
            <a:xfrm>
              <a:off x="11311846" y="6376358"/>
              <a:ext cx="880154" cy="477359"/>
            </a:xfrm>
            <a:prstGeom prst="rect">
              <a:avLst/>
            </a:prstGeom>
          </p:spPr>
        </p:pic>
      </p:grpSp>
      <p:sp>
        <p:nvSpPr>
          <p:cNvPr id="2" name="Lágrima 1">
            <a:extLst>
              <a:ext uri="{FF2B5EF4-FFF2-40B4-BE49-F238E27FC236}">
                <a16:creationId xmlns:a16="http://schemas.microsoft.com/office/drawing/2014/main" id="{3D0A1A27-0DCB-424F-8E6E-4E96F38147FF}"/>
              </a:ext>
            </a:extLst>
          </p:cNvPr>
          <p:cNvSpPr/>
          <p:nvPr/>
        </p:nvSpPr>
        <p:spPr>
          <a:xfrm>
            <a:off x="571500" y="1701070"/>
            <a:ext cx="828000" cy="828000"/>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 name="CuadroTexto 2">
            <a:extLst>
              <a:ext uri="{FF2B5EF4-FFF2-40B4-BE49-F238E27FC236}">
                <a16:creationId xmlns:a16="http://schemas.microsoft.com/office/drawing/2014/main" id="{C4D35875-1ABA-4379-866C-6BC66621B8CB}"/>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Tiempos cronometrados</a:t>
            </a:r>
            <a:endParaRPr lang="es-AR" sz="2800" dirty="0">
              <a:solidFill>
                <a:schemeClr val="tx1">
                  <a:lumMod val="65000"/>
                  <a:lumOff val="35000"/>
                </a:schemeClr>
              </a:solidFill>
            </a:endParaRPr>
          </a:p>
        </p:txBody>
      </p:sp>
      <p:pic>
        <p:nvPicPr>
          <p:cNvPr id="19" name="Picture 4" descr="Resultado de imagen para utn ba">
            <a:extLst>
              <a:ext uri="{FF2B5EF4-FFF2-40B4-BE49-F238E27FC236}">
                <a16:creationId xmlns:a16="http://schemas.microsoft.com/office/drawing/2014/main" id="{C451A1F0-9751-4DF2-B66B-068ECAA5975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B6B03C43-FCFF-4E7F-9761-F3E2D4C82E59}"/>
              </a:ext>
            </a:extLst>
          </p:cNvPr>
          <p:cNvSpPr txBox="1"/>
          <p:nvPr/>
        </p:nvSpPr>
        <p:spPr>
          <a:xfrm>
            <a:off x="1701543" y="2637256"/>
            <a:ext cx="8640000" cy="76944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AR" sz="4400" dirty="0"/>
              <a:t>Ritmo de Trabajo</a:t>
            </a:r>
          </a:p>
        </p:txBody>
      </p:sp>
      <p:sp>
        <p:nvSpPr>
          <p:cNvPr id="7" name="Lágrima 6">
            <a:extLst>
              <a:ext uri="{FF2B5EF4-FFF2-40B4-BE49-F238E27FC236}">
                <a16:creationId xmlns:a16="http://schemas.microsoft.com/office/drawing/2014/main" id="{C7741045-ED90-4C8C-AC0A-6476B0F9B461}"/>
              </a:ext>
            </a:extLst>
          </p:cNvPr>
          <p:cNvSpPr/>
          <p:nvPr/>
        </p:nvSpPr>
        <p:spPr>
          <a:xfrm>
            <a:off x="571500" y="2637256"/>
            <a:ext cx="828000" cy="828000"/>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7" name="CuadroTexto 16">
            <a:extLst>
              <a:ext uri="{FF2B5EF4-FFF2-40B4-BE49-F238E27FC236}">
                <a16:creationId xmlns:a16="http://schemas.microsoft.com/office/drawing/2014/main" id="{8649CF4D-C46A-485F-B39F-A59881124548}"/>
              </a:ext>
            </a:extLst>
          </p:cNvPr>
          <p:cNvSpPr txBox="1"/>
          <p:nvPr/>
        </p:nvSpPr>
        <p:spPr>
          <a:xfrm>
            <a:off x="1701543" y="3573442"/>
            <a:ext cx="8640000" cy="76944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AR" sz="4400" dirty="0"/>
              <a:t>Tamaño de la Muestra</a:t>
            </a:r>
          </a:p>
        </p:txBody>
      </p:sp>
      <p:sp>
        <p:nvSpPr>
          <p:cNvPr id="21" name="Lágrima 20">
            <a:extLst>
              <a:ext uri="{FF2B5EF4-FFF2-40B4-BE49-F238E27FC236}">
                <a16:creationId xmlns:a16="http://schemas.microsoft.com/office/drawing/2014/main" id="{480E5815-2393-435E-82D5-F293FE019578}"/>
              </a:ext>
            </a:extLst>
          </p:cNvPr>
          <p:cNvSpPr/>
          <p:nvPr/>
        </p:nvSpPr>
        <p:spPr>
          <a:xfrm>
            <a:off x="571500" y="3573442"/>
            <a:ext cx="828000" cy="828000"/>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8" name="CuadroTexto 17">
            <a:extLst>
              <a:ext uri="{FF2B5EF4-FFF2-40B4-BE49-F238E27FC236}">
                <a16:creationId xmlns:a16="http://schemas.microsoft.com/office/drawing/2014/main" id="{2498E414-B682-4EA7-810D-07749A8C3468}"/>
              </a:ext>
            </a:extLst>
          </p:cNvPr>
          <p:cNvSpPr txBox="1"/>
          <p:nvPr/>
        </p:nvSpPr>
        <p:spPr>
          <a:xfrm>
            <a:off x="1701543" y="4509628"/>
            <a:ext cx="8640000" cy="76944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MX" sz="4400" dirty="0"/>
              <a:t>Pliegos de Toma de Datos</a:t>
            </a:r>
          </a:p>
        </p:txBody>
      </p:sp>
      <p:sp>
        <p:nvSpPr>
          <p:cNvPr id="23" name="Lágrima 22">
            <a:extLst>
              <a:ext uri="{FF2B5EF4-FFF2-40B4-BE49-F238E27FC236}">
                <a16:creationId xmlns:a16="http://schemas.microsoft.com/office/drawing/2014/main" id="{CC26EDCA-9983-4EA6-84E5-9082F3D51F54}"/>
              </a:ext>
            </a:extLst>
          </p:cNvPr>
          <p:cNvSpPr/>
          <p:nvPr/>
        </p:nvSpPr>
        <p:spPr>
          <a:xfrm>
            <a:off x="571500" y="4509628"/>
            <a:ext cx="828000" cy="828000"/>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0" name="CuadroTexto 19">
            <a:extLst>
              <a:ext uri="{FF2B5EF4-FFF2-40B4-BE49-F238E27FC236}">
                <a16:creationId xmlns:a16="http://schemas.microsoft.com/office/drawing/2014/main" id="{B0DFF7FA-B5A3-4651-97ED-7E3007535932}"/>
              </a:ext>
            </a:extLst>
          </p:cNvPr>
          <p:cNvSpPr txBox="1"/>
          <p:nvPr/>
        </p:nvSpPr>
        <p:spPr>
          <a:xfrm>
            <a:off x="1701543" y="5442188"/>
            <a:ext cx="8640000" cy="76944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MX" sz="4400" dirty="0"/>
              <a:t>Suplementos</a:t>
            </a:r>
          </a:p>
        </p:txBody>
      </p:sp>
      <p:sp>
        <p:nvSpPr>
          <p:cNvPr id="25" name="Lágrima 24">
            <a:extLst>
              <a:ext uri="{FF2B5EF4-FFF2-40B4-BE49-F238E27FC236}">
                <a16:creationId xmlns:a16="http://schemas.microsoft.com/office/drawing/2014/main" id="{DE170A05-83D8-459D-BB3A-F5A788B3133D}"/>
              </a:ext>
            </a:extLst>
          </p:cNvPr>
          <p:cNvSpPr/>
          <p:nvPr/>
        </p:nvSpPr>
        <p:spPr>
          <a:xfrm>
            <a:off x="571500" y="5442188"/>
            <a:ext cx="828000" cy="828000"/>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74563276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Suplementos</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2" name="Rectángulo 1">
            <a:extLst>
              <a:ext uri="{FF2B5EF4-FFF2-40B4-BE49-F238E27FC236}">
                <a16:creationId xmlns:a16="http://schemas.microsoft.com/office/drawing/2014/main" id="{231D9B51-DE67-46A5-9399-5AB4FE5FDFC6}"/>
              </a:ext>
            </a:extLst>
          </p:cNvPr>
          <p:cNvSpPr/>
          <p:nvPr/>
        </p:nvSpPr>
        <p:spPr>
          <a:xfrm>
            <a:off x="267128" y="2268930"/>
            <a:ext cx="11591937" cy="136088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La determinación de suplementos es sumamente sensible en el estudio de tiempos, pues en esta etapa se requiere del más alto grado de objetividad por parte del especialista y una evidente claridad en su sentido de justicia. </a:t>
            </a:r>
          </a:p>
        </p:txBody>
      </p:sp>
      <p:sp>
        <p:nvSpPr>
          <p:cNvPr id="16" name="Rectángulo 15">
            <a:extLst>
              <a:ext uri="{FF2B5EF4-FFF2-40B4-BE49-F238E27FC236}">
                <a16:creationId xmlns:a16="http://schemas.microsoft.com/office/drawing/2014/main" id="{F14B5F04-C5B7-4A4C-BEBC-DF06D24ED0EF}"/>
              </a:ext>
            </a:extLst>
          </p:cNvPr>
          <p:cNvSpPr/>
          <p:nvPr/>
        </p:nvSpPr>
        <p:spPr>
          <a:xfrm>
            <a:off x="267128" y="3963657"/>
            <a:ext cx="11591937" cy="136088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En la etapa de valoración del ritmo de trabajo se obtiene el tiempo básico, pero si con ese tiempo se calcula la cantidad de producción estándar que se debe obtener durante un periodo dado difícilmente se pueda alcanzar este estándar. </a:t>
            </a:r>
          </a:p>
        </p:txBody>
      </p:sp>
    </p:spTree>
    <p:extLst>
      <p:ext uri="{BB962C8B-B14F-4D97-AF65-F5344CB8AC3E}">
        <p14:creationId xmlns:p14="http://schemas.microsoft.com/office/powerpoint/2010/main" val="306485040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Suplementos</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2" name="Rectángulo 1">
            <a:extLst>
              <a:ext uri="{FF2B5EF4-FFF2-40B4-BE49-F238E27FC236}">
                <a16:creationId xmlns:a16="http://schemas.microsoft.com/office/drawing/2014/main" id="{231D9B51-DE67-46A5-9399-5AB4FE5FDFC6}"/>
              </a:ext>
            </a:extLst>
          </p:cNvPr>
          <p:cNvSpPr/>
          <p:nvPr/>
        </p:nvSpPr>
        <p:spPr>
          <a:xfrm>
            <a:off x="267127" y="1225906"/>
            <a:ext cx="11591937" cy="76349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Las causas de una estimación fallida de producción probablemente se encuentren dentro de los siguientes casos:</a:t>
            </a:r>
          </a:p>
        </p:txBody>
      </p:sp>
      <p:sp>
        <p:nvSpPr>
          <p:cNvPr id="3" name="Rectángulo 2">
            <a:extLst>
              <a:ext uri="{FF2B5EF4-FFF2-40B4-BE49-F238E27FC236}">
                <a16:creationId xmlns:a16="http://schemas.microsoft.com/office/drawing/2014/main" id="{6F93E669-9F5B-4ABA-929B-19AF1CD814CC}"/>
              </a:ext>
            </a:extLst>
          </p:cNvPr>
          <p:cNvSpPr/>
          <p:nvPr/>
        </p:nvSpPr>
        <p:spPr>
          <a:xfrm>
            <a:off x="624270" y="2190392"/>
            <a:ext cx="11241247" cy="48496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Existen causas asignables al trabajador.</a:t>
            </a:r>
          </a:p>
        </p:txBody>
      </p:sp>
      <p:sp>
        <p:nvSpPr>
          <p:cNvPr id="4" name="Rectángulo 3">
            <a:extLst>
              <a:ext uri="{FF2B5EF4-FFF2-40B4-BE49-F238E27FC236}">
                <a16:creationId xmlns:a16="http://schemas.microsoft.com/office/drawing/2014/main" id="{75B42A35-07A7-40BC-AAC6-B35DA3B8B7B4}"/>
              </a:ext>
            </a:extLst>
          </p:cNvPr>
          <p:cNvSpPr/>
          <p:nvPr/>
        </p:nvSpPr>
        <p:spPr>
          <a:xfrm>
            <a:off x="617818" y="2752120"/>
            <a:ext cx="11241247" cy="48496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Existen causas asignables al trabajo estudiado.</a:t>
            </a:r>
          </a:p>
        </p:txBody>
      </p:sp>
      <p:sp>
        <p:nvSpPr>
          <p:cNvPr id="17" name="Rectángulo 16">
            <a:extLst>
              <a:ext uri="{FF2B5EF4-FFF2-40B4-BE49-F238E27FC236}">
                <a16:creationId xmlns:a16="http://schemas.microsoft.com/office/drawing/2014/main" id="{35DA219D-500D-4E5D-9609-C6FDA8B667F5}"/>
              </a:ext>
            </a:extLst>
          </p:cNvPr>
          <p:cNvSpPr/>
          <p:nvPr/>
        </p:nvSpPr>
        <p:spPr>
          <a:xfrm>
            <a:off x="624270" y="3310280"/>
            <a:ext cx="11241247" cy="48496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Existen causas no asignables</a:t>
            </a:r>
          </a:p>
        </p:txBody>
      </p:sp>
      <p:sp>
        <p:nvSpPr>
          <p:cNvPr id="18" name="Rectángulo 17">
            <a:extLst>
              <a:ext uri="{FF2B5EF4-FFF2-40B4-BE49-F238E27FC236}">
                <a16:creationId xmlns:a16="http://schemas.microsoft.com/office/drawing/2014/main" id="{9B5D1251-7A95-4590-B18D-9EF305F1A0F1}"/>
              </a:ext>
            </a:extLst>
          </p:cNvPr>
          <p:cNvSpPr/>
          <p:nvPr/>
        </p:nvSpPr>
        <p:spPr>
          <a:xfrm>
            <a:off x="267126" y="3990532"/>
            <a:ext cx="11591937" cy="76349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No se puede obviar que la tarea exige un esfuerzo humano, por lo que hay que prever ciertos suplementos para compensar la fatiga y descansar.</a:t>
            </a:r>
          </a:p>
        </p:txBody>
      </p:sp>
      <p:sp>
        <p:nvSpPr>
          <p:cNvPr id="19" name="Rectángulo 18">
            <a:extLst>
              <a:ext uri="{FF2B5EF4-FFF2-40B4-BE49-F238E27FC236}">
                <a16:creationId xmlns:a16="http://schemas.microsoft.com/office/drawing/2014/main" id="{9CF69388-03B5-4035-BFB2-DF6B109524C4}"/>
              </a:ext>
            </a:extLst>
          </p:cNvPr>
          <p:cNvSpPr/>
          <p:nvPr/>
        </p:nvSpPr>
        <p:spPr>
          <a:xfrm>
            <a:off x="267125" y="4865754"/>
            <a:ext cx="11591937" cy="132535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Debe preverse un suplemento de tiempo para que el trabajador pueda ocuparse de sus necesidades personales y quizá haya que añadir al tiempo básico otros suplementos más.</a:t>
            </a:r>
          </a:p>
        </p:txBody>
      </p:sp>
    </p:spTree>
    <p:extLst>
      <p:ext uri="{BB962C8B-B14F-4D97-AF65-F5344CB8AC3E}">
        <p14:creationId xmlns:p14="http://schemas.microsoft.com/office/powerpoint/2010/main" val="220283845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graphicFrame>
        <p:nvGraphicFramePr>
          <p:cNvPr id="6" name="Objeto 5">
            <a:extLst>
              <a:ext uri="{FF2B5EF4-FFF2-40B4-BE49-F238E27FC236}">
                <a16:creationId xmlns:a16="http://schemas.microsoft.com/office/drawing/2014/main" id="{EBF10080-F6B7-4697-80DE-1EF130647CAF}"/>
              </a:ext>
            </a:extLst>
          </p:cNvPr>
          <p:cNvGraphicFramePr>
            <a:graphicFrameLocks noChangeAspect="1"/>
          </p:cNvGraphicFramePr>
          <p:nvPr>
            <p:extLst>
              <p:ext uri="{D42A27DB-BD31-4B8C-83A1-F6EECF244321}">
                <p14:modId xmlns:p14="http://schemas.microsoft.com/office/powerpoint/2010/main" val="1441290246"/>
              </p:ext>
            </p:extLst>
          </p:nvPr>
        </p:nvGraphicFramePr>
        <p:xfrm>
          <a:off x="2421838" y="216158"/>
          <a:ext cx="7348323" cy="5865767"/>
        </p:xfrm>
        <a:graphic>
          <a:graphicData uri="http://schemas.openxmlformats.org/presentationml/2006/ole">
            <mc:AlternateContent xmlns:mc="http://schemas.openxmlformats.org/markup-compatibility/2006">
              <mc:Choice xmlns:v="urn:schemas-microsoft-com:vml" Requires="v">
                <p:oleObj name="Visio" r:id="rId6" imgW="5000593" imgH="3990932" progId="Visio.Drawing.15">
                  <p:embed/>
                </p:oleObj>
              </mc:Choice>
              <mc:Fallback>
                <p:oleObj name="Visio" r:id="rId6" imgW="5000593" imgH="3990932" progId="Visio.Drawing.15">
                  <p:embed/>
                  <p:pic>
                    <p:nvPicPr>
                      <p:cNvPr id="6" name="Objeto 5">
                        <a:extLst>
                          <a:ext uri="{FF2B5EF4-FFF2-40B4-BE49-F238E27FC236}">
                            <a16:creationId xmlns:a16="http://schemas.microsoft.com/office/drawing/2014/main" id="{EBF10080-F6B7-4697-80DE-1EF130647CAF}"/>
                          </a:ext>
                        </a:extLst>
                      </p:cNvPr>
                      <p:cNvPicPr/>
                      <p:nvPr/>
                    </p:nvPicPr>
                    <p:blipFill>
                      <a:blip r:embed="rId7"/>
                      <a:stretch>
                        <a:fillRect/>
                      </a:stretch>
                    </p:blipFill>
                    <p:spPr>
                      <a:xfrm>
                        <a:off x="2421838" y="216158"/>
                        <a:ext cx="7348323" cy="5865767"/>
                      </a:xfrm>
                      <a:prstGeom prst="rect">
                        <a:avLst/>
                      </a:prstGeom>
                    </p:spPr>
                  </p:pic>
                </p:oleObj>
              </mc:Fallback>
            </mc:AlternateContent>
          </a:graphicData>
        </a:graphic>
      </p:graphicFrame>
    </p:spTree>
    <p:extLst>
      <p:ext uri="{BB962C8B-B14F-4D97-AF65-F5344CB8AC3E}">
        <p14:creationId xmlns:p14="http://schemas.microsoft.com/office/powerpoint/2010/main" val="54875109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Suplementos</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graphicFrame>
        <p:nvGraphicFramePr>
          <p:cNvPr id="6" name="Objeto 5">
            <a:extLst>
              <a:ext uri="{FF2B5EF4-FFF2-40B4-BE49-F238E27FC236}">
                <a16:creationId xmlns:a16="http://schemas.microsoft.com/office/drawing/2014/main" id="{EBF10080-F6B7-4697-80DE-1EF130647CAF}"/>
              </a:ext>
            </a:extLst>
          </p:cNvPr>
          <p:cNvGraphicFramePr>
            <a:graphicFrameLocks noChangeAspect="1"/>
          </p:cNvGraphicFramePr>
          <p:nvPr/>
        </p:nvGraphicFramePr>
        <p:xfrm>
          <a:off x="267128" y="1255806"/>
          <a:ext cx="6153150" cy="4911725"/>
        </p:xfrm>
        <a:graphic>
          <a:graphicData uri="http://schemas.openxmlformats.org/presentationml/2006/ole">
            <mc:AlternateContent xmlns:mc="http://schemas.openxmlformats.org/markup-compatibility/2006">
              <mc:Choice xmlns:v="urn:schemas-microsoft-com:vml" Requires="v">
                <p:oleObj name="Visio" r:id="rId6" imgW="5000593" imgH="3990932" progId="Visio.Drawing.15">
                  <p:embed/>
                </p:oleObj>
              </mc:Choice>
              <mc:Fallback>
                <p:oleObj name="Visio" r:id="rId6" imgW="5000593" imgH="3990932" progId="Visio.Drawing.15">
                  <p:embed/>
                  <p:pic>
                    <p:nvPicPr>
                      <p:cNvPr id="6" name="Objeto 5">
                        <a:extLst>
                          <a:ext uri="{FF2B5EF4-FFF2-40B4-BE49-F238E27FC236}">
                            <a16:creationId xmlns:a16="http://schemas.microsoft.com/office/drawing/2014/main" id="{EBF10080-F6B7-4697-80DE-1EF130647CAF}"/>
                          </a:ext>
                        </a:extLst>
                      </p:cNvPr>
                      <p:cNvPicPr/>
                      <p:nvPr/>
                    </p:nvPicPr>
                    <p:blipFill>
                      <a:blip r:embed="rId7"/>
                      <a:stretch>
                        <a:fillRect/>
                      </a:stretch>
                    </p:blipFill>
                    <p:spPr>
                      <a:xfrm>
                        <a:off x="267128" y="1255806"/>
                        <a:ext cx="6153150" cy="4911725"/>
                      </a:xfrm>
                      <a:prstGeom prst="rect">
                        <a:avLst/>
                      </a:prstGeom>
                    </p:spPr>
                  </p:pic>
                </p:oleObj>
              </mc:Fallback>
            </mc:AlternateContent>
          </a:graphicData>
        </a:graphic>
      </p:graphicFrame>
      <p:sp>
        <p:nvSpPr>
          <p:cNvPr id="7" name="Rectángulo 6">
            <a:extLst>
              <a:ext uri="{FF2B5EF4-FFF2-40B4-BE49-F238E27FC236}">
                <a16:creationId xmlns:a16="http://schemas.microsoft.com/office/drawing/2014/main" id="{E6FBB3E6-FD18-42BA-9228-7A29A7936EF8}"/>
              </a:ext>
            </a:extLst>
          </p:cNvPr>
          <p:cNvSpPr/>
          <p:nvPr/>
        </p:nvSpPr>
        <p:spPr>
          <a:xfrm>
            <a:off x="6888639" y="2574024"/>
            <a:ext cx="5036233" cy="22752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La OIT no ha adoptado, y no es tampoco probable que adopte, normas relativas a la determinación de suplementos.</a:t>
            </a:r>
          </a:p>
        </p:txBody>
      </p:sp>
    </p:spTree>
    <p:extLst>
      <p:ext uri="{BB962C8B-B14F-4D97-AF65-F5344CB8AC3E}">
        <p14:creationId xmlns:p14="http://schemas.microsoft.com/office/powerpoint/2010/main" val="39740283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Suplementos</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sp>
        <p:nvSpPr>
          <p:cNvPr id="4" name="Rectángulo 3">
            <a:extLst>
              <a:ext uri="{FF2B5EF4-FFF2-40B4-BE49-F238E27FC236}">
                <a16:creationId xmlns:a16="http://schemas.microsoft.com/office/drawing/2014/main" id="{75B42A35-07A7-40BC-AAC6-B35DA3B8B7B4}"/>
              </a:ext>
            </a:extLst>
          </p:cNvPr>
          <p:cNvSpPr/>
          <p:nvPr/>
        </p:nvSpPr>
        <p:spPr>
          <a:xfrm>
            <a:off x="617823" y="3039398"/>
            <a:ext cx="11241247" cy="48496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Suplemento por recuperación de la fatiga 4% del TB</a:t>
            </a:r>
          </a:p>
        </p:txBody>
      </p:sp>
      <p:sp>
        <p:nvSpPr>
          <p:cNvPr id="17" name="Rectángulo 16">
            <a:extLst>
              <a:ext uri="{FF2B5EF4-FFF2-40B4-BE49-F238E27FC236}">
                <a16:creationId xmlns:a16="http://schemas.microsoft.com/office/drawing/2014/main" id="{35DA219D-500D-4E5D-9609-C6FDA8B667F5}"/>
              </a:ext>
            </a:extLst>
          </p:cNvPr>
          <p:cNvSpPr/>
          <p:nvPr/>
        </p:nvSpPr>
        <p:spPr>
          <a:xfrm>
            <a:off x="617823" y="2413038"/>
            <a:ext cx="11241247" cy="48496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AR" sz="2000" dirty="0"/>
              <a:t>Suplemento por necesidades personales 7% del TB</a:t>
            </a:r>
          </a:p>
        </p:txBody>
      </p:sp>
      <p:sp>
        <p:nvSpPr>
          <p:cNvPr id="18" name="Rectángulo 17">
            <a:extLst>
              <a:ext uri="{FF2B5EF4-FFF2-40B4-BE49-F238E27FC236}">
                <a16:creationId xmlns:a16="http://schemas.microsoft.com/office/drawing/2014/main" id="{9B5D1251-7A95-4590-B18D-9EF305F1A0F1}"/>
              </a:ext>
            </a:extLst>
          </p:cNvPr>
          <p:cNvSpPr/>
          <p:nvPr/>
        </p:nvSpPr>
        <p:spPr>
          <a:xfrm>
            <a:off x="267131" y="1508153"/>
            <a:ext cx="11591937" cy="763492"/>
          </a:xfrm>
          <a:prstGeom prst="rect">
            <a:avLst/>
          </a:prstGeom>
          <a:no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solidFill>
                  <a:sysClr val="windowText" lastClr="000000"/>
                </a:solidFill>
              </a:rPr>
              <a:t>Sin embargo, es común que para los suplementos fijos se adopten los siguientes valores:</a:t>
            </a:r>
          </a:p>
        </p:txBody>
      </p:sp>
      <p:sp>
        <p:nvSpPr>
          <p:cNvPr id="19" name="Rectángulo 18">
            <a:extLst>
              <a:ext uri="{FF2B5EF4-FFF2-40B4-BE49-F238E27FC236}">
                <a16:creationId xmlns:a16="http://schemas.microsoft.com/office/drawing/2014/main" id="{9CF69388-03B5-4035-BFB2-DF6B109524C4}"/>
              </a:ext>
            </a:extLst>
          </p:cNvPr>
          <p:cNvSpPr/>
          <p:nvPr/>
        </p:nvSpPr>
        <p:spPr>
          <a:xfrm>
            <a:off x="267127" y="3967286"/>
            <a:ext cx="11591937" cy="103773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Para los suplementos variables existen varios métodos y tablas, siendo una de ellas la que está publicada en “Ingeniería Industrial” de Niebel y Freivalds.</a:t>
            </a:r>
          </a:p>
        </p:txBody>
      </p:sp>
      <p:sp>
        <p:nvSpPr>
          <p:cNvPr id="16" name="Rectángulo 15">
            <a:extLst>
              <a:ext uri="{FF2B5EF4-FFF2-40B4-BE49-F238E27FC236}">
                <a16:creationId xmlns:a16="http://schemas.microsoft.com/office/drawing/2014/main" id="{8A4921F7-9C05-4F98-A2CA-D1329C00FD7E}"/>
              </a:ext>
            </a:extLst>
          </p:cNvPr>
          <p:cNvSpPr/>
          <p:nvPr/>
        </p:nvSpPr>
        <p:spPr>
          <a:xfrm>
            <a:off x="267128" y="5146413"/>
            <a:ext cx="11591937" cy="48496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s-AR" sz="2400" dirty="0"/>
              <a:t>Los suplementos al trabajo son a discreción de la empresa y sindicato.</a:t>
            </a:r>
          </a:p>
        </p:txBody>
      </p:sp>
    </p:spTree>
    <p:extLst>
      <p:ext uri="{BB962C8B-B14F-4D97-AF65-F5344CB8AC3E}">
        <p14:creationId xmlns:p14="http://schemas.microsoft.com/office/powerpoint/2010/main" val="36258680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sultado de imagen para utn ba">
            <a:extLst>
              <a:ext uri="{FF2B5EF4-FFF2-40B4-BE49-F238E27FC236}">
                <a16:creationId xmlns:a16="http://schemas.microsoft.com/office/drawing/2014/main" id="{AB24DC82-672B-4AC8-AD86-65C82EAB37C7}"/>
              </a:ext>
            </a:extLst>
          </p:cNvPr>
          <p:cNvPicPr>
            <a:picLocks noChangeAspect="1" noChangeArrowheads="1"/>
          </p:cNvPicPr>
          <p:nvPr/>
        </p:nvPicPr>
        <p:blipFill>
          <a:blip r:embed="rId3">
            <a:duotone>
              <a:prstClr val="black"/>
              <a:srgbClr val="FF0000">
                <a:tint val="45000"/>
                <a:satMod val="400000"/>
              </a:srgbClr>
            </a:duotone>
            <a:alphaModFix amt="62000"/>
            <a:extLst>
              <a:ext uri="{BEBA8EAE-BF5A-486C-A8C5-ECC9F3942E4B}">
                <a14:imgProps xmlns:a14="http://schemas.microsoft.com/office/drawing/2010/main">
                  <a14:imgLayer r:embed="rId4">
                    <a14:imgEffect>
                      <a14:colorTemperature colorTemp="6000"/>
                    </a14:imgEffect>
                    <a14:imgEffect>
                      <a14:brightnessContrast bright="-100000" contrast="20000"/>
                    </a14:imgEffect>
                  </a14:imgLayer>
                </a14:imgProps>
              </a:ext>
              <a:ext uri="{28A0092B-C50C-407E-A947-70E740481C1C}">
                <a14:useLocalDpi xmlns:a14="http://schemas.microsoft.com/office/drawing/2010/main" val="0"/>
              </a:ext>
            </a:extLst>
          </a:blip>
          <a:srcRect/>
          <a:stretch>
            <a:fillRect/>
          </a:stretch>
        </p:blipFill>
        <p:spPr bwMode="auto">
          <a:xfrm>
            <a:off x="8969943" y="0"/>
            <a:ext cx="3222057" cy="111387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E9789E9-EE75-4BC8-B70E-551CB8B94DCA}"/>
              </a:ext>
            </a:extLst>
          </p:cNvPr>
          <p:cNvSpPr txBox="1"/>
          <p:nvPr/>
        </p:nvSpPr>
        <p:spPr>
          <a:xfrm>
            <a:off x="267128" y="315072"/>
            <a:ext cx="8453014" cy="7694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sz="4400" dirty="0">
                <a:solidFill>
                  <a:schemeClr val="tx1">
                    <a:lumMod val="65000"/>
                    <a:lumOff val="35000"/>
                  </a:schemeClr>
                </a:solidFill>
              </a:rPr>
              <a:t>Suplementos</a:t>
            </a:r>
            <a:endParaRPr lang="es-AR" sz="2800" dirty="0">
              <a:solidFill>
                <a:schemeClr val="tx1">
                  <a:lumMod val="65000"/>
                  <a:lumOff val="35000"/>
                </a:schemeClr>
              </a:solidFill>
            </a:endParaRPr>
          </a:p>
        </p:txBody>
      </p:sp>
      <p:grpSp>
        <p:nvGrpSpPr>
          <p:cNvPr id="23" name="Grupo 22">
            <a:extLst>
              <a:ext uri="{FF2B5EF4-FFF2-40B4-BE49-F238E27FC236}">
                <a16:creationId xmlns:a16="http://schemas.microsoft.com/office/drawing/2014/main" id="{5B48AFC4-06E8-40B0-9051-DB2C0F8799F0}"/>
              </a:ext>
            </a:extLst>
          </p:cNvPr>
          <p:cNvGrpSpPr/>
          <p:nvPr/>
        </p:nvGrpSpPr>
        <p:grpSpPr>
          <a:xfrm>
            <a:off x="0" y="4141"/>
            <a:ext cx="12192000" cy="6849718"/>
            <a:chOff x="0" y="4141"/>
            <a:chExt cx="12192000" cy="6849718"/>
          </a:xfrm>
        </p:grpSpPr>
        <p:grpSp>
          <p:nvGrpSpPr>
            <p:cNvPr id="24" name="Grupo 23">
              <a:extLst>
                <a:ext uri="{FF2B5EF4-FFF2-40B4-BE49-F238E27FC236}">
                  <a16:creationId xmlns:a16="http://schemas.microsoft.com/office/drawing/2014/main" id="{910821E9-1478-48FD-B6ED-8DEFC1C94F31}"/>
                </a:ext>
              </a:extLst>
            </p:cNvPr>
            <p:cNvGrpSpPr/>
            <p:nvPr/>
          </p:nvGrpSpPr>
          <p:grpSpPr>
            <a:xfrm>
              <a:off x="0" y="4141"/>
              <a:ext cx="12192000" cy="6849718"/>
              <a:chOff x="0" y="4141"/>
              <a:chExt cx="12192000" cy="6849718"/>
            </a:xfrm>
          </p:grpSpPr>
          <p:sp>
            <p:nvSpPr>
              <p:cNvPr id="26" name="Rectángulo 25">
                <a:extLst>
                  <a:ext uri="{FF2B5EF4-FFF2-40B4-BE49-F238E27FC236}">
                    <a16:creationId xmlns:a16="http://schemas.microsoft.com/office/drawing/2014/main" id="{F7E2DAB8-C06A-418B-98AF-C58043D33B9F}"/>
                  </a:ext>
                </a:extLst>
              </p:cNvPr>
              <p:cNvSpPr/>
              <p:nvPr/>
            </p:nvSpPr>
            <p:spPr>
              <a:xfrm>
                <a:off x="0" y="4141"/>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sp>
            <p:nvSpPr>
              <p:cNvPr id="27" name="Rectángulo 26">
                <a:extLst>
                  <a:ext uri="{FF2B5EF4-FFF2-40B4-BE49-F238E27FC236}">
                    <a16:creationId xmlns:a16="http://schemas.microsoft.com/office/drawing/2014/main" id="{CC9A60D7-38CB-4B47-82A2-0D867163A725}"/>
                  </a:ext>
                </a:extLst>
              </p:cNvPr>
              <p:cNvSpPr/>
              <p:nvPr/>
            </p:nvSpPr>
            <p:spPr>
              <a:xfrm flipV="1">
                <a:off x="0" y="6357121"/>
                <a:ext cx="12192000" cy="4967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dirty="0"/>
              </a:p>
            </p:txBody>
          </p:sp>
          <p:sp>
            <p:nvSpPr>
              <p:cNvPr id="28" name="Rectángulo 27">
                <a:extLst>
                  <a:ext uri="{FF2B5EF4-FFF2-40B4-BE49-F238E27FC236}">
                    <a16:creationId xmlns:a16="http://schemas.microsoft.com/office/drawing/2014/main" id="{19991673-052A-4BA1-A848-8113EDF20262}"/>
                  </a:ext>
                </a:extLst>
              </p:cNvPr>
              <p:cNvSpPr/>
              <p:nvPr/>
            </p:nvSpPr>
            <p:spPr>
              <a:xfrm>
                <a:off x="0" y="6338824"/>
                <a:ext cx="12192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AR"/>
              </a:p>
            </p:txBody>
          </p:sp>
        </p:grpSp>
        <p:pic>
          <p:nvPicPr>
            <p:cNvPr id="25" name="Imagen 24">
              <a:extLst>
                <a:ext uri="{FF2B5EF4-FFF2-40B4-BE49-F238E27FC236}">
                  <a16:creationId xmlns:a16="http://schemas.microsoft.com/office/drawing/2014/main" id="{9C28AA5D-6A0E-45AC-8DAE-E4AEDDFC0B8A}"/>
                </a:ext>
              </a:extLst>
            </p:cNvPr>
            <p:cNvPicPr>
              <a:picLocks noChangeAspect="1"/>
            </p:cNvPicPr>
            <p:nvPr/>
          </p:nvPicPr>
          <p:blipFill rotWithShape="1">
            <a:blip r:embed="rId5">
              <a:alphaModFix amt="50000"/>
            </a:blip>
            <a:srcRect l="15693" t="31624" r="25546" b="30133"/>
            <a:stretch/>
          </p:blipFill>
          <p:spPr>
            <a:xfrm>
              <a:off x="11311846" y="6376358"/>
              <a:ext cx="880154" cy="477359"/>
            </a:xfrm>
            <a:prstGeom prst="rect">
              <a:avLst/>
            </a:prstGeom>
          </p:spPr>
        </p:pic>
      </p:grpSp>
      <p:graphicFrame>
        <p:nvGraphicFramePr>
          <p:cNvPr id="6" name="Objeto 5">
            <a:extLst>
              <a:ext uri="{FF2B5EF4-FFF2-40B4-BE49-F238E27FC236}">
                <a16:creationId xmlns:a16="http://schemas.microsoft.com/office/drawing/2014/main" id="{590DBD29-F0E6-4D88-87AC-9213E9A88A35}"/>
              </a:ext>
            </a:extLst>
          </p:cNvPr>
          <p:cNvGraphicFramePr>
            <a:graphicFrameLocks noChangeAspect="1"/>
          </p:cNvGraphicFramePr>
          <p:nvPr>
            <p:extLst>
              <p:ext uri="{D42A27DB-BD31-4B8C-83A1-F6EECF244321}">
                <p14:modId xmlns:p14="http://schemas.microsoft.com/office/powerpoint/2010/main" val="1593136691"/>
              </p:ext>
            </p:extLst>
          </p:nvPr>
        </p:nvGraphicFramePr>
        <p:xfrm>
          <a:off x="2272216" y="1152385"/>
          <a:ext cx="7647568" cy="5177290"/>
        </p:xfrm>
        <a:graphic>
          <a:graphicData uri="http://schemas.openxmlformats.org/presentationml/2006/ole">
            <mc:AlternateContent xmlns:mc="http://schemas.openxmlformats.org/markup-compatibility/2006">
              <mc:Choice xmlns:v="urn:schemas-microsoft-com:vml" Requires="v">
                <p:oleObj name="Worksheet" r:id="rId6" imgW="7077082" imgH="4791079" progId="Excel.Sheet.12">
                  <p:embed/>
                </p:oleObj>
              </mc:Choice>
              <mc:Fallback>
                <p:oleObj name="Worksheet" r:id="rId6" imgW="7077082" imgH="4791079" progId="Excel.Sheet.12">
                  <p:embed/>
                  <p:pic>
                    <p:nvPicPr>
                      <p:cNvPr id="6" name="Objeto 5">
                        <a:extLst>
                          <a:ext uri="{FF2B5EF4-FFF2-40B4-BE49-F238E27FC236}">
                            <a16:creationId xmlns:a16="http://schemas.microsoft.com/office/drawing/2014/main" id="{590DBD29-F0E6-4D88-87AC-9213E9A88A35}"/>
                          </a:ext>
                        </a:extLst>
                      </p:cNvPr>
                      <p:cNvPicPr/>
                      <p:nvPr/>
                    </p:nvPicPr>
                    <p:blipFill>
                      <a:blip r:embed="rId7"/>
                      <a:stretch>
                        <a:fillRect/>
                      </a:stretch>
                    </p:blipFill>
                    <p:spPr>
                      <a:xfrm>
                        <a:off x="2272216" y="1152385"/>
                        <a:ext cx="7647568" cy="5177290"/>
                      </a:xfrm>
                      <a:prstGeom prst="rect">
                        <a:avLst/>
                      </a:prstGeom>
                    </p:spPr>
                  </p:pic>
                </p:oleObj>
              </mc:Fallback>
            </mc:AlternateContent>
          </a:graphicData>
        </a:graphic>
      </p:graphicFrame>
    </p:spTree>
    <p:extLst>
      <p:ext uri="{BB962C8B-B14F-4D97-AF65-F5344CB8AC3E}">
        <p14:creationId xmlns:p14="http://schemas.microsoft.com/office/powerpoint/2010/main" val="21404726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Tema 1">
  <a:themeElements>
    <a:clrScheme name="Azul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Borde de resplandor">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a 1" id="{76A0B0C8-B908-D040-81BA-278A6DBD414A}" vid="{9C71E74D-6832-CA46-BEC3-B156A8D76F48}"/>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Tema 1</Template>
  <TotalTime>185</TotalTime>
  <Words>3525</Words>
  <Application>Microsoft Office PowerPoint</Application>
  <PresentationFormat>Panorámica</PresentationFormat>
  <Paragraphs>376</Paragraphs>
  <Slides>61</Slides>
  <Notes>54</Notes>
  <HiddenSlides>0</HiddenSlides>
  <MMClips>0</MMClips>
  <ScaleCrop>false</ScaleCrop>
  <HeadingPairs>
    <vt:vector size="8" baseType="variant">
      <vt:variant>
        <vt:lpstr>Fuentes usadas</vt:lpstr>
      </vt:variant>
      <vt:variant>
        <vt:i4>7</vt:i4>
      </vt:variant>
      <vt:variant>
        <vt:lpstr>Tema</vt:lpstr>
      </vt:variant>
      <vt:variant>
        <vt:i4>1</vt:i4>
      </vt:variant>
      <vt:variant>
        <vt:lpstr>Servidores OLE incrustados</vt:lpstr>
      </vt:variant>
      <vt:variant>
        <vt:i4>2</vt:i4>
      </vt:variant>
      <vt:variant>
        <vt:lpstr>Títulos de diapositiva</vt:lpstr>
      </vt:variant>
      <vt:variant>
        <vt:i4>61</vt:i4>
      </vt:variant>
    </vt:vector>
  </HeadingPairs>
  <TitlesOfParts>
    <vt:vector size="71" baseType="lpstr">
      <vt:lpstr>Arial</vt:lpstr>
      <vt:lpstr>Calibri</vt:lpstr>
      <vt:lpstr>Cambria</vt:lpstr>
      <vt:lpstr>Cambria Math</vt:lpstr>
      <vt:lpstr>Rockwell</vt:lpstr>
      <vt:lpstr>Tw Cen MT</vt:lpstr>
      <vt:lpstr>Verdana</vt:lpstr>
      <vt:lpstr>Tema 1</vt:lpstr>
      <vt:lpstr>Visio</vt:lpstr>
      <vt:lpstr>Worksheet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Microsoft Office User</dc:creator>
  <cp:lastModifiedBy>Diego Perez</cp:lastModifiedBy>
  <cp:revision>307</cp:revision>
  <dcterms:created xsi:type="dcterms:W3CDTF">2018-12-28T14:35:16Z</dcterms:created>
  <dcterms:modified xsi:type="dcterms:W3CDTF">2022-10-13T21:19:11Z</dcterms:modified>
</cp:coreProperties>
</file>