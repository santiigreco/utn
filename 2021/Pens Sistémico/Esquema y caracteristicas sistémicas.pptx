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4" r:id="rId2"/>
    <p:sldId id="277" r:id="rId3"/>
    <p:sldId id="276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</p:sldIdLst>
  <p:sldSz cx="9144000" cy="6858000" type="screen4x3"/>
  <p:notesSz cx="6858000" cy="96615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CC00"/>
    <a:srgbClr val="FF822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130" autoAdjust="0"/>
    <p:restoredTop sz="90929"/>
  </p:normalViewPr>
  <p:slideViewPr>
    <p:cSldViewPr>
      <p:cViewPr varScale="1">
        <p:scale>
          <a:sx n="66" d="100"/>
          <a:sy n="66" d="100"/>
        </p:scale>
        <p:origin x="-127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78925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178925"/>
            <a:ext cx="2971800" cy="48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5086D7A-0319-43E9-B377-EEDC0074B70A}" type="slidenum">
              <a:rPr lang="es-ES" altLang="es-AR"/>
              <a:pPr/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41400" y="762000"/>
            <a:ext cx="4775200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72000"/>
            <a:ext cx="502920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297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144000"/>
            <a:ext cx="29718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9C0CB59-E043-40E8-AA3D-EB0675AEE4F5}" type="slidenum">
              <a:rPr lang="es-ES" altLang="es-AR"/>
              <a:pPr/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0063B5A-6BBA-4FF4-B718-89A2116309AF}" type="slidenum">
              <a:rPr lang="es-ES" altLang="es-AR" sz="1200"/>
              <a:pPr eaLnBrk="1" hangingPunct="1"/>
              <a:t>12</a:t>
            </a:fld>
            <a:endParaRPr lang="es-ES" altLang="es-AR" sz="1200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s-ES" altLang="es-A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Freeform 17" descr="CITTEXT"/>
            <p:cNvSpPr>
              <a:spLocks/>
            </p:cNvSpPr>
            <p:nvPr/>
          </p:nvSpPr>
          <p:spPr bwMode="auto">
            <a:xfrm>
              <a:off x="0" y="0"/>
              <a:ext cx="1824" cy="4320"/>
            </a:xfrm>
            <a:custGeom>
              <a:avLst/>
              <a:gdLst>
                <a:gd name="T0" fmla="*/ 0 w 1824"/>
                <a:gd name="T1" fmla="*/ 4860 h 3840"/>
                <a:gd name="T2" fmla="*/ 0 w 1824"/>
                <a:gd name="T3" fmla="*/ 0 h 3840"/>
                <a:gd name="T4" fmla="*/ 1824 w 1824"/>
                <a:gd name="T5" fmla="*/ 0 h 3840"/>
                <a:gd name="T6" fmla="*/ 583 w 1824"/>
                <a:gd name="T7" fmla="*/ 4860 h 3840"/>
                <a:gd name="T8" fmla="*/ 0 w 1824"/>
                <a:gd name="T9" fmla="*/ 4860 h 38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24" h="3840">
                  <a:moveTo>
                    <a:pt x="0" y="3840"/>
                  </a:moveTo>
                  <a:lnTo>
                    <a:pt x="0" y="0"/>
                  </a:lnTo>
                  <a:lnTo>
                    <a:pt x="1824" y="0"/>
                  </a:lnTo>
                  <a:cubicBezTo>
                    <a:pt x="74" y="1204"/>
                    <a:pt x="465" y="3655"/>
                    <a:pt x="583" y="3840"/>
                  </a:cubicBezTo>
                  <a:cubicBezTo>
                    <a:pt x="291" y="3840"/>
                    <a:pt x="0" y="3840"/>
                    <a:pt x="0" y="3840"/>
                  </a:cubicBezTo>
                  <a:close/>
                </a:path>
              </a:pathLst>
            </a:custGeom>
            <a:blipFill dpi="0" rotWithShape="0">
              <a:blip r:embed="rId2" cstate="print"/>
              <a:srcRect/>
              <a:tile tx="0" ty="0" sx="100000" sy="100000" flip="none" algn="tl"/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/>
            </a:p>
          </p:txBody>
        </p:sp>
        <p:sp>
          <p:nvSpPr>
            <p:cNvPr id="6" name="Rectangle 7"/>
            <p:cNvSpPr>
              <a:spLocks noChangeArrowheads="1"/>
            </p:cNvSpPr>
            <p:nvPr/>
          </p:nvSpPr>
          <p:spPr bwMode="ltGray">
            <a:xfrm>
              <a:off x="1008" y="0"/>
              <a:ext cx="4752" cy="2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s-ES" altLang="es-AR"/>
            </a:p>
          </p:txBody>
        </p:sp>
        <p:pic>
          <p:nvPicPr>
            <p:cNvPr id="7" name="Picture 8" descr="CITBANND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30666" r="5334" b="86667"/>
            <a:stretch>
              <a:fillRect/>
            </a:stretch>
          </p:blipFill>
          <p:spPr bwMode="auto">
            <a:xfrm>
              <a:off x="1584" y="0"/>
              <a:ext cx="417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1008" y="240"/>
              <a:ext cx="4752" cy="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s-ES" altLang="es-AR"/>
            </a:p>
          </p:txBody>
        </p:sp>
        <p:grpSp>
          <p:nvGrpSpPr>
            <p:cNvPr id="9" name="Group 20"/>
            <p:cNvGrpSpPr>
              <a:grpSpLocks/>
            </p:cNvGrpSpPr>
            <p:nvPr userDrawn="1"/>
          </p:nvGrpSpPr>
          <p:grpSpPr bwMode="auto">
            <a:xfrm>
              <a:off x="0" y="2256"/>
              <a:ext cx="3642" cy="94"/>
              <a:chOff x="0" y="2256"/>
              <a:chExt cx="3642" cy="94"/>
            </a:xfrm>
          </p:grpSpPr>
          <p:sp>
            <p:nvSpPr>
              <p:cNvPr id="10" name="Freeform 10"/>
              <p:cNvSpPr>
                <a:spLocks/>
              </p:cNvSpPr>
              <p:nvPr/>
            </p:nvSpPr>
            <p:spPr bwMode="auto">
              <a:xfrm>
                <a:off x="0" y="2310"/>
                <a:ext cx="3642" cy="1"/>
              </a:xfrm>
              <a:custGeom>
                <a:avLst/>
                <a:gdLst>
                  <a:gd name="T0" fmla="*/ 0 w 3642"/>
                  <a:gd name="T1" fmla="*/ 0 h 1"/>
                  <a:gd name="T2" fmla="*/ 3642 w 364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42" h="1">
                    <a:moveTo>
                      <a:pt x="0" y="0"/>
                    </a:moveTo>
                    <a:lnTo>
                      <a:pt x="3642" y="0"/>
                    </a:lnTo>
                  </a:path>
                </a:pathLst>
              </a:custGeom>
              <a:noFill/>
              <a:ln w="9525">
                <a:solidFill>
                  <a:schemeClr val="accent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AR"/>
              </a:p>
            </p:txBody>
          </p:sp>
          <p:grpSp>
            <p:nvGrpSpPr>
              <p:cNvPr id="11" name="Group 15"/>
              <p:cNvGrpSpPr>
                <a:grpSpLocks/>
              </p:cNvGrpSpPr>
              <p:nvPr/>
            </p:nvGrpSpPr>
            <p:grpSpPr bwMode="auto">
              <a:xfrm>
                <a:off x="960" y="2256"/>
                <a:ext cx="1678" cy="94"/>
                <a:chOff x="419" y="1193"/>
                <a:chExt cx="1678" cy="94"/>
              </a:xfrm>
            </p:grpSpPr>
            <p:sp>
              <p:nvSpPr>
                <p:cNvPr id="12" name="Oval 11"/>
                <p:cNvSpPr>
                  <a:spLocks noChangeArrowheads="1"/>
                </p:cNvSpPr>
                <p:nvPr userDrawn="1"/>
              </p:nvSpPr>
              <p:spPr bwMode="auto">
                <a:xfrm>
                  <a:off x="419" y="1193"/>
                  <a:ext cx="94" cy="94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60784"/>
                        <a:invGamma/>
                      </a:scheme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CC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s-ES"/>
                </a:p>
              </p:txBody>
            </p:sp>
            <p:sp>
              <p:nvSpPr>
                <p:cNvPr id="13" name="Oval 12"/>
                <p:cNvSpPr>
                  <a:spLocks noChangeArrowheads="1"/>
                </p:cNvSpPr>
                <p:nvPr userDrawn="1"/>
              </p:nvSpPr>
              <p:spPr bwMode="auto">
                <a:xfrm>
                  <a:off x="947" y="1193"/>
                  <a:ext cx="94" cy="94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60784"/>
                        <a:invGamma/>
                      </a:scheme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CC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s-ES"/>
                </a:p>
              </p:txBody>
            </p:sp>
            <p:sp>
              <p:nvSpPr>
                <p:cNvPr id="14" name="Oval 13"/>
                <p:cNvSpPr>
                  <a:spLocks noChangeArrowheads="1"/>
                </p:cNvSpPr>
                <p:nvPr userDrawn="1"/>
              </p:nvSpPr>
              <p:spPr bwMode="auto">
                <a:xfrm>
                  <a:off x="1475" y="1193"/>
                  <a:ext cx="94" cy="94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60784"/>
                        <a:invGamma/>
                      </a:scheme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CC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s-ES"/>
                </a:p>
              </p:txBody>
            </p:sp>
            <p:sp>
              <p:nvSpPr>
                <p:cNvPr id="15" name="Oval 14"/>
                <p:cNvSpPr>
                  <a:spLocks noChangeArrowheads="1"/>
                </p:cNvSpPr>
                <p:nvPr userDrawn="1"/>
              </p:nvSpPr>
              <p:spPr bwMode="auto">
                <a:xfrm>
                  <a:off x="2003" y="1193"/>
                  <a:ext cx="94" cy="94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accent2">
                        <a:gamma/>
                        <a:shade val="60784"/>
                        <a:invGamma/>
                      </a:schemeClr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CC00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s-ES"/>
                </a:p>
              </p:txBody>
            </p:sp>
          </p:grpSp>
        </p:grpSp>
      </p:grpSp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0574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pPr lv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0" y="40386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s-ES" noProof="0"/>
              <a:t>Haga clic para modificar el estilo de subtítulo del patrón</a:t>
            </a:r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EB4C4D69-5BFA-4772-B5E1-110D398564A5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1930637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66C4B-3D4E-4E99-8A67-334CBC3A38A9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2197129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0631BA-6A08-4682-B965-2872862AD2AC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3400403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5334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495800" y="21336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D28F35-2617-420B-8A3D-3D96054A0D89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322067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D85FA5-72E7-4178-BAC4-3CEE9EA76F52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1176712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0706A46-D308-4E14-B2E7-D8FACFE87FB8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1927733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7EDC71-7597-45C8-808A-14CE3AE93A69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296614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B8F667-C1AB-489D-AA9E-1BC66A886A20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260332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E7A92C-B94D-4549-937F-8FB07BE4C3AA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3742302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A69678-A495-47B4-AEA2-4714A028C13B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96617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362700" y="609600"/>
            <a:ext cx="1943100" cy="56388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533400" y="609600"/>
            <a:ext cx="5676900" cy="56388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EE062C-DAEF-45FE-B023-5D7EBE7B5449}" type="slidenum">
              <a:rPr lang="es-ES" altLang="es-AR"/>
              <a:pPr/>
              <a:t>‹Nº›</a:t>
            </a:fld>
            <a:endParaRPr lang="es-ES" altLang="es-AR"/>
          </a:p>
        </p:txBody>
      </p:sp>
    </p:spTree>
    <p:extLst>
      <p:ext uri="{BB962C8B-B14F-4D97-AF65-F5344CB8AC3E}">
        <p14:creationId xmlns:p14="http://schemas.microsoft.com/office/powerpoint/2010/main" xmlns="" val="297144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5"/>
          <p:cNvGrpSpPr>
            <a:grpSpLocks/>
          </p:cNvGrpSpPr>
          <p:nvPr/>
        </p:nvGrpSpPr>
        <p:grpSpPr bwMode="auto">
          <a:xfrm>
            <a:off x="152400" y="0"/>
            <a:ext cx="8991600" cy="6858000"/>
            <a:chOff x="96" y="0"/>
            <a:chExt cx="5664" cy="4320"/>
          </a:xfrm>
        </p:grpSpPr>
        <p:sp>
          <p:nvSpPr>
            <p:cNvPr id="1032" name="Rectangle 7"/>
            <p:cNvSpPr>
              <a:spLocks noChangeArrowheads="1"/>
            </p:cNvSpPr>
            <p:nvPr userDrawn="1"/>
          </p:nvSpPr>
          <p:spPr bwMode="ltGray">
            <a:xfrm>
              <a:off x="1008" y="0"/>
              <a:ext cx="4752" cy="2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s-ES" altLang="es-AR"/>
            </a:p>
          </p:txBody>
        </p:sp>
        <p:pic>
          <p:nvPicPr>
            <p:cNvPr id="1033" name="Picture 8" descr="CITBANND"/>
            <p:cNvPicPr>
              <a:picLocks noChangeAspect="1" noChangeArrowheads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 l="30666" r="5334" b="86667"/>
            <a:stretch>
              <a:fillRect/>
            </a:stretch>
          </p:blipFill>
          <p:spPr bwMode="auto">
            <a:xfrm>
              <a:off x="1584" y="0"/>
              <a:ext cx="417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4" name="Rectangle 9"/>
            <p:cNvSpPr>
              <a:spLocks noChangeArrowheads="1"/>
            </p:cNvSpPr>
            <p:nvPr userDrawn="1"/>
          </p:nvSpPr>
          <p:spPr bwMode="auto">
            <a:xfrm>
              <a:off x="1008" y="240"/>
              <a:ext cx="4752" cy="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s-ES" altLang="es-AR"/>
            </a:p>
          </p:txBody>
        </p:sp>
        <p:sp>
          <p:nvSpPr>
            <p:cNvPr id="1035" name="Freeform 10"/>
            <p:cNvSpPr>
              <a:spLocks/>
            </p:cNvSpPr>
            <p:nvPr userDrawn="1"/>
          </p:nvSpPr>
          <p:spPr bwMode="auto">
            <a:xfrm>
              <a:off x="96" y="1248"/>
              <a:ext cx="4320" cy="3072"/>
            </a:xfrm>
            <a:custGeom>
              <a:avLst/>
              <a:gdLst>
                <a:gd name="T0" fmla="*/ 0 w 4320"/>
                <a:gd name="T1" fmla="*/ 2891 h 3264"/>
                <a:gd name="T2" fmla="*/ 0 w 4320"/>
                <a:gd name="T3" fmla="*/ 0 h 3264"/>
                <a:gd name="T4" fmla="*/ 4320 w 4320"/>
                <a:gd name="T5" fmla="*/ 0 h 32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20" h="3264">
                  <a:moveTo>
                    <a:pt x="0" y="3264"/>
                  </a:moveTo>
                  <a:lnTo>
                    <a:pt x="0" y="0"/>
                  </a:lnTo>
                  <a:lnTo>
                    <a:pt x="432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s-AR"/>
            </a:p>
          </p:txBody>
        </p:sp>
        <p:sp>
          <p:nvSpPr>
            <p:cNvPr id="2" name="Oval 11"/>
            <p:cNvSpPr>
              <a:spLocks noChangeArrowheads="1"/>
            </p:cNvSpPr>
            <p:nvPr userDrawn="1"/>
          </p:nvSpPr>
          <p:spPr bwMode="auto">
            <a:xfrm>
              <a:off x="419" y="1193"/>
              <a:ext cx="94" cy="9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60784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036" name="Oval 12"/>
            <p:cNvSpPr>
              <a:spLocks noChangeArrowheads="1"/>
            </p:cNvSpPr>
            <p:nvPr userDrawn="1"/>
          </p:nvSpPr>
          <p:spPr bwMode="auto">
            <a:xfrm>
              <a:off x="947" y="1193"/>
              <a:ext cx="94" cy="9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60784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037" name="Oval 13"/>
            <p:cNvSpPr>
              <a:spLocks noChangeArrowheads="1"/>
            </p:cNvSpPr>
            <p:nvPr userDrawn="1"/>
          </p:nvSpPr>
          <p:spPr bwMode="auto">
            <a:xfrm>
              <a:off x="1475" y="1193"/>
              <a:ext cx="94" cy="9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60784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  <p:sp>
          <p:nvSpPr>
            <p:cNvPr id="1038" name="Oval 14"/>
            <p:cNvSpPr>
              <a:spLocks noChangeArrowheads="1"/>
            </p:cNvSpPr>
            <p:nvPr userDrawn="1"/>
          </p:nvSpPr>
          <p:spPr bwMode="auto">
            <a:xfrm>
              <a:off x="2003" y="1193"/>
              <a:ext cx="94" cy="94"/>
            </a:xfrm>
            <a:prstGeom prst="ellipse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accent2">
                    <a:gamma/>
                    <a:shade val="60784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rgbClr val="00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s-ES"/>
            </a:p>
          </p:txBody>
        </p:sp>
      </p:grp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el estilo de título del patrón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21336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AR"/>
              <a:t>Haga clic para modificar el estilo de texto del patrón</a:t>
            </a:r>
          </a:p>
          <a:p>
            <a:pPr lvl="1"/>
            <a:r>
              <a:rPr lang="es-ES" altLang="es-AR"/>
              <a:t>Segundo nivel</a:t>
            </a:r>
          </a:p>
          <a:p>
            <a:pPr lvl="2"/>
            <a:r>
              <a:rPr lang="es-ES" altLang="es-AR"/>
              <a:t>Tercer nivel</a:t>
            </a:r>
          </a:p>
          <a:p>
            <a:pPr lvl="3"/>
            <a:r>
              <a:rPr lang="es-ES" altLang="es-AR"/>
              <a:t>Cuarto nivel</a:t>
            </a:r>
          </a:p>
          <a:p>
            <a:pPr lvl="4"/>
            <a:r>
              <a:rPr lang="es-ES" altLang="es-AR"/>
              <a:t>Quinto nivel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33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1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00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fld id="{4C3DA00C-6B8B-431A-9D61-224C5150D421}" type="slidenum">
              <a:rPr lang="es-ES" altLang="es-AR"/>
              <a:pPr/>
              <a:t>‹Nº›</a:t>
            </a:fld>
            <a:endParaRPr lang="es-ES" alt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Sistema – Características</a:t>
            </a:r>
            <a:endParaRPr lang="es-ES" altLang="es-A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 sz="2800" b="1"/>
              <a:t>Totalidad</a:t>
            </a:r>
            <a:r>
              <a:rPr lang="es-AR" altLang="es-AR" sz="2800"/>
              <a:t> – la modificación o acción sobre una parte modifica el todo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 b="1"/>
              <a:t>Propósito</a:t>
            </a:r>
            <a:r>
              <a:rPr lang="es-AR" altLang="es-AR" sz="2800"/>
              <a:t> – objetivo o meta del sistema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 sz="2400"/>
              <a:t>Puede existir más de un propósito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 b="1"/>
              <a:t>Función</a:t>
            </a:r>
            <a:r>
              <a:rPr lang="es-AR" altLang="es-AR" sz="2800"/>
              <a:t> – misión, cometido o fin último del sistema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 b="1"/>
              <a:t>Equifinalidad</a:t>
            </a:r>
            <a:r>
              <a:rPr lang="es-AR" altLang="es-AR" sz="2800"/>
              <a:t> – puede alcanzarse el mismo fin partiendo de distintos orígenes y por distintos caminos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altLang="es-AR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Sistema – Características</a:t>
            </a:r>
            <a:endParaRPr lang="es-ES" altLang="es-A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 b="1"/>
              <a:t>Interrelación e interdependencia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Relaciones entre las partes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b="1"/>
              <a:t>Regulación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Cumplimiento de objetivos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b="1"/>
              <a:t>Diferenciación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Unidades especializadas desempeñan funciones especializadas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Permite una mejor adaptación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s-AR" altLang="es-AR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altLang="es-A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30"/>
          <p:cNvSpPr>
            <a:spLocks noChangeArrowheads="1"/>
          </p:cNvSpPr>
          <p:nvPr/>
        </p:nvSpPr>
        <p:spPr bwMode="auto">
          <a:xfrm>
            <a:off x="381000" y="1524000"/>
            <a:ext cx="7696200" cy="40386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5123" name="Rectangle 29"/>
          <p:cNvSpPr>
            <a:spLocks noChangeArrowheads="1"/>
          </p:cNvSpPr>
          <p:nvPr/>
        </p:nvSpPr>
        <p:spPr bwMode="auto">
          <a:xfrm>
            <a:off x="990600" y="2209800"/>
            <a:ext cx="6096000" cy="2819400"/>
          </a:xfrm>
          <a:prstGeom prst="rect">
            <a:avLst/>
          </a:prstGeom>
          <a:solidFill>
            <a:srgbClr val="CCFF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5124" name="Rectangle 6"/>
          <p:cNvSpPr>
            <a:spLocks noChangeArrowheads="1"/>
          </p:cNvSpPr>
          <p:nvPr/>
        </p:nvSpPr>
        <p:spPr bwMode="auto">
          <a:xfrm>
            <a:off x="2133600" y="2667000"/>
            <a:ext cx="3657600" cy="1295400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es-AR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Sistema - Esquema</a:t>
            </a:r>
            <a:endParaRPr lang="es-ES" altLang="es-AR"/>
          </a:p>
        </p:txBody>
      </p:sp>
      <p:sp>
        <p:nvSpPr>
          <p:cNvPr id="5126" name="Rectangle 4"/>
          <p:cNvSpPr>
            <a:spLocks noChangeArrowheads="1"/>
          </p:cNvSpPr>
          <p:nvPr/>
        </p:nvSpPr>
        <p:spPr bwMode="auto">
          <a:xfrm>
            <a:off x="2667000" y="3048000"/>
            <a:ext cx="106680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endParaRPr lang="es-ES" altLang="es-AR"/>
          </a:p>
        </p:txBody>
      </p:sp>
      <p:sp>
        <p:nvSpPr>
          <p:cNvPr id="5127" name="Rectangle 5"/>
          <p:cNvSpPr>
            <a:spLocks noChangeArrowheads="1"/>
          </p:cNvSpPr>
          <p:nvPr/>
        </p:nvSpPr>
        <p:spPr bwMode="auto">
          <a:xfrm>
            <a:off x="4191000" y="3048000"/>
            <a:ext cx="1066800" cy="457200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/>
            <a:endParaRPr lang="es-ES" altLang="es-AR"/>
          </a:p>
        </p:txBody>
      </p:sp>
      <p:sp>
        <p:nvSpPr>
          <p:cNvPr id="5128" name="Line 7"/>
          <p:cNvSpPr>
            <a:spLocks noChangeShapeType="1"/>
          </p:cNvSpPr>
          <p:nvPr/>
        </p:nvSpPr>
        <p:spPr bwMode="auto">
          <a:xfrm>
            <a:off x="3733800" y="3276600"/>
            <a:ext cx="4572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29" name="Line 8"/>
          <p:cNvSpPr>
            <a:spLocks noChangeShapeType="1"/>
          </p:cNvSpPr>
          <p:nvPr/>
        </p:nvSpPr>
        <p:spPr bwMode="auto">
          <a:xfrm>
            <a:off x="5257800" y="3276600"/>
            <a:ext cx="3048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0" name="Line 9"/>
          <p:cNvSpPr>
            <a:spLocks noChangeShapeType="1"/>
          </p:cNvSpPr>
          <p:nvPr/>
        </p:nvSpPr>
        <p:spPr bwMode="auto">
          <a:xfrm>
            <a:off x="2286000" y="3276600"/>
            <a:ext cx="3810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1" name="Line 10"/>
          <p:cNvSpPr>
            <a:spLocks noChangeShapeType="1"/>
          </p:cNvSpPr>
          <p:nvPr/>
        </p:nvSpPr>
        <p:spPr bwMode="auto">
          <a:xfrm>
            <a:off x="3886200" y="3276600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2" name="Line 11"/>
          <p:cNvSpPr>
            <a:spLocks noChangeShapeType="1"/>
          </p:cNvSpPr>
          <p:nvPr/>
        </p:nvSpPr>
        <p:spPr bwMode="auto">
          <a:xfrm flipH="1">
            <a:off x="2514600" y="3657600"/>
            <a:ext cx="1371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3" name="Line 13"/>
          <p:cNvSpPr>
            <a:spLocks noChangeShapeType="1"/>
          </p:cNvSpPr>
          <p:nvPr/>
        </p:nvSpPr>
        <p:spPr bwMode="auto">
          <a:xfrm flipV="1">
            <a:off x="2514600" y="3276600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4" name="Line 14"/>
          <p:cNvSpPr>
            <a:spLocks noChangeShapeType="1"/>
          </p:cNvSpPr>
          <p:nvPr/>
        </p:nvSpPr>
        <p:spPr bwMode="auto">
          <a:xfrm>
            <a:off x="5410200" y="3276600"/>
            <a:ext cx="1588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5" name="Line 15"/>
          <p:cNvSpPr>
            <a:spLocks noChangeShapeType="1"/>
          </p:cNvSpPr>
          <p:nvPr/>
        </p:nvSpPr>
        <p:spPr bwMode="auto">
          <a:xfrm flipH="1">
            <a:off x="4038600" y="3657600"/>
            <a:ext cx="1371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6" name="Line 16"/>
          <p:cNvSpPr>
            <a:spLocks noChangeShapeType="1"/>
          </p:cNvSpPr>
          <p:nvPr/>
        </p:nvSpPr>
        <p:spPr bwMode="auto">
          <a:xfrm flipH="1" flipV="1">
            <a:off x="4038600" y="3276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7" name="Line 18"/>
          <p:cNvSpPr>
            <a:spLocks noChangeShapeType="1"/>
          </p:cNvSpPr>
          <p:nvPr/>
        </p:nvSpPr>
        <p:spPr bwMode="auto">
          <a:xfrm>
            <a:off x="1219200" y="2971800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8" name="Line 19"/>
          <p:cNvSpPr>
            <a:spLocks noChangeShapeType="1"/>
          </p:cNvSpPr>
          <p:nvPr/>
        </p:nvSpPr>
        <p:spPr bwMode="auto">
          <a:xfrm>
            <a:off x="1219200" y="3276600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39" name="Line 20"/>
          <p:cNvSpPr>
            <a:spLocks noChangeShapeType="1"/>
          </p:cNvSpPr>
          <p:nvPr/>
        </p:nvSpPr>
        <p:spPr bwMode="auto">
          <a:xfrm>
            <a:off x="1219200" y="3581400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40" name="Line 22"/>
          <p:cNvSpPr>
            <a:spLocks noChangeShapeType="1"/>
          </p:cNvSpPr>
          <p:nvPr/>
        </p:nvSpPr>
        <p:spPr bwMode="auto">
          <a:xfrm>
            <a:off x="5791200" y="2971800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41" name="Line 23"/>
          <p:cNvSpPr>
            <a:spLocks noChangeShapeType="1"/>
          </p:cNvSpPr>
          <p:nvPr/>
        </p:nvSpPr>
        <p:spPr bwMode="auto">
          <a:xfrm>
            <a:off x="5791200" y="3276600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42" name="Line 24"/>
          <p:cNvSpPr>
            <a:spLocks noChangeShapeType="1"/>
          </p:cNvSpPr>
          <p:nvPr/>
        </p:nvSpPr>
        <p:spPr bwMode="auto">
          <a:xfrm>
            <a:off x="5791200" y="3581400"/>
            <a:ext cx="9144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43" name="Line 26"/>
          <p:cNvSpPr>
            <a:spLocks noChangeShapeType="1"/>
          </p:cNvSpPr>
          <p:nvPr/>
        </p:nvSpPr>
        <p:spPr bwMode="auto">
          <a:xfrm>
            <a:off x="6096000" y="3581400"/>
            <a:ext cx="1588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44" name="Line 27"/>
          <p:cNvSpPr>
            <a:spLocks noChangeShapeType="1"/>
          </p:cNvSpPr>
          <p:nvPr/>
        </p:nvSpPr>
        <p:spPr bwMode="auto">
          <a:xfrm flipH="1">
            <a:off x="1676400" y="4495800"/>
            <a:ext cx="4419600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45" name="Line 28"/>
          <p:cNvSpPr>
            <a:spLocks noChangeShapeType="1"/>
          </p:cNvSpPr>
          <p:nvPr/>
        </p:nvSpPr>
        <p:spPr bwMode="auto">
          <a:xfrm flipV="1">
            <a:off x="1676400" y="3581400"/>
            <a:ext cx="1588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5146" name="Text Box 31"/>
          <p:cNvSpPr txBox="1">
            <a:spLocks noChangeArrowheads="1"/>
          </p:cNvSpPr>
          <p:nvPr/>
        </p:nvSpPr>
        <p:spPr bwMode="auto">
          <a:xfrm>
            <a:off x="1524000" y="2514600"/>
            <a:ext cx="371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b="1">
                <a:latin typeface="Tahoma" panose="020B0604030504040204" pitchFamily="34" charset="0"/>
              </a:rPr>
              <a:t>E</a:t>
            </a:r>
            <a:endParaRPr lang="es-ES" altLang="es-AR" b="1">
              <a:latin typeface="Tahoma" panose="020B0604030504040204" pitchFamily="34" charset="0"/>
            </a:endParaRPr>
          </a:p>
        </p:txBody>
      </p:sp>
      <p:sp>
        <p:nvSpPr>
          <p:cNvPr id="5147" name="Text Box 32"/>
          <p:cNvSpPr txBox="1">
            <a:spLocks noChangeArrowheads="1"/>
          </p:cNvSpPr>
          <p:nvPr/>
        </p:nvSpPr>
        <p:spPr bwMode="auto">
          <a:xfrm>
            <a:off x="5943600" y="2514600"/>
            <a:ext cx="652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b="1">
                <a:latin typeface="Tahoma" panose="020B0604030504040204" pitchFamily="34" charset="0"/>
              </a:rPr>
              <a:t>Sal</a:t>
            </a:r>
            <a:endParaRPr lang="es-ES" altLang="es-AR" b="1">
              <a:latin typeface="Tahoma" panose="020B0604030504040204" pitchFamily="34" charset="0"/>
            </a:endParaRPr>
          </a:p>
        </p:txBody>
      </p:sp>
      <p:sp>
        <p:nvSpPr>
          <p:cNvPr id="5148" name="Text Box 33"/>
          <p:cNvSpPr txBox="1">
            <a:spLocks noChangeArrowheads="1"/>
          </p:cNvSpPr>
          <p:nvPr/>
        </p:nvSpPr>
        <p:spPr bwMode="auto">
          <a:xfrm>
            <a:off x="3819525" y="4495800"/>
            <a:ext cx="404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b="1">
                <a:latin typeface="Tahoma" panose="020B0604030504040204" pitchFamily="34" charset="0"/>
              </a:rPr>
              <a:t>R</a:t>
            </a:r>
            <a:endParaRPr lang="es-ES" altLang="es-AR" b="1">
              <a:latin typeface="Tahoma" panose="020B0604030504040204" pitchFamily="34" charset="0"/>
            </a:endParaRPr>
          </a:p>
        </p:txBody>
      </p:sp>
      <p:sp>
        <p:nvSpPr>
          <p:cNvPr id="5149" name="Text Box 34"/>
          <p:cNvSpPr txBox="1">
            <a:spLocks noChangeArrowheads="1"/>
          </p:cNvSpPr>
          <p:nvPr/>
        </p:nvSpPr>
        <p:spPr bwMode="auto">
          <a:xfrm>
            <a:off x="5257800" y="2590800"/>
            <a:ext cx="377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b="1">
                <a:latin typeface="Tahoma" panose="020B0604030504040204" pitchFamily="34" charset="0"/>
              </a:rPr>
              <a:t>S</a:t>
            </a:r>
            <a:endParaRPr lang="es-ES" altLang="es-AR" b="1">
              <a:latin typeface="Tahoma" panose="020B0604030504040204" pitchFamily="34" charset="0"/>
            </a:endParaRPr>
          </a:p>
        </p:txBody>
      </p:sp>
      <p:sp>
        <p:nvSpPr>
          <p:cNvPr id="5150" name="Text Box 35"/>
          <p:cNvSpPr txBox="1">
            <a:spLocks noChangeArrowheads="1"/>
          </p:cNvSpPr>
          <p:nvPr/>
        </p:nvSpPr>
        <p:spPr bwMode="auto">
          <a:xfrm>
            <a:off x="4575175" y="3048000"/>
            <a:ext cx="534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b="1">
                <a:latin typeface="Tahoma" panose="020B0604030504040204" pitchFamily="34" charset="0"/>
              </a:rPr>
              <a:t>Ss</a:t>
            </a:r>
            <a:endParaRPr lang="es-ES" altLang="es-AR" b="1">
              <a:latin typeface="Tahoma" panose="020B0604030504040204" pitchFamily="34" charset="0"/>
            </a:endParaRPr>
          </a:p>
        </p:txBody>
      </p:sp>
      <p:sp>
        <p:nvSpPr>
          <p:cNvPr id="5151" name="Text Box 36"/>
          <p:cNvSpPr txBox="1">
            <a:spLocks noChangeArrowheads="1"/>
          </p:cNvSpPr>
          <p:nvPr/>
        </p:nvSpPr>
        <p:spPr bwMode="auto">
          <a:xfrm>
            <a:off x="2971800" y="3048000"/>
            <a:ext cx="5349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b="1">
                <a:latin typeface="Tahoma" panose="020B0604030504040204" pitchFamily="34" charset="0"/>
              </a:rPr>
              <a:t>Ss</a:t>
            </a:r>
            <a:endParaRPr lang="es-ES" altLang="es-AR" b="1">
              <a:latin typeface="Tahoma" panose="020B0604030504040204" pitchFamily="34" charset="0"/>
            </a:endParaRPr>
          </a:p>
        </p:txBody>
      </p:sp>
      <p:sp>
        <p:nvSpPr>
          <p:cNvPr id="5152" name="Text Box 37"/>
          <p:cNvSpPr txBox="1">
            <a:spLocks noChangeArrowheads="1"/>
          </p:cNvSpPr>
          <p:nvPr/>
        </p:nvSpPr>
        <p:spPr bwMode="auto">
          <a:xfrm>
            <a:off x="6424613" y="2133600"/>
            <a:ext cx="6619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b="1">
                <a:latin typeface="Tahoma" panose="020B0604030504040204" pitchFamily="34" charset="0"/>
              </a:rPr>
              <a:t>mE</a:t>
            </a:r>
            <a:endParaRPr lang="es-ES" altLang="es-AR" b="1">
              <a:latin typeface="Tahoma" panose="020B0604030504040204" pitchFamily="34" charset="0"/>
            </a:endParaRPr>
          </a:p>
        </p:txBody>
      </p:sp>
      <p:sp>
        <p:nvSpPr>
          <p:cNvPr id="5153" name="Text Box 38"/>
          <p:cNvSpPr txBox="1">
            <a:spLocks noChangeArrowheads="1"/>
          </p:cNvSpPr>
          <p:nvPr/>
        </p:nvSpPr>
        <p:spPr bwMode="auto">
          <a:xfrm>
            <a:off x="7391400" y="1524000"/>
            <a:ext cx="642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b="1">
                <a:latin typeface="Tahoma" panose="020B0604030504040204" pitchFamily="34" charset="0"/>
              </a:rPr>
              <a:t>ME</a:t>
            </a:r>
            <a:endParaRPr lang="es-ES" altLang="es-AR" b="1">
              <a:latin typeface="Tahoma" panose="020B0604030504040204" pitchFamily="34" charset="0"/>
            </a:endParaRPr>
          </a:p>
        </p:txBody>
      </p:sp>
      <p:sp>
        <p:nvSpPr>
          <p:cNvPr id="5154" name="Text Box 42"/>
          <p:cNvSpPr txBox="1">
            <a:spLocks noChangeArrowheads="1"/>
          </p:cNvSpPr>
          <p:nvPr/>
        </p:nvSpPr>
        <p:spPr bwMode="auto">
          <a:xfrm>
            <a:off x="533400" y="5562600"/>
            <a:ext cx="31765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/>
              <a:t>E – Corriente de entrada</a:t>
            </a:r>
          </a:p>
          <a:p>
            <a:pPr eaLnBrk="1" hangingPunct="1"/>
            <a:r>
              <a:rPr lang="es-AR" altLang="es-AR"/>
              <a:t>Sal – Corriente de salida</a:t>
            </a:r>
          </a:p>
          <a:p>
            <a:pPr eaLnBrk="1" hangingPunct="1"/>
            <a:r>
              <a:rPr lang="es-AR" altLang="es-AR"/>
              <a:t>R - Retroalimentación</a:t>
            </a:r>
            <a:endParaRPr lang="es-ES" altLang="es-AR"/>
          </a:p>
        </p:txBody>
      </p:sp>
      <p:sp>
        <p:nvSpPr>
          <p:cNvPr id="5155" name="Text Box 43"/>
          <p:cNvSpPr txBox="1">
            <a:spLocks noChangeArrowheads="1"/>
          </p:cNvSpPr>
          <p:nvPr/>
        </p:nvSpPr>
        <p:spPr bwMode="auto">
          <a:xfrm>
            <a:off x="3886200" y="5562600"/>
            <a:ext cx="25352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/>
              <a:t>S – Sistema</a:t>
            </a:r>
          </a:p>
          <a:p>
            <a:pPr eaLnBrk="1" hangingPunct="1"/>
            <a:r>
              <a:rPr lang="es-AR" altLang="es-AR"/>
              <a:t>Ss – Subsistema</a:t>
            </a:r>
          </a:p>
          <a:p>
            <a:pPr eaLnBrk="1" hangingPunct="1"/>
            <a:r>
              <a:rPr lang="es-AR" altLang="es-AR"/>
              <a:t>mE - Microentorno</a:t>
            </a:r>
            <a:endParaRPr lang="es-ES" altLang="es-AR"/>
          </a:p>
        </p:txBody>
      </p:sp>
      <p:sp>
        <p:nvSpPr>
          <p:cNvPr id="5156" name="Text Box 44"/>
          <p:cNvSpPr txBox="1">
            <a:spLocks noChangeArrowheads="1"/>
          </p:cNvSpPr>
          <p:nvPr/>
        </p:nvSpPr>
        <p:spPr bwMode="auto">
          <a:xfrm>
            <a:off x="6248400" y="5562600"/>
            <a:ext cx="26717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/>
              <a:t>ME – Macroentorno</a:t>
            </a:r>
            <a:endParaRPr lang="es-ES" altLang="es-A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Sistema - Elementos</a:t>
            </a:r>
            <a:endParaRPr lang="es-ES" altLang="es-A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Recursos – Corriente de entrada</a:t>
            </a:r>
          </a:p>
          <a:p>
            <a:pPr lvl="1" eaLnBrk="1" hangingPunct="1"/>
            <a:r>
              <a:rPr lang="es-AR" altLang="es-AR"/>
              <a:t>Materiales</a:t>
            </a:r>
          </a:p>
          <a:p>
            <a:pPr lvl="1" eaLnBrk="1" hangingPunct="1"/>
            <a:r>
              <a:rPr lang="es-AR" altLang="es-AR"/>
              <a:t>Financieros</a:t>
            </a:r>
          </a:p>
          <a:p>
            <a:pPr lvl="1" eaLnBrk="1" hangingPunct="1"/>
            <a:r>
              <a:rPr lang="es-AR" altLang="es-AR"/>
              <a:t>Humanos</a:t>
            </a:r>
          </a:p>
          <a:p>
            <a:pPr lvl="1" eaLnBrk="1" hangingPunct="1"/>
            <a:r>
              <a:rPr lang="es-AR" altLang="es-AR"/>
              <a:t>Información</a:t>
            </a:r>
          </a:p>
          <a:p>
            <a:pPr lvl="2" eaLnBrk="1" hangingPunct="1"/>
            <a:r>
              <a:rPr lang="es-AR" altLang="es-AR"/>
              <a:t>Ley de los incrementos</a:t>
            </a:r>
          </a:p>
          <a:p>
            <a:pPr lvl="2" eaLnBrk="1" hangingPunct="1"/>
            <a:r>
              <a:rPr lang="es-AR" altLang="es-AR"/>
              <a:t>No se elimina información del sistema</a:t>
            </a:r>
          </a:p>
          <a:p>
            <a:pPr lvl="2" eaLnBrk="1" hangingPunct="1"/>
            <a:endParaRPr lang="es-ES" altLang="es-AR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4308475" y="3048000"/>
            <a:ext cx="23971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s-AR" altLang="es-AR" sz="2800" b="1">
                <a:latin typeface="Tahoma" panose="020B0604030504040204" pitchFamily="34" charset="0"/>
              </a:rPr>
              <a:t>Concepto de</a:t>
            </a:r>
          </a:p>
          <a:p>
            <a:pPr algn="ctr" eaLnBrk="1" hangingPunct="1"/>
            <a:r>
              <a:rPr lang="es-AR" altLang="es-AR" sz="2800" b="1">
                <a:latin typeface="Tahoma" panose="020B0604030504040204" pitchFamily="34" charset="0"/>
              </a:rPr>
              <a:t>Energía</a:t>
            </a:r>
            <a:endParaRPr lang="es-ES" altLang="es-AR" sz="2800" b="1">
              <a:latin typeface="Tahoma" panose="020B0604030504040204" pitchFamily="34" charset="0"/>
            </a:endParaRPr>
          </a:p>
        </p:txBody>
      </p:sp>
      <p:sp>
        <p:nvSpPr>
          <p:cNvPr id="6149" name="AutoShape 5"/>
          <p:cNvSpPr>
            <a:spLocks/>
          </p:cNvSpPr>
          <p:nvPr/>
        </p:nvSpPr>
        <p:spPr bwMode="auto">
          <a:xfrm>
            <a:off x="3505200" y="2743200"/>
            <a:ext cx="609600" cy="1524000"/>
          </a:xfrm>
          <a:prstGeom prst="rightBrace">
            <a:avLst>
              <a:gd name="adj1" fmla="val 208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s-ES" altLang="es-A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Sistema - Elementos</a:t>
            </a:r>
            <a:endParaRPr lang="es-ES" altLang="es-AR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/>
              <a:t>Procesos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Software y Hardware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Principales y accesorios o de servicio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/>
              <a:t>Resultados o Corrientes de salida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Productos o servicios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Subproductos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Información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Desechos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altLang="es-A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Sistema - Elementos</a:t>
            </a:r>
            <a:endParaRPr lang="es-ES" altLang="es-A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/>
              <a:t>Retroalimentación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Concepto de feedback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Control de cumplimiento de metas, objetivos y fines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/>
              <a:t>Frontera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Línea de separación entre el ¨adentro¨ y el ¨afuera¨ de un sistema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En los sistemas abiertos y complejos a menudo es difícil de determinar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s-ES" altLang="es-A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Sistema - Elementos</a:t>
            </a:r>
            <a:endParaRPr lang="es-ES" altLang="es-AR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Entorno o medio</a:t>
            </a:r>
          </a:p>
          <a:p>
            <a:pPr lvl="1" eaLnBrk="1" hangingPunct="1"/>
            <a:r>
              <a:rPr lang="es-AR" altLang="es-AR"/>
              <a:t>Microentorno</a:t>
            </a:r>
          </a:p>
          <a:p>
            <a:pPr lvl="2" eaLnBrk="1" hangingPunct="1"/>
            <a:r>
              <a:rPr lang="es-AR" altLang="es-AR"/>
              <a:t>Más cercano, influye directamente y puede ser controlable</a:t>
            </a:r>
          </a:p>
          <a:p>
            <a:pPr lvl="2" eaLnBrk="1" hangingPunct="1"/>
            <a:r>
              <a:rPr lang="es-AR" altLang="es-AR"/>
              <a:t>Viabilidad del sistema</a:t>
            </a:r>
          </a:p>
          <a:p>
            <a:pPr lvl="1" eaLnBrk="1" hangingPunct="1"/>
            <a:r>
              <a:rPr lang="es-AR" altLang="es-AR"/>
              <a:t>Macroentorno</a:t>
            </a:r>
          </a:p>
          <a:p>
            <a:pPr lvl="2" eaLnBrk="1" hangingPunct="1"/>
            <a:r>
              <a:rPr lang="es-AR" altLang="es-AR"/>
              <a:t>Más lejano, influencia indirecta y generalmente no controlable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es-ES" altLang="es-A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Entropía</a:t>
            </a:r>
            <a:endParaRPr lang="es-ES" altLang="es-AR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/>
              <a:t>Leyes de la termodinámica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¨ley cero¨ - entre dos cuerpos ubicados contiguamente a la misma temperatura, no existe flujo neto de energía calórica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Primera ley – </a:t>
            </a:r>
            <a:r>
              <a:rPr lang="es-AR" altLang="es-AR">
                <a:cs typeface="Times New Roman" panose="02020603050405020304" pitchFamily="18" charset="0"/>
              </a:rPr>
              <a:t>La variación de energía en un sistema durante cualquier transformación es igual a la cantidad de energía que el sistema intercambia</a:t>
            </a:r>
            <a:r>
              <a:rPr lang="es-AR" altLang="es-AR" b="1">
                <a:cs typeface="Times New Roman" panose="02020603050405020304" pitchFamily="18" charset="0"/>
              </a:rPr>
              <a:t> </a:t>
            </a:r>
            <a:r>
              <a:rPr lang="es-AR" altLang="es-AR">
                <a:cs typeface="Times New Roman" panose="02020603050405020304" pitchFamily="18" charset="0"/>
              </a:rPr>
              <a:t>con el ambiente</a:t>
            </a:r>
            <a:r>
              <a:rPr lang="es-AR" altLang="es-AR"/>
              <a:t>. En un sistema cerrado, la energía se conserva.</a:t>
            </a:r>
            <a:endParaRPr lang="es-ES" altLang="es-A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Entropía</a:t>
            </a:r>
            <a:endParaRPr lang="es-ES" altLang="es-AR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/>
              <a:t>Leyes de la termodinámica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Segunda ley – </a:t>
            </a:r>
            <a:r>
              <a:rPr lang="es-AR" altLang="es-AR">
                <a:cs typeface="Times New Roman" panose="02020603050405020304" pitchFamily="18" charset="0"/>
              </a:rPr>
              <a:t>Es imposible una transformación cuyo resultado final sea transformar en trabajo todo el calor extraído de una fuente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>
                <a:cs typeface="Times New Roman" panose="02020603050405020304" pitchFamily="18" charset="0"/>
              </a:rPr>
              <a:t>Existe un flujo neto de energía desde el cuerpo más caliente al más frío</a:t>
            </a:r>
            <a:endParaRPr lang="es-ES" altLang="es-AR"/>
          </a:p>
          <a:p>
            <a:pPr lvl="1" eaLnBrk="1" hangingPunct="1">
              <a:lnSpc>
                <a:spcPct val="90000"/>
              </a:lnSpc>
            </a:pPr>
            <a:r>
              <a:rPr lang="es-AR" altLang="es-AR">
                <a:cs typeface="Times New Roman" panose="02020603050405020304" pitchFamily="18" charset="0"/>
              </a:rPr>
              <a:t>El sistema siempre se moverá en la dirección del estado más probable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Entropía</a:t>
            </a:r>
            <a:endParaRPr lang="es-ES" altLang="es-AR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/>
              <a:t>La diferencia encontrada entre la primera y segunda ley de la termodinámica expresa la entropía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/>
              <a:t>Es la medida del desorden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/>
              <a:t>La entropía de un sistema aislado es siempre creciente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/>
              <a:t>El estado más probable es el caos, el desorden, la desorganización</a:t>
            </a:r>
            <a:endParaRPr lang="es-ES" altLang="es-A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Neguentropía o </a:t>
            </a:r>
            <a:br>
              <a:rPr lang="es-AR" altLang="es-AR"/>
            </a:br>
            <a:r>
              <a:rPr lang="es-AR" altLang="es-AR"/>
              <a:t>Entropía negativa</a:t>
            </a:r>
            <a:endParaRPr lang="es-ES" altLang="es-AR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 sz="2800"/>
              <a:t>Es la medida del orden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/>
              <a:t>Un sistema abierto necesita disminuir la entropía para vivir, o, lo que es lo mismo, aumentar la entropía negativa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/>
              <a:t>La información es neguentropía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/>
              <a:t>Un sistema se encuentra en máxima entropía cuando las probabilidades de pasar de un estado a otro cualquiera son iguales. Al agregar información, la situación cambia.</a:t>
            </a:r>
            <a:endParaRPr lang="es-ES" altLang="es-AR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Neguentropía</a:t>
            </a:r>
            <a:endParaRPr lang="es-ES" altLang="es-AR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/>
              <a:t>Neguentropía              Información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Adquisición de conocimentos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Observación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/>
              <a:t>Información                Neguentropía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Poder de organización</a:t>
            </a:r>
          </a:p>
          <a:p>
            <a:pPr lvl="1" eaLnBrk="1" hangingPunct="1">
              <a:lnSpc>
                <a:spcPct val="90000"/>
              </a:lnSpc>
            </a:pPr>
            <a:r>
              <a:rPr lang="es-AR" altLang="es-AR"/>
              <a:t>Acción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/>
              <a:t>El exceso de información puede producir el efecto contrario (entropía)</a:t>
            </a:r>
            <a:endParaRPr lang="es-ES" altLang="es-AR"/>
          </a:p>
        </p:txBody>
      </p:sp>
      <p:sp>
        <p:nvSpPr>
          <p:cNvPr id="14340" name="Line 4"/>
          <p:cNvSpPr>
            <a:spLocks noChangeShapeType="1"/>
          </p:cNvSpPr>
          <p:nvPr/>
        </p:nvSpPr>
        <p:spPr bwMode="auto">
          <a:xfrm>
            <a:off x="3505200" y="24384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14341" name="Line 5"/>
          <p:cNvSpPr>
            <a:spLocks noChangeShapeType="1"/>
          </p:cNvSpPr>
          <p:nvPr/>
        </p:nvSpPr>
        <p:spPr bwMode="auto">
          <a:xfrm>
            <a:off x="3505200" y="40386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Información y comunicación</a:t>
            </a:r>
            <a:endParaRPr lang="es-ES" altLang="es-A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s-AR" altLang="es-AR" sz="2800"/>
              <a:t>La capacidad de una organización para mantener un modelo de actividad altamente complejo e interdependiente se encuentra limitada, en parte, por su capacidad para manejar y elaborar la comunicación requerida para la coordinación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/>
              <a:t>A mayor eficiencia en la comunicación, mayor tolerancia hacia la interdependencia</a:t>
            </a:r>
          </a:p>
          <a:p>
            <a:pPr eaLnBrk="1" hangingPunct="1">
              <a:lnSpc>
                <a:spcPct val="90000"/>
              </a:lnSpc>
            </a:pPr>
            <a:r>
              <a:rPr lang="es-AR" altLang="es-AR" sz="2800"/>
              <a:t>Las comunicaciones deben ser limitadas y selectivas</a:t>
            </a:r>
            <a:endParaRPr lang="es-ES" altLang="es-AR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AR"/>
              <a:t>Proceso de comunicación</a:t>
            </a:r>
            <a:endParaRPr lang="es-ES" altLang="es-AR"/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381000" y="3657600"/>
            <a:ext cx="11430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800" b="1">
                <a:latin typeface="Tahoma" panose="020B0604030504040204" pitchFamily="34" charset="0"/>
              </a:rPr>
              <a:t>Emisor</a:t>
            </a:r>
            <a:endParaRPr lang="es-ES" altLang="es-AR" sz="1800" b="1">
              <a:latin typeface="Tahoma" panose="020B0604030504040204" pitchFamily="34" charset="0"/>
            </a:endParaRPr>
          </a:p>
        </p:txBody>
      </p:sp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7086600" y="3657600"/>
            <a:ext cx="13716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800" b="1">
                <a:latin typeface="Tahoma" panose="020B0604030504040204" pitchFamily="34" charset="0"/>
              </a:rPr>
              <a:t>Receptor</a:t>
            </a:r>
            <a:endParaRPr lang="es-ES" altLang="es-AR" sz="1800" b="1">
              <a:latin typeface="Tahoma" panose="020B0604030504040204" pitchFamily="34" charset="0"/>
            </a:endParaRPr>
          </a:p>
        </p:txBody>
      </p:sp>
      <p:sp>
        <p:nvSpPr>
          <p:cNvPr id="16389" name="Text Box 6"/>
          <p:cNvSpPr txBox="1">
            <a:spLocks noChangeArrowheads="1"/>
          </p:cNvSpPr>
          <p:nvPr/>
        </p:nvSpPr>
        <p:spPr bwMode="auto">
          <a:xfrm>
            <a:off x="2057400" y="3505200"/>
            <a:ext cx="11430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800" b="1">
                <a:latin typeface="Tahoma" panose="020B0604030504040204" pitchFamily="34" charset="0"/>
              </a:rPr>
              <a:t>Codifi-cador</a:t>
            </a:r>
            <a:endParaRPr lang="es-ES" altLang="es-AR" sz="1800" b="1">
              <a:latin typeface="Tahoma" panose="020B0604030504040204" pitchFamily="34" charset="0"/>
            </a:endParaRPr>
          </a:p>
        </p:txBody>
      </p:sp>
      <p:sp>
        <p:nvSpPr>
          <p:cNvPr id="16390" name="Text Box 7"/>
          <p:cNvSpPr txBox="1">
            <a:spLocks noChangeArrowheads="1"/>
          </p:cNvSpPr>
          <p:nvPr/>
        </p:nvSpPr>
        <p:spPr bwMode="auto">
          <a:xfrm>
            <a:off x="5410200" y="3505200"/>
            <a:ext cx="1143000" cy="6508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800" b="1">
                <a:latin typeface="Tahoma" panose="020B0604030504040204" pitchFamily="34" charset="0"/>
              </a:rPr>
              <a:t>Decodi-ficador</a:t>
            </a:r>
            <a:endParaRPr lang="es-ES" altLang="es-AR" sz="1800" b="1">
              <a:latin typeface="Tahoma" panose="020B0604030504040204" pitchFamily="34" charset="0"/>
            </a:endParaRPr>
          </a:p>
        </p:txBody>
      </p:sp>
      <p:sp>
        <p:nvSpPr>
          <p:cNvPr id="16391" name="Text Box 8"/>
          <p:cNvSpPr txBox="1">
            <a:spLocks noChangeArrowheads="1"/>
          </p:cNvSpPr>
          <p:nvPr/>
        </p:nvSpPr>
        <p:spPr bwMode="auto">
          <a:xfrm>
            <a:off x="3733800" y="3657600"/>
            <a:ext cx="11430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800" b="1">
                <a:latin typeface="Tahoma" panose="020B0604030504040204" pitchFamily="34" charset="0"/>
              </a:rPr>
              <a:t>Canal</a:t>
            </a:r>
            <a:endParaRPr lang="es-ES" altLang="es-AR" sz="1800" b="1">
              <a:latin typeface="Tahoma" panose="020B0604030504040204" pitchFamily="34" charset="0"/>
            </a:endParaRPr>
          </a:p>
        </p:txBody>
      </p:sp>
      <p:sp>
        <p:nvSpPr>
          <p:cNvPr id="16392" name="Line 9"/>
          <p:cNvSpPr>
            <a:spLocks noChangeShapeType="1"/>
          </p:cNvSpPr>
          <p:nvPr/>
        </p:nvSpPr>
        <p:spPr bwMode="auto">
          <a:xfrm>
            <a:off x="15240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16393" name="Line 10"/>
          <p:cNvSpPr>
            <a:spLocks noChangeShapeType="1"/>
          </p:cNvSpPr>
          <p:nvPr/>
        </p:nvSpPr>
        <p:spPr bwMode="auto">
          <a:xfrm>
            <a:off x="32004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16394" name="Line 11"/>
          <p:cNvSpPr>
            <a:spLocks noChangeShapeType="1"/>
          </p:cNvSpPr>
          <p:nvPr/>
        </p:nvSpPr>
        <p:spPr bwMode="auto">
          <a:xfrm>
            <a:off x="48768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16395" name="Line 12"/>
          <p:cNvSpPr>
            <a:spLocks noChangeShapeType="1"/>
          </p:cNvSpPr>
          <p:nvPr/>
        </p:nvSpPr>
        <p:spPr bwMode="auto">
          <a:xfrm>
            <a:off x="6553200" y="3810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16396" name="Line 14"/>
          <p:cNvSpPr>
            <a:spLocks noChangeShapeType="1"/>
          </p:cNvSpPr>
          <p:nvPr/>
        </p:nvSpPr>
        <p:spPr bwMode="auto">
          <a:xfrm>
            <a:off x="7772400" y="4038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16397" name="Line 15"/>
          <p:cNvSpPr>
            <a:spLocks noChangeShapeType="1"/>
          </p:cNvSpPr>
          <p:nvPr/>
        </p:nvSpPr>
        <p:spPr bwMode="auto">
          <a:xfrm flipH="1">
            <a:off x="914400" y="5029200"/>
            <a:ext cx="6858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16398" name="Line 16"/>
          <p:cNvSpPr>
            <a:spLocks noChangeShapeType="1"/>
          </p:cNvSpPr>
          <p:nvPr/>
        </p:nvSpPr>
        <p:spPr bwMode="auto">
          <a:xfrm flipV="1">
            <a:off x="914400" y="4038600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s-AR"/>
          </a:p>
        </p:txBody>
      </p:sp>
      <p:sp>
        <p:nvSpPr>
          <p:cNvPr id="16399" name="Text Box 17"/>
          <p:cNvSpPr txBox="1">
            <a:spLocks noChangeArrowheads="1"/>
          </p:cNvSpPr>
          <p:nvPr/>
        </p:nvSpPr>
        <p:spPr bwMode="auto">
          <a:xfrm>
            <a:off x="3733800" y="2438400"/>
            <a:ext cx="1143000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s-AR" altLang="es-AR" sz="1800" b="1">
                <a:latin typeface="Tahoma" panose="020B0604030504040204" pitchFamily="34" charset="0"/>
              </a:rPr>
              <a:t>Ruido</a:t>
            </a:r>
            <a:endParaRPr lang="es-ES" altLang="es-AR" sz="1800" b="1">
              <a:latin typeface="Tahoma" panose="020B0604030504040204" pitchFamily="34" charset="0"/>
            </a:endParaRPr>
          </a:p>
        </p:txBody>
      </p:sp>
      <p:cxnSp>
        <p:nvCxnSpPr>
          <p:cNvPr id="16400" name="AutoShape 18"/>
          <p:cNvCxnSpPr>
            <a:cxnSpLocks noChangeShapeType="1"/>
            <a:stCxn id="16399" idx="2"/>
            <a:endCxn id="16387" idx="0"/>
          </p:cNvCxnSpPr>
          <p:nvPr/>
        </p:nvCxnSpPr>
        <p:spPr bwMode="auto">
          <a:xfrm flipH="1">
            <a:off x="952500" y="2814638"/>
            <a:ext cx="3352800" cy="842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1" name="AutoShape 19"/>
          <p:cNvCxnSpPr>
            <a:cxnSpLocks noChangeShapeType="1"/>
            <a:stCxn id="16399" idx="2"/>
            <a:endCxn id="16389" idx="0"/>
          </p:cNvCxnSpPr>
          <p:nvPr/>
        </p:nvCxnSpPr>
        <p:spPr bwMode="auto">
          <a:xfrm flipH="1">
            <a:off x="2628900" y="2814638"/>
            <a:ext cx="1676400" cy="690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2" name="AutoShape 20"/>
          <p:cNvCxnSpPr>
            <a:cxnSpLocks noChangeShapeType="1"/>
            <a:stCxn id="16399" idx="2"/>
            <a:endCxn id="16391" idx="0"/>
          </p:cNvCxnSpPr>
          <p:nvPr/>
        </p:nvCxnSpPr>
        <p:spPr bwMode="auto">
          <a:xfrm>
            <a:off x="4305300" y="2814638"/>
            <a:ext cx="0" cy="842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3" name="AutoShape 21"/>
          <p:cNvCxnSpPr>
            <a:cxnSpLocks noChangeShapeType="1"/>
            <a:stCxn id="16399" idx="2"/>
            <a:endCxn id="16390" idx="0"/>
          </p:cNvCxnSpPr>
          <p:nvPr/>
        </p:nvCxnSpPr>
        <p:spPr bwMode="auto">
          <a:xfrm>
            <a:off x="4305300" y="2814638"/>
            <a:ext cx="1676400" cy="6905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4" name="AutoShape 22"/>
          <p:cNvCxnSpPr>
            <a:cxnSpLocks noChangeShapeType="1"/>
            <a:stCxn id="16399" idx="2"/>
            <a:endCxn id="16388" idx="0"/>
          </p:cNvCxnSpPr>
          <p:nvPr/>
        </p:nvCxnSpPr>
        <p:spPr bwMode="auto">
          <a:xfrm>
            <a:off x="4305300" y="2814638"/>
            <a:ext cx="3467100" cy="8429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405" name="Text Box 23"/>
          <p:cNvSpPr txBox="1">
            <a:spLocks noChangeArrowheads="1"/>
          </p:cNvSpPr>
          <p:nvPr/>
        </p:nvSpPr>
        <p:spPr bwMode="auto">
          <a:xfrm>
            <a:off x="3259138" y="4679950"/>
            <a:ext cx="2303462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s-AR" altLang="es-AR" sz="1800" b="1">
                <a:latin typeface="Tahoma" panose="020B0604030504040204" pitchFamily="34" charset="0"/>
              </a:rPr>
              <a:t>Retroalimentación</a:t>
            </a:r>
            <a:endParaRPr lang="es-ES" altLang="es-AR" sz="1800" b="1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ítrico">
  <a:themeElements>
    <a:clrScheme name="Cítrico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Cí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ítrico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ítrico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ítrico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ítrico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ítrico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ítrico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ítrico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ítrico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D:\Archivos de programa\Microsoft Office\Templates\Diseños de presentaciones\Cítrico.pot</Template>
  <TotalTime>3492</TotalTime>
  <Words>551</Words>
  <Application>Microsoft Office PowerPoint</Application>
  <PresentationFormat>Presentación en pantalla (4:3)</PresentationFormat>
  <Paragraphs>103</Paragraphs>
  <Slides>14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5" baseType="lpstr">
      <vt:lpstr>Cítrico</vt:lpstr>
      <vt:lpstr>Sistema – Características</vt:lpstr>
      <vt:lpstr>Sistema – Características</vt:lpstr>
      <vt:lpstr>Sistema - Esquema</vt:lpstr>
      <vt:lpstr>Sistema - Elementos</vt:lpstr>
      <vt:lpstr>Sistema - Elementos</vt:lpstr>
      <vt:lpstr>Sistema - Elementos</vt:lpstr>
      <vt:lpstr>Sistema - Elementos</vt:lpstr>
      <vt:lpstr>Entropía</vt:lpstr>
      <vt:lpstr>Entropía</vt:lpstr>
      <vt:lpstr>Entropía</vt:lpstr>
      <vt:lpstr>Neguentropía o  Entropía negativa</vt:lpstr>
      <vt:lpstr>Neguentropía</vt:lpstr>
      <vt:lpstr>Información y comunicación</vt:lpstr>
      <vt:lpstr>Proceso de comunicación</vt:lpstr>
    </vt:vector>
  </TitlesOfParts>
  <Company>UTN FRBA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Pensamiento Sistémico</dc:title>
  <dc:creator>goliveto</dc:creator>
  <cp:lastModifiedBy>pc</cp:lastModifiedBy>
  <cp:revision>10</cp:revision>
  <cp:lastPrinted>1601-01-01T00:00:00Z</cp:lastPrinted>
  <dcterms:created xsi:type="dcterms:W3CDTF">2004-04-02T13:59:48Z</dcterms:created>
  <dcterms:modified xsi:type="dcterms:W3CDTF">2020-05-06T18:11:06Z</dcterms:modified>
</cp:coreProperties>
</file>