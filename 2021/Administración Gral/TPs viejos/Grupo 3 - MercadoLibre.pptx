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919934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919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919934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91993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Según indicaron desde la firma, se trata de una medida "ilegal" que interrumpió la distribución de productos desde esas instalaciones, situación que paralizó la logística y afectó el cumplimiento de la entrega de pedidos operados a través de su plataforma.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96237e4ee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96237e4ee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c6f919934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c6f9199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Mercado Libre: desde el sindicato de camioneros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conflicto</a:t>
            </a:r>
            <a:endParaRPr/>
          </a:p>
        </p:txBody>
      </p:sp>
      <p:sp>
        <p:nvSpPr>
          <p:cNvPr id="73" name="Google Shape;73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denuncia que los empleados de la empresa </a:t>
            </a:r>
            <a:r>
              <a:rPr lang="es"/>
              <a:t>deberían</a:t>
            </a:r>
            <a:r>
              <a:rPr lang="es"/>
              <a:t> estan mal afiliados al sindicato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Sus tareas son propias del sindicato de camioneros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s"/>
              <a:t>1.200 </a:t>
            </a:r>
            <a:r>
              <a:rPr lang="es"/>
              <a:t>empleados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2019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80" name="Google Shape;80;p15"/>
          <p:cNvGrpSpPr/>
          <p:nvPr/>
        </p:nvGrpSpPr>
        <p:grpSpPr>
          <a:xfrm>
            <a:off x="912820" y="1610215"/>
            <a:ext cx="198900" cy="593656"/>
            <a:chOff x="777447" y="1610215"/>
            <a:chExt cx="198900" cy="593656"/>
          </a:xfrm>
        </p:grpSpPr>
        <p:cxnSp>
          <p:nvCxnSpPr>
            <p:cNvPr id="81" name="Google Shape;81;p15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" name="Google Shape;82;p15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15"/>
          <p:cNvSpPr txBox="1"/>
          <p:nvPr>
            <p:ph idx="4294967295" type="body"/>
          </p:nvPr>
        </p:nvSpPr>
        <p:spPr>
          <a:xfrm>
            <a:off x="318375" y="37470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600"/>
              <a:t>Se abre el </a:t>
            </a:r>
            <a:r>
              <a:rPr lang="es" sz="1600"/>
              <a:t>depósito</a:t>
            </a:r>
            <a:r>
              <a:rPr lang="es" sz="1600"/>
              <a:t> de Villa Madero, Sur Conurbano</a:t>
            </a:r>
            <a:endParaRPr sz="1600"/>
          </a:p>
        </p:txBody>
      </p:sp>
      <p:sp>
        <p:nvSpPr>
          <p:cNvPr id="84" name="Google Shape;84;p15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>
            <p:ph idx="4294967295" type="body"/>
          </p:nvPr>
        </p:nvSpPr>
        <p:spPr>
          <a:xfrm>
            <a:off x="2126317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86" name="Google Shape;86;p15"/>
          <p:cNvGrpSpPr/>
          <p:nvPr/>
        </p:nvGrpSpPr>
        <p:grpSpPr>
          <a:xfrm>
            <a:off x="2266282" y="2938958"/>
            <a:ext cx="198900" cy="593656"/>
            <a:chOff x="2223534" y="2938958"/>
            <a:chExt cx="198900" cy="593656"/>
          </a:xfrm>
        </p:grpSpPr>
        <p:cxnSp>
          <p:nvCxnSpPr>
            <p:cNvPr id="87" name="Google Shape;87;p15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8" name="Google Shape;88;p15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5"/>
          <p:cNvSpPr txBox="1"/>
          <p:nvPr>
            <p:ph idx="4294967295" type="body"/>
          </p:nvPr>
        </p:nvSpPr>
        <p:spPr>
          <a:xfrm>
            <a:off x="1244337" y="35291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600"/>
              <a:t>Los 80 empleados se </a:t>
            </a:r>
            <a:r>
              <a:rPr lang="es" sz="1600"/>
              <a:t>afilien</a:t>
            </a:r>
            <a:r>
              <a:rPr lang="es" sz="1600"/>
              <a:t> a la </a:t>
            </a:r>
            <a:r>
              <a:rPr lang="es" sz="1600">
                <a:highlight>
                  <a:srgbClr val="FFFFFF"/>
                </a:highlight>
              </a:rPr>
              <a:t>Unión de Trabajadores de Carga y Descarga</a:t>
            </a:r>
            <a:endParaRPr sz="1600"/>
          </a:p>
        </p:txBody>
      </p:sp>
      <p:sp>
        <p:nvSpPr>
          <p:cNvPr id="90" name="Google Shape;90;p15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>
            <p:ph idx="4294967295" type="body"/>
          </p:nvPr>
        </p:nvSpPr>
        <p:spPr>
          <a:xfrm>
            <a:off x="3767755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2020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92" name="Google Shape;92;p15"/>
          <p:cNvGrpSpPr/>
          <p:nvPr/>
        </p:nvGrpSpPr>
        <p:grpSpPr>
          <a:xfrm>
            <a:off x="4058732" y="1610215"/>
            <a:ext cx="198900" cy="593656"/>
            <a:chOff x="3918084" y="1610215"/>
            <a:chExt cx="198900" cy="593656"/>
          </a:xfrm>
        </p:grpSpPr>
        <p:cxnSp>
          <p:nvCxnSpPr>
            <p:cNvPr id="93" name="Google Shape;93;p15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" name="Google Shape;94;p15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5"/>
          <p:cNvSpPr txBox="1"/>
          <p:nvPr>
            <p:ph idx="4294967295" type="body"/>
          </p:nvPr>
        </p:nvSpPr>
        <p:spPr>
          <a:xfrm>
            <a:off x="3269363" y="178175"/>
            <a:ext cx="2242800" cy="14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600"/>
              <a:t>Por la pandemia, la empresa se agranda y suma 1.300 </a:t>
            </a:r>
            <a:r>
              <a:rPr lang="es" sz="1600"/>
              <a:t>empleados</a:t>
            </a:r>
            <a:r>
              <a:rPr lang="es" sz="1600"/>
              <a:t> (+subcontratados)</a:t>
            </a:r>
            <a:endParaRPr sz="1600"/>
          </a:p>
        </p:txBody>
      </p:sp>
      <p:sp>
        <p:nvSpPr>
          <p:cNvPr id="96" name="Google Shape;96;p15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 txBox="1"/>
          <p:nvPr>
            <p:ph idx="4294967295" type="body"/>
          </p:nvPr>
        </p:nvSpPr>
        <p:spPr>
          <a:xfrm>
            <a:off x="5416699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98" name="Google Shape;98;p15"/>
          <p:cNvGrpSpPr/>
          <p:nvPr/>
        </p:nvGrpSpPr>
        <p:grpSpPr>
          <a:xfrm>
            <a:off x="5973070" y="2938958"/>
            <a:ext cx="198900" cy="593656"/>
            <a:chOff x="5958946" y="2938958"/>
            <a:chExt cx="198900" cy="593656"/>
          </a:xfrm>
        </p:grpSpPr>
        <p:cxnSp>
          <p:nvCxnSpPr>
            <p:cNvPr id="99" name="Google Shape;99;p15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" name="Google Shape;100;p15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5"/>
          <p:cNvSpPr txBox="1"/>
          <p:nvPr>
            <p:ph idx="4294967295" type="body"/>
          </p:nvPr>
        </p:nvSpPr>
        <p:spPr>
          <a:xfrm>
            <a:off x="5126900" y="3529125"/>
            <a:ext cx="26355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600"/>
              <a:t>Nuevamente, se denuncia la mala </a:t>
            </a:r>
            <a:r>
              <a:rPr lang="es" sz="1600"/>
              <a:t>afiliación</a:t>
            </a:r>
            <a:r>
              <a:rPr lang="es" sz="1600"/>
              <a:t> de los empleados al sindicato por </a:t>
            </a:r>
            <a:r>
              <a:rPr lang="es" sz="1600"/>
              <a:t>líderes</a:t>
            </a:r>
            <a:r>
              <a:rPr lang="es" sz="1600"/>
              <a:t> del sindicato de camioneros</a:t>
            </a:r>
            <a:endParaRPr sz="1600"/>
          </a:p>
        </p:txBody>
      </p:sp>
      <p:sp>
        <p:nvSpPr>
          <p:cNvPr id="102" name="Google Shape;102;p15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 txBox="1"/>
          <p:nvPr>
            <p:ph idx="4294967295" type="body"/>
          </p:nvPr>
        </p:nvSpPr>
        <p:spPr>
          <a:xfrm>
            <a:off x="7111512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 Mediados de Julio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04" name="Google Shape;104;p15"/>
          <p:cNvGrpSpPr/>
          <p:nvPr/>
        </p:nvGrpSpPr>
        <p:grpSpPr>
          <a:xfrm>
            <a:off x="7669807" y="1610215"/>
            <a:ext cx="198900" cy="593656"/>
            <a:chOff x="3918084" y="1610215"/>
            <a:chExt cx="198900" cy="593656"/>
          </a:xfrm>
        </p:grpSpPr>
        <p:cxnSp>
          <p:nvCxnSpPr>
            <p:cNvPr id="105" name="Google Shape;105;p15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" name="Google Shape;106;p15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5"/>
          <p:cNvSpPr txBox="1"/>
          <p:nvPr>
            <p:ph idx="4294967295" type="body"/>
          </p:nvPr>
        </p:nvSpPr>
        <p:spPr>
          <a:xfrm>
            <a:off x="6685979" y="37470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600"/>
              <a:t>Se dan 5 bloqueos a las centros de la empresa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Bloqueos</a:t>
            </a:r>
            <a:endParaRPr/>
          </a:p>
        </p:txBody>
      </p:sp>
      <p:sp>
        <p:nvSpPr>
          <p:cNvPr id="113" name="Google Shape;113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5 centros de </a:t>
            </a:r>
            <a:r>
              <a:rPr lang="es"/>
              <a:t>distribución</a:t>
            </a:r>
            <a:r>
              <a:rPr lang="es"/>
              <a:t> de la empresa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 son de la empresa sino que son tercerizados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200.000 paquetes en </a:t>
            </a:r>
            <a:r>
              <a:rPr lang="es"/>
              <a:t>tránsito</a:t>
            </a:r>
            <a:r>
              <a:rPr lang="es"/>
              <a:t> fueron detenidos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591803" y="182065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denuncia: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4231675" y="901150"/>
            <a:ext cx="38370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s" sz="1600">
                <a:solidFill>
                  <a:srgbClr val="000000"/>
                </a:solidFill>
              </a:rPr>
              <a:t>Banco de </a:t>
            </a:r>
            <a:r>
              <a:rPr lang="es" sz="1600">
                <a:solidFill>
                  <a:srgbClr val="000000"/>
                </a:solidFill>
              </a:rPr>
              <a:t>horas (192).</a:t>
            </a:r>
            <a:r>
              <a:rPr lang="es" sz="1600">
                <a:solidFill>
                  <a:srgbClr val="000000"/>
                </a:solidFill>
              </a:rPr>
              <a:t> 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s" sz="1600">
                <a:solidFill>
                  <a:srgbClr val="000000"/>
                </a:solidFill>
              </a:rPr>
              <a:t>Acusa de reforma laboral encubierta.</a:t>
            </a:r>
            <a:endParaRPr sz="16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s" sz="1600">
                <a:solidFill>
                  <a:srgbClr val="000000"/>
                </a:solidFill>
              </a:rPr>
              <a:t>“En Villa Madero hay choferes, encargados de entregas y logística, o sea, realizan tareas de su rubro. “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s" sz="1600">
                <a:solidFill>
                  <a:srgbClr val="000000"/>
                </a:solidFill>
              </a:rPr>
              <a:t>“No pagan ni aguinaldo ni vacaciones´´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/>
              <a:t>Audiencia</a:t>
            </a:r>
            <a:endParaRPr sz="3600"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Participaron:  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Claudio Moroni, ministro de trabajo 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Marcelo Bellotti, secretario 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Hugo Moyano y Marcelo Aparicio, sindicato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Juan Martin de la Serna, CEO ML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Jacobo Cohen Imach, abogado ML</a:t>
            </a:r>
            <a:endParaRPr sz="1900"/>
          </a:p>
        </p:txBody>
      </p:sp>
      <p:sp>
        <p:nvSpPr>
          <p:cNvPr id="126" name="Google Shape;126;p18"/>
          <p:cNvSpPr txBox="1"/>
          <p:nvPr>
            <p:ph idx="2" type="body"/>
          </p:nvPr>
        </p:nvSpPr>
        <p:spPr>
          <a:xfrm>
            <a:off x="51441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❖"/>
            </a:pPr>
            <a:r>
              <a:rPr lang="es" sz="1500">
                <a:solidFill>
                  <a:srgbClr val="000000"/>
                </a:solidFill>
              </a:rPr>
              <a:t>Se levanta el bloqueo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❖"/>
            </a:pPr>
            <a:r>
              <a:rPr lang="es" sz="1500">
                <a:solidFill>
                  <a:srgbClr val="000000"/>
                </a:solidFill>
              </a:rPr>
              <a:t>Acuerdan mantener la paz 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❖"/>
            </a:pPr>
            <a:r>
              <a:rPr lang="es" sz="1500">
                <a:solidFill>
                  <a:srgbClr val="000000"/>
                </a:solidFill>
              </a:rPr>
              <a:t>la empresa y el sindicato, se van a juntar las partes para “ir armando agenda de temas y buscar acuerdos</a:t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