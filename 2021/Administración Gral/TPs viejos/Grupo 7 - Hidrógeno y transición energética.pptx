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y="5143500" cx="9144000"/>
  <p:notesSz cx="6858000" cy="9144000"/>
  <p:embeddedFontLst>
    <p:embeddedFont>
      <p:font typeface="Roboto"/>
      <p:regular r:id="rId20"/>
      <p:bold r:id="rId21"/>
      <p:italic r:id="rId22"/>
      <p:boldItalic r:id="rId23"/>
    </p:embeddedFont>
    <p:embeddedFont>
      <p:font typeface="Comfortaa"/>
      <p:regular r:id="rId24"/>
      <p:bold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2870C297-E8DD-4CFE-9E3C-46A4921FDA2B}">
  <a:tblStyle styleId="{2870C297-E8DD-4CFE-9E3C-46A4921FDA2B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-regular.fntdata"/><Relationship Id="rId22" Type="http://schemas.openxmlformats.org/officeDocument/2006/relationships/font" Target="fonts/Roboto-italic.fntdata"/><Relationship Id="rId21" Type="http://schemas.openxmlformats.org/officeDocument/2006/relationships/font" Target="fonts/Roboto-bold.fntdata"/><Relationship Id="rId24" Type="http://schemas.openxmlformats.org/officeDocument/2006/relationships/font" Target="fonts/Comfortaa-regular.fntdata"/><Relationship Id="rId23" Type="http://schemas.openxmlformats.org/officeDocument/2006/relationships/font" Target="fonts/Roboto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5" Type="http://schemas.openxmlformats.org/officeDocument/2006/relationships/font" Target="fonts/Comfortaa-bold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9ae66262e1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9ae66262e1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9b7426d9b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9b7426d9b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9b7426d9ba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9b7426d9ba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9b7426d9ba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9b7426d9ba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9b7426d9ba_1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9b7426d9ba_1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9b838cc53d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9b838cc53d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9b838cc53d_1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9b838cc53d_1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a01b855608_9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a01b855608_9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a01b855608_9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a01b855608_9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a01b855608_9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a01b855608_9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9b838cc53d_2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g9b838cc53d_2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9b7426d9ba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" name="Google Shape;195;g9b7426d9ba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11" name="Google Shape;11;p2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598100" y="1775222"/>
            <a:ext cx="8222100" cy="83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98088" y="2715913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21" name="Google Shape;21;p3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6" name="Google Shape;26;p3"/>
          <p:cNvSpPr txBox="1"/>
          <p:nvPr>
            <p:ph type="title"/>
          </p:nvPr>
        </p:nvSpPr>
        <p:spPr>
          <a:xfrm>
            <a:off x="598100" y="2152347"/>
            <a:ext cx="8222100" cy="83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" name="Google Shape;27;p3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oogle Shape;29;p4"/>
          <p:cNvGrpSpPr/>
          <p:nvPr/>
        </p:nvGrpSpPr>
        <p:grpSpPr>
          <a:xfrm>
            <a:off x="0" y="3903669"/>
            <a:ext cx="9144000" cy="1239925"/>
            <a:chOff x="0" y="3903669"/>
            <a:chExt cx="9144000" cy="1239925"/>
          </a:xfrm>
        </p:grpSpPr>
        <p:sp>
          <p:nvSpPr>
            <p:cNvPr id="30" name="Google Shape;30;p4"/>
            <p:cNvSpPr/>
            <p:nvPr/>
          </p:nvSpPr>
          <p:spPr>
            <a:xfrm>
              <a:off x="8154895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4"/>
            <p:cNvSpPr/>
            <p:nvPr/>
          </p:nvSpPr>
          <p:spPr>
            <a:xfrm flipH="1">
              <a:off x="6181163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4"/>
            <p:cNvSpPr/>
            <p:nvPr/>
          </p:nvSpPr>
          <p:spPr>
            <a:xfrm>
              <a:off x="7170274" y="3903669"/>
              <a:ext cx="989100" cy="9879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4"/>
            <p:cNvSpPr/>
            <p:nvPr/>
          </p:nvSpPr>
          <p:spPr>
            <a:xfrm rot="10800000">
              <a:off x="8154757" y="3903682"/>
              <a:ext cx="989100" cy="9879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4"/>
            <p:cNvSpPr/>
            <p:nvPr/>
          </p:nvSpPr>
          <p:spPr>
            <a:xfrm>
              <a:off x="0" y="4891594"/>
              <a:ext cx="9144000" cy="2520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5" name="Google Shape;35;p4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7" name="Google Shape;37;p4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idx="1" type="body"/>
          </p:nvPr>
        </p:nvSpPr>
        <p:spPr>
          <a:xfrm>
            <a:off x="311700" y="1229975"/>
            <a:ext cx="39999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1" name="Google Shape;41;p5"/>
          <p:cNvSpPr txBox="1"/>
          <p:nvPr>
            <p:ph idx="2" type="body"/>
          </p:nvPr>
        </p:nvSpPr>
        <p:spPr>
          <a:xfrm>
            <a:off x="4832400" y="1229975"/>
            <a:ext cx="39999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2" name="Google Shape;42;p5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6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5" name="Google Shape;45;p6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8" name="Google Shape;48;p7"/>
          <p:cNvSpPr txBox="1"/>
          <p:nvPr>
            <p:ph idx="1" type="body"/>
          </p:nvPr>
        </p:nvSpPr>
        <p:spPr>
          <a:xfrm>
            <a:off x="311700" y="1465804"/>
            <a:ext cx="2808000" cy="310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9" name="Google Shape;49;p7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4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Google Shape;51;p8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52" name="Google Shape;52;p8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" name="Google Shape;53;p8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" name="Google Shape;54;p8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" name="Google Shape;55;p8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" name="Google Shape;56;p8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7" name="Google Shape;57;p8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8" name="Google Shape;58;p8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9"/>
          <p:cNvSpPr/>
          <p:nvPr/>
        </p:nvSpPr>
        <p:spPr>
          <a:xfrm>
            <a:off x="4572000" y="-17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1" name="Google Shape;61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9"/>
          <p:cNvSpPr txBox="1"/>
          <p:nvPr>
            <p:ph type="title"/>
          </p:nvPr>
        </p:nvSpPr>
        <p:spPr>
          <a:xfrm>
            <a:off x="265500" y="1151100"/>
            <a:ext cx="4045200" cy="156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63" name="Google Shape;63;p9"/>
          <p:cNvSpPr txBox="1"/>
          <p:nvPr>
            <p:ph idx="1" type="subTitle"/>
          </p:nvPr>
        </p:nvSpPr>
        <p:spPr>
          <a:xfrm>
            <a:off x="265500" y="2769001"/>
            <a:ext cx="4045200" cy="12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64" name="Google Shape;64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0"/>
          <p:cNvSpPr txBox="1"/>
          <p:nvPr>
            <p:ph idx="1" type="body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68" name="Google Shape;68;p10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11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71" name="Google Shape;71;p11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11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11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11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11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6" name="Google Shape;76;p11"/>
          <p:cNvSpPr txBox="1"/>
          <p:nvPr>
            <p:ph hasCustomPrompt="1" type="title"/>
          </p:nvPr>
        </p:nvSpPr>
        <p:spPr>
          <a:xfrm>
            <a:off x="311700" y="1256050"/>
            <a:ext cx="8520600" cy="2030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7" name="Google Shape;77;p11"/>
          <p:cNvSpPr txBox="1"/>
          <p:nvPr>
            <p:ph idx="1" type="body"/>
          </p:nvPr>
        </p:nvSpPr>
        <p:spPr>
          <a:xfrm>
            <a:off x="311700" y="3369225"/>
            <a:ext cx="8520600" cy="128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8" name="Google Shape;78;p1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geometric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  <a:defRPr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png"/><Relationship Id="rId4" Type="http://schemas.openxmlformats.org/officeDocument/2006/relationships/image" Target="../media/image5.png"/><Relationship Id="rId5" Type="http://schemas.openxmlformats.org/officeDocument/2006/relationships/image" Target="../media/image2.png"/><Relationship Id="rId6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gif"/><Relationship Id="rId4" Type="http://schemas.openxmlformats.org/officeDocument/2006/relationships/image" Target="../media/image9.png"/><Relationship Id="rId5" Type="http://schemas.openxmlformats.org/officeDocument/2006/relationships/image" Target="../media/image1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2.png"/><Relationship Id="rId4" Type="http://schemas.openxmlformats.org/officeDocument/2006/relationships/image" Target="../media/image15.png"/><Relationship Id="rId5" Type="http://schemas.openxmlformats.org/officeDocument/2006/relationships/image" Target="../media/image4.jpg"/><Relationship Id="rId6" Type="http://schemas.openxmlformats.org/officeDocument/2006/relationships/image" Target="../media/image14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png"/><Relationship Id="rId4" Type="http://schemas.openxmlformats.org/officeDocument/2006/relationships/image" Target="../media/image16.png"/><Relationship Id="rId5" Type="http://schemas.openxmlformats.org/officeDocument/2006/relationships/image" Target="../media/image13.png"/><Relationship Id="rId6" Type="http://schemas.openxmlformats.org/officeDocument/2006/relationships/image" Target="../media/image1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0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83550"/>
            <a:ext cx="7439950" cy="495995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>
            <p:ph idx="1" type="subTitle"/>
          </p:nvPr>
        </p:nvSpPr>
        <p:spPr>
          <a:xfrm>
            <a:off x="188025" y="3451375"/>
            <a:ext cx="10203600" cy="1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rgbClr val="000000"/>
                </a:solidFill>
              </a:rPr>
              <a:t>WEC S&amp;P 500 2019--Mercado bursátil</a:t>
            </a:r>
            <a:endParaRPr b="1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FF99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rgbClr val="660000"/>
                </a:solidFill>
              </a:rPr>
              <a:t>Cambio de PARADIGMA</a:t>
            </a:r>
            <a:r>
              <a:rPr b="1" lang="es">
                <a:solidFill>
                  <a:srgbClr val="FF9900"/>
                </a:solidFill>
              </a:rPr>
              <a:t>  </a:t>
            </a:r>
            <a:r>
              <a:rPr b="1" lang="es">
                <a:solidFill>
                  <a:srgbClr val="FF0000"/>
                </a:solidFill>
              </a:rPr>
              <a:t>-----&gt; descarbonización</a:t>
            </a:r>
            <a:endParaRPr b="1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600">
                <a:solidFill>
                  <a:srgbClr val="000000"/>
                </a:solidFill>
              </a:rPr>
              <a:t>SECTORES difíciles de descarbonizar:</a:t>
            </a:r>
            <a:r>
              <a:rPr b="1" lang="es">
                <a:solidFill>
                  <a:srgbClr val="FF0000"/>
                </a:solidFill>
              </a:rPr>
              <a:t> </a:t>
            </a:r>
            <a:r>
              <a:rPr b="1" lang="es" sz="1500">
                <a:solidFill>
                  <a:srgbClr val="FF0000"/>
                </a:solidFill>
              </a:rPr>
              <a:t>Transporte larga distancia, aviación, barcos. 2 plantas Pico.</a:t>
            </a:r>
            <a:endParaRPr b="1" sz="15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FF0000"/>
                </a:solidFill>
              </a:rPr>
              <a:t> 3 Cemento metalurgia</a:t>
            </a:r>
            <a:endParaRPr b="1" sz="1500">
              <a:solidFill>
                <a:srgbClr val="FF0000"/>
              </a:solidFill>
            </a:endParaRPr>
          </a:p>
        </p:txBody>
      </p:sp>
      <p:sp>
        <p:nvSpPr>
          <p:cNvPr id="87" name="Google Shape;87;p13"/>
          <p:cNvSpPr txBox="1"/>
          <p:nvPr>
            <p:ph type="ctrTitle"/>
          </p:nvPr>
        </p:nvSpPr>
        <p:spPr>
          <a:xfrm>
            <a:off x="598100" y="886350"/>
            <a:ext cx="4552500" cy="5640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rgbClr val="0000FF"/>
                </a:solidFill>
                <a:highlight>
                  <a:srgbClr val="FFFFFF"/>
                </a:highlight>
                <a:latin typeface="Comfortaa"/>
                <a:ea typeface="Comfortaa"/>
                <a:cs typeface="Comfortaa"/>
                <a:sym typeface="Comfortaa"/>
              </a:rPr>
              <a:t>Hidrógeno</a:t>
            </a:r>
            <a:endParaRPr b="1">
              <a:solidFill>
                <a:srgbClr val="0000FF"/>
              </a:solidFill>
              <a:highlight>
                <a:srgbClr val="FFFFFF"/>
              </a:highlight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600">
                <a:solidFill>
                  <a:srgbClr val="0000FF"/>
                </a:solidFill>
                <a:highlight>
                  <a:srgbClr val="FFFFFF"/>
                </a:highlight>
                <a:latin typeface="Comfortaa"/>
                <a:ea typeface="Comfortaa"/>
                <a:cs typeface="Comfortaa"/>
                <a:sym typeface="Comfortaa"/>
              </a:rPr>
              <a:t> </a:t>
            </a:r>
            <a:r>
              <a:rPr b="1" lang="es" sz="1000">
                <a:solidFill>
                  <a:srgbClr val="0000FF"/>
                </a:solidFill>
                <a:highlight>
                  <a:srgbClr val="FFFFFF"/>
                </a:highlight>
                <a:latin typeface="Comfortaa"/>
                <a:ea typeface="Comfortaa"/>
                <a:cs typeface="Comfortaa"/>
                <a:sym typeface="Comfortaa"/>
              </a:rPr>
              <a:t>Hacia una economía circular</a:t>
            </a:r>
            <a:r>
              <a:rPr b="1" lang="es" sz="3700">
                <a:solidFill>
                  <a:srgbClr val="0000FF"/>
                </a:solidFill>
                <a:highlight>
                  <a:srgbClr val="FFFFFF"/>
                </a:highlight>
                <a:latin typeface="Comfortaa"/>
                <a:ea typeface="Comfortaa"/>
                <a:cs typeface="Comfortaa"/>
                <a:sym typeface="Comfortaa"/>
              </a:rPr>
              <a:t> </a:t>
            </a:r>
            <a:r>
              <a:rPr b="1" lang="es" sz="1800">
                <a:solidFill>
                  <a:srgbClr val="0000FF"/>
                </a:solidFill>
                <a:highlight>
                  <a:srgbClr val="FFFFFF"/>
                </a:highlight>
                <a:latin typeface="Comfortaa"/>
                <a:ea typeface="Comfortaa"/>
                <a:cs typeface="Comfortaa"/>
                <a:sym typeface="Comfortaa"/>
              </a:rPr>
              <a:t>baja en Carbono</a:t>
            </a:r>
            <a:endParaRPr b="1" sz="1800">
              <a:solidFill>
                <a:srgbClr val="0000FF"/>
              </a:solidFill>
              <a:highlight>
                <a:srgbClr val="FFFFFF"/>
              </a:highlight>
              <a:latin typeface="Comfortaa"/>
              <a:ea typeface="Comfortaa"/>
              <a:cs typeface="Comfortaa"/>
              <a:sym typeface="Comfortaa"/>
            </a:endParaRPr>
          </a:p>
        </p:txBody>
      </p:sp>
      <p:pic>
        <p:nvPicPr>
          <p:cNvPr id="88" name="Google Shape;88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027938" y="1323025"/>
            <a:ext cx="2051725" cy="1541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963600" y="72500"/>
            <a:ext cx="2180400" cy="1250526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p1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567052" y="3066150"/>
            <a:ext cx="2512622" cy="1413350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3"/>
          <p:cNvSpPr txBox="1"/>
          <p:nvPr/>
        </p:nvSpPr>
        <p:spPr>
          <a:xfrm>
            <a:off x="7601100" y="4176575"/>
            <a:ext cx="7338000" cy="85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latin typeface="Roboto"/>
                <a:ea typeface="Roboto"/>
                <a:cs typeface="Roboto"/>
                <a:sym typeface="Roboto"/>
              </a:rPr>
              <a:t>E                T</a:t>
            </a:r>
            <a:endParaRPr b="1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3000"/>
              <a:buChar char="●"/>
            </a:pPr>
            <a:r>
              <a:rPr lang="es">
                <a:solidFill>
                  <a:srgbClr val="0000FF"/>
                </a:solidFill>
              </a:rPr>
              <a:t>VECTOR Energético------------------------------------H2</a:t>
            </a:r>
            <a:endParaRPr>
              <a:solidFill>
                <a:srgbClr val="0000FF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Presente y Futuro</a:t>
            </a:r>
            <a:endParaRPr/>
          </a:p>
        </p:txBody>
      </p:sp>
      <p:pic>
        <p:nvPicPr>
          <p:cNvPr id="97" name="Google Shape;97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13150" y="892500"/>
            <a:ext cx="2548600" cy="270660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4"/>
          <p:cNvSpPr txBox="1"/>
          <p:nvPr>
            <p:ph idx="1" type="body"/>
          </p:nvPr>
        </p:nvSpPr>
        <p:spPr>
          <a:xfrm>
            <a:off x="311700" y="1584675"/>
            <a:ext cx="8520600" cy="298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rgbClr val="000000"/>
                </a:solidFill>
              </a:rPr>
              <a:t>PILARES: combustibles, eléctrico y gas.</a:t>
            </a:r>
            <a:endParaRPr b="1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1" lang="es">
                <a:solidFill>
                  <a:srgbClr val="000000"/>
                </a:solidFill>
              </a:rPr>
              <a:t>Vector Energético</a:t>
            </a:r>
            <a:r>
              <a:rPr lang="es">
                <a:solidFill>
                  <a:srgbClr val="000000"/>
                </a:solidFill>
              </a:rPr>
              <a:t>: </a:t>
            </a:r>
            <a:r>
              <a:rPr lang="es" sz="1500"/>
              <a:t>Transporte de moléculas en vez de electrones</a:t>
            </a:r>
            <a:r>
              <a:rPr lang="es"/>
              <a:t>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1" lang="es">
                <a:solidFill>
                  <a:srgbClr val="000000"/>
                </a:solidFill>
              </a:rPr>
              <a:t>Matriz Global de Transporte:</a:t>
            </a:r>
            <a:r>
              <a:rPr b="1" lang="es" sz="1400">
                <a:solidFill>
                  <a:srgbClr val="000000"/>
                </a:solidFill>
              </a:rPr>
              <a:t> fósil </a:t>
            </a:r>
            <a:r>
              <a:rPr b="1" lang="es" sz="1400"/>
              <a:t>96%-</a:t>
            </a:r>
            <a:r>
              <a:rPr b="1" lang="es" sz="1400">
                <a:solidFill>
                  <a:srgbClr val="000000"/>
                </a:solidFill>
              </a:rPr>
              <a:t>eléctrico </a:t>
            </a:r>
            <a:r>
              <a:rPr b="1" lang="es" sz="1400"/>
              <a:t>10%-</a:t>
            </a:r>
            <a:r>
              <a:rPr b="1" lang="es" sz="1400">
                <a:solidFill>
                  <a:srgbClr val="000000"/>
                </a:solidFill>
              </a:rPr>
              <a:t>biocombustible 2%</a:t>
            </a:r>
            <a:endParaRPr b="1" sz="14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1" lang="es">
                <a:solidFill>
                  <a:srgbClr val="000000"/>
                </a:solidFill>
              </a:rPr>
              <a:t>Matriz eléctrica Global: </a:t>
            </a:r>
            <a:r>
              <a:rPr b="1" lang="es" sz="1300"/>
              <a:t>fósil 65%--nuclear 25%--renovable 10%</a:t>
            </a:r>
            <a:endParaRPr b="1" sz="13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1" lang="es">
                <a:solidFill>
                  <a:srgbClr val="000000"/>
                </a:solidFill>
              </a:rPr>
              <a:t>Matriz Para generación de Calor Global:</a:t>
            </a:r>
            <a:r>
              <a:rPr b="1" lang="es" sz="1200">
                <a:solidFill>
                  <a:srgbClr val="000000"/>
                </a:solidFill>
              </a:rPr>
              <a:t> </a:t>
            </a:r>
            <a:r>
              <a:rPr b="1" lang="es" sz="1200"/>
              <a:t>no renovable 90%--bioenergía 6%-otros</a:t>
            </a:r>
            <a:endParaRPr b="1" sz="12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1" lang="es" sz="1200"/>
              <a:t>renovables 4%</a:t>
            </a:r>
            <a:endParaRPr b="1" sz="12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5"/>
          <p:cNvSpPr txBox="1"/>
          <p:nvPr>
            <p:ph type="title"/>
          </p:nvPr>
        </p:nvSpPr>
        <p:spPr>
          <a:xfrm>
            <a:off x="311700" y="180575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¿Que es el </a:t>
            </a:r>
            <a:r>
              <a:rPr lang="es"/>
              <a:t>Hidrógeno</a:t>
            </a:r>
            <a:r>
              <a:rPr lang="es"/>
              <a:t>?</a:t>
            </a:r>
            <a:endParaRPr/>
          </a:p>
        </p:txBody>
      </p:sp>
      <p:pic>
        <p:nvPicPr>
          <p:cNvPr id="104" name="Google Shape;104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04013" y="989088"/>
            <a:ext cx="5335976" cy="3165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6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“Colores” de </a:t>
            </a:r>
            <a:r>
              <a:rPr lang="es"/>
              <a:t>Hidrógeno</a:t>
            </a:r>
            <a:endParaRPr/>
          </a:p>
        </p:txBody>
      </p:sp>
      <p:pic>
        <p:nvPicPr>
          <p:cNvPr descr="El hidrógeno verde es el combustible del futuro – El Periodico de la  Energía | El Periodico de la Energía con información diaria sobre energía  eléctrica, eólica, renovable, petróleo y gas, mercados" id="110" name="Google Shape;110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2500" y="1905550"/>
            <a:ext cx="2139826" cy="2235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24401" y="2191650"/>
            <a:ext cx="2889300" cy="206378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032313" y="2191638"/>
            <a:ext cx="2662075" cy="1859806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6"/>
          <p:cNvSpPr txBox="1"/>
          <p:nvPr/>
        </p:nvSpPr>
        <p:spPr>
          <a:xfrm>
            <a:off x="1073675" y="1314975"/>
            <a:ext cx="1117500" cy="46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600">
                <a:solidFill>
                  <a:srgbClr val="6AA84F"/>
                </a:solidFill>
                <a:latin typeface="Roboto"/>
                <a:ea typeface="Roboto"/>
                <a:cs typeface="Roboto"/>
                <a:sym typeface="Roboto"/>
              </a:rPr>
              <a:t>Verde</a:t>
            </a:r>
            <a:endParaRPr sz="2600">
              <a:solidFill>
                <a:srgbClr val="6AA84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4" name="Google Shape;114;p16"/>
          <p:cNvSpPr txBox="1"/>
          <p:nvPr/>
        </p:nvSpPr>
        <p:spPr>
          <a:xfrm>
            <a:off x="3860113" y="1314975"/>
            <a:ext cx="1006500" cy="46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2600">
                <a:solidFill>
                  <a:srgbClr val="6D9EEB"/>
                </a:solidFill>
                <a:latin typeface="Roboto"/>
                <a:ea typeface="Roboto"/>
                <a:cs typeface="Roboto"/>
                <a:sym typeface="Roboto"/>
              </a:rPr>
              <a:t>Azul</a:t>
            </a:r>
            <a:endParaRPr sz="2600">
              <a:solidFill>
                <a:srgbClr val="6D9EEB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5" name="Google Shape;115;p16"/>
          <p:cNvSpPr txBox="1"/>
          <p:nvPr/>
        </p:nvSpPr>
        <p:spPr>
          <a:xfrm>
            <a:off x="6910300" y="1344075"/>
            <a:ext cx="1117500" cy="41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2600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Gris</a:t>
            </a:r>
            <a:endParaRPr sz="26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7"/>
          <p:cNvSpPr txBox="1"/>
          <p:nvPr>
            <p:ph type="title"/>
          </p:nvPr>
        </p:nvSpPr>
        <p:spPr>
          <a:xfrm>
            <a:off x="311700" y="254575"/>
            <a:ext cx="85101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LOCH y Precio</a:t>
            </a:r>
            <a:endParaRPr/>
          </a:p>
        </p:txBody>
      </p:sp>
      <p:pic>
        <p:nvPicPr>
          <p:cNvPr id="121" name="Google Shape;121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99150" y="1017800"/>
            <a:ext cx="5501749" cy="3536850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7"/>
          <p:cNvSpPr txBox="1"/>
          <p:nvPr/>
        </p:nvSpPr>
        <p:spPr>
          <a:xfrm>
            <a:off x="4378025" y="4554650"/>
            <a:ext cx="4847400" cy="3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Roboto"/>
                <a:ea typeface="Roboto"/>
                <a:cs typeface="Roboto"/>
                <a:sym typeface="Roboto"/>
              </a:rPr>
              <a:t>Gráfico</a:t>
            </a:r>
            <a:r>
              <a:rPr lang="es"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s">
                <a:latin typeface="Roboto"/>
                <a:ea typeface="Roboto"/>
                <a:cs typeface="Roboto"/>
                <a:sym typeface="Roboto"/>
              </a:rPr>
              <a:t>extraído</a:t>
            </a:r>
            <a:r>
              <a:rPr lang="es">
                <a:latin typeface="Roboto"/>
                <a:ea typeface="Roboto"/>
                <a:cs typeface="Roboto"/>
                <a:sym typeface="Roboto"/>
              </a:rPr>
              <a:t> de la </a:t>
            </a:r>
            <a:r>
              <a:rPr lang="es">
                <a:latin typeface="Roboto"/>
                <a:ea typeface="Roboto"/>
                <a:cs typeface="Roboto"/>
                <a:sym typeface="Roboto"/>
              </a:rPr>
              <a:t>presentación</a:t>
            </a:r>
            <a:r>
              <a:rPr lang="es">
                <a:latin typeface="Roboto"/>
                <a:ea typeface="Roboto"/>
                <a:cs typeface="Roboto"/>
                <a:sym typeface="Roboto"/>
              </a:rPr>
              <a:t> de Maximiliano Cervo.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8"/>
          <p:cNvSpPr txBox="1"/>
          <p:nvPr>
            <p:ph type="title"/>
          </p:nvPr>
        </p:nvSpPr>
        <p:spPr>
          <a:xfrm>
            <a:off x="2095800" y="219900"/>
            <a:ext cx="51333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Oportunidades a corto plazo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18"/>
          <p:cNvSpPr txBox="1"/>
          <p:nvPr/>
        </p:nvSpPr>
        <p:spPr>
          <a:xfrm>
            <a:off x="307950" y="2109075"/>
            <a:ext cx="1207200" cy="22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129" name="Google Shape;129;p18"/>
          <p:cNvGraphicFramePr/>
          <p:nvPr/>
        </p:nvGraphicFramePr>
        <p:xfrm>
          <a:off x="400300" y="1046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{2870C297-E8DD-4CFE-9E3C-46A4921FDA2B}</a:tableStyleId>
              </a:tblPr>
              <a:tblGrid>
                <a:gridCol w="2085850"/>
                <a:gridCol w="2085850"/>
                <a:gridCol w="2085850"/>
                <a:gridCol w="20858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TRANSPORTE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27BA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CALOR 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27BA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ELECTRICIDAD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27BA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QUÍMICA</a:t>
                      </a:r>
                      <a:r>
                        <a:rPr lang="es"/>
                        <a:t> 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27BA0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Pesado 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D1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doméstico/ comercial 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D1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doméstico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D1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refinerías</a:t>
                      </a:r>
                      <a:r>
                        <a:rPr lang="es"/>
                        <a:t> hidrocarburos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D1DC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Industrial 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D1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industrial (quema)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D1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comercial/</a:t>
                      </a:r>
                      <a:r>
                        <a:rPr lang="es"/>
                        <a:t>industrial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D1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producción</a:t>
                      </a:r>
                      <a:r>
                        <a:rPr lang="es"/>
                        <a:t> de amoniaco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D1DC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metalurgia (</a:t>
                      </a:r>
                      <a:r>
                        <a:rPr lang="es"/>
                        <a:t>oxidación</a:t>
                      </a:r>
                      <a:r>
                        <a:rPr lang="es"/>
                        <a:t>)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D1DC"/>
                    </a:solidFill>
                  </a:tcPr>
                </a:tc>
              </a:tr>
            </a:tbl>
          </a:graphicData>
        </a:graphic>
      </p:graphicFrame>
      <p:sp>
        <p:nvSpPr>
          <p:cNvPr id="130" name="Google Shape;130;p18"/>
          <p:cNvSpPr txBox="1"/>
          <p:nvPr/>
        </p:nvSpPr>
        <p:spPr>
          <a:xfrm>
            <a:off x="3891000" y="4065525"/>
            <a:ext cx="1362000" cy="44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Roboto"/>
                <a:ea typeface="Roboto"/>
                <a:cs typeface="Roboto"/>
                <a:sym typeface="Roboto"/>
              </a:rPr>
              <a:t>módulo</a:t>
            </a:r>
            <a:r>
              <a:rPr lang="es">
                <a:latin typeface="Roboto"/>
                <a:ea typeface="Roboto"/>
                <a:cs typeface="Roboto"/>
                <a:sym typeface="Roboto"/>
              </a:rPr>
              <a:t> CHP 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1" name="Google Shape;131;p18"/>
          <p:cNvSpPr/>
          <p:nvPr/>
        </p:nvSpPr>
        <p:spPr>
          <a:xfrm>
            <a:off x="2382825" y="1046625"/>
            <a:ext cx="4171800" cy="1782900"/>
          </a:xfrm>
          <a:prstGeom prst="rect">
            <a:avLst/>
          </a:prstGeom>
          <a:noFill/>
          <a:ln cap="flat" cmpd="sng" w="952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18"/>
          <p:cNvSpPr/>
          <p:nvPr/>
        </p:nvSpPr>
        <p:spPr>
          <a:xfrm>
            <a:off x="4319550" y="2887425"/>
            <a:ext cx="504900" cy="10098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9FC5E8"/>
          </a:solidFill>
          <a:ln cap="flat" cmpd="sng" w="952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9"/>
          <p:cNvSpPr txBox="1"/>
          <p:nvPr>
            <p:ph type="title"/>
          </p:nvPr>
        </p:nvSpPr>
        <p:spPr>
          <a:xfrm>
            <a:off x="311700" y="2084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Proyecto Green Spider </a:t>
            </a:r>
            <a:endParaRPr/>
          </a:p>
        </p:txBody>
      </p:sp>
      <p:sp>
        <p:nvSpPr>
          <p:cNvPr id="138" name="Google Shape;138;p19"/>
          <p:cNvSpPr txBox="1"/>
          <p:nvPr>
            <p:ph idx="1" type="body"/>
          </p:nvPr>
        </p:nvSpPr>
        <p:spPr>
          <a:xfrm>
            <a:off x="242525" y="980175"/>
            <a:ext cx="1382100" cy="240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00">
                <a:solidFill>
                  <a:srgbClr val="03CC03"/>
                </a:solidFill>
              </a:rPr>
              <a:t>FUNDAMENTO</a:t>
            </a:r>
            <a:r>
              <a:rPr lang="es" sz="1300">
                <a:solidFill>
                  <a:srgbClr val="03CC03"/>
                </a:solidFill>
              </a:rPr>
              <a:t>:</a:t>
            </a:r>
            <a:endParaRPr sz="1300">
              <a:solidFill>
                <a:srgbClr val="03CC03"/>
              </a:solidFill>
            </a:endParaRPr>
          </a:p>
          <a:p>
            <a:pPr indent="0" lvl="0" marL="0" rtl="0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03CC03"/>
              </a:solidFill>
            </a:endParaRPr>
          </a:p>
          <a:p>
            <a:pPr indent="0" lvl="0" marL="0" rtl="0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b="1" lang="es" sz="1300">
                <a:solidFill>
                  <a:srgbClr val="03CC03"/>
                </a:solidFill>
              </a:rPr>
              <a:t>PROPÓSITO</a:t>
            </a:r>
            <a:r>
              <a:rPr lang="es" sz="1300">
                <a:solidFill>
                  <a:srgbClr val="03CC03"/>
                </a:solidFill>
              </a:rPr>
              <a:t>:</a:t>
            </a:r>
            <a:endParaRPr sz="1300">
              <a:solidFill>
                <a:srgbClr val="03CC03"/>
              </a:solidFill>
            </a:endParaRPr>
          </a:p>
          <a:p>
            <a:pPr indent="0" lvl="0" marL="0" rtl="0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03CC03"/>
              </a:solidFill>
            </a:endParaRPr>
          </a:p>
          <a:p>
            <a:pPr indent="0" lvl="0" marL="0" rtl="0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03CC03"/>
              </a:solidFill>
            </a:endParaRPr>
          </a:p>
          <a:p>
            <a:pPr indent="0" lvl="0" marL="0" rtl="0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b="1" lang="es" sz="1300">
                <a:solidFill>
                  <a:srgbClr val="03CC03"/>
                </a:solidFill>
              </a:rPr>
              <a:t>BENEFICIOS</a:t>
            </a:r>
            <a:r>
              <a:rPr lang="es" sz="1300">
                <a:solidFill>
                  <a:srgbClr val="03CC03"/>
                </a:solidFill>
              </a:rPr>
              <a:t>: </a:t>
            </a:r>
            <a:endParaRPr sz="1300"/>
          </a:p>
          <a:p>
            <a:pPr indent="0" lvl="0" marL="0" marR="3810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222222"/>
              </a:solidFill>
              <a:highlight>
                <a:srgbClr val="F8F9FA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139" name="Google Shape;139;p19"/>
          <p:cNvPicPr preferRelativeResize="0"/>
          <p:nvPr/>
        </p:nvPicPr>
        <p:blipFill rotWithShape="1">
          <a:blip r:embed="rId3">
            <a:alphaModFix/>
          </a:blip>
          <a:srcRect b="28668" l="21473" r="62020" t="57656"/>
          <a:stretch/>
        </p:blipFill>
        <p:spPr>
          <a:xfrm>
            <a:off x="2755001" y="3753775"/>
            <a:ext cx="1572941" cy="733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p19"/>
          <p:cNvPicPr preferRelativeResize="0"/>
          <p:nvPr/>
        </p:nvPicPr>
        <p:blipFill rotWithShape="1">
          <a:blip r:embed="rId3">
            <a:alphaModFix/>
          </a:blip>
          <a:srcRect b="0" l="53826" r="29989" t="90316"/>
          <a:stretch/>
        </p:blipFill>
        <p:spPr>
          <a:xfrm>
            <a:off x="5052025" y="3879025"/>
            <a:ext cx="1456526" cy="490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19"/>
          <p:cNvPicPr preferRelativeResize="0"/>
          <p:nvPr/>
        </p:nvPicPr>
        <p:blipFill rotWithShape="1">
          <a:blip r:embed="rId3">
            <a:alphaModFix/>
          </a:blip>
          <a:srcRect b="28668" l="0" r="79167" t="57656"/>
          <a:stretch/>
        </p:blipFill>
        <p:spPr>
          <a:xfrm>
            <a:off x="311701" y="3753774"/>
            <a:ext cx="1985386" cy="733050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19"/>
          <p:cNvSpPr txBox="1"/>
          <p:nvPr/>
        </p:nvSpPr>
        <p:spPr>
          <a:xfrm>
            <a:off x="1507600" y="1793075"/>
            <a:ext cx="5585100" cy="90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oboto"/>
              <a:buChar char="●"/>
            </a:pPr>
            <a:r>
              <a:rPr lang="es" sz="12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Producir hidrógeno verde a gran escala en utilizando energía </a:t>
            </a:r>
            <a:r>
              <a:rPr lang="es" sz="12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renovables</a:t>
            </a:r>
            <a:r>
              <a:rPr lang="es" sz="12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de España. (</a:t>
            </a:r>
            <a:r>
              <a:rPr b="1" lang="es" sz="12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Hub</a:t>
            </a:r>
            <a:r>
              <a:rPr lang="es" sz="12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b="1" lang="es" sz="12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de </a:t>
            </a:r>
            <a:r>
              <a:rPr b="1" lang="es" sz="12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Hidrógeno</a:t>
            </a:r>
            <a:r>
              <a:rPr lang="es" sz="12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sz="12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oboto"/>
              <a:buChar char="●"/>
            </a:pPr>
            <a:r>
              <a:rPr lang="es" sz="12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Transportar </a:t>
            </a:r>
            <a:r>
              <a:rPr lang="es" sz="12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energía</a:t>
            </a:r>
            <a:r>
              <a:rPr lang="es" sz="12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limpia a </a:t>
            </a:r>
            <a:r>
              <a:rPr lang="es" sz="12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través</a:t>
            </a:r>
            <a:r>
              <a:rPr lang="es" sz="12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d</a:t>
            </a:r>
            <a:r>
              <a:rPr lang="es" sz="12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e </a:t>
            </a:r>
            <a:r>
              <a:rPr b="1" lang="es" sz="12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LOHC </a:t>
            </a:r>
            <a:r>
              <a:rPr lang="es" sz="12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a Alemania y Países Bajos.</a:t>
            </a:r>
            <a:endParaRPr sz="12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oboto"/>
              <a:buChar char="●"/>
            </a:pPr>
            <a:r>
              <a:rPr lang="es" sz="12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Desarrollar cadena de valor de renovables.</a:t>
            </a:r>
            <a:endParaRPr sz="12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marR="381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</p:txBody>
      </p:sp>
      <p:sp>
        <p:nvSpPr>
          <p:cNvPr id="143" name="Google Shape;143;p19"/>
          <p:cNvSpPr txBox="1"/>
          <p:nvPr/>
        </p:nvSpPr>
        <p:spPr>
          <a:xfrm>
            <a:off x="1507600" y="2986650"/>
            <a:ext cx="60048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21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oboto"/>
              <a:buChar char="●"/>
            </a:pPr>
            <a:r>
              <a:rPr lang="es" sz="12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Reducir la dependencia de las importaciones de energía fósil</a:t>
            </a:r>
            <a:endParaRPr sz="12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2100" lvl="0" marL="457200" marR="38100" rtl="0" algn="l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oboto"/>
              <a:buChar char="●"/>
            </a:pPr>
            <a:r>
              <a:rPr lang="es" sz="12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Contribuir a alcanzar los objetivos climáticos de los Estados miembros.</a:t>
            </a:r>
            <a:endParaRPr sz="12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4" name="Google Shape;144;p19"/>
          <p:cNvSpPr txBox="1"/>
          <p:nvPr/>
        </p:nvSpPr>
        <p:spPr>
          <a:xfrm>
            <a:off x="1538650" y="1011650"/>
            <a:ext cx="6004800" cy="56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2100" lvl="0" marL="457200" marR="38100" rtl="0" algn="l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oboto"/>
              <a:buChar char="●"/>
            </a:pPr>
            <a:r>
              <a:rPr lang="es" sz="12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España disipa el 2% de su </a:t>
            </a:r>
            <a:r>
              <a:rPr lang="es" sz="12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energía</a:t>
            </a:r>
            <a:r>
              <a:rPr lang="es" sz="12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renovable (2  B</a:t>
            </a:r>
            <a:r>
              <a:rPr lang="es" sz="1200">
                <a:solidFill>
                  <a:srgbClr val="4D5156"/>
                </a:solidFill>
                <a:highlight>
                  <a:srgbClr val="FFFFFF"/>
                </a:highlight>
              </a:rPr>
              <a:t>€</a:t>
            </a:r>
            <a:r>
              <a:rPr lang="es" sz="1050">
                <a:solidFill>
                  <a:srgbClr val="4D5156"/>
                </a:solidFill>
                <a:highlight>
                  <a:srgbClr val="FFFFFF"/>
                </a:highlight>
              </a:rPr>
              <a:t>/año</a:t>
            </a:r>
            <a:r>
              <a:rPr lang="es" sz="12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sz="12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marR="38100" rtl="0" algn="l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(</a:t>
            </a:r>
            <a:r>
              <a:rPr b="1" lang="es" sz="12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1GW</a:t>
            </a:r>
            <a:r>
              <a:rPr lang="es" sz="12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entre energia solar, eolica e hidro)</a:t>
            </a:r>
            <a:endParaRPr sz="12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45" name="Google Shape;145;p19"/>
          <p:cNvPicPr preferRelativeResize="0"/>
          <p:nvPr/>
        </p:nvPicPr>
        <p:blipFill rotWithShape="1">
          <a:blip r:embed="rId3">
            <a:alphaModFix/>
          </a:blip>
          <a:srcRect b="36775" l="73699" r="3426" t="19165"/>
          <a:stretch/>
        </p:blipFill>
        <p:spPr>
          <a:xfrm>
            <a:off x="7092700" y="0"/>
            <a:ext cx="2058677" cy="2230475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9"/>
          <p:cNvSpPr txBox="1"/>
          <p:nvPr/>
        </p:nvSpPr>
        <p:spPr>
          <a:xfrm>
            <a:off x="1208325" y="4202775"/>
            <a:ext cx="822600" cy="4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latin typeface="Roboto"/>
                <a:ea typeface="Roboto"/>
                <a:cs typeface="Roboto"/>
                <a:sym typeface="Roboto"/>
              </a:rPr>
              <a:t>2100</a:t>
            </a:r>
            <a:r>
              <a:rPr lang="es" sz="1100">
                <a:latin typeface="Roboto"/>
                <a:ea typeface="Roboto"/>
                <a:cs typeface="Roboto"/>
                <a:sym typeface="Roboto"/>
              </a:rPr>
              <a:t> M € </a:t>
            </a:r>
            <a:endParaRPr sz="11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latin typeface="Roboto"/>
                <a:ea typeface="Roboto"/>
                <a:cs typeface="Roboto"/>
                <a:sym typeface="Roboto"/>
              </a:rPr>
              <a:t>150 </a:t>
            </a:r>
            <a:r>
              <a:rPr lang="es" sz="1100">
                <a:latin typeface="Roboto"/>
                <a:ea typeface="Roboto"/>
                <a:cs typeface="Roboto"/>
                <a:sym typeface="Roboto"/>
              </a:rPr>
              <a:t> M €</a:t>
            </a:r>
            <a:r>
              <a:rPr b="1" lang="es" sz="1200">
                <a:highlight>
                  <a:srgbClr val="FFFFFF"/>
                </a:highlight>
              </a:rPr>
              <a:t> 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47" name="Google Shape;147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76975" y="4273125"/>
            <a:ext cx="287026" cy="191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00526" y="4649600"/>
            <a:ext cx="249142" cy="1614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19"/>
          <p:cNvPicPr preferRelativeResize="0"/>
          <p:nvPr/>
        </p:nvPicPr>
        <p:blipFill rotWithShape="1">
          <a:blip r:embed="rId6">
            <a:alphaModFix/>
          </a:blip>
          <a:srcRect b="0" l="0" r="-15207" t="0"/>
          <a:stretch/>
        </p:blipFill>
        <p:spPr>
          <a:xfrm>
            <a:off x="994575" y="4649603"/>
            <a:ext cx="287026" cy="161448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19"/>
          <p:cNvSpPr txBox="1"/>
          <p:nvPr/>
        </p:nvSpPr>
        <p:spPr>
          <a:xfrm>
            <a:off x="7360100" y="2230475"/>
            <a:ext cx="1744800" cy="148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rgbClr val="1155CC"/>
                </a:solidFill>
                <a:latin typeface="Roboto"/>
                <a:ea typeface="Roboto"/>
                <a:cs typeface="Roboto"/>
                <a:sym typeface="Roboto"/>
              </a:rPr>
              <a:t>Locación</a:t>
            </a:r>
            <a:r>
              <a:rPr lang="es" sz="1200">
                <a:solidFill>
                  <a:srgbClr val="1155CC"/>
                </a:solidFill>
                <a:latin typeface="Roboto"/>
                <a:ea typeface="Roboto"/>
                <a:cs typeface="Roboto"/>
                <a:sym typeface="Roboto"/>
              </a:rPr>
              <a:t>  de los Hubs:</a:t>
            </a:r>
            <a:endParaRPr sz="1200">
              <a:solidFill>
                <a:srgbClr val="1155CC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1155CC"/>
              </a:buClr>
              <a:buSzPts val="1200"/>
              <a:buFont typeface="Roboto"/>
              <a:buChar char="●"/>
            </a:pPr>
            <a:r>
              <a:rPr lang="es" sz="1200">
                <a:solidFill>
                  <a:srgbClr val="1155CC"/>
                </a:solidFill>
                <a:latin typeface="Roboto"/>
                <a:ea typeface="Roboto"/>
                <a:cs typeface="Roboto"/>
                <a:sym typeface="Roboto"/>
              </a:rPr>
              <a:t>Mallorca</a:t>
            </a:r>
            <a:endParaRPr sz="1200">
              <a:solidFill>
                <a:srgbClr val="1155CC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1155CC"/>
              </a:buClr>
              <a:buSzPts val="1200"/>
              <a:buFont typeface="Roboto"/>
              <a:buChar char="●"/>
            </a:pPr>
            <a:r>
              <a:rPr lang="es" sz="1200">
                <a:solidFill>
                  <a:srgbClr val="1155CC"/>
                </a:solidFill>
                <a:latin typeface="Roboto"/>
                <a:ea typeface="Roboto"/>
                <a:cs typeface="Roboto"/>
                <a:sym typeface="Roboto"/>
              </a:rPr>
              <a:t>País Vasco</a:t>
            </a:r>
            <a:endParaRPr sz="1200">
              <a:solidFill>
                <a:srgbClr val="1155CC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1155CC"/>
              </a:buClr>
              <a:buSzPts val="1200"/>
              <a:buFont typeface="Roboto"/>
              <a:buChar char="●"/>
            </a:pPr>
            <a:r>
              <a:rPr lang="es" sz="1200">
                <a:solidFill>
                  <a:srgbClr val="1155CC"/>
                </a:solidFill>
                <a:latin typeface="Roboto"/>
                <a:ea typeface="Roboto"/>
                <a:cs typeface="Roboto"/>
                <a:sym typeface="Roboto"/>
              </a:rPr>
              <a:t>Castilla y León</a:t>
            </a:r>
            <a:endParaRPr sz="1200">
              <a:solidFill>
                <a:srgbClr val="1155CC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1155CC"/>
              </a:buClr>
              <a:buSzPts val="1200"/>
              <a:buFont typeface="Roboto"/>
              <a:buChar char="●"/>
            </a:pPr>
            <a:r>
              <a:rPr lang="es" sz="1200">
                <a:solidFill>
                  <a:srgbClr val="1155CC"/>
                </a:solidFill>
                <a:latin typeface="Roboto"/>
                <a:ea typeface="Roboto"/>
                <a:cs typeface="Roboto"/>
                <a:sym typeface="Roboto"/>
              </a:rPr>
              <a:t>Aregon </a:t>
            </a:r>
            <a:endParaRPr sz="1200">
              <a:solidFill>
                <a:srgbClr val="1155CC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1155CC"/>
              </a:buClr>
              <a:buSzPts val="1200"/>
              <a:buFont typeface="Roboto"/>
              <a:buChar char="●"/>
            </a:pPr>
            <a:r>
              <a:rPr lang="es" sz="1200">
                <a:solidFill>
                  <a:srgbClr val="1155CC"/>
                </a:solidFill>
                <a:latin typeface="Roboto"/>
                <a:ea typeface="Roboto"/>
                <a:cs typeface="Roboto"/>
                <a:sym typeface="Roboto"/>
              </a:rPr>
              <a:t>Asturias</a:t>
            </a:r>
            <a:endParaRPr sz="1200">
              <a:solidFill>
                <a:srgbClr val="1155CC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0"/>
          <p:cNvSpPr txBox="1"/>
          <p:nvPr>
            <p:ph type="title"/>
          </p:nvPr>
        </p:nvSpPr>
        <p:spPr>
          <a:xfrm>
            <a:off x="311700" y="2084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Proyecto Silver Frog</a:t>
            </a:r>
            <a:endParaRPr/>
          </a:p>
        </p:txBody>
      </p:sp>
      <p:sp>
        <p:nvSpPr>
          <p:cNvPr id="156" name="Google Shape;156;p20"/>
          <p:cNvSpPr txBox="1"/>
          <p:nvPr>
            <p:ph idx="1" type="body"/>
          </p:nvPr>
        </p:nvSpPr>
        <p:spPr>
          <a:xfrm>
            <a:off x="242525" y="980175"/>
            <a:ext cx="1382100" cy="240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00">
                <a:solidFill>
                  <a:srgbClr val="03CC03"/>
                </a:solidFill>
              </a:rPr>
              <a:t>FUNDAMENTO</a:t>
            </a:r>
            <a:r>
              <a:rPr lang="es" sz="1300">
                <a:solidFill>
                  <a:srgbClr val="03CC03"/>
                </a:solidFill>
              </a:rPr>
              <a:t>:</a:t>
            </a:r>
            <a:endParaRPr sz="1300">
              <a:solidFill>
                <a:srgbClr val="03CC03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03CC03"/>
              </a:solidFill>
            </a:endParaRPr>
          </a:p>
          <a:p>
            <a:pPr indent="0" lvl="0" marL="0" rtl="0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s" sz="1300">
                <a:solidFill>
                  <a:srgbClr val="03CC03"/>
                </a:solidFill>
              </a:rPr>
              <a:t>  </a:t>
            </a:r>
            <a:r>
              <a:rPr b="1" lang="es" sz="1300">
                <a:solidFill>
                  <a:srgbClr val="03CC03"/>
                </a:solidFill>
              </a:rPr>
              <a:t>PROPÓSITO</a:t>
            </a:r>
            <a:r>
              <a:rPr lang="es" sz="1300">
                <a:solidFill>
                  <a:srgbClr val="03CC03"/>
                </a:solidFill>
              </a:rPr>
              <a:t>:</a:t>
            </a:r>
            <a:endParaRPr sz="1300">
              <a:solidFill>
                <a:srgbClr val="03CC03"/>
              </a:solidFill>
            </a:endParaRPr>
          </a:p>
          <a:p>
            <a:pPr indent="0" lvl="0" marL="0" rtl="0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03CC03"/>
              </a:solidFill>
            </a:endParaRPr>
          </a:p>
          <a:p>
            <a:pPr indent="0" lvl="0" marL="0" rtl="0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03CC03"/>
              </a:solidFill>
            </a:endParaRPr>
          </a:p>
          <a:p>
            <a:pPr indent="0" lvl="0" marL="0" rtl="0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b="1" lang="es" sz="1300">
                <a:solidFill>
                  <a:srgbClr val="03CC03"/>
                </a:solidFill>
              </a:rPr>
              <a:t>BENEFICIOS</a:t>
            </a:r>
            <a:r>
              <a:rPr lang="es" sz="1300">
                <a:solidFill>
                  <a:srgbClr val="03CC03"/>
                </a:solidFill>
              </a:rPr>
              <a:t>: </a:t>
            </a:r>
            <a:endParaRPr sz="1300"/>
          </a:p>
          <a:p>
            <a:pPr indent="0" lvl="0" marL="0" marR="3810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222222"/>
              </a:solidFill>
              <a:highlight>
                <a:srgbClr val="F8F9FA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20"/>
          <p:cNvSpPr txBox="1"/>
          <p:nvPr/>
        </p:nvSpPr>
        <p:spPr>
          <a:xfrm>
            <a:off x="1660200" y="1632725"/>
            <a:ext cx="5083200" cy="145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oboto"/>
              <a:buChar char="●"/>
            </a:pPr>
            <a:r>
              <a:rPr lang="es" sz="12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Aprovechar el recurso  solar y </a:t>
            </a:r>
            <a:r>
              <a:rPr lang="es" sz="12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eólico</a:t>
            </a:r>
            <a:r>
              <a:rPr lang="es" sz="12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s" sz="12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con</a:t>
            </a:r>
            <a:r>
              <a:rPr lang="es" sz="12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s" sz="12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electrolisis.</a:t>
            </a:r>
            <a:endParaRPr sz="12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oboto"/>
              <a:buChar char="●"/>
            </a:pPr>
            <a:r>
              <a:rPr lang="es" sz="12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Transporte de H2 verde hasta los usuarios finales a través de gasoductos (pineplines).</a:t>
            </a:r>
            <a:endParaRPr sz="12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oboto"/>
              <a:buChar char="●"/>
            </a:pPr>
            <a:r>
              <a:rPr lang="es" sz="12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Desarrollar cadena de valor del </a:t>
            </a:r>
            <a:r>
              <a:rPr lang="es" sz="12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hidrógeno</a:t>
            </a:r>
            <a:r>
              <a:rPr lang="es" sz="12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 sz="12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oboto"/>
              <a:buChar char="●"/>
            </a:pPr>
            <a:r>
              <a:rPr lang="es" sz="12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Administrar el equilibrio entre la producción y el consumo de hidrógeno a gran escala y soluciones de almacenamiento. </a:t>
            </a:r>
            <a:endParaRPr sz="12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marR="381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</p:txBody>
      </p:sp>
      <p:sp>
        <p:nvSpPr>
          <p:cNvPr id="158" name="Google Shape;158;p20"/>
          <p:cNvSpPr txBox="1"/>
          <p:nvPr/>
        </p:nvSpPr>
        <p:spPr>
          <a:xfrm>
            <a:off x="1482025" y="2986650"/>
            <a:ext cx="44676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2100" lvl="0" marL="457200" marR="38100" rtl="0" algn="l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oboto"/>
              <a:buChar char="●"/>
            </a:pPr>
            <a:r>
              <a:rPr lang="es" sz="12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Descarbonización</a:t>
            </a:r>
            <a:r>
              <a:rPr lang="es" sz="12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de la </a:t>
            </a:r>
            <a:r>
              <a:rPr lang="es" sz="12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industria.</a:t>
            </a:r>
            <a:endParaRPr sz="12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marR="38100" rtl="0" algn="l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(metalurgica, </a:t>
            </a:r>
            <a:r>
              <a:rPr lang="es" sz="12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refinería</a:t>
            </a:r>
            <a:r>
              <a:rPr lang="es" sz="12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, industria </a:t>
            </a:r>
            <a:r>
              <a:rPr lang="es" sz="12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química</a:t>
            </a:r>
            <a:r>
              <a:rPr lang="es" sz="12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, etc.)</a:t>
            </a:r>
            <a:endParaRPr sz="12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9" name="Google Shape;159;p20"/>
          <p:cNvSpPr txBox="1"/>
          <p:nvPr/>
        </p:nvSpPr>
        <p:spPr>
          <a:xfrm>
            <a:off x="1660200" y="980175"/>
            <a:ext cx="6004800" cy="56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2100" lvl="0" marL="457200" marR="38100" rtl="0" algn="l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oboto"/>
              <a:buChar char="●"/>
            </a:pPr>
            <a:r>
              <a:rPr lang="es" sz="12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Descarbonizar Sector Industrial</a:t>
            </a:r>
            <a:endParaRPr sz="12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2100" lvl="0" marL="457200" marR="38100" rtl="0" algn="l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oboto"/>
              <a:buChar char="●"/>
            </a:pPr>
            <a:r>
              <a:rPr lang="es" sz="12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Integración</a:t>
            </a:r>
            <a:r>
              <a:rPr lang="es" sz="12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de las </a:t>
            </a:r>
            <a:r>
              <a:rPr lang="es" sz="12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energías</a:t>
            </a:r>
            <a:r>
              <a:rPr lang="es" sz="12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renovables en Red de </a:t>
            </a:r>
            <a:r>
              <a:rPr lang="es" sz="12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Combustibles</a:t>
            </a:r>
            <a:r>
              <a:rPr lang="es" sz="12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 sz="12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60" name="Google Shape;160;p20"/>
          <p:cNvPicPr preferRelativeResize="0"/>
          <p:nvPr/>
        </p:nvPicPr>
        <p:blipFill rotWithShape="1">
          <a:blip r:embed="rId3">
            <a:alphaModFix/>
          </a:blip>
          <a:srcRect b="18703" l="30094" r="48671" t="68159"/>
          <a:stretch/>
        </p:blipFill>
        <p:spPr>
          <a:xfrm>
            <a:off x="2104750" y="3594450"/>
            <a:ext cx="1746451" cy="607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20"/>
          <p:cNvPicPr preferRelativeResize="0"/>
          <p:nvPr/>
        </p:nvPicPr>
        <p:blipFill rotWithShape="1">
          <a:blip r:embed="rId3">
            <a:alphaModFix/>
          </a:blip>
          <a:srcRect b="20874" l="71641" r="16380" t="68597"/>
          <a:stretch/>
        </p:blipFill>
        <p:spPr>
          <a:xfrm>
            <a:off x="4079400" y="3654813"/>
            <a:ext cx="985200" cy="487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20"/>
          <p:cNvPicPr preferRelativeResize="0"/>
          <p:nvPr/>
        </p:nvPicPr>
        <p:blipFill rotWithShape="1">
          <a:blip r:embed="rId3">
            <a:alphaModFix/>
          </a:blip>
          <a:srcRect b="4790" l="47855" r="15430" t="86101"/>
          <a:stretch/>
        </p:blipFill>
        <p:spPr>
          <a:xfrm>
            <a:off x="1369025" y="4260650"/>
            <a:ext cx="3019574" cy="421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p20"/>
          <p:cNvPicPr preferRelativeResize="0"/>
          <p:nvPr/>
        </p:nvPicPr>
        <p:blipFill rotWithShape="1">
          <a:blip r:embed="rId4">
            <a:alphaModFix/>
          </a:blip>
          <a:srcRect b="26747" l="50690" r="26184" t="42358"/>
          <a:stretch/>
        </p:blipFill>
        <p:spPr>
          <a:xfrm>
            <a:off x="6743325" y="0"/>
            <a:ext cx="2400677" cy="1804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20"/>
          <p:cNvPicPr preferRelativeResize="0"/>
          <p:nvPr/>
        </p:nvPicPr>
        <p:blipFill rotWithShape="1">
          <a:blip r:embed="rId5">
            <a:alphaModFix/>
          </a:blip>
          <a:srcRect b="29476" l="30625" r="38308" t="36018"/>
          <a:stretch/>
        </p:blipFill>
        <p:spPr>
          <a:xfrm>
            <a:off x="6566609" y="2044650"/>
            <a:ext cx="2577389" cy="1610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20"/>
          <p:cNvPicPr preferRelativeResize="0"/>
          <p:nvPr/>
        </p:nvPicPr>
        <p:blipFill rotWithShape="1">
          <a:blip r:embed="rId6">
            <a:alphaModFix/>
          </a:blip>
          <a:srcRect b="19411" l="12308" r="72019" t="68771"/>
          <a:stretch/>
        </p:blipFill>
        <p:spPr>
          <a:xfrm>
            <a:off x="415825" y="3623650"/>
            <a:ext cx="1433026" cy="607800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20"/>
          <p:cNvSpPr txBox="1"/>
          <p:nvPr/>
        </p:nvSpPr>
        <p:spPr>
          <a:xfrm>
            <a:off x="6669313" y="3559275"/>
            <a:ext cx="2633100" cy="4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rgbClr val="1C4587"/>
                </a:solidFill>
                <a:latin typeface="Roboto"/>
                <a:ea typeface="Roboto"/>
                <a:cs typeface="Roboto"/>
                <a:sym typeface="Roboto"/>
              </a:rPr>
              <a:t>Recurso solar                       Recurso </a:t>
            </a:r>
            <a:r>
              <a:rPr lang="es" sz="900">
                <a:solidFill>
                  <a:srgbClr val="1C4587"/>
                </a:solidFill>
                <a:latin typeface="Roboto"/>
                <a:ea typeface="Roboto"/>
                <a:cs typeface="Roboto"/>
                <a:sym typeface="Roboto"/>
              </a:rPr>
              <a:t>eólico</a:t>
            </a:r>
            <a:endParaRPr sz="1100">
              <a:solidFill>
                <a:srgbClr val="1C458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1"/>
          <p:cNvSpPr txBox="1"/>
          <p:nvPr>
            <p:ph type="title"/>
          </p:nvPr>
        </p:nvSpPr>
        <p:spPr>
          <a:xfrm>
            <a:off x="240700" y="11915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Hynet North West</a:t>
            </a:r>
            <a:endParaRPr b="1" sz="2500" u="sng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21"/>
          <p:cNvSpPr txBox="1"/>
          <p:nvPr>
            <p:ph idx="1" type="body"/>
          </p:nvPr>
        </p:nvSpPr>
        <p:spPr>
          <a:xfrm>
            <a:off x="240700" y="877775"/>
            <a:ext cx="8520600" cy="354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65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700"/>
              <a:buChar char="●"/>
            </a:pPr>
            <a:r>
              <a:rPr lang="es" sz="1700">
                <a:solidFill>
                  <a:srgbClr val="000000"/>
                </a:solidFill>
              </a:rPr>
              <a:t>Desarrollo de un cluster de hidrogeno</a:t>
            </a:r>
            <a:endParaRPr sz="1700">
              <a:solidFill>
                <a:srgbClr val="000000"/>
              </a:solidFill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Char char="●"/>
            </a:pPr>
            <a:r>
              <a:rPr lang="es" sz="1700">
                <a:solidFill>
                  <a:srgbClr val="000000"/>
                </a:solidFill>
              </a:rPr>
              <a:t>Reducir emisiones de co2</a:t>
            </a:r>
            <a:endParaRPr sz="1700">
              <a:solidFill>
                <a:srgbClr val="000000"/>
              </a:solidFill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Char char="●"/>
            </a:pPr>
            <a:r>
              <a:rPr lang="es" sz="1700">
                <a:solidFill>
                  <a:srgbClr val="000000"/>
                </a:solidFill>
              </a:rPr>
              <a:t>desarrollo economia de hidrogeno</a:t>
            </a:r>
            <a:endParaRPr sz="1700">
              <a:solidFill>
                <a:srgbClr val="000000"/>
              </a:solidFill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Char char="●"/>
            </a:pPr>
            <a:r>
              <a:rPr lang="es" sz="1700">
                <a:solidFill>
                  <a:srgbClr val="000000"/>
                </a:solidFill>
              </a:rPr>
              <a:t>hidrogenoductos y gasoductos para transportar co2</a:t>
            </a:r>
            <a:endParaRPr sz="17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 sz="3000"/>
              <a:t>Ventajas</a:t>
            </a:r>
            <a:endParaRPr b="1" sz="30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1" lang="es" sz="1400"/>
              <a:t> </a:t>
            </a:r>
            <a:r>
              <a:rPr lang="es" sz="1400"/>
              <a:t>ubicación</a:t>
            </a:r>
            <a:r>
              <a:rPr lang="es" sz="1400"/>
              <a:t> </a:t>
            </a:r>
            <a:r>
              <a:rPr lang="es" sz="1400"/>
              <a:t>geográfica</a:t>
            </a:r>
            <a:endParaRPr sz="14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s" sz="1400"/>
              <a:t> Demanda Constante , </a:t>
            </a:r>
            <a:r>
              <a:rPr lang="es" sz="1400"/>
              <a:t>próximo</a:t>
            </a:r>
            <a:r>
              <a:rPr lang="es" sz="1400"/>
              <a:t> a pozos depletados.</a:t>
            </a:r>
            <a:endParaRPr sz="14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s" sz="1400"/>
              <a:t>500.000 Puestos de trabajo</a:t>
            </a:r>
            <a:endParaRPr sz="1400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2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Estrategia de Hynet </a:t>
            </a:r>
            <a:endParaRPr/>
          </a:p>
        </p:txBody>
      </p:sp>
      <p:sp>
        <p:nvSpPr>
          <p:cNvPr id="178" name="Google Shape;178;p22"/>
          <p:cNvSpPr txBox="1"/>
          <p:nvPr>
            <p:ph idx="1" type="body"/>
          </p:nvPr>
        </p:nvSpPr>
        <p:spPr>
          <a:xfrm>
            <a:off x="311700" y="1229875"/>
            <a:ext cx="8520600" cy="353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/>
              <a:t>Actualidad </a:t>
            </a:r>
            <a:r>
              <a:rPr lang="es"/>
              <a:t>: </a:t>
            </a:r>
            <a:r>
              <a:rPr lang="es"/>
              <a:t>hoy uso industrial ,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1" lang="es"/>
              <a:t>En unos años</a:t>
            </a:r>
            <a:r>
              <a:rPr lang="es"/>
              <a:t> : nuevas industrias , pipline a las casas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1" lang="es"/>
              <a:t>Proxima Decada</a:t>
            </a:r>
            <a:endParaRPr b="1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s"/>
              <a:t>industria consumiendo hidrogeno.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s"/>
              <a:t>Consolidado Reino unido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1" lang="es"/>
              <a:t>2035 a 2050</a:t>
            </a:r>
            <a:endParaRPr b="1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s"/>
              <a:t>desarrollos internacionales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3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Economia del Hidrogeno.</a:t>
            </a:r>
            <a:endParaRPr/>
          </a:p>
        </p:txBody>
      </p:sp>
      <p:sp>
        <p:nvSpPr>
          <p:cNvPr id="184" name="Google Shape;184;p23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185" name="Google Shape;185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229875"/>
            <a:ext cx="6362598" cy="35764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4"/>
          <p:cNvSpPr txBox="1"/>
          <p:nvPr>
            <p:ph type="title"/>
          </p:nvPr>
        </p:nvSpPr>
        <p:spPr>
          <a:xfrm>
            <a:off x="311700" y="2084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Proyecto globales de H2</a:t>
            </a:r>
            <a:endParaRPr/>
          </a:p>
        </p:txBody>
      </p:sp>
      <p:pic>
        <p:nvPicPr>
          <p:cNvPr id="191" name="Google Shape;191;p24"/>
          <p:cNvPicPr preferRelativeResize="0"/>
          <p:nvPr/>
        </p:nvPicPr>
        <p:blipFill rotWithShape="1">
          <a:blip r:embed="rId3">
            <a:alphaModFix/>
          </a:blip>
          <a:srcRect b="686" l="4540" r="-1769" t="21341"/>
          <a:stretch/>
        </p:blipFill>
        <p:spPr>
          <a:xfrm>
            <a:off x="211075" y="879525"/>
            <a:ext cx="8890699" cy="4010674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24"/>
          <p:cNvSpPr/>
          <p:nvPr/>
        </p:nvSpPr>
        <p:spPr>
          <a:xfrm>
            <a:off x="7289550" y="4622825"/>
            <a:ext cx="295500" cy="1407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25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Conclusiones</a:t>
            </a:r>
            <a:endParaRPr/>
          </a:p>
        </p:txBody>
      </p:sp>
      <p:sp>
        <p:nvSpPr>
          <p:cNvPr id="198" name="Google Shape;198;p25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r>
              <a:rPr b="1" lang="es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rading de H2 (mercado de materias primas)- </a:t>
            </a:r>
            <a:r>
              <a:rPr lang="es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comodidad para inversores</a:t>
            </a:r>
            <a:br>
              <a:rPr lang="es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lang="es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lang="es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Electrolítico vs verde</a:t>
            </a:r>
            <a:r>
              <a:rPr lang="es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-  4% vs 0.01 % 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Híbridos</a:t>
            </a:r>
            <a:r>
              <a:rPr lang="es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- (H2, renovables, gas)  oportunidad para hacerse ver 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Sector industrial</a:t>
            </a:r>
            <a:r>
              <a:rPr lang="es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- gran potencial para descarbonizar la industria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Industria del amoniaco</a:t>
            </a:r>
            <a:r>
              <a:rPr lang="es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- vector transporte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Geometric">
  <a:themeElements>
    <a:clrScheme name="Geometric">
      <a:dk1>
        <a:srgbClr val="2A3990"/>
      </a:dk1>
      <a:lt1>
        <a:srgbClr val="FFFFFF"/>
      </a:lt1>
      <a:dk2>
        <a:srgbClr val="434343"/>
      </a:dk2>
      <a:lt2>
        <a:srgbClr val="999999"/>
      </a:lt2>
      <a:accent1>
        <a:srgbClr val="212D74"/>
      </a:accent1>
      <a:accent2>
        <a:srgbClr val="3949AB"/>
      </a:accent2>
      <a:accent3>
        <a:srgbClr val="9C254D"/>
      </a:accent3>
      <a:accent4>
        <a:srgbClr val="D23369"/>
      </a:accent4>
      <a:accent5>
        <a:srgbClr val="F06292"/>
      </a:accent5>
      <a:accent6>
        <a:srgbClr val="7890CD"/>
      </a:accent6>
      <a:hlink>
        <a:srgbClr val="F06292"/>
      </a:hlink>
      <a:folHlink>
        <a:srgbClr val="F0629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