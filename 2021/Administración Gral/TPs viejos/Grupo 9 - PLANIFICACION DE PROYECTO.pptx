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82" r:id="rId6"/>
    <p:sldId id="281" r:id="rId7"/>
    <p:sldId id="283" r:id="rId8"/>
    <p:sldId id="266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9" r:id="rId21"/>
    <p:sldId id="280" r:id="rId22"/>
    <p:sldId id="27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E31"/>
    <a:srgbClr val="2FBADB"/>
    <a:srgbClr val="0055A6"/>
    <a:srgbClr val="9FC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10051-26B0-45B4-B239-43E49F20CE02}" v="119" dt="2020-10-28T18:10:58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2A2007-279B-4A9C-9BD2-7ACD369A199A}" type="doc">
      <dgm:prSet loTypeId="urn:microsoft.com/office/officeart/2018/2/layout/IconCircleList" loCatId="icon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E232EB5A-4572-4664-942C-5843D48870C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Se releva el avance físico del proyecto a cierta fecha y se lo compara con el avance previsto hasta esa fecha. </a:t>
          </a:r>
          <a:endParaRPr lang="en-US" dirty="0"/>
        </a:p>
      </dgm:t>
    </dgm:pt>
    <dgm:pt modelId="{852CCAFD-9174-4B4E-AC4A-15175CF15B3A}" type="parTrans" cxnId="{AA7369D6-734D-4E71-BF65-75800A47B029}">
      <dgm:prSet/>
      <dgm:spPr/>
      <dgm:t>
        <a:bodyPr/>
        <a:lstStyle/>
        <a:p>
          <a:endParaRPr lang="en-US"/>
        </a:p>
      </dgm:t>
    </dgm:pt>
    <dgm:pt modelId="{5A436D78-17D8-45CF-A12F-EE791D154CD4}" type="sibTrans" cxnId="{AA7369D6-734D-4E71-BF65-75800A47B0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E4B637-6A23-4B15-9531-996812C8579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Se analiza la eficiencia del cronograma y se pactan nuevas fechas de finalización adoptando las medidas necesarias.</a:t>
          </a:r>
          <a:endParaRPr lang="en-US"/>
        </a:p>
      </dgm:t>
    </dgm:pt>
    <dgm:pt modelId="{C220FC92-4BAD-45B3-B57B-ED5AE2468150}" type="parTrans" cxnId="{EF4F3DE6-39CA-4466-94EA-23B78108E732}">
      <dgm:prSet/>
      <dgm:spPr/>
      <dgm:t>
        <a:bodyPr/>
        <a:lstStyle/>
        <a:p>
          <a:endParaRPr lang="en-US"/>
        </a:p>
      </dgm:t>
    </dgm:pt>
    <dgm:pt modelId="{9D66975B-E774-48AF-B53A-4C4A7D85E5AD}" type="sibTrans" cxnId="{EF4F3DE6-39CA-4466-94EA-23B78108E732}">
      <dgm:prSet/>
      <dgm:spPr/>
      <dgm:t>
        <a:bodyPr/>
        <a:lstStyle/>
        <a:p>
          <a:endParaRPr lang="en-US"/>
        </a:p>
      </dgm:t>
    </dgm:pt>
    <dgm:pt modelId="{CD288CEA-7A1A-4553-BA3E-DCAC455F6846}" type="pres">
      <dgm:prSet presAssocID="{FD2A2007-279B-4A9C-9BD2-7ACD369A199A}" presName="root" presStyleCnt="0">
        <dgm:presLayoutVars>
          <dgm:dir/>
          <dgm:resizeHandles val="exact"/>
        </dgm:presLayoutVars>
      </dgm:prSet>
      <dgm:spPr/>
    </dgm:pt>
    <dgm:pt modelId="{C5898386-071E-4597-9D13-84376F37D004}" type="pres">
      <dgm:prSet presAssocID="{FD2A2007-279B-4A9C-9BD2-7ACD369A199A}" presName="container" presStyleCnt="0">
        <dgm:presLayoutVars>
          <dgm:dir/>
          <dgm:resizeHandles val="exact"/>
        </dgm:presLayoutVars>
      </dgm:prSet>
      <dgm:spPr/>
    </dgm:pt>
    <dgm:pt modelId="{475532E3-B5C0-47EF-A080-C6BB16901F86}" type="pres">
      <dgm:prSet presAssocID="{E232EB5A-4572-4664-942C-5843D48870C3}" presName="compNode" presStyleCnt="0"/>
      <dgm:spPr/>
    </dgm:pt>
    <dgm:pt modelId="{D85D5C26-188D-4CD7-A6EE-26B8E0C108E5}" type="pres">
      <dgm:prSet presAssocID="{E232EB5A-4572-4664-942C-5843D48870C3}" presName="iconBgRect" presStyleLbl="bgShp" presStyleIdx="0" presStyleCnt="2"/>
      <dgm:spPr/>
    </dgm:pt>
    <dgm:pt modelId="{1CACC774-C331-4595-8529-22972DF98ACE}" type="pres">
      <dgm:prSet presAssocID="{E232EB5A-4572-4664-942C-5843D48870C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Ábaco"/>
        </a:ext>
      </dgm:extLst>
    </dgm:pt>
    <dgm:pt modelId="{7A7FAE0F-9ABE-48FA-864C-C2F1D50B6BF8}" type="pres">
      <dgm:prSet presAssocID="{E232EB5A-4572-4664-942C-5843D48870C3}" presName="spaceRect" presStyleCnt="0"/>
      <dgm:spPr/>
    </dgm:pt>
    <dgm:pt modelId="{5CD4C789-3176-488C-B513-18E5E5B872F1}" type="pres">
      <dgm:prSet presAssocID="{E232EB5A-4572-4664-942C-5843D48870C3}" presName="textRect" presStyleLbl="revTx" presStyleIdx="0" presStyleCnt="2">
        <dgm:presLayoutVars>
          <dgm:chMax val="1"/>
          <dgm:chPref val="1"/>
        </dgm:presLayoutVars>
      </dgm:prSet>
      <dgm:spPr/>
    </dgm:pt>
    <dgm:pt modelId="{D4B5640C-E038-4426-87C9-E74AFB6D4B96}" type="pres">
      <dgm:prSet presAssocID="{5A436D78-17D8-45CF-A12F-EE791D154CD4}" presName="sibTrans" presStyleLbl="sibTrans2D1" presStyleIdx="0" presStyleCnt="0"/>
      <dgm:spPr/>
    </dgm:pt>
    <dgm:pt modelId="{220005C6-4478-4158-ABA1-CE6333E62902}" type="pres">
      <dgm:prSet presAssocID="{AEE4B637-6A23-4B15-9531-996812C8579C}" presName="compNode" presStyleCnt="0"/>
      <dgm:spPr/>
    </dgm:pt>
    <dgm:pt modelId="{074CFE9B-5B3C-42CF-936F-DBDC94442381}" type="pres">
      <dgm:prSet presAssocID="{AEE4B637-6A23-4B15-9531-996812C8579C}" presName="iconBgRect" presStyleLbl="bgShp" presStyleIdx="1" presStyleCnt="2"/>
      <dgm:spPr/>
    </dgm:pt>
    <dgm:pt modelId="{59015217-5E74-4709-841F-253086624984}" type="pres">
      <dgm:prSet presAssocID="{AEE4B637-6A23-4B15-9531-996812C8579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45733CD-7D60-4FED-A0F5-E84D125744E2}" type="pres">
      <dgm:prSet presAssocID="{AEE4B637-6A23-4B15-9531-996812C8579C}" presName="spaceRect" presStyleCnt="0"/>
      <dgm:spPr/>
    </dgm:pt>
    <dgm:pt modelId="{20F416EA-9EE7-4CAA-BF66-C8839FE308AC}" type="pres">
      <dgm:prSet presAssocID="{AEE4B637-6A23-4B15-9531-996812C8579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0100609-E6D1-40C0-87F6-581F52D25109}" type="presOf" srcId="{5A436D78-17D8-45CF-A12F-EE791D154CD4}" destId="{D4B5640C-E038-4426-87C9-E74AFB6D4B96}" srcOrd="0" destOrd="0" presId="urn:microsoft.com/office/officeart/2018/2/layout/IconCircleList"/>
    <dgm:cxn modelId="{08CD5715-5E11-4A0C-B5B2-E62B41467EF4}" type="presOf" srcId="{E232EB5A-4572-4664-942C-5843D48870C3}" destId="{5CD4C789-3176-488C-B513-18E5E5B872F1}" srcOrd="0" destOrd="0" presId="urn:microsoft.com/office/officeart/2018/2/layout/IconCircleList"/>
    <dgm:cxn modelId="{AD1CE820-6B6B-4593-AACA-3E65FFA8A0F0}" type="presOf" srcId="{AEE4B637-6A23-4B15-9531-996812C8579C}" destId="{20F416EA-9EE7-4CAA-BF66-C8839FE308AC}" srcOrd="0" destOrd="0" presId="urn:microsoft.com/office/officeart/2018/2/layout/IconCircleList"/>
    <dgm:cxn modelId="{8751E081-B17C-40F3-836F-C937BECD4131}" type="presOf" srcId="{FD2A2007-279B-4A9C-9BD2-7ACD369A199A}" destId="{CD288CEA-7A1A-4553-BA3E-DCAC455F6846}" srcOrd="0" destOrd="0" presId="urn:microsoft.com/office/officeart/2018/2/layout/IconCircleList"/>
    <dgm:cxn modelId="{AA7369D6-734D-4E71-BF65-75800A47B029}" srcId="{FD2A2007-279B-4A9C-9BD2-7ACD369A199A}" destId="{E232EB5A-4572-4664-942C-5843D48870C3}" srcOrd="0" destOrd="0" parTransId="{852CCAFD-9174-4B4E-AC4A-15175CF15B3A}" sibTransId="{5A436D78-17D8-45CF-A12F-EE791D154CD4}"/>
    <dgm:cxn modelId="{EF4F3DE6-39CA-4466-94EA-23B78108E732}" srcId="{FD2A2007-279B-4A9C-9BD2-7ACD369A199A}" destId="{AEE4B637-6A23-4B15-9531-996812C8579C}" srcOrd="1" destOrd="0" parTransId="{C220FC92-4BAD-45B3-B57B-ED5AE2468150}" sibTransId="{9D66975B-E774-48AF-B53A-4C4A7D85E5AD}"/>
    <dgm:cxn modelId="{98A3C3FB-776A-4392-BE7D-721D010E3584}" type="presParOf" srcId="{CD288CEA-7A1A-4553-BA3E-DCAC455F6846}" destId="{C5898386-071E-4597-9D13-84376F37D004}" srcOrd="0" destOrd="0" presId="urn:microsoft.com/office/officeart/2018/2/layout/IconCircleList"/>
    <dgm:cxn modelId="{D688FEB8-0DC4-4E78-B36F-EDB8FAA54D8D}" type="presParOf" srcId="{C5898386-071E-4597-9D13-84376F37D004}" destId="{475532E3-B5C0-47EF-A080-C6BB16901F86}" srcOrd="0" destOrd="0" presId="urn:microsoft.com/office/officeart/2018/2/layout/IconCircleList"/>
    <dgm:cxn modelId="{90644035-B464-4283-A4A5-D10BED251B45}" type="presParOf" srcId="{475532E3-B5C0-47EF-A080-C6BB16901F86}" destId="{D85D5C26-188D-4CD7-A6EE-26B8E0C108E5}" srcOrd="0" destOrd="0" presId="urn:microsoft.com/office/officeart/2018/2/layout/IconCircleList"/>
    <dgm:cxn modelId="{91387519-D432-4BF5-B67F-E65611064915}" type="presParOf" srcId="{475532E3-B5C0-47EF-A080-C6BB16901F86}" destId="{1CACC774-C331-4595-8529-22972DF98ACE}" srcOrd="1" destOrd="0" presId="urn:microsoft.com/office/officeart/2018/2/layout/IconCircleList"/>
    <dgm:cxn modelId="{06BF7F48-D875-479A-B0DA-A20DE5CA28BF}" type="presParOf" srcId="{475532E3-B5C0-47EF-A080-C6BB16901F86}" destId="{7A7FAE0F-9ABE-48FA-864C-C2F1D50B6BF8}" srcOrd="2" destOrd="0" presId="urn:microsoft.com/office/officeart/2018/2/layout/IconCircleList"/>
    <dgm:cxn modelId="{46E26805-ECEC-4DB5-AA37-2160F94F317E}" type="presParOf" srcId="{475532E3-B5C0-47EF-A080-C6BB16901F86}" destId="{5CD4C789-3176-488C-B513-18E5E5B872F1}" srcOrd="3" destOrd="0" presId="urn:microsoft.com/office/officeart/2018/2/layout/IconCircleList"/>
    <dgm:cxn modelId="{5B987208-84C0-49B3-B680-13EFB39A3957}" type="presParOf" srcId="{C5898386-071E-4597-9D13-84376F37D004}" destId="{D4B5640C-E038-4426-87C9-E74AFB6D4B96}" srcOrd="1" destOrd="0" presId="urn:microsoft.com/office/officeart/2018/2/layout/IconCircleList"/>
    <dgm:cxn modelId="{083BA8EB-29C6-4B97-B5D8-579F823DD5D3}" type="presParOf" srcId="{C5898386-071E-4597-9D13-84376F37D004}" destId="{220005C6-4478-4158-ABA1-CE6333E62902}" srcOrd="2" destOrd="0" presId="urn:microsoft.com/office/officeart/2018/2/layout/IconCircleList"/>
    <dgm:cxn modelId="{E3668439-F68F-4365-A258-E3BAD3403C43}" type="presParOf" srcId="{220005C6-4478-4158-ABA1-CE6333E62902}" destId="{074CFE9B-5B3C-42CF-936F-DBDC94442381}" srcOrd="0" destOrd="0" presId="urn:microsoft.com/office/officeart/2018/2/layout/IconCircleList"/>
    <dgm:cxn modelId="{B07B0E3B-46C3-4B3A-866B-1716C4068EE7}" type="presParOf" srcId="{220005C6-4478-4158-ABA1-CE6333E62902}" destId="{59015217-5E74-4709-841F-253086624984}" srcOrd="1" destOrd="0" presId="urn:microsoft.com/office/officeart/2018/2/layout/IconCircleList"/>
    <dgm:cxn modelId="{68A1F3F8-B53E-4C4A-A5C9-853205F3F786}" type="presParOf" srcId="{220005C6-4478-4158-ABA1-CE6333E62902}" destId="{A45733CD-7D60-4FED-A0F5-E84D125744E2}" srcOrd="2" destOrd="0" presId="urn:microsoft.com/office/officeart/2018/2/layout/IconCircleList"/>
    <dgm:cxn modelId="{CD83CE1F-022D-4C28-AA89-B3DA699FC1FD}" type="presParOf" srcId="{220005C6-4478-4158-ABA1-CE6333E62902}" destId="{20F416EA-9EE7-4CAA-BF66-C8839FE308A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A34D9-4DB0-4492-B934-66CE283C8C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14AE8FA-5FB2-48C0-8499-4A140C097E4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1º Paso</a:t>
          </a:r>
        </a:p>
        <a:p>
          <a:pPr>
            <a:lnSpc>
              <a:spcPct val="100000"/>
            </a:lnSpc>
          </a:pPr>
          <a:r>
            <a:rPr lang="es-ES" dirty="0"/>
            <a:t>Medición de avance físico por paquete de trabajo.</a:t>
          </a:r>
          <a:endParaRPr lang="en-US" dirty="0"/>
        </a:p>
      </dgm:t>
    </dgm:pt>
    <dgm:pt modelId="{7473E328-C71F-4CCD-9E58-C32051F43C8E}" type="parTrans" cxnId="{156E2857-28C9-4244-8A3A-DD4AA371F441}">
      <dgm:prSet/>
      <dgm:spPr/>
      <dgm:t>
        <a:bodyPr/>
        <a:lstStyle/>
        <a:p>
          <a:endParaRPr lang="en-US"/>
        </a:p>
      </dgm:t>
    </dgm:pt>
    <dgm:pt modelId="{8F4F4C1B-4226-4D18-BC4B-0C4435F549CC}" type="sibTrans" cxnId="{156E2857-28C9-4244-8A3A-DD4AA371F4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A2B4B-D839-475A-811E-5E872DEBCA3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2º Paso</a:t>
          </a:r>
        </a:p>
        <a:p>
          <a:pPr>
            <a:lnSpc>
              <a:spcPct val="100000"/>
            </a:lnSpc>
          </a:pPr>
          <a:r>
            <a:rPr lang="es-ES" dirty="0"/>
            <a:t>Establecer un sistema que determine horas insumidas por paquete de trabajo.</a:t>
          </a:r>
          <a:endParaRPr lang="en-US" dirty="0"/>
        </a:p>
      </dgm:t>
    </dgm:pt>
    <dgm:pt modelId="{6C725DC8-AB84-426C-80CD-F43A94E19A40}" type="parTrans" cxnId="{43B6FD7D-81D0-4310-A416-83D1AE6B5F0F}">
      <dgm:prSet/>
      <dgm:spPr/>
      <dgm:t>
        <a:bodyPr/>
        <a:lstStyle/>
        <a:p>
          <a:endParaRPr lang="en-US"/>
        </a:p>
      </dgm:t>
    </dgm:pt>
    <dgm:pt modelId="{13024613-FECE-4857-8A9B-904874E74F10}" type="sibTrans" cxnId="{43B6FD7D-81D0-4310-A416-83D1AE6B5F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679C5B-3D11-4F16-9E13-8A23127C7B9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3º Paso</a:t>
          </a:r>
        </a:p>
        <a:p>
          <a:pPr>
            <a:lnSpc>
              <a:spcPct val="100000"/>
            </a:lnSpc>
          </a:pPr>
          <a:r>
            <a:rPr lang="es-ES" dirty="0"/>
            <a:t>Análisis de valor ganado. </a:t>
          </a:r>
          <a:endParaRPr lang="en-US" dirty="0"/>
        </a:p>
      </dgm:t>
    </dgm:pt>
    <dgm:pt modelId="{68D3608E-AE93-4087-A091-DCE2ABFDCCEC}" type="parTrans" cxnId="{605C6ACD-FC1A-49D7-9105-1259C4816BEC}">
      <dgm:prSet/>
      <dgm:spPr/>
      <dgm:t>
        <a:bodyPr/>
        <a:lstStyle/>
        <a:p>
          <a:endParaRPr lang="en-US"/>
        </a:p>
      </dgm:t>
    </dgm:pt>
    <dgm:pt modelId="{58C4D039-8725-4891-AD19-2C02677F86A2}" type="sibTrans" cxnId="{605C6ACD-FC1A-49D7-9105-1259C4816B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788F18-3A5F-428C-A1E4-EC1EF46F989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4º Paso</a:t>
          </a:r>
        </a:p>
        <a:p>
          <a:pPr>
            <a:lnSpc>
              <a:spcPct val="100000"/>
            </a:lnSpc>
          </a:pPr>
          <a:r>
            <a:rPr lang="es-ES" dirty="0"/>
            <a:t>Estimación de la duración remanente.</a:t>
          </a:r>
          <a:endParaRPr lang="en-US" dirty="0"/>
        </a:p>
      </dgm:t>
    </dgm:pt>
    <dgm:pt modelId="{EBF5958D-3CCC-4D0D-AAF6-A229BE54F1B5}" type="parTrans" cxnId="{52134385-5A41-477B-A6F6-868A18EE7155}">
      <dgm:prSet/>
      <dgm:spPr/>
      <dgm:t>
        <a:bodyPr/>
        <a:lstStyle/>
        <a:p>
          <a:endParaRPr lang="en-US"/>
        </a:p>
      </dgm:t>
    </dgm:pt>
    <dgm:pt modelId="{2274F203-5B01-45A0-8213-7374BD9CC257}" type="sibTrans" cxnId="{52134385-5A41-477B-A6F6-868A18EE7155}">
      <dgm:prSet/>
      <dgm:spPr/>
      <dgm:t>
        <a:bodyPr/>
        <a:lstStyle/>
        <a:p>
          <a:endParaRPr lang="en-US"/>
        </a:p>
      </dgm:t>
    </dgm:pt>
    <dgm:pt modelId="{028113AA-181E-42D7-AB4C-9A3F6AE7BED2}" type="pres">
      <dgm:prSet presAssocID="{DD5A34D9-4DB0-4492-B934-66CE283C8C8E}" presName="root" presStyleCnt="0">
        <dgm:presLayoutVars>
          <dgm:dir/>
          <dgm:resizeHandles val="exact"/>
        </dgm:presLayoutVars>
      </dgm:prSet>
      <dgm:spPr/>
    </dgm:pt>
    <dgm:pt modelId="{99346189-EBF7-43F2-A2CD-D5CF7E1B72ED}" type="pres">
      <dgm:prSet presAssocID="{DD5A34D9-4DB0-4492-B934-66CE283C8C8E}" presName="container" presStyleCnt="0">
        <dgm:presLayoutVars>
          <dgm:dir/>
          <dgm:resizeHandles val="exact"/>
        </dgm:presLayoutVars>
      </dgm:prSet>
      <dgm:spPr/>
    </dgm:pt>
    <dgm:pt modelId="{BAADCE64-CD99-4EB1-8832-B9A427264EB7}" type="pres">
      <dgm:prSet presAssocID="{C14AE8FA-5FB2-48C0-8499-4A140C097E41}" presName="compNode" presStyleCnt="0"/>
      <dgm:spPr/>
    </dgm:pt>
    <dgm:pt modelId="{D042E11E-712C-4243-B42F-678EB94A78FF}" type="pres">
      <dgm:prSet presAssocID="{C14AE8FA-5FB2-48C0-8499-4A140C097E41}" presName="iconBgRect" presStyleLbl="bgShp" presStyleIdx="0" presStyleCnt="4"/>
      <dgm:spPr/>
    </dgm:pt>
    <dgm:pt modelId="{46E6E530-5B83-461B-B300-7F3D31D04790}" type="pres">
      <dgm:prSet presAssocID="{C14AE8FA-5FB2-48C0-8499-4A140C097E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33194D37-D0A2-419C-AD1D-D5F2C3C20BC4}" type="pres">
      <dgm:prSet presAssocID="{C14AE8FA-5FB2-48C0-8499-4A140C097E41}" presName="spaceRect" presStyleCnt="0"/>
      <dgm:spPr/>
    </dgm:pt>
    <dgm:pt modelId="{FCB13FF7-F37F-4130-B1EF-B2E145088D92}" type="pres">
      <dgm:prSet presAssocID="{C14AE8FA-5FB2-48C0-8499-4A140C097E41}" presName="textRect" presStyleLbl="revTx" presStyleIdx="0" presStyleCnt="4">
        <dgm:presLayoutVars>
          <dgm:chMax val="1"/>
          <dgm:chPref val="1"/>
        </dgm:presLayoutVars>
      </dgm:prSet>
      <dgm:spPr/>
    </dgm:pt>
    <dgm:pt modelId="{253DA90B-D6CC-4DB0-ACFF-94D5AD69A3A6}" type="pres">
      <dgm:prSet presAssocID="{8F4F4C1B-4226-4D18-BC4B-0C4435F549CC}" presName="sibTrans" presStyleLbl="sibTrans2D1" presStyleIdx="0" presStyleCnt="0"/>
      <dgm:spPr/>
    </dgm:pt>
    <dgm:pt modelId="{457EB29E-6504-4852-9428-8CDE6E4BCB35}" type="pres">
      <dgm:prSet presAssocID="{616A2B4B-D839-475A-811E-5E872DEBCA32}" presName="compNode" presStyleCnt="0"/>
      <dgm:spPr/>
    </dgm:pt>
    <dgm:pt modelId="{9E92E27E-0C8C-4512-B340-3618B4E0E246}" type="pres">
      <dgm:prSet presAssocID="{616A2B4B-D839-475A-811E-5E872DEBCA32}" presName="iconBgRect" presStyleLbl="bgShp" presStyleIdx="1" presStyleCnt="4"/>
      <dgm:spPr/>
    </dgm:pt>
    <dgm:pt modelId="{7EFE8A03-046E-4D35-980C-9656FD79AD04}" type="pres">
      <dgm:prSet presAssocID="{616A2B4B-D839-475A-811E-5E872DEBCA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D60FC693-E8D6-4135-8167-601F62A47B73}" type="pres">
      <dgm:prSet presAssocID="{616A2B4B-D839-475A-811E-5E872DEBCA32}" presName="spaceRect" presStyleCnt="0"/>
      <dgm:spPr/>
    </dgm:pt>
    <dgm:pt modelId="{59EFF935-2B3F-4FC6-890F-999C51580F55}" type="pres">
      <dgm:prSet presAssocID="{616A2B4B-D839-475A-811E-5E872DEBCA32}" presName="textRect" presStyleLbl="revTx" presStyleIdx="1" presStyleCnt="4">
        <dgm:presLayoutVars>
          <dgm:chMax val="1"/>
          <dgm:chPref val="1"/>
        </dgm:presLayoutVars>
      </dgm:prSet>
      <dgm:spPr/>
    </dgm:pt>
    <dgm:pt modelId="{02C5C06C-B93D-4184-9534-D06DB076F513}" type="pres">
      <dgm:prSet presAssocID="{13024613-FECE-4857-8A9B-904874E74F10}" presName="sibTrans" presStyleLbl="sibTrans2D1" presStyleIdx="0" presStyleCnt="0"/>
      <dgm:spPr/>
    </dgm:pt>
    <dgm:pt modelId="{E19FE0A2-BA10-48CB-BABF-4022B992474C}" type="pres">
      <dgm:prSet presAssocID="{A5679C5B-3D11-4F16-9E13-8A23127C7B9D}" presName="compNode" presStyleCnt="0"/>
      <dgm:spPr/>
    </dgm:pt>
    <dgm:pt modelId="{E78DA679-332D-476A-8B31-BCD8235A9366}" type="pres">
      <dgm:prSet presAssocID="{A5679C5B-3D11-4F16-9E13-8A23127C7B9D}" presName="iconBgRect" presStyleLbl="bgShp" presStyleIdx="2" presStyleCnt="4"/>
      <dgm:spPr/>
    </dgm:pt>
    <dgm:pt modelId="{548E3EBC-B028-45B8-B9B3-3D376E030019}" type="pres">
      <dgm:prSet presAssocID="{A5679C5B-3D11-4F16-9E13-8A23127C7B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FAC97C16-8FBB-4678-976C-7510C6F65DF8}" type="pres">
      <dgm:prSet presAssocID="{A5679C5B-3D11-4F16-9E13-8A23127C7B9D}" presName="spaceRect" presStyleCnt="0"/>
      <dgm:spPr/>
    </dgm:pt>
    <dgm:pt modelId="{A1B77C81-0DE1-4FAA-8248-2167E56AA81A}" type="pres">
      <dgm:prSet presAssocID="{A5679C5B-3D11-4F16-9E13-8A23127C7B9D}" presName="textRect" presStyleLbl="revTx" presStyleIdx="2" presStyleCnt="4">
        <dgm:presLayoutVars>
          <dgm:chMax val="1"/>
          <dgm:chPref val="1"/>
        </dgm:presLayoutVars>
      </dgm:prSet>
      <dgm:spPr/>
    </dgm:pt>
    <dgm:pt modelId="{BEE6118F-A6BC-4543-8D4C-30E3C57F7325}" type="pres">
      <dgm:prSet presAssocID="{58C4D039-8725-4891-AD19-2C02677F86A2}" presName="sibTrans" presStyleLbl="sibTrans2D1" presStyleIdx="0" presStyleCnt="0"/>
      <dgm:spPr/>
    </dgm:pt>
    <dgm:pt modelId="{47A4EC6F-9809-4F1D-96F4-77159495CDA9}" type="pres">
      <dgm:prSet presAssocID="{F3788F18-3A5F-428C-A1E4-EC1EF46F989F}" presName="compNode" presStyleCnt="0"/>
      <dgm:spPr/>
    </dgm:pt>
    <dgm:pt modelId="{1AF5104F-3ACB-410D-9FDA-CDBF1A4D4A3D}" type="pres">
      <dgm:prSet presAssocID="{F3788F18-3A5F-428C-A1E4-EC1EF46F989F}" presName="iconBgRect" presStyleLbl="bgShp" presStyleIdx="3" presStyleCnt="4"/>
      <dgm:spPr/>
    </dgm:pt>
    <dgm:pt modelId="{B401A367-2683-404D-8A18-A92D329ECFE8}" type="pres">
      <dgm:prSet presAssocID="{F3788F18-3A5F-428C-A1E4-EC1EF46F989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CB90DFC5-EA71-4C79-8B77-C5A66D24F186}" type="pres">
      <dgm:prSet presAssocID="{F3788F18-3A5F-428C-A1E4-EC1EF46F989F}" presName="spaceRect" presStyleCnt="0"/>
      <dgm:spPr/>
    </dgm:pt>
    <dgm:pt modelId="{B71B5749-5621-4A2C-AFB5-C973CCF42867}" type="pres">
      <dgm:prSet presAssocID="{F3788F18-3A5F-428C-A1E4-EC1EF46F989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03E6E27-0BE0-4F4F-BB1E-24DB5E69283B}" type="presOf" srcId="{A5679C5B-3D11-4F16-9E13-8A23127C7B9D}" destId="{A1B77C81-0DE1-4FAA-8248-2167E56AA81A}" srcOrd="0" destOrd="0" presId="urn:microsoft.com/office/officeart/2018/2/layout/IconCircleList"/>
    <dgm:cxn modelId="{E4EFE42C-8946-4996-B082-739B04F48F76}" type="presOf" srcId="{F3788F18-3A5F-428C-A1E4-EC1EF46F989F}" destId="{B71B5749-5621-4A2C-AFB5-C973CCF42867}" srcOrd="0" destOrd="0" presId="urn:microsoft.com/office/officeart/2018/2/layout/IconCircleList"/>
    <dgm:cxn modelId="{0BB23331-1749-4CD3-B527-09054971D5A7}" type="presOf" srcId="{DD5A34D9-4DB0-4492-B934-66CE283C8C8E}" destId="{028113AA-181E-42D7-AB4C-9A3F6AE7BED2}" srcOrd="0" destOrd="0" presId="urn:microsoft.com/office/officeart/2018/2/layout/IconCircleList"/>
    <dgm:cxn modelId="{39BAC73D-FD42-4A35-9951-BEA242B597D2}" type="presOf" srcId="{13024613-FECE-4857-8A9B-904874E74F10}" destId="{02C5C06C-B93D-4184-9534-D06DB076F513}" srcOrd="0" destOrd="0" presId="urn:microsoft.com/office/officeart/2018/2/layout/IconCircleList"/>
    <dgm:cxn modelId="{156E2857-28C9-4244-8A3A-DD4AA371F441}" srcId="{DD5A34D9-4DB0-4492-B934-66CE283C8C8E}" destId="{C14AE8FA-5FB2-48C0-8499-4A140C097E41}" srcOrd="0" destOrd="0" parTransId="{7473E328-C71F-4CCD-9E58-C32051F43C8E}" sibTransId="{8F4F4C1B-4226-4D18-BC4B-0C4435F549CC}"/>
    <dgm:cxn modelId="{43B6FD7D-81D0-4310-A416-83D1AE6B5F0F}" srcId="{DD5A34D9-4DB0-4492-B934-66CE283C8C8E}" destId="{616A2B4B-D839-475A-811E-5E872DEBCA32}" srcOrd="1" destOrd="0" parTransId="{6C725DC8-AB84-426C-80CD-F43A94E19A40}" sibTransId="{13024613-FECE-4857-8A9B-904874E74F10}"/>
    <dgm:cxn modelId="{52134385-5A41-477B-A6F6-868A18EE7155}" srcId="{DD5A34D9-4DB0-4492-B934-66CE283C8C8E}" destId="{F3788F18-3A5F-428C-A1E4-EC1EF46F989F}" srcOrd="3" destOrd="0" parTransId="{EBF5958D-3CCC-4D0D-AAF6-A229BE54F1B5}" sibTransId="{2274F203-5B01-45A0-8213-7374BD9CC257}"/>
    <dgm:cxn modelId="{D6CFD1BF-78D8-44F2-879E-3DCDE3C06C7B}" type="presOf" srcId="{58C4D039-8725-4891-AD19-2C02677F86A2}" destId="{BEE6118F-A6BC-4543-8D4C-30E3C57F7325}" srcOrd="0" destOrd="0" presId="urn:microsoft.com/office/officeart/2018/2/layout/IconCircleList"/>
    <dgm:cxn modelId="{908C09C5-5771-41F0-AE1D-497D8C502741}" type="presOf" srcId="{8F4F4C1B-4226-4D18-BC4B-0C4435F549CC}" destId="{253DA90B-D6CC-4DB0-ACFF-94D5AD69A3A6}" srcOrd="0" destOrd="0" presId="urn:microsoft.com/office/officeart/2018/2/layout/IconCircleList"/>
    <dgm:cxn modelId="{605C6ACD-FC1A-49D7-9105-1259C4816BEC}" srcId="{DD5A34D9-4DB0-4492-B934-66CE283C8C8E}" destId="{A5679C5B-3D11-4F16-9E13-8A23127C7B9D}" srcOrd="2" destOrd="0" parTransId="{68D3608E-AE93-4087-A091-DCE2ABFDCCEC}" sibTransId="{58C4D039-8725-4891-AD19-2C02677F86A2}"/>
    <dgm:cxn modelId="{FB689CD3-942F-4D03-A7F0-6B0E5B51B768}" type="presOf" srcId="{616A2B4B-D839-475A-811E-5E872DEBCA32}" destId="{59EFF935-2B3F-4FC6-890F-999C51580F55}" srcOrd="0" destOrd="0" presId="urn:microsoft.com/office/officeart/2018/2/layout/IconCircleList"/>
    <dgm:cxn modelId="{15869AFF-1F08-4FB4-861D-270B6F61EB38}" type="presOf" srcId="{C14AE8FA-5FB2-48C0-8499-4A140C097E41}" destId="{FCB13FF7-F37F-4130-B1EF-B2E145088D92}" srcOrd="0" destOrd="0" presId="urn:microsoft.com/office/officeart/2018/2/layout/IconCircleList"/>
    <dgm:cxn modelId="{4DC81CFB-C1B1-4D76-BB8C-48F36D919950}" type="presParOf" srcId="{028113AA-181E-42D7-AB4C-9A3F6AE7BED2}" destId="{99346189-EBF7-43F2-A2CD-D5CF7E1B72ED}" srcOrd="0" destOrd="0" presId="urn:microsoft.com/office/officeart/2018/2/layout/IconCircleList"/>
    <dgm:cxn modelId="{AE2CD02B-8F6D-4F1F-A3C1-8ADC0F3797B9}" type="presParOf" srcId="{99346189-EBF7-43F2-A2CD-D5CF7E1B72ED}" destId="{BAADCE64-CD99-4EB1-8832-B9A427264EB7}" srcOrd="0" destOrd="0" presId="urn:microsoft.com/office/officeart/2018/2/layout/IconCircleList"/>
    <dgm:cxn modelId="{6912CA1C-3FA1-4B2B-B16E-42EC11B5356E}" type="presParOf" srcId="{BAADCE64-CD99-4EB1-8832-B9A427264EB7}" destId="{D042E11E-712C-4243-B42F-678EB94A78FF}" srcOrd="0" destOrd="0" presId="urn:microsoft.com/office/officeart/2018/2/layout/IconCircleList"/>
    <dgm:cxn modelId="{694ECFDA-F074-4A5A-9516-6DA535C27124}" type="presParOf" srcId="{BAADCE64-CD99-4EB1-8832-B9A427264EB7}" destId="{46E6E530-5B83-461B-B300-7F3D31D04790}" srcOrd="1" destOrd="0" presId="urn:microsoft.com/office/officeart/2018/2/layout/IconCircleList"/>
    <dgm:cxn modelId="{D8DC382C-DC75-409E-8B3A-119E83C98992}" type="presParOf" srcId="{BAADCE64-CD99-4EB1-8832-B9A427264EB7}" destId="{33194D37-D0A2-419C-AD1D-D5F2C3C20BC4}" srcOrd="2" destOrd="0" presId="urn:microsoft.com/office/officeart/2018/2/layout/IconCircleList"/>
    <dgm:cxn modelId="{D7096986-49C0-49B7-946D-0D14A532FF2E}" type="presParOf" srcId="{BAADCE64-CD99-4EB1-8832-B9A427264EB7}" destId="{FCB13FF7-F37F-4130-B1EF-B2E145088D92}" srcOrd="3" destOrd="0" presId="urn:microsoft.com/office/officeart/2018/2/layout/IconCircleList"/>
    <dgm:cxn modelId="{693945D0-E3CA-4A40-99EF-9C4E49B4CDDD}" type="presParOf" srcId="{99346189-EBF7-43F2-A2CD-D5CF7E1B72ED}" destId="{253DA90B-D6CC-4DB0-ACFF-94D5AD69A3A6}" srcOrd="1" destOrd="0" presId="urn:microsoft.com/office/officeart/2018/2/layout/IconCircleList"/>
    <dgm:cxn modelId="{C86174A1-6321-4708-B082-7E9926A22083}" type="presParOf" srcId="{99346189-EBF7-43F2-A2CD-D5CF7E1B72ED}" destId="{457EB29E-6504-4852-9428-8CDE6E4BCB35}" srcOrd="2" destOrd="0" presId="urn:microsoft.com/office/officeart/2018/2/layout/IconCircleList"/>
    <dgm:cxn modelId="{F6EC98A5-083F-421C-AD55-63E132DCEEFF}" type="presParOf" srcId="{457EB29E-6504-4852-9428-8CDE6E4BCB35}" destId="{9E92E27E-0C8C-4512-B340-3618B4E0E246}" srcOrd="0" destOrd="0" presId="urn:microsoft.com/office/officeart/2018/2/layout/IconCircleList"/>
    <dgm:cxn modelId="{F1DA3792-620C-4C76-9BAB-2C7AD79F384C}" type="presParOf" srcId="{457EB29E-6504-4852-9428-8CDE6E4BCB35}" destId="{7EFE8A03-046E-4D35-980C-9656FD79AD04}" srcOrd="1" destOrd="0" presId="urn:microsoft.com/office/officeart/2018/2/layout/IconCircleList"/>
    <dgm:cxn modelId="{0BDC8C3F-759E-453E-9817-957D5E4577AB}" type="presParOf" srcId="{457EB29E-6504-4852-9428-8CDE6E4BCB35}" destId="{D60FC693-E8D6-4135-8167-601F62A47B73}" srcOrd="2" destOrd="0" presId="urn:microsoft.com/office/officeart/2018/2/layout/IconCircleList"/>
    <dgm:cxn modelId="{E14064D0-9B82-4A88-8177-B57351E2C397}" type="presParOf" srcId="{457EB29E-6504-4852-9428-8CDE6E4BCB35}" destId="{59EFF935-2B3F-4FC6-890F-999C51580F55}" srcOrd="3" destOrd="0" presId="urn:microsoft.com/office/officeart/2018/2/layout/IconCircleList"/>
    <dgm:cxn modelId="{C9A5570E-829A-4B0C-AD8C-5798BD5E713F}" type="presParOf" srcId="{99346189-EBF7-43F2-A2CD-D5CF7E1B72ED}" destId="{02C5C06C-B93D-4184-9534-D06DB076F513}" srcOrd="3" destOrd="0" presId="urn:microsoft.com/office/officeart/2018/2/layout/IconCircleList"/>
    <dgm:cxn modelId="{8F912FBF-8E0F-4FE7-B51C-6DE2D9B2E6C8}" type="presParOf" srcId="{99346189-EBF7-43F2-A2CD-D5CF7E1B72ED}" destId="{E19FE0A2-BA10-48CB-BABF-4022B992474C}" srcOrd="4" destOrd="0" presId="urn:microsoft.com/office/officeart/2018/2/layout/IconCircleList"/>
    <dgm:cxn modelId="{B92E4A95-7529-4E8F-9299-4EB9A8B8A32B}" type="presParOf" srcId="{E19FE0A2-BA10-48CB-BABF-4022B992474C}" destId="{E78DA679-332D-476A-8B31-BCD8235A9366}" srcOrd="0" destOrd="0" presId="urn:microsoft.com/office/officeart/2018/2/layout/IconCircleList"/>
    <dgm:cxn modelId="{40CD625D-DFFC-4E80-8BC8-0CE6D9B9F4A3}" type="presParOf" srcId="{E19FE0A2-BA10-48CB-BABF-4022B992474C}" destId="{548E3EBC-B028-45B8-B9B3-3D376E030019}" srcOrd="1" destOrd="0" presId="urn:microsoft.com/office/officeart/2018/2/layout/IconCircleList"/>
    <dgm:cxn modelId="{52667002-04A0-488B-A08A-4D33365BA2D3}" type="presParOf" srcId="{E19FE0A2-BA10-48CB-BABF-4022B992474C}" destId="{FAC97C16-8FBB-4678-976C-7510C6F65DF8}" srcOrd="2" destOrd="0" presId="urn:microsoft.com/office/officeart/2018/2/layout/IconCircleList"/>
    <dgm:cxn modelId="{065FFBF9-95D2-4074-AE37-80D5719D1047}" type="presParOf" srcId="{E19FE0A2-BA10-48CB-BABF-4022B992474C}" destId="{A1B77C81-0DE1-4FAA-8248-2167E56AA81A}" srcOrd="3" destOrd="0" presId="urn:microsoft.com/office/officeart/2018/2/layout/IconCircleList"/>
    <dgm:cxn modelId="{A70BF92A-CA15-4AA7-B729-59F8D3C23C11}" type="presParOf" srcId="{99346189-EBF7-43F2-A2CD-D5CF7E1B72ED}" destId="{BEE6118F-A6BC-4543-8D4C-30E3C57F7325}" srcOrd="5" destOrd="0" presId="urn:microsoft.com/office/officeart/2018/2/layout/IconCircleList"/>
    <dgm:cxn modelId="{C52ACFF6-ED94-4558-96C7-6F05431A7892}" type="presParOf" srcId="{99346189-EBF7-43F2-A2CD-D5CF7E1B72ED}" destId="{47A4EC6F-9809-4F1D-96F4-77159495CDA9}" srcOrd="6" destOrd="0" presId="urn:microsoft.com/office/officeart/2018/2/layout/IconCircleList"/>
    <dgm:cxn modelId="{8481A62E-D4B3-4E5B-BD5B-79A97084919C}" type="presParOf" srcId="{47A4EC6F-9809-4F1D-96F4-77159495CDA9}" destId="{1AF5104F-3ACB-410D-9FDA-CDBF1A4D4A3D}" srcOrd="0" destOrd="0" presId="urn:microsoft.com/office/officeart/2018/2/layout/IconCircleList"/>
    <dgm:cxn modelId="{67BA5471-205D-4C7E-A2A8-17DC7189D9DA}" type="presParOf" srcId="{47A4EC6F-9809-4F1D-96F4-77159495CDA9}" destId="{B401A367-2683-404D-8A18-A92D329ECFE8}" srcOrd="1" destOrd="0" presId="urn:microsoft.com/office/officeart/2018/2/layout/IconCircleList"/>
    <dgm:cxn modelId="{552064A9-6651-40CF-8D3C-6BF6C15146BD}" type="presParOf" srcId="{47A4EC6F-9809-4F1D-96F4-77159495CDA9}" destId="{CB90DFC5-EA71-4C79-8B77-C5A66D24F186}" srcOrd="2" destOrd="0" presId="urn:microsoft.com/office/officeart/2018/2/layout/IconCircleList"/>
    <dgm:cxn modelId="{A49556BD-C5ED-4EC8-AC3A-12432136C671}" type="presParOf" srcId="{47A4EC6F-9809-4F1D-96F4-77159495CDA9}" destId="{B71B5749-5621-4A2C-AFB5-C973CCF4286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DFDA32-57D2-4756-B93B-D6AD6055918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C64BD2-2C5A-4D9C-86E4-FE52336ADBB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5º Paso </a:t>
          </a:r>
        </a:p>
        <a:p>
          <a:pPr>
            <a:lnSpc>
              <a:spcPct val="100000"/>
            </a:lnSpc>
          </a:pPr>
          <a:r>
            <a:rPr lang="es-ES" dirty="0"/>
            <a:t>Actualización del cronograma.</a:t>
          </a:r>
          <a:endParaRPr lang="en-US" dirty="0"/>
        </a:p>
      </dgm:t>
    </dgm:pt>
    <dgm:pt modelId="{DEE15F13-6F1E-42BE-B5A7-AC49C0E4B9A9}" type="parTrans" cxnId="{D474C2B5-0E0D-4586-AA77-0EF44D5E4E9B}">
      <dgm:prSet/>
      <dgm:spPr/>
      <dgm:t>
        <a:bodyPr/>
        <a:lstStyle/>
        <a:p>
          <a:endParaRPr lang="en-US"/>
        </a:p>
      </dgm:t>
    </dgm:pt>
    <dgm:pt modelId="{7D15B170-71CB-46A5-A831-15DC65F74B59}" type="sibTrans" cxnId="{D474C2B5-0E0D-4586-AA77-0EF44D5E4E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D2C634-B23D-41D3-AD80-D33686DBFA2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6º Paso</a:t>
          </a:r>
        </a:p>
        <a:p>
          <a:pPr>
            <a:lnSpc>
              <a:spcPct val="100000"/>
            </a:lnSpc>
          </a:pPr>
          <a:r>
            <a:rPr lang="es-ES" dirty="0"/>
            <a:t>Validar el camino crítico del programa. </a:t>
          </a:r>
          <a:endParaRPr lang="en-US" dirty="0"/>
        </a:p>
      </dgm:t>
    </dgm:pt>
    <dgm:pt modelId="{54BB0410-8E29-4874-B8FD-32D5D1E3AECA}" type="parTrans" cxnId="{C83641C5-2798-4C15-B304-6C5221C2388E}">
      <dgm:prSet/>
      <dgm:spPr/>
      <dgm:t>
        <a:bodyPr/>
        <a:lstStyle/>
        <a:p>
          <a:endParaRPr lang="en-US"/>
        </a:p>
      </dgm:t>
    </dgm:pt>
    <dgm:pt modelId="{5B965C37-F630-4B6E-9076-D1D3523F24A4}" type="sibTrans" cxnId="{C83641C5-2798-4C15-B304-6C5221C238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49769B-E860-4532-9279-A4B1A7691C9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7º Paso</a:t>
          </a:r>
        </a:p>
        <a:p>
          <a:pPr>
            <a:lnSpc>
              <a:spcPct val="100000"/>
            </a:lnSpc>
          </a:pPr>
          <a:r>
            <a:rPr lang="es-ES" dirty="0"/>
            <a:t>Análisis de consistencia. </a:t>
          </a:r>
          <a:endParaRPr lang="en-US" dirty="0"/>
        </a:p>
      </dgm:t>
    </dgm:pt>
    <dgm:pt modelId="{3B56D390-A5EE-4A84-82AC-0B369C116418}" type="parTrans" cxnId="{65DD1139-A8B2-4E1E-BDCA-CE3E906F7D90}">
      <dgm:prSet/>
      <dgm:spPr/>
      <dgm:t>
        <a:bodyPr/>
        <a:lstStyle/>
        <a:p>
          <a:endParaRPr lang="en-US"/>
        </a:p>
      </dgm:t>
    </dgm:pt>
    <dgm:pt modelId="{1B19326A-BC3B-45C0-9061-1085B39E1CD6}" type="sibTrans" cxnId="{65DD1139-A8B2-4E1E-BDCA-CE3E906F7D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B19388C-657E-4BDC-B698-5C401C654775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8º Paso</a:t>
          </a:r>
        </a:p>
        <a:p>
          <a:pPr>
            <a:lnSpc>
              <a:spcPct val="100000"/>
            </a:lnSpc>
          </a:pPr>
          <a:r>
            <a:rPr lang="es-ES" dirty="0"/>
            <a:t>Elaboración de informes de gestión del cronograma.</a:t>
          </a:r>
          <a:endParaRPr lang="en-US" dirty="0"/>
        </a:p>
      </dgm:t>
    </dgm:pt>
    <dgm:pt modelId="{5F2AADFE-251F-479C-A789-158418715696}" type="parTrans" cxnId="{4C94452B-1206-4CA7-8130-51A2D48368AB}">
      <dgm:prSet/>
      <dgm:spPr/>
      <dgm:t>
        <a:bodyPr/>
        <a:lstStyle/>
        <a:p>
          <a:endParaRPr lang="en-US"/>
        </a:p>
      </dgm:t>
    </dgm:pt>
    <dgm:pt modelId="{33AEA214-5564-4569-A3D2-82EE8E8C64CF}" type="sibTrans" cxnId="{4C94452B-1206-4CA7-8130-51A2D48368AB}">
      <dgm:prSet/>
      <dgm:spPr/>
      <dgm:t>
        <a:bodyPr/>
        <a:lstStyle/>
        <a:p>
          <a:endParaRPr lang="en-US"/>
        </a:p>
      </dgm:t>
    </dgm:pt>
    <dgm:pt modelId="{0EA112C5-687A-48D8-A52C-DA1E9DCBA9DE}" type="pres">
      <dgm:prSet presAssocID="{31DFDA32-57D2-4756-B93B-D6AD60559185}" presName="root" presStyleCnt="0">
        <dgm:presLayoutVars>
          <dgm:dir/>
          <dgm:resizeHandles val="exact"/>
        </dgm:presLayoutVars>
      </dgm:prSet>
      <dgm:spPr/>
    </dgm:pt>
    <dgm:pt modelId="{1AEB3238-742B-4E3E-B712-7E33A281E22E}" type="pres">
      <dgm:prSet presAssocID="{31DFDA32-57D2-4756-B93B-D6AD60559185}" presName="container" presStyleCnt="0">
        <dgm:presLayoutVars>
          <dgm:dir/>
          <dgm:resizeHandles val="exact"/>
        </dgm:presLayoutVars>
      </dgm:prSet>
      <dgm:spPr/>
    </dgm:pt>
    <dgm:pt modelId="{0D36E81F-9799-456D-B287-7A1F1A43FC32}" type="pres">
      <dgm:prSet presAssocID="{F6C64BD2-2C5A-4D9C-86E4-FE52336ADBB3}" presName="compNode" presStyleCnt="0"/>
      <dgm:spPr/>
    </dgm:pt>
    <dgm:pt modelId="{914787C7-9EC5-4CDF-841B-A8141B3A7C55}" type="pres">
      <dgm:prSet presAssocID="{F6C64BD2-2C5A-4D9C-86E4-FE52336ADBB3}" presName="iconBgRect" presStyleLbl="bgShp" presStyleIdx="0" presStyleCnt="4"/>
      <dgm:spPr/>
    </dgm:pt>
    <dgm:pt modelId="{B980C8EF-F5F2-4118-AA68-40DDC578E117}" type="pres">
      <dgm:prSet presAssocID="{F6C64BD2-2C5A-4D9C-86E4-FE52336ADB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cket and shovel"/>
        </a:ext>
      </dgm:extLst>
    </dgm:pt>
    <dgm:pt modelId="{157DF981-9D79-42BA-80D0-A10DA44CA93A}" type="pres">
      <dgm:prSet presAssocID="{F6C64BD2-2C5A-4D9C-86E4-FE52336ADBB3}" presName="spaceRect" presStyleCnt="0"/>
      <dgm:spPr/>
    </dgm:pt>
    <dgm:pt modelId="{F5D78355-C727-44B0-869A-DE6B40FC4C9B}" type="pres">
      <dgm:prSet presAssocID="{F6C64BD2-2C5A-4D9C-86E4-FE52336ADBB3}" presName="textRect" presStyleLbl="revTx" presStyleIdx="0" presStyleCnt="4">
        <dgm:presLayoutVars>
          <dgm:chMax val="1"/>
          <dgm:chPref val="1"/>
        </dgm:presLayoutVars>
      </dgm:prSet>
      <dgm:spPr/>
    </dgm:pt>
    <dgm:pt modelId="{F9E4E5CC-F7EF-47BD-98DE-833CE1EF6A30}" type="pres">
      <dgm:prSet presAssocID="{7D15B170-71CB-46A5-A831-15DC65F74B59}" presName="sibTrans" presStyleLbl="sibTrans2D1" presStyleIdx="0" presStyleCnt="0"/>
      <dgm:spPr/>
    </dgm:pt>
    <dgm:pt modelId="{C8C0FBF1-7D5E-42BF-8400-5E5E7804ADFA}" type="pres">
      <dgm:prSet presAssocID="{5AD2C634-B23D-41D3-AD80-D33686DBFA2D}" presName="compNode" presStyleCnt="0"/>
      <dgm:spPr/>
    </dgm:pt>
    <dgm:pt modelId="{E99FAFC8-9470-462E-B6FE-BA1150A35D93}" type="pres">
      <dgm:prSet presAssocID="{5AD2C634-B23D-41D3-AD80-D33686DBFA2D}" presName="iconBgRect" presStyleLbl="bgShp" presStyleIdx="1" presStyleCnt="4"/>
      <dgm:spPr/>
    </dgm:pt>
    <dgm:pt modelId="{ADA45034-5EB1-4ECA-BBFD-93BF34FC5B81}" type="pres">
      <dgm:prSet presAssocID="{5AD2C634-B23D-41D3-AD80-D33686DBFA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F0064388-4249-4AA2-86CE-FAE11FF03E05}" type="pres">
      <dgm:prSet presAssocID="{5AD2C634-B23D-41D3-AD80-D33686DBFA2D}" presName="spaceRect" presStyleCnt="0"/>
      <dgm:spPr/>
    </dgm:pt>
    <dgm:pt modelId="{4D11F23A-8325-492C-9911-1AEA1BD0693E}" type="pres">
      <dgm:prSet presAssocID="{5AD2C634-B23D-41D3-AD80-D33686DBFA2D}" presName="textRect" presStyleLbl="revTx" presStyleIdx="1" presStyleCnt="4">
        <dgm:presLayoutVars>
          <dgm:chMax val="1"/>
          <dgm:chPref val="1"/>
        </dgm:presLayoutVars>
      </dgm:prSet>
      <dgm:spPr/>
    </dgm:pt>
    <dgm:pt modelId="{88233C2B-999F-48E1-8DB2-53E697F70041}" type="pres">
      <dgm:prSet presAssocID="{5B965C37-F630-4B6E-9076-D1D3523F24A4}" presName="sibTrans" presStyleLbl="sibTrans2D1" presStyleIdx="0" presStyleCnt="0"/>
      <dgm:spPr/>
    </dgm:pt>
    <dgm:pt modelId="{59F3F807-1277-4C38-8445-2F93E2854ED8}" type="pres">
      <dgm:prSet presAssocID="{9849769B-E860-4532-9279-A4B1A7691C92}" presName="compNode" presStyleCnt="0"/>
      <dgm:spPr/>
    </dgm:pt>
    <dgm:pt modelId="{72608E37-DF36-4EEE-91AD-0A75F3B65288}" type="pres">
      <dgm:prSet presAssocID="{9849769B-E860-4532-9279-A4B1A7691C92}" presName="iconBgRect" presStyleLbl="bgShp" presStyleIdx="2" presStyleCnt="4"/>
      <dgm:spPr/>
    </dgm:pt>
    <dgm:pt modelId="{837813C9-15E2-49BE-9A39-6B29DD7804A7}" type="pres">
      <dgm:prSet presAssocID="{9849769B-E860-4532-9279-A4B1A7691C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picadura"/>
        </a:ext>
      </dgm:extLst>
    </dgm:pt>
    <dgm:pt modelId="{8DAF07F4-FB9F-4961-872C-8DE1D0E16968}" type="pres">
      <dgm:prSet presAssocID="{9849769B-E860-4532-9279-A4B1A7691C92}" presName="spaceRect" presStyleCnt="0"/>
      <dgm:spPr/>
    </dgm:pt>
    <dgm:pt modelId="{00051E52-2AAA-4938-ABB1-A14E7DF036C6}" type="pres">
      <dgm:prSet presAssocID="{9849769B-E860-4532-9279-A4B1A7691C92}" presName="textRect" presStyleLbl="revTx" presStyleIdx="2" presStyleCnt="4">
        <dgm:presLayoutVars>
          <dgm:chMax val="1"/>
          <dgm:chPref val="1"/>
        </dgm:presLayoutVars>
      </dgm:prSet>
      <dgm:spPr/>
    </dgm:pt>
    <dgm:pt modelId="{09F342C1-EB62-4483-8188-B34673878AF5}" type="pres">
      <dgm:prSet presAssocID="{1B19326A-BC3B-45C0-9061-1085B39E1CD6}" presName="sibTrans" presStyleLbl="sibTrans2D1" presStyleIdx="0" presStyleCnt="0"/>
      <dgm:spPr/>
    </dgm:pt>
    <dgm:pt modelId="{C9779A36-76B2-4282-950C-FBD0706DAFD1}" type="pres">
      <dgm:prSet presAssocID="{EB19388C-657E-4BDC-B698-5C401C654775}" presName="compNode" presStyleCnt="0"/>
      <dgm:spPr/>
    </dgm:pt>
    <dgm:pt modelId="{9881354F-B5F5-4384-B0F3-E72CCD8E5CF3}" type="pres">
      <dgm:prSet presAssocID="{EB19388C-657E-4BDC-B698-5C401C654775}" presName="iconBgRect" presStyleLbl="bgShp" presStyleIdx="3" presStyleCnt="4"/>
      <dgm:spPr/>
    </dgm:pt>
    <dgm:pt modelId="{8DCF766B-4205-4E4E-ACDF-D8F79BE85211}" type="pres">
      <dgm:prSet presAssocID="{EB19388C-657E-4BDC-B698-5C401C6547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C8CA4635-DBAB-456C-A486-20F0B50EDE01}" type="pres">
      <dgm:prSet presAssocID="{EB19388C-657E-4BDC-B698-5C401C654775}" presName="spaceRect" presStyleCnt="0"/>
      <dgm:spPr/>
    </dgm:pt>
    <dgm:pt modelId="{73B21F13-4567-4847-9ACC-EF6D4C8C5EB5}" type="pres">
      <dgm:prSet presAssocID="{EB19388C-657E-4BDC-B698-5C401C65477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679A19-B487-4A0C-9691-E1970BD9424C}" type="presOf" srcId="{EB19388C-657E-4BDC-B698-5C401C654775}" destId="{73B21F13-4567-4847-9ACC-EF6D4C8C5EB5}" srcOrd="0" destOrd="0" presId="urn:microsoft.com/office/officeart/2018/2/layout/IconCircleList"/>
    <dgm:cxn modelId="{4C94452B-1206-4CA7-8130-51A2D48368AB}" srcId="{31DFDA32-57D2-4756-B93B-D6AD60559185}" destId="{EB19388C-657E-4BDC-B698-5C401C654775}" srcOrd="3" destOrd="0" parTransId="{5F2AADFE-251F-479C-A789-158418715696}" sibTransId="{33AEA214-5564-4569-A3D2-82EE8E8C64CF}"/>
    <dgm:cxn modelId="{76912D2C-04BE-4555-A2EA-515FD4F1E352}" type="presOf" srcId="{5B965C37-F630-4B6E-9076-D1D3523F24A4}" destId="{88233C2B-999F-48E1-8DB2-53E697F70041}" srcOrd="0" destOrd="0" presId="urn:microsoft.com/office/officeart/2018/2/layout/IconCircleList"/>
    <dgm:cxn modelId="{65DD1139-A8B2-4E1E-BDCA-CE3E906F7D90}" srcId="{31DFDA32-57D2-4756-B93B-D6AD60559185}" destId="{9849769B-E860-4532-9279-A4B1A7691C92}" srcOrd="2" destOrd="0" parTransId="{3B56D390-A5EE-4A84-82AC-0B369C116418}" sibTransId="{1B19326A-BC3B-45C0-9061-1085B39E1CD6}"/>
    <dgm:cxn modelId="{7062A24B-6B85-4F21-8FAE-D5467CC1D59A}" type="presOf" srcId="{9849769B-E860-4532-9279-A4B1A7691C92}" destId="{00051E52-2AAA-4938-ABB1-A14E7DF036C6}" srcOrd="0" destOrd="0" presId="urn:microsoft.com/office/officeart/2018/2/layout/IconCircleList"/>
    <dgm:cxn modelId="{88ECF84B-721B-4A6C-842B-5F18F3BAF895}" type="presOf" srcId="{1B19326A-BC3B-45C0-9061-1085B39E1CD6}" destId="{09F342C1-EB62-4483-8188-B34673878AF5}" srcOrd="0" destOrd="0" presId="urn:microsoft.com/office/officeart/2018/2/layout/IconCircleList"/>
    <dgm:cxn modelId="{AA451770-E413-4A3F-85D4-C27B3250565D}" type="presOf" srcId="{31DFDA32-57D2-4756-B93B-D6AD60559185}" destId="{0EA112C5-687A-48D8-A52C-DA1E9DCBA9DE}" srcOrd="0" destOrd="0" presId="urn:microsoft.com/office/officeart/2018/2/layout/IconCircleList"/>
    <dgm:cxn modelId="{D46EE17A-FB97-4B4C-BE43-0FBEBF49C288}" type="presOf" srcId="{5AD2C634-B23D-41D3-AD80-D33686DBFA2D}" destId="{4D11F23A-8325-492C-9911-1AEA1BD0693E}" srcOrd="0" destOrd="0" presId="urn:microsoft.com/office/officeart/2018/2/layout/IconCircleList"/>
    <dgm:cxn modelId="{D474C2B5-0E0D-4586-AA77-0EF44D5E4E9B}" srcId="{31DFDA32-57D2-4756-B93B-D6AD60559185}" destId="{F6C64BD2-2C5A-4D9C-86E4-FE52336ADBB3}" srcOrd="0" destOrd="0" parTransId="{DEE15F13-6F1E-42BE-B5A7-AC49C0E4B9A9}" sibTransId="{7D15B170-71CB-46A5-A831-15DC65F74B59}"/>
    <dgm:cxn modelId="{C83641C5-2798-4C15-B304-6C5221C2388E}" srcId="{31DFDA32-57D2-4756-B93B-D6AD60559185}" destId="{5AD2C634-B23D-41D3-AD80-D33686DBFA2D}" srcOrd="1" destOrd="0" parTransId="{54BB0410-8E29-4874-B8FD-32D5D1E3AECA}" sibTransId="{5B965C37-F630-4B6E-9076-D1D3523F24A4}"/>
    <dgm:cxn modelId="{ACD5D2C7-9509-4A5E-8F56-6134E37F2881}" type="presOf" srcId="{F6C64BD2-2C5A-4D9C-86E4-FE52336ADBB3}" destId="{F5D78355-C727-44B0-869A-DE6B40FC4C9B}" srcOrd="0" destOrd="0" presId="urn:microsoft.com/office/officeart/2018/2/layout/IconCircleList"/>
    <dgm:cxn modelId="{28F482DE-000D-437A-8958-CCC6CBE445D0}" type="presOf" srcId="{7D15B170-71CB-46A5-A831-15DC65F74B59}" destId="{F9E4E5CC-F7EF-47BD-98DE-833CE1EF6A30}" srcOrd="0" destOrd="0" presId="urn:microsoft.com/office/officeart/2018/2/layout/IconCircleList"/>
    <dgm:cxn modelId="{0B476B7B-F613-493A-B8FA-384EF9DA5EA4}" type="presParOf" srcId="{0EA112C5-687A-48D8-A52C-DA1E9DCBA9DE}" destId="{1AEB3238-742B-4E3E-B712-7E33A281E22E}" srcOrd="0" destOrd="0" presId="urn:microsoft.com/office/officeart/2018/2/layout/IconCircleList"/>
    <dgm:cxn modelId="{80EAC198-452A-440A-8AA7-B7D57E96900F}" type="presParOf" srcId="{1AEB3238-742B-4E3E-B712-7E33A281E22E}" destId="{0D36E81F-9799-456D-B287-7A1F1A43FC32}" srcOrd="0" destOrd="0" presId="urn:microsoft.com/office/officeart/2018/2/layout/IconCircleList"/>
    <dgm:cxn modelId="{496F2BC6-AD16-4FCE-B0FD-BDFAE62A7FB5}" type="presParOf" srcId="{0D36E81F-9799-456D-B287-7A1F1A43FC32}" destId="{914787C7-9EC5-4CDF-841B-A8141B3A7C55}" srcOrd="0" destOrd="0" presId="urn:microsoft.com/office/officeart/2018/2/layout/IconCircleList"/>
    <dgm:cxn modelId="{B684C59D-B48D-4CD3-91DF-DDE0FA95E1CE}" type="presParOf" srcId="{0D36E81F-9799-456D-B287-7A1F1A43FC32}" destId="{B980C8EF-F5F2-4118-AA68-40DDC578E117}" srcOrd="1" destOrd="0" presId="urn:microsoft.com/office/officeart/2018/2/layout/IconCircleList"/>
    <dgm:cxn modelId="{E04C7B2E-1B2D-4093-BF21-1D64966952E7}" type="presParOf" srcId="{0D36E81F-9799-456D-B287-7A1F1A43FC32}" destId="{157DF981-9D79-42BA-80D0-A10DA44CA93A}" srcOrd="2" destOrd="0" presId="urn:microsoft.com/office/officeart/2018/2/layout/IconCircleList"/>
    <dgm:cxn modelId="{4223D667-D1EA-41B0-BDF8-7793E4130EE8}" type="presParOf" srcId="{0D36E81F-9799-456D-B287-7A1F1A43FC32}" destId="{F5D78355-C727-44B0-869A-DE6B40FC4C9B}" srcOrd="3" destOrd="0" presId="urn:microsoft.com/office/officeart/2018/2/layout/IconCircleList"/>
    <dgm:cxn modelId="{0605AC62-3F09-4EC0-891F-EE34689842D0}" type="presParOf" srcId="{1AEB3238-742B-4E3E-B712-7E33A281E22E}" destId="{F9E4E5CC-F7EF-47BD-98DE-833CE1EF6A30}" srcOrd="1" destOrd="0" presId="urn:microsoft.com/office/officeart/2018/2/layout/IconCircleList"/>
    <dgm:cxn modelId="{39224B79-AEB3-463F-BFD9-9BAEE73EC1D1}" type="presParOf" srcId="{1AEB3238-742B-4E3E-B712-7E33A281E22E}" destId="{C8C0FBF1-7D5E-42BF-8400-5E5E7804ADFA}" srcOrd="2" destOrd="0" presId="urn:microsoft.com/office/officeart/2018/2/layout/IconCircleList"/>
    <dgm:cxn modelId="{24493114-FA53-4D26-A0CA-2B8233440A55}" type="presParOf" srcId="{C8C0FBF1-7D5E-42BF-8400-5E5E7804ADFA}" destId="{E99FAFC8-9470-462E-B6FE-BA1150A35D93}" srcOrd="0" destOrd="0" presId="urn:microsoft.com/office/officeart/2018/2/layout/IconCircleList"/>
    <dgm:cxn modelId="{83B44850-FA92-4E85-9208-45899589527A}" type="presParOf" srcId="{C8C0FBF1-7D5E-42BF-8400-5E5E7804ADFA}" destId="{ADA45034-5EB1-4ECA-BBFD-93BF34FC5B81}" srcOrd="1" destOrd="0" presId="urn:microsoft.com/office/officeart/2018/2/layout/IconCircleList"/>
    <dgm:cxn modelId="{E342CD4D-3FDC-4711-90CF-17B356F1907D}" type="presParOf" srcId="{C8C0FBF1-7D5E-42BF-8400-5E5E7804ADFA}" destId="{F0064388-4249-4AA2-86CE-FAE11FF03E05}" srcOrd="2" destOrd="0" presId="urn:microsoft.com/office/officeart/2018/2/layout/IconCircleList"/>
    <dgm:cxn modelId="{876D4A57-0198-4107-9D5E-EC388B319AB4}" type="presParOf" srcId="{C8C0FBF1-7D5E-42BF-8400-5E5E7804ADFA}" destId="{4D11F23A-8325-492C-9911-1AEA1BD0693E}" srcOrd="3" destOrd="0" presId="urn:microsoft.com/office/officeart/2018/2/layout/IconCircleList"/>
    <dgm:cxn modelId="{DC8412EA-270D-4B3A-B54E-6DD057A97C94}" type="presParOf" srcId="{1AEB3238-742B-4E3E-B712-7E33A281E22E}" destId="{88233C2B-999F-48E1-8DB2-53E697F70041}" srcOrd="3" destOrd="0" presId="urn:microsoft.com/office/officeart/2018/2/layout/IconCircleList"/>
    <dgm:cxn modelId="{A6F77538-A2AE-424D-818C-5C1E3C92870D}" type="presParOf" srcId="{1AEB3238-742B-4E3E-B712-7E33A281E22E}" destId="{59F3F807-1277-4C38-8445-2F93E2854ED8}" srcOrd="4" destOrd="0" presId="urn:microsoft.com/office/officeart/2018/2/layout/IconCircleList"/>
    <dgm:cxn modelId="{027CF22B-4102-4566-9A79-2D9E5AC5030C}" type="presParOf" srcId="{59F3F807-1277-4C38-8445-2F93E2854ED8}" destId="{72608E37-DF36-4EEE-91AD-0A75F3B65288}" srcOrd="0" destOrd="0" presId="urn:microsoft.com/office/officeart/2018/2/layout/IconCircleList"/>
    <dgm:cxn modelId="{43FA68A4-2BC8-411E-80E9-4151D2DB7418}" type="presParOf" srcId="{59F3F807-1277-4C38-8445-2F93E2854ED8}" destId="{837813C9-15E2-49BE-9A39-6B29DD7804A7}" srcOrd="1" destOrd="0" presId="urn:microsoft.com/office/officeart/2018/2/layout/IconCircleList"/>
    <dgm:cxn modelId="{159CD831-E4AA-4862-916F-51AA819F3908}" type="presParOf" srcId="{59F3F807-1277-4C38-8445-2F93E2854ED8}" destId="{8DAF07F4-FB9F-4961-872C-8DE1D0E16968}" srcOrd="2" destOrd="0" presId="urn:microsoft.com/office/officeart/2018/2/layout/IconCircleList"/>
    <dgm:cxn modelId="{75EE01D8-FF07-4AF7-A58F-AD572A340610}" type="presParOf" srcId="{59F3F807-1277-4C38-8445-2F93E2854ED8}" destId="{00051E52-2AAA-4938-ABB1-A14E7DF036C6}" srcOrd="3" destOrd="0" presId="urn:microsoft.com/office/officeart/2018/2/layout/IconCircleList"/>
    <dgm:cxn modelId="{4438DB52-ED81-4EA0-837E-E2307043D7D3}" type="presParOf" srcId="{1AEB3238-742B-4E3E-B712-7E33A281E22E}" destId="{09F342C1-EB62-4483-8188-B34673878AF5}" srcOrd="5" destOrd="0" presId="urn:microsoft.com/office/officeart/2018/2/layout/IconCircleList"/>
    <dgm:cxn modelId="{15F5608B-E210-4BDC-859A-246C3F0C5F1B}" type="presParOf" srcId="{1AEB3238-742B-4E3E-B712-7E33A281E22E}" destId="{C9779A36-76B2-4282-950C-FBD0706DAFD1}" srcOrd="6" destOrd="0" presId="urn:microsoft.com/office/officeart/2018/2/layout/IconCircleList"/>
    <dgm:cxn modelId="{34A1CA1E-B73A-4DD7-8BE8-D83A7D4A4FE2}" type="presParOf" srcId="{C9779A36-76B2-4282-950C-FBD0706DAFD1}" destId="{9881354F-B5F5-4384-B0F3-E72CCD8E5CF3}" srcOrd="0" destOrd="0" presId="urn:microsoft.com/office/officeart/2018/2/layout/IconCircleList"/>
    <dgm:cxn modelId="{F3A9F3CD-1064-450B-B54A-EC052C81CF00}" type="presParOf" srcId="{C9779A36-76B2-4282-950C-FBD0706DAFD1}" destId="{8DCF766B-4205-4E4E-ACDF-D8F79BE85211}" srcOrd="1" destOrd="0" presId="urn:microsoft.com/office/officeart/2018/2/layout/IconCircleList"/>
    <dgm:cxn modelId="{E2ABE385-FBD5-4AAA-823C-BB1843AA3923}" type="presParOf" srcId="{C9779A36-76B2-4282-950C-FBD0706DAFD1}" destId="{C8CA4635-DBAB-456C-A486-20F0B50EDE01}" srcOrd="2" destOrd="0" presId="urn:microsoft.com/office/officeart/2018/2/layout/IconCircleList"/>
    <dgm:cxn modelId="{A50F6DDC-AACB-4A96-A819-A9369A920A9E}" type="presParOf" srcId="{C9779A36-76B2-4282-950C-FBD0706DAFD1}" destId="{73B21F13-4567-4847-9ACC-EF6D4C8C5EB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D5C26-188D-4CD7-A6EE-26B8E0C108E5}">
      <dsp:nvSpPr>
        <dsp:cNvPr id="0" name=""/>
        <dsp:cNvSpPr/>
      </dsp:nvSpPr>
      <dsp:spPr>
        <a:xfrm>
          <a:off x="218942" y="1148592"/>
          <a:ext cx="1339325" cy="13393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CACC774-C331-4595-8529-22972DF98ACE}">
      <dsp:nvSpPr>
        <dsp:cNvPr id="0" name=""/>
        <dsp:cNvSpPr/>
      </dsp:nvSpPr>
      <dsp:spPr>
        <a:xfrm>
          <a:off x="500200" y="1429851"/>
          <a:ext cx="776808" cy="77680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CD4C789-3176-488C-B513-18E5E5B872F1}">
      <dsp:nvSpPr>
        <dsp:cNvPr id="0" name=""/>
        <dsp:cNvSpPr/>
      </dsp:nvSpPr>
      <dsp:spPr>
        <a:xfrm>
          <a:off x="1845266" y="1148592"/>
          <a:ext cx="3156980" cy="1339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Se releva el avance físico del proyecto a cierta fecha y se lo compara con el avance previsto hasta esa fecha. </a:t>
          </a:r>
          <a:endParaRPr lang="en-US" sz="1700" kern="1200" dirty="0"/>
        </a:p>
      </dsp:txBody>
      <dsp:txXfrm>
        <a:off x="1845266" y="1148592"/>
        <a:ext cx="3156980" cy="1339325"/>
      </dsp:txXfrm>
    </dsp:sp>
    <dsp:sp modelId="{074CFE9B-5B3C-42CF-936F-DBDC94442381}">
      <dsp:nvSpPr>
        <dsp:cNvPr id="0" name=""/>
        <dsp:cNvSpPr/>
      </dsp:nvSpPr>
      <dsp:spPr>
        <a:xfrm>
          <a:off x="5552327" y="1148592"/>
          <a:ext cx="1339325" cy="13393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015217-5E74-4709-841F-253086624984}">
      <dsp:nvSpPr>
        <dsp:cNvPr id="0" name=""/>
        <dsp:cNvSpPr/>
      </dsp:nvSpPr>
      <dsp:spPr>
        <a:xfrm>
          <a:off x="5833585" y="1429851"/>
          <a:ext cx="776808" cy="776808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innerShdw blurRad="63500" dist="25400" dir="13500000">
            <a:srgbClr val="000000">
              <a:alpha val="7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F416EA-9EE7-4CAA-BF66-C8839FE308AC}">
      <dsp:nvSpPr>
        <dsp:cNvPr id="0" name=""/>
        <dsp:cNvSpPr/>
      </dsp:nvSpPr>
      <dsp:spPr>
        <a:xfrm>
          <a:off x="7178650" y="1148592"/>
          <a:ext cx="3156980" cy="1339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Se analiza la eficiencia del cronograma y se pactan nuevas fechas de finalización adoptando las medidas necesarias.</a:t>
          </a:r>
          <a:endParaRPr lang="en-US" sz="1700" kern="1200"/>
        </a:p>
      </dsp:txBody>
      <dsp:txXfrm>
        <a:off x="7178650" y="1148592"/>
        <a:ext cx="3156980" cy="13393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2E11E-712C-4243-B42F-678EB94A78FF}">
      <dsp:nvSpPr>
        <dsp:cNvPr id="0" name=""/>
        <dsp:cNvSpPr/>
      </dsp:nvSpPr>
      <dsp:spPr>
        <a:xfrm>
          <a:off x="218794" y="34739"/>
          <a:ext cx="1339248" cy="1339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6E530-5B83-461B-B300-7F3D31D04790}">
      <dsp:nvSpPr>
        <dsp:cNvPr id="0" name=""/>
        <dsp:cNvSpPr/>
      </dsp:nvSpPr>
      <dsp:spPr>
        <a:xfrm>
          <a:off x="500036" y="315982"/>
          <a:ext cx="776764" cy="7767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13FF7-F37F-4130-B1EF-B2E145088D92}">
      <dsp:nvSpPr>
        <dsp:cNvPr id="0" name=""/>
        <dsp:cNvSpPr/>
      </dsp:nvSpPr>
      <dsp:spPr>
        <a:xfrm>
          <a:off x="1845025" y="34739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1º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Medición de avance físico por paquete de trabajo.</a:t>
          </a:r>
          <a:endParaRPr lang="en-US" sz="1900" kern="1200" dirty="0"/>
        </a:p>
      </dsp:txBody>
      <dsp:txXfrm>
        <a:off x="1845025" y="34739"/>
        <a:ext cx="3156800" cy="1339248"/>
      </dsp:txXfrm>
    </dsp:sp>
    <dsp:sp modelId="{9E92E27E-0C8C-4512-B340-3618B4E0E246}">
      <dsp:nvSpPr>
        <dsp:cNvPr id="0" name=""/>
        <dsp:cNvSpPr/>
      </dsp:nvSpPr>
      <dsp:spPr>
        <a:xfrm>
          <a:off x="5551874" y="34739"/>
          <a:ext cx="1339248" cy="13392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E8A03-046E-4D35-980C-9656FD79AD04}">
      <dsp:nvSpPr>
        <dsp:cNvPr id="0" name=""/>
        <dsp:cNvSpPr/>
      </dsp:nvSpPr>
      <dsp:spPr>
        <a:xfrm>
          <a:off x="5833116" y="315982"/>
          <a:ext cx="776764" cy="7767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FF935-2B3F-4FC6-890F-999C51580F55}">
      <dsp:nvSpPr>
        <dsp:cNvPr id="0" name=""/>
        <dsp:cNvSpPr/>
      </dsp:nvSpPr>
      <dsp:spPr>
        <a:xfrm>
          <a:off x="7178104" y="34739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2º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Establecer un sistema que determine horas insumidas por paquete de trabajo.</a:t>
          </a:r>
          <a:endParaRPr lang="en-US" sz="1900" kern="1200" dirty="0"/>
        </a:p>
      </dsp:txBody>
      <dsp:txXfrm>
        <a:off x="7178104" y="34739"/>
        <a:ext cx="3156800" cy="1339248"/>
      </dsp:txXfrm>
    </dsp:sp>
    <dsp:sp modelId="{E78DA679-332D-476A-8B31-BCD8235A9366}">
      <dsp:nvSpPr>
        <dsp:cNvPr id="0" name=""/>
        <dsp:cNvSpPr/>
      </dsp:nvSpPr>
      <dsp:spPr>
        <a:xfrm>
          <a:off x="218794" y="1936827"/>
          <a:ext cx="1339248" cy="133924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E3EBC-B028-45B8-B9B3-3D376E030019}">
      <dsp:nvSpPr>
        <dsp:cNvPr id="0" name=""/>
        <dsp:cNvSpPr/>
      </dsp:nvSpPr>
      <dsp:spPr>
        <a:xfrm>
          <a:off x="500036" y="2218069"/>
          <a:ext cx="776764" cy="7767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77C81-0DE1-4FAA-8248-2167E56AA81A}">
      <dsp:nvSpPr>
        <dsp:cNvPr id="0" name=""/>
        <dsp:cNvSpPr/>
      </dsp:nvSpPr>
      <dsp:spPr>
        <a:xfrm>
          <a:off x="1845025" y="1936827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3º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Análisis de valor ganado. </a:t>
          </a:r>
          <a:endParaRPr lang="en-US" sz="1900" kern="1200" dirty="0"/>
        </a:p>
      </dsp:txBody>
      <dsp:txXfrm>
        <a:off x="1845025" y="1936827"/>
        <a:ext cx="3156800" cy="1339248"/>
      </dsp:txXfrm>
    </dsp:sp>
    <dsp:sp modelId="{1AF5104F-3ACB-410D-9FDA-CDBF1A4D4A3D}">
      <dsp:nvSpPr>
        <dsp:cNvPr id="0" name=""/>
        <dsp:cNvSpPr/>
      </dsp:nvSpPr>
      <dsp:spPr>
        <a:xfrm>
          <a:off x="5551874" y="1936827"/>
          <a:ext cx="1339248" cy="13392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1A367-2683-404D-8A18-A92D329ECFE8}">
      <dsp:nvSpPr>
        <dsp:cNvPr id="0" name=""/>
        <dsp:cNvSpPr/>
      </dsp:nvSpPr>
      <dsp:spPr>
        <a:xfrm>
          <a:off x="5833116" y="2218069"/>
          <a:ext cx="776764" cy="7767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B5749-5621-4A2C-AFB5-C973CCF42867}">
      <dsp:nvSpPr>
        <dsp:cNvPr id="0" name=""/>
        <dsp:cNvSpPr/>
      </dsp:nvSpPr>
      <dsp:spPr>
        <a:xfrm>
          <a:off x="7178104" y="1936827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4º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Estimación de la duración remanente.</a:t>
          </a:r>
          <a:endParaRPr lang="en-US" sz="1900" kern="1200" dirty="0"/>
        </a:p>
      </dsp:txBody>
      <dsp:txXfrm>
        <a:off x="7178104" y="1936827"/>
        <a:ext cx="3156800" cy="1339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787C7-9EC5-4CDF-841B-A8141B3A7C55}">
      <dsp:nvSpPr>
        <dsp:cNvPr id="0" name=""/>
        <dsp:cNvSpPr/>
      </dsp:nvSpPr>
      <dsp:spPr>
        <a:xfrm>
          <a:off x="218794" y="57118"/>
          <a:ext cx="1339248" cy="13392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0C8EF-F5F2-4118-AA68-40DDC578E117}">
      <dsp:nvSpPr>
        <dsp:cNvPr id="0" name=""/>
        <dsp:cNvSpPr/>
      </dsp:nvSpPr>
      <dsp:spPr>
        <a:xfrm>
          <a:off x="500036" y="338361"/>
          <a:ext cx="776764" cy="7767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78355-C727-44B0-869A-DE6B40FC4C9B}">
      <dsp:nvSpPr>
        <dsp:cNvPr id="0" name=""/>
        <dsp:cNvSpPr/>
      </dsp:nvSpPr>
      <dsp:spPr>
        <a:xfrm>
          <a:off x="1845025" y="57118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5º Paso 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Actualización del cronograma.</a:t>
          </a:r>
          <a:endParaRPr lang="en-US" sz="1900" kern="1200" dirty="0"/>
        </a:p>
      </dsp:txBody>
      <dsp:txXfrm>
        <a:off x="1845025" y="57118"/>
        <a:ext cx="3156800" cy="1339248"/>
      </dsp:txXfrm>
    </dsp:sp>
    <dsp:sp modelId="{E99FAFC8-9470-462E-B6FE-BA1150A35D93}">
      <dsp:nvSpPr>
        <dsp:cNvPr id="0" name=""/>
        <dsp:cNvSpPr/>
      </dsp:nvSpPr>
      <dsp:spPr>
        <a:xfrm>
          <a:off x="5551874" y="57118"/>
          <a:ext cx="1339248" cy="13392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45034-5EB1-4ECA-BBFD-93BF34FC5B81}">
      <dsp:nvSpPr>
        <dsp:cNvPr id="0" name=""/>
        <dsp:cNvSpPr/>
      </dsp:nvSpPr>
      <dsp:spPr>
        <a:xfrm>
          <a:off x="5833116" y="338361"/>
          <a:ext cx="776764" cy="7767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1F23A-8325-492C-9911-1AEA1BD0693E}">
      <dsp:nvSpPr>
        <dsp:cNvPr id="0" name=""/>
        <dsp:cNvSpPr/>
      </dsp:nvSpPr>
      <dsp:spPr>
        <a:xfrm>
          <a:off x="7178104" y="57118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6º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Validar el camino crítico del programa. </a:t>
          </a:r>
          <a:endParaRPr lang="en-US" sz="1900" kern="1200" dirty="0"/>
        </a:p>
      </dsp:txBody>
      <dsp:txXfrm>
        <a:off x="7178104" y="57118"/>
        <a:ext cx="3156800" cy="1339248"/>
      </dsp:txXfrm>
    </dsp:sp>
    <dsp:sp modelId="{72608E37-DF36-4EEE-91AD-0A75F3B65288}">
      <dsp:nvSpPr>
        <dsp:cNvPr id="0" name=""/>
        <dsp:cNvSpPr/>
      </dsp:nvSpPr>
      <dsp:spPr>
        <a:xfrm>
          <a:off x="218794" y="1968373"/>
          <a:ext cx="1339248" cy="133924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7813C9-15E2-49BE-9A39-6B29DD7804A7}">
      <dsp:nvSpPr>
        <dsp:cNvPr id="0" name=""/>
        <dsp:cNvSpPr/>
      </dsp:nvSpPr>
      <dsp:spPr>
        <a:xfrm>
          <a:off x="500036" y="2249615"/>
          <a:ext cx="776764" cy="7767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51E52-2AAA-4938-ABB1-A14E7DF036C6}">
      <dsp:nvSpPr>
        <dsp:cNvPr id="0" name=""/>
        <dsp:cNvSpPr/>
      </dsp:nvSpPr>
      <dsp:spPr>
        <a:xfrm>
          <a:off x="1845025" y="1968373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7º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Análisis de consistencia. </a:t>
          </a:r>
          <a:endParaRPr lang="en-US" sz="1900" kern="1200" dirty="0"/>
        </a:p>
      </dsp:txBody>
      <dsp:txXfrm>
        <a:off x="1845025" y="1968373"/>
        <a:ext cx="3156800" cy="1339248"/>
      </dsp:txXfrm>
    </dsp:sp>
    <dsp:sp modelId="{9881354F-B5F5-4384-B0F3-E72CCD8E5CF3}">
      <dsp:nvSpPr>
        <dsp:cNvPr id="0" name=""/>
        <dsp:cNvSpPr/>
      </dsp:nvSpPr>
      <dsp:spPr>
        <a:xfrm>
          <a:off x="5551874" y="1968373"/>
          <a:ext cx="1339248" cy="13392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F766B-4205-4E4E-ACDF-D8F79BE85211}">
      <dsp:nvSpPr>
        <dsp:cNvPr id="0" name=""/>
        <dsp:cNvSpPr/>
      </dsp:nvSpPr>
      <dsp:spPr>
        <a:xfrm>
          <a:off x="5833116" y="2249615"/>
          <a:ext cx="776764" cy="7767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21F13-4567-4847-9ACC-EF6D4C8C5EB5}">
      <dsp:nvSpPr>
        <dsp:cNvPr id="0" name=""/>
        <dsp:cNvSpPr/>
      </dsp:nvSpPr>
      <dsp:spPr>
        <a:xfrm>
          <a:off x="7178104" y="1968373"/>
          <a:ext cx="3156800" cy="133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8º Paso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Elaboración de informes de gestión del cronograma.</a:t>
          </a:r>
          <a:endParaRPr lang="en-US" sz="1900" kern="1200" dirty="0"/>
        </a:p>
      </dsp:txBody>
      <dsp:txXfrm>
        <a:off x="7178104" y="1968373"/>
        <a:ext cx="3156800" cy="1339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03-Nov-20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aspercan-asociacion-asperger-canarias.blogspot.mx/2012/02/taller-de-los-suenos-centro-de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jaf.com/como/blog-k2/item/5-importancia-etapa-planificacion-proyecto-investigacion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lose.es/apps/blog1/planificacion-de-proyectos-con-el-metodo-pert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F7CD7-3449-4818-A606-1D9F439B0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Planificación de proyecto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06D648-B78C-4ACE-A63B-7672C271E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03/09 - #CharlasCepsi - Planificación en proyectos de ingeniería</a:t>
            </a:r>
          </a:p>
        </p:txBody>
      </p:sp>
    </p:spTree>
    <p:extLst>
      <p:ext uri="{BB962C8B-B14F-4D97-AF65-F5344CB8AC3E}">
        <p14:creationId xmlns:p14="http://schemas.microsoft.com/office/powerpoint/2010/main" val="41977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>
            <a:extLst>
              <a:ext uri="{FF2B5EF4-FFF2-40B4-BE49-F238E27FC236}">
                <a16:creationId xmlns:a16="http://schemas.microsoft.com/office/drawing/2014/main" id="{A14CE2B0-0F0F-433D-8ED6-770921C9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CEEDF6-188E-4B30-B408-488A6587C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1827" b="6790"/>
          <a:stretch/>
        </p:blipFill>
        <p:spPr>
          <a:xfrm>
            <a:off x="20" y="1"/>
            <a:ext cx="12191980" cy="4902200"/>
          </a:xfrm>
          <a:prstGeom prst="rect">
            <a:avLst/>
          </a:prstGeom>
        </p:spPr>
      </p:pic>
      <p:sp>
        <p:nvSpPr>
          <p:cNvPr id="28" name="Freeform 6">
            <a:extLst>
              <a:ext uri="{FF2B5EF4-FFF2-40B4-BE49-F238E27FC236}">
                <a16:creationId xmlns:a16="http://schemas.microsoft.com/office/drawing/2014/main" id="{00160E76-F773-402A-94FB-2A895B5DD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88952" cy="52281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dpi="0" rotWithShape="1">
            <a:blip r:embed="rId3">
              <a:alphaModFix amt="70000"/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Isosceles Triangle 15">
            <a:extLst>
              <a:ext uri="{FF2B5EF4-FFF2-40B4-BE49-F238E27FC236}">
                <a16:creationId xmlns:a16="http://schemas.microsoft.com/office/drawing/2014/main" id="{D395530F-23FB-47CB-9389-BA987193A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20" y="4536245"/>
            <a:ext cx="5660999" cy="2332906"/>
          </a:xfrm>
          <a:custGeom>
            <a:avLst/>
            <a:gdLst>
              <a:gd name="connsiteX0" fmla="*/ 0 w 5660999"/>
              <a:gd name="connsiteY0" fmla="*/ 2332906 h 2332906"/>
              <a:gd name="connsiteX1" fmla="*/ 5660999 w 5660999"/>
              <a:gd name="connsiteY1" fmla="*/ 0 h 2332906"/>
              <a:gd name="connsiteX2" fmla="*/ 5660999 w 5660999"/>
              <a:gd name="connsiteY2" fmla="*/ 2332906 h 2332906"/>
              <a:gd name="connsiteX3" fmla="*/ 0 w 5660999"/>
              <a:gd name="connsiteY3" fmla="*/ 2332906 h 2332906"/>
              <a:gd name="connsiteX0" fmla="*/ 0 w 5660999"/>
              <a:gd name="connsiteY0" fmla="*/ 2332906 h 2390166"/>
              <a:gd name="connsiteX1" fmla="*/ 5597912 w 5660999"/>
              <a:gd name="connsiteY1" fmla="*/ 2265999 h 2390166"/>
              <a:gd name="connsiteX2" fmla="*/ 5660999 w 5660999"/>
              <a:gd name="connsiteY2" fmla="*/ 0 h 2390166"/>
              <a:gd name="connsiteX3" fmla="*/ 5660999 w 5660999"/>
              <a:gd name="connsiteY3" fmla="*/ 2332906 h 2390166"/>
              <a:gd name="connsiteX4" fmla="*/ 0 w 5660999"/>
              <a:gd name="connsiteY4" fmla="*/ 2332906 h 2390166"/>
              <a:gd name="connsiteX0" fmla="*/ 0 w 5660999"/>
              <a:gd name="connsiteY0" fmla="*/ 2332906 h 2332906"/>
              <a:gd name="connsiteX1" fmla="*/ 5597912 w 5660999"/>
              <a:gd name="connsiteY1" fmla="*/ 2265999 h 2332906"/>
              <a:gd name="connsiteX2" fmla="*/ 5660999 w 5660999"/>
              <a:gd name="connsiteY2" fmla="*/ 0 h 2332906"/>
              <a:gd name="connsiteX3" fmla="*/ 5660999 w 5660999"/>
              <a:gd name="connsiteY3" fmla="*/ 2332906 h 2332906"/>
              <a:gd name="connsiteX4" fmla="*/ 0 w 5660999"/>
              <a:gd name="connsiteY4" fmla="*/ 2332906 h 2332906"/>
              <a:gd name="connsiteX0" fmla="*/ 0 w 5660999"/>
              <a:gd name="connsiteY0" fmla="*/ 2332906 h 2332906"/>
              <a:gd name="connsiteX1" fmla="*/ 5597912 w 5660999"/>
              <a:gd name="connsiteY1" fmla="*/ 2265999 h 2332906"/>
              <a:gd name="connsiteX2" fmla="*/ 5660999 w 5660999"/>
              <a:gd name="connsiteY2" fmla="*/ 0 h 2332906"/>
              <a:gd name="connsiteX3" fmla="*/ 5660999 w 5660999"/>
              <a:gd name="connsiteY3" fmla="*/ 2332906 h 2332906"/>
              <a:gd name="connsiteX4" fmla="*/ 0 w 5660999"/>
              <a:gd name="connsiteY4" fmla="*/ 2332906 h 2332906"/>
              <a:gd name="connsiteX0" fmla="*/ 0 w 5660999"/>
              <a:gd name="connsiteY0" fmla="*/ 2332906 h 2332906"/>
              <a:gd name="connsiteX1" fmla="*/ 5642517 w 5660999"/>
              <a:gd name="connsiteY1" fmla="*/ 2299453 h 2332906"/>
              <a:gd name="connsiteX2" fmla="*/ 5660999 w 5660999"/>
              <a:gd name="connsiteY2" fmla="*/ 0 h 2332906"/>
              <a:gd name="connsiteX3" fmla="*/ 5660999 w 5660999"/>
              <a:gd name="connsiteY3" fmla="*/ 2332906 h 2332906"/>
              <a:gd name="connsiteX4" fmla="*/ 0 w 5660999"/>
              <a:gd name="connsiteY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0999" h="2332906">
                <a:moveTo>
                  <a:pt x="0" y="2332906"/>
                </a:moveTo>
                <a:lnTo>
                  <a:pt x="5642517" y="2299453"/>
                </a:lnTo>
                <a:lnTo>
                  <a:pt x="5660999" y="0"/>
                </a:lnTo>
                <a:lnTo>
                  <a:pt x="5660999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16">
            <a:extLst>
              <a:ext uri="{FF2B5EF4-FFF2-40B4-BE49-F238E27FC236}">
                <a16:creationId xmlns:a16="http://schemas.microsoft.com/office/drawing/2014/main" id="{8FF3D810-676C-439F-BFB6-FEE83293B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714" y="4536245"/>
            <a:ext cx="7389437" cy="2332906"/>
          </a:xfrm>
          <a:custGeom>
            <a:avLst/>
            <a:gdLst>
              <a:gd name="connsiteX0" fmla="*/ 0 w 7389437"/>
              <a:gd name="connsiteY0" fmla="*/ 2332906 h 2332906"/>
              <a:gd name="connsiteX1" fmla="*/ 7389437 w 7389437"/>
              <a:gd name="connsiteY1" fmla="*/ 0 h 2332906"/>
              <a:gd name="connsiteX2" fmla="*/ 7389437 w 7389437"/>
              <a:gd name="connsiteY2" fmla="*/ 2332906 h 2332906"/>
              <a:gd name="connsiteX3" fmla="*/ 0 w 7389437"/>
              <a:gd name="connsiteY3" fmla="*/ 2332906 h 2332906"/>
              <a:gd name="connsiteX0" fmla="*/ 0 w 7389437"/>
              <a:gd name="connsiteY0" fmla="*/ 2332906 h 2332906"/>
              <a:gd name="connsiteX1" fmla="*/ 7318813 w 7389437"/>
              <a:gd name="connsiteY1" fmla="*/ 2187940 h 2332906"/>
              <a:gd name="connsiteX2" fmla="*/ 7389437 w 7389437"/>
              <a:gd name="connsiteY2" fmla="*/ 0 h 2332906"/>
              <a:gd name="connsiteX3" fmla="*/ 7389437 w 7389437"/>
              <a:gd name="connsiteY3" fmla="*/ 2332906 h 2332906"/>
              <a:gd name="connsiteX4" fmla="*/ 0 w 7389437"/>
              <a:gd name="connsiteY4" fmla="*/ 2332906 h 2332906"/>
              <a:gd name="connsiteX0" fmla="*/ 0 w 7389437"/>
              <a:gd name="connsiteY0" fmla="*/ 2332906 h 2401453"/>
              <a:gd name="connsiteX1" fmla="*/ 7318813 w 7389437"/>
              <a:gd name="connsiteY1" fmla="*/ 2187940 h 2401453"/>
              <a:gd name="connsiteX2" fmla="*/ 7389437 w 7389437"/>
              <a:gd name="connsiteY2" fmla="*/ 0 h 2401453"/>
              <a:gd name="connsiteX3" fmla="*/ 7389437 w 7389437"/>
              <a:gd name="connsiteY3" fmla="*/ 2332906 h 2401453"/>
              <a:gd name="connsiteX4" fmla="*/ 0 w 7389437"/>
              <a:gd name="connsiteY4" fmla="*/ 2332906 h 2401453"/>
              <a:gd name="connsiteX0" fmla="*/ 0 w 7389437"/>
              <a:gd name="connsiteY0" fmla="*/ 2332906 h 2332906"/>
              <a:gd name="connsiteX1" fmla="*/ 7318813 w 7389437"/>
              <a:gd name="connsiteY1" fmla="*/ 2187940 h 2332906"/>
              <a:gd name="connsiteX2" fmla="*/ 7389437 w 7389437"/>
              <a:gd name="connsiteY2" fmla="*/ 0 h 2332906"/>
              <a:gd name="connsiteX3" fmla="*/ 7389437 w 7389437"/>
              <a:gd name="connsiteY3" fmla="*/ 2332906 h 2332906"/>
              <a:gd name="connsiteX4" fmla="*/ 0 w 7389437"/>
              <a:gd name="connsiteY4" fmla="*/ 2332906 h 2332906"/>
              <a:gd name="connsiteX0" fmla="*/ 0 w 7389437"/>
              <a:gd name="connsiteY0" fmla="*/ 2332906 h 2332906"/>
              <a:gd name="connsiteX1" fmla="*/ 7352266 w 7389437"/>
              <a:gd name="connsiteY1" fmla="*/ 2288301 h 2332906"/>
              <a:gd name="connsiteX2" fmla="*/ 7389437 w 7389437"/>
              <a:gd name="connsiteY2" fmla="*/ 0 h 2332906"/>
              <a:gd name="connsiteX3" fmla="*/ 7389437 w 7389437"/>
              <a:gd name="connsiteY3" fmla="*/ 2332906 h 2332906"/>
              <a:gd name="connsiteX4" fmla="*/ 0 w 7389437"/>
              <a:gd name="connsiteY4" fmla="*/ 2332906 h 2332906"/>
              <a:gd name="connsiteX0" fmla="*/ 0 w 7389437"/>
              <a:gd name="connsiteY0" fmla="*/ 2332906 h 2332906"/>
              <a:gd name="connsiteX1" fmla="*/ 7352266 w 7389437"/>
              <a:gd name="connsiteY1" fmla="*/ 2288301 h 2332906"/>
              <a:gd name="connsiteX2" fmla="*/ 7389437 w 7389437"/>
              <a:gd name="connsiteY2" fmla="*/ 0 h 2332906"/>
              <a:gd name="connsiteX3" fmla="*/ 7389437 w 7389437"/>
              <a:gd name="connsiteY3" fmla="*/ 2332906 h 2332906"/>
              <a:gd name="connsiteX4" fmla="*/ 0 w 7389437"/>
              <a:gd name="connsiteY4" fmla="*/ 2332906 h 2332906"/>
              <a:gd name="connsiteX0" fmla="*/ 0 w 7389437"/>
              <a:gd name="connsiteY0" fmla="*/ 2332906 h 2332906"/>
              <a:gd name="connsiteX1" fmla="*/ 7374568 w 7389437"/>
              <a:gd name="connsiteY1" fmla="*/ 2299452 h 2332906"/>
              <a:gd name="connsiteX2" fmla="*/ 7389437 w 7389437"/>
              <a:gd name="connsiteY2" fmla="*/ 0 h 2332906"/>
              <a:gd name="connsiteX3" fmla="*/ 7389437 w 7389437"/>
              <a:gd name="connsiteY3" fmla="*/ 2332906 h 2332906"/>
              <a:gd name="connsiteX4" fmla="*/ 0 w 7389437"/>
              <a:gd name="connsiteY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9437" h="2332906">
                <a:moveTo>
                  <a:pt x="0" y="2332906"/>
                </a:moveTo>
                <a:lnTo>
                  <a:pt x="7374568" y="2299452"/>
                </a:lnTo>
                <a:cubicBezTo>
                  <a:pt x="7379524" y="1532968"/>
                  <a:pt x="7384481" y="766484"/>
                  <a:pt x="7389437" y="0"/>
                </a:cubicBezTo>
                <a:lnTo>
                  <a:pt x="7389437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3D9BF1AD-65FD-40CD-82D1-1098A7CA2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20997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4F1B37-0F72-4CDE-9CC8-A840082C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902200"/>
            <a:ext cx="10572000" cy="69486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Harmonograma</a:t>
            </a:r>
            <a:r>
              <a:rPr lang="en-US" dirty="0"/>
              <a:t> de </a:t>
            </a:r>
            <a:r>
              <a:rPr lang="en-US" dirty="0" err="1"/>
              <a:t>Adamiecki</a:t>
            </a: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A4ABD4-93B2-448C-8BE3-44685744F54E}"/>
              </a:ext>
            </a:extLst>
          </p:cNvPr>
          <p:cNvSpPr txBox="1"/>
          <p:nvPr/>
        </p:nvSpPr>
        <p:spPr>
          <a:xfrm>
            <a:off x="810001" y="5828883"/>
            <a:ext cx="208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Ingeniero Polaco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9692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6">
            <a:extLst>
              <a:ext uri="{FF2B5EF4-FFF2-40B4-BE49-F238E27FC236}">
                <a16:creationId xmlns:a16="http://schemas.microsoft.com/office/drawing/2014/main" id="{4DC1E727-D507-47BD-925C-9DFB70ED3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080D242-1E8A-48D2-9E59-AF53CA3CE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28" r="15573" b="2"/>
          <a:stretch/>
        </p:blipFill>
        <p:spPr bwMode="auto">
          <a:xfrm>
            <a:off x="8873067" y="10"/>
            <a:ext cx="3318934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iagrama gantt | Diagrama de gantt, Dibujos de ojos, Fiestas de graduacion  decoracion">
            <a:extLst>
              <a:ext uri="{FF2B5EF4-FFF2-40B4-BE49-F238E27FC236}">
                <a16:creationId xmlns:a16="http://schemas.microsoft.com/office/drawing/2014/main" id="{A656542C-B5FC-46BC-80EE-B5CCBBA5B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7" r="16810" b="-3"/>
          <a:stretch/>
        </p:blipFill>
        <p:spPr bwMode="auto">
          <a:xfrm>
            <a:off x="20" y="10"/>
            <a:ext cx="9347622" cy="6857989"/>
          </a:xfrm>
          <a:custGeom>
            <a:avLst/>
            <a:gdLst/>
            <a:ahLst/>
            <a:cxnLst/>
            <a:rect l="l" t="t" r="r" b="b"/>
            <a:pathLst>
              <a:path w="9347642" h="6857999">
                <a:moveTo>
                  <a:pt x="0" y="0"/>
                </a:moveTo>
                <a:lnTo>
                  <a:pt x="9347642" y="0"/>
                </a:lnTo>
                <a:lnTo>
                  <a:pt x="9347642" y="1899774"/>
                </a:lnTo>
                <a:lnTo>
                  <a:pt x="8977226" y="2177586"/>
                </a:lnTo>
                <a:lnTo>
                  <a:pt x="8972992" y="2183936"/>
                </a:lnTo>
                <a:lnTo>
                  <a:pt x="8966643" y="2193461"/>
                </a:lnTo>
                <a:lnTo>
                  <a:pt x="8960293" y="2201399"/>
                </a:lnTo>
                <a:lnTo>
                  <a:pt x="8960293" y="2210924"/>
                </a:lnTo>
                <a:lnTo>
                  <a:pt x="8960293" y="2220449"/>
                </a:lnTo>
                <a:lnTo>
                  <a:pt x="8966643" y="2228386"/>
                </a:lnTo>
                <a:lnTo>
                  <a:pt x="8972992" y="2237911"/>
                </a:lnTo>
                <a:lnTo>
                  <a:pt x="8977226" y="2244261"/>
                </a:lnTo>
                <a:lnTo>
                  <a:pt x="9347642" y="2522074"/>
                </a:lnTo>
                <a:lnTo>
                  <a:pt x="9347642" y="6857536"/>
                </a:lnTo>
                <a:lnTo>
                  <a:pt x="8833196" y="6857536"/>
                </a:lnTo>
                <a:lnTo>
                  <a:pt x="8833196" y="6857999"/>
                </a:lnTo>
                <a:lnTo>
                  <a:pt x="0" y="6857999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" name="Freeform 9">
            <a:extLst>
              <a:ext uri="{FF2B5EF4-FFF2-40B4-BE49-F238E27FC236}">
                <a16:creationId xmlns:a16="http://schemas.microsoft.com/office/drawing/2014/main" id="{5D6EC813-CA45-46BA-8E7C-E41F3C36C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9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4F1B37-0F72-4CDE-9CC8-A840082C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4930400" cy="1559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Henry Gantt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B527B7-0CB9-4907-A644-EBA645526314}"/>
              </a:ext>
            </a:extLst>
          </p:cNvPr>
          <p:cNvSpPr txBox="1"/>
          <p:nvPr/>
        </p:nvSpPr>
        <p:spPr>
          <a:xfrm>
            <a:off x="781889" y="2185988"/>
            <a:ext cx="4921687" cy="3757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dirty="0" err="1"/>
              <a:t>Ingeniero</a:t>
            </a:r>
            <a:r>
              <a:rPr lang="en-US" dirty="0"/>
              <a:t> </a:t>
            </a:r>
            <a:r>
              <a:rPr lang="en-US" dirty="0" err="1"/>
              <a:t>Estadounidense</a:t>
            </a:r>
            <a:endParaRPr lang="en-US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dirty="0"/>
              <a:t>1910 - Propone el 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grantt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respuesta</a:t>
            </a:r>
            <a:r>
              <a:rPr lang="en-US" dirty="0"/>
              <a:t> a </a:t>
            </a:r>
            <a:r>
              <a:rPr lang="en-US" dirty="0" err="1"/>
              <a:t>harmonograma</a:t>
            </a:r>
            <a:r>
              <a:rPr lang="en-US" dirty="0"/>
              <a:t> (Karol </a:t>
            </a:r>
            <a:r>
              <a:rPr lang="en-US" dirty="0" err="1"/>
              <a:t>Adamiecki</a:t>
            </a:r>
            <a:r>
              <a:rPr lang="en-US" dirty="0"/>
              <a:t>)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dirty="0"/>
          </a:p>
          <a:p>
            <a:pPr lvl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F1B37-0F72-4CDE-9CC8-A840082C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Años 50</a:t>
            </a:r>
            <a:endParaRPr lang="es-AR" dirty="0"/>
          </a:p>
        </p:txBody>
      </p:sp>
      <p:pic>
        <p:nvPicPr>
          <p:cNvPr id="4098" name="Picture 2" descr="Diagramas PERT y GANTT">
            <a:extLst>
              <a:ext uri="{FF2B5EF4-FFF2-40B4-BE49-F238E27FC236}">
                <a16:creationId xmlns:a16="http://schemas.microsoft.com/office/drawing/2014/main" id="{ED0EFC38-6044-442E-A15A-22E536CC9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5" y="2317735"/>
            <a:ext cx="5771775" cy="362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ome - IPMA International Project Management Association">
            <a:extLst>
              <a:ext uri="{FF2B5EF4-FFF2-40B4-BE49-F238E27FC236}">
                <a16:creationId xmlns:a16="http://schemas.microsoft.com/office/drawing/2014/main" id="{EE9ED52F-7992-44D4-B1F3-EB8FD2817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7" y="2317735"/>
            <a:ext cx="4766005" cy="160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1865D62-C09B-41BF-B4D4-148461C1A561}"/>
              </a:ext>
            </a:extLst>
          </p:cNvPr>
          <p:cNvSpPr txBox="1"/>
          <p:nvPr/>
        </p:nvSpPr>
        <p:spPr>
          <a:xfrm>
            <a:off x="6757986" y="4174228"/>
            <a:ext cx="4766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1956</a:t>
            </a:r>
          </a:p>
          <a:p>
            <a:pPr algn="ctr"/>
            <a:endParaRPr lang="es-ES" dirty="0"/>
          </a:p>
          <a:p>
            <a:pPr algn="ctr"/>
            <a:r>
              <a:rPr lang="es-AR" b="0" i="0" cap="all" dirty="0">
                <a:solidFill>
                  <a:srgbClr val="FFFFFF"/>
                </a:solidFill>
                <a:effectLst/>
                <a:latin typeface="Open Sans"/>
              </a:rPr>
              <a:t>INTERNATIONAL PROJECT MANAGEMENT ASSOCIATION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7ECECD-1A49-4347-AD14-40B4C2AE64A8}"/>
              </a:ext>
            </a:extLst>
          </p:cNvPr>
          <p:cNvSpPr txBox="1"/>
          <p:nvPr/>
        </p:nvSpPr>
        <p:spPr>
          <a:xfrm>
            <a:off x="2407720" y="6041480"/>
            <a:ext cx="1604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PERT y CPM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7921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50EB4-FFAB-41EC-A455-9D9DB08A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 Qué es planificar un proyecto?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DFBAA-F71A-4A8B-83E1-123419F95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712" y="2478531"/>
            <a:ext cx="5185873" cy="2091483"/>
          </a:xfrm>
        </p:spPr>
        <p:txBody>
          <a:bodyPr/>
          <a:lstStyle/>
          <a:p>
            <a:r>
              <a:rPr lang="es-ES" sz="2000" dirty="0"/>
              <a:t>Organizar el trabajo</a:t>
            </a:r>
          </a:p>
          <a:p>
            <a:r>
              <a:rPr lang="es-ES" sz="2000" dirty="0"/>
              <a:t>Cumplir objetivos de tiempo</a:t>
            </a:r>
          </a:p>
          <a:p>
            <a:r>
              <a:rPr lang="es-ES" sz="2000" dirty="0"/>
              <a:t>Elección de método de secuencia de acción</a:t>
            </a:r>
          </a:p>
          <a:p>
            <a:endParaRPr lang="es-AR" dirty="0"/>
          </a:p>
        </p:txBody>
      </p:sp>
      <p:pic>
        <p:nvPicPr>
          <p:cNvPr id="1026" name="Picture 2" descr="Project, document, management, planning icon">
            <a:extLst>
              <a:ext uri="{FF2B5EF4-FFF2-40B4-BE49-F238E27FC236}">
                <a16:creationId xmlns:a16="http://schemas.microsoft.com/office/drawing/2014/main" id="{880DC693-B1A4-4A21-8BCC-1C35D55BB5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021" y="2253319"/>
            <a:ext cx="3908798" cy="390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ource, money, business man, planning, human, time, start up icon">
            <a:extLst>
              <a:ext uri="{FF2B5EF4-FFF2-40B4-BE49-F238E27FC236}">
                <a16:creationId xmlns:a16="http://schemas.microsoft.com/office/drawing/2014/main" id="{08163504-A13F-433E-A40A-5A900E30C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391" y="4381235"/>
            <a:ext cx="1163585" cy="116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14DBF45-3077-48F2-A500-A855F5F93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384" y="4365103"/>
            <a:ext cx="1163586" cy="1195851"/>
          </a:xfrm>
          <a:prstGeom prst="rect">
            <a:avLst/>
          </a:prstGeom>
        </p:spPr>
      </p:pic>
      <p:pic>
        <p:nvPicPr>
          <p:cNvPr id="6" name="Imagen 5" descr="Logotipo, Icono&#10;&#10;Descripción generada automáticamente">
            <a:extLst>
              <a:ext uri="{FF2B5EF4-FFF2-40B4-BE49-F238E27FC236}">
                <a16:creationId xmlns:a16="http://schemas.microsoft.com/office/drawing/2014/main" id="{863A8D40-FD97-4E30-98EF-D79907C8B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378" y="4207718"/>
            <a:ext cx="1393444" cy="142318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28929BC-9DA3-4C00-9679-F276E03D12D9}"/>
              </a:ext>
            </a:extLst>
          </p:cNvPr>
          <p:cNvSpPr txBox="1"/>
          <p:nvPr/>
        </p:nvSpPr>
        <p:spPr>
          <a:xfrm>
            <a:off x="961269" y="5775368"/>
            <a:ext cx="1905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9FCC3F"/>
                </a:solidFill>
              </a:rPr>
              <a:t>Recursos</a:t>
            </a:r>
            <a:endParaRPr lang="es-AR" sz="2800" b="1" dirty="0">
              <a:solidFill>
                <a:srgbClr val="9FCC3F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9E3638-5F8B-48CB-946B-CF50B7B6E6C5}"/>
              </a:ext>
            </a:extLst>
          </p:cNvPr>
          <p:cNvSpPr txBox="1"/>
          <p:nvPr/>
        </p:nvSpPr>
        <p:spPr>
          <a:xfrm>
            <a:off x="5100982" y="5775368"/>
            <a:ext cx="249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EF4E31"/>
                </a:solidFill>
              </a:rPr>
              <a:t>Restricciones</a:t>
            </a:r>
            <a:endParaRPr lang="es-AR" sz="2800" b="1" dirty="0">
              <a:solidFill>
                <a:srgbClr val="EF4E3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B11A09-67C8-465C-916F-D9984F8C076C}"/>
              </a:ext>
            </a:extLst>
          </p:cNvPr>
          <p:cNvSpPr txBox="1"/>
          <p:nvPr/>
        </p:nvSpPr>
        <p:spPr>
          <a:xfrm>
            <a:off x="2740855" y="5819470"/>
            <a:ext cx="2498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2FBADB"/>
                </a:solidFill>
              </a:rPr>
              <a:t>Expectativas</a:t>
            </a:r>
            <a:endParaRPr lang="es-AR" sz="2800" b="1" dirty="0">
              <a:solidFill>
                <a:srgbClr val="2FBAD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75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F1CE6BD-D2EA-445B-B249-80FE5223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Responsabilidades</a:t>
            </a:r>
            <a:endParaRPr lang="es-AR" dirty="0"/>
          </a:p>
        </p:txBody>
      </p:sp>
      <p:pic>
        <p:nvPicPr>
          <p:cNvPr id="1026" name="Picture 2" descr="Meet John | Character design animation, Character design, Animation">
            <a:extLst>
              <a:ext uri="{FF2B5EF4-FFF2-40B4-BE49-F238E27FC236}">
                <a16:creationId xmlns:a16="http://schemas.microsoft.com/office/drawing/2014/main" id="{90651FF5-DFF3-4F9E-8B26-B263E8AD5DA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07" y="2351153"/>
            <a:ext cx="5412878" cy="405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DC995FF-5844-4D8B-8586-9242B5C39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4420" y="3179611"/>
            <a:ext cx="5185873" cy="3300275"/>
          </a:xfrm>
        </p:spPr>
        <p:txBody>
          <a:bodyPr>
            <a:normAutofit fontScale="85000" lnSpcReduction="10000"/>
          </a:bodyPr>
          <a:lstStyle/>
          <a:p>
            <a:r>
              <a:rPr lang="es-ES" sz="2000" dirty="0"/>
              <a:t>Definir hitos</a:t>
            </a:r>
          </a:p>
          <a:p>
            <a:endParaRPr lang="es-ES" sz="2000" dirty="0"/>
          </a:p>
          <a:p>
            <a:r>
              <a:rPr lang="es-ES" sz="2000" dirty="0"/>
              <a:t>Financiar el proyecto</a:t>
            </a:r>
          </a:p>
          <a:p>
            <a:endParaRPr lang="es-ES" sz="2000" dirty="0"/>
          </a:p>
          <a:p>
            <a:r>
              <a:rPr lang="es-ES" sz="2000" dirty="0"/>
              <a:t>Impulsar el proyecto</a:t>
            </a:r>
          </a:p>
          <a:p>
            <a:endParaRPr lang="es-ES" sz="2000" dirty="0"/>
          </a:p>
          <a:p>
            <a:r>
              <a:rPr lang="es-ES" sz="2000" dirty="0"/>
              <a:t>Proveer información</a:t>
            </a:r>
          </a:p>
          <a:p>
            <a:endParaRPr lang="es-ES" sz="2000" dirty="0"/>
          </a:p>
          <a:p>
            <a:r>
              <a:rPr lang="es-ES" sz="2000" dirty="0"/>
              <a:t>Aprobar el CM</a:t>
            </a:r>
          </a:p>
          <a:p>
            <a:endParaRPr lang="es-AR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45A2BA0-180E-4AB8-93D5-C4E816DC5218}"/>
              </a:ext>
            </a:extLst>
          </p:cNvPr>
          <p:cNvSpPr txBox="1">
            <a:spLocks/>
          </p:cNvSpPr>
          <p:nvPr/>
        </p:nvSpPr>
        <p:spPr>
          <a:xfrm>
            <a:off x="6414420" y="2006292"/>
            <a:ext cx="1769461" cy="68972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3600" b="1" dirty="0"/>
              <a:t>Cliente</a:t>
            </a:r>
            <a:endParaRPr lang="es-AR" sz="3600" b="1" dirty="0"/>
          </a:p>
        </p:txBody>
      </p:sp>
    </p:spTree>
    <p:extLst>
      <p:ext uri="{BB962C8B-B14F-4D97-AF65-F5344CB8AC3E}">
        <p14:creationId xmlns:p14="http://schemas.microsoft.com/office/powerpoint/2010/main" val="309920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F1CE6BD-D2EA-445B-B249-80FE5223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Responsabilidades</a:t>
            </a:r>
            <a:endParaRPr lang="es-AR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DC995FF-5844-4D8B-8586-9242B5C39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4420" y="3557725"/>
            <a:ext cx="5185873" cy="3300275"/>
          </a:xfrm>
        </p:spPr>
        <p:txBody>
          <a:bodyPr>
            <a:normAutofit fontScale="92500"/>
          </a:bodyPr>
          <a:lstStyle/>
          <a:p>
            <a:r>
              <a:rPr lang="es-ES" sz="2000" dirty="0"/>
              <a:t>Planificación de proyecto</a:t>
            </a:r>
          </a:p>
          <a:p>
            <a:endParaRPr lang="es-ES" sz="2000" dirty="0"/>
          </a:p>
          <a:p>
            <a:r>
              <a:rPr lang="es-ES" sz="2000" dirty="0"/>
              <a:t>Dirigir a lo integrantes del equipo</a:t>
            </a:r>
          </a:p>
          <a:p>
            <a:endParaRPr lang="es-ES" sz="2000" dirty="0"/>
          </a:p>
          <a:p>
            <a:r>
              <a:rPr lang="es-ES" sz="2000" dirty="0"/>
              <a:t>Actualización del cronograma maestro</a:t>
            </a:r>
          </a:p>
          <a:p>
            <a:endParaRPr lang="es-ES" sz="2000" dirty="0"/>
          </a:p>
          <a:p>
            <a:r>
              <a:rPr lang="es-ES" sz="2000" dirty="0"/>
              <a:t>Análisis de impacto en el cronograma</a:t>
            </a:r>
          </a:p>
          <a:p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endParaRPr lang="es-AR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45A2BA0-180E-4AB8-93D5-C4E816DC5218}"/>
              </a:ext>
            </a:extLst>
          </p:cNvPr>
          <p:cNvSpPr txBox="1">
            <a:spLocks/>
          </p:cNvSpPr>
          <p:nvPr/>
        </p:nvSpPr>
        <p:spPr>
          <a:xfrm>
            <a:off x="6414419" y="2006292"/>
            <a:ext cx="5412877" cy="68972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3600" b="1" dirty="0"/>
              <a:t>Director de proyecto</a:t>
            </a:r>
            <a:endParaRPr lang="es-AR" sz="3600" b="1" dirty="0"/>
          </a:p>
        </p:txBody>
      </p:sp>
      <p:pic>
        <p:nvPicPr>
          <p:cNvPr id="1026" name="Picture 2" descr="Best Free Software for Project Managers to Increase Productivity">
            <a:extLst>
              <a:ext uri="{FF2B5EF4-FFF2-40B4-BE49-F238E27FC236}">
                <a16:creationId xmlns:a16="http://schemas.microsoft.com/office/drawing/2014/main" id="{934B90E5-6244-4839-86FD-E92C66C49A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91" y="2589147"/>
            <a:ext cx="5458864" cy="343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21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F1CE6BD-D2EA-445B-B249-80FE5223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Responsabilidades</a:t>
            </a:r>
            <a:endParaRPr lang="es-AR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DC995FF-5844-4D8B-8586-9242B5C39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4420" y="3179611"/>
            <a:ext cx="5185873" cy="3300275"/>
          </a:xfrm>
        </p:spPr>
        <p:txBody>
          <a:bodyPr>
            <a:normAutofit/>
          </a:bodyPr>
          <a:lstStyle/>
          <a:p>
            <a:r>
              <a:rPr lang="es-ES" sz="2000" dirty="0"/>
              <a:t>Preparación de entregables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Correcta relación de las interfaces del cronograma</a:t>
            </a:r>
          </a:p>
          <a:p>
            <a:endParaRPr lang="es-ES" sz="2000" dirty="0"/>
          </a:p>
          <a:p>
            <a:r>
              <a:rPr lang="es-ES" sz="2000" dirty="0"/>
              <a:t>Definir premisas de entregables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45A2BA0-180E-4AB8-93D5-C4E816DC5218}"/>
              </a:ext>
            </a:extLst>
          </p:cNvPr>
          <p:cNvSpPr txBox="1">
            <a:spLocks/>
          </p:cNvSpPr>
          <p:nvPr/>
        </p:nvSpPr>
        <p:spPr>
          <a:xfrm>
            <a:off x="6095999" y="1914133"/>
            <a:ext cx="6414419" cy="97045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3600" b="1" dirty="0"/>
              <a:t>Coordinador de Ingeniería</a:t>
            </a:r>
            <a:endParaRPr lang="es-AR" sz="3600" b="1" dirty="0"/>
          </a:p>
        </p:txBody>
      </p:sp>
      <p:pic>
        <p:nvPicPr>
          <p:cNvPr id="3074" name="Picture 2" descr="Running Man in 2020 | Animated infographic, Animation, Running man">
            <a:extLst>
              <a:ext uri="{FF2B5EF4-FFF2-40B4-BE49-F238E27FC236}">
                <a16:creationId xmlns:a16="http://schemas.microsoft.com/office/drawing/2014/main" id="{D635788A-2DAD-46EA-9D3D-A528CCD7A57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77" y="2399358"/>
            <a:ext cx="5440704" cy="408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8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F1CE6BD-D2EA-445B-B249-80FE5223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Responsabilidades</a:t>
            </a:r>
            <a:endParaRPr lang="es-AR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DC995FF-5844-4D8B-8586-9242B5C39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4421" y="2847358"/>
            <a:ext cx="5185873" cy="3696037"/>
          </a:xfrm>
        </p:spPr>
        <p:txBody>
          <a:bodyPr>
            <a:normAutofit fontScale="92500" lnSpcReduction="10000"/>
          </a:bodyPr>
          <a:lstStyle/>
          <a:p>
            <a:r>
              <a:rPr lang="es-ES" sz="2000" dirty="0"/>
              <a:t>Elaborar cronograma maestro</a:t>
            </a:r>
          </a:p>
          <a:p>
            <a:endParaRPr lang="es-ES" sz="2000" dirty="0"/>
          </a:p>
          <a:p>
            <a:r>
              <a:rPr lang="es-ES" sz="2000" dirty="0"/>
              <a:t>Realizar histograma de recursos</a:t>
            </a:r>
          </a:p>
          <a:p>
            <a:endParaRPr lang="es-ES" sz="2000" dirty="0"/>
          </a:p>
          <a:p>
            <a:r>
              <a:rPr lang="es-ES" sz="2000" dirty="0"/>
              <a:t>Impulsar el proyecto</a:t>
            </a:r>
          </a:p>
          <a:p>
            <a:endParaRPr lang="es-ES" sz="2000" dirty="0"/>
          </a:p>
          <a:p>
            <a:r>
              <a:rPr lang="es-ES" sz="2000" dirty="0"/>
              <a:t>Proveer información</a:t>
            </a:r>
          </a:p>
          <a:p>
            <a:endParaRPr lang="es-ES" sz="2000" dirty="0"/>
          </a:p>
          <a:p>
            <a:r>
              <a:rPr lang="es-ES" sz="2000" dirty="0"/>
              <a:t>Aprobar el CM</a:t>
            </a:r>
          </a:p>
          <a:p>
            <a:endParaRPr lang="es-AR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A45A2BA0-180E-4AB8-93D5-C4E816DC5218}"/>
              </a:ext>
            </a:extLst>
          </p:cNvPr>
          <p:cNvSpPr txBox="1">
            <a:spLocks/>
          </p:cNvSpPr>
          <p:nvPr/>
        </p:nvSpPr>
        <p:spPr>
          <a:xfrm>
            <a:off x="6187417" y="1813399"/>
            <a:ext cx="5777580" cy="97045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3600" b="1" dirty="0"/>
              <a:t>Planificador de proyecto</a:t>
            </a:r>
            <a:endParaRPr lang="es-AR" sz="3600" b="1" dirty="0"/>
          </a:p>
        </p:txBody>
      </p:sp>
      <p:pic>
        <p:nvPicPr>
          <p:cNvPr id="2050" name="Picture 2" descr="Project GIF - Find on GIFER">
            <a:extLst>
              <a:ext uri="{FF2B5EF4-FFF2-40B4-BE49-F238E27FC236}">
                <a16:creationId xmlns:a16="http://schemas.microsoft.com/office/drawing/2014/main" id="{806DE01F-19D8-44F6-9E06-49F791EFC5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65" y="2847358"/>
            <a:ext cx="5696134" cy="296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4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11751-7749-474E-9171-32C9CA5D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Responsabilidades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E7C0CA-4B73-4A26-88E0-4E8ABBF619B4}"/>
              </a:ext>
            </a:extLst>
          </p:cNvPr>
          <p:cNvSpPr txBox="1"/>
          <p:nvPr/>
        </p:nvSpPr>
        <p:spPr>
          <a:xfrm>
            <a:off x="7010400" y="2286000"/>
            <a:ext cx="47434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 b="1"/>
              <a:t>Líderes</a:t>
            </a:r>
            <a:r>
              <a:rPr lang="es-ES"/>
              <a:t> </a:t>
            </a:r>
            <a:r>
              <a:rPr lang="es-ES" sz="3600" b="1"/>
              <a:t>de</a:t>
            </a:r>
            <a:r>
              <a:rPr lang="es-ES"/>
              <a:t> </a:t>
            </a:r>
            <a:r>
              <a:rPr lang="es-ES" sz="3600" b="1"/>
              <a:t>disciplina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14184C-98F9-402B-9B70-51400D02BED8}"/>
              </a:ext>
            </a:extLst>
          </p:cNvPr>
          <p:cNvSpPr txBox="1"/>
          <p:nvPr/>
        </p:nvSpPr>
        <p:spPr>
          <a:xfrm>
            <a:off x="7677150" y="3486150"/>
            <a:ext cx="34099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s-ES" dirty="0"/>
              <a:t>Administrar actividades</a:t>
            </a:r>
          </a:p>
          <a:p>
            <a:pPr marL="285750" indent="-285750">
              <a:buFont typeface="Courier New"/>
              <a:buChar char="o"/>
            </a:pPr>
            <a:endParaRPr lang="es-ES" dirty="0"/>
          </a:p>
          <a:p>
            <a:pPr marL="285750" indent="-285750">
              <a:buFont typeface="Courier New"/>
              <a:buChar char="o"/>
            </a:pPr>
            <a:r>
              <a:rPr lang="es-ES" dirty="0"/>
              <a:t>Identificar necesidades</a:t>
            </a:r>
          </a:p>
          <a:p>
            <a:pPr marL="285750" indent="-285750">
              <a:buFont typeface="Courier New"/>
              <a:buChar char="o"/>
            </a:pPr>
            <a:endParaRPr lang="es-ES" dirty="0"/>
          </a:p>
          <a:p>
            <a:pPr marL="285750" indent="-285750">
              <a:buFont typeface="Courier New"/>
              <a:buChar char="o"/>
            </a:pPr>
            <a:r>
              <a:rPr lang="es-ES" dirty="0"/>
              <a:t>Detectar desvíos del cronograma maestro</a:t>
            </a:r>
          </a:p>
          <a:p>
            <a:pPr marL="285750" indent="-285750">
              <a:buFont typeface="Courier New"/>
              <a:buChar char="o"/>
            </a:pPr>
            <a:endParaRPr lang="es-ES" dirty="0"/>
          </a:p>
          <a:p>
            <a:pPr marL="285750" indent="-285750">
              <a:buFont typeface="Courier New"/>
              <a:buChar char="o"/>
            </a:pPr>
            <a:r>
              <a:rPr lang="es-ES" dirty="0"/>
              <a:t>Analizar los desvíos y resolverlos</a:t>
            </a:r>
          </a:p>
          <a:p>
            <a:pPr marL="285750" indent="-285750">
              <a:buFont typeface="Courier New"/>
              <a:buChar char="o"/>
            </a:pPr>
            <a:endParaRPr lang="es-ES" dirty="0"/>
          </a:p>
        </p:txBody>
      </p:sp>
      <p:pic>
        <p:nvPicPr>
          <p:cNvPr id="2050" name="Picture 2" descr="Why it's crucial to create leadership at all levels">
            <a:extLst>
              <a:ext uri="{FF2B5EF4-FFF2-40B4-BE49-F238E27FC236}">
                <a16:creationId xmlns:a16="http://schemas.microsoft.com/office/drawing/2014/main" id="{DCD9FE97-C0AF-41F8-8873-8CCCF550A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609165"/>
            <a:ext cx="6048375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5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78512A-9F1A-418F-8D90-154FD2F1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s-ES" sz="3200" dirty="0">
                <a:solidFill>
                  <a:schemeClr val="tx1"/>
                </a:solidFill>
              </a:rPr>
              <a:t>Niveles de Cronograma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DDB06-12F6-47A0-8FC9-7721941BC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Cronograma de propuesta --&gt; indica el plazo total del proyecto y los hitos significativos del mismo</a:t>
            </a:r>
            <a:endParaRPr lang="es-ES" sz="1600" dirty="0"/>
          </a:p>
          <a:p>
            <a:pPr marL="0" indent="0">
              <a:lnSpc>
                <a:spcPct val="90000"/>
              </a:lnSpc>
              <a:buNone/>
            </a:pPr>
            <a:endParaRPr lang="es-ES" sz="16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 Cronograma de nivel 1 --&gt; igual que el anterior pero actualizado con las novedades que se discutieron</a:t>
            </a:r>
            <a:endParaRPr lang="es-ES" sz="1600" dirty="0"/>
          </a:p>
          <a:p>
            <a:pPr marL="0" indent="0">
              <a:lnSpc>
                <a:spcPct val="90000"/>
              </a:lnSpc>
              <a:buNone/>
            </a:pPr>
            <a:endParaRPr lang="es-ES" sz="16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 Cronograma de nivel 2 --&gt; resumen del cronograma de nivel 3</a:t>
            </a:r>
            <a:endParaRPr lang="es-ES" sz="1600" dirty="0"/>
          </a:p>
          <a:p>
            <a:pPr>
              <a:lnSpc>
                <a:spcPct val="90000"/>
              </a:lnSpc>
            </a:pPr>
            <a:endParaRPr lang="es-ES" sz="16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Cronograma de nivel 3 --&gt; representa el nivel de planificación necesaria para llevar a cabo el proyecto</a:t>
            </a:r>
            <a:endParaRPr lang="es-ES" sz="1600" dirty="0"/>
          </a:p>
          <a:p>
            <a:pPr marL="0" indent="0">
              <a:lnSpc>
                <a:spcPct val="90000"/>
              </a:lnSpc>
              <a:buNone/>
            </a:pPr>
            <a:endParaRPr lang="es-ES" sz="16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 Cronograma de nivel 4 --&gt; permite al equipo gestionar las actividades individuales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32486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4F64A-A46B-4780-BFEF-5A8FFB7C6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Procesos de Planificación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66C768-4A0A-4B15-8E66-9E9155724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8462" y="2774737"/>
            <a:ext cx="7500448" cy="3638763"/>
          </a:xfrm>
        </p:spPr>
        <p:txBody>
          <a:bodyPr/>
          <a:lstStyle/>
          <a:p>
            <a:r>
              <a:rPr lang="es-ES"/>
              <a:t>Contrato</a:t>
            </a:r>
          </a:p>
          <a:p>
            <a:r>
              <a:rPr lang="es-ES"/>
              <a:t> documentación adicional</a:t>
            </a:r>
          </a:p>
          <a:p>
            <a:r>
              <a:rPr lang="es-ES"/>
              <a:t>plan de ejecución</a:t>
            </a:r>
          </a:p>
          <a:p>
            <a:r>
              <a:rPr lang="es-ES"/>
              <a:t>estrategias de compras</a:t>
            </a:r>
          </a:p>
          <a:p>
            <a:r>
              <a:rPr lang="es-ES"/>
              <a:t>estrategias de ejecución</a:t>
            </a:r>
          </a:p>
          <a:p>
            <a:r>
              <a:rPr lang="es-ES"/>
              <a:t>estructura de descomposición del trabajo del proyecto</a:t>
            </a:r>
          </a:p>
          <a:p>
            <a:r>
              <a:rPr lang="es-ES"/>
              <a:t> estructura de recursos,</a:t>
            </a:r>
          </a:p>
          <a:p>
            <a:r>
              <a:rPr lang="es-ES"/>
              <a:t>división de responsabilidades</a:t>
            </a:r>
          </a:p>
          <a:p>
            <a:r>
              <a:rPr lang="es-ES"/>
              <a:t>plan de gestión de cambio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9FD9FA-8754-4D9C-9704-FCDD6DE65EF0}"/>
              </a:ext>
            </a:extLst>
          </p:cNvPr>
          <p:cNvSpPr txBox="1"/>
          <p:nvPr/>
        </p:nvSpPr>
        <p:spPr>
          <a:xfrm>
            <a:off x="114300" y="2076450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3200"/>
              <a:t>Entradas</a:t>
            </a:r>
          </a:p>
        </p:txBody>
      </p:sp>
    </p:spTree>
    <p:extLst>
      <p:ext uri="{BB962C8B-B14F-4D97-AF65-F5344CB8AC3E}">
        <p14:creationId xmlns:p14="http://schemas.microsoft.com/office/powerpoint/2010/main" val="4226611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F63FC-553A-4BC5-8357-5E05E369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Planificación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BA78C-24FB-4867-BB33-8F1B6F67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87" y="2117512"/>
            <a:ext cx="10573624" cy="4608061"/>
          </a:xfrm>
        </p:spPr>
        <p:txBody>
          <a:bodyPr>
            <a:normAutofit/>
          </a:bodyPr>
          <a:lstStyle/>
          <a:p>
            <a:r>
              <a:rPr lang="es-ES" sz="2000">
                <a:ea typeface="+mn-lt"/>
                <a:cs typeface="+mn-lt"/>
              </a:rPr>
              <a:t>1º Paso --&gt; validación de paquetes de trabajo. </a:t>
            </a:r>
            <a:endParaRPr lang="es-ES" sz="2000"/>
          </a:p>
          <a:p>
            <a:pPr marL="0" indent="0">
              <a:buNone/>
            </a:pPr>
            <a:endParaRPr lang="es-ES" sz="2000"/>
          </a:p>
          <a:p>
            <a:r>
              <a:rPr lang="es-ES" sz="2000">
                <a:ea typeface="+mn-lt"/>
                <a:cs typeface="+mn-lt"/>
              </a:rPr>
              <a:t>2º Paso --&gt; definición de calendarios </a:t>
            </a:r>
            <a:endParaRPr lang="es-ES" sz="2000"/>
          </a:p>
          <a:p>
            <a:endParaRPr lang="es-ES" sz="2000">
              <a:ea typeface="+mn-lt"/>
              <a:cs typeface="+mn-lt"/>
            </a:endParaRPr>
          </a:p>
          <a:p>
            <a:r>
              <a:rPr lang="es-ES" sz="2000">
                <a:ea typeface="+mn-lt"/>
                <a:cs typeface="+mn-lt"/>
              </a:rPr>
              <a:t>3º Paso --&gt; Construcción de bases del cronograma. </a:t>
            </a:r>
          </a:p>
          <a:p>
            <a:endParaRPr lang="es-ES" sz="200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4º Paso --&gt; </a:t>
            </a:r>
            <a:r>
              <a:rPr lang="en-US" sz="2000" err="1">
                <a:ea typeface="+mn-lt"/>
                <a:cs typeface="+mn-lt"/>
              </a:rPr>
              <a:t>Elaboración</a:t>
            </a:r>
            <a:r>
              <a:rPr lang="en-US" sz="2000">
                <a:ea typeface="+mn-lt"/>
                <a:cs typeface="+mn-lt"/>
              </a:rPr>
              <a:t> del </a:t>
            </a:r>
            <a:r>
              <a:rPr lang="en-US" sz="2000" err="1">
                <a:ea typeface="+mn-lt"/>
                <a:cs typeface="+mn-lt"/>
              </a:rPr>
              <a:t>listado</a:t>
            </a:r>
            <a:r>
              <a:rPr lang="en-US" sz="2000">
                <a:ea typeface="+mn-lt"/>
                <a:cs typeface="+mn-lt"/>
              </a:rPr>
              <a:t> de </a:t>
            </a:r>
            <a:r>
              <a:rPr lang="en-US" sz="2000" err="1">
                <a:ea typeface="+mn-lt"/>
                <a:cs typeface="+mn-lt"/>
              </a:rPr>
              <a:t>tareas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2ADB64-2A0F-4A79-8895-52698A000BDF}"/>
              </a:ext>
            </a:extLst>
          </p:cNvPr>
          <p:cNvSpPr txBox="1"/>
          <p:nvPr/>
        </p:nvSpPr>
        <p:spPr>
          <a:xfrm>
            <a:off x="7858125" y="174307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EE51E99C-AD46-4F8E-A6C4-DB5DF9948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62925" y="2590800"/>
            <a:ext cx="3552825" cy="2667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DDB721-998A-4B7A-A682-F86567595EF2}"/>
              </a:ext>
            </a:extLst>
          </p:cNvPr>
          <p:cNvSpPr txBox="1"/>
          <p:nvPr/>
        </p:nvSpPr>
        <p:spPr>
          <a:xfrm>
            <a:off x="8162925" y="4648200"/>
            <a:ext cx="27432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9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13988-0160-4CF2-AB0E-A786DB9C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Planificación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0CA09-D199-4E4C-93A5-27E9DB5E0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87" y="2222287"/>
            <a:ext cx="10573624" cy="442708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ES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ea typeface="+mn-lt"/>
                <a:cs typeface="+mn-lt"/>
              </a:rPr>
              <a:t>5º Paso --&gt; </a:t>
            </a:r>
            <a:r>
              <a:rPr lang="en-US" sz="2000" err="1">
                <a:ea typeface="+mn-lt"/>
                <a:cs typeface="+mn-lt"/>
              </a:rPr>
              <a:t>Readecuación</a:t>
            </a:r>
            <a:r>
              <a:rPr lang="en-US" sz="2000">
                <a:ea typeface="+mn-lt"/>
                <a:cs typeface="+mn-lt"/>
              </a:rPr>
              <a:t> de </a:t>
            </a:r>
            <a:r>
              <a:rPr lang="en-US" sz="2000" err="1">
                <a:ea typeface="+mn-lt"/>
                <a:cs typeface="+mn-lt"/>
              </a:rPr>
              <a:t>listado</a:t>
            </a:r>
            <a:r>
              <a:rPr lang="en-US" sz="2000">
                <a:ea typeface="+mn-lt"/>
                <a:cs typeface="+mn-lt"/>
              </a:rPr>
              <a:t> de </a:t>
            </a:r>
            <a:r>
              <a:rPr lang="en-US" sz="2000" err="1">
                <a:ea typeface="+mn-lt"/>
                <a:cs typeface="+mn-lt"/>
              </a:rPr>
              <a:t>documento</a:t>
            </a:r>
            <a:r>
              <a:rPr lang="en-US" sz="2000">
                <a:ea typeface="+mn-lt"/>
                <a:cs typeface="+mn-lt"/>
              </a:rPr>
              <a:t> y </a:t>
            </a:r>
            <a:r>
              <a:rPr lang="en-US" sz="2000" err="1">
                <a:ea typeface="+mn-lt"/>
                <a:cs typeface="+mn-lt"/>
              </a:rPr>
              <a:t>presupuesto</a:t>
            </a:r>
            <a:r>
              <a:rPr lang="en-US" sz="2000">
                <a:ea typeface="+mn-lt"/>
                <a:cs typeface="+mn-lt"/>
              </a:rPr>
              <a:t>.</a:t>
            </a:r>
            <a:endParaRPr lang="es-ES" sz="2000"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sz="200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sz="2000">
              <a:ea typeface="+mn-lt"/>
              <a:cs typeface="+mn-lt"/>
            </a:endParaRPr>
          </a:p>
          <a:p>
            <a:r>
              <a:rPr lang="es-ES" sz="2000">
                <a:ea typeface="+mn-lt"/>
                <a:cs typeface="+mn-lt"/>
              </a:rPr>
              <a:t>6º Paso --&gt; Secuenciación de tareas</a:t>
            </a:r>
            <a:endParaRPr lang="es-ES" sz="2000"/>
          </a:p>
          <a:p>
            <a:endParaRPr lang="es-ES" sz="2000">
              <a:ea typeface="+mn-lt"/>
              <a:cs typeface="+mn-lt"/>
            </a:endParaRPr>
          </a:p>
          <a:p>
            <a:r>
              <a:rPr lang="es-ES" sz="2000">
                <a:ea typeface="+mn-lt"/>
                <a:cs typeface="+mn-lt"/>
              </a:rPr>
              <a:t> 7º Paso --&gt; Planificación por camino crítico. </a:t>
            </a:r>
          </a:p>
          <a:p>
            <a:endParaRPr lang="es-ES" sz="2000">
              <a:ea typeface="+mn-lt"/>
              <a:cs typeface="+mn-lt"/>
            </a:endParaRPr>
          </a:p>
          <a:p>
            <a:r>
              <a:rPr lang="es-ES" sz="2000">
                <a:ea typeface="+mn-lt"/>
                <a:cs typeface="+mn-lt"/>
              </a:rPr>
              <a:t>8º Paso --&gt; Estimación de duraciones. </a:t>
            </a:r>
            <a:endParaRPr lang="es-ES" sz="2000" err="1">
              <a:ea typeface="+mn-lt"/>
              <a:cs typeface="+mn-lt"/>
            </a:endParaRPr>
          </a:p>
          <a:p>
            <a:endParaRPr lang="es-ES">
              <a:ea typeface="+mn-lt"/>
              <a:cs typeface="+mn-lt"/>
            </a:endParaRPr>
          </a:p>
          <a:p>
            <a:endParaRPr lang="es-ES"/>
          </a:p>
        </p:txBody>
      </p:sp>
      <p:pic>
        <p:nvPicPr>
          <p:cNvPr id="4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5142F434-9BCE-48AA-BFAB-93483BE9E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72325" y="3742563"/>
            <a:ext cx="4171950" cy="26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7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9CC39-7A85-47C3-9934-36761BD7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Planificación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F95402-9EBC-4B99-B865-1271D8BB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s-ES" sz="2200">
              <a:ea typeface="+mn-lt"/>
              <a:cs typeface="+mn-lt"/>
            </a:endParaRPr>
          </a:p>
          <a:p>
            <a:r>
              <a:rPr lang="es-ES" sz="2200">
                <a:ea typeface="+mn-lt"/>
                <a:cs typeface="+mn-lt"/>
              </a:rPr>
              <a:t>9º Paso --&gt; Asignación de recursos. </a:t>
            </a:r>
            <a:endParaRPr lang="en-US" sz="2200">
              <a:ea typeface="+mn-lt"/>
              <a:cs typeface="+mn-lt"/>
            </a:endParaRPr>
          </a:p>
          <a:p>
            <a:endParaRPr lang="es-ES" sz="2200">
              <a:ea typeface="+mn-lt"/>
              <a:cs typeface="+mn-lt"/>
            </a:endParaRPr>
          </a:p>
          <a:p>
            <a:r>
              <a:rPr lang="es-ES" sz="2200">
                <a:ea typeface="+mn-lt"/>
                <a:cs typeface="+mn-lt"/>
              </a:rPr>
              <a:t>10º Paso --&gt; Validación del camino crítico. </a:t>
            </a:r>
            <a:endParaRPr lang="en-US" sz="2200">
              <a:ea typeface="+mn-lt"/>
              <a:cs typeface="+mn-lt"/>
            </a:endParaRPr>
          </a:p>
          <a:p>
            <a:endParaRPr lang="es-ES" sz="2200">
              <a:ea typeface="+mn-lt"/>
              <a:cs typeface="+mn-lt"/>
            </a:endParaRPr>
          </a:p>
          <a:p>
            <a:r>
              <a:rPr lang="es-ES" sz="2200">
                <a:ea typeface="+mn-lt"/>
                <a:cs typeface="+mn-lt"/>
              </a:rPr>
              <a:t>11º Paso --&gt; Obtener el histograma de recursos.</a:t>
            </a:r>
            <a:endParaRPr lang="es-ES" sz="2200"/>
          </a:p>
          <a:p>
            <a:endParaRPr lang="es-ES" sz="2200">
              <a:ea typeface="+mn-lt"/>
              <a:cs typeface="+mn-lt"/>
            </a:endParaRPr>
          </a:p>
          <a:p>
            <a:r>
              <a:rPr lang="es-ES" sz="2200">
                <a:ea typeface="+mn-lt"/>
                <a:cs typeface="+mn-lt"/>
              </a:rPr>
              <a:t>12º Paso --&gt; Proceso de nivelación de recursos. </a:t>
            </a:r>
            <a:endParaRPr lang="es-ES" sz="2200"/>
          </a:p>
          <a:p>
            <a:endParaRPr lang="es-ES" sz="2200">
              <a:ea typeface="+mn-lt"/>
              <a:cs typeface="+mn-lt"/>
            </a:endParaRPr>
          </a:p>
          <a:p>
            <a:r>
              <a:rPr lang="es-ES" sz="2200">
                <a:ea typeface="+mn-lt"/>
                <a:cs typeface="+mn-lt"/>
              </a:rPr>
              <a:t>13º Paso --&gt; Ajuste, revisión y aprobación del cronograma base.</a:t>
            </a:r>
            <a:endParaRPr lang="es-ES"/>
          </a:p>
        </p:txBody>
      </p:sp>
      <p:pic>
        <p:nvPicPr>
          <p:cNvPr id="4" name="Imagen 4" descr="Diagrama&#10;&#10;Descripción generada automáticamente">
            <a:extLst>
              <a:ext uri="{FF2B5EF4-FFF2-40B4-BE49-F238E27FC236}">
                <a16:creationId xmlns:a16="http://schemas.microsoft.com/office/drawing/2014/main" id="{CFB034D1-DABB-430F-8C0D-D62D08DA9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72425" y="2603754"/>
            <a:ext cx="3638550" cy="25648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190803-4977-42F2-9179-583983AA6F8F}"/>
              </a:ext>
            </a:extLst>
          </p:cNvPr>
          <p:cNvSpPr txBox="1"/>
          <p:nvPr/>
        </p:nvSpPr>
        <p:spPr>
          <a:xfrm>
            <a:off x="7972425" y="4540250"/>
            <a:ext cx="27432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E7974-2597-414B-A6A7-8F49BC00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Proceso de Seguimiento y Control</a:t>
            </a: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1287544D-7122-4473-880A-7D59CF6ABA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284724"/>
              </p:ext>
            </p:extLst>
          </p:nvPr>
        </p:nvGraphicFramePr>
        <p:xfrm>
          <a:off x="818712" y="2222287"/>
          <a:ext cx="10554574" cy="363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325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318C6-CC92-46DC-92E3-E2D5844C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ES"/>
              <a:t>Proceso de Seguimiento y Control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C7AA631-0C38-45DA-AD5B-F3474CB77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617940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6264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CB0A-C798-4A4C-86F0-5FECD14B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ES"/>
              <a:t>Proceso de Seguimiento y Control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0605E6C-AB7D-402A-97D8-1D5C857E8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242053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99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B0284-D92D-4E25-8A7B-63B323CC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Procesos de Planificación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DDD36B-AF67-4D79-ADA2-C03AC548B138}"/>
              </a:ext>
            </a:extLst>
          </p:cNvPr>
          <p:cNvSpPr txBox="1"/>
          <p:nvPr/>
        </p:nvSpPr>
        <p:spPr>
          <a:xfrm>
            <a:off x="161925" y="2057400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3200"/>
              <a:t>Salidas</a:t>
            </a:r>
          </a:p>
        </p:txBody>
      </p:sp>
      <p:sp>
        <p:nvSpPr>
          <p:cNvPr id="5" name="Marcador de contenido 5">
            <a:extLst>
              <a:ext uri="{FF2B5EF4-FFF2-40B4-BE49-F238E27FC236}">
                <a16:creationId xmlns:a16="http://schemas.microsoft.com/office/drawing/2014/main" id="{275E36FD-2D8A-4B7E-8565-0382B67EBE58}"/>
              </a:ext>
            </a:extLst>
          </p:cNvPr>
          <p:cNvSpPr txBox="1">
            <a:spLocks/>
          </p:cNvSpPr>
          <p:nvPr/>
        </p:nvSpPr>
        <p:spPr>
          <a:xfrm>
            <a:off x="1812555" y="2628832"/>
            <a:ext cx="9247927" cy="37819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ea typeface="+mn-lt"/>
                <a:cs typeface="+mn-lt"/>
              </a:rPr>
              <a:t>Listado de documentos con fechas de emisión actualizadas</a:t>
            </a:r>
          </a:p>
          <a:p>
            <a:r>
              <a:rPr lang="es-ES" dirty="0">
                <a:ea typeface="+mn-lt"/>
                <a:cs typeface="+mn-lt"/>
              </a:rPr>
              <a:t>informes de gestión</a:t>
            </a:r>
          </a:p>
          <a:p>
            <a:r>
              <a:rPr lang="es-ES" dirty="0">
                <a:ea typeface="+mn-lt"/>
                <a:cs typeface="+mn-lt"/>
              </a:rPr>
              <a:t>informes de estado de hitos de ingeniería</a:t>
            </a:r>
          </a:p>
          <a:p>
            <a:r>
              <a:rPr lang="es-ES" dirty="0">
                <a:ea typeface="+mn-lt"/>
                <a:cs typeface="+mn-lt"/>
              </a:rPr>
              <a:t> cronograma maestro de ingeniería actualizado</a:t>
            </a:r>
          </a:p>
          <a:p>
            <a:r>
              <a:rPr lang="es-ES" dirty="0">
                <a:ea typeface="+mn-lt"/>
                <a:cs typeface="+mn-lt"/>
              </a:rPr>
              <a:t>planes de recupero</a:t>
            </a:r>
          </a:p>
          <a:p>
            <a:r>
              <a:rPr lang="es-ES" dirty="0">
                <a:ea typeface="+mn-lt"/>
                <a:cs typeface="+mn-lt"/>
              </a:rPr>
              <a:t>histogramas de recursos actualizados.</a:t>
            </a:r>
          </a:p>
          <a:p>
            <a:r>
              <a:rPr lang="es-ES" sz="1800" dirty="0">
                <a:ea typeface="+mn-lt"/>
                <a:cs typeface="+mn-lt"/>
              </a:rPr>
              <a:t>Hitos de ingeniería</a:t>
            </a:r>
            <a:endParaRPr lang="es-ES" sz="1800" dirty="0"/>
          </a:p>
          <a:p>
            <a:r>
              <a:rPr lang="es-ES" sz="1800" dirty="0">
                <a:ea typeface="+mn-lt"/>
                <a:cs typeface="+mn-lt"/>
              </a:rPr>
              <a:t>Cronograma maestro detallado y sus bases</a:t>
            </a:r>
            <a:endParaRPr lang="es-ES" dirty="0">
              <a:ea typeface="+mn-lt"/>
              <a:cs typeface="+mn-lt"/>
            </a:endParaRPr>
          </a:p>
          <a:p>
            <a:r>
              <a:rPr lang="es-ES" sz="1800" dirty="0">
                <a:ea typeface="+mn-lt"/>
                <a:cs typeface="+mn-lt"/>
              </a:rPr>
              <a:t>Histograma de recursos</a:t>
            </a:r>
            <a:endParaRPr lang="es-ES" sz="1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5201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39A1C-34CB-4C3C-8531-CA67525FD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33E955-EF33-4316-AE1B-3D135939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552" y="1032918"/>
            <a:ext cx="6530673" cy="4792165"/>
          </a:xfr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/>
              <a:t> Gaitez Obando, Juan Ignacio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Goldman, Guido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Traverso, Maria del Rosario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dirty="0" err="1"/>
              <a:t>Weyner</a:t>
            </a:r>
            <a:r>
              <a:rPr lang="en-US" sz="3200" dirty="0"/>
              <a:t>, Santiago</a:t>
            </a: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FAC94EAF-F7F7-4727-AE69-A7036B4A5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0881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CA3A677692ED4AB0F15D4D4EDE1B65" ma:contentTypeVersion="5" ma:contentTypeDescription="Crear nuevo documento." ma:contentTypeScope="" ma:versionID="b535c64b47474ed92c90188fd84aa660">
  <xsd:schema xmlns:xsd="http://www.w3.org/2001/XMLSchema" xmlns:xs="http://www.w3.org/2001/XMLSchema" xmlns:p="http://schemas.microsoft.com/office/2006/metadata/properties" xmlns:ns3="15fc811b-f772-4116-884e-02a30b9209ef" xmlns:ns4="0ffc1bcd-fd2a-48ed-aa8f-9d203873c5ea" targetNamespace="http://schemas.microsoft.com/office/2006/metadata/properties" ma:root="true" ma:fieldsID="b8b2b92ec942a015a424c003aa15a58b" ns3:_="" ns4:_="">
    <xsd:import namespace="15fc811b-f772-4116-884e-02a30b9209ef"/>
    <xsd:import namespace="0ffc1bcd-fd2a-48ed-aa8f-9d203873c5e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fc811b-f772-4116-884e-02a30b920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c1bcd-fd2a-48ed-aa8f-9d203873c5e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DC8B4A-97B5-45A0-87BE-79A954AB1B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2939DA-8609-4887-834E-B13EC2903E6B}">
  <ds:schemaRefs>
    <ds:schemaRef ds:uri="0ffc1bcd-fd2a-48ed-aa8f-9d203873c5ea"/>
    <ds:schemaRef ds:uri="15fc811b-f772-4116-884e-02a30b9209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F6BF81-DB7B-4202-BD6E-B82480A3131F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0ffc1bcd-fd2a-48ed-aa8f-9d203873c5ea"/>
    <ds:schemaRef ds:uri="15fc811b-f772-4116-884e-02a30b9209e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594</Words>
  <Application>Microsoft Office PowerPoint</Application>
  <PresentationFormat>Panorámica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Century Gothic</vt:lpstr>
      <vt:lpstr>Courier New</vt:lpstr>
      <vt:lpstr>Open Sans</vt:lpstr>
      <vt:lpstr>Wingdings 2</vt:lpstr>
      <vt:lpstr>Citable</vt:lpstr>
      <vt:lpstr>Planificación de proyecto</vt:lpstr>
      <vt:lpstr>Harmonograma de Adamiecki</vt:lpstr>
      <vt:lpstr>Henry Gantt</vt:lpstr>
      <vt:lpstr>Años 50</vt:lpstr>
      <vt:lpstr>¿ Qué es planificar un proyecto?</vt:lpstr>
      <vt:lpstr>Responsabilidades</vt:lpstr>
      <vt:lpstr>Responsabilidades</vt:lpstr>
      <vt:lpstr>Responsabilidades</vt:lpstr>
      <vt:lpstr>Responsabilidades</vt:lpstr>
      <vt:lpstr>Responsabilidades</vt:lpstr>
      <vt:lpstr>Niveles de Cronograma</vt:lpstr>
      <vt:lpstr>Procesos de Planificación</vt:lpstr>
      <vt:lpstr>Planificación</vt:lpstr>
      <vt:lpstr>Planificación</vt:lpstr>
      <vt:lpstr>Planificación</vt:lpstr>
      <vt:lpstr>Proceso de Seguimiento y Control</vt:lpstr>
      <vt:lpstr>Proceso de Seguimiento y Control</vt:lpstr>
      <vt:lpstr>Proceso de Seguimiento y Control</vt:lpstr>
      <vt:lpstr>Procesos de Planificación</vt:lpstr>
      <vt:lpstr> Gaitez Obando, Juan Ignacio   Goldman, Guido   Traverso, Maria del Rosario   Weyner, Santiago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de proyecto</dc:title>
  <dc:creator>Juan Ignacio Gaitez Obando</dc:creator>
  <cp:lastModifiedBy>Juan Ignacio Gaitez Obando</cp:lastModifiedBy>
  <cp:revision>2</cp:revision>
  <dcterms:created xsi:type="dcterms:W3CDTF">2020-10-28T12:26:38Z</dcterms:created>
  <dcterms:modified xsi:type="dcterms:W3CDTF">2020-11-03T12:30:17Z</dcterms:modified>
</cp:coreProperties>
</file>