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71" r:id="rId2"/>
    <p:sldId id="262" r:id="rId3"/>
    <p:sldId id="263" r:id="rId4"/>
    <p:sldId id="264" r:id="rId5"/>
    <p:sldId id="265" r:id="rId6"/>
    <p:sldId id="266" r:id="rId7"/>
    <p:sldId id="267" r:id="rId8"/>
    <p:sldId id="268" r:id="rId9"/>
    <p:sldId id="269" r:id="rId10"/>
    <p:sldId id="260" r:id="rId11"/>
    <p:sldId id="261" r:id="rId12"/>
    <p:sldId id="270" r:id="rId13"/>
    <p:sldId id="272" r:id="rId14"/>
    <p:sldId id="273" r:id="rId15"/>
    <p:sldId id="275" r:id="rId16"/>
    <p:sldId id="276" r:id="rId17"/>
    <p:sldId id="277" r:id="rId18"/>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5" autoAdjust="0"/>
    <p:restoredTop sz="94660"/>
  </p:normalViewPr>
  <p:slideViewPr>
    <p:cSldViewPr snapToGrid="0">
      <p:cViewPr varScale="1">
        <p:scale>
          <a:sx n="72" d="100"/>
          <a:sy n="72" d="100"/>
        </p:scale>
        <p:origin x="4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65% de la cantidad de carbono compatible con el objetivo de 2°C ya esta utilizada</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2-AA6C-4128-B0B0-D5B9D4D3D844}"/>
              </c:ext>
            </c:extLst>
          </c:dPt>
          <c:dPt>
            <c:idx val="1"/>
            <c:bubble3D val="0"/>
            <c:explosion val="46"/>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1-AA6C-4128-B0B0-D5B9D4D3D844}"/>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1327-4701-9115-243199950C07}"/>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1327-4701-9115-243199950C07}"/>
              </c:ext>
            </c:extLst>
          </c:dPt>
          <c:cat>
            <c:strRef>
              <c:f>Sheet1!$A$2:$A$5</c:f>
              <c:strCache>
                <c:ptCount val="2"/>
                <c:pt idx="0">
                  <c:v>1st Qtr</c:v>
                </c:pt>
                <c:pt idx="1">
                  <c:v>2nd Qtr</c:v>
                </c:pt>
              </c:strCache>
            </c:strRef>
          </c:cat>
          <c:val>
            <c:numRef>
              <c:f>Sheet1!$B$2:$B$5</c:f>
              <c:numCache>
                <c:formatCode>General</c:formatCode>
                <c:ptCount val="4"/>
                <c:pt idx="0">
                  <c:v>3.2</c:v>
                </c:pt>
                <c:pt idx="1">
                  <c:v>8.1999999999999993</c:v>
                </c:pt>
              </c:numCache>
            </c:numRef>
          </c:val>
          <c:extLst>
            <c:ext xmlns:c16="http://schemas.microsoft.com/office/drawing/2014/chart" uri="{C3380CC4-5D6E-409C-BE32-E72D297353CC}">
              <c16:uniqueId val="{00000000-AA6C-4128-B0B0-D5B9D4D3D844}"/>
            </c:ext>
          </c:extLst>
        </c:ser>
        <c:dLbls>
          <c:showLegendKey val="0"/>
          <c:showVal val="0"/>
          <c:showCatName val="0"/>
          <c:showSerName val="0"/>
          <c:showPercent val="0"/>
          <c:showBubbleSize val="0"/>
          <c:showLeaderLines val="1"/>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A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Column1</c:v>
                </c:pt>
              </c:strCache>
            </c:strRef>
          </c:tx>
          <c:dPt>
            <c:idx val="0"/>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1-6975-403A-9E50-AF76373DE079}"/>
              </c:ext>
            </c:extLst>
          </c:dPt>
          <c:dLbls>
            <c:delete val="1"/>
          </c:dLbls>
          <c:cat>
            <c:strRef>
              <c:f>Sheet1!$A$2</c:f>
              <c:strCache>
                <c:ptCount val="1"/>
                <c:pt idx="0">
                  <c:v>1st Qtr</c:v>
                </c:pt>
              </c:strCache>
            </c:strRef>
          </c:cat>
          <c:val>
            <c:numRef>
              <c:f>Sheet1!$B$2</c:f>
              <c:numCache>
                <c:formatCode>General</c:formatCode>
                <c:ptCount val="1"/>
                <c:pt idx="0">
                  <c:v>8.1999999999999993</c:v>
                </c:pt>
              </c:numCache>
            </c:numRef>
          </c:val>
          <c:extLst>
            <c:ext xmlns:c16="http://schemas.microsoft.com/office/drawing/2014/chart" uri="{C3380CC4-5D6E-409C-BE32-E72D297353CC}">
              <c16:uniqueId val="{00000000-9745-46F7-9F2D-41845DE005A5}"/>
            </c:ext>
          </c:extLst>
        </c:ser>
        <c:dLbls>
          <c:dLblPos val="ctr"/>
          <c:showLegendKey val="0"/>
          <c:showVal val="0"/>
          <c:showCatName val="1"/>
          <c:showSerName val="0"/>
          <c:showPercent val="0"/>
          <c:showBubbleSize val="0"/>
          <c:showLeaderLines val="1"/>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AR"/>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Column1</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DD96-4264-B5B7-AA6057BCFC56}"/>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5-DD96-4264-B5B7-AA6057BCFC56}"/>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4-DD96-4264-B5B7-AA6057BCFC56}"/>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3-DD96-4264-B5B7-AA6057BCFC56}"/>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2-DD96-4264-B5B7-AA6057BCFC56}"/>
              </c:ext>
            </c:extLst>
          </c:dPt>
          <c:dLbls>
            <c:dLbl>
              <c:idx val="0"/>
              <c:tx>
                <c:rich>
                  <a:bodyPr/>
                  <a:lstStyle/>
                  <a:p>
                    <a:fld id="{A432B828-0BEB-4825-A25C-624032A8C167}" type="CATEGORYNAME">
                      <a:rPr lang="en-US" b="1" dirty="0"/>
                      <a:pPr/>
                      <a:t>[NOMBRE DE CATEGORÍA]</a:t>
                    </a:fld>
                    <a:endParaRPr lang="en-US" b="1" baseline="0" dirty="0"/>
                  </a:p>
                  <a:p>
                    <a:fld id="{685BC7F9-EF2D-4816-A906-EB20BB5B2D01}" type="PERCENTAGE">
                      <a:rPr lang="en-US" b="1" dirty="0"/>
                      <a:pPr/>
                      <a:t>[PORCENTAJE]</a:t>
                    </a:fld>
                    <a:endParaRPr lang="es-AR"/>
                  </a:p>
                </c:rich>
              </c:tx>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DD96-4264-B5B7-AA6057BCFC56}"/>
                </c:ext>
              </c:extLst>
            </c:dLbl>
            <c:dLbl>
              <c:idx val="1"/>
              <c:tx>
                <c:rich>
                  <a:bodyPr/>
                  <a:lstStyle/>
                  <a:p>
                    <a:fld id="{7112AEBE-1D3C-4516-8B83-4A2E5527164F}" type="CATEGORYNAME">
                      <a:rPr lang="en-US" b="1"/>
                      <a:pPr/>
                      <a:t>[NOMBRE DE CATEGORÍA]</a:t>
                    </a:fld>
                    <a:r>
                      <a:rPr lang="en-US" b="1" baseline="0" dirty="0"/>
                      <a:t>
</a:t>
                    </a:r>
                    <a:fld id="{60FDDF24-0570-45D1-9D49-D6AA2C5D028F}" type="PERCENTAGE">
                      <a:rPr lang="en-US" b="1" baseline="0"/>
                      <a:pPr/>
                      <a:t>[PORCENTAJE]</a:t>
                    </a:fld>
                    <a:endParaRPr lang="en-US" b="1"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D96-4264-B5B7-AA6057BCFC56}"/>
                </c:ext>
              </c:extLst>
            </c:dLbl>
            <c:dLbl>
              <c:idx val="2"/>
              <c:tx>
                <c:rich>
                  <a:bodyPr/>
                  <a:lstStyle/>
                  <a:p>
                    <a:fld id="{12E921EE-B388-4CFC-A1FF-7B30605852FA}" type="CATEGORYNAME">
                      <a:rPr lang="en-US" b="1"/>
                      <a:pPr/>
                      <a:t>[NOMBRE DE CATEGORÍA]</a:t>
                    </a:fld>
                    <a:r>
                      <a:rPr lang="en-US" b="1" baseline="0" dirty="0"/>
                      <a:t>
</a:t>
                    </a:r>
                    <a:fld id="{47F9B0DA-D9B7-4491-BD3D-7256C99F5A58}" type="PERCENTAGE">
                      <a:rPr lang="en-US" b="1" baseline="0"/>
                      <a:pPr/>
                      <a:t>[PORCENTAJE]</a:t>
                    </a:fld>
                    <a:endParaRPr lang="en-US" b="1"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D96-4264-B5B7-AA6057BCFC56}"/>
                </c:ext>
              </c:extLst>
            </c:dLbl>
            <c:dLbl>
              <c:idx val="3"/>
              <c:tx>
                <c:rich>
                  <a:bodyPr/>
                  <a:lstStyle/>
                  <a:p>
                    <a:fld id="{B7885389-5DF7-46AE-8487-A9710EA44001}" type="CATEGORYNAME">
                      <a:rPr lang="en-US" b="1"/>
                      <a:pPr/>
                      <a:t>[NOMBRE DE CATEGORÍA]</a:t>
                    </a:fld>
                    <a:r>
                      <a:rPr lang="en-US" b="1" baseline="0" dirty="0"/>
                      <a:t>
</a:t>
                    </a:r>
                    <a:fld id="{2FA0DEA3-4893-4F48-BBF2-DC4FEF38E02E}" type="PERCENTAGE">
                      <a:rPr lang="en-US" b="1" baseline="0"/>
                      <a:pPr/>
                      <a:t>[PORCENTAJE]</a:t>
                    </a:fld>
                    <a:endParaRPr lang="en-US" b="1"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D96-4264-B5B7-AA6057BCFC56}"/>
                </c:ext>
              </c:extLst>
            </c:dLbl>
            <c:dLbl>
              <c:idx val="4"/>
              <c:layout>
                <c:manualLayout>
                  <c:x val="1.2861272775685648E-2"/>
                  <c:y val="8.7805176246938295E-3"/>
                </c:manualLayout>
              </c:layout>
              <c:tx>
                <c:rich>
                  <a:bodyPr/>
                  <a:lstStyle/>
                  <a:p>
                    <a:fld id="{8A10721A-3C6F-4E8B-A15D-EA07BCCBB9E1}" type="CATEGORYNAME">
                      <a:rPr lang="en-US" b="1" dirty="0"/>
                      <a:pPr/>
                      <a:t>[NOMBRE DE CATEGORÍA]</a:t>
                    </a:fld>
                    <a:r>
                      <a:rPr lang="en-US" b="1" baseline="0" dirty="0"/>
                      <a:t>
</a:t>
                    </a:r>
                    <a:fld id="{90D6595F-DF7A-4718-9857-AB9FF54AD8F7}" type="PERCENTAGE">
                      <a:rPr lang="en-US" b="1" baseline="0" dirty="0"/>
                      <a:pPr/>
                      <a:t>[PORCENTAJE]</a:t>
                    </a:fld>
                    <a:endParaRPr lang="en-US" b="1"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DD96-4264-B5B7-AA6057BCFC56}"/>
                </c:ext>
              </c:extLst>
            </c:dLbl>
            <c:numFmt formatCode="General" sourceLinked="0"/>
            <c:spPr>
              <a:no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ln cmpd="dbl">
                      <a:noFill/>
                    </a:ln>
                    <a:solidFill>
                      <a:schemeClr val="tx1"/>
                    </a:solidFill>
                    <a:latin typeface="+mn-lt"/>
                    <a:ea typeface="+mn-ea"/>
                    <a:cs typeface="+mn-cs"/>
                  </a:defRPr>
                </a:pPr>
                <a:endParaRPr lang="es-AR"/>
              </a:p>
            </c:txPr>
            <c:dLblPos val="bestFit"/>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Sheet1!$A$2:$A$6</c:f>
              <c:strCache>
                <c:ptCount val="5"/>
                <c:pt idx="0">
                  <c:v>EÓLICO </c:v>
                </c:pt>
                <c:pt idx="1">
                  <c:v>HIDROGENO Renovable</c:v>
                </c:pt>
                <c:pt idx="2">
                  <c:v>SOLAR</c:v>
                </c:pt>
                <c:pt idx="3">
                  <c:v>BIOMASA</c:v>
                </c:pt>
                <c:pt idx="4">
                  <c:v>BIOGAS</c:v>
                </c:pt>
              </c:strCache>
            </c:strRef>
          </c:cat>
          <c:val>
            <c:numRef>
              <c:f>Sheet1!$B$2:$B$6</c:f>
              <c:numCache>
                <c:formatCode>General</c:formatCode>
                <c:ptCount val="5"/>
                <c:pt idx="0">
                  <c:v>6.4</c:v>
                </c:pt>
                <c:pt idx="1">
                  <c:v>1.9</c:v>
                </c:pt>
                <c:pt idx="2">
                  <c:v>1</c:v>
                </c:pt>
                <c:pt idx="3">
                  <c:v>0.4</c:v>
                </c:pt>
                <c:pt idx="4">
                  <c:v>0.3</c:v>
                </c:pt>
              </c:numCache>
            </c:numRef>
          </c:val>
          <c:extLst>
            <c:ext xmlns:c16="http://schemas.microsoft.com/office/drawing/2014/chart" uri="{C3380CC4-5D6E-409C-BE32-E72D297353CC}">
              <c16:uniqueId val="{00000000-DD96-4264-B5B7-AA6057BCFC56}"/>
            </c:ext>
          </c:extLst>
        </c:ser>
        <c:dLbls>
          <c:dLblPos val="bestFit"/>
          <c:showLegendKey val="0"/>
          <c:showVal val="0"/>
          <c:showCatName val="0"/>
          <c:showSerName val="0"/>
          <c:showPercent val="0"/>
          <c:showBubbleSize val="0"/>
          <c:showLeaderLines val="0"/>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rot="0" vert="horz" anchor="t" anchorCtr="1"/>
    <a:lstStyle/>
    <a:p>
      <a:pPr>
        <a:defRPr>
          <a:ln cmpd="dbl">
            <a:noFill/>
          </a:ln>
          <a:solidFill>
            <a:schemeClr val="tx1"/>
          </a:solidFill>
        </a:defRPr>
      </a:pPr>
      <a:endParaRPr lang="es-AR"/>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0.27184</cdr:x>
      <cdr:y>0.2354</cdr:y>
    </cdr:from>
    <cdr:to>
      <cdr:x>0.73786</cdr:x>
      <cdr:y>0.57831</cdr:y>
    </cdr:to>
    <cdr:sp macro="" textlink="">
      <cdr:nvSpPr>
        <cdr:cNvPr id="2" name="TextBox 1">
          <a:extLst xmlns:a="http://schemas.openxmlformats.org/drawingml/2006/main">
            <a:ext uri="{FF2B5EF4-FFF2-40B4-BE49-F238E27FC236}">
              <a16:creationId xmlns:a16="http://schemas.microsoft.com/office/drawing/2014/main" id="{4AB33622-C730-4556-87DC-B263C0AD2C08}"/>
            </a:ext>
          </a:extLst>
        </cdr:cNvPr>
        <cdr:cNvSpPr txBox="1"/>
      </cdr:nvSpPr>
      <cdr:spPr>
        <a:xfrm xmlns:a="http://schemas.openxmlformats.org/drawingml/2006/main">
          <a:off x="1312984" y="893284"/>
          <a:ext cx="2250831" cy="130126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s-AR" sz="2000" b="1" dirty="0">
              <a:solidFill>
                <a:schemeClr val="tx1"/>
              </a:solidFill>
              <a:latin typeface="Arial" panose="020B0604020202020204" pitchFamily="34" charset="0"/>
              <a:cs typeface="Arial" panose="020B0604020202020204" pitchFamily="34" charset="0"/>
            </a:rPr>
            <a:t>Cantidad total de Carbono: 2900GtCO2</a:t>
          </a:r>
        </a:p>
      </cdr:txBody>
    </cdr:sp>
  </cdr:relSizeAnchor>
</c:userShapes>
</file>

<file path=ppt/drawings/drawing2.xml><?xml version="1.0" encoding="utf-8"?>
<c:userShapes xmlns:c="http://schemas.openxmlformats.org/drawingml/2006/chart">
  <cdr:relSizeAnchor xmlns:cdr="http://schemas.openxmlformats.org/drawingml/2006/chartDrawing">
    <cdr:from>
      <cdr:x>0.0223</cdr:x>
      <cdr:y>0.86973</cdr:y>
    </cdr:from>
    <cdr:to>
      <cdr:x>1</cdr:x>
      <cdr:y>1</cdr:y>
    </cdr:to>
    <cdr:sp macro="" textlink="">
      <cdr:nvSpPr>
        <cdr:cNvPr id="3" name="TextBox 2">
          <a:extLst xmlns:a="http://schemas.openxmlformats.org/drawingml/2006/main">
            <a:ext uri="{FF2B5EF4-FFF2-40B4-BE49-F238E27FC236}">
              <a16:creationId xmlns:a16="http://schemas.microsoft.com/office/drawing/2014/main" id="{02D9FAD5-9746-4C85-8E5D-37AF95B3D1A8}"/>
            </a:ext>
          </a:extLst>
        </cdr:cNvPr>
        <cdr:cNvSpPr txBox="1"/>
      </cdr:nvSpPr>
      <cdr:spPr>
        <a:xfrm xmlns:a="http://schemas.openxmlformats.org/drawingml/2006/main">
          <a:off x="234498" y="4226174"/>
          <a:ext cx="10281102" cy="633005"/>
        </a:xfrm>
        <a:prstGeom xmlns:a="http://schemas.openxmlformats.org/drawingml/2006/main" prst="rect">
          <a:avLst/>
        </a:prstGeom>
      </cdr:spPr>
      <cdr:style>
        <a:lnRef xmlns:a="http://schemas.openxmlformats.org/drawingml/2006/main" idx="1">
          <a:schemeClr val="accent5"/>
        </a:lnRef>
        <a:fillRef xmlns:a="http://schemas.openxmlformats.org/drawingml/2006/main" idx="2">
          <a:schemeClr val="accent5"/>
        </a:fillRef>
        <a:effectRef xmlns:a="http://schemas.openxmlformats.org/drawingml/2006/main" idx="1">
          <a:schemeClr val="accent5"/>
        </a:effectRef>
        <a:fontRef xmlns:a="http://schemas.openxmlformats.org/drawingml/2006/main" idx="minor">
          <a:schemeClr val="dk1"/>
        </a:fontRef>
      </cdr:style>
      <cdr:txBody>
        <a:bodyPr xmlns:a="http://schemas.openxmlformats.org/drawingml/2006/main" vertOverflow="clip" wrap="square" rtlCol="0"/>
        <a:lstStyle xmlns:a="http://schemas.openxmlformats.org/drawingml/2006/main"/>
        <a:p xmlns:a="http://schemas.openxmlformats.org/drawingml/2006/main">
          <a:pPr algn="ctr"/>
          <a:r>
            <a:rPr lang="es-AR" sz="2400" dirty="0">
              <a:solidFill>
                <a:schemeClr val="tx1"/>
              </a:solidFill>
            </a:rPr>
            <a:t>El 6.1% de la demanda total del MEM se abasteció </a:t>
          </a:r>
          <a:r>
            <a:rPr lang="en-US" sz="2400" dirty="0">
              <a:solidFill>
                <a:schemeClr val="tx1"/>
              </a:solidFill>
            </a:rPr>
            <a:t>con g</a:t>
          </a:r>
          <a:r>
            <a:rPr lang="es-AR" sz="2400" dirty="0">
              <a:solidFill>
                <a:schemeClr val="tx1"/>
              </a:solidFill>
            </a:rPr>
            <a:t>eneració</a:t>
          </a:r>
          <a:r>
            <a:rPr lang="en-US" sz="2400" dirty="0">
              <a:solidFill>
                <a:schemeClr val="tx1"/>
              </a:solidFill>
            </a:rPr>
            <a:t>n renovable</a:t>
          </a:r>
          <a:endParaRPr lang="es-AR" sz="2400" dirty="0">
            <a:solidFill>
              <a:schemeClr val="tx1"/>
            </a:solidFill>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98930-EB3E-41FD-AE06-E824395ED4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AR"/>
          </a:p>
        </p:txBody>
      </p:sp>
      <p:sp>
        <p:nvSpPr>
          <p:cNvPr id="3" name="Subtitle 2">
            <a:extLst>
              <a:ext uri="{FF2B5EF4-FFF2-40B4-BE49-F238E27FC236}">
                <a16:creationId xmlns:a16="http://schemas.microsoft.com/office/drawing/2014/main" id="{9127A425-1CF2-4072-A506-589AD90F9A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AR"/>
          </a:p>
        </p:txBody>
      </p:sp>
      <p:sp>
        <p:nvSpPr>
          <p:cNvPr id="4" name="Date Placeholder 3">
            <a:extLst>
              <a:ext uri="{FF2B5EF4-FFF2-40B4-BE49-F238E27FC236}">
                <a16:creationId xmlns:a16="http://schemas.microsoft.com/office/drawing/2014/main" id="{D8FC8AD0-96B2-4998-8358-DE3625CC6CDF}"/>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5" name="Footer Placeholder 4">
            <a:extLst>
              <a:ext uri="{FF2B5EF4-FFF2-40B4-BE49-F238E27FC236}">
                <a16:creationId xmlns:a16="http://schemas.microsoft.com/office/drawing/2014/main" id="{3DB2E360-7A78-498C-8FAB-8F44AEF9A666}"/>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E6CB6E3A-B2C2-4241-95E1-E28C318BD7B0}"/>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1311755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CEBDF-1D52-44DD-BC66-02636442B921}"/>
              </a:ext>
            </a:extLst>
          </p:cNvPr>
          <p:cNvSpPr>
            <a:spLocks noGrp="1"/>
          </p:cNvSpPr>
          <p:nvPr>
            <p:ph type="title"/>
          </p:nvPr>
        </p:nvSpPr>
        <p:spPr/>
        <p:txBody>
          <a:bodyPr/>
          <a:lstStyle/>
          <a:p>
            <a:r>
              <a:rPr lang="en-US"/>
              <a:t>Click to edit Master title style</a:t>
            </a:r>
            <a:endParaRPr lang="es-AR"/>
          </a:p>
        </p:txBody>
      </p:sp>
      <p:sp>
        <p:nvSpPr>
          <p:cNvPr id="3" name="Content Placeholder 2">
            <a:extLst>
              <a:ext uri="{FF2B5EF4-FFF2-40B4-BE49-F238E27FC236}">
                <a16:creationId xmlns:a16="http://schemas.microsoft.com/office/drawing/2014/main" id="{0531E6F2-B3B8-4041-83F3-799AA96681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4E8DFD7B-72AF-4572-A0F2-46F0473CCFF8}"/>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5" name="Footer Placeholder 4">
            <a:extLst>
              <a:ext uri="{FF2B5EF4-FFF2-40B4-BE49-F238E27FC236}">
                <a16:creationId xmlns:a16="http://schemas.microsoft.com/office/drawing/2014/main" id="{6894EB65-8B97-46C1-B2D4-C7678311F35C}"/>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A43ABCD4-726A-4BDB-A483-EE986FF21837}"/>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371444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B4831-9E98-4613-AB16-B9C88162CC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AR"/>
          </a:p>
        </p:txBody>
      </p:sp>
      <p:sp>
        <p:nvSpPr>
          <p:cNvPr id="3" name="Text Placeholder 2">
            <a:extLst>
              <a:ext uri="{FF2B5EF4-FFF2-40B4-BE49-F238E27FC236}">
                <a16:creationId xmlns:a16="http://schemas.microsoft.com/office/drawing/2014/main" id="{12E48994-2C38-4666-9314-345E6FD32D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18F1DF-50A8-4A38-B242-D8787F948FA8}"/>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5" name="Footer Placeholder 4">
            <a:extLst>
              <a:ext uri="{FF2B5EF4-FFF2-40B4-BE49-F238E27FC236}">
                <a16:creationId xmlns:a16="http://schemas.microsoft.com/office/drawing/2014/main" id="{733D0748-8BFC-479C-8B71-43479FDAB9B0}"/>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72A49C59-AC2F-4CE2-AADB-A74E10D9328B}"/>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755932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3943-5E89-45F2-A451-4846283D8AF6}"/>
              </a:ext>
            </a:extLst>
          </p:cNvPr>
          <p:cNvSpPr>
            <a:spLocks noGrp="1"/>
          </p:cNvSpPr>
          <p:nvPr>
            <p:ph type="title"/>
          </p:nvPr>
        </p:nvSpPr>
        <p:spPr/>
        <p:txBody>
          <a:bodyPr/>
          <a:lstStyle/>
          <a:p>
            <a:r>
              <a:rPr lang="en-US"/>
              <a:t>Click to edit Master title style</a:t>
            </a:r>
            <a:endParaRPr lang="es-AR"/>
          </a:p>
        </p:txBody>
      </p:sp>
      <p:sp>
        <p:nvSpPr>
          <p:cNvPr id="3" name="Content Placeholder 2">
            <a:extLst>
              <a:ext uri="{FF2B5EF4-FFF2-40B4-BE49-F238E27FC236}">
                <a16:creationId xmlns:a16="http://schemas.microsoft.com/office/drawing/2014/main" id="{0776D449-7010-4A73-B8BB-587612BA18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Content Placeholder 3">
            <a:extLst>
              <a:ext uri="{FF2B5EF4-FFF2-40B4-BE49-F238E27FC236}">
                <a16:creationId xmlns:a16="http://schemas.microsoft.com/office/drawing/2014/main" id="{0B37E83A-EE45-42CD-B0F9-B523EBA687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Date Placeholder 4">
            <a:extLst>
              <a:ext uri="{FF2B5EF4-FFF2-40B4-BE49-F238E27FC236}">
                <a16:creationId xmlns:a16="http://schemas.microsoft.com/office/drawing/2014/main" id="{D1A9BA11-4910-4FD4-AA33-00E64BD3EB8E}"/>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6" name="Footer Placeholder 5">
            <a:extLst>
              <a:ext uri="{FF2B5EF4-FFF2-40B4-BE49-F238E27FC236}">
                <a16:creationId xmlns:a16="http://schemas.microsoft.com/office/drawing/2014/main" id="{A6BFE62B-C585-4FC0-88DB-152C372D3374}"/>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19F00C0D-4458-45B2-B179-204995B411C9}"/>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298550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AC19B-9055-4607-B0F2-CFFF2BA4F958}"/>
              </a:ext>
            </a:extLst>
          </p:cNvPr>
          <p:cNvSpPr>
            <a:spLocks noGrp="1"/>
          </p:cNvSpPr>
          <p:nvPr>
            <p:ph type="title"/>
          </p:nvPr>
        </p:nvSpPr>
        <p:spPr>
          <a:xfrm>
            <a:off x="839788" y="365125"/>
            <a:ext cx="10515600" cy="1325563"/>
          </a:xfrm>
        </p:spPr>
        <p:txBody>
          <a:bodyPr/>
          <a:lstStyle/>
          <a:p>
            <a:r>
              <a:rPr lang="en-US"/>
              <a:t>Click to edit Master title style</a:t>
            </a:r>
            <a:endParaRPr lang="es-AR"/>
          </a:p>
        </p:txBody>
      </p:sp>
      <p:sp>
        <p:nvSpPr>
          <p:cNvPr id="3" name="Text Placeholder 2">
            <a:extLst>
              <a:ext uri="{FF2B5EF4-FFF2-40B4-BE49-F238E27FC236}">
                <a16:creationId xmlns:a16="http://schemas.microsoft.com/office/drawing/2014/main" id="{83863A78-FA0E-4F6A-98E2-B5026D08D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531A6C-C70A-423B-9062-CD4AEBA4F9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Text Placeholder 4">
            <a:extLst>
              <a:ext uri="{FF2B5EF4-FFF2-40B4-BE49-F238E27FC236}">
                <a16:creationId xmlns:a16="http://schemas.microsoft.com/office/drawing/2014/main" id="{9A26220B-87FA-4798-A094-518A5814AB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077E83-6510-4005-B908-AE685E61E4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7" name="Date Placeholder 6">
            <a:extLst>
              <a:ext uri="{FF2B5EF4-FFF2-40B4-BE49-F238E27FC236}">
                <a16:creationId xmlns:a16="http://schemas.microsoft.com/office/drawing/2014/main" id="{07A60FFA-7F1C-491C-8FD3-FBF5E61227F8}"/>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8" name="Footer Placeholder 7">
            <a:extLst>
              <a:ext uri="{FF2B5EF4-FFF2-40B4-BE49-F238E27FC236}">
                <a16:creationId xmlns:a16="http://schemas.microsoft.com/office/drawing/2014/main" id="{E2DEAE9B-3A94-4196-B328-C9FA451FFBB8}"/>
              </a:ext>
            </a:extLst>
          </p:cNvPr>
          <p:cNvSpPr>
            <a:spLocks noGrp="1"/>
          </p:cNvSpPr>
          <p:nvPr>
            <p:ph type="ftr" sz="quarter" idx="11"/>
          </p:nvPr>
        </p:nvSpPr>
        <p:spPr/>
        <p:txBody>
          <a:bodyPr/>
          <a:lstStyle/>
          <a:p>
            <a:endParaRPr lang="es-AR"/>
          </a:p>
        </p:txBody>
      </p:sp>
      <p:sp>
        <p:nvSpPr>
          <p:cNvPr id="9" name="Slide Number Placeholder 8">
            <a:extLst>
              <a:ext uri="{FF2B5EF4-FFF2-40B4-BE49-F238E27FC236}">
                <a16:creationId xmlns:a16="http://schemas.microsoft.com/office/drawing/2014/main" id="{57165826-5ABA-4F2C-9F1E-B0365FC38083}"/>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1225783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FBA9C-D2E8-4292-B821-87705A2846C3}"/>
              </a:ext>
            </a:extLst>
          </p:cNvPr>
          <p:cNvSpPr>
            <a:spLocks noGrp="1"/>
          </p:cNvSpPr>
          <p:nvPr>
            <p:ph type="title"/>
          </p:nvPr>
        </p:nvSpPr>
        <p:spPr/>
        <p:txBody>
          <a:bodyPr/>
          <a:lstStyle/>
          <a:p>
            <a:r>
              <a:rPr lang="en-US"/>
              <a:t>Click to edit Master title style</a:t>
            </a:r>
            <a:endParaRPr lang="es-AR"/>
          </a:p>
        </p:txBody>
      </p:sp>
      <p:sp>
        <p:nvSpPr>
          <p:cNvPr id="3" name="Date Placeholder 2">
            <a:extLst>
              <a:ext uri="{FF2B5EF4-FFF2-40B4-BE49-F238E27FC236}">
                <a16:creationId xmlns:a16="http://schemas.microsoft.com/office/drawing/2014/main" id="{D5AAFD48-842B-449B-81DF-85045CE87478}"/>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4" name="Footer Placeholder 3">
            <a:extLst>
              <a:ext uri="{FF2B5EF4-FFF2-40B4-BE49-F238E27FC236}">
                <a16:creationId xmlns:a16="http://schemas.microsoft.com/office/drawing/2014/main" id="{9F6E78E0-B0D5-4C2D-9706-E83CA6AB5429}"/>
              </a:ext>
            </a:extLst>
          </p:cNvPr>
          <p:cNvSpPr>
            <a:spLocks noGrp="1"/>
          </p:cNvSpPr>
          <p:nvPr>
            <p:ph type="ftr" sz="quarter" idx="11"/>
          </p:nvPr>
        </p:nvSpPr>
        <p:spPr/>
        <p:txBody>
          <a:bodyPr/>
          <a:lstStyle/>
          <a:p>
            <a:endParaRPr lang="es-AR"/>
          </a:p>
        </p:txBody>
      </p:sp>
      <p:sp>
        <p:nvSpPr>
          <p:cNvPr id="5" name="Slide Number Placeholder 4">
            <a:extLst>
              <a:ext uri="{FF2B5EF4-FFF2-40B4-BE49-F238E27FC236}">
                <a16:creationId xmlns:a16="http://schemas.microsoft.com/office/drawing/2014/main" id="{7BEEBA6D-B645-4463-9C10-5763E642EB56}"/>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2537364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B14933-7DE8-4093-89EE-6269B95246FB}"/>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3" name="Footer Placeholder 2">
            <a:extLst>
              <a:ext uri="{FF2B5EF4-FFF2-40B4-BE49-F238E27FC236}">
                <a16:creationId xmlns:a16="http://schemas.microsoft.com/office/drawing/2014/main" id="{EBB0FDA3-557A-4545-BBDF-F887C6946573}"/>
              </a:ext>
            </a:extLst>
          </p:cNvPr>
          <p:cNvSpPr>
            <a:spLocks noGrp="1"/>
          </p:cNvSpPr>
          <p:nvPr>
            <p:ph type="ftr" sz="quarter" idx="11"/>
          </p:nvPr>
        </p:nvSpPr>
        <p:spPr/>
        <p:txBody>
          <a:bodyPr/>
          <a:lstStyle/>
          <a:p>
            <a:endParaRPr lang="es-AR"/>
          </a:p>
        </p:txBody>
      </p:sp>
      <p:sp>
        <p:nvSpPr>
          <p:cNvPr id="4" name="Slide Number Placeholder 3">
            <a:extLst>
              <a:ext uri="{FF2B5EF4-FFF2-40B4-BE49-F238E27FC236}">
                <a16:creationId xmlns:a16="http://schemas.microsoft.com/office/drawing/2014/main" id="{D36E4F1E-84D4-4E6A-945E-AD5B59D570AC}"/>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1177917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EE3C7-CCEF-4005-B36A-AA2CAD596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AR"/>
          </a:p>
        </p:txBody>
      </p:sp>
      <p:sp>
        <p:nvSpPr>
          <p:cNvPr id="3" name="Content Placeholder 2">
            <a:extLst>
              <a:ext uri="{FF2B5EF4-FFF2-40B4-BE49-F238E27FC236}">
                <a16:creationId xmlns:a16="http://schemas.microsoft.com/office/drawing/2014/main" id="{D216C681-8460-4227-B146-D46A5FD021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Text Placeholder 3">
            <a:extLst>
              <a:ext uri="{FF2B5EF4-FFF2-40B4-BE49-F238E27FC236}">
                <a16:creationId xmlns:a16="http://schemas.microsoft.com/office/drawing/2014/main" id="{375FFEC3-9747-42D5-AE09-62FA414766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A3D3CD-2B7A-4746-BF62-31293DC36D8D}"/>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6" name="Footer Placeholder 5">
            <a:extLst>
              <a:ext uri="{FF2B5EF4-FFF2-40B4-BE49-F238E27FC236}">
                <a16:creationId xmlns:a16="http://schemas.microsoft.com/office/drawing/2014/main" id="{2C463397-A113-4DDF-8E00-93E4A68DF7A6}"/>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0DDE9A74-633F-47E4-B9A1-F79DCCEF1F8F}"/>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2409427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A39CD-7F8A-458E-BD98-A67FEEF911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AR"/>
          </a:p>
        </p:txBody>
      </p:sp>
      <p:sp>
        <p:nvSpPr>
          <p:cNvPr id="3" name="Picture Placeholder 2">
            <a:extLst>
              <a:ext uri="{FF2B5EF4-FFF2-40B4-BE49-F238E27FC236}">
                <a16:creationId xmlns:a16="http://schemas.microsoft.com/office/drawing/2014/main" id="{2049B610-A0D4-4E1E-9491-57FFD7AD20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Text Placeholder 3">
            <a:extLst>
              <a:ext uri="{FF2B5EF4-FFF2-40B4-BE49-F238E27FC236}">
                <a16:creationId xmlns:a16="http://schemas.microsoft.com/office/drawing/2014/main" id="{0C603F20-E6E1-4633-AA1B-BBF9D6F56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4F3CBF-9F9B-4FC8-B6F5-0B02439481AF}"/>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6" name="Footer Placeholder 5">
            <a:extLst>
              <a:ext uri="{FF2B5EF4-FFF2-40B4-BE49-F238E27FC236}">
                <a16:creationId xmlns:a16="http://schemas.microsoft.com/office/drawing/2014/main" id="{8DFB0CB7-D118-4489-B1A9-1F79507186BC}"/>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6B16A2EF-6AB1-48D7-87C3-39B2453A30E8}"/>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2922913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84C1-ACB6-4D71-B1E1-48FBBF8A8BD1}"/>
              </a:ext>
            </a:extLst>
          </p:cNvPr>
          <p:cNvSpPr>
            <a:spLocks noGrp="1"/>
          </p:cNvSpPr>
          <p:nvPr>
            <p:ph type="title"/>
          </p:nvPr>
        </p:nvSpPr>
        <p:spPr/>
        <p:txBody>
          <a:bodyPr/>
          <a:lstStyle/>
          <a:p>
            <a:r>
              <a:rPr lang="en-US"/>
              <a:t>Click to edit Master title style</a:t>
            </a:r>
            <a:endParaRPr lang="es-AR"/>
          </a:p>
        </p:txBody>
      </p:sp>
      <p:sp>
        <p:nvSpPr>
          <p:cNvPr id="3" name="Vertical Text Placeholder 2">
            <a:extLst>
              <a:ext uri="{FF2B5EF4-FFF2-40B4-BE49-F238E27FC236}">
                <a16:creationId xmlns:a16="http://schemas.microsoft.com/office/drawing/2014/main" id="{F626233C-38C8-4FD0-95CD-D8B7027035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CC1FE2D8-B1AA-4E96-9E8A-223F5BA5E682}"/>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5" name="Footer Placeholder 4">
            <a:extLst>
              <a:ext uri="{FF2B5EF4-FFF2-40B4-BE49-F238E27FC236}">
                <a16:creationId xmlns:a16="http://schemas.microsoft.com/office/drawing/2014/main" id="{6E637307-2F90-4AC0-8B1E-1EE283C696EB}"/>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F330D312-61C2-411C-9F36-B5A22280416A}"/>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160077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5AD21C-BA29-4C07-8989-6798EABE0E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AR"/>
          </a:p>
        </p:txBody>
      </p:sp>
      <p:sp>
        <p:nvSpPr>
          <p:cNvPr id="3" name="Vertical Text Placeholder 2">
            <a:extLst>
              <a:ext uri="{FF2B5EF4-FFF2-40B4-BE49-F238E27FC236}">
                <a16:creationId xmlns:a16="http://schemas.microsoft.com/office/drawing/2014/main" id="{EC70A9AD-6D46-4208-927D-21F804829E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F250EFAB-3E04-4FAB-96C7-05073A41E359}"/>
              </a:ext>
            </a:extLst>
          </p:cNvPr>
          <p:cNvSpPr>
            <a:spLocks noGrp="1"/>
          </p:cNvSpPr>
          <p:nvPr>
            <p:ph type="dt" sz="half" idx="10"/>
          </p:nvPr>
        </p:nvSpPr>
        <p:spPr/>
        <p:txBody>
          <a:bodyPr/>
          <a:lstStyle/>
          <a:p>
            <a:fld id="{B4D95557-2BA5-46EC-A523-BB19413677E3}" type="datetimeFigureOut">
              <a:rPr lang="es-AR" smtClean="0"/>
              <a:t>2/11/2020</a:t>
            </a:fld>
            <a:endParaRPr lang="es-AR"/>
          </a:p>
        </p:txBody>
      </p:sp>
      <p:sp>
        <p:nvSpPr>
          <p:cNvPr id="5" name="Footer Placeholder 4">
            <a:extLst>
              <a:ext uri="{FF2B5EF4-FFF2-40B4-BE49-F238E27FC236}">
                <a16:creationId xmlns:a16="http://schemas.microsoft.com/office/drawing/2014/main" id="{8571EFE1-382B-4B25-8325-0CA21F7F6676}"/>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3941A0CC-8BDA-4A71-AD0A-AEB8A540ECF2}"/>
              </a:ext>
            </a:extLst>
          </p:cNvPr>
          <p:cNvSpPr>
            <a:spLocks noGrp="1"/>
          </p:cNvSpPr>
          <p:nvPr>
            <p:ph type="sldNum" sz="quarter" idx="12"/>
          </p:nvPr>
        </p:nvSpPr>
        <p:spPr/>
        <p:txBody>
          <a:bodyPr/>
          <a:lstStyle/>
          <a:p>
            <a:fld id="{0CBA74B7-6565-4789-8B59-156F8E7F3440}" type="slidenum">
              <a:rPr lang="es-AR" smtClean="0"/>
              <a:t>‹Nº›</a:t>
            </a:fld>
            <a:endParaRPr lang="es-AR"/>
          </a:p>
        </p:txBody>
      </p:sp>
    </p:spTree>
    <p:extLst>
      <p:ext uri="{BB962C8B-B14F-4D97-AF65-F5344CB8AC3E}">
        <p14:creationId xmlns:p14="http://schemas.microsoft.com/office/powerpoint/2010/main" val="2204320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codexverde.cl/hidrogeno-verde-a-partir-de-energia-solar-una-oportunidad-de-desarrollo/"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8000"/>
            <a:lum/>
            <a:extLst>
              <a:ext uri="{837473B0-CC2E-450A-ABE3-18F120FF3D39}">
                <a1611:picAttrSrcUrl xmlns:a1611="http://schemas.microsoft.com/office/drawing/2016/11/main" r:id="rId14"/>
              </a:ext>
            </a:extLst>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C77C6E-B947-48A7-B568-49B9A4C082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AR"/>
          </a:p>
        </p:txBody>
      </p:sp>
      <p:sp>
        <p:nvSpPr>
          <p:cNvPr id="3" name="Text Placeholder 2">
            <a:extLst>
              <a:ext uri="{FF2B5EF4-FFF2-40B4-BE49-F238E27FC236}">
                <a16:creationId xmlns:a16="http://schemas.microsoft.com/office/drawing/2014/main" id="{776D81E5-4C1A-4CDD-B462-F200014FF4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96C72EDC-896A-41D6-BA43-C6AAFFF3C4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D95557-2BA5-46EC-A523-BB19413677E3}" type="datetimeFigureOut">
              <a:rPr lang="es-AR" smtClean="0"/>
              <a:t>2/11/2020</a:t>
            </a:fld>
            <a:endParaRPr lang="es-AR"/>
          </a:p>
        </p:txBody>
      </p:sp>
      <p:sp>
        <p:nvSpPr>
          <p:cNvPr id="5" name="Footer Placeholder 4">
            <a:extLst>
              <a:ext uri="{FF2B5EF4-FFF2-40B4-BE49-F238E27FC236}">
                <a16:creationId xmlns:a16="http://schemas.microsoft.com/office/drawing/2014/main" id="{24DB2261-2934-48D4-B0DA-04EE2575D7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a:extLst>
              <a:ext uri="{FF2B5EF4-FFF2-40B4-BE49-F238E27FC236}">
                <a16:creationId xmlns:a16="http://schemas.microsoft.com/office/drawing/2014/main" id="{B0EC2958-D617-4631-9D60-7196A825D1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BA74B7-6565-4789-8B59-156F8E7F3440}" type="slidenum">
              <a:rPr lang="es-AR" smtClean="0"/>
              <a:t>‹Nº›</a:t>
            </a:fld>
            <a:endParaRPr lang="es-AR"/>
          </a:p>
        </p:txBody>
      </p:sp>
    </p:spTree>
    <p:extLst>
      <p:ext uri="{BB962C8B-B14F-4D97-AF65-F5344CB8AC3E}">
        <p14:creationId xmlns:p14="http://schemas.microsoft.com/office/powerpoint/2010/main" val="2209883004"/>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ABAB3-5309-4BD3-BF83-13BE414E863E}"/>
              </a:ext>
            </a:extLst>
          </p:cNvPr>
          <p:cNvSpPr>
            <a:spLocks noGrp="1"/>
          </p:cNvSpPr>
          <p:nvPr>
            <p:ph type="ctrTitle"/>
          </p:nvPr>
        </p:nvSpPr>
        <p:spPr/>
        <p:txBody>
          <a:bodyPr>
            <a:normAutofit fontScale="90000"/>
          </a:bodyPr>
          <a:lstStyle/>
          <a:p>
            <a:r>
              <a:rPr lang="es-AR" b="1" dirty="0"/>
              <a:t>El hidrógeno hacia una economía circular y baja en carbono.</a:t>
            </a:r>
          </a:p>
        </p:txBody>
      </p:sp>
      <p:sp>
        <p:nvSpPr>
          <p:cNvPr id="3" name="Subtítulo 2">
            <a:extLst>
              <a:ext uri="{FF2B5EF4-FFF2-40B4-BE49-F238E27FC236}">
                <a16:creationId xmlns:a16="http://schemas.microsoft.com/office/drawing/2014/main" id="{F3FBA27C-9776-409F-8679-279D97B7C593}"/>
              </a:ext>
            </a:extLst>
          </p:cNvPr>
          <p:cNvSpPr>
            <a:spLocks noGrp="1"/>
          </p:cNvSpPr>
          <p:nvPr>
            <p:ph type="subTitle" idx="1"/>
          </p:nvPr>
        </p:nvSpPr>
        <p:spPr/>
        <p:txBody>
          <a:bodyPr/>
          <a:lstStyle/>
          <a:p>
            <a:r>
              <a:rPr lang="es-AR" dirty="0"/>
              <a:t>Administración General, Grupo N°8.</a:t>
            </a:r>
          </a:p>
        </p:txBody>
      </p:sp>
    </p:spTree>
    <p:extLst>
      <p:ext uri="{BB962C8B-B14F-4D97-AF65-F5344CB8AC3E}">
        <p14:creationId xmlns:p14="http://schemas.microsoft.com/office/powerpoint/2010/main" val="385198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05F2-215B-43E6-856E-8141E7121381}"/>
              </a:ext>
            </a:extLst>
          </p:cNvPr>
          <p:cNvSpPr>
            <a:spLocks noGrp="1"/>
          </p:cNvSpPr>
          <p:nvPr>
            <p:ph type="title"/>
          </p:nvPr>
        </p:nvSpPr>
        <p:spPr/>
        <p:txBody>
          <a:bodyPr/>
          <a:lstStyle/>
          <a:p>
            <a:pPr algn="ctr"/>
            <a:r>
              <a:rPr lang="es-AR" b="1" dirty="0">
                <a:solidFill>
                  <a:schemeClr val="bg1"/>
                </a:solidFill>
              </a:rPr>
              <a:t>Plataforma escenarios energéticos</a:t>
            </a:r>
          </a:p>
        </p:txBody>
      </p:sp>
      <p:pic>
        <p:nvPicPr>
          <p:cNvPr id="5" name="Marcador de contenido 4" descr="Logotipo, nombre de la empresa&#10;&#10;Descripción generada automáticamente">
            <a:extLst>
              <a:ext uri="{FF2B5EF4-FFF2-40B4-BE49-F238E27FC236}">
                <a16:creationId xmlns:a16="http://schemas.microsoft.com/office/drawing/2014/main" id="{1ABC14CF-50E2-49F3-89B2-46BCB1D21F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7775" y="1843881"/>
            <a:ext cx="2978407" cy="3170237"/>
          </a:xfrm>
        </p:spPr>
      </p:pic>
      <p:pic>
        <p:nvPicPr>
          <p:cNvPr id="7" name="Imagen 6" descr="Logotipo, nombre de la empresa&#10;&#10;Descripción generada automáticamente">
            <a:extLst>
              <a:ext uri="{FF2B5EF4-FFF2-40B4-BE49-F238E27FC236}">
                <a16:creationId xmlns:a16="http://schemas.microsoft.com/office/drawing/2014/main" id="{74999297-84E4-4D89-9298-2CADB8D6F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469" y="3132097"/>
            <a:ext cx="5562756" cy="2311440"/>
          </a:xfrm>
          <a:prstGeom prst="rect">
            <a:avLst/>
          </a:prstGeom>
        </p:spPr>
      </p:pic>
    </p:spTree>
    <p:extLst>
      <p:ext uri="{BB962C8B-B14F-4D97-AF65-F5344CB8AC3E}">
        <p14:creationId xmlns:p14="http://schemas.microsoft.com/office/powerpoint/2010/main" val="2832517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ABEC7-D38E-417C-A655-C148E77D0967}"/>
              </a:ext>
            </a:extLst>
          </p:cNvPr>
          <p:cNvSpPr>
            <a:spLocks noGrp="1"/>
          </p:cNvSpPr>
          <p:nvPr>
            <p:ph type="title"/>
          </p:nvPr>
        </p:nvSpPr>
        <p:spPr/>
        <p:txBody>
          <a:bodyPr/>
          <a:lstStyle/>
          <a:p>
            <a:pPr algn="ctr"/>
            <a:r>
              <a:rPr lang="es-AR" b="1" dirty="0">
                <a:solidFill>
                  <a:schemeClr val="bg1"/>
                </a:solidFill>
              </a:rPr>
              <a:t>Escenario planteado: LOS VERDES</a:t>
            </a:r>
          </a:p>
        </p:txBody>
      </p:sp>
      <p:sp>
        <p:nvSpPr>
          <p:cNvPr id="3" name="Content Placeholder 2">
            <a:extLst>
              <a:ext uri="{FF2B5EF4-FFF2-40B4-BE49-F238E27FC236}">
                <a16:creationId xmlns:a16="http://schemas.microsoft.com/office/drawing/2014/main" id="{4DF2BD5E-E30B-427C-B907-EEA72EFE6F0D}"/>
              </a:ext>
            </a:extLst>
          </p:cNvPr>
          <p:cNvSpPr>
            <a:spLocks noGrp="1"/>
          </p:cNvSpPr>
          <p:nvPr>
            <p:ph idx="1"/>
          </p:nvPr>
        </p:nvSpPr>
        <p:spPr>
          <a:xfrm>
            <a:off x="838200" y="1825625"/>
            <a:ext cx="10346635" cy="1603375"/>
          </a:xfrm>
        </p:spPr>
        <p:style>
          <a:lnRef idx="1">
            <a:schemeClr val="accent5"/>
          </a:lnRef>
          <a:fillRef idx="2">
            <a:schemeClr val="accent5"/>
          </a:fillRef>
          <a:effectRef idx="1">
            <a:schemeClr val="accent5"/>
          </a:effectRef>
          <a:fontRef idx="minor">
            <a:schemeClr val="dk1"/>
          </a:fontRef>
        </p:style>
        <p:txBody>
          <a:bodyPr>
            <a:normAutofit lnSpcReduction="10000"/>
          </a:bodyPr>
          <a:lstStyle/>
          <a:p>
            <a:pPr algn="just"/>
            <a:r>
              <a:rPr lang="es-AR" dirty="0">
                <a:solidFill>
                  <a:schemeClr val="tx1"/>
                </a:solidFill>
              </a:rPr>
              <a:t>OBJETIVO PRINCIPAL: </a:t>
            </a:r>
            <a:r>
              <a:rPr lang="es-MX" dirty="0">
                <a:solidFill>
                  <a:schemeClr val="tx1"/>
                </a:solidFill>
              </a:rPr>
              <a:t>Estar en línea con los objetivos climáticos que emergen del Acuerdo de París. Su objetivo es de ser de cero emisiones en el 2050, también se procura que ese objetivo sea alcanzado minimizando otros impactos ambientales</a:t>
            </a:r>
            <a:endParaRPr lang="es-AR" dirty="0">
              <a:solidFill>
                <a:schemeClr val="tx1"/>
              </a:solidFill>
            </a:endParaRPr>
          </a:p>
        </p:txBody>
      </p:sp>
      <p:pic>
        <p:nvPicPr>
          <p:cNvPr id="5" name="Imagen 4" descr="Logotipo&#10;&#10;Descripción generada automáticamente">
            <a:extLst>
              <a:ext uri="{FF2B5EF4-FFF2-40B4-BE49-F238E27FC236}">
                <a16:creationId xmlns:a16="http://schemas.microsoft.com/office/drawing/2014/main" id="{7401F016-AF0F-4043-B926-CF0D00577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221" y="3684104"/>
            <a:ext cx="3824909" cy="2549939"/>
          </a:xfrm>
          <a:prstGeom prst="rect">
            <a:avLst/>
          </a:prstGeom>
        </p:spPr>
      </p:pic>
    </p:spTree>
    <p:extLst>
      <p:ext uri="{BB962C8B-B14F-4D97-AF65-F5344CB8AC3E}">
        <p14:creationId xmlns:p14="http://schemas.microsoft.com/office/powerpoint/2010/main" val="761682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AA930-F51A-4792-99F5-4138681E76DA}"/>
              </a:ext>
            </a:extLst>
          </p:cNvPr>
          <p:cNvSpPr>
            <a:spLocks noGrp="1"/>
          </p:cNvSpPr>
          <p:nvPr>
            <p:ph type="title"/>
          </p:nvPr>
        </p:nvSpPr>
        <p:spPr/>
        <p:txBody>
          <a:bodyPr/>
          <a:lstStyle/>
          <a:p>
            <a:pPr algn="ctr"/>
            <a:r>
              <a:rPr lang="es-AR" b="1" dirty="0">
                <a:solidFill>
                  <a:schemeClr val="bg1"/>
                </a:solidFill>
              </a:rPr>
              <a:t>Emisiones de CO2 del sector eléctrico </a:t>
            </a:r>
          </a:p>
        </p:txBody>
      </p:sp>
      <p:pic>
        <p:nvPicPr>
          <p:cNvPr id="9" name="Marcador de contenido 8" descr="Gráfico&#10;&#10;Descripción generada automáticamente">
            <a:extLst>
              <a:ext uri="{FF2B5EF4-FFF2-40B4-BE49-F238E27FC236}">
                <a16:creationId xmlns:a16="http://schemas.microsoft.com/office/drawing/2014/main" id="{E3601C35-CC1B-403F-A5BB-7D0D7679A6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8402" y="1825625"/>
            <a:ext cx="8575195" cy="4351338"/>
          </a:xfrm>
        </p:spPr>
      </p:pic>
      <p:sp>
        <p:nvSpPr>
          <p:cNvPr id="3" name="CuadroTexto 2">
            <a:extLst>
              <a:ext uri="{FF2B5EF4-FFF2-40B4-BE49-F238E27FC236}">
                <a16:creationId xmlns:a16="http://schemas.microsoft.com/office/drawing/2014/main" id="{06D77347-F3FF-46A9-8E24-A5C41FDB85D4}"/>
              </a:ext>
            </a:extLst>
          </p:cNvPr>
          <p:cNvSpPr txBox="1"/>
          <p:nvPr/>
        </p:nvSpPr>
        <p:spPr>
          <a:xfrm>
            <a:off x="7593494" y="5992297"/>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174278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2213-49CA-4C7B-9C26-D124140B3155}"/>
              </a:ext>
            </a:extLst>
          </p:cNvPr>
          <p:cNvSpPr>
            <a:spLocks noGrp="1"/>
          </p:cNvSpPr>
          <p:nvPr>
            <p:ph type="title"/>
          </p:nvPr>
        </p:nvSpPr>
        <p:spPr/>
        <p:txBody>
          <a:bodyPr/>
          <a:lstStyle/>
          <a:p>
            <a:pPr algn="ctr"/>
            <a:r>
              <a:rPr lang="es-AR" b="1" dirty="0">
                <a:solidFill>
                  <a:schemeClr val="bg1"/>
                </a:solidFill>
              </a:rPr>
              <a:t>Desarrollo del sector eléctrico</a:t>
            </a:r>
          </a:p>
        </p:txBody>
      </p:sp>
      <p:pic>
        <p:nvPicPr>
          <p:cNvPr id="7" name="Marcador de contenido 6" descr="Gráfico, Gráfico de líneas&#10;&#10;Descripción generada automáticamente">
            <a:extLst>
              <a:ext uri="{FF2B5EF4-FFF2-40B4-BE49-F238E27FC236}">
                <a16:creationId xmlns:a16="http://schemas.microsoft.com/office/drawing/2014/main" id="{9F53C582-DD3F-4502-967E-7871D5AF69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9312" y="1469036"/>
            <a:ext cx="10033786" cy="4955614"/>
          </a:xfrm>
        </p:spPr>
      </p:pic>
      <p:sp>
        <p:nvSpPr>
          <p:cNvPr id="4" name="CuadroTexto 3">
            <a:extLst>
              <a:ext uri="{FF2B5EF4-FFF2-40B4-BE49-F238E27FC236}">
                <a16:creationId xmlns:a16="http://schemas.microsoft.com/office/drawing/2014/main" id="{B9F587E5-A55A-491B-A469-36BD3263A626}"/>
              </a:ext>
            </a:extLst>
          </p:cNvPr>
          <p:cNvSpPr txBox="1"/>
          <p:nvPr/>
        </p:nvSpPr>
        <p:spPr>
          <a:xfrm>
            <a:off x="8292995" y="6239984"/>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2358571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0A00-4287-4487-A073-91AEF8334E46}"/>
              </a:ext>
            </a:extLst>
          </p:cNvPr>
          <p:cNvSpPr>
            <a:spLocks noGrp="1"/>
          </p:cNvSpPr>
          <p:nvPr>
            <p:ph type="title"/>
          </p:nvPr>
        </p:nvSpPr>
        <p:spPr/>
        <p:txBody>
          <a:bodyPr/>
          <a:lstStyle/>
          <a:p>
            <a:pPr algn="ctr"/>
            <a:r>
              <a:rPr lang="es-AR" b="1" dirty="0">
                <a:solidFill>
                  <a:schemeClr val="bg1"/>
                </a:solidFill>
              </a:rPr>
              <a:t>Generación eléctrica en 2040</a:t>
            </a:r>
          </a:p>
        </p:txBody>
      </p:sp>
      <p:pic>
        <p:nvPicPr>
          <p:cNvPr id="10" name="Marcador de contenido 9" descr="Gráfico, Gráfico circular&#10;&#10;Descripción generada automáticamente">
            <a:extLst>
              <a:ext uri="{FF2B5EF4-FFF2-40B4-BE49-F238E27FC236}">
                <a16:creationId xmlns:a16="http://schemas.microsoft.com/office/drawing/2014/main" id="{B97D26A9-D6FB-449B-8E1B-EE04098707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3416" y="1506956"/>
            <a:ext cx="7465102" cy="5056363"/>
          </a:xfrm>
        </p:spPr>
      </p:pic>
      <p:sp>
        <p:nvSpPr>
          <p:cNvPr id="4" name="CuadroTexto 3">
            <a:extLst>
              <a:ext uri="{FF2B5EF4-FFF2-40B4-BE49-F238E27FC236}">
                <a16:creationId xmlns:a16="http://schemas.microsoft.com/office/drawing/2014/main" id="{59FC1E41-B38B-4073-9791-7459471DFCDA}"/>
              </a:ext>
            </a:extLst>
          </p:cNvPr>
          <p:cNvSpPr txBox="1"/>
          <p:nvPr/>
        </p:nvSpPr>
        <p:spPr>
          <a:xfrm>
            <a:off x="7088415" y="6308209"/>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1718729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096E-479E-4D06-B0B6-D06E5F1202A3}"/>
              </a:ext>
            </a:extLst>
          </p:cNvPr>
          <p:cNvSpPr>
            <a:spLocks noGrp="1"/>
          </p:cNvSpPr>
          <p:nvPr>
            <p:ph type="title"/>
          </p:nvPr>
        </p:nvSpPr>
        <p:spPr/>
        <p:txBody>
          <a:bodyPr/>
          <a:lstStyle/>
          <a:p>
            <a:pPr algn="ctr"/>
            <a:r>
              <a:rPr lang="es-AR" b="1" dirty="0">
                <a:solidFill>
                  <a:schemeClr val="bg1"/>
                </a:solidFill>
              </a:rPr>
              <a:t>Diversidad energética primaria en 2040</a:t>
            </a:r>
          </a:p>
        </p:txBody>
      </p:sp>
      <p:pic>
        <p:nvPicPr>
          <p:cNvPr id="5" name="Marcador de contenido 4" descr="Gráfico, Gráfico circular&#10;&#10;Descripción generada automáticamente">
            <a:extLst>
              <a:ext uri="{FF2B5EF4-FFF2-40B4-BE49-F238E27FC236}">
                <a16:creationId xmlns:a16="http://schemas.microsoft.com/office/drawing/2014/main" id="{061E2827-DAFB-4259-8949-FD41D71CA5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6852" y="1410653"/>
            <a:ext cx="7898295" cy="5181282"/>
          </a:xfrm>
        </p:spPr>
      </p:pic>
      <p:sp>
        <p:nvSpPr>
          <p:cNvPr id="4" name="CuadroTexto 3">
            <a:extLst>
              <a:ext uri="{FF2B5EF4-FFF2-40B4-BE49-F238E27FC236}">
                <a16:creationId xmlns:a16="http://schemas.microsoft.com/office/drawing/2014/main" id="{CEA7D297-7296-4100-B8B6-8D5EB299AB58}"/>
              </a:ext>
            </a:extLst>
          </p:cNvPr>
          <p:cNvSpPr txBox="1"/>
          <p:nvPr/>
        </p:nvSpPr>
        <p:spPr>
          <a:xfrm>
            <a:off x="7255044" y="6308209"/>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41770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4CBBE-52A3-4CBA-8829-E843ABC9E579}"/>
              </a:ext>
            </a:extLst>
          </p:cNvPr>
          <p:cNvSpPr>
            <a:spLocks noGrp="1"/>
          </p:cNvSpPr>
          <p:nvPr>
            <p:ph type="title"/>
          </p:nvPr>
        </p:nvSpPr>
        <p:spPr/>
        <p:txBody>
          <a:bodyPr/>
          <a:lstStyle/>
          <a:p>
            <a:pPr algn="ctr"/>
            <a:r>
              <a:rPr lang="es-AR" b="1" dirty="0">
                <a:solidFill>
                  <a:schemeClr val="bg1"/>
                </a:solidFill>
              </a:rPr>
              <a:t>Emisiones de CO2</a:t>
            </a:r>
          </a:p>
        </p:txBody>
      </p:sp>
      <p:pic>
        <p:nvPicPr>
          <p:cNvPr id="11" name="Marcador de contenido 10" descr="Imagen que contiene Interfaz de usuario gráfica&#10;&#10;Descripción generada automáticamente">
            <a:extLst>
              <a:ext uri="{FF2B5EF4-FFF2-40B4-BE49-F238E27FC236}">
                <a16:creationId xmlns:a16="http://schemas.microsoft.com/office/drawing/2014/main" id="{C4DA9A57-97B9-4114-B067-7C3A67CC72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4105" y="1557096"/>
            <a:ext cx="9668655" cy="4994217"/>
          </a:xfrm>
        </p:spPr>
      </p:pic>
      <p:sp>
        <p:nvSpPr>
          <p:cNvPr id="4" name="CuadroTexto 3">
            <a:extLst>
              <a:ext uri="{FF2B5EF4-FFF2-40B4-BE49-F238E27FC236}">
                <a16:creationId xmlns:a16="http://schemas.microsoft.com/office/drawing/2014/main" id="{65639732-DE33-4077-B67E-72AFE1FB7957}"/>
              </a:ext>
            </a:extLst>
          </p:cNvPr>
          <p:cNvSpPr txBox="1"/>
          <p:nvPr/>
        </p:nvSpPr>
        <p:spPr>
          <a:xfrm>
            <a:off x="8242657" y="6181981"/>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218947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8B45-C40D-4B13-9438-0C871EB4A575}"/>
              </a:ext>
            </a:extLst>
          </p:cNvPr>
          <p:cNvSpPr>
            <a:spLocks noGrp="1"/>
          </p:cNvSpPr>
          <p:nvPr>
            <p:ph type="title"/>
          </p:nvPr>
        </p:nvSpPr>
        <p:spPr/>
        <p:txBody>
          <a:bodyPr/>
          <a:lstStyle/>
          <a:p>
            <a:pPr algn="ctr"/>
            <a:r>
              <a:rPr lang="es-AR" b="1" dirty="0">
                <a:solidFill>
                  <a:schemeClr val="bg1"/>
                </a:solidFill>
              </a:rPr>
              <a:t>Emisiones de CO2</a:t>
            </a:r>
          </a:p>
        </p:txBody>
      </p:sp>
      <p:pic>
        <p:nvPicPr>
          <p:cNvPr id="7" name="Marcador de contenido 6" descr="Gráfico, Gráfico de líneas&#10;&#10;Descripción generada automáticamente">
            <a:extLst>
              <a:ext uri="{FF2B5EF4-FFF2-40B4-BE49-F238E27FC236}">
                <a16:creationId xmlns:a16="http://schemas.microsoft.com/office/drawing/2014/main" id="{99BA3385-4D3F-4E5E-8584-316CCAC83E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6884" y="1690687"/>
            <a:ext cx="9385559" cy="4605181"/>
          </a:xfrm>
        </p:spPr>
      </p:pic>
      <p:sp>
        <p:nvSpPr>
          <p:cNvPr id="4" name="CuadroTexto 3">
            <a:extLst>
              <a:ext uri="{FF2B5EF4-FFF2-40B4-BE49-F238E27FC236}">
                <a16:creationId xmlns:a16="http://schemas.microsoft.com/office/drawing/2014/main" id="{C142C2FC-9CE0-49AB-8A56-5919F6C90C1A}"/>
              </a:ext>
            </a:extLst>
          </p:cNvPr>
          <p:cNvSpPr txBox="1"/>
          <p:nvPr/>
        </p:nvSpPr>
        <p:spPr>
          <a:xfrm>
            <a:off x="8015013" y="6111202"/>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211665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71F68-6FBB-440B-8DF5-3CCD0B251AE0}"/>
              </a:ext>
            </a:extLst>
          </p:cNvPr>
          <p:cNvSpPr>
            <a:spLocks noGrp="1"/>
          </p:cNvSpPr>
          <p:nvPr>
            <p:ph type="title"/>
          </p:nvPr>
        </p:nvSpPr>
        <p:spPr/>
        <p:txBody>
          <a:bodyPr/>
          <a:lstStyle/>
          <a:p>
            <a:pPr algn="ctr"/>
            <a:r>
              <a:rPr lang="es-AR" b="1" dirty="0">
                <a:solidFill>
                  <a:schemeClr val="bg1"/>
                </a:solidFill>
                <a:cs typeface="Arial" panose="020B0604020202020204" pitchFamily="34" charset="0"/>
              </a:rPr>
              <a:t>Acuerdo de Paris</a:t>
            </a:r>
          </a:p>
        </p:txBody>
      </p:sp>
      <p:sp>
        <p:nvSpPr>
          <p:cNvPr id="6" name="TextBox 5">
            <a:extLst>
              <a:ext uri="{FF2B5EF4-FFF2-40B4-BE49-F238E27FC236}">
                <a16:creationId xmlns:a16="http://schemas.microsoft.com/office/drawing/2014/main" id="{AFA56A3B-0AE9-46F2-ADDB-3447AE7C6259}"/>
              </a:ext>
            </a:extLst>
          </p:cNvPr>
          <p:cNvSpPr txBox="1"/>
          <p:nvPr/>
        </p:nvSpPr>
        <p:spPr>
          <a:xfrm>
            <a:off x="457200" y="2828835"/>
            <a:ext cx="2215662" cy="1200329"/>
          </a:xfrm>
          <a:prstGeom prst="rect">
            <a:avLst/>
          </a:prstGeom>
          <a:noFill/>
        </p:spPr>
        <p:txBody>
          <a:bodyPr wrap="square" rtlCol="0">
            <a:spAutoFit/>
          </a:bodyPr>
          <a:lstStyle/>
          <a:p>
            <a:r>
              <a:rPr lang="es-AR" sz="7200" b="1" dirty="0">
                <a:latin typeface="Arial" panose="020B0604020202020204" pitchFamily="34" charset="0"/>
                <a:cs typeface="Arial" panose="020B0604020202020204" pitchFamily="34" charset="0"/>
              </a:rPr>
              <a:t>2°C</a:t>
            </a:r>
          </a:p>
        </p:txBody>
      </p:sp>
      <p:sp>
        <p:nvSpPr>
          <p:cNvPr id="7" name="Arrow: Right 6">
            <a:extLst>
              <a:ext uri="{FF2B5EF4-FFF2-40B4-BE49-F238E27FC236}">
                <a16:creationId xmlns:a16="http://schemas.microsoft.com/office/drawing/2014/main" id="{2F4087D0-B439-4C34-99B0-D400942253CA}"/>
              </a:ext>
            </a:extLst>
          </p:cNvPr>
          <p:cNvSpPr/>
          <p:nvPr/>
        </p:nvSpPr>
        <p:spPr>
          <a:xfrm>
            <a:off x="2672862" y="3077306"/>
            <a:ext cx="1090246" cy="703385"/>
          </a:xfrm>
          <a:prstGeom prst="righ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TextBox 11">
            <a:extLst>
              <a:ext uri="{FF2B5EF4-FFF2-40B4-BE49-F238E27FC236}">
                <a16:creationId xmlns:a16="http://schemas.microsoft.com/office/drawing/2014/main" id="{321DC553-8A18-4B76-A345-1FC904ED0640}"/>
              </a:ext>
            </a:extLst>
          </p:cNvPr>
          <p:cNvSpPr txBox="1"/>
          <p:nvPr/>
        </p:nvSpPr>
        <p:spPr>
          <a:xfrm>
            <a:off x="4012225" y="2967335"/>
            <a:ext cx="3065585" cy="923330"/>
          </a:xfrm>
          <a:prstGeom prst="rect">
            <a:avLst/>
          </a:prstGeom>
          <a:noFill/>
        </p:spPr>
        <p:txBody>
          <a:bodyPr wrap="square" rtlCol="0">
            <a:spAutoFit/>
          </a:bodyPr>
          <a:lstStyle/>
          <a:p>
            <a:r>
              <a:rPr lang="es-AR" sz="5400" b="1" dirty="0">
                <a:latin typeface="Arial" panose="020B0604020202020204" pitchFamily="34" charset="0"/>
                <a:cs typeface="Arial" panose="020B0604020202020204" pitchFamily="34" charset="0"/>
              </a:rPr>
              <a:t>450 ppm</a:t>
            </a:r>
          </a:p>
        </p:txBody>
      </p:sp>
      <p:sp>
        <p:nvSpPr>
          <p:cNvPr id="13" name="Arrow: Right 12">
            <a:extLst>
              <a:ext uri="{FF2B5EF4-FFF2-40B4-BE49-F238E27FC236}">
                <a16:creationId xmlns:a16="http://schemas.microsoft.com/office/drawing/2014/main" id="{3236197F-8E7E-4727-B01C-64D8BF28F427}"/>
              </a:ext>
            </a:extLst>
          </p:cNvPr>
          <p:cNvSpPr/>
          <p:nvPr/>
        </p:nvSpPr>
        <p:spPr>
          <a:xfrm>
            <a:off x="7077810" y="3077306"/>
            <a:ext cx="1090246" cy="703385"/>
          </a:xfrm>
          <a:prstGeom prst="righ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TextBox 13">
            <a:extLst>
              <a:ext uri="{FF2B5EF4-FFF2-40B4-BE49-F238E27FC236}">
                <a16:creationId xmlns:a16="http://schemas.microsoft.com/office/drawing/2014/main" id="{034FBA94-625B-4027-B59E-E8280BE91631}"/>
              </a:ext>
            </a:extLst>
          </p:cNvPr>
          <p:cNvSpPr txBox="1"/>
          <p:nvPr/>
        </p:nvSpPr>
        <p:spPr>
          <a:xfrm>
            <a:off x="8320458" y="3013501"/>
            <a:ext cx="3645873" cy="830997"/>
          </a:xfrm>
          <a:prstGeom prst="rect">
            <a:avLst/>
          </a:prstGeom>
          <a:noFill/>
        </p:spPr>
        <p:txBody>
          <a:bodyPr wrap="square" rtlCol="0">
            <a:spAutoFit/>
          </a:bodyPr>
          <a:lstStyle/>
          <a:p>
            <a:r>
              <a:rPr lang="es-AR" sz="4800" b="1" dirty="0">
                <a:latin typeface="Arial" panose="020B0604020202020204" pitchFamily="34" charset="0"/>
                <a:cs typeface="Arial" panose="020B0604020202020204" pitchFamily="34" charset="0"/>
              </a:rPr>
              <a:t>2900 GtCO2</a:t>
            </a:r>
          </a:p>
        </p:txBody>
      </p:sp>
    </p:spTree>
    <p:extLst>
      <p:ext uri="{BB962C8B-B14F-4D97-AF65-F5344CB8AC3E}">
        <p14:creationId xmlns:p14="http://schemas.microsoft.com/office/powerpoint/2010/main" val="367868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C4343-EFDF-4C3B-954D-B50259F1A3F4}"/>
              </a:ext>
            </a:extLst>
          </p:cNvPr>
          <p:cNvSpPr>
            <a:spLocks noGrp="1"/>
          </p:cNvSpPr>
          <p:nvPr>
            <p:ph type="title"/>
          </p:nvPr>
        </p:nvSpPr>
        <p:spPr>
          <a:xfrm>
            <a:off x="1260230" y="919122"/>
            <a:ext cx="10515600" cy="1325563"/>
          </a:xfrm>
        </p:spPr>
        <p:txBody>
          <a:bodyPr>
            <a:normAutofit/>
          </a:bodyPr>
          <a:lstStyle/>
          <a:p>
            <a:pPr>
              <a:defRPr sz="2128" b="1" i="0" u="none" strike="noStrike" kern="1200" baseline="0">
                <a:solidFill>
                  <a:srgbClr val="44546A"/>
                </a:solidFill>
                <a:latin typeface="+mn-lt"/>
                <a:ea typeface="+mn-ea"/>
                <a:cs typeface="+mn-cs"/>
              </a:defRPr>
            </a:pPr>
            <a:r>
              <a:rPr lang="es-AR" sz="1800" b="1" dirty="0">
                <a:solidFill>
                  <a:schemeClr val="bg1"/>
                </a:solidFill>
                <a:latin typeface="Arial" panose="020B0604020202020204" pitchFamily="34" charset="0"/>
                <a:cs typeface="Arial" panose="020B0604020202020204" pitchFamily="34" charset="0"/>
              </a:rPr>
              <a:t>65% de la cantidad de carbono compatible con el objetivo de 2°C ya esta utilizada</a:t>
            </a:r>
          </a:p>
        </p:txBody>
      </p:sp>
      <p:graphicFrame>
        <p:nvGraphicFramePr>
          <p:cNvPr id="7" name="Content Placeholder 6">
            <a:extLst>
              <a:ext uri="{FF2B5EF4-FFF2-40B4-BE49-F238E27FC236}">
                <a16:creationId xmlns:a16="http://schemas.microsoft.com/office/drawing/2014/main" id="{95151453-43EE-4E46-BC21-0499C656D44E}"/>
              </a:ext>
            </a:extLst>
          </p:cNvPr>
          <p:cNvGraphicFramePr>
            <a:graphicFrameLocks noGrp="1"/>
          </p:cNvGraphicFramePr>
          <p:nvPr>
            <p:ph idx="1"/>
            <p:extLst>
              <p:ext uri="{D42A27DB-BD31-4B8C-83A1-F6EECF244321}">
                <p14:modId xmlns:p14="http://schemas.microsoft.com/office/powerpoint/2010/main" val="4016088173"/>
              </p:ext>
            </p:extLst>
          </p:nvPr>
        </p:nvGraphicFramePr>
        <p:xfrm>
          <a:off x="5832230" y="2043347"/>
          <a:ext cx="6582508" cy="37947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45F19C53-9160-4B4A-889D-8F079AC6CB17}"/>
              </a:ext>
            </a:extLst>
          </p:cNvPr>
          <p:cNvGraphicFramePr/>
          <p:nvPr>
            <p:extLst>
              <p:ext uri="{D42A27DB-BD31-4B8C-83A1-F6EECF244321}">
                <p14:modId xmlns:p14="http://schemas.microsoft.com/office/powerpoint/2010/main" val="3202727133"/>
              </p:ext>
            </p:extLst>
          </p:nvPr>
        </p:nvGraphicFramePr>
        <p:xfrm>
          <a:off x="498231" y="2377454"/>
          <a:ext cx="4829908" cy="3794745"/>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
            <a:extLst>
              <a:ext uri="{FF2B5EF4-FFF2-40B4-BE49-F238E27FC236}">
                <a16:creationId xmlns:a16="http://schemas.microsoft.com/office/drawing/2014/main" id="{118C9B0B-9974-4E1E-82CF-BF8ACE13F916}"/>
              </a:ext>
            </a:extLst>
          </p:cNvPr>
          <p:cNvSpPr txBox="1"/>
          <p:nvPr/>
        </p:nvSpPr>
        <p:spPr>
          <a:xfrm>
            <a:off x="7045569" y="3429000"/>
            <a:ext cx="2250831" cy="130126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AR" sz="2000" b="1" dirty="0">
                <a:solidFill>
                  <a:schemeClr val="tx1"/>
                </a:solidFill>
                <a:latin typeface="Arial" panose="020B0604020202020204" pitchFamily="34" charset="0"/>
                <a:cs typeface="Arial" panose="020B0604020202020204" pitchFamily="34" charset="0"/>
              </a:rPr>
              <a:t>Cantidad </a:t>
            </a:r>
          </a:p>
          <a:p>
            <a:r>
              <a:rPr lang="es-AR" sz="2000" b="1" dirty="0">
                <a:solidFill>
                  <a:schemeClr val="tx1"/>
                </a:solidFill>
                <a:latin typeface="Arial" panose="020B0604020202020204" pitchFamily="34" charset="0"/>
                <a:cs typeface="Arial" panose="020B0604020202020204" pitchFamily="34" charset="0"/>
              </a:rPr>
              <a:t>usada: </a:t>
            </a:r>
            <a:r>
              <a:rPr lang="es-AR" sz="2000" b="1" dirty="0">
                <a:latin typeface="Arial" panose="020B0604020202020204" pitchFamily="34" charset="0"/>
                <a:cs typeface="Arial" panose="020B0604020202020204" pitchFamily="34" charset="0"/>
              </a:rPr>
              <a:t>1</a:t>
            </a:r>
            <a:r>
              <a:rPr lang="es-AR" sz="2000" b="1" dirty="0">
                <a:solidFill>
                  <a:schemeClr val="tx1"/>
                </a:solidFill>
                <a:latin typeface="Arial" panose="020B0604020202020204" pitchFamily="34" charset="0"/>
                <a:cs typeface="Arial" panose="020B0604020202020204" pitchFamily="34" charset="0"/>
              </a:rPr>
              <a:t>900GtCO2</a:t>
            </a:r>
          </a:p>
          <a:p>
            <a:r>
              <a:rPr lang="es-AR" sz="2000" b="1" dirty="0">
                <a:solidFill>
                  <a:schemeClr val="tx1"/>
                </a:solidFill>
                <a:latin typeface="Arial" panose="020B0604020202020204" pitchFamily="34" charset="0"/>
                <a:cs typeface="Arial" panose="020B0604020202020204" pitchFamily="34" charset="0"/>
              </a:rPr>
              <a:t>(1870-2011)</a:t>
            </a:r>
          </a:p>
        </p:txBody>
      </p:sp>
      <p:sp>
        <p:nvSpPr>
          <p:cNvPr id="13" name="TextBox 1">
            <a:extLst>
              <a:ext uri="{FF2B5EF4-FFF2-40B4-BE49-F238E27FC236}">
                <a16:creationId xmlns:a16="http://schemas.microsoft.com/office/drawing/2014/main" id="{118C9B0B-9974-4E1E-82CF-BF8ACE13F916}"/>
              </a:ext>
            </a:extLst>
          </p:cNvPr>
          <p:cNvSpPr txBox="1"/>
          <p:nvPr/>
        </p:nvSpPr>
        <p:spPr>
          <a:xfrm>
            <a:off x="9302260" y="2639457"/>
            <a:ext cx="2250831" cy="130126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AR" sz="1600" b="1" dirty="0">
                <a:solidFill>
                  <a:schemeClr val="tx1"/>
                </a:solidFill>
                <a:latin typeface="Arial" panose="020B0604020202020204" pitchFamily="34" charset="0"/>
                <a:cs typeface="Arial" panose="020B0604020202020204" pitchFamily="34" charset="0"/>
              </a:rPr>
              <a:t>Cantidad </a:t>
            </a:r>
          </a:p>
          <a:p>
            <a:r>
              <a:rPr lang="es-AR" sz="1600" b="1" dirty="0">
                <a:solidFill>
                  <a:schemeClr val="tx1"/>
                </a:solidFill>
                <a:latin typeface="Arial" panose="020B0604020202020204" pitchFamily="34" charset="0"/>
                <a:cs typeface="Arial" panose="020B0604020202020204" pitchFamily="34" charset="0"/>
              </a:rPr>
              <a:t>disponible: 1000GtCO2</a:t>
            </a:r>
          </a:p>
        </p:txBody>
      </p:sp>
      <p:sp>
        <p:nvSpPr>
          <p:cNvPr id="8" name="CuadroTexto 7">
            <a:extLst>
              <a:ext uri="{FF2B5EF4-FFF2-40B4-BE49-F238E27FC236}">
                <a16:creationId xmlns:a16="http://schemas.microsoft.com/office/drawing/2014/main" id="{A7A267BC-8DBB-4894-B1AA-F748630AB591}"/>
              </a:ext>
            </a:extLst>
          </p:cNvPr>
          <p:cNvSpPr txBox="1"/>
          <p:nvPr/>
        </p:nvSpPr>
        <p:spPr>
          <a:xfrm>
            <a:off x="8170984" y="5838009"/>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Gráficos a nivel mundial</a:t>
            </a:r>
          </a:p>
        </p:txBody>
      </p:sp>
    </p:spTree>
    <p:extLst>
      <p:ext uri="{BB962C8B-B14F-4D97-AF65-F5344CB8AC3E}">
        <p14:creationId xmlns:p14="http://schemas.microsoft.com/office/powerpoint/2010/main" val="3656208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7ECF-4D25-4154-822F-D4C4198620CF}"/>
              </a:ext>
            </a:extLst>
          </p:cNvPr>
          <p:cNvSpPr>
            <a:spLocks noGrp="1"/>
          </p:cNvSpPr>
          <p:nvPr>
            <p:ph type="title"/>
          </p:nvPr>
        </p:nvSpPr>
        <p:spPr/>
        <p:txBody>
          <a:bodyPr/>
          <a:lstStyle/>
          <a:p>
            <a:r>
              <a:rPr lang="en-US" dirty="0"/>
              <a:t> </a:t>
            </a:r>
            <a:endParaRPr lang="es-AR" dirty="0"/>
          </a:p>
        </p:txBody>
      </p:sp>
      <p:pic>
        <p:nvPicPr>
          <p:cNvPr id="4" name="Content Placeholder 3">
            <a:extLst>
              <a:ext uri="{FF2B5EF4-FFF2-40B4-BE49-F238E27FC236}">
                <a16:creationId xmlns:a16="http://schemas.microsoft.com/office/drawing/2014/main" id="{9E0C099C-0559-4D67-89A9-3F9BEC455556}"/>
              </a:ext>
            </a:extLst>
          </p:cNvPr>
          <p:cNvPicPr>
            <a:picLocks noGrp="1"/>
          </p:cNvPicPr>
          <p:nvPr>
            <p:ph idx="1"/>
          </p:nvPr>
        </p:nvPicPr>
        <p:blipFill rotWithShape="1">
          <a:blip r:embed="rId2">
            <a:extLst>
              <a:ext uri="{28A0092B-C50C-407E-A947-70E740481C1C}">
                <a14:useLocalDpi xmlns:a14="http://schemas.microsoft.com/office/drawing/2010/main" val="0"/>
              </a:ext>
            </a:extLst>
          </a:blip>
          <a:srcRect l="14228" t="29436" r="4942" b="2749"/>
          <a:stretch/>
        </p:blipFill>
        <p:spPr bwMode="auto">
          <a:xfrm>
            <a:off x="1846646" y="2155698"/>
            <a:ext cx="8498707" cy="3781640"/>
          </a:xfrm>
          <a:prstGeom prst="rect">
            <a:avLst/>
          </a:prstGeom>
          <a:noFill/>
          <a:ln>
            <a:noFill/>
          </a:ln>
        </p:spPr>
      </p:pic>
      <p:sp>
        <p:nvSpPr>
          <p:cNvPr id="5" name="Title 1">
            <a:extLst>
              <a:ext uri="{FF2B5EF4-FFF2-40B4-BE49-F238E27FC236}">
                <a16:creationId xmlns:a16="http://schemas.microsoft.com/office/drawing/2014/main" id="{E3700E3D-C588-4609-8724-EA700B20275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b="1">
                <a:solidFill>
                  <a:schemeClr val="bg1"/>
                </a:solidFill>
              </a:rPr>
              <a:t>Emisiones de CO2</a:t>
            </a:r>
            <a:endParaRPr lang="es-AR" b="1" dirty="0">
              <a:solidFill>
                <a:schemeClr val="bg1"/>
              </a:solidFill>
            </a:endParaRPr>
          </a:p>
        </p:txBody>
      </p:sp>
      <p:sp>
        <p:nvSpPr>
          <p:cNvPr id="6" name="CuadroTexto 5">
            <a:extLst>
              <a:ext uri="{FF2B5EF4-FFF2-40B4-BE49-F238E27FC236}">
                <a16:creationId xmlns:a16="http://schemas.microsoft.com/office/drawing/2014/main" id="{756BE17C-7968-4D71-80BB-CE660C86A4DA}"/>
              </a:ext>
            </a:extLst>
          </p:cNvPr>
          <p:cNvSpPr txBox="1"/>
          <p:nvPr/>
        </p:nvSpPr>
        <p:spPr>
          <a:xfrm>
            <a:off x="7555250" y="5880616"/>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mundial</a:t>
            </a:r>
          </a:p>
        </p:txBody>
      </p:sp>
    </p:spTree>
    <p:extLst>
      <p:ext uri="{BB962C8B-B14F-4D97-AF65-F5344CB8AC3E}">
        <p14:creationId xmlns:p14="http://schemas.microsoft.com/office/powerpoint/2010/main" val="347449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05F2-215B-43E6-856E-8141E7121381}"/>
              </a:ext>
            </a:extLst>
          </p:cNvPr>
          <p:cNvSpPr>
            <a:spLocks noGrp="1"/>
          </p:cNvSpPr>
          <p:nvPr>
            <p:ph type="title"/>
          </p:nvPr>
        </p:nvSpPr>
        <p:spPr/>
        <p:txBody>
          <a:bodyPr/>
          <a:lstStyle/>
          <a:p>
            <a:pPr algn="ctr"/>
            <a:r>
              <a:rPr lang="es-AR" b="1" dirty="0">
                <a:solidFill>
                  <a:schemeClr val="bg1"/>
                </a:solidFill>
              </a:rPr>
              <a:t>Participación energías renovables 2019</a:t>
            </a:r>
          </a:p>
        </p:txBody>
      </p:sp>
      <p:graphicFrame>
        <p:nvGraphicFramePr>
          <p:cNvPr id="6" name="Content Placeholder 5">
            <a:extLst>
              <a:ext uri="{FF2B5EF4-FFF2-40B4-BE49-F238E27FC236}">
                <a16:creationId xmlns:a16="http://schemas.microsoft.com/office/drawing/2014/main" id="{C7C72483-8638-4DD0-B934-A50947935CD6}"/>
              </a:ext>
            </a:extLst>
          </p:cNvPr>
          <p:cNvGraphicFramePr>
            <a:graphicFrameLocks noGrp="1"/>
          </p:cNvGraphicFramePr>
          <p:nvPr>
            <p:ph idx="1"/>
            <p:extLst>
              <p:ext uri="{D42A27DB-BD31-4B8C-83A1-F6EECF244321}">
                <p14:modId xmlns:p14="http://schemas.microsoft.com/office/powerpoint/2010/main" val="3782346156"/>
              </p:ext>
            </p:extLst>
          </p:nvPr>
        </p:nvGraphicFramePr>
        <p:xfrm>
          <a:off x="838200" y="1875729"/>
          <a:ext cx="10515600" cy="4843124"/>
        </p:xfrm>
        <a:graphic>
          <a:graphicData uri="http://schemas.openxmlformats.org/drawingml/2006/chart">
            <c:chart xmlns:c="http://schemas.openxmlformats.org/drawingml/2006/chart" xmlns:r="http://schemas.openxmlformats.org/officeDocument/2006/relationships" r:id="rId2"/>
          </a:graphicData>
        </a:graphic>
      </p:graphicFrame>
      <p:sp>
        <p:nvSpPr>
          <p:cNvPr id="4" name="CuadroTexto 3">
            <a:extLst>
              <a:ext uri="{FF2B5EF4-FFF2-40B4-BE49-F238E27FC236}">
                <a16:creationId xmlns:a16="http://schemas.microsoft.com/office/drawing/2014/main" id="{9939337D-2967-40A1-9AC9-3F6B528DE642}"/>
              </a:ext>
            </a:extLst>
          </p:cNvPr>
          <p:cNvSpPr txBox="1"/>
          <p:nvPr/>
        </p:nvSpPr>
        <p:spPr>
          <a:xfrm>
            <a:off x="9110349" y="5380383"/>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10640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7380095-683D-4332-950B-BF40A85F9387}"/>
              </a:ext>
            </a:extLst>
          </p:cNvPr>
          <p:cNvSpPr>
            <a:spLocks noGrp="1"/>
          </p:cNvSpPr>
          <p:nvPr>
            <p:ph type="title"/>
          </p:nvPr>
        </p:nvSpPr>
        <p:spPr>
          <a:xfrm>
            <a:off x="838200" y="365125"/>
            <a:ext cx="10515600" cy="1325563"/>
          </a:xfrm>
        </p:spPr>
        <p:txBody>
          <a:bodyPr/>
          <a:lstStyle/>
          <a:p>
            <a:pPr algn="ctr"/>
            <a:r>
              <a:rPr lang="es-AR" b="1" dirty="0">
                <a:solidFill>
                  <a:schemeClr val="bg1"/>
                </a:solidFill>
              </a:rPr>
              <a:t>Participación energías renovables </a:t>
            </a:r>
          </a:p>
        </p:txBody>
      </p:sp>
      <p:pic>
        <p:nvPicPr>
          <p:cNvPr id="5" name="Content Placeholder 4">
            <a:extLst>
              <a:ext uri="{FF2B5EF4-FFF2-40B4-BE49-F238E27FC236}">
                <a16:creationId xmlns:a16="http://schemas.microsoft.com/office/drawing/2014/main" id="{2D5E93FB-57FA-4F71-BE47-857CEAD29D5D}"/>
              </a:ext>
            </a:extLst>
          </p:cNvPr>
          <p:cNvPicPr>
            <a:picLocks noGrp="1"/>
          </p:cNvPicPr>
          <p:nvPr>
            <p:ph idx="1"/>
          </p:nvPr>
        </p:nvPicPr>
        <p:blipFill rotWithShape="1">
          <a:blip r:embed="rId2">
            <a:extLst>
              <a:ext uri="{28A0092B-C50C-407E-A947-70E740481C1C}">
                <a14:useLocalDpi xmlns:a14="http://schemas.microsoft.com/office/drawing/2010/main" val="0"/>
              </a:ext>
            </a:extLst>
          </a:blip>
          <a:srcRect l="6204" t="5064" r="406" b="14209"/>
          <a:stretch/>
        </p:blipFill>
        <p:spPr bwMode="auto">
          <a:xfrm>
            <a:off x="1207477" y="1690688"/>
            <a:ext cx="9777045" cy="4674943"/>
          </a:xfrm>
          <a:prstGeom prst="rect">
            <a:avLst/>
          </a:prstGeom>
          <a:noFill/>
          <a:ln>
            <a:noFill/>
          </a:ln>
        </p:spPr>
      </p:pic>
      <p:sp>
        <p:nvSpPr>
          <p:cNvPr id="6" name="CuadroTexto 5">
            <a:extLst>
              <a:ext uri="{FF2B5EF4-FFF2-40B4-BE49-F238E27FC236}">
                <a16:creationId xmlns:a16="http://schemas.microsoft.com/office/drawing/2014/main" id="{282AEE30-6951-4BD2-AFDA-CF5764B383ED}"/>
              </a:ext>
            </a:extLst>
          </p:cNvPr>
          <p:cNvSpPr txBox="1"/>
          <p:nvPr/>
        </p:nvSpPr>
        <p:spPr>
          <a:xfrm>
            <a:off x="8194419" y="6308209"/>
            <a:ext cx="2790103"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anose="05000000000000000000" pitchFamily="2" charset="2"/>
              <a:buChar char="Ø"/>
            </a:pPr>
            <a:r>
              <a:rPr lang="es-AR" b="1" dirty="0"/>
              <a:t>Gráfico a nivel nacional</a:t>
            </a:r>
          </a:p>
        </p:txBody>
      </p:sp>
    </p:spTree>
    <p:extLst>
      <p:ext uri="{BB962C8B-B14F-4D97-AF65-F5344CB8AC3E}">
        <p14:creationId xmlns:p14="http://schemas.microsoft.com/office/powerpoint/2010/main" val="360328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0C3A147-8D3F-44C5-BE87-A247C41FEF80}"/>
              </a:ext>
            </a:extLst>
          </p:cNvPr>
          <p:cNvSpPr/>
          <p:nvPr/>
        </p:nvSpPr>
        <p:spPr>
          <a:xfrm>
            <a:off x="1166446" y="1620099"/>
            <a:ext cx="9859107" cy="4677507"/>
          </a:xfrm>
          <a:prstGeom prst="rect">
            <a:avLst/>
          </a:prstGeom>
          <a:solidFill>
            <a:schemeClr val="bg2">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4" name="TextBox 3">
            <a:extLst>
              <a:ext uri="{FF2B5EF4-FFF2-40B4-BE49-F238E27FC236}">
                <a16:creationId xmlns:a16="http://schemas.microsoft.com/office/drawing/2014/main" id="{883B1D25-0CDE-48BA-BD32-47683BD96283}"/>
              </a:ext>
            </a:extLst>
          </p:cNvPr>
          <p:cNvSpPr txBox="1"/>
          <p:nvPr/>
        </p:nvSpPr>
        <p:spPr>
          <a:xfrm>
            <a:off x="1324708" y="1971790"/>
            <a:ext cx="2637692" cy="523220"/>
          </a:xfrm>
          <a:prstGeom prst="rect">
            <a:avLst/>
          </a:prstGeom>
          <a:noFill/>
        </p:spPr>
        <p:txBody>
          <a:bodyPr wrap="square" rtlCol="0">
            <a:spAutoFit/>
          </a:bodyPr>
          <a:lstStyle/>
          <a:p>
            <a:r>
              <a:rPr lang="en-US" sz="2800" b="1" dirty="0">
                <a:latin typeface="+mj-lt"/>
              </a:rPr>
              <a:t>Ronda 1 (2016)</a:t>
            </a:r>
            <a:endParaRPr lang="es-AR" sz="2800" b="1" dirty="0">
              <a:latin typeface="+mj-lt"/>
            </a:endParaRPr>
          </a:p>
        </p:txBody>
      </p:sp>
      <p:sp>
        <p:nvSpPr>
          <p:cNvPr id="5" name="TextBox 4">
            <a:extLst>
              <a:ext uri="{FF2B5EF4-FFF2-40B4-BE49-F238E27FC236}">
                <a16:creationId xmlns:a16="http://schemas.microsoft.com/office/drawing/2014/main" id="{B912A9E8-1939-4956-8CE0-56E1CF039693}"/>
              </a:ext>
            </a:extLst>
          </p:cNvPr>
          <p:cNvSpPr txBox="1"/>
          <p:nvPr/>
        </p:nvSpPr>
        <p:spPr>
          <a:xfrm>
            <a:off x="1324708" y="2543444"/>
            <a:ext cx="2637692" cy="523220"/>
          </a:xfrm>
          <a:prstGeom prst="rect">
            <a:avLst/>
          </a:prstGeom>
          <a:noFill/>
        </p:spPr>
        <p:txBody>
          <a:bodyPr wrap="square" rtlCol="0">
            <a:spAutoFit/>
          </a:bodyPr>
          <a:lstStyle/>
          <a:p>
            <a:r>
              <a:rPr lang="en-US" sz="2800" b="1" dirty="0">
                <a:latin typeface="+mj-lt"/>
              </a:rPr>
              <a:t>Ronda 1,5 (2016)</a:t>
            </a:r>
            <a:endParaRPr lang="es-AR" sz="2800" b="1" dirty="0">
              <a:latin typeface="+mj-lt"/>
            </a:endParaRPr>
          </a:p>
        </p:txBody>
      </p:sp>
      <p:sp>
        <p:nvSpPr>
          <p:cNvPr id="6" name="TextBox 5">
            <a:extLst>
              <a:ext uri="{FF2B5EF4-FFF2-40B4-BE49-F238E27FC236}">
                <a16:creationId xmlns:a16="http://schemas.microsoft.com/office/drawing/2014/main" id="{5CD85A19-84BD-4551-9F6D-A9E857C3D083}"/>
              </a:ext>
            </a:extLst>
          </p:cNvPr>
          <p:cNvSpPr txBox="1"/>
          <p:nvPr/>
        </p:nvSpPr>
        <p:spPr>
          <a:xfrm>
            <a:off x="1324708" y="3115098"/>
            <a:ext cx="2637692" cy="523220"/>
          </a:xfrm>
          <a:prstGeom prst="rect">
            <a:avLst/>
          </a:prstGeom>
          <a:noFill/>
        </p:spPr>
        <p:txBody>
          <a:bodyPr wrap="square" rtlCol="0">
            <a:spAutoFit/>
          </a:bodyPr>
          <a:lstStyle/>
          <a:p>
            <a:r>
              <a:rPr lang="en-US" sz="2800" b="1" dirty="0">
                <a:latin typeface="+mj-lt"/>
              </a:rPr>
              <a:t>Ronda 2 (2017)</a:t>
            </a:r>
            <a:endParaRPr lang="es-AR" sz="2800" b="1" dirty="0">
              <a:latin typeface="+mj-lt"/>
            </a:endParaRPr>
          </a:p>
        </p:txBody>
      </p:sp>
      <p:sp>
        <p:nvSpPr>
          <p:cNvPr id="7" name="TextBox 6">
            <a:extLst>
              <a:ext uri="{FF2B5EF4-FFF2-40B4-BE49-F238E27FC236}">
                <a16:creationId xmlns:a16="http://schemas.microsoft.com/office/drawing/2014/main" id="{B3381101-AC7E-48E8-854B-A88222F71BE6}"/>
              </a:ext>
            </a:extLst>
          </p:cNvPr>
          <p:cNvSpPr txBox="1"/>
          <p:nvPr/>
        </p:nvSpPr>
        <p:spPr>
          <a:xfrm>
            <a:off x="1324708" y="3686752"/>
            <a:ext cx="2637692" cy="523220"/>
          </a:xfrm>
          <a:prstGeom prst="rect">
            <a:avLst/>
          </a:prstGeom>
          <a:noFill/>
        </p:spPr>
        <p:txBody>
          <a:bodyPr wrap="square" rtlCol="0">
            <a:spAutoFit/>
          </a:bodyPr>
          <a:lstStyle/>
          <a:p>
            <a:r>
              <a:rPr lang="en-US" sz="2800" b="1" dirty="0">
                <a:latin typeface="+mj-lt"/>
              </a:rPr>
              <a:t>Ronda 3 (2019)</a:t>
            </a:r>
            <a:endParaRPr lang="es-AR" sz="2800" b="1" dirty="0">
              <a:latin typeface="+mj-lt"/>
            </a:endParaRPr>
          </a:p>
        </p:txBody>
      </p:sp>
      <p:sp>
        <p:nvSpPr>
          <p:cNvPr id="11" name="Arrow: Right 10">
            <a:extLst>
              <a:ext uri="{FF2B5EF4-FFF2-40B4-BE49-F238E27FC236}">
                <a16:creationId xmlns:a16="http://schemas.microsoft.com/office/drawing/2014/main" id="{BAF41653-F68A-492E-BFC3-EF5995FDD8A4}"/>
              </a:ext>
            </a:extLst>
          </p:cNvPr>
          <p:cNvSpPr/>
          <p:nvPr/>
        </p:nvSpPr>
        <p:spPr>
          <a:xfrm>
            <a:off x="4454769" y="2102595"/>
            <a:ext cx="2637692" cy="26161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Arrow: Right 11">
            <a:extLst>
              <a:ext uri="{FF2B5EF4-FFF2-40B4-BE49-F238E27FC236}">
                <a16:creationId xmlns:a16="http://schemas.microsoft.com/office/drawing/2014/main" id="{437F351A-B253-460A-989E-9D98B4E73CCF}"/>
              </a:ext>
            </a:extLst>
          </p:cNvPr>
          <p:cNvSpPr/>
          <p:nvPr/>
        </p:nvSpPr>
        <p:spPr>
          <a:xfrm>
            <a:off x="4454769" y="2674249"/>
            <a:ext cx="2637692" cy="26161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Arrow: Right 12">
            <a:extLst>
              <a:ext uri="{FF2B5EF4-FFF2-40B4-BE49-F238E27FC236}">
                <a16:creationId xmlns:a16="http://schemas.microsoft.com/office/drawing/2014/main" id="{80CFCB3F-CA11-4117-9920-D5005EF83041}"/>
              </a:ext>
            </a:extLst>
          </p:cNvPr>
          <p:cNvSpPr/>
          <p:nvPr/>
        </p:nvSpPr>
        <p:spPr>
          <a:xfrm>
            <a:off x="4454769" y="3245903"/>
            <a:ext cx="2637692" cy="26161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Arrow: Right 13">
            <a:extLst>
              <a:ext uri="{FF2B5EF4-FFF2-40B4-BE49-F238E27FC236}">
                <a16:creationId xmlns:a16="http://schemas.microsoft.com/office/drawing/2014/main" id="{2B956F42-4825-4045-8FF8-ACEA590E8544}"/>
              </a:ext>
            </a:extLst>
          </p:cNvPr>
          <p:cNvSpPr/>
          <p:nvPr/>
        </p:nvSpPr>
        <p:spPr>
          <a:xfrm>
            <a:off x="4454769" y="3823110"/>
            <a:ext cx="2637692" cy="26161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TextBox 14">
            <a:extLst>
              <a:ext uri="{FF2B5EF4-FFF2-40B4-BE49-F238E27FC236}">
                <a16:creationId xmlns:a16="http://schemas.microsoft.com/office/drawing/2014/main" id="{62B9C9F4-5E3B-4F24-89FE-CFE1C8FB1453}"/>
              </a:ext>
            </a:extLst>
          </p:cNvPr>
          <p:cNvSpPr txBox="1"/>
          <p:nvPr/>
        </p:nvSpPr>
        <p:spPr>
          <a:xfrm>
            <a:off x="7895492" y="1971790"/>
            <a:ext cx="3130061" cy="523220"/>
          </a:xfrm>
          <a:prstGeom prst="rect">
            <a:avLst/>
          </a:prstGeom>
          <a:noFill/>
        </p:spPr>
        <p:txBody>
          <a:bodyPr wrap="square" rtlCol="0">
            <a:spAutoFit/>
          </a:bodyPr>
          <a:lstStyle/>
          <a:p>
            <a:r>
              <a:rPr lang="en-US" sz="2800" b="1" dirty="0"/>
              <a:t>61.33</a:t>
            </a:r>
            <a:r>
              <a:rPr lang="en-US" sz="2800" b="1" dirty="0">
                <a:latin typeface="+mj-lt"/>
              </a:rPr>
              <a:t> </a:t>
            </a:r>
            <a:r>
              <a:rPr lang="en-US" sz="2800" dirty="0">
                <a:latin typeface="+mj-lt"/>
              </a:rPr>
              <a:t>USD / MWh </a:t>
            </a:r>
            <a:endParaRPr lang="es-AR" sz="2800" dirty="0">
              <a:latin typeface="+mj-lt"/>
            </a:endParaRPr>
          </a:p>
        </p:txBody>
      </p:sp>
      <p:sp>
        <p:nvSpPr>
          <p:cNvPr id="16" name="TextBox 15">
            <a:extLst>
              <a:ext uri="{FF2B5EF4-FFF2-40B4-BE49-F238E27FC236}">
                <a16:creationId xmlns:a16="http://schemas.microsoft.com/office/drawing/2014/main" id="{B093EF04-49CD-4F92-8840-79C4B2CECA98}"/>
              </a:ext>
            </a:extLst>
          </p:cNvPr>
          <p:cNvSpPr txBox="1"/>
          <p:nvPr/>
        </p:nvSpPr>
        <p:spPr>
          <a:xfrm>
            <a:off x="7895493" y="2543444"/>
            <a:ext cx="3294184" cy="523220"/>
          </a:xfrm>
          <a:prstGeom prst="rect">
            <a:avLst/>
          </a:prstGeom>
          <a:noFill/>
        </p:spPr>
        <p:txBody>
          <a:bodyPr wrap="square" rtlCol="0">
            <a:spAutoFit/>
          </a:bodyPr>
          <a:lstStyle/>
          <a:p>
            <a:r>
              <a:rPr lang="en-US" sz="2800" b="1" dirty="0"/>
              <a:t>53.98 </a:t>
            </a:r>
            <a:r>
              <a:rPr lang="en-US" sz="2800" dirty="0"/>
              <a:t>USD / MWh </a:t>
            </a:r>
            <a:endParaRPr lang="es-AR" sz="2800" dirty="0"/>
          </a:p>
        </p:txBody>
      </p:sp>
      <p:sp>
        <p:nvSpPr>
          <p:cNvPr id="17" name="TextBox 16">
            <a:extLst>
              <a:ext uri="{FF2B5EF4-FFF2-40B4-BE49-F238E27FC236}">
                <a16:creationId xmlns:a16="http://schemas.microsoft.com/office/drawing/2014/main" id="{7E960353-A4E2-418B-A17D-EB10F9239569}"/>
              </a:ext>
            </a:extLst>
          </p:cNvPr>
          <p:cNvSpPr txBox="1"/>
          <p:nvPr/>
        </p:nvSpPr>
        <p:spPr>
          <a:xfrm>
            <a:off x="7895492" y="3115098"/>
            <a:ext cx="2977661" cy="523220"/>
          </a:xfrm>
          <a:prstGeom prst="rect">
            <a:avLst/>
          </a:prstGeom>
          <a:noFill/>
        </p:spPr>
        <p:txBody>
          <a:bodyPr wrap="square" rtlCol="0">
            <a:spAutoFit/>
          </a:bodyPr>
          <a:lstStyle/>
          <a:p>
            <a:r>
              <a:rPr lang="en-US" sz="2800" b="1" dirty="0"/>
              <a:t>51.48 </a:t>
            </a:r>
            <a:r>
              <a:rPr lang="en-US" sz="2800" dirty="0"/>
              <a:t>USD / MWh </a:t>
            </a:r>
            <a:endParaRPr lang="es-AR" sz="2800" dirty="0"/>
          </a:p>
        </p:txBody>
      </p:sp>
      <p:sp>
        <p:nvSpPr>
          <p:cNvPr id="18" name="TextBox 17">
            <a:extLst>
              <a:ext uri="{FF2B5EF4-FFF2-40B4-BE49-F238E27FC236}">
                <a16:creationId xmlns:a16="http://schemas.microsoft.com/office/drawing/2014/main" id="{CCBDD271-61DE-40B4-BC0B-9FB9DBD36443}"/>
              </a:ext>
            </a:extLst>
          </p:cNvPr>
          <p:cNvSpPr txBox="1"/>
          <p:nvPr/>
        </p:nvSpPr>
        <p:spPr>
          <a:xfrm>
            <a:off x="7895493" y="3686752"/>
            <a:ext cx="3130060" cy="523220"/>
          </a:xfrm>
          <a:prstGeom prst="rect">
            <a:avLst/>
          </a:prstGeom>
          <a:noFill/>
        </p:spPr>
        <p:txBody>
          <a:bodyPr wrap="square" rtlCol="0">
            <a:spAutoFit/>
          </a:bodyPr>
          <a:lstStyle/>
          <a:p>
            <a:r>
              <a:rPr lang="en-US" sz="2800" b="1" dirty="0"/>
              <a:t>67.62 </a:t>
            </a:r>
            <a:r>
              <a:rPr lang="en-US" sz="2800" dirty="0"/>
              <a:t>USD / MWh </a:t>
            </a:r>
            <a:endParaRPr lang="es-AR" sz="2800" dirty="0"/>
          </a:p>
        </p:txBody>
      </p:sp>
      <p:sp>
        <p:nvSpPr>
          <p:cNvPr id="19" name="TextBox 18">
            <a:extLst>
              <a:ext uri="{FF2B5EF4-FFF2-40B4-BE49-F238E27FC236}">
                <a16:creationId xmlns:a16="http://schemas.microsoft.com/office/drawing/2014/main" id="{78AFE563-088D-4D4C-8902-5A53543B508A}"/>
              </a:ext>
            </a:extLst>
          </p:cNvPr>
          <p:cNvSpPr txBox="1"/>
          <p:nvPr/>
        </p:nvSpPr>
        <p:spPr>
          <a:xfrm>
            <a:off x="1324708" y="4955313"/>
            <a:ext cx="4079630" cy="523220"/>
          </a:xfrm>
          <a:prstGeom prst="rect">
            <a:avLst/>
          </a:prstGeom>
          <a:noFill/>
        </p:spPr>
        <p:txBody>
          <a:bodyPr wrap="square" rtlCol="0">
            <a:spAutoFit/>
          </a:bodyPr>
          <a:lstStyle/>
          <a:p>
            <a:r>
              <a:rPr lang="en-US" sz="2800" b="1" dirty="0">
                <a:latin typeface="+mj-lt"/>
              </a:rPr>
              <a:t>IRENA estima 2021 global</a:t>
            </a:r>
            <a:endParaRPr lang="es-AR" sz="2800" b="1" dirty="0">
              <a:latin typeface="+mj-lt"/>
            </a:endParaRPr>
          </a:p>
        </p:txBody>
      </p:sp>
      <p:sp>
        <p:nvSpPr>
          <p:cNvPr id="20" name="TextBox 19">
            <a:extLst>
              <a:ext uri="{FF2B5EF4-FFF2-40B4-BE49-F238E27FC236}">
                <a16:creationId xmlns:a16="http://schemas.microsoft.com/office/drawing/2014/main" id="{589F06A7-14F6-4293-8C4D-E9F08738B530}"/>
              </a:ext>
            </a:extLst>
          </p:cNvPr>
          <p:cNvSpPr txBox="1"/>
          <p:nvPr/>
        </p:nvSpPr>
        <p:spPr>
          <a:xfrm>
            <a:off x="1324708" y="5526967"/>
            <a:ext cx="3833446" cy="523220"/>
          </a:xfrm>
          <a:prstGeom prst="rect">
            <a:avLst/>
          </a:prstGeom>
          <a:noFill/>
        </p:spPr>
        <p:txBody>
          <a:bodyPr wrap="square" rtlCol="0">
            <a:spAutoFit/>
          </a:bodyPr>
          <a:lstStyle/>
          <a:p>
            <a:r>
              <a:rPr lang="en-US" sz="2800" b="1" dirty="0">
                <a:latin typeface="+mj-lt"/>
              </a:rPr>
              <a:t>Chile (fotovoltaica)</a:t>
            </a:r>
            <a:endParaRPr lang="es-AR" sz="2800" b="1" dirty="0">
              <a:latin typeface="+mj-lt"/>
            </a:endParaRPr>
          </a:p>
        </p:txBody>
      </p:sp>
      <p:sp>
        <p:nvSpPr>
          <p:cNvPr id="21" name="Arrow: Right 20">
            <a:extLst>
              <a:ext uri="{FF2B5EF4-FFF2-40B4-BE49-F238E27FC236}">
                <a16:creationId xmlns:a16="http://schemas.microsoft.com/office/drawing/2014/main" id="{367A914A-E254-43DD-9B78-339E6B78C8B5}"/>
              </a:ext>
            </a:extLst>
          </p:cNvPr>
          <p:cNvSpPr/>
          <p:nvPr/>
        </p:nvSpPr>
        <p:spPr>
          <a:xfrm>
            <a:off x="5404339" y="5080565"/>
            <a:ext cx="1688122" cy="267163"/>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2" name="Arrow: Right 21">
            <a:extLst>
              <a:ext uri="{FF2B5EF4-FFF2-40B4-BE49-F238E27FC236}">
                <a16:creationId xmlns:a16="http://schemas.microsoft.com/office/drawing/2014/main" id="{A40CB1A7-68E7-46BA-8E26-AEC9F362D707}"/>
              </a:ext>
            </a:extLst>
          </p:cNvPr>
          <p:cNvSpPr/>
          <p:nvPr/>
        </p:nvSpPr>
        <p:spPr>
          <a:xfrm>
            <a:off x="5404337" y="5652219"/>
            <a:ext cx="1688123" cy="267163"/>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3" name="TextBox 22">
            <a:extLst>
              <a:ext uri="{FF2B5EF4-FFF2-40B4-BE49-F238E27FC236}">
                <a16:creationId xmlns:a16="http://schemas.microsoft.com/office/drawing/2014/main" id="{D4E6CF25-7DA7-4927-88D7-D61365BF01F9}"/>
              </a:ext>
            </a:extLst>
          </p:cNvPr>
          <p:cNvSpPr txBox="1"/>
          <p:nvPr/>
        </p:nvSpPr>
        <p:spPr>
          <a:xfrm>
            <a:off x="7895492" y="4955313"/>
            <a:ext cx="3130061" cy="523220"/>
          </a:xfrm>
          <a:prstGeom prst="rect">
            <a:avLst/>
          </a:prstGeom>
          <a:noFill/>
        </p:spPr>
        <p:txBody>
          <a:bodyPr wrap="square" rtlCol="0">
            <a:spAutoFit/>
          </a:bodyPr>
          <a:lstStyle/>
          <a:p>
            <a:r>
              <a:rPr lang="en-US" sz="2800" b="1" dirty="0"/>
              <a:t>61.33</a:t>
            </a:r>
            <a:r>
              <a:rPr lang="en-US" sz="2800" b="1" dirty="0">
                <a:latin typeface="+mj-lt"/>
              </a:rPr>
              <a:t> </a:t>
            </a:r>
            <a:r>
              <a:rPr lang="en-US" sz="2800" dirty="0">
                <a:latin typeface="+mj-lt"/>
              </a:rPr>
              <a:t>USD / MWh </a:t>
            </a:r>
            <a:endParaRPr lang="es-AR" sz="2800" dirty="0">
              <a:latin typeface="+mj-lt"/>
            </a:endParaRPr>
          </a:p>
        </p:txBody>
      </p:sp>
      <p:sp>
        <p:nvSpPr>
          <p:cNvPr id="24" name="TextBox 23">
            <a:extLst>
              <a:ext uri="{FF2B5EF4-FFF2-40B4-BE49-F238E27FC236}">
                <a16:creationId xmlns:a16="http://schemas.microsoft.com/office/drawing/2014/main" id="{5A223A50-B420-4F36-B792-7C8503C6A67B}"/>
              </a:ext>
            </a:extLst>
          </p:cNvPr>
          <p:cNvSpPr txBox="1"/>
          <p:nvPr/>
        </p:nvSpPr>
        <p:spPr>
          <a:xfrm>
            <a:off x="7895493" y="5526967"/>
            <a:ext cx="3294184" cy="523220"/>
          </a:xfrm>
          <a:prstGeom prst="rect">
            <a:avLst/>
          </a:prstGeom>
          <a:noFill/>
        </p:spPr>
        <p:txBody>
          <a:bodyPr wrap="square" rtlCol="0">
            <a:spAutoFit/>
          </a:bodyPr>
          <a:lstStyle/>
          <a:p>
            <a:r>
              <a:rPr lang="en-US" sz="2800" b="1" dirty="0"/>
              <a:t>53.98 </a:t>
            </a:r>
            <a:r>
              <a:rPr lang="en-US" sz="2800" dirty="0"/>
              <a:t>USD / MWh </a:t>
            </a:r>
            <a:endParaRPr lang="es-AR" sz="2800" dirty="0"/>
          </a:p>
        </p:txBody>
      </p:sp>
      <p:sp>
        <p:nvSpPr>
          <p:cNvPr id="28" name="Title 1">
            <a:extLst>
              <a:ext uri="{FF2B5EF4-FFF2-40B4-BE49-F238E27FC236}">
                <a16:creationId xmlns:a16="http://schemas.microsoft.com/office/drawing/2014/main" id="{D4DD461A-DB63-43E2-843F-9B3AB8146EC4}"/>
              </a:ext>
            </a:extLst>
          </p:cNvPr>
          <p:cNvSpPr>
            <a:spLocks noGrp="1"/>
          </p:cNvSpPr>
          <p:nvPr>
            <p:ph type="title"/>
          </p:nvPr>
        </p:nvSpPr>
        <p:spPr>
          <a:xfrm>
            <a:off x="861646" y="294536"/>
            <a:ext cx="10515600" cy="1325563"/>
          </a:xfrm>
        </p:spPr>
        <p:txBody>
          <a:bodyPr>
            <a:normAutofit/>
          </a:bodyPr>
          <a:lstStyle/>
          <a:p>
            <a:pPr algn="ctr"/>
            <a:r>
              <a:rPr lang="es-AR" b="1" dirty="0">
                <a:solidFill>
                  <a:schemeClr val="bg1"/>
                </a:solidFill>
              </a:rPr>
              <a:t>Costos de generación renovable</a:t>
            </a:r>
          </a:p>
        </p:txBody>
      </p:sp>
    </p:spTree>
    <p:extLst>
      <p:ext uri="{BB962C8B-B14F-4D97-AF65-F5344CB8AC3E}">
        <p14:creationId xmlns:p14="http://schemas.microsoft.com/office/powerpoint/2010/main" val="2006687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0A00-4287-4487-A073-91AEF8334E46}"/>
              </a:ext>
            </a:extLst>
          </p:cNvPr>
          <p:cNvSpPr>
            <a:spLocks noGrp="1"/>
          </p:cNvSpPr>
          <p:nvPr>
            <p:ph type="title"/>
          </p:nvPr>
        </p:nvSpPr>
        <p:spPr/>
        <p:txBody>
          <a:bodyPr/>
          <a:lstStyle/>
          <a:p>
            <a:pPr algn="ctr"/>
            <a:r>
              <a:rPr lang="es-AR" b="1" dirty="0">
                <a:solidFill>
                  <a:schemeClr val="bg1"/>
                </a:solidFill>
              </a:rPr>
              <a:t>Proyectos a iniciar</a:t>
            </a:r>
          </a:p>
        </p:txBody>
      </p:sp>
      <p:pic>
        <p:nvPicPr>
          <p:cNvPr id="5" name="Marcador de contenido 4" descr="Imagen que contiene dibujo&#10;&#10;Descripción generada automáticamente">
            <a:extLst>
              <a:ext uri="{FF2B5EF4-FFF2-40B4-BE49-F238E27FC236}">
                <a16:creationId xmlns:a16="http://schemas.microsoft.com/office/drawing/2014/main" id="{A80E85F5-86C9-431E-9163-DDB905221E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9025" y="1815547"/>
            <a:ext cx="9862314" cy="4337418"/>
          </a:xfrm>
        </p:spPr>
      </p:pic>
    </p:spTree>
    <p:extLst>
      <p:ext uri="{BB962C8B-B14F-4D97-AF65-F5344CB8AC3E}">
        <p14:creationId xmlns:p14="http://schemas.microsoft.com/office/powerpoint/2010/main" val="253575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096E-479E-4D06-B0B6-D06E5F1202A3}"/>
              </a:ext>
            </a:extLst>
          </p:cNvPr>
          <p:cNvSpPr>
            <a:spLocks noGrp="1"/>
          </p:cNvSpPr>
          <p:nvPr>
            <p:ph type="title"/>
          </p:nvPr>
        </p:nvSpPr>
        <p:spPr/>
        <p:txBody>
          <a:bodyPr/>
          <a:lstStyle/>
          <a:p>
            <a:pPr algn="ctr"/>
            <a:r>
              <a:rPr lang="es-AR" b="1" dirty="0">
                <a:solidFill>
                  <a:schemeClr val="bg1"/>
                </a:solidFill>
              </a:rPr>
              <a:t>Hoja de ruta para Argentina</a:t>
            </a:r>
          </a:p>
        </p:txBody>
      </p:sp>
      <p:sp>
        <p:nvSpPr>
          <p:cNvPr id="4" name="CuadroTexto 3">
            <a:extLst>
              <a:ext uri="{FF2B5EF4-FFF2-40B4-BE49-F238E27FC236}">
                <a16:creationId xmlns:a16="http://schemas.microsoft.com/office/drawing/2014/main" id="{E2DBF47D-DB9D-4554-B600-511768916757}"/>
              </a:ext>
            </a:extLst>
          </p:cNvPr>
          <p:cNvSpPr txBox="1"/>
          <p:nvPr/>
        </p:nvSpPr>
        <p:spPr>
          <a:xfrm>
            <a:off x="1272208" y="1802295"/>
            <a:ext cx="2862469"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AR" sz="2800" b="1" dirty="0"/>
              <a:t>Primera jornada</a:t>
            </a:r>
          </a:p>
        </p:txBody>
      </p:sp>
      <p:sp>
        <p:nvSpPr>
          <p:cNvPr id="5" name="CuadroTexto 4">
            <a:extLst>
              <a:ext uri="{FF2B5EF4-FFF2-40B4-BE49-F238E27FC236}">
                <a16:creationId xmlns:a16="http://schemas.microsoft.com/office/drawing/2014/main" id="{EBB3B7DF-669E-4989-81C6-70B9ED638696}"/>
              </a:ext>
            </a:extLst>
          </p:cNvPr>
          <p:cNvSpPr txBox="1"/>
          <p:nvPr/>
        </p:nvSpPr>
        <p:spPr>
          <a:xfrm>
            <a:off x="7354959" y="1802295"/>
            <a:ext cx="2862469"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AR" sz="2800" b="1" dirty="0"/>
              <a:t>Segunda jornada</a:t>
            </a:r>
          </a:p>
        </p:txBody>
      </p:sp>
      <p:sp>
        <p:nvSpPr>
          <p:cNvPr id="6" name="Flecha: hacia abajo 5">
            <a:extLst>
              <a:ext uri="{FF2B5EF4-FFF2-40B4-BE49-F238E27FC236}">
                <a16:creationId xmlns:a16="http://schemas.microsoft.com/office/drawing/2014/main" id="{0F311046-9610-4453-8FFA-9E260C8CC6F9}"/>
              </a:ext>
            </a:extLst>
          </p:cNvPr>
          <p:cNvSpPr/>
          <p:nvPr/>
        </p:nvSpPr>
        <p:spPr>
          <a:xfrm>
            <a:off x="2339007" y="2690191"/>
            <a:ext cx="728870" cy="11396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Flecha: hacia abajo 6">
            <a:extLst>
              <a:ext uri="{FF2B5EF4-FFF2-40B4-BE49-F238E27FC236}">
                <a16:creationId xmlns:a16="http://schemas.microsoft.com/office/drawing/2014/main" id="{B24546D5-C54E-4C88-BBED-813393595113}"/>
              </a:ext>
            </a:extLst>
          </p:cNvPr>
          <p:cNvSpPr/>
          <p:nvPr/>
        </p:nvSpPr>
        <p:spPr>
          <a:xfrm>
            <a:off x="8421758" y="2690190"/>
            <a:ext cx="728870" cy="11396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8E3B9184-6974-4614-8225-2B7ACC919886}"/>
              </a:ext>
            </a:extLst>
          </p:cNvPr>
          <p:cNvSpPr txBox="1"/>
          <p:nvPr/>
        </p:nvSpPr>
        <p:spPr>
          <a:xfrm>
            <a:off x="7354958" y="4270876"/>
            <a:ext cx="2862469"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AR" sz="2800" b="1" dirty="0"/>
              <a:t>Octubre 2020</a:t>
            </a:r>
          </a:p>
        </p:txBody>
      </p:sp>
      <p:sp>
        <p:nvSpPr>
          <p:cNvPr id="10" name="CuadroTexto 9">
            <a:extLst>
              <a:ext uri="{FF2B5EF4-FFF2-40B4-BE49-F238E27FC236}">
                <a16:creationId xmlns:a16="http://schemas.microsoft.com/office/drawing/2014/main" id="{171E7260-4713-495C-85DE-8237FF9FA593}"/>
              </a:ext>
            </a:extLst>
          </p:cNvPr>
          <p:cNvSpPr txBox="1"/>
          <p:nvPr/>
        </p:nvSpPr>
        <p:spPr>
          <a:xfrm>
            <a:off x="1272208" y="4270876"/>
            <a:ext cx="2862469"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AR" sz="2800" b="1" dirty="0"/>
              <a:t>Julio 2020</a:t>
            </a:r>
          </a:p>
        </p:txBody>
      </p:sp>
    </p:spTree>
    <p:extLst>
      <p:ext uri="{BB962C8B-B14F-4D97-AF65-F5344CB8AC3E}">
        <p14:creationId xmlns:p14="http://schemas.microsoft.com/office/powerpoint/2010/main" val="1184782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TotalTime>
  <Words>291</Words>
  <Application>Microsoft Office PowerPoint</Application>
  <PresentationFormat>Panorámica</PresentationFormat>
  <Paragraphs>62</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Wingdings</vt:lpstr>
      <vt:lpstr>Office Theme</vt:lpstr>
      <vt:lpstr>El hidrógeno hacia una economía circular y baja en carbono.</vt:lpstr>
      <vt:lpstr>Plataforma escenarios energéticos</vt:lpstr>
      <vt:lpstr>Escenario planteado: LOS VERDES</vt:lpstr>
      <vt:lpstr>Emisiones de CO2 del sector eléctrico </vt:lpstr>
      <vt:lpstr>Desarrollo del sector eléctrico</vt:lpstr>
      <vt:lpstr>Generación eléctrica en 2040</vt:lpstr>
      <vt:lpstr>Diversidad energética primaria en 2040</vt:lpstr>
      <vt:lpstr>Emisiones de CO2</vt:lpstr>
      <vt:lpstr>Emisiones de CO2</vt:lpstr>
      <vt:lpstr>Acuerdo de Paris</vt:lpstr>
      <vt:lpstr>65% de la cantidad de carbono compatible con el objetivo de 2°C ya esta utilizada</vt:lpstr>
      <vt:lpstr> </vt:lpstr>
      <vt:lpstr>Participación energías renovables 2019</vt:lpstr>
      <vt:lpstr>Participación energías renovables </vt:lpstr>
      <vt:lpstr>Costos de generación renovable</vt:lpstr>
      <vt:lpstr>Proyectos a iniciar</vt:lpstr>
      <vt:lpstr>Hoja de ruta para Argentina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Acuerdo de Paris</dc:title>
  <dc:creator>Ariel Lebedevski</dc:creator>
  <cp:lastModifiedBy>Lucas Ferrari</cp:lastModifiedBy>
  <cp:revision>22</cp:revision>
  <dcterms:created xsi:type="dcterms:W3CDTF">2020-10-20T20:33:09Z</dcterms:created>
  <dcterms:modified xsi:type="dcterms:W3CDTF">2020-11-02T13:46:10Z</dcterms:modified>
</cp:coreProperties>
</file>