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slideshow.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0" r:id="rId6"/>
    <p:sldId id="262"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9" autoAdjust="0"/>
    <p:restoredTop sz="94660"/>
  </p:normalViewPr>
  <p:slideViewPr>
    <p:cSldViewPr snapToGrid="0" showGuides="1">
      <p:cViewPr varScale="1">
        <p:scale>
          <a:sx n="73" d="100"/>
          <a:sy n="73" d="100"/>
        </p:scale>
        <p:origin x="558"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60D9B-4D4D-4BEE-A12A-C592DD970B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AR"/>
          </a:p>
        </p:txBody>
      </p:sp>
      <p:sp>
        <p:nvSpPr>
          <p:cNvPr id="3" name="Subtitle 2">
            <a:extLst>
              <a:ext uri="{FF2B5EF4-FFF2-40B4-BE49-F238E27FC236}">
                <a16:creationId xmlns:a16="http://schemas.microsoft.com/office/drawing/2014/main" id="{94187600-5CB0-4CDB-A3B8-57692361C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AR"/>
          </a:p>
        </p:txBody>
      </p:sp>
      <p:sp>
        <p:nvSpPr>
          <p:cNvPr id="4" name="Date Placeholder 3">
            <a:extLst>
              <a:ext uri="{FF2B5EF4-FFF2-40B4-BE49-F238E27FC236}">
                <a16:creationId xmlns:a16="http://schemas.microsoft.com/office/drawing/2014/main" id="{F9BBDA9D-8F42-47E7-B041-F791332C7B37}"/>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5" name="Footer Placeholder 4">
            <a:extLst>
              <a:ext uri="{FF2B5EF4-FFF2-40B4-BE49-F238E27FC236}">
                <a16:creationId xmlns:a16="http://schemas.microsoft.com/office/drawing/2014/main" id="{190DFBD7-819A-49B7-A3BD-BA46B15D398A}"/>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B6E0EF58-E0EB-43BC-A029-5CC5E47B4164}"/>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3331701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4150-518A-406F-973D-3CAD7C76300C}"/>
              </a:ext>
            </a:extLst>
          </p:cNvPr>
          <p:cNvSpPr>
            <a:spLocks noGrp="1"/>
          </p:cNvSpPr>
          <p:nvPr>
            <p:ph type="title"/>
          </p:nvPr>
        </p:nvSpPr>
        <p:spPr/>
        <p:txBody>
          <a:bodyPr/>
          <a:lstStyle/>
          <a:p>
            <a:r>
              <a:rPr lang="en-US"/>
              <a:t>Click to edit Master title style</a:t>
            </a:r>
            <a:endParaRPr lang="es-AR"/>
          </a:p>
        </p:txBody>
      </p:sp>
      <p:sp>
        <p:nvSpPr>
          <p:cNvPr id="3" name="Content Placeholder 2">
            <a:extLst>
              <a:ext uri="{FF2B5EF4-FFF2-40B4-BE49-F238E27FC236}">
                <a16:creationId xmlns:a16="http://schemas.microsoft.com/office/drawing/2014/main" id="{AD19EF22-4C91-4F0B-AED9-15A3448FA1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B0819987-C590-44BE-9154-2210B37414DC}"/>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5" name="Footer Placeholder 4">
            <a:extLst>
              <a:ext uri="{FF2B5EF4-FFF2-40B4-BE49-F238E27FC236}">
                <a16:creationId xmlns:a16="http://schemas.microsoft.com/office/drawing/2014/main" id="{145AC75C-92B6-46A3-83B0-31313152F0C9}"/>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5C1D0853-6901-43C2-B86D-81D2C2659374}"/>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104720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4AF7-FF39-4D97-8DB2-5971DCCEB4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AR"/>
          </a:p>
        </p:txBody>
      </p:sp>
      <p:sp>
        <p:nvSpPr>
          <p:cNvPr id="3" name="Text Placeholder 2">
            <a:extLst>
              <a:ext uri="{FF2B5EF4-FFF2-40B4-BE49-F238E27FC236}">
                <a16:creationId xmlns:a16="http://schemas.microsoft.com/office/drawing/2014/main" id="{3FA46B09-7B34-4FDE-98AF-1A3E79DBB4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28020-68B4-456B-9E07-96F2DB76B1B0}"/>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5" name="Footer Placeholder 4">
            <a:extLst>
              <a:ext uri="{FF2B5EF4-FFF2-40B4-BE49-F238E27FC236}">
                <a16:creationId xmlns:a16="http://schemas.microsoft.com/office/drawing/2014/main" id="{A72C0C1F-ABCC-4DF3-B80E-B72B794102DF}"/>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BAE3D8D8-72DE-48CC-9131-1F831FA9A644}"/>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1946437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3BF85-B413-4ADF-8E05-C2827C99453F}"/>
              </a:ext>
            </a:extLst>
          </p:cNvPr>
          <p:cNvSpPr>
            <a:spLocks noGrp="1"/>
          </p:cNvSpPr>
          <p:nvPr>
            <p:ph type="title"/>
          </p:nvPr>
        </p:nvSpPr>
        <p:spPr/>
        <p:txBody>
          <a:bodyPr/>
          <a:lstStyle/>
          <a:p>
            <a:r>
              <a:rPr lang="en-US"/>
              <a:t>Click to edit Master title style</a:t>
            </a:r>
            <a:endParaRPr lang="es-AR"/>
          </a:p>
        </p:txBody>
      </p:sp>
      <p:sp>
        <p:nvSpPr>
          <p:cNvPr id="3" name="Content Placeholder 2">
            <a:extLst>
              <a:ext uri="{FF2B5EF4-FFF2-40B4-BE49-F238E27FC236}">
                <a16:creationId xmlns:a16="http://schemas.microsoft.com/office/drawing/2014/main" id="{A8EFC8EF-400F-425A-9434-37C55CED7B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Content Placeholder 3">
            <a:extLst>
              <a:ext uri="{FF2B5EF4-FFF2-40B4-BE49-F238E27FC236}">
                <a16:creationId xmlns:a16="http://schemas.microsoft.com/office/drawing/2014/main" id="{42A6B891-2387-487E-B8BB-F508DA1E44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Date Placeholder 4">
            <a:extLst>
              <a:ext uri="{FF2B5EF4-FFF2-40B4-BE49-F238E27FC236}">
                <a16:creationId xmlns:a16="http://schemas.microsoft.com/office/drawing/2014/main" id="{0AA17F1C-A201-40A0-ADEC-BB3197BD5C9C}"/>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6" name="Footer Placeholder 5">
            <a:extLst>
              <a:ext uri="{FF2B5EF4-FFF2-40B4-BE49-F238E27FC236}">
                <a16:creationId xmlns:a16="http://schemas.microsoft.com/office/drawing/2014/main" id="{9641AC14-DD8F-4957-BF68-2419D42F168B}"/>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D3948FEF-0DA3-42D8-88E9-1CCCC3325129}"/>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1281953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6256-A5BB-49D4-B6B0-945EB782AA40}"/>
              </a:ext>
            </a:extLst>
          </p:cNvPr>
          <p:cNvSpPr>
            <a:spLocks noGrp="1"/>
          </p:cNvSpPr>
          <p:nvPr>
            <p:ph type="title"/>
          </p:nvPr>
        </p:nvSpPr>
        <p:spPr>
          <a:xfrm>
            <a:off x="839788" y="365125"/>
            <a:ext cx="10515600" cy="1325563"/>
          </a:xfrm>
        </p:spPr>
        <p:txBody>
          <a:bodyPr/>
          <a:lstStyle/>
          <a:p>
            <a:r>
              <a:rPr lang="en-US"/>
              <a:t>Click to edit Master title style</a:t>
            </a:r>
            <a:endParaRPr lang="es-AR"/>
          </a:p>
        </p:txBody>
      </p:sp>
      <p:sp>
        <p:nvSpPr>
          <p:cNvPr id="3" name="Text Placeholder 2">
            <a:extLst>
              <a:ext uri="{FF2B5EF4-FFF2-40B4-BE49-F238E27FC236}">
                <a16:creationId xmlns:a16="http://schemas.microsoft.com/office/drawing/2014/main" id="{DB7F0A12-8FEA-4FF9-8938-47C3272F8E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8DB0C1-1E1E-4599-8C53-7F6BAFF2DB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5" name="Text Placeholder 4">
            <a:extLst>
              <a:ext uri="{FF2B5EF4-FFF2-40B4-BE49-F238E27FC236}">
                <a16:creationId xmlns:a16="http://schemas.microsoft.com/office/drawing/2014/main" id="{81585FB8-0A98-4ADA-AF47-3B8DC017CE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3FB14B-D59B-4C9D-8C38-9CF127FCE4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7" name="Date Placeholder 6">
            <a:extLst>
              <a:ext uri="{FF2B5EF4-FFF2-40B4-BE49-F238E27FC236}">
                <a16:creationId xmlns:a16="http://schemas.microsoft.com/office/drawing/2014/main" id="{91F196FB-315A-4636-88F9-721E4D5D4793}"/>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8" name="Footer Placeholder 7">
            <a:extLst>
              <a:ext uri="{FF2B5EF4-FFF2-40B4-BE49-F238E27FC236}">
                <a16:creationId xmlns:a16="http://schemas.microsoft.com/office/drawing/2014/main" id="{33F0D18D-CBDC-48F1-AD24-1B3993373424}"/>
              </a:ext>
            </a:extLst>
          </p:cNvPr>
          <p:cNvSpPr>
            <a:spLocks noGrp="1"/>
          </p:cNvSpPr>
          <p:nvPr>
            <p:ph type="ftr" sz="quarter" idx="11"/>
          </p:nvPr>
        </p:nvSpPr>
        <p:spPr/>
        <p:txBody>
          <a:bodyPr/>
          <a:lstStyle/>
          <a:p>
            <a:endParaRPr lang="es-AR"/>
          </a:p>
        </p:txBody>
      </p:sp>
      <p:sp>
        <p:nvSpPr>
          <p:cNvPr id="9" name="Slide Number Placeholder 8">
            <a:extLst>
              <a:ext uri="{FF2B5EF4-FFF2-40B4-BE49-F238E27FC236}">
                <a16:creationId xmlns:a16="http://schemas.microsoft.com/office/drawing/2014/main" id="{9207A6DC-8293-4296-B49E-583F52223AEA}"/>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217796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A94BE-102E-4E28-92C6-58BF5EB3834A}"/>
              </a:ext>
            </a:extLst>
          </p:cNvPr>
          <p:cNvSpPr>
            <a:spLocks noGrp="1"/>
          </p:cNvSpPr>
          <p:nvPr>
            <p:ph type="title"/>
          </p:nvPr>
        </p:nvSpPr>
        <p:spPr/>
        <p:txBody>
          <a:bodyPr/>
          <a:lstStyle/>
          <a:p>
            <a:r>
              <a:rPr lang="en-US"/>
              <a:t>Click to edit Master title style</a:t>
            </a:r>
            <a:endParaRPr lang="es-AR"/>
          </a:p>
        </p:txBody>
      </p:sp>
      <p:sp>
        <p:nvSpPr>
          <p:cNvPr id="3" name="Date Placeholder 2">
            <a:extLst>
              <a:ext uri="{FF2B5EF4-FFF2-40B4-BE49-F238E27FC236}">
                <a16:creationId xmlns:a16="http://schemas.microsoft.com/office/drawing/2014/main" id="{C89CF1D3-9DFE-4AE9-9EA7-9B89E33ABD33}"/>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4" name="Footer Placeholder 3">
            <a:extLst>
              <a:ext uri="{FF2B5EF4-FFF2-40B4-BE49-F238E27FC236}">
                <a16:creationId xmlns:a16="http://schemas.microsoft.com/office/drawing/2014/main" id="{AAB9EF8F-4FBF-4448-8DF7-6EC12A0745DA}"/>
              </a:ext>
            </a:extLst>
          </p:cNvPr>
          <p:cNvSpPr>
            <a:spLocks noGrp="1"/>
          </p:cNvSpPr>
          <p:nvPr>
            <p:ph type="ftr" sz="quarter" idx="11"/>
          </p:nvPr>
        </p:nvSpPr>
        <p:spPr/>
        <p:txBody>
          <a:bodyPr/>
          <a:lstStyle/>
          <a:p>
            <a:endParaRPr lang="es-AR"/>
          </a:p>
        </p:txBody>
      </p:sp>
      <p:sp>
        <p:nvSpPr>
          <p:cNvPr id="5" name="Slide Number Placeholder 4">
            <a:extLst>
              <a:ext uri="{FF2B5EF4-FFF2-40B4-BE49-F238E27FC236}">
                <a16:creationId xmlns:a16="http://schemas.microsoft.com/office/drawing/2014/main" id="{D462F0B0-33B7-4A55-855F-17A36C82977E}"/>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4011858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6675DF-B07D-4769-BF79-71CA61390076}"/>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3" name="Footer Placeholder 2">
            <a:extLst>
              <a:ext uri="{FF2B5EF4-FFF2-40B4-BE49-F238E27FC236}">
                <a16:creationId xmlns:a16="http://schemas.microsoft.com/office/drawing/2014/main" id="{0572EBFD-30AA-400E-935E-25D35AA312B5}"/>
              </a:ext>
            </a:extLst>
          </p:cNvPr>
          <p:cNvSpPr>
            <a:spLocks noGrp="1"/>
          </p:cNvSpPr>
          <p:nvPr>
            <p:ph type="ftr" sz="quarter" idx="11"/>
          </p:nvPr>
        </p:nvSpPr>
        <p:spPr/>
        <p:txBody>
          <a:bodyPr/>
          <a:lstStyle/>
          <a:p>
            <a:endParaRPr lang="es-AR"/>
          </a:p>
        </p:txBody>
      </p:sp>
      <p:sp>
        <p:nvSpPr>
          <p:cNvPr id="4" name="Slide Number Placeholder 3">
            <a:extLst>
              <a:ext uri="{FF2B5EF4-FFF2-40B4-BE49-F238E27FC236}">
                <a16:creationId xmlns:a16="http://schemas.microsoft.com/office/drawing/2014/main" id="{9EAE3F95-07AD-462F-9734-BF76EB92588A}"/>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52776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1D49-CF71-43D9-AEB8-4165647106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AR"/>
          </a:p>
        </p:txBody>
      </p:sp>
      <p:sp>
        <p:nvSpPr>
          <p:cNvPr id="3" name="Content Placeholder 2">
            <a:extLst>
              <a:ext uri="{FF2B5EF4-FFF2-40B4-BE49-F238E27FC236}">
                <a16:creationId xmlns:a16="http://schemas.microsoft.com/office/drawing/2014/main" id="{16E0FC1D-AE50-48F6-A882-AD00C6BEBF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Text Placeholder 3">
            <a:extLst>
              <a:ext uri="{FF2B5EF4-FFF2-40B4-BE49-F238E27FC236}">
                <a16:creationId xmlns:a16="http://schemas.microsoft.com/office/drawing/2014/main" id="{6554B20C-EB6D-409C-BA82-B94FB1DB0C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3ACFF-716C-4574-A6F6-0610091E6355}"/>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6" name="Footer Placeholder 5">
            <a:extLst>
              <a:ext uri="{FF2B5EF4-FFF2-40B4-BE49-F238E27FC236}">
                <a16:creationId xmlns:a16="http://schemas.microsoft.com/office/drawing/2014/main" id="{61D20DEF-5902-403E-84A7-ED57606660CD}"/>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B281F001-4E5E-4258-A132-3E37B5850FE0}"/>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1331788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C561F-E3CD-4545-980F-A3AA0F545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AR"/>
          </a:p>
        </p:txBody>
      </p:sp>
      <p:sp>
        <p:nvSpPr>
          <p:cNvPr id="3" name="Picture Placeholder 2">
            <a:extLst>
              <a:ext uri="{FF2B5EF4-FFF2-40B4-BE49-F238E27FC236}">
                <a16:creationId xmlns:a16="http://schemas.microsoft.com/office/drawing/2014/main" id="{5034D6F1-C8B0-47F5-B2FC-15D8722333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Text Placeholder 3">
            <a:extLst>
              <a:ext uri="{FF2B5EF4-FFF2-40B4-BE49-F238E27FC236}">
                <a16:creationId xmlns:a16="http://schemas.microsoft.com/office/drawing/2014/main" id="{BA057FB9-E0D6-41A1-8BBD-E4549828D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D8E229-D558-4074-9700-7E0036260CDF}"/>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6" name="Footer Placeholder 5">
            <a:extLst>
              <a:ext uri="{FF2B5EF4-FFF2-40B4-BE49-F238E27FC236}">
                <a16:creationId xmlns:a16="http://schemas.microsoft.com/office/drawing/2014/main" id="{488CEE2C-448D-4286-948E-CC2163BDF023}"/>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8FE728D0-65F2-4565-B20A-11C3DEA37E4C}"/>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2252240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8CAF7-08FE-4C81-94C3-5B766509D981}"/>
              </a:ext>
            </a:extLst>
          </p:cNvPr>
          <p:cNvSpPr>
            <a:spLocks noGrp="1"/>
          </p:cNvSpPr>
          <p:nvPr>
            <p:ph type="title"/>
          </p:nvPr>
        </p:nvSpPr>
        <p:spPr/>
        <p:txBody>
          <a:bodyPr/>
          <a:lstStyle/>
          <a:p>
            <a:r>
              <a:rPr lang="en-US"/>
              <a:t>Click to edit Master title style</a:t>
            </a:r>
            <a:endParaRPr lang="es-AR"/>
          </a:p>
        </p:txBody>
      </p:sp>
      <p:sp>
        <p:nvSpPr>
          <p:cNvPr id="3" name="Vertical Text Placeholder 2">
            <a:extLst>
              <a:ext uri="{FF2B5EF4-FFF2-40B4-BE49-F238E27FC236}">
                <a16:creationId xmlns:a16="http://schemas.microsoft.com/office/drawing/2014/main" id="{BBACD473-DFB0-44D2-A4D6-7B0B3B1CE1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3281BFE2-8B83-43E1-B32F-FB6713A48662}"/>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5" name="Footer Placeholder 4">
            <a:extLst>
              <a:ext uri="{FF2B5EF4-FFF2-40B4-BE49-F238E27FC236}">
                <a16:creationId xmlns:a16="http://schemas.microsoft.com/office/drawing/2014/main" id="{765B7B0C-778A-438E-ABC6-76541A70E3EE}"/>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A2B70E25-5FEA-4C3E-9763-7EF0C515A00A}"/>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15464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771912-3B66-41F2-843D-53A852EEE7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AR"/>
          </a:p>
        </p:txBody>
      </p:sp>
      <p:sp>
        <p:nvSpPr>
          <p:cNvPr id="3" name="Vertical Text Placeholder 2">
            <a:extLst>
              <a:ext uri="{FF2B5EF4-FFF2-40B4-BE49-F238E27FC236}">
                <a16:creationId xmlns:a16="http://schemas.microsoft.com/office/drawing/2014/main" id="{4780D021-5812-4405-B29E-A9AFABC773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BF4CE658-3FE4-497C-826B-E85BB97B456A}"/>
              </a:ext>
            </a:extLst>
          </p:cNvPr>
          <p:cNvSpPr>
            <a:spLocks noGrp="1"/>
          </p:cNvSpPr>
          <p:nvPr>
            <p:ph type="dt" sz="half" idx="10"/>
          </p:nvPr>
        </p:nvSpPr>
        <p:spPr/>
        <p:txBody>
          <a:bodyPr/>
          <a:lstStyle/>
          <a:p>
            <a:fld id="{C2773EF4-2698-4B57-B9CD-20D657E94285}" type="datetimeFigureOut">
              <a:rPr lang="es-AR" smtClean="0"/>
              <a:t>19/8/2020</a:t>
            </a:fld>
            <a:endParaRPr lang="es-AR"/>
          </a:p>
        </p:txBody>
      </p:sp>
      <p:sp>
        <p:nvSpPr>
          <p:cNvPr id="5" name="Footer Placeholder 4">
            <a:extLst>
              <a:ext uri="{FF2B5EF4-FFF2-40B4-BE49-F238E27FC236}">
                <a16:creationId xmlns:a16="http://schemas.microsoft.com/office/drawing/2014/main" id="{1479CD42-F88C-49A0-8068-13596CB2E98F}"/>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BD6ADF66-AC57-4F74-99D9-119C834D2F01}"/>
              </a:ext>
            </a:extLst>
          </p:cNvPr>
          <p:cNvSpPr>
            <a:spLocks noGrp="1"/>
          </p:cNvSpPr>
          <p:nvPr>
            <p:ph type="sldNum" sz="quarter" idx="12"/>
          </p:nvPr>
        </p:nvSpPr>
        <p:spPr/>
        <p:txBody>
          <a:bodyPr/>
          <a:lstStyle/>
          <a:p>
            <a:fld id="{7C381FFC-90F1-441F-A65B-4B1A013EBB33}" type="slidenum">
              <a:rPr lang="es-AR" smtClean="0"/>
              <a:t>‹#›</a:t>
            </a:fld>
            <a:endParaRPr lang="es-AR"/>
          </a:p>
        </p:txBody>
      </p:sp>
    </p:spTree>
    <p:extLst>
      <p:ext uri="{BB962C8B-B14F-4D97-AF65-F5344CB8AC3E}">
        <p14:creationId xmlns:p14="http://schemas.microsoft.com/office/powerpoint/2010/main" val="4135899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99D826-B520-49A5-8063-B26F4BFA3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AR"/>
          </a:p>
        </p:txBody>
      </p:sp>
      <p:sp>
        <p:nvSpPr>
          <p:cNvPr id="3" name="Text Placeholder 2">
            <a:extLst>
              <a:ext uri="{FF2B5EF4-FFF2-40B4-BE49-F238E27FC236}">
                <a16:creationId xmlns:a16="http://schemas.microsoft.com/office/drawing/2014/main" id="{A97A71C3-8DBC-40C1-84FE-A2B3BBB45A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4" name="Date Placeholder 3">
            <a:extLst>
              <a:ext uri="{FF2B5EF4-FFF2-40B4-BE49-F238E27FC236}">
                <a16:creationId xmlns:a16="http://schemas.microsoft.com/office/drawing/2014/main" id="{E55632D1-3F43-41CC-BE03-CAC5FAD6DB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773EF4-2698-4B57-B9CD-20D657E94285}" type="datetimeFigureOut">
              <a:rPr lang="es-AR" smtClean="0"/>
              <a:t>19/8/2020</a:t>
            </a:fld>
            <a:endParaRPr lang="es-AR"/>
          </a:p>
        </p:txBody>
      </p:sp>
      <p:sp>
        <p:nvSpPr>
          <p:cNvPr id="5" name="Footer Placeholder 4">
            <a:extLst>
              <a:ext uri="{FF2B5EF4-FFF2-40B4-BE49-F238E27FC236}">
                <a16:creationId xmlns:a16="http://schemas.microsoft.com/office/drawing/2014/main" id="{EC974197-70CA-4A08-8958-CEAAD3B33B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a:extLst>
              <a:ext uri="{FF2B5EF4-FFF2-40B4-BE49-F238E27FC236}">
                <a16:creationId xmlns:a16="http://schemas.microsoft.com/office/drawing/2014/main" id="{88015EC4-17ED-4337-BE23-4BEA7AF4A7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81FFC-90F1-441F-A65B-4B1A013EBB33}" type="slidenum">
              <a:rPr lang="es-AR" smtClean="0"/>
              <a:t>‹#›</a:t>
            </a:fld>
            <a:endParaRPr lang="es-AR"/>
          </a:p>
        </p:txBody>
      </p:sp>
    </p:spTree>
    <p:extLst>
      <p:ext uri="{BB962C8B-B14F-4D97-AF65-F5344CB8AC3E}">
        <p14:creationId xmlns:p14="http://schemas.microsoft.com/office/powerpoint/2010/main" val="2884875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tangodiario.com.ar/millonario-reclamo-afip-mercado-libre/"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treslineas.com.ar/hugo-moyano-podemos-aceptar-desdoblar-paritarias-n-1366617.html"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96E28A-6886-4E68-8543-FB4CFDDDE31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74248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3F98B2-013D-49C4-889B-45FF24F77D2D}"/>
              </a:ext>
            </a:extLst>
          </p:cNvPr>
          <p:cNvSpPr>
            <a:spLocks noGrp="1"/>
          </p:cNvSpPr>
          <p:nvPr>
            <p:ph type="title"/>
          </p:nvPr>
        </p:nvSpPr>
        <p:spPr>
          <a:xfrm>
            <a:off x="1075767" y="1188637"/>
            <a:ext cx="2988234" cy="4480726"/>
          </a:xfrm>
        </p:spPr>
        <p:txBody>
          <a:bodyPr>
            <a:normAutofit/>
          </a:bodyPr>
          <a:lstStyle/>
          <a:p>
            <a:pPr algn="r"/>
            <a:r>
              <a:rPr lang="es-AR" sz="6100" b="1"/>
              <a:t>Conflicto</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60A3A36-9DF0-4231-8B62-CEB78BE8CBDD}"/>
              </a:ext>
            </a:extLst>
          </p:cNvPr>
          <p:cNvSpPr>
            <a:spLocks noGrp="1"/>
          </p:cNvSpPr>
          <p:nvPr>
            <p:ph idx="1"/>
          </p:nvPr>
        </p:nvSpPr>
        <p:spPr>
          <a:xfrm>
            <a:off x="5255260" y="1648870"/>
            <a:ext cx="4702848" cy="3560260"/>
          </a:xfrm>
        </p:spPr>
        <p:txBody>
          <a:bodyPr anchor="ctr">
            <a:normAutofit/>
          </a:bodyPr>
          <a:lstStyle/>
          <a:p>
            <a:pPr algn="just"/>
            <a:r>
              <a:rPr lang="es-ES" sz="2400" dirty="0"/>
              <a:t>El día jueves 16 de julio, el gremio de Camioneros, controlado por Hugo Moyano y su hijo Pablo, bloqueó cinco grandes depósitos desde donde se hace la distribución de los productos que vende la compañía de e-</a:t>
            </a:r>
            <a:r>
              <a:rPr lang="es-ES" sz="2400" dirty="0" err="1"/>
              <a:t>commerce</a:t>
            </a:r>
            <a:r>
              <a:rPr lang="es-ES" sz="2400" dirty="0"/>
              <a:t> más grande de la región.</a:t>
            </a:r>
            <a:endParaRPr lang="es-AR" sz="2400" dirty="0"/>
          </a:p>
        </p:txBody>
      </p:sp>
    </p:spTree>
    <p:extLst>
      <p:ext uri="{BB962C8B-B14F-4D97-AF65-F5344CB8AC3E}">
        <p14:creationId xmlns:p14="http://schemas.microsoft.com/office/powerpoint/2010/main" val="551788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3F98B2-013D-49C4-889B-45FF24F77D2D}"/>
              </a:ext>
            </a:extLst>
          </p:cNvPr>
          <p:cNvSpPr>
            <a:spLocks noGrp="1"/>
          </p:cNvSpPr>
          <p:nvPr>
            <p:ph type="title"/>
          </p:nvPr>
        </p:nvSpPr>
        <p:spPr>
          <a:xfrm>
            <a:off x="1075767" y="1188637"/>
            <a:ext cx="2988234" cy="4480726"/>
          </a:xfrm>
        </p:spPr>
        <p:txBody>
          <a:bodyPr>
            <a:normAutofit/>
          </a:bodyPr>
          <a:lstStyle/>
          <a:p>
            <a:pPr algn="r"/>
            <a:r>
              <a:rPr lang="es-AR" sz="6100" b="1" dirty="0"/>
              <a:t>Razón</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60A3A36-9DF0-4231-8B62-CEB78BE8CBDD}"/>
              </a:ext>
            </a:extLst>
          </p:cNvPr>
          <p:cNvSpPr>
            <a:spLocks noGrp="1"/>
          </p:cNvSpPr>
          <p:nvPr>
            <p:ph idx="1"/>
          </p:nvPr>
        </p:nvSpPr>
        <p:spPr>
          <a:xfrm>
            <a:off x="5255260" y="1648870"/>
            <a:ext cx="4702848" cy="3560260"/>
          </a:xfrm>
        </p:spPr>
        <p:txBody>
          <a:bodyPr anchor="ctr">
            <a:normAutofit/>
          </a:bodyPr>
          <a:lstStyle/>
          <a:p>
            <a:pPr algn="just"/>
            <a:r>
              <a:rPr lang="es-ES" sz="2400" dirty="0"/>
              <a:t>Todo comenzó en 2019, cuando Mercado Libre puso en marcha su depósito en Villa Madero, en la zona Sur del Conurbano. Moyano objetaba que los empleados debían pertenecer a su sindicato y no al que pertenecen actualmente.</a:t>
            </a:r>
          </a:p>
        </p:txBody>
      </p:sp>
    </p:spTree>
    <p:extLst>
      <p:ext uri="{BB962C8B-B14F-4D97-AF65-F5344CB8AC3E}">
        <p14:creationId xmlns:p14="http://schemas.microsoft.com/office/powerpoint/2010/main" val="2934706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building, table, filled, area&#10;&#10;Description automatically generated">
            <a:extLst>
              <a:ext uri="{FF2B5EF4-FFF2-40B4-BE49-F238E27FC236}">
                <a16:creationId xmlns:a16="http://schemas.microsoft.com/office/drawing/2014/main" id="{F92BA281-5118-4090-90BA-92D1834D53C2}"/>
              </a:ext>
            </a:extLst>
          </p:cNvPr>
          <p:cNvPicPr>
            <a:picLocks noChangeAspect="1"/>
          </p:cNvPicPr>
          <p:nvPr/>
        </p:nvPicPr>
        <p:blipFill rotWithShape="1">
          <a:blip r:embed="rId2">
            <a:alphaModFix amt="50000"/>
            <a:extLst>
              <a:ext uri="{28A0092B-C50C-407E-A947-70E740481C1C}">
                <a14:useLocalDpi xmlns:a14="http://schemas.microsoft.com/office/drawing/2010/main" val="0"/>
              </a:ext>
            </a:extLst>
          </a:blip>
          <a:srcRect l="254" r="7301"/>
          <a:stretch/>
        </p:blipFill>
        <p:spPr>
          <a:xfrm>
            <a:off x="20" y="1"/>
            <a:ext cx="12191980" cy="6857999"/>
          </a:xfrm>
          <a:prstGeom prst="rect">
            <a:avLst/>
          </a:prstGeom>
        </p:spPr>
      </p:pic>
      <p:sp>
        <p:nvSpPr>
          <p:cNvPr id="2" name="Title 1">
            <a:extLst>
              <a:ext uri="{FF2B5EF4-FFF2-40B4-BE49-F238E27FC236}">
                <a16:creationId xmlns:a16="http://schemas.microsoft.com/office/drawing/2014/main" id="{71811A24-B5FD-4D1B-A3B0-3F9DC3E2137F}"/>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b="1" dirty="0" err="1">
                <a:solidFill>
                  <a:srgbClr val="FFFFFF"/>
                </a:solidFill>
              </a:rPr>
              <a:t>Funcionamiento</a:t>
            </a:r>
            <a:r>
              <a:rPr lang="en-US" sz="6000" b="1" dirty="0">
                <a:solidFill>
                  <a:srgbClr val="FFFFFF"/>
                </a:solidFill>
              </a:rPr>
              <a:t> de la </a:t>
            </a:r>
            <a:r>
              <a:rPr lang="en-US" sz="6000" b="1" dirty="0" err="1">
                <a:solidFill>
                  <a:srgbClr val="FFFFFF"/>
                </a:solidFill>
              </a:rPr>
              <a:t>Empresa</a:t>
            </a:r>
            <a:endParaRPr lang="en-US" sz="6000" b="1" dirty="0">
              <a:solidFill>
                <a:srgbClr val="FFFFFF"/>
              </a:solidFill>
            </a:endParaRPr>
          </a:p>
        </p:txBody>
      </p:sp>
    </p:spTree>
    <p:extLst>
      <p:ext uri="{BB962C8B-B14F-4D97-AF65-F5344CB8AC3E}">
        <p14:creationId xmlns:p14="http://schemas.microsoft.com/office/powerpoint/2010/main" val="328166874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person talking on a cell phone&#10;&#10;Description automatically generated">
            <a:extLst>
              <a:ext uri="{FF2B5EF4-FFF2-40B4-BE49-F238E27FC236}">
                <a16:creationId xmlns:a16="http://schemas.microsoft.com/office/drawing/2014/main" id="{7F273C5F-FB0C-4297-88DC-961A62A60C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474" r="8724"/>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5" name="Arc 24">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E3270C0-0341-48AF-8554-76EA7DC04153}"/>
              </a:ext>
            </a:extLst>
          </p:cNvPr>
          <p:cNvSpPr>
            <a:spLocks noGrp="1"/>
          </p:cNvSpPr>
          <p:nvPr>
            <p:ph type="title"/>
          </p:nvPr>
        </p:nvSpPr>
        <p:spPr>
          <a:xfrm>
            <a:off x="5827048" y="407987"/>
            <a:ext cx="5721484" cy="1325563"/>
          </a:xfrm>
        </p:spPr>
        <p:txBody>
          <a:bodyPr>
            <a:normAutofit/>
          </a:bodyPr>
          <a:lstStyle/>
          <a:p>
            <a:r>
              <a:rPr lang="es-AR" b="1" dirty="0"/>
              <a:t>Realidad</a:t>
            </a:r>
          </a:p>
        </p:txBody>
      </p:sp>
      <p:sp>
        <p:nvSpPr>
          <p:cNvPr id="3" name="Content Placeholder 2">
            <a:extLst>
              <a:ext uri="{FF2B5EF4-FFF2-40B4-BE49-F238E27FC236}">
                <a16:creationId xmlns:a16="http://schemas.microsoft.com/office/drawing/2014/main" id="{A606FDB7-309F-4158-AAA6-11FA7354ED63}"/>
              </a:ext>
            </a:extLst>
          </p:cNvPr>
          <p:cNvSpPr>
            <a:spLocks noGrp="1"/>
          </p:cNvSpPr>
          <p:nvPr>
            <p:ph idx="1"/>
          </p:nvPr>
        </p:nvSpPr>
        <p:spPr>
          <a:xfrm>
            <a:off x="5827048" y="1434517"/>
            <a:ext cx="5721484" cy="5092118"/>
          </a:xfrm>
        </p:spPr>
        <p:txBody>
          <a:bodyPr>
            <a:normAutofit fontScale="92500" lnSpcReduction="10000"/>
          </a:bodyPr>
          <a:lstStyle/>
          <a:p>
            <a:pPr algn="just"/>
            <a:r>
              <a:rPr lang="es-AR" sz="1800" dirty="0"/>
              <a:t>Hay una puja de fondo entre sindicatos de Camioneros y Unión de Trabajadores de Carga y Descarga.</a:t>
            </a:r>
          </a:p>
          <a:p>
            <a:pPr algn="just"/>
            <a:r>
              <a:rPr lang="es-ES" sz="1800" dirty="0"/>
              <a:t>Moyano dice que esos trabajadores realizan tareas propias de su rubro y que, por lo tanto, deberían pertenecer a su sindicato pero en realidad, sólo esta buscando la afiliación. No le interesa realmente el bienestar de esos empleados. </a:t>
            </a:r>
          </a:p>
          <a:p>
            <a:pPr algn="just"/>
            <a:r>
              <a:rPr lang="es-ES" sz="1800" dirty="0"/>
              <a:t>Los empleados dicen estar felices en el sindicato en el que están. En el mes de junio un empleado de Mercado Libre cobró 26% más con su convenio actual que lo que hubiera cobrado en Camioneros.</a:t>
            </a:r>
          </a:p>
          <a:p>
            <a:pPr algn="just"/>
            <a:r>
              <a:rPr lang="es-ES" sz="1800" dirty="0"/>
              <a:t>El ejecutivo y el titular de Carga y Descarga confirman que los empleados cobran hoy un 26% más que si estuvieran alcanzados por las condiciones de Camioneros.</a:t>
            </a:r>
          </a:p>
          <a:p>
            <a:pPr algn="just"/>
            <a:r>
              <a:rPr lang="es-ES" sz="1800" dirty="0"/>
              <a:t>En el resto de la región ML hace cosas parecidas, en Brasil y México tenemos 35 centros y nunca tuvimos un conflicto sindical.</a:t>
            </a:r>
          </a:p>
          <a:p>
            <a:pPr algn="just"/>
            <a:r>
              <a:rPr lang="es-ES" sz="1800" dirty="0"/>
              <a:t>Moyano quiere sentar un precedente para que toda futura contratación de empleados tenga que asociarse al sindicato de Camioneros para perpetuar su poder sindical. </a:t>
            </a:r>
          </a:p>
        </p:txBody>
      </p:sp>
    </p:spTree>
    <p:extLst>
      <p:ext uri="{BB962C8B-B14F-4D97-AF65-F5344CB8AC3E}">
        <p14:creationId xmlns:p14="http://schemas.microsoft.com/office/powerpoint/2010/main" val="929726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F04F8-E8D1-4433-80DD-65D589292C15}"/>
              </a:ext>
            </a:extLst>
          </p:cNvPr>
          <p:cNvSpPr>
            <a:spLocks noGrp="1"/>
          </p:cNvSpPr>
          <p:nvPr>
            <p:ph type="title"/>
          </p:nvPr>
        </p:nvSpPr>
        <p:spPr>
          <a:xfrm>
            <a:off x="1075767" y="1188637"/>
            <a:ext cx="2988234" cy="4480726"/>
          </a:xfrm>
        </p:spPr>
        <p:txBody>
          <a:bodyPr>
            <a:normAutofit/>
          </a:bodyPr>
          <a:lstStyle/>
          <a:p>
            <a:pPr algn="r"/>
            <a:r>
              <a:rPr lang="es-AR" sz="5100" b="1" dirty="0"/>
              <a:t>Actualidad</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F17C27B-F8A7-4475-960D-18E13EE50790}"/>
              </a:ext>
            </a:extLst>
          </p:cNvPr>
          <p:cNvSpPr>
            <a:spLocks noGrp="1"/>
          </p:cNvSpPr>
          <p:nvPr>
            <p:ph idx="1"/>
          </p:nvPr>
        </p:nvSpPr>
        <p:spPr>
          <a:xfrm>
            <a:off x="5255260" y="1272209"/>
            <a:ext cx="4702848" cy="4641574"/>
          </a:xfrm>
        </p:spPr>
        <p:txBody>
          <a:bodyPr anchor="ctr">
            <a:normAutofit lnSpcReduction="10000"/>
          </a:bodyPr>
          <a:lstStyle/>
          <a:p>
            <a:pPr algn="just"/>
            <a:r>
              <a:rPr lang="es-AR" sz="1800" b="1" dirty="0"/>
              <a:t>22 de julio: </a:t>
            </a:r>
            <a:r>
              <a:rPr lang="es-ES" sz="1800" dirty="0"/>
              <a:t>Se alcanzó una tregua que tiene como garante al Ministerio de Trabajo. El gremio que seguirá mandando será el de Unión Carga y Descarga, a cargo de Daniel Vila. Pero de la puerta hacia afuera, Moyano podrá avanzar con el encuadre sindical de cualquier trabajador que distribuya la mercancía.</a:t>
            </a:r>
          </a:p>
          <a:p>
            <a:pPr algn="just"/>
            <a:r>
              <a:rPr lang="es-ES" sz="1800" b="1" dirty="0"/>
              <a:t>26 de julio: </a:t>
            </a:r>
            <a:r>
              <a:rPr lang="es-ES" sz="1800" dirty="0"/>
              <a:t>Moyano criticó a la empresa en sus redes sociales con el logo modificado y con el texto "Si el mercado es libre, el trabajo es esclavo".</a:t>
            </a:r>
          </a:p>
          <a:p>
            <a:pPr algn="just"/>
            <a:r>
              <a:rPr lang="es-ES" sz="1800" b="1" dirty="0"/>
              <a:t>30 de julio: </a:t>
            </a:r>
            <a:r>
              <a:rPr lang="es-ES" sz="1800" dirty="0"/>
              <a:t>Continua el conflicto Moyano advirtió que no hubo acuerdo con Mercado Libre. El Sindicato de Choferes de Camiones denunció "la ausencia de coincidencias" en las dos reuniones realizadas en el Ministerio de Trabajo.</a:t>
            </a:r>
          </a:p>
          <a:p>
            <a:endParaRPr lang="es-ES" sz="1500" dirty="0"/>
          </a:p>
          <a:p>
            <a:endParaRPr lang="es-AR" sz="1500" dirty="0"/>
          </a:p>
        </p:txBody>
      </p:sp>
    </p:spTree>
    <p:extLst>
      <p:ext uri="{BB962C8B-B14F-4D97-AF65-F5344CB8AC3E}">
        <p14:creationId xmlns:p14="http://schemas.microsoft.com/office/powerpoint/2010/main" val="1355381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406</Words>
  <Application>Microsoft Office PowerPoint</Application>
  <PresentationFormat>Widescreen</PresentationFormat>
  <Paragraphs>16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Conflicto</vt:lpstr>
      <vt:lpstr>Razón</vt:lpstr>
      <vt:lpstr>Funcionamiento de la Empresa</vt:lpstr>
      <vt:lpstr>Realidad</vt:lpstr>
      <vt:lpstr>Actualidad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Raul Gonzalez Hernandez</dc:creator>
  <cp:lastModifiedBy>Raul Gonzalez Hernandez</cp:lastModifiedBy>
  <cp:revision>3</cp:revision>
  <dcterms:created xsi:type="dcterms:W3CDTF">2020-08-19T15:53:41Z</dcterms:created>
  <dcterms:modified xsi:type="dcterms:W3CDTF">2020-08-19T18:50:22Z</dcterms:modified>
</cp:coreProperties>
</file>