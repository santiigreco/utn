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themeOverride+xml" PartName="/ppt/theme/themeOverr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autoCompressPictures="0" strictFirstAndLastChars="0" saveSubsetFonts="1">
  <p:sldMasterIdLst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/>
          <p:nvPr>
            <p:ph idx="2"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4" name="Shape 4"/>
          <p:cNvSpPr txBox="1"/>
          <p:nvPr>
            <p:ph idx="10" type="dt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5" name="Shape 5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/>
            <a:headEnd len="med" w="med" type="none"/>
            <a:tailEnd len="med" w="med" type="none"/>
          </a:ln>
        </p:spPr>
      </p:sp>
      <p:sp>
        <p:nvSpPr>
          <p:cNvPr id="6" name="Shape 6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7" name="Shape 7"/>
          <p:cNvSpPr txBox="1"/>
          <p:nvPr>
            <p:ph idx="11" type="ftr"/>
          </p:nvPr>
        </p:nvSpPr>
        <p:spPr>
          <a:xfrm>
            <a:off x="0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00" name="Shape 100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36" name="Shape 136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43" name="Shape 143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14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50" name="Shape 150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59" name="Shape 159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66" name="Shape 166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75" name="Shape 175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181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82" name="Shape 182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90" name="Shape 190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196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97" name="Shape 197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05" name="Shape 205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hape 211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12" name="Shape 212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220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21" name="Shape 221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29" name="Shape 229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23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36" name="Shape 236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46" name="Shape 246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256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57" name="Shape 257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Shape 26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66" name="Shape 266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271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72" name="Shape 272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277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78" name="Shape 278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283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84" name="Shape 284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x">
  <p:cSld name="Title and 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/>
          <p:nvPr>
            <p:ph type="title"/>
          </p:nvPr>
        </p:nvSpPr>
        <p:spPr>
          <a:xfrm>
            <a:off x="457200" y="122236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indent="0" lvl="2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indent="0" lvl="3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indent="0" lvl="4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indent="0" lvl="5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indent="0" lvl="6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indent="0" lvl="7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indent="0" lvl="8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50" name="Shape 50"/>
          <p:cNvSpPr txBox="1"/>
          <p:nvPr>
            <p:ph idx="1" type="body"/>
          </p:nvPr>
        </p:nvSpPr>
        <p:spPr>
          <a:xfrm>
            <a:off x="457200" y="1719261"/>
            <a:ext cx="8229600" cy="44116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0955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Font typeface="Noto Symbol"/>
              <a:buChar char="●"/>
              <a:defRPr/>
            </a:lvl1pPr>
            <a:lvl2pPr indent="-233680" lvl="1" marL="6921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Font typeface="Noto Symbol"/>
              <a:buChar char="●"/>
              <a:defRPr/>
            </a:lvl2pPr>
            <a:lvl3pPr indent="-199390" lvl="2" marL="987425" rtl="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accent1"/>
              </a:buClr>
              <a:buFont typeface="Noto Symbol"/>
              <a:buChar char="●"/>
              <a:defRPr/>
            </a:lvl3pPr>
            <a:lvl4pPr indent="-207962" lvl="3" marL="1281112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Font typeface="Noto Symbol"/>
              <a:buChar char="▪"/>
              <a:defRPr/>
            </a:lvl4pPr>
            <a:lvl5pPr indent="-214312" lvl="4" marL="1598612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Font typeface="Noto Symbol"/>
              <a:buChar char="▪"/>
              <a:defRPr/>
            </a:lvl5pPr>
            <a:lvl6pPr indent="-239711" lvl="5" marL="191611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Font typeface="Noto Symbol"/>
              <a:buChar char="▪"/>
              <a:defRPr/>
            </a:lvl6pPr>
            <a:lvl7pPr indent="-290511" lvl="6" marL="2551112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Font typeface="Noto Symbol"/>
              <a:buChar char="▪"/>
              <a:defRPr/>
            </a:lvl7pPr>
            <a:lvl8pPr indent="-366712" lvl="7" marL="3503612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Font typeface="Noto Symbol"/>
              <a:buChar char="▪"/>
              <a:defRPr/>
            </a:lvl8pPr>
            <a:lvl9pPr indent="-455612" lvl="8" marL="4773612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Font typeface="Noto Symbol"/>
              <a:buChar char="▪"/>
              <a:defRPr/>
            </a:lvl9pPr>
          </a:lstStyle>
          <a:p/>
        </p:txBody>
      </p:sp>
      <p:sp>
        <p:nvSpPr>
          <p:cNvPr id="51" name="Shape 51"/>
          <p:cNvSpPr txBox="1"/>
          <p:nvPr>
            <p:ph idx="10" type="dt"/>
          </p:nvPr>
        </p:nvSpPr>
        <p:spPr>
          <a:xfrm>
            <a:off x="457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52" name="Shape 5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53" name="Shape 53"/>
          <p:cNvSpPr txBox="1"/>
          <p:nvPr>
            <p:ph idx="12" type="sldNum"/>
          </p:nvPr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Shape 55"/>
          <p:cNvCxnSpPr/>
          <p:nvPr/>
        </p:nvCxnSpPr>
        <p:spPr>
          <a:xfrm>
            <a:off x="7315200" y="1066800"/>
            <a:ext cx="0" cy="449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56" name="Shape 56"/>
          <p:cNvSpPr txBox="1"/>
          <p:nvPr>
            <p:ph type="ctrTitle"/>
          </p:nvPr>
        </p:nvSpPr>
        <p:spPr>
          <a:xfrm>
            <a:off x="315912" y="466725"/>
            <a:ext cx="6781800" cy="21335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57" name="Shape 57"/>
          <p:cNvSpPr txBox="1"/>
          <p:nvPr>
            <p:ph idx="1" type="subTitle"/>
          </p:nvPr>
        </p:nvSpPr>
        <p:spPr>
          <a:xfrm>
            <a:off x="849312" y="3049586"/>
            <a:ext cx="6248399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0955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Font typeface="Noto Symbol"/>
              <a:buChar char="●"/>
              <a:defRPr/>
            </a:lvl1pPr>
            <a:lvl2pPr indent="-233680" lvl="1" marL="69215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Font typeface="Noto Symbol"/>
              <a:buChar char="●"/>
              <a:defRPr/>
            </a:lvl2pPr>
            <a:lvl3pPr indent="-199390" lvl="2" marL="987425" marR="0" rtl="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accent1"/>
              </a:buClr>
              <a:buFont typeface="Noto Symbol"/>
              <a:buChar char="●"/>
              <a:defRPr/>
            </a:lvl3pPr>
            <a:lvl4pPr indent="-207962" lvl="3" marL="128111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Font typeface="Noto Symbol"/>
              <a:buChar char="▪"/>
              <a:defRPr/>
            </a:lvl4pPr>
            <a:lvl5pPr indent="-214312" lvl="4" marL="159861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Font typeface="Noto Symbol"/>
              <a:buChar char="▪"/>
              <a:defRPr/>
            </a:lvl5pPr>
            <a:lvl6pPr indent="-239711" lvl="5" marL="1916111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Font typeface="Noto Symbol"/>
              <a:buChar char="▪"/>
              <a:defRPr/>
            </a:lvl6pPr>
            <a:lvl7pPr indent="-290511" lvl="6" marL="255111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Font typeface="Noto Symbol"/>
              <a:buChar char="▪"/>
              <a:defRPr/>
            </a:lvl7pPr>
            <a:lvl8pPr indent="-366712" lvl="7" marL="350361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Font typeface="Noto Symbol"/>
              <a:buChar char="▪"/>
              <a:defRPr/>
            </a:lvl8pPr>
            <a:lvl9pPr indent="-455612" lvl="8" marL="477361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Font typeface="Noto Symbol"/>
              <a:buChar char="▪"/>
              <a:defRPr/>
            </a:lvl9pPr>
          </a:lstStyle>
          <a:p/>
        </p:txBody>
      </p:sp>
      <p:sp>
        <p:nvSpPr>
          <p:cNvPr id="58" name="Shape 58"/>
          <p:cNvSpPr txBox="1"/>
          <p:nvPr>
            <p:ph idx="10" type="dt"/>
          </p:nvPr>
        </p:nvSpPr>
        <p:spPr>
          <a:xfrm>
            <a:off x="457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59" name="Shape 5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60" name="Shape 60"/>
          <p:cNvSpPr txBox="1"/>
          <p:nvPr>
            <p:ph idx="12" type="sldNum"/>
          </p:nvPr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  <p:grpSp>
        <p:nvGrpSpPr>
          <p:cNvPr id="61" name="Shape 61"/>
          <p:cNvGrpSpPr/>
          <p:nvPr/>
        </p:nvGrpSpPr>
        <p:grpSpPr>
          <a:xfrm>
            <a:off x="7493000" y="2992436"/>
            <a:ext cx="1338261" cy="2189162"/>
            <a:chOff x="7467600" y="2992436"/>
            <a:chExt cx="1338261" cy="2189162"/>
          </a:xfrm>
        </p:grpSpPr>
        <p:sp>
          <p:nvSpPr>
            <p:cNvPr id="62" name="Shape 62"/>
            <p:cNvSpPr/>
            <p:nvPr/>
          </p:nvSpPr>
          <p:spPr>
            <a:xfrm>
              <a:off x="7467600" y="2992436"/>
              <a:ext cx="201611" cy="201611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Shape 63"/>
            <p:cNvSpPr/>
            <p:nvPr/>
          </p:nvSpPr>
          <p:spPr>
            <a:xfrm>
              <a:off x="7751761" y="2992436"/>
              <a:ext cx="201611" cy="201611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Shape 64"/>
            <p:cNvSpPr/>
            <p:nvPr/>
          </p:nvSpPr>
          <p:spPr>
            <a:xfrm>
              <a:off x="8035925" y="2992436"/>
              <a:ext cx="201611" cy="201611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Shape 65"/>
            <p:cNvSpPr/>
            <p:nvPr/>
          </p:nvSpPr>
          <p:spPr>
            <a:xfrm>
              <a:off x="7467600" y="3276600"/>
              <a:ext cx="201611" cy="201611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Shape 66"/>
            <p:cNvSpPr/>
            <p:nvPr/>
          </p:nvSpPr>
          <p:spPr>
            <a:xfrm>
              <a:off x="7751761" y="3276600"/>
              <a:ext cx="201611" cy="201611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Shape 67"/>
            <p:cNvSpPr/>
            <p:nvPr/>
          </p:nvSpPr>
          <p:spPr>
            <a:xfrm>
              <a:off x="8035925" y="3276600"/>
              <a:ext cx="201611" cy="201611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Shape 68"/>
            <p:cNvSpPr/>
            <p:nvPr/>
          </p:nvSpPr>
          <p:spPr>
            <a:xfrm>
              <a:off x="8320086" y="3276600"/>
              <a:ext cx="201611" cy="20161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Shape 69"/>
            <p:cNvSpPr/>
            <p:nvPr/>
          </p:nvSpPr>
          <p:spPr>
            <a:xfrm>
              <a:off x="7467600" y="3560762"/>
              <a:ext cx="201611" cy="201611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Shape 70"/>
            <p:cNvSpPr/>
            <p:nvPr/>
          </p:nvSpPr>
          <p:spPr>
            <a:xfrm>
              <a:off x="7751761" y="3560762"/>
              <a:ext cx="201611" cy="201611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Shape 71"/>
            <p:cNvSpPr/>
            <p:nvPr/>
          </p:nvSpPr>
          <p:spPr>
            <a:xfrm>
              <a:off x="8035925" y="3560762"/>
              <a:ext cx="201611" cy="20161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Shape 72"/>
            <p:cNvSpPr/>
            <p:nvPr/>
          </p:nvSpPr>
          <p:spPr>
            <a:xfrm>
              <a:off x="8320086" y="3560762"/>
              <a:ext cx="201611" cy="20161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Shape 73"/>
            <p:cNvSpPr/>
            <p:nvPr/>
          </p:nvSpPr>
          <p:spPr>
            <a:xfrm>
              <a:off x="8604250" y="3560762"/>
              <a:ext cx="201611" cy="2016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Shape 74"/>
            <p:cNvSpPr/>
            <p:nvPr/>
          </p:nvSpPr>
          <p:spPr>
            <a:xfrm>
              <a:off x="7467600" y="3843337"/>
              <a:ext cx="201611" cy="203199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Shape 75"/>
            <p:cNvSpPr/>
            <p:nvPr/>
          </p:nvSpPr>
          <p:spPr>
            <a:xfrm>
              <a:off x="7751761" y="3843337"/>
              <a:ext cx="201611" cy="20319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Shape 76"/>
            <p:cNvSpPr/>
            <p:nvPr/>
          </p:nvSpPr>
          <p:spPr>
            <a:xfrm>
              <a:off x="8035925" y="3843337"/>
              <a:ext cx="201611" cy="20319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Shape 77"/>
            <p:cNvSpPr/>
            <p:nvPr/>
          </p:nvSpPr>
          <p:spPr>
            <a:xfrm>
              <a:off x="8320086" y="3843337"/>
              <a:ext cx="201611" cy="20319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Shape 78"/>
            <p:cNvSpPr/>
            <p:nvPr/>
          </p:nvSpPr>
          <p:spPr>
            <a:xfrm>
              <a:off x="7467600" y="4127500"/>
              <a:ext cx="201611" cy="20319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Shape 79"/>
            <p:cNvSpPr/>
            <p:nvPr/>
          </p:nvSpPr>
          <p:spPr>
            <a:xfrm>
              <a:off x="7751761" y="4127500"/>
              <a:ext cx="201611" cy="20319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Shape 80"/>
            <p:cNvSpPr/>
            <p:nvPr/>
          </p:nvSpPr>
          <p:spPr>
            <a:xfrm>
              <a:off x="8035925" y="4127500"/>
              <a:ext cx="201611" cy="20319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Shape 81"/>
            <p:cNvSpPr/>
            <p:nvPr/>
          </p:nvSpPr>
          <p:spPr>
            <a:xfrm>
              <a:off x="8320086" y="4127500"/>
              <a:ext cx="201611" cy="20319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Shape 82"/>
            <p:cNvSpPr/>
            <p:nvPr/>
          </p:nvSpPr>
          <p:spPr>
            <a:xfrm>
              <a:off x="8604250" y="4127500"/>
              <a:ext cx="201611" cy="20319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Shape 83"/>
            <p:cNvSpPr/>
            <p:nvPr/>
          </p:nvSpPr>
          <p:spPr>
            <a:xfrm>
              <a:off x="7467600" y="4411662"/>
              <a:ext cx="201611" cy="20161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Shape 84"/>
            <p:cNvSpPr/>
            <p:nvPr/>
          </p:nvSpPr>
          <p:spPr>
            <a:xfrm>
              <a:off x="7751761" y="4411662"/>
              <a:ext cx="201611" cy="2016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Shape 85"/>
            <p:cNvSpPr/>
            <p:nvPr/>
          </p:nvSpPr>
          <p:spPr>
            <a:xfrm>
              <a:off x="8035925" y="4411662"/>
              <a:ext cx="201611" cy="2016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Shape 86"/>
            <p:cNvSpPr/>
            <p:nvPr/>
          </p:nvSpPr>
          <p:spPr>
            <a:xfrm>
              <a:off x="8320086" y="4411662"/>
              <a:ext cx="201611" cy="201611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Shape 87"/>
            <p:cNvSpPr/>
            <p:nvPr/>
          </p:nvSpPr>
          <p:spPr>
            <a:xfrm>
              <a:off x="7467600" y="4695825"/>
              <a:ext cx="201611" cy="2016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Shape 88"/>
            <p:cNvSpPr/>
            <p:nvPr/>
          </p:nvSpPr>
          <p:spPr>
            <a:xfrm>
              <a:off x="7751761" y="4695825"/>
              <a:ext cx="201611" cy="20161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Shape 89"/>
            <p:cNvSpPr/>
            <p:nvPr/>
          </p:nvSpPr>
          <p:spPr>
            <a:xfrm>
              <a:off x="8035925" y="4695825"/>
              <a:ext cx="201611" cy="201611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Shape 90"/>
            <p:cNvSpPr/>
            <p:nvPr/>
          </p:nvSpPr>
          <p:spPr>
            <a:xfrm>
              <a:off x="8320086" y="4695825"/>
              <a:ext cx="201611" cy="201611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Shape 91"/>
            <p:cNvSpPr/>
            <p:nvPr/>
          </p:nvSpPr>
          <p:spPr>
            <a:xfrm>
              <a:off x="7751761" y="4979987"/>
              <a:ext cx="201611" cy="201611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Shape 92"/>
            <p:cNvSpPr/>
            <p:nvPr/>
          </p:nvSpPr>
          <p:spPr>
            <a:xfrm>
              <a:off x="8320086" y="4979987"/>
              <a:ext cx="201611" cy="201611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3" name="Shape 93"/>
          <p:cNvCxnSpPr/>
          <p:nvPr/>
        </p:nvCxnSpPr>
        <p:spPr>
          <a:xfrm>
            <a:off x="304800" y="2819400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ColTx">
  <p:cSld name="Title, text on left, text on righ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 txBox="1"/>
          <p:nvPr>
            <p:ph idx="10" type="dt"/>
          </p:nvPr>
        </p:nvSpPr>
        <p:spPr>
          <a:xfrm>
            <a:off x="457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96" name="Shape 9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97" name="Shape 97"/>
          <p:cNvSpPr txBox="1"/>
          <p:nvPr>
            <p:ph idx="12" type="sldNum"/>
          </p:nvPr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hape 10"/>
          <p:cNvCxnSpPr/>
          <p:nvPr/>
        </p:nvCxnSpPr>
        <p:spPr>
          <a:xfrm>
            <a:off x="7962900" y="152400"/>
            <a:ext cx="0" cy="152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11" name="Shape 11"/>
          <p:cNvSpPr txBox="1"/>
          <p:nvPr>
            <p:ph type="title"/>
          </p:nvPr>
        </p:nvSpPr>
        <p:spPr>
          <a:xfrm>
            <a:off x="457200" y="122236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12" name="Shape 12"/>
          <p:cNvSpPr txBox="1"/>
          <p:nvPr>
            <p:ph idx="1" type="body"/>
          </p:nvPr>
        </p:nvSpPr>
        <p:spPr>
          <a:xfrm>
            <a:off x="457200" y="1719261"/>
            <a:ext cx="8229600" cy="44116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0955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Font typeface="Noto Symbol"/>
              <a:buChar char="●"/>
              <a:defRPr/>
            </a:lvl1pPr>
            <a:lvl2pPr indent="-233680" lvl="1" marL="69215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Font typeface="Noto Symbol"/>
              <a:buChar char="●"/>
              <a:defRPr/>
            </a:lvl2pPr>
            <a:lvl3pPr indent="-199390" lvl="2" marL="987425" marR="0" rtl="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accent1"/>
              </a:buClr>
              <a:buFont typeface="Noto Symbol"/>
              <a:buChar char="●"/>
              <a:defRPr/>
            </a:lvl3pPr>
            <a:lvl4pPr indent="-207962" lvl="3" marL="128111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Font typeface="Noto Symbol"/>
              <a:buChar char="▪"/>
              <a:defRPr/>
            </a:lvl4pPr>
            <a:lvl5pPr indent="-214312" lvl="4" marL="159861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Font typeface="Noto Symbol"/>
              <a:buChar char="▪"/>
              <a:defRPr/>
            </a:lvl5pPr>
            <a:lvl6pPr indent="-239711" lvl="5" marL="1916111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Font typeface="Noto Symbol"/>
              <a:buChar char="▪"/>
              <a:defRPr/>
            </a:lvl6pPr>
            <a:lvl7pPr indent="-290511" lvl="6" marL="255111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Font typeface="Noto Symbol"/>
              <a:buChar char="▪"/>
              <a:defRPr/>
            </a:lvl7pPr>
            <a:lvl8pPr indent="-366712" lvl="7" marL="350361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Font typeface="Noto Symbol"/>
              <a:buChar char="▪"/>
              <a:defRPr/>
            </a:lvl8pPr>
            <a:lvl9pPr indent="-455612" lvl="8" marL="477361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Font typeface="Noto Symbol"/>
              <a:buChar char="▪"/>
              <a:defRPr/>
            </a:lvl9pPr>
          </a:lstStyle>
          <a:p/>
        </p:txBody>
      </p:sp>
      <p:sp>
        <p:nvSpPr>
          <p:cNvPr id="13" name="Shape 13"/>
          <p:cNvSpPr txBox="1"/>
          <p:nvPr>
            <p:ph idx="10" type="dt"/>
          </p:nvPr>
        </p:nvSpPr>
        <p:spPr>
          <a:xfrm>
            <a:off x="457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14" name="Shape 1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15" name="Shape 15"/>
          <p:cNvSpPr txBox="1"/>
          <p:nvPr>
            <p:ph idx="12" type="sldNum"/>
          </p:nvPr>
        </p:nvSpPr>
        <p:spPr>
          <a:xfrm>
            <a:off x="6553200" y="6248400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  <p:grpSp>
        <p:nvGrpSpPr>
          <p:cNvPr id="16" name="Shape 16"/>
          <p:cNvGrpSpPr/>
          <p:nvPr/>
        </p:nvGrpSpPr>
        <p:grpSpPr>
          <a:xfrm>
            <a:off x="8153399" y="152399"/>
            <a:ext cx="792161" cy="1295399"/>
            <a:chOff x="8153400" y="1524000"/>
            <a:chExt cx="838200" cy="1371600"/>
          </a:xfrm>
        </p:grpSpPr>
        <p:sp>
          <p:nvSpPr>
            <p:cNvPr id="17" name="Shape 17"/>
            <p:cNvSpPr/>
            <p:nvPr/>
          </p:nvSpPr>
          <p:spPr>
            <a:xfrm>
              <a:off x="8153400" y="1524000"/>
              <a:ext cx="127000" cy="1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Shape 18"/>
            <p:cNvSpPr/>
            <p:nvPr/>
          </p:nvSpPr>
          <p:spPr>
            <a:xfrm>
              <a:off x="8331200" y="1524000"/>
              <a:ext cx="127000" cy="1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Shape 19"/>
            <p:cNvSpPr/>
            <p:nvPr/>
          </p:nvSpPr>
          <p:spPr>
            <a:xfrm>
              <a:off x="8509000" y="1524000"/>
              <a:ext cx="127000" cy="1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Shape 20"/>
            <p:cNvSpPr/>
            <p:nvPr/>
          </p:nvSpPr>
          <p:spPr>
            <a:xfrm>
              <a:off x="8153400" y="1701800"/>
              <a:ext cx="127000" cy="1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Shape 21"/>
            <p:cNvSpPr/>
            <p:nvPr/>
          </p:nvSpPr>
          <p:spPr>
            <a:xfrm>
              <a:off x="8331200" y="1701800"/>
              <a:ext cx="127000" cy="1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Shape 22"/>
            <p:cNvSpPr/>
            <p:nvPr/>
          </p:nvSpPr>
          <p:spPr>
            <a:xfrm>
              <a:off x="8509000" y="1701800"/>
              <a:ext cx="127000" cy="1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Shape 23"/>
            <p:cNvSpPr/>
            <p:nvPr/>
          </p:nvSpPr>
          <p:spPr>
            <a:xfrm>
              <a:off x="8686800" y="1701800"/>
              <a:ext cx="127000" cy="127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Shape 24"/>
            <p:cNvSpPr/>
            <p:nvPr/>
          </p:nvSpPr>
          <p:spPr>
            <a:xfrm>
              <a:off x="8153400" y="1879600"/>
              <a:ext cx="127000" cy="1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Shape 25"/>
            <p:cNvSpPr/>
            <p:nvPr/>
          </p:nvSpPr>
          <p:spPr>
            <a:xfrm>
              <a:off x="8331200" y="1879600"/>
              <a:ext cx="127000" cy="1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Shape 26"/>
            <p:cNvSpPr/>
            <p:nvPr/>
          </p:nvSpPr>
          <p:spPr>
            <a:xfrm>
              <a:off x="8509000" y="1879600"/>
              <a:ext cx="127000" cy="127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Shape 27"/>
            <p:cNvSpPr/>
            <p:nvPr/>
          </p:nvSpPr>
          <p:spPr>
            <a:xfrm>
              <a:off x="8686800" y="1879600"/>
              <a:ext cx="127000" cy="127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Shape 28"/>
            <p:cNvSpPr/>
            <p:nvPr/>
          </p:nvSpPr>
          <p:spPr>
            <a:xfrm>
              <a:off x="8864600" y="1879600"/>
              <a:ext cx="127000" cy="127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Shape 29"/>
            <p:cNvSpPr/>
            <p:nvPr/>
          </p:nvSpPr>
          <p:spPr>
            <a:xfrm>
              <a:off x="8153400" y="2057400"/>
              <a:ext cx="127000" cy="1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Shape 30"/>
            <p:cNvSpPr/>
            <p:nvPr/>
          </p:nvSpPr>
          <p:spPr>
            <a:xfrm>
              <a:off x="8331200" y="2057400"/>
              <a:ext cx="127000" cy="127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Shape 31"/>
            <p:cNvSpPr/>
            <p:nvPr/>
          </p:nvSpPr>
          <p:spPr>
            <a:xfrm>
              <a:off x="8509000" y="2057400"/>
              <a:ext cx="127000" cy="127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Shape 32"/>
            <p:cNvSpPr/>
            <p:nvPr/>
          </p:nvSpPr>
          <p:spPr>
            <a:xfrm>
              <a:off x="8686800" y="2057400"/>
              <a:ext cx="127000" cy="127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Shape 33"/>
            <p:cNvSpPr/>
            <p:nvPr/>
          </p:nvSpPr>
          <p:spPr>
            <a:xfrm>
              <a:off x="8153400" y="2235200"/>
              <a:ext cx="127000" cy="127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Shape 34"/>
            <p:cNvSpPr/>
            <p:nvPr/>
          </p:nvSpPr>
          <p:spPr>
            <a:xfrm>
              <a:off x="8331200" y="2235200"/>
              <a:ext cx="127000" cy="127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Shape 35"/>
            <p:cNvSpPr/>
            <p:nvPr/>
          </p:nvSpPr>
          <p:spPr>
            <a:xfrm>
              <a:off x="8509000" y="2235200"/>
              <a:ext cx="127000" cy="127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Shape 36"/>
            <p:cNvSpPr/>
            <p:nvPr/>
          </p:nvSpPr>
          <p:spPr>
            <a:xfrm>
              <a:off x="8686800" y="2235200"/>
              <a:ext cx="127000" cy="127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Shape 37"/>
            <p:cNvSpPr/>
            <p:nvPr/>
          </p:nvSpPr>
          <p:spPr>
            <a:xfrm>
              <a:off x="8864600" y="2235200"/>
              <a:ext cx="127000" cy="1270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Shape 38"/>
            <p:cNvSpPr/>
            <p:nvPr/>
          </p:nvSpPr>
          <p:spPr>
            <a:xfrm>
              <a:off x="8153400" y="2413000"/>
              <a:ext cx="127000" cy="127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Shape 39"/>
            <p:cNvSpPr/>
            <p:nvPr/>
          </p:nvSpPr>
          <p:spPr>
            <a:xfrm>
              <a:off x="8331200" y="2413000"/>
              <a:ext cx="127000" cy="127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Shape 40"/>
            <p:cNvSpPr/>
            <p:nvPr/>
          </p:nvSpPr>
          <p:spPr>
            <a:xfrm>
              <a:off x="8509000" y="2413000"/>
              <a:ext cx="127000" cy="127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Shape 41"/>
            <p:cNvSpPr/>
            <p:nvPr/>
          </p:nvSpPr>
          <p:spPr>
            <a:xfrm>
              <a:off x="8686800" y="2413000"/>
              <a:ext cx="127000" cy="1270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Shape 42"/>
            <p:cNvSpPr/>
            <p:nvPr/>
          </p:nvSpPr>
          <p:spPr>
            <a:xfrm>
              <a:off x="8153400" y="2590800"/>
              <a:ext cx="127000" cy="127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Shape 43"/>
            <p:cNvSpPr/>
            <p:nvPr/>
          </p:nvSpPr>
          <p:spPr>
            <a:xfrm>
              <a:off x="8331200" y="2590800"/>
              <a:ext cx="127000" cy="127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Shape 44"/>
            <p:cNvSpPr/>
            <p:nvPr/>
          </p:nvSpPr>
          <p:spPr>
            <a:xfrm>
              <a:off x="8509000" y="2590800"/>
              <a:ext cx="127000" cy="1270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Shape 45"/>
            <p:cNvSpPr/>
            <p:nvPr/>
          </p:nvSpPr>
          <p:spPr>
            <a:xfrm>
              <a:off x="8686800" y="2590800"/>
              <a:ext cx="127000" cy="1270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Shape 46"/>
            <p:cNvSpPr/>
            <p:nvPr/>
          </p:nvSpPr>
          <p:spPr>
            <a:xfrm>
              <a:off x="8331200" y="2768600"/>
              <a:ext cx="127000" cy="1270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Shape 47"/>
            <p:cNvSpPr/>
            <p:nvPr/>
          </p:nvSpPr>
          <p:spPr>
            <a:xfrm>
              <a:off x="8686800" y="2768600"/>
              <a:ext cx="127000" cy="1270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ctr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0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0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0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05.png"/><Relationship Id="rId4" Type="http://schemas.openxmlformats.org/officeDocument/2006/relationships/image" Target="../media/image0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0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06.jpg"/><Relationship Id="rId4" Type="http://schemas.openxmlformats.org/officeDocument/2006/relationships/image" Target="../media/image01.jpg"/><Relationship Id="rId5" Type="http://schemas.openxmlformats.org/officeDocument/2006/relationships/image" Target="../media/image2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0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09.jpg"/><Relationship Id="rId4" Type="http://schemas.openxmlformats.org/officeDocument/2006/relationships/image" Target="../media/image0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Relationship Id="rId4" Type="http://schemas.openxmlformats.org/officeDocument/2006/relationships/image" Target="../media/image16.jpg"/><Relationship Id="rId5" Type="http://schemas.openxmlformats.org/officeDocument/2006/relationships/image" Target="../media/image1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jpg"/><Relationship Id="rId4" Type="http://schemas.openxmlformats.org/officeDocument/2006/relationships/image" Target="../media/image1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jpg"/><Relationship Id="rId4" Type="http://schemas.openxmlformats.org/officeDocument/2006/relationships/image" Target="../media/image25.jpg"/><Relationship Id="rId5" Type="http://schemas.openxmlformats.org/officeDocument/2006/relationships/image" Target="../media/image21.jpg"/><Relationship Id="rId6" Type="http://schemas.openxmlformats.org/officeDocument/2006/relationships/image" Target="../media/image2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jpg"/><Relationship Id="rId4" Type="http://schemas.openxmlformats.org/officeDocument/2006/relationships/image" Target="../media/image22.jpg"/><Relationship Id="rId5" Type="http://schemas.openxmlformats.org/officeDocument/2006/relationships/image" Target="../media/image26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/>
          <p:nvPr>
            <p:ph type="title"/>
          </p:nvPr>
        </p:nvSpPr>
        <p:spPr>
          <a:xfrm>
            <a:off x="107950" y="188911"/>
            <a:ext cx="5184775" cy="6524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ECONOMÍA GENERAL</a:t>
            </a:r>
          </a:p>
        </p:txBody>
      </p:sp>
      <p:sp>
        <p:nvSpPr>
          <p:cNvPr id="103" name="Shape 103"/>
          <p:cNvSpPr txBox="1"/>
          <p:nvPr/>
        </p:nvSpPr>
        <p:spPr>
          <a:xfrm>
            <a:off x="395287" y="981075"/>
            <a:ext cx="2232025" cy="1223961"/>
          </a:xfrm>
          <a:prstGeom prst="rect">
            <a:avLst/>
          </a:prstGeom>
          <a:solidFill>
            <a:schemeClr val="accent1">
              <a:alpha val="41960"/>
            </a:scheme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ANALISIS 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MATEMATICO I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(1)</a:t>
            </a:r>
          </a:p>
        </p:txBody>
      </p:sp>
      <p:sp>
        <p:nvSpPr>
          <p:cNvPr id="104" name="Shape 104"/>
          <p:cNvSpPr txBox="1"/>
          <p:nvPr/>
        </p:nvSpPr>
        <p:spPr>
          <a:xfrm>
            <a:off x="3419475" y="981075"/>
            <a:ext cx="1728787" cy="1223961"/>
          </a:xfrm>
          <a:prstGeom prst="rect">
            <a:avLst/>
          </a:prstGeom>
          <a:solidFill>
            <a:schemeClr val="accent1">
              <a:alpha val="41960"/>
            </a:scheme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PENSAMIENTO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SISTÉMICO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(5)</a:t>
            </a:r>
          </a:p>
        </p:txBody>
      </p:sp>
      <p:sp>
        <p:nvSpPr>
          <p:cNvPr id="105" name="Shape 105"/>
          <p:cNvSpPr txBox="1"/>
          <p:nvPr/>
        </p:nvSpPr>
        <p:spPr>
          <a:xfrm>
            <a:off x="5940425" y="908050"/>
            <a:ext cx="1871662" cy="1225550"/>
          </a:xfrm>
          <a:prstGeom prst="rect">
            <a:avLst/>
          </a:prstGeom>
          <a:solidFill>
            <a:schemeClr val="accent1">
              <a:alpha val="41960"/>
            </a:scheme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INGENIERÍA Y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SOCIEDAD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(8)</a:t>
            </a:r>
          </a:p>
        </p:txBody>
      </p:sp>
      <p:sp>
        <p:nvSpPr>
          <p:cNvPr id="106" name="Shape 106"/>
          <p:cNvSpPr txBox="1"/>
          <p:nvPr/>
        </p:nvSpPr>
        <p:spPr>
          <a:xfrm>
            <a:off x="2987675" y="2276475"/>
            <a:ext cx="2665411" cy="2952750"/>
          </a:xfrm>
          <a:prstGeom prst="rect">
            <a:avLst/>
          </a:prstGeom>
          <a:solidFill>
            <a:srgbClr val="FF0000">
              <a:alpha val="56862"/>
            </a:srgb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ECONOMÍA GENERAL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(14)</a:t>
            </a:r>
          </a:p>
        </p:txBody>
      </p:sp>
      <p:sp>
        <p:nvSpPr>
          <p:cNvPr id="107" name="Shape 107"/>
          <p:cNvSpPr txBox="1"/>
          <p:nvPr/>
        </p:nvSpPr>
        <p:spPr>
          <a:xfrm>
            <a:off x="34925" y="2349500"/>
            <a:ext cx="2051050" cy="1008062"/>
          </a:xfrm>
          <a:prstGeom prst="rect">
            <a:avLst/>
          </a:prstGeom>
          <a:solidFill>
            <a:srgbClr val="33CCCC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COSTOS Y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PRESUPUESTOS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(17)</a:t>
            </a:r>
          </a:p>
        </p:txBody>
      </p:sp>
      <p:sp>
        <p:nvSpPr>
          <p:cNvPr id="108" name="Shape 108"/>
          <p:cNvSpPr txBox="1"/>
          <p:nvPr/>
        </p:nvSpPr>
        <p:spPr>
          <a:xfrm>
            <a:off x="0" y="3429000"/>
            <a:ext cx="2447925" cy="936624"/>
          </a:xfrm>
          <a:prstGeom prst="rect">
            <a:avLst/>
          </a:prstGeom>
          <a:solidFill>
            <a:srgbClr val="33CCCC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COMERCIALIZACIÓN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(19)</a:t>
            </a:r>
          </a:p>
        </p:txBody>
      </p:sp>
      <p:sp>
        <p:nvSpPr>
          <p:cNvPr id="109" name="Shape 109"/>
          <p:cNvSpPr txBox="1"/>
          <p:nvPr/>
        </p:nvSpPr>
        <p:spPr>
          <a:xfrm>
            <a:off x="0" y="4437062"/>
            <a:ext cx="2447925" cy="935037"/>
          </a:xfrm>
          <a:prstGeom prst="rect">
            <a:avLst/>
          </a:prstGeom>
          <a:solidFill>
            <a:srgbClr val="33CCCC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ECONOMÍA DE LA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EMPRESA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(23)</a:t>
            </a:r>
          </a:p>
        </p:txBody>
      </p:sp>
      <p:sp>
        <p:nvSpPr>
          <p:cNvPr id="110" name="Shape 110"/>
          <p:cNvSpPr txBox="1"/>
          <p:nvPr/>
        </p:nvSpPr>
        <p:spPr>
          <a:xfrm>
            <a:off x="6516687" y="2205036"/>
            <a:ext cx="2016124" cy="863599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EVALUACIÓN DE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PROYECTOS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(30)</a:t>
            </a:r>
          </a:p>
        </p:txBody>
      </p:sp>
      <p:sp>
        <p:nvSpPr>
          <p:cNvPr id="111" name="Shape 111"/>
          <p:cNvSpPr txBox="1"/>
          <p:nvPr/>
        </p:nvSpPr>
        <p:spPr>
          <a:xfrm>
            <a:off x="6516687" y="3141661"/>
            <a:ext cx="2016124" cy="1008062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DISEÑO DE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PRODUCTO 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(32)</a:t>
            </a:r>
          </a:p>
        </p:txBody>
      </p:sp>
      <p:sp>
        <p:nvSpPr>
          <p:cNvPr id="112" name="Shape 112"/>
          <p:cNvSpPr txBox="1"/>
          <p:nvPr/>
        </p:nvSpPr>
        <p:spPr>
          <a:xfrm>
            <a:off x="6516687" y="4292600"/>
            <a:ext cx="2016124" cy="863599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DE 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GESTIÓN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(42)</a:t>
            </a:r>
          </a:p>
        </p:txBody>
      </p:sp>
      <p:sp>
        <p:nvSpPr>
          <p:cNvPr id="113" name="Shape 113"/>
          <p:cNvSpPr txBox="1"/>
          <p:nvPr/>
        </p:nvSpPr>
        <p:spPr>
          <a:xfrm>
            <a:off x="34925" y="5516562"/>
            <a:ext cx="1368425" cy="11525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POLÍTICA 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ECONÓMICA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(45)</a:t>
            </a:r>
          </a:p>
        </p:txBody>
      </p:sp>
      <p:sp>
        <p:nvSpPr>
          <p:cNvPr id="114" name="Shape 114"/>
          <p:cNvSpPr txBox="1"/>
          <p:nvPr/>
        </p:nvSpPr>
        <p:spPr>
          <a:xfrm>
            <a:off x="1476375" y="5516562"/>
            <a:ext cx="1081086" cy="11525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FINANZAS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(46)</a:t>
            </a:r>
          </a:p>
        </p:txBody>
      </p:sp>
      <p:sp>
        <p:nvSpPr>
          <p:cNvPr id="115" name="Shape 115"/>
          <p:cNvSpPr txBox="1"/>
          <p:nvPr/>
        </p:nvSpPr>
        <p:spPr>
          <a:xfrm>
            <a:off x="2555875" y="5516562"/>
            <a:ext cx="1131887" cy="11525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LOGÍSTICA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(47)</a:t>
            </a:r>
          </a:p>
        </p:txBody>
      </p:sp>
      <p:sp>
        <p:nvSpPr>
          <p:cNvPr id="116" name="Shape 116"/>
          <p:cNvSpPr txBox="1"/>
          <p:nvPr/>
        </p:nvSpPr>
        <p:spPr>
          <a:xfrm>
            <a:off x="3708400" y="5516562"/>
            <a:ext cx="1295400" cy="11525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MARKETING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INDUSTRIAL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(50)</a:t>
            </a:r>
          </a:p>
        </p:txBody>
      </p:sp>
      <p:sp>
        <p:nvSpPr>
          <p:cNvPr id="117" name="Shape 117"/>
          <p:cNvSpPr txBox="1"/>
          <p:nvPr/>
        </p:nvSpPr>
        <p:spPr>
          <a:xfrm>
            <a:off x="5076825" y="5516562"/>
            <a:ext cx="1873249" cy="11525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AUTOMATIZACIÓN 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LOGÍSTICA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(52)</a:t>
            </a:r>
          </a:p>
        </p:txBody>
      </p:sp>
      <p:sp>
        <p:nvSpPr>
          <p:cNvPr id="118" name="Shape 118"/>
          <p:cNvSpPr txBox="1"/>
          <p:nvPr/>
        </p:nvSpPr>
        <p:spPr>
          <a:xfrm>
            <a:off x="7019925" y="5518150"/>
            <a:ext cx="2016124" cy="1223961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RESPONSABILIDAD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SOCIAL 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EMPRESARIA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(58)</a:t>
            </a:r>
          </a:p>
        </p:txBody>
      </p:sp>
      <p:sp>
        <p:nvSpPr>
          <p:cNvPr id="119" name="Shape 119"/>
          <p:cNvSpPr/>
          <p:nvPr/>
        </p:nvSpPr>
        <p:spPr>
          <a:xfrm>
            <a:off x="2627311" y="1341437"/>
            <a:ext cx="792162" cy="914400"/>
          </a:xfrm>
          <a:prstGeom prst="down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rgbClr val="FF0000">
              <a:alpha val="38823"/>
            </a:srgb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Shape 120"/>
          <p:cNvSpPr/>
          <p:nvPr/>
        </p:nvSpPr>
        <p:spPr>
          <a:xfrm>
            <a:off x="5148262" y="1341437"/>
            <a:ext cx="792162" cy="914400"/>
          </a:xfrm>
          <a:prstGeom prst="down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rgbClr val="FF0000">
              <a:alpha val="40784"/>
            </a:srgb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Shape 121"/>
          <p:cNvSpPr/>
          <p:nvPr/>
        </p:nvSpPr>
        <p:spPr>
          <a:xfrm>
            <a:off x="5651500" y="2420936"/>
            <a:ext cx="833436" cy="485775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>
              <a:alpha val="73725"/>
            </a:scheme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Shape 122"/>
          <p:cNvSpPr/>
          <p:nvPr/>
        </p:nvSpPr>
        <p:spPr>
          <a:xfrm rot="10800000">
            <a:off x="2124075" y="2565399"/>
            <a:ext cx="863599" cy="485775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F0000">
              <a:alpha val="37647"/>
            </a:srgb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Shape 123"/>
          <p:cNvSpPr/>
          <p:nvPr/>
        </p:nvSpPr>
        <p:spPr>
          <a:xfrm>
            <a:off x="5651500" y="3357562"/>
            <a:ext cx="833436" cy="485775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>
              <a:alpha val="73725"/>
            </a:scheme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Shape 124"/>
          <p:cNvSpPr/>
          <p:nvPr/>
        </p:nvSpPr>
        <p:spPr>
          <a:xfrm>
            <a:off x="5651500" y="4437062"/>
            <a:ext cx="833436" cy="485775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>
              <a:alpha val="74901"/>
            </a:scheme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Shape 125"/>
          <p:cNvSpPr/>
          <p:nvPr/>
        </p:nvSpPr>
        <p:spPr>
          <a:xfrm rot="10800000">
            <a:off x="2484437" y="3644899"/>
            <a:ext cx="503236" cy="485775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F0000">
              <a:alpha val="37647"/>
            </a:srgb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Shape 126"/>
          <p:cNvSpPr/>
          <p:nvPr/>
        </p:nvSpPr>
        <p:spPr>
          <a:xfrm rot="10800000">
            <a:off x="2484437" y="4652962"/>
            <a:ext cx="503236" cy="485775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F0000">
              <a:alpha val="37647"/>
            </a:srgb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" name="Shape 127"/>
          <p:cNvCxnSpPr/>
          <p:nvPr/>
        </p:nvCxnSpPr>
        <p:spPr>
          <a:xfrm flipH="1">
            <a:off x="1331911" y="5084762"/>
            <a:ext cx="1657350" cy="43179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stealth"/>
          </a:ln>
        </p:spPr>
      </p:cxnSp>
      <p:cxnSp>
        <p:nvCxnSpPr>
          <p:cNvPr id="128" name="Shape 128"/>
          <p:cNvCxnSpPr/>
          <p:nvPr/>
        </p:nvCxnSpPr>
        <p:spPr>
          <a:xfrm flipH="1">
            <a:off x="2339975" y="5229225"/>
            <a:ext cx="863599" cy="2889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stealth"/>
          </a:ln>
        </p:spPr>
      </p:cxnSp>
      <p:cxnSp>
        <p:nvCxnSpPr>
          <p:cNvPr id="129" name="Shape 129"/>
          <p:cNvCxnSpPr/>
          <p:nvPr/>
        </p:nvCxnSpPr>
        <p:spPr>
          <a:xfrm flipH="1">
            <a:off x="3276599" y="5229225"/>
            <a:ext cx="288925" cy="28733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stealth"/>
          </a:ln>
        </p:spPr>
      </p:cxnSp>
      <p:cxnSp>
        <p:nvCxnSpPr>
          <p:cNvPr id="130" name="Shape 130"/>
          <p:cNvCxnSpPr/>
          <p:nvPr/>
        </p:nvCxnSpPr>
        <p:spPr>
          <a:xfrm>
            <a:off x="4356100" y="5229225"/>
            <a:ext cx="0" cy="28733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stealth"/>
          </a:ln>
        </p:spPr>
      </p:cxnSp>
      <p:cxnSp>
        <p:nvCxnSpPr>
          <p:cNvPr id="131" name="Shape 131"/>
          <p:cNvCxnSpPr/>
          <p:nvPr/>
        </p:nvCxnSpPr>
        <p:spPr>
          <a:xfrm>
            <a:off x="5219700" y="5229225"/>
            <a:ext cx="215899" cy="28733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stealth"/>
          </a:ln>
        </p:spPr>
      </p:cxnSp>
      <p:cxnSp>
        <p:nvCxnSpPr>
          <p:cNvPr id="132" name="Shape 132"/>
          <p:cNvCxnSpPr/>
          <p:nvPr/>
        </p:nvCxnSpPr>
        <p:spPr>
          <a:xfrm>
            <a:off x="5651500" y="4941887"/>
            <a:ext cx="1512886" cy="50323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stealth"/>
          </a:ln>
        </p:spPr>
      </p:cxnSp>
      <p:pic>
        <p:nvPicPr>
          <p:cNvPr id="133" name="Shape 13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3800" y="260350"/>
            <a:ext cx="3009899" cy="609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 txBox="1"/>
          <p:nvPr>
            <p:ph type="title"/>
          </p:nvPr>
        </p:nvSpPr>
        <p:spPr>
          <a:xfrm>
            <a:off x="4633912" y="122236"/>
            <a:ext cx="3178174" cy="7143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0" i="0" lang="en-US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CLASE N° 1</a:t>
            </a:r>
          </a:p>
        </p:txBody>
      </p:sp>
      <p:pic>
        <p:nvPicPr>
          <p:cNvPr id="139" name="Shape 13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850" y="188911"/>
            <a:ext cx="3009899" cy="80009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Shape 140"/>
          <p:cNvSpPr txBox="1"/>
          <p:nvPr/>
        </p:nvSpPr>
        <p:spPr>
          <a:xfrm>
            <a:off x="107950" y="1547812"/>
            <a:ext cx="9036050" cy="5310186"/>
          </a:xfrm>
          <a:prstGeom prst="rect">
            <a:avLst/>
          </a:prstGeom>
          <a:solidFill>
            <a:srgbClr val="FFFF99">
              <a:alpha val="36862"/>
            </a:srgbClr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Introducción al análisis del problema económico. 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Necesidades, bienes y servicios. Definiciones y distintos tipos de clasificaciones. 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Principio de escasez. 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Actividad económica. Definición. Principios de la actividad económica. Operación económica.  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Criterios de elección. Determinación de jerarquías. 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Definición de Economía. 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Economía como ciencia. Teorías y modelos. 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investigación económica. Métodos  deductivo e inductivo. 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Economía positiva y normativa </a:t>
            </a:r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 txBox="1"/>
          <p:nvPr>
            <p:ph type="ctrTitle"/>
          </p:nvPr>
        </p:nvSpPr>
        <p:spPr>
          <a:xfrm>
            <a:off x="323850" y="0"/>
            <a:ext cx="6773861" cy="26003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INTRODUCCION AL PENSAMIENTO</a:t>
            </a:r>
            <a:br>
              <a:rPr b="1" i="0" lang="en-US" sz="4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4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ECONOMICO</a:t>
            </a:r>
            <a:br>
              <a:rPr b="1" i="0" lang="en-US" sz="3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</a:p>
        </p:txBody>
      </p:sp>
      <p:sp>
        <p:nvSpPr>
          <p:cNvPr id="146" name="Shape 146"/>
          <p:cNvSpPr txBox="1"/>
          <p:nvPr>
            <p:ph idx="1" type="subTitle"/>
          </p:nvPr>
        </p:nvSpPr>
        <p:spPr>
          <a:xfrm>
            <a:off x="849312" y="3049586"/>
            <a:ext cx="6248399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70000"/>
              <a:buFont typeface="Noto Symbo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Shape 1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1775" y="3284537"/>
            <a:ext cx="1744661" cy="261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 txBox="1"/>
          <p:nvPr>
            <p:ph idx="4294967295" type="title"/>
          </p:nvPr>
        </p:nvSpPr>
        <p:spPr>
          <a:xfrm>
            <a:off x="457200" y="122236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La Economía y el Hombre</a:t>
            </a:r>
          </a:p>
        </p:txBody>
      </p:sp>
      <p:sp>
        <p:nvSpPr>
          <p:cNvPr id="153" name="Shape 153"/>
          <p:cNvSpPr txBox="1"/>
          <p:nvPr>
            <p:ph idx="4294967295" type="body"/>
          </p:nvPr>
        </p:nvSpPr>
        <p:spPr>
          <a:xfrm>
            <a:off x="457200" y="1719261"/>
            <a:ext cx="3682999" cy="2430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0000"/>
              <a:buFont typeface="Noto Symbol"/>
              <a:buChar char="●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Lucha por la subsistencia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ct val="70000"/>
              <a:buFont typeface="Noto Symbol"/>
              <a:buChar char="●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Desequilibrios</a:t>
            </a:r>
          </a:p>
          <a:p>
            <a:pPr indent="-315912" lvl="4" marL="1598612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ct val="79999"/>
              <a:buFont typeface="Noto Symbol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Mundo físico</a:t>
            </a:r>
          </a:p>
          <a:p>
            <a:pPr indent="-315912" lvl="4" marL="1598612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ct val="79999"/>
              <a:buFont typeface="Noto Symbol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Mundo social</a:t>
            </a:r>
          </a:p>
        </p:txBody>
      </p:sp>
      <p:sp>
        <p:nvSpPr>
          <p:cNvPr id="154" name="Shape 154"/>
          <p:cNvSpPr txBox="1"/>
          <p:nvPr>
            <p:ph idx="4294967295" type="body"/>
          </p:nvPr>
        </p:nvSpPr>
        <p:spPr>
          <a:xfrm>
            <a:off x="4648200" y="1719261"/>
            <a:ext cx="4038599" cy="441166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Necesidades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Son </a:t>
            </a:r>
            <a:r>
              <a:rPr b="0" i="1" lang="en-US" sz="20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desequilibrios</a:t>
            </a: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promovidos desde el mundo físico y enmarcados en el mundo social en forma permanente manifestándose en el plano psicológico como un </a:t>
            </a:r>
            <a:r>
              <a:rPr b="0" i="1" lang="en-US" sz="20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deseo</a:t>
            </a: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determinando una </a:t>
            </a:r>
            <a:r>
              <a:rPr b="0" i="1" lang="en-US" sz="20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carencia</a:t>
            </a: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unido a la </a:t>
            </a:r>
            <a:r>
              <a:rPr b="0" i="1" lang="en-US" sz="20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disposición de contrarrestarlo</a:t>
            </a: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pic>
        <p:nvPicPr>
          <p:cNvPr id="155" name="Shape 1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187" y="4365625"/>
            <a:ext cx="1800225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Shape 1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7311" y="4868862"/>
            <a:ext cx="1706561" cy="90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 txBox="1"/>
          <p:nvPr>
            <p:ph type="ctrTitle"/>
          </p:nvPr>
        </p:nvSpPr>
        <p:spPr>
          <a:xfrm>
            <a:off x="315912" y="466725"/>
            <a:ext cx="6781800" cy="21335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1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</a:p>
        </p:txBody>
      </p:sp>
      <p:sp>
        <p:nvSpPr>
          <p:cNvPr id="162" name="Shape 162"/>
          <p:cNvSpPr txBox="1"/>
          <p:nvPr>
            <p:ph idx="1" type="subTitle"/>
          </p:nvPr>
        </p:nvSpPr>
        <p:spPr>
          <a:xfrm>
            <a:off x="849312" y="3049586"/>
            <a:ext cx="6248399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rPr b="0" i="0" lang="en-US" sz="4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hombre tiene necesidades y busca satisfacerlas</a:t>
            </a:r>
          </a:p>
        </p:txBody>
      </p:sp>
      <p:pic>
        <p:nvPicPr>
          <p:cNvPr id="163" name="Shape 1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900" y="0"/>
            <a:ext cx="4500561" cy="28082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 txBox="1"/>
          <p:nvPr>
            <p:ph type="ctrTitle"/>
          </p:nvPr>
        </p:nvSpPr>
        <p:spPr>
          <a:xfrm>
            <a:off x="315912" y="466725"/>
            <a:ext cx="6781800" cy="15224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Clasificación de Necesidades</a:t>
            </a:r>
          </a:p>
        </p:txBody>
      </p:sp>
      <p:sp>
        <p:nvSpPr>
          <p:cNvPr id="169" name="Shape 169"/>
          <p:cNvSpPr txBox="1"/>
          <p:nvPr>
            <p:ph idx="1" type="subTitle"/>
          </p:nvPr>
        </p:nvSpPr>
        <p:spPr>
          <a:xfrm>
            <a:off x="2411411" y="3049586"/>
            <a:ext cx="46863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Primarias o Vitales</a:t>
            </a:r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Secundarias o Convenientes</a:t>
            </a:r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Terciarias o Superfluas</a:t>
            </a:r>
          </a:p>
        </p:txBody>
      </p:sp>
      <p:pic>
        <p:nvPicPr>
          <p:cNvPr id="170" name="Shape 1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386" y="908050"/>
            <a:ext cx="2400300" cy="1795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Shape 1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67400" y="5013325"/>
            <a:ext cx="1873249" cy="166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Shape 17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3357562"/>
            <a:ext cx="2309812" cy="17700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 txBox="1"/>
          <p:nvPr>
            <p:ph type="ctrTitle"/>
          </p:nvPr>
        </p:nvSpPr>
        <p:spPr>
          <a:xfrm>
            <a:off x="315912" y="466725"/>
            <a:ext cx="6781800" cy="21335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78" name="Shape 178"/>
          <p:cNvSpPr txBox="1"/>
          <p:nvPr>
            <p:ph idx="1" type="subTitle"/>
          </p:nvPr>
        </p:nvSpPr>
        <p:spPr>
          <a:xfrm>
            <a:off x="849312" y="3049586"/>
            <a:ext cx="6248399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hombre satisface sus necesidades con bienes y servicios</a:t>
            </a:r>
          </a:p>
        </p:txBody>
      </p:sp>
      <p:pic>
        <p:nvPicPr>
          <p:cNvPr id="179" name="Shape 179"/>
          <p:cNvPicPr preferRelativeResize="0"/>
          <p:nvPr/>
        </p:nvPicPr>
        <p:blipFill rotWithShape="1">
          <a:blip r:embed="rId3">
            <a:alphaModFix amt="0"/>
          </a:blip>
          <a:srcRect b="0" l="0" r="0" t="0"/>
          <a:stretch/>
        </p:blipFill>
        <p:spPr>
          <a:xfrm>
            <a:off x="2916236" y="4292600"/>
            <a:ext cx="2116137" cy="2116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184"/>
          <p:cNvSpPr txBox="1"/>
          <p:nvPr>
            <p:ph type="ctrTitle"/>
          </p:nvPr>
        </p:nvSpPr>
        <p:spPr>
          <a:xfrm>
            <a:off x="315912" y="466725"/>
            <a:ext cx="6781800" cy="21335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Definiciones </a:t>
            </a:r>
          </a:p>
        </p:txBody>
      </p:sp>
      <p:sp>
        <p:nvSpPr>
          <p:cNvPr id="185" name="Shape 185"/>
          <p:cNvSpPr txBox="1"/>
          <p:nvPr>
            <p:ph idx="1" type="subTitle"/>
          </p:nvPr>
        </p:nvSpPr>
        <p:spPr>
          <a:xfrm>
            <a:off x="849312" y="3049586"/>
            <a:ext cx="6248399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Bienes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son todos los </a:t>
            </a:r>
            <a:r>
              <a:rPr b="0" i="0" lang="en-US" sz="20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medios materiales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capaces de satisfacer las necesidades de los individuos como de la sociedad</a:t>
            </a:r>
          </a:p>
          <a:p>
            <a:pPr indent="0" lvl="0" marL="0" marR="0" rtl="0" algn="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Servicios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son todas las </a:t>
            </a:r>
            <a:r>
              <a:rPr b="0" i="0" lang="en-US" sz="20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prestaciones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realizadas por el hombre o por objetos materiales a través del hombre capaces de satisfacer necesidades tanto de los individuos como de  la sociedad</a:t>
            </a:r>
          </a:p>
        </p:txBody>
      </p:sp>
      <p:pic>
        <p:nvPicPr>
          <p:cNvPr id="186" name="Shape 1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92150"/>
            <a:ext cx="2857499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Shape 1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5287" y="5084762"/>
            <a:ext cx="2263774" cy="169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 txBox="1"/>
          <p:nvPr>
            <p:ph idx="4294967295" type="title"/>
          </p:nvPr>
        </p:nvSpPr>
        <p:spPr>
          <a:xfrm>
            <a:off x="457200" y="122236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Clasificación de los bienes</a:t>
            </a:r>
          </a:p>
        </p:txBody>
      </p:sp>
      <p:sp>
        <p:nvSpPr>
          <p:cNvPr id="193" name="Shape 193"/>
          <p:cNvSpPr txBox="1"/>
          <p:nvPr>
            <p:ph idx="4294967295" type="body"/>
          </p:nvPr>
        </p:nvSpPr>
        <p:spPr>
          <a:xfrm>
            <a:off x="457200" y="1719261"/>
            <a:ext cx="4038599" cy="4411661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0000"/>
              <a:buFont typeface="Noto Symbol"/>
              <a:buChar char="❑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Según su carácter</a:t>
            </a:r>
          </a:p>
          <a:p>
            <a:pPr indent="-301625" lvl="2" marL="987425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Noto Symbol"/>
              <a:buChar char="❑"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Gratuitos</a:t>
            </a:r>
          </a:p>
          <a:p>
            <a:pPr indent="-301625" lvl="2" marL="987425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Noto Symbol"/>
              <a:buChar char="❑"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Económicos</a:t>
            </a:r>
          </a:p>
          <a:p>
            <a:pPr indent="-342900" lvl="0" marL="34290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ct val="70000"/>
              <a:buFont typeface="Noto Symbol"/>
              <a:buChar char="❑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Según su uso</a:t>
            </a:r>
          </a:p>
          <a:p>
            <a:pPr indent="-301625" lvl="2" marL="987425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Noto Symbol"/>
              <a:buChar char="❑"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Uso único</a:t>
            </a:r>
          </a:p>
          <a:p>
            <a:pPr indent="-301625" lvl="2" marL="987425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Noto Symbol"/>
              <a:buChar char="❑"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Uso durable</a:t>
            </a:r>
          </a:p>
          <a:p>
            <a:pPr indent="-301625" lvl="2" marL="987425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Noto Symbol"/>
              <a:buChar char="❑"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Uso intermedio</a:t>
            </a:r>
          </a:p>
          <a:p>
            <a:pPr indent="-301625" lvl="2" marL="987425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Noto Symbol"/>
              <a:buChar char="❑"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Uso final</a:t>
            </a:r>
          </a:p>
          <a:p>
            <a:pPr indent="-342900" lvl="0" marL="34290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ct val="70000"/>
              <a:buFont typeface="Noto Symbol"/>
              <a:buChar char="❑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Según su naturaleza</a:t>
            </a:r>
          </a:p>
          <a:p>
            <a:pPr indent="-301625" lvl="2" marL="987425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Noto Symbol"/>
              <a:buChar char="❑"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Capital</a:t>
            </a:r>
          </a:p>
          <a:p>
            <a:pPr indent="-301625" lvl="2" marL="987425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Noto Symbol"/>
              <a:buChar char="❑"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Consumo</a:t>
            </a:r>
          </a:p>
          <a:p>
            <a:pPr indent="-301625" lvl="2" marL="987425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Noto Symbo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ct val="70000"/>
              <a:buFont typeface="Noto Symbo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Shape 194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3800" y="1773236"/>
            <a:ext cx="2736850" cy="1430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Shape 1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5875" y="2636836"/>
            <a:ext cx="3095625" cy="3124199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Shape 200"/>
          <p:cNvSpPr txBox="1"/>
          <p:nvPr>
            <p:ph idx="4294967295" type="title"/>
          </p:nvPr>
        </p:nvSpPr>
        <p:spPr>
          <a:xfrm>
            <a:off x="457200" y="122236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El problema económico</a:t>
            </a:r>
          </a:p>
        </p:txBody>
      </p:sp>
      <p:sp>
        <p:nvSpPr>
          <p:cNvPr id="201" name="Shape 201"/>
          <p:cNvSpPr txBox="1"/>
          <p:nvPr>
            <p:ph idx="4294967295" type="body"/>
          </p:nvPr>
        </p:nvSpPr>
        <p:spPr>
          <a:xfrm>
            <a:off x="250825" y="1719261"/>
            <a:ext cx="2665411" cy="441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0000"/>
              <a:buFont typeface="Noto Symbo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Necesidades en cantidades </a:t>
            </a:r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ilimitadas</a:t>
            </a:r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Bienes y servicios en cantidades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limitadas</a:t>
            </a:r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rPr b="0" i="1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id="202" name="Shape 202"/>
          <p:cNvSpPr txBox="1"/>
          <p:nvPr>
            <p:ph idx="4294967295" type="body"/>
          </p:nvPr>
        </p:nvSpPr>
        <p:spPr>
          <a:xfrm>
            <a:off x="5651500" y="1916111"/>
            <a:ext cx="3348037" cy="33845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t/>
            </a:r>
            <a:endParaRPr b="0" i="1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Principio de escasez</a:t>
            </a: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indent="-342900" lvl="0" marL="3429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</a:p>
          <a:p>
            <a:pPr indent="-342900" lvl="0" marL="342900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Sintetiza el problema económico, expresando el deseo de la gente de adquirir una cantidad de bienes y servicios mayor que la disponible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ct val="70000"/>
              <a:buFont typeface="Noto Symbol"/>
              <a:buNone/>
            </a:pPr>
            <a:r>
              <a:t/>
            </a:r>
            <a:endParaRPr b="1" i="1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207"/>
          <p:cNvSpPr txBox="1"/>
          <p:nvPr>
            <p:ph type="ctrTitle"/>
          </p:nvPr>
        </p:nvSpPr>
        <p:spPr>
          <a:xfrm>
            <a:off x="315912" y="466725"/>
            <a:ext cx="6781800" cy="21335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Actividad Económica</a:t>
            </a:r>
          </a:p>
        </p:txBody>
      </p:sp>
      <p:sp>
        <p:nvSpPr>
          <p:cNvPr id="208" name="Shape 208"/>
          <p:cNvSpPr txBox="1"/>
          <p:nvPr>
            <p:ph idx="1" type="subTitle"/>
          </p:nvPr>
        </p:nvSpPr>
        <p:spPr>
          <a:xfrm>
            <a:off x="849312" y="2924175"/>
            <a:ext cx="6248399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Todo esfuerzo humano destinado a modificar los medios útiles y escasos disponibles con el fin de obtener la satisfacción de las necesidades</a:t>
            </a:r>
          </a:p>
        </p:txBody>
      </p:sp>
      <p:pic>
        <p:nvPicPr>
          <p:cNvPr id="209" name="Shape 2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825" y="4895850"/>
            <a:ext cx="2000250" cy="1962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214"/>
          <p:cNvSpPr txBox="1"/>
          <p:nvPr>
            <p:ph type="ctrTitle"/>
          </p:nvPr>
        </p:nvSpPr>
        <p:spPr>
          <a:xfrm>
            <a:off x="315912" y="466725"/>
            <a:ext cx="6781800" cy="21335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Principios condicionantes</a:t>
            </a:r>
          </a:p>
        </p:txBody>
      </p:sp>
      <p:sp>
        <p:nvSpPr>
          <p:cNvPr id="215" name="Shape 215"/>
          <p:cNvSpPr txBox="1"/>
          <p:nvPr>
            <p:ph idx="1" type="subTitle"/>
          </p:nvPr>
        </p:nvSpPr>
        <p:spPr>
          <a:xfrm>
            <a:off x="849312" y="3049586"/>
            <a:ext cx="6248399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ct val="70000"/>
              <a:buFont typeface="Noto Symbo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Conveniencia</a:t>
            </a:r>
          </a:p>
          <a:p>
            <a:pPr indent="0" lvl="0" marL="0" marR="0" rtl="0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ct val="70000"/>
              <a:buFont typeface="Noto Symbo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Eficiencia</a:t>
            </a:r>
          </a:p>
          <a:p>
            <a:pPr indent="0" lvl="0" marL="0" marR="0" rtl="0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ct val="70000"/>
              <a:buFont typeface="Noto Symbo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Superiores</a:t>
            </a:r>
          </a:p>
        </p:txBody>
      </p:sp>
      <p:pic>
        <p:nvPicPr>
          <p:cNvPr id="216" name="Shape 2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386" y="188911"/>
            <a:ext cx="1968500" cy="2354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Shape 2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850" y="2852736"/>
            <a:ext cx="2232025" cy="2351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Shape 2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27311" y="4635500"/>
            <a:ext cx="1979612" cy="222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223"/>
          <p:cNvSpPr txBox="1"/>
          <p:nvPr>
            <p:ph type="ctrTitle"/>
          </p:nvPr>
        </p:nvSpPr>
        <p:spPr>
          <a:xfrm>
            <a:off x="315912" y="466725"/>
            <a:ext cx="6781800" cy="21335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Resolución del problema económico</a:t>
            </a:r>
          </a:p>
        </p:txBody>
      </p:sp>
      <p:sp>
        <p:nvSpPr>
          <p:cNvPr id="224" name="Shape 224"/>
          <p:cNvSpPr txBox="1"/>
          <p:nvPr>
            <p:ph idx="1" type="subTitle"/>
          </p:nvPr>
        </p:nvSpPr>
        <p:spPr>
          <a:xfrm>
            <a:off x="849312" y="3049586"/>
            <a:ext cx="6248399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Función consumo</a:t>
            </a:r>
          </a:p>
          <a:p>
            <a:pPr indent="0" lvl="0" marL="0" marR="0" rtl="0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Función producción</a:t>
            </a:r>
          </a:p>
        </p:txBody>
      </p:sp>
      <p:pic>
        <p:nvPicPr>
          <p:cNvPr id="225" name="Shape 2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7537" y="4152900"/>
            <a:ext cx="2857499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Shape 2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850" y="2924175"/>
            <a:ext cx="2381249" cy="1600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231"/>
          <p:cNvSpPr txBox="1"/>
          <p:nvPr>
            <p:ph type="ctrTitle"/>
          </p:nvPr>
        </p:nvSpPr>
        <p:spPr>
          <a:xfrm>
            <a:off x="315912" y="466725"/>
            <a:ext cx="6781800" cy="21335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Operación Económica</a:t>
            </a:r>
          </a:p>
        </p:txBody>
      </p:sp>
      <p:sp>
        <p:nvSpPr>
          <p:cNvPr id="232" name="Shape 232"/>
          <p:cNvSpPr txBox="1"/>
          <p:nvPr>
            <p:ph idx="1" type="subTitle"/>
          </p:nvPr>
        </p:nvSpPr>
        <p:spPr>
          <a:xfrm>
            <a:off x="849312" y="3049586"/>
            <a:ext cx="6248399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Acción voluntaria en la que se emplea cierta cantidad de bienes que un individuo deja de tener a su disposición, para obtener cierta cantidad de otros bienes que pasan a estar a su disposición</a:t>
            </a:r>
          </a:p>
        </p:txBody>
      </p:sp>
      <p:pic>
        <p:nvPicPr>
          <p:cNvPr id="233" name="Shape 2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850" y="4905375"/>
            <a:ext cx="2727325" cy="1952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 txBox="1"/>
          <p:nvPr>
            <p:ph type="ctrTitle"/>
          </p:nvPr>
        </p:nvSpPr>
        <p:spPr>
          <a:xfrm>
            <a:off x="315912" y="466725"/>
            <a:ext cx="6781800" cy="21335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Criterios condicionantes</a:t>
            </a:r>
          </a:p>
        </p:txBody>
      </p:sp>
      <p:sp>
        <p:nvSpPr>
          <p:cNvPr id="239" name="Shape 239"/>
          <p:cNvSpPr txBox="1"/>
          <p:nvPr>
            <p:ph idx="1" type="subTitle"/>
          </p:nvPr>
        </p:nvSpPr>
        <p:spPr>
          <a:xfrm>
            <a:off x="107950" y="3068636"/>
            <a:ext cx="6248399" cy="374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Técnicos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Económicos</a:t>
            </a:r>
          </a:p>
          <a:p>
            <a:pPr indent="0" lvl="0" marL="0" marR="0" rtl="0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Superiores</a:t>
            </a:r>
          </a:p>
        </p:txBody>
      </p:sp>
      <p:pic>
        <p:nvPicPr>
          <p:cNvPr id="240" name="Shape 2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4436" y="188911"/>
            <a:ext cx="1760537" cy="1760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Shape 2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51050" y="4868862"/>
            <a:ext cx="2195511" cy="1557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Shape 2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3836" y="4292600"/>
            <a:ext cx="2570162" cy="2141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Shape 2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5287" y="3644900"/>
            <a:ext cx="1508124" cy="2135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248"/>
          <p:cNvSpPr txBox="1"/>
          <p:nvPr>
            <p:ph type="ctrTitle"/>
          </p:nvPr>
        </p:nvSpPr>
        <p:spPr>
          <a:xfrm>
            <a:off x="315912" y="466725"/>
            <a:ext cx="6781800" cy="21335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Economía</a:t>
            </a:r>
          </a:p>
        </p:txBody>
      </p:sp>
      <p:sp>
        <p:nvSpPr>
          <p:cNvPr id="249" name="Shape 249"/>
          <p:cNvSpPr txBox="1"/>
          <p:nvPr>
            <p:ph idx="1" type="subTitle"/>
          </p:nvPr>
        </p:nvSpPr>
        <p:spPr>
          <a:xfrm>
            <a:off x="849312" y="3049586"/>
            <a:ext cx="6248399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Ciencia que estudia la asignación de los recursos escasos de una sociedad para la obtención de un conjunto ordenado de objetivos</a:t>
            </a:r>
          </a:p>
        </p:txBody>
      </p:sp>
      <p:sp>
        <p:nvSpPr>
          <p:cNvPr id="250" name="Shape 250"/>
          <p:cNvSpPr/>
          <p:nvPr/>
        </p:nvSpPr>
        <p:spPr>
          <a:xfrm>
            <a:off x="0" y="34290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Shape 251"/>
          <p:cNvSpPr/>
          <p:nvPr/>
        </p:nvSpPr>
        <p:spPr>
          <a:xfrm>
            <a:off x="0" y="34290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Shape 252"/>
          <p:cNvSpPr/>
          <p:nvPr/>
        </p:nvSpPr>
        <p:spPr>
          <a:xfrm>
            <a:off x="0" y="34290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Shape 253"/>
          <p:cNvSpPr/>
          <p:nvPr/>
        </p:nvSpPr>
        <p:spPr>
          <a:xfrm>
            <a:off x="0" y="34290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4" name="Shape 2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750" y="549275"/>
            <a:ext cx="2736850" cy="2087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259"/>
          <p:cNvSpPr txBox="1"/>
          <p:nvPr>
            <p:ph type="ctrTitle"/>
          </p:nvPr>
        </p:nvSpPr>
        <p:spPr>
          <a:xfrm>
            <a:off x="179386" y="0"/>
            <a:ext cx="6781800" cy="2089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Estructura Económica</a:t>
            </a:r>
            <a:br>
              <a:rPr b="1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</a:p>
        </p:txBody>
      </p:sp>
      <p:sp>
        <p:nvSpPr>
          <p:cNvPr id="260" name="Shape 260"/>
          <p:cNvSpPr txBox="1"/>
          <p:nvPr>
            <p:ph idx="1" type="subTitle"/>
          </p:nvPr>
        </p:nvSpPr>
        <p:spPr>
          <a:xfrm>
            <a:off x="252412" y="1052512"/>
            <a:ext cx="4679950" cy="54006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Teoría</a:t>
            </a:r>
          </a:p>
          <a:p>
            <a:pPr indent="0" lvl="0" marL="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una explicación del mecanismo que subyace en los fenómenos observados.	</a:t>
            </a:r>
          </a:p>
          <a:p>
            <a:pPr indent="0" lvl="0" marL="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</a:t>
            </a:r>
          </a:p>
          <a:p>
            <a:pPr indent="0" lvl="0" marL="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una simplificación y una abstracción de la realidad que a través de supuestos, argumentos y conclusiones explica una determinada proposición o un aspecto de un fenómeno  más amplio</a:t>
            </a:r>
          </a:p>
          <a:p>
            <a:pPr indent="0" lvl="0" marL="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Ley</a:t>
            </a:r>
          </a:p>
          <a:p>
            <a:pPr indent="0" lvl="0" marL="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 leyes económicas son desarrollos científicos que expresan el modo en que se producen los fenómenos de la vida económica. Como toda ley científica establece, básicamente, la relación entre dos o más conceptos, explicando de este modo la forma en que se producen los hechos. 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ct val="70000"/>
              <a:buFont typeface="Noto Symbo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1" name="Shape 2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9337" y="1052512"/>
            <a:ext cx="2436811" cy="1824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Shape 2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32586" y="2636836"/>
            <a:ext cx="2065337" cy="2465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Shape 2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16462" y="4868862"/>
            <a:ext cx="2227262" cy="166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268"/>
          <p:cNvSpPr txBox="1"/>
          <p:nvPr>
            <p:ph type="ctrTitle"/>
          </p:nvPr>
        </p:nvSpPr>
        <p:spPr>
          <a:xfrm>
            <a:off x="315912" y="466725"/>
            <a:ext cx="6781800" cy="21335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Microeconomía</a:t>
            </a:r>
            <a:br>
              <a:rPr b="1" i="0" lang="en-US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(Estudia a través de las leyes las unidades económicas aisladas o en sus recíprocas relaciones)</a:t>
            </a:r>
          </a:p>
        </p:txBody>
      </p:sp>
      <p:sp>
        <p:nvSpPr>
          <p:cNvPr id="269" name="Shape 269"/>
          <p:cNvSpPr txBox="1"/>
          <p:nvPr>
            <p:ph idx="1" type="subTitle"/>
          </p:nvPr>
        </p:nvSpPr>
        <p:spPr>
          <a:xfrm>
            <a:off x="849312" y="3049586"/>
            <a:ext cx="6248399" cy="23622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Teoría del Consumo</a:t>
            </a:r>
          </a:p>
          <a:p>
            <a:pPr indent="0" lvl="0" marL="0" marR="0" rtl="0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Teoría de la Producción</a:t>
            </a:r>
          </a:p>
          <a:p>
            <a:pPr indent="0" lvl="0" marL="0" marR="0" rtl="0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Teoría del Mercado</a:t>
            </a:r>
          </a:p>
          <a:p>
            <a:pPr indent="0" lvl="0" marL="0" marR="0" rtl="0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Teoría de la Distribución</a:t>
            </a:r>
          </a:p>
        </p:txBody>
      </p:sp>
    </p:spTree>
  </p:cSld>
  <p:clrMapOvr>
    <a:masterClrMapping/>
  </p:clrMapOvr>
  <p:transition spd="slow">
    <p:cut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Shape 274"/>
          <p:cNvSpPr txBox="1"/>
          <p:nvPr>
            <p:ph type="ctrTitle"/>
          </p:nvPr>
        </p:nvSpPr>
        <p:spPr>
          <a:xfrm>
            <a:off x="315912" y="466725"/>
            <a:ext cx="6781800" cy="21335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Macroeconomía</a:t>
            </a:r>
            <a:br>
              <a:rPr b="1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(Estudia a través de leyes al sistema económico en forma global)</a:t>
            </a:r>
          </a:p>
        </p:txBody>
      </p:sp>
      <p:sp>
        <p:nvSpPr>
          <p:cNvPr id="275" name="Shape 275"/>
          <p:cNvSpPr txBox="1"/>
          <p:nvPr>
            <p:ph idx="1" type="subTitle"/>
          </p:nvPr>
        </p:nvSpPr>
        <p:spPr>
          <a:xfrm>
            <a:off x="849312" y="3049586"/>
            <a:ext cx="6248399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Teoría del Dinero y del Crédito</a:t>
            </a:r>
          </a:p>
          <a:p>
            <a:pPr indent="0" lvl="0" marL="0" marR="0" rtl="0" algn="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Teoría del Sistema Económico Nacional</a:t>
            </a:r>
          </a:p>
          <a:p>
            <a:pPr indent="0" lvl="0" marL="0" marR="0" rtl="0" algn="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Teoría de la Economía Internacional</a:t>
            </a:r>
          </a:p>
          <a:p>
            <a:pPr indent="0" lvl="0" marL="0" marR="0" rtl="0" algn="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Teoría de las Fluctuaciones Económicas</a:t>
            </a:r>
          </a:p>
          <a:p>
            <a:pPr indent="0" lvl="0" marL="0" marR="0" rtl="0" algn="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Teoría del Crecimiento Económico</a:t>
            </a:r>
          </a:p>
        </p:txBody>
      </p:sp>
    </p:spTree>
  </p:cSld>
  <p:clrMapOvr>
    <a:masterClrMapping/>
  </p:clrMapOvr>
  <p:transition spd="slow">
    <p:cut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Shape 280"/>
          <p:cNvSpPr txBox="1"/>
          <p:nvPr>
            <p:ph type="ctrTitle"/>
          </p:nvPr>
        </p:nvSpPr>
        <p:spPr>
          <a:xfrm>
            <a:off x="315912" y="466725"/>
            <a:ext cx="6781800" cy="21335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Economía Positiva</a:t>
            </a:r>
            <a:br>
              <a:rPr b="1" i="0" lang="en-US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(lo que es o lo que podría ser)</a:t>
            </a:r>
          </a:p>
        </p:txBody>
      </p:sp>
      <p:sp>
        <p:nvSpPr>
          <p:cNvPr id="281" name="Shape 281"/>
          <p:cNvSpPr txBox="1"/>
          <p:nvPr>
            <p:ph idx="1" type="subTitle"/>
          </p:nvPr>
        </p:nvSpPr>
        <p:spPr>
          <a:xfrm>
            <a:off x="849312" y="3049586"/>
            <a:ext cx="6248399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Describe los hechos y las relaciones entre las distintas variables económicas, buscando explicaciones objetivas sobre el funcionamiento de los fenómenos económicos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ct val="70000"/>
              <a:buFont typeface="Noto Symbo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cut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Shape 286"/>
          <p:cNvSpPr txBox="1"/>
          <p:nvPr>
            <p:ph type="ctrTitle"/>
          </p:nvPr>
        </p:nvSpPr>
        <p:spPr>
          <a:xfrm>
            <a:off x="315912" y="466725"/>
            <a:ext cx="6781800" cy="21335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b="1" i="0" lang="en-US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Economía Normativa</a:t>
            </a:r>
            <a:br>
              <a:rPr b="1" i="0" lang="en-US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(lo que debería ser)</a:t>
            </a:r>
          </a:p>
        </p:txBody>
      </p:sp>
      <p:sp>
        <p:nvSpPr>
          <p:cNvPr id="287" name="Shape 287"/>
          <p:cNvSpPr txBox="1"/>
          <p:nvPr>
            <p:ph idx="1" type="subTitle"/>
          </p:nvPr>
        </p:nvSpPr>
        <p:spPr>
          <a:xfrm>
            <a:off x="849312" y="3049586"/>
            <a:ext cx="6248399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Noto Symbo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Establece juicios de valor e interpreta subjetivamente las cuestiones relacionadas con el comportamiento ético.</a:t>
            </a:r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xmlns:r="http://schemas.openxmlformats.org/officeDocument/2006/relationships" name="Red">
  <a:themeElements>
    <a:clrScheme name="Red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CC9900"/>
      </a:accent4>
      <a:accent5>
        <a:srgbClr val="CC3300"/>
      </a:accent5>
      <a:accent6>
        <a:srgbClr val="FFFFFF"/>
      </a:accent6>
      <a:hlink>
        <a:srgbClr val="808080"/>
      </a:hlink>
      <a:folHlink>
        <a:srgbClr val="CCCC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Override1.xml><?xml version="1.0" encoding="utf-8"?>
<a:themeOverride xmlns:a="http://schemas.openxmlformats.org/drawingml/2006/main" xmlns:r="http://schemas.openxmlformats.org/officeDocument/2006/relationships">
  <a:clrScheme name="default">
    <a:dk1>
      <a:srgbClr val="000000"/>
    </a:dk1>
    <a:lt1>
      <a:srgbClr val="FFFFFF"/>
    </a:lt1>
    <a:dk2>
      <a:srgbClr val="7C1302"/>
    </a:dk2>
    <a:lt2>
      <a:srgbClr val="CC9900"/>
    </a:lt2>
    <a:accent1>
      <a:srgbClr val="CC9900"/>
    </a:accent1>
    <a:accent2>
      <a:srgbClr val="CC3300"/>
    </a:accent2>
    <a:accent3>
      <a:srgbClr val="FFFFFF"/>
    </a:accent3>
    <a:accent4>
      <a:srgbClr val="CC9900"/>
    </a:accent4>
    <a:accent5>
      <a:srgbClr val="CC3300"/>
    </a:accent5>
    <a:accent6>
      <a:srgbClr val="FFFFFF"/>
    </a:accent6>
    <a:hlink>
      <a:srgbClr val="808080"/>
    </a:hlink>
    <a:folHlink>
      <a:srgbClr val="CCCC66"/>
    </a:folHlink>
  </a:clrScheme>
</a:themeOverride>
</file>