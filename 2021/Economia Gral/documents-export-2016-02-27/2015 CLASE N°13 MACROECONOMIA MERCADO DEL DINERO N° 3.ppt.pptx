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72FBA055-E1B7-4798-B34C-DF49207D1479}">
  <a:tblStyle styleId="{72FBA055-E1B7-4798-B34C-DF49207D1479}" styleName="Table_0"/>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000000"/>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9pPr>
          </a:lstStyle>
          <a:p/>
        </p:txBody>
      </p:sp>
      <p:sp>
        <p:nvSpPr>
          <p:cNvPr id="4" name="Shape 4"/>
          <p:cNvSpPr txBox="1"/>
          <p:nvPr>
            <p:ph idx="10" type="dt"/>
          </p:nvPr>
        </p:nvSpPr>
        <p:spPr>
          <a:xfrm>
            <a:off x="3884612" y="0"/>
            <a:ext cx="2971799" cy="457200"/>
          </a:xfrm>
          <a:prstGeom prst="rect">
            <a:avLst/>
          </a:prstGeom>
          <a:noFill/>
          <a:ln>
            <a:noFill/>
          </a:ln>
        </p:spPr>
        <p:txBody>
          <a:bodyPr anchorCtr="0" anchor="t" bIns="91425" lIns="91425" rIns="91425" tIns="91425"/>
          <a:lstStyle>
            <a:lvl1pPr indent="0" lvl="0" marL="0" marR="0" rtl="0" algn="r">
              <a:lnSpc>
                <a:spcPct val="100000"/>
              </a:lnSpc>
              <a:spcBef>
                <a:spcPts val="0"/>
              </a:spcBef>
              <a:spcAft>
                <a:spcPts val="0"/>
              </a:spcAft>
              <a:defRPr b="0" i="0" sz="1200" u="none" cap="none" strike="noStrike">
                <a:solidFill>
                  <a:srgbClr val="000000"/>
                </a:solidFill>
                <a:latin typeface="Calibri"/>
                <a:ea typeface="Calibri"/>
                <a:cs typeface="Calibri"/>
                <a:sym typeface="Calibri"/>
              </a:defRPr>
            </a:lvl1pPr>
            <a:lvl2pPr indent="0" lvl="1" marL="4572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9pPr>
          </a:lstStyle>
          <a:p/>
        </p:txBody>
      </p:sp>
      <p:sp>
        <p:nvSpPr>
          <p:cNvPr id="5" name="Shape 5"/>
          <p:cNvSpPr/>
          <p:nvPr>
            <p:ph idx="3"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a:headEnd len="med" w="med" type="none"/>
            <a:tailEnd len="med" w="med" type="none"/>
          </a:ln>
        </p:spPr>
      </p:sp>
      <p:sp>
        <p:nvSpPr>
          <p:cNvPr id="6" name="Shape 6"/>
          <p:cNvSpPr txBox="1"/>
          <p:nvPr>
            <p:ph idx="1" type="body"/>
          </p:nvPr>
        </p:nvSpPr>
        <p:spPr>
          <a:xfrm>
            <a:off x="685800" y="4343400"/>
            <a:ext cx="5486399" cy="4114800"/>
          </a:xfrm>
          <a:prstGeom prst="rect">
            <a:avLst/>
          </a:prstGeom>
          <a:noFill/>
          <a:ln>
            <a:noFill/>
          </a:ln>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7" name="Shape 7"/>
          <p:cNvSpPr txBox="1"/>
          <p:nvPr>
            <p:ph idx="11" type="ftr"/>
          </p:nvPr>
        </p:nvSpPr>
        <p:spPr>
          <a:xfrm>
            <a:off x="0" y="8685211"/>
            <a:ext cx="2971799" cy="4572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rgbClr val="000000"/>
                </a:solidFill>
                <a:latin typeface="Arial"/>
                <a:ea typeface="Arial"/>
                <a:cs typeface="Arial"/>
                <a:sym typeface="Arial"/>
              </a:defRPr>
            </a:lvl9pPr>
          </a:lstStyle>
          <a:p/>
        </p:txBody>
      </p:sp>
      <p:sp>
        <p:nvSpPr>
          <p:cNvPr id="8" name="Shape 8"/>
          <p:cNvSpPr txBox="1"/>
          <p:nvPr>
            <p:ph idx="12" type="sldNum"/>
          </p:nvPr>
        </p:nvSpPr>
        <p:spPr>
          <a:xfrm>
            <a:off x="3884612" y="8685211"/>
            <a:ext cx="2971799" cy="457200"/>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rgbClr val="000000"/>
              </a:buClr>
              <a:buSzPct val="250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0" name="Shape 90"/>
        <p:cNvGrpSpPr/>
        <p:nvPr/>
      </p:nvGrpSpPr>
      <p:grpSpPr>
        <a:xfrm>
          <a:off x="0" y="0"/>
          <a:ext cx="0" cy="0"/>
          <a:chOff x="0" y="0"/>
          <a:chExt cx="0" cy="0"/>
        </a:xfrm>
      </p:grpSpPr>
      <p:sp>
        <p:nvSpPr>
          <p:cNvPr id="91" name="Shape 9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92" name="Shape 9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0" name="Shape 100"/>
        <p:cNvGrpSpPr/>
        <p:nvPr/>
      </p:nvGrpSpPr>
      <p:grpSpPr>
        <a:xfrm>
          <a:off x="0" y="0"/>
          <a:ext cx="0" cy="0"/>
          <a:chOff x="0" y="0"/>
          <a:chExt cx="0" cy="0"/>
        </a:xfrm>
      </p:grpSpPr>
      <p:sp>
        <p:nvSpPr>
          <p:cNvPr id="101" name="Shape 10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02" name="Shape 10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8" name="Shape 108"/>
        <p:cNvGrpSpPr/>
        <p:nvPr/>
      </p:nvGrpSpPr>
      <p:grpSpPr>
        <a:xfrm>
          <a:off x="0" y="0"/>
          <a:ext cx="0" cy="0"/>
          <a:chOff x="0" y="0"/>
          <a:chExt cx="0" cy="0"/>
        </a:xfrm>
      </p:grpSpPr>
      <p:sp>
        <p:nvSpPr>
          <p:cNvPr id="109" name="Shape 109"/>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10" name="Shape 110"/>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6" name="Shape 116"/>
        <p:cNvGrpSpPr/>
        <p:nvPr/>
      </p:nvGrpSpPr>
      <p:grpSpPr>
        <a:xfrm>
          <a:off x="0" y="0"/>
          <a:ext cx="0" cy="0"/>
          <a:chOff x="0" y="0"/>
          <a:chExt cx="0" cy="0"/>
        </a:xfrm>
      </p:grpSpPr>
      <p:sp>
        <p:nvSpPr>
          <p:cNvPr id="117" name="Shape 117"/>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18" name="Shape 118"/>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9" name="Shape 129"/>
        <p:cNvGrpSpPr/>
        <p:nvPr/>
      </p:nvGrpSpPr>
      <p:grpSpPr>
        <a:xfrm>
          <a:off x="0" y="0"/>
          <a:ext cx="0" cy="0"/>
          <a:chOff x="0" y="0"/>
          <a:chExt cx="0" cy="0"/>
        </a:xfrm>
      </p:grpSpPr>
      <p:sp>
        <p:nvSpPr>
          <p:cNvPr id="130" name="Shape 13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31" name="Shape 13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1" name="Shape 141"/>
        <p:cNvGrpSpPr/>
        <p:nvPr/>
      </p:nvGrpSpPr>
      <p:grpSpPr>
        <a:xfrm>
          <a:off x="0" y="0"/>
          <a:ext cx="0" cy="0"/>
          <a:chOff x="0" y="0"/>
          <a:chExt cx="0" cy="0"/>
        </a:xfrm>
      </p:grpSpPr>
      <p:sp>
        <p:nvSpPr>
          <p:cNvPr id="142" name="Shape 14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43" name="Shape 14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49" name="Shape 14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3" name="Shape 153"/>
        <p:cNvGrpSpPr/>
        <p:nvPr/>
      </p:nvGrpSpPr>
      <p:grpSpPr>
        <a:xfrm>
          <a:off x="0" y="0"/>
          <a:ext cx="0" cy="0"/>
          <a:chOff x="0" y="0"/>
          <a:chExt cx="0" cy="0"/>
        </a:xfrm>
      </p:grpSpPr>
      <p:sp>
        <p:nvSpPr>
          <p:cNvPr id="154" name="Shape 15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55" name="Shape 15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4" name="Shape 164"/>
        <p:cNvGrpSpPr/>
        <p:nvPr/>
      </p:nvGrpSpPr>
      <p:grpSpPr>
        <a:xfrm>
          <a:off x="0" y="0"/>
          <a:ext cx="0" cy="0"/>
          <a:chOff x="0" y="0"/>
          <a:chExt cx="0" cy="0"/>
        </a:xfrm>
      </p:grpSpPr>
      <p:sp>
        <p:nvSpPr>
          <p:cNvPr id="165" name="Shape 16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66" name="Shape 16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7" name="Shape 187"/>
        <p:cNvGrpSpPr/>
        <p:nvPr/>
      </p:nvGrpSpPr>
      <p:grpSpPr>
        <a:xfrm>
          <a:off x="0" y="0"/>
          <a:ext cx="0" cy="0"/>
          <a:chOff x="0" y="0"/>
          <a:chExt cx="0" cy="0"/>
        </a:xfrm>
      </p:grpSpPr>
      <p:sp>
        <p:nvSpPr>
          <p:cNvPr id="188" name="Shape 18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189" name="Shape 18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3" name="Shape 203"/>
        <p:cNvGrpSpPr/>
        <p:nvPr/>
      </p:nvGrpSpPr>
      <p:grpSpPr>
        <a:xfrm>
          <a:off x="0" y="0"/>
          <a:ext cx="0" cy="0"/>
          <a:chOff x="0" y="0"/>
          <a:chExt cx="0" cy="0"/>
        </a:xfrm>
      </p:grpSpPr>
      <p:sp>
        <p:nvSpPr>
          <p:cNvPr id="204" name="Shape 20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05" name="Shape 20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3" name="Shape 213"/>
        <p:cNvGrpSpPr/>
        <p:nvPr/>
      </p:nvGrpSpPr>
      <p:grpSpPr>
        <a:xfrm>
          <a:off x="0" y="0"/>
          <a:ext cx="0" cy="0"/>
          <a:chOff x="0" y="0"/>
          <a:chExt cx="0" cy="0"/>
        </a:xfrm>
      </p:grpSpPr>
      <p:sp>
        <p:nvSpPr>
          <p:cNvPr id="214" name="Shape 21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215" name="Shape 21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0" name="Shape 300"/>
        <p:cNvGrpSpPr/>
        <p:nvPr/>
      </p:nvGrpSpPr>
      <p:grpSpPr>
        <a:xfrm>
          <a:off x="0" y="0"/>
          <a:ext cx="0" cy="0"/>
          <a:chOff x="0" y="0"/>
          <a:chExt cx="0" cy="0"/>
        </a:xfrm>
      </p:grpSpPr>
      <p:sp>
        <p:nvSpPr>
          <p:cNvPr id="301" name="Shape 301"/>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02" name="Shape 302"/>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2" name="Shape 312"/>
        <p:cNvGrpSpPr/>
        <p:nvPr/>
      </p:nvGrpSpPr>
      <p:grpSpPr>
        <a:xfrm>
          <a:off x="0" y="0"/>
          <a:ext cx="0" cy="0"/>
          <a:chOff x="0" y="0"/>
          <a:chExt cx="0" cy="0"/>
        </a:xfrm>
      </p:grpSpPr>
      <p:sp>
        <p:nvSpPr>
          <p:cNvPr id="313" name="Shape 31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14" name="Shape 31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1" name="Shape 321"/>
        <p:cNvGrpSpPr/>
        <p:nvPr/>
      </p:nvGrpSpPr>
      <p:grpSpPr>
        <a:xfrm>
          <a:off x="0" y="0"/>
          <a:ext cx="0" cy="0"/>
          <a:chOff x="0" y="0"/>
          <a:chExt cx="0" cy="0"/>
        </a:xfrm>
      </p:grpSpPr>
      <p:sp>
        <p:nvSpPr>
          <p:cNvPr id="322" name="Shape 32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23" name="Shape 32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9" name="Shape 329"/>
        <p:cNvGrpSpPr/>
        <p:nvPr/>
      </p:nvGrpSpPr>
      <p:grpSpPr>
        <a:xfrm>
          <a:off x="0" y="0"/>
          <a:ext cx="0" cy="0"/>
          <a:chOff x="0" y="0"/>
          <a:chExt cx="0" cy="0"/>
        </a:xfrm>
      </p:grpSpPr>
      <p:sp>
        <p:nvSpPr>
          <p:cNvPr id="330" name="Shape 330"/>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31" name="Shape 331"/>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7" name="Shape 337"/>
        <p:cNvGrpSpPr/>
        <p:nvPr/>
      </p:nvGrpSpPr>
      <p:grpSpPr>
        <a:xfrm>
          <a:off x="0" y="0"/>
          <a:ext cx="0" cy="0"/>
          <a:chOff x="0" y="0"/>
          <a:chExt cx="0" cy="0"/>
        </a:xfrm>
      </p:grpSpPr>
      <p:sp>
        <p:nvSpPr>
          <p:cNvPr id="338" name="Shape 338"/>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39" name="Shape 339"/>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5" name="Shape 345"/>
        <p:cNvGrpSpPr/>
        <p:nvPr/>
      </p:nvGrpSpPr>
      <p:grpSpPr>
        <a:xfrm>
          <a:off x="0" y="0"/>
          <a:ext cx="0" cy="0"/>
          <a:chOff x="0" y="0"/>
          <a:chExt cx="0" cy="0"/>
        </a:xfrm>
      </p:grpSpPr>
      <p:sp>
        <p:nvSpPr>
          <p:cNvPr id="346" name="Shape 346"/>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47" name="Shape 347"/>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3" name="Shape 353"/>
        <p:cNvGrpSpPr/>
        <p:nvPr/>
      </p:nvGrpSpPr>
      <p:grpSpPr>
        <a:xfrm>
          <a:off x="0" y="0"/>
          <a:ext cx="0" cy="0"/>
          <a:chOff x="0" y="0"/>
          <a:chExt cx="0" cy="0"/>
        </a:xfrm>
      </p:grpSpPr>
      <p:sp>
        <p:nvSpPr>
          <p:cNvPr id="354" name="Shape 35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55" name="Shape 35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2" name="Shape 372"/>
        <p:cNvGrpSpPr/>
        <p:nvPr/>
      </p:nvGrpSpPr>
      <p:grpSpPr>
        <a:xfrm>
          <a:off x="0" y="0"/>
          <a:ext cx="0" cy="0"/>
          <a:chOff x="0" y="0"/>
          <a:chExt cx="0" cy="0"/>
        </a:xfrm>
      </p:grpSpPr>
      <p:sp>
        <p:nvSpPr>
          <p:cNvPr id="373" name="Shape 37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74" name="Shape 37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2" name="Shape 382"/>
        <p:cNvGrpSpPr/>
        <p:nvPr/>
      </p:nvGrpSpPr>
      <p:grpSpPr>
        <a:xfrm>
          <a:off x="0" y="0"/>
          <a:ext cx="0" cy="0"/>
          <a:chOff x="0" y="0"/>
          <a:chExt cx="0" cy="0"/>
        </a:xfrm>
      </p:grpSpPr>
      <p:sp>
        <p:nvSpPr>
          <p:cNvPr id="383" name="Shape 383"/>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84" name="Shape 384"/>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1" name="Shape 391"/>
        <p:cNvGrpSpPr/>
        <p:nvPr/>
      </p:nvGrpSpPr>
      <p:grpSpPr>
        <a:xfrm>
          <a:off x="0" y="0"/>
          <a:ext cx="0" cy="0"/>
          <a:chOff x="0" y="0"/>
          <a:chExt cx="0" cy="0"/>
        </a:xfrm>
      </p:grpSpPr>
      <p:sp>
        <p:nvSpPr>
          <p:cNvPr id="392" name="Shape 392"/>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393" name="Shape 393"/>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3" name="Shape 403"/>
        <p:cNvGrpSpPr/>
        <p:nvPr/>
      </p:nvGrpSpPr>
      <p:grpSpPr>
        <a:xfrm>
          <a:off x="0" y="0"/>
          <a:ext cx="0" cy="0"/>
          <a:chOff x="0" y="0"/>
          <a:chExt cx="0" cy="0"/>
        </a:xfrm>
      </p:grpSpPr>
      <p:sp>
        <p:nvSpPr>
          <p:cNvPr id="404" name="Shape 404"/>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05" name="Shape 405"/>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4" name="Shape 414"/>
        <p:cNvGrpSpPr/>
        <p:nvPr/>
      </p:nvGrpSpPr>
      <p:grpSpPr>
        <a:xfrm>
          <a:off x="0" y="0"/>
          <a:ext cx="0" cy="0"/>
          <a:chOff x="0" y="0"/>
          <a:chExt cx="0" cy="0"/>
        </a:xfrm>
      </p:grpSpPr>
      <p:sp>
        <p:nvSpPr>
          <p:cNvPr id="415" name="Shape 415"/>
          <p:cNvSpPr txBox="1"/>
          <p:nvPr>
            <p:ph idx="1" type="body"/>
          </p:nvPr>
        </p:nvSpPr>
        <p:spPr>
          <a:xfrm>
            <a:off x="685800" y="4343400"/>
            <a:ext cx="5486399" cy="4114800"/>
          </a:xfrm>
          <a:prstGeom prst="rect">
            <a:avLst/>
          </a:prstGeom>
        </p:spPr>
        <p:txBody>
          <a:bodyPr anchorCtr="0" anchor="ctr" bIns="91425" lIns="91425" rIns="91425" tIns="91425">
            <a:noAutofit/>
          </a:bodyPr>
          <a:lstStyle/>
          <a:p>
            <a:pPr lvl="0">
              <a:spcBef>
                <a:spcPts val="0"/>
              </a:spcBef>
              <a:buNone/>
            </a:pPr>
            <a:r>
              <a:t/>
            </a:r>
            <a:endParaRPr/>
          </a:p>
        </p:txBody>
      </p:sp>
      <p:sp>
        <p:nvSpPr>
          <p:cNvPr id="416" name="Shape 416"/>
          <p:cNvSpPr/>
          <p:nvPr>
            <p:ph idx="2" type="sldImg"/>
          </p:nvPr>
        </p:nvSpPr>
        <p:spPr>
          <a:xfrm>
            <a:off x="1143000" y="685800"/>
            <a:ext cx="4572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15" name="Shape 15"/>
        <p:cNvGrpSpPr/>
        <p:nvPr/>
      </p:nvGrpSpPr>
      <p:grpSpPr>
        <a:xfrm>
          <a:off x="0" y="0"/>
          <a:ext cx="0" cy="0"/>
          <a:chOff x="0" y="0"/>
          <a:chExt cx="0" cy="0"/>
        </a:xfrm>
      </p:grpSpPr>
      <p:sp>
        <p:nvSpPr>
          <p:cNvPr id="16" name="Shape 16"/>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17" name="Shape 17"/>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8" name="Shape 18"/>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text">
    <p:spTree>
      <p:nvGrpSpPr>
        <p:cNvPr id="19" name="Shape 19"/>
        <p:cNvGrpSpPr/>
        <p:nvPr/>
      </p:nvGrpSpPr>
      <p:grpSpPr>
        <a:xfrm>
          <a:off x="0" y="0"/>
          <a:ext cx="0" cy="0"/>
          <a:chOff x="0" y="0"/>
          <a:chExt cx="0" cy="0"/>
        </a:xfrm>
      </p:grpSpPr>
      <p:sp>
        <p:nvSpPr>
          <p:cNvPr id="20" name="Shape 20"/>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21" name="Shape 21"/>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rtl="0" algn="l">
              <a:spcBef>
                <a:spcPts val="640"/>
              </a:spcBef>
              <a:spcAft>
                <a:spcPts val="0"/>
              </a:spcAft>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spcAft>
                <a:spcPts val="0"/>
              </a:spcAft>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spcAft>
                <a:spcPts val="0"/>
              </a:spcAft>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22" name="Shape 2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23" name="Shape 2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24" name="Shape 2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Vertical Title and Text">
    <p:spTree>
      <p:nvGrpSpPr>
        <p:cNvPr id="25" name="Shape 25"/>
        <p:cNvGrpSpPr/>
        <p:nvPr/>
      </p:nvGrpSpPr>
      <p:grpSpPr>
        <a:xfrm>
          <a:off x="0" y="0"/>
          <a:ext cx="0" cy="0"/>
          <a:chOff x="0" y="0"/>
          <a:chExt cx="0" cy="0"/>
        </a:xfrm>
      </p:grpSpPr>
      <p:sp>
        <p:nvSpPr>
          <p:cNvPr id="26" name="Shape 26"/>
          <p:cNvSpPr txBox="1"/>
          <p:nvPr>
            <p:ph type="title"/>
          </p:nvPr>
        </p:nvSpPr>
        <p:spPr>
          <a:xfrm rot="5400000">
            <a:off x="4732337" y="2171700"/>
            <a:ext cx="5851525" cy="20574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27" name="Shape 27"/>
          <p:cNvSpPr txBox="1"/>
          <p:nvPr>
            <p:ph idx="1" type="body"/>
          </p:nvPr>
        </p:nvSpPr>
        <p:spPr>
          <a:xfrm rot="5400000">
            <a:off x="541337" y="190500"/>
            <a:ext cx="5851525" cy="6019799"/>
          </a:xfrm>
          <a:prstGeom prst="rect">
            <a:avLst/>
          </a:prstGeom>
          <a:noFill/>
          <a:ln>
            <a:noFill/>
          </a:ln>
        </p:spPr>
        <p:txBody>
          <a:bodyPr anchorCtr="0" anchor="t" bIns="91425" lIns="91425" rIns="91425" tIns="91425"/>
          <a:lstStyle>
            <a:lvl1pPr indent="-139700" lvl="0" marL="342900" rtl="0" algn="l">
              <a:spcBef>
                <a:spcPts val="640"/>
              </a:spcBef>
              <a:spcAft>
                <a:spcPts val="0"/>
              </a:spcAft>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spcAft>
                <a:spcPts val="0"/>
              </a:spcAft>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spcAft>
                <a:spcPts val="0"/>
              </a:spcAft>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28" name="Shape 2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29" name="Shape 2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30" name="Shape 3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Title and Vertical Text">
    <p:spTree>
      <p:nvGrpSpPr>
        <p:cNvPr id="31" name="Shape 31"/>
        <p:cNvGrpSpPr/>
        <p:nvPr/>
      </p:nvGrpSpPr>
      <p:grpSpPr>
        <a:xfrm>
          <a:off x="0" y="0"/>
          <a:ext cx="0" cy="0"/>
          <a:chOff x="0" y="0"/>
          <a:chExt cx="0" cy="0"/>
        </a:xfrm>
      </p:grpSpPr>
      <p:sp>
        <p:nvSpPr>
          <p:cNvPr id="32" name="Shape 32"/>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33" name="Shape 33"/>
          <p:cNvSpPr txBox="1"/>
          <p:nvPr>
            <p:ph idx="1" type="body"/>
          </p:nvPr>
        </p:nvSpPr>
        <p:spPr>
          <a:xfrm rot="5400000">
            <a:off x="2309018" y="-251619"/>
            <a:ext cx="4525961" cy="8229600"/>
          </a:xfrm>
          <a:prstGeom prst="rect">
            <a:avLst/>
          </a:prstGeom>
          <a:noFill/>
          <a:ln>
            <a:noFill/>
          </a:ln>
        </p:spPr>
        <p:txBody>
          <a:bodyPr anchorCtr="0" anchor="t" bIns="91425" lIns="91425" rIns="91425" tIns="91425"/>
          <a:lstStyle>
            <a:lvl1pPr indent="-139700" lvl="0" marL="342900" rtl="0" algn="l">
              <a:spcBef>
                <a:spcPts val="640"/>
              </a:spcBef>
              <a:spcAft>
                <a:spcPts val="0"/>
              </a:spcAft>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spcAft>
                <a:spcPts val="0"/>
              </a:spcAft>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spcAft>
                <a:spcPts val="0"/>
              </a:spcAft>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34" name="Shape 34"/>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35" name="Shape 35"/>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36" name="Shape 36"/>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Picture with Caption">
    <p:spTree>
      <p:nvGrpSpPr>
        <p:cNvPr id="37" name="Shape 37"/>
        <p:cNvGrpSpPr/>
        <p:nvPr/>
      </p:nvGrpSpPr>
      <p:grpSpPr>
        <a:xfrm>
          <a:off x="0" y="0"/>
          <a:ext cx="0" cy="0"/>
          <a:chOff x="0" y="0"/>
          <a:chExt cx="0" cy="0"/>
        </a:xfrm>
      </p:grpSpPr>
      <p:sp>
        <p:nvSpPr>
          <p:cNvPr id="38" name="Shape 38"/>
          <p:cNvSpPr txBox="1"/>
          <p:nvPr>
            <p:ph type="title"/>
          </p:nvPr>
        </p:nvSpPr>
        <p:spPr>
          <a:xfrm>
            <a:off x="1792288" y="4800600"/>
            <a:ext cx="5486399" cy="566737"/>
          </a:xfrm>
          <a:prstGeom prst="rect">
            <a:avLst/>
          </a:prstGeom>
          <a:noFill/>
          <a:ln>
            <a:noFill/>
          </a:ln>
        </p:spPr>
        <p:txBody>
          <a:bodyPr anchorCtr="0" anchor="b" bIns="91425" lIns="91425" rIns="91425" tIns="91425"/>
          <a:lstStyle>
            <a:lvl1pPr lvl="0" rtl="0" algn="l">
              <a:spcBef>
                <a:spcPts val="0"/>
              </a:spcBef>
              <a:defRPr b="1" sz="2000"/>
            </a:lvl1pPr>
            <a:lvl2pPr lvl="1" rtl="0">
              <a:spcBef>
                <a:spcPts val="0"/>
              </a:spcBef>
              <a:defRPr sz="4400">
                <a:solidFill>
                  <a:schemeClr val="dk1"/>
                </a:solidFill>
                <a:latin typeface="Calibri"/>
                <a:ea typeface="Calibri"/>
                <a:cs typeface="Calibri"/>
                <a:sym typeface="Calibri"/>
              </a:defRPr>
            </a:lvl2pPr>
            <a:lvl3pPr lvl="2" rtl="0">
              <a:spcBef>
                <a:spcPts val="0"/>
              </a:spcBef>
              <a:defRPr sz="4400">
                <a:solidFill>
                  <a:schemeClr val="dk1"/>
                </a:solidFill>
                <a:latin typeface="Calibri"/>
                <a:ea typeface="Calibri"/>
                <a:cs typeface="Calibri"/>
                <a:sym typeface="Calibri"/>
              </a:defRPr>
            </a:lvl3pPr>
            <a:lvl4pPr lvl="3" rtl="0">
              <a:spcBef>
                <a:spcPts val="0"/>
              </a:spcBef>
              <a:defRPr sz="4400">
                <a:solidFill>
                  <a:schemeClr val="dk1"/>
                </a:solidFill>
                <a:latin typeface="Calibri"/>
                <a:ea typeface="Calibri"/>
                <a:cs typeface="Calibri"/>
                <a:sym typeface="Calibri"/>
              </a:defRPr>
            </a:lvl4pPr>
            <a:lvl5pPr lvl="4" rtl="0">
              <a:spcBef>
                <a:spcPts val="0"/>
              </a:spcBef>
              <a:defRPr sz="4400">
                <a:solidFill>
                  <a:schemeClr val="dk1"/>
                </a:solidFill>
                <a:latin typeface="Calibri"/>
                <a:ea typeface="Calibri"/>
                <a:cs typeface="Calibri"/>
                <a:sym typeface="Calibri"/>
              </a:defRPr>
            </a:lvl5pPr>
            <a:lvl6pPr lvl="5" rtl="0">
              <a:spcBef>
                <a:spcPts val="0"/>
              </a:spcBef>
              <a:defRPr sz="4400">
                <a:solidFill>
                  <a:schemeClr val="dk1"/>
                </a:solidFill>
                <a:latin typeface="Calibri"/>
                <a:ea typeface="Calibri"/>
                <a:cs typeface="Calibri"/>
                <a:sym typeface="Calibri"/>
              </a:defRPr>
            </a:lvl6pPr>
            <a:lvl7pPr lvl="6" rtl="0">
              <a:spcBef>
                <a:spcPts val="0"/>
              </a:spcBef>
              <a:defRPr sz="4400">
                <a:solidFill>
                  <a:schemeClr val="dk1"/>
                </a:solidFill>
                <a:latin typeface="Calibri"/>
                <a:ea typeface="Calibri"/>
                <a:cs typeface="Calibri"/>
                <a:sym typeface="Calibri"/>
              </a:defRPr>
            </a:lvl7pPr>
            <a:lvl8pPr lvl="7" rtl="0">
              <a:spcBef>
                <a:spcPts val="0"/>
              </a:spcBef>
              <a:defRPr sz="4400">
                <a:solidFill>
                  <a:schemeClr val="dk1"/>
                </a:solidFill>
                <a:latin typeface="Calibri"/>
                <a:ea typeface="Calibri"/>
                <a:cs typeface="Calibri"/>
                <a:sym typeface="Calibri"/>
              </a:defRPr>
            </a:lvl8pPr>
            <a:lvl9pPr lvl="8" rtl="0">
              <a:spcBef>
                <a:spcPts val="0"/>
              </a:spcBef>
              <a:defRPr sz="4400">
                <a:solidFill>
                  <a:schemeClr val="dk1"/>
                </a:solidFill>
                <a:latin typeface="Calibri"/>
                <a:ea typeface="Calibri"/>
                <a:cs typeface="Calibri"/>
                <a:sym typeface="Calibri"/>
              </a:defRPr>
            </a:lvl9pPr>
          </a:lstStyle>
          <a:p/>
        </p:txBody>
      </p:sp>
      <p:sp>
        <p:nvSpPr>
          <p:cNvPr id="39" name="Shape 39"/>
          <p:cNvSpPr/>
          <p:nvPr>
            <p:ph idx="2" type="pic"/>
          </p:nvPr>
        </p:nvSpPr>
        <p:spPr>
          <a:xfrm>
            <a:off x="1792288" y="612775"/>
            <a:ext cx="5486399" cy="4114800"/>
          </a:xfrm>
          <a:prstGeom prst="rect">
            <a:avLst/>
          </a:prstGeom>
          <a:noFill/>
          <a:ln>
            <a:noFill/>
          </a:ln>
        </p:spPr>
        <p:txBody>
          <a:bodyPr anchorCtr="0" anchor="t" bIns="91425" lIns="91425" rIns="91425" tIns="91425"/>
          <a:lstStyle>
            <a:lvl1pPr indent="0" lvl="0" marL="0" marR="0" rtl="0" algn="l">
              <a:spcBef>
                <a:spcPts val="0"/>
              </a:spcBef>
              <a:buClr>
                <a:srgbClr val="898989"/>
              </a:buClr>
              <a:buFont typeface="Calibri"/>
              <a:buNone/>
              <a:defRPr b="0" i="0" sz="3200" u="none" cap="none" strike="noStrike">
                <a:solidFill>
                  <a:srgbClr val="898989"/>
                </a:solidFill>
                <a:latin typeface="Calibri"/>
                <a:ea typeface="Calibri"/>
                <a:cs typeface="Calibri"/>
                <a:sym typeface="Calibri"/>
              </a:defRPr>
            </a:lvl1pPr>
            <a:lvl2pPr indent="0" lvl="1" marL="457200" marR="0" rtl="0" algn="l">
              <a:spcBef>
                <a:spcPts val="0"/>
              </a:spcBef>
              <a:buFont typeface="Arial"/>
              <a:buNone/>
              <a:defRPr b="0" i="0" sz="2800" u="none" cap="none" strike="noStrike"/>
            </a:lvl2pPr>
            <a:lvl3pPr indent="0" lvl="2" marL="914400" marR="0" rtl="0" algn="l">
              <a:spcBef>
                <a:spcPts val="0"/>
              </a:spcBef>
              <a:buFont typeface="Arial"/>
              <a:buNone/>
              <a:defRPr b="0" i="0" sz="2400" u="none" cap="none" strike="noStrike"/>
            </a:lvl3pPr>
            <a:lvl4pPr indent="0" lvl="3" marL="1371600" marR="0" rtl="0" algn="l">
              <a:spcBef>
                <a:spcPts val="0"/>
              </a:spcBef>
              <a:buFont typeface="Arial"/>
              <a:buNone/>
              <a:defRPr b="0" i="0" sz="2000" u="none" cap="none" strike="noStrike"/>
            </a:lvl4pPr>
            <a:lvl5pPr indent="0" lvl="4" marL="1828800" marR="0" rtl="0" algn="l">
              <a:spcBef>
                <a:spcPts val="0"/>
              </a:spcBef>
              <a:buFont typeface="Arial"/>
              <a:buNone/>
              <a:defRPr b="0" i="0" sz="2000" u="none" cap="none" strike="noStrike"/>
            </a:lvl5pPr>
            <a:lvl6pPr indent="0" lvl="5" marL="2286000" marR="0" rtl="0" algn="l">
              <a:spcBef>
                <a:spcPts val="0"/>
              </a:spcBef>
              <a:buFont typeface="Arial"/>
              <a:buNone/>
              <a:defRPr b="0" i="0" sz="2000" u="none" cap="none" strike="noStrike"/>
            </a:lvl6pPr>
            <a:lvl7pPr indent="0" lvl="6" marL="2743200" marR="0" rtl="0" algn="l">
              <a:spcBef>
                <a:spcPts val="0"/>
              </a:spcBef>
              <a:buFont typeface="Arial"/>
              <a:buNone/>
              <a:defRPr b="0" i="0" sz="2000" u="none" cap="none" strike="noStrike"/>
            </a:lvl7pPr>
            <a:lvl8pPr indent="0" lvl="7" marL="3200400" marR="0" rtl="0" algn="l">
              <a:spcBef>
                <a:spcPts val="0"/>
              </a:spcBef>
              <a:buFont typeface="Arial"/>
              <a:buNone/>
              <a:defRPr b="0" i="0" sz="2000" u="none" cap="none" strike="noStrike"/>
            </a:lvl8pPr>
            <a:lvl9pPr indent="0" lvl="8" marL="3657600" marR="0" rtl="0" algn="l">
              <a:spcBef>
                <a:spcPts val="0"/>
              </a:spcBef>
              <a:buFont typeface="Arial"/>
              <a:buNone/>
              <a:defRPr b="0" i="0" sz="2000" u="none" cap="none" strike="noStrike"/>
            </a:lvl9pPr>
          </a:lstStyle>
          <a:p/>
        </p:txBody>
      </p:sp>
      <p:sp>
        <p:nvSpPr>
          <p:cNvPr id="40" name="Shape 40"/>
          <p:cNvSpPr txBox="1"/>
          <p:nvPr>
            <p:ph idx="1" type="body"/>
          </p:nvPr>
        </p:nvSpPr>
        <p:spPr>
          <a:xfrm>
            <a:off x="1792288" y="5367337"/>
            <a:ext cx="5486399" cy="804861"/>
          </a:xfrm>
          <a:prstGeom prst="rect">
            <a:avLst/>
          </a:prstGeom>
          <a:noFill/>
          <a:ln>
            <a:noFill/>
          </a:ln>
        </p:spPr>
        <p:txBody>
          <a:bodyPr anchorCtr="0" anchor="t" bIns="91425" lIns="91425" rIns="91425" tIns="91425"/>
          <a:lstStyle>
            <a:lvl1pPr indent="0" lvl="0" marL="0" rtl="0">
              <a:spcBef>
                <a:spcPts val="0"/>
              </a:spcBef>
              <a:buFont typeface="Calibri"/>
              <a:buNone/>
              <a:defRPr sz="1400"/>
            </a:lvl1pPr>
            <a:lvl2pPr indent="0" lvl="1" marL="457200" rtl="0">
              <a:spcBef>
                <a:spcPts val="0"/>
              </a:spcBef>
              <a:buFont typeface="Calibri"/>
              <a:buNone/>
              <a:defRPr sz="1200"/>
            </a:lvl2pPr>
            <a:lvl3pPr indent="0" lvl="2" marL="914400" rtl="0">
              <a:spcBef>
                <a:spcPts val="0"/>
              </a:spcBef>
              <a:buFont typeface="Calibri"/>
              <a:buNone/>
              <a:defRPr sz="1000"/>
            </a:lvl3pPr>
            <a:lvl4pPr indent="0" lvl="3" marL="1371600" rtl="0">
              <a:spcBef>
                <a:spcPts val="0"/>
              </a:spcBef>
              <a:buFont typeface="Calibri"/>
              <a:buNone/>
              <a:defRPr sz="900"/>
            </a:lvl4pPr>
            <a:lvl5pPr indent="0" lvl="4" marL="1828800" rtl="0">
              <a:spcBef>
                <a:spcPts val="0"/>
              </a:spcBef>
              <a:buFont typeface="Calibri"/>
              <a:buNone/>
              <a:defRPr sz="900"/>
            </a:lvl5pPr>
            <a:lvl6pPr indent="0" lvl="5" marL="2286000" rtl="0">
              <a:spcBef>
                <a:spcPts val="0"/>
              </a:spcBef>
              <a:buFont typeface="Calibri"/>
              <a:buNone/>
              <a:defRPr sz="900"/>
            </a:lvl6pPr>
            <a:lvl7pPr indent="0" lvl="6" marL="2743200" rtl="0">
              <a:spcBef>
                <a:spcPts val="0"/>
              </a:spcBef>
              <a:buFont typeface="Calibri"/>
              <a:buNone/>
              <a:defRPr sz="900"/>
            </a:lvl7pPr>
            <a:lvl8pPr indent="0" lvl="7" marL="3200400" rtl="0">
              <a:spcBef>
                <a:spcPts val="0"/>
              </a:spcBef>
              <a:buFont typeface="Calibri"/>
              <a:buNone/>
              <a:defRPr sz="900"/>
            </a:lvl8pPr>
            <a:lvl9pPr indent="0" lvl="8" marL="3657600" rtl="0">
              <a:spcBef>
                <a:spcPts val="0"/>
              </a:spcBef>
              <a:buFont typeface="Calibri"/>
              <a:buNone/>
              <a:defRPr sz="900"/>
            </a:lvl9pPr>
          </a:lstStyle>
          <a:p/>
        </p:txBody>
      </p:sp>
      <p:sp>
        <p:nvSpPr>
          <p:cNvPr id="41" name="Shape 4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42" name="Shape 4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43" name="Shape 4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Content with Caption">
    <p:spTree>
      <p:nvGrpSpPr>
        <p:cNvPr id="44" name="Shape 44"/>
        <p:cNvGrpSpPr/>
        <p:nvPr/>
      </p:nvGrpSpPr>
      <p:grpSpPr>
        <a:xfrm>
          <a:off x="0" y="0"/>
          <a:ext cx="0" cy="0"/>
          <a:chOff x="0" y="0"/>
          <a:chExt cx="0" cy="0"/>
        </a:xfrm>
      </p:grpSpPr>
      <p:sp>
        <p:nvSpPr>
          <p:cNvPr id="45" name="Shape 45"/>
          <p:cNvSpPr txBox="1"/>
          <p:nvPr>
            <p:ph type="title"/>
          </p:nvPr>
        </p:nvSpPr>
        <p:spPr>
          <a:xfrm>
            <a:off x="457200" y="273050"/>
            <a:ext cx="3008313" cy="1162049"/>
          </a:xfrm>
          <a:prstGeom prst="rect">
            <a:avLst/>
          </a:prstGeom>
          <a:noFill/>
          <a:ln>
            <a:noFill/>
          </a:ln>
        </p:spPr>
        <p:txBody>
          <a:bodyPr anchorCtr="0" anchor="b" bIns="91425" lIns="91425" rIns="91425" tIns="91425"/>
          <a:lstStyle>
            <a:lvl1pPr lvl="0" rtl="0" algn="l">
              <a:spcBef>
                <a:spcPts val="0"/>
              </a:spcBef>
              <a:defRPr b="1" sz="2000"/>
            </a:lvl1pPr>
            <a:lvl2pPr lvl="1" rtl="0">
              <a:spcBef>
                <a:spcPts val="0"/>
              </a:spcBef>
              <a:defRPr sz="4400">
                <a:solidFill>
                  <a:schemeClr val="dk1"/>
                </a:solidFill>
                <a:latin typeface="Calibri"/>
                <a:ea typeface="Calibri"/>
                <a:cs typeface="Calibri"/>
                <a:sym typeface="Calibri"/>
              </a:defRPr>
            </a:lvl2pPr>
            <a:lvl3pPr lvl="2" rtl="0">
              <a:spcBef>
                <a:spcPts val="0"/>
              </a:spcBef>
              <a:defRPr sz="4400">
                <a:solidFill>
                  <a:schemeClr val="dk1"/>
                </a:solidFill>
                <a:latin typeface="Calibri"/>
                <a:ea typeface="Calibri"/>
                <a:cs typeface="Calibri"/>
                <a:sym typeface="Calibri"/>
              </a:defRPr>
            </a:lvl3pPr>
            <a:lvl4pPr lvl="3" rtl="0">
              <a:spcBef>
                <a:spcPts val="0"/>
              </a:spcBef>
              <a:defRPr sz="4400">
                <a:solidFill>
                  <a:schemeClr val="dk1"/>
                </a:solidFill>
                <a:latin typeface="Calibri"/>
                <a:ea typeface="Calibri"/>
                <a:cs typeface="Calibri"/>
                <a:sym typeface="Calibri"/>
              </a:defRPr>
            </a:lvl4pPr>
            <a:lvl5pPr lvl="4" rtl="0">
              <a:spcBef>
                <a:spcPts val="0"/>
              </a:spcBef>
              <a:defRPr sz="4400">
                <a:solidFill>
                  <a:schemeClr val="dk1"/>
                </a:solidFill>
                <a:latin typeface="Calibri"/>
                <a:ea typeface="Calibri"/>
                <a:cs typeface="Calibri"/>
                <a:sym typeface="Calibri"/>
              </a:defRPr>
            </a:lvl5pPr>
            <a:lvl6pPr lvl="5" rtl="0">
              <a:spcBef>
                <a:spcPts val="0"/>
              </a:spcBef>
              <a:defRPr sz="4400">
                <a:solidFill>
                  <a:schemeClr val="dk1"/>
                </a:solidFill>
                <a:latin typeface="Calibri"/>
                <a:ea typeface="Calibri"/>
                <a:cs typeface="Calibri"/>
                <a:sym typeface="Calibri"/>
              </a:defRPr>
            </a:lvl6pPr>
            <a:lvl7pPr lvl="6" rtl="0">
              <a:spcBef>
                <a:spcPts val="0"/>
              </a:spcBef>
              <a:defRPr sz="4400">
                <a:solidFill>
                  <a:schemeClr val="dk1"/>
                </a:solidFill>
                <a:latin typeface="Calibri"/>
                <a:ea typeface="Calibri"/>
                <a:cs typeface="Calibri"/>
                <a:sym typeface="Calibri"/>
              </a:defRPr>
            </a:lvl7pPr>
            <a:lvl8pPr lvl="7" rtl="0">
              <a:spcBef>
                <a:spcPts val="0"/>
              </a:spcBef>
              <a:defRPr sz="4400">
                <a:solidFill>
                  <a:schemeClr val="dk1"/>
                </a:solidFill>
                <a:latin typeface="Calibri"/>
                <a:ea typeface="Calibri"/>
                <a:cs typeface="Calibri"/>
                <a:sym typeface="Calibri"/>
              </a:defRPr>
            </a:lvl8pPr>
            <a:lvl9pPr lvl="8" rtl="0">
              <a:spcBef>
                <a:spcPts val="0"/>
              </a:spcBef>
              <a:defRPr sz="4400">
                <a:solidFill>
                  <a:schemeClr val="dk1"/>
                </a:solidFill>
                <a:latin typeface="Calibri"/>
                <a:ea typeface="Calibri"/>
                <a:cs typeface="Calibri"/>
                <a:sym typeface="Calibri"/>
              </a:defRPr>
            </a:lvl9pPr>
          </a:lstStyle>
          <a:p/>
        </p:txBody>
      </p:sp>
      <p:sp>
        <p:nvSpPr>
          <p:cNvPr id="46" name="Shape 46"/>
          <p:cNvSpPr txBox="1"/>
          <p:nvPr>
            <p:ph idx="1" type="body"/>
          </p:nvPr>
        </p:nvSpPr>
        <p:spPr>
          <a:xfrm>
            <a:off x="3575050" y="273050"/>
            <a:ext cx="5111750" cy="5853112"/>
          </a:xfrm>
          <a:prstGeom prst="rect">
            <a:avLst/>
          </a:prstGeom>
          <a:noFill/>
          <a:ln>
            <a:noFill/>
          </a:ln>
        </p:spPr>
        <p:txBody>
          <a:bodyPr anchorCtr="0" anchor="t" bIns="91425" lIns="91425" rIns="91425" tIns="91425"/>
          <a:lstStyle>
            <a:lvl1pPr lvl="0" rtl="0">
              <a:spcBef>
                <a:spcPts val="0"/>
              </a:spcBef>
              <a:defRPr sz="3200"/>
            </a:lvl1pPr>
            <a:lvl2pPr lvl="1" rtl="0">
              <a:spcBef>
                <a:spcPts val="0"/>
              </a:spcBef>
              <a:defRPr sz="2800"/>
            </a:lvl2pPr>
            <a:lvl3pPr lvl="2" rtl="0">
              <a:spcBef>
                <a:spcPts val="0"/>
              </a:spcBef>
              <a:defRPr sz="2400"/>
            </a:lvl3pPr>
            <a:lvl4pPr lvl="3" rtl="0">
              <a:spcBef>
                <a:spcPts val="0"/>
              </a:spcBef>
              <a:defRPr sz="2000"/>
            </a:lvl4pPr>
            <a:lvl5pPr lvl="4" rtl="0">
              <a:spcBef>
                <a:spcPts val="0"/>
              </a:spcBef>
              <a:defRPr sz="2000"/>
            </a:lvl5pPr>
            <a:lvl6pPr lvl="5" rtl="0">
              <a:spcBef>
                <a:spcPts val="0"/>
              </a:spcBef>
              <a:defRPr sz="2000"/>
            </a:lvl6pPr>
            <a:lvl7pPr lvl="6" rtl="0">
              <a:spcBef>
                <a:spcPts val="0"/>
              </a:spcBef>
              <a:defRPr sz="2000"/>
            </a:lvl7pPr>
            <a:lvl8pPr lvl="7" rtl="0">
              <a:spcBef>
                <a:spcPts val="0"/>
              </a:spcBef>
              <a:defRPr sz="2000"/>
            </a:lvl8pPr>
            <a:lvl9pPr lvl="8" rtl="0">
              <a:spcBef>
                <a:spcPts val="0"/>
              </a:spcBef>
              <a:defRPr sz="2000"/>
            </a:lvl9pPr>
          </a:lstStyle>
          <a:p/>
        </p:txBody>
      </p:sp>
      <p:sp>
        <p:nvSpPr>
          <p:cNvPr id="47" name="Shape 47"/>
          <p:cNvSpPr txBox="1"/>
          <p:nvPr>
            <p:ph idx="2" type="body"/>
          </p:nvPr>
        </p:nvSpPr>
        <p:spPr>
          <a:xfrm>
            <a:off x="457200" y="1435100"/>
            <a:ext cx="3008313" cy="4691063"/>
          </a:xfrm>
          <a:prstGeom prst="rect">
            <a:avLst/>
          </a:prstGeom>
          <a:noFill/>
          <a:ln>
            <a:noFill/>
          </a:ln>
        </p:spPr>
        <p:txBody>
          <a:bodyPr anchorCtr="0" anchor="t" bIns="91425" lIns="91425" rIns="91425" tIns="91425"/>
          <a:lstStyle>
            <a:lvl1pPr indent="0" lvl="0" marL="0" rtl="0">
              <a:spcBef>
                <a:spcPts val="0"/>
              </a:spcBef>
              <a:buFont typeface="Calibri"/>
              <a:buNone/>
              <a:defRPr sz="1400"/>
            </a:lvl1pPr>
            <a:lvl2pPr indent="0" lvl="1" marL="457200" rtl="0">
              <a:spcBef>
                <a:spcPts val="0"/>
              </a:spcBef>
              <a:buFont typeface="Calibri"/>
              <a:buNone/>
              <a:defRPr sz="1200"/>
            </a:lvl2pPr>
            <a:lvl3pPr indent="0" lvl="2" marL="914400" rtl="0">
              <a:spcBef>
                <a:spcPts val="0"/>
              </a:spcBef>
              <a:buFont typeface="Calibri"/>
              <a:buNone/>
              <a:defRPr sz="1000"/>
            </a:lvl3pPr>
            <a:lvl4pPr indent="0" lvl="3" marL="1371600" rtl="0">
              <a:spcBef>
                <a:spcPts val="0"/>
              </a:spcBef>
              <a:buFont typeface="Calibri"/>
              <a:buNone/>
              <a:defRPr sz="900"/>
            </a:lvl4pPr>
            <a:lvl5pPr indent="0" lvl="4" marL="1828800" rtl="0">
              <a:spcBef>
                <a:spcPts val="0"/>
              </a:spcBef>
              <a:buFont typeface="Calibri"/>
              <a:buNone/>
              <a:defRPr sz="900"/>
            </a:lvl5pPr>
            <a:lvl6pPr indent="0" lvl="5" marL="2286000" rtl="0">
              <a:spcBef>
                <a:spcPts val="0"/>
              </a:spcBef>
              <a:buFont typeface="Calibri"/>
              <a:buNone/>
              <a:defRPr sz="900"/>
            </a:lvl6pPr>
            <a:lvl7pPr indent="0" lvl="6" marL="2743200" rtl="0">
              <a:spcBef>
                <a:spcPts val="0"/>
              </a:spcBef>
              <a:buFont typeface="Calibri"/>
              <a:buNone/>
              <a:defRPr sz="900"/>
            </a:lvl7pPr>
            <a:lvl8pPr indent="0" lvl="7" marL="3200400" rtl="0">
              <a:spcBef>
                <a:spcPts val="0"/>
              </a:spcBef>
              <a:buFont typeface="Calibri"/>
              <a:buNone/>
              <a:defRPr sz="900"/>
            </a:lvl8pPr>
            <a:lvl9pPr indent="0" lvl="8" marL="3657600" rtl="0">
              <a:spcBef>
                <a:spcPts val="0"/>
              </a:spcBef>
              <a:buFont typeface="Calibri"/>
              <a:buNone/>
              <a:defRPr sz="900"/>
            </a:lvl9pPr>
          </a:lstStyle>
          <a:p/>
        </p:txBody>
      </p:sp>
      <p:sp>
        <p:nvSpPr>
          <p:cNvPr id="48" name="Shape 48"/>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49" name="Shape 49"/>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50" name="Shape 50"/>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51" name="Shape 51"/>
        <p:cNvGrpSpPr/>
        <p:nvPr/>
      </p:nvGrpSpPr>
      <p:grpSpPr>
        <a:xfrm>
          <a:off x="0" y="0"/>
          <a:ext cx="0" cy="0"/>
          <a:chOff x="0" y="0"/>
          <a:chExt cx="0" cy="0"/>
        </a:xfrm>
      </p:grpSpPr>
      <p:sp>
        <p:nvSpPr>
          <p:cNvPr id="52" name="Shape 52"/>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53" name="Shape 53"/>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54" name="Shape 54"/>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55" name="Shape 55"/>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Comparison">
    <p:spTree>
      <p:nvGrpSpPr>
        <p:cNvPr id="56" name="Shape 56"/>
        <p:cNvGrpSpPr/>
        <p:nvPr/>
      </p:nvGrpSpPr>
      <p:grpSpPr>
        <a:xfrm>
          <a:off x="0" y="0"/>
          <a:ext cx="0" cy="0"/>
          <a:chOff x="0" y="0"/>
          <a:chExt cx="0" cy="0"/>
        </a:xfrm>
      </p:grpSpPr>
      <p:sp>
        <p:nvSpPr>
          <p:cNvPr id="57" name="Shape 57"/>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spcBef>
                <a:spcPts val="0"/>
              </a:spcBef>
              <a:defRPr/>
            </a:lvl1pPr>
            <a:lvl2pPr lvl="1" rtl="0">
              <a:spcBef>
                <a:spcPts val="0"/>
              </a:spcBef>
              <a:defRPr sz="4400">
                <a:solidFill>
                  <a:schemeClr val="dk1"/>
                </a:solidFill>
                <a:latin typeface="Calibri"/>
                <a:ea typeface="Calibri"/>
                <a:cs typeface="Calibri"/>
                <a:sym typeface="Calibri"/>
              </a:defRPr>
            </a:lvl2pPr>
            <a:lvl3pPr lvl="2" rtl="0">
              <a:spcBef>
                <a:spcPts val="0"/>
              </a:spcBef>
              <a:defRPr sz="4400">
                <a:solidFill>
                  <a:schemeClr val="dk1"/>
                </a:solidFill>
                <a:latin typeface="Calibri"/>
                <a:ea typeface="Calibri"/>
                <a:cs typeface="Calibri"/>
                <a:sym typeface="Calibri"/>
              </a:defRPr>
            </a:lvl3pPr>
            <a:lvl4pPr lvl="3" rtl="0">
              <a:spcBef>
                <a:spcPts val="0"/>
              </a:spcBef>
              <a:defRPr sz="4400">
                <a:solidFill>
                  <a:schemeClr val="dk1"/>
                </a:solidFill>
                <a:latin typeface="Calibri"/>
                <a:ea typeface="Calibri"/>
                <a:cs typeface="Calibri"/>
                <a:sym typeface="Calibri"/>
              </a:defRPr>
            </a:lvl4pPr>
            <a:lvl5pPr lvl="4" rtl="0">
              <a:spcBef>
                <a:spcPts val="0"/>
              </a:spcBef>
              <a:defRPr sz="4400">
                <a:solidFill>
                  <a:schemeClr val="dk1"/>
                </a:solidFill>
                <a:latin typeface="Calibri"/>
                <a:ea typeface="Calibri"/>
                <a:cs typeface="Calibri"/>
                <a:sym typeface="Calibri"/>
              </a:defRPr>
            </a:lvl5pPr>
            <a:lvl6pPr lvl="5" rtl="0">
              <a:spcBef>
                <a:spcPts val="0"/>
              </a:spcBef>
              <a:defRPr sz="4400">
                <a:solidFill>
                  <a:schemeClr val="dk1"/>
                </a:solidFill>
                <a:latin typeface="Calibri"/>
                <a:ea typeface="Calibri"/>
                <a:cs typeface="Calibri"/>
                <a:sym typeface="Calibri"/>
              </a:defRPr>
            </a:lvl6pPr>
            <a:lvl7pPr lvl="6" rtl="0">
              <a:spcBef>
                <a:spcPts val="0"/>
              </a:spcBef>
              <a:defRPr sz="4400">
                <a:solidFill>
                  <a:schemeClr val="dk1"/>
                </a:solidFill>
                <a:latin typeface="Calibri"/>
                <a:ea typeface="Calibri"/>
                <a:cs typeface="Calibri"/>
                <a:sym typeface="Calibri"/>
              </a:defRPr>
            </a:lvl7pPr>
            <a:lvl8pPr lvl="7" rtl="0">
              <a:spcBef>
                <a:spcPts val="0"/>
              </a:spcBef>
              <a:defRPr sz="4400">
                <a:solidFill>
                  <a:schemeClr val="dk1"/>
                </a:solidFill>
                <a:latin typeface="Calibri"/>
                <a:ea typeface="Calibri"/>
                <a:cs typeface="Calibri"/>
                <a:sym typeface="Calibri"/>
              </a:defRPr>
            </a:lvl8pPr>
            <a:lvl9pPr lvl="8" rtl="0">
              <a:spcBef>
                <a:spcPts val="0"/>
              </a:spcBef>
              <a:defRPr sz="4400">
                <a:solidFill>
                  <a:schemeClr val="dk1"/>
                </a:solidFill>
                <a:latin typeface="Calibri"/>
                <a:ea typeface="Calibri"/>
                <a:cs typeface="Calibri"/>
                <a:sym typeface="Calibri"/>
              </a:defRPr>
            </a:lvl9pPr>
          </a:lstStyle>
          <a:p/>
        </p:txBody>
      </p:sp>
      <p:sp>
        <p:nvSpPr>
          <p:cNvPr id="58" name="Shape 58"/>
          <p:cNvSpPr txBox="1"/>
          <p:nvPr>
            <p:ph idx="1" type="body"/>
          </p:nvPr>
        </p:nvSpPr>
        <p:spPr>
          <a:xfrm>
            <a:off x="457200" y="1535112"/>
            <a:ext cx="4040187" cy="639762"/>
          </a:xfrm>
          <a:prstGeom prst="rect">
            <a:avLst/>
          </a:prstGeom>
          <a:noFill/>
          <a:ln>
            <a:noFill/>
          </a:ln>
        </p:spPr>
        <p:txBody>
          <a:bodyPr anchorCtr="0" anchor="b" bIns="91425" lIns="91425" rIns="91425" tIns="91425"/>
          <a:lstStyle>
            <a:lvl1pPr indent="0" lvl="0" marL="0" rtl="0">
              <a:spcBef>
                <a:spcPts val="0"/>
              </a:spcBef>
              <a:buFont typeface="Calibri"/>
              <a:buNone/>
              <a:defRPr b="1" sz="2400"/>
            </a:lvl1pPr>
            <a:lvl2pPr indent="0" lvl="1" marL="457200" rtl="0">
              <a:spcBef>
                <a:spcPts val="0"/>
              </a:spcBef>
              <a:buFont typeface="Calibri"/>
              <a:buNone/>
              <a:defRPr b="1" sz="2000"/>
            </a:lvl2pPr>
            <a:lvl3pPr indent="0" lvl="2" marL="914400" rtl="0">
              <a:spcBef>
                <a:spcPts val="0"/>
              </a:spcBef>
              <a:buFont typeface="Calibri"/>
              <a:buNone/>
              <a:defRPr b="1" sz="1800"/>
            </a:lvl3pPr>
            <a:lvl4pPr indent="0" lvl="3" marL="1371600" rtl="0">
              <a:spcBef>
                <a:spcPts val="0"/>
              </a:spcBef>
              <a:buFont typeface="Calibri"/>
              <a:buNone/>
              <a:defRPr b="1" sz="1600"/>
            </a:lvl4pPr>
            <a:lvl5pPr indent="0" lvl="4" marL="1828800" rtl="0">
              <a:spcBef>
                <a:spcPts val="0"/>
              </a:spcBef>
              <a:buFont typeface="Calibri"/>
              <a:buNone/>
              <a:defRPr b="1" sz="1600"/>
            </a:lvl5pPr>
            <a:lvl6pPr indent="0" lvl="5" marL="2286000" rtl="0">
              <a:spcBef>
                <a:spcPts val="0"/>
              </a:spcBef>
              <a:buFont typeface="Calibri"/>
              <a:buNone/>
              <a:defRPr b="1" sz="1600"/>
            </a:lvl6pPr>
            <a:lvl7pPr indent="0" lvl="6" marL="2743200" rtl="0">
              <a:spcBef>
                <a:spcPts val="0"/>
              </a:spcBef>
              <a:buFont typeface="Calibri"/>
              <a:buNone/>
              <a:defRPr b="1" sz="1600"/>
            </a:lvl7pPr>
            <a:lvl8pPr indent="0" lvl="7" marL="3200400" rtl="0">
              <a:spcBef>
                <a:spcPts val="0"/>
              </a:spcBef>
              <a:buFont typeface="Calibri"/>
              <a:buNone/>
              <a:defRPr b="1" sz="1600"/>
            </a:lvl8pPr>
            <a:lvl9pPr indent="0" lvl="8" marL="3657600" rtl="0">
              <a:spcBef>
                <a:spcPts val="0"/>
              </a:spcBef>
              <a:buFont typeface="Calibri"/>
              <a:buNone/>
              <a:defRPr b="1" sz="1600"/>
            </a:lvl9pPr>
          </a:lstStyle>
          <a:p/>
        </p:txBody>
      </p:sp>
      <p:sp>
        <p:nvSpPr>
          <p:cNvPr id="59" name="Shape 59"/>
          <p:cNvSpPr txBox="1"/>
          <p:nvPr>
            <p:ph idx="2" type="body"/>
          </p:nvPr>
        </p:nvSpPr>
        <p:spPr>
          <a:xfrm>
            <a:off x="457200" y="2174875"/>
            <a:ext cx="4040187" cy="3951287"/>
          </a:xfrm>
          <a:prstGeom prst="rect">
            <a:avLst/>
          </a:prstGeom>
          <a:noFill/>
          <a:ln>
            <a:noFill/>
          </a:ln>
        </p:spPr>
        <p:txBody>
          <a:bodyPr anchorCtr="0" anchor="t" bIns="91425" lIns="91425" rIns="91425" tIns="91425"/>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sz="1600"/>
            </a:lvl6pPr>
            <a:lvl7pPr lvl="6" rtl="0">
              <a:spcBef>
                <a:spcPts val="0"/>
              </a:spcBef>
              <a:defRPr sz="1600"/>
            </a:lvl7pPr>
            <a:lvl8pPr lvl="7" rtl="0">
              <a:spcBef>
                <a:spcPts val="0"/>
              </a:spcBef>
              <a:defRPr sz="1600"/>
            </a:lvl8pPr>
            <a:lvl9pPr lvl="8" rtl="0">
              <a:spcBef>
                <a:spcPts val="0"/>
              </a:spcBef>
              <a:defRPr sz="1600"/>
            </a:lvl9pPr>
          </a:lstStyle>
          <a:p/>
        </p:txBody>
      </p:sp>
      <p:sp>
        <p:nvSpPr>
          <p:cNvPr id="60" name="Shape 60"/>
          <p:cNvSpPr txBox="1"/>
          <p:nvPr>
            <p:ph idx="3" type="body"/>
          </p:nvPr>
        </p:nvSpPr>
        <p:spPr>
          <a:xfrm>
            <a:off x="4645025" y="1535112"/>
            <a:ext cx="4041774" cy="639762"/>
          </a:xfrm>
          <a:prstGeom prst="rect">
            <a:avLst/>
          </a:prstGeom>
          <a:noFill/>
          <a:ln>
            <a:noFill/>
          </a:ln>
        </p:spPr>
        <p:txBody>
          <a:bodyPr anchorCtr="0" anchor="b" bIns="91425" lIns="91425" rIns="91425" tIns="91425"/>
          <a:lstStyle>
            <a:lvl1pPr indent="0" lvl="0" marL="0" rtl="0">
              <a:spcBef>
                <a:spcPts val="0"/>
              </a:spcBef>
              <a:buFont typeface="Calibri"/>
              <a:buNone/>
              <a:defRPr b="1" sz="2400"/>
            </a:lvl1pPr>
            <a:lvl2pPr indent="0" lvl="1" marL="457200" rtl="0">
              <a:spcBef>
                <a:spcPts val="0"/>
              </a:spcBef>
              <a:buFont typeface="Calibri"/>
              <a:buNone/>
              <a:defRPr b="1" sz="2000"/>
            </a:lvl2pPr>
            <a:lvl3pPr indent="0" lvl="2" marL="914400" rtl="0">
              <a:spcBef>
                <a:spcPts val="0"/>
              </a:spcBef>
              <a:buFont typeface="Calibri"/>
              <a:buNone/>
              <a:defRPr b="1" sz="1800"/>
            </a:lvl3pPr>
            <a:lvl4pPr indent="0" lvl="3" marL="1371600" rtl="0">
              <a:spcBef>
                <a:spcPts val="0"/>
              </a:spcBef>
              <a:buFont typeface="Calibri"/>
              <a:buNone/>
              <a:defRPr b="1" sz="1600"/>
            </a:lvl4pPr>
            <a:lvl5pPr indent="0" lvl="4" marL="1828800" rtl="0">
              <a:spcBef>
                <a:spcPts val="0"/>
              </a:spcBef>
              <a:buFont typeface="Calibri"/>
              <a:buNone/>
              <a:defRPr b="1" sz="1600"/>
            </a:lvl5pPr>
            <a:lvl6pPr indent="0" lvl="5" marL="2286000" rtl="0">
              <a:spcBef>
                <a:spcPts val="0"/>
              </a:spcBef>
              <a:buFont typeface="Calibri"/>
              <a:buNone/>
              <a:defRPr b="1" sz="1600"/>
            </a:lvl6pPr>
            <a:lvl7pPr indent="0" lvl="6" marL="2743200" rtl="0">
              <a:spcBef>
                <a:spcPts val="0"/>
              </a:spcBef>
              <a:buFont typeface="Calibri"/>
              <a:buNone/>
              <a:defRPr b="1" sz="1600"/>
            </a:lvl7pPr>
            <a:lvl8pPr indent="0" lvl="7" marL="3200400" rtl="0">
              <a:spcBef>
                <a:spcPts val="0"/>
              </a:spcBef>
              <a:buFont typeface="Calibri"/>
              <a:buNone/>
              <a:defRPr b="1" sz="1600"/>
            </a:lvl8pPr>
            <a:lvl9pPr indent="0" lvl="8" marL="3657600" rtl="0">
              <a:spcBef>
                <a:spcPts val="0"/>
              </a:spcBef>
              <a:buFont typeface="Calibri"/>
              <a:buNone/>
              <a:defRPr b="1" sz="1600"/>
            </a:lvl9pPr>
          </a:lstStyle>
          <a:p/>
        </p:txBody>
      </p:sp>
      <p:sp>
        <p:nvSpPr>
          <p:cNvPr id="61" name="Shape 61"/>
          <p:cNvSpPr txBox="1"/>
          <p:nvPr>
            <p:ph idx="4" type="body"/>
          </p:nvPr>
        </p:nvSpPr>
        <p:spPr>
          <a:xfrm>
            <a:off x="4645025" y="2174875"/>
            <a:ext cx="4041774" cy="3951287"/>
          </a:xfrm>
          <a:prstGeom prst="rect">
            <a:avLst/>
          </a:prstGeom>
          <a:noFill/>
          <a:ln>
            <a:noFill/>
          </a:ln>
        </p:spPr>
        <p:txBody>
          <a:bodyPr anchorCtr="0" anchor="t" bIns="91425" lIns="91425" rIns="91425" tIns="91425"/>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sz="1600"/>
            </a:lvl6pPr>
            <a:lvl7pPr lvl="6" rtl="0">
              <a:spcBef>
                <a:spcPts val="0"/>
              </a:spcBef>
              <a:defRPr sz="1600"/>
            </a:lvl7pPr>
            <a:lvl8pPr lvl="7" rtl="0">
              <a:spcBef>
                <a:spcPts val="0"/>
              </a:spcBef>
              <a:defRPr sz="1600"/>
            </a:lvl8pPr>
            <a:lvl9pPr lvl="8" rtl="0">
              <a:spcBef>
                <a:spcPts val="0"/>
              </a:spcBef>
              <a:defRPr sz="1600"/>
            </a:lvl9pPr>
          </a:lstStyle>
          <a:p/>
        </p:txBody>
      </p:sp>
      <p:sp>
        <p:nvSpPr>
          <p:cNvPr id="62" name="Shape 6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63" name="Shape 6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64" name="Shape 6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wo Content">
    <p:spTree>
      <p:nvGrpSpPr>
        <p:cNvPr id="65" name="Shape 65"/>
        <p:cNvGrpSpPr/>
        <p:nvPr/>
      </p:nvGrpSpPr>
      <p:grpSpPr>
        <a:xfrm>
          <a:off x="0" y="0"/>
          <a:ext cx="0" cy="0"/>
          <a:chOff x="0" y="0"/>
          <a:chExt cx="0" cy="0"/>
        </a:xfrm>
      </p:grpSpPr>
      <p:sp>
        <p:nvSpPr>
          <p:cNvPr id="66" name="Shape 66"/>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67" name="Shape 67"/>
          <p:cNvSpPr txBox="1"/>
          <p:nvPr>
            <p:ph idx="1" type="body"/>
          </p:nvPr>
        </p:nvSpPr>
        <p:spPr>
          <a:xfrm>
            <a:off x="457200" y="1600200"/>
            <a:ext cx="4038599" cy="4525963"/>
          </a:xfrm>
          <a:prstGeom prst="rect">
            <a:avLst/>
          </a:prstGeom>
          <a:noFill/>
          <a:ln>
            <a:noFill/>
          </a:ln>
        </p:spPr>
        <p:txBody>
          <a:bodyPr anchorCtr="0" anchor="t" bIns="91425" lIns="91425" rIns="91425" tIns="91425"/>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sz="1800"/>
            </a:lvl6pPr>
            <a:lvl7pPr lvl="6" rtl="0">
              <a:spcBef>
                <a:spcPts val="0"/>
              </a:spcBef>
              <a:defRPr sz="1800"/>
            </a:lvl7pPr>
            <a:lvl8pPr lvl="7" rtl="0">
              <a:spcBef>
                <a:spcPts val="0"/>
              </a:spcBef>
              <a:defRPr sz="1800"/>
            </a:lvl8pPr>
            <a:lvl9pPr lvl="8" rtl="0">
              <a:spcBef>
                <a:spcPts val="0"/>
              </a:spcBef>
              <a:defRPr sz="1800"/>
            </a:lvl9pPr>
          </a:lstStyle>
          <a:p/>
        </p:txBody>
      </p:sp>
      <p:sp>
        <p:nvSpPr>
          <p:cNvPr id="68" name="Shape 68"/>
          <p:cNvSpPr txBox="1"/>
          <p:nvPr>
            <p:ph idx="2" type="body"/>
          </p:nvPr>
        </p:nvSpPr>
        <p:spPr>
          <a:xfrm>
            <a:off x="4648200" y="1600200"/>
            <a:ext cx="4038599" cy="4525963"/>
          </a:xfrm>
          <a:prstGeom prst="rect">
            <a:avLst/>
          </a:prstGeom>
          <a:noFill/>
          <a:ln>
            <a:noFill/>
          </a:ln>
        </p:spPr>
        <p:txBody>
          <a:bodyPr anchorCtr="0" anchor="t" bIns="91425" lIns="91425" rIns="91425" tIns="91425"/>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sz="1800"/>
            </a:lvl6pPr>
            <a:lvl7pPr lvl="6" rtl="0">
              <a:spcBef>
                <a:spcPts val="0"/>
              </a:spcBef>
              <a:defRPr sz="1800"/>
            </a:lvl7pPr>
            <a:lvl8pPr lvl="7" rtl="0">
              <a:spcBef>
                <a:spcPts val="0"/>
              </a:spcBef>
              <a:defRPr sz="1800"/>
            </a:lvl8pPr>
            <a:lvl9pPr lvl="8" rtl="0">
              <a:spcBef>
                <a:spcPts val="0"/>
              </a:spcBef>
              <a:defRPr sz="1800"/>
            </a:lvl9pPr>
          </a:lstStyle>
          <a:p/>
        </p:txBody>
      </p:sp>
      <p:sp>
        <p:nvSpPr>
          <p:cNvPr id="69" name="Shape 69"/>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0" name="Shape 70"/>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71" name="Shape 71"/>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72" name="Shape 72"/>
        <p:cNvGrpSpPr/>
        <p:nvPr/>
      </p:nvGrpSpPr>
      <p:grpSpPr>
        <a:xfrm>
          <a:off x="0" y="0"/>
          <a:ext cx="0" cy="0"/>
          <a:chOff x="0" y="0"/>
          <a:chExt cx="0" cy="0"/>
        </a:xfrm>
      </p:grpSpPr>
      <p:sp>
        <p:nvSpPr>
          <p:cNvPr id="73" name="Shape 73"/>
          <p:cNvSpPr txBox="1"/>
          <p:nvPr>
            <p:ph type="title"/>
          </p:nvPr>
        </p:nvSpPr>
        <p:spPr>
          <a:xfrm>
            <a:off x="722312" y="4406900"/>
            <a:ext cx="7772400" cy="1362075"/>
          </a:xfrm>
          <a:prstGeom prst="rect">
            <a:avLst/>
          </a:prstGeom>
          <a:noFill/>
          <a:ln>
            <a:noFill/>
          </a:ln>
        </p:spPr>
        <p:txBody>
          <a:bodyPr anchorCtr="0" anchor="t" bIns="91425" lIns="91425" rIns="91425" tIns="91425"/>
          <a:lstStyle>
            <a:lvl1pPr lvl="0" rtl="0" algn="l">
              <a:spcBef>
                <a:spcPts val="0"/>
              </a:spcBef>
              <a:defRPr b="1" sz="4000" cap="none"/>
            </a:lvl1pPr>
            <a:lvl2pPr lvl="1" rtl="0">
              <a:spcBef>
                <a:spcPts val="0"/>
              </a:spcBef>
              <a:defRPr sz="4400">
                <a:solidFill>
                  <a:schemeClr val="dk1"/>
                </a:solidFill>
                <a:latin typeface="Calibri"/>
                <a:ea typeface="Calibri"/>
                <a:cs typeface="Calibri"/>
                <a:sym typeface="Calibri"/>
              </a:defRPr>
            </a:lvl2pPr>
            <a:lvl3pPr lvl="2" rtl="0">
              <a:spcBef>
                <a:spcPts val="0"/>
              </a:spcBef>
              <a:defRPr sz="4400">
                <a:solidFill>
                  <a:schemeClr val="dk1"/>
                </a:solidFill>
                <a:latin typeface="Calibri"/>
                <a:ea typeface="Calibri"/>
                <a:cs typeface="Calibri"/>
                <a:sym typeface="Calibri"/>
              </a:defRPr>
            </a:lvl3pPr>
            <a:lvl4pPr lvl="3" rtl="0">
              <a:spcBef>
                <a:spcPts val="0"/>
              </a:spcBef>
              <a:defRPr sz="4400">
                <a:solidFill>
                  <a:schemeClr val="dk1"/>
                </a:solidFill>
                <a:latin typeface="Calibri"/>
                <a:ea typeface="Calibri"/>
                <a:cs typeface="Calibri"/>
                <a:sym typeface="Calibri"/>
              </a:defRPr>
            </a:lvl4pPr>
            <a:lvl5pPr lvl="4" rtl="0">
              <a:spcBef>
                <a:spcPts val="0"/>
              </a:spcBef>
              <a:defRPr sz="4400">
                <a:solidFill>
                  <a:schemeClr val="dk1"/>
                </a:solidFill>
                <a:latin typeface="Calibri"/>
                <a:ea typeface="Calibri"/>
                <a:cs typeface="Calibri"/>
                <a:sym typeface="Calibri"/>
              </a:defRPr>
            </a:lvl5pPr>
            <a:lvl6pPr lvl="5" rtl="0">
              <a:spcBef>
                <a:spcPts val="0"/>
              </a:spcBef>
              <a:defRPr sz="4400">
                <a:solidFill>
                  <a:schemeClr val="dk1"/>
                </a:solidFill>
                <a:latin typeface="Calibri"/>
                <a:ea typeface="Calibri"/>
                <a:cs typeface="Calibri"/>
                <a:sym typeface="Calibri"/>
              </a:defRPr>
            </a:lvl6pPr>
            <a:lvl7pPr lvl="6" rtl="0">
              <a:spcBef>
                <a:spcPts val="0"/>
              </a:spcBef>
              <a:defRPr sz="4400">
                <a:solidFill>
                  <a:schemeClr val="dk1"/>
                </a:solidFill>
                <a:latin typeface="Calibri"/>
                <a:ea typeface="Calibri"/>
                <a:cs typeface="Calibri"/>
                <a:sym typeface="Calibri"/>
              </a:defRPr>
            </a:lvl7pPr>
            <a:lvl8pPr lvl="7" rtl="0">
              <a:spcBef>
                <a:spcPts val="0"/>
              </a:spcBef>
              <a:defRPr sz="4400">
                <a:solidFill>
                  <a:schemeClr val="dk1"/>
                </a:solidFill>
                <a:latin typeface="Calibri"/>
                <a:ea typeface="Calibri"/>
                <a:cs typeface="Calibri"/>
                <a:sym typeface="Calibri"/>
              </a:defRPr>
            </a:lvl8pPr>
            <a:lvl9pPr lvl="8" rtl="0">
              <a:spcBef>
                <a:spcPts val="0"/>
              </a:spcBef>
              <a:defRPr sz="4400">
                <a:solidFill>
                  <a:schemeClr val="dk1"/>
                </a:solidFill>
                <a:latin typeface="Calibri"/>
                <a:ea typeface="Calibri"/>
                <a:cs typeface="Calibri"/>
                <a:sym typeface="Calibri"/>
              </a:defRPr>
            </a:lvl9pPr>
          </a:lstStyle>
          <a:p/>
        </p:txBody>
      </p:sp>
      <p:sp>
        <p:nvSpPr>
          <p:cNvPr id="74" name="Shape 74"/>
          <p:cNvSpPr txBox="1"/>
          <p:nvPr>
            <p:ph idx="1" type="body"/>
          </p:nvPr>
        </p:nvSpPr>
        <p:spPr>
          <a:xfrm>
            <a:off x="722312" y="2906713"/>
            <a:ext cx="7772400" cy="1500187"/>
          </a:xfrm>
          <a:prstGeom prst="rect">
            <a:avLst/>
          </a:prstGeom>
          <a:noFill/>
          <a:ln>
            <a:noFill/>
          </a:ln>
        </p:spPr>
        <p:txBody>
          <a:bodyPr anchorCtr="0" anchor="b" bIns="91425" lIns="91425" rIns="91425" tIns="91425"/>
          <a:lstStyle>
            <a:lvl1pPr indent="0" lvl="0" marL="0" rtl="0">
              <a:spcBef>
                <a:spcPts val="0"/>
              </a:spcBef>
              <a:buClr>
                <a:srgbClr val="888888"/>
              </a:buClr>
              <a:buFont typeface="Calibri"/>
              <a:buNone/>
              <a:defRPr sz="2000">
                <a:solidFill>
                  <a:srgbClr val="888888"/>
                </a:solidFill>
              </a:defRPr>
            </a:lvl1pPr>
            <a:lvl2pPr indent="0" lvl="1" marL="457200" rtl="0">
              <a:spcBef>
                <a:spcPts val="0"/>
              </a:spcBef>
              <a:buClr>
                <a:srgbClr val="888888"/>
              </a:buClr>
              <a:buFont typeface="Calibri"/>
              <a:buNone/>
              <a:defRPr sz="1800">
                <a:solidFill>
                  <a:srgbClr val="888888"/>
                </a:solidFill>
              </a:defRPr>
            </a:lvl2pPr>
            <a:lvl3pPr indent="0" lvl="2" marL="914400" rtl="0">
              <a:spcBef>
                <a:spcPts val="0"/>
              </a:spcBef>
              <a:buClr>
                <a:srgbClr val="888888"/>
              </a:buClr>
              <a:buFont typeface="Calibri"/>
              <a:buNone/>
              <a:defRPr sz="1600">
                <a:solidFill>
                  <a:srgbClr val="888888"/>
                </a:solidFill>
              </a:defRPr>
            </a:lvl3pPr>
            <a:lvl4pPr indent="0" lvl="3" marL="1371600" rtl="0">
              <a:spcBef>
                <a:spcPts val="0"/>
              </a:spcBef>
              <a:buClr>
                <a:srgbClr val="888888"/>
              </a:buClr>
              <a:buFont typeface="Calibri"/>
              <a:buNone/>
              <a:defRPr sz="1400">
                <a:solidFill>
                  <a:srgbClr val="888888"/>
                </a:solidFill>
              </a:defRPr>
            </a:lvl4pPr>
            <a:lvl5pPr indent="0" lvl="4" marL="1828800" rtl="0">
              <a:spcBef>
                <a:spcPts val="0"/>
              </a:spcBef>
              <a:buClr>
                <a:srgbClr val="888888"/>
              </a:buClr>
              <a:buFont typeface="Calibri"/>
              <a:buNone/>
              <a:defRPr sz="1400">
                <a:solidFill>
                  <a:srgbClr val="888888"/>
                </a:solidFill>
              </a:defRPr>
            </a:lvl5pPr>
            <a:lvl6pPr indent="0" lvl="5" marL="2286000" rtl="0">
              <a:spcBef>
                <a:spcPts val="0"/>
              </a:spcBef>
              <a:buClr>
                <a:srgbClr val="888888"/>
              </a:buClr>
              <a:buFont typeface="Calibri"/>
              <a:buNone/>
              <a:defRPr sz="1400">
                <a:solidFill>
                  <a:srgbClr val="888888"/>
                </a:solidFill>
              </a:defRPr>
            </a:lvl6pPr>
            <a:lvl7pPr indent="0" lvl="6" marL="2743200" rtl="0">
              <a:spcBef>
                <a:spcPts val="0"/>
              </a:spcBef>
              <a:buClr>
                <a:srgbClr val="888888"/>
              </a:buClr>
              <a:buFont typeface="Calibri"/>
              <a:buNone/>
              <a:defRPr sz="1400">
                <a:solidFill>
                  <a:srgbClr val="888888"/>
                </a:solidFill>
              </a:defRPr>
            </a:lvl7pPr>
            <a:lvl8pPr indent="0" lvl="7" marL="3200400" rtl="0">
              <a:spcBef>
                <a:spcPts val="0"/>
              </a:spcBef>
              <a:buClr>
                <a:srgbClr val="888888"/>
              </a:buClr>
              <a:buFont typeface="Calibri"/>
              <a:buNone/>
              <a:defRPr sz="1400">
                <a:solidFill>
                  <a:srgbClr val="888888"/>
                </a:solidFill>
              </a:defRPr>
            </a:lvl8pPr>
            <a:lvl9pPr indent="0" lvl="8" marL="3657600" rtl="0">
              <a:spcBef>
                <a:spcPts val="0"/>
              </a:spcBef>
              <a:buClr>
                <a:srgbClr val="888888"/>
              </a:buClr>
              <a:buFont typeface="Calibri"/>
              <a:buNone/>
              <a:defRPr sz="1400">
                <a:solidFill>
                  <a:srgbClr val="888888"/>
                </a:solidFill>
              </a:defRPr>
            </a:lvl9pPr>
          </a:lstStyle>
          <a:p/>
        </p:txBody>
      </p:sp>
      <p:sp>
        <p:nvSpPr>
          <p:cNvPr id="75" name="Shape 75"/>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76" name="Shape 76"/>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77" name="Shape 77"/>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78" name="Shape 78"/>
        <p:cNvGrpSpPr/>
        <p:nvPr/>
      </p:nvGrpSpPr>
      <p:grpSpPr>
        <a:xfrm>
          <a:off x="0" y="0"/>
          <a:ext cx="0" cy="0"/>
          <a:chOff x="0" y="0"/>
          <a:chExt cx="0" cy="0"/>
        </a:xfrm>
      </p:grpSpPr>
      <p:sp>
        <p:nvSpPr>
          <p:cNvPr id="79" name="Shape 79"/>
          <p:cNvSpPr txBox="1"/>
          <p:nvPr>
            <p:ph type="title"/>
          </p:nvPr>
        </p:nvSpPr>
        <p:spPr>
          <a:xfrm>
            <a:off x="457200" y="274637"/>
            <a:ext cx="8229600" cy="1143000"/>
          </a:xfrm>
          <a:prstGeom prst="rect">
            <a:avLst/>
          </a:prstGeom>
          <a:noFill/>
          <a:ln>
            <a:noFill/>
          </a:ln>
        </p:spPr>
        <p:txBody>
          <a:bodyPr anchorCtr="0" anchor="ctr" bIns="91425" lIns="91425" rIns="91425" tIns="91425"/>
          <a:lstStyle>
            <a:lvl1pPr lvl="0" rtl="0" algn="ctr">
              <a:spcBef>
                <a:spcPts val="0"/>
              </a:spcBef>
              <a:spcAft>
                <a:spcPts val="0"/>
              </a:spcAft>
              <a:defRPr sz="4400">
                <a:solidFill>
                  <a:schemeClr val="dk1"/>
                </a:solidFill>
                <a:latin typeface="Calibri"/>
                <a:ea typeface="Calibri"/>
                <a:cs typeface="Calibri"/>
                <a:sym typeface="Calibri"/>
              </a:defRPr>
            </a:lvl1pPr>
            <a:lvl2pPr lvl="1" rtl="0" algn="ctr">
              <a:spcBef>
                <a:spcPts val="0"/>
              </a:spcBef>
              <a:spcAft>
                <a:spcPts val="0"/>
              </a:spcAft>
              <a:defRPr sz="4400">
                <a:solidFill>
                  <a:schemeClr val="dk1"/>
                </a:solidFill>
                <a:latin typeface="Calibri"/>
                <a:ea typeface="Calibri"/>
                <a:cs typeface="Calibri"/>
                <a:sym typeface="Calibri"/>
              </a:defRPr>
            </a:lvl2pPr>
            <a:lvl3pPr lvl="2" rtl="0" algn="ctr">
              <a:spcBef>
                <a:spcPts val="0"/>
              </a:spcBef>
              <a:spcAft>
                <a:spcPts val="0"/>
              </a:spcAft>
              <a:defRPr sz="4400">
                <a:solidFill>
                  <a:schemeClr val="dk1"/>
                </a:solidFill>
                <a:latin typeface="Calibri"/>
                <a:ea typeface="Calibri"/>
                <a:cs typeface="Calibri"/>
                <a:sym typeface="Calibri"/>
              </a:defRPr>
            </a:lvl3pPr>
            <a:lvl4pPr lvl="3" rtl="0" algn="ctr">
              <a:spcBef>
                <a:spcPts val="0"/>
              </a:spcBef>
              <a:spcAft>
                <a:spcPts val="0"/>
              </a:spcAft>
              <a:defRPr sz="4400">
                <a:solidFill>
                  <a:schemeClr val="dk1"/>
                </a:solidFill>
                <a:latin typeface="Calibri"/>
                <a:ea typeface="Calibri"/>
                <a:cs typeface="Calibri"/>
                <a:sym typeface="Calibri"/>
              </a:defRPr>
            </a:lvl4pPr>
            <a:lvl5pPr lvl="4" rtl="0" algn="ctr">
              <a:spcBef>
                <a:spcPts val="0"/>
              </a:spcBef>
              <a:spcAft>
                <a:spcPts val="0"/>
              </a:spcAft>
              <a:defRPr sz="4400">
                <a:solidFill>
                  <a:schemeClr val="dk1"/>
                </a:solidFill>
                <a:latin typeface="Calibri"/>
                <a:ea typeface="Calibri"/>
                <a:cs typeface="Calibri"/>
                <a:sym typeface="Calibri"/>
              </a:defRPr>
            </a:lvl5pPr>
            <a:lvl6pPr lvl="5" marL="457200" rtl="0" algn="ctr">
              <a:spcBef>
                <a:spcPts val="0"/>
              </a:spcBef>
              <a:spcAft>
                <a:spcPts val="0"/>
              </a:spcAft>
              <a:defRPr sz="4400">
                <a:solidFill>
                  <a:schemeClr val="dk1"/>
                </a:solidFill>
                <a:latin typeface="Calibri"/>
                <a:ea typeface="Calibri"/>
                <a:cs typeface="Calibri"/>
                <a:sym typeface="Calibri"/>
              </a:defRPr>
            </a:lvl6pPr>
            <a:lvl7pPr lvl="6" marL="914400" rtl="0" algn="ctr">
              <a:spcBef>
                <a:spcPts val="0"/>
              </a:spcBef>
              <a:spcAft>
                <a:spcPts val="0"/>
              </a:spcAft>
              <a:defRPr sz="4400">
                <a:solidFill>
                  <a:schemeClr val="dk1"/>
                </a:solidFill>
                <a:latin typeface="Calibri"/>
                <a:ea typeface="Calibri"/>
                <a:cs typeface="Calibri"/>
                <a:sym typeface="Calibri"/>
              </a:defRPr>
            </a:lvl7pPr>
            <a:lvl8pPr lvl="7" marL="1371600" rtl="0" algn="ctr">
              <a:spcBef>
                <a:spcPts val="0"/>
              </a:spcBef>
              <a:spcAft>
                <a:spcPts val="0"/>
              </a:spcAft>
              <a:defRPr sz="4400">
                <a:solidFill>
                  <a:schemeClr val="dk1"/>
                </a:solidFill>
                <a:latin typeface="Calibri"/>
                <a:ea typeface="Calibri"/>
                <a:cs typeface="Calibri"/>
                <a:sym typeface="Calibri"/>
              </a:defRPr>
            </a:lvl8pPr>
            <a:lvl9pPr lvl="8" marL="1828800" rtl="0" algn="ctr">
              <a:spcBef>
                <a:spcPts val="0"/>
              </a:spcBef>
              <a:spcAft>
                <a:spcPts val="0"/>
              </a:spcAft>
              <a:defRPr sz="4400">
                <a:solidFill>
                  <a:schemeClr val="dk1"/>
                </a:solidFill>
                <a:latin typeface="Calibri"/>
                <a:ea typeface="Calibri"/>
                <a:cs typeface="Calibri"/>
                <a:sym typeface="Calibri"/>
              </a:defRPr>
            </a:lvl9pPr>
          </a:lstStyle>
          <a:p/>
        </p:txBody>
      </p:sp>
      <p:sp>
        <p:nvSpPr>
          <p:cNvPr id="80" name="Shape 80"/>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rtl="0" algn="l">
              <a:spcBef>
                <a:spcPts val="640"/>
              </a:spcBef>
              <a:spcAft>
                <a:spcPts val="0"/>
              </a:spcAft>
              <a:buClr>
                <a:schemeClr val="dk1"/>
              </a:buClr>
              <a:buFont typeface="Arial"/>
              <a:buChar char="•"/>
              <a:defRPr sz="3200">
                <a:solidFill>
                  <a:schemeClr val="dk1"/>
                </a:solidFill>
                <a:latin typeface="Calibri"/>
                <a:ea typeface="Calibri"/>
                <a:cs typeface="Calibri"/>
                <a:sym typeface="Calibri"/>
              </a:defRPr>
            </a:lvl1pPr>
            <a:lvl2pPr indent="-107950" lvl="1" marL="742950" rtl="0" algn="l">
              <a:spcBef>
                <a:spcPts val="560"/>
              </a:spcBef>
              <a:spcAft>
                <a:spcPts val="0"/>
              </a:spcAft>
              <a:buClr>
                <a:schemeClr val="dk1"/>
              </a:buClr>
              <a:buFont typeface="Arial"/>
              <a:buChar char="–"/>
              <a:defRPr sz="2800">
                <a:solidFill>
                  <a:schemeClr val="dk1"/>
                </a:solidFill>
                <a:latin typeface="Calibri"/>
                <a:ea typeface="Calibri"/>
                <a:cs typeface="Calibri"/>
                <a:sym typeface="Calibri"/>
              </a:defRPr>
            </a:lvl2pPr>
            <a:lvl3pPr indent="-76200" lvl="2" marL="1143000" rtl="0" algn="l">
              <a:spcBef>
                <a:spcPts val="480"/>
              </a:spcBef>
              <a:spcAft>
                <a:spcPts val="0"/>
              </a:spcAft>
              <a:buClr>
                <a:schemeClr val="dk1"/>
              </a:buClr>
              <a:buFont typeface="Arial"/>
              <a:buChar char="•"/>
              <a:defRPr sz="2400">
                <a:solidFill>
                  <a:schemeClr val="dk1"/>
                </a:solidFill>
                <a:latin typeface="Calibri"/>
                <a:ea typeface="Calibri"/>
                <a:cs typeface="Calibri"/>
                <a:sym typeface="Calibri"/>
              </a:defRPr>
            </a:lvl3pPr>
            <a:lvl4pPr indent="-101600" lvl="3" marL="16002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4pPr>
            <a:lvl5pPr indent="-101600" lvl="4" marL="2057400" rtl="0" algn="l">
              <a:spcBef>
                <a:spcPts val="400"/>
              </a:spcBef>
              <a:spcAft>
                <a:spcPts val="0"/>
              </a:spcAft>
              <a:buClr>
                <a:schemeClr val="dk1"/>
              </a:buClr>
              <a:buFont typeface="Arial"/>
              <a:buChar char="»"/>
              <a:defRPr sz="2000">
                <a:solidFill>
                  <a:schemeClr val="dk1"/>
                </a:solidFill>
                <a:latin typeface="Calibri"/>
                <a:ea typeface="Calibri"/>
                <a:cs typeface="Calibri"/>
                <a:sym typeface="Calibri"/>
              </a:defRPr>
            </a:lvl5pPr>
            <a:lvl6pPr indent="-101600" lvl="5"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lvl="6"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lvl="7"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lvl="8"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81" name="Shape 8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82" name="Shape 8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3" name="Shape 8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84" name="Shape 84"/>
        <p:cNvGrpSpPr/>
        <p:nvPr/>
      </p:nvGrpSpPr>
      <p:grpSpPr>
        <a:xfrm>
          <a:off x="0" y="0"/>
          <a:ext cx="0" cy="0"/>
          <a:chOff x="0" y="0"/>
          <a:chExt cx="0" cy="0"/>
        </a:xfrm>
      </p:grpSpPr>
      <p:sp>
        <p:nvSpPr>
          <p:cNvPr id="85" name="Shape 85"/>
          <p:cNvSpPr txBox="1"/>
          <p:nvPr>
            <p:ph type="ctrTitle"/>
          </p:nvPr>
        </p:nvSpPr>
        <p:spPr>
          <a:xfrm>
            <a:off x="685800" y="2130425"/>
            <a:ext cx="7772400" cy="1470024"/>
          </a:xfrm>
          <a:prstGeom prst="rect">
            <a:avLst/>
          </a:prstGeom>
          <a:noFill/>
          <a:ln>
            <a:noFill/>
          </a:ln>
        </p:spPr>
        <p:txBody>
          <a:bodyPr anchorCtr="0" anchor="ctr" bIns="91425" lIns="91425" rIns="91425" tIns="91425"/>
          <a:lstStyle>
            <a:lvl1pPr indent="0" lvl="0" marL="0" marR="0" rtl="0" algn="ctr">
              <a:spcBef>
                <a:spcPts val="0"/>
              </a:spcBef>
              <a:spcAft>
                <a:spcPts val="0"/>
              </a:spcAft>
              <a:defRPr b="0" i="0" sz="4400" u="none" cap="none" strike="noStrike">
                <a:solidFill>
                  <a:schemeClr val="dk1"/>
                </a:solidFill>
                <a:latin typeface="Calibri"/>
                <a:ea typeface="Calibri"/>
                <a:cs typeface="Calibri"/>
                <a:sym typeface="Calibri"/>
              </a:defRPr>
            </a:lvl1pPr>
            <a:lvl2pPr indent="0" lvl="1" marL="0" marR="0" rtl="0" algn="ctr">
              <a:spcBef>
                <a:spcPts val="0"/>
              </a:spcBef>
              <a:spcAft>
                <a:spcPts val="0"/>
              </a:spcAft>
              <a:defRPr b="0" i="0" sz="4400" u="none" cap="none" strike="noStrike">
                <a:solidFill>
                  <a:schemeClr val="dk1"/>
                </a:solidFill>
                <a:latin typeface="Calibri"/>
                <a:ea typeface="Calibri"/>
                <a:cs typeface="Calibri"/>
                <a:sym typeface="Calibri"/>
              </a:defRPr>
            </a:lvl2pPr>
            <a:lvl3pPr indent="0" lvl="2" marL="0" marR="0" rtl="0" algn="ctr">
              <a:spcBef>
                <a:spcPts val="0"/>
              </a:spcBef>
              <a:spcAft>
                <a:spcPts val="0"/>
              </a:spcAft>
              <a:defRPr b="0" i="0" sz="4400" u="none" cap="none" strike="noStrike">
                <a:solidFill>
                  <a:schemeClr val="dk1"/>
                </a:solidFill>
                <a:latin typeface="Calibri"/>
                <a:ea typeface="Calibri"/>
                <a:cs typeface="Calibri"/>
                <a:sym typeface="Calibri"/>
              </a:defRPr>
            </a:lvl3pPr>
            <a:lvl4pPr indent="0" lvl="3" marL="0" marR="0" rtl="0" algn="ctr">
              <a:spcBef>
                <a:spcPts val="0"/>
              </a:spcBef>
              <a:spcAft>
                <a:spcPts val="0"/>
              </a:spcAft>
              <a:defRPr b="0" i="0" sz="4400" u="none" cap="none" strike="noStrike">
                <a:solidFill>
                  <a:schemeClr val="dk1"/>
                </a:solidFill>
                <a:latin typeface="Calibri"/>
                <a:ea typeface="Calibri"/>
                <a:cs typeface="Calibri"/>
                <a:sym typeface="Calibri"/>
              </a:defRPr>
            </a:lvl4pPr>
            <a:lvl5pPr indent="0" lvl="4" marL="0" marR="0" rtl="0" algn="ctr">
              <a:spcBef>
                <a:spcPts val="0"/>
              </a:spcBef>
              <a:spcAft>
                <a:spcPts val="0"/>
              </a:spcAft>
              <a:defRPr b="0" i="0" sz="4400" u="none" cap="none" strike="noStrike">
                <a:solidFill>
                  <a:schemeClr val="dk1"/>
                </a:solidFill>
                <a:latin typeface="Calibri"/>
                <a:ea typeface="Calibri"/>
                <a:cs typeface="Calibri"/>
                <a:sym typeface="Calibri"/>
              </a:defRPr>
            </a:lvl5pPr>
            <a:lvl6pPr indent="0" lvl="5" marL="457200" marR="0" rtl="0" algn="ctr">
              <a:spcBef>
                <a:spcPts val="0"/>
              </a:spcBef>
              <a:spcAft>
                <a:spcPts val="0"/>
              </a:spcAft>
              <a:defRPr b="0" i="0" sz="4400" u="none" cap="none" strike="noStrike">
                <a:solidFill>
                  <a:schemeClr val="dk1"/>
                </a:solidFill>
                <a:latin typeface="Calibri"/>
                <a:ea typeface="Calibri"/>
                <a:cs typeface="Calibri"/>
                <a:sym typeface="Calibri"/>
              </a:defRPr>
            </a:lvl6pPr>
            <a:lvl7pPr indent="0" lvl="6" marL="914400" marR="0" rtl="0" algn="ctr">
              <a:spcBef>
                <a:spcPts val="0"/>
              </a:spcBef>
              <a:spcAft>
                <a:spcPts val="0"/>
              </a:spcAft>
              <a:defRPr b="0" i="0" sz="4400" u="none" cap="none" strike="noStrike">
                <a:solidFill>
                  <a:schemeClr val="dk1"/>
                </a:solidFill>
                <a:latin typeface="Calibri"/>
                <a:ea typeface="Calibri"/>
                <a:cs typeface="Calibri"/>
                <a:sym typeface="Calibri"/>
              </a:defRPr>
            </a:lvl7pPr>
            <a:lvl8pPr indent="0" lvl="7" marL="1371600" marR="0" rtl="0" algn="ctr">
              <a:spcBef>
                <a:spcPts val="0"/>
              </a:spcBef>
              <a:spcAft>
                <a:spcPts val="0"/>
              </a:spcAft>
              <a:defRPr b="0" i="0" sz="4400" u="none" cap="none" strike="noStrike">
                <a:solidFill>
                  <a:schemeClr val="dk1"/>
                </a:solidFill>
                <a:latin typeface="Calibri"/>
                <a:ea typeface="Calibri"/>
                <a:cs typeface="Calibri"/>
                <a:sym typeface="Calibri"/>
              </a:defRPr>
            </a:lvl8pPr>
            <a:lvl9pPr indent="0" lvl="8" marL="1828800" marR="0" rtl="0" algn="ctr">
              <a:spcBef>
                <a:spcPts val="0"/>
              </a:spcBef>
              <a:spcAft>
                <a:spcPts val="0"/>
              </a:spcAft>
              <a:defRPr b="0" i="0" sz="4400" u="none" cap="none" strike="noStrike">
                <a:solidFill>
                  <a:schemeClr val="dk1"/>
                </a:solidFill>
                <a:latin typeface="Calibri"/>
                <a:ea typeface="Calibri"/>
                <a:cs typeface="Calibri"/>
                <a:sym typeface="Calibri"/>
              </a:defRPr>
            </a:lvl9pPr>
          </a:lstStyle>
          <a:p/>
        </p:txBody>
      </p:sp>
      <p:sp>
        <p:nvSpPr>
          <p:cNvPr id="86" name="Shape 86"/>
          <p:cNvSpPr txBox="1"/>
          <p:nvPr>
            <p:ph idx="1" type="subTitle"/>
          </p:nvPr>
        </p:nvSpPr>
        <p:spPr>
          <a:xfrm>
            <a:off x="1371600" y="3886200"/>
            <a:ext cx="6400799" cy="1752600"/>
          </a:xfrm>
          <a:prstGeom prst="rect">
            <a:avLst/>
          </a:prstGeom>
          <a:noFill/>
          <a:ln>
            <a:noFill/>
          </a:ln>
        </p:spPr>
        <p:txBody>
          <a:bodyPr anchorCtr="0" anchor="t" bIns="91425" lIns="91425" rIns="91425" tIns="91425"/>
          <a:lstStyle>
            <a:lvl1pPr indent="0" lvl="0" marL="0" marR="0" rtl="0" algn="ctr">
              <a:spcBef>
                <a:spcPts val="640"/>
              </a:spcBef>
              <a:spcAft>
                <a:spcPts val="0"/>
              </a:spcAft>
              <a:buClr>
                <a:srgbClr val="888888"/>
              </a:buClr>
              <a:buFont typeface="Arial"/>
              <a:buNone/>
              <a:defRPr b="0" i="0" sz="3200" u="none" cap="none" strike="noStrike">
                <a:solidFill>
                  <a:srgbClr val="888888"/>
                </a:solidFill>
                <a:latin typeface="Calibri"/>
                <a:ea typeface="Calibri"/>
                <a:cs typeface="Calibri"/>
                <a:sym typeface="Calibri"/>
              </a:defRPr>
            </a:lvl1pPr>
            <a:lvl2pPr indent="0" lvl="1" marL="457200" marR="0" rtl="0" algn="ctr">
              <a:spcBef>
                <a:spcPts val="560"/>
              </a:spcBef>
              <a:spcAft>
                <a:spcPts val="0"/>
              </a:spcAft>
              <a:buClr>
                <a:srgbClr val="888888"/>
              </a:buClr>
              <a:buFont typeface="Arial"/>
              <a:buNone/>
              <a:defRPr b="0" i="0" sz="2800" u="none" cap="none" strike="noStrike">
                <a:solidFill>
                  <a:srgbClr val="888888"/>
                </a:solidFill>
                <a:latin typeface="Calibri"/>
                <a:ea typeface="Calibri"/>
                <a:cs typeface="Calibri"/>
                <a:sym typeface="Calibri"/>
              </a:defRPr>
            </a:lvl2pPr>
            <a:lvl3pPr indent="0" lvl="2" marL="914400" marR="0" rtl="0" algn="ctr">
              <a:spcBef>
                <a:spcPts val="480"/>
              </a:spcBef>
              <a:spcAft>
                <a:spcPts val="0"/>
              </a:spcAft>
              <a:buClr>
                <a:srgbClr val="888888"/>
              </a:buClr>
              <a:buFont typeface="Arial"/>
              <a:buNone/>
              <a:defRPr b="0" i="0" sz="2400" u="none" cap="none" strike="noStrike">
                <a:solidFill>
                  <a:srgbClr val="888888"/>
                </a:solidFill>
                <a:latin typeface="Calibri"/>
                <a:ea typeface="Calibri"/>
                <a:cs typeface="Calibri"/>
                <a:sym typeface="Calibri"/>
              </a:defRPr>
            </a:lvl3pPr>
            <a:lvl4pPr indent="0" lvl="3" marL="1371600" marR="0" rtl="0" algn="ctr">
              <a:spcBef>
                <a:spcPts val="400"/>
              </a:spcBef>
              <a:spcAft>
                <a:spcPts val="0"/>
              </a:spcAft>
              <a:buClr>
                <a:srgbClr val="888888"/>
              </a:buClr>
              <a:buFont typeface="Arial"/>
              <a:buNone/>
              <a:defRPr b="0" i="0" sz="2000" u="none" cap="none" strike="noStrike">
                <a:solidFill>
                  <a:srgbClr val="888888"/>
                </a:solidFill>
                <a:latin typeface="Calibri"/>
                <a:ea typeface="Calibri"/>
                <a:cs typeface="Calibri"/>
                <a:sym typeface="Calibri"/>
              </a:defRPr>
            </a:lvl4pPr>
            <a:lvl5pPr indent="0" lvl="4" marL="1828800" marR="0" rtl="0" algn="ctr">
              <a:spcBef>
                <a:spcPts val="400"/>
              </a:spcBef>
              <a:spcAft>
                <a:spcPts val="0"/>
              </a:spcAft>
              <a:buClr>
                <a:srgbClr val="888888"/>
              </a:buClr>
              <a:buFont typeface="Arial"/>
              <a:buNone/>
              <a:defRPr b="0" i="0" sz="2000" u="none" cap="none" strike="noStrike">
                <a:solidFill>
                  <a:srgbClr val="888888"/>
                </a:solidFill>
                <a:latin typeface="Calibri"/>
                <a:ea typeface="Calibri"/>
                <a:cs typeface="Calibri"/>
                <a:sym typeface="Calibri"/>
              </a:defRPr>
            </a:lvl5pPr>
            <a:lvl6pPr indent="0" lvl="5" marL="22860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buClr>
                <a:srgbClr val="888888"/>
              </a:buClr>
              <a:buFont typeface="Arial"/>
              <a:buNone/>
              <a:defRPr b="0" i="0" sz="2000" u="none" cap="none" strike="noStrike">
                <a:solidFill>
                  <a:srgbClr val="888888"/>
                </a:solidFill>
                <a:latin typeface="Calibri"/>
                <a:ea typeface="Calibri"/>
                <a:cs typeface="Calibri"/>
                <a:sym typeface="Calibri"/>
              </a:defRPr>
            </a:lvl9pPr>
          </a:lstStyle>
          <a:p/>
        </p:txBody>
      </p:sp>
      <p:sp>
        <p:nvSpPr>
          <p:cNvPr id="87" name="Shape 87"/>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spcBef>
                <a:spcPts val="0"/>
              </a:spcBef>
              <a:defRPr b="0" i="0" sz="1200" u="none" cap="none" strike="noStrike">
                <a:solidFill>
                  <a:srgbClr val="898989"/>
                </a:solidFill>
                <a:latin typeface="Calibri"/>
                <a:ea typeface="Calibri"/>
                <a:cs typeface="Calibri"/>
                <a:sym typeface="Calibri"/>
              </a:defRPr>
            </a:lvl1pPr>
            <a:lvl2pPr indent="0" lvl="1" marL="0" marR="0" rtl="0" algn="l">
              <a:spcBef>
                <a:spcPts val="0"/>
              </a:spcBef>
              <a:defRPr/>
            </a:lvl2pPr>
            <a:lvl3pPr indent="0" lvl="2" marL="0" marR="0" rtl="0" algn="l">
              <a:spcBef>
                <a:spcPts val="0"/>
              </a:spcBef>
              <a:defRPr/>
            </a:lvl3pPr>
            <a:lvl4pPr indent="0" lvl="3" marL="0" marR="0" rtl="0" algn="l">
              <a:spcBef>
                <a:spcPts val="0"/>
              </a:spcBef>
              <a:defRPr/>
            </a:lvl4pPr>
            <a:lvl5pPr indent="0" lvl="4" marL="0" marR="0" rtl="0" algn="l">
              <a:spcBef>
                <a:spcPts val="0"/>
              </a:spcBef>
              <a:defRPr/>
            </a:lvl5pPr>
            <a:lvl6pPr indent="0" lvl="5" marL="0" marR="0" rtl="0" algn="l">
              <a:spcBef>
                <a:spcPts val="0"/>
              </a:spcBef>
              <a:defRPr/>
            </a:lvl6pPr>
            <a:lvl7pPr indent="0" lvl="6" marL="0" marR="0" rtl="0" algn="l">
              <a:spcBef>
                <a:spcPts val="0"/>
              </a:spcBef>
              <a:defRPr/>
            </a:lvl7pPr>
            <a:lvl8pPr indent="0" lvl="7" marL="0" marR="0" rtl="0" algn="l">
              <a:spcBef>
                <a:spcPts val="0"/>
              </a:spcBef>
              <a:defRPr/>
            </a:lvl8pPr>
            <a:lvl9pPr indent="0" lvl="8" marL="0" marR="0" rtl="0" algn="l">
              <a:spcBef>
                <a:spcPts val="0"/>
              </a:spcBef>
              <a:defRPr/>
            </a:lvl9pPr>
          </a:lstStyle>
          <a:p/>
        </p:txBody>
      </p:sp>
      <p:sp>
        <p:nvSpPr>
          <p:cNvPr id="88" name="Shape 88"/>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9" name="Shape 89"/>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lvl="0" marL="0" marR="0" rtl="0" algn="ctr">
              <a:spcBef>
                <a:spcPts val="0"/>
              </a:spcBef>
              <a:spcAft>
                <a:spcPts val="0"/>
              </a:spcAft>
              <a:defRPr b="0" i="0" sz="4400" u="none" cap="none" strike="noStrike">
                <a:solidFill>
                  <a:schemeClr val="dk1"/>
                </a:solidFill>
                <a:latin typeface="Calibri"/>
                <a:ea typeface="Calibri"/>
                <a:cs typeface="Calibri"/>
                <a:sym typeface="Calibri"/>
              </a:defRPr>
            </a:lvl1pPr>
            <a:lvl2pPr indent="0" lvl="1" marL="0" marR="0" rtl="0" algn="ctr">
              <a:spcBef>
                <a:spcPts val="0"/>
              </a:spcBef>
              <a:spcAft>
                <a:spcPts val="0"/>
              </a:spcAft>
              <a:defRPr b="0" i="0" sz="4400" u="none" cap="none" strike="noStrike">
                <a:solidFill>
                  <a:schemeClr val="dk1"/>
                </a:solidFill>
                <a:latin typeface="Calibri"/>
                <a:ea typeface="Calibri"/>
                <a:cs typeface="Calibri"/>
                <a:sym typeface="Calibri"/>
              </a:defRPr>
            </a:lvl2pPr>
            <a:lvl3pPr indent="0" lvl="2" marL="0" marR="0" rtl="0" algn="ctr">
              <a:spcBef>
                <a:spcPts val="0"/>
              </a:spcBef>
              <a:spcAft>
                <a:spcPts val="0"/>
              </a:spcAft>
              <a:defRPr b="0" i="0" sz="4400" u="none" cap="none" strike="noStrike">
                <a:solidFill>
                  <a:schemeClr val="dk1"/>
                </a:solidFill>
                <a:latin typeface="Calibri"/>
                <a:ea typeface="Calibri"/>
                <a:cs typeface="Calibri"/>
                <a:sym typeface="Calibri"/>
              </a:defRPr>
            </a:lvl3pPr>
            <a:lvl4pPr indent="0" lvl="3" marL="0" marR="0" rtl="0" algn="ctr">
              <a:spcBef>
                <a:spcPts val="0"/>
              </a:spcBef>
              <a:spcAft>
                <a:spcPts val="0"/>
              </a:spcAft>
              <a:defRPr b="0" i="0" sz="4400" u="none" cap="none" strike="noStrike">
                <a:solidFill>
                  <a:schemeClr val="dk1"/>
                </a:solidFill>
                <a:latin typeface="Calibri"/>
                <a:ea typeface="Calibri"/>
                <a:cs typeface="Calibri"/>
                <a:sym typeface="Calibri"/>
              </a:defRPr>
            </a:lvl4pPr>
            <a:lvl5pPr indent="0" lvl="4" marL="0" marR="0" rtl="0" algn="ctr">
              <a:spcBef>
                <a:spcPts val="0"/>
              </a:spcBef>
              <a:spcAft>
                <a:spcPts val="0"/>
              </a:spcAft>
              <a:defRPr b="0" i="0" sz="4400" u="none" cap="none" strike="noStrike">
                <a:solidFill>
                  <a:schemeClr val="dk1"/>
                </a:solidFill>
                <a:latin typeface="Calibri"/>
                <a:ea typeface="Calibri"/>
                <a:cs typeface="Calibri"/>
                <a:sym typeface="Calibri"/>
              </a:defRPr>
            </a:lvl5pPr>
            <a:lvl6pPr indent="0" lvl="5" marL="457200" marR="0" rtl="0" algn="ctr">
              <a:spcBef>
                <a:spcPts val="0"/>
              </a:spcBef>
              <a:spcAft>
                <a:spcPts val="0"/>
              </a:spcAft>
              <a:defRPr b="0" i="0" sz="4400" u="none" cap="none" strike="noStrike">
                <a:solidFill>
                  <a:schemeClr val="dk1"/>
                </a:solidFill>
                <a:latin typeface="Calibri"/>
                <a:ea typeface="Calibri"/>
                <a:cs typeface="Calibri"/>
                <a:sym typeface="Calibri"/>
              </a:defRPr>
            </a:lvl6pPr>
            <a:lvl7pPr indent="0" lvl="6" marL="914400" marR="0" rtl="0" algn="ctr">
              <a:spcBef>
                <a:spcPts val="0"/>
              </a:spcBef>
              <a:spcAft>
                <a:spcPts val="0"/>
              </a:spcAft>
              <a:defRPr b="0" i="0" sz="4400" u="none" cap="none" strike="noStrike">
                <a:solidFill>
                  <a:schemeClr val="dk1"/>
                </a:solidFill>
                <a:latin typeface="Calibri"/>
                <a:ea typeface="Calibri"/>
                <a:cs typeface="Calibri"/>
                <a:sym typeface="Calibri"/>
              </a:defRPr>
            </a:lvl7pPr>
            <a:lvl8pPr indent="0" lvl="7" marL="1371600" marR="0" rtl="0" algn="ctr">
              <a:spcBef>
                <a:spcPts val="0"/>
              </a:spcBef>
              <a:spcAft>
                <a:spcPts val="0"/>
              </a:spcAft>
              <a:defRPr b="0" i="0" sz="4400" u="none" cap="none" strike="noStrike">
                <a:solidFill>
                  <a:schemeClr val="dk1"/>
                </a:solidFill>
                <a:latin typeface="Calibri"/>
                <a:ea typeface="Calibri"/>
                <a:cs typeface="Calibri"/>
                <a:sym typeface="Calibri"/>
              </a:defRPr>
            </a:lvl8pPr>
            <a:lvl9pPr indent="0" lvl="8" marL="1828800" marR="0" rtl="0" algn="ctr">
              <a:spcBef>
                <a:spcPts val="0"/>
              </a:spcBef>
              <a:spcAft>
                <a:spcPts val="0"/>
              </a:spcAft>
              <a:defRPr b="0" i="0" sz="4400" u="none" cap="none" strike="noStrike">
                <a:solidFill>
                  <a:schemeClr val="dk1"/>
                </a:solidFill>
                <a:latin typeface="Calibri"/>
                <a:ea typeface="Calibri"/>
                <a:cs typeface="Calibri"/>
                <a:sym typeface="Calibri"/>
              </a:defRPr>
            </a:lvl9pPr>
          </a:lstStyle>
          <a:p/>
        </p:txBody>
      </p:sp>
      <p:sp>
        <p:nvSpPr>
          <p:cNvPr id="11" name="Shape 11"/>
          <p:cNvSpPr txBox="1"/>
          <p:nvPr>
            <p:ph idx="1" type="body"/>
          </p:nvPr>
        </p:nvSpPr>
        <p:spPr>
          <a:xfrm>
            <a:off x="457200" y="1600200"/>
            <a:ext cx="8229600" cy="4525961"/>
          </a:xfrm>
          <a:prstGeom prst="rect">
            <a:avLst/>
          </a:prstGeom>
          <a:noFill/>
          <a:ln>
            <a:noFill/>
          </a:ln>
        </p:spPr>
        <p:txBody>
          <a:bodyPr anchorCtr="0" anchor="t" bIns="91425" lIns="91425" rIns="91425" tIns="91425"/>
          <a:lstStyle>
            <a:lvl1pPr indent="-139700" lvl="0" marL="342900" marR="0" rtl="0" algn="l">
              <a:spcBef>
                <a:spcPts val="640"/>
              </a:spcBef>
              <a:spcAft>
                <a:spcPts val="0"/>
              </a:spcAft>
              <a:buClr>
                <a:schemeClr val="dk1"/>
              </a:buClr>
              <a:buFont typeface="Arial"/>
              <a:buChar char="•"/>
              <a:defRPr b="0" i="0" sz="3200" u="none" cap="none" strike="noStrike">
                <a:solidFill>
                  <a:schemeClr val="dk1"/>
                </a:solidFill>
                <a:latin typeface="Calibri"/>
                <a:ea typeface="Calibri"/>
                <a:cs typeface="Calibri"/>
                <a:sym typeface="Calibri"/>
              </a:defRPr>
            </a:lvl1pPr>
            <a:lvl2pPr indent="-107950" lvl="1" marL="742950" marR="0" rtl="0" algn="l">
              <a:spcBef>
                <a:spcPts val="560"/>
              </a:spcBef>
              <a:spcAft>
                <a:spcPts val="0"/>
              </a:spcAft>
              <a:buClr>
                <a:schemeClr val="dk1"/>
              </a:buClr>
              <a:buFont typeface="Arial"/>
              <a:buChar char="–"/>
              <a:defRPr b="0" i="0" sz="2800" u="none" cap="none" strike="noStrike">
                <a:solidFill>
                  <a:schemeClr val="dk1"/>
                </a:solidFill>
                <a:latin typeface="Calibri"/>
                <a:ea typeface="Calibri"/>
                <a:cs typeface="Calibri"/>
                <a:sym typeface="Calibri"/>
              </a:defRPr>
            </a:lvl2pPr>
            <a:lvl3pPr indent="-76200" lvl="2" marL="1143000" marR="0" rtl="0" algn="l">
              <a:spcBef>
                <a:spcPts val="480"/>
              </a:spcBef>
              <a:spcAft>
                <a:spcPts val="0"/>
              </a:spcAft>
              <a:buClr>
                <a:schemeClr val="dk1"/>
              </a:buClr>
              <a:buFont typeface="Arial"/>
              <a:buChar char="•"/>
              <a:defRPr b="0" i="0" sz="2400" u="none" cap="none" strike="noStrike">
                <a:solidFill>
                  <a:schemeClr val="dk1"/>
                </a:solidFill>
                <a:latin typeface="Calibri"/>
                <a:ea typeface="Calibri"/>
                <a:cs typeface="Calibri"/>
                <a:sym typeface="Calibri"/>
              </a:defRPr>
            </a:lvl3pPr>
            <a:lvl4pPr indent="-101600" lvl="3" marL="1600200" marR="0" rtl="0" algn="l">
              <a:spcBef>
                <a:spcPts val="400"/>
              </a:spcBef>
              <a:spcAft>
                <a:spcPts val="0"/>
              </a:spcAft>
              <a:buClr>
                <a:schemeClr val="dk1"/>
              </a:buClr>
              <a:buFont typeface="Arial"/>
              <a:buChar char="–"/>
              <a:defRPr b="0" i="0" sz="2000" u="none" cap="none" strike="noStrike">
                <a:solidFill>
                  <a:schemeClr val="dk1"/>
                </a:solidFill>
                <a:latin typeface="Calibri"/>
                <a:ea typeface="Calibri"/>
                <a:cs typeface="Calibri"/>
                <a:sym typeface="Calibri"/>
              </a:defRPr>
            </a:lvl4pPr>
            <a:lvl5pPr indent="-101600" lvl="4" marL="2057400" marR="0" rtl="0" algn="l">
              <a:spcBef>
                <a:spcPts val="400"/>
              </a:spcBef>
              <a:spcAft>
                <a:spcPts val="0"/>
              </a:spcAft>
              <a:buClr>
                <a:schemeClr val="dk1"/>
              </a:buClr>
              <a:buFont typeface="Arial"/>
              <a:buChar char="»"/>
              <a:defRPr b="0" i="0" sz="2000" u="none" cap="none" strike="noStrike">
                <a:solidFill>
                  <a:schemeClr val="dk1"/>
                </a:solidFill>
                <a:latin typeface="Calibri"/>
                <a:ea typeface="Calibri"/>
                <a:cs typeface="Calibri"/>
                <a:sym typeface="Calibri"/>
              </a:defRPr>
            </a:lvl5pPr>
            <a:lvl6pPr indent="-101600" lvl="5" marL="25146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6pPr>
            <a:lvl7pPr indent="-101600" lvl="6" marL="29718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7pPr>
            <a:lvl8pPr indent="-101600" lvl="7" marL="34290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8pPr>
            <a:lvl9pPr indent="-101600" lvl="8" marL="3886200" marR="0" rtl="0" algn="l">
              <a:spcBef>
                <a:spcPts val="400"/>
              </a:spcBef>
              <a:buClr>
                <a:schemeClr val="dk1"/>
              </a:buClr>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Shape 12"/>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b="0" i="0" sz="1200" u="none" cap="none" strike="noStrike">
                <a:solidFill>
                  <a:srgbClr val="898989"/>
                </a:solidFill>
                <a:latin typeface="Calibri"/>
                <a:ea typeface="Calibri"/>
                <a:cs typeface="Calibri"/>
                <a:sym typeface="Calibri"/>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3" name="Shape 13"/>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1pPr>
            <a:lvl2pPr indent="0" lvl="1" marL="4572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ctr">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4" name="Shape 14"/>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98989"/>
              </a:buClr>
              <a:buSzPct val="25000"/>
              <a:buFont typeface="Calibri"/>
              <a:buNone/>
            </a:pPr>
            <a:fld id="{00000000-1234-1234-1234-123412341234}" type="slidenum">
              <a:rPr b="0" i="0" lang="en-US" sz="1200" u="none" cap="none" strike="noStrike">
                <a:solidFill>
                  <a:srgbClr val="898989"/>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02.jpg"/><Relationship Id="rId6"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01.png"/><Relationship Id="rId4"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01.png"/><Relationship Id="rId4"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05.jpg"/><Relationship Id="rId6" Type="http://schemas.openxmlformats.org/officeDocument/2006/relationships/image" Target="../media/image03.jpg"/><Relationship Id="rId7" Type="http://schemas.openxmlformats.org/officeDocument/2006/relationships/image" Target="../media/image0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01.png"/><Relationship Id="rId4"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13.jpg"/><Relationship Id="rId6" Type="http://schemas.openxmlformats.org/officeDocument/2006/relationships/image" Target="../media/image12.jpg"/></Relationships>
</file>

<file path=ppt/slides/_rels/slide9.xml.rels><?xml version="1.0" encoding="UTF-8" standalone="yes"?><Relationships xmlns="http://schemas.openxmlformats.org/package/2006/relationships"><Relationship Id="rId10" Type="http://schemas.openxmlformats.org/officeDocument/2006/relationships/image" Target="../media/image10.jp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01.png"/><Relationship Id="rId4" Type="http://schemas.openxmlformats.org/officeDocument/2006/relationships/image" Target="../media/image08.png"/><Relationship Id="rId9" Type="http://schemas.openxmlformats.org/officeDocument/2006/relationships/image" Target="../media/image06.jpg"/><Relationship Id="rId5" Type="http://schemas.openxmlformats.org/officeDocument/2006/relationships/image" Target="../media/image00.png"/><Relationship Id="rId6" Type="http://schemas.openxmlformats.org/officeDocument/2006/relationships/image" Target="../media/image14.jpg"/><Relationship Id="rId7" Type="http://schemas.openxmlformats.org/officeDocument/2006/relationships/image" Target="../media/image09.png"/><Relationship Id="rId8" Type="http://schemas.openxmlformats.org/officeDocument/2006/relationships/image" Target="../media/image0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08.png"/><Relationship Id="rId4" Type="http://schemas.openxmlformats.org/officeDocument/2006/relationships/image" Target="../media/image01.png"/><Relationship Id="rId5" Type="http://schemas.openxmlformats.org/officeDocument/2006/relationships/image" Target="../media/image00.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01.png"/><Relationship Id="rId4"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01.png"/><Relationship Id="rId4" Type="http://schemas.openxmlformats.org/officeDocument/2006/relationships/image" Target="../media/image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01.png"/><Relationship Id="rId4" Type="http://schemas.openxmlformats.org/officeDocument/2006/relationships/image" Target="../media/image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01.png"/><Relationship Id="rId4"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01.png"/><Relationship Id="rId4" Type="http://schemas.openxmlformats.org/officeDocument/2006/relationships/image" Target="../media/image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01.png"/><Relationship Id="rId4"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01.png"/><Relationship Id="rId4"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01.png"/><Relationship Id="rId4"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01.png"/><Relationship Id="rId4"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15.jpg"/><Relationship Id="rId6" Type="http://schemas.openxmlformats.org/officeDocument/2006/relationships/image" Target="../media/image18.jpg"/><Relationship Id="rId7" Type="http://schemas.openxmlformats.org/officeDocument/2006/relationships/image" Target="../media/image19.jpg"/><Relationship Id="rId8"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01.png"/><Relationship Id="rId4" Type="http://schemas.openxmlformats.org/officeDocument/2006/relationships/image" Target="../media/image00.png"/><Relationship Id="rId5" Type="http://schemas.openxmlformats.org/officeDocument/2006/relationships/image" Target="../media/image20.jpg"/><Relationship Id="rId6" Type="http://schemas.openxmlformats.org/officeDocument/2006/relationships/image" Target="../media/image2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01.png"/><Relationship Id="rId4"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3" name="Shape 93"/>
        <p:cNvGrpSpPr/>
        <p:nvPr/>
      </p:nvGrpSpPr>
      <p:grpSpPr>
        <a:xfrm>
          <a:off x="0" y="0"/>
          <a:ext cx="0" cy="0"/>
          <a:chOff x="0" y="0"/>
          <a:chExt cx="0" cy="0"/>
        </a:xfrm>
      </p:grpSpPr>
      <p:pic>
        <p:nvPicPr>
          <p:cNvPr id="94" name="Shape 9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95" name="Shape 95"/>
          <p:cNvSpPr txBox="1"/>
          <p:nvPr/>
        </p:nvSpPr>
        <p:spPr>
          <a:xfrm>
            <a:off x="4038600" y="3048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96" name="Shape 9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pic>
        <p:nvPicPr>
          <p:cNvPr id="97" name="Shape 97"/>
          <p:cNvPicPr preferRelativeResize="0"/>
          <p:nvPr/>
        </p:nvPicPr>
        <p:blipFill rotWithShape="1">
          <a:blip r:embed="rId5">
            <a:alphaModFix/>
          </a:blip>
          <a:srcRect b="0" l="0" r="0" t="0"/>
          <a:stretch/>
        </p:blipFill>
        <p:spPr>
          <a:xfrm>
            <a:off x="1516062" y="1981200"/>
            <a:ext cx="2762250" cy="1657350"/>
          </a:xfrm>
          <a:prstGeom prst="rect">
            <a:avLst/>
          </a:prstGeom>
          <a:noFill/>
          <a:ln>
            <a:noFill/>
          </a:ln>
        </p:spPr>
      </p:pic>
      <p:pic>
        <p:nvPicPr>
          <p:cNvPr id="98" name="Shape 98"/>
          <p:cNvPicPr preferRelativeResize="0"/>
          <p:nvPr/>
        </p:nvPicPr>
        <p:blipFill rotWithShape="1">
          <a:blip r:embed="rId6">
            <a:alphaModFix/>
          </a:blip>
          <a:srcRect b="0" l="0" r="0" t="0"/>
          <a:stretch/>
        </p:blipFill>
        <p:spPr>
          <a:xfrm>
            <a:off x="5311775" y="1981200"/>
            <a:ext cx="2068512" cy="1657350"/>
          </a:xfrm>
          <a:prstGeom prst="rect">
            <a:avLst/>
          </a:prstGeom>
          <a:noFill/>
          <a:ln>
            <a:noFill/>
          </a:ln>
        </p:spPr>
      </p:pic>
      <p:sp>
        <p:nvSpPr>
          <p:cNvPr id="99" name="Shape 99"/>
          <p:cNvSpPr txBox="1"/>
          <p:nvPr/>
        </p:nvSpPr>
        <p:spPr>
          <a:xfrm>
            <a:off x="2819400" y="4435475"/>
            <a:ext cx="4548187" cy="457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MONEDA - DINERO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3" name="Shape 103"/>
        <p:cNvGrpSpPr/>
        <p:nvPr/>
      </p:nvGrpSpPr>
      <p:grpSpPr>
        <a:xfrm>
          <a:off x="0" y="0"/>
          <a:ext cx="0" cy="0"/>
          <a:chOff x="0" y="0"/>
          <a:chExt cx="0" cy="0"/>
        </a:xfrm>
      </p:grpSpPr>
      <p:pic>
        <p:nvPicPr>
          <p:cNvPr id="104" name="Shape 10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05" name="Shape 105"/>
          <p:cNvSpPr txBox="1"/>
          <p:nvPr/>
        </p:nvSpPr>
        <p:spPr>
          <a:xfrm>
            <a:off x="2895600" y="304800"/>
            <a:ext cx="6248399" cy="457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CLASE N° 13 MONEDA</a:t>
            </a:r>
          </a:p>
        </p:txBody>
      </p:sp>
      <p:pic>
        <p:nvPicPr>
          <p:cNvPr id="106" name="Shape 106"/>
          <p:cNvPicPr preferRelativeResize="0"/>
          <p:nvPr/>
        </p:nvPicPr>
        <p:blipFill rotWithShape="1">
          <a:blip r:embed="rId4">
            <a:alphaModFix/>
          </a:blip>
          <a:srcRect b="0" l="0" r="0" t="0"/>
          <a:stretch/>
        </p:blipFill>
        <p:spPr>
          <a:xfrm>
            <a:off x="0" y="304800"/>
            <a:ext cx="3013074" cy="608011"/>
          </a:xfrm>
          <a:prstGeom prst="rect">
            <a:avLst/>
          </a:prstGeom>
          <a:noFill/>
          <a:ln>
            <a:noFill/>
          </a:ln>
        </p:spPr>
      </p:pic>
      <p:sp>
        <p:nvSpPr>
          <p:cNvPr id="107" name="Shape 107"/>
          <p:cNvSpPr txBox="1"/>
          <p:nvPr/>
        </p:nvSpPr>
        <p:spPr>
          <a:xfrm>
            <a:off x="304800" y="1371600"/>
            <a:ext cx="8569325" cy="5181600"/>
          </a:xfrm>
          <a:prstGeom prst="rect">
            <a:avLst/>
          </a:prstGeom>
          <a:solidFill>
            <a:srgbClr val="FFFF99"/>
          </a:solidFill>
          <a:ln>
            <a:noFill/>
          </a:ln>
        </p:spPr>
        <p:txBody>
          <a:bodyPr anchorCtr="0" anchor="t" bIns="45700" lIns="91425" rIns="91425" tIns="45700">
            <a:noAutofit/>
          </a:bodyPr>
          <a:lstStyle/>
          <a:p>
            <a:pPr indent="-609600" lvl="0" marL="609600" marR="0" rtl="0" algn="l">
              <a:lnSpc>
                <a:spcPct val="100000"/>
              </a:lnSpc>
              <a:spcBef>
                <a:spcPts val="0"/>
              </a:spcBef>
              <a:spcAft>
                <a:spcPts val="0"/>
              </a:spcAft>
              <a:buClr>
                <a:schemeClr val="dk1"/>
              </a:buClr>
              <a:buSzPct val="25000"/>
              <a:buFont typeface="Calibri"/>
              <a:buNone/>
            </a:pPr>
            <a:r>
              <a:rPr b="1" i="1" lang="en-US" sz="1600" u="none" cap="none" strike="noStrike">
                <a:solidFill>
                  <a:schemeClr val="dk1"/>
                </a:solidFill>
                <a:latin typeface="Calibri"/>
                <a:ea typeface="Calibri"/>
                <a:cs typeface="Calibri"/>
                <a:sym typeface="Calibri"/>
              </a:rPr>
              <a:t>Los objetivos propuestos para la transferencia de conocimientos son:</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Banco Central. Definición, funciones, Balance General.</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Creación del dinero.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Emisión monetaria</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Aumento del dinero bancario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Bancos comerciales.</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Base Monetaria.</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Oferta Monetaria.</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Políticas Monetarias</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Tasa de interés de redescuento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Encaje Bancario.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Mercado abierto.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Crédito selectivo.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Crédito global</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Creación del dinero bancario.</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Medios de pago utilizado en Argentina.</a:t>
            </a:r>
          </a:p>
          <a:p>
            <a:pPr indent="-609600" lvl="0" marL="609600" marR="0" rtl="0" algn="l">
              <a:lnSpc>
                <a:spcPct val="100000"/>
              </a:lnSpc>
              <a:spcBef>
                <a:spcPts val="320"/>
              </a:spcBef>
              <a:spcAft>
                <a:spcPts val="0"/>
              </a:spcAft>
              <a:buClr>
                <a:schemeClr val="dk1"/>
              </a:buClr>
              <a:buSzPct val="100000"/>
              <a:buFont typeface="Arial"/>
              <a:buChar char="•"/>
            </a:pPr>
            <a:r>
              <a:rPr b="0" i="1" lang="en-US" sz="1600" u="none" cap="none" strike="noStrike">
                <a:solidFill>
                  <a:schemeClr val="dk1"/>
                </a:solidFill>
                <a:latin typeface="Calibri"/>
                <a:ea typeface="Calibri"/>
                <a:cs typeface="Calibri"/>
                <a:sym typeface="Calibri"/>
              </a:rPr>
              <a:t>Concepto de cheques.</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1" name="Shape 111"/>
        <p:cNvGrpSpPr/>
        <p:nvPr/>
      </p:nvGrpSpPr>
      <p:grpSpPr>
        <a:xfrm>
          <a:off x="0" y="0"/>
          <a:ext cx="0" cy="0"/>
          <a:chOff x="0" y="0"/>
          <a:chExt cx="0" cy="0"/>
        </a:xfrm>
      </p:grpSpPr>
      <p:pic>
        <p:nvPicPr>
          <p:cNvPr id="112" name="Shape 112"/>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13" name="Shape 113"/>
          <p:cNvSpPr txBox="1"/>
          <p:nvPr/>
        </p:nvSpPr>
        <p:spPr>
          <a:xfrm>
            <a:off x="4062412" y="2286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114" name="Shape 114"/>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15" name="Shape 115"/>
          <p:cNvSpPr txBox="1"/>
          <p:nvPr/>
        </p:nvSpPr>
        <p:spPr>
          <a:xfrm>
            <a:off x="0" y="1371600"/>
            <a:ext cx="9144000" cy="55387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rgbClr val="C00000"/>
              </a:buClr>
              <a:buSzPct val="25000"/>
              <a:buFont typeface="Arial"/>
              <a:buNone/>
            </a:pPr>
            <a:r>
              <a:rPr b="1" i="0" lang="en-US" sz="3600" u="none" cap="none" strike="noStrike">
                <a:solidFill>
                  <a:srgbClr val="C00000"/>
                </a:solidFill>
                <a:latin typeface="Arial"/>
                <a:ea typeface="Arial"/>
                <a:cs typeface="Arial"/>
                <a:sym typeface="Arial"/>
              </a:rPr>
              <a:t>   Banco Central    </a:t>
            </a:r>
            <a:r>
              <a:rPr b="1" i="0" lang="en-US" sz="2200" u="none" cap="none" strike="noStrike">
                <a:solidFill>
                  <a:srgbClr val="C00000"/>
                </a:solidFill>
                <a:latin typeface="Arial"/>
                <a:ea typeface="Arial"/>
                <a:cs typeface="Arial"/>
                <a:sym typeface="Arial"/>
              </a:rPr>
              <a:t>Autónoma, Pública e Independiente</a:t>
            </a:r>
          </a:p>
          <a:p>
            <a:pPr indent="-342900" lvl="0" marL="34290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       El Banco Central de la República Argentina (BCRA) es el organismo rector del sistema financiero de la Argentina, encargado de la política monetaria del país. Según expresa su carta orgánica, es una entidad independiente y autárquica del Gobierno Nacional. Fue creado en 1935, su primer presidente fue Raúl Prebisch.</a:t>
            </a:r>
          </a:p>
          <a:p>
            <a:pPr indent="-342900" lvl="0" marL="342900" marR="0" rtl="0" algn="l">
              <a:lnSpc>
                <a:spcPct val="100000"/>
              </a:lnSpc>
              <a:spcBef>
                <a:spcPts val="0"/>
              </a:spcBef>
              <a:spcAft>
                <a:spcPts val="0"/>
              </a:spcAft>
              <a:buClr>
                <a:schemeClr val="dk1"/>
              </a:buClr>
              <a:buFont typeface="Arial"/>
              <a:buNone/>
            </a:pPr>
            <a:r>
              <a:t/>
            </a:r>
            <a:endParaRPr b="1" i="0" sz="2000" u="sng" cap="none" strike="noStrike">
              <a:solidFill>
                <a:schemeClr val="dk1"/>
              </a:solidFill>
              <a:latin typeface="Arial"/>
              <a:ea typeface="Arial"/>
              <a:cs typeface="Arial"/>
              <a:sym typeface="Arial"/>
            </a:endParaRPr>
          </a:p>
          <a:p>
            <a:pPr indent="-342900" lvl="0" marL="342900" marR="0" rtl="0" algn="l">
              <a:lnSpc>
                <a:spcPct val="100000"/>
              </a:lnSpc>
              <a:spcBef>
                <a:spcPts val="0"/>
              </a:spcBef>
              <a:spcAft>
                <a:spcPts val="0"/>
              </a:spcAft>
              <a:buClr>
                <a:srgbClr val="FF0000"/>
              </a:buClr>
              <a:buSzPct val="25000"/>
              <a:buFont typeface="Arial"/>
              <a:buNone/>
            </a:pPr>
            <a:r>
              <a:rPr b="1" i="0" lang="en-US" sz="2000" u="sng" cap="none" strike="noStrike">
                <a:solidFill>
                  <a:srgbClr val="FF0000"/>
                </a:solidFill>
                <a:latin typeface="Arial"/>
                <a:ea typeface="Arial"/>
                <a:cs typeface="Arial"/>
                <a:sym typeface="Arial"/>
              </a:rPr>
              <a:t>Funciones</a:t>
            </a:r>
          </a:p>
          <a:p>
            <a:pPr indent="-342900" lvl="0" marL="342900" marR="0" rtl="0" algn="l">
              <a:lnSpc>
                <a:spcPct val="150000"/>
              </a:lnSpc>
              <a:spcBef>
                <a:spcPts val="0"/>
              </a:spcBef>
              <a:spcAft>
                <a:spcPts val="0"/>
              </a:spcAft>
              <a:buClr>
                <a:schemeClr val="dk1"/>
              </a:buClr>
              <a:buSzPct val="100000"/>
              <a:buFont typeface="Noto Sans Symbols"/>
              <a:buAutoNum type="arabicPeriod"/>
            </a:pPr>
            <a:r>
              <a:rPr b="0" i="0" lang="en-US" sz="1600" u="none" cap="none" strike="noStrike">
                <a:solidFill>
                  <a:schemeClr val="dk1"/>
                </a:solidFill>
                <a:latin typeface="Arial"/>
                <a:ea typeface="Arial"/>
                <a:cs typeface="Arial"/>
                <a:sym typeface="Arial"/>
              </a:rPr>
              <a:t>Conducir la política monetaria del país influenciando las condiciones monetarias y crediticias.</a:t>
            </a:r>
          </a:p>
          <a:p>
            <a:pPr indent="-342900" lvl="0" marL="342900" marR="0" rtl="0" algn="l">
              <a:lnSpc>
                <a:spcPct val="150000"/>
              </a:lnSpc>
              <a:spcBef>
                <a:spcPts val="0"/>
              </a:spcBef>
              <a:spcAft>
                <a:spcPts val="0"/>
              </a:spcAft>
              <a:buClr>
                <a:schemeClr val="dk1"/>
              </a:buClr>
              <a:buSzPct val="100000"/>
              <a:buFont typeface="Noto Sans Symbols"/>
              <a:buAutoNum type="arabicPeriod"/>
            </a:pPr>
            <a:r>
              <a:rPr b="0" i="0" lang="en-US" sz="1600" u="none" cap="none" strike="noStrike">
                <a:solidFill>
                  <a:schemeClr val="dk1"/>
                </a:solidFill>
                <a:latin typeface="Arial"/>
                <a:ea typeface="Arial"/>
                <a:cs typeface="Arial"/>
                <a:sym typeface="Arial"/>
              </a:rPr>
              <a:t>Supervisar y regular las operaciones bancarias para garantizar la seguridad y solidez del sistema bancario y financiero del país y proteger los derechos crediticios de los consumidores.</a:t>
            </a:r>
          </a:p>
          <a:p>
            <a:pPr indent="-342900" lvl="0" marL="342900" marR="0" rtl="0" algn="l">
              <a:lnSpc>
                <a:spcPct val="150000"/>
              </a:lnSpc>
              <a:spcBef>
                <a:spcPts val="0"/>
              </a:spcBef>
              <a:spcAft>
                <a:spcPts val="0"/>
              </a:spcAft>
              <a:buClr>
                <a:schemeClr val="dk1"/>
              </a:buClr>
              <a:buSzPct val="100000"/>
              <a:buFont typeface="Noto Sans Symbols"/>
              <a:buAutoNum type="arabicPeriod"/>
            </a:pPr>
            <a:r>
              <a:rPr b="0" i="0" lang="en-US" sz="1600" u="none" cap="none" strike="noStrike">
                <a:solidFill>
                  <a:schemeClr val="dk1"/>
                </a:solidFill>
                <a:latin typeface="Arial"/>
                <a:ea typeface="Arial"/>
                <a:cs typeface="Arial"/>
                <a:sym typeface="Arial"/>
              </a:rPr>
              <a:t>Proporcionar ciertos servicios financieros al gobierno, al público y a las instituciones financieras.</a:t>
            </a:r>
          </a:p>
          <a:p>
            <a:pPr indent="-342900" lvl="0" marL="342900" marR="0" rtl="0" algn="l">
              <a:lnSpc>
                <a:spcPct val="150000"/>
              </a:lnSpc>
              <a:spcBef>
                <a:spcPts val="0"/>
              </a:spcBef>
              <a:spcAft>
                <a:spcPts val="0"/>
              </a:spcAft>
              <a:buClr>
                <a:schemeClr val="dk1"/>
              </a:buClr>
              <a:buSzPct val="100000"/>
              <a:buFont typeface="Noto Sans Symbols"/>
              <a:buAutoNum type="arabicPeriod"/>
            </a:pPr>
            <a:r>
              <a:rPr b="0" i="0" lang="en-US" sz="1600" u="none" cap="none" strike="noStrike">
                <a:solidFill>
                  <a:schemeClr val="dk1"/>
                </a:solidFill>
                <a:latin typeface="Arial"/>
                <a:ea typeface="Arial"/>
                <a:cs typeface="Arial"/>
                <a:sym typeface="Arial"/>
              </a:rPr>
              <a:t>Mantener la estabilidad del sistema financiero y contener el riesgo sistémico que puede surgir en los mercados financieros.</a:t>
            </a:r>
          </a:p>
          <a:p>
            <a:pPr indent="-342900" lvl="0" marL="342900" marR="0" rtl="0" algn="l">
              <a:lnSpc>
                <a:spcPct val="150000"/>
              </a:lnSpc>
              <a:spcBef>
                <a:spcPts val="0"/>
              </a:spcBef>
              <a:spcAft>
                <a:spcPts val="0"/>
              </a:spcAft>
              <a:buClr>
                <a:schemeClr val="dk1"/>
              </a:buClr>
              <a:buSzPct val="137500"/>
              <a:buFont typeface="Noto Sans Symbols"/>
              <a:buAutoNum type="arabicPeriod"/>
            </a:pPr>
            <a:r>
              <a:rPr b="0" i="0" lang="en-US" sz="1600" u="none" cap="none" strike="noStrike">
                <a:solidFill>
                  <a:schemeClr val="dk1"/>
                </a:solidFill>
                <a:latin typeface="Arial"/>
                <a:ea typeface="Arial"/>
                <a:cs typeface="Arial"/>
                <a:sym typeface="Arial"/>
              </a:rPr>
              <a:t>Proporcionar estadísticas sobre el funcionamiento del sistema financiero y realizar estudios estadísticos relacionados con el sistema económico y financiero.</a:t>
            </a:r>
            <a:r>
              <a:rPr b="0" i="0" lang="en-US" sz="2200" u="none" cap="none" strike="noStrike">
                <a:solidFill>
                  <a:srgbClr val="FF0000"/>
                </a:solidFill>
                <a:latin typeface="Arial"/>
                <a:ea typeface="Arial"/>
                <a:cs typeface="Arial"/>
                <a:sym typeface="Arial"/>
              </a:rPr>
              <a:t> </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9" name="Shape 119"/>
        <p:cNvGrpSpPr/>
        <p:nvPr/>
      </p:nvGrpSpPr>
      <p:grpSpPr>
        <a:xfrm>
          <a:off x="0" y="0"/>
          <a:ext cx="0" cy="0"/>
          <a:chOff x="0" y="0"/>
          <a:chExt cx="0" cy="0"/>
        </a:xfrm>
      </p:grpSpPr>
      <p:pic>
        <p:nvPicPr>
          <p:cNvPr id="120" name="Shape 120"/>
          <p:cNvPicPr preferRelativeResize="0"/>
          <p:nvPr/>
        </p:nvPicPr>
        <p:blipFill rotWithShape="1">
          <a:blip r:embed="rId3">
            <a:alphaModFix/>
          </a:blip>
          <a:srcRect b="0" l="0" r="0" t="0"/>
          <a:stretch/>
        </p:blipFill>
        <p:spPr>
          <a:xfrm>
            <a:off x="263525" y="838200"/>
            <a:ext cx="8610599" cy="209549"/>
          </a:xfrm>
          <a:prstGeom prst="rect">
            <a:avLst/>
          </a:prstGeom>
          <a:noFill/>
          <a:ln>
            <a:noFill/>
          </a:ln>
        </p:spPr>
      </p:pic>
      <p:sp>
        <p:nvSpPr>
          <p:cNvPr id="121" name="Shape 121"/>
          <p:cNvSpPr txBox="1"/>
          <p:nvPr/>
        </p:nvSpPr>
        <p:spPr>
          <a:xfrm>
            <a:off x="0" y="1066800"/>
            <a:ext cx="9144000" cy="584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1" lang="en-US" sz="2400" u="none" cap="none" strike="noStrike">
                <a:solidFill>
                  <a:srgbClr val="FF0000"/>
                </a:solidFill>
                <a:latin typeface="Arial"/>
                <a:ea typeface="Arial"/>
                <a:cs typeface="Arial"/>
                <a:sym typeface="Arial"/>
              </a:rPr>
              <a:t> </a:t>
            </a:r>
            <a:r>
              <a:rPr b="1" i="0" lang="en-US" sz="3200" u="none" cap="none" strike="noStrike">
                <a:solidFill>
                  <a:srgbClr val="FF0000"/>
                </a:solidFill>
                <a:latin typeface="Arial"/>
                <a:ea typeface="Arial"/>
                <a:cs typeface="Arial"/>
                <a:sym typeface="Arial"/>
              </a:rPr>
              <a:t>Banco Central de la República Argentina</a:t>
            </a:r>
          </a:p>
        </p:txBody>
      </p:sp>
      <p:pic>
        <p:nvPicPr>
          <p:cNvPr id="122" name="Shape 122"/>
          <p:cNvPicPr preferRelativeResize="0"/>
          <p:nvPr/>
        </p:nvPicPr>
        <p:blipFill rotWithShape="1">
          <a:blip r:embed="rId4">
            <a:alphaModFix/>
          </a:blip>
          <a:srcRect b="0" l="0" r="0" t="0"/>
          <a:stretch/>
        </p:blipFill>
        <p:spPr>
          <a:xfrm>
            <a:off x="263525" y="0"/>
            <a:ext cx="3013074" cy="608011"/>
          </a:xfrm>
          <a:prstGeom prst="rect">
            <a:avLst/>
          </a:prstGeom>
          <a:noFill/>
          <a:ln>
            <a:noFill/>
          </a:ln>
        </p:spPr>
      </p:pic>
      <p:sp>
        <p:nvSpPr>
          <p:cNvPr id="123" name="Shape 123"/>
          <p:cNvSpPr txBox="1"/>
          <p:nvPr/>
        </p:nvSpPr>
        <p:spPr>
          <a:xfrm>
            <a:off x="4038600" y="762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124" name="Shape 124"/>
          <p:cNvPicPr preferRelativeResize="0"/>
          <p:nvPr/>
        </p:nvPicPr>
        <p:blipFill rotWithShape="1">
          <a:blip r:embed="rId5">
            <a:alphaModFix/>
          </a:blip>
          <a:srcRect b="0" l="0" r="0" t="0"/>
          <a:stretch/>
        </p:blipFill>
        <p:spPr>
          <a:xfrm>
            <a:off x="2646361" y="1670050"/>
            <a:ext cx="3930649" cy="4962525"/>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25" name="Shape 125"/>
          <p:cNvPicPr preferRelativeResize="0"/>
          <p:nvPr/>
        </p:nvPicPr>
        <p:blipFill rotWithShape="1">
          <a:blip r:embed="rId6">
            <a:alphaModFix/>
          </a:blip>
          <a:srcRect b="0" l="0" r="0" t="0"/>
          <a:stretch/>
        </p:blipFill>
        <p:spPr>
          <a:xfrm>
            <a:off x="5864225" y="4340225"/>
            <a:ext cx="3078162" cy="487679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126" name="Shape 126"/>
          <p:cNvPicPr preferRelativeResize="0"/>
          <p:nvPr/>
        </p:nvPicPr>
        <p:blipFill rotWithShape="1">
          <a:blip r:embed="rId7">
            <a:alphaModFix/>
          </a:blip>
          <a:srcRect b="0" l="0" r="0" t="0"/>
          <a:stretch/>
        </p:blipFill>
        <p:spPr>
          <a:xfrm>
            <a:off x="73025" y="4340225"/>
            <a:ext cx="3078162" cy="4876799"/>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sp>
        <p:nvSpPr>
          <p:cNvPr id="127" name="Shape 127"/>
          <p:cNvSpPr txBox="1"/>
          <p:nvPr/>
        </p:nvSpPr>
        <p:spPr>
          <a:xfrm>
            <a:off x="263525" y="2784475"/>
            <a:ext cx="2403474" cy="15700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0" lang="en-US" sz="3200" u="none" cap="none" strike="noStrike">
                <a:solidFill>
                  <a:srgbClr val="2F8F0D"/>
                </a:solidFill>
                <a:latin typeface="Arial"/>
                <a:ea typeface="Arial"/>
                <a:cs typeface="Arial"/>
                <a:sym typeface="Arial"/>
              </a:rPr>
              <a:t>Reserva Federal de los EEUU </a:t>
            </a:r>
          </a:p>
        </p:txBody>
      </p:sp>
      <p:sp>
        <p:nvSpPr>
          <p:cNvPr id="128" name="Shape 128"/>
          <p:cNvSpPr txBox="1"/>
          <p:nvPr/>
        </p:nvSpPr>
        <p:spPr>
          <a:xfrm>
            <a:off x="6553200" y="2784475"/>
            <a:ext cx="2444750" cy="157003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558ED5"/>
              </a:buClr>
              <a:buSzPct val="25000"/>
              <a:buFont typeface="Arial"/>
              <a:buNone/>
            </a:pPr>
            <a:r>
              <a:rPr b="1" i="0" lang="en-US" sz="3200" u="none" cap="none" strike="noStrike">
                <a:solidFill>
                  <a:srgbClr val="558ED5"/>
                </a:solidFill>
                <a:latin typeface="Arial"/>
                <a:ea typeface="Arial"/>
                <a:cs typeface="Arial"/>
                <a:sym typeface="Arial"/>
              </a:rPr>
              <a:t>Banco Central Europeo</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2" name="Shape 132"/>
        <p:cNvGrpSpPr/>
        <p:nvPr/>
      </p:nvGrpSpPr>
      <p:grpSpPr>
        <a:xfrm>
          <a:off x="0" y="0"/>
          <a:ext cx="0" cy="0"/>
          <a:chOff x="0" y="0"/>
          <a:chExt cx="0" cy="0"/>
        </a:xfrm>
      </p:grpSpPr>
      <p:pic>
        <p:nvPicPr>
          <p:cNvPr id="133" name="Shape 13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34" name="Shape 134"/>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135" name="Shape 13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36" name="Shape 136"/>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137" name="Shape 137"/>
          <p:cNvSpPr txBox="1"/>
          <p:nvPr/>
        </p:nvSpPr>
        <p:spPr>
          <a:xfrm>
            <a:off x="0" y="1295400"/>
            <a:ext cx="9144000" cy="5842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3200" u="none" cap="none" strike="noStrike">
                <a:solidFill>
                  <a:srgbClr val="FF0000"/>
                </a:solidFill>
                <a:latin typeface="Arial"/>
                <a:ea typeface="Arial"/>
                <a:cs typeface="Arial"/>
                <a:sym typeface="Arial"/>
              </a:rPr>
              <a:t>Balance del Banco Central</a:t>
            </a:r>
          </a:p>
        </p:txBody>
      </p:sp>
      <p:sp>
        <p:nvSpPr>
          <p:cNvPr id="138" name="Shape 138"/>
          <p:cNvSpPr txBox="1"/>
          <p:nvPr/>
        </p:nvSpPr>
        <p:spPr>
          <a:xfrm>
            <a:off x="0" y="2209800"/>
            <a:ext cx="4443411" cy="3478212"/>
          </a:xfrm>
          <a:prstGeom prst="rect">
            <a:avLst/>
          </a:prstGeom>
          <a:noFill/>
          <a:ln cap="flat" cmpd="sng" w="22225">
            <a:solidFill>
              <a:srgbClr val="FF4343"/>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ACTIVO</a:t>
            </a:r>
          </a:p>
          <a:p>
            <a:pPr indent="0" lvl="0" marL="0" marR="0" rtl="0" algn="ctr">
              <a:lnSpc>
                <a:spcPct val="100000"/>
              </a:lnSpc>
              <a:spcBef>
                <a:spcPts val="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Reservas de oro y divisas</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Créditos a los bancos comerciales</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Créditos al sector público</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Cartera de títulos de renta fija (Deuda Pública)</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Otros activos (Bienes de uso)</a:t>
            </a:r>
          </a:p>
          <a:p>
            <a:pPr indent="0" lvl="0" marL="0" marR="0" rtl="0" algn="l">
              <a:lnSpc>
                <a:spcPct val="100000"/>
              </a:lnSpc>
              <a:spcBef>
                <a:spcPts val="0"/>
              </a:spcBef>
              <a:spcAft>
                <a:spcPts val="0"/>
              </a:spcAft>
              <a:buClr>
                <a:schemeClr val="dk1"/>
              </a:buClr>
              <a:buFont typeface="Arial"/>
              <a:buNone/>
            </a:pPr>
            <a:r>
              <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p:txBody>
      </p:sp>
      <p:sp>
        <p:nvSpPr>
          <p:cNvPr id="139" name="Shape 139"/>
          <p:cNvSpPr txBox="1"/>
          <p:nvPr/>
        </p:nvSpPr>
        <p:spPr>
          <a:xfrm>
            <a:off x="4495800" y="2209800"/>
            <a:ext cx="4495800" cy="1908174"/>
          </a:xfrm>
          <a:prstGeom prst="rect">
            <a:avLst/>
          </a:prstGeom>
          <a:noFill/>
          <a:ln cap="flat" cmpd="sng" w="22225">
            <a:solidFill>
              <a:srgbClr val="FF4343"/>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PASIVO</a:t>
            </a: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Pasivo monetario (base monetaria)</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Pasivo no monetario (deudas, fondos propios y depósitos del sector público)</a:t>
            </a:r>
          </a:p>
        </p:txBody>
      </p:sp>
      <p:sp>
        <p:nvSpPr>
          <p:cNvPr id="140" name="Shape 140"/>
          <p:cNvSpPr txBox="1"/>
          <p:nvPr/>
        </p:nvSpPr>
        <p:spPr>
          <a:xfrm>
            <a:off x="4495800" y="4087812"/>
            <a:ext cx="4495800" cy="1600199"/>
          </a:xfrm>
          <a:prstGeom prst="rect">
            <a:avLst/>
          </a:prstGeom>
          <a:noFill/>
          <a:ln cap="flat" cmpd="sng" w="22225">
            <a:solidFill>
              <a:srgbClr val="FF4343"/>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PATRIMONIO NETO</a:t>
            </a: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Capital</a:t>
            </a:r>
          </a:p>
          <a:p>
            <a:pPr indent="0" lvl="0" marL="0" marR="0" rtl="0" algn="l">
              <a:lnSpc>
                <a:spcPct val="100000"/>
              </a:lnSpc>
              <a:spcBef>
                <a:spcPts val="0"/>
              </a:spcBef>
              <a:spcAft>
                <a:spcPts val="0"/>
              </a:spcAft>
              <a:buClr>
                <a:srgbClr val="C00000"/>
              </a:buClr>
              <a:buSzPct val="100000"/>
              <a:buFont typeface="Arial"/>
              <a:buChar char="•"/>
            </a:pPr>
            <a:r>
              <a:rPr b="0" i="0" lang="en-US" sz="2000" u="none" cap="none" strike="noStrike">
                <a:solidFill>
                  <a:srgbClr val="C00000"/>
                </a:solidFill>
                <a:latin typeface="Arial"/>
                <a:ea typeface="Arial"/>
                <a:cs typeface="Arial"/>
                <a:sym typeface="Arial"/>
              </a:rPr>
              <a:t>Beneficios acumulados a lo largo del tiempo</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4" name="Shape 144"/>
        <p:cNvGrpSpPr/>
        <p:nvPr/>
      </p:nvGrpSpPr>
      <p:grpSpPr>
        <a:xfrm>
          <a:off x="0" y="0"/>
          <a:ext cx="0" cy="0"/>
          <a:chOff x="0" y="0"/>
          <a:chExt cx="0" cy="0"/>
        </a:xfrm>
      </p:grpSpPr>
      <p:sp>
        <p:nvSpPr>
          <p:cNvPr id="145" name="Shape 145"/>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graphicFrame>
        <p:nvGraphicFramePr>
          <p:cNvPr id="146" name="Shape 146"/>
          <p:cNvGraphicFramePr/>
          <p:nvPr/>
        </p:nvGraphicFramePr>
        <p:xfrm>
          <a:off x="76200" y="76200"/>
          <a:ext cx="3000000" cy="3000000"/>
        </p:xfrm>
        <a:graphic>
          <a:graphicData uri="http://schemas.openxmlformats.org/drawingml/2006/table">
            <a:tbl>
              <a:tblPr>
                <a:noFill/>
                <a:tableStyleId>{72FBA055-E1B7-4798-B34C-DF49207D1479}</a:tableStyleId>
              </a:tblPr>
              <a:tblGrid>
                <a:gridCol w="6513500"/>
                <a:gridCol w="1077900"/>
                <a:gridCol w="1400175"/>
              </a:tblGrid>
              <a:tr h="246050">
                <a:tc>
                  <a:txBody>
                    <a:bodyPr>
                      <a:noAutofit/>
                    </a:bodyPr>
                    <a:lstStyle/>
                    <a:p>
                      <a:pPr indent="0" lvl="0" marL="0" marR="0" rtl="0" algn="ct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                          A  C  T  I  V  O</a:t>
                      </a:r>
                    </a:p>
                  </a:txBody>
                  <a:tcPr marT="0" marB="0" marR="0" marL="0" anchor="b">
                    <a:lnL cap="flat" cmpd="sng" w="9525">
                      <a:solidFill>
                        <a:srgbClr val="000000">
                          <a:alpha val="0"/>
                        </a:srgbClr>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miles de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Parciales $ (miles de)</a:t>
                      </a:r>
                    </a:p>
                  </a:txBody>
                  <a:tcPr marT="0" marB="0" marR="0" marL="0" anchor="b">
                    <a:lnL cap="flat" cmpd="sng" w="12700">
                      <a:solidFill>
                        <a:srgbClr val="000000"/>
                      </a:solidFill>
                      <a:prstDash val="solid"/>
                      <a:round/>
                      <a:headEnd len="med" w="med" type="none"/>
                      <a:tailEnd len="med" w="med" type="none"/>
                    </a:lnL>
                    <a:lnR cap="flat" cmpd="sng" w="9525">
                      <a:solidFill>
                        <a:srgbClr val="000000">
                          <a:alpha val="0"/>
                        </a:srgbClr>
                      </a:solidFill>
                      <a:prstDash val="solid"/>
                      <a:round/>
                      <a:headEnd len="med" w="med" type="none"/>
                      <a:tailEnd len="med" w="med" type="none"/>
                    </a:lnR>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4475">
                <a:tc>
                  <a:txBody>
                    <a:bodyPr>
                      <a:noAutofit/>
                    </a:bodyPr>
                    <a:lstStyle/>
                    <a:p>
                      <a:pPr indent="0" lvl="0" marL="0" marR="0" rtl="0" algn="ctr">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RESERVAS INTERNACIONALES ORO, DIVISAS, COLOCACIONES A PLAZO Y OTROS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310.983.752</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 Oro (Neto de Previsiones)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20.398.247</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63525">
                <a:tc>
                  <a:txBody>
                    <a:bodyPr>
                      <a:noAutofit/>
                    </a:bodyPr>
                    <a:lstStyle/>
                    <a:p>
                      <a:pPr indent="0" lvl="0" marL="0" marR="0" rtl="0" algn="l">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 Divisas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116.913.579</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63525">
                <a:tc>
                  <a:txBody>
                    <a:bodyPr>
                      <a:noAutofit/>
                    </a:bodyPr>
                    <a:lstStyle/>
                    <a:p>
                      <a:pPr indent="0" lvl="0" marL="0" marR="0" rtl="0" algn="l">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 Colocaciones realizables en divisas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173.392.450</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65100">
                <a:tc>
                  <a:txBody>
                    <a:bodyPr>
                      <a:noAutofit/>
                    </a:bodyPr>
                    <a:lstStyle/>
                    <a:p>
                      <a:pPr indent="0" lvl="0" marL="0" marR="0" rtl="0" algn="l">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 Instrumentos Derivados sobre Reservas Internacionales...............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0</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46050">
                <a:tc>
                  <a:txBody>
                    <a:bodyPr>
                      <a:noAutofit/>
                    </a:bodyPr>
                    <a:lstStyle/>
                    <a:p>
                      <a:pPr indent="0" lvl="0" marL="0" marR="0" rtl="0" algn="l">
                        <a:lnSpc>
                          <a:spcPct val="100000"/>
                        </a:lnSpc>
                        <a:spcBef>
                          <a:spcPts val="0"/>
                        </a:spcBef>
                        <a:spcAft>
                          <a:spcPts val="0"/>
                        </a:spcAft>
                        <a:buClr>
                          <a:srgbClr val="FF4343"/>
                        </a:buClr>
                        <a:buSzPct val="25000"/>
                        <a:buFont typeface="Calibri"/>
                        <a:buNone/>
                      </a:pPr>
                      <a:r>
                        <a:rPr b="1" i="0" lang="en-US" sz="900" u="none" cap="none" strike="noStrike">
                          <a:solidFill>
                            <a:srgbClr val="FF4343"/>
                          </a:solidFill>
                          <a:latin typeface="Calibri"/>
                          <a:ea typeface="Calibri"/>
                          <a:cs typeface="Calibri"/>
                          <a:sym typeface="Calibri"/>
                        </a:rPr>
                        <a:t>- Convenios Multilaterales de Crédito..............................................</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279.476</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4343"/>
                        </a:buClr>
                        <a:buSzPct val="25000"/>
                        <a:buFont typeface="Calibri"/>
                        <a:buNone/>
                      </a:pPr>
                      <a:r>
                        <a:rPr b="0" i="0" lang="en-US" sz="900" u="none" cap="none" strike="noStrike">
                          <a:solidFill>
                            <a:srgbClr val="FF4343"/>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TITULOS PUBLICOS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546.832.095</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CARTERA PROPIA DEL BCRA</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63525">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Títulos bajo Ley Extranjera...............................................................</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451.586</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44475">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Títulos bajo Ley Nacional..................................................................</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tcPr>
                </a:tc>
              </a:tr>
              <a:tr h="273050">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Bono Consolidado del Tesoro Nacional 1990...................................</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4.681.902</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63525">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Letras Intransferibles del Tesoro Nacional</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515.653.845</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65100">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Otros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30.726.734</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63525">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Regularización del devengamiento del Bono Consolidado 1990</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-3.853.326</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46050">
                <a:tc>
                  <a:txBody>
                    <a:bodyPr>
                      <a:noAutofit/>
                    </a:bodyPr>
                    <a:lstStyle/>
                    <a:p>
                      <a:pPr indent="0" lvl="0" marL="0" marR="0" rtl="0" algn="l">
                        <a:lnSpc>
                          <a:spcPct val="100000"/>
                        </a:lnSpc>
                        <a:spcBef>
                          <a:spcPts val="0"/>
                        </a:spcBef>
                        <a:spcAft>
                          <a:spcPts val="0"/>
                        </a:spcAft>
                        <a:buClr>
                          <a:srgbClr val="2F8F0D"/>
                        </a:buClr>
                        <a:buSzPct val="25000"/>
                        <a:buFont typeface="Calibri"/>
                        <a:buNone/>
                      </a:pPr>
                      <a:r>
                        <a:rPr b="1" i="0" lang="en-US" sz="900" u="none" cap="none" strike="noStrike">
                          <a:solidFill>
                            <a:srgbClr val="2F8F0D"/>
                          </a:solidFill>
                          <a:latin typeface="Calibri"/>
                          <a:ea typeface="Calibri"/>
                          <a:cs typeface="Calibri"/>
                          <a:sym typeface="Calibri"/>
                        </a:rPr>
                        <a:t> PREVISIÓN POR DESVALORIZACIÓN DE TITULOS PUBLICOS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-828.646</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2F8F0D"/>
                        </a:buClr>
                        <a:buSzPct val="25000"/>
                        <a:buFont typeface="Calibri"/>
                        <a:buNone/>
                      </a:pPr>
                      <a:r>
                        <a:rPr b="0" i="0" lang="en-US" sz="900" u="none" cap="none" strike="noStrike">
                          <a:solidFill>
                            <a:srgbClr val="2F8F0D"/>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ADELANTOS  TRANSITORIOS  AL  GOBIERNO NACIONAL</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282.350.000</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282.350.000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chemeClr val="hlink"/>
                        </a:buClr>
                        <a:buSzPct val="25000"/>
                        <a:buFont typeface="Calibri"/>
                        <a:buNone/>
                      </a:pPr>
                      <a:r>
                        <a:rPr b="1" i="0" lang="en-US" sz="900" u="none" cap="none" strike="noStrike">
                          <a:solidFill>
                            <a:schemeClr val="hlink"/>
                          </a:solidFill>
                          <a:latin typeface="Calibri"/>
                          <a:ea typeface="Calibri"/>
                          <a:cs typeface="Calibri"/>
                          <a:sym typeface="Calibri"/>
                        </a:rPr>
                        <a:t>CREDITOS AL SISTEMA FINANCIERO DEL PAIS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hlink"/>
                        </a:buClr>
                        <a:buSzPct val="25000"/>
                        <a:buFont typeface="Calibri"/>
                        <a:buNone/>
                      </a:pPr>
                      <a:r>
                        <a:rPr b="1" i="0" lang="en-US" sz="900" u="none" cap="none" strike="noStrike">
                          <a:solidFill>
                            <a:schemeClr val="hlink"/>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hlink"/>
                        </a:buClr>
                        <a:buSzPct val="25000"/>
                        <a:buFont typeface="Calibri"/>
                        <a:buNone/>
                      </a:pPr>
                      <a:r>
                        <a:rPr b="0" i="0" lang="en-US" sz="900" u="none" cap="none" strike="noStrike">
                          <a:solidFill>
                            <a:schemeClr val="hlink"/>
                          </a:solidFill>
                          <a:latin typeface="Calibri"/>
                          <a:ea typeface="Calibri"/>
                          <a:cs typeface="Calibri"/>
                          <a:sym typeface="Calibri"/>
                        </a:rPr>
                        <a:t>3.539.115</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chemeClr val="hlink"/>
                        </a:buClr>
                        <a:buSzPct val="25000"/>
                        <a:buFont typeface="Calibri"/>
                        <a:buNone/>
                      </a:pPr>
                      <a:r>
                        <a:rPr b="1" i="0" lang="en-US" sz="900" u="none" cap="none" strike="noStrike">
                          <a:solidFill>
                            <a:schemeClr val="hlink"/>
                          </a:solidFill>
                          <a:latin typeface="Calibri"/>
                          <a:ea typeface="Calibri"/>
                          <a:cs typeface="Calibri"/>
                          <a:sym typeface="Calibri"/>
                        </a:rPr>
                        <a:t>- Entidades financieras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chemeClr val="hlink"/>
                        </a:buClr>
                        <a:buSzPct val="25000"/>
                        <a:buFont typeface="Calibri"/>
                        <a:buNone/>
                      </a:pPr>
                      <a:r>
                        <a:rPr b="0" i="0" lang="en-US" sz="900" u="none" cap="none" strike="noStrike">
                          <a:solidFill>
                            <a:schemeClr val="hlink"/>
                          </a:solidFill>
                          <a:latin typeface="Calibri"/>
                          <a:ea typeface="Calibri"/>
                          <a:cs typeface="Calibri"/>
                          <a:sym typeface="Calibri"/>
                        </a:rPr>
                        <a:t>4.563.276</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chemeClr val="hlink"/>
                        </a:buClr>
                        <a:buSzPct val="25000"/>
                        <a:buFont typeface="Calibri"/>
                        <a:buNone/>
                      </a:pPr>
                      <a:r>
                        <a:rPr b="0" i="0" lang="en-US" sz="900" u="none" cap="none" strike="noStrike">
                          <a:solidFill>
                            <a:schemeClr val="hlink"/>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46050">
                <a:tc>
                  <a:txBody>
                    <a:bodyPr>
                      <a:noAutofit/>
                    </a:bodyPr>
                    <a:lstStyle/>
                    <a:p>
                      <a:pPr indent="0" lvl="0" marL="0" marR="0" rtl="0" algn="l">
                        <a:lnSpc>
                          <a:spcPct val="100000"/>
                        </a:lnSpc>
                        <a:spcBef>
                          <a:spcPts val="0"/>
                        </a:spcBef>
                        <a:spcAft>
                          <a:spcPts val="0"/>
                        </a:spcAft>
                        <a:buClr>
                          <a:schemeClr val="hlink"/>
                        </a:buClr>
                        <a:buSzPct val="25000"/>
                        <a:buFont typeface="Calibri"/>
                        <a:buNone/>
                      </a:pPr>
                      <a:r>
                        <a:rPr b="1" i="0" lang="en-US" sz="900" u="none" cap="none" strike="noStrike">
                          <a:solidFill>
                            <a:schemeClr val="hlink"/>
                          </a:solidFill>
                          <a:latin typeface="Calibri"/>
                          <a:ea typeface="Calibri"/>
                          <a:cs typeface="Calibri"/>
                          <a:sym typeface="Calibri"/>
                        </a:rPr>
                        <a:t>- Previsión por incobrabilidad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hlink"/>
                        </a:buClr>
                        <a:buSzPct val="25000"/>
                        <a:buFont typeface="Calibri"/>
                        <a:buNone/>
                      </a:pPr>
                      <a:r>
                        <a:rPr b="0" i="0" lang="en-US" sz="900" u="none" cap="none" strike="noStrike">
                          <a:solidFill>
                            <a:schemeClr val="hlink"/>
                          </a:solidFill>
                          <a:latin typeface="Calibri"/>
                          <a:ea typeface="Calibri"/>
                          <a:cs typeface="Calibri"/>
                          <a:sym typeface="Calibri"/>
                        </a:rPr>
                        <a:t>-1.024.161</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hlink"/>
                        </a:buClr>
                        <a:buSzPct val="25000"/>
                        <a:buFont typeface="Calibri"/>
                        <a:buNone/>
                      </a:pPr>
                      <a:r>
                        <a:rPr b="0" i="0" lang="en-US" sz="900" u="none" cap="none" strike="noStrike">
                          <a:solidFill>
                            <a:schemeClr val="hlink"/>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APORTES  A  ORGANISMOS INTERNACIONALES POR CUENTA DEL GOB.NAC.Y OTROS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32.512.659</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32.512.659</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DERECHOS PROVENIENTES DE OTROS INSTRUMENTOS FINANCIEROS DERIVADOS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6.712</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6.712</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DERECHOS POR OPERACIONES DE PASES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107.148.510</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107.148.510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OTROS ACTIVOS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5.575.743</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 Activos Diversos...........................................................................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Calibri"/>
                        <a:buNone/>
                      </a:pPr>
                      <a:r>
                        <a:rPr b="0" i="0" lang="en-US" sz="900" u="none" cap="none" strike="noStrike">
                          <a:solidFill>
                            <a:srgbClr val="000000"/>
                          </a:solidFill>
                          <a:latin typeface="Calibri"/>
                          <a:ea typeface="Calibri"/>
                          <a:cs typeface="Calibri"/>
                          <a:sym typeface="Calibri"/>
                        </a:rPr>
                        <a:t>5.575.743</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46050">
                <a:tc>
                  <a:txBody>
                    <a:bodyPr>
                      <a:noAutofit/>
                    </a:bodyPr>
                    <a:lstStyle/>
                    <a:p>
                      <a:pPr indent="0" lvl="0" marL="0" marR="0" rtl="0" algn="l">
                        <a:lnSpc>
                          <a:spcPct val="100000"/>
                        </a:lnSpc>
                        <a:spcBef>
                          <a:spcPts val="0"/>
                        </a:spcBef>
                        <a:spcAft>
                          <a:spcPts val="0"/>
                        </a:spcAft>
                        <a:buClr>
                          <a:srgbClr val="000000"/>
                        </a:buClr>
                        <a:buSzPct val="25000"/>
                        <a:buFont typeface="Calibri"/>
                        <a:buNone/>
                      </a:pPr>
                      <a:r>
                        <a:rPr b="1" i="0" lang="en-US" sz="900" u="none" cap="none" strike="noStrike">
                          <a:solidFill>
                            <a:srgbClr val="000000"/>
                          </a:solidFill>
                          <a:latin typeface="Calibri"/>
                          <a:ea typeface="Calibri"/>
                          <a:cs typeface="Calibri"/>
                          <a:sym typeface="Calibri"/>
                        </a:rPr>
                        <a:t>TOTAL DEL ACTIVO </a:t>
                      </a:r>
                    </a:p>
                  </a:txBody>
                  <a:tcPr marT="0" marB="0" marR="0" marL="0" anchor="b">
                    <a:lnL cap="flat" cmpd="sng" w="9525">
                      <a:solidFill>
                        <a:srgbClr val="000000">
                          <a:alpha val="0"/>
                        </a:srgbClr>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9525">
                      <a:solidFill>
                        <a:srgbClr val="000000">
                          <a:alpha val="0"/>
                        </a:srgbClr>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1.288.948.586</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9525">
                      <a:solidFill>
                        <a:srgbClr val="000000">
                          <a:alpha val="0"/>
                        </a:srgbClr>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Calibri"/>
                        <a:buNone/>
                      </a:pPr>
                      <a:r>
                        <a:rPr b="0" i="0" lang="en-US" sz="900" u="none" cap="none" strike="noStrike">
                          <a:solidFill>
                            <a:schemeClr val="dk1"/>
                          </a:solidFill>
                          <a:latin typeface="Calibri"/>
                          <a:ea typeface="Calibri"/>
                          <a:cs typeface="Calibri"/>
                          <a:sym typeface="Calibri"/>
                        </a:rPr>
                        <a:t>1.288.948.586</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9525">
                      <a:solidFill>
                        <a:srgbClr val="000000">
                          <a:alpha val="0"/>
                        </a:srgbClr>
                      </a:solidFill>
                      <a:prstDash val="solid"/>
                      <a:round/>
                      <a:headEnd len="med" w="med" type="none"/>
                      <a:tailEnd len="med" w="med" type="none"/>
                    </a:lnB>
                  </a:tcPr>
                </a:tc>
              </a:tr>
            </a:tbl>
          </a:graphicData>
        </a:graphic>
      </p:graphicFrame>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0" name="Shape 150"/>
        <p:cNvGrpSpPr/>
        <p:nvPr/>
      </p:nvGrpSpPr>
      <p:grpSpPr>
        <a:xfrm>
          <a:off x="0" y="0"/>
          <a:ext cx="0" cy="0"/>
          <a:chOff x="0" y="0"/>
          <a:chExt cx="0" cy="0"/>
        </a:xfrm>
      </p:grpSpPr>
      <p:sp>
        <p:nvSpPr>
          <p:cNvPr id="151" name="Shape 151"/>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graphicFrame>
        <p:nvGraphicFramePr>
          <p:cNvPr id="152" name="Shape 152"/>
          <p:cNvGraphicFramePr/>
          <p:nvPr/>
        </p:nvGraphicFramePr>
        <p:xfrm>
          <a:off x="0" y="76200"/>
          <a:ext cx="3000000" cy="3000000"/>
        </p:xfrm>
        <a:graphic>
          <a:graphicData uri="http://schemas.openxmlformats.org/drawingml/2006/table">
            <a:tbl>
              <a:tblPr>
                <a:noFill/>
                <a:tableStyleId>{72FBA055-E1B7-4798-B34C-DF49207D1479}</a:tableStyleId>
              </a:tblPr>
              <a:tblGrid>
                <a:gridCol w="5257800"/>
                <a:gridCol w="2368550"/>
                <a:gridCol w="1365250"/>
              </a:tblGrid>
              <a:tr h="212725">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                           P  A  S  I  V  O</a:t>
                      </a:r>
                    </a:p>
                  </a:txBody>
                  <a:tcPr marT="0" marB="0" marR="0" marL="0" anchor="b">
                    <a:lnL cap="flat" cmpd="sng" w="9525">
                      <a:solidFill>
                        <a:srgbClr val="000000">
                          <a:alpha val="0"/>
                        </a:srgbClr>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L cap="flat" cmpd="sng" w="12700">
                      <a:solidFill>
                        <a:srgbClr val="000000"/>
                      </a:solidFill>
                      <a:prstDash val="solid"/>
                      <a:round/>
                      <a:headEnd len="med" w="med" type="none"/>
                      <a:tailEnd len="med" w="med" type="none"/>
                    </a:lnL>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lnT cap="flat" cmpd="sng" w="9525">
                      <a:solidFill>
                        <a:srgbClr val="000000">
                          <a:alpha val="0"/>
                        </a:srgbClr>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BASE MONETARIA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532.661.669,00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 Circulación Monetaria.......................................................................</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12725">
                <a:tc>
                  <a:txBody>
                    <a:bodyPr>
                      <a:noAutofit/>
                    </a:bodyPr>
                    <a:lstStyle/>
                    <a:p>
                      <a:pPr indent="0" lvl="0" marL="0" marR="0" rtl="0" algn="l">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     Billetes y Monedas en Circulación.................................................</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412.175.946</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12725">
                <a:tc>
                  <a:txBody>
                    <a:bodyPr>
                      <a:noAutofit/>
                    </a:bodyPr>
                    <a:lstStyle/>
                    <a:p>
                      <a:pPr indent="0" lvl="0" marL="0" marR="0" rtl="0" algn="l">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     Cheques Cancelatorios en pesos en Circulación............................</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3.118</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12725">
                <a:tc>
                  <a:txBody>
                    <a:bodyPr>
                      <a:noAutofit/>
                    </a:bodyPr>
                    <a:lstStyle/>
                    <a:p>
                      <a:pPr indent="0" lvl="0" marL="0" marR="0" rtl="0" algn="l">
                        <a:lnSpc>
                          <a:spcPct val="100000"/>
                        </a:lnSpc>
                        <a:spcBef>
                          <a:spcPts val="0"/>
                        </a:spcBef>
                        <a:spcAft>
                          <a:spcPts val="0"/>
                        </a:spcAft>
                        <a:buClr>
                          <a:schemeClr val="dk2"/>
                        </a:buClr>
                        <a:buSzPct val="25000"/>
                        <a:buFont typeface="Arial"/>
                        <a:buNone/>
                      </a:pPr>
                      <a:r>
                        <a:rPr b="1" i="0" lang="en-US" sz="800" u="none" cap="none" strike="noStrike">
                          <a:solidFill>
                            <a:schemeClr val="dk2"/>
                          </a:solidFill>
                          <a:latin typeface="Arial"/>
                          <a:ea typeface="Arial"/>
                          <a:cs typeface="Arial"/>
                          <a:sym typeface="Arial"/>
                        </a:rPr>
                        <a:t>- Cuentas Corrientes en Pesos............................................................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120.482.605</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2"/>
                        </a:buClr>
                        <a:buSzPct val="25000"/>
                        <a:buFont typeface="Arial"/>
                        <a:buNone/>
                      </a:pPr>
                      <a:r>
                        <a:rPr b="0" i="0" lang="en-US" sz="800" u="none" cap="none" strike="noStrike">
                          <a:solidFill>
                            <a:schemeClr val="dk2"/>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MEDIOS DE PAGO EN OTRAS MONEDAS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4.854.375,00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 Cheques Cancelatorios en otras monedas en Circulación................</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185</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 Certificados de Depósito para la Inversión.......................................</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4.854.190</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CUENTAS CORRIENTES EN OTRAS MONEDAS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69.224.448</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69.224.448,00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DEPOSITOS DEL GOBIERNO NACIONAL Y OTROS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5.955.504,00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 Depósitos del Gobierno Nacional................................................</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5.955.504</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OTROS DEPOSITOS VARIOS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1" i="0" lang="en-US" sz="800" u="none" cap="none" strike="noStrike">
                          <a:solidFill>
                            <a:srgbClr val="FF4343"/>
                          </a:solidFill>
                          <a:latin typeface="Arial"/>
                          <a:ea typeface="Arial"/>
                          <a:cs typeface="Arial"/>
                          <a:sym typeface="Arial"/>
                        </a:rPr>
                        <a:t>18.011.426</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4343"/>
                        </a:buClr>
                        <a:buSzPct val="25000"/>
                        <a:buFont typeface="Arial"/>
                        <a:buNone/>
                      </a:pPr>
                      <a:r>
                        <a:rPr b="0" i="0" lang="en-US" sz="800" u="none" cap="none" strike="noStrike">
                          <a:solidFill>
                            <a:srgbClr val="FF4343"/>
                          </a:solidFill>
                          <a:latin typeface="Arial"/>
                          <a:ea typeface="Arial"/>
                          <a:cs typeface="Arial"/>
                          <a:sym typeface="Arial"/>
                        </a:rPr>
                        <a:t>18.011.426,00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2F8F0D"/>
                        </a:buClr>
                        <a:buSzPct val="25000"/>
                        <a:buFont typeface="Arial"/>
                        <a:buNone/>
                      </a:pPr>
                      <a:r>
                        <a:rPr b="1" i="0" lang="en-US" sz="800" u="none" cap="none" strike="noStrike">
                          <a:solidFill>
                            <a:srgbClr val="2F8F0D"/>
                          </a:solidFill>
                          <a:latin typeface="Arial"/>
                          <a:ea typeface="Arial"/>
                          <a:cs typeface="Arial"/>
                          <a:sym typeface="Arial"/>
                        </a:rPr>
                        <a:t>ASIGNACIONES DE DEG</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2F8F0D"/>
                        </a:buClr>
                        <a:buSzPct val="25000"/>
                        <a:buFont typeface="Arial"/>
                        <a:buNone/>
                      </a:pPr>
                      <a:r>
                        <a:rPr b="1" i="0" lang="en-US" sz="800" u="none" cap="none" strike="noStrike">
                          <a:solidFill>
                            <a:srgbClr val="2F8F0D"/>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rgbClr val="2F8F0D"/>
                        </a:buClr>
                        <a:buSzPct val="25000"/>
                        <a:buFont typeface="Arial"/>
                        <a:buNone/>
                      </a:pPr>
                      <a:r>
                        <a:rPr b="0" i="0" lang="en-US" sz="800" u="none" cap="none" strike="noStrike">
                          <a:solidFill>
                            <a:srgbClr val="2F8F0D"/>
                          </a:solidFill>
                          <a:latin typeface="Arial"/>
                          <a:ea typeface="Arial"/>
                          <a:cs typeface="Arial"/>
                          <a:sym typeface="Arial"/>
                        </a:rPr>
                        <a:t>4.129.500,00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22250">
                <a:tc>
                  <a:txBody>
                    <a:bodyPr>
                      <a:noAutofit/>
                    </a:bodyPr>
                    <a:lstStyle/>
                    <a:p>
                      <a:pPr indent="0" lvl="0" marL="0" marR="0" rtl="0" algn="l">
                        <a:lnSpc>
                          <a:spcPct val="100000"/>
                        </a:lnSpc>
                        <a:spcBef>
                          <a:spcPts val="0"/>
                        </a:spcBef>
                        <a:spcAft>
                          <a:spcPts val="0"/>
                        </a:spcAft>
                        <a:buClr>
                          <a:srgbClr val="2F8F0D"/>
                        </a:buClr>
                        <a:buSzPct val="25000"/>
                        <a:buFont typeface="Arial"/>
                        <a:buNone/>
                      </a:pPr>
                      <a:r>
                        <a:rPr b="1" i="0" lang="en-US" sz="800" u="none" cap="none" strike="noStrike">
                          <a:solidFill>
                            <a:srgbClr val="2F8F0D"/>
                          </a:solidFill>
                          <a:latin typeface="Arial"/>
                          <a:ea typeface="Arial"/>
                          <a:cs typeface="Arial"/>
                          <a:sym typeface="Arial"/>
                        </a:rPr>
                        <a:t>- Asignaciones de DEG....................................................................</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2F8F0D"/>
                        </a:buClr>
                        <a:buSzPct val="25000"/>
                        <a:buFont typeface="Arial"/>
                        <a:buNone/>
                      </a:pPr>
                      <a:r>
                        <a:rPr b="0" i="0" lang="en-US" sz="800" u="none" cap="none" strike="noStrike">
                          <a:solidFill>
                            <a:srgbClr val="2F8F0D"/>
                          </a:solidFill>
                          <a:latin typeface="Arial"/>
                          <a:ea typeface="Arial"/>
                          <a:cs typeface="Arial"/>
                          <a:sym typeface="Arial"/>
                        </a:rPr>
                        <a:t>26.201.447</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38125">
                <a:tc>
                  <a:txBody>
                    <a:bodyPr>
                      <a:noAutofit/>
                    </a:bodyPr>
                    <a:lstStyle/>
                    <a:p>
                      <a:pPr indent="0" lvl="0" marL="0" marR="0" rtl="0" algn="l">
                        <a:lnSpc>
                          <a:spcPct val="100000"/>
                        </a:lnSpc>
                        <a:spcBef>
                          <a:spcPts val="0"/>
                        </a:spcBef>
                        <a:spcAft>
                          <a:spcPts val="0"/>
                        </a:spcAft>
                        <a:buClr>
                          <a:srgbClr val="2F8F0D"/>
                        </a:buClr>
                        <a:buSzPct val="25000"/>
                        <a:buFont typeface="Arial"/>
                        <a:buNone/>
                      </a:pPr>
                      <a:r>
                        <a:rPr b="1" i="0" lang="en-US" sz="800" u="none" cap="none" strike="noStrike">
                          <a:solidFill>
                            <a:srgbClr val="2F8F0D"/>
                          </a:solidFill>
                          <a:latin typeface="Arial"/>
                          <a:ea typeface="Arial"/>
                          <a:cs typeface="Arial"/>
                          <a:sym typeface="Arial"/>
                        </a:rPr>
                        <a:t>- Contrapartida de Asignaciones de DEG........................................</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2F8F0D"/>
                        </a:buClr>
                        <a:buSzPct val="25000"/>
                        <a:buFont typeface="Arial"/>
                        <a:buNone/>
                      </a:pPr>
                      <a:r>
                        <a:rPr b="0" i="0" lang="en-US" sz="800" u="none" cap="none" strike="noStrike">
                          <a:solidFill>
                            <a:srgbClr val="2F8F0D"/>
                          </a:solidFill>
                          <a:latin typeface="Arial"/>
                          <a:ea typeface="Arial"/>
                          <a:cs typeface="Arial"/>
                          <a:sym typeface="Arial"/>
                        </a:rPr>
                        <a:t>-22.071.947</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2F8F0D"/>
                        </a:buClr>
                        <a:buSzPct val="25000"/>
                        <a:buFont typeface="Arial"/>
                        <a:buNone/>
                      </a:pPr>
                      <a:r>
                        <a:rPr b="0" i="0" lang="en-US" sz="800" u="none" cap="none" strike="noStrike">
                          <a:solidFill>
                            <a:srgbClr val="2F8F0D"/>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54000">
                <a:tc>
                  <a:txBody>
                    <a:bodyPr>
                      <a:noAutofit/>
                    </a:bodyPr>
                    <a:lstStyle/>
                    <a:p>
                      <a:pPr indent="0" lvl="0" marL="0" marR="0" rtl="0" algn="l">
                        <a:lnSpc>
                          <a:spcPct val="100000"/>
                        </a:lnSpc>
                        <a:spcBef>
                          <a:spcPts val="0"/>
                        </a:spcBef>
                        <a:spcAft>
                          <a:spcPts val="0"/>
                        </a:spcAft>
                        <a:buClr>
                          <a:srgbClr val="FF9900"/>
                        </a:buClr>
                        <a:buSzPct val="25000"/>
                        <a:buFont typeface="Arial"/>
                        <a:buNone/>
                      </a:pPr>
                      <a:r>
                        <a:rPr b="1" i="0" lang="en-US" sz="800" u="none" cap="none" strike="noStrike">
                          <a:solidFill>
                            <a:srgbClr val="FF9900"/>
                          </a:solidFill>
                          <a:latin typeface="Arial"/>
                          <a:ea typeface="Arial"/>
                          <a:cs typeface="Arial"/>
                          <a:sym typeface="Arial"/>
                        </a:rPr>
                        <a:t>OBLIGACIONES CON ORGANISMOS INTERNACIONALES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FF9900"/>
                        </a:buClr>
                        <a:buSzPct val="25000"/>
                        <a:buFont typeface="Arial"/>
                        <a:buNone/>
                      </a:pPr>
                      <a:r>
                        <a:rPr b="1" i="0" lang="en-US" sz="800" u="none" cap="none" strike="noStrike">
                          <a:solidFill>
                            <a:srgbClr val="FF9900"/>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rgbClr val="FF9900"/>
                        </a:buClr>
                        <a:buSzPct val="25000"/>
                        <a:buFont typeface="Arial"/>
                        <a:buNone/>
                      </a:pPr>
                      <a:r>
                        <a:rPr b="0" i="0" lang="en-US" sz="800" u="none" cap="none" strike="noStrike">
                          <a:solidFill>
                            <a:srgbClr val="FF9900"/>
                          </a:solidFill>
                          <a:latin typeface="Arial"/>
                          <a:ea typeface="Arial"/>
                          <a:cs typeface="Arial"/>
                          <a:sym typeface="Arial"/>
                        </a:rPr>
                        <a:t>1.887.369,00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12725">
                <a:tc>
                  <a:txBody>
                    <a:bodyPr>
                      <a:noAutofit/>
                    </a:bodyPr>
                    <a:lstStyle/>
                    <a:p>
                      <a:pPr indent="0" lvl="0" marL="0" marR="0" rtl="0" algn="l">
                        <a:lnSpc>
                          <a:spcPct val="100000"/>
                        </a:lnSpc>
                        <a:spcBef>
                          <a:spcPts val="0"/>
                        </a:spcBef>
                        <a:spcAft>
                          <a:spcPts val="0"/>
                        </a:spcAft>
                        <a:buClr>
                          <a:srgbClr val="FF9900"/>
                        </a:buClr>
                        <a:buSzPct val="25000"/>
                        <a:buFont typeface="Arial"/>
                        <a:buNone/>
                      </a:pPr>
                      <a:r>
                        <a:rPr b="1" i="0" lang="en-US" sz="800" u="none" cap="none" strike="noStrike">
                          <a:solidFill>
                            <a:srgbClr val="FF9900"/>
                          </a:solidFill>
                          <a:latin typeface="Arial"/>
                          <a:ea typeface="Arial"/>
                          <a:cs typeface="Arial"/>
                          <a:sym typeface="Arial"/>
                        </a:rPr>
                        <a:t>- Obligaciones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FF9900"/>
                        </a:buClr>
                        <a:buSzPct val="25000"/>
                        <a:buFont typeface="Arial"/>
                        <a:buNone/>
                      </a:pPr>
                      <a:r>
                        <a:rPr b="0" i="0" lang="en-US" sz="800" u="none" cap="none" strike="noStrike">
                          <a:solidFill>
                            <a:srgbClr val="FF9900"/>
                          </a:solidFill>
                          <a:latin typeface="Arial"/>
                          <a:ea typeface="Arial"/>
                          <a:cs typeface="Arial"/>
                          <a:sym typeface="Arial"/>
                        </a:rPr>
                        <a:t>8.752.677</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12725">
                <a:tc>
                  <a:txBody>
                    <a:bodyPr>
                      <a:noAutofit/>
                    </a:bodyPr>
                    <a:lstStyle/>
                    <a:p>
                      <a:pPr indent="0" lvl="0" marL="0" marR="0" rtl="0" algn="l">
                        <a:lnSpc>
                          <a:spcPct val="100000"/>
                        </a:lnSpc>
                        <a:spcBef>
                          <a:spcPts val="0"/>
                        </a:spcBef>
                        <a:spcAft>
                          <a:spcPts val="0"/>
                        </a:spcAft>
                        <a:buClr>
                          <a:srgbClr val="FF9900"/>
                        </a:buClr>
                        <a:buSzPct val="25000"/>
                        <a:buFont typeface="Arial"/>
                        <a:buNone/>
                      </a:pPr>
                      <a:r>
                        <a:rPr b="1" i="0" lang="en-US" sz="800" u="none" cap="none" strike="noStrike">
                          <a:solidFill>
                            <a:srgbClr val="FF9900"/>
                          </a:solidFill>
                          <a:latin typeface="Arial"/>
                          <a:ea typeface="Arial"/>
                          <a:cs typeface="Arial"/>
                          <a:sym typeface="Arial"/>
                        </a:rPr>
                        <a:t>- Contrapartida del Uso del Tramo de Reservas.............................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FF9900"/>
                        </a:buClr>
                        <a:buSzPct val="25000"/>
                        <a:buFont typeface="Arial"/>
                        <a:buNone/>
                      </a:pPr>
                      <a:r>
                        <a:rPr b="0" i="0" lang="en-US" sz="800" u="none" cap="none" strike="noStrike">
                          <a:solidFill>
                            <a:srgbClr val="FF9900"/>
                          </a:solidFill>
                          <a:latin typeface="Arial"/>
                          <a:ea typeface="Arial"/>
                          <a:cs typeface="Arial"/>
                          <a:sym typeface="Arial"/>
                        </a:rPr>
                        <a:t>-6.865.308</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rgbClr val="FF9900"/>
                        </a:buClr>
                        <a:buSzPct val="25000"/>
                        <a:buFont typeface="Arial"/>
                        <a:buNone/>
                      </a:pPr>
                      <a:r>
                        <a:rPr b="0" i="0" lang="en-US" sz="800" u="none" cap="none" strike="noStrike">
                          <a:solidFill>
                            <a:srgbClr val="FF9900"/>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TITULOS EMITIDOS POR EL B.C.R.A.</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ct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 </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345.630.885,00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41300">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 Letras emitidas en Moneda Extranjera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0" i="0" lang="en-US" sz="800" u="none" cap="none" strike="noStrike">
                          <a:solidFill>
                            <a:srgbClr val="000000"/>
                          </a:solidFill>
                          <a:latin typeface="Arial"/>
                          <a:ea typeface="Arial"/>
                          <a:cs typeface="Arial"/>
                          <a:sym typeface="Arial"/>
                        </a:rPr>
                        <a:t>16.905.583</a:t>
                      </a:r>
                    </a:p>
                  </a:txBody>
                  <a:tcPr marT="0" marB="0" marR="0" marL="0" anchor="b">
                    <a:lnL cap="flat" cmpd="sng" w="12700">
                      <a:solidFill>
                        <a:srgbClr val="000000"/>
                      </a:solidFill>
                      <a:prstDash val="solid"/>
                      <a:round/>
                      <a:headEnd len="med" w="med" type="none"/>
                      <a:tailEnd len="med" w="med" type="none"/>
                    </a:lnL>
                  </a:tcPr>
                </a:tc>
                <a:tc>
                  <a:txBody>
                    <a:bodyPr>
                      <a:noAutofit/>
                    </a:bodyPr>
                    <a:lstStyle/>
                    <a:p>
                      <a:pPr indent="0" lvl="0" marL="0" marR="0" rtl="0" algn="l">
                        <a:spcBef>
                          <a:spcPts val="0"/>
                        </a:spcBef>
                        <a:buSzPct val="25000"/>
                        <a:buNone/>
                      </a:pPr>
                      <a:r>
                        <a:t/>
                      </a:r>
                      <a:endParaRPr sz="1800" u="none" cap="none" strike="noStrike">
                        <a:solidFill>
                          <a:schemeClr val="dk1"/>
                        </a:solidFill>
                        <a:latin typeface="Calibri"/>
                        <a:ea typeface="Calibri"/>
                        <a:cs typeface="Calibri"/>
                        <a:sym typeface="Calibri"/>
                      </a:endParaRPr>
                    </a:p>
                  </a:txBody>
                  <a:tcPr marT="0" marB="0" marR="0" marL="0" anchor="b">
                    <a:lnR cap="flat" cmpd="sng" w="9525">
                      <a:solidFill>
                        <a:srgbClr val="000000">
                          <a:alpha val="0"/>
                        </a:srgbClr>
                      </a:solidFill>
                      <a:prstDash val="solid"/>
                      <a:round/>
                      <a:headEnd len="med" w="med" type="none"/>
                      <a:tailEnd len="med" w="med" type="none"/>
                    </a:lnR>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 Letras emitidas en Moneda Nacional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0" i="0" lang="en-US" sz="800" u="none" cap="none" strike="noStrike">
                          <a:solidFill>
                            <a:srgbClr val="000000"/>
                          </a:solidFill>
                          <a:latin typeface="Arial"/>
                          <a:ea typeface="Arial"/>
                          <a:cs typeface="Arial"/>
                          <a:sym typeface="Arial"/>
                        </a:rPr>
                        <a:t>328.725.302</a:t>
                      </a:r>
                    </a:p>
                  </a:txBody>
                  <a:tcPr marT="0" marB="0" marR="0" marL="0" anchor="b">
                    <a:lnL cap="flat" cmpd="sng" w="12700">
                      <a:solidFill>
                        <a:srgbClr val="000000"/>
                      </a:solidFill>
                      <a:prstDash val="solid"/>
                      <a:round/>
                      <a:headEnd len="med" w="med" type="none"/>
                      <a:tailEnd len="med" w="med" type="none"/>
                    </a:lnL>
                    <a:lnB cap="flat" cmpd="sng" w="12700">
                      <a:solidFill>
                        <a:srgbClr val="000000"/>
                      </a:solidFill>
                      <a:prstDash val="solid"/>
                      <a:round/>
                      <a:headEnd len="med" w="med" type="none"/>
                      <a:tailEnd len="med" w="med" type="none"/>
                    </a:lnB>
                  </a:tcPr>
                </a:tc>
                <a:tc>
                  <a:txBody>
                    <a:bodyPr>
                      <a:noAutofit/>
                    </a:bodyPr>
                    <a:lstStyle/>
                    <a:p>
                      <a:pPr indent="0" lvl="0" marL="0" marR="0" rtl="0" algn="ct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 </a:t>
                      </a:r>
                    </a:p>
                  </a:txBody>
                  <a:tcPr marT="0" marB="0" marR="0" marL="0" anchor="b">
                    <a:lnR cap="flat" cmpd="sng" w="9525">
                      <a:solidFill>
                        <a:srgbClr val="000000">
                          <a:alpha val="0"/>
                        </a:srgbClr>
                      </a:solidFill>
                      <a:prstDash val="solid"/>
                      <a:round/>
                      <a:headEnd len="med" w="med" type="none"/>
                      <a:tailEnd len="med" w="med" type="none"/>
                    </a:lnR>
                    <a:lnB cap="flat" cmpd="sng" w="12700">
                      <a:solidFill>
                        <a:srgbClr val="000000"/>
                      </a:solidFill>
                      <a:prstDash val="solid"/>
                      <a:round/>
                      <a:headEnd len="med" w="med" type="none"/>
                      <a:tailEnd len="med" w="med" type="none"/>
                    </a:lnB>
                  </a:tcPr>
                </a:tc>
              </a:tr>
              <a:tr h="24447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CONTRAPARTIDA DE APORTES DEL GOBIERNO NACIONAL A ORGANISMOS INTERNACIONALES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0" i="0" lang="en-US" sz="800" u="none" cap="none" strike="noStrike">
                          <a:solidFill>
                            <a:srgbClr val="000000"/>
                          </a:solidFill>
                          <a:latin typeface="Arial"/>
                          <a:ea typeface="Arial"/>
                          <a:cs typeface="Arial"/>
                          <a:sym typeface="Arial"/>
                        </a:rPr>
                        <a:t>21.502.612</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21.502.612,00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OBLIGACIONES PROVENIENTES DE OTROS INSTRUMENTOS FINANCIEROS DERIVADOS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0</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0,00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OBLIGACIONES POR OPERACIONES DE PASE</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106.628.625</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106.628.625,00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DEUDAS POR CONVENIOS MULTILATERALES DE CRÉDITO</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339.591</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339.591,00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OTROS PASIVOS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141.922.155</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141.922.155,00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PREVISIONES</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2.071.717</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2.071.717,00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TOTAL DEL PASIVO </a:t>
                      </a:r>
                    </a:p>
                  </a:txBody>
                  <a:tcPr marT="0" marB="0" marR="0" marL="0" anchor="b">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1.254.819.876</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1.254.819.876,00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231775">
                <a:tc>
                  <a:txBody>
                    <a:bodyPr>
                      <a:noAutofit/>
                    </a:bodyPr>
                    <a:lstStyle/>
                    <a:p>
                      <a:pPr indent="0" lvl="0" marL="0" marR="0" rtl="0" algn="l">
                        <a:lnSpc>
                          <a:spcPct val="100000"/>
                        </a:lnSpc>
                        <a:spcBef>
                          <a:spcPts val="0"/>
                        </a:spcBef>
                        <a:spcAft>
                          <a:spcPts val="0"/>
                        </a:spcAft>
                        <a:buClr>
                          <a:schemeClr val="accent2"/>
                        </a:buClr>
                        <a:buSzPct val="25000"/>
                        <a:buFont typeface="Arial"/>
                        <a:buNone/>
                      </a:pPr>
                      <a:r>
                        <a:rPr b="1" i="0" lang="en-US" sz="800" u="none" cap="none" strike="noStrike">
                          <a:solidFill>
                            <a:schemeClr val="accent2"/>
                          </a:solidFill>
                          <a:latin typeface="Arial"/>
                          <a:ea typeface="Arial"/>
                          <a:cs typeface="Arial"/>
                          <a:sym typeface="Arial"/>
                        </a:rPr>
                        <a:t>TOTAL DEL PATRIMONIO NETO </a:t>
                      </a:r>
                    </a:p>
                  </a:txBody>
                  <a:tcPr marT="0" marB="0" marR="0" marL="0" anchor="b">
                    <a:lnL cap="flat" cmpd="sng" w="9525">
                      <a:solidFill>
                        <a:srgbClr val="000000">
                          <a:alpha val="0"/>
                        </a:srgbClr>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chemeClr val="accent2"/>
                        </a:buClr>
                        <a:buSzPct val="25000"/>
                        <a:buFont typeface="Arial"/>
                        <a:buNone/>
                      </a:pPr>
                      <a:r>
                        <a:rPr b="1" i="0" lang="en-US" sz="800" u="none" cap="none" strike="noStrike">
                          <a:solidFill>
                            <a:schemeClr val="accent2"/>
                          </a:solidFill>
                          <a:latin typeface="Arial"/>
                          <a:ea typeface="Arial"/>
                          <a:cs typeface="Arial"/>
                          <a:sym typeface="Arial"/>
                        </a:rPr>
                        <a:t>34.128.710</a:t>
                      </a:r>
                    </a:p>
                  </a:txBody>
                  <a:tcPr marT="0" marB="0" marR="0" marL="0" anchor="b">
                    <a:lnL cap="flat" cmpd="sng" w="12700">
                      <a:solidFill>
                        <a:srgbClr val="000000"/>
                      </a:solidFill>
                      <a:prstDash val="solid"/>
                      <a:round/>
                      <a:headEnd len="med" w="med" type="none"/>
                      <a:tailEnd len="med" w="med" type="none"/>
                    </a:lnL>
                    <a:lnT cap="flat" cmpd="sng" w="12700">
                      <a:solidFill>
                        <a:srgbClr val="000000"/>
                      </a:solidFill>
                      <a:prstDash val="solid"/>
                      <a:round/>
                      <a:headEnd len="med" w="med" type="none"/>
                      <a:tailEnd len="med" w="med" type="none"/>
                    </a:lnT>
                  </a:tcPr>
                </a:tc>
                <a:tc>
                  <a:txBody>
                    <a:bodyPr>
                      <a:noAutofit/>
                    </a:bodyPr>
                    <a:lstStyle/>
                    <a:p>
                      <a:pPr indent="0" lvl="0" marL="0" marR="0" rtl="0" algn="r">
                        <a:lnSpc>
                          <a:spcPct val="100000"/>
                        </a:lnSpc>
                        <a:spcBef>
                          <a:spcPts val="0"/>
                        </a:spcBef>
                        <a:spcAft>
                          <a:spcPts val="0"/>
                        </a:spcAft>
                        <a:buClr>
                          <a:schemeClr val="accent2"/>
                        </a:buClr>
                        <a:buSzPct val="25000"/>
                        <a:buFont typeface="Arial"/>
                        <a:buNone/>
                      </a:pPr>
                      <a:r>
                        <a:rPr b="1" i="0" lang="en-US" sz="800" u="none" cap="none" strike="noStrike">
                          <a:solidFill>
                            <a:schemeClr val="accent2"/>
                          </a:solidFill>
                          <a:latin typeface="Arial"/>
                          <a:ea typeface="Arial"/>
                          <a:cs typeface="Arial"/>
                          <a:sym typeface="Arial"/>
                        </a:rPr>
                        <a:t>34.128.710</a:t>
                      </a:r>
                    </a:p>
                  </a:txBody>
                  <a:tcPr marT="0" marB="0" marR="0" marL="0" anchor="b">
                    <a:lnR cap="flat" cmpd="sng" w="9525">
                      <a:solidFill>
                        <a:srgbClr val="000000">
                          <a:alpha val="0"/>
                        </a:srgbClr>
                      </a:solidFill>
                      <a:prstDash val="solid"/>
                      <a:round/>
                      <a:headEnd len="med" w="med" type="none"/>
                      <a:tailEnd len="med" w="med" type="none"/>
                    </a:lnR>
                    <a:lnT cap="flat" cmpd="sng" w="12700">
                      <a:solidFill>
                        <a:srgbClr val="000000"/>
                      </a:solidFill>
                      <a:prstDash val="solid"/>
                      <a:round/>
                      <a:headEnd len="med" w="med" type="none"/>
                      <a:tailEnd len="med" w="med" type="none"/>
                    </a:lnT>
                  </a:tcPr>
                </a:tc>
              </a:tr>
              <a:tr h="212725">
                <a:tc>
                  <a:txBody>
                    <a:bodyPr>
                      <a:noAutofit/>
                    </a:bodyPr>
                    <a:lstStyle/>
                    <a:p>
                      <a:pPr indent="0" lvl="0" marL="0" marR="0" rtl="0" algn="l">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TOTAL DEL PASIVO + PATRIMONIO NETO </a:t>
                      </a:r>
                    </a:p>
                  </a:txBody>
                  <a:tcPr marT="0" marB="0" marR="0" marL="0" anchor="b">
                    <a:lnL cap="flat" cmpd="sng" w="9525">
                      <a:solidFill>
                        <a:srgbClr val="000000">
                          <a:alpha val="0"/>
                        </a:srgbClr>
                      </a:solidFill>
                      <a:prstDash val="solid"/>
                      <a:round/>
                      <a:headEnd len="med" w="med" type="none"/>
                      <a:tailEnd len="med" w="med" type="none"/>
                    </a:lnL>
                    <a:lnR cap="flat" cmpd="sng" w="12700">
                      <a:solidFill>
                        <a:srgbClr val="000000"/>
                      </a:solidFill>
                      <a:prstDash val="solid"/>
                      <a:round/>
                      <a:headEnd len="med" w="med" type="none"/>
                      <a:tailEnd len="med" w="med" type="none"/>
                    </a:lnR>
                    <a:lnB cap="flat" cmpd="sng" w="9525">
                      <a:solidFill>
                        <a:srgbClr val="000000">
                          <a:alpha val="0"/>
                        </a:srgbClr>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rgbClr val="000000"/>
                        </a:buClr>
                        <a:buSzPct val="25000"/>
                        <a:buFont typeface="Arial"/>
                        <a:buNone/>
                      </a:pPr>
                      <a:r>
                        <a:rPr b="1" i="0" lang="en-US" sz="800" u="none" cap="none" strike="noStrike">
                          <a:solidFill>
                            <a:srgbClr val="000000"/>
                          </a:solidFill>
                          <a:latin typeface="Arial"/>
                          <a:ea typeface="Arial"/>
                          <a:cs typeface="Arial"/>
                          <a:sym typeface="Arial"/>
                        </a:rPr>
                        <a:t>1.288.948.586</a:t>
                      </a:r>
                    </a:p>
                  </a:txBody>
                  <a:tcPr marT="0" marB="0" marR="0" marL="0" anchor="b">
                    <a:lnL cap="flat" cmpd="sng" w="12700">
                      <a:solidFill>
                        <a:srgbClr val="000000"/>
                      </a:solidFill>
                      <a:prstDash val="solid"/>
                      <a:round/>
                      <a:headEnd len="med" w="med" type="none"/>
                      <a:tailEnd len="med" w="med" type="none"/>
                    </a:lnL>
                    <a:lnB cap="flat" cmpd="sng" w="9525">
                      <a:solidFill>
                        <a:srgbClr val="000000">
                          <a:alpha val="0"/>
                        </a:srgbClr>
                      </a:solidFill>
                      <a:prstDash val="solid"/>
                      <a:round/>
                      <a:headEnd len="med" w="med" type="none"/>
                      <a:tailEnd len="med" w="med" type="none"/>
                    </a:lnB>
                  </a:tcPr>
                </a:tc>
                <a:tc>
                  <a:txBody>
                    <a:bodyPr>
                      <a:noAutofit/>
                    </a:bodyPr>
                    <a:lstStyle/>
                    <a:p>
                      <a:pPr indent="0" lvl="0" marL="0" marR="0" rtl="0" algn="r">
                        <a:lnSpc>
                          <a:spcPct val="100000"/>
                        </a:lnSpc>
                        <a:spcBef>
                          <a:spcPts val="0"/>
                        </a:spcBef>
                        <a:spcAft>
                          <a:spcPts val="0"/>
                        </a:spcAft>
                        <a:buClr>
                          <a:schemeClr val="dk1"/>
                        </a:buClr>
                        <a:buSzPct val="25000"/>
                        <a:buFont typeface="Arial"/>
                        <a:buNone/>
                      </a:pPr>
                      <a:r>
                        <a:rPr b="0" i="0" lang="en-US" sz="800" u="none" cap="none" strike="noStrike">
                          <a:solidFill>
                            <a:schemeClr val="dk1"/>
                          </a:solidFill>
                          <a:latin typeface="Arial"/>
                          <a:ea typeface="Arial"/>
                          <a:cs typeface="Arial"/>
                          <a:sym typeface="Arial"/>
                        </a:rPr>
                        <a:t>1.288.948.586,00</a:t>
                      </a:r>
                    </a:p>
                  </a:txBody>
                  <a:tcPr marT="0" marB="0" marR="0" marL="0" anchor="b">
                    <a:lnR cap="flat" cmpd="sng" w="9525">
                      <a:solidFill>
                        <a:srgbClr val="000000">
                          <a:alpha val="0"/>
                        </a:srgbClr>
                      </a:solidFill>
                      <a:prstDash val="solid"/>
                      <a:round/>
                      <a:headEnd len="med" w="med" type="none"/>
                      <a:tailEnd len="med" w="med" type="none"/>
                    </a:lnR>
                    <a:lnB cap="flat" cmpd="sng" w="9525">
                      <a:solidFill>
                        <a:srgbClr val="000000">
                          <a:alpha val="0"/>
                        </a:srgbClr>
                      </a:solidFill>
                      <a:prstDash val="solid"/>
                      <a:round/>
                      <a:headEnd len="med" w="med" type="none"/>
                      <a:tailEnd len="med" w="med" type="none"/>
                    </a:lnB>
                  </a:tcPr>
                </a:tc>
              </a:tr>
            </a:tbl>
          </a:graphicData>
        </a:graphic>
      </p:graphicFrame>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6" name="Shape 156"/>
        <p:cNvGrpSpPr/>
        <p:nvPr/>
      </p:nvGrpSpPr>
      <p:grpSpPr>
        <a:xfrm>
          <a:off x="0" y="0"/>
          <a:ext cx="0" cy="0"/>
          <a:chOff x="0" y="0"/>
          <a:chExt cx="0" cy="0"/>
        </a:xfrm>
      </p:grpSpPr>
      <p:pic>
        <p:nvPicPr>
          <p:cNvPr id="157" name="Shape 15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158" name="Shape 158"/>
          <p:cNvSpPr txBox="1"/>
          <p:nvPr/>
        </p:nvSpPr>
        <p:spPr>
          <a:xfrm>
            <a:off x="4062412" y="2286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159" name="Shape 15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160" name="Shape 160"/>
          <p:cNvSpPr txBox="1"/>
          <p:nvPr/>
        </p:nvSpPr>
        <p:spPr>
          <a:xfrm>
            <a:off x="0" y="1676400"/>
            <a:ext cx="9144000" cy="38163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2200" u="none" cap="none" strike="noStrike">
              <a:solidFill>
                <a:srgbClr val="C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2200" u="none" cap="none" strike="noStrike">
              <a:solidFill>
                <a:srgbClr val="C00000"/>
              </a:solidFill>
              <a:latin typeface="Arial"/>
              <a:ea typeface="Arial"/>
              <a:cs typeface="Arial"/>
              <a:sym typeface="Arial"/>
            </a:endParaRPr>
          </a:p>
        </p:txBody>
      </p:sp>
      <p:sp>
        <p:nvSpPr>
          <p:cNvPr id="161" name="Shape 161"/>
          <p:cNvSpPr txBox="1"/>
          <p:nvPr/>
        </p:nvSpPr>
        <p:spPr>
          <a:xfrm>
            <a:off x="0" y="1573212"/>
            <a:ext cx="9144000" cy="3160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El dinero puede ser creado de dos maneras:</a:t>
            </a:r>
          </a:p>
          <a:p>
            <a:pPr indent="0" lvl="0" marL="0" marR="0" rtl="0" algn="l">
              <a:lnSpc>
                <a:spcPct val="100000"/>
              </a:lnSpc>
              <a:spcBef>
                <a:spcPts val="0"/>
              </a:spcBef>
              <a:spcAft>
                <a:spcPts val="0"/>
              </a:spcAft>
              <a:buClr>
                <a:schemeClr val="dk1"/>
              </a:buClr>
              <a:buFont typeface="Arial"/>
              <a:buNone/>
            </a:pPr>
            <a:r>
              <a:t/>
            </a:r>
            <a:endParaRPr b="1" i="0" sz="5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rgbClr val="FF0000"/>
              </a:buClr>
              <a:buSzPct val="100000"/>
              <a:buFont typeface="Arial"/>
              <a:buChar char="•"/>
            </a:pPr>
            <a:r>
              <a:rPr b="1" i="0" lang="en-US" sz="2800" u="none" cap="none" strike="noStrike">
                <a:solidFill>
                  <a:srgbClr val="FF0000"/>
                </a:solidFill>
                <a:latin typeface="Arial"/>
                <a:ea typeface="Arial"/>
                <a:cs typeface="Arial"/>
                <a:sym typeface="Arial"/>
              </a:rPr>
              <a:t>Por emisión, dispuesta por la entidad autorizada en cada país.</a:t>
            </a:r>
          </a:p>
          <a:p>
            <a:pPr indent="0" lvl="0" marL="0" marR="0" rtl="0" algn="l">
              <a:lnSpc>
                <a:spcPct val="150000"/>
              </a:lnSpc>
              <a:spcBef>
                <a:spcPts val="0"/>
              </a:spcBef>
              <a:spcAft>
                <a:spcPts val="0"/>
              </a:spcAft>
              <a:buClr>
                <a:srgbClr val="FF0000"/>
              </a:buClr>
              <a:buSzPct val="100000"/>
              <a:buFont typeface="Arial"/>
              <a:buChar char="•"/>
            </a:pPr>
            <a:r>
              <a:rPr b="1" i="0" lang="en-US" sz="2800" u="none" cap="none" strike="noStrike">
                <a:solidFill>
                  <a:srgbClr val="FF0000"/>
                </a:solidFill>
                <a:latin typeface="Arial"/>
                <a:ea typeface="Arial"/>
                <a:cs typeface="Arial"/>
                <a:sym typeface="Arial"/>
              </a:rPr>
              <a:t>Por los créditos que otorgan las entidades financieras.</a:t>
            </a:r>
          </a:p>
        </p:txBody>
      </p:sp>
      <p:pic>
        <p:nvPicPr>
          <p:cNvPr id="162" name="Shape 162"/>
          <p:cNvPicPr preferRelativeResize="0"/>
          <p:nvPr/>
        </p:nvPicPr>
        <p:blipFill rotWithShape="1">
          <a:blip r:embed="rId5">
            <a:alphaModFix/>
          </a:blip>
          <a:srcRect b="0" l="0" r="0" t="0"/>
          <a:stretch/>
        </p:blipFill>
        <p:spPr>
          <a:xfrm>
            <a:off x="530225" y="4816475"/>
            <a:ext cx="3822700" cy="2047874"/>
          </a:xfrm>
          <a:prstGeom prst="rect">
            <a:avLst/>
          </a:prstGeom>
          <a:noFill/>
          <a:ln>
            <a:noFill/>
          </a:ln>
        </p:spPr>
      </p:pic>
      <p:pic>
        <p:nvPicPr>
          <p:cNvPr id="163" name="Shape 163"/>
          <p:cNvPicPr preferRelativeResize="0"/>
          <p:nvPr/>
        </p:nvPicPr>
        <p:blipFill rotWithShape="1">
          <a:blip r:embed="rId6">
            <a:alphaModFix/>
          </a:blip>
          <a:srcRect b="0" l="0" r="0" t="0"/>
          <a:stretch/>
        </p:blipFill>
        <p:spPr>
          <a:xfrm>
            <a:off x="4956175" y="4479925"/>
            <a:ext cx="3663950" cy="2384424"/>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67" name="Shape 167"/>
        <p:cNvGrpSpPr/>
        <p:nvPr/>
      </p:nvGrpSpPr>
      <p:grpSpPr>
        <a:xfrm>
          <a:off x="0" y="0"/>
          <a:ext cx="0" cy="0"/>
          <a:chOff x="0" y="0"/>
          <a:chExt cx="0" cy="0"/>
        </a:xfrm>
      </p:grpSpPr>
      <p:pic>
        <p:nvPicPr>
          <p:cNvPr id="168" name="Shape 16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169" name="Shape 169"/>
          <p:cNvPicPr preferRelativeResize="0"/>
          <p:nvPr/>
        </p:nvPicPr>
        <p:blipFill rotWithShape="1">
          <a:blip r:embed="rId4">
            <a:alphaModFix/>
          </a:blip>
          <a:srcRect b="0" l="0" r="0" t="0"/>
          <a:stretch/>
        </p:blipFill>
        <p:spPr>
          <a:xfrm>
            <a:off x="263525" y="1382712"/>
            <a:ext cx="8626474" cy="5114925"/>
          </a:xfrm>
          <a:prstGeom prst="rect">
            <a:avLst/>
          </a:prstGeom>
          <a:noFill/>
          <a:ln>
            <a:noFill/>
          </a:ln>
        </p:spPr>
      </p:pic>
      <p:pic>
        <p:nvPicPr>
          <p:cNvPr id="170" name="Shape 170"/>
          <p:cNvPicPr preferRelativeResize="0"/>
          <p:nvPr/>
        </p:nvPicPr>
        <p:blipFill rotWithShape="1">
          <a:blip r:embed="rId5">
            <a:alphaModFix/>
          </a:blip>
          <a:srcRect b="0" l="0" r="0" t="0"/>
          <a:stretch/>
        </p:blipFill>
        <p:spPr>
          <a:xfrm>
            <a:off x="263525" y="152400"/>
            <a:ext cx="3013074" cy="608011"/>
          </a:xfrm>
          <a:prstGeom prst="rect">
            <a:avLst/>
          </a:prstGeom>
          <a:noFill/>
          <a:ln>
            <a:noFill/>
          </a:ln>
        </p:spPr>
      </p:pic>
      <p:sp>
        <p:nvSpPr>
          <p:cNvPr id="171" name="Shape 171"/>
          <p:cNvSpPr txBox="1"/>
          <p:nvPr/>
        </p:nvSpPr>
        <p:spPr>
          <a:xfrm>
            <a:off x="3962400" y="304800"/>
            <a:ext cx="4419599" cy="669925"/>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BANCO CENTRAL</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EMISIÓN MONETARIA</a:t>
            </a:r>
          </a:p>
        </p:txBody>
      </p:sp>
      <p:sp>
        <p:nvSpPr>
          <p:cNvPr id="172" name="Shape 172"/>
          <p:cNvSpPr/>
          <p:nvPr/>
        </p:nvSpPr>
        <p:spPr>
          <a:xfrm rot="1200000">
            <a:off x="1081087" y="2971799"/>
            <a:ext cx="1720849" cy="914400"/>
          </a:xfrm>
          <a:prstGeom prst="ellipse">
            <a:avLst/>
          </a:prstGeom>
          <a:solidFill>
            <a:schemeClr val="lt1"/>
          </a:solidFill>
          <a:ln cap="flat" cmpd="sng" w="254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SECTOR</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EXTERNO</a:t>
            </a:r>
          </a:p>
        </p:txBody>
      </p:sp>
      <p:sp>
        <p:nvSpPr>
          <p:cNvPr id="173" name="Shape 173"/>
          <p:cNvSpPr/>
          <p:nvPr/>
        </p:nvSpPr>
        <p:spPr>
          <a:xfrm rot="-8940000">
            <a:off x="3124199" y="5638800"/>
            <a:ext cx="1828799" cy="609599"/>
          </a:xfrm>
          <a:prstGeom prst="curvedDownArrow">
            <a:avLst>
              <a:gd fmla="val 25000" name="adj1"/>
              <a:gd fmla="val 50000" name="adj2"/>
              <a:gd fmla="val 25000" name="adj3"/>
            </a:avLst>
          </a:prstGeom>
          <a:solidFill>
            <a:srgbClr val="00FF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TITULOS PRIVADOS</a:t>
            </a:r>
          </a:p>
        </p:txBody>
      </p:sp>
      <p:sp>
        <p:nvSpPr>
          <p:cNvPr id="174" name="Shape 174"/>
          <p:cNvSpPr/>
          <p:nvPr/>
        </p:nvSpPr>
        <p:spPr>
          <a:xfrm rot="1080000">
            <a:off x="2133600" y="1752599"/>
            <a:ext cx="1828800" cy="609599"/>
          </a:xfrm>
          <a:prstGeom prst="curvedDownArrow">
            <a:avLst>
              <a:gd fmla="val 25000" name="adj1"/>
              <a:gd fmla="val 50000" name="adj2"/>
              <a:gd fmla="val 25000" name="adj3"/>
            </a:avLst>
          </a:prstGeom>
          <a:solidFill>
            <a:srgbClr val="FF9900"/>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DIVISAS</a:t>
            </a:r>
          </a:p>
        </p:txBody>
      </p:sp>
      <p:sp>
        <p:nvSpPr>
          <p:cNvPr id="175" name="Shape 175"/>
          <p:cNvSpPr/>
          <p:nvPr/>
        </p:nvSpPr>
        <p:spPr>
          <a:xfrm rot="-10080000">
            <a:off x="1142999" y="4191000"/>
            <a:ext cx="1676400" cy="838200"/>
          </a:xfrm>
          <a:prstGeom prst="curvedDownArrow">
            <a:avLst>
              <a:gd fmla="val 25000" name="adj1"/>
              <a:gd fmla="val 50000" name="adj2"/>
              <a:gd fmla="val 25000" name="adj3"/>
            </a:avLst>
          </a:prstGeom>
          <a:solidFill>
            <a:srgbClr val="FFFF99"/>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          EFECTIVO</a:t>
            </a:r>
          </a:p>
        </p:txBody>
      </p:sp>
      <p:sp>
        <p:nvSpPr>
          <p:cNvPr id="176" name="Shape 176"/>
          <p:cNvSpPr/>
          <p:nvPr/>
        </p:nvSpPr>
        <p:spPr>
          <a:xfrm rot="-2340000">
            <a:off x="5294312" y="1554161"/>
            <a:ext cx="1720850" cy="914399"/>
          </a:xfrm>
          <a:prstGeom prst="ellipse">
            <a:avLst/>
          </a:prstGeom>
          <a:solidFill>
            <a:schemeClr val="lt1"/>
          </a:solidFill>
          <a:ln cap="flat" cmpd="sng" w="254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SECTOR</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PUBLICO</a:t>
            </a:r>
          </a:p>
        </p:txBody>
      </p:sp>
      <p:sp>
        <p:nvSpPr>
          <p:cNvPr id="177" name="Shape 177"/>
          <p:cNvSpPr/>
          <p:nvPr/>
        </p:nvSpPr>
        <p:spPr>
          <a:xfrm rot="780000">
            <a:off x="6524625" y="4724399"/>
            <a:ext cx="1857375" cy="914400"/>
          </a:xfrm>
          <a:prstGeom prst="ellipse">
            <a:avLst/>
          </a:prstGeom>
          <a:solidFill>
            <a:schemeClr val="lt1"/>
          </a:solidFill>
          <a:ln cap="flat" cmpd="sng" w="254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SECTOR</a:t>
            </a:r>
          </a:p>
          <a:p>
            <a:pPr indent="0" lvl="0" marL="0" marR="0" rtl="0" algn="ctr">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PRIVADO</a:t>
            </a:r>
          </a:p>
        </p:txBody>
      </p:sp>
      <p:sp>
        <p:nvSpPr>
          <p:cNvPr id="178" name="Shape 178"/>
          <p:cNvSpPr/>
          <p:nvPr/>
        </p:nvSpPr>
        <p:spPr>
          <a:xfrm rot="-1320000">
            <a:off x="3733800" y="1500187"/>
            <a:ext cx="1828800" cy="504825"/>
          </a:xfrm>
          <a:prstGeom prst="curvedDownArrow">
            <a:avLst>
              <a:gd fmla="val 25000" name="adj1"/>
              <a:gd fmla="val 50000" name="adj2"/>
              <a:gd fmla="val 25000" name="adj3"/>
            </a:avLst>
          </a:prstGeom>
          <a:solidFill>
            <a:srgbClr val="FFFF99"/>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EFECTIVO</a:t>
            </a:r>
          </a:p>
        </p:txBody>
      </p:sp>
      <p:pic>
        <p:nvPicPr>
          <p:cNvPr id="179" name="Shape 179"/>
          <p:cNvPicPr preferRelativeResize="0"/>
          <p:nvPr/>
        </p:nvPicPr>
        <p:blipFill rotWithShape="1">
          <a:blip r:embed="rId6">
            <a:alphaModFix/>
          </a:blip>
          <a:srcRect b="0" l="0" r="0" t="0"/>
          <a:stretch/>
        </p:blipFill>
        <p:spPr>
          <a:xfrm>
            <a:off x="263525" y="1812925"/>
            <a:ext cx="1828800" cy="1096961"/>
          </a:xfrm>
          <a:prstGeom prst="rect">
            <a:avLst/>
          </a:prstGeom>
          <a:noFill/>
          <a:ln>
            <a:noFill/>
          </a:ln>
        </p:spPr>
      </p:pic>
      <p:pic>
        <p:nvPicPr>
          <p:cNvPr id="180" name="Shape 180"/>
          <p:cNvPicPr preferRelativeResize="0"/>
          <p:nvPr/>
        </p:nvPicPr>
        <p:blipFill rotWithShape="1">
          <a:blip r:embed="rId7">
            <a:alphaModFix/>
          </a:blip>
          <a:srcRect b="0" l="0" r="0" t="0"/>
          <a:stretch/>
        </p:blipFill>
        <p:spPr>
          <a:xfrm>
            <a:off x="3124200" y="3048000"/>
            <a:ext cx="2662236" cy="1722437"/>
          </a:xfrm>
          <a:prstGeom prst="rect">
            <a:avLst/>
          </a:prstGeom>
          <a:noFill/>
          <a:ln>
            <a:noFill/>
          </a:ln>
        </p:spPr>
      </p:pic>
      <p:sp>
        <p:nvSpPr>
          <p:cNvPr id="181" name="Shape 181"/>
          <p:cNvSpPr/>
          <p:nvPr/>
        </p:nvSpPr>
        <p:spPr>
          <a:xfrm>
            <a:off x="2801936" y="2468561"/>
            <a:ext cx="3352799" cy="2941636"/>
          </a:xfrm>
          <a:prstGeom prst="ellipse">
            <a:avLst/>
          </a:prstGeom>
          <a:solidFill>
            <a:srgbClr val="FFFF99">
              <a:alpha val="31764"/>
            </a:srgbClr>
          </a:solidFill>
          <a:ln cap="flat" cmpd="sng" w="254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BANCO </a:t>
            </a:r>
          </a:p>
          <a:p>
            <a:pPr indent="0" lvl="0" marL="0" marR="0" rtl="0" algn="ctr">
              <a:lnSpc>
                <a:spcPct val="100000"/>
              </a:lnSpc>
              <a:spcBef>
                <a:spcPts val="0"/>
              </a:spcBef>
              <a:spcAft>
                <a:spcPts val="0"/>
              </a:spcAft>
              <a:buClr>
                <a:schemeClr val="dk1"/>
              </a:buClr>
              <a:buSzPct val="25000"/>
              <a:buFont typeface="Arial"/>
              <a:buNone/>
            </a:pPr>
            <a:r>
              <a:rPr b="1" i="1" lang="en-US" sz="2400" u="none" cap="none" strike="noStrike">
                <a:solidFill>
                  <a:schemeClr val="dk1"/>
                </a:solidFill>
                <a:latin typeface="Arial"/>
                <a:ea typeface="Arial"/>
                <a:cs typeface="Arial"/>
                <a:sym typeface="Arial"/>
              </a:rPr>
              <a:t>CENTRAL</a:t>
            </a:r>
          </a:p>
          <a:p>
            <a:pPr indent="0" lvl="0" marL="0" marR="0" rtl="0" algn="ctr">
              <a:lnSpc>
                <a:spcPct val="100000"/>
              </a:lnSpc>
              <a:spcBef>
                <a:spcPts val="0"/>
              </a:spcBef>
              <a:spcAft>
                <a:spcPts val="0"/>
              </a:spcAft>
              <a:buNone/>
            </a:pPr>
            <a:r>
              <a:t/>
            </a:r>
            <a:endParaRPr b="1" i="1" sz="2400" u="none" cap="none" strike="noStrike">
              <a:solidFill>
                <a:schemeClr val="dk1"/>
              </a:solidFill>
              <a:latin typeface="Arial"/>
              <a:ea typeface="Arial"/>
              <a:cs typeface="Arial"/>
              <a:sym typeface="Arial"/>
            </a:endParaRPr>
          </a:p>
        </p:txBody>
      </p:sp>
      <p:pic>
        <p:nvPicPr>
          <p:cNvPr id="182" name="Shape 182"/>
          <p:cNvPicPr preferRelativeResize="0"/>
          <p:nvPr/>
        </p:nvPicPr>
        <p:blipFill rotWithShape="1">
          <a:blip r:embed="rId8">
            <a:alphaModFix/>
          </a:blip>
          <a:srcRect b="0" l="0" r="0" t="0"/>
          <a:stretch/>
        </p:blipFill>
        <p:spPr>
          <a:xfrm>
            <a:off x="263525" y="981075"/>
            <a:ext cx="1824036" cy="771524"/>
          </a:xfrm>
          <a:prstGeom prst="rect">
            <a:avLst/>
          </a:prstGeom>
          <a:noFill/>
          <a:ln>
            <a:noFill/>
          </a:ln>
        </p:spPr>
      </p:pic>
      <p:pic>
        <p:nvPicPr>
          <p:cNvPr id="183" name="Shape 183"/>
          <p:cNvPicPr preferRelativeResize="0"/>
          <p:nvPr/>
        </p:nvPicPr>
        <p:blipFill rotWithShape="1">
          <a:blip r:embed="rId9">
            <a:alphaModFix/>
          </a:blip>
          <a:srcRect b="0" l="0" r="0" t="0"/>
          <a:stretch/>
        </p:blipFill>
        <p:spPr>
          <a:xfrm>
            <a:off x="4872037" y="5257800"/>
            <a:ext cx="1985961" cy="1357312"/>
          </a:xfrm>
          <a:prstGeom prst="rect">
            <a:avLst/>
          </a:prstGeom>
          <a:noFill/>
          <a:ln>
            <a:noFill/>
          </a:ln>
        </p:spPr>
      </p:pic>
      <p:pic>
        <p:nvPicPr>
          <p:cNvPr id="184" name="Shape 184"/>
          <p:cNvPicPr preferRelativeResize="0"/>
          <p:nvPr/>
        </p:nvPicPr>
        <p:blipFill rotWithShape="1">
          <a:blip r:embed="rId10">
            <a:alphaModFix/>
          </a:blip>
          <a:srcRect b="0" l="0" r="0" t="0"/>
          <a:stretch/>
        </p:blipFill>
        <p:spPr>
          <a:xfrm>
            <a:off x="6816725" y="1500187"/>
            <a:ext cx="2057400" cy="1471612"/>
          </a:xfrm>
          <a:prstGeom prst="rect">
            <a:avLst/>
          </a:prstGeom>
          <a:noFill/>
          <a:ln>
            <a:noFill/>
          </a:ln>
        </p:spPr>
      </p:pic>
      <p:sp>
        <p:nvSpPr>
          <p:cNvPr id="185" name="Shape 185"/>
          <p:cNvSpPr/>
          <p:nvPr/>
        </p:nvSpPr>
        <p:spPr>
          <a:xfrm rot="2280000">
            <a:off x="6154737" y="3940175"/>
            <a:ext cx="1927225" cy="733425"/>
          </a:xfrm>
          <a:prstGeom prst="curvedDownArrow">
            <a:avLst>
              <a:gd fmla="val 25000" name="adj1"/>
              <a:gd fmla="val 50000" name="adj2"/>
              <a:gd fmla="val 25000" name="adj3"/>
            </a:avLst>
          </a:prstGeom>
          <a:solidFill>
            <a:srgbClr val="FFFF99"/>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1" lang="en-US" sz="1400" u="none" cap="none" strike="noStrike">
                <a:solidFill>
                  <a:schemeClr val="dk1"/>
                </a:solidFill>
                <a:latin typeface="Arial"/>
                <a:ea typeface="Arial"/>
                <a:cs typeface="Arial"/>
                <a:sym typeface="Arial"/>
              </a:rPr>
              <a:t>EFECTIVO</a:t>
            </a:r>
          </a:p>
        </p:txBody>
      </p:sp>
      <p:sp>
        <p:nvSpPr>
          <p:cNvPr id="186" name="Shape 186"/>
          <p:cNvSpPr/>
          <p:nvPr/>
        </p:nvSpPr>
        <p:spPr>
          <a:xfrm rot="8700000">
            <a:off x="5786437" y="2867025"/>
            <a:ext cx="2379662" cy="504824"/>
          </a:xfrm>
          <a:prstGeom prst="curvedDownArrow">
            <a:avLst>
              <a:gd fmla="val 25000" name="adj1"/>
              <a:gd fmla="val 50000" name="adj2"/>
              <a:gd fmla="val 25000" name="adj3"/>
            </a:avLst>
          </a:prstGeom>
          <a:solidFill>
            <a:srgbClr val="CCFFFF"/>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TITULOS DEUDA </a:t>
            </a:r>
          </a:p>
          <a:p>
            <a:pPr indent="0" lvl="0" marL="0" marR="0" rtl="0" algn="ctr">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PUBLICA</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0" name="Shape 190"/>
        <p:cNvGrpSpPr/>
        <p:nvPr/>
      </p:nvGrpSpPr>
      <p:grpSpPr>
        <a:xfrm>
          <a:off x="0" y="0"/>
          <a:ext cx="0" cy="0"/>
          <a:chOff x="0" y="0"/>
          <a:chExt cx="0" cy="0"/>
        </a:xfrm>
      </p:grpSpPr>
      <p:pic>
        <p:nvPicPr>
          <p:cNvPr id="191" name="Shape 191"/>
          <p:cNvPicPr preferRelativeResize="0"/>
          <p:nvPr/>
        </p:nvPicPr>
        <p:blipFill rotWithShape="1">
          <a:blip r:embed="rId3">
            <a:alphaModFix/>
          </a:blip>
          <a:srcRect b="0" l="0" r="0" t="0"/>
          <a:stretch/>
        </p:blipFill>
        <p:spPr>
          <a:xfrm>
            <a:off x="304800" y="1447800"/>
            <a:ext cx="8626474" cy="5114925"/>
          </a:xfrm>
          <a:prstGeom prst="rect">
            <a:avLst/>
          </a:prstGeom>
          <a:noFill/>
          <a:ln>
            <a:noFill/>
          </a:ln>
        </p:spPr>
      </p:pic>
      <p:pic>
        <p:nvPicPr>
          <p:cNvPr id="192" name="Shape 192"/>
          <p:cNvPicPr preferRelativeResize="0"/>
          <p:nvPr/>
        </p:nvPicPr>
        <p:blipFill rotWithShape="1">
          <a:blip r:embed="rId4">
            <a:alphaModFix/>
          </a:blip>
          <a:srcRect b="0" l="0" r="0" t="0"/>
          <a:stretch/>
        </p:blipFill>
        <p:spPr>
          <a:xfrm>
            <a:off x="263525" y="1085850"/>
            <a:ext cx="8610599" cy="209549"/>
          </a:xfrm>
          <a:prstGeom prst="rect">
            <a:avLst/>
          </a:prstGeom>
          <a:noFill/>
          <a:ln>
            <a:noFill/>
          </a:ln>
        </p:spPr>
      </p:pic>
      <p:pic>
        <p:nvPicPr>
          <p:cNvPr id="193" name="Shape 193"/>
          <p:cNvPicPr preferRelativeResize="0"/>
          <p:nvPr/>
        </p:nvPicPr>
        <p:blipFill rotWithShape="1">
          <a:blip r:embed="rId5">
            <a:alphaModFix/>
          </a:blip>
          <a:srcRect b="0" l="0" r="0" t="0"/>
          <a:stretch/>
        </p:blipFill>
        <p:spPr>
          <a:xfrm>
            <a:off x="263525" y="306387"/>
            <a:ext cx="3013074" cy="608011"/>
          </a:xfrm>
          <a:prstGeom prst="rect">
            <a:avLst/>
          </a:prstGeom>
          <a:noFill/>
          <a:ln>
            <a:noFill/>
          </a:ln>
        </p:spPr>
      </p:pic>
      <p:sp>
        <p:nvSpPr>
          <p:cNvPr id="194" name="Shape 194"/>
          <p:cNvSpPr txBox="1"/>
          <p:nvPr/>
        </p:nvSpPr>
        <p:spPr>
          <a:xfrm>
            <a:off x="381000" y="1524000"/>
            <a:ext cx="8534399" cy="2292349"/>
          </a:xfrm>
          <a:prstGeom prst="rect">
            <a:avLst/>
          </a:prstGeom>
          <a:solidFill>
            <a:srgbClr val="FFFFFF"/>
          </a:solidFill>
          <a:ln>
            <a:noFill/>
          </a:ln>
        </p:spPr>
        <p:txBody>
          <a:bodyPr anchorCtr="0" anchor="t" bIns="45700" lIns="91425" rIns="91425" tIns="45700">
            <a:noAutofit/>
          </a:bodyPr>
          <a:lstStyle/>
          <a:p>
            <a:pPr indent="0" lvl="0" marL="0" marR="0" rtl="0" algn="l">
              <a:lnSpc>
                <a:spcPct val="150000"/>
              </a:lnSpc>
              <a:spcBef>
                <a:spcPts val="0"/>
              </a:spcBef>
              <a:spcAft>
                <a:spcPts val="0"/>
              </a:spcAft>
              <a:buClr>
                <a:srgbClr val="FF0000"/>
              </a:buClr>
              <a:buSzPct val="25000"/>
              <a:buFont typeface="Arial"/>
              <a:buNone/>
            </a:pPr>
            <a:r>
              <a:rPr b="1" i="0" lang="en-US" sz="1600" u="none" cap="none" strike="noStrike">
                <a:solidFill>
                  <a:srgbClr val="FF0000"/>
                </a:solidFill>
                <a:latin typeface="Arial"/>
                <a:ea typeface="Arial"/>
                <a:cs typeface="Arial"/>
                <a:sym typeface="Arial"/>
              </a:rPr>
              <a:t>LA CREACIÓN DEL DINERO PUEDE</a:t>
            </a:r>
          </a:p>
          <a:p>
            <a:pPr indent="0" lvl="0" marL="0" marR="0" rtl="0" algn="l">
              <a:lnSpc>
                <a:spcPct val="150000"/>
              </a:lnSpc>
              <a:spcBef>
                <a:spcPts val="0"/>
              </a:spcBef>
              <a:spcAft>
                <a:spcPts val="0"/>
              </a:spcAft>
              <a:buClr>
                <a:srgbClr val="FF0000"/>
              </a:buClr>
              <a:buSzPct val="25000"/>
              <a:buFont typeface="Arial"/>
              <a:buNone/>
            </a:pPr>
            <a:r>
              <a:rPr b="1" i="0" lang="en-US" sz="1600" u="none" cap="none" strike="noStrike">
                <a:solidFill>
                  <a:srgbClr val="FF0000"/>
                </a:solidFill>
                <a:latin typeface="Arial"/>
                <a:ea typeface="Arial"/>
                <a:cs typeface="Arial"/>
                <a:sym typeface="Arial"/>
              </a:rPr>
              <a:t>HACERSE POR DISTINTOS PROCESOS</a:t>
            </a:r>
            <a:r>
              <a:rPr b="0" i="0" lang="en-US" sz="1600" u="none" cap="none" strike="noStrike">
                <a:solidFill>
                  <a:srgbClr val="FF0000"/>
                </a:solidFill>
                <a:latin typeface="Arial"/>
                <a:ea typeface="Arial"/>
                <a:cs typeface="Arial"/>
                <a:sym typeface="Arial"/>
              </a:rPr>
              <a:t> </a:t>
            </a:r>
          </a:p>
          <a:p>
            <a:pPr indent="0" lvl="0" marL="0" marR="0" rtl="0" algn="l">
              <a:lnSpc>
                <a:spcPct val="150000"/>
              </a:lnSpc>
              <a:spcBef>
                <a:spcPts val="0"/>
              </a:spcBef>
              <a:spcAft>
                <a:spcPts val="0"/>
              </a:spcAft>
              <a:buClr>
                <a:schemeClr val="dk1"/>
              </a:buClr>
              <a:buFont typeface="Arial"/>
              <a:buNone/>
            </a:pPr>
            <a:r>
              <a:t/>
            </a:r>
            <a:endParaRPr b="1" i="0" sz="1600" u="none" cap="none" strike="noStrike">
              <a:solidFill>
                <a:srgbClr val="FF0000"/>
              </a:solidFill>
              <a:latin typeface="Arial"/>
              <a:ea typeface="Arial"/>
              <a:cs typeface="Arial"/>
              <a:sym typeface="Arial"/>
            </a:endParaRPr>
          </a:p>
          <a:p>
            <a:pPr indent="0" lvl="0" marL="0" marR="0" rtl="0" algn="l">
              <a:lnSpc>
                <a:spcPct val="150000"/>
              </a:lnSpc>
              <a:spcBef>
                <a:spcPts val="0"/>
              </a:spcBef>
              <a:spcAft>
                <a:spcPts val="0"/>
              </a:spcAft>
              <a:buClr>
                <a:schemeClr val="dk1"/>
              </a:buClr>
              <a:buFont typeface="Arial"/>
              <a:buNone/>
            </a:pPr>
            <a:r>
              <a:t/>
            </a:r>
            <a:endParaRPr b="1" i="0" sz="16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ct val="100000"/>
              <a:buFont typeface="Noto Sans Symbols"/>
              <a:buChar char="❑"/>
            </a:pPr>
            <a:r>
              <a:rPr b="0" i="0" lang="en-US" sz="1600" u="none" cap="none" strike="noStrike">
                <a:solidFill>
                  <a:schemeClr val="dk1"/>
                </a:solidFill>
                <a:latin typeface="Arial"/>
                <a:ea typeface="Arial"/>
                <a:cs typeface="Arial"/>
                <a:sym typeface="Arial"/>
              </a:rPr>
              <a:t> Por </a:t>
            </a:r>
            <a:r>
              <a:rPr b="1" i="0" lang="en-US" sz="1600" u="none" cap="none" strike="noStrike">
                <a:solidFill>
                  <a:schemeClr val="dk1"/>
                </a:solidFill>
                <a:latin typeface="Arial"/>
                <a:ea typeface="Arial"/>
                <a:cs typeface="Arial"/>
                <a:sym typeface="Arial"/>
              </a:rPr>
              <a:t>emisión</a:t>
            </a:r>
            <a:r>
              <a:rPr b="0" i="0" lang="en-US" sz="1600" u="none" cap="none" strike="noStrike">
                <a:solidFill>
                  <a:schemeClr val="dk1"/>
                </a:solidFill>
                <a:latin typeface="Arial"/>
                <a:ea typeface="Arial"/>
                <a:cs typeface="Arial"/>
                <a:sym typeface="Arial"/>
              </a:rPr>
              <a:t>, dispuesta por la entidad autorizada en cada país (Banco Central).</a:t>
            </a:r>
          </a:p>
          <a:p>
            <a:pPr indent="0" lvl="1" marL="45720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dk1"/>
              </a:buClr>
              <a:buSzPct val="100000"/>
              <a:buFont typeface="Noto Sans Symbols"/>
              <a:buChar char="❑"/>
            </a:pPr>
            <a:r>
              <a:rPr b="0" i="0" lang="en-US" sz="1600" u="none" cap="none" strike="noStrike">
                <a:solidFill>
                  <a:schemeClr val="dk1"/>
                </a:solidFill>
                <a:latin typeface="Arial"/>
                <a:ea typeface="Arial"/>
                <a:cs typeface="Arial"/>
                <a:sym typeface="Arial"/>
              </a:rPr>
              <a:t> Por los </a:t>
            </a:r>
            <a:r>
              <a:rPr b="1" i="0" lang="en-US" sz="1600" u="none" cap="none" strike="noStrike">
                <a:solidFill>
                  <a:schemeClr val="dk1"/>
                </a:solidFill>
                <a:latin typeface="Arial"/>
                <a:ea typeface="Arial"/>
                <a:cs typeface="Arial"/>
                <a:sym typeface="Arial"/>
              </a:rPr>
              <a:t>préstamos</a:t>
            </a:r>
            <a:r>
              <a:rPr b="0" i="0" lang="en-US" sz="1600" u="none" cap="none" strike="noStrike">
                <a:solidFill>
                  <a:schemeClr val="dk1"/>
                </a:solidFill>
                <a:latin typeface="Arial"/>
                <a:ea typeface="Arial"/>
                <a:cs typeface="Arial"/>
                <a:sym typeface="Arial"/>
              </a:rPr>
              <a:t> </a:t>
            </a:r>
            <a:r>
              <a:rPr b="1" i="0" lang="en-US" sz="1600" u="none" cap="none" strike="noStrike">
                <a:solidFill>
                  <a:schemeClr val="dk1"/>
                </a:solidFill>
                <a:latin typeface="Arial"/>
                <a:ea typeface="Arial"/>
                <a:cs typeface="Arial"/>
                <a:sym typeface="Arial"/>
              </a:rPr>
              <a:t>o créditos </a:t>
            </a:r>
            <a:r>
              <a:rPr b="0" i="0" lang="en-US" sz="1600" u="none" cap="none" strike="noStrike">
                <a:solidFill>
                  <a:schemeClr val="dk1"/>
                </a:solidFill>
                <a:latin typeface="Arial"/>
                <a:ea typeface="Arial"/>
                <a:cs typeface="Arial"/>
                <a:sym typeface="Arial"/>
              </a:rPr>
              <a:t>que otorgan las entidades financieras.</a:t>
            </a:r>
          </a:p>
        </p:txBody>
      </p:sp>
      <p:sp>
        <p:nvSpPr>
          <p:cNvPr id="195" name="Shape 195"/>
          <p:cNvSpPr txBox="1"/>
          <p:nvPr/>
        </p:nvSpPr>
        <p:spPr>
          <a:xfrm>
            <a:off x="4648200" y="152400"/>
            <a:ext cx="3733800" cy="94615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800" u="none" cap="none" strike="noStrike">
                <a:solidFill>
                  <a:srgbClr val="BB4F59"/>
                </a:solidFill>
                <a:latin typeface="Arial"/>
                <a:ea typeface="Arial"/>
                <a:cs typeface="Arial"/>
                <a:sym typeface="Arial"/>
              </a:rPr>
              <a:t>CREACIÓN DE DINERO</a:t>
            </a:r>
          </a:p>
        </p:txBody>
      </p:sp>
      <p:sp>
        <p:nvSpPr>
          <p:cNvPr id="196" name="Shape 196"/>
          <p:cNvSpPr txBox="1"/>
          <p:nvPr/>
        </p:nvSpPr>
        <p:spPr>
          <a:xfrm>
            <a:off x="304800" y="4038600"/>
            <a:ext cx="8610599" cy="2514599"/>
          </a:xfrm>
          <a:prstGeom prst="rect">
            <a:avLst/>
          </a:prstGeom>
          <a:solidFill>
            <a:srgbClr val="FFFF99">
              <a:alpha val="80784"/>
            </a:srgb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1" lang="en-US" sz="1800" u="none" cap="none" strike="noStrike">
                <a:solidFill>
                  <a:srgbClr val="FF0000"/>
                </a:solidFill>
                <a:latin typeface="Arial"/>
                <a:ea typeface="Arial"/>
                <a:cs typeface="Arial"/>
                <a:sym typeface="Arial"/>
              </a:rPr>
              <a:t>Proceso de creación del dinero bancario</a:t>
            </a:r>
          </a:p>
          <a:p>
            <a:pPr indent="0" lvl="0" marL="0" marR="0" rtl="0" algn="l">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    </a:t>
            </a:r>
            <a:r>
              <a:rPr b="1" i="0" lang="en-US" sz="1800" u="none" cap="none" strike="noStrike">
                <a:solidFill>
                  <a:srgbClr val="E9256B"/>
                </a:solidFill>
                <a:latin typeface="Arial"/>
                <a:ea typeface="Arial"/>
                <a:cs typeface="Arial"/>
                <a:sym typeface="Arial"/>
              </a:rPr>
              <a:t>1° banco	                         2° banco                           3° banco</a:t>
            </a:r>
          </a:p>
          <a:p>
            <a:pPr indent="0" lvl="0" marL="0" marR="0" rtl="0" algn="l">
              <a:lnSpc>
                <a:spcPct val="100000"/>
              </a:lnSpc>
              <a:spcBef>
                <a:spcPts val="0"/>
              </a:spcBef>
              <a:spcAft>
                <a:spcPts val="0"/>
              </a:spcAft>
              <a:buClr>
                <a:schemeClr val="hlink"/>
              </a:buClr>
              <a:buSzPct val="25000"/>
              <a:buFont typeface="Arial"/>
              <a:buNone/>
            </a:pPr>
            <a:r>
              <a:rPr b="1" i="0" lang="en-US" sz="1800" u="sng" cap="none" strike="noStrike">
                <a:solidFill>
                  <a:schemeClr val="hlink"/>
                </a:solidFill>
                <a:latin typeface="Arial"/>
                <a:ea typeface="Arial"/>
                <a:cs typeface="Arial"/>
                <a:sym typeface="Arial"/>
              </a:rPr>
              <a:t>Activo       Pasivo</a:t>
            </a:r>
            <a:r>
              <a:rPr b="1" i="0" lang="en-US" sz="1800" u="none" cap="none" strike="noStrike">
                <a:solidFill>
                  <a:schemeClr val="hlink"/>
                </a:solidFill>
                <a:latin typeface="Arial"/>
                <a:ea typeface="Arial"/>
                <a:cs typeface="Arial"/>
                <a:sym typeface="Arial"/>
              </a:rPr>
              <a:t>                  </a:t>
            </a:r>
            <a:r>
              <a:rPr b="1" i="0" lang="en-US" sz="1800" u="sng" cap="none" strike="noStrike">
                <a:solidFill>
                  <a:schemeClr val="hlink"/>
                </a:solidFill>
                <a:latin typeface="Arial"/>
                <a:ea typeface="Arial"/>
                <a:cs typeface="Arial"/>
                <a:sym typeface="Arial"/>
              </a:rPr>
              <a:t>Activo     Pasivo</a:t>
            </a:r>
            <a:r>
              <a:rPr b="1" i="0" lang="en-US" sz="1800" u="none" cap="none" strike="noStrike">
                <a:solidFill>
                  <a:schemeClr val="hlink"/>
                </a:solidFill>
                <a:latin typeface="Arial"/>
                <a:ea typeface="Arial"/>
                <a:cs typeface="Arial"/>
                <a:sym typeface="Arial"/>
              </a:rPr>
              <a:t>                </a:t>
            </a:r>
            <a:r>
              <a:rPr b="1" i="0" lang="en-US" sz="1800" u="sng" cap="none" strike="noStrike">
                <a:solidFill>
                  <a:schemeClr val="hlink"/>
                </a:solidFill>
                <a:latin typeface="Arial"/>
                <a:ea typeface="Arial"/>
                <a:cs typeface="Arial"/>
                <a:sym typeface="Arial"/>
              </a:rPr>
              <a:t>Activo   Pasivo</a:t>
            </a:r>
          </a:p>
          <a:p>
            <a:pPr indent="0" lvl="0" marL="0" marR="0" rtl="0" algn="l">
              <a:lnSpc>
                <a:spcPct val="100000"/>
              </a:lnSpc>
              <a:spcBef>
                <a:spcPts val="0"/>
              </a:spcBef>
              <a:spcAft>
                <a:spcPts val="0"/>
              </a:spcAft>
              <a:buClr>
                <a:schemeClr val="hlink"/>
              </a:buClr>
              <a:buSzPct val="25000"/>
              <a:buFont typeface="Arial"/>
              <a:buNone/>
            </a:pPr>
            <a:r>
              <a:rPr b="0" i="0" lang="en-US" sz="1400" u="none" cap="none" strike="noStrike">
                <a:solidFill>
                  <a:schemeClr val="hlink"/>
                </a:solidFill>
                <a:latin typeface="Arial"/>
                <a:ea typeface="Arial"/>
                <a:cs typeface="Arial"/>
                <a:sym typeface="Arial"/>
              </a:rPr>
              <a:t>Efectivo 200  </a:t>
            </a:r>
            <a:r>
              <a:rPr b="0" i="0" lang="en-US" sz="1400" u="none" cap="none" strike="noStrike">
                <a:solidFill>
                  <a:srgbClr val="FF0000"/>
                </a:solidFill>
                <a:latin typeface="Arial"/>
                <a:ea typeface="Arial"/>
                <a:cs typeface="Arial"/>
                <a:sym typeface="Arial"/>
              </a:rPr>
              <a:t>1000 Depósito</a:t>
            </a:r>
            <a:r>
              <a:rPr b="0" i="0" lang="en-US" sz="1400" u="none" cap="none" strike="noStrike">
                <a:solidFill>
                  <a:schemeClr val="hlink"/>
                </a:solidFill>
                <a:latin typeface="Arial"/>
                <a:ea typeface="Arial"/>
                <a:cs typeface="Arial"/>
                <a:sym typeface="Arial"/>
              </a:rPr>
              <a:t>                Efectivo 160  </a:t>
            </a:r>
            <a:r>
              <a:rPr b="0" i="0" lang="en-US" sz="1400" u="none" cap="none" strike="noStrike">
                <a:solidFill>
                  <a:srgbClr val="FF0000"/>
                </a:solidFill>
                <a:latin typeface="Arial"/>
                <a:ea typeface="Arial"/>
                <a:cs typeface="Arial"/>
                <a:sym typeface="Arial"/>
              </a:rPr>
              <a:t>800 Depósito</a:t>
            </a:r>
            <a:r>
              <a:rPr b="0" i="0" lang="en-US" sz="1400" u="none" cap="none" strike="noStrike">
                <a:solidFill>
                  <a:schemeClr val="hlink"/>
                </a:solidFill>
                <a:latin typeface="Arial"/>
                <a:ea typeface="Arial"/>
                <a:cs typeface="Arial"/>
                <a:sym typeface="Arial"/>
              </a:rPr>
              <a:t>         Efectivo 128    </a:t>
            </a:r>
            <a:r>
              <a:rPr b="0" i="0" lang="en-US" sz="1400" u="none" cap="none" strike="noStrike">
                <a:solidFill>
                  <a:srgbClr val="FF0000"/>
                </a:solidFill>
                <a:latin typeface="Arial"/>
                <a:ea typeface="Arial"/>
                <a:cs typeface="Arial"/>
                <a:sym typeface="Arial"/>
              </a:rPr>
              <a:t>640 Depósito </a:t>
            </a:r>
          </a:p>
          <a:p>
            <a:pPr indent="0" lvl="0" marL="0" marR="0" rtl="0" algn="l">
              <a:lnSpc>
                <a:spcPct val="100000"/>
              </a:lnSpc>
              <a:spcBef>
                <a:spcPts val="0"/>
              </a:spcBef>
              <a:spcAft>
                <a:spcPts val="0"/>
              </a:spcAft>
              <a:buClr>
                <a:schemeClr val="hlink"/>
              </a:buClr>
              <a:buSzPct val="25000"/>
              <a:buFont typeface="Arial"/>
              <a:buNone/>
            </a:pPr>
            <a:r>
              <a:rPr b="0" i="0" lang="en-US" sz="1400" u="none" cap="none" strike="noStrike">
                <a:solidFill>
                  <a:schemeClr val="hlink"/>
                </a:solidFill>
                <a:latin typeface="Arial"/>
                <a:ea typeface="Arial"/>
                <a:cs typeface="Arial"/>
                <a:sym typeface="Arial"/>
              </a:rPr>
              <a:t>Crédito  800		      Crédito  640                                Crédito  512</a:t>
            </a:r>
          </a:p>
          <a:p>
            <a:pPr indent="0" lvl="0" marL="0" marR="0" rtl="0" algn="l">
              <a:lnSpc>
                <a:spcPct val="100000"/>
              </a:lnSpc>
              <a:spcBef>
                <a:spcPts val="0"/>
              </a:spcBef>
              <a:spcAft>
                <a:spcPts val="0"/>
              </a:spcAft>
              <a:buClr>
                <a:schemeClr val="dk1"/>
              </a:buClr>
              <a:buFont typeface="Arial"/>
              <a:buNone/>
            </a:pPr>
            <a:r>
              <a:t/>
            </a:r>
            <a:endParaRPr b="0" i="0" sz="14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4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4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400" u="none" cap="none" strike="noStrike">
              <a:solidFill>
                <a:schemeClr val="hlink"/>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chemeClr val="hlink"/>
              </a:solidFill>
              <a:latin typeface="Arial"/>
              <a:ea typeface="Arial"/>
              <a:cs typeface="Arial"/>
              <a:sym typeface="Arial"/>
            </a:endParaRPr>
          </a:p>
        </p:txBody>
      </p:sp>
      <p:cxnSp>
        <p:nvCxnSpPr>
          <p:cNvPr id="197" name="Shape 197"/>
          <p:cNvCxnSpPr/>
          <p:nvPr/>
        </p:nvCxnSpPr>
        <p:spPr>
          <a:xfrm>
            <a:off x="1447800" y="4800600"/>
            <a:ext cx="0" cy="1295400"/>
          </a:xfrm>
          <a:prstGeom prst="straightConnector1">
            <a:avLst/>
          </a:prstGeom>
          <a:noFill/>
          <a:ln cap="flat" cmpd="sng" w="22225">
            <a:solidFill>
              <a:schemeClr val="hlink"/>
            </a:solidFill>
            <a:prstDash val="solid"/>
            <a:miter/>
            <a:headEnd len="med" w="med" type="none"/>
            <a:tailEnd len="med" w="med" type="none"/>
          </a:ln>
        </p:spPr>
      </p:cxnSp>
      <p:cxnSp>
        <p:nvCxnSpPr>
          <p:cNvPr id="198" name="Shape 198"/>
          <p:cNvCxnSpPr/>
          <p:nvPr/>
        </p:nvCxnSpPr>
        <p:spPr>
          <a:xfrm>
            <a:off x="4419600" y="4800600"/>
            <a:ext cx="0" cy="1295400"/>
          </a:xfrm>
          <a:prstGeom prst="straightConnector1">
            <a:avLst/>
          </a:prstGeom>
          <a:noFill/>
          <a:ln cap="flat" cmpd="sng" w="28575">
            <a:solidFill>
              <a:schemeClr val="hlink"/>
            </a:solidFill>
            <a:prstDash val="solid"/>
            <a:miter/>
            <a:headEnd len="med" w="med" type="none"/>
            <a:tailEnd len="med" w="med" type="none"/>
          </a:ln>
        </p:spPr>
      </p:cxnSp>
      <p:pic>
        <p:nvPicPr>
          <p:cNvPr id="199" name="Shape 199"/>
          <p:cNvPicPr preferRelativeResize="0"/>
          <p:nvPr/>
        </p:nvPicPr>
        <p:blipFill rotWithShape="1">
          <a:blip r:embed="rId6">
            <a:alphaModFix/>
          </a:blip>
          <a:srcRect b="0" l="0" r="0" t="0"/>
          <a:stretch/>
        </p:blipFill>
        <p:spPr>
          <a:xfrm>
            <a:off x="6781800" y="1524000"/>
            <a:ext cx="1709736" cy="1543049"/>
          </a:xfrm>
          <a:prstGeom prst="rect">
            <a:avLst/>
          </a:prstGeom>
          <a:noFill/>
          <a:ln>
            <a:noFill/>
          </a:ln>
        </p:spPr>
      </p:pic>
      <p:cxnSp>
        <p:nvCxnSpPr>
          <p:cNvPr id="200" name="Shape 200"/>
          <p:cNvCxnSpPr/>
          <p:nvPr/>
        </p:nvCxnSpPr>
        <p:spPr>
          <a:xfrm>
            <a:off x="6934200" y="4800600"/>
            <a:ext cx="0" cy="1597024"/>
          </a:xfrm>
          <a:prstGeom prst="straightConnector1">
            <a:avLst/>
          </a:prstGeom>
          <a:noFill/>
          <a:ln cap="flat" cmpd="sng" w="34925">
            <a:solidFill>
              <a:schemeClr val="hlink"/>
            </a:solidFill>
            <a:prstDash val="solid"/>
            <a:miter/>
            <a:headEnd len="med" w="med" type="none"/>
            <a:tailEnd len="med" w="med" type="none"/>
          </a:ln>
        </p:spPr>
      </p:cxnSp>
      <p:sp>
        <p:nvSpPr>
          <p:cNvPr id="201" name="Shape 201"/>
          <p:cNvSpPr/>
          <p:nvPr/>
        </p:nvSpPr>
        <p:spPr>
          <a:xfrm>
            <a:off x="914400" y="5105400"/>
            <a:ext cx="3886200" cy="1063624"/>
          </a:xfrm>
          <a:custGeom>
            <a:pathLst>
              <a:path extrusionOk="0" h="120000" w="120000">
                <a:moveTo>
                  <a:pt x="0" y="36358"/>
                </a:moveTo>
                <a:cubicBezTo>
                  <a:pt x="1375" y="44417"/>
                  <a:pt x="2751" y="71641"/>
                  <a:pt x="8203" y="84895"/>
                </a:cubicBezTo>
                <a:cubicBezTo>
                  <a:pt x="13656" y="98149"/>
                  <a:pt x="21248" y="110686"/>
                  <a:pt x="32815" y="115343"/>
                </a:cubicBezTo>
                <a:cubicBezTo>
                  <a:pt x="44382" y="120000"/>
                  <a:pt x="65324" y="119820"/>
                  <a:pt x="77707" y="112298"/>
                </a:cubicBezTo>
                <a:cubicBezTo>
                  <a:pt x="90089" y="104776"/>
                  <a:pt x="100025" y="88477"/>
                  <a:pt x="107057" y="69850"/>
                </a:cubicBezTo>
                <a:cubicBezTo>
                  <a:pt x="114089" y="51223"/>
                  <a:pt x="117299" y="14507"/>
                  <a:pt x="120000" y="0"/>
                </a:cubicBezTo>
              </a:path>
            </a:pathLst>
          </a:custGeom>
          <a:noFill/>
          <a:ln cap="flat" cmpd="sng" w="952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2" name="Shape 202"/>
          <p:cNvSpPr/>
          <p:nvPr/>
        </p:nvSpPr>
        <p:spPr>
          <a:xfrm>
            <a:off x="3805237" y="5181600"/>
            <a:ext cx="3738561" cy="1063624"/>
          </a:xfrm>
          <a:custGeom>
            <a:pathLst>
              <a:path extrusionOk="0" h="120000" w="120000">
                <a:moveTo>
                  <a:pt x="0" y="36358"/>
                </a:moveTo>
                <a:cubicBezTo>
                  <a:pt x="1375" y="44417"/>
                  <a:pt x="2751" y="71641"/>
                  <a:pt x="8203" y="84895"/>
                </a:cubicBezTo>
                <a:cubicBezTo>
                  <a:pt x="13656" y="98149"/>
                  <a:pt x="21248" y="110686"/>
                  <a:pt x="32815" y="115343"/>
                </a:cubicBezTo>
                <a:cubicBezTo>
                  <a:pt x="44382" y="120000"/>
                  <a:pt x="65324" y="119820"/>
                  <a:pt x="77707" y="112298"/>
                </a:cubicBezTo>
                <a:cubicBezTo>
                  <a:pt x="90089" y="104776"/>
                  <a:pt x="100025" y="88477"/>
                  <a:pt x="107057" y="69850"/>
                </a:cubicBezTo>
                <a:cubicBezTo>
                  <a:pt x="114089" y="51223"/>
                  <a:pt x="117299" y="14507"/>
                  <a:pt x="120000" y="0"/>
                </a:cubicBezTo>
              </a:path>
            </a:pathLst>
          </a:custGeom>
          <a:noFill/>
          <a:ln cap="flat" cmpd="sng" w="95250">
            <a:solidFill>
              <a:srgbClr val="008000"/>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6" name="Shape 206"/>
        <p:cNvGrpSpPr/>
        <p:nvPr/>
      </p:nvGrpSpPr>
      <p:grpSpPr>
        <a:xfrm>
          <a:off x="0" y="0"/>
          <a:ext cx="0" cy="0"/>
          <a:chOff x="0" y="0"/>
          <a:chExt cx="0" cy="0"/>
        </a:xfrm>
      </p:grpSpPr>
      <p:pic>
        <p:nvPicPr>
          <p:cNvPr id="207" name="Shape 20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208" name="Shape 208"/>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209" name="Shape 20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210" name="Shape 210"/>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211" name="Shape 211"/>
          <p:cNvSpPr txBox="1"/>
          <p:nvPr/>
        </p:nvSpPr>
        <p:spPr>
          <a:xfrm>
            <a:off x="0" y="1295400"/>
            <a:ext cx="9144000" cy="46116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3600" u="none" cap="none" strike="noStrike">
                <a:solidFill>
                  <a:srgbClr val="FF0000"/>
                </a:solidFill>
                <a:latin typeface="Arial"/>
                <a:ea typeface="Arial"/>
                <a:cs typeface="Arial"/>
                <a:sym typeface="Arial"/>
              </a:rPr>
              <a:t>Bancos comerciales</a:t>
            </a: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rial"/>
                <a:ea typeface="Arial"/>
                <a:cs typeface="Arial"/>
                <a:sym typeface="Arial"/>
              </a:rPr>
              <a:t>La función principal de los bancos comerciales es intermediar entre la oferta y la demanda de recursos financieros. Estos bancos pueden recibir el ahorro de las personas y de las empresas (en depósitos, plazos fijos, etc.) y conceder préstamos. La recepción de recursos es una operación pasiva, mientras que el préstamo de dinero es una operación activa.</a:t>
            </a:r>
          </a:p>
          <a:p>
            <a:pPr indent="0" lvl="0" marL="0" marR="0" rtl="0" algn="l">
              <a:lnSpc>
                <a:spcPct val="100000"/>
              </a:lnSpc>
              <a:spcBef>
                <a:spcPts val="0"/>
              </a:spcBef>
              <a:spcAft>
                <a:spcPts val="0"/>
              </a:spcAft>
              <a:buClr>
                <a:srgbClr val="FF0000"/>
              </a:buClr>
              <a:buSzPct val="25000"/>
              <a:buFont typeface="Arial"/>
              <a:buNone/>
            </a:pPr>
            <a:r>
              <a:rPr b="0" i="0" lang="en-US" sz="1800" u="none" cap="none" strike="noStrike">
                <a:solidFill>
                  <a:srgbClr val="FF0000"/>
                </a:solidFill>
                <a:latin typeface="Arial"/>
                <a:ea typeface="Arial"/>
                <a:cs typeface="Arial"/>
                <a:sym typeface="Arial"/>
              </a:rPr>
              <a:t>Funciones</a:t>
            </a:r>
          </a:p>
          <a:p>
            <a:pPr indent="0" lvl="0" marL="0" marR="0" rtl="0" algn="l">
              <a:lnSpc>
                <a:spcPct val="100000"/>
              </a:lnSpc>
              <a:spcBef>
                <a:spcPts val="0"/>
              </a:spcBef>
              <a:spcAft>
                <a:spcPts val="0"/>
              </a:spcAft>
              <a:buClr>
                <a:srgbClr val="FF0000"/>
              </a:buClr>
              <a:buSzPct val="100000"/>
              <a:buFont typeface="Noto Sans Symbols"/>
              <a:buChar char="✓"/>
            </a:pPr>
            <a:r>
              <a:rPr b="0" i="0" lang="en-US" sz="1600" u="none" cap="none" strike="noStrike">
                <a:solidFill>
                  <a:srgbClr val="FF0000"/>
                </a:solidFill>
                <a:latin typeface="Arial"/>
                <a:ea typeface="Arial"/>
                <a:cs typeface="Arial"/>
                <a:sym typeface="Arial"/>
              </a:rPr>
              <a:t>Crean dinero y generan liquidez.</a:t>
            </a:r>
          </a:p>
          <a:p>
            <a:pPr indent="0" lvl="0" marL="0" marR="0" rtl="0" algn="l">
              <a:lnSpc>
                <a:spcPct val="150000"/>
              </a:lnSpc>
              <a:spcBef>
                <a:spcPts val="0"/>
              </a:spcBef>
              <a:spcAft>
                <a:spcPts val="0"/>
              </a:spcAft>
              <a:buClr>
                <a:srgbClr val="FF0000"/>
              </a:buClr>
              <a:buSzPct val="100000"/>
              <a:buFont typeface="Noto Sans Symbols"/>
              <a:buChar char="✓"/>
            </a:pPr>
            <a:r>
              <a:rPr b="0" i="0" lang="en-US" sz="1600" u="none" cap="none" strike="noStrike">
                <a:solidFill>
                  <a:srgbClr val="FF0000"/>
                </a:solidFill>
                <a:latin typeface="Arial"/>
                <a:ea typeface="Arial"/>
                <a:cs typeface="Arial"/>
                <a:sym typeface="Arial"/>
              </a:rPr>
              <a:t>Resultan Intermediarios financieros que utilizan activos líquidos en forma de depósitos bancarios</a:t>
            </a:r>
          </a:p>
          <a:p>
            <a:pPr indent="0" lvl="0" marL="0" marR="0" rtl="0" algn="l">
              <a:lnSpc>
                <a:spcPct val="150000"/>
              </a:lnSpc>
              <a:spcBef>
                <a:spcPts val="0"/>
              </a:spcBef>
              <a:spcAft>
                <a:spcPts val="0"/>
              </a:spcAft>
              <a:buClr>
                <a:srgbClr val="FF0000"/>
              </a:buClr>
              <a:buSzPct val="100000"/>
              <a:buFont typeface="Noto Sans Symbols"/>
              <a:buChar char="✓"/>
            </a:pPr>
            <a:r>
              <a:rPr b="0" i="0" lang="en-US" sz="1600" u="none" cap="none" strike="noStrike">
                <a:solidFill>
                  <a:srgbClr val="FF0000"/>
                </a:solidFill>
                <a:latin typeface="Arial"/>
                <a:ea typeface="Arial"/>
                <a:cs typeface="Arial"/>
                <a:sym typeface="Arial"/>
              </a:rPr>
              <a:t>Deben mantener en forma de activos líquidos parte de los fondos depositados (encaje)</a:t>
            </a:r>
          </a:p>
          <a:p>
            <a:pPr indent="0" lvl="0" marL="0" marR="0" rtl="0" algn="l">
              <a:lnSpc>
                <a:spcPct val="150000"/>
              </a:lnSpc>
              <a:spcBef>
                <a:spcPts val="0"/>
              </a:spcBef>
              <a:spcAft>
                <a:spcPts val="0"/>
              </a:spcAft>
              <a:buClr>
                <a:srgbClr val="FF0000"/>
              </a:buClr>
              <a:buSzPct val="100000"/>
              <a:buFont typeface="Noto Sans Symbols"/>
              <a:buChar char="✓"/>
            </a:pPr>
            <a:r>
              <a:rPr b="0" i="0" lang="en-US" sz="1600" u="none" cap="none" strike="noStrike">
                <a:solidFill>
                  <a:srgbClr val="FF0000"/>
                </a:solidFill>
                <a:latin typeface="Arial"/>
                <a:ea typeface="Arial"/>
                <a:cs typeface="Arial"/>
                <a:sym typeface="Arial"/>
              </a:rPr>
              <a:t>No prestan la totalidad de los fondos que reciben (controlan el riesgo crediticio)</a:t>
            </a:r>
          </a:p>
          <a:p>
            <a:pPr indent="0" lvl="0" marL="0" marR="0" rtl="0" algn="l">
              <a:lnSpc>
                <a:spcPct val="150000"/>
              </a:lnSpc>
              <a:spcBef>
                <a:spcPts val="0"/>
              </a:spcBef>
              <a:spcAft>
                <a:spcPts val="0"/>
              </a:spcAft>
              <a:buClr>
                <a:srgbClr val="FF0000"/>
              </a:buClr>
              <a:buSzPct val="100000"/>
              <a:buFont typeface="Noto Sans Symbols"/>
              <a:buChar char="✓"/>
            </a:pPr>
            <a:r>
              <a:rPr b="0" i="0" lang="en-US" sz="1600" u="none" cap="none" strike="noStrike">
                <a:solidFill>
                  <a:srgbClr val="FF0000"/>
                </a:solidFill>
                <a:latin typeface="Arial"/>
                <a:ea typeface="Arial"/>
                <a:cs typeface="Arial"/>
                <a:sym typeface="Arial"/>
              </a:rPr>
              <a:t>Se someten a la regulación bancaria (Garantía de depósito, Capital reglamentario y Reservas reglamentarias)</a:t>
            </a:r>
          </a:p>
          <a:p>
            <a:pPr indent="0" lvl="0" marL="0" marR="0" rtl="0" algn="ctr">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p:txBody>
      </p:sp>
      <p:pic>
        <p:nvPicPr>
          <p:cNvPr id="212" name="Shape 212"/>
          <p:cNvPicPr preferRelativeResize="0"/>
          <p:nvPr/>
        </p:nvPicPr>
        <p:blipFill rotWithShape="1">
          <a:blip r:embed="rId5">
            <a:alphaModFix/>
          </a:blip>
          <a:srcRect b="0" l="0" r="0" t="0"/>
          <a:stretch/>
        </p:blipFill>
        <p:spPr>
          <a:xfrm>
            <a:off x="4572000" y="5300662"/>
            <a:ext cx="4495800" cy="1557337"/>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6" name="Shape 216"/>
        <p:cNvGrpSpPr/>
        <p:nvPr/>
      </p:nvGrpSpPr>
      <p:grpSpPr>
        <a:xfrm>
          <a:off x="0" y="0"/>
          <a:ext cx="0" cy="0"/>
          <a:chOff x="0" y="0"/>
          <a:chExt cx="0" cy="0"/>
        </a:xfrm>
      </p:grpSpPr>
      <p:sp>
        <p:nvSpPr>
          <p:cNvPr id="217" name="Shape 217"/>
          <p:cNvSpPr txBox="1"/>
          <p:nvPr>
            <p:ph type="title"/>
          </p:nvPr>
        </p:nvSpPr>
        <p:spPr>
          <a:xfrm>
            <a:off x="914400" y="152400"/>
            <a:ext cx="7772400" cy="7159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Calibri"/>
              <a:buNone/>
            </a:pPr>
            <a:r>
              <a:rPr b="0" i="0" lang="en-US" sz="3200" u="none" cap="none" strike="noStrike">
                <a:solidFill>
                  <a:schemeClr val="dk1"/>
                </a:solidFill>
                <a:latin typeface="Calibri"/>
                <a:ea typeface="Calibri"/>
                <a:cs typeface="Calibri"/>
                <a:sym typeface="Calibri"/>
              </a:rPr>
              <a:t>Estadísticas BCRA 02/01/2015-03/08/2015</a:t>
            </a:r>
          </a:p>
        </p:txBody>
      </p:sp>
      <p:grpSp>
        <p:nvGrpSpPr>
          <p:cNvPr id="218" name="Shape 218"/>
          <p:cNvGrpSpPr/>
          <p:nvPr/>
        </p:nvGrpSpPr>
        <p:grpSpPr>
          <a:xfrm>
            <a:off x="152400" y="838200"/>
            <a:ext cx="8763000" cy="5791200"/>
            <a:chOff x="152400" y="838200"/>
            <a:chExt cx="8763000" cy="5791200"/>
          </a:xfrm>
        </p:grpSpPr>
        <p:sp>
          <p:nvSpPr>
            <p:cNvPr id="219" name="Shape 219"/>
            <p:cNvSpPr txBox="1"/>
            <p:nvPr/>
          </p:nvSpPr>
          <p:spPr>
            <a:xfrm>
              <a:off x="8029575" y="6296025"/>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7,48%</a:t>
              </a:r>
            </a:p>
          </p:txBody>
        </p:sp>
        <p:sp>
          <p:nvSpPr>
            <p:cNvPr id="220" name="Shape 220"/>
            <p:cNvSpPr txBox="1"/>
            <p:nvPr/>
          </p:nvSpPr>
          <p:spPr>
            <a:xfrm>
              <a:off x="6985000" y="629602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8,5537 </a:t>
              </a:r>
            </a:p>
          </p:txBody>
        </p:sp>
        <p:sp>
          <p:nvSpPr>
            <p:cNvPr id="221" name="Shape 221"/>
            <p:cNvSpPr txBox="1"/>
            <p:nvPr/>
          </p:nvSpPr>
          <p:spPr>
            <a:xfrm>
              <a:off x="5940425" y="629602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9,1937 </a:t>
              </a:r>
            </a:p>
          </p:txBody>
        </p:sp>
        <p:sp>
          <p:nvSpPr>
            <p:cNvPr id="222" name="Shape 222"/>
            <p:cNvSpPr txBox="1"/>
            <p:nvPr/>
          </p:nvSpPr>
          <p:spPr>
            <a:xfrm>
              <a:off x="152400" y="6296025"/>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Tipo de cambio de referencia (pesos por dólar estadounidense)</a:t>
              </a:r>
            </a:p>
          </p:txBody>
        </p:sp>
        <p:sp>
          <p:nvSpPr>
            <p:cNvPr id="223" name="Shape 223"/>
            <p:cNvSpPr txBox="1"/>
            <p:nvPr/>
          </p:nvSpPr>
          <p:spPr>
            <a:xfrm>
              <a:off x="8029575" y="5962650"/>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15,65%</a:t>
              </a:r>
            </a:p>
          </p:txBody>
        </p:sp>
        <p:sp>
          <p:nvSpPr>
            <p:cNvPr id="224" name="Shape 224"/>
            <p:cNvSpPr txBox="1"/>
            <p:nvPr/>
          </p:nvSpPr>
          <p:spPr>
            <a:xfrm>
              <a:off x="6985000" y="596265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597.292</a:t>
              </a:r>
            </a:p>
          </p:txBody>
        </p:sp>
        <p:sp>
          <p:nvSpPr>
            <p:cNvPr id="225" name="Shape 225"/>
            <p:cNvSpPr txBox="1"/>
            <p:nvPr/>
          </p:nvSpPr>
          <p:spPr>
            <a:xfrm>
              <a:off x="5940425" y="596265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690.791</a:t>
              </a:r>
            </a:p>
          </p:txBody>
        </p:sp>
        <p:sp>
          <p:nvSpPr>
            <p:cNvPr id="226" name="Shape 226"/>
            <p:cNvSpPr txBox="1"/>
            <p:nvPr/>
          </p:nvSpPr>
          <p:spPr>
            <a:xfrm>
              <a:off x="152400" y="5962650"/>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Préstamos de las entidades financieras al sector privado</a:t>
              </a:r>
            </a:p>
          </p:txBody>
        </p:sp>
        <p:sp>
          <p:nvSpPr>
            <p:cNvPr id="227" name="Shape 227"/>
            <p:cNvSpPr txBox="1"/>
            <p:nvPr/>
          </p:nvSpPr>
          <p:spPr>
            <a:xfrm>
              <a:off x="8029575" y="5629275"/>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1,76%</a:t>
              </a:r>
            </a:p>
          </p:txBody>
        </p:sp>
        <p:sp>
          <p:nvSpPr>
            <p:cNvPr id="228" name="Shape 228"/>
            <p:cNvSpPr txBox="1"/>
            <p:nvPr/>
          </p:nvSpPr>
          <p:spPr>
            <a:xfrm>
              <a:off x="6985000" y="562927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44.464</a:t>
              </a:r>
            </a:p>
          </p:txBody>
        </p:sp>
        <p:sp>
          <p:nvSpPr>
            <p:cNvPr id="229" name="Shape 229"/>
            <p:cNvSpPr txBox="1"/>
            <p:nvPr/>
          </p:nvSpPr>
          <p:spPr>
            <a:xfrm>
              <a:off x="5940425" y="562927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45.248</a:t>
              </a:r>
            </a:p>
          </p:txBody>
        </p:sp>
        <p:sp>
          <p:nvSpPr>
            <p:cNvPr id="230" name="Shape 230"/>
            <p:cNvSpPr txBox="1"/>
            <p:nvPr/>
          </p:nvSpPr>
          <p:spPr>
            <a:xfrm>
              <a:off x="152400" y="5629275"/>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Otros depósitos (incluye depósitos canjeados por BODEN)</a:t>
              </a:r>
            </a:p>
          </p:txBody>
        </p:sp>
        <p:sp>
          <p:nvSpPr>
            <p:cNvPr id="231" name="Shape 231"/>
            <p:cNvSpPr txBox="1"/>
            <p:nvPr/>
          </p:nvSpPr>
          <p:spPr>
            <a:xfrm>
              <a:off x="8029575" y="5297487"/>
              <a:ext cx="885825" cy="3317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30,84%</a:t>
              </a:r>
            </a:p>
          </p:txBody>
        </p:sp>
        <p:sp>
          <p:nvSpPr>
            <p:cNvPr id="232" name="Shape 232"/>
            <p:cNvSpPr txBox="1"/>
            <p:nvPr/>
          </p:nvSpPr>
          <p:spPr>
            <a:xfrm>
              <a:off x="6985000" y="5297487"/>
              <a:ext cx="1044575" cy="3317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386.819</a:t>
              </a:r>
            </a:p>
          </p:txBody>
        </p:sp>
        <p:sp>
          <p:nvSpPr>
            <p:cNvPr id="233" name="Shape 233"/>
            <p:cNvSpPr txBox="1"/>
            <p:nvPr/>
          </p:nvSpPr>
          <p:spPr>
            <a:xfrm>
              <a:off x="5940425" y="5297487"/>
              <a:ext cx="1044575" cy="3317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506.132</a:t>
              </a:r>
            </a:p>
          </p:txBody>
        </p:sp>
        <p:sp>
          <p:nvSpPr>
            <p:cNvPr id="234" name="Shape 234"/>
            <p:cNvSpPr txBox="1"/>
            <p:nvPr/>
          </p:nvSpPr>
          <p:spPr>
            <a:xfrm>
              <a:off x="152400" y="5297487"/>
              <a:ext cx="5788025" cy="3317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A plazo (incluye inversiones y excluye CEDROS)</a:t>
              </a:r>
            </a:p>
          </p:txBody>
        </p:sp>
        <p:sp>
          <p:nvSpPr>
            <p:cNvPr id="235" name="Shape 235"/>
            <p:cNvSpPr txBox="1"/>
            <p:nvPr/>
          </p:nvSpPr>
          <p:spPr>
            <a:xfrm>
              <a:off x="8029575" y="4964112"/>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21,50%</a:t>
              </a:r>
            </a:p>
          </p:txBody>
        </p:sp>
        <p:sp>
          <p:nvSpPr>
            <p:cNvPr id="236" name="Shape 236"/>
            <p:cNvSpPr txBox="1"/>
            <p:nvPr/>
          </p:nvSpPr>
          <p:spPr>
            <a:xfrm>
              <a:off x="6985000" y="4964112"/>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223.693</a:t>
              </a:r>
            </a:p>
          </p:txBody>
        </p:sp>
        <p:sp>
          <p:nvSpPr>
            <p:cNvPr id="237" name="Shape 237"/>
            <p:cNvSpPr txBox="1"/>
            <p:nvPr/>
          </p:nvSpPr>
          <p:spPr>
            <a:xfrm>
              <a:off x="5940425" y="4964112"/>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271.783</a:t>
              </a:r>
            </a:p>
          </p:txBody>
        </p:sp>
        <p:sp>
          <p:nvSpPr>
            <p:cNvPr id="238" name="Shape 238"/>
            <p:cNvSpPr txBox="1"/>
            <p:nvPr/>
          </p:nvSpPr>
          <p:spPr>
            <a:xfrm>
              <a:off x="152400" y="4964112"/>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En Caja de ahorros</a:t>
              </a:r>
            </a:p>
          </p:txBody>
        </p:sp>
        <p:sp>
          <p:nvSpPr>
            <p:cNvPr id="239" name="Shape 239"/>
            <p:cNvSpPr txBox="1"/>
            <p:nvPr/>
          </p:nvSpPr>
          <p:spPr>
            <a:xfrm>
              <a:off x="8029575" y="4627562"/>
              <a:ext cx="885825" cy="336549"/>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-10,32%</a:t>
              </a:r>
            </a:p>
          </p:txBody>
        </p:sp>
        <p:sp>
          <p:nvSpPr>
            <p:cNvPr id="240" name="Shape 240"/>
            <p:cNvSpPr txBox="1"/>
            <p:nvPr/>
          </p:nvSpPr>
          <p:spPr>
            <a:xfrm>
              <a:off x="6985000" y="4627562"/>
              <a:ext cx="1044575" cy="336549"/>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312.923</a:t>
              </a:r>
            </a:p>
          </p:txBody>
        </p:sp>
        <p:sp>
          <p:nvSpPr>
            <p:cNvPr id="241" name="Shape 241"/>
            <p:cNvSpPr txBox="1"/>
            <p:nvPr/>
          </p:nvSpPr>
          <p:spPr>
            <a:xfrm>
              <a:off x="5940425" y="4627562"/>
              <a:ext cx="1044575" cy="336549"/>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280.630</a:t>
              </a:r>
            </a:p>
          </p:txBody>
        </p:sp>
        <p:sp>
          <p:nvSpPr>
            <p:cNvPr id="242" name="Shape 242"/>
            <p:cNvSpPr txBox="1"/>
            <p:nvPr/>
          </p:nvSpPr>
          <p:spPr>
            <a:xfrm>
              <a:off x="152400" y="4627562"/>
              <a:ext cx="5788025" cy="336549"/>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0" i="0" lang="en-US" sz="1400" u="none" cap="none" strike="noStrike">
                  <a:solidFill>
                    <a:srgbClr val="2F8F0D"/>
                  </a:solidFill>
                  <a:latin typeface="Calibri"/>
                  <a:ea typeface="Calibri"/>
                  <a:cs typeface="Calibri"/>
                  <a:sym typeface="Calibri"/>
                </a:rPr>
                <a:t>En cuentas corrientes (neto de utilización FUCO)</a:t>
              </a:r>
            </a:p>
          </p:txBody>
        </p:sp>
        <p:sp>
          <p:nvSpPr>
            <p:cNvPr id="243" name="Shape 243"/>
            <p:cNvSpPr txBox="1"/>
            <p:nvPr/>
          </p:nvSpPr>
          <p:spPr>
            <a:xfrm>
              <a:off x="8029575" y="4294187"/>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1" i="0" lang="en-US" sz="1400" u="none" cap="none" strike="noStrike">
                  <a:solidFill>
                    <a:srgbClr val="2F8F0D"/>
                  </a:solidFill>
                  <a:latin typeface="Calibri"/>
                  <a:ea typeface="Calibri"/>
                  <a:cs typeface="Calibri"/>
                  <a:sym typeface="Calibri"/>
                </a:rPr>
                <a:t>14,04%</a:t>
              </a:r>
            </a:p>
          </p:txBody>
        </p:sp>
        <p:sp>
          <p:nvSpPr>
            <p:cNvPr id="244" name="Shape 244"/>
            <p:cNvSpPr txBox="1"/>
            <p:nvPr/>
          </p:nvSpPr>
          <p:spPr>
            <a:xfrm>
              <a:off x="6985000" y="4294187"/>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1" i="0" lang="en-US" sz="1400" u="none" cap="none" strike="noStrike">
                  <a:solidFill>
                    <a:srgbClr val="2F8F0D"/>
                  </a:solidFill>
                  <a:latin typeface="Calibri"/>
                  <a:ea typeface="Calibri"/>
                  <a:cs typeface="Calibri"/>
                  <a:sym typeface="Calibri"/>
                </a:rPr>
                <a:t>967.898</a:t>
              </a:r>
            </a:p>
          </p:txBody>
        </p:sp>
        <p:sp>
          <p:nvSpPr>
            <p:cNvPr id="245" name="Shape 245"/>
            <p:cNvSpPr txBox="1"/>
            <p:nvPr/>
          </p:nvSpPr>
          <p:spPr>
            <a:xfrm>
              <a:off x="5940425" y="4294187"/>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1" i="0" lang="en-US" sz="1400" u="none" cap="none" strike="noStrike">
                  <a:solidFill>
                    <a:srgbClr val="2F8F0D"/>
                  </a:solidFill>
                  <a:latin typeface="Calibri"/>
                  <a:ea typeface="Calibri"/>
                  <a:cs typeface="Calibri"/>
                  <a:sym typeface="Calibri"/>
                </a:rPr>
                <a:t>1.103.794</a:t>
              </a:r>
            </a:p>
          </p:txBody>
        </p:sp>
        <p:sp>
          <p:nvSpPr>
            <p:cNvPr id="246" name="Shape 246"/>
            <p:cNvSpPr txBox="1"/>
            <p:nvPr/>
          </p:nvSpPr>
          <p:spPr>
            <a:xfrm>
              <a:off x="152400" y="4294187"/>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2F8F0D"/>
                </a:buClr>
                <a:buSzPct val="25000"/>
                <a:buFont typeface="Calibri"/>
                <a:buNone/>
              </a:pPr>
              <a:r>
                <a:rPr b="1" i="0" lang="en-US" sz="1400" u="none" cap="none" strike="noStrike">
                  <a:solidFill>
                    <a:srgbClr val="2F8F0D"/>
                  </a:solidFill>
                  <a:latin typeface="Calibri"/>
                  <a:ea typeface="Calibri"/>
                  <a:cs typeface="Calibri"/>
                  <a:sym typeface="Calibri"/>
                </a:rPr>
                <a:t>Depósitos en efectivo en las entidades financieras (D)</a:t>
              </a:r>
            </a:p>
          </p:txBody>
        </p:sp>
        <p:sp>
          <p:nvSpPr>
            <p:cNvPr id="247" name="Shape 247"/>
            <p:cNvSpPr txBox="1"/>
            <p:nvPr/>
          </p:nvSpPr>
          <p:spPr>
            <a:xfrm>
              <a:off x="8029575" y="3960812"/>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30,79%</a:t>
              </a:r>
            </a:p>
          </p:txBody>
        </p:sp>
        <p:sp>
          <p:nvSpPr>
            <p:cNvPr id="248" name="Shape 248"/>
            <p:cNvSpPr txBox="1"/>
            <p:nvPr/>
          </p:nvSpPr>
          <p:spPr>
            <a:xfrm>
              <a:off x="6985000" y="3960812"/>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229.698</a:t>
              </a:r>
            </a:p>
          </p:txBody>
        </p:sp>
        <p:sp>
          <p:nvSpPr>
            <p:cNvPr id="249" name="Shape 249"/>
            <p:cNvSpPr txBox="1"/>
            <p:nvPr/>
          </p:nvSpPr>
          <p:spPr>
            <a:xfrm>
              <a:off x="5940425" y="3960812"/>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300.417</a:t>
              </a:r>
            </a:p>
          </p:txBody>
        </p:sp>
        <p:sp>
          <p:nvSpPr>
            <p:cNvPr id="250" name="Shape 250"/>
            <p:cNvSpPr txBox="1"/>
            <p:nvPr/>
          </p:nvSpPr>
          <p:spPr>
            <a:xfrm>
              <a:off x="152400" y="3960812"/>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LEBAC (valor efectivo de colocación)</a:t>
              </a:r>
            </a:p>
          </p:txBody>
        </p:sp>
        <p:sp>
          <p:nvSpPr>
            <p:cNvPr id="251" name="Shape 251"/>
            <p:cNvSpPr txBox="1"/>
            <p:nvPr/>
          </p:nvSpPr>
          <p:spPr>
            <a:xfrm>
              <a:off x="8029575" y="3540125"/>
              <a:ext cx="885825" cy="420687"/>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16,42%</a:t>
              </a:r>
            </a:p>
          </p:txBody>
        </p:sp>
        <p:sp>
          <p:nvSpPr>
            <p:cNvPr id="252" name="Shape 252"/>
            <p:cNvSpPr txBox="1"/>
            <p:nvPr/>
          </p:nvSpPr>
          <p:spPr>
            <a:xfrm>
              <a:off x="6985000" y="3540125"/>
              <a:ext cx="1044575" cy="420687"/>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106.383</a:t>
              </a:r>
            </a:p>
          </p:txBody>
        </p:sp>
        <p:sp>
          <p:nvSpPr>
            <p:cNvPr id="253" name="Shape 253"/>
            <p:cNvSpPr txBox="1"/>
            <p:nvPr/>
          </p:nvSpPr>
          <p:spPr>
            <a:xfrm>
              <a:off x="5940425" y="3540125"/>
              <a:ext cx="1044575" cy="420687"/>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123.850</a:t>
              </a:r>
            </a:p>
          </p:txBody>
        </p:sp>
        <p:sp>
          <p:nvSpPr>
            <p:cNvPr id="254" name="Shape 254"/>
            <p:cNvSpPr txBox="1"/>
            <p:nvPr/>
          </p:nvSpPr>
          <p:spPr>
            <a:xfrm>
              <a:off x="152400" y="3540125"/>
              <a:ext cx="5788025" cy="420687"/>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Depósitos de los bancos en cta. cte. en pesos en el B.C.R.A. (DR)</a:t>
              </a:r>
            </a:p>
          </p:txBody>
        </p:sp>
        <p:sp>
          <p:nvSpPr>
            <p:cNvPr id="255" name="Shape 255"/>
            <p:cNvSpPr txBox="1"/>
            <p:nvPr/>
          </p:nvSpPr>
          <p:spPr>
            <a:xfrm>
              <a:off x="8029575" y="3206750"/>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-15,39%</a:t>
              </a:r>
            </a:p>
          </p:txBody>
        </p:sp>
        <p:sp>
          <p:nvSpPr>
            <p:cNvPr id="256" name="Shape 256"/>
            <p:cNvSpPr txBox="1"/>
            <p:nvPr/>
          </p:nvSpPr>
          <p:spPr>
            <a:xfrm>
              <a:off x="6985000" y="320675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43.884</a:t>
              </a:r>
            </a:p>
          </p:txBody>
        </p:sp>
        <p:sp>
          <p:nvSpPr>
            <p:cNvPr id="257" name="Shape 257"/>
            <p:cNvSpPr txBox="1"/>
            <p:nvPr/>
          </p:nvSpPr>
          <p:spPr>
            <a:xfrm>
              <a:off x="5940425" y="320675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37.129</a:t>
              </a:r>
            </a:p>
          </p:txBody>
        </p:sp>
        <p:sp>
          <p:nvSpPr>
            <p:cNvPr id="258" name="Shape 258"/>
            <p:cNvSpPr txBox="1"/>
            <p:nvPr/>
          </p:nvSpPr>
          <p:spPr>
            <a:xfrm>
              <a:off x="152400" y="3206750"/>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Efectivo en entidades financieras (EEF)</a:t>
              </a:r>
            </a:p>
          </p:txBody>
        </p:sp>
        <p:sp>
          <p:nvSpPr>
            <p:cNvPr id="259" name="Shape 259"/>
            <p:cNvSpPr txBox="1"/>
            <p:nvPr/>
          </p:nvSpPr>
          <p:spPr>
            <a:xfrm>
              <a:off x="8029575" y="2873375"/>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17,42%</a:t>
              </a:r>
            </a:p>
          </p:txBody>
        </p:sp>
        <p:sp>
          <p:nvSpPr>
            <p:cNvPr id="260" name="Shape 260"/>
            <p:cNvSpPr txBox="1"/>
            <p:nvPr/>
          </p:nvSpPr>
          <p:spPr>
            <a:xfrm>
              <a:off x="6985000" y="287337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315.595</a:t>
              </a:r>
            </a:p>
          </p:txBody>
        </p:sp>
        <p:sp>
          <p:nvSpPr>
            <p:cNvPr id="261" name="Shape 261"/>
            <p:cNvSpPr txBox="1"/>
            <p:nvPr/>
          </p:nvSpPr>
          <p:spPr>
            <a:xfrm>
              <a:off x="5940425" y="2873375"/>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370.560</a:t>
              </a:r>
            </a:p>
          </p:txBody>
        </p:sp>
        <p:sp>
          <p:nvSpPr>
            <p:cNvPr id="262" name="Shape 262"/>
            <p:cNvSpPr txBox="1"/>
            <p:nvPr/>
          </p:nvSpPr>
          <p:spPr>
            <a:xfrm>
              <a:off x="152400" y="2873375"/>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rgbClr val="FF0000"/>
                </a:buClr>
                <a:buSzPct val="25000"/>
                <a:buFont typeface="Calibri"/>
                <a:buNone/>
              </a:pPr>
              <a:r>
                <a:rPr b="0" i="0" lang="en-US" sz="1400" u="none" cap="none" strike="noStrike">
                  <a:solidFill>
                    <a:srgbClr val="FF0000"/>
                  </a:solidFill>
                  <a:latin typeface="Calibri"/>
                  <a:ea typeface="Calibri"/>
                  <a:cs typeface="Calibri"/>
                  <a:sym typeface="Calibri"/>
                </a:rPr>
                <a:t>Billetes y monedas en poder del público (EMP)</a:t>
              </a:r>
            </a:p>
          </p:txBody>
        </p:sp>
        <p:sp>
          <p:nvSpPr>
            <p:cNvPr id="263" name="Shape 263"/>
            <p:cNvSpPr txBox="1"/>
            <p:nvPr/>
          </p:nvSpPr>
          <p:spPr>
            <a:xfrm>
              <a:off x="8029575" y="2540000"/>
              <a:ext cx="8858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13,41%</a:t>
              </a:r>
            </a:p>
          </p:txBody>
        </p:sp>
        <p:sp>
          <p:nvSpPr>
            <p:cNvPr id="264" name="Shape 264"/>
            <p:cNvSpPr txBox="1"/>
            <p:nvPr/>
          </p:nvSpPr>
          <p:spPr>
            <a:xfrm>
              <a:off x="6985000" y="254000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359.479</a:t>
              </a:r>
            </a:p>
          </p:txBody>
        </p:sp>
        <p:sp>
          <p:nvSpPr>
            <p:cNvPr id="265" name="Shape 265"/>
            <p:cNvSpPr txBox="1"/>
            <p:nvPr/>
          </p:nvSpPr>
          <p:spPr>
            <a:xfrm>
              <a:off x="5940425" y="2540000"/>
              <a:ext cx="1044575" cy="333374"/>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407.689</a:t>
              </a:r>
            </a:p>
          </p:txBody>
        </p:sp>
        <p:sp>
          <p:nvSpPr>
            <p:cNvPr id="266" name="Shape 266"/>
            <p:cNvSpPr txBox="1"/>
            <p:nvPr/>
          </p:nvSpPr>
          <p:spPr>
            <a:xfrm>
              <a:off x="152400" y="2540000"/>
              <a:ext cx="5788025" cy="333374"/>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Circulación monetaria</a:t>
              </a:r>
            </a:p>
          </p:txBody>
        </p:sp>
        <p:sp>
          <p:nvSpPr>
            <p:cNvPr id="267" name="Shape 267"/>
            <p:cNvSpPr txBox="1"/>
            <p:nvPr/>
          </p:nvSpPr>
          <p:spPr>
            <a:xfrm>
              <a:off x="8029575" y="2208211"/>
              <a:ext cx="885825" cy="3317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14,10%</a:t>
              </a:r>
            </a:p>
          </p:txBody>
        </p:sp>
        <p:sp>
          <p:nvSpPr>
            <p:cNvPr id="268" name="Shape 268"/>
            <p:cNvSpPr txBox="1"/>
            <p:nvPr/>
          </p:nvSpPr>
          <p:spPr>
            <a:xfrm>
              <a:off x="6985000" y="2208211"/>
              <a:ext cx="1044575" cy="3317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465.862</a:t>
              </a:r>
            </a:p>
          </p:txBody>
        </p:sp>
        <p:sp>
          <p:nvSpPr>
            <p:cNvPr id="269" name="Shape 269"/>
            <p:cNvSpPr txBox="1"/>
            <p:nvPr/>
          </p:nvSpPr>
          <p:spPr>
            <a:xfrm>
              <a:off x="5940425" y="2208211"/>
              <a:ext cx="1044575" cy="3317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531.539</a:t>
              </a:r>
            </a:p>
          </p:txBody>
        </p:sp>
        <p:sp>
          <p:nvSpPr>
            <p:cNvPr id="270" name="Shape 270"/>
            <p:cNvSpPr txBox="1"/>
            <p:nvPr/>
          </p:nvSpPr>
          <p:spPr>
            <a:xfrm>
              <a:off x="152400" y="2208211"/>
              <a:ext cx="5788025" cy="3317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accent1"/>
                </a:buClr>
                <a:buSzPct val="25000"/>
                <a:buFont typeface="Calibri"/>
                <a:buNone/>
              </a:pPr>
              <a:r>
                <a:rPr b="1" i="0" lang="en-US" sz="1400" u="none" cap="none" strike="noStrike">
                  <a:solidFill>
                    <a:schemeClr val="accent1"/>
                  </a:solidFill>
                  <a:latin typeface="Calibri"/>
                  <a:ea typeface="Calibri"/>
                  <a:cs typeface="Calibri"/>
                  <a:sym typeface="Calibri"/>
                </a:rPr>
                <a:t>Base monetaria (incluye expansión por cuasimonedas)</a:t>
              </a:r>
            </a:p>
          </p:txBody>
        </p:sp>
        <p:sp>
          <p:nvSpPr>
            <p:cNvPr id="271" name="Shape 271"/>
            <p:cNvSpPr txBox="1"/>
            <p:nvPr/>
          </p:nvSpPr>
          <p:spPr>
            <a:xfrm>
              <a:off x="8029575" y="1406525"/>
              <a:ext cx="885825" cy="8016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8,23%</a:t>
              </a:r>
            </a:p>
          </p:txBody>
        </p:sp>
        <p:sp>
          <p:nvSpPr>
            <p:cNvPr id="272" name="Shape 272"/>
            <p:cNvSpPr txBox="1"/>
            <p:nvPr/>
          </p:nvSpPr>
          <p:spPr>
            <a:xfrm>
              <a:off x="6985000" y="1406525"/>
              <a:ext cx="1044575" cy="8016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31.337</a:t>
              </a:r>
            </a:p>
          </p:txBody>
        </p:sp>
        <p:sp>
          <p:nvSpPr>
            <p:cNvPr id="273" name="Shape 273"/>
            <p:cNvSpPr txBox="1"/>
            <p:nvPr/>
          </p:nvSpPr>
          <p:spPr>
            <a:xfrm>
              <a:off x="5940425" y="1406525"/>
              <a:ext cx="1044575" cy="801686"/>
            </a:xfrm>
            <a:prstGeom prst="rect">
              <a:avLst/>
            </a:prstGeom>
            <a:solidFill>
              <a:srgbClr val="FFFFFF"/>
            </a:solid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33.915</a:t>
              </a:r>
            </a:p>
          </p:txBody>
        </p:sp>
        <p:sp>
          <p:nvSpPr>
            <p:cNvPr id="274" name="Shape 274"/>
            <p:cNvSpPr txBox="1"/>
            <p:nvPr/>
          </p:nvSpPr>
          <p:spPr>
            <a:xfrm>
              <a:off x="152400" y="1406525"/>
              <a:ext cx="5788025" cy="801686"/>
            </a:xfrm>
            <a:prstGeom prst="rect">
              <a:avLst/>
            </a:prstGeom>
            <a:noFill/>
            <a:ln>
              <a:noFill/>
            </a:ln>
          </p:spPr>
          <p:txBody>
            <a:bodyPr anchorCtr="1" anchor="t" bIns="0" lIns="0" rIns="0" tIns="0">
              <a:noAutofit/>
            </a:bodyPr>
            <a:lstStyle/>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Reservas Internacionales del B.C.R.A. Excluidas asignaciones DEGs</a:t>
              </a:r>
            </a:p>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2009. (en millones de dólares - cifras provisorias sujetas a cambio</a:t>
              </a:r>
            </a:p>
            <a:p>
              <a:pPr indent="-342900" lvl="0" marL="342900" marR="0" rtl="0" algn="just">
                <a:lnSpc>
                  <a:spcPct val="100000"/>
                </a:lnSpc>
                <a:spcBef>
                  <a:spcPts val="0"/>
                </a:spcBef>
                <a:spcAft>
                  <a:spcPts val="0"/>
                </a:spcAft>
                <a:buClr>
                  <a:schemeClr val="dk1"/>
                </a:buClr>
                <a:buSzPct val="25000"/>
                <a:buFont typeface="Calibri"/>
                <a:buNone/>
              </a:pPr>
              <a:r>
                <a:rPr b="0" i="0" lang="en-US" sz="1400" u="none" cap="none" strike="noStrike">
                  <a:solidFill>
                    <a:schemeClr val="dk1"/>
                  </a:solidFill>
                  <a:latin typeface="Calibri"/>
                  <a:ea typeface="Calibri"/>
                  <a:cs typeface="Calibri"/>
                  <a:sym typeface="Calibri"/>
                </a:rPr>
                <a:t>de valuación)</a:t>
              </a:r>
            </a:p>
          </p:txBody>
        </p:sp>
        <p:sp>
          <p:nvSpPr>
            <p:cNvPr id="275" name="Shape 275"/>
            <p:cNvSpPr txBox="1"/>
            <p:nvPr/>
          </p:nvSpPr>
          <p:spPr>
            <a:xfrm>
              <a:off x="8029575" y="838200"/>
              <a:ext cx="885825" cy="568324"/>
            </a:xfrm>
            <a:prstGeom prst="rect">
              <a:avLst/>
            </a:prstGeom>
            <a:noFill/>
            <a:ln>
              <a:noFill/>
            </a:ln>
          </p:spPr>
          <p:txBody>
            <a:bodyPr anchorCtr="1" anchor="t" bIns="0" lIns="0" rIns="0" tIns="0">
              <a:noAutofit/>
            </a:bodyPr>
            <a:lstStyle/>
            <a:p>
              <a:pPr indent="-342900" lvl="0" marL="342900" marR="0" rtl="0" algn="r">
                <a:lnSpc>
                  <a:spcPct val="100000"/>
                </a:lnSpc>
                <a:spcBef>
                  <a:spcPts val="0"/>
                </a:spcBef>
                <a:spcAft>
                  <a:spcPts val="0"/>
                </a:spcAft>
                <a:buClr>
                  <a:schemeClr val="dk1"/>
                </a:buClr>
                <a:buSzPct val="25000"/>
                <a:buFont typeface="Calibri"/>
                <a:buNone/>
              </a:pPr>
              <a:r>
                <a:rPr b="1" i="0" lang="en-US" sz="1400" u="none" cap="none" strike="noStrike">
                  <a:solidFill>
                    <a:schemeClr val="dk1"/>
                  </a:solidFill>
                  <a:latin typeface="Calibri"/>
                  <a:ea typeface="Calibri"/>
                  <a:cs typeface="Calibri"/>
                  <a:sym typeface="Calibri"/>
                </a:rPr>
                <a:t>Variación </a:t>
              </a:r>
            </a:p>
          </p:txBody>
        </p:sp>
        <p:sp>
          <p:nvSpPr>
            <p:cNvPr id="276" name="Shape 276"/>
            <p:cNvSpPr txBox="1"/>
            <p:nvPr/>
          </p:nvSpPr>
          <p:spPr>
            <a:xfrm>
              <a:off x="6985000" y="838200"/>
              <a:ext cx="1044575" cy="568324"/>
            </a:xfrm>
            <a:prstGeom prst="rect">
              <a:avLst/>
            </a:prstGeom>
            <a:solidFill>
              <a:srgbClr val="FFFFFF"/>
            </a:solidFill>
            <a:ln>
              <a:noFill/>
            </a:ln>
          </p:spPr>
          <p:txBody>
            <a:bodyPr anchorCtr="1" anchor="t" bIns="0" lIns="0" rIns="0" tIns="0">
              <a:noAutofit/>
            </a:bodyPr>
            <a:lstStyle/>
            <a:p>
              <a:pPr indent="-342900" lvl="0" marL="342900" marR="0" rtl="0" algn="ctr">
                <a:lnSpc>
                  <a:spcPct val="100000"/>
                </a:lnSpc>
                <a:spcBef>
                  <a:spcPts val="0"/>
                </a:spcBef>
                <a:spcAft>
                  <a:spcPts val="0"/>
                </a:spcAft>
                <a:buClr>
                  <a:schemeClr val="dk1"/>
                </a:buClr>
                <a:buSzPct val="25000"/>
                <a:buFont typeface="Calibri"/>
                <a:buNone/>
              </a:pPr>
              <a:r>
                <a:rPr b="1" i="0" lang="en-US" sz="1400" u="none" cap="none" strike="noStrike">
                  <a:solidFill>
                    <a:schemeClr val="dk1"/>
                  </a:solidFill>
                  <a:latin typeface="Calibri"/>
                  <a:ea typeface="Calibri"/>
                  <a:cs typeface="Calibri"/>
                  <a:sym typeface="Calibri"/>
                </a:rPr>
                <a:t>02/01/15</a:t>
              </a:r>
            </a:p>
          </p:txBody>
        </p:sp>
        <p:sp>
          <p:nvSpPr>
            <p:cNvPr id="277" name="Shape 277"/>
            <p:cNvSpPr txBox="1"/>
            <p:nvPr/>
          </p:nvSpPr>
          <p:spPr>
            <a:xfrm>
              <a:off x="5940425" y="838200"/>
              <a:ext cx="1044575" cy="568324"/>
            </a:xfrm>
            <a:prstGeom prst="rect">
              <a:avLst/>
            </a:prstGeom>
            <a:noFill/>
            <a:ln>
              <a:noFill/>
            </a:ln>
          </p:spPr>
          <p:txBody>
            <a:bodyPr anchorCtr="1" anchor="t" bIns="0" lIns="0" rIns="0" tIns="0">
              <a:noAutofit/>
            </a:bodyPr>
            <a:lstStyle/>
            <a:p>
              <a:pPr indent="-342900" lvl="0" marL="342900" marR="0" rtl="0" algn="ctr">
                <a:lnSpc>
                  <a:spcPct val="100000"/>
                </a:lnSpc>
                <a:spcBef>
                  <a:spcPts val="0"/>
                </a:spcBef>
                <a:spcAft>
                  <a:spcPts val="0"/>
                </a:spcAft>
                <a:buClr>
                  <a:schemeClr val="dk1"/>
                </a:buClr>
                <a:buSzPct val="25000"/>
                <a:buFont typeface="Calibri"/>
                <a:buNone/>
              </a:pPr>
              <a:r>
                <a:rPr b="1" i="0" lang="en-US" sz="1400" u="none" cap="none" strike="noStrike">
                  <a:solidFill>
                    <a:schemeClr val="dk1"/>
                  </a:solidFill>
                  <a:latin typeface="Calibri"/>
                  <a:ea typeface="Calibri"/>
                  <a:cs typeface="Calibri"/>
                  <a:sym typeface="Calibri"/>
                </a:rPr>
                <a:t>03/08/15</a:t>
              </a:r>
            </a:p>
          </p:txBody>
        </p:sp>
        <p:sp>
          <p:nvSpPr>
            <p:cNvPr id="278" name="Shape 278"/>
            <p:cNvSpPr txBox="1"/>
            <p:nvPr/>
          </p:nvSpPr>
          <p:spPr>
            <a:xfrm>
              <a:off x="152400" y="838200"/>
              <a:ext cx="5788025" cy="568324"/>
            </a:xfrm>
            <a:prstGeom prst="rect">
              <a:avLst/>
            </a:prstGeom>
            <a:solidFill>
              <a:schemeClr val="lt1"/>
            </a:solidFill>
            <a:ln>
              <a:noFill/>
            </a:ln>
          </p:spPr>
          <p:txBody>
            <a:bodyPr anchorCtr="1" anchor="t" bIns="0" lIns="0" rIns="0" tIns="0">
              <a:noAutofit/>
            </a:bodyPr>
            <a:lstStyle/>
            <a:p>
              <a:pPr indent="-342900" lvl="0" marL="342900" marR="0" rtl="0" algn="l">
                <a:lnSpc>
                  <a:spcPct val="100000"/>
                </a:lnSpc>
                <a:spcBef>
                  <a:spcPts val="0"/>
                </a:spcBef>
                <a:spcAft>
                  <a:spcPts val="0"/>
                </a:spcAft>
                <a:buClr>
                  <a:schemeClr val="dk1"/>
                </a:buClr>
                <a:buSzPct val="25000"/>
                <a:buFont typeface="Calibri"/>
                <a:buNone/>
              </a:pPr>
              <a:r>
                <a:rPr b="1" i="0" lang="en-US" sz="1600" u="none" cap="none" strike="noStrike">
                  <a:solidFill>
                    <a:schemeClr val="dk1"/>
                  </a:solidFill>
                  <a:latin typeface="Calibri"/>
                  <a:ea typeface="Calibri"/>
                  <a:cs typeface="Calibri"/>
                  <a:sym typeface="Calibri"/>
                </a:rPr>
                <a:t>Descripción (en millones de $)</a:t>
              </a:r>
            </a:p>
          </p:txBody>
        </p:sp>
        <p:cxnSp>
          <p:nvCxnSpPr>
            <p:cNvPr id="279" name="Shape 279"/>
            <p:cNvCxnSpPr/>
            <p:nvPr/>
          </p:nvCxnSpPr>
          <p:spPr>
            <a:xfrm>
              <a:off x="152400" y="838200"/>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80" name="Shape 280"/>
            <p:cNvCxnSpPr/>
            <p:nvPr/>
          </p:nvCxnSpPr>
          <p:spPr>
            <a:xfrm>
              <a:off x="152400" y="6629400"/>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81" name="Shape 281"/>
            <p:cNvCxnSpPr/>
            <p:nvPr/>
          </p:nvCxnSpPr>
          <p:spPr>
            <a:xfrm>
              <a:off x="152400" y="838200"/>
              <a:ext cx="0" cy="5791200"/>
            </a:xfrm>
            <a:prstGeom prst="straightConnector1">
              <a:avLst/>
            </a:prstGeom>
            <a:noFill/>
            <a:ln cap="flat" cmpd="sng" w="12700">
              <a:solidFill>
                <a:schemeClr val="dk1"/>
              </a:solidFill>
              <a:prstDash val="solid"/>
              <a:miter/>
              <a:headEnd len="med" w="med" type="none"/>
              <a:tailEnd len="med" w="med" type="none"/>
            </a:ln>
          </p:spPr>
        </p:cxnSp>
        <p:cxnSp>
          <p:nvCxnSpPr>
            <p:cNvPr id="282" name="Shape 282"/>
            <p:cNvCxnSpPr/>
            <p:nvPr/>
          </p:nvCxnSpPr>
          <p:spPr>
            <a:xfrm>
              <a:off x="8915400" y="838200"/>
              <a:ext cx="0" cy="5791200"/>
            </a:xfrm>
            <a:prstGeom prst="straightConnector1">
              <a:avLst/>
            </a:prstGeom>
            <a:noFill/>
            <a:ln cap="flat" cmpd="sng" w="12700">
              <a:solidFill>
                <a:srgbClr val="000000"/>
              </a:solidFill>
              <a:prstDash val="solid"/>
              <a:miter/>
              <a:headEnd len="med" w="med" type="none"/>
              <a:tailEnd len="med" w="med" type="none"/>
            </a:ln>
          </p:spPr>
        </p:cxnSp>
        <p:cxnSp>
          <p:nvCxnSpPr>
            <p:cNvPr id="283" name="Shape 283"/>
            <p:cNvCxnSpPr/>
            <p:nvPr/>
          </p:nvCxnSpPr>
          <p:spPr>
            <a:xfrm>
              <a:off x="5940425" y="838200"/>
              <a:ext cx="0" cy="5791200"/>
            </a:xfrm>
            <a:prstGeom prst="straightConnector1">
              <a:avLst/>
            </a:prstGeom>
            <a:noFill/>
            <a:ln cap="flat" cmpd="sng" w="12700">
              <a:solidFill>
                <a:schemeClr val="dk1"/>
              </a:solidFill>
              <a:prstDash val="solid"/>
              <a:miter/>
              <a:headEnd len="med" w="med" type="none"/>
              <a:tailEnd len="med" w="med" type="none"/>
            </a:ln>
          </p:spPr>
        </p:cxnSp>
        <p:cxnSp>
          <p:nvCxnSpPr>
            <p:cNvPr id="284" name="Shape 284"/>
            <p:cNvCxnSpPr/>
            <p:nvPr/>
          </p:nvCxnSpPr>
          <p:spPr>
            <a:xfrm>
              <a:off x="6985000" y="838200"/>
              <a:ext cx="0" cy="5791200"/>
            </a:xfrm>
            <a:prstGeom prst="straightConnector1">
              <a:avLst/>
            </a:prstGeom>
            <a:noFill/>
            <a:ln cap="flat" cmpd="sng" w="12700">
              <a:solidFill>
                <a:schemeClr val="dk1"/>
              </a:solidFill>
              <a:prstDash val="solid"/>
              <a:miter/>
              <a:headEnd len="med" w="med" type="none"/>
              <a:tailEnd len="med" w="med" type="none"/>
            </a:ln>
          </p:spPr>
        </p:cxnSp>
        <p:cxnSp>
          <p:nvCxnSpPr>
            <p:cNvPr id="285" name="Shape 285"/>
            <p:cNvCxnSpPr/>
            <p:nvPr/>
          </p:nvCxnSpPr>
          <p:spPr>
            <a:xfrm>
              <a:off x="8029575" y="838200"/>
              <a:ext cx="0" cy="5791200"/>
            </a:xfrm>
            <a:prstGeom prst="straightConnector1">
              <a:avLst/>
            </a:prstGeom>
            <a:noFill/>
            <a:ln cap="flat" cmpd="sng" w="12700">
              <a:solidFill>
                <a:schemeClr val="dk1"/>
              </a:solidFill>
              <a:prstDash val="solid"/>
              <a:miter/>
              <a:headEnd len="med" w="med" type="none"/>
              <a:tailEnd len="med" w="med" type="none"/>
            </a:ln>
          </p:spPr>
        </p:cxnSp>
        <p:cxnSp>
          <p:nvCxnSpPr>
            <p:cNvPr id="286" name="Shape 286"/>
            <p:cNvCxnSpPr/>
            <p:nvPr/>
          </p:nvCxnSpPr>
          <p:spPr>
            <a:xfrm>
              <a:off x="152400" y="2208211"/>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87" name="Shape 287"/>
            <p:cNvCxnSpPr/>
            <p:nvPr/>
          </p:nvCxnSpPr>
          <p:spPr>
            <a:xfrm>
              <a:off x="152400" y="1406525"/>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88" name="Shape 288"/>
            <p:cNvCxnSpPr/>
            <p:nvPr/>
          </p:nvCxnSpPr>
          <p:spPr>
            <a:xfrm>
              <a:off x="152400" y="2540000"/>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89" name="Shape 289"/>
            <p:cNvCxnSpPr/>
            <p:nvPr/>
          </p:nvCxnSpPr>
          <p:spPr>
            <a:xfrm>
              <a:off x="152400" y="2873375"/>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0" name="Shape 290"/>
            <p:cNvCxnSpPr/>
            <p:nvPr/>
          </p:nvCxnSpPr>
          <p:spPr>
            <a:xfrm>
              <a:off x="152400" y="3206750"/>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1" name="Shape 291"/>
            <p:cNvCxnSpPr/>
            <p:nvPr/>
          </p:nvCxnSpPr>
          <p:spPr>
            <a:xfrm>
              <a:off x="152400" y="3540125"/>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2" name="Shape 292"/>
            <p:cNvCxnSpPr/>
            <p:nvPr/>
          </p:nvCxnSpPr>
          <p:spPr>
            <a:xfrm>
              <a:off x="152400" y="3960812"/>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3" name="Shape 293"/>
            <p:cNvCxnSpPr/>
            <p:nvPr/>
          </p:nvCxnSpPr>
          <p:spPr>
            <a:xfrm>
              <a:off x="152400" y="4294187"/>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4" name="Shape 294"/>
            <p:cNvCxnSpPr/>
            <p:nvPr/>
          </p:nvCxnSpPr>
          <p:spPr>
            <a:xfrm>
              <a:off x="152400" y="4627562"/>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5" name="Shape 295"/>
            <p:cNvCxnSpPr/>
            <p:nvPr/>
          </p:nvCxnSpPr>
          <p:spPr>
            <a:xfrm>
              <a:off x="152400" y="4964112"/>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6" name="Shape 296"/>
            <p:cNvCxnSpPr/>
            <p:nvPr/>
          </p:nvCxnSpPr>
          <p:spPr>
            <a:xfrm>
              <a:off x="152400" y="5297487"/>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7" name="Shape 297"/>
            <p:cNvCxnSpPr/>
            <p:nvPr/>
          </p:nvCxnSpPr>
          <p:spPr>
            <a:xfrm>
              <a:off x="152400" y="5629275"/>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8" name="Shape 298"/>
            <p:cNvCxnSpPr/>
            <p:nvPr/>
          </p:nvCxnSpPr>
          <p:spPr>
            <a:xfrm>
              <a:off x="152400" y="5962650"/>
              <a:ext cx="8763000" cy="0"/>
            </a:xfrm>
            <a:prstGeom prst="straightConnector1">
              <a:avLst/>
            </a:prstGeom>
            <a:noFill/>
            <a:ln cap="flat" cmpd="sng" w="12700">
              <a:solidFill>
                <a:schemeClr val="dk1"/>
              </a:solidFill>
              <a:prstDash val="solid"/>
              <a:miter/>
              <a:headEnd len="med" w="med" type="none"/>
              <a:tailEnd len="med" w="med" type="none"/>
            </a:ln>
          </p:spPr>
        </p:cxnSp>
        <p:cxnSp>
          <p:nvCxnSpPr>
            <p:cNvPr id="299" name="Shape 299"/>
            <p:cNvCxnSpPr/>
            <p:nvPr/>
          </p:nvCxnSpPr>
          <p:spPr>
            <a:xfrm>
              <a:off x="152400" y="6296025"/>
              <a:ext cx="8763000" cy="0"/>
            </a:xfrm>
            <a:prstGeom prst="straightConnector1">
              <a:avLst/>
            </a:prstGeom>
            <a:noFill/>
            <a:ln cap="flat" cmpd="sng" w="12700">
              <a:solidFill>
                <a:schemeClr val="dk1"/>
              </a:solidFill>
              <a:prstDash val="solid"/>
              <a:miter/>
              <a:headEnd len="med" w="med" type="none"/>
              <a:tailEnd len="med" w="med" type="none"/>
            </a:ln>
          </p:spPr>
        </p:cxnSp>
      </p:gr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3" name="Shape 303"/>
        <p:cNvGrpSpPr/>
        <p:nvPr/>
      </p:nvGrpSpPr>
      <p:grpSpPr>
        <a:xfrm>
          <a:off x="0" y="0"/>
          <a:ext cx="0" cy="0"/>
          <a:chOff x="0" y="0"/>
          <a:chExt cx="0" cy="0"/>
        </a:xfrm>
      </p:grpSpPr>
      <p:pic>
        <p:nvPicPr>
          <p:cNvPr id="304" name="Shape 304"/>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05" name="Shape 305"/>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306" name="Shape 30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07" name="Shape 307"/>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BASE MONETARIA</a:t>
            </a:r>
          </a:p>
        </p:txBody>
      </p:sp>
      <p:sp>
        <p:nvSpPr>
          <p:cNvPr id="308" name="Shape 308"/>
          <p:cNvSpPr txBox="1"/>
          <p:nvPr/>
        </p:nvSpPr>
        <p:spPr>
          <a:xfrm>
            <a:off x="76200" y="1371600"/>
            <a:ext cx="8915400" cy="5475286"/>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Font typeface="Arial"/>
              <a:buNone/>
            </a:pPr>
            <a:r>
              <a:t/>
            </a:r>
            <a:endParaRPr b="1" i="0" sz="1100" u="none" cap="none" strike="noStrike">
              <a:solidFill>
                <a:srgbClr val="C00000"/>
              </a:solidFill>
              <a:latin typeface="Arial"/>
              <a:ea typeface="Arial"/>
              <a:cs typeface="Arial"/>
              <a:sym typeface="Arial"/>
            </a:endParaRPr>
          </a:p>
          <a:p>
            <a:pPr indent="0" lvl="0" marL="0" marR="0" rtl="0" algn="ctr">
              <a:lnSpc>
                <a:spcPct val="100000"/>
              </a:lnSpc>
              <a:spcBef>
                <a:spcPts val="0"/>
              </a:spcBef>
              <a:spcAft>
                <a:spcPts val="0"/>
              </a:spcAft>
              <a:buClr>
                <a:srgbClr val="C00000"/>
              </a:buClr>
              <a:buSzPct val="25000"/>
              <a:buFont typeface="Arial"/>
              <a:buNone/>
            </a:pPr>
            <a:r>
              <a:rPr b="1" i="0" lang="en-US" sz="2800" u="none" cap="none" strike="noStrike">
                <a:solidFill>
                  <a:srgbClr val="C00000"/>
                </a:solidFill>
                <a:latin typeface="Arial"/>
                <a:ea typeface="Arial"/>
                <a:cs typeface="Arial"/>
                <a:sym typeface="Arial"/>
              </a:rPr>
              <a:t>Base Monetaria = EMP + EEF + DR</a:t>
            </a:r>
          </a:p>
          <a:p>
            <a:pPr indent="0" lvl="0" marL="0" marR="0" rtl="0" algn="l">
              <a:lnSpc>
                <a:spcPct val="100000"/>
              </a:lnSpc>
              <a:spcBef>
                <a:spcPts val="0"/>
              </a:spcBef>
              <a:spcAft>
                <a:spcPts val="0"/>
              </a:spcAft>
              <a:buClr>
                <a:srgbClr val="C00000"/>
              </a:buClr>
              <a:buSzPct val="25000"/>
              <a:buFont typeface="Arial"/>
              <a:buNone/>
            </a:pPr>
            <a:r>
              <a:rPr b="1" i="0" lang="en-US" sz="1400" u="none" cap="none" strike="noStrike">
                <a:solidFill>
                  <a:srgbClr val="C00000"/>
                </a:solidFill>
                <a:latin typeface="Arial"/>
                <a:ea typeface="Arial"/>
                <a:cs typeface="Arial"/>
                <a:sym typeface="Arial"/>
              </a:rPr>
              <a:t>			                  </a:t>
            </a:r>
            <a:r>
              <a:rPr b="1" i="0" lang="en-US" sz="1400" u="none" cap="none" strike="noStrike">
                <a:solidFill>
                  <a:srgbClr val="2F8F0D"/>
                </a:solidFill>
                <a:latin typeface="Arial"/>
                <a:ea typeface="Arial"/>
                <a:cs typeface="Arial"/>
                <a:sym typeface="Arial"/>
              </a:rPr>
              <a:t>$ 531.539                       =   $370.560    +    $37.129   + $123.850</a:t>
            </a:r>
          </a:p>
          <a:p>
            <a:pPr indent="0" lvl="0" marL="0" marR="0" rtl="0" algn="l">
              <a:lnSpc>
                <a:spcPct val="100000"/>
              </a:lnSpc>
              <a:spcBef>
                <a:spcPts val="0"/>
              </a:spcBef>
              <a:spcAft>
                <a:spcPts val="0"/>
              </a:spcAft>
              <a:buClr>
                <a:srgbClr val="C00000"/>
              </a:buClr>
              <a:buSzPct val="25000"/>
              <a:buFont typeface="Arial"/>
              <a:buNone/>
            </a:pPr>
            <a:r>
              <a:rPr b="1" i="1" lang="en-US" sz="1800" u="none" cap="none" strike="noStrike">
                <a:solidFill>
                  <a:srgbClr val="C00000"/>
                </a:solidFill>
                <a:latin typeface="Arial"/>
                <a:ea typeface="Arial"/>
                <a:cs typeface="Arial"/>
                <a:sym typeface="Arial"/>
              </a:rPr>
              <a:t>Donde:</a:t>
            </a:r>
          </a:p>
          <a:p>
            <a:pPr indent="0" lvl="0" marL="0" marR="0" rtl="0" algn="l">
              <a:lnSpc>
                <a:spcPct val="100000"/>
              </a:lnSpc>
              <a:spcBef>
                <a:spcPts val="0"/>
              </a:spcBef>
              <a:spcAft>
                <a:spcPts val="0"/>
              </a:spcAft>
              <a:buClr>
                <a:srgbClr val="C00000"/>
              </a:buClr>
              <a:buSzPct val="25000"/>
              <a:buFont typeface="Arial"/>
              <a:buNone/>
            </a:pPr>
            <a:r>
              <a:rPr b="1" i="0" lang="en-US" sz="1800" u="none" cap="none" strike="noStrike">
                <a:solidFill>
                  <a:srgbClr val="C00000"/>
                </a:solidFill>
                <a:latin typeface="Arial"/>
                <a:ea typeface="Arial"/>
                <a:cs typeface="Arial"/>
                <a:sym typeface="Arial"/>
              </a:rPr>
              <a:t>EMP: efectivo en manos del público</a:t>
            </a:r>
          </a:p>
          <a:p>
            <a:pPr indent="0" lvl="0" marL="0" marR="0" rtl="0" algn="l">
              <a:lnSpc>
                <a:spcPct val="100000"/>
              </a:lnSpc>
              <a:spcBef>
                <a:spcPts val="0"/>
              </a:spcBef>
              <a:spcAft>
                <a:spcPts val="0"/>
              </a:spcAft>
              <a:buClr>
                <a:srgbClr val="C00000"/>
              </a:buClr>
              <a:buSzPct val="25000"/>
              <a:buFont typeface="Arial"/>
              <a:buNone/>
            </a:pPr>
            <a:r>
              <a:rPr b="1" i="0" lang="en-US" sz="1800" u="none" cap="none" strike="noStrike">
                <a:solidFill>
                  <a:srgbClr val="C00000"/>
                </a:solidFill>
                <a:latin typeface="Arial"/>
                <a:ea typeface="Arial"/>
                <a:cs typeface="Arial"/>
                <a:sym typeface="Arial"/>
              </a:rPr>
              <a:t>EEF: efectivo en entidades financieras</a:t>
            </a:r>
          </a:p>
          <a:p>
            <a:pPr indent="0" lvl="0" marL="0" marR="0" rtl="0" algn="l">
              <a:lnSpc>
                <a:spcPct val="100000"/>
              </a:lnSpc>
              <a:spcBef>
                <a:spcPts val="0"/>
              </a:spcBef>
              <a:spcAft>
                <a:spcPts val="0"/>
              </a:spcAft>
              <a:buClr>
                <a:srgbClr val="C00000"/>
              </a:buClr>
              <a:buSzPct val="25000"/>
              <a:buFont typeface="Arial"/>
              <a:buNone/>
            </a:pPr>
            <a:r>
              <a:rPr b="1" i="0" lang="en-US" sz="1800" u="none" cap="none" strike="noStrike">
                <a:solidFill>
                  <a:srgbClr val="C00000"/>
                </a:solidFill>
                <a:latin typeface="Arial"/>
                <a:ea typeface="Arial"/>
                <a:cs typeface="Arial"/>
                <a:sym typeface="Arial"/>
              </a:rPr>
              <a:t>DR: depósitos de las entidades financieras en el BC</a:t>
            </a:r>
          </a:p>
          <a:p>
            <a:pPr indent="0" lvl="0" marL="0" marR="0" rtl="0" algn="l">
              <a:lnSpc>
                <a:spcPct val="100000"/>
              </a:lnSpc>
              <a:spcBef>
                <a:spcPts val="0"/>
              </a:spcBef>
              <a:spcAft>
                <a:spcPts val="0"/>
              </a:spcAft>
              <a:buClr>
                <a:srgbClr val="C00000"/>
              </a:buClr>
              <a:buSzPct val="25000"/>
              <a:buFont typeface="Arial"/>
              <a:buNone/>
            </a:pPr>
            <a:r>
              <a:rPr b="1" i="0" lang="en-US" sz="1800" u="none" cap="none" strike="noStrike">
                <a:solidFill>
                  <a:srgbClr val="C00000"/>
                </a:solidFill>
                <a:latin typeface="Arial"/>
                <a:ea typeface="Arial"/>
                <a:cs typeface="Arial"/>
                <a:sym typeface="Arial"/>
              </a:rPr>
              <a:t>Si llamamos Circulación Monetaria a CM = EMP + EEF , tenemos </a:t>
            </a:r>
          </a:p>
          <a:p>
            <a:pPr indent="0" lvl="0" marL="0" marR="0" rtl="0" algn="l">
              <a:lnSpc>
                <a:spcPct val="100000"/>
              </a:lnSpc>
              <a:spcBef>
                <a:spcPts val="0"/>
              </a:spcBef>
              <a:spcAft>
                <a:spcPts val="0"/>
              </a:spcAft>
              <a:buClr>
                <a:srgbClr val="C00000"/>
              </a:buClr>
              <a:buSzPct val="25000"/>
              <a:buFont typeface="Arial"/>
              <a:buNone/>
            </a:pPr>
            <a:r>
              <a:rPr b="1" i="0" lang="en-US" sz="2800" u="none" cap="none" strike="noStrike">
                <a:solidFill>
                  <a:srgbClr val="C00000"/>
                </a:solidFill>
                <a:latin typeface="Arial"/>
                <a:ea typeface="Arial"/>
                <a:cs typeface="Arial"/>
                <a:sym typeface="Arial"/>
              </a:rPr>
              <a:t>			Base Monetaria =   CM     +      DR  </a:t>
            </a:r>
            <a:r>
              <a:rPr b="0" i="0" lang="en-US" sz="1600" u="none" cap="none" strike="noStrike">
                <a:solidFill>
                  <a:srgbClr val="C00000"/>
                </a:solidFill>
                <a:latin typeface="Arial"/>
                <a:ea typeface="Arial"/>
                <a:cs typeface="Arial"/>
                <a:sym typeface="Arial"/>
              </a:rPr>
              <a:t>d</a:t>
            </a:r>
            <a:r>
              <a:rPr b="0" i="1" lang="en-US" sz="1600" u="none" cap="none" strike="noStrike">
                <a:solidFill>
                  <a:srgbClr val="C00000"/>
                </a:solidFill>
                <a:latin typeface="Arial"/>
                <a:ea typeface="Arial"/>
                <a:cs typeface="Arial"/>
                <a:sym typeface="Arial"/>
              </a:rPr>
              <a:t>onde:</a:t>
            </a:r>
          </a:p>
          <a:p>
            <a:pPr indent="0" lvl="0" marL="0" marR="0" rtl="0" algn="ctr">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                       </a:t>
            </a:r>
            <a:r>
              <a:rPr b="1" i="0" lang="en-US" sz="1400" u="none" cap="none" strike="noStrike">
                <a:solidFill>
                  <a:srgbClr val="2F8F0D"/>
                </a:solidFill>
                <a:latin typeface="Arial"/>
                <a:ea typeface="Arial"/>
                <a:cs typeface="Arial"/>
                <a:sym typeface="Arial"/>
              </a:rPr>
              <a:t>$ 531.539    =     $407.689        +       $123.850</a:t>
            </a:r>
          </a:p>
          <a:p>
            <a:pPr indent="0" lvl="0" marL="0" marR="0" rtl="0" algn="l">
              <a:lnSpc>
                <a:spcPct val="100000"/>
              </a:lnSpc>
              <a:spcBef>
                <a:spcPts val="0"/>
              </a:spcBef>
              <a:spcAft>
                <a:spcPts val="0"/>
              </a:spcAft>
              <a:buClr>
                <a:schemeClr val="dk1"/>
              </a:buClr>
              <a:buFont typeface="Arial"/>
              <a:buNone/>
            </a:pPr>
            <a:r>
              <a:t/>
            </a:r>
            <a:endParaRPr b="1"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0070C0"/>
              </a:buClr>
              <a:buSzPct val="25000"/>
              <a:buFont typeface="Arial"/>
              <a:buNone/>
            </a:pPr>
            <a:r>
              <a:rPr b="1" i="0" lang="en-US" sz="1800" u="none" cap="none" strike="noStrike">
                <a:solidFill>
                  <a:srgbClr val="0070C0"/>
                </a:solidFill>
                <a:latin typeface="Arial"/>
                <a:ea typeface="Arial"/>
                <a:cs typeface="Arial"/>
                <a:sym typeface="Arial"/>
              </a:rPr>
              <a:t>Si efectivo mínimo o reservas de las entidades financieras es R = EEF + DR</a:t>
            </a:r>
          </a:p>
          <a:p>
            <a:pPr indent="0" lvl="0" marL="0" marR="0" rtl="0" algn="l">
              <a:lnSpc>
                <a:spcPct val="100000"/>
              </a:lnSpc>
              <a:spcBef>
                <a:spcPts val="0"/>
              </a:spcBef>
              <a:spcAft>
                <a:spcPts val="0"/>
              </a:spcAft>
              <a:buClr>
                <a:srgbClr val="0070C0"/>
              </a:buClr>
              <a:buSzPct val="25000"/>
              <a:buFont typeface="Arial"/>
              <a:buNone/>
            </a:pPr>
            <a:r>
              <a:rPr b="1" i="0" lang="en-US" sz="1800" u="none" cap="none" strike="noStrike">
                <a:solidFill>
                  <a:srgbClr val="0070C0"/>
                </a:solidFill>
                <a:latin typeface="Arial"/>
                <a:ea typeface="Arial"/>
                <a:cs typeface="Arial"/>
                <a:sym typeface="Arial"/>
              </a:rPr>
              <a:t>			</a:t>
            </a:r>
          </a:p>
          <a:p>
            <a:pPr indent="0" lvl="0" marL="0" marR="0" rtl="0" algn="l">
              <a:lnSpc>
                <a:spcPct val="100000"/>
              </a:lnSpc>
              <a:spcBef>
                <a:spcPts val="0"/>
              </a:spcBef>
              <a:spcAft>
                <a:spcPts val="0"/>
              </a:spcAft>
              <a:buClr>
                <a:srgbClr val="0070C0"/>
              </a:buClr>
              <a:buSzPct val="25000"/>
              <a:buFont typeface="Arial"/>
              <a:buNone/>
            </a:pPr>
            <a:r>
              <a:rPr b="1" i="0" lang="en-US" sz="1800" u="none" cap="none" strike="noStrike">
                <a:solidFill>
                  <a:srgbClr val="0070C0"/>
                </a:solidFill>
                <a:latin typeface="Arial"/>
                <a:ea typeface="Arial"/>
                <a:cs typeface="Arial"/>
                <a:sym typeface="Arial"/>
              </a:rPr>
              <a:t>				</a:t>
            </a:r>
            <a:r>
              <a:rPr b="1" i="0" lang="en-US" sz="2800" u="none" cap="none" strike="noStrike">
                <a:solidFill>
                  <a:srgbClr val="0070C0"/>
                </a:solidFill>
                <a:latin typeface="Arial"/>
                <a:ea typeface="Arial"/>
                <a:cs typeface="Arial"/>
                <a:sym typeface="Arial"/>
              </a:rPr>
              <a:t>Base Monetaria  =     EMP    +       R</a:t>
            </a:r>
          </a:p>
          <a:p>
            <a:pPr indent="0" lvl="0" marL="0" marR="0" rtl="0" algn="ctr">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                               </a:t>
            </a:r>
            <a:r>
              <a:rPr b="1" i="0" lang="en-US" sz="1400" u="none" cap="none" strike="noStrike">
                <a:solidFill>
                  <a:srgbClr val="2F8F0D"/>
                </a:solidFill>
                <a:latin typeface="Arial"/>
                <a:ea typeface="Arial"/>
                <a:cs typeface="Arial"/>
                <a:sym typeface="Arial"/>
              </a:rPr>
              <a:t>$  531.539                     =            $370.560         +       $160.979</a:t>
            </a:r>
          </a:p>
          <a:p>
            <a:pPr indent="0" lvl="0" marL="0" marR="0" rtl="0" algn="l">
              <a:lnSpc>
                <a:spcPct val="100000"/>
              </a:lnSpc>
              <a:spcBef>
                <a:spcPts val="0"/>
              </a:spcBef>
              <a:spcAft>
                <a:spcPts val="0"/>
              </a:spcAft>
              <a:buClr>
                <a:schemeClr val="dk1"/>
              </a:buClr>
              <a:buFont typeface="Arial"/>
              <a:buNone/>
            </a:pPr>
            <a:r>
              <a:t/>
            </a:r>
            <a:endParaRPr b="1" i="0" sz="14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18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1" i="0" sz="1800" u="none" cap="none" strike="noStrike">
              <a:solidFill>
                <a:srgbClr val="C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i="0" sz="1800" u="none" cap="none" strike="noStrike">
              <a:solidFill>
                <a:srgbClr val="C00000"/>
              </a:solidFill>
              <a:latin typeface="Arial"/>
              <a:ea typeface="Arial"/>
              <a:cs typeface="Arial"/>
              <a:sym typeface="Arial"/>
            </a:endParaRPr>
          </a:p>
        </p:txBody>
      </p:sp>
      <p:sp>
        <p:nvSpPr>
          <p:cNvPr id="309" name="Shape 309"/>
          <p:cNvSpPr txBox="1"/>
          <p:nvPr/>
        </p:nvSpPr>
        <p:spPr>
          <a:xfrm>
            <a:off x="1295400" y="1371600"/>
            <a:ext cx="6234111" cy="1066799"/>
          </a:xfrm>
          <a:prstGeom prst="rect">
            <a:avLst/>
          </a:prstGeom>
          <a:noFill/>
          <a:ln cap="flat" cmpd="sng" w="3175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0" name="Shape 310"/>
          <p:cNvSpPr txBox="1"/>
          <p:nvPr/>
        </p:nvSpPr>
        <p:spPr>
          <a:xfrm>
            <a:off x="1143000" y="3581400"/>
            <a:ext cx="6019799" cy="838199"/>
          </a:xfrm>
          <a:prstGeom prst="rect">
            <a:avLst/>
          </a:prstGeom>
          <a:noFill/>
          <a:ln cap="flat" cmpd="sng" w="3175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1" name="Shape 311"/>
          <p:cNvSpPr txBox="1"/>
          <p:nvPr/>
        </p:nvSpPr>
        <p:spPr>
          <a:xfrm>
            <a:off x="1752600" y="5029200"/>
            <a:ext cx="6400799" cy="990599"/>
          </a:xfrm>
          <a:prstGeom prst="rect">
            <a:avLst/>
          </a:prstGeom>
          <a:noFill/>
          <a:ln cap="flat" cmpd="sng" w="31750">
            <a:solidFill>
              <a:srgbClr val="0070C0"/>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15" name="Shape 315"/>
        <p:cNvGrpSpPr/>
        <p:nvPr/>
      </p:nvGrpSpPr>
      <p:grpSpPr>
        <a:xfrm>
          <a:off x="0" y="0"/>
          <a:ext cx="0" cy="0"/>
          <a:chOff x="0" y="0"/>
          <a:chExt cx="0" cy="0"/>
        </a:xfrm>
      </p:grpSpPr>
      <p:pic>
        <p:nvPicPr>
          <p:cNvPr id="316" name="Shape 316"/>
          <p:cNvPicPr preferRelativeResize="0"/>
          <p:nvPr/>
        </p:nvPicPr>
        <p:blipFill rotWithShape="1">
          <a:blip r:embed="rId3">
            <a:alphaModFix/>
          </a:blip>
          <a:srcRect b="0" l="0" r="0" t="0"/>
          <a:stretch/>
        </p:blipFill>
        <p:spPr>
          <a:xfrm>
            <a:off x="263525" y="990600"/>
            <a:ext cx="8610599" cy="209549"/>
          </a:xfrm>
          <a:prstGeom prst="rect">
            <a:avLst/>
          </a:prstGeom>
          <a:noFill/>
          <a:ln>
            <a:noFill/>
          </a:ln>
        </p:spPr>
      </p:pic>
      <p:sp>
        <p:nvSpPr>
          <p:cNvPr id="317" name="Shape 317"/>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318" name="Shape 318"/>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19" name="Shape 319"/>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MONETARIAS</a:t>
            </a:r>
          </a:p>
        </p:txBody>
      </p:sp>
      <p:sp>
        <p:nvSpPr>
          <p:cNvPr id="320" name="Shape 320"/>
          <p:cNvSpPr txBox="1"/>
          <p:nvPr/>
        </p:nvSpPr>
        <p:spPr>
          <a:xfrm>
            <a:off x="263525" y="1295400"/>
            <a:ext cx="8610599" cy="46910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3600" u="none" cap="none" strike="noStrike">
                <a:solidFill>
                  <a:srgbClr val="FF0000"/>
                </a:solidFill>
                <a:latin typeface="Arial"/>
                <a:ea typeface="Arial"/>
                <a:cs typeface="Arial"/>
                <a:sym typeface="Arial"/>
              </a:rPr>
              <a:t>Modificación de la BM </a:t>
            </a:r>
          </a:p>
          <a:p>
            <a:pPr indent="0" lvl="0" marL="0" marR="0" rtl="0" algn="ctr">
              <a:lnSpc>
                <a:spcPct val="100000"/>
              </a:lnSpc>
              <a:spcBef>
                <a:spcPts val="0"/>
              </a:spcBef>
              <a:spcAft>
                <a:spcPts val="0"/>
              </a:spcAft>
              <a:buClr>
                <a:schemeClr val="dk1"/>
              </a:buClr>
              <a:buFont typeface="Arial"/>
              <a:buNone/>
            </a:pPr>
            <a:r>
              <a:t/>
            </a:r>
            <a:endParaRPr b="1" i="0" sz="20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C00000"/>
              </a:buClr>
              <a:buSzPct val="25000"/>
              <a:buFont typeface="Arial"/>
              <a:buNone/>
            </a:pPr>
            <a:r>
              <a:rPr b="0" i="1" lang="en-US" sz="2000" u="none" cap="none" strike="noStrike">
                <a:solidFill>
                  <a:srgbClr val="C00000"/>
                </a:solidFill>
                <a:latin typeface="Arial"/>
                <a:ea typeface="Arial"/>
                <a:cs typeface="Arial"/>
                <a:sym typeface="Arial"/>
              </a:rPr>
              <a:t>A través de </a:t>
            </a:r>
            <a:r>
              <a:rPr b="1" i="1" lang="en-US" sz="2000" u="none" cap="none" strike="noStrike">
                <a:solidFill>
                  <a:srgbClr val="2F8F0D"/>
                </a:solidFill>
                <a:latin typeface="Arial"/>
                <a:ea typeface="Arial"/>
                <a:cs typeface="Arial"/>
                <a:sym typeface="Arial"/>
              </a:rPr>
              <a:t>modificaciones en la tasa de redescuento</a:t>
            </a:r>
            <a:r>
              <a:rPr b="0" i="1" lang="en-US" sz="2000" u="none" cap="none" strike="noStrike">
                <a:solidFill>
                  <a:srgbClr val="C00000"/>
                </a:solidFill>
                <a:latin typeface="Arial"/>
                <a:ea typeface="Arial"/>
                <a:cs typeface="Arial"/>
                <a:sym typeface="Arial"/>
              </a:rPr>
              <a:t>: es la tasa de interés a la que el Banco Central está dispuesto a prestar dinero a las entidades financieras</a:t>
            </a:r>
          </a:p>
          <a:p>
            <a:pPr indent="0" lvl="0" marL="0" marR="0" rtl="0" algn="l">
              <a:lnSpc>
                <a:spcPct val="100000"/>
              </a:lnSpc>
              <a:spcBef>
                <a:spcPts val="0"/>
              </a:spcBef>
              <a:spcAft>
                <a:spcPts val="0"/>
              </a:spcAft>
              <a:buClr>
                <a:schemeClr val="dk1"/>
              </a:buClr>
              <a:buFont typeface="Arial"/>
              <a:buNone/>
            </a:pPr>
            <a:r>
              <a:t/>
            </a:r>
            <a:endParaRPr b="0" i="1" sz="1800" u="none" cap="none" strike="noStrike">
              <a:solidFill>
                <a:srgbClr val="C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sube la tasa de redescuento, los créditos que el Banco Central presta a las entidades serán más caros, disminuye la demanda (contracción de la base monetaria).</a:t>
            </a: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baja la tasa de redescuento, estos créditos serán más baratos, aumenta la demanda (expansión de la base monetaria).</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4" name="Shape 324"/>
        <p:cNvGrpSpPr/>
        <p:nvPr/>
      </p:nvGrpSpPr>
      <p:grpSpPr>
        <a:xfrm>
          <a:off x="0" y="0"/>
          <a:ext cx="0" cy="0"/>
          <a:chOff x="0" y="0"/>
          <a:chExt cx="0" cy="0"/>
        </a:xfrm>
      </p:grpSpPr>
      <p:pic>
        <p:nvPicPr>
          <p:cNvPr id="325" name="Shape 32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26" name="Shape 326"/>
          <p:cNvSpPr txBox="1"/>
          <p:nvPr/>
        </p:nvSpPr>
        <p:spPr>
          <a:xfrm>
            <a:off x="381000" y="1600200"/>
            <a:ext cx="8493124" cy="362267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1" lang="en-US" sz="2000" u="none" cap="none" strike="noStrike">
                <a:solidFill>
                  <a:srgbClr val="2F8F0D"/>
                </a:solidFill>
                <a:latin typeface="Arial"/>
                <a:ea typeface="Arial"/>
                <a:cs typeface="Arial"/>
                <a:sym typeface="Arial"/>
              </a:rPr>
              <a:t>Operaciones de mercado abierto</a:t>
            </a:r>
            <a:r>
              <a:rPr b="0" i="1" lang="en-US" sz="2000" u="none" cap="none" strike="noStrike">
                <a:solidFill>
                  <a:srgbClr val="BB4F59"/>
                </a:solidFill>
                <a:latin typeface="Arial"/>
                <a:ea typeface="Arial"/>
                <a:cs typeface="Arial"/>
                <a:sym typeface="Arial"/>
              </a:rPr>
              <a:t>: compra-venta a las entidades financieras de títulos de Deuda Pública.</a:t>
            </a: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rescata (compra) Deuda Pública está aumentando la liquidez del sistema. </a:t>
            </a: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vende Deuda Pública a las entidades financieras, sustituye estas posiciones líquidas en balance por títulos. </a:t>
            </a:r>
          </a:p>
        </p:txBody>
      </p:sp>
      <p:pic>
        <p:nvPicPr>
          <p:cNvPr id="327" name="Shape 327"/>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28" name="Shape 328"/>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MONETARIAS</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2" name="Shape 332"/>
        <p:cNvGrpSpPr/>
        <p:nvPr/>
      </p:nvGrpSpPr>
      <p:grpSpPr>
        <a:xfrm>
          <a:off x="0" y="0"/>
          <a:ext cx="0" cy="0"/>
          <a:chOff x="0" y="0"/>
          <a:chExt cx="0" cy="0"/>
        </a:xfrm>
      </p:grpSpPr>
      <p:pic>
        <p:nvPicPr>
          <p:cNvPr id="333" name="Shape 333"/>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34" name="Shape 334"/>
          <p:cNvSpPr txBox="1"/>
          <p:nvPr/>
        </p:nvSpPr>
        <p:spPr>
          <a:xfrm>
            <a:off x="381000" y="1600200"/>
            <a:ext cx="8493124" cy="46577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0" i="1" lang="en-US" sz="2000" u="none" cap="none" strike="noStrike">
                <a:solidFill>
                  <a:srgbClr val="BB4F59"/>
                </a:solidFill>
                <a:latin typeface="Arial"/>
                <a:ea typeface="Arial"/>
                <a:cs typeface="Arial"/>
                <a:sym typeface="Arial"/>
              </a:rPr>
              <a:t>Políticas de </a:t>
            </a:r>
            <a:r>
              <a:rPr b="1" i="1" lang="en-US" sz="2000" u="none" cap="none" strike="noStrike">
                <a:solidFill>
                  <a:srgbClr val="2F8F0D"/>
                </a:solidFill>
                <a:latin typeface="Arial"/>
                <a:ea typeface="Arial"/>
                <a:cs typeface="Arial"/>
                <a:sym typeface="Arial"/>
              </a:rPr>
              <a:t>variación del efectivo mínimo (encaje):</a:t>
            </a:r>
            <a:r>
              <a:rPr b="0" i="1" lang="en-US" sz="2000" u="none" cap="none" strike="noStrike">
                <a:solidFill>
                  <a:srgbClr val="BB4F59"/>
                </a:solidFill>
                <a:latin typeface="Arial"/>
                <a:ea typeface="Arial"/>
                <a:cs typeface="Arial"/>
                <a:sym typeface="Arial"/>
              </a:rPr>
              <a:t> El Banco Central obliga a las entidades financieras a mantener una  determinada cantidad de efectivo y depósitos de corto plazo.</a:t>
            </a: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obliga a aumentar el efectivo mínimo que deben mantener las entidades financieras está restringiendo el crédito reduciendo la liquidez del sistema. </a:t>
            </a: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obliga a reducir el efectivo mínimo que deben mantener las entidades financieras está expandiendo el crédito aumentando la liquidez del sistema. </a:t>
            </a:r>
          </a:p>
          <a:p>
            <a:pPr indent="0" lvl="0" marL="0" marR="0" rtl="0" algn="l">
              <a:lnSpc>
                <a:spcPct val="100000"/>
              </a:lnSpc>
              <a:spcBef>
                <a:spcPts val="0"/>
              </a:spcBef>
              <a:spcAft>
                <a:spcPts val="0"/>
              </a:spcAft>
              <a:buClr>
                <a:srgbClr val="FF0000"/>
              </a:buClr>
              <a:buSzPct val="25000"/>
              <a:buFont typeface="Arial"/>
              <a:buNone/>
            </a:pPr>
            <a:r>
              <a:rPr b="0" i="0" lang="en-US" sz="2400" u="none" cap="none" strike="noStrike">
                <a:solidFill>
                  <a:srgbClr val="FF0000"/>
                </a:solidFill>
                <a:latin typeface="Arial"/>
                <a:ea typeface="Arial"/>
                <a:cs typeface="Arial"/>
                <a:sym typeface="Arial"/>
              </a:rPr>
              <a:t> </a:t>
            </a:r>
          </a:p>
        </p:txBody>
      </p:sp>
      <p:pic>
        <p:nvPicPr>
          <p:cNvPr id="335" name="Shape 335"/>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36" name="Shape 336"/>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MONETARIAS</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0" name="Shape 340"/>
        <p:cNvGrpSpPr/>
        <p:nvPr/>
      </p:nvGrpSpPr>
      <p:grpSpPr>
        <a:xfrm>
          <a:off x="0" y="0"/>
          <a:ext cx="0" cy="0"/>
          <a:chOff x="0" y="0"/>
          <a:chExt cx="0" cy="0"/>
        </a:xfrm>
      </p:grpSpPr>
      <p:pic>
        <p:nvPicPr>
          <p:cNvPr id="341" name="Shape 341"/>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42" name="Shape 342"/>
          <p:cNvSpPr txBox="1"/>
          <p:nvPr/>
        </p:nvSpPr>
        <p:spPr>
          <a:xfrm>
            <a:off x="381000" y="1600200"/>
            <a:ext cx="8493124" cy="4292600"/>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1" lang="en-US" sz="2000" u="none" cap="none" strike="noStrike">
                <a:solidFill>
                  <a:srgbClr val="2F8F0D"/>
                </a:solidFill>
                <a:latin typeface="Arial"/>
                <a:ea typeface="Arial"/>
                <a:cs typeface="Arial"/>
                <a:sym typeface="Arial"/>
              </a:rPr>
              <a:t>Políticas de selectivas de crédito</a:t>
            </a:r>
            <a:r>
              <a:rPr b="0" i="1" lang="en-US" sz="2000" u="none" cap="none" strike="noStrike">
                <a:solidFill>
                  <a:srgbClr val="BB4F59"/>
                </a:solidFill>
                <a:latin typeface="Arial"/>
                <a:ea typeface="Arial"/>
                <a:cs typeface="Arial"/>
                <a:sym typeface="Arial"/>
              </a:rPr>
              <a:t>: El Banco Central obliga a los bancos comerciales a  financiar determinadas actividades consideradas como preferenciales dentro de la estrategia de gobierno.</a:t>
            </a: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orienta la financiación de determinadas actividades está expandiendo la liquidez del sistema. </a:t>
            </a: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desalienta la financiación de determinadas actividades está reduciendo la liquidez del sistema. </a:t>
            </a: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p:txBody>
      </p:sp>
      <p:pic>
        <p:nvPicPr>
          <p:cNvPr id="343" name="Shape 343"/>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44" name="Shape 344"/>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MONETARIAS</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48" name="Shape 348"/>
        <p:cNvGrpSpPr/>
        <p:nvPr/>
      </p:nvGrpSpPr>
      <p:grpSpPr>
        <a:xfrm>
          <a:off x="0" y="0"/>
          <a:ext cx="0" cy="0"/>
          <a:chOff x="0" y="0"/>
          <a:chExt cx="0" cy="0"/>
        </a:xfrm>
      </p:grpSpPr>
      <p:pic>
        <p:nvPicPr>
          <p:cNvPr id="349" name="Shape 349"/>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50" name="Shape 350"/>
          <p:cNvSpPr txBox="1"/>
          <p:nvPr/>
        </p:nvSpPr>
        <p:spPr>
          <a:xfrm>
            <a:off x="381000" y="1600200"/>
            <a:ext cx="8493124" cy="46577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2F8F0D"/>
              </a:buClr>
              <a:buSzPct val="25000"/>
              <a:buFont typeface="Arial"/>
              <a:buNone/>
            </a:pPr>
            <a:r>
              <a:rPr b="1" i="1" lang="en-US" sz="2000" u="none" cap="none" strike="noStrike">
                <a:solidFill>
                  <a:srgbClr val="2F8F0D"/>
                </a:solidFill>
                <a:latin typeface="Arial"/>
                <a:ea typeface="Arial"/>
                <a:cs typeface="Arial"/>
                <a:sym typeface="Arial"/>
              </a:rPr>
              <a:t>Políticas de globales de crédito</a:t>
            </a:r>
            <a:r>
              <a:rPr b="0" i="1" lang="en-US" sz="2000" u="none" cap="none" strike="noStrike">
                <a:solidFill>
                  <a:srgbClr val="BB4F59"/>
                </a:solidFill>
                <a:latin typeface="Arial"/>
                <a:ea typeface="Arial"/>
                <a:cs typeface="Arial"/>
                <a:sym typeface="Arial"/>
              </a:rPr>
              <a:t>: El Banco Central obliga a los bancos comerciales a  prestar un determinado nivel de los depósitos recibidos como estrategia de gobierno.</a:t>
            </a: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aumenta el nivel global de prestamos está expandiendo la liquidez del sistema.</a:t>
            </a: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100000"/>
              <a:buFont typeface="Arial"/>
              <a:buChar char="•"/>
            </a:pPr>
            <a:r>
              <a:rPr b="0" i="0" lang="en-US" sz="2400" u="none" cap="none" strike="noStrike">
                <a:solidFill>
                  <a:srgbClr val="FF0000"/>
                </a:solidFill>
                <a:latin typeface="Arial"/>
                <a:ea typeface="Arial"/>
                <a:cs typeface="Arial"/>
                <a:sym typeface="Arial"/>
              </a:rPr>
              <a:t>Si el Banco Central reduce el nivel global de prestamos está contrayendo la liquidez del sistema. </a:t>
            </a:r>
          </a:p>
          <a:p>
            <a:pPr indent="0" lvl="0" marL="0" marR="0" rtl="0" algn="ctr">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2400" u="none" cap="none" strike="noStrike">
              <a:solidFill>
                <a:srgbClr val="FF0000"/>
              </a:solidFill>
              <a:latin typeface="Arial"/>
              <a:ea typeface="Arial"/>
              <a:cs typeface="Arial"/>
              <a:sym typeface="Arial"/>
            </a:endParaRPr>
          </a:p>
        </p:txBody>
      </p:sp>
      <p:pic>
        <p:nvPicPr>
          <p:cNvPr id="351" name="Shape 351"/>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52" name="Shape 352"/>
          <p:cNvSpPr txBox="1"/>
          <p:nvPr/>
        </p:nvSpPr>
        <p:spPr>
          <a:xfrm>
            <a:off x="4443412" y="152400"/>
            <a:ext cx="4548187" cy="8223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POLÍTICAS MONETARIAS</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6" name="Shape 356"/>
        <p:cNvGrpSpPr/>
        <p:nvPr/>
      </p:nvGrpSpPr>
      <p:grpSpPr>
        <a:xfrm>
          <a:off x="0" y="0"/>
          <a:ext cx="0" cy="0"/>
          <a:chOff x="0" y="0"/>
          <a:chExt cx="0" cy="0"/>
        </a:xfrm>
      </p:grpSpPr>
      <p:pic>
        <p:nvPicPr>
          <p:cNvPr id="357" name="Shape 35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58" name="Shape 358"/>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359" name="Shape 35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60" name="Shape 360"/>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361" name="Shape 361"/>
          <p:cNvSpPr txBox="1"/>
          <p:nvPr/>
        </p:nvSpPr>
        <p:spPr>
          <a:xfrm>
            <a:off x="0" y="1366837"/>
            <a:ext cx="9067799" cy="54149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0" i="0" lang="en-US" sz="2400" u="none" cap="none" strike="noStrike">
                <a:solidFill>
                  <a:srgbClr val="FF0000"/>
                </a:solidFill>
                <a:latin typeface="Arial"/>
                <a:ea typeface="Arial"/>
                <a:cs typeface="Arial"/>
                <a:sym typeface="Arial"/>
              </a:rPr>
              <a:t>Aumenta la base monetaria =&gt;Creación de dinero</a:t>
            </a:r>
          </a:p>
          <a:p>
            <a:pPr indent="0" lvl="0" marL="0" marR="0" rtl="0" algn="ctr">
              <a:lnSpc>
                <a:spcPct val="100000"/>
              </a:lnSpc>
              <a:spcBef>
                <a:spcPts val="0"/>
              </a:spcBef>
              <a:spcAft>
                <a:spcPts val="0"/>
              </a:spcAft>
              <a:buClr>
                <a:srgbClr val="FF0000"/>
              </a:buClr>
              <a:buSzPct val="25000"/>
              <a:buFont typeface="Arial"/>
              <a:buNone/>
            </a:pPr>
            <a:r>
              <a:rPr b="0" i="0" lang="en-US" sz="2400" u="none" cap="none" strike="noStrike">
                <a:solidFill>
                  <a:srgbClr val="FF0000"/>
                </a:solidFill>
                <a:latin typeface="Arial"/>
                <a:ea typeface="Arial"/>
                <a:cs typeface="Arial"/>
                <a:sym typeface="Arial"/>
              </a:rPr>
              <a:t>Reduce la base monetaria =&gt;Destrucción de dinero</a:t>
            </a:r>
          </a:p>
          <a:p>
            <a:pPr indent="0" lvl="0" marL="0" marR="0" rtl="0" algn="ctr">
              <a:lnSpc>
                <a:spcPct val="100000"/>
              </a:lnSpc>
              <a:spcBef>
                <a:spcPts val="0"/>
              </a:spcBef>
              <a:spcAft>
                <a:spcPts val="0"/>
              </a:spcAft>
              <a:buClr>
                <a:srgbClr val="0070C0"/>
              </a:buClr>
              <a:buSzPct val="25000"/>
              <a:buFont typeface="Arial"/>
              <a:buNone/>
            </a:pPr>
            <a:r>
              <a:rPr b="1" i="0" lang="en-US" sz="3600" u="none" cap="none" strike="noStrike">
                <a:solidFill>
                  <a:srgbClr val="0070C0"/>
                </a:solidFill>
                <a:latin typeface="Arial"/>
                <a:ea typeface="Arial"/>
                <a:cs typeface="Arial"/>
                <a:sym typeface="Arial"/>
              </a:rPr>
              <a:t>OFERTA MONETARIA</a:t>
            </a:r>
          </a:p>
          <a:p>
            <a:pPr indent="0" lvl="0" marL="0" marR="0" rtl="0" algn="l">
              <a:lnSpc>
                <a:spcPct val="100000"/>
              </a:lnSpc>
              <a:spcBef>
                <a:spcPts val="0"/>
              </a:spcBef>
              <a:spcAft>
                <a:spcPts val="0"/>
              </a:spcAft>
              <a:buClr>
                <a:srgbClr val="0070C0"/>
              </a:buClr>
              <a:buSzPct val="25000"/>
              <a:buFont typeface="Arial"/>
              <a:buNone/>
            </a:pPr>
            <a:r>
              <a:rPr b="1" i="0" lang="en-US" sz="2800" u="none" cap="none" strike="noStrike">
                <a:solidFill>
                  <a:srgbClr val="0070C0"/>
                </a:solidFill>
                <a:latin typeface="Arial"/>
                <a:ea typeface="Arial"/>
                <a:cs typeface="Arial"/>
                <a:sym typeface="Arial"/>
              </a:rPr>
              <a:t>           OM        =     EMP         +    D</a:t>
            </a:r>
          </a:p>
          <a:p>
            <a:pPr indent="0" lvl="0" marL="0" marR="0" rtl="0" algn="just">
              <a:lnSpc>
                <a:spcPct val="100000"/>
              </a:lnSpc>
              <a:spcBef>
                <a:spcPts val="0"/>
              </a:spcBef>
              <a:spcAft>
                <a:spcPts val="0"/>
              </a:spcAft>
              <a:buClr>
                <a:srgbClr val="2F8F0D"/>
              </a:buClr>
              <a:buSzPct val="25000"/>
              <a:buFont typeface="Arial"/>
              <a:buNone/>
            </a:pPr>
            <a:r>
              <a:rPr b="1" i="0" lang="en-US" sz="1800" u="none" cap="none" strike="noStrike">
                <a:solidFill>
                  <a:srgbClr val="2F8F0D"/>
                </a:solidFill>
                <a:latin typeface="Arial"/>
                <a:ea typeface="Arial"/>
                <a:cs typeface="Arial"/>
                <a:sym typeface="Arial"/>
              </a:rPr>
              <a:t>		  $1.474.354	   =	      $370.560           +	  $1.103.794</a:t>
            </a:r>
          </a:p>
          <a:p>
            <a:pPr indent="0" lvl="0" marL="0" marR="0" rtl="0" algn="ctr">
              <a:lnSpc>
                <a:spcPct val="100000"/>
              </a:lnSpc>
              <a:spcBef>
                <a:spcPts val="0"/>
              </a:spcBef>
              <a:spcAft>
                <a:spcPts val="0"/>
              </a:spcAft>
              <a:buClr>
                <a:schemeClr val="dk1"/>
              </a:buClr>
              <a:buFont typeface="Arial"/>
              <a:buNone/>
            </a:pPr>
            <a:r>
              <a:t/>
            </a:r>
            <a:endParaRPr b="1" i="0" sz="2800" u="none" cap="none" strike="noStrike">
              <a:solidFill>
                <a:srgbClr val="0070C0"/>
              </a:solidFill>
              <a:latin typeface="Arial"/>
              <a:ea typeface="Arial"/>
              <a:cs typeface="Arial"/>
              <a:sym typeface="Arial"/>
            </a:endParaRPr>
          </a:p>
          <a:p>
            <a:pPr indent="0" lvl="0" marL="0" marR="0" rtl="0" algn="ctr">
              <a:lnSpc>
                <a:spcPct val="100000"/>
              </a:lnSpc>
              <a:spcBef>
                <a:spcPts val="0"/>
              </a:spcBef>
              <a:spcAft>
                <a:spcPts val="0"/>
              </a:spcAft>
              <a:buClr>
                <a:schemeClr val="dk1"/>
              </a:buClr>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70C0"/>
              </a:buClr>
              <a:buSzPct val="25000"/>
              <a:buFont typeface="Arial"/>
              <a:buNone/>
            </a:pPr>
            <a:r>
              <a:rPr b="1" i="1" lang="en-US" sz="1800" u="none" cap="none" strike="noStrike">
                <a:solidFill>
                  <a:srgbClr val="0070C0"/>
                </a:solidFill>
                <a:latin typeface="Arial"/>
                <a:ea typeface="Arial"/>
                <a:cs typeface="Arial"/>
                <a:sym typeface="Arial"/>
              </a:rPr>
              <a:t>Donde</a:t>
            </a:r>
          </a:p>
          <a:p>
            <a:pPr indent="0" lvl="0" marL="0" marR="0" rtl="0" algn="l">
              <a:lnSpc>
                <a:spcPct val="100000"/>
              </a:lnSpc>
              <a:spcBef>
                <a:spcPts val="0"/>
              </a:spcBef>
              <a:spcAft>
                <a:spcPts val="0"/>
              </a:spcAft>
              <a:buClr>
                <a:srgbClr val="0070C0"/>
              </a:buClr>
              <a:buSzPct val="25000"/>
              <a:buFont typeface="Arial"/>
              <a:buNone/>
            </a:pPr>
            <a:r>
              <a:rPr b="1" i="0" lang="en-US" sz="1800" u="none" cap="none" strike="noStrike">
                <a:solidFill>
                  <a:srgbClr val="0070C0"/>
                </a:solidFill>
                <a:latin typeface="Arial"/>
                <a:ea typeface="Arial"/>
                <a:cs typeface="Arial"/>
                <a:sym typeface="Arial"/>
              </a:rPr>
              <a:t>EMP: efectivo en manos del público</a:t>
            </a:r>
          </a:p>
          <a:p>
            <a:pPr indent="0" lvl="0" marL="0" marR="0" rtl="0" algn="l">
              <a:lnSpc>
                <a:spcPct val="100000"/>
              </a:lnSpc>
              <a:spcBef>
                <a:spcPts val="0"/>
              </a:spcBef>
              <a:spcAft>
                <a:spcPts val="0"/>
              </a:spcAft>
              <a:buClr>
                <a:srgbClr val="0070C0"/>
              </a:buClr>
              <a:buSzPct val="25000"/>
              <a:buFont typeface="Arial"/>
              <a:buNone/>
            </a:pPr>
            <a:r>
              <a:rPr b="1" i="0" lang="en-US" sz="1800" u="none" cap="none" strike="noStrike">
                <a:solidFill>
                  <a:srgbClr val="0070C0"/>
                </a:solidFill>
                <a:latin typeface="Arial"/>
                <a:ea typeface="Arial"/>
                <a:cs typeface="Arial"/>
                <a:sym typeface="Arial"/>
              </a:rPr>
              <a:t>D: depósitos a la vista</a:t>
            </a: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800" u="none" cap="none" strike="noStrike">
              <a:solidFill>
                <a:srgbClr val="0070C0"/>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800" u="none" cap="none" strike="noStrike">
              <a:solidFill>
                <a:srgbClr val="0070C0"/>
              </a:solidFill>
              <a:latin typeface="Arial"/>
              <a:ea typeface="Arial"/>
              <a:cs typeface="Arial"/>
              <a:sym typeface="Arial"/>
            </a:endParaRPr>
          </a:p>
        </p:txBody>
      </p:sp>
      <p:sp>
        <p:nvSpPr>
          <p:cNvPr id="362" name="Shape 362"/>
          <p:cNvSpPr txBox="1"/>
          <p:nvPr/>
        </p:nvSpPr>
        <p:spPr>
          <a:xfrm>
            <a:off x="661987" y="2667000"/>
            <a:ext cx="6577011" cy="838199"/>
          </a:xfrm>
          <a:prstGeom prst="rect">
            <a:avLst/>
          </a:prstGeom>
          <a:noFill/>
          <a:ln cap="flat" cmpd="sng" w="9525">
            <a:solidFill>
              <a:srgbClr val="4A7EBB"/>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3" name="Shape 363"/>
          <p:cNvSpPr/>
          <p:nvPr/>
        </p:nvSpPr>
        <p:spPr>
          <a:xfrm>
            <a:off x="4800600" y="4191000"/>
            <a:ext cx="2114550" cy="2133599"/>
          </a:xfrm>
          <a:prstGeom prst="ellipse">
            <a:avLst/>
          </a:prstGeom>
          <a:solidFill>
            <a:srgbClr val="FAC090"/>
          </a:solidFill>
          <a:ln cap="flat" cmpd="sng" w="9525">
            <a:solidFill>
              <a:srgbClr val="FF9900"/>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4" name="Shape 364"/>
          <p:cNvSpPr/>
          <p:nvPr/>
        </p:nvSpPr>
        <p:spPr>
          <a:xfrm>
            <a:off x="5867400" y="3962400"/>
            <a:ext cx="3200399" cy="2895600"/>
          </a:xfrm>
          <a:prstGeom prst="ellipse">
            <a:avLst/>
          </a:prstGeom>
          <a:solidFill>
            <a:srgbClr val="C3D69B">
              <a:alpha val="50588"/>
            </a:srgbClr>
          </a:solidFill>
          <a:ln cap="flat" cmpd="sng" w="9525">
            <a:solidFill>
              <a:srgbClr val="4F6228"/>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5" name="Shape 365"/>
          <p:cNvSpPr txBox="1"/>
          <p:nvPr/>
        </p:nvSpPr>
        <p:spPr>
          <a:xfrm>
            <a:off x="5791200" y="4637087"/>
            <a:ext cx="1219199" cy="1069975"/>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1600" u="none" cap="none" strike="noStrike">
                <a:solidFill>
                  <a:srgbClr val="FF0000"/>
                </a:solidFill>
                <a:latin typeface="Arial"/>
                <a:ea typeface="Arial"/>
                <a:cs typeface="Arial"/>
                <a:sym typeface="Arial"/>
              </a:rPr>
              <a:t>Efectivo en manos del público</a:t>
            </a:r>
          </a:p>
        </p:txBody>
      </p:sp>
      <p:sp>
        <p:nvSpPr>
          <p:cNvPr id="366" name="Shape 366"/>
          <p:cNvSpPr txBox="1"/>
          <p:nvPr/>
        </p:nvSpPr>
        <p:spPr>
          <a:xfrm>
            <a:off x="7315200" y="4840287"/>
            <a:ext cx="1447800" cy="6461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Depósitos a la vista</a:t>
            </a:r>
          </a:p>
        </p:txBody>
      </p:sp>
      <p:sp>
        <p:nvSpPr>
          <p:cNvPr id="367" name="Shape 367"/>
          <p:cNvSpPr txBox="1"/>
          <p:nvPr/>
        </p:nvSpPr>
        <p:spPr>
          <a:xfrm>
            <a:off x="4681537" y="4884737"/>
            <a:ext cx="1490661" cy="581024"/>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Reservas Bancarias +</a:t>
            </a:r>
          </a:p>
        </p:txBody>
      </p:sp>
      <p:sp>
        <p:nvSpPr>
          <p:cNvPr id="368" name="Shape 368"/>
          <p:cNvSpPr txBox="1"/>
          <p:nvPr/>
        </p:nvSpPr>
        <p:spPr>
          <a:xfrm>
            <a:off x="4279900" y="3509962"/>
            <a:ext cx="1752600" cy="650874"/>
          </a:xfrm>
          <a:prstGeom prst="rect">
            <a:avLst/>
          </a:prstGeom>
          <a:noFill/>
          <a:ln cap="flat" cmpd="sng" w="9525">
            <a:solidFill>
              <a:srgbClr val="2F8F0D"/>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rgbClr val="77933C"/>
              </a:buClr>
              <a:buSzPct val="25000"/>
              <a:buFont typeface="Arial"/>
              <a:buNone/>
            </a:pPr>
            <a:r>
              <a:rPr b="1" i="1" lang="en-US" sz="1800" u="none" cap="none" strike="noStrike">
                <a:solidFill>
                  <a:srgbClr val="77933C"/>
                </a:solidFill>
                <a:latin typeface="Arial"/>
                <a:ea typeface="Arial"/>
                <a:cs typeface="Arial"/>
                <a:sym typeface="Arial"/>
              </a:rPr>
              <a:t>Oferta </a:t>
            </a:r>
          </a:p>
          <a:p>
            <a:pPr indent="0" lvl="0" marL="0" marR="0" rtl="0" algn="ctr">
              <a:lnSpc>
                <a:spcPct val="100000"/>
              </a:lnSpc>
              <a:spcBef>
                <a:spcPts val="0"/>
              </a:spcBef>
              <a:spcAft>
                <a:spcPts val="0"/>
              </a:spcAft>
              <a:buClr>
                <a:srgbClr val="77933C"/>
              </a:buClr>
              <a:buSzPct val="25000"/>
              <a:buFont typeface="Arial"/>
              <a:buNone/>
            </a:pPr>
            <a:r>
              <a:rPr b="1" i="1" lang="en-US" sz="1800" u="none" cap="none" strike="noStrike">
                <a:solidFill>
                  <a:srgbClr val="77933C"/>
                </a:solidFill>
                <a:latin typeface="Arial"/>
                <a:ea typeface="Arial"/>
                <a:cs typeface="Arial"/>
                <a:sym typeface="Arial"/>
              </a:rPr>
              <a:t>Monetaria</a:t>
            </a:r>
          </a:p>
        </p:txBody>
      </p:sp>
      <p:sp>
        <p:nvSpPr>
          <p:cNvPr id="369" name="Shape 369"/>
          <p:cNvSpPr txBox="1"/>
          <p:nvPr/>
        </p:nvSpPr>
        <p:spPr>
          <a:xfrm>
            <a:off x="3581400" y="5830887"/>
            <a:ext cx="1395411" cy="650874"/>
          </a:xfrm>
          <a:prstGeom prst="rect">
            <a:avLst/>
          </a:prstGeom>
          <a:noFill/>
          <a:ln cap="flat" cmpd="sng" w="9525">
            <a:solidFill>
              <a:srgbClr val="FFC000"/>
            </a:solidFill>
            <a:prstDash val="solid"/>
            <a:miter/>
            <a:headEnd len="med" w="med" type="none"/>
            <a:tailEnd len="med" w="med" type="none"/>
          </a:ln>
        </p:spPr>
        <p:txBody>
          <a:bodyPr anchorCtr="0" anchor="t"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1" lang="en-US" sz="1800" u="none" cap="none" strike="noStrike">
                <a:solidFill>
                  <a:schemeClr val="dk2"/>
                </a:solidFill>
                <a:latin typeface="Arial"/>
                <a:ea typeface="Arial"/>
                <a:cs typeface="Arial"/>
                <a:sym typeface="Arial"/>
              </a:rPr>
              <a:t>Base Monetaria</a:t>
            </a:r>
          </a:p>
        </p:txBody>
      </p:sp>
      <p:cxnSp>
        <p:nvCxnSpPr>
          <p:cNvPr id="370" name="Shape 370"/>
          <p:cNvCxnSpPr/>
          <p:nvPr/>
        </p:nvCxnSpPr>
        <p:spPr>
          <a:xfrm rot="-5400000">
            <a:off x="4177506" y="5207792"/>
            <a:ext cx="725486" cy="520700"/>
          </a:xfrm>
          <a:prstGeom prst="straightConnector1">
            <a:avLst/>
          </a:prstGeom>
          <a:noFill/>
          <a:ln cap="flat" cmpd="sng" w="15875">
            <a:solidFill>
              <a:srgbClr val="F69240"/>
            </a:solidFill>
            <a:prstDash val="solid"/>
            <a:miter/>
            <a:headEnd len="med" w="med" type="none"/>
            <a:tailEnd len="med" w="med" type="none"/>
          </a:ln>
        </p:spPr>
      </p:cxnSp>
      <p:cxnSp>
        <p:nvCxnSpPr>
          <p:cNvPr id="371" name="Shape 371"/>
          <p:cNvCxnSpPr/>
          <p:nvPr/>
        </p:nvCxnSpPr>
        <p:spPr>
          <a:xfrm>
            <a:off x="6096000" y="3698875"/>
            <a:ext cx="1371599" cy="263525"/>
          </a:xfrm>
          <a:prstGeom prst="straightConnector1">
            <a:avLst/>
          </a:prstGeom>
          <a:noFill/>
          <a:ln cap="flat" cmpd="sng" w="9525">
            <a:solidFill>
              <a:srgbClr val="98B954"/>
            </a:solidFill>
            <a:prstDash val="solid"/>
            <a:miter/>
            <a:headEnd len="med" w="med" type="none"/>
            <a:tailEnd len="med" w="med" type="none"/>
          </a:ln>
        </p:spPr>
      </p:cxn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5" name="Shape 375"/>
        <p:cNvGrpSpPr/>
        <p:nvPr/>
      </p:nvGrpSpPr>
      <p:grpSpPr>
        <a:xfrm>
          <a:off x="0" y="0"/>
          <a:ext cx="0" cy="0"/>
          <a:chOff x="0" y="0"/>
          <a:chExt cx="0" cy="0"/>
        </a:xfrm>
      </p:grpSpPr>
      <p:pic>
        <p:nvPicPr>
          <p:cNvPr id="376" name="Shape 37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77" name="Shape 377"/>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378" name="Shape 378"/>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79" name="Shape 379"/>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380" name="Shape 380"/>
          <p:cNvSpPr txBox="1"/>
          <p:nvPr/>
        </p:nvSpPr>
        <p:spPr>
          <a:xfrm>
            <a:off x="0" y="1600200"/>
            <a:ext cx="9144000" cy="29257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RELACIÓN ENTRE OM Y BM</a:t>
            </a:r>
          </a:p>
          <a:p>
            <a:pPr indent="0" lvl="0" marL="0" marR="0" rtl="0" algn="l">
              <a:lnSpc>
                <a:spcPct val="100000"/>
              </a:lnSpc>
              <a:spcBef>
                <a:spcPts val="0"/>
              </a:spcBef>
              <a:spcAft>
                <a:spcPts val="0"/>
              </a:spcAft>
              <a:buClr>
                <a:schemeClr val="dk1"/>
              </a:buClr>
              <a:buFont typeface="Arial"/>
              <a:buNone/>
            </a:pPr>
            <a:r>
              <a:t/>
            </a:r>
            <a:endParaRPr b="1" i="0" sz="18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OM = Efectivo en manos del público (EMP) + Depósitos (D)</a:t>
            </a:r>
          </a:p>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BM = Efectivo en manos del público (EMP) + Reservas bancarias (R)</a:t>
            </a: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MM (Multiplicador Monetario) = OM / BM = (EMP + D) / (EMP + R)</a:t>
            </a:r>
          </a:p>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Entonces el multiplicador monetario será igual a:</a:t>
            </a:r>
          </a:p>
          <a:p>
            <a:pPr indent="0" lvl="0" marL="0" marR="0" rtl="0" algn="ctr">
              <a:lnSpc>
                <a:spcPct val="100000"/>
              </a:lnSpc>
              <a:spcBef>
                <a:spcPts val="0"/>
              </a:spcBef>
              <a:spcAft>
                <a:spcPts val="0"/>
              </a:spcAft>
              <a:buClr>
                <a:schemeClr val="dk1"/>
              </a:buClr>
              <a:buFont typeface="Arial"/>
              <a:buNone/>
            </a:pPr>
            <a:r>
              <a:t/>
            </a:r>
            <a:endParaRPr b="1" i="0" sz="2400" u="none" cap="none" strike="noStrike">
              <a:solidFill>
                <a:srgbClr val="FF0000"/>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((EMP/D + 1) / (EMP/D + R/D) )</a:t>
            </a:r>
          </a:p>
        </p:txBody>
      </p:sp>
      <p:sp>
        <p:nvSpPr>
          <p:cNvPr id="381" name="Shape 381"/>
          <p:cNvSpPr txBox="1"/>
          <p:nvPr/>
        </p:nvSpPr>
        <p:spPr>
          <a:xfrm>
            <a:off x="381000" y="5118100"/>
            <a:ext cx="8493124" cy="1190624"/>
          </a:xfrm>
          <a:prstGeom prst="rect">
            <a:avLst/>
          </a:prstGeom>
          <a:solidFill>
            <a:srgbClr val="FFFF99"/>
          </a:solid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C00000"/>
              </a:buClr>
              <a:buSzPct val="25000"/>
              <a:buFont typeface="Arial"/>
              <a:buNone/>
            </a:pPr>
            <a:r>
              <a:rPr b="0" i="1" lang="en-US" sz="1800" u="none" cap="none" strike="noStrike">
                <a:solidFill>
                  <a:srgbClr val="C00000"/>
                </a:solidFill>
                <a:latin typeface="Arial"/>
                <a:ea typeface="Arial"/>
                <a:cs typeface="Arial"/>
                <a:sym typeface="Arial"/>
              </a:rPr>
              <a:t>El cociente "EMP / D" representa la proporción de los depósitos que el público</a:t>
            </a:r>
          </a:p>
          <a:p>
            <a:pPr indent="0" lvl="0" marL="0" marR="0" rtl="0" algn="ctr">
              <a:lnSpc>
                <a:spcPct val="100000"/>
              </a:lnSpc>
              <a:spcBef>
                <a:spcPts val="0"/>
              </a:spcBef>
              <a:spcAft>
                <a:spcPts val="0"/>
              </a:spcAft>
              <a:buClr>
                <a:srgbClr val="C00000"/>
              </a:buClr>
              <a:buSzPct val="25000"/>
              <a:buFont typeface="Arial"/>
              <a:buNone/>
            </a:pPr>
            <a:r>
              <a:rPr b="0" i="1" lang="en-US" sz="1800" u="none" cap="none" strike="noStrike">
                <a:solidFill>
                  <a:srgbClr val="C00000"/>
                </a:solidFill>
                <a:latin typeface="Arial"/>
                <a:ea typeface="Arial"/>
                <a:cs typeface="Arial"/>
                <a:sym typeface="Arial"/>
              </a:rPr>
              <a:t>mantiene en efectivo</a:t>
            </a:r>
          </a:p>
          <a:p>
            <a:pPr indent="0" lvl="0" marL="0" marR="0" rtl="0" algn="ctr">
              <a:lnSpc>
                <a:spcPct val="100000"/>
              </a:lnSpc>
              <a:spcBef>
                <a:spcPts val="0"/>
              </a:spcBef>
              <a:spcAft>
                <a:spcPts val="0"/>
              </a:spcAft>
              <a:buClr>
                <a:schemeClr val="dk1"/>
              </a:buClr>
              <a:buFont typeface="Arial"/>
              <a:buNone/>
            </a:pPr>
            <a:r>
              <a:t/>
            </a:r>
            <a:endParaRPr b="0" i="1" sz="1800" u="none" cap="none" strike="noStrike">
              <a:solidFill>
                <a:srgbClr val="C00000"/>
              </a:solidFill>
              <a:latin typeface="Arial"/>
              <a:ea typeface="Arial"/>
              <a:cs typeface="Arial"/>
              <a:sym typeface="Arial"/>
            </a:endParaRPr>
          </a:p>
          <a:p>
            <a:pPr indent="0" lvl="0" marL="0" marR="0" rtl="0" algn="ctr">
              <a:lnSpc>
                <a:spcPct val="100000"/>
              </a:lnSpc>
              <a:spcBef>
                <a:spcPts val="0"/>
              </a:spcBef>
              <a:spcAft>
                <a:spcPts val="0"/>
              </a:spcAft>
              <a:buClr>
                <a:srgbClr val="C00000"/>
              </a:buClr>
              <a:buSzPct val="25000"/>
              <a:buFont typeface="Arial"/>
              <a:buNone/>
            </a:pPr>
            <a:r>
              <a:rPr b="0" i="1" lang="en-US" sz="1800" u="none" cap="none" strike="noStrike">
                <a:solidFill>
                  <a:srgbClr val="C00000"/>
                </a:solidFill>
                <a:latin typeface="Arial"/>
                <a:ea typeface="Arial"/>
                <a:cs typeface="Arial"/>
                <a:sym typeface="Arial"/>
              </a:rPr>
              <a:t>El cociente "R / D" representa el encaje bancario</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85" name="Shape 385"/>
        <p:cNvGrpSpPr/>
        <p:nvPr/>
      </p:nvGrpSpPr>
      <p:grpSpPr>
        <a:xfrm>
          <a:off x="0" y="0"/>
          <a:ext cx="0" cy="0"/>
          <a:chOff x="0" y="0"/>
          <a:chExt cx="0" cy="0"/>
        </a:xfrm>
      </p:grpSpPr>
      <p:pic>
        <p:nvPicPr>
          <p:cNvPr id="386" name="Shape 386"/>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sp>
        <p:nvSpPr>
          <p:cNvPr id="387" name="Shape 387"/>
          <p:cNvSpPr txBox="1"/>
          <p:nvPr/>
        </p:nvSpPr>
        <p:spPr>
          <a:xfrm>
            <a:off x="381000" y="1600200"/>
            <a:ext cx="8493124"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BB4F59"/>
              </a:buClr>
              <a:buSzPct val="25000"/>
              <a:buFont typeface="Arial"/>
              <a:buNone/>
            </a:pPr>
            <a:r>
              <a:rPr b="1" i="1" lang="en-US" sz="2400" u="none" cap="none" strike="noStrike">
                <a:solidFill>
                  <a:srgbClr val="BB4F59"/>
                </a:solidFill>
                <a:latin typeface="Arial"/>
                <a:ea typeface="Arial"/>
                <a:cs typeface="Arial"/>
                <a:sym typeface="Arial"/>
              </a:rPr>
              <a:t> </a:t>
            </a:r>
          </a:p>
        </p:txBody>
      </p:sp>
      <p:pic>
        <p:nvPicPr>
          <p:cNvPr id="388" name="Shape 388"/>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89" name="Shape 389"/>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390" name="Shape 390"/>
          <p:cNvSpPr txBox="1"/>
          <p:nvPr/>
        </p:nvSpPr>
        <p:spPr>
          <a:xfrm>
            <a:off x="0" y="1371600"/>
            <a:ext cx="9144000" cy="52689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FF0000"/>
              </a:buClr>
              <a:buSzPct val="25000"/>
              <a:buFont typeface="Arial"/>
              <a:buNone/>
            </a:pPr>
            <a:r>
              <a:rPr b="1" i="0" lang="en-US" sz="2800" u="none" cap="none" strike="noStrike">
                <a:solidFill>
                  <a:srgbClr val="FF0000"/>
                </a:solidFill>
                <a:latin typeface="Arial"/>
                <a:ea typeface="Arial"/>
                <a:cs typeface="Arial"/>
                <a:sym typeface="Arial"/>
              </a:rPr>
              <a:t>Encaje Bancario</a:t>
            </a:r>
          </a:p>
          <a:p>
            <a:pPr indent="0" lvl="0" marL="0" marR="0" rtl="0" algn="ctr">
              <a:lnSpc>
                <a:spcPct val="100000"/>
              </a:lnSpc>
              <a:spcBef>
                <a:spcPts val="0"/>
              </a:spcBef>
              <a:spcAft>
                <a:spcPts val="0"/>
              </a:spcAft>
              <a:buClr>
                <a:srgbClr val="BB4F59"/>
              </a:buClr>
              <a:buSzPct val="25000"/>
              <a:buFont typeface="Arial"/>
              <a:buNone/>
            </a:pPr>
            <a:r>
              <a:rPr b="1" i="1" lang="en-US" sz="1800" u="none" cap="none" strike="noStrike">
                <a:solidFill>
                  <a:srgbClr val="BB4F59"/>
                </a:solidFill>
                <a:latin typeface="Arial"/>
                <a:ea typeface="Arial"/>
                <a:cs typeface="Arial"/>
                <a:sym typeface="Arial"/>
              </a:rPr>
              <a:t>La relación R/D representa el encaje bancario y normalmente está determinado</a:t>
            </a:r>
          </a:p>
          <a:p>
            <a:pPr indent="0" lvl="0" marL="0" marR="0" rtl="0" algn="l">
              <a:lnSpc>
                <a:spcPct val="100000"/>
              </a:lnSpc>
              <a:spcBef>
                <a:spcPts val="0"/>
              </a:spcBef>
              <a:spcAft>
                <a:spcPts val="0"/>
              </a:spcAft>
              <a:buClr>
                <a:srgbClr val="BB4F59"/>
              </a:buClr>
              <a:buSzPct val="25000"/>
              <a:buFont typeface="Arial"/>
              <a:buNone/>
            </a:pPr>
            <a:r>
              <a:rPr b="1" i="1" lang="en-US" sz="1800" u="none" cap="none" strike="noStrike">
                <a:solidFill>
                  <a:srgbClr val="BB4F59"/>
                </a:solidFill>
                <a:latin typeface="Arial"/>
                <a:ea typeface="Arial"/>
                <a:cs typeface="Arial"/>
                <a:sym typeface="Arial"/>
              </a:rPr>
              <a:t>por el Banco Central.</a:t>
            </a:r>
          </a:p>
          <a:p>
            <a:pPr indent="0" lvl="0" marL="0" marR="0" rtl="0" algn="l">
              <a:lnSpc>
                <a:spcPct val="100000"/>
              </a:lnSpc>
              <a:spcBef>
                <a:spcPts val="0"/>
              </a:spcBef>
              <a:spcAft>
                <a:spcPts val="0"/>
              </a:spcAft>
              <a:buClr>
                <a:srgbClr val="BB4F59"/>
              </a:buClr>
              <a:buSzPct val="25000"/>
              <a:buFont typeface="Arial"/>
              <a:buNone/>
            </a:pPr>
            <a:r>
              <a:rPr b="1" i="1" lang="en-US" sz="1800" u="none" cap="none" strike="noStrike">
                <a:solidFill>
                  <a:srgbClr val="BB4F59"/>
                </a:solidFill>
                <a:latin typeface="Arial"/>
                <a:ea typeface="Arial"/>
                <a:cs typeface="Arial"/>
                <a:sym typeface="Arial"/>
              </a:rPr>
              <a:t>Las entidades financieras cuando reciben un depósito tienen que dejar un</a:t>
            </a:r>
          </a:p>
          <a:p>
            <a:pPr indent="0" lvl="0" marL="0" marR="0" rtl="0" algn="l">
              <a:lnSpc>
                <a:spcPct val="100000"/>
              </a:lnSpc>
              <a:spcBef>
                <a:spcPts val="0"/>
              </a:spcBef>
              <a:spcAft>
                <a:spcPts val="0"/>
              </a:spcAft>
              <a:buClr>
                <a:srgbClr val="BB4F59"/>
              </a:buClr>
              <a:buSzPct val="25000"/>
              <a:buFont typeface="Arial"/>
              <a:buNone/>
            </a:pPr>
            <a:r>
              <a:rPr b="1" i="1" lang="en-US" sz="1800" u="none" cap="none" strike="noStrike">
                <a:solidFill>
                  <a:srgbClr val="BB4F59"/>
                </a:solidFill>
                <a:latin typeface="Arial"/>
                <a:ea typeface="Arial"/>
                <a:cs typeface="Arial"/>
                <a:sym typeface="Arial"/>
              </a:rPr>
              <a:t>porcentaje en caja para atender retiros de efectivo.</a:t>
            </a:r>
          </a:p>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OM = MM * BM</a:t>
            </a:r>
          </a:p>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OM = ((EMP/D + 1) / (EMP / D + R/D)) * BM</a:t>
            </a:r>
          </a:p>
          <a:p>
            <a:pPr indent="0" lvl="0" marL="0" marR="0" rtl="0" algn="ctr">
              <a:lnSpc>
                <a:spcPct val="100000"/>
              </a:lnSpc>
              <a:spcBef>
                <a:spcPts val="0"/>
              </a:spcBef>
              <a:spcAft>
                <a:spcPts val="0"/>
              </a:spcAft>
              <a:buClr>
                <a:srgbClr val="FF0000"/>
              </a:buClr>
              <a:buSzPct val="25000"/>
              <a:buFont typeface="Arial"/>
              <a:buNone/>
            </a:pPr>
            <a:r>
              <a:rPr b="1" i="0" lang="en-US" sz="2400" u="none" cap="none" strike="noStrike">
                <a:solidFill>
                  <a:srgbClr val="FF0000"/>
                </a:solidFill>
                <a:latin typeface="Arial"/>
                <a:ea typeface="Arial"/>
                <a:cs typeface="Arial"/>
                <a:sym typeface="Arial"/>
              </a:rPr>
              <a:t>OM = ((EMP/D + 1) / (EMP / D + Encaje)) * BM</a:t>
            </a:r>
          </a:p>
          <a:p>
            <a:pPr indent="0" lvl="0" marL="0" marR="0" rtl="0" algn="l">
              <a:lnSpc>
                <a:spcPct val="100000"/>
              </a:lnSpc>
              <a:spcBef>
                <a:spcPts val="0"/>
              </a:spcBef>
              <a:spcAft>
                <a:spcPts val="0"/>
              </a:spcAft>
              <a:buClr>
                <a:srgbClr val="0070C0"/>
              </a:buClr>
              <a:buSzPct val="25000"/>
              <a:buFont typeface="Arial"/>
              <a:buNone/>
            </a:pPr>
            <a:r>
              <a:rPr b="1" i="0" lang="en-US" sz="2400" u="none" cap="none" strike="noStrike">
                <a:solidFill>
                  <a:srgbClr val="0070C0"/>
                </a:solidFill>
                <a:latin typeface="Arial"/>
                <a:ea typeface="Arial"/>
                <a:cs typeface="Arial"/>
                <a:sym typeface="Arial"/>
              </a:rPr>
              <a:t>Influencia del encaje sobre la OM:</a:t>
            </a:r>
          </a:p>
          <a:p>
            <a:pPr indent="0" lvl="0" marL="0" marR="0" rtl="0" algn="l">
              <a:lnSpc>
                <a:spcPct val="100000"/>
              </a:lnSpc>
              <a:spcBef>
                <a:spcPts val="0"/>
              </a:spcBef>
              <a:spcAft>
                <a:spcPts val="0"/>
              </a:spcAft>
              <a:buClr>
                <a:srgbClr val="0070C0"/>
              </a:buClr>
              <a:buSzPct val="100000"/>
              <a:buFont typeface="Arial"/>
              <a:buChar char="•"/>
            </a:pPr>
            <a:r>
              <a:rPr b="0" i="0" lang="en-US" sz="2400" u="none" cap="none" strike="noStrike">
                <a:solidFill>
                  <a:srgbClr val="0070C0"/>
                </a:solidFill>
                <a:latin typeface="Arial"/>
                <a:ea typeface="Arial"/>
                <a:cs typeface="Arial"/>
                <a:sym typeface="Arial"/>
              </a:rPr>
              <a:t>Cuando aumenta el encaje aumenta el denominador del multiplicador, reduciendo el nivel de oferta monetaria.</a:t>
            </a:r>
          </a:p>
          <a:p>
            <a:pPr indent="0" lvl="0" marL="0" marR="0" rtl="0" algn="l">
              <a:lnSpc>
                <a:spcPct val="100000"/>
              </a:lnSpc>
              <a:spcBef>
                <a:spcPts val="0"/>
              </a:spcBef>
              <a:spcAft>
                <a:spcPts val="0"/>
              </a:spcAft>
              <a:buClr>
                <a:schemeClr val="dk1"/>
              </a:buClr>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70C0"/>
              </a:buClr>
              <a:buSzPct val="100000"/>
              <a:buFont typeface="Arial"/>
              <a:buChar char="•"/>
            </a:pPr>
            <a:r>
              <a:rPr b="0" i="0" lang="en-US" sz="2400" u="none" cap="none" strike="noStrike">
                <a:solidFill>
                  <a:srgbClr val="0070C0"/>
                </a:solidFill>
                <a:latin typeface="Arial"/>
                <a:ea typeface="Arial"/>
                <a:cs typeface="Arial"/>
                <a:sym typeface="Arial"/>
              </a:rPr>
              <a:t> Sujeto a la relación EMP/D, en la medida que esta crece reduce el impacto de la variación del encaje.</a:t>
            </a:r>
          </a:p>
          <a:p>
            <a:pPr indent="0" lvl="0" marL="0" marR="0" rtl="0" algn="ctr">
              <a:lnSpc>
                <a:spcPct val="100000"/>
              </a:lnSpc>
              <a:spcBef>
                <a:spcPts val="0"/>
              </a:spcBef>
              <a:spcAft>
                <a:spcPts val="0"/>
              </a:spcAft>
              <a:buNone/>
            </a:pPr>
            <a:r>
              <a:t/>
            </a:r>
            <a:endParaRPr b="0" i="0" sz="2400" u="none" cap="none" strike="noStrike">
              <a:solidFill>
                <a:srgbClr val="0070C0"/>
              </a:solidFill>
              <a:latin typeface="Arial"/>
              <a:ea typeface="Arial"/>
              <a:cs typeface="Arial"/>
              <a:sym typeface="Arial"/>
            </a:endParaRP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4" name="Shape 394"/>
        <p:cNvGrpSpPr/>
        <p:nvPr/>
      </p:nvGrpSpPr>
      <p:grpSpPr>
        <a:xfrm>
          <a:off x="0" y="0"/>
          <a:ext cx="0" cy="0"/>
          <a:chOff x="0" y="0"/>
          <a:chExt cx="0" cy="0"/>
        </a:xfrm>
      </p:grpSpPr>
      <p:pic>
        <p:nvPicPr>
          <p:cNvPr id="395" name="Shape 395"/>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396" name="Shape 396"/>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397" name="Shape 397"/>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398" name="Shape 398"/>
          <p:cNvSpPr txBox="1"/>
          <p:nvPr/>
        </p:nvSpPr>
        <p:spPr>
          <a:xfrm>
            <a:off x="0" y="1295400"/>
            <a:ext cx="8991600" cy="52324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3600" u="none" cap="none" strike="noStrike">
                <a:solidFill>
                  <a:srgbClr val="FF0000"/>
                </a:solidFill>
                <a:latin typeface="Arial"/>
                <a:ea typeface="Arial"/>
                <a:cs typeface="Arial"/>
                <a:sym typeface="Arial"/>
              </a:rPr>
              <a:t>Medios de pago utilizados en Argentina</a:t>
            </a:r>
          </a:p>
          <a:p>
            <a:pPr indent="0" lvl="0" marL="0" marR="0" rtl="0" algn="ctr">
              <a:lnSpc>
                <a:spcPct val="100000"/>
              </a:lnSpc>
              <a:spcBef>
                <a:spcPts val="0"/>
              </a:spcBef>
              <a:spcAft>
                <a:spcPts val="0"/>
              </a:spcAft>
              <a:buClr>
                <a:schemeClr val="dk1"/>
              </a:buClr>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250000"/>
              </a:lnSpc>
              <a:spcBef>
                <a:spcPts val="0"/>
              </a:spcBef>
              <a:spcAft>
                <a:spcPts val="0"/>
              </a:spcAft>
              <a:buClr>
                <a:srgbClr val="BB4F59"/>
              </a:buClr>
              <a:buSzPct val="100000"/>
              <a:buFont typeface="Noto Sans Symbols"/>
              <a:buChar char="✓"/>
            </a:pPr>
            <a:r>
              <a:rPr b="1" i="0" lang="en-US" sz="2800" u="none" cap="none" strike="noStrike">
                <a:solidFill>
                  <a:srgbClr val="BB4F59"/>
                </a:solidFill>
                <a:latin typeface="Arial"/>
                <a:ea typeface="Arial"/>
                <a:cs typeface="Arial"/>
                <a:sym typeface="Arial"/>
              </a:rPr>
              <a:t>Dinero de curso legal</a:t>
            </a:r>
          </a:p>
          <a:p>
            <a:pPr indent="0" lvl="0" marL="0" marR="0" rtl="0" algn="l">
              <a:lnSpc>
                <a:spcPct val="250000"/>
              </a:lnSpc>
              <a:spcBef>
                <a:spcPts val="0"/>
              </a:spcBef>
              <a:spcAft>
                <a:spcPts val="0"/>
              </a:spcAft>
              <a:buClr>
                <a:srgbClr val="BB4F59"/>
              </a:buClr>
              <a:buSzPct val="100000"/>
              <a:buFont typeface="Noto Sans Symbols"/>
              <a:buChar char="✓"/>
            </a:pPr>
            <a:r>
              <a:rPr b="1" i="0" lang="en-US" sz="2800" u="none" cap="none" strike="noStrike">
                <a:solidFill>
                  <a:srgbClr val="BB4F59"/>
                </a:solidFill>
                <a:latin typeface="Arial"/>
                <a:ea typeface="Arial"/>
                <a:cs typeface="Arial"/>
                <a:sym typeface="Arial"/>
              </a:rPr>
              <a:t>Tarjetas de crédito</a:t>
            </a:r>
          </a:p>
          <a:p>
            <a:pPr indent="0" lvl="0" marL="0" marR="0" rtl="0" algn="l">
              <a:lnSpc>
                <a:spcPct val="250000"/>
              </a:lnSpc>
              <a:spcBef>
                <a:spcPts val="0"/>
              </a:spcBef>
              <a:spcAft>
                <a:spcPts val="0"/>
              </a:spcAft>
              <a:buClr>
                <a:srgbClr val="BB4F59"/>
              </a:buClr>
              <a:buSzPct val="100000"/>
              <a:buFont typeface="Noto Sans Symbols"/>
              <a:buChar char="✓"/>
            </a:pPr>
            <a:r>
              <a:rPr b="1" i="0" lang="en-US" sz="2800" u="none" cap="none" strike="noStrike">
                <a:solidFill>
                  <a:srgbClr val="BB4F59"/>
                </a:solidFill>
                <a:latin typeface="Arial"/>
                <a:ea typeface="Arial"/>
                <a:cs typeface="Arial"/>
                <a:sym typeface="Arial"/>
              </a:rPr>
              <a:t>Tarjetas de débito</a:t>
            </a:r>
          </a:p>
          <a:p>
            <a:pPr indent="0" lvl="0" marL="0" marR="0" rtl="0" algn="l">
              <a:lnSpc>
                <a:spcPct val="250000"/>
              </a:lnSpc>
              <a:spcBef>
                <a:spcPts val="0"/>
              </a:spcBef>
              <a:spcAft>
                <a:spcPts val="0"/>
              </a:spcAft>
              <a:buClr>
                <a:srgbClr val="BB4F59"/>
              </a:buClr>
              <a:buSzPct val="100000"/>
              <a:buFont typeface="Noto Sans Symbols"/>
              <a:buChar char="✓"/>
            </a:pPr>
            <a:r>
              <a:rPr b="1" i="0" lang="en-US" sz="2800" u="none" cap="none" strike="noStrike">
                <a:solidFill>
                  <a:srgbClr val="BB4F59"/>
                </a:solidFill>
                <a:latin typeface="Arial"/>
                <a:ea typeface="Arial"/>
                <a:cs typeface="Arial"/>
                <a:sym typeface="Arial"/>
              </a:rPr>
              <a:t>Cheque</a:t>
            </a:r>
          </a:p>
        </p:txBody>
      </p:sp>
      <p:pic>
        <p:nvPicPr>
          <p:cNvPr id="399" name="Shape 399"/>
          <p:cNvPicPr preferRelativeResize="0"/>
          <p:nvPr/>
        </p:nvPicPr>
        <p:blipFill rotWithShape="1">
          <a:blip r:embed="rId5">
            <a:alphaModFix/>
          </a:blip>
          <a:srcRect b="0" l="0" r="0" t="0"/>
          <a:stretch/>
        </p:blipFill>
        <p:spPr>
          <a:xfrm>
            <a:off x="4017962" y="1974850"/>
            <a:ext cx="2943224" cy="324326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400" name="Shape 400"/>
          <p:cNvPicPr preferRelativeResize="0"/>
          <p:nvPr/>
        </p:nvPicPr>
        <p:blipFill rotWithShape="1">
          <a:blip r:embed="rId6">
            <a:alphaModFix/>
          </a:blip>
          <a:srcRect b="0" l="0" r="0" t="0"/>
          <a:stretch/>
        </p:blipFill>
        <p:spPr>
          <a:xfrm>
            <a:off x="6577011" y="3651250"/>
            <a:ext cx="2590800" cy="3414712"/>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401" name="Shape 401"/>
          <p:cNvPicPr preferRelativeResize="0"/>
          <p:nvPr/>
        </p:nvPicPr>
        <p:blipFill rotWithShape="1">
          <a:blip r:embed="rId7">
            <a:alphaModFix/>
          </a:blip>
          <a:srcRect b="0" l="0" r="0" t="0"/>
          <a:stretch/>
        </p:blipFill>
        <p:spPr>
          <a:xfrm>
            <a:off x="4090987" y="3956050"/>
            <a:ext cx="2412999" cy="3402011"/>
          </a:xfrm>
          <a:prstGeom prst="roundRect">
            <a:avLst>
              <a:gd fmla="val 8594" name="adj"/>
            </a:avLst>
          </a:prstGeom>
          <a:solidFill>
            <a:srgbClr val="ECECEC"/>
          </a:solidFill>
          <a:ln>
            <a:noFill/>
          </a:ln>
          <a:effectLst>
            <a:reflection blurRad="0" dir="5400000" dist="5000" endA="0" endPos="28000" kx="0" rotWithShape="0" algn="bl" stA="38000" stPos="0" sy="-100000" ky="0"/>
          </a:effectLst>
        </p:spPr>
      </p:pic>
      <p:pic>
        <p:nvPicPr>
          <p:cNvPr id="402" name="Shape 402"/>
          <p:cNvPicPr preferRelativeResize="0"/>
          <p:nvPr/>
        </p:nvPicPr>
        <p:blipFill rotWithShape="1">
          <a:blip r:embed="rId8">
            <a:alphaModFix/>
          </a:blip>
          <a:srcRect b="0" l="0" r="0" t="0"/>
          <a:stretch/>
        </p:blipFill>
        <p:spPr>
          <a:xfrm>
            <a:off x="1828800" y="5768975"/>
            <a:ext cx="2614611" cy="1089024"/>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6" name="Shape 406"/>
        <p:cNvGrpSpPr/>
        <p:nvPr/>
      </p:nvGrpSpPr>
      <p:grpSpPr>
        <a:xfrm>
          <a:off x="0" y="0"/>
          <a:ext cx="0" cy="0"/>
          <a:chOff x="0" y="0"/>
          <a:chExt cx="0" cy="0"/>
        </a:xfrm>
      </p:grpSpPr>
      <p:pic>
        <p:nvPicPr>
          <p:cNvPr id="407" name="Shape 407"/>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08" name="Shape 408"/>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409" name="Shape 409"/>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pic>
        <p:nvPicPr>
          <p:cNvPr id="410" name="Shape 410"/>
          <p:cNvPicPr preferRelativeResize="0"/>
          <p:nvPr/>
        </p:nvPicPr>
        <p:blipFill rotWithShape="1">
          <a:blip r:embed="rId5">
            <a:alphaModFix/>
          </a:blip>
          <a:srcRect b="0" l="0" r="0" t="0"/>
          <a:stretch/>
        </p:blipFill>
        <p:spPr>
          <a:xfrm>
            <a:off x="1709736" y="1458912"/>
            <a:ext cx="7434262" cy="2579686"/>
          </a:xfrm>
          <a:prstGeom prst="rect">
            <a:avLst/>
          </a:prstGeom>
          <a:noFill/>
          <a:ln>
            <a:noFill/>
          </a:ln>
        </p:spPr>
      </p:pic>
      <p:sp>
        <p:nvSpPr>
          <p:cNvPr id="411" name="Shape 411"/>
          <p:cNvSpPr txBox="1"/>
          <p:nvPr/>
        </p:nvSpPr>
        <p:spPr>
          <a:xfrm>
            <a:off x="0" y="1671636"/>
            <a:ext cx="1709736" cy="206216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70C0"/>
              </a:buClr>
              <a:buSzPct val="25000"/>
              <a:buFont typeface="Arial"/>
              <a:buNone/>
            </a:pPr>
            <a:r>
              <a:rPr b="1" i="0" lang="en-US" sz="3200" u="none" cap="none" strike="noStrike">
                <a:solidFill>
                  <a:srgbClr val="0070C0"/>
                </a:solidFill>
                <a:latin typeface="Arial"/>
                <a:ea typeface="Arial"/>
                <a:cs typeface="Arial"/>
                <a:sym typeface="Arial"/>
              </a:rPr>
              <a:t>Cheque de pago diferido</a:t>
            </a:r>
          </a:p>
        </p:txBody>
      </p:sp>
      <p:sp>
        <p:nvSpPr>
          <p:cNvPr id="412" name="Shape 412"/>
          <p:cNvSpPr txBox="1"/>
          <p:nvPr/>
        </p:nvSpPr>
        <p:spPr>
          <a:xfrm>
            <a:off x="38100" y="4637087"/>
            <a:ext cx="1711324" cy="1077912"/>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70C0"/>
              </a:buClr>
              <a:buSzPct val="25000"/>
              <a:buFont typeface="Arial"/>
              <a:buNone/>
            </a:pPr>
            <a:r>
              <a:rPr b="1" i="0" lang="en-US" sz="3200" u="none" cap="none" strike="noStrike">
                <a:solidFill>
                  <a:srgbClr val="0070C0"/>
                </a:solidFill>
                <a:latin typeface="Arial"/>
                <a:ea typeface="Arial"/>
                <a:cs typeface="Arial"/>
                <a:sym typeface="Arial"/>
              </a:rPr>
              <a:t>Cheque Común</a:t>
            </a:r>
          </a:p>
        </p:txBody>
      </p:sp>
      <p:pic>
        <p:nvPicPr>
          <p:cNvPr id="413" name="Shape 413"/>
          <p:cNvPicPr preferRelativeResize="0"/>
          <p:nvPr/>
        </p:nvPicPr>
        <p:blipFill rotWithShape="1">
          <a:blip r:embed="rId6">
            <a:alphaModFix/>
          </a:blip>
          <a:srcRect b="0" l="0" r="0" t="0"/>
          <a:stretch/>
        </p:blipFill>
        <p:spPr>
          <a:xfrm>
            <a:off x="1749425" y="4168775"/>
            <a:ext cx="7356475" cy="2613025"/>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7" name="Shape 417"/>
        <p:cNvGrpSpPr/>
        <p:nvPr/>
      </p:nvGrpSpPr>
      <p:grpSpPr>
        <a:xfrm>
          <a:off x="0" y="0"/>
          <a:ext cx="0" cy="0"/>
          <a:chOff x="0" y="0"/>
          <a:chExt cx="0" cy="0"/>
        </a:xfrm>
      </p:grpSpPr>
      <p:pic>
        <p:nvPicPr>
          <p:cNvPr id="418" name="Shape 418"/>
          <p:cNvPicPr preferRelativeResize="0"/>
          <p:nvPr/>
        </p:nvPicPr>
        <p:blipFill rotWithShape="1">
          <a:blip r:embed="rId3">
            <a:alphaModFix/>
          </a:blip>
          <a:srcRect b="0" l="0" r="0" t="0"/>
          <a:stretch/>
        </p:blipFill>
        <p:spPr>
          <a:xfrm>
            <a:off x="263525" y="1085850"/>
            <a:ext cx="8610599" cy="209549"/>
          </a:xfrm>
          <a:prstGeom prst="rect">
            <a:avLst/>
          </a:prstGeom>
          <a:noFill/>
          <a:ln>
            <a:noFill/>
          </a:ln>
        </p:spPr>
      </p:pic>
      <p:pic>
        <p:nvPicPr>
          <p:cNvPr id="419" name="Shape 419"/>
          <p:cNvPicPr preferRelativeResize="0"/>
          <p:nvPr/>
        </p:nvPicPr>
        <p:blipFill rotWithShape="1">
          <a:blip r:embed="rId4">
            <a:alphaModFix/>
          </a:blip>
          <a:srcRect b="0" l="0" r="0" t="0"/>
          <a:stretch/>
        </p:blipFill>
        <p:spPr>
          <a:xfrm>
            <a:off x="263525" y="304800"/>
            <a:ext cx="3013074" cy="608011"/>
          </a:xfrm>
          <a:prstGeom prst="rect">
            <a:avLst/>
          </a:prstGeom>
          <a:noFill/>
          <a:ln>
            <a:noFill/>
          </a:ln>
        </p:spPr>
      </p:pic>
      <p:sp>
        <p:nvSpPr>
          <p:cNvPr id="420" name="Shape 420"/>
          <p:cNvSpPr txBox="1"/>
          <p:nvPr/>
        </p:nvSpPr>
        <p:spPr>
          <a:xfrm>
            <a:off x="4443412" y="152400"/>
            <a:ext cx="4548187" cy="830261"/>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MACROECONOMÍA </a:t>
            </a:r>
          </a:p>
          <a:p>
            <a:pPr indent="0" lvl="0" marL="0" marR="0" rtl="0" algn="ctr">
              <a:lnSpc>
                <a:spcPct val="100000"/>
              </a:lnSpc>
              <a:spcBef>
                <a:spcPts val="0"/>
              </a:spcBef>
              <a:spcAft>
                <a:spcPts val="0"/>
              </a:spcAft>
              <a:buClr>
                <a:srgbClr val="BB4F59"/>
              </a:buClr>
              <a:buSzPct val="25000"/>
              <a:buFont typeface="Arial"/>
              <a:buNone/>
            </a:pPr>
            <a:r>
              <a:rPr b="1" i="0" lang="en-US" sz="2400" u="none" cap="none" strike="noStrike">
                <a:solidFill>
                  <a:srgbClr val="BB4F59"/>
                </a:solidFill>
                <a:latin typeface="Arial"/>
                <a:ea typeface="Arial"/>
                <a:cs typeface="Arial"/>
                <a:sym typeface="Arial"/>
              </a:rPr>
              <a:t>MERCADO DEL DINERO</a:t>
            </a:r>
          </a:p>
        </p:txBody>
      </p:sp>
      <p:sp>
        <p:nvSpPr>
          <p:cNvPr id="421" name="Shape 421"/>
          <p:cNvSpPr txBox="1"/>
          <p:nvPr/>
        </p:nvSpPr>
        <p:spPr>
          <a:xfrm>
            <a:off x="0" y="1295400"/>
            <a:ext cx="9144000" cy="7177087"/>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70C0"/>
              </a:buClr>
              <a:buSzPct val="25000"/>
              <a:buFont typeface="Arial"/>
              <a:buNone/>
            </a:pPr>
            <a:r>
              <a:rPr b="1" i="0" lang="en-US" sz="2400" u="sng" cap="none" strike="noStrike">
                <a:solidFill>
                  <a:srgbClr val="0070C0"/>
                </a:solidFill>
                <a:latin typeface="Arial"/>
                <a:ea typeface="Arial"/>
                <a:cs typeface="Arial"/>
                <a:sym typeface="Arial"/>
              </a:rPr>
              <a:t>Modalidades de librado</a:t>
            </a:r>
          </a:p>
          <a:p>
            <a:pPr indent="0" lvl="0" marL="0" marR="0" rtl="0" algn="ctr">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FF0000"/>
              </a:buClr>
              <a:buSzPct val="25000"/>
              <a:buFont typeface="Arial"/>
              <a:buNone/>
            </a:pPr>
            <a:r>
              <a:rPr b="0" i="0" lang="en-US" sz="2000" u="none" cap="none" strike="noStrike">
                <a:solidFill>
                  <a:srgbClr val="FF0000"/>
                </a:solidFill>
                <a:latin typeface="Arial"/>
                <a:ea typeface="Arial"/>
                <a:cs typeface="Arial"/>
                <a:sym typeface="Arial"/>
              </a:rPr>
              <a:t>Respecto del </a:t>
            </a:r>
            <a:r>
              <a:rPr b="1" i="1" lang="en-US" sz="2000" u="none" cap="none" strike="noStrike">
                <a:solidFill>
                  <a:srgbClr val="FF0000"/>
                </a:solidFill>
                <a:latin typeface="Arial"/>
                <a:ea typeface="Arial"/>
                <a:cs typeface="Arial"/>
                <a:sym typeface="Arial"/>
              </a:rPr>
              <a:t>beneficiario</a:t>
            </a:r>
            <a:r>
              <a:rPr b="0" i="0" lang="en-US" sz="2000" u="none" cap="none" strike="noStrike">
                <a:solidFill>
                  <a:srgbClr val="FF0000"/>
                </a:solidFill>
                <a:latin typeface="Arial"/>
                <a:ea typeface="Arial"/>
                <a:cs typeface="Arial"/>
                <a:sym typeface="Arial"/>
              </a:rPr>
              <a:t>, los cheques pueden emitirse:</a:t>
            </a:r>
          </a:p>
          <a:p>
            <a:pPr indent="0" lvl="0" marL="0" marR="0" rtl="0" algn="ctr">
              <a:lnSpc>
                <a:spcPct val="100000"/>
              </a:lnSpc>
              <a:spcBef>
                <a:spcPts val="0"/>
              </a:spcBef>
              <a:spcAft>
                <a:spcPts val="0"/>
              </a:spcAft>
              <a:buClr>
                <a:schemeClr val="dk1"/>
              </a:buClr>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Al portador:</a:t>
            </a:r>
            <a:r>
              <a:rPr b="0" i="0" lang="en-US" sz="1600" u="none" cap="none" strike="noStrike">
                <a:solidFill>
                  <a:srgbClr val="BB4F59"/>
                </a:solidFill>
                <a:latin typeface="Arial"/>
                <a:ea typeface="Arial"/>
                <a:cs typeface="Arial"/>
                <a:sym typeface="Arial"/>
              </a:rPr>
              <a:t> Quien libra el cheque no consigna por escrito el nombre del beneficiario. De esta manera, el cheque puede ser cobrado por quien lo presente en el banco.</a:t>
            </a: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 </a:t>
            </a: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A la orden:</a:t>
            </a:r>
            <a:r>
              <a:rPr b="0" i="0" lang="en-US" sz="1600" u="none" cap="none" strike="noStrike">
                <a:solidFill>
                  <a:srgbClr val="BB4F59"/>
                </a:solidFill>
                <a:latin typeface="Arial"/>
                <a:ea typeface="Arial"/>
                <a:cs typeface="Arial"/>
                <a:sym typeface="Arial"/>
              </a:rPr>
              <a:t> En este caso se indica con nombre y apellido al beneficiario, quien ''para poder cobrarlo o transferirlo a un tercero'' deberá endosar el cheque con su firma, aclaración, número de documento o de cuenta y domicilio. </a:t>
            </a:r>
          </a:p>
          <a:p>
            <a:pPr indent="0" lvl="0" marL="0" marR="0" rtl="0" algn="l">
              <a:lnSpc>
                <a:spcPct val="100000"/>
              </a:lnSpc>
              <a:spcBef>
                <a:spcPts val="0"/>
              </a:spcBef>
              <a:spcAft>
                <a:spcPts val="0"/>
              </a:spcAft>
              <a:buClr>
                <a:srgbClr val="BB4F59"/>
              </a:buClr>
              <a:buSzPct val="25000"/>
              <a:buFont typeface="Arial"/>
              <a:buNone/>
            </a:pPr>
            <a:r>
              <a:rPr b="0" i="0" lang="en-US" sz="1600" u="none" cap="none" strike="noStrike">
                <a:solidFill>
                  <a:srgbClr val="BB4F59"/>
                </a:solidFill>
                <a:latin typeface="Arial"/>
                <a:ea typeface="Arial"/>
                <a:cs typeface="Arial"/>
                <a:sym typeface="Arial"/>
              </a:rPr>
              <a:t> </a:t>
            </a: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No a la orden:</a:t>
            </a:r>
            <a:r>
              <a:rPr b="0" i="0" lang="en-US" sz="1600" u="none" cap="none" strike="noStrike">
                <a:solidFill>
                  <a:srgbClr val="BB4F59"/>
                </a:solidFill>
                <a:latin typeface="Arial"/>
                <a:ea typeface="Arial"/>
                <a:cs typeface="Arial"/>
                <a:sym typeface="Arial"/>
              </a:rPr>
              <a:t> La característica de este cheque es que no le permite al beneficiario endosarlo para transferirlo a un tercero. Es decir, necesariamente deberá cobrarlo o depositarlo en su cuenta bancaria.</a:t>
            </a:r>
          </a:p>
          <a:p>
            <a:pPr indent="0" lvl="0" marL="0" marR="0" rtl="0" algn="ctr">
              <a:lnSpc>
                <a:spcPct val="100000"/>
              </a:lnSpc>
              <a:spcBef>
                <a:spcPts val="0"/>
              </a:spcBef>
              <a:spcAft>
                <a:spcPts val="0"/>
              </a:spcAft>
              <a:buClr>
                <a:srgbClr val="FF0000"/>
              </a:buClr>
              <a:buSzPct val="25000"/>
              <a:buFont typeface="Arial"/>
              <a:buNone/>
            </a:pPr>
            <a:r>
              <a:rPr b="1" i="0" lang="en-US" sz="2000" u="none" cap="none" strike="noStrike">
                <a:solidFill>
                  <a:srgbClr val="FF0000"/>
                </a:solidFill>
                <a:latin typeface="Arial"/>
                <a:ea typeface="Arial"/>
                <a:cs typeface="Arial"/>
                <a:sym typeface="Arial"/>
              </a:rPr>
              <a:t>En relación a su </a:t>
            </a:r>
            <a:r>
              <a:rPr b="1" i="1" lang="en-US" sz="2000" u="none" cap="none" strike="noStrike">
                <a:solidFill>
                  <a:srgbClr val="FF0000"/>
                </a:solidFill>
                <a:latin typeface="Arial"/>
                <a:ea typeface="Arial"/>
                <a:cs typeface="Arial"/>
                <a:sym typeface="Arial"/>
              </a:rPr>
              <a:t>cobro</a:t>
            </a:r>
            <a:r>
              <a:rPr b="1" i="0" lang="en-US" sz="2000" u="none" cap="none" strike="noStrike">
                <a:solidFill>
                  <a:srgbClr val="FF0000"/>
                </a:solidFill>
                <a:latin typeface="Arial"/>
                <a:ea typeface="Arial"/>
                <a:cs typeface="Arial"/>
                <a:sym typeface="Arial"/>
              </a:rPr>
              <a:t>, el cheque puede ser:</a:t>
            </a: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Cruzado:</a:t>
            </a:r>
            <a:r>
              <a:rPr b="0" i="0" lang="en-US" sz="1600" u="none" cap="none" strike="noStrike">
                <a:solidFill>
                  <a:srgbClr val="BB4F59"/>
                </a:solidFill>
                <a:latin typeface="Arial"/>
                <a:ea typeface="Arial"/>
                <a:cs typeface="Arial"/>
                <a:sym typeface="Arial"/>
              </a:rPr>
              <a:t> Los cheques pueden ''cruzarse'' como medida de seguridad.</a:t>
            </a:r>
          </a:p>
          <a:p>
            <a:pPr indent="0" lvl="0" marL="0" marR="0" rtl="0" algn="l">
              <a:lnSpc>
                <a:spcPct val="100000"/>
              </a:lnSpc>
              <a:spcBef>
                <a:spcPts val="0"/>
              </a:spcBef>
              <a:spcAft>
                <a:spcPts val="0"/>
              </a:spcAft>
              <a:buClr>
                <a:srgbClr val="BB4F59"/>
              </a:buClr>
              <a:buSzPct val="25000"/>
              <a:buFont typeface="Arial"/>
              <a:buNone/>
            </a:pPr>
            <a:r>
              <a:rPr b="0" i="0" lang="en-US" sz="1600" u="none" cap="none" strike="noStrike">
                <a:solidFill>
                  <a:srgbClr val="BB4F59"/>
                </a:solidFill>
                <a:latin typeface="Arial"/>
                <a:ea typeface="Arial"/>
                <a:cs typeface="Arial"/>
                <a:sym typeface="Arial"/>
              </a:rPr>
              <a:t> </a:t>
            </a:r>
          </a:p>
          <a:p>
            <a:pPr indent="0" lvl="0" marL="0" marR="0" rtl="0" algn="l">
              <a:lnSpc>
                <a:spcPct val="100000"/>
              </a:lnSpc>
              <a:spcBef>
                <a:spcPts val="0"/>
              </a:spcBef>
              <a:spcAft>
                <a:spcPts val="0"/>
              </a:spcAft>
              <a:buClr>
                <a:srgbClr val="BB4F59"/>
              </a:buClr>
              <a:buSzPct val="25000"/>
              <a:buFont typeface="Arial"/>
              <a:buNone/>
            </a:pPr>
            <a:r>
              <a:rPr b="1" i="0" lang="en-US" sz="1600" u="none" cap="none" strike="noStrike">
                <a:solidFill>
                  <a:srgbClr val="BB4F59"/>
                </a:solidFill>
                <a:latin typeface="Arial"/>
                <a:ea typeface="Arial"/>
                <a:cs typeface="Arial"/>
                <a:sym typeface="Arial"/>
              </a:rPr>
              <a:t>Cheque certificado:</a:t>
            </a:r>
            <a:r>
              <a:rPr b="0" i="0" lang="en-US" sz="1600" u="none" cap="none" strike="noStrike">
                <a:solidFill>
                  <a:srgbClr val="BB4F59"/>
                </a:solidFill>
                <a:latin typeface="Arial"/>
                <a:ea typeface="Arial"/>
                <a:cs typeface="Arial"/>
                <a:sym typeface="Arial"/>
              </a:rPr>
              <a:t> es un cheque del titular de la cuenta y se denomina así porque el banco emisor junto con el cheque del titular de la cuenta corriente entrega una fórmula que garantiza la existencia de los fondos.</a:t>
            </a: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Arial"/>
              <a:buNone/>
            </a:pPr>
            <a:r>
              <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  </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