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0D82D775-F374-4633-A62F-CF6DD71B05C8}">
  <a:tblStyle styleId="{0D82D775-F374-4633-A62F-CF6DD71B05C8}" styleName="Table_0"/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1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4" name="Shape 10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6" name="Shape 11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4" name="Shape 12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1" name="Shape 14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2" name="Shape 16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8" name="Shape 17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3" name="Shape 213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0" name="Shape 23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2" name="Shape 24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9" name="Shape 25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00" name="Shape 30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15" name="Shape 31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1" name="Shape 33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8" name="Shape 34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5" name="Shape 36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84" name="Shape 38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39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97" name="Shape 39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14" name="Shape 414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25" name="Shape 425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4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36" name="Shape 4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44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7" name="Shape 44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67" name="Shape 467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2" name="Shape 502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20" name="Shape 520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51" name="Shape 55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66" name="Shape 56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78" name="Shape 57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hape 587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8" name="Shape 588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19" name="Shape 619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41" name="Shape 641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7" name="Shape 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Shape 2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ctr">
              <a:spcBef>
                <a:spcPts val="640"/>
              </a:spcBef>
              <a:buClr>
                <a:srgbClr val="888888"/>
              </a:buClr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560"/>
              </a:spcBef>
              <a:buClr>
                <a:srgbClr val="888888"/>
              </a:buClr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480"/>
              </a:spcBef>
              <a:buClr>
                <a:srgbClr val="888888"/>
              </a:buClr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buClr>
                <a:srgbClr val="888888"/>
              </a:buClr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Shape 28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 algn="l">
              <a:spcBef>
                <a:spcPts val="0"/>
              </a:spcBef>
              <a:defRPr b="1" sz="4000" cap="none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" type="body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0" lvl="1" marL="457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0" lvl="2" marL="914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0" lvl="3" marL="1371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0" lvl="4" marL="18288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0" lvl="5" marL="22860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0" lvl="6" marL="27432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0" lvl="7" marL="32004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0" lvl="8" marL="3657600" rtl="0">
              <a:spcBef>
                <a:spcPts val="0"/>
              </a:spcBef>
              <a:buClr>
                <a:srgbClr val="888888"/>
              </a:buClr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Shape 34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" type="body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40" name="Shape 40"/>
          <p:cNvSpPr txBox="1"/>
          <p:nvPr>
            <p:ph idx="2" type="body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800"/>
            </a:lvl1pPr>
            <a:lvl2pPr lvl="1" rtl="0">
              <a:spcBef>
                <a:spcPts val="0"/>
              </a:spcBef>
              <a:defRPr sz="2400"/>
            </a:lvl2pPr>
            <a:lvl3pPr lvl="2" rtl="0">
              <a:spcBef>
                <a:spcPts val="0"/>
              </a:spcBef>
              <a:defRPr sz="2000"/>
            </a:lvl3pPr>
            <a:lvl4pPr lvl="3" rtl="0">
              <a:spcBef>
                <a:spcPts val="0"/>
              </a:spcBef>
              <a:defRPr sz="1800"/>
            </a:lvl4pPr>
            <a:lvl5pPr lvl="4" rtl="0">
              <a:spcBef>
                <a:spcPts val="0"/>
              </a:spcBef>
              <a:defRPr sz="1800"/>
            </a:lvl5pPr>
            <a:lvl6pPr lvl="5" rtl="0">
              <a:spcBef>
                <a:spcPts val="0"/>
              </a:spcBef>
              <a:defRPr sz="1800"/>
            </a:lvl6pPr>
            <a:lvl7pPr lvl="6" rtl="0">
              <a:spcBef>
                <a:spcPts val="0"/>
              </a:spcBef>
              <a:defRPr sz="1800"/>
            </a:lvl7pPr>
            <a:lvl8pPr lvl="7" rtl="0">
              <a:spcBef>
                <a:spcPts val="0"/>
              </a:spcBef>
              <a:defRPr sz="1800"/>
            </a:lvl8pPr>
            <a:lvl9pPr lvl="8" rtl="0">
              <a:spcBef>
                <a:spcPts val="0"/>
              </a:spcBef>
              <a:defRPr sz="1800"/>
            </a:lvl9pPr>
          </a:lstStyle>
          <a:p/>
        </p:txBody>
      </p:sp>
      <p:sp>
        <p:nvSpPr>
          <p:cNvPr id="41" name="Shape 41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42" name="Shape 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47" name="Shape 47"/>
          <p:cNvSpPr txBox="1"/>
          <p:nvPr>
            <p:ph idx="2" type="body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48" name="Shape 48"/>
          <p:cNvSpPr txBox="1"/>
          <p:nvPr>
            <p:ph idx="3" type="body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b="1" sz="2400"/>
            </a:lvl1pPr>
            <a:lvl2pPr indent="0" lvl="1" marL="457200" rtl="0">
              <a:spcBef>
                <a:spcPts val="0"/>
              </a:spcBef>
              <a:buFont typeface="Calibri"/>
              <a:buNone/>
              <a:defRPr b="1" sz="2000"/>
            </a:lvl2pPr>
            <a:lvl3pPr indent="0" lvl="2" marL="914400" rtl="0">
              <a:spcBef>
                <a:spcPts val="0"/>
              </a:spcBef>
              <a:buFont typeface="Calibri"/>
              <a:buNone/>
              <a:defRPr b="1" sz="1800"/>
            </a:lvl3pPr>
            <a:lvl4pPr indent="0" lvl="3" marL="1371600" rtl="0">
              <a:spcBef>
                <a:spcPts val="0"/>
              </a:spcBef>
              <a:buFont typeface="Calibri"/>
              <a:buNone/>
              <a:defRPr b="1" sz="1600"/>
            </a:lvl4pPr>
            <a:lvl5pPr indent="0" lvl="4" marL="1828800" rtl="0">
              <a:spcBef>
                <a:spcPts val="0"/>
              </a:spcBef>
              <a:buFont typeface="Calibri"/>
              <a:buNone/>
              <a:defRPr b="1" sz="1600"/>
            </a:lvl5pPr>
            <a:lvl6pPr indent="0" lvl="5" marL="2286000" rtl="0">
              <a:spcBef>
                <a:spcPts val="0"/>
              </a:spcBef>
              <a:buFont typeface="Calibri"/>
              <a:buNone/>
              <a:defRPr b="1" sz="1600"/>
            </a:lvl6pPr>
            <a:lvl7pPr indent="0" lvl="6" marL="2743200" rtl="0">
              <a:spcBef>
                <a:spcPts val="0"/>
              </a:spcBef>
              <a:buFont typeface="Calibri"/>
              <a:buNone/>
              <a:defRPr b="1" sz="1600"/>
            </a:lvl7pPr>
            <a:lvl8pPr indent="0" lvl="7" marL="3200400" rtl="0">
              <a:spcBef>
                <a:spcPts val="0"/>
              </a:spcBef>
              <a:buFont typeface="Calibri"/>
              <a:buNone/>
              <a:defRPr b="1" sz="1600"/>
            </a:lvl8pPr>
            <a:lvl9pPr indent="0" lvl="8" marL="3657600" rtl="0">
              <a:spcBef>
                <a:spcPts val="0"/>
              </a:spcBef>
              <a:buFont typeface="Calibri"/>
              <a:buNone/>
              <a:defRPr b="1" sz="1600"/>
            </a:lvl9pPr>
          </a:lstStyle>
          <a:p/>
        </p:txBody>
      </p:sp>
      <p:sp>
        <p:nvSpPr>
          <p:cNvPr id="49" name="Shape 49"/>
          <p:cNvSpPr txBox="1"/>
          <p:nvPr>
            <p:ph idx="4" type="body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2400"/>
            </a:lvl1pPr>
            <a:lvl2pPr lvl="1" rtl="0">
              <a:spcBef>
                <a:spcPts val="0"/>
              </a:spcBef>
              <a:defRPr sz="2000"/>
            </a:lvl2pPr>
            <a:lvl3pPr lvl="2" rtl="0">
              <a:spcBef>
                <a:spcPts val="0"/>
              </a:spcBef>
              <a:defRPr sz="1800"/>
            </a:lvl3pPr>
            <a:lvl4pPr lvl="3" rtl="0">
              <a:spcBef>
                <a:spcPts val="0"/>
              </a:spcBef>
              <a:defRPr sz="1600"/>
            </a:lvl4pPr>
            <a:lvl5pPr lvl="4" rtl="0">
              <a:spcBef>
                <a:spcPts val="0"/>
              </a:spcBef>
              <a:defRPr sz="1600"/>
            </a:lvl5pPr>
            <a:lvl6pPr lvl="5" rtl="0">
              <a:spcBef>
                <a:spcPts val="0"/>
              </a:spcBef>
              <a:defRPr sz="1600"/>
            </a:lvl6pPr>
            <a:lvl7pPr lvl="6" rtl="0">
              <a:spcBef>
                <a:spcPts val="0"/>
              </a:spcBef>
              <a:defRPr sz="1600"/>
            </a:lvl7pPr>
            <a:lvl8pPr lvl="7" rtl="0">
              <a:spcBef>
                <a:spcPts val="0"/>
              </a:spcBef>
              <a:defRPr sz="1600"/>
            </a:lvl8pPr>
            <a:lvl9pPr lvl="8" rtl="0">
              <a:spcBef>
                <a:spcPts val="0"/>
              </a:spcBef>
              <a:defRPr sz="1600"/>
            </a:lvl9pPr>
          </a:lstStyle>
          <a:p/>
        </p:txBody>
      </p:sp>
      <p:sp>
        <p:nvSpPr>
          <p:cNvPr id="50" name="Shape 50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1" name="Shape 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55" name="Shape 5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 rtl="0">
              <a:spcBef>
                <a:spcPts val="0"/>
              </a:spcBef>
              <a:defRPr sz="3200"/>
            </a:lvl1pPr>
            <a:lvl2pPr lvl="1" rtl="0">
              <a:spcBef>
                <a:spcPts val="0"/>
              </a:spcBef>
              <a:defRPr sz="2800"/>
            </a:lvl2pPr>
            <a:lvl3pPr lvl="2" rtl="0">
              <a:spcBef>
                <a:spcPts val="0"/>
              </a:spcBef>
              <a:defRPr sz="2400"/>
            </a:lvl3pPr>
            <a:lvl4pPr lvl="3" rtl="0">
              <a:spcBef>
                <a:spcPts val="0"/>
              </a:spcBef>
              <a:defRPr sz="2000"/>
            </a:lvl4pPr>
            <a:lvl5pPr lvl="4" rtl="0">
              <a:spcBef>
                <a:spcPts val="0"/>
              </a:spcBef>
              <a:defRPr sz="2000"/>
            </a:lvl5pPr>
            <a:lvl6pPr lvl="5" rtl="0">
              <a:spcBef>
                <a:spcPts val="0"/>
              </a:spcBef>
              <a:defRPr sz="2000"/>
            </a:lvl6pPr>
            <a:lvl7pPr lvl="6" rtl="0">
              <a:spcBef>
                <a:spcPts val="0"/>
              </a:spcBef>
              <a:defRPr sz="2000"/>
            </a:lvl7pPr>
            <a:lvl8pPr lvl="7" rtl="0">
              <a:spcBef>
                <a:spcPts val="0"/>
              </a:spcBef>
              <a:defRPr sz="2000"/>
            </a:lvl8pPr>
            <a:lvl9pPr lvl="8" rtl="0">
              <a:spcBef>
                <a:spcPts val="0"/>
              </a:spcBef>
              <a:defRPr sz="2000"/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 rtl="0" algn="l">
              <a:spcBef>
                <a:spcPts val="0"/>
              </a:spcBef>
              <a:defRPr b="1" sz="2000"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buClr>
                <a:srgbClr val="898989"/>
              </a:buClr>
              <a:buFont typeface="Arial"/>
              <a:buNone/>
              <a:defRPr b="0" i="0" sz="3200" u="none" cap="none" strike="noStrike">
                <a:solidFill>
                  <a:srgbClr val="898989"/>
                </a:solidFill>
              </a:defRPr>
            </a:lvl1pPr>
            <a:lvl2pPr indent="0" lvl="1" marL="457200" marR="0" rtl="0" algn="l">
              <a:spcBef>
                <a:spcPts val="0"/>
              </a:spcBef>
              <a:buFont typeface="Arial"/>
              <a:buNone/>
              <a:defRPr b="0" i="0" sz="2800" u="none" cap="none" strike="noStrike"/>
            </a:lvl2pPr>
            <a:lvl3pPr indent="0" lvl="2" marL="914400" marR="0" rtl="0" algn="l">
              <a:spcBef>
                <a:spcPts val="0"/>
              </a:spcBef>
              <a:buFont typeface="Arial"/>
              <a:buNone/>
              <a:defRPr b="0" i="0" sz="2400" u="none" cap="none" strike="noStrike"/>
            </a:lvl3pPr>
            <a:lvl4pPr indent="0" lvl="3" marL="1371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4pPr>
            <a:lvl5pPr indent="0" lvl="4" marL="18288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5pPr>
            <a:lvl6pPr indent="0" lvl="5" marL="22860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6pPr>
            <a:lvl7pPr indent="0" lvl="6" marL="27432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7pPr>
            <a:lvl8pPr indent="0" lvl="7" marL="32004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8pPr>
            <a:lvl9pPr indent="0" lvl="8" marL="3657600" marR="0" rtl="0" algn="l">
              <a:spcBef>
                <a:spcPts val="0"/>
              </a:spcBef>
              <a:buFont typeface="Arial"/>
              <a:buNone/>
              <a:defRPr b="0" i="0" sz="2000" u="none" cap="none" strike="noStrike"/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rtl="0">
              <a:spcBef>
                <a:spcPts val="0"/>
              </a:spcBef>
              <a:buFont typeface="Calibri"/>
              <a:buNone/>
              <a:defRPr sz="1400"/>
            </a:lvl1pPr>
            <a:lvl2pPr indent="0" lvl="1" marL="457200" rtl="0">
              <a:spcBef>
                <a:spcPts val="0"/>
              </a:spcBef>
              <a:buFont typeface="Calibri"/>
              <a:buNone/>
              <a:defRPr sz="1200"/>
            </a:lvl2pPr>
            <a:lvl3pPr indent="0" lvl="2" marL="914400" rtl="0">
              <a:spcBef>
                <a:spcPts val="0"/>
              </a:spcBef>
              <a:buFont typeface="Calibri"/>
              <a:buNone/>
              <a:defRPr sz="1000"/>
            </a:lvl3pPr>
            <a:lvl4pPr indent="0" lvl="3" marL="1371600" rtl="0">
              <a:spcBef>
                <a:spcPts val="0"/>
              </a:spcBef>
              <a:buFont typeface="Calibri"/>
              <a:buNone/>
              <a:defRPr sz="900"/>
            </a:lvl4pPr>
            <a:lvl5pPr indent="0" lvl="4" marL="1828800" rtl="0">
              <a:spcBef>
                <a:spcPts val="0"/>
              </a:spcBef>
              <a:buFont typeface="Calibri"/>
              <a:buNone/>
              <a:defRPr sz="900"/>
            </a:lvl5pPr>
            <a:lvl6pPr indent="0" lvl="5" marL="2286000" rtl="0">
              <a:spcBef>
                <a:spcPts val="0"/>
              </a:spcBef>
              <a:buFont typeface="Calibri"/>
              <a:buNone/>
              <a:defRPr sz="900"/>
            </a:lvl6pPr>
            <a:lvl7pPr indent="0" lvl="6" marL="2743200" rtl="0">
              <a:spcBef>
                <a:spcPts val="0"/>
              </a:spcBef>
              <a:buFont typeface="Calibri"/>
              <a:buNone/>
              <a:defRPr sz="900"/>
            </a:lvl7pPr>
            <a:lvl8pPr indent="0" lvl="7" marL="3200400" rtl="0">
              <a:spcBef>
                <a:spcPts val="0"/>
              </a:spcBef>
              <a:buFont typeface="Calibri"/>
              <a:buNone/>
              <a:defRPr sz="900"/>
            </a:lvl8pPr>
            <a:lvl9pPr indent="0" lvl="8" marL="3657600" rtl="0">
              <a:spcBef>
                <a:spcPts val="0"/>
              </a:spcBef>
              <a:buFont typeface="Calibri"/>
              <a:buNone/>
              <a:defRPr sz="900"/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309018" y="-251619"/>
            <a:ext cx="452596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 b="0" i="0" sz="1200" u="none" cap="none" strike="noStrike">
                <a:solidFill>
                  <a:srgbClr val="898989"/>
                </a:solidFill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buClr>
                <a:schemeClr val="dk1"/>
              </a:buClr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defRPr/>
            </a:lvl2pPr>
            <a:lvl3pPr indent="0" lvl="2" marL="0" marR="0" rtl="0" algn="l">
              <a:spcBef>
                <a:spcPts val="0"/>
              </a:spcBef>
              <a:defRPr/>
            </a:lvl3pPr>
            <a:lvl4pPr indent="0" lvl="3" marL="0" marR="0" rtl="0" algn="l">
              <a:spcBef>
                <a:spcPts val="0"/>
              </a:spcBef>
              <a:defRPr/>
            </a:lvl4pPr>
            <a:lvl5pPr indent="0" lvl="4" marL="0" marR="0" rtl="0" algn="l">
              <a:spcBef>
                <a:spcPts val="0"/>
              </a:spcBef>
              <a:defRPr/>
            </a:lvl5pPr>
            <a:lvl6pPr indent="0" lvl="5" marL="0" marR="0" rtl="0" algn="l">
              <a:spcBef>
                <a:spcPts val="0"/>
              </a:spcBef>
              <a:defRPr/>
            </a:lvl6pPr>
            <a:lvl7pPr indent="0" lvl="6" marL="0" marR="0" rtl="0" algn="l">
              <a:spcBef>
                <a:spcPts val="0"/>
              </a:spcBef>
              <a:defRPr/>
            </a:lvl7pPr>
            <a:lvl8pPr indent="0" lvl="7" marL="0" marR="0" rtl="0" algn="l">
              <a:spcBef>
                <a:spcPts val="0"/>
              </a:spcBef>
              <a:defRPr/>
            </a:lvl8pPr>
            <a:lvl9pPr indent="0" lvl="8" marL="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139700" lvl="0" marL="342900" marR="0" rtl="0" algn="l">
              <a:spcBef>
                <a:spcPts val="640"/>
              </a:spcBef>
              <a:buClr>
                <a:schemeClr val="dk1"/>
              </a:buClr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7950" lvl="1" marL="742950" marR="0" rtl="0" algn="l">
              <a:spcBef>
                <a:spcPts val="560"/>
              </a:spcBef>
              <a:buClr>
                <a:schemeClr val="dk1"/>
              </a:buClr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6200" lvl="2" marL="1143000" marR="0" rtl="0" algn="l">
              <a:spcBef>
                <a:spcPts val="480"/>
              </a:spcBef>
              <a:buClr>
                <a:schemeClr val="dk1"/>
              </a:buClr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101600" lvl="3" marL="1600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101600" lvl="4" marL="20574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101600" lvl="5" marL="25146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101600" lvl="6" marL="29718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101600" lvl="7" marL="34290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101600" lvl="8" marL="3886200" marR="0" rtl="0" algn="l">
              <a:spcBef>
                <a:spcPts val="400"/>
              </a:spcBef>
              <a:buClr>
                <a:schemeClr val="dk1"/>
              </a:buClr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ct val="250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01.jpg"/><Relationship Id="rId6" Type="http://schemas.openxmlformats.org/officeDocument/2006/relationships/image" Target="../media/image0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Relationship Id="rId6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10" Type="http://schemas.openxmlformats.org/officeDocument/2006/relationships/image" Target="../media/image05.jpg"/><Relationship Id="rId9" Type="http://schemas.openxmlformats.org/officeDocument/2006/relationships/image" Target="../media/image09.jpg"/><Relationship Id="rId5" Type="http://schemas.openxmlformats.org/officeDocument/2006/relationships/image" Target="../media/image03.png"/><Relationship Id="rId6" Type="http://schemas.openxmlformats.org/officeDocument/2006/relationships/image" Target="../media/image08.jpg"/><Relationship Id="rId7" Type="http://schemas.openxmlformats.org/officeDocument/2006/relationships/image" Target="../media/image14.jpg"/><Relationship Id="rId8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Relationship Id="rId6" Type="http://schemas.openxmlformats.org/officeDocument/2006/relationships/image" Target="../media/image0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02.png"/><Relationship Id="rId5" Type="http://schemas.openxmlformats.org/officeDocument/2006/relationships/image" Target="../media/image0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07.png"/><Relationship Id="rId7" Type="http://schemas.openxmlformats.org/officeDocument/2006/relationships/image" Target="../media/image21.jpg"/><Relationship Id="rId8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10" Type="http://schemas.openxmlformats.org/officeDocument/2006/relationships/image" Target="../media/image17.jpg"/><Relationship Id="rId9" Type="http://schemas.openxmlformats.org/officeDocument/2006/relationships/image" Target="../media/image20.jpg"/><Relationship Id="rId5" Type="http://schemas.openxmlformats.org/officeDocument/2006/relationships/image" Target="../media/image03.png"/><Relationship Id="rId6" Type="http://schemas.openxmlformats.org/officeDocument/2006/relationships/image" Target="../media/image19.jpg"/><Relationship Id="rId7" Type="http://schemas.openxmlformats.org/officeDocument/2006/relationships/image" Target="../media/image18.jpg"/><Relationship Id="rId8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22.jpg"/><Relationship Id="rId7" Type="http://schemas.openxmlformats.org/officeDocument/2006/relationships/image" Target="../media/image2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9" Type="http://schemas.openxmlformats.org/officeDocument/2006/relationships/image" Target="../media/image28.jpg"/><Relationship Id="rId5" Type="http://schemas.openxmlformats.org/officeDocument/2006/relationships/image" Target="../media/image03.png"/><Relationship Id="rId6" Type="http://schemas.openxmlformats.org/officeDocument/2006/relationships/image" Target="../media/image23.jpg"/><Relationship Id="rId7" Type="http://schemas.openxmlformats.org/officeDocument/2006/relationships/image" Target="../media/image25.jpg"/><Relationship Id="rId8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27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30.jpg"/><Relationship Id="rId7" Type="http://schemas.openxmlformats.org/officeDocument/2006/relationships/image" Target="../media/image24.jpg"/><Relationship Id="rId8" Type="http://schemas.openxmlformats.org/officeDocument/2006/relationships/image" Target="../media/image3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Relationship Id="rId6" Type="http://schemas.openxmlformats.org/officeDocument/2006/relationships/image" Target="../media/image32.png"/><Relationship Id="rId7" Type="http://schemas.openxmlformats.org/officeDocument/2006/relationships/image" Target="../media/image3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02.png"/><Relationship Id="rId4" Type="http://schemas.openxmlformats.org/officeDocument/2006/relationships/image" Target="../media/image04.png"/><Relationship Id="rId5" Type="http://schemas.openxmlformats.org/officeDocument/2006/relationships/image" Target="../media/image0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Relationship Id="rId6" Type="http://schemas.openxmlformats.org/officeDocument/2006/relationships/image" Target="../media/image34.jpg"/><Relationship Id="rId7" Type="http://schemas.openxmlformats.org/officeDocument/2006/relationships/image" Target="../media/image3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Relationship Id="rId6" Type="http://schemas.openxmlformats.org/officeDocument/2006/relationships/image" Target="../media/image3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04.png"/><Relationship Id="rId4" Type="http://schemas.openxmlformats.org/officeDocument/2006/relationships/image" Target="../media/image02.png"/><Relationship Id="rId5" Type="http://schemas.openxmlformats.org/officeDocument/2006/relationships/image" Target="../media/image0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02.png"/><Relationship Id="rId4" Type="http://schemas.openxmlformats.org/officeDocument/2006/relationships/image" Target="../media/image03.png"/><Relationship Id="rId5" Type="http://schemas.openxmlformats.org/officeDocument/2006/relationships/image" Target="../media/image38.jpg"/><Relationship Id="rId6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Shape 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Shape 89"/>
          <p:cNvSpPr txBox="1"/>
          <p:nvPr/>
        </p:nvSpPr>
        <p:spPr>
          <a:xfrm>
            <a:off x="4038600" y="304800"/>
            <a:ext cx="4548187" cy="822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MACROECONOMÍA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(Mercado del dinero)</a:t>
            </a:r>
          </a:p>
        </p:txBody>
      </p:sp>
      <p:pic>
        <p:nvPicPr>
          <p:cNvPr id="90" name="Shape 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Shape 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16062" y="1981200"/>
            <a:ext cx="27622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Shape 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11775" y="1981200"/>
            <a:ext cx="2068512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Shape 93"/>
          <p:cNvSpPr txBox="1"/>
          <p:nvPr/>
        </p:nvSpPr>
        <p:spPr>
          <a:xfrm>
            <a:off x="2819400" y="4435475"/>
            <a:ext cx="45481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MONEDA - DINERO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Shape 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Shape 99"/>
          <p:cNvSpPr txBox="1"/>
          <p:nvPr/>
        </p:nvSpPr>
        <p:spPr>
          <a:xfrm>
            <a:off x="2895600" y="304800"/>
            <a:ext cx="6248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CLASE N° 12 MONEDA</a:t>
            </a:r>
          </a:p>
        </p:txBody>
      </p:sp>
      <p:pic>
        <p:nvPicPr>
          <p:cNvPr id="100" name="Shape 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Shape 101"/>
          <p:cNvSpPr txBox="1"/>
          <p:nvPr/>
        </p:nvSpPr>
        <p:spPr>
          <a:xfrm>
            <a:off x="304800" y="1371600"/>
            <a:ext cx="8569325" cy="518160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objetivos propuestos para la transferencia de conocimientos son: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Reconocer la necesidad del dinero en las transacciones económicas.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Reconocer las distintas formas de dinero que existen en la actualidad. 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Comprender las funciones de la moneda.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Saber cuales son los aspectos relacionados con la creación y destrucción de dinero.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demanda monetaria según la perspectiva de Keynes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Demanda transaccional – variables principales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Demanda Precautoria- variables principales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Demanda Especulativa – variables principales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Bonos y activos financieros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presente y valor futuro de un activo financiero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de riesgo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Bolsa de valores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Relación entre tasa de interés y valor presente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Trampa de liquidez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Demanda monetaria –parámetros y variables</a:t>
            </a:r>
          </a:p>
          <a:p>
            <a:pPr indent="-609600" lvl="0" marL="609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Demanda monetaria nominal y real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Shape 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Shape 107"/>
          <p:cNvSpPr txBox="1"/>
          <p:nvPr/>
        </p:nvSpPr>
        <p:spPr>
          <a:xfrm>
            <a:off x="4038600" y="304800"/>
            <a:ext cx="45481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MONEDA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</a:p>
        </p:txBody>
      </p:sp>
      <p:pic>
        <p:nvPicPr>
          <p:cNvPr id="108" name="Shape 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Shape 109"/>
          <p:cNvSpPr txBox="1"/>
          <p:nvPr/>
        </p:nvSpPr>
        <p:spPr>
          <a:xfrm>
            <a:off x="266700" y="2910136"/>
            <a:ext cx="8610599" cy="915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El dinero material es un medio de intercambio, por lo general en forma de billetes y monedas, que es aceptado por una sociedad para el pago de bienes, servicios y todo tipo de obligaciones.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914400" y="1447800"/>
            <a:ext cx="7086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dinero emitido por el Banco Central de un Estado es el que se reconoce como la moneda de curso legal del país.</a:t>
            </a:r>
          </a:p>
        </p:txBody>
      </p:sp>
      <p:sp>
        <p:nvSpPr>
          <p:cNvPr id="111" name="Shape 111"/>
          <p:cNvSpPr txBox="1"/>
          <p:nvPr/>
        </p:nvSpPr>
        <p:spPr>
          <a:xfrm>
            <a:off x="263525" y="4159250"/>
            <a:ext cx="8323262" cy="915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El dinero bancario actualmente está formado por los depósitos existentes en las entidades financieras (Suma de los depósitos en cuentas corrientes + depósitos en caja de ahorro + depósitos a plazo fijo + otros depósitos) .</a:t>
            </a:r>
          </a:p>
        </p:txBody>
      </p:sp>
      <p:sp>
        <p:nvSpPr>
          <p:cNvPr id="112" name="Shape 112"/>
          <p:cNvSpPr txBox="1"/>
          <p:nvPr/>
        </p:nvSpPr>
        <p:spPr>
          <a:xfrm>
            <a:off x="1447800" y="2147086"/>
            <a:ext cx="5213400" cy="366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dinero material es el más fácil de reconocer</a:t>
            </a:r>
          </a:p>
        </p:txBody>
      </p:sp>
      <p:sp>
        <p:nvSpPr>
          <p:cNvPr id="113" name="Shape 113"/>
          <p:cNvSpPr txBox="1"/>
          <p:nvPr/>
        </p:nvSpPr>
        <p:spPr>
          <a:xfrm>
            <a:off x="1231900" y="3748087"/>
            <a:ext cx="564514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dinero bancario no es tan sencillo de identificar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Shape 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Shape 119"/>
          <p:cNvSpPr txBox="1"/>
          <p:nvPr/>
        </p:nvSpPr>
        <p:spPr>
          <a:xfrm>
            <a:off x="4038600" y="304800"/>
            <a:ext cx="4548187" cy="793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MONEDA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CARACTERÍSTICAS Y FUNCIONES</a:t>
            </a:r>
          </a:p>
        </p:txBody>
      </p:sp>
      <p:pic>
        <p:nvPicPr>
          <p:cNvPr id="120" name="Shape 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Shape 1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1871661"/>
            <a:ext cx="7697786" cy="414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Shape 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2" y="1366837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Shape 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400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Shape 1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Shape 129"/>
          <p:cNvSpPr txBox="1"/>
          <p:nvPr/>
        </p:nvSpPr>
        <p:spPr>
          <a:xfrm>
            <a:off x="304800" y="1524000"/>
            <a:ext cx="8508999" cy="265429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Oferta Monetaria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la suma del efectivo en manos del público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(EMP)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Depósitos bancarios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               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				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OM = EMP + D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Bancos Centrales tratan de </a:t>
            </a:r>
            <a:r>
              <a:rPr b="1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la oferta monetaria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 que en combinación con la </a:t>
            </a:r>
            <a:r>
              <a:rPr b="1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demanda de dinero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determinan el </a:t>
            </a:r>
            <a:r>
              <a:rPr b="1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o tasa de interés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el corto plazo.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4495800" y="152400"/>
            <a:ext cx="37338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OFERTA MONETARIA 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549275" y="4456112"/>
            <a:ext cx="2701925" cy="825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Estabilidad de los precios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✓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Tipo de cambio</a:t>
            </a:r>
          </a:p>
        </p:txBody>
      </p:sp>
      <p:sp>
        <p:nvSpPr>
          <p:cNvPr id="132" name="Shape 132"/>
          <p:cNvSpPr/>
          <p:nvPr/>
        </p:nvSpPr>
        <p:spPr>
          <a:xfrm>
            <a:off x="3408362" y="4724400"/>
            <a:ext cx="925511" cy="557211"/>
          </a:xfrm>
          <a:prstGeom prst="rightArrow">
            <a:avLst>
              <a:gd fmla="val 15097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Shape 133"/>
          <p:cNvSpPr txBox="1"/>
          <p:nvPr/>
        </p:nvSpPr>
        <p:spPr>
          <a:xfrm>
            <a:off x="4191000" y="5334000"/>
            <a:ext cx="3375025" cy="458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PRODUCCIÓN    EMPLEO</a:t>
            </a:r>
          </a:p>
        </p:txBody>
      </p:sp>
      <p:pic>
        <p:nvPicPr>
          <p:cNvPr id="134" name="Shape 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6736" y="4006850"/>
            <a:ext cx="1897062" cy="1708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hape 135"/>
          <p:cNvSpPr/>
          <p:nvPr/>
        </p:nvSpPr>
        <p:spPr>
          <a:xfrm>
            <a:off x="3357562" y="2133600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/>
          <p:nvPr/>
        </p:nvSpPr>
        <p:spPr>
          <a:xfrm rot="-5400000">
            <a:off x="4494212" y="4445000"/>
            <a:ext cx="925511" cy="557211"/>
          </a:xfrm>
          <a:prstGeom prst="rightArrow">
            <a:avLst>
              <a:gd fmla="val 15097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Shape 137"/>
          <p:cNvSpPr/>
          <p:nvPr/>
        </p:nvSpPr>
        <p:spPr>
          <a:xfrm rot="-5400000">
            <a:off x="5808662" y="4445000"/>
            <a:ext cx="925511" cy="557211"/>
          </a:xfrm>
          <a:prstGeom prst="rightArrow">
            <a:avLst>
              <a:gd fmla="val 15097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chemeClr val="accent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Shape 138"/>
          <p:cNvSpPr txBox="1"/>
          <p:nvPr/>
        </p:nvSpPr>
        <p:spPr>
          <a:xfrm>
            <a:off x="514350" y="4089400"/>
            <a:ext cx="3981449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DEL BANCO CENTRAL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Shape 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462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Shape 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462" y="1362075"/>
            <a:ext cx="8355011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Shape 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Shape 146"/>
          <p:cNvSpPr txBox="1"/>
          <p:nvPr/>
        </p:nvSpPr>
        <p:spPr>
          <a:xfrm>
            <a:off x="381000" y="1447800"/>
            <a:ext cx="4876799" cy="5029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Font typeface="Noto Sans Symbols"/>
              <a:buChar char="❑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Efectivo en manos del público (EMP):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monedas y billetes de curso legal en manos del público.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Efectivo en entidades financieras (EEF)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monedas y billetes de curso legal en entidades financieras.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Circulante monetario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 la suma del efectivo en manos del público, más el efectivo en entidades financieras.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M1: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efectivo en manos del público + depósitos en cuenta corriente públicos y privados en las entidades financieras.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M2: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M1 + depósitos en cajas de ahorro en entidades financieras.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M3: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M2 + depósitos a plazo fijo y otros pasivos en las entidades financieras. 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❑"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Activos líquidos en manos del público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(ALP):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M3 + otros componentes, entre los que destacan las Letras del Tesoro en manos del público, pagarés de empresas, etc.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3581400" y="304800"/>
            <a:ext cx="529272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AGREGADOS MONETARIOS</a:t>
            </a:r>
          </a:p>
        </p:txBody>
      </p:sp>
      <p:cxnSp>
        <p:nvCxnSpPr>
          <p:cNvPr id="148" name="Shape 148"/>
          <p:cNvCxnSpPr/>
          <p:nvPr/>
        </p:nvCxnSpPr>
        <p:spPr>
          <a:xfrm>
            <a:off x="5562600" y="1524000"/>
            <a:ext cx="0" cy="342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stealth"/>
            <a:tailEnd len="med" w="med" type="none"/>
          </a:ln>
        </p:spPr>
      </p:cxnSp>
      <p:cxnSp>
        <p:nvCxnSpPr>
          <p:cNvPr id="149" name="Shape 149"/>
          <p:cNvCxnSpPr/>
          <p:nvPr/>
        </p:nvCxnSpPr>
        <p:spPr>
          <a:xfrm>
            <a:off x="5562600" y="4953000"/>
            <a:ext cx="306387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cxnSp>
        <p:nvCxnSpPr>
          <p:cNvPr id="150" name="Shape 150"/>
          <p:cNvCxnSpPr/>
          <p:nvPr/>
        </p:nvCxnSpPr>
        <p:spPr>
          <a:xfrm>
            <a:off x="6858000" y="1524000"/>
            <a:ext cx="0" cy="3429000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51" name="Shape 151"/>
          <p:cNvSpPr/>
          <p:nvPr/>
        </p:nvSpPr>
        <p:spPr>
          <a:xfrm>
            <a:off x="6872286" y="2971800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Shape 152"/>
          <p:cNvCxnSpPr/>
          <p:nvPr/>
        </p:nvCxnSpPr>
        <p:spPr>
          <a:xfrm>
            <a:off x="7848600" y="1524000"/>
            <a:ext cx="0" cy="3429000"/>
          </a:xfrm>
          <a:prstGeom prst="straightConnector1">
            <a:avLst/>
          </a:prstGeom>
          <a:noFill/>
          <a:ln cap="flat" cmpd="sng" w="3492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53" name="Shape 153"/>
          <p:cNvCxnSpPr/>
          <p:nvPr/>
        </p:nvCxnSpPr>
        <p:spPr>
          <a:xfrm>
            <a:off x="5867400" y="1524000"/>
            <a:ext cx="0" cy="3429000"/>
          </a:xfrm>
          <a:prstGeom prst="straightConnector1">
            <a:avLst/>
          </a:prstGeom>
          <a:noFill/>
          <a:ln cap="flat" cmpd="sng" w="349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54" name="Shape 154"/>
          <p:cNvSpPr/>
          <p:nvPr/>
        </p:nvSpPr>
        <p:spPr>
          <a:xfrm rot="10800000">
            <a:off x="5867399" y="2971799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5334000" y="13716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8305800" y="4953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</a:p>
        </p:txBody>
      </p:sp>
      <p:sp>
        <p:nvSpPr>
          <p:cNvPr id="157" name="Shape 157"/>
          <p:cNvSpPr txBox="1"/>
          <p:nvPr/>
        </p:nvSpPr>
        <p:spPr>
          <a:xfrm>
            <a:off x="6781800" y="48768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8F0D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2F8F0D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7010400" y="2286000"/>
            <a:ext cx="1143000" cy="381000"/>
          </a:xfrm>
          <a:prstGeom prst="rect">
            <a:avLst/>
          </a:prstGeom>
          <a:solidFill>
            <a:srgbClr val="C0C0C0">
              <a:alpha val="76862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Expansión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5257800" y="2286000"/>
            <a:ext cx="1447800" cy="381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Contracción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Shape 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Shape 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50" y="1438275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Shape 166"/>
          <p:cNvSpPr txBox="1"/>
          <p:nvPr/>
        </p:nvSpPr>
        <p:spPr>
          <a:xfrm>
            <a:off x="381000" y="1600200"/>
            <a:ext cx="84931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167" name="Shape 1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Shape 168"/>
          <p:cNvSpPr txBox="1"/>
          <p:nvPr/>
        </p:nvSpPr>
        <p:spPr>
          <a:xfrm>
            <a:off x="3276600" y="381000"/>
            <a:ext cx="4219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MONETARIA</a:t>
            </a:r>
          </a:p>
        </p:txBody>
      </p:sp>
      <p:pic>
        <p:nvPicPr>
          <p:cNvPr id="169" name="Shape 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2386" y="1524000"/>
            <a:ext cx="1166811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Shape 170"/>
          <p:cNvSpPr txBox="1"/>
          <p:nvPr/>
        </p:nvSpPr>
        <p:spPr>
          <a:xfrm>
            <a:off x="457200" y="1600200"/>
            <a:ext cx="3429000" cy="4648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MOTIVOS: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TRANSACCIÓN</a:t>
            </a: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PRECAUCIÓN</a:t>
            </a: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ESPECULACIÓN</a:t>
            </a:r>
          </a:p>
        </p:txBody>
      </p:sp>
      <p:pic>
        <p:nvPicPr>
          <p:cNvPr id="171" name="Shape 1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38600" y="2871786"/>
            <a:ext cx="1752600" cy="1635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72" name="Shape 17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8600" y="4738687"/>
            <a:ext cx="1981199" cy="150971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73" name="Shape 173"/>
          <p:cNvPicPr preferRelativeResize="0"/>
          <p:nvPr/>
        </p:nvPicPr>
        <p:blipFill rotWithShape="1">
          <a:blip r:embed="rId9">
            <a:alphaModFix amt="35000"/>
          </a:blip>
          <a:srcRect b="0" l="0" r="0" t="0"/>
          <a:stretch/>
        </p:blipFill>
        <p:spPr>
          <a:xfrm>
            <a:off x="6096000" y="3689350"/>
            <a:ext cx="1903411" cy="156844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174" name="Shape 17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09800" y="1752600"/>
            <a:ext cx="1076324" cy="10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Shape 175"/>
          <p:cNvSpPr txBox="1"/>
          <p:nvPr/>
        </p:nvSpPr>
        <p:spPr>
          <a:xfrm>
            <a:off x="3048000" y="1720850"/>
            <a:ext cx="42195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PERSPECTIVA DE J. M. KEYNES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(1883-1946)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Shape 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600200"/>
            <a:ext cx="862012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Shape 181"/>
          <p:cNvSpPr/>
          <p:nvPr/>
        </p:nvSpPr>
        <p:spPr>
          <a:xfrm>
            <a:off x="2906711" y="3810000"/>
            <a:ext cx="979487" cy="1446211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Shape 182"/>
          <p:cNvSpPr/>
          <p:nvPr/>
        </p:nvSpPr>
        <p:spPr>
          <a:xfrm>
            <a:off x="1916111" y="3810000"/>
            <a:ext cx="979487" cy="1446211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927100" y="3810000"/>
            <a:ext cx="979487" cy="1446211"/>
          </a:xfrm>
          <a:prstGeom prst="rtTriangl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Shape 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Shape 185"/>
          <p:cNvSpPr txBox="1"/>
          <p:nvPr/>
        </p:nvSpPr>
        <p:spPr>
          <a:xfrm>
            <a:off x="3581400" y="3048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PARA TRANSACCIONES</a:t>
            </a:r>
          </a:p>
        </p:txBody>
      </p:sp>
      <p:pic>
        <p:nvPicPr>
          <p:cNvPr id="186" name="Shape 1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Shape 187"/>
          <p:cNvSpPr txBox="1"/>
          <p:nvPr/>
        </p:nvSpPr>
        <p:spPr>
          <a:xfrm>
            <a:off x="5410200" y="4168775"/>
            <a:ext cx="3581399" cy="253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1" lang="en-US" sz="16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Variables Independientes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= Ingreso (renta) anual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= Período de pago de rentas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1" lang="en-US" sz="16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Variable inducida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masa de dinero demandada  para transacciones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Shape 188"/>
          <p:cNvCxnSpPr/>
          <p:nvPr/>
        </p:nvCxnSpPr>
        <p:spPr>
          <a:xfrm>
            <a:off x="927100" y="2895600"/>
            <a:ext cx="0" cy="236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89" name="Shape 189"/>
          <p:cNvCxnSpPr/>
          <p:nvPr/>
        </p:nvCxnSpPr>
        <p:spPr>
          <a:xfrm>
            <a:off x="609600" y="5257800"/>
            <a:ext cx="434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0" name="Shape 190"/>
          <p:cNvCxnSpPr/>
          <p:nvPr/>
        </p:nvCxnSpPr>
        <p:spPr>
          <a:xfrm>
            <a:off x="914400" y="3810000"/>
            <a:ext cx="990599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1" name="Shape 191"/>
          <p:cNvCxnSpPr/>
          <p:nvPr/>
        </p:nvCxnSpPr>
        <p:spPr>
          <a:xfrm>
            <a:off x="1905000" y="3810000"/>
            <a:ext cx="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2" name="Shape 192"/>
          <p:cNvCxnSpPr/>
          <p:nvPr/>
        </p:nvCxnSpPr>
        <p:spPr>
          <a:xfrm>
            <a:off x="2895600" y="3810000"/>
            <a:ext cx="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3" name="Shape 193"/>
          <p:cNvCxnSpPr/>
          <p:nvPr/>
        </p:nvCxnSpPr>
        <p:spPr>
          <a:xfrm>
            <a:off x="914400" y="3810000"/>
            <a:ext cx="3124199" cy="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4" name="Shape 194"/>
          <p:cNvCxnSpPr/>
          <p:nvPr/>
        </p:nvCxnSpPr>
        <p:spPr>
          <a:xfrm>
            <a:off x="1905000" y="3810000"/>
            <a:ext cx="990599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195" name="Shape 195"/>
          <p:cNvCxnSpPr/>
          <p:nvPr/>
        </p:nvCxnSpPr>
        <p:spPr>
          <a:xfrm>
            <a:off x="2895600" y="3810000"/>
            <a:ext cx="990599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196" name="Shape 196"/>
          <p:cNvSpPr txBox="1"/>
          <p:nvPr/>
        </p:nvSpPr>
        <p:spPr>
          <a:xfrm>
            <a:off x="609600" y="2819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  <p:sp>
        <p:nvSpPr>
          <p:cNvPr id="197" name="Shape 197"/>
          <p:cNvSpPr txBox="1"/>
          <p:nvPr/>
        </p:nvSpPr>
        <p:spPr>
          <a:xfrm>
            <a:off x="4038600" y="51816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</a:t>
            </a:r>
          </a:p>
        </p:txBody>
      </p:sp>
      <p:sp>
        <p:nvSpPr>
          <p:cNvPr id="198" name="Shape 198"/>
          <p:cNvSpPr txBox="1"/>
          <p:nvPr/>
        </p:nvSpPr>
        <p:spPr>
          <a:xfrm>
            <a:off x="1219200" y="563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2209800" y="563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3200400" y="5638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201" name="Shape 201"/>
          <p:cNvSpPr/>
          <p:nvPr/>
        </p:nvSpPr>
        <p:spPr>
          <a:xfrm rot="5400000">
            <a:off x="1212849" y="4956175"/>
            <a:ext cx="381000" cy="981074"/>
          </a:xfrm>
          <a:prstGeom prst="rightBrace">
            <a:avLst>
              <a:gd fmla="val 216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Shape 202"/>
          <p:cNvSpPr/>
          <p:nvPr/>
        </p:nvSpPr>
        <p:spPr>
          <a:xfrm rot="5400000">
            <a:off x="2205036" y="4957762"/>
            <a:ext cx="381000" cy="981074"/>
          </a:xfrm>
          <a:prstGeom prst="rightBrace">
            <a:avLst>
              <a:gd fmla="val 216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Shape 203"/>
          <p:cNvSpPr/>
          <p:nvPr/>
        </p:nvSpPr>
        <p:spPr>
          <a:xfrm rot="5400000">
            <a:off x="3205162" y="4957762"/>
            <a:ext cx="381000" cy="981074"/>
          </a:xfrm>
          <a:prstGeom prst="rightBrace">
            <a:avLst>
              <a:gd fmla="val 216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Shape 204"/>
          <p:cNvSpPr/>
          <p:nvPr/>
        </p:nvSpPr>
        <p:spPr>
          <a:xfrm>
            <a:off x="4038600" y="3810000"/>
            <a:ext cx="152399" cy="1446211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Shape 205"/>
          <p:cNvSpPr txBox="1"/>
          <p:nvPr/>
        </p:nvSpPr>
        <p:spPr>
          <a:xfrm>
            <a:off x="4267200" y="4343400"/>
            <a:ext cx="1143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(Y/365)*d</a:t>
            </a:r>
          </a:p>
        </p:txBody>
      </p:sp>
      <p:cxnSp>
        <p:nvCxnSpPr>
          <p:cNvPr id="206" name="Shape 206"/>
          <p:cNvCxnSpPr/>
          <p:nvPr/>
        </p:nvCxnSpPr>
        <p:spPr>
          <a:xfrm>
            <a:off x="914400" y="3810000"/>
            <a:ext cx="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07" name="Shape 207"/>
          <p:cNvSpPr txBox="1"/>
          <p:nvPr/>
        </p:nvSpPr>
        <p:spPr>
          <a:xfrm>
            <a:off x="304800" y="1600200"/>
            <a:ext cx="6324600" cy="1465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 gente demanda dinero para hacer transacciones que le permitan satisfacer necesidades, este modelo supone que la renta monetaria (M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 se agota directamente de manera proporcional a la variable período de pago (d)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½*(Y/365)*d</a:t>
            </a:r>
          </a:p>
        </p:txBody>
      </p:sp>
      <p:pic>
        <p:nvPicPr>
          <p:cNvPr id="208" name="Shape 2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676400"/>
            <a:ext cx="2209799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Shape 209"/>
          <p:cNvSpPr/>
          <p:nvPr/>
        </p:nvSpPr>
        <p:spPr>
          <a:xfrm>
            <a:off x="4191000" y="3048000"/>
            <a:ext cx="1600199" cy="1143000"/>
          </a:xfrm>
          <a:prstGeom prst="ellipse">
            <a:avLst/>
          </a:prstGeom>
          <a:solidFill>
            <a:schemeClr val="accent1">
              <a:alpha val="18823"/>
            </a:schemeClr>
          </a:solidFill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↑ d ↑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609600" y="36195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Shape 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676400"/>
            <a:ext cx="2286000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Shape 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Shape 217"/>
          <p:cNvSpPr txBox="1"/>
          <p:nvPr/>
        </p:nvSpPr>
        <p:spPr>
          <a:xfrm>
            <a:off x="3581400" y="3048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PARA TRANSACCIONES</a:t>
            </a:r>
          </a:p>
        </p:txBody>
      </p:sp>
      <p:pic>
        <p:nvPicPr>
          <p:cNvPr id="218" name="Shape 2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Shape 219"/>
          <p:cNvSpPr txBox="1"/>
          <p:nvPr/>
        </p:nvSpPr>
        <p:spPr>
          <a:xfrm>
            <a:off x="5410200" y="3857625"/>
            <a:ext cx="3419474" cy="290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1" lang="en-US" sz="16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Otras variables independientes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= Tasa de interés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= Costo de transacciones financieras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1" lang="en-US" sz="1600" u="sng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Variable inducida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 = masa de dinero para transacciones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Shape 220"/>
          <p:cNvCxnSpPr/>
          <p:nvPr/>
        </p:nvCxnSpPr>
        <p:spPr>
          <a:xfrm>
            <a:off x="927100" y="3657600"/>
            <a:ext cx="0" cy="236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21" name="Shape 221"/>
          <p:cNvCxnSpPr/>
          <p:nvPr/>
        </p:nvCxnSpPr>
        <p:spPr>
          <a:xfrm>
            <a:off x="609600" y="6019800"/>
            <a:ext cx="434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22" name="Shape 222"/>
          <p:cNvSpPr txBox="1"/>
          <p:nvPr/>
        </p:nvSpPr>
        <p:spPr>
          <a:xfrm>
            <a:off x="609600" y="3581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4572000" y="5943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</a:p>
        </p:txBody>
      </p:sp>
      <p:sp>
        <p:nvSpPr>
          <p:cNvPr id="224" name="Shape 224"/>
          <p:cNvSpPr txBox="1"/>
          <p:nvPr/>
        </p:nvSpPr>
        <p:spPr>
          <a:xfrm>
            <a:off x="444500" y="1600200"/>
            <a:ext cx="4965700" cy="14652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 gente tiene la posibilidad de colocar el dinero sobrante (no consumido), en bonos que le pagan un interés (i), abonando un costo (C) para entrar y salir del sistema financiero         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F( i, C)</a:t>
            </a:r>
          </a:p>
        </p:txBody>
      </p:sp>
      <p:sp>
        <p:nvSpPr>
          <p:cNvPr id="225" name="Shape 225"/>
          <p:cNvSpPr/>
          <p:nvPr/>
        </p:nvSpPr>
        <p:spPr>
          <a:xfrm>
            <a:off x="3048000" y="3429000"/>
            <a:ext cx="1752600" cy="914400"/>
          </a:xfrm>
          <a:prstGeom prst="ellipse">
            <a:avLst/>
          </a:prstGeom>
          <a:solidFill>
            <a:schemeClr val="accent1">
              <a:alpha val="18823"/>
            </a:schemeClr>
          </a:solidFill>
          <a:ln cap="rnd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i↓ C↑</a:t>
            </a:r>
          </a:p>
        </p:txBody>
      </p:sp>
      <p:sp>
        <p:nvSpPr>
          <p:cNvPr id="226" name="Shape 226"/>
          <p:cNvSpPr/>
          <p:nvPr/>
        </p:nvSpPr>
        <p:spPr>
          <a:xfrm>
            <a:off x="1219200" y="3657600"/>
            <a:ext cx="3294062" cy="2030412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330" y="5347"/>
                  <a:pt x="3932" y="19327"/>
                  <a:pt x="7980" y="32275"/>
                </a:cubicBezTo>
                <a:cubicBezTo>
                  <a:pt x="12028" y="45222"/>
                  <a:pt x="17985" y="65863"/>
                  <a:pt x="24462" y="77873"/>
                </a:cubicBezTo>
                <a:cubicBezTo>
                  <a:pt x="30939" y="89882"/>
                  <a:pt x="37937" y="98139"/>
                  <a:pt x="46843" y="104331"/>
                </a:cubicBezTo>
                <a:cubicBezTo>
                  <a:pt x="55749" y="110523"/>
                  <a:pt x="65638" y="112587"/>
                  <a:pt x="77840" y="115215"/>
                </a:cubicBezTo>
                <a:cubicBezTo>
                  <a:pt x="90043" y="117842"/>
                  <a:pt x="111209" y="119061"/>
                  <a:pt x="120000" y="12000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Shape 227"/>
          <p:cNvSpPr txBox="1"/>
          <p:nvPr/>
        </p:nvSpPr>
        <p:spPr>
          <a:xfrm rot="1140000">
            <a:off x="1981200" y="4800599"/>
            <a:ext cx="1752600" cy="380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Mt = F( i, C)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Shape 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Shape 2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1447800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Shape 234"/>
          <p:cNvSpPr txBox="1"/>
          <p:nvPr/>
        </p:nvSpPr>
        <p:spPr>
          <a:xfrm>
            <a:off x="381000" y="1600200"/>
            <a:ext cx="8493124" cy="2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uso y costumbres:</a:t>
            </a: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Período de pago para las rentas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d</a:t>
            </a: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Arial"/>
              <a:buChar char="•"/>
            </a:pPr>
            <a:r>
              <a:rPr b="1" i="1" lang="en-US" sz="16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Costo de transacciones financieras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</a:t>
            </a: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aproximadamente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constantes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entonces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									Mt = F( Y, i)</a:t>
            </a:r>
          </a:p>
        </p:txBody>
      </p:sp>
      <p:pic>
        <p:nvPicPr>
          <p:cNvPr id="235" name="Shape 2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Shape 236"/>
          <p:cNvPicPr preferRelativeResize="0"/>
          <p:nvPr/>
        </p:nvPicPr>
        <p:blipFill rotWithShape="1">
          <a:blip r:embed="rId6">
            <a:alphaModFix/>
          </a:blip>
          <a:srcRect b="0" l="0" r="30930" t="0"/>
          <a:stretch/>
        </p:blipFill>
        <p:spPr>
          <a:xfrm>
            <a:off x="3886200" y="3708400"/>
            <a:ext cx="5029199" cy="3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Shape 237"/>
          <p:cNvSpPr txBox="1"/>
          <p:nvPr/>
        </p:nvSpPr>
        <p:spPr>
          <a:xfrm>
            <a:off x="3581400" y="3048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PARA TRANSACCIONES</a:t>
            </a:r>
          </a:p>
        </p:txBody>
      </p:sp>
      <p:pic>
        <p:nvPicPr>
          <p:cNvPr id="238" name="Shape 2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1447800"/>
            <a:ext cx="2324099" cy="173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Shape 2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3886200"/>
            <a:ext cx="28956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Shape 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Shape 2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295400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Shape 2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Shape 247"/>
          <p:cNvSpPr txBox="1"/>
          <p:nvPr/>
        </p:nvSpPr>
        <p:spPr>
          <a:xfrm>
            <a:off x="3581400" y="3048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PRECAUCIÓN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5105400" y="1371600"/>
            <a:ext cx="2514599" cy="45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INCERTIDUMBRE</a:t>
            </a:r>
          </a:p>
        </p:txBody>
      </p:sp>
      <p:sp>
        <p:nvSpPr>
          <p:cNvPr id="249" name="Shape 249"/>
          <p:cNvSpPr txBox="1"/>
          <p:nvPr/>
        </p:nvSpPr>
        <p:spPr>
          <a:xfrm>
            <a:off x="381000" y="1981200"/>
            <a:ext cx="7924799" cy="1066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 gente además, demanda saldos de dinero extra por:</a:t>
            </a: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Expectativas relacionadas con el nivel de  Ingresos (+ o - ) </a:t>
            </a:r>
          </a:p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100000"/>
              <a:buFont typeface="Noto Sans Symbols"/>
              <a:buChar char="✓"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Gastos no planeados</a:t>
            </a:r>
          </a:p>
        </p:txBody>
      </p:sp>
      <p:pic>
        <p:nvPicPr>
          <p:cNvPr id="250" name="Shape 2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0550" y="3108325"/>
            <a:ext cx="24099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Shape 2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4637" y="4511625"/>
            <a:ext cx="25812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Shape 2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5150" y="3086100"/>
            <a:ext cx="2409900" cy="300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Shape 2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45650" y="3086100"/>
            <a:ext cx="1219199" cy="121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Shape 25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64475" y="1200949"/>
            <a:ext cx="1143000" cy="10208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sp>
        <p:nvSpPr>
          <p:cNvPr id="255" name="Shape 255"/>
          <p:cNvSpPr/>
          <p:nvPr/>
        </p:nvSpPr>
        <p:spPr>
          <a:xfrm>
            <a:off x="8153400" y="1371600"/>
            <a:ext cx="371474" cy="679449"/>
          </a:xfrm>
          <a:custGeom>
            <a:pathLst>
              <a:path extrusionOk="0" h="120000" w="120000">
                <a:moveTo>
                  <a:pt x="0" y="18181"/>
                </a:moveTo>
                <a:cubicBezTo>
                  <a:pt x="6635" y="15454"/>
                  <a:pt x="23225" y="3636"/>
                  <a:pt x="40368" y="1818"/>
                </a:cubicBezTo>
                <a:cubicBezTo>
                  <a:pt x="57511" y="0"/>
                  <a:pt x="88479" y="2424"/>
                  <a:pt x="101751" y="6969"/>
                </a:cubicBezTo>
                <a:cubicBezTo>
                  <a:pt x="115023" y="11515"/>
                  <a:pt x="120000" y="21212"/>
                  <a:pt x="120000" y="29999"/>
                </a:cubicBezTo>
                <a:cubicBezTo>
                  <a:pt x="120000" y="38787"/>
                  <a:pt x="114470" y="49393"/>
                  <a:pt x="102857" y="59393"/>
                </a:cubicBezTo>
                <a:cubicBezTo>
                  <a:pt x="91244" y="69393"/>
                  <a:pt x="60276" y="80000"/>
                  <a:pt x="51428" y="89999"/>
                </a:cubicBezTo>
                <a:cubicBezTo>
                  <a:pt x="42580" y="99999"/>
                  <a:pt x="50322" y="113939"/>
                  <a:pt x="49769" y="119999"/>
                </a:cubicBezTo>
              </a:path>
            </a:pathLst>
          </a:custGeom>
          <a:noFill/>
          <a:ln cap="flat" cmpd="sng" w="984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Shape 256"/>
          <p:cNvSpPr/>
          <p:nvPr/>
        </p:nvSpPr>
        <p:spPr>
          <a:xfrm>
            <a:off x="8229600" y="2133600"/>
            <a:ext cx="136524" cy="136524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Shape 2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Shape 2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1" y="1371600"/>
            <a:ext cx="8626474" cy="534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Shape 2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Shape 264"/>
          <p:cNvSpPr txBox="1"/>
          <p:nvPr/>
        </p:nvSpPr>
        <p:spPr>
          <a:xfrm>
            <a:off x="3581400" y="3048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PRECAUCIÓN</a:t>
            </a:r>
          </a:p>
        </p:txBody>
      </p:sp>
      <p:cxnSp>
        <p:nvCxnSpPr>
          <p:cNvPr id="265" name="Shape 265"/>
          <p:cNvCxnSpPr/>
          <p:nvPr/>
        </p:nvCxnSpPr>
        <p:spPr>
          <a:xfrm rot="10800000">
            <a:off x="914400" y="3760786"/>
            <a:ext cx="0" cy="2411411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66" name="Shape 266"/>
          <p:cNvCxnSpPr/>
          <p:nvPr/>
        </p:nvCxnSpPr>
        <p:spPr>
          <a:xfrm>
            <a:off x="762000" y="6096000"/>
            <a:ext cx="4267199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267" name="Shape 267"/>
          <p:cNvCxnSpPr/>
          <p:nvPr/>
        </p:nvCxnSpPr>
        <p:spPr>
          <a:xfrm>
            <a:off x="914400" y="4970462"/>
            <a:ext cx="3509961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68" name="Shape 268"/>
          <p:cNvSpPr/>
          <p:nvPr/>
        </p:nvSpPr>
        <p:spPr>
          <a:xfrm>
            <a:off x="1250950" y="3711575"/>
            <a:ext cx="3227386" cy="216535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062" y="4838"/>
                  <a:pt x="3010" y="17507"/>
                  <a:pt x="6492" y="29032"/>
                </a:cubicBezTo>
                <a:cubicBezTo>
                  <a:pt x="9975" y="40557"/>
                  <a:pt x="14284" y="58064"/>
                  <a:pt x="21013" y="69325"/>
                </a:cubicBezTo>
                <a:cubicBezTo>
                  <a:pt x="27742" y="80586"/>
                  <a:pt x="37481" y="89824"/>
                  <a:pt x="46984" y="96862"/>
                </a:cubicBezTo>
                <a:cubicBezTo>
                  <a:pt x="56487" y="103900"/>
                  <a:pt x="65814" y="107859"/>
                  <a:pt x="77973" y="111730"/>
                </a:cubicBezTo>
                <a:cubicBezTo>
                  <a:pt x="90132" y="115601"/>
                  <a:pt x="111264" y="118328"/>
                  <a:pt x="120000" y="119999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Shape 269"/>
          <p:cNvSpPr txBox="1"/>
          <p:nvPr/>
        </p:nvSpPr>
        <p:spPr>
          <a:xfrm>
            <a:off x="685800" y="36576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270" name="Shape 270"/>
          <p:cNvSpPr txBox="1"/>
          <p:nvPr/>
        </p:nvSpPr>
        <p:spPr>
          <a:xfrm>
            <a:off x="4419600" y="60960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dp</a:t>
            </a:r>
          </a:p>
        </p:txBody>
      </p:sp>
      <p:pic>
        <p:nvPicPr>
          <p:cNvPr id="271" name="Shape 2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" y="1371600"/>
            <a:ext cx="1904999" cy="1752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sp>
        <p:nvSpPr>
          <p:cNvPr id="272" name="Shape 272"/>
          <p:cNvSpPr/>
          <p:nvPr/>
        </p:nvSpPr>
        <p:spPr>
          <a:xfrm>
            <a:off x="914400" y="4495800"/>
            <a:ext cx="3429000" cy="1587"/>
          </a:xfrm>
          <a:custGeom>
            <a:pathLst>
              <a:path extrusionOk="0" h="120000" w="120000">
                <a:moveTo>
                  <a:pt x="0" y="120000"/>
                </a:moveTo>
                <a:lnTo>
                  <a:pt x="12000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Shape 273"/>
          <p:cNvSpPr/>
          <p:nvPr/>
        </p:nvSpPr>
        <p:spPr>
          <a:xfrm>
            <a:off x="1676400" y="3581400"/>
            <a:ext cx="2679700" cy="191770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635" y="5562"/>
                  <a:pt x="5189" y="22549"/>
                  <a:pt x="9668" y="33675"/>
                </a:cubicBezTo>
                <a:cubicBezTo>
                  <a:pt x="14146" y="44801"/>
                  <a:pt x="19620" y="56821"/>
                  <a:pt x="27085" y="67052"/>
                </a:cubicBezTo>
                <a:cubicBezTo>
                  <a:pt x="34549" y="77284"/>
                  <a:pt x="44360" y="87913"/>
                  <a:pt x="54597" y="95066"/>
                </a:cubicBezTo>
                <a:cubicBezTo>
                  <a:pt x="64834" y="102218"/>
                  <a:pt x="77843" y="105794"/>
                  <a:pt x="88720" y="109966"/>
                </a:cubicBezTo>
                <a:cubicBezTo>
                  <a:pt x="99597" y="114139"/>
                  <a:pt x="113459" y="117913"/>
                  <a:pt x="120000" y="12000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Shape 274"/>
          <p:cNvCxnSpPr/>
          <p:nvPr/>
        </p:nvCxnSpPr>
        <p:spPr>
          <a:xfrm>
            <a:off x="1371600" y="39624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5" name="Shape 275"/>
          <p:cNvCxnSpPr/>
          <p:nvPr/>
        </p:nvCxnSpPr>
        <p:spPr>
          <a:xfrm>
            <a:off x="1600200" y="44196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6" name="Shape 276"/>
          <p:cNvCxnSpPr/>
          <p:nvPr/>
        </p:nvCxnSpPr>
        <p:spPr>
          <a:xfrm>
            <a:off x="2895600" y="5410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7" name="Shape 277"/>
          <p:cNvCxnSpPr/>
          <p:nvPr/>
        </p:nvCxnSpPr>
        <p:spPr>
          <a:xfrm>
            <a:off x="3657600" y="5638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8" name="Shape 278"/>
          <p:cNvCxnSpPr/>
          <p:nvPr/>
        </p:nvCxnSpPr>
        <p:spPr>
          <a:xfrm rot="10800000">
            <a:off x="2362200" y="4497387"/>
            <a:ext cx="0" cy="473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79" name="Shape 279"/>
          <p:cNvCxnSpPr/>
          <p:nvPr/>
        </p:nvCxnSpPr>
        <p:spPr>
          <a:xfrm rot="10800000">
            <a:off x="1524000" y="4495800"/>
            <a:ext cx="0" cy="474661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80" name="Shape 280"/>
          <p:cNvCxnSpPr/>
          <p:nvPr/>
        </p:nvCxnSpPr>
        <p:spPr>
          <a:xfrm rot="10800000">
            <a:off x="3276600" y="4495800"/>
            <a:ext cx="0" cy="4746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281" name="Shape 281"/>
          <p:cNvCxnSpPr/>
          <p:nvPr/>
        </p:nvCxnSpPr>
        <p:spPr>
          <a:xfrm rot="10800000">
            <a:off x="4114800" y="4495800"/>
            <a:ext cx="0" cy="47466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282" name="Shape 282"/>
          <p:cNvSpPr txBox="1"/>
          <p:nvPr/>
        </p:nvSpPr>
        <p:spPr>
          <a:xfrm>
            <a:off x="685800" y="4724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283" name="Shape 283"/>
          <p:cNvSpPr txBox="1"/>
          <p:nvPr/>
        </p:nvSpPr>
        <p:spPr>
          <a:xfrm>
            <a:off x="685800" y="42672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i´</a:t>
            </a:r>
          </a:p>
        </p:txBody>
      </p:sp>
      <p:sp>
        <p:nvSpPr>
          <p:cNvPr id="284" name="Shape 284"/>
          <p:cNvSpPr txBox="1"/>
          <p:nvPr/>
        </p:nvSpPr>
        <p:spPr>
          <a:xfrm>
            <a:off x="4876800" y="4724400"/>
            <a:ext cx="3997325" cy="144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costo marginal por </a:t>
            </a: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 mantener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dinero líquido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función de la tasa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interés y de las</a:t>
            </a:r>
            <a:r>
              <a:rPr b="1" i="1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expectativas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1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asociadas al nivel de renta (Y) 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1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gastos</a:t>
            </a:r>
            <a:r>
              <a:rPr b="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pic>
        <p:nvPicPr>
          <p:cNvPr id="285" name="Shape 2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0125" y="2362200"/>
            <a:ext cx="2454275" cy="21526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sp>
        <p:nvSpPr>
          <p:cNvPr id="286" name="Shape 286"/>
          <p:cNvSpPr txBox="1"/>
          <p:nvPr/>
        </p:nvSpPr>
        <p:spPr>
          <a:xfrm>
            <a:off x="2286000" y="2971800"/>
            <a:ext cx="3733800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 i↑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dp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F( Y, i, Expect.) ↓</a:t>
            </a:r>
          </a:p>
        </p:txBody>
      </p:sp>
      <p:cxnSp>
        <p:nvCxnSpPr>
          <p:cNvPr id="287" name="Shape 287"/>
          <p:cNvCxnSpPr/>
          <p:nvPr/>
        </p:nvCxnSpPr>
        <p:spPr>
          <a:xfrm>
            <a:off x="1828800" y="4970462"/>
            <a:ext cx="0" cy="11255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88" name="Shape 288"/>
          <p:cNvSpPr txBox="1"/>
          <p:nvPr/>
        </p:nvSpPr>
        <p:spPr>
          <a:xfrm>
            <a:off x="1600200" y="6019800"/>
            <a:ext cx="990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dp optimo</a:t>
            </a:r>
          </a:p>
        </p:txBody>
      </p:sp>
      <p:cxnSp>
        <p:nvCxnSpPr>
          <p:cNvPr id="289" name="Shape 289"/>
          <p:cNvCxnSpPr/>
          <p:nvPr/>
        </p:nvCxnSpPr>
        <p:spPr>
          <a:xfrm>
            <a:off x="1524000" y="4495800"/>
            <a:ext cx="0" cy="16001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oval"/>
            <a:tailEnd len="med" w="med" type="none"/>
          </a:ln>
        </p:spPr>
      </p:cxnSp>
      <p:cxnSp>
        <p:nvCxnSpPr>
          <p:cNvPr id="290" name="Shape 290"/>
          <p:cNvCxnSpPr/>
          <p:nvPr/>
        </p:nvCxnSpPr>
        <p:spPr>
          <a:xfrm>
            <a:off x="2667000" y="4970462"/>
            <a:ext cx="0" cy="112553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291" name="Shape 291"/>
          <p:cNvSpPr/>
          <p:nvPr/>
        </p:nvSpPr>
        <p:spPr>
          <a:xfrm>
            <a:off x="2057400" y="5486400"/>
            <a:ext cx="533399" cy="29527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Shape 292"/>
          <p:cNvSpPr/>
          <p:nvPr/>
        </p:nvSpPr>
        <p:spPr>
          <a:xfrm>
            <a:off x="1524000" y="5410200"/>
            <a:ext cx="228600" cy="431799"/>
          </a:xfrm>
          <a:prstGeom prst="leftArrow">
            <a:avLst>
              <a:gd fmla="val 50000" name="adj1"/>
              <a:gd fmla="val 6115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Shape 293"/>
          <p:cNvCxnSpPr/>
          <p:nvPr/>
        </p:nvCxnSpPr>
        <p:spPr>
          <a:xfrm>
            <a:off x="1828800" y="4970462"/>
            <a:ext cx="838199" cy="0"/>
          </a:xfrm>
          <a:prstGeom prst="straightConnector1">
            <a:avLst/>
          </a:prstGeom>
          <a:noFill/>
          <a:ln cap="flat" cmpd="sng" w="31750">
            <a:solidFill>
              <a:srgbClr val="0000FF"/>
            </a:solidFill>
            <a:prstDash val="solid"/>
            <a:miter/>
            <a:headEnd len="med" w="med" type="none"/>
            <a:tailEnd len="lg" w="lg" type="triangle"/>
          </a:ln>
        </p:spPr>
      </p:cxnSp>
      <p:sp>
        <p:nvSpPr>
          <p:cNvPr id="294" name="Shape 294"/>
          <p:cNvSpPr txBox="1"/>
          <p:nvPr/>
        </p:nvSpPr>
        <p:spPr>
          <a:xfrm rot="720000">
            <a:off x="2894011" y="5656262"/>
            <a:ext cx="7619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NMDL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3581400" y="4706937"/>
            <a:ext cx="457200" cy="322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MDL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Shape 296"/>
          <p:cNvSpPr txBox="1"/>
          <p:nvPr/>
        </p:nvSpPr>
        <p:spPr>
          <a:xfrm>
            <a:off x="2209800" y="1371600"/>
            <a:ext cx="3809999" cy="152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costo marginal por </a:t>
            </a: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mantener </a:t>
            </a: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dinero líquido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constante y está</a:t>
            </a: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asociado a los </a:t>
            </a:r>
            <a:r>
              <a:rPr b="1" i="1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intereses perdidos</a:t>
            </a:r>
            <a:r>
              <a:rPr b="1" i="1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1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(i = tasa de interés)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no tener </a:t>
            </a: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activos financieros (bonos) 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2286000" y="3671887"/>
            <a:ext cx="379412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…Y↑, Exp.↓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dp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F( Y, i, Exp.)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Shape 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Shape 3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862" y="1143000"/>
            <a:ext cx="8626474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Shape 3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Shape 305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306" name="Shape 306"/>
          <p:cNvSpPr/>
          <p:nvPr/>
        </p:nvSpPr>
        <p:spPr>
          <a:xfrm rot="600000">
            <a:off x="3524249" y="1447799"/>
            <a:ext cx="1733550" cy="66674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Shape 3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600" y="3581400"/>
            <a:ext cx="3243262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Shape 3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6862" y="1143000"/>
            <a:ext cx="3076574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Shape 309"/>
          <p:cNvSpPr/>
          <p:nvPr/>
        </p:nvSpPr>
        <p:spPr>
          <a:xfrm rot="5400000">
            <a:off x="1556543" y="2558255"/>
            <a:ext cx="1001711" cy="762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Shape 3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6862" y="3581400"/>
            <a:ext cx="4762499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Shape 3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62600" y="1252537"/>
            <a:ext cx="3006724" cy="179546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Shape 312"/>
          <p:cNvSpPr/>
          <p:nvPr/>
        </p:nvSpPr>
        <p:spPr>
          <a:xfrm rot="1440000">
            <a:off x="3428999" y="2533650"/>
            <a:ext cx="1733549" cy="66674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Shape 3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Shape 3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444625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Shape 319"/>
          <p:cNvSpPr txBox="1"/>
          <p:nvPr/>
        </p:nvSpPr>
        <p:spPr>
          <a:xfrm>
            <a:off x="381000" y="1600200"/>
            <a:ext cx="8493124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Shape 3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Shape 321"/>
          <p:cNvSpPr txBox="1"/>
          <p:nvPr/>
        </p:nvSpPr>
        <p:spPr>
          <a:xfrm>
            <a:off x="3276600" y="152400"/>
            <a:ext cx="5714999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DEPÓSITOS EN BANCOS COMERCIALES</a:t>
            </a:r>
          </a:p>
        </p:txBody>
      </p:sp>
      <p:sp>
        <p:nvSpPr>
          <p:cNvPr id="322" name="Shape 322"/>
          <p:cNvSpPr/>
          <p:nvPr/>
        </p:nvSpPr>
        <p:spPr>
          <a:xfrm rot="10800000">
            <a:off x="6016624" y="1295399"/>
            <a:ext cx="2898775" cy="4800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Shape 323"/>
          <p:cNvSpPr/>
          <p:nvPr/>
        </p:nvSpPr>
        <p:spPr>
          <a:xfrm>
            <a:off x="381000" y="1531937"/>
            <a:ext cx="2894011" cy="4792661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Shape 324"/>
          <p:cNvSpPr txBox="1"/>
          <p:nvPr/>
        </p:nvSpPr>
        <p:spPr>
          <a:xfrm>
            <a:off x="79375" y="3124200"/>
            <a:ext cx="2362200" cy="9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RETIROS</a:t>
            </a:r>
          </a:p>
        </p:txBody>
      </p:sp>
      <p:pic>
        <p:nvPicPr>
          <p:cNvPr id="325" name="Shape 3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2337" y="1444625"/>
            <a:ext cx="2425700" cy="177958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pic>
      <p:pic>
        <p:nvPicPr>
          <p:cNvPr id="326" name="Shape 3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6137" y="4878387"/>
            <a:ext cx="2405062" cy="1446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Shape 3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52800" y="4876800"/>
            <a:ext cx="25019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Shape 328"/>
          <p:cNvSpPr txBox="1"/>
          <p:nvPr/>
        </p:nvSpPr>
        <p:spPr>
          <a:xfrm>
            <a:off x="6553200" y="3276600"/>
            <a:ext cx="2362200" cy="91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DEPÓSITOS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Shape 3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37160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Shape 3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925" y="1743075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Shape 335"/>
          <p:cNvSpPr txBox="1"/>
          <p:nvPr/>
        </p:nvSpPr>
        <p:spPr>
          <a:xfrm>
            <a:off x="381000" y="1600200"/>
            <a:ext cx="8493124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Shape 3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800" y="458787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Shape 3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Shape 338"/>
          <p:cNvSpPr txBox="1"/>
          <p:nvPr/>
        </p:nvSpPr>
        <p:spPr>
          <a:xfrm>
            <a:off x="2968625" y="441325"/>
            <a:ext cx="6175374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COMPRAVENTA DE MONEDA EXTRANJERA</a:t>
            </a:r>
          </a:p>
        </p:txBody>
      </p:sp>
      <p:sp>
        <p:nvSpPr>
          <p:cNvPr id="339" name="Shape 339"/>
          <p:cNvSpPr/>
          <p:nvPr/>
        </p:nvSpPr>
        <p:spPr>
          <a:xfrm rot="10800000">
            <a:off x="6016624" y="1295399"/>
            <a:ext cx="2898775" cy="4800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Shape 340"/>
          <p:cNvSpPr/>
          <p:nvPr/>
        </p:nvSpPr>
        <p:spPr>
          <a:xfrm>
            <a:off x="381000" y="1600200"/>
            <a:ext cx="2894011" cy="4792661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Shape 3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5" y="1804986"/>
            <a:ext cx="2673350" cy="177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Shape 3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5200" y="4421187"/>
            <a:ext cx="2176462" cy="190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Shape 3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43275" y="4421187"/>
            <a:ext cx="2501900" cy="190341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Shape 344"/>
          <p:cNvSpPr txBox="1"/>
          <p:nvPr/>
        </p:nvSpPr>
        <p:spPr>
          <a:xfrm>
            <a:off x="228600" y="2895600"/>
            <a:ext cx="2362200" cy="12191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DEVALUACIÓN</a:t>
            </a:r>
          </a:p>
        </p:txBody>
      </p:sp>
      <p:sp>
        <p:nvSpPr>
          <p:cNvPr id="345" name="Shape 345"/>
          <p:cNvSpPr txBox="1"/>
          <p:nvPr/>
        </p:nvSpPr>
        <p:spPr>
          <a:xfrm>
            <a:off x="6324600" y="3201986"/>
            <a:ext cx="2362200" cy="12191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Shape 3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Shape 3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925" y="1635125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Shape 352"/>
          <p:cNvSpPr txBox="1"/>
          <p:nvPr/>
        </p:nvSpPr>
        <p:spPr>
          <a:xfrm>
            <a:off x="381000" y="1600200"/>
            <a:ext cx="8493124" cy="94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Shape 3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Shape 3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Shape 355"/>
          <p:cNvSpPr txBox="1"/>
          <p:nvPr/>
        </p:nvSpPr>
        <p:spPr>
          <a:xfrm>
            <a:off x="3581400" y="76200"/>
            <a:ext cx="4724400" cy="100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COMPRAVENTA DE BONOS</a:t>
            </a:r>
          </a:p>
        </p:txBody>
      </p:sp>
      <p:sp>
        <p:nvSpPr>
          <p:cNvPr id="356" name="Shape 356"/>
          <p:cNvSpPr txBox="1"/>
          <p:nvPr/>
        </p:nvSpPr>
        <p:spPr>
          <a:xfrm>
            <a:off x="6556375" y="3429000"/>
            <a:ext cx="2511425" cy="8381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</a:t>
            </a:r>
          </a:p>
        </p:txBody>
      </p:sp>
      <p:sp>
        <p:nvSpPr>
          <p:cNvPr id="357" name="Shape 357"/>
          <p:cNvSpPr/>
          <p:nvPr/>
        </p:nvSpPr>
        <p:spPr>
          <a:xfrm rot="10800000">
            <a:off x="6092824" y="1295399"/>
            <a:ext cx="2898775" cy="48006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Shape 358"/>
          <p:cNvSpPr/>
          <p:nvPr/>
        </p:nvSpPr>
        <p:spPr>
          <a:xfrm>
            <a:off x="381000" y="1600200"/>
            <a:ext cx="2894011" cy="4792661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Shape 3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5200" y="4421187"/>
            <a:ext cx="2176462" cy="190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Shape 3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5975" y="1371600"/>
            <a:ext cx="2587625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Shape 3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6600" y="4421187"/>
            <a:ext cx="2501900" cy="190341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Shape 362"/>
          <p:cNvSpPr txBox="1"/>
          <p:nvPr/>
        </p:nvSpPr>
        <p:spPr>
          <a:xfrm>
            <a:off x="288925" y="3352800"/>
            <a:ext cx="2511425" cy="8381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VENTA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Shape 3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Shape 3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925" y="1409700"/>
            <a:ext cx="8626474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Shape 369"/>
          <p:cNvSpPr txBox="1"/>
          <p:nvPr/>
        </p:nvSpPr>
        <p:spPr>
          <a:xfrm>
            <a:off x="2438400" y="1600200"/>
            <a:ext cx="268922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RENTA - AHORRO</a:t>
            </a:r>
          </a:p>
        </p:txBody>
      </p:sp>
      <p:pic>
        <p:nvPicPr>
          <p:cNvPr id="370" name="Shape 3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6387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Shape 371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372" name="Shape 372"/>
          <p:cNvSpPr/>
          <p:nvPr/>
        </p:nvSpPr>
        <p:spPr>
          <a:xfrm>
            <a:off x="2971800" y="2590800"/>
            <a:ext cx="2155824" cy="762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Shape 373"/>
          <p:cNvSpPr txBox="1"/>
          <p:nvPr/>
        </p:nvSpPr>
        <p:spPr>
          <a:xfrm>
            <a:off x="6189662" y="4572000"/>
            <a:ext cx="431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</a:p>
        </p:txBody>
      </p:sp>
      <p:sp>
        <p:nvSpPr>
          <p:cNvPr id="374" name="Shape 374"/>
          <p:cNvSpPr txBox="1"/>
          <p:nvPr/>
        </p:nvSpPr>
        <p:spPr>
          <a:xfrm>
            <a:off x="5105400" y="4495800"/>
            <a:ext cx="268922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PRESTAMOS</a:t>
            </a:r>
          </a:p>
        </p:txBody>
      </p:sp>
      <p:sp>
        <p:nvSpPr>
          <p:cNvPr id="375" name="Shape 375"/>
          <p:cNvSpPr/>
          <p:nvPr/>
        </p:nvSpPr>
        <p:spPr>
          <a:xfrm rot="5400000">
            <a:off x="5944393" y="3809206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Shape 376"/>
          <p:cNvSpPr txBox="1"/>
          <p:nvPr/>
        </p:nvSpPr>
        <p:spPr>
          <a:xfrm>
            <a:off x="4016375" y="4876800"/>
            <a:ext cx="268922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CAPITAL</a:t>
            </a:r>
          </a:p>
        </p:txBody>
      </p:sp>
      <p:sp>
        <p:nvSpPr>
          <p:cNvPr id="377" name="Shape 377"/>
          <p:cNvSpPr txBox="1"/>
          <p:nvPr/>
        </p:nvSpPr>
        <p:spPr>
          <a:xfrm>
            <a:off x="6553200" y="4876800"/>
            <a:ext cx="201612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INTERESES</a:t>
            </a:r>
          </a:p>
        </p:txBody>
      </p:sp>
      <p:sp>
        <p:nvSpPr>
          <p:cNvPr id="378" name="Shape 378"/>
          <p:cNvSpPr txBox="1"/>
          <p:nvPr/>
        </p:nvSpPr>
        <p:spPr>
          <a:xfrm>
            <a:off x="457200" y="5334000"/>
            <a:ext cx="8416924" cy="1190624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CAPITALIZACIÓN DE INTERESES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   C + I = C + i * C  =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C(1+i)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C(1+i) + I = C(1+i) + i*C(1+i) =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C(1+i)</a:t>
            </a:r>
            <a:r>
              <a:rPr b="1" baseline="30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baseline="30000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             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C(1+i)</a:t>
            </a:r>
            <a:r>
              <a:rPr b="1" baseline="30000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+ I = C(1+i)</a:t>
            </a:r>
            <a:r>
              <a:rPr b="1" baseline="30000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n-1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+ i*C(1+i)</a:t>
            </a:r>
            <a:r>
              <a:rPr b="1" baseline="30000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n-1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=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C(1+i)</a:t>
            </a:r>
            <a:r>
              <a:rPr b="1" baseline="30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</a:p>
        </p:txBody>
      </p:sp>
      <p:sp>
        <p:nvSpPr>
          <p:cNvPr id="379" name="Shape 379"/>
          <p:cNvSpPr/>
          <p:nvPr/>
        </p:nvSpPr>
        <p:spPr>
          <a:xfrm rot="5400000">
            <a:off x="6958011" y="6011862"/>
            <a:ext cx="273049" cy="136524"/>
          </a:xfrm>
          <a:prstGeom prst="chevron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Shape 3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92712" y="1409700"/>
            <a:ext cx="2857499" cy="235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Shape 3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8925" y="1966911"/>
            <a:ext cx="2454275" cy="1795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Shape 3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Shape 3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Shape 388"/>
          <p:cNvSpPr txBox="1"/>
          <p:nvPr/>
        </p:nvSpPr>
        <p:spPr>
          <a:xfrm>
            <a:off x="3657600" y="152400"/>
            <a:ext cx="5216524" cy="1006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BONOS – TITULOS -OBLIGACIONES</a:t>
            </a:r>
          </a:p>
        </p:txBody>
      </p:sp>
      <p:sp>
        <p:nvSpPr>
          <p:cNvPr id="389" name="Shape 389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Shape 390"/>
          <p:cNvSpPr txBox="1"/>
          <p:nvPr/>
        </p:nvSpPr>
        <p:spPr>
          <a:xfrm>
            <a:off x="152400" y="3243261"/>
            <a:ext cx="4003675" cy="2090737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TITULOS Y OBLIGACIONES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bonos emitidos por el Estado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Nacional y los gobiernos provinciales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  denominados "títulos públicos“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mientras  que a los bonos emitidos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por entidades privadas son llamados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"obligaciones negociables". </a:t>
            </a:r>
          </a:p>
        </p:txBody>
      </p:sp>
      <p:sp>
        <p:nvSpPr>
          <p:cNvPr id="391" name="Shape 391"/>
          <p:cNvSpPr txBox="1"/>
          <p:nvPr/>
        </p:nvSpPr>
        <p:spPr>
          <a:xfrm>
            <a:off x="4397375" y="2709861"/>
            <a:ext cx="4683125" cy="198119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EMISOR/PRESTATARIO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de las características más importantes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un título es la naturaleza del emisor ya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es quien se hace responsable por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pago del monto de la deuda. Los Emisores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pueden ser estados nacionales, provinciales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municipales y empresas privadas. </a:t>
            </a:r>
          </a:p>
        </p:txBody>
      </p:sp>
      <p:sp>
        <p:nvSpPr>
          <p:cNvPr id="392" name="Shape 392"/>
          <p:cNvSpPr txBox="1"/>
          <p:nvPr/>
        </p:nvSpPr>
        <p:spPr>
          <a:xfrm>
            <a:off x="228600" y="1295400"/>
            <a:ext cx="8743949" cy="1414462"/>
          </a:xfrm>
          <a:prstGeom prst="rect">
            <a:avLst/>
          </a:prstGeom>
          <a:solidFill>
            <a:srgbClr val="C0C0C0">
              <a:alpha val="69803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Bono es un documento de crédito a largo plazo (≥ a10 años) emitido por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empresa privada o el gobierno (prestatario), que recibe hoy dinero 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cambio de una promesa de pago futura con intereses pagados entre el período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efectuado el préstamo y el instante del reembolso.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393" name="Shape 393"/>
          <p:cNvSpPr txBox="1"/>
          <p:nvPr/>
        </p:nvSpPr>
        <p:spPr>
          <a:xfrm>
            <a:off x="4495800" y="4783137"/>
            <a:ext cx="4213225" cy="110013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BONISTA/PRESTAMISTA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trata de quienes compran bonos, 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decir los que prestan el dinero.</a:t>
            </a:r>
          </a:p>
        </p:txBody>
      </p:sp>
      <p:sp>
        <p:nvSpPr>
          <p:cNvPr id="394" name="Shape 394"/>
          <p:cNvSpPr txBox="1"/>
          <p:nvPr/>
        </p:nvSpPr>
        <p:spPr>
          <a:xfrm>
            <a:off x="0" y="5943600"/>
            <a:ext cx="9144000" cy="8381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INTERMEDIARIOS FINANCIEROS – Bancos – Agentes de Bolsa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Compran y venden en representación de oferentes y demandantes de dinero.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Shape 3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Shape 4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854075"/>
            <a:ext cx="8880475" cy="570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Shape 4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Shape 4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Shape 403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404" name="Shape 404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Shape 405"/>
          <p:cNvSpPr txBox="1"/>
          <p:nvPr/>
        </p:nvSpPr>
        <p:spPr>
          <a:xfrm>
            <a:off x="304800" y="990600"/>
            <a:ext cx="8397874" cy="838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CONDICIONES DEL 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términos generales, cada préstamo o «emisión» de un bono tiene ciertas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particulares condiciones detalladas en el momento de la emisión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422275" y="1905000"/>
            <a:ext cx="8264524" cy="914400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NOMINAL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 la suma global que será pagada al tenedor del bono a la fecha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su vencimiento, también conocido como </a:t>
            </a:r>
            <a:r>
              <a:rPr b="1" i="1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 a la par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381000" y="2895600"/>
            <a:ext cx="8626474" cy="990599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TASA O TIPO DE INTERÉS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Compensación por posponer la posibilidad de un consumo presente asociado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valor nominal que el emisor del bono paga a quien le presta dinero, se la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conoce como </a:t>
            </a:r>
            <a:r>
              <a:rPr b="1" i="1" lang="en-US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tasa de cupón.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263525" y="4038600"/>
            <a:ext cx="8743949" cy="838199"/>
          </a:xfrm>
          <a:prstGeom prst="rect">
            <a:avLst/>
          </a:prstGeom>
          <a:solidFill>
            <a:srgbClr val="FF9900">
              <a:alpha val="28627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dinero asociada a los períodos propuestos por el emisor 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determinada por la inmovilización del valor nominal del bono, la tasa de interés  </a:t>
            </a:r>
          </a:p>
        </p:txBody>
      </p:sp>
      <p:sp>
        <p:nvSpPr>
          <p:cNvPr id="409" name="Shape 409"/>
          <p:cNvSpPr txBox="1"/>
          <p:nvPr/>
        </p:nvSpPr>
        <p:spPr>
          <a:xfrm>
            <a:off x="381000" y="5632450"/>
            <a:ext cx="3581399" cy="927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VENCIMIENTO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Fecha establecida por el emisor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devolver el préstamo </a:t>
            </a:r>
          </a:p>
        </p:txBody>
      </p:sp>
      <p:sp>
        <p:nvSpPr>
          <p:cNvPr id="410" name="Shape 410"/>
          <p:cNvSpPr txBox="1"/>
          <p:nvPr/>
        </p:nvSpPr>
        <p:spPr>
          <a:xfrm>
            <a:off x="304800" y="4953000"/>
            <a:ext cx="8550275" cy="609599"/>
          </a:xfrm>
          <a:prstGeom prst="rect">
            <a:avLst/>
          </a:prstGeom>
          <a:solidFill>
            <a:schemeClr val="accent1">
              <a:alpha val="70980"/>
            </a:scheme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CUPÓN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denomina cupón al monto que recibirá el tenedor en concepto de intereses</a:t>
            </a:r>
          </a:p>
        </p:txBody>
      </p:sp>
      <p:sp>
        <p:nvSpPr>
          <p:cNvPr id="411" name="Shape 411"/>
          <p:cNvSpPr txBox="1"/>
          <p:nvPr/>
        </p:nvSpPr>
        <p:spPr>
          <a:xfrm>
            <a:off x="4419600" y="5562600"/>
            <a:ext cx="4511675" cy="1073150"/>
          </a:xfrm>
          <a:prstGeom prst="rect">
            <a:avLst/>
          </a:prstGeom>
          <a:solidFill>
            <a:srgbClr val="993300">
              <a:alpha val="56862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MONEDA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 de cuenta sobre la que se realiza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préstamo 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Shape 4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Shape 4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70012"/>
            <a:ext cx="8743949" cy="533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Shape 4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Shape 4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Shape 420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421" name="Shape 421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Shape 422"/>
          <p:cNvSpPr txBox="1"/>
          <p:nvPr/>
        </p:nvSpPr>
        <p:spPr>
          <a:xfrm>
            <a:off x="228600" y="1447800"/>
            <a:ext cx="8610599" cy="52641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FACTORES DE RIESGO DEL 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de default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Incumplimiento del emisor (deudor).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moneda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Variación de rentabilidad de la inversión asociada a la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devaluación o apreciación del valor de la moneda con que se realizan los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pagos, respecto de otras monedas (tipo de cambio).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de liquidez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Limitaciones de las posibilidades de transferir el bono.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de inflación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Pérdidas de rentabilidad de la inversión por variaciones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nivel de precios que erosionan el valor de la moneda la que se realizan los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pagos.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de reinversión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Variación de la tasa de interés a la cual podremos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reinvertir el dinero que cobremos por renta o por amortización durante la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vigencia del bono.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Noto Sans Symbols"/>
              <a:buChar char="✓"/>
            </a:pPr>
            <a:r>
              <a:rPr b="1" i="1" lang="en-US" sz="1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Riesgo tasa de interés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Cambios en las condiciones generales de la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economía que impactan en el precio del bono en el mercado.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Shape 4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Shape 4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70012"/>
            <a:ext cx="9144000" cy="533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Shape 4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Shape 4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Shape 431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CONTRATO DE LOS TITULOS PÚBLICOS ARGENTINOS</a:t>
            </a:r>
          </a:p>
        </p:txBody>
      </p:sp>
      <p:sp>
        <p:nvSpPr>
          <p:cNvPr id="432" name="Shape 432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Shape 433"/>
          <p:cNvSpPr txBox="1"/>
          <p:nvPr/>
        </p:nvSpPr>
        <p:spPr>
          <a:xfrm>
            <a:off x="263525" y="1516062"/>
            <a:ext cx="8610599" cy="503713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fideicomiso es un contrato por el cual una persona (el fiduciante) transfiere a título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confianza a otra persona (el fiduciario) uno o más bienes, que pasan a formar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patrimonio fideicomitido, para que al vencimiento de un plazo o al cumplimiento 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condición, éste transmita la finalidad o el resultado establecido por el primero, a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favor o a favor de un tercero llamado beneficiario o fideicomisario.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531813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fiduciante o fideicomitente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es quien constituye el fideicomiso, transmitiendo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propiedad del bien o de los bienes al fiduciario, para que cumpla la finalidad específica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fideicomiso.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 fiduciario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es quien recibe los bienes transferidos por el fiduciante, y puede ser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persona física o jurídica, pública o privada, nacional o extranjera.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 beneficiario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quien es aquél en cuyo favor se ejerce la administración de los bienes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fideicomitidos. Si el beneficiario no llegara a existir, no acepta, o renuncia, el beneficiario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será el fideicomisario, y en defecto de éste será el fiduciante.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 fideicomisario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quien recibe los bienes fideicomitidos una vez extinguido 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fideicomiso por cumplimiento del plazo o la condición.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 patrimonio fideicomitido constituye un patrimonio separado del patrimonio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fiduciario y del fiduciante. Los bienes fideicomitidos son aquellos transferidos al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fiduciario, y forman la propiedad fiduciaria.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Shape 4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Shape 4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70012"/>
            <a:ext cx="9144000" cy="5335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Shape 4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Shape 4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Shape 442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CONTRATO DE LOS TITULOS PÚBLICOS ARGENTINOS</a:t>
            </a:r>
          </a:p>
        </p:txBody>
      </p:sp>
      <p:sp>
        <p:nvSpPr>
          <p:cNvPr id="443" name="Shape 443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Shape 444"/>
          <p:cNvSpPr txBox="1"/>
          <p:nvPr/>
        </p:nvSpPr>
        <p:spPr>
          <a:xfrm>
            <a:off x="228600" y="1447800"/>
            <a:ext cx="8610599" cy="52641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Indenture Act: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Contrato de cumplimiento forzoso que administra la SEC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(Security and Exchange Comission) que es la Comisión de la Bolsa de Valores de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Estados Unidos.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Cláusula Pari Passu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 que no hay acreedores privilegiados, ni deudas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subordinadas.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Cláusula RUFO ((R</a:t>
            </a:r>
            <a:r>
              <a:rPr b="1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ights Upon Future Offers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 a los bonistas que resignaron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de la deuda incumplida  y entraron en el canje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holdin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un derecho a que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 bono sea equiparado a cualquier otra mejor oferta que el emisor de los bonos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defaulteados haga voluntariamente a los que no entraron (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holdouts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en un plazo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determinado.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Cláusula “Class Actions” (CCAs) o Acción de Clase: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trata de un artilugio legal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 permite imponer a los bonistas que no entran en los canjes -los  holdouts- el </a:t>
            </a:r>
          </a:p>
          <a:p>
            <a:pPr indent="-1587" lvl="1" marL="1793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acuerdo de una mayoría que oscila entre el 66% y el 75%.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Shape 4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Shape 4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404937"/>
            <a:ext cx="8743949" cy="51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Shape 4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Shape 4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3025" y="5632450"/>
            <a:ext cx="1189037" cy="7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Shape 453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454" name="Shape 454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Shape 455"/>
          <p:cNvSpPr txBox="1"/>
          <p:nvPr/>
        </p:nvSpPr>
        <p:spPr>
          <a:xfrm>
            <a:off x="3733800" y="2895600"/>
            <a:ext cx="2133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= V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( 1+ i )</a:t>
            </a:r>
            <a:r>
              <a:rPr b="1" baseline="30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</a:p>
        </p:txBody>
      </p:sp>
      <p:sp>
        <p:nvSpPr>
          <p:cNvPr id="456" name="Shape 456"/>
          <p:cNvSpPr txBox="1"/>
          <p:nvPr/>
        </p:nvSpPr>
        <p:spPr>
          <a:xfrm>
            <a:off x="6096000" y="3886200"/>
            <a:ext cx="2133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FUTURO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838200" y="2895600"/>
            <a:ext cx="2438399" cy="984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PRESENTE</a:t>
            </a:r>
          </a:p>
        </p:txBody>
      </p:sp>
      <p:sp>
        <p:nvSpPr>
          <p:cNvPr id="458" name="Shape 458"/>
          <p:cNvSpPr txBox="1"/>
          <p:nvPr/>
        </p:nvSpPr>
        <p:spPr>
          <a:xfrm>
            <a:off x="6248400" y="2895600"/>
            <a:ext cx="2133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FUTURO</a:t>
            </a:r>
          </a:p>
        </p:txBody>
      </p:sp>
      <p:sp>
        <p:nvSpPr>
          <p:cNvPr id="459" name="Shape 459"/>
          <p:cNvSpPr txBox="1"/>
          <p:nvPr/>
        </p:nvSpPr>
        <p:spPr>
          <a:xfrm>
            <a:off x="838200" y="3733800"/>
            <a:ext cx="2438399" cy="984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PRESENTE</a:t>
            </a:r>
          </a:p>
        </p:txBody>
      </p:sp>
      <p:sp>
        <p:nvSpPr>
          <p:cNvPr id="460" name="Shape 460"/>
          <p:cNvSpPr/>
          <p:nvPr/>
        </p:nvSpPr>
        <p:spPr>
          <a:xfrm rot="10800000">
            <a:off x="3581400" y="5562600"/>
            <a:ext cx="2209799" cy="68579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</a:t>
            </a:r>
          </a:p>
        </p:txBody>
      </p:sp>
      <p:sp>
        <p:nvSpPr>
          <p:cNvPr id="461" name="Shape 461"/>
          <p:cNvSpPr/>
          <p:nvPr/>
        </p:nvSpPr>
        <p:spPr>
          <a:xfrm>
            <a:off x="3733800" y="3962400"/>
            <a:ext cx="2133599" cy="768349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CAPITALIZAR</a:t>
            </a:r>
          </a:p>
        </p:txBody>
      </p:sp>
      <p:sp>
        <p:nvSpPr>
          <p:cNvPr id="462" name="Shape 462"/>
          <p:cNvSpPr txBox="1"/>
          <p:nvPr/>
        </p:nvSpPr>
        <p:spPr>
          <a:xfrm>
            <a:off x="6172200" y="5638800"/>
            <a:ext cx="21335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FUTURO</a:t>
            </a:r>
          </a:p>
        </p:txBody>
      </p:sp>
      <p:sp>
        <p:nvSpPr>
          <p:cNvPr id="463" name="Shape 463"/>
          <p:cNvSpPr txBox="1"/>
          <p:nvPr/>
        </p:nvSpPr>
        <p:spPr>
          <a:xfrm>
            <a:off x="762000" y="5492750"/>
            <a:ext cx="2438399" cy="984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VALOR PRESENTE</a:t>
            </a:r>
          </a:p>
        </p:txBody>
      </p:sp>
      <p:sp>
        <p:nvSpPr>
          <p:cNvPr id="464" name="Shape 464"/>
          <p:cNvSpPr txBox="1"/>
          <p:nvPr/>
        </p:nvSpPr>
        <p:spPr>
          <a:xfrm>
            <a:off x="3657600" y="4572000"/>
            <a:ext cx="21335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CRECE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rgbClr val="BB4F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REDUCE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Shape 4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Shape 4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60512"/>
            <a:ext cx="8809036" cy="51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Shape 4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Shape 472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473" name="Shape 473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Shape 474"/>
          <p:cNvSpPr txBox="1"/>
          <p:nvPr/>
        </p:nvSpPr>
        <p:spPr>
          <a:xfrm>
            <a:off x="263525" y="1447800"/>
            <a:ext cx="8618536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Shape 475"/>
          <p:cNvSpPr txBox="1"/>
          <p:nvPr/>
        </p:nvSpPr>
        <p:spPr>
          <a:xfrm>
            <a:off x="3106736" y="2743200"/>
            <a:ext cx="2778124" cy="822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(1/( 1+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baseline="30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cxnSp>
        <p:nvCxnSpPr>
          <p:cNvPr id="476" name="Shape 476"/>
          <p:cNvCxnSpPr/>
          <p:nvPr/>
        </p:nvCxnSpPr>
        <p:spPr>
          <a:xfrm>
            <a:off x="3200400" y="4724400"/>
            <a:ext cx="38099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stealth"/>
          </a:ln>
        </p:spPr>
      </p:cxnSp>
      <p:sp>
        <p:nvSpPr>
          <p:cNvPr id="477" name="Shape 477"/>
          <p:cNvSpPr/>
          <p:nvPr/>
        </p:nvSpPr>
        <p:spPr>
          <a:xfrm>
            <a:off x="3657600" y="4724400"/>
            <a:ext cx="417511" cy="446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</a:p>
        </p:txBody>
      </p:sp>
      <p:sp>
        <p:nvSpPr>
          <p:cNvPr id="478" name="Shape 478"/>
          <p:cNvSpPr/>
          <p:nvPr/>
        </p:nvSpPr>
        <p:spPr>
          <a:xfrm>
            <a:off x="2971800" y="3581400"/>
            <a:ext cx="485775" cy="1143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F99"/>
          </a:solidFill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P0</a:t>
            </a:r>
          </a:p>
        </p:txBody>
      </p:sp>
      <p:sp>
        <p:nvSpPr>
          <p:cNvPr id="479" name="Shape 479"/>
          <p:cNvSpPr/>
          <p:nvPr/>
        </p:nvSpPr>
        <p:spPr>
          <a:xfrm>
            <a:off x="3352800" y="4267200"/>
            <a:ext cx="533399" cy="457200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Shape 480"/>
          <p:cNvSpPr/>
          <p:nvPr/>
        </p:nvSpPr>
        <p:spPr>
          <a:xfrm>
            <a:off x="3352800" y="4114800"/>
            <a:ext cx="1295400" cy="609599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Shape 481"/>
          <p:cNvSpPr/>
          <p:nvPr/>
        </p:nvSpPr>
        <p:spPr>
          <a:xfrm>
            <a:off x="3352800" y="3962400"/>
            <a:ext cx="1904999" cy="762000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Shape 482"/>
          <p:cNvSpPr/>
          <p:nvPr/>
        </p:nvSpPr>
        <p:spPr>
          <a:xfrm>
            <a:off x="3352800" y="3810000"/>
            <a:ext cx="2590800" cy="914400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Shape 483"/>
          <p:cNvSpPr/>
          <p:nvPr/>
        </p:nvSpPr>
        <p:spPr>
          <a:xfrm>
            <a:off x="3352800" y="3657600"/>
            <a:ext cx="3200399" cy="1066799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Shape 484"/>
          <p:cNvSpPr/>
          <p:nvPr/>
        </p:nvSpPr>
        <p:spPr>
          <a:xfrm rot="5400000">
            <a:off x="3425031" y="5414168"/>
            <a:ext cx="312737" cy="6095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Shape 485"/>
          <p:cNvSpPr/>
          <p:nvPr/>
        </p:nvSpPr>
        <p:spPr>
          <a:xfrm rot="5400000">
            <a:off x="4034631" y="5414168"/>
            <a:ext cx="312737" cy="6095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Shape 486"/>
          <p:cNvSpPr/>
          <p:nvPr/>
        </p:nvSpPr>
        <p:spPr>
          <a:xfrm rot="5400000">
            <a:off x="4644231" y="5414168"/>
            <a:ext cx="312737" cy="6095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Shape 487"/>
          <p:cNvSpPr/>
          <p:nvPr/>
        </p:nvSpPr>
        <p:spPr>
          <a:xfrm rot="5400000">
            <a:off x="5253831" y="5414168"/>
            <a:ext cx="312737" cy="6095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Shape 488"/>
          <p:cNvSpPr/>
          <p:nvPr/>
        </p:nvSpPr>
        <p:spPr>
          <a:xfrm rot="5400000">
            <a:off x="5863431" y="5414168"/>
            <a:ext cx="312737" cy="609599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Shape 489"/>
          <p:cNvSpPr txBox="1"/>
          <p:nvPr/>
        </p:nvSpPr>
        <p:spPr>
          <a:xfrm>
            <a:off x="3124200" y="5867400"/>
            <a:ext cx="3276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        2       3       4        5…n</a:t>
            </a:r>
          </a:p>
        </p:txBody>
      </p:sp>
      <p:sp>
        <p:nvSpPr>
          <p:cNvPr id="490" name="Shape 490"/>
          <p:cNvSpPr/>
          <p:nvPr/>
        </p:nvSpPr>
        <p:spPr>
          <a:xfrm>
            <a:off x="4306887" y="4724400"/>
            <a:ext cx="417511" cy="446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</a:p>
        </p:txBody>
      </p:sp>
      <p:sp>
        <p:nvSpPr>
          <p:cNvPr id="491" name="Shape 491"/>
          <p:cNvSpPr/>
          <p:nvPr/>
        </p:nvSpPr>
        <p:spPr>
          <a:xfrm>
            <a:off x="4916487" y="4724400"/>
            <a:ext cx="417511" cy="446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</a:p>
        </p:txBody>
      </p:sp>
      <p:sp>
        <p:nvSpPr>
          <p:cNvPr id="492" name="Shape 492"/>
          <p:cNvSpPr/>
          <p:nvPr/>
        </p:nvSpPr>
        <p:spPr>
          <a:xfrm>
            <a:off x="5526087" y="4724400"/>
            <a:ext cx="417511" cy="446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</a:p>
        </p:txBody>
      </p:sp>
      <p:sp>
        <p:nvSpPr>
          <p:cNvPr id="493" name="Shape 493"/>
          <p:cNvSpPr/>
          <p:nvPr/>
        </p:nvSpPr>
        <p:spPr>
          <a:xfrm>
            <a:off x="6096000" y="4724400"/>
            <a:ext cx="417511" cy="44608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F5</a:t>
            </a:r>
          </a:p>
        </p:txBody>
      </p:sp>
      <p:sp>
        <p:nvSpPr>
          <p:cNvPr id="494" name="Shape 494"/>
          <p:cNvSpPr txBox="1"/>
          <p:nvPr/>
        </p:nvSpPr>
        <p:spPr>
          <a:xfrm>
            <a:off x="6553200" y="5257800"/>
            <a:ext cx="1143000" cy="990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Instantes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Períodos</a:t>
            </a:r>
          </a:p>
        </p:txBody>
      </p:sp>
      <p:sp>
        <p:nvSpPr>
          <p:cNvPr id="495" name="Shape 495"/>
          <p:cNvSpPr txBox="1"/>
          <p:nvPr/>
        </p:nvSpPr>
        <p:spPr>
          <a:xfrm>
            <a:off x="296862" y="1447800"/>
            <a:ext cx="8618536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Algunos ahorristas no están dispuestos a esperar el vencimiento del bono, 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deciden venderlo antes, cobrando el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valor actual (V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momento de la venta.</a:t>
            </a:r>
          </a:p>
        </p:txBody>
      </p:sp>
      <p:sp>
        <p:nvSpPr>
          <p:cNvPr id="496" name="Shape 496"/>
          <p:cNvSpPr txBox="1"/>
          <p:nvPr/>
        </p:nvSpPr>
        <p:spPr>
          <a:xfrm>
            <a:off x="3124200" y="5257800"/>
            <a:ext cx="35813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1        2       3        4        5</a:t>
            </a:r>
          </a:p>
        </p:txBody>
      </p:sp>
      <p:sp>
        <p:nvSpPr>
          <p:cNvPr id="497" name="Shape 497"/>
          <p:cNvSpPr/>
          <p:nvPr/>
        </p:nvSpPr>
        <p:spPr>
          <a:xfrm>
            <a:off x="4916487" y="4149725"/>
            <a:ext cx="417511" cy="57467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p3</a:t>
            </a:r>
          </a:p>
        </p:txBody>
      </p:sp>
      <p:sp>
        <p:nvSpPr>
          <p:cNvPr id="498" name="Shape 498"/>
          <p:cNvSpPr/>
          <p:nvPr/>
        </p:nvSpPr>
        <p:spPr>
          <a:xfrm>
            <a:off x="5257800" y="4419600"/>
            <a:ext cx="533399" cy="304799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Shape 499"/>
          <p:cNvSpPr/>
          <p:nvPr/>
        </p:nvSpPr>
        <p:spPr>
          <a:xfrm>
            <a:off x="5257800" y="4267200"/>
            <a:ext cx="1143000" cy="457200"/>
          </a:xfrm>
          <a:custGeom>
            <a:pathLst>
              <a:path extrusionOk="0" h="120000" w="120000">
                <a:moveTo>
                  <a:pt x="111258" y="120000"/>
                </a:moveTo>
                <a:cubicBezTo>
                  <a:pt x="109668" y="104455"/>
                  <a:pt x="120000" y="46321"/>
                  <a:pt x="101324" y="26424"/>
                </a:cubicBezTo>
                <a:cubicBezTo>
                  <a:pt x="82649" y="6528"/>
                  <a:pt x="21059" y="5595"/>
                  <a:pt x="0" y="0"/>
                </a:cubicBezTo>
              </a:path>
            </a:pathLst>
          </a:custGeom>
          <a:noFill/>
          <a:ln cap="flat" cmpd="sng" w="31750">
            <a:solidFill>
              <a:srgbClr val="008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Shape 5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524000"/>
            <a:ext cx="8626474" cy="51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Shape 5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Shape 5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Shape 507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508" name="Shape 508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Shape 509"/>
          <p:cNvSpPr txBox="1"/>
          <p:nvPr/>
        </p:nvSpPr>
        <p:spPr>
          <a:xfrm>
            <a:off x="452437" y="1600200"/>
            <a:ext cx="862647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Shape 510"/>
          <p:cNvSpPr txBox="1"/>
          <p:nvPr/>
        </p:nvSpPr>
        <p:spPr>
          <a:xfrm>
            <a:off x="334962" y="5262562"/>
            <a:ext cx="8743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Shape 511"/>
          <p:cNvSpPr txBox="1"/>
          <p:nvPr/>
        </p:nvSpPr>
        <p:spPr>
          <a:xfrm>
            <a:off x="304800" y="1524000"/>
            <a:ext cx="8585200" cy="144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 tasa de interés del mercado (i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en el corto plazo es mas alta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el valor</a:t>
            </a: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la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tasa acordada en el bono (i),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ahorristas tratarán de vender el bono y baja </a:t>
            </a: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 cotización de los bonos (V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512" name="Shape 5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237" y="3810000"/>
            <a:ext cx="1096961" cy="822324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Shape 513"/>
          <p:cNvSpPr txBox="1"/>
          <p:nvPr/>
        </p:nvSpPr>
        <p:spPr>
          <a:xfrm>
            <a:off x="533400" y="3048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i</a:t>
            </a:r>
          </a:p>
        </p:txBody>
      </p:sp>
      <p:sp>
        <p:nvSpPr>
          <p:cNvPr id="514" name="Shape 514"/>
          <p:cNvSpPr txBox="1"/>
          <p:nvPr/>
        </p:nvSpPr>
        <p:spPr>
          <a:xfrm>
            <a:off x="6065837" y="3048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pic>
        <p:nvPicPr>
          <p:cNvPr id="515" name="Shape 5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65837" y="3962400"/>
            <a:ext cx="1096961" cy="822324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Shape 516"/>
          <p:cNvSpPr txBox="1"/>
          <p:nvPr/>
        </p:nvSpPr>
        <p:spPr>
          <a:xfrm>
            <a:off x="2819400" y="3276600"/>
            <a:ext cx="2778124" cy="8223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b="1" baseline="-25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r>
              <a:rPr b="1" baseline="30000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(1/( 1+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baseline="3000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517" name="Shape 517"/>
          <p:cNvSpPr txBox="1"/>
          <p:nvPr/>
        </p:nvSpPr>
        <p:spPr>
          <a:xfrm>
            <a:off x="263525" y="4724400"/>
            <a:ext cx="8651875" cy="183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ANALISIS DE CORTO PLAZO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la tasa de interés en el mercado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tiende a bajar, los especuladores preferirán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mantener sus ahorros en forma de dinero líquido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(Me↑)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los ahorristas a conservar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bono, por el contrario si la tendencia se revierte los ahorristas venderán el bono y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especuladores lo compraran a un valor mas bajo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(Me↓)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Shape 5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" y="1408112"/>
            <a:ext cx="8626474" cy="5108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Shape 523"/>
          <p:cNvCxnSpPr/>
          <p:nvPr/>
        </p:nvCxnSpPr>
        <p:spPr>
          <a:xfrm>
            <a:off x="1371600" y="4876800"/>
            <a:ext cx="106679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24" name="Shape 524"/>
          <p:cNvCxnSpPr/>
          <p:nvPr/>
        </p:nvCxnSpPr>
        <p:spPr>
          <a:xfrm>
            <a:off x="1371600" y="4876800"/>
            <a:ext cx="1904999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525" name="Shape 5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Shape 5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Shape 527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528" name="Shape 528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Shape 529"/>
          <p:cNvSpPr txBox="1"/>
          <p:nvPr/>
        </p:nvSpPr>
        <p:spPr>
          <a:xfrm>
            <a:off x="263525" y="1447800"/>
            <a:ext cx="86185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Shape 530"/>
          <p:cNvSpPr txBox="1"/>
          <p:nvPr/>
        </p:nvSpPr>
        <p:spPr>
          <a:xfrm>
            <a:off x="334962" y="5262562"/>
            <a:ext cx="8743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Shape 531"/>
          <p:cNvCxnSpPr/>
          <p:nvPr/>
        </p:nvCxnSpPr>
        <p:spPr>
          <a:xfrm>
            <a:off x="1371600" y="3124200"/>
            <a:ext cx="0" cy="27431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32" name="Shape 532"/>
          <p:cNvCxnSpPr/>
          <p:nvPr/>
        </p:nvCxnSpPr>
        <p:spPr>
          <a:xfrm>
            <a:off x="990600" y="5867400"/>
            <a:ext cx="472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33" name="Shape 533"/>
          <p:cNvSpPr/>
          <p:nvPr/>
        </p:nvSpPr>
        <p:spPr>
          <a:xfrm>
            <a:off x="1725611" y="3473450"/>
            <a:ext cx="3227386" cy="216535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062" y="4838"/>
                  <a:pt x="3010" y="17507"/>
                  <a:pt x="6492" y="29032"/>
                </a:cubicBezTo>
                <a:cubicBezTo>
                  <a:pt x="9975" y="40557"/>
                  <a:pt x="14284" y="58064"/>
                  <a:pt x="21013" y="69325"/>
                </a:cubicBezTo>
                <a:cubicBezTo>
                  <a:pt x="27742" y="80586"/>
                  <a:pt x="37481" y="89824"/>
                  <a:pt x="46984" y="96862"/>
                </a:cubicBezTo>
                <a:cubicBezTo>
                  <a:pt x="56487" y="103900"/>
                  <a:pt x="65814" y="107859"/>
                  <a:pt x="77973" y="111730"/>
                </a:cubicBezTo>
                <a:cubicBezTo>
                  <a:pt x="90132" y="115601"/>
                  <a:pt x="111264" y="118328"/>
                  <a:pt x="120000" y="119999"/>
                </a:cubicBezTo>
              </a:path>
            </a:pathLst>
          </a:custGeom>
          <a:noFill/>
          <a:ln cap="flat" cmpd="sng" w="31750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Shape 534"/>
          <p:cNvSpPr txBox="1"/>
          <p:nvPr/>
        </p:nvSpPr>
        <p:spPr>
          <a:xfrm>
            <a:off x="1066800" y="30480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535" name="Shape 535"/>
          <p:cNvSpPr txBox="1"/>
          <p:nvPr/>
        </p:nvSpPr>
        <p:spPr>
          <a:xfrm>
            <a:off x="4953000" y="5943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</a:p>
        </p:txBody>
      </p:sp>
      <p:sp>
        <p:nvSpPr>
          <p:cNvPr id="536" name="Shape 536"/>
          <p:cNvSpPr txBox="1"/>
          <p:nvPr/>
        </p:nvSpPr>
        <p:spPr>
          <a:xfrm>
            <a:off x="304800" y="1447800"/>
            <a:ext cx="8264524" cy="6413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i↑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					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F( Y, i) ↓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costo de oportunidad de mantener dinero en efectivo es alto</a:t>
            </a:r>
          </a:p>
        </p:txBody>
      </p:sp>
      <p:sp>
        <p:nvSpPr>
          <p:cNvPr id="537" name="Shape 537"/>
          <p:cNvSpPr txBox="1"/>
          <p:nvPr/>
        </p:nvSpPr>
        <p:spPr>
          <a:xfrm>
            <a:off x="269875" y="2133600"/>
            <a:ext cx="8264524" cy="91598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…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Y↑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					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= F( Y, i) ↑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aumento de renta genera mayor ahorro y por lo tanto mayor demanda de dinero para especular.</a:t>
            </a:r>
          </a:p>
        </p:txBody>
      </p:sp>
      <p:cxnSp>
        <p:nvCxnSpPr>
          <p:cNvPr id="538" name="Shape 538"/>
          <p:cNvCxnSpPr/>
          <p:nvPr/>
        </p:nvCxnSpPr>
        <p:spPr>
          <a:xfrm>
            <a:off x="1371600" y="38862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39" name="Shape 539"/>
          <p:cNvCxnSpPr/>
          <p:nvPr/>
        </p:nvCxnSpPr>
        <p:spPr>
          <a:xfrm>
            <a:off x="1828800" y="3886200"/>
            <a:ext cx="0" cy="19811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40" name="Shape 540"/>
          <p:cNvCxnSpPr/>
          <p:nvPr/>
        </p:nvCxnSpPr>
        <p:spPr>
          <a:xfrm>
            <a:off x="2438400" y="4876800"/>
            <a:ext cx="0" cy="9905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41" name="Shape 541"/>
          <p:cNvSpPr/>
          <p:nvPr/>
        </p:nvSpPr>
        <p:spPr>
          <a:xfrm rot="-5400000">
            <a:off x="516731" y="4131467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Shape 542"/>
          <p:cNvSpPr/>
          <p:nvPr/>
        </p:nvSpPr>
        <p:spPr>
          <a:xfrm rot="10800000">
            <a:off x="1881187" y="5970586"/>
            <a:ext cx="557211" cy="27781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Shape 543"/>
          <p:cNvSpPr/>
          <p:nvPr/>
        </p:nvSpPr>
        <p:spPr>
          <a:xfrm rot="-300000">
            <a:off x="2335211" y="3276599"/>
            <a:ext cx="3227386" cy="2165350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062" y="4838"/>
                  <a:pt x="3010" y="17507"/>
                  <a:pt x="6492" y="29032"/>
                </a:cubicBezTo>
                <a:cubicBezTo>
                  <a:pt x="9975" y="40557"/>
                  <a:pt x="14284" y="58064"/>
                  <a:pt x="21013" y="69325"/>
                </a:cubicBezTo>
                <a:cubicBezTo>
                  <a:pt x="27742" y="80586"/>
                  <a:pt x="37481" y="89824"/>
                  <a:pt x="46984" y="96862"/>
                </a:cubicBezTo>
                <a:cubicBezTo>
                  <a:pt x="56487" y="103900"/>
                  <a:pt x="65814" y="107859"/>
                  <a:pt x="77973" y="111730"/>
                </a:cubicBezTo>
                <a:cubicBezTo>
                  <a:pt x="90132" y="115601"/>
                  <a:pt x="111264" y="118328"/>
                  <a:pt x="120000" y="119999"/>
                </a:cubicBez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4" name="Shape 544"/>
          <p:cNvCxnSpPr/>
          <p:nvPr/>
        </p:nvCxnSpPr>
        <p:spPr>
          <a:xfrm>
            <a:off x="3276600" y="4876800"/>
            <a:ext cx="0" cy="990599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45" name="Shape 545"/>
          <p:cNvSpPr txBox="1"/>
          <p:nvPr/>
        </p:nvSpPr>
        <p:spPr>
          <a:xfrm>
            <a:off x="4851400" y="5486400"/>
            <a:ext cx="159543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F( 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i)</a:t>
            </a:r>
          </a:p>
        </p:txBody>
      </p:sp>
      <p:sp>
        <p:nvSpPr>
          <p:cNvPr id="546" name="Shape 546"/>
          <p:cNvSpPr txBox="1"/>
          <p:nvPr/>
        </p:nvSpPr>
        <p:spPr>
          <a:xfrm>
            <a:off x="5592762" y="5119687"/>
            <a:ext cx="159543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F( 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i)</a:t>
            </a:r>
          </a:p>
        </p:txBody>
      </p:sp>
      <p:sp>
        <p:nvSpPr>
          <p:cNvPr id="547" name="Shape 547"/>
          <p:cNvSpPr txBox="1"/>
          <p:nvPr/>
        </p:nvSpPr>
        <p:spPr>
          <a:xfrm>
            <a:off x="7281861" y="5348287"/>
            <a:ext cx="800099" cy="3762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548" name="Shape 548"/>
          <p:cNvSpPr/>
          <p:nvPr/>
        </p:nvSpPr>
        <p:spPr>
          <a:xfrm>
            <a:off x="2566986" y="5970587"/>
            <a:ext cx="557211" cy="27781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Shape 5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62" y="1408112"/>
            <a:ext cx="8626474" cy="510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Shape 5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Shape 5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Shape 556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557" name="Shape 557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Shape 558"/>
          <p:cNvSpPr txBox="1"/>
          <p:nvPr/>
        </p:nvSpPr>
        <p:spPr>
          <a:xfrm>
            <a:off x="263525" y="1447800"/>
            <a:ext cx="86185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Shape 559"/>
          <p:cNvSpPr txBox="1"/>
          <p:nvPr/>
        </p:nvSpPr>
        <p:spPr>
          <a:xfrm>
            <a:off x="334962" y="4876800"/>
            <a:ext cx="862647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TOMA DE GANANCIAS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Baja del precio de los bonos en el mercado generada por la presión de venta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 de un proceso de alza considerable en los precios. </a:t>
            </a:r>
            <a:b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</a:p>
        </p:txBody>
      </p:sp>
      <p:sp>
        <p:nvSpPr>
          <p:cNvPr id="560" name="Shape 560"/>
          <p:cNvSpPr txBox="1"/>
          <p:nvPr/>
        </p:nvSpPr>
        <p:spPr>
          <a:xfrm>
            <a:off x="334962" y="5262562"/>
            <a:ext cx="8743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Shape 5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0" y="2971800"/>
            <a:ext cx="3200399" cy="2290762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Shape 562"/>
          <p:cNvSpPr txBox="1"/>
          <p:nvPr/>
        </p:nvSpPr>
        <p:spPr>
          <a:xfrm>
            <a:off x="304800" y="1447800"/>
            <a:ext cx="862647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ALZA DE PRECIOS EN EL 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el precio del bono tiende al alza, se pone de manifiesto un proceso de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ganancia de capital con la diferencia entre el valor de venta y el compra del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bono. La pregunta del especulador será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¿VENDO O RETENGO EL BONO?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Shape 563"/>
          <p:cNvSpPr txBox="1"/>
          <p:nvPr/>
        </p:nvSpPr>
        <p:spPr>
          <a:xfrm>
            <a:off x="2362200" y="3733800"/>
            <a:ext cx="129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 V</a:t>
            </a: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baseline="-2500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DEBO VENDER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Shape 5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365250"/>
            <a:ext cx="8780462" cy="520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Shape 5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Shape 5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Shape 571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sp>
        <p:nvSpPr>
          <p:cNvPr id="572" name="Shape 572"/>
          <p:cNvSpPr/>
          <p:nvPr/>
        </p:nvSpPr>
        <p:spPr>
          <a:xfrm>
            <a:off x="685800" y="2057400"/>
            <a:ext cx="79247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Shape 573"/>
          <p:cNvSpPr txBox="1"/>
          <p:nvPr/>
        </p:nvSpPr>
        <p:spPr>
          <a:xfrm>
            <a:off x="263525" y="1447800"/>
            <a:ext cx="86185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Shape 574"/>
          <p:cNvSpPr txBox="1"/>
          <p:nvPr/>
        </p:nvSpPr>
        <p:spPr>
          <a:xfrm>
            <a:off x="334962" y="5262562"/>
            <a:ext cx="874394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Shape 575"/>
          <p:cNvSpPr txBox="1"/>
          <p:nvPr/>
        </p:nvSpPr>
        <p:spPr>
          <a:xfrm>
            <a:off x="152400" y="1447800"/>
            <a:ext cx="8815386" cy="5068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BAJA DE PRECIOS EN EL 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la tasa actual de interés del mercado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 sube,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precio del bono tiende 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baja, se pone de manifiesto un proceso de pérdida de capital, la pregunta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especulador será nuevamente: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¿VENDO O RETENGO EL BONO?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RETENER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bono significa que el especulador decidió esperar el vencimiento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 el bono en su poder, entonces recibirá el valor nominal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(VN) 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vencimiento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los intereses pactados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 cada período. La rentabilidad del bono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(TIR)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será la tasa de interés de mercado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</a:t>
            </a:r>
            <a:r>
              <a:rPr b="1" baseline="-25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mc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momento de compra.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VENDER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 bono antes del vencimiento significa que la tasa de interés del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mercado actual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</a:t>
            </a:r>
            <a:r>
              <a:rPr b="1" baseline="-25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mayor que la tasa en el momento de compra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(i</a:t>
            </a:r>
            <a:r>
              <a:rPr b="1" baseline="-25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mc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entonces al especulador le conviene afrontar la pérdida de capital 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</a:t>
            </a:r>
            <a:r>
              <a:rPr b="1" baseline="-25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-V</a:t>
            </a:r>
            <a:r>
              <a:rPr b="1" baseline="-2500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la rentabilidad del capital remanente le devolverá dicha pérdida.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Shape 5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Shape 5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Shape 582"/>
          <p:cNvSpPr txBox="1"/>
          <p:nvPr/>
        </p:nvSpPr>
        <p:spPr>
          <a:xfrm>
            <a:off x="3657600" y="152400"/>
            <a:ext cx="4724400" cy="701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 POR ESPECULACIÓN</a:t>
            </a:r>
          </a:p>
        </p:txBody>
      </p:sp>
      <p:graphicFrame>
        <p:nvGraphicFramePr>
          <p:cNvPr id="583" name="Shape 583"/>
          <p:cNvGraphicFramePr/>
          <p:nvPr/>
        </p:nvGraphicFramePr>
        <p:xfrm>
          <a:off x="381000" y="2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{0D82D775-F374-4633-A62F-CF6DD71B05C8}</a:tableStyleId>
              </a:tblPr>
              <a:tblGrid>
                <a:gridCol w="801675"/>
                <a:gridCol w="935025"/>
                <a:gridCol w="1295400"/>
                <a:gridCol w="695325"/>
                <a:gridCol w="762000"/>
                <a:gridCol w="1225550"/>
                <a:gridCol w="774700"/>
                <a:gridCol w="1533525"/>
              </a:tblGrid>
              <a:tr h="3952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 Capital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Instante 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Presente (i)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Instante 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(1+i)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(1+i)</a:t>
                      </a:r>
                      <a:r>
                        <a:rPr b="1" baseline="3000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Fututro (i)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Instante 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Δ Capital 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Instante 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984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-12,41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$ 87,59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1,110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1,52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$ 132,97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$ 1,89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E INVERTIR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OTRO BONO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-9,51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$ 90,49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1,46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$ 132,49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$ 1,41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E INVERTIR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OTRO BONO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-6,48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$ 93,52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1,090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$ 132,01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$ 0,93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E INVERTIR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OTRO BONO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-3,31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$ 96,69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1,080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1,36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$ 131,54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$ 0,46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E INVERTIR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 OTRO BONO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032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$ 0,00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$ 100,00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1,070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$ 131,08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$ 0,00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RETENER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$ 3,47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$ 103,47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1,060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1,26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$ 130,62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-0,46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Y MANTENER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EFECTIVO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$ 7,09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$ 107,09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1,050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1,22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$ 130,17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-0,91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Y MANTENER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EFECTIVO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$ 10,89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$ 110,89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1,040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$ 129,73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-1,35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Y MANTENER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EFECTIVO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$ 14,87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$ 114,87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1,030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1,13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$ 129,29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-1,79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Y MANTENER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EFECTIVO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  <a:tr h="3349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2,0%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$ 19,04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$ 119,04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1,020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1,08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$ 128,85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-2,23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VENDER Y MANTENER </a:t>
                      </a: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EFECTIVO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4" name="Shape 584"/>
          <p:cNvGraphicFramePr/>
          <p:nvPr/>
        </p:nvGraphicFramePr>
        <p:xfrm>
          <a:off x="3810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{0D82D775-F374-4633-A62F-CF6DD71B05C8}</a:tableStyleId>
              </a:tblPr>
              <a:tblGrid>
                <a:gridCol w="582600"/>
                <a:gridCol w="749300"/>
                <a:gridCol w="798500"/>
              </a:tblGrid>
              <a:tr h="3952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Instante 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flujo de caja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flujo de caja neto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-100,00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-100,00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-93,00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-86,00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-79,00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  <a:tr h="2428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107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$ 28,00</a:t>
                      </a:r>
                    </a:p>
                  </a:txBody>
                  <a:tcPr marT="0" marB="0" marR="0" marL="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FF9900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85" name="Shape 585"/>
          <p:cNvSpPr txBox="1"/>
          <p:nvPr/>
        </p:nvSpPr>
        <p:spPr>
          <a:xfrm>
            <a:off x="2819400" y="1295400"/>
            <a:ext cx="5791200" cy="16446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Tasa de interés (i)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Valor presente del bono (Vpi)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VENDE Y COMPRA OTRO BONO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Tasa de interés (i)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Valor presente del bono (Vpi)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VENDE, TOMA GANANCIA Y MANTIENE EFECTIVO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0" name="Shape 590"/>
          <p:cNvCxnSpPr/>
          <p:nvPr/>
        </p:nvCxnSpPr>
        <p:spPr>
          <a:xfrm>
            <a:off x="838200" y="5334000"/>
            <a:ext cx="2895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pic>
        <p:nvPicPr>
          <p:cNvPr id="591" name="Shape 5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Shape 5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Shape 593"/>
          <p:cNvSpPr txBox="1"/>
          <p:nvPr/>
        </p:nvSpPr>
        <p:spPr>
          <a:xfrm>
            <a:off x="3733800" y="152400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</a:t>
            </a:r>
          </a:p>
        </p:txBody>
      </p:sp>
      <p:sp>
        <p:nvSpPr>
          <p:cNvPr id="594" name="Shape 594"/>
          <p:cNvSpPr txBox="1"/>
          <p:nvPr/>
        </p:nvSpPr>
        <p:spPr>
          <a:xfrm>
            <a:off x="263525" y="1295400"/>
            <a:ext cx="861059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La demanda de dinero será entonces una función inversa de la tasa o tipo de interés (i) y un función directa de la renta monetaria (Y), con parámetros relacionados como son el período de pago de rentas (d), el costo para entrar y salir del sistema financiero (C), las expectativas buenas o malas sobre la evolución de las rentas y los gastos (Exp.)</a:t>
            </a:r>
          </a:p>
        </p:txBody>
      </p:sp>
      <p:cxnSp>
        <p:nvCxnSpPr>
          <p:cNvPr id="595" name="Shape 595"/>
          <p:cNvCxnSpPr/>
          <p:nvPr/>
        </p:nvCxnSpPr>
        <p:spPr>
          <a:xfrm rot="10800000">
            <a:off x="838200" y="3397249"/>
            <a:ext cx="0" cy="2927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596" name="Shape 596"/>
          <p:cNvCxnSpPr/>
          <p:nvPr/>
        </p:nvCxnSpPr>
        <p:spPr>
          <a:xfrm>
            <a:off x="533400" y="6324600"/>
            <a:ext cx="541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597" name="Shape 597"/>
          <p:cNvSpPr txBox="1"/>
          <p:nvPr/>
        </p:nvSpPr>
        <p:spPr>
          <a:xfrm>
            <a:off x="533400" y="32766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</a:p>
        </p:txBody>
      </p:sp>
      <p:sp>
        <p:nvSpPr>
          <p:cNvPr id="598" name="Shape 598"/>
          <p:cNvSpPr txBox="1"/>
          <p:nvPr/>
        </p:nvSpPr>
        <p:spPr>
          <a:xfrm>
            <a:off x="4495800" y="6324600"/>
            <a:ext cx="1904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= (M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dt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+ 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dp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+ 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599" name="Shape 599"/>
          <p:cNvSpPr/>
          <p:nvPr/>
        </p:nvSpPr>
        <p:spPr>
          <a:xfrm>
            <a:off x="1089025" y="3563937"/>
            <a:ext cx="3330575" cy="2303461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258" y="5458"/>
                  <a:pt x="3946" y="21833"/>
                  <a:pt x="8236" y="33576"/>
                </a:cubicBezTo>
                <a:cubicBezTo>
                  <a:pt x="12526" y="45320"/>
                  <a:pt x="18474" y="59958"/>
                  <a:pt x="25681" y="70709"/>
                </a:cubicBezTo>
                <a:cubicBezTo>
                  <a:pt x="32888" y="81461"/>
                  <a:pt x="42440" y="91137"/>
                  <a:pt x="51363" y="98084"/>
                </a:cubicBezTo>
                <a:cubicBezTo>
                  <a:pt x="60285" y="105031"/>
                  <a:pt x="67836" y="108587"/>
                  <a:pt x="79275" y="112226"/>
                </a:cubicBezTo>
                <a:cubicBezTo>
                  <a:pt x="90714" y="115864"/>
                  <a:pt x="111534" y="118428"/>
                  <a:pt x="120000" y="120000"/>
                </a:cubicBezTo>
              </a:path>
            </a:pathLst>
          </a:custGeom>
          <a:noFill/>
          <a:ln cap="flat" cmpd="sng" w="31750">
            <a:solidFill>
              <a:srgbClr val="00008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Shape 600"/>
          <p:cNvSpPr/>
          <p:nvPr/>
        </p:nvSpPr>
        <p:spPr>
          <a:xfrm>
            <a:off x="1600200" y="3603625"/>
            <a:ext cx="3530599" cy="1814512"/>
          </a:xfrm>
          <a:custGeom>
            <a:pathLst>
              <a:path extrusionOk="0" h="120000" w="120000">
                <a:moveTo>
                  <a:pt x="0" y="0"/>
                </a:moveTo>
                <a:cubicBezTo>
                  <a:pt x="1456" y="5459"/>
                  <a:pt x="4154" y="20472"/>
                  <a:pt x="8687" y="32965"/>
                </a:cubicBezTo>
                <a:cubicBezTo>
                  <a:pt x="13219" y="45459"/>
                  <a:pt x="19856" y="63202"/>
                  <a:pt x="27140" y="74960"/>
                </a:cubicBezTo>
                <a:cubicBezTo>
                  <a:pt x="34424" y="86719"/>
                  <a:pt x="43219" y="96797"/>
                  <a:pt x="52284" y="103727"/>
                </a:cubicBezTo>
                <a:cubicBezTo>
                  <a:pt x="61294" y="110656"/>
                  <a:pt x="69982" y="113910"/>
                  <a:pt x="81258" y="116640"/>
                </a:cubicBezTo>
                <a:cubicBezTo>
                  <a:pt x="92535" y="119370"/>
                  <a:pt x="111960" y="119370"/>
                  <a:pt x="120000" y="120000"/>
                </a:cubicBezTo>
              </a:path>
            </a:pathLst>
          </a:custGeom>
          <a:noFill/>
          <a:ln cap="flat" cmpd="sng" w="31750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Shape 601"/>
          <p:cNvSpPr txBox="1"/>
          <p:nvPr/>
        </p:nvSpPr>
        <p:spPr>
          <a:xfrm>
            <a:off x="4546600" y="5729287"/>
            <a:ext cx="159543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baseline="30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F( Y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i)</a:t>
            </a:r>
          </a:p>
        </p:txBody>
      </p:sp>
      <p:sp>
        <p:nvSpPr>
          <p:cNvPr id="602" name="Shape 602"/>
          <p:cNvSpPr txBox="1"/>
          <p:nvPr/>
        </p:nvSpPr>
        <p:spPr>
          <a:xfrm>
            <a:off x="5076825" y="5272087"/>
            <a:ext cx="159543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baseline="30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= F( 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i)</a:t>
            </a:r>
          </a:p>
        </p:txBody>
      </p:sp>
      <p:sp>
        <p:nvSpPr>
          <p:cNvPr id="603" name="Shape 603"/>
          <p:cNvSpPr txBox="1"/>
          <p:nvPr/>
        </p:nvSpPr>
        <p:spPr>
          <a:xfrm>
            <a:off x="7281861" y="5348287"/>
            <a:ext cx="800099" cy="3762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&gt;Y</a:t>
            </a:r>
            <a:r>
              <a:rPr b="1" baseline="-25000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cxnSp>
        <p:nvCxnSpPr>
          <p:cNvPr id="604" name="Shape 604"/>
          <p:cNvCxnSpPr/>
          <p:nvPr/>
        </p:nvCxnSpPr>
        <p:spPr>
          <a:xfrm>
            <a:off x="838200" y="4191000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05" name="Shape 605"/>
          <p:cNvSpPr/>
          <p:nvPr/>
        </p:nvSpPr>
        <p:spPr>
          <a:xfrm rot="-5400000">
            <a:off x="59531" y="4512467"/>
            <a:ext cx="976312" cy="485775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Shape 606"/>
          <p:cNvSpPr txBox="1"/>
          <p:nvPr/>
        </p:nvSpPr>
        <p:spPr>
          <a:xfrm>
            <a:off x="685800" y="5105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</a:p>
        </p:txBody>
      </p:sp>
      <p:sp>
        <p:nvSpPr>
          <p:cNvPr id="607" name="Shape 607"/>
          <p:cNvSpPr txBox="1"/>
          <p:nvPr/>
        </p:nvSpPr>
        <p:spPr>
          <a:xfrm>
            <a:off x="685800" y="3962400"/>
            <a:ext cx="22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i´</a:t>
            </a:r>
          </a:p>
        </p:txBody>
      </p:sp>
      <p:sp>
        <p:nvSpPr>
          <p:cNvPr id="608" name="Shape 608"/>
          <p:cNvSpPr/>
          <p:nvPr/>
        </p:nvSpPr>
        <p:spPr>
          <a:xfrm rot="10800000">
            <a:off x="1447799" y="5970586"/>
            <a:ext cx="557211" cy="27781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Shape 609"/>
          <p:cNvCxnSpPr/>
          <p:nvPr/>
        </p:nvCxnSpPr>
        <p:spPr>
          <a:xfrm>
            <a:off x="1295400" y="4205287"/>
            <a:ext cx="0" cy="2133599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cxnSp>
        <p:nvCxnSpPr>
          <p:cNvPr id="610" name="Shape 610"/>
          <p:cNvCxnSpPr/>
          <p:nvPr/>
        </p:nvCxnSpPr>
        <p:spPr>
          <a:xfrm>
            <a:off x="2286000" y="5334000"/>
            <a:ext cx="0" cy="990599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11" name="Shape 611"/>
          <p:cNvSpPr txBox="1"/>
          <p:nvPr/>
        </p:nvSpPr>
        <p:spPr>
          <a:xfrm>
            <a:off x="1905000" y="6248400"/>
            <a:ext cx="53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sp>
        <p:nvSpPr>
          <p:cNvPr id="612" name="Shape 612"/>
          <p:cNvSpPr txBox="1"/>
          <p:nvPr/>
        </p:nvSpPr>
        <p:spPr>
          <a:xfrm>
            <a:off x="1066800" y="6248400"/>
            <a:ext cx="53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M´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cxnSp>
        <p:nvCxnSpPr>
          <p:cNvPr id="613" name="Shape 613"/>
          <p:cNvCxnSpPr/>
          <p:nvPr/>
        </p:nvCxnSpPr>
        <p:spPr>
          <a:xfrm>
            <a:off x="3733800" y="5334000"/>
            <a:ext cx="0" cy="99059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</p:cxnSp>
      <p:sp>
        <p:nvSpPr>
          <p:cNvPr id="614" name="Shape 614"/>
          <p:cNvSpPr/>
          <p:nvPr/>
        </p:nvSpPr>
        <p:spPr>
          <a:xfrm>
            <a:off x="2566986" y="5970587"/>
            <a:ext cx="557211" cy="277811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Shape 615"/>
          <p:cNvSpPr txBox="1"/>
          <p:nvPr/>
        </p:nvSpPr>
        <p:spPr>
          <a:xfrm>
            <a:off x="3429000" y="6248400"/>
            <a:ext cx="5333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M´´</a:t>
            </a:r>
            <a:r>
              <a:rPr b="1" baseline="-25000" i="0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</a:p>
        </p:txBody>
      </p:sp>
      <p:cxnSp>
        <p:nvCxnSpPr>
          <p:cNvPr id="616" name="Shape 616"/>
          <p:cNvCxnSpPr/>
          <p:nvPr/>
        </p:nvCxnSpPr>
        <p:spPr>
          <a:xfrm>
            <a:off x="838200" y="5334000"/>
            <a:ext cx="14478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Shape 6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Shape 6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Shape 623"/>
          <p:cNvSpPr txBox="1"/>
          <p:nvPr/>
        </p:nvSpPr>
        <p:spPr>
          <a:xfrm>
            <a:off x="4038600" y="76200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DINERO</a:t>
            </a:r>
            <a:b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(EXCEPCIÓN)</a:t>
            </a:r>
          </a:p>
        </p:txBody>
      </p:sp>
      <p:grpSp>
        <p:nvGrpSpPr>
          <p:cNvPr id="624" name="Shape 624"/>
          <p:cNvGrpSpPr/>
          <p:nvPr/>
        </p:nvGrpSpPr>
        <p:grpSpPr>
          <a:xfrm>
            <a:off x="1920181" y="3200400"/>
            <a:ext cx="5052344" cy="2983230"/>
            <a:chOff x="2571750" y="14077950"/>
            <a:chExt cx="14038261" cy="8286750"/>
          </a:xfrm>
        </p:grpSpPr>
        <p:cxnSp>
          <p:nvCxnSpPr>
            <p:cNvPr id="625" name="Shape 625"/>
            <p:cNvCxnSpPr/>
            <p:nvPr/>
          </p:nvCxnSpPr>
          <p:spPr>
            <a:xfrm flipH="1" rot="10800000">
              <a:off x="4000500" y="15220950"/>
              <a:ext cx="1587" cy="628649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cxnSp>
          <p:nvCxnSpPr>
            <p:cNvPr id="626" name="Shape 626"/>
            <p:cNvCxnSpPr/>
            <p:nvPr/>
          </p:nvCxnSpPr>
          <p:spPr>
            <a:xfrm>
              <a:off x="4000500" y="21507450"/>
              <a:ext cx="9715500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lg" w="lg" type="triangle"/>
            </a:ln>
          </p:spPr>
        </p:cxnSp>
        <p:sp>
          <p:nvSpPr>
            <p:cNvPr id="627" name="Shape 627"/>
            <p:cNvSpPr/>
            <p:nvPr/>
          </p:nvSpPr>
          <p:spPr>
            <a:xfrm>
              <a:off x="4738687" y="15216187"/>
              <a:ext cx="8572500" cy="5443537"/>
            </a:xfrm>
            <a:custGeom>
              <a:pathLst>
                <a:path extrusionOk="0" h="120000" w="120000">
                  <a:moveTo>
                    <a:pt x="0" y="0"/>
                  </a:moveTo>
                  <a:cubicBezTo>
                    <a:pt x="333" y="3849"/>
                    <a:pt x="1066" y="13823"/>
                    <a:pt x="2333" y="23097"/>
                  </a:cubicBezTo>
                  <a:cubicBezTo>
                    <a:pt x="3600" y="32370"/>
                    <a:pt x="5333" y="45774"/>
                    <a:pt x="7666" y="55643"/>
                  </a:cubicBezTo>
                  <a:cubicBezTo>
                    <a:pt x="10000" y="65511"/>
                    <a:pt x="12666" y="74855"/>
                    <a:pt x="16333" y="82414"/>
                  </a:cubicBezTo>
                  <a:cubicBezTo>
                    <a:pt x="20000" y="89973"/>
                    <a:pt x="24155" y="95643"/>
                    <a:pt x="29666" y="100927"/>
                  </a:cubicBezTo>
                  <a:cubicBezTo>
                    <a:pt x="35177" y="106211"/>
                    <a:pt x="43000" y="111216"/>
                    <a:pt x="49333" y="114225"/>
                  </a:cubicBezTo>
                  <a:cubicBezTo>
                    <a:pt x="55666" y="117235"/>
                    <a:pt x="60222" y="118075"/>
                    <a:pt x="67666" y="118950"/>
                  </a:cubicBezTo>
                  <a:cubicBezTo>
                    <a:pt x="75111" y="119825"/>
                    <a:pt x="85288" y="119300"/>
                    <a:pt x="94000" y="119475"/>
                  </a:cubicBezTo>
                  <a:cubicBezTo>
                    <a:pt x="102711" y="119650"/>
                    <a:pt x="114577" y="119895"/>
                    <a:pt x="120000" y="120000"/>
                  </a:cubicBezTo>
                </a:path>
              </a:pathLst>
            </a:custGeom>
            <a:noFill/>
            <a:ln cap="flat" cmpd="sng" w="25400">
              <a:solidFill>
                <a:srgbClr val="0000FF"/>
              </a:solidFill>
              <a:prstDash val="solid"/>
              <a:miter/>
              <a:headEnd len="med" w="med" type="none"/>
              <a:tailEnd len="med" w="med" type="none"/>
            </a:ln>
          </p:spPr>
          <p:txBody>
            <a:bodyPr anchorCtr="0" anchor="t" bIns="45700" lIns="91425" rIns="91425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28" name="Shape 628"/>
            <p:cNvCxnSpPr/>
            <p:nvPr/>
          </p:nvCxnSpPr>
          <p:spPr>
            <a:xfrm flipH="1">
              <a:off x="4000499" y="20650200"/>
              <a:ext cx="9144000" cy="1587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629" name="Shape 629"/>
            <p:cNvCxnSpPr/>
            <p:nvPr/>
          </p:nvCxnSpPr>
          <p:spPr>
            <a:xfrm>
              <a:off x="10001250" y="20650200"/>
              <a:ext cx="1587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cxnSp>
          <p:nvCxnSpPr>
            <p:cNvPr id="630" name="Shape 630"/>
            <p:cNvCxnSpPr/>
            <p:nvPr/>
          </p:nvCxnSpPr>
          <p:spPr>
            <a:xfrm>
              <a:off x="12287250" y="20650200"/>
              <a:ext cx="1587" cy="8572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/>
              <a:headEnd len="med" w="med" type="none"/>
              <a:tailEnd len="med" w="med" type="none"/>
            </a:ln>
          </p:spPr>
        </p:cxnSp>
        <p:sp>
          <p:nvSpPr>
            <p:cNvPr id="631" name="Shape 631"/>
            <p:cNvSpPr txBox="1"/>
            <p:nvPr/>
          </p:nvSpPr>
          <p:spPr>
            <a:xfrm>
              <a:off x="14001750" y="21221700"/>
              <a:ext cx="2608261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Demanda Monetaria</a:t>
              </a:r>
            </a:p>
          </p:txBody>
        </p:sp>
        <p:sp>
          <p:nvSpPr>
            <p:cNvPr id="632" name="Shape 632"/>
            <p:cNvSpPr txBox="1"/>
            <p:nvPr/>
          </p:nvSpPr>
          <p:spPr>
            <a:xfrm>
              <a:off x="2571750" y="14077950"/>
              <a:ext cx="2571749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Tipo (tasa) de interés</a:t>
              </a:r>
            </a:p>
          </p:txBody>
        </p:sp>
        <p:sp>
          <p:nvSpPr>
            <p:cNvPr id="633" name="Shape 633"/>
            <p:cNvSpPr txBox="1"/>
            <p:nvPr/>
          </p:nvSpPr>
          <p:spPr>
            <a:xfrm>
              <a:off x="7715250" y="18935700"/>
              <a:ext cx="3429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1" baseline="-2500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 </a:t>
              </a: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 F (Y; i)</a:t>
              </a:r>
            </a:p>
          </p:txBody>
        </p:sp>
        <p:sp>
          <p:nvSpPr>
            <p:cNvPr id="634" name="Shape 634"/>
            <p:cNvSpPr txBox="1"/>
            <p:nvPr/>
          </p:nvSpPr>
          <p:spPr>
            <a:xfrm>
              <a:off x="9429750" y="21507450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r>
                <a:rPr b="1" baseline="-2500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</a:p>
          </p:txBody>
        </p:sp>
        <p:sp>
          <p:nvSpPr>
            <p:cNvPr id="635" name="Shape 635"/>
            <p:cNvSpPr txBox="1"/>
            <p:nvPr/>
          </p:nvSpPr>
          <p:spPr>
            <a:xfrm>
              <a:off x="3429000" y="20364450"/>
              <a:ext cx="85725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</a:p>
          </p:txBody>
        </p:sp>
        <p:sp>
          <p:nvSpPr>
            <p:cNvPr id="636" name="Shape 636"/>
            <p:cNvSpPr txBox="1"/>
            <p:nvPr/>
          </p:nvSpPr>
          <p:spPr>
            <a:xfrm>
              <a:off x="7715250" y="15506700"/>
              <a:ext cx="371475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Trampa de liquidez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Md &lt; M’d</a:t>
              </a: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  i  = i</a:t>
              </a:r>
            </a:p>
          </p:txBody>
        </p:sp>
        <p:sp>
          <p:nvSpPr>
            <p:cNvPr id="637" name="Shape 637"/>
            <p:cNvSpPr txBox="1"/>
            <p:nvPr/>
          </p:nvSpPr>
          <p:spPr>
            <a:xfrm>
              <a:off x="11715750" y="21507450"/>
              <a:ext cx="1143000" cy="857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1125" lIns="82275" rIns="82275" tIns="4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ct val="25000"/>
                <a:buFont typeface="Arial"/>
                <a:buNone/>
              </a:pPr>
              <a:r>
                <a:rPr b="1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M’</a:t>
              </a:r>
              <a:r>
                <a:rPr b="1" baseline="-25000" i="0" lang="en-US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</a:p>
          </p:txBody>
        </p:sp>
      </p:grpSp>
      <p:sp>
        <p:nvSpPr>
          <p:cNvPr id="638" name="Shape 638"/>
          <p:cNvSpPr txBox="1"/>
          <p:nvPr/>
        </p:nvSpPr>
        <p:spPr>
          <a:xfrm>
            <a:off x="152400" y="1371600"/>
            <a:ext cx="8651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TRAMPA DE LIQUIDEZ</a:t>
            </a:r>
            <a:br>
              <a:rPr b="1" i="0" lang="en-US" sz="20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Todos los especuladores deciden mantener sus ahorros en forma de dinero a la espera que la tasa de interés vuelva a subir y por lo tanto, en esa circunstancia concreta, la tasa de interés no bajará.</a:t>
            </a:r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Shape 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25" y="1085850"/>
            <a:ext cx="8610599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Shape 6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525" y="304800"/>
            <a:ext cx="3013074" cy="608011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Shape 645"/>
          <p:cNvSpPr txBox="1"/>
          <p:nvPr/>
        </p:nvSpPr>
        <p:spPr>
          <a:xfrm>
            <a:off x="4038600" y="76200"/>
            <a:ext cx="472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DEMANDA DE  DINERO</a:t>
            </a:r>
            <a:b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NOMINAL Y REAL</a:t>
            </a:r>
          </a:p>
        </p:txBody>
      </p:sp>
      <p:sp>
        <p:nvSpPr>
          <p:cNvPr id="646" name="Shape 646"/>
          <p:cNvSpPr txBox="1"/>
          <p:nvPr/>
        </p:nvSpPr>
        <p:spPr>
          <a:xfrm>
            <a:off x="263525" y="1384300"/>
            <a:ext cx="8880475" cy="4757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 Demanda Nominal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Cantidad de dinero que desean los demandantes.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Md (Nominal)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La Demanda Real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4F59"/>
              </a:buClr>
              <a:buSzPct val="25000"/>
              <a:buFont typeface="Arial"/>
              <a:buNone/>
            </a:pPr>
            <a:r>
              <a:rPr b="1" i="1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Cantidad de bienes que pueden comprarse con el dinero que desean los demandantes, es decir </a:t>
            </a:r>
            <a:r>
              <a:rPr b="1" i="1" lang="en-US" sz="1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Md</a:t>
            </a:r>
            <a:r>
              <a:rPr b="1" i="1" lang="en-US" sz="1800" u="none" cap="none" strike="noStrike">
                <a:solidFill>
                  <a:srgbClr val="BB4F59"/>
                </a:solidFill>
                <a:latin typeface="Arial"/>
                <a:ea typeface="Arial"/>
                <a:cs typeface="Arial"/>
                <a:sym typeface="Arial"/>
              </a:rPr>
              <a:t> divida por el índice general de precios (NP).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Arial"/>
              <a:buNone/>
            </a:pPr>
            <a:r>
              <a:rPr b="1" i="1" lang="en-US" sz="20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Md (real) = Md (nominal)/ Nivel de precios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7" name="Shape 6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4876800"/>
            <a:ext cx="1971675" cy="1304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Shape 6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38800" y="4433887"/>
            <a:ext cx="2044699" cy="1998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