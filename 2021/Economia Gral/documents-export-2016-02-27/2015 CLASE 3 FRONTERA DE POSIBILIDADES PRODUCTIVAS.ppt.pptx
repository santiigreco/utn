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autoCompressPictures="0" embedTrueTypeFonts="1" strictFirstAndLastChars="0" saveSubsetFonts="1">
  <p:sldMasterIdLst>
    <p:sldMasterId id="2147483652"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Lst>
  <p:sldSz cy="6858000" cx="9144000"/>
  <p:notesSz cx="6858000" cy="9774225"/>
  <p:embeddedFontLst>
    <p:embeddedFont>
      <p:font typeface="Tahoma"/>
      <p:regular r:id="rId35"/>
      <p:bold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Tahoma-regular.fntdata"/><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14" Type="http://schemas.openxmlformats.org/officeDocument/2006/relationships/slide" Target="slides/slide10.xml"/><Relationship Id="rId36" Type="http://schemas.openxmlformats.org/officeDocument/2006/relationships/font" Target="fonts/Tahoma-bold.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rgbClr val="000000"/>
        </a:solidFill>
      </p:bgPr>
    </p:bg>
    <p:spTree>
      <p:nvGrpSpPr>
        <p:cNvPr id="2" name="Shape 2"/>
        <p:cNvGrpSpPr/>
        <p:nvPr/>
      </p:nvGrpSpPr>
      <p:grpSpPr>
        <a:xfrm>
          <a:off x="0" y="0"/>
          <a:ext cx="0" cy="0"/>
          <a:chOff x="0" y="0"/>
          <a:chExt cx="0" cy="0"/>
        </a:xfrm>
      </p:grpSpPr>
      <p:sp>
        <p:nvSpPr>
          <p:cNvPr id="3" name="Shape 3"/>
          <p:cNvSpPr txBox="1"/>
          <p:nvPr>
            <p:ph idx="2" type="hdr"/>
          </p:nvPr>
        </p:nvSpPr>
        <p:spPr>
          <a:xfrm>
            <a:off x="0" y="0"/>
            <a:ext cx="2971799" cy="488949"/>
          </a:xfrm>
          <a:prstGeom prst="rect">
            <a:avLst/>
          </a:prstGeom>
          <a:noFill/>
          <a:ln>
            <a:noFill/>
          </a:ln>
        </p:spPr>
        <p:txBody>
          <a:bodyPr anchorCtr="0" anchor="t"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4" name="Shape 4"/>
          <p:cNvSpPr txBox="1"/>
          <p:nvPr>
            <p:ph idx="10" type="dt"/>
          </p:nvPr>
        </p:nvSpPr>
        <p:spPr>
          <a:xfrm>
            <a:off x="3886200" y="0"/>
            <a:ext cx="2971799" cy="488949"/>
          </a:xfrm>
          <a:prstGeom prst="rect">
            <a:avLst/>
          </a:prstGeom>
          <a:noFill/>
          <a:ln>
            <a:noFill/>
          </a:ln>
        </p:spPr>
        <p:txBody>
          <a:bodyPr anchorCtr="0" anchor="t" bIns="91425" lIns="91425" rIns="91425" tIns="91425"/>
          <a:lstStyle>
            <a:lvl1pPr indent="0" lvl="0" marL="0" marR="0" rtl="0" algn="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5" name="Shape 5"/>
          <p:cNvSpPr/>
          <p:nvPr>
            <p:ph idx="3"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a:solidFill>
            <a:srgbClr val="FFFFFF"/>
          </a:solidFill>
          <a:ln cap="flat" cmpd="sng" w="9525">
            <a:solidFill>
              <a:srgbClr val="000000"/>
            </a:solidFill>
            <a:prstDash val="solid"/>
            <a:miter/>
            <a:headEnd len="med" w="med" type="none"/>
            <a:tailEnd len="med" w="med" type="none"/>
          </a:ln>
        </p:spPr>
      </p:sp>
      <p:sp>
        <p:nvSpPr>
          <p:cNvPr id="6" name="Shape 6"/>
          <p:cNvSpPr txBox="1"/>
          <p:nvPr>
            <p:ph idx="1" type="body"/>
          </p:nvPr>
        </p:nvSpPr>
        <p:spPr>
          <a:xfrm>
            <a:off x="914400" y="4643437"/>
            <a:ext cx="5029199" cy="4397375"/>
          </a:xfrm>
          <a:prstGeom prst="rect">
            <a:avLst/>
          </a:prstGeom>
          <a:noFill/>
          <a:ln>
            <a:noFill/>
          </a:ln>
        </p:spPr>
        <p:txBody>
          <a:bodyPr anchorCtr="0" anchor="ctr" bIns="91425" lIns="91425" rIns="91425" tIns="91425"/>
          <a:lstStyle>
            <a:lvl1pPr lvl="0">
              <a:spcBef>
                <a:spcPts val="0"/>
              </a:spcBef>
              <a:defRPr/>
            </a:lvl1pPr>
            <a:lvl2pPr lvl="1">
              <a:spcBef>
                <a:spcPts val="0"/>
              </a:spcBef>
              <a:defRPr/>
            </a:lvl2pPr>
            <a:lvl3pPr lvl="2">
              <a:spcBef>
                <a:spcPts val="0"/>
              </a:spcBef>
              <a:defRPr/>
            </a:lvl3pPr>
            <a:lvl4pPr lvl="3">
              <a:spcBef>
                <a:spcPts val="0"/>
              </a:spcBef>
              <a:defRPr/>
            </a:lvl4pPr>
            <a:lvl5pPr lvl="4">
              <a:spcBef>
                <a:spcPts val="0"/>
              </a:spcBef>
              <a:defRPr/>
            </a:lvl5pPr>
            <a:lvl6pPr lvl="5">
              <a:spcBef>
                <a:spcPts val="0"/>
              </a:spcBef>
              <a:defRPr/>
            </a:lvl6pPr>
            <a:lvl7pPr lvl="6">
              <a:spcBef>
                <a:spcPts val="0"/>
              </a:spcBef>
              <a:defRPr/>
            </a:lvl7pPr>
            <a:lvl8pPr lvl="7">
              <a:spcBef>
                <a:spcPts val="0"/>
              </a:spcBef>
              <a:defRPr/>
            </a:lvl8pPr>
            <a:lvl9pPr lvl="8">
              <a:spcBef>
                <a:spcPts val="0"/>
              </a:spcBef>
              <a:defRPr/>
            </a:lvl9pPr>
          </a:lstStyle>
          <a:p/>
        </p:txBody>
      </p:sp>
      <p:sp>
        <p:nvSpPr>
          <p:cNvPr id="7" name="Shape 7"/>
          <p:cNvSpPr txBox="1"/>
          <p:nvPr>
            <p:ph idx="11" type="ftr"/>
          </p:nvPr>
        </p:nvSpPr>
        <p:spPr>
          <a:xfrm>
            <a:off x="0" y="9285286"/>
            <a:ext cx="2971799" cy="488949"/>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8" name="Shape 8"/>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Clr>
                <a:srgbClr val="000000"/>
              </a:buClr>
              <a:buSzPct val="250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9" name="Shape 39"/>
        <p:cNvGrpSpPr/>
        <p:nvPr/>
      </p:nvGrpSpPr>
      <p:grpSpPr>
        <a:xfrm>
          <a:off x="0" y="0"/>
          <a:ext cx="0" cy="0"/>
          <a:chOff x="0" y="0"/>
          <a:chExt cx="0" cy="0"/>
        </a:xfrm>
      </p:grpSpPr>
      <p:sp>
        <p:nvSpPr>
          <p:cNvPr id="40" name="Shape 40"/>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41" name="Shape 41"/>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46" name="Shape 46"/>
        <p:cNvGrpSpPr/>
        <p:nvPr/>
      </p:nvGrpSpPr>
      <p:grpSpPr>
        <a:xfrm>
          <a:off x="0" y="0"/>
          <a:ext cx="0" cy="0"/>
          <a:chOff x="0" y="0"/>
          <a:chExt cx="0" cy="0"/>
        </a:xfrm>
      </p:grpSpPr>
      <p:sp>
        <p:nvSpPr>
          <p:cNvPr id="47" name="Shape 47"/>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48" name="Shape 48"/>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49" name="Shape 49"/>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53" name="Shape 53"/>
        <p:cNvGrpSpPr/>
        <p:nvPr/>
      </p:nvGrpSpPr>
      <p:grpSpPr>
        <a:xfrm>
          <a:off x="0" y="0"/>
          <a:ext cx="0" cy="0"/>
          <a:chOff x="0" y="0"/>
          <a:chExt cx="0" cy="0"/>
        </a:xfrm>
      </p:grpSpPr>
      <p:sp>
        <p:nvSpPr>
          <p:cNvPr id="54" name="Shape 54"/>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55" name="Shape 55"/>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56" name="Shape 56"/>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0" name="Shape 60"/>
        <p:cNvGrpSpPr/>
        <p:nvPr/>
      </p:nvGrpSpPr>
      <p:grpSpPr>
        <a:xfrm>
          <a:off x="0" y="0"/>
          <a:ext cx="0" cy="0"/>
          <a:chOff x="0" y="0"/>
          <a:chExt cx="0" cy="0"/>
        </a:xfrm>
      </p:grpSpPr>
      <p:sp>
        <p:nvSpPr>
          <p:cNvPr id="61" name="Shape 61"/>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62" name="Shape 62"/>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67" name="Shape 67"/>
        <p:cNvGrpSpPr/>
        <p:nvPr/>
      </p:nvGrpSpPr>
      <p:grpSpPr>
        <a:xfrm>
          <a:off x="0" y="0"/>
          <a:ext cx="0" cy="0"/>
          <a:chOff x="0" y="0"/>
          <a:chExt cx="0" cy="0"/>
        </a:xfrm>
      </p:grpSpPr>
      <p:sp>
        <p:nvSpPr>
          <p:cNvPr id="68" name="Shape 68"/>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69" name="Shape 69"/>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77" name="Shape 77"/>
        <p:cNvGrpSpPr/>
        <p:nvPr/>
      </p:nvGrpSpPr>
      <p:grpSpPr>
        <a:xfrm>
          <a:off x="0" y="0"/>
          <a:ext cx="0" cy="0"/>
          <a:chOff x="0" y="0"/>
          <a:chExt cx="0" cy="0"/>
        </a:xfrm>
      </p:grpSpPr>
      <p:sp>
        <p:nvSpPr>
          <p:cNvPr id="78" name="Shape 78"/>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79" name="Shape 79"/>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3" name="Shape 83"/>
        <p:cNvGrpSpPr/>
        <p:nvPr/>
      </p:nvGrpSpPr>
      <p:grpSpPr>
        <a:xfrm>
          <a:off x="0" y="0"/>
          <a:ext cx="0" cy="0"/>
          <a:chOff x="0" y="0"/>
          <a:chExt cx="0" cy="0"/>
        </a:xfrm>
      </p:grpSpPr>
      <p:sp>
        <p:nvSpPr>
          <p:cNvPr id="84" name="Shape 84"/>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85" name="Shape 85"/>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89" name="Shape 89"/>
        <p:cNvGrpSpPr/>
        <p:nvPr/>
      </p:nvGrpSpPr>
      <p:grpSpPr>
        <a:xfrm>
          <a:off x="0" y="0"/>
          <a:ext cx="0" cy="0"/>
          <a:chOff x="0" y="0"/>
          <a:chExt cx="0" cy="0"/>
        </a:xfrm>
      </p:grpSpPr>
      <p:sp>
        <p:nvSpPr>
          <p:cNvPr id="90" name="Shape 90"/>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91" name="Shape 91"/>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92" name="Shape 92"/>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18" name="Shape 118"/>
        <p:cNvGrpSpPr/>
        <p:nvPr/>
      </p:nvGrpSpPr>
      <p:grpSpPr>
        <a:xfrm>
          <a:off x="0" y="0"/>
          <a:ext cx="0" cy="0"/>
          <a:chOff x="0" y="0"/>
          <a:chExt cx="0" cy="0"/>
        </a:xfrm>
      </p:grpSpPr>
      <p:sp>
        <p:nvSpPr>
          <p:cNvPr id="119" name="Shape 119"/>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20" name="Shape 120"/>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24" name="Shape 124"/>
        <p:cNvGrpSpPr/>
        <p:nvPr/>
      </p:nvGrpSpPr>
      <p:grpSpPr>
        <a:xfrm>
          <a:off x="0" y="0"/>
          <a:ext cx="0" cy="0"/>
          <a:chOff x="0" y="0"/>
          <a:chExt cx="0" cy="0"/>
        </a:xfrm>
      </p:grpSpPr>
      <p:sp>
        <p:nvSpPr>
          <p:cNvPr id="125" name="Shape 125"/>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26" name="Shape 126"/>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30" name="Shape 130"/>
        <p:cNvGrpSpPr/>
        <p:nvPr/>
      </p:nvGrpSpPr>
      <p:grpSpPr>
        <a:xfrm>
          <a:off x="0" y="0"/>
          <a:ext cx="0" cy="0"/>
          <a:chOff x="0" y="0"/>
          <a:chExt cx="0" cy="0"/>
        </a:xfrm>
      </p:grpSpPr>
      <p:sp>
        <p:nvSpPr>
          <p:cNvPr id="131" name="Shape 131"/>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132" name="Shape 132"/>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133" name="Shape 133"/>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66" name="Shape 166"/>
        <p:cNvGrpSpPr/>
        <p:nvPr/>
      </p:nvGrpSpPr>
      <p:grpSpPr>
        <a:xfrm>
          <a:off x="0" y="0"/>
          <a:ext cx="0" cy="0"/>
          <a:chOff x="0" y="0"/>
          <a:chExt cx="0" cy="0"/>
        </a:xfrm>
      </p:grpSpPr>
      <p:sp>
        <p:nvSpPr>
          <p:cNvPr id="167" name="Shape 167"/>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168" name="Shape 168"/>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169" name="Shape 169"/>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3" name="Shape 173"/>
        <p:cNvGrpSpPr/>
        <p:nvPr/>
      </p:nvGrpSpPr>
      <p:grpSpPr>
        <a:xfrm>
          <a:off x="0" y="0"/>
          <a:ext cx="0" cy="0"/>
          <a:chOff x="0" y="0"/>
          <a:chExt cx="0" cy="0"/>
        </a:xfrm>
      </p:grpSpPr>
      <p:sp>
        <p:nvSpPr>
          <p:cNvPr id="174" name="Shape 174"/>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75" name="Shape 175"/>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79" name="Shape 179"/>
        <p:cNvGrpSpPr/>
        <p:nvPr/>
      </p:nvGrpSpPr>
      <p:grpSpPr>
        <a:xfrm>
          <a:off x="0" y="0"/>
          <a:ext cx="0" cy="0"/>
          <a:chOff x="0" y="0"/>
          <a:chExt cx="0" cy="0"/>
        </a:xfrm>
      </p:grpSpPr>
      <p:sp>
        <p:nvSpPr>
          <p:cNvPr id="180" name="Shape 180"/>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81" name="Shape 181"/>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85" name="Shape 185"/>
        <p:cNvGrpSpPr/>
        <p:nvPr/>
      </p:nvGrpSpPr>
      <p:grpSpPr>
        <a:xfrm>
          <a:off x="0" y="0"/>
          <a:ext cx="0" cy="0"/>
          <a:chOff x="0" y="0"/>
          <a:chExt cx="0" cy="0"/>
        </a:xfrm>
      </p:grpSpPr>
      <p:sp>
        <p:nvSpPr>
          <p:cNvPr id="186" name="Shape 186"/>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87" name="Shape 187"/>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1" name="Shape 191"/>
        <p:cNvGrpSpPr/>
        <p:nvPr/>
      </p:nvGrpSpPr>
      <p:grpSpPr>
        <a:xfrm>
          <a:off x="0" y="0"/>
          <a:ext cx="0" cy="0"/>
          <a:chOff x="0" y="0"/>
          <a:chExt cx="0" cy="0"/>
        </a:xfrm>
      </p:grpSpPr>
      <p:sp>
        <p:nvSpPr>
          <p:cNvPr id="192" name="Shape 192"/>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193" name="Shape 193"/>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197" name="Shape 197"/>
        <p:cNvGrpSpPr/>
        <p:nvPr/>
      </p:nvGrpSpPr>
      <p:grpSpPr>
        <a:xfrm>
          <a:off x="0" y="0"/>
          <a:ext cx="0" cy="0"/>
          <a:chOff x="0" y="0"/>
          <a:chExt cx="0" cy="0"/>
        </a:xfrm>
      </p:grpSpPr>
      <p:sp>
        <p:nvSpPr>
          <p:cNvPr id="198" name="Shape 198"/>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199" name="Shape 199"/>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00" name="Shape 200"/>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04" name="Shape 204"/>
        <p:cNvGrpSpPr/>
        <p:nvPr/>
      </p:nvGrpSpPr>
      <p:grpSpPr>
        <a:xfrm>
          <a:off x="0" y="0"/>
          <a:ext cx="0" cy="0"/>
          <a:chOff x="0" y="0"/>
          <a:chExt cx="0" cy="0"/>
        </a:xfrm>
      </p:grpSpPr>
      <p:sp>
        <p:nvSpPr>
          <p:cNvPr id="205" name="Shape 205"/>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06" name="Shape 206"/>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07" name="Shape 207"/>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1" name="Shape 211"/>
        <p:cNvGrpSpPr/>
        <p:nvPr/>
      </p:nvGrpSpPr>
      <p:grpSpPr>
        <a:xfrm>
          <a:off x="0" y="0"/>
          <a:ext cx="0" cy="0"/>
          <a:chOff x="0" y="0"/>
          <a:chExt cx="0" cy="0"/>
        </a:xfrm>
      </p:grpSpPr>
      <p:sp>
        <p:nvSpPr>
          <p:cNvPr id="212" name="Shape 212"/>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13" name="Shape 213"/>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14" name="Shape 214"/>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18" name="Shape 218"/>
        <p:cNvGrpSpPr/>
        <p:nvPr/>
      </p:nvGrpSpPr>
      <p:grpSpPr>
        <a:xfrm>
          <a:off x="0" y="0"/>
          <a:ext cx="0" cy="0"/>
          <a:chOff x="0" y="0"/>
          <a:chExt cx="0" cy="0"/>
        </a:xfrm>
      </p:grpSpPr>
      <p:sp>
        <p:nvSpPr>
          <p:cNvPr id="219" name="Shape 219"/>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20" name="Shape 220"/>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21" name="Shape 221"/>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53" name="Shape 253"/>
        <p:cNvGrpSpPr/>
        <p:nvPr/>
      </p:nvGrpSpPr>
      <p:grpSpPr>
        <a:xfrm>
          <a:off x="0" y="0"/>
          <a:ext cx="0" cy="0"/>
          <a:chOff x="0" y="0"/>
          <a:chExt cx="0" cy="0"/>
        </a:xfrm>
      </p:grpSpPr>
      <p:sp>
        <p:nvSpPr>
          <p:cNvPr id="254" name="Shape 254"/>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55" name="Shape 255"/>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56" name="Shape 256"/>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0" name="Shape 260"/>
        <p:cNvGrpSpPr/>
        <p:nvPr/>
      </p:nvGrpSpPr>
      <p:grpSpPr>
        <a:xfrm>
          <a:off x="0" y="0"/>
          <a:ext cx="0" cy="0"/>
          <a:chOff x="0" y="0"/>
          <a:chExt cx="0" cy="0"/>
        </a:xfrm>
      </p:grpSpPr>
      <p:sp>
        <p:nvSpPr>
          <p:cNvPr id="261" name="Shape 261"/>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62" name="Shape 262"/>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63" name="Shape 263"/>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67" name="Shape 267"/>
        <p:cNvGrpSpPr/>
        <p:nvPr/>
      </p:nvGrpSpPr>
      <p:grpSpPr>
        <a:xfrm>
          <a:off x="0" y="0"/>
          <a:ext cx="0" cy="0"/>
          <a:chOff x="0" y="0"/>
          <a:chExt cx="0" cy="0"/>
        </a:xfrm>
      </p:grpSpPr>
      <p:sp>
        <p:nvSpPr>
          <p:cNvPr id="268" name="Shape 268"/>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69" name="Shape 269"/>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70" name="Shape 270"/>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74" name="Shape 274"/>
        <p:cNvGrpSpPr/>
        <p:nvPr/>
      </p:nvGrpSpPr>
      <p:grpSpPr>
        <a:xfrm>
          <a:off x="0" y="0"/>
          <a:ext cx="0" cy="0"/>
          <a:chOff x="0" y="0"/>
          <a:chExt cx="0" cy="0"/>
        </a:xfrm>
      </p:grpSpPr>
      <p:sp>
        <p:nvSpPr>
          <p:cNvPr id="275" name="Shape 275"/>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76" name="Shape 276"/>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77" name="Shape 277"/>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1" name="Shape 281"/>
        <p:cNvGrpSpPr/>
        <p:nvPr/>
      </p:nvGrpSpPr>
      <p:grpSpPr>
        <a:xfrm>
          <a:off x="0" y="0"/>
          <a:ext cx="0" cy="0"/>
          <a:chOff x="0" y="0"/>
          <a:chExt cx="0" cy="0"/>
        </a:xfrm>
      </p:grpSpPr>
      <p:sp>
        <p:nvSpPr>
          <p:cNvPr id="282" name="Shape 282"/>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83" name="Shape 283"/>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84" name="Shape 284"/>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88" name="Shape 288"/>
        <p:cNvGrpSpPr/>
        <p:nvPr/>
      </p:nvGrpSpPr>
      <p:grpSpPr>
        <a:xfrm>
          <a:off x="0" y="0"/>
          <a:ext cx="0" cy="0"/>
          <a:chOff x="0" y="0"/>
          <a:chExt cx="0" cy="0"/>
        </a:xfrm>
      </p:grpSpPr>
      <p:sp>
        <p:nvSpPr>
          <p:cNvPr id="289" name="Shape 289"/>
          <p:cNvSpPr txBox="1"/>
          <p:nvPr>
            <p:ph idx="1" type="body"/>
          </p:nvPr>
        </p:nvSpPr>
        <p:spPr>
          <a:xfrm>
            <a:off x="914400" y="4643437"/>
            <a:ext cx="5029199" cy="4397375"/>
          </a:xfrm>
          <a:prstGeom prst="rect">
            <a:avLst/>
          </a:prstGeom>
        </p:spPr>
        <p:txBody>
          <a:bodyPr anchorCtr="0" anchor="ctr" bIns="91425" lIns="91425" rIns="91425" tIns="91425">
            <a:noAutofit/>
          </a:bodyPr>
          <a:lstStyle/>
          <a:p>
            <a:pPr lvl="0">
              <a:spcBef>
                <a:spcPts val="0"/>
              </a:spcBef>
              <a:buNone/>
            </a:pPr>
            <a:r>
              <a:t/>
            </a:r>
            <a:endParaRPr/>
          </a:p>
        </p:txBody>
      </p:sp>
      <p:sp>
        <p:nvSpPr>
          <p:cNvPr id="290" name="Shape 290"/>
          <p:cNvSpPr/>
          <p:nvPr>
            <p:ph idx="2" type="sldImg"/>
          </p:nvPr>
        </p:nvSpPr>
        <p:spPr>
          <a:xfrm>
            <a:off x="984250" y="733425"/>
            <a:ext cx="4889500" cy="3665536"/>
          </a:xfrm>
          <a:custGeom>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294" name="Shape 294"/>
        <p:cNvGrpSpPr/>
        <p:nvPr/>
      </p:nvGrpSpPr>
      <p:grpSpPr>
        <a:xfrm>
          <a:off x="0" y="0"/>
          <a:ext cx="0" cy="0"/>
          <a:chOff x="0" y="0"/>
          <a:chExt cx="0" cy="0"/>
        </a:xfrm>
      </p:grpSpPr>
      <p:sp>
        <p:nvSpPr>
          <p:cNvPr id="295" name="Shape 295"/>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296" name="Shape 296"/>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297" name="Shape 297"/>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01" name="Shape 301"/>
        <p:cNvGrpSpPr/>
        <p:nvPr/>
      </p:nvGrpSpPr>
      <p:grpSpPr>
        <a:xfrm>
          <a:off x="0" y="0"/>
          <a:ext cx="0" cy="0"/>
          <a:chOff x="0" y="0"/>
          <a:chExt cx="0" cy="0"/>
        </a:xfrm>
      </p:grpSpPr>
      <p:sp>
        <p:nvSpPr>
          <p:cNvPr id="302" name="Shape 302"/>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303" name="Shape 303"/>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304" name="Shape 304"/>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58" name="Shape 358"/>
        <p:cNvGrpSpPr/>
        <p:nvPr/>
      </p:nvGrpSpPr>
      <p:grpSpPr>
        <a:xfrm>
          <a:off x="0" y="0"/>
          <a:ext cx="0" cy="0"/>
          <a:chOff x="0" y="0"/>
          <a:chExt cx="0" cy="0"/>
        </a:xfrm>
      </p:grpSpPr>
      <p:sp>
        <p:nvSpPr>
          <p:cNvPr id="359" name="Shape 359"/>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360" name="Shape 360"/>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361" name="Shape 361"/>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showMasterPhAnim="0" showMasterSp="0">
  <p:cSld>
    <p:spTree>
      <p:nvGrpSpPr>
        <p:cNvPr id="365" name="Shape 365"/>
        <p:cNvGrpSpPr/>
        <p:nvPr/>
      </p:nvGrpSpPr>
      <p:grpSpPr>
        <a:xfrm>
          <a:off x="0" y="0"/>
          <a:ext cx="0" cy="0"/>
          <a:chOff x="0" y="0"/>
          <a:chExt cx="0" cy="0"/>
        </a:xfrm>
      </p:grpSpPr>
      <p:sp>
        <p:nvSpPr>
          <p:cNvPr id="366" name="Shape 366"/>
          <p:cNvSpPr txBox="1"/>
          <p:nvPr>
            <p:ph idx="12" type="sldNum"/>
          </p:nvPr>
        </p:nvSpPr>
        <p:spPr>
          <a:xfrm>
            <a:off x="3886200" y="9285286"/>
            <a:ext cx="2971799" cy="488949"/>
          </a:xfrm>
          <a:prstGeom prst="rect">
            <a:avLst/>
          </a:prstGeom>
          <a:noFill/>
          <a:ln>
            <a:noFill/>
          </a:ln>
        </p:spPr>
        <p:txBody>
          <a:bodyPr anchorCtr="0" anchor="b" bIns="45700" lIns="91425" rIns="91425" tIns="45700">
            <a:noAutofit/>
          </a:bodyPr>
          <a:lstStyle/>
          <a:p>
            <a:pPr indent="0" lvl="0" marL="0" marR="0" rtl="0" algn="r">
              <a:lnSpc>
                <a:spcPct val="100000"/>
              </a:lnSpc>
              <a:spcBef>
                <a:spcPts val="0"/>
              </a:spcBef>
              <a:spcAft>
                <a:spcPts val="0"/>
              </a:spcAft>
              <a:buSzPct val="25000"/>
              <a:buNone/>
            </a:pPr>
            <a:fld id="{00000000-1234-1234-1234-123412341234}" type="slidenum">
              <a:rPr b="0" i="0" lang="en-US" sz="1200" u="none" cap="none" strike="noStrike">
                <a:solidFill>
                  <a:srgbClr val="000000"/>
                </a:solidFill>
                <a:latin typeface="Arial"/>
                <a:ea typeface="Arial"/>
                <a:cs typeface="Arial"/>
                <a:sym typeface="Arial"/>
              </a:rPr>
              <a:t>‹#›</a:t>
            </a:fld>
          </a:p>
        </p:txBody>
      </p:sp>
      <p:sp>
        <p:nvSpPr>
          <p:cNvPr id="367" name="Shape 367"/>
          <p:cNvSpPr/>
          <p:nvPr>
            <p:ph idx="2" type="sldImg"/>
          </p:nvPr>
        </p:nvSpPr>
        <p:spPr>
          <a:xfrm>
            <a:off x="985837" y="733425"/>
            <a:ext cx="4886325" cy="3665536"/>
          </a:xfrm>
          <a:custGeom>
            <a:pathLst>
              <a:path extrusionOk="0" h="120000" w="120000">
                <a:moveTo>
                  <a:pt x="0" y="0"/>
                </a:moveTo>
                <a:lnTo>
                  <a:pt x="120000" y="0"/>
                </a:lnTo>
                <a:lnTo>
                  <a:pt x="120000" y="120000"/>
                </a:lnTo>
                <a:lnTo>
                  <a:pt x="0" y="120000"/>
                </a:lnTo>
                <a:close/>
              </a:path>
            </a:pathLst>
          </a:custGeom>
          <a:solidFill>
            <a:srgbClr val="FFFFFF"/>
          </a:solidFill>
          <a:ln>
            <a:noFill/>
          </a:ln>
        </p:spPr>
      </p:sp>
      <p:sp>
        <p:nvSpPr>
          <p:cNvPr id="368" name="Shape 368"/>
          <p:cNvSpPr txBox="1"/>
          <p:nvPr>
            <p:ph idx="1" type="body"/>
          </p:nvPr>
        </p:nvSpPr>
        <p:spPr>
          <a:xfrm>
            <a:off x="914400" y="4643437"/>
            <a:ext cx="5029199" cy="4397375"/>
          </a:xfrm>
          <a:prstGeom prst="rect">
            <a:avLst/>
          </a:prstGeom>
          <a:noFill/>
          <a:ln>
            <a:noFill/>
          </a:ln>
        </p:spPr>
        <p:txBody>
          <a:bodyPr anchorCtr="0" anchor="t" bIns="45700" lIns="91425" rIns="91425" tIns="45700">
            <a:noAutofit/>
          </a:bodyPr>
          <a:lstStyle/>
          <a:p>
            <a:pPr lv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
  <p:cSld name="Title and body">
    <p:spTree>
      <p:nvGrpSpPr>
        <p:cNvPr id="35" name="Shape 3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woColTx">
  <p:cSld name="Title and two columns">
    <p:spTree>
      <p:nvGrpSpPr>
        <p:cNvPr id="36" name="Shape 3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txAndTwoObj">
  <p:cSld name="TEXT_AND_TWO_OBJECTS">
    <p:spTree>
      <p:nvGrpSpPr>
        <p:cNvPr id="37" name="Shape 3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type="blank">
  <p:cSld name="Blank">
    <p:spTree>
      <p:nvGrpSpPr>
        <p:cNvPr id="38" name="Shape 3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04.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 name="Shape 9"/>
        <p:cNvGrpSpPr/>
        <p:nvPr/>
      </p:nvGrpSpPr>
      <p:grpSpPr>
        <a:xfrm>
          <a:off x="0" y="0"/>
          <a:ext cx="0" cy="0"/>
          <a:chOff x="0" y="0"/>
          <a:chExt cx="0" cy="0"/>
        </a:xfrm>
      </p:grpSpPr>
      <p:sp>
        <p:nvSpPr>
          <p:cNvPr id="10" name="Shape 10"/>
          <p:cNvSpPr txBox="1"/>
          <p:nvPr>
            <p:ph idx="1" type="body"/>
          </p:nvPr>
        </p:nvSpPr>
        <p:spPr>
          <a:xfrm>
            <a:off x="1295400" y="2819400"/>
            <a:ext cx="7086600" cy="3352799"/>
          </a:xfrm>
          <a:prstGeom prst="rect">
            <a:avLst/>
          </a:prstGeom>
          <a:noFill/>
          <a:ln>
            <a:noFill/>
          </a:ln>
        </p:spPr>
        <p:txBody>
          <a:bodyPr anchorCtr="0" anchor="t" bIns="91425" lIns="91425" rIns="91425" tIns="91425"/>
          <a:lstStyle>
            <a:lvl1pPr indent="-209550" lvl="0" marL="342900" marR="0" rtl="0" algn="l">
              <a:lnSpc>
                <a:spcPct val="100000"/>
              </a:lnSpc>
              <a:spcBef>
                <a:spcPts val="560"/>
              </a:spcBef>
              <a:spcAft>
                <a:spcPts val="0"/>
              </a:spcAft>
              <a:buClr>
                <a:schemeClr val="accent2"/>
              </a:buClr>
              <a:buFont typeface="Noto Symbol"/>
              <a:buChar char="■"/>
              <a:defRPr/>
            </a:lvl1pPr>
            <a:lvl2pPr indent="-171450" lvl="1" marL="742950" marR="0" rtl="0" algn="l">
              <a:lnSpc>
                <a:spcPct val="100000"/>
              </a:lnSpc>
              <a:spcBef>
                <a:spcPts val="480"/>
              </a:spcBef>
              <a:spcAft>
                <a:spcPts val="0"/>
              </a:spcAft>
              <a:buClr>
                <a:schemeClr val="dk1"/>
              </a:buClr>
              <a:buFont typeface="Noto Symbol"/>
              <a:buChar char="■"/>
              <a:defRPr/>
            </a:lvl2pPr>
            <a:lvl3pPr indent="-133350" lvl="2" marL="1143000" marR="0" rtl="0" algn="l">
              <a:lnSpc>
                <a:spcPct val="100000"/>
              </a:lnSpc>
              <a:spcBef>
                <a:spcPts val="400"/>
              </a:spcBef>
              <a:spcAft>
                <a:spcPts val="0"/>
              </a:spcAft>
              <a:buClr>
                <a:schemeClr val="lt2"/>
              </a:buClr>
              <a:buFont typeface="Noto Symbol"/>
              <a:buChar char="■"/>
              <a:defRPr/>
            </a:lvl3pPr>
            <a:lvl4pPr indent="-142875" lvl="3" marL="1600200" marR="0" rtl="0" algn="l">
              <a:lnSpc>
                <a:spcPct val="100000"/>
              </a:lnSpc>
              <a:spcBef>
                <a:spcPts val="360"/>
              </a:spcBef>
              <a:spcAft>
                <a:spcPts val="0"/>
              </a:spcAft>
              <a:buClr>
                <a:schemeClr val="dk2"/>
              </a:buClr>
              <a:buFont typeface="Noto Symbol"/>
              <a:buChar char="■"/>
              <a:defRPr/>
            </a:lvl4pPr>
            <a:lvl5pPr indent="-142875" lvl="4" marL="2057400" marR="0" rtl="0" algn="l">
              <a:lnSpc>
                <a:spcPct val="100000"/>
              </a:lnSpc>
              <a:spcBef>
                <a:spcPts val="360"/>
              </a:spcBef>
              <a:spcAft>
                <a:spcPts val="0"/>
              </a:spcAft>
              <a:buClr>
                <a:schemeClr val="accent1"/>
              </a:buClr>
              <a:buFont typeface="Noto Symbol"/>
              <a:buChar char="■"/>
              <a:defRPr/>
            </a:lvl5pPr>
            <a:lvl6pPr indent="-142875" lvl="5" marL="2514600" marR="0" rtl="0" algn="l">
              <a:lnSpc>
                <a:spcPct val="100000"/>
              </a:lnSpc>
              <a:spcBef>
                <a:spcPts val="360"/>
              </a:spcBef>
              <a:spcAft>
                <a:spcPts val="0"/>
              </a:spcAft>
              <a:buClr>
                <a:schemeClr val="accent1"/>
              </a:buClr>
              <a:buFont typeface="Noto Symbol"/>
              <a:buChar char="■"/>
              <a:defRPr/>
            </a:lvl6pPr>
            <a:lvl7pPr indent="-142875" lvl="6" marL="3429000" marR="0" rtl="0" algn="l">
              <a:lnSpc>
                <a:spcPct val="100000"/>
              </a:lnSpc>
              <a:spcBef>
                <a:spcPts val="360"/>
              </a:spcBef>
              <a:spcAft>
                <a:spcPts val="0"/>
              </a:spcAft>
              <a:buClr>
                <a:schemeClr val="accent1"/>
              </a:buClr>
              <a:buFont typeface="Noto Symbol"/>
              <a:buChar char="■"/>
              <a:defRPr/>
            </a:lvl7pPr>
            <a:lvl8pPr indent="-142875" lvl="7" marL="4800600" marR="0" rtl="0" algn="l">
              <a:lnSpc>
                <a:spcPct val="100000"/>
              </a:lnSpc>
              <a:spcBef>
                <a:spcPts val="360"/>
              </a:spcBef>
              <a:spcAft>
                <a:spcPts val="0"/>
              </a:spcAft>
              <a:buClr>
                <a:schemeClr val="accent1"/>
              </a:buClr>
              <a:buFont typeface="Noto Symbol"/>
              <a:buChar char="■"/>
              <a:defRPr/>
            </a:lvl8pPr>
            <a:lvl9pPr indent="-142875" lvl="8" marL="6629400" marR="0" rtl="0" algn="l">
              <a:lnSpc>
                <a:spcPct val="100000"/>
              </a:lnSpc>
              <a:spcBef>
                <a:spcPts val="360"/>
              </a:spcBef>
              <a:spcAft>
                <a:spcPts val="0"/>
              </a:spcAft>
              <a:buClr>
                <a:schemeClr val="accent1"/>
              </a:buClr>
              <a:buFont typeface="Noto Symbol"/>
              <a:buChar char="■"/>
              <a:defRPr/>
            </a:lvl9pPr>
          </a:lstStyle>
          <a:p/>
        </p:txBody>
      </p:sp>
      <p:sp>
        <p:nvSpPr>
          <p:cNvPr id="11" name="Shape 11"/>
          <p:cNvSpPr txBox="1"/>
          <p:nvPr/>
        </p:nvSpPr>
        <p:spPr>
          <a:xfrm>
            <a:off x="0" y="2286000"/>
            <a:ext cx="533399" cy="533399"/>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2" name="Shape 12"/>
          <p:cNvSpPr txBox="1"/>
          <p:nvPr/>
        </p:nvSpPr>
        <p:spPr>
          <a:xfrm>
            <a:off x="533400" y="2819400"/>
            <a:ext cx="533399" cy="533399"/>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3" name="Shape 13"/>
          <p:cNvSpPr txBox="1"/>
          <p:nvPr/>
        </p:nvSpPr>
        <p:spPr>
          <a:xfrm>
            <a:off x="1981200" y="533400"/>
            <a:ext cx="381000" cy="381000"/>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4" name="Shape 14"/>
          <p:cNvSpPr txBox="1"/>
          <p:nvPr/>
        </p:nvSpPr>
        <p:spPr>
          <a:xfrm>
            <a:off x="762000" y="1066800"/>
            <a:ext cx="381000" cy="381000"/>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5" name="Shape 15"/>
          <p:cNvSpPr txBox="1"/>
          <p:nvPr/>
        </p:nvSpPr>
        <p:spPr>
          <a:xfrm>
            <a:off x="1143000" y="685800"/>
            <a:ext cx="381000" cy="381000"/>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6" name="Shape 16"/>
          <p:cNvSpPr txBox="1"/>
          <p:nvPr/>
        </p:nvSpPr>
        <p:spPr>
          <a:xfrm>
            <a:off x="2362200" y="152400"/>
            <a:ext cx="381000" cy="381000"/>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7" name="Shape 17"/>
          <p:cNvSpPr txBox="1"/>
          <p:nvPr/>
        </p:nvSpPr>
        <p:spPr>
          <a:xfrm>
            <a:off x="5715000" y="609600"/>
            <a:ext cx="304799" cy="304799"/>
          </a:xfrm>
          <a:prstGeom prst="rect">
            <a:avLst/>
          </a:prstGeom>
          <a:solidFill>
            <a:schemeClr val="accen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18" name="Shape 18"/>
          <p:cNvSpPr txBox="1"/>
          <p:nvPr>
            <p:ph type="title"/>
          </p:nvPr>
        </p:nvSpPr>
        <p:spPr>
          <a:xfrm>
            <a:off x="1295400" y="1219200"/>
            <a:ext cx="7086600" cy="1447800"/>
          </a:xfrm>
          <a:prstGeom prst="rect">
            <a:avLst/>
          </a:prstGeom>
          <a:noFill/>
          <a:ln>
            <a:noFill/>
          </a:ln>
        </p:spPr>
        <p:txBody>
          <a:bodyPr anchorCtr="0" anchor="ctr" bIns="91425" lIns="91425" rIns="91425" tIns="91425"/>
          <a:lstStyle>
            <a:lvl1pPr indent="0" lvl="0" marL="0" marR="0" rtl="0" algn="l">
              <a:lnSpc>
                <a:spcPct val="100000"/>
              </a:lnSpc>
              <a:spcBef>
                <a:spcPts val="0"/>
              </a:spcBef>
              <a:spcAft>
                <a:spcPts val="0"/>
              </a:spcAft>
              <a:defRPr/>
            </a:lvl1pPr>
            <a:lvl2pPr indent="0" lvl="1" marL="0" marR="0" rtl="0" algn="l">
              <a:lnSpc>
                <a:spcPct val="100000"/>
              </a:lnSpc>
              <a:spcBef>
                <a:spcPts val="0"/>
              </a:spcBef>
              <a:spcAft>
                <a:spcPts val="0"/>
              </a:spcAft>
              <a:defRPr/>
            </a:lvl2pPr>
            <a:lvl3pPr indent="0" lvl="2" marL="0" marR="0" rtl="0" algn="l">
              <a:lnSpc>
                <a:spcPct val="100000"/>
              </a:lnSpc>
              <a:spcBef>
                <a:spcPts val="0"/>
              </a:spcBef>
              <a:spcAft>
                <a:spcPts val="0"/>
              </a:spcAft>
              <a:defRPr/>
            </a:lvl3pPr>
            <a:lvl4pPr indent="0" lvl="3" marL="0" marR="0" rtl="0" algn="l">
              <a:lnSpc>
                <a:spcPct val="100000"/>
              </a:lnSpc>
              <a:spcBef>
                <a:spcPts val="0"/>
              </a:spcBef>
              <a:spcAft>
                <a:spcPts val="0"/>
              </a:spcAft>
              <a:defRPr/>
            </a:lvl4pPr>
            <a:lvl5pPr indent="0" lvl="4" marL="0" marR="0" rtl="0" algn="l">
              <a:lnSpc>
                <a:spcPct val="100000"/>
              </a:lnSpc>
              <a:spcBef>
                <a:spcPts val="0"/>
              </a:spcBef>
              <a:spcAft>
                <a:spcPts val="0"/>
              </a:spcAft>
              <a:defRPr/>
            </a:lvl5pPr>
            <a:lvl6pPr indent="0" lvl="5" marL="0" marR="0" rtl="0" algn="l">
              <a:lnSpc>
                <a:spcPct val="100000"/>
              </a:lnSpc>
              <a:spcBef>
                <a:spcPts val="0"/>
              </a:spcBef>
              <a:spcAft>
                <a:spcPts val="0"/>
              </a:spcAft>
              <a:defRPr/>
            </a:lvl6pPr>
            <a:lvl7pPr indent="0" lvl="6" marL="0" marR="0" rtl="0" algn="l">
              <a:lnSpc>
                <a:spcPct val="100000"/>
              </a:lnSpc>
              <a:spcBef>
                <a:spcPts val="0"/>
              </a:spcBef>
              <a:spcAft>
                <a:spcPts val="0"/>
              </a:spcAft>
              <a:defRPr/>
            </a:lvl7pPr>
            <a:lvl8pPr indent="0" lvl="7" marL="0" marR="0" rtl="0" algn="l">
              <a:lnSpc>
                <a:spcPct val="100000"/>
              </a:lnSpc>
              <a:spcBef>
                <a:spcPts val="0"/>
              </a:spcBef>
              <a:spcAft>
                <a:spcPts val="0"/>
              </a:spcAft>
              <a:defRPr/>
            </a:lvl8pPr>
            <a:lvl9pPr indent="0" lvl="8" marL="0" marR="0" rtl="0" algn="l">
              <a:lnSpc>
                <a:spcPct val="100000"/>
              </a:lnSpc>
              <a:spcBef>
                <a:spcPts val="0"/>
              </a:spcBef>
              <a:spcAft>
                <a:spcPts val="0"/>
              </a:spcAft>
              <a:defRPr/>
            </a:lvl9pPr>
          </a:lstStyle>
          <a:p/>
        </p:txBody>
      </p:sp>
      <p:sp>
        <p:nvSpPr>
          <p:cNvPr id="19" name="Shape 19"/>
          <p:cNvSpPr txBox="1"/>
          <p:nvPr>
            <p:ph idx="10" type="dt"/>
          </p:nvPr>
        </p:nvSpPr>
        <p:spPr>
          <a:xfrm>
            <a:off x="6553200" y="6507162"/>
            <a:ext cx="1828800" cy="274636"/>
          </a:xfrm>
          <a:prstGeom prst="rect">
            <a:avLst/>
          </a:prstGeom>
          <a:noFill/>
          <a:ln>
            <a:noFill/>
          </a:ln>
        </p:spPr>
        <p:txBody>
          <a:bodyPr anchorCtr="0" anchor="b" bIns="91425" lIns="91425" rIns="91425" tIns="91425"/>
          <a:lstStyle>
            <a:lvl1pPr indent="0" lvl="0" marL="0" marR="0" rtl="0" algn="r">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20" name="Shape 20"/>
          <p:cNvSpPr txBox="1"/>
          <p:nvPr>
            <p:ph idx="11" type="ftr"/>
          </p:nvPr>
        </p:nvSpPr>
        <p:spPr>
          <a:xfrm>
            <a:off x="1295400" y="6507162"/>
            <a:ext cx="2895600" cy="274636"/>
          </a:xfrm>
          <a:prstGeom prst="rect">
            <a:avLst/>
          </a:prstGeom>
          <a:noFill/>
          <a:ln>
            <a:noFill/>
          </a:ln>
        </p:spPr>
        <p:txBody>
          <a:bodyPr anchorCtr="0" anchor="b" bIns="91425" lIns="91425" rIns="91425" tIns="91425"/>
          <a:lstStyle>
            <a:lvl1pPr indent="0" lvl="0" marL="0" marR="0" rtl="0" algn="l">
              <a:lnSpc>
                <a:spcPct val="100000"/>
              </a:lnSpc>
              <a:spcBef>
                <a:spcPts val="0"/>
              </a:spcBef>
              <a:spcAft>
                <a:spcPts val="0"/>
              </a:spcAft>
              <a:defRPr/>
            </a:lvl1pPr>
            <a:lvl2pPr indent="0" lvl="1" marL="457200" marR="0" rtl="0" algn="l">
              <a:lnSpc>
                <a:spcPct val="100000"/>
              </a:lnSpc>
              <a:spcBef>
                <a:spcPts val="0"/>
              </a:spcBef>
              <a:spcAft>
                <a:spcPts val="0"/>
              </a:spcAft>
              <a:defRPr/>
            </a:lvl2pPr>
            <a:lvl3pPr indent="0" lvl="2" marL="914400" marR="0" rtl="0" algn="l">
              <a:lnSpc>
                <a:spcPct val="100000"/>
              </a:lnSpc>
              <a:spcBef>
                <a:spcPts val="0"/>
              </a:spcBef>
              <a:spcAft>
                <a:spcPts val="0"/>
              </a:spcAft>
              <a:defRPr/>
            </a:lvl3pPr>
            <a:lvl4pPr indent="0" lvl="3" marL="1371600" marR="0" rtl="0" algn="l">
              <a:lnSpc>
                <a:spcPct val="100000"/>
              </a:lnSpc>
              <a:spcBef>
                <a:spcPts val="0"/>
              </a:spcBef>
              <a:spcAft>
                <a:spcPts val="0"/>
              </a:spcAft>
              <a:defRPr/>
            </a:lvl4pPr>
            <a:lvl5pPr indent="0" lvl="4" marL="1828800" marR="0" rtl="0" algn="l">
              <a:lnSpc>
                <a:spcPct val="100000"/>
              </a:lnSpc>
              <a:spcBef>
                <a:spcPts val="0"/>
              </a:spcBef>
              <a:spcAft>
                <a:spcPts val="0"/>
              </a:spcAft>
              <a:defRPr/>
            </a:lvl5pPr>
            <a:lvl6pPr indent="0" lvl="5" marL="2286000" marR="0" rtl="0" algn="l">
              <a:lnSpc>
                <a:spcPct val="100000"/>
              </a:lnSpc>
              <a:spcBef>
                <a:spcPts val="0"/>
              </a:spcBef>
              <a:spcAft>
                <a:spcPts val="0"/>
              </a:spcAft>
              <a:defRPr/>
            </a:lvl6pPr>
            <a:lvl7pPr indent="0" lvl="6" marL="3200400" marR="0" rtl="0" algn="l">
              <a:lnSpc>
                <a:spcPct val="100000"/>
              </a:lnSpc>
              <a:spcBef>
                <a:spcPts val="0"/>
              </a:spcBef>
              <a:spcAft>
                <a:spcPts val="0"/>
              </a:spcAft>
              <a:defRPr/>
            </a:lvl7pPr>
            <a:lvl8pPr indent="0" lvl="7" marL="4572000" marR="0" rtl="0" algn="l">
              <a:lnSpc>
                <a:spcPct val="100000"/>
              </a:lnSpc>
              <a:spcBef>
                <a:spcPts val="0"/>
              </a:spcBef>
              <a:spcAft>
                <a:spcPts val="0"/>
              </a:spcAft>
              <a:defRPr/>
            </a:lvl8pPr>
            <a:lvl9pPr indent="0" lvl="8" marL="6400800" marR="0" rtl="0" algn="l">
              <a:lnSpc>
                <a:spcPct val="100000"/>
              </a:lnSpc>
              <a:spcBef>
                <a:spcPts val="0"/>
              </a:spcBef>
              <a:spcAft>
                <a:spcPts val="0"/>
              </a:spcAft>
              <a:defRPr/>
            </a:lvl9pPr>
          </a:lstStyle>
          <a:p/>
        </p:txBody>
      </p:sp>
      <p:sp>
        <p:nvSpPr>
          <p:cNvPr id="21" name="Shape 21"/>
          <p:cNvSpPr txBox="1"/>
          <p:nvPr>
            <p:ph idx="12" type="sldNum"/>
          </p:nvPr>
        </p:nvSpPr>
        <p:spPr>
          <a:xfrm>
            <a:off x="5721350" y="6267450"/>
            <a:ext cx="901700" cy="514350"/>
          </a:xfrm>
          <a:prstGeom prst="rect">
            <a:avLst/>
          </a:prstGeom>
          <a:solidFill>
            <a:schemeClr val="accent1"/>
          </a:solidFill>
          <a:ln cap="flat" cmpd="sng" w="57150">
            <a:solidFill>
              <a:schemeClr val="hlink"/>
            </a:solidFill>
            <a:prstDash val="solid"/>
            <a:miter/>
            <a:headEnd len="med" w="med" type="none"/>
            <a:tailEnd len="med" w="med" type="none"/>
          </a:ln>
        </p:spPr>
        <p:txBody>
          <a:bodyPr anchorCtr="1" anchor="b" bIns="45700" lIns="91425" rIns="91425" tIns="45700">
            <a:noAutofit/>
          </a:bodyPr>
          <a:lstStyle/>
          <a:p>
            <a:pPr indent="0" lvl="0" marL="0" marR="0" rtl="0" algn="ctr">
              <a:lnSpc>
                <a:spcPct val="100000"/>
              </a:lnSpc>
              <a:spcBef>
                <a:spcPts val="0"/>
              </a:spcBef>
              <a:spcAft>
                <a:spcPts val="0"/>
              </a:spcAft>
              <a:buClr>
                <a:schemeClr val="lt1"/>
              </a:buClr>
              <a:buSzPct val="25000"/>
              <a:buFont typeface="Tahoma"/>
              <a:buNone/>
            </a:pPr>
            <a:fld id="{00000000-1234-1234-1234-123412341234}" type="slidenum">
              <a:rPr b="1" i="0" lang="en-US" sz="2400" u="none" cap="none" strike="noStrike">
                <a:solidFill>
                  <a:schemeClr val="lt1"/>
                </a:solidFill>
                <a:latin typeface="Tahoma"/>
                <a:ea typeface="Tahoma"/>
                <a:cs typeface="Tahoma"/>
                <a:sym typeface="Tahoma"/>
              </a:rPr>
              <a:t>‹#›</a:t>
            </a:fld>
          </a:p>
        </p:txBody>
      </p:sp>
      <p:sp>
        <p:nvSpPr>
          <p:cNvPr id="22" name="Shape 22"/>
          <p:cNvSpPr txBox="1"/>
          <p:nvPr/>
        </p:nvSpPr>
        <p:spPr>
          <a:xfrm>
            <a:off x="0" y="755650"/>
            <a:ext cx="5867400" cy="76199"/>
          </a:xfrm>
          <a:prstGeom prst="rect">
            <a:avLst/>
          </a:prstGeom>
          <a:no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 name="Shape 23"/>
          <p:cNvSpPr txBox="1"/>
          <p:nvPr/>
        </p:nvSpPr>
        <p:spPr>
          <a:xfrm>
            <a:off x="5562600" y="457200"/>
            <a:ext cx="304799" cy="304799"/>
          </a:xfrm>
          <a:prstGeom prst="rect">
            <a:avLst/>
          </a:prstGeom>
          <a:solidFill>
            <a:schemeClr val="accent1"/>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4" name="Shape 24"/>
          <p:cNvSpPr txBox="1"/>
          <p:nvPr/>
        </p:nvSpPr>
        <p:spPr>
          <a:xfrm>
            <a:off x="8458200" y="3962400"/>
            <a:ext cx="381000" cy="381000"/>
          </a:xfrm>
          <a:prstGeom prst="rect">
            <a:avLst/>
          </a:prstGeom>
          <a:solidFill>
            <a:schemeClr val="accen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 name="Shape 25"/>
          <p:cNvSpPr txBox="1"/>
          <p:nvPr/>
        </p:nvSpPr>
        <p:spPr>
          <a:xfrm>
            <a:off x="8686800" y="3657600"/>
            <a:ext cx="381000" cy="381000"/>
          </a:xfrm>
          <a:prstGeom prst="rect">
            <a:avLst/>
          </a:prstGeom>
          <a:solidFill>
            <a:schemeClr val="l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nvGrpSpPr>
          <p:cNvPr id="26" name="Shape 26"/>
          <p:cNvGrpSpPr/>
          <p:nvPr/>
        </p:nvGrpSpPr>
        <p:grpSpPr>
          <a:xfrm>
            <a:off x="0" y="2286000"/>
            <a:ext cx="1066799" cy="1066799"/>
            <a:chOff x="0" y="2286000"/>
            <a:chExt cx="1066799" cy="1066799"/>
          </a:xfrm>
        </p:grpSpPr>
        <p:sp>
          <p:nvSpPr>
            <p:cNvPr id="27" name="Shape 27"/>
            <p:cNvSpPr/>
            <p:nvPr/>
          </p:nvSpPr>
          <p:spPr>
            <a:xfrm>
              <a:off x="0" y="2286000"/>
              <a:ext cx="533399" cy="533399"/>
            </a:xfrm>
            <a:prstGeom prst="rect">
              <a:avLst/>
            </a:prstGeom>
            <a:solidFill>
              <a:schemeClr val="accent1"/>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8" name="Shape 28"/>
            <p:cNvSpPr/>
            <p:nvPr/>
          </p:nvSpPr>
          <p:spPr>
            <a:xfrm>
              <a:off x="533400" y="2819400"/>
              <a:ext cx="533399" cy="533399"/>
            </a:xfrm>
            <a:prstGeom prst="rect">
              <a:avLst/>
            </a:prstGeom>
            <a:solidFill>
              <a:schemeClr val="l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grpSp>
        <p:nvGrpSpPr>
          <p:cNvPr id="29" name="Shape 29"/>
          <p:cNvGrpSpPr/>
          <p:nvPr/>
        </p:nvGrpSpPr>
        <p:grpSpPr>
          <a:xfrm>
            <a:off x="762000" y="152400"/>
            <a:ext cx="1981200" cy="1295400"/>
            <a:chOff x="762000" y="152400"/>
            <a:chExt cx="1981200" cy="1295400"/>
          </a:xfrm>
        </p:grpSpPr>
        <p:sp>
          <p:nvSpPr>
            <p:cNvPr id="30" name="Shape 30"/>
            <p:cNvSpPr/>
            <p:nvPr/>
          </p:nvSpPr>
          <p:spPr>
            <a:xfrm>
              <a:off x="1981200" y="533400"/>
              <a:ext cx="381000" cy="381000"/>
            </a:xfrm>
            <a:prstGeom prst="rect">
              <a:avLst/>
            </a:prstGeom>
            <a:solidFill>
              <a:schemeClr val="accen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 name="Shape 31"/>
            <p:cNvSpPr/>
            <p:nvPr/>
          </p:nvSpPr>
          <p:spPr>
            <a:xfrm>
              <a:off x="762000" y="1066800"/>
              <a:ext cx="381000" cy="381000"/>
            </a:xfrm>
            <a:prstGeom prst="rect">
              <a:avLst/>
            </a:prstGeom>
            <a:solidFill>
              <a:schemeClr val="accen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2" name="Shape 32"/>
            <p:cNvSpPr/>
            <p:nvPr/>
          </p:nvSpPr>
          <p:spPr>
            <a:xfrm>
              <a:off x="1143000" y="685800"/>
              <a:ext cx="381000" cy="381000"/>
            </a:xfrm>
            <a:prstGeom prst="rect">
              <a:avLst/>
            </a:prstGeom>
            <a:solidFill>
              <a:schemeClr val="dk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 name="Shape 33"/>
            <p:cNvSpPr/>
            <p:nvPr/>
          </p:nvSpPr>
          <p:spPr>
            <a:xfrm>
              <a:off x="2362200" y="152400"/>
              <a:ext cx="381000" cy="381000"/>
            </a:xfrm>
            <a:prstGeom prst="rect">
              <a:avLst/>
            </a:prstGeom>
            <a:solidFill>
              <a:schemeClr val="lt2"/>
            </a:solidFill>
            <a:ln cap="flat" cmpd="sng" w="5715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grpSp>
      <p:pic>
        <p:nvPicPr>
          <p:cNvPr id="34" name="Shape 34"/>
          <p:cNvPicPr preferRelativeResize="0"/>
          <p:nvPr/>
        </p:nvPicPr>
        <p:blipFill rotWithShape="1">
          <a:blip r:embed="rId1">
            <a:alphaModFix/>
          </a:blip>
          <a:srcRect b="0" l="0" r="0" t="0"/>
          <a:stretch/>
        </p:blipFill>
        <p:spPr>
          <a:xfrm>
            <a:off x="6134100" y="155575"/>
            <a:ext cx="3009899" cy="60959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0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05.jpg"/><Relationship Id="rId4" Type="http://schemas.openxmlformats.org/officeDocument/2006/relationships/image" Target="../media/image06.jpg"/><Relationship Id="rId5" Type="http://schemas.openxmlformats.org/officeDocument/2006/relationships/image" Target="../media/image0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0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0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0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0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0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42" name="Shape 42"/>
        <p:cNvGrpSpPr/>
        <p:nvPr/>
      </p:nvGrpSpPr>
      <p:grpSpPr>
        <a:xfrm>
          <a:off x="0" y="0"/>
          <a:ext cx="0" cy="0"/>
          <a:chOff x="0" y="0"/>
          <a:chExt cx="0" cy="0"/>
        </a:xfrm>
      </p:grpSpPr>
      <p:sp>
        <p:nvSpPr>
          <p:cNvPr id="43" name="Shape 43"/>
          <p:cNvSpPr txBox="1"/>
          <p:nvPr>
            <p:ph idx="4294967295" type="title"/>
          </p:nvPr>
        </p:nvSpPr>
        <p:spPr>
          <a:xfrm>
            <a:off x="1295400" y="1219200"/>
            <a:ext cx="7086600" cy="14478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0" i="0" lang="en-US" sz="4000" u="none" cap="none" strike="noStrike">
                <a:solidFill>
                  <a:schemeClr val="dk1"/>
                </a:solidFill>
                <a:latin typeface="Tahoma"/>
                <a:ea typeface="Tahoma"/>
                <a:cs typeface="Tahoma"/>
                <a:sym typeface="Tahoma"/>
              </a:rPr>
              <a:t>CLASE N° 3</a:t>
            </a:r>
          </a:p>
        </p:txBody>
      </p:sp>
      <p:pic>
        <p:nvPicPr>
          <p:cNvPr id="44" name="Shape 44"/>
          <p:cNvPicPr preferRelativeResize="0"/>
          <p:nvPr>
            <p:ph idx="4294967295" type="body"/>
          </p:nvPr>
        </p:nvPicPr>
        <p:blipFill rotWithShape="1">
          <a:blip r:embed="rId3">
            <a:alphaModFix/>
          </a:blip>
          <a:srcRect b="0" l="0" r="0" t="0"/>
          <a:stretch/>
        </p:blipFill>
        <p:spPr>
          <a:xfrm>
            <a:off x="6134100" y="155575"/>
            <a:ext cx="3009899" cy="609599"/>
          </a:xfrm>
          <a:prstGeom prst="rect">
            <a:avLst/>
          </a:prstGeom>
          <a:noFill/>
          <a:ln>
            <a:noFill/>
          </a:ln>
        </p:spPr>
      </p:pic>
      <p:sp>
        <p:nvSpPr>
          <p:cNvPr id="45" name="Shape 45"/>
          <p:cNvSpPr txBox="1"/>
          <p:nvPr/>
        </p:nvSpPr>
        <p:spPr>
          <a:xfrm>
            <a:off x="1547812" y="2668586"/>
            <a:ext cx="7596186" cy="3113086"/>
          </a:xfrm>
          <a:prstGeom prst="rect">
            <a:avLst/>
          </a:prstGeom>
          <a:solidFill>
            <a:srgbClr val="CC99FF">
              <a:alpha val="34901"/>
            </a:srgbClr>
          </a:solidFill>
          <a:ln>
            <a:noFill/>
          </a:ln>
        </p:spPr>
        <p:txBody>
          <a:bodyPr anchorCtr="0" anchor="ctr" bIns="46025" lIns="92075" rIns="92075" tIns="46025">
            <a:noAutofit/>
          </a:bodyPr>
          <a:lstStyle/>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Modelo de Frontera de posibilidades productivas. </a:t>
            </a:r>
          </a:p>
          <a:p>
            <a:pPr indent="-533400" lvl="0" marL="533400" marR="0" rtl="0" algn="l">
              <a:lnSpc>
                <a:spcPct val="100000"/>
              </a:lnSpc>
              <a:spcBef>
                <a:spcPts val="0"/>
              </a:spcBef>
              <a:spcAft>
                <a:spcPts val="0"/>
              </a:spcAft>
              <a:buClr>
                <a:schemeClr val="dk1"/>
              </a:buClr>
              <a:buFont typeface="Times New Roman"/>
              <a:buNone/>
            </a:pPr>
            <a:r>
              <a:t/>
            </a:r>
            <a:endParaRPr b="1" i="0" sz="1800" u="none" cap="none" strike="noStrike">
              <a:solidFill>
                <a:schemeClr val="dk1"/>
              </a:solidFill>
              <a:latin typeface="Arial"/>
              <a:ea typeface="Arial"/>
              <a:cs typeface="Arial"/>
              <a:sym typeface="Arial"/>
            </a:endParaRPr>
          </a:p>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Costo de oportunidad</a:t>
            </a:r>
          </a:p>
          <a:p>
            <a:pPr indent="-533400" lvl="0" marL="533400" marR="0" rtl="0" algn="l">
              <a:lnSpc>
                <a:spcPct val="100000"/>
              </a:lnSpc>
              <a:spcBef>
                <a:spcPts val="0"/>
              </a:spcBef>
              <a:spcAft>
                <a:spcPts val="0"/>
              </a:spcAft>
              <a:buClr>
                <a:schemeClr val="dk1"/>
              </a:buClr>
              <a:buFont typeface="Times New Roman"/>
              <a:buNone/>
            </a:pPr>
            <a:r>
              <a:t/>
            </a:r>
            <a:endParaRPr b="1" i="0" sz="1800" u="none" cap="none" strike="noStrike">
              <a:solidFill>
                <a:schemeClr val="dk1"/>
              </a:solidFill>
              <a:latin typeface="Arial"/>
              <a:ea typeface="Arial"/>
              <a:cs typeface="Arial"/>
              <a:sym typeface="Arial"/>
            </a:endParaRPr>
          </a:p>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Frontera de posibilidades de consumo.</a:t>
            </a:r>
          </a:p>
          <a:p>
            <a:pPr indent="-533400" lvl="0" marL="533400" marR="0" rtl="0" algn="l">
              <a:lnSpc>
                <a:spcPct val="100000"/>
              </a:lnSpc>
              <a:spcBef>
                <a:spcPts val="0"/>
              </a:spcBef>
              <a:spcAft>
                <a:spcPts val="0"/>
              </a:spcAft>
              <a:buClr>
                <a:schemeClr val="dk1"/>
              </a:buClr>
              <a:buFont typeface="Times New Roman"/>
              <a:buNone/>
            </a:pPr>
            <a:r>
              <a:t/>
            </a:r>
            <a:endParaRPr b="1" i="0" sz="1800" u="none" cap="none" strike="noStrike">
              <a:solidFill>
                <a:schemeClr val="dk1"/>
              </a:solidFill>
              <a:latin typeface="Arial"/>
              <a:ea typeface="Arial"/>
              <a:cs typeface="Arial"/>
              <a:sym typeface="Arial"/>
            </a:endParaRPr>
          </a:p>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Ventaja absoluta y comparativa</a:t>
            </a:r>
          </a:p>
          <a:p>
            <a:pPr indent="-533400" lvl="0" marL="533400" marR="0" rtl="0" algn="l">
              <a:lnSpc>
                <a:spcPct val="100000"/>
              </a:lnSpc>
              <a:spcBef>
                <a:spcPts val="0"/>
              </a:spcBef>
              <a:spcAft>
                <a:spcPts val="0"/>
              </a:spcAft>
              <a:buClr>
                <a:schemeClr val="dk1"/>
              </a:buClr>
              <a:buFont typeface="Times New Roman"/>
              <a:buNone/>
            </a:pPr>
            <a:r>
              <a:t/>
            </a:r>
            <a:endParaRPr b="1" i="0" sz="1800" u="none" cap="none" strike="noStrike">
              <a:solidFill>
                <a:schemeClr val="dk1"/>
              </a:solidFill>
              <a:latin typeface="Arial"/>
              <a:ea typeface="Arial"/>
              <a:cs typeface="Arial"/>
              <a:sym typeface="Arial"/>
            </a:endParaRPr>
          </a:p>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Especialización e integración.</a:t>
            </a:r>
          </a:p>
          <a:p>
            <a:pPr indent="-533400" lvl="0" marL="533400" marR="0" rtl="0" algn="l">
              <a:lnSpc>
                <a:spcPct val="100000"/>
              </a:lnSpc>
              <a:spcBef>
                <a:spcPts val="0"/>
              </a:spcBef>
              <a:spcAft>
                <a:spcPts val="0"/>
              </a:spcAft>
              <a:buClr>
                <a:schemeClr val="dk1"/>
              </a:buClr>
              <a:buFont typeface="Times New Roman"/>
              <a:buNone/>
            </a:pPr>
            <a:r>
              <a:t/>
            </a:r>
            <a:endParaRPr b="1" i="0" sz="1800" u="none" cap="none" strike="noStrike">
              <a:solidFill>
                <a:schemeClr val="dk1"/>
              </a:solidFill>
              <a:latin typeface="Arial"/>
              <a:ea typeface="Arial"/>
              <a:cs typeface="Arial"/>
              <a:sym typeface="Arial"/>
            </a:endParaRPr>
          </a:p>
          <a:p>
            <a:pPr indent="-533400" lvl="0" marL="533400" marR="0" rtl="0" algn="l">
              <a:lnSpc>
                <a:spcPct val="100000"/>
              </a:lnSpc>
              <a:spcBef>
                <a:spcPts val="0"/>
              </a:spcBef>
              <a:spcAft>
                <a:spcPts val="0"/>
              </a:spcAft>
              <a:buClr>
                <a:schemeClr val="dk1"/>
              </a:buClr>
              <a:buSzPct val="100000"/>
              <a:buFont typeface="Arial"/>
              <a:buChar char="•"/>
            </a:pPr>
            <a:r>
              <a:rPr b="1" i="0" lang="en-US" sz="1800" u="none" cap="none" strike="noStrike">
                <a:solidFill>
                  <a:schemeClr val="dk1"/>
                </a:solidFill>
                <a:latin typeface="Arial"/>
                <a:ea typeface="Arial"/>
                <a:cs typeface="Arial"/>
                <a:sym typeface="Arial"/>
              </a:rPr>
              <a:t>Trabajos prácticos de análisis del problema económico</a:t>
            </a:r>
          </a:p>
        </p:txBody>
      </p:sp>
    </p:spTree>
  </p:cSld>
  <p:clrMapOvr>
    <a:masterClrMapping/>
  </p:clrMapOvr>
  <p:transition spd="slow">
    <p:c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0" name="Shape 50"/>
        <p:cNvGrpSpPr/>
        <p:nvPr/>
      </p:nvGrpSpPr>
      <p:grpSpPr>
        <a:xfrm>
          <a:off x="0" y="0"/>
          <a:ext cx="0" cy="0"/>
          <a:chOff x="0" y="0"/>
          <a:chExt cx="0" cy="0"/>
        </a:xfrm>
      </p:grpSpPr>
      <p:sp>
        <p:nvSpPr>
          <p:cNvPr id="51" name="Shape 51"/>
          <p:cNvSpPr txBox="1"/>
          <p:nvPr>
            <p:ph idx="4294967295" type="title"/>
          </p:nvPr>
        </p:nvSpPr>
        <p:spPr>
          <a:xfrm>
            <a:off x="1295400" y="1219200"/>
            <a:ext cx="7086600" cy="1447800"/>
          </a:xfrm>
          <a:prstGeom prst="rect">
            <a:avLst/>
          </a:prstGeom>
          <a:gradFill>
            <a:gsLst>
              <a:gs pos="0">
                <a:schemeClr val="accent1"/>
              </a:gs>
              <a:gs pos="100000">
                <a:srgbClr val="BFBF02"/>
              </a:gs>
            </a:gsLst>
            <a:lin ang="5400000" scaled="0"/>
          </a:gra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MODELO DE FRONTERA DE POSIBILIDADES DE PRODUCCION</a:t>
            </a:r>
            <a:br>
              <a:rPr b="1" i="0" lang="en-US" sz="3200" u="none" cap="none" strike="noStrike">
                <a:solidFill>
                  <a:schemeClr val="dk1"/>
                </a:solidFill>
                <a:latin typeface="Arial"/>
                <a:ea typeface="Arial"/>
                <a:cs typeface="Arial"/>
                <a:sym typeface="Arial"/>
              </a:rPr>
            </a:br>
            <a:r>
              <a:rPr b="1" i="0" lang="en-US" sz="2800" u="none" cap="none" strike="noStrike">
                <a:solidFill>
                  <a:schemeClr val="dk1"/>
                </a:solidFill>
                <a:latin typeface="Arial"/>
                <a:ea typeface="Arial"/>
                <a:cs typeface="Arial"/>
                <a:sym typeface="Arial"/>
              </a:rPr>
              <a:t>(FPP)</a:t>
            </a:r>
          </a:p>
        </p:txBody>
      </p:sp>
      <p:sp>
        <p:nvSpPr>
          <p:cNvPr id="52" name="Shape 52"/>
          <p:cNvSpPr txBox="1"/>
          <p:nvPr>
            <p:ph idx="4294967295" type="body"/>
          </p:nvPr>
        </p:nvSpPr>
        <p:spPr>
          <a:xfrm>
            <a:off x="1295400" y="2819400"/>
            <a:ext cx="6877050" cy="335279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25000"/>
              <a:buFont typeface="Noto Symbol"/>
              <a:buNone/>
            </a:pPr>
            <a:r>
              <a:t/>
            </a:r>
            <a:endParaRPr b="1" i="0" sz="2400" u="none" cap="none" strike="noStrike">
              <a:solidFill>
                <a:schemeClr val="dk1"/>
              </a:solidFill>
              <a:latin typeface="Tahoma"/>
              <a:ea typeface="Tahoma"/>
              <a:cs typeface="Tahoma"/>
              <a:sym typeface="Tahoma"/>
            </a:endParaRPr>
          </a:p>
          <a:p>
            <a:pPr indent="-342900" lvl="0" marL="342900" marR="0" rtl="0" algn="l">
              <a:lnSpc>
                <a:spcPct val="100000"/>
              </a:lnSpc>
              <a:spcBef>
                <a:spcPts val="480"/>
              </a:spcBef>
              <a:spcAft>
                <a:spcPts val="0"/>
              </a:spcAft>
              <a:buClr>
                <a:schemeClr val="accent2"/>
              </a:buClr>
              <a:buSzPct val="25000"/>
              <a:buFont typeface="Noto Symbol"/>
              <a:buNone/>
            </a:pPr>
            <a:r>
              <a:rPr b="1" i="0" lang="en-US" sz="2400" u="none" cap="none" strike="noStrike">
                <a:solidFill>
                  <a:schemeClr val="dk1"/>
                </a:solidFill>
                <a:latin typeface="Tahoma"/>
                <a:ea typeface="Tahoma"/>
                <a:cs typeface="Tahoma"/>
                <a:sym typeface="Tahoma"/>
              </a:rPr>
              <a:t>Frontera de Posibilidades de Producción es el conjunto de combinaciones de factores productivos con tecnologías dadas en los que se alcanza la producción máxima.</a:t>
            </a:r>
            <a:r>
              <a:rPr b="0" i="0" lang="en-US" sz="2400" u="none" cap="none" strike="noStrike">
                <a:solidFill>
                  <a:srgbClr val="FF0000"/>
                </a:solidFill>
                <a:latin typeface="Tahoma"/>
                <a:ea typeface="Tahoma"/>
                <a:cs typeface="Tahoma"/>
                <a:sym typeface="Tahoma"/>
              </a:rPr>
              <a:t> </a:t>
            </a:r>
          </a:p>
        </p:txBody>
      </p:sp>
    </p:spTree>
  </p:cSld>
  <p:clrMapOvr>
    <a:masterClrMapping/>
  </p:clrMapOvr>
  <p:transition spd="slow">
    <p:c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57" name="Shape 57"/>
        <p:cNvGrpSpPr/>
        <p:nvPr/>
      </p:nvGrpSpPr>
      <p:grpSpPr>
        <a:xfrm>
          <a:off x="0" y="0"/>
          <a:ext cx="0" cy="0"/>
          <a:chOff x="0" y="0"/>
          <a:chExt cx="0" cy="0"/>
        </a:xfrm>
      </p:grpSpPr>
      <p:sp>
        <p:nvSpPr>
          <p:cNvPr id="58" name="Shape 58"/>
          <p:cNvSpPr txBox="1"/>
          <p:nvPr>
            <p:ph idx="4294967295" type="title"/>
          </p:nvPr>
        </p:nvSpPr>
        <p:spPr>
          <a:xfrm>
            <a:off x="1295400" y="1219200"/>
            <a:ext cx="7086600" cy="1447800"/>
          </a:xfrm>
          <a:prstGeom prst="rect">
            <a:avLst/>
          </a:prstGeom>
          <a:gradFill>
            <a:gsLst>
              <a:gs pos="0">
                <a:schemeClr val="accent1"/>
              </a:gs>
              <a:gs pos="100000">
                <a:srgbClr val="BFBF02"/>
              </a:gs>
            </a:gsLst>
            <a:lin ang="5400000" scaled="0"/>
          </a:gra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800" u="none" cap="none" strike="noStrike">
                <a:solidFill>
                  <a:schemeClr val="dk1"/>
                </a:solidFill>
                <a:latin typeface="Arial"/>
                <a:ea typeface="Arial"/>
                <a:cs typeface="Arial"/>
                <a:sym typeface="Arial"/>
              </a:rPr>
              <a:t>OBJETIVOS</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FRONTERA DE POSIBILIDADES DE PRODUCCION</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(FPP)</a:t>
            </a:r>
          </a:p>
        </p:txBody>
      </p:sp>
      <p:sp>
        <p:nvSpPr>
          <p:cNvPr id="59" name="Shape 59"/>
          <p:cNvSpPr txBox="1"/>
          <p:nvPr>
            <p:ph idx="4294967295" type="body"/>
          </p:nvPr>
        </p:nvSpPr>
        <p:spPr>
          <a:xfrm>
            <a:off x="1295400" y="2819400"/>
            <a:ext cx="7021511" cy="335279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25000"/>
              <a:buFont typeface="Noto Symbol"/>
              <a:buNone/>
            </a:pPr>
            <a:r>
              <a:rPr b="1" i="0" lang="en-US" sz="2000" u="none" cap="none" strike="noStrike">
                <a:solidFill>
                  <a:schemeClr val="dk1"/>
                </a:solidFill>
                <a:latin typeface="Arial"/>
                <a:ea typeface="Arial"/>
                <a:cs typeface="Arial"/>
                <a:sym typeface="Arial"/>
              </a:rPr>
              <a:t>Ilustra ideas básicas de la teoría económica:</a:t>
            </a:r>
          </a:p>
          <a:p>
            <a:pPr indent="-285750" lvl="1" marL="742950" marR="0" rtl="0" algn="l">
              <a:lnSpc>
                <a:spcPct val="10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Eficiencia / Ineficiencia.</a:t>
            </a:r>
          </a:p>
          <a:p>
            <a:pPr indent="-285750" lvl="1" marL="742950" marR="0" rtl="0" algn="l">
              <a:lnSpc>
                <a:spcPct val="10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Pleno empleo de los recursos productivos.</a:t>
            </a:r>
          </a:p>
          <a:p>
            <a:pPr indent="-285750" lvl="1" marL="742950" marR="0" rtl="0" algn="l">
              <a:lnSpc>
                <a:spcPct val="10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Disyuntivas.</a:t>
            </a:r>
          </a:p>
          <a:p>
            <a:pPr indent="-285750" lvl="1" marL="742950" marR="0" rtl="0" algn="l">
              <a:lnSpc>
                <a:spcPct val="10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Costo de oportunidad.</a:t>
            </a:r>
          </a:p>
          <a:p>
            <a:pPr indent="-285750" lvl="1" marL="742950" marR="0" rtl="0" algn="l">
              <a:lnSpc>
                <a:spcPct val="10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Crecimiento económico / Retroceso económico.</a:t>
            </a:r>
          </a:p>
        </p:txBody>
      </p:sp>
    </p:spTree>
  </p:cSld>
  <p:clrMapOvr>
    <a:masterClrMapping/>
  </p:clrMapOvr>
  <p:transition spd="slow">
    <p:c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63" name="Shape 63"/>
        <p:cNvGrpSpPr/>
        <p:nvPr/>
      </p:nvGrpSpPr>
      <p:grpSpPr>
        <a:xfrm>
          <a:off x="0" y="0"/>
          <a:ext cx="0" cy="0"/>
          <a:chOff x="0" y="0"/>
          <a:chExt cx="0" cy="0"/>
        </a:xfrm>
      </p:grpSpPr>
      <p:sp>
        <p:nvSpPr>
          <p:cNvPr id="64" name="Shape 64"/>
          <p:cNvSpPr txBox="1"/>
          <p:nvPr>
            <p:ph idx="4294967295" type="title"/>
          </p:nvPr>
        </p:nvSpPr>
        <p:spPr>
          <a:xfrm>
            <a:off x="1295400" y="1219200"/>
            <a:ext cx="7086600" cy="1447800"/>
          </a:xfrm>
          <a:prstGeom prst="rect">
            <a:avLst/>
          </a:prstGeom>
          <a:no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800" u="none" cap="none" strike="noStrike">
                <a:solidFill>
                  <a:schemeClr val="dk1"/>
                </a:solidFill>
                <a:latin typeface="Arial"/>
                <a:ea typeface="Arial"/>
                <a:cs typeface="Arial"/>
                <a:sym typeface="Arial"/>
              </a:rPr>
              <a:t>LENGUAJE</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FRONTERA DE POSIBILIDADES DE PRODUCCION</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(FPP)</a:t>
            </a:r>
          </a:p>
        </p:txBody>
      </p:sp>
      <p:sp>
        <p:nvSpPr>
          <p:cNvPr id="65" name="Shape 65"/>
          <p:cNvSpPr txBox="1"/>
          <p:nvPr>
            <p:ph idx="4294967295" type="body"/>
          </p:nvPr>
        </p:nvSpPr>
        <p:spPr>
          <a:xfrm>
            <a:off x="1331912" y="2819400"/>
            <a:ext cx="7056437" cy="3778250"/>
          </a:xfrm>
          <a:prstGeom prst="rect">
            <a:avLst/>
          </a:prstGeom>
          <a:solidFill>
            <a:srgbClr val="FFFF99"/>
          </a:solidFill>
          <a:ln>
            <a:noFill/>
          </a:ln>
        </p:spPr>
        <p:txBody>
          <a:bodyPr anchorCtr="0" anchor="t" bIns="45700" lIns="91425" rIns="91425" tIns="45700">
            <a:noAutofit/>
          </a:bodyPr>
          <a:lstStyle/>
          <a:p>
            <a:pPr indent="-342900" lvl="0" marL="342900" marR="0" rtl="0" algn="l">
              <a:lnSpc>
                <a:spcPct val="75000"/>
              </a:lnSpc>
              <a:spcBef>
                <a:spcPts val="0"/>
              </a:spcBef>
              <a:spcAft>
                <a:spcPts val="0"/>
              </a:spcAft>
              <a:buClr>
                <a:schemeClr val="accent2"/>
              </a:buClr>
              <a:buSzPct val="25000"/>
              <a:buFont typeface="Noto Symbol"/>
              <a:buNone/>
            </a:pPr>
            <a:r>
              <a:rPr b="1" i="0" lang="en-US" sz="2100" u="none" cap="none" strike="noStrike">
                <a:solidFill>
                  <a:schemeClr val="accent2"/>
                </a:solidFill>
                <a:latin typeface="Times New Roman"/>
                <a:ea typeface="Times New Roman"/>
                <a:cs typeface="Times New Roman"/>
                <a:sym typeface="Times New Roman"/>
              </a:rPr>
              <a:t>EFICIENCIA</a:t>
            </a:r>
            <a:r>
              <a:rPr b="0" i="0" lang="en-US" sz="2100" u="none" cap="none" strike="noStrike">
                <a:solidFill>
                  <a:schemeClr val="dk1"/>
                </a:solidFill>
                <a:latin typeface="Times New Roman"/>
                <a:ea typeface="Times New Roman"/>
                <a:cs typeface="Times New Roman"/>
                <a:sym typeface="Times New Roman"/>
              </a:rPr>
              <a:t>, es la cantidad mínima de entradas (horas-hombre, capital invertido, materias primas, etc.) para obtener un nivel dado de salidas (ganancias, objetivos cumplidos, productos, etc.) </a:t>
            </a:r>
          </a:p>
          <a:p>
            <a:pPr indent="-342900" lvl="0" marL="342900" marR="0" rtl="0" algn="l">
              <a:lnSpc>
                <a:spcPct val="75000"/>
              </a:lnSpc>
              <a:spcBef>
                <a:spcPts val="315"/>
              </a:spcBef>
              <a:spcAft>
                <a:spcPts val="0"/>
              </a:spcAft>
              <a:buClr>
                <a:schemeClr val="accent2"/>
              </a:buClr>
              <a:buSzPct val="25000"/>
              <a:buFont typeface="Noto Symbol"/>
              <a:buNone/>
            </a:pPr>
            <a:r>
              <a:rPr b="1" i="0" lang="en-US" sz="2100" u="none" cap="none" strike="noStrike">
                <a:solidFill>
                  <a:schemeClr val="accent2"/>
                </a:solidFill>
                <a:latin typeface="Times New Roman"/>
                <a:ea typeface="Times New Roman"/>
                <a:cs typeface="Times New Roman"/>
                <a:sym typeface="Times New Roman"/>
              </a:rPr>
              <a:t>PLENO EMPLEO</a:t>
            </a:r>
            <a:r>
              <a:rPr b="0" i="0" lang="en-US" sz="2100" u="none" cap="none" strike="noStrike">
                <a:solidFill>
                  <a:schemeClr val="dk1"/>
                </a:solidFill>
                <a:latin typeface="Times New Roman"/>
                <a:ea typeface="Times New Roman"/>
                <a:cs typeface="Times New Roman"/>
                <a:sym typeface="Times New Roman"/>
              </a:rPr>
              <a:t>, es la situación en la que todos los recursos </a:t>
            </a:r>
          </a:p>
          <a:p>
            <a:pPr indent="-342900" lvl="0" marL="342900" marR="0" rtl="0" algn="l">
              <a:lnSpc>
                <a:spcPct val="75000"/>
              </a:lnSpc>
              <a:spcBef>
                <a:spcPts val="315"/>
              </a:spcBef>
              <a:spcAft>
                <a:spcPts val="0"/>
              </a:spcAft>
              <a:buClr>
                <a:schemeClr val="accent2"/>
              </a:buClr>
              <a:buSzPct val="25000"/>
              <a:buFont typeface="Noto Symbol"/>
              <a:buNone/>
            </a:pPr>
            <a:r>
              <a:rPr b="0" i="0" lang="en-US" sz="2100" u="none" cap="none" strike="noStrike">
                <a:solidFill>
                  <a:schemeClr val="dk1"/>
                </a:solidFill>
                <a:latin typeface="Times New Roman"/>
                <a:ea typeface="Times New Roman"/>
                <a:cs typeface="Times New Roman"/>
                <a:sym typeface="Times New Roman"/>
              </a:rPr>
              <a:t>productivos de una economía están completamente utilizados. </a:t>
            </a:r>
          </a:p>
          <a:p>
            <a:pPr indent="-342900" lvl="0" marL="342900" marR="0" rtl="0" algn="l">
              <a:lnSpc>
                <a:spcPct val="75000"/>
              </a:lnSpc>
              <a:spcBef>
                <a:spcPts val="315"/>
              </a:spcBef>
              <a:spcAft>
                <a:spcPts val="0"/>
              </a:spcAft>
              <a:buClr>
                <a:schemeClr val="accent2"/>
              </a:buClr>
              <a:buSzPct val="25000"/>
              <a:buFont typeface="Noto Symbol"/>
              <a:buNone/>
            </a:pPr>
            <a:r>
              <a:rPr b="1" i="0" lang="en-US" sz="2100" u="none" cap="none" strike="noStrike">
                <a:solidFill>
                  <a:schemeClr val="accent2"/>
                </a:solidFill>
                <a:latin typeface="Times New Roman"/>
                <a:ea typeface="Times New Roman"/>
                <a:cs typeface="Times New Roman"/>
                <a:sym typeface="Times New Roman"/>
              </a:rPr>
              <a:t>DISYUNTIVA</a:t>
            </a:r>
            <a:r>
              <a:rPr b="0" i="0" lang="en-US" sz="2100" u="none" cap="none" strike="noStrike">
                <a:solidFill>
                  <a:schemeClr val="dk1"/>
                </a:solidFill>
                <a:latin typeface="Times New Roman"/>
                <a:ea typeface="Times New Roman"/>
                <a:cs typeface="Times New Roman"/>
                <a:sym typeface="Times New Roman"/>
              </a:rPr>
              <a:t> es la alternativa entre dos cosas opuestas sobre las que necesariamente se debe optar. </a:t>
            </a:r>
          </a:p>
          <a:p>
            <a:pPr indent="-342900" lvl="0" marL="342900" marR="0" rtl="0" algn="l">
              <a:lnSpc>
                <a:spcPct val="75000"/>
              </a:lnSpc>
              <a:spcBef>
                <a:spcPts val="315"/>
              </a:spcBef>
              <a:spcAft>
                <a:spcPts val="0"/>
              </a:spcAft>
              <a:buClr>
                <a:schemeClr val="accent2"/>
              </a:buClr>
              <a:buSzPct val="25000"/>
              <a:buFont typeface="Noto Symbol"/>
              <a:buNone/>
            </a:pPr>
            <a:r>
              <a:rPr b="1" i="0" lang="en-US" sz="2100" u="none" cap="none" strike="noStrike">
                <a:solidFill>
                  <a:schemeClr val="accent2"/>
                </a:solidFill>
                <a:latin typeface="Times New Roman"/>
                <a:ea typeface="Times New Roman"/>
                <a:cs typeface="Times New Roman"/>
                <a:sym typeface="Times New Roman"/>
              </a:rPr>
              <a:t>COSTO DE OPORTUNIDAD</a:t>
            </a:r>
            <a:r>
              <a:rPr b="0" i="0" lang="en-US" sz="2100" u="none" cap="none" strike="noStrike">
                <a:solidFill>
                  <a:schemeClr val="dk1"/>
                </a:solidFill>
                <a:latin typeface="Times New Roman"/>
                <a:ea typeface="Times New Roman"/>
                <a:cs typeface="Times New Roman"/>
                <a:sym typeface="Times New Roman"/>
              </a:rPr>
              <a:t>, es el valor de la mejor opción no realizada. </a:t>
            </a:r>
          </a:p>
          <a:p>
            <a:pPr indent="-342900" lvl="0" marL="342900" marR="0" rtl="0" algn="l">
              <a:lnSpc>
                <a:spcPct val="75000"/>
              </a:lnSpc>
              <a:spcBef>
                <a:spcPts val="315"/>
              </a:spcBef>
              <a:spcAft>
                <a:spcPts val="0"/>
              </a:spcAft>
              <a:buClr>
                <a:schemeClr val="accent2"/>
              </a:buClr>
              <a:buSzPct val="25000"/>
              <a:buFont typeface="Noto Symbol"/>
              <a:buNone/>
            </a:pPr>
            <a:r>
              <a:rPr b="1" i="0" lang="en-US" sz="2100" u="none" cap="none" strike="noStrike">
                <a:solidFill>
                  <a:schemeClr val="accent2"/>
                </a:solidFill>
                <a:latin typeface="Times New Roman"/>
                <a:ea typeface="Times New Roman"/>
                <a:cs typeface="Times New Roman"/>
                <a:sym typeface="Times New Roman"/>
              </a:rPr>
              <a:t>CRECIMIENTO ECONÓMICO</a:t>
            </a:r>
            <a:r>
              <a:rPr b="0" i="0" lang="en-US" sz="2100" u="none" cap="none" strike="noStrike">
                <a:solidFill>
                  <a:schemeClr val="dk1"/>
                </a:solidFill>
                <a:latin typeface="Times New Roman"/>
                <a:ea typeface="Times New Roman"/>
                <a:cs typeface="Times New Roman"/>
                <a:sym typeface="Times New Roman"/>
              </a:rPr>
              <a:t>, es el aumento de la renta o del valor de bienes y servicios finales producidos por una economía (generalmente un país o una región) en un determinado período. </a:t>
            </a:r>
          </a:p>
        </p:txBody>
      </p:sp>
      <p:sp>
        <p:nvSpPr>
          <p:cNvPr id="66" name="Shape 66"/>
          <p:cNvSpPr txBox="1"/>
          <p:nvPr/>
        </p:nvSpPr>
        <p:spPr>
          <a:xfrm>
            <a:off x="1258887" y="836612"/>
            <a:ext cx="7885112" cy="1873249"/>
          </a:xfrm>
          <a:prstGeom prst="rect">
            <a:avLst/>
          </a:prstGeom>
          <a:gradFill>
            <a:gsLst>
              <a:gs pos="0">
                <a:schemeClr val="accent1"/>
              </a:gs>
              <a:gs pos="100000">
                <a:srgbClr val="BFBF02"/>
              </a:gs>
            </a:gsLst>
            <a:lin ang="5400000" scaled="0"/>
          </a:gra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Arial"/>
              <a:buNone/>
            </a:pPr>
            <a:r>
              <a:rPr b="1" i="0" lang="en-US" sz="2800" u="none" cap="none" strike="noStrike">
                <a:solidFill>
                  <a:schemeClr val="dk1"/>
                </a:solidFill>
                <a:latin typeface="Arial"/>
                <a:ea typeface="Arial"/>
                <a:cs typeface="Arial"/>
                <a:sym typeface="Arial"/>
              </a:rPr>
              <a:t>LENGUAJE</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FRONTERA DE POSIBILIDADES DE PRODUCCION</a:t>
            </a:r>
            <a:br>
              <a:rPr b="1" i="0" lang="en-US" sz="2800" u="none" cap="none" strike="noStrike">
                <a:solidFill>
                  <a:schemeClr val="dk1"/>
                </a:solidFill>
                <a:latin typeface="Arial"/>
                <a:ea typeface="Arial"/>
                <a:cs typeface="Arial"/>
                <a:sym typeface="Arial"/>
              </a:rPr>
            </a:br>
            <a:r>
              <a:rPr b="1" i="0" lang="en-US" sz="2400" u="none" cap="none" strike="noStrike">
                <a:solidFill>
                  <a:schemeClr val="dk1"/>
                </a:solidFill>
                <a:latin typeface="Arial"/>
                <a:ea typeface="Arial"/>
                <a:cs typeface="Arial"/>
                <a:sym typeface="Arial"/>
              </a:rPr>
              <a:t>(FPP)</a:t>
            </a:r>
          </a:p>
        </p:txBody>
      </p:sp>
    </p:spTree>
  </p:cSld>
  <p:clrMapOvr>
    <a:masterClrMapping/>
  </p:clrMapOvr>
  <p:transition spd="slow">
    <p:c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70" name="Shape 70"/>
        <p:cNvGrpSpPr/>
        <p:nvPr/>
      </p:nvGrpSpPr>
      <p:grpSpPr>
        <a:xfrm>
          <a:off x="0" y="0"/>
          <a:ext cx="0" cy="0"/>
          <a:chOff x="0" y="0"/>
          <a:chExt cx="0" cy="0"/>
        </a:xfrm>
      </p:grpSpPr>
      <p:sp>
        <p:nvSpPr>
          <p:cNvPr id="71" name="Shape 71"/>
          <p:cNvSpPr txBox="1"/>
          <p:nvPr>
            <p:ph idx="4294967295" type="title"/>
          </p:nvPr>
        </p:nvSpPr>
        <p:spPr>
          <a:xfrm>
            <a:off x="1295400" y="1219200"/>
            <a:ext cx="3205162" cy="14478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1" i="0" lang="en-US" sz="2800" u="none" cap="none" strike="noStrike">
                <a:solidFill>
                  <a:schemeClr val="dk1"/>
                </a:solidFill>
                <a:latin typeface="Tahoma"/>
                <a:ea typeface="Tahoma"/>
                <a:cs typeface="Tahoma"/>
                <a:sym typeface="Tahoma"/>
              </a:rPr>
              <a:t>DISYUNTIVAS</a:t>
            </a:r>
          </a:p>
        </p:txBody>
      </p:sp>
      <p:pic>
        <p:nvPicPr>
          <p:cNvPr id="72" name="Shape 72"/>
          <p:cNvPicPr preferRelativeResize="0"/>
          <p:nvPr>
            <p:ph idx="4294967295" type="body"/>
          </p:nvPr>
        </p:nvPicPr>
        <p:blipFill rotWithShape="1">
          <a:blip r:embed="rId3">
            <a:alphaModFix/>
          </a:blip>
          <a:srcRect b="0" l="0" r="0" t="0"/>
          <a:stretch/>
        </p:blipFill>
        <p:spPr>
          <a:xfrm>
            <a:off x="4211637" y="3573462"/>
            <a:ext cx="2376487" cy="1958974"/>
          </a:xfrm>
          <a:prstGeom prst="rect">
            <a:avLst/>
          </a:prstGeom>
          <a:noFill/>
          <a:ln>
            <a:noFill/>
          </a:ln>
        </p:spPr>
      </p:pic>
      <p:pic>
        <p:nvPicPr>
          <p:cNvPr id="73" name="Shape 73"/>
          <p:cNvPicPr preferRelativeResize="0"/>
          <p:nvPr/>
        </p:nvPicPr>
        <p:blipFill rotWithShape="1">
          <a:blip r:embed="rId4">
            <a:alphaModFix/>
          </a:blip>
          <a:srcRect b="0" l="0" r="0" t="0"/>
          <a:stretch/>
        </p:blipFill>
        <p:spPr>
          <a:xfrm>
            <a:off x="1187450" y="3284537"/>
            <a:ext cx="2447925" cy="2741612"/>
          </a:xfrm>
          <a:prstGeom prst="rect">
            <a:avLst/>
          </a:prstGeom>
          <a:noFill/>
          <a:ln>
            <a:noFill/>
          </a:ln>
        </p:spPr>
      </p:pic>
      <p:pic>
        <p:nvPicPr>
          <p:cNvPr id="74" name="Shape 74"/>
          <p:cNvPicPr preferRelativeResize="0"/>
          <p:nvPr>
            <p:ph idx="4294967295" type="body"/>
          </p:nvPr>
        </p:nvPicPr>
        <p:blipFill rotWithShape="1">
          <a:blip r:embed="rId5">
            <a:alphaModFix/>
          </a:blip>
          <a:srcRect b="0" l="0" r="0" t="0"/>
          <a:stretch/>
        </p:blipFill>
        <p:spPr>
          <a:xfrm>
            <a:off x="5435600" y="1412875"/>
            <a:ext cx="2305050" cy="2016124"/>
          </a:xfrm>
          <a:prstGeom prst="rect">
            <a:avLst/>
          </a:prstGeom>
          <a:noFill/>
          <a:ln>
            <a:noFill/>
          </a:ln>
        </p:spPr>
      </p:pic>
      <p:sp>
        <p:nvSpPr>
          <p:cNvPr id="75" name="Shape 75"/>
          <p:cNvSpPr txBox="1"/>
          <p:nvPr/>
        </p:nvSpPr>
        <p:spPr>
          <a:xfrm>
            <a:off x="250825" y="6157912"/>
            <a:ext cx="2736850" cy="366711"/>
          </a:xfrm>
          <a:prstGeom prst="rect">
            <a:avLst/>
          </a:prstGeom>
          <a:noFill/>
          <a:ln>
            <a:noFill/>
          </a:ln>
        </p:spPr>
        <p:txBody>
          <a:bodyPr anchorCtr="0" anchor="t" bIns="46025" lIns="92075" rIns="92075" tIns="46025">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Mantequilla  o Cañones</a:t>
            </a:r>
          </a:p>
        </p:txBody>
      </p:sp>
      <p:sp>
        <p:nvSpPr>
          <p:cNvPr id="76" name="Shape 76"/>
          <p:cNvSpPr txBox="1"/>
          <p:nvPr/>
        </p:nvSpPr>
        <p:spPr>
          <a:xfrm>
            <a:off x="4572000" y="5870575"/>
            <a:ext cx="4248149" cy="366711"/>
          </a:xfrm>
          <a:prstGeom prst="rect">
            <a:avLst/>
          </a:prstGeom>
          <a:noFill/>
          <a:ln>
            <a:noFill/>
          </a:ln>
        </p:spPr>
        <p:txBody>
          <a:bodyPr anchorCtr="0" anchor="t" bIns="46025" lIns="92075" rIns="92075" tIns="46025">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 Producción con o sin contaminación</a:t>
            </a:r>
          </a:p>
        </p:txBody>
      </p:sp>
    </p:spTree>
  </p:cSld>
  <p:clrMapOvr>
    <a:masterClrMapping/>
  </p:clrMapOvr>
  <p:transition spd="slow">
    <p:c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0" name="Shape 80"/>
        <p:cNvGrpSpPr/>
        <p:nvPr/>
      </p:nvGrpSpPr>
      <p:grpSpPr>
        <a:xfrm>
          <a:off x="0" y="0"/>
          <a:ext cx="0" cy="0"/>
          <a:chOff x="0" y="0"/>
          <a:chExt cx="0" cy="0"/>
        </a:xfrm>
      </p:grpSpPr>
      <p:sp>
        <p:nvSpPr>
          <p:cNvPr id="81" name="Shape 81"/>
          <p:cNvSpPr txBox="1"/>
          <p:nvPr>
            <p:ph idx="4294967295" type="title"/>
          </p:nvPr>
        </p:nvSpPr>
        <p:spPr>
          <a:xfrm>
            <a:off x="1258887" y="1196975"/>
            <a:ext cx="7705724" cy="1447800"/>
          </a:xfrm>
          <a:prstGeom prst="rect">
            <a:avLst/>
          </a:prstGeom>
          <a:no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1" i="0" lang="en-US" sz="2800" u="none" cap="none" strike="noStrike">
                <a:solidFill>
                  <a:schemeClr val="dk1"/>
                </a:solidFill>
                <a:latin typeface="Tahoma"/>
                <a:ea typeface="Tahoma"/>
                <a:cs typeface="Tahoma"/>
                <a:sym typeface="Tahoma"/>
              </a:rPr>
              <a:t>COSTO DE OPORTUNIDAD</a:t>
            </a:r>
            <a:br>
              <a:rPr b="1" i="0" lang="en-US" sz="2800" u="none" cap="none" strike="noStrike">
                <a:solidFill>
                  <a:schemeClr val="dk1"/>
                </a:solidFill>
                <a:latin typeface="Tahoma"/>
                <a:ea typeface="Tahoma"/>
                <a:cs typeface="Tahoma"/>
                <a:sym typeface="Tahoma"/>
              </a:rPr>
            </a:br>
            <a:r>
              <a:rPr b="1" i="0" lang="en-US" sz="2800" u="none" cap="none" strike="noStrike">
                <a:solidFill>
                  <a:schemeClr val="dk1"/>
                </a:solidFill>
                <a:latin typeface="Tahoma"/>
                <a:ea typeface="Tahoma"/>
                <a:cs typeface="Tahoma"/>
                <a:sym typeface="Tahoma"/>
              </a:rPr>
              <a:t>La renuncia a mejor opción no realizada</a:t>
            </a:r>
          </a:p>
        </p:txBody>
      </p:sp>
      <p:pic>
        <p:nvPicPr>
          <p:cNvPr id="82" name="Shape 82"/>
          <p:cNvPicPr preferRelativeResize="0"/>
          <p:nvPr/>
        </p:nvPicPr>
        <p:blipFill rotWithShape="1">
          <a:blip r:embed="rId3">
            <a:alphaModFix/>
          </a:blip>
          <a:srcRect b="0" l="0" r="0" t="0"/>
          <a:stretch/>
        </p:blipFill>
        <p:spPr>
          <a:xfrm>
            <a:off x="1258887" y="2420936"/>
            <a:ext cx="6985000" cy="4103687"/>
          </a:xfrm>
          <a:prstGeom prst="rect">
            <a:avLst/>
          </a:prstGeom>
          <a:noFill/>
          <a:ln>
            <a:noFill/>
          </a:ln>
        </p:spPr>
      </p:pic>
    </p:spTree>
  </p:cSld>
  <p:clrMapOvr>
    <a:masterClrMapping/>
  </p:clrMapOvr>
  <p:transition spd="slow">
    <p:c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86" name="Shape 86"/>
        <p:cNvGrpSpPr/>
        <p:nvPr/>
      </p:nvGrpSpPr>
      <p:grpSpPr>
        <a:xfrm>
          <a:off x="0" y="0"/>
          <a:ext cx="0" cy="0"/>
          <a:chOff x="0" y="0"/>
          <a:chExt cx="0" cy="0"/>
        </a:xfrm>
      </p:grpSpPr>
      <p:sp>
        <p:nvSpPr>
          <p:cNvPr id="87" name="Shape 87"/>
          <p:cNvSpPr txBox="1"/>
          <p:nvPr>
            <p:ph idx="4294967295" type="title"/>
          </p:nvPr>
        </p:nvSpPr>
        <p:spPr>
          <a:xfrm>
            <a:off x="1187450" y="1052512"/>
            <a:ext cx="7885112" cy="180022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Tahoma"/>
              <a:buNone/>
            </a:pPr>
            <a:r>
              <a:rPr b="1" i="0" lang="en-US" sz="2800" u="none" cap="none" strike="noStrike">
                <a:solidFill>
                  <a:schemeClr val="dk1"/>
                </a:solidFill>
                <a:latin typeface="Tahoma"/>
                <a:ea typeface="Tahoma"/>
                <a:cs typeface="Tahoma"/>
                <a:sym typeface="Tahoma"/>
              </a:rPr>
              <a:t>SUPUESTOS</a:t>
            </a:r>
            <a:br>
              <a:rPr b="1" i="0" lang="en-US" sz="2800" u="none" cap="none" strike="noStrike">
                <a:solidFill>
                  <a:schemeClr val="dk1"/>
                </a:solidFill>
                <a:latin typeface="Tahoma"/>
                <a:ea typeface="Tahoma"/>
                <a:cs typeface="Tahoma"/>
                <a:sym typeface="Tahoma"/>
              </a:rPr>
            </a:br>
            <a:r>
              <a:rPr b="1" i="0" lang="en-US" sz="2400" u="none" cap="none" strike="noStrike">
                <a:solidFill>
                  <a:schemeClr val="dk1"/>
                </a:solidFill>
                <a:latin typeface="Arial"/>
                <a:ea typeface="Arial"/>
                <a:cs typeface="Arial"/>
                <a:sym typeface="Arial"/>
              </a:rPr>
              <a:t>FRONTERA DE POSIBILIDADES DE PRODUCCIÓN</a:t>
            </a:r>
            <a:br>
              <a:rPr b="0" i="0" lang="en-US" sz="2800" u="none" cap="none" strike="noStrike">
                <a:solidFill>
                  <a:schemeClr val="dk1"/>
                </a:solidFill>
                <a:latin typeface="Tahoma"/>
                <a:ea typeface="Tahoma"/>
                <a:cs typeface="Tahoma"/>
                <a:sym typeface="Tahoma"/>
              </a:rPr>
            </a:br>
            <a:r>
              <a:rPr b="1" i="0" lang="en-US" sz="2400" u="none" cap="none" strike="noStrike">
                <a:solidFill>
                  <a:schemeClr val="dk1"/>
                </a:solidFill>
                <a:latin typeface="Tahoma"/>
                <a:ea typeface="Tahoma"/>
                <a:cs typeface="Tahoma"/>
                <a:sym typeface="Tahoma"/>
              </a:rPr>
              <a:t>(FPP)</a:t>
            </a:r>
          </a:p>
        </p:txBody>
      </p:sp>
      <p:sp>
        <p:nvSpPr>
          <p:cNvPr id="88" name="Shape 88"/>
          <p:cNvSpPr txBox="1"/>
          <p:nvPr>
            <p:ph idx="4294967295" type="body"/>
          </p:nvPr>
        </p:nvSpPr>
        <p:spPr>
          <a:xfrm>
            <a:off x="684212" y="2565400"/>
            <a:ext cx="8158161" cy="3459161"/>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25000"/>
              <a:buFont typeface="Noto Symbol"/>
              <a:buNone/>
            </a:pPr>
            <a:r>
              <a:t/>
            </a:r>
            <a:endParaRPr b="1" i="0" sz="2800" u="none" cap="none" strike="noStrike">
              <a:solidFill>
                <a:schemeClr val="dk1"/>
              </a:solidFill>
              <a:latin typeface="Arial"/>
              <a:ea typeface="Arial"/>
              <a:cs typeface="Arial"/>
              <a:sym typeface="Arial"/>
            </a:endParaRPr>
          </a:p>
          <a:p>
            <a:pPr indent="-285750" lvl="1" marL="742950" marR="0" rtl="0" algn="l">
              <a:lnSpc>
                <a:spcPct val="100000"/>
              </a:lnSpc>
              <a:spcBef>
                <a:spcPts val="480"/>
              </a:spcBef>
              <a:spcAft>
                <a:spcPts val="0"/>
              </a:spcAft>
              <a:buClr>
                <a:schemeClr val="dk1"/>
              </a:buClr>
              <a:buSzPct val="75000"/>
              <a:buFont typeface="Noto Symbol"/>
              <a:buChar char="■"/>
            </a:pPr>
            <a:r>
              <a:rPr b="1" i="0" lang="en-US" sz="2400" u="none" cap="none" strike="noStrike">
                <a:solidFill>
                  <a:schemeClr val="dk1"/>
                </a:solidFill>
                <a:latin typeface="Arial"/>
                <a:ea typeface="Arial"/>
                <a:cs typeface="Arial"/>
                <a:sym typeface="Arial"/>
              </a:rPr>
              <a:t>ECONOMÍA PRODUCE SOLO 2 BIENES. </a:t>
            </a:r>
          </a:p>
          <a:p>
            <a:pPr indent="-285750" lvl="1" marL="742950" marR="0" rtl="0" algn="l">
              <a:lnSpc>
                <a:spcPct val="100000"/>
              </a:lnSpc>
              <a:spcBef>
                <a:spcPts val="360"/>
              </a:spcBef>
              <a:spcAft>
                <a:spcPts val="0"/>
              </a:spcAft>
              <a:buClr>
                <a:schemeClr val="dk1"/>
              </a:buClr>
              <a:buSzPct val="25000"/>
              <a:buFont typeface="Noto Symbol"/>
              <a:buNone/>
            </a:pPr>
            <a:r>
              <a:t/>
            </a:r>
            <a:endParaRPr b="1" i="0" sz="1800" u="none" cap="none" strike="noStrike">
              <a:solidFill>
                <a:schemeClr val="dk1"/>
              </a:solidFill>
              <a:latin typeface="Arial"/>
              <a:ea typeface="Arial"/>
              <a:cs typeface="Arial"/>
              <a:sym typeface="Arial"/>
            </a:endParaRPr>
          </a:p>
          <a:p>
            <a:pPr indent="-285750" lvl="1" marL="742950" marR="0" rtl="0" algn="l">
              <a:lnSpc>
                <a:spcPct val="100000"/>
              </a:lnSpc>
              <a:spcBef>
                <a:spcPts val="360"/>
              </a:spcBef>
              <a:spcAft>
                <a:spcPts val="0"/>
              </a:spcAft>
              <a:buClr>
                <a:schemeClr val="dk1"/>
              </a:buClr>
              <a:buSzPct val="25000"/>
              <a:buFont typeface="Noto Symbol"/>
              <a:buNone/>
            </a:pPr>
            <a:r>
              <a:rPr b="1" i="0" lang="en-US" sz="1800" u="none" cap="none" strike="noStrike">
                <a:solidFill>
                  <a:schemeClr val="dk1"/>
                </a:solidFill>
                <a:latin typeface="Arial"/>
                <a:ea typeface="Arial"/>
                <a:cs typeface="Arial"/>
                <a:sym typeface="Arial"/>
              </a:rPr>
              <a:t>Y ESTAN DADOS:</a:t>
            </a:r>
          </a:p>
          <a:p>
            <a:pPr indent="-285750" lvl="1" marL="742950" marR="0" rtl="0" algn="l">
              <a:lnSpc>
                <a:spcPct val="100000"/>
              </a:lnSpc>
              <a:spcBef>
                <a:spcPts val="480"/>
              </a:spcBef>
              <a:spcAft>
                <a:spcPts val="0"/>
              </a:spcAft>
              <a:buClr>
                <a:schemeClr val="dk1"/>
              </a:buClr>
              <a:buSzPct val="75000"/>
              <a:buFont typeface="Noto Symbol"/>
              <a:buChar char="■"/>
            </a:pPr>
            <a:r>
              <a:rPr b="1" i="0" lang="en-US" sz="2400" u="none" cap="none" strike="noStrike">
                <a:solidFill>
                  <a:schemeClr val="dk1"/>
                </a:solidFill>
                <a:latin typeface="Arial"/>
                <a:ea typeface="Arial"/>
                <a:cs typeface="Arial"/>
                <a:sym typeface="Arial"/>
              </a:rPr>
              <a:t>EL NIVEL DE RECURSOS PRODUCTIVOS.</a:t>
            </a:r>
          </a:p>
          <a:p>
            <a:pPr indent="-285750" lvl="1" marL="742950" marR="0" rtl="0" algn="l">
              <a:lnSpc>
                <a:spcPct val="100000"/>
              </a:lnSpc>
              <a:spcBef>
                <a:spcPts val="480"/>
              </a:spcBef>
              <a:spcAft>
                <a:spcPts val="0"/>
              </a:spcAft>
              <a:buClr>
                <a:schemeClr val="dk1"/>
              </a:buClr>
              <a:buSzPct val="75000"/>
              <a:buFont typeface="Noto Symbol"/>
              <a:buChar char="■"/>
            </a:pPr>
            <a:r>
              <a:rPr b="1" i="0" lang="en-US" sz="2400" u="none" cap="none" strike="noStrike">
                <a:solidFill>
                  <a:schemeClr val="dk1"/>
                </a:solidFill>
                <a:latin typeface="Arial"/>
                <a:ea typeface="Arial"/>
                <a:cs typeface="Arial"/>
                <a:sym typeface="Arial"/>
              </a:rPr>
              <a:t>NIVEL TECNOLÓGICO.</a:t>
            </a:r>
          </a:p>
          <a:p>
            <a:pPr indent="-342900" lvl="0" marL="342900" marR="0" rtl="0" algn="l">
              <a:lnSpc>
                <a:spcPct val="100000"/>
              </a:lnSpc>
              <a:spcBef>
                <a:spcPts val="480"/>
              </a:spcBef>
              <a:spcAft>
                <a:spcPts val="0"/>
              </a:spcAft>
              <a:buClr>
                <a:schemeClr val="accent2"/>
              </a:buClr>
              <a:buSzPct val="75000"/>
              <a:buFont typeface="Noto Symbol"/>
              <a:buNone/>
            </a:pPr>
            <a:r>
              <a:t/>
            </a:r>
            <a:endParaRPr b="1" i="0" sz="24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93" name="Shape 93"/>
        <p:cNvGrpSpPr/>
        <p:nvPr/>
      </p:nvGrpSpPr>
      <p:grpSpPr>
        <a:xfrm>
          <a:off x="0" y="0"/>
          <a:ext cx="0" cy="0"/>
          <a:chOff x="0" y="0"/>
          <a:chExt cx="0" cy="0"/>
        </a:xfrm>
      </p:grpSpPr>
      <p:cxnSp>
        <p:nvCxnSpPr>
          <p:cNvPr id="94" name="Shape 94"/>
          <p:cNvCxnSpPr/>
          <p:nvPr/>
        </p:nvCxnSpPr>
        <p:spPr>
          <a:xfrm>
            <a:off x="2700336" y="3068636"/>
            <a:ext cx="3276600" cy="2952900"/>
          </a:xfrm>
          <a:prstGeom prst="curvedConnector2">
            <a:avLst/>
          </a:prstGeom>
          <a:noFill/>
          <a:ln cap="flat" cmpd="sng" w="28575">
            <a:solidFill>
              <a:srgbClr val="000099"/>
            </a:solidFill>
            <a:prstDash val="solid"/>
            <a:miter/>
            <a:headEnd len="med" w="med" type="none"/>
            <a:tailEnd len="med" w="med" type="none"/>
          </a:ln>
        </p:spPr>
      </p:cxnSp>
      <p:sp>
        <p:nvSpPr>
          <p:cNvPr id="95" name="Shape 95"/>
          <p:cNvSpPr txBox="1"/>
          <p:nvPr>
            <p:ph idx="4294967295" type="title"/>
          </p:nvPr>
        </p:nvSpPr>
        <p:spPr>
          <a:xfrm>
            <a:off x="760412" y="1052512"/>
            <a:ext cx="7772400" cy="95567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2800" u="none" cap="none" strike="noStrike">
                <a:solidFill>
                  <a:schemeClr val="dk1"/>
                </a:solidFill>
                <a:latin typeface="Arial"/>
                <a:ea typeface="Arial"/>
                <a:cs typeface="Arial"/>
                <a:sym typeface="Arial"/>
              </a:rPr>
              <a:t>MODELO GRÁFICO: FRONTERA DE POSIBILIDADES DE PRODUCCIÓN</a:t>
            </a:r>
          </a:p>
        </p:txBody>
      </p:sp>
      <p:cxnSp>
        <p:nvCxnSpPr>
          <p:cNvPr id="96" name="Shape 96"/>
          <p:cNvCxnSpPr/>
          <p:nvPr/>
        </p:nvCxnSpPr>
        <p:spPr>
          <a:xfrm>
            <a:off x="2700336" y="6021387"/>
            <a:ext cx="4114800" cy="0"/>
          </a:xfrm>
          <a:prstGeom prst="straightConnector1">
            <a:avLst/>
          </a:prstGeom>
          <a:noFill/>
          <a:ln cap="flat" cmpd="sng" w="28575">
            <a:solidFill>
              <a:schemeClr val="dk1"/>
            </a:solidFill>
            <a:prstDash val="solid"/>
            <a:miter/>
            <a:headEnd len="med" w="med" type="none"/>
            <a:tailEnd len="lg" w="lg" type="triangle"/>
          </a:ln>
        </p:spPr>
      </p:cxnSp>
      <p:sp>
        <p:nvSpPr>
          <p:cNvPr id="97" name="Shape 97"/>
          <p:cNvSpPr txBox="1"/>
          <p:nvPr/>
        </p:nvSpPr>
        <p:spPr>
          <a:xfrm>
            <a:off x="762000" y="2462211"/>
            <a:ext cx="1616074"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Computadoras</a:t>
            </a:r>
          </a:p>
        </p:txBody>
      </p:sp>
      <p:sp>
        <p:nvSpPr>
          <p:cNvPr id="98" name="Shape 98"/>
          <p:cNvSpPr txBox="1"/>
          <p:nvPr/>
        </p:nvSpPr>
        <p:spPr>
          <a:xfrm>
            <a:off x="6705600" y="6172200"/>
            <a:ext cx="14033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Automóviles</a:t>
            </a:r>
          </a:p>
        </p:txBody>
      </p:sp>
      <p:sp>
        <p:nvSpPr>
          <p:cNvPr id="99" name="Shape 99"/>
          <p:cNvSpPr txBox="1"/>
          <p:nvPr/>
        </p:nvSpPr>
        <p:spPr>
          <a:xfrm>
            <a:off x="2422525" y="60801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0</a:t>
            </a:r>
          </a:p>
        </p:txBody>
      </p:sp>
      <p:sp>
        <p:nvSpPr>
          <p:cNvPr id="100" name="Shape 100"/>
          <p:cNvSpPr txBox="1"/>
          <p:nvPr/>
        </p:nvSpPr>
        <p:spPr>
          <a:xfrm>
            <a:off x="1908175" y="2924175"/>
            <a:ext cx="74929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 3,000</a:t>
            </a:r>
          </a:p>
        </p:txBody>
      </p:sp>
      <p:sp>
        <p:nvSpPr>
          <p:cNvPr id="101" name="Shape 101"/>
          <p:cNvSpPr txBox="1"/>
          <p:nvPr/>
        </p:nvSpPr>
        <p:spPr>
          <a:xfrm>
            <a:off x="5622925" y="6080125"/>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1,000</a:t>
            </a:r>
          </a:p>
        </p:txBody>
      </p:sp>
      <p:cxnSp>
        <p:nvCxnSpPr>
          <p:cNvPr id="102" name="Shape 102"/>
          <p:cNvCxnSpPr/>
          <p:nvPr/>
        </p:nvCxnSpPr>
        <p:spPr>
          <a:xfrm>
            <a:off x="2700336" y="4005262"/>
            <a:ext cx="2368550" cy="0"/>
          </a:xfrm>
          <a:prstGeom prst="straightConnector1">
            <a:avLst/>
          </a:prstGeom>
          <a:noFill/>
          <a:ln cap="rnd" cmpd="sng" w="9525">
            <a:solidFill>
              <a:schemeClr val="dk1"/>
            </a:solidFill>
            <a:prstDash val="solid"/>
            <a:miter/>
            <a:headEnd len="med" w="med" type="none"/>
            <a:tailEnd len="med" w="med" type="oval"/>
          </a:ln>
        </p:spPr>
      </p:cxnSp>
      <p:cxnSp>
        <p:nvCxnSpPr>
          <p:cNvPr id="103" name="Shape 103"/>
          <p:cNvCxnSpPr/>
          <p:nvPr/>
        </p:nvCxnSpPr>
        <p:spPr>
          <a:xfrm>
            <a:off x="5076825" y="4005262"/>
            <a:ext cx="0" cy="1981199"/>
          </a:xfrm>
          <a:prstGeom prst="straightConnector1">
            <a:avLst/>
          </a:prstGeom>
          <a:noFill/>
          <a:ln cap="rnd" cmpd="sng" w="12700">
            <a:solidFill>
              <a:schemeClr val="dk1"/>
            </a:solidFill>
            <a:prstDash val="solid"/>
            <a:miter/>
            <a:headEnd len="med" w="med" type="none"/>
            <a:tailEnd len="med" w="med" type="none"/>
          </a:ln>
        </p:spPr>
      </p:cxnSp>
      <p:sp>
        <p:nvSpPr>
          <p:cNvPr id="104" name="Shape 104"/>
          <p:cNvSpPr txBox="1"/>
          <p:nvPr/>
        </p:nvSpPr>
        <p:spPr>
          <a:xfrm>
            <a:off x="4784725" y="6080125"/>
            <a:ext cx="5222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700</a:t>
            </a:r>
          </a:p>
        </p:txBody>
      </p:sp>
      <p:sp>
        <p:nvSpPr>
          <p:cNvPr id="105" name="Shape 105"/>
          <p:cNvSpPr txBox="1"/>
          <p:nvPr/>
        </p:nvSpPr>
        <p:spPr>
          <a:xfrm>
            <a:off x="1905000" y="3886200"/>
            <a:ext cx="74929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 2,000</a:t>
            </a:r>
          </a:p>
        </p:txBody>
      </p:sp>
      <p:sp>
        <p:nvSpPr>
          <p:cNvPr id="106" name="Shape 106"/>
          <p:cNvSpPr txBox="1"/>
          <p:nvPr/>
        </p:nvSpPr>
        <p:spPr>
          <a:xfrm>
            <a:off x="5076825" y="3716337"/>
            <a:ext cx="349250" cy="366711"/>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C</a:t>
            </a:r>
          </a:p>
        </p:txBody>
      </p:sp>
      <p:sp>
        <p:nvSpPr>
          <p:cNvPr id="107" name="Shape 107"/>
          <p:cNvSpPr txBox="1"/>
          <p:nvPr/>
        </p:nvSpPr>
        <p:spPr>
          <a:xfrm>
            <a:off x="5724525" y="2924175"/>
            <a:ext cx="307974" cy="336549"/>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600" u="none" cap="none" strike="noStrike">
                <a:solidFill>
                  <a:schemeClr val="hlink"/>
                </a:solidFill>
                <a:latin typeface="Arial"/>
                <a:ea typeface="Arial"/>
                <a:cs typeface="Arial"/>
                <a:sym typeface="Arial"/>
              </a:rPr>
              <a:t>F</a:t>
            </a:r>
          </a:p>
        </p:txBody>
      </p:sp>
      <p:sp>
        <p:nvSpPr>
          <p:cNvPr id="108" name="Shape 108"/>
          <p:cNvSpPr txBox="1"/>
          <p:nvPr/>
        </p:nvSpPr>
        <p:spPr>
          <a:xfrm>
            <a:off x="3563937" y="4581525"/>
            <a:ext cx="319087" cy="336549"/>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accent2"/>
              </a:buClr>
              <a:buSzPct val="25000"/>
              <a:buFont typeface="Arial"/>
              <a:buNone/>
            </a:pPr>
            <a:r>
              <a:rPr b="1" i="0" lang="en-US" sz="1600" u="none" cap="none" strike="noStrike">
                <a:solidFill>
                  <a:schemeClr val="accent2"/>
                </a:solidFill>
                <a:latin typeface="Arial"/>
                <a:ea typeface="Arial"/>
                <a:cs typeface="Arial"/>
                <a:sym typeface="Arial"/>
              </a:rPr>
              <a:t>E</a:t>
            </a:r>
          </a:p>
        </p:txBody>
      </p:sp>
      <p:sp>
        <p:nvSpPr>
          <p:cNvPr id="109" name="Shape 109"/>
          <p:cNvSpPr txBox="1"/>
          <p:nvPr/>
        </p:nvSpPr>
        <p:spPr>
          <a:xfrm>
            <a:off x="4184650" y="3068636"/>
            <a:ext cx="387350" cy="336549"/>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600" u="none" cap="none" strike="noStrike">
                <a:solidFill>
                  <a:schemeClr val="hlink"/>
                </a:solidFill>
                <a:latin typeface="Arial"/>
                <a:ea typeface="Arial"/>
                <a:cs typeface="Arial"/>
                <a:sym typeface="Arial"/>
              </a:rPr>
              <a:t> B</a:t>
            </a:r>
          </a:p>
        </p:txBody>
      </p:sp>
      <p:cxnSp>
        <p:nvCxnSpPr>
          <p:cNvPr id="110" name="Shape 110"/>
          <p:cNvCxnSpPr/>
          <p:nvPr/>
        </p:nvCxnSpPr>
        <p:spPr>
          <a:xfrm rot="10800000">
            <a:off x="2700337" y="3429000"/>
            <a:ext cx="1600199" cy="0"/>
          </a:xfrm>
          <a:prstGeom prst="straightConnector1">
            <a:avLst/>
          </a:prstGeom>
          <a:noFill/>
          <a:ln cap="rnd" cmpd="sng" w="9525">
            <a:solidFill>
              <a:schemeClr val="dk1"/>
            </a:solidFill>
            <a:prstDash val="solid"/>
            <a:miter/>
            <a:headEnd len="med" w="med" type="none"/>
            <a:tailEnd len="med" w="med" type="none"/>
          </a:ln>
        </p:spPr>
      </p:cxnSp>
      <p:cxnSp>
        <p:nvCxnSpPr>
          <p:cNvPr id="111" name="Shape 111"/>
          <p:cNvCxnSpPr/>
          <p:nvPr/>
        </p:nvCxnSpPr>
        <p:spPr>
          <a:xfrm>
            <a:off x="4284662" y="3429000"/>
            <a:ext cx="0" cy="2590800"/>
          </a:xfrm>
          <a:prstGeom prst="straightConnector1">
            <a:avLst/>
          </a:prstGeom>
          <a:noFill/>
          <a:ln cap="rnd" cmpd="sng" w="9525">
            <a:solidFill>
              <a:schemeClr val="dk1"/>
            </a:solidFill>
            <a:prstDash val="solid"/>
            <a:miter/>
            <a:headEnd len="med" w="med" type="oval"/>
            <a:tailEnd len="med" w="med" type="none"/>
          </a:ln>
        </p:spPr>
      </p:cxnSp>
      <p:sp>
        <p:nvSpPr>
          <p:cNvPr id="112" name="Shape 112"/>
          <p:cNvSpPr txBox="1"/>
          <p:nvPr/>
        </p:nvSpPr>
        <p:spPr>
          <a:xfrm>
            <a:off x="1965325" y="3260725"/>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2,800</a:t>
            </a:r>
          </a:p>
        </p:txBody>
      </p:sp>
      <p:sp>
        <p:nvSpPr>
          <p:cNvPr id="113" name="Shape 113"/>
          <p:cNvSpPr txBox="1"/>
          <p:nvPr/>
        </p:nvSpPr>
        <p:spPr>
          <a:xfrm>
            <a:off x="4022725" y="6080125"/>
            <a:ext cx="5222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500</a:t>
            </a:r>
          </a:p>
        </p:txBody>
      </p:sp>
      <p:sp>
        <p:nvSpPr>
          <p:cNvPr id="114" name="Shape 114"/>
          <p:cNvSpPr txBox="1"/>
          <p:nvPr/>
        </p:nvSpPr>
        <p:spPr>
          <a:xfrm>
            <a:off x="6372225" y="2205036"/>
            <a:ext cx="2447925" cy="2911474"/>
          </a:xfrm>
          <a:prstGeom prst="rect">
            <a:avLst/>
          </a:prstGeom>
          <a:solidFill>
            <a:srgbClr val="CCFFFF"/>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A, B, C, E y D: Producción posible y eficiente.</a:t>
            </a:r>
          </a:p>
          <a:p>
            <a:pPr indent="0" lvl="0" marL="0" marR="0" rtl="0" algn="l">
              <a:lnSpc>
                <a:spcPct val="100000"/>
              </a:lnSpc>
              <a:spcBef>
                <a:spcPts val="0"/>
              </a:spcBef>
              <a:spcAft>
                <a:spcPts val="0"/>
              </a:spcAft>
              <a:buClr>
                <a:schemeClr val="hlink"/>
              </a:buClr>
              <a:buSzPct val="25000"/>
              <a:buFont typeface="Times New Roman"/>
              <a:buNone/>
            </a:pPr>
            <a:r>
              <a:rPr b="1" i="0" lang="en-US" sz="1800" u="none" cap="none" strike="noStrike">
                <a:solidFill>
                  <a:schemeClr val="hlink"/>
                </a:solidFill>
                <a:latin typeface="Times New Roman"/>
                <a:ea typeface="Times New Roman"/>
                <a:cs typeface="Times New Roman"/>
                <a:sym typeface="Times New Roman"/>
              </a:rPr>
              <a:t>F: Producción imposible.</a:t>
            </a:r>
          </a:p>
          <a:p>
            <a:pPr indent="0" lvl="0" marL="0" marR="0" rtl="0" algn="l">
              <a:lnSpc>
                <a:spcPct val="100000"/>
              </a:lnSpc>
              <a:spcBef>
                <a:spcPts val="0"/>
              </a:spcBef>
              <a:spcAft>
                <a:spcPts val="0"/>
              </a:spcAft>
              <a:buClr>
                <a:schemeClr val="accent2"/>
              </a:buClr>
              <a:buSzPct val="25000"/>
              <a:buFont typeface="Times New Roman"/>
              <a:buNone/>
            </a:pPr>
            <a:r>
              <a:rPr b="1" i="0" lang="en-US" sz="1800" u="none" cap="none" strike="noStrike">
                <a:solidFill>
                  <a:schemeClr val="accent2"/>
                </a:solidFill>
                <a:latin typeface="Times New Roman"/>
                <a:ea typeface="Times New Roman"/>
                <a:cs typeface="Times New Roman"/>
                <a:sym typeface="Times New Roman"/>
              </a:rPr>
              <a:t>E: Producción posible e ineficiente  </a:t>
            </a:r>
          </a:p>
          <a:p>
            <a:pPr indent="0" lvl="0" marL="0" marR="0" rtl="0" algn="l">
              <a:lnSpc>
                <a:spcPct val="100000"/>
              </a:lnSpc>
              <a:spcBef>
                <a:spcPts val="0"/>
              </a:spcBef>
              <a:spcAft>
                <a:spcPts val="0"/>
              </a:spcAft>
              <a:buClr>
                <a:srgbClr val="000099"/>
              </a:buClr>
              <a:buSzPct val="25000"/>
              <a:buFont typeface="Arial"/>
              <a:buNone/>
            </a:pPr>
            <a:r>
              <a:rPr b="1" i="0" lang="en-US" sz="1600" u="none" cap="none" strike="noStrike">
                <a:solidFill>
                  <a:srgbClr val="000099"/>
                </a:solidFill>
                <a:latin typeface="Arial"/>
                <a:ea typeface="Arial"/>
                <a:cs typeface="Arial"/>
                <a:sym typeface="Arial"/>
              </a:rPr>
              <a:t>A, B, C y D: Producción posible y eficiente</a:t>
            </a:r>
          </a:p>
          <a:p>
            <a:pPr indent="0" lvl="0" marL="0" marR="0" rtl="0" algn="l">
              <a:lnSpc>
                <a:spcPct val="100000"/>
              </a:lnSpc>
              <a:spcBef>
                <a:spcPts val="0"/>
              </a:spcBef>
              <a:spcAft>
                <a:spcPts val="0"/>
              </a:spcAft>
              <a:buClr>
                <a:srgbClr val="FF0000"/>
              </a:buClr>
              <a:buSzPct val="25000"/>
              <a:buFont typeface="Arial"/>
              <a:buNone/>
            </a:pPr>
            <a:r>
              <a:rPr b="1" i="0" lang="en-US" sz="1600" u="none" cap="none" strike="noStrike">
                <a:solidFill>
                  <a:srgbClr val="FF0000"/>
                </a:solidFill>
                <a:latin typeface="Arial"/>
                <a:ea typeface="Arial"/>
                <a:cs typeface="Arial"/>
                <a:sym typeface="Arial"/>
              </a:rPr>
              <a:t> </a:t>
            </a:r>
          </a:p>
        </p:txBody>
      </p:sp>
      <p:cxnSp>
        <p:nvCxnSpPr>
          <p:cNvPr id="115" name="Shape 115"/>
          <p:cNvCxnSpPr/>
          <p:nvPr/>
        </p:nvCxnSpPr>
        <p:spPr>
          <a:xfrm>
            <a:off x="2700336" y="2349500"/>
            <a:ext cx="0" cy="3703637"/>
          </a:xfrm>
          <a:prstGeom prst="straightConnector1">
            <a:avLst/>
          </a:prstGeom>
          <a:noFill/>
          <a:ln cap="flat" cmpd="sng" w="28575">
            <a:solidFill>
              <a:schemeClr val="dk1"/>
            </a:solidFill>
            <a:prstDash val="solid"/>
            <a:miter/>
            <a:headEnd len="lg" w="lg" type="triangle"/>
            <a:tailEnd len="med" w="med" type="none"/>
          </a:ln>
        </p:spPr>
      </p:cxnSp>
      <p:sp>
        <p:nvSpPr>
          <p:cNvPr id="116" name="Shape 116"/>
          <p:cNvSpPr txBox="1"/>
          <p:nvPr/>
        </p:nvSpPr>
        <p:spPr>
          <a:xfrm>
            <a:off x="2627311" y="2708275"/>
            <a:ext cx="387350" cy="336549"/>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600" u="none" cap="none" strike="noStrike">
                <a:solidFill>
                  <a:schemeClr val="hlink"/>
                </a:solidFill>
                <a:latin typeface="Arial"/>
                <a:ea typeface="Arial"/>
                <a:cs typeface="Arial"/>
                <a:sym typeface="Arial"/>
              </a:rPr>
              <a:t> A</a:t>
            </a:r>
          </a:p>
        </p:txBody>
      </p:sp>
      <p:sp>
        <p:nvSpPr>
          <p:cNvPr id="117" name="Shape 117"/>
          <p:cNvSpPr txBox="1"/>
          <p:nvPr/>
        </p:nvSpPr>
        <p:spPr>
          <a:xfrm>
            <a:off x="5913437" y="5684837"/>
            <a:ext cx="387350" cy="336549"/>
          </a:xfrm>
          <a:prstGeom prst="rect">
            <a:avLst/>
          </a:prstGeom>
          <a:solidFill>
            <a:srgbClr val="FFFF99"/>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600" u="none" cap="none" strike="noStrike">
                <a:solidFill>
                  <a:schemeClr val="hlink"/>
                </a:solidFill>
                <a:latin typeface="Arial"/>
                <a:ea typeface="Arial"/>
                <a:cs typeface="Arial"/>
                <a:sym typeface="Arial"/>
              </a:rPr>
              <a:t> D</a:t>
            </a:r>
          </a:p>
        </p:txBody>
      </p:sp>
    </p:spTree>
  </p:cSld>
  <p:clrMapOvr>
    <a:masterClrMapping/>
  </p:clrMapOvr>
  <p:transition spd="slow">
    <p:c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1" name="Shape 121"/>
        <p:cNvGrpSpPr/>
        <p:nvPr/>
      </p:nvGrpSpPr>
      <p:grpSpPr>
        <a:xfrm>
          <a:off x="0" y="0"/>
          <a:ext cx="0" cy="0"/>
          <a:chOff x="0" y="0"/>
          <a:chExt cx="0" cy="0"/>
        </a:xfrm>
      </p:grpSpPr>
      <p:sp>
        <p:nvSpPr>
          <p:cNvPr id="122" name="Shape 122"/>
          <p:cNvSpPr txBox="1"/>
          <p:nvPr>
            <p:ph idx="4294967295" type="title"/>
          </p:nvPr>
        </p:nvSpPr>
        <p:spPr>
          <a:xfrm>
            <a:off x="1187450" y="1052512"/>
            <a:ext cx="7024686" cy="1370012"/>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ARGUMENTOS DEL MODELO FPP</a:t>
            </a:r>
          </a:p>
        </p:txBody>
      </p:sp>
      <p:sp>
        <p:nvSpPr>
          <p:cNvPr id="123" name="Shape 123"/>
          <p:cNvSpPr txBox="1"/>
          <p:nvPr>
            <p:ph idx="4294967295" type="body"/>
          </p:nvPr>
        </p:nvSpPr>
        <p:spPr>
          <a:xfrm>
            <a:off x="1116012" y="2565400"/>
            <a:ext cx="7086600" cy="3849686"/>
          </a:xfrm>
          <a:prstGeom prst="rect">
            <a:avLst/>
          </a:prstGeom>
          <a:no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accent2"/>
              </a:buClr>
              <a:buSzPct val="25000"/>
              <a:buFont typeface="Noto Symbol"/>
              <a:buNone/>
            </a:pPr>
            <a:r>
              <a:rPr b="0" i="0" lang="en-US" sz="2000" u="none" cap="none" strike="noStrike">
                <a:solidFill>
                  <a:schemeClr val="dk1"/>
                </a:solidFill>
                <a:latin typeface="Tahoma"/>
                <a:ea typeface="Tahoma"/>
                <a:cs typeface="Tahoma"/>
                <a:sym typeface="Tahoma"/>
              </a:rPr>
              <a:t>La </a:t>
            </a:r>
            <a:r>
              <a:rPr b="1" i="0" lang="en-US" sz="2000" u="none" cap="none" strike="noStrike">
                <a:solidFill>
                  <a:schemeClr val="dk1"/>
                </a:solidFill>
                <a:latin typeface="Tahoma"/>
                <a:ea typeface="Tahoma"/>
                <a:cs typeface="Tahoma"/>
                <a:sym typeface="Tahoma"/>
              </a:rPr>
              <a:t>Frontera de posibilidades de producción</a:t>
            </a:r>
            <a:r>
              <a:rPr b="0" i="0" lang="en-US" sz="2000" u="none" cap="none" strike="noStrike">
                <a:solidFill>
                  <a:schemeClr val="dk1"/>
                </a:solidFill>
                <a:latin typeface="Tahoma"/>
                <a:ea typeface="Tahoma"/>
                <a:cs typeface="Tahoma"/>
                <a:sym typeface="Tahoma"/>
              </a:rPr>
              <a:t> es decreciente y cóncava, porque se sustituye siguiendo la ley de los rendimientos decrecientes.</a:t>
            </a:r>
          </a:p>
          <a:p>
            <a:pPr indent="-342900" lvl="0" marL="342900" marR="0" rtl="0" algn="l">
              <a:lnSpc>
                <a:spcPct val="80000"/>
              </a:lnSpc>
              <a:spcBef>
                <a:spcPts val="400"/>
              </a:spcBef>
              <a:spcAft>
                <a:spcPts val="0"/>
              </a:spcAft>
              <a:buClr>
                <a:schemeClr val="accent2"/>
              </a:buClr>
              <a:buSzPct val="25000"/>
              <a:buFont typeface="Noto Symbol"/>
              <a:buNone/>
            </a:pPr>
            <a:r>
              <a:t/>
            </a:r>
            <a:endParaRPr b="0" i="0" sz="2000" u="none" cap="none" strike="noStrike">
              <a:solidFill>
                <a:schemeClr val="dk1"/>
              </a:solidFill>
              <a:latin typeface="Tahoma"/>
              <a:ea typeface="Tahoma"/>
              <a:cs typeface="Tahoma"/>
              <a:sym typeface="Tahoma"/>
            </a:endParaRPr>
          </a:p>
          <a:p>
            <a:pPr indent="-342900" lvl="0" marL="342900" marR="0" rtl="0" algn="l">
              <a:lnSpc>
                <a:spcPct val="80000"/>
              </a:lnSpc>
              <a:spcBef>
                <a:spcPts val="400"/>
              </a:spcBef>
              <a:spcAft>
                <a:spcPts val="0"/>
              </a:spcAft>
              <a:buClr>
                <a:schemeClr val="accent2"/>
              </a:buClr>
              <a:buSzPct val="75000"/>
              <a:buFont typeface="Noto Symbol"/>
              <a:buChar char="■"/>
            </a:pPr>
            <a:r>
              <a:rPr b="1" i="0" lang="en-US" sz="2000" u="none" cap="none" strike="noStrike">
                <a:solidFill>
                  <a:schemeClr val="dk1"/>
                </a:solidFill>
                <a:latin typeface="Tahoma"/>
                <a:ea typeface="Tahoma"/>
                <a:cs typeface="Tahoma"/>
                <a:sym typeface="Tahoma"/>
              </a:rPr>
              <a:t>Decreciente </a:t>
            </a:r>
          </a:p>
          <a:p>
            <a:pPr indent="-342900" lvl="0" marL="342900" marR="0" rtl="0" algn="l">
              <a:lnSpc>
                <a:spcPct val="80000"/>
              </a:lnSpc>
              <a:spcBef>
                <a:spcPts val="400"/>
              </a:spcBef>
              <a:spcAft>
                <a:spcPts val="0"/>
              </a:spcAft>
              <a:buClr>
                <a:schemeClr val="accent2"/>
              </a:buClr>
              <a:buSzPct val="25000"/>
              <a:buFont typeface="Noto Symbol"/>
              <a:buNone/>
            </a:pPr>
            <a:r>
              <a:rPr b="0" i="1" lang="en-US" sz="2000" u="none" cap="none" strike="noStrike">
                <a:solidFill>
                  <a:schemeClr val="dk1"/>
                </a:solidFill>
                <a:latin typeface="Tahoma"/>
                <a:ea typeface="Tahoma"/>
                <a:cs typeface="Tahoma"/>
                <a:sym typeface="Tahoma"/>
              </a:rPr>
              <a:t>Para producir una mayor cantidad de un bien, hace falta renunciar a parte de la producción de otro bien (pagar el costo de oportunidad).</a:t>
            </a:r>
            <a:r>
              <a:rPr b="0" i="0" lang="en-US" sz="2000" u="none" cap="none" strike="noStrike">
                <a:solidFill>
                  <a:schemeClr val="dk1"/>
                </a:solidFill>
                <a:latin typeface="Tahoma"/>
                <a:ea typeface="Tahoma"/>
                <a:cs typeface="Tahoma"/>
                <a:sym typeface="Tahoma"/>
              </a:rPr>
              <a:t> </a:t>
            </a:r>
          </a:p>
          <a:p>
            <a:pPr indent="-342900" lvl="0" marL="342900" marR="0" rtl="0" algn="l">
              <a:lnSpc>
                <a:spcPct val="80000"/>
              </a:lnSpc>
              <a:spcBef>
                <a:spcPts val="400"/>
              </a:spcBef>
              <a:spcAft>
                <a:spcPts val="0"/>
              </a:spcAft>
              <a:buClr>
                <a:schemeClr val="accent2"/>
              </a:buClr>
              <a:buSzPct val="25000"/>
              <a:buFont typeface="Noto Symbol"/>
              <a:buNone/>
            </a:pPr>
            <a:r>
              <a:t/>
            </a:r>
            <a:endParaRPr b="0" i="0" sz="2000" u="none" cap="none" strike="noStrike">
              <a:solidFill>
                <a:schemeClr val="dk1"/>
              </a:solidFill>
              <a:latin typeface="Tahoma"/>
              <a:ea typeface="Tahoma"/>
              <a:cs typeface="Tahoma"/>
              <a:sym typeface="Tahoma"/>
            </a:endParaRPr>
          </a:p>
          <a:p>
            <a:pPr indent="-342900" lvl="0" marL="342900" marR="0" rtl="0" algn="l">
              <a:lnSpc>
                <a:spcPct val="80000"/>
              </a:lnSpc>
              <a:spcBef>
                <a:spcPts val="400"/>
              </a:spcBef>
              <a:spcAft>
                <a:spcPts val="0"/>
              </a:spcAft>
              <a:buClr>
                <a:schemeClr val="accent2"/>
              </a:buClr>
              <a:buSzPct val="75000"/>
              <a:buFont typeface="Noto Symbol"/>
              <a:buChar char="■"/>
            </a:pPr>
            <a:r>
              <a:rPr b="1" i="0" lang="en-US" sz="2000" u="none" cap="none" strike="noStrike">
                <a:solidFill>
                  <a:schemeClr val="dk1"/>
                </a:solidFill>
                <a:latin typeface="Tahoma"/>
                <a:ea typeface="Tahoma"/>
                <a:cs typeface="Tahoma"/>
                <a:sym typeface="Tahoma"/>
              </a:rPr>
              <a:t>Cóncava</a:t>
            </a:r>
          </a:p>
          <a:p>
            <a:pPr indent="-342900" lvl="0" marL="342900" marR="0" rtl="0" algn="l">
              <a:lnSpc>
                <a:spcPct val="80000"/>
              </a:lnSpc>
              <a:spcBef>
                <a:spcPts val="400"/>
              </a:spcBef>
              <a:spcAft>
                <a:spcPts val="0"/>
              </a:spcAft>
              <a:buClr>
                <a:schemeClr val="accent2"/>
              </a:buClr>
              <a:buSzPct val="25000"/>
              <a:buFont typeface="Noto Symbol"/>
              <a:buNone/>
            </a:pPr>
            <a:r>
              <a:rPr b="0" i="1" lang="en-US" sz="2000" u="none" cap="none" strike="noStrike">
                <a:solidFill>
                  <a:schemeClr val="dk1"/>
                </a:solidFill>
                <a:latin typeface="Tahoma"/>
                <a:ea typeface="Tahoma"/>
                <a:cs typeface="Tahoma"/>
                <a:sym typeface="Tahoma"/>
              </a:rPr>
              <a:t>Para producir una unidad adicional de un bien hay que renunciar a producir cantidades cada vez mayores de otro bien.(Costo de oportunidad creciente)</a:t>
            </a:r>
            <a:r>
              <a:rPr b="0" i="0" lang="en-US" sz="2000" u="none" cap="none" strike="noStrike">
                <a:solidFill>
                  <a:schemeClr val="dk1"/>
                </a:solidFill>
                <a:latin typeface="Tahoma"/>
                <a:ea typeface="Tahoma"/>
                <a:cs typeface="Tahoma"/>
                <a:sym typeface="Tahoma"/>
              </a:rPr>
              <a:t> </a:t>
            </a:r>
          </a:p>
        </p:txBody>
      </p:sp>
    </p:spTree>
  </p:cSld>
  <p:clrMapOvr>
    <a:masterClrMapping/>
  </p:clrMapOvr>
  <p:transition spd="slow">
    <p:c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27" name="Shape 127"/>
        <p:cNvGrpSpPr/>
        <p:nvPr/>
      </p:nvGrpSpPr>
      <p:grpSpPr>
        <a:xfrm>
          <a:off x="0" y="0"/>
          <a:ext cx="0" cy="0"/>
          <a:chOff x="0" y="0"/>
          <a:chExt cx="0" cy="0"/>
        </a:xfrm>
      </p:grpSpPr>
      <p:sp>
        <p:nvSpPr>
          <p:cNvPr id="128" name="Shape 128"/>
          <p:cNvSpPr txBox="1"/>
          <p:nvPr>
            <p:ph idx="4294967295" type="title"/>
          </p:nvPr>
        </p:nvSpPr>
        <p:spPr>
          <a:xfrm>
            <a:off x="1187450" y="1125537"/>
            <a:ext cx="7024686" cy="1370012"/>
          </a:xfrm>
          <a:prstGeom prst="rect">
            <a:avLst/>
          </a:prstGeom>
          <a:solidFill>
            <a:schemeClr val="accent1">
              <a:alpha val="55686"/>
            </a:schemeClr>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DESPLAZAMIENTO DE LA FPP</a:t>
            </a:r>
          </a:p>
        </p:txBody>
      </p:sp>
      <p:sp>
        <p:nvSpPr>
          <p:cNvPr id="129" name="Shape 129"/>
          <p:cNvSpPr txBox="1"/>
          <p:nvPr>
            <p:ph idx="4294967295" type="body"/>
          </p:nvPr>
        </p:nvSpPr>
        <p:spPr>
          <a:xfrm>
            <a:off x="611187" y="2913061"/>
            <a:ext cx="7772400" cy="3684587"/>
          </a:xfrm>
          <a:prstGeom prst="rect">
            <a:avLst/>
          </a:prstGeom>
          <a:solidFill>
            <a:srgbClr val="FFFF99"/>
          </a:solidFill>
          <a:ln>
            <a:noFill/>
          </a:ln>
        </p:spPr>
        <p:txBody>
          <a:bodyPr anchorCtr="0" anchor="t" bIns="45700" lIns="91425" rIns="91425" tIns="45700">
            <a:noAutofit/>
          </a:bodyPr>
          <a:lstStyle/>
          <a:p>
            <a:pPr indent="-342900" lvl="0" marL="342900" marR="0" rtl="0" algn="l">
              <a:lnSpc>
                <a:spcPct val="80000"/>
              </a:lnSpc>
              <a:spcBef>
                <a:spcPts val="0"/>
              </a:spcBef>
              <a:spcAft>
                <a:spcPts val="0"/>
              </a:spcAft>
              <a:buClr>
                <a:schemeClr val="accent2"/>
              </a:buClr>
              <a:buSzPct val="25000"/>
              <a:buFont typeface="Noto Symbol"/>
              <a:buNone/>
            </a:pPr>
            <a:r>
              <a:rPr b="0" i="0" lang="en-US" sz="2400" u="none" cap="none" strike="noStrike">
                <a:solidFill>
                  <a:schemeClr val="dk1"/>
                </a:solidFill>
                <a:latin typeface="Tahoma"/>
                <a:ea typeface="Tahoma"/>
                <a:cs typeface="Tahoma"/>
                <a:sym typeface="Tahoma"/>
              </a:rPr>
              <a:t>La </a:t>
            </a:r>
            <a:r>
              <a:rPr b="1" i="0" lang="en-US" sz="2400" u="none" cap="none" strike="noStrike">
                <a:solidFill>
                  <a:schemeClr val="dk1"/>
                </a:solidFill>
                <a:latin typeface="Tahoma"/>
                <a:ea typeface="Tahoma"/>
                <a:cs typeface="Tahoma"/>
                <a:sym typeface="Tahoma"/>
              </a:rPr>
              <a:t>Frontera de posibilidades de producción</a:t>
            </a:r>
            <a:r>
              <a:rPr b="0" i="0" lang="en-US" sz="2400" u="none" cap="none" strike="noStrike">
                <a:solidFill>
                  <a:schemeClr val="dk1"/>
                </a:solidFill>
                <a:latin typeface="Tahoma"/>
                <a:ea typeface="Tahoma"/>
                <a:cs typeface="Tahoma"/>
                <a:sym typeface="Tahoma"/>
              </a:rPr>
              <a:t> se puede desplazar en el mediano o largo plazo, es decir, que los puntos imposibles se pueden llegar a alcanzar si se consiguen: </a:t>
            </a:r>
          </a:p>
          <a:p>
            <a:pPr indent="-342900" lvl="0" marL="342900" marR="0" rtl="0" algn="l">
              <a:lnSpc>
                <a:spcPct val="8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Mejoras tecnológicas.</a:t>
            </a:r>
          </a:p>
          <a:p>
            <a:pPr indent="-342900" lvl="0" marL="342900" marR="0" rtl="0" algn="l">
              <a:lnSpc>
                <a:spcPct val="8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Ampliaciones del capital.</a:t>
            </a:r>
          </a:p>
          <a:p>
            <a:pPr indent="-342900" lvl="0" marL="342900" marR="0" rtl="0" algn="l">
              <a:lnSpc>
                <a:spcPct val="8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Incrementos de la productividad de los trabajadores.</a:t>
            </a:r>
          </a:p>
          <a:p>
            <a:pPr indent="-342900" lvl="0" marL="342900" marR="0" rtl="0" algn="l">
              <a:lnSpc>
                <a:spcPct val="8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Nuevos recursos naturales.</a:t>
            </a:r>
          </a:p>
          <a:p>
            <a:pPr indent="-342900" lvl="0" marL="342900" marR="0" rtl="0" algn="l">
              <a:lnSpc>
                <a:spcPct val="8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Acuerdos comerciales con el sector externo para obtener factores de la producción.</a:t>
            </a:r>
          </a:p>
          <a:p>
            <a:pPr indent="-342900" lvl="0" marL="342900" marR="0" rtl="0" algn="l">
              <a:lnSpc>
                <a:spcPct val="100000"/>
              </a:lnSpc>
              <a:spcBef>
                <a:spcPts val="480"/>
              </a:spcBef>
              <a:spcAft>
                <a:spcPts val="0"/>
              </a:spcAft>
              <a:buClr>
                <a:schemeClr val="accent2"/>
              </a:buClr>
              <a:buSzPct val="75000"/>
              <a:buFont typeface="Noto Symbol"/>
              <a:buNone/>
            </a:pPr>
            <a:r>
              <a:t/>
            </a:r>
            <a:endParaRPr b="0" i="0" sz="2400" u="none" cap="none" strike="noStrike">
              <a:solidFill>
                <a:schemeClr val="dk1"/>
              </a:solidFill>
              <a:latin typeface="Tahoma"/>
              <a:ea typeface="Tahoma"/>
              <a:cs typeface="Tahoma"/>
              <a:sym typeface="Tahoma"/>
            </a:endParaRPr>
          </a:p>
        </p:txBody>
      </p:sp>
    </p:spTree>
  </p:cSld>
  <p:clrMapOvr>
    <a:masterClrMapping/>
  </p:clrMapOvr>
  <p:transition spd="slow">
    <p:c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34" name="Shape 134"/>
        <p:cNvGrpSpPr/>
        <p:nvPr/>
      </p:nvGrpSpPr>
      <p:grpSpPr>
        <a:xfrm>
          <a:off x="0" y="0"/>
          <a:ext cx="0" cy="0"/>
          <a:chOff x="0" y="0"/>
          <a:chExt cx="0" cy="0"/>
        </a:xfrm>
      </p:grpSpPr>
      <p:sp>
        <p:nvSpPr>
          <p:cNvPr id="135" name="Shape 135"/>
          <p:cNvSpPr txBox="1"/>
          <p:nvPr/>
        </p:nvSpPr>
        <p:spPr>
          <a:xfrm>
            <a:off x="3727450" y="3422650"/>
            <a:ext cx="4127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99"/>
              </a:buClr>
              <a:buSzPct val="25000"/>
              <a:buFont typeface="Arial"/>
              <a:buNone/>
            </a:pPr>
            <a:r>
              <a:rPr b="1" i="0" lang="en-US" sz="1800" u="none" cap="none" strike="noStrike">
                <a:solidFill>
                  <a:srgbClr val="000099"/>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A</a:t>
            </a:r>
          </a:p>
        </p:txBody>
      </p:sp>
      <p:cxnSp>
        <p:nvCxnSpPr>
          <p:cNvPr id="136" name="Shape 136"/>
          <p:cNvCxnSpPr/>
          <p:nvPr/>
        </p:nvCxnSpPr>
        <p:spPr>
          <a:xfrm>
            <a:off x="2339975" y="1557337"/>
            <a:ext cx="0" cy="3809999"/>
          </a:xfrm>
          <a:prstGeom prst="straightConnector1">
            <a:avLst/>
          </a:prstGeom>
          <a:noFill/>
          <a:ln cap="flat" cmpd="sng" w="28575">
            <a:solidFill>
              <a:schemeClr val="dk1"/>
            </a:solidFill>
            <a:prstDash val="solid"/>
            <a:miter/>
            <a:headEnd len="lg" w="lg" type="triangle"/>
            <a:tailEnd len="med" w="med" type="none"/>
          </a:ln>
        </p:spPr>
      </p:cxnSp>
      <p:cxnSp>
        <p:nvCxnSpPr>
          <p:cNvPr id="137" name="Shape 137"/>
          <p:cNvCxnSpPr/>
          <p:nvPr/>
        </p:nvCxnSpPr>
        <p:spPr>
          <a:xfrm>
            <a:off x="2339975" y="5300662"/>
            <a:ext cx="4038599" cy="0"/>
          </a:xfrm>
          <a:prstGeom prst="straightConnector1">
            <a:avLst/>
          </a:prstGeom>
          <a:noFill/>
          <a:ln cap="flat" cmpd="sng" w="28575">
            <a:solidFill>
              <a:schemeClr val="dk1"/>
            </a:solidFill>
            <a:prstDash val="solid"/>
            <a:miter/>
            <a:headEnd len="med" w="med" type="none"/>
            <a:tailEnd len="lg" w="lg" type="triangle"/>
          </a:ln>
        </p:spPr>
      </p:cxnSp>
      <p:sp>
        <p:nvSpPr>
          <p:cNvPr id="138" name="Shape 138"/>
          <p:cNvSpPr txBox="1"/>
          <p:nvPr/>
        </p:nvSpPr>
        <p:spPr>
          <a:xfrm>
            <a:off x="2117725" y="54705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0</a:t>
            </a:r>
          </a:p>
        </p:txBody>
      </p:sp>
      <p:cxnSp>
        <p:nvCxnSpPr>
          <p:cNvPr id="139" name="Shape 139"/>
          <p:cNvCxnSpPr/>
          <p:nvPr/>
        </p:nvCxnSpPr>
        <p:spPr>
          <a:xfrm flipH="1" rot="-5400000">
            <a:off x="2339975" y="2708275"/>
            <a:ext cx="2590800" cy="2590800"/>
          </a:xfrm>
          <a:prstGeom prst="curvedConnector2">
            <a:avLst/>
          </a:prstGeom>
          <a:noFill/>
          <a:ln cap="flat" cmpd="sng" w="28575">
            <a:solidFill>
              <a:srgbClr val="000099"/>
            </a:solidFill>
            <a:prstDash val="solid"/>
            <a:miter/>
            <a:headEnd len="med" w="med" type="none"/>
            <a:tailEnd len="med" w="med" type="none"/>
          </a:ln>
        </p:spPr>
      </p:cxnSp>
      <p:sp>
        <p:nvSpPr>
          <p:cNvPr id="140" name="Shape 140"/>
          <p:cNvSpPr txBox="1"/>
          <p:nvPr/>
        </p:nvSpPr>
        <p:spPr>
          <a:xfrm>
            <a:off x="1600200" y="2589211"/>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3,000</a:t>
            </a:r>
          </a:p>
        </p:txBody>
      </p:sp>
      <p:sp>
        <p:nvSpPr>
          <p:cNvPr id="141" name="Shape 141"/>
          <p:cNvSpPr txBox="1"/>
          <p:nvPr/>
        </p:nvSpPr>
        <p:spPr>
          <a:xfrm>
            <a:off x="4632325" y="5394325"/>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1,000</a:t>
            </a:r>
          </a:p>
        </p:txBody>
      </p:sp>
      <p:cxnSp>
        <p:nvCxnSpPr>
          <p:cNvPr id="142" name="Shape 142"/>
          <p:cNvCxnSpPr/>
          <p:nvPr/>
        </p:nvCxnSpPr>
        <p:spPr>
          <a:xfrm rot="10800000">
            <a:off x="2339975" y="3429000"/>
            <a:ext cx="1789111" cy="0"/>
          </a:xfrm>
          <a:prstGeom prst="straightConnector1">
            <a:avLst/>
          </a:prstGeom>
          <a:noFill/>
          <a:ln cap="rnd" cmpd="sng" w="9525">
            <a:solidFill>
              <a:schemeClr val="dk1"/>
            </a:solidFill>
            <a:prstDash val="solid"/>
            <a:miter/>
            <a:headEnd len="med" w="med" type="oval"/>
            <a:tailEnd len="med" w="med" type="none"/>
          </a:ln>
        </p:spPr>
      </p:cxnSp>
      <p:sp>
        <p:nvSpPr>
          <p:cNvPr id="143" name="Shape 143"/>
          <p:cNvSpPr txBox="1"/>
          <p:nvPr/>
        </p:nvSpPr>
        <p:spPr>
          <a:xfrm>
            <a:off x="3762375" y="5300662"/>
            <a:ext cx="5222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700</a:t>
            </a:r>
          </a:p>
        </p:txBody>
      </p:sp>
      <p:sp>
        <p:nvSpPr>
          <p:cNvPr id="144" name="Shape 144"/>
          <p:cNvSpPr txBox="1"/>
          <p:nvPr/>
        </p:nvSpPr>
        <p:spPr>
          <a:xfrm>
            <a:off x="1600200" y="3276600"/>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2,000</a:t>
            </a:r>
          </a:p>
        </p:txBody>
      </p:sp>
      <p:sp>
        <p:nvSpPr>
          <p:cNvPr id="145" name="Shape 145"/>
          <p:cNvSpPr txBox="1"/>
          <p:nvPr/>
        </p:nvSpPr>
        <p:spPr>
          <a:xfrm>
            <a:off x="395287" y="1508125"/>
            <a:ext cx="1616074"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Computadoras</a:t>
            </a:r>
          </a:p>
        </p:txBody>
      </p:sp>
      <p:sp>
        <p:nvSpPr>
          <p:cNvPr id="146" name="Shape 146"/>
          <p:cNvSpPr txBox="1"/>
          <p:nvPr/>
        </p:nvSpPr>
        <p:spPr>
          <a:xfrm>
            <a:off x="5651500" y="5445125"/>
            <a:ext cx="14033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Automóviles</a:t>
            </a:r>
          </a:p>
        </p:txBody>
      </p:sp>
      <p:cxnSp>
        <p:nvCxnSpPr>
          <p:cNvPr id="147" name="Shape 147"/>
          <p:cNvCxnSpPr/>
          <p:nvPr/>
        </p:nvCxnSpPr>
        <p:spPr>
          <a:xfrm flipH="1" rot="-5400000">
            <a:off x="1997074" y="2403475"/>
            <a:ext cx="3276600" cy="2590800"/>
          </a:xfrm>
          <a:prstGeom prst="curvedConnector2">
            <a:avLst/>
          </a:prstGeom>
          <a:noFill/>
          <a:ln cap="flat" cmpd="sng" w="28575">
            <a:solidFill>
              <a:srgbClr val="CC3300"/>
            </a:solidFill>
            <a:prstDash val="solid"/>
            <a:miter/>
            <a:headEnd len="med" w="med" type="none"/>
            <a:tailEnd len="med" w="med" type="none"/>
          </a:ln>
        </p:spPr>
      </p:cxnSp>
      <p:sp>
        <p:nvSpPr>
          <p:cNvPr id="148" name="Shape 148"/>
          <p:cNvSpPr txBox="1"/>
          <p:nvPr/>
        </p:nvSpPr>
        <p:spPr>
          <a:xfrm>
            <a:off x="1600200" y="1905000"/>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4,000</a:t>
            </a:r>
          </a:p>
        </p:txBody>
      </p:sp>
      <p:sp>
        <p:nvSpPr>
          <p:cNvPr id="149" name="Shape 149"/>
          <p:cNvSpPr txBox="1"/>
          <p:nvPr/>
        </p:nvSpPr>
        <p:spPr>
          <a:xfrm>
            <a:off x="4306887" y="2852736"/>
            <a:ext cx="3365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a:t>
            </a:r>
          </a:p>
        </p:txBody>
      </p:sp>
      <p:cxnSp>
        <p:nvCxnSpPr>
          <p:cNvPr id="150" name="Shape 150"/>
          <p:cNvCxnSpPr/>
          <p:nvPr/>
        </p:nvCxnSpPr>
        <p:spPr>
          <a:xfrm rot="10800000">
            <a:off x="2339975" y="3141661"/>
            <a:ext cx="1944687" cy="0"/>
          </a:xfrm>
          <a:prstGeom prst="straightConnector1">
            <a:avLst/>
          </a:prstGeom>
          <a:noFill/>
          <a:ln cap="rnd" cmpd="sng" w="9525">
            <a:solidFill>
              <a:schemeClr val="dk1"/>
            </a:solidFill>
            <a:prstDash val="solid"/>
            <a:miter/>
            <a:headEnd len="med" w="med" type="oval"/>
            <a:tailEnd len="med" w="med" type="none"/>
          </a:ln>
        </p:spPr>
      </p:cxnSp>
      <p:cxnSp>
        <p:nvCxnSpPr>
          <p:cNvPr id="151" name="Shape 151"/>
          <p:cNvCxnSpPr/>
          <p:nvPr/>
        </p:nvCxnSpPr>
        <p:spPr>
          <a:xfrm>
            <a:off x="4284662" y="3141661"/>
            <a:ext cx="0" cy="2195511"/>
          </a:xfrm>
          <a:prstGeom prst="straightConnector1">
            <a:avLst/>
          </a:prstGeom>
          <a:noFill/>
          <a:ln cap="rnd" cmpd="sng" w="9525">
            <a:solidFill>
              <a:schemeClr val="dk1"/>
            </a:solidFill>
            <a:prstDash val="solid"/>
            <a:miter/>
            <a:headEnd len="med" w="med" type="oval"/>
            <a:tailEnd len="med" w="med" type="none"/>
          </a:ln>
        </p:spPr>
      </p:cxnSp>
      <p:sp>
        <p:nvSpPr>
          <p:cNvPr id="152" name="Shape 152"/>
          <p:cNvSpPr txBox="1"/>
          <p:nvPr/>
        </p:nvSpPr>
        <p:spPr>
          <a:xfrm>
            <a:off x="1619250" y="2924175"/>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2,500</a:t>
            </a:r>
          </a:p>
        </p:txBody>
      </p:sp>
      <p:sp>
        <p:nvSpPr>
          <p:cNvPr id="153" name="Shape 153"/>
          <p:cNvSpPr txBox="1"/>
          <p:nvPr/>
        </p:nvSpPr>
        <p:spPr>
          <a:xfrm>
            <a:off x="4140200" y="5300662"/>
            <a:ext cx="5222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750</a:t>
            </a:r>
          </a:p>
        </p:txBody>
      </p:sp>
      <p:cxnSp>
        <p:nvCxnSpPr>
          <p:cNvPr id="154" name="Shape 154"/>
          <p:cNvCxnSpPr/>
          <p:nvPr/>
        </p:nvCxnSpPr>
        <p:spPr>
          <a:xfrm rot="10800000">
            <a:off x="2590800" y="2133600"/>
            <a:ext cx="0" cy="533399"/>
          </a:xfrm>
          <a:prstGeom prst="straightConnector1">
            <a:avLst/>
          </a:prstGeom>
          <a:noFill/>
          <a:ln cap="flat" cmpd="sng" w="9525">
            <a:solidFill>
              <a:srgbClr val="CC3300"/>
            </a:solidFill>
            <a:prstDash val="solid"/>
            <a:miter/>
            <a:headEnd len="med" w="med" type="none"/>
            <a:tailEnd len="lg" w="lg" type="triangle"/>
          </a:ln>
        </p:spPr>
      </p:cxnSp>
      <p:sp>
        <p:nvSpPr>
          <p:cNvPr id="155" name="Shape 155"/>
          <p:cNvSpPr txBox="1"/>
          <p:nvPr/>
        </p:nvSpPr>
        <p:spPr>
          <a:xfrm>
            <a:off x="0" y="908050"/>
            <a:ext cx="5940424" cy="612775"/>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75000"/>
              </a:lnSpc>
              <a:spcBef>
                <a:spcPts val="0"/>
              </a:spcBef>
              <a:spcAft>
                <a:spcPts val="0"/>
              </a:spcAft>
              <a:buClr>
                <a:schemeClr val="hlink"/>
              </a:buClr>
              <a:buSzPct val="25000"/>
              <a:buFont typeface="Arial"/>
              <a:buNone/>
            </a:pPr>
            <a:r>
              <a:rPr b="1" i="0" lang="en-US" sz="2400" u="none" cap="none" strike="noStrike">
                <a:solidFill>
                  <a:schemeClr val="hlink"/>
                </a:solidFill>
                <a:latin typeface="Arial"/>
                <a:ea typeface="Arial"/>
                <a:cs typeface="Arial"/>
                <a:sym typeface="Arial"/>
              </a:rPr>
              <a:t>DESPLAZAMIENTO DE LA FRONTERA DE POSIBILIDADES PRODUCTIVAS</a:t>
            </a:r>
          </a:p>
        </p:txBody>
      </p:sp>
      <p:cxnSp>
        <p:nvCxnSpPr>
          <p:cNvPr id="156" name="Shape 156"/>
          <p:cNvCxnSpPr/>
          <p:nvPr/>
        </p:nvCxnSpPr>
        <p:spPr>
          <a:xfrm>
            <a:off x="2339975" y="3284537"/>
            <a:ext cx="2133599" cy="2057400"/>
          </a:xfrm>
          <a:prstGeom prst="curvedConnector2">
            <a:avLst/>
          </a:prstGeom>
          <a:noFill/>
          <a:ln cap="flat" cmpd="sng" w="28575">
            <a:solidFill>
              <a:srgbClr val="339933"/>
            </a:solidFill>
            <a:prstDash val="solid"/>
            <a:miter/>
            <a:headEnd len="med" w="med" type="none"/>
            <a:tailEnd len="med" w="med" type="none"/>
          </a:ln>
        </p:spPr>
      </p:cxnSp>
      <p:cxnSp>
        <p:nvCxnSpPr>
          <p:cNvPr id="157" name="Shape 157"/>
          <p:cNvCxnSpPr/>
          <p:nvPr/>
        </p:nvCxnSpPr>
        <p:spPr>
          <a:xfrm>
            <a:off x="2916236" y="2924175"/>
            <a:ext cx="0" cy="304799"/>
          </a:xfrm>
          <a:prstGeom prst="straightConnector1">
            <a:avLst/>
          </a:prstGeom>
          <a:noFill/>
          <a:ln cap="flat" cmpd="sng" w="9525">
            <a:solidFill>
              <a:srgbClr val="339933"/>
            </a:solidFill>
            <a:prstDash val="solid"/>
            <a:miter/>
            <a:headEnd len="med" w="med" type="none"/>
            <a:tailEnd len="lg" w="lg" type="triangle"/>
          </a:ln>
        </p:spPr>
      </p:cxnSp>
      <p:cxnSp>
        <p:nvCxnSpPr>
          <p:cNvPr id="158" name="Shape 158"/>
          <p:cNvCxnSpPr/>
          <p:nvPr/>
        </p:nvCxnSpPr>
        <p:spPr>
          <a:xfrm rot="10800000">
            <a:off x="4571999" y="4953000"/>
            <a:ext cx="228600" cy="0"/>
          </a:xfrm>
          <a:prstGeom prst="straightConnector1">
            <a:avLst/>
          </a:prstGeom>
          <a:noFill/>
          <a:ln cap="flat" cmpd="sng" w="9525">
            <a:solidFill>
              <a:srgbClr val="339933"/>
            </a:solidFill>
            <a:prstDash val="solid"/>
            <a:miter/>
            <a:headEnd len="med" w="med" type="none"/>
            <a:tailEnd len="lg" w="lg" type="triangle"/>
          </a:ln>
        </p:spPr>
      </p:cxnSp>
      <p:sp>
        <p:nvSpPr>
          <p:cNvPr id="159" name="Shape 159"/>
          <p:cNvSpPr txBox="1"/>
          <p:nvPr/>
        </p:nvSpPr>
        <p:spPr>
          <a:xfrm>
            <a:off x="3132136" y="3638550"/>
            <a:ext cx="41274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339933"/>
              </a:buClr>
              <a:buSzPct val="25000"/>
              <a:buFont typeface="Arial"/>
              <a:buNone/>
            </a:pPr>
            <a:r>
              <a:rPr b="1" i="0" lang="en-US" sz="1800" u="none" cap="none" strike="noStrike">
                <a:solidFill>
                  <a:srgbClr val="339933"/>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B</a:t>
            </a:r>
          </a:p>
        </p:txBody>
      </p:sp>
      <p:cxnSp>
        <p:nvCxnSpPr>
          <p:cNvPr id="160" name="Shape 160"/>
          <p:cNvCxnSpPr/>
          <p:nvPr/>
        </p:nvCxnSpPr>
        <p:spPr>
          <a:xfrm rot="10800000">
            <a:off x="2339975" y="3644900"/>
            <a:ext cx="1219199" cy="0"/>
          </a:xfrm>
          <a:prstGeom prst="straightConnector1">
            <a:avLst/>
          </a:prstGeom>
          <a:noFill/>
          <a:ln cap="rnd" cmpd="sng" w="9525">
            <a:solidFill>
              <a:schemeClr val="dk1"/>
            </a:solidFill>
            <a:prstDash val="solid"/>
            <a:miter/>
            <a:headEnd len="med" w="med" type="oval"/>
            <a:tailEnd len="med" w="med" type="none"/>
          </a:ln>
        </p:spPr>
      </p:cxnSp>
      <p:cxnSp>
        <p:nvCxnSpPr>
          <p:cNvPr id="161" name="Shape 161"/>
          <p:cNvCxnSpPr/>
          <p:nvPr/>
        </p:nvCxnSpPr>
        <p:spPr>
          <a:xfrm>
            <a:off x="3563937" y="3644900"/>
            <a:ext cx="0" cy="1676399"/>
          </a:xfrm>
          <a:prstGeom prst="straightConnector1">
            <a:avLst/>
          </a:prstGeom>
          <a:noFill/>
          <a:ln cap="rnd" cmpd="sng" w="9525">
            <a:solidFill>
              <a:schemeClr val="dk1"/>
            </a:solidFill>
            <a:prstDash val="solid"/>
            <a:miter/>
            <a:headEnd len="med" w="med" type="oval"/>
            <a:tailEnd len="med" w="med" type="none"/>
          </a:ln>
        </p:spPr>
      </p:cxnSp>
      <p:sp>
        <p:nvSpPr>
          <p:cNvPr id="162" name="Shape 162"/>
          <p:cNvSpPr txBox="1"/>
          <p:nvPr/>
        </p:nvSpPr>
        <p:spPr>
          <a:xfrm>
            <a:off x="1660525" y="3489325"/>
            <a:ext cx="6921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1,800</a:t>
            </a:r>
          </a:p>
        </p:txBody>
      </p:sp>
      <p:sp>
        <p:nvSpPr>
          <p:cNvPr id="163" name="Shape 163"/>
          <p:cNvSpPr txBox="1"/>
          <p:nvPr/>
        </p:nvSpPr>
        <p:spPr>
          <a:xfrm>
            <a:off x="3132136" y="5300662"/>
            <a:ext cx="5222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500</a:t>
            </a:r>
          </a:p>
        </p:txBody>
      </p:sp>
      <p:sp>
        <p:nvSpPr>
          <p:cNvPr id="164" name="Shape 164"/>
          <p:cNvSpPr txBox="1"/>
          <p:nvPr/>
        </p:nvSpPr>
        <p:spPr>
          <a:xfrm>
            <a:off x="5148262" y="1557337"/>
            <a:ext cx="3995736" cy="2536825"/>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Ejemplos:</a:t>
            </a:r>
          </a:p>
          <a:p>
            <a:pPr indent="0" lvl="0" marL="0" marR="0" rtl="0" algn="l">
              <a:lnSpc>
                <a:spcPct val="100000"/>
              </a:lnSpc>
              <a:spcBef>
                <a:spcPts val="0"/>
              </a:spcBef>
              <a:spcAft>
                <a:spcPts val="0"/>
              </a:spcAft>
              <a:buClr>
                <a:schemeClr val="dk1"/>
              </a:buClr>
              <a:buFont typeface="Times New Roman"/>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CC3300"/>
              </a:buClr>
              <a:buSzPct val="100000"/>
              <a:buFont typeface="Arial"/>
              <a:buChar char="•"/>
            </a:pPr>
            <a:r>
              <a:rPr b="1" i="0" lang="en-US" sz="1600" u="none" cap="none" strike="noStrike">
                <a:solidFill>
                  <a:srgbClr val="CC3300"/>
                </a:solidFill>
                <a:latin typeface="Arial"/>
                <a:ea typeface="Arial"/>
                <a:cs typeface="Arial"/>
                <a:sym typeface="Arial"/>
              </a:rPr>
              <a:t>Una nueva tecnología en la producción de Computadoras aumenta la producción máxima de A a E.</a:t>
            </a:r>
          </a:p>
          <a:p>
            <a:pPr indent="0" lvl="0" marL="0" marR="0" rtl="0" algn="l">
              <a:lnSpc>
                <a:spcPct val="100000"/>
              </a:lnSpc>
              <a:spcBef>
                <a:spcPts val="0"/>
              </a:spcBef>
              <a:spcAft>
                <a:spcPts val="0"/>
              </a:spcAft>
              <a:buClr>
                <a:schemeClr val="dk1"/>
              </a:buClr>
              <a:buFont typeface="Times New Roman"/>
              <a:buNone/>
            </a:pPr>
            <a:r>
              <a:t/>
            </a:r>
            <a:endParaRPr b="1" i="0" sz="1600" u="none" cap="none" strike="noStrike">
              <a:solidFill>
                <a:srgbClr val="CC3300"/>
              </a:solidFill>
              <a:latin typeface="Arial"/>
              <a:ea typeface="Arial"/>
              <a:cs typeface="Arial"/>
              <a:sym typeface="Arial"/>
            </a:endParaRPr>
          </a:p>
          <a:p>
            <a:pPr indent="0" lvl="0" marL="0" marR="0" rtl="0" algn="l">
              <a:lnSpc>
                <a:spcPct val="100000"/>
              </a:lnSpc>
              <a:spcBef>
                <a:spcPts val="0"/>
              </a:spcBef>
              <a:spcAft>
                <a:spcPts val="0"/>
              </a:spcAft>
              <a:buClr>
                <a:schemeClr val="dk1"/>
              </a:buClr>
              <a:buFont typeface="Times New Roman"/>
              <a:buNone/>
            </a:pPr>
            <a:r>
              <a:t/>
            </a:r>
            <a:endParaRPr b="1" i="0" sz="16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339933"/>
              </a:buClr>
              <a:buSzPct val="100000"/>
              <a:buFont typeface="Arial"/>
              <a:buChar char="•"/>
            </a:pPr>
            <a:r>
              <a:rPr b="1" i="0" lang="en-US" sz="1600" u="none" cap="none" strike="noStrike">
                <a:solidFill>
                  <a:srgbClr val="339933"/>
                </a:solidFill>
                <a:latin typeface="Arial"/>
                <a:ea typeface="Arial"/>
                <a:cs typeface="Arial"/>
                <a:sym typeface="Arial"/>
              </a:rPr>
              <a:t>Una epidemia reduce la productividad </a:t>
            </a:r>
          </a:p>
          <a:p>
            <a:pPr indent="0" lvl="0" marL="0" marR="0" rtl="0" algn="l">
              <a:lnSpc>
                <a:spcPct val="100000"/>
              </a:lnSpc>
              <a:spcBef>
                <a:spcPts val="0"/>
              </a:spcBef>
              <a:spcAft>
                <a:spcPts val="0"/>
              </a:spcAft>
              <a:buClr>
                <a:srgbClr val="339933"/>
              </a:buClr>
              <a:buSzPct val="25000"/>
              <a:buFont typeface="Arial"/>
              <a:buNone/>
            </a:pPr>
            <a:r>
              <a:rPr b="1" i="0" lang="en-US" sz="1600" u="none" cap="none" strike="noStrike">
                <a:solidFill>
                  <a:srgbClr val="339933"/>
                </a:solidFill>
                <a:latin typeface="Arial"/>
                <a:ea typeface="Arial"/>
                <a:cs typeface="Arial"/>
                <a:sym typeface="Arial"/>
              </a:rPr>
              <a:t>de los trabajadores y la producción </a:t>
            </a:r>
          </a:p>
          <a:p>
            <a:pPr indent="0" lvl="0" marL="0" marR="0" rtl="0" algn="l">
              <a:lnSpc>
                <a:spcPct val="100000"/>
              </a:lnSpc>
              <a:spcBef>
                <a:spcPts val="0"/>
              </a:spcBef>
              <a:spcAft>
                <a:spcPts val="0"/>
              </a:spcAft>
              <a:buClr>
                <a:srgbClr val="339933"/>
              </a:buClr>
              <a:buSzPct val="25000"/>
              <a:buFont typeface="Arial"/>
              <a:buNone/>
            </a:pPr>
            <a:r>
              <a:rPr b="1" i="0" lang="en-US" sz="1600" u="none" cap="none" strike="noStrike">
                <a:solidFill>
                  <a:srgbClr val="339933"/>
                </a:solidFill>
                <a:latin typeface="Arial"/>
                <a:ea typeface="Arial"/>
                <a:cs typeface="Arial"/>
                <a:sym typeface="Arial"/>
              </a:rPr>
              <a:t>máxima cae de A a B.</a:t>
            </a:r>
          </a:p>
        </p:txBody>
      </p:sp>
      <p:cxnSp>
        <p:nvCxnSpPr>
          <p:cNvPr id="165" name="Shape 165"/>
          <p:cNvCxnSpPr/>
          <p:nvPr/>
        </p:nvCxnSpPr>
        <p:spPr>
          <a:xfrm>
            <a:off x="4140200" y="3429000"/>
            <a:ext cx="0" cy="1908174"/>
          </a:xfrm>
          <a:prstGeom prst="straightConnector1">
            <a:avLst/>
          </a:prstGeom>
          <a:noFill/>
          <a:ln cap="flat" cmpd="sng" w="9525">
            <a:solidFill>
              <a:schemeClr val="dk1"/>
            </a:solidFill>
            <a:prstDash val="solid"/>
            <a:miter/>
            <a:headEnd len="med" w="med" type="none"/>
            <a:tailEnd len="med" w="med" type="none"/>
          </a:ln>
        </p:spPr>
      </p:cxnSp>
    </p:spTree>
  </p:cSld>
  <p:clrMapOvr>
    <a:masterClrMapping/>
  </p:clrMapOvr>
  <p:transition spd="slow">
    <p:c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0" name="Shape 170"/>
        <p:cNvGrpSpPr/>
        <p:nvPr/>
      </p:nvGrpSpPr>
      <p:grpSpPr>
        <a:xfrm>
          <a:off x="0" y="0"/>
          <a:ext cx="0" cy="0"/>
          <a:chOff x="0" y="0"/>
          <a:chExt cx="0" cy="0"/>
        </a:xfrm>
      </p:grpSpPr>
      <p:sp>
        <p:nvSpPr>
          <p:cNvPr id="171" name="Shape 171"/>
          <p:cNvSpPr txBox="1"/>
          <p:nvPr>
            <p:ph idx="4294967295" type="title"/>
          </p:nvPr>
        </p:nvSpPr>
        <p:spPr>
          <a:xfrm>
            <a:off x="1265237" y="1700211"/>
            <a:ext cx="7878762" cy="528637"/>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Tahoma"/>
              <a:buNone/>
            </a:pPr>
            <a:r>
              <a:rPr b="1" i="1" lang="en-US" sz="2800" u="none" cap="none" strike="noStrike">
                <a:solidFill>
                  <a:schemeClr val="dk1"/>
                </a:solidFill>
                <a:latin typeface="Tahoma"/>
                <a:ea typeface="Tahoma"/>
                <a:cs typeface="Tahoma"/>
                <a:sym typeface="Tahoma"/>
              </a:rPr>
              <a:t>COMERCIO INTERNACIONAL </a:t>
            </a:r>
          </a:p>
        </p:txBody>
      </p:sp>
      <p:sp>
        <p:nvSpPr>
          <p:cNvPr id="172" name="Shape 172"/>
          <p:cNvSpPr txBox="1"/>
          <p:nvPr>
            <p:ph idx="4294967295" type="body"/>
          </p:nvPr>
        </p:nvSpPr>
        <p:spPr>
          <a:xfrm>
            <a:off x="1293812" y="3119436"/>
            <a:ext cx="7086600" cy="3052761"/>
          </a:xfrm>
          <a:prstGeom prst="rect">
            <a:avLst/>
          </a:prstGeom>
          <a:solidFill>
            <a:srgbClr val="FFFFCC"/>
          </a:solidFill>
          <a:ln>
            <a:noFill/>
          </a:ln>
        </p:spPr>
        <p:txBody>
          <a:bodyPr anchorCtr="0" anchor="t" bIns="45700" lIns="91425" rIns="91425" tIns="45700">
            <a:noAutofit/>
          </a:bodyPr>
          <a:lstStyle/>
          <a:p>
            <a:pPr indent="-342900" lvl="0" marL="342900" marR="0" rtl="0" algn="just">
              <a:lnSpc>
                <a:spcPct val="100000"/>
              </a:lnSpc>
              <a:spcBef>
                <a:spcPts val="0"/>
              </a:spcBef>
              <a:spcAft>
                <a:spcPts val="0"/>
              </a:spcAft>
              <a:buClr>
                <a:schemeClr val="accent2"/>
              </a:buClr>
              <a:buSzPct val="25000"/>
              <a:buFont typeface="Noto Symbol"/>
              <a:buNone/>
            </a:pPr>
            <a:r>
              <a:t/>
            </a:r>
            <a:endParaRPr b="1" i="0" sz="2800" u="none" cap="none" strike="noStrike">
              <a:solidFill>
                <a:schemeClr val="dk1"/>
              </a:solidFill>
              <a:latin typeface="Tahoma"/>
              <a:ea typeface="Tahoma"/>
              <a:cs typeface="Tahoma"/>
              <a:sym typeface="Tahoma"/>
            </a:endParaRPr>
          </a:p>
          <a:p>
            <a:pPr indent="-342900" lvl="0" marL="342900" marR="0" rtl="0" algn="just">
              <a:lnSpc>
                <a:spcPct val="100000"/>
              </a:lnSpc>
              <a:spcBef>
                <a:spcPts val="560"/>
              </a:spcBef>
              <a:spcAft>
                <a:spcPts val="0"/>
              </a:spcAft>
              <a:buClr>
                <a:schemeClr val="accent2"/>
              </a:buClr>
              <a:buSzPct val="25000"/>
              <a:buFont typeface="Noto Symbol"/>
              <a:buNone/>
            </a:pPr>
            <a:r>
              <a:rPr b="1" i="0" lang="en-US" sz="2800" u="none" cap="none" strike="noStrike">
                <a:solidFill>
                  <a:schemeClr val="dk1"/>
                </a:solidFill>
                <a:latin typeface="Tahoma"/>
                <a:ea typeface="Tahoma"/>
                <a:cs typeface="Tahoma"/>
                <a:sym typeface="Tahoma"/>
              </a:rPr>
              <a:t>El comercio exterior engloba los intercambios de bienes y servicios entre países y permite mejorar el bienestar de cada país (comprador y vendedor).</a:t>
            </a:r>
          </a:p>
          <a:p>
            <a:pPr indent="-342900" lvl="0" marL="342900" marR="0" rtl="0" algn="l">
              <a:lnSpc>
                <a:spcPct val="100000"/>
              </a:lnSpc>
              <a:spcBef>
                <a:spcPts val="400"/>
              </a:spcBef>
              <a:spcAft>
                <a:spcPts val="0"/>
              </a:spcAft>
              <a:buClr>
                <a:schemeClr val="accent2"/>
              </a:buClr>
              <a:buSzPct val="75000"/>
              <a:buFont typeface="Noto Symbol"/>
              <a:buNone/>
            </a:pPr>
            <a:r>
              <a:t/>
            </a:r>
            <a:endParaRPr b="1" i="0" sz="2000" u="none" cap="none" strike="noStrike">
              <a:solidFill>
                <a:schemeClr val="dk1"/>
              </a:solidFill>
              <a:latin typeface="Arial"/>
              <a:ea typeface="Arial"/>
              <a:cs typeface="Arial"/>
              <a:sym typeface="Arial"/>
            </a:endParaRPr>
          </a:p>
        </p:txBody>
      </p:sp>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76" name="Shape 176"/>
        <p:cNvGrpSpPr/>
        <p:nvPr/>
      </p:nvGrpSpPr>
      <p:grpSpPr>
        <a:xfrm>
          <a:off x="0" y="0"/>
          <a:ext cx="0" cy="0"/>
          <a:chOff x="0" y="0"/>
          <a:chExt cx="0" cy="0"/>
        </a:xfrm>
      </p:grpSpPr>
      <p:sp>
        <p:nvSpPr>
          <p:cNvPr id="177" name="Shape 177"/>
          <p:cNvSpPr txBox="1"/>
          <p:nvPr>
            <p:ph idx="4294967295" type="title"/>
          </p:nvPr>
        </p:nvSpPr>
        <p:spPr>
          <a:xfrm>
            <a:off x="1258887" y="1196975"/>
            <a:ext cx="7086600" cy="1447800"/>
          </a:xfrm>
          <a:prstGeom prst="rect">
            <a:avLst/>
          </a:prstGeom>
          <a:solidFill>
            <a:schemeClr val="accent1"/>
          </a:solidFill>
          <a:ln>
            <a:noFill/>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1" i="1" lang="en-US" sz="2800" u="none" cap="none" strike="noStrike">
                <a:solidFill>
                  <a:schemeClr val="dk1"/>
                </a:solidFill>
                <a:latin typeface="Tahoma"/>
                <a:ea typeface="Tahoma"/>
                <a:cs typeface="Tahoma"/>
                <a:sym typeface="Tahoma"/>
              </a:rPr>
              <a:t>GANANCIAS DEL LIBRE COMERCIO</a:t>
            </a:r>
          </a:p>
        </p:txBody>
      </p:sp>
      <p:sp>
        <p:nvSpPr>
          <p:cNvPr id="178" name="Shape 178"/>
          <p:cNvSpPr txBox="1"/>
          <p:nvPr>
            <p:ph idx="4294967295" type="body"/>
          </p:nvPr>
        </p:nvSpPr>
        <p:spPr>
          <a:xfrm>
            <a:off x="1295400" y="2819400"/>
            <a:ext cx="7281299" cy="3605099"/>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accent2"/>
              </a:buClr>
              <a:buSzPct val="75000"/>
              <a:buFont typeface="Noto Symbol"/>
              <a:buChar char="■"/>
            </a:pPr>
            <a:r>
              <a:rPr b="1" i="1" lang="en-US" sz="2800" u="none" cap="none" strike="noStrike">
                <a:solidFill>
                  <a:schemeClr val="dk1"/>
                </a:solidFill>
                <a:latin typeface="Tahoma"/>
                <a:ea typeface="Tahoma"/>
                <a:cs typeface="Tahoma"/>
                <a:sym typeface="Tahoma"/>
              </a:rPr>
              <a:t>Efecto competencia:</a:t>
            </a:r>
            <a:r>
              <a:rPr b="0" i="0" lang="en-US" sz="2800" u="none" cap="none" strike="noStrike">
                <a:solidFill>
                  <a:schemeClr val="dk1"/>
                </a:solidFill>
                <a:latin typeface="Tahoma"/>
                <a:ea typeface="Tahoma"/>
                <a:cs typeface="Tahoma"/>
                <a:sym typeface="Tahoma"/>
              </a:rPr>
              <a:t> el comercio hace que desaparezcan las situaciones que restringen el volumen de producción.</a:t>
            </a:r>
          </a:p>
          <a:p>
            <a:pPr indent="-342900" lvl="0" marL="342900" marR="0" rtl="0" algn="l">
              <a:lnSpc>
                <a:spcPct val="90000"/>
              </a:lnSpc>
              <a:spcBef>
                <a:spcPts val="560"/>
              </a:spcBef>
              <a:spcAft>
                <a:spcPts val="0"/>
              </a:spcAft>
              <a:buClr>
                <a:schemeClr val="accent2"/>
              </a:buClr>
              <a:buSzPct val="75000"/>
              <a:buFont typeface="Noto Symbol"/>
              <a:buChar char="■"/>
            </a:pPr>
            <a:r>
              <a:rPr b="1" i="1" lang="en-US" sz="2800" u="none" cap="none" strike="noStrike">
                <a:solidFill>
                  <a:schemeClr val="dk1"/>
                </a:solidFill>
                <a:latin typeface="Tahoma"/>
                <a:ea typeface="Tahoma"/>
                <a:cs typeface="Tahoma"/>
                <a:sym typeface="Tahoma"/>
              </a:rPr>
              <a:t>Efecto economías de escala o tamaño de mercado</a:t>
            </a:r>
            <a:r>
              <a:rPr b="0" i="0" lang="en-US" sz="2800" u="none" cap="none" strike="noStrike">
                <a:solidFill>
                  <a:schemeClr val="dk1"/>
                </a:solidFill>
                <a:latin typeface="Tahoma"/>
                <a:ea typeface="Tahoma"/>
                <a:cs typeface="Tahoma"/>
                <a:sym typeface="Tahoma"/>
              </a:rPr>
              <a:t>: el comercio permite la explotación de las economías de escala y la consiguiente reducción de los costos medios</a:t>
            </a:r>
          </a:p>
          <a:p>
            <a:pPr indent="-342900" lvl="0" marL="342900" marR="0" rtl="0" algn="l">
              <a:lnSpc>
                <a:spcPct val="100000"/>
              </a:lnSpc>
              <a:spcBef>
                <a:spcPts val="560"/>
              </a:spcBef>
              <a:spcAft>
                <a:spcPts val="0"/>
              </a:spcAft>
              <a:buClr>
                <a:schemeClr val="accent2"/>
              </a:buClr>
              <a:buSzPct val="75000"/>
              <a:buFont typeface="Noto Symbol"/>
              <a:buNone/>
            </a:pPr>
            <a:r>
              <a:t/>
            </a:r>
            <a:endParaRPr b="0" i="0" sz="2800" u="none" cap="none" strike="noStrike">
              <a:solidFill>
                <a:schemeClr val="dk1"/>
              </a:solidFill>
              <a:latin typeface="Tahoma"/>
              <a:ea typeface="Tahoma"/>
              <a:cs typeface="Tahoma"/>
              <a:sym typeface="Tahoma"/>
            </a:endParaRPr>
          </a:p>
        </p:txBody>
      </p:sp>
    </p:spTree>
  </p:cSld>
  <p:clrMapOvr>
    <a:masterClrMapping/>
  </p:clrMapOvr>
  <p:transition spd="slow">
    <p:c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2" name="Shape 182"/>
        <p:cNvGrpSpPr/>
        <p:nvPr/>
      </p:nvGrpSpPr>
      <p:grpSpPr>
        <a:xfrm>
          <a:off x="0" y="0"/>
          <a:ext cx="0" cy="0"/>
          <a:chOff x="0" y="0"/>
          <a:chExt cx="0" cy="0"/>
        </a:xfrm>
      </p:grpSpPr>
      <p:sp>
        <p:nvSpPr>
          <p:cNvPr id="183" name="Shape 183"/>
          <p:cNvSpPr txBox="1"/>
          <p:nvPr>
            <p:ph idx="4294967295" type="title"/>
          </p:nvPr>
        </p:nvSpPr>
        <p:spPr>
          <a:xfrm>
            <a:off x="1589087" y="973137"/>
            <a:ext cx="7086600" cy="1447800"/>
          </a:xfrm>
          <a:prstGeom prst="rect">
            <a:avLst/>
          </a:prstGeom>
          <a:solidFill>
            <a:schemeClr val="accent1"/>
          </a:solidFill>
          <a:ln>
            <a:noFill/>
          </a:ln>
        </p:spPr>
        <p:txBody>
          <a:bodyPr anchorCtr="0" anchor="ctr" bIns="45700" lIns="91425" rIns="91425" tIns="45700">
            <a:noAutofit/>
          </a:bodyPr>
          <a:lstStyle/>
          <a:p>
            <a:pPr indent="0" lvl="0" marL="0" marR="0" rtl="0" algn="ctr">
              <a:lnSpc>
                <a:spcPct val="100000"/>
              </a:lnSpc>
              <a:spcBef>
                <a:spcPts val="0"/>
              </a:spcBef>
              <a:spcAft>
                <a:spcPts val="0"/>
              </a:spcAft>
              <a:buClr>
                <a:schemeClr val="dk1"/>
              </a:buClr>
              <a:buSzPct val="25000"/>
              <a:buFont typeface="Tahoma"/>
              <a:buNone/>
            </a:pPr>
            <a:r>
              <a:rPr b="0" i="0" lang="en-US" sz="2800" u="none" cap="none" strike="noStrike">
                <a:solidFill>
                  <a:schemeClr val="dk1"/>
                </a:solidFill>
                <a:latin typeface="Tahoma"/>
                <a:ea typeface="Tahoma"/>
                <a:cs typeface="Tahoma"/>
                <a:sym typeface="Tahoma"/>
              </a:rPr>
              <a:t>COMERCIO INTERNACIONAL </a:t>
            </a:r>
            <a:br>
              <a:rPr b="0" i="0" lang="en-US" sz="2800" u="none" cap="none" strike="noStrike">
                <a:solidFill>
                  <a:schemeClr val="dk1"/>
                </a:solidFill>
                <a:latin typeface="Tahoma"/>
                <a:ea typeface="Tahoma"/>
                <a:cs typeface="Tahoma"/>
                <a:sym typeface="Tahoma"/>
              </a:rPr>
            </a:br>
            <a:r>
              <a:rPr b="0" i="0" lang="en-US" sz="2800" u="none" cap="none" strike="noStrike">
                <a:solidFill>
                  <a:schemeClr val="dk1"/>
                </a:solidFill>
                <a:latin typeface="Tahoma"/>
                <a:ea typeface="Tahoma"/>
                <a:cs typeface="Tahoma"/>
                <a:sym typeface="Tahoma"/>
              </a:rPr>
              <a:t>FRONTERA DE POSIBILIDADES DE CONSUMO</a:t>
            </a:r>
          </a:p>
        </p:txBody>
      </p:sp>
      <p:sp>
        <p:nvSpPr>
          <p:cNvPr id="184" name="Shape 184"/>
          <p:cNvSpPr txBox="1"/>
          <p:nvPr>
            <p:ph idx="4294967295" type="body"/>
          </p:nvPr>
        </p:nvSpPr>
        <p:spPr>
          <a:xfrm>
            <a:off x="1158875" y="2565400"/>
            <a:ext cx="7300912" cy="4103687"/>
          </a:xfrm>
          <a:prstGeom prst="rect">
            <a:avLst/>
          </a:prstGeom>
          <a:solidFill>
            <a:srgbClr val="FFFFCC"/>
          </a:solid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Permite desvincular en cada país la estructura de producción de sus pautas de consumo.</a:t>
            </a:r>
          </a:p>
          <a:p>
            <a:pPr indent="-342900" lvl="0" marL="342900" marR="0" rtl="0" algn="l">
              <a:lnSpc>
                <a:spcPct val="100000"/>
              </a:lnSpc>
              <a:spcBef>
                <a:spcPts val="480"/>
              </a:spcBef>
              <a:spcAft>
                <a:spcPts val="0"/>
              </a:spcAft>
              <a:buClr>
                <a:schemeClr val="accent2"/>
              </a:buClr>
              <a:buSzPct val="75000"/>
              <a:buFont typeface="Noto Symbol"/>
              <a:buNone/>
            </a:pPr>
            <a:r>
              <a:t/>
            </a:r>
            <a:endParaRPr b="0" i="0" sz="2400" u="none" cap="none" strike="noStrike">
              <a:solidFill>
                <a:schemeClr val="dk1"/>
              </a:solidFill>
              <a:latin typeface="Tahoma"/>
              <a:ea typeface="Tahoma"/>
              <a:cs typeface="Tahoma"/>
              <a:sym typeface="Tahoma"/>
            </a:endParaRPr>
          </a:p>
          <a:p>
            <a:pPr indent="-342900" lvl="0" marL="342900" marR="0" rtl="0" algn="l">
              <a:lnSpc>
                <a:spcPct val="10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Expande las posibilidades de consumo y permite a un país consumir más allá de su FPP.</a:t>
            </a:r>
          </a:p>
          <a:p>
            <a:pPr indent="-342900" lvl="0" marL="342900" marR="0" rtl="0" algn="l">
              <a:lnSpc>
                <a:spcPct val="100000"/>
              </a:lnSpc>
              <a:spcBef>
                <a:spcPts val="480"/>
              </a:spcBef>
              <a:spcAft>
                <a:spcPts val="0"/>
              </a:spcAft>
              <a:buClr>
                <a:schemeClr val="accent2"/>
              </a:buClr>
              <a:buSzPct val="75000"/>
              <a:buFont typeface="Noto Symbol"/>
              <a:buNone/>
            </a:pPr>
            <a:r>
              <a:t/>
            </a:r>
            <a:endParaRPr b="0" i="0" sz="2400" u="none" cap="none" strike="noStrike">
              <a:solidFill>
                <a:schemeClr val="dk1"/>
              </a:solidFill>
              <a:latin typeface="Tahoma"/>
              <a:ea typeface="Tahoma"/>
              <a:cs typeface="Tahoma"/>
              <a:sym typeface="Tahoma"/>
            </a:endParaRPr>
          </a:p>
          <a:p>
            <a:pPr indent="-342900" lvl="0" marL="342900" marR="0" rtl="0" algn="l">
              <a:lnSpc>
                <a:spcPct val="10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Genera una ganancia de eficiencia en la asignación de los recursos, mediante la especialización mejora el poder adquisitivo de la renta de los factores productivos.</a:t>
            </a:r>
          </a:p>
        </p:txBody>
      </p:sp>
    </p:spTree>
  </p:cSld>
  <p:clrMapOvr>
    <a:masterClrMapping/>
  </p:clrMapOvr>
  <p:transition spd="slow">
    <p:c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88" name="Shape 188"/>
        <p:cNvGrpSpPr/>
        <p:nvPr/>
      </p:nvGrpSpPr>
      <p:grpSpPr>
        <a:xfrm>
          <a:off x="0" y="0"/>
          <a:ext cx="0" cy="0"/>
          <a:chOff x="0" y="0"/>
          <a:chExt cx="0" cy="0"/>
        </a:xfrm>
      </p:grpSpPr>
      <p:sp>
        <p:nvSpPr>
          <p:cNvPr id="189" name="Shape 189"/>
          <p:cNvSpPr txBox="1"/>
          <p:nvPr>
            <p:ph idx="4294967295" type="title"/>
          </p:nvPr>
        </p:nvSpPr>
        <p:spPr>
          <a:xfrm>
            <a:off x="1187450" y="1052512"/>
            <a:ext cx="7086600" cy="1447800"/>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TERMINOS DEL INTERCAMBIO</a:t>
            </a:r>
          </a:p>
        </p:txBody>
      </p:sp>
      <p:sp>
        <p:nvSpPr>
          <p:cNvPr id="190" name="Shape 190"/>
          <p:cNvSpPr txBox="1"/>
          <p:nvPr>
            <p:ph idx="4294967295" type="body"/>
          </p:nvPr>
        </p:nvSpPr>
        <p:spPr>
          <a:xfrm>
            <a:off x="517525" y="2852736"/>
            <a:ext cx="7726361" cy="3529012"/>
          </a:xfrm>
          <a:prstGeom prst="rect">
            <a:avLst/>
          </a:prstGeom>
          <a:noFill/>
          <a:ln>
            <a:noFill/>
          </a:ln>
        </p:spPr>
        <p:txBody>
          <a:bodyPr anchorCtr="0" anchor="t" bIns="45700" lIns="91425" rIns="91425" tIns="45700">
            <a:noAutofit/>
          </a:bodyPr>
          <a:lstStyle/>
          <a:p>
            <a:pPr indent="-228600" lvl="3" marL="1600200" marR="0" rtl="0" algn="l">
              <a:lnSpc>
                <a:spcPct val="100000"/>
              </a:lnSpc>
              <a:spcBef>
                <a:spcPts val="0"/>
              </a:spcBef>
              <a:spcAft>
                <a:spcPts val="0"/>
              </a:spcAft>
              <a:buClr>
                <a:schemeClr val="dk2"/>
              </a:buClr>
              <a:buSzPct val="25000"/>
              <a:buFont typeface="Noto Symbol"/>
              <a:buNone/>
            </a:pPr>
            <a:r>
              <a:rPr b="1" i="0" lang="en-US" sz="2000" u="none" cap="none" strike="noStrike">
                <a:solidFill>
                  <a:schemeClr val="dk1"/>
                </a:solidFill>
                <a:latin typeface="Tahoma"/>
                <a:ea typeface="Tahoma"/>
                <a:cs typeface="Tahoma"/>
                <a:sym typeface="Tahoma"/>
              </a:rPr>
              <a:t>La expresión términos del intercambio designa la relación que se establece entre los bienes y los servicios intercambiados por dos países o dos grupos de países. </a:t>
            </a:r>
          </a:p>
          <a:p>
            <a:pPr indent="-228600" lvl="3" marL="1600200" marR="0" rtl="0" algn="l">
              <a:lnSpc>
                <a:spcPct val="100000"/>
              </a:lnSpc>
              <a:spcBef>
                <a:spcPts val="400"/>
              </a:spcBef>
              <a:spcAft>
                <a:spcPts val="0"/>
              </a:spcAft>
              <a:buClr>
                <a:schemeClr val="dk2"/>
              </a:buClr>
              <a:buSzPct val="25000"/>
              <a:buFont typeface="Noto Symbol"/>
              <a:buNone/>
            </a:pPr>
            <a:r>
              <a:t/>
            </a:r>
            <a:endParaRPr b="1" i="0" sz="2000" u="none" cap="none" strike="noStrike">
              <a:solidFill>
                <a:schemeClr val="dk1"/>
              </a:solidFill>
              <a:latin typeface="Tahoma"/>
              <a:ea typeface="Tahoma"/>
              <a:cs typeface="Tahoma"/>
              <a:sym typeface="Tahoma"/>
            </a:endParaRPr>
          </a:p>
          <a:p>
            <a:pPr indent="-228600" lvl="3" marL="1600200" marR="0" rtl="0" algn="l">
              <a:lnSpc>
                <a:spcPct val="100000"/>
              </a:lnSpc>
              <a:spcBef>
                <a:spcPts val="400"/>
              </a:spcBef>
              <a:spcAft>
                <a:spcPts val="0"/>
              </a:spcAft>
              <a:buClr>
                <a:schemeClr val="dk2"/>
              </a:buClr>
              <a:buSzPct val="25000"/>
              <a:buFont typeface="Noto Symbol"/>
              <a:buNone/>
            </a:pPr>
            <a:r>
              <a:rPr b="1" i="0" lang="en-US" sz="2000" u="none" cap="none" strike="noStrike">
                <a:solidFill>
                  <a:schemeClr val="dk1"/>
                </a:solidFill>
                <a:latin typeface="Tahoma"/>
                <a:ea typeface="Tahoma"/>
                <a:cs typeface="Tahoma"/>
                <a:sym typeface="Tahoma"/>
              </a:rPr>
              <a:t>Hipótesis de Raúl Prebisch</a:t>
            </a:r>
          </a:p>
          <a:p>
            <a:pPr indent="-228600" lvl="3" marL="1600200" marR="0" rtl="0" algn="l">
              <a:lnSpc>
                <a:spcPct val="100000"/>
              </a:lnSpc>
              <a:spcBef>
                <a:spcPts val="400"/>
              </a:spcBef>
              <a:spcAft>
                <a:spcPts val="0"/>
              </a:spcAft>
              <a:buClr>
                <a:schemeClr val="dk2"/>
              </a:buClr>
              <a:buSzPct val="25000"/>
              <a:buFont typeface="Noto Symbol"/>
              <a:buNone/>
            </a:pPr>
            <a:r>
              <a:rPr b="1" i="0" lang="en-US" sz="2000" u="none" cap="none" strike="noStrike">
                <a:solidFill>
                  <a:schemeClr val="dk1"/>
                </a:solidFill>
                <a:latin typeface="Tahoma"/>
                <a:ea typeface="Tahoma"/>
                <a:cs typeface="Tahoma"/>
                <a:sym typeface="Tahoma"/>
              </a:rPr>
              <a:t>Esta relación evoluciona con el tiempo, si los ingresos provenientes de las exportaciones permiten pagar un volumen de importaciones cada vez menor, existe un deterioro de los términos del intercambio para el país exportador.</a:t>
            </a:r>
            <a:r>
              <a:rPr b="0" i="0" lang="en-US" sz="2000" u="none" cap="none" strike="noStrike">
                <a:solidFill>
                  <a:schemeClr val="dk1"/>
                </a:solidFill>
                <a:latin typeface="Tahoma"/>
                <a:ea typeface="Tahoma"/>
                <a:cs typeface="Tahoma"/>
                <a:sym typeface="Tahoma"/>
              </a:rPr>
              <a:t> </a:t>
            </a:r>
          </a:p>
        </p:txBody>
      </p:sp>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194" name="Shape 194"/>
        <p:cNvGrpSpPr/>
        <p:nvPr/>
      </p:nvGrpSpPr>
      <p:grpSpPr>
        <a:xfrm>
          <a:off x="0" y="0"/>
          <a:ext cx="0" cy="0"/>
          <a:chOff x="0" y="0"/>
          <a:chExt cx="0" cy="0"/>
        </a:xfrm>
      </p:grpSpPr>
      <p:sp>
        <p:nvSpPr>
          <p:cNvPr id="195" name="Shape 195"/>
          <p:cNvSpPr txBox="1"/>
          <p:nvPr>
            <p:ph idx="4294967295" type="title"/>
          </p:nvPr>
        </p:nvSpPr>
        <p:spPr>
          <a:xfrm>
            <a:off x="1187450" y="1052512"/>
            <a:ext cx="7086600" cy="1447800"/>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VENTAJAS DEL INTERCAMBIO</a:t>
            </a:r>
          </a:p>
        </p:txBody>
      </p:sp>
      <p:sp>
        <p:nvSpPr>
          <p:cNvPr id="196" name="Shape 196"/>
          <p:cNvSpPr txBox="1"/>
          <p:nvPr>
            <p:ph idx="4294967295" type="body"/>
          </p:nvPr>
        </p:nvSpPr>
        <p:spPr>
          <a:xfrm>
            <a:off x="517525" y="2852736"/>
            <a:ext cx="7726361" cy="3860799"/>
          </a:xfrm>
          <a:prstGeom prst="rect">
            <a:avLst/>
          </a:prstGeom>
          <a:noFill/>
          <a:ln>
            <a:noFill/>
          </a:ln>
        </p:spPr>
        <p:txBody>
          <a:bodyPr anchorCtr="0" anchor="t" bIns="45700" lIns="91425" rIns="91425" tIns="45700">
            <a:noAutofit/>
          </a:bodyPr>
          <a:lstStyle/>
          <a:p>
            <a:pPr indent="-228600" lvl="3" marL="1600200" marR="0" rtl="0" algn="l">
              <a:lnSpc>
                <a:spcPct val="100000"/>
              </a:lnSpc>
              <a:spcBef>
                <a:spcPts val="0"/>
              </a:spcBef>
              <a:spcAft>
                <a:spcPts val="0"/>
              </a:spcAft>
              <a:buClr>
                <a:schemeClr val="dk2"/>
              </a:buClr>
              <a:buSzPct val="25000"/>
              <a:buFont typeface="Noto Symbol"/>
              <a:buNone/>
            </a:pPr>
            <a:r>
              <a:rPr b="1" i="0" lang="en-US" sz="2800" u="none" cap="none" strike="noStrike">
                <a:solidFill>
                  <a:schemeClr val="dk1"/>
                </a:solidFill>
                <a:latin typeface="Times New Roman"/>
                <a:ea typeface="Times New Roman"/>
                <a:cs typeface="Times New Roman"/>
                <a:sym typeface="Times New Roman"/>
              </a:rPr>
              <a:t>VENTAJA ABSOLUTA</a:t>
            </a:r>
          </a:p>
          <a:p>
            <a:pPr indent="-342900" lvl="0" marL="342900" marR="0" rtl="0" algn="l">
              <a:lnSpc>
                <a:spcPct val="100000"/>
              </a:lnSpc>
              <a:spcBef>
                <a:spcPts val="560"/>
              </a:spcBef>
              <a:spcAft>
                <a:spcPts val="0"/>
              </a:spcAft>
              <a:buClr>
                <a:schemeClr val="accent2"/>
              </a:buClr>
              <a:buSzPct val="25000"/>
              <a:buFont typeface="Noto Symbol"/>
              <a:buNone/>
            </a:pPr>
            <a:r>
              <a:rPr b="1" i="1" lang="en-US" sz="2800" u="none" cap="none" strike="noStrike">
                <a:solidFill>
                  <a:schemeClr val="dk1"/>
                </a:solidFill>
                <a:latin typeface="Times New Roman"/>
                <a:ea typeface="Times New Roman"/>
                <a:cs typeface="Times New Roman"/>
                <a:sym typeface="Times New Roman"/>
              </a:rPr>
              <a:t>La ventaja absoluta está dada para aquel país que presenta mayor eficiencia (menores costos monetarios) en la fabricación de un bien.</a:t>
            </a:r>
          </a:p>
          <a:p>
            <a:pPr indent="-342900" lvl="0" marL="342900" marR="0" rtl="0" algn="l">
              <a:lnSpc>
                <a:spcPct val="100000"/>
              </a:lnSpc>
              <a:spcBef>
                <a:spcPts val="560"/>
              </a:spcBef>
              <a:spcAft>
                <a:spcPts val="0"/>
              </a:spcAft>
              <a:buClr>
                <a:schemeClr val="accent2"/>
              </a:buClr>
              <a:buSzPct val="25000"/>
              <a:buFont typeface="Noto Symbol"/>
              <a:buNone/>
            </a:pPr>
            <a:r>
              <a:rPr b="1" i="0" lang="en-US" sz="2800" u="none" cap="none" strike="noStrike">
                <a:solidFill>
                  <a:schemeClr val="dk1"/>
                </a:solidFill>
                <a:latin typeface="Times New Roman"/>
                <a:ea typeface="Times New Roman"/>
                <a:cs typeface="Times New Roman"/>
                <a:sym typeface="Times New Roman"/>
              </a:rPr>
              <a:t>       VENTAJA COMPARATIVA</a:t>
            </a:r>
          </a:p>
          <a:p>
            <a:pPr indent="-342900" lvl="0" marL="342900" marR="0" rtl="0" algn="l">
              <a:lnSpc>
                <a:spcPct val="100000"/>
              </a:lnSpc>
              <a:spcBef>
                <a:spcPts val="560"/>
              </a:spcBef>
              <a:spcAft>
                <a:spcPts val="0"/>
              </a:spcAft>
              <a:buClr>
                <a:schemeClr val="accent2"/>
              </a:buClr>
              <a:buSzPct val="25000"/>
              <a:buFont typeface="Noto Symbol"/>
              <a:buNone/>
            </a:pPr>
            <a:r>
              <a:rPr b="1" i="1" lang="en-US" sz="2800" u="none" cap="none" strike="noStrike">
                <a:solidFill>
                  <a:schemeClr val="dk1"/>
                </a:solidFill>
                <a:latin typeface="Times New Roman"/>
                <a:ea typeface="Times New Roman"/>
                <a:cs typeface="Times New Roman"/>
                <a:sym typeface="Times New Roman"/>
              </a:rPr>
              <a:t>La ventaja comparativa está dada para aquel país que presenta el menor costo de oportunidad en la fabricación de un bien</a:t>
            </a:r>
            <a:r>
              <a:rPr b="1" i="0" lang="en-US" sz="2800" u="none" cap="none" strike="noStrike">
                <a:solidFill>
                  <a:schemeClr val="dk1"/>
                </a:solidFill>
                <a:latin typeface="Times New Roman"/>
                <a:ea typeface="Times New Roman"/>
                <a:cs typeface="Times New Roman"/>
                <a:sym typeface="Times New Roman"/>
              </a:rPr>
              <a:t>.</a:t>
            </a:r>
          </a:p>
        </p:txBody>
      </p:sp>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1" name="Shape 201"/>
        <p:cNvGrpSpPr/>
        <p:nvPr/>
      </p:nvGrpSpPr>
      <p:grpSpPr>
        <a:xfrm>
          <a:off x="0" y="0"/>
          <a:ext cx="0" cy="0"/>
          <a:chOff x="0" y="0"/>
          <a:chExt cx="0" cy="0"/>
        </a:xfrm>
      </p:grpSpPr>
      <p:sp>
        <p:nvSpPr>
          <p:cNvPr id="202" name="Shape 202"/>
          <p:cNvSpPr txBox="1"/>
          <p:nvPr>
            <p:ph idx="4294967295" type="title"/>
          </p:nvPr>
        </p:nvSpPr>
        <p:spPr>
          <a:xfrm>
            <a:off x="1547812" y="1916111"/>
            <a:ext cx="5994399" cy="588962"/>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Ejemplo</a:t>
            </a:r>
          </a:p>
        </p:txBody>
      </p:sp>
      <p:sp>
        <p:nvSpPr>
          <p:cNvPr id="203" name="Shape 203"/>
          <p:cNvSpPr txBox="1"/>
          <p:nvPr>
            <p:ph idx="4294967295" type="body"/>
          </p:nvPr>
        </p:nvSpPr>
        <p:spPr>
          <a:xfrm>
            <a:off x="1295400" y="2819400"/>
            <a:ext cx="7086600" cy="3352799"/>
          </a:xfrm>
          <a:prstGeom prst="rect">
            <a:avLst/>
          </a:prstGeom>
          <a:noFill/>
          <a:ln>
            <a:noFill/>
          </a:ln>
        </p:spPr>
        <p:txBody>
          <a:bodyPr anchorCtr="0" anchor="t" bIns="45700" lIns="91425" rIns="91425" tIns="45700">
            <a:noAutofit/>
          </a:bodyPr>
          <a:lstStyle/>
          <a:p>
            <a:pPr indent="-342900" lvl="0" marL="342900" marR="0" rtl="0" algn="l">
              <a:lnSpc>
                <a:spcPct val="90000"/>
              </a:lnSpc>
              <a:spcBef>
                <a:spcPts val="0"/>
              </a:spcBef>
              <a:spcAft>
                <a:spcPts val="0"/>
              </a:spcAft>
              <a:buClr>
                <a:schemeClr val="accent2"/>
              </a:buClr>
              <a:buSzPct val="75000"/>
              <a:buFont typeface="Noto Symbol"/>
              <a:buChar char="■"/>
            </a:pPr>
            <a:r>
              <a:rPr b="1" i="0" lang="en-US" sz="1900" u="none" cap="none" strike="noStrike">
                <a:solidFill>
                  <a:schemeClr val="dk1"/>
                </a:solidFill>
                <a:latin typeface="Arial"/>
                <a:ea typeface="Arial"/>
                <a:cs typeface="Arial"/>
                <a:sym typeface="Arial"/>
              </a:rPr>
              <a:t>Hay sólo 2 bienes en la economía:</a:t>
            </a:r>
          </a:p>
          <a:p>
            <a:pPr indent="-285750" lvl="1" marL="742950" marR="0" rtl="0" algn="l">
              <a:lnSpc>
                <a:spcPct val="9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Carne</a:t>
            </a:r>
          </a:p>
          <a:p>
            <a:pPr indent="-285750" lvl="1" marL="742950" marR="0" rtl="0" algn="l">
              <a:lnSpc>
                <a:spcPct val="9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Papas</a:t>
            </a:r>
          </a:p>
          <a:p>
            <a:pPr indent="-342900" lvl="0" marL="342900" marR="0" rtl="0" algn="l">
              <a:lnSpc>
                <a:spcPct val="90000"/>
              </a:lnSpc>
              <a:spcBef>
                <a:spcPts val="380"/>
              </a:spcBef>
              <a:spcAft>
                <a:spcPts val="0"/>
              </a:spcAft>
              <a:buClr>
                <a:schemeClr val="accent2"/>
              </a:buClr>
              <a:buSzPct val="25000"/>
              <a:buFont typeface="Noto Symbol"/>
              <a:buNone/>
            </a:pPr>
            <a:r>
              <a:t/>
            </a:r>
            <a:endParaRPr b="1" i="0" sz="1900" u="none" cap="none" strike="noStrike">
              <a:solidFill>
                <a:schemeClr val="dk1"/>
              </a:solidFill>
              <a:latin typeface="Arial"/>
              <a:ea typeface="Arial"/>
              <a:cs typeface="Arial"/>
              <a:sym typeface="Arial"/>
            </a:endParaRPr>
          </a:p>
          <a:p>
            <a:pPr indent="-342900" lvl="0" marL="342900" marR="0" rtl="0" algn="l">
              <a:lnSpc>
                <a:spcPct val="90000"/>
              </a:lnSpc>
              <a:spcBef>
                <a:spcPts val="380"/>
              </a:spcBef>
              <a:spcAft>
                <a:spcPts val="0"/>
              </a:spcAft>
              <a:buClr>
                <a:schemeClr val="accent2"/>
              </a:buClr>
              <a:buSzPct val="75000"/>
              <a:buFont typeface="Noto Symbol"/>
              <a:buChar char="■"/>
            </a:pPr>
            <a:r>
              <a:rPr b="1" i="0" lang="en-US" sz="1900" u="none" cap="none" strike="noStrike">
                <a:solidFill>
                  <a:schemeClr val="dk1"/>
                </a:solidFill>
                <a:latin typeface="Arial"/>
                <a:ea typeface="Arial"/>
                <a:cs typeface="Arial"/>
                <a:sym typeface="Arial"/>
              </a:rPr>
              <a:t>Hay sólo 2 individuos o agentes económicos:</a:t>
            </a:r>
          </a:p>
          <a:p>
            <a:pPr indent="-285750" lvl="1" marL="742950" marR="0" rtl="0" algn="l">
              <a:lnSpc>
                <a:spcPct val="9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Ganadero</a:t>
            </a:r>
          </a:p>
          <a:p>
            <a:pPr indent="-285750" lvl="1" marL="742950" marR="0" rtl="0" algn="l">
              <a:lnSpc>
                <a:spcPct val="9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Agricultor</a:t>
            </a:r>
          </a:p>
          <a:p>
            <a:pPr indent="-342900" lvl="0" marL="342900" marR="0" rtl="0" algn="l">
              <a:lnSpc>
                <a:spcPct val="90000"/>
              </a:lnSpc>
              <a:spcBef>
                <a:spcPts val="380"/>
              </a:spcBef>
              <a:spcAft>
                <a:spcPts val="0"/>
              </a:spcAft>
              <a:buClr>
                <a:schemeClr val="accent2"/>
              </a:buClr>
              <a:buSzPct val="75000"/>
              <a:buFont typeface="Noto Symbol"/>
              <a:buNone/>
            </a:pPr>
            <a:r>
              <a:t/>
            </a:r>
            <a:endParaRPr b="1" i="0" sz="1900" u="none" cap="none" strike="noStrike">
              <a:solidFill>
                <a:schemeClr val="dk1"/>
              </a:solidFill>
              <a:latin typeface="Arial"/>
              <a:ea typeface="Arial"/>
              <a:cs typeface="Arial"/>
              <a:sym typeface="Arial"/>
            </a:endParaRPr>
          </a:p>
          <a:p>
            <a:pPr indent="-342900" lvl="0" marL="342900" marR="0" rtl="0" algn="l">
              <a:lnSpc>
                <a:spcPct val="90000"/>
              </a:lnSpc>
              <a:spcBef>
                <a:spcPts val="380"/>
              </a:spcBef>
              <a:spcAft>
                <a:spcPts val="0"/>
              </a:spcAft>
              <a:buClr>
                <a:schemeClr val="accent2"/>
              </a:buClr>
              <a:buSzPct val="75000"/>
              <a:buFont typeface="Noto Symbol"/>
              <a:buChar char="■"/>
            </a:pPr>
            <a:r>
              <a:rPr b="1" i="0" lang="en-US" sz="1900" u="none" cap="none" strike="noStrike">
                <a:solidFill>
                  <a:schemeClr val="dk1"/>
                </a:solidFill>
                <a:latin typeface="Arial"/>
                <a:ea typeface="Arial"/>
                <a:cs typeface="Arial"/>
                <a:sym typeface="Arial"/>
              </a:rPr>
              <a:t>Cada agente económico quiere consumir de los dos bienes : carne y papas</a:t>
            </a:r>
          </a:p>
        </p:txBody>
      </p:sp>
    </p:spTree>
  </p:cSld>
  <p:clrMapOvr>
    <a:masterClrMapping/>
  </p:clrMapOvr>
  <p:transition spd="slow">
    <p:c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08" name="Shape 208"/>
        <p:cNvGrpSpPr/>
        <p:nvPr/>
      </p:nvGrpSpPr>
      <p:grpSpPr>
        <a:xfrm>
          <a:off x="0" y="0"/>
          <a:ext cx="0" cy="0"/>
          <a:chOff x="0" y="0"/>
          <a:chExt cx="0" cy="0"/>
        </a:xfrm>
      </p:grpSpPr>
      <p:sp>
        <p:nvSpPr>
          <p:cNvPr id="209" name="Shape 209"/>
          <p:cNvSpPr txBox="1"/>
          <p:nvPr>
            <p:ph idx="4294967295" type="title"/>
          </p:nvPr>
        </p:nvSpPr>
        <p:spPr>
          <a:xfrm>
            <a:off x="1619250" y="1611312"/>
            <a:ext cx="6654800" cy="588962"/>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3200" u="none" cap="none" strike="noStrike">
                <a:solidFill>
                  <a:schemeClr val="dk1"/>
                </a:solidFill>
                <a:latin typeface="Arial"/>
                <a:ea typeface="Arial"/>
                <a:cs typeface="Arial"/>
                <a:sym typeface="Arial"/>
              </a:rPr>
              <a:t>Posibilidades de Producción</a:t>
            </a:r>
          </a:p>
        </p:txBody>
      </p:sp>
      <p:sp>
        <p:nvSpPr>
          <p:cNvPr id="210" name="Shape 210"/>
          <p:cNvSpPr txBox="1"/>
          <p:nvPr>
            <p:ph idx="4294967295" type="body"/>
          </p:nvPr>
        </p:nvSpPr>
        <p:spPr>
          <a:xfrm>
            <a:off x="1295400" y="2819400"/>
            <a:ext cx="7086600" cy="3352799"/>
          </a:xfrm>
          <a:prstGeom prst="rect">
            <a:avLst/>
          </a:prstGeom>
          <a:noFill/>
          <a:ln>
            <a:noFill/>
          </a:ln>
        </p:spPr>
        <p:txBody>
          <a:bodyPr anchorCtr="0" anchor="t" bIns="45700" lIns="91425" rIns="91425" tIns="45700">
            <a:noAutofit/>
          </a:bodyPr>
          <a:lstStyle/>
          <a:p>
            <a:pPr indent="-342900" lvl="0" marL="342900" marR="0" rtl="0" algn="just">
              <a:lnSpc>
                <a:spcPct val="100000"/>
              </a:lnSpc>
              <a:spcBef>
                <a:spcPts val="0"/>
              </a:spcBef>
              <a:spcAft>
                <a:spcPts val="0"/>
              </a:spcAft>
              <a:buClr>
                <a:schemeClr val="accent2"/>
              </a:buClr>
              <a:buSzPct val="75000"/>
              <a:buFont typeface="Noto Symbol"/>
              <a:buChar char="■"/>
            </a:pPr>
            <a:r>
              <a:rPr b="1" i="0" lang="en-US" sz="2000" u="none" cap="none" strike="noStrike">
                <a:solidFill>
                  <a:schemeClr val="dk1"/>
                </a:solidFill>
                <a:latin typeface="Arial"/>
                <a:ea typeface="Arial"/>
                <a:cs typeface="Arial"/>
                <a:sym typeface="Arial"/>
              </a:rPr>
              <a:t>Supongamos que el agricultor y el ganadero trabajan 40 horas a la semana, y pueden dedicar su tiempo a:</a:t>
            </a:r>
          </a:p>
          <a:p>
            <a:pPr indent="-342900" lvl="0" marL="342900" marR="0" rtl="0" algn="l">
              <a:lnSpc>
                <a:spcPct val="100000"/>
              </a:lnSpc>
              <a:spcBef>
                <a:spcPts val="400"/>
              </a:spcBef>
              <a:spcAft>
                <a:spcPts val="0"/>
              </a:spcAft>
              <a:buClr>
                <a:schemeClr val="accent2"/>
              </a:buClr>
              <a:buSzPct val="75000"/>
              <a:buFont typeface="Noto Symbol"/>
              <a:buNone/>
            </a:pPr>
            <a:r>
              <a:t/>
            </a:r>
            <a:endParaRPr b="1" i="0" sz="2000" u="none" cap="none" strike="noStrike">
              <a:solidFill>
                <a:schemeClr val="dk1"/>
              </a:solidFill>
              <a:latin typeface="Arial"/>
              <a:ea typeface="Arial"/>
              <a:cs typeface="Arial"/>
              <a:sym typeface="Arial"/>
            </a:endParaRPr>
          </a:p>
          <a:p>
            <a:pPr indent="-285750" lvl="1" marL="742950" marR="0" rtl="0" algn="l">
              <a:lnSpc>
                <a:spcPct val="10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Producir papas</a:t>
            </a:r>
          </a:p>
          <a:p>
            <a:pPr indent="-285750" lvl="1" marL="742950" marR="0" rtl="0" algn="l">
              <a:lnSpc>
                <a:spcPct val="10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Criar ganado</a:t>
            </a:r>
          </a:p>
          <a:p>
            <a:pPr indent="-285750" lvl="1" marL="742950" marR="0" rtl="0" algn="l">
              <a:lnSpc>
                <a:spcPct val="100000"/>
              </a:lnSpc>
              <a:spcBef>
                <a:spcPts val="360"/>
              </a:spcBef>
              <a:spcAft>
                <a:spcPts val="0"/>
              </a:spcAft>
              <a:buClr>
                <a:schemeClr val="dk1"/>
              </a:buClr>
              <a:buSzPct val="75000"/>
              <a:buFont typeface="Noto Symbol"/>
              <a:buChar char="■"/>
            </a:pPr>
            <a:r>
              <a:rPr b="1" i="0" lang="en-US" sz="1800" u="none" cap="none" strike="noStrike">
                <a:solidFill>
                  <a:schemeClr val="dk1"/>
                </a:solidFill>
                <a:latin typeface="Arial"/>
                <a:ea typeface="Arial"/>
                <a:cs typeface="Arial"/>
                <a:sym typeface="Arial"/>
              </a:rPr>
              <a:t>Producir papas y criar ganado.</a:t>
            </a:r>
          </a:p>
        </p:txBody>
      </p:sp>
    </p:spTree>
  </p:cSld>
  <p:clrMapOvr>
    <a:masterClrMapping/>
  </p:clrMapOvr>
  <p:transition spd="slow">
    <p:cut/>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15" name="Shape 215"/>
        <p:cNvGrpSpPr/>
        <p:nvPr/>
      </p:nvGrpSpPr>
      <p:grpSpPr>
        <a:xfrm>
          <a:off x="0" y="0"/>
          <a:ext cx="0" cy="0"/>
          <a:chOff x="0" y="0"/>
          <a:chExt cx="0" cy="0"/>
        </a:xfrm>
      </p:grpSpPr>
      <p:sp>
        <p:nvSpPr>
          <p:cNvPr id="216" name="Shape 216"/>
          <p:cNvSpPr txBox="1"/>
          <p:nvPr>
            <p:ph idx="4294967295" type="title"/>
          </p:nvPr>
        </p:nvSpPr>
        <p:spPr>
          <a:xfrm>
            <a:off x="1331912" y="1773236"/>
            <a:ext cx="6911974" cy="466725"/>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Tabla de Datos:</a:t>
            </a:r>
          </a:p>
        </p:txBody>
      </p:sp>
      <p:pic>
        <p:nvPicPr>
          <p:cNvPr id="217" name="Shape 217"/>
          <p:cNvPicPr preferRelativeResize="0"/>
          <p:nvPr>
            <p:ph idx="2" type="tbl"/>
          </p:nvPr>
        </p:nvPicPr>
        <p:blipFill rotWithShape="1">
          <a:blip r:embed="rId3">
            <a:alphaModFix/>
          </a:blip>
          <a:srcRect b="0" l="0" r="0" t="0"/>
          <a:stretch/>
        </p:blipFill>
        <p:spPr>
          <a:xfrm>
            <a:off x="1338250" y="2852736"/>
            <a:ext cx="6899399" cy="3262199"/>
          </a:xfrm>
          <a:prstGeom prst="rect">
            <a:avLst/>
          </a:prstGeom>
          <a:noFill/>
          <a:ln>
            <a:noFill/>
          </a:ln>
        </p:spPr>
      </p:pic>
    </p:spTree>
  </p:cSld>
  <p:clrMapOvr>
    <a:masterClrMapping/>
  </p:clrMapOvr>
  <p:transition spd="slow">
    <p:cut/>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22" name="Shape 222"/>
        <p:cNvGrpSpPr/>
        <p:nvPr/>
      </p:nvGrpSpPr>
      <p:grpSpPr>
        <a:xfrm>
          <a:off x="0" y="0"/>
          <a:ext cx="0" cy="0"/>
          <a:chOff x="0" y="0"/>
          <a:chExt cx="0" cy="0"/>
        </a:xfrm>
      </p:grpSpPr>
      <p:sp>
        <p:nvSpPr>
          <p:cNvPr id="223" name="Shape 223"/>
          <p:cNvSpPr/>
          <p:nvPr/>
        </p:nvSpPr>
        <p:spPr>
          <a:xfrm>
            <a:off x="5148262" y="3644900"/>
            <a:ext cx="2628900" cy="762000"/>
          </a:xfrm>
          <a:custGeom>
            <a:pathLst>
              <a:path extrusionOk="0" h="480" w="1656">
                <a:moveTo>
                  <a:pt x="0" y="0"/>
                </a:moveTo>
                <a:lnTo>
                  <a:pt x="204" y="24"/>
                </a:lnTo>
                <a:lnTo>
                  <a:pt x="192" y="24"/>
                </a:lnTo>
                <a:lnTo>
                  <a:pt x="444" y="96"/>
                </a:lnTo>
                <a:lnTo>
                  <a:pt x="588" y="144"/>
                </a:lnTo>
                <a:lnTo>
                  <a:pt x="792" y="204"/>
                </a:lnTo>
                <a:lnTo>
                  <a:pt x="1056" y="288"/>
                </a:lnTo>
                <a:lnTo>
                  <a:pt x="1308" y="372"/>
                </a:lnTo>
                <a:lnTo>
                  <a:pt x="1656" y="480"/>
                </a:lnTo>
              </a:path>
            </a:pathLst>
          </a:custGeom>
          <a:noFill/>
          <a:ln cap="flat" cmpd="sng" w="38100">
            <a:solidFill>
              <a:schemeClr val="accent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224" name="Shape 224"/>
          <p:cNvCxnSpPr/>
          <p:nvPr/>
        </p:nvCxnSpPr>
        <p:spPr>
          <a:xfrm rot="10800000">
            <a:off x="1295400" y="1600199"/>
            <a:ext cx="0" cy="2819400"/>
          </a:xfrm>
          <a:prstGeom prst="straightConnector1">
            <a:avLst/>
          </a:prstGeom>
          <a:noFill/>
          <a:ln cap="flat" cmpd="sng" w="28575">
            <a:solidFill>
              <a:schemeClr val="dk1"/>
            </a:solidFill>
            <a:prstDash val="solid"/>
            <a:miter/>
            <a:headEnd len="med" w="med" type="none"/>
            <a:tailEnd len="lg" w="lg" type="triangle"/>
          </a:ln>
        </p:spPr>
      </p:cxnSp>
      <p:cxnSp>
        <p:nvCxnSpPr>
          <p:cNvPr id="225" name="Shape 225"/>
          <p:cNvCxnSpPr/>
          <p:nvPr/>
        </p:nvCxnSpPr>
        <p:spPr>
          <a:xfrm>
            <a:off x="1295400" y="4419600"/>
            <a:ext cx="2666999" cy="0"/>
          </a:xfrm>
          <a:prstGeom prst="straightConnector1">
            <a:avLst/>
          </a:prstGeom>
          <a:noFill/>
          <a:ln cap="flat" cmpd="sng" w="28575">
            <a:solidFill>
              <a:schemeClr val="dk1"/>
            </a:solidFill>
            <a:prstDash val="solid"/>
            <a:miter/>
            <a:headEnd len="med" w="med" type="none"/>
            <a:tailEnd len="lg" w="lg" type="triangle"/>
          </a:ln>
        </p:spPr>
      </p:cxnSp>
      <p:sp>
        <p:nvSpPr>
          <p:cNvPr id="226" name="Shape 226"/>
          <p:cNvSpPr txBox="1"/>
          <p:nvPr/>
        </p:nvSpPr>
        <p:spPr>
          <a:xfrm>
            <a:off x="4038600" y="1752600"/>
            <a:ext cx="75882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Carne</a:t>
            </a:r>
          </a:p>
        </p:txBody>
      </p:sp>
      <p:sp>
        <p:nvSpPr>
          <p:cNvPr id="227" name="Shape 227"/>
          <p:cNvSpPr txBox="1"/>
          <p:nvPr/>
        </p:nvSpPr>
        <p:spPr>
          <a:xfrm>
            <a:off x="3336925" y="4556125"/>
            <a:ext cx="7810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Papas</a:t>
            </a:r>
          </a:p>
        </p:txBody>
      </p:sp>
      <p:sp>
        <p:nvSpPr>
          <p:cNvPr id="228" name="Shape 228"/>
          <p:cNvSpPr txBox="1"/>
          <p:nvPr/>
        </p:nvSpPr>
        <p:spPr>
          <a:xfrm>
            <a:off x="898525" y="2193925"/>
            <a:ext cx="40957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40</a:t>
            </a:r>
          </a:p>
        </p:txBody>
      </p:sp>
      <p:sp>
        <p:nvSpPr>
          <p:cNvPr id="229" name="Shape 229"/>
          <p:cNvSpPr txBox="1"/>
          <p:nvPr/>
        </p:nvSpPr>
        <p:spPr>
          <a:xfrm>
            <a:off x="2270125" y="44037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5</a:t>
            </a:r>
          </a:p>
        </p:txBody>
      </p:sp>
      <p:sp>
        <p:nvSpPr>
          <p:cNvPr id="230" name="Shape 230"/>
          <p:cNvSpPr/>
          <p:nvPr/>
        </p:nvSpPr>
        <p:spPr>
          <a:xfrm>
            <a:off x="1331912" y="2420936"/>
            <a:ext cx="1069974" cy="1985962"/>
          </a:xfrm>
          <a:custGeom>
            <a:pathLst>
              <a:path extrusionOk="0" h="1296" w="720">
                <a:moveTo>
                  <a:pt x="0" y="0"/>
                </a:moveTo>
                <a:lnTo>
                  <a:pt x="203" y="200"/>
                </a:lnTo>
                <a:lnTo>
                  <a:pt x="323" y="380"/>
                </a:lnTo>
                <a:lnTo>
                  <a:pt x="419" y="512"/>
                </a:lnTo>
                <a:lnTo>
                  <a:pt x="587" y="860"/>
                </a:lnTo>
                <a:lnTo>
                  <a:pt x="671" y="1100"/>
                </a:lnTo>
                <a:lnTo>
                  <a:pt x="720" y="1296"/>
                </a:lnTo>
              </a:path>
            </a:pathLst>
          </a:custGeom>
          <a:noFill/>
          <a:ln cap="flat" cmpd="sng" w="38100">
            <a:solidFill>
              <a:schemeClr val="hlink"/>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31" name="Shape 231"/>
          <p:cNvSpPr txBox="1"/>
          <p:nvPr/>
        </p:nvSpPr>
        <p:spPr>
          <a:xfrm>
            <a:off x="2097086" y="3252786"/>
            <a:ext cx="4063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6600"/>
              </a:buClr>
              <a:buSzPct val="25000"/>
              <a:buFont typeface="Arial"/>
              <a:buNone/>
            </a:pPr>
            <a:r>
              <a:rPr b="1" i="0" lang="en-US" sz="1600" u="none" cap="none" strike="noStrike">
                <a:solidFill>
                  <a:srgbClr val="006600"/>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B</a:t>
            </a:r>
          </a:p>
        </p:txBody>
      </p:sp>
      <p:cxnSp>
        <p:nvCxnSpPr>
          <p:cNvPr id="232" name="Shape 232"/>
          <p:cNvCxnSpPr/>
          <p:nvPr/>
        </p:nvCxnSpPr>
        <p:spPr>
          <a:xfrm rot="10800000">
            <a:off x="1258887" y="3429000"/>
            <a:ext cx="792162" cy="0"/>
          </a:xfrm>
          <a:prstGeom prst="straightConnector1">
            <a:avLst/>
          </a:prstGeom>
          <a:noFill/>
          <a:ln cap="rnd" cmpd="sng" w="9525">
            <a:solidFill>
              <a:schemeClr val="dk1"/>
            </a:solidFill>
            <a:prstDash val="solid"/>
            <a:miter/>
            <a:headEnd len="med" w="med" type="oval"/>
            <a:tailEnd len="med" w="med" type="none"/>
          </a:ln>
        </p:spPr>
      </p:cxnSp>
      <p:cxnSp>
        <p:nvCxnSpPr>
          <p:cNvPr id="233" name="Shape 233"/>
          <p:cNvCxnSpPr/>
          <p:nvPr/>
        </p:nvCxnSpPr>
        <p:spPr>
          <a:xfrm>
            <a:off x="2051050" y="3429000"/>
            <a:ext cx="0" cy="990599"/>
          </a:xfrm>
          <a:prstGeom prst="straightConnector1">
            <a:avLst/>
          </a:prstGeom>
          <a:noFill/>
          <a:ln cap="rnd" cmpd="sng" w="9525">
            <a:solidFill>
              <a:schemeClr val="dk1"/>
            </a:solidFill>
            <a:prstDash val="solid"/>
            <a:miter/>
            <a:headEnd len="med" w="med" type="oval"/>
            <a:tailEnd len="med" w="med" type="none"/>
          </a:ln>
        </p:spPr>
      </p:cxnSp>
      <p:sp>
        <p:nvSpPr>
          <p:cNvPr id="234" name="Shape 234"/>
          <p:cNvSpPr txBox="1"/>
          <p:nvPr/>
        </p:nvSpPr>
        <p:spPr>
          <a:xfrm>
            <a:off x="1600200" y="4419600"/>
            <a:ext cx="638174"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6600"/>
              </a:buClr>
              <a:buSzPct val="25000"/>
              <a:buFont typeface="Arial"/>
              <a:buNone/>
            </a:pPr>
            <a:r>
              <a:rPr b="1" i="0" lang="en-US" sz="1600" u="none" cap="none" strike="noStrike">
                <a:solidFill>
                  <a:srgbClr val="006600"/>
                </a:solidFill>
                <a:latin typeface="Arial"/>
                <a:ea typeface="Arial"/>
                <a:cs typeface="Arial"/>
                <a:sym typeface="Arial"/>
              </a:rPr>
              <a:t>   </a:t>
            </a:r>
            <a:r>
              <a:rPr b="1" i="0" lang="en-US" sz="1600" u="none" cap="none" strike="noStrike">
                <a:solidFill>
                  <a:schemeClr val="dk1"/>
                </a:solidFill>
                <a:latin typeface="Arial"/>
                <a:ea typeface="Arial"/>
                <a:cs typeface="Arial"/>
                <a:sym typeface="Arial"/>
              </a:rPr>
              <a:t>2,5</a:t>
            </a:r>
          </a:p>
        </p:txBody>
      </p:sp>
      <p:sp>
        <p:nvSpPr>
          <p:cNvPr id="235" name="Shape 235"/>
          <p:cNvSpPr txBox="1"/>
          <p:nvPr/>
        </p:nvSpPr>
        <p:spPr>
          <a:xfrm>
            <a:off x="898525" y="3260725"/>
            <a:ext cx="40957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20</a:t>
            </a:r>
          </a:p>
        </p:txBody>
      </p:sp>
      <p:cxnSp>
        <p:nvCxnSpPr>
          <p:cNvPr id="236" name="Shape 236"/>
          <p:cNvCxnSpPr/>
          <p:nvPr/>
        </p:nvCxnSpPr>
        <p:spPr>
          <a:xfrm rot="10800000">
            <a:off x="5105400" y="1600199"/>
            <a:ext cx="0" cy="2819400"/>
          </a:xfrm>
          <a:prstGeom prst="straightConnector1">
            <a:avLst/>
          </a:prstGeom>
          <a:noFill/>
          <a:ln cap="flat" cmpd="sng" w="28575">
            <a:solidFill>
              <a:schemeClr val="dk1"/>
            </a:solidFill>
            <a:prstDash val="solid"/>
            <a:miter/>
            <a:headEnd len="med" w="med" type="none"/>
            <a:tailEnd len="lg" w="lg" type="triangle"/>
          </a:ln>
        </p:spPr>
      </p:cxnSp>
      <p:cxnSp>
        <p:nvCxnSpPr>
          <p:cNvPr id="237" name="Shape 237"/>
          <p:cNvCxnSpPr/>
          <p:nvPr/>
        </p:nvCxnSpPr>
        <p:spPr>
          <a:xfrm>
            <a:off x="5076825" y="4437062"/>
            <a:ext cx="3240087" cy="0"/>
          </a:xfrm>
          <a:prstGeom prst="straightConnector1">
            <a:avLst/>
          </a:prstGeom>
          <a:noFill/>
          <a:ln cap="flat" cmpd="sng" w="28575">
            <a:solidFill>
              <a:schemeClr val="dk1"/>
            </a:solidFill>
            <a:prstDash val="solid"/>
            <a:miter/>
            <a:headEnd len="med" w="med" type="none"/>
            <a:tailEnd len="lg" w="lg" type="triangle"/>
          </a:ln>
        </p:spPr>
      </p:cxnSp>
      <p:sp>
        <p:nvSpPr>
          <p:cNvPr id="238" name="Shape 238"/>
          <p:cNvSpPr txBox="1"/>
          <p:nvPr/>
        </p:nvSpPr>
        <p:spPr>
          <a:xfrm>
            <a:off x="8183561" y="4572000"/>
            <a:ext cx="7810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Papas</a:t>
            </a:r>
          </a:p>
        </p:txBody>
      </p:sp>
      <p:sp>
        <p:nvSpPr>
          <p:cNvPr id="239" name="Shape 239"/>
          <p:cNvSpPr txBox="1"/>
          <p:nvPr/>
        </p:nvSpPr>
        <p:spPr>
          <a:xfrm>
            <a:off x="517525" y="1660525"/>
            <a:ext cx="758700" cy="3365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Carne</a:t>
            </a:r>
          </a:p>
        </p:txBody>
      </p:sp>
      <p:sp>
        <p:nvSpPr>
          <p:cNvPr id="240" name="Shape 240"/>
          <p:cNvSpPr txBox="1"/>
          <p:nvPr/>
        </p:nvSpPr>
        <p:spPr>
          <a:xfrm>
            <a:off x="7740650" y="43656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4</a:t>
            </a:r>
          </a:p>
        </p:txBody>
      </p:sp>
      <p:sp>
        <p:nvSpPr>
          <p:cNvPr id="241" name="Shape 241"/>
          <p:cNvSpPr txBox="1"/>
          <p:nvPr/>
        </p:nvSpPr>
        <p:spPr>
          <a:xfrm>
            <a:off x="4708525" y="3452812"/>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2</a:t>
            </a:r>
          </a:p>
        </p:txBody>
      </p:sp>
      <p:sp>
        <p:nvSpPr>
          <p:cNvPr id="242" name="Shape 242"/>
          <p:cNvSpPr txBox="1"/>
          <p:nvPr/>
        </p:nvSpPr>
        <p:spPr>
          <a:xfrm>
            <a:off x="4716462" y="3884612"/>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1</a:t>
            </a:r>
          </a:p>
        </p:txBody>
      </p:sp>
      <p:sp>
        <p:nvSpPr>
          <p:cNvPr id="243" name="Shape 243"/>
          <p:cNvSpPr txBox="1"/>
          <p:nvPr/>
        </p:nvSpPr>
        <p:spPr>
          <a:xfrm>
            <a:off x="6300787" y="4508500"/>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2</a:t>
            </a:r>
          </a:p>
        </p:txBody>
      </p:sp>
      <p:sp>
        <p:nvSpPr>
          <p:cNvPr id="244" name="Shape 244"/>
          <p:cNvSpPr txBox="1"/>
          <p:nvPr/>
        </p:nvSpPr>
        <p:spPr>
          <a:xfrm>
            <a:off x="6372225" y="3644900"/>
            <a:ext cx="8381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99"/>
              </a:buClr>
              <a:buSzPct val="25000"/>
              <a:buFont typeface="Arial"/>
              <a:buNone/>
            </a:pPr>
            <a:r>
              <a:rPr b="1" i="0" lang="en-US" sz="1800" u="none" cap="none" strike="noStrike">
                <a:solidFill>
                  <a:srgbClr val="000099"/>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A</a:t>
            </a:r>
          </a:p>
        </p:txBody>
      </p:sp>
      <p:sp>
        <p:nvSpPr>
          <p:cNvPr id="245" name="Shape 245"/>
          <p:cNvSpPr txBox="1"/>
          <p:nvPr/>
        </p:nvSpPr>
        <p:spPr>
          <a:xfrm>
            <a:off x="1763711" y="1052512"/>
            <a:ext cx="1768474" cy="376236"/>
          </a:xfrm>
          <a:prstGeom prst="rect">
            <a:avLst/>
          </a:prstGeom>
          <a:solidFill>
            <a:srgbClr val="FFFF99"/>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FPP Ganadero</a:t>
            </a:r>
          </a:p>
        </p:txBody>
      </p:sp>
      <p:sp>
        <p:nvSpPr>
          <p:cNvPr id="246" name="Shape 246"/>
          <p:cNvSpPr txBox="1"/>
          <p:nvPr/>
        </p:nvSpPr>
        <p:spPr>
          <a:xfrm>
            <a:off x="5851525" y="1103312"/>
            <a:ext cx="1793874" cy="376236"/>
          </a:xfrm>
          <a:prstGeom prst="rect">
            <a:avLst/>
          </a:prstGeom>
          <a:solidFill>
            <a:srgbClr val="FFFF99"/>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FPP</a:t>
            </a:r>
            <a:r>
              <a:rPr b="1" i="0" lang="en-US" sz="1800" u="none" cap="none" strike="noStrike">
                <a:solidFill>
                  <a:srgbClr val="FFFF99"/>
                </a:solidFill>
                <a:latin typeface="Arial"/>
                <a:ea typeface="Arial"/>
                <a:cs typeface="Arial"/>
                <a:sym typeface="Arial"/>
              </a:rPr>
              <a:t> </a:t>
            </a:r>
            <a:r>
              <a:rPr b="1" i="0" lang="en-US" sz="1800" u="none" cap="none" strike="noStrike">
                <a:solidFill>
                  <a:schemeClr val="hlink"/>
                </a:solidFill>
                <a:latin typeface="Arial"/>
                <a:ea typeface="Arial"/>
                <a:cs typeface="Arial"/>
                <a:sym typeface="Arial"/>
              </a:rPr>
              <a:t>Agricultor</a:t>
            </a:r>
          </a:p>
        </p:txBody>
      </p:sp>
      <p:sp>
        <p:nvSpPr>
          <p:cNvPr id="247" name="Shape 247"/>
          <p:cNvSpPr txBox="1"/>
          <p:nvPr/>
        </p:nvSpPr>
        <p:spPr>
          <a:xfrm>
            <a:off x="1050925" y="44037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0</a:t>
            </a:r>
          </a:p>
        </p:txBody>
      </p:sp>
      <p:sp>
        <p:nvSpPr>
          <p:cNvPr id="248" name="Shape 248"/>
          <p:cNvSpPr txBox="1"/>
          <p:nvPr/>
        </p:nvSpPr>
        <p:spPr>
          <a:xfrm>
            <a:off x="4860925" y="44037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0</a:t>
            </a:r>
          </a:p>
        </p:txBody>
      </p:sp>
      <p:sp>
        <p:nvSpPr>
          <p:cNvPr id="249" name="Shape 249"/>
          <p:cNvSpPr/>
          <p:nvPr/>
        </p:nvSpPr>
        <p:spPr>
          <a:xfrm>
            <a:off x="5105400" y="4005262"/>
            <a:ext cx="1338262" cy="23811"/>
          </a:xfrm>
          <a:custGeom>
            <a:pathLst>
              <a:path extrusionOk="0" h="15" w="843">
                <a:moveTo>
                  <a:pt x="843" y="15"/>
                </a:moveTo>
                <a:lnTo>
                  <a:pt x="0" y="0"/>
                </a:lnTo>
              </a:path>
            </a:pathLst>
          </a:custGeom>
          <a:noFill/>
          <a:ln cap="rnd" cmpd="sng" w="9525">
            <a:solidFill>
              <a:schemeClr val="dk1"/>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0" name="Shape 250"/>
          <p:cNvSpPr/>
          <p:nvPr/>
        </p:nvSpPr>
        <p:spPr>
          <a:xfrm>
            <a:off x="6443662" y="4005262"/>
            <a:ext cx="1586" cy="414337"/>
          </a:xfrm>
          <a:custGeom>
            <a:pathLst>
              <a:path extrusionOk="0" h="261" w="1">
                <a:moveTo>
                  <a:pt x="0" y="0"/>
                </a:moveTo>
                <a:lnTo>
                  <a:pt x="0" y="261"/>
                </a:lnTo>
              </a:path>
            </a:pathLst>
          </a:custGeom>
          <a:noFill/>
          <a:ln cap="rnd" cmpd="sng" w="9525">
            <a:solidFill>
              <a:schemeClr val="dk1"/>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251" name="Shape 251"/>
          <p:cNvSpPr txBox="1"/>
          <p:nvPr/>
        </p:nvSpPr>
        <p:spPr>
          <a:xfrm>
            <a:off x="0" y="5002212"/>
            <a:ext cx="9144000" cy="1739899"/>
          </a:xfrm>
          <a:prstGeom prst="rect">
            <a:avLst/>
          </a:prstGeom>
          <a:noFill/>
          <a:ln>
            <a:noFill/>
          </a:ln>
        </p:spPr>
        <p:txBody>
          <a:bodyPr anchorCtr="0" anchor="t" bIns="46025" lIns="92075" rIns="92075" tIns="46025">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Si el agricultor y el ganadero decidieran ser </a:t>
            </a:r>
            <a:r>
              <a:rPr b="1" i="0" lang="en-US" sz="1800" u="sng" cap="none" strike="noStrike">
                <a:solidFill>
                  <a:schemeClr val="accent2"/>
                </a:solidFill>
                <a:latin typeface="Arial"/>
                <a:ea typeface="Arial"/>
                <a:cs typeface="Arial"/>
                <a:sym typeface="Arial"/>
              </a:rPr>
              <a:t>autosuficientes</a:t>
            </a:r>
            <a:r>
              <a:rPr b="1" i="0" lang="en-US" sz="1800" u="none" cap="none" strike="noStrike">
                <a:solidFill>
                  <a:schemeClr val="accent2"/>
                </a:solidFill>
                <a:latin typeface="Arial"/>
                <a:ea typeface="Arial"/>
                <a:cs typeface="Arial"/>
                <a:sym typeface="Arial"/>
              </a:rPr>
              <a:t>,</a:t>
            </a:r>
            <a:r>
              <a:rPr b="1" i="0" lang="en-US" sz="1800" u="none" cap="none" strike="noStrike">
                <a:solidFill>
                  <a:schemeClr val="dk1"/>
                </a:solidFill>
                <a:latin typeface="Arial"/>
                <a:ea typeface="Arial"/>
                <a:cs typeface="Arial"/>
                <a:sym typeface="Arial"/>
              </a:rPr>
              <a:t> cada uno consumiría lo que ha deseado producir sobre la FPP, por ejemplo:</a:t>
            </a:r>
          </a:p>
          <a:p>
            <a:pPr indent="0" lvl="1" marL="457200" marR="0" rtl="0" algn="l">
              <a:lnSpc>
                <a:spcPct val="100000"/>
              </a:lnSpc>
              <a:spcBef>
                <a:spcPts val="0"/>
              </a:spcBef>
              <a:spcAft>
                <a:spcPts val="0"/>
              </a:spcAft>
              <a:buClr>
                <a:schemeClr val="accent2"/>
              </a:buClr>
              <a:buSzPct val="25000"/>
              <a:buFont typeface="Arial"/>
              <a:buNone/>
            </a:pPr>
            <a:r>
              <a:rPr b="1" i="0" lang="en-US" sz="1800" u="none" cap="none" strike="noStrike">
                <a:solidFill>
                  <a:schemeClr val="accent2"/>
                </a:solidFill>
                <a:latin typeface="Arial"/>
                <a:ea typeface="Arial"/>
                <a:cs typeface="Arial"/>
                <a:sym typeface="Arial"/>
              </a:rPr>
              <a:t>Agricultor 1 Kg. de carne, 2Kg. de papas</a:t>
            </a:r>
          </a:p>
          <a:p>
            <a:pPr indent="0" lvl="1" marL="457200" marR="0" rtl="0" algn="l">
              <a:lnSpc>
                <a:spcPct val="100000"/>
              </a:lnSpc>
              <a:spcBef>
                <a:spcPts val="0"/>
              </a:spcBef>
              <a:spcAft>
                <a:spcPts val="0"/>
              </a:spcAft>
              <a:buClr>
                <a:schemeClr val="accent2"/>
              </a:buClr>
              <a:buSzPct val="25000"/>
              <a:buFont typeface="Arial"/>
              <a:buNone/>
            </a:pPr>
            <a:r>
              <a:rPr b="1" i="0" lang="en-US" sz="1800" u="none" cap="none" strike="noStrike">
                <a:solidFill>
                  <a:schemeClr val="accent2"/>
                </a:solidFill>
                <a:latin typeface="Arial"/>
                <a:ea typeface="Arial"/>
                <a:cs typeface="Arial"/>
                <a:sym typeface="Arial"/>
              </a:rPr>
              <a:t>Ganadero 20 Kg. de carne, 2,5 Kg. de papas</a:t>
            </a:r>
          </a:p>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En este caso la </a:t>
            </a:r>
            <a:r>
              <a:rPr b="1" i="0" lang="en-US" sz="1800" u="none" cap="none" strike="noStrike">
                <a:solidFill>
                  <a:schemeClr val="accent2"/>
                </a:solidFill>
                <a:latin typeface="Arial"/>
                <a:ea typeface="Arial"/>
                <a:cs typeface="Arial"/>
                <a:sym typeface="Arial"/>
              </a:rPr>
              <a:t>Frontera de Posibilidades de Producción</a:t>
            </a:r>
            <a:r>
              <a:rPr b="1" i="0" lang="en-US" sz="1800" u="none" cap="none" strike="noStrike">
                <a:solidFill>
                  <a:schemeClr val="dk1"/>
                </a:solidFill>
                <a:latin typeface="Arial"/>
                <a:ea typeface="Arial"/>
                <a:cs typeface="Arial"/>
                <a:sym typeface="Arial"/>
              </a:rPr>
              <a:t> es idéntica a la </a:t>
            </a:r>
            <a:r>
              <a:rPr b="1" i="0" lang="en-US" sz="1800" u="none" cap="none" strike="noStrike">
                <a:solidFill>
                  <a:schemeClr val="accent2"/>
                </a:solidFill>
                <a:latin typeface="Arial"/>
                <a:ea typeface="Arial"/>
                <a:cs typeface="Arial"/>
                <a:sym typeface="Arial"/>
              </a:rPr>
              <a:t>Frontera de Posibilidades de Consumo.</a:t>
            </a:r>
          </a:p>
        </p:txBody>
      </p:sp>
      <p:sp>
        <p:nvSpPr>
          <p:cNvPr id="252" name="Shape 252"/>
          <p:cNvSpPr txBox="1"/>
          <p:nvPr/>
        </p:nvSpPr>
        <p:spPr>
          <a:xfrm>
            <a:off x="34925" y="44450"/>
            <a:ext cx="4681536" cy="863599"/>
          </a:xfrm>
          <a:prstGeom prst="rect">
            <a:avLst/>
          </a:prstGeom>
          <a:solidFill>
            <a:schemeClr val="accent1"/>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3200" u="none" cap="none" strike="noStrike">
                <a:solidFill>
                  <a:schemeClr val="dk1"/>
                </a:solidFill>
                <a:latin typeface="Arial"/>
                <a:ea typeface="Arial"/>
                <a:cs typeface="Arial"/>
                <a:sym typeface="Arial"/>
              </a:rPr>
              <a:t>Producción sin intercambio comercial</a:t>
            </a:r>
          </a:p>
        </p:txBody>
      </p:sp>
    </p:spTree>
  </p:cSld>
  <p:clrMapOvr>
    <a:masterClrMapping/>
  </p:clrMapOvr>
  <p:transition spd="slow">
    <p:cut/>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57" name="Shape 257"/>
        <p:cNvGrpSpPr/>
        <p:nvPr/>
      </p:nvGrpSpPr>
      <p:grpSpPr>
        <a:xfrm>
          <a:off x="0" y="0"/>
          <a:ext cx="0" cy="0"/>
          <a:chOff x="0" y="0"/>
          <a:chExt cx="0" cy="0"/>
        </a:xfrm>
      </p:grpSpPr>
      <p:sp>
        <p:nvSpPr>
          <p:cNvPr id="258" name="Shape 258"/>
          <p:cNvSpPr txBox="1"/>
          <p:nvPr>
            <p:ph idx="4294967295" type="title"/>
          </p:nvPr>
        </p:nvSpPr>
        <p:spPr>
          <a:xfrm>
            <a:off x="1295400" y="2071686"/>
            <a:ext cx="7086600" cy="466725"/>
          </a:xfrm>
          <a:prstGeom prst="rect">
            <a:avLst/>
          </a:prstGeom>
          <a:gradFill>
            <a:gsLst>
              <a:gs pos="0">
                <a:srgbClr val="BFBF02"/>
              </a:gs>
              <a:gs pos="50000">
                <a:schemeClr val="accent1"/>
              </a:gs>
              <a:gs pos="100000">
                <a:srgbClr val="BFBF02"/>
              </a:gs>
            </a:gsLst>
            <a:lin ang="5400000" scaled="0"/>
          </a:gra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Costo de oportunidad y ventajas comparativas</a:t>
            </a:r>
          </a:p>
        </p:txBody>
      </p:sp>
      <p:sp>
        <p:nvSpPr>
          <p:cNvPr id="259" name="Shape 259"/>
          <p:cNvSpPr txBox="1"/>
          <p:nvPr>
            <p:ph idx="4294967295" type="body"/>
          </p:nvPr>
        </p:nvSpPr>
        <p:spPr>
          <a:xfrm>
            <a:off x="1295400" y="2819400"/>
            <a:ext cx="7086600" cy="3352799"/>
          </a:xfrm>
          <a:prstGeom prst="rect">
            <a:avLst/>
          </a:prstGeom>
          <a:noFill/>
          <a:ln>
            <a:noFill/>
          </a:ln>
        </p:spPr>
        <p:txBody>
          <a:bodyPr anchorCtr="0" anchor="t" bIns="45700" lIns="91425" rIns="91425" tIns="45700">
            <a:noAutofit/>
          </a:bodyPr>
          <a:lstStyle/>
          <a:p>
            <a:pPr indent="-342900" lvl="0" marL="342900" marR="0" rtl="0" algn="just">
              <a:lnSpc>
                <a:spcPct val="100000"/>
              </a:lnSpc>
              <a:spcBef>
                <a:spcPts val="0"/>
              </a:spcBef>
              <a:spcAft>
                <a:spcPts val="0"/>
              </a:spcAft>
              <a:buClr>
                <a:schemeClr val="accent2"/>
              </a:buClr>
              <a:buSzPct val="75000"/>
              <a:buFont typeface="Noto Symbol"/>
              <a:buChar char="■"/>
            </a:pPr>
            <a:r>
              <a:rPr b="1" i="0" lang="en-US" sz="2000" u="none" cap="none" strike="noStrike">
                <a:solidFill>
                  <a:schemeClr val="dk1"/>
                </a:solidFill>
                <a:latin typeface="Arial"/>
                <a:ea typeface="Arial"/>
                <a:cs typeface="Arial"/>
                <a:sym typeface="Arial"/>
              </a:rPr>
              <a:t>Otra manera de medir el costo de producir un bien es mediante el costo de oportunidad: lo que se deja de producir de un bien para producir otro.</a:t>
            </a:r>
          </a:p>
          <a:p>
            <a:pPr indent="-342900" lvl="0" marL="342900" marR="0" rtl="0" algn="just">
              <a:lnSpc>
                <a:spcPct val="100000"/>
              </a:lnSpc>
              <a:spcBef>
                <a:spcPts val="400"/>
              </a:spcBef>
              <a:spcAft>
                <a:spcPts val="0"/>
              </a:spcAft>
              <a:buClr>
                <a:schemeClr val="accent2"/>
              </a:buClr>
              <a:buSzPct val="75000"/>
              <a:buFont typeface="Noto Symbol"/>
              <a:buNone/>
            </a:pPr>
            <a:r>
              <a:t/>
            </a:r>
            <a:endParaRPr b="1" i="0" sz="2000" u="none" cap="none" strike="noStrike">
              <a:solidFill>
                <a:schemeClr val="dk1"/>
              </a:solidFill>
              <a:latin typeface="Arial"/>
              <a:ea typeface="Arial"/>
              <a:cs typeface="Arial"/>
              <a:sym typeface="Arial"/>
            </a:endParaRPr>
          </a:p>
          <a:p>
            <a:pPr indent="-342900" lvl="0" marL="342900" marR="0" rtl="0" algn="just">
              <a:lnSpc>
                <a:spcPct val="100000"/>
              </a:lnSpc>
              <a:spcBef>
                <a:spcPts val="400"/>
              </a:spcBef>
              <a:spcAft>
                <a:spcPts val="0"/>
              </a:spcAft>
              <a:buClr>
                <a:schemeClr val="accent2"/>
              </a:buClr>
              <a:buSzPct val="75000"/>
              <a:buFont typeface="Noto Symbol"/>
              <a:buChar char="■"/>
            </a:pPr>
            <a:r>
              <a:rPr b="1" i="0" lang="en-US" sz="2000" u="none" cap="none" strike="noStrike">
                <a:solidFill>
                  <a:schemeClr val="dk1"/>
                </a:solidFill>
                <a:latin typeface="Arial"/>
                <a:ea typeface="Arial"/>
                <a:cs typeface="Arial"/>
                <a:sym typeface="Arial"/>
              </a:rPr>
              <a:t>A medida que el ganadero y el agricultor reasignan su tiempo entre la producción de carne y papas, en un sentido están </a:t>
            </a:r>
            <a:r>
              <a:rPr b="1" i="0" lang="en-US" sz="2000" u="sng" cap="none" strike="noStrike">
                <a:solidFill>
                  <a:schemeClr val="dk1"/>
                </a:solidFill>
                <a:latin typeface="Arial"/>
                <a:ea typeface="Arial"/>
                <a:cs typeface="Arial"/>
                <a:sym typeface="Arial"/>
              </a:rPr>
              <a:t>utilizando un bien para producir otro</a:t>
            </a:r>
          </a:p>
        </p:txBody>
      </p:sp>
    </p:spTree>
  </p:cSld>
  <p:clrMapOvr>
    <a:masterClrMapping/>
  </p:clrMapOvr>
  <p:transition spd="slow">
    <p:cut/>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64" name="Shape 264"/>
        <p:cNvGrpSpPr/>
        <p:nvPr/>
      </p:nvGrpSpPr>
      <p:grpSpPr>
        <a:xfrm>
          <a:off x="0" y="0"/>
          <a:ext cx="0" cy="0"/>
          <a:chOff x="0" y="0"/>
          <a:chExt cx="0" cy="0"/>
        </a:xfrm>
      </p:grpSpPr>
      <p:pic>
        <p:nvPicPr>
          <p:cNvPr id="265" name="Shape 265"/>
          <p:cNvPicPr preferRelativeResize="0"/>
          <p:nvPr/>
        </p:nvPicPr>
        <p:blipFill rotWithShape="1">
          <a:blip r:embed="rId3">
            <a:alphaModFix/>
          </a:blip>
          <a:srcRect b="0" l="0" r="0" t="0"/>
          <a:stretch/>
        </p:blipFill>
        <p:spPr>
          <a:xfrm>
            <a:off x="928687" y="3557587"/>
            <a:ext cx="7531100" cy="3975099"/>
          </a:xfrm>
          <a:prstGeom prst="rect">
            <a:avLst/>
          </a:prstGeom>
          <a:noFill/>
          <a:ln>
            <a:noFill/>
          </a:ln>
        </p:spPr>
      </p:pic>
      <p:sp>
        <p:nvSpPr>
          <p:cNvPr id="266" name="Shape 266"/>
          <p:cNvSpPr txBox="1"/>
          <p:nvPr/>
        </p:nvSpPr>
        <p:spPr>
          <a:xfrm>
            <a:off x="755650" y="1870075"/>
            <a:ext cx="7210425" cy="406399"/>
          </a:xfrm>
          <a:prstGeom prst="rect">
            <a:avLst/>
          </a:prstGeom>
          <a:solidFill>
            <a:srgbClr val="FFFF99"/>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Costo de oportunidad</a:t>
            </a:r>
          </a:p>
        </p:txBody>
      </p:sp>
    </p:spTree>
  </p:cSld>
  <p:clrMapOvr>
    <a:masterClrMapping/>
  </p:clrMapOvr>
  <p:transition spd="slow">
    <p:cut/>
  </p:transition>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1" name="Shape 271"/>
        <p:cNvGrpSpPr/>
        <p:nvPr/>
      </p:nvGrpSpPr>
      <p:grpSpPr>
        <a:xfrm>
          <a:off x="0" y="0"/>
          <a:ext cx="0" cy="0"/>
          <a:chOff x="0" y="0"/>
          <a:chExt cx="0" cy="0"/>
        </a:xfrm>
      </p:grpSpPr>
      <p:sp>
        <p:nvSpPr>
          <p:cNvPr id="272" name="Shape 272"/>
          <p:cNvSpPr txBox="1"/>
          <p:nvPr>
            <p:ph idx="4294967295" type="title"/>
          </p:nvPr>
        </p:nvSpPr>
        <p:spPr>
          <a:xfrm>
            <a:off x="1187450" y="1090612"/>
            <a:ext cx="5276849" cy="466725"/>
          </a:xfrm>
          <a:prstGeom prst="rect">
            <a:avLst/>
          </a:prstGeom>
          <a:solidFill>
            <a:srgbClr val="FFFF99"/>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El por qué del intercambio</a:t>
            </a:r>
          </a:p>
        </p:txBody>
      </p:sp>
      <p:pic>
        <p:nvPicPr>
          <p:cNvPr id="273" name="Shape 273"/>
          <p:cNvPicPr preferRelativeResize="0"/>
          <p:nvPr>
            <p:ph idx="2" type="tbl"/>
          </p:nvPr>
        </p:nvPicPr>
        <p:blipFill rotWithShape="1">
          <a:blip r:embed="rId3">
            <a:alphaModFix/>
          </a:blip>
          <a:srcRect b="0" l="0" r="0" t="0"/>
          <a:stretch/>
        </p:blipFill>
        <p:spPr>
          <a:xfrm>
            <a:off x="684212" y="2211386"/>
            <a:ext cx="7886700" cy="4646612"/>
          </a:xfrm>
          <a:prstGeom prst="rect">
            <a:avLst/>
          </a:prstGeom>
          <a:noFill/>
          <a:ln>
            <a:noFill/>
          </a:ln>
        </p:spPr>
      </p:pic>
    </p:spTree>
  </p:cSld>
  <p:clrMapOvr>
    <a:masterClrMapping/>
  </p:clrMapOvr>
  <p:transition spd="slow">
    <p:cut/>
  </p:transition>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78" name="Shape 278"/>
        <p:cNvGrpSpPr/>
        <p:nvPr/>
      </p:nvGrpSpPr>
      <p:grpSpPr>
        <a:xfrm>
          <a:off x="0" y="0"/>
          <a:ext cx="0" cy="0"/>
          <a:chOff x="0" y="0"/>
          <a:chExt cx="0" cy="0"/>
        </a:xfrm>
      </p:grpSpPr>
      <p:sp>
        <p:nvSpPr>
          <p:cNvPr id="279" name="Shape 279"/>
          <p:cNvSpPr txBox="1"/>
          <p:nvPr>
            <p:ph idx="4294967295" type="body"/>
          </p:nvPr>
        </p:nvSpPr>
        <p:spPr>
          <a:xfrm>
            <a:off x="1187450" y="1700211"/>
            <a:ext cx="7129461" cy="4968875"/>
          </a:xfrm>
          <a:prstGeom prst="rect">
            <a:avLst/>
          </a:prstGeom>
          <a:solidFill>
            <a:schemeClr val="accent1"/>
          </a:solidFill>
          <a:ln>
            <a:noFill/>
          </a:ln>
        </p:spPr>
        <p:txBody>
          <a:bodyPr anchorCtr="0" anchor="t" bIns="45700" lIns="91425" rIns="91425" tIns="45700">
            <a:noAutofit/>
          </a:bodyPr>
          <a:lstStyle/>
          <a:p>
            <a:pPr indent="-342900" lvl="0" marL="342900" marR="0" rtl="0" algn="just">
              <a:lnSpc>
                <a:spcPct val="110000"/>
              </a:lnSpc>
              <a:spcBef>
                <a:spcPts val="0"/>
              </a:spcBef>
              <a:spcAft>
                <a:spcPts val="0"/>
              </a:spcAft>
              <a:buClr>
                <a:schemeClr val="accent2"/>
              </a:buClr>
              <a:buSzPct val="75000"/>
              <a:buFont typeface="Noto Symbol"/>
              <a:buNone/>
            </a:pPr>
            <a:r>
              <a:t/>
            </a:r>
            <a:endParaRPr b="1" i="0" sz="300" u="none" cap="none" strike="noStrike">
              <a:solidFill>
                <a:schemeClr val="dk1"/>
              </a:solidFill>
              <a:latin typeface="Arial"/>
              <a:ea typeface="Arial"/>
              <a:cs typeface="Arial"/>
              <a:sym typeface="Arial"/>
            </a:endParaRPr>
          </a:p>
          <a:p>
            <a:pPr indent="-342900" lvl="0" marL="342900" marR="0" rtl="0" algn="just">
              <a:lnSpc>
                <a:spcPct val="110000"/>
              </a:lnSpc>
              <a:spcBef>
                <a:spcPts val="400"/>
              </a:spcBef>
              <a:spcAft>
                <a:spcPts val="0"/>
              </a:spcAft>
              <a:buClr>
                <a:schemeClr val="accent2"/>
              </a:buClr>
              <a:buSzPct val="25000"/>
              <a:buFont typeface="Noto Symbol"/>
              <a:buNone/>
            </a:pPr>
            <a:r>
              <a:rPr b="1" i="0" lang="en-US" sz="2000" u="none" cap="none" strike="noStrike">
                <a:solidFill>
                  <a:schemeClr val="dk1"/>
                </a:solidFill>
                <a:latin typeface="Arial"/>
                <a:ea typeface="Arial"/>
                <a:cs typeface="Arial"/>
                <a:sym typeface="Arial"/>
              </a:rPr>
              <a:t>El productor que tenga un </a:t>
            </a:r>
            <a:r>
              <a:rPr b="1" i="0" lang="en-US" sz="2000" u="sng" cap="none" strike="noStrike">
                <a:solidFill>
                  <a:schemeClr val="dk1"/>
                </a:solidFill>
                <a:latin typeface="Arial"/>
                <a:ea typeface="Arial"/>
                <a:cs typeface="Arial"/>
                <a:sym typeface="Arial"/>
              </a:rPr>
              <a:t>menor costo de oportunidad</a:t>
            </a:r>
            <a:r>
              <a:rPr b="1" i="0" lang="en-US" sz="2000" u="none" cap="none" strike="noStrike">
                <a:solidFill>
                  <a:schemeClr val="dk1"/>
                </a:solidFill>
                <a:latin typeface="Arial"/>
                <a:ea typeface="Arial"/>
                <a:cs typeface="Arial"/>
                <a:sym typeface="Arial"/>
              </a:rPr>
              <a:t> en producir un bien, se dice que tiene </a:t>
            </a:r>
            <a:r>
              <a:rPr b="1" i="0" lang="en-US" sz="2000" u="none" cap="none" strike="noStrike">
                <a:solidFill>
                  <a:schemeClr val="accent2"/>
                </a:solidFill>
                <a:latin typeface="Arial"/>
                <a:ea typeface="Arial"/>
                <a:cs typeface="Arial"/>
                <a:sym typeface="Arial"/>
              </a:rPr>
              <a:t>ventajas comparativas</a:t>
            </a:r>
            <a:r>
              <a:rPr b="1" i="0" lang="en-US" sz="2000" u="none" cap="none" strike="noStrike">
                <a:solidFill>
                  <a:schemeClr val="dk1"/>
                </a:solidFill>
                <a:latin typeface="Arial"/>
                <a:ea typeface="Arial"/>
                <a:cs typeface="Arial"/>
                <a:sym typeface="Arial"/>
              </a:rPr>
              <a:t> en la producción de ese bien.</a:t>
            </a:r>
          </a:p>
          <a:p>
            <a:pPr indent="-342900" lvl="0" marL="342900" marR="0" rtl="0" algn="just">
              <a:lnSpc>
                <a:spcPct val="110000"/>
              </a:lnSpc>
              <a:spcBef>
                <a:spcPts val="400"/>
              </a:spcBef>
              <a:spcAft>
                <a:spcPts val="0"/>
              </a:spcAft>
              <a:buClr>
                <a:schemeClr val="accent2"/>
              </a:buClr>
              <a:buSzPct val="25000"/>
              <a:buFont typeface="Noto Symbol"/>
              <a:buNone/>
            </a:pPr>
            <a:r>
              <a:t/>
            </a:r>
            <a:endParaRPr b="1" i="0" sz="2000" u="none" cap="none" strike="noStrike">
              <a:solidFill>
                <a:schemeClr val="dk1"/>
              </a:solidFill>
              <a:latin typeface="Arial"/>
              <a:ea typeface="Arial"/>
              <a:cs typeface="Arial"/>
              <a:sym typeface="Arial"/>
            </a:endParaRPr>
          </a:p>
          <a:p>
            <a:pPr indent="-342900" lvl="0" marL="342900" marR="0" rtl="0" algn="just">
              <a:lnSpc>
                <a:spcPct val="110000"/>
              </a:lnSpc>
              <a:spcBef>
                <a:spcPts val="400"/>
              </a:spcBef>
              <a:spcAft>
                <a:spcPts val="0"/>
              </a:spcAft>
              <a:buClr>
                <a:schemeClr val="accent2"/>
              </a:buClr>
              <a:buSzPct val="25000"/>
              <a:buFont typeface="Noto Symbol"/>
              <a:buNone/>
            </a:pPr>
            <a:r>
              <a:rPr b="1" i="0" lang="en-US" sz="2000" u="none" cap="none" strike="noStrike">
                <a:solidFill>
                  <a:schemeClr val="dk1"/>
                </a:solidFill>
                <a:latin typeface="Arial"/>
                <a:ea typeface="Arial"/>
                <a:cs typeface="Arial"/>
                <a:sym typeface="Arial"/>
              </a:rPr>
              <a:t>En nuestro ejemplo:</a:t>
            </a:r>
          </a:p>
          <a:p>
            <a:pPr indent="-342900" lvl="0" marL="342900" marR="0" rtl="0" algn="just">
              <a:lnSpc>
                <a:spcPct val="110000"/>
              </a:lnSpc>
              <a:spcBef>
                <a:spcPts val="400"/>
              </a:spcBef>
              <a:spcAft>
                <a:spcPts val="0"/>
              </a:spcAft>
              <a:buClr>
                <a:schemeClr val="accent2"/>
              </a:buClr>
              <a:buSzPct val="25000"/>
              <a:buFont typeface="Noto Symbol"/>
              <a:buNone/>
            </a:pPr>
            <a:r>
              <a:t/>
            </a:r>
            <a:endParaRPr b="1" i="0" sz="2000" u="none" cap="none" strike="noStrike">
              <a:solidFill>
                <a:schemeClr val="dk1"/>
              </a:solidFill>
              <a:latin typeface="Arial"/>
              <a:ea typeface="Arial"/>
              <a:cs typeface="Arial"/>
              <a:sym typeface="Arial"/>
            </a:endParaRPr>
          </a:p>
          <a:p>
            <a:pPr indent="-285750" lvl="1" marL="742950" marR="0" rtl="0" algn="just">
              <a:lnSpc>
                <a:spcPct val="11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El agricultor tiene un menor costo de oportunidad en la producción de 1Kg. de papa ( ½ Kg. de carne versus 8 Kg. de carne )</a:t>
            </a:r>
          </a:p>
          <a:p>
            <a:pPr indent="-285750" lvl="1" marL="742950" marR="0" rtl="0" algn="just">
              <a:lnSpc>
                <a:spcPct val="110000"/>
              </a:lnSpc>
              <a:spcBef>
                <a:spcPts val="400"/>
              </a:spcBef>
              <a:spcAft>
                <a:spcPts val="0"/>
              </a:spcAft>
              <a:buClr>
                <a:schemeClr val="dk1"/>
              </a:buClr>
              <a:buSzPct val="75000"/>
              <a:buFont typeface="Noto Symbol"/>
              <a:buNone/>
            </a:pPr>
            <a:r>
              <a:t/>
            </a:r>
            <a:endParaRPr b="1" i="0" sz="2000" u="none" cap="none" strike="noStrike">
              <a:solidFill>
                <a:schemeClr val="dk1"/>
              </a:solidFill>
              <a:latin typeface="Arial"/>
              <a:ea typeface="Arial"/>
              <a:cs typeface="Arial"/>
              <a:sym typeface="Arial"/>
            </a:endParaRPr>
          </a:p>
          <a:p>
            <a:pPr indent="-285750" lvl="1" marL="742950" marR="0" rtl="0" algn="just">
              <a:lnSpc>
                <a:spcPct val="110000"/>
              </a:lnSpc>
              <a:spcBef>
                <a:spcPts val="400"/>
              </a:spcBef>
              <a:spcAft>
                <a:spcPts val="0"/>
              </a:spcAft>
              <a:buClr>
                <a:schemeClr val="dk1"/>
              </a:buClr>
              <a:buSzPct val="75000"/>
              <a:buFont typeface="Noto Symbol"/>
              <a:buChar char="■"/>
            </a:pPr>
            <a:r>
              <a:rPr b="1" i="0" lang="en-US" sz="2000" u="none" cap="none" strike="noStrike">
                <a:solidFill>
                  <a:schemeClr val="dk1"/>
                </a:solidFill>
                <a:latin typeface="Arial"/>
                <a:ea typeface="Arial"/>
                <a:cs typeface="Arial"/>
                <a:sym typeface="Arial"/>
              </a:rPr>
              <a:t>El ganadero tiene un menor costo de oportunidad en la producción de 1 Kg. de carne ( 1/8 Kg. de papas versus 2 Kg. de papas )</a:t>
            </a:r>
          </a:p>
        </p:txBody>
      </p:sp>
      <p:sp>
        <p:nvSpPr>
          <p:cNvPr id="280" name="Shape 280"/>
          <p:cNvSpPr txBox="1"/>
          <p:nvPr/>
        </p:nvSpPr>
        <p:spPr>
          <a:xfrm>
            <a:off x="1547812" y="908050"/>
            <a:ext cx="5791200" cy="466725"/>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Ventaja comparativa</a:t>
            </a:r>
          </a:p>
        </p:txBody>
      </p:sp>
    </p:spTree>
  </p:cSld>
  <p:clrMapOvr>
    <a:masterClrMapping/>
  </p:clrMapOvr>
  <p:transition spd="slow">
    <p:cut/>
  </p:transition>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85" name="Shape 285"/>
        <p:cNvGrpSpPr/>
        <p:nvPr/>
      </p:nvGrpSpPr>
      <p:grpSpPr>
        <a:xfrm>
          <a:off x="0" y="0"/>
          <a:ext cx="0" cy="0"/>
          <a:chOff x="0" y="0"/>
          <a:chExt cx="0" cy="0"/>
        </a:xfrm>
      </p:grpSpPr>
      <p:sp>
        <p:nvSpPr>
          <p:cNvPr id="286" name="Shape 286"/>
          <p:cNvSpPr txBox="1"/>
          <p:nvPr>
            <p:ph idx="4294967295" type="body"/>
          </p:nvPr>
        </p:nvSpPr>
        <p:spPr>
          <a:xfrm>
            <a:off x="1295400" y="2819400"/>
            <a:ext cx="7086600" cy="335279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75000"/>
              <a:buFont typeface="Noto Symbol"/>
              <a:buChar char="■"/>
            </a:pPr>
            <a:r>
              <a:rPr b="0" i="0" lang="en-US" sz="2400" u="none" cap="none" strike="noStrike">
                <a:solidFill>
                  <a:schemeClr val="dk1"/>
                </a:solidFill>
                <a:latin typeface="Arial"/>
                <a:ea typeface="Arial"/>
                <a:cs typeface="Arial"/>
                <a:sym typeface="Arial"/>
              </a:rPr>
              <a:t>Esto nos lleva a afirmar:</a:t>
            </a:r>
          </a:p>
          <a:p>
            <a:pPr indent="-342900" lvl="0" marL="342900" marR="0" rtl="0" algn="l">
              <a:lnSpc>
                <a:spcPct val="100000"/>
              </a:lnSpc>
              <a:spcBef>
                <a:spcPts val="480"/>
              </a:spcBef>
              <a:spcAft>
                <a:spcPts val="0"/>
              </a:spcAft>
              <a:buClr>
                <a:schemeClr val="accent2"/>
              </a:buClr>
              <a:buSzPct val="75000"/>
              <a:buFont typeface="Noto Symbol"/>
              <a:buNone/>
            </a:pPr>
            <a:r>
              <a:t/>
            </a:r>
            <a:endParaRPr b="0" i="0" sz="2400" u="none" cap="none" strike="noStrike">
              <a:solidFill>
                <a:schemeClr val="dk1"/>
              </a:solidFill>
              <a:latin typeface="Arial"/>
              <a:ea typeface="Arial"/>
              <a:cs typeface="Arial"/>
              <a:sym typeface="Arial"/>
            </a:endParaRPr>
          </a:p>
          <a:p>
            <a:pPr indent="-285750" lvl="1" marL="742950" marR="0" rtl="0" algn="l">
              <a:lnSpc>
                <a:spcPct val="100000"/>
              </a:lnSpc>
              <a:spcBef>
                <a:spcPts val="440"/>
              </a:spcBef>
              <a:spcAft>
                <a:spcPts val="0"/>
              </a:spcAft>
              <a:buClr>
                <a:schemeClr val="dk1"/>
              </a:buClr>
              <a:buSzPct val="75000"/>
              <a:buFont typeface="Noto Symbol"/>
              <a:buChar char="■"/>
            </a:pPr>
            <a:r>
              <a:rPr b="1" i="0" lang="en-US" sz="2200" u="none" cap="none" strike="noStrike">
                <a:solidFill>
                  <a:schemeClr val="dk1"/>
                </a:solidFill>
                <a:latin typeface="Arial"/>
                <a:ea typeface="Arial"/>
                <a:cs typeface="Arial"/>
                <a:sym typeface="Arial"/>
              </a:rPr>
              <a:t>El agricultor tiene ventajas comparativas en la producción de papas</a:t>
            </a:r>
          </a:p>
          <a:p>
            <a:pPr indent="-285750" lvl="1" marL="742950" marR="0" rtl="0" algn="l">
              <a:lnSpc>
                <a:spcPct val="100000"/>
              </a:lnSpc>
              <a:spcBef>
                <a:spcPts val="440"/>
              </a:spcBef>
              <a:spcAft>
                <a:spcPts val="0"/>
              </a:spcAft>
              <a:buClr>
                <a:schemeClr val="dk1"/>
              </a:buClr>
              <a:buSzPct val="75000"/>
              <a:buFont typeface="Noto Symbol"/>
              <a:buNone/>
            </a:pPr>
            <a:r>
              <a:t/>
            </a:r>
            <a:endParaRPr b="1" i="0" sz="2200" u="none" cap="none" strike="noStrike">
              <a:solidFill>
                <a:schemeClr val="dk1"/>
              </a:solidFill>
              <a:latin typeface="Arial"/>
              <a:ea typeface="Arial"/>
              <a:cs typeface="Arial"/>
              <a:sym typeface="Arial"/>
            </a:endParaRPr>
          </a:p>
          <a:p>
            <a:pPr indent="-285750" lvl="1" marL="742950" marR="0" rtl="0" algn="l">
              <a:lnSpc>
                <a:spcPct val="100000"/>
              </a:lnSpc>
              <a:spcBef>
                <a:spcPts val="440"/>
              </a:spcBef>
              <a:spcAft>
                <a:spcPts val="0"/>
              </a:spcAft>
              <a:buClr>
                <a:schemeClr val="dk1"/>
              </a:buClr>
              <a:buSzPct val="75000"/>
              <a:buFont typeface="Noto Symbol"/>
              <a:buChar char="■"/>
            </a:pPr>
            <a:r>
              <a:rPr b="1" i="0" lang="en-US" sz="2200" u="none" cap="none" strike="noStrike">
                <a:solidFill>
                  <a:schemeClr val="dk1"/>
                </a:solidFill>
                <a:latin typeface="Arial"/>
                <a:ea typeface="Arial"/>
                <a:cs typeface="Arial"/>
                <a:sym typeface="Arial"/>
              </a:rPr>
              <a:t>El ganadero tiene ventajas comparativas en la producción de carne.</a:t>
            </a:r>
          </a:p>
        </p:txBody>
      </p:sp>
      <p:sp>
        <p:nvSpPr>
          <p:cNvPr id="287" name="Shape 287"/>
          <p:cNvSpPr txBox="1"/>
          <p:nvPr>
            <p:ph idx="4294967295" type="title"/>
          </p:nvPr>
        </p:nvSpPr>
        <p:spPr>
          <a:xfrm>
            <a:off x="1258887" y="1196975"/>
            <a:ext cx="7086600" cy="1447800"/>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1" i="0" lang="en-US" sz="4000" u="none" cap="none" strike="noStrike">
                <a:solidFill>
                  <a:schemeClr val="dk1"/>
                </a:solidFill>
                <a:latin typeface="Tahoma"/>
                <a:ea typeface="Tahoma"/>
                <a:cs typeface="Tahoma"/>
                <a:sym typeface="Tahoma"/>
              </a:rPr>
              <a:t>Conclusiones particulares</a:t>
            </a:r>
          </a:p>
        </p:txBody>
      </p:sp>
    </p:spTree>
  </p:cSld>
  <p:clrMapOvr>
    <a:masterClrMapping/>
  </p:clrMapOvr>
  <p:transition spd="slow">
    <p:cut/>
  </p:transition>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1" name="Shape 291"/>
        <p:cNvGrpSpPr/>
        <p:nvPr/>
      </p:nvGrpSpPr>
      <p:grpSpPr>
        <a:xfrm>
          <a:off x="0" y="0"/>
          <a:ext cx="0" cy="0"/>
          <a:chOff x="0" y="0"/>
          <a:chExt cx="0" cy="0"/>
        </a:xfrm>
      </p:grpSpPr>
      <p:sp>
        <p:nvSpPr>
          <p:cNvPr id="292" name="Shape 292"/>
          <p:cNvSpPr txBox="1"/>
          <p:nvPr>
            <p:ph idx="4294967295" type="title"/>
          </p:nvPr>
        </p:nvSpPr>
        <p:spPr>
          <a:xfrm>
            <a:off x="1187450" y="1196975"/>
            <a:ext cx="7086600" cy="1447800"/>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Tahoma"/>
              <a:buNone/>
            </a:pPr>
            <a:r>
              <a:rPr b="1" i="0" lang="en-US" sz="4000" u="none" cap="none" strike="noStrike">
                <a:solidFill>
                  <a:schemeClr val="dk1"/>
                </a:solidFill>
                <a:latin typeface="Tahoma"/>
                <a:ea typeface="Tahoma"/>
                <a:cs typeface="Tahoma"/>
                <a:sym typeface="Tahoma"/>
              </a:rPr>
              <a:t>Conclusiones Generales</a:t>
            </a:r>
          </a:p>
        </p:txBody>
      </p:sp>
      <p:sp>
        <p:nvSpPr>
          <p:cNvPr id="293" name="Shape 293"/>
          <p:cNvSpPr txBox="1"/>
          <p:nvPr>
            <p:ph idx="4294967295" type="body"/>
          </p:nvPr>
        </p:nvSpPr>
        <p:spPr>
          <a:xfrm>
            <a:off x="1293812" y="2819400"/>
            <a:ext cx="7023099" cy="4038599"/>
          </a:xfrm>
          <a:prstGeom prst="rect">
            <a:avLst/>
          </a:prstGeom>
          <a:noFill/>
          <a:ln>
            <a:noFill/>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  Debido a que el costo de oportunidad de un bien es el inverso del  costo de oportunidad del  otro  bien,  si  uno es relativamente alto, como consecuencia el otro es relativamente bajo.</a:t>
            </a:r>
          </a:p>
          <a:p>
            <a:pPr indent="-342900" lvl="0" marL="342900" marR="0" rtl="0" algn="l">
              <a:lnSpc>
                <a:spcPct val="100000"/>
              </a:lnSpc>
              <a:spcBef>
                <a:spcPts val="480"/>
              </a:spcBef>
              <a:spcAft>
                <a:spcPts val="0"/>
              </a:spcAft>
              <a:buClr>
                <a:schemeClr val="accent2"/>
              </a:buClr>
              <a:buSzPct val="75000"/>
              <a:buFont typeface="Noto Symbol"/>
              <a:buNone/>
            </a:pPr>
            <a:r>
              <a:t/>
            </a:r>
            <a:endParaRPr b="0" i="0" sz="2400" u="none" cap="none" strike="noStrike">
              <a:solidFill>
                <a:schemeClr val="dk1"/>
              </a:solidFill>
              <a:latin typeface="Tahoma"/>
              <a:ea typeface="Tahoma"/>
              <a:cs typeface="Tahoma"/>
              <a:sym typeface="Tahoma"/>
            </a:endParaRPr>
          </a:p>
          <a:p>
            <a:pPr indent="-342900" lvl="0" marL="342900" marR="0" rtl="0" algn="l">
              <a:lnSpc>
                <a:spcPct val="100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Tahoma"/>
                <a:ea typeface="Tahoma"/>
                <a:cs typeface="Tahoma"/>
                <a:sym typeface="Tahoma"/>
              </a:rPr>
              <a:t>  A menos que dos países tengan exactamente el   mismo  costo  de  oportunidad,  uno tendrá  ventajas comparativas  en la producción de un bien, mientras que el segundo las tendrá en el otro bien.</a:t>
            </a:r>
          </a:p>
        </p:txBody>
      </p:sp>
    </p:spTree>
  </p:cSld>
  <p:clrMapOvr>
    <a:masterClrMapping/>
  </p:clrMapOvr>
  <p:transition spd="slow">
    <p:cut/>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298" name="Shape 298"/>
        <p:cNvGrpSpPr/>
        <p:nvPr/>
      </p:nvGrpSpPr>
      <p:grpSpPr>
        <a:xfrm>
          <a:off x="0" y="0"/>
          <a:ext cx="0" cy="0"/>
          <a:chOff x="0" y="0"/>
          <a:chExt cx="0" cy="0"/>
        </a:xfrm>
      </p:grpSpPr>
      <p:sp>
        <p:nvSpPr>
          <p:cNvPr id="299" name="Shape 299"/>
          <p:cNvSpPr txBox="1"/>
          <p:nvPr>
            <p:ph idx="4294967295" type="title"/>
          </p:nvPr>
        </p:nvSpPr>
        <p:spPr>
          <a:xfrm>
            <a:off x="1295400" y="1798636"/>
            <a:ext cx="7086600" cy="466725"/>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400" u="none" cap="none" strike="noStrike">
                <a:solidFill>
                  <a:schemeClr val="dk1"/>
                </a:solidFill>
                <a:latin typeface="Arial"/>
                <a:ea typeface="Arial"/>
                <a:cs typeface="Arial"/>
                <a:sym typeface="Arial"/>
              </a:rPr>
              <a:t>Ventajas comparativas e Intercambio</a:t>
            </a:r>
          </a:p>
        </p:txBody>
      </p:sp>
      <p:sp>
        <p:nvSpPr>
          <p:cNvPr id="300" name="Shape 300"/>
          <p:cNvSpPr txBox="1"/>
          <p:nvPr>
            <p:ph idx="4294967295" type="body"/>
          </p:nvPr>
        </p:nvSpPr>
        <p:spPr>
          <a:xfrm>
            <a:off x="1258887" y="2819400"/>
            <a:ext cx="7123111" cy="3778250"/>
          </a:xfrm>
          <a:prstGeom prst="rect">
            <a:avLst/>
          </a:prstGeom>
          <a:noFill/>
          <a:ln>
            <a:noFill/>
          </a:ln>
        </p:spPr>
        <p:txBody>
          <a:bodyPr anchorCtr="0" anchor="t" bIns="45700" lIns="91425" rIns="91425" tIns="45700">
            <a:noAutofit/>
          </a:bodyPr>
          <a:lstStyle/>
          <a:p>
            <a:pPr indent="-342900" lvl="0" marL="342900" marR="0" rtl="0" algn="just">
              <a:lnSpc>
                <a:spcPct val="100000"/>
              </a:lnSpc>
              <a:spcBef>
                <a:spcPts val="0"/>
              </a:spcBef>
              <a:spcAft>
                <a:spcPts val="0"/>
              </a:spcAft>
              <a:buClr>
                <a:schemeClr val="accent2"/>
              </a:buClr>
              <a:buSzPct val="75000"/>
              <a:buFont typeface="Noto Symbol"/>
              <a:buChar char="■"/>
            </a:pPr>
            <a:r>
              <a:rPr b="0" i="0" lang="en-US" sz="2400" u="none" cap="none" strike="noStrike">
                <a:solidFill>
                  <a:schemeClr val="dk1"/>
                </a:solidFill>
                <a:latin typeface="Arial"/>
                <a:ea typeface="Arial"/>
                <a:cs typeface="Arial"/>
                <a:sym typeface="Arial"/>
              </a:rPr>
              <a:t>Las diferencias en los costos de oportunidad determinan las ventajas comparativas y crean los </a:t>
            </a:r>
            <a:r>
              <a:rPr b="1" i="0" lang="en-US" sz="2400" u="none" cap="none" strike="noStrike">
                <a:solidFill>
                  <a:schemeClr val="dk1"/>
                </a:solidFill>
                <a:latin typeface="Arial"/>
                <a:ea typeface="Arial"/>
                <a:cs typeface="Arial"/>
                <a:sym typeface="Arial"/>
              </a:rPr>
              <a:t>beneficios del comercio.</a:t>
            </a:r>
          </a:p>
          <a:p>
            <a:pPr indent="-342900" lvl="0" marL="342900" marR="0" rtl="0" algn="just">
              <a:lnSpc>
                <a:spcPct val="100000"/>
              </a:lnSpc>
              <a:spcBef>
                <a:spcPts val="480"/>
              </a:spcBef>
              <a:spcAft>
                <a:spcPts val="0"/>
              </a:spcAft>
              <a:buClr>
                <a:schemeClr val="accent2"/>
              </a:buClr>
              <a:buSzPct val="75000"/>
              <a:buFont typeface="Noto Symbol"/>
              <a:buNone/>
            </a:pPr>
            <a:r>
              <a:t/>
            </a:r>
            <a:endParaRPr b="1" i="0" sz="2400" u="none" cap="none" strike="noStrike">
              <a:solidFill>
                <a:schemeClr val="dk1"/>
              </a:solidFill>
              <a:latin typeface="Arial"/>
              <a:ea typeface="Arial"/>
              <a:cs typeface="Arial"/>
              <a:sym typeface="Arial"/>
            </a:endParaRPr>
          </a:p>
          <a:p>
            <a:pPr indent="-342900" lvl="0" marL="342900" marR="0" rtl="0" algn="just">
              <a:lnSpc>
                <a:spcPct val="95000"/>
              </a:lnSpc>
              <a:spcBef>
                <a:spcPts val="480"/>
              </a:spcBef>
              <a:spcAft>
                <a:spcPts val="0"/>
              </a:spcAft>
              <a:buClr>
                <a:schemeClr val="accent2"/>
              </a:buClr>
              <a:buSzPct val="75000"/>
              <a:buFont typeface="Noto Symbol"/>
              <a:buChar char="■"/>
            </a:pPr>
            <a:r>
              <a:rPr b="0" i="0" lang="en-US" sz="2400" u="none" cap="none" strike="noStrike">
                <a:solidFill>
                  <a:schemeClr val="dk1"/>
                </a:solidFill>
                <a:latin typeface="Arial"/>
                <a:ea typeface="Arial"/>
                <a:cs typeface="Arial"/>
                <a:sym typeface="Arial"/>
              </a:rPr>
              <a:t>Cuando los agentes productivos </a:t>
            </a:r>
            <a:r>
              <a:rPr b="1" i="0" lang="en-US" sz="2400" u="none" cap="none" strike="noStrike">
                <a:solidFill>
                  <a:schemeClr val="dk1"/>
                </a:solidFill>
                <a:latin typeface="Arial"/>
                <a:ea typeface="Arial"/>
                <a:cs typeface="Arial"/>
                <a:sym typeface="Arial"/>
              </a:rPr>
              <a:t>se especializan en la producción del bien que le representa el menor costo de oportunidad</a:t>
            </a:r>
            <a:r>
              <a:rPr b="0" i="0" lang="en-US" sz="2400" u="none" cap="none" strike="noStrike">
                <a:solidFill>
                  <a:schemeClr val="dk1"/>
                </a:solidFill>
                <a:latin typeface="Arial"/>
                <a:ea typeface="Arial"/>
                <a:cs typeface="Arial"/>
                <a:sym typeface="Arial"/>
              </a:rPr>
              <a:t> alcanzan su mayor ventaja comparativa, y el nivel de producción total de la economía mejora.</a:t>
            </a:r>
          </a:p>
        </p:txBody>
      </p:sp>
    </p:spTree>
  </p:cSld>
  <p:clrMapOvr>
    <a:masterClrMapping/>
  </p:clrMapOvr>
  <p:transition spd="slow">
    <p:cut/>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05" name="Shape 305"/>
        <p:cNvGrpSpPr/>
        <p:nvPr/>
      </p:nvGrpSpPr>
      <p:grpSpPr>
        <a:xfrm>
          <a:off x="0" y="0"/>
          <a:ext cx="0" cy="0"/>
          <a:chOff x="0" y="0"/>
          <a:chExt cx="0" cy="0"/>
        </a:xfrm>
      </p:grpSpPr>
      <p:sp>
        <p:nvSpPr>
          <p:cNvPr id="306" name="Shape 306"/>
          <p:cNvSpPr/>
          <p:nvPr/>
        </p:nvSpPr>
        <p:spPr>
          <a:xfrm>
            <a:off x="7092950" y="3284537"/>
            <a:ext cx="23811" cy="1173162"/>
          </a:xfrm>
          <a:custGeom>
            <a:pathLst>
              <a:path extrusionOk="0" h="739" w="15">
                <a:moveTo>
                  <a:pt x="15" y="739"/>
                </a:moveTo>
                <a:lnTo>
                  <a:pt x="0" y="0"/>
                </a:lnTo>
              </a:path>
            </a:pathLst>
          </a:custGeom>
          <a:noFill/>
          <a:ln cap="flat" cmpd="sng" w="41275">
            <a:solidFill>
              <a:srgbClr val="FF0000"/>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07" name="Shape 307"/>
          <p:cNvSpPr/>
          <p:nvPr/>
        </p:nvSpPr>
        <p:spPr>
          <a:xfrm>
            <a:off x="5076825" y="3644900"/>
            <a:ext cx="2828925" cy="774700"/>
          </a:xfrm>
          <a:custGeom>
            <a:pathLst>
              <a:path extrusionOk="0" h="488" w="1782">
                <a:moveTo>
                  <a:pt x="0" y="0"/>
                </a:moveTo>
                <a:lnTo>
                  <a:pt x="198" y="8"/>
                </a:lnTo>
                <a:lnTo>
                  <a:pt x="330" y="32"/>
                </a:lnTo>
                <a:lnTo>
                  <a:pt x="486" y="92"/>
                </a:lnTo>
                <a:lnTo>
                  <a:pt x="639" y="148"/>
                </a:lnTo>
                <a:lnTo>
                  <a:pt x="843" y="208"/>
                </a:lnTo>
                <a:lnTo>
                  <a:pt x="1107" y="292"/>
                </a:lnTo>
                <a:lnTo>
                  <a:pt x="1359" y="376"/>
                </a:lnTo>
                <a:lnTo>
                  <a:pt x="1782" y="488"/>
                </a:lnTo>
              </a:path>
            </a:pathLst>
          </a:custGeom>
          <a:noFill/>
          <a:ln cap="flat" cmpd="sng" w="476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308" name="Shape 308"/>
          <p:cNvCxnSpPr/>
          <p:nvPr/>
        </p:nvCxnSpPr>
        <p:spPr>
          <a:xfrm>
            <a:off x="1330325" y="4437062"/>
            <a:ext cx="3025774" cy="0"/>
          </a:xfrm>
          <a:prstGeom prst="straightConnector1">
            <a:avLst/>
          </a:prstGeom>
          <a:noFill/>
          <a:ln cap="flat" cmpd="sng" w="28575">
            <a:solidFill>
              <a:schemeClr val="dk1"/>
            </a:solidFill>
            <a:prstDash val="solid"/>
            <a:miter/>
            <a:headEnd len="med" w="med" type="none"/>
            <a:tailEnd len="lg" w="lg" type="triangle"/>
          </a:ln>
        </p:spPr>
      </p:cxnSp>
      <p:sp>
        <p:nvSpPr>
          <p:cNvPr id="309" name="Shape 309"/>
          <p:cNvSpPr txBox="1"/>
          <p:nvPr/>
        </p:nvSpPr>
        <p:spPr>
          <a:xfrm>
            <a:off x="4318000" y="1752600"/>
            <a:ext cx="75882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Carne</a:t>
            </a:r>
          </a:p>
        </p:txBody>
      </p:sp>
      <p:sp>
        <p:nvSpPr>
          <p:cNvPr id="310" name="Shape 310"/>
          <p:cNvSpPr txBox="1"/>
          <p:nvPr/>
        </p:nvSpPr>
        <p:spPr>
          <a:xfrm>
            <a:off x="3646487" y="4387850"/>
            <a:ext cx="7810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Papas</a:t>
            </a:r>
          </a:p>
        </p:txBody>
      </p:sp>
      <p:sp>
        <p:nvSpPr>
          <p:cNvPr id="311" name="Shape 311"/>
          <p:cNvSpPr txBox="1"/>
          <p:nvPr/>
        </p:nvSpPr>
        <p:spPr>
          <a:xfrm>
            <a:off x="898525" y="2371725"/>
            <a:ext cx="40957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40</a:t>
            </a:r>
          </a:p>
        </p:txBody>
      </p:sp>
      <p:sp>
        <p:nvSpPr>
          <p:cNvPr id="312" name="Shape 312"/>
          <p:cNvSpPr txBox="1"/>
          <p:nvPr/>
        </p:nvSpPr>
        <p:spPr>
          <a:xfrm>
            <a:off x="2270125" y="44037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5</a:t>
            </a:r>
          </a:p>
        </p:txBody>
      </p:sp>
      <p:sp>
        <p:nvSpPr>
          <p:cNvPr id="313" name="Shape 313"/>
          <p:cNvSpPr/>
          <p:nvPr/>
        </p:nvSpPr>
        <p:spPr>
          <a:xfrm>
            <a:off x="1333500" y="2533650"/>
            <a:ext cx="1106486" cy="1901825"/>
          </a:xfrm>
          <a:custGeom>
            <a:pathLst>
              <a:path extrusionOk="0" h="1198" w="697">
                <a:moveTo>
                  <a:pt x="0" y="0"/>
                </a:moveTo>
                <a:lnTo>
                  <a:pt x="152" y="93"/>
                </a:lnTo>
                <a:lnTo>
                  <a:pt x="306" y="269"/>
                </a:lnTo>
                <a:lnTo>
                  <a:pt x="394" y="397"/>
                </a:lnTo>
                <a:lnTo>
                  <a:pt x="547" y="735"/>
                </a:lnTo>
                <a:lnTo>
                  <a:pt x="624" y="969"/>
                </a:lnTo>
                <a:lnTo>
                  <a:pt x="697" y="1198"/>
                </a:lnTo>
              </a:path>
            </a:pathLst>
          </a:custGeom>
          <a:noFill/>
          <a:ln cap="flat" cmpd="sng" w="38100">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14" name="Shape 314"/>
          <p:cNvSpPr txBox="1"/>
          <p:nvPr/>
        </p:nvSpPr>
        <p:spPr>
          <a:xfrm>
            <a:off x="1573212" y="3422650"/>
            <a:ext cx="4063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6600"/>
              </a:buClr>
              <a:buSzPct val="25000"/>
              <a:buFont typeface="Arial"/>
              <a:buNone/>
            </a:pPr>
            <a:r>
              <a:rPr b="1" i="0" lang="en-US" sz="1600" u="none" cap="none" strike="noStrike">
                <a:solidFill>
                  <a:srgbClr val="006600"/>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B</a:t>
            </a:r>
          </a:p>
        </p:txBody>
      </p:sp>
      <p:cxnSp>
        <p:nvCxnSpPr>
          <p:cNvPr id="315" name="Shape 315"/>
          <p:cNvCxnSpPr/>
          <p:nvPr/>
        </p:nvCxnSpPr>
        <p:spPr>
          <a:xfrm rot="10800000">
            <a:off x="1331912" y="3429000"/>
            <a:ext cx="719136" cy="0"/>
          </a:xfrm>
          <a:prstGeom prst="straightConnector1">
            <a:avLst/>
          </a:prstGeom>
          <a:noFill/>
          <a:ln cap="rnd" cmpd="sng" w="9525">
            <a:solidFill>
              <a:srgbClr val="FF0000"/>
            </a:solidFill>
            <a:prstDash val="solid"/>
            <a:miter/>
            <a:headEnd len="med" w="med" type="oval"/>
            <a:tailEnd len="med" w="med" type="none"/>
          </a:ln>
        </p:spPr>
      </p:cxnSp>
      <p:cxnSp>
        <p:nvCxnSpPr>
          <p:cNvPr id="316" name="Shape 316"/>
          <p:cNvCxnSpPr/>
          <p:nvPr/>
        </p:nvCxnSpPr>
        <p:spPr>
          <a:xfrm>
            <a:off x="2051050" y="3429000"/>
            <a:ext cx="0" cy="1008062"/>
          </a:xfrm>
          <a:prstGeom prst="straightConnector1">
            <a:avLst/>
          </a:prstGeom>
          <a:noFill/>
          <a:ln cap="rnd" cmpd="sng" w="9525">
            <a:solidFill>
              <a:srgbClr val="FF0000"/>
            </a:solidFill>
            <a:prstDash val="solid"/>
            <a:miter/>
            <a:headEnd len="med" w="med" type="oval"/>
            <a:tailEnd len="med" w="med" type="none"/>
          </a:ln>
        </p:spPr>
      </p:cxnSp>
      <p:sp>
        <p:nvSpPr>
          <p:cNvPr id="317" name="Shape 317"/>
          <p:cNvSpPr txBox="1"/>
          <p:nvPr/>
        </p:nvSpPr>
        <p:spPr>
          <a:xfrm>
            <a:off x="1646236" y="4365625"/>
            <a:ext cx="763586"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6600"/>
              </a:buClr>
              <a:buSzPct val="25000"/>
              <a:buFont typeface="Arial"/>
              <a:buNone/>
            </a:pPr>
            <a:r>
              <a:rPr b="1" i="0" lang="en-US" sz="1600" u="none" cap="none" strike="noStrike">
                <a:solidFill>
                  <a:srgbClr val="006600"/>
                </a:solidFill>
                <a:latin typeface="Arial"/>
                <a:ea typeface="Arial"/>
                <a:cs typeface="Arial"/>
                <a:sym typeface="Arial"/>
              </a:rPr>
              <a:t>  </a:t>
            </a:r>
            <a:r>
              <a:rPr b="1" i="0" lang="en-US" sz="1200" u="none" cap="none" strike="noStrike">
                <a:solidFill>
                  <a:schemeClr val="dk1"/>
                </a:solidFill>
                <a:latin typeface="Arial"/>
                <a:ea typeface="Arial"/>
                <a:cs typeface="Arial"/>
                <a:sym typeface="Arial"/>
              </a:rPr>
              <a:t>2 </a:t>
            </a:r>
            <a:r>
              <a:rPr b="1" i="0" lang="en-US" sz="1200" u="none" cap="none" strike="noStrike">
                <a:solidFill>
                  <a:srgbClr val="FF0000"/>
                </a:solidFill>
                <a:latin typeface="Arial"/>
                <a:ea typeface="Arial"/>
                <a:cs typeface="Arial"/>
                <a:sym typeface="Arial"/>
              </a:rPr>
              <a:t>2,5</a:t>
            </a:r>
            <a:r>
              <a:rPr b="1" i="0" lang="en-US" sz="1200" u="none" cap="none" strike="noStrike">
                <a:solidFill>
                  <a:schemeClr val="dk1"/>
                </a:solidFill>
                <a:latin typeface="Arial"/>
                <a:ea typeface="Arial"/>
                <a:cs typeface="Arial"/>
                <a:sym typeface="Arial"/>
              </a:rPr>
              <a:t> 3</a:t>
            </a:r>
          </a:p>
        </p:txBody>
      </p:sp>
      <p:sp>
        <p:nvSpPr>
          <p:cNvPr id="318" name="Shape 318"/>
          <p:cNvSpPr txBox="1"/>
          <p:nvPr/>
        </p:nvSpPr>
        <p:spPr>
          <a:xfrm>
            <a:off x="1042987" y="3116261"/>
            <a:ext cx="352425" cy="457200"/>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21</a:t>
            </a:r>
          </a:p>
          <a:p>
            <a:pPr indent="0" lvl="0" marL="0" marR="0" rtl="0" algn="l">
              <a:lnSpc>
                <a:spcPct val="100000"/>
              </a:lnSpc>
              <a:spcBef>
                <a:spcPts val="0"/>
              </a:spcBef>
              <a:spcAft>
                <a:spcPts val="0"/>
              </a:spcAft>
              <a:buClr>
                <a:srgbClr val="FF0000"/>
              </a:buClr>
              <a:buSzPct val="25000"/>
              <a:buFont typeface="Arial"/>
              <a:buNone/>
            </a:pPr>
            <a:r>
              <a:rPr b="1" i="0" lang="en-US" sz="1200" u="none" cap="none" strike="noStrike">
                <a:solidFill>
                  <a:srgbClr val="FF0000"/>
                </a:solidFill>
                <a:latin typeface="Arial"/>
                <a:ea typeface="Arial"/>
                <a:cs typeface="Arial"/>
                <a:sym typeface="Arial"/>
              </a:rPr>
              <a:t>20</a:t>
            </a:r>
          </a:p>
        </p:txBody>
      </p:sp>
      <p:cxnSp>
        <p:nvCxnSpPr>
          <p:cNvPr id="319" name="Shape 319"/>
          <p:cNvCxnSpPr/>
          <p:nvPr/>
        </p:nvCxnSpPr>
        <p:spPr>
          <a:xfrm rot="10800000">
            <a:off x="5076825" y="1628774"/>
            <a:ext cx="0" cy="2819400"/>
          </a:xfrm>
          <a:prstGeom prst="straightConnector1">
            <a:avLst/>
          </a:prstGeom>
          <a:noFill/>
          <a:ln cap="flat" cmpd="sng" w="41275">
            <a:solidFill>
              <a:schemeClr val="dk1"/>
            </a:solidFill>
            <a:prstDash val="solid"/>
            <a:miter/>
            <a:headEnd len="med" w="med" type="none"/>
            <a:tailEnd len="lg" w="lg" type="triangle"/>
          </a:ln>
        </p:spPr>
      </p:cxnSp>
      <p:cxnSp>
        <p:nvCxnSpPr>
          <p:cNvPr id="320" name="Shape 320"/>
          <p:cNvCxnSpPr/>
          <p:nvPr/>
        </p:nvCxnSpPr>
        <p:spPr>
          <a:xfrm>
            <a:off x="5076825" y="4437062"/>
            <a:ext cx="3240087" cy="0"/>
          </a:xfrm>
          <a:prstGeom prst="straightConnector1">
            <a:avLst/>
          </a:prstGeom>
          <a:noFill/>
          <a:ln cap="flat" cmpd="sng" w="41275">
            <a:solidFill>
              <a:schemeClr val="dk1"/>
            </a:solidFill>
            <a:prstDash val="solid"/>
            <a:miter/>
            <a:headEnd len="med" w="med" type="none"/>
            <a:tailEnd len="lg" w="lg" type="triangle"/>
          </a:ln>
        </p:spPr>
      </p:cxnSp>
      <p:sp>
        <p:nvSpPr>
          <p:cNvPr id="321" name="Shape 321"/>
          <p:cNvSpPr txBox="1"/>
          <p:nvPr/>
        </p:nvSpPr>
        <p:spPr>
          <a:xfrm>
            <a:off x="8172450" y="4437062"/>
            <a:ext cx="781049"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Papas</a:t>
            </a:r>
          </a:p>
        </p:txBody>
      </p:sp>
      <p:sp>
        <p:nvSpPr>
          <p:cNvPr id="322" name="Shape 322"/>
          <p:cNvSpPr txBox="1"/>
          <p:nvPr/>
        </p:nvSpPr>
        <p:spPr>
          <a:xfrm>
            <a:off x="517525" y="1660525"/>
            <a:ext cx="758825"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Carne</a:t>
            </a:r>
          </a:p>
        </p:txBody>
      </p:sp>
      <p:sp>
        <p:nvSpPr>
          <p:cNvPr id="323" name="Shape 323"/>
          <p:cNvSpPr txBox="1"/>
          <p:nvPr/>
        </p:nvSpPr>
        <p:spPr>
          <a:xfrm>
            <a:off x="7740650" y="43656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600" u="none" cap="none" strike="noStrike">
                <a:solidFill>
                  <a:schemeClr val="dk1"/>
                </a:solidFill>
                <a:latin typeface="Arial"/>
                <a:ea typeface="Arial"/>
                <a:cs typeface="Arial"/>
                <a:sym typeface="Arial"/>
              </a:rPr>
              <a:t>4</a:t>
            </a:r>
          </a:p>
        </p:txBody>
      </p:sp>
      <p:sp>
        <p:nvSpPr>
          <p:cNvPr id="324" name="Shape 324"/>
          <p:cNvSpPr txBox="1"/>
          <p:nvPr/>
        </p:nvSpPr>
        <p:spPr>
          <a:xfrm>
            <a:off x="4779962" y="3479800"/>
            <a:ext cx="282574"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2</a:t>
            </a:r>
          </a:p>
        </p:txBody>
      </p:sp>
      <p:sp>
        <p:nvSpPr>
          <p:cNvPr id="325" name="Shape 325"/>
          <p:cNvSpPr txBox="1"/>
          <p:nvPr/>
        </p:nvSpPr>
        <p:spPr>
          <a:xfrm>
            <a:off x="4865687" y="3860800"/>
            <a:ext cx="282574"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400" u="none" cap="none" strike="noStrike">
                <a:solidFill>
                  <a:srgbClr val="FF0000"/>
                </a:solidFill>
                <a:latin typeface="Arial"/>
                <a:ea typeface="Arial"/>
                <a:cs typeface="Arial"/>
                <a:sym typeface="Arial"/>
              </a:rPr>
              <a:t>1</a:t>
            </a:r>
          </a:p>
        </p:txBody>
      </p:sp>
      <p:sp>
        <p:nvSpPr>
          <p:cNvPr id="326" name="Shape 326"/>
          <p:cNvSpPr txBox="1"/>
          <p:nvPr/>
        </p:nvSpPr>
        <p:spPr>
          <a:xfrm>
            <a:off x="6300787" y="4414837"/>
            <a:ext cx="282574"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400" u="none" cap="none" strike="noStrike">
                <a:solidFill>
                  <a:srgbClr val="FF0000"/>
                </a:solidFill>
                <a:latin typeface="Arial"/>
                <a:ea typeface="Arial"/>
                <a:cs typeface="Arial"/>
                <a:sym typeface="Arial"/>
              </a:rPr>
              <a:t>2</a:t>
            </a:r>
          </a:p>
        </p:txBody>
      </p:sp>
      <p:sp>
        <p:nvSpPr>
          <p:cNvPr id="327" name="Shape 327"/>
          <p:cNvSpPr txBox="1"/>
          <p:nvPr/>
        </p:nvSpPr>
        <p:spPr>
          <a:xfrm>
            <a:off x="1736725" y="1027112"/>
            <a:ext cx="1781175" cy="376236"/>
          </a:xfrm>
          <a:prstGeom prst="rect">
            <a:avLst/>
          </a:prstGeom>
          <a:solidFill>
            <a:srgbClr val="FFFFCC"/>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FPC Ganadero</a:t>
            </a:r>
          </a:p>
        </p:txBody>
      </p:sp>
      <p:sp>
        <p:nvSpPr>
          <p:cNvPr id="328" name="Shape 328"/>
          <p:cNvSpPr txBox="1"/>
          <p:nvPr/>
        </p:nvSpPr>
        <p:spPr>
          <a:xfrm>
            <a:off x="5867400" y="1125537"/>
            <a:ext cx="1806575" cy="376236"/>
          </a:xfrm>
          <a:prstGeom prst="rect">
            <a:avLst/>
          </a:prstGeom>
          <a:solidFill>
            <a:srgbClr val="FFFFCC"/>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rgbClr val="FF0000"/>
              </a:buClr>
              <a:buSzPct val="25000"/>
              <a:buFont typeface="Arial"/>
              <a:buNone/>
            </a:pPr>
            <a:r>
              <a:rPr b="1" i="0" lang="en-US" sz="1800" u="none" cap="none" strike="noStrike">
                <a:solidFill>
                  <a:srgbClr val="FF0000"/>
                </a:solidFill>
                <a:latin typeface="Arial"/>
                <a:ea typeface="Arial"/>
                <a:cs typeface="Arial"/>
                <a:sym typeface="Arial"/>
              </a:rPr>
              <a:t>FPC Agricultor</a:t>
            </a:r>
          </a:p>
        </p:txBody>
      </p:sp>
      <p:sp>
        <p:nvSpPr>
          <p:cNvPr id="329" name="Shape 329"/>
          <p:cNvSpPr txBox="1"/>
          <p:nvPr/>
        </p:nvSpPr>
        <p:spPr>
          <a:xfrm>
            <a:off x="1042987" y="4437062"/>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0</a:t>
            </a:r>
          </a:p>
        </p:txBody>
      </p:sp>
      <p:sp>
        <p:nvSpPr>
          <p:cNvPr id="330" name="Shape 330"/>
          <p:cNvSpPr txBox="1"/>
          <p:nvPr/>
        </p:nvSpPr>
        <p:spPr>
          <a:xfrm>
            <a:off x="4860925" y="4403725"/>
            <a:ext cx="296861" cy="33654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0" i="0" lang="en-US" sz="1600" u="none" cap="none" strike="noStrike">
                <a:solidFill>
                  <a:schemeClr val="dk1"/>
                </a:solidFill>
                <a:latin typeface="Arial"/>
                <a:ea typeface="Arial"/>
                <a:cs typeface="Arial"/>
                <a:sym typeface="Arial"/>
              </a:rPr>
              <a:t>0</a:t>
            </a:r>
          </a:p>
        </p:txBody>
      </p:sp>
      <p:sp>
        <p:nvSpPr>
          <p:cNvPr id="331" name="Shape 331"/>
          <p:cNvSpPr/>
          <p:nvPr/>
        </p:nvSpPr>
        <p:spPr>
          <a:xfrm>
            <a:off x="5076825" y="4005262"/>
            <a:ext cx="1363662" cy="14286"/>
          </a:xfrm>
          <a:custGeom>
            <a:pathLst>
              <a:path extrusionOk="0" h="9" w="882">
                <a:moveTo>
                  <a:pt x="882" y="9"/>
                </a:moveTo>
                <a:lnTo>
                  <a:pt x="0" y="0"/>
                </a:lnTo>
              </a:path>
            </a:pathLst>
          </a:custGeom>
          <a:noFill/>
          <a:ln cap="rnd" cmpd="sng" w="12700">
            <a:solidFill>
              <a:srgbClr val="FF0000"/>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2" name="Shape 332"/>
          <p:cNvSpPr/>
          <p:nvPr/>
        </p:nvSpPr>
        <p:spPr>
          <a:xfrm>
            <a:off x="6443662" y="4005262"/>
            <a:ext cx="1586" cy="414337"/>
          </a:xfrm>
          <a:custGeom>
            <a:pathLst>
              <a:path extrusionOk="0" h="261" w="1">
                <a:moveTo>
                  <a:pt x="0" y="0"/>
                </a:moveTo>
                <a:lnTo>
                  <a:pt x="0" y="261"/>
                </a:lnTo>
              </a:path>
            </a:pathLst>
          </a:custGeom>
          <a:noFill/>
          <a:ln cap="rnd" cmpd="sng" w="12700">
            <a:solidFill>
              <a:srgbClr val="FF0000"/>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333" name="Shape 333"/>
          <p:cNvCxnSpPr/>
          <p:nvPr/>
        </p:nvCxnSpPr>
        <p:spPr>
          <a:xfrm>
            <a:off x="1908175" y="3141661"/>
            <a:ext cx="0" cy="1277936"/>
          </a:xfrm>
          <a:prstGeom prst="straightConnector1">
            <a:avLst/>
          </a:prstGeom>
          <a:noFill/>
          <a:ln cap="rnd" cmpd="sng" w="9525">
            <a:solidFill>
              <a:schemeClr val="dk1"/>
            </a:solidFill>
            <a:prstDash val="solid"/>
            <a:miter/>
            <a:headEnd len="med" w="med" type="oval"/>
            <a:tailEnd len="med" w="med" type="none"/>
          </a:ln>
        </p:spPr>
      </p:cxnSp>
      <p:cxnSp>
        <p:nvCxnSpPr>
          <p:cNvPr id="334" name="Shape 334"/>
          <p:cNvCxnSpPr/>
          <p:nvPr/>
        </p:nvCxnSpPr>
        <p:spPr>
          <a:xfrm rot="10800000">
            <a:off x="1258887" y="3141661"/>
            <a:ext cx="649286" cy="0"/>
          </a:xfrm>
          <a:prstGeom prst="straightConnector1">
            <a:avLst/>
          </a:prstGeom>
          <a:noFill/>
          <a:ln cap="rnd" cmpd="sng" w="9525">
            <a:solidFill>
              <a:schemeClr val="dk1"/>
            </a:solidFill>
            <a:prstDash val="solid"/>
            <a:miter/>
            <a:headEnd len="med" w="med" type="oval"/>
            <a:tailEnd len="med" w="med" type="none"/>
          </a:ln>
        </p:spPr>
      </p:cxnSp>
      <p:cxnSp>
        <p:nvCxnSpPr>
          <p:cNvPr id="335" name="Shape 335"/>
          <p:cNvCxnSpPr/>
          <p:nvPr/>
        </p:nvCxnSpPr>
        <p:spPr>
          <a:xfrm>
            <a:off x="6443662" y="4005262"/>
            <a:ext cx="1439862" cy="431799"/>
          </a:xfrm>
          <a:prstGeom prst="straightConnector1">
            <a:avLst/>
          </a:prstGeom>
          <a:noFill/>
          <a:ln cap="flat" cmpd="sng" w="41275">
            <a:solidFill>
              <a:srgbClr val="FF0000"/>
            </a:solidFill>
            <a:prstDash val="solid"/>
            <a:miter/>
            <a:headEnd len="med" w="med" type="none"/>
            <a:tailEnd len="lg" w="lg" type="triangle"/>
          </a:ln>
        </p:spPr>
      </p:cxnSp>
      <p:cxnSp>
        <p:nvCxnSpPr>
          <p:cNvPr id="336" name="Shape 336"/>
          <p:cNvCxnSpPr/>
          <p:nvPr/>
        </p:nvCxnSpPr>
        <p:spPr>
          <a:xfrm rot="10800000">
            <a:off x="1908174" y="3068636"/>
            <a:ext cx="144462" cy="360362"/>
          </a:xfrm>
          <a:prstGeom prst="straightConnector1">
            <a:avLst/>
          </a:prstGeom>
          <a:noFill/>
          <a:ln cap="flat" cmpd="sng" w="41275">
            <a:solidFill>
              <a:srgbClr val="FF0000"/>
            </a:solidFill>
            <a:prstDash val="solid"/>
            <a:miter/>
            <a:headEnd len="med" w="med" type="none"/>
            <a:tailEnd len="lg" w="lg" type="triangle"/>
          </a:ln>
        </p:spPr>
      </p:cxnSp>
      <p:sp>
        <p:nvSpPr>
          <p:cNvPr id="337" name="Shape 337"/>
          <p:cNvSpPr txBox="1"/>
          <p:nvPr/>
        </p:nvSpPr>
        <p:spPr>
          <a:xfrm>
            <a:off x="0" y="4868862"/>
            <a:ext cx="4176711" cy="1812924"/>
          </a:xfrm>
          <a:prstGeom prst="rect">
            <a:avLst/>
          </a:prstGeom>
          <a:solidFill>
            <a:srgbClr val="FFFF99"/>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Aumenta la producción de carne y reduce la producción de papas. Produce 24 Kg. de carne y 2 Kg. de papas.</a:t>
            </a:r>
          </a:p>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Entrega 3 Kg. de carne recibe 1 Kg. de papas.</a:t>
            </a:r>
          </a:p>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Consume 1 Kg. mas de carne y ½ Kg. mas de papas.</a:t>
            </a:r>
          </a:p>
        </p:txBody>
      </p:sp>
      <p:sp>
        <p:nvSpPr>
          <p:cNvPr id="338" name="Shape 338"/>
          <p:cNvSpPr/>
          <p:nvPr/>
        </p:nvSpPr>
        <p:spPr>
          <a:xfrm>
            <a:off x="1328737" y="3336925"/>
            <a:ext cx="939799" cy="20637"/>
          </a:xfrm>
          <a:custGeom>
            <a:pathLst>
              <a:path extrusionOk="0" h="15" w="569">
                <a:moveTo>
                  <a:pt x="569" y="15"/>
                </a:moveTo>
                <a:lnTo>
                  <a:pt x="0" y="0"/>
                </a:lnTo>
              </a:path>
            </a:pathLst>
          </a:custGeom>
          <a:noFill/>
          <a:ln cap="rnd" cmpd="sng" w="9525">
            <a:solidFill>
              <a:schemeClr val="dk1"/>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39" name="Shape 339"/>
          <p:cNvSpPr/>
          <p:nvPr/>
        </p:nvSpPr>
        <p:spPr>
          <a:xfrm>
            <a:off x="2259011" y="3357562"/>
            <a:ext cx="9525" cy="1081086"/>
          </a:xfrm>
          <a:custGeom>
            <a:pathLst>
              <a:path extrusionOk="0" h="681" w="6">
                <a:moveTo>
                  <a:pt x="0" y="0"/>
                </a:moveTo>
                <a:lnTo>
                  <a:pt x="6" y="681"/>
                </a:lnTo>
              </a:path>
            </a:pathLst>
          </a:custGeom>
          <a:noFill/>
          <a:ln cap="rnd" cmpd="sng" w="9525">
            <a:solidFill>
              <a:schemeClr val="dk1"/>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0" name="Shape 340"/>
          <p:cNvSpPr/>
          <p:nvPr/>
        </p:nvSpPr>
        <p:spPr>
          <a:xfrm>
            <a:off x="1331912" y="2349500"/>
            <a:ext cx="1368425" cy="2087562"/>
          </a:xfrm>
          <a:custGeom>
            <a:pathLst>
              <a:path extrusionOk="0" h="1285" w="826">
                <a:moveTo>
                  <a:pt x="0" y="0"/>
                </a:moveTo>
                <a:lnTo>
                  <a:pt x="149" y="121"/>
                </a:lnTo>
                <a:lnTo>
                  <a:pt x="327" y="285"/>
                </a:lnTo>
                <a:lnTo>
                  <a:pt x="442" y="435"/>
                </a:lnTo>
                <a:lnTo>
                  <a:pt x="534" y="581"/>
                </a:lnTo>
                <a:lnTo>
                  <a:pt x="675" y="890"/>
                </a:lnTo>
                <a:lnTo>
                  <a:pt x="766" y="1109"/>
                </a:lnTo>
                <a:lnTo>
                  <a:pt x="826" y="1285"/>
                </a:lnTo>
              </a:path>
            </a:pathLst>
          </a:custGeom>
          <a:noFill/>
          <a:ln cap="flat" cmpd="sng" w="38100">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1" name="Shape 341"/>
          <p:cNvSpPr txBox="1"/>
          <p:nvPr/>
        </p:nvSpPr>
        <p:spPr>
          <a:xfrm>
            <a:off x="4932362" y="4941887"/>
            <a:ext cx="4211637" cy="1812924"/>
          </a:xfrm>
          <a:prstGeom prst="rect">
            <a:avLst/>
          </a:prstGeom>
          <a:solidFill>
            <a:srgbClr val="CCFFFF"/>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Aumenta la producción de papas y reduce la producción de carne. Produce 4 Kg. de papas y 0 Kg. de carne.</a:t>
            </a:r>
          </a:p>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Entrega 1 Kg. de papas recibe 3 Kg. de carne. </a:t>
            </a:r>
          </a:p>
          <a:p>
            <a:pPr indent="0" lvl="0" marL="0" marR="0" rtl="0" algn="l">
              <a:lnSpc>
                <a:spcPct val="100000"/>
              </a:lnSpc>
              <a:spcBef>
                <a:spcPts val="0"/>
              </a:spcBef>
              <a:spcAft>
                <a:spcPts val="0"/>
              </a:spcAft>
              <a:buClr>
                <a:schemeClr val="lt2"/>
              </a:buClr>
              <a:buSzPct val="25000"/>
              <a:buFont typeface="Arial"/>
              <a:buNone/>
            </a:pPr>
            <a:r>
              <a:rPr b="1" i="0" lang="en-US" sz="1600" u="none" cap="none" strike="noStrike">
                <a:solidFill>
                  <a:schemeClr val="lt2"/>
                </a:solidFill>
                <a:latin typeface="Arial"/>
                <a:ea typeface="Arial"/>
                <a:cs typeface="Arial"/>
                <a:sym typeface="Arial"/>
              </a:rPr>
              <a:t>Consume 2 Kg. mas de carne y 1 Kg. mas de papas.</a:t>
            </a:r>
          </a:p>
        </p:txBody>
      </p:sp>
      <p:sp>
        <p:nvSpPr>
          <p:cNvPr id="342" name="Shape 342"/>
          <p:cNvSpPr/>
          <p:nvPr/>
        </p:nvSpPr>
        <p:spPr>
          <a:xfrm>
            <a:off x="5076825" y="3284537"/>
            <a:ext cx="2009775" cy="1586"/>
          </a:xfrm>
          <a:custGeom>
            <a:pathLst>
              <a:path extrusionOk="0" h="1" w="1266">
                <a:moveTo>
                  <a:pt x="1266" y="0"/>
                </a:moveTo>
                <a:lnTo>
                  <a:pt x="0" y="0"/>
                </a:lnTo>
              </a:path>
            </a:pathLst>
          </a:custGeom>
          <a:noFill/>
          <a:ln cap="rnd" cmpd="sng" w="12700">
            <a:solidFill>
              <a:schemeClr val="dk1"/>
            </a:solidFill>
            <a:prstDash val="solid"/>
            <a:miter/>
            <a:headEnd len="med" w="med" type="oval"/>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3" name="Shape 343"/>
          <p:cNvSpPr/>
          <p:nvPr/>
        </p:nvSpPr>
        <p:spPr>
          <a:xfrm>
            <a:off x="5076825" y="2781300"/>
            <a:ext cx="3714750" cy="1143000"/>
          </a:xfrm>
          <a:custGeom>
            <a:pathLst>
              <a:path extrusionOk="0" h="720" w="2340">
                <a:moveTo>
                  <a:pt x="0" y="24"/>
                </a:moveTo>
                <a:lnTo>
                  <a:pt x="192" y="0"/>
                </a:lnTo>
                <a:lnTo>
                  <a:pt x="384" y="12"/>
                </a:lnTo>
                <a:lnTo>
                  <a:pt x="588" y="60"/>
                </a:lnTo>
                <a:lnTo>
                  <a:pt x="756" y="120"/>
                </a:lnTo>
                <a:lnTo>
                  <a:pt x="955" y="195"/>
                </a:lnTo>
                <a:lnTo>
                  <a:pt x="1219" y="279"/>
                </a:lnTo>
                <a:lnTo>
                  <a:pt x="1471" y="363"/>
                </a:lnTo>
                <a:lnTo>
                  <a:pt x="1776" y="468"/>
                </a:lnTo>
                <a:lnTo>
                  <a:pt x="2016" y="564"/>
                </a:lnTo>
                <a:lnTo>
                  <a:pt x="2340" y="720"/>
                </a:lnTo>
              </a:path>
            </a:pathLst>
          </a:custGeom>
          <a:noFill/>
          <a:ln cap="flat" cmpd="sng" w="41275">
            <a:solidFill>
              <a:srgbClr val="FF0000"/>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44" name="Shape 344"/>
          <p:cNvSpPr txBox="1"/>
          <p:nvPr/>
        </p:nvSpPr>
        <p:spPr>
          <a:xfrm>
            <a:off x="4787900" y="3095625"/>
            <a:ext cx="282574"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3</a:t>
            </a:r>
          </a:p>
        </p:txBody>
      </p:sp>
      <p:cxnSp>
        <p:nvCxnSpPr>
          <p:cNvPr id="345" name="Shape 345"/>
          <p:cNvCxnSpPr/>
          <p:nvPr/>
        </p:nvCxnSpPr>
        <p:spPr>
          <a:xfrm rot="10800000">
            <a:off x="7092949" y="4437062"/>
            <a:ext cx="684211" cy="0"/>
          </a:xfrm>
          <a:prstGeom prst="straightConnector1">
            <a:avLst/>
          </a:prstGeom>
          <a:noFill/>
          <a:ln cap="flat" cmpd="sng" w="47625">
            <a:solidFill>
              <a:srgbClr val="FF0000"/>
            </a:solidFill>
            <a:prstDash val="solid"/>
            <a:miter/>
            <a:headEnd len="med" w="med" type="none"/>
            <a:tailEnd len="med" w="med" type="stealth"/>
          </a:ln>
        </p:spPr>
      </p:cxnSp>
      <p:sp>
        <p:nvSpPr>
          <p:cNvPr id="346" name="Shape 346"/>
          <p:cNvSpPr txBox="1"/>
          <p:nvPr/>
        </p:nvSpPr>
        <p:spPr>
          <a:xfrm>
            <a:off x="6948486" y="4437062"/>
            <a:ext cx="282574" cy="304799"/>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400" u="none" cap="none" strike="noStrike">
                <a:solidFill>
                  <a:schemeClr val="dk1"/>
                </a:solidFill>
                <a:latin typeface="Arial"/>
                <a:ea typeface="Arial"/>
                <a:cs typeface="Arial"/>
                <a:sym typeface="Arial"/>
              </a:rPr>
              <a:t>3</a:t>
            </a:r>
          </a:p>
        </p:txBody>
      </p:sp>
      <p:sp>
        <p:nvSpPr>
          <p:cNvPr id="347" name="Shape 347"/>
          <p:cNvSpPr/>
          <p:nvPr/>
        </p:nvSpPr>
        <p:spPr>
          <a:xfrm>
            <a:off x="1908175" y="3141661"/>
            <a:ext cx="1586" cy="261936"/>
          </a:xfrm>
          <a:custGeom>
            <a:pathLst>
              <a:path extrusionOk="0" h="120" w="1">
                <a:moveTo>
                  <a:pt x="0" y="0"/>
                </a:moveTo>
                <a:lnTo>
                  <a:pt x="0" y="120"/>
                </a:lnTo>
              </a:path>
            </a:pathLst>
          </a:custGeom>
          <a:noFill/>
          <a:ln cap="flat" cmpd="sng" w="41275">
            <a:solidFill>
              <a:srgbClr val="FF0000"/>
            </a:solidFill>
            <a:prstDash val="solid"/>
            <a:miter/>
            <a:headEnd len="med" w="med" type="none"/>
            <a:tailEnd len="lg" w="lg" type="triangle"/>
          </a:ln>
        </p:spPr>
        <p:txBody>
          <a:bodyPr anchorCtr="0" anchor="t" bIns="45700" lIns="91425" rIns="91425" tIns="45700">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cxnSp>
        <p:nvCxnSpPr>
          <p:cNvPr id="348" name="Shape 348"/>
          <p:cNvCxnSpPr/>
          <p:nvPr/>
        </p:nvCxnSpPr>
        <p:spPr>
          <a:xfrm>
            <a:off x="1908175" y="3357562"/>
            <a:ext cx="323850" cy="0"/>
          </a:xfrm>
          <a:prstGeom prst="straightConnector1">
            <a:avLst/>
          </a:prstGeom>
          <a:noFill/>
          <a:ln cap="flat" cmpd="sng" w="41275">
            <a:solidFill>
              <a:srgbClr val="FF0000"/>
            </a:solidFill>
            <a:prstDash val="solid"/>
            <a:miter/>
            <a:headEnd len="med" w="med" type="none"/>
            <a:tailEnd len="lg" w="lg" type="triangle"/>
          </a:ln>
        </p:spPr>
      </p:cxnSp>
      <p:sp>
        <p:nvSpPr>
          <p:cNvPr id="349" name="Shape 349"/>
          <p:cNvSpPr txBox="1"/>
          <p:nvPr/>
        </p:nvSpPr>
        <p:spPr>
          <a:xfrm>
            <a:off x="34925" y="279400"/>
            <a:ext cx="5041899" cy="701674"/>
          </a:xfrm>
          <a:prstGeom prst="rect">
            <a:avLst/>
          </a:prstGeom>
          <a:solidFill>
            <a:schemeClr val="accent1"/>
          </a:solid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Frontera de posibilidades de consumo con intercambio comercial</a:t>
            </a:r>
          </a:p>
        </p:txBody>
      </p:sp>
      <p:sp>
        <p:nvSpPr>
          <p:cNvPr id="350" name="Shape 350"/>
          <p:cNvSpPr txBox="1"/>
          <p:nvPr/>
        </p:nvSpPr>
        <p:spPr>
          <a:xfrm>
            <a:off x="1050925" y="2997200"/>
            <a:ext cx="352425" cy="274636"/>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200" u="none" cap="none" strike="noStrike">
                <a:solidFill>
                  <a:schemeClr val="dk1"/>
                </a:solidFill>
                <a:latin typeface="Arial"/>
                <a:ea typeface="Arial"/>
                <a:cs typeface="Arial"/>
                <a:sym typeface="Arial"/>
              </a:rPr>
              <a:t>24</a:t>
            </a:r>
          </a:p>
        </p:txBody>
      </p:sp>
      <p:sp>
        <p:nvSpPr>
          <p:cNvPr id="351" name="Shape 351"/>
          <p:cNvSpPr txBox="1"/>
          <p:nvPr/>
        </p:nvSpPr>
        <p:spPr>
          <a:xfrm>
            <a:off x="6300787" y="3644900"/>
            <a:ext cx="838199" cy="366711"/>
          </a:xfrm>
          <a:prstGeom prst="rect">
            <a:avLst/>
          </a:prstGeom>
          <a:noFill/>
          <a:ln>
            <a:noFill/>
          </a:ln>
        </p:spPr>
        <p:txBody>
          <a:bodyPr anchorCtr="0" anchor="t" bIns="45700" lIns="91425" rIns="91425" tIns="45700">
            <a:noAutofit/>
          </a:bodyPr>
          <a:lstStyle/>
          <a:p>
            <a:pPr indent="0" lvl="0" marL="0" marR="0" rtl="0" algn="l">
              <a:lnSpc>
                <a:spcPct val="100000"/>
              </a:lnSpc>
              <a:spcBef>
                <a:spcPts val="0"/>
              </a:spcBef>
              <a:spcAft>
                <a:spcPts val="0"/>
              </a:spcAft>
              <a:buClr>
                <a:srgbClr val="000099"/>
              </a:buClr>
              <a:buSzPct val="25000"/>
              <a:buFont typeface="Arial"/>
              <a:buNone/>
            </a:pPr>
            <a:r>
              <a:rPr b="1" i="0" lang="en-US" sz="1800" u="none" cap="none" strike="noStrike">
                <a:solidFill>
                  <a:srgbClr val="000099"/>
                </a:solidFill>
                <a:latin typeface="Arial"/>
                <a:ea typeface="Arial"/>
                <a:cs typeface="Arial"/>
                <a:sym typeface="Arial"/>
              </a:rPr>
              <a:t> </a:t>
            </a:r>
            <a:r>
              <a:rPr b="1" i="0" lang="en-US" sz="1800" u="none" cap="none" strike="noStrike">
                <a:solidFill>
                  <a:schemeClr val="dk1"/>
                </a:solidFill>
                <a:latin typeface="Arial"/>
                <a:ea typeface="Arial"/>
                <a:cs typeface="Arial"/>
                <a:sym typeface="Arial"/>
              </a:rPr>
              <a:t>A</a:t>
            </a:r>
          </a:p>
        </p:txBody>
      </p:sp>
      <p:cxnSp>
        <p:nvCxnSpPr>
          <p:cNvPr id="352" name="Shape 352"/>
          <p:cNvCxnSpPr/>
          <p:nvPr/>
        </p:nvCxnSpPr>
        <p:spPr>
          <a:xfrm rot="10800000">
            <a:off x="1331912" y="1628774"/>
            <a:ext cx="0" cy="2819400"/>
          </a:xfrm>
          <a:prstGeom prst="straightConnector1">
            <a:avLst/>
          </a:prstGeom>
          <a:noFill/>
          <a:ln cap="flat" cmpd="sng" w="44450">
            <a:solidFill>
              <a:schemeClr val="dk1"/>
            </a:solidFill>
            <a:prstDash val="solid"/>
            <a:miter/>
            <a:headEnd len="med" w="med" type="none"/>
            <a:tailEnd len="lg" w="lg" type="triangle"/>
          </a:ln>
        </p:spPr>
      </p:cxnSp>
      <p:sp>
        <p:nvSpPr>
          <p:cNvPr id="353" name="Shape 353"/>
          <p:cNvSpPr/>
          <p:nvPr/>
        </p:nvSpPr>
        <p:spPr>
          <a:xfrm>
            <a:off x="4211637" y="5589587"/>
            <a:ext cx="647700" cy="647700"/>
          </a:xfrm>
          <a:prstGeom prst="leftRightArrow">
            <a:avLst>
              <a:gd fmla="val 5091" name="adj1"/>
              <a:gd fmla="val 4553" name="adj2"/>
            </a:avLst>
          </a:prstGeom>
          <a:solidFill>
            <a:srgbClr val="00FF00"/>
          </a:solidFill>
          <a:ln cap="flat" cmpd="sng" w="9525">
            <a:solidFill>
              <a:schemeClr val="dk1"/>
            </a:solidFill>
            <a:prstDash val="solid"/>
            <a:miter/>
            <a:headEnd len="med" w="med" type="none"/>
            <a:tailEnd len="med" w="med" type="none"/>
          </a:ln>
        </p:spPr>
        <p:txBody>
          <a:bodyPr anchorCtr="0" anchor="ctr" bIns="46025" lIns="92075" rIns="92075" tIns="46025">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4" name="Shape 354"/>
          <p:cNvSpPr/>
          <p:nvPr/>
        </p:nvSpPr>
        <p:spPr>
          <a:xfrm rot="-4080000">
            <a:off x="5863430" y="3145631"/>
            <a:ext cx="674687" cy="520699"/>
          </a:xfrm>
          <a:prstGeom prst="stripedRightArrow">
            <a:avLst>
              <a:gd fmla="val 15918" name="adj1"/>
              <a:gd fmla="val 3887" name="adj2"/>
            </a:avLst>
          </a:prstGeom>
          <a:solidFill>
            <a:srgbClr val="00FF00"/>
          </a:solidFill>
          <a:ln cap="flat" cmpd="sng" w="9525">
            <a:solidFill>
              <a:schemeClr val="dk1"/>
            </a:solidFill>
            <a:prstDash val="solid"/>
            <a:miter/>
            <a:headEnd len="med" w="med" type="none"/>
            <a:tailEnd len="med" w="med" type="none"/>
          </a:ln>
        </p:spPr>
        <p:txBody>
          <a:bodyPr anchorCtr="0" anchor="ctr" bIns="46025" lIns="92075" rIns="92075" tIns="46025">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5" name="Shape 355"/>
          <p:cNvSpPr/>
          <p:nvPr/>
        </p:nvSpPr>
        <p:spPr>
          <a:xfrm rot="-1140000">
            <a:off x="1979612" y="3644900"/>
            <a:ext cx="503237" cy="600075"/>
          </a:xfrm>
          <a:prstGeom prst="stripedRightArrow">
            <a:avLst>
              <a:gd fmla="val 11810" name="adj1"/>
              <a:gd fmla="val 4210" name="adj2"/>
            </a:avLst>
          </a:prstGeom>
          <a:solidFill>
            <a:srgbClr val="00FF00"/>
          </a:solidFill>
          <a:ln cap="flat" cmpd="sng" w="9525">
            <a:solidFill>
              <a:schemeClr val="dk1"/>
            </a:solidFill>
            <a:prstDash val="solid"/>
            <a:miter/>
            <a:headEnd len="med" w="med" type="none"/>
            <a:tailEnd len="med" w="med" type="none"/>
          </a:ln>
        </p:spPr>
        <p:txBody>
          <a:bodyPr anchorCtr="0" anchor="ctr" bIns="46025" lIns="92075" rIns="92075" tIns="46025">
            <a:noAutofit/>
          </a:bodyPr>
          <a:lstStyle/>
          <a:p>
            <a:pPr indent="0" lvl="0" marL="0" marR="0" rtl="0" algn="l">
              <a:lnSpc>
                <a:spcPct val="100000"/>
              </a:lnSpc>
              <a:spcBef>
                <a:spcPts val="0"/>
              </a:spcBef>
              <a:spcAft>
                <a:spcPts val="0"/>
              </a:spcAft>
              <a:buNone/>
            </a:pPr>
            <a:r>
              <a:t/>
            </a:r>
            <a:endParaRPr b="0" i="0" sz="2400" u="none" cap="none" strike="noStrike">
              <a:solidFill>
                <a:schemeClr val="dk1"/>
              </a:solidFill>
              <a:latin typeface="Times New Roman"/>
              <a:ea typeface="Times New Roman"/>
              <a:cs typeface="Times New Roman"/>
              <a:sym typeface="Times New Roman"/>
            </a:endParaRPr>
          </a:p>
        </p:txBody>
      </p:sp>
      <p:sp>
        <p:nvSpPr>
          <p:cNvPr id="356" name="Shape 356"/>
          <p:cNvSpPr txBox="1"/>
          <p:nvPr/>
        </p:nvSpPr>
        <p:spPr>
          <a:xfrm>
            <a:off x="1763711" y="1757361"/>
            <a:ext cx="1768474" cy="376236"/>
          </a:xfrm>
          <a:prstGeom prst="rect">
            <a:avLst/>
          </a:prstGeom>
          <a:solidFill>
            <a:srgbClr val="FFFFCC"/>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1800" u="none" cap="none" strike="noStrike">
                <a:solidFill>
                  <a:schemeClr val="dk1"/>
                </a:solidFill>
                <a:latin typeface="Arial"/>
                <a:ea typeface="Arial"/>
                <a:cs typeface="Arial"/>
                <a:sym typeface="Arial"/>
              </a:rPr>
              <a:t>FPP Ganadero</a:t>
            </a:r>
          </a:p>
        </p:txBody>
      </p:sp>
      <p:sp>
        <p:nvSpPr>
          <p:cNvPr id="357" name="Shape 357"/>
          <p:cNvSpPr txBox="1"/>
          <p:nvPr/>
        </p:nvSpPr>
        <p:spPr>
          <a:xfrm>
            <a:off x="5867400" y="1828800"/>
            <a:ext cx="1793874" cy="376236"/>
          </a:xfrm>
          <a:prstGeom prst="rect">
            <a:avLst/>
          </a:prstGeom>
          <a:solidFill>
            <a:srgbClr val="FFFFCC"/>
          </a:soli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0" lvl="0" marL="0" marR="0" rtl="0" algn="l">
              <a:lnSpc>
                <a:spcPct val="100000"/>
              </a:lnSpc>
              <a:spcBef>
                <a:spcPts val="0"/>
              </a:spcBef>
              <a:spcAft>
                <a:spcPts val="0"/>
              </a:spcAft>
              <a:buClr>
                <a:schemeClr val="hlink"/>
              </a:buClr>
              <a:buSzPct val="25000"/>
              <a:buFont typeface="Arial"/>
              <a:buNone/>
            </a:pPr>
            <a:r>
              <a:rPr b="1" i="0" lang="en-US" sz="1800" u="none" cap="none" strike="noStrike">
                <a:solidFill>
                  <a:schemeClr val="hlink"/>
                </a:solidFill>
                <a:latin typeface="Arial"/>
                <a:ea typeface="Arial"/>
                <a:cs typeface="Arial"/>
                <a:sym typeface="Arial"/>
              </a:rPr>
              <a:t>FPP Agricultor</a:t>
            </a:r>
          </a:p>
        </p:txBody>
      </p:sp>
    </p:spTree>
  </p:cSld>
  <p:clrMapOvr>
    <a:masterClrMapping/>
  </p:clrMapOvr>
  <p:transition spd="slow">
    <p:cut/>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2" name="Shape 362"/>
        <p:cNvGrpSpPr/>
        <p:nvPr/>
      </p:nvGrpSpPr>
      <p:grpSpPr>
        <a:xfrm>
          <a:off x="0" y="0"/>
          <a:ext cx="0" cy="0"/>
          <a:chOff x="0" y="0"/>
          <a:chExt cx="0" cy="0"/>
        </a:xfrm>
      </p:grpSpPr>
      <p:sp>
        <p:nvSpPr>
          <p:cNvPr id="363" name="Shape 363"/>
          <p:cNvSpPr txBox="1"/>
          <p:nvPr>
            <p:ph idx="4294967295" type="title"/>
          </p:nvPr>
        </p:nvSpPr>
        <p:spPr>
          <a:xfrm>
            <a:off x="1619250" y="981075"/>
            <a:ext cx="7086600" cy="406399"/>
          </a:xfrm>
          <a:prstGeom prst="rect">
            <a:avLst/>
          </a:prstGeom>
          <a:solidFill>
            <a:srgbClr val="FFFFCC"/>
          </a:solidFill>
          <a:ln cap="flat" cmpd="sng" w="9525">
            <a:solidFill>
              <a:schemeClr val="dk1"/>
            </a:solidFill>
            <a:prstDash val="solid"/>
            <a:miter/>
            <a:headEnd len="med" w="med" type="none"/>
            <a:tailEnd len="med" w="med" type="none"/>
          </a:ln>
        </p:spPr>
        <p:txBody>
          <a:bodyPr anchorCtr="0" anchor="ctr" bIns="45700" lIns="91425" rIns="91425" tIns="45700">
            <a:noAutofit/>
          </a:bodyPr>
          <a:lstStyle/>
          <a:p>
            <a:pPr indent="0" lvl="0" marL="0" marR="0" rtl="0" algn="l">
              <a:lnSpc>
                <a:spcPct val="100000"/>
              </a:lnSpc>
              <a:spcBef>
                <a:spcPts val="0"/>
              </a:spcBef>
              <a:spcAft>
                <a:spcPts val="0"/>
              </a:spcAft>
              <a:buClr>
                <a:schemeClr val="dk1"/>
              </a:buClr>
              <a:buSzPct val="25000"/>
              <a:buFont typeface="Arial"/>
              <a:buNone/>
            </a:pPr>
            <a:r>
              <a:rPr b="1" i="0" lang="en-US" sz="2000" u="none" cap="none" strike="noStrike">
                <a:solidFill>
                  <a:schemeClr val="dk1"/>
                </a:solidFill>
                <a:latin typeface="Arial"/>
                <a:ea typeface="Arial"/>
                <a:cs typeface="Arial"/>
                <a:sym typeface="Arial"/>
              </a:rPr>
              <a:t>Las ganancias derivadas del comercio : RESUMEN</a:t>
            </a:r>
          </a:p>
        </p:txBody>
      </p:sp>
      <p:pic>
        <p:nvPicPr>
          <p:cNvPr id="364" name="Shape 364"/>
          <p:cNvPicPr preferRelativeResize="0"/>
          <p:nvPr>
            <p:ph idx="2" type="tbl"/>
          </p:nvPr>
        </p:nvPicPr>
        <p:blipFill rotWithShape="1">
          <a:blip r:embed="rId3">
            <a:alphaModFix/>
          </a:blip>
          <a:srcRect b="0" l="0" r="0" t="0"/>
          <a:stretch/>
        </p:blipFill>
        <p:spPr>
          <a:xfrm>
            <a:off x="179386" y="2081211"/>
            <a:ext cx="8964612" cy="5740400"/>
          </a:xfrm>
          <a:prstGeom prst="rect">
            <a:avLst/>
          </a:prstGeom>
          <a:noFill/>
          <a:ln>
            <a:noFill/>
          </a:ln>
        </p:spPr>
      </p:pic>
    </p:spTree>
  </p:cSld>
  <p:clrMapOvr>
    <a:masterClrMapping/>
  </p:clrMapOvr>
  <p:transition spd="slow">
    <p:cut/>
  </p:transition>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p:cSld>
    <p:bg>
      <p:bgPr>
        <a:solidFill>
          <a:schemeClr val="lt1"/>
        </a:solidFill>
      </p:bgPr>
    </p:bg>
    <p:spTree>
      <p:nvGrpSpPr>
        <p:cNvPr id="369" name="Shape 369"/>
        <p:cNvGrpSpPr/>
        <p:nvPr/>
      </p:nvGrpSpPr>
      <p:grpSpPr>
        <a:xfrm>
          <a:off x="0" y="0"/>
          <a:ext cx="0" cy="0"/>
          <a:chOff x="0" y="0"/>
          <a:chExt cx="0" cy="0"/>
        </a:xfrm>
      </p:grpSpPr>
      <p:sp>
        <p:nvSpPr>
          <p:cNvPr id="370" name="Shape 370"/>
          <p:cNvSpPr txBox="1"/>
          <p:nvPr>
            <p:ph idx="4294967295" type="body"/>
          </p:nvPr>
        </p:nvSpPr>
        <p:spPr>
          <a:xfrm>
            <a:off x="1258887" y="1844675"/>
            <a:ext cx="7053261" cy="4551362"/>
          </a:xfrm>
          <a:prstGeom prst="rect">
            <a:avLst/>
          </a:prstGeom>
          <a:gradFill>
            <a:gsLst>
              <a:gs pos="0">
                <a:srgbClr val="BFEFEF"/>
              </a:gs>
              <a:gs pos="50000">
                <a:srgbClr val="CCFFFF"/>
              </a:gs>
              <a:gs pos="100000">
                <a:srgbClr val="BFEFEF"/>
              </a:gs>
            </a:gsLst>
            <a:lin ang="5400000" scaled="0"/>
          </a:gradFill>
          <a:ln cap="flat" cmpd="sng" w="9525">
            <a:solidFill>
              <a:schemeClr val="dk1"/>
            </a:solidFill>
            <a:prstDash val="solid"/>
            <a:miter/>
            <a:headEnd len="med" w="med" type="none"/>
            <a:tailEnd len="med" w="med" type="none"/>
          </a:ln>
        </p:spPr>
        <p:txBody>
          <a:bodyPr anchorCtr="0" anchor="t" bIns="45700" lIns="91425" rIns="91425" tIns="45700">
            <a:noAutofit/>
          </a:bodyPr>
          <a:lstStyle/>
          <a:p>
            <a:pPr indent="-342900" lvl="0" marL="342900" marR="0" rtl="0" algn="l">
              <a:lnSpc>
                <a:spcPct val="100000"/>
              </a:lnSpc>
              <a:spcBef>
                <a:spcPts val="0"/>
              </a:spcBef>
              <a:spcAft>
                <a:spcPts val="0"/>
              </a:spcAft>
              <a:buClr>
                <a:schemeClr val="accent2"/>
              </a:buClr>
              <a:buSzPct val="25000"/>
              <a:buFont typeface="Noto Symbol"/>
              <a:buNone/>
            </a:pPr>
            <a:r>
              <a:t/>
            </a:r>
            <a:endParaRPr b="0" i="0" sz="2800" u="none" cap="none" strike="noStrike">
              <a:solidFill>
                <a:schemeClr val="lt2"/>
              </a:solidFill>
              <a:latin typeface="Arial"/>
              <a:ea typeface="Arial"/>
              <a:cs typeface="Arial"/>
              <a:sym typeface="Arial"/>
            </a:endParaRPr>
          </a:p>
          <a:p>
            <a:pPr indent="-342900" lvl="0" marL="342900" marR="0" rtl="0" algn="l">
              <a:lnSpc>
                <a:spcPct val="100000"/>
              </a:lnSpc>
              <a:spcBef>
                <a:spcPts val="640"/>
              </a:spcBef>
              <a:spcAft>
                <a:spcPts val="0"/>
              </a:spcAft>
              <a:buClr>
                <a:schemeClr val="accent2"/>
              </a:buClr>
              <a:buSzPct val="25000"/>
              <a:buFont typeface="Noto Symbol"/>
              <a:buNone/>
            </a:pPr>
            <a:r>
              <a:rPr b="0" i="0" lang="en-US" sz="3200" u="none" cap="none" strike="noStrike">
                <a:solidFill>
                  <a:schemeClr val="lt2"/>
                </a:solidFill>
                <a:latin typeface="Arial"/>
                <a:ea typeface="Arial"/>
                <a:cs typeface="Arial"/>
                <a:sym typeface="Arial"/>
              </a:rPr>
              <a:t>El comercio beneficia a todos los individuos de una sociedad porque permite a cada persona especializarse en las actividades en las cuales cada uno posee ventajas comparativas</a:t>
            </a:r>
          </a:p>
        </p:txBody>
      </p:sp>
    </p:spTree>
  </p:cSld>
  <p:clrMapOvr>
    <a:masterClrMapping/>
  </p:clrMapOvr>
  <p:transition spd="slow">
    <p:cut/>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Recommending A Strategy">
  <a:themeElements>
    <a:clrScheme name="Recommending A Strategy 1">
      <a:dk1>
        <a:srgbClr val="000000"/>
      </a:dk1>
      <a:lt1>
        <a:srgbClr val="FFFFFF"/>
      </a:lt1>
      <a:dk2>
        <a:srgbClr val="009900"/>
      </a:dk2>
      <a:lt2>
        <a:srgbClr val="CC0000"/>
      </a:lt2>
      <a:accent1>
        <a:srgbClr val="CCCC00"/>
      </a:accent1>
      <a:accent2>
        <a:srgbClr val="3333CC"/>
      </a:accent2>
      <a:accent3>
        <a:srgbClr val="FFFFFF"/>
      </a:accent3>
      <a:accent4>
        <a:srgbClr val="CCCC00"/>
      </a:accent4>
      <a:accent5>
        <a:srgbClr val="3333CC"/>
      </a:accent5>
      <a:accent6>
        <a:srgbClr val="FFFFFF"/>
      </a:accent6>
      <a:hlink>
        <a:srgbClr val="000000"/>
      </a:hlink>
      <a:folHlink>
        <a:srgbClr val="808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