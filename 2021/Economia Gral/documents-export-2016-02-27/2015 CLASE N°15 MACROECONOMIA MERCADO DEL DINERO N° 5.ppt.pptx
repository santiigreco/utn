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9144000"/>
  <p:notesSz cx="6858000" cy="9144000"/>
  <p:embeddedFontLst>
    <p:embeddedFont>
      <p:font typeface="Arial Black"/>
      <p:regular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tableStyles.xml><?xml version="1.0" encoding="utf-8"?>
<a:tblStyleLst xmlns:a="http://schemas.openxmlformats.org/drawingml/2006/main" xmlns:r="http://schemas.openxmlformats.org/officeDocument/2006/relationships" def="{4D563085-A933-4687-BFC1-165E53BC5F1F}">
  <a:tblStyle styleId="{4D563085-A933-4687-BFC1-165E53BC5F1F}" styleName="Table_0"/>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ArialBlack-regular.fnt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rgbClr val="000000"/>
        </a:solidFill>
      </p:bgPr>
    </p:bg>
    <p:spTree>
      <p:nvGrpSpPr>
        <p:cNvPr id="2" name="Shape 2"/>
        <p:cNvGrpSpPr/>
        <p:nvPr/>
      </p:nvGrpSpPr>
      <p:grpSpPr>
        <a:xfrm>
          <a:off x="0" y="0"/>
          <a:ext cx="0" cy="0"/>
          <a:chOff x="0" y="0"/>
          <a:chExt cx="0" cy="0"/>
        </a:xfrm>
      </p:grpSpPr>
      <p:sp>
        <p:nvSpPr>
          <p:cNvPr id="3" name="Shape 3"/>
          <p:cNvSpPr txBox="1"/>
          <p:nvPr>
            <p:ph idx="2" type="hdr"/>
          </p:nvPr>
        </p:nvSpPr>
        <p:spPr>
          <a:xfrm>
            <a:off x="0" y="0"/>
            <a:ext cx="29717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9pPr>
          </a:lstStyle>
          <a:p/>
        </p:txBody>
      </p:sp>
      <p:sp>
        <p:nvSpPr>
          <p:cNvPr id="4" name="Shape 4"/>
          <p:cNvSpPr txBox="1"/>
          <p:nvPr>
            <p:ph idx="10" type="dt"/>
          </p:nvPr>
        </p:nvSpPr>
        <p:spPr>
          <a:xfrm>
            <a:off x="3884612" y="0"/>
            <a:ext cx="2971799" cy="457200"/>
          </a:xfrm>
          <a:prstGeom prst="rect">
            <a:avLst/>
          </a:prstGeom>
          <a:noFill/>
          <a:ln>
            <a:noFill/>
          </a:ln>
        </p:spPr>
        <p:txBody>
          <a:bodyPr anchorCtr="0" anchor="t" bIns="91425" lIns="91425" rIns="91425" tIns="91425"/>
          <a:lstStyle>
            <a:lvl1pPr indent="0" lvl="0" marL="0" marR="0" rtl="0" algn="r">
              <a:lnSpc>
                <a:spcPct val="100000"/>
              </a:lnSpc>
              <a:spcBef>
                <a:spcPts val="0"/>
              </a:spcBef>
              <a:spcAft>
                <a:spcPts val="0"/>
              </a:spcAft>
              <a:defRPr b="0" i="0" sz="1200" u="none" cap="none" strike="noStrike">
                <a:solidFill>
                  <a:srgbClr val="000000"/>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9pPr>
          </a:lstStyle>
          <a:p/>
        </p:txBody>
      </p:sp>
      <p:sp>
        <p:nvSpPr>
          <p:cNvPr id="5" name="Shape 5"/>
          <p:cNvSpPr/>
          <p:nvPr>
            <p:ph idx="3"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a:headEnd len="med" w="med" type="none"/>
            <a:tailEnd len="med" w="med" type="none"/>
          </a:ln>
        </p:spPr>
      </p:sp>
      <p:sp>
        <p:nvSpPr>
          <p:cNvPr id="6" name="Shape 6"/>
          <p:cNvSpPr txBox="1"/>
          <p:nvPr>
            <p:ph idx="1" type="body"/>
          </p:nvPr>
        </p:nvSpPr>
        <p:spPr>
          <a:xfrm>
            <a:off x="685800" y="4343400"/>
            <a:ext cx="5486399" cy="4114800"/>
          </a:xfrm>
          <a:prstGeom prst="rect">
            <a:avLst/>
          </a:prstGeom>
          <a:noFill/>
          <a:ln>
            <a:noFill/>
          </a:ln>
        </p:spPr>
        <p:txBody>
          <a:bodyPr anchorCtr="0" anchor="ctr"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7" name="Shape 7"/>
          <p:cNvSpPr txBox="1"/>
          <p:nvPr>
            <p:ph idx="11" type="ftr"/>
          </p:nvPr>
        </p:nvSpPr>
        <p:spPr>
          <a:xfrm>
            <a:off x="0" y="8685211"/>
            <a:ext cx="2971799" cy="4572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9pPr>
          </a:lstStyle>
          <a:p/>
        </p:txBody>
      </p:sp>
      <p:sp>
        <p:nvSpPr>
          <p:cNvPr id="8" name="Shape 8"/>
          <p:cNvSpPr txBox="1"/>
          <p:nvPr>
            <p:ph idx="12" type="sldNum"/>
          </p:nvPr>
        </p:nvSpPr>
        <p:spPr>
          <a:xfrm>
            <a:off x="3884612" y="8685211"/>
            <a:ext cx="2971799" cy="457200"/>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Clr>
                <a:srgbClr val="000000"/>
              </a:buClr>
              <a:buSzPct val="250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 name="Shape 33"/>
        <p:cNvGrpSpPr/>
        <p:nvPr/>
      </p:nvGrpSpPr>
      <p:grpSpPr>
        <a:xfrm>
          <a:off x="0" y="0"/>
          <a:ext cx="0" cy="0"/>
          <a:chOff x="0" y="0"/>
          <a:chExt cx="0" cy="0"/>
        </a:xfrm>
      </p:grpSpPr>
      <p:sp>
        <p:nvSpPr>
          <p:cNvPr id="34" name="Shape 3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5" name="Shape 3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3" name="Shape 43"/>
        <p:cNvGrpSpPr/>
        <p:nvPr/>
      </p:nvGrpSpPr>
      <p:grpSpPr>
        <a:xfrm>
          <a:off x="0" y="0"/>
          <a:ext cx="0" cy="0"/>
          <a:chOff x="0" y="0"/>
          <a:chExt cx="0" cy="0"/>
        </a:xfrm>
      </p:grpSpPr>
      <p:sp>
        <p:nvSpPr>
          <p:cNvPr id="44" name="Shape 4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5" name="Shape 4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1" name="Shape 51"/>
        <p:cNvGrpSpPr/>
        <p:nvPr/>
      </p:nvGrpSpPr>
      <p:grpSpPr>
        <a:xfrm>
          <a:off x="0" y="0"/>
          <a:ext cx="0" cy="0"/>
          <a:chOff x="0" y="0"/>
          <a:chExt cx="0" cy="0"/>
        </a:xfrm>
      </p:grpSpPr>
      <p:sp>
        <p:nvSpPr>
          <p:cNvPr id="52" name="Shape 5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53" name="Shape 5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1" name="Shape 61"/>
        <p:cNvGrpSpPr/>
        <p:nvPr/>
      </p:nvGrpSpPr>
      <p:grpSpPr>
        <a:xfrm>
          <a:off x="0" y="0"/>
          <a:ext cx="0" cy="0"/>
          <a:chOff x="0" y="0"/>
          <a:chExt cx="0" cy="0"/>
        </a:xfrm>
      </p:grpSpPr>
      <p:sp>
        <p:nvSpPr>
          <p:cNvPr id="62" name="Shape 6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63" name="Shape 6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1" name="Shape 71"/>
        <p:cNvGrpSpPr/>
        <p:nvPr/>
      </p:nvGrpSpPr>
      <p:grpSpPr>
        <a:xfrm>
          <a:off x="0" y="0"/>
          <a:ext cx="0" cy="0"/>
          <a:chOff x="0" y="0"/>
          <a:chExt cx="0" cy="0"/>
        </a:xfrm>
      </p:grpSpPr>
      <p:sp>
        <p:nvSpPr>
          <p:cNvPr id="72" name="Shape 7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73" name="Shape 7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0" name="Shape 80"/>
        <p:cNvGrpSpPr/>
        <p:nvPr/>
      </p:nvGrpSpPr>
      <p:grpSpPr>
        <a:xfrm>
          <a:off x="0" y="0"/>
          <a:ext cx="0" cy="0"/>
          <a:chOff x="0" y="0"/>
          <a:chExt cx="0" cy="0"/>
        </a:xfrm>
      </p:grpSpPr>
      <p:sp>
        <p:nvSpPr>
          <p:cNvPr id="81" name="Shape 81"/>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82" name="Shape 8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9" name="Shape 89"/>
        <p:cNvGrpSpPr/>
        <p:nvPr/>
      </p:nvGrpSpPr>
      <p:grpSpPr>
        <a:xfrm>
          <a:off x="0" y="0"/>
          <a:ext cx="0" cy="0"/>
          <a:chOff x="0" y="0"/>
          <a:chExt cx="0" cy="0"/>
        </a:xfrm>
      </p:grpSpPr>
      <p:sp>
        <p:nvSpPr>
          <p:cNvPr id="90" name="Shape 9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91" name="Shape 9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8" name="Shape 98"/>
        <p:cNvGrpSpPr/>
        <p:nvPr/>
      </p:nvGrpSpPr>
      <p:grpSpPr>
        <a:xfrm>
          <a:off x="0" y="0"/>
          <a:ext cx="0" cy="0"/>
          <a:chOff x="0" y="0"/>
          <a:chExt cx="0" cy="0"/>
        </a:xfrm>
      </p:grpSpPr>
      <p:sp>
        <p:nvSpPr>
          <p:cNvPr id="99" name="Shape 9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00" name="Shape 10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4" name="Shape 114"/>
        <p:cNvGrpSpPr/>
        <p:nvPr/>
      </p:nvGrpSpPr>
      <p:grpSpPr>
        <a:xfrm>
          <a:off x="0" y="0"/>
          <a:ext cx="0" cy="0"/>
          <a:chOff x="0" y="0"/>
          <a:chExt cx="0" cy="0"/>
        </a:xfrm>
      </p:grpSpPr>
      <p:sp>
        <p:nvSpPr>
          <p:cNvPr id="115" name="Shape 115"/>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16" name="Shape 11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8" name="Shape 128"/>
        <p:cNvGrpSpPr/>
        <p:nvPr/>
      </p:nvGrpSpPr>
      <p:grpSpPr>
        <a:xfrm>
          <a:off x="0" y="0"/>
          <a:ext cx="0" cy="0"/>
          <a:chOff x="0" y="0"/>
          <a:chExt cx="0" cy="0"/>
        </a:xfrm>
      </p:grpSpPr>
      <p:sp>
        <p:nvSpPr>
          <p:cNvPr id="129" name="Shape 12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30" name="Shape 13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0" name="Shape 140"/>
        <p:cNvGrpSpPr/>
        <p:nvPr/>
      </p:nvGrpSpPr>
      <p:grpSpPr>
        <a:xfrm>
          <a:off x="0" y="0"/>
          <a:ext cx="0" cy="0"/>
          <a:chOff x="0" y="0"/>
          <a:chExt cx="0" cy="0"/>
        </a:xfrm>
      </p:grpSpPr>
      <p:sp>
        <p:nvSpPr>
          <p:cNvPr id="141" name="Shape 141"/>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42" name="Shape 14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2" name="Shape 152"/>
        <p:cNvGrpSpPr/>
        <p:nvPr/>
      </p:nvGrpSpPr>
      <p:grpSpPr>
        <a:xfrm>
          <a:off x="0" y="0"/>
          <a:ext cx="0" cy="0"/>
          <a:chOff x="0" y="0"/>
          <a:chExt cx="0" cy="0"/>
        </a:xfrm>
      </p:grpSpPr>
      <p:sp>
        <p:nvSpPr>
          <p:cNvPr id="153" name="Shape 15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54" name="Shape 15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4" name="Shape 164"/>
        <p:cNvGrpSpPr/>
        <p:nvPr/>
      </p:nvGrpSpPr>
      <p:grpSpPr>
        <a:xfrm>
          <a:off x="0" y="0"/>
          <a:ext cx="0" cy="0"/>
          <a:chOff x="0" y="0"/>
          <a:chExt cx="0" cy="0"/>
        </a:xfrm>
      </p:grpSpPr>
      <p:sp>
        <p:nvSpPr>
          <p:cNvPr id="165" name="Shape 165"/>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66" name="Shape 16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6" name="Shape 176"/>
        <p:cNvGrpSpPr/>
        <p:nvPr/>
      </p:nvGrpSpPr>
      <p:grpSpPr>
        <a:xfrm>
          <a:off x="0" y="0"/>
          <a:ext cx="0" cy="0"/>
          <a:chOff x="0" y="0"/>
          <a:chExt cx="0" cy="0"/>
        </a:xfrm>
      </p:grpSpPr>
      <p:sp>
        <p:nvSpPr>
          <p:cNvPr id="177" name="Shape 177"/>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78" name="Shape 17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1" name="Shape 191"/>
        <p:cNvGrpSpPr/>
        <p:nvPr/>
      </p:nvGrpSpPr>
      <p:grpSpPr>
        <a:xfrm>
          <a:off x="0" y="0"/>
          <a:ext cx="0" cy="0"/>
          <a:chOff x="0" y="0"/>
          <a:chExt cx="0" cy="0"/>
        </a:xfrm>
      </p:grpSpPr>
      <p:sp>
        <p:nvSpPr>
          <p:cNvPr id="192" name="Shape 19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93" name="Shape 19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5" name="Shape 205"/>
        <p:cNvGrpSpPr/>
        <p:nvPr/>
      </p:nvGrpSpPr>
      <p:grpSpPr>
        <a:xfrm>
          <a:off x="0" y="0"/>
          <a:ext cx="0" cy="0"/>
          <a:chOff x="0" y="0"/>
          <a:chExt cx="0" cy="0"/>
        </a:xfrm>
      </p:grpSpPr>
      <p:sp>
        <p:nvSpPr>
          <p:cNvPr id="206" name="Shape 206"/>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07" name="Shape 20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9" name="Shape 219"/>
        <p:cNvGrpSpPr/>
        <p:nvPr/>
      </p:nvGrpSpPr>
      <p:grpSpPr>
        <a:xfrm>
          <a:off x="0" y="0"/>
          <a:ext cx="0" cy="0"/>
          <a:chOff x="0" y="0"/>
          <a:chExt cx="0" cy="0"/>
        </a:xfrm>
      </p:grpSpPr>
      <p:sp>
        <p:nvSpPr>
          <p:cNvPr id="220" name="Shape 22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21" name="Shape 22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32" name="Shape 232"/>
        <p:cNvGrpSpPr/>
        <p:nvPr/>
      </p:nvGrpSpPr>
      <p:grpSpPr>
        <a:xfrm>
          <a:off x="0" y="0"/>
          <a:ext cx="0" cy="0"/>
          <a:chOff x="0" y="0"/>
          <a:chExt cx="0" cy="0"/>
        </a:xfrm>
      </p:grpSpPr>
      <p:sp>
        <p:nvSpPr>
          <p:cNvPr id="233" name="Shape 23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34" name="Shape 23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45" name="Shape 245"/>
        <p:cNvGrpSpPr/>
        <p:nvPr/>
      </p:nvGrpSpPr>
      <p:grpSpPr>
        <a:xfrm>
          <a:off x="0" y="0"/>
          <a:ext cx="0" cy="0"/>
          <a:chOff x="0" y="0"/>
          <a:chExt cx="0" cy="0"/>
        </a:xfrm>
      </p:grpSpPr>
      <p:sp>
        <p:nvSpPr>
          <p:cNvPr id="246" name="Shape 246"/>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47" name="Shape 24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52" name="Shape 252"/>
        <p:cNvGrpSpPr/>
        <p:nvPr/>
      </p:nvGrpSpPr>
      <p:grpSpPr>
        <a:xfrm>
          <a:off x="0" y="0"/>
          <a:ext cx="0" cy="0"/>
          <a:chOff x="0" y="0"/>
          <a:chExt cx="0" cy="0"/>
        </a:xfrm>
      </p:grpSpPr>
      <p:sp>
        <p:nvSpPr>
          <p:cNvPr id="253" name="Shape 25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54" name="Shape 25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66" name="Shape 266"/>
        <p:cNvGrpSpPr/>
        <p:nvPr/>
      </p:nvGrpSpPr>
      <p:grpSpPr>
        <a:xfrm>
          <a:off x="0" y="0"/>
          <a:ext cx="0" cy="0"/>
          <a:chOff x="0" y="0"/>
          <a:chExt cx="0" cy="0"/>
        </a:xfrm>
      </p:grpSpPr>
      <p:sp>
        <p:nvSpPr>
          <p:cNvPr id="267" name="Shape 267"/>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68" name="Shape 26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78" name="Shape 278"/>
        <p:cNvGrpSpPr/>
        <p:nvPr/>
      </p:nvGrpSpPr>
      <p:grpSpPr>
        <a:xfrm>
          <a:off x="0" y="0"/>
          <a:ext cx="0" cy="0"/>
          <a:chOff x="0" y="0"/>
          <a:chExt cx="0" cy="0"/>
        </a:xfrm>
      </p:grpSpPr>
      <p:sp>
        <p:nvSpPr>
          <p:cNvPr id="279" name="Shape 27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80" name="Shape 28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85" name="Shape 285"/>
        <p:cNvGrpSpPr/>
        <p:nvPr/>
      </p:nvGrpSpPr>
      <p:grpSpPr>
        <a:xfrm>
          <a:off x="0" y="0"/>
          <a:ext cx="0" cy="0"/>
          <a:chOff x="0" y="0"/>
          <a:chExt cx="0" cy="0"/>
        </a:xfrm>
      </p:grpSpPr>
      <p:sp>
        <p:nvSpPr>
          <p:cNvPr id="286" name="Shape 286"/>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87" name="Shape 28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2" name="Shape 292"/>
        <p:cNvGrpSpPr/>
        <p:nvPr/>
      </p:nvGrpSpPr>
      <p:grpSpPr>
        <a:xfrm>
          <a:off x="0" y="0"/>
          <a:ext cx="0" cy="0"/>
          <a:chOff x="0" y="0"/>
          <a:chExt cx="0" cy="0"/>
        </a:xfrm>
      </p:grpSpPr>
      <p:sp>
        <p:nvSpPr>
          <p:cNvPr id="293" name="Shape 29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94" name="Shape 29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04" name="Shape 304"/>
        <p:cNvGrpSpPr/>
        <p:nvPr/>
      </p:nvGrpSpPr>
      <p:grpSpPr>
        <a:xfrm>
          <a:off x="0" y="0"/>
          <a:ext cx="0" cy="0"/>
          <a:chOff x="0" y="0"/>
          <a:chExt cx="0" cy="0"/>
        </a:xfrm>
      </p:grpSpPr>
      <p:sp>
        <p:nvSpPr>
          <p:cNvPr id="305" name="Shape 305"/>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06" name="Shape 30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21" name="Shape 321"/>
        <p:cNvGrpSpPr/>
        <p:nvPr/>
      </p:nvGrpSpPr>
      <p:grpSpPr>
        <a:xfrm>
          <a:off x="0" y="0"/>
          <a:ext cx="0" cy="0"/>
          <a:chOff x="0" y="0"/>
          <a:chExt cx="0" cy="0"/>
        </a:xfrm>
      </p:grpSpPr>
      <p:sp>
        <p:nvSpPr>
          <p:cNvPr id="322" name="Shape 32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23" name="Shape 32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4" name="Shape 334"/>
        <p:cNvGrpSpPr/>
        <p:nvPr/>
      </p:nvGrpSpPr>
      <p:grpSpPr>
        <a:xfrm>
          <a:off x="0" y="0"/>
          <a:ext cx="0" cy="0"/>
          <a:chOff x="0" y="0"/>
          <a:chExt cx="0" cy="0"/>
        </a:xfrm>
      </p:grpSpPr>
      <p:sp>
        <p:nvSpPr>
          <p:cNvPr id="335" name="Shape 335"/>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36" name="Shape 33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42" name="Shape 342"/>
        <p:cNvGrpSpPr/>
        <p:nvPr/>
      </p:nvGrpSpPr>
      <p:grpSpPr>
        <a:xfrm>
          <a:off x="0" y="0"/>
          <a:ext cx="0" cy="0"/>
          <a:chOff x="0" y="0"/>
          <a:chExt cx="0" cy="0"/>
        </a:xfrm>
      </p:grpSpPr>
      <p:sp>
        <p:nvSpPr>
          <p:cNvPr id="343" name="Shape 34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44" name="Shape 34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53" name="Shape 353"/>
        <p:cNvGrpSpPr/>
        <p:nvPr/>
      </p:nvGrpSpPr>
      <p:grpSpPr>
        <a:xfrm>
          <a:off x="0" y="0"/>
          <a:ext cx="0" cy="0"/>
          <a:chOff x="0" y="0"/>
          <a:chExt cx="0" cy="0"/>
        </a:xfrm>
      </p:grpSpPr>
      <p:sp>
        <p:nvSpPr>
          <p:cNvPr id="354" name="Shape 35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55" name="Shape 35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66" name="Shape 366"/>
        <p:cNvGrpSpPr/>
        <p:nvPr/>
      </p:nvGrpSpPr>
      <p:grpSpPr>
        <a:xfrm>
          <a:off x="0" y="0"/>
          <a:ext cx="0" cy="0"/>
          <a:chOff x="0" y="0"/>
          <a:chExt cx="0" cy="0"/>
        </a:xfrm>
      </p:grpSpPr>
      <p:sp>
        <p:nvSpPr>
          <p:cNvPr id="367" name="Shape 367"/>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68" name="Shape 36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76" name="Shape 376"/>
        <p:cNvGrpSpPr/>
        <p:nvPr/>
      </p:nvGrpSpPr>
      <p:grpSpPr>
        <a:xfrm>
          <a:off x="0" y="0"/>
          <a:ext cx="0" cy="0"/>
          <a:chOff x="0" y="0"/>
          <a:chExt cx="0" cy="0"/>
        </a:xfrm>
      </p:grpSpPr>
      <p:sp>
        <p:nvSpPr>
          <p:cNvPr id="377" name="Shape 377"/>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78" name="Shape 37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88" name="Shape 388"/>
        <p:cNvGrpSpPr/>
        <p:nvPr/>
      </p:nvGrpSpPr>
      <p:grpSpPr>
        <a:xfrm>
          <a:off x="0" y="0"/>
          <a:ext cx="0" cy="0"/>
          <a:chOff x="0" y="0"/>
          <a:chExt cx="0" cy="0"/>
        </a:xfrm>
      </p:grpSpPr>
      <p:sp>
        <p:nvSpPr>
          <p:cNvPr id="389" name="Shape 38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90" name="Shape 39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95" name="Shape 395"/>
        <p:cNvGrpSpPr/>
        <p:nvPr/>
      </p:nvGrpSpPr>
      <p:grpSpPr>
        <a:xfrm>
          <a:off x="0" y="0"/>
          <a:ext cx="0" cy="0"/>
          <a:chOff x="0" y="0"/>
          <a:chExt cx="0" cy="0"/>
        </a:xfrm>
      </p:grpSpPr>
      <p:sp>
        <p:nvSpPr>
          <p:cNvPr id="396" name="Shape 396"/>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97" name="Shape 39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02" name="Shape 402"/>
        <p:cNvGrpSpPr/>
        <p:nvPr/>
      </p:nvGrpSpPr>
      <p:grpSpPr>
        <a:xfrm>
          <a:off x="0" y="0"/>
          <a:ext cx="0" cy="0"/>
          <a:chOff x="0" y="0"/>
          <a:chExt cx="0" cy="0"/>
        </a:xfrm>
      </p:grpSpPr>
      <p:sp>
        <p:nvSpPr>
          <p:cNvPr id="403" name="Shape 40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04" name="Shape 40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09" name="Shape 409"/>
        <p:cNvGrpSpPr/>
        <p:nvPr/>
      </p:nvGrpSpPr>
      <p:grpSpPr>
        <a:xfrm>
          <a:off x="0" y="0"/>
          <a:ext cx="0" cy="0"/>
          <a:chOff x="0" y="0"/>
          <a:chExt cx="0" cy="0"/>
        </a:xfrm>
      </p:grpSpPr>
      <p:sp>
        <p:nvSpPr>
          <p:cNvPr id="410" name="Shape 41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11" name="Shape 41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16" name="Shape 416"/>
        <p:cNvGrpSpPr/>
        <p:nvPr/>
      </p:nvGrpSpPr>
      <p:grpSpPr>
        <a:xfrm>
          <a:off x="0" y="0"/>
          <a:ext cx="0" cy="0"/>
          <a:chOff x="0" y="0"/>
          <a:chExt cx="0" cy="0"/>
        </a:xfrm>
      </p:grpSpPr>
      <p:sp>
        <p:nvSpPr>
          <p:cNvPr id="417" name="Shape 417"/>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18" name="Shape 41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25" name="Shape 25"/>
        <p:cNvGrpSpPr/>
        <p:nvPr/>
      </p:nvGrpSpPr>
      <p:grpSpPr>
        <a:xfrm>
          <a:off x="0" y="0"/>
          <a:ext cx="0" cy="0"/>
          <a:chOff x="0" y="0"/>
          <a:chExt cx="0" cy="0"/>
        </a:xfrm>
      </p:grpSpPr>
      <p:sp>
        <p:nvSpPr>
          <p:cNvPr id="26" name="Shape 26"/>
          <p:cNvSpPr txBox="1"/>
          <p:nvPr>
            <p:ph idx="10" type="dt"/>
          </p:nvPr>
        </p:nvSpPr>
        <p:spPr>
          <a:xfrm>
            <a:off x="457200" y="6245225"/>
            <a:ext cx="2133599" cy="47624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b="0" i="0" sz="1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27" name="Shape 27"/>
          <p:cNvSpPr txBox="1"/>
          <p:nvPr>
            <p:ph idx="11" type="ftr"/>
          </p:nvPr>
        </p:nvSpPr>
        <p:spPr>
          <a:xfrm>
            <a:off x="3124200" y="6248400"/>
            <a:ext cx="2895600" cy="45720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defRPr b="0" i="0" sz="1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28" name="Shape 28"/>
          <p:cNvSpPr txBox="1"/>
          <p:nvPr>
            <p:ph idx="12" type="sldNum"/>
          </p:nvPr>
        </p:nvSpPr>
        <p:spPr>
          <a:xfrm>
            <a:off x="6553200" y="6248400"/>
            <a:ext cx="2133599" cy="457200"/>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chemeClr val="dk1"/>
                </a:solidFill>
                <a:latin typeface="Arial Black"/>
                <a:ea typeface="Arial Black"/>
                <a:cs typeface="Arial Black"/>
                <a:sym typeface="Arial Black"/>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text on left, text on right">
    <p:spTree>
      <p:nvGrpSpPr>
        <p:cNvPr id="29" name="Shape 29"/>
        <p:cNvGrpSpPr/>
        <p:nvPr/>
      </p:nvGrpSpPr>
      <p:grpSpPr>
        <a:xfrm>
          <a:off x="0" y="0"/>
          <a:ext cx="0" cy="0"/>
          <a:chOff x="0" y="0"/>
          <a:chExt cx="0" cy="0"/>
        </a:xfrm>
      </p:grpSpPr>
      <p:sp>
        <p:nvSpPr>
          <p:cNvPr id="30" name="Shape 30"/>
          <p:cNvSpPr txBox="1"/>
          <p:nvPr>
            <p:ph idx="10" type="dt"/>
          </p:nvPr>
        </p:nvSpPr>
        <p:spPr>
          <a:xfrm>
            <a:off x="457200" y="6245225"/>
            <a:ext cx="2133599" cy="47624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b="0" i="0" sz="1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31" name="Shape 31"/>
          <p:cNvSpPr txBox="1"/>
          <p:nvPr>
            <p:ph idx="11" type="ftr"/>
          </p:nvPr>
        </p:nvSpPr>
        <p:spPr>
          <a:xfrm>
            <a:off x="3124200" y="6248400"/>
            <a:ext cx="2895600" cy="45720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defRPr b="0" i="0" sz="1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32" name="Shape 32"/>
          <p:cNvSpPr txBox="1"/>
          <p:nvPr>
            <p:ph idx="12" type="sldNum"/>
          </p:nvPr>
        </p:nvSpPr>
        <p:spPr>
          <a:xfrm>
            <a:off x="6553200" y="6248400"/>
            <a:ext cx="2133599" cy="457200"/>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chemeClr val="dk1"/>
                </a:solidFill>
                <a:latin typeface="Arial Black"/>
                <a:ea typeface="Arial Black"/>
                <a:cs typeface="Arial Black"/>
                <a:sym typeface="Arial Black"/>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 name="Shape 9"/>
        <p:cNvGrpSpPr/>
        <p:nvPr/>
      </p:nvGrpSpPr>
      <p:grpSpPr>
        <a:xfrm>
          <a:off x="0" y="0"/>
          <a:ext cx="0" cy="0"/>
          <a:chOff x="0" y="0"/>
          <a:chExt cx="0" cy="0"/>
        </a:xfrm>
      </p:grpSpPr>
      <p:sp>
        <p:nvSpPr>
          <p:cNvPr id="10" name="Shape 10"/>
          <p:cNvSpPr txBox="1"/>
          <p:nvPr>
            <p:ph idx="11" type="ftr"/>
          </p:nvPr>
        </p:nvSpPr>
        <p:spPr>
          <a:xfrm>
            <a:off x="3124200" y="6248400"/>
            <a:ext cx="2895600" cy="45720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defRPr b="0" i="0" sz="1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11" name="Shape 11"/>
          <p:cNvSpPr txBox="1"/>
          <p:nvPr>
            <p:ph idx="12" type="sldNum"/>
          </p:nvPr>
        </p:nvSpPr>
        <p:spPr>
          <a:xfrm>
            <a:off x="6553200" y="6248400"/>
            <a:ext cx="2133599" cy="457200"/>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Clr>
                <a:schemeClr val="dk1"/>
              </a:buClr>
              <a:buSzPct val="25000"/>
              <a:buFont typeface="Arial Black"/>
              <a:buNone/>
            </a:pPr>
            <a:fld id="{00000000-1234-1234-1234-123412341234}" type="slidenum">
              <a:rPr b="0" i="0" lang="en-US" sz="1200" u="none" cap="none" strike="noStrike">
                <a:solidFill>
                  <a:schemeClr val="dk1"/>
                </a:solidFill>
                <a:latin typeface="Arial Black"/>
                <a:ea typeface="Arial Black"/>
                <a:cs typeface="Arial Black"/>
                <a:sym typeface="Arial Black"/>
              </a:rPr>
              <a:t>‹#›</a:t>
            </a:fld>
          </a:p>
        </p:txBody>
      </p:sp>
      <p:grpSp>
        <p:nvGrpSpPr>
          <p:cNvPr id="12" name="Shape 12"/>
          <p:cNvGrpSpPr/>
          <p:nvPr/>
        </p:nvGrpSpPr>
        <p:grpSpPr>
          <a:xfrm>
            <a:off x="0" y="0"/>
            <a:ext cx="9143999" cy="546099"/>
            <a:chOff x="0" y="0"/>
            <a:chExt cx="9143999" cy="546099"/>
          </a:xfrm>
        </p:grpSpPr>
        <p:sp>
          <p:nvSpPr>
            <p:cNvPr id="13" name="Shape 13"/>
            <p:cNvSpPr txBox="1"/>
            <p:nvPr/>
          </p:nvSpPr>
          <p:spPr>
            <a:xfrm>
              <a:off x="0" y="0"/>
              <a:ext cx="285750" cy="533399"/>
            </a:xfrm>
            <a:prstGeom prst="rect">
              <a:avLst/>
            </a:prstGeom>
            <a:gradFill>
              <a:gsLst>
                <a:gs pos="0">
                  <a:schemeClr val="lt1"/>
                </a:gs>
                <a:gs pos="100000">
                  <a:schemeClr val="folHlink"/>
                </a:gs>
              </a:gsLst>
              <a:lin ang="10800000" scaled="0"/>
            </a:gra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 name="Shape 14"/>
            <p:cNvSpPr txBox="1"/>
            <p:nvPr/>
          </p:nvSpPr>
          <p:spPr>
            <a:xfrm>
              <a:off x="412750" y="134936"/>
              <a:ext cx="8731249" cy="274636"/>
            </a:xfrm>
            <a:prstGeom prst="rect">
              <a:avLst/>
            </a:prstGeom>
            <a:gradFill>
              <a:gsLst>
                <a:gs pos="0">
                  <a:schemeClr val="lt1"/>
                </a:gs>
                <a:gs pos="100000">
                  <a:schemeClr val="lt2"/>
                </a:gs>
              </a:gsLst>
              <a:lin ang="10800000" scaled="0"/>
            </a:gra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 name="Shape 15"/>
            <p:cNvSpPr txBox="1"/>
            <p:nvPr/>
          </p:nvSpPr>
          <p:spPr>
            <a:xfrm>
              <a:off x="409575" y="134936"/>
              <a:ext cx="138112" cy="141287"/>
            </a:xfrm>
            <a:prstGeom prst="rect">
              <a:avLst/>
            </a:prstGeom>
            <a:solidFill>
              <a:schemeClr val="folHlink"/>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 name="Shape 16"/>
            <p:cNvSpPr txBox="1"/>
            <p:nvPr/>
          </p:nvSpPr>
          <p:spPr>
            <a:xfrm>
              <a:off x="547687" y="0"/>
              <a:ext cx="139699" cy="138112"/>
            </a:xfrm>
            <a:prstGeom prst="rect">
              <a:avLst/>
            </a:prstGeom>
            <a:solidFill>
              <a:schemeClr val="folHlink"/>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 name="Shape 17"/>
            <p:cNvSpPr txBox="1"/>
            <p:nvPr/>
          </p:nvSpPr>
          <p:spPr>
            <a:xfrm>
              <a:off x="547687" y="134936"/>
              <a:ext cx="139699" cy="141287"/>
            </a:xfrm>
            <a:prstGeom prst="rect">
              <a:avLst/>
            </a:prstGeom>
            <a:solidFill>
              <a:schemeClr val="accent2"/>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 name="Shape 18"/>
            <p:cNvSpPr txBox="1"/>
            <p:nvPr/>
          </p:nvSpPr>
          <p:spPr>
            <a:xfrm>
              <a:off x="274637" y="274637"/>
              <a:ext cx="136524" cy="138112"/>
            </a:xfrm>
            <a:prstGeom prst="rect">
              <a:avLst/>
            </a:prstGeom>
            <a:solidFill>
              <a:schemeClr val="folHlink"/>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 name="Shape 19"/>
            <p:cNvSpPr txBox="1"/>
            <p:nvPr/>
          </p:nvSpPr>
          <p:spPr>
            <a:xfrm>
              <a:off x="131761" y="136525"/>
              <a:ext cx="141287" cy="138112"/>
            </a:xfrm>
            <a:prstGeom prst="rect">
              <a:avLst/>
            </a:prstGeom>
            <a:solidFill>
              <a:schemeClr val="lt2"/>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 name="Shape 20"/>
            <p:cNvSpPr txBox="1"/>
            <p:nvPr/>
          </p:nvSpPr>
          <p:spPr>
            <a:xfrm>
              <a:off x="409575" y="271462"/>
              <a:ext cx="138112" cy="138112"/>
            </a:xfrm>
            <a:prstGeom prst="rect">
              <a:avLst/>
            </a:prstGeom>
            <a:solidFill>
              <a:schemeClr val="accent2"/>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 name="Shape 21"/>
            <p:cNvSpPr txBox="1"/>
            <p:nvPr/>
          </p:nvSpPr>
          <p:spPr>
            <a:xfrm>
              <a:off x="274637" y="409575"/>
              <a:ext cx="136524" cy="136524"/>
            </a:xfrm>
            <a:prstGeom prst="rect">
              <a:avLst/>
            </a:prstGeom>
            <a:solidFill>
              <a:schemeClr val="accent2"/>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 name="Shape 22"/>
          <p:cNvSpPr txBox="1"/>
          <p:nvPr>
            <p:ph type="title"/>
          </p:nvPr>
        </p:nvSpPr>
        <p:spPr>
          <a:xfrm>
            <a:off x="457200" y="457200"/>
            <a:ext cx="8229600" cy="1371599"/>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44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defRPr b="0" i="0" sz="44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defRPr b="0" i="0" sz="44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defRPr b="0" i="0" sz="44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defRPr b="0" i="0" sz="44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defRPr b="0" i="0" sz="44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defRPr b="0" i="0" sz="44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defRPr b="0" i="0" sz="44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defRPr b="0" i="0" sz="4400" u="none" cap="none" strike="noStrike">
                <a:solidFill>
                  <a:schemeClr val="dk1"/>
                </a:solidFill>
                <a:latin typeface="Arial"/>
                <a:ea typeface="Arial"/>
                <a:cs typeface="Arial"/>
                <a:sym typeface="Arial"/>
              </a:defRPr>
            </a:lvl9pPr>
          </a:lstStyle>
          <a:p/>
        </p:txBody>
      </p:sp>
      <p:sp>
        <p:nvSpPr>
          <p:cNvPr id="23" name="Shape 23"/>
          <p:cNvSpPr txBox="1"/>
          <p:nvPr>
            <p:ph idx="1" type="body"/>
          </p:nvPr>
        </p:nvSpPr>
        <p:spPr>
          <a:xfrm>
            <a:off x="457200" y="1981200"/>
            <a:ext cx="8229600" cy="3886200"/>
          </a:xfrm>
          <a:prstGeom prst="rect">
            <a:avLst/>
          </a:prstGeom>
          <a:noFill/>
          <a:ln>
            <a:noFill/>
          </a:ln>
        </p:spPr>
        <p:txBody>
          <a:bodyPr anchorCtr="0" anchor="t" bIns="91425" lIns="91425" rIns="91425" tIns="91425"/>
          <a:lstStyle>
            <a:lvl1pPr indent="-190500" lvl="0" marL="342900" marR="0" rtl="0" algn="l">
              <a:lnSpc>
                <a:spcPct val="100000"/>
              </a:lnSpc>
              <a:spcBef>
                <a:spcPts val="640"/>
              </a:spcBef>
              <a:spcAft>
                <a:spcPts val="0"/>
              </a:spcAft>
              <a:buClr>
                <a:schemeClr val="lt2"/>
              </a:buClr>
              <a:buFont typeface="Noto Sans Symbols"/>
              <a:buChar char="■"/>
              <a:defRPr b="0" i="0" sz="3200" u="none" cap="none" strike="noStrike">
                <a:solidFill>
                  <a:schemeClr val="dk1"/>
                </a:solidFill>
                <a:latin typeface="Arial"/>
                <a:ea typeface="Arial"/>
                <a:cs typeface="Arial"/>
                <a:sym typeface="Arial"/>
              </a:defRPr>
            </a:lvl1pPr>
            <a:lvl2pPr indent="-143509" lvl="1" marL="742950" marR="0" rtl="0" algn="l">
              <a:lnSpc>
                <a:spcPct val="100000"/>
              </a:lnSpc>
              <a:spcBef>
                <a:spcPts val="560"/>
              </a:spcBef>
              <a:spcAft>
                <a:spcPts val="0"/>
              </a:spcAft>
              <a:buClr>
                <a:schemeClr val="accent2"/>
              </a:buClr>
              <a:buFont typeface="Noto Sans Symbols"/>
              <a:buChar char="◻"/>
              <a:defRPr b="0" i="0" sz="2800" u="none" cap="none" strike="noStrike">
                <a:solidFill>
                  <a:schemeClr val="dk1"/>
                </a:solidFill>
                <a:latin typeface="Arial"/>
                <a:ea typeface="Arial"/>
                <a:cs typeface="Arial"/>
                <a:sym typeface="Arial"/>
              </a:defRPr>
            </a:lvl2pPr>
            <a:lvl3pPr indent="-129539" lvl="2" marL="1143000" marR="0" rtl="0" algn="l">
              <a:lnSpc>
                <a:spcPct val="100000"/>
              </a:lnSpc>
              <a:spcBef>
                <a:spcPts val="480"/>
              </a:spcBef>
              <a:spcAft>
                <a:spcPts val="0"/>
              </a:spcAft>
              <a:buClr>
                <a:schemeClr val="lt2"/>
              </a:buClr>
              <a:buFont typeface="Noto Sans Symbols"/>
              <a:buChar char="■"/>
              <a:defRPr b="0" i="0" sz="2400" u="none" cap="none" strike="noStrike">
                <a:solidFill>
                  <a:schemeClr val="dk1"/>
                </a:solidFill>
                <a:latin typeface="Arial"/>
                <a:ea typeface="Arial"/>
                <a:cs typeface="Arial"/>
                <a:sym typeface="Arial"/>
              </a:defRPr>
            </a:lvl3pPr>
            <a:lvl4pPr indent="-139700" lvl="3" marL="1600200" marR="0" rtl="0" algn="l">
              <a:lnSpc>
                <a:spcPct val="100000"/>
              </a:lnSpc>
              <a:spcBef>
                <a:spcPts val="400"/>
              </a:spcBef>
              <a:spcAft>
                <a:spcPts val="0"/>
              </a:spcAft>
              <a:buClr>
                <a:schemeClr val="accent2"/>
              </a:buClr>
              <a:buFont typeface="Noto Sans Symbols"/>
              <a:buChar char="◻"/>
              <a:defRPr b="0" i="0" sz="2000" u="none" cap="none" strike="noStrike">
                <a:solidFill>
                  <a:schemeClr val="dk1"/>
                </a:solidFill>
                <a:latin typeface="Arial"/>
                <a:ea typeface="Arial"/>
                <a:cs typeface="Arial"/>
                <a:sym typeface="Arial"/>
              </a:defRPr>
            </a:lvl4pPr>
            <a:lvl5pPr indent="-101600" lvl="4" marL="2057400" marR="0" rtl="0" algn="l">
              <a:lnSpc>
                <a:spcPct val="100000"/>
              </a:lnSpc>
              <a:spcBef>
                <a:spcPts val="400"/>
              </a:spcBef>
              <a:spcAft>
                <a:spcPts val="0"/>
              </a:spcAft>
              <a:buClr>
                <a:schemeClr val="lt2"/>
              </a:buClr>
              <a:buFont typeface="Noto Sans Symbols"/>
              <a:buChar char="▪"/>
              <a:defRPr b="0" i="0" sz="2000" u="none" cap="none" strike="noStrike">
                <a:solidFill>
                  <a:schemeClr val="dk1"/>
                </a:solidFill>
                <a:latin typeface="Arial"/>
                <a:ea typeface="Arial"/>
                <a:cs typeface="Arial"/>
                <a:sym typeface="Arial"/>
              </a:defRPr>
            </a:lvl5pPr>
            <a:lvl6pPr indent="-101600" lvl="5" marL="2514600" marR="0" rtl="0" algn="l">
              <a:lnSpc>
                <a:spcPct val="100000"/>
              </a:lnSpc>
              <a:spcBef>
                <a:spcPts val="400"/>
              </a:spcBef>
              <a:spcAft>
                <a:spcPts val="0"/>
              </a:spcAft>
              <a:buClr>
                <a:schemeClr val="lt2"/>
              </a:buClr>
              <a:buFont typeface="Noto Sans Symbols"/>
              <a:buChar char="▪"/>
              <a:defRPr b="0" i="0" sz="2000" u="none" cap="none" strike="noStrike">
                <a:solidFill>
                  <a:schemeClr val="dk1"/>
                </a:solidFill>
                <a:latin typeface="Arial"/>
                <a:ea typeface="Arial"/>
                <a:cs typeface="Arial"/>
                <a:sym typeface="Arial"/>
              </a:defRPr>
            </a:lvl6pPr>
            <a:lvl7pPr indent="-101600" lvl="6" marL="3429000" marR="0" rtl="0" algn="l">
              <a:lnSpc>
                <a:spcPct val="100000"/>
              </a:lnSpc>
              <a:spcBef>
                <a:spcPts val="400"/>
              </a:spcBef>
              <a:spcAft>
                <a:spcPts val="0"/>
              </a:spcAft>
              <a:buClr>
                <a:schemeClr val="lt2"/>
              </a:buClr>
              <a:buFont typeface="Noto Sans Symbols"/>
              <a:buChar char="▪"/>
              <a:defRPr b="0" i="0" sz="2000" u="none" cap="none" strike="noStrike">
                <a:solidFill>
                  <a:schemeClr val="dk1"/>
                </a:solidFill>
                <a:latin typeface="Arial"/>
                <a:ea typeface="Arial"/>
                <a:cs typeface="Arial"/>
                <a:sym typeface="Arial"/>
              </a:defRPr>
            </a:lvl7pPr>
            <a:lvl8pPr indent="-101600" lvl="7" marL="4800600" marR="0" rtl="0" algn="l">
              <a:lnSpc>
                <a:spcPct val="100000"/>
              </a:lnSpc>
              <a:spcBef>
                <a:spcPts val="400"/>
              </a:spcBef>
              <a:spcAft>
                <a:spcPts val="0"/>
              </a:spcAft>
              <a:buClr>
                <a:schemeClr val="lt2"/>
              </a:buClr>
              <a:buFont typeface="Noto Sans Symbols"/>
              <a:buChar char="▪"/>
              <a:defRPr b="0" i="0" sz="2000" u="none" cap="none" strike="noStrike">
                <a:solidFill>
                  <a:schemeClr val="dk1"/>
                </a:solidFill>
                <a:latin typeface="Arial"/>
                <a:ea typeface="Arial"/>
                <a:cs typeface="Arial"/>
                <a:sym typeface="Arial"/>
              </a:defRPr>
            </a:lvl8pPr>
            <a:lvl9pPr indent="-101600" lvl="8" marL="6629400" marR="0" rtl="0" algn="l">
              <a:lnSpc>
                <a:spcPct val="100000"/>
              </a:lnSpc>
              <a:spcBef>
                <a:spcPts val="400"/>
              </a:spcBef>
              <a:spcAft>
                <a:spcPts val="0"/>
              </a:spcAft>
              <a:buClr>
                <a:schemeClr val="lt2"/>
              </a:buClr>
              <a:buFont typeface="Noto Sans Symbols"/>
              <a:buChar char="▪"/>
              <a:defRPr b="0" i="0" sz="2000" u="none" cap="none" strike="noStrike">
                <a:solidFill>
                  <a:schemeClr val="dk1"/>
                </a:solidFill>
                <a:latin typeface="Arial"/>
                <a:ea typeface="Arial"/>
                <a:cs typeface="Arial"/>
                <a:sym typeface="Arial"/>
              </a:defRPr>
            </a:lvl9pPr>
          </a:lstStyle>
          <a:p/>
        </p:txBody>
      </p:sp>
      <p:sp>
        <p:nvSpPr>
          <p:cNvPr id="24" name="Shape 24"/>
          <p:cNvSpPr txBox="1"/>
          <p:nvPr>
            <p:ph idx="10" type="dt"/>
          </p:nvPr>
        </p:nvSpPr>
        <p:spPr>
          <a:xfrm>
            <a:off x="457200" y="6245225"/>
            <a:ext cx="2133599" cy="47624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b="0" i="0" sz="12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0.png"/><Relationship Id="rId4" Type="http://schemas.openxmlformats.org/officeDocument/2006/relationships/image" Target="../media/image01.png"/><Relationship Id="rId5" Type="http://schemas.openxmlformats.org/officeDocument/2006/relationships/image" Target="../media/image02.jpg"/><Relationship Id="rId6" Type="http://schemas.openxmlformats.org/officeDocument/2006/relationships/image" Target="../media/image0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00.png"/><Relationship Id="rId4" Type="http://schemas.openxmlformats.org/officeDocument/2006/relationships/image" Target="../media/image0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00.png"/><Relationship Id="rId4" Type="http://schemas.openxmlformats.org/officeDocument/2006/relationships/image" Target="../media/image0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00.png"/><Relationship Id="rId4" Type="http://schemas.openxmlformats.org/officeDocument/2006/relationships/image" Target="../media/image0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00.png"/><Relationship Id="rId4" Type="http://schemas.openxmlformats.org/officeDocument/2006/relationships/image" Target="../media/image0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00.png"/><Relationship Id="rId4" Type="http://schemas.openxmlformats.org/officeDocument/2006/relationships/image" Target="../media/image0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00.png"/><Relationship Id="rId4" Type="http://schemas.openxmlformats.org/officeDocument/2006/relationships/image" Target="../media/image0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00.png"/><Relationship Id="rId4" Type="http://schemas.openxmlformats.org/officeDocument/2006/relationships/image" Target="../media/image04.png"/><Relationship Id="rId10" Type="http://schemas.openxmlformats.org/officeDocument/2006/relationships/image" Target="../media/image05.png"/><Relationship Id="rId9" Type="http://schemas.openxmlformats.org/officeDocument/2006/relationships/image" Target="../media/image09.jpg"/><Relationship Id="rId5" Type="http://schemas.openxmlformats.org/officeDocument/2006/relationships/image" Target="../media/image01.png"/><Relationship Id="rId6" Type="http://schemas.openxmlformats.org/officeDocument/2006/relationships/image" Target="../media/image14.jpg"/><Relationship Id="rId7" Type="http://schemas.openxmlformats.org/officeDocument/2006/relationships/image" Target="../media/image11.jpg"/><Relationship Id="rId8"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06.jpg"/><Relationship Id="rId7" Type="http://schemas.openxmlformats.org/officeDocument/2006/relationships/image" Target="../media/image10.jpg"/><Relationship Id="rId8" Type="http://schemas.openxmlformats.org/officeDocument/2006/relationships/image" Target="../media/image0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0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00.png"/><Relationship Id="rId4" Type="http://schemas.openxmlformats.org/officeDocument/2006/relationships/image" Target="../media/image04.png"/><Relationship Id="rId9" Type="http://schemas.openxmlformats.org/officeDocument/2006/relationships/image" Target="../media/image20.png"/><Relationship Id="rId5" Type="http://schemas.openxmlformats.org/officeDocument/2006/relationships/image" Target="../media/image01.png"/><Relationship Id="rId6" Type="http://schemas.openxmlformats.org/officeDocument/2006/relationships/image" Target="../media/image13.jpg"/><Relationship Id="rId7" Type="http://schemas.openxmlformats.org/officeDocument/2006/relationships/image" Target="../media/image24.png"/><Relationship Id="rId8"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2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0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04.png"/><Relationship Id="rId4" Type="http://schemas.openxmlformats.org/officeDocument/2006/relationships/image" Target="../media/image00.png"/><Relationship Id="rId5" Type="http://schemas.openxmlformats.org/officeDocument/2006/relationships/image" Target="../media/image01.png"/><Relationship Id="rId6" Type="http://schemas.openxmlformats.org/officeDocument/2006/relationships/image" Target="../media/image25.jpg"/><Relationship Id="rId7" Type="http://schemas.openxmlformats.org/officeDocument/2006/relationships/image" Target="../media/image22.jpg"/><Relationship Id="rId8"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0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0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19.jpg"/><Relationship Id="rId7" Type="http://schemas.openxmlformats.org/officeDocument/2006/relationships/image" Target="../media/image2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23.jpg"/><Relationship Id="rId7" Type="http://schemas.openxmlformats.org/officeDocument/2006/relationships/image" Target="../media/image28.jpg"/><Relationship Id="rId8" Type="http://schemas.openxmlformats.org/officeDocument/2006/relationships/image" Target="../media/image3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00.png"/><Relationship Id="rId4" Type="http://schemas.openxmlformats.org/officeDocument/2006/relationships/image" Target="../media/image0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29.jpg"/><Relationship Id="rId7"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 Id="rId6" Type="http://schemas.openxmlformats.org/officeDocument/2006/relationships/image" Target="../media/image3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0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0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0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0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6" name="Shape 36"/>
        <p:cNvGrpSpPr/>
        <p:nvPr/>
      </p:nvGrpSpPr>
      <p:grpSpPr>
        <a:xfrm>
          <a:off x="0" y="0"/>
          <a:ext cx="0" cy="0"/>
          <a:chOff x="0" y="0"/>
          <a:chExt cx="0" cy="0"/>
        </a:xfrm>
      </p:grpSpPr>
      <p:pic>
        <p:nvPicPr>
          <p:cNvPr id="37" name="Shape 37"/>
          <p:cNvPicPr preferRelativeResize="0"/>
          <p:nvPr/>
        </p:nvPicPr>
        <p:blipFill rotWithShape="1">
          <a:blip r:embed="rId3">
            <a:alphaModFix/>
          </a:blip>
          <a:srcRect b="0" l="0" r="0" t="0"/>
          <a:stretch/>
        </p:blipFill>
        <p:spPr>
          <a:xfrm>
            <a:off x="263525" y="1295400"/>
            <a:ext cx="8610599" cy="209549"/>
          </a:xfrm>
          <a:prstGeom prst="rect">
            <a:avLst/>
          </a:prstGeom>
          <a:noFill/>
          <a:ln>
            <a:noFill/>
          </a:ln>
        </p:spPr>
      </p:pic>
      <p:sp>
        <p:nvSpPr>
          <p:cNvPr id="38" name="Shape 38"/>
          <p:cNvSpPr txBox="1"/>
          <p:nvPr/>
        </p:nvSpPr>
        <p:spPr>
          <a:xfrm>
            <a:off x="4038600" y="473075"/>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pic>
        <p:nvPicPr>
          <p:cNvPr id="39" name="Shape 39"/>
          <p:cNvPicPr preferRelativeResize="0"/>
          <p:nvPr/>
        </p:nvPicPr>
        <p:blipFill rotWithShape="1">
          <a:blip r:embed="rId4">
            <a:alphaModFix/>
          </a:blip>
          <a:srcRect b="0" l="0" r="0" t="0"/>
          <a:stretch/>
        </p:blipFill>
        <p:spPr>
          <a:xfrm>
            <a:off x="492125" y="533400"/>
            <a:ext cx="3013074" cy="608011"/>
          </a:xfrm>
          <a:prstGeom prst="rect">
            <a:avLst/>
          </a:prstGeom>
          <a:noFill/>
          <a:ln>
            <a:noFill/>
          </a:ln>
        </p:spPr>
      </p:pic>
      <p:pic>
        <p:nvPicPr>
          <p:cNvPr id="40" name="Shape 40"/>
          <p:cNvPicPr preferRelativeResize="0"/>
          <p:nvPr/>
        </p:nvPicPr>
        <p:blipFill rotWithShape="1">
          <a:blip r:embed="rId5">
            <a:alphaModFix/>
          </a:blip>
          <a:srcRect b="0" l="0" r="0" t="0"/>
          <a:stretch/>
        </p:blipFill>
        <p:spPr>
          <a:xfrm>
            <a:off x="1516062" y="1981200"/>
            <a:ext cx="2762250" cy="1657350"/>
          </a:xfrm>
          <a:prstGeom prst="rect">
            <a:avLst/>
          </a:prstGeom>
          <a:noFill/>
          <a:ln>
            <a:noFill/>
          </a:ln>
        </p:spPr>
      </p:pic>
      <p:pic>
        <p:nvPicPr>
          <p:cNvPr id="41" name="Shape 41"/>
          <p:cNvPicPr preferRelativeResize="0"/>
          <p:nvPr/>
        </p:nvPicPr>
        <p:blipFill rotWithShape="1">
          <a:blip r:embed="rId6">
            <a:alphaModFix/>
          </a:blip>
          <a:srcRect b="0" l="0" r="0" t="0"/>
          <a:stretch/>
        </p:blipFill>
        <p:spPr>
          <a:xfrm>
            <a:off x="5311775" y="1981200"/>
            <a:ext cx="2068512" cy="1657350"/>
          </a:xfrm>
          <a:prstGeom prst="rect">
            <a:avLst/>
          </a:prstGeom>
          <a:noFill/>
          <a:ln>
            <a:noFill/>
          </a:ln>
        </p:spPr>
      </p:pic>
      <p:sp>
        <p:nvSpPr>
          <p:cNvPr id="42" name="Shape 42"/>
          <p:cNvSpPr txBox="1"/>
          <p:nvPr/>
        </p:nvSpPr>
        <p:spPr>
          <a:xfrm>
            <a:off x="2819400" y="4435475"/>
            <a:ext cx="4548187" cy="4572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MONEDA - DINERO</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6" name="Shape 46"/>
        <p:cNvGrpSpPr/>
        <p:nvPr/>
      </p:nvGrpSpPr>
      <p:grpSpPr>
        <a:xfrm>
          <a:off x="0" y="0"/>
          <a:ext cx="0" cy="0"/>
          <a:chOff x="0" y="0"/>
          <a:chExt cx="0" cy="0"/>
        </a:xfrm>
      </p:grpSpPr>
      <p:pic>
        <p:nvPicPr>
          <p:cNvPr id="47" name="Shape 47"/>
          <p:cNvPicPr preferRelativeResize="0"/>
          <p:nvPr/>
        </p:nvPicPr>
        <p:blipFill rotWithShape="1">
          <a:blip r:embed="rId3">
            <a:alphaModFix/>
          </a:blip>
          <a:srcRect b="0" l="0" r="0" t="0"/>
          <a:stretch/>
        </p:blipFill>
        <p:spPr>
          <a:xfrm>
            <a:off x="263525" y="1314450"/>
            <a:ext cx="8610599" cy="209549"/>
          </a:xfrm>
          <a:prstGeom prst="rect">
            <a:avLst/>
          </a:prstGeom>
          <a:noFill/>
          <a:ln>
            <a:noFill/>
          </a:ln>
        </p:spPr>
      </p:pic>
      <p:sp>
        <p:nvSpPr>
          <p:cNvPr id="48" name="Shape 48"/>
          <p:cNvSpPr txBox="1"/>
          <p:nvPr/>
        </p:nvSpPr>
        <p:spPr>
          <a:xfrm>
            <a:off x="288925" y="1600200"/>
            <a:ext cx="8626474" cy="5257799"/>
          </a:xfrm>
          <a:prstGeom prst="rect">
            <a:avLst/>
          </a:prstGeom>
          <a:solidFill>
            <a:srgbClr val="FF6600">
              <a:alpha val="45882"/>
            </a:srgbClr>
          </a:solid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Teoría cuantitativa del valor de la moneda </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Enfoque de Cambridge </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Crédito - Clasificación del crédito</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 Interés -Tasa de interés nominal y efectiva</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 Tasa de interés nominal y real</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Sistema Francés – cuota constante</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 Sistema Alemán – cuota decreciente</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 Garantía Personal y Real – Distintos tipos</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 Bancos Comerciales - Funciones</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 Ecuación Bancaria</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 Función pasiva – Función activa</a:t>
            </a:r>
          </a:p>
          <a:p>
            <a:pPr indent="0" lvl="0" marL="0" marR="0" rtl="0" algn="l">
              <a:lnSpc>
                <a:spcPct val="150000"/>
              </a:lnSpc>
              <a:spcBef>
                <a:spcPts val="0"/>
              </a:spcBef>
              <a:spcAft>
                <a:spcPts val="0"/>
              </a:spcAft>
              <a:buClr>
                <a:schemeClr val="dk1"/>
              </a:buClr>
              <a:buSzPct val="100000"/>
              <a:buFont typeface="Noto Sans Symbols"/>
              <a:buChar char="✓"/>
            </a:pPr>
            <a:r>
              <a:rPr b="1" i="0" lang="en-US" sz="1800" u="none" cap="none" strike="noStrike">
                <a:solidFill>
                  <a:schemeClr val="dk1"/>
                </a:solidFill>
                <a:latin typeface="Arial"/>
                <a:ea typeface="Arial"/>
                <a:cs typeface="Arial"/>
                <a:sym typeface="Arial"/>
              </a:rPr>
              <a:t> Tasa de interés pasiva y activa</a:t>
            </a:r>
          </a:p>
        </p:txBody>
      </p:sp>
      <p:pic>
        <p:nvPicPr>
          <p:cNvPr id="49" name="Shape 49"/>
          <p:cNvPicPr preferRelativeResize="0"/>
          <p:nvPr/>
        </p:nvPicPr>
        <p:blipFill rotWithShape="1">
          <a:blip r:embed="rId4">
            <a:alphaModFix/>
          </a:blip>
          <a:srcRect b="0" l="0" r="0" t="0"/>
          <a:stretch/>
        </p:blipFill>
        <p:spPr>
          <a:xfrm>
            <a:off x="492125" y="458787"/>
            <a:ext cx="3013074" cy="608011"/>
          </a:xfrm>
          <a:prstGeom prst="rect">
            <a:avLst/>
          </a:prstGeom>
          <a:noFill/>
          <a:ln>
            <a:noFill/>
          </a:ln>
        </p:spPr>
      </p:pic>
      <p:sp>
        <p:nvSpPr>
          <p:cNvPr id="50" name="Shape 50"/>
          <p:cNvSpPr txBox="1"/>
          <p:nvPr/>
        </p:nvSpPr>
        <p:spPr>
          <a:xfrm>
            <a:off x="4214812" y="5334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TEMARIO CLASE N° 15</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N° 5</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4" name="Shape 54"/>
        <p:cNvGrpSpPr/>
        <p:nvPr/>
      </p:nvGrpSpPr>
      <p:grpSpPr>
        <a:xfrm>
          <a:off x="0" y="0"/>
          <a:ext cx="0" cy="0"/>
          <a:chOff x="0" y="0"/>
          <a:chExt cx="0" cy="0"/>
        </a:xfrm>
      </p:grpSpPr>
      <p:pic>
        <p:nvPicPr>
          <p:cNvPr id="55" name="Shape 55"/>
          <p:cNvPicPr preferRelativeResize="0"/>
          <p:nvPr/>
        </p:nvPicPr>
        <p:blipFill rotWithShape="1">
          <a:blip r:embed="rId3">
            <a:alphaModFix/>
          </a:blip>
          <a:srcRect b="0" l="0" r="0" t="0"/>
          <a:stretch/>
        </p:blipFill>
        <p:spPr>
          <a:xfrm>
            <a:off x="263525" y="1619250"/>
            <a:ext cx="8610599" cy="209549"/>
          </a:xfrm>
          <a:prstGeom prst="rect">
            <a:avLst/>
          </a:prstGeom>
          <a:noFill/>
          <a:ln>
            <a:noFill/>
          </a:ln>
        </p:spPr>
      </p:pic>
      <p:sp>
        <p:nvSpPr>
          <p:cNvPr id="56" name="Shape 56"/>
          <p:cNvSpPr txBox="1"/>
          <p:nvPr/>
        </p:nvSpPr>
        <p:spPr>
          <a:xfrm>
            <a:off x="2614611" y="701675"/>
            <a:ext cx="63007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Teoría Cuantitativa del valor de la moneda</a:t>
            </a:r>
          </a:p>
        </p:txBody>
      </p:sp>
      <p:pic>
        <p:nvPicPr>
          <p:cNvPr id="57" name="Shape 57"/>
          <p:cNvPicPr preferRelativeResize="0"/>
          <p:nvPr/>
        </p:nvPicPr>
        <p:blipFill rotWithShape="1">
          <a:blip r:embed="rId4">
            <a:alphaModFix/>
          </a:blip>
          <a:srcRect b="0" l="0" r="0" t="0"/>
          <a:stretch/>
        </p:blipFill>
        <p:spPr>
          <a:xfrm>
            <a:off x="76200" y="533400"/>
            <a:ext cx="3013074" cy="608011"/>
          </a:xfrm>
          <a:prstGeom prst="rect">
            <a:avLst/>
          </a:prstGeom>
          <a:noFill/>
          <a:ln>
            <a:noFill/>
          </a:ln>
        </p:spPr>
      </p:pic>
      <p:sp>
        <p:nvSpPr>
          <p:cNvPr id="58" name="Shape 58"/>
          <p:cNvSpPr txBox="1"/>
          <p:nvPr/>
        </p:nvSpPr>
        <p:spPr>
          <a:xfrm>
            <a:off x="204786" y="1782761"/>
            <a:ext cx="8381999" cy="1371599"/>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Teoría cuantitativa del valor de la moneda</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teoría cuantitativa supone la secuencia causal y directa entre las alteraciones de la cantidad del medio circulante y el nivel general de precios. </a:t>
            </a:r>
          </a:p>
          <a:p>
            <a:pPr indent="0" lvl="0" marL="0" marR="0" rtl="0" algn="ctr">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NP ≈ M</a:t>
            </a:r>
          </a:p>
        </p:txBody>
      </p:sp>
      <p:sp>
        <p:nvSpPr>
          <p:cNvPr id="59" name="Shape 59"/>
          <p:cNvSpPr txBox="1"/>
          <p:nvPr/>
        </p:nvSpPr>
        <p:spPr>
          <a:xfrm>
            <a:off x="228600" y="3397250"/>
            <a:ext cx="8480424" cy="15557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Si </a:t>
            </a:r>
            <a:r>
              <a:rPr b="1" i="0" lang="en-US" sz="2000" u="none" cap="none" strike="noStrike">
                <a:solidFill>
                  <a:srgbClr val="FF0000"/>
                </a:solidFill>
                <a:latin typeface="Arial"/>
                <a:ea typeface="Arial"/>
                <a:cs typeface="Arial"/>
                <a:sym typeface="Arial"/>
              </a:rPr>
              <a:t>un precio específico</a:t>
            </a:r>
            <a:r>
              <a:rPr b="0" i="0" lang="en-US" sz="1800" u="none" cap="none" strike="noStrike">
                <a:solidFill>
                  <a:srgbClr val="FF0000"/>
                </a:solidFill>
                <a:latin typeface="Arial"/>
                <a:ea typeface="Arial"/>
                <a:cs typeface="Arial"/>
                <a:sym typeface="Arial"/>
              </a:rPr>
              <a:t> es la expresión de los términos en que una suma de servicios o mercancías se cambia por dinero o su equivalente, </a:t>
            </a:r>
            <a:r>
              <a:rPr b="1" i="0" lang="en-US" sz="2000" u="none" cap="none" strike="noStrike">
                <a:solidFill>
                  <a:srgbClr val="FF0000"/>
                </a:solidFill>
                <a:latin typeface="Arial"/>
                <a:ea typeface="Arial"/>
                <a:cs typeface="Arial"/>
                <a:sym typeface="Arial"/>
              </a:rPr>
              <a:t>el nivel general de precios en un período dado</a:t>
            </a:r>
            <a:r>
              <a:rPr b="0" i="0" lang="en-US" sz="1800" u="none" cap="none" strike="noStrike">
                <a:solidFill>
                  <a:srgbClr val="FF0000"/>
                </a:solidFill>
                <a:latin typeface="Arial"/>
                <a:ea typeface="Arial"/>
                <a:cs typeface="Arial"/>
                <a:sym typeface="Arial"/>
              </a:rPr>
              <a:t> expresará el promedio de la suma total de medios de pago utilizados en las transacciones de aquel período dividido por el total de mercancías o servicios consumidos. </a:t>
            </a:r>
          </a:p>
        </p:txBody>
      </p:sp>
      <p:sp>
        <p:nvSpPr>
          <p:cNvPr id="60" name="Shape 60"/>
          <p:cNvSpPr txBox="1"/>
          <p:nvPr/>
        </p:nvSpPr>
        <p:spPr>
          <a:xfrm>
            <a:off x="263525" y="5133975"/>
            <a:ext cx="8323262" cy="119062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NP ≡ M / B</a:t>
            </a:r>
          </a:p>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NP: Es el nivel general de precios</a:t>
            </a:r>
          </a:p>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M: cantidad de moneda (como medios de pago)</a:t>
            </a:r>
          </a:p>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B: Bienes consumidos (representa las transacciones realizadas)</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4" name="Shape 64"/>
        <p:cNvGrpSpPr/>
        <p:nvPr/>
      </p:nvGrpSpPr>
      <p:grpSpPr>
        <a:xfrm>
          <a:off x="0" y="0"/>
          <a:ext cx="0" cy="0"/>
          <a:chOff x="0" y="0"/>
          <a:chExt cx="0" cy="0"/>
        </a:xfrm>
      </p:grpSpPr>
      <p:pic>
        <p:nvPicPr>
          <p:cNvPr id="65" name="Shape 65"/>
          <p:cNvPicPr preferRelativeResize="0"/>
          <p:nvPr/>
        </p:nvPicPr>
        <p:blipFill rotWithShape="1">
          <a:blip r:embed="rId3">
            <a:alphaModFix/>
          </a:blip>
          <a:srcRect b="0" l="0" r="0" t="0"/>
          <a:stretch/>
        </p:blipFill>
        <p:spPr>
          <a:xfrm>
            <a:off x="263525" y="1619250"/>
            <a:ext cx="8610599" cy="209549"/>
          </a:xfrm>
          <a:prstGeom prst="rect">
            <a:avLst/>
          </a:prstGeom>
          <a:noFill/>
          <a:ln>
            <a:noFill/>
          </a:ln>
        </p:spPr>
      </p:pic>
      <p:sp>
        <p:nvSpPr>
          <p:cNvPr id="66" name="Shape 66"/>
          <p:cNvSpPr txBox="1"/>
          <p:nvPr/>
        </p:nvSpPr>
        <p:spPr>
          <a:xfrm>
            <a:off x="2667000" y="777875"/>
            <a:ext cx="6476999"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Teoría cuantitativa del valor de la moneda</a:t>
            </a:r>
          </a:p>
        </p:txBody>
      </p:sp>
      <p:pic>
        <p:nvPicPr>
          <p:cNvPr id="67" name="Shape 67"/>
          <p:cNvPicPr preferRelativeResize="0"/>
          <p:nvPr/>
        </p:nvPicPr>
        <p:blipFill rotWithShape="1">
          <a:blip r:embed="rId4">
            <a:alphaModFix/>
          </a:blip>
          <a:srcRect b="0" l="0" r="0" t="0"/>
          <a:stretch/>
        </p:blipFill>
        <p:spPr>
          <a:xfrm>
            <a:off x="492125" y="533400"/>
            <a:ext cx="3013074" cy="608011"/>
          </a:xfrm>
          <a:prstGeom prst="rect">
            <a:avLst/>
          </a:prstGeom>
          <a:noFill/>
          <a:ln>
            <a:noFill/>
          </a:ln>
        </p:spPr>
      </p:pic>
      <p:sp>
        <p:nvSpPr>
          <p:cNvPr id="68" name="Shape 68"/>
          <p:cNvSpPr txBox="1"/>
          <p:nvPr/>
        </p:nvSpPr>
        <p:spPr>
          <a:xfrm>
            <a:off x="204786" y="1782761"/>
            <a:ext cx="8381999" cy="91598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Posteriormente, se introduce en el análisis, la posibilidad que un billete se utilice varias veces (cambie de manos) durante un determinado período, dando lugar al concepto de giro periódico asociado a la </a:t>
            </a:r>
            <a:r>
              <a:rPr b="1" i="1" lang="en-US" sz="1800" u="sng" cap="none" strike="noStrike">
                <a:solidFill>
                  <a:srgbClr val="FF0000"/>
                </a:solidFill>
                <a:latin typeface="Arial"/>
                <a:ea typeface="Arial"/>
                <a:cs typeface="Arial"/>
                <a:sym typeface="Arial"/>
              </a:rPr>
              <a:t>velocidad de las transacciones</a:t>
            </a:r>
            <a:r>
              <a:rPr b="0" i="0" lang="en-US" sz="1800" u="none" cap="none" strike="noStrike">
                <a:solidFill>
                  <a:schemeClr val="dk1"/>
                </a:solidFill>
                <a:latin typeface="Arial"/>
                <a:ea typeface="Arial"/>
                <a:cs typeface="Arial"/>
                <a:sym typeface="Arial"/>
              </a:rPr>
              <a:t>.</a:t>
            </a:r>
          </a:p>
        </p:txBody>
      </p:sp>
      <p:sp>
        <p:nvSpPr>
          <p:cNvPr id="69" name="Shape 69"/>
          <p:cNvSpPr txBox="1"/>
          <p:nvPr/>
        </p:nvSpPr>
        <p:spPr>
          <a:xfrm>
            <a:off x="358775" y="2971800"/>
            <a:ext cx="8480424" cy="119062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Se postula entonces que, el promedio del dinero y crédito en circulación, multiplicado por su giro en un determinado período, dividido por el volumen total del comercio durante este período,  representa aceptablemente la variación del nivel general de precios  del período.</a:t>
            </a:r>
          </a:p>
        </p:txBody>
      </p:sp>
      <p:sp>
        <p:nvSpPr>
          <p:cNvPr id="70" name="Shape 70"/>
          <p:cNvSpPr txBox="1"/>
          <p:nvPr/>
        </p:nvSpPr>
        <p:spPr>
          <a:xfrm>
            <a:off x="322262" y="4267200"/>
            <a:ext cx="8669337" cy="201453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NP ≡ (M * V) / T</a:t>
            </a:r>
          </a:p>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NP: Es el nivel de precios</a:t>
            </a:r>
          </a:p>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M: Cantidad de moneda (como medios de pago)</a:t>
            </a:r>
          </a:p>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V: Velocidad de las transacciones (giros en el período)</a:t>
            </a:r>
          </a:p>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T: Volumen de comercio (representa las transacciones realizadas, que contempla la posibilidad que un mismo bien, pueda ser vendido en varias oportunidades, según la estructura de comercialización)</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4" name="Shape 74"/>
        <p:cNvGrpSpPr/>
        <p:nvPr/>
      </p:nvGrpSpPr>
      <p:grpSpPr>
        <a:xfrm>
          <a:off x="0" y="0"/>
          <a:ext cx="0" cy="0"/>
          <a:chOff x="0" y="0"/>
          <a:chExt cx="0" cy="0"/>
        </a:xfrm>
      </p:grpSpPr>
      <p:pic>
        <p:nvPicPr>
          <p:cNvPr id="75" name="Shape 75"/>
          <p:cNvPicPr preferRelativeResize="0"/>
          <p:nvPr/>
        </p:nvPicPr>
        <p:blipFill rotWithShape="1">
          <a:blip r:embed="rId3">
            <a:alphaModFix/>
          </a:blip>
          <a:srcRect b="0" l="0" r="0" t="0"/>
          <a:stretch/>
        </p:blipFill>
        <p:spPr>
          <a:xfrm>
            <a:off x="263525" y="1390650"/>
            <a:ext cx="8610599" cy="209549"/>
          </a:xfrm>
          <a:prstGeom prst="rect">
            <a:avLst/>
          </a:prstGeom>
          <a:noFill/>
          <a:ln>
            <a:noFill/>
          </a:ln>
        </p:spPr>
      </p:pic>
      <p:sp>
        <p:nvSpPr>
          <p:cNvPr id="76" name="Shape 76"/>
          <p:cNvSpPr txBox="1"/>
          <p:nvPr/>
        </p:nvSpPr>
        <p:spPr>
          <a:xfrm>
            <a:off x="2590800" y="473075"/>
            <a:ext cx="630713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Teoría Cuantitativa del valor de la moneda</a:t>
            </a:r>
          </a:p>
        </p:txBody>
      </p:sp>
      <p:pic>
        <p:nvPicPr>
          <p:cNvPr id="77" name="Shape 77"/>
          <p:cNvPicPr preferRelativeResize="0"/>
          <p:nvPr/>
        </p:nvPicPr>
        <p:blipFill rotWithShape="1">
          <a:blip r:embed="rId4">
            <a:alphaModFix/>
          </a:blip>
          <a:srcRect b="0" l="0" r="0" t="0"/>
          <a:stretch/>
        </p:blipFill>
        <p:spPr>
          <a:xfrm>
            <a:off x="492125" y="533400"/>
            <a:ext cx="3013074" cy="608011"/>
          </a:xfrm>
          <a:prstGeom prst="rect">
            <a:avLst/>
          </a:prstGeom>
          <a:noFill/>
          <a:ln>
            <a:noFill/>
          </a:ln>
        </p:spPr>
      </p:pic>
      <p:sp>
        <p:nvSpPr>
          <p:cNvPr id="78" name="Shape 78"/>
          <p:cNvSpPr txBox="1"/>
          <p:nvPr/>
        </p:nvSpPr>
        <p:spPr>
          <a:xfrm>
            <a:off x="304800" y="1644650"/>
            <a:ext cx="8569325" cy="2470149"/>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2F8F0D"/>
              </a:buClr>
              <a:buSzPct val="25000"/>
              <a:buFont typeface="Arial"/>
              <a:buNone/>
            </a:pPr>
            <a:r>
              <a:rPr b="1" i="0" lang="en-US" sz="2400" u="none" cap="none" strike="noStrike">
                <a:solidFill>
                  <a:srgbClr val="2F8F0D"/>
                </a:solidFill>
                <a:latin typeface="Arial"/>
                <a:ea typeface="Arial"/>
                <a:cs typeface="Arial"/>
                <a:sym typeface="Arial"/>
              </a:rPr>
              <a:t>Teoría de la velocidad de las transacciones </a:t>
            </a:r>
          </a:p>
          <a:p>
            <a:pPr indent="0" lvl="0" marL="0" marR="0" rtl="0" algn="ctr">
              <a:lnSpc>
                <a:spcPct val="100000"/>
              </a:lnSpc>
              <a:spcBef>
                <a:spcPts val="0"/>
              </a:spcBef>
              <a:spcAft>
                <a:spcPts val="0"/>
              </a:spcAft>
              <a:buClr>
                <a:srgbClr val="2F8F0D"/>
              </a:buClr>
              <a:buSzPct val="25000"/>
              <a:buFont typeface="Arial"/>
              <a:buNone/>
            </a:pPr>
            <a:r>
              <a:rPr b="1" i="0" lang="en-US" sz="2400" u="none" cap="none" strike="noStrike">
                <a:solidFill>
                  <a:srgbClr val="2F8F0D"/>
                </a:solidFill>
                <a:latin typeface="Arial"/>
                <a:ea typeface="Arial"/>
                <a:cs typeface="Arial"/>
                <a:sym typeface="Arial"/>
              </a:rPr>
              <a:t>(Irving Fisher)</a:t>
            </a:r>
          </a:p>
          <a:p>
            <a:pPr indent="0" lvl="0" marL="0" marR="0" rtl="0" algn="l">
              <a:lnSpc>
                <a:spcPct val="100000"/>
              </a:lnSpc>
              <a:spcBef>
                <a:spcPts val="0"/>
              </a:spcBef>
              <a:spcAft>
                <a:spcPts val="0"/>
              </a:spcAft>
              <a:buClr>
                <a:schemeClr val="dk1"/>
              </a:buClr>
              <a:buFont typeface="Calibri"/>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El </a:t>
            </a:r>
            <a:r>
              <a:rPr b="1" i="0" lang="en-US" sz="1800" u="none" cap="none" strike="noStrike">
                <a:solidFill>
                  <a:srgbClr val="2F8F0D"/>
                </a:solidFill>
                <a:latin typeface="Arial"/>
                <a:ea typeface="Arial"/>
                <a:cs typeface="Arial"/>
                <a:sym typeface="Arial"/>
              </a:rPr>
              <a:t>nivel de precios</a:t>
            </a:r>
            <a:r>
              <a:rPr b="0" i="0" lang="en-US" sz="1800" u="none" cap="none" strike="noStrike">
                <a:solidFill>
                  <a:schemeClr val="dk1"/>
                </a:solidFill>
                <a:latin typeface="Arial"/>
                <a:ea typeface="Arial"/>
                <a:cs typeface="Arial"/>
                <a:sym typeface="Arial"/>
              </a:rPr>
              <a:t> puede ser determinado si la </a:t>
            </a:r>
            <a:r>
              <a:rPr b="1" i="0" lang="en-US" sz="1800" u="none" cap="none" strike="noStrike">
                <a:solidFill>
                  <a:srgbClr val="2F8F0D"/>
                </a:solidFill>
                <a:latin typeface="Arial"/>
                <a:ea typeface="Arial"/>
                <a:cs typeface="Arial"/>
                <a:sym typeface="Arial"/>
              </a:rPr>
              <a:t>cantidad de moneda en circulación</a:t>
            </a:r>
            <a:r>
              <a:rPr b="0" i="0" lang="en-US" sz="1800" u="none" cap="none" strike="noStrike">
                <a:solidFill>
                  <a:schemeClr val="dk1"/>
                </a:solidFill>
                <a:latin typeface="Arial"/>
                <a:ea typeface="Arial"/>
                <a:cs typeface="Arial"/>
                <a:sym typeface="Arial"/>
              </a:rPr>
              <a:t> (incluyendo efectivo y crédito bancario) se multiplica por el número de veces que cambia de mano o gira en un determinado período (</a:t>
            </a:r>
            <a:r>
              <a:rPr b="1" i="0" lang="en-US" sz="1800" u="none" cap="none" strike="noStrike">
                <a:solidFill>
                  <a:srgbClr val="2F8F0D"/>
                </a:solidFill>
                <a:latin typeface="Arial"/>
                <a:ea typeface="Arial"/>
                <a:cs typeface="Arial"/>
                <a:sym typeface="Arial"/>
              </a:rPr>
              <a:t>velocidad de las transacciones</a:t>
            </a:r>
            <a:r>
              <a:rPr b="0" i="0" lang="en-US" sz="1800" u="none" cap="none" strike="noStrike">
                <a:solidFill>
                  <a:schemeClr val="dk1"/>
                </a:solidFill>
                <a:latin typeface="Arial"/>
                <a:ea typeface="Arial"/>
                <a:cs typeface="Arial"/>
                <a:sym typeface="Arial"/>
              </a:rPr>
              <a:t>) y entonces se divide por el </a:t>
            </a:r>
            <a:r>
              <a:rPr b="1" i="0" lang="en-US" sz="1800" u="none" cap="none" strike="noStrike">
                <a:solidFill>
                  <a:srgbClr val="2F8F0D"/>
                </a:solidFill>
                <a:latin typeface="Arial"/>
                <a:ea typeface="Arial"/>
                <a:cs typeface="Arial"/>
                <a:sym typeface="Arial"/>
              </a:rPr>
              <a:t>número total de transacciones ocurridas en el mismo período</a:t>
            </a:r>
            <a:r>
              <a:rPr b="0" i="0" lang="en-US" sz="1800" u="none" cap="none" strike="noStrike">
                <a:solidFill>
                  <a:schemeClr val="dk1"/>
                </a:solidFill>
                <a:latin typeface="Arial"/>
                <a:ea typeface="Arial"/>
                <a:cs typeface="Arial"/>
                <a:sym typeface="Arial"/>
              </a:rPr>
              <a:t>.</a:t>
            </a:r>
          </a:p>
        </p:txBody>
      </p:sp>
      <p:sp>
        <p:nvSpPr>
          <p:cNvPr id="79" name="Shape 79"/>
          <p:cNvSpPr txBox="1"/>
          <p:nvPr/>
        </p:nvSpPr>
        <p:spPr>
          <a:xfrm>
            <a:off x="228600" y="4187825"/>
            <a:ext cx="8669337" cy="228917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NP =  (M * V + M’ * V’)  /  T</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Donde:</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NP = el nivel general de precios </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M = la cantidad de moneda metálica</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V = la velocidad de giro de la moneda metálica </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M’ = el volumen de los depósitos bancarios </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V’ = la velocidad de giro de estos depósitos  </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T = el volumen del comercio o el total de las transacciones.</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3" name="Shape 83"/>
        <p:cNvGrpSpPr/>
        <p:nvPr/>
      </p:nvGrpSpPr>
      <p:grpSpPr>
        <a:xfrm>
          <a:off x="0" y="0"/>
          <a:ext cx="0" cy="0"/>
          <a:chOff x="0" y="0"/>
          <a:chExt cx="0" cy="0"/>
        </a:xfrm>
      </p:grpSpPr>
      <p:pic>
        <p:nvPicPr>
          <p:cNvPr id="84" name="Shape 84"/>
          <p:cNvPicPr preferRelativeResize="0"/>
          <p:nvPr/>
        </p:nvPicPr>
        <p:blipFill rotWithShape="1">
          <a:blip r:embed="rId3">
            <a:alphaModFix/>
          </a:blip>
          <a:srcRect b="0" l="0" r="0" t="0"/>
          <a:stretch/>
        </p:blipFill>
        <p:spPr>
          <a:xfrm>
            <a:off x="263525" y="1295400"/>
            <a:ext cx="8610599" cy="209549"/>
          </a:xfrm>
          <a:prstGeom prst="rect">
            <a:avLst/>
          </a:prstGeom>
          <a:noFill/>
          <a:ln>
            <a:noFill/>
          </a:ln>
        </p:spPr>
      </p:pic>
      <p:sp>
        <p:nvSpPr>
          <p:cNvPr id="85" name="Shape 85"/>
          <p:cNvSpPr txBox="1"/>
          <p:nvPr/>
        </p:nvSpPr>
        <p:spPr>
          <a:xfrm>
            <a:off x="4038600" y="473075"/>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Enfoque de Cambridge</a:t>
            </a:r>
          </a:p>
        </p:txBody>
      </p:sp>
      <p:pic>
        <p:nvPicPr>
          <p:cNvPr id="86" name="Shape 86"/>
          <p:cNvPicPr preferRelativeResize="0"/>
          <p:nvPr/>
        </p:nvPicPr>
        <p:blipFill rotWithShape="1">
          <a:blip r:embed="rId4">
            <a:alphaModFix/>
          </a:blip>
          <a:srcRect b="0" l="0" r="0" t="0"/>
          <a:stretch/>
        </p:blipFill>
        <p:spPr>
          <a:xfrm>
            <a:off x="492125" y="533400"/>
            <a:ext cx="3013074" cy="608011"/>
          </a:xfrm>
          <a:prstGeom prst="rect">
            <a:avLst/>
          </a:prstGeom>
          <a:noFill/>
          <a:ln>
            <a:noFill/>
          </a:ln>
        </p:spPr>
      </p:pic>
      <p:sp>
        <p:nvSpPr>
          <p:cNvPr id="87" name="Shape 87"/>
          <p:cNvSpPr txBox="1"/>
          <p:nvPr/>
        </p:nvSpPr>
        <p:spPr>
          <a:xfrm>
            <a:off x="304800" y="1524000"/>
            <a:ext cx="8569325" cy="1646237"/>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El enfoque de Cambridge </a:t>
            </a:r>
          </a:p>
          <a:p>
            <a:pPr indent="0" lvl="0" marL="0" marR="0" rtl="0" algn="ctr">
              <a:lnSpc>
                <a:spcPct val="100000"/>
              </a:lnSpc>
              <a:spcBef>
                <a:spcPts val="0"/>
              </a:spcBef>
              <a:spcAft>
                <a:spcPts val="0"/>
              </a:spcAft>
              <a:buClr>
                <a:schemeClr val="dk1"/>
              </a:buClr>
              <a:buSzPct val="25000"/>
              <a:buFont typeface="Arial"/>
              <a:buNone/>
            </a:pPr>
            <a:r>
              <a:rPr b="1" i="0" lang="en-US" sz="2000" u="none" cap="none" strike="noStrike">
                <a:solidFill>
                  <a:schemeClr val="dk1"/>
                </a:solidFill>
                <a:latin typeface="Arial"/>
                <a:ea typeface="Arial"/>
                <a:cs typeface="Arial"/>
                <a:sym typeface="Arial"/>
              </a:rPr>
              <a:t>Ecuación de la inmovilización de los saldos monetarios</a:t>
            </a:r>
            <a:r>
              <a:rPr b="0" i="0" lang="en-US" sz="24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El nivel de transacciones que puede realizar un individuo está a su vez vinculado con el monto de su ingreso (Y´), por lo cual la demanda de dinero de las personas es en última instancia, una proporción de su nivel de ingreso nominal (k). </a:t>
            </a:r>
          </a:p>
        </p:txBody>
      </p:sp>
      <p:sp>
        <p:nvSpPr>
          <p:cNvPr id="88" name="Shape 88"/>
          <p:cNvSpPr txBox="1"/>
          <p:nvPr/>
        </p:nvSpPr>
        <p:spPr>
          <a:xfrm>
            <a:off x="228600" y="3265486"/>
            <a:ext cx="8669337" cy="2982912"/>
          </a:xfrm>
          <a:prstGeom prst="rect">
            <a:avLst/>
          </a:prstGeom>
          <a:noFill/>
          <a:ln>
            <a:noFill/>
          </a:ln>
        </p:spPr>
        <p:txBody>
          <a:bodyPr anchorCtr="0" anchor="ctr" bIns="45700" lIns="91425" rIns="91425" tIns="45700">
            <a:noAutofit/>
          </a:bodyPr>
          <a:lstStyle/>
          <a:p>
            <a:pPr indent="0" lvl="0" marL="0" marR="0" rtl="0" algn="l">
              <a:lnSpc>
                <a:spcPct val="11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M</a:t>
            </a:r>
            <a:r>
              <a:rPr b="1" baseline="-25000" i="0" lang="en-US" sz="1800" u="none" cap="none" strike="noStrike">
                <a:solidFill>
                  <a:schemeClr val="dk1"/>
                </a:solidFill>
                <a:latin typeface="Arial"/>
                <a:ea typeface="Arial"/>
                <a:cs typeface="Arial"/>
                <a:sym typeface="Arial"/>
              </a:rPr>
              <a:t>d</a:t>
            </a:r>
            <a:r>
              <a:rPr b="1" i="0" lang="en-US" sz="1800" u="none" cap="none" strike="noStrike">
                <a:solidFill>
                  <a:schemeClr val="dk1"/>
                </a:solidFill>
                <a:latin typeface="Arial"/>
                <a:ea typeface="Arial"/>
                <a:cs typeface="Arial"/>
                <a:sym typeface="Arial"/>
              </a:rPr>
              <a:t> = k * Y´   entonces Si:  Y´ =  NP * Y </a:t>
            </a:r>
          </a:p>
          <a:p>
            <a:pPr indent="0" lvl="0" marL="0" marR="0" rtl="0" algn="l">
              <a:lnSpc>
                <a:spcPct val="110000"/>
              </a:lnSpc>
              <a:spcBef>
                <a:spcPts val="45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Reemplazando tenemos que:</a:t>
            </a:r>
          </a:p>
          <a:p>
            <a:pPr indent="0" lvl="0" marL="0" marR="0" rtl="0" algn="l">
              <a:lnSpc>
                <a:spcPct val="110000"/>
              </a:lnSpc>
              <a:spcBef>
                <a:spcPts val="45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Md = k * NP * Y   =&gt; Md  * (1 / k) =  NP * Y</a:t>
            </a:r>
          </a:p>
          <a:p>
            <a:pPr indent="0" lvl="0" marL="0" marR="0" rtl="0" algn="l">
              <a:lnSpc>
                <a:spcPct val="110000"/>
              </a:lnSpc>
              <a:spcBef>
                <a:spcPts val="45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Donde:</a:t>
            </a:r>
          </a:p>
          <a:p>
            <a:pPr indent="0" lvl="0" marL="0" marR="0" rtl="0" algn="l">
              <a:lnSpc>
                <a:spcPct val="110000"/>
              </a:lnSpc>
              <a:spcBef>
                <a:spcPts val="45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Y’: nivel de ingreso nominal</a:t>
            </a:r>
          </a:p>
          <a:p>
            <a:pPr indent="0" lvl="0" marL="0" marR="0" rtl="0" algn="l">
              <a:lnSpc>
                <a:spcPct val="110000"/>
              </a:lnSpc>
              <a:spcBef>
                <a:spcPts val="45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Y: nivel de ingreso real </a:t>
            </a:r>
          </a:p>
          <a:p>
            <a:pPr indent="0" lvl="0" marL="0" marR="0" rtl="0" algn="l">
              <a:lnSpc>
                <a:spcPct val="110000"/>
              </a:lnSpc>
              <a:spcBef>
                <a:spcPts val="45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Md: demanda nominal de dinero</a:t>
            </a:r>
          </a:p>
          <a:p>
            <a:pPr indent="0" lvl="0" marL="0" marR="0" rtl="0" algn="l">
              <a:lnSpc>
                <a:spcPct val="110000"/>
              </a:lnSpc>
              <a:spcBef>
                <a:spcPts val="450"/>
              </a:spcBef>
              <a:spcAft>
                <a:spcPts val="270"/>
              </a:spcAft>
              <a:buClr>
                <a:schemeClr val="dk1"/>
              </a:buClr>
              <a:buSzPct val="25000"/>
              <a:buFont typeface="Arial"/>
              <a:buNone/>
            </a:pPr>
            <a:r>
              <a:rPr b="1" i="0" lang="en-US" sz="1800" u="none" cap="none" strike="noStrike">
                <a:solidFill>
                  <a:schemeClr val="dk1"/>
                </a:solidFill>
                <a:latin typeface="Arial"/>
                <a:ea typeface="Arial"/>
                <a:cs typeface="Arial"/>
                <a:sym typeface="Arial"/>
              </a:rPr>
              <a:t>k: proporción de ingreso que se demanda como dinero.</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2" name="Shape 92"/>
        <p:cNvGrpSpPr/>
        <p:nvPr/>
      </p:nvGrpSpPr>
      <p:grpSpPr>
        <a:xfrm>
          <a:off x="0" y="0"/>
          <a:ext cx="0" cy="0"/>
          <a:chOff x="0" y="0"/>
          <a:chExt cx="0" cy="0"/>
        </a:xfrm>
      </p:grpSpPr>
      <p:pic>
        <p:nvPicPr>
          <p:cNvPr id="93" name="Shape 93"/>
          <p:cNvPicPr preferRelativeResize="0"/>
          <p:nvPr/>
        </p:nvPicPr>
        <p:blipFill rotWithShape="1">
          <a:blip r:embed="rId3">
            <a:alphaModFix/>
          </a:blip>
          <a:srcRect b="0" l="0" r="0" t="0"/>
          <a:stretch/>
        </p:blipFill>
        <p:spPr>
          <a:xfrm>
            <a:off x="263525" y="1295400"/>
            <a:ext cx="8610599" cy="209549"/>
          </a:xfrm>
          <a:prstGeom prst="rect">
            <a:avLst/>
          </a:prstGeom>
          <a:noFill/>
          <a:ln>
            <a:noFill/>
          </a:ln>
        </p:spPr>
      </p:pic>
      <p:sp>
        <p:nvSpPr>
          <p:cNvPr id="94" name="Shape 94"/>
          <p:cNvSpPr txBox="1"/>
          <p:nvPr/>
        </p:nvSpPr>
        <p:spPr>
          <a:xfrm>
            <a:off x="4038600" y="473075"/>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Enfoque de Cambridge</a:t>
            </a:r>
          </a:p>
        </p:txBody>
      </p:sp>
      <p:pic>
        <p:nvPicPr>
          <p:cNvPr id="95" name="Shape 95"/>
          <p:cNvPicPr preferRelativeResize="0"/>
          <p:nvPr/>
        </p:nvPicPr>
        <p:blipFill rotWithShape="1">
          <a:blip r:embed="rId4">
            <a:alphaModFix/>
          </a:blip>
          <a:srcRect b="0" l="0" r="0" t="0"/>
          <a:stretch/>
        </p:blipFill>
        <p:spPr>
          <a:xfrm>
            <a:off x="492125" y="533400"/>
            <a:ext cx="3013074" cy="608011"/>
          </a:xfrm>
          <a:prstGeom prst="rect">
            <a:avLst/>
          </a:prstGeom>
          <a:noFill/>
          <a:ln>
            <a:noFill/>
          </a:ln>
        </p:spPr>
      </p:pic>
      <p:sp>
        <p:nvSpPr>
          <p:cNvPr id="96" name="Shape 96"/>
          <p:cNvSpPr txBox="1"/>
          <p:nvPr/>
        </p:nvSpPr>
        <p:spPr>
          <a:xfrm>
            <a:off x="304800" y="1524000"/>
            <a:ext cx="8569325" cy="2289174"/>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Si la demanda nominal de moneda (Md) = k * NP * Y =&gt; entonces la demanda real de moneda (Md/NP) = k * Y  guarda una relación “k” constante con el ingreso.</a:t>
            </a:r>
          </a:p>
          <a:p>
            <a:pPr indent="0" lvl="0" marL="0" marR="0" rtl="0" algn="l">
              <a:lnSpc>
                <a:spcPct val="100000"/>
              </a:lnSpc>
              <a:spcBef>
                <a:spcPts val="0"/>
              </a:spcBef>
              <a:spcAft>
                <a:spcPts val="0"/>
              </a:spcAft>
              <a:buClr>
                <a:schemeClr val="dk1"/>
              </a:buClr>
              <a:buFont typeface="Calibri"/>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proporción </a:t>
            </a:r>
            <a:r>
              <a:rPr b="1" i="0" lang="en-US" sz="1800" u="none" cap="none" strike="noStrike">
                <a:solidFill>
                  <a:srgbClr val="2F8F0D"/>
                </a:solidFill>
                <a:latin typeface="Arial"/>
                <a:ea typeface="Arial"/>
                <a:cs typeface="Arial"/>
                <a:sym typeface="Arial"/>
              </a:rPr>
              <a:t>“k”,</a:t>
            </a:r>
            <a:r>
              <a:rPr b="0" i="0" lang="en-US" sz="1800" u="none" cap="none" strike="noStrike">
                <a:solidFill>
                  <a:schemeClr val="dk1"/>
                </a:solidFill>
                <a:latin typeface="Arial"/>
                <a:ea typeface="Arial"/>
                <a:cs typeface="Arial"/>
                <a:sym typeface="Arial"/>
              </a:rPr>
              <a:t> que permanece constante en la ecuación de la demanda de dinero, es considerada por </a:t>
            </a:r>
            <a:r>
              <a:rPr b="1" i="0" lang="en-US" sz="1800" u="none" cap="none" strike="noStrike">
                <a:solidFill>
                  <a:srgbClr val="2F8F0D"/>
                </a:solidFill>
                <a:latin typeface="Arial"/>
                <a:ea typeface="Arial"/>
                <a:cs typeface="Arial"/>
                <a:sym typeface="Arial"/>
              </a:rPr>
              <a:t>El Enfoque de Cambridge</a:t>
            </a:r>
            <a:r>
              <a:rPr b="0" i="0" lang="en-US" sz="1800" u="none" cap="none" strike="noStrike">
                <a:solidFill>
                  <a:schemeClr val="dk1"/>
                </a:solidFill>
                <a:latin typeface="Arial"/>
                <a:ea typeface="Arial"/>
                <a:cs typeface="Arial"/>
                <a:sym typeface="Arial"/>
              </a:rPr>
              <a:t> como una variable estable en el corto plazo, dado que depende de factores igualmente estables como la </a:t>
            </a:r>
            <a:r>
              <a:rPr b="1" i="1" lang="en-US" sz="1800" u="none" cap="none" strike="noStrike">
                <a:solidFill>
                  <a:srgbClr val="2F8F0D"/>
                </a:solidFill>
                <a:latin typeface="Arial"/>
                <a:ea typeface="Arial"/>
                <a:cs typeface="Arial"/>
                <a:sym typeface="Arial"/>
              </a:rPr>
              <a:t>tecnología bancaria que afecta el desarrollo de los sistemas de pago de la economía y la periodicidad de los mismos</a:t>
            </a:r>
            <a:r>
              <a:rPr b="0" i="0" lang="en-US" sz="1800" u="none" cap="none" strike="noStrike">
                <a:solidFill>
                  <a:schemeClr val="dk1"/>
                </a:solidFill>
                <a:latin typeface="Arial"/>
                <a:ea typeface="Arial"/>
                <a:cs typeface="Arial"/>
                <a:sym typeface="Arial"/>
              </a:rPr>
              <a:t>. </a:t>
            </a:r>
          </a:p>
        </p:txBody>
      </p:sp>
      <p:sp>
        <p:nvSpPr>
          <p:cNvPr id="97" name="Shape 97"/>
          <p:cNvSpPr txBox="1"/>
          <p:nvPr/>
        </p:nvSpPr>
        <p:spPr>
          <a:xfrm>
            <a:off x="228600" y="4340225"/>
            <a:ext cx="8669337" cy="1901824"/>
          </a:xfrm>
          <a:prstGeom prst="rect">
            <a:avLst/>
          </a:prstGeom>
          <a:noFill/>
          <a:ln>
            <a:noFill/>
          </a:ln>
        </p:spPr>
        <p:txBody>
          <a:bodyPr anchorCtr="0" anchor="ctr" bIns="45700" lIns="91425" rIns="91425" tIns="45700">
            <a:noAutofit/>
          </a:bodyPr>
          <a:lstStyle/>
          <a:p>
            <a:pPr indent="0" lvl="0" marL="0" marR="0" rtl="0" algn="l">
              <a:lnSpc>
                <a:spcPct val="110000"/>
              </a:lnSpc>
              <a:spcBef>
                <a:spcPts val="0"/>
              </a:spcBef>
              <a:spcAft>
                <a:spcPts val="270"/>
              </a:spcAft>
              <a:buClr>
                <a:schemeClr val="dk1"/>
              </a:buClr>
              <a:buSzPct val="25000"/>
              <a:buFont typeface="Arial"/>
              <a:buNone/>
            </a:pPr>
            <a:r>
              <a:rPr b="1" i="0" lang="en-US" sz="1800" u="none" cap="none" strike="noStrike">
                <a:solidFill>
                  <a:schemeClr val="dk1"/>
                </a:solidFill>
                <a:latin typeface="Arial"/>
                <a:ea typeface="Arial"/>
                <a:cs typeface="Arial"/>
                <a:sym typeface="Arial"/>
              </a:rPr>
              <a:t>La proporción “k” representa en la ecuación de la demanda de dinero el porcentaje de ingresos que las personas están dispuestas a conservar en dinero (inmovilizar), un concepto que viene a ser la inversa de la velocidad de circulación del dinero “V” contenida en la ecuación de cambios de Irving Fisher, es por eso, que técnicamente se considera que “k” como la inversa de la velocidad de circulación del dinero.</a:t>
            </a:r>
            <a:r>
              <a:rPr b="0" i="0" lang="en-US" sz="1800" u="none" cap="none" strike="noStrike">
                <a:solidFill>
                  <a:schemeClr val="dk1"/>
                </a:solidFill>
                <a:latin typeface="Arial"/>
                <a:ea typeface="Arial"/>
                <a:cs typeface="Arial"/>
                <a:sym typeface="Arial"/>
              </a:rPr>
              <a:t> </a:t>
            </a:r>
            <a:r>
              <a:rPr b="1" i="0" lang="en-US" sz="1800" u="none" cap="none" strike="noStrike">
                <a:solidFill>
                  <a:srgbClr val="2F8F0D"/>
                </a:solidFill>
                <a:latin typeface="Arial"/>
                <a:ea typeface="Arial"/>
                <a:cs typeface="Arial"/>
                <a:sym typeface="Arial"/>
              </a:rPr>
              <a:t>=&gt; k = 1 / V</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1" name="Shape 101"/>
        <p:cNvGrpSpPr/>
        <p:nvPr/>
      </p:nvGrpSpPr>
      <p:grpSpPr>
        <a:xfrm>
          <a:off x="0" y="0"/>
          <a:ext cx="0" cy="0"/>
          <a:chOff x="0" y="0"/>
          <a:chExt cx="0" cy="0"/>
        </a:xfrm>
      </p:grpSpPr>
      <p:pic>
        <p:nvPicPr>
          <p:cNvPr id="102" name="Shape 102"/>
          <p:cNvPicPr preferRelativeResize="0"/>
          <p:nvPr/>
        </p:nvPicPr>
        <p:blipFill rotWithShape="1">
          <a:blip r:embed="rId3">
            <a:alphaModFix/>
          </a:blip>
          <a:srcRect b="0" l="0" r="0" t="0"/>
          <a:stretch/>
        </p:blipFill>
        <p:spPr>
          <a:xfrm>
            <a:off x="263525" y="1238250"/>
            <a:ext cx="8610599" cy="209549"/>
          </a:xfrm>
          <a:prstGeom prst="rect">
            <a:avLst/>
          </a:prstGeom>
          <a:noFill/>
          <a:ln>
            <a:noFill/>
          </a:ln>
        </p:spPr>
      </p:pic>
      <p:pic>
        <p:nvPicPr>
          <p:cNvPr id="103" name="Shape 103"/>
          <p:cNvPicPr preferRelativeResize="0"/>
          <p:nvPr/>
        </p:nvPicPr>
        <p:blipFill rotWithShape="1">
          <a:blip r:embed="rId4">
            <a:alphaModFix/>
          </a:blip>
          <a:srcRect b="0" l="0" r="0" t="0"/>
          <a:stretch/>
        </p:blipFill>
        <p:spPr>
          <a:xfrm>
            <a:off x="457200" y="1447800"/>
            <a:ext cx="8626474" cy="5114925"/>
          </a:xfrm>
          <a:prstGeom prst="rect">
            <a:avLst/>
          </a:prstGeom>
          <a:noFill/>
          <a:ln>
            <a:noFill/>
          </a:ln>
        </p:spPr>
      </p:pic>
      <p:pic>
        <p:nvPicPr>
          <p:cNvPr id="104" name="Shape 104"/>
          <p:cNvPicPr preferRelativeResize="0"/>
          <p:nvPr/>
        </p:nvPicPr>
        <p:blipFill rotWithShape="1">
          <a:blip r:embed="rId5">
            <a:alphaModFix/>
          </a:blip>
          <a:srcRect b="0" l="0" r="0" t="0"/>
          <a:stretch/>
        </p:blipFill>
        <p:spPr>
          <a:xfrm>
            <a:off x="568325" y="534987"/>
            <a:ext cx="3013074" cy="608011"/>
          </a:xfrm>
          <a:prstGeom prst="rect">
            <a:avLst/>
          </a:prstGeom>
          <a:noFill/>
          <a:ln>
            <a:noFill/>
          </a:ln>
        </p:spPr>
      </p:pic>
      <p:sp>
        <p:nvSpPr>
          <p:cNvPr id="105" name="Shape 105"/>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06" name="Shape 106"/>
          <p:cNvSpPr txBox="1"/>
          <p:nvPr/>
        </p:nvSpPr>
        <p:spPr>
          <a:xfrm>
            <a:off x="3505200" y="609600"/>
            <a:ext cx="5486399"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CRÉDITO</a:t>
            </a:r>
          </a:p>
        </p:txBody>
      </p:sp>
      <p:sp>
        <p:nvSpPr>
          <p:cNvPr id="107" name="Shape 107"/>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Shape 108"/>
          <p:cNvSpPr txBox="1"/>
          <p:nvPr/>
        </p:nvSpPr>
        <p:spPr>
          <a:xfrm>
            <a:off x="381000" y="1538287"/>
            <a:ext cx="8493124" cy="9159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CREDITO</a:t>
            </a:r>
            <a:r>
              <a:rPr b="0" i="0" lang="en-US" sz="1800" u="none" cap="none" strike="noStrike">
                <a:solidFill>
                  <a:schemeClr val="dk1"/>
                </a:solidFill>
                <a:latin typeface="Arial"/>
                <a:ea typeface="Arial"/>
                <a:cs typeface="Arial"/>
                <a:sym typeface="Arial"/>
              </a:rPr>
              <a:t> es el intercambio de </a:t>
            </a:r>
            <a:r>
              <a:rPr b="1" i="0" lang="en-US" sz="1800" u="none" cap="none" strike="noStrike">
                <a:solidFill>
                  <a:srgbClr val="2F8F0D"/>
                </a:solidFill>
                <a:latin typeface="Arial"/>
                <a:ea typeface="Arial"/>
                <a:cs typeface="Arial"/>
                <a:sym typeface="Arial"/>
              </a:rPr>
              <a:t>un bien presente</a:t>
            </a:r>
            <a:r>
              <a:rPr b="0" i="0" lang="en-US" sz="1800" u="none" cap="none" strike="noStrike">
                <a:solidFill>
                  <a:schemeClr val="dk1"/>
                </a:solidFill>
                <a:latin typeface="Arial"/>
                <a:ea typeface="Arial"/>
                <a:cs typeface="Arial"/>
                <a:sym typeface="Arial"/>
              </a:rPr>
              <a:t>, que entrega el acreedor o prestamista, por </a:t>
            </a:r>
            <a:r>
              <a:rPr b="1" i="0" lang="en-US" sz="1800" u="none" cap="none" strike="noStrike">
                <a:solidFill>
                  <a:schemeClr val="hlink"/>
                </a:solidFill>
                <a:latin typeface="Arial"/>
                <a:ea typeface="Arial"/>
                <a:cs typeface="Arial"/>
                <a:sym typeface="Arial"/>
              </a:rPr>
              <a:t>un bien futuro</a:t>
            </a:r>
            <a:r>
              <a:rPr b="0" i="0" lang="en-US" sz="1800" u="none" cap="none" strike="noStrike">
                <a:solidFill>
                  <a:schemeClr val="dk1"/>
                </a:solidFill>
                <a:latin typeface="Arial"/>
                <a:ea typeface="Arial"/>
                <a:cs typeface="Arial"/>
                <a:sym typeface="Arial"/>
              </a:rPr>
              <a:t>, que entregará el deudor o prestatario, basado en la confianza y solvencia que aquel le concede a este.</a:t>
            </a:r>
          </a:p>
        </p:txBody>
      </p:sp>
      <p:pic>
        <p:nvPicPr>
          <p:cNvPr id="109" name="Shape 109"/>
          <p:cNvPicPr preferRelativeResize="0"/>
          <p:nvPr/>
        </p:nvPicPr>
        <p:blipFill rotWithShape="1">
          <a:blip r:embed="rId6">
            <a:alphaModFix/>
          </a:blip>
          <a:srcRect b="0" l="0" r="0" t="0"/>
          <a:stretch/>
        </p:blipFill>
        <p:spPr>
          <a:xfrm>
            <a:off x="457200" y="4572000"/>
            <a:ext cx="1904999" cy="1981199"/>
          </a:xfrm>
          <a:prstGeom prst="rect">
            <a:avLst/>
          </a:prstGeom>
          <a:noFill/>
          <a:ln>
            <a:noFill/>
          </a:ln>
        </p:spPr>
      </p:pic>
      <p:pic>
        <p:nvPicPr>
          <p:cNvPr id="110" name="Shape 110"/>
          <p:cNvPicPr preferRelativeResize="0"/>
          <p:nvPr/>
        </p:nvPicPr>
        <p:blipFill rotWithShape="1">
          <a:blip r:embed="rId7">
            <a:alphaModFix/>
          </a:blip>
          <a:srcRect b="0" l="0" r="0" t="0"/>
          <a:stretch/>
        </p:blipFill>
        <p:spPr>
          <a:xfrm>
            <a:off x="6324600" y="2362200"/>
            <a:ext cx="2038349" cy="2057400"/>
          </a:xfrm>
          <a:prstGeom prst="rect">
            <a:avLst/>
          </a:prstGeom>
          <a:noFill/>
          <a:ln>
            <a:noFill/>
          </a:ln>
        </p:spPr>
      </p:pic>
      <p:pic>
        <p:nvPicPr>
          <p:cNvPr id="111" name="Shape 111"/>
          <p:cNvPicPr preferRelativeResize="0"/>
          <p:nvPr/>
        </p:nvPicPr>
        <p:blipFill rotWithShape="1">
          <a:blip r:embed="rId8">
            <a:alphaModFix/>
          </a:blip>
          <a:srcRect b="0" l="0" r="0" t="0"/>
          <a:stretch/>
        </p:blipFill>
        <p:spPr>
          <a:xfrm>
            <a:off x="2819400" y="2743200"/>
            <a:ext cx="3200399" cy="3657600"/>
          </a:xfrm>
          <a:prstGeom prst="rect">
            <a:avLst/>
          </a:prstGeom>
          <a:noFill/>
          <a:ln>
            <a:noFill/>
          </a:ln>
        </p:spPr>
      </p:pic>
      <p:pic>
        <p:nvPicPr>
          <p:cNvPr id="112" name="Shape 112"/>
          <p:cNvPicPr preferRelativeResize="0"/>
          <p:nvPr/>
        </p:nvPicPr>
        <p:blipFill rotWithShape="1">
          <a:blip r:embed="rId9">
            <a:alphaModFix/>
          </a:blip>
          <a:srcRect b="0" l="0" r="0" t="0"/>
          <a:stretch/>
        </p:blipFill>
        <p:spPr>
          <a:xfrm>
            <a:off x="657225" y="2454275"/>
            <a:ext cx="1904999" cy="1965324"/>
          </a:xfrm>
          <a:prstGeom prst="rect">
            <a:avLst/>
          </a:prstGeom>
          <a:noFill/>
          <a:ln>
            <a:noFill/>
          </a:ln>
        </p:spPr>
      </p:pic>
      <p:pic>
        <p:nvPicPr>
          <p:cNvPr id="113" name="Shape 113"/>
          <p:cNvPicPr preferRelativeResize="0"/>
          <p:nvPr/>
        </p:nvPicPr>
        <p:blipFill rotWithShape="1">
          <a:blip r:embed="rId10">
            <a:alphaModFix/>
          </a:blip>
          <a:srcRect b="0" l="0" r="0" t="0"/>
          <a:stretch/>
        </p:blipFill>
        <p:spPr>
          <a:xfrm>
            <a:off x="6267450" y="4572000"/>
            <a:ext cx="2038349" cy="1981199"/>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17" name="Shape 117"/>
        <p:cNvGrpSpPr/>
        <p:nvPr/>
      </p:nvGrpSpPr>
      <p:grpSpPr>
        <a:xfrm>
          <a:off x="0" y="0"/>
          <a:ext cx="0" cy="0"/>
          <a:chOff x="0" y="0"/>
          <a:chExt cx="0" cy="0"/>
        </a:xfrm>
      </p:grpSpPr>
      <p:pic>
        <p:nvPicPr>
          <p:cNvPr id="118" name="Shape 118"/>
          <p:cNvPicPr preferRelativeResize="0"/>
          <p:nvPr/>
        </p:nvPicPr>
        <p:blipFill rotWithShape="1">
          <a:blip r:embed="rId3">
            <a:alphaModFix/>
          </a:blip>
          <a:srcRect b="0" l="0" r="0" t="0"/>
          <a:stretch/>
        </p:blipFill>
        <p:spPr>
          <a:xfrm>
            <a:off x="271462" y="1085850"/>
            <a:ext cx="8610599" cy="209549"/>
          </a:xfrm>
          <a:prstGeom prst="rect">
            <a:avLst/>
          </a:prstGeom>
          <a:noFill/>
          <a:ln>
            <a:noFill/>
          </a:ln>
        </p:spPr>
      </p:pic>
      <p:pic>
        <p:nvPicPr>
          <p:cNvPr id="119" name="Shape 119"/>
          <p:cNvPicPr preferRelativeResize="0"/>
          <p:nvPr/>
        </p:nvPicPr>
        <p:blipFill rotWithShape="1">
          <a:blip r:embed="rId4">
            <a:alphaModFix/>
          </a:blip>
          <a:srcRect b="0" l="0" r="0" t="0"/>
          <a:stretch/>
        </p:blipFill>
        <p:spPr>
          <a:xfrm>
            <a:off x="255587" y="1444625"/>
            <a:ext cx="8626474" cy="5114925"/>
          </a:xfrm>
          <a:prstGeom prst="rect">
            <a:avLst/>
          </a:prstGeom>
          <a:noFill/>
          <a:ln>
            <a:noFill/>
          </a:ln>
        </p:spPr>
      </p:pic>
      <p:pic>
        <p:nvPicPr>
          <p:cNvPr id="120" name="Shape 120"/>
          <p:cNvPicPr preferRelativeResize="0"/>
          <p:nvPr/>
        </p:nvPicPr>
        <p:blipFill rotWithShape="1">
          <a:blip r:embed="rId5">
            <a:alphaModFix/>
          </a:blip>
          <a:srcRect b="0" l="0" r="0" t="0"/>
          <a:stretch/>
        </p:blipFill>
        <p:spPr>
          <a:xfrm>
            <a:off x="492125" y="457200"/>
            <a:ext cx="3013074" cy="608011"/>
          </a:xfrm>
          <a:prstGeom prst="rect">
            <a:avLst/>
          </a:prstGeom>
          <a:noFill/>
          <a:ln>
            <a:noFill/>
          </a:ln>
        </p:spPr>
      </p:pic>
      <p:sp>
        <p:nvSpPr>
          <p:cNvPr id="121" name="Shape 121"/>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22" name="Shape 122"/>
          <p:cNvSpPr txBox="1"/>
          <p:nvPr/>
        </p:nvSpPr>
        <p:spPr>
          <a:xfrm>
            <a:off x="3505200" y="533400"/>
            <a:ext cx="5486399" cy="4572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CLASIFICACIÓN DEL CRÉDITO</a:t>
            </a:r>
          </a:p>
        </p:txBody>
      </p:sp>
      <p:sp>
        <p:nvSpPr>
          <p:cNvPr id="123" name="Shape 123"/>
          <p:cNvSpPr txBox="1"/>
          <p:nvPr/>
        </p:nvSpPr>
        <p:spPr>
          <a:xfrm>
            <a:off x="346075" y="1547812"/>
            <a:ext cx="8493124" cy="53101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Por la naturaleza de los bienes prestados</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Por la moneda objeto del préstamo: </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Por el tipo de interés: </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Por la forma en que se cobran los intereses:</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Por el sistema de amortización:</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Por la existencia de garantías del cumplimiento de las obligaciones:</a:t>
            </a: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sp>
        <p:nvSpPr>
          <p:cNvPr id="124" name="Shape 124"/>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25" name="Shape 125"/>
          <p:cNvPicPr preferRelativeResize="0"/>
          <p:nvPr/>
        </p:nvPicPr>
        <p:blipFill rotWithShape="1">
          <a:blip r:embed="rId6">
            <a:alphaModFix/>
          </a:blip>
          <a:srcRect b="0" l="0" r="0" t="0"/>
          <a:stretch/>
        </p:blipFill>
        <p:spPr>
          <a:xfrm>
            <a:off x="4953000" y="1646236"/>
            <a:ext cx="1981199" cy="1643062"/>
          </a:xfrm>
          <a:prstGeom prst="rect">
            <a:avLst/>
          </a:prstGeom>
          <a:noFill/>
          <a:ln>
            <a:noFill/>
          </a:ln>
        </p:spPr>
      </p:pic>
      <p:pic>
        <p:nvPicPr>
          <p:cNvPr id="126" name="Shape 126"/>
          <p:cNvPicPr preferRelativeResize="0"/>
          <p:nvPr/>
        </p:nvPicPr>
        <p:blipFill rotWithShape="1">
          <a:blip r:embed="rId7">
            <a:alphaModFix/>
          </a:blip>
          <a:srcRect b="0" l="0" r="0" t="0"/>
          <a:stretch/>
        </p:blipFill>
        <p:spPr>
          <a:xfrm>
            <a:off x="7239000" y="3289300"/>
            <a:ext cx="1600199" cy="1600199"/>
          </a:xfrm>
          <a:prstGeom prst="rect">
            <a:avLst/>
          </a:prstGeom>
          <a:noFill/>
          <a:ln>
            <a:noFill/>
          </a:ln>
        </p:spPr>
      </p:pic>
      <p:pic>
        <p:nvPicPr>
          <p:cNvPr id="127" name="Shape 127"/>
          <p:cNvPicPr preferRelativeResize="0"/>
          <p:nvPr/>
        </p:nvPicPr>
        <p:blipFill rotWithShape="1">
          <a:blip r:embed="rId8">
            <a:alphaModFix/>
          </a:blip>
          <a:srcRect b="0" l="0" r="0" t="0"/>
          <a:stretch/>
        </p:blipFill>
        <p:spPr>
          <a:xfrm>
            <a:off x="4343400" y="4889500"/>
            <a:ext cx="2895600" cy="1323975"/>
          </a:xfrm>
          <a:prstGeom prst="rect">
            <a:avLst/>
          </a:prstGeom>
          <a:noFill/>
          <a:ln>
            <a:noFill/>
          </a:ln>
        </p:spPr>
      </p:pic>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1" name="Shape 131"/>
        <p:cNvGrpSpPr/>
        <p:nvPr/>
      </p:nvGrpSpPr>
      <p:grpSpPr>
        <a:xfrm>
          <a:off x="0" y="0"/>
          <a:ext cx="0" cy="0"/>
          <a:chOff x="0" y="0"/>
          <a:chExt cx="0" cy="0"/>
        </a:xfrm>
      </p:grpSpPr>
      <p:pic>
        <p:nvPicPr>
          <p:cNvPr id="132" name="Shape 13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33" name="Shape 133"/>
          <p:cNvPicPr preferRelativeResize="0"/>
          <p:nvPr/>
        </p:nvPicPr>
        <p:blipFill rotWithShape="1">
          <a:blip r:embed="rId4">
            <a:alphaModFix/>
          </a:blip>
          <a:srcRect b="0" l="0" r="0" t="0"/>
          <a:stretch/>
        </p:blipFill>
        <p:spPr>
          <a:xfrm>
            <a:off x="247650" y="1444625"/>
            <a:ext cx="8626474" cy="5114925"/>
          </a:xfrm>
          <a:prstGeom prst="rect">
            <a:avLst/>
          </a:prstGeom>
          <a:noFill/>
          <a:ln>
            <a:noFill/>
          </a:ln>
        </p:spPr>
      </p:pic>
      <p:pic>
        <p:nvPicPr>
          <p:cNvPr id="134" name="Shape 134"/>
          <p:cNvPicPr preferRelativeResize="0"/>
          <p:nvPr/>
        </p:nvPicPr>
        <p:blipFill rotWithShape="1">
          <a:blip r:embed="rId5">
            <a:alphaModFix/>
          </a:blip>
          <a:srcRect b="0" l="0" r="0" t="0"/>
          <a:stretch/>
        </p:blipFill>
        <p:spPr>
          <a:xfrm>
            <a:off x="415925" y="457200"/>
            <a:ext cx="3013074" cy="608011"/>
          </a:xfrm>
          <a:prstGeom prst="rect">
            <a:avLst/>
          </a:prstGeom>
          <a:noFill/>
          <a:ln>
            <a:noFill/>
          </a:ln>
        </p:spPr>
      </p:pic>
      <p:sp>
        <p:nvSpPr>
          <p:cNvPr id="135" name="Shape 135"/>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36" name="Shape 136"/>
          <p:cNvSpPr txBox="1"/>
          <p:nvPr/>
        </p:nvSpPr>
        <p:spPr>
          <a:xfrm>
            <a:off x="3505200" y="547687"/>
            <a:ext cx="5486399"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INTERÉS</a:t>
            </a:r>
          </a:p>
        </p:txBody>
      </p:sp>
      <p:sp>
        <p:nvSpPr>
          <p:cNvPr id="137" name="Shape 137"/>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Shape 138"/>
          <p:cNvSpPr txBox="1"/>
          <p:nvPr/>
        </p:nvSpPr>
        <p:spPr>
          <a:xfrm>
            <a:off x="269875" y="1676400"/>
            <a:ext cx="8493124" cy="1739899"/>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INTERÉS</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Es un monto en dinero que corresponde a un porcentaje del crédito aprobado, este dinero </a:t>
            </a:r>
            <a:r>
              <a:rPr b="1" i="0" lang="en-US" sz="1800" u="none" cap="none" strike="noStrike">
                <a:solidFill>
                  <a:srgbClr val="2F8F0D"/>
                </a:solidFill>
                <a:latin typeface="Arial"/>
                <a:ea typeface="Arial"/>
                <a:cs typeface="Arial"/>
                <a:sym typeface="Arial"/>
              </a:rPr>
              <a:t>debe ser pagado al acreedor</a:t>
            </a:r>
            <a:r>
              <a:rPr b="0" i="0" lang="en-US" sz="1800" u="none" cap="none" strike="noStrike">
                <a:solidFill>
                  <a:schemeClr val="dk1"/>
                </a:solidFill>
                <a:latin typeface="Arial"/>
                <a:ea typeface="Arial"/>
                <a:cs typeface="Arial"/>
                <a:sym typeface="Arial"/>
              </a:rPr>
              <a:t> en retribución por el préstamo en dinero recibido. </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pic>
        <p:nvPicPr>
          <p:cNvPr id="139" name="Shape 139"/>
          <p:cNvPicPr preferRelativeResize="0"/>
          <p:nvPr/>
        </p:nvPicPr>
        <p:blipFill rotWithShape="1">
          <a:blip r:embed="rId6">
            <a:alphaModFix/>
          </a:blip>
          <a:srcRect b="0" l="0" r="0" t="0"/>
          <a:stretch/>
        </p:blipFill>
        <p:spPr>
          <a:xfrm>
            <a:off x="1619250" y="3276600"/>
            <a:ext cx="5905500" cy="2962275"/>
          </a:xfrm>
          <a:prstGeom prst="rect">
            <a:avLst/>
          </a:prstGeom>
          <a:noFill/>
          <a:ln>
            <a:noFill/>
          </a:ln>
        </p:spPr>
      </p:pic>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43" name="Shape 143"/>
        <p:cNvGrpSpPr/>
        <p:nvPr/>
      </p:nvGrpSpPr>
      <p:grpSpPr>
        <a:xfrm>
          <a:off x="0" y="0"/>
          <a:ext cx="0" cy="0"/>
          <a:chOff x="0" y="0"/>
          <a:chExt cx="0" cy="0"/>
        </a:xfrm>
      </p:grpSpPr>
      <p:pic>
        <p:nvPicPr>
          <p:cNvPr id="144" name="Shape 14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45" name="Shape 145"/>
          <p:cNvPicPr preferRelativeResize="0"/>
          <p:nvPr/>
        </p:nvPicPr>
        <p:blipFill rotWithShape="1">
          <a:blip r:embed="rId4">
            <a:alphaModFix/>
          </a:blip>
          <a:srcRect b="0" l="0" r="0" t="0"/>
          <a:stretch/>
        </p:blipFill>
        <p:spPr>
          <a:xfrm>
            <a:off x="263525" y="1477962"/>
            <a:ext cx="8626474" cy="5114925"/>
          </a:xfrm>
          <a:prstGeom prst="rect">
            <a:avLst/>
          </a:prstGeom>
          <a:noFill/>
          <a:ln>
            <a:noFill/>
          </a:ln>
        </p:spPr>
      </p:pic>
      <p:pic>
        <p:nvPicPr>
          <p:cNvPr id="146" name="Shape 146"/>
          <p:cNvPicPr preferRelativeResize="0"/>
          <p:nvPr/>
        </p:nvPicPr>
        <p:blipFill rotWithShape="1">
          <a:blip r:embed="rId5">
            <a:alphaModFix/>
          </a:blip>
          <a:srcRect b="0" l="0" r="0" t="0"/>
          <a:stretch/>
        </p:blipFill>
        <p:spPr>
          <a:xfrm>
            <a:off x="492125" y="458787"/>
            <a:ext cx="3013074" cy="608011"/>
          </a:xfrm>
          <a:prstGeom prst="rect">
            <a:avLst/>
          </a:prstGeom>
          <a:noFill/>
          <a:ln>
            <a:noFill/>
          </a:ln>
        </p:spPr>
      </p:pic>
      <p:sp>
        <p:nvSpPr>
          <p:cNvPr id="147" name="Shape 147"/>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48" name="Shape 148"/>
          <p:cNvSpPr txBox="1"/>
          <p:nvPr/>
        </p:nvSpPr>
        <p:spPr>
          <a:xfrm>
            <a:off x="3505200" y="471487"/>
            <a:ext cx="5486399"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TASA O TIPO DE INTERÉS</a:t>
            </a:r>
          </a:p>
        </p:txBody>
      </p:sp>
      <p:sp>
        <p:nvSpPr>
          <p:cNvPr id="149" name="Shape 149"/>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Shape 150"/>
          <p:cNvSpPr txBox="1"/>
          <p:nvPr/>
        </p:nvSpPr>
        <p:spPr>
          <a:xfrm>
            <a:off x="838200" y="1647825"/>
            <a:ext cx="5257799" cy="1465261"/>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TASA DE INTERÉS</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La </a:t>
            </a:r>
            <a:r>
              <a:rPr b="1" i="1" lang="en-US" sz="1800" u="none" cap="none" strike="noStrike">
                <a:solidFill>
                  <a:srgbClr val="2F8F0D"/>
                </a:solidFill>
                <a:latin typeface="Arial"/>
                <a:ea typeface="Arial"/>
                <a:cs typeface="Arial"/>
                <a:sym typeface="Arial"/>
              </a:rPr>
              <a:t>tasa de interés</a:t>
            </a:r>
            <a:r>
              <a:rPr b="1" i="1" lang="en-US" sz="1800" u="none" cap="none" strike="noStrike">
                <a:solidFill>
                  <a:schemeClr val="dk1"/>
                </a:solidFill>
                <a:latin typeface="Arial"/>
                <a:ea typeface="Arial"/>
                <a:cs typeface="Arial"/>
                <a:sym typeface="Arial"/>
              </a:rPr>
              <a:t> es el rendimiento producido por la unidad de capital en la unidad de tiempo.</a:t>
            </a: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pic>
        <p:nvPicPr>
          <p:cNvPr id="151" name="Shape 151"/>
          <p:cNvPicPr preferRelativeResize="0"/>
          <p:nvPr/>
        </p:nvPicPr>
        <p:blipFill rotWithShape="1">
          <a:blip r:embed="rId6">
            <a:alphaModFix/>
          </a:blip>
          <a:srcRect b="0" l="0" r="0" t="0"/>
          <a:stretch/>
        </p:blipFill>
        <p:spPr>
          <a:xfrm>
            <a:off x="3733800" y="3333750"/>
            <a:ext cx="2209799" cy="2381249"/>
          </a:xfrm>
          <a:prstGeom prst="rect">
            <a:avLst/>
          </a:prstGeom>
          <a:noFill/>
          <a:ln>
            <a:noFill/>
          </a:ln>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5" name="Shape 155"/>
        <p:cNvGrpSpPr/>
        <p:nvPr/>
      </p:nvGrpSpPr>
      <p:grpSpPr>
        <a:xfrm>
          <a:off x="0" y="0"/>
          <a:ext cx="0" cy="0"/>
          <a:chOff x="0" y="0"/>
          <a:chExt cx="0" cy="0"/>
        </a:xfrm>
      </p:grpSpPr>
      <p:pic>
        <p:nvPicPr>
          <p:cNvPr id="156" name="Shape 15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57" name="Shape 157"/>
          <p:cNvPicPr preferRelativeResize="0"/>
          <p:nvPr/>
        </p:nvPicPr>
        <p:blipFill rotWithShape="1">
          <a:blip r:embed="rId4">
            <a:alphaModFix/>
          </a:blip>
          <a:srcRect b="0" l="0" r="0" t="0"/>
          <a:stretch/>
        </p:blipFill>
        <p:spPr>
          <a:xfrm>
            <a:off x="255587" y="1444625"/>
            <a:ext cx="8626474" cy="5114925"/>
          </a:xfrm>
          <a:prstGeom prst="rect">
            <a:avLst/>
          </a:prstGeom>
          <a:noFill/>
          <a:ln>
            <a:noFill/>
          </a:ln>
        </p:spPr>
      </p:pic>
      <p:pic>
        <p:nvPicPr>
          <p:cNvPr id="158" name="Shape 158"/>
          <p:cNvPicPr preferRelativeResize="0"/>
          <p:nvPr/>
        </p:nvPicPr>
        <p:blipFill rotWithShape="1">
          <a:blip r:embed="rId5">
            <a:alphaModFix/>
          </a:blip>
          <a:srcRect b="0" l="0" r="0" t="0"/>
          <a:stretch/>
        </p:blipFill>
        <p:spPr>
          <a:xfrm>
            <a:off x="492125" y="458787"/>
            <a:ext cx="3013074" cy="608011"/>
          </a:xfrm>
          <a:prstGeom prst="rect">
            <a:avLst/>
          </a:prstGeom>
          <a:noFill/>
          <a:ln>
            <a:noFill/>
          </a:ln>
        </p:spPr>
      </p:pic>
      <p:sp>
        <p:nvSpPr>
          <p:cNvPr id="159" name="Shape 159"/>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60" name="Shape 160"/>
          <p:cNvSpPr txBox="1"/>
          <p:nvPr/>
        </p:nvSpPr>
        <p:spPr>
          <a:xfrm>
            <a:off x="3581400" y="471487"/>
            <a:ext cx="5486399"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TASA DE INTERÉS NOMINAL</a:t>
            </a:r>
          </a:p>
        </p:txBody>
      </p:sp>
      <p:sp>
        <p:nvSpPr>
          <p:cNvPr id="161" name="Shape 161"/>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Shape 162"/>
          <p:cNvSpPr txBox="1"/>
          <p:nvPr/>
        </p:nvSpPr>
        <p:spPr>
          <a:xfrm>
            <a:off x="457200" y="1516062"/>
            <a:ext cx="7924799" cy="201453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TASA DE INTERÉS NOMINAL</a:t>
            </a:r>
          </a:p>
          <a:p>
            <a:pPr indent="0" lvl="0" marL="0" marR="0" rtl="0" algn="l">
              <a:lnSpc>
                <a:spcPct val="100000"/>
              </a:lnSpc>
              <a:spcBef>
                <a:spcPts val="0"/>
              </a:spcBef>
              <a:spcAft>
                <a:spcPts val="0"/>
              </a:spcAft>
              <a:buClr>
                <a:schemeClr val="dk1"/>
              </a:buClr>
              <a:buFont typeface="Calibri"/>
              <a:buNone/>
            </a:pPr>
            <a:r>
              <a:t/>
            </a:r>
            <a:endParaRPr b="1" i="0" sz="1800" u="none" cap="none" strike="noStrike">
              <a:solidFill>
                <a:srgbClr val="2F8F0D"/>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Usando la </a:t>
            </a:r>
            <a:r>
              <a:rPr b="1" i="1" lang="en-US" sz="1800" u="none" cap="none" strike="noStrike">
                <a:solidFill>
                  <a:srgbClr val="2F8F0D"/>
                </a:solidFill>
                <a:latin typeface="Arial"/>
                <a:ea typeface="Arial"/>
                <a:cs typeface="Arial"/>
                <a:sym typeface="Arial"/>
              </a:rPr>
              <a:t>tasa nominal anual</a:t>
            </a:r>
            <a:r>
              <a:rPr b="1" i="1" lang="en-US" sz="1800" u="none" cap="none" strike="noStrike">
                <a:solidFill>
                  <a:schemeClr val="dk1"/>
                </a:solidFill>
                <a:latin typeface="Arial"/>
                <a:ea typeface="Arial"/>
                <a:cs typeface="Arial"/>
                <a:sym typeface="Arial"/>
              </a:rPr>
              <a:t> se hace posible para el gran público, </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-que no maneja los conocimientos de matemática financiera avanzada- la comprensión y el control de la liquidación de intereses mediante la utilización de la fórmula de interés simple.</a:t>
            </a: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graphicFrame>
        <p:nvGraphicFramePr>
          <p:cNvPr id="163" name="Shape 163"/>
          <p:cNvGraphicFramePr/>
          <p:nvPr/>
        </p:nvGraphicFramePr>
        <p:xfrm>
          <a:off x="263525" y="3924300"/>
          <a:ext cx="3000000" cy="3000000"/>
        </p:xfrm>
        <a:graphic>
          <a:graphicData uri="http://schemas.openxmlformats.org/drawingml/2006/table">
            <a:tbl>
              <a:tblPr>
                <a:noFill/>
                <a:tableStyleId>{4D563085-A933-4687-BFC1-165E53BC5F1F}</a:tableStyleId>
              </a:tblPr>
              <a:tblGrid>
                <a:gridCol w="8728075"/>
              </a:tblGrid>
              <a:tr h="990600">
                <a:tc>
                  <a:txBody>
                    <a:bodyPr>
                      <a:noAutofit/>
                    </a:bodyPr>
                    <a:lstStyle/>
                    <a:p>
                      <a:pPr indent="0" lvl="0" marL="0" marR="0" rtl="0" algn="l">
                        <a:lnSpc>
                          <a:spcPct val="100000"/>
                        </a:lnSpc>
                        <a:spcBef>
                          <a:spcPts val="0"/>
                        </a:spcBef>
                        <a:spcAft>
                          <a:spcPts val="0"/>
                        </a:spcAft>
                        <a:buClr>
                          <a:srgbClr val="FF0000"/>
                        </a:buClr>
                        <a:buSzPct val="25000"/>
                        <a:buFont typeface="Arial"/>
                        <a:buNone/>
                      </a:pPr>
                      <a:r>
                        <a:rPr b="1" i="0" lang="en-US" sz="1900" u="none" cap="none" strike="noStrike">
                          <a:solidFill>
                            <a:srgbClr val="FF0000"/>
                          </a:solidFill>
                          <a:latin typeface="Arial"/>
                          <a:ea typeface="Arial"/>
                          <a:cs typeface="Arial"/>
                          <a:sym typeface="Arial"/>
                        </a:rPr>
                        <a:t>Interés($) = Capital($) * (TNA(%)/año * 100) * Plazo(días) / 365(días/año)</a:t>
                      </a:r>
                      <a:r>
                        <a:rPr b="1" i="0" lang="en-US" sz="2000" u="none" cap="none" strike="noStrike">
                          <a:solidFill>
                            <a:srgbClr val="FF0000"/>
                          </a:solidFill>
                          <a:latin typeface="Arial"/>
                          <a:ea typeface="Arial"/>
                          <a:cs typeface="Arial"/>
                          <a:sym typeface="Arial"/>
                        </a:rPr>
                        <a:t>  </a:t>
                      </a:r>
                      <a:r>
                        <a:rPr b="1" i="0" lang="en-US" sz="2000" u="none" cap="none" strike="noStrike">
                          <a:solidFill>
                            <a:srgbClr val="FF0000"/>
                          </a:solidFill>
                          <a:latin typeface="Times New Roman"/>
                          <a:ea typeface="Times New Roman"/>
                          <a:cs typeface="Times New Roman"/>
                          <a:sym typeface="Times New Roman"/>
                        </a:rPr>
                        <a:t>  </a:t>
                      </a:r>
                    </a:p>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   </a:t>
                      </a:r>
                    </a:p>
                  </a:txBody>
                  <a:tcPr marT="0" marB="0" marR="0" marL="0" anchor="ctr">
                    <a:lnL cap="flat" cmpd="sng" w="12700">
                      <a:solidFill>
                        <a:srgbClr val="FF0000"/>
                      </a:solidFill>
                      <a:prstDash val="solid"/>
                      <a:round/>
                      <a:headEnd len="med" w="med" type="none"/>
                      <a:tailEnd len="med" w="med" type="none"/>
                    </a:lnL>
                    <a:lnR cap="flat" cmpd="sng" w="12700">
                      <a:solidFill>
                        <a:srgbClr val="FF0000"/>
                      </a:solidFill>
                      <a:prstDash val="solid"/>
                      <a:round/>
                      <a:headEnd len="med" w="med" type="none"/>
                      <a:tailEnd len="med" w="med" type="none"/>
                    </a:lnR>
                    <a:lnT cap="flat" cmpd="sng" w="12700">
                      <a:solidFill>
                        <a:srgbClr val="FF0000"/>
                      </a:solidFill>
                      <a:prstDash val="solid"/>
                      <a:round/>
                      <a:headEnd len="med" w="med" type="none"/>
                      <a:tailEnd len="med" w="med" type="none"/>
                    </a:lnT>
                    <a:lnB cap="flat" cmpd="sng" w="12700">
                      <a:solidFill>
                        <a:srgbClr val="FF0000"/>
                      </a:solidFill>
                      <a:prstDash val="solid"/>
                      <a:round/>
                      <a:headEnd len="med" w="med" type="none"/>
                      <a:tailEnd len="med" w="med" type="none"/>
                    </a:lnB>
                    <a:solidFill>
                      <a:srgbClr val="FFFF00"/>
                    </a:solidFill>
                  </a:tcPr>
                </a:tc>
              </a:tr>
            </a:tbl>
          </a:graphicData>
        </a:graphic>
      </p:graphicFrame>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67" name="Shape 167"/>
        <p:cNvGrpSpPr/>
        <p:nvPr/>
      </p:nvGrpSpPr>
      <p:grpSpPr>
        <a:xfrm>
          <a:off x="0" y="0"/>
          <a:ext cx="0" cy="0"/>
          <a:chOff x="0" y="0"/>
          <a:chExt cx="0" cy="0"/>
        </a:xfrm>
      </p:grpSpPr>
      <p:pic>
        <p:nvPicPr>
          <p:cNvPr id="168" name="Shape 168"/>
          <p:cNvPicPr preferRelativeResize="0"/>
          <p:nvPr/>
        </p:nvPicPr>
        <p:blipFill rotWithShape="1">
          <a:blip r:embed="rId3">
            <a:alphaModFix/>
          </a:blip>
          <a:srcRect b="0" l="0" r="0" t="0"/>
          <a:stretch/>
        </p:blipFill>
        <p:spPr>
          <a:xfrm>
            <a:off x="304800" y="1238250"/>
            <a:ext cx="8610599" cy="209549"/>
          </a:xfrm>
          <a:prstGeom prst="rect">
            <a:avLst/>
          </a:prstGeom>
          <a:noFill/>
          <a:ln>
            <a:noFill/>
          </a:ln>
        </p:spPr>
      </p:pic>
      <p:pic>
        <p:nvPicPr>
          <p:cNvPr id="169" name="Shape 169"/>
          <p:cNvPicPr preferRelativeResize="0"/>
          <p:nvPr/>
        </p:nvPicPr>
        <p:blipFill rotWithShape="1">
          <a:blip r:embed="rId4">
            <a:alphaModFix/>
          </a:blip>
          <a:srcRect b="0" l="0" r="0" t="0"/>
          <a:stretch/>
        </p:blipFill>
        <p:spPr>
          <a:xfrm>
            <a:off x="255587" y="1444625"/>
            <a:ext cx="8626474" cy="5114925"/>
          </a:xfrm>
          <a:prstGeom prst="rect">
            <a:avLst/>
          </a:prstGeom>
          <a:noFill/>
          <a:ln>
            <a:noFill/>
          </a:ln>
        </p:spPr>
      </p:pic>
      <p:pic>
        <p:nvPicPr>
          <p:cNvPr id="170" name="Shape 170"/>
          <p:cNvPicPr preferRelativeResize="0"/>
          <p:nvPr/>
        </p:nvPicPr>
        <p:blipFill rotWithShape="1">
          <a:blip r:embed="rId5">
            <a:alphaModFix/>
          </a:blip>
          <a:srcRect b="0" l="0" r="0" t="0"/>
          <a:stretch/>
        </p:blipFill>
        <p:spPr>
          <a:xfrm>
            <a:off x="492125" y="457200"/>
            <a:ext cx="3013074" cy="608011"/>
          </a:xfrm>
          <a:prstGeom prst="rect">
            <a:avLst/>
          </a:prstGeom>
          <a:noFill/>
          <a:ln>
            <a:noFill/>
          </a:ln>
        </p:spPr>
      </p:pic>
      <p:sp>
        <p:nvSpPr>
          <p:cNvPr id="171" name="Shape 171"/>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72" name="Shape 172"/>
          <p:cNvSpPr txBox="1"/>
          <p:nvPr/>
        </p:nvSpPr>
        <p:spPr>
          <a:xfrm>
            <a:off x="3505200" y="547687"/>
            <a:ext cx="5486399"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TASA DE INTERÉS EFECTIVA</a:t>
            </a:r>
          </a:p>
        </p:txBody>
      </p:sp>
      <p:sp>
        <p:nvSpPr>
          <p:cNvPr id="173" name="Shape 173"/>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Shape 174"/>
          <p:cNvSpPr txBox="1"/>
          <p:nvPr/>
        </p:nvSpPr>
        <p:spPr>
          <a:xfrm>
            <a:off x="304800" y="1646236"/>
            <a:ext cx="8569325" cy="1465261"/>
          </a:xfrm>
          <a:prstGeom prst="rect">
            <a:avLst/>
          </a:prstGeom>
          <a:solidFill>
            <a:srgbClr val="FFFF99"/>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TASA DE INTERÉS EFECTIVA</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a:t>
            </a:r>
            <a:r>
              <a:rPr b="1" i="0" lang="en-US" sz="1800" u="none" cap="none" strike="noStrike">
                <a:solidFill>
                  <a:srgbClr val="2F8F0D"/>
                </a:solidFill>
                <a:latin typeface="Arial"/>
                <a:ea typeface="Arial"/>
                <a:cs typeface="Arial"/>
                <a:sym typeface="Arial"/>
              </a:rPr>
              <a:t>tasa efectiva</a:t>
            </a:r>
            <a:r>
              <a:rPr b="0" i="0" lang="en-US" sz="1800" u="none" cap="none" strike="noStrike">
                <a:solidFill>
                  <a:schemeClr val="dk1"/>
                </a:solidFill>
                <a:latin typeface="Arial"/>
                <a:ea typeface="Arial"/>
                <a:cs typeface="Arial"/>
                <a:sym typeface="Arial"/>
              </a:rPr>
              <a:t> es aquella que aplicada a un régimen de capitalización periódico produce, para un mismo capital y en el mismo tiempo, un monto igual al que se obtiene utilizando </a:t>
            </a:r>
            <a:r>
              <a:rPr b="1" i="0" lang="en-US" sz="1800" u="none" cap="none" strike="noStrike">
                <a:solidFill>
                  <a:srgbClr val="2F8F0D"/>
                </a:solidFill>
                <a:latin typeface="Arial"/>
                <a:ea typeface="Arial"/>
                <a:cs typeface="Arial"/>
                <a:sym typeface="Arial"/>
              </a:rPr>
              <a:t>tasas proporcionales</a:t>
            </a:r>
            <a:r>
              <a:rPr b="0" i="0" lang="en-US" sz="1800" u="none" cap="none" strike="noStrike">
                <a:solidFill>
                  <a:schemeClr val="dk1"/>
                </a:solidFill>
                <a:latin typeface="Arial"/>
                <a:ea typeface="Arial"/>
                <a:cs typeface="Arial"/>
                <a:sym typeface="Arial"/>
              </a:rPr>
              <a:t> en la </a:t>
            </a:r>
            <a:r>
              <a:rPr b="1" i="0" lang="en-US" sz="1800" u="none" cap="none" strike="noStrike">
                <a:solidFill>
                  <a:srgbClr val="2F8F0D"/>
                </a:solidFill>
                <a:latin typeface="Arial"/>
                <a:ea typeface="Arial"/>
                <a:cs typeface="Arial"/>
                <a:sym typeface="Arial"/>
              </a:rPr>
              <a:t>capitalización subperiódica</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sp>
        <p:nvSpPr>
          <p:cNvPr id="175" name="Shape 175"/>
          <p:cNvSpPr txBox="1"/>
          <p:nvPr/>
        </p:nvSpPr>
        <p:spPr>
          <a:xfrm>
            <a:off x="304800" y="3319462"/>
            <a:ext cx="8569325" cy="3370262"/>
          </a:xfrm>
          <a:prstGeom prst="rect">
            <a:avLst/>
          </a:prstGeom>
          <a:solidFill>
            <a:srgbClr val="CC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2800" u="none" cap="none" strike="noStrike">
                <a:solidFill>
                  <a:srgbClr val="FF0000"/>
                </a:solidFill>
                <a:latin typeface="Arial"/>
                <a:ea typeface="Arial"/>
                <a:cs typeface="Arial"/>
                <a:sym typeface="Arial"/>
              </a:rPr>
              <a:t>Monto($) = Capital ($) * (1 + i/m)</a:t>
            </a:r>
            <a:r>
              <a:rPr b="1" baseline="30000" i="0" lang="en-US" sz="2800" u="none" cap="none" strike="noStrike">
                <a:solidFill>
                  <a:srgbClr val="FF0000"/>
                </a:solidFill>
                <a:latin typeface="Arial"/>
                <a:ea typeface="Arial"/>
                <a:cs typeface="Arial"/>
                <a:sym typeface="Arial"/>
              </a:rPr>
              <a:t>m*n</a:t>
            </a:r>
            <a:r>
              <a:rPr b="1" i="0" lang="en-US" sz="2800" u="none" cap="none" strike="noStrike">
                <a:solidFill>
                  <a:srgbClr val="FF0000"/>
                </a:solidFill>
                <a:latin typeface="Arial"/>
                <a:ea typeface="Arial"/>
                <a:cs typeface="Arial"/>
                <a:sym typeface="Arial"/>
              </a:rPr>
              <a:t>  = C x (1 + i’)</a:t>
            </a:r>
            <a:r>
              <a:rPr b="1" baseline="30000" i="0" lang="en-US" sz="2800" u="none" cap="none" strike="noStrike">
                <a:solidFill>
                  <a:srgbClr val="FF0000"/>
                </a:solidFill>
                <a:latin typeface="Arial"/>
                <a:ea typeface="Arial"/>
                <a:cs typeface="Arial"/>
                <a:sym typeface="Arial"/>
              </a:rPr>
              <a:t>n</a:t>
            </a:r>
          </a:p>
          <a:p>
            <a:pPr indent="0" lvl="0" marL="0" marR="0" rtl="0" algn="l">
              <a:lnSpc>
                <a:spcPct val="100000"/>
              </a:lnSpc>
              <a:spcBef>
                <a:spcPts val="0"/>
              </a:spcBef>
              <a:spcAft>
                <a:spcPts val="0"/>
              </a:spcAft>
              <a:buClr>
                <a:schemeClr val="dk1"/>
              </a:buClr>
              <a:buFont typeface="Calibri"/>
              <a:buNone/>
            </a:pPr>
            <a:r>
              <a:t/>
            </a:r>
            <a:endParaRPr b="1" baseline="30000" i="0" sz="28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0" lang="en-US" sz="2800" u="none" cap="none" strike="noStrike">
                <a:solidFill>
                  <a:srgbClr val="FF0000"/>
                </a:solidFill>
                <a:latin typeface="Arial"/>
                <a:ea typeface="Arial"/>
                <a:cs typeface="Arial"/>
                <a:sym typeface="Arial"/>
              </a:rPr>
              <a:t>i = tasa de interés nominal</a:t>
            </a:r>
            <a:r>
              <a:rPr b="1" i="0" lang="en-US" sz="1800" u="none" cap="none" strike="noStrike">
                <a:solidFill>
                  <a:srgbClr val="FF0000"/>
                </a:solidFill>
                <a:latin typeface="Arial"/>
                <a:ea typeface="Arial"/>
                <a:cs typeface="Arial"/>
                <a:sym typeface="Arial"/>
              </a:rPr>
              <a:t> </a:t>
            </a:r>
          </a:p>
          <a:p>
            <a:pPr indent="0" lvl="0" marL="0" marR="0" rtl="0" algn="l">
              <a:lnSpc>
                <a:spcPct val="100000"/>
              </a:lnSpc>
              <a:spcBef>
                <a:spcPts val="0"/>
              </a:spcBef>
              <a:spcAft>
                <a:spcPts val="0"/>
              </a:spcAft>
              <a:buClr>
                <a:srgbClr val="FF0000"/>
              </a:buClr>
              <a:buSzPct val="25000"/>
              <a:buFont typeface="Arial"/>
              <a:buNone/>
            </a:pPr>
            <a:r>
              <a:rPr b="1" i="0" lang="en-US" sz="2800" u="none" cap="none" strike="noStrike">
                <a:solidFill>
                  <a:srgbClr val="FF0000"/>
                </a:solidFill>
                <a:latin typeface="Arial"/>
                <a:ea typeface="Arial"/>
                <a:cs typeface="Arial"/>
                <a:sym typeface="Arial"/>
              </a:rPr>
              <a:t>i/m = tasa de interés proporcional</a:t>
            </a:r>
          </a:p>
          <a:p>
            <a:pPr indent="0" lvl="0" marL="0" marR="0" rtl="0" algn="l">
              <a:lnSpc>
                <a:spcPct val="100000"/>
              </a:lnSpc>
              <a:spcBef>
                <a:spcPts val="0"/>
              </a:spcBef>
              <a:spcAft>
                <a:spcPts val="0"/>
              </a:spcAft>
              <a:buClr>
                <a:srgbClr val="FF0000"/>
              </a:buClr>
              <a:buSzPct val="25000"/>
              <a:buFont typeface="Arial"/>
              <a:buNone/>
            </a:pPr>
            <a:r>
              <a:rPr b="1" i="0" lang="en-US" sz="2800" u="none" cap="none" strike="noStrike">
                <a:solidFill>
                  <a:srgbClr val="FF0000"/>
                </a:solidFill>
                <a:latin typeface="Arial"/>
                <a:ea typeface="Arial"/>
                <a:cs typeface="Arial"/>
                <a:sym typeface="Arial"/>
              </a:rPr>
              <a:t>i´= tasa de interés efectiva</a:t>
            </a:r>
          </a:p>
          <a:p>
            <a:pPr indent="0" lvl="0" marL="0" marR="0" rtl="0" algn="l">
              <a:lnSpc>
                <a:spcPct val="100000"/>
              </a:lnSpc>
              <a:spcBef>
                <a:spcPts val="0"/>
              </a:spcBef>
              <a:spcAft>
                <a:spcPts val="0"/>
              </a:spcAft>
              <a:buClr>
                <a:srgbClr val="FF0000"/>
              </a:buClr>
              <a:buSzPct val="25000"/>
              <a:buFont typeface="Arial"/>
              <a:buNone/>
            </a:pPr>
            <a:r>
              <a:rPr b="1" i="0" lang="en-US" sz="2800" u="none" cap="none" strike="noStrike">
                <a:solidFill>
                  <a:srgbClr val="FF0000"/>
                </a:solidFill>
                <a:latin typeface="Arial"/>
                <a:ea typeface="Arial"/>
                <a:cs typeface="Arial"/>
                <a:sym typeface="Arial"/>
              </a:rPr>
              <a:t>m = subperíodos para capitalizar intereses</a:t>
            </a:r>
          </a:p>
          <a:p>
            <a:pPr indent="0" lvl="0" marL="0" marR="0" rtl="0" algn="l">
              <a:lnSpc>
                <a:spcPct val="100000"/>
              </a:lnSpc>
              <a:spcBef>
                <a:spcPts val="0"/>
              </a:spcBef>
              <a:spcAft>
                <a:spcPts val="0"/>
              </a:spcAft>
              <a:buClr>
                <a:srgbClr val="FF0000"/>
              </a:buClr>
              <a:buSzPct val="25000"/>
              <a:buFont typeface="Arial"/>
              <a:buNone/>
            </a:pPr>
            <a:r>
              <a:rPr b="1" i="0" lang="en-US" sz="2800" u="none" cap="none" strike="noStrike">
                <a:solidFill>
                  <a:srgbClr val="FF0000"/>
                </a:solidFill>
                <a:latin typeface="Arial"/>
                <a:ea typeface="Arial"/>
                <a:cs typeface="Arial"/>
                <a:sym typeface="Arial"/>
              </a:rPr>
              <a:t>n = Períodos para generar intereses</a:t>
            </a:r>
          </a:p>
          <a:p>
            <a:pPr indent="0" lvl="0" marL="0" marR="0" rtl="0" algn="l">
              <a:lnSpc>
                <a:spcPct val="100000"/>
              </a:lnSpc>
              <a:spcBef>
                <a:spcPts val="0"/>
              </a:spcBef>
              <a:spcAft>
                <a:spcPts val="0"/>
              </a:spcAft>
              <a:buNone/>
            </a:pPr>
            <a:r>
              <a:t/>
            </a:r>
            <a:endParaRPr b="1" i="0" sz="2800" u="none" cap="none" strike="noStrike">
              <a:solidFill>
                <a:srgbClr val="FF0000"/>
              </a:solidFill>
              <a:latin typeface="Arial"/>
              <a:ea typeface="Arial"/>
              <a:cs typeface="Arial"/>
              <a:sym typeface="Arial"/>
            </a:endParaRP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79" name="Shape 179"/>
        <p:cNvGrpSpPr/>
        <p:nvPr/>
      </p:nvGrpSpPr>
      <p:grpSpPr>
        <a:xfrm>
          <a:off x="0" y="0"/>
          <a:ext cx="0" cy="0"/>
          <a:chOff x="0" y="0"/>
          <a:chExt cx="0" cy="0"/>
        </a:xfrm>
      </p:grpSpPr>
      <p:pic>
        <p:nvPicPr>
          <p:cNvPr id="180" name="Shape 180"/>
          <p:cNvPicPr preferRelativeResize="0"/>
          <p:nvPr/>
        </p:nvPicPr>
        <p:blipFill rotWithShape="1">
          <a:blip r:embed="rId3">
            <a:alphaModFix/>
          </a:blip>
          <a:srcRect b="0" l="0" r="0" t="0"/>
          <a:stretch/>
        </p:blipFill>
        <p:spPr>
          <a:xfrm>
            <a:off x="263525" y="1390650"/>
            <a:ext cx="8610599" cy="209549"/>
          </a:xfrm>
          <a:prstGeom prst="rect">
            <a:avLst/>
          </a:prstGeom>
          <a:noFill/>
          <a:ln>
            <a:noFill/>
          </a:ln>
        </p:spPr>
      </p:pic>
      <p:pic>
        <p:nvPicPr>
          <p:cNvPr id="181" name="Shape 181"/>
          <p:cNvPicPr preferRelativeResize="0"/>
          <p:nvPr/>
        </p:nvPicPr>
        <p:blipFill rotWithShape="1">
          <a:blip r:embed="rId4">
            <a:alphaModFix/>
          </a:blip>
          <a:srcRect b="0" l="0" r="0" t="0"/>
          <a:stretch/>
        </p:blipFill>
        <p:spPr>
          <a:xfrm>
            <a:off x="304800" y="1600200"/>
            <a:ext cx="8626474" cy="4876799"/>
          </a:xfrm>
          <a:prstGeom prst="rect">
            <a:avLst/>
          </a:prstGeom>
          <a:noFill/>
          <a:ln>
            <a:noFill/>
          </a:ln>
        </p:spPr>
      </p:pic>
      <p:pic>
        <p:nvPicPr>
          <p:cNvPr id="182" name="Shape 182"/>
          <p:cNvPicPr preferRelativeResize="0"/>
          <p:nvPr/>
        </p:nvPicPr>
        <p:blipFill rotWithShape="1">
          <a:blip r:embed="rId5">
            <a:alphaModFix/>
          </a:blip>
          <a:srcRect b="0" l="0" r="0" t="0"/>
          <a:stretch/>
        </p:blipFill>
        <p:spPr>
          <a:xfrm>
            <a:off x="415925" y="458787"/>
            <a:ext cx="3013074" cy="608011"/>
          </a:xfrm>
          <a:prstGeom prst="rect">
            <a:avLst/>
          </a:prstGeom>
          <a:noFill/>
          <a:ln>
            <a:noFill/>
          </a:ln>
        </p:spPr>
      </p:pic>
      <p:sp>
        <p:nvSpPr>
          <p:cNvPr id="183" name="Shape 183"/>
          <p:cNvSpPr txBox="1"/>
          <p:nvPr/>
        </p:nvSpPr>
        <p:spPr>
          <a:xfrm>
            <a:off x="3344862" y="381000"/>
            <a:ext cx="5570536" cy="1054100"/>
          </a:xfrm>
          <a:prstGeom prst="rect">
            <a:avLst/>
          </a:prstGeom>
          <a:noFill/>
          <a:ln>
            <a:noFill/>
          </a:ln>
        </p:spPr>
        <p:txBody>
          <a:bodyPr anchorCtr="0" anchor="t" bIns="45700" lIns="91425" rIns="91425" tIns="45700">
            <a:noAutofit/>
          </a:bodyPr>
          <a:lstStyle/>
          <a:p>
            <a:pPr indent="0" lvl="0" marL="0" marR="0" rtl="0" algn="ctr">
              <a:lnSpc>
                <a:spcPct val="95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TASA DE INTERÉS </a:t>
            </a:r>
          </a:p>
          <a:p>
            <a:pPr indent="0" lvl="0" marL="0" marR="0" rtl="0" algn="ctr">
              <a:lnSpc>
                <a:spcPct val="95000"/>
              </a:lnSpc>
              <a:spcBef>
                <a:spcPts val="980"/>
              </a:spcBef>
              <a:spcAft>
                <a:spcPts val="560"/>
              </a:spcAft>
              <a:buClr>
                <a:srgbClr val="BB4F59"/>
              </a:buClr>
              <a:buSzPct val="25000"/>
              <a:buFont typeface="Arial"/>
              <a:buNone/>
            </a:pPr>
            <a:r>
              <a:rPr b="1" i="0" lang="en-US" sz="2800" u="none" cap="none" strike="noStrike">
                <a:solidFill>
                  <a:srgbClr val="BB4F59"/>
                </a:solidFill>
                <a:latin typeface="Arial"/>
                <a:ea typeface="Arial"/>
                <a:cs typeface="Arial"/>
                <a:sym typeface="Arial"/>
              </a:rPr>
              <a:t>NOMINAL Y REAL </a:t>
            </a:r>
          </a:p>
        </p:txBody>
      </p:sp>
      <p:sp>
        <p:nvSpPr>
          <p:cNvPr id="184" name="Shape 184"/>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 </a:t>
            </a:r>
          </a:p>
        </p:txBody>
      </p:sp>
      <p:sp>
        <p:nvSpPr>
          <p:cNvPr id="185" name="Shape 185"/>
          <p:cNvSpPr txBox="1"/>
          <p:nvPr/>
        </p:nvSpPr>
        <p:spPr>
          <a:xfrm>
            <a:off x="304800" y="1905000"/>
            <a:ext cx="4114800" cy="47180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Las tasas de interés se modulan en función de la tasa de inflación.</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Font typeface="Calibri"/>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200"/>
              </a:spcBef>
              <a:spcAft>
                <a:spcPts val="0"/>
              </a:spcAft>
              <a:buClr>
                <a:srgbClr val="2F8F0D"/>
              </a:buClr>
              <a:buSzPct val="25000"/>
              <a:buFont typeface="Arial"/>
              <a:buNone/>
            </a:pPr>
            <a:r>
              <a:rPr b="1" i="0" lang="en-US" sz="2000" u="none" cap="none" strike="noStrike">
                <a:solidFill>
                  <a:srgbClr val="2F8F0D"/>
                </a:solidFill>
                <a:latin typeface="Arial"/>
                <a:ea typeface="Arial"/>
                <a:cs typeface="Arial"/>
                <a:sym typeface="Arial"/>
              </a:rPr>
              <a:t>Tasa de interés nominal = i</a:t>
            </a:r>
            <a:r>
              <a:rPr b="1" baseline="-25000" i="0" lang="en-US" sz="2000" u="none" cap="none" strike="noStrike">
                <a:solidFill>
                  <a:srgbClr val="2F8F0D"/>
                </a:solidFill>
                <a:latin typeface="Arial"/>
                <a:ea typeface="Arial"/>
                <a:cs typeface="Arial"/>
                <a:sym typeface="Arial"/>
              </a:rPr>
              <a:t>N</a:t>
            </a:r>
          </a:p>
          <a:p>
            <a:pPr indent="0" lvl="0" marL="0" marR="0" rtl="0" algn="l">
              <a:lnSpc>
                <a:spcPct val="100000"/>
              </a:lnSpc>
              <a:spcBef>
                <a:spcPts val="600"/>
              </a:spcBef>
              <a:spcAft>
                <a:spcPts val="0"/>
              </a:spcAft>
              <a:buClr>
                <a:schemeClr val="dk1"/>
              </a:buClr>
              <a:buFont typeface="Calibri"/>
              <a:buNone/>
            </a:pPr>
            <a:r>
              <a:t/>
            </a:r>
            <a:endParaRPr b="1" i="0" sz="2000" u="none" cap="none" strike="noStrike">
              <a:solidFill>
                <a:srgbClr val="FF0000"/>
              </a:solidFill>
              <a:latin typeface="Arial"/>
              <a:ea typeface="Arial"/>
              <a:cs typeface="Arial"/>
              <a:sym typeface="Arial"/>
            </a:endParaRPr>
          </a:p>
          <a:p>
            <a:pPr indent="0" lvl="0" marL="0" marR="0" rtl="0" algn="l">
              <a:lnSpc>
                <a:spcPct val="100000"/>
              </a:lnSpc>
              <a:spcBef>
                <a:spcPts val="600"/>
              </a:spcBef>
              <a:spcAft>
                <a:spcPts val="0"/>
              </a:spcAft>
              <a:buClr>
                <a:srgbClr val="FF0000"/>
              </a:buClr>
              <a:buSzPct val="25000"/>
              <a:buFont typeface="Arial"/>
              <a:buNone/>
            </a:pPr>
            <a:r>
              <a:rPr b="1" i="0" lang="en-US" sz="2000" u="none" cap="none" strike="noStrike">
                <a:solidFill>
                  <a:srgbClr val="FF0000"/>
                </a:solidFill>
                <a:latin typeface="Arial"/>
                <a:ea typeface="Arial"/>
                <a:cs typeface="Arial"/>
                <a:sym typeface="Arial"/>
              </a:rPr>
              <a:t>Tasa de inflación = π</a:t>
            </a:r>
          </a:p>
          <a:p>
            <a:pPr indent="0" lvl="0" marL="0" marR="0" rtl="0" algn="l">
              <a:lnSpc>
                <a:spcPct val="100000"/>
              </a:lnSpc>
              <a:spcBef>
                <a:spcPts val="600"/>
              </a:spcBef>
              <a:spcAft>
                <a:spcPts val="0"/>
              </a:spcAft>
              <a:buClr>
                <a:schemeClr val="dk1"/>
              </a:buClr>
              <a:buFont typeface="Calibri"/>
              <a:buNone/>
            </a:pPr>
            <a:r>
              <a:t/>
            </a:r>
            <a:endParaRPr b="1" i="0" sz="2000" u="none" cap="none" strike="noStrike">
              <a:solidFill>
                <a:srgbClr val="FF0000"/>
              </a:solidFill>
              <a:latin typeface="Arial"/>
              <a:ea typeface="Arial"/>
              <a:cs typeface="Arial"/>
              <a:sym typeface="Arial"/>
            </a:endParaRPr>
          </a:p>
          <a:p>
            <a:pPr indent="0" lvl="0" marL="0" marR="0" rtl="0" algn="l">
              <a:lnSpc>
                <a:spcPct val="100000"/>
              </a:lnSpc>
              <a:spcBef>
                <a:spcPts val="600"/>
              </a:spcBef>
              <a:spcAft>
                <a:spcPts val="0"/>
              </a:spcAft>
              <a:buClr>
                <a:schemeClr val="hlink"/>
              </a:buClr>
              <a:buSzPct val="25000"/>
              <a:buFont typeface="Arial"/>
              <a:buNone/>
            </a:pPr>
            <a:r>
              <a:rPr b="1" i="0" lang="en-US" sz="2000" u="none" cap="none" strike="noStrike">
                <a:solidFill>
                  <a:schemeClr val="hlink"/>
                </a:solidFill>
                <a:latin typeface="Arial"/>
                <a:ea typeface="Arial"/>
                <a:cs typeface="Arial"/>
                <a:sym typeface="Arial"/>
              </a:rPr>
              <a:t>Tasa de interés real = i</a:t>
            </a:r>
            <a:r>
              <a:rPr b="1" baseline="-25000" i="0" lang="en-US" sz="2000" u="none" cap="none" strike="noStrike">
                <a:solidFill>
                  <a:schemeClr val="hlink"/>
                </a:solidFill>
                <a:latin typeface="Arial"/>
                <a:ea typeface="Arial"/>
                <a:cs typeface="Arial"/>
                <a:sym typeface="Arial"/>
              </a:rPr>
              <a:t>R</a:t>
            </a:r>
          </a:p>
          <a:p>
            <a:pPr indent="0" lvl="0" marL="0" marR="0" rtl="0" algn="l">
              <a:lnSpc>
                <a:spcPct val="100000"/>
              </a:lnSpc>
              <a:spcBef>
                <a:spcPts val="640"/>
              </a:spcBef>
              <a:spcAft>
                <a:spcPts val="0"/>
              </a:spcAft>
              <a:buClr>
                <a:schemeClr val="dk1"/>
              </a:buClr>
              <a:buFont typeface="Calibri"/>
              <a:buNone/>
            </a:pPr>
            <a:r>
              <a:t/>
            </a:r>
            <a:endParaRPr b="1" i="0" sz="2400" u="none" cap="none" strike="noStrike">
              <a:solidFill>
                <a:srgbClr val="FF0000"/>
              </a:solidFill>
              <a:latin typeface="Arial"/>
              <a:ea typeface="Arial"/>
              <a:cs typeface="Arial"/>
              <a:sym typeface="Arial"/>
            </a:endParaRPr>
          </a:p>
          <a:p>
            <a:pPr indent="0" lvl="0" marL="0" marR="0" rtl="0" algn="l">
              <a:lnSpc>
                <a:spcPct val="100000"/>
              </a:lnSpc>
              <a:spcBef>
                <a:spcPts val="720"/>
              </a:spcBef>
              <a:spcAft>
                <a:spcPts val="0"/>
              </a:spcAft>
              <a:buClr>
                <a:srgbClr val="2F8F0D"/>
              </a:buClr>
              <a:buSzPct val="25000"/>
              <a:buFont typeface="Arial"/>
              <a:buNone/>
            </a:pPr>
            <a:r>
              <a:rPr b="0" i="0" lang="en-US" sz="2400" u="none" cap="none" strike="noStrike">
                <a:solidFill>
                  <a:srgbClr val="2F8F0D"/>
                </a:solidFill>
                <a:latin typeface="Arial"/>
                <a:ea typeface="Arial"/>
                <a:cs typeface="Arial"/>
                <a:sym typeface="Arial"/>
              </a:rPr>
              <a:t>i</a:t>
            </a:r>
            <a:r>
              <a:rPr b="0" baseline="-25000" i="0" lang="en-US" sz="2400" u="none" cap="none" strike="noStrike">
                <a:solidFill>
                  <a:srgbClr val="2F8F0D"/>
                </a:solidFill>
                <a:latin typeface="Arial"/>
                <a:ea typeface="Arial"/>
                <a:cs typeface="Arial"/>
                <a:sym typeface="Arial"/>
              </a:rPr>
              <a:t>N</a:t>
            </a:r>
            <a:r>
              <a:rPr b="0" i="0" lang="en-US" sz="2400" u="none" cap="none" strike="noStrike">
                <a:solidFill>
                  <a:schemeClr val="dk1"/>
                </a:solidFill>
                <a:latin typeface="Arial"/>
                <a:ea typeface="Arial"/>
                <a:cs typeface="Arial"/>
                <a:sym typeface="Arial"/>
              </a:rPr>
              <a:t> = </a:t>
            </a:r>
            <a:r>
              <a:rPr b="0" i="0" lang="en-US" sz="2400" u="none" cap="none" strike="noStrike">
                <a:solidFill>
                  <a:schemeClr val="hlink"/>
                </a:solidFill>
                <a:latin typeface="Arial"/>
                <a:ea typeface="Arial"/>
                <a:cs typeface="Arial"/>
                <a:sym typeface="Arial"/>
              </a:rPr>
              <a:t>i</a:t>
            </a:r>
            <a:r>
              <a:rPr b="0" baseline="-25000" i="0" lang="en-US" sz="2400" u="none" cap="none" strike="noStrike">
                <a:solidFill>
                  <a:schemeClr val="hlink"/>
                </a:solidFill>
                <a:latin typeface="Arial"/>
                <a:ea typeface="Arial"/>
                <a:cs typeface="Arial"/>
                <a:sym typeface="Arial"/>
              </a:rPr>
              <a:t>R</a:t>
            </a:r>
            <a:r>
              <a:rPr b="0" i="0" lang="en-US" sz="2400" u="none" cap="none" strike="noStrike">
                <a:solidFill>
                  <a:schemeClr val="dk1"/>
                </a:solidFill>
                <a:latin typeface="Arial"/>
                <a:ea typeface="Arial"/>
                <a:cs typeface="Arial"/>
                <a:sym typeface="Arial"/>
              </a:rPr>
              <a:t> + </a:t>
            </a:r>
            <a:r>
              <a:rPr b="0" i="0" lang="en-US" sz="2400" u="none" cap="none" strike="noStrike">
                <a:solidFill>
                  <a:srgbClr val="FF0000"/>
                </a:solidFill>
                <a:latin typeface="Arial"/>
                <a:ea typeface="Arial"/>
                <a:cs typeface="Arial"/>
                <a:sym typeface="Arial"/>
              </a:rPr>
              <a:t>π</a:t>
            </a:r>
          </a:p>
          <a:p>
            <a:pPr indent="0" lvl="0" marL="0" marR="0" rtl="0" algn="l">
              <a:lnSpc>
                <a:spcPct val="100000"/>
              </a:lnSpc>
              <a:spcBef>
                <a:spcPts val="720"/>
              </a:spcBef>
              <a:spcAft>
                <a:spcPts val="0"/>
              </a:spcAft>
              <a:buClr>
                <a:schemeClr val="dk1"/>
              </a:buClr>
              <a:buFont typeface="Calibri"/>
              <a:buNone/>
            </a:pPr>
            <a:r>
              <a:t/>
            </a:r>
            <a:endParaRPr b="0" i="0" sz="2400" u="none" cap="none" strike="noStrike">
              <a:solidFill>
                <a:srgbClr val="FF0000"/>
              </a:solidFill>
              <a:latin typeface="Arial"/>
              <a:ea typeface="Arial"/>
              <a:cs typeface="Arial"/>
              <a:sym typeface="Arial"/>
            </a:endParaRPr>
          </a:p>
          <a:p>
            <a:pPr indent="0" lvl="0" marL="0" marR="0" rtl="0" algn="l">
              <a:lnSpc>
                <a:spcPct val="100000"/>
              </a:lnSpc>
              <a:spcBef>
                <a:spcPts val="720"/>
              </a:spcBef>
              <a:spcAft>
                <a:spcPts val="480"/>
              </a:spcAft>
              <a:buClr>
                <a:schemeClr val="hlink"/>
              </a:buClr>
              <a:buSzPct val="25000"/>
              <a:buFont typeface="Arial"/>
              <a:buNone/>
            </a:pPr>
            <a:r>
              <a:rPr b="0" i="0" lang="en-US" sz="2400" u="none" cap="none" strike="noStrike">
                <a:solidFill>
                  <a:schemeClr val="hlink"/>
                </a:solidFill>
                <a:latin typeface="Arial"/>
                <a:ea typeface="Arial"/>
                <a:cs typeface="Arial"/>
                <a:sym typeface="Arial"/>
              </a:rPr>
              <a:t>i</a:t>
            </a:r>
            <a:r>
              <a:rPr b="0" baseline="-25000" i="0" lang="en-US" sz="2400" u="none" cap="none" strike="noStrike">
                <a:solidFill>
                  <a:schemeClr val="hlink"/>
                </a:solidFill>
                <a:latin typeface="Arial"/>
                <a:ea typeface="Arial"/>
                <a:cs typeface="Arial"/>
                <a:sym typeface="Arial"/>
              </a:rPr>
              <a:t>R</a:t>
            </a:r>
            <a:r>
              <a:rPr b="0" i="0" lang="en-US" sz="2400" u="none" cap="none" strike="noStrike">
                <a:solidFill>
                  <a:schemeClr val="hlink"/>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 </a:t>
            </a:r>
            <a:r>
              <a:rPr b="0" i="0" lang="en-US" sz="2400" u="none" cap="none" strike="noStrike">
                <a:solidFill>
                  <a:srgbClr val="2F8F0D"/>
                </a:solidFill>
                <a:latin typeface="Arial"/>
                <a:ea typeface="Arial"/>
                <a:cs typeface="Arial"/>
                <a:sym typeface="Arial"/>
              </a:rPr>
              <a:t>i</a:t>
            </a:r>
            <a:r>
              <a:rPr b="0" baseline="-25000" i="0" lang="en-US" sz="2400" u="none" cap="none" strike="noStrike">
                <a:solidFill>
                  <a:srgbClr val="2F8F0D"/>
                </a:solidFill>
                <a:latin typeface="Arial"/>
                <a:ea typeface="Arial"/>
                <a:cs typeface="Arial"/>
                <a:sym typeface="Arial"/>
              </a:rPr>
              <a:t>N</a:t>
            </a:r>
            <a:r>
              <a:rPr b="0" i="0" lang="en-US" sz="2400" u="none" cap="none" strike="noStrike">
                <a:solidFill>
                  <a:schemeClr val="dk1"/>
                </a:solidFill>
                <a:latin typeface="Arial"/>
                <a:ea typeface="Arial"/>
                <a:cs typeface="Arial"/>
                <a:sym typeface="Arial"/>
              </a:rPr>
              <a:t> - </a:t>
            </a:r>
            <a:r>
              <a:rPr b="0" i="0" lang="en-US" sz="2400" u="none" cap="none" strike="noStrike">
                <a:solidFill>
                  <a:srgbClr val="FF0000"/>
                </a:solidFill>
                <a:latin typeface="Arial"/>
                <a:ea typeface="Arial"/>
                <a:cs typeface="Arial"/>
                <a:sym typeface="Arial"/>
              </a:rPr>
              <a:t>π</a:t>
            </a:r>
          </a:p>
        </p:txBody>
      </p:sp>
      <p:sp>
        <p:nvSpPr>
          <p:cNvPr id="186" name="Shape 186"/>
          <p:cNvSpPr txBox="1"/>
          <p:nvPr/>
        </p:nvSpPr>
        <p:spPr>
          <a:xfrm>
            <a:off x="2209800" y="5680075"/>
            <a:ext cx="4419599" cy="1025525"/>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i</a:t>
            </a:r>
            <a:r>
              <a:rPr b="0" baseline="-25000" i="0" lang="en-US" sz="1800" u="none" cap="none" strike="noStrike">
                <a:solidFill>
                  <a:schemeClr val="dk1"/>
                </a:solidFill>
                <a:latin typeface="Arial"/>
                <a:ea typeface="Arial"/>
                <a:cs typeface="Arial"/>
                <a:sym typeface="Arial"/>
              </a:rPr>
              <a:t>R</a:t>
            </a:r>
            <a:r>
              <a:rPr b="0" i="0" lang="en-US" sz="1800" u="none" cap="none" strike="noStrike">
                <a:solidFill>
                  <a:schemeClr val="dk1"/>
                </a:solidFill>
                <a:latin typeface="Arial"/>
                <a:ea typeface="Arial"/>
                <a:cs typeface="Arial"/>
                <a:sym typeface="Arial"/>
              </a:rPr>
              <a:t> = i</a:t>
            </a:r>
            <a:r>
              <a:rPr b="0" baseline="-25000" i="0" lang="en-US" sz="1800" u="none" cap="none" strike="noStrike">
                <a:solidFill>
                  <a:schemeClr val="dk1"/>
                </a:solidFill>
                <a:latin typeface="Arial"/>
                <a:ea typeface="Arial"/>
                <a:cs typeface="Arial"/>
                <a:sym typeface="Arial"/>
              </a:rPr>
              <a:t>N</a:t>
            </a:r>
            <a:r>
              <a:rPr b="0" i="0" lang="en-US" sz="1800" u="none" cap="none" strike="noStrike">
                <a:solidFill>
                  <a:schemeClr val="dk1"/>
                </a:solidFill>
                <a:latin typeface="Arial"/>
                <a:ea typeface="Arial"/>
                <a:cs typeface="Arial"/>
                <a:sym typeface="Arial"/>
              </a:rPr>
              <a:t> – π= 0</a:t>
            </a:r>
          </a:p>
          <a:p>
            <a:pPr indent="-342900" lvl="0" marL="342900" marR="0" rtl="0" algn="l">
              <a:lnSpc>
                <a:spcPct val="100000"/>
              </a:lnSpc>
              <a:spcBef>
                <a:spcPts val="18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i</a:t>
            </a:r>
            <a:r>
              <a:rPr b="0" baseline="-25000" i="0" lang="en-US" sz="1800" u="none" cap="none" strike="noStrike">
                <a:solidFill>
                  <a:schemeClr val="dk1"/>
                </a:solidFill>
                <a:latin typeface="Arial"/>
                <a:ea typeface="Arial"/>
                <a:cs typeface="Arial"/>
                <a:sym typeface="Arial"/>
              </a:rPr>
              <a:t>R</a:t>
            </a:r>
            <a:r>
              <a:rPr b="0" i="0" lang="en-US" sz="1800" u="none" cap="none" strike="noStrike">
                <a:solidFill>
                  <a:schemeClr val="dk1"/>
                </a:solidFill>
                <a:latin typeface="Arial"/>
                <a:ea typeface="Arial"/>
                <a:cs typeface="Arial"/>
                <a:sym typeface="Arial"/>
              </a:rPr>
              <a:t> = i</a:t>
            </a:r>
            <a:r>
              <a:rPr b="0" baseline="-25000" i="0" lang="en-US" sz="1800" u="none" cap="none" strike="noStrike">
                <a:solidFill>
                  <a:schemeClr val="dk1"/>
                </a:solidFill>
                <a:latin typeface="Arial"/>
                <a:ea typeface="Arial"/>
                <a:cs typeface="Arial"/>
                <a:sym typeface="Arial"/>
              </a:rPr>
              <a:t>N</a:t>
            </a:r>
            <a:r>
              <a:rPr b="0" i="0" lang="en-US" sz="1800" u="none" cap="none" strike="noStrike">
                <a:solidFill>
                  <a:schemeClr val="dk1"/>
                </a:solidFill>
                <a:latin typeface="Arial"/>
                <a:ea typeface="Arial"/>
                <a:cs typeface="Arial"/>
                <a:sym typeface="Arial"/>
              </a:rPr>
              <a:t> – π</a:t>
            </a:r>
            <a:r>
              <a:rPr b="0" baseline="-25000" i="0"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&gt; 0 ganancia del prestamista</a:t>
            </a:r>
          </a:p>
          <a:p>
            <a:pPr indent="-342900" lvl="0" marL="342900" marR="0" rtl="0" algn="l">
              <a:lnSpc>
                <a:spcPct val="100000"/>
              </a:lnSpc>
              <a:spcBef>
                <a:spcPts val="540"/>
              </a:spcBef>
              <a:spcAft>
                <a:spcPts val="360"/>
              </a:spcAft>
              <a:buClr>
                <a:schemeClr val="dk1"/>
              </a:buClr>
              <a:buSzPct val="25000"/>
              <a:buFont typeface="Arial"/>
              <a:buNone/>
            </a:pPr>
            <a:r>
              <a:rPr b="0" i="0" lang="en-US" sz="1800" u="none" cap="none" strike="noStrike">
                <a:solidFill>
                  <a:schemeClr val="dk1"/>
                </a:solidFill>
                <a:latin typeface="Arial"/>
                <a:ea typeface="Arial"/>
                <a:cs typeface="Arial"/>
                <a:sym typeface="Arial"/>
              </a:rPr>
              <a:t>i</a:t>
            </a:r>
            <a:r>
              <a:rPr b="0" baseline="-25000" i="0" lang="en-US" sz="1800" u="none" cap="none" strike="noStrike">
                <a:solidFill>
                  <a:schemeClr val="dk1"/>
                </a:solidFill>
                <a:latin typeface="Arial"/>
                <a:ea typeface="Arial"/>
                <a:cs typeface="Arial"/>
                <a:sym typeface="Arial"/>
              </a:rPr>
              <a:t>R</a:t>
            </a:r>
            <a:r>
              <a:rPr b="0" i="0" lang="en-US" sz="1800" u="none" cap="none" strike="noStrike">
                <a:solidFill>
                  <a:schemeClr val="dk1"/>
                </a:solidFill>
                <a:latin typeface="Arial"/>
                <a:ea typeface="Arial"/>
                <a:cs typeface="Arial"/>
                <a:sym typeface="Arial"/>
              </a:rPr>
              <a:t> = i</a:t>
            </a:r>
            <a:r>
              <a:rPr b="0" baseline="-25000" i="0" lang="en-US" sz="1800" u="none" cap="none" strike="noStrike">
                <a:solidFill>
                  <a:schemeClr val="dk1"/>
                </a:solidFill>
                <a:latin typeface="Arial"/>
                <a:ea typeface="Arial"/>
                <a:cs typeface="Arial"/>
                <a:sym typeface="Arial"/>
              </a:rPr>
              <a:t>N</a:t>
            </a:r>
            <a:r>
              <a:rPr b="0" i="0" lang="en-US" sz="1800" u="none" cap="none" strike="noStrike">
                <a:solidFill>
                  <a:schemeClr val="dk1"/>
                </a:solidFill>
                <a:latin typeface="Arial"/>
                <a:ea typeface="Arial"/>
                <a:cs typeface="Arial"/>
                <a:sym typeface="Arial"/>
              </a:rPr>
              <a:t> – π&lt; 0 ganancia del prestatario</a:t>
            </a:r>
          </a:p>
        </p:txBody>
      </p:sp>
      <p:pic>
        <p:nvPicPr>
          <p:cNvPr id="187" name="Shape 187"/>
          <p:cNvPicPr preferRelativeResize="0"/>
          <p:nvPr/>
        </p:nvPicPr>
        <p:blipFill rotWithShape="1">
          <a:blip r:embed="rId6">
            <a:alphaModFix/>
          </a:blip>
          <a:srcRect b="0" l="0" r="0" t="0"/>
          <a:stretch/>
        </p:blipFill>
        <p:spPr>
          <a:xfrm>
            <a:off x="6762750" y="1828800"/>
            <a:ext cx="2000250" cy="1935161"/>
          </a:xfrm>
          <a:prstGeom prst="rect">
            <a:avLst/>
          </a:prstGeom>
          <a:noFill/>
          <a:ln>
            <a:noFill/>
          </a:ln>
        </p:spPr>
      </p:pic>
      <p:pic>
        <p:nvPicPr>
          <p:cNvPr id="188" name="Shape 188"/>
          <p:cNvPicPr preferRelativeResize="0"/>
          <p:nvPr/>
        </p:nvPicPr>
        <p:blipFill rotWithShape="1">
          <a:blip r:embed="rId7">
            <a:alphaModFix/>
          </a:blip>
          <a:srcRect b="0" l="0" r="0" t="0"/>
          <a:stretch/>
        </p:blipFill>
        <p:spPr>
          <a:xfrm>
            <a:off x="3810000" y="3505200"/>
            <a:ext cx="1798636" cy="1938336"/>
          </a:xfrm>
          <a:prstGeom prst="rect">
            <a:avLst/>
          </a:prstGeom>
          <a:noFill/>
          <a:ln>
            <a:noFill/>
          </a:ln>
        </p:spPr>
      </p:pic>
      <p:pic>
        <p:nvPicPr>
          <p:cNvPr id="189" name="Shape 189"/>
          <p:cNvPicPr preferRelativeResize="0"/>
          <p:nvPr/>
        </p:nvPicPr>
        <p:blipFill rotWithShape="1">
          <a:blip r:embed="rId8">
            <a:alphaModFix/>
          </a:blip>
          <a:srcRect b="0" l="0" r="0" t="0"/>
          <a:stretch/>
        </p:blipFill>
        <p:spPr>
          <a:xfrm>
            <a:off x="4468812" y="1795461"/>
            <a:ext cx="2084387" cy="1481137"/>
          </a:xfrm>
          <a:prstGeom prst="rect">
            <a:avLst/>
          </a:prstGeom>
          <a:noFill/>
          <a:ln>
            <a:noFill/>
          </a:ln>
        </p:spPr>
      </p:pic>
      <p:pic>
        <p:nvPicPr>
          <p:cNvPr id="190" name="Shape 190"/>
          <p:cNvPicPr preferRelativeResize="0"/>
          <p:nvPr/>
        </p:nvPicPr>
        <p:blipFill rotWithShape="1">
          <a:blip r:embed="rId9">
            <a:alphaModFix/>
          </a:blip>
          <a:srcRect b="0" l="0" r="0" t="0"/>
          <a:stretch/>
        </p:blipFill>
        <p:spPr>
          <a:xfrm>
            <a:off x="6915150" y="3962400"/>
            <a:ext cx="1730374" cy="2484437"/>
          </a:xfrm>
          <a:prstGeom prst="rect">
            <a:avLst/>
          </a:prstGeom>
          <a:noFill/>
          <a:ln>
            <a:noFill/>
          </a:ln>
        </p:spPr>
      </p:pic>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94" name="Shape 194"/>
        <p:cNvGrpSpPr/>
        <p:nvPr/>
      </p:nvGrpSpPr>
      <p:grpSpPr>
        <a:xfrm>
          <a:off x="0" y="0"/>
          <a:ext cx="0" cy="0"/>
          <a:chOff x="0" y="0"/>
          <a:chExt cx="0" cy="0"/>
        </a:xfrm>
      </p:grpSpPr>
      <p:pic>
        <p:nvPicPr>
          <p:cNvPr id="195" name="Shape 19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96" name="Shape 196"/>
          <p:cNvPicPr preferRelativeResize="0"/>
          <p:nvPr/>
        </p:nvPicPr>
        <p:blipFill rotWithShape="1">
          <a:blip r:embed="rId4">
            <a:alphaModFix/>
          </a:blip>
          <a:srcRect b="0" l="0" r="0" t="0"/>
          <a:stretch/>
        </p:blipFill>
        <p:spPr>
          <a:xfrm>
            <a:off x="288925" y="1444625"/>
            <a:ext cx="8626474" cy="5114925"/>
          </a:xfrm>
          <a:prstGeom prst="rect">
            <a:avLst/>
          </a:prstGeom>
          <a:noFill/>
          <a:ln>
            <a:noFill/>
          </a:ln>
        </p:spPr>
      </p:pic>
      <p:pic>
        <p:nvPicPr>
          <p:cNvPr id="197" name="Shape 197"/>
          <p:cNvPicPr preferRelativeResize="0"/>
          <p:nvPr/>
        </p:nvPicPr>
        <p:blipFill rotWithShape="1">
          <a:blip r:embed="rId5">
            <a:alphaModFix/>
          </a:blip>
          <a:srcRect b="0" l="0" r="0" t="0"/>
          <a:stretch/>
        </p:blipFill>
        <p:spPr>
          <a:xfrm>
            <a:off x="492125" y="458787"/>
            <a:ext cx="3013074" cy="608011"/>
          </a:xfrm>
          <a:prstGeom prst="rect">
            <a:avLst/>
          </a:prstGeom>
          <a:noFill/>
          <a:ln>
            <a:noFill/>
          </a:ln>
        </p:spPr>
      </p:pic>
      <p:sp>
        <p:nvSpPr>
          <p:cNvPr id="198" name="Shape 198"/>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99" name="Shape 199"/>
          <p:cNvSpPr txBox="1"/>
          <p:nvPr/>
        </p:nvSpPr>
        <p:spPr>
          <a:xfrm>
            <a:off x="3581400" y="471487"/>
            <a:ext cx="5486399"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CUOTA CONSTANTE</a:t>
            </a:r>
          </a:p>
        </p:txBody>
      </p:sp>
      <p:sp>
        <p:nvSpPr>
          <p:cNvPr id="200" name="Shape 200"/>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Shape 201"/>
          <p:cNvSpPr txBox="1"/>
          <p:nvPr/>
        </p:nvSpPr>
        <p:spPr>
          <a:xfrm>
            <a:off x="193675" y="1447800"/>
            <a:ext cx="8493124" cy="6413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SISTEMA FRANCÉS</a:t>
            </a: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pic>
        <p:nvPicPr>
          <p:cNvPr id="202" name="Shape 202"/>
          <p:cNvPicPr preferRelativeResize="0"/>
          <p:nvPr/>
        </p:nvPicPr>
        <p:blipFill rotWithShape="1">
          <a:blip r:embed="rId6">
            <a:alphaModFix/>
          </a:blip>
          <a:srcRect b="0" l="0" r="0" t="0"/>
          <a:stretch/>
        </p:blipFill>
        <p:spPr>
          <a:xfrm>
            <a:off x="5753100" y="1371600"/>
            <a:ext cx="3162300" cy="3114675"/>
          </a:xfrm>
          <a:prstGeom prst="rect">
            <a:avLst/>
          </a:prstGeom>
          <a:noFill/>
          <a:ln>
            <a:noFill/>
          </a:ln>
        </p:spPr>
      </p:pic>
      <p:sp>
        <p:nvSpPr>
          <p:cNvPr id="203" name="Shape 203"/>
          <p:cNvSpPr/>
          <p:nvPr/>
        </p:nvSpPr>
        <p:spPr>
          <a:xfrm>
            <a:off x="2128836" y="1697036"/>
            <a:ext cx="3433761" cy="0"/>
          </a:xfrm>
          <a:prstGeom prst="rect">
            <a:avLst/>
          </a:prstGeom>
          <a:solidFill>
            <a:srgbClr val="FFCC00"/>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04" name="Shape 204"/>
          <p:cNvGraphicFramePr/>
          <p:nvPr/>
        </p:nvGraphicFramePr>
        <p:xfrm>
          <a:off x="446087" y="1905000"/>
          <a:ext cx="3000000" cy="3000000"/>
        </p:xfrm>
        <a:graphic>
          <a:graphicData uri="http://schemas.openxmlformats.org/drawingml/2006/table">
            <a:tbl>
              <a:tblPr>
                <a:noFill/>
                <a:tableStyleId>{4D563085-A933-4687-BFC1-165E53BC5F1F}</a:tableStyleId>
              </a:tblPr>
              <a:tblGrid>
                <a:gridCol w="1695250"/>
                <a:gridCol w="3508825"/>
              </a:tblGrid>
              <a:tr h="296950">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Cálculo de intereses   </a:t>
                      </a:r>
                    </a:p>
                  </a:txBody>
                  <a:tcPr marT="0" marB="0" marR="0" marL="0">
                    <a:lnL cap="flat" cmpd="sng" w="25400">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25400">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Sobre el saldo del capital adeudado.- </a:t>
                      </a:r>
                    </a:p>
                  </a:txBody>
                  <a:tcPr marT="0" marB="0" marR="0" marL="0">
                    <a:lnL cap="flat" cmpd="sng" w="9525">
                      <a:solidFill>
                        <a:srgbClr val="000000"/>
                      </a:solidFill>
                      <a:prstDash val="solid"/>
                      <a:round/>
                      <a:headEnd len="med" w="med" type="none"/>
                      <a:tailEnd len="med" w="med" type="none"/>
                    </a:lnL>
                    <a:lnR cap="flat" cmpd="sng" w="25400">
                      <a:solidFill>
                        <a:srgbClr val="000000"/>
                      </a:solidFill>
                      <a:prstDash val="solid"/>
                      <a:round/>
                      <a:headEnd len="med" w="med" type="none"/>
                      <a:tailEnd len="med" w="med" type="none"/>
                    </a:lnR>
                    <a:lnT cap="flat" cmpd="sng" w="25400">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r>
              <a:tr h="495475">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Importe de las Cuotas </a:t>
                      </a:r>
                    </a:p>
                  </a:txBody>
                  <a:tcPr marT="0" marB="0" marR="0" marL="0">
                    <a:lnL cap="flat" cmpd="sng" w="25400">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c>
                  <a:txBody>
                    <a:bodyPr>
                      <a:noAutofit/>
                    </a:bodyPr>
                    <a:lstStyle/>
                    <a:p>
                      <a:pPr indent="0" lvl="0" marL="0" marR="0" rtl="0" algn="l">
                        <a:lnSpc>
                          <a:spcPct val="100000"/>
                        </a:lnSpc>
                        <a:spcBef>
                          <a:spcPts val="0"/>
                        </a:spcBef>
                        <a:spcAft>
                          <a:spcPts val="0"/>
                        </a:spcAft>
                        <a:buClr>
                          <a:srgbClr val="FF0000"/>
                        </a:buClr>
                        <a:buSzPct val="25000"/>
                        <a:buFont typeface="Times New Roman"/>
                        <a:buNone/>
                      </a:pPr>
                      <a:r>
                        <a:rPr b="1" i="0" lang="en-US" sz="1200" u="none" cap="none" strike="noStrike">
                          <a:solidFill>
                            <a:srgbClr val="FF0000"/>
                          </a:solidFill>
                          <a:latin typeface="Times New Roman"/>
                          <a:ea typeface="Times New Roman"/>
                          <a:cs typeface="Times New Roman"/>
                          <a:sym typeface="Times New Roman"/>
                        </a:rPr>
                        <a:t>Constante </a:t>
                      </a:r>
                      <a:r>
                        <a:rPr b="0" i="0" lang="en-US" sz="1200" u="none" cap="none" strike="noStrike">
                          <a:solidFill>
                            <a:schemeClr val="dk1"/>
                          </a:solidFill>
                          <a:latin typeface="Times New Roman"/>
                          <a:ea typeface="Times New Roman"/>
                          <a:cs typeface="Times New Roman"/>
                          <a:sym typeface="Times New Roman"/>
                        </a:rPr>
                        <a:t>durante toda la duración del préstamo, siempre que no varíe la tasa de interés.-   </a:t>
                      </a:r>
                    </a:p>
                  </a:txBody>
                  <a:tcPr marT="0" marB="0" marR="0" marL="0">
                    <a:lnL cap="flat" cmpd="sng" w="9525">
                      <a:solidFill>
                        <a:srgbClr val="000000"/>
                      </a:solidFill>
                      <a:prstDash val="solid"/>
                      <a:round/>
                      <a:headEnd len="med" w="med" type="none"/>
                      <a:tailEnd len="med" w="med" type="none"/>
                    </a:lnL>
                    <a:lnR cap="flat" cmpd="sng" w="25400">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r>
              <a:tr h="1488225">
                <a:tc rowSpan="2">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Composición de las cuotas: cada una de las cuotas cuenta con un componente de pago de interés y un componente pago de amortización del capital prestado.- </a:t>
                      </a:r>
                    </a:p>
                  </a:txBody>
                  <a:tcPr marT="0" marB="0" marR="0" marL="0">
                    <a:lnL cap="flat" cmpd="sng" w="25400">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25400">
                      <a:solidFill>
                        <a:srgbClr val="000000"/>
                      </a:solidFill>
                      <a:prstDash val="solid"/>
                      <a:round/>
                      <a:headEnd len="med" w="med" type="none"/>
                      <a:tailEnd len="med" w="med" type="none"/>
                    </a:lnB>
                    <a:solidFill>
                      <a:srgbClr val="FFCC00"/>
                    </a:solidFill>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Componente pago de interés: el interés abonado en cada cuota se calcula sobre el saldo adeudado del préstamo.- Es por ello que este componente va disminuyendo su participación en el importe total de cada cuota a medida que se avanza en el pago de las mismas, en razón de que el monto adeudado es menor.-    </a:t>
                      </a:r>
                    </a:p>
                  </a:txBody>
                  <a:tcPr marT="0" marB="0" marR="0" marL="0">
                    <a:lnL cap="flat" cmpd="sng" w="9525">
                      <a:solidFill>
                        <a:srgbClr val="000000"/>
                      </a:solidFill>
                      <a:prstDash val="solid"/>
                      <a:round/>
                      <a:headEnd len="med" w="med" type="none"/>
                      <a:tailEnd len="med" w="med" type="none"/>
                    </a:lnL>
                    <a:lnR cap="flat" cmpd="sng" w="25400">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r>
              <a:tr h="1488225">
                <a:tc vMerge="1"/>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Componente pago de amortización del capital adeudado: su participación en el importe de la cuota abonada es menor en las primeras respecto de las últimas.- Esto es lógico pues al tratarse de cuotas fijas al ir disminuyendo el componente interés de la misma, incrementa el componente amortización del capital del préstamo.-   </a:t>
                      </a:r>
                    </a:p>
                  </a:txBody>
                  <a:tcPr marT="0" marB="0" marR="0" marL="0">
                    <a:lnL cap="flat" cmpd="sng" w="25400">
                      <a:solidFill>
                        <a:srgbClr val="000000"/>
                      </a:solidFill>
                      <a:prstDash val="solid"/>
                      <a:round/>
                      <a:headEnd len="med" w="med" type="none"/>
                      <a:tailEnd len="med" w="med" type="none"/>
                    </a:lnL>
                    <a:lnR cap="flat" cmpd="sng" w="25400">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25400">
                      <a:solidFill>
                        <a:srgbClr val="000000"/>
                      </a:solidFill>
                      <a:prstDash val="solid"/>
                      <a:round/>
                      <a:headEnd len="med" w="med" type="none"/>
                      <a:tailEnd len="med" w="med" type="none"/>
                    </a:lnB>
                    <a:solidFill>
                      <a:srgbClr val="FFCC00"/>
                    </a:solidFill>
                  </a:tcPr>
                </a:tc>
              </a:tr>
            </a:tbl>
          </a:graphicData>
        </a:graphic>
      </p:graphicFrame>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08" name="Shape 208"/>
        <p:cNvGrpSpPr/>
        <p:nvPr/>
      </p:nvGrpSpPr>
      <p:grpSpPr>
        <a:xfrm>
          <a:off x="0" y="0"/>
          <a:ext cx="0" cy="0"/>
          <a:chOff x="0" y="0"/>
          <a:chExt cx="0" cy="0"/>
        </a:xfrm>
      </p:grpSpPr>
      <p:pic>
        <p:nvPicPr>
          <p:cNvPr id="209" name="Shape 20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10" name="Shape 210"/>
          <p:cNvPicPr preferRelativeResize="0"/>
          <p:nvPr/>
        </p:nvPicPr>
        <p:blipFill rotWithShape="1">
          <a:blip r:embed="rId4">
            <a:alphaModFix/>
          </a:blip>
          <a:srcRect b="0" l="0" r="0" t="0"/>
          <a:stretch/>
        </p:blipFill>
        <p:spPr>
          <a:xfrm>
            <a:off x="263525" y="1295400"/>
            <a:ext cx="8626474" cy="5114925"/>
          </a:xfrm>
          <a:prstGeom prst="rect">
            <a:avLst/>
          </a:prstGeom>
          <a:noFill/>
          <a:ln>
            <a:noFill/>
          </a:ln>
        </p:spPr>
      </p:pic>
      <p:pic>
        <p:nvPicPr>
          <p:cNvPr id="211" name="Shape 211"/>
          <p:cNvPicPr preferRelativeResize="0"/>
          <p:nvPr/>
        </p:nvPicPr>
        <p:blipFill rotWithShape="1">
          <a:blip r:embed="rId5">
            <a:alphaModFix/>
          </a:blip>
          <a:srcRect b="0" l="0" r="0" t="0"/>
          <a:stretch/>
        </p:blipFill>
        <p:spPr>
          <a:xfrm>
            <a:off x="492125" y="457200"/>
            <a:ext cx="3013074" cy="608011"/>
          </a:xfrm>
          <a:prstGeom prst="rect">
            <a:avLst/>
          </a:prstGeom>
          <a:noFill/>
          <a:ln>
            <a:noFill/>
          </a:ln>
        </p:spPr>
      </p:pic>
      <p:sp>
        <p:nvSpPr>
          <p:cNvPr id="212" name="Shape 212"/>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13" name="Shape 213"/>
          <p:cNvSpPr txBox="1"/>
          <p:nvPr/>
        </p:nvSpPr>
        <p:spPr>
          <a:xfrm>
            <a:off x="3581400" y="547687"/>
            <a:ext cx="5486399"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CUOTA DECRECIENTE</a:t>
            </a:r>
          </a:p>
        </p:txBody>
      </p:sp>
      <p:sp>
        <p:nvSpPr>
          <p:cNvPr id="214" name="Shape 214"/>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Shape 215"/>
          <p:cNvSpPr txBox="1"/>
          <p:nvPr/>
        </p:nvSpPr>
        <p:spPr>
          <a:xfrm>
            <a:off x="228600" y="1371600"/>
            <a:ext cx="8493124" cy="6413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SISTEMA ALEMAN</a:t>
            </a: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pic>
        <p:nvPicPr>
          <p:cNvPr id="216" name="Shape 216"/>
          <p:cNvPicPr preferRelativeResize="0"/>
          <p:nvPr/>
        </p:nvPicPr>
        <p:blipFill rotWithShape="1">
          <a:blip r:embed="rId6">
            <a:alphaModFix/>
          </a:blip>
          <a:srcRect b="0" l="0" r="0" t="0"/>
          <a:stretch/>
        </p:blipFill>
        <p:spPr>
          <a:xfrm>
            <a:off x="5867400" y="1352550"/>
            <a:ext cx="3009899" cy="2784475"/>
          </a:xfrm>
          <a:prstGeom prst="rect">
            <a:avLst/>
          </a:prstGeom>
          <a:noFill/>
          <a:ln>
            <a:noFill/>
          </a:ln>
        </p:spPr>
      </p:pic>
      <p:sp>
        <p:nvSpPr>
          <p:cNvPr id="217" name="Shape 217"/>
          <p:cNvSpPr/>
          <p:nvPr/>
        </p:nvSpPr>
        <p:spPr>
          <a:xfrm>
            <a:off x="2033586" y="1841500"/>
            <a:ext cx="3560761" cy="0"/>
          </a:xfrm>
          <a:prstGeom prst="rect">
            <a:avLst/>
          </a:prstGeom>
          <a:solidFill>
            <a:srgbClr val="FFCC00"/>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18" name="Shape 218"/>
          <p:cNvGraphicFramePr/>
          <p:nvPr/>
        </p:nvGraphicFramePr>
        <p:xfrm>
          <a:off x="304800" y="1828800"/>
          <a:ext cx="3000000" cy="3000000"/>
        </p:xfrm>
        <a:graphic>
          <a:graphicData uri="http://schemas.openxmlformats.org/drawingml/2006/table">
            <a:tbl>
              <a:tblPr>
                <a:noFill/>
                <a:tableStyleId>{4D563085-A933-4687-BFC1-165E53BC5F1F}</a:tableStyleId>
              </a:tblPr>
              <a:tblGrid>
                <a:gridCol w="1762125"/>
                <a:gridCol w="3314700"/>
              </a:tblGrid>
              <a:tr h="514350">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Cálculo de intereses </a:t>
                      </a:r>
                    </a:p>
                  </a:txBody>
                  <a:tcPr marT="0" marB="0" marR="0" marL="0">
                    <a:lnL cap="flat" cmpd="sng" w="25400">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25400">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Sobre el saldo del capital adeudado.-   </a:t>
                      </a:r>
                    </a:p>
                  </a:txBody>
                  <a:tcPr marT="0" marB="0" marR="0" marL="0">
                    <a:lnL cap="flat" cmpd="sng" w="9525">
                      <a:solidFill>
                        <a:srgbClr val="000000"/>
                      </a:solidFill>
                      <a:prstDash val="solid"/>
                      <a:round/>
                      <a:headEnd len="med" w="med" type="none"/>
                      <a:tailEnd len="med" w="med" type="none"/>
                    </a:lnL>
                    <a:lnR cap="flat" cmpd="sng" w="25400">
                      <a:solidFill>
                        <a:srgbClr val="000000"/>
                      </a:solidFill>
                      <a:prstDash val="solid"/>
                      <a:round/>
                      <a:headEnd len="med" w="med" type="none"/>
                      <a:tailEnd len="med" w="med" type="none"/>
                    </a:lnR>
                    <a:lnT cap="flat" cmpd="sng" w="25400">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r>
              <a:tr h="1181100">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Importe de las Cuotas </a:t>
                      </a:r>
                    </a:p>
                  </a:txBody>
                  <a:tcPr marT="0" marB="0" marR="0" marL="0">
                    <a:lnL cap="flat" cmpd="sng" w="25400">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c>
                  <a:txBody>
                    <a:bodyPr>
                      <a:noAutofit/>
                    </a:bodyPr>
                    <a:lstStyle/>
                    <a:p>
                      <a:pPr indent="0" lvl="0" marL="0" marR="0" rtl="0" algn="l">
                        <a:lnSpc>
                          <a:spcPct val="100000"/>
                        </a:lnSpc>
                        <a:spcBef>
                          <a:spcPts val="0"/>
                        </a:spcBef>
                        <a:spcAft>
                          <a:spcPts val="0"/>
                        </a:spcAft>
                        <a:buClr>
                          <a:srgbClr val="FF0000"/>
                        </a:buClr>
                        <a:buSzPct val="25000"/>
                        <a:buFont typeface="Times New Roman"/>
                        <a:buNone/>
                      </a:pPr>
                      <a:r>
                        <a:rPr b="1" i="0" lang="en-US" sz="1200" u="none" cap="none" strike="noStrike">
                          <a:solidFill>
                            <a:srgbClr val="FF0000"/>
                          </a:solidFill>
                          <a:latin typeface="Times New Roman"/>
                          <a:ea typeface="Times New Roman"/>
                          <a:cs typeface="Times New Roman"/>
                          <a:sym typeface="Times New Roman"/>
                        </a:rPr>
                        <a:t>Variable:</a:t>
                      </a:r>
                      <a:r>
                        <a:rPr b="0" i="0" lang="en-US" sz="1200" u="none" cap="none" strike="noStrike">
                          <a:solidFill>
                            <a:schemeClr val="dk1"/>
                          </a:solidFill>
                          <a:latin typeface="Times New Roman"/>
                          <a:ea typeface="Times New Roman"/>
                          <a:cs typeface="Times New Roman"/>
                          <a:sym typeface="Times New Roman"/>
                        </a:rPr>
                        <a:t> son de valores decrecientes, ello es debido a que el componente pago de amortización del capital adeudado en cada cuota es siempre igual.-   </a:t>
                      </a:r>
                    </a:p>
                  </a:txBody>
                  <a:tcPr marT="0" marB="0" marR="0" marL="0">
                    <a:lnL cap="flat" cmpd="sng" w="9525">
                      <a:solidFill>
                        <a:srgbClr val="000000"/>
                      </a:solidFill>
                      <a:prstDash val="solid"/>
                      <a:round/>
                      <a:headEnd len="med" w="med" type="none"/>
                      <a:tailEnd len="med" w="med" type="none"/>
                    </a:lnL>
                    <a:lnR cap="flat" cmpd="sng" w="25400">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r>
              <a:tr h="1968500">
                <a:tc rowSpan="2">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Composición de las cuotas: cada una de las cuotas cuenta con un componente pago de interés y un componente pago de amortización del capital prestado.- </a:t>
                      </a:r>
                    </a:p>
                  </a:txBody>
                  <a:tcPr marT="0" marB="0" marR="0" marL="0">
                    <a:lnL cap="flat" cmpd="sng" w="25400">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25400">
                      <a:solidFill>
                        <a:srgbClr val="000000"/>
                      </a:solidFill>
                      <a:prstDash val="solid"/>
                      <a:round/>
                      <a:headEnd len="med" w="med" type="none"/>
                      <a:tailEnd len="med" w="med" type="none"/>
                    </a:lnB>
                    <a:solidFill>
                      <a:srgbClr val="FFCC00"/>
                    </a:solidFill>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Componente pago de interés: el interés abonado en cada cuota se calcula sobre el saldo adeudado del préstamo, es por ello que, este componente va disminuyendo su participación en el importe total de cada cuota a medida que se avanza en el pago de las mismas, en razón de que el monto adeudado es menor.-    </a:t>
                      </a:r>
                    </a:p>
                  </a:txBody>
                  <a:tcPr marT="0" marB="0" marR="0" marL="0">
                    <a:lnL cap="flat" cmpd="sng" w="9525">
                      <a:solidFill>
                        <a:srgbClr val="000000"/>
                      </a:solidFill>
                      <a:prstDash val="solid"/>
                      <a:round/>
                      <a:headEnd len="med" w="med" type="none"/>
                      <a:tailEnd len="med" w="med" type="none"/>
                    </a:lnL>
                    <a:lnR cap="flat" cmpd="sng" w="25400">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solidFill>
                      <a:srgbClr val="FFCC00"/>
                    </a:solidFill>
                  </a:tcPr>
                </a:tc>
              </a:tr>
              <a:tr h="917575">
                <a:tc vMerge="1"/>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Componente pago de amortización del capital adeudado: su importe es igual en cada cuota, no varía.</a:t>
                      </a:r>
                    </a:p>
                  </a:txBody>
                  <a:tcPr marT="0" marB="0" marR="0" marL="0">
                    <a:lnL cap="flat" cmpd="sng" w="25400">
                      <a:solidFill>
                        <a:srgbClr val="000000"/>
                      </a:solidFill>
                      <a:prstDash val="solid"/>
                      <a:round/>
                      <a:headEnd len="med" w="med" type="none"/>
                      <a:tailEnd len="med" w="med" type="none"/>
                    </a:lnL>
                    <a:lnR cap="flat" cmpd="sng" w="25400">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25400">
                      <a:solidFill>
                        <a:srgbClr val="000000"/>
                      </a:solidFill>
                      <a:prstDash val="solid"/>
                      <a:round/>
                      <a:headEnd len="med" w="med" type="none"/>
                      <a:tailEnd len="med" w="med" type="none"/>
                    </a:lnB>
                    <a:solidFill>
                      <a:srgbClr val="FFCC00"/>
                    </a:solidFill>
                  </a:tcPr>
                </a:tc>
              </a:tr>
            </a:tbl>
          </a:graphicData>
        </a:graphic>
      </p:graphicFrame>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noFill/>
      </p:bgPr>
    </p:bg>
    <p:spTree>
      <p:nvGrpSpPr>
        <p:cNvPr id="222" name="Shape 222"/>
        <p:cNvGrpSpPr/>
        <p:nvPr/>
      </p:nvGrpSpPr>
      <p:grpSpPr>
        <a:xfrm>
          <a:off x="0" y="0"/>
          <a:ext cx="0" cy="0"/>
          <a:chOff x="0" y="0"/>
          <a:chExt cx="0" cy="0"/>
        </a:xfrm>
      </p:grpSpPr>
      <p:pic>
        <p:nvPicPr>
          <p:cNvPr id="223" name="Shape 223"/>
          <p:cNvPicPr preferRelativeResize="0"/>
          <p:nvPr/>
        </p:nvPicPr>
        <p:blipFill rotWithShape="1">
          <a:blip r:embed="rId3">
            <a:alphaModFix/>
          </a:blip>
          <a:srcRect b="0" l="0" r="0" t="0"/>
          <a:stretch/>
        </p:blipFill>
        <p:spPr>
          <a:xfrm>
            <a:off x="263525" y="1314450"/>
            <a:ext cx="8610599" cy="209549"/>
          </a:xfrm>
          <a:prstGeom prst="rect">
            <a:avLst/>
          </a:prstGeom>
          <a:noFill/>
          <a:ln>
            <a:noFill/>
          </a:ln>
        </p:spPr>
      </p:pic>
      <p:pic>
        <p:nvPicPr>
          <p:cNvPr id="224" name="Shape 224"/>
          <p:cNvPicPr preferRelativeResize="0"/>
          <p:nvPr/>
        </p:nvPicPr>
        <p:blipFill rotWithShape="1">
          <a:blip r:embed="rId4">
            <a:alphaModFix/>
          </a:blip>
          <a:srcRect b="0" l="0" r="0" t="0"/>
          <a:stretch/>
        </p:blipFill>
        <p:spPr>
          <a:xfrm>
            <a:off x="269875" y="1590675"/>
            <a:ext cx="8626474" cy="5114925"/>
          </a:xfrm>
          <a:prstGeom prst="rect">
            <a:avLst/>
          </a:prstGeom>
          <a:noFill/>
          <a:ln>
            <a:noFill/>
          </a:ln>
        </p:spPr>
      </p:pic>
      <p:pic>
        <p:nvPicPr>
          <p:cNvPr id="225" name="Shape 225"/>
          <p:cNvPicPr preferRelativeResize="0"/>
          <p:nvPr/>
        </p:nvPicPr>
        <p:blipFill rotWithShape="1">
          <a:blip r:embed="rId5">
            <a:alphaModFix/>
          </a:blip>
          <a:srcRect b="0" l="0" r="0" t="0"/>
          <a:stretch/>
        </p:blipFill>
        <p:spPr>
          <a:xfrm>
            <a:off x="568325" y="534987"/>
            <a:ext cx="3013074" cy="608011"/>
          </a:xfrm>
          <a:prstGeom prst="rect">
            <a:avLst/>
          </a:prstGeom>
          <a:noFill/>
          <a:ln>
            <a:noFill/>
          </a:ln>
        </p:spPr>
      </p:pic>
      <p:sp>
        <p:nvSpPr>
          <p:cNvPr id="226" name="Shape 226"/>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27" name="Shape 227"/>
          <p:cNvSpPr txBox="1"/>
          <p:nvPr/>
        </p:nvSpPr>
        <p:spPr>
          <a:xfrm>
            <a:off x="3581400" y="425450"/>
            <a:ext cx="5486399"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GARANTÍA</a:t>
            </a:r>
          </a:p>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CREDITICIA</a:t>
            </a:r>
          </a:p>
        </p:txBody>
      </p:sp>
      <p:sp>
        <p:nvSpPr>
          <p:cNvPr id="228" name="Shape 228"/>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Shape 229"/>
          <p:cNvSpPr txBox="1"/>
          <p:nvPr/>
        </p:nvSpPr>
        <p:spPr>
          <a:xfrm>
            <a:off x="269875" y="5087937"/>
            <a:ext cx="8569325" cy="1465261"/>
          </a:xfrm>
          <a:prstGeom prst="rect">
            <a:avLst/>
          </a:prstGeom>
          <a:solidFill>
            <a:srgbClr val="FFFF99">
              <a:alpha val="60000"/>
            </a:srgbClr>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En una operación de crédito, las garantías pedidas por el acreedor u ofrecidas por el deudor, se clasifican en:</a:t>
            </a:r>
          </a:p>
          <a:p>
            <a:pPr indent="0" lvl="1" marL="457200" marR="0" rtl="0" algn="l">
              <a:lnSpc>
                <a:spcPct val="100000"/>
              </a:lnSpc>
              <a:spcBef>
                <a:spcPts val="0"/>
              </a:spcBef>
              <a:spcAft>
                <a:spcPts val="0"/>
              </a:spcAft>
              <a:buClr>
                <a:srgbClr val="2F8F0D"/>
              </a:buClr>
              <a:buSzPct val="100000"/>
              <a:buFont typeface="Arial"/>
              <a:buChar char="•"/>
            </a:pPr>
            <a:r>
              <a:rPr b="1" i="1" lang="en-US" sz="1800" u="none" cap="none" strike="noStrike">
                <a:solidFill>
                  <a:srgbClr val="2F8F0D"/>
                </a:solidFill>
                <a:latin typeface="Arial"/>
                <a:ea typeface="Arial"/>
                <a:cs typeface="Arial"/>
                <a:sym typeface="Arial"/>
              </a:rPr>
              <a:t>Personales  </a:t>
            </a:r>
          </a:p>
          <a:p>
            <a:pPr indent="0" lvl="1" marL="457200" marR="0" rtl="0" algn="l">
              <a:lnSpc>
                <a:spcPct val="100000"/>
              </a:lnSpc>
              <a:spcBef>
                <a:spcPts val="0"/>
              </a:spcBef>
              <a:spcAft>
                <a:spcPts val="0"/>
              </a:spcAft>
              <a:buClr>
                <a:srgbClr val="2F8F0D"/>
              </a:buClr>
              <a:buSzPct val="100000"/>
              <a:buFont typeface="Arial"/>
              <a:buChar char="•"/>
            </a:pPr>
            <a:r>
              <a:rPr b="1" i="1" lang="en-US" sz="1800" u="none" cap="none" strike="noStrike">
                <a:solidFill>
                  <a:srgbClr val="2F8F0D"/>
                </a:solidFill>
                <a:latin typeface="Arial"/>
                <a:ea typeface="Arial"/>
                <a:cs typeface="Arial"/>
                <a:sym typeface="Arial"/>
              </a:rPr>
              <a:t>Reales.</a:t>
            </a:r>
          </a:p>
          <a:p>
            <a:pPr indent="0" lvl="0" marL="0" marR="0" rtl="0" algn="l">
              <a:lnSpc>
                <a:spcPct val="100000"/>
              </a:lnSpc>
              <a:spcBef>
                <a:spcPts val="0"/>
              </a:spcBef>
              <a:spcAft>
                <a:spcPts val="0"/>
              </a:spcAft>
              <a:buNone/>
            </a:pPr>
            <a:r>
              <a:t/>
            </a:r>
            <a:endParaRPr b="1" i="1" sz="1800" u="none" cap="none" strike="noStrike">
              <a:solidFill>
                <a:srgbClr val="2F8F0D"/>
              </a:solidFill>
              <a:latin typeface="Arial"/>
              <a:ea typeface="Arial"/>
              <a:cs typeface="Arial"/>
              <a:sym typeface="Arial"/>
            </a:endParaRPr>
          </a:p>
        </p:txBody>
      </p:sp>
      <p:pic>
        <p:nvPicPr>
          <p:cNvPr id="230" name="Shape 230"/>
          <p:cNvPicPr preferRelativeResize="0"/>
          <p:nvPr/>
        </p:nvPicPr>
        <p:blipFill rotWithShape="1">
          <a:blip r:embed="rId6">
            <a:alphaModFix/>
          </a:blip>
          <a:srcRect b="0" l="0" r="0" t="0"/>
          <a:stretch/>
        </p:blipFill>
        <p:spPr>
          <a:xfrm>
            <a:off x="3140075" y="2971800"/>
            <a:ext cx="1812924" cy="2057400"/>
          </a:xfrm>
          <a:prstGeom prst="rect">
            <a:avLst/>
          </a:prstGeom>
          <a:noFill/>
          <a:ln>
            <a:noFill/>
          </a:ln>
        </p:spPr>
      </p:pic>
      <p:sp>
        <p:nvSpPr>
          <p:cNvPr id="231" name="Shape 231"/>
          <p:cNvSpPr txBox="1"/>
          <p:nvPr/>
        </p:nvSpPr>
        <p:spPr>
          <a:xfrm>
            <a:off x="304800" y="1601787"/>
            <a:ext cx="8305799" cy="1293811"/>
          </a:xfrm>
          <a:prstGeom prst="rect">
            <a:avLst/>
          </a:prstGeom>
          <a:solidFill>
            <a:srgbClr val="FFFFFF"/>
          </a:solidFill>
          <a:ln cap="flat" cmpd="sng" w="9525">
            <a:solidFill>
              <a:srgbClr val="FFFFFF"/>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Es una cobertura contractual que se establece en las diferentes operaciones de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activo bancario para reducir, mediante su establecimiento, el riesgo de impago,</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conforme se recogen en las cláusulas del contrato de crédito o préstamo.</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35" name="Shape 235"/>
        <p:cNvGrpSpPr/>
        <p:nvPr/>
      </p:nvGrpSpPr>
      <p:grpSpPr>
        <a:xfrm>
          <a:off x="0" y="0"/>
          <a:ext cx="0" cy="0"/>
          <a:chOff x="0" y="0"/>
          <a:chExt cx="0" cy="0"/>
        </a:xfrm>
      </p:grpSpPr>
      <p:pic>
        <p:nvPicPr>
          <p:cNvPr id="236" name="Shape 23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37" name="Shape 237"/>
          <p:cNvPicPr preferRelativeResize="0"/>
          <p:nvPr/>
        </p:nvPicPr>
        <p:blipFill rotWithShape="1">
          <a:blip r:embed="rId4">
            <a:alphaModFix/>
          </a:blip>
          <a:srcRect b="0" l="0" r="0" t="0"/>
          <a:stretch/>
        </p:blipFill>
        <p:spPr>
          <a:xfrm>
            <a:off x="255587" y="1444625"/>
            <a:ext cx="8626474" cy="5114925"/>
          </a:xfrm>
          <a:prstGeom prst="rect">
            <a:avLst/>
          </a:prstGeom>
          <a:noFill/>
          <a:ln>
            <a:noFill/>
          </a:ln>
        </p:spPr>
      </p:pic>
      <p:pic>
        <p:nvPicPr>
          <p:cNvPr id="238" name="Shape 238"/>
          <p:cNvPicPr preferRelativeResize="0"/>
          <p:nvPr/>
        </p:nvPicPr>
        <p:blipFill rotWithShape="1">
          <a:blip r:embed="rId5">
            <a:alphaModFix/>
          </a:blip>
          <a:srcRect b="0" l="0" r="0" t="0"/>
          <a:stretch/>
        </p:blipFill>
        <p:spPr>
          <a:xfrm>
            <a:off x="339725" y="457200"/>
            <a:ext cx="3013074" cy="608011"/>
          </a:xfrm>
          <a:prstGeom prst="rect">
            <a:avLst/>
          </a:prstGeom>
          <a:noFill/>
          <a:ln>
            <a:noFill/>
          </a:ln>
        </p:spPr>
      </p:pic>
      <p:sp>
        <p:nvSpPr>
          <p:cNvPr id="239" name="Shape 239"/>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40" name="Shape 240"/>
          <p:cNvSpPr txBox="1"/>
          <p:nvPr/>
        </p:nvSpPr>
        <p:spPr>
          <a:xfrm>
            <a:off x="3429000" y="471487"/>
            <a:ext cx="5486399"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GARANTÍA PERSONAL</a:t>
            </a:r>
          </a:p>
        </p:txBody>
      </p:sp>
      <p:sp>
        <p:nvSpPr>
          <p:cNvPr id="241" name="Shape 241"/>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Shape 242"/>
          <p:cNvSpPr txBox="1"/>
          <p:nvPr/>
        </p:nvSpPr>
        <p:spPr>
          <a:xfrm>
            <a:off x="152400" y="1447800"/>
            <a:ext cx="8493124" cy="6413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GARANTÍA PERSONAL</a:t>
            </a: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sp>
        <p:nvSpPr>
          <p:cNvPr id="243" name="Shape 243"/>
          <p:cNvSpPr txBox="1"/>
          <p:nvPr/>
        </p:nvSpPr>
        <p:spPr>
          <a:xfrm>
            <a:off x="228600" y="1981200"/>
            <a:ext cx="8188324" cy="9159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Solo tiene importancia la persona del deudor, representan la obligación que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contrae una persona física o jurídica de respaldar el pago de una obligación crediticia, con todos sus bienes y todos sus ingresos presentes y / o futuros.</a:t>
            </a:r>
          </a:p>
        </p:txBody>
      </p:sp>
      <p:pic>
        <p:nvPicPr>
          <p:cNvPr id="244" name="Shape 244"/>
          <p:cNvPicPr preferRelativeResize="0"/>
          <p:nvPr/>
        </p:nvPicPr>
        <p:blipFill rotWithShape="1">
          <a:blip r:embed="rId6">
            <a:alphaModFix/>
          </a:blip>
          <a:srcRect b="0" l="0" r="0" t="0"/>
          <a:stretch/>
        </p:blipFill>
        <p:spPr>
          <a:xfrm>
            <a:off x="809625" y="3276600"/>
            <a:ext cx="2466974" cy="1600199"/>
          </a:xfrm>
          <a:prstGeom prst="rect">
            <a:avLst/>
          </a:prstGeom>
          <a:noFill/>
          <a:ln>
            <a:noFill/>
          </a:ln>
        </p:spPr>
      </p:pic>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48" name="Shape 248"/>
        <p:cNvGrpSpPr/>
        <p:nvPr/>
      </p:nvGrpSpPr>
      <p:grpSpPr>
        <a:xfrm>
          <a:off x="0" y="0"/>
          <a:ext cx="0" cy="0"/>
          <a:chOff x="0" y="0"/>
          <a:chExt cx="0" cy="0"/>
        </a:xfrm>
      </p:grpSpPr>
      <p:sp>
        <p:nvSpPr>
          <p:cNvPr id="249" name="Shape 249"/>
          <p:cNvSpPr txBox="1"/>
          <p:nvPr>
            <p:ph idx="4294967295" type="title"/>
          </p:nvPr>
        </p:nvSpPr>
        <p:spPr>
          <a:xfrm>
            <a:off x="4495800" y="457200"/>
            <a:ext cx="4190999" cy="1371599"/>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4000" u="none" cap="none" strike="noStrike">
                <a:solidFill>
                  <a:schemeClr val="dk1"/>
                </a:solidFill>
                <a:latin typeface="Arial"/>
                <a:ea typeface="Arial"/>
                <a:cs typeface="Arial"/>
                <a:sym typeface="Arial"/>
              </a:rPr>
              <a:t>Crédito Personal</a:t>
            </a:r>
          </a:p>
        </p:txBody>
      </p:sp>
      <p:sp>
        <p:nvSpPr>
          <p:cNvPr id="250" name="Shape 250"/>
          <p:cNvSpPr txBox="1"/>
          <p:nvPr>
            <p:ph idx="4294967295" type="body"/>
          </p:nvPr>
        </p:nvSpPr>
        <p:spPr>
          <a:xfrm>
            <a:off x="457200" y="1981200"/>
            <a:ext cx="7239000" cy="388620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lt2"/>
              </a:buClr>
              <a:buSzPct val="25000"/>
              <a:buFont typeface="Noto Sans Symbols"/>
              <a:buNone/>
            </a:pPr>
            <a:r>
              <a:rPr b="0" i="0" lang="en-US" sz="2400" u="none" cap="none" strike="noStrike">
                <a:solidFill>
                  <a:schemeClr val="dk1"/>
                </a:solidFill>
                <a:latin typeface="Arial"/>
                <a:ea typeface="Arial"/>
                <a:cs typeface="Arial"/>
                <a:sym typeface="Arial"/>
              </a:rPr>
              <a:t>En este contrato, el cliente (prestatario) recibe de una entidad financiera (prestamista) una cantidad de dinero (capital del préstamo) que puede contar (o no) con una garantía colateral.  </a:t>
            </a:r>
          </a:p>
          <a:p>
            <a:pPr indent="-342900" lvl="0" marL="342900" marR="0" rtl="0" algn="l">
              <a:lnSpc>
                <a:spcPct val="100000"/>
              </a:lnSpc>
              <a:spcBef>
                <a:spcPts val="480"/>
              </a:spcBef>
              <a:spcAft>
                <a:spcPts val="0"/>
              </a:spcAft>
              <a:buClr>
                <a:schemeClr val="lt2"/>
              </a:buClr>
              <a:buSzPct val="25000"/>
              <a:buFont typeface="Noto Sans Symbols"/>
              <a:buNone/>
            </a:pP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Dado que el prestamista está asumiendo un mayor riesgo, la tasa de interés puede ser </a:t>
            </a:r>
            <a:r>
              <a:rPr b="1" i="0" lang="en-US" sz="2400" u="none" cap="none" strike="noStrike">
                <a:solidFill>
                  <a:srgbClr val="FF0000"/>
                </a:solidFill>
                <a:latin typeface="Arial"/>
                <a:ea typeface="Arial"/>
                <a:cs typeface="Arial"/>
                <a:sym typeface="Arial"/>
              </a:rPr>
              <a:t>mayor</a:t>
            </a:r>
            <a:r>
              <a:rPr b="0" i="0" lang="en-US" sz="2400" u="none" cap="none" strike="noStrike">
                <a:solidFill>
                  <a:schemeClr val="dk1"/>
                </a:solidFill>
                <a:latin typeface="Arial"/>
                <a:ea typeface="Arial"/>
                <a:cs typeface="Arial"/>
                <a:sym typeface="Arial"/>
              </a:rPr>
              <a:t>, o se le puede pedir que presente un </a:t>
            </a:r>
            <a:r>
              <a:rPr b="1" i="0" lang="en-US" sz="2400" u="none" cap="none" strike="noStrike">
                <a:solidFill>
                  <a:srgbClr val="FF0000"/>
                </a:solidFill>
                <a:latin typeface="Arial"/>
                <a:ea typeface="Arial"/>
                <a:cs typeface="Arial"/>
                <a:sym typeface="Arial"/>
              </a:rPr>
              <a:t>codeudor</a:t>
            </a:r>
            <a:r>
              <a:rPr b="0" i="0" lang="en-US" sz="2400" u="none" cap="none" strike="noStrike">
                <a:solidFill>
                  <a:schemeClr val="dk1"/>
                </a:solidFill>
                <a:latin typeface="Arial"/>
                <a:ea typeface="Arial"/>
                <a:cs typeface="Arial"/>
                <a:sym typeface="Arial"/>
              </a:rPr>
              <a:t> que acepte pagar el préstamo en caso de que el cliente incumpla. </a:t>
            </a:r>
          </a:p>
        </p:txBody>
      </p:sp>
      <p:pic>
        <p:nvPicPr>
          <p:cNvPr id="251" name="Shape 251"/>
          <p:cNvPicPr preferRelativeResize="0"/>
          <p:nvPr>
            <p:ph idx="4294967295" type="body"/>
          </p:nvPr>
        </p:nvPicPr>
        <p:blipFill rotWithShape="1">
          <a:blip r:embed="rId3">
            <a:alphaModFix/>
          </a:blip>
          <a:srcRect b="0" l="0" r="0" t="0"/>
          <a:stretch/>
        </p:blipFill>
        <p:spPr>
          <a:xfrm>
            <a:off x="228600" y="609600"/>
            <a:ext cx="3009899" cy="609599"/>
          </a:xfrm>
          <a:prstGeom prst="rect">
            <a:avLst/>
          </a:prstGeom>
          <a:noFill/>
          <a:ln>
            <a:noFill/>
          </a:ln>
        </p:spPr>
      </p:pic>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55" name="Shape 255"/>
        <p:cNvGrpSpPr/>
        <p:nvPr/>
      </p:nvGrpSpPr>
      <p:grpSpPr>
        <a:xfrm>
          <a:off x="0" y="0"/>
          <a:ext cx="0" cy="0"/>
          <a:chOff x="0" y="0"/>
          <a:chExt cx="0" cy="0"/>
        </a:xfrm>
      </p:grpSpPr>
      <p:pic>
        <p:nvPicPr>
          <p:cNvPr id="256" name="Shape 256"/>
          <p:cNvPicPr preferRelativeResize="0"/>
          <p:nvPr/>
        </p:nvPicPr>
        <p:blipFill rotWithShape="1">
          <a:blip r:embed="rId3">
            <a:alphaModFix/>
          </a:blip>
          <a:srcRect b="0" l="0" r="0" t="0"/>
          <a:stretch/>
        </p:blipFill>
        <p:spPr>
          <a:xfrm>
            <a:off x="263525" y="1477962"/>
            <a:ext cx="8626474" cy="5114925"/>
          </a:xfrm>
          <a:prstGeom prst="rect">
            <a:avLst/>
          </a:prstGeom>
          <a:noFill/>
          <a:ln>
            <a:noFill/>
          </a:ln>
        </p:spPr>
      </p:pic>
      <p:pic>
        <p:nvPicPr>
          <p:cNvPr id="257" name="Shape 257"/>
          <p:cNvPicPr preferRelativeResize="0"/>
          <p:nvPr/>
        </p:nvPicPr>
        <p:blipFill rotWithShape="1">
          <a:blip r:embed="rId4">
            <a:alphaModFix/>
          </a:blip>
          <a:srcRect b="0" l="0" r="0" t="0"/>
          <a:stretch/>
        </p:blipFill>
        <p:spPr>
          <a:xfrm>
            <a:off x="263525" y="1085850"/>
            <a:ext cx="8610599" cy="209549"/>
          </a:xfrm>
          <a:prstGeom prst="rect">
            <a:avLst/>
          </a:prstGeom>
          <a:noFill/>
          <a:ln>
            <a:noFill/>
          </a:ln>
        </p:spPr>
      </p:pic>
      <p:pic>
        <p:nvPicPr>
          <p:cNvPr id="258" name="Shape 258"/>
          <p:cNvPicPr preferRelativeResize="0"/>
          <p:nvPr/>
        </p:nvPicPr>
        <p:blipFill rotWithShape="1">
          <a:blip r:embed="rId5">
            <a:alphaModFix/>
          </a:blip>
          <a:srcRect b="0" l="0" r="0" t="0"/>
          <a:stretch/>
        </p:blipFill>
        <p:spPr>
          <a:xfrm>
            <a:off x="568325" y="458787"/>
            <a:ext cx="3013074" cy="608011"/>
          </a:xfrm>
          <a:prstGeom prst="rect">
            <a:avLst/>
          </a:prstGeom>
          <a:noFill/>
          <a:ln>
            <a:noFill/>
          </a:ln>
        </p:spPr>
      </p:pic>
      <p:sp>
        <p:nvSpPr>
          <p:cNvPr id="259" name="Shape 259"/>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60" name="Shape 260"/>
          <p:cNvSpPr txBox="1"/>
          <p:nvPr/>
        </p:nvSpPr>
        <p:spPr>
          <a:xfrm>
            <a:off x="3581400" y="547687"/>
            <a:ext cx="5486399"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GARANTÍA REAL</a:t>
            </a:r>
          </a:p>
        </p:txBody>
      </p:sp>
      <p:sp>
        <p:nvSpPr>
          <p:cNvPr id="261" name="Shape 261"/>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Shape 262"/>
          <p:cNvSpPr txBox="1"/>
          <p:nvPr/>
        </p:nvSpPr>
        <p:spPr>
          <a:xfrm>
            <a:off x="263525" y="1646236"/>
            <a:ext cx="8381999" cy="1465261"/>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GARANTÍA REAL</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Es aquella que se constituye cuando el deudor, o una tercera persona, compromete un bien  determinado de su patrimonio para garantizar el cumplimiento de una obligación contraída.</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pic>
        <p:nvPicPr>
          <p:cNvPr id="263" name="Shape 263"/>
          <p:cNvPicPr preferRelativeResize="0"/>
          <p:nvPr/>
        </p:nvPicPr>
        <p:blipFill rotWithShape="1">
          <a:blip r:embed="rId6">
            <a:alphaModFix/>
          </a:blip>
          <a:srcRect b="0" l="0" r="0" t="0"/>
          <a:stretch/>
        </p:blipFill>
        <p:spPr>
          <a:xfrm>
            <a:off x="457200" y="2819400"/>
            <a:ext cx="2857499" cy="2857499"/>
          </a:xfrm>
          <a:prstGeom prst="rect">
            <a:avLst/>
          </a:prstGeom>
          <a:noFill/>
          <a:ln>
            <a:noFill/>
          </a:ln>
        </p:spPr>
      </p:pic>
      <p:pic>
        <p:nvPicPr>
          <p:cNvPr id="264" name="Shape 264"/>
          <p:cNvPicPr preferRelativeResize="0"/>
          <p:nvPr/>
        </p:nvPicPr>
        <p:blipFill rotWithShape="1">
          <a:blip r:embed="rId7">
            <a:alphaModFix/>
          </a:blip>
          <a:srcRect b="0" l="0" r="0" t="0"/>
          <a:stretch/>
        </p:blipFill>
        <p:spPr>
          <a:xfrm>
            <a:off x="6583361" y="2819400"/>
            <a:ext cx="2306636" cy="1263650"/>
          </a:xfrm>
          <a:prstGeom prst="rect">
            <a:avLst/>
          </a:prstGeom>
          <a:noFill/>
          <a:ln>
            <a:noFill/>
          </a:ln>
        </p:spPr>
      </p:pic>
      <p:pic>
        <p:nvPicPr>
          <p:cNvPr id="265" name="Shape 265"/>
          <p:cNvPicPr preferRelativeResize="0"/>
          <p:nvPr/>
        </p:nvPicPr>
        <p:blipFill rotWithShape="1">
          <a:blip r:embed="rId8">
            <a:alphaModFix/>
          </a:blip>
          <a:srcRect b="0" l="0" r="0" t="0"/>
          <a:stretch/>
        </p:blipFill>
        <p:spPr>
          <a:xfrm>
            <a:off x="3121025" y="4083050"/>
            <a:ext cx="3533774" cy="2419350"/>
          </a:xfrm>
          <a:prstGeom prst="rect">
            <a:avLst/>
          </a:prstGeom>
          <a:noFill/>
          <a:ln>
            <a:noFill/>
          </a:ln>
        </p:spPr>
      </p:pic>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69" name="Shape 269"/>
        <p:cNvGrpSpPr/>
        <p:nvPr/>
      </p:nvGrpSpPr>
      <p:grpSpPr>
        <a:xfrm>
          <a:off x="0" y="0"/>
          <a:ext cx="0" cy="0"/>
          <a:chOff x="0" y="0"/>
          <a:chExt cx="0" cy="0"/>
        </a:xfrm>
      </p:grpSpPr>
      <p:pic>
        <p:nvPicPr>
          <p:cNvPr id="270" name="Shape 270"/>
          <p:cNvPicPr preferRelativeResize="0"/>
          <p:nvPr/>
        </p:nvPicPr>
        <p:blipFill rotWithShape="1">
          <a:blip r:embed="rId3">
            <a:alphaModFix/>
          </a:blip>
          <a:srcRect b="0" l="0" r="0" t="0"/>
          <a:stretch/>
        </p:blipFill>
        <p:spPr>
          <a:xfrm>
            <a:off x="263525" y="1238250"/>
            <a:ext cx="8610599" cy="209549"/>
          </a:xfrm>
          <a:prstGeom prst="rect">
            <a:avLst/>
          </a:prstGeom>
          <a:noFill/>
          <a:ln>
            <a:noFill/>
          </a:ln>
        </p:spPr>
      </p:pic>
      <p:pic>
        <p:nvPicPr>
          <p:cNvPr id="271" name="Shape 271"/>
          <p:cNvPicPr preferRelativeResize="0"/>
          <p:nvPr/>
        </p:nvPicPr>
        <p:blipFill rotWithShape="1">
          <a:blip r:embed="rId4">
            <a:alphaModFix/>
          </a:blip>
          <a:srcRect b="0" l="0" r="0" t="0"/>
          <a:stretch/>
        </p:blipFill>
        <p:spPr>
          <a:xfrm>
            <a:off x="255587" y="1444625"/>
            <a:ext cx="8626474" cy="5114925"/>
          </a:xfrm>
          <a:prstGeom prst="rect">
            <a:avLst/>
          </a:prstGeom>
          <a:noFill/>
          <a:ln>
            <a:noFill/>
          </a:ln>
        </p:spPr>
      </p:pic>
      <p:pic>
        <p:nvPicPr>
          <p:cNvPr id="272" name="Shape 272"/>
          <p:cNvPicPr preferRelativeResize="0"/>
          <p:nvPr/>
        </p:nvPicPr>
        <p:blipFill rotWithShape="1">
          <a:blip r:embed="rId5">
            <a:alphaModFix/>
          </a:blip>
          <a:srcRect b="0" l="0" r="0" t="0"/>
          <a:stretch/>
        </p:blipFill>
        <p:spPr>
          <a:xfrm>
            <a:off x="492125" y="458787"/>
            <a:ext cx="3013074" cy="608011"/>
          </a:xfrm>
          <a:prstGeom prst="rect">
            <a:avLst/>
          </a:prstGeom>
          <a:noFill/>
          <a:ln>
            <a:noFill/>
          </a:ln>
        </p:spPr>
      </p:pic>
      <p:sp>
        <p:nvSpPr>
          <p:cNvPr id="273" name="Shape 273"/>
          <p:cNvSpPr txBox="1"/>
          <p:nvPr/>
        </p:nvSpPr>
        <p:spPr>
          <a:xfrm>
            <a:off x="457200" y="1477962"/>
            <a:ext cx="8416924" cy="990599"/>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Font typeface="Calibri"/>
              <a:buNone/>
            </a:pPr>
            <a:r>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74" name="Shape 274"/>
          <p:cNvSpPr txBox="1"/>
          <p:nvPr/>
        </p:nvSpPr>
        <p:spPr>
          <a:xfrm>
            <a:off x="3581400" y="349250"/>
            <a:ext cx="5486399"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DISTINTOS TIPOS DE</a:t>
            </a:r>
          </a:p>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GARANTÍA REAL</a:t>
            </a:r>
          </a:p>
        </p:txBody>
      </p:sp>
      <p:sp>
        <p:nvSpPr>
          <p:cNvPr id="275" name="Shape 275"/>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Shape 276"/>
          <p:cNvSpPr txBox="1"/>
          <p:nvPr/>
        </p:nvSpPr>
        <p:spPr>
          <a:xfrm>
            <a:off x="193675" y="1524000"/>
            <a:ext cx="8493124" cy="1465261"/>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GARANTÍA REAL</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El acreedor disfruta de una garantía real cuando, en el patrimonio de su deudor, determinados elementos le han sido afectados de modo especial, de manera que podrá reclamar un derecho de preferencia en caso de incumplimiento.</a:t>
            </a:r>
          </a:p>
        </p:txBody>
      </p:sp>
      <p:graphicFrame>
        <p:nvGraphicFramePr>
          <p:cNvPr id="277" name="Shape 277"/>
          <p:cNvGraphicFramePr/>
          <p:nvPr/>
        </p:nvGraphicFramePr>
        <p:xfrm>
          <a:off x="1143000" y="3233736"/>
          <a:ext cx="3000000" cy="3000000"/>
        </p:xfrm>
        <a:graphic>
          <a:graphicData uri="http://schemas.openxmlformats.org/drawingml/2006/table">
            <a:tbl>
              <a:tblPr>
                <a:noFill/>
                <a:tableStyleId>{4D563085-A933-4687-BFC1-165E53BC5F1F}</a:tableStyleId>
              </a:tblPr>
              <a:tblGrid>
                <a:gridCol w="1739900"/>
                <a:gridCol w="2252650"/>
                <a:gridCol w="2255825"/>
              </a:tblGrid>
              <a:tr h="955675">
                <a:tc>
                  <a:txBody>
                    <a:bodyPr>
                      <a:noAutofit/>
                    </a:bodyPr>
                    <a:lstStyle/>
                    <a:p>
                      <a:pPr indent="0" lvl="0" marL="0" marR="0" rtl="0" algn="l">
                        <a:lnSpc>
                          <a:spcPct val="100000"/>
                        </a:lnSpc>
                        <a:spcBef>
                          <a:spcPts val="0"/>
                        </a:spcBef>
                        <a:spcAft>
                          <a:spcPts val="0"/>
                        </a:spcAft>
                        <a:buClr>
                          <a:schemeClr val="dk1"/>
                        </a:buClr>
                        <a:buSzPct val="25000"/>
                        <a:buFont typeface="Arial Black"/>
                        <a:buNone/>
                      </a:pPr>
                      <a:r>
                        <a:rPr b="1" i="1" lang="en-US" sz="2400" u="none" cap="none" strike="noStrike">
                          <a:solidFill>
                            <a:schemeClr val="dk1"/>
                          </a:solidFill>
                          <a:latin typeface="Arial Black"/>
                          <a:ea typeface="Arial Black"/>
                          <a:cs typeface="Arial Black"/>
                          <a:sym typeface="Arial Black"/>
                        </a:rPr>
                        <a:t>Garant</a:t>
                      </a:r>
                      <a:r>
                        <a:rPr b="1" i="1" lang="en-US" sz="2800" u="none" cap="none" strike="noStrike">
                          <a:solidFill>
                            <a:schemeClr val="dk1"/>
                          </a:solidFill>
                          <a:latin typeface="Arial Black"/>
                          <a:ea typeface="Arial Black"/>
                          <a:cs typeface="Arial Black"/>
                          <a:sym typeface="Arial Black"/>
                        </a:rPr>
                        <a:t>ía</a:t>
                      </a:r>
                      <a:r>
                        <a:rPr b="1" i="1" lang="en-US" sz="2400" u="none" cap="none" strike="noStrike">
                          <a:solidFill>
                            <a:schemeClr val="dk1"/>
                          </a:solidFill>
                          <a:latin typeface="Arial Black"/>
                          <a:ea typeface="Arial Black"/>
                          <a:cs typeface="Arial Black"/>
                          <a:sym typeface="Arial Black"/>
                        </a:rPr>
                        <a:t> real</a:t>
                      </a:r>
                    </a:p>
                  </a:txBody>
                  <a:tcPr marT="0" marB="0" marR="0" marL="0">
                    <a:lnL cap="flat" cmpd="sng" w="25400">
                      <a:solidFill>
                        <a:srgbClr val="0000FF"/>
                      </a:solidFill>
                      <a:prstDash val="solid"/>
                      <a:round/>
                      <a:headEnd len="med" w="med" type="none"/>
                      <a:tailEnd len="med" w="med" type="none"/>
                    </a:lnL>
                    <a:lnR cap="flat" cmpd="sng" w="25400">
                      <a:solidFill>
                        <a:srgbClr val="0000FF"/>
                      </a:solidFill>
                      <a:prstDash val="solid"/>
                      <a:round/>
                      <a:headEnd len="med" w="med" type="none"/>
                      <a:tailEnd len="med" w="med" type="none"/>
                    </a:lnR>
                    <a:lnT cap="flat" cmpd="sng" w="25400">
                      <a:solidFill>
                        <a:srgbClr val="0000FF"/>
                      </a:solidFill>
                      <a:prstDash val="solid"/>
                      <a:round/>
                      <a:headEnd len="med" w="med" type="none"/>
                      <a:tailEnd len="med" w="med" type="none"/>
                    </a:lnT>
                    <a:lnB cap="flat" cmpd="sng" w="25400">
                      <a:solidFill>
                        <a:srgbClr val="0000FF"/>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rgbClr val="FF0000"/>
                        </a:buClr>
                        <a:buSzPct val="25000"/>
                        <a:buFont typeface="Times New Roman"/>
                        <a:buNone/>
                      </a:pPr>
                      <a:r>
                        <a:rPr b="1" i="1" lang="en-US" sz="2400" u="none" cap="none" strike="noStrike">
                          <a:solidFill>
                            <a:srgbClr val="FF0000"/>
                          </a:solidFill>
                          <a:latin typeface="Times New Roman"/>
                          <a:ea typeface="Times New Roman"/>
                          <a:cs typeface="Times New Roman"/>
                          <a:sym typeface="Times New Roman"/>
                        </a:rPr>
                        <a:t>Con desplazamiento</a:t>
                      </a:r>
                    </a:p>
                  </a:txBody>
                  <a:tcPr marT="0" marB="0" marR="0" marL="0">
                    <a:lnL cap="flat" cmpd="sng" w="25400">
                      <a:solidFill>
                        <a:srgbClr val="0000FF"/>
                      </a:solidFill>
                      <a:prstDash val="solid"/>
                      <a:round/>
                      <a:headEnd len="med" w="med" type="none"/>
                      <a:tailEnd len="med" w="med" type="none"/>
                    </a:lnL>
                    <a:lnR cap="flat" cmpd="sng" w="25400">
                      <a:solidFill>
                        <a:srgbClr val="0000FF"/>
                      </a:solidFill>
                      <a:prstDash val="solid"/>
                      <a:round/>
                      <a:headEnd len="med" w="med" type="none"/>
                      <a:tailEnd len="med" w="med" type="none"/>
                    </a:lnR>
                    <a:lnT cap="flat" cmpd="sng" w="25400">
                      <a:solidFill>
                        <a:srgbClr val="0000FF"/>
                      </a:solidFill>
                      <a:prstDash val="solid"/>
                      <a:round/>
                      <a:headEnd len="med" w="med" type="none"/>
                      <a:tailEnd len="med" w="med" type="none"/>
                    </a:lnT>
                    <a:lnB cap="flat" cmpd="sng" w="25400">
                      <a:solidFill>
                        <a:srgbClr val="0000FF"/>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rgbClr val="0000FF"/>
                        </a:buClr>
                        <a:buSzPct val="25000"/>
                        <a:buFont typeface="Times New Roman"/>
                        <a:buNone/>
                      </a:pPr>
                      <a:r>
                        <a:rPr b="1" i="1" lang="en-US" sz="2400" u="none" cap="none" strike="noStrike">
                          <a:solidFill>
                            <a:srgbClr val="0000FF"/>
                          </a:solidFill>
                          <a:latin typeface="Times New Roman"/>
                          <a:ea typeface="Times New Roman"/>
                          <a:cs typeface="Times New Roman"/>
                          <a:sym typeface="Times New Roman"/>
                        </a:rPr>
                        <a:t>Sin desplazamiento</a:t>
                      </a:r>
                    </a:p>
                  </a:txBody>
                  <a:tcPr marT="0" marB="0" marR="0" marL="0">
                    <a:lnL cap="flat" cmpd="sng" w="25400">
                      <a:solidFill>
                        <a:srgbClr val="0000FF"/>
                      </a:solidFill>
                      <a:prstDash val="solid"/>
                      <a:round/>
                      <a:headEnd len="med" w="med" type="none"/>
                      <a:tailEnd len="med" w="med" type="none"/>
                    </a:lnL>
                    <a:lnR cap="flat" cmpd="sng" w="25400">
                      <a:solidFill>
                        <a:srgbClr val="0000FF"/>
                      </a:solidFill>
                      <a:prstDash val="solid"/>
                      <a:round/>
                      <a:headEnd len="med" w="med" type="none"/>
                      <a:tailEnd len="med" w="med" type="none"/>
                    </a:lnR>
                    <a:lnT cap="flat" cmpd="sng" w="25400">
                      <a:solidFill>
                        <a:srgbClr val="0000FF"/>
                      </a:solidFill>
                      <a:prstDash val="solid"/>
                      <a:round/>
                      <a:headEnd len="med" w="med" type="none"/>
                      <a:tailEnd len="med" w="med" type="none"/>
                    </a:lnT>
                    <a:lnB cap="flat" cmpd="sng" w="25400">
                      <a:solidFill>
                        <a:srgbClr val="0000FF"/>
                      </a:solidFill>
                      <a:prstDash val="solid"/>
                      <a:round/>
                      <a:headEnd len="med" w="med" type="none"/>
                      <a:tailEnd len="med" w="med" type="none"/>
                    </a:lnB>
                  </a:tcPr>
                </a:tc>
              </a:tr>
              <a:tr h="571500">
                <a:tc>
                  <a:txBody>
                    <a:bodyPr>
                      <a:noAutofit/>
                    </a:bodyPr>
                    <a:lstStyle/>
                    <a:p>
                      <a:pPr indent="0" lvl="0" marL="0" marR="0" rtl="0" algn="l">
                        <a:lnSpc>
                          <a:spcPct val="100000"/>
                        </a:lnSpc>
                        <a:spcBef>
                          <a:spcPts val="0"/>
                        </a:spcBef>
                        <a:spcAft>
                          <a:spcPts val="0"/>
                        </a:spcAft>
                        <a:buClr>
                          <a:srgbClr val="993300"/>
                        </a:buClr>
                        <a:buSzPct val="25000"/>
                        <a:buFont typeface="Times New Roman"/>
                        <a:buNone/>
                      </a:pPr>
                      <a:r>
                        <a:rPr b="1" i="1" lang="en-US" sz="2400" u="none" cap="none" strike="noStrike">
                          <a:solidFill>
                            <a:srgbClr val="993300"/>
                          </a:solidFill>
                          <a:latin typeface="Times New Roman"/>
                          <a:ea typeface="Times New Roman"/>
                          <a:cs typeface="Times New Roman"/>
                          <a:sym typeface="Times New Roman"/>
                        </a:rPr>
                        <a:t>Inmuebles</a:t>
                      </a:r>
                    </a:p>
                  </a:txBody>
                  <a:tcPr marT="0" marB="0" marR="0" marL="0">
                    <a:lnL cap="flat" cmpd="sng" w="25400">
                      <a:solidFill>
                        <a:srgbClr val="0000FF"/>
                      </a:solidFill>
                      <a:prstDash val="solid"/>
                      <a:round/>
                      <a:headEnd len="med" w="med" type="none"/>
                      <a:tailEnd len="med" w="med" type="none"/>
                    </a:lnL>
                    <a:lnR cap="flat" cmpd="sng" w="25400">
                      <a:solidFill>
                        <a:srgbClr val="0000FF"/>
                      </a:solidFill>
                      <a:prstDash val="solid"/>
                      <a:round/>
                      <a:headEnd len="med" w="med" type="none"/>
                      <a:tailEnd len="med" w="med" type="none"/>
                    </a:lnR>
                    <a:lnT cap="flat" cmpd="sng" w="25400">
                      <a:solidFill>
                        <a:srgbClr val="0000FF"/>
                      </a:solidFill>
                      <a:prstDash val="solid"/>
                      <a:round/>
                      <a:headEnd len="med" w="med" type="none"/>
                      <a:tailEnd len="med" w="med" type="none"/>
                    </a:lnT>
                    <a:lnB cap="flat" cmpd="sng" w="25400">
                      <a:solidFill>
                        <a:srgbClr val="0000FF"/>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2400" u="none" cap="none" strike="noStrike">
                          <a:solidFill>
                            <a:schemeClr val="dk1"/>
                          </a:solidFill>
                          <a:latin typeface="Times New Roman"/>
                          <a:ea typeface="Times New Roman"/>
                          <a:cs typeface="Times New Roman"/>
                          <a:sym typeface="Times New Roman"/>
                        </a:rPr>
                        <a:t>Anticresis</a:t>
                      </a:r>
                    </a:p>
                  </a:txBody>
                  <a:tcPr marT="0" marB="0" marR="0" marL="0">
                    <a:lnL cap="flat" cmpd="sng" w="25400">
                      <a:solidFill>
                        <a:srgbClr val="0000FF"/>
                      </a:solidFill>
                      <a:prstDash val="solid"/>
                      <a:round/>
                      <a:headEnd len="med" w="med" type="none"/>
                      <a:tailEnd len="med" w="med" type="none"/>
                    </a:lnL>
                    <a:lnR cap="flat" cmpd="sng" w="25400">
                      <a:solidFill>
                        <a:srgbClr val="0000FF"/>
                      </a:solidFill>
                      <a:prstDash val="solid"/>
                      <a:round/>
                      <a:headEnd len="med" w="med" type="none"/>
                      <a:tailEnd len="med" w="med" type="none"/>
                    </a:lnR>
                    <a:lnT cap="flat" cmpd="sng" w="25400">
                      <a:solidFill>
                        <a:srgbClr val="0000FF"/>
                      </a:solidFill>
                      <a:prstDash val="solid"/>
                      <a:round/>
                      <a:headEnd len="med" w="med" type="none"/>
                      <a:tailEnd len="med" w="med" type="none"/>
                    </a:lnT>
                    <a:lnB cap="flat" cmpd="sng" w="25400">
                      <a:solidFill>
                        <a:srgbClr val="0000FF"/>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2400" u="none" cap="none" strike="noStrike">
                          <a:solidFill>
                            <a:schemeClr val="dk1"/>
                          </a:solidFill>
                          <a:latin typeface="Times New Roman"/>
                          <a:ea typeface="Times New Roman"/>
                          <a:cs typeface="Times New Roman"/>
                          <a:sym typeface="Times New Roman"/>
                        </a:rPr>
                        <a:t>Hipoteca</a:t>
                      </a:r>
                    </a:p>
                  </a:txBody>
                  <a:tcPr marT="0" marB="0" marR="0" marL="0">
                    <a:lnL cap="flat" cmpd="sng" w="25400">
                      <a:solidFill>
                        <a:srgbClr val="0000FF"/>
                      </a:solidFill>
                      <a:prstDash val="solid"/>
                      <a:round/>
                      <a:headEnd len="med" w="med" type="none"/>
                      <a:tailEnd len="med" w="med" type="none"/>
                    </a:lnL>
                    <a:lnR cap="flat" cmpd="sng" w="25400">
                      <a:solidFill>
                        <a:srgbClr val="0000FF"/>
                      </a:solidFill>
                      <a:prstDash val="solid"/>
                      <a:round/>
                      <a:headEnd len="med" w="med" type="none"/>
                      <a:tailEnd len="med" w="med" type="none"/>
                    </a:lnR>
                    <a:lnT cap="flat" cmpd="sng" w="25400">
                      <a:solidFill>
                        <a:srgbClr val="0000FF"/>
                      </a:solidFill>
                      <a:prstDash val="solid"/>
                      <a:round/>
                      <a:headEnd len="med" w="med" type="none"/>
                      <a:tailEnd len="med" w="med" type="none"/>
                    </a:lnT>
                    <a:lnB cap="flat" cmpd="sng" w="25400">
                      <a:solidFill>
                        <a:srgbClr val="0000FF"/>
                      </a:solidFill>
                      <a:prstDash val="solid"/>
                      <a:round/>
                      <a:headEnd len="med" w="med" type="none"/>
                      <a:tailEnd len="med" w="med" type="none"/>
                    </a:lnB>
                  </a:tcPr>
                </a:tc>
              </a:tr>
              <a:tr h="573075">
                <a:tc>
                  <a:txBody>
                    <a:bodyPr>
                      <a:noAutofit/>
                    </a:bodyPr>
                    <a:lstStyle/>
                    <a:p>
                      <a:pPr indent="0" lvl="0" marL="0" marR="0" rtl="0" algn="l">
                        <a:lnSpc>
                          <a:spcPct val="100000"/>
                        </a:lnSpc>
                        <a:spcBef>
                          <a:spcPts val="0"/>
                        </a:spcBef>
                        <a:spcAft>
                          <a:spcPts val="0"/>
                        </a:spcAft>
                        <a:buClr>
                          <a:srgbClr val="003300"/>
                        </a:buClr>
                        <a:buSzPct val="25000"/>
                        <a:buFont typeface="Times New Roman"/>
                        <a:buNone/>
                      </a:pPr>
                      <a:r>
                        <a:rPr b="1" i="1" lang="en-US" sz="2400" u="none" cap="none" strike="noStrike">
                          <a:solidFill>
                            <a:srgbClr val="003300"/>
                          </a:solidFill>
                          <a:latin typeface="Times New Roman"/>
                          <a:ea typeface="Times New Roman"/>
                          <a:cs typeface="Times New Roman"/>
                          <a:sym typeface="Times New Roman"/>
                        </a:rPr>
                        <a:t>Muebles</a:t>
                      </a:r>
                    </a:p>
                  </a:txBody>
                  <a:tcPr marT="0" marB="0" marR="0" marL="0">
                    <a:lnL cap="flat" cmpd="sng" w="25400">
                      <a:solidFill>
                        <a:srgbClr val="0000FF"/>
                      </a:solidFill>
                      <a:prstDash val="solid"/>
                      <a:round/>
                      <a:headEnd len="med" w="med" type="none"/>
                      <a:tailEnd len="med" w="med" type="none"/>
                    </a:lnL>
                    <a:lnR cap="flat" cmpd="sng" w="25400">
                      <a:solidFill>
                        <a:srgbClr val="0000FF"/>
                      </a:solidFill>
                      <a:prstDash val="solid"/>
                      <a:round/>
                      <a:headEnd len="med" w="med" type="none"/>
                      <a:tailEnd len="med" w="med" type="none"/>
                    </a:lnR>
                    <a:lnT cap="flat" cmpd="sng" w="25400">
                      <a:solidFill>
                        <a:srgbClr val="0000FF"/>
                      </a:solidFill>
                      <a:prstDash val="solid"/>
                      <a:round/>
                      <a:headEnd len="med" w="med" type="none"/>
                      <a:tailEnd len="med" w="med" type="none"/>
                    </a:lnT>
                    <a:lnB cap="flat" cmpd="sng" w="25400">
                      <a:solidFill>
                        <a:srgbClr val="0000FF"/>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2400" u="none" cap="none" strike="noStrike">
                          <a:solidFill>
                            <a:schemeClr val="dk1"/>
                          </a:solidFill>
                          <a:latin typeface="Times New Roman"/>
                          <a:ea typeface="Times New Roman"/>
                          <a:cs typeface="Times New Roman"/>
                          <a:sym typeface="Times New Roman"/>
                        </a:rPr>
                        <a:t>Empeño</a:t>
                      </a:r>
                    </a:p>
                  </a:txBody>
                  <a:tcPr marT="0" marB="0" marR="0" marL="0">
                    <a:lnL cap="flat" cmpd="sng" w="25400">
                      <a:solidFill>
                        <a:srgbClr val="0000FF"/>
                      </a:solidFill>
                      <a:prstDash val="solid"/>
                      <a:round/>
                      <a:headEnd len="med" w="med" type="none"/>
                      <a:tailEnd len="med" w="med" type="none"/>
                    </a:lnL>
                    <a:lnR cap="flat" cmpd="sng" w="25400">
                      <a:solidFill>
                        <a:srgbClr val="0000FF"/>
                      </a:solidFill>
                      <a:prstDash val="solid"/>
                      <a:round/>
                      <a:headEnd len="med" w="med" type="none"/>
                      <a:tailEnd len="med" w="med" type="none"/>
                    </a:lnR>
                    <a:lnT cap="flat" cmpd="sng" w="25400">
                      <a:solidFill>
                        <a:srgbClr val="0000FF"/>
                      </a:solidFill>
                      <a:prstDash val="solid"/>
                      <a:round/>
                      <a:headEnd len="med" w="med" type="none"/>
                      <a:tailEnd len="med" w="med" type="none"/>
                    </a:lnT>
                    <a:lnB cap="flat" cmpd="sng" w="25400">
                      <a:solidFill>
                        <a:srgbClr val="0000FF"/>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2400" u="none" cap="none" strike="noStrike">
                          <a:solidFill>
                            <a:schemeClr val="dk1"/>
                          </a:solidFill>
                          <a:latin typeface="Times New Roman"/>
                          <a:ea typeface="Times New Roman"/>
                          <a:cs typeface="Times New Roman"/>
                          <a:sym typeface="Times New Roman"/>
                        </a:rPr>
                        <a:t>Prenda</a:t>
                      </a:r>
                    </a:p>
                  </a:txBody>
                  <a:tcPr marT="0" marB="0" marR="0" marL="0">
                    <a:lnL cap="flat" cmpd="sng" w="25400">
                      <a:solidFill>
                        <a:srgbClr val="0000FF"/>
                      </a:solidFill>
                      <a:prstDash val="solid"/>
                      <a:round/>
                      <a:headEnd len="med" w="med" type="none"/>
                      <a:tailEnd len="med" w="med" type="none"/>
                    </a:lnL>
                    <a:lnR cap="flat" cmpd="sng" w="25400">
                      <a:solidFill>
                        <a:srgbClr val="0000FF"/>
                      </a:solidFill>
                      <a:prstDash val="solid"/>
                      <a:round/>
                      <a:headEnd len="med" w="med" type="none"/>
                      <a:tailEnd len="med" w="med" type="none"/>
                    </a:lnR>
                    <a:lnT cap="flat" cmpd="sng" w="25400">
                      <a:solidFill>
                        <a:srgbClr val="0000FF"/>
                      </a:solidFill>
                      <a:prstDash val="solid"/>
                      <a:round/>
                      <a:headEnd len="med" w="med" type="none"/>
                      <a:tailEnd len="med" w="med" type="none"/>
                    </a:lnT>
                    <a:lnB cap="flat" cmpd="sng" w="25400">
                      <a:solidFill>
                        <a:srgbClr val="0000FF"/>
                      </a:solidFill>
                      <a:prstDash val="solid"/>
                      <a:round/>
                      <a:headEnd len="med" w="med" type="none"/>
                      <a:tailEnd len="med" w="med" type="none"/>
                    </a:lnB>
                  </a:tcPr>
                </a:tc>
              </a:tr>
            </a:tbl>
          </a:graphicData>
        </a:graphic>
      </p:graphicFrame>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81" name="Shape 281"/>
        <p:cNvGrpSpPr/>
        <p:nvPr/>
      </p:nvGrpSpPr>
      <p:grpSpPr>
        <a:xfrm>
          <a:off x="0" y="0"/>
          <a:ext cx="0" cy="0"/>
          <a:chOff x="0" y="0"/>
          <a:chExt cx="0" cy="0"/>
        </a:xfrm>
      </p:grpSpPr>
      <p:sp>
        <p:nvSpPr>
          <p:cNvPr id="282" name="Shape 282"/>
          <p:cNvSpPr txBox="1"/>
          <p:nvPr>
            <p:ph idx="4294967295" type="title"/>
          </p:nvPr>
        </p:nvSpPr>
        <p:spPr>
          <a:xfrm>
            <a:off x="3886200" y="457200"/>
            <a:ext cx="4800600" cy="1371599"/>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4400" u="none" cap="none" strike="noStrike">
                <a:solidFill>
                  <a:schemeClr val="dk1"/>
                </a:solidFill>
                <a:latin typeface="Arial"/>
                <a:ea typeface="Arial"/>
                <a:cs typeface="Arial"/>
                <a:sym typeface="Arial"/>
              </a:rPr>
              <a:t>Crédito Prendario</a:t>
            </a:r>
          </a:p>
        </p:txBody>
      </p:sp>
      <p:sp>
        <p:nvSpPr>
          <p:cNvPr id="283" name="Shape 283"/>
          <p:cNvSpPr txBox="1"/>
          <p:nvPr>
            <p:ph idx="4294967295" type="body"/>
          </p:nvPr>
        </p:nvSpPr>
        <p:spPr>
          <a:xfrm>
            <a:off x="381000" y="2133600"/>
            <a:ext cx="8229600" cy="3809999"/>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lt2"/>
              </a:buClr>
              <a:buSzPct val="25000"/>
              <a:buFont typeface="Noto Sans Symbols"/>
              <a:buNone/>
            </a:pPr>
            <a:r>
              <a:rPr b="0" i="0" lang="en-US" sz="2800" u="none" cap="none" strike="noStrike">
                <a:solidFill>
                  <a:schemeClr val="dk1"/>
                </a:solidFill>
                <a:latin typeface="Arial"/>
                <a:ea typeface="Arial"/>
                <a:cs typeface="Arial"/>
                <a:sym typeface="Arial"/>
              </a:rPr>
              <a:t>Es un contrato de financiamiento mediante el cual una entidad financiera (prestamista) facilita a un cliente (prestatario) una determinada cantidad de dinero (capital del préstamo) equivalente a un porcentaje del </a:t>
            </a:r>
            <a:r>
              <a:rPr b="1" i="0" lang="en-US" sz="2800" u="none" cap="none" strike="noStrike">
                <a:solidFill>
                  <a:srgbClr val="FF0000"/>
                </a:solidFill>
                <a:latin typeface="Arial"/>
                <a:ea typeface="Arial"/>
                <a:cs typeface="Arial"/>
                <a:sym typeface="Arial"/>
              </a:rPr>
              <a:t>valor de un bien mueble</a:t>
            </a:r>
            <a:r>
              <a:rPr b="0" i="0" lang="en-US" sz="2800" u="none" cap="none" strike="noStrike">
                <a:solidFill>
                  <a:schemeClr val="dk1"/>
                </a:solidFill>
                <a:latin typeface="Arial"/>
                <a:ea typeface="Arial"/>
                <a:cs typeface="Arial"/>
                <a:sym typeface="Arial"/>
              </a:rPr>
              <a:t> que se entrega en </a:t>
            </a:r>
            <a:r>
              <a:rPr b="1" i="0" lang="en-US" sz="2800" u="none" cap="none" strike="noStrike">
                <a:solidFill>
                  <a:srgbClr val="FF0000"/>
                </a:solidFill>
                <a:latin typeface="Arial"/>
                <a:ea typeface="Arial"/>
                <a:cs typeface="Arial"/>
                <a:sym typeface="Arial"/>
              </a:rPr>
              <a:t>garantía</a:t>
            </a:r>
            <a:r>
              <a:rPr b="0" i="0" lang="en-US" sz="2800" u="none" cap="none" strike="noStrike">
                <a:solidFill>
                  <a:schemeClr val="dk1"/>
                </a:solidFill>
                <a:latin typeface="Arial"/>
                <a:ea typeface="Arial"/>
                <a:cs typeface="Arial"/>
                <a:sym typeface="Arial"/>
              </a:rPr>
              <a:t>. </a:t>
            </a:r>
            <a:br>
              <a:rPr b="0" i="0" lang="en-US" sz="2800" u="none" cap="none" strike="noStrike">
                <a:solidFill>
                  <a:schemeClr val="dk1"/>
                </a:solidFill>
                <a:latin typeface="Arial"/>
                <a:ea typeface="Arial"/>
                <a:cs typeface="Arial"/>
                <a:sym typeface="Arial"/>
              </a:rPr>
            </a:br>
          </a:p>
        </p:txBody>
      </p:sp>
      <p:pic>
        <p:nvPicPr>
          <p:cNvPr id="284" name="Shape 284"/>
          <p:cNvPicPr preferRelativeResize="0"/>
          <p:nvPr>
            <p:ph idx="4294967295" type="body"/>
          </p:nvPr>
        </p:nvPicPr>
        <p:blipFill rotWithShape="1">
          <a:blip r:embed="rId3">
            <a:alphaModFix/>
          </a:blip>
          <a:srcRect b="0" l="0" r="0" t="0"/>
          <a:stretch/>
        </p:blipFill>
        <p:spPr>
          <a:xfrm>
            <a:off x="228600" y="457200"/>
            <a:ext cx="3009899" cy="609599"/>
          </a:xfrm>
          <a:prstGeom prst="rect">
            <a:avLst/>
          </a:prstGeom>
          <a:noFill/>
          <a:ln>
            <a:noFill/>
          </a:ln>
        </p:spPr>
      </p:pic>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88" name="Shape 288"/>
        <p:cNvGrpSpPr/>
        <p:nvPr/>
      </p:nvGrpSpPr>
      <p:grpSpPr>
        <a:xfrm>
          <a:off x="0" y="0"/>
          <a:ext cx="0" cy="0"/>
          <a:chOff x="0" y="0"/>
          <a:chExt cx="0" cy="0"/>
        </a:xfrm>
      </p:grpSpPr>
      <p:sp>
        <p:nvSpPr>
          <p:cNvPr id="289" name="Shape 289"/>
          <p:cNvSpPr txBox="1"/>
          <p:nvPr>
            <p:ph idx="4294967295" type="title"/>
          </p:nvPr>
        </p:nvSpPr>
        <p:spPr>
          <a:xfrm>
            <a:off x="3733800" y="274637"/>
            <a:ext cx="4953000" cy="1325562"/>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4000" u="none" cap="none" strike="noStrike">
                <a:solidFill>
                  <a:schemeClr val="dk1"/>
                </a:solidFill>
                <a:latin typeface="Arial"/>
                <a:ea typeface="Arial"/>
                <a:cs typeface="Arial"/>
                <a:sym typeface="Arial"/>
              </a:rPr>
              <a:t>Crédito Hipotecario</a:t>
            </a:r>
          </a:p>
        </p:txBody>
      </p:sp>
      <p:sp>
        <p:nvSpPr>
          <p:cNvPr id="290" name="Shape 290"/>
          <p:cNvSpPr txBox="1"/>
          <p:nvPr>
            <p:ph idx="4294967295" type="body"/>
          </p:nvPr>
        </p:nvSpPr>
        <p:spPr>
          <a:xfrm>
            <a:off x="381000" y="2057400"/>
            <a:ext cx="8229600" cy="3581399"/>
          </a:xfrm>
          <a:prstGeom prst="rect">
            <a:avLst/>
          </a:prstGeom>
          <a:solidFill>
            <a:srgbClr val="FFFF00">
              <a:alpha val="70980"/>
            </a:srgbClr>
          </a:solid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lt2"/>
              </a:buClr>
              <a:buSzPct val="25000"/>
              <a:buFont typeface="Noto Sans Symbols"/>
              <a:buNone/>
            </a:pPr>
            <a:r>
              <a:t/>
            </a:r>
            <a:endParaRPr b="0" i="0" sz="2800" u="none" cap="none" strike="noStrike">
              <a:solidFill>
                <a:schemeClr val="dk1"/>
              </a:solidFill>
              <a:latin typeface="Arial"/>
              <a:ea typeface="Arial"/>
              <a:cs typeface="Arial"/>
              <a:sym typeface="Arial"/>
            </a:endParaRPr>
          </a:p>
          <a:p>
            <a:pPr indent="-342900" lvl="0" marL="342900" marR="0" rtl="0" algn="l">
              <a:lnSpc>
                <a:spcPct val="80000"/>
              </a:lnSpc>
              <a:spcBef>
                <a:spcPts val="560"/>
              </a:spcBef>
              <a:spcAft>
                <a:spcPts val="0"/>
              </a:spcAft>
              <a:buClr>
                <a:schemeClr val="lt2"/>
              </a:buClr>
              <a:buSzPct val="25000"/>
              <a:buFont typeface="Noto Sans Symbols"/>
              <a:buNone/>
            </a:pPr>
            <a:r>
              <a:rPr b="0" i="0" lang="en-US" sz="2800" u="none" cap="none" strike="noStrike">
                <a:solidFill>
                  <a:schemeClr val="dk1"/>
                </a:solidFill>
                <a:latin typeface="Arial"/>
                <a:ea typeface="Arial"/>
                <a:cs typeface="Arial"/>
                <a:sym typeface="Arial"/>
              </a:rPr>
              <a:t>Es un contrato mediante el cual el cliente (prestatario) recibe de una entidad financiera (prestamista) una cantidad de dinero (capital del préstamo) equivalente a un porcentaje del </a:t>
            </a:r>
            <a:r>
              <a:rPr b="1" i="0" lang="en-US" sz="2800" u="none" cap="none" strike="noStrike">
                <a:solidFill>
                  <a:srgbClr val="FF0000"/>
                </a:solidFill>
                <a:latin typeface="Arial"/>
                <a:ea typeface="Arial"/>
                <a:cs typeface="Arial"/>
                <a:sym typeface="Arial"/>
              </a:rPr>
              <a:t>valor de un bien inmueble</a:t>
            </a:r>
            <a:r>
              <a:rPr b="0" i="0" lang="en-US" sz="2800" u="none" cap="none" strike="noStrike">
                <a:solidFill>
                  <a:schemeClr val="dk1"/>
                </a:solidFill>
                <a:latin typeface="Arial"/>
                <a:ea typeface="Arial"/>
                <a:cs typeface="Arial"/>
                <a:sym typeface="Arial"/>
              </a:rPr>
              <a:t> que se entrega en </a:t>
            </a:r>
            <a:r>
              <a:rPr b="1" i="0" lang="en-US" sz="2800" u="none" cap="none" strike="noStrike">
                <a:solidFill>
                  <a:srgbClr val="FF0000"/>
                </a:solidFill>
                <a:latin typeface="Arial"/>
                <a:ea typeface="Arial"/>
                <a:cs typeface="Arial"/>
                <a:sym typeface="Arial"/>
              </a:rPr>
              <a:t>garantía</a:t>
            </a:r>
            <a:r>
              <a:rPr b="0" i="0" lang="en-US" sz="2800" u="none" cap="none" strike="noStrike">
                <a:solidFill>
                  <a:schemeClr val="dk1"/>
                </a:solidFill>
                <a:latin typeface="Arial"/>
                <a:ea typeface="Arial"/>
                <a:cs typeface="Arial"/>
                <a:sym typeface="Arial"/>
              </a:rPr>
              <a:t> en el momento de la firma de la escritura traslativa de dominio, ante un escribano público.  </a:t>
            </a:r>
          </a:p>
          <a:p>
            <a:pPr indent="-342900" lvl="0" marL="342900" marR="0" rtl="0" algn="l">
              <a:lnSpc>
                <a:spcPct val="80000"/>
              </a:lnSpc>
              <a:spcBef>
                <a:spcPts val="560"/>
              </a:spcBef>
              <a:spcAft>
                <a:spcPts val="0"/>
              </a:spcAft>
              <a:buClr>
                <a:schemeClr val="lt2"/>
              </a:buClr>
              <a:buSzPct val="25000"/>
              <a:buFont typeface="Noto Sans Symbols"/>
              <a:buNone/>
            </a:pPr>
            <a:r>
              <a:rPr b="0" i="0" lang="en-US" sz="2800" u="none" cap="none" strike="noStrike">
                <a:solidFill>
                  <a:schemeClr val="dk1"/>
                </a:solidFill>
                <a:latin typeface="Arial"/>
                <a:ea typeface="Arial"/>
                <a:cs typeface="Arial"/>
                <a:sym typeface="Arial"/>
              </a:rPr>
              <a:t> </a:t>
            </a:r>
          </a:p>
        </p:txBody>
      </p:sp>
      <p:pic>
        <p:nvPicPr>
          <p:cNvPr id="291" name="Shape 291"/>
          <p:cNvPicPr preferRelativeResize="0"/>
          <p:nvPr>
            <p:ph idx="4294967295" type="body"/>
          </p:nvPr>
        </p:nvPicPr>
        <p:blipFill rotWithShape="1">
          <a:blip r:embed="rId3">
            <a:alphaModFix/>
          </a:blip>
          <a:srcRect b="0" l="0" r="0" t="0"/>
          <a:stretch/>
        </p:blipFill>
        <p:spPr>
          <a:xfrm>
            <a:off x="571500" y="609600"/>
            <a:ext cx="3009899" cy="609599"/>
          </a:xfrm>
          <a:prstGeom prst="rect">
            <a:avLst/>
          </a:prstGeom>
          <a:noFill/>
          <a:ln>
            <a:noFill/>
          </a:ln>
        </p:spPr>
      </p:pic>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95" name="Shape 295"/>
        <p:cNvGrpSpPr/>
        <p:nvPr/>
      </p:nvGrpSpPr>
      <p:grpSpPr>
        <a:xfrm>
          <a:off x="0" y="0"/>
          <a:ext cx="0" cy="0"/>
          <a:chOff x="0" y="0"/>
          <a:chExt cx="0" cy="0"/>
        </a:xfrm>
      </p:grpSpPr>
      <p:pic>
        <p:nvPicPr>
          <p:cNvPr id="296" name="Shape 296"/>
          <p:cNvPicPr preferRelativeResize="0"/>
          <p:nvPr/>
        </p:nvPicPr>
        <p:blipFill rotWithShape="1">
          <a:blip r:embed="rId3">
            <a:alphaModFix/>
          </a:blip>
          <a:srcRect b="0" l="0" r="0" t="0"/>
          <a:stretch/>
        </p:blipFill>
        <p:spPr>
          <a:xfrm>
            <a:off x="263525" y="1238250"/>
            <a:ext cx="8610599" cy="209549"/>
          </a:xfrm>
          <a:prstGeom prst="rect">
            <a:avLst/>
          </a:prstGeom>
          <a:noFill/>
          <a:ln>
            <a:noFill/>
          </a:ln>
        </p:spPr>
      </p:pic>
      <p:pic>
        <p:nvPicPr>
          <p:cNvPr id="297" name="Shape 297"/>
          <p:cNvPicPr preferRelativeResize="0"/>
          <p:nvPr/>
        </p:nvPicPr>
        <p:blipFill rotWithShape="1">
          <a:blip r:embed="rId4">
            <a:alphaModFix/>
          </a:blip>
          <a:srcRect b="0" l="0" r="0" t="0"/>
          <a:stretch/>
        </p:blipFill>
        <p:spPr>
          <a:xfrm>
            <a:off x="212725" y="1444625"/>
            <a:ext cx="8626474" cy="5114925"/>
          </a:xfrm>
          <a:prstGeom prst="rect">
            <a:avLst/>
          </a:prstGeom>
          <a:noFill/>
          <a:ln>
            <a:noFill/>
          </a:ln>
        </p:spPr>
      </p:pic>
      <p:pic>
        <p:nvPicPr>
          <p:cNvPr id="298" name="Shape 298"/>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299" name="Shape 299"/>
          <p:cNvSpPr txBox="1"/>
          <p:nvPr/>
        </p:nvSpPr>
        <p:spPr>
          <a:xfrm>
            <a:off x="4114800" y="455612"/>
            <a:ext cx="4233861" cy="992187"/>
          </a:xfrm>
          <a:prstGeom prst="rect">
            <a:avLst/>
          </a:prstGeom>
          <a:noFill/>
          <a:ln>
            <a:noFill/>
          </a:ln>
        </p:spPr>
        <p:txBody>
          <a:bodyPr anchorCtr="0" anchor="t" bIns="45700" lIns="91425" rIns="91425" tIns="45700">
            <a:noAutofit/>
          </a:bodyPr>
          <a:lstStyle/>
          <a:p>
            <a:pPr indent="0" lvl="0" marL="0" marR="0" rtl="0" algn="ctr">
              <a:lnSpc>
                <a:spcPct val="120000"/>
              </a:lnSpc>
              <a:spcBef>
                <a:spcPts val="0"/>
              </a:spcBef>
              <a:spcAft>
                <a:spcPts val="0"/>
              </a:spcAft>
              <a:buClr>
                <a:srgbClr val="BB4F59"/>
              </a:buClr>
              <a:buSzPct val="25000"/>
              <a:buFont typeface="Arial"/>
              <a:buNone/>
            </a:pPr>
            <a:r>
              <a:rPr b="1" baseline="30000" i="0" lang="en-US" sz="3600" u="none" cap="none" strike="noStrike">
                <a:solidFill>
                  <a:srgbClr val="BB4F59"/>
                </a:solidFill>
                <a:latin typeface="Arial"/>
                <a:ea typeface="Arial"/>
                <a:cs typeface="Arial"/>
                <a:sym typeface="Arial"/>
              </a:rPr>
              <a:t>BANCOS COMERCIALES</a:t>
            </a:r>
          </a:p>
          <a:p>
            <a:pPr indent="0" lvl="0" marL="0" marR="0" rtl="0" algn="ctr">
              <a:lnSpc>
                <a:spcPct val="120000"/>
              </a:lnSpc>
              <a:spcBef>
                <a:spcPts val="1140"/>
              </a:spcBef>
              <a:spcAft>
                <a:spcPts val="560"/>
              </a:spcAft>
              <a:buClr>
                <a:srgbClr val="BB4F59"/>
              </a:buClr>
              <a:buSzPct val="25000"/>
              <a:buFont typeface="Arial"/>
              <a:buNone/>
            </a:pPr>
            <a:r>
              <a:rPr b="1" baseline="30000" i="0" lang="en-US" sz="2800" u="none" cap="none" strike="noStrike">
                <a:solidFill>
                  <a:srgbClr val="BB4F59"/>
                </a:solidFill>
                <a:latin typeface="Arial"/>
                <a:ea typeface="Arial"/>
                <a:cs typeface="Arial"/>
                <a:sym typeface="Arial"/>
              </a:rPr>
              <a:t>INTRODUCCIÓN</a:t>
            </a:r>
          </a:p>
        </p:txBody>
      </p:sp>
      <p:sp>
        <p:nvSpPr>
          <p:cNvPr id="300" name="Shape 300"/>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 </a:t>
            </a:r>
          </a:p>
        </p:txBody>
      </p:sp>
      <p:sp>
        <p:nvSpPr>
          <p:cNvPr id="301" name="Shape 301"/>
          <p:cNvSpPr txBox="1"/>
          <p:nvPr/>
        </p:nvSpPr>
        <p:spPr>
          <a:xfrm>
            <a:off x="263525" y="1736725"/>
            <a:ext cx="8575675" cy="119062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El nombre </a:t>
            </a:r>
            <a:r>
              <a:rPr b="1" i="0" lang="en-US" sz="1800" u="none" cap="none" strike="noStrike">
                <a:solidFill>
                  <a:schemeClr val="dk1"/>
                </a:solidFill>
                <a:latin typeface="Arial"/>
                <a:ea typeface="Arial"/>
                <a:cs typeface="Arial"/>
                <a:sym typeface="Arial"/>
              </a:rPr>
              <a:t>"banco"</a:t>
            </a:r>
            <a:r>
              <a:rPr b="0" i="0" lang="en-US" sz="1800" u="none" cap="none" strike="noStrike">
                <a:solidFill>
                  <a:schemeClr val="dk1"/>
                </a:solidFill>
                <a:latin typeface="Arial"/>
                <a:ea typeface="Arial"/>
                <a:cs typeface="Arial"/>
                <a:sym typeface="Arial"/>
              </a:rPr>
              <a:t> deriva de la palabra Italiana </a:t>
            </a:r>
            <a:r>
              <a:rPr b="0" i="1" lang="en-US" sz="1800" u="none" cap="none" strike="noStrike">
                <a:solidFill>
                  <a:schemeClr val="dk1"/>
                </a:solidFill>
                <a:latin typeface="Arial"/>
                <a:ea typeface="Arial"/>
                <a:cs typeface="Arial"/>
                <a:sym typeface="Arial"/>
              </a:rPr>
              <a:t>banco</a:t>
            </a: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"escritorio/escaparate"</a:t>
            </a:r>
            <a:r>
              <a:rPr b="0" i="0" lang="en-US" sz="1800" u="none" cap="none" strike="noStrike">
                <a:solidFill>
                  <a:schemeClr val="dk1"/>
                </a:solidFill>
                <a:latin typeface="Arial"/>
                <a:ea typeface="Arial"/>
                <a:cs typeface="Arial"/>
                <a:sym typeface="Arial"/>
              </a:rPr>
              <a:t>, usado durante el Renacimiento por los banqueros florentinos, quienes solían hacer sus transacciones sobre un escritorio cubierto por un mantel verde, sin embargo, hay rastros de actividad bancaria aún en la antigüedad. </a:t>
            </a:r>
          </a:p>
        </p:txBody>
      </p:sp>
      <p:pic>
        <p:nvPicPr>
          <p:cNvPr id="302" name="Shape 302"/>
          <p:cNvPicPr preferRelativeResize="0"/>
          <p:nvPr/>
        </p:nvPicPr>
        <p:blipFill rotWithShape="1">
          <a:blip r:embed="rId6">
            <a:alphaModFix/>
          </a:blip>
          <a:srcRect b="0" l="0" r="0" t="0"/>
          <a:stretch/>
        </p:blipFill>
        <p:spPr>
          <a:xfrm>
            <a:off x="533400" y="3294062"/>
            <a:ext cx="2505075" cy="2838450"/>
          </a:xfrm>
          <a:prstGeom prst="rect">
            <a:avLst/>
          </a:prstGeom>
          <a:noFill/>
          <a:ln>
            <a:noFill/>
          </a:ln>
        </p:spPr>
      </p:pic>
      <p:pic>
        <p:nvPicPr>
          <p:cNvPr id="303" name="Shape 303"/>
          <p:cNvPicPr preferRelativeResize="0"/>
          <p:nvPr/>
        </p:nvPicPr>
        <p:blipFill rotWithShape="1">
          <a:blip r:embed="rId7">
            <a:alphaModFix/>
          </a:blip>
          <a:srcRect b="0" l="0" r="0" t="0"/>
          <a:stretch/>
        </p:blipFill>
        <p:spPr>
          <a:xfrm>
            <a:off x="5410200" y="3294062"/>
            <a:ext cx="3048000" cy="2838450"/>
          </a:xfrm>
          <a:prstGeom prst="rect">
            <a:avLst/>
          </a:prstGeom>
          <a:noFill/>
          <a:ln>
            <a:noFill/>
          </a:ln>
        </p:spPr>
      </p:pic>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7" name="Shape 307"/>
        <p:cNvGrpSpPr/>
        <p:nvPr/>
      </p:nvGrpSpPr>
      <p:grpSpPr>
        <a:xfrm>
          <a:off x="0" y="0"/>
          <a:ext cx="0" cy="0"/>
          <a:chOff x="0" y="0"/>
          <a:chExt cx="0" cy="0"/>
        </a:xfrm>
      </p:grpSpPr>
      <p:pic>
        <p:nvPicPr>
          <p:cNvPr id="308" name="Shape 308"/>
          <p:cNvPicPr preferRelativeResize="0"/>
          <p:nvPr/>
        </p:nvPicPr>
        <p:blipFill rotWithShape="1">
          <a:blip r:embed="rId3">
            <a:alphaModFix/>
          </a:blip>
          <a:srcRect b="0" l="0" r="0" t="0"/>
          <a:stretch/>
        </p:blipFill>
        <p:spPr>
          <a:xfrm>
            <a:off x="146850" y="1103300"/>
            <a:ext cx="8610599" cy="209399"/>
          </a:xfrm>
          <a:prstGeom prst="rect">
            <a:avLst/>
          </a:prstGeom>
          <a:noFill/>
          <a:ln>
            <a:noFill/>
          </a:ln>
        </p:spPr>
      </p:pic>
      <p:pic>
        <p:nvPicPr>
          <p:cNvPr id="309" name="Shape 309"/>
          <p:cNvPicPr preferRelativeResize="0"/>
          <p:nvPr/>
        </p:nvPicPr>
        <p:blipFill rotWithShape="1">
          <a:blip r:embed="rId4">
            <a:alphaModFix/>
          </a:blip>
          <a:srcRect b="0" l="0" r="0" t="0"/>
          <a:stretch/>
        </p:blipFill>
        <p:spPr>
          <a:xfrm>
            <a:off x="288925" y="1590675"/>
            <a:ext cx="8626474" cy="5114925"/>
          </a:xfrm>
          <a:prstGeom prst="rect">
            <a:avLst/>
          </a:prstGeom>
          <a:noFill/>
          <a:ln>
            <a:noFill/>
          </a:ln>
        </p:spPr>
      </p:pic>
      <p:pic>
        <p:nvPicPr>
          <p:cNvPr id="310" name="Shape 310"/>
          <p:cNvPicPr preferRelativeResize="0"/>
          <p:nvPr/>
        </p:nvPicPr>
        <p:blipFill rotWithShape="1">
          <a:blip r:embed="rId5">
            <a:alphaModFix/>
          </a:blip>
          <a:srcRect b="0" l="0" r="0" t="0"/>
          <a:stretch/>
        </p:blipFill>
        <p:spPr>
          <a:xfrm>
            <a:off x="492125" y="533400"/>
            <a:ext cx="3013074" cy="608011"/>
          </a:xfrm>
          <a:prstGeom prst="rect">
            <a:avLst/>
          </a:prstGeom>
          <a:noFill/>
          <a:ln>
            <a:noFill/>
          </a:ln>
        </p:spPr>
      </p:pic>
      <p:sp>
        <p:nvSpPr>
          <p:cNvPr id="311" name="Shape 311"/>
          <p:cNvSpPr txBox="1"/>
          <p:nvPr/>
        </p:nvSpPr>
        <p:spPr>
          <a:xfrm>
            <a:off x="4191000" y="531812"/>
            <a:ext cx="4233861" cy="992187"/>
          </a:xfrm>
          <a:prstGeom prst="rect">
            <a:avLst/>
          </a:prstGeom>
          <a:noFill/>
          <a:ln>
            <a:noFill/>
          </a:ln>
        </p:spPr>
        <p:txBody>
          <a:bodyPr anchorCtr="0" anchor="t" bIns="45700" lIns="91425" rIns="91425" tIns="45700">
            <a:noAutofit/>
          </a:bodyPr>
          <a:lstStyle/>
          <a:p>
            <a:pPr indent="0" lvl="0" marL="0" marR="0" rtl="0" algn="just">
              <a:lnSpc>
                <a:spcPct val="120000"/>
              </a:lnSpc>
              <a:spcBef>
                <a:spcPts val="0"/>
              </a:spcBef>
              <a:spcAft>
                <a:spcPts val="0"/>
              </a:spcAft>
              <a:buClr>
                <a:srgbClr val="BB4F59"/>
              </a:buClr>
              <a:buSzPct val="25000"/>
              <a:buFont typeface="Arial"/>
              <a:buNone/>
            </a:pPr>
            <a:r>
              <a:rPr b="1" baseline="30000" i="0" lang="en-US" sz="3600" u="none" cap="none" strike="noStrike">
                <a:solidFill>
                  <a:srgbClr val="BB4F59"/>
                </a:solidFill>
                <a:latin typeface="Arial"/>
                <a:ea typeface="Arial"/>
                <a:cs typeface="Arial"/>
                <a:sym typeface="Arial"/>
              </a:rPr>
              <a:t>BANCOS COMERCIALES</a:t>
            </a:r>
          </a:p>
          <a:p>
            <a:pPr indent="0" lvl="0" marL="0" marR="0" rtl="0" algn="ctr">
              <a:lnSpc>
                <a:spcPct val="120000"/>
              </a:lnSpc>
              <a:spcBef>
                <a:spcPts val="1140"/>
              </a:spcBef>
              <a:spcAft>
                <a:spcPts val="560"/>
              </a:spcAft>
              <a:buClr>
                <a:srgbClr val="BB4F59"/>
              </a:buClr>
              <a:buSzPct val="25000"/>
              <a:buFont typeface="Arial"/>
              <a:buNone/>
            </a:pPr>
            <a:r>
              <a:rPr b="1" baseline="30000" i="0" lang="en-US" sz="2800" u="none" cap="none" strike="noStrike">
                <a:solidFill>
                  <a:srgbClr val="BB4F59"/>
                </a:solidFill>
                <a:latin typeface="Arial"/>
                <a:ea typeface="Arial"/>
                <a:cs typeface="Arial"/>
                <a:sym typeface="Arial"/>
              </a:rPr>
              <a:t>DEFINICIÓN</a:t>
            </a:r>
          </a:p>
        </p:txBody>
      </p:sp>
      <p:sp>
        <p:nvSpPr>
          <p:cNvPr id="312" name="Shape 312"/>
          <p:cNvSpPr txBox="1"/>
          <p:nvPr/>
        </p:nvSpPr>
        <p:spPr>
          <a:xfrm>
            <a:off x="304800" y="1591475"/>
            <a:ext cx="6858000" cy="1465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990"/>
              </a:spcAft>
              <a:buClr>
                <a:schemeClr val="dk1"/>
              </a:buClr>
              <a:buSzPct val="25000"/>
              <a:buFont typeface="Arial"/>
              <a:buNone/>
            </a:pPr>
            <a:r>
              <a:rPr b="1" i="1" lang="en-US" sz="1800" u="none" cap="none" strike="noStrike">
                <a:solidFill>
                  <a:schemeClr val="dk1"/>
                </a:solidFill>
                <a:latin typeface="Arial"/>
                <a:ea typeface="Arial"/>
                <a:cs typeface="Arial"/>
                <a:sym typeface="Arial"/>
              </a:rPr>
              <a:t>Entidades –privadas o no- que participan en la actividad financiera, vinculando ahorristas con inversores, obteniendo una ganancia de esta intermediación.</a:t>
            </a:r>
            <a:br>
              <a:rPr b="1" i="1" lang="en-US" sz="1800" u="none" cap="none" strike="noStrike">
                <a:solidFill>
                  <a:schemeClr val="dk1"/>
                </a:solidFill>
                <a:latin typeface="Arial"/>
                <a:ea typeface="Arial"/>
                <a:cs typeface="Arial"/>
                <a:sym typeface="Arial"/>
              </a:rPr>
            </a:br>
            <a:br>
              <a:rPr b="1" i="1" lang="en-US" sz="1800" u="none" cap="none" strike="noStrike">
                <a:solidFill>
                  <a:schemeClr val="dk1"/>
                </a:solidFill>
                <a:latin typeface="Arial"/>
                <a:ea typeface="Arial"/>
                <a:cs typeface="Arial"/>
                <a:sym typeface="Arial"/>
              </a:rPr>
            </a:br>
          </a:p>
        </p:txBody>
      </p:sp>
      <p:pic>
        <p:nvPicPr>
          <p:cNvPr id="313" name="Shape 313"/>
          <p:cNvPicPr preferRelativeResize="0"/>
          <p:nvPr/>
        </p:nvPicPr>
        <p:blipFill rotWithShape="1">
          <a:blip r:embed="rId6">
            <a:alphaModFix/>
          </a:blip>
          <a:srcRect b="0" l="0" r="0" t="0"/>
          <a:stretch/>
        </p:blipFill>
        <p:spPr>
          <a:xfrm>
            <a:off x="304800" y="3124200"/>
            <a:ext cx="2514599" cy="1828800"/>
          </a:xfrm>
          <a:prstGeom prst="rect">
            <a:avLst/>
          </a:prstGeom>
          <a:noFill/>
          <a:ln>
            <a:noFill/>
          </a:ln>
        </p:spPr>
      </p:pic>
      <p:pic>
        <p:nvPicPr>
          <p:cNvPr id="314" name="Shape 314"/>
          <p:cNvPicPr preferRelativeResize="0"/>
          <p:nvPr/>
        </p:nvPicPr>
        <p:blipFill rotWithShape="1">
          <a:blip r:embed="rId7">
            <a:alphaModFix/>
          </a:blip>
          <a:srcRect b="0" l="0" r="0" t="0"/>
          <a:stretch/>
        </p:blipFill>
        <p:spPr>
          <a:xfrm>
            <a:off x="5791200" y="3902075"/>
            <a:ext cx="2819400" cy="1812924"/>
          </a:xfrm>
          <a:prstGeom prst="rect">
            <a:avLst/>
          </a:prstGeom>
          <a:noFill/>
          <a:ln>
            <a:noFill/>
          </a:ln>
        </p:spPr>
      </p:pic>
      <p:pic>
        <p:nvPicPr>
          <p:cNvPr id="315" name="Shape 315"/>
          <p:cNvPicPr preferRelativeResize="0"/>
          <p:nvPr/>
        </p:nvPicPr>
        <p:blipFill rotWithShape="1">
          <a:blip r:embed="rId8">
            <a:alphaModFix/>
          </a:blip>
          <a:srcRect b="0" l="0" r="0" t="0"/>
          <a:stretch/>
        </p:blipFill>
        <p:spPr>
          <a:xfrm>
            <a:off x="3048000" y="4152900"/>
            <a:ext cx="2571749" cy="2247900"/>
          </a:xfrm>
          <a:prstGeom prst="rect">
            <a:avLst/>
          </a:prstGeom>
          <a:noFill/>
          <a:ln>
            <a:noFill/>
          </a:ln>
        </p:spPr>
      </p:pic>
      <p:sp>
        <p:nvSpPr>
          <p:cNvPr id="316" name="Shape 316"/>
          <p:cNvSpPr txBox="1"/>
          <p:nvPr/>
        </p:nvSpPr>
        <p:spPr>
          <a:xfrm>
            <a:off x="609600" y="4876800"/>
            <a:ext cx="19049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AHORRISTAS</a:t>
            </a:r>
          </a:p>
        </p:txBody>
      </p:sp>
      <p:sp>
        <p:nvSpPr>
          <p:cNvPr id="317" name="Shape 317"/>
          <p:cNvSpPr txBox="1"/>
          <p:nvPr/>
        </p:nvSpPr>
        <p:spPr>
          <a:xfrm>
            <a:off x="6477000" y="5715000"/>
            <a:ext cx="19049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CONSUMIDORES</a:t>
            </a:r>
          </a:p>
          <a:p>
            <a:pPr indent="0" lvl="0" marL="0" marR="0" rtl="0" algn="ctr">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INVERSORES</a:t>
            </a:r>
          </a:p>
        </p:txBody>
      </p:sp>
      <p:sp>
        <p:nvSpPr>
          <p:cNvPr id="318" name="Shape 318"/>
          <p:cNvSpPr/>
          <p:nvPr/>
        </p:nvSpPr>
        <p:spPr>
          <a:xfrm rot="-5400000">
            <a:off x="2141537" y="4703762"/>
            <a:ext cx="733425" cy="2146300"/>
          </a:xfrm>
          <a:prstGeom prst="curvedRightArrow">
            <a:avLst>
              <a:gd fmla="val 25000" name="adj1"/>
              <a:gd fmla="val 50000" name="adj2"/>
              <a:gd fmla="val 25000" name="adj3"/>
            </a:avLst>
          </a:prstGeom>
          <a:solidFill>
            <a:srgbClr val="FFFF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Shape 319"/>
          <p:cNvSpPr/>
          <p:nvPr/>
        </p:nvSpPr>
        <p:spPr>
          <a:xfrm>
            <a:off x="4953000" y="3048000"/>
            <a:ext cx="2971799" cy="990599"/>
          </a:xfrm>
          <a:prstGeom prst="curvedDownArrow">
            <a:avLst>
              <a:gd fmla="val 25000" name="adj1"/>
              <a:gd fmla="val 50000" name="adj2"/>
              <a:gd fmla="val 25000" name="adj3"/>
            </a:avLst>
          </a:prstGeom>
          <a:solidFill>
            <a:srgbClr val="FFFF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Shape 320"/>
          <p:cNvSpPr txBox="1"/>
          <p:nvPr/>
        </p:nvSpPr>
        <p:spPr>
          <a:xfrm>
            <a:off x="3352800" y="3505200"/>
            <a:ext cx="19049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INTERMEDIARIOS</a:t>
            </a:r>
          </a:p>
          <a:p>
            <a:pPr indent="0" lvl="0" marL="0" marR="0" rtl="0" algn="ctr">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BANCOS</a:t>
            </a: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24" name="Shape 324"/>
        <p:cNvGrpSpPr/>
        <p:nvPr/>
      </p:nvGrpSpPr>
      <p:grpSpPr>
        <a:xfrm>
          <a:off x="0" y="0"/>
          <a:ext cx="0" cy="0"/>
          <a:chOff x="0" y="0"/>
          <a:chExt cx="0" cy="0"/>
        </a:xfrm>
      </p:grpSpPr>
      <p:pic>
        <p:nvPicPr>
          <p:cNvPr id="325" name="Shape 325"/>
          <p:cNvPicPr preferRelativeResize="0"/>
          <p:nvPr/>
        </p:nvPicPr>
        <p:blipFill rotWithShape="1">
          <a:blip r:embed="rId3">
            <a:alphaModFix/>
          </a:blip>
          <a:srcRect b="0" l="0" r="0" t="0"/>
          <a:stretch/>
        </p:blipFill>
        <p:spPr>
          <a:xfrm>
            <a:off x="263525" y="1314450"/>
            <a:ext cx="8610599" cy="209549"/>
          </a:xfrm>
          <a:prstGeom prst="rect">
            <a:avLst/>
          </a:prstGeom>
          <a:noFill/>
          <a:ln>
            <a:noFill/>
          </a:ln>
        </p:spPr>
      </p:pic>
      <p:pic>
        <p:nvPicPr>
          <p:cNvPr id="326" name="Shape 326"/>
          <p:cNvPicPr preferRelativeResize="0"/>
          <p:nvPr/>
        </p:nvPicPr>
        <p:blipFill rotWithShape="1">
          <a:blip r:embed="rId4">
            <a:alphaModFix/>
          </a:blip>
          <a:srcRect b="0" l="0" r="0" t="0"/>
          <a:stretch/>
        </p:blipFill>
        <p:spPr>
          <a:xfrm>
            <a:off x="292100" y="1743075"/>
            <a:ext cx="8626474" cy="5114925"/>
          </a:xfrm>
          <a:prstGeom prst="rect">
            <a:avLst/>
          </a:prstGeom>
          <a:noFill/>
          <a:ln>
            <a:noFill/>
          </a:ln>
        </p:spPr>
      </p:pic>
      <p:pic>
        <p:nvPicPr>
          <p:cNvPr id="327" name="Shape 327"/>
          <p:cNvPicPr preferRelativeResize="0"/>
          <p:nvPr/>
        </p:nvPicPr>
        <p:blipFill rotWithShape="1">
          <a:blip r:embed="rId5">
            <a:alphaModFix/>
          </a:blip>
          <a:srcRect b="0" l="0" r="0" t="0"/>
          <a:stretch/>
        </p:blipFill>
        <p:spPr>
          <a:xfrm>
            <a:off x="492125" y="534987"/>
            <a:ext cx="3013074" cy="608011"/>
          </a:xfrm>
          <a:prstGeom prst="rect">
            <a:avLst/>
          </a:prstGeom>
          <a:noFill/>
          <a:ln>
            <a:noFill/>
          </a:ln>
        </p:spPr>
      </p:pic>
      <p:sp>
        <p:nvSpPr>
          <p:cNvPr id="328" name="Shape 328"/>
          <p:cNvSpPr txBox="1"/>
          <p:nvPr/>
        </p:nvSpPr>
        <p:spPr>
          <a:xfrm>
            <a:off x="4191000" y="531812"/>
            <a:ext cx="4233861" cy="992187"/>
          </a:xfrm>
          <a:prstGeom prst="rect">
            <a:avLst/>
          </a:prstGeom>
          <a:noFill/>
          <a:ln>
            <a:noFill/>
          </a:ln>
        </p:spPr>
        <p:txBody>
          <a:bodyPr anchorCtr="0" anchor="t" bIns="45700" lIns="91425" rIns="91425" tIns="45700">
            <a:noAutofit/>
          </a:bodyPr>
          <a:lstStyle/>
          <a:p>
            <a:pPr indent="0" lvl="0" marL="0" marR="0" rtl="0" algn="ctr">
              <a:lnSpc>
                <a:spcPct val="120000"/>
              </a:lnSpc>
              <a:spcBef>
                <a:spcPts val="0"/>
              </a:spcBef>
              <a:spcAft>
                <a:spcPts val="0"/>
              </a:spcAft>
              <a:buClr>
                <a:srgbClr val="BB4F59"/>
              </a:buClr>
              <a:buSzPct val="25000"/>
              <a:buFont typeface="Arial"/>
              <a:buNone/>
            </a:pPr>
            <a:r>
              <a:rPr b="1" baseline="30000" i="0" lang="en-US" sz="3600" u="none" cap="none" strike="noStrike">
                <a:solidFill>
                  <a:srgbClr val="BB4F59"/>
                </a:solidFill>
                <a:latin typeface="Arial"/>
                <a:ea typeface="Arial"/>
                <a:cs typeface="Arial"/>
                <a:sym typeface="Arial"/>
              </a:rPr>
              <a:t>BANCOS COMERCIALES</a:t>
            </a:r>
          </a:p>
          <a:p>
            <a:pPr indent="0" lvl="0" marL="0" marR="0" rtl="0" algn="ctr">
              <a:lnSpc>
                <a:spcPct val="120000"/>
              </a:lnSpc>
              <a:spcBef>
                <a:spcPts val="1140"/>
              </a:spcBef>
              <a:spcAft>
                <a:spcPts val="560"/>
              </a:spcAft>
              <a:buClr>
                <a:srgbClr val="BB4F59"/>
              </a:buClr>
              <a:buSzPct val="25000"/>
              <a:buFont typeface="Arial"/>
              <a:buNone/>
            </a:pPr>
            <a:r>
              <a:rPr b="1" baseline="30000" i="0" lang="en-US" sz="2800" u="none" cap="none" strike="noStrike">
                <a:solidFill>
                  <a:srgbClr val="BB4F59"/>
                </a:solidFill>
                <a:latin typeface="Arial"/>
                <a:ea typeface="Arial"/>
                <a:cs typeface="Arial"/>
                <a:sym typeface="Arial"/>
              </a:rPr>
              <a:t>ECUACIÓN BANCARIA</a:t>
            </a:r>
          </a:p>
        </p:txBody>
      </p:sp>
      <p:sp>
        <p:nvSpPr>
          <p:cNvPr id="329" name="Shape 329"/>
          <p:cNvSpPr txBox="1"/>
          <p:nvPr/>
        </p:nvSpPr>
        <p:spPr>
          <a:xfrm>
            <a:off x="1143000" y="5029200"/>
            <a:ext cx="1524000" cy="457200"/>
          </a:xfrm>
          <a:prstGeom prst="rect">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cap="none" strike="noStrike">
                <a:solidFill>
                  <a:schemeClr val="hlink"/>
                </a:solidFill>
                <a:latin typeface="Arial"/>
                <a:ea typeface="Arial"/>
                <a:cs typeface="Arial"/>
                <a:sym typeface="Arial"/>
              </a:rPr>
              <a:t>SOLVENCIA</a:t>
            </a:r>
          </a:p>
        </p:txBody>
      </p:sp>
      <p:sp>
        <p:nvSpPr>
          <p:cNvPr id="330" name="Shape 330"/>
          <p:cNvSpPr txBox="1"/>
          <p:nvPr/>
        </p:nvSpPr>
        <p:spPr>
          <a:xfrm>
            <a:off x="3200400" y="3352800"/>
            <a:ext cx="1904999" cy="457200"/>
          </a:xfrm>
          <a:prstGeom prst="rect">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cap="none" strike="noStrike">
                <a:solidFill>
                  <a:schemeClr val="hlink"/>
                </a:solidFill>
                <a:latin typeface="Arial"/>
                <a:ea typeface="Arial"/>
                <a:cs typeface="Arial"/>
                <a:sym typeface="Arial"/>
              </a:rPr>
              <a:t>RENTABILIDAD</a:t>
            </a:r>
          </a:p>
        </p:txBody>
      </p:sp>
      <p:sp>
        <p:nvSpPr>
          <p:cNvPr id="331" name="Shape 331"/>
          <p:cNvSpPr txBox="1"/>
          <p:nvPr/>
        </p:nvSpPr>
        <p:spPr>
          <a:xfrm>
            <a:off x="6096000" y="5029200"/>
            <a:ext cx="1524000" cy="457200"/>
          </a:xfrm>
          <a:prstGeom prst="rect">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cap="none" strike="noStrike">
                <a:solidFill>
                  <a:schemeClr val="hlink"/>
                </a:solidFill>
                <a:latin typeface="Arial"/>
                <a:ea typeface="Arial"/>
                <a:cs typeface="Arial"/>
                <a:sym typeface="Arial"/>
              </a:rPr>
              <a:t>LIQUIDEZ</a:t>
            </a:r>
          </a:p>
        </p:txBody>
      </p:sp>
      <p:sp>
        <p:nvSpPr>
          <p:cNvPr id="332" name="Shape 332"/>
          <p:cNvSpPr/>
          <p:nvPr/>
        </p:nvSpPr>
        <p:spPr>
          <a:xfrm rot="7920000">
            <a:off x="3382962" y="4329112"/>
            <a:ext cx="1905000" cy="1981199"/>
          </a:xfrm>
          <a:prstGeom prst="rtTriangle">
            <a:avLst/>
          </a:prstGeom>
          <a:solidFill>
            <a:srgbClr val="FFFF99"/>
          </a:solidFill>
          <a:ln cap="flat" cmpd="sng" w="47625">
            <a:solidFill>
              <a:srgbClr val="0000FF"/>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Shape 333"/>
          <p:cNvSpPr txBox="1"/>
          <p:nvPr/>
        </p:nvSpPr>
        <p:spPr>
          <a:xfrm>
            <a:off x="292100" y="1524000"/>
            <a:ext cx="8582025" cy="1752600"/>
          </a:xfrm>
          <a:prstGeom prst="rect">
            <a:avLst/>
          </a:prstGeom>
          <a:solidFill>
            <a:srgbClr val="FFFF99"/>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Muestra un delicado equilibrio entre </a:t>
            </a:r>
            <a:r>
              <a:rPr b="1" i="0" lang="en-US" sz="1800" u="none" cap="none" strike="noStrike">
                <a:solidFill>
                  <a:srgbClr val="FF0000"/>
                </a:solidFill>
                <a:latin typeface="Arial"/>
                <a:ea typeface="Arial"/>
                <a:cs typeface="Arial"/>
                <a:sym typeface="Arial"/>
              </a:rPr>
              <a:t>la rentabilidad, la solvencia y la liquidez</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por eso una fracción de los depósitos recibidos debe mantenerse </a:t>
            </a:r>
            <a:r>
              <a:rPr b="1" i="0" lang="en-US" sz="1800" u="none" cap="none" strike="noStrike">
                <a:solidFill>
                  <a:srgbClr val="FF0000"/>
                </a:solidFill>
                <a:latin typeface="Arial"/>
                <a:ea typeface="Arial"/>
                <a:cs typeface="Arial"/>
                <a:sym typeface="Arial"/>
              </a:rPr>
              <a:t>bajo la forma de </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efectivo</a:t>
            </a:r>
            <a:r>
              <a:rPr b="0" i="0" lang="en-US" sz="1800" u="none" cap="none" strike="noStrike">
                <a:solidFill>
                  <a:schemeClr val="dk1"/>
                </a:solidFill>
                <a:latin typeface="Arial"/>
                <a:ea typeface="Arial"/>
                <a:cs typeface="Arial"/>
                <a:sym typeface="Arial"/>
              </a:rPr>
              <a:t>, constituyendo las </a:t>
            </a:r>
            <a:r>
              <a:rPr b="1" i="0" lang="en-US" sz="1800" u="none" cap="none" strike="noStrike">
                <a:solidFill>
                  <a:srgbClr val="FF0000"/>
                </a:solidFill>
                <a:latin typeface="Arial"/>
                <a:ea typeface="Arial"/>
                <a:cs typeface="Arial"/>
                <a:sym typeface="Arial"/>
              </a:rPr>
              <a:t>reservas</a:t>
            </a:r>
            <a:r>
              <a:rPr b="0" i="0" lang="en-US" sz="1800" u="none" cap="none" strike="noStrike">
                <a:solidFill>
                  <a:schemeClr val="dk1"/>
                </a:solidFill>
                <a:latin typeface="Arial"/>
                <a:ea typeface="Arial"/>
                <a:cs typeface="Arial"/>
                <a:sym typeface="Arial"/>
              </a:rPr>
              <a:t> normalmente fijadas por el banco central o</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autoridad monetaria cuando determina </a:t>
            </a:r>
            <a:r>
              <a:rPr b="1" i="0" lang="en-US" sz="1800" u="none" cap="none" strike="noStrike">
                <a:solidFill>
                  <a:srgbClr val="FF0000"/>
                </a:solidFill>
                <a:latin typeface="Arial"/>
                <a:ea typeface="Arial"/>
                <a:cs typeface="Arial"/>
                <a:sym typeface="Arial"/>
              </a:rPr>
              <a:t>el encaje</a:t>
            </a:r>
            <a:r>
              <a:rPr b="0" i="0" lang="en-US" sz="1800" u="none" cap="none" strike="noStrike">
                <a:solidFill>
                  <a:schemeClr val="dk1"/>
                </a:solidFill>
                <a:latin typeface="Arial"/>
                <a:ea typeface="Arial"/>
                <a:cs typeface="Arial"/>
                <a:sym typeface="Arial"/>
              </a:rPr>
              <a:t>. </a:t>
            </a: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37" name="Shape 337"/>
        <p:cNvGrpSpPr/>
        <p:nvPr/>
      </p:nvGrpSpPr>
      <p:grpSpPr>
        <a:xfrm>
          <a:off x="0" y="0"/>
          <a:ext cx="0" cy="0"/>
          <a:chOff x="0" y="0"/>
          <a:chExt cx="0" cy="0"/>
        </a:xfrm>
      </p:grpSpPr>
      <p:pic>
        <p:nvPicPr>
          <p:cNvPr id="338" name="Shape 338"/>
          <p:cNvPicPr preferRelativeResize="0"/>
          <p:nvPr/>
        </p:nvPicPr>
        <p:blipFill rotWithShape="1">
          <a:blip r:embed="rId3">
            <a:alphaModFix/>
          </a:blip>
          <a:srcRect b="0" l="0" r="0" t="0"/>
          <a:stretch/>
        </p:blipFill>
        <p:spPr>
          <a:xfrm>
            <a:off x="263525" y="1314450"/>
            <a:ext cx="8610599" cy="209549"/>
          </a:xfrm>
          <a:prstGeom prst="rect">
            <a:avLst/>
          </a:prstGeom>
          <a:noFill/>
          <a:ln>
            <a:noFill/>
          </a:ln>
        </p:spPr>
      </p:pic>
      <p:pic>
        <p:nvPicPr>
          <p:cNvPr id="339" name="Shape 339"/>
          <p:cNvPicPr preferRelativeResize="0"/>
          <p:nvPr/>
        </p:nvPicPr>
        <p:blipFill rotWithShape="1">
          <a:blip r:embed="rId4">
            <a:alphaModFix/>
          </a:blip>
          <a:srcRect b="0" l="0" r="0" t="0"/>
          <a:stretch/>
        </p:blipFill>
        <p:spPr>
          <a:xfrm>
            <a:off x="568325" y="534987"/>
            <a:ext cx="3013074" cy="608011"/>
          </a:xfrm>
          <a:prstGeom prst="rect">
            <a:avLst/>
          </a:prstGeom>
          <a:noFill/>
          <a:ln>
            <a:noFill/>
          </a:ln>
        </p:spPr>
      </p:pic>
      <p:sp>
        <p:nvSpPr>
          <p:cNvPr id="340" name="Shape 340"/>
          <p:cNvSpPr txBox="1"/>
          <p:nvPr/>
        </p:nvSpPr>
        <p:spPr>
          <a:xfrm>
            <a:off x="4267200" y="457200"/>
            <a:ext cx="4233861" cy="992187"/>
          </a:xfrm>
          <a:prstGeom prst="rect">
            <a:avLst/>
          </a:prstGeom>
          <a:noFill/>
          <a:ln>
            <a:noFill/>
          </a:ln>
        </p:spPr>
        <p:txBody>
          <a:bodyPr anchorCtr="0" anchor="t" bIns="45700" lIns="91425" rIns="91425" tIns="45700">
            <a:noAutofit/>
          </a:bodyPr>
          <a:lstStyle/>
          <a:p>
            <a:pPr indent="0" lvl="0" marL="0" marR="0" rtl="0" algn="ctr">
              <a:lnSpc>
                <a:spcPct val="120000"/>
              </a:lnSpc>
              <a:spcBef>
                <a:spcPts val="0"/>
              </a:spcBef>
              <a:spcAft>
                <a:spcPts val="0"/>
              </a:spcAft>
              <a:buClr>
                <a:srgbClr val="BB4F59"/>
              </a:buClr>
              <a:buSzPct val="25000"/>
              <a:buFont typeface="Arial"/>
              <a:buNone/>
            </a:pPr>
            <a:r>
              <a:rPr b="1" baseline="30000" i="0" lang="en-US" sz="3600" u="none" cap="none" strike="noStrike">
                <a:solidFill>
                  <a:srgbClr val="BB4F59"/>
                </a:solidFill>
                <a:latin typeface="Arial"/>
                <a:ea typeface="Arial"/>
                <a:cs typeface="Arial"/>
                <a:sym typeface="Arial"/>
              </a:rPr>
              <a:t>BANCOS COMERCIALES</a:t>
            </a:r>
          </a:p>
          <a:p>
            <a:pPr indent="0" lvl="0" marL="0" marR="0" rtl="0" algn="ctr">
              <a:lnSpc>
                <a:spcPct val="120000"/>
              </a:lnSpc>
              <a:spcBef>
                <a:spcPts val="1140"/>
              </a:spcBef>
              <a:spcAft>
                <a:spcPts val="560"/>
              </a:spcAft>
              <a:buClr>
                <a:srgbClr val="BB4F59"/>
              </a:buClr>
              <a:buSzPct val="25000"/>
              <a:buFont typeface="Arial"/>
              <a:buNone/>
            </a:pPr>
            <a:r>
              <a:rPr b="1" baseline="30000" i="0" lang="en-US" sz="2800" u="none" cap="none" strike="noStrike">
                <a:solidFill>
                  <a:srgbClr val="BB4F59"/>
                </a:solidFill>
                <a:latin typeface="Arial"/>
                <a:ea typeface="Arial"/>
                <a:cs typeface="Arial"/>
                <a:sym typeface="Arial"/>
              </a:rPr>
              <a:t>ECUACIÓN BANCARIA</a:t>
            </a:r>
          </a:p>
        </p:txBody>
      </p:sp>
      <p:sp>
        <p:nvSpPr>
          <p:cNvPr id="341" name="Shape 341"/>
          <p:cNvSpPr txBox="1"/>
          <p:nvPr/>
        </p:nvSpPr>
        <p:spPr>
          <a:xfrm>
            <a:off x="381000" y="1455737"/>
            <a:ext cx="8458200" cy="5021261"/>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1" lang="en-US" sz="2400" u="none" cap="none" strike="noStrike">
                <a:solidFill>
                  <a:schemeClr val="hlink"/>
                </a:solidFill>
                <a:latin typeface="Arial"/>
                <a:ea typeface="Arial"/>
                <a:cs typeface="Arial"/>
                <a:sym typeface="Arial"/>
              </a:rPr>
              <a:t> </a:t>
            </a:r>
            <a:r>
              <a:rPr b="1" i="1" lang="en-US" sz="1800" u="none" cap="none" strike="noStrike">
                <a:solidFill>
                  <a:srgbClr val="2F8F0D"/>
                </a:solidFill>
                <a:latin typeface="Arial"/>
                <a:ea typeface="Arial"/>
                <a:cs typeface="Arial"/>
                <a:sym typeface="Arial"/>
              </a:rPr>
              <a:t>RENTABILIDAD</a:t>
            </a:r>
          </a:p>
          <a:p>
            <a:pPr indent="0" lvl="0" marL="0" marR="0" rtl="0" algn="l">
              <a:lnSpc>
                <a:spcPct val="100000"/>
              </a:lnSpc>
              <a:spcBef>
                <a:spcPts val="1080"/>
              </a:spcBef>
              <a:spcAft>
                <a:spcPts val="0"/>
              </a:spcAft>
              <a:buClr>
                <a:srgbClr val="2F8F0D"/>
              </a:buClr>
              <a:buSzPct val="25000"/>
              <a:buFont typeface="Arial"/>
              <a:buNone/>
            </a:pPr>
            <a:r>
              <a:rPr b="1" i="1" lang="en-US" sz="1800" u="none" cap="none" strike="noStrike">
                <a:solidFill>
                  <a:srgbClr val="2F8F0D"/>
                </a:solidFill>
                <a:latin typeface="Arial"/>
                <a:ea typeface="Arial"/>
                <a:cs typeface="Arial"/>
                <a:sym typeface="Arial"/>
              </a:rPr>
              <a:t>Representa</a:t>
            </a:r>
            <a:r>
              <a:rPr b="1" i="0" lang="en-US" sz="1800" u="none" cap="none" strike="noStrike">
                <a:solidFill>
                  <a:srgbClr val="2F8F0D"/>
                </a:solidFill>
                <a:latin typeface="Arial"/>
                <a:ea typeface="Arial"/>
                <a:cs typeface="Arial"/>
                <a:sym typeface="Arial"/>
              </a:rPr>
              <a:t> la relación entre el beneficio neto obtenido por los bancos en la intermediación y el capital aportado por los socios. </a:t>
            </a:r>
          </a:p>
          <a:p>
            <a:pPr indent="0" lvl="0" marL="0" marR="0" rtl="0" algn="l">
              <a:lnSpc>
                <a:spcPct val="100000"/>
              </a:lnSpc>
              <a:spcBef>
                <a:spcPts val="900"/>
              </a:spcBef>
              <a:spcAft>
                <a:spcPts val="0"/>
              </a:spcAft>
              <a:buClr>
                <a:schemeClr val="dk1"/>
              </a:buClr>
              <a:buFont typeface="Calibri"/>
              <a:buNone/>
            </a:pPr>
            <a:r>
              <a:t/>
            </a:r>
            <a:endParaRPr b="1" i="1" sz="1800" u="none" cap="none" strike="noStrike">
              <a:solidFill>
                <a:srgbClr val="2F8F0D"/>
              </a:solidFill>
              <a:latin typeface="Arial"/>
              <a:ea typeface="Arial"/>
              <a:cs typeface="Arial"/>
              <a:sym typeface="Arial"/>
            </a:endParaRPr>
          </a:p>
          <a:p>
            <a:pPr indent="0" lvl="0" marL="0" marR="0" rtl="0" algn="l">
              <a:lnSpc>
                <a:spcPct val="100000"/>
              </a:lnSpc>
              <a:spcBef>
                <a:spcPts val="900"/>
              </a:spcBef>
              <a:spcAft>
                <a:spcPts val="0"/>
              </a:spcAft>
              <a:buClr>
                <a:srgbClr val="FF0000"/>
              </a:buClr>
              <a:buSzPct val="25000"/>
              <a:buFont typeface="Arial"/>
              <a:buNone/>
            </a:pPr>
            <a:r>
              <a:rPr b="1" i="1" lang="en-US" sz="1800" u="none" cap="none" strike="noStrike">
                <a:solidFill>
                  <a:srgbClr val="FF0000"/>
                </a:solidFill>
                <a:latin typeface="Arial"/>
                <a:ea typeface="Arial"/>
                <a:cs typeface="Arial"/>
                <a:sym typeface="Arial"/>
              </a:rPr>
              <a:t>LIQUIDEZ</a:t>
            </a:r>
          </a:p>
          <a:p>
            <a:pPr indent="0" lvl="0" marL="0" marR="0" rtl="0" algn="l">
              <a:lnSpc>
                <a:spcPct val="100000"/>
              </a:lnSpc>
              <a:spcBef>
                <a:spcPts val="900"/>
              </a:spcBef>
              <a:spcAft>
                <a:spcPts val="0"/>
              </a:spcAft>
              <a:buClr>
                <a:srgbClr val="FF0000"/>
              </a:buClr>
              <a:buSzPct val="25000"/>
              <a:buFont typeface="Arial"/>
              <a:buNone/>
            </a:pPr>
            <a:r>
              <a:rPr b="1" i="1" lang="en-US" sz="1800" u="none" cap="none" strike="noStrike">
                <a:solidFill>
                  <a:srgbClr val="FF0000"/>
                </a:solidFill>
                <a:latin typeface="Arial"/>
                <a:ea typeface="Arial"/>
                <a:cs typeface="Arial"/>
                <a:sym typeface="Arial"/>
              </a:rPr>
              <a:t>Representa la calidad de los activos para ser convertidos en dinero efectivo de forma inmediata sin pérdida significativa de su valor, de tal manera que cuanto más fácil es convertir un activo en dinero se dice que es más líquido.</a:t>
            </a:r>
          </a:p>
          <a:p>
            <a:pPr indent="0" lvl="0" marL="0" marR="0" rtl="0" algn="l">
              <a:lnSpc>
                <a:spcPct val="100000"/>
              </a:lnSpc>
              <a:spcBef>
                <a:spcPts val="90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90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SOLVENCIA</a:t>
            </a:r>
          </a:p>
          <a:p>
            <a:pPr indent="0" lvl="0" marL="0" marR="0" rtl="0" algn="l">
              <a:lnSpc>
                <a:spcPct val="100000"/>
              </a:lnSpc>
              <a:spcBef>
                <a:spcPts val="900"/>
              </a:spcBef>
              <a:spcAft>
                <a:spcPts val="540"/>
              </a:spcAft>
              <a:buClr>
                <a:schemeClr val="dk1"/>
              </a:buClr>
              <a:buSzPct val="25000"/>
              <a:buFont typeface="Arial"/>
              <a:buNone/>
            </a:pPr>
            <a:r>
              <a:rPr b="1" i="1" lang="en-US" sz="1800" u="none" cap="none" strike="noStrike">
                <a:solidFill>
                  <a:schemeClr val="dk1"/>
                </a:solidFill>
                <a:latin typeface="Arial"/>
                <a:ea typeface="Arial"/>
                <a:cs typeface="Arial"/>
                <a:sym typeface="Arial"/>
              </a:rPr>
              <a:t>Representa la capacidad que posee un banco para hacer frente a sus compromisos de pago y queda expresada como la diferencia existente entre el activo total y el pasivo exigible</a:t>
            </a:r>
            <a:r>
              <a:rPr b="0" i="0" lang="en-US" sz="1800" u="none" cap="none" strike="noStrike">
                <a:solidFill>
                  <a:schemeClr val="dk1"/>
                </a:solidFill>
                <a:latin typeface="Arial"/>
                <a:ea typeface="Arial"/>
                <a:cs typeface="Arial"/>
                <a:sym typeface="Arial"/>
              </a:rPr>
              <a:t> </a:t>
            </a:r>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45" name="Shape 345"/>
        <p:cNvGrpSpPr/>
        <p:nvPr/>
      </p:nvGrpSpPr>
      <p:grpSpPr>
        <a:xfrm>
          <a:off x="0" y="0"/>
          <a:ext cx="0" cy="0"/>
          <a:chOff x="0" y="0"/>
          <a:chExt cx="0" cy="0"/>
        </a:xfrm>
      </p:grpSpPr>
      <p:pic>
        <p:nvPicPr>
          <p:cNvPr id="346" name="Shape 346"/>
          <p:cNvPicPr preferRelativeResize="0"/>
          <p:nvPr/>
        </p:nvPicPr>
        <p:blipFill rotWithShape="1">
          <a:blip r:embed="rId3">
            <a:alphaModFix/>
          </a:blip>
          <a:srcRect b="0" l="0" r="0" t="0"/>
          <a:stretch/>
        </p:blipFill>
        <p:spPr>
          <a:xfrm>
            <a:off x="263525" y="1238250"/>
            <a:ext cx="8610599" cy="209549"/>
          </a:xfrm>
          <a:prstGeom prst="rect">
            <a:avLst/>
          </a:prstGeom>
          <a:noFill/>
          <a:ln>
            <a:noFill/>
          </a:ln>
        </p:spPr>
      </p:pic>
      <p:pic>
        <p:nvPicPr>
          <p:cNvPr id="347" name="Shape 347"/>
          <p:cNvPicPr preferRelativeResize="0"/>
          <p:nvPr/>
        </p:nvPicPr>
        <p:blipFill rotWithShape="1">
          <a:blip r:embed="rId4">
            <a:alphaModFix/>
          </a:blip>
          <a:srcRect b="0" l="0" r="0" t="0"/>
          <a:stretch/>
        </p:blipFill>
        <p:spPr>
          <a:xfrm>
            <a:off x="263525" y="1444625"/>
            <a:ext cx="8626474" cy="5114925"/>
          </a:xfrm>
          <a:prstGeom prst="rect">
            <a:avLst/>
          </a:prstGeom>
          <a:noFill/>
          <a:ln>
            <a:noFill/>
          </a:ln>
        </p:spPr>
      </p:pic>
      <p:pic>
        <p:nvPicPr>
          <p:cNvPr id="348" name="Shape 348"/>
          <p:cNvPicPr preferRelativeResize="0"/>
          <p:nvPr/>
        </p:nvPicPr>
        <p:blipFill rotWithShape="1">
          <a:blip r:embed="rId5">
            <a:alphaModFix/>
          </a:blip>
          <a:srcRect b="0" l="0" r="0" t="0"/>
          <a:stretch/>
        </p:blipFill>
        <p:spPr>
          <a:xfrm>
            <a:off x="492125" y="534987"/>
            <a:ext cx="3013074" cy="608011"/>
          </a:xfrm>
          <a:prstGeom prst="rect">
            <a:avLst/>
          </a:prstGeom>
          <a:noFill/>
          <a:ln>
            <a:noFill/>
          </a:ln>
        </p:spPr>
      </p:pic>
      <p:sp>
        <p:nvSpPr>
          <p:cNvPr id="349" name="Shape 349"/>
          <p:cNvSpPr txBox="1"/>
          <p:nvPr/>
        </p:nvSpPr>
        <p:spPr>
          <a:xfrm>
            <a:off x="4343400" y="455612"/>
            <a:ext cx="4233861" cy="992187"/>
          </a:xfrm>
          <a:prstGeom prst="rect">
            <a:avLst/>
          </a:prstGeom>
          <a:noFill/>
          <a:ln>
            <a:noFill/>
          </a:ln>
        </p:spPr>
        <p:txBody>
          <a:bodyPr anchorCtr="0" anchor="t" bIns="45700" lIns="91425" rIns="91425" tIns="45700">
            <a:noAutofit/>
          </a:bodyPr>
          <a:lstStyle/>
          <a:p>
            <a:pPr indent="0" lvl="0" marL="0" marR="0" rtl="0" algn="ctr">
              <a:lnSpc>
                <a:spcPct val="120000"/>
              </a:lnSpc>
              <a:spcBef>
                <a:spcPts val="0"/>
              </a:spcBef>
              <a:spcAft>
                <a:spcPts val="0"/>
              </a:spcAft>
              <a:buClr>
                <a:srgbClr val="BB4F59"/>
              </a:buClr>
              <a:buSzPct val="25000"/>
              <a:buFont typeface="Arial"/>
              <a:buNone/>
            </a:pPr>
            <a:r>
              <a:rPr b="1" baseline="30000" i="0" lang="en-US" sz="3600" u="none" cap="none" strike="noStrike">
                <a:solidFill>
                  <a:srgbClr val="BB4F59"/>
                </a:solidFill>
                <a:latin typeface="Arial"/>
                <a:ea typeface="Arial"/>
                <a:cs typeface="Arial"/>
                <a:sym typeface="Arial"/>
              </a:rPr>
              <a:t>BANCOS COMERCIALES</a:t>
            </a:r>
          </a:p>
          <a:p>
            <a:pPr indent="0" lvl="0" marL="0" marR="0" rtl="0" algn="ctr">
              <a:lnSpc>
                <a:spcPct val="120000"/>
              </a:lnSpc>
              <a:spcBef>
                <a:spcPts val="1140"/>
              </a:spcBef>
              <a:spcAft>
                <a:spcPts val="560"/>
              </a:spcAft>
              <a:buClr>
                <a:srgbClr val="BB4F59"/>
              </a:buClr>
              <a:buSzPct val="25000"/>
              <a:buFont typeface="Arial"/>
              <a:buNone/>
            </a:pPr>
            <a:r>
              <a:rPr b="1" baseline="30000" i="0" lang="en-US" sz="2800" u="none" cap="none" strike="noStrike">
                <a:solidFill>
                  <a:srgbClr val="BB4F59"/>
                </a:solidFill>
                <a:latin typeface="Arial"/>
                <a:ea typeface="Arial"/>
                <a:cs typeface="Arial"/>
                <a:sym typeface="Arial"/>
              </a:rPr>
              <a:t>FUNCIONES</a:t>
            </a:r>
          </a:p>
        </p:txBody>
      </p:sp>
      <p:sp>
        <p:nvSpPr>
          <p:cNvPr id="350" name="Shape 350"/>
          <p:cNvSpPr txBox="1"/>
          <p:nvPr/>
        </p:nvSpPr>
        <p:spPr>
          <a:xfrm>
            <a:off x="304800" y="1611312"/>
            <a:ext cx="4724400" cy="4664075"/>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FUNCIÓN PASIVA</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Conformada por las operaciones por las que el banco capta, recibe o recolecta dinero ahorrado por las personas (ahorristas).</a:t>
            </a:r>
          </a:p>
          <a:p>
            <a:pPr indent="0" lvl="0" marL="0" marR="0" rtl="0" algn="ctr">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Font typeface="Calibri"/>
              <a:buNone/>
            </a:pPr>
            <a:r>
              <a:t/>
            </a:r>
            <a:endParaRPr b="1" i="1"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FUNCIÓN ACTIVA</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Conformada por las operaciones de colocación del dinero captado, otorgan créditos o prestamos a las personas, empresas u organizaciones que los soliciten.</a:t>
            </a:r>
            <a:r>
              <a:rPr b="0" i="0" lang="en-US" sz="1800" u="none" cap="none" strike="noStrike">
                <a:solidFill>
                  <a:schemeClr val="dk1"/>
                </a:solidFill>
                <a:latin typeface="Arial"/>
                <a:ea typeface="Arial"/>
                <a:cs typeface="Arial"/>
                <a:sym typeface="Arial"/>
              </a:rPr>
              <a:t> </a:t>
            </a:r>
          </a:p>
        </p:txBody>
      </p:sp>
      <p:pic>
        <p:nvPicPr>
          <p:cNvPr id="351" name="Shape 351"/>
          <p:cNvPicPr preferRelativeResize="0"/>
          <p:nvPr/>
        </p:nvPicPr>
        <p:blipFill rotWithShape="1">
          <a:blip r:embed="rId6">
            <a:alphaModFix/>
          </a:blip>
          <a:srcRect b="0" l="0" r="0" t="0"/>
          <a:stretch/>
        </p:blipFill>
        <p:spPr>
          <a:xfrm>
            <a:off x="5791200" y="4191000"/>
            <a:ext cx="2466974" cy="2133599"/>
          </a:xfrm>
          <a:prstGeom prst="rect">
            <a:avLst/>
          </a:prstGeom>
          <a:noFill/>
          <a:ln>
            <a:noFill/>
          </a:ln>
        </p:spPr>
      </p:pic>
      <p:pic>
        <p:nvPicPr>
          <p:cNvPr id="352" name="Shape 352"/>
          <p:cNvPicPr preferRelativeResize="0"/>
          <p:nvPr/>
        </p:nvPicPr>
        <p:blipFill rotWithShape="1">
          <a:blip r:embed="rId7">
            <a:alphaModFix/>
          </a:blip>
          <a:srcRect b="0" l="0" r="0" t="0"/>
          <a:stretch/>
        </p:blipFill>
        <p:spPr>
          <a:xfrm>
            <a:off x="5715000" y="1714500"/>
            <a:ext cx="2514599" cy="2105024"/>
          </a:xfrm>
          <a:prstGeom prst="rect">
            <a:avLst/>
          </a:prstGeom>
          <a:noFill/>
          <a:ln>
            <a:noFill/>
          </a:ln>
        </p:spPr>
      </p:pic>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56" name="Shape 356"/>
        <p:cNvGrpSpPr/>
        <p:nvPr/>
      </p:nvGrpSpPr>
      <p:grpSpPr>
        <a:xfrm>
          <a:off x="0" y="0"/>
          <a:ext cx="0" cy="0"/>
          <a:chOff x="0" y="0"/>
          <a:chExt cx="0" cy="0"/>
        </a:xfrm>
      </p:grpSpPr>
      <p:pic>
        <p:nvPicPr>
          <p:cNvPr id="357" name="Shape 357"/>
          <p:cNvPicPr preferRelativeResize="0"/>
          <p:nvPr/>
        </p:nvPicPr>
        <p:blipFill rotWithShape="1">
          <a:blip r:embed="rId3">
            <a:alphaModFix/>
          </a:blip>
          <a:srcRect b="0" l="0" r="0" t="0"/>
          <a:stretch/>
        </p:blipFill>
        <p:spPr>
          <a:xfrm>
            <a:off x="263525" y="1238250"/>
            <a:ext cx="8610599" cy="209549"/>
          </a:xfrm>
          <a:prstGeom prst="rect">
            <a:avLst/>
          </a:prstGeom>
          <a:noFill/>
          <a:ln>
            <a:noFill/>
          </a:ln>
        </p:spPr>
      </p:pic>
      <p:pic>
        <p:nvPicPr>
          <p:cNvPr id="358" name="Shape 358"/>
          <p:cNvPicPr preferRelativeResize="0"/>
          <p:nvPr/>
        </p:nvPicPr>
        <p:blipFill rotWithShape="1">
          <a:blip r:embed="rId4">
            <a:alphaModFix/>
          </a:blip>
          <a:srcRect b="0" l="0" r="0" t="0"/>
          <a:stretch/>
        </p:blipFill>
        <p:spPr>
          <a:xfrm>
            <a:off x="263525" y="1444625"/>
            <a:ext cx="8626474" cy="5114925"/>
          </a:xfrm>
          <a:prstGeom prst="rect">
            <a:avLst/>
          </a:prstGeom>
          <a:noFill/>
          <a:ln>
            <a:noFill/>
          </a:ln>
        </p:spPr>
      </p:pic>
      <p:pic>
        <p:nvPicPr>
          <p:cNvPr id="359" name="Shape 359"/>
          <p:cNvPicPr preferRelativeResize="0"/>
          <p:nvPr/>
        </p:nvPicPr>
        <p:blipFill rotWithShape="1">
          <a:blip r:embed="rId5">
            <a:alphaModFix/>
          </a:blip>
          <a:srcRect b="0" l="0" r="0" t="0"/>
          <a:stretch/>
        </p:blipFill>
        <p:spPr>
          <a:xfrm>
            <a:off x="492125" y="534987"/>
            <a:ext cx="3013074" cy="608011"/>
          </a:xfrm>
          <a:prstGeom prst="rect">
            <a:avLst/>
          </a:prstGeom>
          <a:noFill/>
          <a:ln>
            <a:noFill/>
          </a:ln>
        </p:spPr>
      </p:pic>
      <p:sp>
        <p:nvSpPr>
          <p:cNvPr id="360" name="Shape 360"/>
          <p:cNvSpPr txBox="1"/>
          <p:nvPr/>
        </p:nvSpPr>
        <p:spPr>
          <a:xfrm>
            <a:off x="3810000" y="39686"/>
            <a:ext cx="5029199" cy="12557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Font typeface="Calibri"/>
              <a:buNone/>
            </a:pPr>
            <a:r>
              <a:t/>
            </a:r>
            <a:endParaRPr b="1" baseline="30000" i="0" sz="3600" u="none" cap="none" strike="noStrike">
              <a:solidFill>
                <a:srgbClr val="BB4F59"/>
              </a:solidFill>
              <a:latin typeface="Arial"/>
              <a:ea typeface="Arial"/>
              <a:cs typeface="Arial"/>
              <a:sym typeface="Arial"/>
            </a:endParaRPr>
          </a:p>
          <a:p>
            <a:pPr indent="0" lvl="0" marL="0" marR="0" rtl="0" algn="ctr">
              <a:lnSpc>
                <a:spcPct val="100000"/>
              </a:lnSpc>
              <a:spcBef>
                <a:spcPts val="1260"/>
              </a:spcBef>
              <a:spcAft>
                <a:spcPts val="0"/>
              </a:spcAft>
              <a:buClr>
                <a:srgbClr val="BB4F59"/>
              </a:buClr>
              <a:buSzPct val="25000"/>
              <a:buFont typeface="Arial"/>
              <a:buNone/>
            </a:pPr>
            <a:r>
              <a:rPr b="1" baseline="30000" i="0" lang="en-US" sz="3600" u="none" cap="none" strike="noStrike">
                <a:solidFill>
                  <a:srgbClr val="BB4F59"/>
                </a:solidFill>
                <a:latin typeface="Arial"/>
                <a:ea typeface="Arial"/>
                <a:cs typeface="Arial"/>
                <a:sym typeface="Arial"/>
              </a:rPr>
              <a:t>BANCOS COMERCIALES</a:t>
            </a:r>
          </a:p>
          <a:p>
            <a:pPr indent="0" lvl="0" marL="0" marR="0" rtl="0" algn="ctr">
              <a:lnSpc>
                <a:spcPct val="100000"/>
              </a:lnSpc>
              <a:spcBef>
                <a:spcPts val="0"/>
              </a:spcBef>
              <a:spcAft>
                <a:spcPts val="0"/>
              </a:spcAft>
              <a:buClr>
                <a:srgbClr val="BB4F59"/>
              </a:buClr>
              <a:buSzPct val="25000"/>
              <a:buFont typeface="Arial"/>
              <a:buNone/>
            </a:pPr>
            <a:r>
              <a:rPr b="1" i="0" lang="en-US" sz="2000" u="none" cap="none" strike="noStrike">
                <a:solidFill>
                  <a:srgbClr val="BB4F59"/>
                </a:solidFill>
                <a:latin typeface="Arial"/>
                <a:ea typeface="Arial"/>
                <a:cs typeface="Arial"/>
                <a:sym typeface="Arial"/>
              </a:rPr>
              <a:t>TASAS CARACTERÍSTICAS</a:t>
            </a:r>
          </a:p>
        </p:txBody>
      </p:sp>
      <p:sp>
        <p:nvSpPr>
          <p:cNvPr id="361" name="Shape 361"/>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 </a:t>
            </a:r>
          </a:p>
        </p:txBody>
      </p:sp>
      <p:sp>
        <p:nvSpPr>
          <p:cNvPr id="362" name="Shape 362"/>
          <p:cNvSpPr txBox="1"/>
          <p:nvPr/>
        </p:nvSpPr>
        <p:spPr>
          <a:xfrm>
            <a:off x="304800" y="1611312"/>
            <a:ext cx="4724400" cy="4664075"/>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TASA PASIVA</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Conformada por las operaciones por las que el banco capta, recibe o recolecta el dinero ahorrado por las personas (ahorristas).</a:t>
            </a:r>
          </a:p>
          <a:p>
            <a:pPr indent="0" lvl="0" marL="0" marR="0" rtl="0" algn="ctr">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Font typeface="Calibri"/>
              <a:buNone/>
            </a:pPr>
            <a:r>
              <a:t/>
            </a:r>
            <a:endParaRPr b="1" i="1"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TASA ACTIVA</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Conformada por las operaciones de colocación del dinero captado, otorgan créditos o prestamos a las personas, empresas u organizaciones que los soliciten.</a:t>
            </a:r>
            <a:r>
              <a:rPr b="0" i="0" lang="en-US" sz="1800" u="none" cap="none" strike="noStrike">
                <a:solidFill>
                  <a:schemeClr val="dk1"/>
                </a:solidFill>
                <a:latin typeface="Arial"/>
                <a:ea typeface="Arial"/>
                <a:cs typeface="Arial"/>
                <a:sym typeface="Arial"/>
              </a:rPr>
              <a:t> </a:t>
            </a:r>
          </a:p>
        </p:txBody>
      </p:sp>
      <p:pic>
        <p:nvPicPr>
          <p:cNvPr id="363" name="Shape 363"/>
          <p:cNvPicPr preferRelativeResize="0"/>
          <p:nvPr/>
        </p:nvPicPr>
        <p:blipFill rotWithShape="1">
          <a:blip r:embed="rId6">
            <a:alphaModFix/>
          </a:blip>
          <a:srcRect b="0" l="0" r="0" t="0"/>
          <a:stretch/>
        </p:blipFill>
        <p:spPr>
          <a:xfrm>
            <a:off x="4933950" y="2628900"/>
            <a:ext cx="3905249" cy="2705100"/>
          </a:xfrm>
          <a:prstGeom prst="rect">
            <a:avLst/>
          </a:prstGeom>
          <a:noFill/>
          <a:ln>
            <a:noFill/>
          </a:ln>
        </p:spPr>
      </p:pic>
      <p:sp>
        <p:nvSpPr>
          <p:cNvPr id="364" name="Shape 364"/>
          <p:cNvSpPr txBox="1"/>
          <p:nvPr/>
        </p:nvSpPr>
        <p:spPr>
          <a:xfrm>
            <a:off x="261937" y="3124200"/>
            <a:ext cx="4538662" cy="1295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cap="none" strike="noStrike">
                <a:solidFill>
                  <a:schemeClr val="hlink"/>
                </a:solidFill>
                <a:latin typeface="Arial"/>
                <a:ea typeface="Arial"/>
                <a:cs typeface="Arial"/>
                <a:sym typeface="Arial"/>
              </a:rPr>
              <a:t>SPREAD = TASA ACTIVA – TASA PASIVA</a:t>
            </a:r>
          </a:p>
        </p:txBody>
      </p:sp>
      <p:sp>
        <p:nvSpPr>
          <p:cNvPr id="365" name="Shape 365"/>
          <p:cNvSpPr txBox="1"/>
          <p:nvPr/>
        </p:nvSpPr>
        <p:spPr>
          <a:xfrm>
            <a:off x="4933950" y="5410200"/>
            <a:ext cx="3676650" cy="914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2400" u="none" cap="none" strike="noStrike">
                <a:solidFill>
                  <a:schemeClr val="hlink"/>
                </a:solidFill>
                <a:latin typeface="Arial"/>
                <a:ea typeface="Arial"/>
                <a:cs typeface="Arial"/>
                <a:sym typeface="Arial"/>
              </a:rPr>
              <a:t>GANANCIA DEL BANCO</a:t>
            </a:r>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69" name="Shape 369"/>
        <p:cNvGrpSpPr/>
        <p:nvPr/>
      </p:nvGrpSpPr>
      <p:grpSpPr>
        <a:xfrm>
          <a:off x="0" y="0"/>
          <a:ext cx="0" cy="0"/>
          <a:chOff x="0" y="0"/>
          <a:chExt cx="0" cy="0"/>
        </a:xfrm>
      </p:grpSpPr>
      <p:pic>
        <p:nvPicPr>
          <p:cNvPr id="370" name="Shape 370"/>
          <p:cNvPicPr preferRelativeResize="0"/>
          <p:nvPr/>
        </p:nvPicPr>
        <p:blipFill rotWithShape="1">
          <a:blip r:embed="rId3">
            <a:alphaModFix/>
          </a:blip>
          <a:srcRect b="0" l="0" r="0" t="0"/>
          <a:stretch/>
        </p:blipFill>
        <p:spPr>
          <a:xfrm>
            <a:off x="263525" y="1238250"/>
            <a:ext cx="8610599" cy="209549"/>
          </a:xfrm>
          <a:prstGeom prst="rect">
            <a:avLst/>
          </a:prstGeom>
          <a:noFill/>
          <a:ln>
            <a:noFill/>
          </a:ln>
        </p:spPr>
      </p:pic>
      <p:pic>
        <p:nvPicPr>
          <p:cNvPr id="371" name="Shape 371"/>
          <p:cNvPicPr preferRelativeResize="0"/>
          <p:nvPr/>
        </p:nvPicPr>
        <p:blipFill rotWithShape="1">
          <a:blip r:embed="rId4">
            <a:alphaModFix/>
          </a:blip>
          <a:srcRect b="0" l="0" r="0" t="0"/>
          <a:stretch/>
        </p:blipFill>
        <p:spPr>
          <a:xfrm>
            <a:off x="263525" y="1444625"/>
            <a:ext cx="8626474" cy="5114925"/>
          </a:xfrm>
          <a:prstGeom prst="rect">
            <a:avLst/>
          </a:prstGeom>
          <a:noFill/>
          <a:ln>
            <a:noFill/>
          </a:ln>
        </p:spPr>
      </p:pic>
      <p:pic>
        <p:nvPicPr>
          <p:cNvPr id="372" name="Shape 372"/>
          <p:cNvPicPr preferRelativeResize="0"/>
          <p:nvPr/>
        </p:nvPicPr>
        <p:blipFill rotWithShape="1">
          <a:blip r:embed="rId5">
            <a:alphaModFix/>
          </a:blip>
          <a:srcRect b="0" l="0" r="0" t="0"/>
          <a:stretch/>
        </p:blipFill>
        <p:spPr>
          <a:xfrm>
            <a:off x="492125" y="458787"/>
            <a:ext cx="3013074" cy="608011"/>
          </a:xfrm>
          <a:prstGeom prst="rect">
            <a:avLst/>
          </a:prstGeom>
          <a:noFill/>
          <a:ln>
            <a:noFill/>
          </a:ln>
        </p:spPr>
      </p:pic>
      <p:sp>
        <p:nvSpPr>
          <p:cNvPr id="373" name="Shape 373"/>
          <p:cNvSpPr txBox="1"/>
          <p:nvPr/>
        </p:nvSpPr>
        <p:spPr>
          <a:xfrm>
            <a:off x="4572000" y="412750"/>
            <a:ext cx="4233861" cy="1035049"/>
          </a:xfrm>
          <a:prstGeom prst="rect">
            <a:avLst/>
          </a:prstGeom>
          <a:noFill/>
          <a:ln>
            <a:noFill/>
          </a:ln>
        </p:spPr>
        <p:txBody>
          <a:bodyPr anchorCtr="0" anchor="t" bIns="45700" lIns="91425" rIns="91425" tIns="45700">
            <a:noAutofit/>
          </a:bodyPr>
          <a:lstStyle/>
          <a:p>
            <a:pPr indent="0" lvl="0" marL="0" marR="0" rtl="0" algn="ctr">
              <a:lnSpc>
                <a:spcPct val="120000"/>
              </a:lnSpc>
              <a:spcBef>
                <a:spcPts val="0"/>
              </a:spcBef>
              <a:spcAft>
                <a:spcPts val="0"/>
              </a:spcAft>
              <a:buClr>
                <a:srgbClr val="BB4F59"/>
              </a:buClr>
              <a:buSzPct val="25000"/>
              <a:buFont typeface="Arial"/>
              <a:buNone/>
            </a:pPr>
            <a:r>
              <a:rPr b="1" baseline="30000" i="0" lang="en-US" sz="3600" u="none" cap="none" strike="noStrike">
                <a:solidFill>
                  <a:srgbClr val="BB4F59"/>
                </a:solidFill>
                <a:latin typeface="Arial"/>
                <a:ea typeface="Arial"/>
                <a:cs typeface="Arial"/>
                <a:sym typeface="Arial"/>
              </a:rPr>
              <a:t>BANCOS COMERCIALES</a:t>
            </a:r>
          </a:p>
          <a:p>
            <a:pPr indent="0" lvl="0" marL="0" marR="0" rtl="0" algn="ctr">
              <a:lnSpc>
                <a:spcPct val="120000"/>
              </a:lnSpc>
              <a:spcBef>
                <a:spcPts val="1200"/>
              </a:spcBef>
              <a:spcAft>
                <a:spcPts val="640"/>
              </a:spcAft>
              <a:buClr>
                <a:srgbClr val="BB4F59"/>
              </a:buClr>
              <a:buSzPct val="25000"/>
              <a:buFont typeface="Arial"/>
              <a:buNone/>
            </a:pPr>
            <a:r>
              <a:rPr b="1" baseline="30000" i="0" lang="en-US" sz="3200" u="none" cap="none" strike="noStrike">
                <a:solidFill>
                  <a:srgbClr val="BB4F59"/>
                </a:solidFill>
                <a:latin typeface="Arial"/>
                <a:ea typeface="Arial"/>
                <a:cs typeface="Arial"/>
                <a:sym typeface="Arial"/>
              </a:rPr>
              <a:t>CAPTAR AHORRO</a:t>
            </a:r>
          </a:p>
        </p:txBody>
      </p:sp>
      <p:sp>
        <p:nvSpPr>
          <p:cNvPr id="374" name="Shape 374"/>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 </a:t>
            </a:r>
          </a:p>
        </p:txBody>
      </p:sp>
      <p:sp>
        <p:nvSpPr>
          <p:cNvPr id="375" name="Shape 375"/>
          <p:cNvSpPr txBox="1"/>
          <p:nvPr/>
        </p:nvSpPr>
        <p:spPr>
          <a:xfrm>
            <a:off x="304800" y="1463675"/>
            <a:ext cx="8534399" cy="512603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DEPOSITOS BANCARIOS</a:t>
            </a:r>
            <a:r>
              <a:rPr b="1" i="1"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Los depósitos bancarios pueden clasificarse en tres grandes categorías:</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hlink"/>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1" lang="en-US" sz="1800" u="none" cap="none" strike="noStrike">
                <a:solidFill>
                  <a:srgbClr val="FF0000"/>
                </a:solidFill>
                <a:latin typeface="Arial"/>
                <a:ea typeface="Arial"/>
                <a:cs typeface="Arial"/>
                <a:sym typeface="Arial"/>
              </a:rPr>
              <a:t>Cuentas Corrientes</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Las cuentas corrientes son depósitos a la vista que pueden ser movilizados en cualquier momento y por lo tanto su condición es de total liquidez, habitualmente los bancos no pagan intereses por estos depósitos.</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hlink"/>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1" lang="en-US" sz="1800" u="none" cap="none" strike="noStrike">
                <a:solidFill>
                  <a:srgbClr val="FF0000"/>
                </a:solidFill>
                <a:latin typeface="Arial"/>
                <a:ea typeface="Arial"/>
                <a:cs typeface="Arial"/>
                <a:sym typeface="Arial"/>
              </a:rPr>
              <a:t>Cuentas o Cajas de Ahorro</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Para movilizar los depósitos en caja de ahorro es necesario efectuar el reintegro en ventanilla o a través de los cajeros electrónicos, normalmente los bancos pagan una tasa de interés muy baja por estos depósitos.</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1" lang="en-US" sz="1800" u="none" cap="none" strike="noStrike">
                <a:solidFill>
                  <a:srgbClr val="FF0000"/>
                </a:solidFill>
                <a:latin typeface="Arial"/>
                <a:ea typeface="Arial"/>
                <a:cs typeface="Arial"/>
                <a:sym typeface="Arial"/>
              </a:rPr>
              <a:t>Depósitos a plazo fijo.</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El Depósito a plazo fijo es una operación financiera por la cual un banco, a cambio del mantenimiento de ciertos recursos monetarios inmovilizados </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durante un período determinado, paga una rentabilidad financiera fija o variable, en forma de dinero.</a:t>
            </a:r>
          </a:p>
        </p:txBody>
      </p:sp>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79" name="Shape 379"/>
        <p:cNvGrpSpPr/>
        <p:nvPr/>
      </p:nvGrpSpPr>
      <p:grpSpPr>
        <a:xfrm>
          <a:off x="0" y="0"/>
          <a:ext cx="0" cy="0"/>
          <a:chOff x="0" y="0"/>
          <a:chExt cx="0" cy="0"/>
        </a:xfrm>
      </p:grpSpPr>
      <p:pic>
        <p:nvPicPr>
          <p:cNvPr id="380" name="Shape 380"/>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81" name="Shape 381"/>
          <p:cNvPicPr preferRelativeResize="0"/>
          <p:nvPr/>
        </p:nvPicPr>
        <p:blipFill rotWithShape="1">
          <a:blip r:embed="rId4">
            <a:alphaModFix/>
          </a:blip>
          <a:srcRect b="0" l="0" r="0" t="0"/>
          <a:stretch/>
        </p:blipFill>
        <p:spPr>
          <a:xfrm>
            <a:off x="212725" y="1743075"/>
            <a:ext cx="8626474" cy="5114925"/>
          </a:xfrm>
          <a:prstGeom prst="rect">
            <a:avLst/>
          </a:prstGeom>
          <a:noFill/>
          <a:ln>
            <a:noFill/>
          </a:ln>
        </p:spPr>
      </p:pic>
      <p:pic>
        <p:nvPicPr>
          <p:cNvPr id="382" name="Shape 382"/>
          <p:cNvPicPr preferRelativeResize="0"/>
          <p:nvPr/>
        </p:nvPicPr>
        <p:blipFill rotWithShape="1">
          <a:blip r:embed="rId5">
            <a:alphaModFix/>
          </a:blip>
          <a:srcRect b="0" l="0" r="0" t="0"/>
          <a:stretch/>
        </p:blipFill>
        <p:spPr>
          <a:xfrm>
            <a:off x="415925" y="458787"/>
            <a:ext cx="3013074" cy="608011"/>
          </a:xfrm>
          <a:prstGeom prst="rect">
            <a:avLst/>
          </a:prstGeom>
          <a:noFill/>
          <a:ln>
            <a:noFill/>
          </a:ln>
        </p:spPr>
      </p:pic>
      <p:sp>
        <p:nvSpPr>
          <p:cNvPr id="383" name="Shape 383"/>
          <p:cNvSpPr txBox="1"/>
          <p:nvPr/>
        </p:nvSpPr>
        <p:spPr>
          <a:xfrm>
            <a:off x="4605337" y="536575"/>
            <a:ext cx="4233861" cy="530224"/>
          </a:xfrm>
          <a:prstGeom prst="rect">
            <a:avLst/>
          </a:prstGeom>
          <a:noFill/>
          <a:ln>
            <a:noFill/>
          </a:ln>
        </p:spPr>
        <p:txBody>
          <a:bodyPr anchorCtr="0" anchor="t" bIns="45700" lIns="91425" rIns="91425" tIns="45700">
            <a:noAutofit/>
          </a:bodyPr>
          <a:lstStyle/>
          <a:p>
            <a:pPr indent="0" lvl="0" marL="0" marR="0" rtl="0" algn="just">
              <a:lnSpc>
                <a:spcPct val="120000"/>
              </a:lnSpc>
              <a:spcBef>
                <a:spcPts val="0"/>
              </a:spcBef>
              <a:spcAft>
                <a:spcPts val="720"/>
              </a:spcAft>
              <a:buClr>
                <a:srgbClr val="BB4F59"/>
              </a:buClr>
              <a:buSzPct val="25000"/>
              <a:buFont typeface="Arial"/>
              <a:buNone/>
            </a:pPr>
            <a:r>
              <a:rPr b="1" baseline="30000" i="0" lang="en-US" sz="3600" u="none" cap="none" strike="noStrike">
                <a:solidFill>
                  <a:srgbClr val="BB4F59"/>
                </a:solidFill>
                <a:latin typeface="Arial"/>
                <a:ea typeface="Arial"/>
                <a:cs typeface="Arial"/>
                <a:sym typeface="Arial"/>
              </a:rPr>
              <a:t>TARJETAS</a:t>
            </a:r>
          </a:p>
        </p:txBody>
      </p:sp>
      <p:sp>
        <p:nvSpPr>
          <p:cNvPr id="384" name="Shape 384"/>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 </a:t>
            </a:r>
          </a:p>
        </p:txBody>
      </p:sp>
      <p:sp>
        <p:nvSpPr>
          <p:cNvPr id="385" name="Shape 385"/>
          <p:cNvSpPr txBox="1"/>
          <p:nvPr/>
        </p:nvSpPr>
        <p:spPr>
          <a:xfrm>
            <a:off x="279400" y="1620837"/>
            <a:ext cx="4825999" cy="2654299"/>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TARJETA DE DÉBITO</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La tarjeta de débito es una tarjeta bancaria </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de plástico de 8.5 x 5.3 cm. con una banda </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magnética en el reverso que guarda </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información sobre los datos de acceso y el saldo de dinero que dispone el titular en su cuenta, se usa para poder efectuar </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operaciones financieras.</a:t>
            </a:r>
            <a:r>
              <a:rPr b="0" i="0" lang="en-US" sz="1800" u="none" cap="none" strike="noStrike">
                <a:solidFill>
                  <a:schemeClr val="dk1"/>
                </a:solidFill>
                <a:latin typeface="Arial"/>
                <a:ea typeface="Arial"/>
                <a:cs typeface="Arial"/>
                <a:sym typeface="Arial"/>
              </a:rPr>
              <a:t> </a:t>
            </a:r>
            <a:r>
              <a:rPr b="1" i="1"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None/>
            </a:pPr>
            <a:r>
              <a:t/>
            </a:r>
            <a:endParaRPr b="1" i="1" sz="1800" u="none" cap="none" strike="noStrike">
              <a:solidFill>
                <a:schemeClr val="dk1"/>
              </a:solidFill>
              <a:latin typeface="Arial"/>
              <a:ea typeface="Arial"/>
              <a:cs typeface="Arial"/>
              <a:sym typeface="Arial"/>
            </a:endParaRPr>
          </a:p>
        </p:txBody>
      </p:sp>
      <p:sp>
        <p:nvSpPr>
          <p:cNvPr id="386" name="Shape 386"/>
          <p:cNvSpPr txBox="1"/>
          <p:nvPr/>
        </p:nvSpPr>
        <p:spPr>
          <a:xfrm>
            <a:off x="228600" y="4600575"/>
            <a:ext cx="8534399" cy="2105024"/>
          </a:xfrm>
          <a:prstGeom prst="rect">
            <a:avLst/>
          </a:prstGeom>
          <a:solidFill>
            <a:srgbClr val="FF99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TARJETA DE CRÉDITO</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La tarjeta de crédito es un instrumento material de identificación del usuario, que puede ser una tarjeta plástica con una banda magnética, un microchip y un número en relieve. </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Emitida por un banco o entidad financiera autoriza a la persona a cuyo favor es emitida, a utilizarla como medio de pago en los negocios adheridos al sistema, mediante la exhibición de la misma y la constatación de su firma.  </a:t>
            </a:r>
          </a:p>
        </p:txBody>
      </p:sp>
      <p:pic>
        <p:nvPicPr>
          <p:cNvPr id="387" name="Shape 387"/>
          <p:cNvPicPr preferRelativeResize="0"/>
          <p:nvPr/>
        </p:nvPicPr>
        <p:blipFill rotWithShape="1">
          <a:blip r:embed="rId6">
            <a:alphaModFix/>
          </a:blip>
          <a:srcRect b="0" l="0" r="0" t="0"/>
          <a:stretch/>
        </p:blipFill>
        <p:spPr>
          <a:xfrm>
            <a:off x="5181600" y="1447800"/>
            <a:ext cx="3581399" cy="3152775"/>
          </a:xfrm>
          <a:prstGeom prst="rect">
            <a:avLst/>
          </a:prstGeom>
          <a:noFill/>
          <a:ln>
            <a:noFill/>
          </a:ln>
        </p:spPr>
      </p:pic>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91" name="Shape 391"/>
        <p:cNvGrpSpPr/>
        <p:nvPr/>
      </p:nvGrpSpPr>
      <p:grpSpPr>
        <a:xfrm>
          <a:off x="0" y="0"/>
          <a:ext cx="0" cy="0"/>
          <a:chOff x="0" y="0"/>
          <a:chExt cx="0" cy="0"/>
        </a:xfrm>
      </p:grpSpPr>
      <p:sp>
        <p:nvSpPr>
          <p:cNvPr id="392" name="Shape 392"/>
          <p:cNvSpPr txBox="1"/>
          <p:nvPr>
            <p:ph idx="4294967295" type="title"/>
          </p:nvPr>
        </p:nvSpPr>
        <p:spPr>
          <a:xfrm>
            <a:off x="3733800" y="457200"/>
            <a:ext cx="4953000" cy="1371599"/>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4400" u="none" cap="none" strike="noStrike">
                <a:solidFill>
                  <a:schemeClr val="dk1"/>
                </a:solidFill>
                <a:latin typeface="Arial"/>
                <a:ea typeface="Arial"/>
                <a:cs typeface="Arial"/>
                <a:sym typeface="Arial"/>
              </a:rPr>
              <a:t>PRESTAMOS</a:t>
            </a:r>
          </a:p>
        </p:txBody>
      </p:sp>
      <p:sp>
        <p:nvSpPr>
          <p:cNvPr id="393" name="Shape 393"/>
          <p:cNvSpPr txBox="1"/>
          <p:nvPr>
            <p:ph idx="4294967295" type="body"/>
          </p:nvPr>
        </p:nvSpPr>
        <p:spPr>
          <a:xfrm>
            <a:off x="152400" y="1600200"/>
            <a:ext cx="8534399" cy="3048000"/>
          </a:xfrm>
          <a:prstGeom prst="rect">
            <a:avLst/>
          </a:prstGeom>
          <a:solidFill>
            <a:srgbClr val="99CC00">
              <a:alpha val="30980"/>
            </a:srgbClr>
          </a:solid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lt2"/>
              </a:buClr>
              <a:buSzPct val="25000"/>
              <a:buFont typeface="Noto Sans Symbols"/>
              <a:buNone/>
            </a:pPr>
            <a:r>
              <a:rPr b="0" i="0" lang="en-US" sz="2800" u="none" cap="none" strike="noStrike">
                <a:solidFill>
                  <a:schemeClr val="dk1"/>
                </a:solidFill>
                <a:latin typeface="Arial"/>
                <a:ea typeface="Arial"/>
                <a:cs typeface="Arial"/>
                <a:sym typeface="Arial"/>
              </a:rPr>
              <a:t>Los préstamos son fondos provistos a una persona física o jurídica por una entidad financiera, con o sin garantía, a distintos plazos de vencimiento (corto, mediano o largo plazo). Su devolución puede ser en un solo pago o en cuotas periódicas, e implica el devengamiento y pago de intereses.</a:t>
            </a:r>
            <a:br>
              <a:rPr b="0" i="0" lang="en-US" sz="2800" u="none" cap="none" strike="noStrike">
                <a:solidFill>
                  <a:schemeClr val="dk1"/>
                </a:solidFill>
                <a:latin typeface="Arial"/>
                <a:ea typeface="Arial"/>
                <a:cs typeface="Arial"/>
                <a:sym typeface="Arial"/>
              </a:rPr>
            </a:br>
          </a:p>
        </p:txBody>
      </p:sp>
      <p:pic>
        <p:nvPicPr>
          <p:cNvPr id="394" name="Shape 394"/>
          <p:cNvPicPr preferRelativeResize="0"/>
          <p:nvPr>
            <p:ph idx="4294967295" type="body"/>
          </p:nvPr>
        </p:nvPicPr>
        <p:blipFill rotWithShape="1">
          <a:blip r:embed="rId3">
            <a:alphaModFix/>
          </a:blip>
          <a:srcRect b="0" l="0" r="0" t="0"/>
          <a:stretch/>
        </p:blipFill>
        <p:spPr>
          <a:xfrm>
            <a:off x="457200" y="457200"/>
            <a:ext cx="3009899" cy="609599"/>
          </a:xfrm>
          <a:prstGeom prst="rect">
            <a:avLst/>
          </a:prstGeom>
          <a:noFill/>
          <a:ln>
            <a:noFill/>
          </a:ln>
        </p:spPr>
      </p:pic>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98" name="Shape 398"/>
        <p:cNvGrpSpPr/>
        <p:nvPr/>
      </p:nvGrpSpPr>
      <p:grpSpPr>
        <a:xfrm>
          <a:off x="0" y="0"/>
          <a:ext cx="0" cy="0"/>
          <a:chOff x="0" y="0"/>
          <a:chExt cx="0" cy="0"/>
        </a:xfrm>
      </p:grpSpPr>
      <p:sp>
        <p:nvSpPr>
          <p:cNvPr id="399" name="Shape 399"/>
          <p:cNvSpPr txBox="1"/>
          <p:nvPr>
            <p:ph idx="4294967295" type="title"/>
          </p:nvPr>
        </p:nvSpPr>
        <p:spPr>
          <a:xfrm>
            <a:off x="4114800" y="457200"/>
            <a:ext cx="4572000" cy="1371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4000" u="none" cap="none" strike="noStrike">
                <a:solidFill>
                  <a:schemeClr val="dk1"/>
                </a:solidFill>
                <a:latin typeface="Arial"/>
                <a:ea typeface="Arial"/>
                <a:cs typeface="Arial"/>
                <a:sym typeface="Arial"/>
              </a:rPr>
              <a:t>COSTO DE </a:t>
            </a:r>
            <a:br>
              <a:rPr b="0" i="0" lang="en-US" sz="4000" u="none" cap="none" strike="noStrike">
                <a:solidFill>
                  <a:schemeClr val="dk1"/>
                </a:solidFill>
                <a:latin typeface="Arial"/>
                <a:ea typeface="Arial"/>
                <a:cs typeface="Arial"/>
                <a:sym typeface="Arial"/>
              </a:rPr>
            </a:br>
            <a:r>
              <a:rPr b="0" i="0" lang="en-US" sz="4000" u="none" cap="none" strike="noStrike">
                <a:solidFill>
                  <a:schemeClr val="dk1"/>
                </a:solidFill>
                <a:latin typeface="Arial"/>
                <a:ea typeface="Arial"/>
                <a:cs typeface="Arial"/>
                <a:sym typeface="Arial"/>
              </a:rPr>
              <a:t>FINANCIAMIENTO</a:t>
            </a:r>
          </a:p>
        </p:txBody>
      </p:sp>
      <p:sp>
        <p:nvSpPr>
          <p:cNvPr id="400" name="Shape 400"/>
          <p:cNvSpPr txBox="1"/>
          <p:nvPr>
            <p:ph idx="4294967295" type="body"/>
          </p:nvPr>
        </p:nvSpPr>
        <p:spPr>
          <a:xfrm>
            <a:off x="457200" y="1981200"/>
            <a:ext cx="8001000" cy="3886200"/>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lt2"/>
              </a:buClr>
              <a:buSzPct val="25000"/>
              <a:buFont typeface="Noto Sans Symbols"/>
              <a:buNone/>
            </a:pPr>
            <a:r>
              <a:rPr b="0" i="0" lang="en-US" sz="1800" u="none" cap="none" strike="noStrike">
                <a:solidFill>
                  <a:schemeClr val="dk1"/>
                </a:solidFill>
                <a:latin typeface="Arial"/>
                <a:ea typeface="Arial"/>
                <a:cs typeface="Arial"/>
                <a:sym typeface="Arial"/>
              </a:rPr>
              <a:t>El costo de financiamiento está formado por la tasa de interés y las comisiones pactadas, los sellados y todo gasto en que, por cualquier concepto, se incurra para la obtención del préstamo.</a:t>
            </a:r>
          </a:p>
          <a:p>
            <a:pPr indent="-342900" lvl="0" marL="342900" marR="0" rtl="0" algn="l">
              <a:lnSpc>
                <a:spcPct val="80000"/>
              </a:lnSpc>
              <a:spcBef>
                <a:spcPts val="360"/>
              </a:spcBef>
              <a:spcAft>
                <a:spcPts val="0"/>
              </a:spcAft>
              <a:buClr>
                <a:schemeClr val="lt2"/>
              </a:buClr>
              <a:buSzPct val="25000"/>
              <a:buFont typeface="Noto Sans Symbols"/>
              <a:buNone/>
            </a:pPr>
            <a:r>
              <a:rPr b="0" i="0" lang="en-US" sz="1800" u="none" cap="none" strike="noStrike">
                <a:solidFill>
                  <a:schemeClr val="dk1"/>
                </a:solidFill>
                <a:latin typeface="Arial"/>
                <a:ea typeface="Arial"/>
                <a:cs typeface="Arial"/>
                <a:sym typeface="Arial"/>
              </a:rPr>
              <a:t>El cliente que toma un crédito de un banco debe afrontar otros costos además de la tasa de interés, que son importantes en el costo total del crédito. </a:t>
            </a:r>
          </a:p>
          <a:p>
            <a:pPr indent="-342900" lvl="0" marL="342900" marR="0" rtl="0" algn="l">
              <a:lnSpc>
                <a:spcPct val="80000"/>
              </a:lnSpc>
              <a:spcBef>
                <a:spcPts val="360"/>
              </a:spcBef>
              <a:spcAft>
                <a:spcPts val="0"/>
              </a:spcAft>
              <a:buClr>
                <a:schemeClr val="lt2"/>
              </a:buClr>
              <a:buSzPct val="25000"/>
              <a:buFont typeface="Noto Sans Symbols"/>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80000"/>
              </a:lnSpc>
              <a:spcBef>
                <a:spcPts val="360"/>
              </a:spcBef>
              <a:spcAft>
                <a:spcPts val="0"/>
              </a:spcAft>
              <a:buClr>
                <a:schemeClr val="lt2"/>
              </a:buClr>
              <a:buSzPct val="25000"/>
              <a:buFont typeface="Noto Sans Symbols"/>
              <a:buNone/>
            </a:pPr>
            <a:r>
              <a:rPr b="0" i="0" lang="en-US" sz="1800" u="none" cap="none" strike="noStrike">
                <a:solidFill>
                  <a:schemeClr val="dk1"/>
                </a:solidFill>
                <a:latin typeface="Arial"/>
                <a:ea typeface="Arial"/>
                <a:cs typeface="Arial"/>
                <a:sym typeface="Arial"/>
              </a:rPr>
              <a:t>Esos costos conforman el llamado Costo Financiero Total (CFT), que incluye:</a:t>
            </a:r>
          </a:p>
          <a:p>
            <a:pPr indent="-342900" lvl="0" marL="342900" marR="0" rtl="0" algn="l">
              <a:lnSpc>
                <a:spcPct val="80000"/>
              </a:lnSpc>
              <a:spcBef>
                <a:spcPts val="360"/>
              </a:spcBef>
              <a:spcAft>
                <a:spcPts val="0"/>
              </a:spcAft>
              <a:buClr>
                <a:schemeClr val="lt2"/>
              </a:buClr>
              <a:buSzPct val="25000"/>
              <a:buFont typeface="Noto Sans Symbols"/>
              <a:buNone/>
            </a:pPr>
            <a:r>
              <a:rPr b="0" i="0" lang="en-US" sz="1800" u="none" cap="none" strike="noStrike">
                <a:solidFill>
                  <a:schemeClr val="dk1"/>
                </a:solidFill>
                <a:latin typeface="Arial"/>
                <a:ea typeface="Arial"/>
                <a:cs typeface="Arial"/>
                <a:sym typeface="Arial"/>
              </a:rPr>
              <a:t>	Gastos administrativos.</a:t>
            </a:r>
          </a:p>
          <a:p>
            <a:pPr indent="-342900" lvl="0" marL="342900" marR="0" rtl="0" algn="l">
              <a:lnSpc>
                <a:spcPct val="80000"/>
              </a:lnSpc>
              <a:spcBef>
                <a:spcPts val="360"/>
              </a:spcBef>
              <a:spcAft>
                <a:spcPts val="0"/>
              </a:spcAft>
              <a:buClr>
                <a:schemeClr val="lt2"/>
              </a:buClr>
              <a:buSzPct val="25000"/>
              <a:buFont typeface="Noto Sans Symbols"/>
              <a:buNone/>
            </a:pPr>
            <a:r>
              <a:rPr b="0" i="0" lang="en-US" sz="1800" u="none" cap="none" strike="noStrike">
                <a:solidFill>
                  <a:schemeClr val="dk1"/>
                </a:solidFill>
                <a:latin typeface="Arial"/>
                <a:ea typeface="Arial"/>
                <a:cs typeface="Arial"/>
                <a:sym typeface="Arial"/>
              </a:rPr>
              <a:t>	Gastos de otorgamiento. </a:t>
            </a:r>
          </a:p>
          <a:p>
            <a:pPr indent="-342900" lvl="0" marL="342900" marR="0" rtl="0" algn="l">
              <a:lnSpc>
                <a:spcPct val="80000"/>
              </a:lnSpc>
              <a:spcBef>
                <a:spcPts val="360"/>
              </a:spcBef>
              <a:spcAft>
                <a:spcPts val="0"/>
              </a:spcAft>
              <a:buClr>
                <a:schemeClr val="lt2"/>
              </a:buClr>
              <a:buSzPct val="25000"/>
              <a:buFont typeface="Noto Sans Symbols"/>
              <a:buNone/>
            </a:pPr>
            <a:r>
              <a:rPr b="0" i="0" lang="en-US" sz="1800" u="none" cap="none" strike="noStrike">
                <a:solidFill>
                  <a:schemeClr val="dk1"/>
                </a:solidFill>
                <a:latin typeface="Arial"/>
                <a:ea typeface="Arial"/>
                <a:cs typeface="Arial"/>
                <a:sym typeface="Arial"/>
              </a:rPr>
              <a:t>	Gastos de información al cliente. </a:t>
            </a:r>
          </a:p>
          <a:p>
            <a:pPr indent="-342900" lvl="0" marL="342900" marR="0" rtl="0" algn="l">
              <a:lnSpc>
                <a:spcPct val="80000"/>
              </a:lnSpc>
              <a:spcBef>
                <a:spcPts val="360"/>
              </a:spcBef>
              <a:spcAft>
                <a:spcPts val="0"/>
              </a:spcAft>
              <a:buClr>
                <a:schemeClr val="lt2"/>
              </a:buClr>
              <a:buSzPct val="25000"/>
              <a:buFont typeface="Noto Sans Symbols"/>
              <a:buNone/>
            </a:pPr>
            <a:r>
              <a:rPr b="0" i="0" lang="en-US" sz="1800" u="none" cap="none" strike="noStrike">
                <a:solidFill>
                  <a:schemeClr val="dk1"/>
                </a:solidFill>
                <a:latin typeface="Arial"/>
                <a:ea typeface="Arial"/>
                <a:cs typeface="Arial"/>
                <a:sym typeface="Arial"/>
              </a:rPr>
              <a:t>	Gastos de seguro.</a:t>
            </a:r>
          </a:p>
          <a:p>
            <a:pPr indent="-342900" lvl="0" marL="342900" marR="0" rtl="0" algn="l">
              <a:lnSpc>
                <a:spcPct val="80000"/>
              </a:lnSpc>
              <a:spcBef>
                <a:spcPts val="360"/>
              </a:spcBef>
              <a:spcAft>
                <a:spcPts val="0"/>
              </a:spcAft>
              <a:buClr>
                <a:schemeClr val="lt2"/>
              </a:buClr>
              <a:buSzPct val="25000"/>
              <a:buFont typeface="Noto Sans Symbols"/>
              <a:buNone/>
            </a:pPr>
            <a:r>
              <a:rPr b="0" i="0" lang="en-US" sz="1800" u="none" cap="none" strike="noStrike">
                <a:solidFill>
                  <a:schemeClr val="dk1"/>
                </a:solidFill>
                <a:latin typeface="Arial"/>
                <a:ea typeface="Arial"/>
                <a:cs typeface="Arial"/>
                <a:sym typeface="Arial"/>
              </a:rPr>
              <a:t>	Otros.   </a:t>
            </a:r>
          </a:p>
        </p:txBody>
      </p:sp>
      <p:pic>
        <p:nvPicPr>
          <p:cNvPr id="401" name="Shape 401"/>
          <p:cNvPicPr preferRelativeResize="0"/>
          <p:nvPr>
            <p:ph idx="4294967295" type="body"/>
          </p:nvPr>
        </p:nvPicPr>
        <p:blipFill rotWithShape="1">
          <a:blip r:embed="rId3">
            <a:alphaModFix/>
          </a:blip>
          <a:srcRect b="0" l="0" r="0" t="0"/>
          <a:stretch/>
        </p:blipFill>
        <p:spPr>
          <a:xfrm>
            <a:off x="419100" y="457200"/>
            <a:ext cx="3009899" cy="609599"/>
          </a:xfrm>
          <a:prstGeom prst="rect">
            <a:avLst/>
          </a:prstGeom>
          <a:noFill/>
          <a:ln>
            <a:noFill/>
          </a:ln>
        </p:spPr>
      </p:pic>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05" name="Shape 405"/>
        <p:cNvGrpSpPr/>
        <p:nvPr/>
      </p:nvGrpSpPr>
      <p:grpSpPr>
        <a:xfrm>
          <a:off x="0" y="0"/>
          <a:ext cx="0" cy="0"/>
          <a:chOff x="0" y="0"/>
          <a:chExt cx="0" cy="0"/>
        </a:xfrm>
      </p:grpSpPr>
      <p:sp>
        <p:nvSpPr>
          <p:cNvPr id="406" name="Shape 406"/>
          <p:cNvSpPr txBox="1"/>
          <p:nvPr>
            <p:ph idx="4294967295" type="title"/>
          </p:nvPr>
        </p:nvSpPr>
        <p:spPr>
          <a:xfrm>
            <a:off x="3619500" y="274637"/>
            <a:ext cx="5067300" cy="13255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4000" u="none" cap="none" strike="noStrike">
                <a:solidFill>
                  <a:srgbClr val="FF0000"/>
                </a:solidFill>
                <a:latin typeface="Arial"/>
                <a:ea typeface="Arial"/>
                <a:cs typeface="Arial"/>
                <a:sym typeface="Arial"/>
              </a:rPr>
              <a:t>C.F.T.</a:t>
            </a:r>
            <a:br>
              <a:rPr b="1" i="0" lang="en-US" sz="4000" u="none" cap="none" strike="noStrike">
                <a:solidFill>
                  <a:srgbClr val="FF0000"/>
                </a:solidFill>
                <a:latin typeface="Arial"/>
                <a:ea typeface="Arial"/>
                <a:cs typeface="Arial"/>
                <a:sym typeface="Arial"/>
              </a:rPr>
            </a:br>
            <a:r>
              <a:rPr b="1" i="0" lang="en-US" sz="2800" u="none" cap="none" strike="noStrike">
                <a:solidFill>
                  <a:srgbClr val="FF0000"/>
                </a:solidFill>
                <a:latin typeface="Arial"/>
                <a:ea typeface="Arial"/>
                <a:cs typeface="Arial"/>
                <a:sym typeface="Arial"/>
              </a:rPr>
              <a:t>Costo Financiero Total</a:t>
            </a:r>
            <a:r>
              <a:rPr b="0" i="0" lang="en-US" sz="4000" u="none" cap="none" strike="noStrike">
                <a:solidFill>
                  <a:schemeClr val="dk1"/>
                </a:solidFill>
                <a:latin typeface="Arial"/>
                <a:ea typeface="Arial"/>
                <a:cs typeface="Arial"/>
                <a:sym typeface="Arial"/>
              </a:rPr>
              <a:t> </a:t>
            </a:r>
          </a:p>
        </p:txBody>
      </p:sp>
      <p:sp>
        <p:nvSpPr>
          <p:cNvPr id="407" name="Shape 407"/>
          <p:cNvSpPr txBox="1"/>
          <p:nvPr>
            <p:ph idx="4294967295" type="body"/>
          </p:nvPr>
        </p:nvSpPr>
        <p:spPr>
          <a:xfrm>
            <a:off x="457200" y="1600200"/>
            <a:ext cx="7924799" cy="495300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lt2"/>
              </a:buClr>
              <a:buSzPct val="25000"/>
              <a:buFont typeface="Noto Sans Symbols"/>
              <a:buNone/>
            </a:pPr>
            <a:r>
              <a:t/>
            </a:r>
            <a:endParaRPr b="0" i="0" sz="2400" u="none" cap="none" strike="noStrike">
              <a:solidFill>
                <a:schemeClr val="dk1"/>
              </a:solidFill>
              <a:latin typeface="Arial"/>
              <a:ea typeface="Arial"/>
              <a:cs typeface="Arial"/>
              <a:sym typeface="Arial"/>
            </a:endParaRPr>
          </a:p>
          <a:p>
            <a:pPr indent="-342900" lvl="0" marL="342900" marR="0" rtl="0" algn="l">
              <a:lnSpc>
                <a:spcPct val="100000"/>
              </a:lnSpc>
              <a:spcBef>
                <a:spcPts val="480"/>
              </a:spcBef>
              <a:spcAft>
                <a:spcPts val="0"/>
              </a:spcAft>
              <a:buClr>
                <a:schemeClr val="lt2"/>
              </a:buClr>
              <a:buSzPct val="25000"/>
              <a:buFont typeface="Noto Sans Symbols"/>
              <a:buNone/>
            </a:pPr>
            <a:r>
              <a:rPr b="0" i="0" lang="en-US" sz="2400" u="none" cap="none" strike="noStrike">
                <a:solidFill>
                  <a:schemeClr val="dk1"/>
                </a:solidFill>
                <a:latin typeface="Arial"/>
                <a:ea typeface="Arial"/>
                <a:cs typeface="Arial"/>
                <a:sym typeface="Arial"/>
              </a:rPr>
              <a:t>El </a:t>
            </a:r>
            <a:r>
              <a:rPr b="1" i="1" lang="en-US" sz="2400" u="none" cap="none" strike="noStrike">
                <a:solidFill>
                  <a:srgbClr val="FF0000"/>
                </a:solidFill>
                <a:latin typeface="Arial"/>
                <a:ea typeface="Arial"/>
                <a:cs typeface="Arial"/>
                <a:sym typeface="Arial"/>
              </a:rPr>
              <a:t>Costo Financiero Total (CFT)</a:t>
            </a:r>
            <a:r>
              <a:rPr b="0" i="0" lang="en-US" sz="2400" u="none" cap="none" strike="noStrike">
                <a:solidFill>
                  <a:schemeClr val="dk1"/>
                </a:solidFill>
                <a:latin typeface="Arial"/>
                <a:ea typeface="Arial"/>
                <a:cs typeface="Arial"/>
                <a:sym typeface="Arial"/>
              </a:rPr>
              <a:t> es la principal variable que se debe tener en cuenta al elegir un préstamo personal, prendario o hipotecario, ya que es el mejor indicador del costo global que deberá afrontar el cliente. </a:t>
            </a:r>
          </a:p>
          <a:p>
            <a:pPr indent="-342900" lvl="0" marL="342900" marR="0" rtl="0" algn="l">
              <a:lnSpc>
                <a:spcPct val="100000"/>
              </a:lnSpc>
              <a:spcBef>
                <a:spcPts val="480"/>
              </a:spcBef>
              <a:spcAft>
                <a:spcPts val="0"/>
              </a:spcAft>
              <a:buClr>
                <a:schemeClr val="lt2"/>
              </a:buClr>
              <a:buSzPct val="25000"/>
              <a:buFont typeface="Noto Sans Symbols"/>
              <a:buNone/>
            </a:pPr>
            <a:r>
              <a:t/>
            </a:r>
            <a:endParaRPr b="0" i="0" sz="2400" u="none" cap="none" strike="noStrike">
              <a:solidFill>
                <a:schemeClr val="dk1"/>
              </a:solidFill>
              <a:latin typeface="Arial"/>
              <a:ea typeface="Arial"/>
              <a:cs typeface="Arial"/>
              <a:sym typeface="Arial"/>
            </a:endParaRPr>
          </a:p>
          <a:p>
            <a:pPr indent="-342900" lvl="0" marL="342900" marR="0" rtl="0" algn="l">
              <a:lnSpc>
                <a:spcPct val="100000"/>
              </a:lnSpc>
              <a:spcBef>
                <a:spcPts val="480"/>
              </a:spcBef>
              <a:spcAft>
                <a:spcPts val="0"/>
              </a:spcAft>
              <a:buClr>
                <a:schemeClr val="lt2"/>
              </a:buClr>
              <a:buSzPct val="25000"/>
              <a:buFont typeface="Noto Sans Symbols"/>
              <a:buNone/>
            </a:pPr>
            <a:r>
              <a:t/>
            </a:r>
            <a:endParaRPr b="0" i="0" sz="2400" u="none" cap="none" strike="noStrike">
              <a:solidFill>
                <a:schemeClr val="dk1"/>
              </a:solidFill>
              <a:latin typeface="Arial"/>
              <a:ea typeface="Arial"/>
              <a:cs typeface="Arial"/>
              <a:sym typeface="Arial"/>
            </a:endParaRPr>
          </a:p>
          <a:p>
            <a:pPr indent="-342900" lvl="0" marL="342900" marR="0" rtl="0" algn="l">
              <a:lnSpc>
                <a:spcPct val="100000"/>
              </a:lnSpc>
              <a:spcBef>
                <a:spcPts val="480"/>
              </a:spcBef>
              <a:spcAft>
                <a:spcPts val="0"/>
              </a:spcAft>
              <a:buClr>
                <a:schemeClr val="lt2"/>
              </a:buClr>
              <a:buSzPct val="25000"/>
              <a:buFont typeface="Noto Sans Symbols"/>
              <a:buNone/>
            </a:pPr>
            <a:r>
              <a:rPr b="0" i="0" lang="en-US" sz="2400" u="none" cap="none" strike="noStrike">
                <a:solidFill>
                  <a:schemeClr val="dk1"/>
                </a:solidFill>
                <a:latin typeface="Arial"/>
                <a:ea typeface="Arial"/>
                <a:cs typeface="Arial"/>
                <a:sym typeface="Arial"/>
              </a:rPr>
              <a:t>El </a:t>
            </a:r>
            <a:r>
              <a:rPr b="1" i="1" lang="en-US" sz="2400" u="none" cap="none" strike="noStrike">
                <a:solidFill>
                  <a:srgbClr val="FF0000"/>
                </a:solidFill>
                <a:latin typeface="Arial"/>
                <a:ea typeface="Arial"/>
                <a:cs typeface="Arial"/>
                <a:sym typeface="Arial"/>
              </a:rPr>
              <a:t>CFT</a:t>
            </a:r>
            <a:r>
              <a:rPr b="0" i="0" lang="en-US" sz="2400" u="none" cap="none" strike="noStrike">
                <a:solidFill>
                  <a:schemeClr val="dk1"/>
                </a:solidFill>
                <a:latin typeface="Arial"/>
                <a:ea typeface="Arial"/>
                <a:cs typeface="Arial"/>
                <a:sym typeface="Arial"/>
              </a:rPr>
              <a:t> está compuesto por la tasa de interés nominal anual (TNA) y por todos aquellos cargos asociados a la operación que no implican la retribución de un servicio efectivamente prestado o un genuino reintegro de gastos.</a:t>
            </a:r>
            <a:br>
              <a:rPr b="0" i="0" lang="en-US" sz="2400" u="none" cap="none" strike="noStrike">
                <a:solidFill>
                  <a:schemeClr val="dk1"/>
                </a:solidFill>
                <a:latin typeface="Arial"/>
                <a:ea typeface="Arial"/>
                <a:cs typeface="Arial"/>
                <a:sym typeface="Arial"/>
              </a:rPr>
            </a:br>
          </a:p>
        </p:txBody>
      </p:sp>
      <p:pic>
        <p:nvPicPr>
          <p:cNvPr id="408" name="Shape 408"/>
          <p:cNvPicPr preferRelativeResize="0"/>
          <p:nvPr>
            <p:ph idx="4294967295" type="body"/>
          </p:nvPr>
        </p:nvPicPr>
        <p:blipFill rotWithShape="1">
          <a:blip r:embed="rId3">
            <a:alphaModFix/>
          </a:blip>
          <a:srcRect b="0" l="0" r="0" t="0"/>
          <a:stretch/>
        </p:blipFill>
        <p:spPr>
          <a:xfrm>
            <a:off x="609600" y="533400"/>
            <a:ext cx="3009899" cy="609599"/>
          </a:xfrm>
          <a:prstGeom prst="rect">
            <a:avLst/>
          </a:prstGeom>
          <a:noFill/>
          <a:ln>
            <a:noFill/>
          </a:ln>
        </p:spPr>
      </p:pic>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12" name="Shape 412"/>
        <p:cNvGrpSpPr/>
        <p:nvPr/>
      </p:nvGrpSpPr>
      <p:grpSpPr>
        <a:xfrm>
          <a:off x="0" y="0"/>
          <a:ext cx="0" cy="0"/>
          <a:chOff x="0" y="0"/>
          <a:chExt cx="0" cy="0"/>
        </a:xfrm>
      </p:grpSpPr>
      <p:sp>
        <p:nvSpPr>
          <p:cNvPr id="413" name="Shape 413"/>
          <p:cNvSpPr txBox="1"/>
          <p:nvPr>
            <p:ph idx="4294967295" type="title"/>
          </p:nvPr>
        </p:nvSpPr>
        <p:spPr>
          <a:xfrm>
            <a:off x="3429000" y="609600"/>
            <a:ext cx="5638800" cy="17526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4000" u="none" cap="none" strike="noStrike">
                <a:solidFill>
                  <a:schemeClr val="dk1"/>
                </a:solidFill>
                <a:latin typeface="Arial"/>
                <a:ea typeface="Arial"/>
                <a:cs typeface="Arial"/>
                <a:sym typeface="Arial"/>
              </a:rPr>
              <a:t>COSTO FINANCIERO TOTAL</a:t>
            </a:r>
            <a:br>
              <a:rPr b="0" i="0" lang="en-US" sz="4000" u="none" cap="none" strike="noStrike">
                <a:solidFill>
                  <a:schemeClr val="dk1"/>
                </a:solidFill>
                <a:latin typeface="Arial"/>
                <a:ea typeface="Arial"/>
                <a:cs typeface="Arial"/>
                <a:sym typeface="Arial"/>
              </a:rPr>
            </a:br>
            <a:r>
              <a:rPr b="0" i="0" lang="en-US" sz="2800" u="none" cap="none" strike="noStrike">
                <a:solidFill>
                  <a:srgbClr val="FF0000"/>
                </a:solidFill>
                <a:latin typeface="Arial"/>
                <a:ea typeface="Arial"/>
                <a:cs typeface="Arial"/>
                <a:sym typeface="Arial"/>
              </a:rPr>
              <a:t>EJEMPLO</a:t>
            </a:r>
          </a:p>
        </p:txBody>
      </p:sp>
      <p:pic>
        <p:nvPicPr>
          <p:cNvPr id="414" name="Shape 414"/>
          <p:cNvPicPr preferRelativeResize="0"/>
          <p:nvPr>
            <p:ph idx="4294967295" type="body"/>
          </p:nvPr>
        </p:nvPicPr>
        <p:blipFill rotWithShape="1">
          <a:blip r:embed="rId3">
            <a:alphaModFix/>
          </a:blip>
          <a:srcRect b="0" l="0" r="0" t="0"/>
          <a:stretch/>
        </p:blipFill>
        <p:spPr>
          <a:xfrm>
            <a:off x="533400" y="2514600"/>
            <a:ext cx="7989887" cy="3962399"/>
          </a:xfrm>
          <a:prstGeom prst="rect">
            <a:avLst/>
          </a:prstGeom>
          <a:noFill/>
          <a:ln>
            <a:noFill/>
          </a:ln>
        </p:spPr>
      </p:pic>
      <p:pic>
        <p:nvPicPr>
          <p:cNvPr id="415" name="Shape 415"/>
          <p:cNvPicPr preferRelativeResize="0"/>
          <p:nvPr>
            <p:ph idx="4294967295" type="body"/>
          </p:nvPr>
        </p:nvPicPr>
        <p:blipFill rotWithShape="1">
          <a:blip r:embed="rId4">
            <a:alphaModFix/>
          </a:blip>
          <a:srcRect b="0" l="0" r="0" t="0"/>
          <a:stretch/>
        </p:blipFill>
        <p:spPr>
          <a:xfrm>
            <a:off x="457200" y="533400"/>
            <a:ext cx="3009899" cy="609599"/>
          </a:xfrm>
          <a:prstGeom prst="rect">
            <a:avLst/>
          </a:prstGeom>
          <a:noFill/>
          <a:ln>
            <a:noFill/>
          </a:ln>
        </p:spPr>
      </p:pic>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19" name="Shape 419"/>
        <p:cNvGrpSpPr/>
        <p:nvPr/>
      </p:nvGrpSpPr>
      <p:grpSpPr>
        <a:xfrm>
          <a:off x="0" y="0"/>
          <a:ext cx="0" cy="0"/>
          <a:chOff x="0" y="0"/>
          <a:chExt cx="0" cy="0"/>
        </a:xfrm>
      </p:grpSpPr>
      <p:pic>
        <p:nvPicPr>
          <p:cNvPr id="420" name="Shape 420"/>
          <p:cNvPicPr preferRelativeResize="0"/>
          <p:nvPr/>
        </p:nvPicPr>
        <p:blipFill rotWithShape="1">
          <a:blip r:embed="rId3">
            <a:alphaModFix/>
          </a:blip>
          <a:srcRect b="0" l="0" r="0" t="0"/>
          <a:stretch/>
        </p:blipFill>
        <p:spPr>
          <a:xfrm>
            <a:off x="263525" y="1466850"/>
            <a:ext cx="8610599" cy="209549"/>
          </a:xfrm>
          <a:prstGeom prst="rect">
            <a:avLst/>
          </a:prstGeom>
          <a:noFill/>
          <a:ln>
            <a:noFill/>
          </a:ln>
        </p:spPr>
      </p:pic>
      <p:pic>
        <p:nvPicPr>
          <p:cNvPr id="421" name="Shape 421"/>
          <p:cNvPicPr preferRelativeResize="0"/>
          <p:nvPr/>
        </p:nvPicPr>
        <p:blipFill rotWithShape="1">
          <a:blip r:embed="rId4">
            <a:alphaModFix/>
          </a:blip>
          <a:srcRect b="0" l="0" r="0" t="0"/>
          <a:stretch/>
        </p:blipFill>
        <p:spPr>
          <a:xfrm>
            <a:off x="263525" y="1444625"/>
            <a:ext cx="8626474" cy="5114925"/>
          </a:xfrm>
          <a:prstGeom prst="rect">
            <a:avLst/>
          </a:prstGeom>
          <a:noFill/>
          <a:ln>
            <a:noFill/>
          </a:ln>
        </p:spPr>
      </p:pic>
      <p:pic>
        <p:nvPicPr>
          <p:cNvPr id="422" name="Shape 422"/>
          <p:cNvPicPr preferRelativeResize="0"/>
          <p:nvPr/>
        </p:nvPicPr>
        <p:blipFill rotWithShape="1">
          <a:blip r:embed="rId5">
            <a:alphaModFix/>
          </a:blip>
          <a:srcRect b="0" l="0" r="0" t="0"/>
          <a:stretch/>
        </p:blipFill>
        <p:spPr>
          <a:xfrm>
            <a:off x="381000" y="609600"/>
            <a:ext cx="3013074" cy="608011"/>
          </a:xfrm>
          <a:prstGeom prst="rect">
            <a:avLst/>
          </a:prstGeom>
          <a:noFill/>
          <a:ln>
            <a:noFill/>
          </a:ln>
        </p:spPr>
      </p:pic>
      <p:sp>
        <p:nvSpPr>
          <p:cNvPr id="423" name="Shape 423"/>
          <p:cNvSpPr txBox="1"/>
          <p:nvPr/>
        </p:nvSpPr>
        <p:spPr>
          <a:xfrm>
            <a:off x="2743200" y="441325"/>
            <a:ext cx="6324600" cy="100647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3200" u="none" cap="none" strike="noStrike">
                <a:solidFill>
                  <a:srgbClr val="BB4F59"/>
                </a:solidFill>
                <a:latin typeface="Arial"/>
                <a:ea typeface="Arial"/>
                <a:cs typeface="Arial"/>
                <a:sym typeface="Arial"/>
              </a:rPr>
              <a:t>PRESTAMOS A</a:t>
            </a:r>
            <a:r>
              <a:rPr b="1" i="0" lang="en-US" sz="3600" u="none" cap="none" strike="noStrike">
                <a:solidFill>
                  <a:srgbClr val="BB4F59"/>
                </a:solidFill>
                <a:latin typeface="Arial"/>
                <a:ea typeface="Arial"/>
                <a:cs typeface="Arial"/>
                <a:sym typeface="Arial"/>
              </a:rPr>
              <a:t>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INVERSORES Y CONSUMIDORES</a:t>
            </a:r>
          </a:p>
        </p:txBody>
      </p:sp>
      <p:sp>
        <p:nvSpPr>
          <p:cNvPr id="424" name="Shape 424"/>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 </a:t>
            </a:r>
          </a:p>
        </p:txBody>
      </p:sp>
      <p:sp>
        <p:nvSpPr>
          <p:cNvPr id="425" name="Shape 425"/>
          <p:cNvSpPr txBox="1"/>
          <p:nvPr/>
        </p:nvSpPr>
        <p:spPr>
          <a:xfrm>
            <a:off x="355600" y="1524000"/>
            <a:ext cx="8534399" cy="100647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ADELANTOS Y PRESTAMOS</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Los préstamos son deudas del público con el banco, por ellos el banco recibe un interés, asociado a una tasa de interés activa.</a:t>
            </a:r>
            <a:r>
              <a:rPr b="0" i="0" lang="en-US" sz="1800" u="none" cap="none" strike="noStrike">
                <a:solidFill>
                  <a:schemeClr val="dk1"/>
                </a:solidFill>
                <a:latin typeface="Arial"/>
                <a:ea typeface="Arial"/>
                <a:cs typeface="Arial"/>
                <a:sym typeface="Arial"/>
              </a:rPr>
              <a:t> </a:t>
            </a:r>
          </a:p>
        </p:txBody>
      </p:sp>
      <p:sp>
        <p:nvSpPr>
          <p:cNvPr id="426" name="Shape 426"/>
          <p:cNvSpPr txBox="1"/>
          <p:nvPr/>
        </p:nvSpPr>
        <p:spPr>
          <a:xfrm>
            <a:off x="381000" y="2667000"/>
            <a:ext cx="8534399" cy="100647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CRÉDITOS</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Las cuentas de créditos son operaciones con activos rentables, concedidas a los clientes por un cierto plazo y hasta una suma determinada. </a:t>
            </a:r>
          </a:p>
        </p:txBody>
      </p:sp>
      <p:sp>
        <p:nvSpPr>
          <p:cNvPr id="427" name="Shape 427"/>
          <p:cNvSpPr txBox="1"/>
          <p:nvPr/>
        </p:nvSpPr>
        <p:spPr>
          <a:xfrm>
            <a:off x="381000" y="3810000"/>
            <a:ext cx="8534399" cy="1555750"/>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DESCUENTO DE DOCUMENTOS</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El descuento de documentos como vía de financiación a las empresas consiste en una operación por la cual un banco anticipa el importe de un crédito pecuniario que éstas tienen contra un tercero, con previa deducción de los intereses y a cambio de la cesión de crédito mismo.</a:t>
            </a:r>
          </a:p>
        </p:txBody>
      </p:sp>
      <p:sp>
        <p:nvSpPr>
          <p:cNvPr id="428" name="Shape 428"/>
          <p:cNvSpPr txBox="1"/>
          <p:nvPr/>
        </p:nvSpPr>
        <p:spPr>
          <a:xfrm>
            <a:off x="339725" y="5486400"/>
            <a:ext cx="8534399" cy="100647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CARTERA DE VALORES</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Los activos rentables, también pueden usarse para constituir una cartera de valores tanto públicos como privados que mejoren la rentabilidad del banco.</a:t>
            </a:r>
          </a:p>
        </p:txBody>
      </p:sp>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Píxel">
  <a:themeElements>
    <a:clrScheme name="Píxel">
      <a:dk1>
        <a:srgbClr val="000000"/>
      </a:dk1>
      <a:lt1>
        <a:srgbClr val="FFFFFF"/>
      </a:lt1>
      <a:dk2>
        <a:srgbClr val="000000"/>
      </a:dk2>
      <a:lt2>
        <a:srgbClr val="00007D"/>
      </a:lt2>
      <a:accent1>
        <a:srgbClr val="9999FF"/>
      </a:accent1>
      <a:accent2>
        <a:srgbClr val="9999CC"/>
      </a:accent2>
      <a:accent3>
        <a:srgbClr val="FFFFFF"/>
      </a:accent3>
      <a:accent4>
        <a:srgbClr val="9999FF"/>
      </a:accent4>
      <a:accent5>
        <a:srgbClr val="9999CC"/>
      </a:accent5>
      <a:accent6>
        <a:srgbClr val="FFFFFF"/>
      </a:accent6>
      <a:hlink>
        <a:srgbClr val="666699"/>
      </a:hlink>
      <a:folHlink>
        <a:srgbClr val="CCCC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