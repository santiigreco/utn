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themeOverride+xml" PartName="/ppt/theme/themeOverr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embedTrueTypeFonts="1" strictFirstAndLastChars="0" saveSubsetFonts="1">
  <p:sldMasterIdLst>
    <p:sldMasterId id="214748365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y="6858000" cx="9144000"/>
  <p:notesSz cx="6858000" cy="9144000"/>
  <p:embeddedFontLst>
    <p:embeddedFont>
      <p:font typeface="Garamond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Garamond-bold.fntdata"/><Relationship Id="rId12" Type="http://schemas.openxmlformats.org/officeDocument/2006/relationships/slide" Target="slides/slide8.xml"/><Relationship Id="rId34" Type="http://schemas.openxmlformats.org/officeDocument/2006/relationships/font" Target="fonts/Garamond-regular.fntdata"/><Relationship Id="rId15" Type="http://schemas.openxmlformats.org/officeDocument/2006/relationships/slide" Target="slides/slide11.xml"/><Relationship Id="rId37" Type="http://schemas.openxmlformats.org/officeDocument/2006/relationships/font" Target="fonts/Garamond-boldItalic.fntdata"/><Relationship Id="rId14" Type="http://schemas.openxmlformats.org/officeDocument/2006/relationships/slide" Target="slides/slide10.xml"/><Relationship Id="rId36" Type="http://schemas.openxmlformats.org/officeDocument/2006/relationships/font" Target="fonts/Garamond-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2" name="Shape 42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9" name="Shape 49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8" name="Shape 58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6" name="Shape 66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4" name="Shape 74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85" name="Shape 85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2" name="Shape 92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8" name="Shape 98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21" name="Shape 121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42" name="Shape 142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61" name="Shape 161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82" name="Shape 182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03" name="Shape 203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23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31" name="Shape 231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26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61" name="Shape 261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29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96" name="Shape 296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32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23" name="Shape 323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hape 34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44" name="Shape 344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hape 36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67" name="Shape 367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Shape 37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75" name="Shape 375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Shape 38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81" name="Shape 381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Shape 39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99" name="Shape 399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41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19" name="Shape 419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Shape 42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25" name="Shape 425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Shape 45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58" name="Shape 458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Shape 46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64" name="Shape 464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Shape 46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70" name="Shape 470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Shape 50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01" name="Shape 501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Shape 50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07" name="Shape 507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, text on left, text on righ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 txBox="1"/>
          <p:nvPr>
            <p:ph idx="10" type="dt"/>
          </p:nvPr>
        </p:nvSpPr>
        <p:spPr>
          <a:xfrm>
            <a:off x="457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16" name="Shape 1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17" name="Shape 17"/>
          <p:cNvSpPr txBox="1"/>
          <p:nvPr>
            <p:ph idx="12" type="sldNum"/>
          </p:nvPr>
        </p:nvSpPr>
        <p:spPr>
          <a:xfrm>
            <a:off x="6553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 txBox="1"/>
          <p:nvPr>
            <p:ph type="ctrTitle"/>
          </p:nvPr>
        </p:nvSpPr>
        <p:spPr>
          <a:xfrm>
            <a:off x="914400" y="1524000"/>
            <a:ext cx="7623174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20" name="Shape 20"/>
          <p:cNvSpPr txBox="1"/>
          <p:nvPr>
            <p:ph idx="1" type="subTitle"/>
          </p:nvPr>
        </p:nvSpPr>
        <p:spPr>
          <a:xfrm>
            <a:off x="1981200" y="3962400"/>
            <a:ext cx="6553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19075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Noto Symbol"/>
              <a:buChar char="■"/>
              <a:defRPr/>
            </a:lvl1pPr>
            <a:lvl2pPr indent="-227965" lvl="1" marL="669925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Font typeface="Noto Symbol"/>
              <a:buChar char="❑"/>
              <a:defRPr/>
            </a:lvl2pPr>
            <a:lvl3pPr indent="-271144" lvl="2" marL="10223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Font typeface="Noto Symbol"/>
              <a:buChar char="■"/>
              <a:defRPr/>
            </a:lvl3pPr>
            <a:lvl4pPr indent="-234950" lvl="3" marL="13398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Font typeface="Noto Symbol"/>
              <a:buChar char="❑"/>
              <a:defRPr/>
            </a:lvl4pPr>
            <a:lvl5pPr indent="-252411" lvl="4" marL="1681161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Noto Symbol"/>
              <a:buChar char="▪"/>
              <a:defRPr/>
            </a:lvl5pPr>
            <a:lvl6pPr indent="-276225" lvl="5" marL="202247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Noto Symbol"/>
              <a:buChar char="▪"/>
              <a:defRPr/>
            </a:lvl6pPr>
            <a:lvl7pPr indent="-323850" lvl="6" marL="27051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Noto Symbol"/>
              <a:buChar char="▪"/>
              <a:defRPr/>
            </a:lvl7pPr>
            <a:lvl8pPr indent="-395287" lvl="7" marL="372903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Noto Symbol"/>
              <a:buChar char="▪"/>
              <a:defRPr/>
            </a:lvl8pPr>
            <a:lvl9pPr indent="-490537" lvl="8" marL="509428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Noto Symbol"/>
              <a:buChar char="▪"/>
              <a:defRPr/>
            </a:lvl9pPr>
          </a:lstStyle>
          <a:p/>
        </p:txBody>
      </p:sp>
      <p:sp>
        <p:nvSpPr>
          <p:cNvPr id="21" name="Shape 21"/>
          <p:cNvSpPr txBox="1"/>
          <p:nvPr>
            <p:ph idx="10" type="dt"/>
          </p:nvPr>
        </p:nvSpPr>
        <p:spPr>
          <a:xfrm>
            <a:off x="457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11" type="ftr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23" name="Shape 23"/>
          <p:cNvSpPr txBox="1"/>
          <p:nvPr>
            <p:ph idx="12" type="sldNum"/>
          </p:nvPr>
        </p:nvSpPr>
        <p:spPr>
          <a:xfrm>
            <a:off x="6553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Garamond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</a:p>
        </p:txBody>
      </p:sp>
      <p:sp>
        <p:nvSpPr>
          <p:cNvPr id="24" name="Shape 24"/>
          <p:cNvSpPr/>
          <p:nvPr/>
        </p:nvSpPr>
        <p:spPr>
          <a:xfrm>
            <a:off x="609600" y="1219200"/>
            <a:ext cx="7924800" cy="914400"/>
          </a:xfrm>
          <a:custGeom>
            <a:pathLst>
              <a:path extrusionOk="0" h="1000" w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cap="flat" cmpd="sng" w="25400">
            <a:solidFill>
              <a:schemeClr val="accent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cxnSp>
        <p:nvCxnSpPr>
          <p:cNvPr id="25" name="Shape 25"/>
          <p:cNvCxnSpPr/>
          <p:nvPr/>
        </p:nvCxnSpPr>
        <p:spPr>
          <a:xfrm>
            <a:off x="1981200" y="3962400"/>
            <a:ext cx="6511924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AndTwoObj">
  <p:cSld name="Title, text on left, two objects on righ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 txBox="1"/>
          <p:nvPr>
            <p:ph idx="10" type="dt"/>
          </p:nvPr>
        </p:nvSpPr>
        <p:spPr>
          <a:xfrm>
            <a:off x="457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28" name="Shape 2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29" name="Shape 29"/>
          <p:cNvSpPr txBox="1"/>
          <p:nvPr>
            <p:ph idx="12" type="sldNum"/>
          </p:nvPr>
        </p:nvSpPr>
        <p:spPr>
          <a:xfrm>
            <a:off x="6553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32" name="Shape 32"/>
          <p:cNvSpPr txBox="1"/>
          <p:nvPr>
            <p:ph idx="1" type="body"/>
          </p:nvPr>
        </p:nvSpPr>
        <p:spPr>
          <a:xfrm>
            <a:off x="457200" y="1600200"/>
            <a:ext cx="8229600" cy="45307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19075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Noto Symbol"/>
              <a:buChar char="■"/>
              <a:defRPr/>
            </a:lvl1pPr>
            <a:lvl2pPr indent="-227965" lvl="1" marL="6699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Font typeface="Noto Symbol"/>
              <a:buChar char="❑"/>
              <a:defRPr/>
            </a:lvl2pPr>
            <a:lvl3pPr indent="-271144" lvl="2" marL="10223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Font typeface="Noto Symbol"/>
              <a:buChar char="■"/>
              <a:defRPr/>
            </a:lvl3pPr>
            <a:lvl4pPr indent="-234950" lvl="3" marL="13398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Font typeface="Noto Symbol"/>
              <a:buChar char="❑"/>
              <a:defRPr/>
            </a:lvl4pPr>
            <a:lvl5pPr indent="-252411" lvl="4" marL="168116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Noto Symbol"/>
              <a:buChar char="▪"/>
              <a:defRPr/>
            </a:lvl5pPr>
            <a:lvl6pPr indent="-276225" lvl="5" marL="2022475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Noto Symbol"/>
              <a:buChar char="▪"/>
              <a:defRPr/>
            </a:lvl6pPr>
            <a:lvl7pPr indent="-323850" lvl="6" marL="27051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Noto Symbol"/>
              <a:buChar char="▪"/>
              <a:defRPr/>
            </a:lvl7pPr>
            <a:lvl8pPr indent="-395287" lvl="7" marL="372903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Noto Symbol"/>
              <a:buChar char="▪"/>
              <a:defRPr/>
            </a:lvl8pPr>
            <a:lvl9pPr indent="-490537" lvl="8" marL="509428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Noto Symbol"/>
              <a:buChar char="▪"/>
              <a:defRPr/>
            </a:lvl9pPr>
          </a:lstStyle>
          <a:p/>
        </p:txBody>
      </p:sp>
      <p:sp>
        <p:nvSpPr>
          <p:cNvPr id="33" name="Shape 33"/>
          <p:cNvSpPr txBox="1"/>
          <p:nvPr>
            <p:ph idx="10" type="dt"/>
          </p:nvPr>
        </p:nvSpPr>
        <p:spPr>
          <a:xfrm>
            <a:off x="457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34" name="Shape 3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35" name="Shape 35"/>
          <p:cNvSpPr txBox="1"/>
          <p:nvPr>
            <p:ph idx="12" type="sldNum"/>
          </p:nvPr>
        </p:nvSpPr>
        <p:spPr>
          <a:xfrm>
            <a:off x="6553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fourObj">
  <p:cSld name="Title and four 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/>
          <p:nvPr>
            <p:ph idx="10" type="dt"/>
          </p:nvPr>
        </p:nvSpPr>
        <p:spPr>
          <a:xfrm>
            <a:off x="457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38" name="Shape 3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39" name="Shape 39"/>
          <p:cNvSpPr txBox="1"/>
          <p:nvPr>
            <p:ph idx="12" type="sldNum"/>
          </p:nvPr>
        </p:nvSpPr>
        <p:spPr>
          <a:xfrm>
            <a:off x="6553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0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457200" y="1600200"/>
            <a:ext cx="8229600" cy="45307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19075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Noto Symbol"/>
              <a:buChar char="■"/>
              <a:defRPr/>
            </a:lvl1pPr>
            <a:lvl2pPr indent="-227965" lvl="1" marL="669925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Font typeface="Noto Symbol"/>
              <a:buChar char="❑"/>
              <a:defRPr/>
            </a:lvl2pPr>
            <a:lvl3pPr indent="-271144" lvl="2" marL="10223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Font typeface="Noto Symbol"/>
              <a:buChar char="■"/>
              <a:defRPr/>
            </a:lvl3pPr>
            <a:lvl4pPr indent="-234950" lvl="3" marL="13398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Font typeface="Noto Symbol"/>
              <a:buChar char="❑"/>
              <a:defRPr/>
            </a:lvl4pPr>
            <a:lvl5pPr indent="-252411" lvl="4" marL="1681161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Noto Symbol"/>
              <a:buChar char="▪"/>
              <a:defRPr/>
            </a:lvl5pPr>
            <a:lvl6pPr indent="-276225" lvl="5" marL="202247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Noto Symbol"/>
              <a:buChar char="▪"/>
              <a:defRPr/>
            </a:lvl6pPr>
            <a:lvl7pPr indent="-323850" lvl="6" marL="27051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Noto Symbol"/>
              <a:buChar char="▪"/>
              <a:defRPr/>
            </a:lvl7pPr>
            <a:lvl8pPr indent="-395287" lvl="7" marL="372903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Noto Symbol"/>
              <a:buChar char="▪"/>
              <a:defRPr/>
            </a:lvl8pPr>
            <a:lvl9pPr indent="-490537" lvl="8" marL="509428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Noto Symbol"/>
              <a:buChar char="▪"/>
              <a:defRPr/>
            </a:lvl9pPr>
          </a:lstStyle>
          <a:p/>
        </p:txBody>
      </p:sp>
      <p:sp>
        <p:nvSpPr>
          <p:cNvPr id="8" name="Shape 8"/>
          <p:cNvSpPr txBox="1"/>
          <p:nvPr>
            <p:ph idx="10" type="dt"/>
          </p:nvPr>
        </p:nvSpPr>
        <p:spPr>
          <a:xfrm>
            <a:off x="457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9" name="Shape 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10" name="Shape 10"/>
          <p:cNvSpPr txBox="1"/>
          <p:nvPr>
            <p:ph idx="12" type="sldNum"/>
          </p:nvPr>
        </p:nvSpPr>
        <p:spPr>
          <a:xfrm>
            <a:off x="6553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Garamond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</a:p>
        </p:txBody>
      </p:sp>
      <p:sp>
        <p:nvSpPr>
          <p:cNvPr id="11" name="Shape 11"/>
          <p:cNvSpPr/>
          <p:nvPr/>
        </p:nvSpPr>
        <p:spPr>
          <a:xfrm>
            <a:off x="381000" y="228600"/>
            <a:ext cx="8229599" cy="609600"/>
          </a:xfrm>
          <a:custGeom>
            <a:pathLst>
              <a:path extrusionOk="0" h="1000" w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cxnSp>
        <p:nvCxnSpPr>
          <p:cNvPr id="12" name="Shape 12"/>
          <p:cNvCxnSpPr/>
          <p:nvPr/>
        </p:nvCxnSpPr>
        <p:spPr>
          <a:xfrm>
            <a:off x="457200" y="6172200"/>
            <a:ext cx="8229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/>
            <a:headEnd len="med" w="med" type="none"/>
            <a:tailEnd len="med" w="med" type="none"/>
          </a:ln>
        </p:spPr>
      </p:cxnSp>
      <p:pic>
        <p:nvPicPr>
          <p:cNvPr id="13" name="Shape 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5651500" y="404812"/>
            <a:ext cx="3009899" cy="60959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0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04.jpg"/><Relationship Id="rId4" Type="http://schemas.openxmlformats.org/officeDocument/2006/relationships/image" Target="../media/image0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02.jpg"/><Relationship Id="rId4" Type="http://schemas.openxmlformats.org/officeDocument/2006/relationships/image" Target="../media/image0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05.jpg"/><Relationship Id="rId4" Type="http://schemas.openxmlformats.org/officeDocument/2006/relationships/image" Target="../media/image0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06.png"/><Relationship Id="rId4" Type="http://schemas.openxmlformats.org/officeDocument/2006/relationships/image" Target="../media/image03.jpg"/><Relationship Id="rId5" Type="http://schemas.openxmlformats.org/officeDocument/2006/relationships/image" Target="../media/image11.jpg"/><Relationship Id="rId6" Type="http://schemas.openxmlformats.org/officeDocument/2006/relationships/image" Target="../media/image08.jpg"/><Relationship Id="rId7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07.jpg"/><Relationship Id="rId4" Type="http://schemas.openxmlformats.org/officeDocument/2006/relationships/image" Target="../media/image12.jpg"/><Relationship Id="rId5" Type="http://schemas.openxmlformats.org/officeDocument/2006/relationships/image" Target="../media/image09.jpg"/><Relationship Id="rId6" Type="http://schemas.openxmlformats.org/officeDocument/2006/relationships/image" Target="../media/image13.jpg"/><Relationship Id="rId7" Type="http://schemas.openxmlformats.org/officeDocument/2006/relationships/image" Target="../media/image0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07.jpg"/><Relationship Id="rId4" Type="http://schemas.openxmlformats.org/officeDocument/2006/relationships/image" Target="../media/image12.jpg"/><Relationship Id="rId5" Type="http://schemas.openxmlformats.org/officeDocument/2006/relationships/image" Target="../media/image09.jpg"/><Relationship Id="rId6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09.jpg"/><Relationship Id="rId5" Type="http://schemas.openxmlformats.org/officeDocument/2006/relationships/image" Target="../media/image12.jpg"/><Relationship Id="rId6" Type="http://schemas.openxmlformats.org/officeDocument/2006/relationships/image" Target="../media/image0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07.jpg"/><Relationship Id="rId4" Type="http://schemas.openxmlformats.org/officeDocument/2006/relationships/image" Target="../media/image12.jpg"/><Relationship Id="rId5" Type="http://schemas.openxmlformats.org/officeDocument/2006/relationships/image" Target="../media/image09.jpg"/><Relationship Id="rId6" Type="http://schemas.openxmlformats.org/officeDocument/2006/relationships/image" Target="../media/image1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07.jpg"/><Relationship Id="rId4" Type="http://schemas.openxmlformats.org/officeDocument/2006/relationships/image" Target="../media/image12.jpg"/><Relationship Id="rId5" Type="http://schemas.openxmlformats.org/officeDocument/2006/relationships/image" Target="../media/image09.jpg"/><Relationship Id="rId6" Type="http://schemas.openxmlformats.org/officeDocument/2006/relationships/image" Target="../media/image1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Relationship Id="rId4" Type="http://schemas.openxmlformats.org/officeDocument/2006/relationships/image" Target="../media/image1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/>
          <p:nvPr>
            <p:ph idx="4294967295" type="title"/>
          </p:nvPr>
        </p:nvSpPr>
        <p:spPr>
          <a:xfrm>
            <a:off x="457200" y="488950"/>
            <a:ext cx="2962275" cy="923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Garamond"/>
              <a:buNone/>
            </a:pPr>
            <a:r>
              <a:rPr b="0" i="0" lang="en-US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CLASE N° 4</a:t>
            </a:r>
          </a:p>
        </p:txBody>
      </p:sp>
      <p:sp>
        <p:nvSpPr>
          <p:cNvPr id="45" name="Shape 45"/>
          <p:cNvSpPr txBox="1"/>
          <p:nvPr>
            <p:ph idx="4294967295" type="body"/>
          </p:nvPr>
        </p:nvSpPr>
        <p:spPr>
          <a:xfrm>
            <a:off x="457200" y="1600200"/>
            <a:ext cx="8218487" cy="4530724"/>
          </a:xfrm>
          <a:prstGeom prst="rect">
            <a:avLst/>
          </a:prstGeom>
          <a:solidFill>
            <a:srgbClr val="008000">
              <a:alpha val="7843"/>
            </a:srgbClr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4999"/>
              <a:buFont typeface="Noto Symbol"/>
              <a:buChar char="■"/>
            </a:pPr>
            <a:r>
              <a:rPr b="1" i="1" lang="en-US" sz="2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Equilibrio del consumidor. </a:t>
            </a: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4999"/>
              <a:buFont typeface="Noto Symbol"/>
              <a:buChar char="■"/>
            </a:pPr>
            <a:r>
              <a:rPr b="1" i="1" lang="en-US" sz="2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Escala de preferencias. </a:t>
            </a: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4999"/>
              <a:buFont typeface="Noto Symbol"/>
              <a:buChar char="■"/>
            </a:pPr>
            <a:r>
              <a:rPr b="1" i="1" lang="en-US" sz="2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Curvas de indiferencia. </a:t>
            </a: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4999"/>
              <a:buFont typeface="Noto Symbol"/>
              <a:buChar char="■"/>
            </a:pPr>
            <a:r>
              <a:rPr b="1" i="1" lang="en-US" sz="2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Principio de equimarginalidad. </a:t>
            </a: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4999"/>
              <a:buFont typeface="Noto Symbol"/>
              <a:buChar char="■"/>
            </a:pPr>
            <a:r>
              <a:rPr b="1" i="1" lang="en-US" sz="2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Recta de presupuesto. </a:t>
            </a: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4999"/>
              <a:buFont typeface="Noto Symbol"/>
              <a:buChar char="■"/>
            </a:pPr>
            <a:r>
              <a:rPr b="1" i="1" lang="en-US" sz="2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Efecto renta, efecto sustitución y efecto precio.</a:t>
            </a: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4999"/>
              <a:buFont typeface="Noto Symbol"/>
              <a:buChar char="■"/>
            </a:pPr>
            <a:r>
              <a:rPr b="1" i="1" lang="en-US" sz="2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 Curva  renta consumo. </a:t>
            </a: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4999"/>
              <a:buFont typeface="Noto Symbol"/>
              <a:buChar char="■"/>
            </a:pPr>
            <a:r>
              <a:rPr b="1" i="1" lang="en-US" sz="2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Curva precio consumo. </a:t>
            </a: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4999"/>
              <a:buFont typeface="Noto Symbol"/>
              <a:buChar char="■"/>
            </a:pPr>
            <a:r>
              <a:rPr b="1" i="1" lang="en-US" sz="2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Deducción de la ley de la demanda. </a:t>
            </a: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4999"/>
              <a:buFont typeface="Noto Symbol"/>
              <a:buChar char="■"/>
            </a:pPr>
            <a:r>
              <a:rPr b="1" i="1" lang="en-US" sz="2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Sensibilidad de la demanda frente a variaciones de determinadas variables. </a:t>
            </a: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4999"/>
              <a:buFont typeface="Noto Symbol"/>
              <a:buChar char="■"/>
            </a:pPr>
            <a:r>
              <a:rPr b="1" i="1" lang="en-US" sz="2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Concepto de elasticidad. </a:t>
            </a: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4999"/>
              <a:buFont typeface="Noto Symbol"/>
              <a:buChar char="■"/>
            </a:pPr>
            <a:r>
              <a:rPr b="1" i="1" lang="en-US" sz="2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Distintos tipos de elasticidad. Elasticidad precio, ingreso, y cruzada. </a:t>
            </a:r>
          </a:p>
        </p:txBody>
      </p:sp>
      <p:pic>
        <p:nvPicPr>
          <p:cNvPr id="46" name="Shape 46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1500" y="404812"/>
            <a:ext cx="3009899" cy="60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/>
          <p:nvPr>
            <p:ph type="ctrTitle"/>
          </p:nvPr>
        </p:nvSpPr>
        <p:spPr>
          <a:xfrm>
            <a:off x="914400" y="1524000"/>
            <a:ext cx="5026025" cy="89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Garamond"/>
              <a:buNone/>
            </a:pPr>
            <a:r>
              <a:rPr b="0" i="0" lang="en-US" sz="46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Teoría del consumo</a:t>
            </a:r>
          </a:p>
        </p:txBody>
      </p:sp>
      <p:sp>
        <p:nvSpPr>
          <p:cNvPr id="52" name="Shape 52"/>
          <p:cNvSpPr txBox="1"/>
          <p:nvPr>
            <p:ph idx="1" type="subTitle"/>
          </p:nvPr>
        </p:nvSpPr>
        <p:spPr>
          <a:xfrm>
            <a:off x="1981200" y="3962400"/>
            <a:ext cx="6553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 </a:t>
            </a:r>
          </a:p>
        </p:txBody>
      </p:sp>
      <p:sp>
        <p:nvSpPr>
          <p:cNvPr id="53" name="Shape 53"/>
          <p:cNvSpPr txBox="1"/>
          <p:nvPr/>
        </p:nvSpPr>
        <p:spPr>
          <a:xfrm>
            <a:off x="1908175" y="4365625"/>
            <a:ext cx="6408737" cy="1016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Analiza  el comportamiento de la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unidad de consumo (familia)</a:t>
            </a:r>
            <a:r>
              <a:rPr b="0" i="0" lang="en-US" sz="2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 y su manifestación en el mercado, o sea la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demanda.</a:t>
            </a:r>
          </a:p>
        </p:txBody>
      </p:sp>
      <p:pic>
        <p:nvPicPr>
          <p:cNvPr id="54" name="Shape 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0787" y="1412875"/>
            <a:ext cx="2381249" cy="160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Shape 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1500" y="404812"/>
            <a:ext cx="3009899" cy="60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 txBox="1"/>
          <p:nvPr>
            <p:ph idx="4294967295"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Garamond"/>
              <a:buNone/>
            </a:pPr>
            <a: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Familia</a:t>
            </a:r>
            <a:b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(Unidad de Consumo)</a:t>
            </a:r>
          </a:p>
        </p:txBody>
      </p:sp>
      <p:sp>
        <p:nvSpPr>
          <p:cNvPr id="61" name="Shape 61"/>
          <p:cNvSpPr txBox="1"/>
          <p:nvPr>
            <p:ph idx="4294967295" type="body"/>
          </p:nvPr>
        </p:nvSpPr>
        <p:spPr>
          <a:xfrm>
            <a:off x="457200" y="1600200"/>
            <a:ext cx="4038599" cy="453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rPr b="0" i="1" lang="en-US" sz="26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Es la </a:t>
            </a:r>
            <a:r>
              <a:rPr b="0" i="1" lang="en-US" sz="26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proveedora</a:t>
            </a:r>
            <a:r>
              <a:rPr b="0" i="1" lang="en-US" sz="26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 de factores de la producción y la </a:t>
            </a:r>
            <a:r>
              <a:rPr b="0" i="1" lang="en-US" sz="26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demandante</a:t>
            </a:r>
            <a:r>
              <a:rPr b="0" i="1" lang="en-US" sz="26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 de bienes y servicios útiles</a:t>
            </a:r>
            <a:r>
              <a:rPr b="1" i="1" lang="en-US" sz="26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 </a:t>
            </a:r>
          </a:p>
        </p:txBody>
      </p:sp>
      <p:pic>
        <p:nvPicPr>
          <p:cNvPr id="62" name="Shape 62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987" y="3860800"/>
            <a:ext cx="1795461" cy="1970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Shape 63"/>
          <p:cNvPicPr preferRelativeResize="0"/>
          <p:nvPr>
            <p:ph idx="4294967295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3800" y="1268412"/>
            <a:ext cx="3735386" cy="494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 txBox="1"/>
          <p:nvPr>
            <p:ph type="ctrTitle"/>
          </p:nvPr>
        </p:nvSpPr>
        <p:spPr>
          <a:xfrm>
            <a:off x="914400" y="1524000"/>
            <a:ext cx="7623174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Garamond"/>
              <a:buNone/>
            </a:pPr>
            <a:r>
              <a:rPr b="0" i="0" lang="en-US" sz="50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Utilidad de un bien</a:t>
            </a:r>
          </a:p>
        </p:txBody>
      </p:sp>
      <p:sp>
        <p:nvSpPr>
          <p:cNvPr id="69" name="Shape 69"/>
          <p:cNvSpPr txBox="1"/>
          <p:nvPr>
            <p:ph idx="1" type="subTitle"/>
          </p:nvPr>
        </p:nvSpPr>
        <p:spPr>
          <a:xfrm>
            <a:off x="250825" y="4465637"/>
            <a:ext cx="8713786" cy="2058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La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aptitud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o capacidad</a:t>
            </a:r>
            <a:r>
              <a:rPr b="0" i="0" lang="en-US" sz="24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 que tiene un bien para satisfacer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necesidades</a:t>
            </a: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Aptitud (objetiva) * Necesidad (subjetiva) = Utilidad (subjetiva)</a:t>
            </a:r>
          </a:p>
        </p:txBody>
      </p:sp>
      <p:pic>
        <p:nvPicPr>
          <p:cNvPr id="70" name="Shape 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25" y="1196975"/>
            <a:ext cx="2022475" cy="273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Shape 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1500" y="404812"/>
            <a:ext cx="3009899" cy="60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 txBox="1"/>
          <p:nvPr>
            <p:ph idx="4294967295" type="title"/>
          </p:nvPr>
        </p:nvSpPr>
        <p:spPr>
          <a:xfrm>
            <a:off x="396875" y="854075"/>
            <a:ext cx="5543549" cy="7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Garamond"/>
              <a:buNone/>
            </a:pPr>
            <a:r>
              <a:rPr b="0" i="0" lang="en-US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Distintos tipos de utilidad</a:t>
            </a:r>
          </a:p>
        </p:txBody>
      </p:sp>
      <p:sp>
        <p:nvSpPr>
          <p:cNvPr id="77" name="Shape 77"/>
          <p:cNvSpPr txBox="1"/>
          <p:nvPr>
            <p:ph idx="4294967295" type="body"/>
          </p:nvPr>
        </p:nvSpPr>
        <p:spPr>
          <a:xfrm>
            <a:off x="457200" y="1600200"/>
            <a:ext cx="4038599" cy="453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4999"/>
              <a:buFont typeface="Noto Symbol"/>
              <a:buChar char="■"/>
            </a:pPr>
            <a:r>
              <a:rPr b="0" i="0" lang="en-US" sz="26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Utilidad parcial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ct val="64999"/>
              <a:buFont typeface="Noto Symbol"/>
              <a:buChar char="■"/>
            </a:pPr>
            <a:r>
              <a:rPr b="0" i="0" lang="en-US" sz="26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Utilidad marginal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ct val="64999"/>
              <a:buFont typeface="Noto Symbol"/>
              <a:buChar char="■"/>
            </a:pPr>
            <a:r>
              <a:rPr b="0" i="0" lang="en-US" sz="26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Utilidad total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ct val="64999"/>
              <a:buFont typeface="Noto Symbol"/>
              <a:buChar char="■"/>
            </a:pPr>
            <a:r>
              <a:rPr b="0" i="0" lang="en-US" sz="26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Utilidad final</a:t>
            </a:r>
          </a:p>
        </p:txBody>
      </p:sp>
      <p:pic>
        <p:nvPicPr>
          <p:cNvPr id="78" name="Shape 78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5825" y="3068636"/>
            <a:ext cx="1143000" cy="2189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Shape 79"/>
          <p:cNvPicPr preferRelativeResize="0"/>
          <p:nvPr>
            <p:ph idx="4294967295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40200" y="2060575"/>
            <a:ext cx="2571749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Shape 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04025" y="1196975"/>
            <a:ext cx="1904999" cy="1428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Shape 8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5650" y="4076700"/>
            <a:ext cx="1428749" cy="190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Shape 8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49561" y="4149725"/>
            <a:ext cx="2443161" cy="1833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/>
          <p:nvPr>
            <p:ph type="title"/>
          </p:nvPr>
        </p:nvSpPr>
        <p:spPr>
          <a:xfrm>
            <a:off x="457200" y="277812"/>
            <a:ext cx="6851649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Garamond"/>
              <a:buNone/>
            </a:pPr>
            <a: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Ley de</a:t>
            </a:r>
            <a:b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Utilidades marginales decrecientes</a:t>
            </a:r>
          </a:p>
        </p:txBody>
      </p:sp>
      <p:pic>
        <p:nvPicPr>
          <p:cNvPr id="88" name="Shape 88"/>
          <p:cNvPicPr preferRelativeResize="0"/>
          <p:nvPr>
            <p:ph idx="2" type="chart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1050" y="1700211"/>
            <a:ext cx="5448300" cy="429736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Shape 89"/>
          <p:cNvSpPr/>
          <p:nvPr/>
        </p:nvSpPr>
        <p:spPr>
          <a:xfrm>
            <a:off x="2700336" y="4257675"/>
            <a:ext cx="144462" cy="97155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 txBox="1"/>
          <p:nvPr>
            <p:ph type="title"/>
          </p:nvPr>
        </p:nvSpPr>
        <p:spPr>
          <a:xfrm>
            <a:off x="-107950" y="115886"/>
            <a:ext cx="597535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Garamond"/>
              <a:buNone/>
            </a:pPr>
            <a: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Teoría de las preferencias </a:t>
            </a:r>
            <a:b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del Consumidor: Supuestos </a:t>
            </a:r>
          </a:p>
        </p:txBody>
      </p:sp>
      <p:sp>
        <p:nvSpPr>
          <p:cNvPr id="95" name="Shape 95"/>
          <p:cNvSpPr txBox="1"/>
          <p:nvPr>
            <p:ph idx="1" type="body"/>
          </p:nvPr>
        </p:nvSpPr>
        <p:spPr>
          <a:xfrm>
            <a:off x="179386" y="1484312"/>
            <a:ext cx="8686800" cy="5113337"/>
          </a:xfrm>
          <a:prstGeom prst="rect">
            <a:avLst/>
          </a:prstGeom>
          <a:solidFill>
            <a:srgbClr val="FFFF00">
              <a:alpha val="90980"/>
            </a:srgbClr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La naturaleza de los Bienes.-</a:t>
            </a:r>
            <a:r>
              <a:rPr b="0" i="0" lang="en-US" sz="1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 </a:t>
            </a:r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objetos de elección están asociados a los servicios de satisfacción de necesidades facilitados por los bienes, antes que los bienes mismos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-342900" lvl="0" marL="342900" marR="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Información Completa.</a:t>
            </a:r>
          </a:p>
          <a:p>
            <a:pPr indent="-342900" lvl="0" marL="342900" marR="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Unidad de Consumo (familia) tiene una información total acerca de todo lo que se relacione con sus decisiones de consumo. La Unidad de Consumo (familia) conoce:</a:t>
            </a:r>
          </a:p>
          <a:p>
            <a:pPr indent="-327025" lvl="1" marL="669925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85000"/>
              <a:buFont typeface="Noto Symbol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Todo el conjunto de bienes y servicios que existen en el mercado.</a:t>
            </a:r>
          </a:p>
          <a:p>
            <a:pPr indent="-327025" lvl="1" marL="669925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85000"/>
              <a:buFont typeface="Noto Symbol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capacidad técnica de cada bien y servicio, para satisfacer una necesidad.</a:t>
            </a:r>
          </a:p>
          <a:p>
            <a:pPr indent="-327025" lvl="1" marL="669925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85000"/>
              <a:buFont typeface="Noto Symbol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precio exacto de todos los bienes.</a:t>
            </a:r>
          </a:p>
          <a:p>
            <a:pPr indent="-327025" lvl="1" marL="669925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85000"/>
              <a:buFont typeface="Noto Symbol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 los precios no cambiarán como resultado de sus acciones en el mercado.</a:t>
            </a:r>
          </a:p>
          <a:p>
            <a:pPr indent="-327025" lvl="1" marL="669925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85000"/>
              <a:buFont typeface="Noto Symbol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magnitud de sus ingresos durante el tiempo planteado.</a:t>
            </a:r>
          </a:p>
          <a:p>
            <a:pPr indent="-361950" lvl="2" marL="102235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Preferencia / Indiferencia del Consumidor.-</a:t>
            </a:r>
            <a:r>
              <a:rPr b="0" i="0" lang="en-US" sz="1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 </a:t>
            </a:r>
          </a:p>
          <a:p>
            <a:pPr indent="-342900" lvl="0" marL="342900" marR="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Unidad de Consumo (familia) debe tener la capacidad de ordenar distintos conjuntos de bienes alternativos y determinar su orden de preferencia entre ellos. Para dos conjuntos de bienes cualesquiera, X e Y:</a:t>
            </a:r>
          </a:p>
          <a:p>
            <a:pPr indent="-361950" lvl="2" marL="102235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85000"/>
              <a:buFont typeface="Noto Symbol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unidad de consumo preferirá a X si X proporciona mayor satisfacción que Y.</a:t>
            </a:r>
          </a:p>
          <a:p>
            <a:pPr indent="-361950" lvl="2" marL="102235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85000"/>
              <a:buFont typeface="Noto Symbol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Cuando X es preferido por la unidad de consumo a Y, e Y es preferido a Z; X es preferido a Z. (Relación transitiva) </a:t>
            </a:r>
          </a:p>
          <a:p>
            <a:pPr indent="-361950" lvl="2" marL="102235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85000"/>
              <a:buFont typeface="Noto Symbol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unidad de consumo preferirá al conjunto de bienes X, si es mas abundante que el conjunto de bienes Y.</a:t>
            </a:r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 txBox="1"/>
          <p:nvPr>
            <p:ph type="title"/>
          </p:nvPr>
        </p:nvSpPr>
        <p:spPr>
          <a:xfrm>
            <a:off x="590550" y="908050"/>
            <a:ext cx="8229600" cy="7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Garamond"/>
              <a:buNone/>
            </a:pPr>
            <a: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CURVA DE INDIFERENCIA</a:t>
            </a:r>
          </a:p>
        </p:txBody>
      </p:sp>
      <p:sp>
        <p:nvSpPr>
          <p:cNvPr id="101" name="Shape 101"/>
          <p:cNvSpPr txBox="1"/>
          <p:nvPr>
            <p:ph idx="1" type="body"/>
          </p:nvPr>
        </p:nvSpPr>
        <p:spPr>
          <a:xfrm>
            <a:off x="3924300" y="2133600"/>
            <a:ext cx="4835525" cy="2087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Una </a:t>
            </a:r>
            <a:r>
              <a:rPr b="0" i="0" lang="en-US" sz="25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curva de indiferencia</a:t>
            </a:r>
            <a:r>
              <a:rPr b="0" i="0" lang="en-US" sz="2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representa a todas aquellas decisiones de consumo que proporcionan al consumidor el mismo nivel de satisfacción.</a:t>
            </a:r>
          </a:p>
        </p:txBody>
      </p:sp>
      <p:sp>
        <p:nvSpPr>
          <p:cNvPr id="102" name="Shape 102"/>
          <p:cNvSpPr/>
          <p:nvPr/>
        </p:nvSpPr>
        <p:spPr>
          <a:xfrm>
            <a:off x="827087" y="1557337"/>
            <a:ext cx="3579812" cy="3463925"/>
          </a:xfrm>
          <a:custGeom>
            <a:pathLst>
              <a:path extrusionOk="0" h="2182" w="2255">
                <a:moveTo>
                  <a:pt x="0" y="0"/>
                </a:moveTo>
                <a:cubicBezTo>
                  <a:pt x="7" y="91"/>
                  <a:pt x="12" y="364"/>
                  <a:pt x="43" y="548"/>
                </a:cubicBezTo>
                <a:cubicBezTo>
                  <a:pt x="74" y="732"/>
                  <a:pt x="98" y="927"/>
                  <a:pt x="185" y="1105"/>
                </a:cubicBezTo>
                <a:cubicBezTo>
                  <a:pt x="272" y="1283"/>
                  <a:pt x="391" y="1475"/>
                  <a:pt x="565" y="1616"/>
                </a:cubicBezTo>
                <a:cubicBezTo>
                  <a:pt x="739" y="1757"/>
                  <a:pt x="1001" y="1863"/>
                  <a:pt x="1230" y="1949"/>
                </a:cubicBezTo>
                <a:cubicBezTo>
                  <a:pt x="1459" y="2035"/>
                  <a:pt x="1765" y="2095"/>
                  <a:pt x="1936" y="2134"/>
                </a:cubicBezTo>
                <a:cubicBezTo>
                  <a:pt x="2107" y="2173"/>
                  <a:pt x="2189" y="2172"/>
                  <a:pt x="2255" y="2182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cxnSp>
        <p:nvCxnSpPr>
          <p:cNvPr id="103" name="Shape 103"/>
          <p:cNvCxnSpPr/>
          <p:nvPr/>
        </p:nvCxnSpPr>
        <p:spPr>
          <a:xfrm>
            <a:off x="539750" y="1268412"/>
            <a:ext cx="0" cy="424814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104" name="Shape 104"/>
          <p:cNvCxnSpPr/>
          <p:nvPr/>
        </p:nvCxnSpPr>
        <p:spPr>
          <a:xfrm>
            <a:off x="395287" y="5300662"/>
            <a:ext cx="41052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105" name="Shape 105"/>
          <p:cNvSpPr txBox="1"/>
          <p:nvPr/>
        </p:nvSpPr>
        <p:spPr>
          <a:xfrm>
            <a:off x="3636962" y="4510087"/>
            <a:ext cx="358775" cy="287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Ut</a:t>
            </a:r>
          </a:p>
        </p:txBody>
      </p:sp>
      <p:sp>
        <p:nvSpPr>
          <p:cNvPr id="106" name="Shape 106"/>
          <p:cNvSpPr txBox="1"/>
          <p:nvPr/>
        </p:nvSpPr>
        <p:spPr>
          <a:xfrm>
            <a:off x="180975" y="1054100"/>
            <a:ext cx="358775" cy="287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Y</a:t>
            </a:r>
          </a:p>
        </p:txBody>
      </p:sp>
      <p:sp>
        <p:nvSpPr>
          <p:cNvPr id="107" name="Shape 107"/>
          <p:cNvSpPr txBox="1"/>
          <p:nvPr/>
        </p:nvSpPr>
        <p:spPr>
          <a:xfrm>
            <a:off x="3995737" y="5373687"/>
            <a:ext cx="358775" cy="287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X</a:t>
            </a:r>
          </a:p>
        </p:txBody>
      </p:sp>
      <p:cxnSp>
        <p:nvCxnSpPr>
          <p:cNvPr id="108" name="Shape 108"/>
          <p:cNvCxnSpPr/>
          <p:nvPr/>
        </p:nvCxnSpPr>
        <p:spPr>
          <a:xfrm>
            <a:off x="539750" y="2565400"/>
            <a:ext cx="36036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109" name="Shape 109"/>
          <p:cNvCxnSpPr/>
          <p:nvPr/>
        </p:nvCxnSpPr>
        <p:spPr>
          <a:xfrm>
            <a:off x="539750" y="4292600"/>
            <a:ext cx="143986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110" name="Shape 110"/>
          <p:cNvCxnSpPr/>
          <p:nvPr/>
        </p:nvCxnSpPr>
        <p:spPr>
          <a:xfrm>
            <a:off x="900112" y="2565400"/>
            <a:ext cx="0" cy="27352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111" name="Shape 111"/>
          <p:cNvCxnSpPr/>
          <p:nvPr/>
        </p:nvCxnSpPr>
        <p:spPr>
          <a:xfrm>
            <a:off x="1979611" y="4292600"/>
            <a:ext cx="0" cy="10080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112" name="Shape 112"/>
          <p:cNvSpPr txBox="1"/>
          <p:nvPr/>
        </p:nvSpPr>
        <p:spPr>
          <a:xfrm>
            <a:off x="900112" y="2420936"/>
            <a:ext cx="358775" cy="287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A</a:t>
            </a:r>
          </a:p>
        </p:txBody>
      </p:sp>
      <p:sp>
        <p:nvSpPr>
          <p:cNvPr id="113" name="Shape 113"/>
          <p:cNvSpPr txBox="1"/>
          <p:nvPr/>
        </p:nvSpPr>
        <p:spPr>
          <a:xfrm>
            <a:off x="1979611" y="4078287"/>
            <a:ext cx="358775" cy="287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B</a:t>
            </a:r>
          </a:p>
        </p:txBody>
      </p:sp>
      <p:sp>
        <p:nvSpPr>
          <p:cNvPr id="114" name="Shape 114"/>
          <p:cNvSpPr txBox="1"/>
          <p:nvPr/>
        </p:nvSpPr>
        <p:spPr>
          <a:xfrm>
            <a:off x="179386" y="2420936"/>
            <a:ext cx="358775" cy="287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Y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A</a:t>
            </a:r>
          </a:p>
        </p:txBody>
      </p:sp>
      <p:sp>
        <p:nvSpPr>
          <p:cNvPr id="115" name="Shape 115"/>
          <p:cNvSpPr txBox="1"/>
          <p:nvPr/>
        </p:nvSpPr>
        <p:spPr>
          <a:xfrm>
            <a:off x="179386" y="4078287"/>
            <a:ext cx="358775" cy="358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Y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B</a:t>
            </a:r>
          </a:p>
        </p:txBody>
      </p:sp>
      <p:sp>
        <p:nvSpPr>
          <p:cNvPr id="116" name="Shape 116"/>
          <p:cNvSpPr txBox="1"/>
          <p:nvPr/>
        </p:nvSpPr>
        <p:spPr>
          <a:xfrm>
            <a:off x="757237" y="5302250"/>
            <a:ext cx="358775" cy="287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X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A</a:t>
            </a:r>
          </a:p>
        </p:txBody>
      </p:sp>
      <p:sp>
        <p:nvSpPr>
          <p:cNvPr id="117" name="Shape 117"/>
          <p:cNvSpPr txBox="1"/>
          <p:nvPr/>
        </p:nvSpPr>
        <p:spPr>
          <a:xfrm>
            <a:off x="1835150" y="5302250"/>
            <a:ext cx="358775" cy="287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X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B</a:t>
            </a:r>
          </a:p>
        </p:txBody>
      </p:sp>
      <p:sp>
        <p:nvSpPr>
          <p:cNvPr id="118" name="Shape 118"/>
          <p:cNvSpPr txBox="1"/>
          <p:nvPr/>
        </p:nvSpPr>
        <p:spPr>
          <a:xfrm>
            <a:off x="395287" y="6237287"/>
            <a:ext cx="8748712" cy="547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Batang"/>
              <a:buNone/>
            </a:pPr>
            <a:r>
              <a:rPr b="1" i="1" lang="en-US" sz="18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El consumidor permanece indiferente ante las posibilidades de consumo A o B</a:t>
            </a:r>
            <a:r>
              <a:rPr b="1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 </a:t>
            </a:r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/>
          <p:nvPr>
            <p:ph type="title"/>
          </p:nvPr>
        </p:nvSpPr>
        <p:spPr>
          <a:xfrm>
            <a:off x="755650" y="998537"/>
            <a:ext cx="8229600" cy="558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Garamond"/>
              <a:buNone/>
            </a:pPr>
            <a: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TASA MARGINAL DE SUSTITUCIÓN</a:t>
            </a:r>
          </a:p>
        </p:txBody>
      </p:sp>
      <p:cxnSp>
        <p:nvCxnSpPr>
          <p:cNvPr id="124" name="Shape 124"/>
          <p:cNvCxnSpPr/>
          <p:nvPr/>
        </p:nvCxnSpPr>
        <p:spPr>
          <a:xfrm>
            <a:off x="539750" y="620712"/>
            <a:ext cx="0" cy="48958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125" name="Shape 125"/>
          <p:cNvCxnSpPr/>
          <p:nvPr/>
        </p:nvCxnSpPr>
        <p:spPr>
          <a:xfrm>
            <a:off x="395287" y="5300662"/>
            <a:ext cx="49688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126" name="Shape 126"/>
          <p:cNvSpPr/>
          <p:nvPr/>
        </p:nvSpPr>
        <p:spPr>
          <a:xfrm>
            <a:off x="827087" y="1557337"/>
            <a:ext cx="3579812" cy="3463925"/>
          </a:xfrm>
          <a:custGeom>
            <a:pathLst>
              <a:path extrusionOk="0" h="2182" w="2255">
                <a:moveTo>
                  <a:pt x="0" y="0"/>
                </a:moveTo>
                <a:cubicBezTo>
                  <a:pt x="7" y="91"/>
                  <a:pt x="12" y="364"/>
                  <a:pt x="43" y="548"/>
                </a:cubicBezTo>
                <a:cubicBezTo>
                  <a:pt x="74" y="732"/>
                  <a:pt x="98" y="927"/>
                  <a:pt x="185" y="1105"/>
                </a:cubicBezTo>
                <a:cubicBezTo>
                  <a:pt x="272" y="1283"/>
                  <a:pt x="391" y="1475"/>
                  <a:pt x="565" y="1616"/>
                </a:cubicBezTo>
                <a:cubicBezTo>
                  <a:pt x="739" y="1757"/>
                  <a:pt x="1001" y="1863"/>
                  <a:pt x="1230" y="1949"/>
                </a:cubicBezTo>
                <a:cubicBezTo>
                  <a:pt x="1459" y="2035"/>
                  <a:pt x="1765" y="2095"/>
                  <a:pt x="1936" y="2134"/>
                </a:cubicBezTo>
                <a:cubicBezTo>
                  <a:pt x="2107" y="2173"/>
                  <a:pt x="2189" y="2172"/>
                  <a:pt x="2255" y="2182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cxnSp>
        <p:nvCxnSpPr>
          <p:cNvPr id="127" name="Shape 127"/>
          <p:cNvCxnSpPr/>
          <p:nvPr/>
        </p:nvCxnSpPr>
        <p:spPr>
          <a:xfrm>
            <a:off x="539750" y="404812"/>
            <a:ext cx="647700" cy="4032249"/>
          </a:xfrm>
          <a:prstGeom prst="straightConnector1">
            <a:avLst/>
          </a:prstGeom>
          <a:noFill/>
          <a:ln cap="flat" cmpd="sng" w="9525">
            <a:solidFill>
              <a:srgbClr val="000080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128" name="Shape 128"/>
          <p:cNvCxnSpPr/>
          <p:nvPr/>
        </p:nvCxnSpPr>
        <p:spPr>
          <a:xfrm>
            <a:off x="1330325" y="4221162"/>
            <a:ext cx="3457574" cy="1079499"/>
          </a:xfrm>
          <a:prstGeom prst="straightConnector1">
            <a:avLst/>
          </a:prstGeom>
          <a:noFill/>
          <a:ln cap="flat" cmpd="sng" w="9525">
            <a:solidFill>
              <a:srgbClr val="003300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129" name="Shape 129"/>
          <p:cNvCxnSpPr/>
          <p:nvPr/>
        </p:nvCxnSpPr>
        <p:spPr>
          <a:xfrm>
            <a:off x="900112" y="4437062"/>
            <a:ext cx="288925" cy="0"/>
          </a:xfrm>
          <a:prstGeom prst="straightConnector1">
            <a:avLst/>
          </a:prstGeom>
          <a:noFill/>
          <a:ln cap="flat" cmpd="sng" w="9525">
            <a:solidFill>
              <a:srgbClr val="000080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130" name="Shape 130"/>
          <p:cNvCxnSpPr/>
          <p:nvPr/>
        </p:nvCxnSpPr>
        <p:spPr>
          <a:xfrm>
            <a:off x="900112" y="2565400"/>
            <a:ext cx="0" cy="1871662"/>
          </a:xfrm>
          <a:prstGeom prst="straightConnector1">
            <a:avLst/>
          </a:prstGeom>
          <a:noFill/>
          <a:ln cap="flat" cmpd="sng" w="9525">
            <a:solidFill>
              <a:srgbClr val="000080"/>
            </a:solidFill>
            <a:prstDash val="solid"/>
            <a:miter/>
            <a:headEnd len="med" w="med" type="oval"/>
            <a:tailEnd len="med" w="med" type="none"/>
          </a:ln>
        </p:spPr>
      </p:cxnSp>
      <p:cxnSp>
        <p:nvCxnSpPr>
          <p:cNvPr id="131" name="Shape 131"/>
          <p:cNvCxnSpPr/>
          <p:nvPr/>
        </p:nvCxnSpPr>
        <p:spPr>
          <a:xfrm>
            <a:off x="1331912" y="4724400"/>
            <a:ext cx="1655761" cy="0"/>
          </a:xfrm>
          <a:prstGeom prst="straightConnector1">
            <a:avLst/>
          </a:prstGeom>
          <a:noFill/>
          <a:ln cap="flat" cmpd="sng" w="9525">
            <a:solidFill>
              <a:srgbClr val="003300"/>
            </a:solidFill>
            <a:prstDash val="solid"/>
            <a:miter/>
            <a:headEnd len="med" w="med" type="none"/>
            <a:tailEnd len="med" w="med" type="oval"/>
          </a:ln>
        </p:spPr>
      </p:cxnSp>
      <p:cxnSp>
        <p:nvCxnSpPr>
          <p:cNvPr id="132" name="Shape 132"/>
          <p:cNvCxnSpPr/>
          <p:nvPr/>
        </p:nvCxnSpPr>
        <p:spPr>
          <a:xfrm>
            <a:off x="1331912" y="4221162"/>
            <a:ext cx="0" cy="503236"/>
          </a:xfrm>
          <a:prstGeom prst="straightConnector1">
            <a:avLst/>
          </a:prstGeom>
          <a:noFill/>
          <a:ln cap="flat" cmpd="sng" w="9525">
            <a:solidFill>
              <a:srgbClr val="003300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133" name="Shape 133"/>
          <p:cNvSpPr txBox="1"/>
          <p:nvPr/>
        </p:nvSpPr>
        <p:spPr>
          <a:xfrm>
            <a:off x="827087" y="2205036"/>
            <a:ext cx="358775" cy="288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A</a:t>
            </a:r>
          </a:p>
        </p:txBody>
      </p:sp>
      <p:sp>
        <p:nvSpPr>
          <p:cNvPr id="134" name="Shape 134"/>
          <p:cNvSpPr txBox="1"/>
          <p:nvPr/>
        </p:nvSpPr>
        <p:spPr>
          <a:xfrm>
            <a:off x="2987675" y="4435475"/>
            <a:ext cx="358775" cy="288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rPr>
              <a:t>B</a:t>
            </a:r>
          </a:p>
        </p:txBody>
      </p:sp>
      <p:sp>
        <p:nvSpPr>
          <p:cNvPr id="135" name="Shape 135"/>
          <p:cNvSpPr txBox="1"/>
          <p:nvPr/>
        </p:nvSpPr>
        <p:spPr>
          <a:xfrm>
            <a:off x="3924300" y="1628775"/>
            <a:ext cx="4967286" cy="1871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Batang"/>
              <a:buNone/>
            </a:pPr>
            <a:r>
              <a:rPr b="1" i="1" lang="en-US" sz="16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TMSxy</a:t>
            </a:r>
            <a:r>
              <a:rPr b="1" i="0" lang="en-US" sz="16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 (Tasa Marginal de Sustitución x por y)</a:t>
            </a:r>
            <a:r>
              <a:rPr b="1" i="0" lang="en-US" sz="16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 en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un punto de una curva de indiferencia es el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cociente entre la disminución de la cantidad del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bien Y y el aumento de la cantidad del bien X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necesario para que el individuo se mantenga en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la misma curva de indiferencia.</a:t>
            </a: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 </a:t>
            </a:r>
          </a:p>
        </p:txBody>
      </p:sp>
      <p:sp>
        <p:nvSpPr>
          <p:cNvPr id="136" name="Shape 136"/>
          <p:cNvSpPr txBox="1"/>
          <p:nvPr/>
        </p:nvSpPr>
        <p:spPr>
          <a:xfrm>
            <a:off x="250825" y="1268412"/>
            <a:ext cx="358775" cy="288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Y</a:t>
            </a:r>
          </a:p>
        </p:txBody>
      </p:sp>
      <p:sp>
        <p:nvSpPr>
          <p:cNvPr id="137" name="Shape 137"/>
          <p:cNvSpPr txBox="1"/>
          <p:nvPr/>
        </p:nvSpPr>
        <p:spPr>
          <a:xfrm>
            <a:off x="5365750" y="5084762"/>
            <a:ext cx="358775" cy="288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X</a:t>
            </a:r>
          </a:p>
        </p:txBody>
      </p:sp>
      <p:sp>
        <p:nvSpPr>
          <p:cNvPr id="138" name="Shape 138"/>
          <p:cNvSpPr txBox="1"/>
          <p:nvPr/>
        </p:nvSpPr>
        <p:spPr>
          <a:xfrm>
            <a:off x="4572000" y="3500437"/>
            <a:ext cx="4284661" cy="1800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25000"/>
              <a:buFont typeface="Batang"/>
              <a:buNone/>
            </a:pPr>
            <a:r>
              <a:rPr b="1" i="1" lang="en-US" sz="18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En el punto A el consumidor estaría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25000"/>
              <a:buFont typeface="Batang"/>
              <a:buNone/>
            </a:pPr>
            <a:r>
              <a:rPr b="1" i="1" lang="en-US" sz="18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dispuesto a renunciar a una gran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25000"/>
              <a:buFont typeface="Batang"/>
              <a:buNone/>
            </a:pPr>
            <a:r>
              <a:rPr b="1" i="1" lang="en-US" sz="18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cantidad del bien Y para obtener algo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25000"/>
              <a:buFont typeface="Batang"/>
              <a:buNone/>
            </a:pPr>
            <a:r>
              <a:rPr b="1" i="1" lang="en-US" sz="18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mas del bien X.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25000"/>
              <a:buFont typeface="Batang"/>
              <a:buNone/>
            </a:pPr>
            <a:r>
              <a:rPr b="1" i="1" lang="en-US" sz="18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En el punto B sucede lo contrario</a:t>
            </a:r>
          </a:p>
        </p:txBody>
      </p:sp>
      <p:sp>
        <p:nvSpPr>
          <p:cNvPr id="139" name="Shape 139"/>
          <p:cNvSpPr txBox="1"/>
          <p:nvPr/>
        </p:nvSpPr>
        <p:spPr>
          <a:xfrm>
            <a:off x="0" y="5589587"/>
            <a:ext cx="9144000" cy="1268411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Si se mide la tasa marginal de sustitución a largo de una curva de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indiferencia se puede observar que ésta va disminuyendo a medida que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se incrementa el consumo del bien </a:t>
            </a:r>
            <a:r>
              <a:rPr b="1" i="0" lang="en-US" sz="2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X</a:t>
            </a:r>
            <a:r>
              <a:rPr b="0" i="0" lang="en-US" sz="2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, esto es una manifestación del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carácter convexo de las curvas de indiferencia.</a:t>
            </a:r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 txBox="1"/>
          <p:nvPr>
            <p:ph idx="4294967295" type="title"/>
          </p:nvPr>
        </p:nvSpPr>
        <p:spPr>
          <a:xfrm>
            <a:off x="177800" y="115886"/>
            <a:ext cx="5689600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Garamond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CURVA DE INDIFERENCIA</a:t>
            </a:r>
            <a:br>
              <a:rPr b="0" i="0" lang="en-US" sz="2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0" i="0" lang="en-US" sz="2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(Lo que el consumidor está dispuesto a hacer)</a:t>
            </a:r>
          </a:p>
        </p:txBody>
      </p:sp>
      <p:pic>
        <p:nvPicPr>
          <p:cNvPr id="145" name="Shape 145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9700" y="4941887"/>
            <a:ext cx="1114425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Shape 146"/>
          <p:cNvPicPr preferRelativeResize="0"/>
          <p:nvPr>
            <p:ph idx="4294967295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8175" y="4941887"/>
            <a:ext cx="1374774" cy="92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Shape 147"/>
          <p:cNvPicPr preferRelativeResize="0"/>
          <p:nvPr>
            <p:ph idx="4294967295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5287" y="1628775"/>
            <a:ext cx="118110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Shape 1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0825" y="3500437"/>
            <a:ext cx="1255712" cy="98583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Shape 149"/>
          <p:cNvCxnSpPr/>
          <p:nvPr/>
        </p:nvCxnSpPr>
        <p:spPr>
          <a:xfrm>
            <a:off x="2268536" y="1700211"/>
            <a:ext cx="0" cy="31686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150" name="Shape 150"/>
          <p:cNvCxnSpPr/>
          <p:nvPr/>
        </p:nvCxnSpPr>
        <p:spPr>
          <a:xfrm>
            <a:off x="1835150" y="4724400"/>
            <a:ext cx="446563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151" name="Shape 151"/>
          <p:cNvSpPr/>
          <p:nvPr/>
        </p:nvSpPr>
        <p:spPr>
          <a:xfrm>
            <a:off x="2484436" y="2133600"/>
            <a:ext cx="3187700" cy="2443162"/>
          </a:xfrm>
          <a:custGeom>
            <a:pathLst>
              <a:path extrusionOk="0" h="1539" w="2008">
                <a:moveTo>
                  <a:pt x="0" y="0"/>
                </a:moveTo>
                <a:cubicBezTo>
                  <a:pt x="20" y="83"/>
                  <a:pt x="63" y="347"/>
                  <a:pt x="123" y="500"/>
                </a:cubicBezTo>
                <a:cubicBezTo>
                  <a:pt x="183" y="653"/>
                  <a:pt x="257" y="788"/>
                  <a:pt x="359" y="916"/>
                </a:cubicBezTo>
                <a:cubicBezTo>
                  <a:pt x="461" y="1044"/>
                  <a:pt x="574" y="1176"/>
                  <a:pt x="738" y="1267"/>
                </a:cubicBezTo>
                <a:cubicBezTo>
                  <a:pt x="902" y="1358"/>
                  <a:pt x="1129" y="1418"/>
                  <a:pt x="1341" y="1463"/>
                </a:cubicBezTo>
                <a:cubicBezTo>
                  <a:pt x="1553" y="1508"/>
                  <a:pt x="1869" y="1523"/>
                  <a:pt x="2008" y="1539"/>
                </a:cubicBezTo>
              </a:path>
            </a:pathLst>
          </a:custGeom>
          <a:noFill/>
          <a:ln cap="flat" cmpd="sng" w="25400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152" name="Shape 152"/>
          <p:cNvSpPr txBox="1"/>
          <p:nvPr/>
        </p:nvSpPr>
        <p:spPr>
          <a:xfrm>
            <a:off x="5457825" y="4098925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U</a:t>
            </a:r>
          </a:p>
        </p:txBody>
      </p:sp>
      <p:sp>
        <p:nvSpPr>
          <p:cNvPr id="153" name="Shape 153"/>
          <p:cNvSpPr txBox="1"/>
          <p:nvPr/>
        </p:nvSpPr>
        <p:spPr>
          <a:xfrm>
            <a:off x="5435600" y="4437062"/>
            <a:ext cx="249872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Cantidad de pan</a:t>
            </a:r>
          </a:p>
        </p:txBody>
      </p:sp>
      <p:sp>
        <p:nvSpPr>
          <p:cNvPr id="154" name="Shape 154"/>
          <p:cNvSpPr txBox="1"/>
          <p:nvPr/>
        </p:nvSpPr>
        <p:spPr>
          <a:xfrm>
            <a:off x="179386" y="1052512"/>
            <a:ext cx="249872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Cantidad de fruta</a:t>
            </a:r>
          </a:p>
        </p:txBody>
      </p:sp>
      <p:pic>
        <p:nvPicPr>
          <p:cNvPr id="155" name="Shape 1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0825" y="3500437"/>
            <a:ext cx="1255712" cy="98583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Shape 156"/>
          <p:cNvSpPr txBox="1"/>
          <p:nvPr/>
        </p:nvSpPr>
        <p:spPr>
          <a:xfrm>
            <a:off x="3563937" y="1773236"/>
            <a:ext cx="5580061" cy="2160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U=U(X,Y)</a:t>
            </a: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 en la curva de indiferencia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∂U=0 </a:t>
            </a: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entonces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(∂U/∂Qpan)*∂Qpan + (∂U/∂Qfruta)*∂Qfruta = 0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Uma pan = (∂U/∂Qpan), Uma fruta= (∂U/∂Qfruta),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por lo tanto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Uma pan * ∂Qpan + Uma fruta * ∂Qfruta = 0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- ∂Qpan / ∂Qfruta</a:t>
            </a:r>
            <a:r>
              <a:rPr b="1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 =</a:t>
            </a: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Uma fruta / Uma pan</a:t>
            </a: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157" name="Shape 157"/>
          <p:cNvSpPr txBox="1"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Una familia cambiará unidades de un bien por unidades de otro bien, según la relación entre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la utilidad</a:t>
            </a:r>
            <a:r>
              <a:rPr b="0" i="0" lang="en-US" sz="16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 </a:t>
            </a:r>
            <a:r>
              <a:rPr b="1" i="0" lang="en-US" sz="16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marginal que le proporciona el primer bien y la utilidad marginal que le proporciona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el segundo bien.</a:t>
            </a:r>
          </a:p>
        </p:txBody>
      </p:sp>
      <p:pic>
        <p:nvPicPr>
          <p:cNvPr id="158" name="Shape 158"/>
          <p:cNvPicPr preferRelativeResize="0"/>
          <p:nvPr>
            <p:ph idx="4294967295" type="body"/>
          </p:nvPr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11862" y="155575"/>
            <a:ext cx="3009899" cy="60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 txBox="1"/>
          <p:nvPr>
            <p:ph idx="4294967295" type="title"/>
          </p:nvPr>
        </p:nvSpPr>
        <p:spPr>
          <a:xfrm>
            <a:off x="179386" y="115886"/>
            <a:ext cx="5688011" cy="1296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Garamond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MAPA DE </a:t>
            </a:r>
            <a:br>
              <a:rPr b="0" i="0" lang="en-US" sz="3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0" i="0" lang="en-US" sz="3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CURVAS DE INDIFERENCIA</a:t>
            </a:r>
            <a:br>
              <a:rPr b="0" i="0" lang="en-US" sz="2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0" i="0" lang="en-US" sz="2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(Lo que el consumidor está dispuesto a hacer)</a:t>
            </a:r>
          </a:p>
        </p:txBody>
      </p:sp>
      <p:pic>
        <p:nvPicPr>
          <p:cNvPr id="164" name="Shape 164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6825" y="4797425"/>
            <a:ext cx="1114425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Shape 165"/>
          <p:cNvPicPr preferRelativeResize="0"/>
          <p:nvPr>
            <p:ph idx="4294967295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84436" y="4797425"/>
            <a:ext cx="1374774" cy="92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Shape 166"/>
          <p:cNvSpPr txBox="1"/>
          <p:nvPr/>
        </p:nvSpPr>
        <p:spPr>
          <a:xfrm>
            <a:off x="6515100" y="1052512"/>
            <a:ext cx="2520949" cy="36623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atang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Utilidad total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U3 &gt; U2 &gt; U1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Batang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atang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No se cortan.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Batang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atang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Convexas al origen de coordenadas.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Batang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atang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Descienden de izquierda a derecha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Batang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pic>
        <p:nvPicPr>
          <p:cNvPr id="167" name="Shape 167"/>
          <p:cNvPicPr preferRelativeResize="0"/>
          <p:nvPr>
            <p:ph idx="4294967295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7075" y="1990725"/>
            <a:ext cx="1181100" cy="790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" name="Shape 168"/>
          <p:cNvCxnSpPr/>
          <p:nvPr/>
        </p:nvCxnSpPr>
        <p:spPr>
          <a:xfrm>
            <a:off x="2268536" y="1700211"/>
            <a:ext cx="0" cy="31686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169" name="Shape 169"/>
          <p:cNvCxnSpPr/>
          <p:nvPr/>
        </p:nvCxnSpPr>
        <p:spPr>
          <a:xfrm>
            <a:off x="1835150" y="4724400"/>
            <a:ext cx="446563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170" name="Shape 170"/>
          <p:cNvSpPr/>
          <p:nvPr/>
        </p:nvSpPr>
        <p:spPr>
          <a:xfrm>
            <a:off x="2484436" y="2133600"/>
            <a:ext cx="3187700" cy="2443162"/>
          </a:xfrm>
          <a:custGeom>
            <a:pathLst>
              <a:path extrusionOk="0" h="1539" w="2008">
                <a:moveTo>
                  <a:pt x="0" y="0"/>
                </a:moveTo>
                <a:cubicBezTo>
                  <a:pt x="20" y="83"/>
                  <a:pt x="63" y="347"/>
                  <a:pt x="123" y="500"/>
                </a:cubicBezTo>
                <a:cubicBezTo>
                  <a:pt x="183" y="653"/>
                  <a:pt x="257" y="788"/>
                  <a:pt x="359" y="916"/>
                </a:cubicBezTo>
                <a:cubicBezTo>
                  <a:pt x="461" y="1044"/>
                  <a:pt x="574" y="1176"/>
                  <a:pt x="738" y="1267"/>
                </a:cubicBezTo>
                <a:cubicBezTo>
                  <a:pt x="902" y="1358"/>
                  <a:pt x="1129" y="1418"/>
                  <a:pt x="1341" y="1463"/>
                </a:cubicBezTo>
                <a:cubicBezTo>
                  <a:pt x="1553" y="1508"/>
                  <a:pt x="1869" y="1523"/>
                  <a:pt x="2008" y="1539"/>
                </a:cubicBezTo>
              </a:path>
            </a:pathLst>
          </a:custGeom>
          <a:noFill/>
          <a:ln cap="flat" cmpd="sng" w="25400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171" name="Shape 171"/>
          <p:cNvSpPr/>
          <p:nvPr/>
        </p:nvSpPr>
        <p:spPr>
          <a:xfrm>
            <a:off x="2700336" y="1700211"/>
            <a:ext cx="3187700" cy="2443162"/>
          </a:xfrm>
          <a:custGeom>
            <a:pathLst>
              <a:path extrusionOk="0" h="1539" w="2008">
                <a:moveTo>
                  <a:pt x="0" y="0"/>
                </a:moveTo>
                <a:cubicBezTo>
                  <a:pt x="20" y="83"/>
                  <a:pt x="63" y="347"/>
                  <a:pt x="123" y="500"/>
                </a:cubicBezTo>
                <a:cubicBezTo>
                  <a:pt x="183" y="653"/>
                  <a:pt x="257" y="788"/>
                  <a:pt x="359" y="916"/>
                </a:cubicBezTo>
                <a:cubicBezTo>
                  <a:pt x="461" y="1044"/>
                  <a:pt x="574" y="1176"/>
                  <a:pt x="738" y="1267"/>
                </a:cubicBezTo>
                <a:cubicBezTo>
                  <a:pt x="902" y="1358"/>
                  <a:pt x="1129" y="1418"/>
                  <a:pt x="1341" y="1463"/>
                </a:cubicBezTo>
                <a:cubicBezTo>
                  <a:pt x="1553" y="1508"/>
                  <a:pt x="1869" y="1523"/>
                  <a:pt x="2008" y="1539"/>
                </a:cubicBez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172" name="Shape 172"/>
          <p:cNvSpPr/>
          <p:nvPr/>
        </p:nvSpPr>
        <p:spPr>
          <a:xfrm>
            <a:off x="2916236" y="1341437"/>
            <a:ext cx="3187700" cy="2443162"/>
          </a:xfrm>
          <a:custGeom>
            <a:pathLst>
              <a:path extrusionOk="0" h="1539" w="2008">
                <a:moveTo>
                  <a:pt x="0" y="0"/>
                </a:moveTo>
                <a:cubicBezTo>
                  <a:pt x="20" y="83"/>
                  <a:pt x="63" y="347"/>
                  <a:pt x="123" y="500"/>
                </a:cubicBezTo>
                <a:cubicBezTo>
                  <a:pt x="183" y="653"/>
                  <a:pt x="257" y="788"/>
                  <a:pt x="359" y="916"/>
                </a:cubicBezTo>
                <a:cubicBezTo>
                  <a:pt x="461" y="1044"/>
                  <a:pt x="574" y="1176"/>
                  <a:pt x="738" y="1267"/>
                </a:cubicBezTo>
                <a:cubicBezTo>
                  <a:pt x="902" y="1358"/>
                  <a:pt x="1129" y="1418"/>
                  <a:pt x="1341" y="1463"/>
                </a:cubicBezTo>
                <a:cubicBezTo>
                  <a:pt x="1553" y="1508"/>
                  <a:pt x="1869" y="1523"/>
                  <a:pt x="2008" y="1539"/>
                </a:cubicBezTo>
              </a:path>
            </a:pathLst>
          </a:custGeom>
          <a:noFill/>
          <a:ln cap="flat" cmpd="sng" w="28575">
            <a:solidFill>
              <a:srgbClr val="00008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173" name="Shape 173"/>
          <p:cNvSpPr txBox="1"/>
          <p:nvPr/>
        </p:nvSpPr>
        <p:spPr>
          <a:xfrm>
            <a:off x="4017962" y="280193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FF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rgbClr val="6666FF"/>
                </a:solidFill>
                <a:latin typeface="Batang"/>
                <a:ea typeface="Batang"/>
                <a:cs typeface="Batang"/>
                <a:sym typeface="Batang"/>
              </a:rPr>
              <a:t>U3</a:t>
            </a:r>
          </a:p>
        </p:txBody>
      </p:sp>
      <p:sp>
        <p:nvSpPr>
          <p:cNvPr id="174" name="Shape 174"/>
          <p:cNvSpPr txBox="1"/>
          <p:nvPr/>
        </p:nvSpPr>
        <p:spPr>
          <a:xfrm>
            <a:off x="4067175" y="3357562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U2</a:t>
            </a:r>
          </a:p>
        </p:txBody>
      </p:sp>
      <p:sp>
        <p:nvSpPr>
          <p:cNvPr id="175" name="Shape 175"/>
          <p:cNvSpPr txBox="1"/>
          <p:nvPr/>
        </p:nvSpPr>
        <p:spPr>
          <a:xfrm>
            <a:off x="4284662" y="3716337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U1</a:t>
            </a:r>
          </a:p>
        </p:txBody>
      </p:sp>
      <p:sp>
        <p:nvSpPr>
          <p:cNvPr id="176" name="Shape 176"/>
          <p:cNvSpPr txBox="1"/>
          <p:nvPr/>
        </p:nvSpPr>
        <p:spPr>
          <a:xfrm>
            <a:off x="5961062" y="4437062"/>
            <a:ext cx="2498724" cy="627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Cantidad de pan</a:t>
            </a:r>
          </a:p>
        </p:txBody>
      </p:sp>
      <p:sp>
        <p:nvSpPr>
          <p:cNvPr id="177" name="Shape 177"/>
          <p:cNvSpPr txBox="1"/>
          <p:nvPr/>
        </p:nvSpPr>
        <p:spPr>
          <a:xfrm>
            <a:off x="34925" y="1630362"/>
            <a:ext cx="2498724" cy="358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Cantidad de fruta</a:t>
            </a:r>
          </a:p>
        </p:txBody>
      </p:sp>
      <p:pic>
        <p:nvPicPr>
          <p:cNvPr id="178" name="Shape 17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4212" y="3500437"/>
            <a:ext cx="1255712" cy="985836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Shape 179"/>
          <p:cNvSpPr txBox="1"/>
          <p:nvPr/>
        </p:nvSpPr>
        <p:spPr>
          <a:xfrm>
            <a:off x="0" y="6216650"/>
            <a:ext cx="9144000" cy="641350"/>
          </a:xfrm>
          <a:prstGeom prst="rect">
            <a:avLst/>
          </a:prstGeom>
          <a:solidFill>
            <a:schemeClr val="accent1">
              <a:alpha val="46666"/>
            </a:schemeClr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La familia aprecia un mapa de curvas de indiferencia ordenadas de menor a mayor nivel de satisfacción en la medida que se alejan del centro de coordenadas</a:t>
            </a:r>
          </a:p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 txBox="1"/>
          <p:nvPr>
            <p:ph idx="4294967295" type="title"/>
          </p:nvPr>
        </p:nvSpPr>
        <p:spPr>
          <a:xfrm>
            <a:off x="323850" y="115886"/>
            <a:ext cx="8496299" cy="172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Garamond"/>
              <a:buNone/>
            </a:pPr>
            <a: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Rectas </a:t>
            </a:r>
            <a:b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de balance o de presupuesto </a:t>
            </a:r>
            <a:b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                           </a:t>
            </a:r>
            <a:r>
              <a:rPr b="0" i="0" lang="en-US" sz="2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(Lo que el consumidor puede hacer)</a:t>
            </a:r>
          </a:p>
        </p:txBody>
      </p:sp>
      <p:pic>
        <p:nvPicPr>
          <p:cNvPr id="185" name="Shape 185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850" y="3716337"/>
            <a:ext cx="1184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Shape 186"/>
          <p:cNvPicPr preferRelativeResize="0"/>
          <p:nvPr>
            <p:ph idx="4294967295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825" y="2230436"/>
            <a:ext cx="1252536" cy="83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Shape 187"/>
          <p:cNvPicPr preferRelativeResize="0"/>
          <p:nvPr>
            <p:ph idx="4294967295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51050" y="5013325"/>
            <a:ext cx="1073150" cy="72072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Shape 188"/>
          <p:cNvSpPr txBox="1"/>
          <p:nvPr/>
        </p:nvSpPr>
        <p:spPr>
          <a:xfrm>
            <a:off x="4067175" y="1931986"/>
            <a:ext cx="5041899" cy="2217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Rentas del consumidor</a:t>
            </a:r>
          </a:p>
          <a:p>
            <a:pPr indent="0" lvl="0" marL="0" marR="0" rtl="0" algn="l">
              <a:lnSpc>
                <a:spcPct val="8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B3 &gt; B2 &gt; B1</a:t>
            </a: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Renta (B) = Ppan * Qpan + Pfruta * Qfruta = Cte.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∂B = 0 = Ppan * </a:t>
            </a: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∂Qpan + Pfruta * ∂Qfruta</a:t>
            </a: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Ppan * ∂Qpan = - Pfruta * ∂Qfruta</a:t>
            </a: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- ∂Qpan / ∂Qfruta = Pfruta / Ppan  </a:t>
            </a:r>
          </a:p>
        </p:txBody>
      </p:sp>
      <p:pic>
        <p:nvPicPr>
          <p:cNvPr id="189" name="Shape 189"/>
          <p:cNvPicPr preferRelativeResize="0"/>
          <p:nvPr>
            <p:ph idx="4294967295" type="body"/>
          </p:nvPr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10100" y="4941887"/>
            <a:ext cx="1114425" cy="904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0" name="Shape 190"/>
          <p:cNvCxnSpPr/>
          <p:nvPr/>
        </p:nvCxnSpPr>
        <p:spPr>
          <a:xfrm>
            <a:off x="1763711" y="1557337"/>
            <a:ext cx="0" cy="352742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191" name="Shape 191"/>
          <p:cNvCxnSpPr/>
          <p:nvPr/>
        </p:nvCxnSpPr>
        <p:spPr>
          <a:xfrm>
            <a:off x="1692275" y="4941887"/>
            <a:ext cx="460851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192" name="Shape 192"/>
          <p:cNvSpPr txBox="1"/>
          <p:nvPr/>
        </p:nvSpPr>
        <p:spPr>
          <a:xfrm>
            <a:off x="395287" y="1628775"/>
            <a:ext cx="1295400" cy="720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Cantidad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de fruta</a:t>
            </a:r>
          </a:p>
        </p:txBody>
      </p:sp>
      <p:sp>
        <p:nvSpPr>
          <p:cNvPr id="193" name="Shape 193"/>
          <p:cNvSpPr txBox="1"/>
          <p:nvPr/>
        </p:nvSpPr>
        <p:spPr>
          <a:xfrm>
            <a:off x="6034087" y="4437062"/>
            <a:ext cx="249872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Cantidad de pan</a:t>
            </a:r>
          </a:p>
        </p:txBody>
      </p:sp>
      <p:cxnSp>
        <p:nvCxnSpPr>
          <p:cNvPr id="194" name="Shape 194"/>
          <p:cNvCxnSpPr/>
          <p:nvPr/>
        </p:nvCxnSpPr>
        <p:spPr>
          <a:xfrm>
            <a:off x="1763711" y="2924175"/>
            <a:ext cx="2016124" cy="2017711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195" name="Shape 195"/>
          <p:cNvCxnSpPr/>
          <p:nvPr/>
        </p:nvCxnSpPr>
        <p:spPr>
          <a:xfrm>
            <a:off x="1763711" y="2276475"/>
            <a:ext cx="2663824" cy="266541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196" name="Shape 196"/>
          <p:cNvCxnSpPr/>
          <p:nvPr/>
        </p:nvCxnSpPr>
        <p:spPr>
          <a:xfrm>
            <a:off x="1763711" y="1628775"/>
            <a:ext cx="3311524" cy="3313112"/>
          </a:xfrm>
          <a:prstGeom prst="straightConnector1">
            <a:avLst/>
          </a:prstGeom>
          <a:noFill/>
          <a:ln cap="flat" cmpd="sng" w="28575">
            <a:solidFill>
              <a:srgbClr val="000080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197" name="Shape 197"/>
          <p:cNvSpPr txBox="1"/>
          <p:nvPr/>
        </p:nvSpPr>
        <p:spPr>
          <a:xfrm>
            <a:off x="4356100" y="3789362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FF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rgbClr val="6666FF"/>
                </a:solidFill>
                <a:latin typeface="Batang"/>
                <a:ea typeface="Batang"/>
                <a:cs typeface="Batang"/>
                <a:sym typeface="Batang"/>
              </a:rPr>
              <a:t>B3</a:t>
            </a:r>
          </a:p>
        </p:txBody>
      </p:sp>
      <p:sp>
        <p:nvSpPr>
          <p:cNvPr id="198" name="Shape 198"/>
          <p:cNvSpPr txBox="1"/>
          <p:nvPr/>
        </p:nvSpPr>
        <p:spPr>
          <a:xfrm>
            <a:off x="3708400" y="38100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B2</a:t>
            </a:r>
          </a:p>
        </p:txBody>
      </p:sp>
      <p:sp>
        <p:nvSpPr>
          <p:cNvPr id="199" name="Shape 199"/>
          <p:cNvSpPr txBox="1"/>
          <p:nvPr/>
        </p:nvSpPr>
        <p:spPr>
          <a:xfrm>
            <a:off x="3059111" y="3883025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B1</a:t>
            </a:r>
          </a:p>
        </p:txBody>
      </p:sp>
      <p:sp>
        <p:nvSpPr>
          <p:cNvPr id="200" name="Shape 200"/>
          <p:cNvSpPr txBox="1"/>
          <p:nvPr/>
        </p:nvSpPr>
        <p:spPr>
          <a:xfrm>
            <a:off x="36511" y="5949950"/>
            <a:ext cx="9144000" cy="915986"/>
          </a:xfrm>
          <a:prstGeom prst="rect">
            <a:avLst/>
          </a:prstGeom>
          <a:solidFill>
            <a:schemeClr val="accent1">
              <a:alpha val="75686"/>
            </a:schemeClr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La familia aprecia un mapa de rectas de balance o presupuesto ordenadas de menor a mayor nivel de renta en la medida que se alejan del centro de coordenadas</a:t>
            </a:r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 txBox="1"/>
          <p:nvPr>
            <p:ph idx="4294967295" type="title"/>
          </p:nvPr>
        </p:nvSpPr>
        <p:spPr>
          <a:xfrm>
            <a:off x="395287" y="620712"/>
            <a:ext cx="8424862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Garamond"/>
              <a:buNone/>
            </a:pPr>
            <a:br>
              <a:rPr b="0" i="0" lang="en-US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0" i="0" lang="en-US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Equilibrio del consumidor</a:t>
            </a:r>
          </a:p>
        </p:txBody>
      </p:sp>
      <p:pic>
        <p:nvPicPr>
          <p:cNvPr id="206" name="Shape 206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2362" y="4724400"/>
            <a:ext cx="1114425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Shape 207"/>
          <p:cNvPicPr preferRelativeResize="0"/>
          <p:nvPr>
            <p:ph idx="4294967295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6375" y="4797425"/>
            <a:ext cx="1223961" cy="820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Shape 208"/>
          <p:cNvPicPr preferRelativeResize="0"/>
          <p:nvPr>
            <p:ph idx="4294967295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0112" y="1774825"/>
            <a:ext cx="118110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Shape 20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8362" y="3500437"/>
            <a:ext cx="1255712" cy="98583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0" name="Shape 210"/>
          <p:cNvCxnSpPr/>
          <p:nvPr/>
        </p:nvCxnSpPr>
        <p:spPr>
          <a:xfrm>
            <a:off x="2268536" y="1700211"/>
            <a:ext cx="0" cy="31686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211" name="Shape 211"/>
          <p:cNvCxnSpPr/>
          <p:nvPr/>
        </p:nvCxnSpPr>
        <p:spPr>
          <a:xfrm>
            <a:off x="1835150" y="4724400"/>
            <a:ext cx="446563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212" name="Shape 212"/>
          <p:cNvSpPr/>
          <p:nvPr/>
        </p:nvSpPr>
        <p:spPr>
          <a:xfrm>
            <a:off x="2484436" y="2133600"/>
            <a:ext cx="3187700" cy="2443162"/>
          </a:xfrm>
          <a:custGeom>
            <a:pathLst>
              <a:path extrusionOk="0" h="1539" w="2008">
                <a:moveTo>
                  <a:pt x="0" y="0"/>
                </a:moveTo>
                <a:cubicBezTo>
                  <a:pt x="20" y="83"/>
                  <a:pt x="63" y="347"/>
                  <a:pt x="123" y="500"/>
                </a:cubicBezTo>
                <a:cubicBezTo>
                  <a:pt x="183" y="653"/>
                  <a:pt x="257" y="788"/>
                  <a:pt x="359" y="916"/>
                </a:cubicBezTo>
                <a:cubicBezTo>
                  <a:pt x="461" y="1044"/>
                  <a:pt x="574" y="1176"/>
                  <a:pt x="738" y="1267"/>
                </a:cubicBezTo>
                <a:cubicBezTo>
                  <a:pt x="902" y="1358"/>
                  <a:pt x="1129" y="1418"/>
                  <a:pt x="1341" y="1463"/>
                </a:cubicBezTo>
                <a:cubicBezTo>
                  <a:pt x="1553" y="1508"/>
                  <a:pt x="1869" y="1523"/>
                  <a:pt x="2008" y="1539"/>
                </a:cubicBezTo>
              </a:path>
            </a:pathLst>
          </a:custGeom>
          <a:noFill/>
          <a:ln cap="flat" cmpd="sng" w="25400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213" name="Shape 213"/>
          <p:cNvSpPr/>
          <p:nvPr/>
        </p:nvSpPr>
        <p:spPr>
          <a:xfrm>
            <a:off x="2700336" y="1700211"/>
            <a:ext cx="3187700" cy="2443162"/>
          </a:xfrm>
          <a:custGeom>
            <a:pathLst>
              <a:path extrusionOk="0" h="1539" w="2008">
                <a:moveTo>
                  <a:pt x="0" y="0"/>
                </a:moveTo>
                <a:cubicBezTo>
                  <a:pt x="20" y="83"/>
                  <a:pt x="63" y="347"/>
                  <a:pt x="123" y="500"/>
                </a:cubicBezTo>
                <a:cubicBezTo>
                  <a:pt x="183" y="653"/>
                  <a:pt x="257" y="788"/>
                  <a:pt x="359" y="916"/>
                </a:cubicBezTo>
                <a:cubicBezTo>
                  <a:pt x="461" y="1044"/>
                  <a:pt x="574" y="1176"/>
                  <a:pt x="738" y="1267"/>
                </a:cubicBezTo>
                <a:cubicBezTo>
                  <a:pt x="902" y="1358"/>
                  <a:pt x="1129" y="1418"/>
                  <a:pt x="1341" y="1463"/>
                </a:cubicBezTo>
                <a:cubicBezTo>
                  <a:pt x="1553" y="1508"/>
                  <a:pt x="1869" y="1523"/>
                  <a:pt x="2008" y="1539"/>
                </a:cubicBez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214" name="Shape 214"/>
          <p:cNvSpPr/>
          <p:nvPr/>
        </p:nvSpPr>
        <p:spPr>
          <a:xfrm>
            <a:off x="2916236" y="1341437"/>
            <a:ext cx="3187700" cy="2443162"/>
          </a:xfrm>
          <a:custGeom>
            <a:pathLst>
              <a:path extrusionOk="0" h="1539" w="2008">
                <a:moveTo>
                  <a:pt x="0" y="0"/>
                </a:moveTo>
                <a:cubicBezTo>
                  <a:pt x="20" y="83"/>
                  <a:pt x="63" y="347"/>
                  <a:pt x="123" y="500"/>
                </a:cubicBezTo>
                <a:cubicBezTo>
                  <a:pt x="183" y="653"/>
                  <a:pt x="257" y="788"/>
                  <a:pt x="359" y="916"/>
                </a:cubicBezTo>
                <a:cubicBezTo>
                  <a:pt x="461" y="1044"/>
                  <a:pt x="574" y="1176"/>
                  <a:pt x="738" y="1267"/>
                </a:cubicBezTo>
                <a:cubicBezTo>
                  <a:pt x="902" y="1358"/>
                  <a:pt x="1129" y="1418"/>
                  <a:pt x="1341" y="1463"/>
                </a:cubicBezTo>
                <a:cubicBezTo>
                  <a:pt x="1553" y="1508"/>
                  <a:pt x="1869" y="1523"/>
                  <a:pt x="2008" y="1539"/>
                </a:cubicBezTo>
              </a:path>
            </a:pathLst>
          </a:custGeom>
          <a:noFill/>
          <a:ln cap="flat" cmpd="sng" w="28575">
            <a:solidFill>
              <a:srgbClr val="00008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215" name="Shape 215"/>
          <p:cNvSpPr txBox="1"/>
          <p:nvPr/>
        </p:nvSpPr>
        <p:spPr>
          <a:xfrm>
            <a:off x="4017962" y="280193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FF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rgbClr val="6666FF"/>
                </a:solidFill>
                <a:latin typeface="Batang"/>
                <a:ea typeface="Batang"/>
                <a:cs typeface="Batang"/>
                <a:sym typeface="Batang"/>
              </a:rPr>
              <a:t>U3</a:t>
            </a:r>
          </a:p>
        </p:txBody>
      </p:sp>
      <p:sp>
        <p:nvSpPr>
          <p:cNvPr id="216" name="Shape 216"/>
          <p:cNvSpPr txBox="1"/>
          <p:nvPr/>
        </p:nvSpPr>
        <p:spPr>
          <a:xfrm>
            <a:off x="4067175" y="3357562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U2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4284662" y="3716337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U1</a:t>
            </a:r>
          </a:p>
        </p:txBody>
      </p:sp>
      <p:sp>
        <p:nvSpPr>
          <p:cNvPr id="218" name="Shape 218"/>
          <p:cNvSpPr txBox="1"/>
          <p:nvPr/>
        </p:nvSpPr>
        <p:spPr>
          <a:xfrm>
            <a:off x="6176962" y="4221162"/>
            <a:ext cx="249872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Cantidad de pan</a:t>
            </a:r>
          </a:p>
        </p:txBody>
      </p:sp>
      <p:sp>
        <p:nvSpPr>
          <p:cNvPr id="219" name="Shape 219"/>
          <p:cNvSpPr txBox="1"/>
          <p:nvPr/>
        </p:nvSpPr>
        <p:spPr>
          <a:xfrm>
            <a:off x="34925" y="981075"/>
            <a:ext cx="2138361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Cantidad de fruta</a:t>
            </a:r>
          </a:p>
        </p:txBody>
      </p:sp>
      <p:cxnSp>
        <p:nvCxnSpPr>
          <p:cNvPr id="220" name="Shape 220"/>
          <p:cNvCxnSpPr/>
          <p:nvPr/>
        </p:nvCxnSpPr>
        <p:spPr>
          <a:xfrm>
            <a:off x="2268536" y="1484312"/>
            <a:ext cx="1871662" cy="324008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221" name="Shape 221"/>
          <p:cNvSpPr txBox="1"/>
          <p:nvPr/>
        </p:nvSpPr>
        <p:spPr>
          <a:xfrm>
            <a:off x="3276600" y="4027487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B</a:t>
            </a:r>
          </a:p>
        </p:txBody>
      </p:sp>
      <p:cxnSp>
        <p:nvCxnSpPr>
          <p:cNvPr id="222" name="Shape 222"/>
          <p:cNvCxnSpPr/>
          <p:nvPr/>
        </p:nvCxnSpPr>
        <p:spPr>
          <a:xfrm>
            <a:off x="2268536" y="2781300"/>
            <a:ext cx="7175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223" name="Shape 223"/>
          <p:cNvCxnSpPr/>
          <p:nvPr/>
        </p:nvCxnSpPr>
        <p:spPr>
          <a:xfrm>
            <a:off x="2987675" y="2781300"/>
            <a:ext cx="0" cy="1943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224" name="Shape 224"/>
          <p:cNvSpPr txBox="1"/>
          <p:nvPr/>
        </p:nvSpPr>
        <p:spPr>
          <a:xfrm>
            <a:off x="4284662" y="1362075"/>
            <a:ext cx="4464050" cy="1706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Verdan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Maximiza la satisfacción del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Verdan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consumidor por cada peso gastado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erdana"/>
              <a:buChar char="-"/>
            </a:pP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∂Qpan / ∂Qfruta = Uma fruta / Uma pan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erdana"/>
              <a:buChar char="-"/>
            </a:pP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∂Qpan / ∂Qfruta = Pfruta / Ppan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Verdan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Uma fruta / Uma pan = Pfruta / Ppan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Uma fruta / Pfruta = Uma pan / Ppan</a:t>
            </a:r>
          </a:p>
        </p:txBody>
      </p:sp>
      <p:sp>
        <p:nvSpPr>
          <p:cNvPr id="225" name="Shape 225"/>
          <p:cNvSpPr txBox="1"/>
          <p:nvPr/>
        </p:nvSpPr>
        <p:spPr>
          <a:xfrm>
            <a:off x="2700336" y="2276475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A</a:t>
            </a:r>
          </a:p>
        </p:txBody>
      </p:sp>
      <p:sp>
        <p:nvSpPr>
          <p:cNvPr id="226" name="Shape 226"/>
          <p:cNvSpPr txBox="1"/>
          <p:nvPr/>
        </p:nvSpPr>
        <p:spPr>
          <a:xfrm>
            <a:off x="1331912" y="2276475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QF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A</a:t>
            </a:r>
          </a:p>
        </p:txBody>
      </p:sp>
      <p:sp>
        <p:nvSpPr>
          <p:cNvPr id="227" name="Shape 227"/>
          <p:cNvSpPr txBox="1"/>
          <p:nvPr/>
        </p:nvSpPr>
        <p:spPr>
          <a:xfrm>
            <a:off x="2505075" y="4386262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QP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A</a:t>
            </a:r>
          </a:p>
        </p:txBody>
      </p:sp>
      <p:sp>
        <p:nvSpPr>
          <p:cNvPr id="228" name="Shape 228"/>
          <p:cNvSpPr txBox="1"/>
          <p:nvPr/>
        </p:nvSpPr>
        <p:spPr>
          <a:xfrm>
            <a:off x="36511" y="5949950"/>
            <a:ext cx="9144000" cy="863599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Verdana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Principio de  Equimarginalidad</a:t>
            </a:r>
            <a:r>
              <a:rPr b="0" i="0" lang="en-US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La familia únicamente maximizará su nivel de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Verdana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satisfacción cuando la utilidad marginal de todos los bienes por unidad marginal de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Verdana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gasto (precio) sea idéntica. </a:t>
            </a:r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233"/>
          <p:cNvSpPr txBox="1"/>
          <p:nvPr>
            <p:ph idx="4294967295" type="title"/>
          </p:nvPr>
        </p:nvSpPr>
        <p:spPr>
          <a:xfrm>
            <a:off x="323850" y="44450"/>
            <a:ext cx="4537074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Garamond"/>
              <a:buNone/>
            </a:pPr>
            <a:b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CURVA </a:t>
            </a:r>
            <a:b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</a:br>
            <a:b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RENTA CONSUMO</a:t>
            </a:r>
            <a:b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</a:br>
          </a:p>
        </p:txBody>
      </p:sp>
      <p:pic>
        <p:nvPicPr>
          <p:cNvPr id="234" name="Shape 234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2362" y="5045075"/>
            <a:ext cx="1114425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Shape 235"/>
          <p:cNvPicPr preferRelativeResize="0"/>
          <p:nvPr>
            <p:ph idx="4294967295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3625" y="5099050"/>
            <a:ext cx="1374774" cy="92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Shape 236"/>
          <p:cNvPicPr preferRelativeResize="0"/>
          <p:nvPr>
            <p:ph idx="4294967295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0112" y="1774825"/>
            <a:ext cx="118110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Shape 2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8362" y="3500437"/>
            <a:ext cx="1255712" cy="98583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8" name="Shape 238"/>
          <p:cNvCxnSpPr/>
          <p:nvPr/>
        </p:nvCxnSpPr>
        <p:spPr>
          <a:xfrm>
            <a:off x="2268536" y="1700211"/>
            <a:ext cx="0" cy="31686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239" name="Shape 239"/>
          <p:cNvCxnSpPr/>
          <p:nvPr/>
        </p:nvCxnSpPr>
        <p:spPr>
          <a:xfrm>
            <a:off x="1835150" y="4724400"/>
            <a:ext cx="446563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240" name="Shape 240"/>
          <p:cNvSpPr/>
          <p:nvPr/>
        </p:nvSpPr>
        <p:spPr>
          <a:xfrm>
            <a:off x="2484436" y="2133600"/>
            <a:ext cx="3187700" cy="2443162"/>
          </a:xfrm>
          <a:custGeom>
            <a:pathLst>
              <a:path extrusionOk="0" h="1539" w="2008">
                <a:moveTo>
                  <a:pt x="0" y="0"/>
                </a:moveTo>
                <a:cubicBezTo>
                  <a:pt x="20" y="83"/>
                  <a:pt x="63" y="347"/>
                  <a:pt x="123" y="500"/>
                </a:cubicBezTo>
                <a:cubicBezTo>
                  <a:pt x="183" y="653"/>
                  <a:pt x="257" y="788"/>
                  <a:pt x="359" y="916"/>
                </a:cubicBezTo>
                <a:cubicBezTo>
                  <a:pt x="461" y="1044"/>
                  <a:pt x="574" y="1176"/>
                  <a:pt x="738" y="1267"/>
                </a:cubicBezTo>
                <a:cubicBezTo>
                  <a:pt x="902" y="1358"/>
                  <a:pt x="1129" y="1418"/>
                  <a:pt x="1341" y="1463"/>
                </a:cubicBezTo>
                <a:cubicBezTo>
                  <a:pt x="1553" y="1508"/>
                  <a:pt x="1869" y="1523"/>
                  <a:pt x="2008" y="1539"/>
                </a:cubicBezTo>
              </a:path>
            </a:pathLst>
          </a:custGeom>
          <a:noFill/>
          <a:ln cap="flat" cmpd="sng" w="25400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241" name="Shape 241"/>
          <p:cNvSpPr/>
          <p:nvPr/>
        </p:nvSpPr>
        <p:spPr>
          <a:xfrm>
            <a:off x="2700336" y="1700211"/>
            <a:ext cx="3187700" cy="2443162"/>
          </a:xfrm>
          <a:custGeom>
            <a:pathLst>
              <a:path extrusionOk="0" h="1539" w="2008">
                <a:moveTo>
                  <a:pt x="0" y="0"/>
                </a:moveTo>
                <a:cubicBezTo>
                  <a:pt x="20" y="83"/>
                  <a:pt x="63" y="347"/>
                  <a:pt x="123" y="500"/>
                </a:cubicBezTo>
                <a:cubicBezTo>
                  <a:pt x="183" y="653"/>
                  <a:pt x="257" y="788"/>
                  <a:pt x="359" y="916"/>
                </a:cubicBezTo>
                <a:cubicBezTo>
                  <a:pt x="461" y="1044"/>
                  <a:pt x="574" y="1176"/>
                  <a:pt x="738" y="1267"/>
                </a:cubicBezTo>
                <a:cubicBezTo>
                  <a:pt x="902" y="1358"/>
                  <a:pt x="1129" y="1418"/>
                  <a:pt x="1341" y="1463"/>
                </a:cubicBezTo>
                <a:cubicBezTo>
                  <a:pt x="1553" y="1508"/>
                  <a:pt x="1869" y="1523"/>
                  <a:pt x="2008" y="1539"/>
                </a:cubicBez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242" name="Shape 242"/>
          <p:cNvSpPr/>
          <p:nvPr/>
        </p:nvSpPr>
        <p:spPr>
          <a:xfrm>
            <a:off x="2916236" y="1341437"/>
            <a:ext cx="3187700" cy="2443162"/>
          </a:xfrm>
          <a:custGeom>
            <a:pathLst>
              <a:path extrusionOk="0" h="1539" w="2008">
                <a:moveTo>
                  <a:pt x="0" y="0"/>
                </a:moveTo>
                <a:cubicBezTo>
                  <a:pt x="20" y="83"/>
                  <a:pt x="63" y="347"/>
                  <a:pt x="123" y="500"/>
                </a:cubicBezTo>
                <a:cubicBezTo>
                  <a:pt x="183" y="653"/>
                  <a:pt x="257" y="788"/>
                  <a:pt x="359" y="916"/>
                </a:cubicBezTo>
                <a:cubicBezTo>
                  <a:pt x="461" y="1044"/>
                  <a:pt x="574" y="1176"/>
                  <a:pt x="738" y="1267"/>
                </a:cubicBezTo>
                <a:cubicBezTo>
                  <a:pt x="902" y="1358"/>
                  <a:pt x="1129" y="1418"/>
                  <a:pt x="1341" y="1463"/>
                </a:cubicBezTo>
                <a:cubicBezTo>
                  <a:pt x="1553" y="1508"/>
                  <a:pt x="1869" y="1523"/>
                  <a:pt x="2008" y="1539"/>
                </a:cubicBezTo>
              </a:path>
            </a:pathLst>
          </a:custGeom>
          <a:noFill/>
          <a:ln cap="flat" cmpd="sng" w="28575">
            <a:solidFill>
              <a:srgbClr val="00008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243" name="Shape 243"/>
          <p:cNvSpPr txBox="1"/>
          <p:nvPr/>
        </p:nvSpPr>
        <p:spPr>
          <a:xfrm>
            <a:off x="4017962" y="280193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FF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rgbClr val="6666FF"/>
                </a:solidFill>
                <a:latin typeface="Batang"/>
                <a:ea typeface="Batang"/>
                <a:cs typeface="Batang"/>
                <a:sym typeface="Batang"/>
              </a:rPr>
              <a:t>U3</a:t>
            </a:r>
          </a:p>
        </p:txBody>
      </p:sp>
      <p:sp>
        <p:nvSpPr>
          <p:cNvPr id="244" name="Shape 244"/>
          <p:cNvSpPr txBox="1"/>
          <p:nvPr/>
        </p:nvSpPr>
        <p:spPr>
          <a:xfrm>
            <a:off x="4067175" y="3357562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U2</a:t>
            </a:r>
          </a:p>
        </p:txBody>
      </p:sp>
      <p:sp>
        <p:nvSpPr>
          <p:cNvPr id="245" name="Shape 245"/>
          <p:cNvSpPr txBox="1"/>
          <p:nvPr/>
        </p:nvSpPr>
        <p:spPr>
          <a:xfrm>
            <a:off x="4284662" y="3716337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U1</a:t>
            </a:r>
          </a:p>
        </p:txBody>
      </p:sp>
      <p:sp>
        <p:nvSpPr>
          <p:cNvPr id="246" name="Shape 246"/>
          <p:cNvSpPr txBox="1"/>
          <p:nvPr/>
        </p:nvSpPr>
        <p:spPr>
          <a:xfrm>
            <a:off x="5435600" y="4437062"/>
            <a:ext cx="249872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Cantidad de pan</a:t>
            </a:r>
          </a:p>
        </p:txBody>
      </p:sp>
      <p:sp>
        <p:nvSpPr>
          <p:cNvPr id="247" name="Shape 247"/>
          <p:cNvSpPr txBox="1"/>
          <p:nvPr/>
        </p:nvSpPr>
        <p:spPr>
          <a:xfrm>
            <a:off x="34925" y="981075"/>
            <a:ext cx="2138361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Cantidad de fruta</a:t>
            </a:r>
          </a:p>
        </p:txBody>
      </p:sp>
      <p:cxnSp>
        <p:nvCxnSpPr>
          <p:cNvPr id="248" name="Shape 248"/>
          <p:cNvCxnSpPr/>
          <p:nvPr/>
        </p:nvCxnSpPr>
        <p:spPr>
          <a:xfrm>
            <a:off x="2268536" y="1484312"/>
            <a:ext cx="1871662" cy="324008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249" name="Shape 249"/>
          <p:cNvSpPr txBox="1"/>
          <p:nvPr/>
        </p:nvSpPr>
        <p:spPr>
          <a:xfrm>
            <a:off x="3563937" y="4243387"/>
            <a:ext cx="503236" cy="554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B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1</a:t>
            </a:r>
          </a:p>
        </p:txBody>
      </p:sp>
      <p:sp>
        <p:nvSpPr>
          <p:cNvPr id="250" name="Shape 250"/>
          <p:cNvSpPr txBox="1"/>
          <p:nvPr/>
        </p:nvSpPr>
        <p:spPr>
          <a:xfrm>
            <a:off x="3851275" y="1341437"/>
            <a:ext cx="5040312" cy="1584325"/>
          </a:xfrm>
          <a:prstGeom prst="rect">
            <a:avLst/>
          </a:prstGeom>
          <a:solidFill>
            <a:srgbClr val="FFFF00">
              <a:alpha val="68627"/>
            </a:srgbClr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La unión de todos los puntos de equilibrio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del consumidor que se han generado como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consecuencia de una variación de la renta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se denomina </a:t>
            </a:r>
            <a:r>
              <a:rPr b="1" i="0" lang="en-US" sz="1800" u="none" cap="none" strike="noStrike">
                <a:solidFill>
                  <a:srgbClr val="CC0099"/>
                </a:solidFill>
                <a:latin typeface="Batang"/>
                <a:ea typeface="Batang"/>
                <a:cs typeface="Batang"/>
                <a:sym typeface="Batang"/>
              </a:rPr>
              <a:t>función renta-consumo</a:t>
            </a: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, y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reflejaría la </a:t>
            </a:r>
            <a:r>
              <a:rPr b="1" i="0" lang="en-US" sz="18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senda de expansión del consumo</a:t>
            </a:r>
          </a:p>
        </p:txBody>
      </p:sp>
      <p:sp>
        <p:nvSpPr>
          <p:cNvPr id="251" name="Shape 251"/>
          <p:cNvSpPr txBox="1"/>
          <p:nvPr/>
        </p:nvSpPr>
        <p:spPr>
          <a:xfrm>
            <a:off x="2916236" y="2924175"/>
            <a:ext cx="287337" cy="36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B</a:t>
            </a:r>
          </a:p>
        </p:txBody>
      </p:sp>
      <p:cxnSp>
        <p:nvCxnSpPr>
          <p:cNvPr id="252" name="Shape 252"/>
          <p:cNvCxnSpPr/>
          <p:nvPr/>
        </p:nvCxnSpPr>
        <p:spPr>
          <a:xfrm>
            <a:off x="2700336" y="1484312"/>
            <a:ext cx="1871662" cy="3240087"/>
          </a:xfrm>
          <a:prstGeom prst="straightConnector1">
            <a:avLst/>
          </a:prstGeom>
          <a:noFill/>
          <a:ln cap="flat" cmpd="sng" w="25400">
            <a:solidFill>
              <a:srgbClr val="000080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253" name="Shape 253"/>
          <p:cNvCxnSpPr/>
          <p:nvPr/>
        </p:nvCxnSpPr>
        <p:spPr>
          <a:xfrm>
            <a:off x="2268536" y="2276475"/>
            <a:ext cx="1439862" cy="2447925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254" name="Shape 254"/>
          <p:cNvSpPr txBox="1"/>
          <p:nvPr/>
        </p:nvSpPr>
        <p:spPr>
          <a:xfrm>
            <a:off x="3132136" y="2563811"/>
            <a:ext cx="360362" cy="288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25000"/>
              <a:buFont typeface="Batang"/>
              <a:buNone/>
            </a:pPr>
            <a:r>
              <a:rPr b="1" i="0" lang="en-US" sz="14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C</a:t>
            </a:r>
          </a:p>
        </p:txBody>
      </p:sp>
      <p:sp>
        <p:nvSpPr>
          <p:cNvPr id="255" name="Shape 255"/>
          <p:cNvSpPr txBox="1"/>
          <p:nvPr/>
        </p:nvSpPr>
        <p:spPr>
          <a:xfrm>
            <a:off x="2720975" y="3378200"/>
            <a:ext cx="338136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Batang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A</a:t>
            </a:r>
          </a:p>
        </p:txBody>
      </p:sp>
      <p:sp>
        <p:nvSpPr>
          <p:cNvPr id="256" name="Shape 256"/>
          <p:cNvSpPr/>
          <p:nvPr/>
        </p:nvSpPr>
        <p:spPr>
          <a:xfrm>
            <a:off x="2843211" y="2420936"/>
            <a:ext cx="504825" cy="863600"/>
          </a:xfrm>
          <a:custGeom>
            <a:pathLst>
              <a:path extrusionOk="0" h="499" w="273">
                <a:moveTo>
                  <a:pt x="0" y="499"/>
                </a:moveTo>
                <a:cubicBezTo>
                  <a:pt x="45" y="404"/>
                  <a:pt x="91" y="310"/>
                  <a:pt x="136" y="227"/>
                </a:cubicBezTo>
                <a:cubicBezTo>
                  <a:pt x="181" y="144"/>
                  <a:pt x="250" y="38"/>
                  <a:pt x="273" y="0"/>
                </a:cubicBezTo>
              </a:path>
            </a:pathLst>
          </a:custGeom>
          <a:noFill/>
          <a:ln cap="flat" cmpd="sng" w="38100">
            <a:solidFill>
              <a:srgbClr val="80008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257" name="Shape 257"/>
          <p:cNvSpPr txBox="1"/>
          <p:nvPr/>
        </p:nvSpPr>
        <p:spPr>
          <a:xfrm>
            <a:off x="3995737" y="4292600"/>
            <a:ext cx="503236" cy="554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B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2</a:t>
            </a:r>
          </a:p>
        </p:txBody>
      </p:sp>
      <p:sp>
        <p:nvSpPr>
          <p:cNvPr id="258" name="Shape 258"/>
          <p:cNvSpPr txBox="1"/>
          <p:nvPr/>
        </p:nvSpPr>
        <p:spPr>
          <a:xfrm>
            <a:off x="4427537" y="4243387"/>
            <a:ext cx="503236" cy="554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B</a:t>
            </a:r>
            <a:r>
              <a:rPr b="1" baseline="-25000" i="0" lang="en-US" sz="18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3</a:t>
            </a:r>
          </a:p>
        </p:txBody>
      </p:sp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263"/>
          <p:cNvSpPr txBox="1"/>
          <p:nvPr>
            <p:ph type="title"/>
          </p:nvPr>
        </p:nvSpPr>
        <p:spPr>
          <a:xfrm>
            <a:off x="303212" y="201611"/>
            <a:ext cx="8840786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Garamond"/>
              <a:buNone/>
            </a:pPr>
            <a: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Análisis </a:t>
            </a:r>
            <a:b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del equilibrio del consumidor </a:t>
            </a:r>
            <a:r>
              <a:rPr b="0" i="0" lang="en-US" sz="2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(baja el precio del bien X)</a:t>
            </a:r>
          </a:p>
        </p:txBody>
      </p:sp>
      <p:sp>
        <p:nvSpPr>
          <p:cNvPr id="264" name="Shape 264"/>
          <p:cNvSpPr txBox="1"/>
          <p:nvPr/>
        </p:nvSpPr>
        <p:spPr>
          <a:xfrm flipH="1" rot="10800000">
            <a:off x="4213225" y="1219199"/>
            <a:ext cx="1943100" cy="2838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1-2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Efecto sustitución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+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2-3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Efecto renta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----------------------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1-3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Efecto precio</a:t>
            </a:r>
          </a:p>
        </p:txBody>
      </p:sp>
      <p:sp>
        <p:nvSpPr>
          <p:cNvPr id="265" name="Shape 265"/>
          <p:cNvSpPr txBox="1"/>
          <p:nvPr/>
        </p:nvSpPr>
        <p:spPr>
          <a:xfrm>
            <a:off x="7072311" y="2060575"/>
            <a:ext cx="1387474" cy="366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cxnSp>
        <p:nvCxnSpPr>
          <p:cNvPr id="266" name="Shape 266"/>
          <p:cNvCxnSpPr/>
          <p:nvPr/>
        </p:nvCxnSpPr>
        <p:spPr>
          <a:xfrm>
            <a:off x="684212" y="1844675"/>
            <a:ext cx="0" cy="424814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267" name="Shape 267"/>
          <p:cNvCxnSpPr/>
          <p:nvPr/>
        </p:nvCxnSpPr>
        <p:spPr>
          <a:xfrm>
            <a:off x="323850" y="5516562"/>
            <a:ext cx="54006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268" name="Shape 268"/>
          <p:cNvSpPr/>
          <p:nvPr/>
        </p:nvSpPr>
        <p:spPr>
          <a:xfrm>
            <a:off x="827087" y="1916111"/>
            <a:ext cx="4224336" cy="3421062"/>
          </a:xfrm>
          <a:custGeom>
            <a:pathLst>
              <a:path extrusionOk="0" h="2155" w="2661">
                <a:moveTo>
                  <a:pt x="0" y="0"/>
                </a:moveTo>
                <a:cubicBezTo>
                  <a:pt x="24" y="72"/>
                  <a:pt x="96" y="305"/>
                  <a:pt x="142" y="434"/>
                </a:cubicBezTo>
                <a:cubicBezTo>
                  <a:pt x="188" y="563"/>
                  <a:pt x="229" y="672"/>
                  <a:pt x="274" y="774"/>
                </a:cubicBezTo>
                <a:cubicBezTo>
                  <a:pt x="319" y="876"/>
                  <a:pt x="363" y="952"/>
                  <a:pt x="415" y="1048"/>
                </a:cubicBezTo>
                <a:cubicBezTo>
                  <a:pt x="467" y="1144"/>
                  <a:pt x="523" y="1254"/>
                  <a:pt x="585" y="1350"/>
                </a:cubicBezTo>
                <a:cubicBezTo>
                  <a:pt x="647" y="1446"/>
                  <a:pt x="666" y="1528"/>
                  <a:pt x="788" y="1623"/>
                </a:cubicBezTo>
                <a:cubicBezTo>
                  <a:pt x="910" y="1718"/>
                  <a:pt x="1123" y="1840"/>
                  <a:pt x="1320" y="1919"/>
                </a:cubicBezTo>
                <a:cubicBezTo>
                  <a:pt x="1517" y="1998"/>
                  <a:pt x="1749" y="2059"/>
                  <a:pt x="1972" y="2098"/>
                </a:cubicBezTo>
                <a:cubicBezTo>
                  <a:pt x="2195" y="2137"/>
                  <a:pt x="2518" y="2143"/>
                  <a:pt x="2661" y="2155"/>
                </a:cubicBezTo>
              </a:path>
            </a:pathLst>
          </a:custGeom>
          <a:noFill/>
          <a:ln cap="flat" cmpd="sng" w="25400">
            <a:solidFill>
              <a:srgbClr val="33CCCC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269" name="Shape 269"/>
          <p:cNvSpPr/>
          <p:nvPr/>
        </p:nvSpPr>
        <p:spPr>
          <a:xfrm>
            <a:off x="1049337" y="1319212"/>
            <a:ext cx="4556125" cy="3159125"/>
          </a:xfrm>
          <a:custGeom>
            <a:pathLst>
              <a:path extrusionOk="0" h="1990" w="2870">
                <a:moveTo>
                  <a:pt x="0" y="0"/>
                </a:moveTo>
                <a:cubicBezTo>
                  <a:pt x="35" y="79"/>
                  <a:pt x="151" y="349"/>
                  <a:pt x="208" y="472"/>
                </a:cubicBezTo>
                <a:cubicBezTo>
                  <a:pt x="265" y="595"/>
                  <a:pt x="280" y="632"/>
                  <a:pt x="340" y="736"/>
                </a:cubicBezTo>
                <a:cubicBezTo>
                  <a:pt x="400" y="840"/>
                  <a:pt x="452" y="958"/>
                  <a:pt x="567" y="1095"/>
                </a:cubicBezTo>
                <a:cubicBezTo>
                  <a:pt x="682" y="1232"/>
                  <a:pt x="870" y="1445"/>
                  <a:pt x="1029" y="1558"/>
                </a:cubicBezTo>
                <a:cubicBezTo>
                  <a:pt x="1188" y="1671"/>
                  <a:pt x="1323" y="1711"/>
                  <a:pt x="1520" y="1772"/>
                </a:cubicBezTo>
                <a:cubicBezTo>
                  <a:pt x="1717" y="1833"/>
                  <a:pt x="1984" y="1887"/>
                  <a:pt x="2209" y="1923"/>
                </a:cubicBezTo>
                <a:cubicBezTo>
                  <a:pt x="2434" y="1959"/>
                  <a:pt x="2732" y="1976"/>
                  <a:pt x="2870" y="1990"/>
                </a:cubicBezTo>
              </a:path>
            </a:pathLst>
          </a:custGeom>
          <a:noFill/>
          <a:ln cap="flat" cmpd="sng" w="28575">
            <a:solidFill>
              <a:srgbClr val="00008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cxnSp>
        <p:nvCxnSpPr>
          <p:cNvPr id="270" name="Shape 270"/>
          <p:cNvCxnSpPr/>
          <p:nvPr/>
        </p:nvCxnSpPr>
        <p:spPr>
          <a:xfrm>
            <a:off x="684212" y="2492375"/>
            <a:ext cx="2016124" cy="3024187"/>
          </a:xfrm>
          <a:prstGeom prst="straightConnector1">
            <a:avLst/>
          </a:prstGeom>
          <a:noFill/>
          <a:ln cap="flat" cmpd="sng" w="9525">
            <a:solidFill>
              <a:srgbClr val="FF00FF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271" name="Shape 271"/>
          <p:cNvCxnSpPr/>
          <p:nvPr/>
        </p:nvCxnSpPr>
        <p:spPr>
          <a:xfrm>
            <a:off x="684212" y="2492375"/>
            <a:ext cx="4608512" cy="3024187"/>
          </a:xfrm>
          <a:prstGeom prst="straightConnector1">
            <a:avLst/>
          </a:prstGeom>
          <a:noFill/>
          <a:ln cap="flat" cmpd="sng" w="9525">
            <a:solidFill>
              <a:srgbClr val="008000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272" name="Shape 272"/>
          <p:cNvCxnSpPr/>
          <p:nvPr/>
        </p:nvCxnSpPr>
        <p:spPr>
          <a:xfrm>
            <a:off x="539750" y="3500437"/>
            <a:ext cx="2951161" cy="19431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273" name="Shape 273"/>
          <p:cNvSpPr/>
          <p:nvPr/>
        </p:nvSpPr>
        <p:spPr>
          <a:xfrm>
            <a:off x="1908175" y="4292600"/>
            <a:ext cx="277811" cy="279400"/>
          </a:xfrm>
          <a:custGeom>
            <a:pathLst>
              <a:path extrusionOk="0" h="176" w="175">
                <a:moveTo>
                  <a:pt x="0" y="0"/>
                </a:moveTo>
                <a:cubicBezTo>
                  <a:pt x="10" y="15"/>
                  <a:pt x="33" y="62"/>
                  <a:pt x="62" y="91"/>
                </a:cubicBezTo>
                <a:cubicBezTo>
                  <a:pt x="91" y="120"/>
                  <a:pt x="152" y="158"/>
                  <a:pt x="175" y="176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cxnSp>
        <p:nvCxnSpPr>
          <p:cNvPr id="274" name="Shape 274"/>
          <p:cNvCxnSpPr/>
          <p:nvPr/>
        </p:nvCxnSpPr>
        <p:spPr>
          <a:xfrm flipH="1" rot="10800000">
            <a:off x="2124075" y="3789362"/>
            <a:ext cx="576262" cy="755649"/>
          </a:xfrm>
          <a:prstGeom prst="straightConnector1">
            <a:avLst/>
          </a:prstGeom>
          <a:noFill/>
          <a:ln cap="flat" cmpd="sng" w="9525">
            <a:solidFill>
              <a:srgbClr val="993300"/>
            </a:solidFill>
            <a:prstDash val="solid"/>
            <a:miter/>
            <a:headEnd len="med" w="med" type="oval"/>
            <a:tailEnd len="lg" w="lg" type="triangle"/>
          </a:ln>
        </p:spPr>
      </p:cxnSp>
      <p:cxnSp>
        <p:nvCxnSpPr>
          <p:cNvPr id="275" name="Shape 275"/>
          <p:cNvCxnSpPr/>
          <p:nvPr/>
        </p:nvCxnSpPr>
        <p:spPr>
          <a:xfrm flipH="1" rot="10800000">
            <a:off x="1908175" y="3789361"/>
            <a:ext cx="792162" cy="503236"/>
          </a:xfrm>
          <a:prstGeom prst="straightConnector1">
            <a:avLst/>
          </a:prstGeom>
          <a:noFill/>
          <a:ln cap="flat" cmpd="sng" w="19050">
            <a:solidFill>
              <a:srgbClr val="008000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276" name="Shape 276"/>
          <p:cNvCxnSpPr/>
          <p:nvPr/>
        </p:nvCxnSpPr>
        <p:spPr>
          <a:xfrm rot="10800000">
            <a:off x="684211" y="4292600"/>
            <a:ext cx="12223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oval"/>
            <a:tailEnd len="med" w="med" type="none"/>
          </a:ln>
        </p:spPr>
      </p:cxnSp>
      <p:cxnSp>
        <p:nvCxnSpPr>
          <p:cNvPr id="277" name="Shape 277"/>
          <p:cNvCxnSpPr/>
          <p:nvPr/>
        </p:nvCxnSpPr>
        <p:spPr>
          <a:xfrm>
            <a:off x="1908175" y="4292600"/>
            <a:ext cx="0" cy="122396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278" name="Shape 278"/>
          <p:cNvCxnSpPr/>
          <p:nvPr/>
        </p:nvCxnSpPr>
        <p:spPr>
          <a:xfrm>
            <a:off x="2700336" y="3789362"/>
            <a:ext cx="0" cy="172719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279" name="Shape 279"/>
          <p:cNvSpPr txBox="1"/>
          <p:nvPr/>
        </p:nvSpPr>
        <p:spPr>
          <a:xfrm>
            <a:off x="57150" y="12192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Cantidad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de bien Y</a:t>
            </a:r>
          </a:p>
        </p:txBody>
      </p:sp>
      <p:sp>
        <p:nvSpPr>
          <p:cNvPr id="280" name="Shape 280"/>
          <p:cNvSpPr txBox="1"/>
          <p:nvPr/>
        </p:nvSpPr>
        <p:spPr>
          <a:xfrm>
            <a:off x="5602287" y="5322887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Cantidad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de bien X</a:t>
            </a:r>
          </a:p>
        </p:txBody>
      </p:sp>
      <p:sp>
        <p:nvSpPr>
          <p:cNvPr id="281" name="Shape 281"/>
          <p:cNvSpPr txBox="1"/>
          <p:nvPr/>
        </p:nvSpPr>
        <p:spPr>
          <a:xfrm>
            <a:off x="3441700" y="35941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U2</a:t>
            </a:r>
          </a:p>
        </p:txBody>
      </p:sp>
      <p:sp>
        <p:nvSpPr>
          <p:cNvPr id="282" name="Shape 282"/>
          <p:cNvSpPr txBox="1"/>
          <p:nvPr/>
        </p:nvSpPr>
        <p:spPr>
          <a:xfrm>
            <a:off x="2916236" y="42926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U1</a:t>
            </a:r>
          </a:p>
        </p:txBody>
      </p:sp>
      <p:sp>
        <p:nvSpPr>
          <p:cNvPr id="283" name="Shape 283"/>
          <p:cNvSpPr txBox="1"/>
          <p:nvPr/>
        </p:nvSpPr>
        <p:spPr>
          <a:xfrm>
            <a:off x="1547812" y="42926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2</a:t>
            </a:r>
          </a:p>
        </p:txBody>
      </p:sp>
      <p:sp>
        <p:nvSpPr>
          <p:cNvPr id="284" name="Shape 284"/>
          <p:cNvSpPr txBox="1"/>
          <p:nvPr/>
        </p:nvSpPr>
        <p:spPr>
          <a:xfrm>
            <a:off x="1403350" y="3716337"/>
            <a:ext cx="914400" cy="649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1</a:t>
            </a:r>
          </a:p>
        </p:txBody>
      </p:sp>
      <p:sp>
        <p:nvSpPr>
          <p:cNvPr id="285" name="Shape 285"/>
          <p:cNvSpPr txBox="1"/>
          <p:nvPr/>
        </p:nvSpPr>
        <p:spPr>
          <a:xfrm>
            <a:off x="2411411" y="3284537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3</a:t>
            </a:r>
          </a:p>
        </p:txBody>
      </p:sp>
      <p:sp>
        <p:nvSpPr>
          <p:cNvPr id="286" name="Shape 286"/>
          <p:cNvSpPr txBox="1"/>
          <p:nvPr/>
        </p:nvSpPr>
        <p:spPr>
          <a:xfrm>
            <a:off x="34925" y="38100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Qy1</a:t>
            </a:r>
          </a:p>
        </p:txBody>
      </p:sp>
      <p:sp>
        <p:nvSpPr>
          <p:cNvPr id="287" name="Shape 287"/>
          <p:cNvSpPr txBox="1"/>
          <p:nvPr/>
        </p:nvSpPr>
        <p:spPr>
          <a:xfrm>
            <a:off x="1354137" y="5157787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Qx1</a:t>
            </a:r>
          </a:p>
        </p:txBody>
      </p:sp>
      <p:sp>
        <p:nvSpPr>
          <p:cNvPr id="288" name="Shape 288"/>
          <p:cNvSpPr txBox="1"/>
          <p:nvPr/>
        </p:nvSpPr>
        <p:spPr>
          <a:xfrm>
            <a:off x="2268536" y="5157787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Qx3</a:t>
            </a:r>
          </a:p>
        </p:txBody>
      </p:sp>
      <p:sp>
        <p:nvSpPr>
          <p:cNvPr id="289" name="Shape 289"/>
          <p:cNvSpPr txBox="1"/>
          <p:nvPr/>
        </p:nvSpPr>
        <p:spPr>
          <a:xfrm>
            <a:off x="395287" y="258603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B1</a:t>
            </a:r>
          </a:p>
        </p:txBody>
      </p:sp>
      <p:sp>
        <p:nvSpPr>
          <p:cNvPr id="290" name="Shape 290"/>
          <p:cNvSpPr txBox="1"/>
          <p:nvPr/>
        </p:nvSpPr>
        <p:spPr>
          <a:xfrm>
            <a:off x="1136650" y="237013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B2</a:t>
            </a:r>
          </a:p>
        </p:txBody>
      </p:sp>
      <p:cxnSp>
        <p:nvCxnSpPr>
          <p:cNvPr id="291" name="Shape 291"/>
          <p:cNvCxnSpPr/>
          <p:nvPr/>
        </p:nvCxnSpPr>
        <p:spPr>
          <a:xfrm>
            <a:off x="2124075" y="5516562"/>
            <a:ext cx="576262" cy="0"/>
          </a:xfrm>
          <a:prstGeom prst="straightConnector1">
            <a:avLst/>
          </a:prstGeom>
          <a:noFill/>
          <a:ln cap="flat" cmpd="sng" w="476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sp>
        <p:nvSpPr>
          <p:cNvPr id="292" name="Shape 292"/>
          <p:cNvSpPr txBox="1"/>
          <p:nvPr/>
        </p:nvSpPr>
        <p:spPr>
          <a:xfrm>
            <a:off x="6011862" y="1773236"/>
            <a:ext cx="3132137" cy="3313112"/>
          </a:xfrm>
          <a:prstGeom prst="rect">
            <a:avLst/>
          </a:prstGeom>
          <a:solidFill>
            <a:schemeClr val="accent1">
              <a:alpha val="38823"/>
            </a:schemeClr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Conclusión:</a:t>
            </a:r>
          </a:p>
          <a:p>
            <a:pPr indent="0" lvl="2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Al bajar el precio 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del bien X, los consumidores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deciden aumentar la cantidad 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consumida de ese bien, ya que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se alinean en el mismo sentido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las proyecciones de los efectos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sustitución y renta.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cxnSp>
        <p:nvCxnSpPr>
          <p:cNvPr id="293" name="Shape 293"/>
          <p:cNvCxnSpPr/>
          <p:nvPr/>
        </p:nvCxnSpPr>
        <p:spPr>
          <a:xfrm>
            <a:off x="1908175" y="5516562"/>
            <a:ext cx="288925" cy="0"/>
          </a:xfrm>
          <a:prstGeom prst="straightConnector1">
            <a:avLst/>
          </a:prstGeom>
          <a:noFill/>
          <a:ln cap="flat" cmpd="sng" w="476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 txBox="1"/>
          <p:nvPr>
            <p:ph type="title"/>
          </p:nvPr>
        </p:nvSpPr>
        <p:spPr>
          <a:xfrm>
            <a:off x="1887536" y="1052512"/>
            <a:ext cx="6213475" cy="6302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Garamond"/>
              <a:buNone/>
            </a:pPr>
            <a: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CURVA PRECIO CONSUMO</a:t>
            </a:r>
            <a:b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</a:br>
          </a:p>
        </p:txBody>
      </p:sp>
      <p:sp>
        <p:nvSpPr>
          <p:cNvPr id="299" name="Shape 299"/>
          <p:cNvSpPr txBox="1"/>
          <p:nvPr/>
        </p:nvSpPr>
        <p:spPr>
          <a:xfrm>
            <a:off x="7072311" y="2060575"/>
            <a:ext cx="1387474" cy="366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cxnSp>
        <p:nvCxnSpPr>
          <p:cNvPr id="300" name="Shape 300"/>
          <p:cNvCxnSpPr/>
          <p:nvPr/>
        </p:nvCxnSpPr>
        <p:spPr>
          <a:xfrm>
            <a:off x="684212" y="1844675"/>
            <a:ext cx="0" cy="424814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301" name="Shape 301"/>
          <p:cNvCxnSpPr/>
          <p:nvPr/>
        </p:nvCxnSpPr>
        <p:spPr>
          <a:xfrm>
            <a:off x="323850" y="5516562"/>
            <a:ext cx="763269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302" name="Shape 302"/>
          <p:cNvSpPr/>
          <p:nvPr/>
        </p:nvSpPr>
        <p:spPr>
          <a:xfrm>
            <a:off x="755650" y="2276475"/>
            <a:ext cx="3192461" cy="2863850"/>
          </a:xfrm>
          <a:custGeom>
            <a:pathLst>
              <a:path extrusionOk="0" h="1804" w="2011">
                <a:moveTo>
                  <a:pt x="0" y="0"/>
                </a:moveTo>
                <a:cubicBezTo>
                  <a:pt x="17" y="38"/>
                  <a:pt x="61" y="140"/>
                  <a:pt x="104" y="227"/>
                </a:cubicBezTo>
                <a:cubicBezTo>
                  <a:pt x="147" y="314"/>
                  <a:pt x="198" y="415"/>
                  <a:pt x="255" y="520"/>
                </a:cubicBezTo>
                <a:cubicBezTo>
                  <a:pt x="312" y="625"/>
                  <a:pt x="350" y="710"/>
                  <a:pt x="444" y="859"/>
                </a:cubicBezTo>
                <a:cubicBezTo>
                  <a:pt x="538" y="1008"/>
                  <a:pt x="668" y="1279"/>
                  <a:pt x="822" y="1417"/>
                </a:cubicBezTo>
                <a:cubicBezTo>
                  <a:pt x="976" y="1555"/>
                  <a:pt x="1171" y="1626"/>
                  <a:pt x="1369" y="1690"/>
                </a:cubicBezTo>
                <a:cubicBezTo>
                  <a:pt x="1567" y="1754"/>
                  <a:pt x="1904" y="1785"/>
                  <a:pt x="2011" y="1804"/>
                </a:cubicBezTo>
              </a:path>
            </a:pathLst>
          </a:custGeom>
          <a:noFill/>
          <a:ln cap="flat" cmpd="sng" w="25400">
            <a:solidFill>
              <a:srgbClr val="33CCCC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303" name="Shape 303"/>
          <p:cNvSpPr/>
          <p:nvPr/>
        </p:nvSpPr>
        <p:spPr>
          <a:xfrm>
            <a:off x="1692275" y="1989136"/>
            <a:ext cx="4556125" cy="3159125"/>
          </a:xfrm>
          <a:custGeom>
            <a:pathLst>
              <a:path extrusionOk="0" h="1990" w="2870">
                <a:moveTo>
                  <a:pt x="0" y="0"/>
                </a:moveTo>
                <a:cubicBezTo>
                  <a:pt x="35" y="79"/>
                  <a:pt x="151" y="349"/>
                  <a:pt x="208" y="472"/>
                </a:cubicBezTo>
                <a:cubicBezTo>
                  <a:pt x="265" y="595"/>
                  <a:pt x="280" y="632"/>
                  <a:pt x="340" y="736"/>
                </a:cubicBezTo>
                <a:cubicBezTo>
                  <a:pt x="400" y="840"/>
                  <a:pt x="452" y="958"/>
                  <a:pt x="567" y="1095"/>
                </a:cubicBezTo>
                <a:cubicBezTo>
                  <a:pt x="682" y="1232"/>
                  <a:pt x="870" y="1445"/>
                  <a:pt x="1029" y="1558"/>
                </a:cubicBezTo>
                <a:cubicBezTo>
                  <a:pt x="1188" y="1671"/>
                  <a:pt x="1323" y="1711"/>
                  <a:pt x="1520" y="1772"/>
                </a:cubicBezTo>
                <a:cubicBezTo>
                  <a:pt x="1717" y="1833"/>
                  <a:pt x="1984" y="1887"/>
                  <a:pt x="2209" y="1923"/>
                </a:cubicBezTo>
                <a:cubicBezTo>
                  <a:pt x="2434" y="1959"/>
                  <a:pt x="2732" y="1976"/>
                  <a:pt x="2870" y="1990"/>
                </a:cubicBezTo>
              </a:path>
            </a:pathLst>
          </a:custGeom>
          <a:noFill/>
          <a:ln cap="flat" cmpd="sng" w="28575">
            <a:solidFill>
              <a:srgbClr val="00008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cxnSp>
        <p:nvCxnSpPr>
          <p:cNvPr id="304" name="Shape 304"/>
          <p:cNvCxnSpPr/>
          <p:nvPr/>
        </p:nvCxnSpPr>
        <p:spPr>
          <a:xfrm>
            <a:off x="684212" y="2492375"/>
            <a:ext cx="1943100" cy="3024187"/>
          </a:xfrm>
          <a:prstGeom prst="straightConnector1">
            <a:avLst/>
          </a:prstGeom>
          <a:noFill/>
          <a:ln cap="flat" cmpd="sng" w="9525">
            <a:solidFill>
              <a:srgbClr val="33CCCC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305" name="Shape 305"/>
          <p:cNvCxnSpPr/>
          <p:nvPr/>
        </p:nvCxnSpPr>
        <p:spPr>
          <a:xfrm>
            <a:off x="684212" y="2492375"/>
            <a:ext cx="4032249" cy="3024187"/>
          </a:xfrm>
          <a:prstGeom prst="straightConnector1">
            <a:avLst/>
          </a:prstGeom>
          <a:noFill/>
          <a:ln cap="flat" cmpd="sng" w="9525">
            <a:solidFill>
              <a:srgbClr val="000080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306" name="Shape 306"/>
          <p:cNvSpPr txBox="1"/>
          <p:nvPr/>
        </p:nvSpPr>
        <p:spPr>
          <a:xfrm>
            <a:off x="273050" y="1146175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Cantidad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de bien Y</a:t>
            </a:r>
          </a:p>
        </p:txBody>
      </p:sp>
      <p:sp>
        <p:nvSpPr>
          <p:cNvPr id="307" name="Shape 307"/>
          <p:cNvSpPr txBox="1"/>
          <p:nvPr/>
        </p:nvSpPr>
        <p:spPr>
          <a:xfrm>
            <a:off x="7740650" y="5394325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Cantidad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de bien X</a:t>
            </a:r>
          </a:p>
        </p:txBody>
      </p:sp>
      <p:sp>
        <p:nvSpPr>
          <p:cNvPr id="308" name="Shape 308"/>
          <p:cNvSpPr txBox="1"/>
          <p:nvPr/>
        </p:nvSpPr>
        <p:spPr>
          <a:xfrm>
            <a:off x="5099050" y="4459287"/>
            <a:ext cx="98583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U2</a:t>
            </a:r>
          </a:p>
        </p:txBody>
      </p:sp>
      <p:sp>
        <p:nvSpPr>
          <p:cNvPr id="309" name="Shape 309"/>
          <p:cNvSpPr txBox="1"/>
          <p:nvPr/>
        </p:nvSpPr>
        <p:spPr>
          <a:xfrm>
            <a:off x="4284662" y="4652962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rgbClr val="33CCFF"/>
                </a:solidFill>
                <a:latin typeface="Batang"/>
                <a:ea typeface="Batang"/>
                <a:cs typeface="Batang"/>
                <a:sym typeface="Batang"/>
              </a:rPr>
              <a:t>U1</a:t>
            </a:r>
          </a:p>
        </p:txBody>
      </p:sp>
      <p:sp>
        <p:nvSpPr>
          <p:cNvPr id="310" name="Shape 310"/>
          <p:cNvSpPr txBox="1"/>
          <p:nvPr/>
        </p:nvSpPr>
        <p:spPr>
          <a:xfrm>
            <a:off x="2936875" y="38100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2</a:t>
            </a:r>
          </a:p>
        </p:txBody>
      </p:sp>
      <p:sp>
        <p:nvSpPr>
          <p:cNvPr id="311" name="Shape 311"/>
          <p:cNvSpPr txBox="1"/>
          <p:nvPr/>
        </p:nvSpPr>
        <p:spPr>
          <a:xfrm>
            <a:off x="1258887" y="34290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1</a:t>
            </a:r>
          </a:p>
        </p:txBody>
      </p:sp>
      <p:sp>
        <p:nvSpPr>
          <p:cNvPr id="312" name="Shape 312"/>
          <p:cNvSpPr txBox="1"/>
          <p:nvPr/>
        </p:nvSpPr>
        <p:spPr>
          <a:xfrm>
            <a:off x="5170487" y="4027487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3</a:t>
            </a:r>
          </a:p>
        </p:txBody>
      </p:sp>
      <p:sp>
        <p:nvSpPr>
          <p:cNvPr id="313" name="Shape 313"/>
          <p:cNvSpPr txBox="1"/>
          <p:nvPr/>
        </p:nvSpPr>
        <p:spPr>
          <a:xfrm>
            <a:off x="1908175" y="4891087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rgbClr val="33CCFF"/>
                </a:solidFill>
                <a:latin typeface="Batang"/>
                <a:ea typeface="Batang"/>
                <a:cs typeface="Batang"/>
                <a:sym typeface="Batang"/>
              </a:rPr>
              <a:t>B1</a:t>
            </a:r>
          </a:p>
        </p:txBody>
      </p:sp>
      <p:sp>
        <p:nvSpPr>
          <p:cNvPr id="314" name="Shape 314"/>
          <p:cNvSpPr txBox="1"/>
          <p:nvPr/>
        </p:nvSpPr>
        <p:spPr>
          <a:xfrm>
            <a:off x="4356100" y="4941887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B2</a:t>
            </a:r>
          </a:p>
        </p:txBody>
      </p:sp>
      <p:sp>
        <p:nvSpPr>
          <p:cNvPr id="315" name="Shape 315"/>
          <p:cNvSpPr/>
          <p:nvPr/>
        </p:nvSpPr>
        <p:spPr>
          <a:xfrm>
            <a:off x="3635375" y="1916111"/>
            <a:ext cx="4556125" cy="3159125"/>
          </a:xfrm>
          <a:custGeom>
            <a:pathLst>
              <a:path extrusionOk="0" h="1990" w="2870">
                <a:moveTo>
                  <a:pt x="0" y="0"/>
                </a:moveTo>
                <a:cubicBezTo>
                  <a:pt x="35" y="79"/>
                  <a:pt x="151" y="349"/>
                  <a:pt x="208" y="472"/>
                </a:cubicBezTo>
                <a:cubicBezTo>
                  <a:pt x="265" y="595"/>
                  <a:pt x="280" y="632"/>
                  <a:pt x="340" y="736"/>
                </a:cubicBezTo>
                <a:cubicBezTo>
                  <a:pt x="400" y="840"/>
                  <a:pt x="452" y="958"/>
                  <a:pt x="567" y="1095"/>
                </a:cubicBezTo>
                <a:cubicBezTo>
                  <a:pt x="682" y="1232"/>
                  <a:pt x="870" y="1445"/>
                  <a:pt x="1029" y="1558"/>
                </a:cubicBezTo>
                <a:cubicBezTo>
                  <a:pt x="1188" y="1671"/>
                  <a:pt x="1323" y="1711"/>
                  <a:pt x="1520" y="1772"/>
                </a:cubicBezTo>
                <a:cubicBezTo>
                  <a:pt x="1717" y="1833"/>
                  <a:pt x="1984" y="1887"/>
                  <a:pt x="2209" y="1923"/>
                </a:cubicBezTo>
                <a:cubicBezTo>
                  <a:pt x="2434" y="1959"/>
                  <a:pt x="2732" y="1976"/>
                  <a:pt x="2870" y="199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cxnSp>
        <p:nvCxnSpPr>
          <p:cNvPr id="316" name="Shape 316"/>
          <p:cNvCxnSpPr/>
          <p:nvPr/>
        </p:nvCxnSpPr>
        <p:spPr>
          <a:xfrm>
            <a:off x="684212" y="2492375"/>
            <a:ext cx="7056437" cy="3024187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317" name="Shape 317"/>
          <p:cNvSpPr/>
          <p:nvPr/>
        </p:nvSpPr>
        <p:spPr>
          <a:xfrm>
            <a:off x="1693861" y="4062412"/>
            <a:ext cx="3867150" cy="539750"/>
          </a:xfrm>
          <a:custGeom>
            <a:pathLst>
              <a:path extrusionOk="0" h="340" w="2436">
                <a:moveTo>
                  <a:pt x="0" y="0"/>
                </a:moveTo>
                <a:cubicBezTo>
                  <a:pt x="161" y="36"/>
                  <a:pt x="557" y="160"/>
                  <a:pt x="963" y="217"/>
                </a:cubicBezTo>
                <a:cubicBezTo>
                  <a:pt x="1369" y="274"/>
                  <a:pt x="2129" y="315"/>
                  <a:pt x="2436" y="340"/>
                </a:cubicBezTo>
              </a:path>
            </a:pathLst>
          </a:custGeom>
          <a:noFill/>
          <a:ln cap="flat" cmpd="sng" w="4127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318" name="Shape 318"/>
          <p:cNvSpPr txBox="1"/>
          <p:nvPr/>
        </p:nvSpPr>
        <p:spPr>
          <a:xfrm>
            <a:off x="6465887" y="4098925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U3</a:t>
            </a:r>
          </a:p>
        </p:txBody>
      </p:sp>
      <p:sp>
        <p:nvSpPr>
          <p:cNvPr id="319" name="Shape 319"/>
          <p:cNvSpPr txBox="1"/>
          <p:nvPr/>
        </p:nvSpPr>
        <p:spPr>
          <a:xfrm>
            <a:off x="7042150" y="47244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B3</a:t>
            </a:r>
          </a:p>
        </p:txBody>
      </p:sp>
      <p:sp>
        <p:nvSpPr>
          <p:cNvPr id="320" name="Shape 320"/>
          <p:cNvSpPr txBox="1"/>
          <p:nvPr/>
        </p:nvSpPr>
        <p:spPr>
          <a:xfrm>
            <a:off x="4140200" y="1793875"/>
            <a:ext cx="4752974" cy="1739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Curva PRECIO CONSUMO</a:t>
            </a: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 muestra cómo el nivel óptimo de consumo de dos bienes varía al cambiar el precio de uno de ellos, suponiendo que el nivel de renta y el precio del otro bien se mantengan constantes. </a:t>
            </a:r>
          </a:p>
        </p:txBody>
      </p: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Shape 325"/>
          <p:cNvSpPr txBox="1"/>
          <p:nvPr>
            <p:ph idx="4294967295"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Garamond"/>
              <a:buNone/>
            </a:pPr>
            <a: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Función Demanda</a:t>
            </a:r>
            <a:b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(variable independiente = Precio)</a:t>
            </a:r>
          </a:p>
        </p:txBody>
      </p:sp>
      <p:sp>
        <p:nvSpPr>
          <p:cNvPr id="326" name="Shape 326"/>
          <p:cNvSpPr txBox="1"/>
          <p:nvPr>
            <p:ph idx="4294967295" type="body"/>
          </p:nvPr>
        </p:nvSpPr>
        <p:spPr>
          <a:xfrm>
            <a:off x="468312" y="3651250"/>
            <a:ext cx="3598862" cy="29463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ymbol"/>
              <a:buChar char="■"/>
            </a:pPr>
            <a:r>
              <a:rPr b="1" i="0" lang="en-US" sz="2400" u="none" cap="none" strike="noStrike">
                <a:solidFill>
                  <a:srgbClr val="6666FF"/>
                </a:solidFill>
                <a:latin typeface="Batang"/>
                <a:ea typeface="Batang"/>
                <a:cs typeface="Batang"/>
                <a:sym typeface="Batang"/>
              </a:rPr>
              <a:t>El resto de las variables está bajo la condición “Céteris paribus”</a:t>
            </a:r>
          </a:p>
          <a:p>
            <a:pPr indent="-361950" lvl="2" marL="102235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ct val="64999"/>
              <a:buFont typeface="Noto Symbol"/>
              <a:buChar char="■"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Renta </a:t>
            </a:r>
          </a:p>
          <a:p>
            <a:pPr indent="-361950" lvl="2" marL="102235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ct val="64999"/>
              <a:buFont typeface="Noto Symbol"/>
              <a:buChar char="■"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Bienes relacionados</a:t>
            </a:r>
          </a:p>
          <a:p>
            <a:pPr indent="-361950" lvl="2" marL="102235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ct val="64999"/>
              <a:buFont typeface="Noto Symbol"/>
              <a:buChar char="■"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Expectativas</a:t>
            </a:r>
          </a:p>
          <a:p>
            <a:pPr indent="-347661" lvl="4" marL="1681161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ymbol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Modas</a:t>
            </a:r>
          </a:p>
          <a:p>
            <a:pPr indent="-347661" lvl="4" marL="1681161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ymbol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Gustos</a:t>
            </a:r>
          </a:p>
          <a:p>
            <a:pPr indent="-347661" lvl="4" marL="1681161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Noto Symbol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Costumbres</a:t>
            </a:r>
          </a:p>
        </p:txBody>
      </p:sp>
      <p:sp>
        <p:nvSpPr>
          <p:cNvPr id="327" name="Shape 327"/>
          <p:cNvSpPr txBox="1"/>
          <p:nvPr>
            <p:ph idx="4294967295" type="body"/>
          </p:nvPr>
        </p:nvSpPr>
        <p:spPr>
          <a:xfrm>
            <a:off x="323850" y="1557337"/>
            <a:ext cx="3887786" cy="1973262"/>
          </a:xfrm>
          <a:prstGeom prst="rect">
            <a:avLst/>
          </a:prstGeom>
          <a:solidFill>
            <a:schemeClr val="accent1">
              <a:alpha val="39607"/>
            </a:scheme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La función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demanda </a:t>
            </a:r>
            <a:r>
              <a:rPr b="0" i="0" lang="en-US" sz="2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tiene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pendiente negativa</a:t>
            </a:r>
            <a:r>
              <a:rPr b="0" i="0" lang="en-US" sz="2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 ya que a medida que sube el precio disminuye la cantidad demandada, mientras que si baja el precio aumenta la cantidad demandada.</a:t>
            </a:r>
          </a:p>
        </p:txBody>
      </p:sp>
      <p:cxnSp>
        <p:nvCxnSpPr>
          <p:cNvPr id="328" name="Shape 328"/>
          <p:cNvCxnSpPr/>
          <p:nvPr/>
        </p:nvCxnSpPr>
        <p:spPr>
          <a:xfrm>
            <a:off x="4932362" y="1773236"/>
            <a:ext cx="0" cy="4319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329" name="Shape 329"/>
          <p:cNvCxnSpPr/>
          <p:nvPr/>
        </p:nvCxnSpPr>
        <p:spPr>
          <a:xfrm>
            <a:off x="4572000" y="5805487"/>
            <a:ext cx="457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330" name="Shape 330"/>
          <p:cNvSpPr txBox="1"/>
          <p:nvPr/>
        </p:nvSpPr>
        <p:spPr>
          <a:xfrm>
            <a:off x="4140200" y="1125537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Precio</a:t>
            </a:r>
          </a:p>
        </p:txBody>
      </p:sp>
      <p:sp>
        <p:nvSpPr>
          <p:cNvPr id="331" name="Shape 331"/>
          <p:cNvSpPr txBox="1"/>
          <p:nvPr/>
        </p:nvSpPr>
        <p:spPr>
          <a:xfrm>
            <a:off x="8121650" y="5538787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Cantidad</a:t>
            </a:r>
          </a:p>
        </p:txBody>
      </p:sp>
      <p:cxnSp>
        <p:nvCxnSpPr>
          <p:cNvPr id="332" name="Shape 332"/>
          <p:cNvCxnSpPr/>
          <p:nvPr/>
        </p:nvCxnSpPr>
        <p:spPr>
          <a:xfrm>
            <a:off x="4932362" y="2997200"/>
            <a:ext cx="1223961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333" name="Shape 333"/>
          <p:cNvCxnSpPr/>
          <p:nvPr/>
        </p:nvCxnSpPr>
        <p:spPr>
          <a:xfrm>
            <a:off x="4932362" y="3933825"/>
            <a:ext cx="2519361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334" name="Shape 334"/>
          <p:cNvCxnSpPr/>
          <p:nvPr/>
        </p:nvCxnSpPr>
        <p:spPr>
          <a:xfrm>
            <a:off x="6156325" y="2997200"/>
            <a:ext cx="0" cy="280669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335" name="Shape 335"/>
          <p:cNvCxnSpPr/>
          <p:nvPr/>
        </p:nvCxnSpPr>
        <p:spPr>
          <a:xfrm>
            <a:off x="7451725" y="3933825"/>
            <a:ext cx="0" cy="187007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336" name="Shape 336"/>
          <p:cNvCxnSpPr/>
          <p:nvPr/>
        </p:nvCxnSpPr>
        <p:spPr>
          <a:xfrm>
            <a:off x="5292725" y="2349500"/>
            <a:ext cx="2951161" cy="2158999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337" name="Shape 337"/>
          <p:cNvSpPr txBox="1"/>
          <p:nvPr/>
        </p:nvSpPr>
        <p:spPr>
          <a:xfrm>
            <a:off x="4140200" y="25146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P2</a:t>
            </a:r>
          </a:p>
        </p:txBody>
      </p:sp>
      <p:sp>
        <p:nvSpPr>
          <p:cNvPr id="338" name="Shape 338"/>
          <p:cNvSpPr txBox="1"/>
          <p:nvPr/>
        </p:nvSpPr>
        <p:spPr>
          <a:xfrm>
            <a:off x="4140200" y="3451225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P1</a:t>
            </a:r>
          </a:p>
        </p:txBody>
      </p:sp>
      <p:sp>
        <p:nvSpPr>
          <p:cNvPr id="339" name="Shape 339"/>
          <p:cNvSpPr txBox="1"/>
          <p:nvPr/>
        </p:nvSpPr>
        <p:spPr>
          <a:xfrm>
            <a:off x="5673725" y="546735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Q2</a:t>
            </a:r>
          </a:p>
        </p:txBody>
      </p:sp>
      <p:sp>
        <p:nvSpPr>
          <p:cNvPr id="340" name="Shape 340"/>
          <p:cNvSpPr txBox="1"/>
          <p:nvPr/>
        </p:nvSpPr>
        <p:spPr>
          <a:xfrm>
            <a:off x="6970711" y="5445125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Q1</a:t>
            </a:r>
          </a:p>
        </p:txBody>
      </p:sp>
      <p:sp>
        <p:nvSpPr>
          <p:cNvPr id="341" name="Shape 341"/>
          <p:cNvSpPr txBox="1"/>
          <p:nvPr/>
        </p:nvSpPr>
        <p:spPr>
          <a:xfrm>
            <a:off x="5889625" y="2276475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Demanda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Shape 346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Garamond"/>
              <a:buNone/>
            </a:pPr>
            <a:r>
              <a:rPr b="0" i="0" lang="en-US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Demanda Combinada</a:t>
            </a:r>
          </a:p>
        </p:txBody>
      </p:sp>
      <p:sp>
        <p:nvSpPr>
          <p:cNvPr id="347" name="Shape 347"/>
          <p:cNvSpPr txBox="1"/>
          <p:nvPr>
            <p:ph idx="1" type="body"/>
          </p:nvPr>
        </p:nvSpPr>
        <p:spPr>
          <a:xfrm>
            <a:off x="468312" y="1628775"/>
            <a:ext cx="8229600" cy="453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Suma de demandas individuales</a:t>
            </a:r>
          </a:p>
        </p:txBody>
      </p:sp>
      <p:sp>
        <p:nvSpPr>
          <p:cNvPr id="348" name="Shape 34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pic>
        <p:nvPicPr>
          <p:cNvPr id="349" name="Shape 3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" y="1989136"/>
            <a:ext cx="2193925" cy="2935287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Shape 35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pic>
        <p:nvPicPr>
          <p:cNvPr id="351" name="Shape 3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6600" y="1989136"/>
            <a:ext cx="2343150" cy="2935287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Shape 35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353" name="Shape 353"/>
          <p:cNvSpPr txBox="1"/>
          <p:nvPr/>
        </p:nvSpPr>
        <p:spPr>
          <a:xfrm>
            <a:off x="827087" y="4941887"/>
            <a:ext cx="7777162" cy="119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Batang"/>
                <a:ea typeface="Batang"/>
                <a:cs typeface="Batang"/>
                <a:sym typeface="Batang"/>
              </a:rPr>
              <a:t>Por ejemplo en los gráficos de la figura anterior Juan a 10 $/u no consume, mientras que Pedro si lo hace, si el mercado solo estuviera compuesto por Juan y Pedro tendríamos que sumar sus demandas individuales tal como aparece en el de la demanda combinada.</a:t>
            </a:r>
          </a:p>
        </p:txBody>
      </p:sp>
      <p:cxnSp>
        <p:nvCxnSpPr>
          <p:cNvPr id="354" name="Shape 354"/>
          <p:cNvCxnSpPr/>
          <p:nvPr/>
        </p:nvCxnSpPr>
        <p:spPr>
          <a:xfrm>
            <a:off x="1619250" y="3573462"/>
            <a:ext cx="21589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355" name="Shape 355"/>
          <p:cNvCxnSpPr/>
          <p:nvPr/>
        </p:nvCxnSpPr>
        <p:spPr>
          <a:xfrm>
            <a:off x="3924300" y="3573462"/>
            <a:ext cx="43179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356" name="Shape 356"/>
          <p:cNvCxnSpPr/>
          <p:nvPr/>
        </p:nvCxnSpPr>
        <p:spPr>
          <a:xfrm>
            <a:off x="6588125" y="2060575"/>
            <a:ext cx="0" cy="28813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357" name="Shape 357"/>
          <p:cNvCxnSpPr/>
          <p:nvPr/>
        </p:nvCxnSpPr>
        <p:spPr>
          <a:xfrm>
            <a:off x="6373812" y="4437062"/>
            <a:ext cx="27701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358" name="Shape 358"/>
          <p:cNvCxnSpPr/>
          <p:nvPr/>
        </p:nvCxnSpPr>
        <p:spPr>
          <a:xfrm>
            <a:off x="6588125" y="2781300"/>
            <a:ext cx="215899" cy="431799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359" name="Shape 359"/>
          <p:cNvCxnSpPr/>
          <p:nvPr/>
        </p:nvCxnSpPr>
        <p:spPr>
          <a:xfrm>
            <a:off x="6804025" y="3213100"/>
            <a:ext cx="1584325" cy="1223961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360" name="Shape 360"/>
          <p:cNvSpPr txBox="1"/>
          <p:nvPr/>
        </p:nvSpPr>
        <p:spPr>
          <a:xfrm>
            <a:off x="5673725" y="1628775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Precio</a:t>
            </a:r>
          </a:p>
        </p:txBody>
      </p:sp>
      <p:sp>
        <p:nvSpPr>
          <p:cNvPr id="361" name="Shape 361"/>
          <p:cNvSpPr txBox="1"/>
          <p:nvPr/>
        </p:nvSpPr>
        <p:spPr>
          <a:xfrm>
            <a:off x="8229600" y="40767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Cantidad</a:t>
            </a:r>
          </a:p>
        </p:txBody>
      </p:sp>
      <p:sp>
        <p:nvSpPr>
          <p:cNvPr id="362" name="Shape 362"/>
          <p:cNvSpPr txBox="1"/>
          <p:nvPr/>
        </p:nvSpPr>
        <p:spPr>
          <a:xfrm>
            <a:off x="6732586" y="1484312"/>
            <a:ext cx="22669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Batang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Demanda Combinada</a:t>
            </a:r>
          </a:p>
        </p:txBody>
      </p:sp>
      <p:cxnSp>
        <p:nvCxnSpPr>
          <p:cNvPr id="363" name="Shape 363"/>
          <p:cNvCxnSpPr/>
          <p:nvPr/>
        </p:nvCxnSpPr>
        <p:spPr>
          <a:xfrm>
            <a:off x="7308850" y="3573462"/>
            <a:ext cx="0" cy="86359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364" name="Shape 364"/>
          <p:cNvSpPr txBox="1"/>
          <p:nvPr/>
        </p:nvSpPr>
        <p:spPr>
          <a:xfrm>
            <a:off x="6877050" y="4170362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Qj  + Qp</a:t>
            </a:r>
          </a:p>
        </p:txBody>
      </p:sp>
    </p:spTree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Shape 369"/>
          <p:cNvSpPr txBox="1"/>
          <p:nvPr>
            <p:ph idx="4294967295" type="title"/>
          </p:nvPr>
        </p:nvSpPr>
        <p:spPr>
          <a:xfrm>
            <a:off x="457200" y="765175"/>
            <a:ext cx="6346824" cy="563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Garamond"/>
              <a:buNone/>
            </a:pPr>
            <a: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Función Demanda del Mercado</a:t>
            </a:r>
          </a:p>
        </p:txBody>
      </p:sp>
      <p:pic>
        <p:nvPicPr>
          <p:cNvPr id="370" name="Shape 370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850" y="1341437"/>
            <a:ext cx="4968875" cy="4319587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Shape 371"/>
          <p:cNvSpPr txBox="1"/>
          <p:nvPr/>
        </p:nvSpPr>
        <p:spPr>
          <a:xfrm>
            <a:off x="5508625" y="1735136"/>
            <a:ext cx="2951161" cy="2701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La </a:t>
            </a:r>
            <a:r>
              <a:rPr b="1" i="1" lang="en-US" sz="18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curva de la demanda</a:t>
            </a:r>
            <a:r>
              <a:rPr b="0" i="1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 es el resultado de la </a:t>
            </a:r>
            <a:r>
              <a:rPr b="1" i="1" lang="en-US" sz="18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decisión de millones de potenciales consumidores</a:t>
            </a:r>
            <a:r>
              <a:rPr b="0" i="1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. Representaría la cantidad consumida de ese bien para cada nivel de precio.</a:t>
            </a: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pic>
        <p:nvPicPr>
          <p:cNvPr id="372" name="Shape 372"/>
          <p:cNvPicPr preferRelativeResize="0"/>
          <p:nvPr>
            <p:ph idx="4294967295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7311" y="1916111"/>
            <a:ext cx="2490787" cy="2070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Shape 377"/>
          <p:cNvSpPr txBox="1"/>
          <p:nvPr>
            <p:ph type="title"/>
          </p:nvPr>
        </p:nvSpPr>
        <p:spPr>
          <a:xfrm>
            <a:off x="323850" y="488950"/>
            <a:ext cx="6275387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Garamond"/>
              <a:buNone/>
            </a:pPr>
            <a: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Clasificación de la demanda </a:t>
            </a:r>
            <a:b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0" i="0" lang="en-US" sz="2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(según la elasticidad – precio de los bienes)</a:t>
            </a:r>
          </a:p>
        </p:txBody>
      </p:sp>
      <p:sp>
        <p:nvSpPr>
          <p:cNvPr id="378" name="Shape 378"/>
          <p:cNvSpPr txBox="1"/>
          <p:nvPr>
            <p:ph idx="1" type="body"/>
          </p:nvPr>
        </p:nvSpPr>
        <p:spPr>
          <a:xfrm>
            <a:off x="457200" y="1600200"/>
            <a:ext cx="8229600" cy="453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4999"/>
              <a:buFont typeface="Noto Symbol"/>
              <a:buChar char="■"/>
            </a:pPr>
            <a:r>
              <a:rPr b="1" i="0" lang="en-US" sz="3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Demanda rígida 		           </a:t>
            </a:r>
            <a:r>
              <a:rPr b="1" i="0" lang="en-US" sz="30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ep = 0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t/>
            </a:r>
            <a:endParaRPr b="1" i="0" sz="3000" u="none" cap="none" strike="noStrike">
              <a:solidFill>
                <a:srgbClr val="FF0000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64999"/>
              <a:buFont typeface="Noto Symbol"/>
              <a:buChar char="■"/>
            </a:pPr>
            <a:r>
              <a:rPr b="1" i="0" lang="en-US" sz="3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Demanda inelástica 		   </a:t>
            </a:r>
            <a:r>
              <a:rPr b="1" i="0" lang="en-US" sz="30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0 &gt; ep &gt; 1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t/>
            </a:r>
            <a:endParaRPr b="1" i="0" sz="3000" u="none" cap="none" strike="noStrike">
              <a:solidFill>
                <a:srgbClr val="000099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64999"/>
              <a:buFont typeface="Noto Symbol"/>
              <a:buChar char="■"/>
            </a:pPr>
            <a:r>
              <a:rPr b="1" i="0" lang="en-US" sz="3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Demanda unitaria		            </a:t>
            </a:r>
            <a:r>
              <a:rPr b="1" i="0" lang="en-US" sz="3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rPr>
              <a:t>ep = 1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t/>
            </a:r>
            <a:endParaRPr b="1" i="0" sz="3000" u="none" cap="none" strike="noStrike">
              <a:solidFill>
                <a:schemeClr val="dk2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64999"/>
              <a:buFont typeface="Noto Symbol"/>
              <a:buChar char="■"/>
            </a:pPr>
            <a:r>
              <a:rPr b="1" i="0" lang="en-US" sz="3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Demanda elástica			   </a:t>
            </a:r>
            <a:r>
              <a:rPr b="1" i="0" lang="en-US" sz="3000" u="none" cap="none" strike="noStrike">
                <a:solidFill>
                  <a:schemeClr val="hlink"/>
                </a:solidFill>
                <a:latin typeface="Batang"/>
                <a:ea typeface="Batang"/>
                <a:cs typeface="Batang"/>
                <a:sym typeface="Batang"/>
              </a:rPr>
              <a:t>1 &lt; ep &lt; ∞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t/>
            </a:r>
            <a:endParaRPr b="1" i="0" sz="3000" u="none" cap="none" strike="noStrike">
              <a:solidFill>
                <a:schemeClr val="hlink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64999"/>
              <a:buFont typeface="Noto Symbol"/>
              <a:buChar char="■"/>
            </a:pPr>
            <a:r>
              <a:rPr b="1" i="0" lang="en-US" sz="3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Demanda infinitamente elástica  ep = ∞</a:t>
            </a:r>
          </a:p>
        </p:txBody>
      </p:sp>
    </p:spTree>
  </p:cSld>
  <p:clrMapOvr>
    <a:masterClrMapping/>
  </p:clrMapOvr>
  <p:transition spd="slow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Shape 383"/>
          <p:cNvSpPr txBox="1"/>
          <p:nvPr>
            <p:ph type="title"/>
          </p:nvPr>
        </p:nvSpPr>
        <p:spPr>
          <a:xfrm>
            <a:off x="179386" y="854075"/>
            <a:ext cx="8229600" cy="99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Garamond"/>
              <a:buNone/>
            </a:pPr>
            <a: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Desplazamiento de la Curva de Demanda</a:t>
            </a:r>
            <a:b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0" i="0" lang="en-US" sz="2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(Mejora)</a:t>
            </a:r>
          </a:p>
        </p:txBody>
      </p:sp>
      <p:sp>
        <p:nvSpPr>
          <p:cNvPr id="384" name="Shape 384"/>
          <p:cNvSpPr txBox="1"/>
          <p:nvPr/>
        </p:nvSpPr>
        <p:spPr>
          <a:xfrm>
            <a:off x="5292725" y="1484312"/>
            <a:ext cx="3455986" cy="45021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Batang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rPr>
              <a:t>Si: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Batang"/>
              <a:buChar char="•"/>
            </a:pPr>
            <a:r>
              <a:rPr b="0" i="0" lang="en-US" sz="16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Aumenta la renta del consumidor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Batang"/>
              <a:buChar char="•"/>
            </a:pPr>
            <a:r>
              <a:rPr b="0" i="0" lang="en-US" sz="16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 Sube el precio de los bienes sustitutivos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Batang"/>
              <a:buChar char="•"/>
            </a:pPr>
            <a:r>
              <a:rPr b="0" i="0" lang="en-US" sz="16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Baja el precio de los bienes complementarios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Batang"/>
              <a:buChar char="•"/>
            </a:pPr>
            <a:r>
              <a:rPr b="0" i="0" lang="en-US" sz="16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El producto se pone de moda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Batang"/>
              <a:buChar char="•"/>
            </a:pPr>
            <a:r>
              <a:rPr b="0" i="0" lang="en-US" sz="16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Las expectativas favorecen el consumo actual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Batang"/>
              <a:buNone/>
            </a:pPr>
            <a:r>
              <a:t/>
            </a:r>
            <a:endParaRPr b="0" i="0" sz="1600" u="none" cap="none" strike="noStrike">
              <a:solidFill>
                <a:srgbClr val="FF0000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Batang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rPr>
              <a:t> La curva de demanda se desplazará hacia la derecha </a:t>
            </a:r>
            <a:r>
              <a:rPr b="1" i="0" lang="en-US" sz="1600" u="sng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rPr>
              <a:t>(mejorará la demanda)</a:t>
            </a:r>
            <a:r>
              <a:rPr b="0" i="0" lang="en-US" sz="16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rPr>
              <a:t>.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Batang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Para cada nivel de precio los consumidores demandarán una mayor cantidad.</a:t>
            </a:r>
            <a:r>
              <a:rPr b="0" i="0" lang="en-US" sz="16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rPr>
              <a:t> </a:t>
            </a:r>
          </a:p>
        </p:txBody>
      </p:sp>
      <p:cxnSp>
        <p:nvCxnSpPr>
          <p:cNvPr id="385" name="Shape 385"/>
          <p:cNvCxnSpPr/>
          <p:nvPr/>
        </p:nvCxnSpPr>
        <p:spPr>
          <a:xfrm>
            <a:off x="971550" y="3789362"/>
            <a:ext cx="79216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386" name="Shape 386"/>
          <p:cNvCxnSpPr/>
          <p:nvPr/>
        </p:nvCxnSpPr>
        <p:spPr>
          <a:xfrm>
            <a:off x="1763711" y="3789362"/>
            <a:ext cx="0" cy="136683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387" name="Shape 387"/>
          <p:cNvCxnSpPr/>
          <p:nvPr/>
        </p:nvCxnSpPr>
        <p:spPr>
          <a:xfrm>
            <a:off x="2339975" y="3789362"/>
            <a:ext cx="0" cy="136683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388" name="Shape 388"/>
          <p:cNvCxnSpPr/>
          <p:nvPr/>
        </p:nvCxnSpPr>
        <p:spPr>
          <a:xfrm>
            <a:off x="827087" y="5157787"/>
            <a:ext cx="40322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389" name="Shape 389"/>
          <p:cNvCxnSpPr/>
          <p:nvPr/>
        </p:nvCxnSpPr>
        <p:spPr>
          <a:xfrm>
            <a:off x="1042987" y="1773236"/>
            <a:ext cx="0" cy="352742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lg" w="lg" type="triangle"/>
            <a:tailEnd len="med" w="med" type="none"/>
          </a:ln>
        </p:spPr>
      </p:cxnSp>
      <p:sp>
        <p:nvSpPr>
          <p:cNvPr id="390" name="Shape 390"/>
          <p:cNvSpPr/>
          <p:nvPr/>
        </p:nvSpPr>
        <p:spPr>
          <a:xfrm>
            <a:off x="1116012" y="2205036"/>
            <a:ext cx="2997200" cy="2727325"/>
          </a:xfrm>
          <a:custGeom>
            <a:pathLst>
              <a:path extrusionOk="0" h="1718" w="1888">
                <a:moveTo>
                  <a:pt x="0" y="0"/>
                </a:moveTo>
                <a:cubicBezTo>
                  <a:pt x="19" y="70"/>
                  <a:pt x="72" y="292"/>
                  <a:pt x="113" y="418"/>
                </a:cubicBezTo>
                <a:cubicBezTo>
                  <a:pt x="154" y="544"/>
                  <a:pt x="193" y="655"/>
                  <a:pt x="245" y="755"/>
                </a:cubicBezTo>
                <a:cubicBezTo>
                  <a:pt x="297" y="855"/>
                  <a:pt x="349" y="928"/>
                  <a:pt x="425" y="1019"/>
                </a:cubicBezTo>
                <a:cubicBezTo>
                  <a:pt x="501" y="1110"/>
                  <a:pt x="611" y="1224"/>
                  <a:pt x="699" y="1303"/>
                </a:cubicBezTo>
                <a:cubicBezTo>
                  <a:pt x="787" y="1382"/>
                  <a:pt x="842" y="1434"/>
                  <a:pt x="954" y="1492"/>
                </a:cubicBezTo>
                <a:cubicBezTo>
                  <a:pt x="1066" y="1550"/>
                  <a:pt x="1213" y="1614"/>
                  <a:pt x="1369" y="1652"/>
                </a:cubicBezTo>
                <a:cubicBezTo>
                  <a:pt x="1525" y="1690"/>
                  <a:pt x="1780" y="1704"/>
                  <a:pt x="1888" y="1718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391" name="Shape 391"/>
          <p:cNvSpPr txBox="1"/>
          <p:nvPr/>
        </p:nvSpPr>
        <p:spPr>
          <a:xfrm>
            <a:off x="0" y="1268412"/>
            <a:ext cx="900111" cy="430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Precio</a:t>
            </a:r>
          </a:p>
        </p:txBody>
      </p:sp>
      <p:sp>
        <p:nvSpPr>
          <p:cNvPr id="392" name="Shape 392"/>
          <p:cNvSpPr txBox="1"/>
          <p:nvPr/>
        </p:nvSpPr>
        <p:spPr>
          <a:xfrm>
            <a:off x="3851275" y="5300662"/>
            <a:ext cx="1225550" cy="5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Cantidad</a:t>
            </a:r>
          </a:p>
        </p:txBody>
      </p:sp>
      <p:sp>
        <p:nvSpPr>
          <p:cNvPr id="393" name="Shape 393"/>
          <p:cNvSpPr txBox="1"/>
          <p:nvPr/>
        </p:nvSpPr>
        <p:spPr>
          <a:xfrm>
            <a:off x="395287" y="3500437"/>
            <a:ext cx="612775" cy="430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P</a:t>
            </a:r>
          </a:p>
        </p:txBody>
      </p:sp>
      <p:sp>
        <p:nvSpPr>
          <p:cNvPr id="394" name="Shape 394"/>
          <p:cNvSpPr txBox="1"/>
          <p:nvPr/>
        </p:nvSpPr>
        <p:spPr>
          <a:xfrm>
            <a:off x="1476375" y="5084762"/>
            <a:ext cx="503236" cy="5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Q1 </a:t>
            </a:r>
          </a:p>
        </p:txBody>
      </p:sp>
      <p:cxnSp>
        <p:nvCxnSpPr>
          <p:cNvPr id="395" name="Shape 395"/>
          <p:cNvCxnSpPr/>
          <p:nvPr/>
        </p:nvCxnSpPr>
        <p:spPr>
          <a:xfrm>
            <a:off x="971550" y="3789362"/>
            <a:ext cx="1368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sp>
        <p:nvSpPr>
          <p:cNvPr id="396" name="Shape 396"/>
          <p:cNvSpPr txBox="1"/>
          <p:nvPr/>
        </p:nvSpPr>
        <p:spPr>
          <a:xfrm>
            <a:off x="2124075" y="5084762"/>
            <a:ext cx="503236" cy="5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Q2 </a:t>
            </a:r>
          </a:p>
        </p:txBody>
      </p:sp>
    </p:spTree>
  </p:cSld>
  <p:clrMapOvr>
    <a:masterClrMapping/>
  </p:clrMapOvr>
  <p:transition spd="slow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Shape 401"/>
          <p:cNvSpPr txBox="1"/>
          <p:nvPr>
            <p:ph type="title"/>
          </p:nvPr>
        </p:nvSpPr>
        <p:spPr>
          <a:xfrm>
            <a:off x="457200" y="8493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Garamond"/>
              <a:buNone/>
            </a:pPr>
            <a: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Desplazamiento de la Curva de Demanda</a:t>
            </a:r>
            <a:b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                </a:t>
            </a:r>
            <a:r>
              <a:rPr b="0" i="0" lang="en-US" sz="2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(Empeora)</a:t>
            </a:r>
          </a:p>
        </p:txBody>
      </p:sp>
      <p:cxnSp>
        <p:nvCxnSpPr>
          <p:cNvPr id="402" name="Shape 402"/>
          <p:cNvCxnSpPr/>
          <p:nvPr/>
        </p:nvCxnSpPr>
        <p:spPr>
          <a:xfrm>
            <a:off x="1763711" y="3933825"/>
            <a:ext cx="57626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lg" w="lg" type="triangle"/>
            <a:tailEnd len="med" w="med" type="none"/>
          </a:ln>
        </p:spPr>
      </p:cxnSp>
      <p:cxnSp>
        <p:nvCxnSpPr>
          <p:cNvPr id="403" name="Shape 403"/>
          <p:cNvCxnSpPr/>
          <p:nvPr/>
        </p:nvCxnSpPr>
        <p:spPr>
          <a:xfrm>
            <a:off x="1763711" y="3933825"/>
            <a:ext cx="0" cy="115093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404" name="Shape 404"/>
          <p:cNvCxnSpPr/>
          <p:nvPr/>
        </p:nvCxnSpPr>
        <p:spPr>
          <a:xfrm>
            <a:off x="2339975" y="3933825"/>
            <a:ext cx="0" cy="115093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sp>
        <p:nvSpPr>
          <p:cNvPr id="405" name="Shape 405"/>
          <p:cNvSpPr txBox="1"/>
          <p:nvPr/>
        </p:nvSpPr>
        <p:spPr>
          <a:xfrm>
            <a:off x="5219700" y="1557337"/>
            <a:ext cx="3924299" cy="462438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Batang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Si:</a:t>
            </a: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Batang"/>
              <a:buChar char="•"/>
            </a:pPr>
            <a:r>
              <a:rPr b="1" i="0" lang="en-US" sz="16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Disminuye la renta del consumidor.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Batang"/>
              <a:buChar char="•"/>
            </a:pPr>
            <a:r>
              <a:rPr b="1" i="0" lang="en-US" sz="16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Baja el precio de los bienes sustitutos.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Batang"/>
              <a:buChar char="•"/>
            </a:pPr>
            <a:r>
              <a:rPr b="1" i="0" lang="en-US" sz="16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Sube el precio de los bienes complementarios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Batang"/>
              <a:buChar char="•"/>
            </a:pPr>
            <a:r>
              <a:rPr b="1" i="0" lang="en-US" sz="16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El producto pierde popularidad.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Batang"/>
              <a:buChar char="•"/>
            </a:pPr>
            <a:r>
              <a:rPr b="1" i="0" lang="en-US" sz="16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Las expectativas perjudican el consumo actual.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Batang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La curva de demanda se desplazará hacia la izquierda </a:t>
            </a:r>
            <a:r>
              <a:rPr b="1" i="0" lang="en-US" sz="1600" u="sng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(empeorará la demanda)</a:t>
            </a:r>
            <a:r>
              <a:rPr b="1" i="0" lang="en-US" sz="16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.</a:t>
            </a:r>
            <a:r>
              <a:rPr b="0" i="0" lang="en-US" sz="16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Para cada nivel</a:t>
            </a:r>
            <a:r>
              <a:rPr b="1" i="1" lang="en-US" sz="16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 de precio los consumidores demandarán una menor cantidad.</a:t>
            </a:r>
            <a:r>
              <a:rPr b="1" i="0" lang="en-US" sz="16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 </a:t>
            </a:r>
          </a:p>
        </p:txBody>
      </p:sp>
      <p:cxnSp>
        <p:nvCxnSpPr>
          <p:cNvPr id="406" name="Shape 406"/>
          <p:cNvCxnSpPr/>
          <p:nvPr/>
        </p:nvCxnSpPr>
        <p:spPr>
          <a:xfrm rot="10800000">
            <a:off x="827087" y="3933825"/>
            <a:ext cx="151288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407" name="Shape 407"/>
          <p:cNvCxnSpPr/>
          <p:nvPr/>
        </p:nvCxnSpPr>
        <p:spPr>
          <a:xfrm rot="10800000">
            <a:off x="1619249" y="2997200"/>
            <a:ext cx="86518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408" name="Shape 408"/>
          <p:cNvCxnSpPr/>
          <p:nvPr/>
        </p:nvCxnSpPr>
        <p:spPr>
          <a:xfrm rot="10800000">
            <a:off x="2771775" y="4437062"/>
            <a:ext cx="86518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409" name="Shape 409"/>
          <p:cNvCxnSpPr/>
          <p:nvPr/>
        </p:nvCxnSpPr>
        <p:spPr>
          <a:xfrm>
            <a:off x="827087" y="1700211"/>
            <a:ext cx="0" cy="396081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410" name="Shape 410"/>
          <p:cNvCxnSpPr/>
          <p:nvPr/>
        </p:nvCxnSpPr>
        <p:spPr>
          <a:xfrm>
            <a:off x="539750" y="5084762"/>
            <a:ext cx="475297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411" name="Shape 411"/>
          <p:cNvSpPr/>
          <p:nvPr/>
        </p:nvSpPr>
        <p:spPr>
          <a:xfrm>
            <a:off x="1476375" y="1628775"/>
            <a:ext cx="3438525" cy="3113086"/>
          </a:xfrm>
          <a:custGeom>
            <a:pathLst>
              <a:path extrusionOk="0" h="1961" w="2166">
                <a:moveTo>
                  <a:pt x="0" y="0"/>
                </a:moveTo>
                <a:cubicBezTo>
                  <a:pt x="17" y="74"/>
                  <a:pt x="60" y="290"/>
                  <a:pt x="104" y="444"/>
                </a:cubicBezTo>
                <a:cubicBezTo>
                  <a:pt x="148" y="598"/>
                  <a:pt x="189" y="758"/>
                  <a:pt x="265" y="926"/>
                </a:cubicBezTo>
                <a:cubicBezTo>
                  <a:pt x="341" y="1094"/>
                  <a:pt x="445" y="1313"/>
                  <a:pt x="560" y="1452"/>
                </a:cubicBezTo>
                <a:cubicBezTo>
                  <a:pt x="675" y="1591"/>
                  <a:pt x="792" y="1685"/>
                  <a:pt x="957" y="1763"/>
                </a:cubicBezTo>
                <a:cubicBezTo>
                  <a:pt x="1122" y="1841"/>
                  <a:pt x="1349" y="1885"/>
                  <a:pt x="1550" y="1918"/>
                </a:cubicBezTo>
                <a:cubicBezTo>
                  <a:pt x="1751" y="1951"/>
                  <a:pt x="2038" y="1952"/>
                  <a:pt x="2166" y="1961"/>
                </a:cubicBez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412" name="Shape 412"/>
          <p:cNvSpPr txBox="1"/>
          <p:nvPr/>
        </p:nvSpPr>
        <p:spPr>
          <a:xfrm>
            <a:off x="34925" y="1125537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Precio</a:t>
            </a:r>
          </a:p>
        </p:txBody>
      </p:sp>
      <p:sp>
        <p:nvSpPr>
          <p:cNvPr id="413" name="Shape 413"/>
          <p:cNvSpPr txBox="1"/>
          <p:nvPr/>
        </p:nvSpPr>
        <p:spPr>
          <a:xfrm>
            <a:off x="4162425" y="481965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Cantidad</a:t>
            </a:r>
          </a:p>
        </p:txBody>
      </p:sp>
      <p:sp>
        <p:nvSpPr>
          <p:cNvPr id="414" name="Shape 414"/>
          <p:cNvSpPr txBox="1"/>
          <p:nvPr/>
        </p:nvSpPr>
        <p:spPr>
          <a:xfrm>
            <a:off x="273050" y="3451225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P</a:t>
            </a:r>
          </a:p>
        </p:txBody>
      </p:sp>
      <p:sp>
        <p:nvSpPr>
          <p:cNvPr id="415" name="Shape 415"/>
          <p:cNvSpPr txBox="1"/>
          <p:nvPr/>
        </p:nvSpPr>
        <p:spPr>
          <a:xfrm>
            <a:off x="2051050" y="4746625"/>
            <a:ext cx="627061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Q</a:t>
            </a:r>
          </a:p>
        </p:txBody>
      </p:sp>
      <p:sp>
        <p:nvSpPr>
          <p:cNvPr id="416" name="Shape 416"/>
          <p:cNvSpPr txBox="1"/>
          <p:nvPr/>
        </p:nvSpPr>
        <p:spPr>
          <a:xfrm>
            <a:off x="1476375" y="4746625"/>
            <a:ext cx="627061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Batang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Q´</a:t>
            </a:r>
          </a:p>
        </p:txBody>
      </p:sp>
    </p:spTree>
  </p:cSld>
  <p:clrMapOvr>
    <a:masterClrMapping/>
  </p:clrMapOvr>
  <p:transition spd="slow">
    <p:cut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Shape 421"/>
          <p:cNvSpPr txBox="1"/>
          <p:nvPr>
            <p:ph type="title"/>
          </p:nvPr>
        </p:nvSpPr>
        <p:spPr>
          <a:xfrm>
            <a:off x="323850" y="188911"/>
            <a:ext cx="5327649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Garamond"/>
              <a:buNone/>
            </a:pPr>
            <a: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Sensibilidad de la demanda </a:t>
            </a:r>
            <a:b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a la variación del Precio</a:t>
            </a:r>
          </a:p>
        </p:txBody>
      </p:sp>
      <p:sp>
        <p:nvSpPr>
          <p:cNvPr id="422" name="Shape 422"/>
          <p:cNvSpPr txBox="1"/>
          <p:nvPr>
            <p:ph idx="1" type="body"/>
          </p:nvPr>
        </p:nvSpPr>
        <p:spPr>
          <a:xfrm>
            <a:off x="142875" y="1557337"/>
            <a:ext cx="8893175" cy="453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4999"/>
              <a:buFont typeface="Noto Symbo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Elasticidad – precio de la demanda = </a:t>
            </a:r>
            <a:r>
              <a:rPr b="1" baseline="30000" i="0" lang="en-US" sz="3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e</a:t>
            </a:r>
            <a:r>
              <a:rPr b="1" baseline="-25000" i="0" lang="en-US" sz="3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p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rPr b="1" baseline="30000" i="0" lang="en-US" sz="3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e</a:t>
            </a:r>
            <a:r>
              <a:rPr b="1" baseline="-25000" i="0" lang="en-US" sz="3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p</a:t>
            </a:r>
            <a:r>
              <a:rPr b="1" i="0" lang="en-US" sz="3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 </a:t>
            </a:r>
            <a:r>
              <a:rPr b="0" baseline="-25000" i="0" lang="en-US" sz="3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=</a:t>
            </a:r>
            <a:r>
              <a:rPr b="0" i="0" lang="en-US" sz="3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 </a:t>
            </a:r>
            <a:r>
              <a:rPr b="0" i="0" lang="en-US" sz="2000" u="sng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( - ) (</a:t>
            </a:r>
            <a:r>
              <a:rPr b="1" i="0" lang="en-US" sz="2000" u="sng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Cantidad final – Cantidad inicial)/ Cantidad inicial</a:t>
            </a:r>
          </a:p>
          <a:p>
            <a:pPr indent="-342900" lvl="0" marL="34290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rPr b="1" i="0" lang="en-US" sz="20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	(Precio final – Precio inicial) / Precio inicial</a:t>
            </a:r>
          </a:p>
        </p:txBody>
      </p:sp>
    </p:spTree>
  </p:cSld>
  <p:clrMapOvr>
    <a:masterClrMapping/>
  </p:clrMapOvr>
  <p:transition spd="slow">
    <p:cut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Shape 427"/>
          <p:cNvSpPr txBox="1"/>
          <p:nvPr>
            <p:ph type="title"/>
          </p:nvPr>
        </p:nvSpPr>
        <p:spPr>
          <a:xfrm>
            <a:off x="395287" y="693737"/>
            <a:ext cx="6408737" cy="719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Garamond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GRÁFICOS DE DEMANDA</a:t>
            </a:r>
            <a:br>
              <a:rPr b="0" i="0" lang="en-US" sz="2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0" i="0" lang="en-US" sz="2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ANALISIS DEL GASTO DEL CONSUMIDOR</a:t>
            </a:r>
          </a:p>
        </p:txBody>
      </p:sp>
      <p:grpSp>
        <p:nvGrpSpPr>
          <p:cNvPr id="428" name="Shape 428"/>
          <p:cNvGrpSpPr/>
          <p:nvPr/>
        </p:nvGrpSpPr>
        <p:grpSpPr>
          <a:xfrm>
            <a:off x="1321968" y="1533207"/>
            <a:ext cx="6053316" cy="1884045"/>
            <a:chOff x="5165725" y="12925425"/>
            <a:chExt cx="12858749" cy="4710112"/>
          </a:xfrm>
        </p:grpSpPr>
        <p:sp>
          <p:nvSpPr>
            <p:cNvPr id="429" name="Shape 429"/>
            <p:cNvSpPr txBox="1"/>
            <p:nvPr/>
          </p:nvSpPr>
          <p:spPr>
            <a:xfrm>
              <a:off x="12715875" y="13946187"/>
              <a:ext cx="5308599" cy="19954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9350" lIns="58725" rIns="58725" tIns="2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Batang"/>
                <a:buNone/>
              </a:pPr>
              <a:r>
                <a:rPr b="1" i="0" lang="en-US" sz="1400" u="none" cap="none" strike="noStrike">
                  <a:solidFill>
                    <a:srgbClr val="FF0000"/>
                  </a:solidFill>
                  <a:latin typeface="Batang"/>
                  <a:ea typeface="Batang"/>
                  <a:cs typeface="Batang"/>
                  <a:sym typeface="Batang"/>
                </a:rPr>
                <a:t>Gasto final =   Pf * Qf</a:t>
              </a: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25000"/>
                <a:buFont typeface="Batang"/>
                <a:buNone/>
              </a:pPr>
              <a:r>
                <a:rPr b="1" i="0" lang="en-US" sz="1400" u="none" cap="none" strike="noStrike">
                  <a:solidFill>
                    <a:srgbClr val="0000FF"/>
                  </a:solidFill>
                  <a:latin typeface="Batang"/>
                  <a:ea typeface="Batang"/>
                  <a:cs typeface="Batang"/>
                  <a:sym typeface="Batang"/>
                </a:rPr>
                <a:t>Gasto inicial = Pi* Qi</a:t>
              </a: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Batang"/>
                <a:buNone/>
              </a:pPr>
              <a:r>
                <a:rPr b="1" i="0" lang="en-US" sz="1400" u="none" cap="none" strike="noStrike">
                  <a:solidFill>
                    <a:srgbClr val="FF0000"/>
                  </a:solidFill>
                  <a:latin typeface="Batang"/>
                  <a:ea typeface="Batang"/>
                  <a:cs typeface="Batang"/>
                  <a:sym typeface="Batang"/>
                </a:rPr>
                <a:t>Gf &gt;</a:t>
              </a:r>
              <a:r>
                <a:rPr b="1" i="0" lang="en-US" sz="1400" u="none" cap="none" strike="noStrike">
                  <a:solidFill>
                    <a:srgbClr val="0000FF"/>
                  </a:solidFill>
                  <a:latin typeface="Batang"/>
                  <a:ea typeface="Batang"/>
                  <a:cs typeface="Batang"/>
                  <a:sym typeface="Batang"/>
                </a:rPr>
                <a:t>Gi</a:t>
              </a:r>
            </a:p>
          </p:txBody>
        </p:sp>
        <p:sp>
          <p:nvSpPr>
            <p:cNvPr id="430" name="Shape 430"/>
            <p:cNvSpPr txBox="1"/>
            <p:nvPr/>
          </p:nvSpPr>
          <p:spPr>
            <a:xfrm>
              <a:off x="7418386" y="17089437"/>
              <a:ext cx="890587" cy="546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9350" lIns="58725" rIns="58725" tIns="2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Batang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Batang"/>
                  <a:ea typeface="Batang"/>
                  <a:cs typeface="Batang"/>
                  <a:sym typeface="Batang"/>
                </a:rPr>
                <a:t>Qi</a:t>
              </a:r>
            </a:p>
          </p:txBody>
        </p:sp>
        <p:sp>
          <p:nvSpPr>
            <p:cNvPr id="431" name="Shape 431"/>
            <p:cNvSpPr txBox="1"/>
            <p:nvPr/>
          </p:nvSpPr>
          <p:spPr>
            <a:xfrm>
              <a:off x="8416925" y="13531850"/>
              <a:ext cx="5035549" cy="5476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9350" lIns="58725" rIns="58725" tIns="2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Batang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Batang"/>
                  <a:ea typeface="Batang"/>
                  <a:cs typeface="Batang"/>
                  <a:sym typeface="Batang"/>
                </a:rPr>
                <a:t>Demanda</a:t>
              </a:r>
              <a:r>
                <a:rPr b="0" i="0" lang="en-US" sz="1400" u="none" cap="none" strike="noStrike">
                  <a:solidFill>
                    <a:srgbClr val="FF0000"/>
                  </a:solidFill>
                  <a:latin typeface="Batang"/>
                  <a:ea typeface="Batang"/>
                  <a:cs typeface="Batang"/>
                  <a:sym typeface="Batang"/>
                </a:rPr>
                <a:t> </a:t>
              </a:r>
              <a:r>
                <a:rPr b="0" i="0" lang="en-US" sz="1800" u="none" cap="none" strike="noStrike">
                  <a:solidFill>
                    <a:srgbClr val="FF0000"/>
                  </a:solidFill>
                  <a:latin typeface="Batang"/>
                  <a:ea typeface="Batang"/>
                  <a:cs typeface="Batang"/>
                  <a:sym typeface="Batang"/>
                </a:rPr>
                <a:t>inelástica</a:t>
              </a:r>
            </a:p>
          </p:txBody>
        </p:sp>
        <p:sp>
          <p:nvSpPr>
            <p:cNvPr id="432" name="Shape 432"/>
            <p:cNvSpPr txBox="1"/>
            <p:nvPr/>
          </p:nvSpPr>
          <p:spPr>
            <a:xfrm>
              <a:off x="11304586" y="16813212"/>
              <a:ext cx="2147887" cy="5476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9350" lIns="58725" rIns="58725" tIns="2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Batang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Batang"/>
                  <a:ea typeface="Batang"/>
                  <a:cs typeface="Batang"/>
                  <a:sym typeface="Batang"/>
                </a:rPr>
                <a:t>Cantidad</a:t>
              </a:r>
            </a:p>
          </p:txBody>
        </p:sp>
        <p:sp>
          <p:nvSpPr>
            <p:cNvPr id="433" name="Shape 433"/>
            <p:cNvSpPr txBox="1"/>
            <p:nvPr/>
          </p:nvSpPr>
          <p:spPr>
            <a:xfrm>
              <a:off x="5348287" y="12925425"/>
              <a:ext cx="1639887" cy="4492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9350" lIns="58725" rIns="58725" tIns="2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Batang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Batang"/>
                  <a:ea typeface="Batang"/>
                  <a:cs typeface="Batang"/>
                  <a:sym typeface="Batang"/>
                </a:rPr>
                <a:t>Precio</a:t>
              </a:r>
            </a:p>
          </p:txBody>
        </p:sp>
        <p:cxnSp>
          <p:nvCxnSpPr>
            <p:cNvPr id="434" name="Shape 434"/>
            <p:cNvCxnSpPr/>
            <p:nvPr/>
          </p:nvCxnSpPr>
          <p:spPr>
            <a:xfrm>
              <a:off x="5737225" y="13660437"/>
              <a:ext cx="1587" cy="346392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435" name="Shape 435"/>
            <p:cNvCxnSpPr/>
            <p:nvPr/>
          </p:nvCxnSpPr>
          <p:spPr>
            <a:xfrm>
              <a:off x="5737225" y="17089437"/>
              <a:ext cx="5468936" cy="1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436" name="Shape 436"/>
            <p:cNvCxnSpPr/>
            <p:nvPr/>
          </p:nvCxnSpPr>
          <p:spPr>
            <a:xfrm>
              <a:off x="6308725" y="13660437"/>
              <a:ext cx="2286000" cy="3429000"/>
            </a:xfrm>
            <a:prstGeom prst="straightConnector1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sp>
          <p:nvSpPr>
            <p:cNvPr id="437" name="Shape 437"/>
            <p:cNvSpPr txBox="1"/>
            <p:nvPr/>
          </p:nvSpPr>
          <p:spPr>
            <a:xfrm>
              <a:off x="5165725" y="15660687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9350" lIns="58725" rIns="58725" tIns="2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Batang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Batang"/>
                  <a:ea typeface="Batang"/>
                  <a:cs typeface="Batang"/>
                  <a:sym typeface="Batang"/>
                </a:rPr>
                <a:t>Pi</a:t>
              </a:r>
            </a:p>
          </p:txBody>
        </p:sp>
        <p:sp>
          <p:nvSpPr>
            <p:cNvPr id="438" name="Shape 438"/>
            <p:cNvSpPr txBox="1"/>
            <p:nvPr/>
          </p:nvSpPr>
          <p:spPr>
            <a:xfrm>
              <a:off x="5165725" y="14828837"/>
              <a:ext cx="857250" cy="546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9350" lIns="58725" rIns="58725" tIns="2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Batang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Batang"/>
                  <a:ea typeface="Batang"/>
                  <a:cs typeface="Batang"/>
                  <a:sym typeface="Batang"/>
                </a:rPr>
                <a:t>Pf</a:t>
              </a:r>
            </a:p>
          </p:txBody>
        </p:sp>
        <p:sp>
          <p:nvSpPr>
            <p:cNvPr id="439" name="Shape 439"/>
            <p:cNvSpPr txBox="1"/>
            <p:nvPr/>
          </p:nvSpPr>
          <p:spPr>
            <a:xfrm>
              <a:off x="6880225" y="17089437"/>
              <a:ext cx="1143000" cy="546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9350" lIns="58725" rIns="58725" tIns="2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Batang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Batang"/>
                  <a:ea typeface="Batang"/>
                  <a:cs typeface="Batang"/>
                  <a:sym typeface="Batang"/>
                </a:rPr>
                <a:t>Qf</a:t>
              </a:r>
            </a:p>
          </p:txBody>
        </p:sp>
        <p:sp>
          <p:nvSpPr>
            <p:cNvPr id="440" name="Shape 440"/>
            <p:cNvSpPr/>
            <p:nvPr/>
          </p:nvSpPr>
          <p:spPr>
            <a:xfrm>
              <a:off x="5737225" y="15089187"/>
              <a:ext cx="1428749" cy="2000250"/>
            </a:xfrm>
            <a:prstGeom prst="rect">
              <a:avLst/>
            </a:prstGeom>
            <a:solidFill>
              <a:srgbClr val="FF0000">
                <a:alpha val="14901"/>
              </a:srgbClr>
            </a:solidFill>
            <a:ln cap="flat" cmpd="sng" w="25400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endParaRPr>
            </a:p>
          </p:txBody>
        </p:sp>
        <p:sp>
          <p:nvSpPr>
            <p:cNvPr id="441" name="Shape 441"/>
            <p:cNvSpPr/>
            <p:nvPr/>
          </p:nvSpPr>
          <p:spPr>
            <a:xfrm>
              <a:off x="5737225" y="15946437"/>
              <a:ext cx="2000250" cy="1143000"/>
            </a:xfrm>
            <a:prstGeom prst="rect">
              <a:avLst/>
            </a:prstGeom>
            <a:solidFill>
              <a:srgbClr val="000099">
                <a:alpha val="9803"/>
              </a:srgbClr>
            </a:solidFill>
            <a:ln cap="flat" cmpd="sng" w="25400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endParaRPr>
            </a:p>
          </p:txBody>
        </p:sp>
      </p:grpSp>
      <p:grpSp>
        <p:nvGrpSpPr>
          <p:cNvPr id="442" name="Shape 442"/>
          <p:cNvGrpSpPr/>
          <p:nvPr/>
        </p:nvGrpSpPr>
        <p:grpSpPr>
          <a:xfrm>
            <a:off x="1319418" y="4029365"/>
            <a:ext cx="6070540" cy="1978031"/>
            <a:chOff x="5165725" y="12925425"/>
            <a:chExt cx="13144500" cy="4710112"/>
          </a:xfrm>
        </p:grpSpPr>
        <p:sp>
          <p:nvSpPr>
            <p:cNvPr id="443" name="Shape 443"/>
            <p:cNvSpPr txBox="1"/>
            <p:nvPr/>
          </p:nvSpPr>
          <p:spPr>
            <a:xfrm>
              <a:off x="13452475" y="13782675"/>
              <a:ext cx="4857750" cy="2000250"/>
            </a:xfrm>
            <a:prstGeom prst="rect">
              <a:avLst/>
            </a:prstGeom>
            <a:solidFill>
              <a:srgbClr val="FFCC00">
                <a:alpha val="0"/>
              </a:srgbClr>
            </a:solidFill>
            <a:ln>
              <a:noFill/>
            </a:ln>
          </p:spPr>
          <p:txBody>
            <a:bodyPr anchorCtr="0" anchor="t" bIns="29350" lIns="58725" rIns="58725" tIns="2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Batang"/>
                <a:buNone/>
              </a:pPr>
              <a:r>
                <a:rPr b="0" i="0" lang="en-US" sz="1400" u="none" cap="none" strike="noStrike">
                  <a:solidFill>
                    <a:srgbClr val="FF0000"/>
                  </a:solidFill>
                  <a:latin typeface="Batang"/>
                  <a:ea typeface="Batang"/>
                  <a:cs typeface="Batang"/>
                  <a:sym typeface="Batang"/>
                </a:rPr>
                <a:t>Gasto final =   Pf * Qf</a:t>
              </a: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25000"/>
                <a:buFont typeface="Batang"/>
                <a:buNone/>
              </a:pPr>
              <a:r>
                <a:rPr b="0" i="0" lang="en-US" sz="1400" u="none" cap="none" strike="noStrike">
                  <a:solidFill>
                    <a:srgbClr val="0000FF"/>
                  </a:solidFill>
                  <a:latin typeface="Batang"/>
                  <a:ea typeface="Batang"/>
                  <a:cs typeface="Batang"/>
                  <a:sym typeface="Batang"/>
                </a:rPr>
                <a:t>Gasto inicial = Pi* Qi</a:t>
              </a: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Batang"/>
                <a:buNone/>
              </a:pPr>
              <a:r>
                <a:rPr b="0" i="0" lang="en-US" sz="1400" u="none" cap="none" strike="noStrike">
                  <a:solidFill>
                    <a:srgbClr val="FF0000"/>
                  </a:solidFill>
                  <a:latin typeface="Batang"/>
                  <a:ea typeface="Batang"/>
                  <a:cs typeface="Batang"/>
                  <a:sym typeface="Batang"/>
                </a:rPr>
                <a:t>Gf &lt; </a:t>
              </a:r>
              <a:r>
                <a:rPr b="0" i="0" lang="en-US" sz="1400" u="none" cap="none" strike="noStrike">
                  <a:solidFill>
                    <a:srgbClr val="0000FF"/>
                  </a:solidFill>
                  <a:latin typeface="Batang"/>
                  <a:ea typeface="Batang"/>
                  <a:cs typeface="Batang"/>
                  <a:sym typeface="Batang"/>
                </a:rPr>
                <a:t>Gi</a:t>
              </a:r>
            </a:p>
          </p:txBody>
        </p:sp>
        <p:sp>
          <p:nvSpPr>
            <p:cNvPr id="444" name="Shape 444"/>
            <p:cNvSpPr txBox="1"/>
            <p:nvPr/>
          </p:nvSpPr>
          <p:spPr>
            <a:xfrm>
              <a:off x="9704386" y="17089437"/>
              <a:ext cx="604837" cy="546099"/>
            </a:xfrm>
            <a:prstGeom prst="rect">
              <a:avLst/>
            </a:prstGeom>
            <a:solidFill>
              <a:srgbClr val="FFCC00">
                <a:alpha val="0"/>
              </a:srgbClr>
            </a:solidFill>
            <a:ln>
              <a:noFill/>
            </a:ln>
          </p:spPr>
          <p:txBody>
            <a:bodyPr anchorCtr="0" anchor="t" bIns="29350" lIns="58725" rIns="58725" tIns="2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Batang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Batang"/>
                  <a:ea typeface="Batang"/>
                  <a:cs typeface="Batang"/>
                  <a:sym typeface="Batang"/>
                </a:rPr>
                <a:t>Qi</a:t>
              </a:r>
            </a:p>
          </p:txBody>
        </p:sp>
        <p:sp>
          <p:nvSpPr>
            <p:cNvPr id="445" name="Shape 445"/>
            <p:cNvSpPr txBox="1"/>
            <p:nvPr/>
          </p:nvSpPr>
          <p:spPr>
            <a:xfrm>
              <a:off x="8416925" y="13531850"/>
              <a:ext cx="4464050" cy="547687"/>
            </a:xfrm>
            <a:prstGeom prst="rect">
              <a:avLst/>
            </a:prstGeom>
            <a:solidFill>
              <a:srgbClr val="FFCC00">
                <a:alpha val="0"/>
              </a:srgbClr>
            </a:solidFill>
            <a:ln>
              <a:noFill/>
            </a:ln>
          </p:spPr>
          <p:txBody>
            <a:bodyPr anchorCtr="0" anchor="t" bIns="29350" lIns="58725" rIns="58725" tIns="2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Batang"/>
                <a:buNone/>
              </a:pPr>
              <a:r>
                <a:rPr b="0" i="1" lang="en-US" sz="1800" u="none" cap="none" strike="noStrike">
                  <a:solidFill>
                    <a:srgbClr val="FF0000"/>
                  </a:solidFill>
                  <a:latin typeface="Batang"/>
                  <a:ea typeface="Batang"/>
                  <a:cs typeface="Batang"/>
                  <a:sym typeface="Batang"/>
                </a:rPr>
                <a:t>Demanda elástica</a:t>
              </a:r>
            </a:p>
          </p:txBody>
        </p:sp>
        <p:sp>
          <p:nvSpPr>
            <p:cNvPr id="446" name="Shape 446"/>
            <p:cNvSpPr txBox="1"/>
            <p:nvPr/>
          </p:nvSpPr>
          <p:spPr>
            <a:xfrm>
              <a:off x="11304586" y="16813212"/>
              <a:ext cx="2433637" cy="684211"/>
            </a:xfrm>
            <a:prstGeom prst="rect">
              <a:avLst/>
            </a:prstGeom>
            <a:solidFill>
              <a:srgbClr val="FFCC00">
                <a:alpha val="0"/>
              </a:srgbClr>
            </a:solidFill>
            <a:ln>
              <a:noFill/>
            </a:ln>
          </p:spPr>
          <p:txBody>
            <a:bodyPr anchorCtr="0" anchor="t" bIns="29350" lIns="58725" rIns="58725" tIns="2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Batang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Batang"/>
                  <a:ea typeface="Batang"/>
                  <a:cs typeface="Batang"/>
                  <a:sym typeface="Batang"/>
                </a:rPr>
                <a:t>Cantidad</a:t>
              </a:r>
            </a:p>
          </p:txBody>
        </p:sp>
        <p:sp>
          <p:nvSpPr>
            <p:cNvPr id="447" name="Shape 447"/>
            <p:cNvSpPr txBox="1"/>
            <p:nvPr/>
          </p:nvSpPr>
          <p:spPr>
            <a:xfrm>
              <a:off x="5348287" y="12925425"/>
              <a:ext cx="1639887" cy="857250"/>
            </a:xfrm>
            <a:prstGeom prst="rect">
              <a:avLst/>
            </a:prstGeom>
            <a:solidFill>
              <a:srgbClr val="FFCC00">
                <a:alpha val="0"/>
              </a:srgbClr>
            </a:solidFill>
            <a:ln>
              <a:noFill/>
            </a:ln>
          </p:spPr>
          <p:txBody>
            <a:bodyPr anchorCtr="0" anchor="t" bIns="29350" lIns="58725" rIns="58725" tIns="2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Batang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Batang"/>
                  <a:ea typeface="Batang"/>
                  <a:cs typeface="Batang"/>
                  <a:sym typeface="Batang"/>
                </a:rPr>
                <a:t>Precio</a:t>
              </a:r>
            </a:p>
          </p:txBody>
        </p:sp>
        <p:cxnSp>
          <p:nvCxnSpPr>
            <p:cNvPr id="448" name="Shape 448"/>
            <p:cNvCxnSpPr/>
            <p:nvPr/>
          </p:nvCxnSpPr>
          <p:spPr>
            <a:xfrm>
              <a:off x="5737225" y="13660437"/>
              <a:ext cx="1587" cy="346392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449" name="Shape 449"/>
            <p:cNvCxnSpPr/>
            <p:nvPr/>
          </p:nvCxnSpPr>
          <p:spPr>
            <a:xfrm>
              <a:off x="5737225" y="17089437"/>
              <a:ext cx="5468936" cy="1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450" name="Shape 450"/>
            <p:cNvCxnSpPr/>
            <p:nvPr/>
          </p:nvCxnSpPr>
          <p:spPr>
            <a:xfrm>
              <a:off x="6880225" y="14803437"/>
              <a:ext cx="4286250" cy="1428749"/>
            </a:xfrm>
            <a:prstGeom prst="straightConnector1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sp>
          <p:nvSpPr>
            <p:cNvPr id="451" name="Shape 451"/>
            <p:cNvSpPr txBox="1"/>
            <p:nvPr/>
          </p:nvSpPr>
          <p:spPr>
            <a:xfrm>
              <a:off x="5165725" y="15660687"/>
              <a:ext cx="604837" cy="546099"/>
            </a:xfrm>
            <a:prstGeom prst="rect">
              <a:avLst/>
            </a:prstGeom>
            <a:solidFill>
              <a:srgbClr val="FFCC00">
                <a:alpha val="0"/>
              </a:srgbClr>
            </a:solidFill>
            <a:ln>
              <a:noFill/>
            </a:ln>
          </p:spPr>
          <p:txBody>
            <a:bodyPr anchorCtr="0" anchor="t" bIns="29350" lIns="58725" rIns="58725" tIns="2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Batang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Batang"/>
                  <a:ea typeface="Batang"/>
                  <a:cs typeface="Batang"/>
                  <a:sym typeface="Batang"/>
                </a:rPr>
                <a:t>Pi</a:t>
              </a:r>
            </a:p>
          </p:txBody>
        </p:sp>
        <p:sp>
          <p:nvSpPr>
            <p:cNvPr id="452" name="Shape 452"/>
            <p:cNvSpPr txBox="1"/>
            <p:nvPr/>
          </p:nvSpPr>
          <p:spPr>
            <a:xfrm>
              <a:off x="5165725" y="14828837"/>
              <a:ext cx="571500" cy="546099"/>
            </a:xfrm>
            <a:prstGeom prst="rect">
              <a:avLst/>
            </a:prstGeom>
            <a:solidFill>
              <a:srgbClr val="FFCC00">
                <a:alpha val="0"/>
              </a:srgbClr>
            </a:solidFill>
            <a:ln>
              <a:noFill/>
            </a:ln>
          </p:spPr>
          <p:txBody>
            <a:bodyPr anchorCtr="0" anchor="t" bIns="29350" lIns="58725" rIns="58725" tIns="2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Batang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Batang"/>
                  <a:ea typeface="Batang"/>
                  <a:cs typeface="Batang"/>
                  <a:sym typeface="Batang"/>
                </a:rPr>
                <a:t>P</a:t>
              </a:r>
              <a:r>
                <a:rPr b="1" i="0" lang="en-US" sz="1200" u="none" cap="none" strike="noStrike">
                  <a:solidFill>
                    <a:schemeClr val="dk1"/>
                  </a:solidFill>
                  <a:latin typeface="Batang"/>
                  <a:ea typeface="Batang"/>
                  <a:cs typeface="Batang"/>
                  <a:sym typeface="Batang"/>
                </a:rPr>
                <a:t>f</a:t>
              </a:r>
            </a:p>
          </p:txBody>
        </p:sp>
        <p:sp>
          <p:nvSpPr>
            <p:cNvPr id="453" name="Shape 453"/>
            <p:cNvSpPr txBox="1"/>
            <p:nvPr/>
          </p:nvSpPr>
          <p:spPr>
            <a:xfrm>
              <a:off x="7131050" y="17089437"/>
              <a:ext cx="606425" cy="546099"/>
            </a:xfrm>
            <a:prstGeom prst="rect">
              <a:avLst/>
            </a:prstGeom>
            <a:solidFill>
              <a:srgbClr val="FFCC00">
                <a:alpha val="0"/>
              </a:srgbClr>
            </a:solidFill>
            <a:ln>
              <a:noFill/>
            </a:ln>
          </p:spPr>
          <p:txBody>
            <a:bodyPr anchorCtr="0" anchor="t" bIns="29350" lIns="58725" rIns="58725" tIns="29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Batang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Batang"/>
                  <a:ea typeface="Batang"/>
                  <a:cs typeface="Batang"/>
                  <a:sym typeface="Batang"/>
                </a:rPr>
                <a:t>Qf</a:t>
              </a:r>
            </a:p>
          </p:txBody>
        </p:sp>
        <p:sp>
          <p:nvSpPr>
            <p:cNvPr id="454" name="Shape 454"/>
            <p:cNvSpPr/>
            <p:nvPr/>
          </p:nvSpPr>
          <p:spPr>
            <a:xfrm>
              <a:off x="5737225" y="15089187"/>
              <a:ext cx="1714500" cy="2000250"/>
            </a:xfrm>
            <a:prstGeom prst="rect">
              <a:avLst/>
            </a:prstGeom>
            <a:solidFill>
              <a:srgbClr val="FF0000">
                <a:alpha val="16862"/>
              </a:srgbClr>
            </a:solidFill>
            <a:ln cap="flat" cmpd="sng" w="25400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endParaRPr>
            </a:p>
          </p:txBody>
        </p:sp>
        <p:sp>
          <p:nvSpPr>
            <p:cNvPr id="455" name="Shape 455"/>
            <p:cNvSpPr/>
            <p:nvPr/>
          </p:nvSpPr>
          <p:spPr>
            <a:xfrm>
              <a:off x="5737225" y="15946437"/>
              <a:ext cx="4286250" cy="1143000"/>
            </a:xfrm>
            <a:prstGeom prst="rect">
              <a:avLst/>
            </a:prstGeom>
            <a:solidFill>
              <a:srgbClr val="000099">
                <a:alpha val="12941"/>
              </a:srgbClr>
            </a:solidFill>
            <a:ln cap="flat" cmpd="sng" w="25400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endParaRPr>
            </a:p>
          </p:txBody>
        </p:sp>
      </p:grpSp>
    </p:spTree>
  </p:cSld>
  <p:clrMapOvr>
    <a:masterClrMapping/>
  </p:clrMapOvr>
  <p:transition spd="slow">
    <p:cut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Shape 460"/>
          <p:cNvSpPr txBox="1"/>
          <p:nvPr>
            <p:ph type="title"/>
          </p:nvPr>
        </p:nvSpPr>
        <p:spPr>
          <a:xfrm>
            <a:off x="468312" y="260350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Garamond"/>
              <a:buNone/>
            </a:pPr>
            <a: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Sensibilidad de la demanda</a:t>
            </a:r>
            <a:b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a la variación de rentas o ingresos</a:t>
            </a:r>
          </a:p>
        </p:txBody>
      </p:sp>
      <p:sp>
        <p:nvSpPr>
          <p:cNvPr id="461" name="Shape 461"/>
          <p:cNvSpPr txBox="1"/>
          <p:nvPr>
            <p:ph idx="1" type="body"/>
          </p:nvPr>
        </p:nvSpPr>
        <p:spPr>
          <a:xfrm>
            <a:off x="457200" y="2066925"/>
            <a:ext cx="8229600" cy="4098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4999"/>
              <a:buFont typeface="Noto Symbol"/>
              <a:buChar char="■"/>
            </a:pPr>
            <a:r>
              <a:rPr b="0" i="0" lang="en-US" sz="3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Elasticidad – ingreso de la demanda = </a:t>
            </a:r>
            <a:r>
              <a:rPr b="0" baseline="30000" i="0" lang="en-US" sz="3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e</a:t>
            </a:r>
            <a:r>
              <a:rPr b="0" baseline="-25000" i="0" lang="en-US" sz="3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y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t/>
            </a:r>
            <a:endParaRPr b="0" i="0" sz="2000" u="sng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t/>
            </a:r>
            <a:endParaRPr b="0" i="0" sz="2000" u="sng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t/>
            </a:r>
            <a:endParaRPr b="0" i="0" sz="2000" u="sng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rPr b="1" baseline="30000" i="0" lang="en-US" sz="30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e</a:t>
            </a:r>
            <a:r>
              <a:rPr b="1" baseline="-25000" i="0" lang="en-US" sz="30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y</a:t>
            </a:r>
            <a:r>
              <a:rPr b="1" baseline="-25000" i="0" lang="en-US" sz="20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 =</a:t>
            </a:r>
            <a:r>
              <a:rPr b="0" i="0" lang="en-US" sz="2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 </a:t>
            </a:r>
            <a:r>
              <a:rPr b="1" i="0" lang="en-US" sz="2400" u="sng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(Cantidad final – Cantidad inicial)/ Cantidad inicial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rPr b="1" i="0" lang="en-US" sz="24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	   (Ingreso final – Ingreso inicial) / Ingreso inicial</a:t>
            </a:r>
          </a:p>
        </p:txBody>
      </p:sp>
    </p:spTree>
  </p:cSld>
  <p:clrMapOvr>
    <a:masterClrMapping/>
  </p:clrMapOvr>
  <p:transition spd="slow">
    <p:cut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Shape 466"/>
          <p:cNvSpPr txBox="1"/>
          <p:nvPr>
            <p:ph type="title"/>
          </p:nvPr>
        </p:nvSpPr>
        <p:spPr>
          <a:xfrm>
            <a:off x="323850" y="333375"/>
            <a:ext cx="5986461" cy="12239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Garamond"/>
              <a:buNone/>
            </a:pPr>
            <a: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Clasificación de los bienes</a:t>
            </a:r>
            <a:b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0" i="0" lang="en-US" sz="2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(según el valor de la elasticidad renta (ey))</a:t>
            </a:r>
          </a:p>
        </p:txBody>
      </p:sp>
      <p:sp>
        <p:nvSpPr>
          <p:cNvPr id="467" name="Shape 467"/>
          <p:cNvSpPr txBox="1"/>
          <p:nvPr>
            <p:ph idx="1" type="body"/>
          </p:nvPr>
        </p:nvSpPr>
        <p:spPr>
          <a:xfrm>
            <a:off x="0" y="1412875"/>
            <a:ext cx="9144000" cy="5256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ymbol"/>
              <a:buChar char="■"/>
            </a:pPr>
            <a:r>
              <a:rPr b="0" i="0" lang="en-US" sz="29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Si la demanda de un bien (x) según la renta del consumidor (y), presenta la elasticidad renta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rPr b="1" i="0" lang="en-US" sz="29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   </a:t>
            </a:r>
            <a:r>
              <a:rPr b="1" i="0" lang="en-US" sz="29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e</a:t>
            </a:r>
            <a:r>
              <a:rPr b="1" i="0" lang="en-US" sz="20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y</a:t>
            </a:r>
            <a:r>
              <a:rPr b="1" i="0" lang="en-US" sz="29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 &lt; 0</a:t>
            </a:r>
            <a:r>
              <a:rPr b="0" i="0" lang="en-US" sz="29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, entonces el bien X es</a:t>
            </a:r>
            <a:r>
              <a:rPr b="0" i="0" lang="en-US" sz="29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 </a:t>
            </a:r>
            <a:r>
              <a:rPr b="1" i="0" lang="en-US" sz="29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inferior.</a:t>
            </a:r>
            <a:r>
              <a:rPr b="0" i="0" lang="en-US" sz="29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ymbol"/>
              <a:buChar char="■"/>
            </a:pPr>
            <a:r>
              <a:rPr b="0" i="0" lang="en-US" sz="29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Si la demanda de un bien (x) según la renta del consumidor (y), presenta la elasticidad renta    </a:t>
            </a:r>
            <a:r>
              <a:rPr b="1" i="0" lang="en-US" sz="29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e</a:t>
            </a:r>
            <a:r>
              <a:rPr b="1" i="0" lang="en-US" sz="20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y</a:t>
            </a:r>
            <a:r>
              <a:rPr b="1" i="0" lang="en-US" sz="29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 &gt; 0</a:t>
            </a:r>
            <a:r>
              <a:rPr b="0" i="0" lang="en-US" sz="29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, entonces el bien X es</a:t>
            </a:r>
            <a:r>
              <a:rPr b="0" i="0" lang="en-US" sz="29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 </a:t>
            </a:r>
            <a:r>
              <a:rPr b="1" i="0" lang="en-US" sz="29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normal.</a:t>
            </a:r>
          </a:p>
          <a:p>
            <a:pPr indent="-323850" lvl="3" marL="13398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Noto Symbol"/>
              <a:buChar char="❑"/>
            </a:pPr>
            <a:r>
              <a:rPr b="1" i="0" lang="en-US" sz="24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Si la elasticidad renta está   </a:t>
            </a:r>
            <a:r>
              <a:rPr b="1" i="0" lang="en-US" sz="24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0  ≤ ey  ≤ 1</a:t>
            </a:r>
            <a:r>
              <a:rPr b="1" i="0" lang="en-US" sz="24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, el bien es </a:t>
            </a:r>
            <a:r>
              <a:rPr b="1" i="0" lang="en-US" sz="24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normal básico.</a:t>
            </a:r>
          </a:p>
          <a:p>
            <a:pPr indent="-323850" lvl="3" marL="13398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Noto Symbol"/>
              <a:buChar char="❑"/>
            </a:pPr>
            <a:r>
              <a:rPr b="1" i="0" lang="en-US" sz="24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Si la elasticidad renta está </a:t>
            </a:r>
            <a:r>
              <a:rPr b="1" i="0" lang="en-US" sz="24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1 &lt; ey &lt; ∞</a:t>
            </a:r>
            <a:r>
              <a:rPr b="1" i="0" lang="en-US" sz="24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, el bien es </a:t>
            </a:r>
            <a:r>
              <a:rPr b="1" i="0" lang="en-US" sz="24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normal de lujo.</a:t>
            </a:r>
          </a:p>
        </p:txBody>
      </p:sp>
    </p:spTree>
  </p:cSld>
  <p:clrMapOvr>
    <a:masterClrMapping/>
  </p:clrMapOvr>
  <p:transition spd="slow">
    <p:cut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hape 472"/>
          <p:cNvSpPr txBox="1"/>
          <p:nvPr>
            <p:ph type="title"/>
          </p:nvPr>
        </p:nvSpPr>
        <p:spPr>
          <a:xfrm>
            <a:off x="457200" y="277812"/>
            <a:ext cx="4978399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Garamond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GRÁFICOS DE DEMANDA </a:t>
            </a:r>
            <a:br>
              <a:rPr b="0" i="0" lang="en-US" sz="2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0" i="0" lang="en-US" sz="2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EN FUNCIÓN DE </a:t>
            </a:r>
            <a:br>
              <a:rPr b="0" i="0" lang="en-US" sz="2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0" i="0" lang="en-US" sz="2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LA RENTA DEL CONSUMIDOR</a:t>
            </a:r>
          </a:p>
        </p:txBody>
      </p:sp>
      <p:grpSp>
        <p:nvGrpSpPr>
          <p:cNvPr id="473" name="Shape 473"/>
          <p:cNvGrpSpPr/>
          <p:nvPr/>
        </p:nvGrpSpPr>
        <p:grpSpPr>
          <a:xfrm>
            <a:off x="826205" y="1842169"/>
            <a:ext cx="6247694" cy="4323680"/>
            <a:chOff x="2986086" y="16738600"/>
            <a:chExt cx="12573000" cy="6434137"/>
          </a:xfrm>
        </p:grpSpPr>
        <p:cxnSp>
          <p:nvCxnSpPr>
            <p:cNvPr id="474" name="Shape 474"/>
            <p:cNvCxnSpPr/>
            <p:nvPr/>
          </p:nvCxnSpPr>
          <p:spPr>
            <a:xfrm flipH="1" rot="10800000">
              <a:off x="4700587" y="17457737"/>
              <a:ext cx="1587" cy="485775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475" name="Shape 475"/>
            <p:cNvCxnSpPr/>
            <p:nvPr/>
          </p:nvCxnSpPr>
          <p:spPr>
            <a:xfrm>
              <a:off x="4700587" y="22315487"/>
              <a:ext cx="8001000" cy="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sp>
          <p:nvSpPr>
            <p:cNvPr id="476" name="Shape 476"/>
            <p:cNvSpPr/>
            <p:nvPr/>
          </p:nvSpPr>
          <p:spPr>
            <a:xfrm>
              <a:off x="4700587" y="17764125"/>
              <a:ext cx="2363786" cy="4551361"/>
            </a:xfrm>
            <a:custGeom>
              <a:pathLst>
                <a:path extrusionOk="0" h="2867" w="1489">
                  <a:moveTo>
                    <a:pt x="0" y="2867"/>
                  </a:moveTo>
                  <a:cubicBezTo>
                    <a:pt x="495" y="2552"/>
                    <a:pt x="1031" y="2237"/>
                    <a:pt x="1260" y="1967"/>
                  </a:cubicBezTo>
                  <a:cubicBezTo>
                    <a:pt x="1489" y="1697"/>
                    <a:pt x="1460" y="1488"/>
                    <a:pt x="1374" y="1245"/>
                  </a:cubicBezTo>
                  <a:cubicBezTo>
                    <a:pt x="1288" y="1002"/>
                    <a:pt x="944" y="717"/>
                    <a:pt x="744" y="510"/>
                  </a:cubicBezTo>
                  <a:cubicBezTo>
                    <a:pt x="544" y="303"/>
                    <a:pt x="293" y="106"/>
                    <a:pt x="174" y="0"/>
                  </a:cubicBezTo>
                </a:path>
              </a:pathLst>
            </a:custGeom>
            <a:noFill/>
            <a:ln cap="flat" cmpd="sng" w="25400">
              <a:solidFill>
                <a:srgbClr val="00808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endParaRPr>
            </a:p>
          </p:txBody>
        </p:sp>
        <p:sp>
          <p:nvSpPr>
            <p:cNvPr id="477" name="Shape 477"/>
            <p:cNvSpPr/>
            <p:nvPr/>
          </p:nvSpPr>
          <p:spPr>
            <a:xfrm>
              <a:off x="4700587" y="16738600"/>
              <a:ext cx="4013200" cy="5576887"/>
            </a:xfrm>
            <a:custGeom>
              <a:pathLst>
                <a:path extrusionOk="0" h="3513" w="2528">
                  <a:moveTo>
                    <a:pt x="0" y="3513"/>
                  </a:moveTo>
                  <a:cubicBezTo>
                    <a:pt x="229" y="3348"/>
                    <a:pt x="1029" y="2858"/>
                    <a:pt x="1373" y="2520"/>
                  </a:cubicBezTo>
                  <a:cubicBezTo>
                    <a:pt x="1717" y="2182"/>
                    <a:pt x="1888" y="1823"/>
                    <a:pt x="2063" y="1485"/>
                  </a:cubicBezTo>
                  <a:cubicBezTo>
                    <a:pt x="2238" y="1147"/>
                    <a:pt x="2346" y="742"/>
                    <a:pt x="2423" y="495"/>
                  </a:cubicBezTo>
                  <a:cubicBezTo>
                    <a:pt x="2500" y="248"/>
                    <a:pt x="2506" y="103"/>
                    <a:pt x="2528" y="0"/>
                  </a:cubicBezTo>
                </a:path>
              </a:pathLst>
            </a:custGeom>
            <a:noFill/>
            <a:ln cap="flat" cmpd="sng" w="25400">
              <a:solidFill>
                <a:srgbClr val="0000FF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endParaRPr>
            </a:p>
          </p:txBody>
        </p:sp>
        <p:sp>
          <p:nvSpPr>
            <p:cNvPr id="478" name="Shape 478"/>
            <p:cNvSpPr/>
            <p:nvPr/>
          </p:nvSpPr>
          <p:spPr>
            <a:xfrm>
              <a:off x="4700587" y="19334162"/>
              <a:ext cx="8494711" cy="2898775"/>
            </a:xfrm>
            <a:custGeom>
              <a:pathLst>
                <a:path extrusionOk="0" h="1826" w="5351">
                  <a:moveTo>
                    <a:pt x="0" y="1826"/>
                  </a:moveTo>
                  <a:cubicBezTo>
                    <a:pt x="261" y="1672"/>
                    <a:pt x="1075" y="1159"/>
                    <a:pt x="1569" y="901"/>
                  </a:cubicBezTo>
                  <a:cubicBezTo>
                    <a:pt x="2063" y="643"/>
                    <a:pt x="2515" y="420"/>
                    <a:pt x="2965" y="280"/>
                  </a:cubicBezTo>
                  <a:cubicBezTo>
                    <a:pt x="3415" y="140"/>
                    <a:pt x="3873" y="107"/>
                    <a:pt x="4271" y="60"/>
                  </a:cubicBezTo>
                  <a:cubicBezTo>
                    <a:pt x="4669" y="13"/>
                    <a:pt x="5126" y="12"/>
                    <a:pt x="5351" y="0"/>
                  </a:cubicBezTo>
                </a:path>
              </a:pathLst>
            </a:custGeom>
            <a:noFill/>
            <a:ln cap="flat" cmpd="sng" w="25400">
              <a:solidFill>
                <a:srgbClr val="FF0000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endParaRPr>
            </a:p>
          </p:txBody>
        </p:sp>
        <p:cxnSp>
          <p:nvCxnSpPr>
            <p:cNvPr id="479" name="Shape 479"/>
            <p:cNvCxnSpPr/>
            <p:nvPr/>
          </p:nvCxnSpPr>
          <p:spPr>
            <a:xfrm>
              <a:off x="4700587" y="20315237"/>
              <a:ext cx="34290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480" name="Shape 480"/>
            <p:cNvCxnSpPr/>
            <p:nvPr/>
          </p:nvCxnSpPr>
          <p:spPr>
            <a:xfrm>
              <a:off x="4700587" y="19457987"/>
              <a:ext cx="628649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481" name="Shape 481"/>
            <p:cNvCxnSpPr/>
            <p:nvPr/>
          </p:nvCxnSpPr>
          <p:spPr>
            <a:xfrm>
              <a:off x="10987086" y="19457987"/>
              <a:ext cx="0" cy="2857499"/>
            </a:xfrm>
            <a:prstGeom prst="straightConnector1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482" name="Shape 482"/>
            <p:cNvCxnSpPr/>
            <p:nvPr/>
          </p:nvCxnSpPr>
          <p:spPr>
            <a:xfrm>
              <a:off x="8129586" y="20315237"/>
              <a:ext cx="0" cy="2000250"/>
            </a:xfrm>
            <a:prstGeom prst="straightConnector1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483" name="Shape 483"/>
            <p:cNvCxnSpPr/>
            <p:nvPr/>
          </p:nvCxnSpPr>
          <p:spPr>
            <a:xfrm>
              <a:off x="7843836" y="19457987"/>
              <a:ext cx="1587" cy="2857499"/>
            </a:xfrm>
            <a:prstGeom prst="straightConnector1">
              <a:avLst/>
            </a:prstGeom>
            <a:noFill/>
            <a:ln cap="flat" cmpd="sng" w="25400">
              <a:solidFill>
                <a:srgbClr val="0000FF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484" name="Shape 484"/>
            <p:cNvCxnSpPr/>
            <p:nvPr/>
          </p:nvCxnSpPr>
          <p:spPr>
            <a:xfrm>
              <a:off x="6985000" y="20315237"/>
              <a:ext cx="1587" cy="2000250"/>
            </a:xfrm>
            <a:prstGeom prst="straightConnector1">
              <a:avLst/>
            </a:prstGeom>
            <a:noFill/>
            <a:ln cap="flat" cmpd="sng" w="25400">
              <a:solidFill>
                <a:srgbClr val="00808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485" name="Shape 485"/>
            <p:cNvCxnSpPr/>
            <p:nvPr/>
          </p:nvCxnSpPr>
          <p:spPr>
            <a:xfrm>
              <a:off x="7272336" y="20315237"/>
              <a:ext cx="1587" cy="2000250"/>
            </a:xfrm>
            <a:prstGeom prst="straightConnector1">
              <a:avLst/>
            </a:prstGeom>
            <a:noFill/>
            <a:ln cap="flat" cmpd="sng" w="25400">
              <a:solidFill>
                <a:srgbClr val="0000FF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486" name="Shape 486"/>
            <p:cNvCxnSpPr/>
            <p:nvPr/>
          </p:nvCxnSpPr>
          <p:spPr>
            <a:xfrm>
              <a:off x="6700836" y="19457987"/>
              <a:ext cx="1587" cy="2857499"/>
            </a:xfrm>
            <a:prstGeom prst="straightConnector1">
              <a:avLst/>
            </a:prstGeom>
            <a:noFill/>
            <a:ln cap="flat" cmpd="sng" w="25400">
              <a:solidFill>
                <a:srgbClr val="00808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sp>
          <p:nvSpPr>
            <p:cNvPr id="487" name="Shape 487"/>
            <p:cNvSpPr txBox="1"/>
            <p:nvPr/>
          </p:nvSpPr>
          <p:spPr>
            <a:xfrm>
              <a:off x="2986086" y="17457737"/>
              <a:ext cx="1714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Batang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Batang"/>
                  <a:ea typeface="Batang"/>
                  <a:cs typeface="Batang"/>
                  <a:sym typeface="Batang"/>
                </a:rPr>
                <a:t>Renta</a:t>
              </a:r>
            </a:p>
          </p:txBody>
        </p:sp>
        <p:sp>
          <p:nvSpPr>
            <p:cNvPr id="488" name="Shape 488"/>
            <p:cNvSpPr txBox="1"/>
            <p:nvPr/>
          </p:nvSpPr>
          <p:spPr>
            <a:xfrm>
              <a:off x="12701586" y="22029737"/>
              <a:ext cx="2286000" cy="857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Batang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Batang"/>
                  <a:ea typeface="Batang"/>
                  <a:cs typeface="Batang"/>
                  <a:sym typeface="Batang"/>
                </a:rPr>
                <a:t>Cantidad </a:t>
              </a:r>
            </a:p>
          </p:txBody>
        </p:sp>
        <p:sp>
          <p:nvSpPr>
            <p:cNvPr id="489" name="Shape 489"/>
            <p:cNvSpPr txBox="1"/>
            <p:nvPr/>
          </p:nvSpPr>
          <p:spPr>
            <a:xfrm>
              <a:off x="2986086" y="19743737"/>
              <a:ext cx="1143000" cy="857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+Δ</a:t>
              </a:r>
              <a:r>
                <a:rPr b="0" i="0" lang="en-US" sz="1400" u="none" cap="none" strike="noStrike">
                  <a:solidFill>
                    <a:schemeClr val="dk1"/>
                  </a:solidFill>
                  <a:latin typeface="Batang"/>
                  <a:ea typeface="Batang"/>
                  <a:cs typeface="Batang"/>
                  <a:sym typeface="Batang"/>
                </a:rPr>
                <a:t>Y</a:t>
              </a:r>
            </a:p>
          </p:txBody>
        </p:sp>
        <p:sp>
          <p:nvSpPr>
            <p:cNvPr id="490" name="Shape 490"/>
            <p:cNvSpPr txBox="1"/>
            <p:nvPr/>
          </p:nvSpPr>
          <p:spPr>
            <a:xfrm>
              <a:off x="5272087" y="17171987"/>
              <a:ext cx="2286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Batang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Batang"/>
                  <a:ea typeface="Batang"/>
                  <a:cs typeface="Batang"/>
                  <a:sym typeface="Batang"/>
                </a:rPr>
                <a:t>Bienes</a:t>
              </a: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Batang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Batang"/>
                  <a:ea typeface="Batang"/>
                  <a:cs typeface="Batang"/>
                  <a:sym typeface="Batang"/>
                </a:rPr>
                <a:t>Inferiores</a:t>
              </a:r>
            </a:p>
          </p:txBody>
        </p:sp>
        <p:sp>
          <p:nvSpPr>
            <p:cNvPr id="491" name="Shape 491"/>
            <p:cNvSpPr txBox="1"/>
            <p:nvPr/>
          </p:nvSpPr>
          <p:spPr>
            <a:xfrm>
              <a:off x="9272586" y="17171987"/>
              <a:ext cx="2286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Batang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Batang"/>
                  <a:ea typeface="Batang"/>
                  <a:cs typeface="Batang"/>
                  <a:sym typeface="Batang"/>
                </a:rPr>
                <a:t>Bienes Normales</a:t>
              </a: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Batang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Batang"/>
                  <a:ea typeface="Batang"/>
                  <a:cs typeface="Batang"/>
                  <a:sym typeface="Batang"/>
                </a:rPr>
                <a:t>Básicos</a:t>
              </a:r>
            </a:p>
          </p:txBody>
        </p:sp>
        <p:sp>
          <p:nvSpPr>
            <p:cNvPr id="492" name="Shape 492"/>
            <p:cNvSpPr txBox="1"/>
            <p:nvPr/>
          </p:nvSpPr>
          <p:spPr>
            <a:xfrm>
              <a:off x="13273087" y="19172237"/>
              <a:ext cx="2286000" cy="2000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Batang"/>
                <a:buNone/>
              </a:pPr>
              <a:r>
                <a:rPr b="0" i="1" lang="en-US" sz="1200" u="none" cap="none" strike="noStrike">
                  <a:solidFill>
                    <a:schemeClr val="dk1"/>
                  </a:solidFill>
                  <a:latin typeface="Batang"/>
                  <a:ea typeface="Batang"/>
                  <a:cs typeface="Batang"/>
                  <a:sym typeface="Batang"/>
                </a:rPr>
                <a:t>Bienes Normales</a:t>
              </a: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Batang"/>
                <a:buNone/>
              </a:pPr>
              <a:r>
                <a:rPr b="0" i="1" lang="en-US" sz="1200" u="none" cap="none" strike="noStrike">
                  <a:solidFill>
                    <a:schemeClr val="dk1"/>
                  </a:solidFill>
                  <a:latin typeface="Batang"/>
                  <a:ea typeface="Batang"/>
                  <a:cs typeface="Batang"/>
                  <a:sym typeface="Batang"/>
                </a:rPr>
                <a:t>De lujo</a:t>
              </a:r>
            </a:p>
          </p:txBody>
        </p:sp>
        <p:cxnSp>
          <p:nvCxnSpPr>
            <p:cNvPr id="493" name="Shape 493"/>
            <p:cNvCxnSpPr/>
            <p:nvPr/>
          </p:nvCxnSpPr>
          <p:spPr>
            <a:xfrm>
              <a:off x="8129586" y="20315237"/>
              <a:ext cx="2857499" cy="0"/>
            </a:xfrm>
            <a:prstGeom prst="straightConnector1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miter/>
              <a:headEnd len="med" w="med" type="none"/>
              <a:tailEnd len="lg" w="lg" type="triangle"/>
            </a:ln>
          </p:spPr>
        </p:cxnSp>
        <p:cxnSp>
          <p:nvCxnSpPr>
            <p:cNvPr id="494" name="Shape 494"/>
            <p:cNvCxnSpPr/>
            <p:nvPr/>
          </p:nvCxnSpPr>
          <p:spPr>
            <a:xfrm>
              <a:off x="7272336" y="21172487"/>
              <a:ext cx="571500" cy="1587"/>
            </a:xfrm>
            <a:prstGeom prst="straightConnector1">
              <a:avLst/>
            </a:prstGeom>
            <a:noFill/>
            <a:ln cap="flat" cmpd="sng" w="25400">
              <a:solidFill>
                <a:srgbClr val="0000FF"/>
              </a:solidFill>
              <a:prstDash val="solid"/>
              <a:miter/>
              <a:headEnd len="med" w="med" type="none"/>
              <a:tailEnd len="lg" w="lg" type="triangle"/>
            </a:ln>
          </p:spPr>
        </p:cxnSp>
        <p:cxnSp>
          <p:nvCxnSpPr>
            <p:cNvPr id="495" name="Shape 495"/>
            <p:cNvCxnSpPr/>
            <p:nvPr/>
          </p:nvCxnSpPr>
          <p:spPr>
            <a:xfrm rot="10800000">
              <a:off x="6700836" y="21458237"/>
              <a:ext cx="285750" cy="0"/>
            </a:xfrm>
            <a:prstGeom prst="straightConnector1">
              <a:avLst/>
            </a:prstGeom>
            <a:noFill/>
            <a:ln cap="flat" cmpd="sng" w="25400">
              <a:solidFill>
                <a:srgbClr val="008080"/>
              </a:solidFill>
              <a:prstDash val="solid"/>
              <a:miter/>
              <a:headEnd len="med" w="med" type="none"/>
              <a:tailEnd len="lg" w="lg" type="triangle"/>
            </a:ln>
          </p:spPr>
        </p:cxnSp>
        <p:sp>
          <p:nvSpPr>
            <p:cNvPr id="496" name="Shape 496"/>
            <p:cNvSpPr txBox="1"/>
            <p:nvPr/>
          </p:nvSpPr>
          <p:spPr>
            <a:xfrm>
              <a:off x="8986836" y="22315487"/>
              <a:ext cx="1143000" cy="857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Times New Roman"/>
                <a:buNone/>
              </a:pPr>
              <a:r>
                <a:rPr b="1" i="1" lang="en-US" sz="10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ΔQ</a:t>
              </a:r>
            </a:p>
          </p:txBody>
        </p:sp>
        <p:sp>
          <p:nvSpPr>
            <p:cNvPr id="497" name="Shape 497"/>
            <p:cNvSpPr txBox="1"/>
            <p:nvPr/>
          </p:nvSpPr>
          <p:spPr>
            <a:xfrm>
              <a:off x="6986586" y="22315487"/>
              <a:ext cx="1143000" cy="857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ct val="25000"/>
                <a:buFont typeface="Times New Roman"/>
                <a:buNone/>
              </a:pPr>
              <a:r>
                <a:rPr b="1" i="1" lang="en-US" sz="1000" u="none" cap="none" strike="noStrike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ΔQ</a:t>
              </a:r>
            </a:p>
          </p:txBody>
        </p:sp>
        <p:sp>
          <p:nvSpPr>
            <p:cNvPr id="498" name="Shape 498"/>
            <p:cNvSpPr txBox="1"/>
            <p:nvPr/>
          </p:nvSpPr>
          <p:spPr>
            <a:xfrm>
              <a:off x="6415087" y="22315487"/>
              <a:ext cx="1143000" cy="857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080"/>
                </a:buClr>
                <a:buSzPct val="25000"/>
                <a:buFont typeface="Times New Roman"/>
                <a:buNone/>
              </a:pPr>
              <a:r>
                <a:rPr b="1" i="1" lang="en-US" sz="1000" u="none" cap="none" strike="noStrike">
                  <a:solidFill>
                    <a:srgbClr val="00808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ΔQ</a:t>
              </a:r>
            </a:p>
          </p:txBody>
        </p:sp>
      </p:grpSp>
    </p:spTree>
  </p:cSld>
  <p:clrMapOvr>
    <a:masterClrMapping/>
  </p:clrMapOvr>
  <p:transition spd="slow">
    <p:cut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Shape 503"/>
          <p:cNvSpPr txBox="1"/>
          <p:nvPr>
            <p:ph type="title"/>
          </p:nvPr>
        </p:nvSpPr>
        <p:spPr>
          <a:xfrm>
            <a:off x="323850" y="8493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Garamond"/>
              <a:buNone/>
            </a:pPr>
            <a: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Sensibilidad de la demanda a:</a:t>
            </a:r>
            <a:b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0" i="0" lang="en-US" sz="3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La variación del precio de un bien relacionado</a:t>
            </a:r>
          </a:p>
        </p:txBody>
      </p:sp>
      <p:sp>
        <p:nvSpPr>
          <p:cNvPr id="504" name="Shape 504"/>
          <p:cNvSpPr txBox="1"/>
          <p:nvPr>
            <p:ph idx="1" type="body"/>
          </p:nvPr>
        </p:nvSpPr>
        <p:spPr>
          <a:xfrm>
            <a:off x="457200" y="2211386"/>
            <a:ext cx="8229600" cy="3954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También conocida como elasticidad cruzada</a:t>
            </a:r>
            <a:r>
              <a:rPr b="0" i="0" lang="en-US" sz="27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 = </a:t>
            </a:r>
            <a:r>
              <a:rPr b="1" baseline="30000" i="0" lang="en-US" sz="27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ec</a:t>
            </a:r>
            <a:r>
              <a:rPr b="1" i="0" lang="en-US" sz="2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xy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t/>
            </a:r>
            <a:endParaRPr b="0" i="0" sz="2000" u="sng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rPr b="1" baseline="-25000" i="0" lang="en-US" sz="32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ec</a:t>
            </a:r>
            <a:r>
              <a:rPr b="1" baseline="-25000" i="0" lang="en-US" sz="20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xy</a:t>
            </a:r>
            <a:r>
              <a:rPr b="0" baseline="-25000" i="0" lang="en-US" sz="20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 </a:t>
            </a:r>
            <a:r>
              <a:rPr b="0" baseline="-25000" i="0" lang="en-US" sz="18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=</a:t>
            </a:r>
            <a:r>
              <a:rPr b="0" i="0" lang="en-US" sz="1800" u="none" cap="none" strike="noStrike">
                <a:solidFill>
                  <a:srgbClr val="6666FF"/>
                </a:solidFill>
                <a:latin typeface="Batang"/>
                <a:ea typeface="Batang"/>
                <a:cs typeface="Batang"/>
                <a:sym typeface="Batang"/>
              </a:rPr>
              <a:t>    </a:t>
            </a:r>
            <a:r>
              <a:rPr b="1" i="0" lang="en-US" sz="1800" u="sng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(Cantidad final (x) – Cantidad inicial (x)) / Cantidad inicial(x)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rPr b="1" i="0" lang="en-US" sz="20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	           </a:t>
            </a:r>
            <a:r>
              <a:rPr b="1" i="0" lang="en-US" sz="18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(Precio final (y) – Precio inicial (y)) / Precio inicial (y)</a:t>
            </a:r>
          </a:p>
        </p:txBody>
      </p:sp>
    </p:spTree>
  </p:cSld>
  <p:clrMapOvr>
    <a:masterClrMapping/>
  </p:clrMapOvr>
  <p:transition spd="slow">
    <p:cut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Shape 509"/>
          <p:cNvSpPr txBox="1"/>
          <p:nvPr>
            <p:ph type="title"/>
          </p:nvPr>
        </p:nvSpPr>
        <p:spPr>
          <a:xfrm>
            <a:off x="323850" y="417512"/>
            <a:ext cx="5915025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Garamond"/>
              <a:buNone/>
            </a:pPr>
            <a: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Clasificación de  los bienes </a:t>
            </a:r>
            <a:br>
              <a:rPr b="0" i="0" lang="en-US" sz="3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0" i="0" lang="en-US" sz="28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(según el valor de la elasticidad cruzada)</a:t>
            </a:r>
          </a:p>
        </p:txBody>
      </p:sp>
      <p:sp>
        <p:nvSpPr>
          <p:cNvPr id="510" name="Shape 510"/>
          <p:cNvSpPr txBox="1"/>
          <p:nvPr>
            <p:ph idx="1" type="body"/>
          </p:nvPr>
        </p:nvSpPr>
        <p:spPr>
          <a:xfrm>
            <a:off x="457200" y="1600200"/>
            <a:ext cx="8229600" cy="453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8000"/>
              <a:buFont typeface="Noto Symbol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Si la demanda de un bien (x) según el precio de otro bien (y), presenta la elasticidad cruzada </a:t>
            </a:r>
            <a:r>
              <a:rPr b="1" i="0" lang="en-US" sz="2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ec</a:t>
            </a:r>
            <a:r>
              <a:rPr b="1" i="0" lang="en-US" sz="16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xy</a:t>
            </a:r>
            <a:r>
              <a:rPr b="1" i="0" lang="en-US" sz="20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 &gt; 0, entonces los bienes       </a:t>
            </a:r>
            <a:r>
              <a:rPr b="1" i="0" lang="en-US" sz="24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X e Y son sustitutos</a:t>
            </a: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4999"/>
              <a:buFont typeface="Noto Symbo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ct val="78000"/>
              <a:buFont typeface="Noto Symbol"/>
              <a:buChar char="■"/>
            </a:pPr>
            <a:r>
              <a:rPr b="0" i="0" lang="en-US" sz="20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Si la demanda de un bien (x) según el precio de otro bien (y), presenta la elasticidad cruzada </a:t>
            </a:r>
            <a:r>
              <a:rPr b="1" i="0" lang="en-US" sz="20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ec</a:t>
            </a:r>
            <a:r>
              <a:rPr b="1" i="0" lang="en-US" sz="16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xy</a:t>
            </a:r>
            <a:r>
              <a:rPr b="1" i="0" lang="en-US" sz="20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 &lt; 0, entonces los bienes       </a:t>
            </a:r>
            <a:r>
              <a:rPr b="1" i="0" lang="en-US" sz="2400" u="none" cap="none" strike="noStrike">
                <a:solidFill>
                  <a:srgbClr val="000099"/>
                </a:solidFill>
                <a:latin typeface="Batang"/>
                <a:ea typeface="Batang"/>
                <a:cs typeface="Batang"/>
                <a:sym typeface="Batang"/>
              </a:rPr>
              <a:t>X e Y son complementarios.</a:t>
            </a: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t/>
            </a:r>
            <a:endParaRPr b="1" i="0" sz="2000" u="none" cap="none" strike="noStrike">
              <a:solidFill>
                <a:srgbClr val="000099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ct val="78000"/>
              <a:buFont typeface="Noto Symbol"/>
              <a:buChar char="■"/>
            </a:pPr>
            <a:r>
              <a:rPr b="0" i="0" lang="en-US" sz="20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Si la demanda de un bien (x) según el precio de otro bien (y), presenta la elasticidad cruzada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ec</a:t>
            </a:r>
            <a:r>
              <a:rPr b="1" i="0" lang="en-US" sz="16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xy</a:t>
            </a:r>
            <a:r>
              <a:rPr b="1" i="0" lang="en-US" sz="20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 = 0, entonces los bienes      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X e Y son independientes.</a:t>
            </a:r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ct val="78000"/>
              <a:buFont typeface="Noto Symbol"/>
              <a:buChar char="■"/>
            </a:pPr>
            <a:r>
              <a:rPr b="0" i="0" lang="en-US" sz="2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rPr>
              <a:t>Si la demanda de un bien (x) según el precio de otro bien (y), presenta la elasticidad cruzada </a:t>
            </a:r>
            <a:r>
              <a:rPr b="1" i="0" lang="en-US" sz="2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rPr>
              <a:t>ec</a:t>
            </a:r>
            <a:r>
              <a:rPr b="1" i="0" lang="en-US" sz="16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rPr>
              <a:t>xy</a:t>
            </a:r>
            <a:r>
              <a:rPr b="1" i="0" lang="en-US" sz="2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rPr>
              <a:t> = ∞, entonces los bienes       </a:t>
            </a:r>
            <a:r>
              <a:rPr b="1" i="0" lang="en-US" sz="24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rPr>
              <a:t>X e Y son sucedaneos perfectos.</a:t>
            </a:r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xmlns:r="http://schemas.openxmlformats.org/officeDocument/2006/relationships" name="1_Borde">
  <a:themeElements>
    <a:clrScheme name="1_Borde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CC9900"/>
      </a:accent4>
      <a:accent5>
        <a:srgbClr val="3B812F"/>
      </a:accent5>
      <a:accent6>
        <a:srgbClr val="FFFFFF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Override1.xml><?xml version="1.0" encoding="utf-8"?>
<a:themeOverride xmlns:a="http://schemas.openxmlformats.org/drawingml/2006/main" xmlns:r="http://schemas.openxmlformats.org/officeDocument/2006/relationships">
  <a:clrScheme name="default">
    <a:dk1>
      <a:srgbClr val="000000"/>
    </a:dk1>
    <a:lt1>
      <a:srgbClr val="FFFFFF"/>
    </a:lt1>
    <a:dk2>
      <a:srgbClr val="006633"/>
    </a:dk2>
    <a:lt2>
      <a:srgbClr val="5F5F5F"/>
    </a:lt2>
    <a:accent1>
      <a:srgbClr val="CC9900"/>
    </a:accent1>
    <a:accent2>
      <a:srgbClr val="3B812F"/>
    </a:accent2>
    <a:accent3>
      <a:srgbClr val="FFFFFF"/>
    </a:accent3>
    <a:accent4>
      <a:srgbClr val="CC9900"/>
    </a:accent4>
    <a:accent5>
      <a:srgbClr val="3B812F"/>
    </a:accent5>
    <a:accent6>
      <a:srgbClr val="FFFFFF"/>
    </a:accent6>
    <a:hlink>
      <a:srgbClr val="996600"/>
    </a:hlink>
    <a:folHlink>
      <a:srgbClr val="AFBF39"/>
    </a:folHlink>
  </a:clrScheme>
</a:themeOverride>
</file>