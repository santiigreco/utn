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" name="Shape 9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8" name="Shape 10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4" name="Shape 12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6" name="Shape 1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1" name="Shape 16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6" name="Shape 18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2" name="Shape 21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7" name="Shape 23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5" name="Shape 25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9" name="Shape 28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6" name="Shape 30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8" name="Shape 35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8" name="Shape 39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640"/>
              </a:spcBef>
              <a:buClr>
                <a:srgbClr val="888888"/>
              </a:buClr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buClr>
                <a:srgbClr val="888888"/>
              </a:buClr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buClr>
                <a:srgbClr val="888888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TwoObj">
  <p:cSld name="Title, text on left, two objects on righ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l">
              <a:spcBef>
                <a:spcPts val="0"/>
              </a:spcBef>
              <a:defRPr b="1" sz="4000" cap="none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0" lvl="1" marL="457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0" lvl="2" marL="914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0" lvl="3" marL="1371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0" lvl="4" marL="18288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0" lvl="5" marL="22860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0" lvl="6" marL="2743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0" lvl="7" marL="3200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0" lvl="8" marL="3657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45" name="Shape 4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6" name="Shape 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0" name="Shape 50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51" name="Shape 51"/>
          <p:cNvSpPr txBox="1"/>
          <p:nvPr>
            <p:ph idx="2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52" name="Shape 52"/>
          <p:cNvSpPr txBox="1"/>
          <p:nvPr>
            <p:ph idx="3" type="body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53" name="Shape 53"/>
          <p:cNvSpPr txBox="1"/>
          <p:nvPr>
            <p:ph idx="4" type="body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54" name="Shape 5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3200"/>
            </a:lvl1pPr>
            <a:lvl2pPr lvl="1" rtl="0">
              <a:spcBef>
                <a:spcPts val="0"/>
              </a:spcBef>
              <a:defRPr sz="2800"/>
            </a:lvl2pPr>
            <a:lvl3pPr lvl="2" rtl="0">
              <a:spcBef>
                <a:spcPts val="0"/>
              </a:spcBef>
              <a:defRPr sz="2400"/>
            </a:lvl3pPr>
            <a:lvl4pPr lvl="3" rtl="0">
              <a:spcBef>
                <a:spcPts val="0"/>
              </a:spcBef>
              <a:defRPr sz="2000"/>
            </a:lvl4pPr>
            <a:lvl5pPr lvl="4" rtl="0">
              <a:spcBef>
                <a:spcPts val="0"/>
              </a:spcBef>
              <a:defRPr sz="2000"/>
            </a:lvl5pPr>
            <a:lvl6pPr lvl="5" rtl="0">
              <a:spcBef>
                <a:spcPts val="0"/>
              </a:spcBef>
              <a:defRPr sz="2000"/>
            </a:lvl6pPr>
            <a:lvl7pPr lvl="6" rtl="0">
              <a:spcBef>
                <a:spcPts val="0"/>
              </a:spcBef>
              <a:defRPr sz="2000"/>
            </a:lvl7pPr>
            <a:lvl8pPr lvl="7" rtl="0">
              <a:spcBef>
                <a:spcPts val="0"/>
              </a:spcBef>
              <a:defRPr sz="2000"/>
            </a:lvl8pPr>
            <a:lvl9pPr lvl="8" rtl="0">
              <a:spcBef>
                <a:spcPts val="0"/>
              </a:spcBef>
              <a:defRPr sz="2000"/>
            </a:lvl9pPr>
          </a:lstStyle>
          <a:p/>
        </p:txBody>
      </p:sp>
      <p:sp>
        <p:nvSpPr>
          <p:cNvPr id="65" name="Shape 6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66" name="Shape 66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7" name="Shape 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1" name="Shape 71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rgbClr val="898989"/>
              </a:buClr>
              <a:buFont typeface="Arial"/>
              <a:buNone/>
              <a:defRPr b="0" i="0" sz="3200" u="none" cap="none" strike="noStrike">
                <a:solidFill>
                  <a:srgbClr val="898989"/>
                </a:solidFill>
              </a:defRPr>
            </a:lvl1pPr>
            <a:lvl2pPr indent="0" lvl="1" marL="457200" marR="0" rtl="0" algn="l">
              <a:spcBef>
                <a:spcPts val="0"/>
              </a:spcBef>
              <a:buFont typeface="Arial"/>
              <a:buNone/>
              <a:defRPr b="0" i="0" sz="2800" u="none" cap="none" strike="noStrike"/>
            </a:lvl2pPr>
            <a:lvl3pPr indent="0" lvl="2" marL="914400" marR="0" rtl="0" algn="l">
              <a:spcBef>
                <a:spcPts val="0"/>
              </a:spcBef>
              <a:buFont typeface="Arial"/>
              <a:buNone/>
              <a:defRPr b="0" i="0" sz="2400" u="none" cap="none" strike="noStrike"/>
            </a:lvl3pPr>
            <a:lvl4pPr indent="0" lvl="3" marL="13716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4pPr>
            <a:lvl5pPr indent="0" lvl="4" marL="18288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5pPr>
            <a:lvl6pPr indent="0" lvl="5" marL="22860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6pPr>
            <a:lvl7pPr indent="0" lvl="6" marL="27432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7pPr>
            <a:lvl8pPr indent="0" lvl="7" marL="32004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8pPr>
            <a:lvl9pPr indent="0" lvl="8" marL="36576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9pPr>
          </a:lstStyle>
          <a:p/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73" name="Shape 73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4" name="Shape 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8" name="Shape 78"/>
          <p:cNvSpPr txBox="1"/>
          <p:nvPr>
            <p:ph idx="1" type="body"/>
          </p:nvPr>
        </p:nvSpPr>
        <p:spPr>
          <a:xfrm rot="5400000">
            <a:off x="2309018" y="-251619"/>
            <a:ext cx="452596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4" name="Shape 84"/>
          <p:cNvSpPr txBox="1"/>
          <p:nvPr>
            <p:ph idx="1" type="body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Relationship Id="rId4" Type="http://schemas.openxmlformats.org/officeDocument/2006/relationships/image" Target="../media/image07.jpg"/><Relationship Id="rId5" Type="http://schemas.openxmlformats.org/officeDocument/2006/relationships/image" Target="../media/image0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Relationship Id="rId5" Type="http://schemas.openxmlformats.org/officeDocument/2006/relationships/image" Target="../media/image0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Relationship Id="rId5" Type="http://schemas.openxmlformats.org/officeDocument/2006/relationships/image" Target="../media/image0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Relationship Id="rId5" Type="http://schemas.openxmlformats.org/officeDocument/2006/relationships/image" Target="../media/image05.jpg"/><Relationship Id="rId6" Type="http://schemas.openxmlformats.org/officeDocument/2006/relationships/image" Target="../media/image0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Relationship Id="rId5" Type="http://schemas.openxmlformats.org/officeDocument/2006/relationships/image" Target="../media/image0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Relationship Id="rId5" Type="http://schemas.openxmlformats.org/officeDocument/2006/relationships/image" Target="../media/image0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2.png"/><Relationship Id="rId4" Type="http://schemas.openxmlformats.org/officeDocument/2006/relationships/image" Target="../media/image01.png"/><Relationship Id="rId5" Type="http://schemas.openxmlformats.org/officeDocument/2006/relationships/image" Target="../media/image0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00.png"/><Relationship Id="rId4" Type="http://schemas.openxmlformats.org/officeDocument/2006/relationships/image" Target="../media/image06.jpg"/><Relationship Id="rId5" Type="http://schemas.openxmlformats.org/officeDocument/2006/relationships/image" Target="../media/image0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2.png"/><Relationship Id="rId4" Type="http://schemas.openxmlformats.org/officeDocument/2006/relationships/image" Target="../media/image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Shape 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Shape 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447800"/>
            <a:ext cx="8610599" cy="2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Shape 94"/>
          <p:cNvSpPr txBox="1"/>
          <p:nvPr/>
        </p:nvSpPr>
        <p:spPr>
          <a:xfrm>
            <a:off x="381000" y="4191000"/>
            <a:ext cx="5127625" cy="1462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Mercado de bienes y servicios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Y DEMANDA AGREGADA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Shape 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Shape 96"/>
          <p:cNvSpPr txBox="1"/>
          <p:nvPr/>
        </p:nvSpPr>
        <p:spPr>
          <a:xfrm>
            <a:off x="4495800" y="76200"/>
            <a:ext cx="3962399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RENTA NACIONAL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Shape 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Shape 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" y="1444625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Shape 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 txBox="1"/>
          <p:nvPr/>
        </p:nvSpPr>
        <p:spPr>
          <a:xfrm>
            <a:off x="3268661" y="0"/>
            <a:ext cx="5605462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TEMARIO CLASE N° 17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MACROECONOMÍA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MERCADO DE BIENES Y SERVICIOS</a:t>
            </a: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105" name="Shape 105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Producción y Oferta Agregada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agregada según la Escuela Clásica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agregada según la Escuela Keynesiana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agregada según la Escuela de Síntesis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Renta o Ingreso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Relación Producción y Renta o Ingreso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Demanda o Gasto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Relación Renta o Ingreso y Demanda o Gasto 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 de dos sectores sin ahorro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 de dos sectores con ahorro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Shape 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Shape 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3910012" y="304800"/>
            <a:ext cx="4548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FUNCIÓN DE PRODUCCIÓN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Shape 114"/>
          <p:cNvSpPr txBox="1"/>
          <p:nvPr/>
        </p:nvSpPr>
        <p:spPr>
          <a:xfrm>
            <a:off x="304800" y="1066800"/>
            <a:ext cx="841692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función de producción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determina lo que van a producir las empresas,</a:t>
            </a:r>
          </a:p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decir, la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cantidad de bienes y servicios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éstas van a ofrecer al mercado.</a:t>
            </a:r>
          </a:p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productivos o stock de capital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(maquinarias, computadoras, </a:t>
            </a:r>
          </a:p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instalaciones, vehículos, etc.).</a:t>
            </a:r>
          </a:p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humanos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(trabajadores).</a:t>
            </a:r>
          </a:p>
          <a:p>
            <a:pPr indent="-247650" lvl="2" marL="1162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2" marL="1162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= F( L, K)</a:t>
            </a:r>
          </a:p>
        </p:txBody>
      </p:sp>
      <p:cxnSp>
        <p:nvCxnSpPr>
          <p:cNvPr id="115" name="Shape 115"/>
          <p:cNvCxnSpPr/>
          <p:nvPr/>
        </p:nvCxnSpPr>
        <p:spPr>
          <a:xfrm rot="10800000">
            <a:off x="5562600" y="4038600"/>
            <a:ext cx="0" cy="22097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16" name="Shape 116"/>
          <p:cNvCxnSpPr/>
          <p:nvPr/>
        </p:nvCxnSpPr>
        <p:spPr>
          <a:xfrm>
            <a:off x="5562600" y="6248400"/>
            <a:ext cx="331152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117" name="Shape 117"/>
          <p:cNvSpPr/>
          <p:nvPr/>
        </p:nvSpPr>
        <p:spPr>
          <a:xfrm>
            <a:off x="5562600" y="4322762"/>
            <a:ext cx="2981325" cy="1925637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5111" y="117625"/>
                  <a:pt x="10223" y="115251"/>
                  <a:pt x="15335" y="110502"/>
                </a:cubicBezTo>
                <a:cubicBezTo>
                  <a:pt x="20447" y="105754"/>
                  <a:pt x="26070" y="101797"/>
                  <a:pt x="30670" y="91508"/>
                </a:cubicBezTo>
                <a:cubicBezTo>
                  <a:pt x="35271" y="81220"/>
                  <a:pt x="38338" y="61434"/>
                  <a:pt x="42939" y="48771"/>
                </a:cubicBezTo>
                <a:cubicBezTo>
                  <a:pt x="47539" y="36108"/>
                  <a:pt x="52140" y="23446"/>
                  <a:pt x="58274" y="15531"/>
                </a:cubicBezTo>
                <a:cubicBezTo>
                  <a:pt x="64408" y="7617"/>
                  <a:pt x="72204" y="2572"/>
                  <a:pt x="79744" y="1286"/>
                </a:cubicBezTo>
                <a:cubicBezTo>
                  <a:pt x="87284" y="0"/>
                  <a:pt x="96805" y="2473"/>
                  <a:pt x="103514" y="7815"/>
                </a:cubicBezTo>
                <a:cubicBezTo>
                  <a:pt x="110223" y="13157"/>
                  <a:pt x="116549" y="27996"/>
                  <a:pt x="120000" y="33338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Shape 118"/>
          <p:cNvSpPr txBox="1"/>
          <p:nvPr/>
        </p:nvSpPr>
        <p:spPr>
          <a:xfrm>
            <a:off x="5562600" y="3962400"/>
            <a:ext cx="1066799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7543800" y="5943600"/>
            <a:ext cx="14478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trabajo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7162800" y="4953000"/>
            <a:ext cx="1177924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Factor K fijo</a:t>
            </a:r>
          </a:p>
        </p:txBody>
      </p:sp>
      <p:pic>
        <p:nvPicPr>
          <p:cNvPr id="121" name="Shape 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5125" y="4419600"/>
            <a:ext cx="1998661" cy="220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Shape 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Shape 128"/>
          <p:cNvSpPr txBox="1"/>
          <p:nvPr/>
        </p:nvSpPr>
        <p:spPr>
          <a:xfrm>
            <a:off x="3910012" y="304800"/>
            <a:ext cx="4548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FUNCIÓN DE PRODUCCIÓN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Shape 130"/>
          <p:cNvSpPr txBox="1"/>
          <p:nvPr/>
        </p:nvSpPr>
        <p:spPr>
          <a:xfrm>
            <a:off x="304800" y="1676400"/>
            <a:ext cx="8416924" cy="4648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304800" y="1143000"/>
            <a:ext cx="85693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mercado de trabajo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 nivel de empleo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economía, y una vez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definido éste, la función de producción determinará el volumen de producción que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podrá alcanzarse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(Oferta Agregada).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agregamos otros factores de la producción como: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naturales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(N)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 los que cuenta el país: minerales, pesca, bosques,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energía, etc.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humano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(H):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nivel de formación y capacitación de la población.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función de producción quedaría ahora: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            Y = F (L, K, N, H)</a:t>
            </a:r>
          </a:p>
        </p:txBody>
      </p:sp>
      <p:pic>
        <p:nvPicPr>
          <p:cNvPr id="132" name="Shape 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975" y="4852900"/>
            <a:ext cx="2838600" cy="213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Shape 1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26125" y="5257800"/>
            <a:ext cx="3048000" cy="172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hape 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914400"/>
            <a:ext cx="8610599" cy="2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Shape 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 txBox="1"/>
          <p:nvPr/>
        </p:nvSpPr>
        <p:spPr>
          <a:xfrm>
            <a:off x="4062412" y="1524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AGREGADA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(ESCUELA CLÁSICA)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304800" y="1676400"/>
            <a:ext cx="8416924" cy="4648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3" name="Shape 143"/>
          <p:cNvSpPr txBox="1"/>
          <p:nvPr/>
        </p:nvSpPr>
        <p:spPr>
          <a:xfrm>
            <a:off x="304800" y="1524000"/>
            <a:ext cx="8569325" cy="4267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304800" y="1371600"/>
            <a:ext cx="8569325" cy="5272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ESCUELA CLÁSICA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Competencia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perfecta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todos los mercados.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Precios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flexibles</a:t>
            </a: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al alza y a la baja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incluidos los salarios, lo que va a permitir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todos los mercados (de bienes y servicios, de dinero, de trabajo, etc.) estén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siempre en equilibrio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(si hay demanda u oferta insatisfecha el ajuste de precios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encargará de que el mercado vuelva a recuperar el equilibrio).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 startAt="3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mercado de trabajo está siempre en situación de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pleno empleo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desempleo que puede existir es de carácter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friccional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(debido al tiempo que la gente tarda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localizar un trabajo acorde con su capacitación o no quiere aceptar el salario que le ofrece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mercado).</a:t>
            </a:r>
          </a:p>
        </p:txBody>
      </p:sp>
      <p:grpSp>
        <p:nvGrpSpPr>
          <p:cNvPr id="145" name="Shape 145"/>
          <p:cNvGrpSpPr/>
          <p:nvPr/>
        </p:nvGrpSpPr>
        <p:grpSpPr>
          <a:xfrm>
            <a:off x="743279" y="3436896"/>
            <a:ext cx="6718457" cy="2377505"/>
            <a:chOff x="2538411" y="7669211"/>
            <a:chExt cx="12079286" cy="6623050"/>
          </a:xfrm>
        </p:grpSpPr>
        <p:cxnSp>
          <p:nvCxnSpPr>
            <p:cNvPr id="146" name="Shape 146"/>
            <p:cNvCxnSpPr/>
            <p:nvPr/>
          </p:nvCxnSpPr>
          <p:spPr>
            <a:xfrm>
              <a:off x="3167061" y="13582650"/>
              <a:ext cx="107950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stealth"/>
            </a:ln>
          </p:spPr>
        </p:cxnSp>
        <p:cxnSp>
          <p:nvCxnSpPr>
            <p:cNvPr id="147" name="Shape 147"/>
            <p:cNvCxnSpPr/>
            <p:nvPr/>
          </p:nvCxnSpPr>
          <p:spPr>
            <a:xfrm flipH="1" rot="10800000">
              <a:off x="3167061" y="11296649"/>
              <a:ext cx="5143499" cy="1587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148" name="Shape 148"/>
            <p:cNvSpPr txBox="1"/>
            <p:nvPr/>
          </p:nvSpPr>
          <p:spPr>
            <a:xfrm>
              <a:off x="9220200" y="10439400"/>
              <a:ext cx="4370387" cy="1027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Oferta Agregada</a:t>
              </a:r>
            </a:p>
          </p:txBody>
        </p:sp>
        <p:sp>
          <p:nvSpPr>
            <p:cNvPr id="149" name="Shape 149"/>
            <p:cNvSpPr txBox="1"/>
            <p:nvPr/>
          </p:nvSpPr>
          <p:spPr>
            <a:xfrm>
              <a:off x="3184525" y="8064500"/>
              <a:ext cx="1666875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25" lIns="66650" rIns="66650" tIns="33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Nivel de precios</a:t>
              </a:r>
            </a:p>
          </p:txBody>
        </p:sp>
        <p:sp>
          <p:nvSpPr>
            <p:cNvPr id="150" name="Shape 150"/>
            <p:cNvSpPr txBox="1"/>
            <p:nvPr/>
          </p:nvSpPr>
          <p:spPr>
            <a:xfrm>
              <a:off x="12101511" y="13011150"/>
              <a:ext cx="2516187" cy="965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25" lIns="66650" rIns="66650" tIns="33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9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</a:p>
          </p:txBody>
        </p:sp>
        <p:sp>
          <p:nvSpPr>
            <p:cNvPr id="151" name="Shape 151"/>
            <p:cNvSpPr txBox="1"/>
            <p:nvPr/>
          </p:nvSpPr>
          <p:spPr>
            <a:xfrm>
              <a:off x="2538411" y="11036300"/>
              <a:ext cx="1249361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25" lIns="66650" rIns="66650" tIns="33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baseline="-2500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</a:p>
          </p:txBody>
        </p:sp>
        <p:sp>
          <p:nvSpPr>
            <p:cNvPr id="152" name="Shape 152"/>
            <p:cNvSpPr txBox="1"/>
            <p:nvPr/>
          </p:nvSpPr>
          <p:spPr>
            <a:xfrm>
              <a:off x="8081961" y="13777912"/>
              <a:ext cx="1249361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25" lIns="66650" rIns="66650" tIns="33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</a:p>
          </p:txBody>
        </p:sp>
        <p:cxnSp>
          <p:nvCxnSpPr>
            <p:cNvPr id="153" name="Shape 153"/>
            <p:cNvCxnSpPr/>
            <p:nvPr/>
          </p:nvCxnSpPr>
          <p:spPr>
            <a:xfrm flipH="1" rot="10800000">
              <a:off x="8308975" y="8153400"/>
              <a:ext cx="1587" cy="5373687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54" name="Shape 154"/>
            <p:cNvCxnSpPr/>
            <p:nvPr/>
          </p:nvCxnSpPr>
          <p:spPr>
            <a:xfrm flipH="1" rot="10800000">
              <a:off x="3165475" y="7669211"/>
              <a:ext cx="1587" cy="591343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stealth"/>
            </a:ln>
          </p:spPr>
        </p:cxnSp>
      </p:grpSp>
      <p:sp>
        <p:nvSpPr>
          <p:cNvPr id="155" name="Shape 155"/>
          <p:cNvSpPr txBox="1"/>
          <p:nvPr/>
        </p:nvSpPr>
        <p:spPr>
          <a:xfrm>
            <a:off x="2438400" y="3352800"/>
            <a:ext cx="1676399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DEMANDA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AGREGADA</a:t>
            </a:r>
          </a:p>
        </p:txBody>
      </p:sp>
      <p:sp>
        <p:nvSpPr>
          <p:cNvPr id="156" name="Shape 156"/>
          <p:cNvSpPr/>
          <p:nvPr/>
        </p:nvSpPr>
        <p:spPr>
          <a:xfrm rot="5160000">
            <a:off x="3738561" y="3814762"/>
            <a:ext cx="1419224" cy="1314449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6040" y="116376"/>
                  <a:pt x="24563" y="106956"/>
                  <a:pt x="36241" y="98260"/>
                </a:cubicBezTo>
                <a:cubicBezTo>
                  <a:pt x="47919" y="89565"/>
                  <a:pt x="60000" y="78405"/>
                  <a:pt x="70067" y="67826"/>
                </a:cubicBezTo>
                <a:cubicBezTo>
                  <a:pt x="80134" y="57246"/>
                  <a:pt x="88322" y="46086"/>
                  <a:pt x="96644" y="34782"/>
                </a:cubicBezTo>
                <a:cubicBezTo>
                  <a:pt x="104966" y="23478"/>
                  <a:pt x="115167" y="7246"/>
                  <a:pt x="120000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Shape 157"/>
          <p:cNvSpPr/>
          <p:nvPr/>
        </p:nvSpPr>
        <p:spPr>
          <a:xfrm rot="4560000">
            <a:off x="3095624" y="4162425"/>
            <a:ext cx="1409700" cy="1543049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6621" y="115679"/>
                  <a:pt x="28648" y="102222"/>
                  <a:pt x="39729" y="94074"/>
                </a:cubicBezTo>
                <a:cubicBezTo>
                  <a:pt x="50810" y="85925"/>
                  <a:pt x="55675" y="82345"/>
                  <a:pt x="66486" y="71111"/>
                </a:cubicBezTo>
                <a:cubicBezTo>
                  <a:pt x="77297" y="59876"/>
                  <a:pt x="95675" y="38518"/>
                  <a:pt x="104594" y="26666"/>
                </a:cubicBezTo>
                <a:cubicBezTo>
                  <a:pt x="113513" y="14814"/>
                  <a:pt x="116756" y="5555"/>
                  <a:pt x="120000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Shape 158"/>
          <p:cNvSpPr/>
          <p:nvPr/>
        </p:nvSpPr>
        <p:spPr>
          <a:xfrm rot="4860000">
            <a:off x="3457575" y="4043362"/>
            <a:ext cx="1419225" cy="1314450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6040" y="116376"/>
                  <a:pt x="24563" y="106956"/>
                  <a:pt x="36241" y="98260"/>
                </a:cubicBezTo>
                <a:cubicBezTo>
                  <a:pt x="47919" y="89565"/>
                  <a:pt x="60000" y="78405"/>
                  <a:pt x="70067" y="67826"/>
                </a:cubicBezTo>
                <a:cubicBezTo>
                  <a:pt x="80134" y="57246"/>
                  <a:pt x="88322" y="46086"/>
                  <a:pt x="96644" y="34782"/>
                </a:cubicBezTo>
                <a:cubicBezTo>
                  <a:pt x="104966" y="23478"/>
                  <a:pt x="115167" y="7246"/>
                  <a:pt x="120000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Shape 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Shape 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Shape 165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 txBox="1"/>
          <p:nvPr/>
        </p:nvSpPr>
        <p:spPr>
          <a:xfrm>
            <a:off x="304800" y="1676400"/>
            <a:ext cx="8416924" cy="4648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228600" y="1143000"/>
            <a:ext cx="8645524" cy="305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 DE KEYNES</a:t>
            </a:r>
          </a:p>
          <a:p>
            <a:pPr indent="-342900" lvl="0" marL="3429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perfecta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el mercado de bienes.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mercado de trabajo debido al poder de los sindicatos (que impiden que los salarios bajen cuando 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hay desempleo), existe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gran rigidez a la baja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 startAt="3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producción ofrecida por las empresas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trata de cubrir la cantidad demandada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siendo por lo tanto, 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esta última la que determina el nivel de actividad de la economía y con ello el nivel de empleo.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 startAt="4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dinero en el corto plazo puede afectar al nivel de producción ya que la economía no se encuentra 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siempre en el pleno empleo.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política monetaria puede tener efectos positivos.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 startAt="5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política fiscal puede ser eficaz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el corto plazo para tratar de relanzar una economía estancada, 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en definitiva el papel del estado es necesario. </a:t>
            </a:r>
          </a:p>
        </p:txBody>
      </p:sp>
      <p:grpSp>
        <p:nvGrpSpPr>
          <p:cNvPr id="168" name="Shape 168"/>
          <p:cNvGrpSpPr/>
          <p:nvPr/>
        </p:nvGrpSpPr>
        <p:grpSpPr>
          <a:xfrm>
            <a:off x="2923442" y="4052020"/>
            <a:ext cx="4235694" cy="2253529"/>
            <a:chOff x="3714750" y="4151312"/>
            <a:chExt cx="13430250" cy="7145337"/>
          </a:xfrm>
        </p:grpSpPr>
        <p:cxnSp>
          <p:nvCxnSpPr>
            <p:cNvPr id="169" name="Shape 169"/>
            <p:cNvCxnSpPr/>
            <p:nvPr/>
          </p:nvCxnSpPr>
          <p:spPr>
            <a:xfrm rot="10800000">
              <a:off x="4286250" y="4151312"/>
              <a:ext cx="0" cy="657542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stealth"/>
            </a:ln>
          </p:spPr>
        </p:cxnSp>
        <p:cxnSp>
          <p:nvCxnSpPr>
            <p:cNvPr id="170" name="Shape 170"/>
            <p:cNvCxnSpPr/>
            <p:nvPr/>
          </p:nvCxnSpPr>
          <p:spPr>
            <a:xfrm>
              <a:off x="4286250" y="10725150"/>
              <a:ext cx="12001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stealth"/>
            </a:ln>
          </p:spPr>
        </p:cxnSp>
        <p:cxnSp>
          <p:nvCxnSpPr>
            <p:cNvPr id="171" name="Shape 171"/>
            <p:cNvCxnSpPr/>
            <p:nvPr/>
          </p:nvCxnSpPr>
          <p:spPr>
            <a:xfrm>
              <a:off x="4286250" y="7867650"/>
              <a:ext cx="10572750" cy="1587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172" name="Shape 172"/>
            <p:cNvSpPr txBox="1"/>
            <p:nvPr/>
          </p:nvSpPr>
          <p:spPr>
            <a:xfrm>
              <a:off x="9715500" y="7010400"/>
              <a:ext cx="742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80"/>
                </a:buClr>
                <a:buSzPct val="250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80"/>
                  </a:solidFill>
                  <a:latin typeface="Arial"/>
                  <a:ea typeface="Arial"/>
                  <a:cs typeface="Arial"/>
                  <a:sym typeface="Arial"/>
                </a:rPr>
                <a:t>Oferta Agregada</a:t>
              </a:r>
            </a:p>
          </p:txBody>
        </p:sp>
        <p:sp>
          <p:nvSpPr>
            <p:cNvPr id="173" name="Shape 173"/>
            <p:cNvSpPr txBox="1"/>
            <p:nvPr/>
          </p:nvSpPr>
          <p:spPr>
            <a:xfrm>
              <a:off x="4433887" y="4370387"/>
              <a:ext cx="1852611" cy="92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Nivel de Precios</a:t>
              </a:r>
            </a:p>
          </p:txBody>
        </p:sp>
        <p:sp>
          <p:nvSpPr>
            <p:cNvPr id="174" name="Shape 174"/>
            <p:cNvSpPr txBox="1"/>
            <p:nvPr/>
          </p:nvSpPr>
          <p:spPr>
            <a:xfrm>
              <a:off x="14346237" y="10223500"/>
              <a:ext cx="2798762" cy="107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</a:p>
          </p:txBody>
        </p:sp>
        <p:sp>
          <p:nvSpPr>
            <p:cNvPr id="175" name="Shape 175"/>
            <p:cNvSpPr txBox="1"/>
            <p:nvPr/>
          </p:nvSpPr>
          <p:spPr>
            <a:xfrm>
              <a:off x="3714750" y="7513636"/>
              <a:ext cx="1389061" cy="92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baseline="-2500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</a:p>
          </p:txBody>
        </p:sp>
        <p:sp>
          <p:nvSpPr>
            <p:cNvPr id="176" name="Shape 176"/>
            <p:cNvSpPr txBox="1"/>
            <p:nvPr/>
          </p:nvSpPr>
          <p:spPr>
            <a:xfrm>
              <a:off x="9715500" y="10153650"/>
              <a:ext cx="1389061" cy="639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</a:p>
          </p:txBody>
        </p:sp>
        <p:cxnSp>
          <p:nvCxnSpPr>
            <p:cNvPr id="177" name="Shape 177"/>
            <p:cNvCxnSpPr/>
            <p:nvPr/>
          </p:nvCxnSpPr>
          <p:spPr>
            <a:xfrm rot="10800000">
              <a:off x="10287000" y="7867650"/>
              <a:ext cx="0" cy="285749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  <p:sp>
        <p:nvSpPr>
          <p:cNvPr id="178" name="Shape 178"/>
          <p:cNvSpPr txBox="1"/>
          <p:nvPr/>
        </p:nvSpPr>
        <p:spPr>
          <a:xfrm>
            <a:off x="4062412" y="1524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AGREGADA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(ESCUELA KEYNESIANA)</a:t>
            </a:r>
          </a:p>
        </p:txBody>
      </p:sp>
      <p:sp>
        <p:nvSpPr>
          <p:cNvPr id="179" name="Shape 179"/>
          <p:cNvSpPr/>
          <p:nvPr/>
        </p:nvSpPr>
        <p:spPr>
          <a:xfrm>
            <a:off x="1319212" y="1676400"/>
            <a:ext cx="7554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Shape 180"/>
          <p:cNvSpPr/>
          <p:nvPr/>
        </p:nvSpPr>
        <p:spPr>
          <a:xfrm rot="6420000">
            <a:off x="3519486" y="4471987"/>
            <a:ext cx="1257299" cy="1457325"/>
          </a:xfrm>
          <a:custGeom>
            <a:pathLst>
              <a:path extrusionOk="0" h="120000" w="120000">
                <a:moveTo>
                  <a:pt x="0" y="119999"/>
                </a:moveTo>
                <a:cubicBezTo>
                  <a:pt x="7272" y="115816"/>
                  <a:pt x="31515" y="103267"/>
                  <a:pt x="43636" y="94901"/>
                </a:cubicBezTo>
                <a:cubicBezTo>
                  <a:pt x="55757" y="86535"/>
                  <a:pt x="63181" y="80000"/>
                  <a:pt x="72727" y="69803"/>
                </a:cubicBezTo>
                <a:cubicBezTo>
                  <a:pt x="82272" y="59607"/>
                  <a:pt x="93030" y="45359"/>
                  <a:pt x="100909" y="33725"/>
                </a:cubicBezTo>
                <a:cubicBezTo>
                  <a:pt x="108787" y="22091"/>
                  <a:pt x="116060" y="7058"/>
                  <a:pt x="119999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4981575" y="4019550"/>
            <a:ext cx="1562099" cy="1990724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2560" y="5263"/>
                  <a:pt x="9512" y="21818"/>
                  <a:pt x="15365" y="31578"/>
                </a:cubicBezTo>
                <a:cubicBezTo>
                  <a:pt x="21219" y="41339"/>
                  <a:pt x="27682" y="49952"/>
                  <a:pt x="35121" y="58564"/>
                </a:cubicBezTo>
                <a:cubicBezTo>
                  <a:pt x="42560" y="67177"/>
                  <a:pt x="50731" y="75502"/>
                  <a:pt x="60121" y="83540"/>
                </a:cubicBezTo>
                <a:cubicBezTo>
                  <a:pt x="69512" y="91578"/>
                  <a:pt x="81463" y="100669"/>
                  <a:pt x="91463" y="106794"/>
                </a:cubicBezTo>
                <a:cubicBezTo>
                  <a:pt x="101463" y="112918"/>
                  <a:pt x="114024" y="117224"/>
                  <a:pt x="120000" y="12000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Shape 182"/>
          <p:cNvSpPr/>
          <p:nvPr/>
        </p:nvSpPr>
        <p:spPr>
          <a:xfrm>
            <a:off x="4486275" y="4229100"/>
            <a:ext cx="1352550" cy="1790699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2676" y="5851"/>
                  <a:pt x="8309" y="23829"/>
                  <a:pt x="16056" y="35106"/>
                </a:cubicBezTo>
                <a:cubicBezTo>
                  <a:pt x="23802" y="46382"/>
                  <a:pt x="33943" y="56382"/>
                  <a:pt x="46760" y="67872"/>
                </a:cubicBezTo>
                <a:cubicBezTo>
                  <a:pt x="59577" y="79361"/>
                  <a:pt x="80704" y="95319"/>
                  <a:pt x="92957" y="104042"/>
                </a:cubicBezTo>
                <a:cubicBezTo>
                  <a:pt x="105211" y="112765"/>
                  <a:pt x="114366" y="116702"/>
                  <a:pt x="119999" y="12000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Shape 183"/>
          <p:cNvSpPr txBox="1"/>
          <p:nvPr/>
        </p:nvSpPr>
        <p:spPr>
          <a:xfrm>
            <a:off x="3352800" y="4413250"/>
            <a:ext cx="1676399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DEMANDA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AGREGADA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Shape 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Shape 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Shape 191"/>
          <p:cNvSpPr txBox="1"/>
          <p:nvPr/>
        </p:nvSpPr>
        <p:spPr>
          <a:xfrm>
            <a:off x="304800" y="1676400"/>
            <a:ext cx="8416924" cy="4648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6195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2" name="Shape 192"/>
          <p:cNvSpPr txBox="1"/>
          <p:nvPr/>
        </p:nvSpPr>
        <p:spPr>
          <a:xfrm>
            <a:off x="304800" y="1524000"/>
            <a:ext cx="8569325" cy="4267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193" name="Shape 193"/>
          <p:cNvGrpSpPr/>
          <p:nvPr/>
        </p:nvGrpSpPr>
        <p:grpSpPr>
          <a:xfrm>
            <a:off x="2111374" y="3385758"/>
            <a:ext cx="4556124" cy="2683253"/>
            <a:chOff x="2922586" y="3054350"/>
            <a:chExt cx="11390311" cy="6710361"/>
          </a:xfrm>
        </p:grpSpPr>
        <p:cxnSp>
          <p:nvCxnSpPr>
            <p:cNvPr id="194" name="Shape 194"/>
            <p:cNvCxnSpPr/>
            <p:nvPr/>
          </p:nvCxnSpPr>
          <p:spPr>
            <a:xfrm rot="10800000">
              <a:off x="3644900" y="3514724"/>
              <a:ext cx="0" cy="53260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stealth"/>
            </a:ln>
          </p:spPr>
        </p:cxnSp>
        <p:cxnSp>
          <p:nvCxnSpPr>
            <p:cNvPr id="195" name="Shape 195"/>
            <p:cNvCxnSpPr/>
            <p:nvPr/>
          </p:nvCxnSpPr>
          <p:spPr>
            <a:xfrm>
              <a:off x="3644900" y="8840786"/>
              <a:ext cx="763587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stealth"/>
            </a:ln>
          </p:spPr>
        </p:cxnSp>
        <p:sp>
          <p:nvSpPr>
            <p:cNvPr id="196" name="Shape 196"/>
            <p:cNvSpPr txBox="1"/>
            <p:nvPr/>
          </p:nvSpPr>
          <p:spPr>
            <a:xfrm>
              <a:off x="3644900" y="3054350"/>
              <a:ext cx="1852611" cy="92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Nivel de Precios</a:t>
              </a:r>
            </a:p>
          </p:txBody>
        </p:sp>
        <p:sp>
          <p:nvSpPr>
            <p:cNvPr id="197" name="Shape 197"/>
            <p:cNvSpPr txBox="1"/>
            <p:nvPr/>
          </p:nvSpPr>
          <p:spPr>
            <a:xfrm>
              <a:off x="11514136" y="8375650"/>
              <a:ext cx="2798762" cy="107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1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</a:p>
          </p:txBody>
        </p:sp>
        <p:cxnSp>
          <p:nvCxnSpPr>
            <p:cNvPr id="198" name="Shape 198"/>
            <p:cNvCxnSpPr/>
            <p:nvPr/>
          </p:nvCxnSpPr>
          <p:spPr>
            <a:xfrm>
              <a:off x="3740150" y="7162800"/>
              <a:ext cx="3429000" cy="158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199" name="Shape 199"/>
            <p:cNvCxnSpPr/>
            <p:nvPr/>
          </p:nvCxnSpPr>
          <p:spPr>
            <a:xfrm>
              <a:off x="7169150" y="7162800"/>
              <a:ext cx="1587" cy="167798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/>
              <a:headEnd len="med" w="med" type="oval"/>
              <a:tailEnd len="med" w="med" type="none"/>
            </a:ln>
          </p:spPr>
        </p:cxnSp>
        <p:sp>
          <p:nvSpPr>
            <p:cNvPr id="200" name="Shape 200"/>
            <p:cNvSpPr txBox="1"/>
            <p:nvPr/>
          </p:nvSpPr>
          <p:spPr>
            <a:xfrm>
              <a:off x="2922586" y="6808786"/>
              <a:ext cx="1389061" cy="92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baseline="-2500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</a:p>
          </p:txBody>
        </p:sp>
        <p:sp>
          <p:nvSpPr>
            <p:cNvPr id="201" name="Shape 201"/>
            <p:cNvSpPr txBox="1"/>
            <p:nvPr/>
          </p:nvSpPr>
          <p:spPr>
            <a:xfrm>
              <a:off x="6923086" y="8839200"/>
              <a:ext cx="1389061" cy="92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</a:p>
          </p:txBody>
        </p:sp>
        <p:sp>
          <p:nvSpPr>
            <p:cNvPr id="202" name="Shape 202"/>
            <p:cNvSpPr txBox="1"/>
            <p:nvPr/>
          </p:nvSpPr>
          <p:spPr>
            <a:xfrm>
              <a:off x="6883400" y="6591300"/>
              <a:ext cx="8572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</a:p>
          </p:txBody>
        </p:sp>
        <p:sp>
          <p:nvSpPr>
            <p:cNvPr id="203" name="Shape 203"/>
            <p:cNvSpPr txBox="1"/>
            <p:nvPr/>
          </p:nvSpPr>
          <p:spPr>
            <a:xfrm>
              <a:off x="7780336" y="6591300"/>
              <a:ext cx="4246562" cy="925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25" lIns="74050" rIns="74050" tIns="37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1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Oferta Agregada</a:t>
              </a:r>
            </a:p>
          </p:txBody>
        </p:sp>
      </p:grpSp>
      <p:sp>
        <p:nvSpPr>
          <p:cNvPr id="204" name="Shape 204"/>
          <p:cNvSpPr txBox="1"/>
          <p:nvPr/>
        </p:nvSpPr>
        <p:spPr>
          <a:xfrm>
            <a:off x="4062412" y="1524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AGREGADA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(MODELO DE SINTESIS)</a:t>
            </a:r>
          </a:p>
        </p:txBody>
      </p:sp>
      <p:sp>
        <p:nvSpPr>
          <p:cNvPr id="205" name="Shape 205"/>
          <p:cNvSpPr/>
          <p:nvPr/>
        </p:nvSpPr>
        <p:spPr>
          <a:xfrm>
            <a:off x="2743200" y="3581400"/>
            <a:ext cx="2109786" cy="1609725"/>
          </a:xfrm>
          <a:custGeom>
            <a:pathLst>
              <a:path extrusionOk="0" h="120000" w="120000">
                <a:moveTo>
                  <a:pt x="0" y="113325"/>
                </a:moveTo>
                <a:cubicBezTo>
                  <a:pt x="2636" y="113940"/>
                  <a:pt x="9428" y="116071"/>
                  <a:pt x="15785" y="116828"/>
                </a:cubicBezTo>
                <a:cubicBezTo>
                  <a:pt x="22143" y="117585"/>
                  <a:pt x="29403" y="120000"/>
                  <a:pt x="38254" y="117822"/>
                </a:cubicBezTo>
                <a:cubicBezTo>
                  <a:pt x="47104" y="115597"/>
                  <a:pt x="59530" y="111857"/>
                  <a:pt x="68886" y="103573"/>
                </a:cubicBezTo>
                <a:cubicBezTo>
                  <a:pt x="78205" y="95242"/>
                  <a:pt x="85827" y="85396"/>
                  <a:pt x="94388" y="68165"/>
                </a:cubicBezTo>
                <a:cubicBezTo>
                  <a:pt x="102913" y="50887"/>
                  <a:pt x="115737" y="11360"/>
                  <a:pt x="120000" y="0"/>
                </a:cubicBezTo>
              </a:path>
            </a:pathLst>
          </a:cu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Shape 206"/>
          <p:cNvSpPr txBox="1"/>
          <p:nvPr/>
        </p:nvSpPr>
        <p:spPr>
          <a:xfrm>
            <a:off x="152400" y="16764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escuela permite enlazar las teorías de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Keynes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(comportamiento de la economía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corto plazo) con las de la escuela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clásica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(centradas en el largo plazo).</a:t>
            </a:r>
          </a:p>
        </p:txBody>
      </p:sp>
      <p:sp>
        <p:nvSpPr>
          <p:cNvPr id="207" name="Shape 207"/>
          <p:cNvSpPr/>
          <p:nvPr/>
        </p:nvSpPr>
        <p:spPr>
          <a:xfrm rot="5040000">
            <a:off x="3071812" y="4167187"/>
            <a:ext cx="1419225" cy="1314450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6040" y="116376"/>
                  <a:pt x="24563" y="106956"/>
                  <a:pt x="36241" y="98260"/>
                </a:cubicBezTo>
                <a:cubicBezTo>
                  <a:pt x="47919" y="89565"/>
                  <a:pt x="60000" y="78405"/>
                  <a:pt x="70067" y="67826"/>
                </a:cubicBezTo>
                <a:cubicBezTo>
                  <a:pt x="80134" y="57246"/>
                  <a:pt x="88322" y="46086"/>
                  <a:pt x="96644" y="34782"/>
                </a:cubicBezTo>
                <a:cubicBezTo>
                  <a:pt x="104966" y="23478"/>
                  <a:pt x="115167" y="7246"/>
                  <a:pt x="120000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Shape 208"/>
          <p:cNvSpPr txBox="1"/>
          <p:nvPr/>
        </p:nvSpPr>
        <p:spPr>
          <a:xfrm>
            <a:off x="2514600" y="3657600"/>
            <a:ext cx="1676399" cy="38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DEMANDA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AGREGADA</a:t>
            </a:r>
          </a:p>
        </p:txBody>
      </p:sp>
      <p:sp>
        <p:nvSpPr>
          <p:cNvPr id="209" name="Shape 209"/>
          <p:cNvSpPr/>
          <p:nvPr/>
        </p:nvSpPr>
        <p:spPr>
          <a:xfrm rot="5040000">
            <a:off x="4138612" y="3633787"/>
            <a:ext cx="1419225" cy="1314450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6040" y="116376"/>
                  <a:pt x="24563" y="106956"/>
                  <a:pt x="36241" y="98260"/>
                </a:cubicBezTo>
                <a:cubicBezTo>
                  <a:pt x="47919" y="89565"/>
                  <a:pt x="60000" y="78405"/>
                  <a:pt x="70067" y="67826"/>
                </a:cubicBezTo>
                <a:cubicBezTo>
                  <a:pt x="80134" y="57246"/>
                  <a:pt x="88322" y="46086"/>
                  <a:pt x="96644" y="34782"/>
                </a:cubicBezTo>
                <a:cubicBezTo>
                  <a:pt x="104966" y="23478"/>
                  <a:pt x="115167" y="7246"/>
                  <a:pt x="120000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Shape 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Shape 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524000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Shape 2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Shape 217"/>
          <p:cNvSpPr txBox="1"/>
          <p:nvPr/>
        </p:nvSpPr>
        <p:spPr>
          <a:xfrm>
            <a:off x="3910012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DOS SECTORES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SIN AHORRO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Shape 219"/>
          <p:cNvSpPr txBox="1"/>
          <p:nvPr/>
        </p:nvSpPr>
        <p:spPr>
          <a:xfrm>
            <a:off x="685800" y="2895600"/>
            <a:ext cx="2125662" cy="10667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CONSUMIDORES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5341937" y="2895600"/>
            <a:ext cx="2125662" cy="10667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NEGOCIOS</a:t>
            </a:r>
          </a:p>
        </p:txBody>
      </p:sp>
      <p:sp>
        <p:nvSpPr>
          <p:cNvPr id="221" name="Shape 221"/>
          <p:cNvSpPr/>
          <p:nvPr/>
        </p:nvSpPr>
        <p:spPr>
          <a:xfrm>
            <a:off x="1511300" y="1905000"/>
            <a:ext cx="5024436" cy="1023936"/>
          </a:xfrm>
          <a:custGeom>
            <a:pathLst>
              <a:path extrusionOk="0" h="120000" w="120000">
                <a:moveTo>
                  <a:pt x="834" y="118883"/>
                </a:moveTo>
                <a:cubicBezTo>
                  <a:pt x="909" y="109023"/>
                  <a:pt x="0" y="75348"/>
                  <a:pt x="1213" y="59162"/>
                </a:cubicBezTo>
                <a:cubicBezTo>
                  <a:pt x="2426" y="42976"/>
                  <a:pt x="2919" y="30883"/>
                  <a:pt x="8113" y="21767"/>
                </a:cubicBezTo>
                <a:cubicBezTo>
                  <a:pt x="13308" y="12651"/>
                  <a:pt x="18995" y="6883"/>
                  <a:pt x="32454" y="3906"/>
                </a:cubicBezTo>
                <a:cubicBezTo>
                  <a:pt x="45914" y="930"/>
                  <a:pt x="75109" y="0"/>
                  <a:pt x="88872" y="3906"/>
                </a:cubicBezTo>
                <a:cubicBezTo>
                  <a:pt x="102635" y="7813"/>
                  <a:pt x="110066" y="8000"/>
                  <a:pt x="115033" y="27348"/>
                </a:cubicBezTo>
                <a:cubicBezTo>
                  <a:pt x="120000" y="46697"/>
                  <a:pt x="117914" y="100651"/>
                  <a:pt x="118672" y="120000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Shape 222"/>
          <p:cNvSpPr/>
          <p:nvPr/>
        </p:nvSpPr>
        <p:spPr>
          <a:xfrm rot="10800000">
            <a:off x="1541461" y="3962400"/>
            <a:ext cx="5011736" cy="1023936"/>
          </a:xfrm>
          <a:custGeom>
            <a:pathLst>
              <a:path extrusionOk="0" h="120000" w="120000">
                <a:moveTo>
                  <a:pt x="532" y="118883"/>
                </a:moveTo>
                <a:cubicBezTo>
                  <a:pt x="646" y="109767"/>
                  <a:pt x="0" y="80372"/>
                  <a:pt x="1216" y="64186"/>
                </a:cubicBezTo>
                <a:cubicBezTo>
                  <a:pt x="2432" y="48000"/>
                  <a:pt x="2660" y="31813"/>
                  <a:pt x="7830" y="21767"/>
                </a:cubicBezTo>
                <a:cubicBezTo>
                  <a:pt x="12999" y="11720"/>
                  <a:pt x="18739" y="6883"/>
                  <a:pt x="32233" y="3906"/>
                </a:cubicBezTo>
                <a:cubicBezTo>
                  <a:pt x="45726" y="930"/>
                  <a:pt x="74995" y="0"/>
                  <a:pt x="88793" y="3906"/>
                </a:cubicBezTo>
                <a:cubicBezTo>
                  <a:pt x="102591" y="7813"/>
                  <a:pt x="110041" y="8000"/>
                  <a:pt x="115020" y="27348"/>
                </a:cubicBezTo>
                <a:cubicBezTo>
                  <a:pt x="120000" y="46697"/>
                  <a:pt x="117909" y="100651"/>
                  <a:pt x="118669" y="12000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1905000" y="2286000"/>
            <a:ext cx="4343400" cy="609599"/>
          </a:xfrm>
          <a:custGeom>
            <a:pathLst>
              <a:path extrusionOk="0" h="120000" w="120000">
                <a:moveTo>
                  <a:pt x="532" y="118883"/>
                </a:moveTo>
                <a:cubicBezTo>
                  <a:pt x="646" y="109767"/>
                  <a:pt x="0" y="80372"/>
                  <a:pt x="1216" y="64186"/>
                </a:cubicBezTo>
                <a:cubicBezTo>
                  <a:pt x="2432" y="48000"/>
                  <a:pt x="2660" y="31813"/>
                  <a:pt x="7830" y="21767"/>
                </a:cubicBezTo>
                <a:cubicBezTo>
                  <a:pt x="12999" y="11720"/>
                  <a:pt x="18739" y="6883"/>
                  <a:pt x="32233" y="3906"/>
                </a:cubicBezTo>
                <a:cubicBezTo>
                  <a:pt x="45726" y="930"/>
                  <a:pt x="74995" y="0"/>
                  <a:pt x="88793" y="3906"/>
                </a:cubicBezTo>
                <a:cubicBezTo>
                  <a:pt x="102591" y="7813"/>
                  <a:pt x="110041" y="8000"/>
                  <a:pt x="115020" y="27348"/>
                </a:cubicBezTo>
                <a:cubicBezTo>
                  <a:pt x="120000" y="46697"/>
                  <a:pt x="117909" y="100651"/>
                  <a:pt x="118669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Shape 224"/>
          <p:cNvSpPr/>
          <p:nvPr/>
        </p:nvSpPr>
        <p:spPr>
          <a:xfrm rot="10800000">
            <a:off x="1904999" y="3962400"/>
            <a:ext cx="4343400" cy="609599"/>
          </a:xfrm>
          <a:custGeom>
            <a:pathLst>
              <a:path extrusionOk="0" h="120000" w="120000">
                <a:moveTo>
                  <a:pt x="532" y="118883"/>
                </a:moveTo>
                <a:cubicBezTo>
                  <a:pt x="646" y="109767"/>
                  <a:pt x="0" y="80372"/>
                  <a:pt x="1216" y="64186"/>
                </a:cubicBezTo>
                <a:cubicBezTo>
                  <a:pt x="2432" y="48000"/>
                  <a:pt x="2660" y="31813"/>
                  <a:pt x="7830" y="21767"/>
                </a:cubicBezTo>
                <a:cubicBezTo>
                  <a:pt x="12999" y="11720"/>
                  <a:pt x="18739" y="6883"/>
                  <a:pt x="32233" y="3906"/>
                </a:cubicBezTo>
                <a:cubicBezTo>
                  <a:pt x="45726" y="930"/>
                  <a:pt x="74995" y="0"/>
                  <a:pt x="88793" y="3906"/>
                </a:cubicBezTo>
                <a:cubicBezTo>
                  <a:pt x="102591" y="7813"/>
                  <a:pt x="110041" y="8000"/>
                  <a:pt x="115020" y="27348"/>
                </a:cubicBezTo>
                <a:cubicBezTo>
                  <a:pt x="120000" y="46697"/>
                  <a:pt x="117909" y="100651"/>
                  <a:pt x="118669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Shape 225"/>
          <p:cNvSpPr txBox="1"/>
          <p:nvPr/>
        </p:nvSpPr>
        <p:spPr>
          <a:xfrm>
            <a:off x="2057400" y="1524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Aporte de factores productivos (B/S)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2057400" y="4572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y servicios útiles (B/S)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2209800" y="1905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Remuneración a los factores productivos ($)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2057400" y="4191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Consumo ($)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58674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1295400" y="2209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1676400" y="3657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593725" y="5257800"/>
            <a:ext cx="81692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(Bienes y servicios útiles) ≡ Renta (Y) ≡ Gasto (Consumo)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= (Y = Y</a:t>
            </a:r>
            <a:r>
              <a:rPr b="1" baseline="-2500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= C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5097462" y="25908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 ($)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981200" y="2438400"/>
            <a:ext cx="1371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Disponible($)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Shape 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Shape 2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hape 241"/>
          <p:cNvSpPr txBox="1"/>
          <p:nvPr/>
        </p:nvSpPr>
        <p:spPr>
          <a:xfrm>
            <a:off x="3910012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DOS SECTORES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SIN AHORRO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Shape 243"/>
          <p:cNvSpPr txBox="1"/>
          <p:nvPr/>
        </p:nvSpPr>
        <p:spPr>
          <a:xfrm>
            <a:off x="304800" y="1295400"/>
            <a:ext cx="8305799" cy="1600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Economía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cerrada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existe el estado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hay ahorro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(solo actividades para la subsistencia).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Shape 2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048000"/>
            <a:ext cx="2666999" cy="2209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Shape 245"/>
          <p:cNvCxnSpPr/>
          <p:nvPr/>
        </p:nvCxnSpPr>
        <p:spPr>
          <a:xfrm rot="10800000">
            <a:off x="4724400" y="3276599"/>
            <a:ext cx="0" cy="228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46" name="Shape 246"/>
          <p:cNvCxnSpPr/>
          <p:nvPr/>
        </p:nvCxnSpPr>
        <p:spPr>
          <a:xfrm>
            <a:off x="4724400" y="5562600"/>
            <a:ext cx="39623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247" name="Shape 247"/>
          <p:cNvSpPr txBox="1"/>
          <p:nvPr/>
        </p:nvSpPr>
        <p:spPr>
          <a:xfrm>
            <a:off x="4114800" y="2971800"/>
            <a:ext cx="13715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Gasto/ Renta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7772400" y="5181600"/>
            <a:ext cx="13715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</a:p>
        </p:txBody>
      </p:sp>
      <p:cxnSp>
        <p:nvCxnSpPr>
          <p:cNvPr id="249" name="Shape 249"/>
          <p:cNvCxnSpPr/>
          <p:nvPr/>
        </p:nvCxnSpPr>
        <p:spPr>
          <a:xfrm flipH="1" rot="10800000">
            <a:off x="4724400" y="3581400"/>
            <a:ext cx="1981199" cy="1981199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50" name="Shape 250"/>
          <p:cNvSpPr txBox="1"/>
          <p:nvPr/>
        </p:nvSpPr>
        <p:spPr>
          <a:xfrm>
            <a:off x="6096000" y="4038600"/>
            <a:ext cx="21335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Producción = Consumo = Renta</a:t>
            </a:r>
          </a:p>
        </p:txBody>
      </p:sp>
      <p:sp>
        <p:nvSpPr>
          <p:cNvPr id="251" name="Shape 251"/>
          <p:cNvSpPr/>
          <p:nvPr/>
        </p:nvSpPr>
        <p:spPr>
          <a:xfrm rot="2040000">
            <a:off x="4953000" y="5257800"/>
            <a:ext cx="304799" cy="300036"/>
          </a:xfrm>
          <a:custGeom>
            <a:pathLst>
              <a:path extrusionOk="0" h="120000" w="120000">
                <a:moveTo>
                  <a:pt x="7382" y="60000"/>
                </a:moveTo>
                <a:lnTo>
                  <a:pt x="7382" y="60000"/>
                </a:lnTo>
                <a:cubicBezTo>
                  <a:pt x="7382" y="41058"/>
                  <a:pt x="17608" y="23585"/>
                  <a:pt x="34142" y="14276"/>
                </a:cubicBezTo>
                <a:cubicBezTo>
                  <a:pt x="50675" y="4968"/>
                  <a:pt x="70952" y="5267"/>
                  <a:pt x="87202" y="15060"/>
                </a:cubicBezTo>
                <a:cubicBezTo>
                  <a:pt x="103452" y="24853"/>
                  <a:pt x="113156" y="42620"/>
                  <a:pt x="112594" y="61554"/>
                </a:cubicBezTo>
                <a:lnTo>
                  <a:pt x="119725" y="62971"/>
                </a:lnTo>
                <a:lnTo>
                  <a:pt x="104358" y="68813"/>
                </a:lnTo>
                <a:lnTo>
                  <a:pt x="90743" y="57212"/>
                </a:lnTo>
                <a:lnTo>
                  <a:pt x="97825" y="58619"/>
                </a:lnTo>
                <a:lnTo>
                  <a:pt x="97825" y="58619"/>
                </a:lnTo>
                <a:cubicBezTo>
                  <a:pt x="97066" y="38192"/>
                  <a:pt x="79933" y="22130"/>
                  <a:pt x="59303" y="22506"/>
                </a:cubicBezTo>
                <a:cubicBezTo>
                  <a:pt x="38673" y="22882"/>
                  <a:pt x="22148" y="39558"/>
                  <a:pt x="22148" y="59999"/>
                </a:cubicBez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Shape 252"/>
          <p:cNvSpPr txBox="1"/>
          <p:nvPr/>
        </p:nvSpPr>
        <p:spPr>
          <a:xfrm>
            <a:off x="4876800" y="5334000"/>
            <a:ext cx="3047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45°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Shape 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Shape 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524000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Shape 2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1524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Shape 260"/>
          <p:cNvSpPr txBox="1"/>
          <p:nvPr/>
        </p:nvSpPr>
        <p:spPr>
          <a:xfrm>
            <a:off x="3910012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DOS SECTORES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CON AHORRO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Shape 262"/>
          <p:cNvSpPr txBox="1"/>
          <p:nvPr/>
        </p:nvSpPr>
        <p:spPr>
          <a:xfrm>
            <a:off x="685800" y="2895600"/>
            <a:ext cx="2125662" cy="10667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CONSUMIDORES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5341937" y="2886075"/>
            <a:ext cx="2125662" cy="10667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NEGOCIOS</a:t>
            </a:r>
          </a:p>
        </p:txBody>
      </p:sp>
      <p:sp>
        <p:nvSpPr>
          <p:cNvPr id="264" name="Shape 264"/>
          <p:cNvSpPr/>
          <p:nvPr/>
        </p:nvSpPr>
        <p:spPr>
          <a:xfrm>
            <a:off x="1511300" y="1905000"/>
            <a:ext cx="5024436" cy="1023936"/>
          </a:xfrm>
          <a:custGeom>
            <a:pathLst>
              <a:path extrusionOk="0" h="120000" w="120000">
                <a:moveTo>
                  <a:pt x="834" y="118883"/>
                </a:moveTo>
                <a:cubicBezTo>
                  <a:pt x="909" y="109023"/>
                  <a:pt x="0" y="75348"/>
                  <a:pt x="1213" y="59162"/>
                </a:cubicBezTo>
                <a:cubicBezTo>
                  <a:pt x="2426" y="42976"/>
                  <a:pt x="2919" y="30883"/>
                  <a:pt x="8113" y="21767"/>
                </a:cubicBezTo>
                <a:cubicBezTo>
                  <a:pt x="13308" y="12651"/>
                  <a:pt x="18995" y="6883"/>
                  <a:pt x="32454" y="3906"/>
                </a:cubicBezTo>
                <a:cubicBezTo>
                  <a:pt x="45914" y="930"/>
                  <a:pt x="75109" y="0"/>
                  <a:pt x="88872" y="3906"/>
                </a:cubicBezTo>
                <a:cubicBezTo>
                  <a:pt x="102635" y="7813"/>
                  <a:pt x="110066" y="8000"/>
                  <a:pt x="115033" y="27348"/>
                </a:cubicBezTo>
                <a:cubicBezTo>
                  <a:pt x="120000" y="46697"/>
                  <a:pt x="117914" y="100651"/>
                  <a:pt x="118672" y="120000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Shape 265"/>
          <p:cNvSpPr/>
          <p:nvPr/>
        </p:nvSpPr>
        <p:spPr>
          <a:xfrm>
            <a:off x="1536700" y="3962400"/>
            <a:ext cx="4978399" cy="1495424"/>
          </a:xfrm>
          <a:custGeom>
            <a:pathLst>
              <a:path extrusionOk="0" h="120000" w="120000">
                <a:moveTo>
                  <a:pt x="119999" y="0"/>
                </a:moveTo>
                <a:cubicBezTo>
                  <a:pt x="119732" y="11592"/>
                  <a:pt x="119885" y="51847"/>
                  <a:pt x="118392" y="69554"/>
                </a:cubicBezTo>
                <a:cubicBezTo>
                  <a:pt x="116900" y="87261"/>
                  <a:pt x="116058" y="98471"/>
                  <a:pt x="111045" y="106242"/>
                </a:cubicBezTo>
                <a:cubicBezTo>
                  <a:pt x="106033" y="114012"/>
                  <a:pt x="101517" y="114394"/>
                  <a:pt x="88316" y="116178"/>
                </a:cubicBezTo>
                <a:cubicBezTo>
                  <a:pt x="75114" y="117961"/>
                  <a:pt x="45688" y="120000"/>
                  <a:pt x="31836" y="116942"/>
                </a:cubicBezTo>
                <a:cubicBezTo>
                  <a:pt x="17984" y="113885"/>
                  <a:pt x="10255" y="117070"/>
                  <a:pt x="5127" y="97579"/>
                </a:cubicBezTo>
                <a:cubicBezTo>
                  <a:pt x="0" y="78089"/>
                  <a:pt x="1913" y="20382"/>
                  <a:pt x="1071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Shape 266"/>
          <p:cNvSpPr/>
          <p:nvPr/>
        </p:nvSpPr>
        <p:spPr>
          <a:xfrm>
            <a:off x="1905000" y="2286000"/>
            <a:ext cx="4343400" cy="609599"/>
          </a:xfrm>
          <a:custGeom>
            <a:pathLst>
              <a:path extrusionOk="0" h="120000" w="120000">
                <a:moveTo>
                  <a:pt x="532" y="118883"/>
                </a:moveTo>
                <a:cubicBezTo>
                  <a:pt x="646" y="109767"/>
                  <a:pt x="0" y="80372"/>
                  <a:pt x="1216" y="64186"/>
                </a:cubicBezTo>
                <a:cubicBezTo>
                  <a:pt x="2432" y="48000"/>
                  <a:pt x="2660" y="31813"/>
                  <a:pt x="7830" y="21767"/>
                </a:cubicBezTo>
                <a:cubicBezTo>
                  <a:pt x="12999" y="11720"/>
                  <a:pt x="18739" y="6883"/>
                  <a:pt x="32233" y="3906"/>
                </a:cubicBezTo>
                <a:cubicBezTo>
                  <a:pt x="45726" y="930"/>
                  <a:pt x="74995" y="0"/>
                  <a:pt x="88793" y="3906"/>
                </a:cubicBezTo>
                <a:cubicBezTo>
                  <a:pt x="102591" y="7813"/>
                  <a:pt x="110041" y="8000"/>
                  <a:pt x="115020" y="27348"/>
                </a:cubicBezTo>
                <a:cubicBezTo>
                  <a:pt x="120000" y="46697"/>
                  <a:pt x="117909" y="100651"/>
                  <a:pt x="118669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Shape 267"/>
          <p:cNvSpPr/>
          <p:nvPr/>
        </p:nvSpPr>
        <p:spPr>
          <a:xfrm>
            <a:off x="1952625" y="3952875"/>
            <a:ext cx="4314824" cy="1200150"/>
          </a:xfrm>
          <a:custGeom>
            <a:pathLst>
              <a:path extrusionOk="0" h="120000" w="120000">
                <a:moveTo>
                  <a:pt x="120000" y="0"/>
                </a:moveTo>
                <a:cubicBezTo>
                  <a:pt x="119690" y="12539"/>
                  <a:pt x="119823" y="57936"/>
                  <a:pt x="118145" y="75238"/>
                </a:cubicBezTo>
                <a:cubicBezTo>
                  <a:pt x="116467" y="92539"/>
                  <a:pt x="115143" y="97460"/>
                  <a:pt x="109933" y="103809"/>
                </a:cubicBezTo>
                <a:cubicBezTo>
                  <a:pt x="104724" y="110158"/>
                  <a:pt x="100441" y="110952"/>
                  <a:pt x="86975" y="113174"/>
                </a:cubicBezTo>
                <a:cubicBezTo>
                  <a:pt x="73509" y="115396"/>
                  <a:pt x="42560" y="120000"/>
                  <a:pt x="29139" y="117142"/>
                </a:cubicBezTo>
                <a:cubicBezTo>
                  <a:pt x="15717" y="114285"/>
                  <a:pt x="11214" y="115714"/>
                  <a:pt x="6357" y="96190"/>
                </a:cubicBezTo>
                <a:cubicBezTo>
                  <a:pt x="1501" y="76666"/>
                  <a:pt x="1324" y="20000"/>
                  <a:pt x="0" y="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Shape 268"/>
          <p:cNvSpPr txBox="1"/>
          <p:nvPr/>
        </p:nvSpPr>
        <p:spPr>
          <a:xfrm>
            <a:off x="2057400" y="1524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Aporte de factores productivos (B/S)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2735261" y="5410200"/>
            <a:ext cx="2751136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y servicios útiles (B/S)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2209800" y="1905000"/>
            <a:ext cx="41909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Remuneración a los factores productivos ($)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4716462" y="5097462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Consumo ($)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58674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273" name="Shape 273"/>
          <p:cNvSpPr txBox="1"/>
          <p:nvPr/>
        </p:nvSpPr>
        <p:spPr>
          <a:xfrm>
            <a:off x="12192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2362200" y="47244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3268661" y="4114800"/>
            <a:ext cx="1531937" cy="762000"/>
          </a:xfrm>
          <a:prstGeom prst="rect">
            <a:avLst/>
          </a:prstGeom>
          <a:solidFill>
            <a:srgbClr val="FF6600">
              <a:alpha val="39607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FINANCIERO</a:t>
            </a:r>
          </a:p>
        </p:txBody>
      </p:sp>
      <p:sp>
        <p:nvSpPr>
          <p:cNvPr id="276" name="Shape 276"/>
          <p:cNvSpPr/>
          <p:nvPr/>
        </p:nvSpPr>
        <p:spPr>
          <a:xfrm>
            <a:off x="2038350" y="4514850"/>
            <a:ext cx="1219199" cy="28575"/>
          </a:xfrm>
          <a:custGeom>
            <a:pathLst>
              <a:path extrusionOk="0" h="120000" w="120000">
                <a:moveTo>
                  <a:pt x="120000" y="0"/>
                </a:moveTo>
                <a:cubicBezTo>
                  <a:pt x="100000" y="20000"/>
                  <a:pt x="25000" y="93333"/>
                  <a:pt x="0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Shape 277"/>
          <p:cNvSpPr txBox="1"/>
          <p:nvPr/>
        </p:nvSpPr>
        <p:spPr>
          <a:xfrm>
            <a:off x="2514600" y="4114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</a:p>
        </p:txBody>
      </p:sp>
      <p:sp>
        <p:nvSpPr>
          <p:cNvPr id="278" name="Shape 278"/>
          <p:cNvSpPr/>
          <p:nvPr/>
        </p:nvSpPr>
        <p:spPr>
          <a:xfrm>
            <a:off x="4800600" y="4229100"/>
            <a:ext cx="1438275" cy="38099"/>
          </a:xfrm>
          <a:custGeom>
            <a:pathLst>
              <a:path extrusionOk="0" h="120000" w="120000">
                <a:moveTo>
                  <a:pt x="119999" y="0"/>
                </a:moveTo>
                <a:cubicBezTo>
                  <a:pt x="99999" y="20000"/>
                  <a:pt x="25033" y="95000"/>
                  <a:pt x="0" y="12000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Shape 279"/>
          <p:cNvSpPr txBox="1"/>
          <p:nvPr/>
        </p:nvSpPr>
        <p:spPr>
          <a:xfrm>
            <a:off x="5181600" y="38862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280" name="Shape 280"/>
          <p:cNvSpPr txBox="1"/>
          <p:nvPr/>
        </p:nvSpPr>
        <p:spPr>
          <a:xfrm>
            <a:off x="2133600" y="44958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Ahorro ($)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4800600" y="4259262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Inversión ($)</a:t>
            </a:r>
          </a:p>
        </p:txBody>
      </p:sp>
      <p:cxnSp>
        <p:nvCxnSpPr>
          <p:cNvPr id="282" name="Shape 282"/>
          <p:cNvCxnSpPr/>
          <p:nvPr/>
        </p:nvCxnSpPr>
        <p:spPr>
          <a:xfrm>
            <a:off x="4800600" y="4808537"/>
            <a:ext cx="1309686" cy="1587"/>
          </a:xfrm>
          <a:prstGeom prst="straightConnector1">
            <a:avLst/>
          </a:prstGeom>
          <a:noFill/>
          <a:ln cap="flat" cmpd="sng" w="41275">
            <a:solidFill>
              <a:srgbClr val="FF0000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283" name="Shape 283"/>
          <p:cNvSpPr txBox="1"/>
          <p:nvPr/>
        </p:nvSpPr>
        <p:spPr>
          <a:xfrm>
            <a:off x="5181600" y="44196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381000" y="5635625"/>
            <a:ext cx="8321675" cy="923924"/>
          </a:xfrm>
          <a:prstGeom prst="rect">
            <a:avLst/>
          </a:prstGeom>
          <a:solidFill>
            <a:srgbClr val="FFFF99">
              <a:alpha val="41960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(Bienes y servicios útiles) ≡ Renta (Y) ≡ Gasto (Consumo + Inversión)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= Y = C + I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= (Y = Yd) = C + 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 = S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5097462" y="25908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 ($)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2057400" y="2514600"/>
            <a:ext cx="1150936" cy="31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Ingreso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Disponible ($)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Shape 291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1000"/>
            <a:ext cx="3009899" cy="60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Shape 292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1625600"/>
            <a:ext cx="2143125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Shape 293"/>
          <p:cNvSpPr txBox="1"/>
          <p:nvPr/>
        </p:nvSpPr>
        <p:spPr>
          <a:xfrm>
            <a:off x="4633912" y="381000"/>
            <a:ext cx="23002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PROPENSIÓN 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2387600" y="1408112"/>
            <a:ext cx="3536949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Tendencia natural a hacer algo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2762250" y="1905000"/>
            <a:ext cx="2647950" cy="119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Yd = Consumo + Ahorro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Consumo = C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Ahorro = Save = 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Yd = C + S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228600" y="5195887"/>
            <a:ext cx="1403349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Propensión 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1676400" y="4953000"/>
            <a:ext cx="806450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</a:p>
        </p:txBody>
      </p:sp>
      <p:sp>
        <p:nvSpPr>
          <p:cNvPr id="298" name="Shape 298"/>
          <p:cNvSpPr txBox="1"/>
          <p:nvPr/>
        </p:nvSpPr>
        <p:spPr>
          <a:xfrm>
            <a:off x="1524000" y="5410200"/>
            <a:ext cx="1060449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Marginal</a:t>
            </a:r>
          </a:p>
        </p:txBody>
      </p:sp>
      <p:sp>
        <p:nvSpPr>
          <p:cNvPr id="299" name="Shape 299"/>
          <p:cNvSpPr/>
          <p:nvPr/>
        </p:nvSpPr>
        <p:spPr>
          <a:xfrm rot="-5100000">
            <a:off x="1233486" y="5492750"/>
            <a:ext cx="733424" cy="13716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Shape 300"/>
          <p:cNvSpPr/>
          <p:nvPr/>
        </p:nvSpPr>
        <p:spPr>
          <a:xfrm rot="-5760000">
            <a:off x="1243012" y="3873500"/>
            <a:ext cx="827087" cy="1484312"/>
          </a:xfrm>
          <a:prstGeom prst="curvedLeftArrow">
            <a:avLst>
              <a:gd fmla="val 11182" name="adj1"/>
              <a:gd fmla="val 18533" name="adj2"/>
              <a:gd fmla="val 25000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Shape 301"/>
          <p:cNvSpPr txBox="1"/>
          <p:nvPr/>
        </p:nvSpPr>
        <p:spPr>
          <a:xfrm>
            <a:off x="2590800" y="4800600"/>
            <a:ext cx="5592761" cy="51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Yd / Yd = C / Yd + S / Yd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Propensión Media a Consumir + Propensión media a ahorrar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2590800" y="5502275"/>
            <a:ext cx="6248399" cy="51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ΔYd / ΔYd = Δ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/ Δ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Yd + Δ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/ Δ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Yd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Propensión Marginal a Consumir + Propensión marginal a ahorrar</a:t>
            </a:r>
          </a:p>
        </p:txBody>
      </p:sp>
      <p:pic>
        <p:nvPicPr>
          <p:cNvPr id="303" name="Shape 303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4550" y="1625600"/>
            <a:ext cx="2609849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Shape 3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Shape 3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Shape 310"/>
          <p:cNvSpPr txBox="1"/>
          <p:nvPr/>
        </p:nvSpPr>
        <p:spPr>
          <a:xfrm>
            <a:off x="3910012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DOS SECTORES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CON AHORRO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762000" y="4027487"/>
            <a:ext cx="7848599" cy="458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Shape 312"/>
          <p:cNvSpPr txBox="1"/>
          <p:nvPr/>
        </p:nvSpPr>
        <p:spPr>
          <a:xfrm>
            <a:off x="304800" y="1524000"/>
            <a:ext cx="4953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SUPUESTOS DEL MODELO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Economía cerrada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existe el estado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institución. (Y = Y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Propensión marginal al ahorro distinta a 0 (cero) o la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propensión marginal al consumo distinta de 1 (uno). </a:t>
            </a:r>
          </a:p>
          <a:p>
            <a:pPr indent="0" lvl="1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– I &lt;  0 (cero)  DEFICIT PRIVADO</a:t>
            </a:r>
          </a:p>
          <a:p>
            <a:pPr indent="0" lvl="1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– I &gt;  0 (cero)  SUPERÁVIT PRIVADO</a:t>
            </a:r>
          </a:p>
          <a:p>
            <a:pPr indent="0" lvl="1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- I = 0 (cero)  EQUILIBRIO PRIVADO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Shape 313"/>
          <p:cNvCxnSpPr/>
          <p:nvPr/>
        </p:nvCxnSpPr>
        <p:spPr>
          <a:xfrm rot="10800000">
            <a:off x="5715000" y="3403599"/>
            <a:ext cx="0" cy="254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14" name="Shape 314"/>
          <p:cNvCxnSpPr/>
          <p:nvPr/>
        </p:nvCxnSpPr>
        <p:spPr>
          <a:xfrm>
            <a:off x="5562600" y="5867400"/>
            <a:ext cx="342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15" name="Shape 315"/>
          <p:cNvSpPr/>
          <p:nvPr/>
        </p:nvSpPr>
        <p:spPr>
          <a:xfrm>
            <a:off x="5705475" y="3067050"/>
            <a:ext cx="3057525" cy="2276475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1806" y="115481"/>
                  <a:pt x="6853" y="101589"/>
                  <a:pt x="10841" y="92887"/>
                </a:cubicBezTo>
                <a:cubicBezTo>
                  <a:pt x="14828" y="84184"/>
                  <a:pt x="17757" y="76485"/>
                  <a:pt x="23925" y="67782"/>
                </a:cubicBezTo>
                <a:cubicBezTo>
                  <a:pt x="30093" y="59079"/>
                  <a:pt x="38878" y="48870"/>
                  <a:pt x="47850" y="40669"/>
                </a:cubicBezTo>
                <a:cubicBezTo>
                  <a:pt x="56822" y="32468"/>
                  <a:pt x="69595" y="23933"/>
                  <a:pt x="77757" y="18577"/>
                </a:cubicBezTo>
                <a:cubicBezTo>
                  <a:pt x="85919" y="13221"/>
                  <a:pt x="89781" y="11631"/>
                  <a:pt x="96822" y="8535"/>
                </a:cubicBezTo>
                <a:cubicBezTo>
                  <a:pt x="103862" y="5439"/>
                  <a:pt x="115140" y="1757"/>
                  <a:pt x="120000" y="0"/>
                </a:cubicBezTo>
              </a:path>
            </a:pathLst>
          </a:custGeom>
          <a:noFill/>
          <a:ln cap="flat" cmpd="sng" w="38100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Shape 316"/>
          <p:cNvSpPr/>
          <p:nvPr/>
        </p:nvSpPr>
        <p:spPr>
          <a:xfrm>
            <a:off x="6772275" y="3933825"/>
            <a:ext cx="7937" cy="1933574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12000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miter/>
            <a:headEnd len="med" w="med" type="oval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Shape 317"/>
          <p:cNvCxnSpPr/>
          <p:nvPr/>
        </p:nvCxnSpPr>
        <p:spPr>
          <a:xfrm>
            <a:off x="6324600" y="4343400"/>
            <a:ext cx="1587" cy="1522412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oval"/>
            <a:tailEnd len="med" w="med" type="oval"/>
          </a:ln>
        </p:spPr>
      </p:cxnSp>
      <p:sp>
        <p:nvSpPr>
          <p:cNvPr id="318" name="Shape 318"/>
          <p:cNvSpPr txBox="1"/>
          <p:nvPr/>
        </p:nvSpPr>
        <p:spPr>
          <a:xfrm>
            <a:off x="6858000" y="3986212"/>
            <a:ext cx="430212" cy="336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∂C</a:t>
            </a:r>
          </a:p>
        </p:txBody>
      </p:sp>
      <p:sp>
        <p:nvSpPr>
          <p:cNvPr id="319" name="Shape 319"/>
          <p:cNvSpPr txBox="1"/>
          <p:nvPr/>
        </p:nvSpPr>
        <p:spPr>
          <a:xfrm>
            <a:off x="6324600" y="4495800"/>
            <a:ext cx="48894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∂Yd</a:t>
            </a:r>
          </a:p>
        </p:txBody>
      </p:sp>
      <p:sp>
        <p:nvSpPr>
          <p:cNvPr id="320" name="Shape 320"/>
          <p:cNvSpPr txBox="1"/>
          <p:nvPr/>
        </p:nvSpPr>
        <p:spPr>
          <a:xfrm>
            <a:off x="5746750" y="3429000"/>
            <a:ext cx="312737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8610600" y="5562600"/>
            <a:ext cx="36671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cxnSp>
        <p:nvCxnSpPr>
          <p:cNvPr id="322" name="Shape 322"/>
          <p:cNvCxnSpPr/>
          <p:nvPr/>
        </p:nvCxnSpPr>
        <p:spPr>
          <a:xfrm>
            <a:off x="8153400" y="3233736"/>
            <a:ext cx="0" cy="2633661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23" name="Shape 323"/>
          <p:cNvCxnSpPr/>
          <p:nvPr/>
        </p:nvCxnSpPr>
        <p:spPr>
          <a:xfrm>
            <a:off x="7543800" y="3429000"/>
            <a:ext cx="838199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24" name="Shape 324"/>
          <p:cNvSpPr txBox="1"/>
          <p:nvPr/>
        </p:nvSpPr>
        <p:spPr>
          <a:xfrm>
            <a:off x="7664450" y="3581400"/>
            <a:ext cx="48894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∂Yd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8270875" y="3184525"/>
            <a:ext cx="339724" cy="244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∂C</a:t>
            </a:r>
          </a:p>
        </p:txBody>
      </p:sp>
      <p:cxnSp>
        <p:nvCxnSpPr>
          <p:cNvPr id="326" name="Shape 326"/>
          <p:cNvCxnSpPr/>
          <p:nvPr/>
        </p:nvCxnSpPr>
        <p:spPr>
          <a:xfrm rot="10800000">
            <a:off x="5638800" y="5334000"/>
            <a:ext cx="1523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27" name="Shape 327"/>
          <p:cNvSpPr txBox="1"/>
          <p:nvPr/>
        </p:nvSpPr>
        <p:spPr>
          <a:xfrm>
            <a:off x="5414962" y="5410200"/>
            <a:ext cx="376236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cxnSp>
        <p:nvCxnSpPr>
          <p:cNvPr id="328" name="Shape 328"/>
          <p:cNvCxnSpPr/>
          <p:nvPr/>
        </p:nvCxnSpPr>
        <p:spPr>
          <a:xfrm>
            <a:off x="7696200" y="3416300"/>
            <a:ext cx="0" cy="2463799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29" name="Shape 329"/>
          <p:cNvCxnSpPr/>
          <p:nvPr/>
        </p:nvCxnSpPr>
        <p:spPr>
          <a:xfrm flipH="1" rot="10800000">
            <a:off x="5705475" y="3933824"/>
            <a:ext cx="1066799" cy="1946275"/>
          </a:xfrm>
          <a:prstGeom prst="straightConnector1">
            <a:avLst/>
          </a:prstGeom>
          <a:noFill/>
          <a:ln cap="flat" cmpd="sng" w="1905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30" name="Shape 330"/>
          <p:cNvSpPr/>
          <p:nvPr/>
        </p:nvSpPr>
        <p:spPr>
          <a:xfrm>
            <a:off x="6781800" y="3962400"/>
            <a:ext cx="120649" cy="188118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5875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Shape 331"/>
          <p:cNvSpPr txBox="1"/>
          <p:nvPr/>
        </p:nvSpPr>
        <p:spPr>
          <a:xfrm>
            <a:off x="6858000" y="4822825"/>
            <a:ext cx="377824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6075362" y="6042025"/>
            <a:ext cx="46355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Yd2</a:t>
            </a:r>
          </a:p>
        </p:txBody>
      </p:sp>
      <p:sp>
        <p:nvSpPr>
          <p:cNvPr id="333" name="Shape 333"/>
          <p:cNvSpPr/>
          <p:nvPr/>
        </p:nvSpPr>
        <p:spPr>
          <a:xfrm rot="-5400000">
            <a:off x="6171406" y="5410992"/>
            <a:ext cx="152399" cy="106521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5875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Shape 334"/>
          <p:cNvCxnSpPr/>
          <p:nvPr/>
        </p:nvCxnSpPr>
        <p:spPr>
          <a:xfrm flipH="1" rot="10680000">
            <a:off x="5703887" y="3656011"/>
            <a:ext cx="1460500" cy="1149349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35" name="Shape 335"/>
          <p:cNvSpPr/>
          <p:nvPr/>
        </p:nvSpPr>
        <p:spPr>
          <a:xfrm>
            <a:off x="6324600" y="4343400"/>
            <a:ext cx="152399" cy="1524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FF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Shape 336"/>
          <p:cNvSpPr txBox="1"/>
          <p:nvPr/>
        </p:nvSpPr>
        <p:spPr>
          <a:xfrm>
            <a:off x="6400800" y="4975225"/>
            <a:ext cx="377824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66FF33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</a:p>
        </p:txBody>
      </p:sp>
      <p:sp>
        <p:nvSpPr>
          <p:cNvPr id="337" name="Shape 337"/>
          <p:cNvSpPr/>
          <p:nvPr/>
        </p:nvSpPr>
        <p:spPr>
          <a:xfrm rot="5400000">
            <a:off x="5943600" y="5486400"/>
            <a:ext cx="152399" cy="60959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FF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Shape 338"/>
          <p:cNvSpPr txBox="1"/>
          <p:nvPr/>
        </p:nvSpPr>
        <p:spPr>
          <a:xfrm>
            <a:off x="5791200" y="5508625"/>
            <a:ext cx="46355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66FF33"/>
                </a:solidFill>
                <a:latin typeface="Arial"/>
                <a:ea typeface="Arial"/>
                <a:cs typeface="Arial"/>
                <a:sym typeface="Arial"/>
              </a:rPr>
              <a:t>Yd1</a:t>
            </a:r>
          </a:p>
        </p:txBody>
      </p:sp>
      <p:cxnSp>
        <p:nvCxnSpPr>
          <p:cNvPr id="339" name="Shape 339"/>
          <p:cNvCxnSpPr/>
          <p:nvPr/>
        </p:nvCxnSpPr>
        <p:spPr>
          <a:xfrm flipH="1" rot="10800000">
            <a:off x="5715000" y="4343400"/>
            <a:ext cx="609599" cy="1536699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40" name="Shape 340"/>
          <p:cNvSpPr/>
          <p:nvPr/>
        </p:nvSpPr>
        <p:spPr>
          <a:xfrm>
            <a:off x="6781800" y="3933825"/>
            <a:ext cx="152399" cy="4095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Shape 341"/>
          <p:cNvSpPr/>
          <p:nvPr/>
        </p:nvSpPr>
        <p:spPr>
          <a:xfrm rot="5400000">
            <a:off x="6472236" y="4195762"/>
            <a:ext cx="152399" cy="44767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Shape 342"/>
          <p:cNvCxnSpPr/>
          <p:nvPr/>
        </p:nvCxnSpPr>
        <p:spPr>
          <a:xfrm>
            <a:off x="5724525" y="4343400"/>
            <a:ext cx="1449386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43" name="Shape 343"/>
          <p:cNvSpPr/>
          <p:nvPr/>
        </p:nvSpPr>
        <p:spPr>
          <a:xfrm rot="5400000">
            <a:off x="7853361" y="3281362"/>
            <a:ext cx="152399" cy="44767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Shape 344"/>
          <p:cNvSpPr/>
          <p:nvPr/>
        </p:nvSpPr>
        <p:spPr>
          <a:xfrm>
            <a:off x="8153400" y="3225800"/>
            <a:ext cx="152399" cy="2031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Shape 345"/>
          <p:cNvCxnSpPr/>
          <p:nvPr/>
        </p:nvCxnSpPr>
        <p:spPr>
          <a:xfrm flipH="1" rot="-9840000">
            <a:off x="6994525" y="2817812"/>
            <a:ext cx="1460500" cy="1166811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46" name="Shape 346"/>
          <p:cNvSpPr txBox="1"/>
          <p:nvPr/>
        </p:nvSpPr>
        <p:spPr>
          <a:xfrm>
            <a:off x="6611936" y="6096000"/>
            <a:ext cx="1998661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347" name="Shape 347"/>
          <p:cNvSpPr txBox="1"/>
          <p:nvPr/>
        </p:nvSpPr>
        <p:spPr>
          <a:xfrm>
            <a:off x="6950075" y="2286000"/>
            <a:ext cx="2117725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cxnSp>
        <p:nvCxnSpPr>
          <p:cNvPr id="348" name="Shape 348"/>
          <p:cNvCxnSpPr/>
          <p:nvPr/>
        </p:nvCxnSpPr>
        <p:spPr>
          <a:xfrm>
            <a:off x="5715000" y="2209800"/>
            <a:ext cx="32877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49" name="Shape 349"/>
          <p:cNvCxnSpPr/>
          <p:nvPr/>
        </p:nvCxnSpPr>
        <p:spPr>
          <a:xfrm rot="10800000">
            <a:off x="5703887" y="1295400"/>
            <a:ext cx="0" cy="16763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50" name="Shape 350"/>
          <p:cNvSpPr/>
          <p:nvPr/>
        </p:nvSpPr>
        <p:spPr>
          <a:xfrm>
            <a:off x="5686425" y="1333500"/>
            <a:ext cx="3076574" cy="1295400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4582" y="118676"/>
                  <a:pt x="18266" y="116911"/>
                  <a:pt x="27492" y="112058"/>
                </a:cubicBezTo>
                <a:cubicBezTo>
                  <a:pt x="36718" y="107205"/>
                  <a:pt x="46253" y="99558"/>
                  <a:pt x="55356" y="90882"/>
                </a:cubicBezTo>
                <a:cubicBezTo>
                  <a:pt x="64458" y="82205"/>
                  <a:pt x="73560" y="71176"/>
                  <a:pt x="82105" y="60000"/>
                </a:cubicBezTo>
                <a:cubicBezTo>
                  <a:pt x="90650" y="48823"/>
                  <a:pt x="100309" y="33823"/>
                  <a:pt x="106625" y="23823"/>
                </a:cubicBezTo>
                <a:cubicBezTo>
                  <a:pt x="112941" y="13823"/>
                  <a:pt x="117770" y="3970"/>
                  <a:pt x="120000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Shape 351"/>
          <p:cNvSpPr txBox="1"/>
          <p:nvPr/>
        </p:nvSpPr>
        <p:spPr>
          <a:xfrm>
            <a:off x="5707062" y="1295400"/>
            <a:ext cx="455612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S</a:t>
            </a:r>
          </a:p>
        </p:txBody>
      </p:sp>
      <p:sp>
        <p:nvSpPr>
          <p:cNvPr id="352" name="Shape 352"/>
          <p:cNvSpPr txBox="1"/>
          <p:nvPr/>
        </p:nvSpPr>
        <p:spPr>
          <a:xfrm>
            <a:off x="8763000" y="1905000"/>
            <a:ext cx="36671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353" name="Shape 353"/>
          <p:cNvSpPr txBox="1"/>
          <p:nvPr/>
        </p:nvSpPr>
        <p:spPr>
          <a:xfrm>
            <a:off x="5257800" y="2438400"/>
            <a:ext cx="484187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54" name="Shape 354"/>
          <p:cNvSpPr txBox="1"/>
          <p:nvPr/>
        </p:nvSpPr>
        <p:spPr>
          <a:xfrm>
            <a:off x="5638800" y="2819400"/>
            <a:ext cx="41116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381000" y="3581400"/>
            <a:ext cx="5029199" cy="266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Ingreso o renta (Y) se equilibra con el consumo (C) y la inversión (I)</a:t>
            </a:r>
          </a:p>
          <a:p>
            <a:pPr indent="0" lvl="1" marL="266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Y = C + I 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Ingreso disponible (Y</a:t>
            </a:r>
            <a:r>
              <a:rPr b="1" baseline="-25000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 se utiliza para el consumo (C) y el ahorro (S)</a:t>
            </a:r>
          </a:p>
          <a:p>
            <a:pPr indent="0" lvl="1" marL="266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= C + 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Propensión media al consumo (P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 y al ahorro (P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meS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0" lvl="1" marL="2667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C/Y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S/Y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Y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/ Y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=1</a:t>
            </a:r>
          </a:p>
          <a:p>
            <a:pPr indent="0" lvl="1" marL="2667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meS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Propensión marginal al consumo (P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y al ahorro (P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1" marL="266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∂C + ∂S  = ∂Yd </a:t>
            </a:r>
          </a:p>
          <a:p>
            <a:pPr indent="0" lvl="1" marL="266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∂C / ∂Yd + ∂S / ∂Yd = ∂Yd/ ∂Yd = 1 </a:t>
            </a:r>
          </a:p>
          <a:p>
            <a:pPr indent="0" lvl="1" marL="2667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Shape 3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Shape 3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Shape 362"/>
          <p:cNvSpPr txBox="1"/>
          <p:nvPr/>
        </p:nvSpPr>
        <p:spPr>
          <a:xfrm>
            <a:off x="3910012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DOS SECTORES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CON AHORRO</a:t>
            </a:r>
          </a:p>
        </p:txBody>
      </p:sp>
      <p:sp>
        <p:nvSpPr>
          <p:cNvPr id="363" name="Shape 363"/>
          <p:cNvSpPr txBox="1"/>
          <p:nvPr/>
        </p:nvSpPr>
        <p:spPr>
          <a:xfrm>
            <a:off x="263525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Shape 364"/>
          <p:cNvCxnSpPr/>
          <p:nvPr/>
        </p:nvCxnSpPr>
        <p:spPr>
          <a:xfrm rot="10800000">
            <a:off x="5715000" y="3047999"/>
            <a:ext cx="0" cy="289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65" name="Shape 365"/>
          <p:cNvCxnSpPr/>
          <p:nvPr/>
        </p:nvCxnSpPr>
        <p:spPr>
          <a:xfrm>
            <a:off x="5562600" y="5867400"/>
            <a:ext cx="342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66" name="Shape 366"/>
          <p:cNvSpPr/>
          <p:nvPr/>
        </p:nvSpPr>
        <p:spPr>
          <a:xfrm>
            <a:off x="5705475" y="3143250"/>
            <a:ext cx="3038475" cy="2200275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1818" y="115324"/>
                  <a:pt x="6896" y="100952"/>
                  <a:pt x="10909" y="91948"/>
                </a:cubicBezTo>
                <a:cubicBezTo>
                  <a:pt x="14921" y="82943"/>
                  <a:pt x="17805" y="75411"/>
                  <a:pt x="24075" y="65974"/>
                </a:cubicBezTo>
                <a:cubicBezTo>
                  <a:pt x="30344" y="56536"/>
                  <a:pt x="40564" y="43376"/>
                  <a:pt x="48526" y="35324"/>
                </a:cubicBezTo>
                <a:cubicBezTo>
                  <a:pt x="56489" y="27272"/>
                  <a:pt x="63009" y="23030"/>
                  <a:pt x="71849" y="17662"/>
                </a:cubicBezTo>
                <a:cubicBezTo>
                  <a:pt x="80689" y="12294"/>
                  <a:pt x="93542" y="6060"/>
                  <a:pt x="101567" y="3116"/>
                </a:cubicBezTo>
                <a:cubicBezTo>
                  <a:pt x="109592" y="173"/>
                  <a:pt x="116175" y="606"/>
                  <a:pt x="120000" y="0"/>
                </a:cubicBez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Shape 367"/>
          <p:cNvSpPr txBox="1"/>
          <p:nvPr/>
        </p:nvSpPr>
        <p:spPr>
          <a:xfrm>
            <a:off x="5746750" y="3098800"/>
            <a:ext cx="312737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8610600" y="5562600"/>
            <a:ext cx="30321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cxnSp>
        <p:nvCxnSpPr>
          <p:cNvPr id="369" name="Shape 369"/>
          <p:cNvCxnSpPr/>
          <p:nvPr/>
        </p:nvCxnSpPr>
        <p:spPr>
          <a:xfrm rot="10800000">
            <a:off x="5638800" y="5334000"/>
            <a:ext cx="1523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70" name="Shape 370"/>
          <p:cNvSpPr txBox="1"/>
          <p:nvPr/>
        </p:nvSpPr>
        <p:spPr>
          <a:xfrm>
            <a:off x="5257800" y="5410200"/>
            <a:ext cx="376236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339725" y="1295400"/>
            <a:ext cx="4918074" cy="2057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 Y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=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Constante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 C + I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 C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Y + I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* (1 - P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= C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Gasto Autónomo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(C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(1/ (1 - P</a:t>
            </a:r>
            <a:r>
              <a:rPr b="1" baseline="-25000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(C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I</a:t>
            </a:r>
            <a:r>
              <a:rPr b="1" baseline="-2500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(1 / P</a:t>
            </a:r>
            <a:r>
              <a:rPr b="1" baseline="-25000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maS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Gasto Autónomo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Multiplicador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Multiplicador =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1/ (1 – P</a:t>
            </a:r>
            <a:r>
              <a:rPr b="1" baseline="-25000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(1 / P</a:t>
            </a:r>
            <a:r>
              <a:rPr b="1" baseline="-25000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maS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Shape 372"/>
          <p:cNvCxnSpPr/>
          <p:nvPr/>
        </p:nvCxnSpPr>
        <p:spPr>
          <a:xfrm>
            <a:off x="5715000" y="2895600"/>
            <a:ext cx="304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73" name="Shape 373"/>
          <p:cNvSpPr txBox="1"/>
          <p:nvPr/>
        </p:nvSpPr>
        <p:spPr>
          <a:xfrm>
            <a:off x="8375650" y="2641600"/>
            <a:ext cx="30321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cxnSp>
        <p:nvCxnSpPr>
          <p:cNvPr id="374" name="Shape 374"/>
          <p:cNvCxnSpPr/>
          <p:nvPr/>
        </p:nvCxnSpPr>
        <p:spPr>
          <a:xfrm rot="10800000">
            <a:off x="5715000" y="1371599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75" name="Shape 375"/>
          <p:cNvSpPr txBox="1"/>
          <p:nvPr/>
        </p:nvSpPr>
        <p:spPr>
          <a:xfrm>
            <a:off x="5710237" y="1219200"/>
            <a:ext cx="23336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cxnSp>
        <p:nvCxnSpPr>
          <p:cNvPr id="376" name="Shape 376"/>
          <p:cNvCxnSpPr/>
          <p:nvPr/>
        </p:nvCxnSpPr>
        <p:spPr>
          <a:xfrm>
            <a:off x="5710237" y="1981200"/>
            <a:ext cx="296862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77" name="Shape 377"/>
          <p:cNvSpPr txBox="1"/>
          <p:nvPr/>
        </p:nvSpPr>
        <p:spPr>
          <a:xfrm>
            <a:off x="5341937" y="2286000"/>
            <a:ext cx="29686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cxnSp>
        <p:nvCxnSpPr>
          <p:cNvPr id="378" name="Shape 378"/>
          <p:cNvCxnSpPr/>
          <p:nvPr/>
        </p:nvCxnSpPr>
        <p:spPr>
          <a:xfrm rot="10800000">
            <a:off x="609600" y="3505200"/>
            <a:ext cx="0" cy="29717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79" name="Shape 379"/>
          <p:cNvCxnSpPr/>
          <p:nvPr/>
        </p:nvCxnSpPr>
        <p:spPr>
          <a:xfrm>
            <a:off x="533400" y="6467475"/>
            <a:ext cx="350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80" name="Shape 380"/>
          <p:cNvSpPr/>
          <p:nvPr/>
        </p:nvSpPr>
        <p:spPr>
          <a:xfrm rot="360000">
            <a:off x="733425" y="3428999"/>
            <a:ext cx="3457575" cy="2333624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1487" y="115673"/>
                  <a:pt x="5509" y="102285"/>
                  <a:pt x="8925" y="94040"/>
                </a:cubicBezTo>
                <a:cubicBezTo>
                  <a:pt x="12341" y="85795"/>
                  <a:pt x="15096" y="79346"/>
                  <a:pt x="20495" y="70530"/>
                </a:cubicBezTo>
                <a:cubicBezTo>
                  <a:pt x="25895" y="61714"/>
                  <a:pt x="34325" y="48897"/>
                  <a:pt x="41322" y="41142"/>
                </a:cubicBezTo>
                <a:cubicBezTo>
                  <a:pt x="48319" y="33387"/>
                  <a:pt x="54545" y="28979"/>
                  <a:pt x="62479" y="24000"/>
                </a:cubicBezTo>
                <a:cubicBezTo>
                  <a:pt x="70413" y="19020"/>
                  <a:pt x="79338" y="15265"/>
                  <a:pt x="88925" y="11265"/>
                </a:cubicBezTo>
                <a:cubicBezTo>
                  <a:pt x="98512" y="7265"/>
                  <a:pt x="113553" y="2367"/>
                  <a:pt x="120000" y="0"/>
                </a:cubicBezTo>
              </a:path>
            </a:pathLst>
          </a:custGeom>
          <a:noFill/>
          <a:ln cap="flat" cmpd="sng" w="38100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Shape 381"/>
          <p:cNvSpPr txBox="1"/>
          <p:nvPr/>
        </p:nvSpPr>
        <p:spPr>
          <a:xfrm>
            <a:off x="0" y="5897562"/>
            <a:ext cx="685799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I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cxnSp>
        <p:nvCxnSpPr>
          <p:cNvPr id="382" name="Shape 382"/>
          <p:cNvCxnSpPr/>
          <p:nvPr/>
        </p:nvCxnSpPr>
        <p:spPr>
          <a:xfrm flipH="1" rot="10800000">
            <a:off x="609600" y="3403600"/>
            <a:ext cx="2743199" cy="307339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83" name="Shape 383"/>
          <p:cNvSpPr txBox="1"/>
          <p:nvPr/>
        </p:nvSpPr>
        <p:spPr>
          <a:xfrm>
            <a:off x="228600" y="3429000"/>
            <a:ext cx="13715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DA/ OA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3352800" y="6019800"/>
            <a:ext cx="13715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Renta (Y)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7351711" y="4354512"/>
            <a:ext cx="13350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 = C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6889750" y="1673225"/>
            <a:ext cx="50165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I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87" name="Shape 387"/>
          <p:cNvSpPr/>
          <p:nvPr/>
        </p:nvSpPr>
        <p:spPr>
          <a:xfrm rot="2040000">
            <a:off x="761999" y="6176962"/>
            <a:ext cx="304799" cy="300036"/>
          </a:xfrm>
          <a:custGeom>
            <a:pathLst>
              <a:path extrusionOk="0" h="120000" w="120000">
                <a:moveTo>
                  <a:pt x="7382" y="60000"/>
                </a:moveTo>
                <a:lnTo>
                  <a:pt x="7382" y="60000"/>
                </a:lnTo>
                <a:cubicBezTo>
                  <a:pt x="7382" y="41058"/>
                  <a:pt x="17608" y="23585"/>
                  <a:pt x="34142" y="14276"/>
                </a:cubicBezTo>
                <a:cubicBezTo>
                  <a:pt x="50675" y="4968"/>
                  <a:pt x="70952" y="5267"/>
                  <a:pt x="87202" y="15060"/>
                </a:cubicBezTo>
                <a:cubicBezTo>
                  <a:pt x="103452" y="24853"/>
                  <a:pt x="113156" y="42620"/>
                  <a:pt x="112594" y="61554"/>
                </a:cubicBezTo>
                <a:lnTo>
                  <a:pt x="119725" y="62971"/>
                </a:lnTo>
                <a:lnTo>
                  <a:pt x="104358" y="68813"/>
                </a:lnTo>
                <a:lnTo>
                  <a:pt x="90743" y="57212"/>
                </a:lnTo>
                <a:lnTo>
                  <a:pt x="97825" y="58619"/>
                </a:lnTo>
                <a:lnTo>
                  <a:pt x="97825" y="58619"/>
                </a:lnTo>
                <a:cubicBezTo>
                  <a:pt x="97066" y="38192"/>
                  <a:pt x="79933" y="22130"/>
                  <a:pt x="59303" y="22506"/>
                </a:cubicBezTo>
                <a:cubicBezTo>
                  <a:pt x="38673" y="22882"/>
                  <a:pt x="22148" y="39558"/>
                  <a:pt x="22148" y="59999"/>
                </a:cubicBez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Shape 388"/>
          <p:cNvSpPr txBox="1"/>
          <p:nvPr/>
        </p:nvSpPr>
        <p:spPr>
          <a:xfrm>
            <a:off x="685800" y="6248400"/>
            <a:ext cx="3047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45°</a:t>
            </a:r>
          </a:p>
        </p:txBody>
      </p:sp>
      <p:cxnSp>
        <p:nvCxnSpPr>
          <p:cNvPr id="389" name="Shape 389"/>
          <p:cNvCxnSpPr/>
          <p:nvPr/>
        </p:nvCxnSpPr>
        <p:spPr>
          <a:xfrm>
            <a:off x="2971800" y="3810000"/>
            <a:ext cx="0" cy="26669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90" name="Shape 390"/>
          <p:cNvSpPr/>
          <p:nvPr/>
        </p:nvSpPr>
        <p:spPr>
          <a:xfrm>
            <a:off x="488950" y="5562600"/>
            <a:ext cx="120649" cy="90487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Shape 391"/>
          <p:cNvSpPr/>
          <p:nvPr/>
        </p:nvSpPr>
        <p:spPr>
          <a:xfrm>
            <a:off x="5594350" y="5334000"/>
            <a:ext cx="152399" cy="53339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Shape 392"/>
          <p:cNvSpPr/>
          <p:nvPr/>
        </p:nvSpPr>
        <p:spPr>
          <a:xfrm>
            <a:off x="5562600" y="1981200"/>
            <a:ext cx="147636" cy="914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Shape 393"/>
          <p:cNvSpPr txBox="1"/>
          <p:nvPr/>
        </p:nvSpPr>
        <p:spPr>
          <a:xfrm>
            <a:off x="3352800" y="3763962"/>
            <a:ext cx="1704974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DA = C</a:t>
            </a:r>
            <a:r>
              <a:rPr b="1" baseline="-25000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  <a:r>
              <a:rPr b="1" baseline="-25000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+ I</a:t>
            </a:r>
            <a:r>
              <a:rPr b="1" baseline="-25000" i="0" lang="en-US" sz="12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2819400" y="6400800"/>
            <a:ext cx="366711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3321050" y="3382962"/>
            <a:ext cx="717550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OA = Y</a:t>
            </a:r>
            <a:r>
              <a:rPr b="1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Shape 4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99060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Shape 4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Shape 402"/>
          <p:cNvSpPr txBox="1"/>
          <p:nvPr/>
        </p:nvSpPr>
        <p:spPr>
          <a:xfrm>
            <a:off x="3910012" y="1524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MODELO DE DOS SECTORES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CON AHORRO</a:t>
            </a:r>
          </a:p>
        </p:txBody>
      </p:sp>
      <p:sp>
        <p:nvSpPr>
          <p:cNvPr id="403" name="Shape 403"/>
          <p:cNvSpPr txBox="1"/>
          <p:nvPr/>
        </p:nvSpPr>
        <p:spPr>
          <a:xfrm>
            <a:off x="304800" y="1524000"/>
            <a:ext cx="8610599" cy="5035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Shape 404"/>
          <p:cNvCxnSpPr/>
          <p:nvPr/>
        </p:nvCxnSpPr>
        <p:spPr>
          <a:xfrm rot="10800000">
            <a:off x="1762125" y="1295399"/>
            <a:ext cx="0" cy="5400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05" name="Shape 405"/>
          <p:cNvCxnSpPr/>
          <p:nvPr/>
        </p:nvCxnSpPr>
        <p:spPr>
          <a:xfrm>
            <a:off x="1600200" y="4800600"/>
            <a:ext cx="632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406" name="Shape 406"/>
          <p:cNvSpPr/>
          <p:nvPr/>
        </p:nvSpPr>
        <p:spPr>
          <a:xfrm>
            <a:off x="1771650" y="1828800"/>
            <a:ext cx="3438525" cy="2190750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1495" y="116086"/>
                  <a:pt x="5540" y="104521"/>
                  <a:pt x="8975" y="96347"/>
                </a:cubicBezTo>
                <a:cubicBezTo>
                  <a:pt x="12409" y="88173"/>
                  <a:pt x="15069" y="80173"/>
                  <a:pt x="20609" y="70956"/>
                </a:cubicBezTo>
                <a:cubicBezTo>
                  <a:pt x="26149" y="61826"/>
                  <a:pt x="35180" y="48956"/>
                  <a:pt x="42216" y="41130"/>
                </a:cubicBezTo>
                <a:cubicBezTo>
                  <a:pt x="49252" y="33304"/>
                  <a:pt x="55013" y="29130"/>
                  <a:pt x="62825" y="23913"/>
                </a:cubicBezTo>
                <a:cubicBezTo>
                  <a:pt x="70637" y="18695"/>
                  <a:pt x="79556" y="13739"/>
                  <a:pt x="89085" y="9739"/>
                </a:cubicBezTo>
                <a:cubicBezTo>
                  <a:pt x="98614" y="5739"/>
                  <a:pt x="113573" y="2000"/>
                  <a:pt x="120000" y="0"/>
                </a:cubicBez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Shape 407"/>
          <p:cNvSpPr txBox="1"/>
          <p:nvPr/>
        </p:nvSpPr>
        <p:spPr>
          <a:xfrm>
            <a:off x="990600" y="4267200"/>
            <a:ext cx="641350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I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cxnSp>
        <p:nvCxnSpPr>
          <p:cNvPr id="408" name="Shape 408"/>
          <p:cNvCxnSpPr/>
          <p:nvPr/>
        </p:nvCxnSpPr>
        <p:spPr>
          <a:xfrm flipH="1" rot="10800000">
            <a:off x="1752600" y="1219200"/>
            <a:ext cx="3200399" cy="358139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09" name="Shape 409"/>
          <p:cNvSpPr txBox="1"/>
          <p:nvPr/>
        </p:nvSpPr>
        <p:spPr>
          <a:xfrm>
            <a:off x="1371600" y="1295400"/>
            <a:ext cx="13715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OA / DA</a:t>
            </a:r>
          </a:p>
        </p:txBody>
      </p:sp>
      <p:sp>
        <p:nvSpPr>
          <p:cNvPr id="410" name="Shape 410"/>
          <p:cNvSpPr txBox="1"/>
          <p:nvPr/>
        </p:nvSpPr>
        <p:spPr>
          <a:xfrm>
            <a:off x="6705600" y="4419600"/>
            <a:ext cx="13715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Renta (Y)</a:t>
            </a:r>
          </a:p>
        </p:txBody>
      </p:sp>
      <p:sp>
        <p:nvSpPr>
          <p:cNvPr id="411" name="Shape 411"/>
          <p:cNvSpPr/>
          <p:nvPr/>
        </p:nvSpPr>
        <p:spPr>
          <a:xfrm rot="2040000">
            <a:off x="1904999" y="4495800"/>
            <a:ext cx="304799" cy="300036"/>
          </a:xfrm>
          <a:custGeom>
            <a:pathLst>
              <a:path extrusionOk="0" h="120000" w="120000">
                <a:moveTo>
                  <a:pt x="7382" y="60000"/>
                </a:moveTo>
                <a:lnTo>
                  <a:pt x="7382" y="60000"/>
                </a:lnTo>
                <a:cubicBezTo>
                  <a:pt x="7382" y="41058"/>
                  <a:pt x="17608" y="23585"/>
                  <a:pt x="34142" y="14276"/>
                </a:cubicBezTo>
                <a:cubicBezTo>
                  <a:pt x="50675" y="4968"/>
                  <a:pt x="70952" y="5267"/>
                  <a:pt x="87202" y="15060"/>
                </a:cubicBezTo>
                <a:cubicBezTo>
                  <a:pt x="103452" y="24853"/>
                  <a:pt x="113156" y="42620"/>
                  <a:pt x="112594" y="61554"/>
                </a:cubicBezTo>
                <a:lnTo>
                  <a:pt x="119725" y="62971"/>
                </a:lnTo>
                <a:lnTo>
                  <a:pt x="104358" y="68813"/>
                </a:lnTo>
                <a:lnTo>
                  <a:pt x="90743" y="57212"/>
                </a:lnTo>
                <a:lnTo>
                  <a:pt x="97825" y="58619"/>
                </a:lnTo>
                <a:lnTo>
                  <a:pt x="97825" y="58619"/>
                </a:lnTo>
                <a:cubicBezTo>
                  <a:pt x="97066" y="38192"/>
                  <a:pt x="79933" y="22130"/>
                  <a:pt x="59303" y="22506"/>
                </a:cubicBezTo>
                <a:cubicBezTo>
                  <a:pt x="38673" y="22882"/>
                  <a:pt x="22148" y="39558"/>
                  <a:pt x="22148" y="59999"/>
                </a:cubicBez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Shape 412"/>
          <p:cNvSpPr txBox="1"/>
          <p:nvPr/>
        </p:nvSpPr>
        <p:spPr>
          <a:xfrm>
            <a:off x="1828800" y="4572000"/>
            <a:ext cx="3047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45°</a:t>
            </a:r>
          </a:p>
        </p:txBody>
      </p:sp>
      <p:cxnSp>
        <p:nvCxnSpPr>
          <p:cNvPr id="413" name="Shape 413"/>
          <p:cNvCxnSpPr/>
          <p:nvPr/>
        </p:nvCxnSpPr>
        <p:spPr>
          <a:xfrm>
            <a:off x="4227512" y="2057400"/>
            <a:ext cx="3174" cy="38068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14" name="Shape 414"/>
          <p:cNvCxnSpPr/>
          <p:nvPr/>
        </p:nvCxnSpPr>
        <p:spPr>
          <a:xfrm>
            <a:off x="3429000" y="2324100"/>
            <a:ext cx="1587" cy="369569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15" name="Shape 415"/>
          <p:cNvSpPr/>
          <p:nvPr/>
        </p:nvSpPr>
        <p:spPr>
          <a:xfrm>
            <a:off x="3429000" y="2895600"/>
            <a:ext cx="381000" cy="190023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Shape 416"/>
          <p:cNvSpPr txBox="1"/>
          <p:nvPr/>
        </p:nvSpPr>
        <p:spPr>
          <a:xfrm>
            <a:off x="3733800" y="3657600"/>
            <a:ext cx="450850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OA</a:t>
            </a:r>
          </a:p>
        </p:txBody>
      </p:sp>
      <p:sp>
        <p:nvSpPr>
          <p:cNvPr id="417" name="Shape 417"/>
          <p:cNvSpPr/>
          <p:nvPr/>
        </p:nvSpPr>
        <p:spPr>
          <a:xfrm>
            <a:off x="3200400" y="2346325"/>
            <a:ext cx="228600" cy="2454275"/>
          </a:xfrm>
          <a:prstGeom prst="leftBrace">
            <a:avLst>
              <a:gd fmla="val 1936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Shape 418"/>
          <p:cNvSpPr txBox="1"/>
          <p:nvPr/>
        </p:nvSpPr>
        <p:spPr>
          <a:xfrm>
            <a:off x="2835275" y="3429000"/>
            <a:ext cx="441324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</a:p>
        </p:txBody>
      </p:sp>
      <p:sp>
        <p:nvSpPr>
          <p:cNvPr id="419" name="Shape 419"/>
          <p:cNvSpPr/>
          <p:nvPr/>
        </p:nvSpPr>
        <p:spPr>
          <a:xfrm>
            <a:off x="3429000" y="2346325"/>
            <a:ext cx="152399" cy="5492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Shape 420"/>
          <p:cNvSpPr txBox="1"/>
          <p:nvPr/>
        </p:nvSpPr>
        <p:spPr>
          <a:xfrm>
            <a:off x="3505200" y="2362200"/>
            <a:ext cx="1600199" cy="51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Disminución de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</p:txBody>
      </p:sp>
      <p:sp>
        <p:nvSpPr>
          <p:cNvPr id="421" name="Shape 421"/>
          <p:cNvSpPr/>
          <p:nvPr/>
        </p:nvSpPr>
        <p:spPr>
          <a:xfrm>
            <a:off x="1600200" y="4038600"/>
            <a:ext cx="152399" cy="75723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Shape 422"/>
          <p:cNvCxnSpPr/>
          <p:nvPr/>
        </p:nvCxnSpPr>
        <p:spPr>
          <a:xfrm>
            <a:off x="4953000" y="1219200"/>
            <a:ext cx="0" cy="4648199"/>
          </a:xfrm>
          <a:prstGeom prst="straightConnector1">
            <a:avLst/>
          </a:prstGeom>
          <a:noFill/>
          <a:ln cap="rnd" cmpd="sng" w="1905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23" name="Shape 423"/>
          <p:cNvSpPr/>
          <p:nvPr/>
        </p:nvSpPr>
        <p:spPr>
          <a:xfrm>
            <a:off x="4948237" y="1219200"/>
            <a:ext cx="385762" cy="35813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2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Shape 424"/>
          <p:cNvSpPr txBox="1"/>
          <p:nvPr/>
        </p:nvSpPr>
        <p:spPr>
          <a:xfrm>
            <a:off x="5257800" y="2819400"/>
            <a:ext cx="450850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OA</a:t>
            </a:r>
          </a:p>
        </p:txBody>
      </p:sp>
      <p:sp>
        <p:nvSpPr>
          <p:cNvPr id="425" name="Shape 425"/>
          <p:cNvSpPr/>
          <p:nvPr/>
        </p:nvSpPr>
        <p:spPr>
          <a:xfrm>
            <a:off x="4724400" y="1890711"/>
            <a:ext cx="207961" cy="2905125"/>
          </a:xfrm>
          <a:prstGeom prst="leftBrace">
            <a:avLst>
              <a:gd fmla="val 1936" name="adj1"/>
              <a:gd fmla="val 50000" name="adj2"/>
            </a:avLst>
          </a:prstGeom>
          <a:noFill/>
          <a:ln cap="flat" cmpd="sng" w="12700">
            <a:solidFill>
              <a:schemeClr val="dk2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Shape 426"/>
          <p:cNvSpPr txBox="1"/>
          <p:nvPr/>
        </p:nvSpPr>
        <p:spPr>
          <a:xfrm>
            <a:off x="4359275" y="3200400"/>
            <a:ext cx="441324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</a:p>
        </p:txBody>
      </p:sp>
      <p:sp>
        <p:nvSpPr>
          <p:cNvPr id="427" name="Shape 427"/>
          <p:cNvSpPr/>
          <p:nvPr/>
        </p:nvSpPr>
        <p:spPr>
          <a:xfrm>
            <a:off x="4800600" y="1219200"/>
            <a:ext cx="147636" cy="67151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Shape 428"/>
          <p:cNvSpPr txBox="1"/>
          <p:nvPr/>
        </p:nvSpPr>
        <p:spPr>
          <a:xfrm>
            <a:off x="3581400" y="1295400"/>
            <a:ext cx="1295400" cy="51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Aumento de existencias</a:t>
            </a:r>
          </a:p>
        </p:txBody>
      </p:sp>
      <p:cxnSp>
        <p:nvCxnSpPr>
          <p:cNvPr id="429" name="Shape 429"/>
          <p:cNvCxnSpPr/>
          <p:nvPr/>
        </p:nvCxnSpPr>
        <p:spPr>
          <a:xfrm>
            <a:off x="1752600" y="5867400"/>
            <a:ext cx="632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430" name="Shape 430"/>
          <p:cNvSpPr txBox="1"/>
          <p:nvPr/>
        </p:nvSpPr>
        <p:spPr>
          <a:xfrm>
            <a:off x="6934200" y="5486400"/>
            <a:ext cx="13715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Renta (Y)</a:t>
            </a:r>
          </a:p>
        </p:txBody>
      </p:sp>
      <p:cxnSp>
        <p:nvCxnSpPr>
          <p:cNvPr id="431" name="Shape 431"/>
          <p:cNvCxnSpPr/>
          <p:nvPr/>
        </p:nvCxnSpPr>
        <p:spPr>
          <a:xfrm>
            <a:off x="1752600" y="5562600"/>
            <a:ext cx="632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32" name="Shape 432"/>
          <p:cNvSpPr/>
          <p:nvPr/>
        </p:nvSpPr>
        <p:spPr>
          <a:xfrm>
            <a:off x="1752600" y="4876800"/>
            <a:ext cx="3352799" cy="1562099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4204" y="118902"/>
                  <a:pt x="16761" y="117439"/>
                  <a:pt x="25227" y="113414"/>
                </a:cubicBezTo>
                <a:cubicBezTo>
                  <a:pt x="33693" y="109390"/>
                  <a:pt x="42443" y="103048"/>
                  <a:pt x="50795" y="95853"/>
                </a:cubicBezTo>
                <a:cubicBezTo>
                  <a:pt x="59147" y="88658"/>
                  <a:pt x="67500" y="79512"/>
                  <a:pt x="75340" y="70243"/>
                </a:cubicBezTo>
                <a:cubicBezTo>
                  <a:pt x="83181" y="60975"/>
                  <a:pt x="92045" y="48536"/>
                  <a:pt x="97840" y="40243"/>
                </a:cubicBezTo>
                <a:cubicBezTo>
                  <a:pt x="103636" y="31951"/>
                  <a:pt x="106420" y="27195"/>
                  <a:pt x="110113" y="20487"/>
                </a:cubicBezTo>
                <a:cubicBezTo>
                  <a:pt x="113806" y="13780"/>
                  <a:pt x="117954" y="4268"/>
                  <a:pt x="120000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Shape 433"/>
          <p:cNvSpPr/>
          <p:nvPr/>
        </p:nvSpPr>
        <p:spPr>
          <a:xfrm>
            <a:off x="1600200" y="5867400"/>
            <a:ext cx="146050" cy="56832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Shape 434"/>
          <p:cNvSpPr/>
          <p:nvPr/>
        </p:nvSpPr>
        <p:spPr>
          <a:xfrm>
            <a:off x="1600200" y="5562600"/>
            <a:ext cx="152399" cy="30479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Shape 435"/>
          <p:cNvSpPr txBox="1"/>
          <p:nvPr/>
        </p:nvSpPr>
        <p:spPr>
          <a:xfrm>
            <a:off x="1330325" y="5486400"/>
            <a:ext cx="346074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436" name="Shape 436"/>
          <p:cNvSpPr txBox="1"/>
          <p:nvPr/>
        </p:nvSpPr>
        <p:spPr>
          <a:xfrm>
            <a:off x="1143000" y="5943600"/>
            <a:ext cx="484187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5275262" y="1614487"/>
            <a:ext cx="2478087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DA = I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C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</a:p>
        </p:txBody>
      </p:sp>
      <p:sp>
        <p:nvSpPr>
          <p:cNvPr id="438" name="Shape 438"/>
          <p:cNvSpPr txBox="1"/>
          <p:nvPr/>
        </p:nvSpPr>
        <p:spPr>
          <a:xfrm>
            <a:off x="5156200" y="4724400"/>
            <a:ext cx="2024061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- C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Y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7497761" y="5184775"/>
            <a:ext cx="655636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440" name="Shape 440"/>
          <p:cNvSpPr/>
          <p:nvPr/>
        </p:nvSpPr>
        <p:spPr>
          <a:xfrm>
            <a:off x="4953000" y="5029200"/>
            <a:ext cx="152399" cy="5333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Shape 441"/>
          <p:cNvSpPr txBox="1"/>
          <p:nvPr/>
        </p:nvSpPr>
        <p:spPr>
          <a:xfrm>
            <a:off x="4876800" y="5029200"/>
            <a:ext cx="13715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Brecha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superavitaria</a:t>
            </a:r>
          </a:p>
        </p:txBody>
      </p:sp>
      <p:sp>
        <p:nvSpPr>
          <p:cNvPr id="442" name="Shape 442"/>
          <p:cNvSpPr/>
          <p:nvPr/>
        </p:nvSpPr>
        <p:spPr>
          <a:xfrm>
            <a:off x="3124200" y="5562600"/>
            <a:ext cx="304799" cy="457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Shape 443"/>
          <p:cNvSpPr txBox="1"/>
          <p:nvPr/>
        </p:nvSpPr>
        <p:spPr>
          <a:xfrm>
            <a:off x="2362200" y="5562600"/>
            <a:ext cx="914400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Brecha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deficitaria</a:t>
            </a:r>
          </a:p>
        </p:txBody>
      </p:sp>
      <p:sp>
        <p:nvSpPr>
          <p:cNvPr id="444" name="Shape 444"/>
          <p:cNvSpPr txBox="1"/>
          <p:nvPr/>
        </p:nvSpPr>
        <p:spPr>
          <a:xfrm>
            <a:off x="5003800" y="1143000"/>
            <a:ext cx="9397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OA = Y</a:t>
            </a:r>
          </a:p>
        </p:txBody>
      </p:sp>
      <p:cxnSp>
        <p:nvCxnSpPr>
          <p:cNvPr id="445" name="Shape 445"/>
          <p:cNvCxnSpPr/>
          <p:nvPr/>
        </p:nvCxnSpPr>
        <p:spPr>
          <a:xfrm>
            <a:off x="3695700" y="5638800"/>
            <a:ext cx="0" cy="9207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46" name="Shape 446"/>
          <p:cNvCxnSpPr/>
          <p:nvPr/>
        </p:nvCxnSpPr>
        <p:spPr>
          <a:xfrm>
            <a:off x="3695700" y="6435725"/>
            <a:ext cx="1409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oval"/>
            <a:tailEnd len="lg" w="lg" type="triangle"/>
          </a:ln>
        </p:spPr>
      </p:cxnSp>
      <p:cxnSp>
        <p:nvCxnSpPr>
          <p:cNvPr id="447" name="Shape 447"/>
          <p:cNvCxnSpPr/>
          <p:nvPr/>
        </p:nvCxnSpPr>
        <p:spPr>
          <a:xfrm rot="10800000">
            <a:off x="2835274" y="6435725"/>
            <a:ext cx="860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448" name="Shape 448"/>
          <p:cNvSpPr txBox="1"/>
          <p:nvPr/>
        </p:nvSpPr>
        <p:spPr>
          <a:xfrm>
            <a:off x="3810000" y="6096000"/>
            <a:ext cx="990599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AHORRO</a:t>
            </a:r>
          </a:p>
        </p:txBody>
      </p:sp>
      <p:sp>
        <p:nvSpPr>
          <p:cNvPr id="449" name="Shape 449"/>
          <p:cNvSpPr txBox="1"/>
          <p:nvPr/>
        </p:nvSpPr>
        <p:spPr>
          <a:xfrm>
            <a:off x="2743200" y="6096000"/>
            <a:ext cx="990599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DESAHORRO</a:t>
            </a:r>
          </a:p>
        </p:txBody>
      </p:sp>
      <p:sp>
        <p:nvSpPr>
          <p:cNvPr id="450" name="Shape 450"/>
          <p:cNvSpPr txBox="1"/>
          <p:nvPr/>
        </p:nvSpPr>
        <p:spPr>
          <a:xfrm>
            <a:off x="1600200" y="4648200"/>
            <a:ext cx="1371599" cy="533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Ahorro/Gasto</a:t>
            </a:r>
          </a:p>
        </p:txBody>
      </p:sp>
      <p:sp>
        <p:nvSpPr>
          <p:cNvPr id="451" name="Shape 451"/>
          <p:cNvSpPr txBox="1"/>
          <p:nvPr/>
        </p:nvSpPr>
        <p:spPr>
          <a:xfrm>
            <a:off x="3886200" y="4724400"/>
            <a:ext cx="449262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3124200" y="4724400"/>
            <a:ext cx="449262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4648200" y="4724400"/>
            <a:ext cx="449262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54" name="Shape 454"/>
          <p:cNvSpPr txBox="1"/>
          <p:nvPr/>
        </p:nvSpPr>
        <p:spPr>
          <a:xfrm>
            <a:off x="3970337" y="5791200"/>
            <a:ext cx="449262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4648200" y="5791200"/>
            <a:ext cx="449262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56" name="Shape 456"/>
          <p:cNvSpPr txBox="1"/>
          <p:nvPr/>
        </p:nvSpPr>
        <p:spPr>
          <a:xfrm>
            <a:off x="3162300" y="5791200"/>
            <a:ext cx="495299" cy="244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